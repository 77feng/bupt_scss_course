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9" r:id="rId5"/>
    <p:sldId id="263" r:id="rId6"/>
    <p:sldId id="264" r:id="rId7"/>
    <p:sldId id="276" r:id="rId8"/>
    <p:sldId id="277" r:id="rId9"/>
    <p:sldId id="265" r:id="rId10"/>
    <p:sldId id="268" r:id="rId11"/>
    <p:sldId id="269" r:id="rId12"/>
    <p:sldId id="270" r:id="rId13"/>
    <p:sldId id="267" r:id="rId14"/>
    <p:sldId id="266" r:id="rId15"/>
    <p:sldId id="260" r:id="rId16"/>
    <p:sldId id="271" r:id="rId17"/>
    <p:sldId id="272" r:id="rId18"/>
    <p:sldId id="273" r:id="rId19"/>
    <p:sldId id="274" r:id="rId20"/>
    <p:sldId id="26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9"/>
    <a:srgbClr val="1C2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B8A3F-CB9B-C64A-5FF5-CD0DB08CB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7997B9-C2B5-63BB-EF7F-F43BCA535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20012-D50A-6AFF-340A-801572B4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66E3A-F851-933C-CDB8-AABAAC8E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B0615-1590-75E3-427B-F2622F28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44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3D3EE-6ADA-08E4-5A9A-D3C24F97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3F5C2-9090-4C4F-B62A-415553ABA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2C984-7974-3780-1E75-FB190EC2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8DDD96-C356-5F49-E380-AFC966C1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474EF-6FE5-5AE6-381D-42EA018E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43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1D33A-0F1B-499B-5140-9FDBC8BD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E92B6A-C45E-7732-6E67-AB78A2B06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9D7728-5438-1F19-A616-60F8A38B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A3547C-4962-C2F8-7CF4-D77617F4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CFC48-E28A-E844-84B7-71E672F6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23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D7CC1-67E0-F09A-E1D2-1906379D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1109E-B24F-1E89-23EF-A84F206DE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AB8507-14B2-F58E-71BD-207250795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3E7B54-1C03-4055-E155-3F82EBEC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8E1439-2DE1-4485-C0C7-7849A569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6CAB5-3FE6-857D-2159-E7E7F851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7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BE680-B078-5847-4B7D-675D0CF3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B4C34C-E14F-53EF-0887-806CCB65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966155-C74B-D5E4-3B51-D430D1B47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920137-644F-D2B9-D210-FC7C45041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89FB3D-642E-0D85-59D8-0797CCFBB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A04947-1E74-D0F2-0D38-D00594B0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A06013-C10D-5D49-9C4E-977B01D7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501572-D952-60DB-1B5D-3375B284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3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0CB83-F851-5CF7-3582-503882D8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B7A37E-84B4-F9A2-9DE3-B64B00C6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4C091C-D47D-1B1E-9B7D-3128CCDE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896A0C-FA30-8643-ABE7-EA4521E2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68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70CC14-31BD-9E92-9452-5951E4F2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68E46E-A3CD-282B-231E-C8D35726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85E438-73DE-B02F-3195-8D56587A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13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5DF92-2A9D-2D7D-703E-2568485D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7C3EBC-CB89-6DB8-592F-F79EE5BE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410C2C-56A5-8CBD-FA60-D40EB6DEE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BBF5BC-9B56-96A1-8F0C-CB413F88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40D6B2-4649-F17E-3874-208D9708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AF1EC3-939C-E7B0-655C-024C6E94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5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42055-1447-A9E2-A921-80A3EF45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A7F0DF-65B0-4132-3619-F81FA7A45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E5C469-63D2-5EE5-B3CE-937D8A2C5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6BF5A1-60CC-EBDD-F485-257EED2E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35C484-60EE-0807-6325-B21797B3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41E0B5-239B-8550-5779-8B4FDC2D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33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07454-02D0-7F76-C759-A2DC6EAD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50E18F-F669-A08F-23DB-D59F4E55C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362F8-92EA-61FC-CB69-0318AE92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B1E0B-445E-6210-4063-BD35E04E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630A4C-B213-24A4-D263-0F749505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13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CF6E20-A1D8-2EF6-0AD5-82E15EC00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614F3F-9319-5974-E629-64DAF5CAE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36E6B-1A78-0CDE-65EB-95BF476A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C806E-8005-E716-910E-A71C27E9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839B44-E96F-5BA5-85A1-24AC61A1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64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314462-9876-86E9-6AE3-CB0588BD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210861-05C4-3BC3-4C08-2849CA39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5B4C79-2C64-B905-13EF-E1AACED30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A18C-A131-47C4-A44F-CFE612BF43A2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D4BE1-12C3-9EE5-CF57-76FDF4DAE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B8B63A-AAEE-52E3-A597-E031CD4E1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A7EDF-E3F3-4024-83B7-73B6FA9DA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9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0A8EF4-8A97-7EDB-F859-41C5714E6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B486790-D8F4-C36C-AC7C-3A7F0D17FF75}"/>
              </a:ext>
            </a:extLst>
          </p:cNvPr>
          <p:cNvSpPr txBox="1"/>
          <p:nvPr/>
        </p:nvSpPr>
        <p:spPr>
          <a:xfrm>
            <a:off x="1033112" y="1039537"/>
            <a:ext cx="102958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0032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switch</a:t>
            </a:r>
            <a:r>
              <a:rPr lang="zh-CN" altLang="en-US" sz="8000" dirty="0">
                <a:solidFill>
                  <a:srgbClr val="0032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条件判断</a:t>
            </a:r>
          </a:p>
          <a:p>
            <a:pPr algn="ctr"/>
            <a:r>
              <a:rPr lang="zh-CN" altLang="en-US" sz="8000" dirty="0">
                <a:solidFill>
                  <a:srgbClr val="0032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语法制导翻译方案</a:t>
            </a:r>
            <a:r>
              <a:rPr lang="en-US" altLang="zh-CN" sz="8000" dirty="0">
                <a:solidFill>
                  <a:srgbClr val="0032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(SDT)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8949FF-794E-FBF5-2717-B60336098370}"/>
              </a:ext>
            </a:extLst>
          </p:cNvPr>
          <p:cNvSpPr txBox="1"/>
          <p:nvPr/>
        </p:nvSpPr>
        <p:spPr>
          <a:xfrm>
            <a:off x="1033112" y="3834714"/>
            <a:ext cx="1029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行楷" panose="02010800040101010101" pitchFamily="2" charset="-122"/>
                <a:ea typeface="华文行楷" panose="02010800040101010101" pitchFamily="2" charset="-122"/>
              </a:rPr>
              <a:t>汇报人：项 枫</a:t>
            </a:r>
            <a:r>
              <a:rPr lang="en-US" altLang="zh-CN" sz="20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   </a:t>
            </a:r>
            <a:r>
              <a:rPr lang="zh-CN" altLang="en-US" sz="2000" dirty="0">
                <a:latin typeface="华文行楷" panose="02010800040101010101" pitchFamily="2" charset="-122"/>
                <a:ea typeface="华文行楷" panose="02010800040101010101" pitchFamily="2" charset="-122"/>
              </a:rPr>
              <a:t>小组成员：张艺翱、魏一方        汇报时间：</a:t>
            </a:r>
            <a:r>
              <a:rPr lang="en-US" altLang="zh-CN" sz="2000" dirty="0">
                <a:latin typeface="华文行楷" panose="02010800040101010101" pitchFamily="2" charset="-122"/>
                <a:ea typeface="华文行楷" panose="02010800040101010101" pitchFamily="2" charset="-122"/>
              </a:rPr>
              <a:t>2024/11/19</a:t>
            </a:r>
            <a:endParaRPr lang="zh-CN" altLang="en-US" sz="2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868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52AB3AA-3F7E-05DA-A62E-6656FE733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7CBF151-BE92-CBE3-5E4C-5A2ACC621252}"/>
              </a:ext>
            </a:extLst>
          </p:cNvPr>
          <p:cNvSpPr/>
          <p:nvPr/>
        </p:nvSpPr>
        <p:spPr>
          <a:xfrm>
            <a:off x="2781175" y="1797784"/>
            <a:ext cx="1476686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0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3299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lang="zh-CN" altLang="en-US" sz="10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003299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358469-966B-9385-E43A-A73ACA9A8263}"/>
              </a:ext>
            </a:extLst>
          </p:cNvPr>
          <p:cNvSpPr txBox="1"/>
          <p:nvPr/>
        </p:nvSpPr>
        <p:spPr>
          <a:xfrm>
            <a:off x="1149723" y="3201551"/>
            <a:ext cx="6216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0032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语法格式罗列</a:t>
            </a:r>
          </a:p>
        </p:txBody>
      </p:sp>
    </p:spTree>
    <p:extLst>
      <p:ext uri="{BB962C8B-B14F-4D97-AF65-F5344CB8AC3E}">
        <p14:creationId xmlns:p14="http://schemas.microsoft.com/office/powerpoint/2010/main" val="55457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63BD-1E1C-D935-488E-47B2EB81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06AC9B-EB17-900F-7750-A97EC489B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300E1C2-AF37-5023-12C8-61A6260D9BDF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语法格式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BA612E0-354F-6C21-BE55-63B3AB0B5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459455"/>
              </p:ext>
            </p:extLst>
          </p:nvPr>
        </p:nvGraphicFramePr>
        <p:xfrm>
          <a:off x="905934" y="1417320"/>
          <a:ext cx="338666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 (expression) 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case constant_1: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90269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statement_1;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7568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break;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59003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case constant_2: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27814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statement_2;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38195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break;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95086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//…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74260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default: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627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</a:t>
                      </a:r>
                      <a:r>
                        <a:rPr lang="en-US" altLang="zh-CN" sz="1800" dirty="0" err="1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default_statement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0973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}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6893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8C6B391-4C61-54B1-BDA0-FBD1B9267A2A}"/>
              </a:ext>
            </a:extLst>
          </p:cNvPr>
          <p:cNvSpPr txBox="1"/>
          <p:nvPr/>
        </p:nvSpPr>
        <p:spPr>
          <a:xfrm>
            <a:off x="4682086" y="1992759"/>
            <a:ext cx="6671733" cy="336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expression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：需要求值的表达式。</a:t>
            </a:r>
            <a:endParaRPr lang="en-US" altLang="zh-CN" sz="24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constant_n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：每个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标签与一个常量值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constant_n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进行比较。</a:t>
            </a:r>
            <a:endParaRPr lang="en-US" altLang="zh-CN" sz="24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break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：表示跳出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结构。</a:t>
            </a:r>
            <a:endParaRPr lang="en-US" altLang="zh-CN" sz="24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default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：可选项，当没有匹配任何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时执行。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b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272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EB5A3EF-014C-5C81-C7A6-A5C9D6B68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EDB5BE2-1334-91E5-0E50-BE02A048FB6B}"/>
              </a:ext>
            </a:extLst>
          </p:cNvPr>
          <p:cNvSpPr/>
          <p:nvPr/>
        </p:nvSpPr>
        <p:spPr>
          <a:xfrm>
            <a:off x="2781175" y="1797784"/>
            <a:ext cx="1476687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0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3299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lang="zh-CN" altLang="en-US" sz="10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003299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9F1D56-73F3-BE83-D03D-FF11B6EA6102}"/>
              </a:ext>
            </a:extLst>
          </p:cNvPr>
          <p:cNvSpPr txBox="1"/>
          <p:nvPr/>
        </p:nvSpPr>
        <p:spPr>
          <a:xfrm>
            <a:off x="700989" y="3218485"/>
            <a:ext cx="6216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0032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SDT</a:t>
            </a:r>
            <a:r>
              <a:rPr lang="zh-CN" altLang="en-US" sz="6000" dirty="0">
                <a:solidFill>
                  <a:srgbClr val="0032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语法制导方案</a:t>
            </a:r>
          </a:p>
        </p:txBody>
      </p:sp>
    </p:spTree>
    <p:extLst>
      <p:ext uri="{BB962C8B-B14F-4D97-AF65-F5344CB8AC3E}">
        <p14:creationId xmlns:p14="http://schemas.microsoft.com/office/powerpoint/2010/main" val="288110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9686-A7F6-953E-C344-56277C65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4FC3505-F920-AF84-8F60-2AD7CFDCA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BCCE4A3-308C-57A8-92FC-3AE7CECF6532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文法规则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4FE832E-A96A-C216-8B54-1C7CAD11C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4532"/>
              </p:ext>
            </p:extLst>
          </p:nvPr>
        </p:nvGraphicFramePr>
        <p:xfrm>
          <a:off x="905934" y="1834387"/>
          <a:ext cx="37761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152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switch ( expr )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case_list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→ case expr : </a:t>
                      </a:r>
                      <a:r>
                        <a:rPr lang="en-US" altLang="zh-CN" sz="1800" dirty="0" err="1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stmt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en-US" altLang="zh-CN" sz="1800" dirty="0" err="1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case_list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90269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      | default : </a:t>
                      </a:r>
                      <a:r>
                        <a:rPr lang="en-US" altLang="zh-CN" sz="1800" dirty="0" err="1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stmt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7568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      </a:t>
                      </a:r>
                      <a:r>
                        <a:rPr lang="el-GR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| ε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59003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stmt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→ ...      // 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表示其他语句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278145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540ADCE-0085-FE10-39AB-81729341E10C}"/>
              </a:ext>
            </a:extLst>
          </p:cNvPr>
          <p:cNvSpPr txBox="1"/>
          <p:nvPr/>
        </p:nvSpPr>
        <p:spPr>
          <a:xfrm>
            <a:off x="4749820" y="1501861"/>
            <a:ext cx="6671733" cy="2347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属性说明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•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综合属性：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：表示每个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分支生成的代码。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switch_stmt.code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：整个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语句生成的代码。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60A173-8288-B4E7-D248-5283E5236FD2}"/>
              </a:ext>
            </a:extLst>
          </p:cNvPr>
          <p:cNvSpPr txBox="1"/>
          <p:nvPr/>
        </p:nvSpPr>
        <p:spPr>
          <a:xfrm>
            <a:off x="770447" y="3849748"/>
            <a:ext cx="9652019" cy="1701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•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继承属性：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case_list.next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：指向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语句结束后的跳转标签。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case_list.switch_expr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：存储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语句的表达式结果。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517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97BB-F6DE-9157-C72E-24DB2A4A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BAEF083-4C16-B2A0-E667-DD6602A6C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C97B552-C13D-7D61-A860-73AAD1442406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语义规则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2947879-FBE0-123E-E12F-946A84555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703493"/>
              </p:ext>
            </p:extLst>
          </p:nvPr>
        </p:nvGraphicFramePr>
        <p:xfrm>
          <a:off x="1066801" y="1501861"/>
          <a:ext cx="5029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switch ( expr )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071CEF2-79F8-3D03-3983-1FE49E72F88F}"/>
              </a:ext>
            </a:extLst>
          </p:cNvPr>
          <p:cNvSpPr txBox="1"/>
          <p:nvPr/>
        </p:nvSpPr>
        <p:spPr>
          <a:xfrm>
            <a:off x="277232" y="2609856"/>
            <a:ext cx="11418582" cy="280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此规则生成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语句对应的代码，其中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expr.code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：生成计算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表达式值的代码。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goto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next_case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;"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：生成一条跳转语句，用于控制流跳到匹配的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default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：生成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中所有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语句的代码。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EDCF49-F37F-F415-0BD6-BCDAC7EC2E32}"/>
              </a:ext>
            </a:extLst>
          </p:cNvPr>
          <p:cNvSpPr txBox="1"/>
          <p:nvPr/>
        </p:nvSpPr>
        <p:spPr>
          <a:xfrm>
            <a:off x="5588394" y="1313177"/>
            <a:ext cx="5645663" cy="59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语义规则：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46129C7-B1D2-8B12-3B55-C75467998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39561"/>
              </p:ext>
            </p:extLst>
          </p:nvPr>
        </p:nvGraphicFramePr>
        <p:xfrm>
          <a:off x="1823483" y="2118682"/>
          <a:ext cx="941057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574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next_case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 "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1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6EDA-25B3-EEA4-B02E-EABF7296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8D16545-6F32-386D-CEBB-D5C61F058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D5003F-20F4-876C-1193-F83C6EB72B97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语义规则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ECF1357-0881-2E45-AEF1-842142A25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164876"/>
              </p:ext>
            </p:extLst>
          </p:nvPr>
        </p:nvGraphicFramePr>
        <p:xfrm>
          <a:off x="1066801" y="1501861"/>
          <a:ext cx="5029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case expr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9780B6B-FFAB-D5ED-55FE-D32DC3F7F843}"/>
              </a:ext>
            </a:extLst>
          </p:cNvPr>
          <p:cNvSpPr txBox="1"/>
          <p:nvPr/>
        </p:nvSpPr>
        <p:spPr>
          <a:xfrm>
            <a:off x="672889" y="3553335"/>
            <a:ext cx="10846222" cy="336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"if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expr.val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== " ||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expr.val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|| "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goto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case_label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;"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：判断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表达式值是否等于当前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的表达式值。如果相等，跳转到该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的执行代码位置。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goto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next_case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;"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：如果不满足条件，跳转到下一个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stmt.code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：生成当前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语句中的执行代码。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case_list_1.code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：递归生成后续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语句的代码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BAA442-0AB2-3851-32A3-33A968BFAFF8}"/>
              </a:ext>
            </a:extLst>
          </p:cNvPr>
          <p:cNvSpPr txBox="1"/>
          <p:nvPr/>
        </p:nvSpPr>
        <p:spPr>
          <a:xfrm>
            <a:off x="5588394" y="1313177"/>
            <a:ext cx="5645663" cy="59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语义规则：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22F1D72-C116-8811-E8C6-FB14F6AFB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30674"/>
              </p:ext>
            </p:extLst>
          </p:nvPr>
        </p:nvGraphicFramePr>
        <p:xfrm>
          <a:off x="1873102" y="1965960"/>
          <a:ext cx="70795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117">
                  <a:extLst>
                    <a:ext uri="{9D8B030D-6E8A-4147-A177-3AD203B41FA5}">
                      <a16:colId xmlns:a16="http://schemas.microsoft.com/office/drawing/2014/main" val="922805159"/>
                    </a:ext>
                  </a:extLst>
                </a:gridCol>
                <a:gridCol w="5245395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"if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== "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case_label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 " ||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next_case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 " ||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305608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04693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case_list_1.code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79238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42265E2-3D95-6D68-B03E-B0685CFAD5ED}"/>
              </a:ext>
            </a:extLst>
          </p:cNvPr>
          <p:cNvSpPr txBox="1"/>
          <p:nvPr/>
        </p:nvSpPr>
        <p:spPr>
          <a:xfrm>
            <a:off x="9117897" y="1207853"/>
            <a:ext cx="2566497" cy="2255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此规则生成一个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语句以及后续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的代码，逻辑如下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37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9182-8E1C-9905-1133-E6067D2D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725A0DA-B497-AAC9-973F-5703A5096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6A7A96-6E0F-01DD-927E-A71B275A543A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语义规则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BE1C1A5-7A88-9BD0-D695-468177CBC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664505"/>
              </p:ext>
            </p:extLst>
          </p:nvPr>
        </p:nvGraphicFramePr>
        <p:xfrm>
          <a:off x="1066801" y="1501861"/>
          <a:ext cx="5029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default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962D247-3CBB-E3D0-88D7-6B55A992258E}"/>
              </a:ext>
            </a:extLst>
          </p:cNvPr>
          <p:cNvSpPr txBox="1"/>
          <p:nvPr/>
        </p:nvSpPr>
        <p:spPr>
          <a:xfrm>
            <a:off x="1066801" y="2886855"/>
            <a:ext cx="9766992" cy="2255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此规则生成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语句的代码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直接使用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stmt.code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，生成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default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分支的代码。</a:t>
            </a:r>
            <a:endParaRPr lang="en-US" altLang="zh-CN" sz="24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efault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分支无条件执行，因此不需要条件判断。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F442BE-0C3A-2541-1E5B-F10ED7F8CFC5}"/>
              </a:ext>
            </a:extLst>
          </p:cNvPr>
          <p:cNvSpPr txBox="1"/>
          <p:nvPr/>
        </p:nvSpPr>
        <p:spPr>
          <a:xfrm>
            <a:off x="5588394" y="1313177"/>
            <a:ext cx="5645663" cy="59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语义规则：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1DB83C-5188-184D-1ABA-C1D439805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474300"/>
              </p:ext>
            </p:extLst>
          </p:nvPr>
        </p:nvGraphicFramePr>
        <p:xfrm>
          <a:off x="1823483" y="2118343"/>
          <a:ext cx="941057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574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03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A903-A9D1-0DA1-8BCF-4B602C9D7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9CA05A-C043-4772-18CD-924BBF51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F27DE68-0165-0D74-8F77-6CA27B63518A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187A0D5-60DA-7EC0-5B9D-5631BED14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61315"/>
              </p:ext>
            </p:extLst>
          </p:nvPr>
        </p:nvGraphicFramePr>
        <p:xfrm>
          <a:off x="872068" y="1488189"/>
          <a:ext cx="5029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switch ( expr ) {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6297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666250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43511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case expr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7372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965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case_list1.code = "if ("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switch_expr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==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expr.lexval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")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newLabel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() ";"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2179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                    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7627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                    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case_list.next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38441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case_list1.code || case_list2.code;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66459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257229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CA0B5F6-4280-58F7-EACB-D575A59EE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090068"/>
              </p:ext>
            </p:extLst>
          </p:nvPr>
        </p:nvGraphicFramePr>
        <p:xfrm>
          <a:off x="6375420" y="1488189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default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6297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case_list.next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666250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43511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</a:t>
                      </a:r>
                      <a:r>
                        <a:rPr kumimoji="0" lang="el-GR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ε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7372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965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"";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2179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25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642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6BF9-9DA5-073B-1525-8FCEADC0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6C21CA9-E5CE-3F29-6521-5ECFD1877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244E798-3608-A6D8-358B-E4596D78993E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4AD5A2F-8A0E-4A6E-AF5A-3B3840FD4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62599"/>
              </p:ext>
            </p:extLst>
          </p:nvPr>
        </p:nvGraphicFramePr>
        <p:xfrm>
          <a:off x="872068" y="1488189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switch ( expr ) {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6297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switch_stmt.code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666250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43511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B831197-58C5-1D53-6DAF-2CC32E50F83C}"/>
              </a:ext>
            </a:extLst>
          </p:cNvPr>
          <p:cNvSpPr txBox="1"/>
          <p:nvPr/>
        </p:nvSpPr>
        <p:spPr>
          <a:xfrm>
            <a:off x="6066378" y="1298257"/>
            <a:ext cx="5626089" cy="5579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解释：</a:t>
            </a:r>
            <a:endParaRPr lang="en-US" altLang="zh-CN" sz="2400" b="1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switch_stmt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是整个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语句的起始规则。</a:t>
            </a:r>
            <a:endParaRPr lang="en-US" altLang="zh-CN" sz="24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expr.code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表示计算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switch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表达式的代码，例如将表达式的值存储在某个寄存器中（如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R1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endParaRPr lang="en-US" altLang="zh-CN" sz="24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case_list.code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包含所有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分支的代码。</a:t>
            </a:r>
            <a:b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907B56-6B90-0F80-87FA-23C5C2869F5A}"/>
              </a:ext>
            </a:extLst>
          </p:cNvPr>
          <p:cNvSpPr txBox="1"/>
          <p:nvPr/>
        </p:nvSpPr>
        <p:spPr>
          <a:xfrm>
            <a:off x="499533" y="2835561"/>
            <a:ext cx="5283200" cy="3362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语义动作：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将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expr.code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与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case_list.code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连接起来，生成完整的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switch_stmt.code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。</a:t>
            </a:r>
            <a:b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</a:b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作用：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将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表达式与各个分支关联起来，为后续生成代码提供基础。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96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AF50-8114-01A0-FAF9-7D0833AD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14A2F2-4518-3EDD-58CA-944723424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3DEF6F-6636-1E8E-D749-444069EEF907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CE27F9A-4DC0-75F8-2CA4-AD9813AFC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29537"/>
              </p:ext>
            </p:extLst>
          </p:nvPr>
        </p:nvGraphicFramePr>
        <p:xfrm>
          <a:off x="872066" y="1488189"/>
          <a:ext cx="512233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2333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case expr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7372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965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case_list1.code = "if ("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switch_expr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==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expr.lexval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")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newLabel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() ";"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2179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                    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7627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                    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case_list.next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38441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case_list1.code || case_list2.code;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66459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25722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CF57B2B-6760-9C8D-173D-676C17B5360D}"/>
              </a:ext>
            </a:extLst>
          </p:cNvPr>
          <p:cNvSpPr txBox="1"/>
          <p:nvPr/>
        </p:nvSpPr>
        <p:spPr>
          <a:xfrm>
            <a:off x="1473200" y="4274482"/>
            <a:ext cx="5634566" cy="143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解释：</a:t>
            </a:r>
            <a:endParaRPr lang="en-US" altLang="zh-CN" sz="2000" b="1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由多个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分支组成。</a:t>
            </a:r>
            <a:endParaRPr lang="en-US" altLang="zh-CN" sz="20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每个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语句的逻辑包括三个部分：</a:t>
            </a:r>
            <a:endParaRPr lang="en-US" altLang="zh-CN" sz="2000" b="0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D1A7B0-E1AE-8161-B6B2-5837B1D7D96E}"/>
              </a:ext>
            </a:extLst>
          </p:cNvPr>
          <p:cNvSpPr txBox="1"/>
          <p:nvPr/>
        </p:nvSpPr>
        <p:spPr>
          <a:xfrm>
            <a:off x="6661170" y="1718992"/>
            <a:ext cx="4421697" cy="466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条件跳转：检查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表达式的值是否等于当前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的值，跳转到该分支对应的标签。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分支语句：执行该分支的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stmt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代码。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跳转到结尾：分支语句执行完后，跳转到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语句的结束标签，避免执行后续分支。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A48386E8-C9CA-632C-42BA-42AC9E2CDB1F}"/>
              </a:ext>
            </a:extLst>
          </p:cNvPr>
          <p:cNvSpPr/>
          <p:nvPr/>
        </p:nvSpPr>
        <p:spPr>
          <a:xfrm>
            <a:off x="5884333" y="1645278"/>
            <a:ext cx="776837" cy="4062545"/>
          </a:xfrm>
          <a:prstGeom prst="leftBrace">
            <a:avLst>
              <a:gd name="adj1" fmla="val 11816"/>
              <a:gd name="adj2" fmla="val 954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35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79726-5CC1-7098-5B27-A229E38B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3A721BB-3A08-D64A-6036-4DAF2CFED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069C57-147F-59B0-044D-5AAD270EC5E5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64ECA08-4FED-43A1-B605-656F2F0000F1}"/>
              </a:ext>
            </a:extLst>
          </p:cNvPr>
          <p:cNvGraphicFramePr>
            <a:graphicFrameLocks noGrp="1"/>
          </p:cNvGraphicFramePr>
          <p:nvPr/>
        </p:nvGraphicFramePr>
        <p:xfrm>
          <a:off x="872066" y="1488189"/>
          <a:ext cx="512233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2333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case expr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7372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965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case_list1.code = "if ("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switch_expr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==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expr.lexval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")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newLabel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() ";"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2179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                     ||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7627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                    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case_list.next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38441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case_list1.code || case_list2.code;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66459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25722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B497A4A4-028E-16C0-4CA3-9F119A628B8F}"/>
              </a:ext>
            </a:extLst>
          </p:cNvPr>
          <p:cNvSpPr txBox="1"/>
          <p:nvPr/>
        </p:nvSpPr>
        <p:spPr>
          <a:xfrm>
            <a:off x="5958415" y="1364613"/>
            <a:ext cx="2726273" cy="143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语义动作：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case_list1.code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84A4A6-A120-55B6-4F74-0A00AAE84B79}"/>
              </a:ext>
            </a:extLst>
          </p:cNvPr>
          <p:cNvSpPr txBox="1"/>
          <p:nvPr/>
        </p:nvSpPr>
        <p:spPr>
          <a:xfrm>
            <a:off x="8241260" y="1386227"/>
            <a:ext cx="3547538" cy="374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if ("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switch_expr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==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expr.lexval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")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goto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Label;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：生成比较和跳转语句，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Label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是为该分支生成的唯一标识符。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stmt.code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：生成当前分支的实际语句代码。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goto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case_list.next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：跳转到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语句的结束标签。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7D892E-25DE-31CE-226D-37CC3ECEF707}"/>
              </a:ext>
            </a:extLst>
          </p:cNvPr>
          <p:cNvSpPr txBox="1"/>
          <p:nvPr/>
        </p:nvSpPr>
        <p:spPr>
          <a:xfrm>
            <a:off x="872066" y="4579364"/>
            <a:ext cx="6096000" cy="143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作用：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对每个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分支生成独立的代码块。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b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</a:b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2DFADB88-C25D-1469-0001-9DED7FB3B64A}"/>
              </a:ext>
            </a:extLst>
          </p:cNvPr>
          <p:cNvSpPr/>
          <p:nvPr/>
        </p:nvSpPr>
        <p:spPr>
          <a:xfrm>
            <a:off x="8032754" y="1446569"/>
            <a:ext cx="414866" cy="3605076"/>
          </a:xfrm>
          <a:prstGeom prst="leftBrace">
            <a:avLst>
              <a:gd name="adj1" fmla="val 8333"/>
              <a:gd name="adj2" fmla="val 1970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FFDBAE-FF3D-AC74-CAB0-6B8D01DEE837}"/>
              </a:ext>
            </a:extLst>
          </p:cNvPr>
          <p:cNvSpPr txBox="1"/>
          <p:nvPr/>
        </p:nvSpPr>
        <p:spPr>
          <a:xfrm>
            <a:off x="6418796" y="2383837"/>
            <a:ext cx="18584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case_list.code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：将当前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case_list1.code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与剩余的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case_list2.code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拼接。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679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ADD9-3726-C0FA-1AC7-2AC122E1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608B61-5A8A-998A-3638-BE73DECF4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3A07EDA-9863-AA77-662B-CDCCF82E76F4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AA19E6E-6880-3885-6FD1-A6890C536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8094"/>
              </p:ext>
            </p:extLst>
          </p:nvPr>
        </p:nvGraphicFramePr>
        <p:xfrm>
          <a:off x="1066801" y="1501861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default :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6297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stmt.code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|| "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"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case_list.next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666250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43511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40620B0-0055-E137-D325-52E31BBE15D3}"/>
              </a:ext>
            </a:extLst>
          </p:cNvPr>
          <p:cNvSpPr txBox="1"/>
          <p:nvPr/>
        </p:nvSpPr>
        <p:spPr>
          <a:xfrm>
            <a:off x="6187020" y="1267070"/>
            <a:ext cx="5369979" cy="489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语义动作：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stmt.code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：生成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default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分支的语句代码。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"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goto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case_list.next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：直接跳转到结束标签，避免执行后续分支。</a:t>
            </a:r>
            <a:b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400" b="1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作用：</a:t>
            </a:r>
            <a:endParaRPr lang="en-US" altLang="zh-CN" sz="2400" b="1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提供默认行为，处理所有未被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匹配的值。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228D4C-F7ED-0190-132E-45446CCCCF55}"/>
              </a:ext>
            </a:extLst>
          </p:cNvPr>
          <p:cNvSpPr txBox="1"/>
          <p:nvPr/>
        </p:nvSpPr>
        <p:spPr>
          <a:xfrm>
            <a:off x="1066800" y="2964901"/>
            <a:ext cx="5029199" cy="280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解释：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default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分支的逻辑不需要条件跳转，直接执行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stmt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执行完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stmt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后跳转到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语句的结束标签。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53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4E4B-AF9A-DDF9-4247-E2901F22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205D14-3632-6CB2-48B8-822E1F129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E20A07-5BFE-694D-3420-A0D0184CB5BF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7356DF9-8890-B76C-8211-812D7DF2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423404"/>
              </p:ext>
            </p:extLst>
          </p:nvPr>
        </p:nvGraphicFramePr>
        <p:xfrm>
          <a:off x="1066800" y="1501861"/>
          <a:ext cx="1004146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1467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→ </a:t>
                      </a:r>
                      <a:r>
                        <a:rPr kumimoji="0" lang="el-GR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ε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7372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965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case_list.code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"";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2179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257229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A4CEA4F-1CD3-ED16-4C57-FF313B2BE8BB}"/>
              </a:ext>
            </a:extLst>
          </p:cNvPr>
          <p:cNvSpPr txBox="1"/>
          <p:nvPr/>
        </p:nvSpPr>
        <p:spPr>
          <a:xfrm>
            <a:off x="1066800" y="2357391"/>
            <a:ext cx="9541933" cy="4471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b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400" b="1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解释：</a:t>
            </a:r>
            <a:endParaRPr lang="en-US" altLang="zh-CN" sz="2400" b="1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空的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表示没有定义任何分支，代码为空。</a:t>
            </a:r>
            <a:b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400" b="1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语义动作：</a:t>
            </a:r>
            <a:endParaRPr lang="en-US" altLang="zh-CN" sz="2400" b="1" i="0" dirty="0"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case_list.code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设为空字符串。</a:t>
            </a:r>
            <a:b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zh-CN" altLang="en-US" sz="24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BB5BB9-3838-A470-26E6-941F13D23B15}"/>
              </a:ext>
            </a:extLst>
          </p:cNvPr>
          <p:cNvSpPr txBox="1"/>
          <p:nvPr/>
        </p:nvSpPr>
        <p:spPr>
          <a:xfrm>
            <a:off x="5909734" y="4046557"/>
            <a:ext cx="6096000" cy="1700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作用：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允许文法支持没有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case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或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default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switch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语句。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723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849849E-A9FB-C3A9-2FA0-8CC8D6248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4F4225E-E0F6-E1A4-D9B5-C827308D5712}"/>
              </a:ext>
            </a:extLst>
          </p:cNvPr>
          <p:cNvSpPr/>
          <p:nvPr/>
        </p:nvSpPr>
        <p:spPr>
          <a:xfrm>
            <a:off x="7742642" y="1797784"/>
            <a:ext cx="1476687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0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3299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lang="zh-CN" altLang="en-US" sz="10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003299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7C4B02-9A42-6C08-9D72-C38A2AB75DC5}"/>
              </a:ext>
            </a:extLst>
          </p:cNvPr>
          <p:cNvSpPr txBox="1"/>
          <p:nvPr/>
        </p:nvSpPr>
        <p:spPr>
          <a:xfrm>
            <a:off x="6846918" y="3226951"/>
            <a:ext cx="3268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0032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示例演示</a:t>
            </a:r>
          </a:p>
        </p:txBody>
      </p:sp>
    </p:spTree>
    <p:extLst>
      <p:ext uri="{BB962C8B-B14F-4D97-AF65-F5344CB8AC3E}">
        <p14:creationId xmlns:p14="http://schemas.microsoft.com/office/powerpoint/2010/main" val="1942671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E7929-9E00-48E0-D874-B3F0C3E5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FED8634-AEC7-90D5-F985-D39081950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EA305E-EEF8-425F-8538-A788E11EED59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示例代码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5E86D80-472C-C88D-2EF9-16E88F61D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208672"/>
              </p:ext>
            </p:extLst>
          </p:nvPr>
        </p:nvGraphicFramePr>
        <p:xfrm>
          <a:off x="905934" y="1417320"/>
          <a:ext cx="229446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6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switch (x) 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case 1: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90269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y = 10;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7568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break;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59003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case 2: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27814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y = 20;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38195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break;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95086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default: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627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y = 0;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0973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}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6893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00F4225-61D7-32A5-3CCE-DF1189D1C6A7}"/>
              </a:ext>
            </a:extLst>
          </p:cNvPr>
          <p:cNvSpPr txBox="1"/>
          <p:nvPr/>
        </p:nvSpPr>
        <p:spPr>
          <a:xfrm>
            <a:off x="3276598" y="1417320"/>
            <a:ext cx="7772401" cy="1701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输入解析：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switch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的表达式。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常量分别为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分支在没有匹配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时执行。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BE706E-8DCF-1631-F9C4-41959748822F}"/>
              </a:ext>
            </a:extLst>
          </p:cNvPr>
          <p:cNvSpPr txBox="1"/>
          <p:nvPr/>
        </p:nvSpPr>
        <p:spPr>
          <a:xfrm>
            <a:off x="3276598" y="3113552"/>
            <a:ext cx="6096000" cy="59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构建语法树：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F342C05-30E3-3693-08C7-07581DFA6E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8076" y="3192895"/>
            <a:ext cx="2358124" cy="235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23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5D17-194B-A7A5-A11D-2F1F5D40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C0170DA-D313-C905-C8B5-369982D44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C191A8-50B8-3C55-E816-33DA60366995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3258613-58F9-28A4-BB44-252348B6B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12210"/>
              </p:ext>
            </p:extLst>
          </p:nvPr>
        </p:nvGraphicFramePr>
        <p:xfrm>
          <a:off x="1219202" y="2004200"/>
          <a:ext cx="48767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98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 → x {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E.val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 evaluate(x); 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64BED80-6AFF-E0E6-1D8F-68ECF964B8CF}"/>
              </a:ext>
            </a:extLst>
          </p:cNvPr>
          <p:cNvSpPr txBox="1"/>
          <p:nvPr/>
        </p:nvSpPr>
        <p:spPr>
          <a:xfrm>
            <a:off x="922868" y="152560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Step 1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：计算条件表达式 </a:t>
            </a:r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E.val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68B708-A3A8-9622-CF26-2367AED8DA90}"/>
              </a:ext>
            </a:extLst>
          </p:cNvPr>
          <p:cNvSpPr txBox="1"/>
          <p:nvPr/>
        </p:nvSpPr>
        <p:spPr>
          <a:xfrm>
            <a:off x="922868" y="2482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Step 2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：遍历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分支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8A6FB01-3411-4280-2919-5F77867D8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723475"/>
              </p:ext>
            </p:extLst>
          </p:nvPr>
        </p:nvGraphicFramePr>
        <p:xfrm>
          <a:off x="3615269" y="3018506"/>
          <a:ext cx="248073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31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 1 : y = 10; break;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C595523C-0C4C-9678-E562-070E66150322}"/>
              </a:ext>
            </a:extLst>
          </p:cNvPr>
          <p:cNvSpPr txBox="1"/>
          <p:nvPr/>
        </p:nvSpPr>
        <p:spPr>
          <a:xfrm>
            <a:off x="1219202" y="2922601"/>
            <a:ext cx="2396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对于第一个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57DE58-7B7C-EF2D-2D48-83AF8CCD45AB}"/>
              </a:ext>
            </a:extLst>
          </p:cNvPr>
          <p:cNvSpPr txBox="1"/>
          <p:nvPr/>
        </p:nvSpPr>
        <p:spPr>
          <a:xfrm>
            <a:off x="1837287" y="3429000"/>
            <a:ext cx="61806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执行语义动作：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8B9EB257-2B86-9C08-B351-0C0C3BB69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11541"/>
              </p:ext>
            </p:extLst>
          </p:nvPr>
        </p:nvGraphicFramePr>
        <p:xfrm>
          <a:off x="2269067" y="3918745"/>
          <a:ext cx="38269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6933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if (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E.val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== 1) { execute(y = 10; break); 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8339773D-9CCB-F71F-C016-2481584AC333}"/>
              </a:ext>
            </a:extLst>
          </p:cNvPr>
          <p:cNvSpPr txBox="1"/>
          <p:nvPr/>
        </p:nvSpPr>
        <p:spPr>
          <a:xfrm>
            <a:off x="1219201" y="4322653"/>
            <a:ext cx="2396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对于第二个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09D05325-6C5D-32CF-1133-A5B40F895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248991"/>
              </p:ext>
            </p:extLst>
          </p:nvPr>
        </p:nvGraphicFramePr>
        <p:xfrm>
          <a:off x="3615269" y="4385733"/>
          <a:ext cx="248073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31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 2 : y = 20; break;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B0961AEE-482F-A0B1-2182-4B245FB014F7}"/>
              </a:ext>
            </a:extLst>
          </p:cNvPr>
          <p:cNvSpPr txBox="1"/>
          <p:nvPr/>
        </p:nvSpPr>
        <p:spPr>
          <a:xfrm>
            <a:off x="1837287" y="4829052"/>
            <a:ext cx="61806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执行语义动作：</a:t>
            </a: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6677F757-DB32-3867-8A8C-C0208F94D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295622"/>
              </p:ext>
            </p:extLst>
          </p:nvPr>
        </p:nvGraphicFramePr>
        <p:xfrm>
          <a:off x="2269066" y="5335451"/>
          <a:ext cx="38269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6933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if (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E.val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== 2) { execute(y = 20; break); 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1DAB9528-43EE-B6A2-A56A-0AD2073A0FF0}"/>
              </a:ext>
            </a:extLst>
          </p:cNvPr>
          <p:cNvSpPr txBox="1"/>
          <p:nvPr/>
        </p:nvSpPr>
        <p:spPr>
          <a:xfrm>
            <a:off x="7018868" y="1542302"/>
            <a:ext cx="3860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假设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 = 2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，则 </a:t>
            </a:r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E.val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= 2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D70B62-5439-5DAD-4F0F-107B15AD3F7E}"/>
              </a:ext>
            </a:extLst>
          </p:cNvPr>
          <p:cNvSpPr txBox="1"/>
          <p:nvPr/>
        </p:nvSpPr>
        <p:spPr>
          <a:xfrm>
            <a:off x="7018868" y="3907367"/>
            <a:ext cx="4004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由于 </a:t>
            </a:r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E.val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!= 1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，跳过执行。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B1AD64-A7BE-1C65-DB7C-E713F1BB262D}"/>
              </a:ext>
            </a:extLst>
          </p:cNvPr>
          <p:cNvSpPr txBox="1"/>
          <p:nvPr/>
        </p:nvSpPr>
        <p:spPr>
          <a:xfrm>
            <a:off x="7018868" y="4753186"/>
            <a:ext cx="4648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E.val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== 2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，匹配成功，生成代码：</a:t>
            </a: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2497FAAD-EDC6-FFA3-E67D-590B8938A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095306"/>
              </p:ext>
            </p:extLst>
          </p:nvPr>
        </p:nvGraphicFramePr>
        <p:xfrm>
          <a:off x="7107767" y="5341182"/>
          <a:ext cx="45593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300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y = 20;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224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005A-1E6F-6A1C-C1CB-D35809A4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ADC65A7-18D6-2FD2-E631-E007F82CF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6D7389-1C93-B478-3EEE-F6231C26E675}"/>
              </a:ext>
            </a:extLst>
          </p:cNvPr>
          <p:cNvSpPr txBox="1"/>
          <p:nvPr/>
        </p:nvSpPr>
        <p:spPr>
          <a:xfrm>
            <a:off x="8017953" y="524934"/>
            <a:ext cx="338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语义动作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F9FE44F-1145-E552-3A4B-3EFEF326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868499"/>
              </p:ext>
            </p:extLst>
          </p:nvPr>
        </p:nvGraphicFramePr>
        <p:xfrm>
          <a:off x="1896534" y="3330751"/>
          <a:ext cx="419946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466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if (no case matched) { execute(y = 0;); 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89D1B2A-CA33-AFFA-B796-9C19B48DAB6C}"/>
              </a:ext>
            </a:extLst>
          </p:cNvPr>
          <p:cNvSpPr txBox="1"/>
          <p:nvPr/>
        </p:nvSpPr>
        <p:spPr>
          <a:xfrm>
            <a:off x="922868" y="152560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Step 3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：检查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621BD9-01A5-12EA-FD1B-53C0FF170F4C}"/>
              </a:ext>
            </a:extLst>
          </p:cNvPr>
          <p:cNvSpPr txBox="1"/>
          <p:nvPr/>
        </p:nvSpPr>
        <p:spPr>
          <a:xfrm>
            <a:off x="1219201" y="2078410"/>
            <a:ext cx="4038599" cy="114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如果没有任何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匹配，则执行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分支的语义动作：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8610A9-39CB-FE3B-6F35-62CA29995348}"/>
              </a:ext>
            </a:extLst>
          </p:cNvPr>
          <p:cNvSpPr txBox="1"/>
          <p:nvPr/>
        </p:nvSpPr>
        <p:spPr>
          <a:xfrm>
            <a:off x="7018868" y="2603906"/>
            <a:ext cx="4470399" cy="114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case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已经匹配，因此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default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分支不执行。</a:t>
            </a:r>
          </a:p>
        </p:txBody>
      </p:sp>
    </p:spTree>
    <p:extLst>
      <p:ext uri="{BB962C8B-B14F-4D97-AF65-F5344CB8AC3E}">
        <p14:creationId xmlns:p14="http://schemas.microsoft.com/office/powerpoint/2010/main" val="2962669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8C56-121F-BB4F-536A-274EFD76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97CFDE-433B-2B47-4719-C1DB985E9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210CA58-AE01-297A-DCC7-3958AE10B352}"/>
              </a:ext>
            </a:extLst>
          </p:cNvPr>
          <p:cNvSpPr txBox="1"/>
          <p:nvPr/>
        </p:nvSpPr>
        <p:spPr>
          <a:xfrm>
            <a:off x="5096933" y="524934"/>
            <a:ext cx="630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rgbClr val="1C2D6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中间代码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CAC21A6-1BB8-4212-F05D-DCC89AFD7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87789"/>
              </p:ext>
            </p:extLst>
          </p:nvPr>
        </p:nvGraphicFramePr>
        <p:xfrm>
          <a:off x="1269999" y="1234440"/>
          <a:ext cx="991446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318">
                  <a:extLst>
                    <a:ext uri="{9D8B030D-6E8A-4147-A177-3AD203B41FA5}">
                      <a16:colId xmlns:a16="http://schemas.microsoft.com/office/drawing/2014/main" val="4005991391"/>
                    </a:ext>
                  </a:extLst>
                </a:gridCol>
                <a:gridCol w="5543149">
                  <a:extLst>
                    <a:ext uri="{9D8B030D-6E8A-4147-A177-3AD203B41FA5}">
                      <a16:colId xmlns:a16="http://schemas.microsoft.com/office/drawing/2014/main" val="2757065344"/>
                    </a:ext>
                  </a:extLst>
                </a:gridCol>
              </a:tblGrid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t1 = 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计算 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x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的值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4000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if t1 == 1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L1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判断是否为 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6297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if t1 == 2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L2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判断是否为 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case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666250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L3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跳转到 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default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435112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87661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L1: y = 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case 1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的内容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73724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9651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L2: y = 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case 2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的内容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21797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</a:t>
                      </a: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goto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76276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L3: y = 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// default 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的内容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38441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17095"/>
                  </a:ext>
                </a:extLst>
              </a:tr>
              <a:tr h="351491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End: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66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692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2634-916D-3AFF-D092-4C651530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7F2B011-98C6-63D6-07E3-6551DB611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781FA1-0CB4-B4CD-91A3-3D42CC07B886}"/>
              </a:ext>
            </a:extLst>
          </p:cNvPr>
          <p:cNvSpPr txBox="1"/>
          <p:nvPr/>
        </p:nvSpPr>
        <p:spPr>
          <a:xfrm>
            <a:off x="948088" y="1859340"/>
            <a:ext cx="102958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solidFill>
                  <a:srgbClr val="0032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感谢聆听</a:t>
            </a:r>
            <a:endParaRPr lang="en-US" altLang="zh-CN" sz="9600" dirty="0">
              <a:solidFill>
                <a:srgbClr val="003299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AB9B50-7814-1629-F4A4-75F074AB67DB}"/>
              </a:ext>
            </a:extLst>
          </p:cNvPr>
          <p:cNvSpPr txBox="1"/>
          <p:nvPr/>
        </p:nvSpPr>
        <p:spPr>
          <a:xfrm>
            <a:off x="1033112" y="3834714"/>
            <a:ext cx="1029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行楷" panose="02010800040101010101" pitchFamily="2" charset="-122"/>
                <a:ea typeface="华文行楷" panose="02010800040101010101" pitchFamily="2" charset="-122"/>
              </a:rPr>
              <a:t>汇报人：项 枫        小组成员：张艺翱、魏一方        汇报时间：</a:t>
            </a:r>
            <a:r>
              <a:rPr lang="en-US" altLang="zh-CN" sz="2000" dirty="0">
                <a:latin typeface="华文行楷" panose="02010800040101010101" pitchFamily="2" charset="-122"/>
                <a:ea typeface="华文行楷" panose="02010800040101010101" pitchFamily="2" charset="-122"/>
              </a:rPr>
              <a:t>2024/11/19</a:t>
            </a:r>
            <a:endParaRPr lang="zh-CN" altLang="en-US" sz="2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28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1717</Words>
  <Application>Microsoft Office PowerPoint</Application>
  <PresentationFormat>宽屏</PresentationFormat>
  <Paragraphs>205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等线</vt:lpstr>
      <vt:lpstr>等线 Light</vt:lpstr>
      <vt:lpstr>黑体</vt:lpstr>
      <vt:lpstr>华文楷体</vt:lpstr>
      <vt:lpstr>华文隶书</vt:lpstr>
      <vt:lpstr>华文行楷</vt:lpstr>
      <vt:lpstr>宋体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枫 项</dc:creator>
  <cp:lastModifiedBy>枫 项</cp:lastModifiedBy>
  <cp:revision>14</cp:revision>
  <dcterms:created xsi:type="dcterms:W3CDTF">2024-11-18T08:12:53Z</dcterms:created>
  <dcterms:modified xsi:type="dcterms:W3CDTF">2024-11-19T02:04:31Z</dcterms:modified>
</cp:coreProperties>
</file>