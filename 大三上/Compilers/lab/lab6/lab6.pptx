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custDataLst>
    <p:tags r:id="rId1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0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11473" y="1749297"/>
            <a:ext cx="5369052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1850" y="3993794"/>
            <a:ext cx="8988298" cy="1213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Yu Gothic UI Light" panose="020B0300000000000000" charset="-128"/>
                <a:cs typeface="Yu Gothic UI Light" panose="020B03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Yu Gothic UI Light" panose="020B0300000000000000" charset="-128"/>
                <a:cs typeface="Yu Gothic UI Light" panose="020B03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Yu Gothic UI Light" panose="020B0300000000000000" charset="-128"/>
                <a:cs typeface="Yu Gothic UI Light" panose="020B03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8152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Yu Gothic UI Light" panose="020B0300000000000000" charset="-128"/>
                <a:cs typeface="Yu Gothic UI Light" panose="020B0300000000000000" charset="-128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0072" y="1983689"/>
            <a:ext cx="10531855" cy="1987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1473" y="1749297"/>
            <a:ext cx="53689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" dirty="0">
                <a:latin typeface="Yu Gothic UI Light" panose="020B0300000000000000" charset="-128"/>
                <a:cs typeface="Yu Gothic UI Light" panose="020B0300000000000000" charset="-128"/>
              </a:rPr>
              <a:t>Compilers</a:t>
            </a:r>
            <a:r>
              <a:rPr sz="6000" spc="-90" dirty="0">
                <a:latin typeface="Yu Gothic UI Light" panose="020B0300000000000000" charset="-128"/>
                <a:cs typeface="Yu Gothic UI Light" panose="020B0300000000000000" charset="-128"/>
              </a:rPr>
              <a:t> </a:t>
            </a:r>
            <a:r>
              <a:rPr sz="6000" dirty="0">
                <a:latin typeface="Yu Gothic UI Light" panose="020B0300000000000000" charset="-128"/>
                <a:cs typeface="Yu Gothic UI Light" panose="020B0300000000000000" charset="-128"/>
              </a:rPr>
              <a:t>–</a:t>
            </a:r>
            <a:r>
              <a:rPr sz="6000" spc="-40" dirty="0">
                <a:latin typeface="Yu Gothic UI Light" panose="020B0300000000000000" charset="-128"/>
                <a:cs typeface="Yu Gothic UI Light" panose="020B0300000000000000" charset="-128"/>
              </a:rPr>
              <a:t> </a:t>
            </a:r>
            <a:r>
              <a:rPr sz="6000" spc="-5" dirty="0">
                <a:latin typeface="Yu Gothic UI Light" panose="020B0300000000000000" charset="-128"/>
                <a:cs typeface="Yu Gothic UI Light" panose="020B0300000000000000" charset="-128"/>
              </a:rPr>
              <a:t>lab6</a:t>
            </a:r>
            <a:endParaRPr sz="6000">
              <a:latin typeface="Yu Gothic UI Light" panose="020B0300000000000000" charset="-128"/>
              <a:cs typeface="Yu Gothic UI Light" panose="020B030000000000000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1732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983689"/>
            <a:ext cx="3543300" cy="1219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5" dirty="0">
                <a:latin typeface="Tahoma" panose="020B0604030504040204"/>
                <a:cs typeface="Tahoma" panose="020B0604030504040204"/>
              </a:rPr>
              <a:t>Type</a:t>
            </a:r>
            <a:r>
              <a:rPr sz="28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20" dirty="0">
                <a:latin typeface="Tahoma" panose="020B0604030504040204"/>
                <a:cs typeface="Tahoma" panose="020B0604030504040204"/>
              </a:rPr>
              <a:t>Checking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241300" indent="-228600">
              <a:lnSpc>
                <a:spcPct val="100000"/>
              </a:lnSpc>
              <a:spcBef>
                <a:spcPts val="26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40" dirty="0">
                <a:latin typeface="Tahoma" panose="020B0604030504040204"/>
                <a:cs typeface="Tahoma" panose="020B0604030504040204"/>
              </a:rPr>
              <a:t>Implementation</a:t>
            </a:r>
            <a:r>
              <a:rPr sz="28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5" dirty="0">
                <a:latin typeface="Tahoma" panose="020B0604030504040204"/>
                <a:cs typeface="Tahoma" panose="020B0604030504040204"/>
              </a:rPr>
              <a:t>Hints</a:t>
            </a:r>
            <a:endParaRPr sz="28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072" y="1983689"/>
            <a:ext cx="5349875" cy="1689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Tahoma" panose="020B0604030504040204"/>
                <a:cs typeface="Tahoma" panose="020B0604030504040204"/>
              </a:rPr>
              <a:t>We</a:t>
            </a:r>
            <a:r>
              <a:rPr sz="28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60" dirty="0">
                <a:latin typeface="Tahoma" panose="020B0604030504040204"/>
                <a:cs typeface="Tahoma" panose="020B0604030504040204"/>
              </a:rPr>
              <a:t>have</a:t>
            </a:r>
            <a:r>
              <a:rPr sz="28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two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categories</a:t>
            </a:r>
            <a:r>
              <a:rPr sz="28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5" dirty="0">
                <a:latin typeface="Tahoma" panose="020B0604030504040204"/>
                <a:cs typeface="Tahoma" panose="020B0604030504040204"/>
              </a:rPr>
              <a:t>of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b="1" spc="-70" dirty="0">
                <a:latin typeface="Yu Gothic UI" panose="020B0500000000000000" charset="-128"/>
                <a:cs typeface="Yu Gothic UI" panose="020B0500000000000000" charset="-128"/>
              </a:rPr>
              <a:t>types</a:t>
            </a:r>
            <a:r>
              <a:rPr sz="2800" spc="-70" dirty="0">
                <a:latin typeface="Tahoma" panose="020B0604030504040204"/>
                <a:cs typeface="Tahoma" panose="020B0604030504040204"/>
              </a:rPr>
              <a:t>: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698500" lvl="1" indent="-228600">
              <a:lnSpc>
                <a:spcPct val="100000"/>
              </a:lnSpc>
              <a:spcBef>
                <a:spcPts val="20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30" dirty="0">
                <a:latin typeface="Tahoma" panose="020B0604030504040204"/>
                <a:cs typeface="Tahoma" panose="020B0604030504040204"/>
              </a:rPr>
              <a:t>Primitive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type: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latin typeface="Tahoma" panose="020B0604030504040204"/>
                <a:cs typeface="Tahoma" panose="020B0604030504040204"/>
              </a:rPr>
              <a:t>int/char/float</a:t>
            </a:r>
            <a:endParaRPr sz="2400" dirty="0">
              <a:latin typeface="Tahoma" panose="020B0604030504040204"/>
              <a:cs typeface="Tahoma" panose="020B0604030504040204"/>
            </a:endParaRPr>
          </a:p>
          <a:p>
            <a:pPr marL="698500" lvl="1" indent="-228600">
              <a:lnSpc>
                <a:spcPct val="100000"/>
              </a:lnSpc>
              <a:spcBef>
                <a:spcPts val="193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20" dirty="0">
                <a:latin typeface="Tahoma" panose="020B0604030504040204"/>
                <a:cs typeface="Tahoma" panose="020B0604030504040204"/>
              </a:rPr>
              <a:t>Der</a:t>
            </a:r>
            <a:r>
              <a:rPr sz="2400" spc="-5" dirty="0">
                <a:latin typeface="Tahoma" panose="020B0604030504040204"/>
                <a:cs typeface="Tahoma" panose="020B0604030504040204"/>
              </a:rPr>
              <a:t>i</a:t>
            </a:r>
            <a:r>
              <a:rPr sz="2400" spc="-20" dirty="0">
                <a:latin typeface="Tahoma" panose="020B0604030504040204"/>
                <a:cs typeface="Tahoma" panose="020B0604030504040204"/>
              </a:rPr>
              <a:t>ved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t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y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pe: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70" dirty="0">
                <a:latin typeface="Tahoma" panose="020B0604030504040204"/>
                <a:cs typeface="Tahoma" panose="020B0604030504040204"/>
              </a:rPr>
              <a:t>a</a:t>
            </a:r>
            <a:r>
              <a:rPr sz="2400" spc="-55" dirty="0">
                <a:latin typeface="Tahoma" panose="020B0604030504040204"/>
                <a:cs typeface="Tahoma" panose="020B0604030504040204"/>
              </a:rPr>
              <a:t>rray/s</a:t>
            </a:r>
            <a:r>
              <a:rPr sz="2400" spc="-40" dirty="0">
                <a:latin typeface="Tahoma" panose="020B0604030504040204"/>
                <a:cs typeface="Tahoma" panose="020B0604030504040204"/>
              </a:rPr>
              <a:t>t</a:t>
            </a:r>
            <a:r>
              <a:rPr sz="2400" spc="-35" dirty="0">
                <a:latin typeface="Tahoma" panose="020B0604030504040204"/>
                <a:cs typeface="Tahoma" panose="020B0604030504040204"/>
              </a:rPr>
              <a:t>ructure</a:t>
            </a:r>
            <a:endParaRPr sz="24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34721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Type</a:t>
            </a:r>
            <a:r>
              <a:rPr spc="-75" dirty="0"/>
              <a:t> </a:t>
            </a:r>
            <a:r>
              <a:rPr dirty="0"/>
              <a:t>Checking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072" y="1983689"/>
            <a:ext cx="6748145" cy="2301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ahoma" panose="020B0604030504040204"/>
                <a:cs typeface="Tahoma" panose="020B0604030504040204"/>
              </a:rPr>
              <a:t>Some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5" dirty="0">
                <a:latin typeface="Tahoma" panose="020B0604030504040204"/>
                <a:cs typeface="Tahoma" panose="020B0604030504040204"/>
              </a:rPr>
              <a:t>constructs</a:t>
            </a:r>
            <a:r>
              <a:rPr sz="28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28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0" dirty="0">
                <a:latin typeface="Tahoma" panose="020B0604030504040204"/>
                <a:cs typeface="Tahoma" panose="020B0604030504040204"/>
              </a:rPr>
              <a:t>associated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5" dirty="0">
                <a:latin typeface="Tahoma" panose="020B0604030504040204"/>
                <a:cs typeface="Tahoma" panose="020B0604030504040204"/>
              </a:rPr>
              <a:t>with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0" dirty="0">
                <a:latin typeface="Tahoma" panose="020B0604030504040204"/>
                <a:cs typeface="Tahoma" panose="020B0604030504040204"/>
              </a:rPr>
              <a:t>types: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698500" lvl="1" indent="-228600">
              <a:lnSpc>
                <a:spcPct val="100000"/>
              </a:lnSpc>
              <a:spcBef>
                <a:spcPts val="20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5" dirty="0">
                <a:latin typeface="Tahoma" panose="020B0604030504040204"/>
                <a:cs typeface="Tahoma" panose="020B0604030504040204"/>
              </a:rPr>
              <a:t>Variable:</a:t>
            </a:r>
            <a:r>
              <a:rPr sz="24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the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latin typeface="Tahoma" panose="020B0604030504040204"/>
                <a:cs typeface="Tahoma" panose="020B0604030504040204"/>
              </a:rPr>
              <a:t>type</a:t>
            </a:r>
            <a:r>
              <a:rPr sz="24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5" dirty="0">
                <a:latin typeface="Tahoma" panose="020B0604030504040204"/>
                <a:cs typeface="Tahoma" panose="020B0604030504040204"/>
              </a:rPr>
              <a:t>of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itself</a:t>
            </a:r>
            <a:endParaRPr sz="2400" dirty="0">
              <a:latin typeface="Tahoma" panose="020B0604030504040204"/>
              <a:cs typeface="Tahoma" panose="020B0604030504040204"/>
            </a:endParaRPr>
          </a:p>
          <a:p>
            <a:pPr marL="698500" lvl="1" indent="-228600">
              <a:lnSpc>
                <a:spcPct val="100000"/>
              </a:lnSpc>
              <a:spcBef>
                <a:spcPts val="193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60" dirty="0">
                <a:latin typeface="Tahoma" panose="020B0604030504040204"/>
                <a:cs typeface="Tahoma" panose="020B0604030504040204"/>
              </a:rPr>
              <a:t>Function: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5" dirty="0">
                <a:latin typeface="Tahoma" panose="020B0604030504040204"/>
                <a:cs typeface="Tahoma" panose="020B0604030504040204"/>
              </a:rPr>
              <a:t>return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60" dirty="0">
                <a:latin typeface="Tahoma" panose="020B0604030504040204"/>
                <a:cs typeface="Tahoma" panose="020B0604030504040204"/>
              </a:rPr>
              <a:t>type,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parameter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0" dirty="0">
                <a:latin typeface="Tahoma" panose="020B0604030504040204"/>
                <a:cs typeface="Tahoma" panose="020B0604030504040204"/>
              </a:rPr>
              <a:t>types</a:t>
            </a:r>
            <a:endParaRPr sz="2400" dirty="0">
              <a:latin typeface="Tahoma" panose="020B0604030504040204"/>
              <a:cs typeface="Tahoma" panose="020B0604030504040204"/>
            </a:endParaRPr>
          </a:p>
          <a:p>
            <a:pPr marL="698500" lvl="1" indent="-228600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70" dirty="0">
                <a:latin typeface="Tahoma" panose="020B0604030504040204"/>
                <a:cs typeface="Tahoma" panose="020B0604030504040204"/>
              </a:rPr>
              <a:t>Expression:</a:t>
            </a:r>
            <a:r>
              <a:rPr sz="24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latin typeface="Tahoma" panose="020B0604030504040204"/>
                <a:cs typeface="Tahoma" panose="020B0604030504040204"/>
              </a:rPr>
              <a:t>type</a:t>
            </a:r>
            <a:r>
              <a:rPr sz="24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5" dirty="0">
                <a:latin typeface="Tahoma" panose="020B0604030504040204"/>
                <a:cs typeface="Tahoma" panose="020B0604030504040204"/>
              </a:rPr>
              <a:t>of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evaluated</a:t>
            </a:r>
            <a:r>
              <a:rPr sz="24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value</a:t>
            </a:r>
            <a:endParaRPr sz="24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34721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Type</a:t>
            </a:r>
            <a:r>
              <a:rPr spc="-75" dirty="0"/>
              <a:t> </a:t>
            </a:r>
            <a:r>
              <a:rPr dirty="0"/>
              <a:t>Checking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072" y="1983689"/>
            <a:ext cx="7482840" cy="3355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ahoma" panose="020B0604030504040204"/>
                <a:cs typeface="Tahoma" panose="020B0604030504040204"/>
              </a:rPr>
              <a:t>How</a:t>
            </a:r>
            <a:r>
              <a:rPr sz="28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two</a:t>
            </a:r>
            <a:r>
              <a:rPr sz="28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5" dirty="0">
                <a:latin typeface="Tahoma" panose="020B0604030504040204"/>
                <a:cs typeface="Tahoma" panose="020B0604030504040204"/>
              </a:rPr>
              <a:t>types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5" dirty="0">
                <a:latin typeface="Tahoma" panose="020B0604030504040204"/>
                <a:cs typeface="Tahoma" panose="020B0604030504040204"/>
              </a:rPr>
              <a:t>are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equal?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698500" lvl="1" indent="-228600">
              <a:lnSpc>
                <a:spcPct val="100000"/>
              </a:lnSpc>
              <a:spcBef>
                <a:spcPts val="20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30" dirty="0">
                <a:latin typeface="Tahoma" panose="020B0604030504040204"/>
                <a:cs typeface="Tahoma" panose="020B0604030504040204"/>
              </a:rPr>
              <a:t>Primitive</a:t>
            </a:r>
            <a:r>
              <a:rPr sz="24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type: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constant</a:t>
            </a:r>
            <a:r>
              <a:rPr sz="24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5" dirty="0">
                <a:latin typeface="Tahoma" panose="020B0604030504040204"/>
                <a:cs typeface="Tahoma" panose="020B0604030504040204"/>
              </a:rPr>
              <a:t>equal</a:t>
            </a:r>
            <a:endParaRPr sz="2400" dirty="0">
              <a:latin typeface="Tahoma" panose="020B0604030504040204"/>
              <a:cs typeface="Tahoma" panose="020B0604030504040204"/>
            </a:endParaRPr>
          </a:p>
          <a:p>
            <a:pPr marL="698500" lvl="1" indent="-228600">
              <a:lnSpc>
                <a:spcPct val="100000"/>
              </a:lnSpc>
              <a:spcBef>
                <a:spcPts val="193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85" dirty="0">
                <a:latin typeface="Tahoma" panose="020B0604030504040204"/>
                <a:cs typeface="Tahoma" panose="020B0604030504040204"/>
              </a:rPr>
              <a:t>Array</a:t>
            </a:r>
            <a:r>
              <a:rPr sz="2400" spc="-65" dirty="0">
                <a:latin typeface="Tahoma" panose="020B0604030504040204"/>
                <a:cs typeface="Tahoma" panose="020B0604030504040204"/>
              </a:rPr>
              <a:t>: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5" dirty="0">
                <a:latin typeface="Tahoma" panose="020B0604030504040204"/>
                <a:cs typeface="Tahoma" panose="020B0604030504040204"/>
              </a:rPr>
              <a:t>base</a:t>
            </a:r>
            <a:r>
              <a:rPr sz="24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latin typeface="Tahoma" panose="020B0604030504040204"/>
                <a:cs typeface="Tahoma" panose="020B0604030504040204"/>
              </a:rPr>
              <a:t>type</a:t>
            </a:r>
            <a:r>
              <a:rPr sz="24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45" dirty="0">
                <a:latin typeface="Tahoma" panose="020B0604030504040204"/>
                <a:cs typeface="Tahoma" panose="020B0604030504040204"/>
              </a:rPr>
              <a:t>equal,</a:t>
            </a:r>
            <a:r>
              <a:rPr sz="24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30" dirty="0">
                <a:latin typeface="Tahoma" panose="020B0604030504040204"/>
                <a:cs typeface="Tahoma" panose="020B0604030504040204"/>
              </a:rPr>
              <a:t>siz</a:t>
            </a:r>
            <a:r>
              <a:rPr sz="2400" spc="-35" dirty="0">
                <a:latin typeface="Tahoma" panose="020B0604030504040204"/>
                <a:cs typeface="Tahoma" panose="020B0604030504040204"/>
              </a:rPr>
              <a:t>e</a:t>
            </a:r>
            <a:r>
              <a:rPr sz="24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2400" spc="-15" dirty="0">
                <a:latin typeface="Tahoma" panose="020B0604030504040204"/>
                <a:cs typeface="Tahoma" panose="020B0604030504040204"/>
              </a:rPr>
              <a:t>equal</a:t>
            </a:r>
            <a:endParaRPr sz="2400" dirty="0">
              <a:latin typeface="Tahoma" panose="020B0604030504040204"/>
              <a:cs typeface="Tahoma" panose="020B0604030504040204"/>
            </a:endParaRPr>
          </a:p>
          <a:p>
            <a:pPr marL="698500" lvl="1" indent="-228600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70" dirty="0">
                <a:latin typeface="Tahoma" panose="020B0604030504040204"/>
                <a:cs typeface="Tahoma" panose="020B0604030504040204"/>
              </a:rPr>
              <a:t>Structure:</a:t>
            </a:r>
            <a:endParaRPr sz="2400" dirty="0">
              <a:latin typeface="Tahoma" panose="020B0604030504040204"/>
              <a:cs typeface="Tahoma" panose="020B0604030504040204"/>
            </a:endParaRPr>
          </a:p>
          <a:p>
            <a:pPr marL="1155700" lvl="2" indent="-22860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spc="20" dirty="0">
                <a:latin typeface="Tahoma" panose="020B0604030504040204"/>
                <a:cs typeface="Tahoma" panose="020B0604030504040204"/>
              </a:rPr>
              <a:t>Named</a:t>
            </a:r>
            <a:r>
              <a:rPr sz="20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55" dirty="0">
                <a:latin typeface="Tahoma" panose="020B0604030504040204"/>
                <a:cs typeface="Tahoma" panose="020B0604030504040204"/>
              </a:rPr>
              <a:t>equal:</a:t>
            </a:r>
            <a:r>
              <a:rPr sz="20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20" dirty="0">
                <a:latin typeface="Tahoma" panose="020B0604030504040204"/>
                <a:cs typeface="Tahoma" panose="020B0604030504040204"/>
              </a:rPr>
              <a:t>two</a:t>
            </a:r>
            <a:r>
              <a:rPr sz="20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40" dirty="0">
                <a:latin typeface="Tahoma" panose="020B0604030504040204"/>
                <a:cs typeface="Tahoma" panose="020B0604030504040204"/>
              </a:rPr>
              <a:t>struct</a:t>
            </a:r>
            <a:r>
              <a:rPr sz="20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30" dirty="0">
                <a:latin typeface="Tahoma" panose="020B0604030504040204"/>
                <a:cs typeface="Tahoma" panose="020B0604030504040204"/>
              </a:rPr>
              <a:t>types</a:t>
            </a:r>
            <a:r>
              <a:rPr sz="20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40" dirty="0">
                <a:latin typeface="Tahoma" panose="020B0604030504040204"/>
                <a:cs typeface="Tahoma" panose="020B0604030504040204"/>
              </a:rPr>
              <a:t>have</a:t>
            </a:r>
            <a:r>
              <a:rPr sz="20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latin typeface="Tahoma" panose="020B0604030504040204"/>
                <a:cs typeface="Tahoma" panose="020B0604030504040204"/>
              </a:rPr>
              <a:t>the</a:t>
            </a:r>
            <a:r>
              <a:rPr sz="20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40" dirty="0">
                <a:latin typeface="Tahoma" panose="020B0604030504040204"/>
                <a:cs typeface="Tahoma" panose="020B0604030504040204"/>
              </a:rPr>
              <a:t>same</a:t>
            </a:r>
            <a:r>
              <a:rPr sz="20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latin typeface="Tahoma" panose="020B0604030504040204"/>
                <a:cs typeface="Tahoma" panose="020B0604030504040204"/>
              </a:rPr>
              <a:t>name</a:t>
            </a:r>
            <a:endParaRPr sz="2000" dirty="0">
              <a:latin typeface="Tahoma" panose="020B0604030504040204"/>
              <a:cs typeface="Tahoma" panose="020B0604030504040204"/>
            </a:endParaRPr>
          </a:p>
          <a:p>
            <a:pPr marL="1155700" lvl="2" indent="-228600">
              <a:lnSpc>
                <a:spcPct val="100000"/>
              </a:lnSpc>
              <a:spcBef>
                <a:spcPts val="1695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spc="-35" dirty="0">
                <a:latin typeface="Tahoma" panose="020B0604030504040204"/>
                <a:cs typeface="Tahoma" panose="020B0604030504040204"/>
              </a:rPr>
              <a:t>Structural</a:t>
            </a:r>
            <a:r>
              <a:rPr sz="20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55" dirty="0">
                <a:latin typeface="Tahoma" panose="020B0604030504040204"/>
                <a:cs typeface="Tahoma" panose="020B0604030504040204"/>
              </a:rPr>
              <a:t>equal:</a:t>
            </a:r>
            <a:r>
              <a:rPr sz="20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20" dirty="0">
                <a:latin typeface="Tahoma" panose="020B0604030504040204"/>
                <a:cs typeface="Tahoma" panose="020B0604030504040204"/>
              </a:rPr>
              <a:t>two</a:t>
            </a:r>
            <a:r>
              <a:rPr sz="20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40" dirty="0">
                <a:latin typeface="Tahoma" panose="020B0604030504040204"/>
                <a:cs typeface="Tahoma" panose="020B0604030504040204"/>
              </a:rPr>
              <a:t>struct</a:t>
            </a:r>
            <a:r>
              <a:rPr sz="20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30" dirty="0">
                <a:latin typeface="Tahoma" panose="020B0604030504040204"/>
                <a:cs typeface="Tahoma" panose="020B0604030504040204"/>
              </a:rPr>
              <a:t>types</a:t>
            </a:r>
            <a:r>
              <a:rPr sz="20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40" dirty="0">
                <a:latin typeface="Tahoma" panose="020B0604030504040204"/>
                <a:cs typeface="Tahoma" panose="020B0604030504040204"/>
              </a:rPr>
              <a:t>have</a:t>
            </a:r>
            <a:r>
              <a:rPr sz="20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latin typeface="Tahoma" panose="020B0604030504040204"/>
                <a:cs typeface="Tahoma" panose="020B0604030504040204"/>
              </a:rPr>
              <a:t>the</a:t>
            </a:r>
            <a:r>
              <a:rPr sz="20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40" dirty="0">
                <a:latin typeface="Tahoma" panose="020B0604030504040204"/>
                <a:cs typeface="Tahoma" panose="020B0604030504040204"/>
              </a:rPr>
              <a:t>same</a:t>
            </a:r>
            <a:r>
              <a:rPr sz="20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latin typeface="Tahoma" panose="020B0604030504040204"/>
                <a:cs typeface="Tahoma" panose="020B0604030504040204"/>
              </a:rPr>
              <a:t>definition</a:t>
            </a:r>
            <a:endParaRPr sz="20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34721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Type</a:t>
            </a:r>
            <a:r>
              <a:rPr spc="-75" dirty="0"/>
              <a:t> </a:t>
            </a:r>
            <a:r>
              <a:rPr dirty="0"/>
              <a:t>Checking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072" y="1769215"/>
            <a:ext cx="360362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ahoma" panose="020B0604030504040204"/>
                <a:cs typeface="Tahoma" panose="020B0604030504040204"/>
              </a:rPr>
              <a:t>How</a:t>
            </a:r>
            <a:r>
              <a:rPr sz="28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15" dirty="0">
                <a:latin typeface="Tahoma" panose="020B0604030504040204"/>
                <a:cs typeface="Tahoma" panose="020B0604030504040204"/>
              </a:rPr>
              <a:t>to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25" dirty="0">
                <a:latin typeface="Tahoma" panose="020B0604030504040204"/>
                <a:cs typeface="Tahoma" panose="020B0604030504040204"/>
              </a:rPr>
              <a:t>define</a:t>
            </a:r>
            <a:r>
              <a:rPr sz="28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70" dirty="0">
                <a:latin typeface="Tahoma" panose="020B0604030504040204"/>
                <a:cs typeface="Tahoma" panose="020B0604030504040204"/>
              </a:rPr>
              <a:t>a</a:t>
            </a:r>
            <a:r>
              <a:rPr sz="28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5" dirty="0">
                <a:latin typeface="Tahoma" panose="020B0604030504040204"/>
                <a:cs typeface="Tahoma" panose="020B0604030504040204"/>
              </a:rPr>
              <a:t>type? </a:t>
            </a:r>
            <a:r>
              <a:rPr sz="2800" spc="-86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80" dirty="0">
                <a:latin typeface="Tahoma" panose="020B0604030504040204"/>
                <a:cs typeface="Tahoma" panose="020B0604030504040204"/>
              </a:rPr>
              <a:t>(Recursive</a:t>
            </a:r>
            <a:r>
              <a:rPr sz="28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0" dirty="0">
                <a:latin typeface="Tahoma" panose="020B0604030504040204"/>
                <a:cs typeface="Tahoma" panose="020B0604030504040204"/>
              </a:rPr>
              <a:t>definition)</a:t>
            </a:r>
            <a:endParaRPr sz="2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34721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Type</a:t>
            </a:r>
            <a:r>
              <a:rPr spc="-75" dirty="0"/>
              <a:t> </a:t>
            </a:r>
            <a:r>
              <a:rPr dirty="0"/>
              <a:t>Checking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8398" y="3429000"/>
            <a:ext cx="5102187" cy="1536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072" y="1983689"/>
            <a:ext cx="36036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ahoma" panose="020B0604030504040204"/>
                <a:cs typeface="Tahoma" panose="020B0604030504040204"/>
              </a:rPr>
              <a:t>How</a:t>
            </a:r>
            <a:r>
              <a:rPr sz="28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15" dirty="0">
                <a:latin typeface="Tahoma" panose="020B0604030504040204"/>
                <a:cs typeface="Tahoma" panose="020B0604030504040204"/>
              </a:rPr>
              <a:t>to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25" dirty="0">
                <a:latin typeface="Tahoma" panose="020B0604030504040204"/>
                <a:cs typeface="Tahoma" panose="020B0604030504040204"/>
              </a:rPr>
              <a:t>define</a:t>
            </a:r>
            <a:r>
              <a:rPr sz="28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70" dirty="0">
                <a:latin typeface="Tahoma" panose="020B0604030504040204"/>
                <a:cs typeface="Tahoma" panose="020B0604030504040204"/>
              </a:rPr>
              <a:t>a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5" dirty="0">
                <a:latin typeface="Tahoma" panose="020B0604030504040204"/>
                <a:cs typeface="Tahoma" panose="020B0604030504040204"/>
              </a:rPr>
              <a:t>type?</a:t>
            </a:r>
            <a:endParaRPr sz="2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34721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Type</a:t>
            </a:r>
            <a:r>
              <a:rPr spc="-75" dirty="0"/>
              <a:t> </a:t>
            </a:r>
            <a:r>
              <a:rPr dirty="0"/>
              <a:t>Checking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2681" y="682751"/>
            <a:ext cx="3734166" cy="1123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883" y="2008632"/>
            <a:ext cx="10238232" cy="404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072" y="1769215"/>
            <a:ext cx="9737725" cy="194691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5" dirty="0">
                <a:latin typeface="Tahoma" panose="020B0604030504040204"/>
                <a:cs typeface="Tahoma" panose="020B0604030504040204"/>
              </a:rPr>
              <a:t>To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60" dirty="0">
                <a:latin typeface="Tahoma" panose="020B0604030504040204"/>
                <a:cs typeface="Tahoma" panose="020B0604030504040204"/>
              </a:rPr>
              <a:t>reuse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0" dirty="0">
                <a:latin typeface="Tahoma" panose="020B0604030504040204"/>
                <a:cs typeface="Tahoma" panose="020B0604030504040204"/>
              </a:rPr>
              <a:t>the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20" dirty="0">
                <a:latin typeface="Tahoma" panose="020B0604030504040204"/>
                <a:cs typeface="Tahoma" panose="020B0604030504040204"/>
              </a:rPr>
              <a:t>lab5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20" dirty="0">
                <a:latin typeface="Tahoma" panose="020B0604030504040204"/>
                <a:cs typeface="Tahoma" panose="020B0604030504040204"/>
              </a:rPr>
              <a:t>code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into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5" dirty="0">
                <a:latin typeface="Tahoma" panose="020B0604030504040204"/>
                <a:cs typeface="Tahoma" panose="020B0604030504040204"/>
              </a:rPr>
              <a:t>project2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515620" lvl="1" indent="-274320">
              <a:lnSpc>
                <a:spcPct val="100000"/>
              </a:lnSpc>
              <a:spcBef>
                <a:spcPts val="1685"/>
              </a:spcBef>
              <a:buChar char="-"/>
              <a:tabLst>
                <a:tab pos="515620" algn="l"/>
              </a:tabLst>
            </a:pPr>
            <a:r>
              <a:rPr sz="2800" spc="-20" dirty="0">
                <a:latin typeface="Tahoma" panose="020B0604030504040204"/>
                <a:cs typeface="Tahoma" panose="020B0604030504040204"/>
              </a:rPr>
              <a:t>rede</a:t>
            </a:r>
            <a:r>
              <a:rPr sz="2800" spc="-40" dirty="0">
                <a:latin typeface="Tahoma" panose="020B0604030504040204"/>
                <a:cs typeface="Tahoma" panose="020B0604030504040204"/>
              </a:rPr>
              <a:t>fin</a:t>
            </a:r>
            <a:r>
              <a:rPr sz="2800" spc="-50" dirty="0">
                <a:latin typeface="Tahoma" panose="020B0604030504040204"/>
                <a:cs typeface="Tahoma" panose="020B0604030504040204"/>
              </a:rPr>
              <a:t>e</a:t>
            </a:r>
            <a:r>
              <a:rPr sz="28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latin typeface="Consolas" panose="020B0609020204030204"/>
                <a:cs typeface="Consolas" panose="020B0609020204030204"/>
              </a:rPr>
              <a:t>VAL_T</a:t>
            </a:r>
            <a:r>
              <a:rPr sz="2400" spc="-540" dirty="0">
                <a:latin typeface="Consolas" panose="020B0609020204030204"/>
                <a:cs typeface="Consolas" panose="020B0609020204030204"/>
              </a:rPr>
              <a:t> </a:t>
            </a:r>
            <a:r>
              <a:rPr sz="2800" spc="-20" dirty="0">
                <a:latin typeface="Tahoma" panose="020B0604030504040204"/>
                <a:cs typeface="Tahoma" panose="020B0604030504040204"/>
              </a:rPr>
              <a:t>macr</a:t>
            </a:r>
            <a:r>
              <a:rPr sz="2800" spc="-15" dirty="0">
                <a:latin typeface="Tahoma" panose="020B0604030504040204"/>
                <a:cs typeface="Tahoma" panose="020B0604030504040204"/>
              </a:rPr>
              <a:t>o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95" dirty="0">
                <a:latin typeface="Tahoma" panose="020B0604030504040204"/>
                <a:cs typeface="Tahoma" panose="020B0604030504040204"/>
              </a:rPr>
              <a:t>as</a:t>
            </a:r>
            <a:r>
              <a:rPr sz="28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you</a:t>
            </a:r>
            <a:r>
              <a:rPr sz="2800" spc="-20" dirty="0">
                <a:latin typeface="Tahoma" panose="020B0604030504040204"/>
                <a:cs typeface="Tahoma" panose="020B0604030504040204"/>
              </a:rPr>
              <a:t>r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75" dirty="0">
                <a:latin typeface="Tahoma" panose="020B0604030504040204"/>
                <a:cs typeface="Tahoma" panose="020B0604030504040204"/>
              </a:rPr>
              <a:t>s</a:t>
            </a:r>
            <a:r>
              <a:rPr sz="2800" spc="-80" dirty="0">
                <a:latin typeface="Tahoma" panose="020B0604030504040204"/>
                <a:cs typeface="Tahoma" panose="020B0604030504040204"/>
              </a:rPr>
              <a:t>e</a:t>
            </a:r>
            <a:r>
              <a:rPr sz="2800" spc="-35" dirty="0">
                <a:latin typeface="Tahoma" panose="020B0604030504040204"/>
                <a:cs typeface="Tahoma" panose="020B0604030504040204"/>
              </a:rPr>
              <a:t>l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f</a:t>
            </a:r>
            <a:r>
              <a:rPr sz="2800" spc="385" dirty="0">
                <a:latin typeface="Tahoma" panose="020B0604030504040204"/>
                <a:cs typeface="Tahoma" panose="020B0604030504040204"/>
              </a:rPr>
              <a:t>-</a:t>
            </a:r>
            <a:r>
              <a:rPr sz="2800" spc="-25" dirty="0">
                <a:latin typeface="Tahoma" panose="020B0604030504040204"/>
                <a:cs typeface="Tahoma" panose="020B0604030504040204"/>
              </a:rPr>
              <a:t>de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f</a:t>
            </a:r>
            <a:r>
              <a:rPr sz="2800" spc="-5" dirty="0">
                <a:latin typeface="Tahoma" panose="020B0604030504040204"/>
                <a:cs typeface="Tahoma" panose="020B0604030504040204"/>
              </a:rPr>
              <a:t>ined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type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515620" lvl="1" indent="-274320">
              <a:lnSpc>
                <a:spcPct val="100000"/>
              </a:lnSpc>
              <a:spcBef>
                <a:spcPts val="1680"/>
              </a:spcBef>
              <a:buChar char="-"/>
              <a:tabLst>
                <a:tab pos="515620" algn="l"/>
              </a:tabLst>
            </a:pPr>
            <a:r>
              <a:rPr sz="2800" spc="-35" dirty="0">
                <a:latin typeface="Tahoma" panose="020B0604030504040204"/>
                <a:cs typeface="Tahoma" panose="020B0604030504040204"/>
              </a:rPr>
              <a:t>the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5" dirty="0">
                <a:latin typeface="Tahoma" panose="020B0604030504040204"/>
                <a:cs typeface="Tahoma" panose="020B0604030504040204"/>
              </a:rPr>
              <a:t>self-defined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type</a:t>
            </a:r>
            <a:r>
              <a:rPr sz="28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0" dirty="0">
                <a:latin typeface="Tahoma" panose="020B0604030504040204"/>
                <a:cs typeface="Tahoma" panose="020B0604030504040204"/>
              </a:rPr>
              <a:t>represents</a:t>
            </a:r>
            <a:r>
              <a:rPr sz="28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5" dirty="0">
                <a:latin typeface="Tahoma" panose="020B0604030504040204"/>
                <a:cs typeface="Tahoma" panose="020B0604030504040204"/>
              </a:rPr>
              <a:t>the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</a:rPr>
              <a:t>information</a:t>
            </a:r>
            <a:r>
              <a:rPr sz="28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5" dirty="0">
                <a:latin typeface="Tahoma" panose="020B0604030504040204"/>
                <a:cs typeface="Tahoma" panose="020B0604030504040204"/>
              </a:rPr>
              <a:t>of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70" dirty="0">
                <a:latin typeface="Tahoma" panose="020B0604030504040204"/>
                <a:cs typeface="Tahoma" panose="020B0604030504040204"/>
              </a:rPr>
              <a:t>a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20" dirty="0">
                <a:latin typeface="Tahoma" panose="020B0604030504040204"/>
                <a:cs typeface="Tahoma" panose="020B0604030504040204"/>
              </a:rPr>
              <a:t>symbol</a:t>
            </a:r>
            <a:endParaRPr sz="2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5036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100" dirty="0"/>
              <a:t> </a:t>
            </a:r>
            <a:r>
              <a:rPr spc="5" dirty="0"/>
              <a:t>Hints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072" y="1769215"/>
            <a:ext cx="6640830" cy="258762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Tahoma" panose="020B0604030504040204"/>
                <a:cs typeface="Tahoma" panose="020B0604030504040204"/>
              </a:rPr>
              <a:t>Recorded</a:t>
            </a:r>
            <a:r>
              <a:rPr sz="28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5" dirty="0">
                <a:latin typeface="Tahoma" panose="020B0604030504040204"/>
                <a:cs typeface="Tahoma" panose="020B0604030504040204"/>
              </a:rPr>
              <a:t>information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515620" lvl="1" indent="-274320">
              <a:lnSpc>
                <a:spcPct val="100000"/>
              </a:lnSpc>
              <a:spcBef>
                <a:spcPts val="1685"/>
              </a:spcBef>
              <a:buChar char="-"/>
              <a:tabLst>
                <a:tab pos="515620" algn="l"/>
              </a:tabLst>
            </a:pPr>
            <a:r>
              <a:rPr sz="2800" spc="-75" dirty="0">
                <a:latin typeface="Tahoma" panose="020B0604030504040204"/>
                <a:cs typeface="Tahoma" panose="020B0604030504040204"/>
              </a:rPr>
              <a:t>variable: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type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70" dirty="0">
                <a:latin typeface="Tahoma" panose="020B0604030504040204"/>
                <a:cs typeface="Tahoma" panose="020B0604030504040204"/>
              </a:rPr>
              <a:t>(primitive,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0" dirty="0">
                <a:latin typeface="Tahoma" panose="020B0604030504040204"/>
                <a:cs typeface="Tahoma" panose="020B0604030504040204"/>
              </a:rPr>
              <a:t>array,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75" dirty="0">
                <a:latin typeface="Tahoma" panose="020B0604030504040204"/>
                <a:cs typeface="Tahoma" panose="020B0604030504040204"/>
              </a:rPr>
              <a:t>structure)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515620" lvl="1" indent="-274320">
              <a:lnSpc>
                <a:spcPct val="100000"/>
              </a:lnSpc>
              <a:spcBef>
                <a:spcPts val="1680"/>
              </a:spcBef>
              <a:buChar char="-"/>
              <a:tabLst>
                <a:tab pos="515620" algn="l"/>
              </a:tabLst>
            </a:pPr>
            <a:r>
              <a:rPr sz="2800" spc="-60" dirty="0">
                <a:latin typeface="Tahoma" panose="020B0604030504040204"/>
                <a:cs typeface="Tahoma" panose="020B0604030504040204"/>
              </a:rPr>
              <a:t>function: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5" dirty="0">
                <a:latin typeface="Tahoma" panose="020B0604030504040204"/>
                <a:cs typeface="Tahoma" panose="020B0604030504040204"/>
              </a:rPr>
              <a:t>return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70" dirty="0">
                <a:latin typeface="Tahoma" panose="020B0604030504040204"/>
                <a:cs typeface="Tahoma" panose="020B0604030504040204"/>
              </a:rPr>
              <a:t>type,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0" dirty="0">
                <a:latin typeface="Tahoma" panose="020B0604030504040204"/>
                <a:cs typeface="Tahoma" panose="020B0604030504040204"/>
              </a:rPr>
              <a:t>parameter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0" dirty="0">
                <a:latin typeface="Tahoma" panose="020B0604030504040204"/>
                <a:cs typeface="Tahoma" panose="020B0604030504040204"/>
              </a:rPr>
              <a:t>types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515620" lvl="1" indent="-274320">
              <a:lnSpc>
                <a:spcPct val="100000"/>
              </a:lnSpc>
              <a:spcBef>
                <a:spcPts val="1680"/>
              </a:spcBef>
              <a:buChar char="-"/>
              <a:tabLst>
                <a:tab pos="515620" algn="l"/>
              </a:tabLst>
            </a:pPr>
            <a:r>
              <a:rPr sz="2800" spc="-30" dirty="0">
                <a:latin typeface="Tahoma" panose="020B0604030504040204"/>
                <a:cs typeface="Tahoma" panose="020B0604030504040204"/>
              </a:rPr>
              <a:t>type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0" dirty="0">
                <a:latin typeface="Tahoma" panose="020B0604030504040204"/>
                <a:cs typeface="Tahoma" panose="020B0604030504040204"/>
              </a:rPr>
              <a:t>nam</a:t>
            </a:r>
            <a:r>
              <a:rPr sz="2800" spc="-25" dirty="0">
                <a:latin typeface="Tahoma" panose="020B0604030504040204"/>
                <a:cs typeface="Tahoma" panose="020B0604030504040204"/>
              </a:rPr>
              <a:t>e</a:t>
            </a:r>
            <a:r>
              <a:rPr sz="2800" spc="-380" dirty="0">
                <a:latin typeface="Tahoma" panose="020B0604030504040204"/>
                <a:cs typeface="Tahoma" panose="020B0604030504040204"/>
              </a:rPr>
              <a:t>: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type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0" dirty="0">
                <a:latin typeface="Tahoma" panose="020B0604030504040204"/>
                <a:cs typeface="Tahoma" panose="020B0604030504040204"/>
              </a:rPr>
              <a:t>its</a:t>
            </a:r>
            <a:r>
              <a:rPr sz="2800" spc="-70" dirty="0">
                <a:latin typeface="Tahoma" panose="020B0604030504040204"/>
                <a:cs typeface="Tahoma" panose="020B0604030504040204"/>
              </a:rPr>
              <a:t>e</a:t>
            </a:r>
            <a:r>
              <a:rPr sz="2800" spc="-45" dirty="0">
                <a:latin typeface="Tahoma" panose="020B0604030504040204"/>
                <a:cs typeface="Tahoma" panose="020B0604030504040204"/>
              </a:rPr>
              <a:t>lf</a:t>
            </a:r>
            <a:endParaRPr sz="2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5036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100" dirty="0"/>
              <a:t> </a:t>
            </a:r>
            <a:r>
              <a:rPr spc="5" dirty="0"/>
              <a:t>Hints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072" y="1769215"/>
            <a:ext cx="9125585" cy="322770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Tahoma" panose="020B0604030504040204"/>
                <a:cs typeface="Tahoma" panose="020B0604030504040204"/>
              </a:rPr>
              <a:t>When</a:t>
            </a:r>
            <a:r>
              <a:rPr sz="28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15" dirty="0">
                <a:latin typeface="Tahoma" panose="020B0604030504040204"/>
                <a:cs typeface="Tahoma" panose="020B0604030504040204"/>
              </a:rPr>
              <a:t>to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push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5" dirty="0">
                <a:latin typeface="Tahoma" panose="020B0604030504040204"/>
                <a:cs typeface="Tahoma" panose="020B0604030504040204"/>
              </a:rPr>
              <a:t>symbol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515620" lvl="1" indent="-274320">
              <a:lnSpc>
                <a:spcPct val="100000"/>
              </a:lnSpc>
              <a:spcBef>
                <a:spcPts val="1685"/>
              </a:spcBef>
              <a:buClr>
                <a:srgbClr val="000000"/>
              </a:buClr>
              <a:buSzPct val="117000"/>
              <a:buFont typeface="Tahoma" panose="020B0604030504040204"/>
              <a:buChar char="-"/>
              <a:tabLst>
                <a:tab pos="515620" algn="l"/>
              </a:tabLst>
            </a:pP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ExtDef</a:t>
            </a:r>
            <a:r>
              <a:rPr sz="2400" spc="2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dirty="0">
                <a:latin typeface="Consolas" panose="020B0609020204030204"/>
                <a:cs typeface="Consolas" panose="020B0609020204030204"/>
              </a:rPr>
              <a:t>-&gt; </a:t>
            </a: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Specifier</a:t>
            </a:r>
            <a:r>
              <a:rPr sz="2400" spc="4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ExtDecList</a:t>
            </a:r>
            <a:r>
              <a:rPr sz="2400" dirty="0">
                <a:latin typeface="Consolas" panose="020B0609020204030204"/>
                <a:cs typeface="Consolas" panose="020B0609020204030204"/>
              </a:rPr>
              <a:t>:</a:t>
            </a:r>
            <a:r>
              <a:rPr sz="2400" spc="50" dirty="0">
                <a:latin typeface="Consolas" panose="020B0609020204030204"/>
                <a:cs typeface="Consolas" panose="020B0609020204030204"/>
              </a:rPr>
              <a:t> </a:t>
            </a:r>
            <a:r>
              <a:rPr sz="2800" spc="10" dirty="0">
                <a:latin typeface="Tahoma" panose="020B0604030504040204"/>
                <a:cs typeface="Tahoma" panose="020B0604030504040204"/>
              </a:rPr>
              <a:t>global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0" dirty="0">
                <a:latin typeface="Tahoma" panose="020B0604030504040204"/>
                <a:cs typeface="Tahoma" panose="020B0604030504040204"/>
              </a:rPr>
              <a:t>variable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515620" lvl="1" indent="-274320">
              <a:lnSpc>
                <a:spcPct val="100000"/>
              </a:lnSpc>
              <a:spcBef>
                <a:spcPts val="1680"/>
              </a:spcBef>
              <a:buClr>
                <a:srgbClr val="000000"/>
              </a:buClr>
              <a:buSzPct val="117000"/>
              <a:buFont typeface="Tahoma" panose="020B0604030504040204"/>
              <a:buChar char="-"/>
              <a:tabLst>
                <a:tab pos="515620" algn="l"/>
              </a:tabLst>
            </a:pPr>
            <a:r>
              <a:rPr sz="2400" spc="-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ExtDe</a:t>
            </a: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2400" spc="3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spc="-5" dirty="0">
                <a:latin typeface="Consolas" panose="020B0609020204030204"/>
                <a:cs typeface="Consolas" panose="020B0609020204030204"/>
              </a:rPr>
              <a:t>-</a:t>
            </a:r>
            <a:r>
              <a:rPr sz="2400" dirty="0">
                <a:latin typeface="Consolas" panose="020B0609020204030204"/>
                <a:cs typeface="Consolas" panose="020B0609020204030204"/>
              </a:rPr>
              <a:t>&gt;</a:t>
            </a:r>
            <a:r>
              <a:rPr sz="2400" spc="10" dirty="0">
                <a:latin typeface="Consolas" panose="020B0609020204030204"/>
                <a:cs typeface="Consolas" panose="020B0609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Specifie</a:t>
            </a: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r</a:t>
            </a:r>
            <a:r>
              <a:rPr sz="2400" spc="5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SEMI</a:t>
            </a:r>
            <a:r>
              <a:rPr sz="2400" dirty="0">
                <a:latin typeface="Consolas" panose="020B0609020204030204"/>
                <a:cs typeface="Consolas" panose="020B0609020204030204"/>
              </a:rPr>
              <a:t>:</a:t>
            </a:r>
            <a:r>
              <a:rPr sz="2400" spc="-540" dirty="0">
                <a:latin typeface="Consolas" panose="020B0609020204030204"/>
                <a:cs typeface="Consolas" panose="020B0609020204030204"/>
              </a:rPr>
              <a:t> </a:t>
            </a:r>
            <a:r>
              <a:rPr sz="2800" spc="-65" dirty="0">
                <a:latin typeface="Tahoma" panose="020B0604030504040204"/>
                <a:cs typeface="Tahoma" panose="020B0604030504040204"/>
              </a:rPr>
              <a:t>use</a:t>
            </a:r>
            <a:r>
              <a:rPr sz="2800" spc="-50" dirty="0">
                <a:latin typeface="Tahoma" panose="020B0604030504040204"/>
                <a:cs typeface="Tahoma" panose="020B0604030504040204"/>
              </a:rPr>
              <a:t>r</a:t>
            </a:r>
            <a:r>
              <a:rPr sz="2800" spc="380" dirty="0">
                <a:latin typeface="Tahoma" panose="020B0604030504040204"/>
                <a:cs typeface="Tahoma" panose="020B0604030504040204"/>
              </a:rPr>
              <a:t>-</a:t>
            </a:r>
            <a:r>
              <a:rPr sz="2800" spc="-25" dirty="0">
                <a:latin typeface="Tahoma" panose="020B0604030504040204"/>
                <a:cs typeface="Tahoma" panose="020B0604030504040204"/>
              </a:rPr>
              <a:t>de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f</a:t>
            </a:r>
            <a:r>
              <a:rPr sz="2800" spc="-5" dirty="0">
                <a:latin typeface="Tahoma" panose="020B0604030504040204"/>
                <a:cs typeface="Tahoma" panose="020B0604030504040204"/>
              </a:rPr>
              <a:t>ined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30" dirty="0">
                <a:latin typeface="Tahoma" panose="020B0604030504040204"/>
                <a:cs typeface="Tahoma" panose="020B0604030504040204"/>
              </a:rPr>
              <a:t>type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515620" lvl="1" indent="-274320">
              <a:lnSpc>
                <a:spcPct val="100000"/>
              </a:lnSpc>
              <a:spcBef>
                <a:spcPts val="1680"/>
              </a:spcBef>
              <a:buClr>
                <a:srgbClr val="000000"/>
              </a:buClr>
              <a:buSzPct val="117000"/>
              <a:buFont typeface="Tahoma" panose="020B0604030504040204"/>
              <a:buChar char="-"/>
              <a:tabLst>
                <a:tab pos="515620" algn="l"/>
              </a:tabLst>
            </a:pP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ExtDef</a:t>
            </a:r>
            <a:r>
              <a:rPr sz="2400" spc="3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dirty="0">
                <a:latin typeface="Consolas" panose="020B0609020204030204"/>
                <a:cs typeface="Consolas" panose="020B0609020204030204"/>
              </a:rPr>
              <a:t>-&gt;</a:t>
            </a:r>
            <a:r>
              <a:rPr sz="2400" spc="10" dirty="0">
                <a:latin typeface="Consolas" panose="020B0609020204030204"/>
                <a:cs typeface="Consolas" panose="020B0609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Specifier</a:t>
            </a:r>
            <a:r>
              <a:rPr sz="2400" spc="5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FunDec</a:t>
            </a:r>
            <a:r>
              <a:rPr sz="2400" spc="2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CompSt</a:t>
            </a:r>
            <a:r>
              <a:rPr sz="2400" dirty="0">
                <a:latin typeface="Consolas" panose="020B0609020204030204"/>
                <a:cs typeface="Consolas" panose="020B0609020204030204"/>
              </a:rPr>
              <a:t>:</a:t>
            </a:r>
            <a:r>
              <a:rPr sz="2400" spc="-520" dirty="0">
                <a:latin typeface="Consolas" panose="020B0609020204030204"/>
                <a:cs typeface="Consolas" panose="020B0609020204030204"/>
              </a:rPr>
              <a:t> </a:t>
            </a:r>
            <a:r>
              <a:rPr sz="2800" spc="-45" dirty="0">
                <a:latin typeface="Tahoma" panose="020B0604030504040204"/>
                <a:cs typeface="Tahoma" panose="020B0604030504040204"/>
              </a:rPr>
              <a:t>funct</a:t>
            </a:r>
            <a:r>
              <a:rPr sz="2800" spc="-35" dirty="0">
                <a:latin typeface="Tahoma" panose="020B0604030504040204"/>
                <a:cs typeface="Tahoma" panose="020B0604030504040204"/>
              </a:rPr>
              <a:t>i</a:t>
            </a:r>
            <a:r>
              <a:rPr sz="2800" spc="20" dirty="0">
                <a:latin typeface="Tahoma" panose="020B0604030504040204"/>
                <a:cs typeface="Tahoma" panose="020B0604030504040204"/>
              </a:rPr>
              <a:t>o</a:t>
            </a:r>
            <a:r>
              <a:rPr sz="2800" spc="30" dirty="0">
                <a:latin typeface="Tahoma" panose="020B0604030504040204"/>
                <a:cs typeface="Tahoma" panose="020B0604030504040204"/>
              </a:rPr>
              <a:t>n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20" dirty="0">
                <a:latin typeface="Tahoma" panose="020B0604030504040204"/>
                <a:cs typeface="Tahoma" panose="020B0604030504040204"/>
              </a:rPr>
              <a:t>definition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515620" lvl="1" indent="-274320">
              <a:lnSpc>
                <a:spcPct val="100000"/>
              </a:lnSpc>
              <a:spcBef>
                <a:spcPts val="1680"/>
              </a:spcBef>
              <a:buClr>
                <a:srgbClr val="000000"/>
              </a:buClr>
              <a:buSzPct val="117000"/>
              <a:buFont typeface="Tahoma" panose="020B0604030504040204"/>
              <a:buChar char="-"/>
              <a:tabLst>
                <a:tab pos="515620" algn="l"/>
              </a:tabLst>
            </a:pPr>
            <a:r>
              <a:rPr sz="2400" spc="-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sz="2400" spc="1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spc="-5" dirty="0">
                <a:latin typeface="Consolas" panose="020B0609020204030204"/>
                <a:cs typeface="Consolas" panose="020B0609020204030204"/>
              </a:rPr>
              <a:t>-&gt;</a:t>
            </a:r>
            <a:r>
              <a:rPr sz="2400" spc="10" dirty="0">
                <a:latin typeface="Consolas" panose="020B0609020204030204"/>
                <a:cs typeface="Consolas" panose="020B0609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Specifier</a:t>
            </a:r>
            <a:r>
              <a:rPr sz="2400" spc="4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DecList</a:t>
            </a:r>
            <a:r>
              <a:rPr sz="2400" spc="5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spc="-80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SEMI</a:t>
            </a:r>
            <a:r>
              <a:rPr sz="2800" spc="-80" dirty="0">
                <a:latin typeface="Tahoma" panose="020B0604030504040204"/>
                <a:cs typeface="Tahoma" panose="020B0604030504040204"/>
              </a:rPr>
              <a:t>:</a:t>
            </a:r>
            <a:r>
              <a:rPr sz="28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0" dirty="0">
                <a:latin typeface="Tahoma" panose="020B0604030504040204"/>
                <a:cs typeface="Tahoma" panose="020B0604030504040204"/>
              </a:rPr>
              <a:t>local</a:t>
            </a:r>
            <a:r>
              <a:rPr sz="28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0" dirty="0">
                <a:latin typeface="Tahoma" panose="020B0604030504040204"/>
                <a:cs typeface="Tahoma" panose="020B0604030504040204"/>
              </a:rPr>
              <a:t>variable</a:t>
            </a:r>
            <a:endParaRPr sz="2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5036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100" dirty="0"/>
              <a:t> </a:t>
            </a:r>
            <a:r>
              <a:rPr spc="5" dirty="0"/>
              <a:t>Hints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572" y="1983689"/>
            <a:ext cx="3908425" cy="1896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04800" algn="l"/>
              </a:tabLst>
            </a:pPr>
            <a:r>
              <a:rPr sz="2800" spc="-30" dirty="0">
                <a:latin typeface="Tahoma" panose="020B0604030504040204"/>
                <a:cs typeface="Tahoma" panose="020B0604030504040204"/>
              </a:rPr>
              <a:t>What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25" dirty="0">
                <a:latin typeface="Tahoma" panose="020B0604030504040204"/>
                <a:cs typeface="Tahoma" panose="020B0604030504040204"/>
              </a:rPr>
              <a:t>i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s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40" dirty="0">
                <a:latin typeface="Tahoma" panose="020B0604030504040204"/>
                <a:cs typeface="Tahoma" panose="020B0604030504040204"/>
              </a:rPr>
              <a:t>lvalu</a:t>
            </a:r>
            <a:r>
              <a:rPr sz="2800" spc="-55" dirty="0">
                <a:latin typeface="Tahoma" panose="020B0604030504040204"/>
                <a:cs typeface="Tahoma" panose="020B0604030504040204"/>
              </a:rPr>
              <a:t>e</a:t>
            </a:r>
            <a:r>
              <a:rPr sz="2800" spc="-100" dirty="0">
                <a:latin typeface="Tahoma" panose="020B0604030504040204"/>
                <a:cs typeface="Tahoma" panose="020B0604030504040204"/>
              </a:rPr>
              <a:t>?</a:t>
            </a:r>
            <a:endParaRPr sz="2800" dirty="0">
              <a:latin typeface="Tahoma" panose="020B0604030504040204"/>
              <a:cs typeface="Tahoma" panose="020B0604030504040204"/>
            </a:endParaRPr>
          </a:p>
          <a:p>
            <a:pPr marL="76200">
              <a:lnSpc>
                <a:spcPct val="100000"/>
              </a:lnSpc>
              <a:spcBef>
                <a:spcPts val="2540"/>
              </a:spcBef>
            </a:pP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Exp</a:t>
            </a:r>
            <a:r>
              <a:rPr sz="2400" spc="-5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dirty="0">
                <a:latin typeface="Consolas" panose="020B0609020204030204"/>
                <a:cs typeface="Consolas" panose="020B0609020204030204"/>
              </a:rPr>
              <a:t>-&gt; </a:t>
            </a: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Exp</a:t>
            </a:r>
            <a:r>
              <a:rPr sz="2400" baseline="-210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 spc="637" baseline="-210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400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ASSIGN </a:t>
            </a:r>
            <a:r>
              <a:rPr sz="24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Exp</a:t>
            </a:r>
            <a:r>
              <a:rPr sz="2400" baseline="-21000" dirty="0">
                <a:solidFill>
                  <a:srgbClr val="FF0000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2400" baseline="-21000" dirty="0">
              <a:latin typeface="Consolas" panose="020B0609020204030204"/>
              <a:cs typeface="Consolas" panose="020B0609020204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 dirty="0">
              <a:latin typeface="Consolas" panose="020B0609020204030204"/>
              <a:cs typeface="Consolas" panose="020B0609020204030204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2800" spc="-15" dirty="0">
                <a:latin typeface="Tahoma" panose="020B0604030504040204"/>
                <a:cs typeface="Tahoma" panose="020B0604030504040204"/>
              </a:rPr>
              <a:t>only</a:t>
            </a:r>
            <a:r>
              <a:rPr sz="2800" spc="-155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20" dirty="0">
                <a:latin typeface="Tahoma" panose="020B0604030504040204"/>
                <a:cs typeface="Tahoma" panose="020B0604030504040204"/>
              </a:rPr>
              <a:t>when:</a:t>
            </a:r>
            <a:endParaRPr sz="2800" dirty="0">
              <a:latin typeface="Tahoma" panose="020B0604030504040204"/>
              <a:cs typeface="Tahoma" panose="020B06040305040402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11022" y="4140781"/>
          <a:ext cx="3503930" cy="1655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053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400" spc="-5" dirty="0">
                          <a:solidFill>
                            <a:srgbClr val="FF0000"/>
                          </a:solidFill>
                          <a:latin typeface="Consolas" panose="020B0609020204030204"/>
                          <a:cs typeface="Consolas" panose="020B0609020204030204"/>
                        </a:rPr>
                        <a:t>Exp</a:t>
                      </a:r>
                      <a:r>
                        <a:rPr sz="2400" spc="-7" baseline="-21000" dirty="0">
                          <a:solidFill>
                            <a:srgbClr val="FF0000"/>
                          </a:solidFill>
                          <a:latin typeface="Consolas" panose="020B0609020204030204"/>
                          <a:cs typeface="Consolas" panose="020B0609020204030204"/>
                        </a:rPr>
                        <a:t>1</a:t>
                      </a:r>
                      <a:endParaRPr sz="2400" baseline="-210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260"/>
                        </a:lnSpc>
                      </a:pPr>
                      <a:r>
                        <a:rPr sz="2400" dirty="0">
                          <a:latin typeface="Consolas" panose="020B0609020204030204"/>
                          <a:cs typeface="Consolas" panose="020B0609020204030204"/>
                        </a:rPr>
                        <a:t>-&gt;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260"/>
                        </a:lnSpc>
                      </a:pPr>
                      <a:r>
                        <a:rPr sz="2400" spc="10" dirty="0">
                          <a:solidFill>
                            <a:srgbClr val="006FC0"/>
                          </a:solidFill>
                          <a:latin typeface="Consolas" panose="020B0609020204030204"/>
                          <a:cs typeface="Consolas" panose="020B0609020204030204"/>
                        </a:rPr>
                        <a:t>ID</a:t>
                      </a:r>
                      <a:endParaRPr sz="24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2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400" dirty="0">
                          <a:latin typeface="Consolas" panose="020B0609020204030204"/>
                          <a:cs typeface="Consolas" panose="020B0609020204030204"/>
                        </a:rPr>
                        <a:t>|</a:t>
                      </a: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Consolas" panose="020B0609020204030204"/>
                          <a:cs typeface="Consolas" panose="020B0609020204030204"/>
                        </a:rPr>
                        <a:t>Exp</a:t>
                      </a:r>
                      <a:endParaRPr sz="24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400" dirty="0">
                          <a:solidFill>
                            <a:srgbClr val="006FC0"/>
                          </a:solidFill>
                          <a:latin typeface="Consolas" panose="020B0609020204030204"/>
                          <a:cs typeface="Consolas" panose="020B0609020204030204"/>
                        </a:rPr>
                        <a:t>D</a:t>
                      </a:r>
                      <a:r>
                        <a:rPr sz="2400" spc="5" dirty="0">
                          <a:solidFill>
                            <a:srgbClr val="006FC0"/>
                          </a:solidFill>
                          <a:latin typeface="Consolas" panose="020B0609020204030204"/>
                          <a:cs typeface="Consolas" panose="020B0609020204030204"/>
                        </a:rPr>
                        <a:t>O</a:t>
                      </a:r>
                      <a:r>
                        <a:rPr sz="2400" dirty="0">
                          <a:solidFill>
                            <a:srgbClr val="006FC0"/>
                          </a:solidFill>
                          <a:latin typeface="Consolas" panose="020B0609020204030204"/>
                          <a:cs typeface="Consolas" panose="020B0609020204030204"/>
                        </a:rPr>
                        <a:t>T</a:t>
                      </a:r>
                      <a:endParaRPr sz="24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400" dirty="0">
                          <a:solidFill>
                            <a:srgbClr val="006FC0"/>
                          </a:solidFill>
                          <a:latin typeface="Consolas" panose="020B0609020204030204"/>
                          <a:cs typeface="Consolas" panose="020B0609020204030204"/>
                        </a:rPr>
                        <a:t>ID</a:t>
                      </a:r>
                      <a:endParaRPr sz="24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400" dirty="0">
                          <a:latin typeface="Consolas" panose="020B0609020204030204"/>
                          <a:cs typeface="Consolas" panose="020B0609020204030204"/>
                        </a:rPr>
                        <a:t>|</a:t>
                      </a:r>
                    </a:p>
                  </a:txBody>
                  <a:tcPr marL="0" marR="0" marT="10668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Consolas" panose="020B0609020204030204"/>
                          <a:cs typeface="Consolas" panose="020B0609020204030204"/>
                        </a:rPr>
                        <a:t>Exp</a:t>
                      </a:r>
                      <a:endParaRPr sz="24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10668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400" dirty="0">
                          <a:solidFill>
                            <a:srgbClr val="006FC0"/>
                          </a:solidFill>
                          <a:latin typeface="Consolas" panose="020B0609020204030204"/>
                          <a:cs typeface="Consolas" panose="020B0609020204030204"/>
                        </a:rPr>
                        <a:t>LB</a:t>
                      </a:r>
                      <a:endParaRPr sz="24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10668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Consolas" panose="020B0609020204030204"/>
                          <a:cs typeface="Consolas" panose="020B0609020204030204"/>
                        </a:rPr>
                        <a:t>Exp</a:t>
                      </a:r>
                      <a:endParaRPr sz="24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10668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400" dirty="0">
                          <a:solidFill>
                            <a:srgbClr val="006FC0"/>
                          </a:solidFill>
                          <a:latin typeface="Consolas" panose="020B0609020204030204"/>
                          <a:cs typeface="Consolas" panose="020B0609020204030204"/>
                        </a:rPr>
                        <a:t>RB</a:t>
                      </a:r>
                      <a:endParaRPr sz="24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1066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5036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spc="-100" dirty="0"/>
              <a:t> </a:t>
            </a:r>
            <a:r>
              <a:rPr spc="5" dirty="0"/>
              <a:t>Hints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072" y="1983689"/>
            <a:ext cx="6323330" cy="1987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Yu Gothic UI" panose="020B0500000000000000" charset="-128"/>
                <a:cs typeface="Yu Gothic UI" panose="020B0500000000000000" charset="-128"/>
              </a:rPr>
              <a:t>JSON</a:t>
            </a:r>
            <a:r>
              <a:rPr sz="2800" b="1" spc="-35" dirty="0">
                <a:latin typeface="Yu Gothic UI" panose="020B0500000000000000" charset="-128"/>
                <a:cs typeface="Yu Gothic UI" panose="020B0500000000000000" charset="-128"/>
              </a:rPr>
              <a:t> </a:t>
            </a:r>
            <a:r>
              <a:rPr sz="2800" b="1" spc="-5" dirty="0">
                <a:latin typeface="Yu Gothic UI" panose="020B0500000000000000" charset="-128"/>
                <a:cs typeface="Yu Gothic UI" panose="020B0500000000000000" charset="-128"/>
              </a:rPr>
              <a:t>object</a:t>
            </a:r>
            <a:endParaRPr sz="2800" dirty="0">
              <a:latin typeface="Yu Gothic UI" panose="020B0500000000000000" charset="-128"/>
              <a:cs typeface="Yu Gothic UI" panose="020B0500000000000000" charset="-128"/>
            </a:endParaRPr>
          </a:p>
          <a:p>
            <a:pPr marL="12700" marR="5080">
              <a:lnSpc>
                <a:spcPts val="6050"/>
              </a:lnSpc>
              <a:spcBef>
                <a:spcPts val="440"/>
              </a:spcBef>
            </a:pPr>
            <a:r>
              <a:rPr sz="2800" spc="-30" dirty="0">
                <a:latin typeface="Tahoma" panose="020B0604030504040204"/>
                <a:cs typeface="Tahoma" panose="020B0604030504040204"/>
              </a:rPr>
              <a:t>Write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70" dirty="0">
                <a:latin typeface="Tahoma" panose="020B0604030504040204"/>
                <a:cs typeface="Tahoma" panose="020B0604030504040204"/>
              </a:rPr>
              <a:t>a</a:t>
            </a:r>
            <a:r>
              <a:rPr sz="28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2950" i="1" spc="-40" dirty="0">
                <a:latin typeface="Calibri" panose="020F0502020204030204"/>
                <a:cs typeface="Calibri" panose="020F0502020204030204"/>
              </a:rPr>
              <a:t>struct</a:t>
            </a:r>
            <a:r>
              <a:rPr sz="2950" i="1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Tahoma" panose="020B0604030504040204"/>
                <a:cs typeface="Tahoma" panose="020B0604030504040204"/>
              </a:rPr>
              <a:t>definition</a:t>
            </a:r>
            <a:r>
              <a:rPr sz="28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2800" dirty="0">
                <a:latin typeface="Tahoma" panose="020B0604030504040204"/>
                <a:cs typeface="Tahoma" panose="020B0604030504040204"/>
              </a:rPr>
              <a:t>of</a:t>
            </a:r>
            <a:r>
              <a:rPr sz="28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70" dirty="0">
                <a:latin typeface="Tahoma" panose="020B0604030504040204"/>
                <a:cs typeface="Tahoma" panose="020B0604030504040204"/>
              </a:rPr>
              <a:t>a</a:t>
            </a:r>
            <a:r>
              <a:rPr sz="28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5" dirty="0">
                <a:latin typeface="Tahoma" panose="020B0604030504040204"/>
                <a:cs typeface="Tahoma" panose="020B0604030504040204"/>
              </a:rPr>
              <a:t>JSON</a:t>
            </a:r>
            <a:r>
              <a:rPr sz="28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5" dirty="0">
                <a:latin typeface="Tahoma" panose="020B0604030504040204"/>
                <a:cs typeface="Tahoma" panose="020B0604030504040204"/>
              </a:rPr>
              <a:t>object. </a:t>
            </a:r>
            <a:r>
              <a:rPr sz="2800" spc="-86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15" dirty="0">
                <a:latin typeface="Tahoma" panose="020B0604030504040204"/>
                <a:cs typeface="Tahoma" panose="020B0604030504040204"/>
              </a:rPr>
              <a:t>You</a:t>
            </a:r>
            <a:r>
              <a:rPr sz="2800" spc="-13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5" dirty="0">
                <a:latin typeface="Tahoma" panose="020B0604030504040204"/>
                <a:cs typeface="Tahoma" panose="020B0604030504040204"/>
              </a:rPr>
              <a:t>may</a:t>
            </a:r>
            <a:r>
              <a:rPr sz="28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-55" dirty="0">
                <a:latin typeface="Tahoma" panose="020B0604030504040204"/>
                <a:cs typeface="Tahoma" panose="020B0604030504040204"/>
              </a:rPr>
              <a:t>refer</a:t>
            </a:r>
            <a:r>
              <a:rPr sz="280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2800" spc="15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800" spc="15" dirty="0">
                <a:latin typeface="Tahoma" panose="020B0604030504040204"/>
                <a:cs typeface="Tahoma" panose="020B0604030504040204"/>
              </a:rPr>
              <a:t> </a:t>
            </a:r>
            <a:r>
              <a:rPr lang="zh-CN" altLang="en-US" sz="2800" spc="15" dirty="0">
                <a:latin typeface="Tahoma" panose="020B0604030504040204"/>
                <a:cs typeface="Tahoma" panose="020B0604030504040204"/>
              </a:rPr>
              <a:t>↓</a:t>
            </a:r>
            <a:endParaRPr sz="2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8152"/>
            <a:ext cx="1871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/>
              <a:t>E</a:t>
            </a:r>
            <a:r>
              <a:rPr dirty="0"/>
              <a:t>x</a:t>
            </a:r>
            <a:r>
              <a:rPr spc="10" dirty="0"/>
              <a:t>e</a:t>
            </a:r>
            <a:r>
              <a:rPr spc="-5" dirty="0"/>
              <a:t>rc</a:t>
            </a:r>
            <a:r>
              <a:rPr spc="-20" dirty="0"/>
              <a:t>i</a:t>
            </a:r>
            <a:r>
              <a:rPr spc="-5" dirty="0"/>
              <a:t>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8FF93BC-BC4F-03BD-7B6E-55A324038B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58"/>
          <a:stretch/>
        </p:blipFill>
        <p:spPr>
          <a:xfrm>
            <a:off x="315047" y="731224"/>
            <a:ext cx="11561905" cy="539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660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f4d5710-1885-4fd0-9032-fccb9f012326"/>
  <p:tag name="COMMONDATA" val="eyJoZGlkIjoiMDU1ZTdiNDY3NmMwMTY3NmIxMDllMjI3ODVkMGNjNm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254</Words>
  <Application>Microsoft Office PowerPoint</Application>
  <PresentationFormat>宽屏</PresentationFormat>
  <Paragraphs>59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 MT</vt:lpstr>
      <vt:lpstr>Yu Gothic UI</vt:lpstr>
      <vt:lpstr>Yu Gothic UI Light</vt:lpstr>
      <vt:lpstr>Calibri</vt:lpstr>
      <vt:lpstr>Consolas</vt:lpstr>
      <vt:lpstr>Tahoma</vt:lpstr>
      <vt:lpstr>Times New Roman</vt:lpstr>
      <vt:lpstr>Office Theme</vt:lpstr>
      <vt:lpstr>PowerPoint 演示文稿</vt:lpstr>
      <vt:lpstr>Outline</vt:lpstr>
      <vt:lpstr>Type Checking</vt:lpstr>
      <vt:lpstr>Type Checking</vt:lpstr>
      <vt:lpstr>Type Checking</vt:lpstr>
      <vt:lpstr>Type Checking</vt:lpstr>
      <vt:lpstr>Type Checking</vt:lpstr>
      <vt:lpstr>Implementation Hints</vt:lpstr>
      <vt:lpstr>Implementation Hints</vt:lpstr>
      <vt:lpstr>Implementation Hints</vt:lpstr>
      <vt:lpstr>Implementation Hints</vt:lpstr>
      <vt:lpstr>Exercise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Compilers – lab6</dc:title>
  <dc:creator>Wang Sinan</dc:creator>
  <cp:lastModifiedBy>Wi11 4X</cp:lastModifiedBy>
  <cp:revision>4</cp:revision>
  <dcterms:created xsi:type="dcterms:W3CDTF">2023-12-04T15:43:19Z</dcterms:created>
  <dcterms:modified xsi:type="dcterms:W3CDTF">2024-11-26T00:48:41Z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2020-10-20T08:00:00Z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2023-12-04T08:00:00Z</vt:filetime>
  </property>
  <property fmtid="{D5CDD505-2E9C-101B-9397-08002B2CF9AE}" pid="5" name="ICV">
    <vt:lpwstr>493E1EA7C86F4A68AA0521A83C1CACBC_12</vt:lpwstr>
  </property>
  <property fmtid="{D5CDD505-2E9C-101B-9397-08002B2CF9AE}" pid="6" name="KSOProductBuildVer">
    <vt:lpwstr>2052-11.1.0.15319</vt:lpwstr>
  </property>
</Properties>
</file>