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10"/>
  </p:notesMasterIdLst>
  <p:sldIdLst>
    <p:sldId id="256" r:id="rId2"/>
    <p:sldId id="265" r:id="rId3"/>
    <p:sldId id="267" r:id="rId4"/>
    <p:sldId id="268" r:id="rId5"/>
    <p:sldId id="269" r:id="rId6"/>
    <p:sldId id="270"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309" r:id="rId46"/>
    <p:sldId id="310" r:id="rId47"/>
    <p:sldId id="311" r:id="rId48"/>
    <p:sldId id="312" r:id="rId49"/>
    <p:sldId id="313" r:id="rId50"/>
    <p:sldId id="314" r:id="rId51"/>
    <p:sldId id="315" r:id="rId52"/>
    <p:sldId id="316" r:id="rId53"/>
    <p:sldId id="317" r:id="rId54"/>
    <p:sldId id="318" r:id="rId55"/>
    <p:sldId id="319" r:id="rId56"/>
    <p:sldId id="320" r:id="rId57"/>
    <p:sldId id="321" r:id="rId58"/>
    <p:sldId id="322" r:id="rId59"/>
    <p:sldId id="323" r:id="rId60"/>
    <p:sldId id="324" r:id="rId61"/>
    <p:sldId id="325" r:id="rId62"/>
    <p:sldId id="326" r:id="rId63"/>
    <p:sldId id="375" r:id="rId64"/>
    <p:sldId id="327" r:id="rId65"/>
    <p:sldId id="328" r:id="rId66"/>
    <p:sldId id="329" r:id="rId67"/>
    <p:sldId id="373" r:id="rId68"/>
    <p:sldId id="374" r:id="rId69"/>
    <p:sldId id="330" r:id="rId70"/>
    <p:sldId id="331" r:id="rId71"/>
    <p:sldId id="332" r:id="rId72"/>
    <p:sldId id="333" r:id="rId73"/>
    <p:sldId id="334" r:id="rId74"/>
    <p:sldId id="335" r:id="rId75"/>
    <p:sldId id="336" r:id="rId76"/>
    <p:sldId id="337" r:id="rId77"/>
    <p:sldId id="338" r:id="rId78"/>
    <p:sldId id="339" r:id="rId79"/>
    <p:sldId id="340" r:id="rId80"/>
    <p:sldId id="341" r:id="rId81"/>
    <p:sldId id="347" r:id="rId82"/>
    <p:sldId id="348" r:id="rId83"/>
    <p:sldId id="377" r:id="rId84"/>
    <p:sldId id="376" r:id="rId85"/>
    <p:sldId id="349" r:id="rId86"/>
    <p:sldId id="350" r:id="rId87"/>
    <p:sldId id="351" r:id="rId88"/>
    <p:sldId id="352" r:id="rId89"/>
    <p:sldId id="353" r:id="rId90"/>
    <p:sldId id="354" r:id="rId91"/>
    <p:sldId id="355" r:id="rId92"/>
    <p:sldId id="356" r:id="rId93"/>
    <p:sldId id="357" r:id="rId94"/>
    <p:sldId id="358" r:id="rId95"/>
    <p:sldId id="359" r:id="rId96"/>
    <p:sldId id="360" r:id="rId97"/>
    <p:sldId id="361" r:id="rId98"/>
    <p:sldId id="362" r:id="rId99"/>
    <p:sldId id="363" r:id="rId100"/>
    <p:sldId id="364" r:id="rId101"/>
    <p:sldId id="365" r:id="rId102"/>
    <p:sldId id="366" r:id="rId103"/>
    <p:sldId id="367" r:id="rId104"/>
    <p:sldId id="368" r:id="rId105"/>
    <p:sldId id="369" r:id="rId106"/>
    <p:sldId id="370" r:id="rId107"/>
    <p:sldId id="371" r:id="rId108"/>
    <p:sldId id="372" r:id="rId109"/>
  </p:sldIdLst>
  <p:sldSz cx="9144000" cy="6858000" type="screen4x3"/>
  <p:notesSz cx="12192000" cy="6858000"/>
  <p:custDataLst>
    <p:tags r:id="rId111"/>
  </p:custDataLst>
  <p:defaultTextStyle>
    <a:defPPr>
      <a:defRP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00" autoAdjust="0"/>
    <p:restoredTop sz="72611" autoAdjust="0"/>
  </p:normalViewPr>
  <p:slideViewPr>
    <p:cSldViewPr showGuides="1">
      <p:cViewPr varScale="1">
        <p:scale>
          <a:sx n="76" d="100"/>
          <a:sy n="76" d="100"/>
        </p:scale>
        <p:origin x="1254" y="45"/>
      </p:cViewPr>
      <p:guideLst>
        <p:guide orient="horz" pos="2160"/>
        <p:guide pos="2841"/>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notesMaster" Target="notesMasters/notesMaster1.xml"/><Relationship Id="rId115"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5618065-1B94-460E-8A19-03FBEC694BAC}" type="datetimeFigureOut">
              <a:rPr lang="zh-CN" altLang="en-US" smtClean="0"/>
              <a:t>2024/11/15</a:t>
            </a:fld>
            <a:endParaRPr lang="zh-CN" altLang="en-US"/>
          </a:p>
        </p:txBody>
      </p:sp>
      <p:sp>
        <p:nvSpPr>
          <p:cNvPr id="4" name="幻灯片图像占位符 3"/>
          <p:cNvSpPr>
            <a:spLocks noGrp="1" noRot="1" noChangeAspect="1"/>
          </p:cNvSpPr>
          <p:nvPr>
            <p:ph type="sldImg" idx="2"/>
          </p:nvPr>
        </p:nvSpPr>
        <p:spPr>
          <a:xfrm>
            <a:off x="4552950" y="857250"/>
            <a:ext cx="30861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7F4D71F-C241-4371-B1C7-6C52E22124B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latin typeface="黑体" panose="02010609060101010101" pitchFamily="49" charset="-122"/>
                <a:ea typeface="黑体" panose="02010609060101010101" pitchFamily="49" charset="-122"/>
              </a:rPr>
              <a:t>中间表示法</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在编译器的分析——综合模型中，前端对源程序进行分析并产生中间表示，后端在此基础上生成目标代码。 理想情况下，和源语言相关的细节在前端分析中处理，即关于目标机器器的细节则在后端处理。</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本章的内容涉及中间代码表示、静态类型检查和中间代码生成。</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为简单起见，我们假设一个编译程序的前端处理按照图</a:t>
            </a:r>
            <a:r>
              <a:rPr lang="en-US" altLang="zh-CN" sz="1200" kern="1200" dirty="0">
                <a:solidFill>
                  <a:schemeClr val="tx1"/>
                </a:solidFill>
                <a:effectLst/>
                <a:latin typeface="+mn-lt"/>
                <a:ea typeface="+mn-ea"/>
                <a:cs typeface="+mn-cs"/>
              </a:rPr>
              <a:t>6-1</a:t>
            </a:r>
            <a:r>
              <a:rPr lang="zh-CN" altLang="zh-CN" sz="1200" kern="1200" dirty="0">
                <a:solidFill>
                  <a:schemeClr val="tx1"/>
                </a:solidFill>
                <a:effectLst/>
                <a:latin typeface="+mn-lt"/>
                <a:ea typeface="+mn-ea"/>
                <a:cs typeface="+mn-cs"/>
              </a:rPr>
              <a:t>所示方式进行组织，顺序地进行语法分析、静态检查和中间代码生成。</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有时候这几个过程也可以结合起来，在语法分析中一并完成</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我们将使用第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章和第</a:t>
            </a:r>
            <a:r>
              <a:rPr lang="en-US" altLang="zh-CN" sz="1200" kern="1200" dirty="0">
                <a:solidFill>
                  <a:schemeClr val="tx1"/>
                </a:solidFill>
                <a:effectLst/>
                <a:latin typeface="+mn-lt"/>
                <a:ea typeface="+mn-ea"/>
                <a:cs typeface="+mn-cs"/>
              </a:rPr>
              <a:t>5 </a:t>
            </a:r>
            <a:r>
              <a:rPr lang="zh-CN" altLang="zh-CN" sz="1200" kern="1200" dirty="0">
                <a:solidFill>
                  <a:schemeClr val="tx1"/>
                </a:solidFill>
                <a:effectLst/>
                <a:latin typeface="+mn-lt"/>
                <a:ea typeface="+mn-ea"/>
                <a:cs typeface="+mn-cs"/>
              </a:rPr>
              <a:t>章中的语法制导定义来描述类型捡查和翻译过程。</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大部分的翻译方案可以基于第</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章中给出的自顶向下或自底向上的语法分析技术来实现。</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所有的方案都可以通过生成并遍历抽象语法树来实现。</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静态检查包括类型检查（ </a:t>
            </a:r>
            <a:r>
              <a:rPr lang="en-US" altLang="zh-CN" sz="1200" kern="1200" dirty="0">
                <a:solidFill>
                  <a:schemeClr val="tx1"/>
                </a:solidFill>
                <a:effectLst/>
                <a:latin typeface="+mn-lt"/>
                <a:ea typeface="+mn-ea"/>
                <a:cs typeface="+mn-cs"/>
              </a:rPr>
              <a:t>type checking</a:t>
            </a:r>
            <a:r>
              <a:rPr lang="zh-CN" altLang="zh-CN" sz="1200" kern="1200" dirty="0">
                <a:solidFill>
                  <a:schemeClr val="tx1"/>
                </a:solidFill>
                <a:effectLst/>
                <a:latin typeface="+mn-lt"/>
                <a:ea typeface="+mn-ea"/>
                <a:cs typeface="+mn-cs"/>
              </a:rPr>
              <a:t>），类型检查保证运算被应用到兼容的运算分量。 静态检查还包括在语法分析之后进行的所有语法检查。</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例如，静态检查保证了</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语言中的一条</a:t>
            </a:r>
            <a:r>
              <a:rPr lang="en-US" altLang="zh-CN" sz="1200" kern="1200" dirty="0">
                <a:solidFill>
                  <a:schemeClr val="tx1"/>
                </a:solidFill>
                <a:effectLst/>
                <a:latin typeface="+mn-lt"/>
                <a:ea typeface="+mn-ea"/>
                <a:cs typeface="+mn-cs"/>
              </a:rPr>
              <a:t>break</a:t>
            </a:r>
            <a:r>
              <a:rPr lang="zh-CN" altLang="zh-CN" sz="1200" kern="1200" dirty="0">
                <a:solidFill>
                  <a:schemeClr val="tx1"/>
                </a:solidFill>
                <a:effectLst/>
                <a:latin typeface="+mn-lt"/>
                <a:ea typeface="+mn-ea"/>
                <a:cs typeface="+mn-cs"/>
              </a:rPr>
              <a:t>指令必然位于一个</a:t>
            </a:r>
            <a:r>
              <a:rPr lang="en-US" altLang="zh-CN" sz="1200" kern="1200" dirty="0">
                <a:solidFill>
                  <a:schemeClr val="tx1"/>
                </a:solidFill>
                <a:effectLst/>
                <a:latin typeface="+mn-lt"/>
                <a:ea typeface="+mn-ea"/>
                <a:cs typeface="+mn-cs"/>
              </a:rPr>
              <a:t>while/for/switch</a:t>
            </a:r>
            <a:r>
              <a:rPr lang="zh-CN" altLang="zh-CN" sz="1200" kern="1200" dirty="0">
                <a:solidFill>
                  <a:schemeClr val="tx1"/>
                </a:solidFill>
                <a:effectLst/>
                <a:latin typeface="+mn-lt"/>
                <a:ea typeface="+mn-ea"/>
                <a:cs typeface="+mn-cs"/>
              </a:rPr>
              <a:t>语句之内</a:t>
            </a:r>
            <a:r>
              <a:rPr lang="en-US" altLang="zh-CN" sz="1200" kern="1200" baseline="-25000" dirty="0">
                <a:solidFill>
                  <a:schemeClr val="tx1"/>
                </a:solidFill>
                <a:effectLst/>
                <a:latin typeface="+mn-lt"/>
                <a:ea typeface="+mn-ea"/>
                <a:cs typeface="+mn-cs"/>
              </a:rPr>
              <a:t>c</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如果不存在这样的语句，静态检查将报告一个错误。</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r>
              <a:rPr lang="zh-CN" altLang="en-US" dirty="0"/>
              <a:t>本章讨论中间表示、静态类型检查和中间代码生成。为了简单起见，我们假设编译器前端的组织如图 </a:t>
            </a:r>
            <a:r>
              <a:rPr lang="en-US" altLang="zh-CN" dirty="0"/>
              <a:t>6.1 </a:t>
            </a:r>
            <a:r>
              <a:rPr lang="zh-CN" altLang="en-US" dirty="0"/>
              <a:t>所示，其中解析、静态检查和中间代码生成是按顺序完成的；有时它们可​​以被组合并折叠到解析中。我们将使用“语法分析”和“语法制导翻译”来具体说明检查和翻译。许多翻译方案可以使用“语法制导翻译”中的技术在自下而上或自上而下的解析过程中实现。所有方案都可以通过创建语法树然后遍历树来实现。</a:t>
            </a:r>
            <a:endParaRPr lang="en-US" altLang="zh-CN"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基于一个适当定义的中间表示形式，可以把针到源语言</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的前端和针对目标机器</a:t>
            </a:r>
            <a:r>
              <a:rPr lang="en-US" altLang="zh-CN" sz="1200" kern="1200" dirty="0">
                <a:solidFill>
                  <a:schemeClr val="tx1"/>
                </a:solidFill>
                <a:effectLst/>
                <a:latin typeface="+mn-lt"/>
                <a:ea typeface="+mn-ea"/>
                <a:cs typeface="+mn-cs"/>
              </a:rPr>
              <a:t>j</a:t>
            </a:r>
            <a:r>
              <a:rPr lang="zh-CN" altLang="zh-CN" sz="1200" kern="1200" dirty="0">
                <a:solidFill>
                  <a:schemeClr val="tx1"/>
                </a:solidFill>
                <a:effectLst/>
                <a:latin typeface="+mn-lt"/>
                <a:ea typeface="+mn-ea"/>
                <a:cs typeface="+mn-cs"/>
              </a:rPr>
              <a:t>的后端组合起来，构造得到源语言</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在目标机器</a:t>
            </a:r>
            <a:r>
              <a:rPr lang="en-US" altLang="zh-CN" sz="1200" kern="1200" dirty="0">
                <a:solidFill>
                  <a:schemeClr val="tx1"/>
                </a:solidFill>
                <a:effectLst/>
                <a:latin typeface="+mn-lt"/>
                <a:ea typeface="+mn-ea"/>
                <a:cs typeface="+mn-cs"/>
              </a:rPr>
              <a:t>j</a:t>
            </a:r>
            <a:r>
              <a:rPr lang="zh-CN" altLang="zh-CN" sz="1200" kern="1200" dirty="0">
                <a:solidFill>
                  <a:schemeClr val="tx1"/>
                </a:solidFill>
                <a:effectLst/>
                <a:latin typeface="+mn-lt"/>
                <a:ea typeface="+mn-ea"/>
                <a:cs typeface="+mn-cs"/>
              </a:rPr>
              <a:t>上的一个编译器。 这种创建编译器组合的方法可以大大减少工作量：只要写出 </a:t>
            </a:r>
            <a:r>
              <a:rPr lang="en-US" altLang="zh-CN" sz="1200" i="1" kern="1200" dirty="0">
                <a:solidFill>
                  <a:schemeClr val="tx1"/>
                </a:solidFill>
                <a:effectLst/>
                <a:latin typeface="+mn-lt"/>
                <a:ea typeface="+mn-ea"/>
                <a:cs typeface="+mn-cs"/>
              </a:rPr>
              <a:t>m </a:t>
            </a:r>
            <a:r>
              <a:rPr lang="zh-CN" altLang="zh-CN" sz="1200" kern="1200" dirty="0">
                <a:solidFill>
                  <a:schemeClr val="tx1"/>
                </a:solidFill>
                <a:effectLst/>
                <a:latin typeface="+mn-lt"/>
                <a:ea typeface="+mn-ea"/>
                <a:cs typeface="+mn-cs"/>
              </a:rPr>
              <a:t>种前端和</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种后端处理程序，就可以得到</a:t>
            </a:r>
            <a:r>
              <a:rPr lang="en-US" altLang="zh-CN" sz="1200" kern="1200" dirty="0">
                <a:solidFill>
                  <a:schemeClr val="tx1"/>
                </a:solidFill>
                <a:effectLst/>
                <a:latin typeface="+mn-lt"/>
                <a:ea typeface="+mn-ea"/>
                <a:cs typeface="+mn-cs"/>
              </a:rPr>
              <a:t>m X n</a:t>
            </a:r>
            <a:r>
              <a:rPr lang="zh-CN" altLang="zh-CN" sz="1200" kern="1200" dirty="0">
                <a:solidFill>
                  <a:schemeClr val="tx1"/>
                </a:solidFill>
                <a:effectLst/>
                <a:latin typeface="+mn-lt"/>
                <a:ea typeface="+mn-ea"/>
                <a:cs typeface="+mn-cs"/>
              </a:rPr>
              <a:t>种编译程序。</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在编译器的分析</a:t>
            </a:r>
            <a:r>
              <a:rPr lang="en-US" altLang="zh-CN" dirty="0"/>
              <a:t>-</a:t>
            </a:r>
            <a:r>
              <a:rPr lang="zh-CN" altLang="en-US" dirty="0"/>
              <a:t>综合模型中，前端分析源程序并创建中间表示，后端从中生成目标代码。理想情况下，源语言的详细信息限制在前端，目标机器的详细信息限制在后端。</a:t>
            </a:r>
            <a:endParaRPr lang="en-US" altLang="zh-CN" dirty="0"/>
          </a:p>
          <a:p>
            <a:r>
              <a:rPr lang="zh-CN" altLang="en-US" dirty="0"/>
              <a:t>通过适当定义的中间表示，可以通过将语言 </a:t>
            </a:r>
            <a:r>
              <a:rPr lang="en-US" altLang="zh-CN" dirty="0" err="1"/>
              <a:t>i</a:t>
            </a:r>
            <a:r>
              <a:rPr lang="en-US" altLang="zh-CN" dirty="0"/>
              <a:t> </a:t>
            </a:r>
            <a:r>
              <a:rPr lang="zh-CN" altLang="en-US" dirty="0"/>
              <a:t>的前端与机器 </a:t>
            </a:r>
            <a:r>
              <a:rPr lang="en-US" altLang="zh-CN" dirty="0"/>
              <a:t>j </a:t>
            </a:r>
            <a:r>
              <a:rPr lang="zh-CN" altLang="en-US" dirty="0"/>
              <a:t>的后端相结合来构建语言 </a:t>
            </a:r>
            <a:r>
              <a:rPr lang="en-US" altLang="zh-CN" dirty="0" err="1"/>
              <a:t>i</a:t>
            </a:r>
            <a:r>
              <a:rPr lang="en-US" altLang="zh-CN" dirty="0"/>
              <a:t> </a:t>
            </a:r>
            <a:r>
              <a:rPr lang="zh-CN" altLang="en-US" dirty="0"/>
              <a:t>和机器 </a:t>
            </a:r>
            <a:r>
              <a:rPr lang="en-US" altLang="zh-CN" dirty="0"/>
              <a:t>j </a:t>
            </a:r>
            <a:r>
              <a:rPr lang="zh-CN" altLang="en-US" dirty="0"/>
              <a:t>的编译器。这种创建编译器套件的方法可以节省大量工作：只需编写 </a:t>
            </a:r>
            <a:r>
              <a:rPr lang="en-US" altLang="zh-CN" dirty="0"/>
              <a:t>m </a:t>
            </a:r>
            <a:r>
              <a:rPr lang="zh-CN" altLang="en-US" dirty="0"/>
              <a:t>个前端和 </a:t>
            </a:r>
            <a:r>
              <a:rPr lang="en-US" altLang="zh-CN" dirty="0"/>
              <a:t>n </a:t>
            </a:r>
            <a:r>
              <a:rPr lang="zh-CN" altLang="en-US" dirty="0"/>
              <a:t>个后端即可构建 </a:t>
            </a:r>
            <a:r>
              <a:rPr lang="en-US" altLang="zh-CN" dirty="0" err="1"/>
              <a:t>mⅹn</a:t>
            </a:r>
            <a:r>
              <a:rPr lang="en-US" altLang="zh-CN" dirty="0"/>
              <a:t> </a:t>
            </a:r>
            <a:r>
              <a:rPr lang="zh-CN" altLang="en-US" dirty="0"/>
              <a:t>个编译器</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0" hangingPunct="0"/>
            <a:r>
              <a:rPr lang="zh-CN" altLang="zh-CN" sz="1200" kern="1200" dirty="0">
                <a:solidFill>
                  <a:schemeClr val="tx1"/>
                </a:solidFill>
                <a:effectLst/>
                <a:latin typeface="+mn-lt"/>
                <a:ea typeface="+mn-ea"/>
                <a:cs typeface="+mn-cs"/>
              </a:rPr>
              <a:t>本章介绍的方法可以用于多种中间表示，包括抽象语法树和三地址代码。这两种中间表示术语“三地址代码”来自一般形式 </a:t>
            </a:r>
            <a:r>
              <a:rPr lang="en-US" altLang="zh-CN" sz="1200" kern="1200" dirty="0">
                <a:solidFill>
                  <a:schemeClr val="tx1"/>
                </a:solidFill>
                <a:effectLst/>
                <a:latin typeface="+mn-lt"/>
                <a:ea typeface="+mn-ea"/>
                <a:cs typeface="+mn-cs"/>
              </a:rPr>
              <a:t>x = y op z </a:t>
            </a:r>
            <a:r>
              <a:rPr lang="zh-CN" altLang="zh-CN" sz="1200" kern="1200" dirty="0">
                <a:solidFill>
                  <a:schemeClr val="tx1"/>
                </a:solidFill>
                <a:effectLst/>
                <a:latin typeface="+mn-lt"/>
                <a:ea typeface="+mn-ea"/>
                <a:cs typeface="+mn-cs"/>
              </a:rPr>
              <a:t>的指令，具有三个地址：两个用于操作数 </a:t>
            </a:r>
            <a:r>
              <a:rPr lang="en-US" altLang="zh-CN" sz="1200" kern="1200" dirty="0">
                <a:solidFill>
                  <a:schemeClr val="tx1"/>
                </a:solidFill>
                <a:effectLst/>
                <a:latin typeface="+mn-lt"/>
                <a:ea typeface="+mn-ea"/>
                <a:cs typeface="+mn-cs"/>
              </a:rPr>
              <a:t>y </a:t>
            </a:r>
            <a:r>
              <a:rPr lang="zh-CN" altLang="zh-CN" sz="1200" kern="1200" dirty="0">
                <a:solidFill>
                  <a:schemeClr val="tx1"/>
                </a:solidFill>
                <a:effectLst/>
                <a:latin typeface="+mn-lt"/>
                <a:ea typeface="+mn-ea"/>
                <a:cs typeface="+mn-cs"/>
              </a:rPr>
              <a:t>和 </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，一个用于综合结果</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在将给定源语言的一个程序翻译成特定的目标机器代码的过程中，一个编译器可能构造出一系列中间表示，如图</a:t>
            </a:r>
            <a:r>
              <a:rPr lang="en-US" altLang="zh-CN" sz="1200" kern="1200" dirty="0">
                <a:solidFill>
                  <a:schemeClr val="tx1"/>
                </a:solidFill>
                <a:effectLst/>
                <a:latin typeface="+mn-lt"/>
                <a:ea typeface="+mn-ea"/>
                <a:cs typeface="+mn-cs"/>
              </a:rPr>
              <a:t>6-2</a:t>
            </a:r>
            <a:r>
              <a:rPr lang="zh-CN" altLang="zh-CN" sz="1200" kern="1200" dirty="0">
                <a:solidFill>
                  <a:schemeClr val="tx1"/>
                </a:solidFill>
                <a:effectLst/>
                <a:latin typeface="+mn-lt"/>
                <a:ea typeface="+mn-ea"/>
                <a:cs typeface="+mn-cs"/>
              </a:rPr>
              <a:t>所示。 高层的</a:t>
            </a:r>
            <a:r>
              <a:rPr lang="zh-CN" altLang="zh-CN" sz="1200" kern="1200" cap="small" dirty="0">
                <a:solidFill>
                  <a:schemeClr val="tx1"/>
                </a:solidFill>
                <a:effectLst/>
                <a:latin typeface="+mn-lt"/>
                <a:ea typeface="+mn-ea"/>
                <a:cs typeface="+mn-cs"/>
              </a:rPr>
              <a:t>表法接近于源语言，而低层的表示接近于目标机器。语法树是高层的中间表示，</a:t>
            </a:r>
            <a:r>
              <a:rPr lang="zh-CN" altLang="zh-CN" sz="1200" kern="1200" dirty="0">
                <a:solidFill>
                  <a:schemeClr val="tx1"/>
                </a:solidFill>
                <a:effectLst/>
                <a:latin typeface="+mn-lt"/>
                <a:ea typeface="+mn-ea"/>
                <a:cs typeface="+mn-cs"/>
              </a:rPr>
              <a:t>它刻画了源程序的自然的层次性结构，并且适用于静态类型检查这样的处理。</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低层的表示形式适用于机器相关的的处理任务，比如寄存器分配、指令选择等。</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通过选择不同的运算符，三地址代码既可以是高层的表示方式，也可以是低层的表示方式。 在</a:t>
            </a:r>
            <a:r>
              <a:rPr lang="en-US" altLang="zh-CN" sz="1200" kern="1200" dirty="0">
                <a:solidFill>
                  <a:schemeClr val="tx1"/>
                </a:solidFill>
                <a:effectLst/>
                <a:latin typeface="+mn-lt"/>
                <a:ea typeface="+mn-ea"/>
                <a:cs typeface="+mn-cs"/>
              </a:rPr>
              <a:t>6.2.3</a:t>
            </a:r>
            <a:r>
              <a:rPr lang="zh-CN" altLang="zh-CN" sz="1200" kern="1200" dirty="0">
                <a:solidFill>
                  <a:schemeClr val="tx1"/>
                </a:solidFill>
                <a:effectLst/>
                <a:latin typeface="+mn-lt"/>
                <a:ea typeface="+mn-ea"/>
                <a:cs typeface="+mn-cs"/>
              </a:rPr>
              <a:t>将看到，对表达式而言，语法树和三地址代码只是在表面上有所不同。对于循环语句，语法树表示了语句的各个组成部分，而三地址代码包含标号和跳转指令， 用来表示目标语言的控制流。</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不同的编译器对中间表示的选择和设计各有不同。中间表示可以是一种真正的语言，也可以由编译器的各个处理阶段共享的多个内部数据结构组成。</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语言是一种程序设计语言。它具有很好的灵活性和通用性，可以很方便地把</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程序编译成高效的机器代码，并且有很多</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的编译器可用，因此</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语言也常常被用作中间表示。早期的</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＋编译器的前端生成</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代码，而把</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编译器作为其后端。</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endParaRPr lang="en-US" altLang="zh-CN" dirty="0"/>
          </a:p>
          <a:p>
            <a:endParaRPr lang="en-US" altLang="zh-CN" dirty="0"/>
          </a:p>
          <a:p>
            <a:r>
              <a:rPr lang="zh-CN" altLang="en-US" dirty="0"/>
              <a:t>在将给定源语言的程序翻译成给定目标机器的代码的过程中，编译器可以构造一系列中间表示，如图</a:t>
            </a:r>
            <a:r>
              <a:rPr lang="en-US" altLang="zh-CN" dirty="0"/>
              <a:t>6.2</a:t>
            </a:r>
            <a:r>
              <a:rPr lang="zh-CN" altLang="en-US" dirty="0"/>
              <a:t>所示。高级表示接近源语言，低级表示接近目标机器。语法树是高级的；它们描述了源程序的自然层次结构，非常适合静态类型检查等任务。</a:t>
            </a:r>
            <a:endParaRPr lang="en-US" altLang="zh-CN" dirty="0"/>
          </a:p>
          <a:p>
            <a:r>
              <a:rPr lang="zh-CN" altLang="en-US" dirty="0"/>
              <a:t>低级表示适用于机器相关的任务，例如寄存器分配和指令选择。三地址代码的范围可以从高级到低级，具体取决于运算符的选择。对于表达式，语法树和三地址代码之间的差异只是表面上的，我们将在第 </a:t>
            </a:r>
            <a:r>
              <a:rPr lang="en-US" altLang="zh-CN" dirty="0"/>
              <a:t>6.2.3 </a:t>
            </a:r>
            <a:r>
              <a:rPr lang="zh-CN" altLang="en-US" dirty="0"/>
              <a:t>节中看到。例如，对于循环语句，语法树表示语句的组成部分，而三地址代码包含标签和跳转指令来表示控制流，就像在机器语言中一样。</a:t>
            </a:r>
            <a:endParaRPr lang="en-US" altLang="zh-CN" dirty="0"/>
          </a:p>
          <a:p>
            <a:r>
              <a:rPr lang="zh-CN" altLang="en-US" dirty="0"/>
              <a:t>中间表示的选择或设计因编译器而异。中间表示可以是实际语言，也可以由编译器各阶段共享的内部数据结构组成。 </a:t>
            </a:r>
            <a:r>
              <a:rPr lang="en-US" altLang="zh-CN" dirty="0"/>
              <a:t>C </a:t>
            </a:r>
            <a:r>
              <a:rPr lang="zh-CN" altLang="en-US" dirty="0"/>
              <a:t>是一种编程语言，但它经常被用作中间形式，因为它很灵活，可以编译成高效的机器代码，并且它的编译器可以广泛使用。最初的 </a:t>
            </a:r>
            <a:r>
              <a:rPr lang="en-US" altLang="zh-CN" dirty="0"/>
              <a:t>C++ </a:t>
            </a:r>
            <a:r>
              <a:rPr lang="zh-CN" altLang="en-US" dirty="0"/>
              <a:t>编译器由生成 </a:t>
            </a:r>
            <a:r>
              <a:rPr lang="en-US" altLang="zh-CN" dirty="0"/>
              <a:t>C </a:t>
            </a:r>
            <a:r>
              <a:rPr lang="zh-CN" altLang="en-US" dirty="0"/>
              <a:t>的前端组成，将 </a:t>
            </a:r>
            <a:r>
              <a:rPr lang="en-US" altLang="zh-CN" dirty="0"/>
              <a:t>C </a:t>
            </a:r>
            <a:r>
              <a:rPr lang="zh-CN" altLang="en-US" dirty="0"/>
              <a:t>编译器视为后端。</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语法树中的各个结点代表了源程序中的构造，一个结点的所有子结点反映了该结点对应构造的有意义的组成成分。为表达式构建的无环有向图</a:t>
            </a:r>
            <a:r>
              <a:rPr lang="en-US" altLang="zh-CN" sz="1200" kern="1200" dirty="0">
                <a:solidFill>
                  <a:schemeClr val="tx1"/>
                </a:solidFill>
                <a:effectLst/>
                <a:latin typeface="+mn-lt"/>
                <a:ea typeface="+mn-ea"/>
                <a:cs typeface="+mn-cs"/>
              </a:rPr>
              <a:t>(Directed  Acyclic  Graph,</a:t>
            </a:r>
            <a:r>
              <a:rPr lang="zh-CN" altLang="zh-CN" sz="1200" kern="1200" dirty="0">
                <a:solidFill>
                  <a:schemeClr val="tx1"/>
                </a:solidFill>
                <a:effectLst/>
                <a:latin typeface="+mn-lt"/>
                <a:ea typeface="+mn-ea"/>
                <a:cs typeface="+mn-cs"/>
              </a:rPr>
              <a:t>以后简称</a:t>
            </a:r>
            <a:r>
              <a:rPr lang="en-US" altLang="zh-CN" sz="1200" kern="1200" dirty="0">
                <a:solidFill>
                  <a:schemeClr val="tx1"/>
                </a:solidFill>
                <a:effectLst/>
                <a:latin typeface="+mn-lt"/>
                <a:ea typeface="+mn-ea"/>
                <a:cs typeface="+mn-cs"/>
              </a:rPr>
              <a:t>DAG)</a:t>
            </a:r>
            <a:r>
              <a:rPr lang="zh-CN" altLang="zh-CN" sz="1200" kern="1200" dirty="0">
                <a:solidFill>
                  <a:schemeClr val="tx1"/>
                </a:solidFill>
                <a:effectLst/>
                <a:latin typeface="+mn-lt"/>
                <a:ea typeface="+mn-ea"/>
                <a:cs typeface="+mn-cs"/>
              </a:rPr>
              <a:t>指出了表达式中的公共子表达式（多次出现的子表达式）。在本节我们将看到，可以用构造语法树的技术去构造</a:t>
            </a:r>
            <a:r>
              <a:rPr lang="en-US" altLang="zh-CN" sz="1200" kern="1200" dirty="0">
                <a:solidFill>
                  <a:schemeClr val="tx1"/>
                </a:solidFill>
                <a:effectLst/>
                <a:latin typeface="+mn-lt"/>
                <a:ea typeface="+mn-ea"/>
                <a:cs typeface="+mn-cs"/>
              </a:rPr>
              <a:t>DAG</a:t>
            </a:r>
            <a:r>
              <a:rPr lang="zh-CN"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和表达式的语法树类似，一个</a:t>
            </a:r>
            <a:r>
              <a:rPr lang="en-US" altLang="zh-CN" sz="1200" kern="1200" dirty="0">
                <a:solidFill>
                  <a:schemeClr val="tx1"/>
                </a:solidFill>
                <a:effectLst/>
                <a:latin typeface="+mn-lt"/>
                <a:ea typeface="+mn-ea"/>
                <a:cs typeface="+mn-cs"/>
              </a:rPr>
              <a:t>DAG</a:t>
            </a:r>
            <a:r>
              <a:rPr lang="zh-CN" altLang="zh-CN" sz="1200" kern="1200" dirty="0">
                <a:solidFill>
                  <a:schemeClr val="tx1"/>
                </a:solidFill>
                <a:effectLst/>
                <a:latin typeface="+mn-lt"/>
                <a:ea typeface="+mn-ea"/>
                <a:cs typeface="+mn-cs"/>
              </a:rPr>
              <a:t>的叶子结点对应于原子运算分量，而内部结点对应于运算符。与语法树不同的是，如果</a:t>
            </a:r>
            <a:r>
              <a:rPr lang="en-US" altLang="zh-CN" sz="1200" kern="1200" dirty="0">
                <a:solidFill>
                  <a:schemeClr val="tx1"/>
                </a:solidFill>
                <a:effectLst/>
                <a:latin typeface="+mn-lt"/>
                <a:ea typeface="+mn-ea"/>
                <a:cs typeface="+mn-cs"/>
              </a:rPr>
              <a:t>DAG</a:t>
            </a:r>
            <a:r>
              <a:rPr lang="zh-CN" altLang="zh-CN" sz="1200" kern="1200" dirty="0">
                <a:solidFill>
                  <a:schemeClr val="tx1"/>
                </a:solidFill>
                <a:effectLst/>
                <a:latin typeface="+mn-lt"/>
                <a:ea typeface="+mn-ea"/>
                <a:cs typeface="+mn-cs"/>
              </a:rPr>
              <a:t>中的一个结点</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表示一个公共子表达式，则</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可能有多个父结点。在语法树中，公共子表达式每出现—次，代表该公共子表达式的子树就会被复制一次。</a:t>
            </a:r>
            <a:endParaRPr lang="en-US" altLang="zh-CN"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因此，</a:t>
            </a:r>
            <a:r>
              <a:rPr lang="en-US" altLang="zh-CN" sz="1200" kern="1200" dirty="0">
                <a:solidFill>
                  <a:schemeClr val="tx1"/>
                </a:solidFill>
                <a:effectLst/>
                <a:latin typeface="+mn-lt"/>
                <a:ea typeface="+mn-ea"/>
                <a:cs typeface="+mn-cs"/>
              </a:rPr>
              <a:t>DAG</a:t>
            </a:r>
            <a:r>
              <a:rPr lang="zh-CN" altLang="zh-CN" sz="1200" kern="1200" dirty="0">
                <a:solidFill>
                  <a:schemeClr val="tx1"/>
                </a:solidFill>
                <a:effectLst/>
                <a:latin typeface="+mn-lt"/>
                <a:ea typeface="+mn-ea"/>
                <a:cs typeface="+mn-cs"/>
              </a:rPr>
              <a:t>不仅更简洁地表示了表达式，而且可以为最终生成表达式的高效代码提供重要的信息。</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叶子结点</a:t>
            </a:r>
            <a:r>
              <a:rPr lang="en-US" altLang="zh-CN" dirty="0"/>
              <a:t>a</a:t>
            </a:r>
            <a:r>
              <a:rPr lang="zh-CN" altLang="en-US" dirty="0"/>
              <a:t>在表达式中出现了两次，因此</a:t>
            </a:r>
            <a:r>
              <a:rPr lang="en-US" altLang="zh-CN" dirty="0"/>
              <a:t>a</a:t>
            </a:r>
            <a:r>
              <a:rPr lang="zh-CN" altLang="en-US" dirty="0"/>
              <a:t>有两个父结点。值得注意的是，结点“</a:t>
            </a:r>
            <a:r>
              <a:rPr lang="en-US" altLang="zh-CN" dirty="0"/>
              <a:t>-”</a:t>
            </a:r>
            <a:r>
              <a:rPr lang="zh-CN" altLang="en-US" dirty="0"/>
              <a:t>代表公共子表达式</a:t>
            </a:r>
            <a:r>
              <a:rPr lang="en-US" altLang="zh-CN" dirty="0"/>
              <a:t>b-c</a:t>
            </a:r>
            <a:r>
              <a:rPr lang="zh-CN" altLang="en-US" dirty="0"/>
              <a:t>的两次出现。该结点同样有两个父结点，表明该子表达式在子表达式</a:t>
            </a:r>
            <a:r>
              <a:rPr lang="en-US" altLang="zh-CN" dirty="0"/>
              <a:t>a*(b-c)</a:t>
            </a:r>
            <a:r>
              <a:rPr lang="zh-CN" altLang="en-US" dirty="0"/>
              <a:t>和</a:t>
            </a:r>
            <a:r>
              <a:rPr lang="en-US" altLang="zh-CN" dirty="0"/>
              <a:t>(b-c) *d</a:t>
            </a:r>
            <a:r>
              <a:rPr lang="zh-CN" altLang="en-US" dirty="0"/>
              <a:t>中两次被使用。尽管</a:t>
            </a:r>
            <a:r>
              <a:rPr lang="en-US" altLang="zh-CN" dirty="0"/>
              <a:t>b</a:t>
            </a:r>
            <a:r>
              <a:rPr lang="zh-CN" altLang="en-US" dirty="0"/>
              <a:t>和</a:t>
            </a:r>
            <a:r>
              <a:rPr lang="en-US" altLang="zh-CN" dirty="0"/>
              <a:t>e</a:t>
            </a:r>
            <a:r>
              <a:rPr lang="zh-CN" altLang="en-US" dirty="0"/>
              <a:t>在整个表达式中出现了两次，但它们对应的结点只有一个父结点，因为对它们的使用都出现在同样的公共子表达式</a:t>
            </a:r>
            <a:r>
              <a:rPr lang="en-US" altLang="zh-CN" dirty="0"/>
              <a:t>b-c</a:t>
            </a:r>
            <a:r>
              <a:rPr lang="zh-CN" altLang="en-US" dirty="0"/>
              <a:t>中。</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a:t>
            </a:r>
            <a:r>
              <a:rPr lang="en-US" altLang="zh-CN" dirty="0"/>
              <a:t>6-4</a:t>
            </a:r>
            <a:r>
              <a:rPr lang="zh-CN" altLang="en-US" dirty="0"/>
              <a:t>给出的</a:t>
            </a:r>
            <a:r>
              <a:rPr lang="en-US" altLang="zh-CN" dirty="0"/>
              <a:t>SDD</a:t>
            </a:r>
            <a:r>
              <a:rPr lang="zh-CN" altLang="en-US" dirty="0"/>
              <a:t>（语法制导定义）既可以用来构造语法树，也可以用来构造</a:t>
            </a:r>
            <a:r>
              <a:rPr lang="en-US" altLang="zh-CN" dirty="0"/>
              <a:t>DAG</a:t>
            </a:r>
            <a:r>
              <a:rPr lang="zh-CN" altLang="en-US" dirty="0"/>
              <a:t>。它在例</a:t>
            </a:r>
            <a:r>
              <a:rPr lang="en-US" altLang="zh-CN" dirty="0"/>
              <a:t>5.  11</a:t>
            </a:r>
            <a:r>
              <a:rPr lang="zh-CN" altLang="en-US" dirty="0"/>
              <a:t>中曾用于构造语法树。在那里，函数</a:t>
            </a:r>
            <a:r>
              <a:rPr lang="en-US" altLang="zh-CN" dirty="0"/>
              <a:t>Leaf</a:t>
            </a:r>
            <a:r>
              <a:rPr lang="zh-CN" altLang="en-US" dirty="0"/>
              <a:t>和</a:t>
            </a:r>
            <a:r>
              <a:rPr lang="en-US" altLang="zh-CN" dirty="0"/>
              <a:t>Node</a:t>
            </a:r>
            <a:r>
              <a:rPr lang="zh-CN" altLang="en-US" dirty="0"/>
              <a:t>每次被调用都会构造出一个新结点。要构造得到</a:t>
            </a:r>
            <a:r>
              <a:rPr lang="en-US" altLang="zh-CN" dirty="0"/>
              <a:t>DAG,</a:t>
            </a:r>
            <a:r>
              <a:rPr lang="zh-CN" altLang="en-US" dirty="0"/>
              <a:t>这些函数就要在每次构造新结点之前首先检查是否已存在这样的结点。如果存在一个已被创建的结点，就返回这个已有的结点。例如，在构造一个新结点</a:t>
            </a:r>
            <a:r>
              <a:rPr lang="en-US" altLang="zh-CN" dirty="0"/>
              <a:t>Node (op,  left,  right)</a:t>
            </a:r>
            <a:r>
              <a:rPr lang="zh-CN" altLang="en-US" dirty="0"/>
              <a:t>之前，我们首先检查是否已存在一个结点，该结点的标号为</a:t>
            </a:r>
            <a:r>
              <a:rPr lang="en-US" altLang="zh-CN" dirty="0"/>
              <a:t>op,</a:t>
            </a:r>
            <a:r>
              <a:rPr lang="zh-CN" altLang="en-US" dirty="0"/>
              <a:t>且其两个子结点为</a:t>
            </a:r>
            <a:r>
              <a:rPr lang="en-US" altLang="zh-CN" dirty="0"/>
              <a:t>left</a:t>
            </a:r>
            <a:r>
              <a:rPr lang="zh-CN" altLang="en-US" dirty="0"/>
              <a:t>和</a:t>
            </a:r>
            <a:r>
              <a:rPr lang="en-US" altLang="zh-CN" dirty="0"/>
              <a:t>right</a:t>
            </a:r>
            <a:r>
              <a:rPr lang="zh-CN" altLang="en-US" dirty="0"/>
              <a:t>。如果存在这样的结点，</a:t>
            </a:r>
            <a:r>
              <a:rPr lang="en-US" altLang="zh-CN" dirty="0"/>
              <a:t>Node</a:t>
            </a:r>
            <a:r>
              <a:rPr lang="zh-CN" altLang="en-US" dirty="0"/>
              <a:t>函数返回这个巳存在的结点，否则它创建一个新结点。</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 </a:t>
            </a:r>
            <a:r>
              <a:rPr lang="en-US" altLang="zh-CN" dirty="0"/>
              <a:t>6.5 </a:t>
            </a:r>
            <a:r>
              <a:rPr lang="zh-CN" altLang="en-US" dirty="0"/>
              <a:t>所示的步骤序列构建了图 </a:t>
            </a:r>
            <a:r>
              <a:rPr lang="en-US" altLang="zh-CN" dirty="0"/>
              <a:t>6.3 </a:t>
            </a:r>
            <a:r>
              <a:rPr lang="zh-CN" altLang="en-US" dirty="0"/>
              <a:t>中的 </a:t>
            </a:r>
            <a:r>
              <a:rPr lang="en-US" altLang="zh-CN" dirty="0"/>
              <a:t>DAG</a:t>
            </a:r>
            <a:r>
              <a:rPr lang="zh-CN" altLang="en-US" dirty="0"/>
              <a:t>，前提是 </a:t>
            </a:r>
            <a:r>
              <a:rPr lang="en-US" altLang="zh-CN" dirty="0"/>
              <a:t>Node </a:t>
            </a:r>
            <a:r>
              <a:rPr lang="zh-CN" altLang="en-US" dirty="0"/>
              <a:t>和 </a:t>
            </a:r>
            <a:r>
              <a:rPr lang="en-US" altLang="zh-CN" dirty="0"/>
              <a:t>Leaf </a:t>
            </a:r>
            <a:r>
              <a:rPr lang="zh-CN" altLang="en-US" dirty="0"/>
              <a:t>返回现有的节点（如果可能），如下所示上面讨论过。</a:t>
            </a:r>
            <a:endParaRPr lang="en-US" altLang="zh-CN" dirty="0"/>
          </a:p>
          <a:p>
            <a:r>
              <a:rPr lang="zh-CN" altLang="en-US" dirty="0"/>
              <a:t>我们假设</a:t>
            </a:r>
            <a:r>
              <a:rPr lang="en-US" altLang="zh-CN" dirty="0"/>
              <a:t>entry-a </a:t>
            </a:r>
            <a:r>
              <a:rPr lang="zh-CN" altLang="en-US" dirty="0"/>
              <a:t>指向</a:t>
            </a:r>
            <a:r>
              <a:rPr lang="en-US" altLang="zh-CN" dirty="0"/>
              <a:t>a </a:t>
            </a:r>
            <a:r>
              <a:rPr lang="zh-CN" altLang="en-US" dirty="0"/>
              <a:t>的符号表条目，对于其他标识符也是如此。当在步骤</a:t>
            </a:r>
            <a:r>
              <a:rPr lang="en-US" altLang="zh-CN" dirty="0"/>
              <a:t>2</a:t>
            </a:r>
            <a:r>
              <a:rPr lang="zh-CN" altLang="en-US" dirty="0"/>
              <a:t>中重复调用</a:t>
            </a:r>
            <a:r>
              <a:rPr lang="en-US" altLang="zh-CN" dirty="0"/>
              <a:t>Leaf(</a:t>
            </a:r>
            <a:r>
              <a:rPr lang="en-US" altLang="zh-CN" dirty="0" err="1"/>
              <a:t>id;entry-a</a:t>
            </a:r>
            <a:r>
              <a:rPr lang="en-US" altLang="zh-CN" dirty="0"/>
              <a:t>)</a:t>
            </a:r>
            <a:r>
              <a:rPr lang="zh-CN" altLang="en-US" dirty="0"/>
              <a:t>时，返回先前调用创建的</a:t>
            </a:r>
            <a:r>
              <a:rPr lang="en-US" altLang="zh-CN" dirty="0"/>
              <a:t>no de</a:t>
            </a:r>
            <a:r>
              <a:rPr lang="zh-CN" altLang="en-US" dirty="0"/>
              <a:t>，因此</a:t>
            </a:r>
            <a:r>
              <a:rPr lang="en-US" altLang="zh-CN" dirty="0"/>
              <a:t>p2 = p1</a:t>
            </a:r>
            <a:r>
              <a:rPr lang="zh-CN" altLang="en-US" dirty="0"/>
              <a:t>。类似地，步骤 </a:t>
            </a:r>
            <a:r>
              <a:rPr lang="en-US" altLang="zh-CN" dirty="0"/>
              <a:t>8 </a:t>
            </a:r>
            <a:r>
              <a:rPr lang="zh-CN" altLang="en-US" dirty="0"/>
              <a:t>和 </a:t>
            </a:r>
            <a:r>
              <a:rPr lang="en-US" altLang="zh-CN" dirty="0"/>
              <a:t>9 </a:t>
            </a:r>
            <a:r>
              <a:rPr lang="zh-CN" altLang="en-US" dirty="0"/>
              <a:t>返回的 </a:t>
            </a:r>
            <a:r>
              <a:rPr lang="en-US" altLang="zh-CN" dirty="0"/>
              <a:t>no des </a:t>
            </a:r>
            <a:r>
              <a:rPr lang="zh-CN" altLang="en-US" dirty="0"/>
              <a:t>与步骤 </a:t>
            </a:r>
            <a:r>
              <a:rPr lang="en-US" altLang="zh-CN" dirty="0"/>
              <a:t>3 </a:t>
            </a:r>
            <a:r>
              <a:rPr lang="zh-CN" altLang="en-US" dirty="0"/>
              <a:t>和 </a:t>
            </a:r>
            <a:r>
              <a:rPr lang="en-US" altLang="zh-CN" dirty="0"/>
              <a:t>4 </a:t>
            </a:r>
            <a:r>
              <a:rPr lang="zh-CN" altLang="en-US" dirty="0"/>
              <a:t>返回的相同（即 </a:t>
            </a:r>
            <a:r>
              <a:rPr lang="en-US" altLang="zh-CN" dirty="0"/>
              <a:t>p8 = p3 </a:t>
            </a:r>
            <a:r>
              <a:rPr lang="zh-CN" altLang="en-US" dirty="0"/>
              <a:t>和 </a:t>
            </a:r>
            <a:r>
              <a:rPr lang="en-US" altLang="zh-CN" dirty="0"/>
              <a:t>p9 = p4 </a:t>
            </a:r>
            <a:r>
              <a:rPr lang="zh-CN" altLang="en-US" dirty="0"/>
              <a:t>）。因此，第 </a:t>
            </a:r>
            <a:r>
              <a:rPr lang="en-US" altLang="zh-CN" dirty="0"/>
              <a:t>10 </a:t>
            </a:r>
            <a:r>
              <a:rPr lang="zh-CN" altLang="en-US" dirty="0"/>
              <a:t>步返回的节点必须与第 </a:t>
            </a:r>
            <a:r>
              <a:rPr lang="en-US" altLang="zh-CN" dirty="0"/>
              <a:t>5 </a:t>
            </a:r>
            <a:r>
              <a:rPr lang="zh-CN" altLang="en-US" dirty="0"/>
              <a:t>步返回的节点相同；即 </a:t>
            </a:r>
            <a:r>
              <a:rPr lang="en-US" altLang="zh-CN" dirty="0"/>
              <a:t>p10 = p5</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在三地址代码中，一条指令的右侧最多有一个运算符；也就是说，不允许使用组合算术表达式。因此，像 </a:t>
            </a:r>
            <a:r>
              <a:rPr lang="en-US" altLang="zh-CN" dirty="0" err="1"/>
              <a:t>x+y</a:t>
            </a:r>
            <a:r>
              <a:rPr lang="en-US" altLang="zh-CN" dirty="0"/>
              <a:t>*z </a:t>
            </a:r>
            <a:r>
              <a:rPr lang="zh-CN" altLang="en-US" dirty="0"/>
              <a:t>这样的源语言表达式可能会被翻译成三地址指令序列：</a:t>
            </a:r>
            <a:endParaRPr lang="en-US" altLang="zh-CN" dirty="0"/>
          </a:p>
          <a:p>
            <a:endParaRPr lang="en-US" altLang="zh-CN" dirty="0"/>
          </a:p>
          <a:p>
            <a:r>
              <a:rPr lang="zh-CN" altLang="en-US" dirty="0"/>
              <a:t>其中 </a:t>
            </a:r>
            <a:r>
              <a:rPr lang="en-US" altLang="zh-CN" dirty="0"/>
              <a:t>t1 </a:t>
            </a:r>
            <a:r>
              <a:rPr lang="zh-CN" altLang="en-US" dirty="0"/>
              <a:t>和 </a:t>
            </a:r>
            <a:r>
              <a:rPr lang="en-US" altLang="zh-CN" dirty="0"/>
              <a:t>t2 </a:t>
            </a:r>
            <a:r>
              <a:rPr lang="zh-CN" altLang="en-US" dirty="0"/>
              <a:t>是编译器生成的临时名称。多运算符算术表达式和嵌套控制流语句的这种分解使得三地址代码成为目标代码生成和优化的理想选择，如第 </a:t>
            </a:r>
            <a:r>
              <a:rPr lang="en-US" altLang="zh-CN" dirty="0"/>
              <a:t>8 </a:t>
            </a:r>
            <a:r>
              <a:rPr lang="zh-CN" altLang="en-US" dirty="0"/>
              <a:t>章和第 </a:t>
            </a:r>
            <a:r>
              <a:rPr lang="en-US" altLang="zh-CN" dirty="0"/>
              <a:t>9 </a:t>
            </a:r>
            <a:r>
              <a:rPr lang="zh-CN" altLang="en-US" dirty="0"/>
              <a:t>章所述。 中间值名称的使用通过程序计算可以轻松地重新排列三地址代码。</a:t>
            </a:r>
            <a:endParaRPr lang="en-US" altLang="zh-CN" dirty="0"/>
          </a:p>
          <a:p>
            <a:endParaRPr lang="en-US" altLang="zh-CN" dirty="0"/>
          </a:p>
          <a:p>
            <a:r>
              <a:rPr lang="zh-CN" altLang="en-US" dirty="0"/>
              <a:t>地址可以是以下之一： </a:t>
            </a:r>
            <a:endParaRPr lang="en-US" altLang="zh-CN" dirty="0"/>
          </a:p>
          <a:p>
            <a:pPr marL="171450" indent="-171450">
              <a:buFont typeface="Arial" panose="020B0604020202020204" pitchFamily="34" charset="0"/>
              <a:buChar char="•"/>
            </a:pPr>
            <a:r>
              <a:rPr lang="zh-CN" altLang="en-US" dirty="0"/>
              <a:t>名称：为了方便起见，我们允许源程序名称作为三地址代码中的地址出现。在实现中，源名称由指向其符号表条目的指针替换，其中保留了该名称的所有信息。</a:t>
            </a:r>
            <a:endParaRPr lang="en-US" altLang="zh-CN" dirty="0"/>
          </a:p>
          <a:p>
            <a:pPr marL="171450" indent="-171450">
              <a:buFont typeface="Arial" panose="020B0604020202020204" pitchFamily="34" charset="0"/>
              <a:buChar char="•"/>
            </a:pPr>
            <a:r>
              <a:rPr lang="zh-CN" altLang="en-US" dirty="0"/>
              <a:t>常量：实际上，编译器必须处理许多不同类型的常量和变量。第 </a:t>
            </a:r>
            <a:r>
              <a:rPr lang="en-US" altLang="zh-CN" dirty="0"/>
              <a:t>6.5.2 </a:t>
            </a:r>
            <a:r>
              <a:rPr lang="zh-CN" altLang="en-US" dirty="0"/>
              <a:t>节考虑了表达式内的类型转换。</a:t>
            </a:r>
            <a:endParaRPr lang="en-US" altLang="zh-CN" dirty="0"/>
          </a:p>
          <a:p>
            <a:pPr marL="171450" indent="-171450">
              <a:buFont typeface="Arial" panose="020B0604020202020204" pitchFamily="34" charset="0"/>
              <a:buChar char="•"/>
            </a:pPr>
            <a:r>
              <a:rPr lang="zh-CN" altLang="en-US" dirty="0"/>
              <a:t>编译器生成的临时文件：每次需要临时文件时创建一个不同的名称非常有用，特别是在优化编译器时。当寄存器分配给变量时，如果可能的话，可以组合这些临时变量。</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现在我们考虑本书其余部分中使用的常见三地址指令。符号标签将由改变控制流的指令使用。符号标签表示指令序列中三地址指令的索引。实际索引可以通过单独传递或通过“回填”来替换标签，第 </a:t>
            </a:r>
            <a:r>
              <a:rPr lang="en-US" altLang="zh-CN" dirty="0"/>
              <a:t>6.7 </a:t>
            </a:r>
            <a:r>
              <a:rPr lang="zh-CN" altLang="en-US" dirty="0"/>
              <a:t>节中讨论了这一点。以下是常见三地址指令形式的列表：</a:t>
            </a:r>
            <a:endParaRPr lang="en-US" altLang="zh-CN" dirty="0"/>
          </a:p>
          <a:p>
            <a:r>
              <a:rPr lang="en-US" altLang="zh-CN" dirty="0"/>
              <a:t>1</a:t>
            </a:r>
            <a:r>
              <a:rPr lang="zh-CN" altLang="en-US" dirty="0"/>
              <a:t>赋值指令：</a:t>
            </a:r>
          </a:p>
          <a:p>
            <a:pPr lvl="1"/>
            <a:r>
              <a:rPr lang="zh-CN" altLang="en-US" dirty="0"/>
              <a:t>𝑥 = 𝑦 </a:t>
            </a:r>
            <a:r>
              <a:rPr lang="en-US" altLang="zh-CN" dirty="0"/>
              <a:t>op</a:t>
            </a:r>
            <a:r>
              <a:rPr lang="zh-CN" altLang="en-US" dirty="0"/>
              <a:t> 𝑧，其中</a:t>
            </a:r>
            <a:r>
              <a:rPr lang="en-US" altLang="zh-CN" dirty="0"/>
              <a:t> op </a:t>
            </a:r>
            <a:r>
              <a:rPr lang="zh-CN" altLang="en-US" dirty="0"/>
              <a:t>是二进制算术/逻辑运算，</a:t>
            </a:r>
            <a:r>
              <a:rPr lang="en-US" altLang="zh-CN" dirty="0"/>
              <a:t>x</a:t>
            </a:r>
            <a:r>
              <a:rPr lang="zh-CN" altLang="en-US" dirty="0"/>
              <a:t>、</a:t>
            </a:r>
            <a:r>
              <a:rPr lang="en-US" altLang="zh-CN" dirty="0"/>
              <a:t>y </a:t>
            </a:r>
            <a:r>
              <a:rPr lang="zh-CN" altLang="en-US" dirty="0"/>
              <a:t>和 </a:t>
            </a:r>
            <a:r>
              <a:rPr lang="en-US" altLang="zh-CN" dirty="0"/>
              <a:t>z </a:t>
            </a:r>
            <a:r>
              <a:rPr lang="zh-CN" altLang="en-US" dirty="0"/>
              <a:t>是地址。</a:t>
            </a:r>
          </a:p>
          <a:p>
            <a:pPr lvl="1"/>
            <a:r>
              <a:rPr lang="zh-CN" altLang="en-US" dirty="0"/>
              <a:t>𝑥=</a:t>
            </a:r>
            <a:r>
              <a:rPr lang="en-US" altLang="zh-CN" dirty="0"/>
              <a:t> op </a:t>
            </a:r>
            <a:r>
              <a:rPr lang="zh-CN" altLang="en-US" dirty="0"/>
              <a:t>𝑦，其中</a:t>
            </a:r>
            <a:r>
              <a:rPr lang="en-US" altLang="zh-CN" dirty="0"/>
              <a:t> op </a:t>
            </a:r>
            <a:r>
              <a:rPr lang="zh-CN" altLang="en-US" dirty="0"/>
              <a:t>是一元运算。基本的一元运算包括一元减、逻辑非和转换运算符，例如，将整数转换为浮点数。</a:t>
            </a:r>
            <a:endParaRPr lang="en-US" altLang="zh-CN" dirty="0"/>
          </a:p>
          <a:p>
            <a:pPr lvl="1"/>
            <a:r>
              <a:rPr lang="en-US" altLang="zh-CN" dirty="0"/>
              <a:t>2</a:t>
            </a:r>
            <a:r>
              <a:rPr lang="zh-CN" altLang="en-US" dirty="0"/>
              <a:t>复制指令： 𝑥 = 𝑦，其中</a:t>
            </a:r>
            <a:r>
              <a:rPr lang="en-US" altLang="zh-CN" dirty="0"/>
              <a:t>x </a:t>
            </a:r>
            <a:r>
              <a:rPr lang="zh-CN" altLang="en-US" dirty="0"/>
              <a:t>被赋予 </a:t>
            </a:r>
            <a:r>
              <a:rPr lang="en-US" altLang="zh-CN" dirty="0"/>
              <a:t>y </a:t>
            </a:r>
            <a:r>
              <a:rPr lang="zh-CN" altLang="en-US" dirty="0"/>
              <a:t>的值</a:t>
            </a:r>
          </a:p>
          <a:p>
            <a:r>
              <a:rPr lang="en-US" altLang="zh-CN" dirty="0"/>
              <a:t>3</a:t>
            </a:r>
            <a:r>
              <a:rPr lang="zh-CN" altLang="en-US" dirty="0"/>
              <a:t>无条件跳转指令：goto 𝐿，其中 𝐿 是跳转目标的标记，带有标签 </a:t>
            </a:r>
            <a:r>
              <a:rPr lang="en-US" altLang="zh-CN" dirty="0"/>
              <a:t>L </a:t>
            </a:r>
            <a:r>
              <a:rPr lang="zh-CN" altLang="en-US" dirty="0"/>
              <a:t>的三地址指令是下一个要执行的指令。</a:t>
            </a:r>
          </a:p>
          <a:p>
            <a:r>
              <a:rPr lang="en-US" altLang="zh-CN" dirty="0"/>
              <a:t>4</a:t>
            </a:r>
            <a:r>
              <a:rPr lang="zh-CN" altLang="en-US" dirty="0"/>
              <a:t>有条件跳转指令：</a:t>
            </a:r>
          </a:p>
          <a:p>
            <a:pPr lvl="1"/>
            <a:r>
              <a:rPr lang="zh-CN" altLang="en-US" dirty="0"/>
              <a:t>if</a:t>
            </a:r>
            <a:r>
              <a:rPr lang="en-US" altLang="zh-CN" dirty="0"/>
              <a:t> </a:t>
            </a:r>
            <a:r>
              <a:rPr lang="zh-CN" altLang="en-US" dirty="0"/>
              <a:t>𝑥 goto 𝐿</a:t>
            </a:r>
          </a:p>
          <a:p>
            <a:pPr lvl="1"/>
            <a:r>
              <a:rPr lang="zh-CN" altLang="en-US" dirty="0"/>
              <a:t>if Flase </a:t>
            </a:r>
            <a:r>
              <a:rPr lang="en-US" altLang="zh-CN" dirty="0"/>
              <a:t> </a:t>
            </a:r>
            <a:r>
              <a:rPr lang="zh-CN" altLang="en-US" dirty="0"/>
              <a:t>𝑥 goto 𝐿</a:t>
            </a:r>
          </a:p>
          <a:p>
            <a:pPr lvl="1"/>
            <a:r>
              <a:rPr lang="zh-CN" altLang="en-US" dirty="0"/>
              <a:t>if 𝑥 </a:t>
            </a:r>
            <a:r>
              <a:rPr lang="en-US" altLang="zh-CN" dirty="0"/>
              <a:t>relop</a:t>
            </a:r>
            <a:r>
              <a:rPr lang="zh-CN" altLang="en-US" dirty="0"/>
              <a:t> 𝑦 goto 𝐿</a:t>
            </a:r>
            <a:endParaRPr lang="en-US" altLang="zh-CN" dirty="0"/>
          </a:p>
          <a:p>
            <a:pPr lvl="1"/>
            <a:r>
              <a:rPr lang="en-US" altLang="zh-CN" dirty="0"/>
              <a:t>if x </a:t>
            </a:r>
            <a:r>
              <a:rPr lang="en-US" altLang="zh-CN" dirty="0" err="1"/>
              <a:t>goto</a:t>
            </a:r>
            <a:r>
              <a:rPr lang="en-US" altLang="zh-CN" dirty="0"/>
              <a:t> L </a:t>
            </a:r>
            <a:r>
              <a:rPr lang="zh-CN" altLang="en-US" dirty="0"/>
              <a:t>和 </a:t>
            </a:r>
            <a:r>
              <a:rPr lang="en-US" altLang="zh-CN" dirty="0" err="1"/>
              <a:t>ifFalse</a:t>
            </a:r>
            <a:r>
              <a:rPr lang="en-US" altLang="zh-CN" dirty="0"/>
              <a:t> x </a:t>
            </a:r>
            <a:r>
              <a:rPr lang="en-US" altLang="zh-CN" dirty="0" err="1"/>
              <a:t>goto</a:t>
            </a:r>
            <a:r>
              <a:rPr lang="en-US" altLang="zh-CN" dirty="0"/>
              <a:t> L </a:t>
            </a:r>
            <a:r>
              <a:rPr lang="zh-CN" altLang="en-US" dirty="0"/>
              <a:t>形式的条件跳转。如果 </a:t>
            </a:r>
            <a:r>
              <a:rPr lang="en-US" altLang="zh-CN" dirty="0"/>
              <a:t>x </a:t>
            </a:r>
            <a:r>
              <a:rPr lang="zh-CN" altLang="en-US" dirty="0"/>
              <a:t>为 </a:t>
            </a:r>
            <a:r>
              <a:rPr lang="en-US" altLang="zh-CN" dirty="0"/>
              <a:t>true </a:t>
            </a:r>
            <a:r>
              <a:rPr lang="zh-CN" altLang="en-US" dirty="0"/>
              <a:t>和 </a:t>
            </a:r>
            <a:r>
              <a:rPr lang="en-US" altLang="zh-CN" dirty="0"/>
              <a:t>false</a:t>
            </a:r>
            <a:r>
              <a:rPr lang="zh-CN" altLang="en-US" dirty="0"/>
              <a:t>，这些指令分别执行接下来带有标号</a:t>
            </a:r>
            <a:r>
              <a:rPr lang="en-US" altLang="zh-CN" dirty="0"/>
              <a:t> L </a:t>
            </a:r>
            <a:r>
              <a:rPr lang="zh-CN" altLang="en-US" dirty="0"/>
              <a:t>的指令。否则，照常执行接下来的三地址指令</a:t>
            </a:r>
            <a:endParaRPr lang="en-US" altLang="zh-CN" dirty="0"/>
          </a:p>
          <a:p>
            <a:pPr lvl="1"/>
            <a:r>
              <a:rPr lang="zh-CN" altLang="en-US" dirty="0"/>
              <a:t>条件跳转，例如 </a:t>
            </a:r>
            <a:r>
              <a:rPr lang="en-US" altLang="zh-CN" dirty="0"/>
              <a:t>if x </a:t>
            </a:r>
            <a:r>
              <a:rPr lang="en-US" altLang="zh-CN" dirty="0" err="1"/>
              <a:t>relop</a:t>
            </a:r>
            <a:r>
              <a:rPr lang="en-US" altLang="zh-CN" dirty="0"/>
              <a:t> y </a:t>
            </a:r>
            <a:r>
              <a:rPr lang="en-US" altLang="zh-CN" dirty="0" err="1"/>
              <a:t>goto</a:t>
            </a:r>
            <a:r>
              <a:rPr lang="en-US" altLang="zh-CN" dirty="0"/>
              <a:t> L</a:t>
            </a:r>
            <a:r>
              <a:rPr lang="zh-CN" altLang="en-US" dirty="0"/>
              <a:t>，它将关系运算符（</a:t>
            </a:r>
            <a:r>
              <a:rPr lang="en-US" altLang="zh-CN" dirty="0"/>
              <a:t>&lt;</a:t>
            </a:r>
            <a:r>
              <a:rPr lang="zh-CN" altLang="en-US" dirty="0"/>
              <a:t>、</a:t>
            </a:r>
            <a:r>
              <a:rPr lang="en-US" altLang="zh-CN" dirty="0"/>
              <a:t>==</a:t>
            </a:r>
            <a:r>
              <a:rPr lang="zh-CN" altLang="en-US" dirty="0"/>
              <a:t>、</a:t>
            </a:r>
            <a:r>
              <a:rPr lang="en-US" altLang="zh-CN" dirty="0"/>
              <a:t>&gt;= </a:t>
            </a:r>
            <a:r>
              <a:rPr lang="zh-CN" altLang="en-US" dirty="0"/>
              <a:t>等）应用于 </a:t>
            </a:r>
            <a:r>
              <a:rPr lang="en-US" altLang="zh-CN" dirty="0"/>
              <a:t>x </a:t>
            </a:r>
            <a:r>
              <a:rPr lang="zh-CN" altLang="en-US" dirty="0"/>
              <a:t>和 </a:t>
            </a:r>
            <a:r>
              <a:rPr lang="en-US" altLang="zh-CN" dirty="0"/>
              <a:t>y </a:t>
            </a:r>
            <a:r>
              <a:rPr lang="zh-CN" altLang="en-US" dirty="0"/>
              <a:t>，如果 </a:t>
            </a:r>
            <a:r>
              <a:rPr lang="en-US" altLang="zh-CN" dirty="0"/>
              <a:t>x </a:t>
            </a:r>
            <a:r>
              <a:rPr lang="zh-CN" altLang="en-US" dirty="0"/>
              <a:t>与 </a:t>
            </a:r>
            <a:r>
              <a:rPr lang="en-US" altLang="zh-CN" dirty="0" err="1"/>
              <a:t>relop</a:t>
            </a:r>
            <a:r>
              <a:rPr lang="en-US" altLang="zh-CN" dirty="0"/>
              <a:t> </a:t>
            </a:r>
            <a:r>
              <a:rPr lang="zh-CN" altLang="en-US" dirty="0"/>
              <a:t>与 </a:t>
            </a:r>
            <a:r>
              <a:rPr lang="en-US" altLang="zh-CN" dirty="0"/>
              <a:t>y </a:t>
            </a:r>
            <a:r>
              <a:rPr lang="zh-CN" altLang="en-US" dirty="0"/>
              <a:t>存在关系，则接下来执行标号为</a:t>
            </a:r>
            <a:r>
              <a:rPr lang="en-US" altLang="zh-CN" dirty="0"/>
              <a:t> L</a:t>
            </a:r>
            <a:r>
              <a:rPr lang="zh-CN" altLang="en-US" dirty="0"/>
              <a:t>的</a:t>
            </a:r>
            <a:r>
              <a:rPr lang="en-US" altLang="zh-CN" dirty="0"/>
              <a:t> </a:t>
            </a:r>
            <a:r>
              <a:rPr lang="zh-CN" altLang="en-US" dirty="0"/>
              <a:t>指令。如果不是，则依次执行 </a:t>
            </a:r>
            <a:r>
              <a:rPr lang="en-US" altLang="zh-CN" dirty="0"/>
              <a:t>if x </a:t>
            </a:r>
            <a:r>
              <a:rPr lang="en-US" altLang="zh-CN" dirty="0" err="1"/>
              <a:t>relop</a:t>
            </a:r>
            <a:r>
              <a:rPr lang="en-US" altLang="zh-CN" dirty="0"/>
              <a:t> y </a:t>
            </a:r>
            <a:r>
              <a:rPr lang="en-US" altLang="zh-CN" dirty="0" err="1"/>
              <a:t>goto</a:t>
            </a:r>
            <a:r>
              <a:rPr lang="en-US" altLang="zh-CN" dirty="0"/>
              <a:t> L </a:t>
            </a:r>
            <a:r>
              <a:rPr lang="zh-CN" altLang="en-US" dirty="0"/>
              <a:t>后面的三地址指令</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5</a:t>
            </a:r>
            <a:r>
              <a:rPr lang="zh-CN" altLang="en-US" dirty="0"/>
              <a:t>程序调用和返回：</a:t>
            </a:r>
            <a:endParaRPr lang="en-US" altLang="zh-CN" dirty="0"/>
          </a:p>
          <a:p>
            <a:r>
              <a:rPr lang="zh-CN" altLang="en-US" dirty="0"/>
              <a:t>过程调用和返回是使用以下指令实现的： </a:t>
            </a:r>
            <a:r>
              <a:rPr lang="en-US" altLang="zh-CN" dirty="0"/>
              <a:t>param x </a:t>
            </a:r>
            <a:r>
              <a:rPr lang="zh-CN" altLang="en-US" dirty="0"/>
              <a:t>为参数； </a:t>
            </a:r>
            <a:r>
              <a:rPr lang="en-US" altLang="zh-CN" dirty="0"/>
              <a:t>call p, n </a:t>
            </a:r>
            <a:r>
              <a:rPr lang="zh-CN" altLang="en-US" dirty="0"/>
              <a:t>和 </a:t>
            </a:r>
            <a:r>
              <a:rPr lang="en-US" altLang="zh-CN" dirty="0"/>
              <a:t>y = call p, n </a:t>
            </a:r>
            <a:r>
              <a:rPr lang="zh-CN" altLang="en-US" dirty="0"/>
              <a:t>分别用于过程和函数调用； </a:t>
            </a:r>
            <a:r>
              <a:rPr lang="en-US" altLang="zh-CN" dirty="0"/>
              <a:t>return y </a:t>
            </a:r>
            <a:r>
              <a:rPr lang="zh-CN" altLang="en-US" dirty="0"/>
              <a:t>，其中 </a:t>
            </a:r>
            <a:r>
              <a:rPr lang="en-US" altLang="zh-CN" dirty="0"/>
              <a:t>y </a:t>
            </a:r>
            <a:r>
              <a:rPr lang="zh-CN" altLang="en-US" dirty="0"/>
              <a:t>表示返回值，是可选的。这些三地址指令的常见用法见下面的三地址指令序列</a:t>
            </a:r>
            <a:endParaRPr lang="en-US" altLang="zh-CN" dirty="0"/>
          </a:p>
          <a:p>
            <a:r>
              <a:rPr lang="zh-CN" altLang="en-US" dirty="0"/>
              <a:t>它是 </a:t>
            </a:r>
            <a:r>
              <a:rPr lang="en-US" altLang="zh-CN" dirty="0"/>
              <a:t>p(x1 ;x2 ;::: ;</a:t>
            </a:r>
            <a:r>
              <a:rPr lang="en-US" altLang="zh-CN" dirty="0" err="1"/>
              <a:t>xn</a:t>
            </a:r>
            <a:r>
              <a:rPr lang="en-US" altLang="zh-CN" dirty="0"/>
              <a:t> ) </a:t>
            </a:r>
            <a:r>
              <a:rPr lang="zh-CN" altLang="en-US" dirty="0"/>
              <a:t>调用的一部分。“</a:t>
            </a:r>
            <a:r>
              <a:rPr lang="en-US" altLang="zh-CN" dirty="0"/>
              <a:t>call p, n” </a:t>
            </a:r>
            <a:r>
              <a:rPr lang="zh-CN" altLang="en-US" dirty="0"/>
              <a:t>中的</a:t>
            </a:r>
            <a:r>
              <a:rPr lang="en-US" altLang="zh-CN" dirty="0"/>
              <a:t>n</a:t>
            </a:r>
            <a:r>
              <a:rPr lang="zh-CN" altLang="en-US" dirty="0"/>
              <a:t>是实际参数的数量。这个</a:t>
            </a:r>
            <a:r>
              <a:rPr lang="en-US" altLang="zh-CN" dirty="0"/>
              <a:t>n</a:t>
            </a:r>
            <a:r>
              <a:rPr lang="zh-CN" altLang="en-US" dirty="0"/>
              <a:t>并不是多余的，因为调用可以嵌套。也就是说，前面的一些</a:t>
            </a:r>
            <a:r>
              <a:rPr lang="en-US" altLang="zh-CN" dirty="0"/>
              <a:t>param</a:t>
            </a:r>
            <a:r>
              <a:rPr lang="zh-CN" altLang="en-US" dirty="0"/>
              <a:t>语句可能是</a:t>
            </a:r>
            <a:r>
              <a:rPr lang="en-US" altLang="zh-CN" dirty="0"/>
              <a:t>p</a:t>
            </a:r>
            <a:r>
              <a:rPr lang="zh-CN" altLang="en-US" dirty="0"/>
              <a:t>返回之后才执行的某个函数调用的参数，而</a:t>
            </a:r>
            <a:r>
              <a:rPr lang="en-US" altLang="zh-CN" dirty="0"/>
              <a:t>p</a:t>
            </a:r>
            <a:r>
              <a:rPr lang="zh-CN" altLang="en-US" dirty="0"/>
              <a:t>的返回值又成为这个后续函数调用的另一个参数</a:t>
            </a:r>
            <a:endParaRPr lang="en-US" altLang="zh-CN" dirty="0"/>
          </a:p>
          <a:p>
            <a:r>
              <a:rPr lang="en-US" altLang="zh-CN" dirty="0"/>
              <a:t>6</a:t>
            </a:r>
            <a:r>
              <a:rPr lang="zh-CN" altLang="en-US" dirty="0"/>
              <a:t>带有下标的复制指令： </a:t>
            </a:r>
            <a:endParaRPr lang="en-US" altLang="zh-CN" dirty="0"/>
          </a:p>
          <a:p>
            <a:r>
              <a:rPr lang="zh-CN" altLang="en-US" dirty="0"/>
              <a:t>𝑥 = 𝑦[𝑖] 这里，𝑦[𝑖] 表示位置 𝑖 存储单元中超出位置 𝑦 的值。</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𝑥[𝑖] = 𝑦 这里，𝑦[𝑖] 表示位置 𝑖存储单元中超出位置 𝑦 的值。</a:t>
            </a:r>
          </a:p>
          <a:p>
            <a:r>
              <a:rPr lang="en-US" altLang="zh-CN" dirty="0"/>
              <a:t>7</a:t>
            </a:r>
            <a:r>
              <a:rPr lang="zh-CN" altLang="en-US" dirty="0"/>
              <a:t>地址和指针赋值指令：</a:t>
            </a:r>
          </a:p>
          <a:p>
            <a:pPr indent="457200"/>
            <a:r>
              <a:rPr lang="zh-CN" altLang="en-US" dirty="0"/>
              <a:t>𝑥 = &amp;𝑦 ，𝑥 =∗ 𝑦， ∗ 𝑥 = 𝑦</a:t>
            </a:r>
            <a:endParaRPr lang="en-US" altLang="zh-CN" dirty="0"/>
          </a:p>
          <a:p>
            <a:pPr indent="457200"/>
            <a:r>
              <a:rPr lang="en-US" altLang="zh-CN" dirty="0"/>
              <a:t>x =&amp;y </a:t>
            </a:r>
            <a:r>
              <a:rPr lang="zh-CN" altLang="en-US" dirty="0"/>
              <a:t>、 </a:t>
            </a:r>
            <a:r>
              <a:rPr lang="en-US" altLang="zh-CN" dirty="0"/>
              <a:t>x =*y </a:t>
            </a:r>
            <a:r>
              <a:rPr lang="zh-CN" altLang="en-US" dirty="0"/>
              <a:t>和 * </a:t>
            </a:r>
            <a:r>
              <a:rPr lang="en-US" altLang="zh-CN" dirty="0"/>
              <a:t>x = y </a:t>
            </a:r>
            <a:r>
              <a:rPr lang="zh-CN" altLang="en-US" dirty="0"/>
              <a:t>形式的地址和指针赋值。指令 </a:t>
            </a:r>
            <a:r>
              <a:rPr lang="en-US" altLang="zh-CN" dirty="0"/>
              <a:t>x =&amp;y </a:t>
            </a:r>
            <a:r>
              <a:rPr lang="zh-CN" altLang="en-US" dirty="0"/>
              <a:t>将 </a:t>
            </a:r>
            <a:r>
              <a:rPr lang="en-US" altLang="zh-CN" dirty="0"/>
              <a:t>x </a:t>
            </a:r>
            <a:r>
              <a:rPr lang="zh-CN" altLang="en-US" dirty="0"/>
              <a:t>的右值设置为 </a:t>
            </a:r>
            <a:r>
              <a:rPr lang="en-US" altLang="zh-CN" dirty="0"/>
              <a:t>y </a:t>
            </a:r>
            <a:r>
              <a:rPr lang="zh-CN" altLang="en-US" dirty="0"/>
              <a:t>的位置（左值）。这个</a:t>
            </a:r>
            <a:r>
              <a:rPr lang="en-US" altLang="zh-CN" dirty="0"/>
              <a:t>y</a:t>
            </a:r>
            <a:r>
              <a:rPr lang="zh-CN" altLang="en-US" dirty="0"/>
              <a:t>通常</a:t>
            </a:r>
            <a:r>
              <a:rPr lang="en-US" altLang="zh-CN" dirty="0"/>
              <a:t> </a:t>
            </a:r>
            <a:r>
              <a:rPr lang="zh-CN" altLang="en-US" dirty="0"/>
              <a:t>是一个名称，也可能是一个临时变量，它表示一个诸如</a:t>
            </a:r>
            <a:r>
              <a:rPr lang="en-US" altLang="zh-CN" dirty="0"/>
              <a:t>A[</a:t>
            </a:r>
            <a:r>
              <a:rPr lang="en-US" altLang="zh-CN" dirty="0" err="1"/>
              <a:t>i</a:t>
            </a:r>
            <a:r>
              <a:rPr lang="en-US" altLang="zh-CN" dirty="0"/>
              <a:t> ][j]</a:t>
            </a:r>
            <a:r>
              <a:rPr lang="zh-CN" altLang="en-US" dirty="0"/>
              <a:t>这样具有左值的表达式。，</a:t>
            </a:r>
            <a:r>
              <a:rPr lang="en-US" altLang="zh-CN" dirty="0"/>
              <a:t>x </a:t>
            </a:r>
            <a:r>
              <a:rPr lang="zh-CN" altLang="en-US" dirty="0"/>
              <a:t>是指针名称或临时指针。在指令 </a:t>
            </a:r>
            <a:r>
              <a:rPr lang="en-US" altLang="zh-CN" dirty="0"/>
              <a:t>x = * y </a:t>
            </a:r>
            <a:r>
              <a:rPr lang="zh-CN" altLang="en-US" dirty="0"/>
              <a:t>中，</a:t>
            </a:r>
            <a:r>
              <a:rPr lang="en-US" altLang="zh-CN" dirty="0"/>
              <a:t>y </a:t>
            </a:r>
            <a:r>
              <a:rPr lang="zh-CN" altLang="en-US" dirty="0"/>
              <a:t>可能是一个指针或一个临时变量，其右值是一个内存位置。这个指令使得 </a:t>
            </a:r>
            <a:r>
              <a:rPr lang="en-US" altLang="zh-CN" dirty="0"/>
              <a:t>x </a:t>
            </a:r>
            <a:r>
              <a:rPr lang="zh-CN" altLang="en-US" dirty="0"/>
              <a:t>的右值等于存储在该位置中的值。最后，指令 * </a:t>
            </a:r>
            <a:r>
              <a:rPr lang="en-US" altLang="zh-CN" dirty="0"/>
              <a:t>x = y </a:t>
            </a:r>
            <a:r>
              <a:rPr lang="zh-CN" altLang="en-US" dirty="0"/>
              <a:t>将</a:t>
            </a:r>
            <a:r>
              <a:rPr lang="en-US" altLang="zh-CN" dirty="0"/>
              <a:t>y </a:t>
            </a:r>
            <a:r>
              <a:rPr lang="zh-CN" altLang="en-US" dirty="0"/>
              <a:t>的右值</a:t>
            </a:r>
            <a:r>
              <a:rPr lang="en-US" altLang="zh-CN" dirty="0"/>
              <a:t>x</a:t>
            </a:r>
            <a:r>
              <a:rPr lang="zh-CN" altLang="en-US" dirty="0"/>
              <a:t>赋给由</a:t>
            </a:r>
            <a:r>
              <a:rPr lang="en-US" altLang="zh-CN" dirty="0"/>
              <a:t>x</a:t>
            </a:r>
            <a:r>
              <a:rPr lang="zh-CN" altLang="en-US" dirty="0"/>
              <a:t>指向的目标的右值 。</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该语句的两种可能的翻译如图 </a:t>
            </a:r>
            <a:r>
              <a:rPr lang="en-US" altLang="zh-CN" dirty="0"/>
              <a:t>6.9 </a:t>
            </a:r>
            <a:r>
              <a:rPr lang="zh-CN" altLang="en-US" dirty="0"/>
              <a:t>所示。图 </a:t>
            </a:r>
            <a:r>
              <a:rPr lang="en-US" altLang="zh-CN" dirty="0"/>
              <a:t>6.9(a) </a:t>
            </a:r>
            <a:r>
              <a:rPr lang="zh-CN" altLang="en-US" dirty="0"/>
              <a:t>中的翻译使用了附加到第一条指令的符号标签 </a:t>
            </a:r>
            <a:r>
              <a:rPr lang="en-US" altLang="zh-CN" dirty="0"/>
              <a:t>L</a:t>
            </a:r>
            <a:r>
              <a:rPr lang="zh-CN" altLang="en-US" dirty="0"/>
              <a:t>。</a:t>
            </a:r>
            <a:r>
              <a:rPr lang="en-US" altLang="zh-CN" dirty="0"/>
              <a:t>(b) </a:t>
            </a:r>
            <a:r>
              <a:rPr lang="zh-CN" altLang="en-US" dirty="0"/>
              <a:t>中的翻译显示了每一条指令的位置编号，图中选择以</a:t>
            </a:r>
            <a:r>
              <a:rPr lang="en-US" altLang="zh-CN" dirty="0"/>
              <a:t>100 </a:t>
            </a:r>
            <a:r>
              <a:rPr lang="zh-CN" altLang="en-US" dirty="0"/>
              <a:t>开始。在两个翻译中，最后一条指令都是目标为第一条指令的的条件跳转指令。乘法运算 </a:t>
            </a:r>
            <a:r>
              <a:rPr lang="en-US" altLang="zh-CN" dirty="0" err="1"/>
              <a:t>i</a:t>
            </a:r>
            <a:r>
              <a:rPr lang="en-US" altLang="zh-CN" dirty="0"/>
              <a:t>*8 </a:t>
            </a:r>
            <a:r>
              <a:rPr lang="zh-CN" altLang="en-US" dirty="0"/>
              <a:t>适用于每个元素占用 </a:t>
            </a:r>
            <a:r>
              <a:rPr lang="en-US" altLang="zh-CN" dirty="0"/>
              <a:t>8 </a:t>
            </a:r>
            <a:r>
              <a:rPr lang="zh-CN" altLang="en-US" dirty="0"/>
              <a:t>个存储单元的数组。</a:t>
            </a:r>
            <a:endParaRPr lang="en-US" altLang="zh-CN" dirty="0"/>
          </a:p>
          <a:p>
            <a:r>
              <a:rPr lang="zh-CN" altLang="en-US" dirty="0"/>
              <a:t>选择使用哪些运算符是中间表示形式设计的一个重要问题。显然，这个运算符集合中的运算符要足够丰富，以便实现源语言中的所有运算。接近机器指令的运算符可以使在目标机器上实现中间表示形式更加容易。然而，如果前端必须为某些源语言运算生成很长的指令序列，那么优化器和代码生成器就需要花费更多的时间去重新发现程序的结构，然后才能为这些运算生成高质量的目标代码。</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三地址指令的描述指定了每种指令的组成部分，但没有指定这些指令在数据结构中的表示。</a:t>
            </a:r>
            <a:endParaRPr lang="en-US" altLang="zh-CN" dirty="0"/>
          </a:p>
          <a:p>
            <a:r>
              <a:rPr lang="zh-CN" altLang="en-US" dirty="0"/>
              <a:t>在编译器中，这些指令可以实现为对象或带有运算符和操作数字段的记录。</a:t>
            </a:r>
            <a:endParaRPr lang="en-US" altLang="zh-CN" dirty="0"/>
          </a:p>
          <a:p>
            <a:r>
              <a:rPr lang="zh-CN" altLang="en-US" dirty="0"/>
              <a:t>三个这样的表示称为“四元组”、“三元组”和“间接三元组”。</a:t>
            </a:r>
          </a:p>
          <a:p>
            <a:pPr lvl="1"/>
            <a:r>
              <a:rPr lang="zh-CN" altLang="en-US" dirty="0"/>
              <a:t>四元式表示方法</a:t>
            </a:r>
          </a:p>
          <a:p>
            <a:pPr lvl="1"/>
            <a:r>
              <a:rPr lang="zh-CN" altLang="en-US" dirty="0"/>
              <a:t>三元式表示方法</a:t>
            </a:r>
          </a:p>
          <a:p>
            <a:pPr lvl="1"/>
            <a:r>
              <a:rPr lang="zh-CN" altLang="en-US" dirty="0"/>
              <a:t>间接三元式表示方法</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一个四元组（或 "四元组"）有四个字段</a:t>
            </a:r>
          </a:p>
          <a:p>
            <a:pPr lvl="1"/>
            <a:r>
              <a:rPr lang="zh-CN" altLang="en-US" dirty="0"/>
              <a:t>一般形式： op arg1 arg2 result</a:t>
            </a:r>
          </a:p>
          <a:p>
            <a:pPr lvl="1"/>
            <a:r>
              <a:rPr lang="zh-CN" altLang="en-US" dirty="0"/>
              <a:t>字段op 包含一个运算符的内部代码</a:t>
            </a:r>
          </a:p>
          <a:p>
            <a:pPr lvl="1"/>
            <a:r>
              <a:rPr lang="zh-CN" altLang="en-US" dirty="0"/>
              <a:t>arg1、arg2、result 是地址（操作数）</a:t>
            </a:r>
          </a:p>
          <a:p>
            <a:r>
              <a:rPr lang="zh-CN" altLang="en-US" dirty="0"/>
              <a:t>例如，三地址指令 </a:t>
            </a:r>
            <a:r>
              <a:rPr lang="en-US" altLang="zh-CN" dirty="0"/>
              <a:t>x = y + z </a:t>
            </a:r>
            <a:r>
              <a:rPr lang="zh-CN" altLang="en-US" dirty="0"/>
              <a:t>通过将 </a:t>
            </a:r>
            <a:r>
              <a:rPr lang="en-US" altLang="zh-CN" dirty="0"/>
              <a:t>+ </a:t>
            </a:r>
            <a:r>
              <a:rPr lang="zh-CN" altLang="en-US" dirty="0"/>
              <a:t>放入 </a:t>
            </a:r>
            <a:r>
              <a:rPr lang="en-US" altLang="zh-CN" dirty="0"/>
              <a:t>op</a:t>
            </a:r>
            <a:r>
              <a:rPr lang="zh-CN" altLang="en-US" dirty="0"/>
              <a:t>、将 </a:t>
            </a:r>
            <a:r>
              <a:rPr lang="en-US" altLang="zh-CN" dirty="0"/>
              <a:t>y </a:t>
            </a:r>
            <a:r>
              <a:rPr lang="zh-CN" altLang="en-US" dirty="0"/>
              <a:t>放入 </a:t>
            </a:r>
            <a:r>
              <a:rPr lang="en-US" altLang="zh-CN" dirty="0"/>
              <a:t>arg1</a:t>
            </a:r>
            <a:r>
              <a:rPr lang="zh-CN" altLang="en-US" dirty="0"/>
              <a:t>、将 </a:t>
            </a:r>
            <a:r>
              <a:rPr lang="en-US" altLang="zh-CN" dirty="0"/>
              <a:t>z </a:t>
            </a:r>
            <a:r>
              <a:rPr lang="zh-CN" altLang="en-US" dirty="0"/>
              <a:t>放入 </a:t>
            </a:r>
            <a:r>
              <a:rPr lang="en-US" altLang="zh-CN" dirty="0"/>
              <a:t>arg2 </a:t>
            </a:r>
            <a:r>
              <a:rPr lang="zh-CN" altLang="en-US" dirty="0"/>
              <a:t>以及将 </a:t>
            </a:r>
            <a:r>
              <a:rPr lang="en-US" altLang="zh-CN" dirty="0"/>
              <a:t>x </a:t>
            </a:r>
            <a:r>
              <a:rPr lang="zh-CN" altLang="en-US" dirty="0"/>
              <a:t>放入 </a:t>
            </a:r>
            <a:r>
              <a:rPr lang="en-US" altLang="zh-CN" dirty="0"/>
              <a:t>result </a:t>
            </a:r>
            <a:r>
              <a:rPr lang="zh-CN" altLang="en-US" dirty="0"/>
              <a:t>来表示。</a:t>
            </a:r>
            <a:endParaRPr lang="en-US" altLang="zh-CN" dirty="0"/>
          </a:p>
          <a:p>
            <a:r>
              <a:rPr lang="zh-CN" altLang="en-US" dirty="0"/>
              <a:t>以下是该规则的一些例外情况</a:t>
            </a:r>
          </a:p>
          <a:p>
            <a:r>
              <a:rPr lang="zh-CN" altLang="en-US" dirty="0"/>
              <a:t>一元运算符（如 x = </a:t>
            </a:r>
            <a:r>
              <a:rPr lang="en-US" altLang="zh-CN" dirty="0"/>
              <a:t>-</a:t>
            </a:r>
            <a:r>
              <a:rPr lang="zh-CN" altLang="en-US" dirty="0"/>
              <a:t> y 或 x = y）不使用 arg2</a:t>
            </a:r>
          </a:p>
          <a:p>
            <a:endParaRPr lang="zh-CN" altLang="en-US" dirty="0"/>
          </a:p>
          <a:p>
            <a:r>
              <a:rPr lang="zh-CN" altLang="en-US" dirty="0"/>
              <a:t>参数运算符既不使用 arg2 也不使用 result</a:t>
            </a:r>
          </a:p>
          <a:p>
            <a:endParaRPr lang="zh-CN" altLang="en-US" dirty="0"/>
          </a:p>
          <a:p>
            <a:r>
              <a:rPr lang="zh-CN" altLang="en-US" dirty="0"/>
              <a:t>条件/非条件跳转将目标标签放在 result 中</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赋值的三地址代码 </a:t>
            </a:r>
            <a:r>
              <a:rPr lang="en-US" altLang="zh-CN" dirty="0"/>
              <a:t>a = b* -</a:t>
            </a:r>
            <a:r>
              <a:rPr lang="en-US" altLang="zh-CN" dirty="0" err="1"/>
              <a:t>c+b</a:t>
            </a:r>
            <a:r>
              <a:rPr lang="en-US" altLang="zh-CN" dirty="0"/>
              <a:t>*-c</a:t>
            </a:r>
            <a:r>
              <a:rPr lang="zh-CN" altLang="zh-CN" sz="1200" kern="1200" dirty="0">
                <a:solidFill>
                  <a:schemeClr val="tx1"/>
                </a:solidFill>
                <a:effectLst/>
                <a:latin typeface="+mn-lt"/>
                <a:ea typeface="+mn-ea"/>
                <a:cs typeface="+mn-cs"/>
              </a:rPr>
              <a:t>的三地址代码如图</a:t>
            </a:r>
            <a:r>
              <a:rPr lang="zh-CN" altLang="en-US" dirty="0"/>
              <a:t> </a:t>
            </a:r>
            <a:r>
              <a:rPr lang="en-US" altLang="zh-CN" dirty="0"/>
              <a:t>6.10(a) </a:t>
            </a:r>
            <a:r>
              <a:rPr lang="zh-CN" altLang="en-US" dirty="0"/>
              <a:t>所示。</a:t>
            </a:r>
            <a:r>
              <a:rPr lang="zh-CN" altLang="zh-CN" sz="1200" kern="1200" dirty="0">
                <a:solidFill>
                  <a:schemeClr val="tx1"/>
                </a:solidFill>
                <a:effectLst/>
                <a:latin typeface="+mn-lt"/>
                <a:ea typeface="+mn-ea"/>
                <a:cs typeface="+mn-cs"/>
              </a:rPr>
              <a:t>这里我们使用特殊的</a:t>
            </a:r>
            <a:r>
              <a:rPr lang="en-US" altLang="zh-CN" sz="1200" kern="1200" dirty="0">
                <a:solidFill>
                  <a:schemeClr val="tx1"/>
                </a:solidFill>
                <a:effectLst/>
                <a:latin typeface="+mn-lt"/>
                <a:ea typeface="+mn-ea"/>
                <a:cs typeface="+mn-cs"/>
              </a:rPr>
              <a:t>minus</a:t>
            </a:r>
            <a:r>
              <a:rPr lang="zh-CN" altLang="zh-CN" sz="1200" kern="1200" dirty="0">
                <a:solidFill>
                  <a:schemeClr val="tx1"/>
                </a:solidFill>
                <a:effectLst/>
                <a:latin typeface="+mn-lt"/>
                <a:ea typeface="+mn-ea"/>
                <a:cs typeface="+mn-cs"/>
              </a:rPr>
              <a:t>运算符来表示</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中的单目减运算符“</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”，以区别于</a:t>
            </a:r>
            <a:r>
              <a:rPr lang="en-US" altLang="zh-CN" sz="1200" kern="1200" dirty="0">
                <a:solidFill>
                  <a:schemeClr val="tx1"/>
                </a:solidFill>
                <a:effectLst/>
                <a:latin typeface="+mn-lt"/>
                <a:ea typeface="+mn-ea"/>
                <a:cs typeface="+mn-cs"/>
              </a:rPr>
              <a:t>“b-c”</a:t>
            </a:r>
            <a:r>
              <a:rPr lang="zh-CN" altLang="zh-CN" sz="1200" kern="1200" dirty="0">
                <a:solidFill>
                  <a:schemeClr val="tx1"/>
                </a:solidFill>
                <a:effectLst/>
                <a:latin typeface="+mn-lt"/>
                <a:ea typeface="+mn-ea"/>
                <a:cs typeface="+mn-cs"/>
              </a:rPr>
              <a:t>中的双目减运算符“</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。请注意，单目减的三地址语句中只有两个地址，复制语句</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t5</a:t>
            </a:r>
            <a:r>
              <a:rPr lang="zh-CN" altLang="zh-CN" sz="1200" kern="1200" dirty="0">
                <a:solidFill>
                  <a:schemeClr val="tx1"/>
                </a:solidFill>
                <a:effectLst/>
                <a:latin typeface="+mn-lt"/>
                <a:ea typeface="+mn-ea"/>
                <a:cs typeface="+mn-cs"/>
              </a:rPr>
              <a:t>也是如此。</a:t>
            </a:r>
            <a:r>
              <a:rPr lang="en-US" altLang="zh-CN" dirty="0"/>
              <a:t> .</a:t>
            </a:r>
          </a:p>
          <a:p>
            <a:r>
              <a:rPr lang="zh-CN" altLang="en-US" dirty="0"/>
              <a:t>为了便于阅读，我们在 </a:t>
            </a:r>
            <a:r>
              <a:rPr lang="en-US" altLang="zh-CN" dirty="0" err="1"/>
              <a:t>arg</a:t>
            </a:r>
            <a:r>
              <a:rPr lang="en-US" altLang="zh-CN" dirty="0"/>
              <a:t> 1 </a:t>
            </a:r>
            <a:r>
              <a:rPr lang="zh-CN" altLang="en-US" dirty="0"/>
              <a:t>、 </a:t>
            </a:r>
            <a:r>
              <a:rPr lang="en-US" altLang="zh-CN" dirty="0"/>
              <a:t>arg2 </a:t>
            </a:r>
            <a:r>
              <a:rPr lang="zh-CN" altLang="en-US" dirty="0"/>
              <a:t>字段中使用 </a:t>
            </a:r>
            <a:r>
              <a:rPr lang="en-US" altLang="zh-CN" dirty="0"/>
              <a:t>a</a:t>
            </a:r>
            <a:r>
              <a:rPr lang="zh-CN" altLang="en-US" dirty="0"/>
              <a:t>、</a:t>
            </a:r>
            <a:r>
              <a:rPr lang="en-US" altLang="zh-CN" dirty="0"/>
              <a:t>b </a:t>
            </a:r>
            <a:r>
              <a:rPr lang="zh-CN" altLang="en-US" dirty="0"/>
              <a:t>和 </a:t>
            </a:r>
            <a:r>
              <a:rPr lang="en-US" altLang="zh-CN" dirty="0"/>
              <a:t>c </a:t>
            </a:r>
            <a:r>
              <a:rPr lang="zh-CN" altLang="en-US" dirty="0"/>
              <a:t>等实际标识符，结果如图 </a:t>
            </a:r>
            <a:r>
              <a:rPr lang="en-US" altLang="zh-CN" dirty="0"/>
              <a:t>6.10(b) </a:t>
            </a:r>
            <a:r>
              <a:rPr lang="zh-CN" altLang="en-US" dirty="0"/>
              <a:t>所示，而不是指向其符号表条目的指针。临时名称可以像程序员定义的名称一样输入到符号表中，也可以实现为</a:t>
            </a:r>
            <a:r>
              <a:rPr lang="en-US" altLang="zh-CN" dirty="0"/>
              <a:t>Temp </a:t>
            </a:r>
            <a:r>
              <a:rPr lang="zh-CN" altLang="en-US" dirty="0"/>
              <a:t>类的对象，这个</a:t>
            </a:r>
            <a:r>
              <a:rPr lang="en-US" altLang="zh-CN" dirty="0"/>
              <a:t>temp</a:t>
            </a:r>
            <a:r>
              <a:rPr lang="zh-CN" altLang="en-US" dirty="0"/>
              <a:t>类有自己的方法。</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一个三元式</a:t>
            </a:r>
            <a:r>
              <a:rPr lang="en-US" altLang="zh-CN" dirty="0"/>
              <a:t>(triple)</a:t>
            </a:r>
            <a:r>
              <a:rPr lang="zh-CN" altLang="en-US" dirty="0"/>
              <a:t>只有三个字段，我们分别称之为</a:t>
            </a:r>
            <a:r>
              <a:rPr lang="en-US" altLang="zh-CN" dirty="0"/>
              <a:t>op</a:t>
            </a:r>
            <a:r>
              <a:rPr lang="zh-CN" altLang="en-US" dirty="0"/>
              <a:t>、</a:t>
            </a:r>
            <a:r>
              <a:rPr lang="en-US" altLang="zh-CN" dirty="0"/>
              <a:t>arg1</a:t>
            </a:r>
            <a:r>
              <a:rPr lang="zh-CN" altLang="en-US" dirty="0"/>
              <a:t>和</a:t>
            </a:r>
            <a:r>
              <a:rPr lang="en-US" altLang="zh-CN" dirty="0"/>
              <a:t>arg2</a:t>
            </a:r>
            <a:r>
              <a:rPr lang="zh-CN" altLang="en-US" dirty="0"/>
              <a:t>。请注意，图</a:t>
            </a:r>
            <a:r>
              <a:rPr lang="en-US" altLang="zh-CN" dirty="0"/>
              <a:t>6-l0b</a:t>
            </a:r>
            <a:r>
              <a:rPr lang="zh-CN" altLang="en-US" dirty="0"/>
              <a:t>中的 </a:t>
            </a:r>
            <a:r>
              <a:rPr lang="en-US" altLang="zh-CN" dirty="0"/>
              <a:t>result</a:t>
            </a:r>
            <a:r>
              <a:rPr lang="zh-CN" altLang="en-US" dirty="0"/>
              <a:t>字段主要被用于临时变量名。</a:t>
            </a:r>
            <a:endParaRPr lang="en-US" altLang="zh-CN" dirty="0"/>
          </a:p>
          <a:p>
            <a:r>
              <a:rPr lang="zh-CN" altLang="en-US" dirty="0"/>
              <a:t>使用三元式时，我们将用运算</a:t>
            </a:r>
            <a:r>
              <a:rPr lang="en-US" altLang="zh-CN" dirty="0"/>
              <a:t>X   op  J'</a:t>
            </a:r>
            <a:r>
              <a:rPr lang="zh-CN" altLang="en-US" dirty="0"/>
              <a:t>的位置来表示它的结果，而不是用一个显式的临时名字表示。</a:t>
            </a:r>
            <a:endParaRPr lang="en-US" altLang="zh-CN" dirty="0"/>
          </a:p>
          <a:p>
            <a:r>
              <a:rPr lang="zh-CN" altLang="en-US" dirty="0"/>
              <a:t>例如，在三元式表示中将直接用位置</a:t>
            </a:r>
            <a:r>
              <a:rPr lang="en-US" altLang="zh-CN" dirty="0"/>
              <a:t>(0)</a:t>
            </a:r>
            <a:r>
              <a:rPr lang="zh-CN" altLang="en-US" dirty="0"/>
              <a:t>，而不是像图</a:t>
            </a:r>
            <a:r>
              <a:rPr lang="en-US" altLang="zh-CN" dirty="0"/>
              <a:t>6-l0b</a:t>
            </a:r>
            <a:r>
              <a:rPr lang="zh-CN" altLang="en-US" dirty="0"/>
              <a:t>中那样用临时名字</a:t>
            </a:r>
            <a:r>
              <a:rPr lang="en-US" altLang="zh-CN" dirty="0"/>
              <a:t>t1</a:t>
            </a:r>
            <a:r>
              <a:rPr lang="zh-CN" altLang="en-US" dirty="0"/>
              <a:t>来表示对相应运算结果的引用。带有括号的数字表示指向相应三元式结构的指针。在</a:t>
            </a:r>
            <a:r>
              <a:rPr lang="en-US" altLang="zh-CN" dirty="0"/>
              <a:t>6. 1. 2</a:t>
            </a:r>
            <a:r>
              <a:rPr lang="zh-CN" altLang="en-US" dirty="0"/>
              <a:t>节中，位置或指向位置的编码被称为值编码。</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在优化编译器中，由于指令的位置常常会发生变化，四元式相对于三元式的优势就体现出来了。</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使用四元式时，如果我们移动了一个计算临时变量</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的指令，那些使用</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的指令不需要做任何改变。而使用三元式时，对于运算结果的引用是通过位置完成的，因此如果改变一条指令的位置，则引用该指令的结果的所有指令都要做相应的修改。</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20</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三地址的问题：</a:t>
            </a:r>
          </a:p>
          <a:p>
            <a:r>
              <a:rPr lang="zh-CN" altLang="en-US" dirty="0"/>
              <a:t>说明现在提到了错误的结果，位置变了</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21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间接三元组由一个指向三元组的指针列表（下面的指令数组）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间接三元式</a:t>
            </a:r>
            <a:r>
              <a:rPr lang="en-US" altLang="zh-CN" sz="1200" kern="1200" dirty="0">
                <a:solidFill>
                  <a:schemeClr val="tx1"/>
                </a:solidFill>
                <a:effectLst/>
                <a:latin typeface="+mn-lt"/>
                <a:ea typeface="+mn-ea"/>
                <a:cs typeface="+mn-cs"/>
              </a:rPr>
              <a:t>(indirect triple)</a:t>
            </a:r>
            <a:r>
              <a:rPr lang="zh-CN" altLang="zh-CN" sz="1200" kern="1200" dirty="0">
                <a:solidFill>
                  <a:schemeClr val="tx1"/>
                </a:solidFill>
                <a:effectLst/>
                <a:latin typeface="+mn-lt"/>
                <a:ea typeface="+mn-ea"/>
                <a:cs typeface="+mn-cs"/>
              </a:rPr>
              <a:t>包含了一个指向三元式的指针的列表，而不是列出三元式序列本身。例如，我们可以使用数组</a:t>
            </a:r>
            <a:r>
              <a:rPr lang="en-US" altLang="zh-CN" sz="1200" kern="1200" dirty="0">
                <a:solidFill>
                  <a:schemeClr val="tx1"/>
                </a:solidFill>
                <a:effectLst/>
                <a:latin typeface="+mn-lt"/>
                <a:ea typeface="+mn-ea"/>
                <a:cs typeface="+mn-cs"/>
              </a:rPr>
              <a:t>instruction</a:t>
            </a:r>
            <a:r>
              <a:rPr lang="zh-CN" altLang="zh-CN" sz="1200" kern="1200" dirty="0">
                <a:solidFill>
                  <a:schemeClr val="tx1"/>
                </a:solidFill>
                <a:effectLst/>
                <a:latin typeface="+mn-lt"/>
                <a:ea typeface="+mn-ea"/>
                <a:cs typeface="+mn-cs"/>
              </a:rPr>
              <a:t>按照适当的顺序列出指向三元式的指针。这样，图</a:t>
            </a:r>
            <a:r>
              <a:rPr lang="en-US" altLang="zh-CN" sz="1200" kern="1200" dirty="0">
                <a:solidFill>
                  <a:schemeClr val="tx1"/>
                </a:solidFill>
                <a:effectLst/>
                <a:latin typeface="+mn-lt"/>
                <a:ea typeface="+mn-ea"/>
                <a:cs typeface="+mn-cs"/>
              </a:rPr>
              <a:t>6-11b</a:t>
            </a:r>
            <a:r>
              <a:rPr lang="zh-CN" altLang="zh-CN" sz="1200" kern="1200" dirty="0">
                <a:solidFill>
                  <a:schemeClr val="tx1"/>
                </a:solidFill>
                <a:effectLst/>
                <a:latin typeface="+mn-lt"/>
                <a:ea typeface="+mn-ea"/>
                <a:cs typeface="+mn-cs"/>
              </a:rPr>
              <a:t>中的三元式序列就可以表示成为图</a:t>
            </a:r>
            <a:r>
              <a:rPr lang="en-US" altLang="zh-CN" sz="1200" kern="1200" dirty="0">
                <a:solidFill>
                  <a:schemeClr val="tx1"/>
                </a:solidFill>
                <a:effectLst/>
                <a:latin typeface="+mn-lt"/>
                <a:ea typeface="+mn-ea"/>
                <a:cs typeface="+mn-cs"/>
              </a:rPr>
              <a:t>6-12</a:t>
            </a:r>
            <a:r>
              <a:rPr lang="zh-CN" altLang="zh-CN" sz="1200" kern="1200" dirty="0">
                <a:solidFill>
                  <a:schemeClr val="tx1"/>
                </a:solidFill>
                <a:effectLst/>
                <a:latin typeface="+mn-lt"/>
                <a:ea typeface="+mn-ea"/>
                <a:cs typeface="+mn-cs"/>
              </a:rPr>
              <a:t>所示的形式。</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22</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优化可以通过重新排序指令列表来移动指令（无需修改三元组）</a:t>
            </a:r>
          </a:p>
          <a:p>
            <a:pPr indent="457200"/>
            <a:r>
              <a:rPr lang="zh-CN" altLang="en-US" dirty="0"/>
              <a:t>交换后，列表中的第一条和第二条指令仍然指向正确的指令</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23</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静态单赋值形式静态单赋值形式（SSA，Static Single-Assignment ForStatic single-assignment form）是一种 IR，有助于某些代码优化。</a:t>
            </a:r>
          </a:p>
          <a:p>
            <a:r>
              <a:rPr lang="zh-CN" altLang="en-US" dirty="0"/>
              <a:t>在 SSA 中，每个名称只接受一次赋值。</a:t>
            </a:r>
            <a:endParaRPr lang="en-US" altLang="zh-CN" dirty="0"/>
          </a:p>
          <a:p>
            <a:pPr eaLnBrk="0" hangingPunct="0"/>
            <a:r>
              <a:rPr lang="en-US" altLang="zh-CN" sz="1200" kern="1200" dirty="0">
                <a:solidFill>
                  <a:schemeClr val="tx1"/>
                </a:solidFill>
                <a:effectLst/>
                <a:latin typeface="+mn-lt"/>
                <a:ea typeface="+mn-ea"/>
                <a:cs typeface="+mn-cs"/>
              </a:rPr>
              <a:t>SSA</a:t>
            </a:r>
            <a:r>
              <a:rPr lang="zh-CN" altLang="zh-CN" sz="1200" kern="1200" dirty="0">
                <a:solidFill>
                  <a:schemeClr val="tx1"/>
                </a:solidFill>
                <a:effectLst/>
                <a:latin typeface="+mn-lt"/>
                <a:ea typeface="+mn-ea"/>
                <a:cs typeface="+mn-cs"/>
              </a:rPr>
              <a:t>和三地址代码的区别主要体现在两个方面。首先，</a:t>
            </a:r>
            <a:r>
              <a:rPr lang="en-US" altLang="zh-CN" sz="1200" kern="1200" dirty="0">
                <a:solidFill>
                  <a:schemeClr val="tx1"/>
                </a:solidFill>
                <a:effectLst/>
                <a:latin typeface="+mn-lt"/>
                <a:ea typeface="+mn-ea"/>
                <a:cs typeface="+mn-cs"/>
              </a:rPr>
              <a:t>SSA</a:t>
            </a:r>
            <a:r>
              <a:rPr lang="zh-CN" altLang="zh-CN" sz="1200" kern="1200" dirty="0">
                <a:solidFill>
                  <a:schemeClr val="tx1"/>
                </a:solidFill>
                <a:effectLst/>
                <a:latin typeface="+mn-lt"/>
                <a:ea typeface="+mn-ea"/>
                <a:cs typeface="+mn-cs"/>
              </a:rPr>
              <a:t>中的所有赋值都是针对具有不同名字的变量的，这也是“静态单赋值”这一名字的由来。</a:t>
            </a:r>
            <a:endParaRPr lang="en-US" altLang="zh-CN" sz="1200" kern="1200" dirty="0">
              <a:solidFill>
                <a:schemeClr val="tx1"/>
              </a:solidFill>
              <a:effectLst/>
              <a:latin typeface="+mn-lt"/>
              <a:ea typeface="+mn-ea"/>
              <a:cs typeface="+mn-cs"/>
            </a:endParaRPr>
          </a:p>
          <a:p>
            <a:pPr eaLnBrk="0" hangingPunct="0"/>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6-13</a:t>
            </a:r>
            <a:r>
              <a:rPr lang="zh-CN" altLang="zh-CN" sz="1200" kern="1200" dirty="0">
                <a:solidFill>
                  <a:schemeClr val="tx1"/>
                </a:solidFill>
                <a:effectLst/>
                <a:latin typeface="+mn-lt"/>
                <a:ea typeface="+mn-ea"/>
                <a:cs typeface="+mn-cs"/>
              </a:rPr>
              <a:t>给出了分别以三地址代码形式和静态单赋值形式表示的中间程序。注意，</a:t>
            </a:r>
            <a:r>
              <a:rPr lang="en-US" altLang="zh-CN" sz="1200" kern="1200" dirty="0">
                <a:solidFill>
                  <a:schemeClr val="tx1"/>
                </a:solidFill>
                <a:effectLst/>
                <a:latin typeface="+mn-lt"/>
                <a:ea typeface="+mn-ea"/>
                <a:cs typeface="+mn-cs"/>
              </a:rPr>
              <a:t>SSA</a:t>
            </a:r>
            <a:r>
              <a:rPr lang="zh-CN" altLang="zh-CN" sz="1200" kern="1200" dirty="0">
                <a:solidFill>
                  <a:schemeClr val="tx1"/>
                </a:solidFill>
                <a:effectLst/>
                <a:latin typeface="+mn-lt"/>
                <a:ea typeface="+mn-ea"/>
                <a:cs typeface="+mn-cs"/>
              </a:rPr>
              <a:t>表示中对变量</a:t>
            </a:r>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q</a:t>
            </a:r>
            <a:r>
              <a:rPr lang="zh-CN" altLang="zh-CN" sz="1200" kern="1200" dirty="0">
                <a:solidFill>
                  <a:schemeClr val="tx1"/>
                </a:solidFill>
                <a:effectLst/>
                <a:latin typeface="+mn-lt"/>
                <a:ea typeface="+mn-ea"/>
                <a:cs typeface="+mn-cs"/>
              </a:rPr>
              <a:t>的每次定值都以不同的下标加以区分。</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24</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同一变量可在两个不同的控制流路径中定义</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在一个程序中，同一个变量可能在两个不同的控制流路径中被定值。例如，下列源程序</a:t>
            </a:r>
          </a:p>
          <a:p>
            <a:r>
              <a:rPr lang="zh-CN" altLang="en-US" dirty="0"/>
              <a:t>中，</a:t>
            </a:r>
            <a:r>
              <a:rPr lang="en-US" altLang="zh-CN" dirty="0"/>
              <a:t>x</a:t>
            </a:r>
            <a:r>
              <a:rPr lang="zh-CN" altLang="en-US" dirty="0"/>
              <a:t>在两个不同的控制流路径中被定值。如果我们对条件语句</a:t>
            </a:r>
          </a:p>
          <a:p>
            <a:r>
              <a:rPr lang="en-US" altLang="zh-CN" dirty="0"/>
              <a:t> </a:t>
            </a:r>
          </a:p>
          <a:p>
            <a:r>
              <a:rPr lang="zh-CN" altLang="en-US" dirty="0"/>
              <a:t>的真分支和假分支中的</a:t>
            </a:r>
            <a:r>
              <a:rPr lang="en-US" altLang="zh-CN" dirty="0"/>
              <a:t>x</a:t>
            </a:r>
            <a:r>
              <a:rPr lang="zh-CN" altLang="en-US" dirty="0"/>
              <a:t>使用不同的变量名，那么我们应该在赋值运算</a:t>
            </a:r>
            <a:r>
              <a:rPr lang="en-US" altLang="zh-CN" dirty="0"/>
              <a:t>y=x*a</a:t>
            </a:r>
            <a:r>
              <a:rPr lang="zh-CN" altLang="en-US" dirty="0"/>
              <a:t>中使用哪个名字？</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25</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同一变量可在两个不同的控制流路径中定义</a:t>
            </a:r>
            <a:r>
              <a:rPr lang="en-US" altLang="zh-CN" dirty="0"/>
              <a:t>:</a:t>
            </a:r>
            <a:r>
              <a:rPr lang="zh-CN" altLang="en-US" dirty="0"/>
              <a:t>SSA 使用一种称为 𝜙 函数的符号惯例来合并 x 的两个定义</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这也是</a:t>
            </a:r>
            <a:r>
              <a:rPr lang="en-US" altLang="zh-CN" dirty="0"/>
              <a:t>SSA</a:t>
            </a:r>
            <a:r>
              <a:rPr lang="zh-CN" altLang="en-US" dirty="0"/>
              <a:t>的第二个特别之处。</a:t>
            </a:r>
            <a:r>
              <a:rPr lang="en-US" altLang="zh-CN" dirty="0"/>
              <a:t>SSA</a:t>
            </a:r>
            <a:r>
              <a:rPr lang="zh-CN" altLang="en-US" dirty="0"/>
              <a:t>使用一种被称为</a:t>
            </a:r>
            <a:r>
              <a:rPr lang="en-US" altLang="zh-CN" dirty="0"/>
              <a:t>φ</a:t>
            </a:r>
            <a:r>
              <a:rPr lang="zh-CN" altLang="en-US" dirty="0"/>
              <a:t>函数的表示规则将</a:t>
            </a:r>
            <a:r>
              <a:rPr lang="en-US" altLang="zh-CN" dirty="0"/>
              <a:t>x</a:t>
            </a:r>
            <a:r>
              <a:rPr lang="zh-CN" altLang="en-US" dirty="0"/>
              <a:t>的两处定值合并起来：</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如果控制流经过这个条件语句的真分支，φ</a:t>
            </a:r>
            <a:r>
              <a:rPr lang="en-US" altLang="zh-CN" sz="1200" kern="1200" dirty="0">
                <a:solidFill>
                  <a:schemeClr val="tx1"/>
                </a:solidFill>
                <a:effectLst/>
                <a:latin typeface="+mn-lt"/>
                <a:ea typeface="+mn-ea"/>
                <a:cs typeface="+mn-cs"/>
              </a:rPr>
              <a:t>(x1,x2)</a:t>
            </a:r>
            <a:r>
              <a:rPr lang="zh-CN" altLang="zh-CN" sz="1200" kern="1200" dirty="0">
                <a:solidFill>
                  <a:schemeClr val="tx1"/>
                </a:solidFill>
                <a:effectLst/>
                <a:latin typeface="+mn-lt"/>
                <a:ea typeface="+mn-ea"/>
                <a:cs typeface="+mn-cs"/>
              </a:rPr>
              <a:t>的值为</a:t>
            </a:r>
            <a:r>
              <a:rPr lang="en-US" altLang="zh-CN" sz="1200" kern="1200" dirty="0">
                <a:solidFill>
                  <a:schemeClr val="tx1"/>
                </a:solidFill>
                <a:effectLst/>
                <a:latin typeface="+mn-lt"/>
                <a:ea typeface="+mn-ea"/>
                <a:cs typeface="+mn-cs"/>
              </a:rPr>
              <a:t>x1</a:t>
            </a:r>
            <a:r>
              <a:rPr lang="zh-CN" altLang="zh-CN" sz="1200" kern="1200" dirty="0">
                <a:solidFill>
                  <a:schemeClr val="tx1"/>
                </a:solidFill>
                <a:effectLst/>
                <a:latin typeface="+mn-lt"/>
                <a:ea typeface="+mn-ea"/>
                <a:cs typeface="+mn-cs"/>
              </a:rPr>
              <a:t>；否则，如果控制流经过假分支，φ函数的值为</a:t>
            </a:r>
            <a:r>
              <a:rPr lang="en-US" altLang="zh-CN" sz="1200" kern="1200" dirty="0">
                <a:solidFill>
                  <a:schemeClr val="tx1"/>
                </a:solidFill>
                <a:effectLst/>
                <a:latin typeface="+mn-lt"/>
                <a:ea typeface="+mn-ea"/>
                <a:cs typeface="+mn-cs"/>
              </a:rPr>
              <a:t>X2</a:t>
            </a:r>
            <a:r>
              <a:rPr lang="zh-CN" altLang="zh-CN" sz="1200" kern="1200" dirty="0">
                <a:solidFill>
                  <a:schemeClr val="tx1"/>
                </a:solidFill>
                <a:effectLst/>
                <a:latin typeface="+mn-lt"/>
                <a:ea typeface="+mn-ea"/>
                <a:cs typeface="+mn-cs"/>
              </a:rPr>
              <a:t>。也就是说，根据到达包含φ函数的赋值语句的不同控制流路径，φ函数返回不同的参数值。</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26</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27</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数据类型或简单的类型告诉编译器或解释器程序员打算如何使用数据</a:t>
            </a:r>
          </a:p>
          <a:p>
            <a:endParaRPr lang="zh-CN" altLang="en-US" dirty="0"/>
          </a:p>
          <a:p>
            <a:r>
              <a:rPr lang="zh-CN" altLang="en-US" dirty="0"/>
              <a:t>类型信息的作用</a:t>
            </a:r>
          </a:p>
          <a:p>
            <a:pPr lvl="1"/>
            <a:r>
              <a:rPr lang="zh-CN" altLang="en-US" dirty="0"/>
              <a:t>查找源代码中的错误</a:t>
            </a:r>
          </a:p>
          <a:p>
            <a:pPr lvl="1"/>
            <a:r>
              <a:rPr lang="zh-CN" altLang="en-US" dirty="0"/>
              <a:t>在运行时确定名称所需的存储空间</a:t>
            </a:r>
          </a:p>
          <a:p>
            <a:pPr lvl="1"/>
            <a:r>
              <a:rPr lang="zh-CN" altLang="en-US" dirty="0"/>
              <a:t>计算数组元素的地址</a:t>
            </a:r>
          </a:p>
          <a:p>
            <a:pPr lvl="1"/>
            <a:r>
              <a:rPr lang="zh-CN" altLang="en-US" dirty="0"/>
              <a:t>插入类型转换</a:t>
            </a:r>
          </a:p>
          <a:p>
            <a:pPr lvl="1"/>
            <a:r>
              <a:rPr lang="zh-CN" altLang="en-US" dirty="0"/>
              <a:t>选择算术运算符的正确版本（如 fadd、iadd）</a:t>
            </a:r>
          </a:p>
          <a:p>
            <a:endParaRPr lang="zh-CN" altLang="en-US" dirty="0"/>
          </a:p>
          <a:p>
            <a:r>
              <a:rPr lang="zh-CN" altLang="en-US" dirty="0"/>
              <a:t>类型检查(类型检查) 使用逻辑规则确保操作数的类型与运算符所期望的类型匹配。更明确地讲，类型检查保证运算分量的类型和运算符的预期类型相匹配。例如，</a:t>
            </a:r>
            <a:r>
              <a:rPr lang="en-US" altLang="zh-CN" dirty="0"/>
              <a:t>Java</a:t>
            </a:r>
            <a:r>
              <a:rPr lang="zh-CN" altLang="en-US" dirty="0"/>
              <a:t>要求＆＆运算符的两个运算分量必须是</a:t>
            </a:r>
            <a:r>
              <a:rPr lang="en-US" altLang="zh-CN" dirty="0" err="1"/>
              <a:t>boolean</a:t>
            </a:r>
            <a:r>
              <a:rPr lang="zh-CN" altLang="en-US" dirty="0"/>
              <a:t>型。如果满足这个条件，结果也具有</a:t>
            </a:r>
            <a:r>
              <a:rPr lang="en-US" altLang="zh-CN" dirty="0" err="1"/>
              <a:t>boolean</a:t>
            </a:r>
            <a:r>
              <a:rPr lang="zh-CN" altLang="en-US" dirty="0"/>
              <a:t>类型。</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28</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0" hangingPunct="0"/>
            <a:r>
              <a:rPr lang="zh-CN" altLang="en-US" dirty="0"/>
              <a:t>类型具有结构，可以用类型表达式来表示：</a:t>
            </a:r>
            <a:endParaRPr lang="en-US" altLang="zh-CN" dirty="0"/>
          </a:p>
          <a:p>
            <a:pPr eaLnBrk="0" hangingPunct="0"/>
            <a:r>
              <a:rPr lang="zh-CN" altLang="zh-CN" sz="1200" kern="1200" dirty="0">
                <a:solidFill>
                  <a:schemeClr val="tx1"/>
                </a:solidFill>
                <a:effectLst/>
                <a:latin typeface="+mn-lt"/>
                <a:ea typeface="+mn-ea"/>
                <a:cs typeface="+mn-cs"/>
              </a:rPr>
              <a:t>类型表达式可能是基本类型，</a:t>
            </a:r>
            <a:endParaRPr lang="en-US" altLang="zh-CN" sz="1200" kern="1200" dirty="0">
              <a:solidFill>
                <a:schemeClr val="tx1"/>
              </a:solidFill>
              <a:effectLst/>
              <a:latin typeface="+mn-lt"/>
              <a:ea typeface="+mn-ea"/>
              <a:cs typeface="+mn-cs"/>
            </a:endParaRPr>
          </a:p>
          <a:p>
            <a:pPr eaLnBrk="0" hangingPunct="0"/>
            <a:r>
              <a:rPr lang="zh-CN" altLang="zh-CN" sz="1200" kern="1200" dirty="0">
                <a:solidFill>
                  <a:schemeClr val="tx1"/>
                </a:solidFill>
                <a:effectLst/>
                <a:latin typeface="+mn-lt"/>
                <a:ea typeface="+mn-ea"/>
                <a:cs typeface="+mn-cs"/>
              </a:rPr>
              <a:t>也可能通过把被称为类型构造算子的运算符作用于类型表达式而得到</a:t>
            </a:r>
            <a:endParaRPr lang="en-US" altLang="zh-CN" sz="1200" kern="1200" dirty="0">
              <a:solidFill>
                <a:schemeClr val="tx1"/>
              </a:solidFill>
              <a:effectLst/>
              <a:latin typeface="+mn-lt"/>
              <a:ea typeface="+mn-ea"/>
              <a:cs typeface="+mn-cs"/>
            </a:endParaRPr>
          </a:p>
          <a:p>
            <a:pPr eaLnBrk="0" hangingPunct="0"/>
            <a:r>
              <a:rPr lang="zh-CN" altLang="en-US" dirty="0"/>
              <a:t>数组类型</a:t>
            </a:r>
            <a:r>
              <a:rPr lang="en-US" altLang="zh-CN" dirty="0"/>
              <a:t>int[2][3]</a:t>
            </a:r>
            <a:r>
              <a:rPr lang="zh-CN" altLang="en-US" dirty="0"/>
              <a:t>表示“由两个数组组成的数组，其中的每个数组各包含</a:t>
            </a:r>
            <a:r>
              <a:rPr lang="en-US" altLang="zh-CN" dirty="0"/>
              <a:t>3</a:t>
            </a:r>
            <a:r>
              <a:rPr lang="zh-CN" altLang="en-US" dirty="0"/>
              <a:t>个整数”。它的类型表达式可以写成</a:t>
            </a:r>
            <a:r>
              <a:rPr lang="en-US" altLang="zh-CN" dirty="0"/>
              <a:t>array (2, array (3, inte­ger)</a:t>
            </a:r>
            <a:r>
              <a:rPr lang="zh-CN" altLang="en-US" dirty="0"/>
              <a:t>）。该类型可以用如图</a:t>
            </a:r>
            <a:r>
              <a:rPr lang="en-US" altLang="zh-CN" dirty="0"/>
              <a:t>6-14</a:t>
            </a:r>
            <a:r>
              <a:rPr lang="zh-CN" altLang="en-US" dirty="0"/>
              <a:t>所示的树来描述。</a:t>
            </a:r>
            <a:r>
              <a:rPr lang="en-US" altLang="zh-CN" dirty="0"/>
              <a:t>array</a:t>
            </a:r>
            <a:r>
              <a:rPr lang="zh-CN" altLang="en-US" dirty="0"/>
              <a:t>运算符有两个参数：一个数字和一个类型。</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29</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基本类型是一种类型表达式</a:t>
            </a:r>
          </a:p>
          <a:p>
            <a:endParaRPr lang="zh-CN" altLang="en-US" dirty="0"/>
          </a:p>
          <a:p>
            <a:r>
              <a:rPr lang="zh-CN" altLang="en-US" dirty="0"/>
              <a:t>类型名称（如类名）是一个类型表达式</a:t>
            </a:r>
          </a:p>
          <a:p>
            <a:endParaRPr lang="zh-CN" altLang="en-US" dirty="0"/>
          </a:p>
          <a:p>
            <a:r>
              <a:rPr lang="zh-CN" altLang="en-US" dirty="0"/>
              <a:t>类型表达式可以通过以下方式形成</a:t>
            </a:r>
          </a:p>
          <a:p>
            <a:pPr lvl="1"/>
            <a:r>
              <a:rPr lang="zh-CN" altLang="en-US" dirty="0"/>
              <a:t>对数字和类型表达式应用 </a:t>
            </a:r>
            <a:r>
              <a:rPr lang="en-US" altLang="zh-CN" dirty="0"/>
              <a:t>array</a:t>
            </a:r>
            <a:r>
              <a:rPr lang="zh-CN" altLang="en-US" dirty="0"/>
              <a:t> 类型构造函数</a:t>
            </a:r>
          </a:p>
          <a:p>
            <a:pPr lvl="1"/>
            <a:r>
              <a:rPr lang="zh-CN" altLang="en-US" dirty="0"/>
              <a:t>对字段名及其类型应用 </a:t>
            </a:r>
            <a:r>
              <a:rPr lang="en-US" altLang="zh-CN" dirty="0"/>
              <a:t>record</a:t>
            </a:r>
            <a:r>
              <a:rPr lang="zh-CN" altLang="en-US" dirty="0"/>
              <a:t> 类型构造函数</a:t>
            </a:r>
          </a:p>
          <a:p>
            <a:pPr lvl="1"/>
            <a:r>
              <a:rPr lang="zh-CN" altLang="en-US" dirty="0"/>
              <a:t>对函数类型应用 → 类型构造函数</a:t>
            </a:r>
          </a:p>
          <a:p>
            <a:endParaRPr lang="zh-CN" altLang="en-US" dirty="0"/>
          </a:p>
          <a:p>
            <a:r>
              <a:rPr lang="zh-CN" altLang="en-US" dirty="0"/>
              <a:t>如果 𝑠和 𝑡是类型表达式，那么它们的笛卡尔乘积 𝑠× 𝑡 就是一个类型表达式（例如，表示函数参数等类型的元组）。</a:t>
            </a:r>
          </a:p>
          <a:p>
            <a:endParaRPr lang="zh-CN" altLang="en-US" dirty="0"/>
          </a:p>
          <a:p>
            <a:r>
              <a:rPr lang="zh-CN" altLang="en-US" dirty="0"/>
              <a:t>* 类型表达式可能包含类型变量（例如由编译器生成的变量），其值为类型表达式</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30</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类型检查规则通常有以下形式</a:t>
            </a:r>
          </a:p>
          <a:p>
            <a:pPr indent="457200"/>
            <a:r>
              <a:rPr lang="zh-CN" altLang="en-US" dirty="0"/>
              <a:t>如果两个类型表达式等价，则返回给定类型，否则返回 type_error</a:t>
            </a:r>
          </a:p>
          <a:p>
            <a:r>
              <a:rPr lang="zh-CN" altLang="en-US" dirty="0"/>
              <a:t>关键是定义两个类型表达式何时等价</a:t>
            </a:r>
          </a:p>
          <a:p>
            <a:pPr indent="457200"/>
            <a:r>
              <a:rPr lang="zh-CN" altLang="en-US" dirty="0"/>
              <a:t>主要的困难来自于大多数现代语言都允许对用户定义的类型进行命名。</a:t>
            </a:r>
          </a:p>
          <a:p>
            <a:pPr marL="457200" lvl="1" indent="457200"/>
            <a:r>
              <a:rPr lang="zh-CN" altLang="en-US" dirty="0"/>
              <a:t>在 C/C++ 中，类型命名是通过 typedef 语句实现的</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31</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将命名的类型视为基本类型；类型表达式中的名称不会被其定义的类型表达式所替换</a:t>
            </a:r>
          </a:p>
          <a:p>
            <a:r>
              <a:rPr lang="zh-CN" altLang="en-US" dirty="0"/>
              <a:t>当且仅当两个类型表达式完全相同时，它们的名称才是等价的(由相同的语法树表示，具有相同的标签）</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32</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对于已命名的类型，用其类型表达式替换类型名，并递归检查替换后的树</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33</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下面的语法涉及基本类型、数组类型和记录类型</a:t>
            </a:r>
          </a:p>
          <a:p>
            <a:pPr lvl="1"/>
            <a:r>
              <a:rPr lang="zh-CN" altLang="en-US" dirty="0"/>
              <a:t>非终结符号</a:t>
            </a:r>
            <a:r>
              <a:rPr lang="en-US" altLang="zh-CN" dirty="0"/>
              <a:t>D</a:t>
            </a:r>
            <a:r>
              <a:rPr lang="zh-CN" altLang="en-US" dirty="0"/>
              <a:t>生成一系列声明。</a:t>
            </a:r>
            <a:endParaRPr lang="en-US" altLang="zh-CN" dirty="0"/>
          </a:p>
          <a:p>
            <a:pPr lvl="1"/>
            <a:r>
              <a:rPr lang="zh-CN" altLang="en-US" dirty="0"/>
              <a:t>非终结符号</a:t>
            </a:r>
            <a:r>
              <a:rPr lang="en-US" altLang="zh-CN" dirty="0"/>
              <a:t>T</a:t>
            </a:r>
            <a:r>
              <a:rPr lang="zh-CN" altLang="en-US" dirty="0"/>
              <a:t>生成基本类型、数组类型或记录类型。</a:t>
            </a:r>
            <a:endParaRPr lang="en-US" altLang="zh-CN" dirty="0"/>
          </a:p>
          <a:p>
            <a:pPr lvl="1"/>
            <a:r>
              <a:rPr lang="zh-CN" altLang="en-US" dirty="0"/>
              <a:t>非终结符号</a:t>
            </a:r>
            <a:r>
              <a:rPr lang="en-US" altLang="zh-CN" dirty="0"/>
              <a:t>B</a:t>
            </a:r>
            <a:r>
              <a:rPr lang="zh-CN" altLang="en-US" dirty="0"/>
              <a:t>生成基本类型</a:t>
            </a:r>
            <a:r>
              <a:rPr lang="en-US" altLang="zh-CN" dirty="0"/>
              <a:t>int</a:t>
            </a:r>
            <a:r>
              <a:rPr lang="zh-CN" altLang="en-US" dirty="0"/>
              <a:t>和</a:t>
            </a:r>
            <a:r>
              <a:rPr lang="en-US" altLang="zh-CN" dirty="0"/>
              <a:t>float</a:t>
            </a:r>
            <a:r>
              <a:rPr lang="zh-CN" altLang="en-US" dirty="0"/>
              <a:t>之一。</a:t>
            </a:r>
            <a:endParaRPr lang="en-US" altLang="zh-CN" dirty="0"/>
          </a:p>
          <a:p>
            <a:pPr lvl="1"/>
            <a:r>
              <a:rPr lang="zh-CN" altLang="en-US" dirty="0"/>
              <a:t>非终结符号</a:t>
            </a:r>
            <a:r>
              <a:rPr lang="en-US" altLang="zh-CN" dirty="0"/>
              <a:t>C</a:t>
            </a:r>
            <a:r>
              <a:rPr lang="zh-CN" altLang="en-US" dirty="0"/>
              <a:t>（表示“分量＂）产生零个或多个整数，每个整数用方括号括起来。</a:t>
            </a:r>
            <a:endParaRPr lang="en-US" altLang="zh-CN" dirty="0"/>
          </a:p>
          <a:p>
            <a:pPr lvl="0" algn="l"/>
            <a:r>
              <a:rPr lang="zh-CN" altLang="en-US" dirty="0"/>
              <a:t>一个数组类型包含一个由</a:t>
            </a:r>
            <a:r>
              <a:rPr lang="en-US" altLang="zh-CN" dirty="0"/>
              <a:t>B</a:t>
            </a:r>
            <a:r>
              <a:rPr lang="zh-CN" altLang="en-US" dirty="0"/>
              <a:t>指定的基本类型，后面跟一个由非终结符号</a:t>
            </a:r>
            <a:r>
              <a:rPr lang="en-US" altLang="zh-CN" dirty="0"/>
              <a:t>C</a:t>
            </a:r>
            <a:r>
              <a:rPr lang="zh-CN" altLang="en-US" dirty="0"/>
              <a:t>指定的数组分。一个记录类型</a:t>
            </a:r>
            <a:r>
              <a:rPr lang="en-US" altLang="zh-CN" dirty="0"/>
              <a:t>(T</a:t>
            </a:r>
            <a:r>
              <a:rPr lang="zh-CN" altLang="en-US" dirty="0"/>
              <a:t>的第二个产生式）由各个记录字段的声明序列构成，并被花括号括起来。</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34</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根据名称的类型，我们可以决定运行时名称所需的内存量。运行时名称所需的内存量</a:t>
            </a:r>
          </a:p>
          <a:p>
            <a:pPr lvl="1"/>
            <a:r>
              <a:rPr lang="zh-CN" altLang="en-US" dirty="0"/>
              <a:t>类型的宽度（宽度）： 该类型对象所需的 # 内存单位</a:t>
            </a:r>
          </a:p>
          <a:p>
            <a:pPr lvl="1"/>
            <a:r>
              <a:rPr lang="zh-CN" altLang="en-US" dirty="0"/>
              <a:t>对于长度不等的数据（如字符串），或在运行前无法确定大小的数据（如动态数组），我们只为数据指针预留固定的内存量。</a:t>
            </a:r>
          </a:p>
          <a:p>
            <a:endParaRPr lang="zh-CN" altLang="en-US" dirty="0"/>
          </a:p>
          <a:p>
            <a:r>
              <a:rPr lang="zh-CN" altLang="en-US" dirty="0"/>
              <a:t>对于函数的局部名称，我们总是分配连续的字节*。</a:t>
            </a:r>
          </a:p>
          <a:p>
            <a:pPr lvl="1"/>
            <a:r>
              <a:rPr lang="zh-CN" altLang="en-US" dirty="0"/>
              <a:t>对于每个这样的名称，我们可以在编译时计算出一个相对地址</a:t>
            </a:r>
          </a:p>
          <a:p>
            <a:pPr lvl="1"/>
            <a:r>
              <a:rPr lang="zh-CN" altLang="en-US" dirty="0"/>
              <a:t>类型信息和相对地址存储在符号表中</a:t>
            </a:r>
          </a:p>
          <a:p>
            <a:endParaRPr lang="zh-CN" altLang="en-US" dirty="0"/>
          </a:p>
          <a:p>
            <a:r>
              <a:rPr lang="zh-CN" altLang="en-US" dirty="0"/>
              <a:t>* 这遵循就近原则，主要是出于性能考虑。</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35</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合成属性：类型、宽度</a:t>
            </a:r>
          </a:p>
          <a:p>
            <a:r>
              <a:rPr lang="zh-CN" altLang="en-US" dirty="0"/>
              <a:t>全局变量 t 和 w 将类型和宽度信息从解析树中的𝐵 节点传递到生成 𝐶 → 𝜖 的节点。</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节点传递类型和宽度信息。在 SDD 中，t 和 w 是 𝐶 的继承属性（SDD 是 L 属性）*。（该</a:t>
            </a:r>
            <a:r>
              <a:rPr lang="en-US" altLang="zh-CN" dirty="0"/>
              <a:t>SDT</a:t>
            </a:r>
            <a:r>
              <a:rPr lang="zh-CN" altLang="en-US" dirty="0"/>
              <a:t>可以在递归下降分析过程中调用）</a:t>
            </a:r>
          </a:p>
          <a:p>
            <a:endParaRPr lang="en-US" altLang="zh-CN" dirty="0"/>
          </a:p>
          <a:p>
            <a:pPr eaLnBrk="0" hangingPunct="0"/>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产生式的产生式体包含一个非终结符号</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、一个动作和一个非终结符号</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其中</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显示在下一行上。</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之间的动作是将</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设置为</a:t>
            </a:r>
            <a:r>
              <a:rPr lang="en-US" altLang="zh-CN" sz="1200" kern="1200" dirty="0">
                <a:solidFill>
                  <a:schemeClr val="tx1"/>
                </a:solidFill>
                <a:effectLst/>
                <a:latin typeface="+mn-lt"/>
                <a:ea typeface="+mn-ea"/>
                <a:cs typeface="+mn-cs"/>
              </a:rPr>
              <a:t>B. type,</a:t>
            </a:r>
            <a:r>
              <a:rPr lang="zh-CN" altLang="zh-CN" sz="1200" kern="1200" dirty="0">
                <a:solidFill>
                  <a:schemeClr val="tx1"/>
                </a:solidFill>
                <a:effectLst/>
                <a:latin typeface="+mn-lt"/>
                <a:ea typeface="+mn-ea"/>
                <a:cs typeface="+mn-cs"/>
              </a:rPr>
              <a:t>并将</a:t>
            </a:r>
            <a:r>
              <a:rPr lang="en-US" altLang="zh-CN" sz="1200" kern="1200" dirty="0">
                <a:solidFill>
                  <a:schemeClr val="tx1"/>
                </a:solidFill>
                <a:effectLst/>
                <a:latin typeface="+mn-lt"/>
                <a:ea typeface="+mn-ea"/>
                <a:cs typeface="+mn-cs"/>
              </a:rPr>
              <a:t>w</a:t>
            </a:r>
            <a:r>
              <a:rPr lang="zh-CN" altLang="zh-CN" sz="1200" kern="1200" dirty="0">
                <a:solidFill>
                  <a:schemeClr val="tx1"/>
                </a:solidFill>
                <a:effectLst/>
                <a:latin typeface="+mn-lt"/>
                <a:ea typeface="+mn-ea"/>
                <a:cs typeface="+mn-cs"/>
              </a:rPr>
              <a:t>设置为</a:t>
            </a:r>
            <a:r>
              <a:rPr lang="en-US" altLang="zh-CN" sz="1200" kern="1200" dirty="0">
                <a:solidFill>
                  <a:schemeClr val="tx1"/>
                </a:solidFill>
                <a:effectLst/>
                <a:latin typeface="+mn-lt"/>
                <a:ea typeface="+mn-ea"/>
                <a:cs typeface="+mn-cs"/>
              </a:rPr>
              <a:t>B. width</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eaLnBrk="0" hangingPunct="0"/>
            <a:r>
              <a:rPr lang="zh-CN" altLang="zh-CN" sz="1200" kern="1200" dirty="0">
                <a:solidFill>
                  <a:schemeClr val="tx1"/>
                </a:solidFill>
                <a:effectLst/>
                <a:latin typeface="+mn-lt"/>
                <a:ea typeface="+mn-ea"/>
                <a:cs typeface="+mn-cs"/>
              </a:rPr>
              <a:t>如果</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int,</a:t>
            </a:r>
            <a:r>
              <a:rPr lang="zh-CN" altLang="zh-CN" sz="1200" kern="1200" dirty="0">
                <a:solidFill>
                  <a:schemeClr val="tx1"/>
                </a:solidFill>
                <a:effectLst/>
                <a:latin typeface="+mn-lt"/>
                <a:ea typeface="+mn-ea"/>
                <a:cs typeface="+mn-cs"/>
              </a:rPr>
              <a:t>则</a:t>
            </a:r>
            <a:r>
              <a:rPr lang="en-US" altLang="zh-CN" sz="1200" kern="1200" dirty="0">
                <a:solidFill>
                  <a:schemeClr val="tx1"/>
                </a:solidFill>
                <a:effectLst/>
                <a:latin typeface="+mn-lt"/>
                <a:ea typeface="+mn-ea"/>
                <a:cs typeface="+mn-cs"/>
              </a:rPr>
              <a:t>B. type</a:t>
            </a:r>
            <a:r>
              <a:rPr lang="zh-CN" altLang="zh-CN" sz="1200" kern="1200" dirty="0">
                <a:solidFill>
                  <a:schemeClr val="tx1"/>
                </a:solidFill>
                <a:effectLst/>
                <a:latin typeface="+mn-lt"/>
                <a:ea typeface="+mn-ea"/>
                <a:cs typeface="+mn-cs"/>
              </a:rPr>
              <a:t>被设置为</a:t>
            </a:r>
            <a:r>
              <a:rPr lang="en-US" altLang="zh-CN" sz="1200" kern="1200" dirty="0">
                <a:solidFill>
                  <a:schemeClr val="tx1"/>
                </a:solidFill>
                <a:effectLst/>
                <a:latin typeface="+mn-lt"/>
                <a:ea typeface="+mn-ea"/>
                <a:cs typeface="+mn-cs"/>
              </a:rPr>
              <a:t>integer, B. width</a:t>
            </a:r>
            <a:r>
              <a:rPr lang="zh-CN" altLang="zh-CN" sz="1200" kern="1200" dirty="0">
                <a:solidFill>
                  <a:schemeClr val="tx1"/>
                </a:solidFill>
                <a:effectLst/>
                <a:latin typeface="+mn-lt"/>
                <a:ea typeface="+mn-ea"/>
                <a:cs typeface="+mn-cs"/>
              </a:rPr>
              <a:t>被设置为</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即一个整型数的宽度。</a:t>
            </a:r>
            <a:endParaRPr lang="en-US" altLang="zh-CN" sz="1200" kern="1200" dirty="0">
              <a:solidFill>
                <a:schemeClr val="tx1"/>
              </a:solidFill>
              <a:effectLst/>
              <a:latin typeface="+mn-lt"/>
              <a:ea typeface="+mn-ea"/>
              <a:cs typeface="+mn-cs"/>
            </a:endParaRPr>
          </a:p>
          <a:p>
            <a:pPr eaLnBrk="0" hangingPunct="0"/>
            <a:r>
              <a:rPr lang="zh-CN" altLang="zh-CN" sz="1200" kern="1200" dirty="0">
                <a:solidFill>
                  <a:schemeClr val="tx1"/>
                </a:solidFill>
                <a:effectLst/>
                <a:latin typeface="+mn-lt"/>
                <a:ea typeface="+mn-ea"/>
                <a:cs typeface="+mn-cs"/>
              </a:rPr>
              <a:t>类似的，如果</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float,</a:t>
            </a:r>
            <a:r>
              <a:rPr lang="zh-CN" altLang="zh-CN" sz="1200" kern="1200" dirty="0">
                <a:solidFill>
                  <a:schemeClr val="tx1"/>
                </a:solidFill>
                <a:effectLst/>
                <a:latin typeface="+mn-lt"/>
                <a:ea typeface="+mn-ea"/>
                <a:cs typeface="+mn-cs"/>
              </a:rPr>
              <a:t>则</a:t>
            </a:r>
            <a:r>
              <a:rPr lang="en-US" altLang="zh-CN" sz="1200" kern="1200" dirty="0">
                <a:solidFill>
                  <a:schemeClr val="tx1"/>
                </a:solidFill>
                <a:effectLst/>
                <a:latin typeface="+mn-lt"/>
                <a:ea typeface="+mn-ea"/>
                <a:cs typeface="+mn-cs"/>
              </a:rPr>
              <a:t>B. type</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B. width</a:t>
            </a:r>
            <a:r>
              <a:rPr lang="zh-CN" altLang="zh-CN" sz="1200" kern="1200" dirty="0">
                <a:solidFill>
                  <a:schemeClr val="tx1"/>
                </a:solidFill>
                <a:effectLst/>
                <a:latin typeface="+mn-lt"/>
                <a:ea typeface="+mn-ea"/>
                <a:cs typeface="+mn-cs"/>
              </a:rPr>
              <a:t>分别被设置为</a:t>
            </a:r>
            <a:r>
              <a:rPr lang="en-US" altLang="zh-CN" sz="1200" kern="1200" dirty="0">
                <a:solidFill>
                  <a:schemeClr val="tx1"/>
                </a:solidFill>
                <a:effectLst/>
                <a:latin typeface="+mn-lt"/>
                <a:ea typeface="+mn-ea"/>
                <a:cs typeface="+mn-cs"/>
              </a:rPr>
              <a:t>float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，即宽度为一个浮点数的宽度。</a:t>
            </a:r>
          </a:p>
          <a:p>
            <a:pPr eaLnBrk="0" hangingPunct="0"/>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的产生式决定了</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生成的是一个基本类型还是一个数组类型。如果→</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则</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变成</a:t>
            </a:r>
            <a:r>
              <a:rPr lang="en-US" altLang="zh-CN" sz="1200" kern="1200" dirty="0">
                <a:solidFill>
                  <a:schemeClr val="tx1"/>
                </a:solidFill>
                <a:effectLst/>
                <a:latin typeface="+mn-lt"/>
                <a:ea typeface="+mn-ea"/>
                <a:cs typeface="+mn-cs"/>
              </a:rPr>
              <a:t>C. type</a:t>
            </a:r>
            <a:r>
              <a:rPr lang="zh-CN" altLang="zh-CN" sz="1200" kern="1200" dirty="0">
                <a:solidFill>
                  <a:schemeClr val="tx1"/>
                </a:solidFill>
                <a:effectLst/>
                <a:latin typeface="+mn-lt"/>
                <a:ea typeface="+mn-ea"/>
                <a:cs typeface="+mn-cs"/>
              </a:rPr>
              <a:t>，且</a:t>
            </a:r>
            <a:r>
              <a:rPr lang="en-US" altLang="zh-CN" sz="1200" kern="1200" dirty="0">
                <a:solidFill>
                  <a:schemeClr val="tx1"/>
                </a:solidFill>
                <a:effectLst/>
                <a:latin typeface="+mn-lt"/>
                <a:ea typeface="+mn-ea"/>
                <a:cs typeface="+mn-cs"/>
              </a:rPr>
              <a:t>w</a:t>
            </a:r>
            <a:r>
              <a:rPr lang="zh-CN" altLang="zh-CN" sz="1200" kern="1200" dirty="0">
                <a:solidFill>
                  <a:schemeClr val="tx1"/>
                </a:solidFill>
                <a:effectLst/>
                <a:latin typeface="+mn-lt"/>
                <a:ea typeface="+mn-ea"/>
                <a:cs typeface="+mn-cs"/>
              </a:rPr>
              <a:t>变成</a:t>
            </a:r>
            <a:r>
              <a:rPr lang="en-US" altLang="zh-CN" sz="1200" kern="1200" dirty="0">
                <a:solidFill>
                  <a:schemeClr val="tx1"/>
                </a:solidFill>
                <a:effectLst/>
                <a:latin typeface="+mn-lt"/>
                <a:ea typeface="+mn-ea"/>
                <a:cs typeface="+mn-cs"/>
              </a:rPr>
              <a:t>C. width</a:t>
            </a:r>
            <a:r>
              <a:rPr lang="zh-CN" altLang="zh-CN" sz="1200" kern="1200" dirty="0">
                <a:solidFill>
                  <a:schemeClr val="tx1"/>
                </a:solidFill>
                <a:effectLst/>
                <a:latin typeface="+mn-lt"/>
                <a:ea typeface="+mn-ea"/>
                <a:cs typeface="+mn-cs"/>
              </a:rPr>
              <a:t>。</a:t>
            </a:r>
          </a:p>
          <a:p>
            <a:pPr eaLnBrk="0" hangingPunct="0"/>
            <a:r>
              <a:rPr lang="zh-CN" altLang="zh-CN" sz="1200" kern="1200" dirty="0">
                <a:solidFill>
                  <a:schemeClr val="tx1"/>
                </a:solidFill>
                <a:effectLst/>
                <a:latin typeface="+mn-lt"/>
                <a:ea typeface="+mn-ea"/>
                <a:cs typeface="+mn-cs"/>
              </a:rPr>
              <a:t>否则，</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就描述了一个数组分量。</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[num]C1</a:t>
            </a:r>
            <a:r>
              <a:rPr lang="zh-CN" altLang="zh-CN" sz="1200" kern="1200" dirty="0">
                <a:solidFill>
                  <a:schemeClr val="tx1"/>
                </a:solidFill>
                <a:effectLst/>
                <a:latin typeface="+mn-lt"/>
                <a:ea typeface="+mn-ea"/>
                <a:cs typeface="+mn-cs"/>
              </a:rPr>
              <a:t>的动作将类型构造算子</a:t>
            </a:r>
            <a:r>
              <a:rPr lang="en-US" altLang="zh-CN" sz="1200" kern="1200" dirty="0">
                <a:solidFill>
                  <a:schemeClr val="tx1"/>
                </a:solidFill>
                <a:effectLst/>
                <a:latin typeface="+mn-lt"/>
                <a:ea typeface="+mn-ea"/>
                <a:cs typeface="+mn-cs"/>
              </a:rPr>
              <a:t>array</a:t>
            </a:r>
            <a:r>
              <a:rPr lang="zh-CN" altLang="zh-CN" sz="1200" kern="1200" dirty="0">
                <a:solidFill>
                  <a:schemeClr val="tx1"/>
                </a:solidFill>
                <a:effectLst/>
                <a:latin typeface="+mn-lt"/>
                <a:ea typeface="+mn-ea"/>
                <a:cs typeface="+mn-cs"/>
              </a:rPr>
              <a:t>应用于运算分值</a:t>
            </a:r>
            <a:r>
              <a:rPr lang="en-US" altLang="zh-CN" sz="1200" kern="1200" dirty="0">
                <a:solidFill>
                  <a:schemeClr val="tx1"/>
                </a:solidFill>
                <a:effectLst/>
                <a:latin typeface="+mn-lt"/>
                <a:ea typeface="+mn-ea"/>
                <a:cs typeface="+mn-cs"/>
              </a:rPr>
              <a:t>num. value</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C1. type,</a:t>
            </a:r>
            <a:r>
              <a:rPr lang="zh-CN" altLang="zh-CN" sz="1200" kern="1200" dirty="0">
                <a:solidFill>
                  <a:schemeClr val="tx1"/>
                </a:solidFill>
                <a:effectLst/>
                <a:latin typeface="+mn-lt"/>
                <a:ea typeface="+mn-ea"/>
                <a:cs typeface="+mn-cs"/>
              </a:rPr>
              <a:t>构造得到</a:t>
            </a:r>
            <a:r>
              <a:rPr lang="en-US" altLang="zh-CN" sz="1200" kern="1200" dirty="0">
                <a:solidFill>
                  <a:schemeClr val="tx1"/>
                </a:solidFill>
                <a:effectLst/>
                <a:latin typeface="+mn-lt"/>
                <a:ea typeface="+mn-ea"/>
                <a:cs typeface="+mn-cs"/>
              </a:rPr>
              <a:t>C. type</a:t>
            </a:r>
            <a:r>
              <a:rPr lang="zh-CN" altLang="zh-CN" sz="1200" kern="1200" dirty="0">
                <a:solidFill>
                  <a:schemeClr val="tx1"/>
                </a:solidFill>
                <a:effectLst/>
                <a:latin typeface="+mn-lt"/>
                <a:ea typeface="+mn-ea"/>
                <a:cs typeface="+mn-cs"/>
              </a:rPr>
              <a:t>。例如，应用</a:t>
            </a:r>
            <a:r>
              <a:rPr lang="en-US" altLang="zh-CN" sz="1200" kern="1200" dirty="0">
                <a:solidFill>
                  <a:schemeClr val="tx1"/>
                </a:solidFill>
                <a:effectLst/>
                <a:latin typeface="+mn-lt"/>
                <a:ea typeface="+mn-ea"/>
                <a:cs typeface="+mn-cs"/>
              </a:rPr>
              <a:t>array</a:t>
            </a:r>
            <a:r>
              <a:rPr lang="zh-CN" altLang="zh-CN" sz="1200" kern="1200" dirty="0">
                <a:solidFill>
                  <a:schemeClr val="tx1"/>
                </a:solidFill>
                <a:effectLst/>
                <a:latin typeface="+mn-lt"/>
                <a:ea typeface="+mn-ea"/>
                <a:cs typeface="+mn-cs"/>
              </a:rPr>
              <a:t>的结果可能是图</a:t>
            </a:r>
            <a:r>
              <a:rPr lang="en-US" altLang="zh-CN" sz="1200" kern="1200" dirty="0">
                <a:solidFill>
                  <a:schemeClr val="tx1"/>
                </a:solidFill>
                <a:effectLst/>
                <a:latin typeface="+mn-lt"/>
                <a:ea typeface="+mn-ea"/>
                <a:cs typeface="+mn-cs"/>
              </a:rPr>
              <a:t>6-14</a:t>
            </a:r>
            <a:r>
              <a:rPr lang="zh-CN" altLang="zh-CN" sz="1200" kern="1200" dirty="0">
                <a:solidFill>
                  <a:schemeClr val="tx1"/>
                </a:solidFill>
                <a:effectLst/>
                <a:latin typeface="+mn-lt"/>
                <a:ea typeface="+mn-ea"/>
                <a:cs typeface="+mn-cs"/>
              </a:rPr>
              <a:t>所示的树形结构。</a:t>
            </a:r>
            <a:endParaRPr lang="en-US" altLang="zh-CN" sz="1200" kern="1200" dirty="0">
              <a:solidFill>
                <a:schemeClr val="tx1"/>
              </a:solidFill>
              <a:effectLst/>
              <a:latin typeface="+mn-lt"/>
              <a:ea typeface="+mn-ea"/>
              <a:cs typeface="+mn-cs"/>
            </a:endParaRPr>
          </a:p>
          <a:p>
            <a:pPr eaLnBrk="0" hangingPunct="0"/>
            <a:endParaRPr lang="en-US" altLang="zh-CN" sz="1200" kern="1200" dirty="0">
              <a:solidFill>
                <a:schemeClr val="tx1"/>
              </a:solidFill>
              <a:effectLst/>
              <a:latin typeface="+mn-lt"/>
              <a:ea typeface="+mn-ea"/>
              <a:cs typeface="+mn-cs"/>
            </a:endParaRPr>
          </a:p>
          <a:p>
            <a:pPr eaLnBrk="0" hangingPunct="0"/>
            <a:r>
              <a:rPr lang="zh-CN" altLang="zh-CN" sz="1200" kern="1200" dirty="0">
                <a:solidFill>
                  <a:schemeClr val="tx1"/>
                </a:solidFill>
                <a:effectLst/>
                <a:latin typeface="+mn-lt"/>
                <a:ea typeface="+mn-ea"/>
                <a:cs typeface="+mn-cs"/>
              </a:rPr>
              <a:t>数组的宽度是将数组元素的个数乘以单个数组元素的宽度而得到。如果连续存放的整数的地址之间的差距为</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那么－个整数数组的地址计箕将包含乘</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运算。这样的乘法运算为优化提供了机会，因此让前端程序在其输出中明确描述这些运算将有助于优化。在这一章中，我们将忽略其他与机器相关特性，比如数据对象的地址必须和机器字的边界对齐。</a:t>
            </a:r>
            <a:endParaRPr lang="en-US" altLang="zh-CN" dirty="0"/>
          </a:p>
          <a:p>
            <a:pPr indent="457200" algn="l"/>
            <a:endParaRPr lang="en-US" altLang="zh-CN"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36</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在递归下降解析过程中调用翻译</a:t>
            </a:r>
            <a:endParaRPr lang="en-US" altLang="zh-CN" dirty="0"/>
          </a:p>
          <a:p>
            <a:r>
              <a:rPr lang="zh-CN" altLang="en-US" dirty="0"/>
              <a:t>使用函数的参数</a:t>
            </a:r>
            <a:r>
              <a:rPr lang="en-US" altLang="zh-CN" dirty="0"/>
              <a:t>A()</a:t>
            </a:r>
            <a:r>
              <a:rPr lang="zh-CN" altLang="en-US" dirty="0"/>
              <a:t>传递非终结符</a:t>
            </a:r>
            <a:r>
              <a:rPr lang="en-US" altLang="zh-CN" dirty="0"/>
              <a:t>A’</a:t>
            </a:r>
            <a:r>
              <a:rPr lang="zh-CN" altLang="en-US" dirty="0"/>
              <a:t>s继承属性* （在例子中我们使用全局变量</a:t>
            </a:r>
            <a:r>
              <a:rPr lang="en-US" altLang="zh-CN" dirty="0"/>
              <a:t>t</a:t>
            </a:r>
            <a:r>
              <a:rPr lang="zh-CN" altLang="en-US" dirty="0"/>
              <a:t>和</a:t>
            </a:r>
            <a:r>
              <a:rPr lang="en-US" altLang="zh-CN" dirty="0"/>
              <a:t>w</a:t>
            </a:r>
            <a:r>
              <a:rPr lang="zh-CN" altLang="en-US" dirty="0"/>
              <a:t>）</a:t>
            </a:r>
            <a:endParaRPr lang="en-US" altLang="zh-CN" dirty="0"/>
          </a:p>
          <a:p>
            <a:r>
              <a:rPr lang="zh-CN" altLang="en-US" dirty="0"/>
              <a:t>计算并返回的综合属性𝐴 当</a:t>
            </a:r>
            <a:r>
              <a:rPr lang="en-US" altLang="zh-CN" dirty="0"/>
              <a:t>A()</a:t>
            </a:r>
            <a:r>
              <a:rPr lang="zh-CN" altLang="en-US" dirty="0"/>
              <a:t>完成</a:t>
            </a:r>
            <a:endParaRPr lang="en-US" altLang="zh-CN" dirty="0"/>
          </a:p>
          <a:p>
            <a:endParaRPr lang="en-US" altLang="zh-CN" dirty="0"/>
          </a:p>
          <a:p>
            <a:pPr eaLnBrk="0" hangingPunct="0"/>
            <a:r>
              <a:rPr lang="zh-CN" altLang="zh-CN" sz="1200" kern="1200" dirty="0">
                <a:solidFill>
                  <a:schemeClr val="tx1"/>
                </a:solidFill>
                <a:effectLst/>
                <a:latin typeface="+mn-lt"/>
                <a:ea typeface="+mn-ea"/>
                <a:cs typeface="+mn-cs"/>
              </a:rPr>
              <a:t>类型</a:t>
            </a:r>
            <a:r>
              <a:rPr lang="en-US" altLang="zh-CN" sz="1200" kern="1200" dirty="0">
                <a:solidFill>
                  <a:schemeClr val="tx1"/>
                </a:solidFill>
                <a:effectLst/>
                <a:latin typeface="+mn-lt"/>
                <a:ea typeface="+mn-ea"/>
                <a:cs typeface="+mn-cs"/>
              </a:rPr>
              <a:t>int[2]</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的语法分析树用图</a:t>
            </a:r>
            <a:r>
              <a:rPr lang="en-US" altLang="zh-CN" sz="1200" kern="1200" dirty="0">
                <a:solidFill>
                  <a:schemeClr val="tx1"/>
                </a:solidFill>
                <a:effectLst/>
                <a:latin typeface="+mn-lt"/>
                <a:ea typeface="+mn-ea"/>
                <a:cs typeface="+mn-cs"/>
              </a:rPr>
              <a:t>6-16</a:t>
            </a:r>
            <a:r>
              <a:rPr lang="zh-CN" altLang="zh-CN" sz="1200" kern="1200" dirty="0">
                <a:solidFill>
                  <a:schemeClr val="tx1"/>
                </a:solidFill>
                <a:effectLst/>
                <a:latin typeface="+mn-lt"/>
                <a:ea typeface="+mn-ea"/>
                <a:cs typeface="+mn-cs"/>
              </a:rPr>
              <a:t>中的虚线描述。图中的实线描述了</a:t>
            </a:r>
            <a:r>
              <a:rPr lang="en-US" altLang="zh-CN" sz="1200" kern="1200" dirty="0">
                <a:solidFill>
                  <a:schemeClr val="tx1"/>
                </a:solidFill>
                <a:effectLst/>
                <a:latin typeface="+mn-lt"/>
                <a:ea typeface="+mn-ea"/>
                <a:cs typeface="+mn-cs"/>
              </a:rPr>
              <a:t>type</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width</a:t>
            </a:r>
            <a:r>
              <a:rPr lang="zh-CN" altLang="zh-CN" sz="1200" kern="1200" dirty="0">
                <a:solidFill>
                  <a:schemeClr val="tx1"/>
                </a:solidFill>
                <a:effectLst/>
                <a:latin typeface="+mn-lt"/>
                <a:ea typeface="+mn-ea"/>
                <a:cs typeface="+mn-cs"/>
              </a:rPr>
              <a:t>是如何从</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结点开始，通过变量</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w,</a:t>
            </a:r>
            <a:r>
              <a:rPr lang="zh-CN" altLang="zh-CN" sz="1200" kern="1200" dirty="0">
                <a:solidFill>
                  <a:schemeClr val="tx1"/>
                </a:solidFill>
                <a:effectLst/>
                <a:latin typeface="+mn-lt"/>
                <a:ea typeface="+mn-ea"/>
                <a:cs typeface="+mn-cs"/>
              </a:rPr>
              <a:t>沿着多个</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组成的链下传，然后又作为综合属性</a:t>
            </a:r>
            <a:r>
              <a:rPr lang="en-US" altLang="zh-CN" sz="1200" kern="1200" dirty="0">
                <a:solidFill>
                  <a:schemeClr val="tx1"/>
                </a:solidFill>
                <a:effectLst/>
                <a:latin typeface="+mn-lt"/>
                <a:ea typeface="+mn-ea"/>
                <a:cs typeface="+mn-cs"/>
              </a:rPr>
              <a:t>type</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width</a:t>
            </a:r>
            <a:r>
              <a:rPr lang="zh-CN" altLang="zh-CN" sz="1200" kern="1200" dirty="0">
                <a:solidFill>
                  <a:schemeClr val="tx1"/>
                </a:solidFill>
                <a:effectLst/>
                <a:latin typeface="+mn-lt"/>
                <a:ea typeface="+mn-ea"/>
                <a:cs typeface="+mn-cs"/>
              </a:rPr>
              <a:t>沿此链返回的。</a:t>
            </a:r>
            <a:r>
              <a:rPr lang="zh-CN" altLang="en-US" sz="1200" kern="1200" dirty="0">
                <a:solidFill>
                  <a:schemeClr val="tx1"/>
                </a:solidFill>
                <a:effectLst/>
                <a:latin typeface="+mn-lt"/>
                <a:ea typeface="+mn-ea"/>
                <a:cs typeface="+mn-cs"/>
              </a:rPr>
              <a:t>在</a:t>
            </a:r>
            <a:r>
              <a:rPr lang="zh-CN" altLang="zh-CN" sz="1200" kern="1200" dirty="0">
                <a:solidFill>
                  <a:schemeClr val="tx1"/>
                </a:solidFill>
                <a:effectLst/>
                <a:latin typeface="+mn-lt"/>
                <a:ea typeface="+mn-ea"/>
                <a:cs typeface="+mn-cs"/>
              </a:rPr>
              <a:t>访问包含</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结点的子树之前，变</a:t>
            </a:r>
            <a:r>
              <a:rPr lang="zh-CN" altLang="en-US" sz="1200" kern="1200" dirty="0">
                <a:solidFill>
                  <a:schemeClr val="tx1"/>
                </a:solidFill>
                <a:effectLst/>
                <a:latin typeface="+mn-lt"/>
                <a:ea typeface="+mn-ea"/>
                <a:cs typeface="+mn-cs"/>
              </a:rPr>
              <a:t>量</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w</a:t>
            </a:r>
            <a:r>
              <a:rPr lang="zh-CN" altLang="zh-CN" sz="1200" kern="1200" dirty="0">
                <a:solidFill>
                  <a:schemeClr val="tx1"/>
                </a:solidFill>
                <a:effectLst/>
                <a:latin typeface="+mn-lt"/>
                <a:ea typeface="+mn-ea"/>
                <a:cs typeface="+mn-cs"/>
              </a:rPr>
              <a:t>被赋予</a:t>
            </a:r>
            <a:r>
              <a:rPr lang="en-US" altLang="zh-CN" sz="1200" kern="1200" dirty="0">
                <a:solidFill>
                  <a:schemeClr val="tx1"/>
                </a:solidFill>
                <a:effectLst/>
                <a:latin typeface="+mn-lt"/>
                <a:ea typeface="+mn-ea"/>
                <a:cs typeface="+mn-cs"/>
              </a:rPr>
              <a:t>B.  type</a:t>
            </a:r>
            <a:r>
              <a:rPr lang="zh-CN" altLang="zh-CN" sz="1200" kern="1200" dirty="0">
                <a:solidFill>
                  <a:schemeClr val="tx1"/>
                </a:solidFill>
                <a:effectLst/>
                <a:latin typeface="+mn-lt"/>
                <a:ea typeface="+mn-ea"/>
                <a:cs typeface="+mn-cs"/>
              </a:rPr>
              <a:t>和</a:t>
            </a:r>
            <a:r>
              <a:rPr lang="en-US" altLang="zh-CN" sz="1200" kern="1200" dirty="0" err="1">
                <a:solidFill>
                  <a:schemeClr val="tx1"/>
                </a:solidFill>
                <a:effectLst/>
                <a:latin typeface="+mn-lt"/>
                <a:ea typeface="+mn-ea"/>
                <a:cs typeface="+mn-cs"/>
              </a:rPr>
              <a:t>B.width</a:t>
            </a:r>
            <a:r>
              <a:rPr lang="zh-CN" altLang="zh-CN" sz="1200" kern="1200" dirty="0">
                <a:solidFill>
                  <a:schemeClr val="tx1"/>
                </a:solidFill>
                <a:effectLst/>
                <a:latin typeface="+mn-lt"/>
                <a:ea typeface="+mn-ea"/>
                <a:cs typeface="+mn-cs"/>
              </a:rPr>
              <a:t>的值。变量</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w</a:t>
            </a:r>
            <a:r>
              <a:rPr lang="zh-CN" altLang="zh-CN" sz="1200" kern="1200" dirty="0">
                <a:solidFill>
                  <a:schemeClr val="tx1"/>
                </a:solidFill>
                <a:effectLst/>
                <a:latin typeface="+mn-lt"/>
                <a:ea typeface="+mn-ea"/>
                <a:cs typeface="+mn-cs"/>
              </a:rPr>
              <a:t>的值在</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→ε对应的结点上使用，然后开始沿着多个</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结点组成的链向上对综合属性求值。</a:t>
            </a:r>
            <a:endParaRPr lang="en-US" altLang="zh-CN" dirty="0"/>
          </a:p>
          <a:p>
            <a:endParaRPr lang="en-US" altLang="zh-CN" dirty="0"/>
          </a:p>
          <a:p>
            <a:pPr lvl="1"/>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37</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步骤 1：使用 𝑇 → 𝐵𝐶 重写 𝑇</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38</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步骤 2：</a:t>
            </a:r>
          </a:p>
          <a:p>
            <a:r>
              <a:rPr lang="zh-CN" altLang="en-US" dirty="0"/>
              <a:t>使用 𝐵 → 𝐢𝐧𝐭 重写𝐵。</a:t>
            </a:r>
          </a:p>
          <a:p>
            <a:r>
              <a:rPr lang="zh-CN" altLang="en-US" dirty="0"/>
              <a:t>匹配输入</a:t>
            </a:r>
          </a:p>
          <a:p>
            <a:r>
              <a:rPr lang="zh-CN" altLang="en-US" dirty="0"/>
              <a:t>执行语义操作</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39</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步骤</a:t>
            </a:r>
            <a:r>
              <a:rPr lang="en-US" altLang="zh-CN" dirty="0"/>
              <a:t>3</a:t>
            </a:r>
            <a:r>
              <a:rPr lang="zh-CN" altLang="en-US" dirty="0"/>
              <a:t>：</a:t>
            </a:r>
          </a:p>
          <a:p>
            <a:r>
              <a:rPr lang="zh-CN" altLang="en-US" dirty="0"/>
              <a:t>B() 返回</a:t>
            </a:r>
          </a:p>
          <a:p>
            <a:r>
              <a:rPr lang="zh-CN" altLang="en-US" dirty="0"/>
              <a:t>执行语义操作</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40</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使用 𝐶 →[num]C 重写 𝐶</a:t>
            </a:r>
          </a:p>
          <a:p>
            <a:r>
              <a:rPr lang="zh-CN" altLang="en-US" dirty="0"/>
              <a:t>匹配输入</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41</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使用 𝐶 →[num]C 重写 𝐶</a:t>
            </a:r>
          </a:p>
          <a:p>
            <a:r>
              <a:rPr lang="zh-CN" altLang="en-US" dirty="0"/>
              <a:t>匹配输入</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42</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使用 𝐶 → 𝜖 重写</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43</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C() 返回</a:t>
            </a:r>
          </a:p>
          <a:p>
            <a:r>
              <a:rPr lang="zh-CN" altLang="en-US" dirty="0"/>
              <a:t>执行语义操作</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44</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C() 返回</a:t>
            </a:r>
          </a:p>
          <a:p>
            <a:r>
              <a:rPr lang="zh-CN" altLang="en-US" dirty="0"/>
              <a:t>执行语义操作</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45</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C() 返回</a:t>
            </a:r>
          </a:p>
          <a:p>
            <a:r>
              <a:rPr lang="zh-CN" altLang="en-US" dirty="0"/>
              <a:t>执行语义操作</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46</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a:t>
            </a:r>
            <a:r>
              <a:rPr lang="zh-CN" altLang="en-US" dirty="0"/>
              <a:t>() 返回</a:t>
            </a:r>
          </a:p>
          <a:p>
            <a:r>
              <a:rPr lang="zh-CN" altLang="en-US" dirty="0"/>
              <a:t>执行语义操作</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47</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0" hangingPunct="0"/>
            <a:r>
              <a:rPr lang="zh-CN" altLang="zh-CN" sz="1200" kern="1200" dirty="0">
                <a:solidFill>
                  <a:schemeClr val="tx1"/>
                </a:solidFill>
                <a:effectLst/>
                <a:latin typeface="+mn-lt"/>
                <a:ea typeface="+mn-ea"/>
                <a:cs typeface="+mn-cs"/>
              </a:rPr>
              <a:t>像</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Java</a:t>
            </a:r>
            <a:r>
              <a:rPr lang="zh-CN" altLang="zh-CN" sz="1200" kern="1200" dirty="0">
                <a:solidFill>
                  <a:schemeClr val="tx1"/>
                </a:solidFill>
                <a:effectLst/>
                <a:latin typeface="+mn-lt"/>
                <a:ea typeface="+mn-ea"/>
                <a:cs typeface="+mn-cs"/>
              </a:rPr>
              <a:t>这样的语言支持将单个过程中的所有声明作为一个组进行处理。这些声明可能分布在一个</a:t>
            </a:r>
            <a:r>
              <a:rPr lang="en-US" altLang="zh-CN" sz="1200" kern="1200" dirty="0">
                <a:solidFill>
                  <a:schemeClr val="tx1"/>
                </a:solidFill>
                <a:effectLst/>
                <a:latin typeface="+mn-lt"/>
                <a:ea typeface="+mn-ea"/>
                <a:cs typeface="+mn-cs"/>
              </a:rPr>
              <a:t>Java</a:t>
            </a:r>
            <a:r>
              <a:rPr lang="zh-CN" altLang="zh-CN" sz="1200" kern="1200" dirty="0">
                <a:solidFill>
                  <a:schemeClr val="tx1"/>
                </a:solidFill>
                <a:effectLst/>
                <a:latin typeface="+mn-lt"/>
                <a:ea typeface="+mn-ea"/>
                <a:cs typeface="+mn-cs"/>
              </a:rPr>
              <a:t>过程中，但是仍然能够在分析该过程时处理它们。因此，我们可以使用一个变量，比如</a:t>
            </a:r>
            <a:r>
              <a:rPr lang="en-US" altLang="zh-CN" sz="1200" kern="1200" dirty="0">
                <a:solidFill>
                  <a:schemeClr val="tx1"/>
                </a:solidFill>
                <a:effectLst/>
                <a:latin typeface="+mn-lt"/>
                <a:ea typeface="+mn-ea"/>
                <a:cs typeface="+mn-cs"/>
              </a:rPr>
              <a:t>offset</a:t>
            </a:r>
            <a:r>
              <a:rPr lang="zh-CN" altLang="zh-CN" sz="1200" kern="1200" dirty="0">
                <a:solidFill>
                  <a:schemeClr val="tx1"/>
                </a:solidFill>
                <a:effectLst/>
                <a:latin typeface="+mn-lt"/>
                <a:ea typeface="+mn-ea"/>
                <a:cs typeface="+mn-cs"/>
              </a:rPr>
              <a:t>，来跟踪下一个可用的相对地址。</a:t>
            </a:r>
          </a:p>
          <a:p>
            <a:pPr eaLnBrk="0" hangingPunct="0"/>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6-17</a:t>
            </a:r>
            <a:r>
              <a:rPr lang="zh-CN" altLang="zh-CN" sz="1200" kern="1200" dirty="0">
                <a:solidFill>
                  <a:schemeClr val="tx1"/>
                </a:solidFill>
                <a:effectLst/>
                <a:latin typeface="+mn-lt"/>
                <a:ea typeface="+mn-ea"/>
                <a:cs typeface="+mn-cs"/>
              </a:rPr>
              <a:t>中的翻译方案处理形如</a:t>
            </a:r>
            <a:r>
              <a:rPr lang="en-US" altLang="zh-CN" sz="1200" kern="1200" dirty="0">
                <a:solidFill>
                  <a:schemeClr val="tx1"/>
                </a:solidFill>
                <a:effectLst/>
                <a:latin typeface="+mn-lt"/>
                <a:ea typeface="+mn-ea"/>
                <a:cs typeface="+mn-cs"/>
              </a:rPr>
              <a:t>T id</a:t>
            </a:r>
            <a:r>
              <a:rPr lang="zh-CN" altLang="zh-CN" sz="1200" kern="1200" dirty="0">
                <a:solidFill>
                  <a:schemeClr val="tx1"/>
                </a:solidFill>
                <a:effectLst/>
                <a:latin typeface="+mn-lt"/>
                <a:ea typeface="+mn-ea"/>
                <a:cs typeface="+mn-cs"/>
              </a:rPr>
              <a:t>的声明的序列，其中的</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6-15</a:t>
            </a:r>
            <a:r>
              <a:rPr lang="zh-CN" altLang="zh-CN" sz="1200" kern="1200" dirty="0">
                <a:solidFill>
                  <a:schemeClr val="tx1"/>
                </a:solidFill>
                <a:effectLst/>
                <a:latin typeface="+mn-lt"/>
                <a:ea typeface="+mn-ea"/>
                <a:cs typeface="+mn-cs"/>
              </a:rPr>
              <a:t>所示产生</a:t>
            </a:r>
            <a:r>
              <a:rPr lang="zh-CN" altLang="en-US" sz="1200" kern="1200" dirty="0">
                <a:solidFill>
                  <a:schemeClr val="tx1"/>
                </a:solidFill>
                <a:effectLst/>
                <a:latin typeface="+mn-lt"/>
                <a:ea typeface="+mn-ea"/>
                <a:cs typeface="+mn-cs"/>
              </a:rPr>
              <a:t>一</a:t>
            </a:r>
            <a:r>
              <a:rPr lang="zh-CN" altLang="zh-CN" sz="1200" kern="1200" dirty="0">
                <a:solidFill>
                  <a:schemeClr val="tx1"/>
                </a:solidFill>
                <a:effectLst/>
                <a:latin typeface="+mn-lt"/>
                <a:ea typeface="+mn-ea"/>
                <a:cs typeface="+mn-cs"/>
              </a:rPr>
              <a:t>个类型。</a:t>
            </a:r>
          </a:p>
          <a:p>
            <a:pPr eaLnBrk="0" hangingPunct="0"/>
            <a:r>
              <a:rPr lang="zh-CN" altLang="zh-CN" sz="1200" kern="1200" dirty="0">
                <a:solidFill>
                  <a:schemeClr val="tx1"/>
                </a:solidFill>
                <a:effectLst/>
                <a:latin typeface="+mn-lt"/>
                <a:ea typeface="+mn-ea"/>
                <a:cs typeface="+mn-cs"/>
              </a:rPr>
              <a:t>在考虑第一个声明之前，</a:t>
            </a:r>
            <a:r>
              <a:rPr lang="en-US" altLang="zh-CN" sz="1200" kern="1200" dirty="0">
                <a:solidFill>
                  <a:schemeClr val="tx1"/>
                </a:solidFill>
                <a:effectLst/>
                <a:latin typeface="+mn-lt"/>
                <a:ea typeface="+mn-ea"/>
                <a:cs typeface="+mn-cs"/>
              </a:rPr>
              <a:t>offset</a:t>
            </a:r>
            <a:r>
              <a:rPr lang="zh-CN" altLang="zh-CN" sz="1200" kern="1200" dirty="0">
                <a:solidFill>
                  <a:schemeClr val="tx1"/>
                </a:solidFill>
                <a:effectLst/>
                <a:latin typeface="+mn-lt"/>
                <a:ea typeface="+mn-ea"/>
                <a:cs typeface="+mn-cs"/>
              </a:rPr>
              <a:t>被设置为</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。每处理一个变量</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时，</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被加入符号表，它的相对地</a:t>
            </a:r>
          </a:p>
          <a:p>
            <a:r>
              <a:rPr lang="zh-CN" altLang="zh-CN" sz="1200" kern="1200" dirty="0">
                <a:solidFill>
                  <a:schemeClr val="tx1"/>
                </a:solidFill>
                <a:effectLst/>
                <a:latin typeface="+mn-lt"/>
                <a:ea typeface="+mn-ea"/>
                <a:cs typeface="+mn-cs"/>
              </a:rPr>
              <a:t>址被设置为</a:t>
            </a:r>
            <a:r>
              <a:rPr lang="en-US" altLang="zh-CN" sz="1200" kern="1200" dirty="0">
                <a:solidFill>
                  <a:schemeClr val="tx1"/>
                </a:solidFill>
                <a:effectLst/>
                <a:latin typeface="+mn-lt"/>
                <a:ea typeface="+mn-ea"/>
                <a:cs typeface="+mn-cs"/>
              </a:rPr>
              <a:t>offset</a:t>
            </a:r>
            <a:r>
              <a:rPr lang="zh-CN" altLang="zh-CN" sz="1200" kern="1200" dirty="0">
                <a:solidFill>
                  <a:schemeClr val="tx1"/>
                </a:solidFill>
                <a:effectLst/>
                <a:latin typeface="+mn-lt"/>
                <a:ea typeface="+mn-ea"/>
                <a:cs typeface="+mn-cs"/>
              </a:rPr>
              <a:t>的当前值。随后，</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的类</a:t>
            </a:r>
            <a:r>
              <a:rPr lang="zh-CN" altLang="en-US" sz="1200" kern="1200" dirty="0">
                <a:solidFill>
                  <a:schemeClr val="tx1"/>
                </a:solidFill>
                <a:effectLst/>
                <a:latin typeface="+mn-lt"/>
                <a:ea typeface="+mn-ea"/>
                <a:cs typeface="+mn-cs"/>
              </a:rPr>
              <a:t>型</a:t>
            </a:r>
            <a:r>
              <a:rPr lang="zh-CN" altLang="zh-CN" sz="1200" kern="1200" dirty="0">
                <a:solidFill>
                  <a:schemeClr val="tx1"/>
                </a:solidFill>
                <a:effectLst/>
                <a:latin typeface="+mn-lt"/>
                <a:ea typeface="+mn-ea"/>
                <a:cs typeface="+mn-cs"/>
              </a:rPr>
              <a:t>的宽度被加到</a:t>
            </a:r>
            <a:r>
              <a:rPr lang="en-US" altLang="zh-CN" sz="1200" kern="1200" dirty="0">
                <a:solidFill>
                  <a:schemeClr val="tx1"/>
                </a:solidFill>
                <a:effectLst/>
                <a:latin typeface="+mn-lt"/>
                <a:ea typeface="+mn-ea"/>
                <a:cs typeface="+mn-cs"/>
              </a:rPr>
              <a:t>offset</a:t>
            </a:r>
            <a:r>
              <a:rPr lang="zh-CN" altLang="zh-CN" sz="1200" kern="1200" dirty="0">
                <a:solidFill>
                  <a:schemeClr val="tx1"/>
                </a:solidFill>
                <a:effectLst/>
                <a:latin typeface="+mn-lt"/>
                <a:ea typeface="+mn-ea"/>
                <a:cs typeface="+mn-cs"/>
              </a:rPr>
              <a:t>上。</a:t>
            </a:r>
            <a:endParaRPr lang="en-US" altLang="zh-CN" sz="1200" kern="1200" dirty="0">
              <a:solidFill>
                <a:schemeClr val="tx1"/>
              </a:solidFill>
              <a:effectLst/>
              <a:latin typeface="+mn-lt"/>
              <a:ea typeface="+mn-ea"/>
              <a:cs typeface="+mn-cs"/>
            </a:endParaRPr>
          </a:p>
          <a:p>
            <a:pPr eaLnBrk="0" hangingPunct="0"/>
            <a:r>
              <a:rPr lang="zh-CN" altLang="zh-CN" sz="1200" kern="1200" dirty="0">
                <a:solidFill>
                  <a:schemeClr val="tx1"/>
                </a:solidFill>
                <a:effectLst/>
                <a:latin typeface="+mn-lt"/>
                <a:ea typeface="+mn-ea"/>
                <a:cs typeface="+mn-cs"/>
              </a:rPr>
              <a:t>产生式</a:t>
            </a:r>
            <a:r>
              <a:rPr lang="en-US" altLang="zh-CN" sz="1200"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T id  ;D1</a:t>
            </a:r>
            <a:r>
              <a:rPr lang="zh-CN" altLang="zh-CN" sz="1200" kern="1200" dirty="0">
                <a:solidFill>
                  <a:schemeClr val="tx1"/>
                </a:solidFill>
                <a:effectLst/>
                <a:latin typeface="+mn-lt"/>
                <a:ea typeface="+mn-ea"/>
                <a:cs typeface="+mn-cs"/>
              </a:rPr>
              <a:t>中的语义动作首先执行</a:t>
            </a:r>
            <a:r>
              <a:rPr lang="en-US" altLang="zh-CN" sz="1200" kern="1200" dirty="0">
                <a:solidFill>
                  <a:schemeClr val="tx1"/>
                </a:solidFill>
                <a:effectLst/>
                <a:latin typeface="+mn-lt"/>
                <a:ea typeface="+mn-ea"/>
                <a:cs typeface="+mn-cs"/>
              </a:rPr>
              <a:t>top. put (id. lexeme, T. type, offset)</a:t>
            </a:r>
            <a:r>
              <a:rPr lang="zh-CN" altLang="zh-CN" sz="1200" kern="1200" dirty="0">
                <a:solidFill>
                  <a:schemeClr val="tx1"/>
                </a:solidFill>
                <a:effectLst/>
                <a:latin typeface="+mn-lt"/>
                <a:ea typeface="+mn-ea"/>
                <a:cs typeface="+mn-cs"/>
              </a:rPr>
              <a:t>，创建一个符号表条目。这里的</a:t>
            </a:r>
            <a:r>
              <a:rPr lang="en-US" altLang="zh-CN" sz="1200" kern="1200" dirty="0">
                <a:solidFill>
                  <a:schemeClr val="tx1"/>
                </a:solidFill>
                <a:effectLst/>
                <a:latin typeface="+mn-lt"/>
                <a:ea typeface="+mn-ea"/>
                <a:cs typeface="+mn-cs"/>
              </a:rPr>
              <a:t>top</a:t>
            </a:r>
            <a:r>
              <a:rPr lang="zh-CN" altLang="zh-CN" sz="1200" kern="1200" dirty="0">
                <a:solidFill>
                  <a:schemeClr val="tx1"/>
                </a:solidFill>
                <a:effectLst/>
                <a:latin typeface="+mn-lt"/>
                <a:ea typeface="+mn-ea"/>
                <a:cs typeface="+mn-cs"/>
              </a:rPr>
              <a:t>指向当前的符号表。方法</a:t>
            </a:r>
            <a:r>
              <a:rPr lang="en-US" altLang="zh-CN" sz="1200" kern="1200" dirty="0">
                <a:solidFill>
                  <a:schemeClr val="tx1"/>
                </a:solidFill>
                <a:effectLst/>
                <a:latin typeface="+mn-lt"/>
                <a:ea typeface="+mn-ea"/>
                <a:cs typeface="+mn-cs"/>
              </a:rPr>
              <a:t>top. put</a:t>
            </a:r>
            <a:r>
              <a:rPr lang="zh-CN" altLang="zh-CN" sz="1200" kern="1200" dirty="0">
                <a:solidFill>
                  <a:schemeClr val="tx1"/>
                </a:solidFill>
                <a:effectLst/>
                <a:latin typeface="+mn-lt"/>
                <a:ea typeface="+mn-ea"/>
                <a:cs typeface="+mn-cs"/>
              </a:rPr>
              <a:t>为</a:t>
            </a:r>
            <a:r>
              <a:rPr lang="en-US" altLang="zh-CN" sz="1200" kern="1200" dirty="0">
                <a:solidFill>
                  <a:schemeClr val="tx1"/>
                </a:solidFill>
                <a:effectLst/>
                <a:latin typeface="+mn-lt"/>
                <a:ea typeface="+mn-ea"/>
                <a:cs typeface="+mn-cs"/>
              </a:rPr>
              <a:t>id. lexeme</a:t>
            </a:r>
            <a:r>
              <a:rPr lang="zh-CN" altLang="zh-CN" sz="1200" kern="1200" dirty="0">
                <a:solidFill>
                  <a:schemeClr val="tx1"/>
                </a:solidFill>
                <a:effectLst/>
                <a:latin typeface="+mn-lt"/>
                <a:ea typeface="+mn-ea"/>
                <a:cs typeface="+mn-cs"/>
              </a:rPr>
              <a:t>创建一个符号表条目，该条目的数据区中存放了类型</a:t>
            </a:r>
            <a:r>
              <a:rPr lang="en-US" altLang="zh-CN" sz="1200" kern="1200" dirty="0">
                <a:solidFill>
                  <a:schemeClr val="tx1"/>
                </a:solidFill>
                <a:effectLst/>
                <a:latin typeface="+mn-lt"/>
                <a:ea typeface="+mn-ea"/>
                <a:cs typeface="+mn-cs"/>
              </a:rPr>
              <a:t>T. type</a:t>
            </a:r>
            <a:r>
              <a:rPr lang="zh-CN" altLang="zh-CN" sz="1200" kern="1200" dirty="0">
                <a:solidFill>
                  <a:schemeClr val="tx1"/>
                </a:solidFill>
                <a:effectLst/>
                <a:latin typeface="+mn-lt"/>
                <a:ea typeface="+mn-ea"/>
                <a:cs typeface="+mn-cs"/>
              </a:rPr>
              <a:t>和相对地址</a:t>
            </a:r>
            <a:r>
              <a:rPr lang="en-US" altLang="zh-CN" sz="1200" kern="1200" dirty="0">
                <a:solidFill>
                  <a:schemeClr val="tx1"/>
                </a:solidFill>
                <a:effectLst/>
                <a:latin typeface="+mn-lt"/>
                <a:ea typeface="+mn-ea"/>
                <a:cs typeface="+mn-cs"/>
              </a:rPr>
              <a:t>offset</a:t>
            </a:r>
            <a:r>
              <a:rPr lang="zh-CN" altLang="zh-CN" sz="1200" kern="1200" dirty="0">
                <a:solidFill>
                  <a:schemeClr val="tx1"/>
                </a:solidFill>
                <a:effectLst/>
                <a:latin typeface="+mn-lt"/>
                <a:ea typeface="+mn-ea"/>
                <a:cs typeface="+mn-cs"/>
              </a:rPr>
              <a:t>。</a:t>
            </a:r>
          </a:p>
          <a:p>
            <a:pPr eaLnBrk="0" hangingPunct="0"/>
            <a:r>
              <a:rPr lang="zh-CN" altLang="zh-CN" sz="1200" kern="1200" dirty="0">
                <a:solidFill>
                  <a:schemeClr val="tx1"/>
                </a:solidFill>
                <a:effectLst/>
                <a:latin typeface="+mn-lt"/>
                <a:ea typeface="+mn-ea"/>
                <a:cs typeface="+mn-cs"/>
              </a:rPr>
              <a:t>如果我们把第一个产生式写在同一行中：</a:t>
            </a:r>
          </a:p>
          <a:p>
            <a:pPr eaLnBrk="0" hangingPunct="0"/>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{offset = 0 ; } D	(6. 1)</a:t>
            </a:r>
            <a:endParaRPr lang="zh-CN" altLang="zh-CN" sz="1200" kern="1200" dirty="0">
              <a:solidFill>
                <a:schemeClr val="tx1"/>
              </a:solidFill>
              <a:effectLst/>
              <a:latin typeface="+mn-lt"/>
              <a:ea typeface="+mn-ea"/>
              <a:cs typeface="+mn-cs"/>
            </a:endParaRPr>
          </a:p>
          <a:p>
            <a:pPr eaLnBrk="0" hangingPunct="0"/>
            <a:r>
              <a:rPr lang="zh-CN" altLang="zh-CN" sz="1200" kern="1200" dirty="0">
                <a:solidFill>
                  <a:schemeClr val="tx1"/>
                </a:solidFill>
                <a:effectLst/>
                <a:latin typeface="+mn-lt"/>
                <a:ea typeface="+mn-ea"/>
                <a:cs typeface="+mn-cs"/>
              </a:rPr>
              <a:t>则图</a:t>
            </a:r>
            <a:r>
              <a:rPr lang="en-US" altLang="zh-CN" sz="1200" kern="1200" dirty="0">
                <a:solidFill>
                  <a:schemeClr val="tx1"/>
                </a:solidFill>
                <a:effectLst/>
                <a:latin typeface="+mn-lt"/>
                <a:ea typeface="+mn-ea"/>
                <a:cs typeface="+mn-cs"/>
              </a:rPr>
              <a:t>6-17</a:t>
            </a:r>
            <a:r>
              <a:rPr lang="zh-CN" altLang="zh-CN" sz="1200" kern="1200" dirty="0">
                <a:solidFill>
                  <a:schemeClr val="tx1"/>
                </a:solidFill>
                <a:effectLst/>
                <a:latin typeface="+mn-lt"/>
                <a:ea typeface="+mn-ea"/>
                <a:cs typeface="+mn-cs"/>
              </a:rPr>
              <a:t>中对</a:t>
            </a:r>
            <a:r>
              <a:rPr lang="en-US" altLang="zh-CN" sz="1200" kern="1200" dirty="0">
                <a:solidFill>
                  <a:schemeClr val="tx1"/>
                </a:solidFill>
                <a:effectLst/>
                <a:latin typeface="+mn-lt"/>
                <a:ea typeface="+mn-ea"/>
                <a:cs typeface="+mn-cs"/>
              </a:rPr>
              <a:t>offset</a:t>
            </a:r>
            <a:r>
              <a:rPr lang="zh-CN" altLang="zh-CN" sz="1200" kern="1200" dirty="0">
                <a:solidFill>
                  <a:schemeClr val="tx1"/>
                </a:solidFill>
                <a:effectLst/>
                <a:latin typeface="+mn-lt"/>
                <a:ea typeface="+mn-ea"/>
                <a:cs typeface="+mn-cs"/>
              </a:rPr>
              <a:t>的初始化处理就变得更容易理解。生成ε的非终结符号称为标记非终结符号，其作用是重写产生式，使得所有的语义动作都出现在产生式右部的尾端，具体方法见</a:t>
            </a:r>
            <a:r>
              <a:rPr lang="en-US" altLang="zh-CN" sz="1200" kern="1200" dirty="0">
                <a:solidFill>
                  <a:schemeClr val="tx1"/>
                </a:solidFill>
                <a:effectLst/>
                <a:latin typeface="+mn-lt"/>
                <a:ea typeface="+mn-ea"/>
                <a:cs typeface="+mn-cs"/>
              </a:rPr>
              <a:t>5.5.4</a:t>
            </a:r>
            <a:r>
              <a:rPr lang="zh-CN" altLang="zh-CN" sz="1200" kern="1200" dirty="0">
                <a:solidFill>
                  <a:schemeClr val="tx1"/>
                </a:solidFill>
                <a:effectLst/>
                <a:latin typeface="+mn-lt"/>
                <a:ea typeface="+mn-ea"/>
                <a:cs typeface="+mn-cs"/>
              </a:rPr>
              <a:t>节。</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48</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a:t>
            </a:r>
            <a:r>
              <a:rPr lang="en-US" altLang="zh-CN" dirty="0"/>
              <a:t>6-17</a:t>
            </a:r>
            <a:r>
              <a:rPr lang="zh-CN" altLang="en-US" dirty="0"/>
              <a:t>中对声明的翻译方案还可以用于处理记录和类中的字段。要把记录类型加入到图</a:t>
            </a:r>
            <a:r>
              <a:rPr lang="en-US" altLang="zh-CN" dirty="0"/>
              <a:t>6-15</a:t>
            </a:r>
            <a:r>
              <a:rPr lang="zh-CN" altLang="en-US" dirty="0"/>
              <a:t>所示的文法中，只需要加上下面的产生式：</a:t>
            </a:r>
          </a:p>
          <a:p>
            <a:r>
              <a:rPr lang="en-US" altLang="zh-CN" dirty="0" err="1"/>
              <a:t>T→record</a:t>
            </a:r>
            <a:r>
              <a:rPr lang="en-US" altLang="zh-CN" dirty="0"/>
              <a:t>'{'D'}'</a:t>
            </a:r>
          </a:p>
          <a:p>
            <a:r>
              <a:rPr lang="zh-CN" altLang="en-US" dirty="0"/>
              <a:t>这个记录类型中的字段由</a:t>
            </a:r>
            <a:r>
              <a:rPr lang="en-US" altLang="zh-CN" dirty="0"/>
              <a:t>D</a:t>
            </a:r>
            <a:r>
              <a:rPr lang="zh-CN" altLang="en-US" dirty="0"/>
              <a:t>生成的声明序列描述。图</a:t>
            </a:r>
            <a:r>
              <a:rPr lang="en-US" altLang="zh-CN" dirty="0"/>
              <a:t>6-17</a:t>
            </a:r>
            <a:r>
              <a:rPr lang="zh-CN" altLang="en-US" dirty="0"/>
              <a:t>中的方法可以用来确定这些字段的类型和相对地址，当然我们需要小心地处理下面两件事：</a:t>
            </a:r>
          </a:p>
          <a:p>
            <a:r>
              <a:rPr lang="en-US" altLang="zh-CN" dirty="0"/>
              <a:t>•</a:t>
            </a:r>
            <a:r>
              <a:rPr lang="zh-CN" altLang="en-US" dirty="0"/>
              <a:t>一个记录中各个字段的名字必须是互不相同的。也就是说，在由</a:t>
            </a:r>
            <a:r>
              <a:rPr lang="en-US" altLang="zh-CN" dirty="0"/>
              <a:t>D</a:t>
            </a:r>
            <a:r>
              <a:rPr lang="zh-CN" altLang="en-US" dirty="0"/>
              <a:t>生成的声明中，同一个名字最多出现一次。</a:t>
            </a:r>
          </a:p>
          <a:p>
            <a:r>
              <a:rPr lang="en-US" altLang="zh-CN" dirty="0"/>
              <a:t>•</a:t>
            </a:r>
            <a:r>
              <a:rPr lang="zh-CN" altLang="en-US" dirty="0"/>
              <a:t>字段名的偏移量，或者说相对地址，是相对于该记录的数据区字段而言的。</a:t>
            </a:r>
            <a:endParaRPr lang="en-US" altLang="zh-CN" dirty="0"/>
          </a:p>
          <a:p>
            <a:pPr eaLnBrk="0" hangingPunct="0"/>
            <a:r>
              <a:rPr lang="zh-CN" altLang="zh-CN" sz="1200" kern="1200" dirty="0">
                <a:solidFill>
                  <a:schemeClr val="tx1"/>
                </a:solidFill>
                <a:effectLst/>
                <a:latin typeface="+mn-lt"/>
                <a:ea typeface="+mn-ea"/>
                <a:cs typeface="+mn-cs"/>
              </a:rPr>
              <a:t>为方便起见，记录类型将使用一个专用的符号表，对它们的各个字段的类型和相对地址进行编码。</a:t>
            </a:r>
            <a:endParaRPr lang="en-US" altLang="zh-CN" sz="1200" kern="1200" dirty="0">
              <a:solidFill>
                <a:schemeClr val="tx1"/>
              </a:solidFill>
              <a:effectLst/>
              <a:latin typeface="+mn-lt"/>
              <a:ea typeface="+mn-ea"/>
              <a:cs typeface="+mn-cs"/>
            </a:endParaRPr>
          </a:p>
          <a:p>
            <a:pPr eaLnBrk="0" hangingPunct="0"/>
            <a:r>
              <a:rPr lang="zh-CN" altLang="zh-CN" sz="1200" kern="1200" dirty="0">
                <a:solidFill>
                  <a:schemeClr val="tx1"/>
                </a:solidFill>
                <a:effectLst/>
                <a:latin typeface="+mn-lt"/>
                <a:ea typeface="+mn-ea"/>
                <a:cs typeface="+mn-cs"/>
              </a:rPr>
              <a:t>记录类型形如</a:t>
            </a:r>
            <a:r>
              <a:rPr lang="en-US" altLang="zh-CN" sz="1200" kern="1200" dirty="0">
                <a:solidFill>
                  <a:schemeClr val="tx1"/>
                </a:solidFill>
                <a:effectLst/>
                <a:latin typeface="+mn-lt"/>
                <a:ea typeface="+mn-ea"/>
                <a:cs typeface="+mn-cs"/>
              </a:rPr>
              <a:t>record(t)</a:t>
            </a:r>
            <a:r>
              <a:rPr lang="zh-CN" altLang="zh-CN" sz="1200" kern="1200" dirty="0">
                <a:solidFill>
                  <a:schemeClr val="tx1"/>
                </a:solidFill>
                <a:effectLst/>
                <a:latin typeface="+mn-lt"/>
                <a:ea typeface="+mn-ea"/>
                <a:cs typeface="+mn-cs"/>
              </a:rPr>
              <a:t>，其中</a:t>
            </a:r>
            <a:r>
              <a:rPr lang="en-US" altLang="zh-CN" sz="1200" kern="1200" dirty="0">
                <a:solidFill>
                  <a:schemeClr val="tx1"/>
                </a:solidFill>
                <a:effectLst/>
                <a:latin typeface="+mn-lt"/>
                <a:ea typeface="+mn-ea"/>
                <a:cs typeface="+mn-cs"/>
              </a:rPr>
              <a:t>record</a:t>
            </a:r>
            <a:r>
              <a:rPr lang="zh-CN" altLang="zh-CN" sz="1200" kern="1200" dirty="0">
                <a:solidFill>
                  <a:schemeClr val="tx1"/>
                </a:solidFill>
                <a:effectLst/>
                <a:latin typeface="+mn-lt"/>
                <a:ea typeface="+mn-ea"/>
                <a:cs typeface="+mn-cs"/>
              </a:rPr>
              <a:t>是类型构造算子，</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是一个符号表对象，它保存了有关该记录类型的各个字段的信息。</a:t>
            </a:r>
          </a:p>
          <a:p>
            <a:endParaRPr lang="zh-CN" altLang="en-US" dirty="0"/>
          </a:p>
          <a:p>
            <a:endParaRPr lang="zh-CN" altLang="en-US" dirty="0"/>
          </a:p>
          <a:p>
            <a:r>
              <a:rPr lang="zh-CN" altLang="en-US" dirty="0"/>
              <a:t>记录类型的形式为 𝑟𝑒𝑐𝑜𝑟𝑑(𝑡)</a:t>
            </a:r>
          </a:p>
          <a:p>
            <a:r>
              <a:rPr lang="zh-CN" altLang="en-US" dirty="0"/>
              <a:t>𝑟𝑒𝑐𝑜𝑟𝑑 是类型构造函数</a:t>
            </a:r>
          </a:p>
          <a:p>
            <a:r>
              <a:rPr lang="zh-CN" altLang="en-US" dirty="0"/>
              <a:t>𝑡是一个符号表对象，包含该记录类型字段的信息</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49</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为了使翻译方案更加具体，图</a:t>
            </a:r>
            <a:r>
              <a:rPr lang="en-US" altLang="zh-CN" dirty="0"/>
              <a:t>6-18</a:t>
            </a:r>
            <a:r>
              <a:rPr lang="zh-CN" altLang="en-US" dirty="0"/>
              <a:t>中的动作给出了某个实现的伪代码。</a:t>
            </a:r>
            <a:endParaRPr lang="en-US" altLang="zh-CN" dirty="0"/>
          </a:p>
          <a:p>
            <a:r>
              <a:rPr lang="zh-CN" altLang="en-US" dirty="0"/>
              <a:t>令</a:t>
            </a:r>
            <a:r>
              <a:rPr lang="en-US" altLang="zh-CN" dirty="0"/>
              <a:t>Env</a:t>
            </a:r>
            <a:r>
              <a:rPr lang="zh-CN" altLang="en-US" dirty="0"/>
              <a:t>类实现符号表。</a:t>
            </a:r>
            <a:endParaRPr lang="en-US" altLang="zh-CN" dirty="0"/>
          </a:p>
          <a:p>
            <a:r>
              <a:rPr lang="zh-CN" altLang="en-US" dirty="0"/>
              <a:t>对</a:t>
            </a:r>
            <a:r>
              <a:rPr lang="en-US" altLang="zh-CN" dirty="0"/>
              <a:t>Env. push(top)</a:t>
            </a:r>
            <a:r>
              <a:rPr lang="zh-CN" altLang="en-US" dirty="0"/>
              <a:t>的调用将</a:t>
            </a:r>
            <a:r>
              <a:rPr lang="en-US" altLang="zh-CN" dirty="0"/>
              <a:t>top</a:t>
            </a:r>
            <a:r>
              <a:rPr lang="zh-CN" altLang="en-US" dirty="0"/>
              <a:t>所指的当前符号表压入一个栈中。然后，变量</a:t>
            </a:r>
            <a:r>
              <a:rPr lang="en-US" altLang="zh-CN" dirty="0"/>
              <a:t>top</a:t>
            </a:r>
            <a:r>
              <a:rPr lang="zh-CN" altLang="en-US" dirty="0"/>
              <a:t>被设置为指向一个新的符号表。类似的，</a:t>
            </a:r>
            <a:r>
              <a:rPr lang="en-US" altLang="zh-CN" dirty="0"/>
              <a:t>offset</a:t>
            </a:r>
            <a:r>
              <a:rPr lang="zh-CN" altLang="en-US" dirty="0"/>
              <a:t>被推入名为</a:t>
            </a:r>
            <a:r>
              <a:rPr lang="en-US" altLang="zh-CN" dirty="0"/>
              <a:t>Stack</a:t>
            </a:r>
            <a:r>
              <a:rPr lang="zh-CN" altLang="en-US" dirty="0"/>
              <a:t>的栈中，</a:t>
            </a:r>
            <a:r>
              <a:rPr lang="en-US" altLang="zh-CN" dirty="0"/>
              <a:t>offset</a:t>
            </a:r>
            <a:r>
              <a:rPr lang="zh-CN" altLang="en-US" dirty="0"/>
              <a:t>变量被重置为</a:t>
            </a:r>
            <a:r>
              <a:rPr lang="en-US" altLang="zh-CN" dirty="0"/>
              <a:t>0</a:t>
            </a:r>
            <a:r>
              <a:rPr lang="zh-CN" altLang="en-US" dirty="0"/>
              <a:t>。</a:t>
            </a:r>
          </a:p>
          <a:p>
            <a:r>
              <a:rPr lang="zh-CN" altLang="en-US" dirty="0"/>
              <a:t>在</a:t>
            </a:r>
            <a:r>
              <a:rPr lang="en-US" altLang="zh-CN" dirty="0"/>
              <a:t>D</a:t>
            </a:r>
            <a:r>
              <a:rPr lang="zh-CN" altLang="en-US" dirty="0"/>
              <a:t>中的声明被翻译之后，符号表</a:t>
            </a:r>
            <a:r>
              <a:rPr lang="en-US" altLang="zh-CN" dirty="0"/>
              <a:t>top</a:t>
            </a:r>
            <a:r>
              <a:rPr lang="zh-CN" altLang="en-US" dirty="0"/>
              <a:t>保存了这个记录中所有字段的类型和相对地址。而且，</a:t>
            </a:r>
            <a:r>
              <a:rPr lang="en-US" altLang="zh-CN" dirty="0"/>
              <a:t>offset</a:t>
            </a:r>
            <a:r>
              <a:rPr lang="zh-CN" altLang="en-US" dirty="0"/>
              <a:t>还给出了存放所有字段所需的存储空间。第二个动作将</a:t>
            </a:r>
            <a:r>
              <a:rPr lang="en-US" altLang="zh-CN" dirty="0"/>
              <a:t>T. type</a:t>
            </a:r>
            <a:r>
              <a:rPr lang="zh-CN" altLang="en-US" dirty="0"/>
              <a:t>设为</a:t>
            </a:r>
            <a:r>
              <a:rPr lang="en-US" altLang="zh-CN" dirty="0"/>
              <a:t>record (top)</a:t>
            </a:r>
            <a:r>
              <a:rPr lang="zh-CN" altLang="en-US" dirty="0"/>
              <a:t>，并将</a:t>
            </a:r>
            <a:r>
              <a:rPr lang="en-US" altLang="zh-CN" dirty="0"/>
              <a:t>T. width</a:t>
            </a:r>
            <a:r>
              <a:rPr lang="zh-CN" altLang="en-US" dirty="0"/>
              <a:t>设为</a:t>
            </a:r>
            <a:r>
              <a:rPr lang="en-US" altLang="zh-CN" dirty="0"/>
              <a:t>offset</a:t>
            </a:r>
            <a:r>
              <a:rPr lang="zh-CN" altLang="en-US" dirty="0"/>
              <a:t>。然后，变量</a:t>
            </a:r>
            <a:r>
              <a:rPr lang="en-US" altLang="zh-CN" dirty="0"/>
              <a:t>top</a:t>
            </a:r>
            <a:r>
              <a:rPr lang="zh-CN" altLang="en-US" dirty="0"/>
              <a:t>和</a:t>
            </a:r>
            <a:r>
              <a:rPr lang="en-US" altLang="zh-CN" dirty="0"/>
              <a:t>offset</a:t>
            </a:r>
            <a:r>
              <a:rPr lang="zh-CN" altLang="en-US" dirty="0"/>
              <a:t>将被恢复为原先被压入栈中的值，以完成这个记录类型的翻译。</a:t>
            </a:r>
          </a:p>
          <a:p>
            <a:r>
              <a:rPr lang="zh-CN" altLang="en-US" dirty="0"/>
              <a:t>有关记录类型存储方式的讨论还可以被推广到类，因为我们无需为类中的方法保留存储空间。</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50</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本章剩下的部分将介绍在翻译表达式和语句时出现的问题。在本节中，我们首先考虑从表达式到三地址代码的翻译。</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51</a:t>
            </a:fld>
            <a:endParaRPr lang="zh-CN" altLang="en-US"/>
          </a:p>
        </p:txBody>
      </p:sp>
    </p:spTree>
    <p:extLst>
      <p:ext uri="{BB962C8B-B14F-4D97-AF65-F5344CB8AC3E}">
        <p14:creationId xmlns:p14="http://schemas.microsoft.com/office/powerpoint/2010/main" val="176542243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一个带有多个运算符的表达式（比如</a:t>
            </a:r>
            <a:r>
              <a:rPr lang="en-US" altLang="zh-CN" dirty="0" err="1"/>
              <a:t>a+b</a:t>
            </a:r>
            <a:r>
              <a:rPr lang="en-US" altLang="zh-CN" dirty="0"/>
              <a:t>*c</a:t>
            </a:r>
            <a:r>
              <a:rPr lang="zh-CN" altLang="en-US" dirty="0"/>
              <a:t>）将被翻译成为每条指令最多包含一个运算符的指令序列。</a:t>
            </a:r>
            <a:endParaRPr lang="en-US" altLang="zh-CN" dirty="0"/>
          </a:p>
          <a:p>
            <a:r>
              <a:rPr lang="zh-CN" altLang="en-US" dirty="0"/>
              <a:t>一个数组引用</a:t>
            </a:r>
            <a:r>
              <a:rPr lang="en-US" altLang="zh-CN" dirty="0"/>
              <a:t>A[</a:t>
            </a:r>
            <a:r>
              <a:rPr lang="en-US" altLang="zh-CN" dirty="0" err="1"/>
              <a:t>i</a:t>
            </a:r>
            <a:r>
              <a:rPr lang="en-US" altLang="zh-CN" dirty="0"/>
              <a:t>] [j]</a:t>
            </a:r>
            <a:r>
              <a:rPr lang="zh-CN" altLang="en-US" dirty="0"/>
              <a:t>将被扩展成一个计算该引用的地址的三地址指令序列。我们将在</a:t>
            </a:r>
            <a:r>
              <a:rPr lang="en-US" altLang="zh-CN" dirty="0"/>
              <a:t>6.5</a:t>
            </a:r>
            <a:r>
              <a:rPr lang="zh-CN" altLang="en-US" dirty="0"/>
              <a:t>节中考虑表达式的类型检查，并在</a:t>
            </a:r>
            <a:r>
              <a:rPr lang="en-US" altLang="zh-CN" dirty="0"/>
              <a:t>6.6</a:t>
            </a:r>
            <a:r>
              <a:rPr lang="zh-CN" altLang="en-US" dirty="0"/>
              <a:t>节中介绍如何使用布尔表达式来处理程序的控制流。</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52</a:t>
            </a:fld>
            <a:endParaRPr lang="zh-CN" altLang="en-US"/>
          </a:p>
        </p:txBody>
      </p:sp>
    </p:spTree>
    <p:extLst>
      <p:ext uri="{BB962C8B-B14F-4D97-AF65-F5344CB8AC3E}">
        <p14:creationId xmlns:p14="http://schemas.microsoft.com/office/powerpoint/2010/main" val="237151727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6-19</a:t>
            </a:r>
            <a:r>
              <a:rPr lang="zh-CN" altLang="zh-CN" sz="1200" kern="1200" dirty="0">
                <a:solidFill>
                  <a:schemeClr val="tx1"/>
                </a:solidFill>
                <a:effectLst/>
                <a:latin typeface="+mn-lt"/>
                <a:ea typeface="+mn-ea"/>
                <a:cs typeface="+mn-cs"/>
              </a:rPr>
              <a:t>中的语法制导定义使用</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的属性</a:t>
            </a:r>
            <a:r>
              <a:rPr lang="en-US" altLang="zh-CN" sz="1200" kern="1200" dirty="0">
                <a:solidFill>
                  <a:schemeClr val="tx1"/>
                </a:solidFill>
                <a:effectLst/>
                <a:latin typeface="+mn-lt"/>
                <a:ea typeface="+mn-ea"/>
                <a:cs typeface="+mn-cs"/>
              </a:rPr>
              <a:t>code</a:t>
            </a:r>
            <a:r>
              <a:rPr lang="zh-CN" altLang="zh-CN" sz="1200" kern="1200" dirty="0">
                <a:solidFill>
                  <a:schemeClr val="tx1"/>
                </a:solidFill>
                <a:effectLst/>
                <a:latin typeface="+mn-lt"/>
                <a:ea typeface="+mn-ea"/>
                <a:cs typeface="+mn-cs"/>
              </a:rPr>
              <a:t>以及表达式</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的属性</a:t>
            </a:r>
            <a:r>
              <a:rPr lang="en-US" altLang="zh-CN" sz="1200" kern="1200" dirty="0" err="1">
                <a:solidFill>
                  <a:schemeClr val="tx1"/>
                </a:solidFill>
                <a:effectLst/>
                <a:latin typeface="+mn-lt"/>
                <a:ea typeface="+mn-ea"/>
                <a:cs typeface="+mn-cs"/>
              </a:rPr>
              <a:t>addr</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code,</a:t>
            </a:r>
            <a:r>
              <a:rPr lang="zh-CN" altLang="zh-CN" sz="1200" kern="1200" dirty="0">
                <a:solidFill>
                  <a:schemeClr val="tx1"/>
                </a:solidFill>
                <a:effectLst/>
                <a:latin typeface="+mn-lt"/>
                <a:ea typeface="+mn-ea"/>
                <a:cs typeface="+mn-cs"/>
              </a:rPr>
              <a:t>为一个赋值语句</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生成三地址代码。</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属性</a:t>
            </a:r>
            <a:r>
              <a:rPr lang="en-US" altLang="zh-CN" sz="1200" kern="1200" dirty="0">
                <a:solidFill>
                  <a:schemeClr val="tx1"/>
                </a:solidFill>
                <a:effectLst/>
                <a:latin typeface="+mn-lt"/>
                <a:ea typeface="+mn-ea"/>
                <a:cs typeface="+mn-cs"/>
              </a:rPr>
              <a:t>S. code</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E. code</a:t>
            </a:r>
            <a:r>
              <a:rPr lang="zh-CN" altLang="zh-CN" sz="1200" kern="1200" dirty="0">
                <a:solidFill>
                  <a:schemeClr val="tx1"/>
                </a:solidFill>
                <a:effectLst/>
                <a:latin typeface="+mn-lt"/>
                <a:ea typeface="+mn-ea"/>
                <a:cs typeface="+mn-cs"/>
              </a:rPr>
              <a:t>分别表示</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对应的三地址代码。</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属性</a:t>
            </a:r>
            <a:r>
              <a:rPr lang="en-US" altLang="zh-CN" sz="1200" kern="1200" dirty="0">
                <a:solidFill>
                  <a:schemeClr val="tx1"/>
                </a:solidFill>
                <a:effectLst/>
                <a:latin typeface="+mn-lt"/>
                <a:ea typeface="+mn-ea"/>
                <a:cs typeface="+mn-cs"/>
              </a:rPr>
              <a:t>E. </a:t>
            </a:r>
            <a:r>
              <a:rPr lang="en-US" altLang="zh-CN" sz="1200" kern="1200" dirty="0" err="1">
                <a:solidFill>
                  <a:schemeClr val="tx1"/>
                </a:solidFill>
                <a:effectLst/>
                <a:latin typeface="+mn-lt"/>
                <a:ea typeface="+mn-ea"/>
                <a:cs typeface="+mn-cs"/>
              </a:rPr>
              <a:t>addr</a:t>
            </a:r>
            <a:r>
              <a:rPr lang="zh-CN" altLang="zh-CN" sz="1200" kern="1200" dirty="0">
                <a:solidFill>
                  <a:schemeClr val="tx1"/>
                </a:solidFill>
                <a:effectLst/>
                <a:latin typeface="+mn-lt"/>
                <a:ea typeface="+mn-ea"/>
                <a:cs typeface="+mn-cs"/>
              </a:rPr>
              <a:t>则表示存放</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的值的地址。回忆一下</a:t>
            </a:r>
            <a:r>
              <a:rPr lang="en-US" altLang="zh-CN" sz="1200" kern="1200" dirty="0">
                <a:solidFill>
                  <a:schemeClr val="tx1"/>
                </a:solidFill>
                <a:effectLst/>
                <a:latin typeface="+mn-lt"/>
                <a:ea typeface="+mn-ea"/>
                <a:cs typeface="+mn-cs"/>
              </a:rPr>
              <a:t>6. 2. 1</a:t>
            </a:r>
            <a:r>
              <a:rPr lang="zh-CN" altLang="zh-CN" sz="1200" kern="1200" dirty="0">
                <a:solidFill>
                  <a:schemeClr val="tx1"/>
                </a:solidFill>
                <a:effectLst/>
                <a:latin typeface="+mn-lt"/>
                <a:ea typeface="+mn-ea"/>
                <a:cs typeface="+mn-cs"/>
              </a:rPr>
              <a:t>节，一个地址可以是变量名字、常量或编译器产生的临时量。</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53</a:t>
            </a:fld>
            <a:endParaRPr lang="zh-CN" altLang="en-US"/>
          </a:p>
        </p:txBody>
      </p:sp>
    </p:spTree>
    <p:extLst>
      <p:ext uri="{BB962C8B-B14F-4D97-AF65-F5344CB8AC3E}">
        <p14:creationId xmlns:p14="http://schemas.microsoft.com/office/powerpoint/2010/main" val="161367144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考虑图</a:t>
            </a:r>
            <a:r>
              <a:rPr lang="en-US" altLang="zh-CN" sz="1200" kern="1200" dirty="0">
                <a:solidFill>
                  <a:schemeClr val="tx1"/>
                </a:solidFill>
                <a:effectLst/>
                <a:latin typeface="+mn-lt"/>
                <a:ea typeface="+mn-ea"/>
                <a:cs typeface="+mn-cs"/>
              </a:rPr>
              <a:t>6-19</a:t>
            </a:r>
            <a:r>
              <a:rPr lang="zh-CN" altLang="zh-CN" sz="1200" kern="1200" dirty="0">
                <a:solidFill>
                  <a:schemeClr val="tx1"/>
                </a:solidFill>
                <a:effectLst/>
                <a:latin typeface="+mn-lt"/>
                <a:ea typeface="+mn-ea"/>
                <a:cs typeface="+mn-cs"/>
              </a:rPr>
              <a:t>中语法制导定义的最后一个产生式</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id</a:t>
            </a:r>
            <a:r>
              <a:rPr lang="zh-CN" altLang="zh-CN" sz="1200" kern="1200" dirty="0">
                <a:solidFill>
                  <a:schemeClr val="tx1"/>
                </a:solidFill>
                <a:effectLst/>
                <a:latin typeface="+mn-lt"/>
                <a:ea typeface="+mn-ea"/>
                <a:cs typeface="+mn-cs"/>
              </a:rPr>
              <a:t>。若表达式只是一个标识符，比如说 </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那么</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本身就保存了这个表达式的值。这个产生式对应的语义规则把</a:t>
            </a:r>
            <a:r>
              <a:rPr lang="en-US" altLang="zh-CN" sz="1200" kern="1200" dirty="0">
                <a:solidFill>
                  <a:schemeClr val="tx1"/>
                </a:solidFill>
                <a:effectLst/>
                <a:latin typeface="+mn-lt"/>
                <a:ea typeface="+mn-ea"/>
                <a:cs typeface="+mn-cs"/>
              </a:rPr>
              <a:t>E. </a:t>
            </a:r>
            <a:r>
              <a:rPr lang="en-US" altLang="zh-CN" sz="1200" kern="1200" dirty="0" err="1">
                <a:solidFill>
                  <a:schemeClr val="tx1"/>
                </a:solidFill>
                <a:effectLst/>
                <a:latin typeface="+mn-lt"/>
                <a:ea typeface="+mn-ea"/>
                <a:cs typeface="+mn-cs"/>
              </a:rPr>
              <a:t>addr</a:t>
            </a:r>
            <a:r>
              <a:rPr lang="zh-CN" altLang="zh-CN" sz="1200" kern="1200" dirty="0">
                <a:solidFill>
                  <a:schemeClr val="tx1"/>
                </a:solidFill>
                <a:effectLst/>
                <a:latin typeface="+mn-lt"/>
                <a:ea typeface="+mn-ea"/>
                <a:cs typeface="+mn-cs"/>
              </a:rPr>
              <a:t>定义为指向该</a:t>
            </a:r>
            <a:r>
              <a:rPr lang="en-US" altLang="zh-CN" sz="1200" kern="1200" dirty="0">
                <a:solidFill>
                  <a:schemeClr val="tx1"/>
                </a:solidFill>
                <a:effectLst/>
                <a:latin typeface="+mn-lt"/>
                <a:ea typeface="+mn-ea"/>
                <a:cs typeface="+mn-cs"/>
              </a:rPr>
              <a:t>id</a:t>
            </a:r>
            <a:r>
              <a:rPr lang="zh-CN" altLang="zh-CN" sz="1200" kern="1200" dirty="0">
                <a:solidFill>
                  <a:schemeClr val="tx1"/>
                </a:solidFill>
                <a:effectLst/>
                <a:latin typeface="+mn-lt"/>
                <a:ea typeface="+mn-ea"/>
                <a:cs typeface="+mn-cs"/>
              </a:rPr>
              <a:t>的实例对应的符号表条目的指针。</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令</a:t>
            </a:r>
            <a:r>
              <a:rPr lang="en-US" altLang="zh-CN" sz="1200" kern="1200" dirty="0">
                <a:solidFill>
                  <a:schemeClr val="tx1"/>
                </a:solidFill>
                <a:effectLst/>
                <a:latin typeface="+mn-lt"/>
                <a:ea typeface="+mn-ea"/>
                <a:cs typeface="+mn-cs"/>
              </a:rPr>
              <a:t>top</a:t>
            </a:r>
            <a:r>
              <a:rPr lang="zh-CN" altLang="zh-CN" sz="1200" kern="1200" dirty="0">
                <a:solidFill>
                  <a:schemeClr val="tx1"/>
                </a:solidFill>
                <a:effectLst/>
                <a:latin typeface="+mn-lt"/>
                <a:ea typeface="+mn-ea"/>
                <a:cs typeface="+mn-cs"/>
              </a:rPr>
              <a:t>表示当前的符号表。当函数</a:t>
            </a:r>
            <a:r>
              <a:rPr lang="en-US" altLang="zh-CN" sz="1200" kern="1200" dirty="0">
                <a:solidFill>
                  <a:schemeClr val="tx1"/>
                </a:solidFill>
                <a:effectLst/>
                <a:latin typeface="+mn-lt"/>
                <a:ea typeface="+mn-ea"/>
                <a:cs typeface="+mn-cs"/>
              </a:rPr>
              <a:t>top. get</a:t>
            </a:r>
            <a:r>
              <a:rPr lang="zh-CN" altLang="zh-CN" sz="1200" kern="1200" dirty="0">
                <a:solidFill>
                  <a:schemeClr val="tx1"/>
                </a:solidFill>
                <a:effectLst/>
                <a:latin typeface="+mn-lt"/>
                <a:ea typeface="+mn-ea"/>
                <a:cs typeface="+mn-cs"/>
              </a:rPr>
              <a:t>被应用于</a:t>
            </a:r>
            <a:r>
              <a:rPr lang="en-US" altLang="zh-CN" sz="1200" kern="1200" dirty="0">
                <a:solidFill>
                  <a:schemeClr val="tx1"/>
                </a:solidFill>
                <a:effectLst/>
                <a:latin typeface="+mn-lt"/>
                <a:ea typeface="+mn-ea"/>
                <a:cs typeface="+mn-cs"/>
              </a:rPr>
              <a:t>id</a:t>
            </a:r>
            <a:r>
              <a:rPr lang="zh-CN" altLang="zh-CN" sz="1200" kern="1200" dirty="0">
                <a:solidFill>
                  <a:schemeClr val="tx1"/>
                </a:solidFill>
                <a:effectLst/>
                <a:latin typeface="+mn-lt"/>
                <a:ea typeface="+mn-ea"/>
                <a:cs typeface="+mn-cs"/>
              </a:rPr>
              <a:t>的这个实例的字符串表示</a:t>
            </a:r>
            <a:r>
              <a:rPr lang="en-US" altLang="zh-CN" sz="1200" kern="1200" dirty="0">
                <a:solidFill>
                  <a:schemeClr val="tx1"/>
                </a:solidFill>
                <a:effectLst/>
                <a:latin typeface="+mn-lt"/>
                <a:ea typeface="+mn-ea"/>
                <a:cs typeface="+mn-cs"/>
              </a:rPr>
              <a:t>id. lexeme</a:t>
            </a:r>
            <a:r>
              <a:rPr lang="zh-CN" altLang="zh-CN" sz="1200" kern="1200" dirty="0">
                <a:solidFill>
                  <a:schemeClr val="tx1"/>
                </a:solidFill>
                <a:effectLst/>
                <a:latin typeface="+mn-lt"/>
                <a:ea typeface="+mn-ea"/>
                <a:cs typeface="+mn-cs"/>
              </a:rPr>
              <a:t>时，它返回对应的符号表条目。</a:t>
            </a:r>
            <a:r>
              <a:rPr lang="en-US" altLang="zh-CN" sz="1200" kern="1200" dirty="0">
                <a:solidFill>
                  <a:schemeClr val="tx1"/>
                </a:solidFill>
                <a:effectLst/>
                <a:latin typeface="+mn-lt"/>
                <a:ea typeface="+mn-ea"/>
                <a:cs typeface="+mn-cs"/>
              </a:rPr>
              <a:t>E. code</a:t>
            </a:r>
            <a:r>
              <a:rPr lang="zh-CN" altLang="zh-CN" sz="1200" kern="1200" dirty="0">
                <a:solidFill>
                  <a:schemeClr val="tx1"/>
                </a:solidFill>
                <a:effectLst/>
                <a:latin typeface="+mn-lt"/>
                <a:ea typeface="+mn-ea"/>
                <a:cs typeface="+mn-cs"/>
              </a:rPr>
              <a:t>被设置为空串。</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当规则为</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E1)</a:t>
            </a:r>
            <a:r>
              <a:rPr lang="zh-CN" altLang="zh-CN" sz="1200" kern="1200" dirty="0">
                <a:solidFill>
                  <a:schemeClr val="tx1"/>
                </a:solidFill>
                <a:effectLst/>
                <a:latin typeface="+mn-lt"/>
                <a:ea typeface="+mn-ea"/>
                <a:cs typeface="+mn-cs"/>
              </a:rPr>
              <a:t>时，对</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的翻译与对子表达式</a:t>
            </a:r>
            <a:r>
              <a:rPr lang="en-US" altLang="zh-CN" sz="1200" kern="1200" dirty="0">
                <a:solidFill>
                  <a:schemeClr val="tx1"/>
                </a:solidFill>
                <a:effectLst/>
                <a:latin typeface="+mn-lt"/>
                <a:ea typeface="+mn-ea"/>
                <a:cs typeface="+mn-cs"/>
              </a:rPr>
              <a:t>E1</a:t>
            </a:r>
            <a:r>
              <a:rPr lang="zh-CN" altLang="zh-CN" sz="1200" kern="1200" dirty="0">
                <a:solidFill>
                  <a:schemeClr val="tx1"/>
                </a:solidFill>
                <a:effectLst/>
                <a:latin typeface="+mn-lt"/>
                <a:ea typeface="+mn-ea"/>
                <a:cs typeface="+mn-cs"/>
              </a:rPr>
              <a:t>的翻译相同。因此，</a:t>
            </a:r>
            <a:r>
              <a:rPr lang="en-US" altLang="zh-CN" sz="1200" kern="1200" dirty="0">
                <a:solidFill>
                  <a:schemeClr val="tx1"/>
                </a:solidFill>
                <a:effectLst/>
                <a:latin typeface="+mn-lt"/>
                <a:ea typeface="+mn-ea"/>
                <a:cs typeface="+mn-cs"/>
              </a:rPr>
              <a:t>E. </a:t>
            </a:r>
            <a:r>
              <a:rPr lang="en-US" altLang="zh-CN" sz="1200" kern="1200" dirty="0" err="1">
                <a:solidFill>
                  <a:schemeClr val="tx1"/>
                </a:solidFill>
                <a:effectLst/>
                <a:latin typeface="+mn-lt"/>
                <a:ea typeface="+mn-ea"/>
                <a:cs typeface="+mn-cs"/>
              </a:rPr>
              <a:t>addr</a:t>
            </a:r>
            <a:r>
              <a:rPr lang="zh-CN" altLang="zh-CN" sz="1200" kern="1200" dirty="0">
                <a:solidFill>
                  <a:schemeClr val="tx1"/>
                </a:solidFill>
                <a:effectLst/>
                <a:latin typeface="+mn-lt"/>
                <a:ea typeface="+mn-ea"/>
                <a:cs typeface="+mn-cs"/>
              </a:rPr>
              <a:t>等于 </a:t>
            </a:r>
            <a:r>
              <a:rPr lang="en-US" altLang="zh-CN" sz="1200" kern="1200" dirty="0">
                <a:solidFill>
                  <a:schemeClr val="tx1"/>
                </a:solidFill>
                <a:effectLst/>
                <a:latin typeface="+mn-lt"/>
                <a:ea typeface="+mn-ea"/>
                <a:cs typeface="+mn-cs"/>
              </a:rPr>
              <a:t>E1. </a:t>
            </a:r>
            <a:r>
              <a:rPr lang="en-US" altLang="zh-CN" sz="1200" kern="1200" dirty="0" err="1">
                <a:solidFill>
                  <a:schemeClr val="tx1"/>
                </a:solidFill>
                <a:effectLst/>
                <a:latin typeface="+mn-lt"/>
                <a:ea typeface="+mn-ea"/>
                <a:cs typeface="+mn-cs"/>
              </a:rPr>
              <a:t>addr</a:t>
            </a:r>
            <a:r>
              <a:rPr lang="en-US" altLang="zh-CN" sz="1200" kern="1200" dirty="0">
                <a:solidFill>
                  <a:schemeClr val="tx1"/>
                </a:solidFill>
                <a:effectLst/>
                <a:latin typeface="+mn-lt"/>
                <a:ea typeface="+mn-ea"/>
                <a:cs typeface="+mn-cs"/>
              </a:rPr>
              <a:t>, E. code</a:t>
            </a:r>
            <a:r>
              <a:rPr lang="zh-CN" altLang="zh-CN" sz="1200" kern="1200" dirty="0">
                <a:solidFill>
                  <a:schemeClr val="tx1"/>
                </a:solidFill>
                <a:effectLst/>
                <a:latin typeface="+mn-lt"/>
                <a:ea typeface="+mn-ea"/>
                <a:cs typeface="+mn-cs"/>
              </a:rPr>
              <a:t>等于</a:t>
            </a:r>
            <a:r>
              <a:rPr lang="en-US" altLang="zh-CN" sz="1200" kern="1200" dirty="0">
                <a:solidFill>
                  <a:schemeClr val="tx1"/>
                </a:solidFill>
                <a:effectLst/>
                <a:latin typeface="+mn-lt"/>
                <a:ea typeface="+mn-ea"/>
                <a:cs typeface="+mn-cs"/>
              </a:rPr>
              <a:t>E1. code</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6-19</a:t>
            </a:r>
            <a:r>
              <a:rPr lang="zh-CN" altLang="zh-CN" sz="1200" kern="1200" dirty="0">
                <a:solidFill>
                  <a:schemeClr val="tx1"/>
                </a:solidFill>
                <a:effectLst/>
                <a:latin typeface="+mn-lt"/>
                <a:ea typeface="+mn-ea"/>
                <a:cs typeface="+mn-cs"/>
              </a:rPr>
              <a:t>中的运算符＋和单目－是典型语言中的运算符的代表。</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E2</a:t>
            </a:r>
            <a:r>
              <a:rPr lang="zh-CN" altLang="zh-CN" sz="1200" kern="1200" dirty="0">
                <a:solidFill>
                  <a:schemeClr val="tx1"/>
                </a:solidFill>
                <a:effectLst/>
                <a:latin typeface="+mn-lt"/>
                <a:ea typeface="+mn-ea"/>
                <a:cs typeface="+mn-cs"/>
              </a:rPr>
              <a:t>的语义规则生成了根据</a:t>
            </a:r>
            <a:r>
              <a:rPr lang="en-US" altLang="zh-CN" sz="1200" kern="1200" dirty="0">
                <a:solidFill>
                  <a:schemeClr val="tx1"/>
                </a:solidFill>
                <a:effectLst/>
                <a:latin typeface="+mn-lt"/>
                <a:ea typeface="+mn-ea"/>
                <a:cs typeface="+mn-cs"/>
              </a:rPr>
              <a:t>E1</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E2</a:t>
            </a:r>
            <a:r>
              <a:rPr lang="zh-CN" altLang="zh-CN" sz="1200" kern="1200" dirty="0">
                <a:solidFill>
                  <a:schemeClr val="tx1"/>
                </a:solidFill>
                <a:effectLst/>
                <a:latin typeface="+mn-lt"/>
                <a:ea typeface="+mn-ea"/>
                <a:cs typeface="+mn-cs"/>
              </a:rPr>
              <a:t>的值计算</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的值的代码。计算得到的值存放在新生成的临时变量中。如果</a:t>
            </a:r>
            <a:r>
              <a:rPr lang="en-US" altLang="zh-CN" sz="1200" kern="1200" dirty="0">
                <a:solidFill>
                  <a:schemeClr val="tx1"/>
                </a:solidFill>
                <a:effectLst/>
                <a:latin typeface="+mn-lt"/>
                <a:ea typeface="+mn-ea"/>
                <a:cs typeface="+mn-cs"/>
              </a:rPr>
              <a:t>E1</a:t>
            </a:r>
            <a:r>
              <a:rPr lang="zh-CN" altLang="zh-CN" sz="1200" kern="1200" dirty="0">
                <a:solidFill>
                  <a:schemeClr val="tx1"/>
                </a:solidFill>
                <a:effectLst/>
                <a:latin typeface="+mn-lt"/>
                <a:ea typeface="+mn-ea"/>
                <a:cs typeface="+mn-cs"/>
              </a:rPr>
              <a:t>的值计算后被放入</a:t>
            </a:r>
            <a:r>
              <a:rPr lang="en-US" altLang="zh-CN" sz="1200" kern="1200" dirty="0">
                <a:solidFill>
                  <a:schemeClr val="tx1"/>
                </a:solidFill>
                <a:effectLst/>
                <a:latin typeface="+mn-lt"/>
                <a:ea typeface="+mn-ea"/>
                <a:cs typeface="+mn-cs"/>
              </a:rPr>
              <a:t>E1. addr,E2</a:t>
            </a:r>
            <a:r>
              <a:rPr lang="zh-CN" altLang="zh-CN" sz="1200" kern="1200" dirty="0">
                <a:solidFill>
                  <a:schemeClr val="tx1"/>
                </a:solidFill>
                <a:effectLst/>
                <a:latin typeface="+mn-lt"/>
                <a:ea typeface="+mn-ea"/>
                <a:cs typeface="+mn-cs"/>
              </a:rPr>
              <a:t>的值被放到</a:t>
            </a:r>
            <a:r>
              <a:rPr lang="en-US" altLang="zh-CN" sz="1200" kern="1200" dirty="0">
                <a:solidFill>
                  <a:schemeClr val="tx1"/>
                </a:solidFill>
                <a:effectLst/>
                <a:latin typeface="+mn-lt"/>
                <a:ea typeface="+mn-ea"/>
                <a:cs typeface="+mn-cs"/>
              </a:rPr>
              <a:t>E2. </a:t>
            </a:r>
            <a:r>
              <a:rPr lang="en-US" altLang="zh-CN" sz="1200" kern="1200" dirty="0" err="1">
                <a:solidFill>
                  <a:schemeClr val="tx1"/>
                </a:solidFill>
                <a:effectLst/>
                <a:latin typeface="+mn-lt"/>
                <a:ea typeface="+mn-ea"/>
                <a:cs typeface="+mn-cs"/>
              </a:rPr>
              <a:t>addr</a:t>
            </a:r>
            <a:r>
              <a:rPr lang="zh-CN" altLang="zh-CN" sz="1200" kern="1200" dirty="0">
                <a:solidFill>
                  <a:schemeClr val="tx1"/>
                </a:solidFill>
                <a:effectLst/>
                <a:latin typeface="+mn-lt"/>
                <a:ea typeface="+mn-ea"/>
                <a:cs typeface="+mn-cs"/>
              </a:rPr>
              <a:t>中，那么</a:t>
            </a:r>
            <a:r>
              <a:rPr lang="en-US" altLang="zh-CN" sz="1200" kern="1200" dirty="0">
                <a:solidFill>
                  <a:schemeClr val="tx1"/>
                </a:solidFill>
                <a:effectLst/>
                <a:latin typeface="+mn-lt"/>
                <a:ea typeface="+mn-ea"/>
                <a:cs typeface="+mn-cs"/>
              </a:rPr>
              <a:t>E1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E2</a:t>
            </a:r>
            <a:r>
              <a:rPr lang="zh-CN" altLang="zh-CN" sz="1200" kern="1200" dirty="0">
                <a:solidFill>
                  <a:schemeClr val="tx1"/>
                </a:solidFill>
                <a:effectLst/>
                <a:latin typeface="+mn-lt"/>
                <a:ea typeface="+mn-ea"/>
                <a:cs typeface="+mn-cs"/>
              </a:rPr>
              <a:t>就可以被翻译为</a:t>
            </a:r>
            <a:r>
              <a:rPr lang="en-US" altLang="zh-CN" sz="1200" kern="1200" dirty="0">
                <a:solidFill>
                  <a:schemeClr val="tx1"/>
                </a:solidFill>
                <a:effectLst/>
                <a:latin typeface="+mn-lt"/>
                <a:ea typeface="+mn-ea"/>
                <a:cs typeface="+mn-cs"/>
              </a:rPr>
              <a:t>t = E1. </a:t>
            </a:r>
            <a:r>
              <a:rPr lang="en-US" altLang="zh-CN" sz="1200" kern="1200" dirty="0" err="1">
                <a:solidFill>
                  <a:schemeClr val="tx1"/>
                </a:solidFill>
                <a:effectLst/>
                <a:latin typeface="+mn-lt"/>
                <a:ea typeface="+mn-ea"/>
                <a:cs typeface="+mn-cs"/>
              </a:rPr>
              <a:t>addr</a:t>
            </a:r>
            <a:r>
              <a:rPr lang="en-US" altLang="zh-CN" sz="1200" kern="1200" dirty="0">
                <a:solidFill>
                  <a:schemeClr val="tx1"/>
                </a:solidFill>
                <a:effectLst/>
                <a:latin typeface="+mn-lt"/>
                <a:ea typeface="+mn-ea"/>
                <a:cs typeface="+mn-cs"/>
              </a:rPr>
              <a:t> +E2. </a:t>
            </a:r>
            <a:r>
              <a:rPr lang="en-US" altLang="zh-CN" sz="1200" kern="1200" dirty="0" err="1">
                <a:solidFill>
                  <a:schemeClr val="tx1"/>
                </a:solidFill>
                <a:effectLst/>
                <a:latin typeface="+mn-lt"/>
                <a:ea typeface="+mn-ea"/>
                <a:cs typeface="+mn-cs"/>
              </a:rPr>
              <a:t>addr</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其中</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是一个新的临时变量。</a:t>
            </a:r>
            <a:r>
              <a:rPr lang="en-US" altLang="zh-CN" sz="1200" kern="1200" dirty="0">
                <a:solidFill>
                  <a:schemeClr val="tx1"/>
                </a:solidFill>
                <a:effectLst/>
                <a:latin typeface="+mn-lt"/>
                <a:ea typeface="+mn-ea"/>
                <a:cs typeface="+mn-cs"/>
              </a:rPr>
              <a:t>E. </a:t>
            </a:r>
            <a:r>
              <a:rPr lang="en-US" altLang="zh-CN" sz="1200" kern="1200" dirty="0" err="1">
                <a:solidFill>
                  <a:schemeClr val="tx1"/>
                </a:solidFill>
                <a:effectLst/>
                <a:latin typeface="+mn-lt"/>
                <a:ea typeface="+mn-ea"/>
                <a:cs typeface="+mn-cs"/>
              </a:rPr>
              <a:t>addr</a:t>
            </a:r>
            <a:r>
              <a:rPr lang="zh-CN" altLang="zh-CN" sz="1200" kern="1200" dirty="0">
                <a:solidFill>
                  <a:schemeClr val="tx1"/>
                </a:solidFill>
                <a:effectLst/>
                <a:latin typeface="+mn-lt"/>
                <a:ea typeface="+mn-ea"/>
                <a:cs typeface="+mn-cs"/>
              </a:rPr>
              <a:t>被设为</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。连续执行</a:t>
            </a:r>
            <a:r>
              <a:rPr lang="en-US" altLang="zh-CN" sz="1200" kern="1200" dirty="0">
                <a:solidFill>
                  <a:schemeClr val="tx1"/>
                </a:solidFill>
                <a:effectLst/>
                <a:latin typeface="+mn-lt"/>
                <a:ea typeface="+mn-ea"/>
                <a:cs typeface="+mn-cs"/>
              </a:rPr>
              <a:t>new Temp(</a:t>
            </a:r>
            <a:r>
              <a:rPr lang="zh-CN" altLang="zh-CN" sz="1200" kern="1200" dirty="0">
                <a:solidFill>
                  <a:schemeClr val="tx1"/>
                </a:solidFill>
                <a:effectLst/>
                <a:latin typeface="+mn-lt"/>
                <a:ea typeface="+mn-ea"/>
                <a:cs typeface="+mn-cs"/>
              </a:rPr>
              <a:t>）会产生一系列互不相同的临时变量</a:t>
            </a:r>
            <a:r>
              <a:rPr lang="en-US" altLang="zh-CN" sz="1200" kern="1200" dirty="0">
                <a:solidFill>
                  <a:schemeClr val="tx1"/>
                </a:solidFill>
                <a:effectLst/>
                <a:latin typeface="+mn-lt"/>
                <a:ea typeface="+mn-ea"/>
                <a:cs typeface="+mn-cs"/>
              </a:rPr>
              <a:t>t1, t2,</a:t>
            </a:r>
            <a:r>
              <a:rPr lang="zh-CN" altLang="zh-CN"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87F4D71F-C241-4371-B1C7-6C52E22124B5}" type="slidenum">
              <a:rPr lang="zh-CN" altLang="en-US" smtClean="0"/>
              <a:t>54</a:t>
            </a:fld>
            <a:endParaRPr lang="zh-CN" altLang="en-US"/>
          </a:p>
        </p:txBody>
      </p:sp>
    </p:spTree>
    <p:extLst>
      <p:ext uri="{BB962C8B-B14F-4D97-AF65-F5344CB8AC3E}">
        <p14:creationId xmlns:p14="http://schemas.microsoft.com/office/powerpoint/2010/main" val="14875035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为方便起见，我们使用记号</a:t>
            </a:r>
            <a:r>
              <a:rPr lang="en-US" altLang="zh-CN" sz="1200" kern="1200" dirty="0">
                <a:solidFill>
                  <a:schemeClr val="tx1"/>
                </a:solidFill>
                <a:effectLst/>
                <a:latin typeface="+mn-lt"/>
                <a:ea typeface="+mn-ea"/>
                <a:cs typeface="+mn-cs"/>
              </a:rPr>
              <a:t>gen(x'='</a:t>
            </a:r>
            <a:r>
              <a:rPr lang="en-US" altLang="zh-CN" sz="1200" kern="1200" dirty="0" err="1">
                <a:solidFill>
                  <a:schemeClr val="tx1"/>
                </a:solidFill>
                <a:effectLst/>
                <a:latin typeface="+mn-lt"/>
                <a:ea typeface="+mn-ea"/>
                <a:cs typeface="+mn-cs"/>
              </a:rPr>
              <a:t>y'+'z</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来表示三地址指令</a:t>
            </a:r>
            <a:r>
              <a:rPr lang="en-US" altLang="zh-CN" sz="1200" kern="1200" dirty="0">
                <a:solidFill>
                  <a:schemeClr val="tx1"/>
                </a:solidFill>
                <a:effectLst/>
                <a:latin typeface="+mn-lt"/>
                <a:ea typeface="+mn-ea"/>
                <a:cs typeface="+mn-cs"/>
              </a:rPr>
              <a:t>x==</a:t>
            </a:r>
            <a:r>
              <a:rPr lang="en-US" altLang="zh-CN" sz="1200" kern="1200" dirty="0" err="1">
                <a:solidFill>
                  <a:schemeClr val="tx1"/>
                </a:solidFill>
                <a:effectLst/>
                <a:latin typeface="+mn-lt"/>
                <a:ea typeface="+mn-ea"/>
                <a:cs typeface="+mn-cs"/>
              </a:rPr>
              <a:t>y+z</a:t>
            </a:r>
            <a:r>
              <a:rPr lang="zh-CN" altLang="zh-CN" sz="1200" kern="1200" dirty="0">
                <a:solidFill>
                  <a:schemeClr val="tx1"/>
                </a:solidFill>
                <a:effectLst/>
                <a:latin typeface="+mn-lt"/>
                <a:ea typeface="+mn-ea"/>
                <a:cs typeface="+mn-cs"/>
              </a:rPr>
              <a:t>。当被传递给</a:t>
            </a:r>
            <a:r>
              <a:rPr lang="en-US" altLang="zh-CN" sz="1200" kern="1200" dirty="0">
                <a:solidFill>
                  <a:schemeClr val="tx1"/>
                </a:solidFill>
                <a:effectLst/>
                <a:latin typeface="+mn-lt"/>
                <a:ea typeface="+mn-ea"/>
                <a:cs typeface="+mn-cs"/>
              </a:rPr>
              <a:t>gen</a:t>
            </a:r>
            <a:r>
              <a:rPr lang="zh-CN" altLang="zh-CN" sz="1200" kern="1200" dirty="0">
                <a:solidFill>
                  <a:schemeClr val="tx1"/>
                </a:solidFill>
                <a:effectLst/>
                <a:latin typeface="+mn-lt"/>
                <a:ea typeface="+mn-ea"/>
                <a:cs typeface="+mn-cs"/>
              </a:rPr>
              <a:t>时，变虽</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的位置上出现的表达式将首先被求值，而像</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这样的引号内的字符串则按照字面值传递。其他的三地址指令的生成方法类似，也是将</a:t>
            </a:r>
            <a:r>
              <a:rPr lang="en-US" altLang="zh-CN" sz="1200" kern="1200" dirty="0">
                <a:solidFill>
                  <a:schemeClr val="tx1"/>
                </a:solidFill>
                <a:effectLst/>
                <a:latin typeface="+mn-lt"/>
                <a:ea typeface="+mn-ea"/>
                <a:cs typeface="+mn-cs"/>
              </a:rPr>
              <a:t>gen</a:t>
            </a:r>
            <a:r>
              <a:rPr lang="zh-CN" altLang="zh-CN" sz="1200" kern="1200" dirty="0">
                <a:solidFill>
                  <a:schemeClr val="tx1"/>
                </a:solidFill>
                <a:effectLst/>
                <a:latin typeface="+mn-lt"/>
                <a:ea typeface="+mn-ea"/>
                <a:cs typeface="+mn-cs"/>
              </a:rPr>
              <a:t>作用于表达式和字符串的组合。</a:t>
            </a:r>
          </a:p>
          <a:p>
            <a:r>
              <a:rPr lang="zh-CN" altLang="zh-CN" sz="1200" kern="1200" dirty="0">
                <a:solidFill>
                  <a:schemeClr val="tx1"/>
                </a:solidFill>
                <a:effectLst/>
                <a:latin typeface="+mn-lt"/>
                <a:ea typeface="+mn-ea"/>
                <a:cs typeface="+mn-cs"/>
              </a:rPr>
              <a:t>当我们翻译产生式</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E2</a:t>
            </a:r>
            <a:r>
              <a:rPr lang="zh-CN" altLang="zh-CN" sz="1200" kern="1200" dirty="0">
                <a:solidFill>
                  <a:schemeClr val="tx1"/>
                </a:solidFill>
                <a:effectLst/>
                <a:latin typeface="+mn-lt"/>
                <a:ea typeface="+mn-ea"/>
                <a:cs typeface="+mn-cs"/>
              </a:rPr>
              <a:t>时，图</a:t>
            </a:r>
            <a:r>
              <a:rPr lang="en-US" altLang="zh-CN" sz="1200" kern="1200" dirty="0">
                <a:solidFill>
                  <a:schemeClr val="tx1"/>
                </a:solidFill>
                <a:effectLst/>
                <a:latin typeface="+mn-lt"/>
                <a:ea typeface="+mn-ea"/>
                <a:cs typeface="+mn-cs"/>
              </a:rPr>
              <a:t>6-19</a:t>
            </a:r>
            <a:r>
              <a:rPr lang="zh-CN" altLang="zh-CN" sz="1200" kern="1200" dirty="0">
                <a:solidFill>
                  <a:schemeClr val="tx1"/>
                </a:solidFill>
                <a:effectLst/>
                <a:latin typeface="+mn-lt"/>
                <a:ea typeface="+mn-ea"/>
                <a:cs typeface="+mn-cs"/>
              </a:rPr>
              <a:t>中的语义规则首先将</a:t>
            </a:r>
            <a:r>
              <a:rPr lang="en-US" altLang="zh-CN" sz="1200" kern="1200" dirty="0">
                <a:solidFill>
                  <a:schemeClr val="tx1"/>
                </a:solidFill>
                <a:effectLst/>
                <a:latin typeface="+mn-lt"/>
                <a:ea typeface="+mn-ea"/>
                <a:cs typeface="+mn-cs"/>
              </a:rPr>
              <a:t>E1. code</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E2. code</a:t>
            </a:r>
            <a:r>
              <a:rPr lang="zh-CN" altLang="zh-CN" sz="1200" kern="1200" dirty="0">
                <a:solidFill>
                  <a:schemeClr val="tx1"/>
                </a:solidFill>
                <a:effectLst/>
                <a:latin typeface="+mn-lt"/>
                <a:ea typeface="+mn-ea"/>
                <a:cs typeface="+mn-cs"/>
              </a:rPr>
              <a:t>连接起来，然后再加上一条将</a:t>
            </a:r>
            <a:r>
              <a:rPr lang="en-US" altLang="zh-CN" sz="1200" kern="1200" dirty="0">
                <a:solidFill>
                  <a:schemeClr val="tx1"/>
                </a:solidFill>
                <a:effectLst/>
                <a:latin typeface="+mn-lt"/>
                <a:ea typeface="+mn-ea"/>
                <a:cs typeface="+mn-cs"/>
              </a:rPr>
              <a:t>E1</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E2</a:t>
            </a:r>
            <a:r>
              <a:rPr lang="zh-CN" altLang="zh-CN" sz="1200" kern="1200" dirty="0">
                <a:solidFill>
                  <a:schemeClr val="tx1"/>
                </a:solidFill>
                <a:effectLst/>
                <a:latin typeface="+mn-lt"/>
                <a:ea typeface="+mn-ea"/>
                <a:cs typeface="+mn-cs"/>
              </a:rPr>
              <a:t>的值相加的指令，从而生成</a:t>
            </a:r>
            <a:r>
              <a:rPr lang="en-US" altLang="zh-CN" sz="1200" kern="1200" dirty="0">
                <a:solidFill>
                  <a:schemeClr val="tx1"/>
                </a:solidFill>
                <a:effectLst/>
                <a:latin typeface="+mn-lt"/>
                <a:ea typeface="+mn-ea"/>
                <a:cs typeface="+mn-cs"/>
              </a:rPr>
              <a:t>E. code</a:t>
            </a:r>
            <a:r>
              <a:rPr lang="zh-CN" altLang="zh-CN" sz="1200" kern="1200" dirty="0">
                <a:solidFill>
                  <a:schemeClr val="tx1"/>
                </a:solidFill>
                <a:effectLst/>
                <a:latin typeface="+mn-lt"/>
                <a:ea typeface="+mn-ea"/>
                <a:cs typeface="+mn-cs"/>
              </a:rPr>
              <a:t>。新增加的这条指令将求和的结果放入一个为</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生成的临时变量中，用</a:t>
            </a:r>
            <a:r>
              <a:rPr lang="en-US" altLang="zh-CN" sz="1200" kern="1200" dirty="0">
                <a:solidFill>
                  <a:schemeClr val="tx1"/>
                </a:solidFill>
                <a:effectLst/>
                <a:latin typeface="+mn-lt"/>
                <a:ea typeface="+mn-ea"/>
                <a:cs typeface="+mn-cs"/>
              </a:rPr>
              <a:t>E. </a:t>
            </a:r>
            <a:r>
              <a:rPr lang="en-US" altLang="zh-CN" sz="1200" kern="1200" dirty="0" err="1">
                <a:solidFill>
                  <a:schemeClr val="tx1"/>
                </a:solidFill>
                <a:effectLst/>
                <a:latin typeface="+mn-lt"/>
                <a:ea typeface="+mn-ea"/>
                <a:cs typeface="+mn-cs"/>
              </a:rPr>
              <a:t>addr</a:t>
            </a:r>
            <a:r>
              <a:rPr lang="zh-CN" altLang="zh-CN" sz="1200" kern="1200" dirty="0">
                <a:solidFill>
                  <a:schemeClr val="tx1"/>
                </a:solidFill>
                <a:effectLst/>
                <a:latin typeface="+mn-lt"/>
                <a:ea typeface="+mn-ea"/>
                <a:cs typeface="+mn-cs"/>
              </a:rPr>
              <a:t>表示。</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产生式</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-E1</a:t>
            </a:r>
            <a:r>
              <a:rPr lang="zh-CN" altLang="zh-CN" sz="1200" kern="1200" dirty="0">
                <a:solidFill>
                  <a:schemeClr val="tx1"/>
                </a:solidFill>
                <a:effectLst/>
                <a:latin typeface="+mn-lt"/>
                <a:ea typeface="+mn-ea"/>
                <a:cs typeface="+mn-cs"/>
              </a:rPr>
              <a:t>的翻译过程与此类似。这个规则首先为</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创建一个新的临时变</a:t>
            </a:r>
            <a:r>
              <a:rPr lang="zh-CN" altLang="en-US" sz="1200" kern="1200" dirty="0">
                <a:solidFill>
                  <a:schemeClr val="tx1"/>
                </a:solidFill>
                <a:effectLst/>
                <a:latin typeface="+mn-lt"/>
                <a:ea typeface="+mn-ea"/>
                <a:cs typeface="+mn-cs"/>
              </a:rPr>
              <a:t>量</a:t>
            </a:r>
            <a:r>
              <a:rPr lang="zh-CN" altLang="zh-CN" sz="1200" kern="1200" dirty="0">
                <a:solidFill>
                  <a:schemeClr val="tx1"/>
                </a:solidFill>
                <a:effectLst/>
                <a:latin typeface="+mn-lt"/>
                <a:ea typeface="+mn-ea"/>
                <a:cs typeface="+mn-cs"/>
              </a:rPr>
              <a:t>，并生成一条指令来执行单目－运算。</a:t>
            </a:r>
          </a:p>
          <a:p>
            <a:r>
              <a:rPr lang="zh-CN" altLang="zh-CN" sz="1200" kern="1200" dirty="0">
                <a:solidFill>
                  <a:schemeClr val="tx1"/>
                </a:solidFill>
                <a:effectLst/>
                <a:latin typeface="+mn-lt"/>
                <a:ea typeface="+mn-ea"/>
                <a:cs typeface="+mn-cs"/>
              </a:rPr>
              <a:t>最终，产生式</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id   =E;</a:t>
            </a:r>
            <a:r>
              <a:rPr lang="zh-CN" altLang="zh-CN" sz="1200" kern="1200" dirty="0">
                <a:solidFill>
                  <a:schemeClr val="tx1"/>
                </a:solidFill>
                <a:effectLst/>
                <a:latin typeface="+mn-lt"/>
                <a:ea typeface="+mn-ea"/>
                <a:cs typeface="+mn-cs"/>
              </a:rPr>
              <a:t>所生成的指令将表达式</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的值赋给标识符</a:t>
            </a:r>
            <a:r>
              <a:rPr lang="en-US" altLang="zh-CN" sz="1200" kern="1200" dirty="0">
                <a:solidFill>
                  <a:schemeClr val="tx1"/>
                </a:solidFill>
                <a:effectLst/>
                <a:latin typeface="+mn-lt"/>
                <a:ea typeface="+mn-ea"/>
                <a:cs typeface="+mn-cs"/>
              </a:rPr>
              <a:t>id</a:t>
            </a:r>
            <a:r>
              <a:rPr lang="zh-CN" altLang="zh-CN" sz="1200" kern="1200" dirty="0">
                <a:solidFill>
                  <a:schemeClr val="tx1"/>
                </a:solidFill>
                <a:effectLst/>
                <a:latin typeface="+mn-lt"/>
                <a:ea typeface="+mn-ea"/>
                <a:cs typeface="+mn-cs"/>
              </a:rPr>
              <a:t>。和规则</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id</a:t>
            </a:r>
            <a:r>
              <a:rPr lang="zh-CN" altLang="zh-CN" sz="1200" kern="1200" dirty="0">
                <a:solidFill>
                  <a:schemeClr val="tx1"/>
                </a:solidFill>
                <a:effectLst/>
                <a:latin typeface="+mn-lt"/>
                <a:ea typeface="+mn-ea"/>
                <a:cs typeface="+mn-cs"/>
              </a:rPr>
              <a:t>中一样，这个产生式的语义规则使用函数</a:t>
            </a:r>
            <a:r>
              <a:rPr lang="en-US" altLang="zh-CN" sz="1200" kern="1200" dirty="0">
                <a:solidFill>
                  <a:schemeClr val="tx1"/>
                </a:solidFill>
                <a:effectLst/>
                <a:latin typeface="+mn-lt"/>
                <a:ea typeface="+mn-ea"/>
                <a:cs typeface="+mn-cs"/>
              </a:rPr>
              <a:t>top. get</a:t>
            </a:r>
            <a:r>
              <a:rPr lang="zh-CN" altLang="zh-CN" sz="1200" kern="1200" dirty="0">
                <a:solidFill>
                  <a:schemeClr val="tx1"/>
                </a:solidFill>
                <a:effectLst/>
                <a:latin typeface="+mn-lt"/>
                <a:ea typeface="+mn-ea"/>
                <a:cs typeface="+mn-cs"/>
              </a:rPr>
              <a:t>来确定</a:t>
            </a:r>
            <a:r>
              <a:rPr lang="en-US" altLang="zh-CN" sz="1200" kern="1200" dirty="0">
                <a:solidFill>
                  <a:schemeClr val="tx1"/>
                </a:solidFill>
                <a:effectLst/>
                <a:latin typeface="+mn-lt"/>
                <a:ea typeface="+mn-ea"/>
                <a:cs typeface="+mn-cs"/>
              </a:rPr>
              <a:t>id</a:t>
            </a:r>
            <a:r>
              <a:rPr lang="zh-CN" altLang="zh-CN" sz="1200" kern="1200" dirty="0">
                <a:solidFill>
                  <a:schemeClr val="tx1"/>
                </a:solidFill>
                <a:effectLst/>
                <a:latin typeface="+mn-lt"/>
                <a:ea typeface="+mn-ea"/>
                <a:cs typeface="+mn-cs"/>
              </a:rPr>
              <a:t>所代表的标识符的地址。</a:t>
            </a:r>
            <a:r>
              <a:rPr lang="en-US" altLang="zh-CN" sz="1200" kern="1200" dirty="0">
                <a:solidFill>
                  <a:schemeClr val="tx1"/>
                </a:solidFill>
                <a:effectLst/>
                <a:latin typeface="+mn-lt"/>
                <a:ea typeface="+mn-ea"/>
                <a:cs typeface="+mn-cs"/>
              </a:rPr>
              <a:t>S. code</a:t>
            </a:r>
            <a:r>
              <a:rPr lang="zh-CN" altLang="zh-CN" sz="1200" kern="1200" dirty="0">
                <a:solidFill>
                  <a:schemeClr val="tx1"/>
                </a:solidFill>
                <a:effectLst/>
                <a:latin typeface="+mn-lt"/>
                <a:ea typeface="+mn-ea"/>
                <a:cs typeface="+mn-cs"/>
              </a:rPr>
              <a:t>包含的指令首先计算</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的值并将其保存到由</a:t>
            </a:r>
            <a:r>
              <a:rPr lang="en-US" altLang="zh-CN" sz="1200" kern="1200" dirty="0">
                <a:solidFill>
                  <a:schemeClr val="tx1"/>
                </a:solidFill>
                <a:effectLst/>
                <a:latin typeface="+mn-lt"/>
                <a:ea typeface="+mn-ea"/>
                <a:cs typeface="+mn-cs"/>
              </a:rPr>
              <a:t>E. </a:t>
            </a:r>
            <a:r>
              <a:rPr lang="en-US" altLang="zh-CN" sz="1200" kern="1200" dirty="0" err="1">
                <a:solidFill>
                  <a:schemeClr val="tx1"/>
                </a:solidFill>
                <a:effectLst/>
                <a:latin typeface="+mn-lt"/>
                <a:ea typeface="+mn-ea"/>
                <a:cs typeface="+mn-cs"/>
              </a:rPr>
              <a:t>addr</a:t>
            </a:r>
            <a:r>
              <a:rPr lang="zh-CN" altLang="zh-CN" sz="1200" kern="1200" dirty="0">
                <a:solidFill>
                  <a:schemeClr val="tx1"/>
                </a:solidFill>
                <a:effectLst/>
                <a:latin typeface="+mn-lt"/>
                <a:ea typeface="+mn-ea"/>
                <a:cs typeface="+mn-cs"/>
              </a:rPr>
              <a:t>指定的地址中，然后再将这个值赋给这个</a:t>
            </a:r>
            <a:r>
              <a:rPr lang="en-US" altLang="zh-CN" sz="1200" kern="1200" dirty="0">
                <a:solidFill>
                  <a:schemeClr val="tx1"/>
                </a:solidFill>
                <a:effectLst/>
                <a:latin typeface="+mn-lt"/>
                <a:ea typeface="+mn-ea"/>
                <a:cs typeface="+mn-cs"/>
              </a:rPr>
              <a:t>id</a:t>
            </a:r>
            <a:r>
              <a:rPr lang="zh-CN" altLang="zh-CN" sz="1200" kern="1200" dirty="0">
                <a:solidFill>
                  <a:schemeClr val="tx1"/>
                </a:solidFill>
                <a:effectLst/>
                <a:latin typeface="+mn-lt"/>
                <a:ea typeface="+mn-ea"/>
                <a:cs typeface="+mn-cs"/>
              </a:rPr>
              <a:t>实例的地址</a:t>
            </a:r>
            <a:r>
              <a:rPr lang="en-US" altLang="zh-CN" sz="1200" kern="1200" dirty="0">
                <a:solidFill>
                  <a:schemeClr val="tx1"/>
                </a:solidFill>
                <a:effectLst/>
                <a:latin typeface="+mn-lt"/>
                <a:ea typeface="+mn-ea"/>
                <a:cs typeface="+mn-cs"/>
              </a:rPr>
              <a:t>top. get (id. lexeme</a:t>
            </a:r>
            <a:r>
              <a:rPr lang="zh-CN" altLang="zh-CN" sz="1200" kern="1200" dirty="0">
                <a:solidFill>
                  <a:schemeClr val="tx1"/>
                </a:solidFill>
                <a:effectLst/>
                <a:latin typeface="+mn-lt"/>
                <a:ea typeface="+mn-ea"/>
                <a:cs typeface="+mn-cs"/>
              </a:rPr>
              <a:t>）。</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55</a:t>
            </a:fld>
            <a:endParaRPr lang="zh-CN" altLang="en-US"/>
          </a:p>
        </p:txBody>
      </p:sp>
    </p:spTree>
    <p:extLst>
      <p:ext uri="{BB962C8B-B14F-4D97-AF65-F5344CB8AC3E}">
        <p14:creationId xmlns:p14="http://schemas.microsoft.com/office/powerpoint/2010/main" val="374683253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code</a:t>
            </a:r>
            <a:r>
              <a:rPr lang="zh-CN" altLang="en-US" dirty="0"/>
              <a:t>属性可以是很长的字符串（因为表达式可以任意复杂）</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56</a:t>
            </a:fld>
            <a:endParaRPr lang="zh-CN" altLang="en-US"/>
          </a:p>
        </p:txBody>
      </p:sp>
    </p:spTree>
    <p:extLst>
      <p:ext uri="{BB962C8B-B14F-4D97-AF65-F5344CB8AC3E}">
        <p14:creationId xmlns:p14="http://schemas.microsoft.com/office/powerpoint/2010/main" val="419949406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在下面的</a:t>
            </a:r>
            <a:r>
              <a:rPr lang="en-US" altLang="zh-CN" dirty="0"/>
              <a:t>SDT</a:t>
            </a:r>
            <a:r>
              <a:rPr lang="zh-CN" altLang="en-US" dirty="0"/>
              <a:t>中，𝑔𝑒𝑛 不仅生成三地址指令，而且</a:t>
            </a:r>
          </a:p>
          <a:p>
            <a:r>
              <a:rPr lang="zh-CN" altLang="en-US" dirty="0"/>
              <a:t>还将其附加到迄今为止生成的指令序列中</a:t>
            </a:r>
          </a:p>
          <a:p>
            <a:r>
              <a:rPr lang="zh-CN" altLang="en-US" dirty="0"/>
              <a:t>相比之下，在以前的</a:t>
            </a:r>
            <a:r>
              <a:rPr lang="en-US" altLang="zh-CN" dirty="0"/>
              <a:t>SDD</a:t>
            </a:r>
            <a:r>
              <a:rPr lang="zh-CN" altLang="en-US" dirty="0"/>
              <a:t>中𝑐𝑜𝑑𝑒 属性可以是串联后的长字符串</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spc="-5" dirty="0">
                <a:solidFill>
                  <a:srgbClr val="FF0000"/>
                </a:solidFill>
                <a:latin typeface="Palatino Linotype"/>
                <a:cs typeface="Palatino Linotype"/>
              </a:rPr>
              <a:t>为什么这种增量方法可以保证指令的正确顺序？</a:t>
            </a:r>
            <a:endParaRPr lang="en-US" altLang="zh-CN" sz="1200" kern="1200" spc="-5" dirty="0">
              <a:solidFill>
                <a:srgbClr val="FF0000"/>
              </a:solidFill>
              <a:latin typeface="Palatino Linotype"/>
              <a:cs typeface="Palatino Linotyp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code</a:t>
            </a:r>
            <a:r>
              <a:rPr lang="zh-CN" altLang="zh-CN" sz="1200" kern="1200" dirty="0">
                <a:solidFill>
                  <a:schemeClr val="tx1"/>
                </a:solidFill>
                <a:effectLst/>
                <a:latin typeface="+mn-lt"/>
                <a:ea typeface="+mn-ea"/>
                <a:cs typeface="+mn-cs"/>
              </a:rPr>
              <a:t>属性可能是很长的字符串，因此就像</a:t>
            </a:r>
            <a:r>
              <a:rPr lang="en-US" altLang="zh-CN" sz="1200" kern="1200" dirty="0">
                <a:solidFill>
                  <a:schemeClr val="tx1"/>
                </a:solidFill>
                <a:effectLst/>
                <a:latin typeface="+mn-lt"/>
                <a:ea typeface="+mn-ea"/>
                <a:cs typeface="+mn-cs"/>
              </a:rPr>
              <a:t>5. 5.2</a:t>
            </a:r>
            <a:r>
              <a:rPr lang="zh-CN" altLang="zh-CN" sz="1200" kern="1200" dirty="0">
                <a:solidFill>
                  <a:schemeClr val="tx1"/>
                </a:solidFill>
                <a:effectLst/>
                <a:latin typeface="+mn-lt"/>
                <a:ea typeface="+mn-ea"/>
                <a:cs typeface="+mn-cs"/>
              </a:rPr>
              <a:t>节中讨论的那样，它们通常是用增量的方式生成的。因此，我们不会像图</a:t>
            </a:r>
            <a:r>
              <a:rPr lang="en-US" altLang="zh-CN" sz="1200" kern="1200" dirty="0">
                <a:solidFill>
                  <a:schemeClr val="tx1"/>
                </a:solidFill>
                <a:effectLst/>
                <a:latin typeface="+mn-lt"/>
                <a:ea typeface="+mn-ea"/>
                <a:cs typeface="+mn-cs"/>
              </a:rPr>
              <a:t>6-19</a:t>
            </a:r>
            <a:r>
              <a:rPr lang="zh-CN" altLang="zh-CN" sz="1200" kern="1200" dirty="0">
                <a:solidFill>
                  <a:schemeClr val="tx1"/>
                </a:solidFill>
                <a:effectLst/>
                <a:latin typeface="+mn-lt"/>
                <a:ea typeface="+mn-ea"/>
                <a:cs typeface="+mn-cs"/>
              </a:rPr>
              <a:t>所示的那样构造</a:t>
            </a:r>
            <a:r>
              <a:rPr lang="en-US" altLang="zh-CN" sz="1200" kern="1200" dirty="0">
                <a:solidFill>
                  <a:schemeClr val="tx1"/>
                </a:solidFill>
                <a:effectLst/>
                <a:latin typeface="+mn-lt"/>
                <a:ea typeface="+mn-ea"/>
                <a:cs typeface="+mn-cs"/>
              </a:rPr>
              <a:t>E. code,</a:t>
            </a:r>
            <a:r>
              <a:rPr lang="zh-CN" altLang="zh-CN" sz="1200" kern="1200" dirty="0">
                <a:solidFill>
                  <a:schemeClr val="tx1"/>
                </a:solidFill>
                <a:effectLst/>
                <a:latin typeface="+mn-lt"/>
                <a:ea typeface="+mn-ea"/>
                <a:cs typeface="+mn-cs"/>
              </a:rPr>
              <a:t>我们可以设法像图</a:t>
            </a:r>
            <a:r>
              <a:rPr lang="en-US" altLang="zh-CN" sz="1200" kern="1200" dirty="0">
                <a:solidFill>
                  <a:schemeClr val="tx1"/>
                </a:solidFill>
                <a:effectLst/>
                <a:latin typeface="+mn-lt"/>
                <a:ea typeface="+mn-ea"/>
                <a:cs typeface="+mn-cs"/>
              </a:rPr>
              <a:t>6-20</a:t>
            </a:r>
            <a:r>
              <a:rPr lang="zh-CN" altLang="zh-CN" sz="1200" kern="1200" dirty="0">
                <a:solidFill>
                  <a:schemeClr val="tx1"/>
                </a:solidFill>
                <a:effectLst/>
                <a:latin typeface="+mn-lt"/>
                <a:ea typeface="+mn-ea"/>
                <a:cs typeface="+mn-cs"/>
              </a:rPr>
              <a:t>中那样只生成新的三地址指令。在这个增量方式中，</a:t>
            </a:r>
            <a:r>
              <a:rPr lang="en-US" altLang="zh-CN" sz="1200" kern="1200" dirty="0">
                <a:solidFill>
                  <a:schemeClr val="tx1"/>
                </a:solidFill>
                <a:effectLst/>
                <a:latin typeface="+mn-lt"/>
                <a:ea typeface="+mn-ea"/>
                <a:cs typeface="+mn-cs"/>
              </a:rPr>
              <a:t>gen</a:t>
            </a:r>
            <a:r>
              <a:rPr lang="zh-CN" altLang="zh-CN" sz="1200" kern="1200" dirty="0">
                <a:solidFill>
                  <a:schemeClr val="tx1"/>
                </a:solidFill>
                <a:effectLst/>
                <a:latin typeface="+mn-lt"/>
                <a:ea typeface="+mn-ea"/>
                <a:cs typeface="+mn-cs"/>
              </a:rPr>
              <a:t>不仅要构造出一个新的三地址指令，还要将它添加到至今为止巳生成的指令序列之后。指令序列可以暂时放在内存中以便进一步处理，也可以增量地输出。</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57</a:t>
            </a:fld>
            <a:endParaRPr lang="zh-CN" altLang="en-US"/>
          </a:p>
        </p:txBody>
      </p:sp>
    </p:spTree>
    <p:extLst>
      <p:ext uri="{BB962C8B-B14F-4D97-AF65-F5344CB8AC3E}">
        <p14:creationId xmlns:p14="http://schemas.microsoft.com/office/powerpoint/2010/main" val="235980008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采用增量方式时不需再用到</a:t>
            </a:r>
            <a:r>
              <a:rPr lang="en-US" altLang="zh-CN" sz="1200" kern="1200" dirty="0">
                <a:solidFill>
                  <a:schemeClr val="tx1"/>
                </a:solidFill>
                <a:effectLst/>
                <a:latin typeface="+mn-lt"/>
                <a:ea typeface="+mn-ea"/>
                <a:cs typeface="+mn-cs"/>
              </a:rPr>
              <a:t>code</a:t>
            </a:r>
            <a:r>
              <a:rPr lang="zh-CN" altLang="zh-CN" sz="1200" kern="1200" dirty="0">
                <a:solidFill>
                  <a:schemeClr val="tx1"/>
                </a:solidFill>
                <a:effectLst/>
                <a:latin typeface="+mn-lt"/>
                <a:ea typeface="+mn-ea"/>
                <a:cs typeface="+mn-cs"/>
              </a:rPr>
              <a:t>属性，因为对</a:t>
            </a:r>
            <a:r>
              <a:rPr lang="en-US" altLang="zh-CN" sz="1200" kern="1200" dirty="0">
                <a:solidFill>
                  <a:schemeClr val="tx1"/>
                </a:solidFill>
                <a:effectLst/>
                <a:latin typeface="+mn-lt"/>
                <a:ea typeface="+mn-ea"/>
                <a:cs typeface="+mn-cs"/>
              </a:rPr>
              <a:t>gen</a:t>
            </a:r>
            <a:r>
              <a:rPr lang="zh-CN" altLang="zh-CN" sz="1200" kern="1200" dirty="0">
                <a:solidFill>
                  <a:schemeClr val="tx1"/>
                </a:solidFill>
                <a:effectLst/>
                <a:latin typeface="+mn-lt"/>
                <a:ea typeface="+mn-ea"/>
                <a:cs typeface="+mn-cs"/>
              </a:rPr>
              <a:t>的连续调用将生成一个指令序列。例如，图</a:t>
            </a:r>
            <a:r>
              <a:rPr lang="en-US" altLang="zh-CN" sz="1200" kern="1200" dirty="0">
                <a:solidFill>
                  <a:schemeClr val="tx1"/>
                </a:solidFill>
                <a:effectLst/>
                <a:latin typeface="+mn-lt"/>
                <a:ea typeface="+mn-ea"/>
                <a:cs typeface="+mn-cs"/>
              </a:rPr>
              <a:t>6-20</a:t>
            </a:r>
            <a:r>
              <a:rPr lang="zh-CN" altLang="zh-CN" sz="1200" kern="1200" dirty="0">
                <a:solidFill>
                  <a:schemeClr val="tx1"/>
                </a:solidFill>
                <a:effectLst/>
                <a:latin typeface="+mn-lt"/>
                <a:ea typeface="+mn-ea"/>
                <a:cs typeface="+mn-cs"/>
              </a:rPr>
              <a:t>中对应于</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E2</a:t>
            </a:r>
            <a:r>
              <a:rPr lang="zh-CN" altLang="zh-CN" sz="1200" kern="1200" dirty="0">
                <a:solidFill>
                  <a:schemeClr val="tx1"/>
                </a:solidFill>
                <a:effectLst/>
                <a:latin typeface="+mn-lt"/>
                <a:ea typeface="+mn-ea"/>
                <a:cs typeface="+mn-cs"/>
              </a:rPr>
              <a:t>的语义规则直接调用</a:t>
            </a:r>
            <a:r>
              <a:rPr lang="en-US" altLang="zh-CN" sz="1200" kern="1200" dirty="0">
                <a:solidFill>
                  <a:schemeClr val="tx1"/>
                </a:solidFill>
                <a:effectLst/>
                <a:latin typeface="+mn-lt"/>
                <a:ea typeface="+mn-ea"/>
                <a:cs typeface="+mn-cs"/>
              </a:rPr>
              <a:t>gen</a:t>
            </a:r>
            <a:r>
              <a:rPr lang="zh-CN" altLang="zh-CN" sz="1200" kern="1200" dirty="0">
                <a:solidFill>
                  <a:schemeClr val="tx1"/>
                </a:solidFill>
                <a:effectLst/>
                <a:latin typeface="+mn-lt"/>
                <a:ea typeface="+mn-ea"/>
                <a:cs typeface="+mn-cs"/>
              </a:rPr>
              <a:t>产生一条加法指令。在此之前，翻译方案已经生成了计算</a:t>
            </a:r>
            <a:r>
              <a:rPr lang="en-US" altLang="zh-CN" sz="1200" kern="1200" dirty="0">
                <a:solidFill>
                  <a:schemeClr val="tx1"/>
                </a:solidFill>
                <a:effectLst/>
                <a:latin typeface="+mn-lt"/>
                <a:ea typeface="+mn-ea"/>
                <a:cs typeface="+mn-cs"/>
              </a:rPr>
              <a:t>E1</a:t>
            </a:r>
            <a:r>
              <a:rPr lang="zh-CN" altLang="zh-CN" sz="1200" kern="1200" dirty="0">
                <a:solidFill>
                  <a:schemeClr val="tx1"/>
                </a:solidFill>
                <a:effectLst/>
                <a:latin typeface="+mn-lt"/>
                <a:ea typeface="+mn-ea"/>
                <a:cs typeface="+mn-cs"/>
              </a:rPr>
              <a:t>的值并放入</a:t>
            </a:r>
            <a:r>
              <a:rPr lang="en-US" altLang="zh-CN" sz="1200" kern="1200" dirty="0">
                <a:solidFill>
                  <a:schemeClr val="tx1"/>
                </a:solidFill>
                <a:effectLst/>
                <a:latin typeface="+mn-lt"/>
                <a:ea typeface="+mn-ea"/>
                <a:cs typeface="+mn-cs"/>
              </a:rPr>
              <a:t>E1. </a:t>
            </a:r>
            <a:r>
              <a:rPr lang="en-US" altLang="zh-CN" sz="1200" kern="1200" dirty="0" err="1">
                <a:solidFill>
                  <a:schemeClr val="tx1"/>
                </a:solidFill>
                <a:effectLst/>
                <a:latin typeface="+mn-lt"/>
                <a:ea typeface="+mn-ea"/>
                <a:cs typeface="+mn-cs"/>
              </a:rPr>
              <a:t>addr</a:t>
            </a:r>
            <a:r>
              <a:rPr lang="zh-CN" altLang="zh-CN" sz="1200" kern="1200" dirty="0">
                <a:solidFill>
                  <a:schemeClr val="tx1"/>
                </a:solidFill>
                <a:effectLst/>
                <a:latin typeface="+mn-lt"/>
                <a:ea typeface="+mn-ea"/>
                <a:cs typeface="+mn-cs"/>
              </a:rPr>
              <a:t>、计算</a:t>
            </a:r>
            <a:r>
              <a:rPr lang="en-US" altLang="zh-CN" sz="1200" kern="1200" dirty="0">
                <a:solidFill>
                  <a:schemeClr val="tx1"/>
                </a:solidFill>
                <a:effectLst/>
                <a:latin typeface="+mn-lt"/>
                <a:ea typeface="+mn-ea"/>
                <a:cs typeface="+mn-cs"/>
              </a:rPr>
              <a:t>E2</a:t>
            </a:r>
            <a:r>
              <a:rPr lang="zh-CN" altLang="zh-CN" sz="1200" kern="1200" dirty="0">
                <a:solidFill>
                  <a:schemeClr val="tx1"/>
                </a:solidFill>
                <a:effectLst/>
                <a:latin typeface="+mn-lt"/>
                <a:ea typeface="+mn-ea"/>
                <a:cs typeface="+mn-cs"/>
              </a:rPr>
              <a:t>的值并放入</a:t>
            </a:r>
            <a:r>
              <a:rPr lang="en-US" altLang="zh-CN" sz="1200" kern="1200" dirty="0">
                <a:solidFill>
                  <a:schemeClr val="tx1"/>
                </a:solidFill>
                <a:effectLst/>
                <a:latin typeface="+mn-lt"/>
                <a:ea typeface="+mn-ea"/>
                <a:cs typeface="+mn-cs"/>
              </a:rPr>
              <a:t>E2. </a:t>
            </a:r>
            <a:r>
              <a:rPr lang="en-US" altLang="zh-CN" sz="1200" kern="1200" dirty="0" err="1">
                <a:solidFill>
                  <a:schemeClr val="tx1"/>
                </a:solidFill>
                <a:effectLst/>
                <a:latin typeface="+mn-lt"/>
                <a:ea typeface="+mn-ea"/>
                <a:cs typeface="+mn-cs"/>
              </a:rPr>
              <a:t>addr</a:t>
            </a:r>
            <a:r>
              <a:rPr lang="zh-CN" altLang="zh-CN" sz="1200" kern="1200" dirty="0">
                <a:solidFill>
                  <a:schemeClr val="tx1"/>
                </a:solidFill>
                <a:effectLst/>
                <a:latin typeface="+mn-lt"/>
                <a:ea typeface="+mn-ea"/>
                <a:cs typeface="+mn-cs"/>
              </a:rPr>
              <a:t>的指令序列。</a:t>
            </a:r>
            <a:endParaRPr lang="zh-CN" altLang="en-US" dirty="0"/>
          </a:p>
          <a:p>
            <a:endParaRPr lang="en-US" altLang="zh-CN" dirty="0"/>
          </a:p>
          <a:p>
            <a:r>
              <a:rPr lang="zh-CN" altLang="en-US" dirty="0"/>
              <a:t>这种后缀</a:t>
            </a:r>
            <a:r>
              <a:rPr lang="en-US" altLang="zh-CN" dirty="0"/>
              <a:t>SDT</a:t>
            </a:r>
            <a:r>
              <a:rPr lang="zh-CN" altLang="en-US" dirty="0"/>
              <a:t>可以在自下而上的解析中实现，其中总是首先处理子表达式（例如，</a:t>
            </a:r>
            <a:r>
              <a:rPr lang="en-US" altLang="zh-CN" dirty="0"/>
              <a:t>E1</a:t>
            </a:r>
            <a:r>
              <a:rPr lang="zh-CN" altLang="en-US" dirty="0"/>
              <a:t>和</a:t>
            </a:r>
            <a:r>
              <a:rPr lang="en-US" altLang="zh-CN" dirty="0"/>
              <a:t>E2</a:t>
            </a:r>
            <a:r>
              <a:rPr lang="zh-CN" altLang="en-US" dirty="0"/>
              <a:t>的</a:t>
            </a:r>
            <a:r>
              <a:rPr lang="en-US" altLang="zh-CN" dirty="0"/>
              <a:t>code</a:t>
            </a:r>
            <a:r>
              <a:rPr lang="zh-CN" altLang="en-US" dirty="0"/>
              <a:t>在</a:t>
            </a:r>
            <a:r>
              <a:rPr lang="en-US" altLang="zh-CN" dirty="0"/>
              <a:t>E</a:t>
            </a:r>
            <a:r>
              <a:rPr lang="zh-CN" altLang="en-US" dirty="0"/>
              <a:t>之前生成）</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58</a:t>
            </a:fld>
            <a:endParaRPr lang="zh-CN" altLang="en-US"/>
          </a:p>
        </p:txBody>
      </p:sp>
    </p:spTree>
    <p:extLst>
      <p:ext uri="{BB962C8B-B14F-4D97-AF65-F5344CB8AC3E}">
        <p14:creationId xmlns:p14="http://schemas.microsoft.com/office/powerpoint/2010/main" val="316203820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59</a:t>
            </a:fld>
            <a:endParaRPr lang="zh-CN" altLang="en-US"/>
          </a:p>
        </p:txBody>
      </p:sp>
    </p:spTree>
    <p:extLst>
      <p:ext uri="{BB962C8B-B14F-4D97-AF65-F5344CB8AC3E}">
        <p14:creationId xmlns:p14="http://schemas.microsoft.com/office/powerpoint/2010/main" val="426910944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如果数组元素连续存储，则可以快速访问它们</a:t>
            </a:r>
          </a:p>
          <a:p>
            <a:r>
              <a:rPr lang="zh-CN" altLang="en-US" dirty="0"/>
              <a:t>对于阵列𝐴 具有𝑛 元素的相对地址𝐴</a:t>
            </a:r>
            <a:r>
              <a:rPr lang="en-US" altLang="zh-CN" dirty="0"/>
              <a:t>[</a:t>
            </a:r>
            <a:r>
              <a:rPr lang="zh-CN" altLang="en-US" dirty="0"/>
              <a:t>𝑖</a:t>
            </a:r>
            <a:r>
              <a:rPr lang="en-US" altLang="zh-CN" dirty="0"/>
              <a:t>] </a:t>
            </a:r>
            <a:r>
              <a:rPr lang="zh-CN" altLang="en-US" dirty="0"/>
              <a:t>是：</a:t>
            </a:r>
          </a:p>
          <a:p>
            <a:r>
              <a:rPr lang="zh-CN" altLang="en-US" dirty="0"/>
              <a:t>𝒃𝒂𝒔𝒆 </a:t>
            </a:r>
            <a:r>
              <a:rPr lang="en-US" altLang="zh-CN" dirty="0"/>
              <a:t>+ </a:t>
            </a:r>
            <a:r>
              <a:rPr lang="zh-CN" altLang="en-US" dirty="0"/>
              <a:t>𝒊 ∗ 𝒘 </a:t>
            </a:r>
            <a:r>
              <a:rPr lang="en-US" altLang="zh-CN" dirty="0"/>
              <a:t>(</a:t>
            </a:r>
            <a:r>
              <a:rPr lang="zh-CN" altLang="en-US" dirty="0"/>
              <a:t>𝑏𝑎𝑠𝑒 是的相对地址𝐴</a:t>
            </a:r>
            <a:r>
              <a:rPr lang="en-US" altLang="zh-CN" dirty="0"/>
              <a:t>[0]</a:t>
            </a:r>
            <a:r>
              <a:rPr lang="zh-CN" altLang="en-US" dirty="0"/>
              <a:t>，𝑤 是元素的宽度）</a:t>
            </a:r>
          </a:p>
          <a:p>
            <a:r>
              <a:rPr lang="zh-CN" altLang="en-US" dirty="0"/>
              <a:t>对于二维阵列𝐴 （行主布局）𝐴</a:t>
            </a:r>
            <a:r>
              <a:rPr lang="en-US" altLang="zh-CN" dirty="0"/>
              <a:t>[</a:t>
            </a:r>
            <a:r>
              <a:rPr lang="zh-CN" altLang="en-US" dirty="0"/>
              <a:t> 𝑖</a:t>
            </a:r>
            <a:r>
              <a:rPr lang="en-US" altLang="zh-CN" dirty="0"/>
              <a:t>1][</a:t>
            </a:r>
            <a:r>
              <a:rPr lang="zh-CN" altLang="en-US" dirty="0"/>
              <a:t>𝑖</a:t>
            </a:r>
            <a:r>
              <a:rPr lang="en-US" altLang="zh-CN" dirty="0"/>
              <a:t>2] </a:t>
            </a:r>
            <a:r>
              <a:rPr lang="zh-CN" altLang="en-US" dirty="0"/>
              <a:t>是：</a:t>
            </a:r>
          </a:p>
          <a:p>
            <a:r>
              <a:rPr lang="zh-CN" altLang="en-US" dirty="0"/>
              <a:t>𝒃𝒂𝒔𝒆 </a:t>
            </a:r>
            <a:r>
              <a:rPr lang="en-US" altLang="zh-CN" dirty="0"/>
              <a:t>+ </a:t>
            </a:r>
            <a:r>
              <a:rPr lang="zh-CN" altLang="en-US" dirty="0"/>
              <a:t>𝒊𝟏 ∗ 𝒘𝟏 </a:t>
            </a:r>
            <a:r>
              <a:rPr lang="en-US" altLang="zh-CN" dirty="0"/>
              <a:t>+ </a:t>
            </a:r>
            <a:r>
              <a:rPr lang="zh-CN" altLang="en-US" dirty="0"/>
              <a:t>𝒊𝟐 ∗ 𝒘𝟐 </a:t>
            </a:r>
            <a:r>
              <a:rPr lang="en-US" altLang="zh-CN" dirty="0"/>
              <a:t>(</a:t>
            </a:r>
            <a:r>
              <a:rPr lang="zh-CN" altLang="en-US" dirty="0"/>
              <a:t>𝑤</a:t>
            </a:r>
            <a:r>
              <a:rPr lang="en-US" altLang="zh-CN" dirty="0"/>
              <a:t>1</a:t>
            </a:r>
            <a:r>
              <a:rPr lang="zh-CN" altLang="en-US" dirty="0"/>
              <a:t>是一行的宽度，𝑤</a:t>
            </a:r>
            <a:r>
              <a:rPr lang="en-US" altLang="zh-CN" dirty="0"/>
              <a:t>2</a:t>
            </a:r>
            <a:r>
              <a:rPr lang="zh-CN" altLang="en-US" dirty="0"/>
              <a:t>是元素的宽度）</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60</a:t>
            </a:fld>
            <a:endParaRPr lang="zh-CN" altLang="en-US"/>
          </a:p>
        </p:txBody>
      </p:sp>
    </p:spTree>
    <p:extLst>
      <p:ext uri="{BB962C8B-B14F-4D97-AF65-F5344CB8AC3E}">
        <p14:creationId xmlns:p14="http://schemas.microsoft.com/office/powerpoint/2010/main" val="382914769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如果数组元素连续存储，则可以快速访问它们</a:t>
            </a:r>
          </a:p>
          <a:p>
            <a:r>
              <a:rPr lang="zh-CN" altLang="en-US" dirty="0"/>
              <a:t>对于阵列𝐴 具有𝑛 元素的相对地址𝐴</a:t>
            </a:r>
            <a:r>
              <a:rPr lang="en-US" altLang="zh-CN" dirty="0"/>
              <a:t>[</a:t>
            </a:r>
            <a:r>
              <a:rPr lang="zh-CN" altLang="en-US" dirty="0"/>
              <a:t>𝑖</a:t>
            </a:r>
            <a:r>
              <a:rPr lang="en-US" altLang="zh-CN" dirty="0"/>
              <a:t>] </a:t>
            </a:r>
            <a:r>
              <a:rPr lang="zh-CN" altLang="en-US" dirty="0"/>
              <a:t>是：一维数组</a:t>
            </a:r>
            <a:r>
              <a:rPr lang="en-US" altLang="zh-CN" dirty="0"/>
              <a:t>: </a:t>
            </a:r>
            <a:r>
              <a:rPr lang="zh-CN" altLang="en-US" dirty="0"/>
              <a:t>假设每个数组元素的宽度是</a:t>
            </a:r>
            <a:r>
              <a:rPr lang="en-US" altLang="zh-CN" dirty="0"/>
              <a:t>w</a:t>
            </a:r>
            <a:r>
              <a:rPr lang="zh-CN" altLang="en-US" dirty="0"/>
              <a:t>，则数组元素</a:t>
            </a:r>
            <a:r>
              <a:rPr lang="en-US" altLang="zh-CN" dirty="0"/>
              <a:t>a[</a:t>
            </a:r>
            <a:r>
              <a:rPr lang="en-US" altLang="zh-CN" dirty="0" err="1"/>
              <a:t>i</a:t>
            </a:r>
            <a:r>
              <a:rPr lang="en-US" altLang="zh-CN" dirty="0"/>
              <a:t>]</a:t>
            </a:r>
            <a:r>
              <a:rPr lang="zh-CN" altLang="en-US" dirty="0"/>
              <a:t>的相对地址是：</a:t>
            </a:r>
            <a:r>
              <a:rPr lang="en-US" altLang="zh-CN" dirty="0" err="1"/>
              <a:t>base+i×w</a:t>
            </a:r>
            <a:br>
              <a:rPr lang="en-US" altLang="zh-CN" dirty="0"/>
            </a:br>
            <a:r>
              <a:rPr lang="zh-CN" altLang="en-US" dirty="0"/>
              <a:t>其中， </a:t>
            </a:r>
            <a:r>
              <a:rPr lang="en-US" altLang="zh-CN" dirty="0"/>
              <a:t>base</a:t>
            </a:r>
            <a:r>
              <a:rPr lang="zh-CN" altLang="en-US" dirty="0"/>
              <a:t>是数组的基地址， </a:t>
            </a:r>
            <a:r>
              <a:rPr lang="en-US" altLang="zh-CN" dirty="0" err="1"/>
              <a:t>i×w</a:t>
            </a:r>
            <a:r>
              <a:rPr lang="zh-CN" altLang="en-US" dirty="0"/>
              <a:t>是偏移地址</a:t>
            </a:r>
          </a:p>
          <a:p>
            <a:r>
              <a:rPr lang="zh-CN" altLang="en-US" dirty="0"/>
              <a:t>𝒃𝒂𝒔𝒆 </a:t>
            </a:r>
            <a:r>
              <a:rPr lang="en-US" altLang="zh-CN" dirty="0"/>
              <a:t>+ </a:t>
            </a:r>
            <a:r>
              <a:rPr lang="zh-CN" altLang="en-US" dirty="0"/>
              <a:t>𝒊 ∗ 𝒘 </a:t>
            </a:r>
            <a:r>
              <a:rPr lang="en-US" altLang="zh-CN" dirty="0"/>
              <a:t>(</a:t>
            </a:r>
            <a:r>
              <a:rPr lang="zh-CN" altLang="en-US" dirty="0"/>
              <a:t>𝑏𝑎𝑠𝑒 是的相对地址𝐴</a:t>
            </a:r>
            <a:r>
              <a:rPr lang="en-US" altLang="zh-CN" dirty="0"/>
              <a:t>[0]</a:t>
            </a:r>
            <a:r>
              <a:rPr lang="zh-CN" altLang="en-US" dirty="0"/>
              <a:t>，𝑤 是元素的宽度）</a:t>
            </a:r>
          </a:p>
          <a:p>
            <a:r>
              <a:rPr lang="zh-CN" altLang="en-US" dirty="0"/>
              <a:t>对于二维阵列𝐴 （行主布局）𝐴</a:t>
            </a:r>
            <a:r>
              <a:rPr lang="en-US" altLang="zh-CN" dirty="0"/>
              <a:t>[</a:t>
            </a:r>
            <a:r>
              <a:rPr lang="zh-CN" altLang="en-US" dirty="0"/>
              <a:t>𝑖</a:t>
            </a:r>
            <a:r>
              <a:rPr lang="en-US" altLang="zh-CN" dirty="0"/>
              <a:t>1][</a:t>
            </a:r>
            <a:r>
              <a:rPr lang="zh-CN" altLang="en-US" dirty="0"/>
              <a:t>𝑖</a:t>
            </a:r>
            <a:r>
              <a:rPr lang="en-US" altLang="zh-CN" dirty="0"/>
              <a:t>2] </a:t>
            </a:r>
            <a:r>
              <a:rPr lang="zh-CN" altLang="en-US" dirty="0"/>
              <a:t>是：假设一行的宽度是</a:t>
            </a:r>
            <a:r>
              <a:rPr lang="en-US" altLang="zh-CN" dirty="0"/>
              <a:t>w1</a:t>
            </a:r>
            <a:r>
              <a:rPr lang="zh-CN" altLang="en-US" dirty="0"/>
              <a:t>，同一行中每个数组元素的宽度是</a:t>
            </a:r>
            <a:r>
              <a:rPr lang="en-US" altLang="zh-CN" dirty="0"/>
              <a:t>w2</a:t>
            </a:r>
            <a:r>
              <a:rPr lang="zh-CN" altLang="en-US" dirty="0"/>
              <a:t>，则数组元素</a:t>
            </a:r>
            <a:r>
              <a:rPr lang="en-US" altLang="zh-CN" dirty="0"/>
              <a:t>a[i1] [i2]</a:t>
            </a:r>
            <a:r>
              <a:rPr lang="zh-CN" altLang="en-US" dirty="0"/>
              <a:t>的相对地址是：</a:t>
            </a:r>
            <a:br>
              <a:rPr lang="zh-CN" altLang="en-US" dirty="0"/>
            </a:br>
            <a:r>
              <a:rPr lang="zh-CN" altLang="en-US" dirty="0"/>
              <a:t>                                     </a:t>
            </a:r>
            <a:r>
              <a:rPr lang="en-US" altLang="zh-CN" dirty="0"/>
              <a:t>base+i1×w1+i2×w2</a:t>
            </a:r>
            <a:endParaRPr lang="zh-CN" altLang="en-US" dirty="0"/>
          </a:p>
          <a:p>
            <a:r>
              <a:rPr lang="zh-CN" altLang="en-US" dirty="0"/>
              <a:t>𝒃𝒂𝒔𝒆 </a:t>
            </a:r>
            <a:r>
              <a:rPr lang="en-US" altLang="zh-CN" dirty="0"/>
              <a:t>+ </a:t>
            </a:r>
            <a:r>
              <a:rPr lang="zh-CN" altLang="en-US" dirty="0"/>
              <a:t>𝒊𝟏 ∗ 𝒘𝟏 </a:t>
            </a:r>
            <a:r>
              <a:rPr lang="en-US" altLang="zh-CN" dirty="0"/>
              <a:t>+ </a:t>
            </a:r>
            <a:r>
              <a:rPr lang="zh-CN" altLang="en-US" dirty="0"/>
              <a:t>𝒊𝟐 ∗ 𝒘𝟐 </a:t>
            </a:r>
            <a:r>
              <a:rPr lang="en-US" altLang="zh-CN" dirty="0"/>
              <a:t>(</a:t>
            </a:r>
            <a:r>
              <a:rPr lang="zh-CN" altLang="en-US" dirty="0"/>
              <a:t>𝑤</a:t>
            </a:r>
            <a:r>
              <a:rPr lang="en-US" altLang="zh-CN" dirty="0"/>
              <a:t>1</a:t>
            </a:r>
            <a:r>
              <a:rPr lang="zh-CN" altLang="en-US" dirty="0"/>
              <a:t>是一行的宽度，𝑤</a:t>
            </a:r>
            <a:r>
              <a:rPr lang="en-US" altLang="zh-CN" dirty="0"/>
              <a:t>2</a:t>
            </a:r>
            <a:r>
              <a:rPr lang="zh-CN" altLang="en-US" dirty="0"/>
              <a:t>是元素的宽度）</a:t>
            </a:r>
          </a:p>
          <a:p>
            <a:r>
              <a:rPr lang="zh-CN" altLang="en-US" dirty="0"/>
              <a:t>进一步推广到𝑘</a:t>
            </a:r>
            <a:r>
              <a:rPr lang="en-US" altLang="zh-CN" dirty="0"/>
              <a:t>-</a:t>
            </a:r>
            <a:r>
              <a:rPr lang="zh-CN" altLang="en-US" dirty="0"/>
              <a:t>维度数组𝐴 （行主布局）𝐴</a:t>
            </a:r>
            <a:r>
              <a:rPr lang="en-US" altLang="zh-CN" dirty="0"/>
              <a:t>[</a:t>
            </a:r>
            <a:r>
              <a:rPr lang="zh-CN" altLang="en-US" dirty="0"/>
              <a:t>𝑖</a:t>
            </a:r>
            <a:r>
              <a:rPr lang="en-US" altLang="zh-CN" dirty="0"/>
              <a:t>1][</a:t>
            </a:r>
            <a:r>
              <a:rPr lang="zh-CN" altLang="en-US" dirty="0"/>
              <a:t>𝑖</a:t>
            </a:r>
            <a:r>
              <a:rPr lang="en-US" altLang="zh-CN" dirty="0"/>
              <a:t>2]… [</a:t>
            </a:r>
            <a:r>
              <a:rPr lang="zh-CN" altLang="en-US" dirty="0"/>
              <a:t>𝑖𝑘</a:t>
            </a:r>
            <a:r>
              <a:rPr lang="en-US" altLang="zh-CN" dirty="0"/>
              <a:t>]</a:t>
            </a:r>
            <a:r>
              <a:rPr lang="zh-CN" altLang="en-US" dirty="0"/>
              <a:t>是：</a:t>
            </a:r>
          </a:p>
          <a:p>
            <a:r>
              <a:rPr lang="zh-CN" altLang="en-US" dirty="0"/>
              <a:t>𝒃𝒂𝒔𝒆 </a:t>
            </a:r>
            <a:r>
              <a:rPr lang="en-US" altLang="zh-CN" dirty="0"/>
              <a:t>+ </a:t>
            </a:r>
            <a:r>
              <a:rPr lang="zh-CN" altLang="en-US" dirty="0"/>
              <a:t>𝒊𝟏 ∗ 𝒘𝟏 </a:t>
            </a:r>
            <a:r>
              <a:rPr lang="en-US" altLang="zh-CN" dirty="0"/>
              <a:t>+ </a:t>
            </a:r>
            <a:r>
              <a:rPr lang="zh-CN" altLang="en-US" dirty="0"/>
              <a:t>𝒊𝟐 ∗ 𝒘𝟐 </a:t>
            </a:r>
            <a:r>
              <a:rPr lang="en-US" altLang="zh-CN" dirty="0"/>
              <a:t>+ ⋯ + </a:t>
            </a:r>
            <a:r>
              <a:rPr lang="zh-CN" altLang="en-US" dirty="0"/>
              <a:t>𝒊𝒌 ∗ 𝒘𝒌 </a:t>
            </a:r>
            <a:r>
              <a:rPr lang="en-US" altLang="zh-CN" dirty="0"/>
              <a:t>(</a:t>
            </a:r>
            <a:r>
              <a:rPr lang="zh-CN" altLang="en-US" dirty="0"/>
              <a:t>𝑤’</a:t>
            </a:r>
            <a:r>
              <a:rPr lang="en-US" altLang="zh-CN" dirty="0"/>
              <a:t>s</a:t>
            </a:r>
            <a:r>
              <a:rPr lang="zh-CN" altLang="en-US" dirty="0"/>
              <a:t>可以如上所述进行推广）</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61</a:t>
            </a:fld>
            <a:endParaRPr lang="zh-CN" altLang="en-US"/>
          </a:p>
        </p:txBody>
      </p:sp>
    </p:spTree>
    <p:extLst>
      <p:ext uri="{BB962C8B-B14F-4D97-AF65-F5344CB8AC3E}">
        <p14:creationId xmlns:p14="http://schemas.microsoft.com/office/powerpoint/2010/main" val="340118681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为数组引用生成代码的主要问题是将地址计算公式与语法联系起来</a:t>
            </a:r>
          </a:p>
          <a:p>
            <a:r>
              <a:rPr lang="zh-CN" altLang="en-US" dirty="0"/>
              <a:t>𝐴</a:t>
            </a:r>
            <a:r>
              <a:rPr lang="en-US" altLang="zh-CN" dirty="0"/>
              <a:t>[</a:t>
            </a:r>
            <a:r>
              <a:rPr lang="zh-CN" altLang="en-US" dirty="0"/>
              <a:t>𝑖</a:t>
            </a:r>
            <a:r>
              <a:rPr lang="en-US" altLang="zh-CN" dirty="0"/>
              <a:t>1][</a:t>
            </a:r>
            <a:r>
              <a:rPr lang="zh-CN" altLang="en-US" dirty="0"/>
              <a:t>𝑖</a:t>
            </a:r>
            <a:r>
              <a:rPr lang="en-US" altLang="zh-CN" dirty="0"/>
              <a:t>2][</a:t>
            </a:r>
            <a:r>
              <a:rPr lang="zh-CN" altLang="en-US" dirty="0"/>
              <a:t>𝑖𝑘</a:t>
            </a:r>
            <a:r>
              <a:rPr lang="en-US" altLang="zh-CN" dirty="0"/>
              <a:t>]</a:t>
            </a:r>
            <a:r>
              <a:rPr lang="zh-CN" altLang="en-US" dirty="0"/>
              <a:t>的相对地址是𝑏𝑎𝑠𝑒 </a:t>
            </a:r>
            <a:r>
              <a:rPr lang="en-US" altLang="zh-CN" dirty="0"/>
              <a:t>+ </a:t>
            </a:r>
            <a:r>
              <a:rPr lang="zh-CN" altLang="en-US" dirty="0"/>
              <a:t>𝑖</a:t>
            </a:r>
            <a:r>
              <a:rPr lang="en-US" altLang="zh-CN" dirty="0"/>
              <a:t>1*</a:t>
            </a:r>
            <a:r>
              <a:rPr lang="zh-CN" altLang="en-US" dirty="0"/>
              <a:t>𝑤</a:t>
            </a:r>
            <a:r>
              <a:rPr lang="en-US" altLang="zh-CN" dirty="0"/>
              <a:t>1+</a:t>
            </a:r>
            <a:r>
              <a:rPr lang="zh-CN" altLang="en-US" dirty="0"/>
              <a:t>𝑖</a:t>
            </a:r>
            <a:r>
              <a:rPr lang="en-US" altLang="zh-CN" dirty="0"/>
              <a:t>2*</a:t>
            </a:r>
            <a:r>
              <a:rPr lang="zh-CN" altLang="en-US" dirty="0"/>
              <a:t>𝑤</a:t>
            </a:r>
            <a:r>
              <a:rPr lang="en-US" altLang="zh-CN" dirty="0"/>
              <a:t>2+…+</a:t>
            </a:r>
            <a:r>
              <a:rPr lang="zh-CN" altLang="en-US" dirty="0"/>
              <a:t>𝑖𝑘  ∗ 𝑤𝑘</a:t>
            </a:r>
          </a:p>
          <a:p>
            <a:r>
              <a:rPr lang="zh-CN" altLang="en-US" dirty="0"/>
              <a:t>用于生成数组引用的产生式：𝐿 → 𝐿</a:t>
            </a:r>
            <a:r>
              <a:rPr lang="en-US" altLang="zh-CN" dirty="0"/>
              <a:t>[</a:t>
            </a:r>
            <a:r>
              <a:rPr lang="zh-CN" altLang="en-US" dirty="0"/>
              <a:t>𝐸</a:t>
            </a:r>
            <a:r>
              <a:rPr lang="en-US" altLang="zh-CN" dirty="0"/>
              <a:t>] | </a:t>
            </a:r>
            <a:r>
              <a:rPr lang="zh-CN" altLang="en-US" dirty="0"/>
              <a:t>𝐢𝐝 </a:t>
            </a:r>
            <a:r>
              <a:rPr lang="en-US" altLang="zh-CN" dirty="0"/>
              <a:t>[</a:t>
            </a:r>
            <a:r>
              <a:rPr lang="zh-CN" altLang="en-US" dirty="0"/>
              <a:t>𝐸 </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62</a:t>
            </a:fld>
            <a:endParaRPr lang="zh-CN" altLang="en-US"/>
          </a:p>
        </p:txBody>
      </p:sp>
    </p:spTree>
    <p:extLst>
      <p:ext uri="{BB962C8B-B14F-4D97-AF65-F5344CB8AC3E}">
        <p14:creationId xmlns:p14="http://schemas.microsoft.com/office/powerpoint/2010/main" val="43203948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与</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Java</a:t>
            </a:r>
            <a:r>
              <a:rPr lang="zh-CN" altLang="zh-CN" sz="1200" kern="1200" dirty="0">
                <a:solidFill>
                  <a:schemeClr val="tx1"/>
                </a:solidFill>
                <a:effectLst/>
                <a:latin typeface="+mn-lt"/>
                <a:ea typeface="+mn-ea"/>
                <a:cs typeface="+mn-cs"/>
              </a:rPr>
              <a:t>中一样，我们假定数组元素的最小编号是</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。我们使用式</a:t>
            </a:r>
            <a:r>
              <a:rPr lang="en-US" altLang="zh-CN" sz="1200" kern="1200" dirty="0">
                <a:solidFill>
                  <a:schemeClr val="tx1"/>
                </a:solidFill>
                <a:effectLst/>
                <a:latin typeface="+mn-lt"/>
                <a:ea typeface="+mn-ea"/>
                <a:cs typeface="+mn-cs"/>
              </a:rPr>
              <a:t>(6. 4)</a:t>
            </a:r>
            <a:r>
              <a:rPr lang="zh-CN" altLang="zh-CN" sz="1200" kern="1200" dirty="0">
                <a:solidFill>
                  <a:schemeClr val="tx1"/>
                </a:solidFill>
                <a:effectLst/>
                <a:latin typeface="+mn-lt"/>
                <a:ea typeface="+mn-ea"/>
                <a:cs typeface="+mn-cs"/>
              </a:rPr>
              <a:t>，基于宽度来计算相对地址，而不是像式</a:t>
            </a:r>
            <a:r>
              <a:rPr lang="en-US" altLang="zh-CN" sz="1200" kern="1200" dirty="0">
                <a:solidFill>
                  <a:schemeClr val="tx1"/>
                </a:solidFill>
                <a:effectLst/>
                <a:latin typeface="+mn-lt"/>
                <a:ea typeface="+mn-ea"/>
                <a:cs typeface="+mn-cs"/>
              </a:rPr>
              <a:t>(6.6)</a:t>
            </a:r>
            <a:r>
              <a:rPr lang="zh-CN" altLang="zh-CN" sz="1200" kern="1200" dirty="0">
                <a:solidFill>
                  <a:schemeClr val="tx1"/>
                </a:solidFill>
                <a:effectLst/>
                <a:latin typeface="+mn-lt"/>
                <a:ea typeface="+mn-ea"/>
                <a:cs typeface="+mn-cs"/>
              </a:rPr>
              <a:t>中那样使用元素的数量来计算地址。图</a:t>
            </a:r>
            <a:r>
              <a:rPr lang="en-US" altLang="zh-CN" sz="1200" kern="1200" dirty="0">
                <a:solidFill>
                  <a:schemeClr val="tx1"/>
                </a:solidFill>
                <a:effectLst/>
                <a:latin typeface="+mn-lt"/>
                <a:ea typeface="+mn-ea"/>
                <a:cs typeface="+mn-cs"/>
              </a:rPr>
              <a:t>6-22</a:t>
            </a:r>
            <a:r>
              <a:rPr lang="zh-CN" altLang="zh-CN" sz="1200" kern="1200" dirty="0">
                <a:solidFill>
                  <a:schemeClr val="tx1"/>
                </a:solidFill>
                <a:effectLst/>
                <a:latin typeface="+mn-lt"/>
                <a:ea typeface="+mn-ea"/>
                <a:cs typeface="+mn-cs"/>
              </a:rPr>
              <a:t>所示的翻译方案为带有数组引用的表达式生成三地址代码。它包括了图</a:t>
            </a:r>
            <a:r>
              <a:rPr lang="en-US" altLang="zh-CN" sz="1200" kern="1200" dirty="0">
                <a:solidFill>
                  <a:schemeClr val="tx1"/>
                </a:solidFill>
                <a:effectLst/>
                <a:latin typeface="+mn-lt"/>
                <a:ea typeface="+mn-ea"/>
                <a:cs typeface="+mn-cs"/>
              </a:rPr>
              <a:t>6-20</a:t>
            </a:r>
            <a:r>
              <a:rPr lang="zh-CN" altLang="zh-CN" sz="1200" kern="1200" dirty="0">
                <a:solidFill>
                  <a:schemeClr val="tx1"/>
                </a:solidFill>
                <a:effectLst/>
                <a:latin typeface="+mn-lt"/>
                <a:ea typeface="+mn-ea"/>
                <a:cs typeface="+mn-cs"/>
              </a:rPr>
              <a:t>中给出的产生式和语义动作，同时还包括了涉及非终结符号</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的产生式。</a:t>
            </a:r>
            <a:endParaRPr lang="en-US" altLang="zh-CN" dirty="0"/>
          </a:p>
          <a:p>
            <a:r>
              <a:rPr lang="zh-CN" altLang="zh-CN" sz="1200" kern="1200" dirty="0">
                <a:solidFill>
                  <a:schemeClr val="tx1"/>
                </a:solidFill>
                <a:effectLst/>
                <a:latin typeface="+mn-lt"/>
                <a:ea typeface="+mn-ea"/>
                <a:cs typeface="+mn-cs"/>
              </a:rPr>
              <a:t>非终结符号</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有三个综合属性：</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L.  array</a:t>
            </a:r>
            <a:r>
              <a:rPr lang="zh-CN" altLang="zh-CN" sz="1200" kern="1200" dirty="0">
                <a:solidFill>
                  <a:schemeClr val="tx1"/>
                </a:solidFill>
                <a:effectLst/>
                <a:latin typeface="+mn-lt"/>
                <a:ea typeface="+mn-ea"/>
                <a:cs typeface="+mn-cs"/>
              </a:rPr>
              <a:t>是一个指向数组名字对应的符号表条目的指针。在分析了所有的下标表达式之后，该数组的基地址，也就是</a:t>
            </a:r>
            <a:r>
              <a:rPr lang="en-US" altLang="zh-CN" sz="1200" kern="1200" dirty="0">
                <a:solidFill>
                  <a:schemeClr val="tx1"/>
                </a:solidFill>
                <a:effectLst/>
                <a:latin typeface="+mn-lt"/>
                <a:ea typeface="+mn-ea"/>
                <a:cs typeface="+mn-cs"/>
              </a:rPr>
              <a:t>L. array. base,</a:t>
            </a:r>
            <a:r>
              <a:rPr lang="zh-CN" altLang="zh-CN" sz="1200" kern="1200" dirty="0">
                <a:solidFill>
                  <a:schemeClr val="tx1"/>
                </a:solidFill>
                <a:effectLst/>
                <a:latin typeface="+mn-lt"/>
                <a:ea typeface="+mn-ea"/>
                <a:cs typeface="+mn-cs"/>
              </a:rPr>
              <a:t>被用于确定一个数组引用的实际左值。</a:t>
            </a:r>
          </a:p>
          <a:p>
            <a:r>
              <a:rPr lang="en-US" altLang="zh-CN" sz="1200" kern="1200" dirty="0">
                <a:solidFill>
                  <a:schemeClr val="tx1"/>
                </a:solidFill>
                <a:effectLst/>
                <a:latin typeface="+mn-lt"/>
                <a:ea typeface="+mn-ea"/>
                <a:cs typeface="+mn-cs"/>
              </a:rPr>
              <a:t>L. </a:t>
            </a:r>
            <a:r>
              <a:rPr lang="en-US" altLang="zh-CN" sz="1200" kern="1200" dirty="0" err="1">
                <a:solidFill>
                  <a:schemeClr val="tx1"/>
                </a:solidFill>
                <a:effectLst/>
                <a:latin typeface="+mn-lt"/>
                <a:ea typeface="+mn-ea"/>
                <a:cs typeface="+mn-cs"/>
              </a:rPr>
              <a:t>addr</a:t>
            </a:r>
            <a:r>
              <a:rPr lang="zh-CN" altLang="zh-CN" sz="1200" kern="1200" dirty="0">
                <a:solidFill>
                  <a:schemeClr val="tx1"/>
                </a:solidFill>
                <a:effectLst/>
                <a:latin typeface="+mn-lt"/>
                <a:ea typeface="+mn-ea"/>
                <a:cs typeface="+mn-cs"/>
              </a:rPr>
              <a:t>指示—个临时变量。这个临时变量将被用于累加公式</a:t>
            </a:r>
            <a:r>
              <a:rPr lang="en-US" altLang="zh-CN" sz="1200" kern="1200" dirty="0">
                <a:solidFill>
                  <a:schemeClr val="tx1"/>
                </a:solidFill>
                <a:effectLst/>
                <a:latin typeface="+mn-lt"/>
                <a:ea typeface="+mn-ea"/>
                <a:cs typeface="+mn-cs"/>
              </a:rPr>
              <a:t>(6. 4)</a:t>
            </a:r>
            <a:r>
              <a:rPr lang="zh-CN" altLang="zh-CN" sz="1200" kern="1200" dirty="0">
                <a:solidFill>
                  <a:schemeClr val="tx1"/>
                </a:solidFill>
                <a:effectLst/>
                <a:latin typeface="+mn-lt"/>
                <a:ea typeface="+mn-ea"/>
                <a:cs typeface="+mn-cs"/>
              </a:rPr>
              <a:t>中的</a:t>
            </a:r>
            <a:r>
              <a:rPr lang="en-US" altLang="zh-CN" sz="1200" kern="1200" dirty="0" err="1">
                <a:solidFill>
                  <a:schemeClr val="tx1"/>
                </a:solidFill>
                <a:effectLst/>
                <a:latin typeface="+mn-lt"/>
                <a:ea typeface="+mn-ea"/>
                <a:cs typeface="+mn-cs"/>
              </a:rPr>
              <a:t>ij</a:t>
            </a:r>
            <a:r>
              <a:rPr lang="en-US" altLang="zh-CN" sz="1200" kern="1200" dirty="0">
                <a:solidFill>
                  <a:schemeClr val="tx1"/>
                </a:solidFill>
                <a:effectLst/>
                <a:latin typeface="+mn-lt"/>
                <a:ea typeface="+mn-ea"/>
                <a:cs typeface="+mn-cs"/>
              </a:rPr>
              <a:t> X w1</a:t>
            </a:r>
            <a:r>
              <a:rPr lang="zh-CN" altLang="zh-CN" sz="1200" kern="1200" dirty="0">
                <a:solidFill>
                  <a:schemeClr val="tx1"/>
                </a:solidFill>
                <a:effectLst/>
                <a:latin typeface="+mn-lt"/>
                <a:ea typeface="+mn-ea"/>
                <a:cs typeface="+mn-cs"/>
              </a:rPr>
              <a:t>项，从而计算数组引用的偏移量。</a:t>
            </a:r>
          </a:p>
          <a:p>
            <a:r>
              <a:rPr lang="en-US" altLang="zh-CN" sz="1200" kern="1200" dirty="0">
                <a:solidFill>
                  <a:schemeClr val="tx1"/>
                </a:solidFill>
                <a:effectLst/>
                <a:latin typeface="+mn-lt"/>
                <a:ea typeface="+mn-ea"/>
                <a:cs typeface="+mn-cs"/>
              </a:rPr>
              <a:t>L. type</a:t>
            </a:r>
            <a:r>
              <a:rPr lang="zh-CN" altLang="zh-CN"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生成的子数组的类型。对于任何类型</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，我们假定其宽度由</a:t>
            </a:r>
            <a:r>
              <a:rPr lang="en-US" altLang="zh-CN" sz="1200" kern="1200" dirty="0">
                <a:solidFill>
                  <a:schemeClr val="tx1"/>
                </a:solidFill>
                <a:effectLst/>
                <a:latin typeface="+mn-lt"/>
                <a:ea typeface="+mn-ea"/>
                <a:cs typeface="+mn-cs"/>
              </a:rPr>
              <a:t>t. width</a:t>
            </a:r>
            <a:r>
              <a:rPr lang="zh-CN" altLang="zh-CN" sz="1200" kern="1200" dirty="0">
                <a:solidFill>
                  <a:schemeClr val="tx1"/>
                </a:solidFill>
                <a:effectLst/>
                <a:latin typeface="+mn-lt"/>
                <a:ea typeface="+mn-ea"/>
                <a:cs typeface="+mn-cs"/>
              </a:rPr>
              <a:t>给出。我们把类型（而不是宽度）作为属性，是因为无论如何类型检查总是需要这个类型信息。</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对于任何数组类型</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，假设</a:t>
            </a:r>
            <a:r>
              <a:rPr lang="en-US" altLang="zh-CN" sz="1200" kern="1200" dirty="0">
                <a:solidFill>
                  <a:schemeClr val="tx1"/>
                </a:solidFill>
                <a:effectLst/>
                <a:latin typeface="+mn-lt"/>
                <a:ea typeface="+mn-ea"/>
                <a:cs typeface="+mn-cs"/>
              </a:rPr>
              <a:t>t. </a:t>
            </a:r>
            <a:r>
              <a:rPr lang="en-US" altLang="zh-CN" sz="1200" kern="1200" dirty="0" err="1">
                <a:solidFill>
                  <a:schemeClr val="tx1"/>
                </a:solidFill>
                <a:effectLst/>
                <a:latin typeface="+mn-lt"/>
                <a:ea typeface="+mn-ea"/>
                <a:cs typeface="+mn-cs"/>
              </a:rPr>
              <a:t>elem</a:t>
            </a:r>
            <a:r>
              <a:rPr lang="zh-CN" altLang="zh-CN" sz="1200" kern="1200" dirty="0">
                <a:solidFill>
                  <a:schemeClr val="tx1"/>
                </a:solidFill>
                <a:effectLst/>
                <a:latin typeface="+mn-lt"/>
                <a:ea typeface="+mn-ea"/>
                <a:cs typeface="+mn-cs"/>
              </a:rPr>
              <a:t>给出了其数组元素的类型。</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64</a:t>
            </a:fld>
            <a:endParaRPr lang="zh-CN" altLang="en-US"/>
          </a:p>
        </p:txBody>
      </p:sp>
    </p:spTree>
    <p:extLst>
      <p:ext uri="{BB962C8B-B14F-4D97-AF65-F5344CB8AC3E}">
        <p14:creationId xmlns:p14="http://schemas.microsoft.com/office/powerpoint/2010/main" val="403936991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a:t>
            </a:r>
            <a:r>
              <a:rPr lang="zh-CN" altLang="en-US" dirty="0"/>
              <a:t>产生式的语义动作计算偏移</a:t>
            </a:r>
          </a:p>
          <a:p>
            <a:r>
              <a:rPr lang="zh-CN" altLang="en-US" dirty="0"/>
              <a:t>数组元素的地址为𝑏𝑎𝑠𝑒 </a:t>
            </a:r>
            <a:r>
              <a:rPr lang="en-US" altLang="zh-CN" dirty="0"/>
              <a:t>+ </a:t>
            </a:r>
            <a:r>
              <a:rPr lang="zh-CN" altLang="en-US" dirty="0"/>
              <a:t>𝑜𝑓𝑓𝑠𝑒𝑡</a:t>
            </a:r>
            <a:endParaRPr lang="en-US" altLang="zh-CN" dirty="0"/>
          </a:p>
          <a:p>
            <a:r>
              <a:rPr lang="zh-CN" altLang="zh-CN" sz="1200" kern="1200" dirty="0">
                <a:solidFill>
                  <a:schemeClr val="tx1"/>
                </a:solidFill>
                <a:effectLst/>
                <a:latin typeface="+mn-lt"/>
                <a:ea typeface="+mn-ea"/>
                <a:cs typeface="+mn-cs"/>
              </a:rPr>
              <a:t>产生式</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E2</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id</a:t>
            </a:r>
            <a:r>
              <a:rPr lang="zh-CN" altLang="zh-CN" sz="1200" kern="1200" dirty="0">
                <a:solidFill>
                  <a:schemeClr val="tx1"/>
                </a:solidFill>
                <a:effectLst/>
                <a:latin typeface="+mn-lt"/>
                <a:ea typeface="+mn-ea"/>
                <a:cs typeface="+mn-cs"/>
              </a:rPr>
              <a:t>与以前相同。新的产生式</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的语义动作生成的代码将</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所指位置上的值复制到一个新的临时变量中。和前面对产生式</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的讨论一样，</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所指的地址就是</a:t>
            </a:r>
            <a:r>
              <a:rPr lang="en-US" altLang="zh-CN" sz="1200" kern="1200" dirty="0">
                <a:solidFill>
                  <a:schemeClr val="tx1"/>
                </a:solidFill>
                <a:effectLst/>
                <a:latin typeface="+mn-lt"/>
                <a:ea typeface="+mn-ea"/>
                <a:cs typeface="+mn-cs"/>
              </a:rPr>
              <a:t>L. array. base[ L. </a:t>
            </a:r>
            <a:r>
              <a:rPr lang="en-US" altLang="zh-CN" sz="1200" kern="1200" dirty="0" err="1">
                <a:solidFill>
                  <a:schemeClr val="tx1"/>
                </a:solidFill>
                <a:effectLst/>
                <a:latin typeface="+mn-lt"/>
                <a:ea typeface="+mn-ea"/>
                <a:cs typeface="+mn-cs"/>
              </a:rPr>
              <a:t>addr</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。其中，属性</a:t>
            </a:r>
            <a:r>
              <a:rPr lang="en-US" altLang="zh-CN" sz="1200" kern="1200" dirty="0">
                <a:solidFill>
                  <a:schemeClr val="tx1"/>
                </a:solidFill>
                <a:effectLst/>
                <a:latin typeface="+mn-lt"/>
                <a:ea typeface="+mn-ea"/>
                <a:cs typeface="+mn-cs"/>
              </a:rPr>
              <a:t>L. array</a:t>
            </a:r>
            <a:r>
              <a:rPr lang="zh-CN" altLang="zh-CN" sz="1200" kern="1200" dirty="0">
                <a:solidFill>
                  <a:schemeClr val="tx1"/>
                </a:solidFill>
                <a:effectLst/>
                <a:latin typeface="+mn-lt"/>
                <a:ea typeface="+mn-ea"/>
                <a:cs typeface="+mn-cs"/>
              </a:rPr>
              <a:t>仍然给出了数组名，</a:t>
            </a:r>
            <a:r>
              <a:rPr lang="en-US" altLang="zh-CN" sz="1200" kern="1200" dirty="0">
                <a:solidFill>
                  <a:schemeClr val="tx1"/>
                </a:solidFill>
                <a:effectLst/>
                <a:latin typeface="+mn-lt"/>
                <a:ea typeface="+mn-ea"/>
                <a:cs typeface="+mn-cs"/>
              </a:rPr>
              <a:t>L. array. base</a:t>
            </a:r>
            <a:r>
              <a:rPr lang="zh-CN" altLang="zh-CN" sz="1200" kern="1200" dirty="0">
                <a:solidFill>
                  <a:schemeClr val="tx1"/>
                </a:solidFill>
                <a:effectLst/>
                <a:latin typeface="+mn-lt"/>
                <a:ea typeface="+mn-ea"/>
                <a:cs typeface="+mn-cs"/>
              </a:rPr>
              <a:t>给出了数组的基地址。属性</a:t>
            </a:r>
            <a:r>
              <a:rPr lang="en-US" altLang="zh-CN" sz="1200" kern="1200" dirty="0">
                <a:solidFill>
                  <a:schemeClr val="tx1"/>
                </a:solidFill>
                <a:effectLst/>
                <a:latin typeface="+mn-lt"/>
                <a:ea typeface="+mn-ea"/>
                <a:cs typeface="+mn-cs"/>
              </a:rPr>
              <a:t>L. </a:t>
            </a:r>
            <a:r>
              <a:rPr lang="en-US" altLang="zh-CN" sz="1200" kern="1200" dirty="0" err="1">
                <a:solidFill>
                  <a:schemeClr val="tx1"/>
                </a:solidFill>
                <a:effectLst/>
                <a:latin typeface="+mn-lt"/>
                <a:ea typeface="+mn-ea"/>
                <a:cs typeface="+mn-cs"/>
              </a:rPr>
              <a:t>addr</a:t>
            </a:r>
            <a:r>
              <a:rPr lang="zh-CN" altLang="zh-CN" sz="1200" kern="1200" dirty="0">
                <a:solidFill>
                  <a:schemeClr val="tx1"/>
                </a:solidFill>
                <a:effectLst/>
                <a:latin typeface="+mn-lt"/>
                <a:ea typeface="+mn-ea"/>
                <a:cs typeface="+mn-cs"/>
              </a:rPr>
              <a:t>表示保存偏移量的临时变量。数组引用的代码将存放在由基地址和偏移量给出的位置中的右值放入</a:t>
            </a:r>
            <a:r>
              <a:rPr lang="en-US" altLang="zh-CN" sz="1200" kern="1200" dirty="0">
                <a:solidFill>
                  <a:schemeClr val="tx1"/>
                </a:solidFill>
                <a:effectLst/>
                <a:latin typeface="+mn-lt"/>
                <a:ea typeface="+mn-ea"/>
                <a:cs typeface="+mn-cs"/>
              </a:rPr>
              <a:t>E. </a:t>
            </a:r>
            <a:r>
              <a:rPr lang="en-US" altLang="zh-CN" sz="1200" kern="1200" dirty="0" err="1">
                <a:solidFill>
                  <a:schemeClr val="tx1"/>
                </a:solidFill>
                <a:effectLst/>
                <a:latin typeface="+mn-lt"/>
                <a:ea typeface="+mn-ea"/>
                <a:cs typeface="+mn-cs"/>
              </a:rPr>
              <a:t>addr</a:t>
            </a:r>
            <a:r>
              <a:rPr lang="zh-CN" altLang="zh-CN" sz="1200" kern="1200" dirty="0">
                <a:solidFill>
                  <a:schemeClr val="tx1"/>
                </a:solidFill>
                <a:effectLst/>
                <a:latin typeface="+mn-lt"/>
                <a:ea typeface="+mn-ea"/>
                <a:cs typeface="+mn-cs"/>
              </a:rPr>
              <a:t>所指的临时变量中。</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65</a:t>
            </a:fld>
            <a:endParaRPr lang="zh-CN" altLang="en-US"/>
          </a:p>
        </p:txBody>
      </p:sp>
    </p:spTree>
    <p:extLst>
      <p:ext uri="{BB962C8B-B14F-4D97-AF65-F5344CB8AC3E}">
        <p14:creationId xmlns:p14="http://schemas.microsoft.com/office/powerpoint/2010/main" val="132011367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产生式</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id==E;</a:t>
            </a:r>
            <a:r>
              <a:rPr lang="zh-CN" altLang="zh-CN" sz="1200" kern="1200" dirty="0">
                <a:solidFill>
                  <a:schemeClr val="tx1"/>
                </a:solidFill>
                <a:effectLst/>
                <a:latin typeface="+mn-lt"/>
                <a:ea typeface="+mn-ea"/>
                <a:cs typeface="+mn-cs"/>
              </a:rPr>
              <a:t>代表一个对非数组变量的赋值语句，它按照通常的方法进行处理。 </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L=E</a:t>
            </a:r>
            <a:r>
              <a:rPr lang="zh-CN" altLang="zh-CN" sz="1200" kern="1200" dirty="0">
                <a:solidFill>
                  <a:schemeClr val="tx1"/>
                </a:solidFill>
                <a:effectLst/>
                <a:latin typeface="+mn-lt"/>
                <a:ea typeface="+mn-ea"/>
                <a:cs typeface="+mn-cs"/>
              </a:rPr>
              <a:t>；的语义动作产生了一个带下标的复制指令，它将表达式</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的值存放到数组引用</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所指的内存位置。回顾一下，属性</a:t>
            </a:r>
            <a:r>
              <a:rPr lang="en-US" altLang="zh-CN" sz="1200" kern="1200" dirty="0">
                <a:solidFill>
                  <a:schemeClr val="tx1"/>
                </a:solidFill>
                <a:effectLst/>
                <a:latin typeface="+mn-lt"/>
                <a:ea typeface="+mn-ea"/>
                <a:cs typeface="+mn-cs"/>
              </a:rPr>
              <a:t>L. array</a:t>
            </a:r>
            <a:r>
              <a:rPr lang="zh-CN" altLang="zh-CN" sz="1200" kern="1200" dirty="0">
                <a:solidFill>
                  <a:schemeClr val="tx1"/>
                </a:solidFill>
                <a:effectLst/>
                <a:latin typeface="+mn-lt"/>
                <a:ea typeface="+mn-ea"/>
                <a:cs typeface="+mn-cs"/>
              </a:rPr>
              <a:t>给出了数组的符号表条目。数组的基地址（即</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号元素的地址）由</a:t>
            </a:r>
            <a:r>
              <a:rPr lang="en-US" altLang="zh-CN" sz="1200" kern="1200" dirty="0">
                <a:solidFill>
                  <a:schemeClr val="tx1"/>
                </a:solidFill>
                <a:effectLst/>
                <a:latin typeface="+mn-lt"/>
                <a:ea typeface="+mn-ea"/>
                <a:cs typeface="+mn-cs"/>
              </a:rPr>
              <a:t>L. array. base</a:t>
            </a:r>
            <a:r>
              <a:rPr lang="zh-CN" altLang="zh-CN" sz="1200" kern="1200" dirty="0">
                <a:solidFill>
                  <a:schemeClr val="tx1"/>
                </a:solidFill>
                <a:effectLst/>
                <a:latin typeface="+mn-lt"/>
                <a:ea typeface="+mn-ea"/>
                <a:cs typeface="+mn-cs"/>
              </a:rPr>
              <a:t>给出。属性</a:t>
            </a:r>
            <a:r>
              <a:rPr lang="en-US" altLang="zh-CN" sz="1200" kern="1200" dirty="0">
                <a:solidFill>
                  <a:schemeClr val="tx1"/>
                </a:solidFill>
                <a:effectLst/>
                <a:latin typeface="+mn-lt"/>
                <a:ea typeface="+mn-ea"/>
                <a:cs typeface="+mn-cs"/>
              </a:rPr>
              <a:t>L. </a:t>
            </a:r>
            <a:r>
              <a:rPr lang="en-US" altLang="zh-CN" sz="1200" kern="1200" dirty="0" err="1">
                <a:solidFill>
                  <a:schemeClr val="tx1"/>
                </a:solidFill>
                <a:effectLst/>
                <a:latin typeface="+mn-lt"/>
                <a:ea typeface="+mn-ea"/>
                <a:cs typeface="+mn-cs"/>
              </a:rPr>
              <a:t>addr</a:t>
            </a:r>
            <a:r>
              <a:rPr lang="zh-CN" altLang="zh-CN" sz="1200" kern="1200" dirty="0">
                <a:solidFill>
                  <a:schemeClr val="tx1"/>
                </a:solidFill>
                <a:effectLst/>
                <a:latin typeface="+mn-lt"/>
                <a:ea typeface="+mn-ea"/>
                <a:cs typeface="+mn-cs"/>
              </a:rPr>
              <a:t>表示一个临时变量，它保存了</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生成的数组引用的偏移量。因此，这个数组引用的位置是</a:t>
            </a:r>
            <a:r>
              <a:rPr lang="en-US" altLang="zh-CN" sz="1200" kern="1200" dirty="0" err="1">
                <a:solidFill>
                  <a:schemeClr val="tx1"/>
                </a:solidFill>
                <a:effectLst/>
                <a:latin typeface="+mn-lt"/>
                <a:ea typeface="+mn-ea"/>
                <a:cs typeface="+mn-cs"/>
              </a:rPr>
              <a:t>L.array.base</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L.addr</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。这个指令将地址</a:t>
            </a:r>
            <a:r>
              <a:rPr lang="en-US" altLang="zh-CN" sz="1200" kern="1200" dirty="0">
                <a:solidFill>
                  <a:schemeClr val="tx1"/>
                </a:solidFill>
                <a:effectLst/>
                <a:latin typeface="+mn-lt"/>
                <a:ea typeface="+mn-ea"/>
                <a:cs typeface="+mn-cs"/>
              </a:rPr>
              <a:t>E. </a:t>
            </a:r>
            <a:r>
              <a:rPr lang="en-US" altLang="zh-CN" sz="1200" kern="1200" dirty="0" err="1">
                <a:solidFill>
                  <a:schemeClr val="tx1"/>
                </a:solidFill>
                <a:effectLst/>
                <a:latin typeface="+mn-lt"/>
                <a:ea typeface="+mn-ea"/>
                <a:cs typeface="+mn-cs"/>
              </a:rPr>
              <a:t>addr</a:t>
            </a:r>
            <a:r>
              <a:rPr lang="zh-CN" altLang="zh-CN" sz="1200" kern="1200" dirty="0">
                <a:solidFill>
                  <a:schemeClr val="tx1"/>
                </a:solidFill>
                <a:effectLst/>
                <a:latin typeface="+mn-lt"/>
                <a:ea typeface="+mn-ea"/>
                <a:cs typeface="+mn-cs"/>
              </a:rPr>
              <a:t>中的右值放入</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的内存位置中。</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66</a:t>
            </a:fld>
            <a:endParaRPr lang="zh-CN" altLang="en-US"/>
          </a:p>
        </p:txBody>
      </p:sp>
    </p:spTree>
    <p:extLst>
      <p:ext uri="{BB962C8B-B14F-4D97-AF65-F5344CB8AC3E}">
        <p14:creationId xmlns:p14="http://schemas.microsoft.com/office/powerpoint/2010/main" val="93377629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73044" indent="-273044" eaLnBrk="1" hangingPunct="1">
              <a:lnSpc>
                <a:spcPts val="2000"/>
              </a:lnSpc>
              <a:spcBef>
                <a:spcPct val="15000"/>
              </a:spcBef>
              <a:buSzPct val="100000"/>
              <a:buFont typeface="Wingdings" pitchFamily="2" charset="2"/>
              <a:buChar char="Ø"/>
              <a:defRPr/>
            </a:pPr>
            <a:r>
              <a:rPr lang="en-US" altLang="zh-CN" sz="2000" b="1" i="1" dirty="0">
                <a:solidFill>
                  <a:prstClr val="black"/>
                </a:solidFill>
                <a:latin typeface="Times New Roman" panose="02020603050405020304" pitchFamily="18" charset="0"/>
                <a:ea typeface="华文楷体" panose="02010600040101010101" pitchFamily="2" charset="-122"/>
              </a:rPr>
              <a:t>L</a:t>
            </a:r>
            <a:r>
              <a:rPr lang="zh-CN" altLang="en-US" sz="2000" b="1" dirty="0">
                <a:solidFill>
                  <a:prstClr val="black"/>
                </a:solidFill>
                <a:latin typeface="楷体" pitchFamily="49" charset="-122"/>
                <a:ea typeface="华文楷体" panose="02010600040101010101" pitchFamily="2" charset="-122"/>
              </a:rPr>
              <a:t>的综合属性</a:t>
            </a:r>
          </a:p>
          <a:p>
            <a:pPr marL="576248" lvl="1" indent="-273044" eaLnBrk="1" hangingPunct="1">
              <a:lnSpc>
                <a:spcPts val="2000"/>
              </a:lnSpc>
              <a:spcBef>
                <a:spcPct val="15000"/>
              </a:spcBef>
              <a:buSzPct val="100000"/>
              <a:buFont typeface="Wingdings" pitchFamily="2" charset="2"/>
              <a:buChar char="Ø"/>
              <a:defRPr/>
            </a:pPr>
            <a:r>
              <a:rPr lang="en-US" altLang="zh-CN" b="1" i="1" dirty="0" err="1">
                <a:solidFill>
                  <a:prstClr val="black"/>
                </a:solidFill>
                <a:latin typeface="Times New Roman" panose="02020603050405020304" pitchFamily="18" charset="0"/>
                <a:ea typeface="华文楷体" panose="02010600040101010101" pitchFamily="2" charset="-122"/>
                <a:cs typeface="Times New Roman" pitchFamily="18" charset="0"/>
              </a:rPr>
              <a:t>L</a:t>
            </a:r>
            <a:r>
              <a:rPr lang="en-US" altLang="zh-CN" b="1" dirty="0" err="1">
                <a:solidFill>
                  <a:prstClr val="black"/>
                </a:solidFill>
                <a:latin typeface="Times New Roman" panose="02020603050405020304" pitchFamily="18" charset="0"/>
                <a:ea typeface="华文楷体" panose="02010600040101010101" pitchFamily="2" charset="-122"/>
                <a:cs typeface="Times New Roman" pitchFamily="18" charset="0"/>
              </a:rPr>
              <a:t>.</a:t>
            </a:r>
            <a:r>
              <a:rPr lang="en-US" altLang="zh-CN" b="1" i="1" dirty="0" err="1">
                <a:solidFill>
                  <a:prstClr val="black"/>
                </a:solidFill>
                <a:latin typeface="Times New Roman" panose="02020603050405020304" pitchFamily="18" charset="0"/>
                <a:ea typeface="华文楷体" panose="02010600040101010101" pitchFamily="2" charset="-122"/>
                <a:cs typeface="Times New Roman" pitchFamily="18" charset="0"/>
              </a:rPr>
              <a:t>type</a:t>
            </a:r>
            <a:r>
              <a:rPr lang="zh-CN" altLang="en-US" b="1" dirty="0">
                <a:solidFill>
                  <a:prstClr val="black"/>
                </a:solidFill>
                <a:latin typeface="Times New Roman" panose="02020603050405020304" pitchFamily="18" charset="0"/>
                <a:ea typeface="华文楷体" panose="02010600040101010101" pitchFamily="2" charset="-122"/>
                <a:cs typeface="Times New Roman" pitchFamily="18" charset="0"/>
              </a:rPr>
              <a:t>：</a:t>
            </a:r>
            <a:r>
              <a:rPr lang="en-US" altLang="zh-CN" b="1" i="1" dirty="0">
                <a:solidFill>
                  <a:prstClr val="black"/>
                </a:solidFill>
                <a:latin typeface="Times New Roman" panose="02020603050405020304" pitchFamily="18" charset="0"/>
                <a:ea typeface="华文楷体" panose="02010600040101010101" pitchFamily="2" charset="-122"/>
                <a:cs typeface="Times New Roman" pitchFamily="18" charset="0"/>
              </a:rPr>
              <a:t>L</a:t>
            </a:r>
            <a:r>
              <a:rPr lang="zh-CN" altLang="en-US" b="1" dirty="0">
                <a:solidFill>
                  <a:prstClr val="black"/>
                </a:solidFill>
                <a:latin typeface="Times New Roman" panose="02020603050405020304" pitchFamily="18" charset="0"/>
                <a:ea typeface="华文楷体" panose="02010600040101010101" pitchFamily="2" charset="-122"/>
                <a:cs typeface="Times New Roman" pitchFamily="18" charset="0"/>
              </a:rPr>
              <a:t>生成的数组元素的类型（数组类型的表达式：二元组（元素数量，元素类型）</a:t>
            </a:r>
          </a:p>
          <a:p>
            <a:pPr marL="576248" lvl="1" indent="-273044" eaLnBrk="1" hangingPunct="1">
              <a:lnSpc>
                <a:spcPts val="2000"/>
              </a:lnSpc>
              <a:spcBef>
                <a:spcPct val="15000"/>
              </a:spcBef>
              <a:buSzPct val="100000"/>
              <a:buFont typeface="Wingdings" pitchFamily="2" charset="2"/>
              <a:buChar char="Ø"/>
              <a:defRPr/>
            </a:pPr>
            <a:r>
              <a:rPr lang="en-US" altLang="zh-CN" b="1" i="1" dirty="0" err="1">
                <a:solidFill>
                  <a:prstClr val="black"/>
                </a:solidFill>
                <a:latin typeface="Times New Roman" panose="02020603050405020304" pitchFamily="18" charset="0"/>
                <a:ea typeface="华文楷体" panose="02010600040101010101" pitchFamily="2" charset="-122"/>
                <a:cs typeface="Times New Roman" pitchFamily="18" charset="0"/>
              </a:rPr>
              <a:t>L.addr</a:t>
            </a:r>
            <a:r>
              <a:rPr lang="zh-CN" altLang="en-US" b="1" dirty="0">
                <a:solidFill>
                  <a:prstClr val="black"/>
                </a:solidFill>
                <a:latin typeface="Times New Roman" panose="02020603050405020304" pitchFamily="18" charset="0"/>
                <a:ea typeface="华文楷体" panose="02010600040101010101" pitchFamily="2" charset="-122"/>
                <a:cs typeface="Times New Roman" pitchFamily="18" charset="0"/>
              </a:rPr>
              <a:t>：指示一个临时变量，该临时变量用于累加公式中的</a:t>
            </a:r>
            <a:r>
              <a:rPr lang="en-US" altLang="zh-CN" b="1" i="1" dirty="0" err="1">
                <a:solidFill>
                  <a:prstClr val="black"/>
                </a:solidFill>
                <a:latin typeface="Times New Roman" panose="02020603050405020304" pitchFamily="18" charset="0"/>
                <a:ea typeface="华文楷体" panose="02010600040101010101" pitchFamily="2" charset="-122"/>
                <a:cs typeface="Times New Roman" pitchFamily="18" charset="0"/>
              </a:rPr>
              <a:t>i</a:t>
            </a:r>
            <a:r>
              <a:rPr lang="en-US" altLang="zh-CN" b="1" i="1" baseline="-30000" dirty="0" err="1">
                <a:solidFill>
                  <a:prstClr val="black"/>
                </a:solidFill>
                <a:latin typeface="Times New Roman" panose="02020603050405020304" pitchFamily="18" charset="0"/>
                <a:ea typeface="华文楷体" panose="02010600040101010101" pitchFamily="2" charset="-122"/>
                <a:cs typeface="Times New Roman" pitchFamily="18" charset="0"/>
              </a:rPr>
              <a:t>j</a:t>
            </a:r>
            <a:r>
              <a:rPr lang="en-US" altLang="zh-CN" b="1" i="1" baseline="-30000" dirty="0">
                <a:solidFill>
                  <a:prstClr val="black"/>
                </a:solidFill>
                <a:latin typeface="Times New Roman" panose="02020603050405020304" pitchFamily="18" charset="0"/>
                <a:ea typeface="华文楷体" panose="02010600040101010101" pitchFamily="2" charset="-122"/>
                <a:cs typeface="Times New Roman" pitchFamily="18" charset="0"/>
              </a:rPr>
              <a:t> </a:t>
            </a:r>
            <a:r>
              <a:rPr lang="en-US" altLang="zh-CN" b="1" dirty="0">
                <a:solidFill>
                  <a:prstClr val="black"/>
                </a:solidFill>
                <a:latin typeface="Times New Roman" panose="02020603050405020304" pitchFamily="18" charset="0"/>
                <a:ea typeface="华文楷体" panose="02010600040101010101" pitchFamily="2" charset="-122"/>
                <a:cs typeface="Times New Roman" pitchFamily="18" charset="0"/>
              </a:rPr>
              <a:t>× </a:t>
            </a:r>
            <a:r>
              <a:rPr lang="en-US" altLang="zh-CN" b="1" i="1" dirty="0" err="1">
                <a:solidFill>
                  <a:prstClr val="black"/>
                </a:solidFill>
                <a:latin typeface="Times New Roman" panose="02020603050405020304" pitchFamily="18" charset="0"/>
                <a:ea typeface="华文楷体" panose="02010600040101010101" pitchFamily="2" charset="-122"/>
                <a:cs typeface="Times New Roman" pitchFamily="18" charset="0"/>
              </a:rPr>
              <a:t>w</a:t>
            </a:r>
            <a:r>
              <a:rPr lang="en-US" altLang="zh-CN" b="1" i="1" baseline="-30000" dirty="0" err="1">
                <a:solidFill>
                  <a:prstClr val="black"/>
                </a:solidFill>
                <a:latin typeface="Times New Roman" panose="02020603050405020304" pitchFamily="18" charset="0"/>
                <a:ea typeface="华文楷体" panose="02010600040101010101" pitchFamily="2" charset="-122"/>
                <a:cs typeface="Times New Roman" pitchFamily="18" charset="0"/>
              </a:rPr>
              <a:t>j</a:t>
            </a:r>
            <a:r>
              <a:rPr lang="zh-CN" altLang="en-US" b="1" dirty="0">
                <a:solidFill>
                  <a:prstClr val="black"/>
                </a:solidFill>
                <a:latin typeface="Times New Roman" panose="02020603050405020304" pitchFamily="18" charset="0"/>
                <a:ea typeface="华文楷体" panose="02010600040101010101" pitchFamily="2" charset="-122"/>
                <a:cs typeface="Times New Roman" pitchFamily="18" charset="0"/>
              </a:rPr>
              <a:t>项，从而计算数组引用的偏移量</a:t>
            </a:r>
            <a:endParaRPr lang="en-US" altLang="zh-CN" b="1" i="1" baseline="-30000" dirty="0">
              <a:solidFill>
                <a:prstClr val="black"/>
              </a:solidFill>
              <a:latin typeface="Times New Roman" panose="02020603050405020304" pitchFamily="18" charset="0"/>
              <a:ea typeface="华文楷体" panose="02010600040101010101" pitchFamily="2" charset="-122"/>
              <a:cs typeface="Times New Roman" pitchFamily="18" charset="0"/>
            </a:endParaRPr>
          </a:p>
          <a:p>
            <a:pPr marL="576248" lvl="1" indent="-273044" eaLnBrk="1" hangingPunct="1">
              <a:lnSpc>
                <a:spcPts val="2000"/>
              </a:lnSpc>
              <a:spcBef>
                <a:spcPct val="15000"/>
              </a:spcBef>
              <a:buSzPct val="100000"/>
              <a:buFont typeface="Wingdings" pitchFamily="2" charset="2"/>
              <a:buChar char="Ø"/>
              <a:defRPr/>
            </a:pPr>
            <a:r>
              <a:rPr lang="en-US" altLang="zh-CN" b="1" i="1" dirty="0" err="1">
                <a:solidFill>
                  <a:prstClr val="black"/>
                </a:solidFill>
                <a:latin typeface="Times New Roman" panose="02020603050405020304" pitchFamily="18" charset="0"/>
                <a:ea typeface="华文楷体" panose="02010600040101010101" pitchFamily="2" charset="-122"/>
                <a:cs typeface="Times New Roman" pitchFamily="18" charset="0"/>
              </a:rPr>
              <a:t>L</a:t>
            </a:r>
            <a:r>
              <a:rPr lang="en-US" altLang="zh-CN" b="1" dirty="0" err="1">
                <a:solidFill>
                  <a:prstClr val="black"/>
                </a:solidFill>
                <a:latin typeface="Times New Roman" panose="02020603050405020304" pitchFamily="18" charset="0"/>
                <a:ea typeface="华文楷体" panose="02010600040101010101" pitchFamily="2" charset="-122"/>
                <a:cs typeface="Times New Roman" pitchFamily="18" charset="0"/>
              </a:rPr>
              <a:t>.</a:t>
            </a:r>
            <a:r>
              <a:rPr lang="en-US" altLang="zh-CN" b="1" i="1" dirty="0" err="1">
                <a:solidFill>
                  <a:prstClr val="black"/>
                </a:solidFill>
                <a:latin typeface="Times New Roman" panose="02020603050405020304" pitchFamily="18" charset="0"/>
                <a:ea typeface="华文楷体" panose="02010600040101010101" pitchFamily="2" charset="-122"/>
                <a:cs typeface="Times New Roman" pitchFamily="18" charset="0"/>
              </a:rPr>
              <a:t>array</a:t>
            </a:r>
            <a:r>
              <a:rPr lang="zh-CN" altLang="en-US" b="1" dirty="0">
                <a:solidFill>
                  <a:prstClr val="black"/>
                </a:solidFill>
                <a:latin typeface="Times New Roman" panose="02020603050405020304" pitchFamily="18" charset="0"/>
                <a:ea typeface="华文楷体" panose="02010600040101010101" pitchFamily="2" charset="-122"/>
                <a:cs typeface="Times New Roman" pitchFamily="18" charset="0"/>
              </a:rPr>
              <a:t>：数组名在符号表的入口地址</a:t>
            </a:r>
          </a:p>
          <a:p>
            <a:r>
              <a:rPr lang="zh-CN" altLang="en-US" dirty="0"/>
              <a:t>翻译的关键：地址计算公式与数组引用的文法关联起来</a:t>
            </a:r>
          </a:p>
          <a:p>
            <a:r>
              <a:rPr lang="zh-CN" altLang="en-US" dirty="0"/>
              <a:t>简单赋值语句的翻译采用的是自底向上的翻译方法，这里还可以延续该方法。</a:t>
            </a:r>
          </a:p>
          <a:p>
            <a:r>
              <a:rPr lang="zh-CN" altLang="en-US" dirty="0"/>
              <a:t>从左向右扫描，查询符号表得到</a:t>
            </a:r>
            <a:r>
              <a:rPr lang="en-US" altLang="zh-CN" dirty="0"/>
              <a:t>a</a:t>
            </a:r>
            <a:r>
              <a:rPr lang="zh-CN" altLang="en-US" dirty="0"/>
              <a:t>的类型表达式和它的基地址，</a:t>
            </a:r>
            <a:r>
              <a:rPr lang="en-US" altLang="zh-CN" dirty="0"/>
              <a:t>base</a:t>
            </a:r>
            <a:r>
              <a:rPr lang="zh-CN" altLang="en-US" dirty="0"/>
              <a:t>和</a:t>
            </a:r>
            <a:r>
              <a:rPr lang="en-US" altLang="zh-CN" dirty="0"/>
              <a:t>i1</a:t>
            </a:r>
            <a:r>
              <a:rPr lang="zh-CN" altLang="en-US" dirty="0"/>
              <a:t>的值就可以确定了，接下来求</a:t>
            </a:r>
            <a:r>
              <a:rPr lang="en-US" altLang="zh-CN" dirty="0"/>
              <a:t>w1</a:t>
            </a:r>
            <a:r>
              <a:rPr lang="zh-CN" altLang="en-US" dirty="0"/>
              <a:t>（</a:t>
            </a:r>
            <a:r>
              <a:rPr lang="en-US" altLang="zh-CN" dirty="0"/>
              <a:t>a[i1]</a:t>
            </a:r>
            <a:r>
              <a:rPr lang="zh-CN" altLang="en-US" dirty="0"/>
              <a:t>的宽度），由</a:t>
            </a:r>
            <a:r>
              <a:rPr lang="en-US" altLang="zh-CN" dirty="0"/>
              <a:t>a</a:t>
            </a:r>
            <a:r>
              <a:rPr lang="zh-CN" altLang="en-US" dirty="0"/>
              <a:t>的类型表达式即知道其元素</a:t>
            </a:r>
            <a:r>
              <a:rPr lang="en-US" altLang="zh-CN" dirty="0"/>
              <a:t>a[i1]</a:t>
            </a:r>
            <a:r>
              <a:rPr lang="zh-CN" altLang="en-US" dirty="0"/>
              <a:t>的类型表达式，设置</a:t>
            </a:r>
            <a:r>
              <a:rPr lang="en-US" altLang="zh-CN" dirty="0" err="1"/>
              <a:t>L.type</a:t>
            </a:r>
            <a:r>
              <a:rPr lang="zh-CN" altLang="en-US" dirty="0"/>
              <a:t>来表示，计算出</a:t>
            </a:r>
            <a:r>
              <a:rPr lang="en-US" altLang="zh-CN" dirty="0"/>
              <a:t>a[i1]</a:t>
            </a:r>
            <a:r>
              <a:rPr lang="zh-CN" altLang="en-US" dirty="0"/>
              <a:t>的宽度，设置</a:t>
            </a:r>
            <a:r>
              <a:rPr lang="en-US" altLang="zh-CN" dirty="0" err="1"/>
              <a:t>L.offset</a:t>
            </a:r>
            <a:r>
              <a:rPr lang="zh-CN" altLang="en-US" dirty="0"/>
              <a:t>偏移地址，接下来</a:t>
            </a:r>
            <a:r>
              <a:rPr lang="en-US" altLang="zh-CN" dirty="0"/>
              <a:t>a[i1][i2]</a:t>
            </a:r>
            <a:r>
              <a:rPr lang="zh-CN" altLang="en-US" dirty="0"/>
              <a:t>是</a:t>
            </a:r>
            <a:r>
              <a:rPr lang="en-US" altLang="zh-CN" dirty="0"/>
              <a:t>a[i1]</a:t>
            </a:r>
            <a:r>
              <a:rPr lang="zh-CN" altLang="en-US" dirty="0"/>
              <a:t>的一个元素，可通过子节点</a:t>
            </a:r>
            <a:r>
              <a:rPr lang="en-US" altLang="zh-CN" dirty="0"/>
              <a:t>a[i1]</a:t>
            </a:r>
            <a:r>
              <a:rPr lang="zh-CN" altLang="en-US" dirty="0"/>
              <a:t>元素的类型表达式获得</a:t>
            </a:r>
            <a:r>
              <a:rPr lang="en-US" altLang="zh-CN" dirty="0"/>
              <a:t>a[i1][i2]</a:t>
            </a:r>
            <a:r>
              <a:rPr lang="zh-CN" altLang="en-US" dirty="0"/>
              <a:t>的类型表达式，进而得到其宽度</a:t>
            </a:r>
            <a:r>
              <a:rPr lang="en-US" altLang="zh-CN" dirty="0"/>
              <a:t>w2</a:t>
            </a:r>
            <a:r>
              <a:rPr lang="zh-CN" altLang="en-US" dirty="0"/>
              <a:t>，接下来计算累计的偏移地址</a:t>
            </a:r>
            <a:r>
              <a:rPr lang="en-US" altLang="zh-CN" dirty="0" err="1"/>
              <a:t>L.offset</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67</a:t>
            </a:fld>
            <a:endParaRPr lang="zh-CN" altLang="en-US"/>
          </a:p>
        </p:txBody>
      </p:sp>
    </p:spTree>
    <p:extLst>
      <p:ext uri="{BB962C8B-B14F-4D97-AF65-F5344CB8AC3E}">
        <p14:creationId xmlns:p14="http://schemas.microsoft.com/office/powerpoint/2010/main" val="150914726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a:t>
            </a:r>
            <a:r>
              <a:rPr lang="zh-CN" altLang="en-US" dirty="0"/>
              <a:t>的综合属性：</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i="1" dirty="0" err="1">
                <a:solidFill>
                  <a:prstClr val="black"/>
                </a:solidFill>
                <a:latin typeface="Times New Roman" panose="02020603050405020304" pitchFamily="18" charset="0"/>
                <a:ea typeface="华文楷体" panose="02010600040101010101" pitchFamily="2" charset="-122"/>
                <a:cs typeface="Times New Roman" pitchFamily="18" charset="0"/>
              </a:rPr>
              <a:t>L.array</a:t>
            </a:r>
            <a:r>
              <a:rPr lang="zh-CN" altLang="en-US" b="1" i="1" dirty="0">
                <a:solidFill>
                  <a:prstClr val="black"/>
                </a:solidFill>
                <a:latin typeface="Times New Roman" panose="02020603050405020304" pitchFamily="18" charset="0"/>
                <a:ea typeface="华文楷体" panose="02010600040101010101" pitchFamily="2" charset="-122"/>
                <a:cs typeface="Times New Roman" pitchFamily="18" charset="0"/>
              </a:rPr>
              <a:t>：数组名在符号表的入口地址</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solidFill>
                  <a:prstClr val="black"/>
                </a:solidFill>
                <a:latin typeface="Times New Roman" panose="02020603050405020304" pitchFamily="18" charset="0"/>
                <a:ea typeface="华文楷体" panose="02010600040101010101" pitchFamily="2" charset="-122"/>
                <a:cs typeface="Times New Roman" pitchFamily="18" charset="0"/>
              </a:rPr>
              <a:t>L.type</a:t>
            </a:r>
            <a:r>
              <a:rPr lang="zh-CN" altLang="en-US" b="1" dirty="0">
                <a:solidFill>
                  <a:prstClr val="black"/>
                </a:solidFill>
                <a:latin typeface="Times New Roman" panose="02020603050405020304" pitchFamily="18" charset="0"/>
                <a:ea typeface="华文楷体" panose="02010600040101010101" pitchFamily="2" charset="-122"/>
                <a:cs typeface="Times New Roman" pitchFamily="18" charset="0"/>
              </a:rPr>
              <a:t>：</a:t>
            </a:r>
            <a:r>
              <a:rPr lang="en-US" altLang="zh-CN" b="1" dirty="0">
                <a:solidFill>
                  <a:prstClr val="black"/>
                </a:solidFill>
                <a:latin typeface="Times New Roman" panose="02020603050405020304" pitchFamily="18" charset="0"/>
                <a:ea typeface="华文楷体" panose="02010600040101010101" pitchFamily="2" charset="-122"/>
                <a:cs typeface="Times New Roman" pitchFamily="18" charset="0"/>
              </a:rPr>
              <a:t>L</a:t>
            </a:r>
            <a:r>
              <a:rPr lang="zh-CN" altLang="en-US" b="1" dirty="0">
                <a:solidFill>
                  <a:prstClr val="black"/>
                </a:solidFill>
                <a:latin typeface="Times New Roman" panose="02020603050405020304" pitchFamily="18" charset="0"/>
                <a:ea typeface="华文楷体" panose="02010600040101010101" pitchFamily="2" charset="-122"/>
                <a:cs typeface="Times New Roman" pitchFamily="18" charset="0"/>
              </a:rPr>
              <a:t>生成的数组元素的类型</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err="1">
                <a:solidFill>
                  <a:prstClr val="black"/>
                </a:solidFill>
                <a:latin typeface="Times New Roman" panose="02020603050405020304" pitchFamily="18" charset="0"/>
                <a:ea typeface="华文楷体" panose="02010600040101010101" pitchFamily="2" charset="-122"/>
                <a:cs typeface="Times New Roman" pitchFamily="18" charset="0"/>
              </a:rPr>
              <a:t>L.Addr</a:t>
            </a:r>
            <a:r>
              <a:rPr lang="zh-CN" altLang="en-US" b="1" dirty="0">
                <a:solidFill>
                  <a:prstClr val="black"/>
                </a:solidFill>
                <a:latin typeface="Times New Roman" panose="02020603050405020304" pitchFamily="18" charset="0"/>
                <a:ea typeface="华文楷体" panose="02010600040101010101" pitchFamily="2" charset="-122"/>
                <a:cs typeface="Times New Roman" pitchFamily="18" charset="0"/>
              </a:rPr>
              <a:t>：指示一个临时变量，该临时变量用于累加公式中的</a:t>
            </a:r>
            <a:r>
              <a:rPr lang="en-US" altLang="zh-CN" b="1" dirty="0" err="1">
                <a:solidFill>
                  <a:prstClr val="black"/>
                </a:solidFill>
                <a:latin typeface="Times New Roman" panose="02020603050405020304" pitchFamily="18" charset="0"/>
                <a:ea typeface="华文楷体" panose="02010600040101010101" pitchFamily="2" charset="-122"/>
                <a:cs typeface="Times New Roman" pitchFamily="18" charset="0"/>
              </a:rPr>
              <a:t>ij</a:t>
            </a:r>
            <a:r>
              <a:rPr lang="en-US" altLang="zh-CN" b="1" dirty="0">
                <a:solidFill>
                  <a:prstClr val="black"/>
                </a:solidFill>
                <a:latin typeface="Times New Roman" panose="02020603050405020304" pitchFamily="18" charset="0"/>
                <a:ea typeface="华文楷体" panose="02010600040101010101" pitchFamily="2" charset="-122"/>
                <a:cs typeface="Times New Roman" pitchFamily="18" charset="0"/>
              </a:rPr>
              <a:t> × </a:t>
            </a:r>
            <a:r>
              <a:rPr lang="en-US" altLang="zh-CN" b="1" dirty="0" err="1">
                <a:solidFill>
                  <a:prstClr val="black"/>
                </a:solidFill>
                <a:latin typeface="Times New Roman" panose="02020603050405020304" pitchFamily="18" charset="0"/>
                <a:ea typeface="华文楷体" panose="02010600040101010101" pitchFamily="2" charset="-122"/>
                <a:cs typeface="Times New Roman" pitchFamily="18" charset="0"/>
              </a:rPr>
              <a:t>wj</a:t>
            </a:r>
            <a:r>
              <a:rPr lang="zh-CN" altLang="en-US" b="1" dirty="0">
                <a:solidFill>
                  <a:prstClr val="black"/>
                </a:solidFill>
                <a:latin typeface="Times New Roman" panose="02020603050405020304" pitchFamily="18" charset="0"/>
                <a:ea typeface="华文楷体" panose="02010600040101010101" pitchFamily="2" charset="-122"/>
                <a:cs typeface="Times New Roman" pitchFamily="18" charset="0"/>
              </a:rPr>
              <a:t>项，从而计算数组引用的偏移量</a:t>
            </a:r>
            <a:endParaRPr lang="en-US" altLang="zh-CN" b="1" dirty="0">
              <a:solidFill>
                <a:prstClr val="black"/>
              </a:solidFill>
              <a:latin typeface="Times New Roman" panose="02020603050405020304" pitchFamily="18" charset="0"/>
              <a:ea typeface="华文楷体" panose="02010600040101010101" pitchFamily="2" charset="-122"/>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69</a:t>
            </a:fld>
            <a:endParaRPr lang="zh-CN" altLang="en-US"/>
          </a:p>
        </p:txBody>
      </p:sp>
    </p:spTree>
    <p:extLst>
      <p:ext uri="{BB962C8B-B14F-4D97-AF65-F5344CB8AC3E}">
        <p14:creationId xmlns:p14="http://schemas.microsoft.com/office/powerpoint/2010/main" val="388323372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70</a:t>
            </a:fld>
            <a:endParaRPr lang="zh-CN" altLang="en-US"/>
          </a:p>
        </p:txBody>
      </p:sp>
    </p:spTree>
    <p:extLst>
      <p:ext uri="{BB962C8B-B14F-4D97-AF65-F5344CB8AC3E}">
        <p14:creationId xmlns:p14="http://schemas.microsoft.com/office/powerpoint/2010/main" val="202812008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要进行类型检查，编译器需要为源程序的每个组件分配一个类型表达式</a:t>
            </a:r>
          </a:p>
          <a:p>
            <a:r>
              <a:rPr lang="zh-CN" altLang="en-US" dirty="0"/>
              <a:t>编译器然后确定类型表达式符合逻辑规则的集合（即类型系统）</a:t>
            </a:r>
          </a:p>
          <a:p>
            <a:r>
              <a:rPr lang="zh-CN" altLang="en-US" dirty="0"/>
              <a:t>健全的类型系统允许我们静态地确定类型错误不会在运行时发生</a:t>
            </a:r>
          </a:p>
          <a:p>
            <a:r>
              <a:rPr lang="zh-CN" altLang="en-US" dirty="0"/>
              <a:t>如果编译器保证其接受的程序在运行时不会出现类型错误，则语言是强类型的（健全的类型系统）</a:t>
            </a:r>
          </a:p>
          <a:p>
            <a:r>
              <a:rPr lang="zh-CN" altLang="en-US" dirty="0"/>
              <a:t>强类型：</a:t>
            </a:r>
            <a:r>
              <a:rPr lang="en-US" altLang="zh-CN" dirty="0"/>
              <a:t>Java</a:t>
            </a:r>
            <a:r>
              <a:rPr lang="zh-CN" altLang="en-US" dirty="0"/>
              <a:t>（</a:t>
            </a:r>
            <a:r>
              <a:rPr lang="en-US" altLang="zh-CN" dirty="0"/>
              <a:t>double a</a:t>
            </a:r>
            <a:r>
              <a:rPr lang="zh-CN" altLang="en-US" dirty="0"/>
              <a:t>；</a:t>
            </a:r>
            <a:r>
              <a:rPr lang="en-US" altLang="zh-CN" dirty="0"/>
              <a:t>int b=a</a:t>
            </a:r>
            <a:r>
              <a:rPr lang="zh-CN" altLang="en-US" dirty="0"/>
              <a:t>；</a:t>
            </a:r>
            <a:r>
              <a:rPr lang="en-US" altLang="zh-CN" dirty="0"/>
              <a:t>//</a:t>
            </a:r>
            <a:r>
              <a:rPr lang="zh-CN" altLang="en-US" dirty="0"/>
              <a:t>无法编译）</a:t>
            </a:r>
          </a:p>
          <a:p>
            <a:r>
              <a:rPr lang="zh-CN" altLang="en-US" dirty="0"/>
              <a:t>弱类型：</a:t>
            </a:r>
            <a:r>
              <a:rPr lang="en-US" altLang="zh-CN" dirty="0"/>
              <a:t>C/C++</a:t>
            </a:r>
            <a:r>
              <a:rPr lang="zh-CN" altLang="en-US" dirty="0"/>
              <a:t>（</a:t>
            </a:r>
            <a:r>
              <a:rPr lang="en-US" altLang="zh-CN" dirty="0"/>
              <a:t>double a</a:t>
            </a:r>
            <a:r>
              <a:rPr lang="zh-CN" altLang="en-US" dirty="0"/>
              <a:t>；</a:t>
            </a:r>
            <a:r>
              <a:rPr lang="en-US" altLang="zh-CN" dirty="0"/>
              <a:t>int b=a</a:t>
            </a:r>
            <a:r>
              <a:rPr lang="zh-CN" altLang="en-US" dirty="0"/>
              <a:t>；</a:t>
            </a:r>
            <a:r>
              <a:rPr lang="en-US" altLang="zh-CN" dirty="0"/>
              <a:t>//</a:t>
            </a:r>
            <a:r>
              <a:rPr lang="zh-CN" altLang="en-US" dirty="0"/>
              <a:t>隐式转换）</a:t>
            </a:r>
            <a:endParaRPr lang="en-US" altLang="zh-CN" dirty="0"/>
          </a:p>
          <a:p>
            <a:endParaRPr lang="en-US" altLang="zh-CN" dirty="0"/>
          </a:p>
          <a:p>
            <a:endParaRPr lang="en-US" altLang="zh-CN" dirty="0"/>
          </a:p>
          <a:p>
            <a:r>
              <a:rPr lang="zh-CN" altLang="zh-CN" sz="1200" kern="1200" dirty="0">
                <a:solidFill>
                  <a:schemeClr val="tx1"/>
                </a:solidFill>
                <a:effectLst/>
                <a:latin typeface="+mn-lt"/>
                <a:ea typeface="+mn-ea"/>
                <a:cs typeface="+mn-cs"/>
              </a:rPr>
              <a:t>为了进行类型检查</a:t>
            </a:r>
            <a:r>
              <a:rPr lang="en-US" altLang="zh-CN" sz="1200" kern="1200" dirty="0">
                <a:solidFill>
                  <a:schemeClr val="tx1"/>
                </a:solidFill>
                <a:effectLst/>
                <a:latin typeface="+mn-lt"/>
                <a:ea typeface="+mn-ea"/>
                <a:cs typeface="+mn-cs"/>
              </a:rPr>
              <a:t>(type checking)</a:t>
            </a:r>
            <a:r>
              <a:rPr lang="zh-CN" altLang="zh-CN" sz="1200" kern="1200" dirty="0">
                <a:solidFill>
                  <a:schemeClr val="tx1"/>
                </a:solidFill>
                <a:effectLst/>
                <a:latin typeface="+mn-lt"/>
                <a:ea typeface="+mn-ea"/>
                <a:cs typeface="+mn-cs"/>
              </a:rPr>
              <a:t>，编译器需要给源程序的每一个组成部分赋予一个类型表达式。然后，编译器要确定这些类型表达式是否满足一组逻辑规则。这些规则称为源语言的类型系统</a:t>
            </a:r>
            <a:r>
              <a:rPr lang="en-US" altLang="zh-CN" sz="1200" kern="1200" dirty="0">
                <a:solidFill>
                  <a:schemeClr val="tx1"/>
                </a:solidFill>
                <a:effectLst/>
                <a:latin typeface="+mn-lt"/>
                <a:ea typeface="+mn-ea"/>
                <a:cs typeface="+mn-cs"/>
              </a:rPr>
              <a:t>(type system)</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类型检查具有发现程序中的错误的潜能。原则上，如果目标代码在保存元素值的同时保存了元素类型的信息，那么任何检查都可以动态地进行。一个健全</a:t>
            </a:r>
            <a:r>
              <a:rPr lang="en-US" altLang="zh-CN" sz="1200" kern="1200" dirty="0">
                <a:solidFill>
                  <a:schemeClr val="tx1"/>
                </a:solidFill>
                <a:effectLst/>
                <a:latin typeface="+mn-lt"/>
                <a:ea typeface="+mn-ea"/>
                <a:cs typeface="+mn-cs"/>
              </a:rPr>
              <a:t>(sound)</a:t>
            </a:r>
            <a:r>
              <a:rPr lang="zh-CN" altLang="zh-CN" sz="1200" kern="1200" dirty="0">
                <a:solidFill>
                  <a:schemeClr val="tx1"/>
                </a:solidFill>
                <a:effectLst/>
                <a:latin typeface="+mn-lt"/>
                <a:ea typeface="+mn-ea"/>
                <a:cs typeface="+mn-cs"/>
              </a:rPr>
              <a:t>的类型系统可以消除对动态类型错误检查的需要，因为它可以帮助我们静态地确定这些错误不会在目标程序运行的时候发生。如果编译器可以保证它接受的程序在运行时刻不会发生类型错误，那么该语言的这个实现就被称为强类型的。</a:t>
            </a:r>
          </a:p>
          <a:p>
            <a:r>
              <a:rPr lang="zh-CN" altLang="zh-CN" sz="1200" kern="1200" dirty="0">
                <a:solidFill>
                  <a:schemeClr val="tx1"/>
                </a:solidFill>
                <a:effectLst/>
                <a:latin typeface="+mn-lt"/>
                <a:ea typeface="+mn-ea"/>
                <a:cs typeface="+mn-cs"/>
              </a:rPr>
              <a:t>除了用于编译，类型检查的思想还可以用于提高系统的安全性，使得人们安全地导入和执行软件模块。</a:t>
            </a:r>
            <a:r>
              <a:rPr lang="en-US" altLang="zh-CN" sz="1200" kern="1200" dirty="0">
                <a:solidFill>
                  <a:schemeClr val="tx1"/>
                </a:solidFill>
                <a:effectLst/>
                <a:latin typeface="+mn-lt"/>
                <a:ea typeface="+mn-ea"/>
                <a:cs typeface="+mn-cs"/>
              </a:rPr>
              <a:t>Java</a:t>
            </a:r>
            <a:r>
              <a:rPr lang="zh-CN" altLang="zh-CN" sz="1200" kern="1200" dirty="0">
                <a:solidFill>
                  <a:schemeClr val="tx1"/>
                </a:solidFill>
                <a:effectLst/>
                <a:latin typeface="+mn-lt"/>
                <a:ea typeface="+mn-ea"/>
                <a:cs typeface="+mn-cs"/>
              </a:rPr>
              <a:t>程序被编译成为机器无关的字节码，在字节码中包含了有关字节码中的运算的详细类型信息。导入的代码在被执行之前首先要进行类型检查，以防止因疏忽造成的错误和恶意攻击。</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71</a:t>
            </a:fld>
            <a:endParaRPr lang="zh-CN" altLang="en-US"/>
          </a:p>
        </p:txBody>
      </p:sp>
    </p:spTree>
    <p:extLst>
      <p:ext uri="{BB962C8B-B14F-4D97-AF65-F5344CB8AC3E}">
        <p14:creationId xmlns:p14="http://schemas.microsoft.com/office/powerpoint/2010/main" val="408601694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类型合成：</a:t>
            </a:r>
            <a:endParaRPr lang="en-US" altLang="zh-CN" dirty="0"/>
          </a:p>
          <a:p>
            <a:r>
              <a:rPr lang="zh-CN" altLang="en-US" dirty="0"/>
              <a:t>根据子表达式的类型建立表达式的类型</a:t>
            </a:r>
          </a:p>
          <a:p>
            <a:r>
              <a:rPr lang="zh-CN" altLang="en-US" dirty="0"/>
              <a:t>典型形式：如果𝑓 具有类型𝑠 → 𝑡 和𝑥 具有类型𝑠</a:t>
            </a:r>
            <a:r>
              <a:rPr lang="en-US" altLang="zh-CN" dirty="0"/>
              <a:t>, </a:t>
            </a:r>
            <a:r>
              <a:rPr lang="zh-CN" altLang="en-US" dirty="0"/>
              <a:t>那么表达式𝑓</a:t>
            </a:r>
            <a:r>
              <a:rPr lang="en-US" altLang="zh-CN" dirty="0"/>
              <a:t>(</a:t>
            </a:r>
            <a:r>
              <a:rPr lang="zh-CN" altLang="en-US" dirty="0"/>
              <a:t>𝑥</a:t>
            </a:r>
            <a:r>
              <a:rPr lang="en-US" altLang="zh-CN" dirty="0"/>
              <a:t>)</a:t>
            </a:r>
            <a:r>
              <a:rPr lang="zh-CN" altLang="en-US" dirty="0"/>
              <a:t>具有类型𝑡</a:t>
            </a:r>
          </a:p>
          <a:p>
            <a:r>
              <a:rPr lang="zh-CN" altLang="en-US" dirty="0"/>
              <a:t>示例：𝑓</a:t>
            </a:r>
            <a:r>
              <a:rPr lang="en-US" altLang="zh-CN" dirty="0"/>
              <a:t>(</a:t>
            </a:r>
            <a:r>
              <a:rPr lang="zh-CN" altLang="en-US" dirty="0"/>
              <a:t>𝑥</a:t>
            </a:r>
            <a:r>
              <a:rPr lang="en-US" altLang="zh-CN" dirty="0"/>
              <a:t>) = −</a:t>
            </a:r>
            <a:r>
              <a:rPr lang="zh-CN" altLang="en-US" dirty="0"/>
              <a:t>𝑥 （可以推广到多参数的情况）</a:t>
            </a:r>
            <a:endParaRPr lang="en-US" altLang="zh-CN" dirty="0"/>
          </a:p>
          <a:p>
            <a:r>
              <a:rPr lang="zh-CN" altLang="en-US" dirty="0"/>
              <a:t>类型推导：</a:t>
            </a:r>
            <a:endParaRPr lang="en-US" altLang="zh-CN" dirty="0"/>
          </a:p>
          <a:p>
            <a:r>
              <a:rPr lang="zh-CN" altLang="en-US" dirty="0"/>
              <a:t>根据语言结构的使用方式确定其类型</a:t>
            </a:r>
          </a:p>
          <a:p>
            <a:r>
              <a:rPr lang="zh-CN" altLang="en-US" dirty="0"/>
              <a:t>典型形式：如果𝑓</a:t>
            </a:r>
            <a:r>
              <a:rPr lang="en-US" altLang="zh-CN" dirty="0"/>
              <a:t>(</a:t>
            </a:r>
            <a:r>
              <a:rPr lang="zh-CN" altLang="en-US" dirty="0"/>
              <a:t>𝑥</a:t>
            </a:r>
            <a:r>
              <a:rPr lang="en-US" altLang="zh-CN" dirty="0"/>
              <a:t>) </a:t>
            </a:r>
            <a:r>
              <a:rPr lang="zh-CN" altLang="en-US" dirty="0"/>
              <a:t>是表达式，则对于某些类型𝛼 和𝛽</a:t>
            </a:r>
            <a:r>
              <a:rPr lang="en-US" altLang="zh-CN" dirty="0"/>
              <a:t>, </a:t>
            </a:r>
            <a:r>
              <a:rPr lang="zh-CN" altLang="en-US" dirty="0"/>
              <a:t>𝑓具有类型𝛼 → 𝛽 和𝑥 具有类型𝛼</a:t>
            </a:r>
          </a:p>
          <a:p>
            <a:r>
              <a:rPr lang="zh-CN" altLang="en-US" dirty="0"/>
              <a:t>示例：𝑛𝑢𝑙𝑙 是一个测试列表是否为空的函数，然后从用法𝑛𝑢𝑙𝑙</a:t>
            </a:r>
            <a:r>
              <a:rPr lang="en-US" altLang="zh-CN" dirty="0"/>
              <a:t>(</a:t>
            </a:r>
            <a:r>
              <a:rPr lang="zh-CN" altLang="en-US" dirty="0"/>
              <a:t>𝑥</a:t>
            </a:r>
            <a:r>
              <a:rPr lang="en-US" altLang="zh-CN" dirty="0"/>
              <a:t>), </a:t>
            </a:r>
            <a:r>
              <a:rPr lang="zh-CN" altLang="en-US" dirty="0"/>
              <a:t>我们可以看出𝑥 必须是列表</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72</a:t>
            </a:fld>
            <a:endParaRPr lang="zh-CN" altLang="en-US"/>
          </a:p>
        </p:txBody>
      </p:sp>
    </p:spTree>
    <p:extLst>
      <p:ext uri="{BB962C8B-B14F-4D97-AF65-F5344CB8AC3E}">
        <p14:creationId xmlns:p14="http://schemas.microsoft.com/office/powerpoint/2010/main" val="172275847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考虑类似于</a:t>
            </a:r>
            <a:r>
              <a:rPr lang="en-US" altLang="zh-CN" sz="1200" kern="1200" dirty="0">
                <a:solidFill>
                  <a:schemeClr val="tx1"/>
                </a:solidFill>
                <a:effectLst/>
                <a:latin typeface="+mn-lt"/>
                <a:ea typeface="+mn-ea"/>
                <a:cs typeface="+mn-cs"/>
              </a:rPr>
              <a:t>x  + </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的表达式，其中</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是浮点数类型而</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是整型。因为整数和浮点数在计算机中有不同的表示形式，而且使用不同的机器指令来完成整数和浮点数运算</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编译器需要把＋的某个运算分量进行转换，以保证在进行加法运算时两个运算分量具有相同的类型。</a:t>
            </a:r>
          </a:p>
          <a:p>
            <a:endParaRPr lang="en-US" altLang="zh-CN" dirty="0"/>
          </a:p>
          <a:p>
            <a:r>
              <a:rPr lang="zh-CN" altLang="zh-CN" sz="1200" kern="1200" dirty="0">
                <a:solidFill>
                  <a:schemeClr val="tx1"/>
                </a:solidFill>
                <a:effectLst/>
                <a:latin typeface="+mn-lt"/>
                <a:ea typeface="+mn-ea"/>
                <a:cs typeface="+mn-cs"/>
              </a:rPr>
              <a:t>假定在必要的时候可以使用一个单目运算符</a:t>
            </a:r>
            <a:r>
              <a:rPr lang="en-US" altLang="zh-CN" sz="1200" kern="1200" dirty="0">
                <a:solidFill>
                  <a:schemeClr val="tx1"/>
                </a:solidFill>
                <a:effectLst/>
                <a:latin typeface="+mn-lt"/>
                <a:ea typeface="+mn-ea"/>
                <a:cs typeface="+mn-cs"/>
              </a:rPr>
              <a:t>(float)</a:t>
            </a:r>
            <a:r>
              <a:rPr lang="zh-CN" altLang="zh-CN" sz="1200" kern="1200" dirty="0">
                <a:solidFill>
                  <a:schemeClr val="tx1"/>
                </a:solidFill>
                <a:effectLst/>
                <a:latin typeface="+mn-lt"/>
                <a:ea typeface="+mn-ea"/>
                <a:cs typeface="+mn-cs"/>
              </a:rPr>
              <a:t>将整数转换成浮点数</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例如，整数</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在表达式</a:t>
            </a:r>
            <a:r>
              <a:rPr lang="en-US" altLang="zh-CN" sz="1200" kern="1200" dirty="0">
                <a:solidFill>
                  <a:schemeClr val="tx1"/>
                </a:solidFill>
                <a:effectLst/>
                <a:latin typeface="+mn-lt"/>
                <a:ea typeface="+mn-ea"/>
                <a:cs typeface="+mn-cs"/>
              </a:rPr>
              <a:t>2 * 3. 14</a:t>
            </a:r>
            <a:r>
              <a:rPr lang="zh-CN" altLang="zh-CN" sz="1200" kern="1200" dirty="0">
                <a:solidFill>
                  <a:schemeClr val="tx1"/>
                </a:solidFill>
                <a:effectLst/>
                <a:latin typeface="+mn-lt"/>
                <a:ea typeface="+mn-ea"/>
                <a:cs typeface="+mn-cs"/>
              </a:rPr>
              <a:t>对应的代码中被转换成浮点数：</a:t>
            </a:r>
          </a:p>
          <a:p>
            <a:r>
              <a:rPr lang="en-US" altLang="zh-CN" sz="1200" kern="1200" dirty="0">
                <a:solidFill>
                  <a:schemeClr val="tx1"/>
                </a:solidFill>
                <a:effectLst/>
                <a:latin typeface="+mn-lt"/>
                <a:ea typeface="+mn-ea"/>
                <a:cs typeface="+mn-cs"/>
              </a:rPr>
              <a:t>t1 = (float) 2</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t2 = t1 * 3. 14</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我们可以扩展这样例子，考虑运算符的整型和浮点型版本。比如，</a:t>
            </a:r>
            <a:r>
              <a:rPr lang="en-US" altLang="zh-CN" sz="1200" kern="1200" dirty="0">
                <a:solidFill>
                  <a:schemeClr val="tx1"/>
                </a:solidFill>
                <a:effectLst/>
                <a:latin typeface="+mn-lt"/>
                <a:ea typeface="+mn-ea"/>
                <a:cs typeface="+mn-cs"/>
              </a:rPr>
              <a:t>int *</a:t>
            </a:r>
            <a:r>
              <a:rPr lang="zh-CN" altLang="zh-CN" sz="1200" kern="1200" dirty="0">
                <a:solidFill>
                  <a:schemeClr val="tx1"/>
                </a:solidFill>
                <a:effectLst/>
                <a:latin typeface="+mn-lt"/>
                <a:ea typeface="+mn-ea"/>
                <a:cs typeface="+mn-cs"/>
              </a:rPr>
              <a:t>表示作用于整型运算分量的运算符，而</a:t>
            </a:r>
            <a:r>
              <a:rPr lang="en-US" altLang="zh-CN" sz="1200" kern="1200" dirty="0">
                <a:solidFill>
                  <a:schemeClr val="tx1"/>
                </a:solidFill>
                <a:effectLst/>
                <a:latin typeface="+mn-lt"/>
                <a:ea typeface="+mn-ea"/>
                <a:cs typeface="+mn-cs"/>
              </a:rPr>
              <a:t>float</a:t>
            </a:r>
            <a:r>
              <a:rPr lang="zh-CN" altLang="zh-CN" sz="1200" kern="1200" dirty="0">
                <a:solidFill>
                  <a:schemeClr val="tx1"/>
                </a:solidFill>
                <a:effectLst/>
                <a:latin typeface="+mn-lt"/>
                <a:ea typeface="+mn-ea"/>
                <a:cs typeface="+mn-cs"/>
              </a:rPr>
              <a:t>＊表示作用于浮点型运算分量的运算符。</a:t>
            </a:r>
          </a:p>
          <a:p>
            <a:r>
              <a:rPr lang="zh-CN" altLang="zh-CN" sz="1200" kern="1200" dirty="0">
                <a:solidFill>
                  <a:schemeClr val="tx1"/>
                </a:solidFill>
                <a:effectLst/>
                <a:latin typeface="+mn-lt"/>
                <a:ea typeface="+mn-ea"/>
                <a:cs typeface="+mn-cs"/>
              </a:rPr>
              <a:t>我们将扩展</a:t>
            </a:r>
            <a:r>
              <a:rPr lang="en-US" altLang="zh-CN" sz="1200" kern="1200" dirty="0">
                <a:solidFill>
                  <a:schemeClr val="tx1"/>
                </a:solidFill>
                <a:effectLst/>
                <a:latin typeface="+mn-lt"/>
                <a:ea typeface="+mn-ea"/>
                <a:cs typeface="+mn-cs"/>
              </a:rPr>
              <a:t>6.4.2</a:t>
            </a:r>
            <a:r>
              <a:rPr lang="zh-CN" altLang="zh-CN" sz="1200" kern="1200" dirty="0">
                <a:solidFill>
                  <a:schemeClr val="tx1"/>
                </a:solidFill>
                <a:effectLst/>
                <a:latin typeface="+mn-lt"/>
                <a:ea typeface="+mn-ea"/>
                <a:cs typeface="+mn-cs"/>
              </a:rPr>
              <a:t>节中的用于表达式翻译的翻译方案，以说明如何进行类型综合。我们引入</a:t>
            </a:r>
          </a:p>
          <a:p>
            <a:r>
              <a:rPr lang="zh-CN" altLang="zh-CN" sz="1200" kern="1200" dirty="0">
                <a:solidFill>
                  <a:schemeClr val="tx1"/>
                </a:solidFill>
                <a:effectLst/>
                <a:latin typeface="+mn-lt"/>
                <a:ea typeface="+mn-ea"/>
                <a:cs typeface="+mn-cs"/>
              </a:rPr>
              <a:t>另一个属性</a:t>
            </a:r>
            <a:r>
              <a:rPr lang="en-US" altLang="zh-CN" sz="1200" kern="1200" dirty="0">
                <a:solidFill>
                  <a:schemeClr val="tx1"/>
                </a:solidFill>
                <a:effectLst/>
                <a:latin typeface="+mn-lt"/>
                <a:ea typeface="+mn-ea"/>
                <a:cs typeface="+mn-cs"/>
              </a:rPr>
              <a:t>E. type,</a:t>
            </a:r>
            <a:r>
              <a:rPr lang="zh-CN" altLang="zh-CN" sz="1200" kern="1200" dirty="0">
                <a:solidFill>
                  <a:schemeClr val="tx1"/>
                </a:solidFill>
                <a:effectLst/>
                <a:latin typeface="+mn-lt"/>
                <a:ea typeface="+mn-ea"/>
                <a:cs typeface="+mn-cs"/>
              </a:rPr>
              <a:t>该属性的值可以是</a:t>
            </a:r>
            <a:r>
              <a:rPr lang="en-US" altLang="zh-CN" sz="1200" kern="1200" dirty="0">
                <a:solidFill>
                  <a:schemeClr val="tx1"/>
                </a:solidFill>
                <a:effectLst/>
                <a:latin typeface="+mn-lt"/>
                <a:ea typeface="+mn-ea"/>
                <a:cs typeface="+mn-cs"/>
              </a:rPr>
              <a:t>integer</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float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E2</a:t>
            </a:r>
            <a:r>
              <a:rPr lang="zh-CN" altLang="zh-CN" sz="1200" kern="1200" dirty="0">
                <a:solidFill>
                  <a:schemeClr val="tx1"/>
                </a:solidFill>
                <a:effectLst/>
                <a:latin typeface="+mn-lt"/>
                <a:ea typeface="+mn-ea"/>
                <a:cs typeface="+mn-cs"/>
              </a:rPr>
              <a:t>相关的规则可用如下的伪代码给出：</a:t>
            </a:r>
          </a:p>
          <a:p>
            <a:r>
              <a:rPr lang="zh-CN" altLang="en-US" dirty="0"/>
              <a:t>简单情况的类型转换</a:t>
            </a:r>
            <a:r>
              <a:rPr lang="en-US" altLang="zh-CN" dirty="0"/>
              <a:t>SDT</a:t>
            </a:r>
            <a:r>
              <a:rPr lang="zh-CN" altLang="en-US" dirty="0"/>
              <a:t>（使用类型合成）</a:t>
            </a:r>
          </a:p>
          <a:p>
            <a:r>
              <a:rPr lang="zh-CN" altLang="en-US" dirty="0"/>
              <a:t>𝐸 → 𝐸</a:t>
            </a:r>
            <a:r>
              <a:rPr lang="en-US" altLang="zh-CN" dirty="0"/>
              <a:t>1+</a:t>
            </a:r>
            <a:r>
              <a:rPr lang="zh-CN" altLang="en-US" dirty="0"/>
              <a:t>𝐸</a:t>
            </a:r>
            <a:r>
              <a:rPr lang="en-US" altLang="zh-CN" dirty="0"/>
              <a:t>2.</a:t>
            </a:r>
          </a:p>
          <a:p>
            <a:r>
              <a:rPr lang="zh-CN" altLang="en-US" dirty="0"/>
              <a:t>｛𝐢𝐟</a:t>
            </a:r>
            <a:r>
              <a:rPr lang="en-US" altLang="zh-CN" dirty="0"/>
              <a:t>(</a:t>
            </a:r>
            <a:r>
              <a:rPr lang="zh-CN" altLang="en-US" dirty="0"/>
              <a:t>𝐸</a:t>
            </a:r>
            <a:r>
              <a:rPr lang="en-US" altLang="zh-CN" dirty="0"/>
              <a:t>1.</a:t>
            </a:r>
            <a:r>
              <a:rPr lang="zh-CN" altLang="en-US" dirty="0"/>
              <a:t>𝑡𝑦𝑝𝑒 </a:t>
            </a:r>
            <a:r>
              <a:rPr lang="en-US" altLang="zh-CN" dirty="0"/>
              <a:t>= </a:t>
            </a:r>
            <a:r>
              <a:rPr lang="zh-CN" altLang="en-US" dirty="0"/>
              <a:t>𝑖𝑛𝑡𝑒𝑔𝑒𝑟 𝐚𝐧𝐝 𝐸</a:t>
            </a:r>
            <a:r>
              <a:rPr lang="en-US" altLang="zh-CN" dirty="0"/>
              <a:t>2.</a:t>
            </a:r>
            <a:r>
              <a:rPr lang="zh-CN" altLang="en-US" dirty="0"/>
              <a:t>𝑡𝑦𝑝𝑒 </a:t>
            </a:r>
            <a:r>
              <a:rPr lang="en-US" altLang="zh-CN" dirty="0"/>
              <a:t>= </a:t>
            </a:r>
            <a:r>
              <a:rPr lang="zh-CN" altLang="en-US" dirty="0"/>
              <a:t>𝑖𝑛𝑡𝑒𝑔𝑒𝑟</a:t>
            </a:r>
            <a:r>
              <a:rPr lang="en-US" altLang="zh-CN" dirty="0"/>
              <a:t>) </a:t>
            </a:r>
            <a:r>
              <a:rPr lang="zh-CN" altLang="en-US" dirty="0"/>
              <a:t>𝐸</a:t>
            </a:r>
            <a:r>
              <a:rPr lang="en-US" altLang="zh-CN" dirty="0"/>
              <a:t>. </a:t>
            </a:r>
            <a:r>
              <a:rPr lang="zh-CN" altLang="en-US" dirty="0"/>
              <a:t>𝑡𝑦𝑝𝑒 </a:t>
            </a:r>
            <a:r>
              <a:rPr lang="en-US" altLang="zh-CN" dirty="0"/>
              <a:t>= </a:t>
            </a:r>
            <a:r>
              <a:rPr lang="zh-CN" altLang="en-US" dirty="0"/>
              <a:t>𝑖𝑛𝑡𝑒𝑔𝑒𝑟</a:t>
            </a:r>
            <a:r>
              <a:rPr lang="en-US" altLang="zh-CN" dirty="0"/>
              <a:t>;</a:t>
            </a:r>
          </a:p>
          <a:p>
            <a:r>
              <a:rPr lang="zh-CN" altLang="en-US" dirty="0"/>
              <a:t>𝐞𝐥𝐬𝐞 𝐢𝐟  𝐸</a:t>
            </a:r>
            <a:r>
              <a:rPr lang="en-US" altLang="zh-CN" dirty="0"/>
              <a:t>1.</a:t>
            </a:r>
            <a:r>
              <a:rPr lang="zh-CN" altLang="en-US" dirty="0"/>
              <a:t>𝑡𝑦𝑝𝑒  </a:t>
            </a:r>
            <a:r>
              <a:rPr lang="en-US" altLang="zh-CN" dirty="0"/>
              <a:t>=  </a:t>
            </a:r>
            <a:r>
              <a:rPr lang="zh-CN" altLang="en-US" dirty="0"/>
              <a:t>𝑓𝑙𝑜𝑎𝑡 𝐚𝐧𝐝 𝐸</a:t>
            </a:r>
            <a:r>
              <a:rPr lang="en-US" altLang="zh-CN" dirty="0"/>
              <a:t>2.</a:t>
            </a:r>
            <a:r>
              <a:rPr lang="zh-CN" altLang="en-US" dirty="0"/>
              <a:t>𝑡𝑦𝑝𝑒  </a:t>
            </a:r>
            <a:r>
              <a:rPr lang="en-US" altLang="zh-CN" dirty="0"/>
              <a:t>=  </a:t>
            </a:r>
            <a:r>
              <a:rPr lang="zh-CN" altLang="en-US" dirty="0"/>
              <a:t>𝑖𝑛𝑡𝑒𝑔𝑒𝑟𝐸</a:t>
            </a:r>
            <a:r>
              <a:rPr lang="en-US" altLang="zh-CN" dirty="0"/>
              <a:t>. </a:t>
            </a:r>
            <a:r>
              <a:rPr lang="zh-CN" altLang="en-US" dirty="0"/>
              <a:t>𝑡𝑦𝑝𝑒  </a:t>
            </a:r>
            <a:r>
              <a:rPr lang="en-US" altLang="zh-CN" dirty="0"/>
              <a:t>=  </a:t>
            </a:r>
            <a:r>
              <a:rPr lang="zh-CN" altLang="en-US" dirty="0"/>
              <a:t>𝑓𝑙𝑜𝑎𝑡</a:t>
            </a:r>
            <a:r>
              <a:rPr lang="en-US" altLang="zh-CN" dirty="0"/>
              <a:t>;</a:t>
            </a:r>
          </a:p>
          <a:p>
            <a:r>
              <a:rPr lang="en-US" altLang="zh-CN" dirty="0"/>
              <a:t>…</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73</a:t>
            </a:fld>
            <a:endParaRPr lang="zh-CN" altLang="en-US"/>
          </a:p>
        </p:txBody>
      </p:sp>
    </p:spTree>
    <p:extLst>
      <p:ext uri="{BB962C8B-B14F-4D97-AF65-F5344CB8AC3E}">
        <p14:creationId xmlns:p14="http://schemas.microsoft.com/office/powerpoint/2010/main" val="101803421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随着需要转换的类型的增多，需要处理的不同情况也急剧增多。因此，在处理大量的类型时，精心组织用于类型转换的语义动作就变得非常重要。</a:t>
            </a:r>
          </a:p>
          <a:p>
            <a:r>
              <a:rPr lang="zh-CN" altLang="zh-CN" sz="1200" kern="1200" dirty="0">
                <a:solidFill>
                  <a:schemeClr val="tx1"/>
                </a:solidFill>
                <a:effectLst/>
                <a:latin typeface="+mn-lt"/>
                <a:ea typeface="+mn-ea"/>
                <a:cs typeface="+mn-cs"/>
              </a:rPr>
              <a:t>不同语言具有不同的类型转换规则。图</a:t>
            </a:r>
            <a:r>
              <a:rPr lang="en-US" altLang="zh-CN" sz="1200" kern="1200" dirty="0">
                <a:solidFill>
                  <a:schemeClr val="tx1"/>
                </a:solidFill>
                <a:effectLst/>
                <a:latin typeface="+mn-lt"/>
                <a:ea typeface="+mn-ea"/>
                <a:cs typeface="+mn-cs"/>
              </a:rPr>
              <a:t>6-25</a:t>
            </a:r>
            <a:r>
              <a:rPr lang="zh-CN" altLang="zh-CN" sz="1200" kern="1200" dirty="0">
                <a:solidFill>
                  <a:schemeClr val="tx1"/>
                </a:solidFill>
                <a:effectLst/>
                <a:latin typeface="+mn-lt"/>
                <a:ea typeface="+mn-ea"/>
                <a:cs typeface="+mn-cs"/>
              </a:rPr>
              <a:t>中的</a:t>
            </a:r>
            <a:r>
              <a:rPr lang="en-US" altLang="zh-CN" sz="1200" kern="1200" dirty="0">
                <a:solidFill>
                  <a:schemeClr val="tx1"/>
                </a:solidFill>
                <a:effectLst/>
                <a:latin typeface="+mn-lt"/>
                <a:ea typeface="+mn-ea"/>
                <a:cs typeface="+mn-cs"/>
              </a:rPr>
              <a:t>Java</a:t>
            </a:r>
            <a:r>
              <a:rPr lang="zh-CN" altLang="zh-CN" sz="1200" kern="1200" dirty="0">
                <a:solidFill>
                  <a:schemeClr val="tx1"/>
                </a:solidFill>
                <a:effectLst/>
                <a:latin typeface="+mn-lt"/>
                <a:ea typeface="+mn-ea"/>
                <a:cs typeface="+mn-cs"/>
              </a:rPr>
              <a:t>的转换规则区分了拓宽</a:t>
            </a:r>
            <a:r>
              <a:rPr lang="en-US" altLang="zh-CN" sz="1200" kern="1200" dirty="0">
                <a:solidFill>
                  <a:schemeClr val="tx1"/>
                </a:solidFill>
                <a:effectLst/>
                <a:latin typeface="+mn-lt"/>
                <a:ea typeface="+mn-ea"/>
                <a:cs typeface="+mn-cs"/>
              </a:rPr>
              <a:t>(widening)</a:t>
            </a:r>
            <a:r>
              <a:rPr lang="zh-CN" altLang="zh-CN" sz="1200" kern="1200" dirty="0">
                <a:solidFill>
                  <a:schemeClr val="tx1"/>
                </a:solidFill>
                <a:effectLst/>
                <a:latin typeface="+mn-lt"/>
                <a:ea typeface="+mn-ea"/>
                <a:cs typeface="+mn-cs"/>
              </a:rPr>
              <a:t>转换和窄化</a:t>
            </a:r>
            <a:r>
              <a:rPr lang="en-US" altLang="zh-CN" sz="1200" kern="1200" dirty="0">
                <a:solidFill>
                  <a:schemeClr val="tx1"/>
                </a:solidFill>
                <a:effectLst/>
                <a:latin typeface="+mn-lt"/>
                <a:ea typeface="+mn-ea"/>
                <a:cs typeface="+mn-cs"/>
              </a:rPr>
              <a:t>(narrowing)</a:t>
            </a:r>
            <a:r>
              <a:rPr lang="zh-CN" altLang="zh-CN" sz="1200" kern="1200" dirty="0">
                <a:solidFill>
                  <a:schemeClr val="tx1"/>
                </a:solidFill>
                <a:effectLst/>
                <a:latin typeface="+mn-lt"/>
                <a:ea typeface="+mn-ea"/>
                <a:cs typeface="+mn-cs"/>
              </a:rPr>
              <a:t>转换。</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74</a:t>
            </a:fld>
            <a:endParaRPr lang="zh-CN" altLang="en-US"/>
          </a:p>
        </p:txBody>
      </p:sp>
    </p:spTree>
    <p:extLst>
      <p:ext uri="{BB962C8B-B14F-4D97-AF65-F5344CB8AC3E}">
        <p14:creationId xmlns:p14="http://schemas.microsoft.com/office/powerpoint/2010/main" val="367070913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拓宽转换可以保持原有的信息，而窄化转换则可能丢失信息。</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拓宽规则通过图</a:t>
            </a:r>
            <a:r>
              <a:rPr lang="en-US" altLang="zh-CN" sz="1200" kern="1200" dirty="0">
                <a:solidFill>
                  <a:schemeClr val="tx1"/>
                </a:solidFill>
                <a:effectLst/>
                <a:latin typeface="+mn-lt"/>
                <a:ea typeface="+mn-ea"/>
                <a:cs typeface="+mn-cs"/>
              </a:rPr>
              <a:t>6-25a</a:t>
            </a:r>
            <a:r>
              <a:rPr lang="zh-CN" altLang="zh-CN" sz="1200" kern="1200" dirty="0">
                <a:solidFill>
                  <a:schemeClr val="tx1"/>
                </a:solidFill>
                <a:effectLst/>
                <a:latin typeface="+mn-lt"/>
                <a:ea typeface="+mn-ea"/>
                <a:cs typeface="+mn-cs"/>
              </a:rPr>
              <a:t>中的层次结构给出：在该层次结构中位于较低层的类型可以被拓宽为较高层的类型。因此，</a:t>
            </a:r>
            <a:r>
              <a:rPr lang="en-US" altLang="zh-CN" sz="1200" kern="1200" dirty="0">
                <a:solidFill>
                  <a:schemeClr val="tx1"/>
                </a:solidFill>
                <a:effectLst/>
                <a:latin typeface="+mn-lt"/>
                <a:ea typeface="+mn-ea"/>
                <a:cs typeface="+mn-cs"/>
              </a:rPr>
              <a:t>char</a:t>
            </a:r>
            <a:r>
              <a:rPr lang="zh-CN" altLang="zh-CN" sz="1200" kern="1200" dirty="0">
                <a:solidFill>
                  <a:schemeClr val="tx1"/>
                </a:solidFill>
                <a:effectLst/>
                <a:latin typeface="+mn-lt"/>
                <a:ea typeface="+mn-ea"/>
                <a:cs typeface="+mn-cs"/>
              </a:rPr>
              <a:t>类型可以被拓宽为</a:t>
            </a:r>
            <a:r>
              <a:rPr lang="en-US" altLang="zh-CN" sz="1200" kern="1200" dirty="0">
                <a:solidFill>
                  <a:schemeClr val="tx1"/>
                </a:solidFill>
                <a:effectLst/>
                <a:latin typeface="+mn-lt"/>
                <a:ea typeface="+mn-ea"/>
                <a:cs typeface="+mn-cs"/>
              </a:rPr>
              <a:t>int</a:t>
            </a:r>
            <a:r>
              <a:rPr lang="zh-CN" altLang="zh-CN" sz="1200" kern="1200" dirty="0">
                <a:solidFill>
                  <a:schemeClr val="tx1"/>
                </a:solidFill>
                <a:effectLst/>
                <a:latin typeface="+mn-lt"/>
                <a:ea typeface="+mn-ea"/>
                <a:cs typeface="+mn-cs"/>
              </a:rPr>
              <a:t>型和</a:t>
            </a:r>
            <a:r>
              <a:rPr lang="en-US" altLang="zh-CN" sz="1200" kern="1200" dirty="0">
                <a:solidFill>
                  <a:schemeClr val="tx1"/>
                </a:solidFill>
                <a:effectLst/>
                <a:latin typeface="+mn-lt"/>
                <a:ea typeface="+mn-ea"/>
                <a:cs typeface="+mn-cs"/>
              </a:rPr>
              <a:t>float</a:t>
            </a:r>
            <a:r>
              <a:rPr lang="zh-CN" altLang="zh-CN" sz="1200" kern="1200" dirty="0">
                <a:solidFill>
                  <a:schemeClr val="tx1"/>
                </a:solidFill>
                <a:effectLst/>
                <a:latin typeface="+mn-lt"/>
                <a:ea typeface="+mn-ea"/>
                <a:cs typeface="+mn-cs"/>
              </a:rPr>
              <a:t>型，但是不可以被拓宽为</a:t>
            </a:r>
            <a:r>
              <a:rPr lang="en-US" altLang="zh-CN" sz="1200" kern="1200" dirty="0">
                <a:solidFill>
                  <a:schemeClr val="tx1"/>
                </a:solidFill>
                <a:effectLst/>
                <a:latin typeface="+mn-lt"/>
                <a:ea typeface="+mn-ea"/>
                <a:cs typeface="+mn-cs"/>
              </a:rPr>
              <a:t>short.</a:t>
            </a:r>
            <a:r>
              <a:rPr lang="zh-CN" altLang="zh-CN" sz="1200" kern="1200" dirty="0">
                <a:solidFill>
                  <a:schemeClr val="tx1"/>
                </a:solidFill>
                <a:effectLst/>
                <a:latin typeface="+mn-lt"/>
                <a:ea typeface="+mn-ea"/>
                <a:cs typeface="+mn-cs"/>
              </a:rPr>
              <a:t>类型。</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窄化转换</a:t>
            </a:r>
            <a:r>
              <a:rPr lang="zh-CN" altLang="en-US" sz="1200" kern="1200" dirty="0">
                <a:solidFill>
                  <a:schemeClr val="tx1"/>
                </a:solidFill>
                <a:effectLst/>
                <a:latin typeface="+mn-lt"/>
                <a:ea typeface="+mn-ea"/>
                <a:cs typeface="+mn-cs"/>
              </a:rPr>
              <a:t>的规则如图</a:t>
            </a:r>
            <a:r>
              <a:rPr lang="en-US" altLang="zh-CN" sz="1200" kern="1200" dirty="0">
                <a:solidFill>
                  <a:schemeClr val="tx1"/>
                </a:solidFill>
                <a:effectLst/>
                <a:latin typeface="+mn-lt"/>
                <a:ea typeface="+mn-ea"/>
                <a:cs typeface="+mn-cs"/>
              </a:rPr>
              <a:t>6-25b</a:t>
            </a:r>
            <a:r>
              <a:rPr lang="zh-CN" altLang="en-US" sz="1200" kern="1200" dirty="0">
                <a:solidFill>
                  <a:schemeClr val="tx1"/>
                </a:solidFill>
                <a:effectLst/>
                <a:latin typeface="+mn-lt"/>
                <a:ea typeface="+mn-ea"/>
                <a:cs typeface="+mn-cs"/>
              </a:rPr>
              <a:t>所示：如果存在一条从</a:t>
            </a:r>
            <a:r>
              <a:rPr lang="en-US" altLang="zh-CN" sz="1200" kern="1200" dirty="0">
                <a:solidFill>
                  <a:schemeClr val="tx1"/>
                </a:solidFill>
                <a:effectLst/>
                <a:latin typeface="+mn-lt"/>
                <a:ea typeface="+mn-ea"/>
                <a:cs typeface="+mn-cs"/>
              </a:rPr>
              <a:t>s</a:t>
            </a:r>
            <a:r>
              <a:rPr lang="zh-CN" altLang="en-US" sz="1200" kern="1200" dirty="0">
                <a:solidFill>
                  <a:schemeClr val="tx1"/>
                </a:solidFill>
                <a:effectLst/>
                <a:latin typeface="+mn-lt"/>
                <a:ea typeface="+mn-ea"/>
                <a:cs typeface="+mn-cs"/>
              </a:rPr>
              <a:t>到</a:t>
            </a:r>
            <a:r>
              <a:rPr lang="en-US" altLang="zh-CN" sz="1200" kern="1200" dirty="0">
                <a:solidFill>
                  <a:schemeClr val="tx1"/>
                </a:solidFill>
                <a:effectLst/>
                <a:latin typeface="+mn-lt"/>
                <a:ea typeface="+mn-ea"/>
                <a:cs typeface="+mn-cs"/>
              </a:rPr>
              <a:t>t</a:t>
            </a:r>
            <a:r>
              <a:rPr lang="zh-CN" altLang="en-US" sz="1200" kern="1200" dirty="0">
                <a:solidFill>
                  <a:schemeClr val="tx1"/>
                </a:solidFill>
                <a:effectLst/>
                <a:latin typeface="+mn-lt"/>
                <a:ea typeface="+mn-ea"/>
                <a:cs typeface="+mn-cs"/>
              </a:rPr>
              <a:t>的路径，则可以将类型</a:t>
            </a:r>
            <a:r>
              <a:rPr lang="en-US" altLang="zh-CN" sz="1200" kern="1200" dirty="0">
                <a:solidFill>
                  <a:schemeClr val="tx1"/>
                </a:solidFill>
                <a:effectLst/>
                <a:latin typeface="+mn-lt"/>
                <a:ea typeface="+mn-ea"/>
                <a:cs typeface="+mn-cs"/>
              </a:rPr>
              <a:t>s</a:t>
            </a:r>
            <a:r>
              <a:rPr lang="zh-CN" altLang="en-US" sz="1200" kern="1200" dirty="0">
                <a:solidFill>
                  <a:schemeClr val="tx1"/>
                </a:solidFill>
                <a:effectLst/>
                <a:latin typeface="+mn-lt"/>
                <a:ea typeface="+mn-ea"/>
                <a:cs typeface="+mn-cs"/>
              </a:rPr>
              <a:t>窄化为类型</a:t>
            </a:r>
            <a:r>
              <a:rPr lang="en-US" altLang="zh-CN" sz="1200" kern="1200" dirty="0">
                <a:solidFill>
                  <a:schemeClr val="tx1"/>
                </a:solidFill>
                <a:effectLst/>
                <a:latin typeface="+mn-lt"/>
                <a:ea typeface="+mn-ea"/>
                <a:cs typeface="+mn-cs"/>
              </a:rPr>
              <a:t>t</a:t>
            </a:r>
            <a:r>
              <a:rPr lang="zh-CN" altLang="en-US" sz="1200" kern="1200" dirty="0">
                <a:solidFill>
                  <a:schemeClr val="tx1"/>
                </a:solidFill>
                <a:effectLst/>
                <a:latin typeface="+mn-lt"/>
                <a:ea typeface="+mn-ea"/>
                <a:cs typeface="+mn-cs"/>
              </a:rPr>
              <a:t>。可以看出，</a:t>
            </a:r>
            <a:r>
              <a:rPr lang="en-US" altLang="zh-CN" sz="1200" kern="1200" dirty="0">
                <a:solidFill>
                  <a:schemeClr val="tx1"/>
                </a:solidFill>
                <a:effectLst/>
                <a:latin typeface="+mn-lt"/>
                <a:ea typeface="+mn-ea"/>
                <a:cs typeface="+mn-cs"/>
              </a:rPr>
              <a:t>char</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short</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byte</a:t>
            </a:r>
            <a:r>
              <a:rPr lang="zh-CN" altLang="en-US" sz="1200" kern="1200" dirty="0">
                <a:solidFill>
                  <a:schemeClr val="tx1"/>
                </a:solidFill>
                <a:effectLst/>
                <a:latin typeface="+mn-lt"/>
                <a:ea typeface="+mn-ea"/>
                <a:cs typeface="+mn-cs"/>
              </a:rPr>
              <a:t>之间可以两两相互转换。</a:t>
            </a:r>
          </a:p>
          <a:p>
            <a:r>
              <a:rPr lang="zh-CN" altLang="en-US" sz="1200" kern="1200" dirty="0">
                <a:solidFill>
                  <a:schemeClr val="tx1"/>
                </a:solidFill>
                <a:effectLst/>
                <a:latin typeface="+mn-lt"/>
                <a:ea typeface="+mn-ea"/>
                <a:cs typeface="+mn-cs"/>
              </a:rPr>
              <a:t>如果类型转换由编译器自动完成，那么这样的转换就称为隐式转换。隐式转换也称为自动类型转换</a:t>
            </a:r>
            <a:r>
              <a:rPr lang="en-US" altLang="zh-CN" sz="1200" kern="1200" dirty="0">
                <a:solidFill>
                  <a:schemeClr val="tx1"/>
                </a:solidFill>
                <a:effectLst/>
                <a:latin typeface="+mn-lt"/>
                <a:ea typeface="+mn-ea"/>
                <a:cs typeface="+mn-cs"/>
              </a:rPr>
              <a:t>(coercion)</a:t>
            </a:r>
            <a:r>
              <a:rPr lang="zh-CN" altLang="en-US" sz="1200" kern="1200" dirty="0">
                <a:solidFill>
                  <a:schemeClr val="tx1"/>
                </a:solidFill>
                <a:effectLst/>
                <a:latin typeface="+mn-lt"/>
                <a:ea typeface="+mn-ea"/>
                <a:cs typeface="+mn-cs"/>
              </a:rPr>
              <a:t>。在很多语言中，自动类型转换仅仅限于拓宽转换。如果程序员必须写出某些代码来引发类型转换运算，那么这个转换就称为显式的。显式转换也称为强制类型转换</a:t>
            </a:r>
            <a:r>
              <a:rPr lang="en-US" altLang="zh-CN" sz="1200" kern="1200" dirty="0">
                <a:solidFill>
                  <a:schemeClr val="tx1"/>
                </a:solidFill>
                <a:effectLst/>
                <a:latin typeface="+mn-lt"/>
                <a:ea typeface="+mn-ea"/>
                <a:cs typeface="+mn-cs"/>
              </a:rPr>
              <a:t>(cast)</a:t>
            </a:r>
            <a:r>
              <a:rPr lang="zh-CN" altLang="en-US" sz="120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75</a:t>
            </a:fld>
            <a:endParaRPr lang="zh-CN" altLang="en-US"/>
          </a:p>
        </p:txBody>
      </p:sp>
    </p:spTree>
    <p:extLst>
      <p:ext uri="{BB962C8B-B14F-4D97-AF65-F5344CB8AC3E}">
        <p14:creationId xmlns:p14="http://schemas.microsoft.com/office/powerpoint/2010/main" val="151843511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检查</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E2</a:t>
            </a:r>
            <a:r>
              <a:rPr lang="zh-CN" altLang="zh-CN" sz="1200" kern="1200" dirty="0">
                <a:solidFill>
                  <a:schemeClr val="tx1"/>
                </a:solidFill>
                <a:effectLst/>
                <a:latin typeface="+mn-lt"/>
                <a:ea typeface="+mn-ea"/>
                <a:cs typeface="+mn-cs"/>
              </a:rPr>
              <a:t>的语义动作使用了两个函数：</a:t>
            </a:r>
          </a:p>
          <a:p>
            <a:r>
              <a:rPr lang="en-US" altLang="zh-CN" sz="1200" kern="1200" dirty="0">
                <a:solidFill>
                  <a:schemeClr val="tx1"/>
                </a:solidFill>
                <a:effectLst/>
                <a:latin typeface="+mn-lt"/>
                <a:ea typeface="+mn-ea"/>
                <a:cs typeface="+mn-cs"/>
              </a:rPr>
              <a:t>I) max(t1, t2)</a:t>
            </a:r>
            <a:r>
              <a:rPr lang="zh-CN" altLang="zh-CN" sz="1200" kern="1200" dirty="0">
                <a:solidFill>
                  <a:schemeClr val="tx1"/>
                </a:solidFill>
                <a:effectLst/>
                <a:latin typeface="+mn-lt"/>
                <a:ea typeface="+mn-ea"/>
                <a:cs typeface="+mn-cs"/>
              </a:rPr>
              <a:t>接受</a:t>
            </a:r>
            <a:r>
              <a:rPr lang="en-US" altLang="zh-CN" sz="1200" kern="1200" dirty="0">
                <a:solidFill>
                  <a:schemeClr val="tx1"/>
                </a:solidFill>
                <a:effectLst/>
                <a:latin typeface="+mn-lt"/>
                <a:ea typeface="+mn-ea"/>
                <a:cs typeface="+mn-cs"/>
              </a:rPr>
              <a:t>t1</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t2</a:t>
            </a:r>
            <a:r>
              <a:rPr lang="zh-CN" altLang="zh-CN" sz="1200" kern="1200" dirty="0">
                <a:solidFill>
                  <a:schemeClr val="tx1"/>
                </a:solidFill>
                <a:effectLst/>
                <a:latin typeface="+mn-lt"/>
                <a:ea typeface="+mn-ea"/>
                <a:cs typeface="+mn-cs"/>
              </a:rPr>
              <a:t>两个类型的参数并返回拓宽层次结构中这两个类型中的最大者（或者最小上界）。如果</a:t>
            </a:r>
            <a:r>
              <a:rPr lang="en-US" altLang="zh-CN" sz="1200" kern="1200" dirty="0">
                <a:solidFill>
                  <a:schemeClr val="tx1"/>
                </a:solidFill>
                <a:effectLst/>
                <a:latin typeface="+mn-lt"/>
                <a:ea typeface="+mn-ea"/>
                <a:cs typeface="+mn-cs"/>
              </a:rPr>
              <a:t>t1</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t2</a:t>
            </a:r>
            <a:r>
              <a:rPr lang="zh-CN" altLang="zh-CN" sz="1200" kern="1200" dirty="0">
                <a:solidFill>
                  <a:schemeClr val="tx1"/>
                </a:solidFill>
                <a:effectLst/>
                <a:latin typeface="+mn-lt"/>
                <a:ea typeface="+mn-ea"/>
                <a:cs typeface="+mn-cs"/>
              </a:rPr>
              <a:t>之一没有出现在这个</a:t>
            </a:r>
          </a:p>
          <a:p>
            <a:r>
              <a:rPr lang="zh-CN" altLang="zh-CN" sz="1200" kern="1200" dirty="0">
                <a:solidFill>
                  <a:schemeClr val="tx1"/>
                </a:solidFill>
                <a:effectLst/>
                <a:latin typeface="+mn-lt"/>
                <a:ea typeface="+mn-ea"/>
                <a:cs typeface="+mn-cs"/>
              </a:rPr>
              <a:t>层次结构中，比如有个类型是数组类</a:t>
            </a:r>
            <a:r>
              <a:rPr lang="zh-CN" altLang="en-US" sz="1200" kern="1200" dirty="0">
                <a:solidFill>
                  <a:schemeClr val="tx1"/>
                </a:solidFill>
                <a:effectLst/>
                <a:latin typeface="+mn-lt"/>
                <a:ea typeface="+mn-ea"/>
                <a:cs typeface="+mn-cs"/>
              </a:rPr>
              <a:t>型</a:t>
            </a:r>
            <a:r>
              <a:rPr lang="zh-CN" altLang="zh-CN" sz="1200" kern="1200" dirty="0">
                <a:solidFill>
                  <a:schemeClr val="tx1"/>
                </a:solidFill>
                <a:effectLst/>
                <a:latin typeface="+mn-lt"/>
                <a:ea typeface="+mn-ea"/>
                <a:cs typeface="+mn-cs"/>
              </a:rPr>
              <a:t>或指针类型，那么该函数返回一个错误信息。</a:t>
            </a: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如果需要将类型为</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的地址</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中的内容转换成</a:t>
            </a:r>
            <a:r>
              <a:rPr lang="en-US" altLang="zh-CN" sz="1200" kern="1200" dirty="0">
                <a:solidFill>
                  <a:schemeClr val="tx1"/>
                </a:solidFill>
                <a:effectLst/>
                <a:latin typeface="+mn-lt"/>
                <a:ea typeface="+mn-ea"/>
                <a:cs typeface="+mn-cs"/>
              </a:rPr>
              <a:t>w</a:t>
            </a:r>
            <a:r>
              <a:rPr lang="zh-CN" altLang="zh-CN" sz="1200" kern="1200" dirty="0">
                <a:solidFill>
                  <a:schemeClr val="tx1"/>
                </a:solidFill>
                <a:effectLst/>
                <a:latin typeface="+mn-lt"/>
                <a:ea typeface="+mn-ea"/>
                <a:cs typeface="+mn-cs"/>
              </a:rPr>
              <a:t>类型的值，则函数</a:t>
            </a:r>
            <a:r>
              <a:rPr lang="en-US" altLang="zh-CN" sz="1200" kern="1200" dirty="0">
                <a:solidFill>
                  <a:schemeClr val="tx1"/>
                </a:solidFill>
                <a:effectLst/>
                <a:latin typeface="+mn-lt"/>
                <a:ea typeface="+mn-ea"/>
                <a:cs typeface="+mn-cs"/>
              </a:rPr>
              <a:t>widen(a,  t,   w)</a:t>
            </a:r>
            <a:r>
              <a:rPr lang="zh-CN" altLang="zh-CN" sz="1200" kern="1200" dirty="0">
                <a:solidFill>
                  <a:schemeClr val="tx1"/>
                </a:solidFill>
                <a:effectLst/>
                <a:latin typeface="+mn-lt"/>
                <a:ea typeface="+mn-ea"/>
                <a:cs typeface="+mn-cs"/>
              </a:rPr>
              <a:t>将生成类型转换的代码。如果</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w</a:t>
            </a:r>
            <a:r>
              <a:rPr lang="zh-CN" altLang="zh-CN" sz="1200" kern="1200" dirty="0">
                <a:solidFill>
                  <a:schemeClr val="tx1"/>
                </a:solidFill>
                <a:effectLst/>
                <a:latin typeface="+mn-lt"/>
                <a:ea typeface="+mn-ea"/>
                <a:cs typeface="+mn-cs"/>
              </a:rPr>
              <a:t>是相同的类型，则该函数返回</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本身。否则，它会生成一条指令来完成转换工作并将转换结果放置到临时变量</a:t>
            </a:r>
            <a:r>
              <a:rPr lang="en-US" altLang="zh-CN" sz="1200" kern="1200" dirty="0">
                <a:solidFill>
                  <a:schemeClr val="tx1"/>
                </a:solidFill>
                <a:effectLst/>
                <a:latin typeface="+mn-lt"/>
                <a:ea typeface="+mn-ea"/>
                <a:cs typeface="+mn-cs"/>
              </a:rPr>
              <a:t>temp</a:t>
            </a:r>
            <a:r>
              <a:rPr lang="zh-CN" altLang="zh-CN" sz="1200" kern="1200" dirty="0">
                <a:solidFill>
                  <a:schemeClr val="tx1"/>
                </a:solidFill>
                <a:effectLst/>
                <a:latin typeface="+mn-lt"/>
                <a:ea typeface="+mn-ea"/>
                <a:cs typeface="+mn-cs"/>
              </a:rPr>
              <a:t>中。这个临时变量将作为结果返回。函数</a:t>
            </a:r>
            <a:r>
              <a:rPr lang="en-US" altLang="zh-CN" sz="1200" kern="1200" dirty="0">
                <a:solidFill>
                  <a:schemeClr val="tx1"/>
                </a:solidFill>
                <a:effectLst/>
                <a:latin typeface="+mn-lt"/>
                <a:ea typeface="+mn-ea"/>
                <a:cs typeface="+mn-cs"/>
              </a:rPr>
              <a:t>widen</a:t>
            </a:r>
            <a:r>
              <a:rPr lang="zh-CN" altLang="zh-CN" sz="1200" kern="1200" dirty="0">
                <a:solidFill>
                  <a:schemeClr val="tx1"/>
                </a:solidFill>
                <a:effectLst/>
                <a:latin typeface="+mn-lt"/>
                <a:ea typeface="+mn-ea"/>
                <a:cs typeface="+mn-cs"/>
              </a:rPr>
              <a:t>的伪代码如图</a:t>
            </a:r>
            <a:r>
              <a:rPr lang="en-US" altLang="zh-CN" sz="1200" kern="1200" dirty="0">
                <a:solidFill>
                  <a:schemeClr val="tx1"/>
                </a:solidFill>
                <a:effectLst/>
                <a:latin typeface="+mn-lt"/>
                <a:ea typeface="+mn-ea"/>
                <a:cs typeface="+mn-cs"/>
              </a:rPr>
              <a:t>6-26</a:t>
            </a:r>
            <a:r>
              <a:rPr lang="zh-CN" altLang="zh-CN" sz="1200" kern="1200" dirty="0">
                <a:solidFill>
                  <a:schemeClr val="tx1"/>
                </a:solidFill>
                <a:effectLst/>
                <a:latin typeface="+mn-lt"/>
                <a:ea typeface="+mn-ea"/>
                <a:cs typeface="+mn-cs"/>
              </a:rPr>
              <a:t>所示，这里假设只有</a:t>
            </a:r>
            <a:r>
              <a:rPr lang="en-US" altLang="zh-CN" sz="1200" kern="1200" dirty="0">
                <a:solidFill>
                  <a:schemeClr val="tx1"/>
                </a:solidFill>
                <a:effectLst/>
                <a:latin typeface="+mn-lt"/>
                <a:ea typeface="+mn-ea"/>
                <a:cs typeface="+mn-cs"/>
              </a:rPr>
              <a:t>integer</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float</a:t>
            </a:r>
            <a:r>
              <a:rPr lang="zh-CN" altLang="zh-CN" sz="1200" kern="1200" dirty="0">
                <a:solidFill>
                  <a:schemeClr val="tx1"/>
                </a:solidFill>
                <a:effectLst/>
                <a:latin typeface="+mn-lt"/>
                <a:ea typeface="+mn-ea"/>
                <a:cs typeface="+mn-cs"/>
              </a:rPr>
              <a:t>两种类型。</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76</a:t>
            </a:fld>
            <a:endParaRPr lang="zh-CN" altLang="en-US"/>
          </a:p>
        </p:txBody>
      </p:sp>
    </p:spTree>
    <p:extLst>
      <p:ext uri="{BB962C8B-B14F-4D97-AF65-F5344CB8AC3E}">
        <p14:creationId xmlns:p14="http://schemas.microsoft.com/office/powerpoint/2010/main" val="283139395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a:t>
            </a:r>
            <a:r>
              <a:rPr lang="en-US" altLang="zh-CN" dirty="0"/>
              <a:t>6-27</a:t>
            </a:r>
            <a:r>
              <a:rPr lang="zh-CN" altLang="en-US" dirty="0"/>
              <a:t>中</a:t>
            </a:r>
            <a:r>
              <a:rPr lang="en-US" altLang="zh-CN" dirty="0"/>
              <a:t>E→E1+E2</a:t>
            </a:r>
            <a:r>
              <a:rPr lang="zh-CN" altLang="en-US" dirty="0"/>
              <a:t>的语义动作说明了如何把类型转换加入到图</a:t>
            </a:r>
            <a:r>
              <a:rPr lang="en-US" altLang="zh-CN" dirty="0"/>
              <a:t>6-20</a:t>
            </a:r>
            <a:r>
              <a:rPr lang="zh-CN" altLang="en-US" dirty="0"/>
              <a:t>所示的翻译表达式的方案中。 </a:t>
            </a:r>
          </a:p>
          <a:p>
            <a:r>
              <a:rPr lang="zh-CN" altLang="en-US" dirty="0"/>
              <a:t>在这个语义动作中，如果</a:t>
            </a:r>
            <a:r>
              <a:rPr lang="en-US" altLang="zh-CN" dirty="0"/>
              <a:t>E1</a:t>
            </a:r>
            <a:r>
              <a:rPr lang="zh-CN" altLang="en-US" dirty="0"/>
              <a:t>的类型不需要被转换成</a:t>
            </a:r>
            <a:r>
              <a:rPr lang="en-US" altLang="zh-CN" dirty="0"/>
              <a:t>E</a:t>
            </a:r>
            <a:r>
              <a:rPr lang="zh-CN" altLang="en-US" dirty="0"/>
              <a:t>的类型，那么临时变量</a:t>
            </a:r>
            <a:r>
              <a:rPr lang="en-US" altLang="zh-CN" dirty="0"/>
              <a:t>a1</a:t>
            </a:r>
            <a:r>
              <a:rPr lang="zh-CN" altLang="en-US" dirty="0"/>
              <a:t>就是</a:t>
            </a:r>
            <a:r>
              <a:rPr lang="en-US" altLang="zh-CN" dirty="0"/>
              <a:t>E1. </a:t>
            </a:r>
            <a:r>
              <a:rPr lang="en-US" altLang="zh-CN" dirty="0" err="1"/>
              <a:t>addr</a:t>
            </a:r>
            <a:r>
              <a:rPr lang="zh-CN" altLang="en-US" dirty="0"/>
              <a:t>。如果需要进行这样的转换，则</a:t>
            </a:r>
            <a:r>
              <a:rPr lang="en-US" altLang="zh-CN" dirty="0"/>
              <a:t>al</a:t>
            </a:r>
            <a:r>
              <a:rPr lang="zh-CN" altLang="en-US" dirty="0"/>
              <a:t>就是</a:t>
            </a:r>
            <a:r>
              <a:rPr lang="en-US" altLang="zh-CN" dirty="0"/>
              <a:t>widen</a:t>
            </a:r>
            <a:r>
              <a:rPr lang="zh-CN" altLang="en-US" dirty="0"/>
              <a:t>函数返回的一个新的临时变量。类似地，</a:t>
            </a:r>
            <a:r>
              <a:rPr lang="en-US" altLang="zh-CN" dirty="0"/>
              <a:t>a2</a:t>
            </a:r>
            <a:r>
              <a:rPr lang="zh-CN" altLang="en-US" dirty="0"/>
              <a:t>可能是</a:t>
            </a:r>
            <a:r>
              <a:rPr lang="en-US" altLang="zh-CN" dirty="0"/>
              <a:t>E2.  </a:t>
            </a:r>
            <a:r>
              <a:rPr lang="en-US" altLang="zh-CN" dirty="0" err="1"/>
              <a:t>addr</a:t>
            </a:r>
            <a:r>
              <a:rPr lang="en-US" altLang="zh-CN" dirty="0"/>
              <a:t>,</a:t>
            </a:r>
            <a:r>
              <a:rPr lang="zh-CN" altLang="en-US" dirty="0"/>
              <a:t>也可能是一个新临时变量，用于存放转换后的</a:t>
            </a:r>
            <a:r>
              <a:rPr lang="en-US" altLang="zh-CN" dirty="0"/>
              <a:t>E2</a:t>
            </a:r>
            <a:r>
              <a:rPr lang="zh-CN" altLang="en-US" dirty="0"/>
              <a:t>的值。如果两个变量都是整型或者都是浮点型，就不需要进行任何转换。我们会发现，将两个不同类型的值相加的唯一方法是把它们都转换成为第三种类型。</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77</a:t>
            </a:fld>
            <a:endParaRPr lang="zh-CN" altLang="en-US"/>
          </a:p>
        </p:txBody>
      </p:sp>
    </p:spTree>
    <p:extLst>
      <p:ext uri="{BB962C8B-B14F-4D97-AF65-F5344CB8AC3E}">
        <p14:creationId xmlns:p14="http://schemas.microsoft.com/office/powerpoint/2010/main" val="13489159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控制流</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78</a:t>
            </a:fld>
            <a:endParaRPr lang="zh-CN" altLang="en-US"/>
          </a:p>
        </p:txBody>
      </p:sp>
    </p:spTree>
    <p:extLst>
      <p:ext uri="{BB962C8B-B14F-4D97-AF65-F5344CB8AC3E}">
        <p14:creationId xmlns:p14="http://schemas.microsoft.com/office/powerpoint/2010/main" val="186869648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在编程语言中，布尔表达式通常用于 </a:t>
            </a:r>
            <a:endParaRPr lang="en-US" altLang="zh-CN" dirty="0"/>
          </a:p>
          <a:p>
            <a:pPr marL="228600" indent="-228600">
              <a:buAutoNum type="arabicPeriod"/>
            </a:pPr>
            <a:r>
              <a:rPr lang="zh-CN" altLang="en-US" dirty="0"/>
              <a:t>改变控制流。 </a:t>
            </a:r>
            <a:r>
              <a:rPr lang="en-US" altLang="zh-CN" dirty="0"/>
              <a:t>Boolean </a:t>
            </a:r>
            <a:r>
              <a:rPr lang="zh-CN" altLang="en-US" dirty="0"/>
              <a:t>表达式在改变控制流的语句中用作条件表达式。这种布尔表达式的值由程序到达的某个位置隐含地指出。例如，在 </a:t>
            </a:r>
            <a:r>
              <a:rPr lang="en-US" altLang="zh-CN" dirty="0"/>
              <a:t>if (E ) S </a:t>
            </a:r>
            <a:r>
              <a:rPr lang="zh-CN" altLang="en-US" dirty="0"/>
              <a:t>中，如果运行到语句 </a:t>
            </a:r>
            <a:r>
              <a:rPr lang="en-US" altLang="zh-CN" dirty="0"/>
              <a:t>S</a:t>
            </a:r>
            <a:r>
              <a:rPr lang="zh-CN" altLang="en-US" dirty="0"/>
              <a:t>，则表达式 </a:t>
            </a:r>
            <a:r>
              <a:rPr lang="en-US" altLang="zh-CN" dirty="0"/>
              <a:t>E </a:t>
            </a:r>
            <a:r>
              <a:rPr lang="zh-CN" altLang="en-US" dirty="0"/>
              <a:t>必须为 </a:t>
            </a:r>
            <a:r>
              <a:rPr lang="en-US" altLang="zh-CN" dirty="0"/>
              <a:t>true</a:t>
            </a:r>
            <a:r>
              <a:rPr lang="zh-CN" altLang="en-US" dirty="0"/>
              <a:t>。 </a:t>
            </a:r>
            <a:endParaRPr lang="en-US" altLang="zh-CN" dirty="0"/>
          </a:p>
          <a:p>
            <a:pPr marL="228600" indent="-228600">
              <a:buAutoNum type="arabicPeriod"/>
            </a:pPr>
            <a:r>
              <a:rPr lang="zh-CN" altLang="en-US" dirty="0"/>
              <a:t>计算逻辑值。一个布尔表达式的值可以表示为 </a:t>
            </a:r>
            <a:r>
              <a:rPr lang="en-US" altLang="zh-CN" dirty="0"/>
              <a:t>true </a:t>
            </a:r>
            <a:r>
              <a:rPr lang="zh-CN" altLang="en-US" dirty="0"/>
              <a:t>或 </a:t>
            </a:r>
            <a:r>
              <a:rPr lang="en-US" altLang="zh-CN" dirty="0"/>
              <a:t>false </a:t>
            </a:r>
            <a:r>
              <a:rPr lang="zh-CN" altLang="en-US" dirty="0"/>
              <a:t>。这样的布尔表达式也可以像算术表达式一样，使用带有逻辑运算符的三地址指令进行求值。</a:t>
            </a:r>
            <a:endParaRPr lang="en-US" altLang="zh-CN" dirty="0"/>
          </a:p>
          <a:p>
            <a:pPr marL="0" indent="0">
              <a:buNone/>
            </a:pPr>
            <a:r>
              <a:rPr lang="zh-CN" altLang="en-US" dirty="0"/>
              <a:t>布尔表达式的使用意图，要根据其语法上下文决定。例如，关键字 </a:t>
            </a:r>
            <a:r>
              <a:rPr lang="en-US" altLang="zh-CN" dirty="0"/>
              <a:t>if </a:t>
            </a:r>
            <a:r>
              <a:rPr lang="zh-CN" altLang="en-US" dirty="0"/>
              <a:t>后面的表达式用于更改控制流，而一个赋值语句右侧的表达式用于表示一个逻辑值。这样的语法上下文可以通过多种方式来指定：我们可以使用两个不同的非终结符，也可使用继承的属性，还可以在语法分析过程中设置一个标记。此外，我们还可以构建一个语法树并调用不同的过程来处理布尔表达式的两种不同的使用。</a:t>
            </a:r>
            <a:endParaRPr lang="en-US" altLang="zh-CN" dirty="0"/>
          </a:p>
          <a:p>
            <a:pPr marL="0" indent="0">
              <a:buNone/>
            </a:pPr>
            <a:r>
              <a:rPr lang="zh-CN" altLang="en-US" dirty="0"/>
              <a:t>本节将介绍用于改变控制流的布尔表达式，为此引入一个新的非终结符</a:t>
            </a:r>
            <a:r>
              <a:rPr lang="en-US" altLang="zh-CN" dirty="0"/>
              <a:t>B</a:t>
            </a:r>
            <a:r>
              <a:rPr lang="zh-CN" altLang="en-US" dirty="0"/>
              <a:t>。布尔表达式是将作用布尔变量或关系表达式的布尔运算符构成的。我们使用</a:t>
            </a:r>
            <a:r>
              <a:rPr lang="en-US" altLang="zh-CN" dirty="0"/>
              <a:t>C</a:t>
            </a:r>
            <a:r>
              <a:rPr lang="zh-CN" altLang="en-US" dirty="0"/>
              <a:t>语言的方法，用</a:t>
            </a:r>
            <a:r>
              <a:rPr lang="en-US" altLang="zh-CN" dirty="0"/>
              <a:t>&amp;&amp;</a:t>
            </a:r>
            <a:r>
              <a:rPr lang="zh-CN" altLang="en-US" dirty="0"/>
              <a:t>，</a:t>
            </a:r>
            <a:r>
              <a:rPr lang="en-US" altLang="zh-CN" dirty="0"/>
              <a:t>||</a:t>
            </a:r>
            <a:r>
              <a:rPr lang="zh-CN" altLang="en-US" dirty="0"/>
              <a:t>，！分别表示</a:t>
            </a:r>
            <a:r>
              <a:rPr lang="en-US" altLang="zh-CN" dirty="0"/>
              <a:t>AND</a:t>
            </a:r>
            <a:r>
              <a:rPr lang="zh-CN" altLang="en-US" dirty="0"/>
              <a:t>，</a:t>
            </a:r>
            <a:r>
              <a:rPr lang="en-US" altLang="zh-CN" dirty="0"/>
              <a:t>OR</a:t>
            </a:r>
            <a:r>
              <a:rPr lang="zh-CN" altLang="en-US" dirty="0"/>
              <a:t>，</a:t>
            </a:r>
            <a:r>
              <a:rPr lang="en-US" altLang="zh-CN" dirty="0"/>
              <a:t>NOT</a:t>
            </a:r>
            <a:r>
              <a:rPr lang="zh-CN" altLang="en-US" dirty="0"/>
              <a:t>运算符。关系表达式的形式为𝐸 𝐫𝐞𝐥 𝐸 。其中，</a:t>
            </a:r>
            <a:r>
              <a:rPr lang="en-US" altLang="zh-CN" dirty="0"/>
              <a:t>E</a:t>
            </a:r>
            <a:r>
              <a:rPr lang="zh-CN" altLang="en-US" dirty="0"/>
              <a:t>为算数表达式。写出布尔表达式的文法：</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𝐵 → 𝐵 ∥ </a:t>
            </a:r>
            <a:r>
              <a:rPr lang="en-US" altLang="zh-CN" dirty="0"/>
              <a:t>| </a:t>
            </a:r>
            <a:r>
              <a:rPr lang="zh-CN" altLang="en-US" dirty="0"/>
              <a:t>𝐵 </a:t>
            </a:r>
            <a:r>
              <a:rPr lang="en-US" altLang="zh-CN" dirty="0"/>
              <a:t>&amp;&amp; </a:t>
            </a:r>
            <a:r>
              <a:rPr lang="zh-CN" altLang="en-US" dirty="0"/>
              <a:t>𝐵</a:t>
            </a:r>
            <a:r>
              <a:rPr lang="en-US" altLang="zh-CN" dirty="0"/>
              <a:t>|</a:t>
            </a:r>
            <a:r>
              <a:rPr lang="zh-CN" altLang="en-US" dirty="0"/>
              <a:t>！</a:t>
            </a:r>
            <a:r>
              <a:rPr lang="en-US" altLang="zh-CN" dirty="0"/>
              <a:t>|(</a:t>
            </a:r>
            <a:r>
              <a:rPr lang="zh-CN" altLang="en-US" dirty="0"/>
              <a:t>𝐵</a:t>
            </a:r>
            <a:r>
              <a:rPr lang="en-US" altLang="zh-CN" dirty="0"/>
              <a:t>) |</a:t>
            </a:r>
            <a:r>
              <a:rPr lang="zh-CN" altLang="en-US" dirty="0"/>
              <a:t>𝐸 𝐫𝐞𝐥 𝐸 </a:t>
            </a:r>
            <a:r>
              <a:rPr lang="en-US" altLang="zh-CN" dirty="0"/>
              <a:t>|</a:t>
            </a:r>
            <a:r>
              <a:rPr lang="zh-CN" altLang="en-US" dirty="0"/>
              <a:t>𝐭𝐫𝐮𝐞 </a:t>
            </a:r>
            <a:r>
              <a:rPr lang="en-US" altLang="zh-CN" dirty="0"/>
              <a:t>|</a:t>
            </a:r>
            <a:r>
              <a:rPr lang="zh-CN" altLang="en-US" dirty="0"/>
              <a:t>𝐟𝐚𝐥𝐬𝐞</a:t>
            </a:r>
            <a:endParaRPr lang="en-US" altLang="zh-CN" dirty="0"/>
          </a:p>
          <a:p>
            <a:pPr marL="0" indent="0">
              <a:buNone/>
            </a:pPr>
            <a:r>
              <a:rPr lang="zh-CN" altLang="en-US" dirty="0"/>
              <a:t>我们通过属性</a:t>
            </a:r>
            <a:r>
              <a:rPr lang="en-US" altLang="zh-CN" dirty="0" err="1"/>
              <a:t>rel.op</a:t>
            </a:r>
            <a:r>
              <a:rPr lang="zh-CN" altLang="en-US" dirty="0"/>
              <a:t>来指明</a:t>
            </a:r>
            <a:r>
              <a:rPr lang="en-US" altLang="zh-CN" dirty="0" err="1"/>
              <a:t>rel</a:t>
            </a:r>
            <a:r>
              <a:rPr lang="zh-CN" altLang="en-US" dirty="0"/>
              <a:t>究竟表示</a:t>
            </a:r>
            <a:r>
              <a:rPr lang="en-US" altLang="zh-CN" dirty="0"/>
              <a:t>6</a:t>
            </a:r>
            <a:r>
              <a:rPr lang="zh-CN" altLang="en-US" dirty="0"/>
              <a:t>种比较运算符</a:t>
            </a:r>
            <a:r>
              <a:rPr lang="en-US" altLang="zh-CN" dirty="0"/>
              <a:t>&lt;,&lt;=,=,!=,&gt;</a:t>
            </a:r>
            <a:r>
              <a:rPr lang="zh-CN" altLang="en-US" dirty="0"/>
              <a:t>和</a:t>
            </a:r>
            <a:r>
              <a:rPr lang="en-US" altLang="zh-CN" dirty="0"/>
              <a:t>&gt;=</a:t>
            </a:r>
            <a:r>
              <a:rPr lang="zh-CN" altLang="en-US" dirty="0"/>
              <a:t>中的哪一种。按照惯例，假设</a:t>
            </a:r>
            <a:r>
              <a:rPr lang="en-US" altLang="zh-CN" dirty="0"/>
              <a:t>||</a:t>
            </a:r>
            <a:r>
              <a:rPr lang="zh-CN" altLang="en-US" dirty="0"/>
              <a:t>和</a:t>
            </a:r>
            <a:r>
              <a:rPr lang="en-US" altLang="zh-CN" dirty="0"/>
              <a:t>&amp;&amp;</a:t>
            </a:r>
            <a:r>
              <a:rPr lang="zh-CN" altLang="en-US" dirty="0"/>
              <a:t>是左结合的，</a:t>
            </a:r>
            <a:r>
              <a:rPr lang="en-US" altLang="zh-CN" dirty="0"/>
              <a:t>||</a:t>
            </a:r>
            <a:r>
              <a:rPr lang="zh-CN" altLang="en-US" dirty="0"/>
              <a:t>的优先级最低，再其次为！</a:t>
            </a:r>
            <a:endParaRPr lang="en-US" altLang="zh-CN" dirty="0"/>
          </a:p>
          <a:p>
            <a:r>
              <a:rPr lang="zh-CN" altLang="en-US" dirty="0"/>
              <a:t>给定表达式 𝐵</a:t>
            </a:r>
            <a:r>
              <a:rPr lang="en-US" altLang="zh-CN" dirty="0"/>
              <a:t>1 ∥ </a:t>
            </a:r>
            <a:r>
              <a:rPr lang="zh-CN" altLang="en-US" dirty="0"/>
              <a:t>𝐵</a:t>
            </a:r>
            <a:r>
              <a:rPr lang="en-US" altLang="zh-CN" dirty="0"/>
              <a:t>2</a:t>
            </a:r>
            <a:r>
              <a:rPr lang="zh-CN" altLang="en-US" dirty="0"/>
              <a:t>，如果 𝐵</a:t>
            </a:r>
            <a:r>
              <a:rPr lang="en-US" altLang="zh-CN" dirty="0"/>
              <a:t>1 </a:t>
            </a:r>
            <a:r>
              <a:rPr lang="zh-CN" altLang="en-US" dirty="0"/>
              <a:t>为真，那么无需对 𝐵</a:t>
            </a:r>
            <a:r>
              <a:rPr lang="en-US" altLang="zh-CN" dirty="0"/>
              <a:t>2 </a:t>
            </a:r>
            <a:r>
              <a:rPr lang="zh-CN" altLang="en-US" dirty="0"/>
              <a:t>求值，表达式也为真。因此，𝐵</a:t>
            </a:r>
            <a:r>
              <a:rPr lang="en-US" altLang="zh-CN" dirty="0"/>
              <a:t>1 </a:t>
            </a:r>
            <a:r>
              <a:rPr lang="zh-CN" altLang="en-US" dirty="0"/>
              <a:t>和 𝐵</a:t>
            </a:r>
            <a:r>
              <a:rPr lang="en-US" altLang="zh-CN" dirty="0"/>
              <a:t>2 </a:t>
            </a:r>
            <a:r>
              <a:rPr lang="zh-CN" altLang="en-US" dirty="0"/>
              <a:t>都不一定要完全求值*。</a:t>
            </a:r>
            <a:endParaRPr lang="en-US" altLang="zh-CN" dirty="0"/>
          </a:p>
          <a:p>
            <a:r>
              <a:rPr lang="zh-CN" altLang="en-US" dirty="0"/>
              <a:t>程序设计语言的语义定义决定是否需要对一个布尔表达式的各个部分都进行求值。如果语言定义允许（或要求）不对布尔表达式的某部分求值，则编译器可以优化布尔表达式的求值过程，只要已经求值的部分足以确定整个表达式的值就可以了。因此，在诸如 </a:t>
            </a:r>
            <a:r>
              <a:rPr lang="en-US" altLang="zh-CN" dirty="0"/>
              <a:t>B1 ||B2 </a:t>
            </a:r>
            <a:r>
              <a:rPr lang="zh-CN" altLang="en-US" dirty="0"/>
              <a:t>之类的表达式中</a:t>
            </a:r>
            <a:r>
              <a:rPr lang="en-US" altLang="zh-CN" dirty="0"/>
              <a:t>B2</a:t>
            </a:r>
            <a:r>
              <a:rPr lang="zh-CN" altLang="en-US" dirty="0"/>
              <a:t>、</a:t>
            </a:r>
            <a:r>
              <a:rPr lang="en-US" altLang="zh-CN" dirty="0"/>
              <a:t>B1</a:t>
            </a:r>
            <a:r>
              <a:rPr lang="zh-CN" altLang="en-US" dirty="0"/>
              <a:t>和</a:t>
            </a:r>
            <a:r>
              <a:rPr lang="en-US" altLang="zh-CN" dirty="0"/>
              <a:t>B2</a:t>
            </a:r>
            <a:r>
              <a:rPr lang="zh-CN" altLang="en-US" dirty="0"/>
              <a:t>都不必完全地求值。如果 </a:t>
            </a:r>
            <a:r>
              <a:rPr lang="en-US" altLang="zh-CN" dirty="0"/>
              <a:t>B1 </a:t>
            </a:r>
            <a:r>
              <a:rPr lang="zh-CN" altLang="en-US" dirty="0"/>
              <a:t>或 </a:t>
            </a:r>
            <a:r>
              <a:rPr lang="en-US" altLang="zh-CN" dirty="0"/>
              <a:t>B2 </a:t>
            </a:r>
            <a:r>
              <a:rPr lang="zh-CN" altLang="en-US" dirty="0"/>
              <a:t>是具有副作用的表达式（例如，它包含了改变一个全局变量的函数），那这么做就可能会得到意料之外的结果。</a:t>
            </a:r>
            <a:endParaRPr lang="en-US" altLang="zh-CN" dirty="0"/>
          </a:p>
          <a:p>
            <a:endParaRPr lang="zh-CN" altLang="en-US" dirty="0"/>
          </a:p>
          <a:p>
            <a:r>
              <a:rPr lang="zh-CN" altLang="en-US" dirty="0"/>
              <a:t>在短路（跳转）代码中，布尔运算符 </a:t>
            </a:r>
            <a:r>
              <a:rPr lang="en-US" altLang="zh-CN" dirty="0"/>
              <a:t>&amp;&amp;</a:t>
            </a:r>
            <a:r>
              <a:rPr lang="zh-CN" altLang="en-US" dirty="0"/>
              <a:t>、∥、</a:t>
            </a:r>
            <a:r>
              <a:rPr lang="en-US" altLang="zh-CN" dirty="0"/>
              <a:t>! </a:t>
            </a:r>
            <a:r>
              <a:rPr lang="zh-CN" altLang="en-US" dirty="0"/>
              <a:t>转化为跳转。这些运算符本身不出现在代码中，布尔表达式的值是通过代码序列中的位置来表示的。</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79</a:t>
            </a:fld>
            <a:endParaRPr lang="zh-CN" altLang="en-US"/>
          </a:p>
        </p:txBody>
      </p:sp>
    </p:spTree>
    <p:extLst>
      <p:ext uri="{BB962C8B-B14F-4D97-AF65-F5344CB8AC3E}">
        <p14:creationId xmlns:p14="http://schemas.microsoft.com/office/powerpoint/2010/main" val="335888053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上述语句可以翻译成图</a:t>
            </a:r>
            <a:r>
              <a:rPr lang="en-US" altLang="zh-CN" dirty="0"/>
              <a:t>6.34</a:t>
            </a:r>
            <a:r>
              <a:rPr lang="zh-CN" altLang="en-US" dirty="0"/>
              <a:t>的代码。在此翻译中，如果布尔表达式为 </a:t>
            </a:r>
            <a:r>
              <a:rPr lang="en-US" altLang="zh-CN" dirty="0"/>
              <a:t>true</a:t>
            </a:r>
            <a:r>
              <a:rPr lang="zh-CN" altLang="en-US" dirty="0"/>
              <a:t>，则控制到达</a:t>
            </a:r>
            <a:r>
              <a:rPr lang="en-US" altLang="zh-CN" dirty="0"/>
              <a:t>L2 </a:t>
            </a:r>
            <a:r>
              <a:rPr lang="zh-CN" altLang="en-US" dirty="0"/>
              <a:t>。如果表达式为 </a:t>
            </a:r>
            <a:r>
              <a:rPr lang="en-US" altLang="zh-CN" dirty="0"/>
              <a:t>false</a:t>
            </a:r>
            <a:r>
              <a:rPr lang="zh-CN" altLang="en-US" dirty="0"/>
              <a:t>，则控制将跳转过</a:t>
            </a:r>
            <a:r>
              <a:rPr lang="en-US" altLang="zh-CN" dirty="0"/>
              <a:t>L2</a:t>
            </a:r>
            <a:r>
              <a:rPr lang="zh-CN" altLang="en-US" dirty="0"/>
              <a:t>和赋值语句 </a:t>
            </a:r>
            <a:r>
              <a:rPr lang="en-US" altLang="zh-CN" dirty="0"/>
              <a:t>x = 0</a:t>
            </a:r>
            <a:r>
              <a:rPr lang="zh-CN" altLang="en-US" dirty="0"/>
              <a:t>，直接转到</a:t>
            </a:r>
            <a:r>
              <a:rPr lang="en-US" altLang="zh-CN" dirty="0"/>
              <a:t>L1</a:t>
            </a:r>
            <a:r>
              <a:rPr lang="zh-CN" altLang="en-US" dirty="0"/>
              <a:t>。</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80</a:t>
            </a:fld>
            <a:endParaRPr lang="zh-CN" altLang="en-US"/>
          </a:p>
        </p:txBody>
      </p:sp>
    </p:spTree>
    <p:extLst>
      <p:ext uri="{BB962C8B-B14F-4D97-AF65-F5344CB8AC3E}">
        <p14:creationId xmlns:p14="http://schemas.microsoft.com/office/powerpoint/2010/main" val="71859905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现在我们考虑在语句上下文中如何将布尔表达式转换为三地址代码。</a:t>
            </a:r>
            <a:endParaRPr lang="en-US" altLang="zh-CN" dirty="0"/>
          </a:p>
          <a:p>
            <a:r>
              <a:rPr lang="zh-CN" altLang="en-US" dirty="0"/>
              <a:t>在这些产生式中，非终结符 </a:t>
            </a:r>
            <a:r>
              <a:rPr lang="en-US" altLang="zh-CN" dirty="0"/>
              <a:t>B </a:t>
            </a:r>
            <a:r>
              <a:rPr lang="zh-CN" altLang="en-US" dirty="0"/>
              <a:t>表示布尔表达式，非终结符 </a:t>
            </a:r>
            <a:r>
              <a:rPr lang="en-US" altLang="zh-CN" dirty="0"/>
              <a:t>S </a:t>
            </a:r>
            <a:r>
              <a:rPr lang="zh-CN" altLang="en-US" dirty="0"/>
              <a:t>表示语句。</a:t>
            </a:r>
            <a:r>
              <a:rPr lang="en-US" altLang="zh-CN" dirty="0"/>
              <a:t>.</a:t>
            </a:r>
          </a:p>
          <a:p>
            <a:r>
              <a:rPr lang="zh-CN" altLang="en-US" dirty="0"/>
              <a:t>这个文法将之前我们在语法制导翻译中（例 </a:t>
            </a:r>
            <a:r>
              <a:rPr lang="en-US" altLang="zh-CN" dirty="0"/>
              <a:t>5.19</a:t>
            </a:r>
            <a:r>
              <a:rPr lang="zh-CN" altLang="en-US" dirty="0"/>
              <a:t>）所介绍的 </a:t>
            </a:r>
            <a:r>
              <a:rPr lang="en-US" altLang="zh-CN" dirty="0"/>
              <a:t>while </a:t>
            </a:r>
            <a:r>
              <a:rPr lang="zh-CN" altLang="en-US" dirty="0"/>
              <a:t>表达式进行了推广。和那个例子一样，</a:t>
            </a:r>
            <a:r>
              <a:rPr lang="en-US" altLang="zh-CN" dirty="0"/>
              <a:t>B </a:t>
            </a:r>
            <a:r>
              <a:rPr lang="zh-CN" altLang="en-US" dirty="0"/>
              <a:t>和 </a:t>
            </a:r>
            <a:r>
              <a:rPr lang="en-US" altLang="zh-CN" dirty="0"/>
              <a:t>S </a:t>
            </a:r>
            <a:r>
              <a:rPr lang="zh-CN" altLang="en-US" dirty="0"/>
              <a:t>都有一个综合属性</a:t>
            </a:r>
            <a:r>
              <a:rPr lang="en-US" altLang="zh-CN" dirty="0"/>
              <a:t>code</a:t>
            </a:r>
            <a:r>
              <a:rPr lang="zh-CN" altLang="en-US" dirty="0"/>
              <a:t>，该属性给出了翻译得到的三地址指令。为简单起见，我们使用语法制导定义来构造得到翻译结果 </a:t>
            </a:r>
            <a:r>
              <a:rPr lang="en-US" altLang="zh-CN" dirty="0" err="1"/>
              <a:t>B.code</a:t>
            </a:r>
            <a:r>
              <a:rPr lang="en-US" altLang="zh-CN" dirty="0"/>
              <a:t> </a:t>
            </a:r>
            <a:r>
              <a:rPr lang="zh-CN" altLang="en-US" dirty="0"/>
              <a:t>和 </a:t>
            </a:r>
            <a:r>
              <a:rPr lang="en-US" altLang="zh-CN" dirty="0" err="1"/>
              <a:t>S.code</a:t>
            </a:r>
            <a:r>
              <a:rPr lang="zh-CN" altLang="en-US" dirty="0"/>
              <a:t>，结果值是字符串。定义了</a:t>
            </a:r>
            <a:r>
              <a:rPr lang="en-US" altLang="zh-CN" dirty="0"/>
              <a:t>code</a:t>
            </a:r>
            <a:r>
              <a:rPr lang="zh-CN" altLang="en-US" dirty="0"/>
              <a:t>属性的语义规则可以按照如下的方法来实现：首先构造语法树，然后在树遍历期间产生目标代码。这些规则还可通过第 </a:t>
            </a:r>
            <a:r>
              <a:rPr lang="en-US" altLang="zh-CN" dirty="0"/>
              <a:t>5.5 </a:t>
            </a:r>
            <a:r>
              <a:rPr lang="zh-CN" altLang="en-US" dirty="0"/>
              <a:t>节中列出的任何方法来实现。</a:t>
            </a:r>
            <a:endParaRPr lang="en-US" altLang="zh-CN" dirty="0"/>
          </a:p>
          <a:p>
            <a:endParaRPr lang="en-US" altLang="zh-CN" dirty="0"/>
          </a:p>
          <a:p>
            <a:r>
              <a:rPr lang="zh-CN" altLang="en-US" dirty="0"/>
              <a:t>如图 </a:t>
            </a:r>
            <a:r>
              <a:rPr lang="en-US" altLang="zh-CN" dirty="0"/>
              <a:t>6.35(a) </a:t>
            </a:r>
            <a:r>
              <a:rPr lang="zh-CN" altLang="en-US" dirty="0"/>
              <a:t>所示，对</a:t>
            </a:r>
            <a:r>
              <a:rPr lang="en-US" altLang="zh-CN" dirty="0"/>
              <a:t>if (B ) S1 </a:t>
            </a:r>
            <a:r>
              <a:rPr lang="zh-CN" altLang="en-US" dirty="0"/>
              <a:t>的翻译结果中包含了 </a:t>
            </a:r>
            <a:r>
              <a:rPr lang="en-US" altLang="zh-CN" dirty="0"/>
              <a:t>B:code</a:t>
            </a:r>
            <a:r>
              <a:rPr lang="zh-CN" altLang="en-US" dirty="0"/>
              <a:t>，其后是 </a:t>
            </a:r>
            <a:r>
              <a:rPr lang="en-US" altLang="zh-CN" dirty="0"/>
              <a:t>S1 .code</a:t>
            </a:r>
            <a:r>
              <a:rPr lang="zh-CN" altLang="en-US" dirty="0"/>
              <a:t>。 </a:t>
            </a:r>
            <a:r>
              <a:rPr lang="en-US" altLang="zh-CN" dirty="0" err="1"/>
              <a:t>B.code</a:t>
            </a:r>
            <a:r>
              <a:rPr lang="en-US" altLang="zh-CN" dirty="0"/>
              <a:t> </a:t>
            </a:r>
            <a:r>
              <a:rPr lang="zh-CN" altLang="en-US" dirty="0"/>
              <a:t>中存在基于 </a:t>
            </a:r>
            <a:r>
              <a:rPr lang="en-US" altLang="zh-CN" dirty="0"/>
              <a:t>B </a:t>
            </a:r>
            <a:r>
              <a:rPr lang="zh-CN" altLang="en-US" dirty="0"/>
              <a:t>值的跳转。如果 </a:t>
            </a:r>
            <a:r>
              <a:rPr lang="en-US" altLang="zh-CN" dirty="0"/>
              <a:t>B </a:t>
            </a:r>
            <a:r>
              <a:rPr lang="zh-CN" altLang="en-US" dirty="0"/>
              <a:t>为真，则控制流转向 </a:t>
            </a:r>
            <a:r>
              <a:rPr lang="en-US" altLang="zh-CN" dirty="0"/>
              <a:t>S1.code </a:t>
            </a:r>
            <a:r>
              <a:rPr lang="zh-CN" altLang="en-US" dirty="0"/>
              <a:t>的第一条指令；如果 </a:t>
            </a:r>
            <a:r>
              <a:rPr lang="en-US" altLang="zh-CN" dirty="0"/>
              <a:t>B </a:t>
            </a:r>
            <a:r>
              <a:rPr lang="zh-CN" altLang="en-US" dirty="0"/>
              <a:t>为假，则控制流立即转向紧随在 </a:t>
            </a:r>
            <a:r>
              <a:rPr lang="en-US" altLang="zh-CN" dirty="0"/>
              <a:t>S1.code</a:t>
            </a:r>
            <a:r>
              <a:rPr lang="zh-CN" altLang="en-US" dirty="0"/>
              <a:t>之后的指令。</a:t>
            </a:r>
            <a:r>
              <a:rPr lang="en-US" altLang="zh-CN" dirty="0" err="1"/>
              <a:t>B.code</a:t>
            </a:r>
            <a:r>
              <a:rPr lang="en-US" altLang="zh-CN" dirty="0"/>
              <a:t> </a:t>
            </a:r>
            <a:r>
              <a:rPr lang="zh-CN" altLang="en-US" dirty="0"/>
              <a:t>和 </a:t>
            </a:r>
            <a:r>
              <a:rPr lang="en-US" altLang="zh-CN" dirty="0" err="1"/>
              <a:t>S.code</a:t>
            </a:r>
            <a:r>
              <a:rPr lang="en-US" altLang="zh-CN" dirty="0"/>
              <a:t> </a:t>
            </a:r>
            <a:r>
              <a:rPr lang="zh-CN" altLang="en-US" dirty="0"/>
              <a:t>中跳转的标号使用继承属性来处理。我们将布尔表达式 </a:t>
            </a:r>
            <a:r>
              <a:rPr lang="en-US" altLang="zh-CN" dirty="0"/>
              <a:t>B</a:t>
            </a:r>
            <a:r>
              <a:rPr lang="zh-CN" altLang="en-US" dirty="0"/>
              <a:t>和两个标号</a:t>
            </a:r>
            <a:r>
              <a:rPr lang="en-US" altLang="zh-CN" dirty="0"/>
              <a:t>B:true</a:t>
            </a:r>
            <a:r>
              <a:rPr lang="zh-CN" altLang="en-US" dirty="0"/>
              <a:t>和</a:t>
            </a:r>
            <a:r>
              <a:rPr lang="en-US" altLang="zh-CN" dirty="0" err="1"/>
              <a:t>B.false</a:t>
            </a:r>
            <a:r>
              <a:rPr lang="zh-CN" altLang="en-US" dirty="0"/>
              <a:t>相关联。如果 </a:t>
            </a:r>
            <a:r>
              <a:rPr lang="en-US" altLang="zh-CN" dirty="0"/>
              <a:t>B </a:t>
            </a:r>
            <a:r>
              <a:rPr lang="zh-CN" altLang="en-US" dirty="0"/>
              <a:t>为 </a:t>
            </a:r>
            <a:r>
              <a:rPr lang="en-US" altLang="zh-CN" dirty="0"/>
              <a:t>true</a:t>
            </a:r>
            <a:r>
              <a:rPr lang="zh-CN" altLang="en-US" dirty="0"/>
              <a:t>，则控制流向</a:t>
            </a:r>
            <a:r>
              <a:rPr lang="en-US" altLang="zh-CN" dirty="0" err="1"/>
              <a:t>B.true</a:t>
            </a:r>
            <a:r>
              <a:rPr lang="zh-CN" altLang="en-US" dirty="0"/>
              <a:t>；如果 </a:t>
            </a:r>
            <a:r>
              <a:rPr lang="en-US" altLang="zh-CN" dirty="0"/>
              <a:t>B </a:t>
            </a:r>
            <a:r>
              <a:rPr lang="zh-CN" altLang="en-US" dirty="0"/>
              <a:t>为 </a:t>
            </a:r>
            <a:r>
              <a:rPr lang="en-US" altLang="zh-CN" dirty="0"/>
              <a:t>false</a:t>
            </a:r>
            <a:r>
              <a:rPr lang="zh-CN" altLang="en-US" dirty="0"/>
              <a:t>，则控制流转到</a:t>
            </a:r>
            <a:r>
              <a:rPr lang="en-US" altLang="zh-CN" dirty="0"/>
              <a:t>B:false</a:t>
            </a:r>
            <a:r>
              <a:rPr lang="zh-CN" altLang="en-US" dirty="0"/>
              <a:t>。对于语句 </a:t>
            </a:r>
            <a:r>
              <a:rPr lang="en-US" altLang="zh-CN" dirty="0"/>
              <a:t>S </a:t>
            </a:r>
            <a:r>
              <a:rPr lang="zh-CN" altLang="en-US" dirty="0"/>
              <a:t>，我们关联一个继承属性 </a:t>
            </a:r>
            <a:r>
              <a:rPr lang="en-US" altLang="zh-CN" dirty="0" err="1"/>
              <a:t>S.next</a:t>
            </a:r>
            <a:r>
              <a:rPr lang="en-US" altLang="zh-CN" dirty="0"/>
              <a:t> </a:t>
            </a:r>
            <a:r>
              <a:rPr lang="zh-CN" altLang="en-US" dirty="0"/>
              <a:t>，表示紧接在 </a:t>
            </a:r>
            <a:r>
              <a:rPr lang="en-US" altLang="zh-CN" dirty="0"/>
              <a:t>S </a:t>
            </a:r>
            <a:r>
              <a:rPr lang="zh-CN" altLang="en-US" dirty="0"/>
              <a:t>的代码之后的指令的标号。在某些情况下，紧跟在 </a:t>
            </a:r>
            <a:r>
              <a:rPr lang="en-US" altLang="zh-CN" dirty="0" err="1"/>
              <a:t>S.code</a:t>
            </a:r>
            <a:r>
              <a:rPr lang="en-US" altLang="zh-CN" dirty="0"/>
              <a:t> </a:t>
            </a:r>
            <a:r>
              <a:rPr lang="zh-CN" altLang="en-US" dirty="0"/>
              <a:t>后面的指令是跳转到某个标号</a:t>
            </a:r>
            <a:r>
              <a:rPr lang="en-US" altLang="zh-CN" dirty="0"/>
              <a:t> L</a:t>
            </a:r>
            <a:r>
              <a:rPr lang="zh-CN" altLang="en-US" dirty="0"/>
              <a:t>的跳转指令。使用 </a:t>
            </a:r>
            <a:r>
              <a:rPr lang="en-US" altLang="zh-CN" dirty="0" err="1"/>
              <a:t>S.next</a:t>
            </a:r>
            <a:r>
              <a:rPr lang="en-US" altLang="zh-CN" dirty="0"/>
              <a:t> </a:t>
            </a:r>
            <a:r>
              <a:rPr lang="zh-CN" altLang="en-US" dirty="0"/>
              <a:t>可以避免在 </a:t>
            </a:r>
            <a:r>
              <a:rPr lang="en-US" altLang="zh-CN" dirty="0" err="1"/>
              <a:t>S.code</a:t>
            </a:r>
            <a:r>
              <a:rPr lang="en-US" altLang="zh-CN" dirty="0"/>
              <a:t> </a:t>
            </a:r>
            <a:r>
              <a:rPr lang="zh-CN" altLang="en-US" dirty="0"/>
              <a:t>中出现这样一条跳转指令，它的目标又是一个以 </a:t>
            </a:r>
            <a:r>
              <a:rPr lang="en-US" altLang="zh-CN" dirty="0"/>
              <a:t>L</a:t>
            </a:r>
            <a:r>
              <a:rPr lang="zh-CN" altLang="en-US" dirty="0"/>
              <a:t>为目标的跳转指令。</a:t>
            </a:r>
            <a:endParaRPr lang="en-US" altLang="zh-CN"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81</a:t>
            </a:fld>
            <a:endParaRPr lang="zh-CN" altLang="en-US"/>
          </a:p>
        </p:txBody>
      </p:sp>
    </p:spTree>
    <p:extLst>
      <p:ext uri="{BB962C8B-B14F-4D97-AF65-F5344CB8AC3E}">
        <p14:creationId xmlns:p14="http://schemas.microsoft.com/office/powerpoint/2010/main" val="370674192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 </a:t>
            </a:r>
            <a:r>
              <a:rPr lang="en-US" altLang="zh-CN" dirty="0"/>
              <a:t>6.36</a:t>
            </a:r>
            <a:r>
              <a:rPr lang="zh-CN" altLang="en-US" dirty="0"/>
              <a:t>和</a:t>
            </a:r>
            <a:r>
              <a:rPr lang="en-US" altLang="zh-CN" dirty="0"/>
              <a:t>6.37 </a:t>
            </a:r>
            <a:r>
              <a:rPr lang="zh-CN" altLang="en-US" dirty="0"/>
              <a:t>给出的语法制导定义可以为 </a:t>
            </a:r>
            <a:r>
              <a:rPr lang="en-US" altLang="zh-CN" dirty="0"/>
              <a:t>if</a:t>
            </a:r>
            <a:r>
              <a:rPr lang="zh-CN" altLang="en-US" dirty="0"/>
              <a:t>、</a:t>
            </a:r>
            <a:r>
              <a:rPr lang="en-US" altLang="zh-CN" dirty="0"/>
              <a:t>if-else </a:t>
            </a:r>
            <a:r>
              <a:rPr lang="zh-CN" altLang="en-US" dirty="0"/>
              <a:t>和 </a:t>
            </a:r>
            <a:r>
              <a:rPr lang="en-US" altLang="zh-CN" dirty="0"/>
              <a:t>while </a:t>
            </a:r>
            <a:r>
              <a:rPr lang="zh-CN" altLang="en-US" dirty="0"/>
              <a:t>语句的上下文中为布尔表达式生成三地址代码。</a:t>
            </a:r>
            <a:endParaRPr lang="en-US" altLang="zh-CN" dirty="0"/>
          </a:p>
          <a:p>
            <a:r>
              <a:rPr lang="zh-CN" altLang="en-US" dirty="0"/>
              <a:t>我们假设 </a:t>
            </a:r>
            <a:r>
              <a:rPr lang="en-US" altLang="zh-CN" dirty="0"/>
              <a:t>new label() </a:t>
            </a:r>
            <a:r>
              <a:rPr lang="zh-CN" altLang="en-US" dirty="0"/>
              <a:t>每次被调用时都会创建一个新的标号，并且 </a:t>
            </a:r>
            <a:r>
              <a:rPr lang="en-US" altLang="zh-CN" dirty="0"/>
              <a:t>label(L) </a:t>
            </a:r>
            <a:r>
              <a:rPr lang="zh-CN" altLang="en-US" dirty="0"/>
              <a:t>将标号</a:t>
            </a:r>
            <a:r>
              <a:rPr lang="en-US" altLang="zh-CN" dirty="0"/>
              <a:t>L </a:t>
            </a:r>
            <a:r>
              <a:rPr lang="zh-CN" altLang="en-US" dirty="0"/>
              <a:t>附加到下一个要生成的三地址指令上。</a:t>
            </a:r>
            <a:endParaRPr lang="en-US" altLang="zh-CN" dirty="0"/>
          </a:p>
          <a:p>
            <a:pPr marL="171450" indent="-171450">
              <a:buFont typeface="Arial" panose="020B0604020202020204" pitchFamily="34" charset="0"/>
              <a:buChar char="•"/>
            </a:pPr>
            <a:r>
              <a:rPr lang="zh-CN" altLang="en-US" dirty="0"/>
              <a:t>一个程序包含一条由 产生式</a:t>
            </a:r>
            <a:r>
              <a:rPr lang="en-US" altLang="zh-CN" dirty="0"/>
              <a:t>P→S </a:t>
            </a:r>
            <a:r>
              <a:rPr lang="zh-CN" altLang="en-US" dirty="0"/>
              <a:t>生成的语句组成。与该产生式相关的语义规则将</a:t>
            </a:r>
            <a:r>
              <a:rPr lang="en-US" altLang="zh-CN" dirty="0"/>
              <a:t>S:next</a:t>
            </a:r>
            <a:r>
              <a:rPr lang="zh-CN" altLang="en-US" dirty="0"/>
              <a:t>初始化为一个新的标号。 </a:t>
            </a:r>
            <a:r>
              <a:rPr lang="en-US" altLang="zh-CN" dirty="0"/>
              <a:t>P:code </a:t>
            </a:r>
            <a:r>
              <a:rPr lang="zh-CN" altLang="en-US" dirty="0"/>
              <a:t>包含 </a:t>
            </a:r>
            <a:r>
              <a:rPr lang="en-US" altLang="zh-CN" dirty="0"/>
              <a:t>S:code</a:t>
            </a:r>
            <a:r>
              <a:rPr lang="zh-CN" altLang="en-US" dirty="0"/>
              <a:t>，</a:t>
            </a:r>
            <a:r>
              <a:rPr lang="en-US" altLang="zh-CN" dirty="0" err="1"/>
              <a:t>S.code</a:t>
            </a:r>
            <a:r>
              <a:rPr lang="en-US" altLang="zh-CN" dirty="0"/>
              <a:t> </a:t>
            </a:r>
            <a:r>
              <a:rPr lang="zh-CN" altLang="en-US" dirty="0"/>
              <a:t>后跟新标签 </a:t>
            </a:r>
            <a:r>
              <a:rPr lang="en-US" altLang="zh-CN" dirty="0"/>
              <a:t>S:next </a:t>
            </a:r>
            <a:r>
              <a:rPr lang="zh-CN" altLang="en-US" dirty="0"/>
              <a:t>组成。</a:t>
            </a:r>
            <a:endParaRPr lang="en-US" altLang="zh-CN" dirty="0"/>
          </a:p>
          <a:p>
            <a:pPr marL="171450" indent="-171450">
              <a:buFont typeface="Arial" panose="020B0604020202020204" pitchFamily="34" charset="0"/>
              <a:buChar char="•"/>
            </a:pPr>
            <a:r>
              <a:rPr lang="zh-CN" altLang="en-US" dirty="0"/>
              <a:t>产生式 </a:t>
            </a:r>
            <a:r>
              <a:rPr lang="en-US" altLang="zh-CN" dirty="0" err="1"/>
              <a:t>S→assign</a:t>
            </a:r>
            <a:r>
              <a:rPr lang="zh-CN" altLang="en-US" dirty="0"/>
              <a:t>中的词法单元</a:t>
            </a:r>
            <a:r>
              <a:rPr lang="en-US" altLang="zh-CN" dirty="0"/>
              <a:t>assign</a:t>
            </a:r>
            <a:r>
              <a:rPr lang="zh-CN" altLang="en-US" dirty="0"/>
              <a:t>是一个表示赋值语句的占位符。赋值语句的翻译如第 </a:t>
            </a:r>
            <a:r>
              <a:rPr lang="en-US" altLang="zh-CN" dirty="0"/>
              <a:t>6.4 </a:t>
            </a:r>
            <a:r>
              <a:rPr lang="zh-CN" altLang="en-US" dirty="0"/>
              <a:t>节所述；在这里对控制流的讨论中，</a:t>
            </a:r>
            <a:r>
              <a:rPr lang="en-US" altLang="zh-CN" dirty="0"/>
              <a:t>S:code </a:t>
            </a:r>
            <a:r>
              <a:rPr lang="zh-CN" altLang="en-US" dirty="0"/>
              <a:t>就是</a:t>
            </a:r>
            <a:r>
              <a:rPr lang="en-US" altLang="zh-CN" dirty="0" err="1"/>
              <a:t>assign.code</a:t>
            </a:r>
            <a:r>
              <a:rPr lang="en-US" altLang="zh-CN" dirty="0"/>
              <a:t> </a:t>
            </a:r>
            <a:r>
              <a:rPr lang="zh-CN" altLang="en-US" dirty="0"/>
              <a:t>。</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82</a:t>
            </a:fld>
            <a:endParaRPr lang="zh-CN" altLang="en-US"/>
          </a:p>
        </p:txBody>
      </p:sp>
    </p:spTree>
    <p:extLst>
      <p:ext uri="{BB962C8B-B14F-4D97-AF65-F5344CB8AC3E}">
        <p14:creationId xmlns:p14="http://schemas.microsoft.com/office/powerpoint/2010/main" val="801578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zh-CN" altLang="en-US" dirty="0"/>
              <a:t>在翻译 </a:t>
            </a:r>
            <a:r>
              <a:rPr lang="en-US" altLang="zh-CN" dirty="0"/>
              <a:t>S →</a:t>
            </a:r>
            <a:r>
              <a:rPr lang="zh-CN" altLang="en-US" dirty="0"/>
              <a:t> </a:t>
            </a:r>
            <a:r>
              <a:rPr lang="en-US" altLang="zh-CN" dirty="0"/>
              <a:t>if (B ) S1</a:t>
            </a:r>
            <a:r>
              <a:rPr lang="zh-CN" altLang="en-US" dirty="0"/>
              <a:t>时</a:t>
            </a:r>
            <a:r>
              <a:rPr lang="en-US" altLang="zh-CN" dirty="0"/>
              <a:t> </a:t>
            </a:r>
            <a:r>
              <a:rPr lang="zh-CN" altLang="en-US" dirty="0"/>
              <a:t>，图 </a:t>
            </a:r>
            <a:r>
              <a:rPr lang="en-US" altLang="zh-CN" dirty="0"/>
              <a:t>6.36 </a:t>
            </a:r>
            <a:r>
              <a:rPr lang="zh-CN" altLang="en-US" dirty="0"/>
              <a:t>中的语义规则创建一个新的标号</a:t>
            </a:r>
            <a:r>
              <a:rPr lang="en-US" altLang="zh-CN" dirty="0"/>
              <a:t>B:true</a:t>
            </a:r>
            <a:r>
              <a:rPr lang="zh-CN" altLang="en-US" dirty="0"/>
              <a:t>，</a:t>
            </a:r>
            <a:r>
              <a:rPr lang="en-US" altLang="zh-CN" dirty="0"/>
              <a:t> </a:t>
            </a:r>
            <a:r>
              <a:rPr lang="zh-CN" altLang="en-US" dirty="0"/>
              <a:t>并将其关联到为语句 </a:t>
            </a:r>
            <a:r>
              <a:rPr lang="en-US" altLang="zh-CN" dirty="0"/>
              <a:t>S1 </a:t>
            </a:r>
            <a:r>
              <a:rPr lang="zh-CN" altLang="en-US" dirty="0"/>
              <a:t>生成的第一个三地址指令中，如图 </a:t>
            </a:r>
            <a:r>
              <a:rPr lang="en-US" altLang="zh-CN" dirty="0"/>
              <a:t>6.35(a) </a:t>
            </a:r>
            <a:r>
              <a:rPr lang="zh-CN" altLang="en-US" dirty="0"/>
              <a:t>所示。因此，在 </a:t>
            </a:r>
            <a:r>
              <a:rPr lang="en-US" altLang="zh-CN" dirty="0"/>
              <a:t>B </a:t>
            </a:r>
            <a:r>
              <a:rPr lang="zh-CN" altLang="en-US" dirty="0"/>
              <a:t>的代码中跳转到 </a:t>
            </a:r>
            <a:r>
              <a:rPr lang="en-US" altLang="zh-CN" dirty="0"/>
              <a:t>B:true </a:t>
            </a:r>
            <a:r>
              <a:rPr lang="zh-CN" altLang="en-US" dirty="0"/>
              <a:t>的指令跳转到语句</a:t>
            </a:r>
            <a:r>
              <a:rPr lang="en-US" altLang="zh-CN" dirty="0"/>
              <a:t>S1</a:t>
            </a:r>
            <a:r>
              <a:rPr lang="zh-CN" altLang="en-US" dirty="0"/>
              <a:t>对应的代码。此外，通过将 </a:t>
            </a:r>
            <a:r>
              <a:rPr lang="en-US" altLang="zh-CN" dirty="0"/>
              <a:t>B:false </a:t>
            </a:r>
            <a:r>
              <a:rPr lang="zh-CN" altLang="en-US" dirty="0"/>
              <a:t>设置为 </a:t>
            </a:r>
            <a:r>
              <a:rPr lang="en-US" altLang="zh-CN" dirty="0"/>
              <a:t>S:next</a:t>
            </a:r>
            <a:r>
              <a:rPr lang="zh-CN" altLang="en-US" dirty="0"/>
              <a:t>，我们确保当 </a:t>
            </a:r>
            <a:r>
              <a:rPr lang="en-US" altLang="zh-CN" dirty="0"/>
              <a:t>B</a:t>
            </a:r>
            <a:r>
              <a:rPr lang="zh-CN" altLang="en-US" dirty="0"/>
              <a:t>的值为 </a:t>
            </a:r>
            <a:r>
              <a:rPr lang="en-US" altLang="zh-CN" dirty="0"/>
              <a:t>false</a:t>
            </a:r>
            <a:r>
              <a:rPr lang="zh-CN" altLang="en-US" dirty="0"/>
              <a:t>，控制将跳过 </a:t>
            </a:r>
            <a:r>
              <a:rPr lang="en-US" altLang="zh-CN" dirty="0"/>
              <a:t>S1 </a:t>
            </a:r>
            <a:r>
              <a:rPr lang="zh-CN" altLang="en-US" dirty="0"/>
              <a:t>的代码。</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83</a:t>
            </a:fld>
            <a:endParaRPr lang="zh-CN" altLang="en-US"/>
          </a:p>
        </p:txBody>
      </p:sp>
    </p:spTree>
    <p:extLst>
      <p:ext uri="{BB962C8B-B14F-4D97-AF65-F5344CB8AC3E}">
        <p14:creationId xmlns:p14="http://schemas.microsoft.com/office/powerpoint/2010/main" val="84354378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r>
              <a:rPr lang="zh-CN" altLang="en-US" dirty="0"/>
              <a:t>在翻译 </a:t>
            </a:r>
            <a:r>
              <a:rPr lang="en-US" altLang="zh-CN" dirty="0"/>
              <a:t>if-else-</a:t>
            </a:r>
            <a:r>
              <a:rPr lang="zh-CN" altLang="en-US" dirty="0"/>
              <a:t>语句 </a:t>
            </a:r>
            <a:r>
              <a:rPr lang="en-US" altLang="zh-CN" dirty="0"/>
              <a:t>S → if (B ) S1 else S2 </a:t>
            </a:r>
            <a:r>
              <a:rPr lang="zh-CN" altLang="en-US" dirty="0"/>
              <a:t>时，如果 </a:t>
            </a:r>
            <a:r>
              <a:rPr lang="en-US" altLang="zh-CN" dirty="0"/>
              <a:t>B </a:t>
            </a:r>
            <a:r>
              <a:rPr lang="zh-CN" altLang="en-US" dirty="0"/>
              <a:t>为真，则布尔表达式 </a:t>
            </a:r>
            <a:r>
              <a:rPr lang="en-US" altLang="zh-CN" dirty="0"/>
              <a:t>B </a:t>
            </a:r>
            <a:r>
              <a:rPr lang="zh-CN" altLang="en-US" dirty="0"/>
              <a:t>的代码跳至 </a:t>
            </a:r>
            <a:r>
              <a:rPr lang="en-US" altLang="zh-CN" dirty="0"/>
              <a:t>S1 </a:t>
            </a:r>
            <a:r>
              <a:rPr lang="zh-CN" altLang="en-US" dirty="0"/>
              <a:t>代码的第一条指令，如果 </a:t>
            </a:r>
            <a:r>
              <a:rPr lang="en-US" altLang="zh-CN" dirty="0"/>
              <a:t>B </a:t>
            </a:r>
            <a:r>
              <a:rPr lang="zh-CN" altLang="en-US" dirty="0"/>
              <a:t>为假，则跳至 </a:t>
            </a:r>
            <a:r>
              <a:rPr lang="en-US" altLang="zh-CN" dirty="0"/>
              <a:t>S2 </a:t>
            </a:r>
            <a:r>
              <a:rPr lang="zh-CN" altLang="en-US" dirty="0"/>
              <a:t>代码的第一条指令，如图</a:t>
            </a:r>
            <a:r>
              <a:rPr lang="en-US" altLang="zh-CN" dirty="0"/>
              <a:t>6.35(b)</a:t>
            </a:r>
            <a:r>
              <a:rPr lang="zh-CN" altLang="en-US" dirty="0"/>
              <a:t>所示。此外，控制从 </a:t>
            </a:r>
            <a:r>
              <a:rPr lang="en-US" altLang="zh-CN" dirty="0"/>
              <a:t>S1 </a:t>
            </a:r>
            <a:r>
              <a:rPr lang="zh-CN" altLang="en-US" dirty="0"/>
              <a:t>或</a:t>
            </a:r>
            <a:r>
              <a:rPr lang="en-US" altLang="zh-CN" dirty="0"/>
              <a:t>S2 </a:t>
            </a:r>
            <a:r>
              <a:rPr lang="zh-CN" altLang="en-US" dirty="0"/>
              <a:t>流向紧跟在 </a:t>
            </a:r>
            <a:r>
              <a:rPr lang="en-US" altLang="zh-CN" dirty="0"/>
              <a:t>S | </a:t>
            </a:r>
            <a:r>
              <a:rPr lang="zh-CN" altLang="en-US" dirty="0"/>
              <a:t>代码之后的三地址指令</a:t>
            </a:r>
            <a:r>
              <a:rPr lang="en-US" altLang="zh-CN" dirty="0"/>
              <a:t>——</a:t>
            </a:r>
            <a:r>
              <a:rPr lang="zh-CN" altLang="en-US" dirty="0"/>
              <a:t>该指令的标号由继承属性</a:t>
            </a:r>
            <a:r>
              <a:rPr lang="en-US" altLang="zh-CN" dirty="0"/>
              <a:t>S:next </a:t>
            </a:r>
            <a:r>
              <a:rPr lang="zh-CN" altLang="en-US" dirty="0"/>
              <a:t>给出。在 </a:t>
            </a:r>
            <a:r>
              <a:rPr lang="en-US" altLang="zh-CN" dirty="0"/>
              <a:t>S1 </a:t>
            </a:r>
            <a:r>
              <a:rPr lang="zh-CN" altLang="en-US" dirty="0"/>
              <a:t>的代码之后有一条 </a:t>
            </a:r>
            <a:r>
              <a:rPr lang="en-US" altLang="zh-CN" dirty="0" err="1"/>
              <a:t>goto</a:t>
            </a:r>
            <a:r>
              <a:rPr lang="en-US" altLang="zh-CN" dirty="0"/>
              <a:t> S:next</a:t>
            </a:r>
            <a:r>
              <a:rPr lang="zh-CN" altLang="en-US" dirty="0"/>
              <a:t>指令，使得控制流跳过 </a:t>
            </a:r>
            <a:r>
              <a:rPr lang="en-US" altLang="zh-CN" dirty="0"/>
              <a:t>S2 </a:t>
            </a:r>
            <a:r>
              <a:rPr lang="zh-CN" altLang="en-US" dirty="0"/>
              <a:t>的代码。 </a:t>
            </a:r>
            <a:r>
              <a:rPr lang="en-US" altLang="zh-CN" dirty="0"/>
              <a:t>S2 </a:t>
            </a:r>
            <a:r>
              <a:rPr lang="zh-CN" altLang="en-US" dirty="0"/>
              <a:t>之后不需要 </a:t>
            </a:r>
            <a:r>
              <a:rPr lang="en-US" altLang="zh-CN" dirty="0" err="1"/>
              <a:t>goto</a:t>
            </a:r>
            <a:r>
              <a:rPr lang="zh-CN" altLang="en-US" dirty="0"/>
              <a:t>，因为 </a:t>
            </a:r>
            <a:r>
              <a:rPr lang="en-US" altLang="zh-CN" dirty="0"/>
              <a:t>S2 :next </a:t>
            </a:r>
            <a:r>
              <a:rPr lang="zh-CN" altLang="en-US" dirty="0"/>
              <a:t>就是 </a:t>
            </a:r>
            <a:r>
              <a:rPr lang="en-US" altLang="zh-CN" dirty="0"/>
              <a:t>S:next</a:t>
            </a:r>
            <a:r>
              <a:rPr lang="zh-CN" altLang="en-US" dirty="0"/>
              <a:t>。</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84</a:t>
            </a:fld>
            <a:endParaRPr lang="zh-CN" altLang="en-US"/>
          </a:p>
        </p:txBody>
      </p:sp>
    </p:spTree>
    <p:extLst>
      <p:ext uri="{BB962C8B-B14F-4D97-AF65-F5344CB8AC3E}">
        <p14:creationId xmlns:p14="http://schemas.microsoft.com/office/powerpoint/2010/main" val="150555607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dirty="0"/>
              <a:t>S →while (B ) S1 </a:t>
            </a:r>
            <a:r>
              <a:rPr lang="zh-CN" altLang="en-US" dirty="0"/>
              <a:t>的代码由</a:t>
            </a:r>
            <a:r>
              <a:rPr lang="en-US" altLang="zh-CN" dirty="0"/>
              <a:t>B:code </a:t>
            </a:r>
            <a:r>
              <a:rPr lang="zh-CN" altLang="en-US" dirty="0"/>
              <a:t>和</a:t>
            </a:r>
            <a:r>
              <a:rPr lang="en-US" altLang="zh-CN" dirty="0"/>
              <a:t>S1:code </a:t>
            </a:r>
            <a:r>
              <a:rPr lang="zh-CN" altLang="en-US" dirty="0"/>
              <a:t>组成，如图</a:t>
            </a:r>
            <a:r>
              <a:rPr lang="en-US" altLang="zh-CN" dirty="0"/>
              <a:t>6.35(c)</a:t>
            </a:r>
            <a:r>
              <a:rPr lang="zh-CN" altLang="en-US" dirty="0"/>
              <a:t>所示。我们使用一个局部变量 </a:t>
            </a:r>
            <a:r>
              <a:rPr lang="en-US" altLang="zh-CN" dirty="0"/>
              <a:t>begin </a:t>
            </a:r>
            <a:r>
              <a:rPr lang="zh-CN" altLang="en-US" dirty="0"/>
              <a:t>来保存附加到该 </a:t>
            </a:r>
            <a:r>
              <a:rPr lang="en-US" altLang="zh-CN" dirty="0"/>
              <a:t>while </a:t>
            </a:r>
            <a:r>
              <a:rPr lang="zh-CN" altLang="en-US" dirty="0"/>
              <a:t>语句的第一条指令上的标号。这个</a:t>
            </a:r>
            <a:r>
              <a:rPr lang="en-US" altLang="zh-CN" dirty="0"/>
              <a:t>while</a:t>
            </a:r>
            <a:r>
              <a:rPr lang="zh-CN" altLang="en-US" dirty="0"/>
              <a:t>语句的的第一条指令也是</a:t>
            </a:r>
            <a:r>
              <a:rPr lang="en-US" altLang="zh-CN" dirty="0"/>
              <a:t>B</a:t>
            </a:r>
            <a:r>
              <a:rPr lang="zh-CN" altLang="en-US" dirty="0"/>
              <a:t>的第一条指令。我们这里使用变量而不是属性，是因为 </a:t>
            </a:r>
            <a:r>
              <a:rPr lang="en-US" altLang="zh-CN" dirty="0"/>
              <a:t>begin </a:t>
            </a:r>
            <a:r>
              <a:rPr lang="zh-CN" altLang="en-US" dirty="0"/>
              <a:t>对于这个产生式来说是局部的语义规则。继承属性</a:t>
            </a:r>
            <a:r>
              <a:rPr lang="en-US" altLang="zh-CN" dirty="0"/>
              <a:t>S:next </a:t>
            </a:r>
            <a:r>
              <a:rPr lang="zh-CN" altLang="en-US" dirty="0"/>
              <a:t>标记了当 </a:t>
            </a:r>
            <a:r>
              <a:rPr lang="en-US" altLang="zh-CN" dirty="0"/>
              <a:t>B </a:t>
            </a:r>
            <a:r>
              <a:rPr lang="zh-CN" altLang="en-US" dirty="0"/>
              <a:t>为 </a:t>
            </a:r>
            <a:r>
              <a:rPr lang="en-US" altLang="zh-CN" dirty="0"/>
              <a:t>false </a:t>
            </a:r>
            <a:r>
              <a:rPr lang="zh-CN" altLang="en-US" dirty="0"/>
              <a:t>时控制必须转向的标号；因此，</a:t>
            </a:r>
            <a:r>
              <a:rPr lang="en-US" altLang="zh-CN" dirty="0"/>
              <a:t>B:false </a:t>
            </a:r>
            <a:r>
              <a:rPr lang="zh-CN" altLang="en-US" dirty="0"/>
              <a:t>被设置为 </a:t>
            </a:r>
            <a:r>
              <a:rPr lang="en-US" altLang="zh-CN" dirty="0"/>
              <a:t>S:next</a:t>
            </a:r>
            <a:r>
              <a:rPr lang="zh-CN" altLang="en-US" dirty="0"/>
              <a:t>。在</a:t>
            </a:r>
            <a:r>
              <a:rPr lang="en-US" altLang="zh-CN" dirty="0"/>
              <a:t> S1 </a:t>
            </a:r>
            <a:r>
              <a:rPr lang="zh-CN" altLang="en-US" dirty="0"/>
              <a:t>的第一条指令上附加了一个新的标号</a:t>
            </a:r>
            <a:r>
              <a:rPr lang="en-US" altLang="zh-CN" dirty="0"/>
              <a:t>B:true </a:t>
            </a:r>
            <a:r>
              <a:rPr lang="zh-CN" altLang="en-US" dirty="0"/>
              <a:t> 。</a:t>
            </a:r>
            <a:r>
              <a:rPr lang="en-US" altLang="zh-CN" dirty="0"/>
              <a:t>B </a:t>
            </a:r>
            <a:r>
              <a:rPr lang="zh-CN" altLang="en-US" dirty="0"/>
              <a:t>的指令中的跳转指令在</a:t>
            </a:r>
            <a:r>
              <a:rPr lang="en-US" altLang="zh-CN" dirty="0"/>
              <a:t>B </a:t>
            </a:r>
            <a:r>
              <a:rPr lang="zh-CN" altLang="en-US" dirty="0"/>
              <a:t>为真时跳转到这个标号。我们在 </a:t>
            </a:r>
            <a:r>
              <a:rPr lang="en-US" altLang="zh-CN" dirty="0"/>
              <a:t>S1 </a:t>
            </a:r>
            <a:r>
              <a:rPr lang="zh-CN" altLang="en-US" dirty="0"/>
              <a:t>的代码之后，放置了一条 </a:t>
            </a:r>
            <a:r>
              <a:rPr lang="en-US" altLang="zh-CN" dirty="0" err="1"/>
              <a:t>goto</a:t>
            </a:r>
            <a:r>
              <a:rPr lang="en-US" altLang="zh-CN" dirty="0"/>
              <a:t> begin </a:t>
            </a:r>
            <a:r>
              <a:rPr lang="zh-CN" altLang="en-US" dirty="0"/>
              <a:t>指令，它跳转到布尔表达式的代码的开始处。请注意，</a:t>
            </a:r>
            <a:r>
              <a:rPr lang="en-US" altLang="zh-CN" dirty="0"/>
              <a:t>S1 :next </a:t>
            </a:r>
            <a:r>
              <a:rPr lang="zh-CN" altLang="en-US" dirty="0"/>
              <a:t>被设置标号</a:t>
            </a:r>
            <a:r>
              <a:rPr lang="en-US" altLang="zh-CN" dirty="0"/>
              <a:t>begin</a:t>
            </a:r>
            <a:r>
              <a:rPr lang="zh-CN" altLang="en-US" dirty="0"/>
              <a:t>，因此从 </a:t>
            </a:r>
            <a:r>
              <a:rPr lang="en-US" altLang="zh-CN" dirty="0"/>
              <a:t>S1 :code</a:t>
            </a:r>
            <a:r>
              <a:rPr lang="zh-CN" altLang="en-US" dirty="0"/>
              <a:t>中跳出的指令可以直接跳转</a:t>
            </a:r>
            <a:r>
              <a:rPr lang="en-US" altLang="zh-CN" dirty="0"/>
              <a:t>begin</a:t>
            </a:r>
            <a:r>
              <a:rPr lang="zh-CN" altLang="en-US" dirty="0"/>
              <a:t>。</a:t>
            </a:r>
            <a:endParaRPr lang="en-US" altLang="zh-CN"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dirty="0"/>
              <a:t> </a:t>
            </a:r>
            <a:r>
              <a:rPr lang="en-US" altLang="zh-CN" dirty="0"/>
              <a:t>S →S1 S2</a:t>
            </a:r>
            <a:r>
              <a:rPr lang="zh-CN" altLang="en-US" dirty="0"/>
              <a:t>的代码由 </a:t>
            </a:r>
            <a:r>
              <a:rPr lang="en-US" altLang="zh-CN" dirty="0"/>
              <a:t>S1 </a:t>
            </a:r>
            <a:r>
              <a:rPr lang="zh-CN" altLang="en-US" dirty="0"/>
              <a:t>代码和 </a:t>
            </a:r>
            <a:r>
              <a:rPr lang="en-US" altLang="zh-CN" dirty="0"/>
              <a:t>S2 </a:t>
            </a:r>
            <a:r>
              <a:rPr lang="zh-CN" altLang="en-US" dirty="0"/>
              <a:t>组成。相应的语义规则主要处理标号。</a:t>
            </a:r>
            <a:r>
              <a:rPr lang="en-US" altLang="zh-CN" dirty="0"/>
              <a:t>S1</a:t>
            </a:r>
            <a:r>
              <a:rPr lang="zh-CN" altLang="en-US" dirty="0"/>
              <a:t>代码之后的第一条指令就是</a:t>
            </a:r>
            <a:r>
              <a:rPr lang="en-US" altLang="zh-CN" dirty="0"/>
              <a:t>S2</a:t>
            </a:r>
            <a:r>
              <a:rPr lang="zh-CN" altLang="en-US" dirty="0"/>
              <a:t>代码的起始指令。紧跟在 </a:t>
            </a:r>
            <a:r>
              <a:rPr lang="en-US" altLang="zh-CN" dirty="0"/>
              <a:t>S2 </a:t>
            </a:r>
            <a:r>
              <a:rPr lang="zh-CN" altLang="en-US" dirty="0"/>
              <a:t>代码之后的指令也是跟在</a:t>
            </a:r>
            <a:r>
              <a:rPr lang="en-US" altLang="zh-CN" dirty="0"/>
              <a:t>S</a:t>
            </a:r>
            <a:r>
              <a:rPr lang="zh-CN" altLang="en-US" dirty="0"/>
              <a:t>的</a:t>
            </a:r>
            <a:r>
              <a:rPr lang="en-US" altLang="zh-CN" dirty="0"/>
              <a:t> </a:t>
            </a:r>
            <a:r>
              <a:rPr lang="zh-CN" altLang="en-US" dirty="0"/>
              <a:t>代码之后的指令。</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85</a:t>
            </a:fld>
            <a:endParaRPr lang="zh-CN" altLang="en-US"/>
          </a:p>
        </p:txBody>
      </p:sp>
    </p:spTree>
    <p:extLst>
      <p:ext uri="{BB962C8B-B14F-4D97-AF65-F5344CB8AC3E}">
        <p14:creationId xmlns:p14="http://schemas.microsoft.com/office/powerpoint/2010/main" val="242879060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i="0" dirty="0">
                <a:solidFill>
                  <a:srgbClr val="000000"/>
                </a:solidFill>
                <a:effectLst/>
                <a:latin typeface="Times New Roman" panose="02020603050405020304" pitchFamily="18" charset="0"/>
                <a:ea typeface="STKaiti" panose="02010600040101010101" pitchFamily="2" charset="-122"/>
                <a:cs typeface="Times New Roman" panose="02020603050405020304" pitchFamily="18" charset="0"/>
              </a:rPr>
              <a:t>如图 </a:t>
            </a:r>
            <a:r>
              <a:rPr lang="en-US" altLang="zh-CN" sz="1200" b="1" i="0" dirty="0">
                <a:solidFill>
                  <a:srgbClr val="000000"/>
                </a:solidFill>
                <a:effectLst/>
                <a:latin typeface="Times New Roman" panose="02020603050405020304" pitchFamily="18" charset="0"/>
                <a:ea typeface="STKaiti" panose="02010600040101010101" pitchFamily="2" charset="-122"/>
                <a:cs typeface="Times New Roman" panose="02020603050405020304" pitchFamily="18" charset="0"/>
              </a:rPr>
              <a:t>6.35 </a:t>
            </a:r>
            <a:r>
              <a:rPr lang="zh-CN" altLang="en-US" sz="1200" b="1" i="0" dirty="0">
                <a:solidFill>
                  <a:srgbClr val="000000"/>
                </a:solidFill>
                <a:effectLst/>
                <a:latin typeface="Times New Roman" panose="02020603050405020304" pitchFamily="18" charset="0"/>
                <a:ea typeface="STKaiti" panose="02010600040101010101" pitchFamily="2" charset="-122"/>
                <a:cs typeface="Times New Roman" panose="02020603050405020304" pitchFamily="18" charset="0"/>
              </a:rPr>
              <a:t>的代码布局所示，布尔表达式 </a:t>
            </a:r>
            <a:r>
              <a:rPr lang="en-US" altLang="zh-CN" sz="1200" b="1" i="0" dirty="0">
                <a:solidFill>
                  <a:srgbClr val="000000"/>
                </a:solidFill>
                <a:effectLst/>
                <a:latin typeface="Times New Roman" panose="02020603050405020304" pitchFamily="18" charset="0"/>
                <a:ea typeface="STKaiti" panose="02010600040101010101" pitchFamily="2" charset="-122"/>
                <a:cs typeface="Times New Roman" panose="02020603050405020304" pitchFamily="18" charset="0"/>
              </a:rPr>
              <a:t>B </a:t>
            </a:r>
            <a:r>
              <a:rPr lang="zh-CN" altLang="en-US" sz="1200" b="1" i="0" dirty="0">
                <a:solidFill>
                  <a:srgbClr val="000000"/>
                </a:solidFill>
                <a:effectLst/>
                <a:latin typeface="Times New Roman" panose="02020603050405020304" pitchFamily="18" charset="0"/>
                <a:ea typeface="STKaiti" panose="02010600040101010101" pitchFamily="2" charset="-122"/>
                <a:cs typeface="Times New Roman" panose="02020603050405020304" pitchFamily="18" charset="0"/>
              </a:rPr>
              <a:t>被转换为三地址指令，它使用有条件和无条件跳转指令来对</a:t>
            </a:r>
            <a:r>
              <a:rPr lang="en-US" altLang="zh-CN" sz="1200" b="1" i="0" dirty="0">
                <a:solidFill>
                  <a:srgbClr val="000000"/>
                </a:solidFill>
                <a:effectLst/>
                <a:latin typeface="Times New Roman" panose="02020603050405020304" pitchFamily="18" charset="0"/>
                <a:ea typeface="STKaiti" panose="02010600040101010101" pitchFamily="2" charset="-122"/>
                <a:cs typeface="Times New Roman" panose="02020603050405020304" pitchFamily="18" charset="0"/>
              </a:rPr>
              <a:t>B</a:t>
            </a:r>
            <a:r>
              <a:rPr lang="zh-CN" altLang="en-US" sz="1200" b="1" i="0" dirty="0">
                <a:solidFill>
                  <a:srgbClr val="000000"/>
                </a:solidFill>
                <a:effectLst/>
                <a:latin typeface="Times New Roman" panose="02020603050405020304" pitchFamily="18" charset="0"/>
                <a:ea typeface="STKaiti" panose="02010600040101010101" pitchFamily="2" charset="-122"/>
                <a:cs typeface="Times New Roman" panose="02020603050405020304" pitchFamily="18" charset="0"/>
              </a:rPr>
              <a:t>求值。这些跳转指令的目标是两个标号之一：如果 </a:t>
            </a:r>
            <a:r>
              <a:rPr lang="en-US" altLang="zh-CN" sz="1200" b="1" i="0" dirty="0">
                <a:solidFill>
                  <a:srgbClr val="000000"/>
                </a:solidFill>
                <a:effectLst/>
                <a:latin typeface="Times New Roman" panose="02020603050405020304" pitchFamily="18" charset="0"/>
                <a:ea typeface="STKaiti" panose="02010600040101010101" pitchFamily="2" charset="-122"/>
                <a:cs typeface="Times New Roman" panose="02020603050405020304" pitchFamily="18" charset="0"/>
              </a:rPr>
              <a:t>B </a:t>
            </a:r>
            <a:r>
              <a:rPr lang="zh-CN" altLang="en-US" sz="1200" b="1" i="0" dirty="0">
                <a:solidFill>
                  <a:srgbClr val="000000"/>
                </a:solidFill>
                <a:effectLst/>
                <a:latin typeface="Times New Roman" panose="02020603050405020304" pitchFamily="18" charset="0"/>
                <a:ea typeface="STKaiti" panose="02010600040101010101" pitchFamily="2" charset="-122"/>
                <a:cs typeface="Times New Roman" panose="02020603050405020304" pitchFamily="18" charset="0"/>
              </a:rPr>
              <a:t>为 </a:t>
            </a:r>
            <a:r>
              <a:rPr lang="en-US" altLang="zh-CN" sz="1200" b="1" i="0" dirty="0">
                <a:solidFill>
                  <a:srgbClr val="000000"/>
                </a:solidFill>
                <a:effectLst/>
                <a:latin typeface="Times New Roman" panose="02020603050405020304" pitchFamily="18" charset="0"/>
                <a:ea typeface="STKaiti" panose="02010600040101010101" pitchFamily="2" charset="-122"/>
                <a:cs typeface="Times New Roman" panose="02020603050405020304" pitchFamily="18" charset="0"/>
              </a:rPr>
              <a:t>true</a:t>
            </a:r>
            <a:r>
              <a:rPr lang="zh-CN" altLang="en-US" sz="1200" b="1" i="0" dirty="0">
                <a:solidFill>
                  <a:srgbClr val="000000"/>
                </a:solidFill>
                <a:effectLst/>
                <a:latin typeface="Times New Roman" panose="02020603050405020304" pitchFamily="18" charset="0"/>
                <a:ea typeface="STKaiti" panose="02010600040101010101" pitchFamily="2" charset="-122"/>
                <a:cs typeface="Times New Roman" panose="02020603050405020304" pitchFamily="18" charset="0"/>
              </a:rPr>
              <a:t>，则 </a:t>
            </a:r>
            <a:r>
              <a:rPr lang="en-US" altLang="zh-CN" sz="1200" b="1" i="0" dirty="0">
                <a:solidFill>
                  <a:srgbClr val="000000"/>
                </a:solidFill>
                <a:effectLst/>
                <a:latin typeface="Times New Roman" panose="02020603050405020304" pitchFamily="18" charset="0"/>
                <a:ea typeface="STKaiti" panose="02010600040101010101" pitchFamily="2" charset="-122"/>
                <a:cs typeface="Times New Roman" panose="02020603050405020304" pitchFamily="18" charset="0"/>
              </a:rPr>
              <a:t>B:true</a:t>
            </a:r>
            <a:r>
              <a:rPr lang="zh-CN" altLang="en-US" sz="1200" b="1" i="0" dirty="0">
                <a:solidFill>
                  <a:srgbClr val="000000"/>
                </a:solidFill>
                <a:effectLst/>
                <a:latin typeface="Times New Roman" panose="02020603050405020304" pitchFamily="18" charset="0"/>
                <a:ea typeface="STKaiti" panose="02010600040101010101" pitchFamily="2" charset="-122"/>
                <a:cs typeface="Times New Roman" panose="02020603050405020304" pitchFamily="18" charset="0"/>
              </a:rPr>
              <a:t>；如果 </a:t>
            </a:r>
            <a:r>
              <a:rPr lang="en-US" altLang="zh-CN" sz="1200" b="1" i="0" dirty="0">
                <a:solidFill>
                  <a:srgbClr val="000000"/>
                </a:solidFill>
                <a:effectLst/>
                <a:latin typeface="Times New Roman" panose="02020603050405020304" pitchFamily="18" charset="0"/>
                <a:ea typeface="STKaiti" panose="02010600040101010101" pitchFamily="2" charset="-122"/>
                <a:cs typeface="Times New Roman" panose="02020603050405020304" pitchFamily="18" charset="0"/>
              </a:rPr>
              <a:t>B </a:t>
            </a:r>
            <a:r>
              <a:rPr lang="zh-CN" altLang="en-US" sz="1200" b="1" i="0" dirty="0">
                <a:solidFill>
                  <a:srgbClr val="000000"/>
                </a:solidFill>
                <a:effectLst/>
                <a:latin typeface="Times New Roman" panose="02020603050405020304" pitchFamily="18" charset="0"/>
                <a:ea typeface="STKaiti" panose="02010600040101010101" pitchFamily="2" charset="-122"/>
                <a:cs typeface="Times New Roman" panose="02020603050405020304" pitchFamily="18" charset="0"/>
              </a:rPr>
              <a:t>为 </a:t>
            </a:r>
            <a:r>
              <a:rPr lang="en-US" altLang="zh-CN" sz="1200" b="1" i="0" dirty="0">
                <a:solidFill>
                  <a:srgbClr val="000000"/>
                </a:solidFill>
                <a:effectLst/>
                <a:latin typeface="Times New Roman" panose="02020603050405020304" pitchFamily="18" charset="0"/>
                <a:ea typeface="STKaiti" panose="02010600040101010101" pitchFamily="2" charset="-122"/>
                <a:cs typeface="Times New Roman" panose="02020603050405020304" pitchFamily="18" charset="0"/>
              </a:rPr>
              <a:t>false</a:t>
            </a:r>
            <a:r>
              <a:rPr lang="zh-CN" altLang="en-US" sz="1200" b="1" i="0" dirty="0">
                <a:solidFill>
                  <a:srgbClr val="000000"/>
                </a:solidFill>
                <a:effectLst/>
                <a:latin typeface="Times New Roman" panose="02020603050405020304" pitchFamily="18" charset="0"/>
                <a:ea typeface="STKaiti" panose="02010600040101010101" pitchFamily="2" charset="-122"/>
                <a:cs typeface="Times New Roman" panose="02020603050405020304" pitchFamily="18" charset="0"/>
              </a:rPr>
              <a:t>，则 </a:t>
            </a:r>
            <a:r>
              <a:rPr lang="en-US" altLang="zh-CN" sz="1200" b="1" i="0" dirty="0">
                <a:solidFill>
                  <a:srgbClr val="000000"/>
                </a:solidFill>
                <a:effectLst/>
                <a:latin typeface="Times New Roman" panose="02020603050405020304" pitchFamily="18" charset="0"/>
                <a:ea typeface="STKaiti" panose="02010600040101010101" pitchFamily="2" charset="-122"/>
                <a:cs typeface="Times New Roman" panose="02020603050405020304" pitchFamily="18" charset="0"/>
              </a:rPr>
              <a:t>B:false</a:t>
            </a:r>
            <a:r>
              <a:rPr lang="zh-CN" altLang="en-US" sz="1200" b="1" i="0" dirty="0">
                <a:solidFill>
                  <a:srgbClr val="000000"/>
                </a:solidFill>
                <a:effectLst/>
                <a:latin typeface="Times New Roman" panose="02020603050405020304" pitchFamily="18" charset="0"/>
                <a:ea typeface="STKaiti" panose="02010600040101010101" pitchFamily="2" charset="-122"/>
                <a:cs typeface="Times New Roman" panose="02020603050405020304" pitchFamily="18" charset="0"/>
              </a:rPr>
              <a:t>。</a:t>
            </a:r>
            <a:endParaRPr lang="en-US" altLang="zh-CN" sz="1200" b="1" i="0" dirty="0">
              <a:solidFill>
                <a:srgbClr val="000000"/>
              </a:solidFill>
              <a:effectLst/>
              <a:latin typeface="Times New Roman" panose="02020603050405020304" pitchFamily="18" charset="0"/>
              <a:ea typeface="STKaiti" panose="02010600040101010101" pitchFamily="2" charset="-122"/>
              <a:cs typeface="Times New Roman" panose="02020603050405020304" pitchFamily="18" charset="0"/>
            </a:endParaRPr>
          </a:p>
          <a:p>
            <a:r>
              <a:rPr lang="zh-CN" altLang="en-US" dirty="0"/>
              <a:t>𝐵</a:t>
            </a:r>
            <a:r>
              <a:rPr lang="en-US" altLang="zh-CN" dirty="0"/>
              <a:t>. </a:t>
            </a:r>
            <a:r>
              <a:rPr lang="zh-CN" altLang="en-US" dirty="0"/>
              <a:t>𝑡𝑟𝑢𝑒 和 𝐵</a:t>
            </a:r>
            <a:r>
              <a:rPr lang="en-US" altLang="zh-CN" dirty="0"/>
              <a:t>. </a:t>
            </a:r>
            <a:r>
              <a:rPr lang="zh-CN" altLang="en-US" dirty="0"/>
              <a:t>𝑓𝑎𝑙𝑠𝑒 是两个继承属性。它们的值取决于的上下文（如𝑖𝑓语句、𝑖𝑓</a:t>
            </a:r>
            <a:r>
              <a:rPr lang="en-US" altLang="zh-CN" dirty="0"/>
              <a:t>-</a:t>
            </a:r>
            <a:r>
              <a:rPr lang="zh-CN" altLang="en-US" dirty="0"/>
              <a:t>𝑒𝑙𝑠语句、𝑤𝑖𝑙𝑒语句）</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86</a:t>
            </a:fld>
            <a:endParaRPr lang="zh-CN" altLang="en-US"/>
          </a:p>
        </p:txBody>
      </p:sp>
    </p:spTree>
    <p:extLst>
      <p:ext uri="{BB962C8B-B14F-4D97-AF65-F5344CB8AC3E}">
        <p14:creationId xmlns:p14="http://schemas.microsoft.com/office/powerpoint/2010/main" val="366379456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 </a:t>
            </a:r>
            <a:r>
              <a:rPr lang="en-US" altLang="zh-CN" dirty="0"/>
              <a:t>6.37 </a:t>
            </a:r>
            <a:r>
              <a:rPr lang="zh-CN" altLang="en-US" dirty="0"/>
              <a:t>中针对布尔表达式的语义规则是图 </a:t>
            </a:r>
            <a:r>
              <a:rPr lang="en-US" altLang="zh-CN" dirty="0"/>
              <a:t>6.36 </a:t>
            </a:r>
            <a:r>
              <a:rPr lang="zh-CN" altLang="en-US" dirty="0"/>
              <a:t>中语句的语义规则的一个补充。</a:t>
            </a:r>
            <a:endParaRPr lang="en-US" altLang="zh-CN" dirty="0"/>
          </a:p>
          <a:p>
            <a:endParaRPr lang="en-US" altLang="zh-CN" dirty="0"/>
          </a:p>
          <a:p>
            <a:r>
              <a:rPr lang="en-US" altLang="zh-CN" dirty="0"/>
              <a:t>B </a:t>
            </a:r>
            <a:r>
              <a:rPr lang="zh-CN" altLang="en-US" dirty="0"/>
              <a:t>的其余产生式翻译如下： </a:t>
            </a:r>
            <a:endParaRPr lang="en-US" altLang="zh-CN" dirty="0"/>
          </a:p>
          <a:p>
            <a:pPr marL="228600" indent="-228600">
              <a:buAutoNum type="arabicPeriod"/>
            </a:pPr>
            <a:r>
              <a:rPr lang="zh-CN" altLang="en-US" dirty="0"/>
              <a:t>假设 </a:t>
            </a:r>
            <a:r>
              <a:rPr lang="en-US" altLang="zh-CN" dirty="0"/>
              <a:t>B </a:t>
            </a:r>
            <a:r>
              <a:rPr lang="zh-CN" altLang="en-US" dirty="0"/>
              <a:t>的形式为 </a:t>
            </a:r>
            <a:r>
              <a:rPr lang="en-US" altLang="zh-CN" dirty="0"/>
              <a:t>B1 || B2.</a:t>
            </a:r>
            <a:r>
              <a:rPr lang="zh-CN" altLang="en-US" dirty="0"/>
              <a:t>如果 </a:t>
            </a:r>
            <a:r>
              <a:rPr lang="en-US" altLang="zh-CN" dirty="0"/>
              <a:t>B1 </a:t>
            </a:r>
            <a:r>
              <a:rPr lang="zh-CN" altLang="en-US" dirty="0"/>
              <a:t>为真，那么我们立即知道 </a:t>
            </a:r>
            <a:r>
              <a:rPr lang="en-US" altLang="zh-CN" dirty="0"/>
              <a:t>B </a:t>
            </a:r>
            <a:r>
              <a:rPr lang="zh-CN" altLang="en-US" dirty="0"/>
              <a:t>本身为真，因此 </a:t>
            </a:r>
            <a:r>
              <a:rPr lang="en-US" altLang="zh-CN" dirty="0"/>
              <a:t>B1 :true </a:t>
            </a:r>
            <a:r>
              <a:rPr lang="zh-CN" altLang="en-US" dirty="0"/>
              <a:t>与 </a:t>
            </a:r>
            <a:r>
              <a:rPr lang="en-US" altLang="zh-CN" dirty="0"/>
              <a:t>B:true </a:t>
            </a:r>
            <a:r>
              <a:rPr lang="zh-CN" altLang="en-US" dirty="0"/>
              <a:t>相同。如果 </a:t>
            </a:r>
            <a:r>
              <a:rPr lang="en-US" altLang="zh-CN" dirty="0"/>
              <a:t>B1 </a:t>
            </a:r>
            <a:r>
              <a:rPr lang="zh-CN" altLang="en-US" dirty="0"/>
              <a:t>为 </a:t>
            </a:r>
            <a:r>
              <a:rPr lang="en-US" altLang="zh-CN" dirty="0"/>
              <a:t>false</a:t>
            </a:r>
            <a:r>
              <a:rPr lang="zh-CN" altLang="en-US" dirty="0"/>
              <a:t>，则必须计算 </a:t>
            </a:r>
            <a:r>
              <a:rPr lang="en-US" altLang="zh-CN" dirty="0"/>
              <a:t>B2</a:t>
            </a:r>
            <a:r>
              <a:rPr lang="zh-CN" altLang="en-US" dirty="0"/>
              <a:t>，因此我们将 </a:t>
            </a:r>
            <a:r>
              <a:rPr lang="en-US" altLang="zh-CN" dirty="0"/>
              <a:t>B1:false </a:t>
            </a:r>
            <a:r>
              <a:rPr lang="zh-CN" altLang="en-US" dirty="0"/>
              <a:t>设为 </a:t>
            </a:r>
            <a:r>
              <a:rPr lang="en-US" altLang="zh-CN" dirty="0"/>
              <a:t>B2 </a:t>
            </a:r>
            <a:r>
              <a:rPr lang="zh-CN" altLang="en-US" dirty="0"/>
              <a:t>代码中第一条指令的标号。 </a:t>
            </a:r>
            <a:r>
              <a:rPr lang="en-US" altLang="zh-CN" dirty="0"/>
              <a:t>B2 </a:t>
            </a:r>
            <a:r>
              <a:rPr lang="zh-CN" altLang="en-US" dirty="0"/>
              <a:t>的真出口和假出口分别与 </a:t>
            </a:r>
            <a:r>
              <a:rPr lang="en-US" altLang="zh-CN" dirty="0"/>
              <a:t>B </a:t>
            </a:r>
            <a:r>
              <a:rPr lang="zh-CN" altLang="en-US" dirty="0"/>
              <a:t>的真出口和假出口相同。</a:t>
            </a:r>
            <a:endParaRPr lang="en-US" altLang="zh-CN" dirty="0"/>
          </a:p>
          <a:p>
            <a:pPr marL="228600" indent="-228600">
              <a:buAutoNum type="arabicPeriod"/>
            </a:pPr>
            <a:r>
              <a:rPr lang="en-US" altLang="zh-CN" dirty="0"/>
              <a:t>B1 &amp;&amp; B2 </a:t>
            </a:r>
            <a:r>
              <a:rPr lang="zh-CN" altLang="en-US" dirty="0"/>
              <a:t>的翻译类似。 </a:t>
            </a:r>
            <a:endParaRPr lang="en-US" altLang="zh-CN" dirty="0"/>
          </a:p>
          <a:p>
            <a:pPr marL="228600" indent="-228600">
              <a:buAutoNum type="arabicPeriod"/>
            </a:pPr>
            <a:r>
              <a:rPr lang="zh-CN" altLang="en-US" dirty="0"/>
              <a:t>不需要为</a:t>
            </a:r>
            <a:r>
              <a:rPr lang="en-US" altLang="zh-CN" dirty="0"/>
              <a:t>B </a:t>
            </a:r>
            <a:r>
              <a:rPr lang="zh-CN" altLang="en-US" dirty="0"/>
              <a:t>→！ </a:t>
            </a:r>
            <a:r>
              <a:rPr lang="en-US" altLang="zh-CN" dirty="0"/>
              <a:t>B1</a:t>
            </a:r>
            <a:r>
              <a:rPr lang="zh-CN" altLang="en-US" dirty="0"/>
              <a:t>产生新的代码，只需将</a:t>
            </a:r>
            <a:r>
              <a:rPr lang="en-US" altLang="zh-CN" dirty="0"/>
              <a:t>B</a:t>
            </a:r>
            <a:r>
              <a:rPr lang="zh-CN" altLang="en-US" dirty="0"/>
              <a:t>的真假出口互换即可得到</a:t>
            </a:r>
            <a:r>
              <a:rPr lang="en-US" altLang="zh-CN" dirty="0"/>
              <a:t>B1</a:t>
            </a:r>
            <a:r>
              <a:rPr lang="zh-CN" altLang="en-US" dirty="0"/>
              <a:t>的真假出口。 </a:t>
            </a:r>
            <a:endParaRPr lang="en-US" altLang="zh-CN"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87</a:t>
            </a:fld>
            <a:endParaRPr lang="zh-CN" altLang="en-US"/>
          </a:p>
        </p:txBody>
      </p:sp>
    </p:spTree>
    <p:extLst>
      <p:ext uri="{BB962C8B-B14F-4D97-AF65-F5344CB8AC3E}">
        <p14:creationId xmlns:p14="http://schemas.microsoft.com/office/powerpoint/2010/main" val="41675963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a:t>
            </a:r>
            <a:r>
              <a:rPr lang="en-US" altLang="zh-CN" dirty="0"/>
              <a:t>6.37</a:t>
            </a:r>
            <a:r>
              <a:rPr lang="zh-CN" altLang="en-US" dirty="0"/>
              <a:t>中的第四个产生式，</a:t>
            </a:r>
            <a:r>
              <a:rPr lang="en-US" altLang="zh-CN" dirty="0"/>
              <a:t>B</a:t>
            </a:r>
            <a:r>
              <a:rPr lang="zh-CN" altLang="en-US" dirty="0"/>
              <a:t>→ </a:t>
            </a:r>
            <a:r>
              <a:rPr lang="en-US" altLang="zh-CN" dirty="0"/>
              <a:t>E1 </a:t>
            </a:r>
            <a:r>
              <a:rPr lang="en-US" altLang="zh-CN" dirty="0" err="1"/>
              <a:t>rel</a:t>
            </a:r>
            <a:r>
              <a:rPr lang="en-US" altLang="zh-CN" dirty="0"/>
              <a:t> E2 </a:t>
            </a:r>
            <a:r>
              <a:rPr lang="zh-CN" altLang="en-US" dirty="0"/>
              <a:t>，直接翻译成三地址比较指令，并跳转到适当的位置。例如，</a:t>
            </a:r>
            <a:r>
              <a:rPr lang="en-US" altLang="zh-CN" dirty="0"/>
              <a:t>a&lt;b </a:t>
            </a:r>
            <a:r>
              <a:rPr lang="zh-CN" altLang="en-US" dirty="0"/>
              <a:t>形式的 </a:t>
            </a:r>
            <a:r>
              <a:rPr lang="en-US" altLang="zh-CN" dirty="0"/>
              <a:t>B </a:t>
            </a:r>
            <a:r>
              <a:rPr lang="zh-CN" altLang="en-US" dirty="0"/>
              <a:t>转换为：</a:t>
            </a:r>
            <a:endParaRPr lang="en-US" altLang="zh-CN" dirty="0"/>
          </a:p>
          <a:p>
            <a:r>
              <a:rPr lang="zh-CN" altLang="en-US" dirty="0"/>
              <a:t> </a:t>
            </a:r>
            <a:r>
              <a:rPr lang="en-US" altLang="zh-CN" dirty="0"/>
              <a:t>if a &lt; b </a:t>
            </a:r>
            <a:r>
              <a:rPr lang="en-US" altLang="zh-CN" dirty="0" err="1"/>
              <a:t>goto</a:t>
            </a:r>
            <a:r>
              <a:rPr lang="en-US" altLang="zh-CN" dirty="0"/>
              <a:t> B:true </a:t>
            </a:r>
          </a:p>
          <a:p>
            <a:r>
              <a:rPr lang="en-US" altLang="zh-CN" dirty="0"/>
              <a:t> </a:t>
            </a:r>
            <a:r>
              <a:rPr lang="en-US" altLang="zh-CN" dirty="0" err="1"/>
              <a:t>goto</a:t>
            </a:r>
            <a:r>
              <a:rPr lang="en-US" altLang="zh-CN" dirty="0"/>
              <a:t> B:false</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将常量 </a:t>
            </a:r>
            <a:r>
              <a:rPr lang="en-US" altLang="zh-CN" dirty="0"/>
              <a:t>true </a:t>
            </a:r>
            <a:r>
              <a:rPr lang="zh-CN" altLang="en-US" dirty="0"/>
              <a:t>和 </a:t>
            </a:r>
            <a:r>
              <a:rPr lang="en-US" altLang="zh-CN" dirty="0"/>
              <a:t>false </a:t>
            </a:r>
            <a:r>
              <a:rPr lang="zh-CN" altLang="en-US" dirty="0"/>
              <a:t>分别翻译成目标为 </a:t>
            </a:r>
            <a:r>
              <a:rPr lang="en-US" altLang="zh-CN" dirty="0"/>
              <a:t>B:true </a:t>
            </a:r>
            <a:r>
              <a:rPr lang="zh-CN" altLang="en-US" dirty="0"/>
              <a:t>和 </a:t>
            </a:r>
            <a:r>
              <a:rPr lang="en-US" altLang="zh-CN" dirty="0"/>
              <a:t>B:false</a:t>
            </a:r>
            <a:r>
              <a:rPr lang="zh-CN" altLang="en-US" dirty="0"/>
              <a:t>的跳转指令</a:t>
            </a:r>
            <a:r>
              <a:rPr lang="en-US" altLang="zh-CN" dirty="0"/>
              <a:t> </a:t>
            </a:r>
            <a:r>
              <a:rPr lang="zh-CN" altLang="en-US" dirty="0"/>
              <a:t>。</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88</a:t>
            </a:fld>
            <a:endParaRPr lang="zh-CN" altLang="en-US"/>
          </a:p>
        </p:txBody>
      </p:sp>
    </p:spTree>
    <p:extLst>
      <p:ext uri="{BB962C8B-B14F-4D97-AF65-F5344CB8AC3E}">
        <p14:creationId xmlns:p14="http://schemas.microsoft.com/office/powerpoint/2010/main" val="240979967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89</a:t>
            </a:fld>
            <a:endParaRPr lang="zh-CN" altLang="en-US"/>
          </a:p>
        </p:txBody>
      </p:sp>
    </p:spTree>
    <p:extLst>
      <p:ext uri="{BB962C8B-B14F-4D97-AF65-F5344CB8AC3E}">
        <p14:creationId xmlns:p14="http://schemas.microsoft.com/office/powerpoint/2010/main" val="160851160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90</a:t>
            </a:fld>
            <a:endParaRPr lang="zh-CN" altLang="en-US"/>
          </a:p>
        </p:txBody>
      </p:sp>
    </p:spTree>
    <p:extLst>
      <p:ext uri="{BB962C8B-B14F-4D97-AF65-F5344CB8AC3E}">
        <p14:creationId xmlns:p14="http://schemas.microsoft.com/office/powerpoint/2010/main" val="310924720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使用图 </a:t>
            </a:r>
            <a:r>
              <a:rPr lang="en-US" altLang="zh-CN" dirty="0"/>
              <a:t>6.36 </a:t>
            </a:r>
            <a:r>
              <a:rPr lang="zh-CN" altLang="en-US" dirty="0"/>
              <a:t>和 </a:t>
            </a:r>
            <a:r>
              <a:rPr lang="en-US" altLang="zh-CN" dirty="0"/>
              <a:t>6.37</a:t>
            </a:r>
            <a:r>
              <a:rPr lang="zh-CN" altLang="en-US" dirty="0"/>
              <a:t>中的语法制导定义，我们将得到图</a:t>
            </a:r>
            <a:r>
              <a:rPr lang="en-US" altLang="zh-CN" dirty="0"/>
              <a:t>6.38</a:t>
            </a:r>
            <a:r>
              <a:rPr lang="zh-CN" altLang="en-US" dirty="0"/>
              <a:t>中的代码。</a:t>
            </a:r>
            <a:endParaRPr lang="en-US" altLang="zh-CN" dirty="0"/>
          </a:p>
          <a:p>
            <a:r>
              <a:rPr lang="zh-CN" altLang="en-US" dirty="0"/>
              <a:t>语句</a:t>
            </a:r>
            <a:r>
              <a:rPr lang="en-US" altLang="zh-CN" sz="1200" kern="1200" dirty="0">
                <a:solidFill>
                  <a:srgbClr val="0431FF"/>
                </a:solidFill>
                <a:latin typeface="Consolas"/>
                <a:cs typeface="Consolas"/>
              </a:rPr>
              <a:t>if </a:t>
            </a:r>
            <a:r>
              <a:rPr lang="en-US" altLang="zh-CN" sz="1200" kern="1200" spc="-5" dirty="0">
                <a:solidFill>
                  <a:srgbClr val="0431FF"/>
                </a:solidFill>
                <a:latin typeface="Consolas"/>
                <a:cs typeface="Consolas"/>
              </a:rPr>
              <a:t>(</a:t>
            </a:r>
            <a:r>
              <a:rPr lang="en-US" altLang="zh-CN" sz="1200" kern="1200" dirty="0">
                <a:solidFill>
                  <a:srgbClr val="0431FF"/>
                </a:solidFill>
                <a:latin typeface="Consolas"/>
                <a:cs typeface="Consolas"/>
              </a:rPr>
              <a:t> </a:t>
            </a:r>
            <a:r>
              <a:rPr lang="en-US" altLang="zh-CN" sz="1200" kern="1200" spc="-5" dirty="0">
                <a:solidFill>
                  <a:srgbClr val="0431FF"/>
                </a:solidFill>
                <a:latin typeface="Consolas"/>
                <a:cs typeface="Consolas"/>
              </a:rPr>
              <a:t>x</a:t>
            </a:r>
            <a:r>
              <a:rPr lang="en-US" altLang="zh-CN" sz="1200" kern="1200" dirty="0">
                <a:solidFill>
                  <a:srgbClr val="0431FF"/>
                </a:solidFill>
                <a:latin typeface="Consolas"/>
                <a:cs typeface="Consolas"/>
              </a:rPr>
              <a:t> </a:t>
            </a:r>
            <a:r>
              <a:rPr lang="en-US" altLang="zh-CN" sz="1200" kern="1200" spc="-5" dirty="0">
                <a:solidFill>
                  <a:srgbClr val="0431FF"/>
                </a:solidFill>
                <a:latin typeface="Consolas"/>
                <a:cs typeface="Consolas"/>
              </a:rPr>
              <a:t>&lt;</a:t>
            </a:r>
            <a:r>
              <a:rPr lang="en-US" altLang="zh-CN" sz="1200" kern="1200" spc="5" dirty="0">
                <a:solidFill>
                  <a:srgbClr val="0431FF"/>
                </a:solidFill>
                <a:latin typeface="Consolas"/>
                <a:cs typeface="Consolas"/>
              </a:rPr>
              <a:t> </a:t>
            </a:r>
            <a:r>
              <a:rPr lang="en-US" altLang="zh-CN" sz="1200" kern="1200" dirty="0">
                <a:solidFill>
                  <a:srgbClr val="0431FF"/>
                </a:solidFill>
                <a:latin typeface="Consolas"/>
                <a:cs typeface="Consolas"/>
              </a:rPr>
              <a:t>100 || </a:t>
            </a:r>
            <a:r>
              <a:rPr lang="en-US" altLang="zh-CN" sz="1200" kern="1200" spc="-5" dirty="0">
                <a:solidFill>
                  <a:srgbClr val="0431FF"/>
                </a:solidFill>
                <a:latin typeface="Consolas"/>
                <a:cs typeface="Consolas"/>
              </a:rPr>
              <a:t>x</a:t>
            </a:r>
            <a:r>
              <a:rPr lang="en-US" altLang="zh-CN" sz="1200" kern="1200" spc="5" dirty="0">
                <a:solidFill>
                  <a:srgbClr val="0431FF"/>
                </a:solidFill>
                <a:latin typeface="Consolas"/>
                <a:cs typeface="Consolas"/>
              </a:rPr>
              <a:t> </a:t>
            </a:r>
            <a:r>
              <a:rPr lang="en-US" altLang="zh-CN" sz="1200" kern="1200" spc="-5" dirty="0">
                <a:solidFill>
                  <a:srgbClr val="0431FF"/>
                </a:solidFill>
                <a:latin typeface="Consolas"/>
                <a:cs typeface="Consolas"/>
              </a:rPr>
              <a:t>&gt;</a:t>
            </a:r>
            <a:r>
              <a:rPr lang="en-US" altLang="zh-CN" sz="1200" kern="1200" dirty="0">
                <a:solidFill>
                  <a:srgbClr val="0431FF"/>
                </a:solidFill>
                <a:latin typeface="Consolas"/>
                <a:cs typeface="Consolas"/>
              </a:rPr>
              <a:t> 200 &amp;&amp; </a:t>
            </a:r>
            <a:r>
              <a:rPr lang="en-US" altLang="zh-CN" sz="1200" kern="1200" spc="-5" dirty="0">
                <a:solidFill>
                  <a:srgbClr val="0431FF"/>
                </a:solidFill>
                <a:latin typeface="Consolas"/>
                <a:cs typeface="Consolas"/>
              </a:rPr>
              <a:t>x</a:t>
            </a:r>
            <a:r>
              <a:rPr lang="en-US" altLang="zh-CN" sz="1200" kern="1200" spc="5" dirty="0">
                <a:solidFill>
                  <a:srgbClr val="0431FF"/>
                </a:solidFill>
                <a:latin typeface="Consolas"/>
                <a:cs typeface="Consolas"/>
              </a:rPr>
              <a:t> </a:t>
            </a:r>
            <a:r>
              <a:rPr lang="en-US" altLang="zh-CN" sz="1200" kern="1200" dirty="0">
                <a:solidFill>
                  <a:srgbClr val="0431FF"/>
                </a:solidFill>
                <a:latin typeface="Consolas"/>
                <a:cs typeface="Consolas"/>
              </a:rPr>
              <a:t>!= </a:t>
            </a:r>
            <a:r>
              <a:rPr lang="en-US" altLang="zh-CN" sz="1200" kern="1200" spc="-5" dirty="0">
                <a:solidFill>
                  <a:srgbClr val="0431FF"/>
                </a:solidFill>
                <a:latin typeface="Consolas"/>
                <a:cs typeface="Consolas"/>
              </a:rPr>
              <a:t>y</a:t>
            </a:r>
            <a:r>
              <a:rPr lang="en-US" altLang="zh-CN" sz="1200" kern="1200" dirty="0">
                <a:solidFill>
                  <a:srgbClr val="0431FF"/>
                </a:solidFill>
                <a:latin typeface="Consolas"/>
                <a:cs typeface="Consolas"/>
              </a:rPr>
              <a:t> </a:t>
            </a:r>
            <a:r>
              <a:rPr lang="en-US" altLang="zh-CN" sz="1200" kern="1200" spc="-5" dirty="0">
                <a:solidFill>
                  <a:srgbClr val="0431FF"/>
                </a:solidFill>
                <a:latin typeface="Consolas"/>
                <a:cs typeface="Consolas"/>
              </a:rPr>
              <a:t>)</a:t>
            </a:r>
            <a:r>
              <a:rPr lang="en-US" altLang="zh-CN" sz="1200" kern="1200" spc="5" dirty="0">
                <a:solidFill>
                  <a:srgbClr val="0431FF"/>
                </a:solidFill>
                <a:latin typeface="Consolas"/>
                <a:cs typeface="Consolas"/>
              </a:rPr>
              <a:t> </a:t>
            </a:r>
            <a:r>
              <a:rPr lang="en-US" altLang="zh-CN" sz="1200" kern="1200" spc="-5" dirty="0">
                <a:solidFill>
                  <a:srgbClr val="0431FF"/>
                </a:solidFill>
                <a:latin typeface="Consolas"/>
                <a:cs typeface="Consolas"/>
              </a:rPr>
              <a:t>x</a:t>
            </a:r>
            <a:r>
              <a:rPr lang="en-US" altLang="zh-CN" sz="1200" kern="1200" dirty="0">
                <a:solidFill>
                  <a:srgbClr val="0431FF"/>
                </a:solidFill>
                <a:latin typeface="Consolas"/>
                <a:cs typeface="Consolas"/>
              </a:rPr>
              <a:t> </a:t>
            </a:r>
            <a:r>
              <a:rPr lang="en-US" altLang="zh-CN" sz="1200" kern="1200" spc="-5" dirty="0">
                <a:solidFill>
                  <a:srgbClr val="0431FF"/>
                </a:solidFill>
                <a:latin typeface="Consolas"/>
                <a:cs typeface="Consolas"/>
              </a:rPr>
              <a:t>=</a:t>
            </a:r>
            <a:r>
              <a:rPr lang="en-US" altLang="zh-CN" sz="1200" kern="1200" dirty="0">
                <a:solidFill>
                  <a:srgbClr val="0431FF"/>
                </a:solidFill>
                <a:latin typeface="Consolas"/>
                <a:cs typeface="Consolas"/>
              </a:rPr>
              <a:t> </a:t>
            </a:r>
            <a:r>
              <a:rPr lang="en-US" altLang="zh-CN" sz="1200" kern="1200" spc="-5" dirty="0">
                <a:solidFill>
                  <a:srgbClr val="0431FF"/>
                </a:solidFill>
                <a:latin typeface="Consolas"/>
                <a:cs typeface="Consolas"/>
              </a:rPr>
              <a:t>0</a:t>
            </a:r>
            <a:r>
              <a:rPr lang="en-US" altLang="zh-CN" dirty="0"/>
              <a:t>)</a:t>
            </a:r>
            <a:r>
              <a:rPr lang="zh-CN" altLang="en-US" dirty="0"/>
              <a:t>构成了由</a:t>
            </a:r>
            <a:r>
              <a:rPr lang="en-US" altLang="zh-CN" dirty="0"/>
              <a:t>P →S </a:t>
            </a:r>
            <a:r>
              <a:rPr lang="zh-CN" altLang="en-US" dirty="0"/>
              <a:t>生成的程序。这个产生式的语义规则生成了 </a:t>
            </a:r>
            <a:r>
              <a:rPr lang="en-US" altLang="zh-CN" dirty="0"/>
              <a:t>S </a:t>
            </a:r>
            <a:r>
              <a:rPr lang="zh-CN" altLang="en-US" dirty="0"/>
              <a:t>的代码之后第一个指令的新标号</a:t>
            </a:r>
            <a:r>
              <a:rPr lang="en-US" altLang="zh-CN" dirty="0"/>
              <a:t>L1 </a:t>
            </a:r>
            <a:r>
              <a:rPr lang="zh-CN" altLang="en-US" dirty="0"/>
              <a:t>。</a:t>
            </a:r>
            <a:endParaRPr lang="en-US" altLang="zh-CN" dirty="0"/>
          </a:p>
          <a:p>
            <a:r>
              <a:rPr lang="zh-CN" altLang="en-US" dirty="0"/>
              <a:t>语句 </a:t>
            </a:r>
            <a:r>
              <a:rPr lang="en-US" altLang="zh-CN" dirty="0"/>
              <a:t>S </a:t>
            </a:r>
            <a:r>
              <a:rPr lang="zh-CN" altLang="en-US" dirty="0"/>
              <a:t>的形式为 </a:t>
            </a:r>
            <a:r>
              <a:rPr lang="en-US" altLang="zh-CN" dirty="0"/>
              <a:t>if (B ) S1 </a:t>
            </a:r>
            <a:r>
              <a:rPr lang="zh-CN" altLang="en-US" dirty="0"/>
              <a:t>，其中 </a:t>
            </a:r>
            <a:r>
              <a:rPr lang="en-US" altLang="zh-CN" dirty="0"/>
              <a:t>S1 </a:t>
            </a:r>
            <a:r>
              <a:rPr lang="zh-CN" altLang="en-US" dirty="0"/>
              <a:t>是 </a:t>
            </a:r>
            <a:r>
              <a:rPr lang="en-US" altLang="zh-CN" dirty="0"/>
              <a:t>x = 0;</a:t>
            </a:r>
            <a:r>
              <a:rPr lang="zh-CN" altLang="en-US" dirty="0"/>
              <a:t>，因此，图 </a:t>
            </a:r>
            <a:r>
              <a:rPr lang="en-US" altLang="zh-CN" dirty="0"/>
              <a:t>6.36 </a:t>
            </a:r>
            <a:r>
              <a:rPr lang="zh-CN" altLang="en-US" dirty="0"/>
              <a:t>中的规则生成一个新的 标号</a:t>
            </a:r>
            <a:r>
              <a:rPr lang="en-US" altLang="zh-CN" dirty="0"/>
              <a:t>L2 </a:t>
            </a:r>
            <a:r>
              <a:rPr lang="zh-CN" altLang="en-US" dirty="0"/>
              <a:t>，并将其附加到 </a:t>
            </a:r>
            <a:r>
              <a:rPr lang="en-US" altLang="zh-CN" dirty="0"/>
              <a:t>S1.code</a:t>
            </a:r>
            <a:r>
              <a:rPr lang="zh-CN" altLang="en-US" dirty="0"/>
              <a:t>中的第一条（也是唯一的，在本例中）指令，即 </a:t>
            </a:r>
            <a:r>
              <a:rPr lang="en-US" altLang="zh-CN" dirty="0"/>
              <a:t>x = 0</a:t>
            </a:r>
            <a:r>
              <a:rPr lang="zh-CN" altLang="en-US" dirty="0"/>
              <a:t>处。</a:t>
            </a:r>
            <a:endParaRPr lang="en-US" altLang="zh-CN" dirty="0"/>
          </a:p>
          <a:p>
            <a:r>
              <a:rPr lang="zh-CN" altLang="en-US" dirty="0"/>
              <a:t>因为 </a:t>
            </a:r>
            <a:r>
              <a:rPr lang="en-US" altLang="zh-CN" dirty="0"/>
              <a:t>||</a:t>
            </a:r>
            <a:r>
              <a:rPr lang="zh-CN" altLang="en-US" dirty="0"/>
              <a:t>优先级低于 </a:t>
            </a:r>
            <a:r>
              <a:rPr lang="en-US" altLang="zh-CN" dirty="0"/>
              <a:t>&amp;&amp;</a:t>
            </a:r>
            <a:r>
              <a:rPr lang="zh-CN" altLang="en-US" dirty="0"/>
              <a:t>，所以式</a:t>
            </a:r>
            <a:r>
              <a:rPr lang="en-US" altLang="zh-CN" dirty="0"/>
              <a:t>(6.13) </a:t>
            </a:r>
            <a:r>
              <a:rPr lang="zh-CN" altLang="en-US" dirty="0"/>
              <a:t>中布尔表达式的形式为 </a:t>
            </a:r>
            <a:r>
              <a:rPr lang="en-US" altLang="zh-CN" dirty="0"/>
              <a:t>B1 || B2 </a:t>
            </a:r>
            <a:r>
              <a:rPr lang="zh-CN" altLang="en-US" dirty="0"/>
              <a:t>，其中 </a:t>
            </a:r>
            <a:r>
              <a:rPr lang="en-US" altLang="zh-CN" dirty="0"/>
              <a:t>B1 </a:t>
            </a:r>
            <a:r>
              <a:rPr lang="zh-CN" altLang="en-US" dirty="0"/>
              <a:t>是 </a:t>
            </a:r>
            <a:r>
              <a:rPr lang="en-US" altLang="zh-CN" dirty="0"/>
              <a:t>x&lt;100</a:t>
            </a:r>
            <a:r>
              <a:rPr lang="zh-CN" altLang="en-US" dirty="0"/>
              <a:t>。遵循图 </a:t>
            </a:r>
            <a:r>
              <a:rPr lang="en-US" altLang="zh-CN" dirty="0"/>
              <a:t>6.37 </a:t>
            </a:r>
            <a:r>
              <a:rPr lang="zh-CN" altLang="en-US" dirty="0"/>
              <a:t>中的规则，</a:t>
            </a:r>
            <a:r>
              <a:rPr lang="en-US" altLang="zh-CN" dirty="0"/>
              <a:t>B1 :true </a:t>
            </a:r>
            <a:r>
              <a:rPr lang="zh-CN" altLang="en-US" dirty="0"/>
              <a:t>是 </a:t>
            </a:r>
            <a:r>
              <a:rPr lang="en-US" altLang="zh-CN" dirty="0"/>
              <a:t>L2 </a:t>
            </a:r>
            <a:r>
              <a:rPr lang="zh-CN" altLang="en-US" dirty="0"/>
              <a:t>，即语句 </a:t>
            </a:r>
            <a:r>
              <a:rPr lang="en-US" altLang="zh-CN" dirty="0"/>
              <a:t>x = 0 </a:t>
            </a:r>
            <a:r>
              <a:rPr lang="zh-CN" altLang="en-US" dirty="0"/>
              <a:t>的标号；</a:t>
            </a:r>
            <a:r>
              <a:rPr lang="en-US" altLang="zh-CN" dirty="0"/>
              <a:t>B1:false </a:t>
            </a:r>
            <a:r>
              <a:rPr lang="zh-CN" altLang="en-US" dirty="0"/>
              <a:t>是一个新的标号 </a:t>
            </a:r>
            <a:r>
              <a:rPr lang="en-US" altLang="zh-CN" dirty="0"/>
              <a:t>L3</a:t>
            </a:r>
            <a:r>
              <a:rPr lang="zh-CN" altLang="en-US" dirty="0"/>
              <a:t>，附加到 </a:t>
            </a:r>
            <a:r>
              <a:rPr lang="en-US" altLang="zh-CN" dirty="0"/>
              <a:t>B2 </a:t>
            </a:r>
            <a:r>
              <a:rPr lang="zh-CN" altLang="en-US" dirty="0"/>
              <a:t>代码中的第一条指令上。</a:t>
            </a:r>
            <a:endParaRPr lang="en-US" altLang="zh-CN" dirty="0"/>
          </a:p>
          <a:p>
            <a:r>
              <a:rPr lang="zh-CN" altLang="en-US" dirty="0"/>
              <a:t>请注意，生成的代码不是最佳的，因为翻译结果比例 </a:t>
            </a:r>
            <a:r>
              <a:rPr lang="en-US" altLang="zh-CN" dirty="0"/>
              <a:t>6.21 </a:t>
            </a:r>
            <a:r>
              <a:rPr lang="zh-CN" altLang="en-US" dirty="0"/>
              <a:t>中的代码多了 </a:t>
            </a:r>
            <a:r>
              <a:rPr lang="en-US" altLang="zh-CN" dirty="0"/>
              <a:t>3 </a:t>
            </a:r>
            <a:r>
              <a:rPr lang="zh-CN" altLang="en-US" dirty="0"/>
              <a:t>条指令（</a:t>
            </a:r>
            <a:r>
              <a:rPr lang="en-US" altLang="zh-CN" dirty="0" err="1"/>
              <a:t>goto</a:t>
            </a:r>
            <a:r>
              <a:rPr lang="zh-CN" altLang="en-US" dirty="0"/>
              <a:t>）。指令 </a:t>
            </a:r>
            <a:r>
              <a:rPr lang="en-US" altLang="zh-CN" dirty="0" err="1"/>
              <a:t>goto</a:t>
            </a:r>
            <a:r>
              <a:rPr lang="en-US" altLang="zh-CN" dirty="0"/>
              <a:t> L3 </a:t>
            </a:r>
            <a:r>
              <a:rPr lang="zh-CN" altLang="en-US" dirty="0"/>
              <a:t>是多余的，因为 </a:t>
            </a:r>
            <a:r>
              <a:rPr lang="en-US" altLang="zh-CN" dirty="0"/>
              <a:t>L3 </a:t>
            </a:r>
            <a:r>
              <a:rPr lang="zh-CN" altLang="en-US" dirty="0"/>
              <a:t>是下一条指令的 标号。如像例 </a:t>
            </a:r>
            <a:r>
              <a:rPr lang="en-US" altLang="zh-CN" dirty="0"/>
              <a:t>6.21 </a:t>
            </a:r>
            <a:r>
              <a:rPr lang="zh-CN" altLang="en-US" dirty="0"/>
              <a:t>所示使用 </a:t>
            </a:r>
            <a:r>
              <a:rPr lang="en-US" altLang="zh-CN" dirty="0" err="1"/>
              <a:t>ifFalse</a:t>
            </a:r>
            <a:r>
              <a:rPr lang="en-US" altLang="zh-CN" dirty="0"/>
              <a:t> </a:t>
            </a:r>
            <a:r>
              <a:rPr lang="zh-CN" altLang="en-US" dirty="0"/>
              <a:t>代替 </a:t>
            </a:r>
            <a:r>
              <a:rPr lang="en-US" altLang="zh-CN" dirty="0"/>
              <a:t>if </a:t>
            </a:r>
            <a:r>
              <a:rPr lang="zh-CN" altLang="en-US" dirty="0"/>
              <a:t>指令，可以消除两条 </a:t>
            </a:r>
            <a:r>
              <a:rPr lang="en-US" altLang="zh-CN" dirty="0" err="1"/>
              <a:t>goto</a:t>
            </a:r>
            <a:r>
              <a:rPr lang="en-US" altLang="zh-CN" dirty="0"/>
              <a:t> L1 </a:t>
            </a:r>
            <a:r>
              <a:rPr lang="zh-CN" altLang="en-US" dirty="0"/>
              <a:t>指令，。</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91</a:t>
            </a:fld>
            <a:endParaRPr lang="zh-CN" altLang="en-US"/>
          </a:p>
        </p:txBody>
      </p:sp>
    </p:spTree>
    <p:extLst>
      <p:ext uri="{BB962C8B-B14F-4D97-AF65-F5344CB8AC3E}">
        <p14:creationId xmlns:p14="http://schemas.microsoft.com/office/powerpoint/2010/main" val="282497249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 </a:t>
            </a:r>
            <a:r>
              <a:rPr lang="en-US" altLang="zh-CN" dirty="0" err="1"/>
              <a:t>ifFalse</a:t>
            </a:r>
            <a:r>
              <a:rPr lang="en-US" altLang="zh-CN" dirty="0"/>
              <a:t> </a:t>
            </a:r>
            <a:r>
              <a:rPr lang="zh-CN" altLang="en-US" dirty="0"/>
              <a:t>指令利用了控制流会从一个指令自然流动到下一个指令的性值，因此当 </a:t>
            </a:r>
            <a:r>
              <a:rPr lang="en-US" altLang="zh-CN" dirty="0"/>
              <a:t>x&gt;200</a:t>
            </a:r>
            <a:r>
              <a:rPr lang="zh-CN" altLang="en-US" dirty="0"/>
              <a:t>时，控制就直接“穿越”到标号</a:t>
            </a:r>
            <a:r>
              <a:rPr lang="en-US" altLang="zh-CN" dirty="0"/>
              <a:t> L4</a:t>
            </a:r>
            <a:r>
              <a:rPr lang="zh-CN" altLang="en-US" dirty="0"/>
              <a:t>，从而减少了一个跳转指令。</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92</a:t>
            </a:fld>
            <a:endParaRPr lang="zh-CN" altLang="en-US"/>
          </a:p>
        </p:txBody>
      </p:sp>
    </p:spTree>
    <p:extLst>
      <p:ext uri="{BB962C8B-B14F-4D97-AF65-F5344CB8AC3E}">
        <p14:creationId xmlns:p14="http://schemas.microsoft.com/office/powerpoint/2010/main" val="244058758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布尔值和跳转代码</a:t>
            </a:r>
            <a:endParaRPr lang="en-US" altLang="zh-CN" dirty="0"/>
          </a:p>
          <a:p>
            <a:r>
              <a:rPr lang="zh-CN" altLang="en-US" dirty="0"/>
              <a:t>布尔表达式除了用于改变语句中的控制流外，还可以求值</a:t>
            </a:r>
          </a:p>
          <a:p>
            <a:r>
              <a:rPr lang="zh-CN" altLang="en-US" dirty="0"/>
              <a:t>示例：𝑥 </a:t>
            </a:r>
            <a:r>
              <a:rPr lang="en-US" altLang="zh-CN" dirty="0"/>
              <a:t>= </a:t>
            </a:r>
            <a:r>
              <a:rPr lang="zh-CN" altLang="en-US" dirty="0"/>
              <a:t>𝑎 </a:t>
            </a:r>
            <a:r>
              <a:rPr lang="en-US" altLang="zh-CN" dirty="0"/>
              <a:t>&lt; </a:t>
            </a:r>
            <a:r>
              <a:rPr lang="zh-CN" altLang="en-US" dirty="0"/>
              <a:t>𝑏</a:t>
            </a:r>
          </a:p>
          <a:p>
            <a:r>
              <a:rPr lang="zh-CN" altLang="en-US" dirty="0"/>
              <a:t>语法：</a:t>
            </a:r>
          </a:p>
          <a:p>
            <a:endParaRPr lang="zh-CN" altLang="en-US" dirty="0"/>
          </a:p>
          <a:p>
            <a:r>
              <a:rPr lang="zh-CN" altLang="en-US" dirty="0"/>
              <a:t>处理布尔表达式两种角色的方法是，首先为表达式建立语法树，然后根据𝐸 的上下文使用不同的代码生成函数。</a:t>
            </a:r>
          </a:p>
          <a:p>
            <a:r>
              <a:rPr lang="zh-CN" altLang="en-US" dirty="0"/>
              <a:t>例如，对于 𝑆 → 𝐰𝐡𝐢𝐥𝐞</a:t>
            </a:r>
            <a:r>
              <a:rPr lang="en-US" altLang="zh-CN" dirty="0"/>
              <a:t>(</a:t>
            </a:r>
            <a:r>
              <a:rPr lang="zh-CN" altLang="en-US" dirty="0"/>
              <a:t>𝐸</a:t>
            </a:r>
            <a:r>
              <a:rPr lang="en-US" altLang="zh-CN" dirty="0"/>
              <a:t>)</a:t>
            </a:r>
            <a:r>
              <a:rPr lang="zh-CN" altLang="en-US" dirty="0"/>
              <a:t>𝑆</a:t>
            </a:r>
            <a:r>
              <a:rPr lang="en-US" altLang="zh-CN" dirty="0"/>
              <a:t>1 </a:t>
            </a:r>
            <a:r>
              <a:rPr lang="zh-CN" altLang="en-US" dirty="0"/>
              <a:t>中的𝐸，生成跳转代码</a:t>
            </a:r>
          </a:p>
          <a:p>
            <a:r>
              <a:rPr lang="zh-CN" altLang="en-US" dirty="0"/>
              <a:t>对于 𝑆 → 𝐢𝐝 </a:t>
            </a:r>
            <a:r>
              <a:rPr lang="en-US" altLang="zh-CN" dirty="0"/>
              <a:t>= </a:t>
            </a:r>
            <a:r>
              <a:rPr lang="zh-CN" altLang="en-US" dirty="0"/>
              <a:t>𝐸中的𝐸，生成计算布尔值的代码</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93</a:t>
            </a:fld>
            <a:endParaRPr lang="zh-CN" altLang="en-US"/>
          </a:p>
        </p:txBody>
      </p:sp>
    </p:spTree>
    <p:extLst>
      <p:ext uri="{BB962C8B-B14F-4D97-AF65-F5344CB8AC3E}">
        <p14:creationId xmlns:p14="http://schemas.microsoft.com/office/powerpoint/2010/main" val="416479896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回填</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94</a:t>
            </a:fld>
            <a:endParaRPr lang="zh-CN" altLang="en-US"/>
          </a:p>
        </p:txBody>
      </p:sp>
    </p:spTree>
    <p:extLst>
      <p:ext uri="{BB962C8B-B14F-4D97-AF65-F5344CB8AC3E}">
        <p14:creationId xmlns:p14="http://schemas.microsoft.com/office/powerpoint/2010/main" val="282761412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在生成布尔表达式和流程控制语句代码时，一个关键问题是将跳转指令与跳转目标匹配起来。</a:t>
            </a:r>
          </a:p>
          <a:p>
            <a:r>
              <a:rPr lang="zh-CN" altLang="en-US" dirty="0"/>
              <a:t>示例：𝐢𝐟 </a:t>
            </a:r>
            <a:r>
              <a:rPr lang="en-US" altLang="zh-CN" dirty="0"/>
              <a:t>( </a:t>
            </a:r>
            <a:r>
              <a:rPr lang="zh-CN" altLang="en-US" dirty="0"/>
              <a:t>𝑩 </a:t>
            </a:r>
            <a:r>
              <a:rPr lang="en-US" altLang="zh-CN" dirty="0"/>
              <a:t>) </a:t>
            </a:r>
            <a:r>
              <a:rPr lang="zh-CN" altLang="en-US" dirty="0"/>
              <a:t>𝑺</a:t>
            </a:r>
          </a:p>
          <a:p>
            <a:r>
              <a:rPr lang="zh-CN" altLang="en-US" dirty="0"/>
              <a:t>根据短路翻译，布尔表达式𝐵的翻译结果中包含一个跳转指令。当 𝐵 为假时，该指令将跳转到紧跟在</a:t>
            </a:r>
            <a:r>
              <a:rPr lang="en-US" altLang="zh-CN" dirty="0"/>
              <a:t>S</a:t>
            </a:r>
            <a:r>
              <a:rPr lang="zh-CN" altLang="en-US" dirty="0"/>
              <a:t>的代码之后的指令处。在一趟式的翻译中，𝐵 必须在处理 𝑆 之前就翻译完毕。但是，在翻译𝐵 时，跳转目标是未知的。</a:t>
            </a:r>
          </a:p>
          <a:p>
            <a:r>
              <a:rPr lang="zh-CN" altLang="en-US" dirty="0"/>
              <a:t>早些时候，我们通过将标号作为继承属性传递到生成相关跳转指令的地方来解决这个问题</a:t>
            </a:r>
            <a:r>
              <a:rPr lang="en-US" altLang="zh-CN" dirty="0"/>
              <a:t>(</a:t>
            </a:r>
            <a:r>
              <a:rPr lang="zh-CN" altLang="en-US" dirty="0"/>
              <a:t>𝑆</a:t>
            </a:r>
            <a:r>
              <a:rPr lang="en-US" altLang="zh-CN" dirty="0"/>
              <a:t>. </a:t>
            </a:r>
            <a:r>
              <a:rPr lang="zh-CN" altLang="en-US" dirty="0"/>
              <a:t>𝑛𝑒𝑥𝑡</a:t>
            </a:r>
            <a:r>
              <a:rPr lang="en-US" altLang="zh-CN" dirty="0"/>
              <a:t>)</a:t>
            </a:r>
            <a:r>
              <a:rPr lang="zh-CN" altLang="en-US" dirty="0"/>
              <a:t>，但这需要再进行一趟处理，将标号和具体的地址绑定。</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95</a:t>
            </a:fld>
            <a:endParaRPr lang="zh-CN" altLang="en-US"/>
          </a:p>
        </p:txBody>
      </p:sp>
    </p:spTree>
    <p:extLst>
      <p:ext uri="{BB962C8B-B14F-4D97-AF65-F5344CB8AC3E}">
        <p14:creationId xmlns:p14="http://schemas.microsoft.com/office/powerpoint/2010/main" val="398183787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本节采用一种称为回填的补充方法，它把一个由跳转指令组成的列表以综合属性的形式进行传递。具体来说，当生成一个跳转指令时，暂时不指定跳转的目标。这样的跳转都被放在一个跳转列表中，当可以确定正确的目标标号时，才去填充这些指令的目标标号。同一列表中所有跳转指令具有相同的目标标号</a:t>
            </a:r>
            <a:r>
              <a:rPr lang="zh-CN" altLang="en-US" sz="1200" b="1" dirty="0">
                <a:solidFill>
                  <a:schemeClr val="tx1"/>
                </a:solidFill>
                <a:latin typeface="楷体" pitchFamily="49" charset="-122"/>
                <a:cs typeface="Times New Roman"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1" dirty="0">
              <a:solidFill>
                <a:schemeClr val="tx1"/>
              </a:solidFill>
              <a:latin typeface="楷体" pitchFamily="49" charset="-122"/>
              <a:cs typeface="Times New Roman" pitchFamily="18" charset="0"/>
            </a:endParaRPr>
          </a:p>
          <a:p>
            <a:r>
              <a:rPr lang="zh-CN" altLang="en-US" dirty="0"/>
              <a:t>技术细节：</a:t>
            </a:r>
          </a:p>
          <a:p>
            <a:r>
              <a:rPr lang="zh-CN" altLang="en-US" dirty="0"/>
              <a:t>对于表示布尔表达式的非终结符𝐵，我们定义了两个综合属性： 𝑡𝑟𝑢𝑒𝑙𝑖𝑠𝑡 和 𝑓𝑎𝑠𝑙𝑒𝑙𝑖𝑠𝑡用于管理布尔表达式的跳转代码中的标号。</a:t>
            </a:r>
            <a:endParaRPr lang="en-US" altLang="zh-CN" dirty="0"/>
          </a:p>
          <a:p>
            <a:r>
              <a:rPr lang="zh-CN" altLang="en-US" dirty="0"/>
              <a:t>特别是，</a:t>
            </a:r>
            <a:r>
              <a:rPr lang="en-US" altLang="zh-CN" dirty="0"/>
              <a:t>B:truelist </a:t>
            </a:r>
            <a:r>
              <a:rPr lang="zh-CN" altLang="en-US" dirty="0"/>
              <a:t>将是一个包含跳转或条件跳转指令列表，我们必须向这些指令中插入适当的标号，也就是当 </a:t>
            </a:r>
            <a:r>
              <a:rPr lang="en-US" altLang="zh-CN" dirty="0"/>
              <a:t>B </a:t>
            </a:r>
            <a:r>
              <a:rPr lang="zh-CN" altLang="en-US" dirty="0"/>
              <a:t>为真时控制流应该转向的标号。类似地，</a:t>
            </a:r>
            <a:r>
              <a:rPr lang="en-US" altLang="zh-CN" dirty="0"/>
              <a:t>B:falselist</a:t>
            </a:r>
            <a:r>
              <a:rPr lang="zh-CN" altLang="en-US" dirty="0"/>
              <a:t>也是一个包含跳转指令的列表，这些指令最终获得的标号就是当 </a:t>
            </a:r>
            <a:r>
              <a:rPr lang="en-US" altLang="zh-CN" dirty="0"/>
              <a:t>B </a:t>
            </a:r>
            <a:r>
              <a:rPr lang="zh-CN" altLang="en-US" dirty="0"/>
              <a:t>为 </a:t>
            </a:r>
            <a:r>
              <a:rPr lang="en-US" altLang="zh-CN" dirty="0"/>
              <a:t>false </a:t>
            </a:r>
            <a:r>
              <a:rPr lang="zh-CN" altLang="en-US" dirty="0"/>
              <a:t>时，控制流应该转向的标号。在生成 </a:t>
            </a:r>
            <a:r>
              <a:rPr lang="en-US" altLang="zh-CN" dirty="0"/>
              <a:t>B</a:t>
            </a:r>
            <a:r>
              <a:rPr lang="zh-CN" altLang="en-US" dirty="0"/>
              <a:t>的代码时，跳转到 </a:t>
            </a:r>
            <a:r>
              <a:rPr lang="en-US" altLang="zh-CN" dirty="0"/>
              <a:t>true </a:t>
            </a:r>
            <a:r>
              <a:rPr lang="zh-CN" altLang="en-US" dirty="0"/>
              <a:t>和 </a:t>
            </a:r>
            <a:r>
              <a:rPr lang="en-US" altLang="zh-CN" dirty="0"/>
              <a:t>false </a:t>
            </a:r>
            <a:r>
              <a:rPr lang="zh-CN" altLang="en-US" dirty="0"/>
              <a:t>出口的跳转指令是不完整的，标号字段尚未填写。这些不完整的跳转指令被保存在 </a:t>
            </a:r>
            <a:r>
              <a:rPr lang="en-US" altLang="zh-CN" dirty="0"/>
              <a:t>B:truelist </a:t>
            </a:r>
            <a:r>
              <a:rPr lang="zh-CN" altLang="en-US" dirty="0"/>
              <a:t>和 </a:t>
            </a:r>
            <a:r>
              <a:rPr lang="en-US" altLang="zh-CN" dirty="0"/>
              <a:t>B:falselist </a:t>
            </a:r>
            <a:r>
              <a:rPr lang="zh-CN" altLang="en-US" dirty="0"/>
              <a:t>指向的列表中。类似地，语句 </a:t>
            </a:r>
            <a:r>
              <a:rPr lang="en-US" altLang="zh-CN" dirty="0"/>
              <a:t>S </a:t>
            </a:r>
            <a:r>
              <a:rPr lang="zh-CN" altLang="en-US" dirty="0"/>
              <a:t>具有综合属性 </a:t>
            </a:r>
            <a:r>
              <a:rPr lang="en-US" altLang="zh-CN" dirty="0"/>
              <a:t>S:nextlist</a:t>
            </a:r>
            <a:r>
              <a:rPr lang="zh-CN" altLang="en-US" dirty="0"/>
              <a:t>也是一个跳转指令列表，这些指令应该跳转到紧跟在</a:t>
            </a:r>
            <a:r>
              <a:rPr lang="en-US" altLang="zh-CN" dirty="0"/>
              <a:t>S </a:t>
            </a:r>
            <a:r>
              <a:rPr lang="zh-CN" altLang="en-US" dirty="0"/>
              <a:t>的代码之后的指令。</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96</a:t>
            </a:fld>
            <a:endParaRPr lang="zh-CN" altLang="en-US"/>
          </a:p>
        </p:txBody>
      </p:sp>
    </p:spTree>
    <p:extLst>
      <p:ext uri="{BB962C8B-B14F-4D97-AF65-F5344CB8AC3E}">
        <p14:creationId xmlns:p14="http://schemas.microsoft.com/office/powerpoint/2010/main" val="8773941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我们将生成的指令放入一个指令数组中，而标号将是该数组的下标。为了处理跳转指令的列表，我们使用三个函数：</a:t>
            </a:r>
            <a:endParaRPr lang="en-US" altLang="zh-CN" dirty="0"/>
          </a:p>
          <a:p>
            <a:r>
              <a:rPr lang="en-US" altLang="zh-CN" dirty="0" err="1"/>
              <a:t>makelist</a:t>
            </a:r>
            <a:r>
              <a:rPr lang="en-US" altLang="zh-CN" dirty="0"/>
              <a:t>( </a:t>
            </a:r>
            <a:r>
              <a:rPr lang="en-US" altLang="zh-CN" dirty="0" err="1"/>
              <a:t>i</a:t>
            </a:r>
            <a:r>
              <a:rPr lang="en-US" altLang="zh-CN" dirty="0"/>
              <a:t> )</a:t>
            </a:r>
          </a:p>
          <a:p>
            <a:r>
              <a:rPr lang="zh-CN" altLang="en-US" dirty="0"/>
              <a:t>创建一个只包含</a:t>
            </a:r>
            <a:r>
              <a:rPr lang="en-US" altLang="zh-CN" dirty="0" err="1"/>
              <a:t>i</a:t>
            </a:r>
            <a:r>
              <a:rPr lang="zh-CN" altLang="en-US" dirty="0"/>
              <a:t>的列表，</a:t>
            </a:r>
            <a:r>
              <a:rPr lang="en-US" altLang="zh-CN" dirty="0" err="1"/>
              <a:t>i</a:t>
            </a:r>
            <a:r>
              <a:rPr lang="zh-CN" altLang="en-US" dirty="0"/>
              <a:t>是跳转指令的标号，函数返回指向新创建的列表的指针</a:t>
            </a:r>
          </a:p>
          <a:p>
            <a:r>
              <a:rPr lang="en-US" altLang="zh-CN" dirty="0"/>
              <a:t>merge( p1, p2 )</a:t>
            </a:r>
          </a:p>
          <a:p>
            <a:r>
              <a:rPr lang="zh-CN" altLang="en-US" dirty="0"/>
              <a:t>将 </a:t>
            </a:r>
            <a:r>
              <a:rPr lang="en-US" altLang="zh-CN" dirty="0"/>
              <a:t>p1 </a:t>
            </a:r>
            <a:r>
              <a:rPr lang="zh-CN" altLang="en-US" dirty="0"/>
              <a:t>和 </a:t>
            </a:r>
            <a:r>
              <a:rPr lang="en-US" altLang="zh-CN" dirty="0"/>
              <a:t>p2 </a:t>
            </a:r>
            <a:r>
              <a:rPr lang="zh-CN" altLang="en-US" dirty="0"/>
              <a:t>指向的列表进行合并，返回指向合并后的列表的指针</a:t>
            </a:r>
          </a:p>
          <a:p>
            <a:r>
              <a:rPr lang="en-US" altLang="zh-CN" dirty="0"/>
              <a:t>backpatch( p, </a:t>
            </a:r>
            <a:r>
              <a:rPr lang="en-US" altLang="zh-CN" dirty="0" err="1"/>
              <a:t>i</a:t>
            </a:r>
            <a:r>
              <a:rPr lang="en-US" altLang="zh-CN" dirty="0"/>
              <a:t> )</a:t>
            </a:r>
          </a:p>
          <a:p>
            <a:r>
              <a:rPr lang="zh-CN" altLang="en-US" dirty="0"/>
              <a:t>将 </a:t>
            </a:r>
            <a:r>
              <a:rPr lang="en-US" altLang="zh-CN" dirty="0" err="1"/>
              <a:t>i</a:t>
            </a:r>
            <a:r>
              <a:rPr lang="en-US" altLang="zh-CN" dirty="0"/>
              <a:t> </a:t>
            </a:r>
            <a:r>
              <a:rPr lang="zh-CN" altLang="en-US" dirty="0"/>
              <a:t>作为目标标号插入到 </a:t>
            </a:r>
            <a:r>
              <a:rPr lang="en-US" altLang="zh-CN" dirty="0"/>
              <a:t>p</a:t>
            </a:r>
            <a:r>
              <a:rPr lang="zh-CN" altLang="en-US" dirty="0"/>
              <a:t>所指列表中的各指令中</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97</a:t>
            </a:fld>
            <a:endParaRPr lang="zh-CN" altLang="en-US"/>
          </a:p>
        </p:txBody>
      </p:sp>
    </p:spTree>
    <p:extLst>
      <p:ext uri="{BB962C8B-B14F-4D97-AF65-F5344CB8AC3E}">
        <p14:creationId xmlns:p14="http://schemas.microsoft.com/office/powerpoint/2010/main" val="415019450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我们现在构建一个可以在自下而上语法分析过程中生成布尔表达式目标代码的翻译方案。这个语法中的标记非终结符 </a:t>
            </a:r>
            <a:r>
              <a:rPr lang="en-US" altLang="zh-CN" dirty="0"/>
              <a:t>M </a:t>
            </a:r>
            <a:r>
              <a:rPr lang="zh-CN" altLang="en-US" dirty="0"/>
              <a:t>，它引发的语义动作在适当的时刻获取将要生成的下一条指令的下标。语法如下：</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98</a:t>
            </a:fld>
            <a:endParaRPr lang="zh-CN" altLang="en-US"/>
          </a:p>
        </p:txBody>
      </p:sp>
    </p:spTree>
    <p:extLst>
      <p:ext uri="{BB962C8B-B14F-4D97-AF65-F5344CB8AC3E}">
        <p14:creationId xmlns:p14="http://schemas.microsoft.com/office/powerpoint/2010/main" val="395947134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考虑上述文法中对应于规则 </a:t>
            </a:r>
            <a:r>
              <a:rPr lang="en-US" altLang="zh-CN" dirty="0"/>
              <a:t>(1) B→B1 || MB2</a:t>
            </a:r>
            <a:r>
              <a:rPr lang="zh-CN" altLang="en-US" dirty="0"/>
              <a:t>的语义动作 。如果 </a:t>
            </a:r>
            <a:r>
              <a:rPr lang="en-US" altLang="zh-CN" dirty="0"/>
              <a:t>B1 </a:t>
            </a:r>
            <a:r>
              <a:rPr lang="zh-CN" altLang="en-US" dirty="0"/>
              <a:t>为 </a:t>
            </a:r>
            <a:r>
              <a:rPr lang="en-US" altLang="zh-CN" dirty="0"/>
              <a:t>true</a:t>
            </a:r>
            <a:r>
              <a:rPr lang="zh-CN" altLang="en-US" dirty="0"/>
              <a:t>，则 </a:t>
            </a:r>
            <a:r>
              <a:rPr lang="en-US" altLang="zh-CN" dirty="0"/>
              <a:t>B </a:t>
            </a:r>
            <a:r>
              <a:rPr lang="zh-CN" altLang="en-US" dirty="0"/>
              <a:t>也为 </a:t>
            </a:r>
            <a:r>
              <a:rPr lang="en-US" altLang="zh-CN" dirty="0"/>
              <a:t>true</a:t>
            </a:r>
            <a:r>
              <a:rPr lang="zh-CN" altLang="en-US" dirty="0"/>
              <a:t>，因此 </a:t>
            </a:r>
            <a:r>
              <a:rPr lang="en-US" altLang="zh-CN" dirty="0"/>
              <a:t>B1 :</a:t>
            </a:r>
            <a:r>
              <a:rPr lang="en-US" altLang="zh-CN" dirty="0" err="1"/>
              <a:t>truelist</a:t>
            </a:r>
            <a:r>
              <a:rPr lang="en-US" altLang="zh-CN" dirty="0"/>
              <a:t> </a:t>
            </a:r>
            <a:r>
              <a:rPr lang="zh-CN" altLang="en-US" dirty="0"/>
              <a:t>中的跳转指令就成为 </a:t>
            </a:r>
            <a:r>
              <a:rPr lang="en-US" altLang="zh-CN" dirty="0"/>
              <a:t>B:truelist </a:t>
            </a:r>
            <a:r>
              <a:rPr lang="zh-CN" altLang="en-US" dirty="0"/>
              <a:t>的一部分。然而，如果 </a:t>
            </a:r>
            <a:r>
              <a:rPr lang="en-US" altLang="zh-CN" dirty="0"/>
              <a:t>B1 </a:t>
            </a:r>
            <a:r>
              <a:rPr lang="zh-CN" altLang="en-US" dirty="0"/>
              <a:t>为假，我们接下来必须测试 </a:t>
            </a:r>
            <a:r>
              <a:rPr lang="en-US" altLang="zh-CN" dirty="0"/>
              <a:t>B2 </a:t>
            </a:r>
            <a:r>
              <a:rPr lang="zh-CN" altLang="en-US" dirty="0"/>
              <a:t>。因此</a:t>
            </a:r>
            <a:r>
              <a:rPr lang="en-US" altLang="zh-CN" dirty="0"/>
              <a:t>B1:falselist</a:t>
            </a:r>
            <a:r>
              <a:rPr lang="zh-CN" altLang="en-US" dirty="0"/>
              <a:t>中的跳转指令的目标必定 </a:t>
            </a:r>
            <a:r>
              <a:rPr lang="en-US" altLang="zh-CN" dirty="0"/>
              <a:t>B2</a:t>
            </a:r>
            <a:r>
              <a:rPr lang="zh-CN" altLang="en-US" dirty="0"/>
              <a:t>的代码的起始位置。这个位置使用标记非终结符 </a:t>
            </a:r>
            <a:r>
              <a:rPr lang="en-US" altLang="zh-CN" dirty="0"/>
              <a:t>M </a:t>
            </a:r>
            <a:r>
              <a:rPr lang="zh-CN" altLang="en-US" dirty="0"/>
              <a:t>获得。在即将生成</a:t>
            </a:r>
            <a:r>
              <a:rPr lang="en-US" altLang="zh-CN" dirty="0"/>
              <a:t>B2 </a:t>
            </a:r>
            <a:r>
              <a:rPr lang="zh-CN" altLang="en-US" dirty="0"/>
              <a:t>代码之前，</a:t>
            </a:r>
            <a:r>
              <a:rPr lang="en-US" altLang="zh-CN" dirty="0"/>
              <a:t>M</a:t>
            </a:r>
            <a:r>
              <a:rPr lang="zh-CN" altLang="en-US" dirty="0"/>
              <a:t>生成了下一条指令的标号，存放在综合属性 </a:t>
            </a:r>
            <a:r>
              <a:rPr lang="en-US" altLang="zh-CN" dirty="0"/>
              <a:t>M:instr</a:t>
            </a:r>
            <a:r>
              <a:rPr lang="zh-CN" altLang="en-US" dirty="0"/>
              <a:t>中。</a:t>
            </a:r>
            <a:endParaRPr lang="en-US" altLang="zh-CN" dirty="0"/>
          </a:p>
          <a:p>
            <a:r>
              <a:rPr lang="zh-CN" altLang="en-US" dirty="0"/>
              <a:t>为了获得该指令标号，我们将产生式 </a:t>
            </a:r>
            <a:r>
              <a:rPr lang="en-US" altLang="zh-CN" dirty="0"/>
              <a:t>M→ </a:t>
            </a:r>
            <a:r>
              <a:rPr lang="zh-CN" altLang="en-US" dirty="0"/>
              <a:t>空和语义动作动作 </a:t>
            </a:r>
            <a:r>
              <a:rPr lang="en-US" altLang="zh-CN" dirty="0"/>
              <a:t>{</a:t>
            </a:r>
            <a:r>
              <a:rPr lang="en-US" altLang="zh-CN" dirty="0" err="1"/>
              <a:t>M:instr</a:t>
            </a:r>
            <a:r>
              <a:rPr lang="en-US" altLang="zh-CN" dirty="0"/>
              <a:t> = </a:t>
            </a:r>
            <a:r>
              <a:rPr lang="en-US" altLang="zh-CN" dirty="0" err="1"/>
              <a:t>nextinstr</a:t>
            </a:r>
            <a:r>
              <a:rPr lang="en-US" altLang="zh-CN" dirty="0"/>
              <a:t>; }</a:t>
            </a:r>
            <a:r>
              <a:rPr lang="zh-CN" altLang="en-US" dirty="0"/>
              <a:t>关联起来。变量 </a:t>
            </a:r>
            <a:r>
              <a:rPr lang="en-US" altLang="zh-CN" dirty="0" err="1"/>
              <a:t>nextinstr</a:t>
            </a:r>
            <a:r>
              <a:rPr lang="en-US" altLang="zh-CN" dirty="0"/>
              <a:t> </a:t>
            </a:r>
            <a:r>
              <a:rPr lang="zh-CN" altLang="en-US" dirty="0"/>
              <a:t>保存了紧跟着的下一条指令的标号。当我们看到产生 式</a:t>
            </a:r>
            <a:r>
              <a:rPr lang="en-US" altLang="zh-CN" dirty="0"/>
              <a:t>B→B1 || MB2 </a:t>
            </a:r>
            <a:r>
              <a:rPr lang="zh-CN" altLang="en-US" dirty="0"/>
              <a:t>的剩余部分时，该值将被回填到 </a:t>
            </a:r>
            <a:r>
              <a:rPr lang="en-US" altLang="zh-CN" dirty="0"/>
              <a:t>B1:falselist</a:t>
            </a:r>
            <a:r>
              <a:rPr lang="zh-CN" altLang="en-US" dirty="0"/>
              <a:t>中的指令上（即列表 </a:t>
            </a:r>
            <a:r>
              <a:rPr lang="en-US" altLang="zh-CN" dirty="0"/>
              <a:t>B1:falselist </a:t>
            </a:r>
            <a:r>
              <a:rPr lang="zh-CN" altLang="en-US" dirty="0"/>
              <a:t>上的每条指令都将接收 </a:t>
            </a:r>
            <a:r>
              <a:rPr lang="en-US" altLang="zh-CN" dirty="0"/>
              <a:t>M:instr </a:t>
            </a:r>
            <a:r>
              <a:rPr lang="zh-CN" altLang="en-US" dirty="0"/>
              <a:t>作为其目标标号）。</a:t>
            </a:r>
            <a:endParaRPr lang="en-US" altLang="zh-CN" dirty="0"/>
          </a:p>
          <a:p>
            <a:r>
              <a:rPr lang="zh-CN" altLang="en-US" dirty="0"/>
              <a:t>  </a:t>
            </a:r>
            <a:r>
              <a:rPr lang="en-US" altLang="zh-CN" dirty="0"/>
              <a:t>B→</a:t>
            </a:r>
            <a:r>
              <a:rPr lang="zh-CN" altLang="en-US" dirty="0"/>
              <a:t> </a:t>
            </a:r>
            <a:r>
              <a:rPr lang="en-US" altLang="zh-CN" dirty="0"/>
              <a:t>B1 || MB2</a:t>
            </a:r>
            <a:r>
              <a:rPr lang="zh-CN" altLang="en-US" dirty="0"/>
              <a:t>的语义动作 </a:t>
            </a:r>
            <a:r>
              <a:rPr lang="en-US" altLang="zh-CN" dirty="0"/>
              <a:t>(2) </a:t>
            </a:r>
            <a:r>
              <a:rPr lang="zh-CN" altLang="en-US" dirty="0"/>
              <a:t>和</a:t>
            </a:r>
            <a:r>
              <a:rPr lang="en-US" altLang="zh-CN" dirty="0"/>
              <a:t>B→ B1 &amp;&amp; M B2 </a:t>
            </a:r>
            <a:r>
              <a:rPr lang="zh-CN" altLang="en-US" dirty="0"/>
              <a:t>语义动作</a:t>
            </a:r>
            <a:r>
              <a:rPr lang="en-US" altLang="zh-CN" dirty="0"/>
              <a:t>(1)</a:t>
            </a:r>
            <a:r>
              <a:rPr lang="zh-CN" altLang="en-US" dirty="0"/>
              <a:t>类似。 </a:t>
            </a:r>
            <a:r>
              <a:rPr lang="en-US" altLang="zh-CN" dirty="0"/>
              <a:t>B→</a:t>
            </a:r>
            <a:r>
              <a:rPr lang="zh-CN" altLang="en-US" dirty="0"/>
              <a:t>！</a:t>
            </a:r>
            <a:r>
              <a:rPr lang="en-US" altLang="zh-CN" dirty="0"/>
              <a:t>B </a:t>
            </a:r>
            <a:r>
              <a:rPr lang="zh-CN" altLang="en-US" dirty="0"/>
              <a:t>的语义动作（</a:t>
            </a:r>
            <a:r>
              <a:rPr lang="en-US" altLang="zh-CN" dirty="0"/>
              <a:t>3</a:t>
            </a:r>
            <a:r>
              <a:rPr lang="zh-CN" altLang="en-US" dirty="0"/>
              <a:t>）交换真假列表。动作 </a:t>
            </a:r>
            <a:r>
              <a:rPr lang="en-US" altLang="zh-CN" dirty="0"/>
              <a:t>(4)</a:t>
            </a:r>
            <a:r>
              <a:rPr lang="zh-CN" altLang="en-US" dirty="0"/>
              <a:t>只是</a:t>
            </a:r>
            <a:r>
              <a:rPr lang="en-US" altLang="zh-CN" dirty="0"/>
              <a:t> </a:t>
            </a:r>
            <a:r>
              <a:rPr lang="zh-CN" altLang="en-US" dirty="0"/>
              <a:t>忽略括号。</a:t>
            </a:r>
            <a:endParaRPr lang="en-US" altLang="zh-CN" dirty="0"/>
          </a:p>
          <a:p>
            <a:endParaRPr lang="en-US" altLang="zh-CN" dirty="0"/>
          </a:p>
          <a:p>
            <a:r>
              <a:rPr lang="zh-CN" altLang="en-US" dirty="0"/>
              <a:t>为简单起见，语义动作 </a:t>
            </a:r>
            <a:r>
              <a:rPr lang="en-US" altLang="zh-CN" dirty="0"/>
              <a:t>(5) </a:t>
            </a:r>
            <a:r>
              <a:rPr lang="zh-CN" altLang="en-US" dirty="0"/>
              <a:t>生成两条指令，一条有条件转移指令 </a:t>
            </a:r>
            <a:r>
              <a:rPr lang="en-US" altLang="zh-CN" dirty="0" err="1"/>
              <a:t>goto</a:t>
            </a:r>
            <a:r>
              <a:rPr lang="en-US" altLang="zh-CN" dirty="0"/>
              <a:t> </a:t>
            </a:r>
            <a:r>
              <a:rPr lang="zh-CN" altLang="en-US" dirty="0"/>
              <a:t>和一条无条件指令。两者的目标标号都没有填充。这些指令被放入新列表中，分别由 </a:t>
            </a:r>
            <a:r>
              <a:rPr lang="en-US" altLang="zh-CN" dirty="0"/>
              <a:t>B:truelist </a:t>
            </a:r>
            <a:r>
              <a:rPr lang="zh-CN" altLang="en-US" dirty="0"/>
              <a:t>和 </a:t>
            </a:r>
            <a:r>
              <a:rPr lang="en-US" altLang="zh-CN" dirty="0"/>
              <a:t>B:falselist </a:t>
            </a:r>
            <a:r>
              <a:rPr lang="zh-CN" altLang="en-US" dirty="0"/>
              <a:t>指向。</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99</a:t>
            </a:fld>
            <a:endParaRPr lang="zh-CN" altLang="en-US"/>
          </a:p>
        </p:txBody>
      </p:sp>
    </p:spTree>
    <p:extLst>
      <p:ext uri="{BB962C8B-B14F-4D97-AF65-F5344CB8AC3E}">
        <p14:creationId xmlns:p14="http://schemas.microsoft.com/office/powerpoint/2010/main" val="94256354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比较：</a:t>
            </a:r>
          </a:p>
          <a:p>
            <a:r>
              <a:rPr lang="zh-CN" altLang="en-US" dirty="0"/>
              <a:t>在 </a:t>
            </a:r>
            <a:r>
              <a:rPr lang="en-US" altLang="zh-CN" dirty="0"/>
              <a:t>(2) </a:t>
            </a:r>
            <a:r>
              <a:rPr lang="zh-CN" altLang="en-US" dirty="0"/>
              <a:t>中，指令坯被添加到相应的列表中。</a:t>
            </a:r>
          </a:p>
          <a:p>
            <a:r>
              <a:rPr lang="zh-CN" altLang="en-US" dirty="0"/>
              <a:t>跳转到 𝐵 的指令。</a:t>
            </a:r>
            <a:r>
              <a:rPr lang="en-US" altLang="zh-CN" dirty="0"/>
              <a:t>(1</a:t>
            </a:r>
            <a:r>
              <a:rPr lang="zh-CN" altLang="en-US" dirty="0"/>
              <a:t>）中的</a:t>
            </a:r>
            <a:r>
              <a:rPr lang="en-US" altLang="zh-CN" dirty="0"/>
              <a:t>B.</a:t>
            </a:r>
            <a:r>
              <a:rPr lang="zh-CN" altLang="en-US" dirty="0"/>
              <a:t>𝑡𝑟𝑢𝑒被添加到</a:t>
            </a:r>
            <a:r>
              <a:rPr lang="en-US" altLang="zh-CN" dirty="0"/>
              <a:t> (2)</a:t>
            </a:r>
            <a:r>
              <a:rPr lang="zh-CN" altLang="en-US" dirty="0"/>
              <a:t>中的𝐵</a:t>
            </a:r>
            <a:r>
              <a:rPr lang="en-US" altLang="zh-CN" dirty="0"/>
              <a:t>.</a:t>
            </a:r>
            <a:r>
              <a:rPr lang="zh-CN" altLang="en-US" dirty="0"/>
              <a:t>𝑡𝑟𝑢𝑒𝑙𝑖𝑠𝑡。</a:t>
            </a:r>
          </a:p>
          <a:p>
            <a:r>
              <a:rPr lang="zh-CN" altLang="en-US" dirty="0"/>
              <a:t>跳转到 𝐵 的指令。</a:t>
            </a:r>
            <a:r>
              <a:rPr lang="en-US" altLang="zh-CN" dirty="0"/>
              <a:t>(1)</a:t>
            </a:r>
            <a:r>
              <a:rPr lang="zh-CN" altLang="en-US" dirty="0"/>
              <a:t>中的𝐵</a:t>
            </a:r>
            <a:r>
              <a:rPr lang="en-US" altLang="zh-CN" dirty="0"/>
              <a:t>.</a:t>
            </a:r>
            <a:r>
              <a:rPr lang="zh-CN" altLang="en-US" dirty="0"/>
              <a:t>𝑓𝑎𝑙𝑠𝑒 被添加到 </a:t>
            </a:r>
            <a:r>
              <a:rPr lang="en-US" altLang="zh-CN" dirty="0"/>
              <a:t>(2) </a:t>
            </a:r>
            <a:r>
              <a:rPr lang="zh-CN" altLang="en-US" dirty="0"/>
              <a:t>中的𝐵</a:t>
            </a:r>
            <a:r>
              <a:rPr lang="en-US" altLang="zh-CN" dirty="0"/>
              <a:t>.</a:t>
            </a:r>
            <a:r>
              <a:rPr lang="zh-CN" altLang="en-US" dirty="0"/>
              <a:t>𝑓𝑎𝑙𝑠𝑒𝑙𝑖𝑡</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100</a:t>
            </a:fld>
            <a:endParaRPr lang="zh-CN" altLang="en-US"/>
          </a:p>
        </p:txBody>
      </p:sp>
    </p:spTree>
    <p:extLst>
      <p:ext uri="{BB962C8B-B14F-4D97-AF65-F5344CB8AC3E}">
        <p14:creationId xmlns:p14="http://schemas.microsoft.com/office/powerpoint/2010/main" val="31176280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t>
            </a:r>
            <a:r>
              <a:rPr lang="zh-CN" altLang="en-US" dirty="0"/>
              <a:t>中对 𝑡𝑟𝑢𝑒</a:t>
            </a:r>
            <a:r>
              <a:rPr lang="en-US" altLang="zh-CN" dirty="0"/>
              <a:t>/</a:t>
            </a:r>
            <a:r>
              <a:rPr lang="zh-CN" altLang="en-US" dirty="0"/>
              <a:t>𝑓𝑎𝑠𝑙𝑒 属性的赋值与 </a:t>
            </a:r>
            <a:r>
              <a:rPr lang="en-US" altLang="zh-CN" dirty="0"/>
              <a:t>(2) </a:t>
            </a:r>
            <a:r>
              <a:rPr lang="zh-CN" altLang="en-US" dirty="0"/>
              <a:t>中对 𝑡𝑟𝑢𝑒𝑙𝑠𝑖𝑠𝑡</a:t>
            </a:r>
            <a:r>
              <a:rPr lang="en-US" altLang="zh-CN" dirty="0"/>
              <a:t>/</a:t>
            </a:r>
            <a:r>
              <a:rPr lang="zh-CN" altLang="en-US" dirty="0"/>
              <a:t>𝑓𝑎𝑠𝑙𝑖𝑠𝑡 或 𝑚𝑒𝑟𝑔𝑒 属性的赋值相对应。</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101</a:t>
            </a:fld>
            <a:endParaRPr lang="zh-CN" altLang="en-US"/>
          </a:p>
        </p:txBody>
      </p:sp>
    </p:spTree>
    <p:extLst>
      <p:ext uri="{BB962C8B-B14F-4D97-AF65-F5344CB8AC3E}">
        <p14:creationId xmlns:p14="http://schemas.microsoft.com/office/powerpoint/2010/main" val="204341408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带注释的语法分析树如图 </a:t>
            </a:r>
            <a:r>
              <a:rPr lang="en-US" altLang="zh-CN" dirty="0"/>
              <a:t>6.44 </a:t>
            </a:r>
            <a:r>
              <a:rPr lang="zh-CN" altLang="en-US" dirty="0"/>
              <a:t>所示；为了便于阅读，属性 </a:t>
            </a:r>
            <a:r>
              <a:rPr lang="en-US" altLang="zh-CN" dirty="0" err="1"/>
              <a:t>truelist</a:t>
            </a:r>
            <a:r>
              <a:rPr lang="zh-CN" altLang="en-US" dirty="0"/>
              <a:t>、</a:t>
            </a:r>
            <a:r>
              <a:rPr lang="en-US" altLang="zh-CN" dirty="0" err="1"/>
              <a:t>falselist</a:t>
            </a:r>
            <a:r>
              <a:rPr lang="en-US" altLang="zh-CN" dirty="0"/>
              <a:t> </a:t>
            </a:r>
            <a:r>
              <a:rPr lang="zh-CN" altLang="en-US" dirty="0"/>
              <a:t>和 </a:t>
            </a:r>
            <a:r>
              <a:rPr lang="en-US" altLang="zh-CN" dirty="0" err="1"/>
              <a:t>instr</a:t>
            </a:r>
            <a:r>
              <a:rPr lang="en-US" altLang="zh-CN" dirty="0"/>
              <a:t> </a:t>
            </a:r>
            <a:r>
              <a:rPr lang="zh-CN" altLang="en-US" dirty="0"/>
              <a:t>由其首字母表示。这些动作是在树的深度优先遍历期间执行的。由于所有动作都出现在产生式右侧的末尾，因此它们可以在自下而上的语法分析过程中与归约一起执行。在根据产生式 </a:t>
            </a:r>
            <a:r>
              <a:rPr lang="en-US" altLang="zh-CN" dirty="0"/>
              <a:t>(5) </a:t>
            </a:r>
            <a:r>
              <a:rPr lang="zh-CN" altLang="en-US" dirty="0"/>
              <a:t>将 </a:t>
            </a:r>
            <a:r>
              <a:rPr lang="en-US" altLang="zh-CN" dirty="0"/>
              <a:t>x &lt; 100 </a:t>
            </a:r>
            <a:r>
              <a:rPr lang="zh-CN" altLang="en-US" dirty="0"/>
              <a:t>归约为 </a:t>
            </a:r>
            <a:r>
              <a:rPr lang="en-US" altLang="zh-CN" dirty="0"/>
              <a:t>B</a:t>
            </a:r>
            <a:r>
              <a:rPr lang="zh-CN" altLang="en-US" dirty="0"/>
              <a:t>时，语义动作相应地产生两条指令：</a:t>
            </a:r>
            <a:endParaRPr lang="en-US" altLang="zh-CN" dirty="0"/>
          </a:p>
          <a:p>
            <a:endParaRPr lang="en-US" altLang="zh-CN" dirty="0"/>
          </a:p>
          <a:p>
            <a:r>
              <a:rPr lang="zh-CN" altLang="en-US" dirty="0"/>
              <a:t>我们可任意从</a:t>
            </a:r>
            <a:r>
              <a:rPr lang="en-US" altLang="zh-CN" dirty="0"/>
              <a:t>100</a:t>
            </a:r>
            <a:r>
              <a:rPr lang="zh-CN" altLang="en-US" dirty="0"/>
              <a:t>开始为指令编号。</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102</a:t>
            </a:fld>
            <a:endParaRPr lang="zh-CN" altLang="en-US"/>
          </a:p>
        </p:txBody>
      </p:sp>
    </p:spTree>
    <p:extLst>
      <p:ext uri="{BB962C8B-B14F-4D97-AF65-F5344CB8AC3E}">
        <p14:creationId xmlns:p14="http://schemas.microsoft.com/office/powerpoint/2010/main" val="11675320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产生式（</a:t>
            </a:r>
            <a:r>
              <a:rPr lang="en-US" altLang="zh-CN" dirty="0"/>
              <a:t>8</a:t>
            </a:r>
            <a:r>
              <a:rPr lang="zh-CN" altLang="en-US" dirty="0"/>
              <a:t>）中的标记非终结符记录下一条指令的标号</a:t>
            </a:r>
            <a:r>
              <a:rPr lang="en-US" altLang="zh-CN" dirty="0"/>
              <a:t>102.</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103</a:t>
            </a:fld>
            <a:endParaRPr lang="zh-CN" altLang="en-US"/>
          </a:p>
        </p:txBody>
      </p:sp>
    </p:spTree>
    <p:extLst>
      <p:ext uri="{BB962C8B-B14F-4D97-AF65-F5344CB8AC3E}">
        <p14:creationId xmlns:p14="http://schemas.microsoft.com/office/powerpoint/2010/main" val="234651827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根据产生式 </a:t>
            </a:r>
            <a:r>
              <a:rPr lang="en-US" altLang="zh-CN" dirty="0"/>
              <a:t>(5) </a:t>
            </a:r>
            <a:r>
              <a:rPr lang="zh-CN" altLang="en-US" dirty="0"/>
              <a:t>将 </a:t>
            </a:r>
            <a:r>
              <a:rPr lang="en-US" altLang="zh-CN" dirty="0"/>
              <a:t>x &gt;200 </a:t>
            </a:r>
            <a:r>
              <a:rPr lang="zh-CN" altLang="en-US" dirty="0"/>
              <a:t>归约为 </a:t>
            </a:r>
            <a:r>
              <a:rPr lang="en-US" altLang="zh-CN" dirty="0"/>
              <a:t>B</a:t>
            </a:r>
            <a:r>
              <a:rPr lang="zh-CN" altLang="en-US" dirty="0"/>
              <a:t>时，产生两条指令：</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104</a:t>
            </a:fld>
            <a:endParaRPr lang="zh-CN" altLang="en-US"/>
          </a:p>
        </p:txBody>
      </p:sp>
    </p:spTree>
    <p:extLst>
      <p:ext uri="{BB962C8B-B14F-4D97-AF65-F5344CB8AC3E}">
        <p14:creationId xmlns:p14="http://schemas.microsoft.com/office/powerpoint/2010/main" val="224988095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子表达式</a:t>
            </a:r>
            <a:r>
              <a:rPr lang="en-US" altLang="zh-CN" dirty="0"/>
              <a:t>x&gt;200</a:t>
            </a:r>
            <a:r>
              <a:rPr lang="zh-CN" altLang="en-US" dirty="0"/>
              <a:t>对应于产生式（</a:t>
            </a:r>
            <a:r>
              <a:rPr lang="en-US" altLang="zh-CN" dirty="0"/>
              <a:t>2</a:t>
            </a:r>
            <a:r>
              <a:rPr lang="zh-CN" altLang="en-US" dirty="0"/>
              <a:t>）中的</a:t>
            </a:r>
            <a:r>
              <a:rPr lang="en-US" altLang="zh-CN" dirty="0"/>
              <a:t>B1</a:t>
            </a:r>
            <a:r>
              <a:rPr lang="zh-CN" altLang="en-US" dirty="0"/>
              <a:t>，标记非终结符</a:t>
            </a:r>
            <a:r>
              <a:rPr lang="en-US" altLang="zh-CN" dirty="0"/>
              <a:t>M</a:t>
            </a:r>
            <a:r>
              <a:rPr lang="zh-CN" altLang="en-US" dirty="0"/>
              <a:t>记录了下一条指令的标号</a:t>
            </a:r>
            <a:r>
              <a:rPr lang="en-US" altLang="zh-CN" dirty="0"/>
              <a:t>104</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105</a:t>
            </a:fld>
            <a:endParaRPr lang="zh-CN" altLang="en-US"/>
          </a:p>
        </p:txBody>
      </p:sp>
    </p:spTree>
    <p:extLst>
      <p:ext uri="{BB962C8B-B14F-4D97-AF65-F5344CB8AC3E}">
        <p14:creationId xmlns:p14="http://schemas.microsoft.com/office/powerpoint/2010/main" val="27611282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根据产生式 </a:t>
            </a:r>
            <a:r>
              <a:rPr lang="en-US" altLang="zh-CN" dirty="0"/>
              <a:t>(5) </a:t>
            </a:r>
            <a:r>
              <a:rPr lang="zh-CN" altLang="en-US" dirty="0"/>
              <a:t>将 </a:t>
            </a:r>
            <a:r>
              <a:rPr lang="en-US" altLang="zh-CN" dirty="0"/>
              <a:t>x =y </a:t>
            </a:r>
            <a:r>
              <a:rPr lang="zh-CN" altLang="en-US" dirty="0"/>
              <a:t>归约为 </a:t>
            </a:r>
            <a:r>
              <a:rPr lang="en-US" altLang="zh-CN" dirty="0"/>
              <a:t>B</a:t>
            </a:r>
            <a:r>
              <a:rPr lang="zh-CN" altLang="en-US" dirty="0"/>
              <a:t>时，产生两条指令：</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106</a:t>
            </a:fld>
            <a:endParaRPr lang="zh-CN" altLang="en-US"/>
          </a:p>
        </p:txBody>
      </p:sp>
    </p:spTree>
    <p:extLst>
      <p:ext uri="{BB962C8B-B14F-4D97-AF65-F5344CB8AC3E}">
        <p14:creationId xmlns:p14="http://schemas.microsoft.com/office/powerpoint/2010/main" val="2041268728"/>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我们现在使用产生式（</a:t>
            </a:r>
            <a:r>
              <a:rPr lang="en-US" altLang="zh-CN" dirty="0"/>
              <a:t>2</a:t>
            </a:r>
            <a:r>
              <a:rPr lang="zh-CN" altLang="en-US" dirty="0"/>
              <a:t>） </a:t>
            </a:r>
            <a:r>
              <a:rPr lang="en-US" altLang="zh-CN" dirty="0"/>
              <a:t>B </a:t>
            </a:r>
            <a:r>
              <a:rPr lang="zh-CN" altLang="en-US" dirty="0"/>
              <a:t>→ </a:t>
            </a:r>
            <a:r>
              <a:rPr lang="en-US" altLang="zh-CN" dirty="0"/>
              <a:t>B1 &amp;&amp; M B2 </a:t>
            </a:r>
            <a:r>
              <a:rPr lang="zh-CN" altLang="en-US" dirty="0"/>
              <a:t>进行归约。相应的语义动作调用 </a:t>
            </a:r>
            <a:r>
              <a:rPr lang="en-US" altLang="zh-CN" dirty="0"/>
              <a:t>backpatch (B1 :</a:t>
            </a:r>
            <a:r>
              <a:rPr lang="en-US" altLang="zh-CN" dirty="0" err="1"/>
              <a:t>truelist;M:instr</a:t>
            </a:r>
            <a:r>
              <a:rPr lang="en-US" altLang="zh-CN" dirty="0"/>
              <a:t>) </a:t>
            </a:r>
            <a:r>
              <a:rPr lang="zh-CN" altLang="en-US" dirty="0"/>
              <a:t>将 </a:t>
            </a:r>
            <a:r>
              <a:rPr lang="en-US" altLang="zh-CN" dirty="0"/>
              <a:t>B1 </a:t>
            </a:r>
            <a:r>
              <a:rPr lang="zh-CN" altLang="en-US"/>
              <a:t>的真</a:t>
            </a:r>
            <a:r>
              <a:rPr lang="zh-CN" altLang="en-US" dirty="0"/>
              <a:t>出口绑定到 </a:t>
            </a:r>
            <a:r>
              <a:rPr lang="en-US" altLang="zh-CN" dirty="0"/>
              <a:t>B2 </a:t>
            </a:r>
            <a:r>
              <a:rPr lang="zh-CN" altLang="en-US" dirty="0"/>
              <a:t>的第一条指令处。由于 </a:t>
            </a:r>
            <a:r>
              <a:rPr lang="en-US" altLang="zh-CN" dirty="0"/>
              <a:t>B1:truelist </a:t>
            </a:r>
            <a:r>
              <a:rPr lang="zh-CN" altLang="en-US" dirty="0"/>
              <a:t>为 </a:t>
            </a:r>
            <a:r>
              <a:rPr lang="en-US" altLang="zh-CN" dirty="0"/>
              <a:t>{102}</a:t>
            </a:r>
            <a:r>
              <a:rPr lang="zh-CN" altLang="en-US" dirty="0"/>
              <a:t>，</a:t>
            </a:r>
            <a:r>
              <a:rPr lang="en-US" altLang="zh-CN" dirty="0"/>
              <a:t>M:instr </a:t>
            </a:r>
            <a:r>
              <a:rPr lang="zh-CN" altLang="en-US" dirty="0"/>
              <a:t>为 </a:t>
            </a:r>
            <a:r>
              <a:rPr lang="en-US" altLang="zh-CN" dirty="0"/>
              <a:t>104</a:t>
            </a:r>
            <a:r>
              <a:rPr lang="zh-CN" altLang="en-US" dirty="0"/>
              <a:t>，因此此次对 </a:t>
            </a:r>
            <a:r>
              <a:rPr lang="en-US" altLang="zh-CN" dirty="0"/>
              <a:t>backpatch </a:t>
            </a:r>
            <a:r>
              <a:rPr lang="zh-CN" altLang="en-US" dirty="0"/>
              <a:t>的调用将序号</a:t>
            </a:r>
            <a:r>
              <a:rPr lang="en-US" altLang="zh-CN" dirty="0"/>
              <a:t>104</a:t>
            </a:r>
            <a:r>
              <a:rPr lang="zh-CN" altLang="en-US" dirty="0"/>
              <a:t>填写到</a:t>
            </a:r>
            <a:r>
              <a:rPr lang="en-US" altLang="zh-CN" dirty="0"/>
              <a:t>102</a:t>
            </a:r>
            <a:r>
              <a:rPr lang="zh-CN" altLang="en-US" dirty="0"/>
              <a:t>指令中。到目前为止生成的 </a:t>
            </a:r>
            <a:r>
              <a:rPr lang="en-US" altLang="zh-CN" dirty="0"/>
              <a:t>6 </a:t>
            </a:r>
            <a:r>
              <a:rPr lang="zh-CN" altLang="en-US" dirty="0"/>
              <a:t>个指令如图 </a:t>
            </a:r>
            <a:r>
              <a:rPr lang="en-US" altLang="zh-CN" dirty="0"/>
              <a:t>6.45(a) </a:t>
            </a:r>
            <a:r>
              <a:rPr lang="zh-CN" altLang="en-US" dirty="0"/>
              <a:t>所示。</a:t>
            </a:r>
            <a:endParaRPr lang="en-US" altLang="zh-CN" dirty="0"/>
          </a:p>
          <a:p>
            <a:endParaRPr lang="en-US" altLang="zh-CN" dirty="0"/>
          </a:p>
          <a:p>
            <a:r>
              <a:rPr lang="en-US" altLang="zh-CN" dirty="0"/>
              <a:t>1. </a:t>
            </a:r>
            <a:r>
              <a:rPr lang="en-US" altLang="zh-CN" dirty="0" err="1"/>
              <a:t>M.instr</a:t>
            </a:r>
            <a:r>
              <a:rPr lang="en-US" altLang="zh-CN" dirty="0"/>
              <a:t>=104---B1.t{102}</a:t>
            </a:r>
          </a:p>
          <a:p>
            <a:r>
              <a:rPr lang="en-US" altLang="zh-CN" dirty="0"/>
              <a:t>2. </a:t>
            </a:r>
            <a:r>
              <a:rPr lang="en-US" altLang="zh-CN" dirty="0" err="1"/>
              <a:t>B.truelist</a:t>
            </a:r>
            <a:r>
              <a:rPr lang="en-US" altLang="zh-CN" dirty="0"/>
              <a:t>=B2.truelist{104}</a:t>
            </a:r>
          </a:p>
          <a:p>
            <a:r>
              <a:rPr lang="en-US" altLang="zh-CN" dirty="0"/>
              <a:t>3. </a:t>
            </a:r>
            <a:r>
              <a:rPr lang="en-US" altLang="zh-CN" dirty="0" err="1"/>
              <a:t>B.falselist</a:t>
            </a:r>
            <a:r>
              <a:rPr lang="en-US" altLang="zh-CN" dirty="0"/>
              <a:t>=merge(B1.falselist{103},B2.falselist{105})</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107</a:t>
            </a:fld>
            <a:endParaRPr lang="zh-CN" altLang="en-US"/>
          </a:p>
        </p:txBody>
      </p:sp>
    </p:spTree>
    <p:extLst>
      <p:ext uri="{BB962C8B-B14F-4D97-AF65-F5344CB8AC3E}">
        <p14:creationId xmlns:p14="http://schemas.microsoft.com/office/powerpoint/2010/main" val="29917210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与 产生式</a:t>
            </a:r>
            <a:r>
              <a:rPr lang="en-US" altLang="zh-CN" dirty="0"/>
              <a:t>(1) B</a:t>
            </a:r>
            <a:r>
              <a:rPr lang="zh-CN" altLang="en-US" dirty="0"/>
              <a:t>→</a:t>
            </a:r>
            <a:r>
              <a:rPr lang="en-US" altLang="zh-CN" dirty="0"/>
              <a:t>B1 || MB2</a:t>
            </a:r>
            <a:r>
              <a:rPr lang="zh-CN" altLang="en-US" dirty="0"/>
              <a:t>相关联的语义动作调用 </a:t>
            </a:r>
            <a:r>
              <a:rPr lang="en-US" altLang="zh-CN" dirty="0"/>
              <a:t>backpatch ({101},102)</a:t>
            </a:r>
            <a:r>
              <a:rPr lang="zh-CN" altLang="en-US" dirty="0"/>
              <a:t>，得到如图 </a:t>
            </a:r>
            <a:r>
              <a:rPr lang="en-US" altLang="zh-CN" dirty="0"/>
              <a:t>6.45(b) </a:t>
            </a:r>
            <a:r>
              <a:rPr lang="zh-CN" altLang="en-US" dirty="0"/>
              <a:t>所示的指令。整个表达式为 </a:t>
            </a:r>
            <a:r>
              <a:rPr lang="en-US" altLang="zh-CN" dirty="0"/>
              <a:t>true</a:t>
            </a:r>
            <a:r>
              <a:rPr lang="zh-CN" altLang="en-US" dirty="0"/>
              <a:t>当且仅当控制流到达</a:t>
            </a:r>
            <a:r>
              <a:rPr lang="en-US" altLang="zh-CN" dirty="0"/>
              <a:t>100 </a:t>
            </a:r>
            <a:r>
              <a:rPr lang="zh-CN" altLang="en-US" dirty="0"/>
              <a:t>或 </a:t>
            </a:r>
            <a:r>
              <a:rPr lang="en-US" altLang="zh-CN" dirty="0"/>
              <a:t>104 </a:t>
            </a:r>
            <a:r>
              <a:rPr lang="zh-CN" altLang="en-US" dirty="0"/>
              <a:t>位置上的跳转指令；整个表达式为 </a:t>
            </a:r>
            <a:r>
              <a:rPr lang="en-US" altLang="zh-CN" dirty="0"/>
              <a:t>false</a:t>
            </a:r>
            <a:r>
              <a:rPr lang="zh-CN" altLang="en-US" dirty="0"/>
              <a:t>当且仅当控制流到达</a:t>
            </a:r>
            <a:r>
              <a:rPr lang="en-US" altLang="zh-CN" dirty="0"/>
              <a:t>103 </a:t>
            </a:r>
            <a:r>
              <a:rPr lang="zh-CN" altLang="en-US" dirty="0"/>
              <a:t>或 </a:t>
            </a:r>
            <a:r>
              <a:rPr lang="en-US" altLang="zh-CN" dirty="0"/>
              <a:t>105 </a:t>
            </a:r>
            <a:r>
              <a:rPr lang="zh-CN" altLang="en-US" dirty="0"/>
              <a:t>位置上的跳转指令。在稍后的编译中，当已知表达式为真或假时分别应该做什么的时候，这些指令的目标将会被填写完整</a:t>
            </a:r>
            <a:endParaRPr lang="en-US" altLang="zh-CN" dirty="0"/>
          </a:p>
          <a:p>
            <a:r>
              <a:rPr lang="en-US" altLang="zh-CN"/>
              <a:t>1.</a:t>
            </a:r>
            <a:r>
              <a:rPr lang="en-US" altLang="zh-CN" dirty="0"/>
              <a:t>backpatch(B1.falselist{101}, </a:t>
            </a:r>
            <a:r>
              <a:rPr lang="en-US" altLang="zh-CN" dirty="0" err="1"/>
              <a:t>M.instr</a:t>
            </a:r>
            <a:r>
              <a:rPr lang="en-US" altLang="zh-CN" dirty="0"/>
              <a:t>{102})</a:t>
            </a:r>
          </a:p>
          <a:p>
            <a:r>
              <a:rPr lang="en-US" altLang="zh-CN" dirty="0"/>
              <a:t>2.B.truelist=merge(B1.truelist{100},B2.truelist{104})={100,104}</a:t>
            </a:r>
          </a:p>
          <a:p>
            <a:r>
              <a:rPr lang="en-US" altLang="zh-CN" dirty="0"/>
              <a:t>3.B.falselis=B2.falselist{103,105}={103,105}</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108</a:t>
            </a:fld>
            <a:endParaRPr lang="zh-CN" altLang="en-US"/>
          </a:p>
        </p:txBody>
      </p:sp>
    </p:spTree>
    <p:extLst>
      <p:ext uri="{BB962C8B-B14F-4D97-AF65-F5344CB8AC3E}">
        <p14:creationId xmlns:p14="http://schemas.microsoft.com/office/powerpoint/2010/main" val="41743689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2" name="Title 1"/>
          <p:cNvSpPr>
            <a:spLocks noGrp="1"/>
          </p:cNvSpPr>
          <p:nvPr>
            <p:ph type="ctrTitle" hasCustomPrompt="1"/>
          </p:nvPr>
        </p:nvSpPr>
        <p:spPr bwMode="auto">
          <a:xfrm>
            <a:off x="1143000" y="1122363"/>
            <a:ext cx="6858000" cy="2387600"/>
          </a:xfrm>
        </p:spPr>
        <p:txBody>
          <a:bodyPr anchor="b"/>
          <a:lstStyle>
            <a:lvl1pPr algn="ctr">
              <a:defRPr sz="6000" b="0" i="0">
                <a:latin typeface="Ubuntu Mono derivative Powerlin"/>
                <a:cs typeface="Courier New" panose="02070309020205020404"/>
              </a:defRPr>
            </a:lvl1pPr>
          </a:lstStyle>
          <a:p>
            <a:pPr>
              <a:defRPr/>
            </a:pPr>
            <a:r>
              <a:rPr lang="en-US"/>
              <a:t>Chapter</a:t>
            </a:r>
            <a:r>
              <a:rPr lang="zh-CN"/>
              <a:t> </a:t>
            </a:r>
            <a:r>
              <a:rPr lang="en-US"/>
              <a:t>1: Introduction</a:t>
            </a:r>
          </a:p>
        </p:txBody>
      </p:sp>
      <p:sp>
        <p:nvSpPr>
          <p:cNvPr id="3" name="Subtitle 2"/>
          <p:cNvSpPr>
            <a:spLocks noGrp="1"/>
          </p:cNvSpPr>
          <p:nvPr>
            <p:ph type="subTitle" idx="1" hasCustomPrompt="1"/>
          </p:nvPr>
        </p:nvSpPr>
        <p:spPr bwMode="auto">
          <a:xfrm>
            <a:off x="1143000" y="3602038"/>
            <a:ext cx="6858000" cy="1655762"/>
          </a:xfrm>
        </p:spPr>
        <p:txBody>
          <a:bodyPr/>
          <a:lstStyle>
            <a:lvl1pPr marL="0" indent="0" algn="ctr">
              <a:buNone/>
              <a:defRPr sz="2400">
                <a:latin typeface="Ubuntu Mono derivative Powerli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endParaRPr lang="en-US"/>
          </a:p>
          <a:p>
            <a:pPr>
              <a:defRPr/>
            </a:pPr>
            <a:r>
              <a:rPr lang="en-US"/>
              <a:t>Yanhui Guo</a:t>
            </a:r>
          </a:p>
        </p:txBody>
      </p:sp>
      <p:sp>
        <p:nvSpPr>
          <p:cNvPr id="4" name="Date Placeholder 3"/>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5" name="Footer Placeholder 4"/>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6" name="Slide Number Placeholder 5"/>
          <p:cNvSpPr>
            <a:spLocks noGrp="1"/>
          </p:cNvSpPr>
          <p:nvPr>
            <p:ph type="sldNum" sz="quarter" idx="12"/>
          </p:nvPr>
        </p:nvSpPr>
        <p:spPr bwMode="auto"/>
        <p:txBody>
          <a:bodyPr/>
          <a:lstStyle/>
          <a:p>
            <a:pPr>
              <a:defRPr/>
            </a:pPr>
            <a:fld id="{2FBC720A-3716-234A-B2DF-CBC7E48049F5}" type="slidenum">
              <a:rPr/>
              <a:t>‹#›</a:t>
            </a:fld>
            <a:endParaRPr/>
          </a:p>
        </p:txBody>
      </p:sp>
      <p:pic>
        <p:nvPicPr>
          <p:cNvPr id="7" name="Picture 7" descr="A picture containing text, font, logo, symbol&#10;&#10;Description automatically generated"/>
          <p:cNvPicPr>
            <a:picLocks noChangeAspect="1"/>
          </p:cNvPicPr>
          <p:nvPr userDrawn="1"/>
        </p:nvPicPr>
        <p:blipFill>
          <a:blip r:embed="rId2"/>
          <a:stretch>
            <a:fillRect/>
          </a:stretch>
        </p:blipFill>
        <p:spPr bwMode="auto">
          <a:xfrm>
            <a:off x="0" y="0"/>
            <a:ext cx="3543024" cy="123511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hasCustomPrompt="1"/>
          </p:nvPr>
        </p:nvSpPr>
        <p:spPr bwMode="auto"/>
        <p:txBody>
          <a:bodyPr/>
          <a:lstStyle>
            <a:lvl1pPr>
              <a:defRPr>
                <a:latin typeface="Ubuntu Mono derivative Powerlin"/>
              </a:defRPr>
            </a:lvl1pPr>
          </a:lstStyle>
          <a:p>
            <a:pPr>
              <a:defRPr/>
            </a:pPr>
            <a:r>
              <a:rPr lang="en-US"/>
              <a:t>Outline</a:t>
            </a:r>
          </a:p>
        </p:txBody>
      </p:sp>
      <p:sp>
        <p:nvSpPr>
          <p:cNvPr id="3" name="Content Placeholder 2"/>
          <p:cNvSpPr>
            <a:spLocks noGrp="1"/>
          </p:cNvSpPr>
          <p:nvPr>
            <p:ph idx="1" hasCustomPrompt="1"/>
          </p:nvPr>
        </p:nvSpPr>
        <p:spPr bwMode="auto"/>
        <p:txBody>
          <a:bodyPr/>
          <a:lstStyle>
            <a:lvl1pPr>
              <a:lnSpc>
                <a:spcPct val="150000"/>
              </a:lnSpc>
              <a:defRPr>
                <a:latin typeface="Ubuntu Mono derivative Powerlin"/>
              </a:defRPr>
            </a:lvl1pPr>
          </a:lstStyle>
          <a:p>
            <a:pPr lvl="0">
              <a:defRPr/>
            </a:pPr>
            <a:r>
              <a:rPr lang="en-US"/>
              <a:t>One</a:t>
            </a:r>
          </a:p>
          <a:p>
            <a:pPr lvl="0">
              <a:defRPr/>
            </a:pPr>
            <a:r>
              <a:t>Two</a:t>
            </a:r>
          </a:p>
          <a:p>
            <a:pPr lvl="0">
              <a:defRPr/>
            </a:pPr>
            <a:r>
              <a:t>Three</a:t>
            </a:r>
          </a:p>
          <a:p>
            <a:pPr lvl="0">
              <a:defRPr/>
            </a:pPr>
            <a:r>
              <a:t>Four</a:t>
            </a:r>
          </a:p>
        </p:txBody>
      </p:sp>
      <p:sp>
        <p:nvSpPr>
          <p:cNvPr id="4" name="Date Placeholder 3"/>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5" name="Footer Placeholder 4"/>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6" name="Slide Number Placeholder 5"/>
          <p:cNvSpPr>
            <a:spLocks noGrp="1"/>
          </p:cNvSpPr>
          <p:nvPr>
            <p:ph type="sldNum" sz="quarter" idx="12"/>
          </p:nvPr>
        </p:nvSpPr>
        <p:spPr bwMode="auto"/>
        <p:txBody>
          <a:bodyPr/>
          <a:lstStyle/>
          <a:p>
            <a:pPr>
              <a:defRPr/>
            </a:pPr>
            <a:fld id="{2FBC720A-3716-234A-B2DF-CBC7E48049F5}"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2" name="Title 1"/>
          <p:cNvSpPr>
            <a:spLocks noGrp="1"/>
          </p:cNvSpPr>
          <p:nvPr>
            <p:ph type="title" hasCustomPrompt="1"/>
          </p:nvPr>
        </p:nvSpPr>
        <p:spPr bwMode="auto"/>
        <p:txBody>
          <a:bodyPr/>
          <a:lstStyle>
            <a:lvl1pPr>
              <a:defRPr>
                <a:latin typeface="Ubuntu Mono derivative Powerlin"/>
              </a:defRPr>
            </a:lvl1pPr>
          </a:lstStyle>
          <a:p>
            <a:pPr>
              <a:defRPr/>
            </a:pPr>
            <a:r>
              <a:rPr lang="en-US"/>
              <a:t>Title</a:t>
            </a:r>
          </a:p>
        </p:txBody>
      </p:sp>
      <p:sp>
        <p:nvSpPr>
          <p:cNvPr id="3"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4"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5" name="Slide Number Placeholder 4"/>
          <p:cNvSpPr>
            <a:spLocks noGrp="1"/>
          </p:cNvSpPr>
          <p:nvPr>
            <p:ph type="sldNum" sz="quarter" idx="12"/>
          </p:nvPr>
        </p:nvSpPr>
        <p:spPr bwMode="auto"/>
        <p:txBody>
          <a:bodyPr/>
          <a:lstStyle/>
          <a:p>
            <a:pPr>
              <a:defRPr/>
            </a:pPr>
            <a:fld id="{2FBC720A-3716-234A-B2DF-CBC7E48049F5}"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1_Title Only">
    <p:spTree>
      <p:nvGrpSpPr>
        <p:cNvPr id="1" name=""/>
        <p:cNvGrpSpPr/>
        <p:nvPr/>
      </p:nvGrpSpPr>
      <p:grpSpPr bwMode="auto">
        <a:xfrm>
          <a:off x="0" y="0"/>
          <a:ext cx="0" cy="0"/>
          <a:chOff x="0" y="0"/>
          <a:chExt cx="0" cy="0"/>
        </a:xfrm>
      </p:grpSpPr>
      <p:sp>
        <p:nvSpPr>
          <p:cNvPr id="3"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4"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5" name="Slide Number Placeholder 4"/>
          <p:cNvSpPr>
            <a:spLocks noGrp="1"/>
          </p:cNvSpPr>
          <p:nvPr>
            <p:ph type="sldNum" sz="quarter" idx="12"/>
          </p:nvPr>
        </p:nvSpPr>
        <p:spPr bwMode="auto"/>
        <p:txBody>
          <a:bodyPr/>
          <a:lstStyle/>
          <a:p>
            <a:pPr>
              <a:defRPr/>
            </a:pPr>
            <a:fld id="{2FBC720A-3716-234A-B2DF-CBC7E48049F5}"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628650" y="365126"/>
            <a:ext cx="7886700" cy="1325563"/>
          </a:xfrm>
          <a:prstGeom prst="rect">
            <a:avLst/>
          </a:prstGeom>
        </p:spPr>
        <p:txBody>
          <a:bodyPr vert="horz" lIns="91440" tIns="45720" rIns="91440" bIns="45720" rtlCol="0" anchor="ctr">
            <a:normAutofit/>
          </a:bodyPr>
          <a:lstStyle/>
          <a:p>
            <a:pPr>
              <a:defRPr/>
            </a:pPr>
            <a:r>
              <a:rPr lang="en-US"/>
              <a:t>Click to edit Master title style</a:t>
            </a:r>
          </a:p>
        </p:txBody>
      </p:sp>
      <p:sp>
        <p:nvSpPr>
          <p:cNvPr id="3" name="Text Placeholder 2"/>
          <p:cNvSpPr>
            <a:spLocks noGrp="1"/>
          </p:cNvSpPr>
          <p:nvPr>
            <p:ph type="body" idx="1"/>
          </p:nvPr>
        </p:nvSpPr>
        <p:spPr bwMode="auto">
          <a:xfrm>
            <a:off x="628650" y="1825625"/>
            <a:ext cx="7886700" cy="4351338"/>
          </a:xfrm>
          <a:prstGeom prst="rect">
            <a:avLst/>
          </a:prstGeom>
        </p:spPr>
        <p:txBody>
          <a:bodyPr vert="horz" lIns="91440" tIns="45720" rIns="91440" bIns="45720" rtlCol="0">
            <a:normAutofit/>
          </a:body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4" name="Date Placeholder 3"/>
          <p:cNvSpPr>
            <a:spLocks noGrp="1"/>
          </p:cNvSpPr>
          <p:nvPr>
            <p:ph type="dt" sz="half" idx="2"/>
          </p:nvPr>
        </p:nvSpPr>
        <p:spPr bwMode="auto">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Ubuntu Mono derivative Powerlin"/>
              </a:defRPr>
            </a:lvl1pPr>
          </a:lstStyle>
          <a:p>
            <a:pPr>
              <a:defRPr/>
            </a:pPr>
            <a:r>
              <a:rPr lang="en-US" altLang="zh-CN"/>
              <a:t>Fall 2024</a:t>
            </a:r>
            <a:endParaRPr lang="en-US"/>
          </a:p>
        </p:txBody>
      </p:sp>
      <p:sp>
        <p:nvSpPr>
          <p:cNvPr id="5" name="Footer Placeholder 4"/>
          <p:cNvSpPr>
            <a:spLocks noGrp="1"/>
          </p:cNvSpPr>
          <p:nvPr>
            <p:ph type="ftr" sz="quarter" idx="3"/>
          </p:nvPr>
        </p:nvSpPr>
        <p:spPr bwMode="auto">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Ubuntu Mono derivative Powerlin"/>
              </a:defRPr>
            </a:lvl1pPr>
          </a:lstStyle>
          <a:p>
            <a:pPr>
              <a:defRPr/>
            </a:pPr>
            <a:r>
              <a:t>BUPT Compilers</a:t>
            </a:r>
          </a:p>
        </p:txBody>
      </p:sp>
      <p:sp>
        <p:nvSpPr>
          <p:cNvPr id="6" name="Slide Number Placeholder 5"/>
          <p:cNvSpPr>
            <a:spLocks noGrp="1"/>
          </p:cNvSpPr>
          <p:nvPr>
            <p:ph type="sldNum" sz="quarter" idx="4"/>
          </p:nvPr>
        </p:nvSpPr>
        <p:spPr bwMode="auto">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2FBC720A-3716-234A-B2DF-CBC7E48049F5}"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p:txStyles>
    <p:titleStyle>
      <a:lvl1pPr algn="l" defTabSz="914400">
        <a:lnSpc>
          <a:spcPct val="90000"/>
        </a:lnSpc>
        <a:spcBef>
          <a:spcPts val="0"/>
        </a:spcBef>
        <a:buNone/>
        <a:defRPr sz="4400">
          <a:solidFill>
            <a:schemeClr val="tx1"/>
          </a:solidFill>
          <a:latin typeface="Ubuntu Mono derivative Powerlin"/>
          <a:ea typeface="+mj-ea"/>
          <a:cs typeface="+mj-cs"/>
        </a:defRPr>
      </a:lvl1pPr>
    </p:titleStyle>
    <p:bodyStyle>
      <a:lvl1pPr marL="228600" indent="-228600" algn="l" defTabSz="914400">
        <a:lnSpc>
          <a:spcPct val="150000"/>
        </a:lnSpc>
        <a:spcBef>
          <a:spcPts val="1000"/>
        </a:spcBef>
        <a:buFont typeface="Arial" panose="020B0604020202020204"/>
        <a:buChar char="•"/>
        <a:defRPr sz="2800">
          <a:solidFill>
            <a:schemeClr val="tx1"/>
          </a:solidFill>
          <a:latin typeface="Ubuntu Mono derivative Powerlin"/>
          <a:ea typeface="+mn-ea"/>
          <a:cs typeface="+mn-cs"/>
        </a:defRPr>
      </a:lvl1pPr>
      <a:lvl2pPr marL="685800" indent="-228600" algn="l" defTabSz="914400">
        <a:lnSpc>
          <a:spcPct val="150000"/>
        </a:lnSpc>
        <a:spcBef>
          <a:spcPts val="500"/>
        </a:spcBef>
        <a:buFont typeface="Arial" panose="020B0604020202020204"/>
        <a:buChar char="•"/>
        <a:defRPr sz="2400">
          <a:solidFill>
            <a:schemeClr val="tx1"/>
          </a:solidFill>
          <a:latin typeface="Ubuntu Mono derivative Powerlin"/>
          <a:ea typeface="+mn-ea"/>
          <a:cs typeface="+mn-cs"/>
        </a:defRPr>
      </a:lvl2pPr>
      <a:lvl3pPr marL="1143000" indent="-228600" algn="l" defTabSz="914400">
        <a:lnSpc>
          <a:spcPct val="150000"/>
        </a:lnSpc>
        <a:spcBef>
          <a:spcPts val="500"/>
        </a:spcBef>
        <a:buFont typeface="Arial" panose="020B0604020202020204"/>
        <a:buChar char="•"/>
        <a:defRPr sz="2000">
          <a:solidFill>
            <a:schemeClr val="tx1"/>
          </a:solidFill>
          <a:latin typeface="Ubuntu Mono derivative Powerlin"/>
          <a:ea typeface="+mn-ea"/>
          <a:cs typeface="+mn-cs"/>
        </a:defRPr>
      </a:lvl3pPr>
      <a:lvl4pPr marL="16002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4pPr>
      <a:lvl5pPr marL="2057400" indent="-228600" algn="l" defTabSz="914400">
        <a:lnSpc>
          <a:spcPct val="150000"/>
        </a:lnSpc>
        <a:spcBef>
          <a:spcPts val="500"/>
        </a:spcBef>
        <a:buFont typeface="Arial" panose="020B0604020202020204"/>
        <a:buChar char="•"/>
        <a:defRPr sz="1800">
          <a:solidFill>
            <a:schemeClr val="tx1"/>
          </a:solidFill>
          <a:latin typeface="Ubuntu Mono derivative Powerlin"/>
          <a:ea typeface="+mn-ea"/>
          <a:cs typeface="+mn-cs"/>
        </a:defRPr>
      </a:lvl5pPr>
      <a:lvl6pPr marL="25146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6pPr>
      <a:lvl7pPr marL="29718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7pPr>
      <a:lvl8pPr marL="34290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8pPr>
      <a:lvl9pPr marL="3886200" indent="-228600" algn="l" defTabSz="914400">
        <a:lnSpc>
          <a:spcPct val="90000"/>
        </a:lnSpc>
        <a:spcBef>
          <a:spcPts val="500"/>
        </a:spcBef>
        <a:buFont typeface="Arial" panose="020B0604020202020204"/>
        <a:buChar char="•"/>
        <a:defRPr sz="1800">
          <a:solidFill>
            <a:schemeClr val="tx1"/>
          </a:solidFill>
          <a:latin typeface="+mn-lt"/>
          <a:ea typeface="+mn-ea"/>
          <a:cs typeface="+mn-cs"/>
        </a:defRPr>
      </a:lvl9pPr>
    </p:bodyStyle>
    <p:otherStyle>
      <a:defPPr>
        <a:defRP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10.jpeg"/><Relationship Id="rId4" Type="http://schemas.openxmlformats.org/officeDocument/2006/relationships/image" Target="../media/image9.jpeg"/></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jpeg"/></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8.jpe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8.jpeg"/></Relationships>
</file>

<file path=ppt/slides/_rels/slide2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1.xml"/><Relationship Id="rId1" Type="http://schemas.openxmlformats.org/officeDocument/2006/relationships/slideLayout" Target="../slideLayouts/slideLayout4.xml"/><Relationship Id="rId5" Type="http://schemas.openxmlformats.org/officeDocument/2006/relationships/hyperlink" Target="http://web.eecs.utk.edu/~bvanderz/teaching/cs365Sp14/notes/types.html" TargetMode="External"/><Relationship Id="rId4" Type="http://schemas.openxmlformats.org/officeDocument/2006/relationships/image" Target="../media/image27.jpeg"/></Relationships>
</file>

<file path=ppt/slides/_rels/slide3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5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image" Target="../media/image42.jp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66.xml"/><Relationship Id="rId1" Type="http://schemas.openxmlformats.org/officeDocument/2006/relationships/slideLayout" Target="../slideLayouts/slideLayout4.xml"/><Relationship Id="rId6" Type="http://schemas.openxmlformats.org/officeDocument/2006/relationships/image" Target="../media/image46.png"/><Relationship Id="rId5" Type="http://schemas.openxmlformats.org/officeDocument/2006/relationships/image" Target="../media/image45.jpg"/><Relationship Id="rId4" Type="http://schemas.openxmlformats.org/officeDocument/2006/relationships/image" Target="../media/image42.jp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3.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7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4.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8.xml"/><Relationship Id="rId1" Type="http://schemas.openxmlformats.org/officeDocument/2006/relationships/slideLayout" Target="../slideLayouts/slideLayout4.xml"/><Relationship Id="rId5" Type="http://schemas.openxmlformats.org/officeDocument/2006/relationships/image" Target="../media/image53.png"/><Relationship Id="rId4" Type="http://schemas.openxmlformats.org/officeDocument/2006/relationships/image" Target="../media/image52.png"/></Relationships>
</file>

<file path=ppt/slides/_rels/slide82.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80.xml"/><Relationship Id="rId1" Type="http://schemas.openxmlformats.org/officeDocument/2006/relationships/slideLayout" Target="../slideLayouts/slideLayout4.xml"/><Relationship Id="rId4" Type="http://schemas.openxmlformats.org/officeDocument/2006/relationships/image" Target="../media/image55.png"/></Relationships>
</file>

<file path=ppt/slides/_rels/slide84.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81.xml"/><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85.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82.xml"/><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86.xml.rels><?xml version="1.0" encoding="UTF-8" standalone="yes"?>
<Relationships xmlns="http://schemas.openxmlformats.org/package/2006/relationships"><Relationship Id="rId3" Type="http://schemas.openxmlformats.org/officeDocument/2006/relationships/hyperlink" Target="file:///D:\work\&#25945;&#23398;\&#25480;&#35838;\&#32534;&#35793;&#21407;&#29702;&#19982;&#25216;&#26415;&#65288;&#26412;&#65289;\&#35838;&#31243;&#24314;&#35774;\&#32534;&#35793;&#21407;&#29702;&#35838;&#20214;\&#21704;&#24037;&#22823;\&#20998;&#31456;&#35838;&#20214;\&#26032;&#24314;&#25991;&#20214;&#22841;\&#31532;13&#35762;%20&#20013;&#38388;&#20195;&#30721;&#29983;&#25104;3.pptx#-1,5,PowerPoint &#28436;&#31034;&#25991;&#31295;" TargetMode="External"/><Relationship Id="rId2" Type="http://schemas.openxmlformats.org/officeDocument/2006/relationships/notesSlide" Target="../notesSlides/notesSlide83.xml"/><Relationship Id="rId1" Type="http://schemas.openxmlformats.org/officeDocument/2006/relationships/slideLayout" Target="../slideLayouts/slideLayout4.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87.xml.rels><?xml version="1.0" encoding="UTF-8" standalone="yes"?>
<Relationships xmlns="http://schemas.openxmlformats.org/package/2006/relationships"><Relationship Id="rId3" Type="http://schemas.openxmlformats.org/officeDocument/2006/relationships/hyperlink" Target="file:///D:\work\&#25945;&#23398;\&#25480;&#35838;\&#32534;&#35793;&#21407;&#29702;&#19982;&#25216;&#26415;&#65288;&#26412;&#65289;\&#35838;&#31243;&#24314;&#35774;\&#32534;&#35793;&#21407;&#29702;&#35838;&#20214;\&#21704;&#24037;&#22823;\&#20998;&#31456;&#35838;&#20214;\&#26032;&#24314;&#25991;&#20214;&#22841;\&#31532;13&#35762;%20&#20013;&#38388;&#20195;&#30721;&#29983;&#25104;3.pptx#-1,12,PowerPoint &#28436;&#31034;&#25991;&#31295;" TargetMode="External"/><Relationship Id="rId2" Type="http://schemas.openxmlformats.org/officeDocument/2006/relationships/notesSlide" Target="../notesSlides/notesSlide84.xml"/><Relationship Id="rId1" Type="http://schemas.openxmlformats.org/officeDocument/2006/relationships/slideLayout" Target="../slideLayouts/slideLayout4.xml"/><Relationship Id="rId4" Type="http://schemas.openxmlformats.org/officeDocument/2006/relationships/image" Target="../media/image58.jpg"/></Relationships>
</file>

<file path=ppt/slides/_rels/slide88.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85.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87.xml"/><Relationship Id="rId1" Type="http://schemas.openxmlformats.org/officeDocument/2006/relationships/slideLayout" Target="../slideLayouts/slideLayout4.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jpg"/></Relationships>
</file>

<file path=ppt/slides/_rels/slide9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8.xml"/><Relationship Id="rId1" Type="http://schemas.openxmlformats.org/officeDocument/2006/relationships/slideLayout" Target="../slideLayouts/slideLayout4.xml"/><Relationship Id="rId4" Type="http://schemas.openxmlformats.org/officeDocument/2006/relationships/image" Target="../media/image65.png"/></Relationships>
</file>

<file path=ppt/slides/_rels/slide9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89.xml"/><Relationship Id="rId1" Type="http://schemas.openxmlformats.org/officeDocument/2006/relationships/slideLayout" Target="../slideLayouts/slideLayout4.xml"/><Relationship Id="rId4" Type="http://schemas.openxmlformats.org/officeDocument/2006/relationships/image" Target="../media/image67.png"/></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2.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96.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notesSlide" Target="../notesSlides/notesSlide97.xml"/><Relationship Id="rId1" Type="http://schemas.openxmlformats.org/officeDocument/2006/relationships/slideLayout" Target="../slideLayouts/slideLayout4.xml"/><Relationship Id="rId4" Type="http://schemas.openxmlformats.org/officeDocument/2006/relationships/image" Target="../media/image70.jpg"/></Relationships>
</file>

<file path=ppt/slides/_rels/slide101.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notesSlide" Target="../notesSlides/notesSlide98.xml"/><Relationship Id="rId1" Type="http://schemas.openxmlformats.org/officeDocument/2006/relationships/slideLayout" Target="../slideLayouts/slideLayout4.xml"/><Relationship Id="rId4" Type="http://schemas.openxmlformats.org/officeDocument/2006/relationships/image" Target="../media/image72.jpg"/></Relationships>
</file>

<file path=ppt/slides/_rels/slide102.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99.xml"/><Relationship Id="rId1" Type="http://schemas.openxmlformats.org/officeDocument/2006/relationships/slideLayout" Target="../slideLayouts/slideLayout4.xml"/><Relationship Id="rId5" Type="http://schemas.openxmlformats.org/officeDocument/2006/relationships/image" Target="../media/image75.jpg"/><Relationship Id="rId4" Type="http://schemas.openxmlformats.org/officeDocument/2006/relationships/image" Target="../media/image74.jpg"/></Relationships>
</file>

<file path=ppt/slides/_rels/slide103.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100.xml"/><Relationship Id="rId1" Type="http://schemas.openxmlformats.org/officeDocument/2006/relationships/slideLayout" Target="../slideLayouts/slideLayout4.xml"/><Relationship Id="rId5" Type="http://schemas.openxmlformats.org/officeDocument/2006/relationships/image" Target="../media/image77.png"/><Relationship Id="rId4" Type="http://schemas.openxmlformats.org/officeDocument/2006/relationships/image" Target="../media/image76.jpg"/></Relationships>
</file>

<file path=ppt/slides/_rels/slide104.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101.xml"/><Relationship Id="rId1" Type="http://schemas.openxmlformats.org/officeDocument/2006/relationships/slideLayout" Target="../slideLayouts/slideLayout4.xml"/><Relationship Id="rId5" Type="http://schemas.openxmlformats.org/officeDocument/2006/relationships/image" Target="../media/image78.jpg"/><Relationship Id="rId4" Type="http://schemas.openxmlformats.org/officeDocument/2006/relationships/image" Target="../media/image74.jpg"/></Relationships>
</file>

<file path=ppt/slides/_rels/slide105.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102.xml"/><Relationship Id="rId1" Type="http://schemas.openxmlformats.org/officeDocument/2006/relationships/slideLayout" Target="../slideLayouts/slideLayout4.xml"/><Relationship Id="rId5" Type="http://schemas.openxmlformats.org/officeDocument/2006/relationships/image" Target="../media/image80.png"/><Relationship Id="rId4" Type="http://schemas.openxmlformats.org/officeDocument/2006/relationships/image" Target="../media/image79.jpg"/></Relationships>
</file>

<file path=ppt/slides/_rels/slide106.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103.xml"/><Relationship Id="rId1" Type="http://schemas.openxmlformats.org/officeDocument/2006/relationships/slideLayout" Target="../slideLayouts/slideLayout4.xml"/><Relationship Id="rId5" Type="http://schemas.openxmlformats.org/officeDocument/2006/relationships/image" Target="../media/image81.jpg"/><Relationship Id="rId4" Type="http://schemas.openxmlformats.org/officeDocument/2006/relationships/image" Target="../media/image74.jpg"/></Relationships>
</file>

<file path=ppt/slides/_rels/slide107.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73.jpg"/><Relationship Id="rId7" Type="http://schemas.openxmlformats.org/officeDocument/2006/relationships/image" Target="../media/image85.png"/><Relationship Id="rId2" Type="http://schemas.openxmlformats.org/officeDocument/2006/relationships/notesSlide" Target="../notesSlides/notesSlide104.xml"/><Relationship Id="rId1" Type="http://schemas.openxmlformats.org/officeDocument/2006/relationships/slideLayout" Target="../slideLayouts/slideLayout4.xml"/><Relationship Id="rId6" Type="http://schemas.openxmlformats.org/officeDocument/2006/relationships/image" Target="../media/image84.png"/><Relationship Id="rId5" Type="http://schemas.openxmlformats.org/officeDocument/2006/relationships/image" Target="../media/image83.jpg"/><Relationship Id="rId10" Type="http://schemas.openxmlformats.org/officeDocument/2006/relationships/image" Target="../media/image88.png"/><Relationship Id="rId4" Type="http://schemas.openxmlformats.org/officeDocument/2006/relationships/image" Target="../media/image82.jpg"/><Relationship Id="rId9" Type="http://schemas.openxmlformats.org/officeDocument/2006/relationships/image" Target="../media/image87.png"/></Relationships>
</file>

<file path=ppt/slides/_rels/slide108.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73.jpg"/><Relationship Id="rId7" Type="http://schemas.openxmlformats.org/officeDocument/2006/relationships/image" Target="../media/image85.png"/><Relationship Id="rId2" Type="http://schemas.openxmlformats.org/officeDocument/2006/relationships/notesSlide" Target="../notesSlides/notesSlide105.xml"/><Relationship Id="rId1" Type="http://schemas.openxmlformats.org/officeDocument/2006/relationships/slideLayout" Target="../slideLayouts/slideLayout4.xml"/><Relationship Id="rId6" Type="http://schemas.openxmlformats.org/officeDocument/2006/relationships/image" Target="../media/image88.png"/><Relationship Id="rId5" Type="http://schemas.openxmlformats.org/officeDocument/2006/relationships/image" Target="../media/image90.jpg"/><Relationship Id="rId4" Type="http://schemas.openxmlformats.org/officeDocument/2006/relationships/image" Target="../media/image89.jpg"/><Relationship Id="rId9" Type="http://schemas.openxmlformats.org/officeDocument/2006/relationships/image" Target="../media/image84.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Subtitle 2"/>
          <p:cNvSpPr>
            <a:spLocks noGrp="1"/>
          </p:cNvSpPr>
          <p:nvPr>
            <p:ph type="subTitle" idx="1"/>
          </p:nvPr>
        </p:nvSpPr>
        <p:spPr bwMode="auto"/>
        <p:txBody>
          <a:bodyPr/>
          <a:lstStyle/>
          <a:p>
            <a:pPr>
              <a:defRPr/>
            </a:pPr>
            <a:r>
              <a:rPr lang="en-US" altLang="zh-CN" sz="3200" dirty="0" err="1">
                <a:solidFill>
                  <a:srgbClr val="000000"/>
                </a:solidFill>
                <a:latin typeface="Palatino Linotype" panose="02040502050505030304"/>
                <a:ea typeface="Palatino Linotype" panose="02040502050505030304"/>
                <a:cs typeface="Palatino Linotype" panose="02040502050505030304"/>
              </a:rPr>
              <a:t>Yanhui</a:t>
            </a:r>
            <a:r>
              <a:rPr lang="en-US" altLang="zh-CN" sz="3200" dirty="0">
                <a:solidFill>
                  <a:srgbClr val="000000"/>
                </a:solidFill>
                <a:latin typeface="Palatino Linotype" panose="02040502050505030304"/>
                <a:ea typeface="Palatino Linotype" panose="02040502050505030304"/>
                <a:cs typeface="Palatino Linotype" panose="02040502050505030304"/>
              </a:rPr>
              <a:t> Guo</a:t>
            </a:r>
            <a:endParaRPr lang="zh-CN" altLang="en-US" sz="3200" dirty="0">
              <a:solidFill>
                <a:srgbClr val="000000"/>
              </a:solidFill>
              <a:latin typeface="Palatino Linotype" panose="02040502050505030304"/>
              <a:ea typeface="Palatino Linotype" panose="02040502050505030304"/>
              <a:cs typeface="Palatino Linotype" panose="02040502050505030304"/>
            </a:endParaRPr>
          </a:p>
          <a:p>
            <a:pPr>
              <a:defRPr/>
            </a:pPr>
            <a:r>
              <a:rPr lang="en-US" sz="3200" spc="4" dirty="0">
                <a:solidFill>
                  <a:srgbClr val="000000"/>
                </a:solidFill>
                <a:latin typeface="Palatino Linotype" panose="02040502050505030304"/>
                <a:ea typeface="Palatino Linotype" panose="02040502050505030304"/>
                <a:cs typeface="Palatino Linotype" panose="02040502050505030304"/>
              </a:rPr>
              <a:t> </a:t>
            </a:r>
            <a:r>
              <a:rPr lang="en-US" sz="3200" spc="-4" dirty="0">
                <a:solidFill>
                  <a:srgbClr val="000000"/>
                </a:solidFill>
                <a:latin typeface="Palatino Linotype" panose="02040502050505030304"/>
                <a:ea typeface="Palatino Linotype" panose="02040502050505030304"/>
                <a:cs typeface="Palatino Linotype" panose="02040502050505030304"/>
              </a:rPr>
              <a:t>yhguo@bupt.edu.cn</a:t>
            </a:r>
            <a:endParaRPr dirty="0"/>
          </a:p>
        </p:txBody>
      </p:sp>
      <p:sp>
        <p:nvSpPr>
          <p:cNvPr id="1688287224" name="Slide Number Placeholder 5"/>
          <p:cNvSpPr>
            <a:spLocks noGrp="1"/>
          </p:cNvSpPr>
          <p:nvPr>
            <p:ph type="sldNum" sz="quarter" idx="12"/>
          </p:nvPr>
        </p:nvSpPr>
        <p:spPr bwMode="auto"/>
        <p:txBody>
          <a:bodyPr/>
          <a:lstStyle/>
          <a:p>
            <a:pPr>
              <a:defRPr/>
            </a:pPr>
            <a:fld id="{FB84656F-ACB0-5C0A-4CED-E490BACA254F}" type="slidenum">
              <a:rPr/>
              <a:t>1</a:t>
            </a:fld>
            <a:endParaRPr/>
          </a:p>
        </p:txBody>
      </p:sp>
      <p:sp>
        <p:nvSpPr>
          <p:cNvPr id="1341913610" name="Footer Placeholder 4"/>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683812125" name="Date Placeholder 3"/>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lang="en-US"/>
          </a:p>
        </p:txBody>
      </p:sp>
      <p:sp>
        <p:nvSpPr>
          <p:cNvPr id="4" name="object 2"/>
          <p:cNvSpPr txBox="1"/>
          <p:nvPr/>
        </p:nvSpPr>
        <p:spPr>
          <a:xfrm>
            <a:off x="788923" y="1579943"/>
            <a:ext cx="7565390" cy="1672589"/>
          </a:xfrm>
          <a:prstGeom prst="rect">
            <a:avLst/>
          </a:prstGeom>
        </p:spPr>
        <p:txBody>
          <a:bodyPr vert="horz" wrap="square" lIns="0" tIns="1333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5080" indent="2449195">
              <a:lnSpc>
                <a:spcPct val="120000"/>
              </a:lnSpc>
              <a:spcBef>
                <a:spcPts val="105"/>
              </a:spcBef>
              <a:tabLst>
                <a:tab pos="4790440" algn="l"/>
              </a:tabLst>
            </a:pPr>
            <a:r>
              <a:rPr lang="en-US" sz="4500">
                <a:solidFill>
                  <a:srgbClr val="252525"/>
                </a:solidFill>
                <a:latin typeface="Times New Roman" panose="02020603050405020304"/>
                <a:cs typeface="Times New Roman" panose="02020603050405020304"/>
              </a:rPr>
              <a:t>Chapter</a:t>
            </a:r>
            <a:r>
              <a:rPr lang="en-US" sz="4500" spc="-145">
                <a:solidFill>
                  <a:srgbClr val="252525"/>
                </a:solidFill>
                <a:latin typeface="Times New Roman" panose="02020603050405020304"/>
                <a:cs typeface="Times New Roman" panose="02020603050405020304"/>
              </a:rPr>
              <a:t> </a:t>
            </a:r>
            <a:r>
              <a:rPr lang="en-US" sz="4500" spc="-25">
                <a:solidFill>
                  <a:srgbClr val="252525"/>
                </a:solidFill>
                <a:latin typeface="Times New Roman" panose="02020603050405020304"/>
                <a:cs typeface="Times New Roman" panose="02020603050405020304"/>
              </a:rPr>
              <a:t>5: </a:t>
            </a:r>
            <a:r>
              <a:rPr lang="en-US" sz="4500" spc="-30">
                <a:solidFill>
                  <a:srgbClr val="252525"/>
                </a:solidFill>
                <a:latin typeface="Times New Roman" panose="02020603050405020304"/>
                <a:cs typeface="Times New Roman" panose="02020603050405020304"/>
              </a:rPr>
              <a:t>Intermediate-</a:t>
            </a:r>
            <a:r>
              <a:rPr lang="en-US" sz="4500" spc="-20">
                <a:solidFill>
                  <a:srgbClr val="252525"/>
                </a:solidFill>
                <a:latin typeface="Times New Roman" panose="02020603050405020304"/>
                <a:cs typeface="Times New Roman" panose="02020603050405020304"/>
              </a:rPr>
              <a:t>Code</a:t>
            </a:r>
            <a:r>
              <a:rPr lang="en-US" sz="4500">
                <a:solidFill>
                  <a:srgbClr val="252525"/>
                </a:solidFill>
                <a:latin typeface="Times New Roman" panose="02020603050405020304"/>
                <a:cs typeface="Times New Roman" panose="02020603050405020304"/>
              </a:rPr>
              <a:t>	</a:t>
            </a:r>
            <a:r>
              <a:rPr lang="en-US" sz="4500" spc="-10">
                <a:solidFill>
                  <a:srgbClr val="252525"/>
                </a:solidFill>
                <a:latin typeface="Times New Roman" panose="02020603050405020304"/>
                <a:cs typeface="Times New Roman" panose="02020603050405020304"/>
              </a:rPr>
              <a:t>Generation</a:t>
            </a:r>
            <a:endParaRPr lang="en-US" sz="4500" dirty="0">
              <a:latin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a:t>
            </a:fld>
            <a:endParaRPr lang="en-US"/>
          </a:p>
        </p:txBody>
      </p:sp>
      <p:sp>
        <p:nvSpPr>
          <p:cNvPr id="9"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Outline</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10" name="object 3"/>
          <p:cNvSpPr txBox="1"/>
          <p:nvPr/>
        </p:nvSpPr>
        <p:spPr>
          <a:xfrm>
            <a:off x="707542" y="1658239"/>
            <a:ext cx="4104004" cy="4152419"/>
          </a:xfrm>
          <a:prstGeom prst="rect">
            <a:avLst/>
          </a:prstGeom>
        </p:spPr>
        <p:txBody>
          <a:bodyPr vert="horz" wrap="square" lIns="0" tIns="12700" rIns="0" bIns="0" rtlCol="0">
            <a:spAutoFit/>
          </a:bodyPr>
          <a:lstStyle>
            <a:lvl1pPr marL="0">
              <a:defRPr sz="2400" b="0" i="0">
                <a:solidFill>
                  <a:srgbClr val="A6A6A6"/>
                </a:solidFill>
                <a:latin typeface="Palatino Linotype" panose="02040502050505030304"/>
                <a:ea typeface="+mn-ea"/>
                <a:cs typeface="Palatino Linotype" panose="0204050205050503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935" marR="0" lvl="0" indent="-229235" defTabSz="914400" eaLnBrk="1" fontAlgn="auto" latinLnBrk="0" hangingPunct="1">
              <a:lnSpc>
                <a:spcPct val="100000"/>
              </a:lnSpc>
              <a:spcBef>
                <a:spcPts val="100"/>
              </a:spcBef>
              <a:spcAft>
                <a:spcPts val="0"/>
              </a:spcAft>
              <a:buClrTx/>
              <a:buSzTx/>
              <a:buFont typeface="Arial MT"/>
              <a:buChar char="•"/>
              <a:tabLst>
                <a:tab pos="241935" algn="l"/>
              </a:tabLst>
              <a:defRPr/>
            </a:pPr>
            <a:r>
              <a:rPr kumimoji="0" lang="en-US" sz="2400" b="0" i="0" u="none" strike="noStrike" kern="0" cap="none" spc="0" normalizeH="0" baseline="0" noProof="0" dirty="0">
                <a:ln>
                  <a:noFill/>
                </a:ln>
                <a:solidFill>
                  <a:srgbClr val="000000"/>
                </a:solidFill>
                <a:effectLst/>
                <a:uLnTx/>
                <a:uFillTx/>
                <a:latin typeface="Palatino Linotype" panose="02040502050505030304"/>
                <a:ea typeface="+mn-ea"/>
              </a:rPr>
              <a:t>Intermediate</a:t>
            </a:r>
            <a:r>
              <a:rPr kumimoji="0" lang="en-US" sz="2400" b="0" i="0" u="none" strike="noStrike" kern="0" cap="none" spc="-120" normalizeH="0" baseline="0" noProof="0" dirty="0">
                <a:ln>
                  <a:noFill/>
                </a:ln>
                <a:solidFill>
                  <a:srgbClr val="000000"/>
                </a:solidFill>
                <a:effectLst/>
                <a:uLnTx/>
                <a:uFillTx/>
                <a:latin typeface="Palatino Linotype" panose="02040502050505030304"/>
                <a:ea typeface="+mn-ea"/>
              </a:rPr>
              <a:t> </a:t>
            </a:r>
            <a:r>
              <a:rPr kumimoji="0" lang="en-US" sz="2400" b="0" i="0" u="none" strike="noStrike" kern="0" cap="none" spc="-10" normalizeH="0" baseline="0" noProof="0" dirty="0">
                <a:ln>
                  <a:noFill/>
                </a:ln>
                <a:solidFill>
                  <a:srgbClr val="000000"/>
                </a:solidFill>
                <a:effectLst/>
                <a:uLnTx/>
                <a:uFillTx/>
                <a:latin typeface="Palatino Linotype" panose="02040502050505030304"/>
                <a:ea typeface="+mn-ea"/>
              </a:rPr>
              <a:t>Representation</a:t>
            </a:r>
          </a:p>
          <a:p>
            <a:pPr marL="241935" marR="0" lvl="0" indent="-229235" defTabSz="914400" eaLnBrk="1" fontAlgn="auto" latinLnBrk="0" hangingPunct="1">
              <a:lnSpc>
                <a:spcPct val="100000"/>
              </a:lnSpc>
              <a:spcBef>
                <a:spcPts val="2975"/>
              </a:spcBef>
              <a:spcAft>
                <a:spcPts val="0"/>
              </a:spcAft>
              <a:buClrTx/>
              <a:buSzTx/>
              <a:buFont typeface="Arial MT"/>
              <a:buChar char="•"/>
              <a:tabLst>
                <a:tab pos="241935" algn="l"/>
              </a:tabLst>
              <a:defRPr/>
            </a:pPr>
            <a:r>
              <a:rPr kumimoji="0" lang="en-US" sz="2400" b="0" i="0" u="none" strike="noStrike" kern="0" cap="none" spc="-10" normalizeH="0" baseline="0" noProof="0" dirty="0">
                <a:ln>
                  <a:noFill/>
                </a:ln>
                <a:solidFill>
                  <a:schemeClr val="bg2">
                    <a:lumMod val="50000"/>
                  </a:schemeClr>
                </a:solidFill>
                <a:effectLst/>
                <a:uLnTx/>
                <a:uFillTx/>
                <a:latin typeface="Palatino Linotype" panose="02040502050505030304"/>
                <a:ea typeface="+mn-ea"/>
              </a:rPr>
              <a:t>Type</a:t>
            </a:r>
            <a:r>
              <a:rPr kumimoji="0" lang="en-US" sz="2400" b="0" i="0" u="none" strike="noStrike" kern="0" cap="none" spc="-85" normalizeH="0" baseline="0" noProof="0" dirty="0">
                <a:ln>
                  <a:noFill/>
                </a:ln>
                <a:solidFill>
                  <a:schemeClr val="bg2">
                    <a:lumMod val="50000"/>
                  </a:schemeClr>
                </a:solidFill>
                <a:effectLst/>
                <a:uLnTx/>
                <a:uFillTx/>
                <a:latin typeface="Palatino Linotype" panose="02040502050505030304"/>
                <a:ea typeface="+mn-ea"/>
              </a:rPr>
              <a:t> </a:t>
            </a:r>
            <a:r>
              <a:rPr kumimoji="0" lang="en-US" sz="2400" b="0" i="0" u="none" strike="noStrike" kern="0" cap="none" spc="0" normalizeH="0" baseline="0" noProof="0" dirty="0">
                <a:ln>
                  <a:noFill/>
                </a:ln>
                <a:solidFill>
                  <a:schemeClr val="bg2">
                    <a:lumMod val="50000"/>
                  </a:schemeClr>
                </a:solidFill>
                <a:effectLst/>
                <a:uLnTx/>
                <a:uFillTx/>
                <a:latin typeface="Palatino Linotype" panose="02040502050505030304"/>
                <a:ea typeface="+mn-ea"/>
              </a:rPr>
              <a:t>and</a:t>
            </a:r>
            <a:r>
              <a:rPr kumimoji="0" lang="en-US" sz="2400" b="0" i="0" u="none" strike="noStrike" kern="0" cap="none" spc="-85" normalizeH="0" baseline="0" noProof="0" dirty="0">
                <a:ln>
                  <a:noFill/>
                </a:ln>
                <a:solidFill>
                  <a:schemeClr val="bg2">
                    <a:lumMod val="50000"/>
                  </a:schemeClr>
                </a:solidFill>
                <a:effectLst/>
                <a:uLnTx/>
                <a:uFillTx/>
                <a:latin typeface="Palatino Linotype" panose="02040502050505030304"/>
                <a:ea typeface="+mn-ea"/>
              </a:rPr>
              <a:t> </a:t>
            </a:r>
            <a:r>
              <a:rPr kumimoji="0" lang="en-US" sz="2400" b="0" i="0" u="none" strike="noStrike" kern="0" cap="none" spc="-10" normalizeH="0" baseline="0" noProof="0" dirty="0">
                <a:ln>
                  <a:noFill/>
                </a:ln>
                <a:solidFill>
                  <a:schemeClr val="bg2">
                    <a:lumMod val="50000"/>
                  </a:schemeClr>
                </a:solidFill>
                <a:effectLst/>
                <a:uLnTx/>
                <a:uFillTx/>
                <a:latin typeface="Palatino Linotype" panose="02040502050505030304"/>
                <a:ea typeface="+mn-ea"/>
              </a:rPr>
              <a:t>Declarations</a:t>
            </a:r>
          </a:p>
          <a:p>
            <a:pPr marL="241935" marR="0" lvl="0" indent="-229235" defTabSz="914400" eaLnBrk="1" fontAlgn="auto" latinLnBrk="0" hangingPunct="1">
              <a:lnSpc>
                <a:spcPct val="100000"/>
              </a:lnSpc>
              <a:spcBef>
                <a:spcPts val="2975"/>
              </a:spcBef>
              <a:spcAft>
                <a:spcPts val="0"/>
              </a:spcAft>
              <a:buClrTx/>
              <a:buSzTx/>
              <a:buFont typeface="Arial MT"/>
              <a:buChar char="•"/>
              <a:tabLst>
                <a:tab pos="241935" algn="l"/>
              </a:tabLst>
              <a:defRPr/>
            </a:pPr>
            <a:r>
              <a:rPr kumimoji="0" lang="en-US" sz="2400" b="0" i="0" u="none" strike="noStrike" kern="0" cap="none" spc="-25" normalizeH="0" baseline="0" noProof="0" dirty="0">
                <a:ln>
                  <a:noFill/>
                </a:ln>
                <a:solidFill>
                  <a:schemeClr val="bg2">
                    <a:lumMod val="50000"/>
                  </a:schemeClr>
                </a:solidFill>
                <a:effectLst/>
                <a:uLnTx/>
                <a:uFillTx/>
                <a:latin typeface="Palatino Linotype" panose="02040502050505030304"/>
                <a:ea typeface="+mn-ea"/>
              </a:rPr>
              <a:t>Translation</a:t>
            </a:r>
            <a:r>
              <a:rPr kumimoji="0" lang="en-US" sz="2400" b="0" i="0" u="none" strike="noStrike" kern="0" cap="none" spc="-35" normalizeH="0" baseline="0" noProof="0" dirty="0">
                <a:ln>
                  <a:noFill/>
                </a:ln>
                <a:solidFill>
                  <a:schemeClr val="bg2">
                    <a:lumMod val="50000"/>
                  </a:schemeClr>
                </a:solidFill>
                <a:effectLst/>
                <a:uLnTx/>
                <a:uFillTx/>
                <a:latin typeface="Palatino Linotype" panose="02040502050505030304"/>
                <a:ea typeface="+mn-ea"/>
              </a:rPr>
              <a:t> </a:t>
            </a:r>
            <a:r>
              <a:rPr kumimoji="0" lang="en-US" sz="2400" b="0" i="0" u="none" strike="noStrike" kern="0" cap="none" spc="0" normalizeH="0" baseline="0" noProof="0" dirty="0">
                <a:ln>
                  <a:noFill/>
                </a:ln>
                <a:solidFill>
                  <a:schemeClr val="bg2">
                    <a:lumMod val="50000"/>
                  </a:schemeClr>
                </a:solidFill>
                <a:effectLst/>
                <a:uLnTx/>
                <a:uFillTx/>
                <a:latin typeface="Palatino Linotype" panose="02040502050505030304"/>
                <a:ea typeface="+mn-ea"/>
              </a:rPr>
              <a:t>of</a:t>
            </a:r>
            <a:r>
              <a:rPr kumimoji="0" lang="en-US" sz="2400" b="0" i="0" u="none" strike="noStrike" kern="0" cap="none" spc="-40" normalizeH="0" baseline="0" noProof="0" dirty="0">
                <a:ln>
                  <a:noFill/>
                </a:ln>
                <a:solidFill>
                  <a:schemeClr val="bg2">
                    <a:lumMod val="50000"/>
                  </a:schemeClr>
                </a:solidFill>
                <a:effectLst/>
                <a:uLnTx/>
                <a:uFillTx/>
                <a:latin typeface="Palatino Linotype" panose="02040502050505030304"/>
                <a:ea typeface="+mn-ea"/>
              </a:rPr>
              <a:t> </a:t>
            </a:r>
            <a:r>
              <a:rPr kumimoji="0" lang="en-US" sz="2400" b="0" i="0" u="none" strike="noStrike" kern="0" cap="none" spc="-10" normalizeH="0" baseline="0" noProof="0" dirty="0">
                <a:ln>
                  <a:noFill/>
                </a:ln>
                <a:solidFill>
                  <a:schemeClr val="bg2">
                    <a:lumMod val="50000"/>
                  </a:schemeClr>
                </a:solidFill>
                <a:effectLst/>
                <a:uLnTx/>
                <a:uFillTx/>
                <a:latin typeface="Palatino Linotype" panose="02040502050505030304"/>
                <a:ea typeface="+mn-ea"/>
              </a:rPr>
              <a:t>Expressions</a:t>
            </a:r>
          </a:p>
          <a:p>
            <a:pPr marL="241300" marR="0" lvl="0" indent="-228600" defTabSz="914400" eaLnBrk="1" fontAlgn="auto" latinLnBrk="0" hangingPunct="1">
              <a:lnSpc>
                <a:spcPct val="100000"/>
              </a:lnSpc>
              <a:spcBef>
                <a:spcPts val="2980"/>
              </a:spcBef>
              <a:spcAft>
                <a:spcPts val="0"/>
              </a:spcAft>
              <a:buClrTx/>
              <a:buSzTx/>
              <a:buFont typeface="Arial MT"/>
              <a:buChar char="•"/>
              <a:tabLst>
                <a:tab pos="241300" algn="l"/>
              </a:tabLst>
              <a:defRPr/>
            </a:pPr>
            <a:r>
              <a:rPr kumimoji="0" lang="en-US" sz="2400" b="0" i="0" u="none" strike="noStrike" kern="0" cap="none" spc="-20" normalizeH="0" baseline="0" noProof="0" dirty="0">
                <a:ln>
                  <a:noFill/>
                </a:ln>
                <a:solidFill>
                  <a:schemeClr val="bg2">
                    <a:lumMod val="50000"/>
                  </a:schemeClr>
                </a:solidFill>
                <a:effectLst/>
                <a:uLnTx/>
                <a:uFillTx/>
                <a:latin typeface="Palatino Linotype" panose="02040502050505030304"/>
                <a:ea typeface="+mn-ea"/>
              </a:rPr>
              <a:t>Type</a:t>
            </a:r>
            <a:r>
              <a:rPr kumimoji="0" lang="en-US" sz="2400" b="0" i="0" u="none" strike="noStrike" kern="0" cap="none" spc="-105" normalizeH="0" baseline="0" noProof="0" dirty="0">
                <a:ln>
                  <a:noFill/>
                </a:ln>
                <a:solidFill>
                  <a:schemeClr val="bg2">
                    <a:lumMod val="50000"/>
                  </a:schemeClr>
                </a:solidFill>
                <a:effectLst/>
                <a:uLnTx/>
                <a:uFillTx/>
                <a:latin typeface="Palatino Linotype" panose="02040502050505030304"/>
                <a:ea typeface="+mn-ea"/>
              </a:rPr>
              <a:t> </a:t>
            </a:r>
            <a:r>
              <a:rPr kumimoji="0" lang="en-US" sz="2400" b="0" i="0" u="none" strike="noStrike" kern="0" cap="none" spc="-10" normalizeH="0" baseline="0" noProof="0" dirty="0">
                <a:ln>
                  <a:noFill/>
                </a:ln>
                <a:solidFill>
                  <a:schemeClr val="bg2">
                    <a:lumMod val="50000"/>
                  </a:schemeClr>
                </a:solidFill>
                <a:effectLst/>
                <a:uLnTx/>
                <a:uFillTx/>
                <a:latin typeface="Palatino Linotype" panose="02040502050505030304"/>
                <a:ea typeface="+mn-ea"/>
              </a:rPr>
              <a:t>Checking</a:t>
            </a:r>
          </a:p>
          <a:p>
            <a:pPr marL="241935" marR="0" lvl="0" indent="-229235" defTabSz="914400" eaLnBrk="1" fontAlgn="auto" latinLnBrk="0" hangingPunct="1">
              <a:lnSpc>
                <a:spcPct val="100000"/>
              </a:lnSpc>
              <a:spcBef>
                <a:spcPts val="2975"/>
              </a:spcBef>
              <a:spcAft>
                <a:spcPts val="0"/>
              </a:spcAft>
              <a:buClrTx/>
              <a:buSzTx/>
              <a:buFont typeface="Arial MT"/>
              <a:buChar char="•"/>
              <a:tabLst>
                <a:tab pos="241935" algn="l"/>
              </a:tabLst>
              <a:defRPr/>
            </a:pPr>
            <a:r>
              <a:rPr kumimoji="0" lang="en-US" sz="2400" b="0" i="0" u="none" strike="noStrike" kern="0" cap="none" spc="0" normalizeH="0" baseline="0" noProof="0" dirty="0">
                <a:ln>
                  <a:noFill/>
                </a:ln>
                <a:solidFill>
                  <a:schemeClr val="bg2">
                    <a:lumMod val="50000"/>
                  </a:schemeClr>
                </a:solidFill>
                <a:effectLst/>
                <a:uLnTx/>
                <a:uFillTx/>
                <a:latin typeface="Palatino Linotype" panose="02040502050505030304"/>
                <a:ea typeface="+mn-ea"/>
              </a:rPr>
              <a:t>Control</a:t>
            </a:r>
            <a:r>
              <a:rPr kumimoji="0" lang="en-US" sz="2400" b="0" i="0" u="none" strike="noStrike" kern="0" cap="none" spc="-95" normalizeH="0" baseline="0" noProof="0" dirty="0">
                <a:ln>
                  <a:noFill/>
                </a:ln>
                <a:solidFill>
                  <a:schemeClr val="bg2">
                    <a:lumMod val="50000"/>
                  </a:schemeClr>
                </a:solidFill>
                <a:effectLst/>
                <a:uLnTx/>
                <a:uFillTx/>
                <a:latin typeface="Palatino Linotype" panose="02040502050505030304"/>
                <a:ea typeface="+mn-ea"/>
              </a:rPr>
              <a:t> </a:t>
            </a:r>
            <a:r>
              <a:rPr kumimoji="0" lang="en-US" sz="2400" b="0" i="0" u="none" strike="noStrike" kern="0" cap="none" spc="-20" normalizeH="0" baseline="0" noProof="0" dirty="0">
                <a:ln>
                  <a:noFill/>
                </a:ln>
                <a:solidFill>
                  <a:schemeClr val="bg2">
                    <a:lumMod val="50000"/>
                  </a:schemeClr>
                </a:solidFill>
                <a:effectLst/>
                <a:uLnTx/>
                <a:uFillTx/>
                <a:latin typeface="Palatino Linotype" panose="02040502050505030304"/>
                <a:ea typeface="+mn-ea"/>
              </a:rPr>
              <a:t>Flow</a:t>
            </a:r>
          </a:p>
          <a:p>
            <a:pPr marL="241935" marR="0" lvl="0" indent="-229235" defTabSz="914400" eaLnBrk="1" fontAlgn="auto" latinLnBrk="0" hangingPunct="1">
              <a:lnSpc>
                <a:spcPct val="100000"/>
              </a:lnSpc>
              <a:spcBef>
                <a:spcPts val="2980"/>
              </a:spcBef>
              <a:spcAft>
                <a:spcPts val="0"/>
              </a:spcAft>
              <a:buClrTx/>
              <a:buSzTx/>
              <a:buFont typeface="Arial MT"/>
              <a:buChar char="•"/>
              <a:tabLst>
                <a:tab pos="241935" algn="l"/>
              </a:tabLst>
              <a:defRPr/>
            </a:pPr>
            <a:r>
              <a:rPr kumimoji="0" lang="en-US" sz="2400" b="0" i="0" u="none" strike="noStrike" kern="0" cap="none" spc="-10" normalizeH="0" baseline="0" noProof="0" dirty="0">
                <a:ln>
                  <a:noFill/>
                </a:ln>
                <a:solidFill>
                  <a:schemeClr val="bg2">
                    <a:lumMod val="50000"/>
                  </a:schemeClr>
                </a:solidFill>
                <a:effectLst/>
                <a:uLnTx/>
                <a:uFillTx/>
                <a:latin typeface="Palatino Linotype" panose="02040502050505030304"/>
                <a:ea typeface="+mn-ea"/>
              </a:rPr>
              <a:t>Backpatching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a:t>
            </a:fld>
            <a:endParaRPr lang="en-US"/>
          </a:p>
        </p:txBody>
      </p:sp>
      <p:sp>
        <p:nvSpPr>
          <p:cNvPr id="8"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Compiler</a:t>
            </a:r>
            <a:r>
              <a:rPr kumimoji="0" lang="en-US" sz="4000" b="1" i="0" u="none" strike="noStrike" kern="0" cap="none" spc="-13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Front</a:t>
            </a:r>
            <a:r>
              <a:rPr kumimoji="0" lang="en-US" sz="4000" b="1" i="0" u="none" strike="noStrike" kern="0" cap="none" spc="-160"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25" normalizeH="0" baseline="0" noProof="0">
                <a:ln>
                  <a:noFill/>
                </a:ln>
                <a:solidFill>
                  <a:srgbClr val="000000"/>
                </a:solidFill>
                <a:effectLst/>
                <a:uLnTx/>
                <a:uFillTx/>
                <a:latin typeface="Palatino Linotype" panose="02040502050505030304"/>
                <a:ea typeface="+mj-ea"/>
              </a:rPr>
              <a:t>End</a:t>
            </a:r>
            <a:endParaRPr kumimoji="0" lang="en-US" sz="4000" b="1" i="0" u="none" strike="noStrike" kern="0" cap="none" spc="-25" normalizeH="0" baseline="0" noProof="0" dirty="0">
              <a:ln>
                <a:noFill/>
              </a:ln>
              <a:solidFill>
                <a:srgbClr val="000000"/>
              </a:solidFill>
              <a:effectLst/>
              <a:uLnTx/>
              <a:uFillTx/>
              <a:latin typeface="Palatino Linotype" panose="02040502050505030304"/>
              <a:ea typeface="+mj-ea"/>
            </a:endParaRPr>
          </a:p>
        </p:txBody>
      </p:sp>
      <p:sp>
        <p:nvSpPr>
          <p:cNvPr id="9" name="object 3"/>
          <p:cNvSpPr txBox="1"/>
          <p:nvPr/>
        </p:nvSpPr>
        <p:spPr>
          <a:xfrm>
            <a:off x="707542" y="1593316"/>
            <a:ext cx="7621270" cy="2159635"/>
          </a:xfrm>
          <a:prstGeom prst="rect">
            <a:avLst/>
          </a:prstGeom>
        </p:spPr>
        <p:txBody>
          <a:bodyPr vert="horz" wrap="square" lIns="0" tIns="12700" rIns="0" bIns="0" rtlCol="0">
            <a:spAutoFit/>
          </a:bodyPr>
          <a:lstStyle/>
          <a:p>
            <a:pPr marL="242570" marR="5080" indent="-230505">
              <a:lnSpc>
                <a:spcPct val="120000"/>
              </a:lnSpc>
              <a:spcBef>
                <a:spcPts val="100"/>
              </a:spcBef>
              <a:buFont typeface="Arial MT"/>
              <a:buChar char="•"/>
              <a:tabLst>
                <a:tab pos="242570" algn="l"/>
              </a:tabLst>
            </a:pPr>
            <a:r>
              <a:rPr sz="2000" dirty="0">
                <a:solidFill>
                  <a:sysClr val="windowText" lastClr="000000"/>
                </a:solidFill>
                <a:latin typeface="Palatino Linotype" panose="02040502050505030304"/>
                <a:cs typeface="Palatino Linotype" panose="02040502050505030304"/>
              </a:rPr>
              <a:t>The</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front</a:t>
            </a:r>
            <a:r>
              <a:rPr sz="2000" spc="-4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end</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of</a:t>
            </a:r>
            <a:r>
              <a:rPr sz="2000" spc="-3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compiler</a:t>
            </a:r>
            <a:r>
              <a:rPr sz="2000" spc="-10" dirty="0">
                <a:solidFill>
                  <a:sysClr val="windowText" lastClr="00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analyzes</a:t>
            </a:r>
            <a:r>
              <a:rPr sz="2000" spc="-4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a</a:t>
            </a:r>
            <a:r>
              <a:rPr sz="2000" spc="-10"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source</a:t>
            </a:r>
            <a:r>
              <a:rPr sz="2000" spc="-3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program</a:t>
            </a:r>
            <a:r>
              <a:rPr sz="2000" spc="-30" dirty="0">
                <a:solidFill>
                  <a:srgbClr val="FF0000"/>
                </a:solidFill>
                <a:latin typeface="Palatino Linotype" panose="02040502050505030304"/>
                <a:cs typeface="Palatino Linotype" panose="02040502050505030304"/>
              </a:rPr>
              <a:t> </a:t>
            </a:r>
            <a:r>
              <a:rPr sz="2000" spc="-25" dirty="0">
                <a:solidFill>
                  <a:sysClr val="windowText" lastClr="000000"/>
                </a:solidFill>
                <a:latin typeface="Palatino Linotype" panose="02040502050505030304"/>
                <a:cs typeface="Palatino Linotype" panose="02040502050505030304"/>
              </a:rPr>
              <a:t>and </a:t>
            </a:r>
            <a:r>
              <a:rPr sz="2000" dirty="0">
                <a:solidFill>
                  <a:srgbClr val="FF0000"/>
                </a:solidFill>
                <a:latin typeface="Palatino Linotype" panose="02040502050505030304"/>
                <a:cs typeface="Palatino Linotype" panose="02040502050505030304"/>
              </a:rPr>
              <a:t>creates</a:t>
            </a:r>
            <a:r>
              <a:rPr sz="2000" spc="-3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an</a:t>
            </a:r>
            <a:r>
              <a:rPr sz="2000" spc="-1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intermediate</a:t>
            </a:r>
            <a:r>
              <a:rPr sz="2000" spc="-2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representation</a:t>
            </a:r>
            <a:r>
              <a:rPr sz="2000" spc="-20"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(IR</a:t>
            </a:r>
            <a:r>
              <a:rPr sz="2000" spc="-15" dirty="0">
                <a:solidFill>
                  <a:srgbClr val="FF0000"/>
                </a:solidFill>
                <a:latin typeface="Palatino Linotype" panose="02040502050505030304"/>
                <a:cs typeface="Palatino Linotype" panose="02040502050505030304"/>
              </a:rPr>
              <a:t>, </a:t>
            </a:r>
            <a:r>
              <a:rPr sz="2000" dirty="0">
                <a:solidFill>
                  <a:srgbClr val="FF0000"/>
                </a:solidFill>
                <a:latin typeface="宋体" panose="02010600030101010101" pitchFamily="2" charset="-122"/>
                <a:cs typeface="宋体" panose="02010600030101010101" pitchFamily="2" charset="-122"/>
              </a:rPr>
              <a:t>中间表示</a:t>
            </a:r>
            <a:r>
              <a:rPr sz="2000" dirty="0">
                <a:solidFill>
                  <a:srgbClr val="FF0000"/>
                </a:solidFill>
                <a:latin typeface="Palatino Linotype" panose="02040502050505030304"/>
                <a:cs typeface="Palatino Linotype" panose="02040502050505030304"/>
              </a:rPr>
              <a:t>)</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from</a:t>
            </a:r>
            <a:r>
              <a:rPr sz="2000" spc="-35"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which </a:t>
            </a:r>
            <a:r>
              <a:rPr sz="2000" dirty="0">
                <a:solidFill>
                  <a:sysClr val="windowText" lastClr="000000"/>
                </a:solidFill>
                <a:latin typeface="Palatino Linotype" panose="02040502050505030304"/>
                <a:cs typeface="Palatino Linotype" panose="02040502050505030304"/>
              </a:rPr>
              <a:t>the</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back</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end</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generates</a:t>
            </a:r>
            <a:r>
              <a:rPr sz="2000" spc="-3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target</a:t>
            </a:r>
            <a:r>
              <a:rPr sz="2000" spc="-35" dirty="0">
                <a:solidFill>
                  <a:sysClr val="windowText" lastClr="000000"/>
                </a:solidFill>
                <a:latin typeface="Palatino Linotype" panose="02040502050505030304"/>
                <a:cs typeface="Palatino Linotype" panose="02040502050505030304"/>
              </a:rPr>
              <a:t> </a:t>
            </a:r>
            <a:r>
              <a:rPr sz="2000" spc="-20" dirty="0">
                <a:solidFill>
                  <a:sysClr val="windowText" lastClr="000000"/>
                </a:solidFill>
                <a:latin typeface="Palatino Linotype" panose="02040502050505030304"/>
                <a:cs typeface="Palatino Linotype" panose="02040502050505030304"/>
              </a:rPr>
              <a:t>code</a:t>
            </a:r>
            <a:endParaRPr sz="2000">
              <a:solidFill>
                <a:sysClr val="windowText" lastClr="000000"/>
              </a:solidFill>
              <a:latin typeface="Palatino Linotype" panose="02040502050505030304"/>
              <a:cs typeface="Palatino Linotype" panose="02040502050505030304"/>
            </a:endParaRPr>
          </a:p>
          <a:p>
            <a:pPr marL="242570" marR="372745" indent="-230505">
              <a:lnSpc>
                <a:spcPct val="120000"/>
              </a:lnSpc>
              <a:spcBef>
                <a:spcPts val="2400"/>
              </a:spcBef>
              <a:buFont typeface="Arial MT"/>
              <a:buChar char="•"/>
              <a:tabLst>
                <a:tab pos="242570" algn="l"/>
              </a:tabLst>
            </a:pPr>
            <a:r>
              <a:rPr sz="2000" spc="-25" dirty="0">
                <a:solidFill>
                  <a:sysClr val="windowText" lastClr="000000"/>
                </a:solidFill>
                <a:latin typeface="Palatino Linotype" panose="02040502050505030304"/>
                <a:cs typeface="Palatino Linotype" panose="02040502050505030304"/>
              </a:rPr>
              <a:t>Ideally, </a:t>
            </a:r>
            <a:r>
              <a:rPr sz="2000" dirty="0">
                <a:solidFill>
                  <a:sysClr val="windowText" lastClr="000000"/>
                </a:solidFill>
                <a:latin typeface="Palatino Linotype" panose="02040502050505030304"/>
                <a:cs typeface="Palatino Linotype" panose="02040502050505030304"/>
              </a:rPr>
              <a:t>details</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of</a:t>
            </a:r>
            <a:r>
              <a:rPr sz="2000" spc="-4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the</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source</a:t>
            </a:r>
            <a:r>
              <a:rPr sz="2000" spc="-4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language</a:t>
            </a:r>
            <a:r>
              <a:rPr sz="2000" spc="-5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are</a:t>
            </a:r>
            <a:r>
              <a:rPr sz="2000" spc="-3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confined</a:t>
            </a:r>
            <a:r>
              <a:rPr sz="2000" spc="-4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to</a:t>
            </a:r>
            <a:r>
              <a:rPr sz="2000" spc="-3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the</a:t>
            </a:r>
            <a:r>
              <a:rPr sz="2000" spc="-20"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front </a:t>
            </a:r>
            <a:r>
              <a:rPr sz="2000" dirty="0">
                <a:solidFill>
                  <a:sysClr val="windowText" lastClr="000000"/>
                </a:solidFill>
                <a:latin typeface="Palatino Linotype" panose="02040502050505030304"/>
                <a:cs typeface="Palatino Linotype" panose="02040502050505030304"/>
              </a:rPr>
              <a:t>end,</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and</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details</a:t>
            </a:r>
            <a:r>
              <a:rPr sz="2000" spc="-1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of</a:t>
            </a:r>
            <a:r>
              <a:rPr sz="2000" spc="-3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the</a:t>
            </a:r>
            <a:r>
              <a:rPr sz="2000" spc="-1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target</a:t>
            </a:r>
            <a:r>
              <a:rPr sz="2000" spc="-3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machine</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to</a:t>
            </a:r>
            <a:r>
              <a:rPr sz="2000" spc="-3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the</a:t>
            </a:r>
            <a:r>
              <a:rPr sz="2000" spc="-1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back</a:t>
            </a:r>
            <a:r>
              <a:rPr sz="2000" spc="-15" dirty="0">
                <a:solidFill>
                  <a:sysClr val="windowText" lastClr="000000"/>
                </a:solidFill>
                <a:latin typeface="Palatino Linotype" panose="02040502050505030304"/>
                <a:cs typeface="Palatino Linotype" panose="02040502050505030304"/>
              </a:rPr>
              <a:t> </a:t>
            </a:r>
            <a:r>
              <a:rPr sz="2000" spc="-25" dirty="0">
                <a:solidFill>
                  <a:sysClr val="windowText" lastClr="000000"/>
                </a:solidFill>
                <a:latin typeface="Palatino Linotype" panose="02040502050505030304"/>
                <a:cs typeface="Palatino Linotype" panose="02040502050505030304"/>
              </a:rPr>
              <a:t>end</a:t>
            </a:r>
            <a:endParaRPr sz="2000">
              <a:solidFill>
                <a:sysClr val="windowText" lastClr="000000"/>
              </a:solidFill>
              <a:latin typeface="Palatino Linotype" panose="02040502050505030304"/>
              <a:cs typeface="Palatino Linotype" panose="02040502050505030304"/>
            </a:endParaRPr>
          </a:p>
        </p:txBody>
      </p:sp>
      <p:pic>
        <p:nvPicPr>
          <p:cNvPr id="10" name="object 4"/>
          <p:cNvPicPr/>
          <p:nvPr/>
        </p:nvPicPr>
        <p:blipFill>
          <a:blip r:embed="rId3" cstate="print"/>
          <a:stretch>
            <a:fillRect/>
          </a:stretch>
        </p:blipFill>
        <p:spPr>
          <a:xfrm>
            <a:off x="973863" y="4377295"/>
            <a:ext cx="6854890" cy="1082929"/>
          </a:xfrm>
          <a:prstGeom prst="rect">
            <a:avLst/>
          </a:prstGeom>
        </p:spPr>
      </p:pic>
      <p:sp>
        <p:nvSpPr>
          <p:cNvPr id="2" name="矩形 1">
            <a:extLst>
              <a:ext uri="{FF2B5EF4-FFF2-40B4-BE49-F238E27FC236}">
                <a16:creationId xmlns:a16="http://schemas.microsoft.com/office/drawing/2014/main" id="{52BE5339-4CEA-4356-8861-67FF312EC8F2}"/>
              </a:ext>
            </a:extLst>
          </p:cNvPr>
          <p:cNvSpPr/>
          <p:nvPr/>
        </p:nvSpPr>
        <p:spPr>
          <a:xfrm>
            <a:off x="1881985" y="5725739"/>
            <a:ext cx="5604665" cy="369332"/>
          </a:xfrm>
          <a:prstGeom prst="rect">
            <a:avLst/>
          </a:prstGeom>
        </p:spPr>
        <p:txBody>
          <a:bodyPr wrap="square">
            <a:spAutoFit/>
          </a:bodyPr>
          <a:lstStyle/>
          <a:p>
            <a:r>
              <a:rPr lang="en-US" altLang="zh-CN" dirty="0"/>
              <a:t>Figure 6.1: Logical structure of a compiler front end</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a:t>
            </a:fld>
            <a:endParaRPr lang="en-US"/>
          </a:p>
        </p:txBody>
      </p:sp>
      <p:sp>
        <p:nvSpPr>
          <p:cNvPr id="23"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The</a:t>
            </a:r>
            <a:r>
              <a:rPr kumimoji="0" lang="en-US" sz="4000" b="1" i="0" u="none" strike="noStrike" kern="0" cap="none" spc="-60"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Benefits</a:t>
            </a:r>
            <a:r>
              <a:rPr kumimoji="0" lang="en-US" sz="4000" b="1" i="0" u="none" strike="noStrike" kern="0" cap="none" spc="-40"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of</a:t>
            </a:r>
            <a:r>
              <a:rPr kumimoji="0" lang="en-US" sz="4000" b="1" i="0" u="none" strike="noStrike" kern="0" cap="none" spc="-60"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A</a:t>
            </a:r>
            <a:r>
              <a:rPr kumimoji="0" lang="en-US" sz="4000" b="1" i="0" u="none" strike="noStrike" kern="0" cap="none" spc="-5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Good</a:t>
            </a:r>
            <a:r>
              <a:rPr kumimoji="0" lang="en-US" sz="4000" b="1" i="0" u="none" strike="noStrike" kern="0" cap="none" spc="-4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25" normalizeH="0" baseline="0" noProof="0">
                <a:ln>
                  <a:noFill/>
                </a:ln>
                <a:solidFill>
                  <a:srgbClr val="000000"/>
                </a:solidFill>
                <a:effectLst/>
                <a:uLnTx/>
                <a:uFillTx/>
                <a:latin typeface="Palatino Linotype" panose="02040502050505030304"/>
                <a:ea typeface="+mj-ea"/>
              </a:rPr>
              <a:t>IR</a:t>
            </a:r>
            <a:endParaRPr kumimoji="0" lang="en-US" sz="4000" b="1" i="0" u="none" strike="noStrike" kern="0" cap="none" spc="-25" normalizeH="0" baseline="0" noProof="0" dirty="0">
              <a:ln>
                <a:noFill/>
              </a:ln>
              <a:solidFill>
                <a:srgbClr val="000000"/>
              </a:solidFill>
              <a:effectLst/>
              <a:uLnTx/>
              <a:uFillTx/>
              <a:latin typeface="Palatino Linotype" panose="02040502050505030304"/>
              <a:ea typeface="+mj-ea"/>
            </a:endParaRPr>
          </a:p>
        </p:txBody>
      </p:sp>
      <p:sp>
        <p:nvSpPr>
          <p:cNvPr id="24" name="object 3"/>
          <p:cNvSpPr txBox="1"/>
          <p:nvPr/>
        </p:nvSpPr>
        <p:spPr>
          <a:xfrm>
            <a:off x="822147" y="2062733"/>
            <a:ext cx="1583690" cy="269240"/>
          </a:xfrm>
          <a:prstGeom prst="rect">
            <a:avLst/>
          </a:prstGeom>
        </p:spPr>
        <p:txBody>
          <a:bodyPr vert="horz" wrap="square" lIns="0" tIns="12065" rIns="0" bIns="0" rtlCol="0">
            <a:spAutoFit/>
          </a:bodyPr>
          <a:lstStyle/>
          <a:p>
            <a:pPr marL="12700">
              <a:spcBef>
                <a:spcPts val="95"/>
              </a:spcBef>
            </a:pPr>
            <a:r>
              <a:rPr sz="1600" dirty="0">
                <a:solidFill>
                  <a:sysClr val="windowText" lastClr="000000"/>
                </a:solidFill>
                <a:latin typeface="Consolas" panose="020B0609020204030204"/>
                <a:cs typeface="Consolas" panose="020B0609020204030204"/>
              </a:rPr>
              <a:t>Code</a:t>
            </a:r>
            <a:r>
              <a:rPr sz="1600" spc="-25"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in</a:t>
            </a:r>
            <a:r>
              <a:rPr sz="1600" spc="-15"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lang</a:t>
            </a:r>
            <a:r>
              <a:rPr sz="1600" spc="-20" dirty="0">
                <a:solidFill>
                  <a:sysClr val="windowText" lastClr="000000"/>
                </a:solidFill>
                <a:latin typeface="Consolas" panose="020B0609020204030204"/>
                <a:cs typeface="Consolas" panose="020B0609020204030204"/>
              </a:rPr>
              <a:t> </a:t>
            </a:r>
            <a:r>
              <a:rPr sz="1600" spc="-50" dirty="0">
                <a:solidFill>
                  <a:sysClr val="windowText" lastClr="000000"/>
                </a:solidFill>
                <a:latin typeface="Consolas" panose="020B0609020204030204"/>
                <a:cs typeface="Consolas" panose="020B0609020204030204"/>
              </a:rPr>
              <a:t>1</a:t>
            </a:r>
            <a:endParaRPr sz="1600">
              <a:solidFill>
                <a:sysClr val="windowText" lastClr="000000"/>
              </a:solidFill>
              <a:latin typeface="Consolas" panose="020B0609020204030204"/>
              <a:cs typeface="Consolas" panose="020B0609020204030204"/>
            </a:endParaRPr>
          </a:p>
        </p:txBody>
      </p:sp>
      <p:sp>
        <p:nvSpPr>
          <p:cNvPr id="25" name="object 4"/>
          <p:cNvSpPr txBox="1"/>
          <p:nvPr/>
        </p:nvSpPr>
        <p:spPr>
          <a:xfrm>
            <a:off x="4304791" y="2062733"/>
            <a:ext cx="1804670" cy="269240"/>
          </a:xfrm>
          <a:prstGeom prst="rect">
            <a:avLst/>
          </a:prstGeom>
        </p:spPr>
        <p:txBody>
          <a:bodyPr vert="horz" wrap="square" lIns="0" tIns="12065" rIns="0" bIns="0" rtlCol="0">
            <a:spAutoFit/>
          </a:bodyPr>
          <a:lstStyle/>
          <a:p>
            <a:pPr marL="12700">
              <a:spcBef>
                <a:spcPts val="95"/>
              </a:spcBef>
            </a:pPr>
            <a:r>
              <a:rPr sz="1600" dirty="0">
                <a:solidFill>
                  <a:sysClr val="windowText" lastClr="000000"/>
                </a:solidFill>
                <a:latin typeface="Consolas" panose="020B0609020204030204"/>
                <a:cs typeface="Consolas" panose="020B0609020204030204"/>
              </a:rPr>
              <a:t>Target</a:t>
            </a:r>
            <a:r>
              <a:rPr sz="1600" spc="-30"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machine</a:t>
            </a:r>
            <a:r>
              <a:rPr sz="1600" spc="-35" dirty="0">
                <a:solidFill>
                  <a:sysClr val="windowText" lastClr="000000"/>
                </a:solidFill>
                <a:latin typeface="Consolas" panose="020B0609020204030204"/>
                <a:cs typeface="Consolas" panose="020B0609020204030204"/>
              </a:rPr>
              <a:t> </a:t>
            </a:r>
            <a:r>
              <a:rPr sz="1600" spc="-50" dirty="0">
                <a:solidFill>
                  <a:sysClr val="windowText" lastClr="000000"/>
                </a:solidFill>
                <a:latin typeface="Consolas" panose="020B0609020204030204"/>
                <a:cs typeface="Consolas" panose="020B0609020204030204"/>
              </a:rPr>
              <a:t>1</a:t>
            </a:r>
            <a:endParaRPr sz="1600">
              <a:solidFill>
                <a:sysClr val="windowText" lastClr="000000"/>
              </a:solidFill>
              <a:latin typeface="Consolas" panose="020B0609020204030204"/>
              <a:cs typeface="Consolas" panose="020B0609020204030204"/>
            </a:endParaRPr>
          </a:p>
        </p:txBody>
      </p:sp>
      <p:sp>
        <p:nvSpPr>
          <p:cNvPr id="26" name="object 5"/>
          <p:cNvSpPr txBox="1"/>
          <p:nvPr/>
        </p:nvSpPr>
        <p:spPr>
          <a:xfrm>
            <a:off x="822147" y="2524505"/>
            <a:ext cx="1583690" cy="876300"/>
          </a:xfrm>
          <a:prstGeom prst="rect">
            <a:avLst/>
          </a:prstGeom>
        </p:spPr>
        <p:txBody>
          <a:bodyPr vert="horz" wrap="square" lIns="0" tIns="12065" rIns="0" bIns="0" rtlCol="0">
            <a:spAutoFit/>
          </a:bodyPr>
          <a:lstStyle/>
          <a:p>
            <a:pPr algn="ctr">
              <a:lnSpc>
                <a:spcPts val="1900"/>
              </a:lnSpc>
              <a:spcBef>
                <a:spcPts val="95"/>
              </a:spcBef>
            </a:pPr>
            <a:r>
              <a:rPr sz="1600" dirty="0">
                <a:solidFill>
                  <a:sysClr val="windowText" lastClr="000000"/>
                </a:solidFill>
                <a:latin typeface="Consolas" panose="020B0609020204030204"/>
                <a:cs typeface="Consolas" panose="020B0609020204030204"/>
              </a:rPr>
              <a:t>Code</a:t>
            </a:r>
            <a:r>
              <a:rPr sz="1600" spc="-25"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in</a:t>
            </a:r>
            <a:r>
              <a:rPr sz="1600" spc="-15"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lang</a:t>
            </a:r>
            <a:r>
              <a:rPr sz="1600" spc="-20" dirty="0">
                <a:solidFill>
                  <a:sysClr val="windowText" lastClr="000000"/>
                </a:solidFill>
                <a:latin typeface="Consolas" panose="020B0609020204030204"/>
                <a:cs typeface="Consolas" panose="020B0609020204030204"/>
              </a:rPr>
              <a:t> </a:t>
            </a:r>
            <a:r>
              <a:rPr sz="1600" spc="-50" dirty="0">
                <a:solidFill>
                  <a:sysClr val="windowText" lastClr="000000"/>
                </a:solidFill>
                <a:latin typeface="Consolas" panose="020B0609020204030204"/>
                <a:cs typeface="Consolas" panose="020B0609020204030204"/>
              </a:rPr>
              <a:t>2</a:t>
            </a:r>
            <a:endParaRPr sz="1600">
              <a:solidFill>
                <a:sysClr val="windowText" lastClr="000000"/>
              </a:solidFill>
              <a:latin typeface="Consolas" panose="020B0609020204030204"/>
              <a:cs typeface="Consolas" panose="020B0609020204030204"/>
            </a:endParaRPr>
          </a:p>
          <a:p>
            <a:pPr marR="167640" algn="ctr">
              <a:lnSpc>
                <a:spcPts val="1900"/>
              </a:lnSpc>
            </a:pPr>
            <a:r>
              <a:rPr sz="1600" spc="-50" dirty="0">
                <a:solidFill>
                  <a:sysClr val="windowText" lastClr="000000"/>
                </a:solidFill>
                <a:latin typeface="Consolas" panose="020B0609020204030204"/>
                <a:cs typeface="Consolas" panose="020B0609020204030204"/>
              </a:rPr>
              <a:t>…</a:t>
            </a:r>
            <a:endParaRPr sz="1600">
              <a:solidFill>
                <a:sysClr val="windowText" lastClr="000000"/>
              </a:solidFill>
              <a:latin typeface="Consolas" panose="020B0609020204030204"/>
              <a:cs typeface="Consolas" panose="020B0609020204030204"/>
            </a:endParaRPr>
          </a:p>
          <a:p>
            <a:pPr algn="ctr">
              <a:spcBef>
                <a:spcPts val="985"/>
              </a:spcBef>
            </a:pPr>
            <a:r>
              <a:rPr sz="1600" dirty="0">
                <a:solidFill>
                  <a:sysClr val="windowText" lastClr="000000"/>
                </a:solidFill>
                <a:latin typeface="Consolas" panose="020B0609020204030204"/>
                <a:cs typeface="Consolas" panose="020B0609020204030204"/>
              </a:rPr>
              <a:t>Code</a:t>
            </a:r>
            <a:r>
              <a:rPr sz="1600" spc="-25"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in</a:t>
            </a:r>
            <a:r>
              <a:rPr sz="1600" spc="-15"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lang</a:t>
            </a:r>
            <a:r>
              <a:rPr sz="1600" spc="-20" dirty="0">
                <a:solidFill>
                  <a:sysClr val="windowText" lastClr="000000"/>
                </a:solidFill>
                <a:latin typeface="Consolas" panose="020B0609020204030204"/>
                <a:cs typeface="Consolas" panose="020B0609020204030204"/>
              </a:rPr>
              <a:t> </a:t>
            </a:r>
            <a:r>
              <a:rPr sz="1600" spc="-50" dirty="0">
                <a:solidFill>
                  <a:sysClr val="windowText" lastClr="000000"/>
                </a:solidFill>
                <a:latin typeface="Consolas" panose="020B0609020204030204"/>
                <a:cs typeface="Consolas" panose="020B0609020204030204"/>
              </a:rPr>
              <a:t>M</a:t>
            </a:r>
            <a:endParaRPr sz="1600">
              <a:solidFill>
                <a:sysClr val="windowText" lastClr="000000"/>
              </a:solidFill>
              <a:latin typeface="Consolas" panose="020B0609020204030204"/>
              <a:cs typeface="Consolas" panose="020B0609020204030204"/>
            </a:endParaRPr>
          </a:p>
        </p:txBody>
      </p:sp>
      <p:sp>
        <p:nvSpPr>
          <p:cNvPr id="27" name="object 6"/>
          <p:cNvSpPr txBox="1"/>
          <p:nvPr/>
        </p:nvSpPr>
        <p:spPr>
          <a:xfrm>
            <a:off x="4304791" y="2524505"/>
            <a:ext cx="1804670" cy="876300"/>
          </a:xfrm>
          <a:prstGeom prst="rect">
            <a:avLst/>
          </a:prstGeom>
        </p:spPr>
        <p:txBody>
          <a:bodyPr vert="horz" wrap="square" lIns="0" tIns="12065" rIns="0" bIns="0" rtlCol="0">
            <a:spAutoFit/>
          </a:bodyPr>
          <a:lstStyle/>
          <a:p>
            <a:pPr algn="ctr">
              <a:lnSpc>
                <a:spcPts val="1900"/>
              </a:lnSpc>
              <a:spcBef>
                <a:spcPts val="95"/>
              </a:spcBef>
            </a:pPr>
            <a:r>
              <a:rPr sz="1600" dirty="0">
                <a:solidFill>
                  <a:sysClr val="windowText" lastClr="000000"/>
                </a:solidFill>
                <a:latin typeface="Consolas" panose="020B0609020204030204"/>
                <a:cs typeface="Consolas" panose="020B0609020204030204"/>
              </a:rPr>
              <a:t>Target</a:t>
            </a:r>
            <a:r>
              <a:rPr sz="1600" spc="-30"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machine</a:t>
            </a:r>
            <a:r>
              <a:rPr sz="1600" spc="-35" dirty="0">
                <a:solidFill>
                  <a:sysClr val="windowText" lastClr="000000"/>
                </a:solidFill>
                <a:latin typeface="Consolas" panose="020B0609020204030204"/>
                <a:cs typeface="Consolas" panose="020B0609020204030204"/>
              </a:rPr>
              <a:t> </a:t>
            </a:r>
            <a:r>
              <a:rPr sz="1600" spc="-50" dirty="0">
                <a:solidFill>
                  <a:sysClr val="windowText" lastClr="000000"/>
                </a:solidFill>
                <a:latin typeface="Consolas" panose="020B0609020204030204"/>
                <a:cs typeface="Consolas" panose="020B0609020204030204"/>
              </a:rPr>
              <a:t>2</a:t>
            </a:r>
            <a:endParaRPr sz="1600">
              <a:solidFill>
                <a:sysClr val="windowText" lastClr="000000"/>
              </a:solidFill>
              <a:latin typeface="Consolas" panose="020B0609020204030204"/>
              <a:cs typeface="Consolas" panose="020B0609020204030204"/>
            </a:endParaRPr>
          </a:p>
          <a:p>
            <a:pPr marR="72390" algn="ctr">
              <a:lnSpc>
                <a:spcPts val="1900"/>
              </a:lnSpc>
            </a:pPr>
            <a:r>
              <a:rPr sz="1600" spc="-50" dirty="0">
                <a:solidFill>
                  <a:sysClr val="windowText" lastClr="000000"/>
                </a:solidFill>
                <a:latin typeface="Consolas" panose="020B0609020204030204"/>
                <a:cs typeface="Consolas" panose="020B0609020204030204"/>
              </a:rPr>
              <a:t>…</a:t>
            </a:r>
            <a:endParaRPr sz="1600">
              <a:solidFill>
                <a:sysClr val="windowText" lastClr="000000"/>
              </a:solidFill>
              <a:latin typeface="Consolas" panose="020B0609020204030204"/>
              <a:cs typeface="Consolas" panose="020B0609020204030204"/>
            </a:endParaRPr>
          </a:p>
          <a:p>
            <a:pPr algn="ctr">
              <a:spcBef>
                <a:spcPts val="985"/>
              </a:spcBef>
            </a:pPr>
            <a:r>
              <a:rPr sz="1600" dirty="0">
                <a:solidFill>
                  <a:sysClr val="windowText" lastClr="000000"/>
                </a:solidFill>
                <a:latin typeface="Consolas" panose="020B0609020204030204"/>
                <a:cs typeface="Consolas" panose="020B0609020204030204"/>
              </a:rPr>
              <a:t>Target</a:t>
            </a:r>
            <a:r>
              <a:rPr sz="1600" spc="-30"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machine</a:t>
            </a:r>
            <a:r>
              <a:rPr sz="1600" spc="-35" dirty="0">
                <a:solidFill>
                  <a:sysClr val="windowText" lastClr="000000"/>
                </a:solidFill>
                <a:latin typeface="Consolas" panose="020B0609020204030204"/>
                <a:cs typeface="Consolas" panose="020B0609020204030204"/>
              </a:rPr>
              <a:t> </a:t>
            </a:r>
            <a:r>
              <a:rPr sz="1600" spc="-50" dirty="0">
                <a:solidFill>
                  <a:sysClr val="windowText" lastClr="000000"/>
                </a:solidFill>
                <a:latin typeface="Consolas" panose="020B0609020204030204"/>
                <a:cs typeface="Consolas" panose="020B0609020204030204"/>
              </a:rPr>
              <a:t>N</a:t>
            </a:r>
            <a:endParaRPr sz="1600">
              <a:solidFill>
                <a:sysClr val="windowText" lastClr="000000"/>
              </a:solidFill>
              <a:latin typeface="Consolas" panose="020B0609020204030204"/>
              <a:cs typeface="Consolas" panose="020B0609020204030204"/>
            </a:endParaRPr>
          </a:p>
        </p:txBody>
      </p:sp>
      <p:sp>
        <p:nvSpPr>
          <p:cNvPr id="28" name="object 7"/>
          <p:cNvSpPr/>
          <p:nvPr/>
        </p:nvSpPr>
        <p:spPr>
          <a:xfrm>
            <a:off x="2496058" y="2171699"/>
            <a:ext cx="1729739" cy="1144905"/>
          </a:xfrm>
          <a:custGeom>
            <a:avLst/>
            <a:gdLst/>
            <a:ahLst/>
            <a:cxnLst/>
            <a:rect l="l" t="t" r="r" b="b"/>
            <a:pathLst>
              <a:path w="1729739" h="1144904">
                <a:moveTo>
                  <a:pt x="1729740" y="38100"/>
                </a:moveTo>
                <a:lnTo>
                  <a:pt x="1708569" y="31750"/>
                </a:lnTo>
                <a:lnTo>
                  <a:pt x="1615173" y="3733"/>
                </a:lnTo>
                <a:lnTo>
                  <a:pt x="1615173" y="101498"/>
                </a:lnTo>
                <a:lnTo>
                  <a:pt x="1207782" y="353618"/>
                </a:lnTo>
                <a:lnTo>
                  <a:pt x="1192936" y="349656"/>
                </a:lnTo>
                <a:lnTo>
                  <a:pt x="1192936" y="362813"/>
                </a:lnTo>
                <a:lnTo>
                  <a:pt x="984173" y="491998"/>
                </a:lnTo>
                <a:lnTo>
                  <a:pt x="963663" y="491998"/>
                </a:lnTo>
                <a:lnTo>
                  <a:pt x="963663" y="504698"/>
                </a:lnTo>
                <a:lnTo>
                  <a:pt x="866470" y="564857"/>
                </a:lnTo>
                <a:lnTo>
                  <a:pt x="854367" y="557377"/>
                </a:lnTo>
                <a:lnTo>
                  <a:pt x="854367" y="572338"/>
                </a:lnTo>
                <a:lnTo>
                  <a:pt x="629285" y="711644"/>
                </a:lnTo>
                <a:lnTo>
                  <a:pt x="40500" y="504698"/>
                </a:lnTo>
                <a:lnTo>
                  <a:pt x="745083" y="504698"/>
                </a:lnTo>
                <a:lnTo>
                  <a:pt x="854367" y="572338"/>
                </a:lnTo>
                <a:lnTo>
                  <a:pt x="854367" y="557377"/>
                </a:lnTo>
                <a:lnTo>
                  <a:pt x="769289" y="504698"/>
                </a:lnTo>
                <a:lnTo>
                  <a:pt x="963663" y="504698"/>
                </a:lnTo>
                <a:lnTo>
                  <a:pt x="963663" y="491998"/>
                </a:lnTo>
                <a:lnTo>
                  <a:pt x="748766" y="491998"/>
                </a:lnTo>
                <a:lnTo>
                  <a:pt x="724573" y="477024"/>
                </a:lnTo>
                <a:lnTo>
                  <a:pt x="724573" y="491998"/>
                </a:lnTo>
                <a:lnTo>
                  <a:pt x="56718" y="491998"/>
                </a:lnTo>
                <a:lnTo>
                  <a:pt x="523100" y="367309"/>
                </a:lnTo>
                <a:lnTo>
                  <a:pt x="724573" y="491998"/>
                </a:lnTo>
                <a:lnTo>
                  <a:pt x="724573" y="477024"/>
                </a:lnTo>
                <a:lnTo>
                  <a:pt x="540004" y="362788"/>
                </a:lnTo>
                <a:lnTo>
                  <a:pt x="866495" y="275501"/>
                </a:lnTo>
                <a:lnTo>
                  <a:pt x="1192936" y="362813"/>
                </a:lnTo>
                <a:lnTo>
                  <a:pt x="1192936" y="349656"/>
                </a:lnTo>
                <a:lnTo>
                  <a:pt x="891057" y="268935"/>
                </a:lnTo>
                <a:lnTo>
                  <a:pt x="1605102" y="78016"/>
                </a:lnTo>
                <a:lnTo>
                  <a:pt x="1611782" y="88823"/>
                </a:lnTo>
                <a:lnTo>
                  <a:pt x="1615173" y="101498"/>
                </a:lnTo>
                <a:lnTo>
                  <a:pt x="1615173" y="3733"/>
                </a:lnTo>
                <a:lnTo>
                  <a:pt x="1602740" y="0"/>
                </a:lnTo>
                <a:lnTo>
                  <a:pt x="1602740" y="31750"/>
                </a:lnTo>
                <a:lnTo>
                  <a:pt x="1602740" y="54978"/>
                </a:lnTo>
                <a:lnTo>
                  <a:pt x="1602740" y="65493"/>
                </a:lnTo>
                <a:lnTo>
                  <a:pt x="866521" y="262369"/>
                </a:lnTo>
                <a:lnTo>
                  <a:pt x="841959" y="255803"/>
                </a:lnTo>
                <a:lnTo>
                  <a:pt x="841959" y="268935"/>
                </a:lnTo>
                <a:lnTo>
                  <a:pt x="525221" y="353644"/>
                </a:lnTo>
                <a:lnTo>
                  <a:pt x="43243" y="55333"/>
                </a:lnTo>
                <a:lnTo>
                  <a:pt x="841959" y="268935"/>
                </a:lnTo>
                <a:lnTo>
                  <a:pt x="841959" y="255803"/>
                </a:lnTo>
                <a:lnTo>
                  <a:pt x="51498" y="44450"/>
                </a:lnTo>
                <a:lnTo>
                  <a:pt x="1599920" y="44450"/>
                </a:lnTo>
                <a:lnTo>
                  <a:pt x="1602740" y="54978"/>
                </a:lnTo>
                <a:lnTo>
                  <a:pt x="1602740" y="31750"/>
                </a:lnTo>
                <a:lnTo>
                  <a:pt x="3302" y="31750"/>
                </a:lnTo>
                <a:lnTo>
                  <a:pt x="3302" y="38100"/>
                </a:lnTo>
                <a:lnTo>
                  <a:pt x="0" y="43561"/>
                </a:lnTo>
                <a:lnTo>
                  <a:pt x="508317" y="358165"/>
                </a:lnTo>
                <a:lnTo>
                  <a:pt x="7823" y="491998"/>
                </a:lnTo>
                <a:lnTo>
                  <a:pt x="3302" y="491998"/>
                </a:lnTo>
                <a:lnTo>
                  <a:pt x="3302" y="493217"/>
                </a:lnTo>
                <a:lnTo>
                  <a:pt x="1651" y="493649"/>
                </a:lnTo>
                <a:lnTo>
                  <a:pt x="3073" y="498957"/>
                </a:lnTo>
                <a:lnTo>
                  <a:pt x="1143" y="504317"/>
                </a:lnTo>
                <a:lnTo>
                  <a:pt x="4889" y="505637"/>
                </a:lnTo>
                <a:lnTo>
                  <a:pt x="4953" y="505841"/>
                </a:lnTo>
                <a:lnTo>
                  <a:pt x="5245" y="505764"/>
                </a:lnTo>
                <a:lnTo>
                  <a:pt x="615378" y="720242"/>
                </a:lnTo>
                <a:lnTo>
                  <a:pt x="5613" y="1097622"/>
                </a:lnTo>
                <a:lnTo>
                  <a:pt x="1143" y="1099185"/>
                </a:lnTo>
                <a:lnTo>
                  <a:pt x="1485" y="1100175"/>
                </a:lnTo>
                <a:lnTo>
                  <a:pt x="0" y="1101090"/>
                </a:lnTo>
                <a:lnTo>
                  <a:pt x="3302" y="1106512"/>
                </a:lnTo>
                <a:lnTo>
                  <a:pt x="3302" y="1112774"/>
                </a:lnTo>
                <a:lnTo>
                  <a:pt x="1602740" y="1112774"/>
                </a:lnTo>
                <a:lnTo>
                  <a:pt x="1602740" y="1144524"/>
                </a:lnTo>
                <a:lnTo>
                  <a:pt x="1708569" y="1112774"/>
                </a:lnTo>
                <a:lnTo>
                  <a:pt x="1729511" y="1106500"/>
                </a:lnTo>
                <a:lnTo>
                  <a:pt x="1729740" y="1106551"/>
                </a:lnTo>
                <a:lnTo>
                  <a:pt x="1729740" y="1106424"/>
                </a:lnTo>
                <a:lnTo>
                  <a:pt x="1729574" y="1106385"/>
                </a:lnTo>
                <a:lnTo>
                  <a:pt x="1728444" y="1105103"/>
                </a:lnTo>
                <a:lnTo>
                  <a:pt x="1729740" y="1105154"/>
                </a:lnTo>
                <a:lnTo>
                  <a:pt x="1726234" y="1102614"/>
                </a:lnTo>
                <a:lnTo>
                  <a:pt x="1681226" y="1051814"/>
                </a:lnTo>
                <a:lnTo>
                  <a:pt x="1641729" y="1007237"/>
                </a:lnTo>
                <a:lnTo>
                  <a:pt x="1627352" y="1030554"/>
                </a:lnTo>
                <a:lnTo>
                  <a:pt x="1622552" y="1027049"/>
                </a:lnTo>
                <a:lnTo>
                  <a:pt x="1620888" y="1031760"/>
                </a:lnTo>
                <a:lnTo>
                  <a:pt x="1616570" y="1029093"/>
                </a:lnTo>
                <a:lnTo>
                  <a:pt x="1616570" y="1044054"/>
                </a:lnTo>
                <a:lnTo>
                  <a:pt x="1613293" y="1053363"/>
                </a:lnTo>
                <a:lnTo>
                  <a:pt x="1611210" y="1056741"/>
                </a:lnTo>
                <a:lnTo>
                  <a:pt x="1604340" y="1054328"/>
                </a:lnTo>
                <a:lnTo>
                  <a:pt x="1604340" y="1067879"/>
                </a:lnTo>
                <a:lnTo>
                  <a:pt x="1603857" y="1068666"/>
                </a:lnTo>
                <a:lnTo>
                  <a:pt x="1602740" y="1068324"/>
                </a:lnTo>
                <a:lnTo>
                  <a:pt x="1602740" y="1070483"/>
                </a:lnTo>
                <a:lnTo>
                  <a:pt x="1601724" y="1072134"/>
                </a:lnTo>
                <a:lnTo>
                  <a:pt x="1602740" y="1072413"/>
                </a:lnTo>
                <a:lnTo>
                  <a:pt x="1602740" y="1083386"/>
                </a:lnTo>
                <a:lnTo>
                  <a:pt x="1597279" y="1098931"/>
                </a:lnTo>
                <a:lnTo>
                  <a:pt x="1602740" y="1099197"/>
                </a:lnTo>
                <a:lnTo>
                  <a:pt x="1602740" y="1100074"/>
                </a:lnTo>
                <a:lnTo>
                  <a:pt x="36880" y="1100074"/>
                </a:lnTo>
                <a:lnTo>
                  <a:pt x="866470" y="808520"/>
                </a:lnTo>
                <a:lnTo>
                  <a:pt x="1604340" y="1067879"/>
                </a:lnTo>
                <a:lnTo>
                  <a:pt x="1604340" y="1054328"/>
                </a:lnTo>
                <a:lnTo>
                  <a:pt x="885698" y="801763"/>
                </a:lnTo>
                <a:lnTo>
                  <a:pt x="1102131" y="725690"/>
                </a:lnTo>
                <a:lnTo>
                  <a:pt x="1616570" y="1044054"/>
                </a:lnTo>
                <a:lnTo>
                  <a:pt x="1616570" y="1029093"/>
                </a:lnTo>
                <a:lnTo>
                  <a:pt x="1117574" y="720267"/>
                </a:lnTo>
                <a:lnTo>
                  <a:pt x="1612011" y="546493"/>
                </a:lnTo>
                <a:lnTo>
                  <a:pt x="1622552" y="576453"/>
                </a:lnTo>
                <a:lnTo>
                  <a:pt x="1685988" y="530225"/>
                </a:lnTo>
                <a:lnTo>
                  <a:pt x="1727733" y="499821"/>
                </a:lnTo>
                <a:lnTo>
                  <a:pt x="1729740" y="499745"/>
                </a:lnTo>
                <a:lnTo>
                  <a:pt x="1728685" y="499122"/>
                </a:lnTo>
                <a:lnTo>
                  <a:pt x="1729740" y="498348"/>
                </a:lnTo>
                <a:lnTo>
                  <a:pt x="1725320" y="497027"/>
                </a:lnTo>
                <a:lnTo>
                  <a:pt x="1691830" y="476377"/>
                </a:lnTo>
                <a:lnTo>
                  <a:pt x="1616837" y="430149"/>
                </a:lnTo>
                <a:lnTo>
                  <a:pt x="1608632" y="460781"/>
                </a:lnTo>
                <a:lnTo>
                  <a:pt x="1602740" y="459206"/>
                </a:lnTo>
                <a:lnTo>
                  <a:pt x="1602740" y="472389"/>
                </a:lnTo>
                <a:lnTo>
                  <a:pt x="1602740" y="482803"/>
                </a:lnTo>
                <a:lnTo>
                  <a:pt x="1602740" y="520128"/>
                </a:lnTo>
                <a:lnTo>
                  <a:pt x="1602740" y="536219"/>
                </a:lnTo>
                <a:lnTo>
                  <a:pt x="1103642" y="711644"/>
                </a:lnTo>
                <a:lnTo>
                  <a:pt x="1088212" y="702106"/>
                </a:lnTo>
                <a:lnTo>
                  <a:pt x="1088212" y="717080"/>
                </a:lnTo>
                <a:lnTo>
                  <a:pt x="866482" y="795020"/>
                </a:lnTo>
                <a:lnTo>
                  <a:pt x="847267" y="788276"/>
                </a:lnTo>
                <a:lnTo>
                  <a:pt x="847267" y="801763"/>
                </a:lnTo>
                <a:lnTo>
                  <a:pt x="61290" y="1078052"/>
                </a:lnTo>
                <a:lnTo>
                  <a:pt x="630745" y="725652"/>
                </a:lnTo>
                <a:lnTo>
                  <a:pt x="847267" y="801763"/>
                </a:lnTo>
                <a:lnTo>
                  <a:pt x="847267" y="788276"/>
                </a:lnTo>
                <a:lnTo>
                  <a:pt x="644652" y="717042"/>
                </a:lnTo>
                <a:lnTo>
                  <a:pt x="866419" y="579805"/>
                </a:lnTo>
                <a:lnTo>
                  <a:pt x="1088212" y="717080"/>
                </a:lnTo>
                <a:lnTo>
                  <a:pt x="1088212" y="702106"/>
                </a:lnTo>
                <a:lnTo>
                  <a:pt x="878522" y="572312"/>
                </a:lnTo>
                <a:lnTo>
                  <a:pt x="987780" y="504698"/>
                </a:lnTo>
                <a:lnTo>
                  <a:pt x="1597317" y="504698"/>
                </a:lnTo>
                <a:lnTo>
                  <a:pt x="1602740" y="520128"/>
                </a:lnTo>
                <a:lnTo>
                  <a:pt x="1602740" y="482803"/>
                </a:lnTo>
                <a:lnTo>
                  <a:pt x="1600276" y="491998"/>
                </a:lnTo>
                <a:lnTo>
                  <a:pt x="1008303" y="491998"/>
                </a:lnTo>
                <a:lnTo>
                  <a:pt x="1209789" y="367309"/>
                </a:lnTo>
                <a:lnTo>
                  <a:pt x="1602740" y="472389"/>
                </a:lnTo>
                <a:lnTo>
                  <a:pt x="1602740" y="459206"/>
                </a:lnTo>
                <a:lnTo>
                  <a:pt x="1224635" y="358127"/>
                </a:lnTo>
                <a:lnTo>
                  <a:pt x="1625066" y="110324"/>
                </a:lnTo>
                <a:lnTo>
                  <a:pt x="1641729" y="137287"/>
                </a:lnTo>
                <a:lnTo>
                  <a:pt x="1681162" y="92837"/>
                </a:lnTo>
                <a:lnTo>
                  <a:pt x="1729740" y="3810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29" name="object 8"/>
          <p:cNvSpPr txBox="1"/>
          <p:nvPr/>
        </p:nvSpPr>
        <p:spPr>
          <a:xfrm>
            <a:off x="6368796" y="2363723"/>
            <a:ext cx="2167255" cy="584200"/>
          </a:xfrm>
          <a:prstGeom prst="rect">
            <a:avLst/>
          </a:prstGeom>
          <a:solidFill>
            <a:srgbClr val="FFF1CC"/>
          </a:solidFill>
        </p:spPr>
        <p:txBody>
          <a:bodyPr vert="horz" wrap="square" lIns="0" tIns="34290" rIns="0" bIns="0" rtlCol="0">
            <a:spAutoFit/>
          </a:bodyPr>
          <a:lstStyle/>
          <a:p>
            <a:pPr marL="138430" marR="130810" indent="111125">
              <a:spcBef>
                <a:spcPts val="270"/>
              </a:spcBef>
            </a:pPr>
            <a:r>
              <a:rPr sz="1600" b="1" dirty="0">
                <a:solidFill>
                  <a:srgbClr val="FF0000"/>
                </a:solidFill>
                <a:latin typeface="Consolas" panose="020B0609020204030204"/>
                <a:cs typeface="Consolas" panose="020B0609020204030204"/>
              </a:rPr>
              <a:t>M</a:t>
            </a:r>
            <a:r>
              <a:rPr sz="1600" b="1" spc="-10" dirty="0">
                <a:solidFill>
                  <a:srgbClr val="FF0000"/>
                </a:solidFill>
                <a:latin typeface="Consolas" panose="020B0609020204030204"/>
                <a:cs typeface="Consolas" panose="020B0609020204030204"/>
              </a:rPr>
              <a:t> </a:t>
            </a:r>
            <a:r>
              <a:rPr sz="1600" b="1" dirty="0">
                <a:solidFill>
                  <a:srgbClr val="FF0000"/>
                </a:solidFill>
                <a:latin typeface="Consolas" panose="020B0609020204030204"/>
                <a:cs typeface="Consolas" panose="020B0609020204030204"/>
              </a:rPr>
              <a:t>*</a:t>
            </a:r>
            <a:r>
              <a:rPr sz="1600" b="1" spc="-10" dirty="0">
                <a:solidFill>
                  <a:srgbClr val="FF0000"/>
                </a:solidFill>
                <a:latin typeface="Consolas" panose="020B0609020204030204"/>
                <a:cs typeface="Consolas" panose="020B0609020204030204"/>
              </a:rPr>
              <a:t> </a:t>
            </a:r>
            <a:r>
              <a:rPr sz="1600" b="1" dirty="0">
                <a:solidFill>
                  <a:srgbClr val="FF0000"/>
                </a:solidFill>
                <a:latin typeface="Consolas" panose="020B0609020204030204"/>
                <a:cs typeface="Consolas" panose="020B0609020204030204"/>
              </a:rPr>
              <a:t>N</a:t>
            </a:r>
            <a:r>
              <a:rPr sz="1600" b="1" spc="-10" dirty="0">
                <a:solidFill>
                  <a:srgbClr val="FF0000"/>
                </a:solidFill>
                <a:latin typeface="Consolas" panose="020B0609020204030204"/>
                <a:cs typeface="Consolas" panose="020B0609020204030204"/>
              </a:rPr>
              <a:t> </a:t>
            </a:r>
            <a:r>
              <a:rPr sz="1600" spc="-10" dirty="0">
                <a:solidFill>
                  <a:sysClr val="windowText" lastClr="000000"/>
                </a:solidFill>
                <a:latin typeface="Consolas" panose="020B0609020204030204"/>
                <a:cs typeface="Consolas" panose="020B0609020204030204"/>
              </a:rPr>
              <a:t>compilers </a:t>
            </a:r>
            <a:r>
              <a:rPr sz="1600" dirty="0">
                <a:solidFill>
                  <a:sysClr val="windowText" lastClr="000000"/>
                </a:solidFill>
                <a:latin typeface="Consolas" panose="020B0609020204030204"/>
                <a:cs typeface="Consolas" panose="020B0609020204030204"/>
              </a:rPr>
              <a:t>without</a:t>
            </a:r>
            <a:r>
              <a:rPr sz="1600" spc="-30"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a</a:t>
            </a:r>
            <a:r>
              <a:rPr sz="1600" spc="-25"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good</a:t>
            </a:r>
            <a:r>
              <a:rPr sz="1600" spc="-30" dirty="0">
                <a:solidFill>
                  <a:sysClr val="windowText" lastClr="000000"/>
                </a:solidFill>
                <a:latin typeface="Consolas" panose="020B0609020204030204"/>
                <a:cs typeface="Consolas" panose="020B0609020204030204"/>
              </a:rPr>
              <a:t> </a:t>
            </a:r>
            <a:r>
              <a:rPr sz="1600" spc="-25" dirty="0">
                <a:solidFill>
                  <a:sysClr val="windowText" lastClr="000000"/>
                </a:solidFill>
                <a:latin typeface="Consolas" panose="020B0609020204030204"/>
                <a:cs typeface="Consolas" panose="020B0609020204030204"/>
              </a:rPr>
              <a:t>IR</a:t>
            </a:r>
            <a:endParaRPr sz="1600">
              <a:solidFill>
                <a:sysClr val="windowText" lastClr="000000"/>
              </a:solidFill>
              <a:latin typeface="Consolas" panose="020B0609020204030204"/>
              <a:cs typeface="Consolas" panose="020B0609020204030204"/>
            </a:endParaRPr>
          </a:p>
        </p:txBody>
      </p:sp>
      <p:sp>
        <p:nvSpPr>
          <p:cNvPr id="30" name="object 9"/>
          <p:cNvSpPr txBox="1"/>
          <p:nvPr/>
        </p:nvSpPr>
        <p:spPr>
          <a:xfrm>
            <a:off x="822147" y="4056379"/>
            <a:ext cx="1583690" cy="269240"/>
          </a:xfrm>
          <a:prstGeom prst="rect">
            <a:avLst/>
          </a:prstGeom>
        </p:spPr>
        <p:txBody>
          <a:bodyPr vert="horz" wrap="square" lIns="0" tIns="12065" rIns="0" bIns="0" rtlCol="0">
            <a:spAutoFit/>
          </a:bodyPr>
          <a:lstStyle/>
          <a:p>
            <a:pPr marL="12700">
              <a:spcBef>
                <a:spcPts val="95"/>
              </a:spcBef>
            </a:pPr>
            <a:r>
              <a:rPr sz="1600" dirty="0">
                <a:solidFill>
                  <a:sysClr val="windowText" lastClr="000000"/>
                </a:solidFill>
                <a:latin typeface="Consolas" panose="020B0609020204030204"/>
                <a:cs typeface="Consolas" panose="020B0609020204030204"/>
              </a:rPr>
              <a:t>Code</a:t>
            </a:r>
            <a:r>
              <a:rPr sz="1600" spc="-25"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in</a:t>
            </a:r>
            <a:r>
              <a:rPr sz="1600" spc="-15"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lang</a:t>
            </a:r>
            <a:r>
              <a:rPr sz="1600" spc="-20" dirty="0">
                <a:solidFill>
                  <a:sysClr val="windowText" lastClr="000000"/>
                </a:solidFill>
                <a:latin typeface="Consolas" panose="020B0609020204030204"/>
                <a:cs typeface="Consolas" panose="020B0609020204030204"/>
              </a:rPr>
              <a:t> </a:t>
            </a:r>
            <a:r>
              <a:rPr sz="1600" spc="-50" dirty="0">
                <a:solidFill>
                  <a:sysClr val="windowText" lastClr="000000"/>
                </a:solidFill>
                <a:latin typeface="Consolas" panose="020B0609020204030204"/>
                <a:cs typeface="Consolas" panose="020B0609020204030204"/>
              </a:rPr>
              <a:t>1</a:t>
            </a:r>
            <a:endParaRPr sz="1600">
              <a:solidFill>
                <a:sysClr val="windowText" lastClr="000000"/>
              </a:solidFill>
              <a:latin typeface="Consolas" panose="020B0609020204030204"/>
              <a:cs typeface="Consolas" panose="020B0609020204030204"/>
            </a:endParaRPr>
          </a:p>
        </p:txBody>
      </p:sp>
      <p:sp>
        <p:nvSpPr>
          <p:cNvPr id="31" name="object 10"/>
          <p:cNvSpPr txBox="1"/>
          <p:nvPr/>
        </p:nvSpPr>
        <p:spPr>
          <a:xfrm>
            <a:off x="4304791" y="4056379"/>
            <a:ext cx="1804670" cy="269240"/>
          </a:xfrm>
          <a:prstGeom prst="rect">
            <a:avLst/>
          </a:prstGeom>
        </p:spPr>
        <p:txBody>
          <a:bodyPr vert="horz" wrap="square" lIns="0" tIns="12065" rIns="0" bIns="0" rtlCol="0">
            <a:spAutoFit/>
          </a:bodyPr>
          <a:lstStyle/>
          <a:p>
            <a:pPr marL="12700">
              <a:spcBef>
                <a:spcPts val="95"/>
              </a:spcBef>
            </a:pPr>
            <a:r>
              <a:rPr sz="1600" dirty="0">
                <a:solidFill>
                  <a:sysClr val="windowText" lastClr="000000"/>
                </a:solidFill>
                <a:latin typeface="Consolas" panose="020B0609020204030204"/>
                <a:cs typeface="Consolas" panose="020B0609020204030204"/>
              </a:rPr>
              <a:t>Target</a:t>
            </a:r>
            <a:r>
              <a:rPr sz="1600" spc="-30"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machine</a:t>
            </a:r>
            <a:r>
              <a:rPr sz="1600" spc="-35" dirty="0">
                <a:solidFill>
                  <a:sysClr val="windowText" lastClr="000000"/>
                </a:solidFill>
                <a:latin typeface="Consolas" panose="020B0609020204030204"/>
                <a:cs typeface="Consolas" panose="020B0609020204030204"/>
              </a:rPr>
              <a:t> </a:t>
            </a:r>
            <a:r>
              <a:rPr sz="1600" spc="-50" dirty="0">
                <a:solidFill>
                  <a:sysClr val="windowText" lastClr="000000"/>
                </a:solidFill>
                <a:latin typeface="Consolas" panose="020B0609020204030204"/>
                <a:cs typeface="Consolas" panose="020B0609020204030204"/>
              </a:rPr>
              <a:t>1</a:t>
            </a:r>
            <a:endParaRPr sz="1600">
              <a:solidFill>
                <a:sysClr val="windowText" lastClr="000000"/>
              </a:solidFill>
              <a:latin typeface="Consolas" panose="020B0609020204030204"/>
              <a:cs typeface="Consolas" panose="020B0609020204030204"/>
            </a:endParaRPr>
          </a:p>
        </p:txBody>
      </p:sp>
      <p:sp>
        <p:nvSpPr>
          <p:cNvPr id="32" name="object 11"/>
          <p:cNvSpPr txBox="1"/>
          <p:nvPr/>
        </p:nvSpPr>
        <p:spPr>
          <a:xfrm>
            <a:off x="822147" y="4501641"/>
            <a:ext cx="1583690" cy="892175"/>
          </a:xfrm>
          <a:prstGeom prst="rect">
            <a:avLst/>
          </a:prstGeom>
        </p:spPr>
        <p:txBody>
          <a:bodyPr vert="horz" wrap="square" lIns="0" tIns="12065" rIns="0" bIns="0" rtlCol="0">
            <a:spAutoFit/>
          </a:bodyPr>
          <a:lstStyle/>
          <a:p>
            <a:pPr algn="ctr">
              <a:spcBef>
                <a:spcPts val="95"/>
              </a:spcBef>
            </a:pPr>
            <a:r>
              <a:rPr sz="1600" dirty="0">
                <a:solidFill>
                  <a:sysClr val="windowText" lastClr="000000"/>
                </a:solidFill>
                <a:latin typeface="Consolas" panose="020B0609020204030204"/>
                <a:cs typeface="Consolas" panose="020B0609020204030204"/>
              </a:rPr>
              <a:t>Code</a:t>
            </a:r>
            <a:r>
              <a:rPr sz="1600" spc="-25"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in</a:t>
            </a:r>
            <a:r>
              <a:rPr sz="1600" spc="-15"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lang</a:t>
            </a:r>
            <a:r>
              <a:rPr sz="1600" spc="-20" dirty="0">
                <a:solidFill>
                  <a:sysClr val="windowText" lastClr="000000"/>
                </a:solidFill>
                <a:latin typeface="Consolas" panose="020B0609020204030204"/>
                <a:cs typeface="Consolas" panose="020B0609020204030204"/>
              </a:rPr>
              <a:t> </a:t>
            </a:r>
            <a:r>
              <a:rPr sz="1600" spc="-50" dirty="0">
                <a:solidFill>
                  <a:sysClr val="windowText" lastClr="000000"/>
                </a:solidFill>
                <a:latin typeface="Consolas" panose="020B0609020204030204"/>
                <a:cs typeface="Consolas" panose="020B0609020204030204"/>
              </a:rPr>
              <a:t>2</a:t>
            </a:r>
            <a:endParaRPr sz="1600">
              <a:solidFill>
                <a:sysClr val="windowText" lastClr="000000"/>
              </a:solidFill>
              <a:latin typeface="Consolas" panose="020B0609020204030204"/>
              <a:cs typeface="Consolas" panose="020B0609020204030204"/>
            </a:endParaRPr>
          </a:p>
          <a:p>
            <a:pPr marR="167640" algn="ctr">
              <a:spcBef>
                <a:spcPts val="85"/>
              </a:spcBef>
            </a:pPr>
            <a:r>
              <a:rPr sz="1600" spc="-50" dirty="0">
                <a:solidFill>
                  <a:sysClr val="windowText" lastClr="000000"/>
                </a:solidFill>
                <a:latin typeface="Consolas" panose="020B0609020204030204"/>
                <a:cs typeface="Consolas" panose="020B0609020204030204"/>
              </a:rPr>
              <a:t>…</a:t>
            </a:r>
            <a:endParaRPr sz="1600">
              <a:solidFill>
                <a:sysClr val="windowText" lastClr="000000"/>
              </a:solidFill>
              <a:latin typeface="Consolas" panose="020B0609020204030204"/>
              <a:cs typeface="Consolas" panose="020B0609020204030204"/>
            </a:endParaRPr>
          </a:p>
          <a:p>
            <a:pPr algn="ctr">
              <a:spcBef>
                <a:spcPts val="985"/>
              </a:spcBef>
            </a:pPr>
            <a:r>
              <a:rPr sz="1600" dirty="0">
                <a:solidFill>
                  <a:sysClr val="windowText" lastClr="000000"/>
                </a:solidFill>
                <a:latin typeface="Consolas" panose="020B0609020204030204"/>
                <a:cs typeface="Consolas" panose="020B0609020204030204"/>
              </a:rPr>
              <a:t>Code</a:t>
            </a:r>
            <a:r>
              <a:rPr sz="1600" spc="-25"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in</a:t>
            </a:r>
            <a:r>
              <a:rPr sz="1600" spc="-15"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lang</a:t>
            </a:r>
            <a:r>
              <a:rPr sz="1600" spc="-20" dirty="0">
                <a:solidFill>
                  <a:sysClr val="windowText" lastClr="000000"/>
                </a:solidFill>
                <a:latin typeface="Consolas" panose="020B0609020204030204"/>
                <a:cs typeface="Consolas" panose="020B0609020204030204"/>
              </a:rPr>
              <a:t> </a:t>
            </a:r>
            <a:r>
              <a:rPr sz="1600" spc="-50" dirty="0">
                <a:solidFill>
                  <a:sysClr val="windowText" lastClr="000000"/>
                </a:solidFill>
                <a:latin typeface="Consolas" panose="020B0609020204030204"/>
                <a:cs typeface="Consolas" panose="020B0609020204030204"/>
              </a:rPr>
              <a:t>M</a:t>
            </a:r>
            <a:endParaRPr sz="1600">
              <a:solidFill>
                <a:sysClr val="windowText" lastClr="000000"/>
              </a:solidFill>
              <a:latin typeface="Consolas" panose="020B0609020204030204"/>
              <a:cs typeface="Consolas" panose="020B0609020204030204"/>
            </a:endParaRPr>
          </a:p>
        </p:txBody>
      </p:sp>
      <p:sp>
        <p:nvSpPr>
          <p:cNvPr id="33" name="object 12"/>
          <p:cNvSpPr txBox="1"/>
          <p:nvPr/>
        </p:nvSpPr>
        <p:spPr>
          <a:xfrm>
            <a:off x="4304791" y="4501641"/>
            <a:ext cx="1804670" cy="892175"/>
          </a:xfrm>
          <a:prstGeom prst="rect">
            <a:avLst/>
          </a:prstGeom>
        </p:spPr>
        <p:txBody>
          <a:bodyPr vert="horz" wrap="square" lIns="0" tIns="12065" rIns="0" bIns="0" rtlCol="0">
            <a:spAutoFit/>
          </a:bodyPr>
          <a:lstStyle/>
          <a:p>
            <a:pPr algn="ctr">
              <a:spcBef>
                <a:spcPts val="95"/>
              </a:spcBef>
            </a:pPr>
            <a:r>
              <a:rPr sz="1600" dirty="0">
                <a:solidFill>
                  <a:sysClr val="windowText" lastClr="000000"/>
                </a:solidFill>
                <a:latin typeface="Consolas" panose="020B0609020204030204"/>
                <a:cs typeface="Consolas" panose="020B0609020204030204"/>
              </a:rPr>
              <a:t>Target</a:t>
            </a:r>
            <a:r>
              <a:rPr sz="1600" spc="-30"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machine</a:t>
            </a:r>
            <a:r>
              <a:rPr sz="1600" spc="-35" dirty="0">
                <a:solidFill>
                  <a:sysClr val="windowText" lastClr="000000"/>
                </a:solidFill>
                <a:latin typeface="Consolas" panose="020B0609020204030204"/>
                <a:cs typeface="Consolas" panose="020B0609020204030204"/>
              </a:rPr>
              <a:t> </a:t>
            </a:r>
            <a:r>
              <a:rPr sz="1600" spc="-50" dirty="0">
                <a:solidFill>
                  <a:sysClr val="windowText" lastClr="000000"/>
                </a:solidFill>
                <a:latin typeface="Consolas" panose="020B0609020204030204"/>
                <a:cs typeface="Consolas" panose="020B0609020204030204"/>
              </a:rPr>
              <a:t>2</a:t>
            </a:r>
            <a:endParaRPr sz="1600">
              <a:solidFill>
                <a:sysClr val="windowText" lastClr="000000"/>
              </a:solidFill>
              <a:latin typeface="Consolas" panose="020B0609020204030204"/>
              <a:cs typeface="Consolas" panose="020B0609020204030204"/>
            </a:endParaRPr>
          </a:p>
          <a:p>
            <a:pPr marR="72390" algn="ctr">
              <a:spcBef>
                <a:spcPts val="85"/>
              </a:spcBef>
            </a:pPr>
            <a:r>
              <a:rPr sz="1600" spc="-50" dirty="0">
                <a:solidFill>
                  <a:sysClr val="windowText" lastClr="000000"/>
                </a:solidFill>
                <a:latin typeface="Consolas" panose="020B0609020204030204"/>
                <a:cs typeface="Consolas" panose="020B0609020204030204"/>
              </a:rPr>
              <a:t>…</a:t>
            </a:r>
            <a:endParaRPr sz="1600">
              <a:solidFill>
                <a:sysClr val="windowText" lastClr="000000"/>
              </a:solidFill>
              <a:latin typeface="Consolas" panose="020B0609020204030204"/>
              <a:cs typeface="Consolas" panose="020B0609020204030204"/>
            </a:endParaRPr>
          </a:p>
          <a:p>
            <a:pPr algn="ctr">
              <a:spcBef>
                <a:spcPts val="985"/>
              </a:spcBef>
            </a:pPr>
            <a:r>
              <a:rPr sz="1600" dirty="0">
                <a:solidFill>
                  <a:sysClr val="windowText" lastClr="000000"/>
                </a:solidFill>
                <a:latin typeface="Consolas" panose="020B0609020204030204"/>
                <a:cs typeface="Consolas" panose="020B0609020204030204"/>
              </a:rPr>
              <a:t>Target</a:t>
            </a:r>
            <a:r>
              <a:rPr sz="1600" spc="-30"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machine</a:t>
            </a:r>
            <a:r>
              <a:rPr sz="1600" spc="-35" dirty="0">
                <a:solidFill>
                  <a:sysClr val="windowText" lastClr="000000"/>
                </a:solidFill>
                <a:latin typeface="Consolas" panose="020B0609020204030204"/>
                <a:cs typeface="Consolas" panose="020B0609020204030204"/>
              </a:rPr>
              <a:t> </a:t>
            </a:r>
            <a:r>
              <a:rPr sz="1600" spc="-50" dirty="0">
                <a:solidFill>
                  <a:sysClr val="windowText" lastClr="000000"/>
                </a:solidFill>
                <a:latin typeface="Consolas" panose="020B0609020204030204"/>
                <a:cs typeface="Consolas" panose="020B0609020204030204"/>
              </a:rPr>
              <a:t>N</a:t>
            </a:r>
            <a:endParaRPr sz="1600">
              <a:solidFill>
                <a:sysClr val="windowText" lastClr="000000"/>
              </a:solidFill>
              <a:latin typeface="Consolas" panose="020B0609020204030204"/>
              <a:cs typeface="Consolas" panose="020B0609020204030204"/>
            </a:endParaRPr>
          </a:p>
        </p:txBody>
      </p:sp>
      <p:sp>
        <p:nvSpPr>
          <p:cNvPr id="34" name="object 13"/>
          <p:cNvSpPr txBox="1"/>
          <p:nvPr/>
        </p:nvSpPr>
        <p:spPr>
          <a:xfrm>
            <a:off x="6368796" y="4355591"/>
            <a:ext cx="2167255" cy="585470"/>
          </a:xfrm>
          <a:prstGeom prst="rect">
            <a:avLst/>
          </a:prstGeom>
          <a:solidFill>
            <a:srgbClr val="FFF1CC"/>
          </a:solidFill>
        </p:spPr>
        <p:txBody>
          <a:bodyPr vert="horz" wrap="square" lIns="0" tIns="36194" rIns="0" bIns="0" rtlCol="0">
            <a:spAutoFit/>
          </a:bodyPr>
          <a:lstStyle/>
          <a:p>
            <a:pPr marL="249555">
              <a:spcBef>
                <a:spcPts val="285"/>
              </a:spcBef>
            </a:pPr>
            <a:r>
              <a:rPr sz="1600" b="1" dirty="0">
                <a:solidFill>
                  <a:srgbClr val="FF0000"/>
                </a:solidFill>
                <a:latin typeface="Consolas" panose="020B0609020204030204"/>
                <a:cs typeface="Consolas" panose="020B0609020204030204"/>
              </a:rPr>
              <a:t>M</a:t>
            </a:r>
            <a:r>
              <a:rPr sz="1600" b="1" spc="-10" dirty="0">
                <a:solidFill>
                  <a:srgbClr val="FF0000"/>
                </a:solidFill>
                <a:latin typeface="Consolas" panose="020B0609020204030204"/>
                <a:cs typeface="Consolas" panose="020B0609020204030204"/>
              </a:rPr>
              <a:t> </a:t>
            </a:r>
            <a:r>
              <a:rPr sz="1600" b="1" dirty="0">
                <a:solidFill>
                  <a:srgbClr val="FF0000"/>
                </a:solidFill>
                <a:latin typeface="Consolas" panose="020B0609020204030204"/>
                <a:cs typeface="Consolas" panose="020B0609020204030204"/>
              </a:rPr>
              <a:t>+</a:t>
            </a:r>
            <a:r>
              <a:rPr sz="1600" b="1" spc="-10" dirty="0">
                <a:solidFill>
                  <a:srgbClr val="FF0000"/>
                </a:solidFill>
                <a:latin typeface="Consolas" panose="020B0609020204030204"/>
                <a:cs typeface="Consolas" panose="020B0609020204030204"/>
              </a:rPr>
              <a:t> </a:t>
            </a:r>
            <a:r>
              <a:rPr sz="1600" b="1" dirty="0">
                <a:solidFill>
                  <a:srgbClr val="FF0000"/>
                </a:solidFill>
                <a:latin typeface="Consolas" panose="020B0609020204030204"/>
                <a:cs typeface="Consolas" panose="020B0609020204030204"/>
              </a:rPr>
              <a:t>N</a:t>
            </a:r>
            <a:r>
              <a:rPr sz="1600" b="1" spc="-10" dirty="0">
                <a:solidFill>
                  <a:srgbClr val="FF0000"/>
                </a:solidFill>
                <a:latin typeface="Consolas" panose="020B0609020204030204"/>
                <a:cs typeface="Consolas" panose="020B0609020204030204"/>
              </a:rPr>
              <a:t> </a:t>
            </a:r>
            <a:r>
              <a:rPr sz="1600" spc="-10" dirty="0">
                <a:solidFill>
                  <a:sysClr val="windowText" lastClr="000000"/>
                </a:solidFill>
                <a:latin typeface="Consolas" panose="020B0609020204030204"/>
                <a:cs typeface="Consolas" panose="020B0609020204030204"/>
              </a:rPr>
              <a:t>compilers</a:t>
            </a:r>
            <a:endParaRPr sz="1600">
              <a:solidFill>
                <a:sysClr val="windowText" lastClr="000000"/>
              </a:solidFill>
              <a:latin typeface="Consolas" panose="020B0609020204030204"/>
              <a:cs typeface="Consolas" panose="020B0609020204030204"/>
            </a:endParaRPr>
          </a:p>
          <a:p>
            <a:pPr marL="306070"/>
            <a:r>
              <a:rPr sz="1600" dirty="0">
                <a:solidFill>
                  <a:sysClr val="windowText" lastClr="000000"/>
                </a:solidFill>
                <a:latin typeface="Consolas" panose="020B0609020204030204"/>
                <a:cs typeface="Consolas" panose="020B0609020204030204"/>
              </a:rPr>
              <a:t>with</a:t>
            </a:r>
            <a:r>
              <a:rPr sz="1600" spc="-20"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a</a:t>
            </a:r>
            <a:r>
              <a:rPr sz="1600" spc="-20"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good</a:t>
            </a:r>
            <a:r>
              <a:rPr sz="1600" spc="-20" dirty="0">
                <a:solidFill>
                  <a:sysClr val="windowText" lastClr="000000"/>
                </a:solidFill>
                <a:latin typeface="Consolas" panose="020B0609020204030204"/>
                <a:cs typeface="Consolas" panose="020B0609020204030204"/>
              </a:rPr>
              <a:t> </a:t>
            </a:r>
            <a:r>
              <a:rPr sz="1600" spc="-25" dirty="0">
                <a:solidFill>
                  <a:sysClr val="windowText" lastClr="000000"/>
                </a:solidFill>
                <a:latin typeface="Consolas" panose="020B0609020204030204"/>
                <a:cs typeface="Consolas" panose="020B0609020204030204"/>
              </a:rPr>
              <a:t>IR</a:t>
            </a:r>
            <a:endParaRPr sz="1600">
              <a:solidFill>
                <a:sysClr val="windowText" lastClr="000000"/>
              </a:solidFill>
              <a:latin typeface="Consolas" panose="020B0609020204030204"/>
              <a:cs typeface="Consolas" panose="020B0609020204030204"/>
            </a:endParaRPr>
          </a:p>
        </p:txBody>
      </p:sp>
      <p:sp>
        <p:nvSpPr>
          <p:cNvPr id="35" name="object 14"/>
          <p:cNvSpPr txBox="1"/>
          <p:nvPr/>
        </p:nvSpPr>
        <p:spPr>
          <a:xfrm>
            <a:off x="2842641" y="4379467"/>
            <a:ext cx="915669" cy="513080"/>
          </a:xfrm>
          <a:prstGeom prst="rect">
            <a:avLst/>
          </a:prstGeom>
        </p:spPr>
        <p:txBody>
          <a:bodyPr vert="horz" wrap="square" lIns="0" tIns="12065" rIns="0" bIns="0" rtlCol="0">
            <a:spAutoFit/>
          </a:bodyPr>
          <a:lstStyle/>
          <a:p>
            <a:pPr marL="12700">
              <a:spcBef>
                <a:spcPts val="95"/>
              </a:spcBef>
            </a:pPr>
            <a:r>
              <a:rPr sz="1600" spc="-10" dirty="0">
                <a:solidFill>
                  <a:sysClr val="windowText" lastClr="000000"/>
                </a:solidFill>
                <a:latin typeface="Consolas" panose="020B0609020204030204"/>
                <a:cs typeface="Consolas" panose="020B0609020204030204"/>
              </a:rPr>
              <a:t>Abstract</a:t>
            </a:r>
            <a:endParaRPr sz="1600">
              <a:solidFill>
                <a:sysClr val="windowText" lastClr="000000"/>
              </a:solidFill>
              <a:latin typeface="Consolas" panose="020B0609020204030204"/>
              <a:cs typeface="Consolas" panose="020B0609020204030204"/>
            </a:endParaRPr>
          </a:p>
          <a:p>
            <a:pPr marL="68580"/>
            <a:r>
              <a:rPr sz="1600" spc="-10" dirty="0">
                <a:solidFill>
                  <a:sysClr val="windowText" lastClr="000000"/>
                </a:solidFill>
                <a:latin typeface="Consolas" panose="020B0609020204030204"/>
                <a:cs typeface="Consolas" panose="020B0609020204030204"/>
              </a:rPr>
              <a:t>Machine</a:t>
            </a:r>
            <a:endParaRPr sz="1600">
              <a:solidFill>
                <a:sysClr val="windowText" lastClr="000000"/>
              </a:solidFill>
              <a:latin typeface="Consolas" panose="020B0609020204030204"/>
              <a:cs typeface="Consolas" panose="020B0609020204030204"/>
            </a:endParaRPr>
          </a:p>
        </p:txBody>
      </p:sp>
      <p:sp>
        <p:nvSpPr>
          <p:cNvPr id="36" name="object 15"/>
          <p:cNvSpPr/>
          <p:nvPr/>
        </p:nvSpPr>
        <p:spPr>
          <a:xfrm>
            <a:off x="2493518" y="4198492"/>
            <a:ext cx="265430" cy="1074420"/>
          </a:xfrm>
          <a:custGeom>
            <a:avLst/>
            <a:gdLst/>
            <a:ahLst/>
            <a:cxnLst/>
            <a:rect l="l" t="t" r="r" b="b"/>
            <a:pathLst>
              <a:path w="265430" h="1074420">
                <a:moveTo>
                  <a:pt x="245046" y="456565"/>
                </a:moveTo>
                <a:lnTo>
                  <a:pt x="150876" y="456565"/>
                </a:lnTo>
                <a:lnTo>
                  <a:pt x="138201" y="456565"/>
                </a:lnTo>
                <a:lnTo>
                  <a:pt x="138049" y="488315"/>
                </a:lnTo>
                <a:lnTo>
                  <a:pt x="245046" y="456565"/>
                </a:lnTo>
                <a:close/>
              </a:path>
              <a:path w="265430" h="1074420">
                <a:moveTo>
                  <a:pt x="265176" y="449707"/>
                </a:moveTo>
                <a:lnTo>
                  <a:pt x="264591" y="450430"/>
                </a:lnTo>
                <a:lnTo>
                  <a:pt x="138430" y="412115"/>
                </a:lnTo>
                <a:lnTo>
                  <a:pt x="138264" y="443826"/>
                </a:lnTo>
                <a:lnTo>
                  <a:pt x="5842" y="443357"/>
                </a:lnTo>
                <a:lnTo>
                  <a:pt x="5842" y="456057"/>
                </a:lnTo>
                <a:lnTo>
                  <a:pt x="138201" y="456526"/>
                </a:lnTo>
                <a:lnTo>
                  <a:pt x="150876" y="456565"/>
                </a:lnTo>
                <a:lnTo>
                  <a:pt x="245198" y="456526"/>
                </a:lnTo>
                <a:lnTo>
                  <a:pt x="264210" y="450888"/>
                </a:lnTo>
                <a:lnTo>
                  <a:pt x="181229" y="552323"/>
                </a:lnTo>
                <a:lnTo>
                  <a:pt x="210477" y="564476"/>
                </a:lnTo>
                <a:lnTo>
                  <a:pt x="0" y="1069467"/>
                </a:lnTo>
                <a:lnTo>
                  <a:pt x="11684" y="1074293"/>
                </a:lnTo>
                <a:lnTo>
                  <a:pt x="222199" y="569341"/>
                </a:lnTo>
                <a:lnTo>
                  <a:pt x="251587" y="581533"/>
                </a:lnTo>
                <a:lnTo>
                  <a:pt x="254546" y="552704"/>
                </a:lnTo>
                <a:lnTo>
                  <a:pt x="265074" y="450634"/>
                </a:lnTo>
                <a:lnTo>
                  <a:pt x="265176" y="449707"/>
                </a:lnTo>
                <a:close/>
              </a:path>
              <a:path w="265430" h="1074420">
                <a:moveTo>
                  <a:pt x="265176" y="449453"/>
                </a:moveTo>
                <a:lnTo>
                  <a:pt x="242303" y="353822"/>
                </a:lnTo>
                <a:lnTo>
                  <a:pt x="234315" y="320421"/>
                </a:lnTo>
                <a:lnTo>
                  <a:pt x="206819" y="336448"/>
                </a:lnTo>
                <a:lnTo>
                  <a:pt x="11303" y="0"/>
                </a:lnTo>
                <a:lnTo>
                  <a:pt x="381" y="6350"/>
                </a:lnTo>
                <a:lnTo>
                  <a:pt x="195910" y="342811"/>
                </a:lnTo>
                <a:lnTo>
                  <a:pt x="168529" y="358775"/>
                </a:lnTo>
                <a:lnTo>
                  <a:pt x="265176" y="449453"/>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37" name="object 16"/>
          <p:cNvSpPr/>
          <p:nvPr/>
        </p:nvSpPr>
        <p:spPr>
          <a:xfrm>
            <a:off x="3835019" y="4201667"/>
            <a:ext cx="390525" cy="1068705"/>
          </a:xfrm>
          <a:custGeom>
            <a:avLst/>
            <a:gdLst/>
            <a:ahLst/>
            <a:cxnLst/>
            <a:rect l="l" t="t" r="r" b="b"/>
            <a:pathLst>
              <a:path w="390525" h="1068704">
                <a:moveTo>
                  <a:pt x="390144" y="0"/>
                </a:moveTo>
                <a:lnTo>
                  <a:pt x="278384" y="71374"/>
                </a:lnTo>
                <a:lnTo>
                  <a:pt x="302425" y="92100"/>
                </a:lnTo>
                <a:lnTo>
                  <a:pt x="635" y="442087"/>
                </a:lnTo>
                <a:lnTo>
                  <a:pt x="5461" y="446214"/>
                </a:lnTo>
                <a:lnTo>
                  <a:pt x="5461" y="446532"/>
                </a:lnTo>
                <a:lnTo>
                  <a:pt x="0" y="449834"/>
                </a:lnTo>
                <a:lnTo>
                  <a:pt x="317919" y="964044"/>
                </a:lnTo>
                <a:lnTo>
                  <a:pt x="290957" y="980694"/>
                </a:lnTo>
                <a:lnTo>
                  <a:pt x="390144" y="1068705"/>
                </a:lnTo>
                <a:lnTo>
                  <a:pt x="364909" y="974852"/>
                </a:lnTo>
                <a:lnTo>
                  <a:pt x="355727" y="940689"/>
                </a:lnTo>
                <a:lnTo>
                  <a:pt x="328739" y="957364"/>
                </a:lnTo>
                <a:lnTo>
                  <a:pt x="17411" y="453745"/>
                </a:lnTo>
                <a:lnTo>
                  <a:pt x="263156" y="453174"/>
                </a:lnTo>
                <a:lnTo>
                  <a:pt x="263271" y="484886"/>
                </a:lnTo>
                <a:lnTo>
                  <a:pt x="390144" y="446532"/>
                </a:lnTo>
                <a:lnTo>
                  <a:pt x="369658" y="440436"/>
                </a:lnTo>
                <a:lnTo>
                  <a:pt x="263017" y="408686"/>
                </a:lnTo>
                <a:lnTo>
                  <a:pt x="263118" y="440474"/>
                </a:lnTo>
                <a:lnTo>
                  <a:pt x="18300" y="441045"/>
                </a:lnTo>
                <a:lnTo>
                  <a:pt x="311975" y="100317"/>
                </a:lnTo>
                <a:lnTo>
                  <a:pt x="336042" y="121031"/>
                </a:lnTo>
                <a:lnTo>
                  <a:pt x="353288" y="82423"/>
                </a:lnTo>
                <a:lnTo>
                  <a:pt x="390144"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a:t>
            </a:fld>
            <a:endParaRPr lang="en-US" dirty="0"/>
          </a:p>
        </p:txBody>
      </p:sp>
      <p:sp>
        <p:nvSpPr>
          <p:cNvPr id="8"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More</a:t>
            </a:r>
            <a:r>
              <a:rPr kumimoji="0" lang="en-US" sz="4000" b="1" i="0" u="none" strike="noStrike" kern="0" cap="none" spc="-4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on</a:t>
            </a:r>
            <a:r>
              <a:rPr kumimoji="0" lang="en-US" sz="4000" b="1" i="0" u="none" strike="noStrike" kern="0" cap="none" spc="-50"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25" normalizeH="0" baseline="0" noProof="0">
                <a:ln>
                  <a:noFill/>
                </a:ln>
                <a:solidFill>
                  <a:srgbClr val="000000"/>
                </a:solidFill>
                <a:effectLst/>
                <a:uLnTx/>
                <a:uFillTx/>
                <a:latin typeface="Palatino Linotype" panose="02040502050505030304"/>
                <a:ea typeface="+mj-ea"/>
              </a:rPr>
              <a:t>IR</a:t>
            </a:r>
            <a:endParaRPr kumimoji="0" lang="en-US" sz="4000" b="1" i="0" u="none" strike="noStrike" kern="0" cap="none" spc="-25" normalizeH="0" baseline="0" noProof="0" dirty="0">
              <a:ln>
                <a:noFill/>
              </a:ln>
              <a:solidFill>
                <a:srgbClr val="000000"/>
              </a:solidFill>
              <a:effectLst/>
              <a:uLnTx/>
              <a:uFillTx/>
              <a:latin typeface="Palatino Linotype" panose="02040502050505030304"/>
              <a:ea typeface="+mj-ea"/>
            </a:endParaRPr>
          </a:p>
        </p:txBody>
      </p:sp>
      <p:sp>
        <p:nvSpPr>
          <p:cNvPr id="9" name="object 3"/>
          <p:cNvSpPr txBox="1"/>
          <p:nvPr/>
        </p:nvSpPr>
        <p:spPr>
          <a:xfrm>
            <a:off x="707542" y="2652191"/>
            <a:ext cx="7710170" cy="3017520"/>
          </a:xfrm>
          <a:prstGeom prst="rect">
            <a:avLst/>
          </a:prstGeom>
        </p:spPr>
        <p:txBody>
          <a:bodyPr vert="horz" wrap="square" lIns="0" tIns="166370" rIns="0" bIns="0" rtlCol="0">
            <a:spAutoFit/>
          </a:bodyPr>
          <a:lstStyle/>
          <a:p>
            <a:pPr marL="242570" indent="-229870">
              <a:spcBef>
                <a:spcPts val="1310"/>
              </a:spcBef>
              <a:buFont typeface="Arial MT"/>
              <a:buChar char="•"/>
              <a:tabLst>
                <a:tab pos="242570" algn="l"/>
              </a:tabLst>
            </a:pPr>
            <a:r>
              <a:rPr dirty="0">
                <a:solidFill>
                  <a:sysClr val="windowText" lastClr="000000"/>
                </a:solidFill>
                <a:latin typeface="Palatino Linotype" panose="02040502050505030304"/>
                <a:cs typeface="Palatino Linotype" panose="02040502050505030304"/>
              </a:rPr>
              <a:t>A</a:t>
            </a:r>
            <a:r>
              <a:rPr spc="-114"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compiler</a:t>
            </a:r>
            <a:r>
              <a:rPr spc="-5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may</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construct</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sequence</a:t>
            </a:r>
            <a:r>
              <a:rPr spc="-3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of</a:t>
            </a:r>
            <a:r>
              <a:rPr spc="-35" dirty="0">
                <a:solidFill>
                  <a:sysClr val="windowText" lastClr="000000"/>
                </a:solidFill>
                <a:latin typeface="Palatino Linotype" panose="02040502050505030304"/>
                <a:cs typeface="Palatino Linotype" panose="02040502050505030304"/>
              </a:rPr>
              <a:t> </a:t>
            </a:r>
            <a:r>
              <a:rPr spc="-20" dirty="0">
                <a:solidFill>
                  <a:sysClr val="windowText" lastClr="000000"/>
                </a:solidFill>
                <a:latin typeface="Palatino Linotype" panose="02040502050505030304"/>
                <a:cs typeface="Palatino Linotype" panose="02040502050505030304"/>
              </a:rPr>
              <a:t>IR’s</a:t>
            </a:r>
            <a:endParaRPr dirty="0">
              <a:solidFill>
                <a:sysClr val="windowText" lastClr="000000"/>
              </a:solidFill>
              <a:latin typeface="Palatino Linotype" panose="02040502050505030304"/>
              <a:cs typeface="Palatino Linotype" panose="02040502050505030304"/>
            </a:endParaRPr>
          </a:p>
          <a:p>
            <a:pPr marL="697865" marR="130810" lvl="1" indent="-228600">
              <a:lnSpc>
                <a:spcPct val="120000"/>
              </a:lnSpc>
              <a:spcBef>
                <a:spcPts val="645"/>
              </a:spcBef>
              <a:buClr>
                <a:srgbClr val="000000"/>
              </a:buClr>
              <a:buFont typeface="Wingdings" panose="05000000000000000000"/>
              <a:buChar char=""/>
              <a:tabLst>
                <a:tab pos="697865" algn="l"/>
              </a:tabLst>
            </a:pPr>
            <a:r>
              <a:rPr sz="1500" spc="-10" dirty="0">
                <a:solidFill>
                  <a:srgbClr val="FF0000"/>
                </a:solidFill>
                <a:latin typeface="Palatino Linotype" panose="02040502050505030304"/>
                <a:cs typeface="Palatino Linotype" panose="02040502050505030304"/>
              </a:rPr>
              <a:t>High-</a:t>
            </a:r>
            <a:r>
              <a:rPr sz="1500" dirty="0">
                <a:solidFill>
                  <a:srgbClr val="FF0000"/>
                </a:solidFill>
                <a:latin typeface="Palatino Linotype" panose="02040502050505030304"/>
                <a:cs typeface="Palatino Linotype" panose="02040502050505030304"/>
              </a:rPr>
              <a:t>level</a:t>
            </a:r>
            <a:r>
              <a:rPr sz="1500" spc="-35" dirty="0">
                <a:solidFill>
                  <a:srgbClr val="FF0000"/>
                </a:solidFill>
                <a:latin typeface="Palatino Linotype" panose="02040502050505030304"/>
                <a:cs typeface="Palatino Linotype" panose="02040502050505030304"/>
              </a:rPr>
              <a:t> </a:t>
            </a:r>
            <a:r>
              <a:rPr sz="1500" spc="-30" dirty="0">
                <a:solidFill>
                  <a:srgbClr val="FF0000"/>
                </a:solidFill>
                <a:latin typeface="Palatino Linotype" panose="02040502050505030304"/>
                <a:cs typeface="Palatino Linotype" panose="02040502050505030304"/>
              </a:rPr>
              <a:t>IR’s</a:t>
            </a:r>
            <a:r>
              <a:rPr sz="1500" spc="-40" dirty="0">
                <a:solidFill>
                  <a:srgbClr val="FF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like</a:t>
            </a:r>
            <a:r>
              <a:rPr sz="1500" spc="-25"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syntax</a:t>
            </a:r>
            <a:r>
              <a:rPr sz="1500" spc="-35"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trees</a:t>
            </a:r>
            <a:r>
              <a:rPr sz="1500" spc="-40"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are</a:t>
            </a:r>
            <a:r>
              <a:rPr sz="1500" spc="-40"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close</a:t>
            </a:r>
            <a:r>
              <a:rPr sz="1500" spc="-20"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to</a:t>
            </a:r>
            <a:r>
              <a:rPr sz="1500" spc="-20"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the</a:t>
            </a:r>
            <a:r>
              <a:rPr sz="1500" spc="-35"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source</a:t>
            </a:r>
            <a:r>
              <a:rPr sz="1500" spc="-20"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language.</a:t>
            </a:r>
            <a:r>
              <a:rPr sz="1500" spc="-55"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They</a:t>
            </a:r>
            <a:r>
              <a:rPr sz="1500" spc="-25"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depict</a:t>
            </a:r>
            <a:r>
              <a:rPr sz="1500" spc="-25" dirty="0">
                <a:solidFill>
                  <a:sysClr val="windowText" lastClr="000000"/>
                </a:solidFill>
                <a:latin typeface="Palatino Linotype" panose="02040502050505030304"/>
                <a:cs typeface="Palatino Linotype" panose="02040502050505030304"/>
              </a:rPr>
              <a:t> the </a:t>
            </a:r>
            <a:r>
              <a:rPr sz="1500" dirty="0">
                <a:solidFill>
                  <a:sysClr val="windowText" lastClr="000000"/>
                </a:solidFill>
                <a:latin typeface="Palatino Linotype" panose="02040502050505030304"/>
                <a:cs typeface="Palatino Linotype" panose="02040502050505030304"/>
              </a:rPr>
              <a:t>structure</a:t>
            </a:r>
            <a:r>
              <a:rPr sz="1500" spc="-40"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of</a:t>
            </a:r>
            <a:r>
              <a:rPr sz="1500" spc="-15"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the</a:t>
            </a:r>
            <a:r>
              <a:rPr sz="1500" spc="-35"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source</a:t>
            </a:r>
            <a:r>
              <a:rPr sz="1500" spc="-15"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program</a:t>
            </a:r>
            <a:r>
              <a:rPr sz="1500" spc="-35"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and</a:t>
            </a:r>
            <a:r>
              <a:rPr sz="1500" spc="-25"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are</a:t>
            </a:r>
            <a:r>
              <a:rPr sz="1500" spc="-35"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suitable</a:t>
            </a:r>
            <a:r>
              <a:rPr sz="1500" spc="-20"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for</a:t>
            </a:r>
            <a:r>
              <a:rPr sz="1500" spc="-25"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tasks</a:t>
            </a:r>
            <a:r>
              <a:rPr sz="1500" spc="-25"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like</a:t>
            </a:r>
            <a:r>
              <a:rPr sz="1500" spc="-20"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static</a:t>
            </a:r>
            <a:r>
              <a:rPr sz="1500" spc="-30"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type</a:t>
            </a:r>
            <a:r>
              <a:rPr sz="1500" spc="-35" dirty="0">
                <a:solidFill>
                  <a:sysClr val="windowText" lastClr="000000"/>
                </a:solidFill>
                <a:latin typeface="Palatino Linotype" panose="02040502050505030304"/>
                <a:cs typeface="Palatino Linotype" panose="02040502050505030304"/>
              </a:rPr>
              <a:t> </a:t>
            </a:r>
            <a:r>
              <a:rPr sz="1500" spc="-10" dirty="0">
                <a:solidFill>
                  <a:sysClr val="windowText" lastClr="000000"/>
                </a:solidFill>
                <a:latin typeface="Palatino Linotype" panose="02040502050505030304"/>
                <a:cs typeface="Palatino Linotype" panose="02040502050505030304"/>
              </a:rPr>
              <a:t>checking</a:t>
            </a:r>
            <a:endParaRPr sz="1500" dirty="0">
              <a:solidFill>
                <a:sysClr val="windowText" lastClr="000000"/>
              </a:solidFill>
              <a:latin typeface="Palatino Linotype" panose="02040502050505030304"/>
              <a:cs typeface="Palatino Linotype" panose="02040502050505030304"/>
            </a:endParaRPr>
          </a:p>
          <a:p>
            <a:pPr marL="697865" marR="629285" lvl="1" indent="-228600">
              <a:lnSpc>
                <a:spcPct val="120000"/>
              </a:lnSpc>
              <a:spcBef>
                <a:spcPts val="605"/>
              </a:spcBef>
              <a:buClr>
                <a:srgbClr val="000000"/>
              </a:buClr>
              <a:buFont typeface="Wingdings" panose="05000000000000000000"/>
              <a:buChar char=""/>
              <a:tabLst>
                <a:tab pos="697865" algn="l"/>
              </a:tabLst>
            </a:pPr>
            <a:r>
              <a:rPr sz="1500" spc="-10" dirty="0">
                <a:solidFill>
                  <a:srgbClr val="FF0000"/>
                </a:solidFill>
                <a:latin typeface="Palatino Linotype" panose="02040502050505030304"/>
                <a:cs typeface="Palatino Linotype" panose="02040502050505030304"/>
              </a:rPr>
              <a:t>Low-</a:t>
            </a:r>
            <a:r>
              <a:rPr sz="1500" dirty="0">
                <a:solidFill>
                  <a:srgbClr val="FF0000"/>
                </a:solidFill>
                <a:latin typeface="Palatino Linotype" panose="02040502050505030304"/>
                <a:cs typeface="Palatino Linotype" panose="02040502050505030304"/>
              </a:rPr>
              <a:t>level</a:t>
            </a:r>
            <a:r>
              <a:rPr sz="1500" spc="-30" dirty="0">
                <a:solidFill>
                  <a:srgbClr val="FF0000"/>
                </a:solidFill>
                <a:latin typeface="Palatino Linotype" panose="02040502050505030304"/>
                <a:cs typeface="Palatino Linotype" panose="02040502050505030304"/>
              </a:rPr>
              <a:t> </a:t>
            </a:r>
            <a:r>
              <a:rPr sz="1500" spc="-35" dirty="0">
                <a:solidFill>
                  <a:srgbClr val="FF0000"/>
                </a:solidFill>
                <a:latin typeface="Palatino Linotype" panose="02040502050505030304"/>
                <a:cs typeface="Palatino Linotype" panose="02040502050505030304"/>
              </a:rPr>
              <a:t>IR’s</a:t>
            </a:r>
            <a:r>
              <a:rPr sz="1500" spc="-30" dirty="0">
                <a:solidFill>
                  <a:srgbClr val="FF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are</a:t>
            </a:r>
            <a:r>
              <a:rPr sz="1500" spc="-30"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close</a:t>
            </a:r>
            <a:r>
              <a:rPr sz="1500" spc="-20"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to</a:t>
            </a:r>
            <a:r>
              <a:rPr sz="1500" spc="-20"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the</a:t>
            </a:r>
            <a:r>
              <a:rPr sz="1500" spc="-20"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target</a:t>
            </a:r>
            <a:r>
              <a:rPr sz="1500" spc="-45"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machines</a:t>
            </a:r>
            <a:r>
              <a:rPr sz="1500" spc="-20"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and</a:t>
            </a:r>
            <a:r>
              <a:rPr sz="1500" spc="-25"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are</a:t>
            </a:r>
            <a:r>
              <a:rPr sz="1500" spc="-35"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suitable</a:t>
            </a:r>
            <a:r>
              <a:rPr sz="1500" spc="-35"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for</a:t>
            </a:r>
            <a:r>
              <a:rPr sz="1500" spc="-20" dirty="0">
                <a:solidFill>
                  <a:sysClr val="windowText" lastClr="000000"/>
                </a:solidFill>
                <a:latin typeface="Palatino Linotype" panose="02040502050505030304"/>
                <a:cs typeface="Palatino Linotype" panose="02040502050505030304"/>
              </a:rPr>
              <a:t> </a:t>
            </a:r>
            <a:r>
              <a:rPr sz="1500" spc="-10" dirty="0">
                <a:solidFill>
                  <a:sysClr val="windowText" lastClr="000000"/>
                </a:solidFill>
                <a:latin typeface="Palatino Linotype" panose="02040502050505030304"/>
                <a:cs typeface="Palatino Linotype" panose="02040502050505030304"/>
              </a:rPr>
              <a:t>machine- </a:t>
            </a:r>
            <a:r>
              <a:rPr sz="1500" dirty="0">
                <a:solidFill>
                  <a:sysClr val="windowText" lastClr="000000"/>
                </a:solidFill>
                <a:latin typeface="Palatino Linotype" panose="02040502050505030304"/>
                <a:cs typeface="Palatino Linotype" panose="02040502050505030304"/>
              </a:rPr>
              <a:t>dependent</a:t>
            </a:r>
            <a:r>
              <a:rPr sz="1500" spc="-60"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tasks</a:t>
            </a:r>
            <a:r>
              <a:rPr sz="1500" spc="-50"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like</a:t>
            </a:r>
            <a:r>
              <a:rPr sz="1500" spc="-30"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register</a:t>
            </a:r>
            <a:r>
              <a:rPr sz="1500" spc="-50"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allocation</a:t>
            </a:r>
            <a:r>
              <a:rPr sz="1500" spc="-25"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and</a:t>
            </a:r>
            <a:r>
              <a:rPr sz="1500" spc="-40" dirty="0">
                <a:solidFill>
                  <a:sysClr val="windowText" lastClr="000000"/>
                </a:solidFill>
                <a:latin typeface="Palatino Linotype" panose="02040502050505030304"/>
                <a:cs typeface="Palatino Linotype" panose="02040502050505030304"/>
              </a:rPr>
              <a:t> </a:t>
            </a:r>
            <a:r>
              <a:rPr sz="1500" dirty="0">
                <a:solidFill>
                  <a:sysClr val="windowText" lastClr="000000"/>
                </a:solidFill>
                <a:latin typeface="Palatino Linotype" panose="02040502050505030304"/>
                <a:cs typeface="Palatino Linotype" panose="02040502050505030304"/>
              </a:rPr>
              <a:t>instruction</a:t>
            </a:r>
            <a:r>
              <a:rPr sz="1500" spc="-25" dirty="0">
                <a:solidFill>
                  <a:sysClr val="windowText" lastClr="000000"/>
                </a:solidFill>
                <a:latin typeface="Palatino Linotype" panose="02040502050505030304"/>
                <a:cs typeface="Palatino Linotype" panose="02040502050505030304"/>
              </a:rPr>
              <a:t> </a:t>
            </a:r>
            <a:r>
              <a:rPr sz="1500" spc="-10" dirty="0">
                <a:solidFill>
                  <a:sysClr val="windowText" lastClr="000000"/>
                </a:solidFill>
                <a:latin typeface="Palatino Linotype" panose="02040502050505030304"/>
                <a:cs typeface="Palatino Linotype" panose="02040502050505030304"/>
              </a:rPr>
              <a:t>selection</a:t>
            </a:r>
            <a:endParaRPr sz="1500" dirty="0">
              <a:solidFill>
                <a:sysClr val="windowText" lastClr="000000"/>
              </a:solidFill>
              <a:latin typeface="Palatino Linotype" panose="02040502050505030304"/>
              <a:cs typeface="Palatino Linotype" panose="02040502050505030304"/>
            </a:endParaRPr>
          </a:p>
          <a:p>
            <a:pPr marL="697865" lvl="1" indent="-227965">
              <a:spcBef>
                <a:spcPts val="960"/>
              </a:spcBef>
              <a:buClr>
                <a:srgbClr val="000000"/>
              </a:buClr>
              <a:buFont typeface="Wingdings" panose="05000000000000000000"/>
              <a:buChar char=""/>
              <a:tabLst>
                <a:tab pos="697865" algn="l"/>
              </a:tabLst>
            </a:pPr>
            <a:r>
              <a:rPr sz="1500" spc="-10" dirty="0">
                <a:solidFill>
                  <a:schemeClr val="bg2">
                    <a:lumMod val="50000"/>
                  </a:schemeClr>
                </a:solidFill>
                <a:latin typeface="Palatino Linotype" panose="02040502050505030304"/>
                <a:cs typeface="Palatino Linotype" panose="02040502050505030304"/>
              </a:rPr>
              <a:t>Three-</a:t>
            </a:r>
            <a:r>
              <a:rPr sz="1500" dirty="0">
                <a:solidFill>
                  <a:schemeClr val="bg2">
                    <a:lumMod val="50000"/>
                  </a:schemeClr>
                </a:solidFill>
                <a:latin typeface="Palatino Linotype" panose="02040502050505030304"/>
                <a:cs typeface="Palatino Linotype" panose="02040502050505030304"/>
              </a:rPr>
              <a:t>address</a:t>
            </a:r>
            <a:r>
              <a:rPr sz="1500" spc="-45" dirty="0">
                <a:solidFill>
                  <a:schemeClr val="bg2">
                    <a:lumMod val="50000"/>
                  </a:schemeClr>
                </a:solidFill>
                <a:latin typeface="Palatino Linotype" panose="02040502050505030304"/>
                <a:cs typeface="Palatino Linotype" panose="02040502050505030304"/>
              </a:rPr>
              <a:t> </a:t>
            </a:r>
            <a:r>
              <a:rPr sz="1500" dirty="0">
                <a:solidFill>
                  <a:schemeClr val="bg2">
                    <a:lumMod val="50000"/>
                  </a:schemeClr>
                </a:solidFill>
                <a:latin typeface="Palatino Linotype" panose="02040502050505030304"/>
                <a:cs typeface="Palatino Linotype" panose="02040502050505030304"/>
              </a:rPr>
              <a:t>code</a:t>
            </a:r>
            <a:r>
              <a:rPr sz="1500" spc="-15" dirty="0">
                <a:solidFill>
                  <a:schemeClr val="bg2">
                    <a:lumMod val="50000"/>
                  </a:schemeClr>
                </a:solidFill>
                <a:latin typeface="Palatino Linotype" panose="02040502050505030304"/>
                <a:cs typeface="Palatino Linotype" panose="02040502050505030304"/>
              </a:rPr>
              <a:t> </a:t>
            </a:r>
            <a:r>
              <a:rPr sz="1500" dirty="0">
                <a:solidFill>
                  <a:schemeClr val="bg2">
                    <a:lumMod val="50000"/>
                  </a:schemeClr>
                </a:solidFill>
                <a:latin typeface="Palatino Linotype" panose="02040502050505030304"/>
                <a:cs typeface="Palatino Linotype" panose="02040502050505030304"/>
              </a:rPr>
              <a:t>can</a:t>
            </a:r>
            <a:r>
              <a:rPr sz="1500" spc="-20" dirty="0">
                <a:solidFill>
                  <a:schemeClr val="bg2">
                    <a:lumMod val="50000"/>
                  </a:schemeClr>
                </a:solidFill>
                <a:latin typeface="Palatino Linotype" panose="02040502050505030304"/>
                <a:cs typeface="Palatino Linotype" panose="02040502050505030304"/>
              </a:rPr>
              <a:t> </a:t>
            </a:r>
            <a:r>
              <a:rPr sz="1500" dirty="0">
                <a:solidFill>
                  <a:schemeClr val="bg2">
                    <a:lumMod val="50000"/>
                  </a:schemeClr>
                </a:solidFill>
                <a:latin typeface="Palatino Linotype" panose="02040502050505030304"/>
                <a:cs typeface="Palatino Linotype" panose="02040502050505030304"/>
              </a:rPr>
              <a:t>be</a:t>
            </a:r>
            <a:r>
              <a:rPr sz="1500" spc="-15" dirty="0">
                <a:solidFill>
                  <a:schemeClr val="bg2">
                    <a:lumMod val="50000"/>
                  </a:schemeClr>
                </a:solidFill>
                <a:latin typeface="Palatino Linotype" panose="02040502050505030304"/>
                <a:cs typeface="Palatino Linotype" panose="02040502050505030304"/>
              </a:rPr>
              <a:t> </a:t>
            </a:r>
            <a:r>
              <a:rPr sz="1500" dirty="0">
                <a:solidFill>
                  <a:schemeClr val="bg2">
                    <a:lumMod val="50000"/>
                  </a:schemeClr>
                </a:solidFill>
                <a:latin typeface="Palatino Linotype" panose="02040502050505030304"/>
                <a:cs typeface="Palatino Linotype" panose="02040502050505030304"/>
              </a:rPr>
              <a:t>high-</a:t>
            </a:r>
            <a:r>
              <a:rPr sz="1500" spc="-15" dirty="0">
                <a:solidFill>
                  <a:schemeClr val="bg2">
                    <a:lumMod val="50000"/>
                  </a:schemeClr>
                </a:solidFill>
                <a:latin typeface="Palatino Linotype" panose="02040502050505030304"/>
                <a:cs typeface="Palatino Linotype" panose="02040502050505030304"/>
              </a:rPr>
              <a:t> </a:t>
            </a:r>
            <a:r>
              <a:rPr sz="1500" dirty="0">
                <a:solidFill>
                  <a:schemeClr val="bg2">
                    <a:lumMod val="50000"/>
                  </a:schemeClr>
                </a:solidFill>
                <a:latin typeface="Palatino Linotype" panose="02040502050505030304"/>
                <a:cs typeface="Palatino Linotype" panose="02040502050505030304"/>
              </a:rPr>
              <a:t>or</a:t>
            </a:r>
            <a:r>
              <a:rPr sz="1500" spc="-15" dirty="0">
                <a:solidFill>
                  <a:schemeClr val="bg2">
                    <a:lumMod val="50000"/>
                  </a:schemeClr>
                </a:solidFill>
                <a:latin typeface="Palatino Linotype" panose="02040502050505030304"/>
                <a:cs typeface="Palatino Linotype" panose="02040502050505030304"/>
              </a:rPr>
              <a:t> </a:t>
            </a:r>
            <a:r>
              <a:rPr sz="1500" spc="-20" dirty="0">
                <a:solidFill>
                  <a:schemeClr val="bg2">
                    <a:lumMod val="50000"/>
                  </a:schemeClr>
                </a:solidFill>
                <a:latin typeface="Palatino Linotype" panose="02040502050505030304"/>
                <a:cs typeface="Palatino Linotype" panose="02040502050505030304"/>
              </a:rPr>
              <a:t>low-</a:t>
            </a:r>
            <a:r>
              <a:rPr sz="1500" dirty="0">
                <a:solidFill>
                  <a:schemeClr val="bg2">
                    <a:lumMod val="50000"/>
                  </a:schemeClr>
                </a:solidFill>
                <a:latin typeface="Palatino Linotype" panose="02040502050505030304"/>
                <a:cs typeface="Palatino Linotype" panose="02040502050505030304"/>
              </a:rPr>
              <a:t>level,</a:t>
            </a:r>
            <a:r>
              <a:rPr sz="1500" spc="-15" dirty="0">
                <a:solidFill>
                  <a:schemeClr val="bg2">
                    <a:lumMod val="50000"/>
                  </a:schemeClr>
                </a:solidFill>
                <a:latin typeface="Palatino Linotype" panose="02040502050505030304"/>
                <a:cs typeface="Palatino Linotype" panose="02040502050505030304"/>
              </a:rPr>
              <a:t> </a:t>
            </a:r>
            <a:r>
              <a:rPr sz="1500" dirty="0">
                <a:solidFill>
                  <a:schemeClr val="bg2">
                    <a:lumMod val="50000"/>
                  </a:schemeClr>
                </a:solidFill>
                <a:latin typeface="Palatino Linotype" panose="02040502050505030304"/>
                <a:cs typeface="Palatino Linotype" panose="02040502050505030304"/>
              </a:rPr>
              <a:t>depending</a:t>
            </a:r>
            <a:r>
              <a:rPr sz="1500" spc="-25" dirty="0">
                <a:solidFill>
                  <a:schemeClr val="bg2">
                    <a:lumMod val="50000"/>
                  </a:schemeClr>
                </a:solidFill>
                <a:latin typeface="Palatino Linotype" panose="02040502050505030304"/>
                <a:cs typeface="Palatino Linotype" panose="02040502050505030304"/>
              </a:rPr>
              <a:t> </a:t>
            </a:r>
            <a:r>
              <a:rPr sz="1500" dirty="0">
                <a:solidFill>
                  <a:schemeClr val="bg2">
                    <a:lumMod val="50000"/>
                  </a:schemeClr>
                </a:solidFill>
                <a:latin typeface="Palatino Linotype" panose="02040502050505030304"/>
                <a:cs typeface="Palatino Linotype" panose="02040502050505030304"/>
              </a:rPr>
              <a:t>on</a:t>
            </a:r>
            <a:r>
              <a:rPr sz="1500" spc="-10" dirty="0">
                <a:solidFill>
                  <a:schemeClr val="bg2">
                    <a:lumMod val="50000"/>
                  </a:schemeClr>
                </a:solidFill>
                <a:latin typeface="Palatino Linotype" panose="02040502050505030304"/>
                <a:cs typeface="Palatino Linotype" panose="02040502050505030304"/>
              </a:rPr>
              <a:t> </a:t>
            </a:r>
            <a:r>
              <a:rPr sz="1500" dirty="0">
                <a:solidFill>
                  <a:schemeClr val="bg2">
                    <a:lumMod val="50000"/>
                  </a:schemeClr>
                </a:solidFill>
                <a:latin typeface="Palatino Linotype" panose="02040502050505030304"/>
                <a:cs typeface="Palatino Linotype" panose="02040502050505030304"/>
              </a:rPr>
              <a:t>the</a:t>
            </a:r>
            <a:r>
              <a:rPr sz="1500" spc="-30" dirty="0">
                <a:solidFill>
                  <a:schemeClr val="bg2">
                    <a:lumMod val="50000"/>
                  </a:schemeClr>
                </a:solidFill>
                <a:latin typeface="Palatino Linotype" panose="02040502050505030304"/>
                <a:cs typeface="Palatino Linotype" panose="02040502050505030304"/>
              </a:rPr>
              <a:t> </a:t>
            </a:r>
            <a:r>
              <a:rPr sz="1500" dirty="0">
                <a:solidFill>
                  <a:schemeClr val="bg2">
                    <a:lumMod val="50000"/>
                  </a:schemeClr>
                </a:solidFill>
                <a:latin typeface="Palatino Linotype" panose="02040502050505030304"/>
                <a:cs typeface="Palatino Linotype" panose="02040502050505030304"/>
              </a:rPr>
              <a:t>choice</a:t>
            </a:r>
            <a:r>
              <a:rPr sz="1500" spc="-15" dirty="0">
                <a:solidFill>
                  <a:schemeClr val="bg2">
                    <a:lumMod val="50000"/>
                  </a:schemeClr>
                </a:solidFill>
                <a:latin typeface="Palatino Linotype" panose="02040502050505030304"/>
                <a:cs typeface="Palatino Linotype" panose="02040502050505030304"/>
              </a:rPr>
              <a:t> </a:t>
            </a:r>
            <a:r>
              <a:rPr sz="1500" dirty="0">
                <a:solidFill>
                  <a:schemeClr val="bg2">
                    <a:lumMod val="50000"/>
                  </a:schemeClr>
                </a:solidFill>
                <a:latin typeface="Palatino Linotype" panose="02040502050505030304"/>
                <a:cs typeface="Palatino Linotype" panose="02040502050505030304"/>
              </a:rPr>
              <a:t>of</a:t>
            </a:r>
            <a:r>
              <a:rPr sz="1500" spc="-10" dirty="0">
                <a:solidFill>
                  <a:schemeClr val="bg2">
                    <a:lumMod val="50000"/>
                  </a:schemeClr>
                </a:solidFill>
                <a:latin typeface="Palatino Linotype" panose="02040502050505030304"/>
                <a:cs typeface="Palatino Linotype" panose="02040502050505030304"/>
              </a:rPr>
              <a:t> operators</a:t>
            </a:r>
            <a:endParaRPr sz="1500" dirty="0">
              <a:solidFill>
                <a:schemeClr val="bg2">
                  <a:lumMod val="50000"/>
                </a:schemeClr>
              </a:solidFill>
              <a:latin typeface="Palatino Linotype" panose="02040502050505030304"/>
              <a:cs typeface="Palatino Linotype" panose="02040502050505030304"/>
            </a:endParaRPr>
          </a:p>
          <a:p>
            <a:pPr marL="0" lvl="1">
              <a:spcBef>
                <a:spcPts val="330"/>
              </a:spcBef>
              <a:buFont typeface="Wingdings" panose="05000000000000000000"/>
              <a:buChar char=""/>
            </a:pPr>
            <a:endParaRPr sz="1500" dirty="0">
              <a:solidFill>
                <a:sysClr val="windowText" lastClr="000000"/>
              </a:solidFill>
              <a:latin typeface="Palatino Linotype" panose="02040502050505030304"/>
              <a:cs typeface="Palatino Linotype" panose="02040502050505030304"/>
            </a:endParaRPr>
          </a:p>
          <a:p>
            <a:pPr marL="242570" marR="155575" indent="-230505">
              <a:lnSpc>
                <a:spcPct val="120000"/>
              </a:lnSpc>
              <a:buClr>
                <a:srgbClr val="000000"/>
              </a:buClr>
              <a:buFont typeface="Arial MT"/>
              <a:buChar char="•"/>
              <a:tabLst>
                <a:tab pos="242570" algn="l"/>
              </a:tabLst>
            </a:pPr>
            <a:r>
              <a:rPr dirty="0">
                <a:solidFill>
                  <a:srgbClr val="FF0000"/>
                </a:solidFill>
                <a:latin typeface="Palatino Linotype" panose="02040502050505030304"/>
                <a:cs typeface="Palatino Linotype" panose="02040502050505030304"/>
              </a:rPr>
              <a:t>Interesting</a:t>
            </a:r>
            <a:r>
              <a:rPr spc="-50"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fact:</a:t>
            </a:r>
            <a:r>
              <a:rPr spc="-30" dirty="0">
                <a:solidFill>
                  <a:srgbClr val="FF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C</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is</a:t>
            </a:r>
            <a:r>
              <a:rPr spc="-5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often</a:t>
            </a:r>
            <a:r>
              <a:rPr spc="-2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used</a:t>
            </a:r>
            <a:r>
              <a:rPr spc="-4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as</a:t>
            </a:r>
            <a:r>
              <a:rPr spc="-3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an</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intermediate</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form.</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The</a:t>
            </a:r>
            <a:r>
              <a:rPr spc="-3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first</a:t>
            </a:r>
            <a:r>
              <a:rPr spc="-45" dirty="0">
                <a:solidFill>
                  <a:sysClr val="windowText" lastClr="000000"/>
                </a:solidFill>
                <a:latin typeface="Palatino Linotype" panose="02040502050505030304"/>
                <a:cs typeface="Palatino Linotype" panose="02040502050505030304"/>
              </a:rPr>
              <a:t> </a:t>
            </a:r>
            <a:r>
              <a:rPr spc="-25" dirty="0">
                <a:solidFill>
                  <a:sysClr val="windowText" lastClr="000000"/>
                </a:solidFill>
                <a:latin typeface="Palatino Linotype" panose="02040502050505030304"/>
                <a:cs typeface="Palatino Linotype" panose="02040502050505030304"/>
              </a:rPr>
              <a:t>C++ </a:t>
            </a:r>
            <a:r>
              <a:rPr dirty="0">
                <a:solidFill>
                  <a:sysClr val="windowText" lastClr="000000"/>
                </a:solidFill>
                <a:latin typeface="Palatino Linotype" panose="02040502050505030304"/>
                <a:cs typeface="Palatino Linotype" panose="02040502050505030304"/>
              </a:rPr>
              <a:t>compiler</a:t>
            </a:r>
            <a:r>
              <a:rPr spc="-3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has</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front</a:t>
            </a:r>
            <a:r>
              <a:rPr spc="-2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end</a:t>
            </a:r>
            <a:r>
              <a:rPr spc="-3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that</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generates</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C</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and</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C</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compiler</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as</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a:t>
            </a:r>
            <a:r>
              <a:rPr spc="-4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backend</a:t>
            </a:r>
            <a:endParaRPr dirty="0">
              <a:solidFill>
                <a:sysClr val="windowText" lastClr="000000"/>
              </a:solidFill>
              <a:latin typeface="Palatino Linotype" panose="02040502050505030304"/>
              <a:cs typeface="Palatino Linotype" panose="02040502050505030304"/>
            </a:endParaRPr>
          </a:p>
        </p:txBody>
      </p:sp>
      <p:pic>
        <p:nvPicPr>
          <p:cNvPr id="10" name="object 4"/>
          <p:cNvPicPr/>
          <p:nvPr/>
        </p:nvPicPr>
        <p:blipFill>
          <a:blip r:embed="rId3" cstate="print"/>
          <a:stretch>
            <a:fillRect/>
          </a:stretch>
        </p:blipFill>
        <p:spPr>
          <a:xfrm>
            <a:off x="827584" y="1492404"/>
            <a:ext cx="6477000" cy="720089"/>
          </a:xfrm>
          <a:prstGeom prst="rect">
            <a:avLst/>
          </a:prstGeom>
        </p:spPr>
      </p:pic>
      <p:sp>
        <p:nvSpPr>
          <p:cNvPr id="14" name="矩形 13">
            <a:extLst>
              <a:ext uri="{FF2B5EF4-FFF2-40B4-BE49-F238E27FC236}">
                <a16:creationId xmlns:a16="http://schemas.microsoft.com/office/drawing/2014/main" id="{BFBEC35A-A245-406C-BC7F-82884C785F5D}"/>
              </a:ext>
            </a:extLst>
          </p:cNvPr>
          <p:cNvSpPr/>
          <p:nvPr/>
        </p:nvSpPr>
        <p:spPr>
          <a:xfrm>
            <a:off x="663258" y="2340297"/>
            <a:ext cx="7817484" cy="369332"/>
          </a:xfrm>
          <a:prstGeom prst="rect">
            <a:avLst/>
          </a:prstGeom>
        </p:spPr>
        <p:txBody>
          <a:bodyPr wrap="square">
            <a:spAutoFit/>
          </a:bodyPr>
          <a:lstStyle/>
          <a:p>
            <a:r>
              <a:rPr lang="en-US" altLang="zh-CN" dirty="0"/>
              <a:t>Figure 6.2: A compiler might use a sequence of intermediate representations</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a:t>
            </a:fld>
            <a:endParaRPr lang="en-US"/>
          </a:p>
        </p:txBody>
      </p:sp>
      <p:sp>
        <p:nvSpPr>
          <p:cNvPr id="9"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Outline</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10" name="object 3"/>
          <p:cNvSpPr txBox="1"/>
          <p:nvPr/>
        </p:nvSpPr>
        <p:spPr>
          <a:xfrm>
            <a:off x="707542" y="1658239"/>
            <a:ext cx="4104004" cy="4152419"/>
          </a:xfrm>
          <a:prstGeom prst="rect">
            <a:avLst/>
          </a:prstGeom>
        </p:spPr>
        <p:txBody>
          <a:bodyPr vert="horz" wrap="square" lIns="0" tIns="12700" rIns="0" bIns="0" rtlCol="0">
            <a:spAutoFit/>
          </a:bodyPr>
          <a:lstStyle>
            <a:lvl1pPr marL="0">
              <a:defRPr sz="2400" b="0" i="0">
                <a:solidFill>
                  <a:schemeClr val="tx1"/>
                </a:solidFill>
                <a:latin typeface="Palatino Linotype" panose="02040502050505030304"/>
                <a:ea typeface="+mn-ea"/>
                <a:cs typeface="Palatino Linotype" panose="0204050205050503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935" marR="0" lvl="0" indent="-229235" defTabSz="914400" eaLnBrk="1" fontAlgn="auto" latinLnBrk="0" hangingPunct="1">
              <a:lnSpc>
                <a:spcPct val="100000"/>
              </a:lnSpc>
              <a:spcBef>
                <a:spcPts val="100"/>
              </a:spcBef>
              <a:spcAft>
                <a:spcPts val="0"/>
              </a:spcAft>
              <a:buClrTx/>
              <a:buSzTx/>
              <a:buFont typeface="Arial MT"/>
              <a:buChar char="•"/>
              <a:tabLst>
                <a:tab pos="241935" algn="l"/>
              </a:tabLst>
              <a:defRPr/>
            </a:pPr>
            <a:r>
              <a:rPr kumimoji="0" lang="en-US" sz="2400" b="0" i="0" u="none" strike="noStrike" kern="0" cap="none" spc="0" normalizeH="0" baseline="0" noProof="0" dirty="0">
                <a:ln>
                  <a:noFill/>
                </a:ln>
                <a:solidFill>
                  <a:sysClr val="windowText" lastClr="000000"/>
                </a:solidFill>
                <a:effectLst/>
                <a:uLnTx/>
                <a:uFillTx/>
                <a:latin typeface="Palatino Linotype" panose="02040502050505030304"/>
                <a:ea typeface="+mn-ea"/>
              </a:rPr>
              <a:t>Intermediate</a:t>
            </a:r>
            <a:r>
              <a:rPr kumimoji="0" lang="en-US" sz="2400" b="0" i="0" u="none" strike="noStrike" kern="0" cap="none" spc="-120" normalizeH="0" baseline="0" noProof="0" dirty="0">
                <a:ln>
                  <a:noFill/>
                </a:ln>
                <a:solidFill>
                  <a:sysClr val="windowText" lastClr="000000"/>
                </a:solidFill>
                <a:effectLst/>
                <a:uLnTx/>
                <a:uFillTx/>
                <a:latin typeface="Palatino Linotype" panose="02040502050505030304"/>
                <a:ea typeface="+mn-ea"/>
              </a:rPr>
              <a:t> </a:t>
            </a:r>
            <a:r>
              <a:rPr kumimoji="0" lang="en-US" sz="2400" b="0" i="0" u="none" strike="noStrike" kern="0" cap="none" spc="-10" normalizeH="0" baseline="0" noProof="0" dirty="0">
                <a:ln>
                  <a:noFill/>
                </a:ln>
                <a:solidFill>
                  <a:sysClr val="windowText" lastClr="000000"/>
                </a:solidFill>
                <a:effectLst/>
                <a:uLnTx/>
                <a:uFillTx/>
                <a:latin typeface="Palatino Linotype" panose="02040502050505030304"/>
                <a:ea typeface="+mn-ea"/>
              </a:rPr>
              <a:t>Representation</a:t>
            </a:r>
          </a:p>
          <a:p>
            <a:pPr marL="241935" marR="0" lvl="0" indent="-229235" defTabSz="914400" eaLnBrk="1" fontAlgn="auto" latinLnBrk="0" hangingPunct="1">
              <a:lnSpc>
                <a:spcPct val="100000"/>
              </a:lnSpc>
              <a:spcBef>
                <a:spcPts val="2975"/>
              </a:spcBef>
              <a:spcAft>
                <a:spcPts val="0"/>
              </a:spcAft>
              <a:buClrTx/>
              <a:buSzTx/>
              <a:buFont typeface="Arial MT"/>
              <a:buChar char="•"/>
              <a:tabLst>
                <a:tab pos="241935" algn="l"/>
              </a:tabLst>
              <a:defRPr/>
            </a:pPr>
            <a:r>
              <a:rPr kumimoji="0" lang="en-US" sz="2400" b="0" i="0" u="none" strike="noStrike" kern="0" cap="none" spc="-10" normalizeH="0" baseline="0" noProof="0" dirty="0">
                <a:ln>
                  <a:noFill/>
                </a:ln>
                <a:solidFill>
                  <a:schemeClr val="bg2">
                    <a:lumMod val="50000"/>
                  </a:schemeClr>
                </a:solidFill>
                <a:effectLst/>
                <a:uLnTx/>
                <a:uFillTx/>
                <a:latin typeface="Palatino Linotype" panose="02040502050505030304"/>
                <a:ea typeface="+mn-ea"/>
              </a:rPr>
              <a:t>Type</a:t>
            </a:r>
            <a:r>
              <a:rPr kumimoji="0" lang="en-US" sz="2400" b="0" i="0" u="none" strike="noStrike" kern="0" cap="none" spc="-85" normalizeH="0" baseline="0" noProof="0" dirty="0">
                <a:ln>
                  <a:noFill/>
                </a:ln>
                <a:solidFill>
                  <a:schemeClr val="bg2">
                    <a:lumMod val="50000"/>
                  </a:schemeClr>
                </a:solidFill>
                <a:effectLst/>
                <a:uLnTx/>
                <a:uFillTx/>
                <a:latin typeface="Palatino Linotype" panose="02040502050505030304"/>
                <a:ea typeface="+mn-ea"/>
              </a:rPr>
              <a:t> </a:t>
            </a:r>
            <a:r>
              <a:rPr kumimoji="0" lang="en-US" sz="2400" b="0" i="0" u="none" strike="noStrike" kern="0" cap="none" spc="0" normalizeH="0" baseline="0" noProof="0" dirty="0">
                <a:ln>
                  <a:noFill/>
                </a:ln>
                <a:solidFill>
                  <a:schemeClr val="bg2">
                    <a:lumMod val="50000"/>
                  </a:schemeClr>
                </a:solidFill>
                <a:effectLst/>
                <a:uLnTx/>
                <a:uFillTx/>
                <a:latin typeface="Palatino Linotype" panose="02040502050505030304"/>
                <a:ea typeface="+mn-ea"/>
              </a:rPr>
              <a:t>and</a:t>
            </a:r>
            <a:r>
              <a:rPr kumimoji="0" lang="en-US" sz="2400" b="0" i="0" u="none" strike="noStrike" kern="0" cap="none" spc="-85" normalizeH="0" baseline="0" noProof="0" dirty="0">
                <a:ln>
                  <a:noFill/>
                </a:ln>
                <a:solidFill>
                  <a:schemeClr val="bg2">
                    <a:lumMod val="50000"/>
                  </a:schemeClr>
                </a:solidFill>
                <a:effectLst/>
                <a:uLnTx/>
                <a:uFillTx/>
                <a:latin typeface="Palatino Linotype" panose="02040502050505030304"/>
                <a:ea typeface="+mn-ea"/>
              </a:rPr>
              <a:t> </a:t>
            </a:r>
            <a:r>
              <a:rPr kumimoji="0" lang="en-US" sz="2400" b="0" i="0" u="none" strike="noStrike" kern="0" cap="none" spc="-10" normalizeH="0" baseline="0" noProof="0" dirty="0">
                <a:ln>
                  <a:noFill/>
                </a:ln>
                <a:solidFill>
                  <a:schemeClr val="bg2">
                    <a:lumMod val="50000"/>
                  </a:schemeClr>
                </a:solidFill>
                <a:effectLst/>
                <a:uLnTx/>
                <a:uFillTx/>
                <a:latin typeface="Palatino Linotype" panose="02040502050505030304"/>
                <a:ea typeface="+mn-ea"/>
              </a:rPr>
              <a:t>Declarations</a:t>
            </a:r>
          </a:p>
          <a:p>
            <a:pPr marL="241935" marR="0" lvl="0" indent="-229235" defTabSz="914400" eaLnBrk="1" fontAlgn="auto" latinLnBrk="0" hangingPunct="1">
              <a:lnSpc>
                <a:spcPct val="100000"/>
              </a:lnSpc>
              <a:spcBef>
                <a:spcPts val="2975"/>
              </a:spcBef>
              <a:spcAft>
                <a:spcPts val="0"/>
              </a:spcAft>
              <a:buClrTx/>
              <a:buSzTx/>
              <a:buFont typeface="Arial MT"/>
              <a:buChar char="•"/>
              <a:tabLst>
                <a:tab pos="241935" algn="l"/>
              </a:tabLst>
              <a:defRPr/>
            </a:pPr>
            <a:r>
              <a:rPr kumimoji="0" lang="en-US" sz="2400" b="0" i="0" u="none" strike="noStrike" kern="0" cap="none" spc="-25" normalizeH="0" baseline="0" noProof="0" dirty="0">
                <a:ln>
                  <a:noFill/>
                </a:ln>
                <a:solidFill>
                  <a:schemeClr val="bg2">
                    <a:lumMod val="50000"/>
                  </a:schemeClr>
                </a:solidFill>
                <a:effectLst/>
                <a:uLnTx/>
                <a:uFillTx/>
                <a:latin typeface="Palatino Linotype" panose="02040502050505030304"/>
                <a:ea typeface="+mn-ea"/>
              </a:rPr>
              <a:t>Translation</a:t>
            </a:r>
            <a:r>
              <a:rPr kumimoji="0" lang="en-US" sz="2400" b="0" i="0" u="none" strike="noStrike" kern="0" cap="none" spc="-35" normalizeH="0" baseline="0" noProof="0" dirty="0">
                <a:ln>
                  <a:noFill/>
                </a:ln>
                <a:solidFill>
                  <a:schemeClr val="bg2">
                    <a:lumMod val="50000"/>
                  </a:schemeClr>
                </a:solidFill>
                <a:effectLst/>
                <a:uLnTx/>
                <a:uFillTx/>
                <a:latin typeface="Palatino Linotype" panose="02040502050505030304"/>
                <a:ea typeface="+mn-ea"/>
              </a:rPr>
              <a:t> </a:t>
            </a:r>
            <a:r>
              <a:rPr kumimoji="0" lang="en-US" sz="2400" b="0" i="0" u="none" strike="noStrike" kern="0" cap="none" spc="0" normalizeH="0" baseline="0" noProof="0" dirty="0">
                <a:ln>
                  <a:noFill/>
                </a:ln>
                <a:solidFill>
                  <a:schemeClr val="bg2">
                    <a:lumMod val="50000"/>
                  </a:schemeClr>
                </a:solidFill>
                <a:effectLst/>
                <a:uLnTx/>
                <a:uFillTx/>
                <a:latin typeface="Palatino Linotype" panose="02040502050505030304"/>
                <a:ea typeface="+mn-ea"/>
              </a:rPr>
              <a:t>of</a:t>
            </a:r>
            <a:r>
              <a:rPr kumimoji="0" lang="en-US" sz="2400" b="0" i="0" u="none" strike="noStrike" kern="0" cap="none" spc="-40" normalizeH="0" baseline="0" noProof="0" dirty="0">
                <a:ln>
                  <a:noFill/>
                </a:ln>
                <a:solidFill>
                  <a:schemeClr val="bg2">
                    <a:lumMod val="50000"/>
                  </a:schemeClr>
                </a:solidFill>
                <a:effectLst/>
                <a:uLnTx/>
                <a:uFillTx/>
                <a:latin typeface="Palatino Linotype" panose="02040502050505030304"/>
                <a:ea typeface="+mn-ea"/>
              </a:rPr>
              <a:t> </a:t>
            </a:r>
            <a:r>
              <a:rPr kumimoji="0" lang="en-US" sz="2400" b="0" i="0" u="none" strike="noStrike" kern="0" cap="none" spc="-10" normalizeH="0" baseline="0" noProof="0" dirty="0">
                <a:ln>
                  <a:noFill/>
                </a:ln>
                <a:solidFill>
                  <a:schemeClr val="bg2">
                    <a:lumMod val="50000"/>
                  </a:schemeClr>
                </a:solidFill>
                <a:effectLst/>
                <a:uLnTx/>
                <a:uFillTx/>
                <a:latin typeface="Palatino Linotype" panose="02040502050505030304"/>
                <a:ea typeface="+mn-ea"/>
              </a:rPr>
              <a:t>Expressions</a:t>
            </a:r>
          </a:p>
          <a:p>
            <a:pPr marL="241300" marR="0" lvl="0" indent="-228600" defTabSz="914400" eaLnBrk="1" fontAlgn="auto" latinLnBrk="0" hangingPunct="1">
              <a:lnSpc>
                <a:spcPct val="100000"/>
              </a:lnSpc>
              <a:spcBef>
                <a:spcPts val="2980"/>
              </a:spcBef>
              <a:spcAft>
                <a:spcPts val="0"/>
              </a:spcAft>
              <a:buClrTx/>
              <a:buSzTx/>
              <a:buFont typeface="Arial MT"/>
              <a:buChar char="•"/>
              <a:tabLst>
                <a:tab pos="241300" algn="l"/>
              </a:tabLst>
              <a:defRPr/>
            </a:pPr>
            <a:r>
              <a:rPr kumimoji="0" lang="en-US" sz="2400" b="0" i="0" u="none" strike="noStrike" kern="0" cap="none" spc="-20" normalizeH="0" baseline="0" noProof="0" dirty="0">
                <a:ln>
                  <a:noFill/>
                </a:ln>
                <a:solidFill>
                  <a:schemeClr val="bg2">
                    <a:lumMod val="50000"/>
                  </a:schemeClr>
                </a:solidFill>
                <a:effectLst/>
                <a:uLnTx/>
                <a:uFillTx/>
                <a:latin typeface="Palatino Linotype" panose="02040502050505030304"/>
                <a:ea typeface="+mn-ea"/>
              </a:rPr>
              <a:t>Type</a:t>
            </a:r>
            <a:r>
              <a:rPr kumimoji="0" lang="en-US" sz="2400" b="0" i="0" u="none" strike="noStrike" kern="0" cap="none" spc="-105" normalizeH="0" baseline="0" noProof="0" dirty="0">
                <a:ln>
                  <a:noFill/>
                </a:ln>
                <a:solidFill>
                  <a:schemeClr val="bg2">
                    <a:lumMod val="50000"/>
                  </a:schemeClr>
                </a:solidFill>
                <a:effectLst/>
                <a:uLnTx/>
                <a:uFillTx/>
                <a:latin typeface="Palatino Linotype" panose="02040502050505030304"/>
                <a:ea typeface="+mn-ea"/>
              </a:rPr>
              <a:t> </a:t>
            </a:r>
            <a:r>
              <a:rPr kumimoji="0" lang="en-US" sz="2400" b="0" i="0" u="none" strike="noStrike" kern="0" cap="none" spc="-10" normalizeH="0" baseline="0" noProof="0" dirty="0">
                <a:ln>
                  <a:noFill/>
                </a:ln>
                <a:solidFill>
                  <a:schemeClr val="bg2">
                    <a:lumMod val="50000"/>
                  </a:schemeClr>
                </a:solidFill>
                <a:effectLst/>
                <a:uLnTx/>
                <a:uFillTx/>
                <a:latin typeface="Palatino Linotype" panose="02040502050505030304"/>
                <a:ea typeface="+mn-ea"/>
              </a:rPr>
              <a:t>Checking</a:t>
            </a:r>
          </a:p>
          <a:p>
            <a:pPr marL="241935" marR="0" lvl="0" indent="-229235" defTabSz="914400" eaLnBrk="1" fontAlgn="auto" latinLnBrk="0" hangingPunct="1">
              <a:lnSpc>
                <a:spcPct val="100000"/>
              </a:lnSpc>
              <a:spcBef>
                <a:spcPts val="2975"/>
              </a:spcBef>
              <a:spcAft>
                <a:spcPts val="0"/>
              </a:spcAft>
              <a:buClrTx/>
              <a:buSzTx/>
              <a:buFont typeface="Arial MT"/>
              <a:buChar char="•"/>
              <a:tabLst>
                <a:tab pos="241935" algn="l"/>
              </a:tabLst>
              <a:defRPr/>
            </a:pPr>
            <a:r>
              <a:rPr kumimoji="0" lang="en-US" sz="2400" b="0" i="0" u="none" strike="noStrike" kern="0" cap="none" spc="0" normalizeH="0" baseline="0" noProof="0" dirty="0">
                <a:ln>
                  <a:noFill/>
                </a:ln>
                <a:solidFill>
                  <a:schemeClr val="bg2">
                    <a:lumMod val="50000"/>
                  </a:schemeClr>
                </a:solidFill>
                <a:effectLst/>
                <a:uLnTx/>
                <a:uFillTx/>
                <a:latin typeface="Palatino Linotype" panose="02040502050505030304"/>
                <a:ea typeface="+mn-ea"/>
              </a:rPr>
              <a:t>Control</a:t>
            </a:r>
            <a:r>
              <a:rPr kumimoji="0" lang="en-US" sz="2400" b="0" i="0" u="none" strike="noStrike" kern="0" cap="none" spc="-95" normalizeH="0" baseline="0" noProof="0" dirty="0">
                <a:ln>
                  <a:noFill/>
                </a:ln>
                <a:solidFill>
                  <a:schemeClr val="bg2">
                    <a:lumMod val="50000"/>
                  </a:schemeClr>
                </a:solidFill>
                <a:effectLst/>
                <a:uLnTx/>
                <a:uFillTx/>
                <a:latin typeface="Palatino Linotype" panose="02040502050505030304"/>
                <a:ea typeface="+mn-ea"/>
              </a:rPr>
              <a:t> </a:t>
            </a:r>
            <a:r>
              <a:rPr kumimoji="0" lang="en-US" sz="2400" b="0" i="0" u="none" strike="noStrike" kern="0" cap="none" spc="-20" normalizeH="0" baseline="0" noProof="0" dirty="0">
                <a:ln>
                  <a:noFill/>
                </a:ln>
                <a:solidFill>
                  <a:schemeClr val="bg2">
                    <a:lumMod val="50000"/>
                  </a:schemeClr>
                </a:solidFill>
                <a:effectLst/>
                <a:uLnTx/>
                <a:uFillTx/>
                <a:latin typeface="Palatino Linotype" panose="02040502050505030304"/>
                <a:ea typeface="+mn-ea"/>
              </a:rPr>
              <a:t>Flow</a:t>
            </a:r>
          </a:p>
          <a:p>
            <a:pPr marL="241935" marR="0" lvl="0" indent="-229235" defTabSz="914400" eaLnBrk="1" fontAlgn="auto" latinLnBrk="0" hangingPunct="1">
              <a:lnSpc>
                <a:spcPct val="100000"/>
              </a:lnSpc>
              <a:spcBef>
                <a:spcPts val="2980"/>
              </a:spcBef>
              <a:spcAft>
                <a:spcPts val="0"/>
              </a:spcAft>
              <a:buClrTx/>
              <a:buSzTx/>
              <a:buFont typeface="Arial MT"/>
              <a:buChar char="•"/>
              <a:tabLst>
                <a:tab pos="241935" algn="l"/>
              </a:tabLst>
              <a:defRPr/>
            </a:pPr>
            <a:r>
              <a:rPr kumimoji="0" lang="en-US" sz="2400" b="0" i="0" u="none" strike="noStrike" kern="0" cap="none" spc="-10" normalizeH="0" baseline="0" noProof="0" dirty="0">
                <a:ln>
                  <a:noFill/>
                </a:ln>
                <a:solidFill>
                  <a:schemeClr val="bg2">
                    <a:lumMod val="50000"/>
                  </a:schemeClr>
                </a:solidFill>
                <a:effectLst/>
                <a:uLnTx/>
                <a:uFillTx/>
                <a:latin typeface="Palatino Linotype" panose="02040502050505030304"/>
                <a:ea typeface="+mn-ea"/>
              </a:rPr>
              <a:t>Backpatching</a:t>
            </a:r>
          </a:p>
        </p:txBody>
      </p:sp>
      <p:sp>
        <p:nvSpPr>
          <p:cNvPr id="11" name="object 4"/>
          <p:cNvSpPr txBox="1"/>
          <p:nvPr/>
        </p:nvSpPr>
        <p:spPr>
          <a:xfrm>
            <a:off x="5373623" y="1470660"/>
            <a:ext cx="3031490" cy="798936"/>
          </a:xfrm>
          <a:prstGeom prst="rect">
            <a:avLst/>
          </a:prstGeom>
          <a:ln w="12700">
            <a:solidFill>
              <a:srgbClr val="000000"/>
            </a:solidFill>
          </a:ln>
        </p:spPr>
        <p:txBody>
          <a:bodyPr vert="horz" wrap="square" lIns="0" tIns="29209" rIns="0" bIns="0" rtlCol="0">
            <a:spAutoFit/>
          </a:bodyPr>
          <a:lstStyle/>
          <a:p>
            <a:pPr marL="379095" indent="-286385">
              <a:spcBef>
                <a:spcPts val="230"/>
              </a:spcBef>
              <a:buFont typeface="Arial MT"/>
              <a:buChar char="•"/>
              <a:tabLst>
                <a:tab pos="379095" algn="l"/>
              </a:tabLst>
            </a:pPr>
            <a:r>
              <a:rPr sz="2000" spc="-35" dirty="0">
                <a:solidFill>
                  <a:sysClr val="windowText" lastClr="000000"/>
                </a:solidFill>
                <a:latin typeface="Palatino Linotype" panose="02040502050505030304"/>
                <a:cs typeface="Palatino Linotype" panose="02040502050505030304"/>
              </a:rPr>
              <a:t>DAG’s</a:t>
            </a:r>
            <a:r>
              <a:rPr sz="2000" spc="-5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for</a:t>
            </a:r>
            <a:r>
              <a:rPr sz="2000" spc="-55"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Expressions</a:t>
            </a:r>
            <a:endParaRPr sz="2000" dirty="0">
              <a:solidFill>
                <a:sysClr val="windowText" lastClr="000000"/>
              </a:solidFill>
              <a:latin typeface="Palatino Linotype" panose="02040502050505030304"/>
              <a:cs typeface="Palatino Linotype" panose="02040502050505030304"/>
            </a:endParaRPr>
          </a:p>
          <a:p>
            <a:pPr marL="379095" indent="-286385">
              <a:spcBef>
                <a:spcPts val="1200"/>
              </a:spcBef>
              <a:buFont typeface="Arial MT"/>
              <a:buChar char="•"/>
              <a:tabLst>
                <a:tab pos="379095" algn="l"/>
              </a:tabLst>
            </a:pPr>
            <a:r>
              <a:rPr sz="2000" spc="-10" dirty="0">
                <a:solidFill>
                  <a:schemeClr val="bg2">
                    <a:lumMod val="50000"/>
                  </a:schemeClr>
                </a:solidFill>
                <a:latin typeface="Palatino Linotype" panose="02040502050505030304"/>
                <a:cs typeface="Palatino Linotype" panose="02040502050505030304"/>
              </a:rPr>
              <a:t>Three-</a:t>
            </a:r>
            <a:r>
              <a:rPr sz="2000" dirty="0">
                <a:solidFill>
                  <a:schemeClr val="bg2">
                    <a:lumMod val="50000"/>
                  </a:schemeClr>
                </a:solidFill>
                <a:latin typeface="Palatino Linotype" panose="02040502050505030304"/>
                <a:cs typeface="Palatino Linotype" panose="02040502050505030304"/>
              </a:rPr>
              <a:t>Address </a:t>
            </a:r>
            <a:r>
              <a:rPr sz="2000" spc="-20" dirty="0">
                <a:solidFill>
                  <a:schemeClr val="bg2">
                    <a:lumMod val="50000"/>
                  </a:schemeClr>
                </a:solidFill>
                <a:latin typeface="Palatino Linotype" panose="02040502050505030304"/>
                <a:cs typeface="Palatino Linotype" panose="02040502050505030304"/>
              </a:rPr>
              <a:t>Code</a:t>
            </a:r>
            <a:endParaRPr sz="2000" dirty="0">
              <a:solidFill>
                <a:schemeClr val="bg2">
                  <a:lumMod val="50000"/>
                </a:schemeClr>
              </a:solidFill>
              <a:latin typeface="Palatino Linotype" panose="02040502050505030304"/>
              <a:cs typeface="Palatino Linotype" panose="02040502050505030304"/>
            </a:endParaRPr>
          </a:p>
        </p:txBody>
      </p:sp>
      <p:sp>
        <p:nvSpPr>
          <p:cNvPr id="12" name="object 5"/>
          <p:cNvSpPr/>
          <p:nvPr/>
        </p:nvSpPr>
        <p:spPr>
          <a:xfrm>
            <a:off x="4824348" y="1801367"/>
            <a:ext cx="549275" cy="103505"/>
          </a:xfrm>
          <a:custGeom>
            <a:avLst/>
            <a:gdLst/>
            <a:ahLst/>
            <a:cxnLst/>
            <a:rect l="l" t="t" r="r" b="b"/>
            <a:pathLst>
              <a:path w="549275" h="103505">
                <a:moveTo>
                  <a:pt x="512845" y="39909"/>
                </a:moveTo>
                <a:lnTo>
                  <a:pt x="0" y="90805"/>
                </a:lnTo>
                <a:lnTo>
                  <a:pt x="1270" y="103505"/>
                </a:lnTo>
                <a:lnTo>
                  <a:pt x="513894" y="52619"/>
                </a:lnTo>
                <a:lnTo>
                  <a:pt x="524230" y="45115"/>
                </a:lnTo>
                <a:lnTo>
                  <a:pt x="512845" y="39909"/>
                </a:lnTo>
                <a:close/>
              </a:path>
              <a:path w="549275" h="103505">
                <a:moveTo>
                  <a:pt x="538192" y="37592"/>
                </a:moveTo>
                <a:lnTo>
                  <a:pt x="536193" y="37592"/>
                </a:lnTo>
                <a:lnTo>
                  <a:pt x="537337" y="50292"/>
                </a:lnTo>
                <a:lnTo>
                  <a:pt x="513894" y="52619"/>
                </a:lnTo>
                <a:lnTo>
                  <a:pt x="461645" y="90551"/>
                </a:lnTo>
                <a:lnTo>
                  <a:pt x="458724" y="92583"/>
                </a:lnTo>
                <a:lnTo>
                  <a:pt x="458088" y="96520"/>
                </a:lnTo>
                <a:lnTo>
                  <a:pt x="460248" y="99441"/>
                </a:lnTo>
                <a:lnTo>
                  <a:pt x="462279" y="102235"/>
                </a:lnTo>
                <a:lnTo>
                  <a:pt x="466216" y="102870"/>
                </a:lnTo>
                <a:lnTo>
                  <a:pt x="549275" y="42672"/>
                </a:lnTo>
                <a:lnTo>
                  <a:pt x="538192" y="37592"/>
                </a:lnTo>
                <a:close/>
              </a:path>
              <a:path w="549275" h="103505">
                <a:moveTo>
                  <a:pt x="524230" y="45115"/>
                </a:moveTo>
                <a:lnTo>
                  <a:pt x="513894" y="52619"/>
                </a:lnTo>
                <a:lnTo>
                  <a:pt x="537337" y="50292"/>
                </a:lnTo>
                <a:lnTo>
                  <a:pt x="537279" y="49657"/>
                </a:lnTo>
                <a:lnTo>
                  <a:pt x="534162" y="49657"/>
                </a:lnTo>
                <a:lnTo>
                  <a:pt x="524230" y="45115"/>
                </a:lnTo>
                <a:close/>
              </a:path>
              <a:path w="549275" h="103505">
                <a:moveTo>
                  <a:pt x="533018" y="38735"/>
                </a:moveTo>
                <a:lnTo>
                  <a:pt x="524230" y="45115"/>
                </a:lnTo>
                <a:lnTo>
                  <a:pt x="534162" y="49657"/>
                </a:lnTo>
                <a:lnTo>
                  <a:pt x="533018" y="38735"/>
                </a:lnTo>
                <a:close/>
              </a:path>
              <a:path w="549275" h="103505">
                <a:moveTo>
                  <a:pt x="536296" y="38735"/>
                </a:moveTo>
                <a:lnTo>
                  <a:pt x="533018" y="38735"/>
                </a:lnTo>
                <a:lnTo>
                  <a:pt x="534162" y="49657"/>
                </a:lnTo>
                <a:lnTo>
                  <a:pt x="537279" y="49657"/>
                </a:lnTo>
                <a:lnTo>
                  <a:pt x="536296" y="38735"/>
                </a:lnTo>
                <a:close/>
              </a:path>
              <a:path w="549275" h="103505">
                <a:moveTo>
                  <a:pt x="536193" y="37592"/>
                </a:moveTo>
                <a:lnTo>
                  <a:pt x="512845" y="39909"/>
                </a:lnTo>
                <a:lnTo>
                  <a:pt x="524230" y="45115"/>
                </a:lnTo>
                <a:lnTo>
                  <a:pt x="533018" y="38735"/>
                </a:lnTo>
                <a:lnTo>
                  <a:pt x="536296" y="38735"/>
                </a:lnTo>
                <a:lnTo>
                  <a:pt x="536193" y="37592"/>
                </a:lnTo>
                <a:close/>
              </a:path>
              <a:path w="549275" h="103505">
                <a:moveTo>
                  <a:pt x="456056" y="0"/>
                </a:moveTo>
                <a:lnTo>
                  <a:pt x="452247" y="1397"/>
                </a:lnTo>
                <a:lnTo>
                  <a:pt x="450723" y="4572"/>
                </a:lnTo>
                <a:lnTo>
                  <a:pt x="449325" y="7747"/>
                </a:lnTo>
                <a:lnTo>
                  <a:pt x="450723" y="11557"/>
                </a:lnTo>
                <a:lnTo>
                  <a:pt x="453898" y="12954"/>
                </a:lnTo>
                <a:lnTo>
                  <a:pt x="512845" y="39909"/>
                </a:lnTo>
                <a:lnTo>
                  <a:pt x="536193" y="37592"/>
                </a:lnTo>
                <a:lnTo>
                  <a:pt x="538192" y="37592"/>
                </a:lnTo>
                <a:lnTo>
                  <a:pt x="459231" y="1397"/>
                </a:lnTo>
                <a:lnTo>
                  <a:pt x="456056"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a:t>
            </a:fld>
            <a:endParaRPr lang="en-US"/>
          </a:p>
        </p:txBody>
      </p:sp>
      <p:sp>
        <p:nvSpPr>
          <p:cNvPr id="30"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25" normalizeH="0" baseline="0" noProof="0">
                <a:ln>
                  <a:noFill/>
                </a:ln>
                <a:solidFill>
                  <a:srgbClr val="000000"/>
                </a:solidFill>
                <a:effectLst/>
                <a:uLnTx/>
                <a:uFillTx/>
                <a:latin typeface="Palatino Linotype" panose="02040502050505030304"/>
                <a:ea typeface="+mj-ea"/>
              </a:rPr>
              <a:t>DAG’s</a:t>
            </a:r>
            <a:r>
              <a:rPr kumimoji="0" lang="en-US" sz="4000" b="1" i="0" u="none" strike="noStrike" kern="0" cap="none" spc="-140"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for</a:t>
            </a:r>
            <a:r>
              <a:rPr kumimoji="0" lang="en-US" sz="4000" b="1" i="0" u="none" strike="noStrike" kern="0" cap="none" spc="-14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Expressions</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31" name="object 3"/>
          <p:cNvSpPr/>
          <p:nvPr/>
        </p:nvSpPr>
        <p:spPr>
          <a:xfrm>
            <a:off x="3081527" y="2528442"/>
            <a:ext cx="626745" cy="200660"/>
          </a:xfrm>
          <a:custGeom>
            <a:avLst/>
            <a:gdLst/>
            <a:ahLst/>
            <a:cxnLst/>
            <a:rect l="l" t="t" r="r" b="b"/>
            <a:pathLst>
              <a:path w="626745" h="200660">
                <a:moveTo>
                  <a:pt x="562356" y="0"/>
                </a:moveTo>
                <a:lnTo>
                  <a:pt x="559562" y="8128"/>
                </a:lnTo>
                <a:lnTo>
                  <a:pt x="571134" y="13178"/>
                </a:lnTo>
                <a:lnTo>
                  <a:pt x="581088" y="20145"/>
                </a:lnTo>
                <a:lnTo>
                  <a:pt x="601325" y="52449"/>
                </a:lnTo>
                <a:lnTo>
                  <a:pt x="608076" y="99187"/>
                </a:lnTo>
                <a:lnTo>
                  <a:pt x="607317" y="116855"/>
                </a:lnTo>
                <a:lnTo>
                  <a:pt x="596138" y="160147"/>
                </a:lnTo>
                <a:lnTo>
                  <a:pt x="559816" y="192278"/>
                </a:lnTo>
                <a:lnTo>
                  <a:pt x="562356" y="200406"/>
                </a:lnTo>
                <a:lnTo>
                  <a:pt x="600682" y="177688"/>
                </a:lnTo>
                <a:lnTo>
                  <a:pt x="622141" y="135636"/>
                </a:lnTo>
                <a:lnTo>
                  <a:pt x="626237" y="100203"/>
                </a:lnTo>
                <a:lnTo>
                  <a:pt x="625211" y="81845"/>
                </a:lnTo>
                <a:lnTo>
                  <a:pt x="609726" y="35179"/>
                </a:lnTo>
                <a:lnTo>
                  <a:pt x="576883" y="5264"/>
                </a:lnTo>
                <a:lnTo>
                  <a:pt x="562356" y="0"/>
                </a:lnTo>
                <a:close/>
              </a:path>
              <a:path w="626745" h="200660">
                <a:moveTo>
                  <a:pt x="63881" y="0"/>
                </a:moveTo>
                <a:lnTo>
                  <a:pt x="25679" y="22842"/>
                </a:lnTo>
                <a:lnTo>
                  <a:pt x="4111" y="64881"/>
                </a:lnTo>
                <a:lnTo>
                  <a:pt x="0" y="100203"/>
                </a:lnTo>
                <a:lnTo>
                  <a:pt x="1025" y="118633"/>
                </a:lnTo>
                <a:lnTo>
                  <a:pt x="16510" y="165354"/>
                </a:lnTo>
                <a:lnTo>
                  <a:pt x="49335" y="195214"/>
                </a:lnTo>
                <a:lnTo>
                  <a:pt x="63881" y="200406"/>
                </a:lnTo>
                <a:lnTo>
                  <a:pt x="66421" y="192278"/>
                </a:lnTo>
                <a:lnTo>
                  <a:pt x="55012" y="187203"/>
                </a:lnTo>
                <a:lnTo>
                  <a:pt x="45164" y="180165"/>
                </a:lnTo>
                <a:lnTo>
                  <a:pt x="24931" y="147335"/>
                </a:lnTo>
                <a:lnTo>
                  <a:pt x="18288" y="99187"/>
                </a:lnTo>
                <a:lnTo>
                  <a:pt x="19026" y="82115"/>
                </a:lnTo>
                <a:lnTo>
                  <a:pt x="30099" y="39878"/>
                </a:lnTo>
                <a:lnTo>
                  <a:pt x="66802" y="8128"/>
                </a:lnTo>
                <a:lnTo>
                  <a:pt x="63881"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32" name="object 4"/>
          <p:cNvSpPr/>
          <p:nvPr/>
        </p:nvSpPr>
        <p:spPr>
          <a:xfrm>
            <a:off x="4003547" y="2528442"/>
            <a:ext cx="628015" cy="200660"/>
          </a:xfrm>
          <a:custGeom>
            <a:avLst/>
            <a:gdLst/>
            <a:ahLst/>
            <a:cxnLst/>
            <a:rect l="l" t="t" r="r" b="b"/>
            <a:pathLst>
              <a:path w="628014" h="200660">
                <a:moveTo>
                  <a:pt x="563879" y="0"/>
                </a:moveTo>
                <a:lnTo>
                  <a:pt x="561086" y="8128"/>
                </a:lnTo>
                <a:lnTo>
                  <a:pt x="572658" y="13178"/>
                </a:lnTo>
                <a:lnTo>
                  <a:pt x="582612" y="20145"/>
                </a:lnTo>
                <a:lnTo>
                  <a:pt x="602849" y="52449"/>
                </a:lnTo>
                <a:lnTo>
                  <a:pt x="609600" y="99187"/>
                </a:lnTo>
                <a:lnTo>
                  <a:pt x="608841" y="116855"/>
                </a:lnTo>
                <a:lnTo>
                  <a:pt x="597662" y="160147"/>
                </a:lnTo>
                <a:lnTo>
                  <a:pt x="561339" y="192278"/>
                </a:lnTo>
                <a:lnTo>
                  <a:pt x="563879" y="200406"/>
                </a:lnTo>
                <a:lnTo>
                  <a:pt x="602206" y="177688"/>
                </a:lnTo>
                <a:lnTo>
                  <a:pt x="623665" y="135636"/>
                </a:lnTo>
                <a:lnTo>
                  <a:pt x="627761" y="100203"/>
                </a:lnTo>
                <a:lnTo>
                  <a:pt x="626735" y="81845"/>
                </a:lnTo>
                <a:lnTo>
                  <a:pt x="611251" y="35179"/>
                </a:lnTo>
                <a:lnTo>
                  <a:pt x="578407" y="5264"/>
                </a:lnTo>
                <a:lnTo>
                  <a:pt x="563879" y="0"/>
                </a:lnTo>
                <a:close/>
              </a:path>
              <a:path w="628014" h="200660">
                <a:moveTo>
                  <a:pt x="63880" y="0"/>
                </a:moveTo>
                <a:lnTo>
                  <a:pt x="25679" y="22842"/>
                </a:lnTo>
                <a:lnTo>
                  <a:pt x="4111" y="64881"/>
                </a:lnTo>
                <a:lnTo>
                  <a:pt x="0" y="100203"/>
                </a:lnTo>
                <a:lnTo>
                  <a:pt x="1025" y="118633"/>
                </a:lnTo>
                <a:lnTo>
                  <a:pt x="16510" y="165354"/>
                </a:lnTo>
                <a:lnTo>
                  <a:pt x="49335" y="195214"/>
                </a:lnTo>
                <a:lnTo>
                  <a:pt x="63880" y="200406"/>
                </a:lnTo>
                <a:lnTo>
                  <a:pt x="66421" y="192278"/>
                </a:lnTo>
                <a:lnTo>
                  <a:pt x="55012" y="187203"/>
                </a:lnTo>
                <a:lnTo>
                  <a:pt x="45164" y="180165"/>
                </a:lnTo>
                <a:lnTo>
                  <a:pt x="24931" y="147335"/>
                </a:lnTo>
                <a:lnTo>
                  <a:pt x="18287" y="99187"/>
                </a:lnTo>
                <a:lnTo>
                  <a:pt x="19026" y="82115"/>
                </a:lnTo>
                <a:lnTo>
                  <a:pt x="30099" y="39878"/>
                </a:lnTo>
                <a:lnTo>
                  <a:pt x="66801" y="8128"/>
                </a:lnTo>
                <a:lnTo>
                  <a:pt x="6388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5"/>
          <p:cNvSpPr txBox="1"/>
          <p:nvPr/>
        </p:nvSpPr>
        <p:spPr>
          <a:xfrm>
            <a:off x="707542" y="1481708"/>
            <a:ext cx="7706995" cy="1783714"/>
          </a:xfrm>
          <a:prstGeom prst="rect">
            <a:avLst/>
          </a:prstGeom>
        </p:spPr>
        <p:txBody>
          <a:bodyPr vert="horz" wrap="square" lIns="0" tIns="12700" rIns="0" bIns="0" rtlCol="0">
            <a:spAutoFit/>
          </a:bodyPr>
          <a:lstStyle/>
          <a:p>
            <a:pPr marL="242570" marR="5080" indent="-230505">
              <a:lnSpc>
                <a:spcPct val="120000"/>
              </a:lnSpc>
              <a:spcBef>
                <a:spcPts val="100"/>
              </a:spcBef>
              <a:buFont typeface="Arial MT"/>
              <a:buChar char="•"/>
              <a:tabLst>
                <a:tab pos="242570" algn="l"/>
              </a:tabLst>
            </a:pPr>
            <a:r>
              <a:rPr sz="2100" dirty="0">
                <a:solidFill>
                  <a:sysClr val="windowText" lastClr="000000"/>
                </a:solidFill>
                <a:latin typeface="Palatino Linotype" panose="02040502050505030304"/>
                <a:cs typeface="Palatino Linotype" panose="02040502050505030304"/>
              </a:rPr>
              <a:t>In</a:t>
            </a:r>
            <a:r>
              <a:rPr sz="2100" spc="-35" dirty="0">
                <a:solidFill>
                  <a:sysClr val="windowText" lastClr="000000"/>
                </a:solidFill>
                <a:latin typeface="Palatino Linotype" panose="02040502050505030304"/>
                <a:cs typeface="Palatino Linotype" panose="02040502050505030304"/>
              </a:rPr>
              <a:t> </a:t>
            </a:r>
            <a:r>
              <a:rPr sz="2100" dirty="0">
                <a:solidFill>
                  <a:sysClr val="windowText" lastClr="000000"/>
                </a:solidFill>
                <a:latin typeface="Palatino Linotype" panose="02040502050505030304"/>
                <a:cs typeface="Palatino Linotype" panose="02040502050505030304"/>
              </a:rPr>
              <a:t>a</a:t>
            </a:r>
            <a:r>
              <a:rPr sz="2100" spc="-30" dirty="0">
                <a:solidFill>
                  <a:sysClr val="windowText" lastClr="000000"/>
                </a:solidFill>
                <a:latin typeface="Palatino Linotype" panose="02040502050505030304"/>
                <a:cs typeface="Palatino Linotype" panose="02040502050505030304"/>
              </a:rPr>
              <a:t> </a:t>
            </a:r>
            <a:r>
              <a:rPr sz="2100" dirty="0">
                <a:solidFill>
                  <a:sysClr val="windowText" lastClr="000000"/>
                </a:solidFill>
                <a:latin typeface="Palatino Linotype" panose="02040502050505030304"/>
                <a:cs typeface="Palatino Linotype" panose="02040502050505030304"/>
              </a:rPr>
              <a:t>syntax</a:t>
            </a:r>
            <a:r>
              <a:rPr sz="2100" spc="-20" dirty="0">
                <a:solidFill>
                  <a:sysClr val="windowText" lastClr="000000"/>
                </a:solidFill>
                <a:latin typeface="Palatino Linotype" panose="02040502050505030304"/>
                <a:cs typeface="Palatino Linotype" panose="02040502050505030304"/>
              </a:rPr>
              <a:t> </a:t>
            </a:r>
            <a:r>
              <a:rPr sz="2100" dirty="0">
                <a:solidFill>
                  <a:sysClr val="windowText" lastClr="000000"/>
                </a:solidFill>
                <a:latin typeface="Palatino Linotype" panose="02040502050505030304"/>
                <a:cs typeface="Palatino Linotype" panose="02040502050505030304"/>
              </a:rPr>
              <a:t>tree,</a:t>
            </a:r>
            <a:r>
              <a:rPr sz="2100" spc="-45" dirty="0">
                <a:solidFill>
                  <a:sysClr val="windowText" lastClr="000000"/>
                </a:solidFill>
                <a:latin typeface="Palatino Linotype" panose="02040502050505030304"/>
                <a:cs typeface="Palatino Linotype" panose="02040502050505030304"/>
              </a:rPr>
              <a:t> </a:t>
            </a:r>
            <a:r>
              <a:rPr sz="2100" dirty="0">
                <a:solidFill>
                  <a:sysClr val="windowText" lastClr="000000"/>
                </a:solidFill>
                <a:latin typeface="Palatino Linotype" panose="02040502050505030304"/>
                <a:cs typeface="Palatino Linotype" panose="02040502050505030304"/>
              </a:rPr>
              <a:t>the</a:t>
            </a:r>
            <a:r>
              <a:rPr sz="2100" spc="-30" dirty="0">
                <a:solidFill>
                  <a:sysClr val="windowText" lastClr="000000"/>
                </a:solidFill>
                <a:latin typeface="Palatino Linotype" panose="02040502050505030304"/>
                <a:cs typeface="Palatino Linotype" panose="02040502050505030304"/>
              </a:rPr>
              <a:t> </a:t>
            </a:r>
            <a:r>
              <a:rPr sz="2100" dirty="0">
                <a:solidFill>
                  <a:sysClr val="windowText" lastClr="000000"/>
                </a:solidFill>
                <a:latin typeface="Palatino Linotype" panose="02040502050505030304"/>
                <a:cs typeface="Palatino Linotype" panose="02040502050505030304"/>
              </a:rPr>
              <a:t>tree</a:t>
            </a:r>
            <a:r>
              <a:rPr sz="2100" spc="-30" dirty="0">
                <a:solidFill>
                  <a:sysClr val="windowText" lastClr="000000"/>
                </a:solidFill>
                <a:latin typeface="Palatino Linotype" panose="02040502050505030304"/>
                <a:cs typeface="Palatino Linotype" panose="02040502050505030304"/>
              </a:rPr>
              <a:t> </a:t>
            </a:r>
            <a:r>
              <a:rPr sz="2100" dirty="0">
                <a:solidFill>
                  <a:sysClr val="windowText" lastClr="000000"/>
                </a:solidFill>
                <a:latin typeface="Palatino Linotype" panose="02040502050505030304"/>
                <a:cs typeface="Palatino Linotype" panose="02040502050505030304"/>
              </a:rPr>
              <a:t>for</a:t>
            </a:r>
            <a:r>
              <a:rPr sz="2100" spc="-25" dirty="0">
                <a:solidFill>
                  <a:sysClr val="windowText" lastClr="000000"/>
                </a:solidFill>
                <a:latin typeface="Palatino Linotype" panose="02040502050505030304"/>
                <a:cs typeface="Palatino Linotype" panose="02040502050505030304"/>
              </a:rPr>
              <a:t> </a:t>
            </a:r>
            <a:r>
              <a:rPr sz="2100" dirty="0">
                <a:solidFill>
                  <a:sysClr val="windowText" lastClr="000000"/>
                </a:solidFill>
                <a:latin typeface="Palatino Linotype" panose="02040502050505030304"/>
                <a:cs typeface="Palatino Linotype" panose="02040502050505030304"/>
              </a:rPr>
              <a:t>a</a:t>
            </a:r>
            <a:r>
              <a:rPr sz="2100" spc="-20" dirty="0">
                <a:solidFill>
                  <a:sysClr val="windowText" lastClr="000000"/>
                </a:solidFill>
                <a:latin typeface="Palatino Linotype" panose="02040502050505030304"/>
                <a:cs typeface="Palatino Linotype" panose="02040502050505030304"/>
              </a:rPr>
              <a:t> </a:t>
            </a:r>
            <a:r>
              <a:rPr sz="2100" dirty="0">
                <a:solidFill>
                  <a:srgbClr val="FF0000"/>
                </a:solidFill>
                <a:latin typeface="Palatino Linotype" panose="02040502050505030304"/>
                <a:cs typeface="Palatino Linotype" panose="02040502050505030304"/>
              </a:rPr>
              <a:t>common</a:t>
            </a:r>
            <a:r>
              <a:rPr sz="2100" spc="-30" dirty="0">
                <a:solidFill>
                  <a:srgbClr val="FF0000"/>
                </a:solidFill>
                <a:latin typeface="Palatino Linotype" panose="02040502050505030304"/>
                <a:cs typeface="Palatino Linotype" panose="02040502050505030304"/>
              </a:rPr>
              <a:t> </a:t>
            </a:r>
            <a:r>
              <a:rPr sz="2100" dirty="0">
                <a:solidFill>
                  <a:srgbClr val="FF0000"/>
                </a:solidFill>
                <a:latin typeface="Palatino Linotype" panose="02040502050505030304"/>
                <a:cs typeface="Palatino Linotype" panose="02040502050505030304"/>
              </a:rPr>
              <a:t>subexpression</a:t>
            </a:r>
            <a:r>
              <a:rPr sz="2100" spc="-45" dirty="0">
                <a:solidFill>
                  <a:srgbClr val="FF0000"/>
                </a:solidFill>
                <a:latin typeface="Palatino Linotype" panose="02040502050505030304"/>
                <a:cs typeface="Palatino Linotype" panose="02040502050505030304"/>
              </a:rPr>
              <a:t> </a:t>
            </a:r>
            <a:r>
              <a:rPr sz="2100" dirty="0">
                <a:solidFill>
                  <a:sysClr val="windowText" lastClr="000000"/>
                </a:solidFill>
                <a:latin typeface="Palatino Linotype" panose="02040502050505030304"/>
                <a:cs typeface="Palatino Linotype" panose="02040502050505030304"/>
              </a:rPr>
              <a:t>would</a:t>
            </a:r>
            <a:r>
              <a:rPr sz="2100" spc="-30" dirty="0">
                <a:solidFill>
                  <a:sysClr val="windowText" lastClr="000000"/>
                </a:solidFill>
                <a:latin typeface="Palatino Linotype" panose="02040502050505030304"/>
                <a:cs typeface="Palatino Linotype" panose="02040502050505030304"/>
              </a:rPr>
              <a:t> </a:t>
            </a:r>
            <a:r>
              <a:rPr sz="2100" spc="-25" dirty="0">
                <a:solidFill>
                  <a:sysClr val="windowText" lastClr="000000"/>
                </a:solidFill>
                <a:latin typeface="Palatino Linotype" panose="02040502050505030304"/>
                <a:cs typeface="Palatino Linotype" panose="02040502050505030304"/>
              </a:rPr>
              <a:t>be </a:t>
            </a:r>
            <a:r>
              <a:rPr sz="2100" dirty="0">
                <a:solidFill>
                  <a:srgbClr val="FF0000"/>
                </a:solidFill>
                <a:latin typeface="Palatino Linotype" panose="02040502050505030304"/>
                <a:cs typeface="Palatino Linotype" panose="02040502050505030304"/>
              </a:rPr>
              <a:t>replicated</a:t>
            </a:r>
            <a:r>
              <a:rPr sz="2100" spc="-25" dirty="0">
                <a:solidFill>
                  <a:srgbClr val="FF0000"/>
                </a:solidFill>
                <a:latin typeface="Palatino Linotype" panose="02040502050505030304"/>
                <a:cs typeface="Palatino Linotype" panose="02040502050505030304"/>
              </a:rPr>
              <a:t> </a:t>
            </a:r>
            <a:r>
              <a:rPr sz="2100" dirty="0">
                <a:solidFill>
                  <a:sysClr val="windowText" lastClr="000000"/>
                </a:solidFill>
                <a:latin typeface="Palatino Linotype" panose="02040502050505030304"/>
                <a:cs typeface="Palatino Linotype" panose="02040502050505030304"/>
              </a:rPr>
              <a:t>as</a:t>
            </a:r>
            <a:r>
              <a:rPr sz="2100" spc="-15" dirty="0">
                <a:solidFill>
                  <a:sysClr val="windowText" lastClr="000000"/>
                </a:solidFill>
                <a:latin typeface="Palatino Linotype" panose="02040502050505030304"/>
                <a:cs typeface="Palatino Linotype" panose="02040502050505030304"/>
              </a:rPr>
              <a:t> </a:t>
            </a:r>
            <a:r>
              <a:rPr sz="2100" dirty="0">
                <a:solidFill>
                  <a:sysClr val="windowText" lastClr="000000"/>
                </a:solidFill>
                <a:latin typeface="Palatino Linotype" panose="02040502050505030304"/>
                <a:cs typeface="Palatino Linotype" panose="02040502050505030304"/>
              </a:rPr>
              <a:t>many</a:t>
            </a:r>
            <a:r>
              <a:rPr sz="2100" spc="-35" dirty="0">
                <a:solidFill>
                  <a:sysClr val="windowText" lastClr="000000"/>
                </a:solidFill>
                <a:latin typeface="Palatino Linotype" panose="02040502050505030304"/>
                <a:cs typeface="Palatino Linotype" panose="02040502050505030304"/>
              </a:rPr>
              <a:t> </a:t>
            </a:r>
            <a:r>
              <a:rPr sz="2100" dirty="0">
                <a:solidFill>
                  <a:sysClr val="windowText" lastClr="000000"/>
                </a:solidFill>
                <a:latin typeface="Palatino Linotype" panose="02040502050505030304"/>
                <a:cs typeface="Palatino Linotype" panose="02040502050505030304"/>
              </a:rPr>
              <a:t>times</a:t>
            </a:r>
            <a:r>
              <a:rPr sz="2100" spc="-25" dirty="0">
                <a:solidFill>
                  <a:sysClr val="windowText" lastClr="000000"/>
                </a:solidFill>
                <a:latin typeface="Palatino Linotype" panose="02040502050505030304"/>
                <a:cs typeface="Palatino Linotype" panose="02040502050505030304"/>
              </a:rPr>
              <a:t> </a:t>
            </a:r>
            <a:r>
              <a:rPr sz="2100" dirty="0">
                <a:solidFill>
                  <a:sysClr val="windowText" lastClr="000000"/>
                </a:solidFill>
                <a:latin typeface="Palatino Linotype" panose="02040502050505030304"/>
                <a:cs typeface="Palatino Linotype" panose="02040502050505030304"/>
              </a:rPr>
              <a:t>as</a:t>
            </a:r>
            <a:r>
              <a:rPr sz="2100" spc="-30" dirty="0">
                <a:solidFill>
                  <a:sysClr val="windowText" lastClr="000000"/>
                </a:solidFill>
                <a:latin typeface="Palatino Linotype" panose="02040502050505030304"/>
                <a:cs typeface="Palatino Linotype" panose="02040502050505030304"/>
              </a:rPr>
              <a:t> </a:t>
            </a:r>
            <a:r>
              <a:rPr sz="2100" dirty="0">
                <a:solidFill>
                  <a:sysClr val="windowText" lastClr="000000"/>
                </a:solidFill>
                <a:latin typeface="Palatino Linotype" panose="02040502050505030304"/>
                <a:cs typeface="Palatino Linotype" panose="02040502050505030304"/>
              </a:rPr>
              <a:t>the</a:t>
            </a:r>
            <a:r>
              <a:rPr sz="2100" spc="-20" dirty="0">
                <a:solidFill>
                  <a:sysClr val="windowText" lastClr="000000"/>
                </a:solidFill>
                <a:latin typeface="Palatino Linotype" panose="02040502050505030304"/>
                <a:cs typeface="Palatino Linotype" panose="02040502050505030304"/>
              </a:rPr>
              <a:t> </a:t>
            </a:r>
            <a:r>
              <a:rPr sz="2100" dirty="0">
                <a:solidFill>
                  <a:sysClr val="windowText" lastClr="000000"/>
                </a:solidFill>
                <a:latin typeface="Palatino Linotype" panose="02040502050505030304"/>
                <a:cs typeface="Palatino Linotype" panose="02040502050505030304"/>
              </a:rPr>
              <a:t>subexpression</a:t>
            </a:r>
            <a:r>
              <a:rPr sz="2100" spc="-30" dirty="0">
                <a:solidFill>
                  <a:sysClr val="windowText" lastClr="000000"/>
                </a:solidFill>
                <a:latin typeface="Palatino Linotype" panose="02040502050505030304"/>
                <a:cs typeface="Palatino Linotype" panose="02040502050505030304"/>
              </a:rPr>
              <a:t> </a:t>
            </a:r>
            <a:r>
              <a:rPr sz="2100" spc="-10" dirty="0">
                <a:solidFill>
                  <a:sysClr val="windowText" lastClr="000000"/>
                </a:solidFill>
                <a:latin typeface="Palatino Linotype" panose="02040502050505030304"/>
                <a:cs typeface="Palatino Linotype" panose="02040502050505030304"/>
              </a:rPr>
              <a:t>appears</a:t>
            </a:r>
            <a:endParaRPr sz="2100">
              <a:solidFill>
                <a:sysClr val="windowText" lastClr="000000"/>
              </a:solidFill>
              <a:latin typeface="Palatino Linotype" panose="02040502050505030304"/>
              <a:cs typeface="Palatino Linotype" panose="02040502050505030304"/>
            </a:endParaRPr>
          </a:p>
          <a:p>
            <a:pPr marL="697865" lvl="1" indent="-227965">
              <a:spcBef>
                <a:spcPts val="1675"/>
              </a:spcBef>
              <a:buFont typeface="Wingdings" panose="05000000000000000000"/>
              <a:buChar char=""/>
              <a:tabLst>
                <a:tab pos="697865" algn="l"/>
                <a:tab pos="2444750" algn="l"/>
                <a:tab pos="3068320" algn="l"/>
                <a:tab pos="3366770" algn="l"/>
                <a:tab pos="3990340" algn="l"/>
              </a:tabLst>
            </a:pPr>
            <a:r>
              <a:rPr sz="1700" dirty="0">
                <a:solidFill>
                  <a:sysClr val="windowText" lastClr="000000"/>
                </a:solidFill>
                <a:latin typeface="Palatino Linotype" panose="02040502050505030304"/>
                <a:cs typeface="Palatino Linotype" panose="02040502050505030304"/>
              </a:rPr>
              <a:t>Example:</a:t>
            </a:r>
            <a:r>
              <a:rPr sz="1700" spc="-20" dirty="0">
                <a:solidFill>
                  <a:sysClr val="windowText" lastClr="000000"/>
                </a:solidFill>
                <a:latin typeface="Palatino Linotype" panose="02040502050505030304"/>
                <a:cs typeface="Palatino Linotype" panose="02040502050505030304"/>
              </a:rPr>
              <a:t> </a:t>
            </a:r>
            <a:r>
              <a:rPr sz="1700" dirty="0">
                <a:solidFill>
                  <a:sysClr val="windowText" lastClr="000000"/>
                </a:solidFill>
                <a:latin typeface="Cambria Math" panose="02040503050406030204"/>
                <a:cs typeface="Cambria Math" panose="02040503050406030204"/>
              </a:rPr>
              <a:t>𝑎</a:t>
            </a:r>
            <a:r>
              <a:rPr sz="1700" spc="25" dirty="0">
                <a:solidFill>
                  <a:sysClr val="windowText" lastClr="000000"/>
                </a:solidFill>
                <a:latin typeface="Cambria Math" panose="02040503050406030204"/>
                <a:cs typeface="Cambria Math" panose="02040503050406030204"/>
              </a:rPr>
              <a:t> </a:t>
            </a:r>
            <a:r>
              <a:rPr sz="1700" dirty="0">
                <a:solidFill>
                  <a:sysClr val="windowText" lastClr="000000"/>
                </a:solidFill>
                <a:latin typeface="Cambria Math" panose="02040503050406030204"/>
                <a:cs typeface="Cambria Math" panose="02040503050406030204"/>
              </a:rPr>
              <a:t>+</a:t>
            </a:r>
            <a:r>
              <a:rPr sz="1700" spc="-10" dirty="0">
                <a:solidFill>
                  <a:sysClr val="windowText" lastClr="000000"/>
                </a:solidFill>
                <a:latin typeface="Cambria Math" panose="02040503050406030204"/>
                <a:cs typeface="Cambria Math" panose="02040503050406030204"/>
              </a:rPr>
              <a:t> </a:t>
            </a:r>
            <a:r>
              <a:rPr sz="1700" dirty="0">
                <a:solidFill>
                  <a:sysClr val="windowText" lastClr="000000"/>
                </a:solidFill>
                <a:latin typeface="Cambria Math" panose="02040503050406030204"/>
                <a:cs typeface="Cambria Math" panose="02040503050406030204"/>
              </a:rPr>
              <a:t>𝑎</a:t>
            </a:r>
            <a:r>
              <a:rPr sz="1700" spc="25" dirty="0">
                <a:solidFill>
                  <a:sysClr val="windowText" lastClr="000000"/>
                </a:solidFill>
                <a:latin typeface="Cambria Math" panose="02040503050406030204"/>
                <a:cs typeface="Cambria Math" panose="02040503050406030204"/>
              </a:rPr>
              <a:t> </a:t>
            </a:r>
            <a:r>
              <a:rPr sz="1700" spc="-50" dirty="0">
                <a:solidFill>
                  <a:sysClr val="windowText" lastClr="000000"/>
                </a:solidFill>
                <a:latin typeface="Cambria Math" panose="02040503050406030204"/>
                <a:cs typeface="Cambria Math" panose="02040503050406030204"/>
              </a:rPr>
              <a:t>∗</a:t>
            </a:r>
            <a:r>
              <a:rPr sz="1700" dirty="0">
                <a:solidFill>
                  <a:sysClr val="windowText" lastClr="000000"/>
                </a:solidFill>
                <a:latin typeface="Cambria Math" panose="02040503050406030204"/>
                <a:cs typeface="Cambria Math" panose="02040503050406030204"/>
              </a:rPr>
              <a:t>	𝑏</a:t>
            </a:r>
            <a:r>
              <a:rPr sz="1700" spc="25" dirty="0">
                <a:solidFill>
                  <a:sysClr val="windowText" lastClr="000000"/>
                </a:solidFill>
                <a:latin typeface="Cambria Math" panose="02040503050406030204"/>
                <a:cs typeface="Cambria Math" panose="02040503050406030204"/>
              </a:rPr>
              <a:t> </a:t>
            </a:r>
            <a:r>
              <a:rPr sz="1700" dirty="0">
                <a:solidFill>
                  <a:sysClr val="windowText" lastClr="000000"/>
                </a:solidFill>
                <a:latin typeface="Cambria Math" panose="02040503050406030204"/>
                <a:cs typeface="Cambria Math" panose="02040503050406030204"/>
              </a:rPr>
              <a:t>−</a:t>
            </a:r>
            <a:r>
              <a:rPr sz="1700" spc="-10" dirty="0">
                <a:solidFill>
                  <a:sysClr val="windowText" lastClr="000000"/>
                </a:solidFill>
                <a:latin typeface="Cambria Math" panose="02040503050406030204"/>
                <a:cs typeface="Cambria Math" panose="02040503050406030204"/>
              </a:rPr>
              <a:t> </a:t>
            </a:r>
            <a:r>
              <a:rPr sz="1700" spc="-50" dirty="0">
                <a:solidFill>
                  <a:sysClr val="windowText" lastClr="000000"/>
                </a:solidFill>
                <a:latin typeface="Cambria Math" panose="02040503050406030204"/>
                <a:cs typeface="Cambria Math" panose="02040503050406030204"/>
              </a:rPr>
              <a:t>𝑐</a:t>
            </a:r>
            <a:r>
              <a:rPr sz="1700" dirty="0">
                <a:solidFill>
                  <a:sysClr val="windowText" lastClr="000000"/>
                </a:solidFill>
                <a:latin typeface="Cambria Math" panose="02040503050406030204"/>
                <a:cs typeface="Cambria Math" panose="02040503050406030204"/>
              </a:rPr>
              <a:t>	</a:t>
            </a:r>
            <a:r>
              <a:rPr sz="1700" spc="-50" dirty="0">
                <a:solidFill>
                  <a:sysClr val="windowText" lastClr="000000"/>
                </a:solidFill>
                <a:latin typeface="Cambria Math" panose="02040503050406030204"/>
                <a:cs typeface="Cambria Math" panose="02040503050406030204"/>
              </a:rPr>
              <a:t>+</a:t>
            </a:r>
            <a:r>
              <a:rPr sz="1700" dirty="0">
                <a:solidFill>
                  <a:sysClr val="windowText" lastClr="000000"/>
                </a:solidFill>
                <a:latin typeface="Cambria Math" panose="02040503050406030204"/>
                <a:cs typeface="Cambria Math" panose="02040503050406030204"/>
              </a:rPr>
              <a:t>	𝑏</a:t>
            </a:r>
            <a:r>
              <a:rPr sz="1700" spc="25" dirty="0">
                <a:solidFill>
                  <a:sysClr val="windowText" lastClr="000000"/>
                </a:solidFill>
                <a:latin typeface="Cambria Math" panose="02040503050406030204"/>
                <a:cs typeface="Cambria Math" panose="02040503050406030204"/>
              </a:rPr>
              <a:t> </a:t>
            </a:r>
            <a:r>
              <a:rPr sz="1700" dirty="0">
                <a:solidFill>
                  <a:sysClr val="windowText" lastClr="000000"/>
                </a:solidFill>
                <a:latin typeface="Cambria Math" panose="02040503050406030204"/>
                <a:cs typeface="Cambria Math" panose="02040503050406030204"/>
              </a:rPr>
              <a:t>− </a:t>
            </a:r>
            <a:r>
              <a:rPr sz="1700" spc="-50" dirty="0">
                <a:solidFill>
                  <a:sysClr val="windowText" lastClr="000000"/>
                </a:solidFill>
                <a:latin typeface="Cambria Math" panose="02040503050406030204"/>
                <a:cs typeface="Cambria Math" panose="02040503050406030204"/>
              </a:rPr>
              <a:t>𝑐</a:t>
            </a:r>
            <a:r>
              <a:rPr sz="1700" dirty="0">
                <a:solidFill>
                  <a:sysClr val="windowText" lastClr="000000"/>
                </a:solidFill>
                <a:latin typeface="Cambria Math" panose="02040503050406030204"/>
                <a:cs typeface="Cambria Math" panose="02040503050406030204"/>
              </a:rPr>
              <a:t>	∗</a:t>
            </a:r>
            <a:r>
              <a:rPr sz="1700" spc="-10" dirty="0">
                <a:solidFill>
                  <a:sysClr val="windowText" lastClr="000000"/>
                </a:solidFill>
                <a:latin typeface="Cambria Math" panose="02040503050406030204"/>
                <a:cs typeface="Cambria Math" panose="02040503050406030204"/>
              </a:rPr>
              <a:t> </a:t>
            </a:r>
            <a:r>
              <a:rPr sz="1700" spc="-50" dirty="0">
                <a:solidFill>
                  <a:sysClr val="windowText" lastClr="000000"/>
                </a:solidFill>
                <a:latin typeface="Cambria Math" panose="02040503050406030204"/>
                <a:cs typeface="Cambria Math" panose="02040503050406030204"/>
              </a:rPr>
              <a:t>𝑑</a:t>
            </a:r>
            <a:endParaRPr sz="1700">
              <a:solidFill>
                <a:sysClr val="windowText" lastClr="000000"/>
              </a:solidFill>
              <a:latin typeface="Cambria Math" panose="02040503050406030204"/>
              <a:cs typeface="Cambria Math" panose="02040503050406030204"/>
            </a:endParaRPr>
          </a:p>
          <a:p>
            <a:pPr marL="65405" algn="ctr">
              <a:spcBef>
                <a:spcPts val="1920"/>
              </a:spcBef>
            </a:pPr>
            <a:r>
              <a:rPr spc="-50" dirty="0">
                <a:solidFill>
                  <a:sysClr val="windowText" lastClr="000000"/>
                </a:solidFill>
                <a:latin typeface="Cambria Math" panose="02040503050406030204"/>
                <a:cs typeface="Cambria Math" panose="02040503050406030204"/>
              </a:rPr>
              <a:t>+</a:t>
            </a:r>
            <a:endParaRPr>
              <a:solidFill>
                <a:sysClr val="windowText" lastClr="000000"/>
              </a:solidFill>
              <a:latin typeface="Cambria Math" panose="02040503050406030204"/>
              <a:cs typeface="Cambria Math" panose="02040503050406030204"/>
            </a:endParaRPr>
          </a:p>
        </p:txBody>
      </p:sp>
      <p:sp>
        <p:nvSpPr>
          <p:cNvPr id="34" name="object 6"/>
          <p:cNvSpPr txBox="1"/>
          <p:nvPr/>
        </p:nvSpPr>
        <p:spPr>
          <a:xfrm>
            <a:off x="2767964" y="3715892"/>
            <a:ext cx="19621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a:t>
            </a:r>
            <a:endParaRPr>
              <a:solidFill>
                <a:sysClr val="windowText" lastClr="000000"/>
              </a:solidFill>
              <a:latin typeface="Cambria Math" panose="02040503050406030204"/>
              <a:cs typeface="Cambria Math" panose="02040503050406030204"/>
            </a:endParaRPr>
          </a:p>
        </p:txBody>
      </p:sp>
      <p:sp>
        <p:nvSpPr>
          <p:cNvPr id="35" name="object 7"/>
          <p:cNvSpPr txBox="1"/>
          <p:nvPr/>
        </p:nvSpPr>
        <p:spPr>
          <a:xfrm>
            <a:off x="3444621" y="4435855"/>
            <a:ext cx="13589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a:t>
            </a:r>
            <a:endParaRPr>
              <a:solidFill>
                <a:sysClr val="windowText" lastClr="000000"/>
              </a:solidFill>
              <a:latin typeface="Cambria Math" panose="02040503050406030204"/>
              <a:cs typeface="Cambria Math" panose="02040503050406030204"/>
            </a:endParaRPr>
          </a:p>
        </p:txBody>
      </p:sp>
      <p:sp>
        <p:nvSpPr>
          <p:cNvPr id="36" name="object 8"/>
          <p:cNvSpPr txBox="1"/>
          <p:nvPr/>
        </p:nvSpPr>
        <p:spPr>
          <a:xfrm>
            <a:off x="2096770" y="4429455"/>
            <a:ext cx="153035" cy="300355"/>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𝑎</a:t>
            </a:r>
            <a:endParaRPr>
              <a:solidFill>
                <a:sysClr val="windowText" lastClr="000000"/>
              </a:solidFill>
              <a:latin typeface="Cambria Math" panose="02040503050406030204"/>
              <a:cs typeface="Cambria Math" panose="02040503050406030204"/>
            </a:endParaRPr>
          </a:p>
        </p:txBody>
      </p:sp>
      <p:sp>
        <p:nvSpPr>
          <p:cNvPr id="37" name="object 9"/>
          <p:cNvSpPr txBox="1"/>
          <p:nvPr/>
        </p:nvSpPr>
        <p:spPr>
          <a:xfrm>
            <a:off x="2787776" y="5168341"/>
            <a:ext cx="153035" cy="300355"/>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𝑎</a:t>
            </a:r>
            <a:endParaRPr>
              <a:solidFill>
                <a:sysClr val="windowText" lastClr="000000"/>
              </a:solidFill>
              <a:latin typeface="Cambria Math" panose="02040503050406030204"/>
              <a:cs typeface="Cambria Math" panose="02040503050406030204"/>
            </a:endParaRPr>
          </a:p>
        </p:txBody>
      </p:sp>
      <p:sp>
        <p:nvSpPr>
          <p:cNvPr id="38" name="object 10"/>
          <p:cNvSpPr txBox="1"/>
          <p:nvPr/>
        </p:nvSpPr>
        <p:spPr>
          <a:xfrm>
            <a:off x="4042917" y="5162803"/>
            <a:ext cx="19621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a:t>
            </a:r>
            <a:endParaRPr>
              <a:solidFill>
                <a:sysClr val="windowText" lastClr="000000"/>
              </a:solidFill>
              <a:latin typeface="Cambria Math" panose="02040503050406030204"/>
              <a:cs typeface="Cambria Math" panose="02040503050406030204"/>
            </a:endParaRPr>
          </a:p>
        </p:txBody>
      </p:sp>
      <p:sp>
        <p:nvSpPr>
          <p:cNvPr id="39" name="object 11"/>
          <p:cNvSpPr txBox="1"/>
          <p:nvPr/>
        </p:nvSpPr>
        <p:spPr>
          <a:xfrm>
            <a:off x="3610736" y="5819647"/>
            <a:ext cx="14922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𝑏</a:t>
            </a:r>
            <a:endParaRPr>
              <a:solidFill>
                <a:sysClr val="windowText" lastClr="000000"/>
              </a:solidFill>
              <a:latin typeface="Cambria Math" panose="02040503050406030204"/>
              <a:cs typeface="Cambria Math" panose="02040503050406030204"/>
            </a:endParaRPr>
          </a:p>
        </p:txBody>
      </p:sp>
      <p:sp>
        <p:nvSpPr>
          <p:cNvPr id="40" name="object 12"/>
          <p:cNvSpPr txBox="1"/>
          <p:nvPr/>
        </p:nvSpPr>
        <p:spPr>
          <a:xfrm>
            <a:off x="4529073" y="5822391"/>
            <a:ext cx="13081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𝑐</a:t>
            </a:r>
            <a:endParaRPr>
              <a:solidFill>
                <a:sysClr val="windowText" lastClr="000000"/>
              </a:solidFill>
              <a:latin typeface="Cambria Math" panose="02040503050406030204"/>
              <a:cs typeface="Cambria Math" panose="02040503050406030204"/>
            </a:endParaRPr>
          </a:p>
        </p:txBody>
      </p:sp>
      <p:sp>
        <p:nvSpPr>
          <p:cNvPr id="41" name="object 13"/>
          <p:cNvSpPr txBox="1"/>
          <p:nvPr/>
        </p:nvSpPr>
        <p:spPr>
          <a:xfrm>
            <a:off x="5633720" y="4429455"/>
            <a:ext cx="196850" cy="300355"/>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a:t>
            </a:r>
            <a:endParaRPr>
              <a:solidFill>
                <a:sysClr val="windowText" lastClr="000000"/>
              </a:solidFill>
              <a:latin typeface="Cambria Math" panose="02040503050406030204"/>
              <a:cs typeface="Cambria Math" panose="02040503050406030204"/>
            </a:endParaRPr>
          </a:p>
        </p:txBody>
      </p:sp>
      <p:sp>
        <p:nvSpPr>
          <p:cNvPr id="42" name="object 14"/>
          <p:cNvSpPr txBox="1"/>
          <p:nvPr/>
        </p:nvSpPr>
        <p:spPr>
          <a:xfrm>
            <a:off x="5099684" y="5089397"/>
            <a:ext cx="14922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𝑏</a:t>
            </a:r>
            <a:endParaRPr>
              <a:solidFill>
                <a:sysClr val="windowText" lastClr="000000"/>
              </a:solidFill>
              <a:latin typeface="Cambria Math" panose="02040503050406030204"/>
              <a:cs typeface="Cambria Math" panose="02040503050406030204"/>
            </a:endParaRPr>
          </a:p>
        </p:txBody>
      </p:sp>
      <p:sp>
        <p:nvSpPr>
          <p:cNvPr id="43" name="object 15"/>
          <p:cNvSpPr txBox="1"/>
          <p:nvPr/>
        </p:nvSpPr>
        <p:spPr>
          <a:xfrm>
            <a:off x="6261608" y="5092141"/>
            <a:ext cx="130810" cy="300355"/>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𝑐</a:t>
            </a:r>
            <a:endParaRPr>
              <a:solidFill>
                <a:sysClr val="windowText" lastClr="000000"/>
              </a:solidFill>
              <a:latin typeface="Cambria Math" panose="02040503050406030204"/>
              <a:cs typeface="Cambria Math" panose="02040503050406030204"/>
            </a:endParaRPr>
          </a:p>
        </p:txBody>
      </p:sp>
      <p:sp>
        <p:nvSpPr>
          <p:cNvPr id="44" name="object 16"/>
          <p:cNvSpPr txBox="1"/>
          <p:nvPr/>
        </p:nvSpPr>
        <p:spPr>
          <a:xfrm>
            <a:off x="6264655" y="3715892"/>
            <a:ext cx="13589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a:t>
            </a:r>
            <a:endParaRPr>
              <a:solidFill>
                <a:sysClr val="windowText" lastClr="000000"/>
              </a:solidFill>
              <a:latin typeface="Cambria Math" panose="02040503050406030204"/>
              <a:cs typeface="Cambria Math" panose="02040503050406030204"/>
            </a:endParaRPr>
          </a:p>
        </p:txBody>
      </p:sp>
      <p:sp>
        <p:nvSpPr>
          <p:cNvPr id="45" name="object 17"/>
          <p:cNvSpPr txBox="1"/>
          <p:nvPr/>
        </p:nvSpPr>
        <p:spPr>
          <a:xfrm>
            <a:off x="6896861" y="4429455"/>
            <a:ext cx="158115" cy="300355"/>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𝑑</a:t>
            </a:r>
            <a:endParaRPr>
              <a:solidFill>
                <a:sysClr val="windowText" lastClr="000000"/>
              </a:solidFill>
              <a:latin typeface="Cambria Math" panose="02040503050406030204"/>
              <a:cs typeface="Cambria Math" panose="02040503050406030204"/>
            </a:endParaRPr>
          </a:p>
        </p:txBody>
      </p:sp>
      <p:sp>
        <p:nvSpPr>
          <p:cNvPr id="46" name="object 18"/>
          <p:cNvSpPr/>
          <p:nvPr/>
        </p:nvSpPr>
        <p:spPr>
          <a:xfrm>
            <a:off x="3072383" y="3314700"/>
            <a:ext cx="3055620" cy="565785"/>
          </a:xfrm>
          <a:custGeom>
            <a:avLst/>
            <a:gdLst/>
            <a:ahLst/>
            <a:cxnLst/>
            <a:rect l="l" t="t" r="r" b="b"/>
            <a:pathLst>
              <a:path w="3055620" h="565785">
                <a:moveTo>
                  <a:pt x="1521968" y="0"/>
                </a:moveTo>
                <a:lnTo>
                  <a:pt x="0" y="565657"/>
                </a:lnTo>
              </a:path>
              <a:path w="3055620" h="565785">
                <a:moveTo>
                  <a:pt x="3055239" y="565657"/>
                </a:moveTo>
                <a:lnTo>
                  <a:pt x="1522476" y="0"/>
                </a:lnTo>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nvGrpSpPr>
          <p:cNvPr id="47" name="object 19"/>
          <p:cNvGrpSpPr/>
          <p:nvPr/>
        </p:nvGrpSpPr>
        <p:grpSpPr>
          <a:xfrm>
            <a:off x="1772157" y="4059745"/>
            <a:ext cx="1745614" cy="787400"/>
            <a:chOff x="1772157" y="4059745"/>
            <a:chExt cx="1745614" cy="787400"/>
          </a:xfrm>
        </p:grpSpPr>
        <p:sp>
          <p:nvSpPr>
            <p:cNvPr id="48" name="object 20"/>
            <p:cNvSpPr/>
            <p:nvPr/>
          </p:nvSpPr>
          <p:spPr>
            <a:xfrm>
              <a:off x="2176271" y="4064508"/>
              <a:ext cx="1336675" cy="350520"/>
            </a:xfrm>
            <a:custGeom>
              <a:avLst/>
              <a:gdLst/>
              <a:ahLst/>
              <a:cxnLst/>
              <a:rect l="l" t="t" r="r" b="b"/>
              <a:pathLst>
                <a:path w="1336675" h="350520">
                  <a:moveTo>
                    <a:pt x="0" y="344424"/>
                  </a:moveTo>
                  <a:lnTo>
                    <a:pt x="690879" y="0"/>
                  </a:lnTo>
                </a:path>
                <a:path w="1336675" h="350520">
                  <a:moveTo>
                    <a:pt x="1336420" y="350266"/>
                  </a:moveTo>
                  <a:lnTo>
                    <a:pt x="690371" y="0"/>
                  </a:lnTo>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9" name="object 21"/>
            <p:cNvSpPr/>
            <p:nvPr/>
          </p:nvSpPr>
          <p:spPr>
            <a:xfrm>
              <a:off x="1778507" y="4439412"/>
              <a:ext cx="826135" cy="401320"/>
            </a:xfrm>
            <a:custGeom>
              <a:avLst/>
              <a:gdLst/>
              <a:ahLst/>
              <a:cxnLst/>
              <a:rect l="l" t="t" r="r" b="b"/>
              <a:pathLst>
                <a:path w="826135" h="401320">
                  <a:moveTo>
                    <a:pt x="0" y="200406"/>
                  </a:moveTo>
                  <a:lnTo>
                    <a:pt x="17486" y="142503"/>
                  </a:lnTo>
                  <a:lnTo>
                    <a:pt x="66538" y="91255"/>
                  </a:lnTo>
                  <a:lnTo>
                    <a:pt x="101304" y="68899"/>
                  </a:lnTo>
                  <a:lnTo>
                    <a:pt x="142044" y="49134"/>
                  </a:lnTo>
                  <a:lnTo>
                    <a:pt x="188120" y="32270"/>
                  </a:lnTo>
                  <a:lnTo>
                    <a:pt x="238893" y="18616"/>
                  </a:lnTo>
                  <a:lnTo>
                    <a:pt x="293724" y="8479"/>
                  </a:lnTo>
                  <a:lnTo>
                    <a:pt x="351974" y="2171"/>
                  </a:lnTo>
                  <a:lnTo>
                    <a:pt x="413004" y="0"/>
                  </a:lnTo>
                  <a:lnTo>
                    <a:pt x="474033" y="2171"/>
                  </a:lnTo>
                  <a:lnTo>
                    <a:pt x="532283" y="8479"/>
                  </a:lnTo>
                  <a:lnTo>
                    <a:pt x="587114" y="18616"/>
                  </a:lnTo>
                  <a:lnTo>
                    <a:pt x="637887" y="32270"/>
                  </a:lnTo>
                  <a:lnTo>
                    <a:pt x="683963" y="49134"/>
                  </a:lnTo>
                  <a:lnTo>
                    <a:pt x="724703" y="68899"/>
                  </a:lnTo>
                  <a:lnTo>
                    <a:pt x="759469" y="91255"/>
                  </a:lnTo>
                  <a:lnTo>
                    <a:pt x="808521" y="142503"/>
                  </a:lnTo>
                  <a:lnTo>
                    <a:pt x="826008" y="200406"/>
                  </a:lnTo>
                  <a:lnTo>
                    <a:pt x="821529" y="230034"/>
                  </a:lnTo>
                  <a:lnTo>
                    <a:pt x="787621" y="284919"/>
                  </a:lnTo>
                  <a:lnTo>
                    <a:pt x="724703" y="331912"/>
                  </a:lnTo>
                  <a:lnTo>
                    <a:pt x="683963" y="351677"/>
                  </a:lnTo>
                  <a:lnTo>
                    <a:pt x="637887" y="368541"/>
                  </a:lnTo>
                  <a:lnTo>
                    <a:pt x="587114" y="382195"/>
                  </a:lnTo>
                  <a:lnTo>
                    <a:pt x="532283" y="392332"/>
                  </a:lnTo>
                  <a:lnTo>
                    <a:pt x="474033" y="398640"/>
                  </a:lnTo>
                  <a:lnTo>
                    <a:pt x="413004" y="400812"/>
                  </a:lnTo>
                  <a:lnTo>
                    <a:pt x="351974" y="398640"/>
                  </a:lnTo>
                  <a:lnTo>
                    <a:pt x="293724" y="392332"/>
                  </a:lnTo>
                  <a:lnTo>
                    <a:pt x="238893" y="382195"/>
                  </a:lnTo>
                  <a:lnTo>
                    <a:pt x="188120" y="368541"/>
                  </a:lnTo>
                  <a:lnTo>
                    <a:pt x="142044" y="351677"/>
                  </a:lnTo>
                  <a:lnTo>
                    <a:pt x="101304" y="331912"/>
                  </a:lnTo>
                  <a:lnTo>
                    <a:pt x="66538" y="309556"/>
                  </a:lnTo>
                  <a:lnTo>
                    <a:pt x="17486" y="258308"/>
                  </a:lnTo>
                  <a:lnTo>
                    <a:pt x="0" y="200406"/>
                  </a:lnTo>
                  <a:close/>
                </a:path>
              </a:pathLst>
            </a:custGeom>
            <a:ln w="12700">
              <a:solidFill>
                <a:srgbClr val="0431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
        <p:nvSpPr>
          <p:cNvPr id="50" name="object 22"/>
          <p:cNvSpPr/>
          <p:nvPr/>
        </p:nvSpPr>
        <p:spPr>
          <a:xfrm>
            <a:off x="5731764" y="4064508"/>
            <a:ext cx="1247140" cy="344805"/>
          </a:xfrm>
          <a:custGeom>
            <a:avLst/>
            <a:gdLst/>
            <a:ahLst/>
            <a:cxnLst/>
            <a:rect l="l" t="t" r="r" b="b"/>
            <a:pathLst>
              <a:path w="1247140" h="344804">
                <a:moveTo>
                  <a:pt x="0" y="344424"/>
                </a:moveTo>
                <a:lnTo>
                  <a:pt x="600201" y="0"/>
                </a:lnTo>
              </a:path>
              <a:path w="1247140" h="344804">
                <a:moveTo>
                  <a:pt x="1246632" y="344424"/>
                </a:moveTo>
                <a:lnTo>
                  <a:pt x="600456" y="0"/>
                </a:lnTo>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nvGrpSpPr>
          <p:cNvPr id="51" name="object 23"/>
          <p:cNvGrpSpPr/>
          <p:nvPr/>
        </p:nvGrpSpPr>
        <p:grpSpPr>
          <a:xfrm>
            <a:off x="2447289" y="4506214"/>
            <a:ext cx="4060825" cy="1791335"/>
            <a:chOff x="2447289" y="4506214"/>
            <a:chExt cx="4060825" cy="1791335"/>
          </a:xfrm>
        </p:grpSpPr>
        <p:sp>
          <p:nvSpPr>
            <p:cNvPr id="52" name="object 24"/>
            <p:cNvSpPr/>
            <p:nvPr/>
          </p:nvSpPr>
          <p:spPr>
            <a:xfrm>
              <a:off x="2866643" y="4779264"/>
              <a:ext cx="3463290" cy="1022985"/>
            </a:xfrm>
            <a:custGeom>
              <a:avLst/>
              <a:gdLst/>
              <a:ahLst/>
              <a:cxnLst/>
              <a:rect l="l" t="t" r="r" b="b"/>
              <a:pathLst>
                <a:path w="3463290" h="1022985">
                  <a:moveTo>
                    <a:pt x="2310384" y="289813"/>
                  </a:moveTo>
                  <a:lnTo>
                    <a:pt x="2865882" y="0"/>
                  </a:lnTo>
                </a:path>
                <a:path w="3463290" h="1022985">
                  <a:moveTo>
                    <a:pt x="3462908" y="293116"/>
                  </a:moveTo>
                  <a:lnTo>
                    <a:pt x="2865120" y="0"/>
                  </a:lnTo>
                </a:path>
                <a:path w="3463290" h="1022985">
                  <a:moveTo>
                    <a:pt x="1275080" y="733044"/>
                  </a:moveTo>
                  <a:lnTo>
                    <a:pt x="821435" y="1020343"/>
                  </a:lnTo>
                </a:path>
                <a:path w="3463290" h="1022985">
                  <a:moveTo>
                    <a:pt x="1274064" y="733044"/>
                  </a:moveTo>
                  <a:lnTo>
                    <a:pt x="1730120" y="1022934"/>
                  </a:lnTo>
                </a:path>
                <a:path w="3463290" h="1022985">
                  <a:moveTo>
                    <a:pt x="646176" y="6096"/>
                  </a:moveTo>
                  <a:lnTo>
                    <a:pt x="1274698" y="363728"/>
                  </a:lnTo>
                </a:path>
                <a:path w="3463290" h="1022985">
                  <a:moveTo>
                    <a:pt x="646048" y="6096"/>
                  </a:moveTo>
                  <a:lnTo>
                    <a:pt x="0" y="369569"/>
                  </a:lnTo>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53" name="object 25"/>
            <p:cNvSpPr/>
            <p:nvPr/>
          </p:nvSpPr>
          <p:spPr>
            <a:xfrm>
              <a:off x="2453639" y="5186172"/>
              <a:ext cx="826135" cy="401320"/>
            </a:xfrm>
            <a:custGeom>
              <a:avLst/>
              <a:gdLst/>
              <a:ahLst/>
              <a:cxnLst/>
              <a:rect l="l" t="t" r="r" b="b"/>
              <a:pathLst>
                <a:path w="826135" h="401320">
                  <a:moveTo>
                    <a:pt x="0" y="200405"/>
                  </a:moveTo>
                  <a:lnTo>
                    <a:pt x="17486" y="142503"/>
                  </a:lnTo>
                  <a:lnTo>
                    <a:pt x="66538" y="91255"/>
                  </a:lnTo>
                  <a:lnTo>
                    <a:pt x="101304" y="68899"/>
                  </a:lnTo>
                  <a:lnTo>
                    <a:pt x="142044" y="49134"/>
                  </a:lnTo>
                  <a:lnTo>
                    <a:pt x="188120" y="32270"/>
                  </a:lnTo>
                  <a:lnTo>
                    <a:pt x="238893" y="18616"/>
                  </a:lnTo>
                  <a:lnTo>
                    <a:pt x="293724" y="8479"/>
                  </a:lnTo>
                  <a:lnTo>
                    <a:pt x="351974" y="2171"/>
                  </a:lnTo>
                  <a:lnTo>
                    <a:pt x="413004" y="0"/>
                  </a:lnTo>
                  <a:lnTo>
                    <a:pt x="474033" y="2171"/>
                  </a:lnTo>
                  <a:lnTo>
                    <a:pt x="532283" y="8479"/>
                  </a:lnTo>
                  <a:lnTo>
                    <a:pt x="587114" y="18616"/>
                  </a:lnTo>
                  <a:lnTo>
                    <a:pt x="637887" y="32270"/>
                  </a:lnTo>
                  <a:lnTo>
                    <a:pt x="683963" y="49134"/>
                  </a:lnTo>
                  <a:lnTo>
                    <a:pt x="724703" y="68899"/>
                  </a:lnTo>
                  <a:lnTo>
                    <a:pt x="759469" y="91255"/>
                  </a:lnTo>
                  <a:lnTo>
                    <a:pt x="808521" y="142503"/>
                  </a:lnTo>
                  <a:lnTo>
                    <a:pt x="826008" y="200405"/>
                  </a:lnTo>
                  <a:lnTo>
                    <a:pt x="821529" y="230034"/>
                  </a:lnTo>
                  <a:lnTo>
                    <a:pt x="787621" y="284919"/>
                  </a:lnTo>
                  <a:lnTo>
                    <a:pt x="724703" y="331912"/>
                  </a:lnTo>
                  <a:lnTo>
                    <a:pt x="683963" y="351677"/>
                  </a:lnTo>
                  <a:lnTo>
                    <a:pt x="637887" y="368541"/>
                  </a:lnTo>
                  <a:lnTo>
                    <a:pt x="587114" y="382195"/>
                  </a:lnTo>
                  <a:lnTo>
                    <a:pt x="532283" y="392332"/>
                  </a:lnTo>
                  <a:lnTo>
                    <a:pt x="474033" y="398640"/>
                  </a:lnTo>
                  <a:lnTo>
                    <a:pt x="413004" y="400811"/>
                  </a:lnTo>
                  <a:lnTo>
                    <a:pt x="351974" y="398640"/>
                  </a:lnTo>
                  <a:lnTo>
                    <a:pt x="293724" y="392332"/>
                  </a:lnTo>
                  <a:lnTo>
                    <a:pt x="238893" y="382195"/>
                  </a:lnTo>
                  <a:lnTo>
                    <a:pt x="188120" y="368541"/>
                  </a:lnTo>
                  <a:lnTo>
                    <a:pt x="142044" y="351677"/>
                  </a:lnTo>
                  <a:lnTo>
                    <a:pt x="101304" y="331912"/>
                  </a:lnTo>
                  <a:lnTo>
                    <a:pt x="66538" y="309556"/>
                  </a:lnTo>
                  <a:lnTo>
                    <a:pt x="17486" y="258308"/>
                  </a:lnTo>
                  <a:lnTo>
                    <a:pt x="0" y="200405"/>
                  </a:lnTo>
                  <a:close/>
                </a:path>
              </a:pathLst>
            </a:custGeom>
            <a:ln w="12699">
              <a:solidFill>
                <a:srgbClr val="0431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54" name="object 26"/>
            <p:cNvSpPr/>
            <p:nvPr/>
          </p:nvSpPr>
          <p:spPr>
            <a:xfrm>
              <a:off x="3393947" y="4512564"/>
              <a:ext cx="3107690" cy="1778635"/>
            </a:xfrm>
            <a:custGeom>
              <a:avLst/>
              <a:gdLst/>
              <a:ahLst/>
              <a:cxnLst/>
              <a:rect l="l" t="t" r="r" b="b"/>
              <a:pathLst>
                <a:path w="3107690" h="1778635">
                  <a:moveTo>
                    <a:pt x="0" y="1245108"/>
                  </a:moveTo>
                  <a:lnTo>
                    <a:pt x="2102" y="1205293"/>
                  </a:lnTo>
                  <a:lnTo>
                    <a:pt x="8310" y="1166274"/>
                  </a:lnTo>
                  <a:lnTo>
                    <a:pt x="18476" y="1128154"/>
                  </a:lnTo>
                  <a:lnTo>
                    <a:pt x="32451" y="1091036"/>
                  </a:lnTo>
                  <a:lnTo>
                    <a:pt x="50088" y="1055023"/>
                  </a:lnTo>
                  <a:lnTo>
                    <a:pt x="71238" y="1020217"/>
                  </a:lnTo>
                  <a:lnTo>
                    <a:pt x="95754" y="986723"/>
                  </a:lnTo>
                  <a:lnTo>
                    <a:pt x="123486" y="954643"/>
                  </a:lnTo>
                  <a:lnTo>
                    <a:pt x="154287" y="924080"/>
                  </a:lnTo>
                  <a:lnTo>
                    <a:pt x="188009" y="895137"/>
                  </a:lnTo>
                  <a:lnTo>
                    <a:pt x="224504" y="867918"/>
                  </a:lnTo>
                  <a:lnTo>
                    <a:pt x="263623" y="842524"/>
                  </a:lnTo>
                  <a:lnTo>
                    <a:pt x="305218" y="819060"/>
                  </a:lnTo>
                  <a:lnTo>
                    <a:pt x="349142" y="797629"/>
                  </a:lnTo>
                  <a:lnTo>
                    <a:pt x="395246" y="778332"/>
                  </a:lnTo>
                  <a:lnTo>
                    <a:pt x="443382" y="761275"/>
                  </a:lnTo>
                  <a:lnTo>
                    <a:pt x="493401" y="746559"/>
                  </a:lnTo>
                  <a:lnTo>
                    <a:pt x="545156" y="734287"/>
                  </a:lnTo>
                  <a:lnTo>
                    <a:pt x="598499" y="724563"/>
                  </a:lnTo>
                  <a:lnTo>
                    <a:pt x="653281" y="717490"/>
                  </a:lnTo>
                  <a:lnTo>
                    <a:pt x="709355" y="713170"/>
                  </a:lnTo>
                  <a:lnTo>
                    <a:pt x="766572" y="711708"/>
                  </a:lnTo>
                  <a:lnTo>
                    <a:pt x="823788" y="713170"/>
                  </a:lnTo>
                  <a:lnTo>
                    <a:pt x="879862" y="717490"/>
                  </a:lnTo>
                  <a:lnTo>
                    <a:pt x="934644" y="724563"/>
                  </a:lnTo>
                  <a:lnTo>
                    <a:pt x="987987" y="734287"/>
                  </a:lnTo>
                  <a:lnTo>
                    <a:pt x="1039742" y="746559"/>
                  </a:lnTo>
                  <a:lnTo>
                    <a:pt x="1089761" y="761275"/>
                  </a:lnTo>
                  <a:lnTo>
                    <a:pt x="1137897" y="778332"/>
                  </a:lnTo>
                  <a:lnTo>
                    <a:pt x="1184001" y="797629"/>
                  </a:lnTo>
                  <a:lnTo>
                    <a:pt x="1227925" y="819060"/>
                  </a:lnTo>
                  <a:lnTo>
                    <a:pt x="1269520" y="842524"/>
                  </a:lnTo>
                  <a:lnTo>
                    <a:pt x="1308639" y="867918"/>
                  </a:lnTo>
                  <a:lnTo>
                    <a:pt x="1345134" y="895137"/>
                  </a:lnTo>
                  <a:lnTo>
                    <a:pt x="1378856" y="924080"/>
                  </a:lnTo>
                  <a:lnTo>
                    <a:pt x="1409657" y="954643"/>
                  </a:lnTo>
                  <a:lnTo>
                    <a:pt x="1437389" y="986723"/>
                  </a:lnTo>
                  <a:lnTo>
                    <a:pt x="1461905" y="1020217"/>
                  </a:lnTo>
                  <a:lnTo>
                    <a:pt x="1483055" y="1055023"/>
                  </a:lnTo>
                  <a:lnTo>
                    <a:pt x="1500692" y="1091036"/>
                  </a:lnTo>
                  <a:lnTo>
                    <a:pt x="1514667" y="1128154"/>
                  </a:lnTo>
                  <a:lnTo>
                    <a:pt x="1524833" y="1166274"/>
                  </a:lnTo>
                  <a:lnTo>
                    <a:pt x="1531041" y="1205293"/>
                  </a:lnTo>
                  <a:lnTo>
                    <a:pt x="1533143" y="1245108"/>
                  </a:lnTo>
                  <a:lnTo>
                    <a:pt x="1531041" y="1284916"/>
                  </a:lnTo>
                  <a:lnTo>
                    <a:pt x="1524833" y="1323930"/>
                  </a:lnTo>
                  <a:lnTo>
                    <a:pt x="1514667" y="1362046"/>
                  </a:lnTo>
                  <a:lnTo>
                    <a:pt x="1500692" y="1399161"/>
                  </a:lnTo>
                  <a:lnTo>
                    <a:pt x="1483055" y="1435172"/>
                  </a:lnTo>
                  <a:lnTo>
                    <a:pt x="1461905" y="1469976"/>
                  </a:lnTo>
                  <a:lnTo>
                    <a:pt x="1437389" y="1503469"/>
                  </a:lnTo>
                  <a:lnTo>
                    <a:pt x="1409657" y="1535550"/>
                  </a:lnTo>
                  <a:lnTo>
                    <a:pt x="1378856" y="1566113"/>
                  </a:lnTo>
                  <a:lnTo>
                    <a:pt x="1345134" y="1595057"/>
                  </a:lnTo>
                  <a:lnTo>
                    <a:pt x="1308639" y="1622278"/>
                  </a:lnTo>
                  <a:lnTo>
                    <a:pt x="1269520" y="1647674"/>
                  </a:lnTo>
                  <a:lnTo>
                    <a:pt x="1227925" y="1671140"/>
                  </a:lnTo>
                  <a:lnTo>
                    <a:pt x="1184001" y="1692574"/>
                  </a:lnTo>
                  <a:lnTo>
                    <a:pt x="1137897" y="1711872"/>
                  </a:lnTo>
                  <a:lnTo>
                    <a:pt x="1089761" y="1728932"/>
                  </a:lnTo>
                  <a:lnTo>
                    <a:pt x="1039742" y="1743650"/>
                  </a:lnTo>
                  <a:lnTo>
                    <a:pt x="987987" y="1755924"/>
                  </a:lnTo>
                  <a:lnTo>
                    <a:pt x="934644" y="1765650"/>
                  </a:lnTo>
                  <a:lnTo>
                    <a:pt x="879862" y="1772724"/>
                  </a:lnTo>
                  <a:lnTo>
                    <a:pt x="823788" y="1777044"/>
                  </a:lnTo>
                  <a:lnTo>
                    <a:pt x="766572" y="1778508"/>
                  </a:lnTo>
                  <a:lnTo>
                    <a:pt x="709355" y="1777044"/>
                  </a:lnTo>
                  <a:lnTo>
                    <a:pt x="653281" y="1772724"/>
                  </a:lnTo>
                  <a:lnTo>
                    <a:pt x="598499" y="1765650"/>
                  </a:lnTo>
                  <a:lnTo>
                    <a:pt x="545156" y="1755924"/>
                  </a:lnTo>
                  <a:lnTo>
                    <a:pt x="493401" y="1743650"/>
                  </a:lnTo>
                  <a:lnTo>
                    <a:pt x="443382" y="1728932"/>
                  </a:lnTo>
                  <a:lnTo>
                    <a:pt x="395246" y="1711872"/>
                  </a:lnTo>
                  <a:lnTo>
                    <a:pt x="349142" y="1692574"/>
                  </a:lnTo>
                  <a:lnTo>
                    <a:pt x="305218" y="1671140"/>
                  </a:lnTo>
                  <a:lnTo>
                    <a:pt x="263623" y="1647674"/>
                  </a:lnTo>
                  <a:lnTo>
                    <a:pt x="224504" y="1622278"/>
                  </a:lnTo>
                  <a:lnTo>
                    <a:pt x="188009" y="1595057"/>
                  </a:lnTo>
                  <a:lnTo>
                    <a:pt x="154287" y="1566113"/>
                  </a:lnTo>
                  <a:lnTo>
                    <a:pt x="123486" y="1535550"/>
                  </a:lnTo>
                  <a:lnTo>
                    <a:pt x="95754" y="1503469"/>
                  </a:lnTo>
                  <a:lnTo>
                    <a:pt x="71238" y="1469976"/>
                  </a:lnTo>
                  <a:lnTo>
                    <a:pt x="50088" y="1435172"/>
                  </a:lnTo>
                  <a:lnTo>
                    <a:pt x="32451" y="1399161"/>
                  </a:lnTo>
                  <a:lnTo>
                    <a:pt x="18476" y="1362046"/>
                  </a:lnTo>
                  <a:lnTo>
                    <a:pt x="8310" y="1323930"/>
                  </a:lnTo>
                  <a:lnTo>
                    <a:pt x="2102" y="1284916"/>
                  </a:lnTo>
                  <a:lnTo>
                    <a:pt x="0" y="1245108"/>
                  </a:lnTo>
                  <a:close/>
                </a:path>
                <a:path w="3107690" h="1778635">
                  <a:moveTo>
                    <a:pt x="1574291" y="533400"/>
                  </a:moveTo>
                  <a:lnTo>
                    <a:pt x="1576394" y="493585"/>
                  </a:lnTo>
                  <a:lnTo>
                    <a:pt x="1582602" y="454566"/>
                  </a:lnTo>
                  <a:lnTo>
                    <a:pt x="1592768" y="416446"/>
                  </a:lnTo>
                  <a:lnTo>
                    <a:pt x="1606743" y="379328"/>
                  </a:lnTo>
                  <a:lnTo>
                    <a:pt x="1624380" y="343315"/>
                  </a:lnTo>
                  <a:lnTo>
                    <a:pt x="1645530" y="308509"/>
                  </a:lnTo>
                  <a:lnTo>
                    <a:pt x="1670046" y="275015"/>
                  </a:lnTo>
                  <a:lnTo>
                    <a:pt x="1697778" y="242935"/>
                  </a:lnTo>
                  <a:lnTo>
                    <a:pt x="1728579" y="212372"/>
                  </a:lnTo>
                  <a:lnTo>
                    <a:pt x="1762301" y="183429"/>
                  </a:lnTo>
                  <a:lnTo>
                    <a:pt x="1798796" y="156210"/>
                  </a:lnTo>
                  <a:lnTo>
                    <a:pt x="1837915" y="130816"/>
                  </a:lnTo>
                  <a:lnTo>
                    <a:pt x="1879510" y="107352"/>
                  </a:lnTo>
                  <a:lnTo>
                    <a:pt x="1923434" y="85921"/>
                  </a:lnTo>
                  <a:lnTo>
                    <a:pt x="1969538" y="66624"/>
                  </a:lnTo>
                  <a:lnTo>
                    <a:pt x="2017674" y="49567"/>
                  </a:lnTo>
                  <a:lnTo>
                    <a:pt x="2067693" y="34851"/>
                  </a:lnTo>
                  <a:lnTo>
                    <a:pt x="2119448" y="22579"/>
                  </a:lnTo>
                  <a:lnTo>
                    <a:pt x="2172791" y="12855"/>
                  </a:lnTo>
                  <a:lnTo>
                    <a:pt x="2227573" y="5782"/>
                  </a:lnTo>
                  <a:lnTo>
                    <a:pt x="2283647" y="1462"/>
                  </a:lnTo>
                  <a:lnTo>
                    <a:pt x="2340864" y="0"/>
                  </a:lnTo>
                  <a:lnTo>
                    <a:pt x="2398080" y="1462"/>
                  </a:lnTo>
                  <a:lnTo>
                    <a:pt x="2454154" y="5782"/>
                  </a:lnTo>
                  <a:lnTo>
                    <a:pt x="2508936" y="12855"/>
                  </a:lnTo>
                  <a:lnTo>
                    <a:pt x="2562279" y="22579"/>
                  </a:lnTo>
                  <a:lnTo>
                    <a:pt x="2614034" y="34851"/>
                  </a:lnTo>
                  <a:lnTo>
                    <a:pt x="2664053" y="49567"/>
                  </a:lnTo>
                  <a:lnTo>
                    <a:pt x="2712189" y="66624"/>
                  </a:lnTo>
                  <a:lnTo>
                    <a:pt x="2758293" y="85921"/>
                  </a:lnTo>
                  <a:lnTo>
                    <a:pt x="2802217" y="107352"/>
                  </a:lnTo>
                  <a:lnTo>
                    <a:pt x="2843812" y="130816"/>
                  </a:lnTo>
                  <a:lnTo>
                    <a:pt x="2882931" y="156210"/>
                  </a:lnTo>
                  <a:lnTo>
                    <a:pt x="2919426" y="183429"/>
                  </a:lnTo>
                  <a:lnTo>
                    <a:pt x="2953148" y="212372"/>
                  </a:lnTo>
                  <a:lnTo>
                    <a:pt x="2983949" y="242935"/>
                  </a:lnTo>
                  <a:lnTo>
                    <a:pt x="3011681" y="275015"/>
                  </a:lnTo>
                  <a:lnTo>
                    <a:pt x="3036197" y="308509"/>
                  </a:lnTo>
                  <a:lnTo>
                    <a:pt x="3057347" y="343315"/>
                  </a:lnTo>
                  <a:lnTo>
                    <a:pt x="3074984" y="379328"/>
                  </a:lnTo>
                  <a:lnTo>
                    <a:pt x="3088959" y="416446"/>
                  </a:lnTo>
                  <a:lnTo>
                    <a:pt x="3099125" y="454566"/>
                  </a:lnTo>
                  <a:lnTo>
                    <a:pt x="3105333" y="493585"/>
                  </a:lnTo>
                  <a:lnTo>
                    <a:pt x="3107436" y="533400"/>
                  </a:lnTo>
                  <a:lnTo>
                    <a:pt x="3105333" y="573214"/>
                  </a:lnTo>
                  <a:lnTo>
                    <a:pt x="3099125" y="612233"/>
                  </a:lnTo>
                  <a:lnTo>
                    <a:pt x="3088959" y="650353"/>
                  </a:lnTo>
                  <a:lnTo>
                    <a:pt x="3074984" y="687471"/>
                  </a:lnTo>
                  <a:lnTo>
                    <a:pt x="3057347" y="723484"/>
                  </a:lnTo>
                  <a:lnTo>
                    <a:pt x="3036197" y="758290"/>
                  </a:lnTo>
                  <a:lnTo>
                    <a:pt x="3011681" y="791784"/>
                  </a:lnTo>
                  <a:lnTo>
                    <a:pt x="2983949" y="823864"/>
                  </a:lnTo>
                  <a:lnTo>
                    <a:pt x="2953148" y="854427"/>
                  </a:lnTo>
                  <a:lnTo>
                    <a:pt x="2919426" y="883370"/>
                  </a:lnTo>
                  <a:lnTo>
                    <a:pt x="2882931" y="910590"/>
                  </a:lnTo>
                  <a:lnTo>
                    <a:pt x="2843812" y="935983"/>
                  </a:lnTo>
                  <a:lnTo>
                    <a:pt x="2802217" y="959447"/>
                  </a:lnTo>
                  <a:lnTo>
                    <a:pt x="2758293" y="980878"/>
                  </a:lnTo>
                  <a:lnTo>
                    <a:pt x="2712189" y="1000175"/>
                  </a:lnTo>
                  <a:lnTo>
                    <a:pt x="2664053" y="1017232"/>
                  </a:lnTo>
                  <a:lnTo>
                    <a:pt x="2614034" y="1031948"/>
                  </a:lnTo>
                  <a:lnTo>
                    <a:pt x="2562279" y="1044220"/>
                  </a:lnTo>
                  <a:lnTo>
                    <a:pt x="2508936" y="1053944"/>
                  </a:lnTo>
                  <a:lnTo>
                    <a:pt x="2454154" y="1061017"/>
                  </a:lnTo>
                  <a:lnTo>
                    <a:pt x="2398080" y="1065337"/>
                  </a:lnTo>
                  <a:lnTo>
                    <a:pt x="2340864" y="1066800"/>
                  </a:lnTo>
                  <a:lnTo>
                    <a:pt x="2283647" y="1065337"/>
                  </a:lnTo>
                  <a:lnTo>
                    <a:pt x="2227573" y="1061017"/>
                  </a:lnTo>
                  <a:lnTo>
                    <a:pt x="2172791" y="1053944"/>
                  </a:lnTo>
                  <a:lnTo>
                    <a:pt x="2119448" y="1044220"/>
                  </a:lnTo>
                  <a:lnTo>
                    <a:pt x="2067693" y="1031948"/>
                  </a:lnTo>
                  <a:lnTo>
                    <a:pt x="2017674" y="1017232"/>
                  </a:lnTo>
                  <a:lnTo>
                    <a:pt x="1969538" y="1000175"/>
                  </a:lnTo>
                  <a:lnTo>
                    <a:pt x="1923434" y="980878"/>
                  </a:lnTo>
                  <a:lnTo>
                    <a:pt x="1879510" y="959447"/>
                  </a:lnTo>
                  <a:lnTo>
                    <a:pt x="1837915" y="935983"/>
                  </a:lnTo>
                  <a:lnTo>
                    <a:pt x="1798796" y="910590"/>
                  </a:lnTo>
                  <a:lnTo>
                    <a:pt x="1762301" y="883370"/>
                  </a:lnTo>
                  <a:lnTo>
                    <a:pt x="1728579" y="854427"/>
                  </a:lnTo>
                  <a:lnTo>
                    <a:pt x="1697778" y="823864"/>
                  </a:lnTo>
                  <a:lnTo>
                    <a:pt x="1670046" y="791784"/>
                  </a:lnTo>
                  <a:lnTo>
                    <a:pt x="1645530" y="758290"/>
                  </a:lnTo>
                  <a:lnTo>
                    <a:pt x="1624380" y="723484"/>
                  </a:lnTo>
                  <a:lnTo>
                    <a:pt x="1606743" y="687471"/>
                  </a:lnTo>
                  <a:lnTo>
                    <a:pt x="1592768" y="650353"/>
                  </a:lnTo>
                  <a:lnTo>
                    <a:pt x="1582602" y="612233"/>
                  </a:lnTo>
                  <a:lnTo>
                    <a:pt x="1576394" y="573214"/>
                  </a:lnTo>
                  <a:lnTo>
                    <a:pt x="1574291" y="533400"/>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a:t>
            </a:fld>
            <a:endParaRPr lang="en-US"/>
          </a:p>
        </p:txBody>
      </p:sp>
      <p:sp>
        <p:nvSpPr>
          <p:cNvPr id="25"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25" normalizeH="0" baseline="0" noProof="0">
                <a:ln>
                  <a:noFill/>
                </a:ln>
                <a:solidFill>
                  <a:srgbClr val="000000"/>
                </a:solidFill>
                <a:effectLst/>
                <a:uLnTx/>
                <a:uFillTx/>
                <a:latin typeface="Palatino Linotype" panose="02040502050505030304"/>
                <a:ea typeface="+mj-ea"/>
              </a:rPr>
              <a:t>DAG’s</a:t>
            </a:r>
            <a:r>
              <a:rPr kumimoji="0" lang="en-US" sz="4000" b="1" i="0" u="none" strike="noStrike" kern="0" cap="none" spc="-16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for</a:t>
            </a:r>
            <a:r>
              <a:rPr kumimoji="0" lang="en-US" sz="4000" b="1" i="0" u="none" strike="noStrike" kern="0" cap="none" spc="-16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Expressions</a:t>
            </a:r>
            <a:r>
              <a:rPr kumimoji="0" lang="en-US" sz="4000" b="1" i="0" u="none" strike="noStrike" kern="0" cap="none" spc="-160"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Cont.</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26" name="object 3"/>
          <p:cNvSpPr/>
          <p:nvPr/>
        </p:nvSpPr>
        <p:spPr>
          <a:xfrm>
            <a:off x="3081527" y="2528442"/>
            <a:ext cx="626745" cy="200660"/>
          </a:xfrm>
          <a:custGeom>
            <a:avLst/>
            <a:gdLst/>
            <a:ahLst/>
            <a:cxnLst/>
            <a:rect l="l" t="t" r="r" b="b"/>
            <a:pathLst>
              <a:path w="626745" h="200660">
                <a:moveTo>
                  <a:pt x="562356" y="0"/>
                </a:moveTo>
                <a:lnTo>
                  <a:pt x="559562" y="8128"/>
                </a:lnTo>
                <a:lnTo>
                  <a:pt x="571134" y="13178"/>
                </a:lnTo>
                <a:lnTo>
                  <a:pt x="581088" y="20145"/>
                </a:lnTo>
                <a:lnTo>
                  <a:pt x="601325" y="52449"/>
                </a:lnTo>
                <a:lnTo>
                  <a:pt x="608076" y="99187"/>
                </a:lnTo>
                <a:lnTo>
                  <a:pt x="607317" y="116855"/>
                </a:lnTo>
                <a:lnTo>
                  <a:pt x="596138" y="160147"/>
                </a:lnTo>
                <a:lnTo>
                  <a:pt x="559816" y="192278"/>
                </a:lnTo>
                <a:lnTo>
                  <a:pt x="562356" y="200406"/>
                </a:lnTo>
                <a:lnTo>
                  <a:pt x="600682" y="177688"/>
                </a:lnTo>
                <a:lnTo>
                  <a:pt x="622141" y="135636"/>
                </a:lnTo>
                <a:lnTo>
                  <a:pt x="626237" y="100203"/>
                </a:lnTo>
                <a:lnTo>
                  <a:pt x="625211" y="81845"/>
                </a:lnTo>
                <a:lnTo>
                  <a:pt x="609726" y="35179"/>
                </a:lnTo>
                <a:lnTo>
                  <a:pt x="576883" y="5264"/>
                </a:lnTo>
                <a:lnTo>
                  <a:pt x="562356" y="0"/>
                </a:lnTo>
                <a:close/>
              </a:path>
              <a:path w="626745" h="200660">
                <a:moveTo>
                  <a:pt x="63881" y="0"/>
                </a:moveTo>
                <a:lnTo>
                  <a:pt x="25679" y="22842"/>
                </a:lnTo>
                <a:lnTo>
                  <a:pt x="4111" y="64881"/>
                </a:lnTo>
                <a:lnTo>
                  <a:pt x="0" y="100203"/>
                </a:lnTo>
                <a:lnTo>
                  <a:pt x="1025" y="118633"/>
                </a:lnTo>
                <a:lnTo>
                  <a:pt x="16510" y="165354"/>
                </a:lnTo>
                <a:lnTo>
                  <a:pt x="49335" y="195214"/>
                </a:lnTo>
                <a:lnTo>
                  <a:pt x="63881" y="200406"/>
                </a:lnTo>
                <a:lnTo>
                  <a:pt x="66421" y="192278"/>
                </a:lnTo>
                <a:lnTo>
                  <a:pt x="55012" y="187203"/>
                </a:lnTo>
                <a:lnTo>
                  <a:pt x="45164" y="180165"/>
                </a:lnTo>
                <a:lnTo>
                  <a:pt x="24931" y="147335"/>
                </a:lnTo>
                <a:lnTo>
                  <a:pt x="18288" y="99187"/>
                </a:lnTo>
                <a:lnTo>
                  <a:pt x="19026" y="82115"/>
                </a:lnTo>
                <a:lnTo>
                  <a:pt x="30099" y="39878"/>
                </a:lnTo>
                <a:lnTo>
                  <a:pt x="66802" y="8128"/>
                </a:lnTo>
                <a:lnTo>
                  <a:pt x="63881"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27" name="object 4"/>
          <p:cNvSpPr/>
          <p:nvPr/>
        </p:nvSpPr>
        <p:spPr>
          <a:xfrm>
            <a:off x="4003547" y="2528442"/>
            <a:ext cx="628015" cy="200660"/>
          </a:xfrm>
          <a:custGeom>
            <a:avLst/>
            <a:gdLst/>
            <a:ahLst/>
            <a:cxnLst/>
            <a:rect l="l" t="t" r="r" b="b"/>
            <a:pathLst>
              <a:path w="628014" h="200660">
                <a:moveTo>
                  <a:pt x="563879" y="0"/>
                </a:moveTo>
                <a:lnTo>
                  <a:pt x="561086" y="8128"/>
                </a:lnTo>
                <a:lnTo>
                  <a:pt x="572658" y="13178"/>
                </a:lnTo>
                <a:lnTo>
                  <a:pt x="582612" y="20145"/>
                </a:lnTo>
                <a:lnTo>
                  <a:pt x="602849" y="52449"/>
                </a:lnTo>
                <a:lnTo>
                  <a:pt x="609600" y="99187"/>
                </a:lnTo>
                <a:lnTo>
                  <a:pt x="608841" y="116855"/>
                </a:lnTo>
                <a:lnTo>
                  <a:pt x="597662" y="160147"/>
                </a:lnTo>
                <a:lnTo>
                  <a:pt x="561339" y="192278"/>
                </a:lnTo>
                <a:lnTo>
                  <a:pt x="563879" y="200406"/>
                </a:lnTo>
                <a:lnTo>
                  <a:pt x="602206" y="177688"/>
                </a:lnTo>
                <a:lnTo>
                  <a:pt x="623665" y="135636"/>
                </a:lnTo>
                <a:lnTo>
                  <a:pt x="627761" y="100203"/>
                </a:lnTo>
                <a:lnTo>
                  <a:pt x="626735" y="81845"/>
                </a:lnTo>
                <a:lnTo>
                  <a:pt x="611251" y="35179"/>
                </a:lnTo>
                <a:lnTo>
                  <a:pt x="578407" y="5264"/>
                </a:lnTo>
                <a:lnTo>
                  <a:pt x="563879" y="0"/>
                </a:lnTo>
                <a:close/>
              </a:path>
              <a:path w="628014" h="200660">
                <a:moveTo>
                  <a:pt x="63880" y="0"/>
                </a:moveTo>
                <a:lnTo>
                  <a:pt x="25679" y="22842"/>
                </a:lnTo>
                <a:lnTo>
                  <a:pt x="4111" y="64881"/>
                </a:lnTo>
                <a:lnTo>
                  <a:pt x="0" y="100203"/>
                </a:lnTo>
                <a:lnTo>
                  <a:pt x="1025" y="118633"/>
                </a:lnTo>
                <a:lnTo>
                  <a:pt x="16510" y="165354"/>
                </a:lnTo>
                <a:lnTo>
                  <a:pt x="49335" y="195214"/>
                </a:lnTo>
                <a:lnTo>
                  <a:pt x="63880" y="200406"/>
                </a:lnTo>
                <a:lnTo>
                  <a:pt x="66421" y="192278"/>
                </a:lnTo>
                <a:lnTo>
                  <a:pt x="55012" y="187203"/>
                </a:lnTo>
                <a:lnTo>
                  <a:pt x="45164" y="180165"/>
                </a:lnTo>
                <a:lnTo>
                  <a:pt x="24931" y="147335"/>
                </a:lnTo>
                <a:lnTo>
                  <a:pt x="18287" y="99187"/>
                </a:lnTo>
                <a:lnTo>
                  <a:pt x="19026" y="82115"/>
                </a:lnTo>
                <a:lnTo>
                  <a:pt x="30099" y="39878"/>
                </a:lnTo>
                <a:lnTo>
                  <a:pt x="66801" y="8128"/>
                </a:lnTo>
                <a:lnTo>
                  <a:pt x="6388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28" name="object 5"/>
          <p:cNvSpPr txBox="1"/>
          <p:nvPr/>
        </p:nvSpPr>
        <p:spPr>
          <a:xfrm>
            <a:off x="707542" y="1481708"/>
            <a:ext cx="7644130" cy="1809114"/>
          </a:xfrm>
          <a:prstGeom prst="rect">
            <a:avLst/>
          </a:prstGeom>
        </p:spPr>
        <p:txBody>
          <a:bodyPr vert="horz" wrap="square" lIns="0" tIns="12700" rIns="0" bIns="0" rtlCol="0">
            <a:spAutoFit/>
          </a:bodyPr>
          <a:lstStyle/>
          <a:p>
            <a:pPr marL="242570" marR="5080" indent="-230505">
              <a:lnSpc>
                <a:spcPct val="120000"/>
              </a:lnSpc>
              <a:spcBef>
                <a:spcPts val="100"/>
              </a:spcBef>
              <a:buFont typeface="Arial MT"/>
              <a:buChar char="•"/>
              <a:tabLst>
                <a:tab pos="242570" algn="l"/>
              </a:tabLst>
            </a:pPr>
            <a:r>
              <a:rPr sz="2100" spc="-20" dirty="0">
                <a:solidFill>
                  <a:sysClr val="windowText" lastClr="000000"/>
                </a:solidFill>
                <a:latin typeface="Palatino Linotype" panose="02040502050505030304"/>
                <a:cs typeface="Palatino Linotype" panose="02040502050505030304"/>
              </a:rPr>
              <a:t>A</a:t>
            </a:r>
            <a:r>
              <a:rPr sz="2100" spc="-120" dirty="0">
                <a:solidFill>
                  <a:sysClr val="windowText" lastClr="000000"/>
                </a:solidFill>
                <a:latin typeface="Palatino Linotype" panose="02040502050505030304"/>
                <a:cs typeface="Palatino Linotype" panose="02040502050505030304"/>
              </a:rPr>
              <a:t> </a:t>
            </a:r>
            <a:r>
              <a:rPr sz="2100" i="1" dirty="0">
                <a:solidFill>
                  <a:srgbClr val="FF0000"/>
                </a:solidFill>
                <a:latin typeface="Palatino Linotype" panose="02040502050505030304"/>
                <a:cs typeface="Palatino Linotype" panose="02040502050505030304"/>
              </a:rPr>
              <a:t>directed</a:t>
            </a:r>
            <a:r>
              <a:rPr sz="2100" i="1" spc="-70" dirty="0">
                <a:solidFill>
                  <a:srgbClr val="FF0000"/>
                </a:solidFill>
                <a:latin typeface="Palatino Linotype" panose="02040502050505030304"/>
                <a:cs typeface="Palatino Linotype" panose="02040502050505030304"/>
              </a:rPr>
              <a:t> </a:t>
            </a:r>
            <a:r>
              <a:rPr sz="2100" i="1" dirty="0">
                <a:solidFill>
                  <a:srgbClr val="FF0000"/>
                </a:solidFill>
                <a:latin typeface="Palatino Linotype" panose="02040502050505030304"/>
                <a:cs typeface="Palatino Linotype" panose="02040502050505030304"/>
              </a:rPr>
              <a:t>acyclic</a:t>
            </a:r>
            <a:r>
              <a:rPr sz="2100" i="1" spc="-25" dirty="0">
                <a:solidFill>
                  <a:srgbClr val="FF0000"/>
                </a:solidFill>
                <a:latin typeface="Palatino Linotype" panose="02040502050505030304"/>
                <a:cs typeface="Palatino Linotype" panose="02040502050505030304"/>
              </a:rPr>
              <a:t> </a:t>
            </a:r>
            <a:r>
              <a:rPr sz="2100" i="1" dirty="0">
                <a:solidFill>
                  <a:srgbClr val="FF0000"/>
                </a:solidFill>
                <a:latin typeface="Palatino Linotype" panose="02040502050505030304"/>
                <a:cs typeface="Palatino Linotype" panose="02040502050505030304"/>
              </a:rPr>
              <a:t>graph</a:t>
            </a:r>
            <a:r>
              <a:rPr sz="2100" i="1" spc="-35" dirty="0">
                <a:solidFill>
                  <a:srgbClr val="FF0000"/>
                </a:solidFill>
                <a:latin typeface="Palatino Linotype" panose="02040502050505030304"/>
                <a:cs typeface="Palatino Linotype" panose="02040502050505030304"/>
              </a:rPr>
              <a:t> </a:t>
            </a:r>
            <a:r>
              <a:rPr sz="2100" dirty="0">
                <a:solidFill>
                  <a:sysClr val="windowText" lastClr="000000"/>
                </a:solidFill>
                <a:latin typeface="Palatino Linotype" panose="02040502050505030304"/>
                <a:cs typeface="Palatino Linotype" panose="02040502050505030304"/>
              </a:rPr>
              <a:t>(</a:t>
            </a:r>
            <a:r>
              <a:rPr sz="2100" dirty="0">
                <a:solidFill>
                  <a:srgbClr val="FF0000"/>
                </a:solidFill>
                <a:latin typeface="Palatino Linotype" panose="02040502050505030304"/>
                <a:cs typeface="Palatino Linotype" panose="02040502050505030304"/>
              </a:rPr>
              <a:t>DAG,</a:t>
            </a:r>
            <a:r>
              <a:rPr sz="2100" spc="-15" dirty="0">
                <a:solidFill>
                  <a:srgbClr val="FF0000"/>
                </a:solidFill>
                <a:latin typeface="Palatino Linotype" panose="02040502050505030304"/>
                <a:cs typeface="Palatino Linotype" panose="02040502050505030304"/>
              </a:rPr>
              <a:t> </a:t>
            </a:r>
            <a:r>
              <a:rPr sz="2100" dirty="0">
                <a:solidFill>
                  <a:srgbClr val="FF0000"/>
                </a:solidFill>
                <a:latin typeface="宋体" panose="02010600030101010101" pitchFamily="2" charset="-122"/>
                <a:cs typeface="宋体" panose="02010600030101010101" pitchFamily="2" charset="-122"/>
              </a:rPr>
              <a:t>有向无环图</a:t>
            </a:r>
            <a:r>
              <a:rPr sz="2100" spc="-15" dirty="0">
                <a:solidFill>
                  <a:sysClr val="windowText" lastClr="000000"/>
                </a:solidFill>
                <a:latin typeface="Palatino Linotype" panose="02040502050505030304"/>
                <a:cs typeface="Palatino Linotype" panose="02040502050505030304"/>
              </a:rPr>
              <a:t>) </a:t>
            </a:r>
            <a:r>
              <a:rPr sz="2100" dirty="0">
                <a:solidFill>
                  <a:sysClr val="windowText" lastClr="000000"/>
                </a:solidFill>
                <a:latin typeface="Palatino Linotype" panose="02040502050505030304"/>
                <a:cs typeface="Palatino Linotype" panose="02040502050505030304"/>
              </a:rPr>
              <a:t>identifies</a:t>
            </a:r>
            <a:r>
              <a:rPr sz="2100" spc="-30" dirty="0">
                <a:solidFill>
                  <a:sysClr val="windowText" lastClr="000000"/>
                </a:solidFill>
                <a:latin typeface="Palatino Linotype" panose="02040502050505030304"/>
                <a:cs typeface="Palatino Linotype" panose="02040502050505030304"/>
              </a:rPr>
              <a:t> </a:t>
            </a:r>
            <a:r>
              <a:rPr sz="2100" spc="-25" dirty="0">
                <a:solidFill>
                  <a:sysClr val="windowText" lastClr="000000"/>
                </a:solidFill>
                <a:latin typeface="Palatino Linotype" panose="02040502050505030304"/>
                <a:cs typeface="Palatino Linotype" panose="02040502050505030304"/>
              </a:rPr>
              <a:t>the </a:t>
            </a:r>
            <a:r>
              <a:rPr sz="2100" dirty="0">
                <a:solidFill>
                  <a:sysClr val="windowText" lastClr="000000"/>
                </a:solidFill>
                <a:latin typeface="Palatino Linotype" panose="02040502050505030304"/>
                <a:cs typeface="Palatino Linotype" panose="02040502050505030304"/>
              </a:rPr>
              <a:t>common</a:t>
            </a:r>
            <a:r>
              <a:rPr sz="2100" spc="-35" dirty="0">
                <a:solidFill>
                  <a:sysClr val="windowText" lastClr="000000"/>
                </a:solidFill>
                <a:latin typeface="Palatino Linotype" panose="02040502050505030304"/>
                <a:cs typeface="Palatino Linotype" panose="02040502050505030304"/>
              </a:rPr>
              <a:t> </a:t>
            </a:r>
            <a:r>
              <a:rPr sz="2100" dirty="0">
                <a:solidFill>
                  <a:sysClr val="windowText" lastClr="000000"/>
                </a:solidFill>
                <a:latin typeface="Palatino Linotype" panose="02040502050505030304"/>
                <a:cs typeface="Palatino Linotype" panose="02040502050505030304"/>
              </a:rPr>
              <a:t>subexpressions</a:t>
            </a:r>
            <a:r>
              <a:rPr sz="2100" spc="-55" dirty="0">
                <a:solidFill>
                  <a:sysClr val="windowText" lastClr="000000"/>
                </a:solidFill>
                <a:latin typeface="Palatino Linotype" panose="02040502050505030304"/>
                <a:cs typeface="Palatino Linotype" panose="02040502050505030304"/>
              </a:rPr>
              <a:t> </a:t>
            </a:r>
            <a:r>
              <a:rPr sz="2100" dirty="0">
                <a:solidFill>
                  <a:sysClr val="windowText" lastClr="000000"/>
                </a:solidFill>
                <a:latin typeface="Palatino Linotype" panose="02040502050505030304"/>
                <a:cs typeface="Palatino Linotype" panose="02040502050505030304"/>
              </a:rPr>
              <a:t>and</a:t>
            </a:r>
            <a:r>
              <a:rPr sz="2100" spc="-40" dirty="0">
                <a:solidFill>
                  <a:sysClr val="windowText" lastClr="000000"/>
                </a:solidFill>
                <a:latin typeface="Palatino Linotype" panose="02040502050505030304"/>
                <a:cs typeface="Palatino Linotype" panose="02040502050505030304"/>
              </a:rPr>
              <a:t> </a:t>
            </a:r>
            <a:r>
              <a:rPr sz="2100" dirty="0">
                <a:solidFill>
                  <a:sysClr val="windowText" lastClr="000000"/>
                </a:solidFill>
                <a:latin typeface="Palatino Linotype" panose="02040502050505030304"/>
                <a:cs typeface="Palatino Linotype" panose="02040502050505030304"/>
              </a:rPr>
              <a:t>represents</a:t>
            </a:r>
            <a:r>
              <a:rPr sz="2100" spc="-55" dirty="0">
                <a:solidFill>
                  <a:sysClr val="windowText" lastClr="000000"/>
                </a:solidFill>
                <a:latin typeface="Palatino Linotype" panose="02040502050505030304"/>
                <a:cs typeface="Palatino Linotype" panose="02040502050505030304"/>
              </a:rPr>
              <a:t> </a:t>
            </a:r>
            <a:r>
              <a:rPr sz="2100" dirty="0">
                <a:solidFill>
                  <a:sysClr val="windowText" lastClr="000000"/>
                </a:solidFill>
                <a:latin typeface="Palatino Linotype" panose="02040502050505030304"/>
                <a:cs typeface="Palatino Linotype" panose="02040502050505030304"/>
              </a:rPr>
              <a:t>expressions</a:t>
            </a:r>
            <a:r>
              <a:rPr sz="2100" spc="-45" dirty="0">
                <a:solidFill>
                  <a:sysClr val="windowText" lastClr="000000"/>
                </a:solidFill>
                <a:latin typeface="Palatino Linotype" panose="02040502050505030304"/>
                <a:cs typeface="Palatino Linotype" panose="02040502050505030304"/>
              </a:rPr>
              <a:t> </a:t>
            </a:r>
            <a:r>
              <a:rPr sz="2100" spc="-10" dirty="0">
                <a:solidFill>
                  <a:sysClr val="windowText" lastClr="000000"/>
                </a:solidFill>
                <a:latin typeface="Palatino Linotype" panose="02040502050505030304"/>
                <a:cs typeface="Palatino Linotype" panose="02040502050505030304"/>
              </a:rPr>
              <a:t>succinctly</a:t>
            </a:r>
            <a:endParaRPr sz="2100">
              <a:solidFill>
                <a:sysClr val="windowText" lastClr="000000"/>
              </a:solidFill>
              <a:latin typeface="Palatino Linotype" panose="02040502050505030304"/>
              <a:cs typeface="Palatino Linotype" panose="02040502050505030304"/>
            </a:endParaRPr>
          </a:p>
          <a:p>
            <a:pPr marL="697865" lvl="1" indent="-227965">
              <a:spcBef>
                <a:spcPts val="1675"/>
              </a:spcBef>
              <a:buFont typeface="Wingdings" panose="05000000000000000000"/>
              <a:buChar char=""/>
              <a:tabLst>
                <a:tab pos="697865" algn="l"/>
                <a:tab pos="2444750" algn="l"/>
                <a:tab pos="3068320" algn="l"/>
                <a:tab pos="3366770" algn="l"/>
                <a:tab pos="3990340" algn="l"/>
              </a:tabLst>
            </a:pPr>
            <a:r>
              <a:rPr sz="1700" dirty="0">
                <a:solidFill>
                  <a:sysClr val="windowText" lastClr="000000"/>
                </a:solidFill>
                <a:latin typeface="Palatino Linotype" panose="02040502050505030304"/>
                <a:cs typeface="Palatino Linotype" panose="02040502050505030304"/>
              </a:rPr>
              <a:t>Example:</a:t>
            </a:r>
            <a:r>
              <a:rPr sz="1700" spc="-20" dirty="0">
                <a:solidFill>
                  <a:sysClr val="windowText" lastClr="000000"/>
                </a:solidFill>
                <a:latin typeface="Palatino Linotype" panose="02040502050505030304"/>
                <a:cs typeface="Palatino Linotype" panose="02040502050505030304"/>
              </a:rPr>
              <a:t> </a:t>
            </a:r>
            <a:r>
              <a:rPr sz="1700" dirty="0">
                <a:solidFill>
                  <a:sysClr val="windowText" lastClr="000000"/>
                </a:solidFill>
                <a:latin typeface="Cambria Math" panose="02040503050406030204"/>
                <a:cs typeface="Cambria Math" panose="02040503050406030204"/>
              </a:rPr>
              <a:t>𝑎</a:t>
            </a:r>
            <a:r>
              <a:rPr sz="1700" spc="25" dirty="0">
                <a:solidFill>
                  <a:sysClr val="windowText" lastClr="000000"/>
                </a:solidFill>
                <a:latin typeface="Cambria Math" panose="02040503050406030204"/>
                <a:cs typeface="Cambria Math" panose="02040503050406030204"/>
              </a:rPr>
              <a:t> </a:t>
            </a:r>
            <a:r>
              <a:rPr sz="1700" dirty="0">
                <a:solidFill>
                  <a:sysClr val="windowText" lastClr="000000"/>
                </a:solidFill>
                <a:latin typeface="Cambria Math" panose="02040503050406030204"/>
                <a:cs typeface="Cambria Math" panose="02040503050406030204"/>
              </a:rPr>
              <a:t>+</a:t>
            </a:r>
            <a:r>
              <a:rPr sz="1700" spc="-10" dirty="0">
                <a:solidFill>
                  <a:sysClr val="windowText" lastClr="000000"/>
                </a:solidFill>
                <a:latin typeface="Cambria Math" panose="02040503050406030204"/>
                <a:cs typeface="Cambria Math" panose="02040503050406030204"/>
              </a:rPr>
              <a:t> </a:t>
            </a:r>
            <a:r>
              <a:rPr sz="1700" dirty="0">
                <a:solidFill>
                  <a:sysClr val="windowText" lastClr="000000"/>
                </a:solidFill>
                <a:latin typeface="Cambria Math" panose="02040503050406030204"/>
                <a:cs typeface="Cambria Math" panose="02040503050406030204"/>
              </a:rPr>
              <a:t>𝑎</a:t>
            </a:r>
            <a:r>
              <a:rPr sz="1700" spc="25" dirty="0">
                <a:solidFill>
                  <a:sysClr val="windowText" lastClr="000000"/>
                </a:solidFill>
                <a:latin typeface="Cambria Math" panose="02040503050406030204"/>
                <a:cs typeface="Cambria Math" panose="02040503050406030204"/>
              </a:rPr>
              <a:t> </a:t>
            </a:r>
            <a:r>
              <a:rPr sz="1700" spc="-50" dirty="0">
                <a:solidFill>
                  <a:sysClr val="windowText" lastClr="000000"/>
                </a:solidFill>
                <a:latin typeface="Cambria Math" panose="02040503050406030204"/>
                <a:cs typeface="Cambria Math" panose="02040503050406030204"/>
              </a:rPr>
              <a:t>∗</a:t>
            </a:r>
            <a:r>
              <a:rPr sz="1700" dirty="0">
                <a:solidFill>
                  <a:sysClr val="windowText" lastClr="000000"/>
                </a:solidFill>
                <a:latin typeface="Cambria Math" panose="02040503050406030204"/>
                <a:cs typeface="Cambria Math" panose="02040503050406030204"/>
              </a:rPr>
              <a:t>	𝑏</a:t>
            </a:r>
            <a:r>
              <a:rPr sz="1700" spc="25" dirty="0">
                <a:solidFill>
                  <a:sysClr val="windowText" lastClr="000000"/>
                </a:solidFill>
                <a:latin typeface="Cambria Math" panose="02040503050406030204"/>
                <a:cs typeface="Cambria Math" panose="02040503050406030204"/>
              </a:rPr>
              <a:t> </a:t>
            </a:r>
            <a:r>
              <a:rPr sz="1700" dirty="0">
                <a:solidFill>
                  <a:sysClr val="windowText" lastClr="000000"/>
                </a:solidFill>
                <a:latin typeface="Cambria Math" panose="02040503050406030204"/>
                <a:cs typeface="Cambria Math" panose="02040503050406030204"/>
              </a:rPr>
              <a:t>−</a:t>
            </a:r>
            <a:r>
              <a:rPr sz="1700" spc="-10" dirty="0">
                <a:solidFill>
                  <a:sysClr val="windowText" lastClr="000000"/>
                </a:solidFill>
                <a:latin typeface="Cambria Math" panose="02040503050406030204"/>
                <a:cs typeface="Cambria Math" panose="02040503050406030204"/>
              </a:rPr>
              <a:t> </a:t>
            </a:r>
            <a:r>
              <a:rPr sz="1700" spc="-50" dirty="0">
                <a:solidFill>
                  <a:sysClr val="windowText" lastClr="000000"/>
                </a:solidFill>
                <a:latin typeface="Cambria Math" panose="02040503050406030204"/>
                <a:cs typeface="Cambria Math" panose="02040503050406030204"/>
              </a:rPr>
              <a:t>𝑐</a:t>
            </a:r>
            <a:r>
              <a:rPr sz="1700" dirty="0">
                <a:solidFill>
                  <a:sysClr val="windowText" lastClr="000000"/>
                </a:solidFill>
                <a:latin typeface="Cambria Math" panose="02040503050406030204"/>
                <a:cs typeface="Cambria Math" panose="02040503050406030204"/>
              </a:rPr>
              <a:t>	</a:t>
            </a:r>
            <a:r>
              <a:rPr sz="1700" spc="-50" dirty="0">
                <a:solidFill>
                  <a:sysClr val="windowText" lastClr="000000"/>
                </a:solidFill>
                <a:latin typeface="Cambria Math" panose="02040503050406030204"/>
                <a:cs typeface="Cambria Math" panose="02040503050406030204"/>
              </a:rPr>
              <a:t>+</a:t>
            </a:r>
            <a:r>
              <a:rPr sz="1700" dirty="0">
                <a:solidFill>
                  <a:sysClr val="windowText" lastClr="000000"/>
                </a:solidFill>
                <a:latin typeface="Cambria Math" panose="02040503050406030204"/>
                <a:cs typeface="Cambria Math" panose="02040503050406030204"/>
              </a:rPr>
              <a:t>	𝑏</a:t>
            </a:r>
            <a:r>
              <a:rPr sz="1700" spc="25" dirty="0">
                <a:solidFill>
                  <a:sysClr val="windowText" lastClr="000000"/>
                </a:solidFill>
                <a:latin typeface="Cambria Math" panose="02040503050406030204"/>
                <a:cs typeface="Cambria Math" panose="02040503050406030204"/>
              </a:rPr>
              <a:t> </a:t>
            </a:r>
            <a:r>
              <a:rPr sz="1700" dirty="0">
                <a:solidFill>
                  <a:sysClr val="windowText" lastClr="000000"/>
                </a:solidFill>
                <a:latin typeface="Cambria Math" panose="02040503050406030204"/>
                <a:cs typeface="Cambria Math" panose="02040503050406030204"/>
              </a:rPr>
              <a:t>− </a:t>
            </a:r>
            <a:r>
              <a:rPr sz="1700" spc="-50" dirty="0">
                <a:solidFill>
                  <a:sysClr val="windowText" lastClr="000000"/>
                </a:solidFill>
                <a:latin typeface="Cambria Math" panose="02040503050406030204"/>
                <a:cs typeface="Cambria Math" panose="02040503050406030204"/>
              </a:rPr>
              <a:t>𝑐</a:t>
            </a:r>
            <a:r>
              <a:rPr sz="1700" dirty="0">
                <a:solidFill>
                  <a:sysClr val="windowText" lastClr="000000"/>
                </a:solidFill>
                <a:latin typeface="Cambria Math" panose="02040503050406030204"/>
                <a:cs typeface="Cambria Math" panose="02040503050406030204"/>
              </a:rPr>
              <a:t>	∗</a:t>
            </a:r>
            <a:r>
              <a:rPr sz="1700" spc="-10" dirty="0">
                <a:solidFill>
                  <a:sysClr val="windowText" lastClr="000000"/>
                </a:solidFill>
                <a:latin typeface="Cambria Math" panose="02040503050406030204"/>
                <a:cs typeface="Cambria Math" panose="02040503050406030204"/>
              </a:rPr>
              <a:t> </a:t>
            </a:r>
            <a:r>
              <a:rPr sz="1700" spc="-50" dirty="0">
                <a:solidFill>
                  <a:sysClr val="windowText" lastClr="000000"/>
                </a:solidFill>
                <a:latin typeface="Cambria Math" panose="02040503050406030204"/>
                <a:cs typeface="Cambria Math" panose="02040503050406030204"/>
              </a:rPr>
              <a:t>𝑑</a:t>
            </a:r>
            <a:endParaRPr sz="1700">
              <a:solidFill>
                <a:sysClr val="windowText" lastClr="000000"/>
              </a:solidFill>
              <a:latin typeface="Cambria Math" panose="02040503050406030204"/>
              <a:cs typeface="Cambria Math" panose="02040503050406030204"/>
            </a:endParaRPr>
          </a:p>
          <a:p>
            <a:pPr>
              <a:spcBef>
                <a:spcPts val="125"/>
              </a:spcBef>
            </a:pPr>
            <a:endParaRPr sz="1700">
              <a:solidFill>
                <a:sysClr val="windowText" lastClr="000000"/>
              </a:solidFill>
              <a:latin typeface="Cambria Math" panose="02040503050406030204"/>
              <a:cs typeface="Cambria Math" panose="02040503050406030204"/>
            </a:endParaRPr>
          </a:p>
          <a:p>
            <a:pPr marR="648335" algn="ctr"/>
            <a:r>
              <a:rPr spc="-50" dirty="0">
                <a:solidFill>
                  <a:sysClr val="windowText" lastClr="000000"/>
                </a:solidFill>
                <a:latin typeface="Cambria Math" panose="02040503050406030204"/>
                <a:cs typeface="Cambria Math" panose="02040503050406030204"/>
              </a:rPr>
              <a:t>+</a:t>
            </a:r>
            <a:endParaRPr>
              <a:solidFill>
                <a:sysClr val="windowText" lastClr="000000"/>
              </a:solidFill>
              <a:latin typeface="Cambria Math" panose="02040503050406030204"/>
              <a:cs typeface="Cambria Math" panose="02040503050406030204"/>
            </a:endParaRPr>
          </a:p>
        </p:txBody>
      </p:sp>
      <p:sp>
        <p:nvSpPr>
          <p:cNvPr id="29" name="object 6"/>
          <p:cNvSpPr txBox="1"/>
          <p:nvPr/>
        </p:nvSpPr>
        <p:spPr>
          <a:xfrm>
            <a:off x="2375407" y="3741546"/>
            <a:ext cx="19621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a:t>
            </a:r>
            <a:endParaRPr>
              <a:solidFill>
                <a:sysClr val="windowText" lastClr="000000"/>
              </a:solidFill>
              <a:latin typeface="Cambria Math" panose="02040503050406030204"/>
              <a:cs typeface="Cambria Math" panose="02040503050406030204"/>
            </a:endParaRPr>
          </a:p>
        </p:txBody>
      </p:sp>
      <p:sp>
        <p:nvSpPr>
          <p:cNvPr id="30" name="object 7"/>
          <p:cNvSpPr txBox="1"/>
          <p:nvPr/>
        </p:nvSpPr>
        <p:spPr>
          <a:xfrm>
            <a:off x="3051810" y="4461509"/>
            <a:ext cx="13589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a:t>
            </a:r>
            <a:endParaRPr>
              <a:solidFill>
                <a:sysClr val="windowText" lastClr="000000"/>
              </a:solidFill>
              <a:latin typeface="Cambria Math" panose="02040503050406030204"/>
              <a:cs typeface="Cambria Math" panose="02040503050406030204"/>
            </a:endParaRPr>
          </a:p>
        </p:txBody>
      </p:sp>
      <p:sp>
        <p:nvSpPr>
          <p:cNvPr id="31" name="object 8"/>
          <p:cNvSpPr txBox="1"/>
          <p:nvPr/>
        </p:nvSpPr>
        <p:spPr>
          <a:xfrm>
            <a:off x="2394966" y="5194553"/>
            <a:ext cx="15303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𝑎</a:t>
            </a:r>
            <a:endParaRPr>
              <a:solidFill>
                <a:sysClr val="windowText" lastClr="000000"/>
              </a:solidFill>
              <a:latin typeface="Cambria Math" panose="02040503050406030204"/>
              <a:cs typeface="Cambria Math" panose="02040503050406030204"/>
            </a:endParaRPr>
          </a:p>
        </p:txBody>
      </p:sp>
      <p:sp>
        <p:nvSpPr>
          <p:cNvPr id="32" name="object 9"/>
          <p:cNvSpPr txBox="1"/>
          <p:nvPr/>
        </p:nvSpPr>
        <p:spPr>
          <a:xfrm>
            <a:off x="3650107" y="5188711"/>
            <a:ext cx="19621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a:t>
            </a:r>
            <a:endParaRPr>
              <a:solidFill>
                <a:sysClr val="windowText" lastClr="000000"/>
              </a:solidFill>
              <a:latin typeface="Cambria Math" panose="02040503050406030204"/>
              <a:cs typeface="Cambria Math" panose="02040503050406030204"/>
            </a:endParaRPr>
          </a:p>
        </p:txBody>
      </p:sp>
      <p:sp>
        <p:nvSpPr>
          <p:cNvPr id="33" name="object 10"/>
          <p:cNvSpPr txBox="1"/>
          <p:nvPr/>
        </p:nvSpPr>
        <p:spPr>
          <a:xfrm>
            <a:off x="3217926" y="5845251"/>
            <a:ext cx="14922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𝑏</a:t>
            </a:r>
            <a:endParaRPr>
              <a:solidFill>
                <a:sysClr val="windowText" lastClr="000000"/>
              </a:solidFill>
              <a:latin typeface="Cambria Math" panose="02040503050406030204"/>
              <a:cs typeface="Cambria Math" panose="02040503050406030204"/>
            </a:endParaRPr>
          </a:p>
        </p:txBody>
      </p:sp>
      <p:sp>
        <p:nvSpPr>
          <p:cNvPr id="34" name="object 11"/>
          <p:cNvSpPr txBox="1"/>
          <p:nvPr/>
        </p:nvSpPr>
        <p:spPr>
          <a:xfrm>
            <a:off x="4136263" y="5847994"/>
            <a:ext cx="13081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𝑐</a:t>
            </a:r>
            <a:endParaRPr>
              <a:solidFill>
                <a:sysClr val="windowText" lastClr="000000"/>
              </a:solidFill>
              <a:latin typeface="Cambria Math" panose="02040503050406030204"/>
              <a:cs typeface="Cambria Math" panose="02040503050406030204"/>
            </a:endParaRPr>
          </a:p>
        </p:txBody>
      </p:sp>
      <p:sp>
        <p:nvSpPr>
          <p:cNvPr id="35" name="object 12"/>
          <p:cNvSpPr txBox="1"/>
          <p:nvPr/>
        </p:nvSpPr>
        <p:spPr>
          <a:xfrm>
            <a:off x="5871717" y="3741546"/>
            <a:ext cx="13589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a:t>
            </a:r>
            <a:endParaRPr>
              <a:solidFill>
                <a:sysClr val="windowText" lastClr="000000"/>
              </a:solidFill>
              <a:latin typeface="Cambria Math" panose="02040503050406030204"/>
              <a:cs typeface="Cambria Math" panose="02040503050406030204"/>
            </a:endParaRPr>
          </a:p>
        </p:txBody>
      </p:sp>
      <p:sp>
        <p:nvSpPr>
          <p:cNvPr id="36" name="object 13"/>
          <p:cNvSpPr txBox="1"/>
          <p:nvPr/>
        </p:nvSpPr>
        <p:spPr>
          <a:xfrm>
            <a:off x="6503923" y="4455667"/>
            <a:ext cx="15811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𝑑</a:t>
            </a:r>
            <a:endParaRPr>
              <a:solidFill>
                <a:sysClr val="windowText" lastClr="000000"/>
              </a:solidFill>
              <a:latin typeface="Cambria Math" panose="02040503050406030204"/>
              <a:cs typeface="Cambria Math" panose="02040503050406030204"/>
            </a:endParaRPr>
          </a:p>
        </p:txBody>
      </p:sp>
      <p:sp>
        <p:nvSpPr>
          <p:cNvPr id="37" name="object 14"/>
          <p:cNvSpPr/>
          <p:nvPr/>
        </p:nvSpPr>
        <p:spPr>
          <a:xfrm>
            <a:off x="2679192" y="3340608"/>
            <a:ext cx="3055620" cy="565785"/>
          </a:xfrm>
          <a:custGeom>
            <a:avLst/>
            <a:gdLst/>
            <a:ahLst/>
            <a:cxnLst/>
            <a:rect l="l" t="t" r="r" b="b"/>
            <a:pathLst>
              <a:path w="3055620" h="565785">
                <a:moveTo>
                  <a:pt x="1521968" y="0"/>
                </a:moveTo>
                <a:lnTo>
                  <a:pt x="0" y="565657"/>
                </a:lnTo>
              </a:path>
              <a:path w="3055620" h="565785">
                <a:moveTo>
                  <a:pt x="3055238" y="565657"/>
                </a:moveTo>
                <a:lnTo>
                  <a:pt x="1522475" y="0"/>
                </a:lnTo>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nvGrpSpPr>
          <p:cNvPr id="38" name="object 15"/>
          <p:cNvGrpSpPr/>
          <p:nvPr/>
        </p:nvGrpSpPr>
        <p:grpSpPr>
          <a:xfrm>
            <a:off x="1912366" y="4085653"/>
            <a:ext cx="4678045" cy="1746250"/>
            <a:chOff x="1912366" y="4085653"/>
            <a:chExt cx="4678045" cy="1746250"/>
          </a:xfrm>
        </p:grpSpPr>
        <p:sp>
          <p:nvSpPr>
            <p:cNvPr id="39" name="object 16"/>
            <p:cNvSpPr/>
            <p:nvPr/>
          </p:nvSpPr>
          <p:spPr>
            <a:xfrm>
              <a:off x="2473452" y="4090415"/>
              <a:ext cx="646430" cy="350520"/>
            </a:xfrm>
            <a:custGeom>
              <a:avLst/>
              <a:gdLst/>
              <a:ahLst/>
              <a:cxnLst/>
              <a:rect l="l" t="t" r="r" b="b"/>
              <a:pathLst>
                <a:path w="646430" h="350520">
                  <a:moveTo>
                    <a:pt x="646049" y="350265"/>
                  </a:moveTo>
                  <a:lnTo>
                    <a:pt x="0" y="0"/>
                  </a:lnTo>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0" name="object 17"/>
            <p:cNvSpPr/>
            <p:nvPr/>
          </p:nvSpPr>
          <p:spPr>
            <a:xfrm>
              <a:off x="3749039" y="4090415"/>
              <a:ext cx="2191385" cy="1077595"/>
            </a:xfrm>
            <a:custGeom>
              <a:avLst/>
              <a:gdLst/>
              <a:ahLst/>
              <a:cxnLst/>
              <a:rect l="l" t="t" r="r" b="b"/>
              <a:pathLst>
                <a:path w="2191385" h="1077595">
                  <a:moveTo>
                    <a:pt x="0" y="1077213"/>
                  </a:moveTo>
                  <a:lnTo>
                    <a:pt x="2191004" y="0"/>
                  </a:lnTo>
                </a:path>
              </a:pathLst>
            </a:custGeom>
            <a:ln w="9525">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1" name="object 18"/>
            <p:cNvSpPr/>
            <p:nvPr/>
          </p:nvSpPr>
          <p:spPr>
            <a:xfrm>
              <a:off x="2473452" y="4090415"/>
              <a:ext cx="4112260" cy="1736725"/>
            </a:xfrm>
            <a:custGeom>
              <a:avLst/>
              <a:gdLst/>
              <a:ahLst/>
              <a:cxnLst/>
              <a:rect l="l" t="t" r="r" b="b"/>
              <a:pathLst>
                <a:path w="4112259" h="1736725">
                  <a:moveTo>
                    <a:pt x="4111752" y="344423"/>
                  </a:moveTo>
                  <a:lnTo>
                    <a:pt x="3465576" y="0"/>
                  </a:lnTo>
                </a:path>
                <a:path w="4112259" h="1736725">
                  <a:moveTo>
                    <a:pt x="1275080" y="1446275"/>
                  </a:moveTo>
                  <a:lnTo>
                    <a:pt x="821436" y="1733575"/>
                  </a:lnTo>
                </a:path>
                <a:path w="4112259" h="1736725">
                  <a:moveTo>
                    <a:pt x="1275588" y="1446275"/>
                  </a:moveTo>
                  <a:lnTo>
                    <a:pt x="1731645" y="1736166"/>
                  </a:lnTo>
                </a:path>
                <a:path w="4112259" h="1736725">
                  <a:moveTo>
                    <a:pt x="646176" y="719327"/>
                  </a:moveTo>
                  <a:lnTo>
                    <a:pt x="1274699" y="1076959"/>
                  </a:lnTo>
                </a:path>
                <a:path w="4112259" h="1736725">
                  <a:moveTo>
                    <a:pt x="646049" y="719327"/>
                  </a:moveTo>
                  <a:lnTo>
                    <a:pt x="0" y="1082801"/>
                  </a:lnTo>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2" name="object 19"/>
            <p:cNvSpPr/>
            <p:nvPr/>
          </p:nvSpPr>
          <p:spPr>
            <a:xfrm>
              <a:off x="1918716" y="4105655"/>
              <a:ext cx="561340" cy="1049020"/>
            </a:xfrm>
            <a:custGeom>
              <a:avLst/>
              <a:gdLst/>
              <a:ahLst/>
              <a:cxnLst/>
              <a:rect l="l" t="t" r="r" b="b"/>
              <a:pathLst>
                <a:path w="561339" h="1049020">
                  <a:moveTo>
                    <a:pt x="560832" y="0"/>
                  </a:moveTo>
                  <a:lnTo>
                    <a:pt x="505160" y="24274"/>
                  </a:lnTo>
                  <a:lnTo>
                    <a:pt x="449978" y="48646"/>
                  </a:lnTo>
                  <a:lnTo>
                    <a:pt x="395776" y="73211"/>
                  </a:lnTo>
                  <a:lnTo>
                    <a:pt x="343043" y="98064"/>
                  </a:lnTo>
                  <a:lnTo>
                    <a:pt x="292269" y="123298"/>
                  </a:lnTo>
                  <a:lnTo>
                    <a:pt x="243943" y="149008"/>
                  </a:lnTo>
                  <a:lnTo>
                    <a:pt x="198556" y="175289"/>
                  </a:lnTo>
                  <a:lnTo>
                    <a:pt x="156596" y="202236"/>
                  </a:lnTo>
                  <a:lnTo>
                    <a:pt x="118555" y="229944"/>
                  </a:lnTo>
                  <a:lnTo>
                    <a:pt x="84920" y="258506"/>
                  </a:lnTo>
                  <a:lnTo>
                    <a:pt x="56183" y="288017"/>
                  </a:lnTo>
                  <a:lnTo>
                    <a:pt x="32833" y="318572"/>
                  </a:lnTo>
                  <a:lnTo>
                    <a:pt x="4251" y="383194"/>
                  </a:lnTo>
                  <a:lnTo>
                    <a:pt x="0" y="417449"/>
                  </a:lnTo>
                  <a:lnTo>
                    <a:pt x="2220" y="448830"/>
                  </a:lnTo>
                  <a:lnTo>
                    <a:pt x="22473" y="514655"/>
                  </a:lnTo>
                  <a:lnTo>
                    <a:pt x="39832" y="548969"/>
                  </a:lnTo>
                  <a:lnTo>
                    <a:pt x="61564" y="584130"/>
                  </a:lnTo>
                  <a:lnTo>
                    <a:pt x="87334" y="620074"/>
                  </a:lnTo>
                  <a:lnTo>
                    <a:pt x="116804" y="656735"/>
                  </a:lnTo>
                  <a:lnTo>
                    <a:pt x="149638" y="694049"/>
                  </a:lnTo>
                  <a:lnTo>
                    <a:pt x="185499" y="731950"/>
                  </a:lnTo>
                  <a:lnTo>
                    <a:pt x="224052" y="770374"/>
                  </a:lnTo>
                  <a:lnTo>
                    <a:pt x="264960" y="809255"/>
                  </a:lnTo>
                  <a:lnTo>
                    <a:pt x="307886" y="848529"/>
                  </a:lnTo>
                  <a:lnTo>
                    <a:pt x="352494" y="888130"/>
                  </a:lnTo>
                  <a:lnTo>
                    <a:pt x="398448" y="927994"/>
                  </a:lnTo>
                  <a:lnTo>
                    <a:pt x="445411" y="968056"/>
                  </a:lnTo>
                  <a:lnTo>
                    <a:pt x="493047" y="1008250"/>
                  </a:lnTo>
                  <a:lnTo>
                    <a:pt x="541019" y="1048512"/>
                  </a:lnTo>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3" name="object 20"/>
            <p:cNvSpPr/>
            <p:nvPr/>
          </p:nvSpPr>
          <p:spPr>
            <a:xfrm>
              <a:off x="2124456" y="5202935"/>
              <a:ext cx="1981200" cy="288290"/>
            </a:xfrm>
            <a:custGeom>
              <a:avLst/>
              <a:gdLst/>
              <a:ahLst/>
              <a:cxnLst/>
              <a:rect l="l" t="t" r="r" b="b"/>
              <a:pathLst>
                <a:path w="1981200" h="288289">
                  <a:moveTo>
                    <a:pt x="0" y="144017"/>
                  </a:moveTo>
                  <a:lnTo>
                    <a:pt x="22255" y="93780"/>
                  </a:lnTo>
                  <a:lnTo>
                    <a:pt x="83671" y="51244"/>
                  </a:lnTo>
                  <a:lnTo>
                    <a:pt x="126555" y="33883"/>
                  </a:lnTo>
                  <a:lnTo>
                    <a:pt x="176219" y="19670"/>
                  </a:lnTo>
                  <a:lnTo>
                    <a:pt x="231659" y="9014"/>
                  </a:lnTo>
                  <a:lnTo>
                    <a:pt x="291872" y="2321"/>
                  </a:lnTo>
                  <a:lnTo>
                    <a:pt x="355854" y="0"/>
                  </a:lnTo>
                  <a:lnTo>
                    <a:pt x="419802" y="2321"/>
                  </a:lnTo>
                  <a:lnTo>
                    <a:pt x="479997" y="9014"/>
                  </a:lnTo>
                  <a:lnTo>
                    <a:pt x="535432" y="19670"/>
                  </a:lnTo>
                  <a:lnTo>
                    <a:pt x="585099" y="33883"/>
                  </a:lnTo>
                  <a:lnTo>
                    <a:pt x="627994" y="51244"/>
                  </a:lnTo>
                  <a:lnTo>
                    <a:pt x="663109" y="71345"/>
                  </a:lnTo>
                  <a:lnTo>
                    <a:pt x="705972" y="118140"/>
                  </a:lnTo>
                  <a:lnTo>
                    <a:pt x="711707" y="144017"/>
                  </a:lnTo>
                  <a:lnTo>
                    <a:pt x="705972" y="169895"/>
                  </a:lnTo>
                  <a:lnTo>
                    <a:pt x="663109" y="216690"/>
                  </a:lnTo>
                  <a:lnTo>
                    <a:pt x="627994" y="236791"/>
                  </a:lnTo>
                  <a:lnTo>
                    <a:pt x="585099" y="254152"/>
                  </a:lnTo>
                  <a:lnTo>
                    <a:pt x="535432" y="268365"/>
                  </a:lnTo>
                  <a:lnTo>
                    <a:pt x="479997" y="279021"/>
                  </a:lnTo>
                  <a:lnTo>
                    <a:pt x="419802" y="285714"/>
                  </a:lnTo>
                  <a:lnTo>
                    <a:pt x="355854" y="288035"/>
                  </a:lnTo>
                  <a:lnTo>
                    <a:pt x="291872" y="285714"/>
                  </a:lnTo>
                  <a:lnTo>
                    <a:pt x="231659" y="279021"/>
                  </a:lnTo>
                  <a:lnTo>
                    <a:pt x="176219" y="268365"/>
                  </a:lnTo>
                  <a:lnTo>
                    <a:pt x="126555" y="254152"/>
                  </a:lnTo>
                  <a:lnTo>
                    <a:pt x="83671" y="236791"/>
                  </a:lnTo>
                  <a:lnTo>
                    <a:pt x="48570" y="216690"/>
                  </a:lnTo>
                  <a:lnTo>
                    <a:pt x="5731" y="169895"/>
                  </a:lnTo>
                  <a:lnTo>
                    <a:pt x="0" y="144017"/>
                  </a:lnTo>
                  <a:close/>
                </a:path>
                <a:path w="1981200" h="288289">
                  <a:moveTo>
                    <a:pt x="1267968" y="144017"/>
                  </a:moveTo>
                  <a:lnTo>
                    <a:pt x="1290276" y="93780"/>
                  </a:lnTo>
                  <a:lnTo>
                    <a:pt x="1351831" y="51244"/>
                  </a:lnTo>
                  <a:lnTo>
                    <a:pt x="1394811" y="33883"/>
                  </a:lnTo>
                  <a:lnTo>
                    <a:pt x="1444582" y="19670"/>
                  </a:lnTo>
                  <a:lnTo>
                    <a:pt x="1500139" y="9014"/>
                  </a:lnTo>
                  <a:lnTo>
                    <a:pt x="1560475" y="2321"/>
                  </a:lnTo>
                  <a:lnTo>
                    <a:pt x="1624583" y="0"/>
                  </a:lnTo>
                  <a:lnTo>
                    <a:pt x="1688692" y="2321"/>
                  </a:lnTo>
                  <a:lnTo>
                    <a:pt x="1749028" y="9014"/>
                  </a:lnTo>
                  <a:lnTo>
                    <a:pt x="1804585" y="19670"/>
                  </a:lnTo>
                  <a:lnTo>
                    <a:pt x="1854356" y="33883"/>
                  </a:lnTo>
                  <a:lnTo>
                    <a:pt x="1897336" y="51244"/>
                  </a:lnTo>
                  <a:lnTo>
                    <a:pt x="1932516" y="71345"/>
                  </a:lnTo>
                  <a:lnTo>
                    <a:pt x="1975455" y="118140"/>
                  </a:lnTo>
                  <a:lnTo>
                    <a:pt x="1981199" y="144017"/>
                  </a:lnTo>
                  <a:lnTo>
                    <a:pt x="1975455" y="169895"/>
                  </a:lnTo>
                  <a:lnTo>
                    <a:pt x="1932516" y="216690"/>
                  </a:lnTo>
                  <a:lnTo>
                    <a:pt x="1897336" y="236791"/>
                  </a:lnTo>
                  <a:lnTo>
                    <a:pt x="1854356" y="254152"/>
                  </a:lnTo>
                  <a:lnTo>
                    <a:pt x="1804585" y="268365"/>
                  </a:lnTo>
                  <a:lnTo>
                    <a:pt x="1749028" y="279021"/>
                  </a:lnTo>
                  <a:lnTo>
                    <a:pt x="1688692" y="285714"/>
                  </a:lnTo>
                  <a:lnTo>
                    <a:pt x="1624583" y="288035"/>
                  </a:lnTo>
                  <a:lnTo>
                    <a:pt x="1560475" y="285714"/>
                  </a:lnTo>
                  <a:lnTo>
                    <a:pt x="1500139" y="279021"/>
                  </a:lnTo>
                  <a:lnTo>
                    <a:pt x="1444582" y="268365"/>
                  </a:lnTo>
                  <a:lnTo>
                    <a:pt x="1394811" y="254152"/>
                  </a:lnTo>
                  <a:lnTo>
                    <a:pt x="1351831" y="236791"/>
                  </a:lnTo>
                  <a:lnTo>
                    <a:pt x="1316651" y="216690"/>
                  </a:lnTo>
                  <a:lnTo>
                    <a:pt x="1273712" y="169895"/>
                  </a:lnTo>
                  <a:lnTo>
                    <a:pt x="1267968" y="144017"/>
                  </a:lnTo>
                  <a:close/>
                </a:path>
              </a:pathLst>
            </a:custGeom>
            <a:ln w="12700">
              <a:solidFill>
                <a:srgbClr val="0431FF"/>
              </a:solidFill>
              <a:prstDash val="sys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
        <p:nvSpPr>
          <p:cNvPr id="44" name="object 21"/>
          <p:cNvSpPr txBox="1"/>
          <p:nvPr/>
        </p:nvSpPr>
        <p:spPr>
          <a:xfrm>
            <a:off x="4761991" y="5048503"/>
            <a:ext cx="2320290" cy="574040"/>
          </a:xfrm>
          <a:prstGeom prst="rect">
            <a:avLst/>
          </a:prstGeom>
        </p:spPr>
        <p:txBody>
          <a:bodyPr vert="horz" wrap="square" lIns="0" tIns="12700" rIns="0" bIns="0" rtlCol="0">
            <a:spAutoFit/>
          </a:bodyPr>
          <a:lstStyle/>
          <a:p>
            <a:pPr marL="289560" marR="5080" indent="-277495">
              <a:spcBef>
                <a:spcPts val="100"/>
              </a:spcBef>
            </a:pPr>
            <a:r>
              <a:rPr dirty="0">
                <a:solidFill>
                  <a:srgbClr val="0431FF"/>
                </a:solidFill>
                <a:latin typeface="Palatino Linotype" panose="02040502050505030304"/>
                <a:cs typeface="Palatino Linotype" panose="02040502050505030304"/>
              </a:rPr>
              <a:t>The</a:t>
            </a:r>
            <a:r>
              <a:rPr spc="-20" dirty="0">
                <a:solidFill>
                  <a:srgbClr val="0431FF"/>
                </a:solidFill>
                <a:latin typeface="Palatino Linotype" panose="02040502050505030304"/>
                <a:cs typeface="Palatino Linotype" panose="02040502050505030304"/>
              </a:rPr>
              <a:t> </a:t>
            </a:r>
            <a:r>
              <a:rPr spc="-10" dirty="0">
                <a:solidFill>
                  <a:srgbClr val="0431FF"/>
                </a:solidFill>
                <a:latin typeface="Palatino Linotype" panose="02040502050505030304"/>
                <a:cs typeface="Palatino Linotype" panose="02040502050505030304"/>
              </a:rPr>
              <a:t>blue-</a:t>
            </a:r>
            <a:r>
              <a:rPr dirty="0">
                <a:solidFill>
                  <a:srgbClr val="0431FF"/>
                </a:solidFill>
                <a:latin typeface="Palatino Linotype" panose="02040502050505030304"/>
                <a:cs typeface="Palatino Linotype" panose="02040502050505030304"/>
              </a:rPr>
              <a:t>circled</a:t>
            </a:r>
            <a:r>
              <a:rPr spc="-35" dirty="0">
                <a:solidFill>
                  <a:srgbClr val="0431FF"/>
                </a:solidFill>
                <a:latin typeface="Palatino Linotype" panose="02040502050505030304"/>
                <a:cs typeface="Palatino Linotype" panose="02040502050505030304"/>
              </a:rPr>
              <a:t> </a:t>
            </a:r>
            <a:r>
              <a:rPr spc="-20" dirty="0">
                <a:solidFill>
                  <a:srgbClr val="0431FF"/>
                </a:solidFill>
                <a:latin typeface="Palatino Linotype" panose="02040502050505030304"/>
                <a:cs typeface="Palatino Linotype" panose="02040502050505030304"/>
              </a:rPr>
              <a:t>nodes </a:t>
            </a:r>
            <a:r>
              <a:rPr dirty="0">
                <a:solidFill>
                  <a:srgbClr val="0431FF"/>
                </a:solidFill>
                <a:latin typeface="Palatino Linotype" panose="02040502050505030304"/>
                <a:cs typeface="Palatino Linotype" panose="02040502050505030304"/>
              </a:rPr>
              <a:t>have</a:t>
            </a:r>
            <a:r>
              <a:rPr spc="-45" dirty="0">
                <a:solidFill>
                  <a:srgbClr val="0431FF"/>
                </a:solidFill>
                <a:latin typeface="Palatino Linotype" panose="02040502050505030304"/>
                <a:cs typeface="Palatino Linotype" panose="02040502050505030304"/>
              </a:rPr>
              <a:t> </a:t>
            </a:r>
            <a:r>
              <a:rPr dirty="0">
                <a:solidFill>
                  <a:srgbClr val="0431FF"/>
                </a:solidFill>
                <a:latin typeface="Palatino Linotype" panose="02040502050505030304"/>
                <a:cs typeface="Palatino Linotype" panose="02040502050505030304"/>
              </a:rPr>
              <a:t>two</a:t>
            </a:r>
            <a:r>
              <a:rPr spc="-45" dirty="0">
                <a:solidFill>
                  <a:srgbClr val="0431FF"/>
                </a:solidFill>
                <a:latin typeface="Palatino Linotype" panose="02040502050505030304"/>
                <a:cs typeface="Palatino Linotype" panose="02040502050505030304"/>
              </a:rPr>
              <a:t> </a:t>
            </a:r>
            <a:r>
              <a:rPr spc="-10" dirty="0">
                <a:solidFill>
                  <a:srgbClr val="0431FF"/>
                </a:solidFill>
                <a:latin typeface="Palatino Linotype" panose="02040502050505030304"/>
                <a:cs typeface="Palatino Linotype" panose="02040502050505030304"/>
              </a:rPr>
              <a:t>parents</a:t>
            </a:r>
            <a:endParaRPr>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a:t>
            </a:fld>
            <a:endParaRPr lang="en-US"/>
          </a:p>
        </p:txBody>
      </p:sp>
      <p:sp>
        <p:nvSpPr>
          <p:cNvPr id="12" name="object 2"/>
          <p:cNvSpPr txBox="1"/>
          <p:nvPr/>
        </p:nvSpPr>
        <p:spPr>
          <a:xfrm>
            <a:off x="707542" y="520141"/>
            <a:ext cx="4752975"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Constructing</a:t>
            </a:r>
            <a:r>
              <a:rPr kumimoji="0" lang="en-US" sz="4000" b="1" i="0" u="none" strike="noStrike" kern="0" cap="none" spc="-15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DAG’s</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13" name="object 3"/>
          <p:cNvSpPr txBox="1"/>
          <p:nvPr/>
        </p:nvSpPr>
        <p:spPr>
          <a:xfrm>
            <a:off x="707542" y="1589049"/>
            <a:ext cx="7506970" cy="1711325"/>
          </a:xfrm>
          <a:prstGeom prst="rect">
            <a:avLst/>
          </a:prstGeom>
        </p:spPr>
        <p:txBody>
          <a:bodyPr vert="horz" wrap="square" lIns="0" tIns="79375" rIns="0" bIns="0" rtlCol="0">
            <a:spAutoFit/>
          </a:bodyPr>
          <a:lstStyle/>
          <a:p>
            <a:pPr marL="242570" indent="-229870">
              <a:spcBef>
                <a:spcPts val="625"/>
              </a:spcBef>
              <a:buFont typeface="Arial MT"/>
              <a:buChar char="•"/>
              <a:tabLst>
                <a:tab pos="242570" algn="l"/>
              </a:tabLst>
            </a:pPr>
            <a:r>
              <a:rPr sz="2200" spc="-40" dirty="0">
                <a:solidFill>
                  <a:sysClr val="windowText" lastClr="000000"/>
                </a:solidFill>
                <a:latin typeface="Palatino Linotype" panose="02040502050505030304"/>
                <a:cs typeface="Palatino Linotype" panose="02040502050505030304"/>
              </a:rPr>
              <a:t>DAG’s</a:t>
            </a:r>
            <a:r>
              <a:rPr sz="2200" spc="-2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can</a:t>
            </a:r>
            <a:r>
              <a:rPr sz="2200" spc="-3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be</a:t>
            </a:r>
            <a:r>
              <a:rPr sz="2200" spc="-3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constructed</a:t>
            </a:r>
            <a:r>
              <a:rPr sz="2200" spc="-3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by</a:t>
            </a:r>
            <a:r>
              <a:rPr sz="2200" spc="-3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the</a:t>
            </a:r>
            <a:r>
              <a:rPr sz="2200" spc="-4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same</a:t>
            </a:r>
            <a:r>
              <a:rPr sz="2200" spc="-3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SDD</a:t>
            </a:r>
            <a:r>
              <a:rPr sz="2200" spc="-3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that</a:t>
            </a:r>
            <a:r>
              <a:rPr sz="2200" spc="-60" dirty="0">
                <a:solidFill>
                  <a:sysClr val="windowText" lastClr="000000"/>
                </a:solidFill>
                <a:latin typeface="Palatino Linotype" panose="02040502050505030304"/>
                <a:cs typeface="Palatino Linotype" panose="02040502050505030304"/>
              </a:rPr>
              <a:t> </a:t>
            </a:r>
            <a:r>
              <a:rPr sz="2200" spc="-10" dirty="0">
                <a:solidFill>
                  <a:sysClr val="windowText" lastClr="000000"/>
                </a:solidFill>
                <a:latin typeface="Palatino Linotype" panose="02040502050505030304"/>
                <a:cs typeface="Palatino Linotype" panose="02040502050505030304"/>
              </a:rPr>
              <a:t>constructs</a:t>
            </a:r>
            <a:endParaRPr sz="2200">
              <a:solidFill>
                <a:sysClr val="windowText" lastClr="000000"/>
              </a:solidFill>
              <a:latin typeface="Palatino Linotype" panose="02040502050505030304"/>
              <a:cs typeface="Palatino Linotype" panose="02040502050505030304"/>
            </a:endParaRPr>
          </a:p>
          <a:p>
            <a:pPr marL="242570">
              <a:spcBef>
                <a:spcPts val="530"/>
              </a:spcBef>
            </a:pPr>
            <a:r>
              <a:rPr sz="2200" dirty="0">
                <a:solidFill>
                  <a:sysClr val="windowText" lastClr="000000"/>
                </a:solidFill>
                <a:latin typeface="Palatino Linotype" panose="02040502050505030304"/>
                <a:cs typeface="Palatino Linotype" panose="02040502050505030304"/>
              </a:rPr>
              <a:t>syntax</a:t>
            </a:r>
            <a:r>
              <a:rPr sz="2200" spc="-60" dirty="0">
                <a:solidFill>
                  <a:sysClr val="windowText" lastClr="000000"/>
                </a:solidFill>
                <a:latin typeface="Palatino Linotype" panose="02040502050505030304"/>
                <a:cs typeface="Palatino Linotype" panose="02040502050505030304"/>
              </a:rPr>
              <a:t> </a:t>
            </a:r>
            <a:r>
              <a:rPr sz="2200" spc="-20" dirty="0">
                <a:solidFill>
                  <a:sysClr val="windowText" lastClr="000000"/>
                </a:solidFill>
                <a:latin typeface="Palatino Linotype" panose="02040502050505030304"/>
                <a:cs typeface="Palatino Linotype" panose="02040502050505030304"/>
              </a:rPr>
              <a:t>trees</a:t>
            </a:r>
            <a:endParaRPr sz="2200">
              <a:solidFill>
                <a:sysClr val="windowText" lastClr="000000"/>
              </a:solidFill>
              <a:latin typeface="Palatino Linotype" panose="02040502050505030304"/>
              <a:cs typeface="Palatino Linotype" panose="02040502050505030304"/>
            </a:endParaRPr>
          </a:p>
          <a:p>
            <a:pPr marL="242570" indent="-229870">
              <a:spcBef>
                <a:spcPts val="1130"/>
              </a:spcBef>
              <a:buClr>
                <a:srgbClr val="000000"/>
              </a:buClr>
              <a:buFont typeface="Arial MT"/>
              <a:buChar char="•"/>
              <a:tabLst>
                <a:tab pos="242570" algn="l"/>
              </a:tabLst>
            </a:pPr>
            <a:r>
              <a:rPr sz="2200" b="1" dirty="0">
                <a:solidFill>
                  <a:srgbClr val="FF0000"/>
                </a:solidFill>
                <a:latin typeface="Palatino Linotype" panose="02040502050505030304"/>
                <a:cs typeface="Palatino Linotype" panose="02040502050505030304"/>
              </a:rPr>
              <a:t>The</a:t>
            </a:r>
            <a:r>
              <a:rPr sz="2200" b="1" spc="-50" dirty="0">
                <a:solidFill>
                  <a:srgbClr val="FF0000"/>
                </a:solidFill>
                <a:latin typeface="Palatino Linotype" panose="02040502050505030304"/>
                <a:cs typeface="Palatino Linotype" panose="02040502050505030304"/>
              </a:rPr>
              <a:t> </a:t>
            </a:r>
            <a:r>
              <a:rPr sz="2200" b="1" dirty="0">
                <a:solidFill>
                  <a:srgbClr val="FF0000"/>
                </a:solidFill>
                <a:latin typeface="Palatino Linotype" panose="02040502050505030304"/>
                <a:cs typeface="Palatino Linotype" panose="02040502050505030304"/>
              </a:rPr>
              <a:t>difference:</a:t>
            </a:r>
            <a:r>
              <a:rPr sz="2200" b="1" spc="-30" dirty="0">
                <a:solidFill>
                  <a:srgbClr val="FF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When</a:t>
            </a:r>
            <a:r>
              <a:rPr sz="2200" spc="-6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constructing</a:t>
            </a:r>
            <a:r>
              <a:rPr sz="2200" spc="-55" dirty="0">
                <a:solidFill>
                  <a:sysClr val="windowText" lastClr="000000"/>
                </a:solidFill>
                <a:latin typeface="Palatino Linotype" panose="02040502050505030304"/>
                <a:cs typeface="Palatino Linotype" panose="02040502050505030304"/>
              </a:rPr>
              <a:t> </a:t>
            </a:r>
            <a:r>
              <a:rPr sz="2200" spc="-35" dirty="0">
                <a:solidFill>
                  <a:sysClr val="windowText" lastClr="000000"/>
                </a:solidFill>
                <a:latin typeface="Palatino Linotype" panose="02040502050505030304"/>
                <a:cs typeface="Palatino Linotype" panose="02040502050505030304"/>
              </a:rPr>
              <a:t>DAG’s,</a:t>
            </a:r>
            <a:r>
              <a:rPr sz="2200" spc="-4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a</a:t>
            </a:r>
            <a:r>
              <a:rPr sz="2200" spc="-4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new</a:t>
            </a:r>
            <a:r>
              <a:rPr sz="2200" spc="-6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node</a:t>
            </a:r>
            <a:r>
              <a:rPr sz="2200" spc="-45" dirty="0">
                <a:solidFill>
                  <a:sysClr val="windowText" lastClr="000000"/>
                </a:solidFill>
                <a:latin typeface="Palatino Linotype" panose="02040502050505030304"/>
                <a:cs typeface="Palatino Linotype" panose="02040502050505030304"/>
              </a:rPr>
              <a:t> </a:t>
            </a:r>
            <a:r>
              <a:rPr sz="2200" spc="-25" dirty="0">
                <a:solidFill>
                  <a:sysClr val="windowText" lastClr="000000"/>
                </a:solidFill>
                <a:latin typeface="Palatino Linotype" panose="02040502050505030304"/>
                <a:cs typeface="Palatino Linotype" panose="02040502050505030304"/>
              </a:rPr>
              <a:t>is</a:t>
            </a:r>
            <a:endParaRPr sz="2200">
              <a:solidFill>
                <a:sysClr val="windowText" lastClr="000000"/>
              </a:solidFill>
              <a:latin typeface="Palatino Linotype" panose="02040502050505030304"/>
              <a:cs typeface="Palatino Linotype" panose="02040502050505030304"/>
            </a:endParaRPr>
          </a:p>
          <a:p>
            <a:pPr marL="242570">
              <a:spcBef>
                <a:spcPts val="530"/>
              </a:spcBef>
            </a:pPr>
            <a:r>
              <a:rPr sz="2200" dirty="0">
                <a:solidFill>
                  <a:sysClr val="windowText" lastClr="000000"/>
                </a:solidFill>
                <a:latin typeface="Palatino Linotype" panose="02040502050505030304"/>
                <a:cs typeface="Palatino Linotype" panose="02040502050505030304"/>
              </a:rPr>
              <a:t>created</a:t>
            </a:r>
            <a:r>
              <a:rPr sz="2200" spc="-2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if</a:t>
            </a:r>
            <a:r>
              <a:rPr sz="2200" spc="-3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and</a:t>
            </a:r>
            <a:r>
              <a:rPr sz="2200" spc="-3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only</a:t>
            </a:r>
            <a:r>
              <a:rPr sz="2200" spc="-3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if</a:t>
            </a:r>
            <a:r>
              <a:rPr sz="2200" spc="-3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there</a:t>
            </a:r>
            <a:r>
              <a:rPr sz="2200" spc="-5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is</a:t>
            </a:r>
            <a:r>
              <a:rPr sz="2200" spc="-3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no</a:t>
            </a:r>
            <a:r>
              <a:rPr sz="2200" spc="-4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existing</a:t>
            </a:r>
            <a:r>
              <a:rPr sz="2200" spc="-3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identical</a:t>
            </a:r>
            <a:r>
              <a:rPr sz="2200" spc="-55" dirty="0">
                <a:solidFill>
                  <a:sysClr val="windowText" lastClr="000000"/>
                </a:solidFill>
                <a:latin typeface="Palatino Linotype" panose="02040502050505030304"/>
                <a:cs typeface="Palatino Linotype" panose="02040502050505030304"/>
              </a:rPr>
              <a:t> </a:t>
            </a:r>
            <a:r>
              <a:rPr sz="2200" spc="-20" dirty="0">
                <a:solidFill>
                  <a:sysClr val="windowText" lastClr="000000"/>
                </a:solidFill>
                <a:latin typeface="Palatino Linotype" panose="02040502050505030304"/>
                <a:cs typeface="Palatino Linotype" panose="02040502050505030304"/>
              </a:rPr>
              <a:t>node</a:t>
            </a:r>
            <a:endParaRPr sz="2200">
              <a:solidFill>
                <a:sysClr val="windowText" lastClr="000000"/>
              </a:solidFill>
              <a:latin typeface="Palatino Linotype" panose="02040502050505030304"/>
              <a:cs typeface="Palatino Linotype" panose="02040502050505030304"/>
            </a:endParaRPr>
          </a:p>
        </p:txBody>
      </p:sp>
      <p:pic>
        <p:nvPicPr>
          <p:cNvPr id="2" name="图片 1">
            <a:extLst>
              <a:ext uri="{FF2B5EF4-FFF2-40B4-BE49-F238E27FC236}">
                <a16:creationId xmlns:a16="http://schemas.microsoft.com/office/drawing/2014/main" id="{BA47D48A-D512-4799-992E-64F055B8D5A4}"/>
              </a:ext>
            </a:extLst>
          </p:cNvPr>
          <p:cNvPicPr>
            <a:picLocks noChangeAspect="1"/>
          </p:cNvPicPr>
          <p:nvPr/>
        </p:nvPicPr>
        <p:blipFill>
          <a:blip r:embed="rId3"/>
          <a:stretch>
            <a:fillRect/>
          </a:stretch>
        </p:blipFill>
        <p:spPr>
          <a:xfrm>
            <a:off x="707542" y="3629507"/>
            <a:ext cx="6457950" cy="2470559"/>
          </a:xfrm>
          <a:prstGeom prst="rect">
            <a:avLst/>
          </a:prstGeom>
        </p:spPr>
      </p:pic>
      <p:sp>
        <p:nvSpPr>
          <p:cNvPr id="18" name="object 8"/>
          <p:cNvSpPr txBox="1"/>
          <p:nvPr/>
        </p:nvSpPr>
        <p:spPr>
          <a:xfrm>
            <a:off x="6457950" y="4768897"/>
            <a:ext cx="2142490" cy="299720"/>
          </a:xfrm>
          <a:prstGeom prst="rect">
            <a:avLst/>
          </a:prstGeom>
        </p:spPr>
        <p:txBody>
          <a:bodyPr vert="horz" wrap="square" lIns="0" tIns="12700" rIns="0" bIns="0" rtlCol="0">
            <a:spAutoFit/>
          </a:bodyPr>
          <a:lstStyle/>
          <a:p>
            <a:pPr marL="12700">
              <a:spcBef>
                <a:spcPts val="100"/>
              </a:spcBef>
            </a:pPr>
            <a:r>
              <a:rPr dirty="0">
                <a:solidFill>
                  <a:srgbClr val="FF0000"/>
                </a:solidFill>
                <a:latin typeface="Palatino Linotype" panose="02040502050505030304"/>
                <a:cs typeface="Palatino Linotype" panose="02040502050505030304"/>
              </a:rPr>
              <a:t>Reuse</a:t>
            </a:r>
            <a:r>
              <a:rPr spc="-55"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existing</a:t>
            </a:r>
            <a:r>
              <a:rPr spc="-60" dirty="0">
                <a:solidFill>
                  <a:srgbClr val="FF0000"/>
                </a:solidFill>
                <a:latin typeface="Palatino Linotype" panose="02040502050505030304"/>
                <a:cs typeface="Palatino Linotype" panose="02040502050505030304"/>
              </a:rPr>
              <a:t> </a:t>
            </a:r>
            <a:r>
              <a:rPr spc="-20" dirty="0">
                <a:solidFill>
                  <a:srgbClr val="FF0000"/>
                </a:solidFill>
                <a:latin typeface="Palatino Linotype" panose="02040502050505030304"/>
                <a:cs typeface="Palatino Linotype" panose="02040502050505030304"/>
              </a:rPr>
              <a:t>nodes</a:t>
            </a:r>
            <a:endParaRPr dirty="0">
              <a:solidFill>
                <a:sysClr val="windowText" lastClr="000000"/>
              </a:solidFill>
              <a:latin typeface="Palatino Linotype" panose="02040502050505030304"/>
              <a:cs typeface="Palatino Linotype" panose="02040502050505030304"/>
            </a:endParaRPr>
          </a:p>
        </p:txBody>
      </p:sp>
      <p:sp>
        <p:nvSpPr>
          <p:cNvPr id="6" name="矩形 5">
            <a:extLst>
              <a:ext uri="{FF2B5EF4-FFF2-40B4-BE49-F238E27FC236}">
                <a16:creationId xmlns:a16="http://schemas.microsoft.com/office/drawing/2014/main" id="{ACD158CD-69FB-43C4-9C56-AB833E718058}"/>
              </a:ext>
            </a:extLst>
          </p:cNvPr>
          <p:cNvSpPr/>
          <p:nvPr/>
        </p:nvSpPr>
        <p:spPr>
          <a:xfrm>
            <a:off x="3923927" y="4121370"/>
            <a:ext cx="473613" cy="573312"/>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2D9194D3-A99A-420F-809B-1B7EDBD0813A}"/>
              </a:ext>
            </a:extLst>
          </p:cNvPr>
          <p:cNvSpPr/>
          <p:nvPr/>
        </p:nvSpPr>
        <p:spPr bwMode="auto">
          <a:xfrm>
            <a:off x="3882364" y="5340570"/>
            <a:ext cx="473613" cy="573312"/>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箭头连接符 7">
            <a:extLst>
              <a:ext uri="{FF2B5EF4-FFF2-40B4-BE49-F238E27FC236}">
                <a16:creationId xmlns:a16="http://schemas.microsoft.com/office/drawing/2014/main" id="{C56D01E8-EEB5-4C5A-8FBB-1EF7867EFD70}"/>
              </a:ext>
            </a:extLst>
          </p:cNvPr>
          <p:cNvCxnSpPr>
            <a:stCxn id="6" idx="3"/>
          </p:cNvCxnSpPr>
          <p:nvPr/>
        </p:nvCxnSpPr>
        <p:spPr>
          <a:xfrm>
            <a:off x="4397540" y="4408026"/>
            <a:ext cx="1951300" cy="45676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E1130AB3-3A69-4465-BE9C-18272E85751E}"/>
              </a:ext>
            </a:extLst>
          </p:cNvPr>
          <p:cNvCxnSpPr>
            <a:stCxn id="19" idx="3"/>
          </p:cNvCxnSpPr>
          <p:nvPr/>
        </p:nvCxnSpPr>
        <p:spPr>
          <a:xfrm flipV="1">
            <a:off x="4355977" y="4918757"/>
            <a:ext cx="1992863" cy="70846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6" grpId="0" animBg="1"/>
      <p:bldP spid="19"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a:t>
            </a:fld>
            <a:endParaRPr lang="en-US"/>
          </a:p>
        </p:txBody>
      </p:sp>
      <p:sp>
        <p:nvSpPr>
          <p:cNvPr id="21"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Constructing</a:t>
            </a:r>
            <a:r>
              <a:rPr kumimoji="0" lang="en-US" sz="4000" b="1" i="0" u="none" strike="noStrike" kern="0" cap="none" spc="-17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25" normalizeH="0" baseline="0" noProof="0">
                <a:ln>
                  <a:noFill/>
                </a:ln>
                <a:solidFill>
                  <a:srgbClr val="000000"/>
                </a:solidFill>
                <a:effectLst/>
                <a:uLnTx/>
                <a:uFillTx/>
                <a:latin typeface="Palatino Linotype" panose="02040502050505030304"/>
                <a:ea typeface="+mj-ea"/>
              </a:rPr>
              <a:t>DAG’s</a:t>
            </a:r>
            <a:r>
              <a:rPr kumimoji="0" lang="en-US" sz="4000" b="1" i="0" u="none" strike="noStrike" kern="0" cap="none" spc="-200"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Cont.</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22" name="object 3"/>
          <p:cNvSpPr txBox="1"/>
          <p:nvPr/>
        </p:nvSpPr>
        <p:spPr>
          <a:xfrm>
            <a:off x="707542" y="1659763"/>
            <a:ext cx="3538220" cy="1087755"/>
          </a:xfrm>
          <a:prstGeom prst="rect">
            <a:avLst/>
          </a:prstGeom>
        </p:spPr>
        <p:txBody>
          <a:bodyPr vert="horz" wrap="square" lIns="0" tIns="13335" rIns="0" bIns="0" rtlCol="0">
            <a:spAutoFit/>
          </a:bodyPr>
          <a:lstStyle/>
          <a:p>
            <a:pPr marL="242570" indent="-229870">
              <a:spcBef>
                <a:spcPts val="105"/>
              </a:spcBef>
              <a:buFont typeface="Arial MT"/>
              <a:buChar char="•"/>
              <a:tabLst>
                <a:tab pos="242570" algn="l"/>
              </a:tabLst>
            </a:pPr>
            <a:r>
              <a:rPr sz="2600" dirty="0">
                <a:solidFill>
                  <a:sysClr val="windowText" lastClr="000000"/>
                </a:solidFill>
                <a:latin typeface="Palatino Linotype" panose="02040502050505030304"/>
                <a:cs typeface="Palatino Linotype" panose="02040502050505030304"/>
              </a:rPr>
              <a:t>The</a:t>
            </a:r>
            <a:r>
              <a:rPr sz="2600" spc="-65" dirty="0">
                <a:solidFill>
                  <a:sysClr val="windowText" lastClr="000000"/>
                </a:solidFill>
                <a:latin typeface="Palatino Linotype" panose="02040502050505030304"/>
                <a:cs typeface="Palatino Linotype" panose="02040502050505030304"/>
              </a:rPr>
              <a:t> </a:t>
            </a:r>
            <a:r>
              <a:rPr sz="2600" dirty="0">
                <a:solidFill>
                  <a:sysClr val="windowText" lastClr="000000"/>
                </a:solidFill>
                <a:latin typeface="Palatino Linotype" panose="02040502050505030304"/>
                <a:cs typeface="Palatino Linotype" panose="02040502050505030304"/>
              </a:rPr>
              <a:t>construction</a:t>
            </a:r>
            <a:r>
              <a:rPr sz="2600" spc="-60" dirty="0">
                <a:solidFill>
                  <a:sysClr val="windowText" lastClr="000000"/>
                </a:solidFill>
                <a:latin typeface="Palatino Linotype" panose="02040502050505030304"/>
                <a:cs typeface="Palatino Linotype" panose="02040502050505030304"/>
              </a:rPr>
              <a:t> </a:t>
            </a:r>
            <a:r>
              <a:rPr sz="2600" spc="-10" dirty="0">
                <a:solidFill>
                  <a:sysClr val="windowText" lastClr="000000"/>
                </a:solidFill>
                <a:latin typeface="Palatino Linotype" panose="02040502050505030304"/>
                <a:cs typeface="Palatino Linotype" panose="02040502050505030304"/>
              </a:rPr>
              <a:t>steps</a:t>
            </a:r>
            <a:endParaRPr sz="2600">
              <a:solidFill>
                <a:sysClr val="windowText" lastClr="000000"/>
              </a:solidFill>
              <a:latin typeface="Palatino Linotype" panose="02040502050505030304"/>
              <a:cs typeface="Palatino Linotype" panose="02040502050505030304"/>
            </a:endParaRPr>
          </a:p>
          <a:p>
            <a:pPr marR="267970" algn="ctr">
              <a:spcBef>
                <a:spcPts val="3080"/>
              </a:spcBef>
            </a:pPr>
            <a:r>
              <a:rPr spc="-50" dirty="0">
                <a:solidFill>
                  <a:sysClr val="windowText" lastClr="000000"/>
                </a:solidFill>
                <a:latin typeface="Cambria Math" panose="02040503050406030204"/>
                <a:cs typeface="Cambria Math" panose="02040503050406030204"/>
              </a:rPr>
              <a:t>+</a:t>
            </a:r>
            <a:endParaRPr>
              <a:solidFill>
                <a:sysClr val="windowText" lastClr="000000"/>
              </a:solidFill>
              <a:latin typeface="Cambria Math" panose="02040503050406030204"/>
              <a:cs typeface="Cambria Math" panose="02040503050406030204"/>
            </a:endParaRPr>
          </a:p>
        </p:txBody>
      </p:sp>
      <p:sp>
        <p:nvSpPr>
          <p:cNvPr id="23" name="object 4"/>
          <p:cNvSpPr txBox="1"/>
          <p:nvPr/>
        </p:nvSpPr>
        <p:spPr>
          <a:xfrm>
            <a:off x="1469263" y="3198114"/>
            <a:ext cx="19621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a:t>
            </a:r>
            <a:endParaRPr>
              <a:solidFill>
                <a:sysClr val="windowText" lastClr="000000"/>
              </a:solidFill>
              <a:latin typeface="Cambria Math" panose="02040503050406030204"/>
              <a:cs typeface="Cambria Math" panose="02040503050406030204"/>
            </a:endParaRPr>
          </a:p>
        </p:txBody>
      </p:sp>
      <p:sp>
        <p:nvSpPr>
          <p:cNvPr id="24" name="object 5"/>
          <p:cNvSpPr txBox="1"/>
          <p:nvPr/>
        </p:nvSpPr>
        <p:spPr>
          <a:xfrm>
            <a:off x="1688719" y="3917391"/>
            <a:ext cx="136525" cy="300355"/>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a:t>
            </a:r>
            <a:endParaRPr dirty="0">
              <a:solidFill>
                <a:sysClr val="windowText" lastClr="000000"/>
              </a:solidFill>
              <a:latin typeface="Cambria Math" panose="02040503050406030204"/>
              <a:cs typeface="Cambria Math" panose="02040503050406030204"/>
            </a:endParaRPr>
          </a:p>
        </p:txBody>
      </p:sp>
      <p:sp>
        <p:nvSpPr>
          <p:cNvPr id="25" name="object 6"/>
          <p:cNvSpPr txBox="1"/>
          <p:nvPr/>
        </p:nvSpPr>
        <p:spPr>
          <a:xfrm>
            <a:off x="1031849" y="4650740"/>
            <a:ext cx="15303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𝑎</a:t>
            </a:r>
            <a:endParaRPr>
              <a:solidFill>
                <a:sysClr val="windowText" lastClr="000000"/>
              </a:solidFill>
              <a:latin typeface="Cambria Math" panose="02040503050406030204"/>
              <a:cs typeface="Cambria Math" panose="02040503050406030204"/>
            </a:endParaRPr>
          </a:p>
        </p:txBody>
      </p:sp>
      <p:sp>
        <p:nvSpPr>
          <p:cNvPr id="26" name="object 7"/>
          <p:cNvSpPr txBox="1"/>
          <p:nvPr/>
        </p:nvSpPr>
        <p:spPr>
          <a:xfrm>
            <a:off x="2167254" y="4644897"/>
            <a:ext cx="19621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a:t>
            </a:r>
            <a:endParaRPr>
              <a:solidFill>
                <a:sysClr val="windowText" lastClr="000000"/>
              </a:solidFill>
              <a:latin typeface="Cambria Math" panose="02040503050406030204"/>
              <a:cs typeface="Cambria Math" panose="02040503050406030204"/>
            </a:endParaRPr>
          </a:p>
        </p:txBody>
      </p:sp>
      <p:sp>
        <p:nvSpPr>
          <p:cNvPr id="27" name="object 8"/>
          <p:cNvSpPr txBox="1"/>
          <p:nvPr/>
        </p:nvSpPr>
        <p:spPr>
          <a:xfrm>
            <a:off x="1735073" y="5301741"/>
            <a:ext cx="14922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𝑏</a:t>
            </a:r>
            <a:endParaRPr>
              <a:solidFill>
                <a:sysClr val="windowText" lastClr="000000"/>
              </a:solidFill>
              <a:latin typeface="Cambria Math" panose="02040503050406030204"/>
              <a:cs typeface="Cambria Math" panose="02040503050406030204"/>
            </a:endParaRPr>
          </a:p>
        </p:txBody>
      </p:sp>
      <p:sp>
        <p:nvSpPr>
          <p:cNvPr id="28" name="object 9"/>
          <p:cNvSpPr txBox="1"/>
          <p:nvPr/>
        </p:nvSpPr>
        <p:spPr>
          <a:xfrm>
            <a:off x="2653410" y="5303977"/>
            <a:ext cx="130810" cy="300355"/>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𝑐</a:t>
            </a:r>
            <a:endParaRPr>
              <a:solidFill>
                <a:sysClr val="windowText" lastClr="000000"/>
              </a:solidFill>
              <a:latin typeface="Cambria Math" panose="02040503050406030204"/>
              <a:cs typeface="Cambria Math" panose="02040503050406030204"/>
            </a:endParaRPr>
          </a:p>
        </p:txBody>
      </p:sp>
      <p:sp>
        <p:nvSpPr>
          <p:cNvPr id="29" name="object 10"/>
          <p:cNvSpPr txBox="1"/>
          <p:nvPr/>
        </p:nvSpPr>
        <p:spPr>
          <a:xfrm>
            <a:off x="3080385" y="3198114"/>
            <a:ext cx="13589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a:t>
            </a:r>
            <a:endParaRPr>
              <a:solidFill>
                <a:sysClr val="windowText" lastClr="000000"/>
              </a:solidFill>
              <a:latin typeface="Cambria Math" panose="02040503050406030204"/>
              <a:cs typeface="Cambria Math" panose="02040503050406030204"/>
            </a:endParaRPr>
          </a:p>
        </p:txBody>
      </p:sp>
      <p:sp>
        <p:nvSpPr>
          <p:cNvPr id="30" name="object 11"/>
          <p:cNvSpPr txBox="1"/>
          <p:nvPr/>
        </p:nvSpPr>
        <p:spPr>
          <a:xfrm>
            <a:off x="3396234" y="3911854"/>
            <a:ext cx="15811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𝑑</a:t>
            </a:r>
            <a:endParaRPr>
              <a:solidFill>
                <a:sysClr val="windowText" lastClr="000000"/>
              </a:solidFill>
              <a:latin typeface="Cambria Math" panose="02040503050406030204"/>
              <a:cs typeface="Cambria Math" panose="02040503050406030204"/>
            </a:endParaRPr>
          </a:p>
        </p:txBody>
      </p:sp>
      <p:sp>
        <p:nvSpPr>
          <p:cNvPr id="31" name="object 12"/>
          <p:cNvSpPr/>
          <p:nvPr/>
        </p:nvSpPr>
        <p:spPr>
          <a:xfrm>
            <a:off x="1773935" y="2796539"/>
            <a:ext cx="1170305" cy="565785"/>
          </a:xfrm>
          <a:custGeom>
            <a:avLst/>
            <a:gdLst/>
            <a:ahLst/>
            <a:cxnLst/>
            <a:rect l="l" t="t" r="r" b="b"/>
            <a:pathLst>
              <a:path w="1170305" h="565785">
                <a:moveTo>
                  <a:pt x="565403" y="0"/>
                </a:moveTo>
                <a:lnTo>
                  <a:pt x="0" y="565658"/>
                </a:lnTo>
              </a:path>
              <a:path w="1170305" h="565785">
                <a:moveTo>
                  <a:pt x="1169796" y="565658"/>
                </a:moveTo>
                <a:lnTo>
                  <a:pt x="565403" y="0"/>
                </a:lnTo>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32" name="object 13"/>
          <p:cNvSpPr/>
          <p:nvPr/>
        </p:nvSpPr>
        <p:spPr>
          <a:xfrm>
            <a:off x="903794" y="3547871"/>
            <a:ext cx="2574925" cy="1083310"/>
          </a:xfrm>
          <a:custGeom>
            <a:avLst/>
            <a:gdLst/>
            <a:ahLst/>
            <a:cxnLst/>
            <a:rect l="l" t="t" r="r" b="b"/>
            <a:pathLst>
              <a:path w="2574925" h="1083310">
                <a:moveTo>
                  <a:pt x="853250" y="350265"/>
                </a:moveTo>
                <a:lnTo>
                  <a:pt x="664401" y="0"/>
                </a:lnTo>
              </a:path>
              <a:path w="2574925" h="1083310">
                <a:moveTo>
                  <a:pt x="1362393" y="1077214"/>
                </a:moveTo>
                <a:lnTo>
                  <a:pt x="2245043" y="0"/>
                </a:lnTo>
              </a:path>
              <a:path w="2574925" h="1083310">
                <a:moveTo>
                  <a:pt x="2574481" y="344423"/>
                </a:moveTo>
                <a:lnTo>
                  <a:pt x="2244789" y="0"/>
                </a:lnTo>
              </a:path>
              <a:path w="2574925" h="1083310">
                <a:moveTo>
                  <a:pt x="853377" y="719327"/>
                </a:moveTo>
                <a:lnTo>
                  <a:pt x="1362266" y="1076959"/>
                </a:lnTo>
              </a:path>
              <a:path w="2574925" h="1083310">
                <a:moveTo>
                  <a:pt x="853250" y="719327"/>
                </a:moveTo>
                <a:lnTo>
                  <a:pt x="207201" y="1082802"/>
                </a:lnTo>
              </a:path>
              <a:path w="2574925" h="1083310">
                <a:moveTo>
                  <a:pt x="685737" y="10667"/>
                </a:moveTo>
                <a:lnTo>
                  <a:pt x="631257" y="32780"/>
                </a:lnTo>
                <a:lnTo>
                  <a:pt x="577084" y="54982"/>
                </a:lnTo>
                <a:lnTo>
                  <a:pt x="523526" y="77362"/>
                </a:lnTo>
                <a:lnTo>
                  <a:pt x="470895" y="100008"/>
                </a:lnTo>
                <a:lnTo>
                  <a:pt x="419499" y="123010"/>
                </a:lnTo>
                <a:lnTo>
                  <a:pt x="369648" y="146457"/>
                </a:lnTo>
                <a:lnTo>
                  <a:pt x="321652" y="170437"/>
                </a:lnTo>
                <a:lnTo>
                  <a:pt x="275820" y="195040"/>
                </a:lnTo>
                <a:lnTo>
                  <a:pt x="232461" y="220354"/>
                </a:lnTo>
                <a:lnTo>
                  <a:pt x="191885" y="246468"/>
                </a:lnTo>
                <a:lnTo>
                  <a:pt x="154402" y="273472"/>
                </a:lnTo>
                <a:lnTo>
                  <a:pt x="120320" y="301454"/>
                </a:lnTo>
                <a:lnTo>
                  <a:pt x="89951" y="330503"/>
                </a:lnTo>
                <a:lnTo>
                  <a:pt x="63602" y="360708"/>
                </a:lnTo>
                <a:lnTo>
                  <a:pt x="41585" y="392158"/>
                </a:lnTo>
                <a:lnTo>
                  <a:pt x="11008" y="461445"/>
                </a:lnTo>
                <a:lnTo>
                  <a:pt x="3064" y="499460"/>
                </a:lnTo>
                <a:lnTo>
                  <a:pt x="0" y="538878"/>
                </a:lnTo>
                <a:lnTo>
                  <a:pt x="1439" y="579591"/>
                </a:lnTo>
                <a:lnTo>
                  <a:pt x="7007" y="621490"/>
                </a:lnTo>
                <a:lnTo>
                  <a:pt x="16328" y="664470"/>
                </a:lnTo>
                <a:lnTo>
                  <a:pt x="29027" y="708420"/>
                </a:lnTo>
                <a:lnTo>
                  <a:pt x="44729" y="753234"/>
                </a:lnTo>
                <a:lnTo>
                  <a:pt x="63058" y="798803"/>
                </a:lnTo>
                <a:lnTo>
                  <a:pt x="83639" y="845020"/>
                </a:lnTo>
                <a:lnTo>
                  <a:pt x="106097" y="891776"/>
                </a:lnTo>
                <a:lnTo>
                  <a:pt x="130056" y="938964"/>
                </a:lnTo>
                <a:lnTo>
                  <a:pt x="155142" y="986476"/>
                </a:lnTo>
                <a:lnTo>
                  <a:pt x="180978" y="1034204"/>
                </a:lnTo>
                <a:lnTo>
                  <a:pt x="207189" y="1082039"/>
                </a:lnTo>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ysClr val="windowText" lastClr="000000"/>
              </a:solidFill>
              <a:effectLst/>
              <a:uLnTx/>
              <a:uFillTx/>
            </a:endParaRPr>
          </a:p>
        </p:txBody>
      </p:sp>
      <p:sp>
        <p:nvSpPr>
          <p:cNvPr id="33" name="object 14"/>
          <p:cNvSpPr/>
          <p:nvPr/>
        </p:nvSpPr>
        <p:spPr>
          <a:xfrm>
            <a:off x="1812035" y="4994147"/>
            <a:ext cx="910590" cy="290195"/>
          </a:xfrm>
          <a:custGeom>
            <a:avLst/>
            <a:gdLst/>
            <a:ahLst/>
            <a:cxnLst/>
            <a:rect l="l" t="t" r="r" b="b"/>
            <a:pathLst>
              <a:path w="910589" h="290195">
                <a:moveTo>
                  <a:pt x="453644" y="0"/>
                </a:moveTo>
                <a:lnTo>
                  <a:pt x="0" y="287273"/>
                </a:lnTo>
              </a:path>
              <a:path w="910589" h="290195">
                <a:moveTo>
                  <a:pt x="454151" y="0"/>
                </a:moveTo>
                <a:lnTo>
                  <a:pt x="910208" y="289940"/>
                </a:lnTo>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pic>
        <p:nvPicPr>
          <p:cNvPr id="2" name="图片 1">
            <a:extLst>
              <a:ext uri="{FF2B5EF4-FFF2-40B4-BE49-F238E27FC236}">
                <a16:creationId xmlns:a16="http://schemas.microsoft.com/office/drawing/2014/main" id="{5D94F3FF-C862-4531-AF5F-B7906942193A}"/>
              </a:ext>
            </a:extLst>
          </p:cNvPr>
          <p:cNvPicPr>
            <a:picLocks noChangeAspect="1"/>
          </p:cNvPicPr>
          <p:nvPr/>
        </p:nvPicPr>
        <p:blipFill>
          <a:blip r:embed="rId3"/>
          <a:stretch>
            <a:fillRect/>
          </a:stretch>
        </p:blipFill>
        <p:spPr>
          <a:xfrm>
            <a:off x="3979329" y="2241238"/>
            <a:ext cx="3879670" cy="3940671"/>
          </a:xfrm>
          <a:prstGeom prst="rect">
            <a:avLst/>
          </a:prstGeom>
        </p:spPr>
      </p:pic>
      <p:sp>
        <p:nvSpPr>
          <p:cNvPr id="6" name="矩形 5">
            <a:extLst>
              <a:ext uri="{FF2B5EF4-FFF2-40B4-BE49-F238E27FC236}">
                <a16:creationId xmlns:a16="http://schemas.microsoft.com/office/drawing/2014/main" id="{E5FEEE85-8D68-4C16-AD75-0822B2B994DB}"/>
              </a:ext>
            </a:extLst>
          </p:cNvPr>
          <p:cNvSpPr/>
          <p:nvPr/>
        </p:nvSpPr>
        <p:spPr>
          <a:xfrm>
            <a:off x="4572000" y="2581599"/>
            <a:ext cx="3040333" cy="3093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250B0DE8-4AB9-4EC6-B0DD-C233FB716DB2}"/>
              </a:ext>
            </a:extLst>
          </p:cNvPr>
          <p:cNvSpPr/>
          <p:nvPr/>
        </p:nvSpPr>
        <p:spPr bwMode="auto">
          <a:xfrm>
            <a:off x="4652378" y="4365104"/>
            <a:ext cx="3040333" cy="91923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7"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11</a:t>
            </a:fld>
            <a:endParaRPr lang="en-US"/>
          </a:p>
        </p:txBody>
      </p:sp>
      <p:sp>
        <p:nvSpPr>
          <p:cNvPr id="9"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Outline</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10" name="object 3"/>
          <p:cNvSpPr txBox="1"/>
          <p:nvPr/>
        </p:nvSpPr>
        <p:spPr>
          <a:xfrm>
            <a:off x="707542" y="1658239"/>
            <a:ext cx="4104004" cy="4110990"/>
          </a:xfrm>
          <a:prstGeom prst="rect">
            <a:avLst/>
          </a:prstGeom>
        </p:spPr>
        <p:txBody>
          <a:bodyPr vert="horz" wrap="square" lIns="0" tIns="12700" rIns="0" bIns="0" rtlCol="0">
            <a:spAutoFit/>
          </a:bodyPr>
          <a:lstStyle>
            <a:lvl1pPr marL="0">
              <a:defRPr sz="2400" b="0" i="0">
                <a:solidFill>
                  <a:schemeClr val="tx1"/>
                </a:solidFill>
                <a:latin typeface="Palatino Linotype" panose="02040502050505030304"/>
                <a:ea typeface="+mn-ea"/>
                <a:cs typeface="Palatino Linotype" panose="0204050205050503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935" marR="0" lvl="0" indent="-229235" defTabSz="914400" eaLnBrk="1" fontAlgn="auto" latinLnBrk="0" hangingPunct="1">
              <a:lnSpc>
                <a:spcPct val="100000"/>
              </a:lnSpc>
              <a:spcBef>
                <a:spcPts val="100"/>
              </a:spcBef>
              <a:spcAft>
                <a:spcPts val="0"/>
              </a:spcAft>
              <a:buClrTx/>
              <a:buSzTx/>
              <a:buFont typeface="Arial MT"/>
              <a:buChar char="•"/>
              <a:tabLst>
                <a:tab pos="241935" algn="l"/>
              </a:tabLst>
              <a:defRPr/>
            </a:pPr>
            <a:r>
              <a:rPr kumimoji="0" lang="en-US" sz="2400" b="0" i="0" u="none" strike="noStrike" kern="0" cap="none" spc="0" normalizeH="0" baseline="0" noProof="0">
                <a:ln>
                  <a:noFill/>
                </a:ln>
                <a:solidFill>
                  <a:sysClr val="windowText" lastClr="000000"/>
                </a:solidFill>
                <a:effectLst/>
                <a:uLnTx/>
                <a:uFillTx/>
                <a:latin typeface="Palatino Linotype" panose="02040502050505030304"/>
                <a:ea typeface="+mn-ea"/>
              </a:rPr>
              <a:t>Intermediate</a:t>
            </a:r>
            <a:r>
              <a:rPr kumimoji="0" lang="en-US" sz="2400" b="0" i="0" u="none" strike="noStrike" kern="0" cap="none" spc="-120" normalizeH="0" baseline="0" noProof="0">
                <a:ln>
                  <a:noFill/>
                </a:ln>
                <a:solidFill>
                  <a:sysClr val="windowText" lastClr="000000"/>
                </a:solidFill>
                <a:effectLst/>
                <a:uLnTx/>
                <a:uFillTx/>
                <a:latin typeface="Palatino Linotype" panose="02040502050505030304"/>
                <a:ea typeface="+mn-ea"/>
              </a:rPr>
              <a:t> </a:t>
            </a:r>
            <a:r>
              <a:rPr kumimoji="0" lang="en-US" sz="2400" b="0" i="0" u="none" strike="noStrike" kern="0" cap="none" spc="-10" normalizeH="0" baseline="0" noProof="0">
                <a:ln>
                  <a:noFill/>
                </a:ln>
                <a:solidFill>
                  <a:sysClr val="windowText" lastClr="000000"/>
                </a:solidFill>
                <a:effectLst/>
                <a:uLnTx/>
                <a:uFillTx/>
                <a:latin typeface="Palatino Linotype" panose="02040502050505030304"/>
                <a:ea typeface="+mn-ea"/>
              </a:rPr>
              <a:t>Representation</a:t>
            </a:r>
          </a:p>
          <a:p>
            <a:pPr marL="241935" marR="0" lvl="0" indent="-229235" defTabSz="914400" eaLnBrk="1" fontAlgn="auto" latinLnBrk="0" hangingPunct="1">
              <a:lnSpc>
                <a:spcPct val="100000"/>
              </a:lnSpc>
              <a:spcBef>
                <a:spcPts val="2975"/>
              </a:spcBef>
              <a:spcAft>
                <a:spcPts val="0"/>
              </a:spcAft>
              <a:buClrTx/>
              <a:buSzTx/>
              <a:buFont typeface="Arial MT"/>
              <a:buChar char="•"/>
              <a:tabLst>
                <a:tab pos="241935" algn="l"/>
              </a:tabLst>
              <a:defRPr/>
            </a:pPr>
            <a:r>
              <a:rPr kumimoji="0" lang="en-US" sz="2400" b="0" i="0" u="none" strike="noStrike" kern="0" cap="none" spc="-10" normalizeH="0" baseline="0" noProof="0">
                <a:ln>
                  <a:noFill/>
                </a:ln>
                <a:solidFill>
                  <a:schemeClr val="bg1">
                    <a:lumMod val="75000"/>
                  </a:schemeClr>
                </a:solidFill>
                <a:effectLst/>
                <a:uLnTx/>
                <a:uFillTx/>
                <a:latin typeface="Palatino Linotype" panose="02040502050505030304"/>
                <a:ea typeface="+mn-ea"/>
              </a:rPr>
              <a:t>Type</a:t>
            </a:r>
            <a:r>
              <a:rPr kumimoji="0" lang="en-US" sz="2400" b="0" i="0" u="none" strike="noStrike" kern="0" cap="none" spc="-85" normalizeH="0" baseline="0" noProof="0">
                <a:ln>
                  <a:noFill/>
                </a:ln>
                <a:solidFill>
                  <a:schemeClr val="bg1">
                    <a:lumMod val="75000"/>
                  </a:schemeClr>
                </a:solidFill>
                <a:effectLst/>
                <a:uLnTx/>
                <a:uFillTx/>
                <a:latin typeface="Palatino Linotype" panose="02040502050505030304"/>
                <a:ea typeface="+mn-ea"/>
              </a:rPr>
              <a:t> </a:t>
            </a:r>
            <a:r>
              <a:rPr kumimoji="0" lang="en-US" sz="2400" b="0" i="0" u="none" strike="noStrike" kern="0" cap="none" spc="0" normalizeH="0" baseline="0" noProof="0">
                <a:ln>
                  <a:noFill/>
                </a:ln>
                <a:solidFill>
                  <a:schemeClr val="bg1">
                    <a:lumMod val="75000"/>
                  </a:schemeClr>
                </a:solidFill>
                <a:effectLst/>
                <a:uLnTx/>
                <a:uFillTx/>
                <a:latin typeface="Palatino Linotype" panose="02040502050505030304"/>
                <a:ea typeface="+mn-ea"/>
              </a:rPr>
              <a:t>and</a:t>
            </a:r>
            <a:r>
              <a:rPr kumimoji="0" lang="en-US" sz="2400" b="0" i="0" u="none" strike="noStrike" kern="0" cap="none" spc="-85" normalizeH="0" baseline="0" noProof="0">
                <a:ln>
                  <a:noFill/>
                </a:ln>
                <a:solidFill>
                  <a:schemeClr val="bg1">
                    <a:lumMod val="75000"/>
                  </a:schemeClr>
                </a:solidFill>
                <a:effectLst/>
                <a:uLnTx/>
                <a:uFillTx/>
                <a:latin typeface="Palatino Linotype" panose="02040502050505030304"/>
                <a:ea typeface="+mn-ea"/>
              </a:rPr>
              <a:t> </a:t>
            </a:r>
            <a:r>
              <a:rPr kumimoji="0" lang="en-US" sz="2400" b="0" i="0" u="none" strike="noStrike" kern="0" cap="none" spc="-10" normalizeH="0" baseline="0" noProof="0">
                <a:ln>
                  <a:noFill/>
                </a:ln>
                <a:solidFill>
                  <a:schemeClr val="bg1">
                    <a:lumMod val="75000"/>
                  </a:schemeClr>
                </a:solidFill>
                <a:effectLst/>
                <a:uLnTx/>
                <a:uFillTx/>
                <a:latin typeface="Palatino Linotype" panose="02040502050505030304"/>
                <a:ea typeface="+mn-ea"/>
              </a:rPr>
              <a:t>Declarations</a:t>
            </a:r>
          </a:p>
          <a:p>
            <a:pPr marL="241935" marR="0" lvl="0" indent="-229235" defTabSz="914400" eaLnBrk="1" fontAlgn="auto" latinLnBrk="0" hangingPunct="1">
              <a:lnSpc>
                <a:spcPct val="100000"/>
              </a:lnSpc>
              <a:spcBef>
                <a:spcPts val="2975"/>
              </a:spcBef>
              <a:spcAft>
                <a:spcPts val="0"/>
              </a:spcAft>
              <a:buClrTx/>
              <a:buSzTx/>
              <a:buFont typeface="Arial MT"/>
              <a:buChar char="•"/>
              <a:tabLst>
                <a:tab pos="241935" algn="l"/>
              </a:tabLst>
              <a:defRPr/>
            </a:pPr>
            <a:r>
              <a:rPr kumimoji="0" lang="en-US" sz="2400" b="0" i="0" u="none" strike="noStrike" kern="0" cap="none" spc="-25" normalizeH="0" baseline="0" noProof="0">
                <a:ln>
                  <a:noFill/>
                </a:ln>
                <a:solidFill>
                  <a:schemeClr val="bg1">
                    <a:lumMod val="75000"/>
                  </a:schemeClr>
                </a:solidFill>
                <a:effectLst/>
                <a:uLnTx/>
                <a:uFillTx/>
                <a:latin typeface="Palatino Linotype" panose="02040502050505030304"/>
                <a:ea typeface="+mn-ea"/>
              </a:rPr>
              <a:t>Translation</a:t>
            </a:r>
            <a:r>
              <a:rPr kumimoji="0" lang="en-US" sz="2400" b="0" i="0" u="none" strike="noStrike" kern="0" cap="none" spc="-35" normalizeH="0" baseline="0" noProof="0">
                <a:ln>
                  <a:noFill/>
                </a:ln>
                <a:solidFill>
                  <a:schemeClr val="bg1">
                    <a:lumMod val="75000"/>
                  </a:schemeClr>
                </a:solidFill>
                <a:effectLst/>
                <a:uLnTx/>
                <a:uFillTx/>
                <a:latin typeface="Palatino Linotype" panose="02040502050505030304"/>
                <a:ea typeface="+mn-ea"/>
              </a:rPr>
              <a:t> </a:t>
            </a:r>
            <a:r>
              <a:rPr kumimoji="0" lang="en-US" sz="2400" b="0" i="0" u="none" strike="noStrike" kern="0" cap="none" spc="0" normalizeH="0" baseline="0" noProof="0">
                <a:ln>
                  <a:noFill/>
                </a:ln>
                <a:solidFill>
                  <a:schemeClr val="bg1">
                    <a:lumMod val="75000"/>
                  </a:schemeClr>
                </a:solidFill>
                <a:effectLst/>
                <a:uLnTx/>
                <a:uFillTx/>
                <a:latin typeface="Palatino Linotype" panose="02040502050505030304"/>
                <a:ea typeface="+mn-ea"/>
              </a:rPr>
              <a:t>of</a:t>
            </a:r>
            <a:r>
              <a:rPr kumimoji="0" lang="en-US" sz="2400" b="0" i="0" u="none" strike="noStrike" kern="0" cap="none" spc="-40" normalizeH="0" baseline="0" noProof="0">
                <a:ln>
                  <a:noFill/>
                </a:ln>
                <a:solidFill>
                  <a:schemeClr val="bg1">
                    <a:lumMod val="75000"/>
                  </a:schemeClr>
                </a:solidFill>
                <a:effectLst/>
                <a:uLnTx/>
                <a:uFillTx/>
                <a:latin typeface="Palatino Linotype" panose="02040502050505030304"/>
                <a:ea typeface="+mn-ea"/>
              </a:rPr>
              <a:t> </a:t>
            </a:r>
            <a:r>
              <a:rPr kumimoji="0" lang="en-US" sz="2400" b="0" i="0" u="none" strike="noStrike" kern="0" cap="none" spc="-10" normalizeH="0" baseline="0" noProof="0">
                <a:ln>
                  <a:noFill/>
                </a:ln>
                <a:solidFill>
                  <a:schemeClr val="bg1">
                    <a:lumMod val="75000"/>
                  </a:schemeClr>
                </a:solidFill>
                <a:effectLst/>
                <a:uLnTx/>
                <a:uFillTx/>
                <a:latin typeface="Palatino Linotype" panose="02040502050505030304"/>
                <a:ea typeface="+mn-ea"/>
              </a:rPr>
              <a:t>Expressions</a:t>
            </a:r>
          </a:p>
          <a:p>
            <a:pPr marL="241300" marR="0" lvl="0" indent="-228600" defTabSz="914400" eaLnBrk="1" fontAlgn="auto" latinLnBrk="0" hangingPunct="1">
              <a:lnSpc>
                <a:spcPct val="100000"/>
              </a:lnSpc>
              <a:spcBef>
                <a:spcPts val="2980"/>
              </a:spcBef>
              <a:spcAft>
                <a:spcPts val="0"/>
              </a:spcAft>
              <a:buClrTx/>
              <a:buSzTx/>
              <a:buFont typeface="Arial MT"/>
              <a:buChar char="•"/>
              <a:tabLst>
                <a:tab pos="241300" algn="l"/>
              </a:tabLst>
              <a:defRPr/>
            </a:pPr>
            <a:r>
              <a:rPr kumimoji="0" lang="en-US" sz="2400" b="0" i="0" u="none" strike="noStrike" kern="0" cap="none" spc="-20" normalizeH="0" baseline="0" noProof="0">
                <a:ln>
                  <a:noFill/>
                </a:ln>
                <a:solidFill>
                  <a:schemeClr val="bg1">
                    <a:lumMod val="75000"/>
                  </a:schemeClr>
                </a:solidFill>
                <a:effectLst/>
                <a:uLnTx/>
                <a:uFillTx/>
                <a:latin typeface="Palatino Linotype" panose="02040502050505030304"/>
                <a:ea typeface="+mn-ea"/>
              </a:rPr>
              <a:t>Type</a:t>
            </a:r>
            <a:r>
              <a:rPr kumimoji="0" lang="en-US" sz="2400" b="0" i="0" u="none" strike="noStrike" kern="0" cap="none" spc="-105" normalizeH="0" baseline="0" noProof="0">
                <a:ln>
                  <a:noFill/>
                </a:ln>
                <a:solidFill>
                  <a:schemeClr val="bg1">
                    <a:lumMod val="75000"/>
                  </a:schemeClr>
                </a:solidFill>
                <a:effectLst/>
                <a:uLnTx/>
                <a:uFillTx/>
                <a:latin typeface="Palatino Linotype" panose="02040502050505030304"/>
                <a:ea typeface="+mn-ea"/>
              </a:rPr>
              <a:t> </a:t>
            </a:r>
            <a:r>
              <a:rPr kumimoji="0" lang="en-US" sz="2400" b="0" i="0" u="none" strike="noStrike" kern="0" cap="none" spc="-10" normalizeH="0" baseline="0" noProof="0">
                <a:ln>
                  <a:noFill/>
                </a:ln>
                <a:solidFill>
                  <a:schemeClr val="bg1">
                    <a:lumMod val="75000"/>
                  </a:schemeClr>
                </a:solidFill>
                <a:effectLst/>
                <a:uLnTx/>
                <a:uFillTx/>
                <a:latin typeface="Palatino Linotype" panose="02040502050505030304"/>
                <a:ea typeface="+mn-ea"/>
              </a:rPr>
              <a:t>Checking</a:t>
            </a:r>
          </a:p>
          <a:p>
            <a:pPr marL="241935" marR="0" lvl="0" indent="-229235" defTabSz="914400" eaLnBrk="1" fontAlgn="auto" latinLnBrk="0" hangingPunct="1">
              <a:lnSpc>
                <a:spcPct val="100000"/>
              </a:lnSpc>
              <a:spcBef>
                <a:spcPts val="2975"/>
              </a:spcBef>
              <a:spcAft>
                <a:spcPts val="0"/>
              </a:spcAft>
              <a:buClrTx/>
              <a:buSzTx/>
              <a:buFont typeface="Arial MT"/>
              <a:buChar char="•"/>
              <a:tabLst>
                <a:tab pos="241935" algn="l"/>
              </a:tabLst>
              <a:defRPr/>
            </a:pPr>
            <a:r>
              <a:rPr kumimoji="0" lang="en-US" sz="2400" b="0" i="0" u="none" strike="noStrike" kern="0" cap="none" spc="0" normalizeH="0" baseline="0" noProof="0">
                <a:ln>
                  <a:noFill/>
                </a:ln>
                <a:solidFill>
                  <a:schemeClr val="bg1">
                    <a:lumMod val="75000"/>
                  </a:schemeClr>
                </a:solidFill>
                <a:effectLst/>
                <a:uLnTx/>
                <a:uFillTx/>
                <a:latin typeface="Palatino Linotype" panose="02040502050505030304"/>
                <a:ea typeface="+mn-ea"/>
              </a:rPr>
              <a:t>Control</a:t>
            </a:r>
            <a:r>
              <a:rPr kumimoji="0" lang="en-US" sz="2400" b="0" i="0" u="none" strike="noStrike" kern="0" cap="none" spc="-95" normalizeH="0" baseline="0" noProof="0">
                <a:ln>
                  <a:noFill/>
                </a:ln>
                <a:solidFill>
                  <a:schemeClr val="bg1">
                    <a:lumMod val="75000"/>
                  </a:schemeClr>
                </a:solidFill>
                <a:effectLst/>
                <a:uLnTx/>
                <a:uFillTx/>
                <a:latin typeface="Palatino Linotype" panose="02040502050505030304"/>
                <a:ea typeface="+mn-ea"/>
              </a:rPr>
              <a:t> </a:t>
            </a:r>
            <a:r>
              <a:rPr kumimoji="0" lang="en-US" sz="2400" b="0" i="0" u="none" strike="noStrike" kern="0" cap="none" spc="-20" normalizeH="0" baseline="0" noProof="0">
                <a:ln>
                  <a:noFill/>
                </a:ln>
                <a:solidFill>
                  <a:schemeClr val="bg1">
                    <a:lumMod val="75000"/>
                  </a:schemeClr>
                </a:solidFill>
                <a:effectLst/>
                <a:uLnTx/>
                <a:uFillTx/>
                <a:latin typeface="Palatino Linotype" panose="02040502050505030304"/>
                <a:ea typeface="+mn-ea"/>
              </a:rPr>
              <a:t>Flow</a:t>
            </a:r>
          </a:p>
          <a:p>
            <a:pPr marL="241935" marR="0" lvl="0" indent="-229235" defTabSz="914400" eaLnBrk="1" fontAlgn="auto" latinLnBrk="0" hangingPunct="1">
              <a:lnSpc>
                <a:spcPct val="100000"/>
              </a:lnSpc>
              <a:spcBef>
                <a:spcPts val="2980"/>
              </a:spcBef>
              <a:spcAft>
                <a:spcPts val="0"/>
              </a:spcAft>
              <a:buClrTx/>
              <a:buSzTx/>
              <a:buFont typeface="Arial MT"/>
              <a:buChar char="•"/>
              <a:tabLst>
                <a:tab pos="241935" algn="l"/>
              </a:tabLst>
              <a:defRPr/>
            </a:pPr>
            <a:r>
              <a:rPr kumimoji="0" lang="en-US" sz="2400" b="0" i="0" u="none" strike="noStrike" kern="0" cap="none" spc="-10" normalizeH="0" baseline="0" noProof="0">
                <a:ln>
                  <a:noFill/>
                </a:ln>
                <a:solidFill>
                  <a:schemeClr val="bg1">
                    <a:lumMod val="75000"/>
                  </a:schemeClr>
                </a:solidFill>
                <a:effectLst/>
                <a:uLnTx/>
                <a:uFillTx/>
                <a:latin typeface="Palatino Linotype" panose="02040502050505030304"/>
                <a:ea typeface="+mn-ea"/>
              </a:rPr>
              <a:t>Backpatching</a:t>
            </a:r>
            <a:endParaRPr kumimoji="0" lang="en-US" sz="2400" b="0" i="0" u="none" strike="noStrike" kern="0" cap="none" spc="-10" normalizeH="0" baseline="0" noProof="0" dirty="0">
              <a:ln>
                <a:noFill/>
              </a:ln>
              <a:solidFill>
                <a:schemeClr val="bg1">
                  <a:lumMod val="75000"/>
                </a:schemeClr>
              </a:solidFill>
              <a:effectLst/>
              <a:uLnTx/>
              <a:uFillTx/>
              <a:latin typeface="Palatino Linotype" panose="02040502050505030304"/>
              <a:ea typeface="+mn-ea"/>
            </a:endParaRPr>
          </a:p>
        </p:txBody>
      </p:sp>
      <p:sp>
        <p:nvSpPr>
          <p:cNvPr id="11" name="object 4"/>
          <p:cNvSpPr txBox="1"/>
          <p:nvPr/>
        </p:nvSpPr>
        <p:spPr>
          <a:xfrm>
            <a:off x="5373623" y="1470660"/>
            <a:ext cx="3031490" cy="798936"/>
          </a:xfrm>
          <a:prstGeom prst="rect">
            <a:avLst/>
          </a:prstGeom>
          <a:ln w="12700">
            <a:solidFill>
              <a:srgbClr val="000000"/>
            </a:solidFill>
          </a:ln>
        </p:spPr>
        <p:txBody>
          <a:bodyPr vert="horz" wrap="square" lIns="0" tIns="29209" rIns="0" bIns="0" rtlCol="0">
            <a:spAutoFit/>
          </a:bodyPr>
          <a:lstStyle/>
          <a:p>
            <a:pPr marL="379095" indent="-286385">
              <a:spcBef>
                <a:spcPts val="230"/>
              </a:spcBef>
              <a:buFont typeface="Arial MT"/>
              <a:buChar char="•"/>
              <a:tabLst>
                <a:tab pos="379095" algn="l"/>
              </a:tabLst>
            </a:pPr>
            <a:r>
              <a:rPr sz="2000" spc="-35" dirty="0">
                <a:solidFill>
                  <a:schemeClr val="bg2">
                    <a:lumMod val="50000"/>
                  </a:schemeClr>
                </a:solidFill>
                <a:latin typeface="Palatino Linotype" panose="02040502050505030304"/>
                <a:cs typeface="Palatino Linotype" panose="02040502050505030304"/>
              </a:rPr>
              <a:t>DAG’s</a:t>
            </a:r>
            <a:r>
              <a:rPr sz="2000" spc="-50" dirty="0">
                <a:solidFill>
                  <a:schemeClr val="bg2">
                    <a:lumMod val="50000"/>
                  </a:schemeClr>
                </a:solidFill>
                <a:latin typeface="Palatino Linotype" panose="02040502050505030304"/>
                <a:cs typeface="Palatino Linotype" panose="02040502050505030304"/>
              </a:rPr>
              <a:t> </a:t>
            </a:r>
            <a:r>
              <a:rPr sz="2000" dirty="0">
                <a:solidFill>
                  <a:schemeClr val="bg2">
                    <a:lumMod val="50000"/>
                  </a:schemeClr>
                </a:solidFill>
                <a:latin typeface="Palatino Linotype" panose="02040502050505030304"/>
                <a:cs typeface="Palatino Linotype" panose="02040502050505030304"/>
              </a:rPr>
              <a:t>for</a:t>
            </a:r>
            <a:r>
              <a:rPr sz="2000" spc="-55" dirty="0">
                <a:solidFill>
                  <a:schemeClr val="bg2">
                    <a:lumMod val="50000"/>
                  </a:schemeClr>
                </a:solidFill>
                <a:latin typeface="Palatino Linotype" panose="02040502050505030304"/>
                <a:cs typeface="Palatino Linotype" panose="02040502050505030304"/>
              </a:rPr>
              <a:t> </a:t>
            </a:r>
            <a:r>
              <a:rPr sz="2000" spc="-10" dirty="0">
                <a:solidFill>
                  <a:schemeClr val="bg2">
                    <a:lumMod val="50000"/>
                  </a:schemeClr>
                </a:solidFill>
                <a:latin typeface="Palatino Linotype" panose="02040502050505030304"/>
                <a:cs typeface="Palatino Linotype" panose="02040502050505030304"/>
              </a:rPr>
              <a:t>Expressions</a:t>
            </a:r>
            <a:endParaRPr sz="2000" dirty="0">
              <a:solidFill>
                <a:schemeClr val="bg2">
                  <a:lumMod val="50000"/>
                </a:schemeClr>
              </a:solidFill>
              <a:latin typeface="Palatino Linotype" panose="02040502050505030304"/>
              <a:cs typeface="Palatino Linotype" panose="02040502050505030304"/>
            </a:endParaRPr>
          </a:p>
          <a:p>
            <a:pPr marL="379095" indent="-286385">
              <a:spcBef>
                <a:spcPts val="1200"/>
              </a:spcBef>
              <a:buFont typeface="Arial MT"/>
              <a:buChar char="•"/>
              <a:tabLst>
                <a:tab pos="379095" algn="l"/>
              </a:tabLst>
            </a:pPr>
            <a:r>
              <a:rPr sz="2000" spc="-10" dirty="0">
                <a:solidFill>
                  <a:sysClr val="windowText" lastClr="000000"/>
                </a:solidFill>
                <a:latin typeface="Palatino Linotype" panose="02040502050505030304"/>
                <a:cs typeface="Palatino Linotype" panose="02040502050505030304"/>
              </a:rPr>
              <a:t>Three-</a:t>
            </a:r>
            <a:r>
              <a:rPr sz="2000" dirty="0">
                <a:solidFill>
                  <a:sysClr val="windowText" lastClr="000000"/>
                </a:solidFill>
                <a:latin typeface="Palatino Linotype" panose="02040502050505030304"/>
                <a:cs typeface="Palatino Linotype" panose="02040502050505030304"/>
              </a:rPr>
              <a:t>Address </a:t>
            </a:r>
            <a:r>
              <a:rPr sz="2000" spc="-20" dirty="0">
                <a:solidFill>
                  <a:sysClr val="windowText" lastClr="000000"/>
                </a:solidFill>
                <a:latin typeface="Palatino Linotype" panose="02040502050505030304"/>
                <a:cs typeface="Palatino Linotype" panose="02040502050505030304"/>
              </a:rPr>
              <a:t>Code</a:t>
            </a:r>
            <a:endParaRPr sz="2000" dirty="0">
              <a:solidFill>
                <a:sysClr val="windowText" lastClr="000000"/>
              </a:solidFill>
              <a:latin typeface="Palatino Linotype" panose="02040502050505030304"/>
              <a:cs typeface="Palatino Linotype" panose="02040502050505030304"/>
            </a:endParaRPr>
          </a:p>
        </p:txBody>
      </p:sp>
      <p:sp>
        <p:nvSpPr>
          <p:cNvPr id="12" name="object 5"/>
          <p:cNvSpPr/>
          <p:nvPr/>
        </p:nvSpPr>
        <p:spPr>
          <a:xfrm>
            <a:off x="4824348" y="1801367"/>
            <a:ext cx="549275" cy="103505"/>
          </a:xfrm>
          <a:custGeom>
            <a:avLst/>
            <a:gdLst/>
            <a:ahLst/>
            <a:cxnLst/>
            <a:rect l="l" t="t" r="r" b="b"/>
            <a:pathLst>
              <a:path w="549275" h="103505">
                <a:moveTo>
                  <a:pt x="512845" y="39909"/>
                </a:moveTo>
                <a:lnTo>
                  <a:pt x="0" y="90805"/>
                </a:lnTo>
                <a:lnTo>
                  <a:pt x="1270" y="103505"/>
                </a:lnTo>
                <a:lnTo>
                  <a:pt x="513894" y="52619"/>
                </a:lnTo>
                <a:lnTo>
                  <a:pt x="524230" y="45115"/>
                </a:lnTo>
                <a:lnTo>
                  <a:pt x="512845" y="39909"/>
                </a:lnTo>
                <a:close/>
              </a:path>
              <a:path w="549275" h="103505">
                <a:moveTo>
                  <a:pt x="538192" y="37592"/>
                </a:moveTo>
                <a:lnTo>
                  <a:pt x="536193" y="37592"/>
                </a:lnTo>
                <a:lnTo>
                  <a:pt x="537337" y="50292"/>
                </a:lnTo>
                <a:lnTo>
                  <a:pt x="513894" y="52619"/>
                </a:lnTo>
                <a:lnTo>
                  <a:pt x="461645" y="90551"/>
                </a:lnTo>
                <a:lnTo>
                  <a:pt x="458724" y="92583"/>
                </a:lnTo>
                <a:lnTo>
                  <a:pt x="458088" y="96520"/>
                </a:lnTo>
                <a:lnTo>
                  <a:pt x="460248" y="99441"/>
                </a:lnTo>
                <a:lnTo>
                  <a:pt x="462279" y="102235"/>
                </a:lnTo>
                <a:lnTo>
                  <a:pt x="466216" y="102870"/>
                </a:lnTo>
                <a:lnTo>
                  <a:pt x="549275" y="42672"/>
                </a:lnTo>
                <a:lnTo>
                  <a:pt x="538192" y="37592"/>
                </a:lnTo>
                <a:close/>
              </a:path>
              <a:path w="549275" h="103505">
                <a:moveTo>
                  <a:pt x="524230" y="45115"/>
                </a:moveTo>
                <a:lnTo>
                  <a:pt x="513894" y="52619"/>
                </a:lnTo>
                <a:lnTo>
                  <a:pt x="537337" y="50292"/>
                </a:lnTo>
                <a:lnTo>
                  <a:pt x="537279" y="49657"/>
                </a:lnTo>
                <a:lnTo>
                  <a:pt x="534162" y="49657"/>
                </a:lnTo>
                <a:lnTo>
                  <a:pt x="524230" y="45115"/>
                </a:lnTo>
                <a:close/>
              </a:path>
              <a:path w="549275" h="103505">
                <a:moveTo>
                  <a:pt x="533018" y="38735"/>
                </a:moveTo>
                <a:lnTo>
                  <a:pt x="524230" y="45115"/>
                </a:lnTo>
                <a:lnTo>
                  <a:pt x="534162" y="49657"/>
                </a:lnTo>
                <a:lnTo>
                  <a:pt x="533018" y="38735"/>
                </a:lnTo>
                <a:close/>
              </a:path>
              <a:path w="549275" h="103505">
                <a:moveTo>
                  <a:pt x="536296" y="38735"/>
                </a:moveTo>
                <a:lnTo>
                  <a:pt x="533018" y="38735"/>
                </a:lnTo>
                <a:lnTo>
                  <a:pt x="534162" y="49657"/>
                </a:lnTo>
                <a:lnTo>
                  <a:pt x="537279" y="49657"/>
                </a:lnTo>
                <a:lnTo>
                  <a:pt x="536296" y="38735"/>
                </a:lnTo>
                <a:close/>
              </a:path>
              <a:path w="549275" h="103505">
                <a:moveTo>
                  <a:pt x="536193" y="37592"/>
                </a:moveTo>
                <a:lnTo>
                  <a:pt x="512845" y="39909"/>
                </a:lnTo>
                <a:lnTo>
                  <a:pt x="524230" y="45115"/>
                </a:lnTo>
                <a:lnTo>
                  <a:pt x="533018" y="38735"/>
                </a:lnTo>
                <a:lnTo>
                  <a:pt x="536296" y="38735"/>
                </a:lnTo>
                <a:lnTo>
                  <a:pt x="536193" y="37592"/>
                </a:lnTo>
                <a:close/>
              </a:path>
              <a:path w="549275" h="103505">
                <a:moveTo>
                  <a:pt x="456056" y="0"/>
                </a:moveTo>
                <a:lnTo>
                  <a:pt x="452247" y="1397"/>
                </a:lnTo>
                <a:lnTo>
                  <a:pt x="450723" y="4572"/>
                </a:lnTo>
                <a:lnTo>
                  <a:pt x="449325" y="7747"/>
                </a:lnTo>
                <a:lnTo>
                  <a:pt x="450723" y="11557"/>
                </a:lnTo>
                <a:lnTo>
                  <a:pt x="453898" y="12954"/>
                </a:lnTo>
                <a:lnTo>
                  <a:pt x="512845" y="39909"/>
                </a:lnTo>
                <a:lnTo>
                  <a:pt x="536193" y="37592"/>
                </a:lnTo>
                <a:lnTo>
                  <a:pt x="538192" y="37592"/>
                </a:lnTo>
                <a:lnTo>
                  <a:pt x="459231" y="1397"/>
                </a:lnTo>
                <a:lnTo>
                  <a:pt x="456056"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12</a:t>
            </a:fld>
            <a:endParaRPr lang="en-US"/>
          </a:p>
        </p:txBody>
      </p:sp>
      <p:sp>
        <p:nvSpPr>
          <p:cNvPr id="7" name="object 2"/>
          <p:cNvSpPr txBox="1"/>
          <p:nvPr/>
        </p:nvSpPr>
        <p:spPr>
          <a:xfrm>
            <a:off x="707542" y="530809"/>
            <a:ext cx="7817484" cy="635000"/>
          </a:xfrm>
          <a:prstGeom prst="rect">
            <a:avLst/>
          </a:prstGeom>
        </p:spPr>
        <p:txBody>
          <a:bodyPr vert="horz" wrap="square" lIns="0" tIns="1333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105"/>
              </a:spcBef>
              <a:spcAft>
                <a:spcPts val="0"/>
              </a:spcAft>
              <a:buClrTx/>
              <a:buSzTx/>
              <a:buFontTx/>
              <a:buNone/>
              <a:defRPr/>
            </a:pPr>
            <a:r>
              <a:rPr kumimoji="0" lang="en-US" sz="3800" b="1" i="0" u="none" strike="noStrike" kern="0" cap="none" spc="0" normalizeH="0" baseline="0" noProof="0">
                <a:ln>
                  <a:noFill/>
                </a:ln>
                <a:solidFill>
                  <a:srgbClr val="000000"/>
                </a:solidFill>
                <a:effectLst/>
                <a:uLnTx/>
                <a:uFillTx/>
                <a:latin typeface="Palatino Linotype" panose="02040502050505030304"/>
                <a:ea typeface="+mj-ea"/>
              </a:rPr>
              <a:t>Three-Address</a:t>
            </a:r>
            <a:r>
              <a:rPr kumimoji="0" lang="en-US" sz="3800" b="1" i="0" u="none" strike="noStrike" kern="0" cap="none" spc="-35" normalizeH="0" baseline="0" noProof="0">
                <a:ln>
                  <a:noFill/>
                </a:ln>
                <a:solidFill>
                  <a:srgbClr val="000000"/>
                </a:solidFill>
                <a:effectLst/>
                <a:uLnTx/>
                <a:uFillTx/>
                <a:latin typeface="Palatino Linotype" panose="02040502050505030304"/>
                <a:ea typeface="+mj-ea"/>
              </a:rPr>
              <a:t> </a:t>
            </a:r>
            <a:r>
              <a:rPr kumimoji="0" lang="en-US" sz="3800" b="1" i="0" u="none" strike="noStrike" kern="0" cap="none" spc="0" normalizeH="0" baseline="0" noProof="0">
                <a:ln>
                  <a:noFill/>
                </a:ln>
                <a:solidFill>
                  <a:srgbClr val="000000"/>
                </a:solidFill>
                <a:effectLst/>
                <a:uLnTx/>
                <a:uFillTx/>
                <a:latin typeface="Palatino Linotype" panose="02040502050505030304"/>
                <a:ea typeface="+mj-ea"/>
              </a:rPr>
              <a:t>Code (</a:t>
            </a:r>
            <a:r>
              <a:rPr kumimoji="0" lang="zh-CN" altLang="en-US" sz="3800" b="0" i="0" u="none" strike="noStrike" kern="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rPr>
              <a:t>三地址代码</a:t>
            </a:r>
            <a:r>
              <a:rPr kumimoji="0" lang="en-US" altLang="zh-CN" sz="3800" b="1" i="0" u="none" strike="noStrike" kern="0" cap="none" spc="-50" normalizeH="0" baseline="0" noProof="0">
                <a:ln>
                  <a:noFill/>
                </a:ln>
                <a:solidFill>
                  <a:srgbClr val="000000"/>
                </a:solidFill>
                <a:effectLst/>
                <a:uLnTx/>
                <a:uFillTx/>
                <a:latin typeface="Palatino Linotype" panose="02040502050505030304"/>
                <a:ea typeface="宋体" panose="02010600030101010101" pitchFamily="2" charset="-122"/>
              </a:rPr>
              <a:t>)</a:t>
            </a:r>
            <a:endParaRPr kumimoji="0" lang="zh-CN" altLang="en-US" sz="3800" b="1" i="0" u="none" strike="noStrike" kern="0" cap="none" spc="0" normalizeH="0" baseline="0" noProof="0">
              <a:ln>
                <a:noFill/>
              </a:ln>
              <a:solidFill>
                <a:srgbClr val="A6A6A6"/>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8" name="object 3"/>
          <p:cNvSpPr txBox="1"/>
          <p:nvPr/>
        </p:nvSpPr>
        <p:spPr>
          <a:xfrm>
            <a:off x="707542" y="1589049"/>
            <a:ext cx="7428230" cy="3549015"/>
          </a:xfrm>
          <a:prstGeom prst="rect">
            <a:avLst/>
          </a:prstGeom>
        </p:spPr>
        <p:txBody>
          <a:bodyPr vert="horz" wrap="square" lIns="0" tIns="12700" rIns="0" bIns="0" rtlCol="0">
            <a:spAutoFit/>
          </a:bodyPr>
          <a:lstStyle/>
          <a:p>
            <a:pPr marL="242570" marR="5080" indent="-230505">
              <a:lnSpc>
                <a:spcPct val="120000"/>
              </a:lnSpc>
              <a:spcBef>
                <a:spcPts val="100"/>
              </a:spcBef>
              <a:buFont typeface="Arial MT"/>
              <a:buChar char="•"/>
              <a:tabLst>
                <a:tab pos="242570" algn="l"/>
              </a:tabLst>
            </a:pPr>
            <a:r>
              <a:rPr sz="2200" dirty="0">
                <a:solidFill>
                  <a:sysClr val="windowText" lastClr="000000"/>
                </a:solidFill>
                <a:latin typeface="Palatino Linotype" panose="02040502050505030304"/>
                <a:cs typeface="Palatino Linotype" panose="02040502050505030304"/>
              </a:rPr>
              <a:t>In</a:t>
            </a:r>
            <a:r>
              <a:rPr sz="2200" spc="-30" dirty="0">
                <a:solidFill>
                  <a:sysClr val="windowText" lastClr="000000"/>
                </a:solidFill>
                <a:latin typeface="Palatino Linotype" panose="02040502050505030304"/>
                <a:cs typeface="Palatino Linotype" panose="02040502050505030304"/>
              </a:rPr>
              <a:t> </a:t>
            </a:r>
            <a:r>
              <a:rPr sz="2200" spc="-10" dirty="0">
                <a:solidFill>
                  <a:sysClr val="windowText" lastClr="000000"/>
                </a:solidFill>
                <a:latin typeface="Palatino Linotype" panose="02040502050505030304"/>
                <a:cs typeface="Palatino Linotype" panose="02040502050505030304"/>
              </a:rPr>
              <a:t>three-</a:t>
            </a:r>
            <a:r>
              <a:rPr sz="2200" dirty="0">
                <a:solidFill>
                  <a:sysClr val="windowText" lastClr="000000"/>
                </a:solidFill>
                <a:latin typeface="Palatino Linotype" panose="02040502050505030304"/>
                <a:cs typeface="Palatino Linotype" panose="02040502050505030304"/>
              </a:rPr>
              <a:t>address</a:t>
            </a:r>
            <a:r>
              <a:rPr sz="2200" spc="-2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code,</a:t>
            </a:r>
            <a:r>
              <a:rPr sz="2200" spc="-2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there</a:t>
            </a:r>
            <a:r>
              <a:rPr sz="2200" spc="-5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is</a:t>
            </a:r>
            <a:r>
              <a:rPr sz="2200" spc="-10" dirty="0">
                <a:solidFill>
                  <a:sysClr val="windowText" lastClr="000000"/>
                </a:solidFill>
                <a:latin typeface="Palatino Linotype" panose="02040502050505030304"/>
                <a:cs typeface="Palatino Linotype" panose="02040502050505030304"/>
              </a:rPr>
              <a:t> </a:t>
            </a:r>
            <a:r>
              <a:rPr sz="2200" dirty="0">
                <a:solidFill>
                  <a:srgbClr val="FF0000"/>
                </a:solidFill>
                <a:latin typeface="Palatino Linotype" panose="02040502050505030304"/>
                <a:cs typeface="Palatino Linotype" panose="02040502050505030304"/>
              </a:rPr>
              <a:t>at</a:t>
            </a:r>
            <a:r>
              <a:rPr sz="2200" spc="-30" dirty="0">
                <a:solidFill>
                  <a:srgbClr val="FF0000"/>
                </a:solidFill>
                <a:latin typeface="Palatino Linotype" panose="02040502050505030304"/>
                <a:cs typeface="Palatino Linotype" panose="02040502050505030304"/>
              </a:rPr>
              <a:t> </a:t>
            </a:r>
            <a:r>
              <a:rPr sz="2200" dirty="0">
                <a:solidFill>
                  <a:srgbClr val="FF0000"/>
                </a:solidFill>
                <a:latin typeface="Palatino Linotype" panose="02040502050505030304"/>
                <a:cs typeface="Palatino Linotype" panose="02040502050505030304"/>
              </a:rPr>
              <a:t>most</a:t>
            </a:r>
            <a:r>
              <a:rPr sz="2200" spc="-30" dirty="0">
                <a:solidFill>
                  <a:srgbClr val="FF0000"/>
                </a:solidFill>
                <a:latin typeface="Palatino Linotype" panose="02040502050505030304"/>
                <a:cs typeface="Palatino Linotype" panose="02040502050505030304"/>
              </a:rPr>
              <a:t> </a:t>
            </a:r>
            <a:r>
              <a:rPr sz="2200" dirty="0">
                <a:solidFill>
                  <a:srgbClr val="FF0000"/>
                </a:solidFill>
                <a:latin typeface="Palatino Linotype" panose="02040502050505030304"/>
                <a:cs typeface="Palatino Linotype" panose="02040502050505030304"/>
              </a:rPr>
              <a:t>one</a:t>
            </a:r>
            <a:r>
              <a:rPr sz="2200" spc="-40" dirty="0">
                <a:solidFill>
                  <a:srgbClr val="FF0000"/>
                </a:solidFill>
                <a:latin typeface="Palatino Linotype" panose="02040502050505030304"/>
                <a:cs typeface="Palatino Linotype" panose="02040502050505030304"/>
              </a:rPr>
              <a:t> </a:t>
            </a:r>
            <a:r>
              <a:rPr sz="2200" dirty="0">
                <a:solidFill>
                  <a:srgbClr val="FF0000"/>
                </a:solidFill>
                <a:latin typeface="Palatino Linotype" panose="02040502050505030304"/>
                <a:cs typeface="Palatino Linotype" panose="02040502050505030304"/>
              </a:rPr>
              <a:t>operator</a:t>
            </a:r>
            <a:r>
              <a:rPr sz="2200" spc="-5" dirty="0">
                <a:solidFill>
                  <a:srgbClr val="FF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on</a:t>
            </a:r>
            <a:r>
              <a:rPr sz="2200" spc="-30" dirty="0">
                <a:solidFill>
                  <a:sysClr val="windowText" lastClr="000000"/>
                </a:solidFill>
                <a:latin typeface="Palatino Linotype" panose="02040502050505030304"/>
                <a:cs typeface="Palatino Linotype" panose="02040502050505030304"/>
              </a:rPr>
              <a:t> </a:t>
            </a:r>
            <a:r>
              <a:rPr sz="2200" spc="-25" dirty="0">
                <a:solidFill>
                  <a:sysClr val="windowText" lastClr="000000"/>
                </a:solidFill>
                <a:latin typeface="Palatino Linotype" panose="02040502050505030304"/>
                <a:cs typeface="Palatino Linotype" panose="02040502050505030304"/>
              </a:rPr>
              <a:t>the </a:t>
            </a:r>
            <a:r>
              <a:rPr sz="2200" dirty="0">
                <a:solidFill>
                  <a:sysClr val="windowText" lastClr="000000"/>
                </a:solidFill>
                <a:latin typeface="Palatino Linotype" panose="02040502050505030304"/>
                <a:cs typeface="Palatino Linotype" panose="02040502050505030304"/>
              </a:rPr>
              <a:t>right</a:t>
            </a:r>
            <a:r>
              <a:rPr sz="2200" spc="-3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side</a:t>
            </a:r>
            <a:r>
              <a:rPr sz="2200" spc="-3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of</a:t>
            </a:r>
            <a:r>
              <a:rPr sz="2200" spc="-4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an</a:t>
            </a:r>
            <a:r>
              <a:rPr sz="2200" spc="-35" dirty="0">
                <a:solidFill>
                  <a:sysClr val="windowText" lastClr="000000"/>
                </a:solidFill>
                <a:latin typeface="Palatino Linotype" panose="02040502050505030304"/>
                <a:cs typeface="Palatino Linotype" panose="02040502050505030304"/>
              </a:rPr>
              <a:t> </a:t>
            </a:r>
            <a:r>
              <a:rPr sz="2200" spc="-10" dirty="0">
                <a:solidFill>
                  <a:sysClr val="windowText" lastClr="000000"/>
                </a:solidFill>
                <a:latin typeface="Palatino Linotype" panose="02040502050505030304"/>
                <a:cs typeface="Palatino Linotype" panose="02040502050505030304"/>
              </a:rPr>
              <a:t>instruction</a:t>
            </a:r>
            <a:endParaRPr sz="2200">
              <a:solidFill>
                <a:sysClr val="windowText" lastClr="000000"/>
              </a:solidFill>
              <a:latin typeface="Palatino Linotype" panose="02040502050505030304"/>
              <a:cs typeface="Palatino Linotype" panose="02040502050505030304"/>
            </a:endParaRPr>
          </a:p>
          <a:p>
            <a:pPr marL="697865" lvl="1" indent="-227965">
              <a:spcBef>
                <a:spcPts val="1695"/>
              </a:spcBef>
              <a:buFont typeface="Wingdings" panose="05000000000000000000"/>
              <a:buChar char=""/>
              <a:tabLst>
                <a:tab pos="697865" algn="l"/>
              </a:tabLst>
            </a:pPr>
            <a:r>
              <a:rPr dirty="0">
                <a:solidFill>
                  <a:sysClr val="windowText" lastClr="000000"/>
                </a:solidFill>
                <a:latin typeface="Palatino Linotype" panose="02040502050505030304"/>
                <a:cs typeface="Palatino Linotype" panose="02040502050505030304"/>
              </a:rPr>
              <a:t>Instructions</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are</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often</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in</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the</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form</a:t>
            </a:r>
            <a:r>
              <a:rPr spc="-15" dirty="0">
                <a:solidFill>
                  <a:sysClr val="windowText" lastClr="000000"/>
                </a:solidFill>
                <a:latin typeface="Palatino Linotype" panose="02040502050505030304"/>
                <a:cs typeface="Palatino Linotype" panose="02040502050505030304"/>
              </a:rPr>
              <a:t> </a:t>
            </a:r>
            <a:r>
              <a:rPr dirty="0">
                <a:solidFill>
                  <a:srgbClr val="0431FF"/>
                </a:solidFill>
                <a:latin typeface="Cambria Math" panose="02040503050406030204"/>
                <a:cs typeface="Cambria Math" panose="02040503050406030204"/>
              </a:rPr>
              <a:t>𝑥</a:t>
            </a:r>
            <a:r>
              <a:rPr spc="125" dirty="0">
                <a:solidFill>
                  <a:srgbClr val="0431FF"/>
                </a:solidFill>
                <a:latin typeface="Cambria Math" panose="02040503050406030204"/>
                <a:cs typeface="Cambria Math" panose="02040503050406030204"/>
              </a:rPr>
              <a:t> </a:t>
            </a:r>
            <a:r>
              <a:rPr dirty="0">
                <a:solidFill>
                  <a:srgbClr val="0431FF"/>
                </a:solidFill>
                <a:latin typeface="Cambria Math" panose="02040503050406030204"/>
                <a:cs typeface="Cambria Math" panose="02040503050406030204"/>
              </a:rPr>
              <a:t>=</a:t>
            </a:r>
            <a:r>
              <a:rPr spc="70" dirty="0">
                <a:solidFill>
                  <a:srgbClr val="0431FF"/>
                </a:solidFill>
                <a:latin typeface="Cambria Math" panose="02040503050406030204"/>
                <a:cs typeface="Cambria Math" panose="02040503050406030204"/>
              </a:rPr>
              <a:t> </a:t>
            </a:r>
            <a:r>
              <a:rPr dirty="0">
                <a:solidFill>
                  <a:srgbClr val="0431FF"/>
                </a:solidFill>
                <a:latin typeface="Cambria Math" panose="02040503050406030204"/>
                <a:cs typeface="Cambria Math" panose="02040503050406030204"/>
              </a:rPr>
              <a:t>𝑦</a:t>
            </a:r>
            <a:r>
              <a:rPr spc="10" dirty="0">
                <a:solidFill>
                  <a:srgbClr val="0431FF"/>
                </a:solidFill>
                <a:latin typeface="Cambria Math" panose="02040503050406030204"/>
                <a:cs typeface="Cambria Math" panose="02040503050406030204"/>
              </a:rPr>
              <a:t> </a:t>
            </a:r>
            <a:r>
              <a:rPr dirty="0">
                <a:solidFill>
                  <a:srgbClr val="0431FF"/>
                </a:solidFill>
                <a:latin typeface="Cambria Math" panose="02040503050406030204"/>
                <a:cs typeface="Cambria Math" panose="02040503050406030204"/>
              </a:rPr>
              <a:t>𝑜𝑝</a:t>
            </a:r>
            <a:r>
              <a:rPr spc="-5" dirty="0">
                <a:solidFill>
                  <a:srgbClr val="0431FF"/>
                </a:solidFill>
                <a:latin typeface="Cambria Math" panose="02040503050406030204"/>
                <a:cs typeface="Cambria Math" panose="02040503050406030204"/>
              </a:rPr>
              <a:t> </a:t>
            </a:r>
            <a:r>
              <a:rPr spc="-50" dirty="0">
                <a:solidFill>
                  <a:srgbClr val="0431FF"/>
                </a:solidFill>
                <a:latin typeface="Cambria Math" panose="02040503050406030204"/>
                <a:cs typeface="Cambria Math" panose="02040503050406030204"/>
              </a:rPr>
              <a:t>𝑧</a:t>
            </a:r>
            <a:endParaRPr>
              <a:solidFill>
                <a:sysClr val="windowText" lastClr="000000"/>
              </a:solidFill>
              <a:latin typeface="Cambria Math" panose="02040503050406030204"/>
              <a:cs typeface="Cambria Math" panose="02040503050406030204"/>
            </a:endParaRPr>
          </a:p>
          <a:p>
            <a:pPr marL="0" lvl="1">
              <a:spcBef>
                <a:spcPts val="1355"/>
              </a:spcBef>
              <a:buFont typeface="Wingdings" panose="05000000000000000000"/>
              <a:buChar char=""/>
            </a:pPr>
            <a:endParaRPr>
              <a:solidFill>
                <a:sysClr val="windowText" lastClr="000000"/>
              </a:solidFill>
              <a:latin typeface="Cambria Math" panose="02040503050406030204"/>
              <a:cs typeface="Cambria Math" panose="02040503050406030204"/>
            </a:endParaRPr>
          </a:p>
          <a:p>
            <a:pPr marL="242570" indent="-229870">
              <a:buClr>
                <a:srgbClr val="000000"/>
              </a:buClr>
              <a:buFont typeface="Arial MT"/>
              <a:buChar char="•"/>
              <a:tabLst>
                <a:tab pos="242570" algn="l"/>
              </a:tabLst>
            </a:pPr>
            <a:r>
              <a:rPr sz="2200" dirty="0">
                <a:solidFill>
                  <a:srgbClr val="FF0000"/>
                </a:solidFill>
                <a:latin typeface="Palatino Linotype" panose="02040502050505030304"/>
                <a:cs typeface="Palatino Linotype" panose="02040502050505030304"/>
              </a:rPr>
              <a:t>Operands</a:t>
            </a:r>
            <a:r>
              <a:rPr sz="2200" spc="-45" dirty="0">
                <a:solidFill>
                  <a:srgbClr val="FF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(or</a:t>
            </a:r>
            <a:r>
              <a:rPr sz="2200" spc="-5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addresses)</a:t>
            </a:r>
            <a:r>
              <a:rPr sz="2200" spc="-4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can</a:t>
            </a:r>
            <a:r>
              <a:rPr sz="2200" spc="-55" dirty="0">
                <a:solidFill>
                  <a:sysClr val="windowText" lastClr="000000"/>
                </a:solidFill>
                <a:latin typeface="Palatino Linotype" panose="02040502050505030304"/>
                <a:cs typeface="Palatino Linotype" panose="02040502050505030304"/>
              </a:rPr>
              <a:t> </a:t>
            </a:r>
            <a:r>
              <a:rPr sz="2200" spc="-25" dirty="0">
                <a:solidFill>
                  <a:sysClr val="windowText" lastClr="000000"/>
                </a:solidFill>
                <a:latin typeface="Palatino Linotype" panose="02040502050505030304"/>
                <a:cs typeface="Palatino Linotype" panose="02040502050505030304"/>
              </a:rPr>
              <a:t>be:</a:t>
            </a:r>
            <a:endParaRPr sz="2200">
              <a:solidFill>
                <a:sysClr val="windowText" lastClr="000000"/>
              </a:solidFill>
              <a:latin typeface="Palatino Linotype" panose="02040502050505030304"/>
              <a:cs typeface="Palatino Linotype" panose="02040502050505030304"/>
            </a:endParaRPr>
          </a:p>
          <a:p>
            <a:pPr marL="697865" lvl="1" indent="-227965">
              <a:spcBef>
                <a:spcPts val="1695"/>
              </a:spcBef>
              <a:buClr>
                <a:srgbClr val="000000"/>
              </a:buClr>
              <a:buFont typeface="Wingdings" panose="05000000000000000000"/>
              <a:buChar char=""/>
              <a:tabLst>
                <a:tab pos="697865" algn="l"/>
              </a:tabLst>
            </a:pPr>
            <a:r>
              <a:rPr dirty="0">
                <a:solidFill>
                  <a:srgbClr val="0431FF"/>
                </a:solidFill>
                <a:latin typeface="Palatino Linotype" panose="02040502050505030304"/>
                <a:cs typeface="Palatino Linotype" panose="02040502050505030304"/>
              </a:rPr>
              <a:t>Names</a:t>
            </a:r>
            <a:r>
              <a:rPr spc="-40" dirty="0">
                <a:solidFill>
                  <a:srgbClr val="0431FF"/>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in</a:t>
            </a:r>
            <a:r>
              <a:rPr spc="-3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the</a:t>
            </a:r>
            <a:r>
              <a:rPr spc="-3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source</a:t>
            </a:r>
            <a:r>
              <a:rPr spc="-3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programs</a:t>
            </a:r>
            <a:endParaRPr>
              <a:solidFill>
                <a:sysClr val="windowText" lastClr="000000"/>
              </a:solidFill>
              <a:latin typeface="Palatino Linotype" panose="02040502050505030304"/>
              <a:cs typeface="Palatino Linotype" panose="02040502050505030304"/>
            </a:endParaRPr>
          </a:p>
          <a:p>
            <a:pPr marL="697865" lvl="1" indent="-227965">
              <a:spcBef>
                <a:spcPts val="1635"/>
              </a:spcBef>
              <a:buClr>
                <a:srgbClr val="000000"/>
              </a:buClr>
              <a:buFont typeface="Wingdings" panose="05000000000000000000"/>
              <a:buChar char=""/>
              <a:tabLst>
                <a:tab pos="697865" algn="l"/>
              </a:tabLst>
            </a:pPr>
            <a:r>
              <a:rPr dirty="0">
                <a:solidFill>
                  <a:srgbClr val="0431FF"/>
                </a:solidFill>
                <a:latin typeface="Palatino Linotype" panose="02040502050505030304"/>
                <a:cs typeface="Palatino Linotype" panose="02040502050505030304"/>
              </a:rPr>
              <a:t>Constants</a:t>
            </a:r>
            <a:r>
              <a:rPr dirty="0">
                <a:solidFill>
                  <a:sysClr val="windowText" lastClr="000000"/>
                </a:solidFill>
                <a:latin typeface="Palatino Linotype" panose="02040502050505030304"/>
                <a:cs typeface="Palatino Linotype" panose="02040502050505030304"/>
              </a:rPr>
              <a:t>:</a:t>
            </a:r>
            <a:r>
              <a:rPr spc="-3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a:t>
            </a:r>
            <a:r>
              <a:rPr spc="-5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compiler</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must</a:t>
            </a:r>
            <a:r>
              <a:rPr spc="-3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deal</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with</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many</a:t>
            </a:r>
            <a:r>
              <a:rPr spc="-5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types</a:t>
            </a:r>
            <a:r>
              <a:rPr spc="-3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of</a:t>
            </a:r>
            <a:r>
              <a:rPr spc="-3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constants</a:t>
            </a:r>
            <a:endParaRPr>
              <a:solidFill>
                <a:sysClr val="windowText" lastClr="000000"/>
              </a:solidFill>
              <a:latin typeface="Palatino Linotype" panose="02040502050505030304"/>
              <a:cs typeface="Palatino Linotype" panose="02040502050505030304"/>
            </a:endParaRPr>
          </a:p>
          <a:p>
            <a:pPr marL="697865" lvl="1" indent="-227965">
              <a:spcBef>
                <a:spcPts val="1635"/>
              </a:spcBef>
              <a:buClr>
                <a:srgbClr val="000000"/>
              </a:buClr>
              <a:buFont typeface="Wingdings" panose="05000000000000000000"/>
              <a:buChar char=""/>
              <a:tabLst>
                <a:tab pos="697865" algn="l"/>
              </a:tabLst>
            </a:pPr>
            <a:r>
              <a:rPr spc="-20" dirty="0">
                <a:solidFill>
                  <a:srgbClr val="0431FF"/>
                </a:solidFill>
                <a:latin typeface="Palatino Linotype" panose="02040502050505030304"/>
                <a:cs typeface="Palatino Linotype" panose="02040502050505030304"/>
              </a:rPr>
              <a:t>Temporary</a:t>
            </a:r>
            <a:r>
              <a:rPr spc="-35" dirty="0">
                <a:solidFill>
                  <a:srgbClr val="0431FF"/>
                </a:solidFill>
                <a:latin typeface="Palatino Linotype" panose="02040502050505030304"/>
                <a:cs typeface="Palatino Linotype" panose="02040502050505030304"/>
              </a:rPr>
              <a:t> </a:t>
            </a:r>
            <a:r>
              <a:rPr dirty="0">
                <a:solidFill>
                  <a:srgbClr val="0431FF"/>
                </a:solidFill>
                <a:latin typeface="Palatino Linotype" panose="02040502050505030304"/>
                <a:cs typeface="Palatino Linotype" panose="02040502050505030304"/>
              </a:rPr>
              <a:t>names</a:t>
            </a:r>
            <a:r>
              <a:rPr spc="-45" dirty="0">
                <a:solidFill>
                  <a:srgbClr val="0431FF"/>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generated</a:t>
            </a:r>
            <a:r>
              <a:rPr spc="-4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by</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a:t>
            </a:r>
            <a:r>
              <a:rPr spc="-5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compiler</a:t>
            </a:r>
            <a:endParaRPr>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13</a:t>
            </a:fld>
            <a:endParaRPr lang="en-US"/>
          </a:p>
        </p:txBody>
      </p:sp>
      <p:sp>
        <p:nvSpPr>
          <p:cNvPr id="7"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Instructions</a:t>
            </a:r>
            <a:r>
              <a:rPr kumimoji="0" lang="en-US" sz="4000" b="1" i="0" u="none" strike="noStrike" kern="0" cap="none" spc="-204"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25" normalizeH="0" baseline="0" noProof="0">
                <a:ln>
                  <a:noFill/>
                </a:ln>
                <a:solidFill>
                  <a:srgbClr val="000000"/>
                </a:solidFill>
                <a:effectLst/>
                <a:uLnTx/>
                <a:uFillTx/>
                <a:latin typeface="Palatino Linotype" panose="02040502050505030304"/>
                <a:ea typeface="+mj-ea"/>
              </a:rPr>
              <a:t>(1)</a:t>
            </a:r>
            <a:endParaRPr kumimoji="0" lang="en-US" sz="4000" b="1" i="0" u="none" strike="noStrike" kern="0" cap="none" spc="-25" normalizeH="0" baseline="0" noProof="0" dirty="0">
              <a:ln>
                <a:noFill/>
              </a:ln>
              <a:solidFill>
                <a:srgbClr val="000000"/>
              </a:solidFill>
              <a:effectLst/>
              <a:uLnTx/>
              <a:uFillTx/>
              <a:latin typeface="Palatino Linotype" panose="02040502050505030304"/>
              <a:ea typeface="+mj-ea"/>
            </a:endParaRPr>
          </a:p>
        </p:txBody>
      </p:sp>
      <p:sp>
        <p:nvSpPr>
          <p:cNvPr id="8" name="object 3"/>
          <p:cNvSpPr txBox="1"/>
          <p:nvPr/>
        </p:nvSpPr>
        <p:spPr>
          <a:xfrm>
            <a:off x="707542" y="1486036"/>
            <a:ext cx="7317740" cy="4244975"/>
          </a:xfrm>
          <a:prstGeom prst="rect">
            <a:avLst/>
          </a:prstGeom>
        </p:spPr>
        <p:txBody>
          <a:bodyPr vert="horz" wrap="square" lIns="0" tIns="180340" rIns="0" bIns="0" rtlCol="0">
            <a:spAutoFit/>
          </a:bodyPr>
          <a:lstStyle/>
          <a:p>
            <a:pPr marL="469265" indent="-456565">
              <a:spcBef>
                <a:spcPts val="1420"/>
              </a:spcBef>
              <a:buClr>
                <a:srgbClr val="000000"/>
              </a:buClr>
              <a:buFontTx/>
              <a:buAutoNum type="arabicPeriod"/>
              <a:tabLst>
                <a:tab pos="469265" algn="l"/>
              </a:tabLst>
            </a:pPr>
            <a:r>
              <a:rPr sz="2000" dirty="0">
                <a:solidFill>
                  <a:srgbClr val="FF0000"/>
                </a:solidFill>
                <a:latin typeface="Palatino Linotype" panose="02040502050505030304"/>
                <a:cs typeface="Palatino Linotype" panose="02040502050505030304"/>
              </a:rPr>
              <a:t>Assignment</a:t>
            </a:r>
            <a:r>
              <a:rPr sz="2000" spc="-55" dirty="0">
                <a:solidFill>
                  <a:srgbClr val="FF0000"/>
                </a:solidFill>
                <a:latin typeface="Palatino Linotype" panose="02040502050505030304"/>
                <a:cs typeface="Palatino Linotype" panose="02040502050505030304"/>
              </a:rPr>
              <a:t> </a:t>
            </a:r>
            <a:r>
              <a:rPr sz="2000" spc="-10" dirty="0">
                <a:solidFill>
                  <a:srgbClr val="FF0000"/>
                </a:solidFill>
                <a:latin typeface="Palatino Linotype" panose="02040502050505030304"/>
                <a:cs typeface="Palatino Linotype" panose="02040502050505030304"/>
              </a:rPr>
              <a:t>instructions</a:t>
            </a:r>
            <a:r>
              <a:rPr sz="2000" spc="-10" dirty="0">
                <a:solidFill>
                  <a:sysClr val="windowText" lastClr="000000"/>
                </a:solidFill>
                <a:latin typeface="Palatino Linotype" panose="02040502050505030304"/>
                <a:cs typeface="Palatino Linotype" panose="02040502050505030304"/>
              </a:rPr>
              <a:t>:</a:t>
            </a:r>
            <a:endParaRPr sz="2000">
              <a:solidFill>
                <a:sysClr val="windowText" lastClr="000000"/>
              </a:solidFill>
              <a:latin typeface="Palatino Linotype" panose="02040502050505030304"/>
              <a:cs typeface="Palatino Linotype" panose="02040502050505030304"/>
            </a:endParaRPr>
          </a:p>
          <a:p>
            <a:pPr marL="697865" lvl="1" indent="-227965">
              <a:spcBef>
                <a:spcPts val="1050"/>
              </a:spcBef>
              <a:buClr>
                <a:srgbClr val="000000"/>
              </a:buClr>
              <a:buFont typeface="Wingdings" panose="05000000000000000000"/>
              <a:buChar char=""/>
              <a:tabLst>
                <a:tab pos="697865" algn="l"/>
              </a:tabLst>
            </a:pPr>
            <a:r>
              <a:rPr sz="1600" dirty="0">
                <a:solidFill>
                  <a:srgbClr val="0431FF"/>
                </a:solidFill>
                <a:latin typeface="Cambria Math" panose="02040503050406030204"/>
                <a:cs typeface="Cambria Math" panose="02040503050406030204"/>
              </a:rPr>
              <a:t>𝑥</a:t>
            </a:r>
            <a:r>
              <a:rPr sz="1600" spc="470"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a:t>
            </a:r>
            <a:r>
              <a:rPr sz="1600" spc="434"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𝑦</a:t>
            </a:r>
            <a:r>
              <a:rPr sz="1600" spc="30"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𝑜𝑝 𝑧</a:t>
            </a:r>
            <a:r>
              <a:rPr sz="1600" dirty="0">
                <a:solidFill>
                  <a:sysClr val="windowText" lastClr="000000"/>
                </a:solidFill>
                <a:latin typeface="Palatino Linotype" panose="02040502050505030304"/>
                <a:cs typeface="Palatino Linotype" panose="02040502050505030304"/>
              </a:rPr>
              <a:t>,</a:t>
            </a:r>
            <a:r>
              <a:rPr sz="1600" spc="-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where </a:t>
            </a:r>
            <a:r>
              <a:rPr sz="1600" dirty="0">
                <a:solidFill>
                  <a:srgbClr val="0431FF"/>
                </a:solidFill>
                <a:latin typeface="Cambria Math" panose="02040503050406030204"/>
                <a:cs typeface="Cambria Math" panose="02040503050406030204"/>
              </a:rPr>
              <a:t>𝑜𝑝</a:t>
            </a:r>
            <a:r>
              <a:rPr sz="1600" spc="45" dirty="0">
                <a:solidFill>
                  <a:srgbClr val="0431FF"/>
                </a:solidFill>
                <a:latin typeface="Cambria Math" panose="02040503050406030204"/>
                <a:cs typeface="Cambria Math" panose="02040503050406030204"/>
              </a:rPr>
              <a:t> </a:t>
            </a:r>
            <a:r>
              <a:rPr sz="1600" dirty="0">
                <a:solidFill>
                  <a:sysClr val="windowText" lastClr="000000"/>
                </a:solidFill>
                <a:latin typeface="Palatino Linotype" panose="02040502050505030304"/>
                <a:cs typeface="Palatino Linotype" panose="02040502050505030304"/>
              </a:rPr>
              <a:t>is</a:t>
            </a:r>
            <a:r>
              <a:rPr sz="1600" spc="-1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a:t>
            </a:r>
            <a:r>
              <a:rPr sz="1600" spc="-1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binary </a:t>
            </a:r>
            <a:r>
              <a:rPr sz="1600" spc="-10" dirty="0">
                <a:solidFill>
                  <a:sysClr val="windowText" lastClr="000000"/>
                </a:solidFill>
                <a:latin typeface="Palatino Linotype" panose="02040502050505030304"/>
                <a:cs typeface="Palatino Linotype" panose="02040502050505030304"/>
              </a:rPr>
              <a:t>arithmetic/logical</a:t>
            </a:r>
            <a:r>
              <a:rPr sz="1600" spc="5"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operation</a:t>
            </a:r>
            <a:endParaRPr sz="1600">
              <a:solidFill>
                <a:sysClr val="windowText" lastClr="000000"/>
              </a:solidFill>
              <a:latin typeface="Palatino Linotype" panose="02040502050505030304"/>
              <a:cs typeface="Palatino Linotype" panose="02040502050505030304"/>
            </a:endParaRPr>
          </a:p>
          <a:p>
            <a:pPr marL="697865" lvl="1" indent="-227965">
              <a:spcBef>
                <a:spcPts val="985"/>
              </a:spcBef>
              <a:buClr>
                <a:srgbClr val="000000"/>
              </a:buClr>
              <a:buFont typeface="Wingdings" panose="05000000000000000000"/>
              <a:buChar char=""/>
              <a:tabLst>
                <a:tab pos="697865" algn="l"/>
              </a:tabLst>
            </a:pPr>
            <a:r>
              <a:rPr sz="1600" dirty="0">
                <a:solidFill>
                  <a:srgbClr val="0431FF"/>
                </a:solidFill>
                <a:latin typeface="Cambria Math" panose="02040503050406030204"/>
                <a:cs typeface="Cambria Math" panose="02040503050406030204"/>
              </a:rPr>
              <a:t>𝑥</a:t>
            </a:r>
            <a:r>
              <a:rPr sz="1600" spc="465"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a:t>
            </a:r>
            <a:r>
              <a:rPr sz="1600" spc="425"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𝑜𝑝</a:t>
            </a:r>
            <a:r>
              <a:rPr sz="1600" spc="10"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𝑦</a:t>
            </a:r>
            <a:r>
              <a:rPr sz="1600" dirty="0">
                <a:solidFill>
                  <a:sysClr val="windowText" lastClr="000000"/>
                </a:solidFill>
                <a:latin typeface="Palatino Linotype" panose="02040502050505030304"/>
                <a:cs typeface="Palatino Linotype" panose="02040502050505030304"/>
              </a:rPr>
              <a:t>,</a:t>
            </a:r>
            <a:r>
              <a:rPr sz="1600" spc="-1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where </a:t>
            </a:r>
            <a:r>
              <a:rPr sz="1600" dirty="0">
                <a:solidFill>
                  <a:srgbClr val="0431FF"/>
                </a:solidFill>
                <a:latin typeface="Cambria Math" panose="02040503050406030204"/>
                <a:cs typeface="Cambria Math" panose="02040503050406030204"/>
              </a:rPr>
              <a:t>𝑜𝑝</a:t>
            </a:r>
            <a:r>
              <a:rPr sz="1600" spc="40" dirty="0">
                <a:solidFill>
                  <a:srgbClr val="0431FF"/>
                </a:solidFill>
                <a:latin typeface="Cambria Math" panose="02040503050406030204"/>
                <a:cs typeface="Cambria Math" panose="02040503050406030204"/>
              </a:rPr>
              <a:t> </a:t>
            </a:r>
            <a:r>
              <a:rPr sz="1600" dirty="0">
                <a:solidFill>
                  <a:sysClr val="windowText" lastClr="000000"/>
                </a:solidFill>
                <a:latin typeface="Palatino Linotype" panose="02040502050505030304"/>
                <a:cs typeface="Palatino Linotype" panose="02040502050505030304"/>
              </a:rPr>
              <a:t>is</a:t>
            </a:r>
            <a:r>
              <a:rPr sz="1600" spc="-1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a:t>
            </a:r>
            <a:r>
              <a:rPr sz="1600" spc="-1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unary</a:t>
            </a:r>
            <a:r>
              <a:rPr sz="1600" spc="5"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operation</a:t>
            </a:r>
            <a:endParaRPr sz="1600">
              <a:solidFill>
                <a:sysClr val="windowText" lastClr="000000"/>
              </a:solidFill>
              <a:latin typeface="Palatino Linotype" panose="02040502050505030304"/>
              <a:cs typeface="Palatino Linotype" panose="02040502050505030304"/>
            </a:endParaRPr>
          </a:p>
          <a:p>
            <a:pPr marL="469265" indent="-456565">
              <a:buClr>
                <a:srgbClr val="000000"/>
              </a:buClr>
              <a:buFontTx/>
              <a:buAutoNum type="arabicPeriod"/>
              <a:tabLst>
                <a:tab pos="469265" algn="l"/>
                <a:tab pos="2868930" algn="l"/>
                <a:tab pos="3187700" algn="l"/>
              </a:tabLst>
            </a:pPr>
            <a:r>
              <a:rPr sz="2000" dirty="0">
                <a:solidFill>
                  <a:srgbClr val="FF0000"/>
                </a:solidFill>
                <a:latin typeface="Palatino Linotype" panose="02040502050505030304"/>
                <a:cs typeface="Palatino Linotype" panose="02040502050505030304"/>
              </a:rPr>
              <a:t>Copy</a:t>
            </a:r>
            <a:r>
              <a:rPr sz="2000" spc="-40"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instructions</a:t>
            </a:r>
            <a:r>
              <a:rPr sz="2000" dirty="0">
                <a:solidFill>
                  <a:sysClr val="windowText" lastClr="000000"/>
                </a:solidFill>
                <a:latin typeface="Palatino Linotype" panose="02040502050505030304"/>
                <a:cs typeface="Palatino Linotype" panose="02040502050505030304"/>
              </a:rPr>
              <a:t>:</a:t>
            </a:r>
            <a:r>
              <a:rPr sz="2000" spc="-35" dirty="0">
                <a:solidFill>
                  <a:sysClr val="windowText" lastClr="000000"/>
                </a:solidFill>
                <a:latin typeface="Palatino Linotype" panose="02040502050505030304"/>
                <a:cs typeface="Palatino Linotype" panose="02040502050505030304"/>
              </a:rPr>
              <a:t> </a:t>
            </a:r>
            <a:r>
              <a:rPr sz="2000" spc="-50" dirty="0">
                <a:solidFill>
                  <a:srgbClr val="0431FF"/>
                </a:solidFill>
                <a:latin typeface="Cambria Math" panose="02040503050406030204"/>
                <a:cs typeface="Cambria Math" panose="02040503050406030204"/>
              </a:rPr>
              <a:t>𝑥</a:t>
            </a:r>
            <a:r>
              <a:rPr sz="2000" dirty="0">
                <a:solidFill>
                  <a:srgbClr val="0431FF"/>
                </a:solidFill>
                <a:latin typeface="Cambria Math" panose="02040503050406030204"/>
                <a:cs typeface="Cambria Math" panose="02040503050406030204"/>
              </a:rPr>
              <a:t>	</a:t>
            </a:r>
            <a:r>
              <a:rPr sz="2000" spc="-50" dirty="0">
                <a:solidFill>
                  <a:srgbClr val="0431FF"/>
                </a:solidFill>
                <a:latin typeface="Cambria Math" panose="02040503050406030204"/>
                <a:cs typeface="Cambria Math" panose="02040503050406030204"/>
              </a:rPr>
              <a:t>=</a:t>
            </a:r>
            <a:r>
              <a:rPr sz="2000" dirty="0">
                <a:solidFill>
                  <a:srgbClr val="0431FF"/>
                </a:solidFill>
                <a:latin typeface="Cambria Math" panose="02040503050406030204"/>
                <a:cs typeface="Cambria Math" panose="02040503050406030204"/>
              </a:rPr>
              <a:t>	</a:t>
            </a:r>
            <a:r>
              <a:rPr sz="2000" spc="-50" dirty="0">
                <a:solidFill>
                  <a:srgbClr val="0431FF"/>
                </a:solidFill>
                <a:latin typeface="Cambria Math" panose="02040503050406030204"/>
                <a:cs typeface="Cambria Math" panose="02040503050406030204"/>
              </a:rPr>
              <a:t>𝑦</a:t>
            </a:r>
            <a:endParaRPr sz="2000">
              <a:solidFill>
                <a:sysClr val="windowText" lastClr="000000"/>
              </a:solidFill>
              <a:latin typeface="Cambria Math" panose="02040503050406030204"/>
              <a:cs typeface="Cambria Math" panose="02040503050406030204"/>
            </a:endParaRPr>
          </a:p>
          <a:p>
            <a:pPr marL="469265" indent="-456565">
              <a:spcBef>
                <a:spcPts val="2280"/>
              </a:spcBef>
              <a:buClr>
                <a:srgbClr val="000000"/>
              </a:buClr>
              <a:buFontTx/>
              <a:buAutoNum type="arabicPeriod"/>
              <a:tabLst>
                <a:tab pos="469265" algn="l"/>
              </a:tabLst>
            </a:pPr>
            <a:r>
              <a:rPr sz="2000" dirty="0">
                <a:solidFill>
                  <a:srgbClr val="FF0000"/>
                </a:solidFill>
                <a:latin typeface="Palatino Linotype" panose="02040502050505030304"/>
                <a:cs typeface="Palatino Linotype" panose="02040502050505030304"/>
              </a:rPr>
              <a:t>Unconditional</a:t>
            </a:r>
            <a:r>
              <a:rPr sz="2000" spc="-3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jump</a:t>
            </a:r>
            <a:r>
              <a:rPr sz="2000" spc="-3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instructions</a:t>
            </a:r>
            <a:r>
              <a:rPr sz="2000" dirty="0">
                <a:solidFill>
                  <a:sysClr val="windowText" lastClr="000000"/>
                </a:solidFill>
                <a:latin typeface="Palatino Linotype" panose="02040502050505030304"/>
                <a:cs typeface="Palatino Linotype" panose="02040502050505030304"/>
              </a:rPr>
              <a:t>:</a:t>
            </a:r>
            <a:r>
              <a:rPr sz="2000" spc="-40" dirty="0">
                <a:solidFill>
                  <a:sysClr val="windowText" lastClr="000000"/>
                </a:solidFill>
                <a:latin typeface="Palatino Linotype" panose="02040502050505030304"/>
                <a:cs typeface="Palatino Linotype" panose="02040502050505030304"/>
              </a:rPr>
              <a:t> </a:t>
            </a:r>
            <a:r>
              <a:rPr sz="2000" dirty="0">
                <a:solidFill>
                  <a:srgbClr val="0431FF"/>
                </a:solidFill>
                <a:latin typeface="Cambria Math" panose="02040503050406030204"/>
                <a:cs typeface="Cambria Math" panose="02040503050406030204"/>
              </a:rPr>
              <a:t>goto</a:t>
            </a:r>
            <a:r>
              <a:rPr sz="2000" spc="45" dirty="0">
                <a:solidFill>
                  <a:srgbClr val="0431FF"/>
                </a:solidFill>
                <a:latin typeface="Cambria Math" panose="02040503050406030204"/>
                <a:cs typeface="Cambria Math" panose="02040503050406030204"/>
              </a:rPr>
              <a:t> </a:t>
            </a:r>
            <a:r>
              <a:rPr sz="2000" dirty="0">
                <a:solidFill>
                  <a:srgbClr val="0431FF"/>
                </a:solidFill>
                <a:latin typeface="Cambria Math" panose="02040503050406030204"/>
                <a:cs typeface="Cambria Math" panose="02040503050406030204"/>
              </a:rPr>
              <a:t>𝐿</a:t>
            </a:r>
            <a:r>
              <a:rPr sz="2000" dirty="0">
                <a:solidFill>
                  <a:sysClr val="windowText" lastClr="000000"/>
                </a:solidFill>
                <a:latin typeface="Palatino Linotype" panose="02040502050505030304"/>
                <a:cs typeface="Palatino Linotype" panose="02040502050505030304"/>
              </a:rPr>
              <a:t>,</a:t>
            </a:r>
            <a:r>
              <a:rPr sz="2000" spc="-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where</a:t>
            </a:r>
            <a:r>
              <a:rPr sz="2000" spc="-1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Cambria Math" panose="02040503050406030204"/>
                <a:cs typeface="Cambria Math" panose="02040503050406030204"/>
              </a:rPr>
              <a:t>𝐿</a:t>
            </a:r>
            <a:r>
              <a:rPr sz="2000" spc="85" dirty="0">
                <a:solidFill>
                  <a:sysClr val="windowText" lastClr="000000"/>
                </a:solidFill>
                <a:latin typeface="Cambria Math" panose="02040503050406030204"/>
                <a:cs typeface="Cambria Math" panose="02040503050406030204"/>
              </a:rPr>
              <a:t> </a:t>
            </a:r>
            <a:r>
              <a:rPr sz="2000" dirty="0">
                <a:solidFill>
                  <a:sysClr val="windowText" lastClr="000000"/>
                </a:solidFill>
                <a:latin typeface="Palatino Linotype" panose="02040502050505030304"/>
                <a:cs typeface="Palatino Linotype" panose="02040502050505030304"/>
              </a:rPr>
              <a:t>is</a:t>
            </a:r>
            <a:r>
              <a:rPr sz="2000" spc="-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a:t>
            </a:r>
            <a:r>
              <a:rPr sz="2000" spc="-1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label</a:t>
            </a:r>
            <a:r>
              <a:rPr sz="2000" spc="-10" dirty="0">
                <a:solidFill>
                  <a:sysClr val="windowText" lastClr="000000"/>
                </a:solidFill>
                <a:latin typeface="Palatino Linotype" panose="02040502050505030304"/>
                <a:cs typeface="Palatino Linotype" panose="02040502050505030304"/>
              </a:rPr>
              <a:t> </a:t>
            </a:r>
            <a:r>
              <a:rPr sz="2000" spc="-25" dirty="0">
                <a:solidFill>
                  <a:sysClr val="windowText" lastClr="000000"/>
                </a:solidFill>
                <a:latin typeface="Palatino Linotype" panose="02040502050505030304"/>
                <a:cs typeface="Palatino Linotype" panose="02040502050505030304"/>
              </a:rPr>
              <a:t>of</a:t>
            </a:r>
            <a:endParaRPr sz="2000">
              <a:solidFill>
                <a:sysClr val="windowText" lastClr="000000"/>
              </a:solidFill>
              <a:latin typeface="Palatino Linotype" panose="02040502050505030304"/>
              <a:cs typeface="Palatino Linotype" panose="02040502050505030304"/>
            </a:endParaRPr>
          </a:p>
          <a:p>
            <a:pPr marL="469900">
              <a:spcBef>
                <a:spcPts val="480"/>
              </a:spcBef>
            </a:pPr>
            <a:r>
              <a:rPr sz="2000" dirty="0">
                <a:solidFill>
                  <a:sysClr val="windowText" lastClr="000000"/>
                </a:solidFill>
                <a:latin typeface="Palatino Linotype" panose="02040502050505030304"/>
                <a:cs typeface="Palatino Linotype" panose="02040502050505030304"/>
              </a:rPr>
              <a:t>the</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jump</a:t>
            </a:r>
            <a:r>
              <a:rPr sz="2000" spc="-35"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target</a:t>
            </a:r>
            <a:endParaRPr sz="2000">
              <a:solidFill>
                <a:sysClr val="windowText" lastClr="000000"/>
              </a:solidFill>
              <a:latin typeface="Palatino Linotype" panose="02040502050505030304"/>
              <a:cs typeface="Palatino Linotype" panose="02040502050505030304"/>
            </a:endParaRPr>
          </a:p>
          <a:p>
            <a:pPr marL="469265" indent="-456565">
              <a:spcBef>
                <a:spcPts val="2280"/>
              </a:spcBef>
              <a:buClr>
                <a:srgbClr val="000000"/>
              </a:buClr>
              <a:buFontTx/>
              <a:buAutoNum type="arabicPeriod" startAt="4"/>
              <a:tabLst>
                <a:tab pos="469265" algn="l"/>
              </a:tabLst>
            </a:pPr>
            <a:r>
              <a:rPr sz="2000" dirty="0">
                <a:solidFill>
                  <a:srgbClr val="FF0000"/>
                </a:solidFill>
                <a:latin typeface="Palatino Linotype" panose="02040502050505030304"/>
                <a:cs typeface="Palatino Linotype" panose="02040502050505030304"/>
              </a:rPr>
              <a:t>Conditional</a:t>
            </a:r>
            <a:r>
              <a:rPr sz="2000" spc="-30"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jump</a:t>
            </a:r>
            <a:r>
              <a:rPr sz="2000" spc="-40" dirty="0">
                <a:solidFill>
                  <a:srgbClr val="FF0000"/>
                </a:solidFill>
                <a:latin typeface="Palatino Linotype" panose="02040502050505030304"/>
                <a:cs typeface="Palatino Linotype" panose="02040502050505030304"/>
              </a:rPr>
              <a:t> </a:t>
            </a:r>
            <a:r>
              <a:rPr sz="2000" spc="-10" dirty="0">
                <a:solidFill>
                  <a:srgbClr val="FF0000"/>
                </a:solidFill>
                <a:latin typeface="Palatino Linotype" panose="02040502050505030304"/>
                <a:cs typeface="Palatino Linotype" panose="02040502050505030304"/>
              </a:rPr>
              <a:t>instructions</a:t>
            </a:r>
            <a:r>
              <a:rPr sz="2000" spc="-10" dirty="0">
                <a:solidFill>
                  <a:sysClr val="windowText" lastClr="000000"/>
                </a:solidFill>
                <a:latin typeface="Palatino Linotype" panose="02040502050505030304"/>
                <a:cs typeface="Palatino Linotype" panose="02040502050505030304"/>
              </a:rPr>
              <a:t>:</a:t>
            </a:r>
            <a:endParaRPr sz="2000">
              <a:solidFill>
                <a:sysClr val="windowText" lastClr="000000"/>
              </a:solidFill>
              <a:latin typeface="Palatino Linotype" panose="02040502050505030304"/>
              <a:cs typeface="Palatino Linotype" panose="02040502050505030304"/>
            </a:endParaRPr>
          </a:p>
          <a:p>
            <a:pPr marL="697865" lvl="1" indent="-227965">
              <a:spcBef>
                <a:spcPts val="1050"/>
              </a:spcBef>
              <a:buClr>
                <a:srgbClr val="000000"/>
              </a:buClr>
              <a:buFont typeface="Wingdings" panose="05000000000000000000"/>
              <a:buChar char=""/>
              <a:tabLst>
                <a:tab pos="697865" algn="l"/>
              </a:tabLst>
            </a:pPr>
            <a:r>
              <a:rPr sz="1600" dirty="0">
                <a:solidFill>
                  <a:srgbClr val="0431FF"/>
                </a:solidFill>
                <a:latin typeface="Cambria Math" panose="02040503050406030204"/>
                <a:cs typeface="Cambria Math" panose="02040503050406030204"/>
              </a:rPr>
              <a:t>if</a:t>
            </a:r>
            <a:r>
              <a:rPr sz="1600" spc="-20"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𝑥</a:t>
            </a:r>
            <a:r>
              <a:rPr sz="1600" spc="25"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goto</a:t>
            </a:r>
            <a:r>
              <a:rPr sz="1600" spc="-15" dirty="0">
                <a:solidFill>
                  <a:srgbClr val="0431FF"/>
                </a:solidFill>
                <a:latin typeface="Cambria Math" panose="02040503050406030204"/>
                <a:cs typeface="Cambria Math" panose="02040503050406030204"/>
              </a:rPr>
              <a:t> </a:t>
            </a:r>
            <a:r>
              <a:rPr sz="1600" spc="-50" dirty="0">
                <a:solidFill>
                  <a:srgbClr val="0431FF"/>
                </a:solidFill>
                <a:latin typeface="Cambria Math" panose="02040503050406030204"/>
                <a:cs typeface="Cambria Math" panose="02040503050406030204"/>
              </a:rPr>
              <a:t>𝐿</a:t>
            </a:r>
            <a:endParaRPr sz="1600">
              <a:solidFill>
                <a:sysClr val="windowText" lastClr="000000"/>
              </a:solidFill>
              <a:latin typeface="Cambria Math" panose="02040503050406030204"/>
              <a:cs typeface="Cambria Math" panose="02040503050406030204"/>
            </a:endParaRPr>
          </a:p>
          <a:p>
            <a:pPr marL="697865" lvl="1" indent="-227965">
              <a:spcBef>
                <a:spcPts val="985"/>
              </a:spcBef>
              <a:buClr>
                <a:srgbClr val="000000"/>
              </a:buClr>
              <a:buFont typeface="Wingdings" panose="05000000000000000000"/>
              <a:buChar char=""/>
              <a:tabLst>
                <a:tab pos="697865" algn="l"/>
              </a:tabLst>
            </a:pPr>
            <a:r>
              <a:rPr sz="1600" dirty="0">
                <a:solidFill>
                  <a:srgbClr val="0431FF"/>
                </a:solidFill>
                <a:latin typeface="Cambria Math" panose="02040503050406030204"/>
                <a:cs typeface="Cambria Math" panose="02040503050406030204"/>
              </a:rPr>
              <a:t>if</a:t>
            </a:r>
            <a:r>
              <a:rPr lang="en-US" sz="1600"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Flase</a:t>
            </a:r>
            <a:r>
              <a:rPr sz="1600" spc="-15"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𝑥</a:t>
            </a:r>
            <a:r>
              <a:rPr sz="1600" spc="15"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goto</a:t>
            </a:r>
            <a:r>
              <a:rPr sz="1600" spc="-20" dirty="0">
                <a:solidFill>
                  <a:srgbClr val="0431FF"/>
                </a:solidFill>
                <a:latin typeface="Cambria Math" panose="02040503050406030204"/>
                <a:cs typeface="Cambria Math" panose="02040503050406030204"/>
              </a:rPr>
              <a:t> </a:t>
            </a:r>
            <a:r>
              <a:rPr sz="1600" spc="-50" dirty="0">
                <a:solidFill>
                  <a:srgbClr val="0431FF"/>
                </a:solidFill>
                <a:latin typeface="Cambria Math" panose="02040503050406030204"/>
                <a:cs typeface="Cambria Math" panose="02040503050406030204"/>
              </a:rPr>
              <a:t>𝐿</a:t>
            </a:r>
            <a:endParaRPr sz="1600">
              <a:solidFill>
                <a:sysClr val="windowText" lastClr="000000"/>
              </a:solidFill>
              <a:latin typeface="Cambria Math" panose="02040503050406030204"/>
              <a:cs typeface="Cambria Math" panose="02040503050406030204"/>
            </a:endParaRPr>
          </a:p>
          <a:p>
            <a:pPr marL="697865" lvl="1" indent="-227965">
              <a:spcBef>
                <a:spcPts val="985"/>
              </a:spcBef>
              <a:buClr>
                <a:srgbClr val="000000"/>
              </a:buClr>
              <a:buFont typeface="Wingdings" panose="05000000000000000000"/>
              <a:buChar char=""/>
              <a:tabLst>
                <a:tab pos="697865" algn="l"/>
              </a:tabLst>
            </a:pPr>
            <a:r>
              <a:rPr sz="1600" dirty="0">
                <a:solidFill>
                  <a:srgbClr val="0431FF"/>
                </a:solidFill>
                <a:latin typeface="Cambria Math" panose="02040503050406030204"/>
                <a:cs typeface="Cambria Math" panose="02040503050406030204"/>
              </a:rPr>
              <a:t>if</a:t>
            </a:r>
            <a:r>
              <a:rPr sz="1600" spc="-15"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𝑥</a:t>
            </a:r>
            <a:r>
              <a:rPr sz="1600" spc="25"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𝑟𝑒𝑙𝑜𝑝</a:t>
            </a:r>
            <a:r>
              <a:rPr sz="1600" spc="5"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𝑦</a:t>
            </a:r>
            <a:r>
              <a:rPr sz="1600" spc="10"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goto</a:t>
            </a:r>
            <a:r>
              <a:rPr sz="1600" spc="-15" dirty="0">
                <a:solidFill>
                  <a:srgbClr val="0431FF"/>
                </a:solidFill>
                <a:latin typeface="Cambria Math" panose="02040503050406030204"/>
                <a:cs typeface="Cambria Math" panose="02040503050406030204"/>
              </a:rPr>
              <a:t> </a:t>
            </a:r>
            <a:r>
              <a:rPr sz="1600" spc="-50" dirty="0">
                <a:solidFill>
                  <a:srgbClr val="0431FF"/>
                </a:solidFill>
                <a:latin typeface="Cambria Math" panose="02040503050406030204"/>
                <a:cs typeface="Cambria Math" panose="02040503050406030204"/>
              </a:rPr>
              <a:t>𝐿</a:t>
            </a:r>
            <a:endParaRPr sz="1600">
              <a:solidFill>
                <a:sysClr val="windowText" lastClr="000000"/>
              </a:solidFill>
              <a:latin typeface="Cambria Math" panose="02040503050406030204"/>
              <a:cs typeface="Cambria Math" panose="02040503050406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14</a:t>
            </a:fld>
            <a:endParaRPr lang="en-US"/>
          </a:p>
        </p:txBody>
      </p:sp>
      <p:sp>
        <p:nvSpPr>
          <p:cNvPr id="7"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Instructions</a:t>
            </a:r>
            <a:r>
              <a:rPr kumimoji="0" lang="en-US" sz="4000" b="1" i="0" u="none" strike="noStrike" kern="0" cap="none" spc="-204"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25" normalizeH="0" baseline="0" noProof="0">
                <a:ln>
                  <a:noFill/>
                </a:ln>
                <a:solidFill>
                  <a:srgbClr val="000000"/>
                </a:solidFill>
                <a:effectLst/>
                <a:uLnTx/>
                <a:uFillTx/>
                <a:latin typeface="Palatino Linotype" panose="02040502050505030304"/>
                <a:ea typeface="+mj-ea"/>
              </a:rPr>
              <a:t>(2)</a:t>
            </a:r>
            <a:endParaRPr kumimoji="0" lang="en-US" sz="4000" b="1" i="0" u="none" strike="noStrike" kern="0" cap="none" spc="-25" normalizeH="0" baseline="0" noProof="0" dirty="0">
              <a:ln>
                <a:noFill/>
              </a:ln>
              <a:solidFill>
                <a:srgbClr val="000000"/>
              </a:solidFill>
              <a:effectLst/>
              <a:uLnTx/>
              <a:uFillTx/>
              <a:latin typeface="Palatino Linotype" panose="02040502050505030304"/>
              <a:ea typeface="+mj-ea"/>
            </a:endParaRPr>
          </a:p>
        </p:txBody>
      </p:sp>
      <p:sp>
        <p:nvSpPr>
          <p:cNvPr id="8" name="object 3"/>
          <p:cNvSpPr txBox="1"/>
          <p:nvPr/>
        </p:nvSpPr>
        <p:spPr>
          <a:xfrm>
            <a:off x="669442" y="1495707"/>
            <a:ext cx="7583170" cy="3796665"/>
          </a:xfrm>
          <a:prstGeom prst="rect">
            <a:avLst/>
          </a:prstGeom>
        </p:spPr>
        <p:txBody>
          <a:bodyPr vert="horz" wrap="square" lIns="0" tIns="147955" rIns="0" bIns="0" rtlCol="0">
            <a:spAutoFit/>
          </a:bodyPr>
          <a:lstStyle/>
          <a:p>
            <a:pPr marL="507365" indent="-456565">
              <a:spcBef>
                <a:spcPts val="1165"/>
              </a:spcBef>
              <a:buClr>
                <a:srgbClr val="000000"/>
              </a:buClr>
              <a:buFontTx/>
              <a:buAutoNum type="arabicPeriod" startAt="5"/>
              <a:tabLst>
                <a:tab pos="507365" algn="l"/>
              </a:tabLst>
            </a:pPr>
            <a:r>
              <a:rPr sz="2000" dirty="0">
                <a:solidFill>
                  <a:srgbClr val="FF0000"/>
                </a:solidFill>
                <a:latin typeface="Palatino Linotype" panose="02040502050505030304"/>
                <a:cs typeface="Palatino Linotype" panose="02040502050505030304"/>
              </a:rPr>
              <a:t>Procedural</a:t>
            </a:r>
            <a:r>
              <a:rPr sz="2000" spc="-5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calls</a:t>
            </a:r>
            <a:r>
              <a:rPr sz="2000" spc="-1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and</a:t>
            </a:r>
            <a:r>
              <a:rPr sz="2000" spc="-10" dirty="0">
                <a:solidFill>
                  <a:srgbClr val="FF0000"/>
                </a:solidFill>
                <a:latin typeface="Palatino Linotype" panose="02040502050505030304"/>
                <a:cs typeface="Palatino Linotype" panose="02040502050505030304"/>
              </a:rPr>
              <a:t> returns</a:t>
            </a:r>
            <a:endParaRPr sz="2000">
              <a:solidFill>
                <a:sysClr val="windowText" lastClr="000000"/>
              </a:solidFill>
              <a:latin typeface="Palatino Linotype" panose="02040502050505030304"/>
              <a:cs typeface="Palatino Linotype" panose="02040502050505030304"/>
            </a:endParaRPr>
          </a:p>
          <a:p>
            <a:pPr marL="735965" lvl="1" indent="-227965">
              <a:spcBef>
                <a:spcPts val="845"/>
              </a:spcBef>
              <a:buClr>
                <a:srgbClr val="000000"/>
              </a:buClr>
              <a:buFont typeface="Wingdings" panose="05000000000000000000"/>
              <a:buChar char=""/>
              <a:tabLst>
                <a:tab pos="735965" algn="l"/>
              </a:tabLst>
            </a:pPr>
            <a:r>
              <a:rPr sz="1600" dirty="0">
                <a:solidFill>
                  <a:srgbClr val="0431FF"/>
                </a:solidFill>
                <a:latin typeface="Cambria Math" panose="02040503050406030204"/>
                <a:cs typeface="Cambria Math" panose="02040503050406030204"/>
              </a:rPr>
              <a:t>param</a:t>
            </a:r>
            <a:r>
              <a:rPr sz="1600" spc="30" dirty="0">
                <a:solidFill>
                  <a:srgbClr val="0431FF"/>
                </a:solidFill>
                <a:latin typeface="Cambria Math" panose="02040503050406030204"/>
                <a:cs typeface="Cambria Math" panose="02040503050406030204"/>
              </a:rPr>
              <a:t> </a:t>
            </a:r>
            <a:r>
              <a:rPr sz="1600" spc="-25" dirty="0">
                <a:solidFill>
                  <a:srgbClr val="0431FF"/>
                </a:solidFill>
                <a:latin typeface="Cambria Math" panose="02040503050406030204"/>
                <a:cs typeface="Cambria Math" panose="02040503050406030204"/>
              </a:rPr>
              <a:t>𝑥</a:t>
            </a:r>
            <a:r>
              <a:rPr sz="1725" spc="-37" baseline="-14000" dirty="0">
                <a:solidFill>
                  <a:srgbClr val="0431FF"/>
                </a:solidFill>
                <a:latin typeface="Cambria Math" panose="02040503050406030204"/>
                <a:cs typeface="Cambria Math" panose="02040503050406030204"/>
              </a:rPr>
              <a:t>1</a:t>
            </a:r>
            <a:endParaRPr sz="1725" baseline="-14000">
              <a:solidFill>
                <a:sysClr val="windowText" lastClr="000000"/>
              </a:solidFill>
              <a:latin typeface="Cambria Math" panose="02040503050406030204"/>
              <a:cs typeface="Cambria Math" panose="02040503050406030204"/>
            </a:endParaRPr>
          </a:p>
          <a:p>
            <a:pPr marL="735965" lvl="1" indent="-227965">
              <a:spcBef>
                <a:spcPts val="190"/>
              </a:spcBef>
              <a:buClr>
                <a:srgbClr val="000000"/>
              </a:buClr>
              <a:buFont typeface="Wingdings" panose="05000000000000000000"/>
              <a:buChar char=""/>
              <a:tabLst>
                <a:tab pos="735965" algn="l"/>
              </a:tabLst>
            </a:pPr>
            <a:r>
              <a:rPr sz="1600" spc="-50" dirty="0">
                <a:solidFill>
                  <a:srgbClr val="0431FF"/>
                </a:solidFill>
                <a:latin typeface="Palatino Linotype" panose="02040502050505030304"/>
                <a:cs typeface="Palatino Linotype" panose="02040502050505030304"/>
              </a:rPr>
              <a:t>…</a:t>
            </a:r>
            <a:endParaRPr sz="1600">
              <a:solidFill>
                <a:sysClr val="windowText" lastClr="000000"/>
              </a:solidFill>
              <a:latin typeface="Palatino Linotype" panose="02040502050505030304"/>
              <a:cs typeface="Palatino Linotype" panose="02040502050505030304"/>
            </a:endParaRPr>
          </a:p>
          <a:p>
            <a:pPr marL="735965" lvl="1" indent="-227965">
              <a:spcBef>
                <a:spcPts val="795"/>
              </a:spcBef>
              <a:buClr>
                <a:srgbClr val="000000"/>
              </a:buClr>
              <a:buFont typeface="Wingdings" panose="05000000000000000000"/>
              <a:buChar char=""/>
              <a:tabLst>
                <a:tab pos="735965" algn="l"/>
              </a:tabLst>
            </a:pPr>
            <a:r>
              <a:rPr sz="1600" dirty="0">
                <a:solidFill>
                  <a:srgbClr val="0431FF"/>
                </a:solidFill>
                <a:latin typeface="Cambria Math" panose="02040503050406030204"/>
                <a:cs typeface="Cambria Math" panose="02040503050406030204"/>
              </a:rPr>
              <a:t>param</a:t>
            </a:r>
            <a:r>
              <a:rPr sz="1600" spc="30" dirty="0">
                <a:solidFill>
                  <a:srgbClr val="0431FF"/>
                </a:solidFill>
                <a:latin typeface="Cambria Math" panose="02040503050406030204"/>
                <a:cs typeface="Cambria Math" panose="02040503050406030204"/>
              </a:rPr>
              <a:t> </a:t>
            </a:r>
            <a:r>
              <a:rPr sz="1600" spc="-25" dirty="0">
                <a:solidFill>
                  <a:srgbClr val="0431FF"/>
                </a:solidFill>
                <a:latin typeface="Cambria Math" panose="02040503050406030204"/>
                <a:cs typeface="Cambria Math" panose="02040503050406030204"/>
              </a:rPr>
              <a:t>𝑥</a:t>
            </a:r>
            <a:r>
              <a:rPr sz="1725" spc="-37" baseline="-14000" dirty="0">
                <a:solidFill>
                  <a:srgbClr val="0431FF"/>
                </a:solidFill>
                <a:latin typeface="Cambria Math" panose="02040503050406030204"/>
                <a:cs typeface="Cambria Math" panose="02040503050406030204"/>
              </a:rPr>
              <a:t>𝑛</a:t>
            </a:r>
            <a:endParaRPr sz="1725" baseline="-14000">
              <a:solidFill>
                <a:sysClr val="windowText" lastClr="000000"/>
              </a:solidFill>
              <a:latin typeface="Cambria Math" panose="02040503050406030204"/>
              <a:cs typeface="Cambria Math" panose="02040503050406030204"/>
            </a:endParaRPr>
          </a:p>
          <a:p>
            <a:pPr marL="735965" lvl="1" indent="-227965">
              <a:spcBef>
                <a:spcPts val="795"/>
              </a:spcBef>
              <a:buClr>
                <a:srgbClr val="000000"/>
              </a:buClr>
              <a:buFont typeface="Wingdings" panose="05000000000000000000"/>
              <a:buChar char=""/>
              <a:tabLst>
                <a:tab pos="735965" algn="l"/>
              </a:tabLst>
            </a:pPr>
            <a:r>
              <a:rPr sz="1600" dirty="0">
                <a:solidFill>
                  <a:srgbClr val="0431FF"/>
                </a:solidFill>
                <a:latin typeface="Cambria Math" panose="02040503050406030204"/>
                <a:cs typeface="Cambria Math" panose="02040503050406030204"/>
              </a:rPr>
              <a:t>call</a:t>
            </a:r>
            <a:r>
              <a:rPr sz="1600" spc="-30"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𝑝,</a:t>
            </a:r>
            <a:r>
              <a:rPr sz="1600" spc="-95"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𝑛</a:t>
            </a:r>
            <a:r>
              <a:rPr sz="1600" spc="35" dirty="0">
                <a:solidFill>
                  <a:srgbClr val="0431FF"/>
                </a:solidFill>
                <a:latin typeface="Cambria Math" panose="02040503050406030204"/>
                <a:cs typeface="Cambria Math" panose="02040503050406030204"/>
              </a:rPr>
              <a:t> </a:t>
            </a:r>
            <a:r>
              <a:rPr sz="1600" dirty="0">
                <a:solidFill>
                  <a:sysClr val="windowText" lastClr="000000"/>
                </a:solidFill>
                <a:latin typeface="Palatino Linotype" panose="02040502050505030304"/>
                <a:cs typeface="Palatino Linotype" panose="02040502050505030304"/>
              </a:rPr>
              <a:t>(procedure</a:t>
            </a:r>
            <a:r>
              <a:rPr sz="1600" spc="-5" dirty="0">
                <a:solidFill>
                  <a:sysClr val="windowText" lastClr="000000"/>
                </a:solidFill>
                <a:latin typeface="Palatino Linotype" panose="02040502050505030304"/>
                <a:cs typeface="Palatino Linotype" panose="02040502050505030304"/>
              </a:rPr>
              <a:t> </a:t>
            </a:r>
            <a:r>
              <a:rPr sz="1600" spc="-20" dirty="0">
                <a:solidFill>
                  <a:sysClr val="windowText" lastClr="000000"/>
                </a:solidFill>
                <a:latin typeface="Palatino Linotype" panose="02040502050505030304"/>
                <a:cs typeface="Palatino Linotype" panose="02040502050505030304"/>
              </a:rPr>
              <a:t>call)</a:t>
            </a:r>
            <a:endParaRPr sz="1600">
              <a:solidFill>
                <a:sysClr val="windowText" lastClr="000000"/>
              </a:solidFill>
              <a:latin typeface="Palatino Linotype" panose="02040502050505030304"/>
              <a:cs typeface="Palatino Linotype" panose="02040502050505030304"/>
            </a:endParaRPr>
          </a:p>
          <a:p>
            <a:pPr marL="735965" lvl="1" indent="-227965">
              <a:spcBef>
                <a:spcPts val="790"/>
              </a:spcBef>
              <a:buClr>
                <a:srgbClr val="000000"/>
              </a:buClr>
              <a:buFont typeface="Wingdings" panose="05000000000000000000"/>
              <a:buChar char=""/>
              <a:tabLst>
                <a:tab pos="735965" algn="l"/>
              </a:tabLst>
            </a:pPr>
            <a:r>
              <a:rPr sz="1600" i="1" dirty="0">
                <a:solidFill>
                  <a:srgbClr val="0431FF"/>
                </a:solidFill>
                <a:latin typeface="Palatino Linotype" panose="02040502050505030304"/>
                <a:cs typeface="Palatino Linotype" panose="02040502050505030304"/>
              </a:rPr>
              <a:t>y</a:t>
            </a:r>
            <a:r>
              <a:rPr sz="1600" i="1" spc="-25" dirty="0">
                <a:solidFill>
                  <a:srgbClr val="0431FF"/>
                </a:solidFill>
                <a:latin typeface="Palatino Linotype" panose="02040502050505030304"/>
                <a:cs typeface="Palatino Linotype" panose="02040502050505030304"/>
              </a:rPr>
              <a:t> </a:t>
            </a:r>
            <a:r>
              <a:rPr sz="1600" dirty="0">
                <a:solidFill>
                  <a:srgbClr val="0431FF"/>
                </a:solidFill>
                <a:latin typeface="Palatino Linotype" panose="02040502050505030304"/>
                <a:cs typeface="Palatino Linotype" panose="02040502050505030304"/>
              </a:rPr>
              <a:t>=</a:t>
            </a:r>
            <a:r>
              <a:rPr sz="1600" spc="-25" dirty="0">
                <a:solidFill>
                  <a:srgbClr val="0431FF"/>
                </a:solidFill>
                <a:latin typeface="Palatino Linotype" panose="02040502050505030304"/>
                <a:cs typeface="Palatino Linotype" panose="02040502050505030304"/>
              </a:rPr>
              <a:t> </a:t>
            </a:r>
            <a:r>
              <a:rPr sz="1600" dirty="0">
                <a:solidFill>
                  <a:srgbClr val="0431FF"/>
                </a:solidFill>
                <a:latin typeface="Palatino Linotype" panose="02040502050505030304"/>
                <a:cs typeface="Palatino Linotype" panose="02040502050505030304"/>
              </a:rPr>
              <a:t>call</a:t>
            </a:r>
            <a:r>
              <a:rPr sz="1600" spc="-35" dirty="0">
                <a:solidFill>
                  <a:srgbClr val="0431FF"/>
                </a:solidFill>
                <a:latin typeface="Palatino Linotype" panose="02040502050505030304"/>
                <a:cs typeface="Palatino Linotype" panose="02040502050505030304"/>
              </a:rPr>
              <a:t> </a:t>
            </a:r>
            <a:r>
              <a:rPr sz="1600" i="1" dirty="0">
                <a:solidFill>
                  <a:srgbClr val="0431FF"/>
                </a:solidFill>
                <a:latin typeface="Palatino Linotype" panose="02040502050505030304"/>
                <a:cs typeface="Palatino Linotype" panose="02040502050505030304"/>
              </a:rPr>
              <a:t>p</a:t>
            </a:r>
            <a:r>
              <a:rPr sz="1600" dirty="0">
                <a:solidFill>
                  <a:srgbClr val="0431FF"/>
                </a:solidFill>
                <a:latin typeface="Palatino Linotype" panose="02040502050505030304"/>
                <a:cs typeface="Palatino Linotype" panose="02040502050505030304"/>
              </a:rPr>
              <a:t>,</a:t>
            </a:r>
            <a:r>
              <a:rPr sz="1600" spc="-20" dirty="0">
                <a:solidFill>
                  <a:srgbClr val="0431FF"/>
                </a:solidFill>
                <a:latin typeface="Palatino Linotype" panose="02040502050505030304"/>
                <a:cs typeface="Palatino Linotype" panose="02040502050505030304"/>
              </a:rPr>
              <a:t> </a:t>
            </a:r>
            <a:r>
              <a:rPr sz="1600" i="1" dirty="0">
                <a:solidFill>
                  <a:srgbClr val="0431FF"/>
                </a:solidFill>
                <a:latin typeface="Palatino Linotype" panose="02040502050505030304"/>
                <a:cs typeface="Palatino Linotype" panose="02040502050505030304"/>
              </a:rPr>
              <a:t>n</a:t>
            </a:r>
            <a:r>
              <a:rPr sz="1600" i="1" spc="-30" dirty="0">
                <a:solidFill>
                  <a:srgbClr val="0431FF"/>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(function</a:t>
            </a:r>
            <a:r>
              <a:rPr sz="1600" spc="25" dirty="0">
                <a:solidFill>
                  <a:sysClr val="windowText" lastClr="000000"/>
                </a:solidFill>
                <a:latin typeface="Palatino Linotype" panose="02040502050505030304"/>
                <a:cs typeface="Palatino Linotype" panose="02040502050505030304"/>
              </a:rPr>
              <a:t> </a:t>
            </a:r>
            <a:r>
              <a:rPr sz="1600" spc="-20" dirty="0">
                <a:solidFill>
                  <a:sysClr val="windowText" lastClr="000000"/>
                </a:solidFill>
                <a:latin typeface="Palatino Linotype" panose="02040502050505030304"/>
                <a:cs typeface="Palatino Linotype" panose="02040502050505030304"/>
              </a:rPr>
              <a:t>call)</a:t>
            </a:r>
            <a:endParaRPr sz="1600">
              <a:solidFill>
                <a:sysClr val="windowText" lastClr="000000"/>
              </a:solidFill>
              <a:latin typeface="Palatino Linotype" panose="02040502050505030304"/>
              <a:cs typeface="Palatino Linotype" panose="02040502050505030304"/>
            </a:endParaRPr>
          </a:p>
          <a:p>
            <a:pPr marL="735965" lvl="1" indent="-227965">
              <a:spcBef>
                <a:spcPts val="790"/>
              </a:spcBef>
              <a:buClr>
                <a:srgbClr val="000000"/>
              </a:buClr>
              <a:buFont typeface="Wingdings" panose="05000000000000000000"/>
              <a:buChar char=""/>
              <a:tabLst>
                <a:tab pos="735965" algn="l"/>
              </a:tabLst>
            </a:pPr>
            <a:r>
              <a:rPr sz="1600" dirty="0">
                <a:solidFill>
                  <a:srgbClr val="0431FF"/>
                </a:solidFill>
                <a:latin typeface="Palatino Linotype" panose="02040502050505030304"/>
                <a:cs typeface="Palatino Linotype" panose="02040502050505030304"/>
              </a:rPr>
              <a:t>return</a:t>
            </a:r>
            <a:r>
              <a:rPr sz="1600" spc="-35" dirty="0">
                <a:solidFill>
                  <a:srgbClr val="0431FF"/>
                </a:solidFill>
                <a:latin typeface="Palatino Linotype" panose="02040502050505030304"/>
                <a:cs typeface="Palatino Linotype" panose="02040502050505030304"/>
              </a:rPr>
              <a:t> </a:t>
            </a:r>
            <a:r>
              <a:rPr sz="1600" i="1" spc="-50" dirty="0">
                <a:solidFill>
                  <a:srgbClr val="0431FF"/>
                </a:solidFill>
                <a:latin typeface="Palatino Linotype" panose="02040502050505030304"/>
                <a:cs typeface="Palatino Linotype" panose="02040502050505030304"/>
              </a:rPr>
              <a:t>y</a:t>
            </a:r>
            <a:endParaRPr sz="1600">
              <a:solidFill>
                <a:sysClr val="windowText" lastClr="000000"/>
              </a:solidFill>
              <a:latin typeface="Palatino Linotype" panose="02040502050505030304"/>
              <a:cs typeface="Palatino Linotype" panose="02040502050505030304"/>
            </a:endParaRPr>
          </a:p>
          <a:p>
            <a:pPr marL="507365" indent="-456565">
              <a:buClr>
                <a:srgbClr val="000000"/>
              </a:buClr>
              <a:buFontTx/>
              <a:buAutoNum type="arabicPeriod" startAt="5"/>
              <a:tabLst>
                <a:tab pos="507365" algn="l"/>
                <a:tab pos="4699000" algn="l"/>
              </a:tabLst>
            </a:pPr>
            <a:r>
              <a:rPr sz="2000" dirty="0">
                <a:solidFill>
                  <a:srgbClr val="FF0000"/>
                </a:solidFill>
                <a:latin typeface="Palatino Linotype" panose="02040502050505030304"/>
                <a:cs typeface="Palatino Linotype" panose="02040502050505030304"/>
              </a:rPr>
              <a:t>Indexed</a:t>
            </a:r>
            <a:r>
              <a:rPr sz="2000" spc="-10"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copy</a:t>
            </a:r>
            <a:r>
              <a:rPr sz="2000" spc="-2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instructions</a:t>
            </a:r>
            <a:r>
              <a:rPr sz="2000" dirty="0">
                <a:solidFill>
                  <a:sysClr val="windowText" lastClr="000000"/>
                </a:solidFill>
                <a:latin typeface="Palatino Linotype" panose="02040502050505030304"/>
                <a:cs typeface="Palatino Linotype" panose="02040502050505030304"/>
              </a:rPr>
              <a:t>:</a:t>
            </a:r>
            <a:r>
              <a:rPr sz="2000" spc="-45" dirty="0">
                <a:solidFill>
                  <a:sysClr val="windowText" lastClr="000000"/>
                </a:solidFill>
                <a:latin typeface="Palatino Linotype" panose="02040502050505030304"/>
                <a:cs typeface="Palatino Linotype" panose="02040502050505030304"/>
              </a:rPr>
              <a:t> </a:t>
            </a:r>
            <a:r>
              <a:rPr sz="2000" dirty="0">
                <a:solidFill>
                  <a:srgbClr val="0431FF"/>
                </a:solidFill>
                <a:latin typeface="Cambria Math" panose="02040503050406030204"/>
                <a:cs typeface="Cambria Math" panose="02040503050406030204"/>
              </a:rPr>
              <a:t>𝑥</a:t>
            </a:r>
            <a:r>
              <a:rPr sz="2000" spc="150" dirty="0">
                <a:solidFill>
                  <a:srgbClr val="0431FF"/>
                </a:solidFill>
                <a:latin typeface="Cambria Math" panose="02040503050406030204"/>
                <a:cs typeface="Cambria Math" panose="02040503050406030204"/>
              </a:rPr>
              <a:t> </a:t>
            </a:r>
            <a:r>
              <a:rPr sz="2000" dirty="0">
                <a:solidFill>
                  <a:srgbClr val="0431FF"/>
                </a:solidFill>
                <a:latin typeface="Cambria Math" panose="02040503050406030204"/>
                <a:cs typeface="Cambria Math" panose="02040503050406030204"/>
              </a:rPr>
              <a:t>=</a:t>
            </a:r>
            <a:r>
              <a:rPr sz="2000" spc="90" dirty="0">
                <a:solidFill>
                  <a:srgbClr val="0431FF"/>
                </a:solidFill>
                <a:latin typeface="Cambria Math" panose="02040503050406030204"/>
                <a:cs typeface="Cambria Math" panose="02040503050406030204"/>
              </a:rPr>
              <a:t> </a:t>
            </a:r>
            <a:r>
              <a:rPr sz="2000" spc="-20" dirty="0">
                <a:solidFill>
                  <a:srgbClr val="0431FF"/>
                </a:solidFill>
                <a:latin typeface="Cambria Math" panose="02040503050406030204"/>
                <a:cs typeface="Cambria Math" panose="02040503050406030204"/>
              </a:rPr>
              <a:t>𝑦[𝑖]</a:t>
            </a:r>
            <a:r>
              <a:rPr sz="2000" dirty="0">
                <a:solidFill>
                  <a:srgbClr val="0431FF"/>
                </a:solidFill>
                <a:latin typeface="Cambria Math" panose="02040503050406030204"/>
                <a:cs typeface="Cambria Math" panose="02040503050406030204"/>
              </a:rPr>
              <a:t>	𝑥[𝑖]</a:t>
            </a:r>
            <a:r>
              <a:rPr sz="2000" spc="145" dirty="0">
                <a:solidFill>
                  <a:srgbClr val="0431FF"/>
                </a:solidFill>
                <a:latin typeface="Cambria Math" panose="02040503050406030204"/>
                <a:cs typeface="Cambria Math" panose="02040503050406030204"/>
              </a:rPr>
              <a:t> </a:t>
            </a:r>
            <a:r>
              <a:rPr sz="2000" dirty="0">
                <a:solidFill>
                  <a:srgbClr val="0431FF"/>
                </a:solidFill>
                <a:latin typeface="Cambria Math" panose="02040503050406030204"/>
                <a:cs typeface="Cambria Math" panose="02040503050406030204"/>
              </a:rPr>
              <a:t>=</a:t>
            </a:r>
            <a:r>
              <a:rPr sz="2000" spc="170" dirty="0">
                <a:solidFill>
                  <a:srgbClr val="0431FF"/>
                </a:solidFill>
                <a:latin typeface="Cambria Math" panose="02040503050406030204"/>
                <a:cs typeface="Cambria Math" panose="02040503050406030204"/>
              </a:rPr>
              <a:t> </a:t>
            </a:r>
            <a:r>
              <a:rPr sz="2000" spc="-50" dirty="0">
                <a:solidFill>
                  <a:srgbClr val="0431FF"/>
                </a:solidFill>
                <a:latin typeface="Cambria Math" panose="02040503050406030204"/>
                <a:cs typeface="Cambria Math" panose="02040503050406030204"/>
              </a:rPr>
              <a:t>𝑦</a:t>
            </a:r>
            <a:endParaRPr sz="2000">
              <a:solidFill>
                <a:sysClr val="windowText" lastClr="000000"/>
              </a:solidFill>
              <a:latin typeface="Cambria Math" panose="02040503050406030204"/>
              <a:cs typeface="Cambria Math" panose="02040503050406030204"/>
            </a:endParaRPr>
          </a:p>
          <a:p>
            <a:pPr marL="735965" lvl="1" indent="-227965">
              <a:spcBef>
                <a:spcPts val="845"/>
              </a:spcBef>
              <a:buFont typeface="Wingdings" panose="05000000000000000000"/>
              <a:buChar char=""/>
              <a:tabLst>
                <a:tab pos="735965" algn="l"/>
              </a:tabLst>
            </a:pPr>
            <a:r>
              <a:rPr sz="1600" dirty="0">
                <a:solidFill>
                  <a:sysClr val="windowText" lastClr="000000"/>
                </a:solidFill>
                <a:latin typeface="Palatino Linotype" panose="02040502050505030304"/>
                <a:cs typeface="Palatino Linotype" panose="02040502050505030304"/>
              </a:rPr>
              <a:t>Here,</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Cambria Math" panose="02040503050406030204"/>
                <a:cs typeface="Cambria Math" panose="02040503050406030204"/>
              </a:rPr>
              <a:t>𝑦[𝑖]</a:t>
            </a:r>
            <a:r>
              <a:rPr sz="1600" spc="30" dirty="0">
                <a:solidFill>
                  <a:sysClr val="windowText" lastClr="000000"/>
                </a:solidFill>
                <a:latin typeface="Cambria Math" panose="02040503050406030204"/>
                <a:cs typeface="Cambria Math" panose="02040503050406030204"/>
              </a:rPr>
              <a:t> </a:t>
            </a:r>
            <a:r>
              <a:rPr sz="1600" dirty="0">
                <a:solidFill>
                  <a:sysClr val="windowText" lastClr="000000"/>
                </a:solidFill>
                <a:latin typeface="Palatino Linotype" panose="02040502050505030304"/>
                <a:cs typeface="Palatino Linotype" panose="02040502050505030304"/>
              </a:rPr>
              <a:t>means</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a:t>
            </a:r>
            <a:r>
              <a:rPr sz="1600" spc="-1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value</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in</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a:t>
            </a:r>
            <a:r>
              <a:rPr sz="1600" spc="-1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location</a:t>
            </a:r>
            <a:r>
              <a:rPr sz="1600" spc="-10" dirty="0">
                <a:solidFill>
                  <a:sysClr val="windowText" lastClr="000000"/>
                </a:solidFill>
                <a:latin typeface="Palatino Linotype" panose="02040502050505030304"/>
                <a:cs typeface="Palatino Linotype" panose="02040502050505030304"/>
              </a:rPr>
              <a:t> </a:t>
            </a:r>
            <a:r>
              <a:rPr sz="1600" dirty="0">
                <a:solidFill>
                  <a:srgbClr val="FF0000"/>
                </a:solidFill>
                <a:latin typeface="Cambria Math" panose="02040503050406030204"/>
                <a:cs typeface="Cambria Math" panose="02040503050406030204"/>
              </a:rPr>
              <a:t>𝑖</a:t>
            </a:r>
            <a:r>
              <a:rPr sz="1600" spc="70" dirty="0">
                <a:solidFill>
                  <a:srgbClr val="FF0000"/>
                </a:solidFill>
                <a:latin typeface="Cambria Math" panose="02040503050406030204"/>
                <a:cs typeface="Cambria Math" panose="02040503050406030204"/>
              </a:rPr>
              <a:t> </a:t>
            </a:r>
            <a:r>
              <a:rPr sz="1600" dirty="0">
                <a:solidFill>
                  <a:srgbClr val="FF0000"/>
                </a:solidFill>
                <a:latin typeface="Palatino Linotype" panose="02040502050505030304"/>
                <a:cs typeface="Palatino Linotype" panose="02040502050505030304"/>
              </a:rPr>
              <a:t>memory</a:t>
            </a:r>
            <a:r>
              <a:rPr sz="1600" spc="-30"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units </a:t>
            </a:r>
            <a:r>
              <a:rPr sz="1600" dirty="0">
                <a:solidFill>
                  <a:sysClr val="windowText" lastClr="000000"/>
                </a:solidFill>
                <a:latin typeface="Palatino Linotype" panose="02040502050505030304"/>
                <a:cs typeface="Palatino Linotype" panose="02040502050505030304"/>
              </a:rPr>
              <a:t>beyond</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location</a:t>
            </a:r>
            <a:r>
              <a:rPr sz="1600" spc="-15" dirty="0">
                <a:solidFill>
                  <a:sysClr val="windowText" lastClr="000000"/>
                </a:solidFill>
                <a:latin typeface="Palatino Linotype" panose="02040502050505030304"/>
                <a:cs typeface="Palatino Linotype" panose="02040502050505030304"/>
              </a:rPr>
              <a:t> </a:t>
            </a:r>
            <a:r>
              <a:rPr sz="1600" spc="-50" dirty="0">
                <a:solidFill>
                  <a:sysClr val="windowText" lastClr="000000"/>
                </a:solidFill>
                <a:latin typeface="Cambria Math" panose="02040503050406030204"/>
                <a:cs typeface="Cambria Math" panose="02040503050406030204"/>
              </a:rPr>
              <a:t>𝑦</a:t>
            </a:r>
            <a:endParaRPr sz="1600">
              <a:solidFill>
                <a:sysClr val="windowText" lastClr="000000"/>
              </a:solidFill>
              <a:latin typeface="Cambria Math" panose="02040503050406030204"/>
              <a:cs typeface="Cambria Math" panose="02040503050406030204"/>
            </a:endParaRPr>
          </a:p>
          <a:p>
            <a:pPr marL="507365" indent="-456565">
              <a:buClr>
                <a:srgbClr val="000000"/>
              </a:buClr>
              <a:buFontTx/>
              <a:buAutoNum type="arabicPeriod" startAt="5"/>
              <a:tabLst>
                <a:tab pos="507365" algn="l"/>
              </a:tabLst>
            </a:pPr>
            <a:r>
              <a:rPr sz="2000" dirty="0">
                <a:solidFill>
                  <a:srgbClr val="FF0000"/>
                </a:solidFill>
                <a:latin typeface="Palatino Linotype" panose="02040502050505030304"/>
                <a:cs typeface="Palatino Linotype" panose="02040502050505030304"/>
              </a:rPr>
              <a:t>Address</a:t>
            </a:r>
            <a:r>
              <a:rPr sz="2000" spc="-40"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and</a:t>
            </a:r>
            <a:r>
              <a:rPr sz="2000" spc="-30"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pointer</a:t>
            </a:r>
            <a:r>
              <a:rPr sz="2000" spc="-20"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assignment</a:t>
            </a:r>
            <a:r>
              <a:rPr sz="2000" spc="-50" dirty="0">
                <a:solidFill>
                  <a:srgbClr val="FF0000"/>
                </a:solidFill>
                <a:latin typeface="Palatino Linotype" panose="02040502050505030304"/>
                <a:cs typeface="Palatino Linotype" panose="02040502050505030304"/>
              </a:rPr>
              <a:t> </a:t>
            </a:r>
            <a:r>
              <a:rPr sz="2000" spc="-10" dirty="0">
                <a:solidFill>
                  <a:srgbClr val="FF0000"/>
                </a:solidFill>
                <a:latin typeface="Palatino Linotype" panose="02040502050505030304"/>
                <a:cs typeface="Palatino Linotype" panose="02040502050505030304"/>
              </a:rPr>
              <a:t>instructions</a:t>
            </a:r>
            <a:r>
              <a:rPr sz="2000" spc="-10" dirty="0">
                <a:solidFill>
                  <a:sysClr val="windowText" lastClr="000000"/>
                </a:solidFill>
                <a:latin typeface="Palatino Linotype" panose="02040502050505030304"/>
                <a:cs typeface="Palatino Linotype" panose="02040502050505030304"/>
              </a:rPr>
              <a:t>:</a:t>
            </a:r>
            <a:endParaRPr sz="2000">
              <a:solidFill>
                <a:sysClr val="windowText" lastClr="000000"/>
              </a:solidFill>
              <a:latin typeface="Palatino Linotype" panose="02040502050505030304"/>
              <a:cs typeface="Palatino Linotype" panose="02040502050505030304"/>
            </a:endParaRPr>
          </a:p>
          <a:p>
            <a:pPr marL="735965" lvl="1" indent="-227965">
              <a:spcBef>
                <a:spcPts val="845"/>
              </a:spcBef>
              <a:buClr>
                <a:srgbClr val="000000"/>
              </a:buClr>
              <a:buFont typeface="Wingdings" panose="05000000000000000000"/>
              <a:buChar char=""/>
              <a:tabLst>
                <a:tab pos="735965" algn="l"/>
                <a:tab pos="1779905" algn="l"/>
                <a:tab pos="2769870" algn="l"/>
              </a:tabLst>
            </a:pPr>
            <a:r>
              <a:rPr sz="1600" dirty="0">
                <a:solidFill>
                  <a:srgbClr val="0431FF"/>
                </a:solidFill>
                <a:latin typeface="Cambria Math" panose="02040503050406030204"/>
                <a:cs typeface="Cambria Math" panose="02040503050406030204"/>
              </a:rPr>
              <a:t>𝑥</a:t>
            </a:r>
            <a:r>
              <a:rPr sz="1600" spc="125"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a:t>
            </a:r>
            <a:r>
              <a:rPr sz="1600" spc="85" dirty="0">
                <a:solidFill>
                  <a:srgbClr val="0431FF"/>
                </a:solidFill>
                <a:latin typeface="Cambria Math" panose="02040503050406030204"/>
                <a:cs typeface="Cambria Math" panose="02040503050406030204"/>
              </a:rPr>
              <a:t> </a:t>
            </a:r>
            <a:r>
              <a:rPr sz="1600" spc="-25" dirty="0">
                <a:solidFill>
                  <a:srgbClr val="0431FF"/>
                </a:solidFill>
                <a:latin typeface="Cambria Math" panose="02040503050406030204"/>
                <a:cs typeface="Cambria Math" panose="02040503050406030204"/>
              </a:rPr>
              <a:t>&amp;𝑦</a:t>
            </a:r>
            <a:r>
              <a:rPr sz="1600" dirty="0">
                <a:solidFill>
                  <a:srgbClr val="0431FF"/>
                </a:solidFill>
                <a:latin typeface="Cambria Math" panose="02040503050406030204"/>
                <a:cs typeface="Cambria Math" panose="02040503050406030204"/>
              </a:rPr>
              <a:t>	𝑥</a:t>
            </a:r>
            <a:r>
              <a:rPr sz="1600" spc="125"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a:t>
            </a:r>
            <a:r>
              <a:rPr sz="1600" spc="-10" dirty="0">
                <a:solidFill>
                  <a:srgbClr val="0431FF"/>
                </a:solidFill>
                <a:latin typeface="Cambria Math" panose="02040503050406030204"/>
                <a:cs typeface="Cambria Math" panose="02040503050406030204"/>
              </a:rPr>
              <a:t> </a:t>
            </a:r>
            <a:r>
              <a:rPr sz="1600" spc="-50" dirty="0">
                <a:solidFill>
                  <a:srgbClr val="0431FF"/>
                </a:solidFill>
                <a:latin typeface="Cambria Math" panose="02040503050406030204"/>
                <a:cs typeface="Cambria Math" panose="02040503050406030204"/>
              </a:rPr>
              <a:t>𝑦</a:t>
            </a:r>
            <a:r>
              <a:rPr sz="1600" dirty="0">
                <a:solidFill>
                  <a:srgbClr val="0431FF"/>
                </a:solidFill>
                <a:latin typeface="Cambria Math" panose="02040503050406030204"/>
                <a:cs typeface="Cambria Math" panose="02040503050406030204"/>
              </a:rPr>
              <a:t>	∗</a:t>
            </a:r>
            <a:r>
              <a:rPr sz="1600" spc="-10"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𝑥</a:t>
            </a:r>
            <a:r>
              <a:rPr sz="1600" spc="130"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a:t>
            </a:r>
            <a:r>
              <a:rPr sz="1600" spc="85" dirty="0">
                <a:solidFill>
                  <a:srgbClr val="0431FF"/>
                </a:solidFill>
                <a:latin typeface="Cambria Math" panose="02040503050406030204"/>
                <a:cs typeface="Cambria Math" panose="02040503050406030204"/>
              </a:rPr>
              <a:t> </a:t>
            </a:r>
            <a:r>
              <a:rPr sz="1600" spc="-50" dirty="0">
                <a:solidFill>
                  <a:srgbClr val="0431FF"/>
                </a:solidFill>
                <a:latin typeface="Cambria Math" panose="02040503050406030204"/>
                <a:cs typeface="Cambria Math" panose="02040503050406030204"/>
              </a:rPr>
              <a:t>𝑦</a:t>
            </a:r>
            <a:endParaRPr sz="1600">
              <a:solidFill>
                <a:sysClr val="windowText" lastClr="000000"/>
              </a:solidFill>
              <a:latin typeface="Cambria Math" panose="02040503050406030204"/>
              <a:cs typeface="Cambria Math" panose="02040503050406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15</a:t>
            </a:fld>
            <a:endParaRPr lang="en-US"/>
          </a:p>
        </p:txBody>
      </p:sp>
      <p:sp>
        <p:nvSpPr>
          <p:cNvPr id="11"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Example</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12" name="object 3"/>
          <p:cNvSpPr txBox="1"/>
          <p:nvPr/>
        </p:nvSpPr>
        <p:spPr>
          <a:xfrm>
            <a:off x="707542" y="1653667"/>
            <a:ext cx="6065520" cy="330835"/>
          </a:xfrm>
          <a:prstGeom prst="rect">
            <a:avLst/>
          </a:prstGeom>
        </p:spPr>
        <p:txBody>
          <a:bodyPr vert="horz" wrap="square" lIns="0" tIns="13335" rIns="0" bIns="0" rtlCol="0">
            <a:spAutoFit/>
          </a:bodyPr>
          <a:lstStyle/>
          <a:p>
            <a:pPr marL="242570" indent="-229870">
              <a:spcBef>
                <a:spcPts val="105"/>
              </a:spcBef>
              <a:buFont typeface="Arial MT"/>
              <a:buChar char="•"/>
              <a:tabLst>
                <a:tab pos="242570" algn="l"/>
              </a:tabLst>
            </a:pPr>
            <a:r>
              <a:rPr sz="2000" dirty="0">
                <a:solidFill>
                  <a:sysClr val="windowText" lastClr="000000"/>
                </a:solidFill>
                <a:latin typeface="Palatino Linotype" panose="02040502050505030304"/>
                <a:cs typeface="Palatino Linotype" panose="02040502050505030304"/>
              </a:rPr>
              <a:t>Source</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code:</a:t>
            </a:r>
            <a:r>
              <a:rPr sz="2000" spc="-10" dirty="0">
                <a:solidFill>
                  <a:sysClr val="windowText" lastClr="000000"/>
                </a:solidFill>
                <a:latin typeface="Palatino Linotype" panose="02040502050505030304"/>
                <a:cs typeface="Palatino Linotype" panose="02040502050505030304"/>
              </a:rPr>
              <a:t> </a:t>
            </a:r>
            <a:r>
              <a:rPr sz="2000" dirty="0">
                <a:solidFill>
                  <a:srgbClr val="0431FF"/>
                </a:solidFill>
                <a:latin typeface="Consolas" panose="020B0609020204030204"/>
                <a:cs typeface="Consolas" panose="020B0609020204030204"/>
              </a:rPr>
              <a:t>do</a:t>
            </a:r>
            <a:r>
              <a:rPr sz="2000" spc="-10" dirty="0">
                <a:solidFill>
                  <a:srgbClr val="0431FF"/>
                </a:solidFill>
                <a:latin typeface="Consolas" panose="020B0609020204030204"/>
                <a:cs typeface="Consolas" panose="020B0609020204030204"/>
              </a:rPr>
              <a:t> </a:t>
            </a:r>
            <a:r>
              <a:rPr sz="2000" dirty="0">
                <a:solidFill>
                  <a:srgbClr val="0431FF"/>
                </a:solidFill>
                <a:latin typeface="Consolas" panose="020B0609020204030204"/>
                <a:cs typeface="Consolas" panose="020B0609020204030204"/>
              </a:rPr>
              <a:t>i</a:t>
            </a:r>
            <a:r>
              <a:rPr sz="2000" spc="-10" dirty="0">
                <a:solidFill>
                  <a:srgbClr val="0431FF"/>
                </a:solidFill>
                <a:latin typeface="Consolas" panose="020B0609020204030204"/>
                <a:cs typeface="Consolas" panose="020B0609020204030204"/>
              </a:rPr>
              <a:t> </a:t>
            </a:r>
            <a:r>
              <a:rPr sz="2000" dirty="0">
                <a:solidFill>
                  <a:srgbClr val="0431FF"/>
                </a:solidFill>
                <a:latin typeface="Consolas" panose="020B0609020204030204"/>
                <a:cs typeface="Consolas" panose="020B0609020204030204"/>
              </a:rPr>
              <a:t>=</a:t>
            </a:r>
            <a:r>
              <a:rPr sz="2000" spc="-10" dirty="0">
                <a:solidFill>
                  <a:srgbClr val="0431FF"/>
                </a:solidFill>
                <a:latin typeface="Consolas" panose="020B0609020204030204"/>
                <a:cs typeface="Consolas" panose="020B0609020204030204"/>
              </a:rPr>
              <a:t> </a:t>
            </a:r>
            <a:r>
              <a:rPr sz="2000" dirty="0">
                <a:solidFill>
                  <a:srgbClr val="0431FF"/>
                </a:solidFill>
                <a:latin typeface="Consolas" panose="020B0609020204030204"/>
                <a:cs typeface="Consolas" panose="020B0609020204030204"/>
              </a:rPr>
              <a:t>i</a:t>
            </a:r>
            <a:r>
              <a:rPr sz="2000" spc="10" dirty="0">
                <a:solidFill>
                  <a:srgbClr val="0431FF"/>
                </a:solidFill>
                <a:latin typeface="Consolas" panose="020B0609020204030204"/>
                <a:cs typeface="Consolas" panose="020B0609020204030204"/>
              </a:rPr>
              <a:t> </a:t>
            </a:r>
            <a:r>
              <a:rPr sz="2000" dirty="0">
                <a:solidFill>
                  <a:srgbClr val="0431FF"/>
                </a:solidFill>
                <a:latin typeface="Consolas" panose="020B0609020204030204"/>
                <a:cs typeface="Consolas" panose="020B0609020204030204"/>
              </a:rPr>
              <a:t>+</a:t>
            </a:r>
            <a:r>
              <a:rPr sz="2000" spc="-5" dirty="0">
                <a:solidFill>
                  <a:srgbClr val="0431FF"/>
                </a:solidFill>
                <a:latin typeface="Consolas" panose="020B0609020204030204"/>
                <a:cs typeface="Consolas" panose="020B0609020204030204"/>
              </a:rPr>
              <a:t> </a:t>
            </a:r>
            <a:r>
              <a:rPr sz="2000" dirty="0">
                <a:solidFill>
                  <a:srgbClr val="0431FF"/>
                </a:solidFill>
                <a:latin typeface="Consolas" panose="020B0609020204030204"/>
                <a:cs typeface="Consolas" panose="020B0609020204030204"/>
              </a:rPr>
              <a:t>1;</a:t>
            </a:r>
            <a:r>
              <a:rPr sz="2000" spc="-5" dirty="0">
                <a:solidFill>
                  <a:srgbClr val="0431FF"/>
                </a:solidFill>
                <a:latin typeface="Consolas" panose="020B0609020204030204"/>
                <a:cs typeface="Consolas" panose="020B0609020204030204"/>
              </a:rPr>
              <a:t> </a:t>
            </a:r>
            <a:r>
              <a:rPr sz="2000" dirty="0">
                <a:solidFill>
                  <a:srgbClr val="0431FF"/>
                </a:solidFill>
                <a:latin typeface="Consolas" panose="020B0609020204030204"/>
                <a:cs typeface="Consolas" panose="020B0609020204030204"/>
              </a:rPr>
              <a:t>while</a:t>
            </a:r>
            <a:r>
              <a:rPr sz="2000" spc="-20" dirty="0">
                <a:solidFill>
                  <a:srgbClr val="0431FF"/>
                </a:solidFill>
                <a:latin typeface="Consolas" panose="020B0609020204030204"/>
                <a:cs typeface="Consolas" panose="020B0609020204030204"/>
              </a:rPr>
              <a:t> </a:t>
            </a:r>
            <a:r>
              <a:rPr sz="2000" dirty="0">
                <a:solidFill>
                  <a:srgbClr val="0431FF"/>
                </a:solidFill>
                <a:latin typeface="Consolas" panose="020B0609020204030204"/>
                <a:cs typeface="Consolas" panose="020B0609020204030204"/>
              </a:rPr>
              <a:t>(a[i]</a:t>
            </a:r>
            <a:r>
              <a:rPr sz="2000" spc="-20" dirty="0">
                <a:solidFill>
                  <a:srgbClr val="0431FF"/>
                </a:solidFill>
                <a:latin typeface="Consolas" panose="020B0609020204030204"/>
                <a:cs typeface="Consolas" panose="020B0609020204030204"/>
              </a:rPr>
              <a:t> </a:t>
            </a:r>
            <a:r>
              <a:rPr sz="2000" dirty="0">
                <a:solidFill>
                  <a:srgbClr val="0431FF"/>
                </a:solidFill>
                <a:latin typeface="Consolas" panose="020B0609020204030204"/>
                <a:cs typeface="Consolas" panose="020B0609020204030204"/>
              </a:rPr>
              <a:t>&lt; </a:t>
            </a:r>
            <a:r>
              <a:rPr sz="2000" spc="-25" dirty="0">
                <a:solidFill>
                  <a:srgbClr val="0431FF"/>
                </a:solidFill>
                <a:latin typeface="Consolas" panose="020B0609020204030204"/>
                <a:cs typeface="Consolas" panose="020B0609020204030204"/>
              </a:rPr>
              <a:t>v);</a:t>
            </a:r>
            <a:endParaRPr sz="2000">
              <a:solidFill>
                <a:sysClr val="windowText" lastClr="000000"/>
              </a:solidFill>
              <a:latin typeface="Consolas" panose="020B0609020204030204"/>
              <a:cs typeface="Consolas" panose="020B0609020204030204"/>
            </a:endParaRPr>
          </a:p>
        </p:txBody>
      </p:sp>
      <p:grpSp>
        <p:nvGrpSpPr>
          <p:cNvPr id="13" name="object 4"/>
          <p:cNvGrpSpPr/>
          <p:nvPr/>
        </p:nvGrpSpPr>
        <p:grpSpPr>
          <a:xfrm>
            <a:off x="1207606" y="2844254"/>
            <a:ext cx="6708775" cy="2048510"/>
            <a:chOff x="1207606" y="2844254"/>
            <a:chExt cx="6708775" cy="2048510"/>
          </a:xfrm>
        </p:grpSpPr>
        <p:pic>
          <p:nvPicPr>
            <p:cNvPr id="14" name="object 5"/>
            <p:cNvPicPr/>
            <p:nvPr/>
          </p:nvPicPr>
          <p:blipFill>
            <a:blip r:embed="rId3" cstate="print"/>
            <a:stretch>
              <a:fillRect/>
            </a:stretch>
          </p:blipFill>
          <p:spPr>
            <a:xfrm>
              <a:off x="1207606" y="2844254"/>
              <a:ext cx="6708580" cy="2048040"/>
            </a:xfrm>
            <a:prstGeom prst="rect">
              <a:avLst/>
            </a:prstGeom>
          </p:spPr>
        </p:pic>
        <p:sp>
          <p:nvSpPr>
            <p:cNvPr id="15" name="object 6"/>
            <p:cNvSpPr/>
            <p:nvPr/>
          </p:nvSpPr>
          <p:spPr>
            <a:xfrm>
              <a:off x="2779775" y="3319272"/>
              <a:ext cx="441959" cy="478790"/>
            </a:xfrm>
            <a:custGeom>
              <a:avLst/>
              <a:gdLst/>
              <a:ahLst/>
              <a:cxnLst/>
              <a:rect l="l" t="t" r="r" b="b"/>
              <a:pathLst>
                <a:path w="441960" h="478789">
                  <a:moveTo>
                    <a:pt x="0" y="239267"/>
                  </a:moveTo>
                  <a:lnTo>
                    <a:pt x="4489" y="191029"/>
                  </a:lnTo>
                  <a:lnTo>
                    <a:pt x="17365" y="146107"/>
                  </a:lnTo>
                  <a:lnTo>
                    <a:pt x="37739" y="105463"/>
                  </a:lnTo>
                  <a:lnTo>
                    <a:pt x="64722" y="70056"/>
                  </a:lnTo>
                  <a:lnTo>
                    <a:pt x="97426" y="40846"/>
                  </a:lnTo>
                  <a:lnTo>
                    <a:pt x="134963" y="18794"/>
                  </a:lnTo>
                  <a:lnTo>
                    <a:pt x="176443" y="4858"/>
                  </a:lnTo>
                  <a:lnTo>
                    <a:pt x="220980" y="0"/>
                  </a:lnTo>
                  <a:lnTo>
                    <a:pt x="265516" y="4858"/>
                  </a:lnTo>
                  <a:lnTo>
                    <a:pt x="306996" y="18794"/>
                  </a:lnTo>
                  <a:lnTo>
                    <a:pt x="344533" y="40846"/>
                  </a:lnTo>
                  <a:lnTo>
                    <a:pt x="377237" y="70056"/>
                  </a:lnTo>
                  <a:lnTo>
                    <a:pt x="404220" y="105463"/>
                  </a:lnTo>
                  <a:lnTo>
                    <a:pt x="424594" y="146107"/>
                  </a:lnTo>
                  <a:lnTo>
                    <a:pt x="437470" y="191029"/>
                  </a:lnTo>
                  <a:lnTo>
                    <a:pt x="441960" y="239267"/>
                  </a:lnTo>
                  <a:lnTo>
                    <a:pt x="437470" y="287506"/>
                  </a:lnTo>
                  <a:lnTo>
                    <a:pt x="424594" y="332428"/>
                  </a:lnTo>
                  <a:lnTo>
                    <a:pt x="404220" y="373072"/>
                  </a:lnTo>
                  <a:lnTo>
                    <a:pt x="377237" y="408479"/>
                  </a:lnTo>
                  <a:lnTo>
                    <a:pt x="344533" y="437689"/>
                  </a:lnTo>
                  <a:lnTo>
                    <a:pt x="306996" y="459741"/>
                  </a:lnTo>
                  <a:lnTo>
                    <a:pt x="265516" y="473677"/>
                  </a:lnTo>
                  <a:lnTo>
                    <a:pt x="220980" y="478535"/>
                  </a:lnTo>
                  <a:lnTo>
                    <a:pt x="176443" y="473677"/>
                  </a:lnTo>
                  <a:lnTo>
                    <a:pt x="134963" y="459741"/>
                  </a:lnTo>
                  <a:lnTo>
                    <a:pt x="97426" y="437689"/>
                  </a:lnTo>
                  <a:lnTo>
                    <a:pt x="64722" y="408479"/>
                  </a:lnTo>
                  <a:lnTo>
                    <a:pt x="37739" y="373072"/>
                  </a:lnTo>
                  <a:lnTo>
                    <a:pt x="17365" y="332428"/>
                  </a:lnTo>
                  <a:lnTo>
                    <a:pt x="4489" y="287506"/>
                  </a:lnTo>
                  <a:lnTo>
                    <a:pt x="0" y="239267"/>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
        <p:nvSpPr>
          <p:cNvPr id="16" name="object 7"/>
          <p:cNvSpPr txBox="1"/>
          <p:nvPr/>
        </p:nvSpPr>
        <p:spPr>
          <a:xfrm>
            <a:off x="1264158" y="5301233"/>
            <a:ext cx="5227955" cy="299720"/>
          </a:xfrm>
          <a:prstGeom prst="rect">
            <a:avLst/>
          </a:prstGeom>
        </p:spPr>
        <p:txBody>
          <a:bodyPr vert="horz" wrap="square" lIns="0" tIns="12700" rIns="0" bIns="0" rtlCol="0">
            <a:spAutoFit/>
          </a:bodyPr>
          <a:lstStyle/>
          <a:p>
            <a:pPr marL="12700">
              <a:spcBef>
                <a:spcPts val="100"/>
              </a:spcBef>
            </a:pPr>
            <a:r>
              <a:rPr dirty="0">
                <a:solidFill>
                  <a:srgbClr val="FF0000"/>
                </a:solidFill>
                <a:latin typeface="Palatino Linotype" panose="02040502050505030304"/>
                <a:cs typeface="Palatino Linotype" panose="02040502050505030304"/>
              </a:rPr>
              <a:t>Assuming</a:t>
            </a:r>
            <a:r>
              <a:rPr spc="-45"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each</a:t>
            </a:r>
            <a:r>
              <a:rPr spc="-45"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array</a:t>
            </a:r>
            <a:r>
              <a:rPr spc="-30"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element</a:t>
            </a:r>
            <a:r>
              <a:rPr spc="-30"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takes</a:t>
            </a:r>
            <a:r>
              <a:rPr spc="-40"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8</a:t>
            </a:r>
            <a:r>
              <a:rPr spc="-45"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units</a:t>
            </a:r>
            <a:r>
              <a:rPr spc="-35"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of</a:t>
            </a:r>
            <a:r>
              <a:rPr spc="-30" dirty="0">
                <a:solidFill>
                  <a:srgbClr val="FF0000"/>
                </a:solidFill>
                <a:latin typeface="Palatino Linotype" panose="02040502050505030304"/>
                <a:cs typeface="Palatino Linotype" panose="02040502050505030304"/>
              </a:rPr>
              <a:t> </a:t>
            </a:r>
            <a:r>
              <a:rPr spc="-10" dirty="0">
                <a:solidFill>
                  <a:srgbClr val="FF0000"/>
                </a:solidFill>
                <a:latin typeface="Palatino Linotype" panose="02040502050505030304"/>
                <a:cs typeface="Palatino Linotype" panose="02040502050505030304"/>
              </a:rPr>
              <a:t>space</a:t>
            </a:r>
            <a:endParaRPr>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16</a:t>
            </a:fld>
            <a:endParaRPr lang="en-US"/>
          </a:p>
        </p:txBody>
      </p:sp>
      <p:sp>
        <p:nvSpPr>
          <p:cNvPr id="7"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Representation</a:t>
            </a:r>
            <a:r>
              <a:rPr kumimoji="0" lang="en-US" sz="4000" b="1" i="0" u="none" strike="noStrike" kern="0" cap="none" spc="-8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of</a:t>
            </a:r>
            <a:r>
              <a:rPr kumimoji="0" lang="en-US" sz="4000" b="1" i="0" u="none" strike="noStrike" kern="0" cap="none" spc="-90"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Instructions</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8" name="object 3"/>
          <p:cNvSpPr txBox="1"/>
          <p:nvPr/>
        </p:nvSpPr>
        <p:spPr>
          <a:xfrm>
            <a:off x="707542" y="1593316"/>
            <a:ext cx="7417434" cy="4162425"/>
          </a:xfrm>
          <a:prstGeom prst="rect">
            <a:avLst/>
          </a:prstGeom>
        </p:spPr>
        <p:txBody>
          <a:bodyPr vert="horz" wrap="square" lIns="0" tIns="12700" rIns="0" bIns="0" rtlCol="0">
            <a:spAutoFit/>
          </a:bodyPr>
          <a:lstStyle/>
          <a:p>
            <a:pPr marL="242570" marR="5080" indent="-230505">
              <a:lnSpc>
                <a:spcPct val="120000"/>
              </a:lnSpc>
              <a:spcBef>
                <a:spcPts val="100"/>
              </a:spcBef>
              <a:buFont typeface="Arial MT"/>
              <a:buChar char="•"/>
              <a:tabLst>
                <a:tab pos="242570" algn="l"/>
              </a:tabLst>
            </a:pPr>
            <a:r>
              <a:rPr sz="2000" dirty="0">
                <a:solidFill>
                  <a:sysClr val="windowText" lastClr="000000"/>
                </a:solidFill>
                <a:latin typeface="Palatino Linotype" panose="02040502050505030304"/>
                <a:cs typeface="Palatino Linotype" panose="02040502050505030304"/>
              </a:rPr>
              <a:t>The</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description</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of</a:t>
            </a:r>
            <a:r>
              <a:rPr sz="2000" spc="-35"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three-</a:t>
            </a:r>
            <a:r>
              <a:rPr sz="2000" dirty="0">
                <a:solidFill>
                  <a:sysClr val="windowText" lastClr="000000"/>
                </a:solidFill>
                <a:latin typeface="Palatino Linotype" panose="02040502050505030304"/>
                <a:cs typeface="Palatino Linotype" panose="02040502050505030304"/>
              </a:rPr>
              <a:t>address</a:t>
            </a:r>
            <a:r>
              <a:rPr sz="2000" spc="-3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instructions</a:t>
            </a:r>
            <a:r>
              <a:rPr sz="2000" spc="-4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specifies</a:t>
            </a:r>
            <a:r>
              <a:rPr sz="2000" spc="-20" dirty="0">
                <a:solidFill>
                  <a:sysClr val="windowText" lastClr="000000"/>
                </a:solidFill>
                <a:latin typeface="Palatino Linotype" panose="02040502050505030304"/>
                <a:cs typeface="Palatino Linotype" panose="02040502050505030304"/>
              </a:rPr>
              <a:t> </a:t>
            </a:r>
            <a:r>
              <a:rPr sz="2000" spc="-25" dirty="0">
                <a:solidFill>
                  <a:sysClr val="windowText" lastClr="000000"/>
                </a:solidFill>
                <a:latin typeface="Palatino Linotype" panose="02040502050505030304"/>
                <a:cs typeface="Palatino Linotype" panose="02040502050505030304"/>
              </a:rPr>
              <a:t>the </a:t>
            </a:r>
            <a:r>
              <a:rPr sz="2000" dirty="0">
                <a:solidFill>
                  <a:srgbClr val="FF0000"/>
                </a:solidFill>
                <a:latin typeface="Palatino Linotype" panose="02040502050505030304"/>
                <a:cs typeface="Palatino Linotype" panose="02040502050505030304"/>
              </a:rPr>
              <a:t>components</a:t>
            </a:r>
            <a:r>
              <a:rPr sz="2000" spc="-30"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of</a:t>
            </a:r>
            <a:r>
              <a:rPr sz="2000" spc="-40"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each</a:t>
            </a:r>
            <a:r>
              <a:rPr sz="2000" spc="-3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type</a:t>
            </a:r>
            <a:r>
              <a:rPr sz="2000" spc="-2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of</a:t>
            </a:r>
            <a:r>
              <a:rPr sz="2000" spc="-20"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instruction</a:t>
            </a:r>
            <a:r>
              <a:rPr sz="2000" dirty="0">
                <a:solidFill>
                  <a:sysClr val="windowText" lastClr="000000"/>
                </a:solidFill>
                <a:latin typeface="Palatino Linotype" panose="02040502050505030304"/>
                <a:cs typeface="Palatino Linotype" panose="02040502050505030304"/>
              </a:rPr>
              <a:t>,</a:t>
            </a:r>
            <a:r>
              <a:rPr sz="2000" spc="-5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but</a:t>
            </a:r>
            <a:r>
              <a:rPr sz="2000" spc="-3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does</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not</a:t>
            </a:r>
            <a:r>
              <a:rPr sz="2000" spc="-4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specify</a:t>
            </a:r>
            <a:r>
              <a:rPr sz="2000" spc="-25" dirty="0">
                <a:solidFill>
                  <a:sysClr val="windowText" lastClr="000000"/>
                </a:solidFill>
                <a:latin typeface="Palatino Linotype" panose="02040502050505030304"/>
                <a:cs typeface="Palatino Linotype" panose="02040502050505030304"/>
              </a:rPr>
              <a:t> the </a:t>
            </a:r>
            <a:r>
              <a:rPr sz="2000" dirty="0">
                <a:solidFill>
                  <a:sysClr val="windowText" lastClr="000000"/>
                </a:solidFill>
                <a:latin typeface="Palatino Linotype" panose="02040502050505030304"/>
                <a:cs typeface="Palatino Linotype" panose="02040502050505030304"/>
              </a:rPr>
              <a:t>representation</a:t>
            </a:r>
            <a:r>
              <a:rPr sz="2000" spc="-5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of</a:t>
            </a:r>
            <a:r>
              <a:rPr sz="2000" spc="-40"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instructions</a:t>
            </a:r>
            <a:endParaRPr sz="2000">
              <a:solidFill>
                <a:sysClr val="windowText" lastClr="000000"/>
              </a:solidFill>
              <a:latin typeface="Palatino Linotype" panose="02040502050505030304"/>
              <a:cs typeface="Palatino Linotype" panose="02040502050505030304"/>
            </a:endParaRPr>
          </a:p>
          <a:p>
            <a:pPr marL="242570" marR="370840" indent="-230505">
              <a:lnSpc>
                <a:spcPct val="120000"/>
              </a:lnSpc>
              <a:spcBef>
                <a:spcPts val="2400"/>
              </a:spcBef>
              <a:buFont typeface="Arial MT"/>
              <a:buChar char="•"/>
              <a:tabLst>
                <a:tab pos="242570" algn="l"/>
              </a:tabLst>
            </a:pPr>
            <a:r>
              <a:rPr sz="2000" dirty="0">
                <a:solidFill>
                  <a:sysClr val="windowText" lastClr="000000"/>
                </a:solidFill>
                <a:latin typeface="Palatino Linotype" panose="02040502050505030304"/>
                <a:cs typeface="Palatino Linotype" panose="02040502050505030304"/>
              </a:rPr>
              <a:t>In</a:t>
            </a:r>
            <a:r>
              <a:rPr sz="2000" spc="-3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a:t>
            </a:r>
            <a:r>
              <a:rPr sz="2000" spc="-25"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compiler,</a:t>
            </a:r>
            <a:r>
              <a:rPr sz="2000" spc="-4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these</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instructions</a:t>
            </a:r>
            <a:r>
              <a:rPr sz="2000" spc="-5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can</a:t>
            </a:r>
            <a:r>
              <a:rPr sz="2000" spc="-3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be</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implemented</a:t>
            </a:r>
            <a:r>
              <a:rPr sz="2000" spc="-30" dirty="0">
                <a:solidFill>
                  <a:sysClr val="windowText" lastClr="000000"/>
                </a:solidFill>
                <a:latin typeface="Palatino Linotype" panose="02040502050505030304"/>
                <a:cs typeface="Palatino Linotype" panose="02040502050505030304"/>
              </a:rPr>
              <a:t> </a:t>
            </a:r>
            <a:r>
              <a:rPr sz="2000" spc="-25" dirty="0">
                <a:solidFill>
                  <a:sysClr val="windowText" lastClr="000000"/>
                </a:solidFill>
                <a:latin typeface="Palatino Linotype" panose="02040502050505030304"/>
                <a:cs typeface="Palatino Linotype" panose="02040502050505030304"/>
              </a:rPr>
              <a:t>as </a:t>
            </a:r>
            <a:r>
              <a:rPr sz="2000" dirty="0">
                <a:solidFill>
                  <a:srgbClr val="FF0000"/>
                </a:solidFill>
                <a:latin typeface="Palatino Linotype" panose="02040502050505030304"/>
                <a:cs typeface="Palatino Linotype" panose="02040502050505030304"/>
              </a:rPr>
              <a:t>objects/records</a:t>
            </a:r>
            <a:r>
              <a:rPr sz="2000" spc="-25" dirty="0">
                <a:solidFill>
                  <a:srgbClr val="FF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with</a:t>
            </a:r>
            <a:r>
              <a:rPr sz="2000" spc="-35" dirty="0">
                <a:solidFill>
                  <a:sysClr val="windowText" lastClr="000000"/>
                </a:solidFill>
                <a:latin typeface="Palatino Linotype" panose="02040502050505030304"/>
                <a:cs typeface="Palatino Linotype" panose="02040502050505030304"/>
              </a:rPr>
              <a:t> </a:t>
            </a:r>
            <a:r>
              <a:rPr sz="2000" u="sng" dirty="0">
                <a:solidFill>
                  <a:sysClr val="windowText" lastClr="000000"/>
                </a:solidFill>
                <a:uFill>
                  <a:solidFill>
                    <a:srgbClr val="000000"/>
                  </a:solidFill>
                </a:uFill>
                <a:latin typeface="Palatino Linotype" panose="02040502050505030304"/>
                <a:cs typeface="Palatino Linotype" panose="02040502050505030304"/>
              </a:rPr>
              <a:t>fields</a:t>
            </a:r>
            <a:r>
              <a:rPr sz="2000" u="sng" spc="-25" dirty="0">
                <a:solidFill>
                  <a:sysClr val="windowText" lastClr="000000"/>
                </a:solidFill>
                <a:uFill>
                  <a:solidFill>
                    <a:srgbClr val="000000"/>
                  </a:solidFill>
                </a:uFill>
                <a:latin typeface="Palatino Linotype" panose="02040502050505030304"/>
                <a:cs typeface="Palatino Linotype" panose="02040502050505030304"/>
              </a:rPr>
              <a:t> </a:t>
            </a:r>
            <a:r>
              <a:rPr sz="2000" u="sng" dirty="0">
                <a:solidFill>
                  <a:sysClr val="windowText" lastClr="000000"/>
                </a:solidFill>
                <a:uFill>
                  <a:solidFill>
                    <a:srgbClr val="000000"/>
                  </a:solidFill>
                </a:uFill>
                <a:latin typeface="Palatino Linotype" panose="02040502050505030304"/>
                <a:cs typeface="Palatino Linotype" panose="02040502050505030304"/>
              </a:rPr>
              <a:t>for</a:t>
            </a:r>
            <a:r>
              <a:rPr sz="2000" u="sng" spc="-40" dirty="0">
                <a:solidFill>
                  <a:sysClr val="windowText" lastClr="000000"/>
                </a:solidFill>
                <a:uFill>
                  <a:solidFill>
                    <a:srgbClr val="000000"/>
                  </a:solidFill>
                </a:uFill>
                <a:latin typeface="Palatino Linotype" panose="02040502050505030304"/>
                <a:cs typeface="Palatino Linotype" panose="02040502050505030304"/>
              </a:rPr>
              <a:t> </a:t>
            </a:r>
            <a:r>
              <a:rPr sz="2000" u="sng" dirty="0">
                <a:solidFill>
                  <a:sysClr val="windowText" lastClr="000000"/>
                </a:solidFill>
                <a:uFill>
                  <a:solidFill>
                    <a:srgbClr val="000000"/>
                  </a:solidFill>
                </a:uFill>
                <a:latin typeface="Palatino Linotype" panose="02040502050505030304"/>
                <a:cs typeface="Palatino Linotype" panose="02040502050505030304"/>
              </a:rPr>
              <a:t>the</a:t>
            </a:r>
            <a:r>
              <a:rPr sz="2000" u="sng" spc="-20" dirty="0">
                <a:solidFill>
                  <a:sysClr val="windowText" lastClr="000000"/>
                </a:solidFill>
                <a:uFill>
                  <a:solidFill>
                    <a:srgbClr val="000000"/>
                  </a:solidFill>
                </a:uFill>
                <a:latin typeface="Palatino Linotype" panose="02040502050505030304"/>
                <a:cs typeface="Palatino Linotype" panose="02040502050505030304"/>
              </a:rPr>
              <a:t> </a:t>
            </a:r>
            <a:r>
              <a:rPr sz="2000" u="sng" dirty="0">
                <a:solidFill>
                  <a:sysClr val="windowText" lastClr="000000"/>
                </a:solidFill>
                <a:uFill>
                  <a:solidFill>
                    <a:srgbClr val="000000"/>
                  </a:solidFill>
                </a:uFill>
                <a:latin typeface="Palatino Linotype" panose="02040502050505030304"/>
                <a:cs typeface="Palatino Linotype" panose="02040502050505030304"/>
              </a:rPr>
              <a:t>operator</a:t>
            </a:r>
            <a:r>
              <a:rPr sz="2000" u="sng" spc="-50" dirty="0">
                <a:solidFill>
                  <a:sysClr val="windowText" lastClr="000000"/>
                </a:solidFill>
                <a:uFill>
                  <a:solidFill>
                    <a:srgbClr val="000000"/>
                  </a:solidFill>
                </a:uFill>
                <a:latin typeface="Palatino Linotype" panose="02040502050505030304"/>
                <a:cs typeface="Palatino Linotype" panose="02040502050505030304"/>
              </a:rPr>
              <a:t> </a:t>
            </a:r>
            <a:r>
              <a:rPr sz="2000" u="sng" dirty="0">
                <a:solidFill>
                  <a:sysClr val="windowText" lastClr="000000"/>
                </a:solidFill>
                <a:uFill>
                  <a:solidFill>
                    <a:srgbClr val="000000"/>
                  </a:solidFill>
                </a:uFill>
                <a:latin typeface="Palatino Linotype" panose="02040502050505030304"/>
                <a:cs typeface="Palatino Linotype" panose="02040502050505030304"/>
              </a:rPr>
              <a:t>and</a:t>
            </a:r>
            <a:r>
              <a:rPr sz="2000" u="sng" spc="-20" dirty="0">
                <a:solidFill>
                  <a:sysClr val="windowText" lastClr="000000"/>
                </a:solidFill>
                <a:uFill>
                  <a:solidFill>
                    <a:srgbClr val="000000"/>
                  </a:solidFill>
                </a:uFill>
                <a:latin typeface="Palatino Linotype" panose="02040502050505030304"/>
                <a:cs typeface="Palatino Linotype" panose="02040502050505030304"/>
              </a:rPr>
              <a:t> </a:t>
            </a:r>
            <a:r>
              <a:rPr sz="2000" u="sng" dirty="0">
                <a:solidFill>
                  <a:sysClr val="windowText" lastClr="000000"/>
                </a:solidFill>
                <a:uFill>
                  <a:solidFill>
                    <a:srgbClr val="000000"/>
                  </a:solidFill>
                </a:uFill>
                <a:latin typeface="Palatino Linotype" panose="02040502050505030304"/>
                <a:cs typeface="Palatino Linotype" panose="02040502050505030304"/>
              </a:rPr>
              <a:t>the</a:t>
            </a:r>
            <a:r>
              <a:rPr sz="2000" u="sng" spc="-20" dirty="0">
                <a:solidFill>
                  <a:sysClr val="windowText" lastClr="000000"/>
                </a:solidFill>
                <a:uFill>
                  <a:solidFill>
                    <a:srgbClr val="000000"/>
                  </a:solidFill>
                </a:uFill>
                <a:latin typeface="Palatino Linotype" panose="02040502050505030304"/>
                <a:cs typeface="Palatino Linotype" panose="02040502050505030304"/>
              </a:rPr>
              <a:t> </a:t>
            </a:r>
            <a:r>
              <a:rPr sz="2000" u="sng" spc="-10" dirty="0">
                <a:solidFill>
                  <a:sysClr val="windowText" lastClr="000000"/>
                </a:solidFill>
                <a:uFill>
                  <a:solidFill>
                    <a:srgbClr val="000000"/>
                  </a:solidFill>
                </a:uFill>
                <a:latin typeface="Palatino Linotype" panose="02040502050505030304"/>
                <a:cs typeface="Palatino Linotype" panose="02040502050505030304"/>
              </a:rPr>
              <a:t>operands</a:t>
            </a:r>
            <a:endParaRPr sz="2000">
              <a:solidFill>
                <a:sysClr val="windowText" lastClr="000000"/>
              </a:solidFill>
              <a:latin typeface="Palatino Linotype" panose="02040502050505030304"/>
              <a:cs typeface="Palatino Linotype" panose="02040502050505030304"/>
            </a:endParaRPr>
          </a:p>
          <a:p>
            <a:pPr indent="0">
              <a:spcBef>
                <a:spcPts val="185"/>
              </a:spcBef>
              <a:buFont typeface="Arial MT"/>
              <a:buNone/>
            </a:pPr>
            <a:endParaRPr sz="2000">
              <a:solidFill>
                <a:sysClr val="windowText" lastClr="000000"/>
              </a:solidFill>
              <a:latin typeface="Palatino Linotype" panose="02040502050505030304"/>
              <a:cs typeface="Palatino Linotype" panose="02040502050505030304"/>
            </a:endParaRPr>
          </a:p>
          <a:p>
            <a:pPr marL="242570" indent="-229870">
              <a:buFont typeface="Arial MT"/>
              <a:buChar char="•"/>
              <a:tabLst>
                <a:tab pos="242570" algn="l"/>
              </a:tabLst>
            </a:pPr>
            <a:r>
              <a:rPr sz="2000" dirty="0">
                <a:solidFill>
                  <a:sysClr val="windowText" lastClr="000000"/>
                </a:solidFill>
                <a:latin typeface="Palatino Linotype" panose="02040502050505030304"/>
                <a:cs typeface="Palatino Linotype" panose="02040502050505030304"/>
              </a:rPr>
              <a:t>Three</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typical</a:t>
            </a:r>
            <a:r>
              <a:rPr sz="2000" spc="-35"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representations:</a:t>
            </a:r>
            <a:endParaRPr sz="2000">
              <a:solidFill>
                <a:sysClr val="windowText" lastClr="000000"/>
              </a:solidFill>
              <a:latin typeface="Palatino Linotype" panose="02040502050505030304"/>
              <a:cs typeface="Palatino Linotype" panose="02040502050505030304"/>
            </a:endParaRPr>
          </a:p>
          <a:p>
            <a:pPr marL="697865" lvl="1" indent="-227965">
              <a:spcBef>
                <a:spcPts val="1645"/>
              </a:spcBef>
              <a:buClr>
                <a:srgbClr val="000000"/>
              </a:buClr>
              <a:buFont typeface="Wingdings" panose="05000000000000000000"/>
              <a:buChar char=""/>
              <a:tabLst>
                <a:tab pos="697865" algn="l"/>
              </a:tabLst>
            </a:pPr>
            <a:r>
              <a:rPr sz="1600" dirty="0">
                <a:solidFill>
                  <a:srgbClr val="FF0000"/>
                </a:solidFill>
                <a:latin typeface="Palatino Linotype" panose="02040502050505030304"/>
                <a:cs typeface="Palatino Linotype" panose="02040502050505030304"/>
              </a:rPr>
              <a:t>Quadruples</a:t>
            </a:r>
            <a:r>
              <a:rPr sz="1600" spc="35" dirty="0">
                <a:solidFill>
                  <a:srgbClr val="FF0000"/>
                </a:solidFill>
                <a:latin typeface="Palatino Linotype" panose="02040502050505030304"/>
                <a:cs typeface="Palatino Linotype" panose="02040502050505030304"/>
              </a:rPr>
              <a:t> </a:t>
            </a:r>
            <a:r>
              <a:rPr sz="1600" spc="-25" dirty="0">
                <a:solidFill>
                  <a:sysClr val="windowText" lastClr="000000"/>
                </a:solidFill>
                <a:latin typeface="Palatino Linotype" panose="02040502050505030304"/>
                <a:cs typeface="Palatino Linotype" panose="02040502050505030304"/>
              </a:rPr>
              <a:t>(</a:t>
            </a:r>
            <a:r>
              <a:rPr sz="1600" spc="-25" dirty="0">
                <a:solidFill>
                  <a:sysClr val="windowText" lastClr="000000"/>
                </a:solidFill>
                <a:latin typeface="宋体" panose="02010600030101010101" pitchFamily="2" charset="-122"/>
                <a:cs typeface="宋体" panose="02010600030101010101" pitchFamily="2" charset="-122"/>
              </a:rPr>
              <a:t>四元式表示方法</a:t>
            </a:r>
            <a:r>
              <a:rPr sz="1600" spc="-50" dirty="0">
                <a:solidFill>
                  <a:sysClr val="windowText" lastClr="000000"/>
                </a:solidFill>
                <a:latin typeface="Palatino Linotype" panose="02040502050505030304"/>
                <a:cs typeface="Palatino Linotype" panose="02040502050505030304"/>
              </a:rPr>
              <a:t>)</a:t>
            </a:r>
            <a:endParaRPr sz="1600">
              <a:solidFill>
                <a:sysClr val="windowText" lastClr="000000"/>
              </a:solidFill>
              <a:latin typeface="Palatino Linotype" panose="02040502050505030304"/>
              <a:cs typeface="Palatino Linotype" panose="02040502050505030304"/>
            </a:endParaRPr>
          </a:p>
          <a:p>
            <a:pPr marL="697865" lvl="1" indent="-227965">
              <a:spcBef>
                <a:spcPts val="1585"/>
              </a:spcBef>
              <a:buClr>
                <a:srgbClr val="000000"/>
              </a:buClr>
              <a:buFont typeface="Wingdings" panose="05000000000000000000"/>
              <a:buChar char=""/>
              <a:tabLst>
                <a:tab pos="697865" algn="l"/>
              </a:tabLst>
            </a:pPr>
            <a:r>
              <a:rPr sz="1600" spc="-10" dirty="0">
                <a:solidFill>
                  <a:srgbClr val="FF0000"/>
                </a:solidFill>
                <a:latin typeface="Palatino Linotype" panose="02040502050505030304"/>
                <a:cs typeface="Palatino Linotype" panose="02040502050505030304"/>
              </a:rPr>
              <a:t>Triples</a:t>
            </a:r>
            <a:r>
              <a:rPr sz="1600" dirty="0">
                <a:solidFill>
                  <a:srgbClr val="FF0000"/>
                </a:solidFill>
                <a:latin typeface="Palatino Linotype" panose="02040502050505030304"/>
                <a:cs typeface="Palatino Linotype" panose="02040502050505030304"/>
              </a:rPr>
              <a:t> </a:t>
            </a:r>
            <a:r>
              <a:rPr sz="1600" spc="-25" dirty="0">
                <a:solidFill>
                  <a:sysClr val="windowText" lastClr="000000"/>
                </a:solidFill>
                <a:latin typeface="Palatino Linotype" panose="02040502050505030304"/>
                <a:cs typeface="Palatino Linotype" panose="02040502050505030304"/>
              </a:rPr>
              <a:t>(</a:t>
            </a:r>
            <a:r>
              <a:rPr sz="1600" spc="-25" dirty="0">
                <a:solidFill>
                  <a:sysClr val="windowText" lastClr="000000"/>
                </a:solidFill>
                <a:latin typeface="宋体" panose="02010600030101010101" pitchFamily="2" charset="-122"/>
                <a:cs typeface="宋体" panose="02010600030101010101" pitchFamily="2" charset="-122"/>
              </a:rPr>
              <a:t>三元式表示方法</a:t>
            </a:r>
            <a:r>
              <a:rPr sz="1600" spc="-50" dirty="0">
                <a:solidFill>
                  <a:sysClr val="windowText" lastClr="000000"/>
                </a:solidFill>
                <a:latin typeface="Palatino Linotype" panose="02040502050505030304"/>
                <a:cs typeface="Palatino Linotype" panose="02040502050505030304"/>
              </a:rPr>
              <a:t>)</a:t>
            </a:r>
            <a:endParaRPr sz="1600">
              <a:solidFill>
                <a:sysClr val="windowText" lastClr="000000"/>
              </a:solidFill>
              <a:latin typeface="Palatino Linotype" panose="02040502050505030304"/>
              <a:cs typeface="Palatino Linotype" panose="02040502050505030304"/>
            </a:endParaRPr>
          </a:p>
          <a:p>
            <a:pPr marL="697865" lvl="1" indent="-227965">
              <a:spcBef>
                <a:spcPts val="1585"/>
              </a:spcBef>
              <a:buClr>
                <a:srgbClr val="000000"/>
              </a:buClr>
              <a:buFont typeface="Wingdings" panose="05000000000000000000"/>
              <a:buChar char=""/>
              <a:tabLst>
                <a:tab pos="697865" algn="l"/>
              </a:tabLst>
            </a:pPr>
            <a:r>
              <a:rPr sz="1600" dirty="0">
                <a:solidFill>
                  <a:srgbClr val="FF0000"/>
                </a:solidFill>
                <a:latin typeface="Palatino Linotype" panose="02040502050505030304"/>
                <a:cs typeface="Palatino Linotype" panose="02040502050505030304"/>
              </a:rPr>
              <a:t>Indirect</a:t>
            </a:r>
            <a:r>
              <a:rPr sz="1600" spc="15"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triples</a:t>
            </a:r>
            <a:r>
              <a:rPr sz="1600" spc="5" dirty="0">
                <a:solidFill>
                  <a:srgbClr val="FF0000"/>
                </a:solidFill>
                <a:latin typeface="Palatino Linotype" panose="02040502050505030304"/>
                <a:cs typeface="Palatino Linotype" panose="02040502050505030304"/>
              </a:rPr>
              <a:t> </a:t>
            </a:r>
            <a:r>
              <a:rPr sz="1600" spc="-25" dirty="0">
                <a:solidFill>
                  <a:sysClr val="windowText" lastClr="000000"/>
                </a:solidFill>
                <a:latin typeface="Palatino Linotype" panose="02040502050505030304"/>
                <a:cs typeface="Palatino Linotype" panose="02040502050505030304"/>
              </a:rPr>
              <a:t>(</a:t>
            </a:r>
            <a:r>
              <a:rPr sz="1600" spc="-25" dirty="0">
                <a:solidFill>
                  <a:sysClr val="windowText" lastClr="000000"/>
                </a:solidFill>
                <a:latin typeface="宋体" panose="02010600030101010101" pitchFamily="2" charset="-122"/>
                <a:cs typeface="宋体" panose="02010600030101010101" pitchFamily="2" charset="-122"/>
              </a:rPr>
              <a:t>间接三元式表示方法</a:t>
            </a:r>
            <a:r>
              <a:rPr sz="1600" spc="-50" dirty="0">
                <a:solidFill>
                  <a:sysClr val="windowText" lastClr="000000"/>
                </a:solidFill>
                <a:latin typeface="Palatino Linotype" panose="02040502050505030304"/>
                <a:cs typeface="Palatino Linotype" panose="02040502050505030304"/>
              </a:rPr>
              <a:t>)</a:t>
            </a:r>
            <a:endParaRPr sz="1600">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17</a:t>
            </a:fld>
            <a:endParaRPr lang="en-US"/>
          </a:p>
        </p:txBody>
      </p:sp>
      <p:sp>
        <p:nvSpPr>
          <p:cNvPr id="7"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Quadruples</a:t>
            </a:r>
            <a:r>
              <a:rPr kumimoji="0" lang="en-US" sz="4000" b="1" i="0" u="none" strike="noStrike" kern="0" cap="none" spc="-40" normalizeH="0" baseline="0" noProof="0">
                <a:ln>
                  <a:noFill/>
                </a:ln>
                <a:solidFill>
                  <a:srgbClr val="000000"/>
                </a:solidFill>
                <a:effectLst/>
                <a:uLnTx/>
                <a:uFillTx/>
                <a:latin typeface="Palatino Linotype" panose="02040502050505030304"/>
                <a:ea typeface="+mj-ea"/>
              </a:rPr>
              <a:t> (</a:t>
            </a:r>
            <a:r>
              <a:rPr kumimoji="0" lang="zh-CN" altLang="en-US" sz="4000" b="0" i="0" u="none" strike="noStrike" kern="0" cap="none" spc="-35"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rPr>
              <a:t>四元式</a:t>
            </a:r>
            <a:r>
              <a:rPr kumimoji="0" lang="en-US" altLang="zh-CN" sz="4000" b="1" i="0" u="none" strike="noStrike" kern="0" cap="none" spc="-50" normalizeH="0" baseline="0" noProof="0">
                <a:ln>
                  <a:noFill/>
                </a:ln>
                <a:solidFill>
                  <a:srgbClr val="000000"/>
                </a:solidFill>
                <a:effectLst/>
                <a:uLnTx/>
                <a:uFillTx/>
                <a:latin typeface="Palatino Linotype" panose="02040502050505030304"/>
                <a:ea typeface="宋体" panose="02010600030101010101" pitchFamily="2" charset="-122"/>
              </a:rPr>
              <a:t>)</a:t>
            </a:r>
            <a:endParaRPr kumimoji="0" lang="en-US" altLang="zh-CN" sz="4000" b="1" i="0" u="none" strike="noStrike" kern="0" cap="none" spc="-50" normalizeH="0" baseline="0" noProof="0" dirty="0">
              <a:ln>
                <a:noFill/>
              </a:ln>
              <a:solidFill>
                <a:srgbClr val="000000"/>
              </a:solidFill>
              <a:effectLst/>
              <a:uLnTx/>
              <a:uFillTx/>
              <a:latin typeface="Palatino Linotype" panose="02040502050505030304"/>
              <a:ea typeface="宋体" panose="02010600030101010101" pitchFamily="2" charset="-122"/>
            </a:endParaRPr>
          </a:p>
        </p:txBody>
      </p:sp>
      <p:sp>
        <p:nvSpPr>
          <p:cNvPr id="8" name="object 3"/>
          <p:cNvSpPr txBox="1"/>
          <p:nvPr/>
        </p:nvSpPr>
        <p:spPr>
          <a:xfrm>
            <a:off x="605942" y="1653667"/>
            <a:ext cx="7251700" cy="4123690"/>
          </a:xfrm>
          <a:prstGeom prst="rect">
            <a:avLst/>
          </a:prstGeom>
        </p:spPr>
        <p:txBody>
          <a:bodyPr vert="horz" wrap="square" lIns="0" tIns="13335" rIns="0" bIns="0" rtlCol="0">
            <a:spAutoFit/>
          </a:bodyPr>
          <a:lstStyle/>
          <a:p>
            <a:pPr marL="344170" indent="-229870">
              <a:spcBef>
                <a:spcPts val="105"/>
              </a:spcBef>
              <a:buFont typeface="Arial MT"/>
              <a:buChar char="•"/>
              <a:tabLst>
                <a:tab pos="344170" algn="l"/>
              </a:tabLst>
            </a:pPr>
            <a:r>
              <a:rPr sz="2000" dirty="0">
                <a:solidFill>
                  <a:sysClr val="windowText" lastClr="000000"/>
                </a:solidFill>
                <a:latin typeface="Palatino Linotype" panose="02040502050505030304"/>
                <a:cs typeface="Palatino Linotype" panose="02040502050505030304"/>
              </a:rPr>
              <a:t>A</a:t>
            </a:r>
            <a:r>
              <a:rPr sz="2000" spc="-140" dirty="0">
                <a:solidFill>
                  <a:sysClr val="windowText" lastClr="000000"/>
                </a:solidFill>
                <a:latin typeface="Palatino Linotype" panose="02040502050505030304"/>
                <a:cs typeface="Palatino Linotype" panose="02040502050505030304"/>
              </a:rPr>
              <a:t> </a:t>
            </a:r>
            <a:r>
              <a:rPr sz="2000" i="1" dirty="0">
                <a:solidFill>
                  <a:srgbClr val="FF0000"/>
                </a:solidFill>
                <a:latin typeface="Palatino Linotype" panose="02040502050505030304"/>
                <a:cs typeface="Palatino Linotype" panose="02040502050505030304"/>
              </a:rPr>
              <a:t>quadruple</a:t>
            </a:r>
            <a:r>
              <a:rPr sz="2000" i="1" spc="-35" dirty="0">
                <a:solidFill>
                  <a:srgbClr val="FF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(or</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t>
            </a:r>
            <a:r>
              <a:rPr sz="2000" i="1" dirty="0">
                <a:solidFill>
                  <a:srgbClr val="FF0000"/>
                </a:solidFill>
                <a:latin typeface="Palatino Linotype" panose="02040502050505030304"/>
                <a:cs typeface="Palatino Linotype" panose="02040502050505030304"/>
              </a:rPr>
              <a:t>quad</a:t>
            </a:r>
            <a:r>
              <a:rPr sz="2000" dirty="0">
                <a:solidFill>
                  <a:sysClr val="windowText" lastClr="000000"/>
                </a:solidFill>
                <a:latin typeface="Palatino Linotype" panose="02040502050505030304"/>
                <a:cs typeface="Palatino Linotype" panose="02040502050505030304"/>
              </a:rPr>
              <a:t>”)</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has four</a:t>
            </a:r>
            <a:r>
              <a:rPr sz="2000" spc="-25"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fields</a:t>
            </a:r>
            <a:endParaRPr sz="2000">
              <a:solidFill>
                <a:sysClr val="windowText" lastClr="000000"/>
              </a:solidFill>
              <a:latin typeface="Palatino Linotype" panose="02040502050505030304"/>
              <a:cs typeface="Palatino Linotype" panose="02040502050505030304"/>
            </a:endParaRPr>
          </a:p>
          <a:p>
            <a:pPr marL="799465" lvl="1" indent="-227965">
              <a:spcBef>
                <a:spcPts val="1645"/>
              </a:spcBef>
              <a:buFont typeface="Wingdings" panose="05000000000000000000"/>
              <a:buChar char=""/>
              <a:tabLst>
                <a:tab pos="799465" algn="l"/>
              </a:tabLst>
            </a:pPr>
            <a:r>
              <a:rPr sz="1600" dirty="0">
                <a:solidFill>
                  <a:sysClr val="windowText" lastClr="000000"/>
                </a:solidFill>
                <a:latin typeface="Palatino Linotype" panose="02040502050505030304"/>
                <a:cs typeface="Palatino Linotype" panose="02040502050505030304"/>
              </a:rPr>
              <a:t>General</a:t>
            </a:r>
            <a:r>
              <a:rPr sz="1600" spc="-4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form:</a:t>
            </a:r>
            <a:r>
              <a:rPr sz="1600" spc="-15" dirty="0">
                <a:solidFill>
                  <a:sysClr val="windowText" lastClr="000000"/>
                </a:solidFill>
                <a:latin typeface="Palatino Linotype" panose="02040502050505030304"/>
                <a:cs typeface="Palatino Linotype" panose="02040502050505030304"/>
              </a:rPr>
              <a:t> </a:t>
            </a:r>
            <a:r>
              <a:rPr sz="1600" i="1" dirty="0">
                <a:solidFill>
                  <a:srgbClr val="FF0000"/>
                </a:solidFill>
                <a:latin typeface="Palatino Linotype" panose="02040502050505030304"/>
                <a:cs typeface="Palatino Linotype" panose="02040502050505030304"/>
              </a:rPr>
              <a:t>op</a:t>
            </a:r>
            <a:r>
              <a:rPr sz="1600" i="1" spc="-30" dirty="0">
                <a:solidFill>
                  <a:srgbClr val="FF0000"/>
                </a:solidFill>
                <a:latin typeface="Palatino Linotype" panose="02040502050505030304"/>
                <a:cs typeface="Palatino Linotype" panose="02040502050505030304"/>
              </a:rPr>
              <a:t> </a:t>
            </a:r>
            <a:r>
              <a:rPr sz="1600" i="1" dirty="0">
                <a:solidFill>
                  <a:srgbClr val="FF0000"/>
                </a:solidFill>
                <a:latin typeface="Palatino Linotype" panose="02040502050505030304"/>
                <a:cs typeface="Palatino Linotype" panose="02040502050505030304"/>
              </a:rPr>
              <a:t>arg</a:t>
            </a:r>
            <a:r>
              <a:rPr sz="1575" baseline="-21000" dirty="0">
                <a:solidFill>
                  <a:srgbClr val="FF0000"/>
                </a:solidFill>
                <a:latin typeface="Palatino Linotype" panose="02040502050505030304"/>
                <a:cs typeface="Palatino Linotype" panose="02040502050505030304"/>
              </a:rPr>
              <a:t>1</a:t>
            </a:r>
            <a:r>
              <a:rPr sz="1575" spc="135" baseline="-21000" dirty="0">
                <a:solidFill>
                  <a:srgbClr val="FF0000"/>
                </a:solidFill>
                <a:latin typeface="Palatino Linotype" panose="02040502050505030304"/>
                <a:cs typeface="Palatino Linotype" panose="02040502050505030304"/>
              </a:rPr>
              <a:t> </a:t>
            </a:r>
            <a:r>
              <a:rPr sz="1600" i="1" dirty="0">
                <a:solidFill>
                  <a:srgbClr val="FF0000"/>
                </a:solidFill>
                <a:latin typeface="Palatino Linotype" panose="02040502050505030304"/>
                <a:cs typeface="Palatino Linotype" panose="02040502050505030304"/>
              </a:rPr>
              <a:t>arg</a:t>
            </a:r>
            <a:r>
              <a:rPr sz="1575" baseline="-21000" dirty="0">
                <a:solidFill>
                  <a:srgbClr val="FF0000"/>
                </a:solidFill>
                <a:latin typeface="Palatino Linotype" panose="02040502050505030304"/>
                <a:cs typeface="Palatino Linotype" panose="02040502050505030304"/>
              </a:rPr>
              <a:t>2</a:t>
            </a:r>
            <a:r>
              <a:rPr sz="1575" spc="150" baseline="-21000" dirty="0">
                <a:solidFill>
                  <a:srgbClr val="FF0000"/>
                </a:solidFill>
                <a:latin typeface="Palatino Linotype" panose="02040502050505030304"/>
                <a:cs typeface="Palatino Linotype" panose="02040502050505030304"/>
              </a:rPr>
              <a:t> </a:t>
            </a:r>
            <a:r>
              <a:rPr sz="1600" i="1" spc="-10" dirty="0">
                <a:solidFill>
                  <a:srgbClr val="FF0000"/>
                </a:solidFill>
                <a:latin typeface="Palatino Linotype" panose="02040502050505030304"/>
                <a:cs typeface="Palatino Linotype" panose="02040502050505030304"/>
              </a:rPr>
              <a:t>result</a:t>
            </a:r>
            <a:endParaRPr sz="1600">
              <a:solidFill>
                <a:sysClr val="windowText" lastClr="000000"/>
              </a:solidFill>
              <a:latin typeface="Palatino Linotype" panose="02040502050505030304"/>
              <a:cs typeface="Palatino Linotype" panose="02040502050505030304"/>
            </a:endParaRPr>
          </a:p>
          <a:p>
            <a:pPr marL="799465" lvl="1" indent="-227965">
              <a:spcBef>
                <a:spcPts val="1585"/>
              </a:spcBef>
              <a:buFont typeface="Wingdings" panose="05000000000000000000"/>
              <a:buChar char=""/>
              <a:tabLst>
                <a:tab pos="799465" algn="l"/>
              </a:tabLst>
            </a:pPr>
            <a:r>
              <a:rPr sz="1600" i="1" dirty="0">
                <a:solidFill>
                  <a:sysClr val="windowText" lastClr="000000"/>
                </a:solidFill>
                <a:latin typeface="Palatino Linotype" panose="02040502050505030304"/>
                <a:cs typeface="Palatino Linotype" panose="02040502050505030304"/>
              </a:rPr>
              <a:t>op</a:t>
            </a:r>
            <a:r>
              <a:rPr sz="1600" i="1"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contains</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an</a:t>
            </a:r>
            <a:r>
              <a:rPr sz="1600" spc="-20" dirty="0">
                <a:solidFill>
                  <a:sysClr val="windowText" lastClr="000000"/>
                </a:solidFill>
                <a:latin typeface="Palatino Linotype" panose="02040502050505030304"/>
                <a:cs typeface="Palatino Linotype" panose="02040502050505030304"/>
              </a:rPr>
              <a:t> </a:t>
            </a:r>
            <a:r>
              <a:rPr sz="1600" dirty="0">
                <a:solidFill>
                  <a:srgbClr val="0431FF"/>
                </a:solidFill>
                <a:latin typeface="Palatino Linotype" panose="02040502050505030304"/>
                <a:cs typeface="Palatino Linotype" panose="02040502050505030304"/>
              </a:rPr>
              <a:t>internal</a:t>
            </a:r>
            <a:r>
              <a:rPr sz="1600" spc="-25" dirty="0">
                <a:solidFill>
                  <a:srgbClr val="0431FF"/>
                </a:solidFill>
                <a:latin typeface="Palatino Linotype" panose="02040502050505030304"/>
                <a:cs typeface="Palatino Linotype" panose="02040502050505030304"/>
              </a:rPr>
              <a:t> </a:t>
            </a:r>
            <a:r>
              <a:rPr sz="1600" dirty="0">
                <a:solidFill>
                  <a:srgbClr val="0431FF"/>
                </a:solidFill>
                <a:latin typeface="Palatino Linotype" panose="02040502050505030304"/>
                <a:cs typeface="Palatino Linotype" panose="02040502050505030304"/>
              </a:rPr>
              <a:t>code</a:t>
            </a:r>
            <a:r>
              <a:rPr sz="1600" spc="-25" dirty="0">
                <a:solidFill>
                  <a:srgbClr val="0431FF"/>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for</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a:t>
            </a:r>
            <a:r>
              <a:rPr sz="1600" spc="-20"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operator</a:t>
            </a:r>
            <a:endParaRPr sz="1600">
              <a:solidFill>
                <a:sysClr val="windowText" lastClr="000000"/>
              </a:solidFill>
              <a:latin typeface="Palatino Linotype" panose="02040502050505030304"/>
              <a:cs typeface="Palatino Linotype" panose="02040502050505030304"/>
            </a:endParaRPr>
          </a:p>
          <a:p>
            <a:pPr marL="799465" lvl="1" indent="-227965">
              <a:spcBef>
                <a:spcPts val="1585"/>
              </a:spcBef>
              <a:buFont typeface="Wingdings" panose="05000000000000000000"/>
              <a:buChar char=""/>
              <a:tabLst>
                <a:tab pos="799465" algn="l"/>
              </a:tabLst>
            </a:pPr>
            <a:r>
              <a:rPr sz="1600" i="1" dirty="0">
                <a:solidFill>
                  <a:sysClr val="windowText" lastClr="000000"/>
                </a:solidFill>
                <a:latin typeface="Palatino Linotype" panose="02040502050505030304"/>
                <a:cs typeface="Palatino Linotype" panose="02040502050505030304"/>
              </a:rPr>
              <a:t>arg</a:t>
            </a:r>
            <a:r>
              <a:rPr sz="1575" baseline="-21000" dirty="0">
                <a:solidFill>
                  <a:sysClr val="windowText" lastClr="000000"/>
                </a:solidFill>
                <a:latin typeface="Palatino Linotype" panose="02040502050505030304"/>
                <a:cs typeface="Palatino Linotype" panose="02040502050505030304"/>
              </a:rPr>
              <a:t>1</a:t>
            </a:r>
            <a:r>
              <a:rPr sz="1600" i="1" dirty="0">
                <a:solidFill>
                  <a:sysClr val="windowText" lastClr="000000"/>
                </a:solidFill>
                <a:latin typeface="Palatino Linotype" panose="02040502050505030304"/>
                <a:cs typeface="Palatino Linotype" panose="02040502050505030304"/>
              </a:rPr>
              <a:t>,</a:t>
            </a:r>
            <a:r>
              <a:rPr sz="1600" i="1" spc="-55" dirty="0">
                <a:solidFill>
                  <a:sysClr val="windowText" lastClr="000000"/>
                </a:solidFill>
                <a:latin typeface="Palatino Linotype" panose="02040502050505030304"/>
                <a:cs typeface="Palatino Linotype" panose="02040502050505030304"/>
              </a:rPr>
              <a:t> </a:t>
            </a:r>
            <a:r>
              <a:rPr sz="1600" i="1" dirty="0">
                <a:solidFill>
                  <a:sysClr val="windowText" lastClr="000000"/>
                </a:solidFill>
                <a:latin typeface="Palatino Linotype" panose="02040502050505030304"/>
                <a:cs typeface="Palatino Linotype" panose="02040502050505030304"/>
              </a:rPr>
              <a:t>arg</a:t>
            </a:r>
            <a:r>
              <a:rPr sz="1575" baseline="-21000" dirty="0">
                <a:solidFill>
                  <a:sysClr val="windowText" lastClr="000000"/>
                </a:solidFill>
                <a:latin typeface="Palatino Linotype" panose="02040502050505030304"/>
                <a:cs typeface="Palatino Linotype" panose="02040502050505030304"/>
              </a:rPr>
              <a:t>2</a:t>
            </a:r>
            <a:r>
              <a:rPr sz="1600" i="1" dirty="0">
                <a:solidFill>
                  <a:sysClr val="windowText" lastClr="000000"/>
                </a:solidFill>
                <a:latin typeface="Palatino Linotype" panose="02040502050505030304"/>
                <a:cs typeface="Palatino Linotype" panose="02040502050505030304"/>
              </a:rPr>
              <a:t>,</a:t>
            </a:r>
            <a:r>
              <a:rPr sz="1600" i="1" spc="-55" dirty="0">
                <a:solidFill>
                  <a:sysClr val="windowText" lastClr="000000"/>
                </a:solidFill>
                <a:latin typeface="Palatino Linotype" panose="02040502050505030304"/>
                <a:cs typeface="Palatino Linotype" panose="02040502050505030304"/>
              </a:rPr>
              <a:t> </a:t>
            </a:r>
            <a:r>
              <a:rPr sz="1600" i="1" dirty="0">
                <a:solidFill>
                  <a:sysClr val="windowText" lastClr="000000"/>
                </a:solidFill>
                <a:latin typeface="Palatino Linotype" panose="02040502050505030304"/>
                <a:cs typeface="Palatino Linotype" panose="02040502050505030304"/>
              </a:rPr>
              <a:t>result</a:t>
            </a:r>
            <a:r>
              <a:rPr sz="1600" i="1"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are</a:t>
            </a:r>
            <a:r>
              <a:rPr sz="1600" spc="-55" dirty="0">
                <a:solidFill>
                  <a:sysClr val="windowText" lastClr="000000"/>
                </a:solidFill>
                <a:latin typeface="Palatino Linotype" panose="02040502050505030304"/>
                <a:cs typeface="Palatino Linotype" panose="02040502050505030304"/>
              </a:rPr>
              <a:t> </a:t>
            </a:r>
            <a:r>
              <a:rPr sz="1600" dirty="0">
                <a:solidFill>
                  <a:srgbClr val="0431FF"/>
                </a:solidFill>
                <a:latin typeface="Palatino Linotype" panose="02040502050505030304"/>
                <a:cs typeface="Palatino Linotype" panose="02040502050505030304"/>
              </a:rPr>
              <a:t>addresses</a:t>
            </a:r>
            <a:r>
              <a:rPr sz="1600" spc="-35" dirty="0">
                <a:solidFill>
                  <a:srgbClr val="0431FF"/>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(operands)</a:t>
            </a:r>
            <a:endParaRPr sz="1600">
              <a:solidFill>
                <a:sysClr val="windowText" lastClr="000000"/>
              </a:solidFill>
              <a:latin typeface="Palatino Linotype" panose="02040502050505030304"/>
              <a:cs typeface="Palatino Linotype" panose="02040502050505030304"/>
            </a:endParaRPr>
          </a:p>
          <a:p>
            <a:pPr marL="799465" lvl="1" indent="-227965">
              <a:spcBef>
                <a:spcPts val="1585"/>
              </a:spcBef>
              <a:buFont typeface="Wingdings" panose="05000000000000000000"/>
              <a:buChar char=""/>
              <a:tabLst>
                <a:tab pos="799465" algn="l"/>
                <a:tab pos="3013075" algn="l"/>
                <a:tab pos="3317875" algn="l"/>
                <a:tab pos="3610610" algn="l"/>
              </a:tabLst>
            </a:pPr>
            <a:r>
              <a:rPr sz="1600" dirty="0">
                <a:solidFill>
                  <a:sysClr val="windowText" lastClr="000000"/>
                </a:solidFill>
                <a:latin typeface="Palatino Linotype" panose="02040502050505030304"/>
                <a:cs typeface="Palatino Linotype" panose="02040502050505030304"/>
              </a:rPr>
              <a:t>Example:</a:t>
            </a:r>
            <a:r>
              <a:rPr sz="1600" spc="-20" dirty="0">
                <a:solidFill>
                  <a:sysClr val="windowText" lastClr="000000"/>
                </a:solidFill>
                <a:latin typeface="Palatino Linotype" panose="02040502050505030304"/>
                <a:cs typeface="Palatino Linotype" panose="02040502050505030304"/>
              </a:rPr>
              <a:t> </a:t>
            </a:r>
            <a:r>
              <a:rPr sz="1600" i="1" dirty="0">
                <a:solidFill>
                  <a:sysClr val="windowText" lastClr="000000"/>
                </a:solidFill>
                <a:latin typeface="Palatino Linotype" panose="02040502050505030304"/>
                <a:cs typeface="Palatino Linotype" panose="02040502050505030304"/>
              </a:rPr>
              <a:t>x</a:t>
            </a:r>
            <a:r>
              <a:rPr sz="1600" i="1" spc="-15" dirty="0">
                <a:solidFill>
                  <a:sysClr val="windowText" lastClr="000000"/>
                </a:solidFill>
                <a:latin typeface="Palatino Linotype" panose="02040502050505030304"/>
                <a:cs typeface="Palatino Linotype" panose="02040502050505030304"/>
              </a:rPr>
              <a:t> </a:t>
            </a:r>
            <a:r>
              <a:rPr sz="1600" i="1" dirty="0">
                <a:solidFill>
                  <a:sysClr val="windowText" lastClr="000000"/>
                </a:solidFill>
                <a:latin typeface="Palatino Linotype" panose="02040502050505030304"/>
                <a:cs typeface="Palatino Linotype" panose="02040502050505030304"/>
              </a:rPr>
              <a:t>=</a:t>
            </a:r>
            <a:r>
              <a:rPr sz="1600" i="1" spc="-20" dirty="0">
                <a:solidFill>
                  <a:sysClr val="windowText" lastClr="000000"/>
                </a:solidFill>
                <a:latin typeface="Palatino Linotype" panose="02040502050505030304"/>
                <a:cs typeface="Palatino Linotype" panose="02040502050505030304"/>
              </a:rPr>
              <a:t> </a:t>
            </a:r>
            <a:r>
              <a:rPr sz="1600" i="1" dirty="0">
                <a:solidFill>
                  <a:sysClr val="windowText" lastClr="000000"/>
                </a:solidFill>
                <a:latin typeface="Palatino Linotype" panose="02040502050505030304"/>
                <a:cs typeface="Palatino Linotype" panose="02040502050505030304"/>
              </a:rPr>
              <a:t>y</a:t>
            </a:r>
            <a:r>
              <a:rPr sz="1600" i="1" spc="-10" dirty="0">
                <a:solidFill>
                  <a:sysClr val="windowText" lastClr="000000"/>
                </a:solidFill>
                <a:latin typeface="Palatino Linotype" panose="02040502050505030304"/>
                <a:cs typeface="Palatino Linotype" panose="02040502050505030304"/>
              </a:rPr>
              <a:t> </a:t>
            </a:r>
            <a:r>
              <a:rPr sz="1600" i="1" dirty="0">
                <a:solidFill>
                  <a:sysClr val="windowText" lastClr="000000"/>
                </a:solidFill>
                <a:latin typeface="Palatino Linotype" panose="02040502050505030304"/>
                <a:cs typeface="Palatino Linotype" panose="02040502050505030304"/>
              </a:rPr>
              <a:t>+</a:t>
            </a:r>
            <a:r>
              <a:rPr sz="1600" i="1" spc="-20" dirty="0">
                <a:solidFill>
                  <a:sysClr val="windowText" lastClr="000000"/>
                </a:solidFill>
                <a:latin typeface="Palatino Linotype" panose="02040502050505030304"/>
                <a:cs typeface="Palatino Linotype" panose="02040502050505030304"/>
              </a:rPr>
              <a:t> </a:t>
            </a:r>
            <a:r>
              <a:rPr sz="1600" i="1" dirty="0">
                <a:solidFill>
                  <a:sysClr val="windowText" lastClr="000000"/>
                </a:solidFill>
                <a:latin typeface="Palatino Linotype" panose="02040502050505030304"/>
                <a:cs typeface="Palatino Linotype" panose="02040502050505030304"/>
              </a:rPr>
              <a:t>z</a:t>
            </a:r>
            <a:r>
              <a:rPr sz="1600" i="1" spc="-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Wingdings" panose="05000000000000000000"/>
                <a:cs typeface="Wingdings" panose="05000000000000000000"/>
              </a:rPr>
              <a:t></a:t>
            </a:r>
            <a:r>
              <a:rPr sz="1600" spc="-10" dirty="0">
                <a:solidFill>
                  <a:sysClr val="windowText" lastClr="000000"/>
                </a:solidFill>
                <a:latin typeface="Times New Roman" panose="02020603050405020304"/>
                <a:cs typeface="Times New Roman" panose="02020603050405020304"/>
              </a:rPr>
              <a:t> </a:t>
            </a:r>
            <a:r>
              <a:rPr sz="1600" i="1" spc="-50" dirty="0">
                <a:solidFill>
                  <a:sysClr val="windowText" lastClr="000000"/>
                </a:solidFill>
                <a:latin typeface="Palatino Linotype" panose="02040502050505030304"/>
                <a:cs typeface="Palatino Linotype" panose="02040502050505030304"/>
              </a:rPr>
              <a:t>+</a:t>
            </a:r>
            <a:r>
              <a:rPr sz="1600" i="1" dirty="0">
                <a:solidFill>
                  <a:sysClr val="windowText" lastClr="000000"/>
                </a:solidFill>
                <a:latin typeface="Palatino Linotype" panose="02040502050505030304"/>
                <a:cs typeface="Palatino Linotype" panose="02040502050505030304"/>
              </a:rPr>
              <a:t>	</a:t>
            </a:r>
            <a:r>
              <a:rPr sz="1600" i="1" spc="-50" dirty="0">
                <a:solidFill>
                  <a:sysClr val="windowText" lastClr="000000"/>
                </a:solidFill>
                <a:latin typeface="Palatino Linotype" panose="02040502050505030304"/>
                <a:cs typeface="Palatino Linotype" panose="02040502050505030304"/>
              </a:rPr>
              <a:t>y</a:t>
            </a:r>
            <a:r>
              <a:rPr sz="1600" i="1" dirty="0">
                <a:solidFill>
                  <a:sysClr val="windowText" lastClr="000000"/>
                </a:solidFill>
                <a:latin typeface="Palatino Linotype" panose="02040502050505030304"/>
                <a:cs typeface="Palatino Linotype" panose="02040502050505030304"/>
              </a:rPr>
              <a:t>	</a:t>
            </a:r>
            <a:r>
              <a:rPr sz="1600" i="1" spc="-50" dirty="0">
                <a:solidFill>
                  <a:sysClr val="windowText" lastClr="000000"/>
                </a:solidFill>
                <a:latin typeface="Palatino Linotype" panose="02040502050505030304"/>
                <a:cs typeface="Palatino Linotype" panose="02040502050505030304"/>
              </a:rPr>
              <a:t>z</a:t>
            </a:r>
            <a:r>
              <a:rPr sz="1600" i="1" dirty="0">
                <a:solidFill>
                  <a:sysClr val="windowText" lastClr="000000"/>
                </a:solidFill>
                <a:latin typeface="Palatino Linotype" panose="02040502050505030304"/>
                <a:cs typeface="Palatino Linotype" panose="02040502050505030304"/>
              </a:rPr>
              <a:t>	</a:t>
            </a:r>
            <a:r>
              <a:rPr sz="1600" i="1" spc="-50" dirty="0">
                <a:solidFill>
                  <a:sysClr val="windowText" lastClr="000000"/>
                </a:solidFill>
                <a:latin typeface="Palatino Linotype" panose="02040502050505030304"/>
                <a:cs typeface="Palatino Linotype" panose="02040502050505030304"/>
              </a:rPr>
              <a:t>x</a:t>
            </a:r>
            <a:endParaRPr sz="1600">
              <a:solidFill>
                <a:sysClr val="windowText" lastClr="000000"/>
              </a:solidFill>
              <a:latin typeface="Palatino Linotype" panose="02040502050505030304"/>
              <a:cs typeface="Palatino Linotype" panose="02040502050505030304"/>
            </a:endParaRPr>
          </a:p>
          <a:p>
            <a:pPr marL="0" lvl="1">
              <a:spcBef>
                <a:spcPts val="660"/>
              </a:spcBef>
              <a:buFont typeface="Wingdings" panose="05000000000000000000"/>
              <a:buChar char=""/>
            </a:pPr>
            <a:endParaRPr sz="1600">
              <a:solidFill>
                <a:sysClr val="windowText" lastClr="000000"/>
              </a:solidFill>
              <a:latin typeface="Palatino Linotype" panose="02040502050505030304"/>
              <a:cs typeface="Palatino Linotype" panose="02040502050505030304"/>
            </a:endParaRPr>
          </a:p>
          <a:p>
            <a:pPr marL="344170" indent="-229870">
              <a:buClr>
                <a:srgbClr val="000000"/>
              </a:buClr>
              <a:buFont typeface="Arial MT"/>
              <a:buChar char="•"/>
              <a:tabLst>
                <a:tab pos="344170" algn="l"/>
              </a:tabLst>
            </a:pPr>
            <a:r>
              <a:rPr sz="2000" dirty="0">
                <a:solidFill>
                  <a:srgbClr val="FF0000"/>
                </a:solidFill>
                <a:latin typeface="Palatino Linotype" panose="02040502050505030304"/>
                <a:cs typeface="Palatino Linotype" panose="02040502050505030304"/>
              </a:rPr>
              <a:t>Unary</a:t>
            </a:r>
            <a:r>
              <a:rPr sz="2000" spc="-40"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operators</a:t>
            </a:r>
            <a:r>
              <a:rPr sz="2000" spc="-15" dirty="0">
                <a:solidFill>
                  <a:srgbClr val="FF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like</a:t>
            </a:r>
            <a:r>
              <a:rPr sz="2000" spc="-5" dirty="0">
                <a:solidFill>
                  <a:sysClr val="windowText" lastClr="000000"/>
                </a:solidFill>
                <a:latin typeface="Palatino Linotype" panose="02040502050505030304"/>
                <a:cs typeface="Palatino Linotype" panose="02040502050505030304"/>
              </a:rPr>
              <a:t> </a:t>
            </a:r>
            <a:r>
              <a:rPr sz="2000" i="1" u="sng" dirty="0">
                <a:solidFill>
                  <a:srgbClr val="0431FF"/>
                </a:solidFill>
                <a:uFill>
                  <a:solidFill>
                    <a:srgbClr val="0431FF"/>
                  </a:solidFill>
                </a:uFill>
                <a:latin typeface="Palatino Linotype" panose="02040502050505030304"/>
                <a:cs typeface="Palatino Linotype" panose="02040502050505030304"/>
              </a:rPr>
              <a:t>x</a:t>
            </a:r>
            <a:r>
              <a:rPr sz="2000" i="1" u="sng" spc="-10" dirty="0">
                <a:solidFill>
                  <a:srgbClr val="0431FF"/>
                </a:solidFill>
                <a:uFill>
                  <a:solidFill>
                    <a:srgbClr val="0431FF"/>
                  </a:solidFill>
                </a:uFill>
                <a:latin typeface="Palatino Linotype" panose="02040502050505030304"/>
                <a:cs typeface="Palatino Linotype" panose="02040502050505030304"/>
              </a:rPr>
              <a:t> </a:t>
            </a:r>
            <a:r>
              <a:rPr sz="2000" i="1" u="sng" dirty="0">
                <a:solidFill>
                  <a:srgbClr val="0431FF"/>
                </a:solidFill>
                <a:uFill>
                  <a:solidFill>
                    <a:srgbClr val="0431FF"/>
                  </a:solidFill>
                </a:uFill>
                <a:latin typeface="Palatino Linotype" panose="02040502050505030304"/>
                <a:cs typeface="Palatino Linotype" panose="02040502050505030304"/>
              </a:rPr>
              <a:t>=</a:t>
            </a:r>
            <a:r>
              <a:rPr sz="2000" i="1" u="sng" spc="-5" dirty="0">
                <a:solidFill>
                  <a:srgbClr val="0431FF"/>
                </a:solidFill>
                <a:uFill>
                  <a:solidFill>
                    <a:srgbClr val="0431FF"/>
                  </a:solidFill>
                </a:uFill>
                <a:latin typeface="Palatino Linotype" panose="02040502050505030304"/>
                <a:cs typeface="Palatino Linotype" panose="02040502050505030304"/>
              </a:rPr>
              <a:t> </a:t>
            </a:r>
            <a:r>
              <a:rPr sz="2000" i="1" u="sng" dirty="0">
                <a:solidFill>
                  <a:srgbClr val="0431FF"/>
                </a:solidFill>
                <a:uFill>
                  <a:solidFill>
                    <a:srgbClr val="0431FF"/>
                  </a:solidFill>
                </a:uFill>
                <a:latin typeface="Palatino Linotype" panose="02040502050505030304"/>
                <a:cs typeface="Palatino Linotype" panose="02040502050505030304"/>
              </a:rPr>
              <a:t>minus</a:t>
            </a:r>
            <a:r>
              <a:rPr sz="2000" i="1" u="sng" spc="-40" dirty="0">
                <a:solidFill>
                  <a:srgbClr val="0431FF"/>
                </a:solidFill>
                <a:uFill>
                  <a:solidFill>
                    <a:srgbClr val="0431FF"/>
                  </a:solidFill>
                </a:uFill>
                <a:latin typeface="Palatino Linotype" panose="02040502050505030304"/>
                <a:cs typeface="Palatino Linotype" panose="02040502050505030304"/>
              </a:rPr>
              <a:t> </a:t>
            </a:r>
            <a:r>
              <a:rPr sz="2000" i="1" u="sng" dirty="0">
                <a:solidFill>
                  <a:srgbClr val="0431FF"/>
                </a:solidFill>
                <a:uFill>
                  <a:solidFill>
                    <a:srgbClr val="0431FF"/>
                  </a:solidFill>
                </a:uFill>
                <a:latin typeface="Palatino Linotype" panose="02040502050505030304"/>
                <a:cs typeface="Palatino Linotype" panose="02040502050505030304"/>
              </a:rPr>
              <a:t>y</a:t>
            </a:r>
            <a:r>
              <a:rPr sz="2000" i="1" spc="-10" dirty="0">
                <a:solidFill>
                  <a:srgbClr val="0431FF"/>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or</a:t>
            </a:r>
            <a:r>
              <a:rPr sz="2000" spc="-20" dirty="0">
                <a:solidFill>
                  <a:sysClr val="windowText" lastClr="000000"/>
                </a:solidFill>
                <a:latin typeface="Palatino Linotype" panose="02040502050505030304"/>
                <a:cs typeface="Palatino Linotype" panose="02040502050505030304"/>
              </a:rPr>
              <a:t> </a:t>
            </a:r>
            <a:r>
              <a:rPr sz="2000" i="1" u="sng" dirty="0">
                <a:solidFill>
                  <a:srgbClr val="0431FF"/>
                </a:solidFill>
                <a:uFill>
                  <a:solidFill>
                    <a:srgbClr val="0431FF"/>
                  </a:solidFill>
                </a:uFill>
                <a:latin typeface="Palatino Linotype" panose="02040502050505030304"/>
                <a:cs typeface="Palatino Linotype" panose="02040502050505030304"/>
              </a:rPr>
              <a:t>x</a:t>
            </a:r>
            <a:r>
              <a:rPr sz="2000" i="1" u="sng" spc="-5" dirty="0">
                <a:solidFill>
                  <a:srgbClr val="0431FF"/>
                </a:solidFill>
                <a:uFill>
                  <a:solidFill>
                    <a:srgbClr val="0431FF"/>
                  </a:solidFill>
                </a:uFill>
                <a:latin typeface="Palatino Linotype" panose="02040502050505030304"/>
                <a:cs typeface="Palatino Linotype" panose="02040502050505030304"/>
              </a:rPr>
              <a:t> </a:t>
            </a:r>
            <a:r>
              <a:rPr sz="2000" i="1" u="sng" dirty="0">
                <a:solidFill>
                  <a:srgbClr val="0431FF"/>
                </a:solidFill>
                <a:uFill>
                  <a:solidFill>
                    <a:srgbClr val="0431FF"/>
                  </a:solidFill>
                </a:uFill>
                <a:latin typeface="Palatino Linotype" panose="02040502050505030304"/>
                <a:cs typeface="Palatino Linotype" panose="02040502050505030304"/>
              </a:rPr>
              <a:t>=</a:t>
            </a:r>
            <a:r>
              <a:rPr sz="2000" i="1" u="sng" spc="-10" dirty="0">
                <a:solidFill>
                  <a:srgbClr val="0431FF"/>
                </a:solidFill>
                <a:uFill>
                  <a:solidFill>
                    <a:srgbClr val="0431FF"/>
                  </a:solidFill>
                </a:uFill>
                <a:latin typeface="Palatino Linotype" panose="02040502050505030304"/>
                <a:cs typeface="Palatino Linotype" panose="02040502050505030304"/>
              </a:rPr>
              <a:t> </a:t>
            </a:r>
            <a:r>
              <a:rPr sz="2000" i="1" u="sng" dirty="0">
                <a:solidFill>
                  <a:srgbClr val="0431FF"/>
                </a:solidFill>
                <a:uFill>
                  <a:solidFill>
                    <a:srgbClr val="0431FF"/>
                  </a:solidFill>
                </a:uFill>
                <a:latin typeface="Palatino Linotype" panose="02040502050505030304"/>
                <a:cs typeface="Palatino Linotype" panose="02040502050505030304"/>
              </a:rPr>
              <a:t>y</a:t>
            </a:r>
            <a:r>
              <a:rPr sz="2000" i="1" spc="-15" dirty="0">
                <a:solidFill>
                  <a:srgbClr val="0431FF"/>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do</a:t>
            </a:r>
            <a:r>
              <a:rPr sz="2000" spc="-1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not</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use</a:t>
            </a:r>
            <a:r>
              <a:rPr sz="2000" spc="-30" dirty="0">
                <a:solidFill>
                  <a:sysClr val="windowText" lastClr="000000"/>
                </a:solidFill>
                <a:latin typeface="Palatino Linotype" panose="02040502050505030304"/>
                <a:cs typeface="Palatino Linotype" panose="02040502050505030304"/>
              </a:rPr>
              <a:t> </a:t>
            </a:r>
            <a:r>
              <a:rPr sz="2000" i="1" spc="-20" dirty="0">
                <a:solidFill>
                  <a:sysClr val="windowText" lastClr="000000"/>
                </a:solidFill>
                <a:latin typeface="Palatino Linotype" panose="02040502050505030304"/>
                <a:cs typeface="Palatino Linotype" panose="02040502050505030304"/>
              </a:rPr>
              <a:t>arg</a:t>
            </a:r>
            <a:r>
              <a:rPr sz="1950" spc="-30" baseline="-21000" dirty="0">
                <a:solidFill>
                  <a:sysClr val="windowText" lastClr="000000"/>
                </a:solidFill>
                <a:latin typeface="Palatino Linotype" panose="02040502050505030304"/>
                <a:cs typeface="Palatino Linotype" panose="02040502050505030304"/>
              </a:rPr>
              <a:t>2</a:t>
            </a:r>
            <a:endParaRPr sz="1950" baseline="-21000">
              <a:solidFill>
                <a:sysClr val="windowText" lastClr="000000"/>
              </a:solidFill>
              <a:latin typeface="Palatino Linotype" panose="02040502050505030304"/>
              <a:cs typeface="Palatino Linotype" panose="02040502050505030304"/>
            </a:endParaRPr>
          </a:p>
          <a:p>
            <a:pPr>
              <a:spcBef>
                <a:spcPts val="180"/>
              </a:spcBef>
              <a:buFont typeface="Arial MT"/>
              <a:buChar char="•"/>
            </a:pPr>
            <a:endParaRPr sz="2000">
              <a:solidFill>
                <a:sysClr val="windowText" lastClr="000000"/>
              </a:solidFill>
              <a:latin typeface="Palatino Linotype" panose="02040502050505030304"/>
              <a:cs typeface="Palatino Linotype" panose="02040502050505030304"/>
            </a:endParaRPr>
          </a:p>
          <a:p>
            <a:pPr marL="344170" indent="-229870">
              <a:buClr>
                <a:srgbClr val="000000"/>
              </a:buClr>
              <a:buFont typeface="Arial MT"/>
              <a:buChar char="•"/>
              <a:tabLst>
                <a:tab pos="344170" algn="l"/>
              </a:tabLst>
            </a:pPr>
            <a:r>
              <a:rPr sz="2000" i="1" dirty="0">
                <a:solidFill>
                  <a:srgbClr val="FF0000"/>
                </a:solidFill>
                <a:latin typeface="Palatino Linotype" panose="02040502050505030304"/>
                <a:cs typeface="Palatino Linotype" panose="02040502050505030304"/>
              </a:rPr>
              <a:t>param</a:t>
            </a:r>
            <a:r>
              <a:rPr sz="2000" i="1" spc="-3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operators</a:t>
            </a:r>
            <a:r>
              <a:rPr sz="2000" spc="-40" dirty="0">
                <a:solidFill>
                  <a:srgbClr val="FF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use</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neither</a:t>
            </a:r>
            <a:r>
              <a:rPr sz="2000" spc="-10" dirty="0">
                <a:solidFill>
                  <a:sysClr val="windowText" lastClr="000000"/>
                </a:solidFill>
                <a:latin typeface="Palatino Linotype" panose="02040502050505030304"/>
                <a:cs typeface="Palatino Linotype" panose="02040502050505030304"/>
              </a:rPr>
              <a:t> </a:t>
            </a:r>
            <a:r>
              <a:rPr sz="2000" i="1" dirty="0">
                <a:solidFill>
                  <a:sysClr val="windowText" lastClr="000000"/>
                </a:solidFill>
                <a:latin typeface="Palatino Linotype" panose="02040502050505030304"/>
                <a:cs typeface="Palatino Linotype" panose="02040502050505030304"/>
              </a:rPr>
              <a:t>arg</a:t>
            </a:r>
            <a:r>
              <a:rPr sz="1950" i="1" baseline="-21000" dirty="0">
                <a:solidFill>
                  <a:sysClr val="windowText" lastClr="000000"/>
                </a:solidFill>
                <a:latin typeface="Palatino Linotype" panose="02040502050505030304"/>
                <a:cs typeface="Palatino Linotype" panose="02040502050505030304"/>
              </a:rPr>
              <a:t>2</a:t>
            </a:r>
            <a:r>
              <a:rPr sz="1950" i="1" spc="202" baseline="-2100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nor</a:t>
            </a:r>
            <a:r>
              <a:rPr sz="2000" spc="-30" dirty="0">
                <a:solidFill>
                  <a:sysClr val="windowText" lastClr="000000"/>
                </a:solidFill>
                <a:latin typeface="Palatino Linotype" panose="02040502050505030304"/>
                <a:cs typeface="Palatino Linotype" panose="02040502050505030304"/>
              </a:rPr>
              <a:t> </a:t>
            </a:r>
            <a:r>
              <a:rPr sz="2000" i="1" spc="-10" dirty="0">
                <a:solidFill>
                  <a:sysClr val="windowText" lastClr="000000"/>
                </a:solidFill>
                <a:latin typeface="Palatino Linotype" panose="02040502050505030304"/>
                <a:cs typeface="Palatino Linotype" panose="02040502050505030304"/>
              </a:rPr>
              <a:t>result</a:t>
            </a:r>
            <a:endParaRPr sz="2000">
              <a:solidFill>
                <a:sysClr val="windowText" lastClr="000000"/>
              </a:solidFill>
              <a:latin typeface="Palatino Linotype" panose="02040502050505030304"/>
              <a:cs typeface="Palatino Linotype" panose="02040502050505030304"/>
            </a:endParaRPr>
          </a:p>
          <a:p>
            <a:pPr>
              <a:spcBef>
                <a:spcPts val="185"/>
              </a:spcBef>
              <a:buFont typeface="Arial MT"/>
              <a:buChar char="•"/>
            </a:pPr>
            <a:endParaRPr sz="2000">
              <a:solidFill>
                <a:sysClr val="windowText" lastClr="000000"/>
              </a:solidFill>
              <a:latin typeface="Palatino Linotype" panose="02040502050505030304"/>
              <a:cs typeface="Palatino Linotype" panose="02040502050505030304"/>
            </a:endParaRPr>
          </a:p>
          <a:p>
            <a:pPr marL="344170" indent="-229870">
              <a:buClr>
                <a:srgbClr val="000000"/>
              </a:buClr>
              <a:buFont typeface="Arial MT"/>
              <a:buChar char="•"/>
              <a:tabLst>
                <a:tab pos="344170" algn="l"/>
              </a:tabLst>
            </a:pPr>
            <a:r>
              <a:rPr sz="2000" dirty="0">
                <a:solidFill>
                  <a:srgbClr val="FF0000"/>
                </a:solidFill>
                <a:latin typeface="Palatino Linotype" panose="02040502050505030304"/>
                <a:cs typeface="Palatino Linotype" panose="02040502050505030304"/>
              </a:rPr>
              <a:t>Conditional/unconditional</a:t>
            </a:r>
            <a:r>
              <a:rPr sz="2000" spc="-60"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jumps</a:t>
            </a:r>
            <a:r>
              <a:rPr sz="2000" spc="-30" dirty="0">
                <a:solidFill>
                  <a:srgbClr val="FF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put</a:t>
            </a:r>
            <a:r>
              <a:rPr sz="2000" spc="-3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the</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target</a:t>
            </a:r>
            <a:r>
              <a:rPr sz="2000" spc="-3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label</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in</a:t>
            </a:r>
            <a:r>
              <a:rPr sz="2000" spc="-25" dirty="0">
                <a:solidFill>
                  <a:sysClr val="windowText" lastClr="000000"/>
                </a:solidFill>
                <a:latin typeface="Palatino Linotype" panose="02040502050505030304"/>
                <a:cs typeface="Palatino Linotype" panose="02040502050505030304"/>
              </a:rPr>
              <a:t> </a:t>
            </a:r>
            <a:r>
              <a:rPr sz="2000" i="1" spc="-10" dirty="0">
                <a:solidFill>
                  <a:sysClr val="windowText" lastClr="000000"/>
                </a:solidFill>
                <a:latin typeface="Palatino Linotype" panose="02040502050505030304"/>
                <a:cs typeface="Palatino Linotype" panose="02040502050505030304"/>
              </a:rPr>
              <a:t>result</a:t>
            </a:r>
            <a:endParaRPr sz="2000">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18</a:t>
            </a:fld>
            <a:endParaRPr lang="en-US"/>
          </a:p>
        </p:txBody>
      </p:sp>
      <p:sp>
        <p:nvSpPr>
          <p:cNvPr id="17"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Quadruples</a:t>
            </a:r>
            <a:r>
              <a:rPr kumimoji="0" lang="en-US" sz="4000" b="1" i="0" u="none" strike="noStrike" kern="0" cap="none" spc="-6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Example</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18" name="object 3"/>
          <p:cNvSpPr txBox="1"/>
          <p:nvPr/>
        </p:nvSpPr>
        <p:spPr>
          <a:xfrm>
            <a:off x="707542" y="1658239"/>
            <a:ext cx="6019165" cy="391160"/>
          </a:xfrm>
          <a:prstGeom prst="rect">
            <a:avLst/>
          </a:prstGeom>
        </p:spPr>
        <p:txBody>
          <a:bodyPr vert="horz" wrap="square" lIns="0" tIns="12700" rIns="0" bIns="0" rtlCol="0">
            <a:spAutoFit/>
          </a:bodyPr>
          <a:lstStyle/>
          <a:p>
            <a:pPr marL="241935" indent="-229235">
              <a:spcBef>
                <a:spcPts val="100"/>
              </a:spcBef>
              <a:buClr>
                <a:srgbClr val="000000"/>
              </a:buClr>
              <a:buFont typeface="Arial MT"/>
              <a:buChar char="•"/>
              <a:tabLst>
                <a:tab pos="241935" algn="l"/>
              </a:tabLst>
            </a:pPr>
            <a:r>
              <a:rPr sz="2400" dirty="0">
                <a:solidFill>
                  <a:srgbClr val="0431FF"/>
                </a:solidFill>
                <a:latin typeface="Palatino Linotype" panose="02040502050505030304"/>
                <a:cs typeface="Palatino Linotype" panose="02040502050505030304"/>
              </a:rPr>
              <a:t>Assignment</a:t>
            </a:r>
            <a:r>
              <a:rPr sz="2400" spc="-35" dirty="0">
                <a:solidFill>
                  <a:srgbClr val="0431FF"/>
                </a:solidFill>
                <a:latin typeface="Palatino Linotype" panose="02040502050505030304"/>
                <a:cs typeface="Palatino Linotype" panose="02040502050505030304"/>
              </a:rPr>
              <a:t> </a:t>
            </a:r>
            <a:r>
              <a:rPr sz="2400" dirty="0">
                <a:solidFill>
                  <a:srgbClr val="0431FF"/>
                </a:solidFill>
                <a:latin typeface="Palatino Linotype" panose="02040502050505030304"/>
                <a:cs typeface="Palatino Linotype" panose="02040502050505030304"/>
              </a:rPr>
              <a:t>statement</a:t>
            </a:r>
            <a:r>
              <a:rPr sz="2400" dirty="0">
                <a:solidFill>
                  <a:sysClr val="windowText" lastClr="000000"/>
                </a:solidFill>
                <a:latin typeface="Palatino Linotype" panose="02040502050505030304"/>
                <a:cs typeface="Palatino Linotype" panose="02040502050505030304"/>
              </a:rPr>
              <a:t>:</a:t>
            </a:r>
            <a:r>
              <a:rPr sz="2400" spc="-20" dirty="0">
                <a:solidFill>
                  <a:sysClr val="windowText" lastClr="000000"/>
                </a:solidFill>
                <a:latin typeface="Palatino Linotype" panose="02040502050505030304"/>
                <a:cs typeface="Palatino Linotype" panose="02040502050505030304"/>
              </a:rPr>
              <a:t> </a:t>
            </a:r>
            <a:r>
              <a:rPr sz="2400" dirty="0">
                <a:solidFill>
                  <a:sysClr val="windowText" lastClr="000000"/>
                </a:solidFill>
                <a:latin typeface="Cambria Math" panose="02040503050406030204"/>
                <a:cs typeface="Cambria Math" panose="02040503050406030204"/>
              </a:rPr>
              <a:t>𝑎</a:t>
            </a:r>
            <a:r>
              <a:rPr sz="2400" spc="150" dirty="0">
                <a:solidFill>
                  <a:sysClr val="windowText" lastClr="000000"/>
                </a:solidFill>
                <a:latin typeface="Cambria Math" panose="02040503050406030204"/>
                <a:cs typeface="Cambria Math" panose="02040503050406030204"/>
              </a:rPr>
              <a:t> </a:t>
            </a:r>
            <a:r>
              <a:rPr sz="2400" dirty="0">
                <a:solidFill>
                  <a:sysClr val="windowText" lastClr="000000"/>
                </a:solidFill>
                <a:latin typeface="Cambria Math" panose="02040503050406030204"/>
                <a:cs typeface="Cambria Math" panose="02040503050406030204"/>
              </a:rPr>
              <a:t>=</a:t>
            </a:r>
            <a:r>
              <a:rPr sz="2400" spc="100" dirty="0">
                <a:solidFill>
                  <a:sysClr val="windowText" lastClr="000000"/>
                </a:solidFill>
                <a:latin typeface="Cambria Math" panose="02040503050406030204"/>
                <a:cs typeface="Cambria Math" panose="02040503050406030204"/>
              </a:rPr>
              <a:t> </a:t>
            </a:r>
            <a:r>
              <a:rPr sz="2400" dirty="0">
                <a:solidFill>
                  <a:sysClr val="windowText" lastClr="000000"/>
                </a:solidFill>
                <a:latin typeface="Cambria Math" panose="02040503050406030204"/>
                <a:cs typeface="Cambria Math" panose="02040503050406030204"/>
              </a:rPr>
              <a:t>𝑏</a:t>
            </a:r>
            <a:r>
              <a:rPr sz="2400" spc="30" dirty="0">
                <a:solidFill>
                  <a:sysClr val="windowText" lastClr="000000"/>
                </a:solidFill>
                <a:latin typeface="Cambria Math" panose="02040503050406030204"/>
                <a:cs typeface="Cambria Math" panose="02040503050406030204"/>
              </a:rPr>
              <a:t> </a:t>
            </a:r>
            <a:r>
              <a:rPr sz="2400" dirty="0">
                <a:solidFill>
                  <a:sysClr val="windowText" lastClr="000000"/>
                </a:solidFill>
                <a:latin typeface="Cambria Math" panose="02040503050406030204"/>
                <a:cs typeface="Cambria Math" panose="02040503050406030204"/>
              </a:rPr>
              <a:t>∗</a:t>
            </a:r>
            <a:r>
              <a:rPr sz="2400" spc="-25" dirty="0">
                <a:solidFill>
                  <a:sysClr val="windowText" lastClr="000000"/>
                </a:solidFill>
                <a:latin typeface="Cambria Math" panose="02040503050406030204"/>
                <a:cs typeface="Cambria Math" panose="02040503050406030204"/>
              </a:rPr>
              <a:t> </a:t>
            </a:r>
            <a:r>
              <a:rPr sz="2400" dirty="0">
                <a:solidFill>
                  <a:sysClr val="windowText" lastClr="000000"/>
                </a:solidFill>
                <a:latin typeface="Cambria Math" panose="02040503050406030204"/>
                <a:cs typeface="Cambria Math" panose="02040503050406030204"/>
              </a:rPr>
              <a:t>−𝑐</a:t>
            </a:r>
            <a:r>
              <a:rPr sz="2400" spc="50" dirty="0">
                <a:solidFill>
                  <a:sysClr val="windowText" lastClr="000000"/>
                </a:solidFill>
                <a:latin typeface="Cambria Math" panose="02040503050406030204"/>
                <a:cs typeface="Cambria Math" panose="02040503050406030204"/>
              </a:rPr>
              <a:t> </a:t>
            </a:r>
            <a:r>
              <a:rPr sz="2400" dirty="0">
                <a:solidFill>
                  <a:sysClr val="windowText" lastClr="000000"/>
                </a:solidFill>
                <a:latin typeface="Cambria Math" panose="02040503050406030204"/>
                <a:cs typeface="Cambria Math" panose="02040503050406030204"/>
              </a:rPr>
              <a:t>+</a:t>
            </a:r>
            <a:r>
              <a:rPr sz="2400" spc="-35" dirty="0">
                <a:solidFill>
                  <a:sysClr val="windowText" lastClr="000000"/>
                </a:solidFill>
                <a:latin typeface="Cambria Math" panose="02040503050406030204"/>
                <a:cs typeface="Cambria Math" panose="02040503050406030204"/>
              </a:rPr>
              <a:t> </a:t>
            </a:r>
            <a:r>
              <a:rPr sz="2400" dirty="0">
                <a:solidFill>
                  <a:sysClr val="windowText" lastClr="000000"/>
                </a:solidFill>
                <a:latin typeface="Cambria Math" panose="02040503050406030204"/>
                <a:cs typeface="Cambria Math" panose="02040503050406030204"/>
              </a:rPr>
              <a:t>𝑏</a:t>
            </a:r>
            <a:r>
              <a:rPr sz="2400" spc="30" dirty="0">
                <a:solidFill>
                  <a:sysClr val="windowText" lastClr="000000"/>
                </a:solidFill>
                <a:latin typeface="Cambria Math" panose="02040503050406030204"/>
                <a:cs typeface="Cambria Math" panose="02040503050406030204"/>
              </a:rPr>
              <a:t> </a:t>
            </a:r>
            <a:r>
              <a:rPr sz="2400" dirty="0">
                <a:solidFill>
                  <a:sysClr val="windowText" lastClr="000000"/>
                </a:solidFill>
                <a:latin typeface="Cambria Math" panose="02040503050406030204"/>
                <a:cs typeface="Cambria Math" panose="02040503050406030204"/>
              </a:rPr>
              <a:t>∗</a:t>
            </a:r>
            <a:r>
              <a:rPr sz="2400" spc="-15" dirty="0">
                <a:solidFill>
                  <a:sysClr val="windowText" lastClr="000000"/>
                </a:solidFill>
                <a:latin typeface="Cambria Math" panose="02040503050406030204"/>
                <a:cs typeface="Cambria Math" panose="02040503050406030204"/>
              </a:rPr>
              <a:t> </a:t>
            </a:r>
            <a:r>
              <a:rPr sz="2400" spc="-25" dirty="0">
                <a:solidFill>
                  <a:sysClr val="windowText" lastClr="000000"/>
                </a:solidFill>
                <a:latin typeface="Cambria Math" panose="02040503050406030204"/>
                <a:cs typeface="Cambria Math" panose="02040503050406030204"/>
              </a:rPr>
              <a:t>−𝑐</a:t>
            </a:r>
            <a:endParaRPr sz="2400">
              <a:solidFill>
                <a:sysClr val="windowText" lastClr="000000"/>
              </a:solidFill>
              <a:latin typeface="Cambria Math" panose="02040503050406030204"/>
              <a:cs typeface="Cambria Math" panose="02040503050406030204"/>
            </a:endParaRPr>
          </a:p>
        </p:txBody>
      </p:sp>
      <p:pic>
        <p:nvPicPr>
          <p:cNvPr id="20" name="object 5"/>
          <p:cNvPicPr/>
          <p:nvPr/>
        </p:nvPicPr>
        <p:blipFill>
          <a:blip r:embed="rId3" cstate="print"/>
          <a:stretch>
            <a:fillRect/>
          </a:stretch>
        </p:blipFill>
        <p:spPr>
          <a:xfrm>
            <a:off x="459091" y="2352097"/>
            <a:ext cx="6658309" cy="2714196"/>
          </a:xfrm>
          <a:prstGeom prst="rect">
            <a:avLst/>
          </a:prstGeom>
        </p:spPr>
      </p:pic>
      <p:sp>
        <p:nvSpPr>
          <p:cNvPr id="21" name="object 6"/>
          <p:cNvSpPr/>
          <p:nvPr/>
        </p:nvSpPr>
        <p:spPr>
          <a:xfrm>
            <a:off x="6472052" y="2519806"/>
            <a:ext cx="670560" cy="1892271"/>
          </a:xfrm>
          <a:custGeom>
            <a:avLst/>
            <a:gdLst/>
            <a:ahLst/>
            <a:cxnLst/>
            <a:rect l="l" t="t" r="r" b="b"/>
            <a:pathLst>
              <a:path w="670559" h="1914525">
                <a:moveTo>
                  <a:pt x="0" y="1914143"/>
                </a:moveTo>
                <a:lnTo>
                  <a:pt x="670559" y="1914143"/>
                </a:lnTo>
                <a:lnTo>
                  <a:pt x="670559" y="0"/>
                </a:lnTo>
                <a:lnTo>
                  <a:pt x="0" y="0"/>
                </a:lnTo>
                <a:lnTo>
                  <a:pt x="0" y="1914143"/>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nvGrpSpPr>
          <p:cNvPr id="2" name="组合 1">
            <a:extLst>
              <a:ext uri="{FF2B5EF4-FFF2-40B4-BE49-F238E27FC236}">
                <a16:creationId xmlns:a16="http://schemas.microsoft.com/office/drawing/2014/main" id="{009CC64F-5250-4CC2-B200-76002C7D0D43}"/>
              </a:ext>
            </a:extLst>
          </p:cNvPr>
          <p:cNvGrpSpPr/>
          <p:nvPr/>
        </p:nvGrpSpPr>
        <p:grpSpPr>
          <a:xfrm>
            <a:off x="1595325" y="5355295"/>
            <a:ext cx="5786232" cy="752359"/>
            <a:chOff x="1595325" y="5355295"/>
            <a:chExt cx="5786232" cy="752359"/>
          </a:xfrm>
        </p:grpSpPr>
        <p:sp>
          <p:nvSpPr>
            <p:cNvPr id="22" name="object 7"/>
            <p:cNvSpPr/>
            <p:nvPr/>
          </p:nvSpPr>
          <p:spPr>
            <a:xfrm>
              <a:off x="1638617" y="5355295"/>
              <a:ext cx="5742940" cy="715486"/>
            </a:xfrm>
            <a:custGeom>
              <a:avLst/>
              <a:gdLst/>
              <a:ahLst/>
              <a:cxnLst/>
              <a:rect l="l" t="t" r="r" b="b"/>
              <a:pathLst>
                <a:path w="5742940" h="723900">
                  <a:moveTo>
                    <a:pt x="5742432" y="0"/>
                  </a:moveTo>
                  <a:lnTo>
                    <a:pt x="0" y="0"/>
                  </a:lnTo>
                  <a:lnTo>
                    <a:pt x="0" y="723900"/>
                  </a:lnTo>
                  <a:lnTo>
                    <a:pt x="5742432" y="723900"/>
                  </a:lnTo>
                  <a:lnTo>
                    <a:pt x="5742432" y="0"/>
                  </a:lnTo>
                  <a:close/>
                </a:path>
              </a:pathLst>
            </a:custGeom>
            <a:solidFill>
              <a:srgbClr val="FFF1C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8"/>
            <p:cNvSpPr/>
            <p:nvPr/>
          </p:nvSpPr>
          <p:spPr>
            <a:xfrm>
              <a:off x="1595325" y="5392168"/>
              <a:ext cx="5742940" cy="715486"/>
            </a:xfrm>
            <a:custGeom>
              <a:avLst/>
              <a:gdLst/>
              <a:ahLst/>
              <a:cxnLst/>
              <a:rect l="l" t="t" r="r" b="b"/>
              <a:pathLst>
                <a:path w="5742940" h="723900">
                  <a:moveTo>
                    <a:pt x="0" y="723900"/>
                  </a:moveTo>
                  <a:lnTo>
                    <a:pt x="5742432" y="723900"/>
                  </a:lnTo>
                  <a:lnTo>
                    <a:pt x="5742432" y="0"/>
                  </a:lnTo>
                  <a:lnTo>
                    <a:pt x="0" y="0"/>
                  </a:lnTo>
                  <a:lnTo>
                    <a:pt x="0" y="723900"/>
                  </a:lnTo>
                  <a:close/>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24" name="object 9"/>
            <p:cNvSpPr txBox="1"/>
            <p:nvPr/>
          </p:nvSpPr>
          <p:spPr>
            <a:xfrm>
              <a:off x="1744345" y="5380579"/>
              <a:ext cx="5531485" cy="727075"/>
            </a:xfrm>
            <a:prstGeom prst="rect">
              <a:avLst/>
            </a:prstGeom>
          </p:spPr>
          <p:txBody>
            <a:bodyPr vert="horz" wrap="square" lIns="0" tIns="12700" rIns="0" bIns="0" rtlCol="0">
              <a:spAutoFit/>
            </a:bodyPr>
            <a:lstStyle/>
            <a:p>
              <a:pPr marL="12700" marR="5080">
                <a:lnSpc>
                  <a:spcPct val="128000"/>
                </a:lnSpc>
                <a:spcBef>
                  <a:spcPts val="100"/>
                </a:spcBef>
              </a:pPr>
              <a:r>
                <a:rPr dirty="0">
                  <a:solidFill>
                    <a:srgbClr val="FF0000"/>
                  </a:solidFill>
                  <a:latin typeface="Palatino Linotype" panose="02040502050505030304"/>
                  <a:cs typeface="Palatino Linotype" panose="02040502050505030304"/>
                </a:rPr>
                <a:t>The</a:t>
              </a:r>
              <a:r>
                <a:rPr spc="-40"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result</a:t>
              </a:r>
              <a:r>
                <a:rPr spc="-45"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field</a:t>
              </a:r>
              <a:r>
                <a:rPr spc="-40"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is</a:t>
              </a:r>
              <a:r>
                <a:rPr spc="-40"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used</a:t>
              </a:r>
              <a:r>
                <a:rPr spc="-40"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primarily</a:t>
              </a:r>
              <a:r>
                <a:rPr spc="-35"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for</a:t>
              </a:r>
              <a:r>
                <a:rPr spc="-25" dirty="0">
                  <a:solidFill>
                    <a:srgbClr val="FF0000"/>
                  </a:solidFill>
                  <a:latin typeface="Palatino Linotype" panose="02040502050505030304"/>
                  <a:cs typeface="Palatino Linotype" panose="02040502050505030304"/>
                </a:rPr>
                <a:t> </a:t>
              </a:r>
              <a:r>
                <a:rPr spc="-10" dirty="0">
                  <a:solidFill>
                    <a:srgbClr val="FF0000"/>
                  </a:solidFill>
                  <a:latin typeface="Palatino Linotype" panose="02040502050505030304"/>
                  <a:cs typeface="Palatino Linotype" panose="02040502050505030304"/>
                </a:rPr>
                <a:t>temporary</a:t>
              </a:r>
              <a:r>
                <a:rPr spc="-35" dirty="0">
                  <a:solidFill>
                    <a:srgbClr val="FF0000"/>
                  </a:solidFill>
                  <a:latin typeface="Palatino Linotype" panose="02040502050505030304"/>
                  <a:cs typeface="Palatino Linotype" panose="02040502050505030304"/>
                </a:rPr>
                <a:t> </a:t>
              </a:r>
              <a:r>
                <a:rPr spc="-10" dirty="0">
                  <a:solidFill>
                    <a:srgbClr val="FF0000"/>
                  </a:solidFill>
                  <a:latin typeface="Palatino Linotype" panose="02040502050505030304"/>
                  <a:cs typeface="Palatino Linotype" panose="02040502050505030304"/>
                </a:rPr>
                <a:t>names </a:t>
              </a:r>
              <a:r>
                <a:rPr spc="-20" dirty="0">
                  <a:solidFill>
                    <a:srgbClr val="FF0000"/>
                  </a:solidFill>
                  <a:latin typeface="Palatino Linotype" panose="02040502050505030304"/>
                  <a:cs typeface="Palatino Linotype" panose="02040502050505030304"/>
                </a:rPr>
                <a:t>Temporary</a:t>
              </a:r>
              <a:r>
                <a:rPr spc="-40"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names</a:t>
              </a:r>
              <a:r>
                <a:rPr spc="-55"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waste</a:t>
              </a:r>
              <a:r>
                <a:rPr spc="-55"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space</a:t>
              </a:r>
              <a:r>
                <a:rPr spc="-50"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(symbol</a:t>
              </a:r>
              <a:r>
                <a:rPr spc="-40"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table</a:t>
              </a:r>
              <a:r>
                <a:rPr spc="-55" dirty="0">
                  <a:solidFill>
                    <a:srgbClr val="FF0000"/>
                  </a:solidFill>
                  <a:latin typeface="Palatino Linotype" panose="02040502050505030304"/>
                  <a:cs typeface="Palatino Linotype" panose="02040502050505030304"/>
                </a:rPr>
                <a:t> </a:t>
              </a:r>
              <a:r>
                <a:rPr spc="-10" dirty="0">
                  <a:solidFill>
                    <a:srgbClr val="FF0000"/>
                  </a:solidFill>
                  <a:latin typeface="Palatino Linotype" panose="02040502050505030304"/>
                  <a:cs typeface="Palatino Linotype" panose="02040502050505030304"/>
                </a:rPr>
                <a:t>entries)</a:t>
              </a:r>
              <a:endParaRPr dirty="0">
                <a:solidFill>
                  <a:sysClr val="windowText" lastClr="000000"/>
                </a:solidFill>
                <a:latin typeface="Palatino Linotype" panose="02040502050505030304"/>
                <a:cs typeface="Palatino Linotype" panose="02040502050505030304"/>
              </a:endParaRPr>
            </a:p>
          </p:txBody>
        </p:sp>
      </p:grpSp>
      <p:sp>
        <p:nvSpPr>
          <p:cNvPr id="26" name="object 11"/>
          <p:cNvSpPr/>
          <p:nvPr/>
        </p:nvSpPr>
        <p:spPr>
          <a:xfrm>
            <a:off x="7167022" y="4128579"/>
            <a:ext cx="666115" cy="1273175"/>
          </a:xfrm>
          <a:custGeom>
            <a:avLst/>
            <a:gdLst/>
            <a:ahLst/>
            <a:cxnLst/>
            <a:rect l="l" t="t" r="r" b="b"/>
            <a:pathLst>
              <a:path w="666115" h="1273175">
                <a:moveTo>
                  <a:pt x="73025" y="1174241"/>
                </a:moveTo>
                <a:lnTo>
                  <a:pt x="68961" y="1174368"/>
                </a:lnTo>
                <a:lnTo>
                  <a:pt x="66675" y="1177035"/>
                </a:lnTo>
                <a:lnTo>
                  <a:pt x="0" y="1250314"/>
                </a:lnTo>
                <a:lnTo>
                  <a:pt x="100076" y="1273047"/>
                </a:lnTo>
                <a:lnTo>
                  <a:pt x="103378" y="1270888"/>
                </a:lnTo>
                <a:lnTo>
                  <a:pt x="104267" y="1267459"/>
                </a:lnTo>
                <a:lnTo>
                  <a:pt x="105029" y="1264030"/>
                </a:lnTo>
                <a:lnTo>
                  <a:pt x="102870" y="1260601"/>
                </a:lnTo>
                <a:lnTo>
                  <a:pt x="67393" y="1252600"/>
                </a:lnTo>
                <a:lnTo>
                  <a:pt x="13716" y="1252600"/>
                </a:lnTo>
                <a:lnTo>
                  <a:pt x="10160" y="1240408"/>
                </a:lnTo>
                <a:lnTo>
                  <a:pt x="13208" y="1239519"/>
                </a:lnTo>
                <a:lnTo>
                  <a:pt x="13471" y="1239519"/>
                </a:lnTo>
                <a:lnTo>
                  <a:pt x="18542" y="1237868"/>
                </a:lnTo>
                <a:lnTo>
                  <a:pt x="24511" y="1236090"/>
                </a:lnTo>
                <a:lnTo>
                  <a:pt x="31115" y="1233931"/>
                </a:lnTo>
                <a:lnTo>
                  <a:pt x="32371" y="1233542"/>
                </a:lnTo>
                <a:lnTo>
                  <a:pt x="76073" y="1185544"/>
                </a:lnTo>
                <a:lnTo>
                  <a:pt x="78359" y="1182877"/>
                </a:lnTo>
                <a:lnTo>
                  <a:pt x="78232" y="1178940"/>
                </a:lnTo>
                <a:lnTo>
                  <a:pt x="73025" y="1174241"/>
                </a:lnTo>
                <a:close/>
              </a:path>
              <a:path w="666115" h="1273175">
                <a:moveTo>
                  <a:pt x="13208" y="1239519"/>
                </a:moveTo>
                <a:lnTo>
                  <a:pt x="10160" y="1240408"/>
                </a:lnTo>
                <a:lnTo>
                  <a:pt x="13716" y="1252600"/>
                </a:lnTo>
                <a:lnTo>
                  <a:pt x="16891" y="1251711"/>
                </a:lnTo>
                <a:lnTo>
                  <a:pt x="19621" y="1250822"/>
                </a:lnTo>
                <a:lnTo>
                  <a:pt x="16637" y="1250822"/>
                </a:lnTo>
                <a:lnTo>
                  <a:pt x="13335" y="1240408"/>
                </a:lnTo>
                <a:lnTo>
                  <a:pt x="26119" y="1240408"/>
                </a:lnTo>
                <a:lnTo>
                  <a:pt x="26812" y="1239646"/>
                </a:lnTo>
                <a:lnTo>
                  <a:pt x="13081" y="1239646"/>
                </a:lnTo>
                <a:lnTo>
                  <a:pt x="13208" y="1239519"/>
                </a:lnTo>
                <a:close/>
              </a:path>
              <a:path w="666115" h="1273175">
                <a:moveTo>
                  <a:pt x="22352" y="1249933"/>
                </a:moveTo>
                <a:lnTo>
                  <a:pt x="16891" y="1251711"/>
                </a:lnTo>
                <a:lnTo>
                  <a:pt x="13716" y="1252600"/>
                </a:lnTo>
                <a:lnTo>
                  <a:pt x="67393" y="1252600"/>
                </a:lnTo>
                <a:lnTo>
                  <a:pt x="56131" y="1250060"/>
                </a:lnTo>
                <a:lnTo>
                  <a:pt x="22225" y="1250060"/>
                </a:lnTo>
                <a:lnTo>
                  <a:pt x="22352" y="1249933"/>
                </a:lnTo>
                <a:close/>
              </a:path>
              <a:path w="666115" h="1273175">
                <a:moveTo>
                  <a:pt x="13335" y="1240408"/>
                </a:moveTo>
                <a:lnTo>
                  <a:pt x="16637" y="1250822"/>
                </a:lnTo>
                <a:lnTo>
                  <a:pt x="23941" y="1242801"/>
                </a:lnTo>
                <a:lnTo>
                  <a:pt x="13335" y="1240408"/>
                </a:lnTo>
                <a:close/>
              </a:path>
              <a:path w="666115" h="1273175">
                <a:moveTo>
                  <a:pt x="23941" y="1242801"/>
                </a:moveTo>
                <a:lnTo>
                  <a:pt x="16637" y="1250822"/>
                </a:lnTo>
                <a:lnTo>
                  <a:pt x="19621" y="1250822"/>
                </a:lnTo>
                <a:lnTo>
                  <a:pt x="22352" y="1249933"/>
                </a:lnTo>
                <a:lnTo>
                  <a:pt x="22622" y="1249933"/>
                </a:lnTo>
                <a:lnTo>
                  <a:pt x="28194" y="1248155"/>
                </a:lnTo>
                <a:lnTo>
                  <a:pt x="34925" y="1246123"/>
                </a:lnTo>
                <a:lnTo>
                  <a:pt x="36454" y="1245623"/>
                </a:lnTo>
                <a:lnTo>
                  <a:pt x="23941" y="1242801"/>
                </a:lnTo>
                <a:close/>
              </a:path>
              <a:path w="666115" h="1273175">
                <a:moveTo>
                  <a:pt x="22622" y="1249933"/>
                </a:moveTo>
                <a:lnTo>
                  <a:pt x="22352" y="1249933"/>
                </a:lnTo>
                <a:lnTo>
                  <a:pt x="22225" y="1250060"/>
                </a:lnTo>
                <a:lnTo>
                  <a:pt x="22622" y="1249933"/>
                </a:lnTo>
                <a:close/>
              </a:path>
              <a:path w="666115" h="1273175">
                <a:moveTo>
                  <a:pt x="36454" y="1245623"/>
                </a:moveTo>
                <a:lnTo>
                  <a:pt x="34925" y="1246123"/>
                </a:lnTo>
                <a:lnTo>
                  <a:pt x="28194" y="1248155"/>
                </a:lnTo>
                <a:lnTo>
                  <a:pt x="22225" y="1250060"/>
                </a:lnTo>
                <a:lnTo>
                  <a:pt x="56131" y="1250060"/>
                </a:lnTo>
                <a:lnTo>
                  <a:pt x="36454" y="1245623"/>
                </a:lnTo>
                <a:close/>
              </a:path>
              <a:path w="666115" h="1273175">
                <a:moveTo>
                  <a:pt x="506674" y="1039367"/>
                </a:moveTo>
                <a:lnTo>
                  <a:pt x="483108" y="1039367"/>
                </a:lnTo>
                <a:lnTo>
                  <a:pt x="455930" y="1055623"/>
                </a:lnTo>
                <a:lnTo>
                  <a:pt x="427990" y="1071371"/>
                </a:lnTo>
                <a:lnTo>
                  <a:pt x="399288" y="1086484"/>
                </a:lnTo>
                <a:lnTo>
                  <a:pt x="369951" y="1101089"/>
                </a:lnTo>
                <a:lnTo>
                  <a:pt x="340233" y="1115186"/>
                </a:lnTo>
                <a:lnTo>
                  <a:pt x="310515" y="1128775"/>
                </a:lnTo>
                <a:lnTo>
                  <a:pt x="280924" y="1141729"/>
                </a:lnTo>
                <a:lnTo>
                  <a:pt x="281051" y="1141729"/>
                </a:lnTo>
                <a:lnTo>
                  <a:pt x="222758" y="1165605"/>
                </a:lnTo>
                <a:lnTo>
                  <a:pt x="167767" y="1186814"/>
                </a:lnTo>
                <a:lnTo>
                  <a:pt x="141859" y="1196339"/>
                </a:lnTo>
                <a:lnTo>
                  <a:pt x="117475" y="1205102"/>
                </a:lnTo>
                <a:lnTo>
                  <a:pt x="117602" y="1205102"/>
                </a:lnTo>
                <a:lnTo>
                  <a:pt x="94742" y="1212976"/>
                </a:lnTo>
                <a:lnTo>
                  <a:pt x="54991" y="1226311"/>
                </a:lnTo>
                <a:lnTo>
                  <a:pt x="46482" y="1228978"/>
                </a:lnTo>
                <a:lnTo>
                  <a:pt x="38481" y="1231645"/>
                </a:lnTo>
                <a:lnTo>
                  <a:pt x="32371" y="1233542"/>
                </a:lnTo>
                <a:lnTo>
                  <a:pt x="23941" y="1242801"/>
                </a:lnTo>
                <a:lnTo>
                  <a:pt x="36454" y="1245623"/>
                </a:lnTo>
                <a:lnTo>
                  <a:pt x="42291" y="1243710"/>
                </a:lnTo>
                <a:lnTo>
                  <a:pt x="68199" y="1235328"/>
                </a:lnTo>
                <a:lnTo>
                  <a:pt x="146304" y="1208277"/>
                </a:lnTo>
                <a:lnTo>
                  <a:pt x="199390" y="1188465"/>
                </a:lnTo>
                <a:lnTo>
                  <a:pt x="256413" y="1165732"/>
                </a:lnTo>
                <a:lnTo>
                  <a:pt x="315722" y="1140332"/>
                </a:lnTo>
                <a:lnTo>
                  <a:pt x="375539" y="1112519"/>
                </a:lnTo>
                <a:lnTo>
                  <a:pt x="434086" y="1082420"/>
                </a:lnTo>
                <a:lnTo>
                  <a:pt x="489712" y="1050289"/>
                </a:lnTo>
                <a:lnTo>
                  <a:pt x="506674" y="1039367"/>
                </a:lnTo>
                <a:close/>
              </a:path>
              <a:path w="666115" h="1273175">
                <a:moveTo>
                  <a:pt x="26119" y="1240408"/>
                </a:moveTo>
                <a:lnTo>
                  <a:pt x="13335" y="1240408"/>
                </a:lnTo>
                <a:lnTo>
                  <a:pt x="23941" y="1242801"/>
                </a:lnTo>
                <a:lnTo>
                  <a:pt x="26119" y="1240408"/>
                </a:lnTo>
                <a:close/>
              </a:path>
              <a:path w="666115" h="1273175">
                <a:moveTo>
                  <a:pt x="13471" y="1239519"/>
                </a:moveTo>
                <a:lnTo>
                  <a:pt x="13208" y="1239519"/>
                </a:lnTo>
                <a:lnTo>
                  <a:pt x="13081" y="1239646"/>
                </a:lnTo>
                <a:lnTo>
                  <a:pt x="13471" y="1239519"/>
                </a:lnTo>
                <a:close/>
              </a:path>
              <a:path w="666115" h="1273175">
                <a:moveTo>
                  <a:pt x="32371" y="1233542"/>
                </a:moveTo>
                <a:lnTo>
                  <a:pt x="31115" y="1233931"/>
                </a:lnTo>
                <a:lnTo>
                  <a:pt x="24511" y="1236090"/>
                </a:lnTo>
                <a:lnTo>
                  <a:pt x="18542" y="1237868"/>
                </a:lnTo>
                <a:lnTo>
                  <a:pt x="13081" y="1239646"/>
                </a:lnTo>
                <a:lnTo>
                  <a:pt x="26812" y="1239646"/>
                </a:lnTo>
                <a:lnTo>
                  <a:pt x="32371" y="1233542"/>
                </a:lnTo>
                <a:close/>
              </a:path>
              <a:path w="666115" h="1273175">
                <a:moveTo>
                  <a:pt x="399415" y="1086357"/>
                </a:moveTo>
                <a:lnTo>
                  <a:pt x="399161" y="1086484"/>
                </a:lnTo>
                <a:lnTo>
                  <a:pt x="399415" y="1086357"/>
                </a:lnTo>
                <a:close/>
              </a:path>
              <a:path w="666115" h="1273175">
                <a:moveTo>
                  <a:pt x="428117" y="1071244"/>
                </a:moveTo>
                <a:lnTo>
                  <a:pt x="427876" y="1071371"/>
                </a:lnTo>
                <a:lnTo>
                  <a:pt x="428117" y="1071244"/>
                </a:lnTo>
                <a:close/>
              </a:path>
              <a:path w="666115" h="1273175">
                <a:moveTo>
                  <a:pt x="456057" y="1055496"/>
                </a:moveTo>
                <a:lnTo>
                  <a:pt x="455832" y="1055623"/>
                </a:lnTo>
                <a:lnTo>
                  <a:pt x="456057" y="1055496"/>
                </a:lnTo>
                <a:close/>
              </a:path>
              <a:path w="666115" h="1273175">
                <a:moveTo>
                  <a:pt x="553981" y="1005966"/>
                </a:moveTo>
                <a:lnTo>
                  <a:pt x="533146" y="1005966"/>
                </a:lnTo>
                <a:lnTo>
                  <a:pt x="508635" y="1022984"/>
                </a:lnTo>
                <a:lnTo>
                  <a:pt x="482854" y="1039494"/>
                </a:lnTo>
                <a:lnTo>
                  <a:pt x="483108" y="1039367"/>
                </a:lnTo>
                <a:lnTo>
                  <a:pt x="506674" y="1039367"/>
                </a:lnTo>
                <a:lnTo>
                  <a:pt x="515747" y="1033525"/>
                </a:lnTo>
                <a:lnTo>
                  <a:pt x="540512" y="1016253"/>
                </a:lnTo>
                <a:lnTo>
                  <a:pt x="553981" y="1005966"/>
                </a:lnTo>
                <a:close/>
              </a:path>
              <a:path w="666115" h="1273175">
                <a:moveTo>
                  <a:pt x="508762" y="1022857"/>
                </a:moveTo>
                <a:lnTo>
                  <a:pt x="508564" y="1022984"/>
                </a:lnTo>
                <a:lnTo>
                  <a:pt x="508762" y="1022857"/>
                </a:lnTo>
                <a:close/>
              </a:path>
              <a:path w="666115" h="1273175">
                <a:moveTo>
                  <a:pt x="575358" y="988694"/>
                </a:moveTo>
                <a:lnTo>
                  <a:pt x="555879" y="988694"/>
                </a:lnTo>
                <a:lnTo>
                  <a:pt x="532892" y="1006093"/>
                </a:lnTo>
                <a:lnTo>
                  <a:pt x="533146" y="1005966"/>
                </a:lnTo>
                <a:lnTo>
                  <a:pt x="553981" y="1005966"/>
                </a:lnTo>
                <a:lnTo>
                  <a:pt x="563626" y="998600"/>
                </a:lnTo>
                <a:lnTo>
                  <a:pt x="575358" y="988694"/>
                </a:lnTo>
                <a:close/>
              </a:path>
              <a:path w="666115" h="1273175">
                <a:moveTo>
                  <a:pt x="595249" y="971041"/>
                </a:moveTo>
                <a:lnTo>
                  <a:pt x="576580" y="971041"/>
                </a:lnTo>
                <a:lnTo>
                  <a:pt x="555625" y="988821"/>
                </a:lnTo>
                <a:lnTo>
                  <a:pt x="555879" y="988694"/>
                </a:lnTo>
                <a:lnTo>
                  <a:pt x="575358" y="988694"/>
                </a:lnTo>
                <a:lnTo>
                  <a:pt x="584835" y="980693"/>
                </a:lnTo>
                <a:lnTo>
                  <a:pt x="594868" y="971422"/>
                </a:lnTo>
                <a:lnTo>
                  <a:pt x="595249" y="971041"/>
                </a:lnTo>
                <a:close/>
              </a:path>
              <a:path w="666115" h="1273175">
                <a:moveTo>
                  <a:pt x="586105" y="962151"/>
                </a:moveTo>
                <a:lnTo>
                  <a:pt x="576326" y="971168"/>
                </a:lnTo>
                <a:lnTo>
                  <a:pt x="576580" y="971041"/>
                </a:lnTo>
                <a:lnTo>
                  <a:pt x="595249" y="971041"/>
                </a:lnTo>
                <a:lnTo>
                  <a:pt x="603885" y="962405"/>
                </a:lnTo>
                <a:lnTo>
                  <a:pt x="585978" y="962405"/>
                </a:lnTo>
                <a:lnTo>
                  <a:pt x="586105" y="962151"/>
                </a:lnTo>
                <a:close/>
              </a:path>
              <a:path w="666115" h="1273175">
                <a:moveTo>
                  <a:pt x="612548" y="953261"/>
                </a:moveTo>
                <a:lnTo>
                  <a:pt x="595122" y="953261"/>
                </a:lnTo>
                <a:lnTo>
                  <a:pt x="585978" y="962405"/>
                </a:lnTo>
                <a:lnTo>
                  <a:pt x="603885" y="962405"/>
                </a:lnTo>
                <a:lnTo>
                  <a:pt x="612548" y="953261"/>
                </a:lnTo>
                <a:close/>
              </a:path>
              <a:path w="666115" h="1273175">
                <a:moveTo>
                  <a:pt x="627659" y="935100"/>
                </a:moveTo>
                <a:lnTo>
                  <a:pt x="611505" y="935100"/>
                </a:lnTo>
                <a:lnTo>
                  <a:pt x="603504" y="944371"/>
                </a:lnTo>
                <a:lnTo>
                  <a:pt x="594995" y="953388"/>
                </a:lnTo>
                <a:lnTo>
                  <a:pt x="595122" y="953261"/>
                </a:lnTo>
                <a:lnTo>
                  <a:pt x="612548" y="953261"/>
                </a:lnTo>
                <a:lnTo>
                  <a:pt x="613029" y="952753"/>
                </a:lnTo>
                <a:lnTo>
                  <a:pt x="621157" y="943228"/>
                </a:lnTo>
                <a:lnTo>
                  <a:pt x="627659" y="935100"/>
                </a:lnTo>
                <a:close/>
              </a:path>
              <a:path w="666115" h="1273175">
                <a:moveTo>
                  <a:pt x="603631" y="944117"/>
                </a:moveTo>
                <a:lnTo>
                  <a:pt x="603394" y="944371"/>
                </a:lnTo>
                <a:lnTo>
                  <a:pt x="603631" y="944117"/>
                </a:lnTo>
                <a:close/>
              </a:path>
              <a:path w="666115" h="1273175">
                <a:moveTo>
                  <a:pt x="640294" y="916812"/>
                </a:moveTo>
                <a:lnTo>
                  <a:pt x="625348" y="916812"/>
                </a:lnTo>
                <a:lnTo>
                  <a:pt x="625094" y="917193"/>
                </a:lnTo>
                <a:lnTo>
                  <a:pt x="618617" y="926210"/>
                </a:lnTo>
                <a:lnTo>
                  <a:pt x="611251" y="935227"/>
                </a:lnTo>
                <a:lnTo>
                  <a:pt x="611505" y="935100"/>
                </a:lnTo>
                <a:lnTo>
                  <a:pt x="627659" y="935100"/>
                </a:lnTo>
                <a:lnTo>
                  <a:pt x="628777" y="933703"/>
                </a:lnTo>
                <a:lnTo>
                  <a:pt x="635762" y="924178"/>
                </a:lnTo>
                <a:lnTo>
                  <a:pt x="640294" y="916812"/>
                </a:lnTo>
                <a:close/>
              </a:path>
              <a:path w="666115" h="1273175">
                <a:moveTo>
                  <a:pt x="618744" y="925956"/>
                </a:moveTo>
                <a:lnTo>
                  <a:pt x="618538" y="926210"/>
                </a:lnTo>
                <a:lnTo>
                  <a:pt x="618744" y="925956"/>
                </a:lnTo>
                <a:close/>
              </a:path>
              <a:path w="666115" h="1273175">
                <a:moveTo>
                  <a:pt x="625226" y="916983"/>
                </a:moveTo>
                <a:lnTo>
                  <a:pt x="625075" y="917193"/>
                </a:lnTo>
                <a:lnTo>
                  <a:pt x="625226" y="916983"/>
                </a:lnTo>
                <a:close/>
              </a:path>
              <a:path w="666115" h="1273175">
                <a:moveTo>
                  <a:pt x="650415" y="898397"/>
                </a:moveTo>
                <a:lnTo>
                  <a:pt x="636270" y="898397"/>
                </a:lnTo>
                <a:lnTo>
                  <a:pt x="636143" y="898651"/>
                </a:lnTo>
                <a:lnTo>
                  <a:pt x="630936" y="907922"/>
                </a:lnTo>
                <a:lnTo>
                  <a:pt x="625226" y="916983"/>
                </a:lnTo>
                <a:lnTo>
                  <a:pt x="625348" y="916812"/>
                </a:lnTo>
                <a:lnTo>
                  <a:pt x="640294" y="916812"/>
                </a:lnTo>
                <a:lnTo>
                  <a:pt x="641858" y="914272"/>
                </a:lnTo>
                <a:lnTo>
                  <a:pt x="647446" y="904493"/>
                </a:lnTo>
                <a:lnTo>
                  <a:pt x="650415" y="898397"/>
                </a:lnTo>
                <a:close/>
              </a:path>
              <a:path w="666115" h="1273175">
                <a:moveTo>
                  <a:pt x="631063" y="907668"/>
                </a:moveTo>
                <a:lnTo>
                  <a:pt x="630903" y="907922"/>
                </a:lnTo>
                <a:lnTo>
                  <a:pt x="631063" y="907668"/>
                </a:lnTo>
                <a:close/>
              </a:path>
              <a:path w="666115" h="1273175">
                <a:moveTo>
                  <a:pt x="636234" y="898461"/>
                </a:moveTo>
                <a:lnTo>
                  <a:pt x="636127" y="898651"/>
                </a:lnTo>
                <a:lnTo>
                  <a:pt x="636234" y="898461"/>
                </a:lnTo>
                <a:close/>
              </a:path>
              <a:path w="666115" h="1273175">
                <a:moveTo>
                  <a:pt x="660228" y="870711"/>
                </a:moveTo>
                <a:lnTo>
                  <a:pt x="647319" y="870711"/>
                </a:lnTo>
                <a:lnTo>
                  <a:pt x="647192" y="871219"/>
                </a:lnTo>
                <a:lnTo>
                  <a:pt x="644271" y="880490"/>
                </a:lnTo>
                <a:lnTo>
                  <a:pt x="640588" y="889634"/>
                </a:lnTo>
                <a:lnTo>
                  <a:pt x="636234" y="898461"/>
                </a:lnTo>
                <a:lnTo>
                  <a:pt x="650415" y="898397"/>
                </a:lnTo>
                <a:lnTo>
                  <a:pt x="652272" y="894587"/>
                </a:lnTo>
                <a:lnTo>
                  <a:pt x="656209" y="884427"/>
                </a:lnTo>
                <a:lnTo>
                  <a:pt x="659384" y="874267"/>
                </a:lnTo>
                <a:lnTo>
                  <a:pt x="660228" y="870711"/>
                </a:lnTo>
                <a:close/>
              </a:path>
              <a:path w="666115" h="1273175">
                <a:moveTo>
                  <a:pt x="640715" y="889126"/>
                </a:moveTo>
                <a:lnTo>
                  <a:pt x="640471" y="889634"/>
                </a:lnTo>
                <a:lnTo>
                  <a:pt x="640715" y="889126"/>
                </a:lnTo>
                <a:close/>
              </a:path>
              <a:path w="666115" h="1273175">
                <a:moveTo>
                  <a:pt x="644398" y="879982"/>
                </a:moveTo>
                <a:lnTo>
                  <a:pt x="644197" y="880490"/>
                </a:lnTo>
                <a:lnTo>
                  <a:pt x="644398" y="879982"/>
                </a:lnTo>
                <a:close/>
              </a:path>
              <a:path w="666115" h="1273175">
                <a:moveTo>
                  <a:pt x="647286" y="870817"/>
                </a:moveTo>
                <a:lnTo>
                  <a:pt x="647160" y="871219"/>
                </a:lnTo>
                <a:lnTo>
                  <a:pt x="647286" y="870817"/>
                </a:lnTo>
                <a:close/>
              </a:path>
              <a:path w="666115" h="1273175">
                <a:moveTo>
                  <a:pt x="662197" y="861440"/>
                </a:moveTo>
                <a:lnTo>
                  <a:pt x="649478" y="861440"/>
                </a:lnTo>
                <a:lnTo>
                  <a:pt x="649351" y="862075"/>
                </a:lnTo>
                <a:lnTo>
                  <a:pt x="647286" y="870817"/>
                </a:lnTo>
                <a:lnTo>
                  <a:pt x="660228" y="870711"/>
                </a:lnTo>
                <a:lnTo>
                  <a:pt x="661797" y="864107"/>
                </a:lnTo>
                <a:lnTo>
                  <a:pt x="662197" y="861440"/>
                </a:lnTo>
                <a:close/>
              </a:path>
              <a:path w="666115" h="1273175">
                <a:moveTo>
                  <a:pt x="649383" y="861844"/>
                </a:moveTo>
                <a:lnTo>
                  <a:pt x="649329" y="862075"/>
                </a:lnTo>
                <a:lnTo>
                  <a:pt x="649383" y="861844"/>
                </a:lnTo>
                <a:close/>
              </a:path>
              <a:path w="666115" h="1273175">
                <a:moveTo>
                  <a:pt x="666111" y="822197"/>
                </a:moveTo>
                <a:lnTo>
                  <a:pt x="653415" y="822197"/>
                </a:lnTo>
                <a:lnTo>
                  <a:pt x="653415" y="822705"/>
                </a:lnTo>
                <a:lnTo>
                  <a:pt x="652145" y="842644"/>
                </a:lnTo>
                <a:lnTo>
                  <a:pt x="649383" y="861844"/>
                </a:lnTo>
                <a:lnTo>
                  <a:pt x="649478" y="861440"/>
                </a:lnTo>
                <a:lnTo>
                  <a:pt x="662197" y="861440"/>
                </a:lnTo>
                <a:lnTo>
                  <a:pt x="664845" y="843787"/>
                </a:lnTo>
                <a:lnTo>
                  <a:pt x="666115" y="822832"/>
                </a:lnTo>
                <a:lnTo>
                  <a:pt x="666111" y="822197"/>
                </a:lnTo>
                <a:close/>
              </a:path>
              <a:path w="666115" h="1273175">
                <a:moveTo>
                  <a:pt x="652145" y="842263"/>
                </a:moveTo>
                <a:lnTo>
                  <a:pt x="652091" y="842644"/>
                </a:lnTo>
                <a:lnTo>
                  <a:pt x="652145" y="842263"/>
                </a:lnTo>
                <a:close/>
              </a:path>
              <a:path w="666115" h="1273175">
                <a:moveTo>
                  <a:pt x="653412" y="822242"/>
                </a:moveTo>
                <a:lnTo>
                  <a:pt x="653383" y="822705"/>
                </a:lnTo>
                <a:lnTo>
                  <a:pt x="653412" y="822242"/>
                </a:lnTo>
                <a:close/>
              </a:path>
              <a:path w="666115" h="1273175">
                <a:moveTo>
                  <a:pt x="664542" y="780160"/>
                </a:moveTo>
                <a:lnTo>
                  <a:pt x="651764" y="780160"/>
                </a:lnTo>
                <a:lnTo>
                  <a:pt x="653415" y="802004"/>
                </a:lnTo>
                <a:lnTo>
                  <a:pt x="653412" y="822242"/>
                </a:lnTo>
                <a:lnTo>
                  <a:pt x="666111" y="822197"/>
                </a:lnTo>
                <a:lnTo>
                  <a:pt x="665988" y="801242"/>
                </a:lnTo>
                <a:lnTo>
                  <a:pt x="664542" y="780160"/>
                </a:lnTo>
                <a:close/>
              </a:path>
              <a:path w="666115" h="1273175">
                <a:moveTo>
                  <a:pt x="653288" y="801496"/>
                </a:moveTo>
                <a:lnTo>
                  <a:pt x="653291" y="802004"/>
                </a:lnTo>
                <a:lnTo>
                  <a:pt x="653288" y="801496"/>
                </a:lnTo>
                <a:close/>
              </a:path>
              <a:path w="666115" h="1273175">
                <a:moveTo>
                  <a:pt x="661655" y="758189"/>
                </a:moveTo>
                <a:lnTo>
                  <a:pt x="648843" y="758189"/>
                </a:lnTo>
                <a:lnTo>
                  <a:pt x="651764" y="780541"/>
                </a:lnTo>
                <a:lnTo>
                  <a:pt x="651764" y="780160"/>
                </a:lnTo>
                <a:lnTo>
                  <a:pt x="664542" y="780160"/>
                </a:lnTo>
                <a:lnTo>
                  <a:pt x="664464" y="779017"/>
                </a:lnTo>
                <a:lnTo>
                  <a:pt x="661655" y="758189"/>
                </a:lnTo>
                <a:close/>
              </a:path>
              <a:path w="666115" h="1273175">
                <a:moveTo>
                  <a:pt x="657546" y="735583"/>
                </a:moveTo>
                <a:lnTo>
                  <a:pt x="644652" y="735583"/>
                </a:lnTo>
                <a:lnTo>
                  <a:pt x="648843" y="758570"/>
                </a:lnTo>
                <a:lnTo>
                  <a:pt x="648843" y="758189"/>
                </a:lnTo>
                <a:lnTo>
                  <a:pt x="661655" y="758189"/>
                </a:lnTo>
                <a:lnTo>
                  <a:pt x="661416" y="756411"/>
                </a:lnTo>
                <a:lnTo>
                  <a:pt x="657546" y="735583"/>
                </a:lnTo>
                <a:close/>
              </a:path>
              <a:path w="666115" h="1273175">
                <a:moveTo>
                  <a:pt x="652223" y="712342"/>
                </a:moveTo>
                <a:lnTo>
                  <a:pt x="639191" y="712342"/>
                </a:lnTo>
                <a:lnTo>
                  <a:pt x="644652" y="735837"/>
                </a:lnTo>
                <a:lnTo>
                  <a:pt x="644652" y="735583"/>
                </a:lnTo>
                <a:lnTo>
                  <a:pt x="657546" y="735583"/>
                </a:lnTo>
                <a:lnTo>
                  <a:pt x="657098" y="733170"/>
                </a:lnTo>
                <a:lnTo>
                  <a:pt x="652223" y="712342"/>
                </a:lnTo>
                <a:close/>
              </a:path>
              <a:path w="666115" h="1273175">
                <a:moveTo>
                  <a:pt x="637836" y="664209"/>
                </a:moveTo>
                <a:lnTo>
                  <a:pt x="624459" y="664209"/>
                </a:lnTo>
                <a:lnTo>
                  <a:pt x="632460" y="688720"/>
                </a:lnTo>
                <a:lnTo>
                  <a:pt x="639191" y="712596"/>
                </a:lnTo>
                <a:lnTo>
                  <a:pt x="639191" y="712342"/>
                </a:lnTo>
                <a:lnTo>
                  <a:pt x="652223" y="712342"/>
                </a:lnTo>
                <a:lnTo>
                  <a:pt x="651510" y="709294"/>
                </a:lnTo>
                <a:lnTo>
                  <a:pt x="644525" y="684910"/>
                </a:lnTo>
                <a:lnTo>
                  <a:pt x="637836" y="664209"/>
                </a:lnTo>
                <a:close/>
              </a:path>
              <a:path w="666115" h="1273175">
                <a:moveTo>
                  <a:pt x="632333" y="688593"/>
                </a:moveTo>
                <a:close/>
              </a:path>
              <a:path w="666115" h="1273175">
                <a:moveTo>
                  <a:pt x="607882" y="588136"/>
                </a:moveTo>
                <a:lnTo>
                  <a:pt x="594106" y="588136"/>
                </a:lnTo>
                <a:lnTo>
                  <a:pt x="605409" y="614171"/>
                </a:lnTo>
                <a:lnTo>
                  <a:pt x="615569" y="639571"/>
                </a:lnTo>
                <a:lnTo>
                  <a:pt x="624459" y="664336"/>
                </a:lnTo>
                <a:lnTo>
                  <a:pt x="624459" y="664209"/>
                </a:lnTo>
                <a:lnTo>
                  <a:pt x="637836" y="664209"/>
                </a:lnTo>
                <a:lnTo>
                  <a:pt x="636524" y="660145"/>
                </a:lnTo>
                <a:lnTo>
                  <a:pt x="627380" y="634872"/>
                </a:lnTo>
                <a:lnTo>
                  <a:pt x="617093" y="609218"/>
                </a:lnTo>
                <a:lnTo>
                  <a:pt x="607882" y="588136"/>
                </a:lnTo>
                <a:close/>
              </a:path>
              <a:path w="666115" h="1273175">
                <a:moveTo>
                  <a:pt x="615442" y="639317"/>
                </a:moveTo>
                <a:lnTo>
                  <a:pt x="615533" y="639571"/>
                </a:lnTo>
                <a:lnTo>
                  <a:pt x="615442" y="639317"/>
                </a:lnTo>
                <a:close/>
              </a:path>
              <a:path w="666115" h="1273175">
                <a:moveTo>
                  <a:pt x="605282" y="614044"/>
                </a:moveTo>
                <a:close/>
              </a:path>
              <a:path w="666115" h="1273175">
                <a:moveTo>
                  <a:pt x="554451" y="480567"/>
                </a:moveTo>
                <a:lnTo>
                  <a:pt x="540004" y="480567"/>
                </a:lnTo>
                <a:lnTo>
                  <a:pt x="554863" y="508126"/>
                </a:lnTo>
                <a:lnTo>
                  <a:pt x="568960" y="535304"/>
                </a:lnTo>
                <a:lnTo>
                  <a:pt x="582041" y="562101"/>
                </a:lnTo>
                <a:lnTo>
                  <a:pt x="594106" y="588263"/>
                </a:lnTo>
                <a:lnTo>
                  <a:pt x="607882" y="588136"/>
                </a:lnTo>
                <a:lnTo>
                  <a:pt x="605663" y="583056"/>
                </a:lnTo>
                <a:lnTo>
                  <a:pt x="593471" y="556513"/>
                </a:lnTo>
                <a:lnTo>
                  <a:pt x="580263" y="529589"/>
                </a:lnTo>
                <a:lnTo>
                  <a:pt x="566039" y="502157"/>
                </a:lnTo>
                <a:lnTo>
                  <a:pt x="554451" y="480567"/>
                </a:lnTo>
                <a:close/>
              </a:path>
              <a:path w="666115" h="1273175">
                <a:moveTo>
                  <a:pt x="581914" y="561974"/>
                </a:moveTo>
                <a:close/>
              </a:path>
              <a:path w="666115" h="1273175">
                <a:moveTo>
                  <a:pt x="568833" y="535177"/>
                </a:moveTo>
                <a:lnTo>
                  <a:pt x="568895" y="535304"/>
                </a:lnTo>
                <a:lnTo>
                  <a:pt x="568833" y="535177"/>
                </a:lnTo>
                <a:close/>
              </a:path>
              <a:path w="666115" h="1273175">
                <a:moveTo>
                  <a:pt x="538939" y="452754"/>
                </a:moveTo>
                <a:lnTo>
                  <a:pt x="524383" y="452754"/>
                </a:lnTo>
                <a:lnTo>
                  <a:pt x="540004" y="480694"/>
                </a:lnTo>
                <a:lnTo>
                  <a:pt x="554451" y="480567"/>
                </a:lnTo>
                <a:lnTo>
                  <a:pt x="551180" y="474471"/>
                </a:lnTo>
                <a:lnTo>
                  <a:pt x="538939" y="452754"/>
                </a:lnTo>
                <a:close/>
              </a:path>
              <a:path w="666115" h="1273175">
                <a:moveTo>
                  <a:pt x="469843" y="338200"/>
                </a:moveTo>
                <a:lnTo>
                  <a:pt x="454914" y="338200"/>
                </a:lnTo>
                <a:lnTo>
                  <a:pt x="473202" y="367283"/>
                </a:lnTo>
                <a:lnTo>
                  <a:pt x="490982" y="396112"/>
                </a:lnTo>
                <a:lnTo>
                  <a:pt x="508000" y="424560"/>
                </a:lnTo>
                <a:lnTo>
                  <a:pt x="524383" y="452881"/>
                </a:lnTo>
                <a:lnTo>
                  <a:pt x="538939" y="452754"/>
                </a:lnTo>
                <a:lnTo>
                  <a:pt x="535432" y="446531"/>
                </a:lnTo>
                <a:lnTo>
                  <a:pt x="518922" y="418083"/>
                </a:lnTo>
                <a:lnTo>
                  <a:pt x="501777" y="389508"/>
                </a:lnTo>
                <a:lnTo>
                  <a:pt x="483997" y="360552"/>
                </a:lnTo>
                <a:lnTo>
                  <a:pt x="469843" y="338200"/>
                </a:lnTo>
                <a:close/>
              </a:path>
              <a:path w="666115" h="1273175">
                <a:moveTo>
                  <a:pt x="490855" y="395985"/>
                </a:moveTo>
                <a:close/>
              </a:path>
              <a:path w="666115" h="1273175">
                <a:moveTo>
                  <a:pt x="412037" y="249681"/>
                </a:moveTo>
                <a:lnTo>
                  <a:pt x="396875" y="249681"/>
                </a:lnTo>
                <a:lnTo>
                  <a:pt x="436118" y="308990"/>
                </a:lnTo>
                <a:lnTo>
                  <a:pt x="454914" y="338327"/>
                </a:lnTo>
                <a:lnTo>
                  <a:pt x="469843" y="338200"/>
                </a:lnTo>
                <a:lnTo>
                  <a:pt x="465582" y="331469"/>
                </a:lnTo>
                <a:lnTo>
                  <a:pt x="446659" y="302005"/>
                </a:lnTo>
                <a:lnTo>
                  <a:pt x="412037" y="249681"/>
                </a:lnTo>
                <a:close/>
              </a:path>
              <a:path w="666115" h="1273175">
                <a:moveTo>
                  <a:pt x="435991" y="308863"/>
                </a:moveTo>
                <a:close/>
              </a:path>
              <a:path w="666115" h="1273175">
                <a:moveTo>
                  <a:pt x="329624" y="129158"/>
                </a:moveTo>
                <a:lnTo>
                  <a:pt x="314198" y="129158"/>
                </a:lnTo>
                <a:lnTo>
                  <a:pt x="356108" y="189737"/>
                </a:lnTo>
                <a:lnTo>
                  <a:pt x="396875" y="249808"/>
                </a:lnTo>
                <a:lnTo>
                  <a:pt x="412037" y="249681"/>
                </a:lnTo>
                <a:lnTo>
                  <a:pt x="407416" y="242696"/>
                </a:lnTo>
                <a:lnTo>
                  <a:pt x="366649" y="182625"/>
                </a:lnTo>
                <a:lnTo>
                  <a:pt x="329624" y="129158"/>
                </a:lnTo>
                <a:close/>
              </a:path>
              <a:path w="666115" h="1273175">
                <a:moveTo>
                  <a:pt x="238633" y="0"/>
                </a:moveTo>
                <a:lnTo>
                  <a:pt x="228219" y="7365"/>
                </a:lnTo>
                <a:lnTo>
                  <a:pt x="314198" y="129285"/>
                </a:lnTo>
                <a:lnTo>
                  <a:pt x="314198" y="129158"/>
                </a:lnTo>
                <a:lnTo>
                  <a:pt x="329624" y="129158"/>
                </a:lnTo>
                <a:lnTo>
                  <a:pt x="324612" y="121919"/>
                </a:lnTo>
                <a:lnTo>
                  <a:pt x="238633"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27" name="object 12"/>
          <p:cNvSpPr/>
          <p:nvPr/>
        </p:nvSpPr>
        <p:spPr>
          <a:xfrm>
            <a:off x="7470648" y="2645727"/>
            <a:ext cx="306705" cy="1496695"/>
          </a:xfrm>
          <a:custGeom>
            <a:avLst/>
            <a:gdLst/>
            <a:ahLst/>
            <a:cxnLst/>
            <a:rect l="l" t="t" r="r" b="b"/>
            <a:pathLst>
              <a:path w="306704" h="1496695">
                <a:moveTo>
                  <a:pt x="0" y="0"/>
                </a:moveTo>
                <a:lnTo>
                  <a:pt x="59614" y="2006"/>
                </a:lnTo>
                <a:lnTo>
                  <a:pt x="108299" y="7477"/>
                </a:lnTo>
                <a:lnTo>
                  <a:pt x="141124" y="15591"/>
                </a:lnTo>
                <a:lnTo>
                  <a:pt x="153161" y="25526"/>
                </a:lnTo>
                <a:lnTo>
                  <a:pt x="153161" y="722756"/>
                </a:lnTo>
                <a:lnTo>
                  <a:pt x="165199" y="732692"/>
                </a:lnTo>
                <a:lnTo>
                  <a:pt x="198024" y="740806"/>
                </a:lnTo>
                <a:lnTo>
                  <a:pt x="246709" y="746277"/>
                </a:lnTo>
                <a:lnTo>
                  <a:pt x="306324" y="748283"/>
                </a:lnTo>
                <a:lnTo>
                  <a:pt x="246709" y="750290"/>
                </a:lnTo>
                <a:lnTo>
                  <a:pt x="198024" y="755761"/>
                </a:lnTo>
                <a:lnTo>
                  <a:pt x="165199" y="763875"/>
                </a:lnTo>
                <a:lnTo>
                  <a:pt x="153161" y="773810"/>
                </a:lnTo>
                <a:lnTo>
                  <a:pt x="153161" y="1471040"/>
                </a:lnTo>
                <a:lnTo>
                  <a:pt x="141124" y="1480976"/>
                </a:lnTo>
                <a:lnTo>
                  <a:pt x="108299" y="1489090"/>
                </a:lnTo>
                <a:lnTo>
                  <a:pt x="59614" y="1494561"/>
                </a:lnTo>
                <a:lnTo>
                  <a:pt x="0" y="1496567"/>
                </a:lnTo>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28" name="object 13"/>
          <p:cNvSpPr txBox="1"/>
          <p:nvPr/>
        </p:nvSpPr>
        <p:spPr>
          <a:xfrm>
            <a:off x="7777353" y="3210509"/>
            <a:ext cx="1151890" cy="269240"/>
          </a:xfrm>
          <a:prstGeom prst="rect">
            <a:avLst/>
          </a:prstGeom>
        </p:spPr>
        <p:txBody>
          <a:bodyPr vert="horz" wrap="square" lIns="0" tIns="12065" rIns="0" bIns="0" rtlCol="0">
            <a:spAutoFit/>
          </a:bodyPr>
          <a:lstStyle/>
          <a:p>
            <a:pPr marL="12700">
              <a:spcBef>
                <a:spcPts val="95"/>
              </a:spcBef>
            </a:pPr>
            <a:r>
              <a:rPr sz="1600" spc="-10" dirty="0">
                <a:solidFill>
                  <a:srgbClr val="FF0000"/>
                </a:solidFill>
                <a:latin typeface="Palatino Linotype" panose="02040502050505030304"/>
                <a:cs typeface="Palatino Linotype" panose="02040502050505030304"/>
              </a:rPr>
              <a:t>Temporaries</a:t>
            </a:r>
            <a:endParaRPr sz="1600" dirty="0">
              <a:solidFill>
                <a:sysClr val="windowText" lastClr="000000"/>
              </a:solidFill>
              <a:latin typeface="Palatino Linotype" panose="02040502050505030304"/>
              <a:cs typeface="Palatino Linotype" panose="0204050205050503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6" grpId="0" animBg="1"/>
      <p:bldP spid="27" grpId="0" animBg="1"/>
      <p:bldP spid="28" grpId="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19</a:t>
            </a:fld>
            <a:endParaRPr lang="en-US"/>
          </a:p>
        </p:txBody>
      </p:sp>
      <p:sp>
        <p:nvSpPr>
          <p:cNvPr id="17"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30" normalizeH="0" baseline="0" noProof="0">
                <a:ln>
                  <a:noFill/>
                </a:ln>
                <a:solidFill>
                  <a:srgbClr val="000000"/>
                </a:solidFill>
                <a:effectLst/>
                <a:uLnTx/>
                <a:uFillTx/>
                <a:latin typeface="Palatino Linotype" panose="02040502050505030304"/>
                <a:ea typeface="+mj-ea"/>
              </a:rPr>
              <a:t>Triples</a:t>
            </a:r>
            <a:r>
              <a:rPr kumimoji="0" lang="en-US" sz="4000" b="1" i="0" u="none" strike="noStrike" kern="0" cap="none" spc="-105" normalizeH="0" baseline="0" noProof="0">
                <a:ln>
                  <a:noFill/>
                </a:ln>
                <a:solidFill>
                  <a:srgbClr val="000000"/>
                </a:solidFill>
                <a:effectLst/>
                <a:uLnTx/>
                <a:uFillTx/>
                <a:latin typeface="Palatino Linotype" panose="02040502050505030304"/>
                <a:ea typeface="+mj-ea"/>
              </a:rPr>
              <a:t> (</a:t>
            </a:r>
            <a:r>
              <a:rPr kumimoji="0" lang="zh-CN" altLang="en-US" sz="4000" b="0" i="0" u="none" strike="noStrike" kern="0" cap="none" spc="-35"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rPr>
              <a:t>三元式</a:t>
            </a:r>
            <a:r>
              <a:rPr kumimoji="0" lang="en-US" altLang="zh-CN" sz="4000" b="1" i="0" u="none" strike="noStrike" kern="0" cap="none" spc="-50" normalizeH="0" baseline="0" noProof="0">
                <a:ln>
                  <a:noFill/>
                </a:ln>
                <a:solidFill>
                  <a:srgbClr val="000000"/>
                </a:solidFill>
                <a:effectLst/>
                <a:uLnTx/>
                <a:uFillTx/>
                <a:latin typeface="Palatino Linotype" panose="02040502050505030304"/>
                <a:ea typeface="宋体" panose="02010600030101010101" pitchFamily="2" charset="-122"/>
              </a:rPr>
              <a:t>)</a:t>
            </a:r>
            <a:endParaRPr kumimoji="0" lang="en-US" altLang="zh-CN" sz="4000" b="1" i="0" u="none" strike="noStrike" kern="0" cap="none" spc="-50" normalizeH="0" baseline="0" noProof="0" dirty="0">
              <a:ln>
                <a:noFill/>
              </a:ln>
              <a:solidFill>
                <a:srgbClr val="000000"/>
              </a:solidFill>
              <a:effectLst/>
              <a:uLnTx/>
              <a:uFillTx/>
              <a:latin typeface="Palatino Linotype" panose="02040502050505030304"/>
              <a:ea typeface="宋体" panose="02010600030101010101" pitchFamily="2" charset="-122"/>
            </a:endParaRPr>
          </a:p>
        </p:txBody>
      </p:sp>
      <p:sp>
        <p:nvSpPr>
          <p:cNvPr id="18" name="object 3"/>
          <p:cNvSpPr txBox="1"/>
          <p:nvPr/>
        </p:nvSpPr>
        <p:spPr>
          <a:xfrm>
            <a:off x="694842" y="1583816"/>
            <a:ext cx="7701915" cy="1215390"/>
          </a:xfrm>
          <a:prstGeom prst="rect">
            <a:avLst/>
          </a:prstGeom>
        </p:spPr>
        <p:txBody>
          <a:bodyPr vert="horz" wrap="square" lIns="0" tIns="13335" rIns="0" bIns="0" rtlCol="0">
            <a:spAutoFit/>
          </a:bodyPr>
          <a:lstStyle/>
          <a:p>
            <a:pPr marL="255270" indent="-229870">
              <a:spcBef>
                <a:spcPts val="105"/>
              </a:spcBef>
              <a:buFont typeface="Arial MT"/>
              <a:buChar char="•"/>
              <a:tabLst>
                <a:tab pos="255270" algn="l"/>
              </a:tabLst>
            </a:pPr>
            <a:r>
              <a:rPr sz="2000" dirty="0">
                <a:solidFill>
                  <a:sysClr val="windowText" lastClr="000000"/>
                </a:solidFill>
                <a:latin typeface="Palatino Linotype" panose="02040502050505030304"/>
                <a:cs typeface="Palatino Linotype" panose="02040502050505030304"/>
              </a:rPr>
              <a:t>A</a:t>
            </a:r>
            <a:r>
              <a:rPr sz="2000" spc="-130" dirty="0">
                <a:solidFill>
                  <a:sysClr val="windowText" lastClr="000000"/>
                </a:solidFill>
                <a:latin typeface="Palatino Linotype" panose="02040502050505030304"/>
                <a:cs typeface="Palatino Linotype" panose="02040502050505030304"/>
              </a:rPr>
              <a:t> </a:t>
            </a:r>
            <a:r>
              <a:rPr sz="2000" i="1" dirty="0">
                <a:solidFill>
                  <a:srgbClr val="FF0000"/>
                </a:solidFill>
                <a:latin typeface="Palatino Linotype" panose="02040502050505030304"/>
                <a:cs typeface="Palatino Linotype" panose="02040502050505030304"/>
              </a:rPr>
              <a:t>triple</a:t>
            </a:r>
            <a:r>
              <a:rPr sz="2000" i="1" spc="-70" dirty="0">
                <a:solidFill>
                  <a:srgbClr val="FF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has</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only</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three</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fields:</a:t>
            </a:r>
            <a:r>
              <a:rPr sz="2000" spc="-30" dirty="0">
                <a:solidFill>
                  <a:sysClr val="windowText" lastClr="000000"/>
                </a:solidFill>
                <a:latin typeface="Palatino Linotype" panose="02040502050505030304"/>
                <a:cs typeface="Palatino Linotype" panose="02040502050505030304"/>
              </a:rPr>
              <a:t> </a:t>
            </a:r>
            <a:r>
              <a:rPr sz="2000" i="1" dirty="0">
                <a:solidFill>
                  <a:sysClr val="windowText" lastClr="000000"/>
                </a:solidFill>
                <a:latin typeface="Palatino Linotype" panose="02040502050505030304"/>
                <a:cs typeface="Palatino Linotype" panose="02040502050505030304"/>
              </a:rPr>
              <a:t>op</a:t>
            </a:r>
            <a:r>
              <a:rPr sz="2000" dirty="0">
                <a:solidFill>
                  <a:sysClr val="windowText" lastClr="000000"/>
                </a:solidFill>
                <a:latin typeface="Palatino Linotype" panose="02040502050505030304"/>
                <a:cs typeface="Palatino Linotype" panose="02040502050505030304"/>
              </a:rPr>
              <a:t>,</a:t>
            </a:r>
            <a:r>
              <a:rPr sz="2000" spc="-25" dirty="0">
                <a:solidFill>
                  <a:sysClr val="windowText" lastClr="000000"/>
                </a:solidFill>
                <a:latin typeface="Palatino Linotype" panose="02040502050505030304"/>
                <a:cs typeface="Palatino Linotype" panose="02040502050505030304"/>
              </a:rPr>
              <a:t> </a:t>
            </a:r>
            <a:r>
              <a:rPr sz="2000" i="1" dirty="0">
                <a:solidFill>
                  <a:sysClr val="windowText" lastClr="000000"/>
                </a:solidFill>
                <a:latin typeface="Palatino Linotype" panose="02040502050505030304"/>
                <a:cs typeface="Palatino Linotype" panose="02040502050505030304"/>
              </a:rPr>
              <a:t>arg</a:t>
            </a:r>
            <a:r>
              <a:rPr sz="1950" baseline="-21000" dirty="0">
                <a:solidFill>
                  <a:sysClr val="windowText" lastClr="000000"/>
                </a:solidFill>
                <a:latin typeface="Palatino Linotype" panose="02040502050505030304"/>
                <a:cs typeface="Palatino Linotype" panose="02040502050505030304"/>
              </a:rPr>
              <a:t>1</a:t>
            </a:r>
            <a:r>
              <a:rPr sz="2000" dirty="0">
                <a:solidFill>
                  <a:sysClr val="windowText" lastClr="000000"/>
                </a:solidFill>
                <a:latin typeface="Palatino Linotype" panose="02040502050505030304"/>
                <a:cs typeface="Palatino Linotype" panose="02040502050505030304"/>
              </a:rPr>
              <a:t>,</a:t>
            </a:r>
            <a:r>
              <a:rPr sz="2000" spc="-50" dirty="0">
                <a:solidFill>
                  <a:sysClr val="windowText" lastClr="000000"/>
                </a:solidFill>
                <a:latin typeface="Palatino Linotype" panose="02040502050505030304"/>
                <a:cs typeface="Palatino Linotype" panose="02040502050505030304"/>
              </a:rPr>
              <a:t> </a:t>
            </a:r>
            <a:r>
              <a:rPr sz="2000" i="1" spc="-20" dirty="0">
                <a:solidFill>
                  <a:sysClr val="windowText" lastClr="000000"/>
                </a:solidFill>
                <a:latin typeface="Palatino Linotype" panose="02040502050505030304"/>
                <a:cs typeface="Palatino Linotype" panose="02040502050505030304"/>
              </a:rPr>
              <a:t>arg</a:t>
            </a:r>
            <a:r>
              <a:rPr sz="1950" spc="-30" baseline="-21000" dirty="0">
                <a:solidFill>
                  <a:sysClr val="windowText" lastClr="000000"/>
                </a:solidFill>
                <a:latin typeface="Palatino Linotype" panose="02040502050505030304"/>
                <a:cs typeface="Palatino Linotype" panose="02040502050505030304"/>
              </a:rPr>
              <a:t>2</a:t>
            </a:r>
            <a:endParaRPr sz="1950" baseline="-21000">
              <a:solidFill>
                <a:sysClr val="windowText" lastClr="000000"/>
              </a:solidFill>
              <a:latin typeface="Palatino Linotype" panose="02040502050505030304"/>
              <a:cs typeface="Palatino Linotype" panose="02040502050505030304"/>
            </a:endParaRPr>
          </a:p>
          <a:p>
            <a:pPr marL="255270" marR="17780" indent="-230505">
              <a:lnSpc>
                <a:spcPct val="120000"/>
              </a:lnSpc>
              <a:spcBef>
                <a:spcPts val="1200"/>
              </a:spcBef>
              <a:buFont typeface="Arial MT"/>
              <a:buChar char="•"/>
              <a:tabLst>
                <a:tab pos="255270" algn="l"/>
              </a:tabLst>
            </a:pPr>
            <a:r>
              <a:rPr sz="2000" spc="-20" dirty="0">
                <a:solidFill>
                  <a:sysClr val="windowText" lastClr="000000"/>
                </a:solidFill>
                <a:latin typeface="Palatino Linotype" panose="02040502050505030304"/>
                <a:cs typeface="Palatino Linotype" panose="02040502050505030304"/>
              </a:rPr>
              <a:t>We </a:t>
            </a:r>
            <a:r>
              <a:rPr sz="2000" dirty="0">
                <a:solidFill>
                  <a:srgbClr val="FF0000"/>
                </a:solidFill>
                <a:latin typeface="Palatino Linotype" panose="02040502050505030304"/>
                <a:cs typeface="Palatino Linotype" panose="02040502050505030304"/>
              </a:rPr>
              <a:t>refer</a:t>
            </a:r>
            <a:r>
              <a:rPr sz="2000" spc="-40"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to</a:t>
            </a:r>
            <a:r>
              <a:rPr sz="2000" spc="-30"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the</a:t>
            </a:r>
            <a:r>
              <a:rPr sz="2000" spc="-3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result</a:t>
            </a:r>
            <a:r>
              <a:rPr sz="2000" spc="-30"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of</a:t>
            </a:r>
            <a:r>
              <a:rPr sz="2000" spc="-3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an</a:t>
            </a:r>
            <a:r>
              <a:rPr sz="2000" spc="-20"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operation</a:t>
            </a:r>
            <a:r>
              <a:rPr sz="2000" spc="-35" dirty="0">
                <a:solidFill>
                  <a:srgbClr val="FF0000"/>
                </a:solidFill>
                <a:latin typeface="Palatino Linotype" panose="02040502050505030304"/>
                <a:cs typeface="Palatino Linotype" panose="02040502050505030304"/>
              </a:rPr>
              <a:t> </a:t>
            </a:r>
            <a:r>
              <a:rPr sz="2000" i="1" u="sng" dirty="0">
                <a:solidFill>
                  <a:srgbClr val="0431FF"/>
                </a:solidFill>
                <a:uFill>
                  <a:solidFill>
                    <a:srgbClr val="0431FF"/>
                  </a:solidFill>
                </a:uFill>
                <a:latin typeface="Palatino Linotype" panose="02040502050505030304"/>
                <a:cs typeface="Palatino Linotype" panose="02040502050505030304"/>
              </a:rPr>
              <a:t>x</a:t>
            </a:r>
            <a:r>
              <a:rPr sz="2000" i="1" u="sng" spc="-20" dirty="0">
                <a:solidFill>
                  <a:srgbClr val="0431FF"/>
                </a:solidFill>
                <a:uFill>
                  <a:solidFill>
                    <a:srgbClr val="0431FF"/>
                  </a:solidFill>
                </a:uFill>
                <a:latin typeface="Palatino Linotype" panose="02040502050505030304"/>
                <a:cs typeface="Palatino Linotype" panose="02040502050505030304"/>
              </a:rPr>
              <a:t> </a:t>
            </a:r>
            <a:r>
              <a:rPr sz="2000" i="1" u="sng" dirty="0">
                <a:solidFill>
                  <a:srgbClr val="0431FF"/>
                </a:solidFill>
                <a:uFill>
                  <a:solidFill>
                    <a:srgbClr val="0431FF"/>
                  </a:solidFill>
                </a:uFill>
                <a:latin typeface="Palatino Linotype" panose="02040502050505030304"/>
                <a:cs typeface="Palatino Linotype" panose="02040502050505030304"/>
              </a:rPr>
              <a:t>op</a:t>
            </a:r>
            <a:r>
              <a:rPr sz="2000" i="1" u="sng" spc="-30" dirty="0">
                <a:solidFill>
                  <a:srgbClr val="0431FF"/>
                </a:solidFill>
                <a:uFill>
                  <a:solidFill>
                    <a:srgbClr val="0431FF"/>
                  </a:solidFill>
                </a:uFill>
                <a:latin typeface="Palatino Linotype" panose="02040502050505030304"/>
                <a:cs typeface="Palatino Linotype" panose="02040502050505030304"/>
              </a:rPr>
              <a:t> </a:t>
            </a:r>
            <a:r>
              <a:rPr sz="2000" i="1" u="sng" dirty="0">
                <a:solidFill>
                  <a:srgbClr val="0431FF"/>
                </a:solidFill>
                <a:uFill>
                  <a:solidFill>
                    <a:srgbClr val="0431FF"/>
                  </a:solidFill>
                </a:uFill>
                <a:latin typeface="Palatino Linotype" panose="02040502050505030304"/>
                <a:cs typeface="Palatino Linotype" panose="02040502050505030304"/>
              </a:rPr>
              <a:t>y</a:t>
            </a:r>
            <a:r>
              <a:rPr sz="2000" i="1" spc="-20" dirty="0">
                <a:solidFill>
                  <a:srgbClr val="0431FF"/>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by</a:t>
            </a:r>
            <a:r>
              <a:rPr sz="2000" spc="-20"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its</a:t>
            </a:r>
            <a:r>
              <a:rPr sz="2000" spc="-20"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position</a:t>
            </a:r>
            <a:r>
              <a:rPr sz="2000" spc="-25" dirty="0">
                <a:solidFill>
                  <a:srgbClr val="FF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without </a:t>
            </a:r>
            <a:r>
              <a:rPr sz="2000" dirty="0">
                <a:solidFill>
                  <a:sysClr val="windowText" lastClr="000000"/>
                </a:solidFill>
                <a:latin typeface="Palatino Linotype" panose="02040502050505030304"/>
                <a:cs typeface="Palatino Linotype" panose="02040502050505030304"/>
              </a:rPr>
              <a:t>generating</a:t>
            </a:r>
            <a:r>
              <a:rPr sz="2000" spc="-5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temporary</a:t>
            </a:r>
            <a:r>
              <a:rPr sz="2000" spc="-3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names</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(an</a:t>
            </a:r>
            <a:r>
              <a:rPr sz="2000" spc="-35" dirty="0">
                <a:solidFill>
                  <a:sysClr val="windowText" lastClr="00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optimization</a:t>
            </a:r>
            <a:r>
              <a:rPr sz="2000" spc="-45" dirty="0">
                <a:solidFill>
                  <a:srgbClr val="FF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over</a:t>
            </a:r>
            <a:r>
              <a:rPr sz="2000" spc="-25"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quadruples)</a:t>
            </a:r>
            <a:endParaRPr sz="2000">
              <a:solidFill>
                <a:sysClr val="windowText" lastClr="000000"/>
              </a:solidFill>
              <a:latin typeface="Palatino Linotype" panose="02040502050505030304"/>
              <a:cs typeface="Palatino Linotype" panose="02040502050505030304"/>
            </a:endParaRPr>
          </a:p>
        </p:txBody>
      </p:sp>
      <p:pic>
        <p:nvPicPr>
          <p:cNvPr id="20" name="object 5"/>
          <p:cNvPicPr/>
          <p:nvPr/>
        </p:nvPicPr>
        <p:blipFill>
          <a:blip r:embed="rId3" cstate="print"/>
          <a:stretch>
            <a:fillRect/>
          </a:stretch>
        </p:blipFill>
        <p:spPr>
          <a:xfrm>
            <a:off x="6118918" y="3247662"/>
            <a:ext cx="2023684" cy="2186867"/>
          </a:xfrm>
          <a:prstGeom prst="rect">
            <a:avLst/>
          </a:prstGeom>
        </p:spPr>
      </p:pic>
      <p:sp>
        <p:nvSpPr>
          <p:cNvPr id="21" name="object 6"/>
          <p:cNvSpPr/>
          <p:nvPr/>
        </p:nvSpPr>
        <p:spPr>
          <a:xfrm>
            <a:off x="8012391" y="3861048"/>
            <a:ext cx="313055" cy="111125"/>
          </a:xfrm>
          <a:custGeom>
            <a:avLst/>
            <a:gdLst/>
            <a:ahLst/>
            <a:cxnLst/>
            <a:rect l="l" t="t" r="r" b="b"/>
            <a:pathLst>
              <a:path w="313054" h="111125">
                <a:moveTo>
                  <a:pt x="94742" y="0"/>
                </a:moveTo>
                <a:lnTo>
                  <a:pt x="90297" y="2666"/>
                </a:lnTo>
                <a:lnTo>
                  <a:pt x="0" y="55371"/>
                </a:lnTo>
                <a:lnTo>
                  <a:pt x="90297" y="108076"/>
                </a:lnTo>
                <a:lnTo>
                  <a:pt x="94742" y="110743"/>
                </a:lnTo>
                <a:lnTo>
                  <a:pt x="100584" y="109219"/>
                </a:lnTo>
                <a:lnTo>
                  <a:pt x="105918" y="100075"/>
                </a:lnTo>
                <a:lnTo>
                  <a:pt x="104394" y="94233"/>
                </a:lnTo>
                <a:lnTo>
                  <a:pt x="54101" y="64896"/>
                </a:lnTo>
                <a:lnTo>
                  <a:pt x="18796" y="64896"/>
                </a:lnTo>
                <a:lnTo>
                  <a:pt x="18796" y="45846"/>
                </a:lnTo>
                <a:lnTo>
                  <a:pt x="54101" y="45846"/>
                </a:lnTo>
                <a:lnTo>
                  <a:pt x="104394" y="16509"/>
                </a:lnTo>
                <a:lnTo>
                  <a:pt x="105918" y="10668"/>
                </a:lnTo>
                <a:lnTo>
                  <a:pt x="100584" y="1524"/>
                </a:lnTo>
                <a:lnTo>
                  <a:pt x="94742" y="0"/>
                </a:lnTo>
                <a:close/>
              </a:path>
              <a:path w="313054" h="111125">
                <a:moveTo>
                  <a:pt x="54101" y="45846"/>
                </a:moveTo>
                <a:lnTo>
                  <a:pt x="18796" y="45846"/>
                </a:lnTo>
                <a:lnTo>
                  <a:pt x="18796" y="64896"/>
                </a:lnTo>
                <a:lnTo>
                  <a:pt x="54101" y="64896"/>
                </a:lnTo>
                <a:lnTo>
                  <a:pt x="51924" y="63626"/>
                </a:lnTo>
                <a:lnTo>
                  <a:pt x="23622" y="63626"/>
                </a:lnTo>
                <a:lnTo>
                  <a:pt x="23622" y="47116"/>
                </a:lnTo>
                <a:lnTo>
                  <a:pt x="51924" y="47116"/>
                </a:lnTo>
                <a:lnTo>
                  <a:pt x="54101" y="45846"/>
                </a:lnTo>
                <a:close/>
              </a:path>
              <a:path w="313054" h="111125">
                <a:moveTo>
                  <a:pt x="313055" y="45846"/>
                </a:moveTo>
                <a:lnTo>
                  <a:pt x="54101" y="45846"/>
                </a:lnTo>
                <a:lnTo>
                  <a:pt x="37773" y="55371"/>
                </a:lnTo>
                <a:lnTo>
                  <a:pt x="54101" y="64896"/>
                </a:lnTo>
                <a:lnTo>
                  <a:pt x="313055" y="64896"/>
                </a:lnTo>
                <a:lnTo>
                  <a:pt x="313055" y="45846"/>
                </a:lnTo>
                <a:close/>
              </a:path>
              <a:path w="313054" h="111125">
                <a:moveTo>
                  <a:pt x="23622" y="47116"/>
                </a:moveTo>
                <a:lnTo>
                  <a:pt x="23622" y="63626"/>
                </a:lnTo>
                <a:lnTo>
                  <a:pt x="37773" y="55371"/>
                </a:lnTo>
                <a:lnTo>
                  <a:pt x="23622" y="47116"/>
                </a:lnTo>
                <a:close/>
              </a:path>
              <a:path w="313054" h="111125">
                <a:moveTo>
                  <a:pt x="37773" y="55371"/>
                </a:moveTo>
                <a:lnTo>
                  <a:pt x="23622" y="63626"/>
                </a:lnTo>
                <a:lnTo>
                  <a:pt x="51924" y="63626"/>
                </a:lnTo>
                <a:lnTo>
                  <a:pt x="37773" y="55371"/>
                </a:lnTo>
                <a:close/>
              </a:path>
              <a:path w="313054" h="111125">
                <a:moveTo>
                  <a:pt x="51924" y="47116"/>
                </a:moveTo>
                <a:lnTo>
                  <a:pt x="23622" y="47116"/>
                </a:lnTo>
                <a:lnTo>
                  <a:pt x="37773" y="55371"/>
                </a:lnTo>
                <a:lnTo>
                  <a:pt x="51924" y="47116"/>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nvGrpSpPr>
          <p:cNvPr id="22" name="object 7"/>
          <p:cNvGrpSpPr/>
          <p:nvPr/>
        </p:nvGrpSpPr>
        <p:grpSpPr>
          <a:xfrm>
            <a:off x="880491" y="3384359"/>
            <a:ext cx="1788795" cy="1812925"/>
            <a:chOff x="880491" y="3384359"/>
            <a:chExt cx="1788795" cy="1812925"/>
          </a:xfrm>
        </p:grpSpPr>
        <p:pic>
          <p:nvPicPr>
            <p:cNvPr id="23" name="object 8"/>
            <p:cNvPicPr/>
            <p:nvPr/>
          </p:nvPicPr>
          <p:blipFill>
            <a:blip r:embed="rId4" cstate="print"/>
            <a:stretch>
              <a:fillRect/>
            </a:stretch>
          </p:blipFill>
          <p:spPr>
            <a:xfrm>
              <a:off x="999744" y="3467162"/>
              <a:ext cx="1499615" cy="1647319"/>
            </a:xfrm>
            <a:prstGeom prst="rect">
              <a:avLst/>
            </a:prstGeom>
          </p:spPr>
        </p:pic>
        <p:sp>
          <p:nvSpPr>
            <p:cNvPr id="24" name="object 9"/>
            <p:cNvSpPr/>
            <p:nvPr/>
          </p:nvSpPr>
          <p:spPr>
            <a:xfrm>
              <a:off x="885253" y="3389121"/>
              <a:ext cx="1779270" cy="1803400"/>
            </a:xfrm>
            <a:custGeom>
              <a:avLst/>
              <a:gdLst/>
              <a:ahLst/>
              <a:cxnLst/>
              <a:rect l="l" t="t" r="r" b="b"/>
              <a:pathLst>
                <a:path w="1779270" h="1803400">
                  <a:moveTo>
                    <a:pt x="0" y="1803272"/>
                  </a:moveTo>
                  <a:lnTo>
                    <a:pt x="1778889" y="1803272"/>
                  </a:lnTo>
                  <a:lnTo>
                    <a:pt x="1778889" y="0"/>
                  </a:lnTo>
                  <a:lnTo>
                    <a:pt x="0" y="0"/>
                  </a:lnTo>
                  <a:lnTo>
                    <a:pt x="0" y="1803272"/>
                  </a:lnTo>
                  <a:close/>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pic>
        <p:nvPicPr>
          <p:cNvPr id="25" name="object 10"/>
          <p:cNvPicPr/>
          <p:nvPr/>
        </p:nvPicPr>
        <p:blipFill>
          <a:blip r:embed="rId5" cstate="print"/>
          <a:stretch>
            <a:fillRect/>
          </a:stretch>
        </p:blipFill>
        <p:spPr>
          <a:xfrm>
            <a:off x="3064962" y="3194355"/>
            <a:ext cx="2555277" cy="2218892"/>
          </a:xfrm>
          <a:prstGeom prst="rect">
            <a:avLst/>
          </a:prstGeom>
        </p:spPr>
      </p:pic>
      <p:sp>
        <p:nvSpPr>
          <p:cNvPr id="26" name="object 11"/>
          <p:cNvSpPr txBox="1"/>
          <p:nvPr/>
        </p:nvSpPr>
        <p:spPr>
          <a:xfrm>
            <a:off x="837387" y="5489854"/>
            <a:ext cx="1781810" cy="269240"/>
          </a:xfrm>
          <a:prstGeom prst="rect">
            <a:avLst/>
          </a:prstGeom>
        </p:spPr>
        <p:txBody>
          <a:bodyPr vert="horz" wrap="square" lIns="0" tIns="12065" rIns="0" bIns="0" rtlCol="0">
            <a:spAutoFit/>
          </a:bodyPr>
          <a:lstStyle/>
          <a:p>
            <a:pPr marL="12700">
              <a:spcBef>
                <a:spcPts val="95"/>
              </a:spcBef>
            </a:pPr>
            <a:r>
              <a:rPr sz="1600" spc="-10" dirty="0">
                <a:solidFill>
                  <a:srgbClr val="0431FF"/>
                </a:solidFill>
                <a:latin typeface="Palatino Linotype" panose="02040502050505030304"/>
                <a:cs typeface="Palatino Linotype" panose="02040502050505030304"/>
              </a:rPr>
              <a:t>Three-</a:t>
            </a:r>
            <a:r>
              <a:rPr sz="1600" dirty="0">
                <a:solidFill>
                  <a:srgbClr val="0431FF"/>
                </a:solidFill>
                <a:latin typeface="Palatino Linotype" panose="02040502050505030304"/>
                <a:cs typeface="Palatino Linotype" panose="02040502050505030304"/>
              </a:rPr>
              <a:t>address</a:t>
            </a:r>
            <a:r>
              <a:rPr sz="1600" spc="-20" dirty="0">
                <a:solidFill>
                  <a:srgbClr val="0431FF"/>
                </a:solidFill>
                <a:latin typeface="Palatino Linotype" panose="02040502050505030304"/>
                <a:cs typeface="Palatino Linotype" panose="02040502050505030304"/>
              </a:rPr>
              <a:t> code</a:t>
            </a:r>
            <a:endParaRPr sz="1600" dirty="0">
              <a:solidFill>
                <a:sysClr val="windowText" lastClr="000000"/>
              </a:solidFill>
              <a:latin typeface="Palatino Linotype" panose="02040502050505030304"/>
              <a:cs typeface="Palatino Linotype" panose="02040502050505030304"/>
            </a:endParaRPr>
          </a:p>
        </p:txBody>
      </p:sp>
      <p:sp>
        <p:nvSpPr>
          <p:cNvPr id="27" name="object 12"/>
          <p:cNvSpPr txBox="1"/>
          <p:nvPr/>
        </p:nvSpPr>
        <p:spPr>
          <a:xfrm>
            <a:off x="3892422" y="5489854"/>
            <a:ext cx="1099820" cy="269240"/>
          </a:xfrm>
          <a:prstGeom prst="rect">
            <a:avLst/>
          </a:prstGeom>
        </p:spPr>
        <p:txBody>
          <a:bodyPr vert="horz" wrap="square" lIns="0" tIns="12065" rIns="0" bIns="0" rtlCol="0">
            <a:spAutoFit/>
          </a:bodyPr>
          <a:lstStyle/>
          <a:p>
            <a:pPr marL="12700">
              <a:spcBef>
                <a:spcPts val="95"/>
              </a:spcBef>
            </a:pPr>
            <a:r>
              <a:rPr sz="1600" spc="-10" dirty="0">
                <a:solidFill>
                  <a:srgbClr val="0431FF"/>
                </a:solidFill>
                <a:latin typeface="Palatino Linotype" panose="02040502050505030304"/>
                <a:cs typeface="Palatino Linotype" panose="02040502050505030304"/>
              </a:rPr>
              <a:t>Quadruples</a:t>
            </a:r>
            <a:endParaRPr sz="1600">
              <a:solidFill>
                <a:sysClr val="windowText" lastClr="000000"/>
              </a:solidFill>
              <a:latin typeface="Palatino Linotype" panose="02040502050505030304"/>
              <a:cs typeface="Palatino Linotype" panose="02040502050505030304"/>
            </a:endParaRPr>
          </a:p>
        </p:txBody>
      </p:sp>
      <p:sp>
        <p:nvSpPr>
          <p:cNvPr id="28" name="object 13"/>
          <p:cNvSpPr txBox="1"/>
          <p:nvPr/>
        </p:nvSpPr>
        <p:spPr>
          <a:xfrm>
            <a:off x="6909054" y="5489854"/>
            <a:ext cx="641350" cy="269240"/>
          </a:xfrm>
          <a:prstGeom prst="rect">
            <a:avLst/>
          </a:prstGeom>
        </p:spPr>
        <p:txBody>
          <a:bodyPr vert="horz" wrap="square" lIns="0" tIns="12065" rIns="0" bIns="0" rtlCol="0">
            <a:spAutoFit/>
          </a:bodyPr>
          <a:lstStyle/>
          <a:p>
            <a:pPr marL="12700">
              <a:spcBef>
                <a:spcPts val="95"/>
              </a:spcBef>
            </a:pPr>
            <a:r>
              <a:rPr sz="1600" spc="-10" dirty="0">
                <a:solidFill>
                  <a:srgbClr val="0431FF"/>
                </a:solidFill>
                <a:latin typeface="Palatino Linotype" panose="02040502050505030304"/>
                <a:cs typeface="Palatino Linotype" panose="02040502050505030304"/>
              </a:rPr>
              <a:t>Triples</a:t>
            </a:r>
            <a:endParaRPr sz="1600">
              <a:solidFill>
                <a:sysClr val="windowText" lastClr="000000"/>
              </a:solidFill>
              <a:latin typeface="Palatino Linotype" panose="02040502050505030304"/>
              <a:cs typeface="Palatino Linotype" panose="0204050205050503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20</a:t>
            </a:fld>
            <a:endParaRPr lang="en-US"/>
          </a:p>
        </p:txBody>
      </p:sp>
      <p:sp>
        <p:nvSpPr>
          <p:cNvPr id="24" name="object 2"/>
          <p:cNvSpPr txBox="1"/>
          <p:nvPr/>
        </p:nvSpPr>
        <p:spPr>
          <a:xfrm>
            <a:off x="707542" y="520141"/>
            <a:ext cx="4362450"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Problem</a:t>
            </a:r>
            <a:r>
              <a:rPr kumimoji="0" lang="en-US" sz="4000" b="1" i="0" u="none" strike="noStrike" kern="0" cap="none" spc="-110"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of</a:t>
            </a:r>
            <a:r>
              <a:rPr kumimoji="0" lang="en-US" sz="4000" b="1" i="0" u="none" strike="noStrike" kern="0" cap="none" spc="-114"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Triples</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25" name="object 3"/>
          <p:cNvSpPr txBox="1"/>
          <p:nvPr/>
        </p:nvSpPr>
        <p:spPr>
          <a:xfrm>
            <a:off x="707542" y="1653667"/>
            <a:ext cx="7195820" cy="330835"/>
          </a:xfrm>
          <a:prstGeom prst="rect">
            <a:avLst/>
          </a:prstGeom>
        </p:spPr>
        <p:txBody>
          <a:bodyPr vert="horz" wrap="square" lIns="0" tIns="13335" rIns="0" bIns="0" rtlCol="0">
            <a:spAutoFit/>
          </a:bodyPr>
          <a:lstStyle/>
          <a:p>
            <a:pPr marL="242570" indent="-229870">
              <a:spcBef>
                <a:spcPts val="105"/>
              </a:spcBef>
              <a:buFont typeface="Arial MT"/>
              <a:buChar char="•"/>
              <a:tabLst>
                <a:tab pos="242570" algn="l"/>
              </a:tabLst>
            </a:pPr>
            <a:r>
              <a:rPr sz="2000" dirty="0">
                <a:solidFill>
                  <a:sysClr val="windowText" lastClr="000000"/>
                </a:solidFill>
                <a:latin typeface="Palatino Linotype" panose="02040502050505030304"/>
                <a:cs typeface="Palatino Linotype" panose="02040502050505030304"/>
              </a:rPr>
              <a:t>In</a:t>
            </a:r>
            <a:r>
              <a:rPr sz="2000" spc="-3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optimizing</a:t>
            </a:r>
            <a:r>
              <a:rPr sz="2000" spc="-6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compilers,</a:t>
            </a:r>
            <a:r>
              <a:rPr sz="2000" spc="-5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instructions</a:t>
            </a:r>
            <a:r>
              <a:rPr sz="2000" spc="-6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are</a:t>
            </a:r>
            <a:r>
              <a:rPr sz="2000" spc="-4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often</a:t>
            </a:r>
            <a:r>
              <a:rPr sz="2000" spc="-6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moved</a:t>
            </a:r>
            <a:r>
              <a:rPr sz="2000" spc="-35"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around</a:t>
            </a:r>
            <a:endParaRPr sz="2000">
              <a:solidFill>
                <a:sysClr val="windowText" lastClr="000000"/>
              </a:solidFill>
              <a:latin typeface="Palatino Linotype" panose="02040502050505030304"/>
              <a:cs typeface="Palatino Linotype" panose="02040502050505030304"/>
            </a:endParaRPr>
          </a:p>
        </p:txBody>
      </p:sp>
      <p:grpSp>
        <p:nvGrpSpPr>
          <p:cNvPr id="26" name="object 4"/>
          <p:cNvGrpSpPr/>
          <p:nvPr/>
        </p:nvGrpSpPr>
        <p:grpSpPr>
          <a:xfrm>
            <a:off x="789177" y="2577187"/>
            <a:ext cx="2627630" cy="2220595"/>
            <a:chOff x="789177" y="2577187"/>
            <a:chExt cx="2627630" cy="2220595"/>
          </a:xfrm>
        </p:grpSpPr>
        <p:pic>
          <p:nvPicPr>
            <p:cNvPr id="27" name="object 5"/>
            <p:cNvPicPr/>
            <p:nvPr/>
          </p:nvPicPr>
          <p:blipFill>
            <a:blip r:embed="rId3" cstate="print"/>
            <a:stretch>
              <a:fillRect/>
            </a:stretch>
          </p:blipFill>
          <p:spPr>
            <a:xfrm>
              <a:off x="861258" y="2577187"/>
              <a:ext cx="2555277" cy="2220364"/>
            </a:xfrm>
            <a:prstGeom prst="rect">
              <a:avLst/>
            </a:prstGeom>
          </p:spPr>
        </p:pic>
        <p:sp>
          <p:nvSpPr>
            <p:cNvPr id="28" name="object 6"/>
            <p:cNvSpPr/>
            <p:nvPr/>
          </p:nvSpPr>
          <p:spPr>
            <a:xfrm>
              <a:off x="795527" y="3136392"/>
              <a:ext cx="226060" cy="563880"/>
            </a:xfrm>
            <a:custGeom>
              <a:avLst/>
              <a:gdLst/>
              <a:ahLst/>
              <a:cxnLst/>
              <a:rect l="l" t="t" r="r" b="b"/>
              <a:pathLst>
                <a:path w="226059" h="563879">
                  <a:moveTo>
                    <a:pt x="0" y="563879"/>
                  </a:moveTo>
                  <a:lnTo>
                    <a:pt x="225552" y="563879"/>
                  </a:lnTo>
                  <a:lnTo>
                    <a:pt x="225552" y="0"/>
                  </a:lnTo>
                  <a:lnTo>
                    <a:pt x="0" y="0"/>
                  </a:lnTo>
                  <a:lnTo>
                    <a:pt x="0" y="563879"/>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29" name="object 7"/>
          <p:cNvGrpSpPr/>
          <p:nvPr/>
        </p:nvGrpSpPr>
        <p:grpSpPr>
          <a:xfrm>
            <a:off x="5157215" y="2577488"/>
            <a:ext cx="2867025" cy="2138045"/>
            <a:chOff x="5157215" y="2577488"/>
            <a:chExt cx="2867025" cy="2138045"/>
          </a:xfrm>
        </p:grpSpPr>
        <p:pic>
          <p:nvPicPr>
            <p:cNvPr id="30" name="object 8"/>
            <p:cNvPicPr/>
            <p:nvPr/>
          </p:nvPicPr>
          <p:blipFill>
            <a:blip r:embed="rId4" cstate="print"/>
            <a:stretch>
              <a:fillRect/>
            </a:stretch>
          </p:blipFill>
          <p:spPr>
            <a:xfrm>
              <a:off x="5292984" y="2577488"/>
              <a:ext cx="2540179" cy="510135"/>
            </a:xfrm>
            <a:prstGeom prst="rect">
              <a:avLst/>
            </a:prstGeom>
          </p:spPr>
        </p:pic>
        <p:pic>
          <p:nvPicPr>
            <p:cNvPr id="31" name="object 9"/>
            <p:cNvPicPr/>
            <p:nvPr/>
          </p:nvPicPr>
          <p:blipFill>
            <a:blip r:embed="rId5" cstate="print"/>
            <a:stretch>
              <a:fillRect/>
            </a:stretch>
          </p:blipFill>
          <p:spPr>
            <a:xfrm>
              <a:off x="5169407" y="3081527"/>
              <a:ext cx="2854451" cy="1633728"/>
            </a:xfrm>
            <a:prstGeom prst="rect">
              <a:avLst/>
            </a:prstGeom>
          </p:spPr>
        </p:pic>
        <p:sp>
          <p:nvSpPr>
            <p:cNvPr id="32" name="object 10"/>
            <p:cNvSpPr/>
            <p:nvPr/>
          </p:nvSpPr>
          <p:spPr>
            <a:xfrm>
              <a:off x="5157215" y="2785871"/>
              <a:ext cx="294640" cy="1661160"/>
            </a:xfrm>
            <a:custGeom>
              <a:avLst/>
              <a:gdLst/>
              <a:ahLst/>
              <a:cxnLst/>
              <a:rect l="l" t="t" r="r" b="b"/>
              <a:pathLst>
                <a:path w="294639" h="1661160">
                  <a:moveTo>
                    <a:pt x="294132" y="0"/>
                  </a:moveTo>
                  <a:lnTo>
                    <a:pt x="0" y="0"/>
                  </a:lnTo>
                  <a:lnTo>
                    <a:pt x="0" y="1661159"/>
                  </a:lnTo>
                  <a:lnTo>
                    <a:pt x="294132" y="1661159"/>
                  </a:lnTo>
                  <a:lnTo>
                    <a:pt x="294132"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
        <p:nvSpPr>
          <p:cNvPr id="33" name="object 11"/>
          <p:cNvSpPr/>
          <p:nvPr/>
        </p:nvSpPr>
        <p:spPr>
          <a:xfrm>
            <a:off x="3585971" y="3596766"/>
            <a:ext cx="1471930" cy="103505"/>
          </a:xfrm>
          <a:custGeom>
            <a:avLst/>
            <a:gdLst/>
            <a:ahLst/>
            <a:cxnLst/>
            <a:rect l="l" t="t" r="r" b="b"/>
            <a:pathLst>
              <a:path w="1471929" h="103504">
                <a:moveTo>
                  <a:pt x="1446439" y="51689"/>
                </a:moveTo>
                <a:lnTo>
                  <a:pt x="1379601" y="90678"/>
                </a:lnTo>
                <a:lnTo>
                  <a:pt x="1376679" y="92456"/>
                </a:lnTo>
                <a:lnTo>
                  <a:pt x="1375537" y="96266"/>
                </a:lnTo>
                <a:lnTo>
                  <a:pt x="1379092" y="102362"/>
                </a:lnTo>
                <a:lnTo>
                  <a:pt x="1383029" y="103378"/>
                </a:lnTo>
                <a:lnTo>
                  <a:pt x="1460785" y="58039"/>
                </a:lnTo>
                <a:lnTo>
                  <a:pt x="1459102" y="58039"/>
                </a:lnTo>
                <a:lnTo>
                  <a:pt x="1459102" y="57150"/>
                </a:lnTo>
                <a:lnTo>
                  <a:pt x="1455801" y="57150"/>
                </a:lnTo>
                <a:lnTo>
                  <a:pt x="1446439" y="51689"/>
                </a:lnTo>
                <a:close/>
              </a:path>
              <a:path w="1471929" h="103504">
                <a:moveTo>
                  <a:pt x="1435553" y="45339"/>
                </a:moveTo>
                <a:lnTo>
                  <a:pt x="0" y="45339"/>
                </a:lnTo>
                <a:lnTo>
                  <a:pt x="0" y="58039"/>
                </a:lnTo>
                <a:lnTo>
                  <a:pt x="1435553" y="58039"/>
                </a:lnTo>
                <a:lnTo>
                  <a:pt x="1446439" y="51689"/>
                </a:lnTo>
                <a:lnTo>
                  <a:pt x="1435553" y="45339"/>
                </a:lnTo>
                <a:close/>
              </a:path>
              <a:path w="1471929" h="103504">
                <a:moveTo>
                  <a:pt x="1460785" y="45339"/>
                </a:moveTo>
                <a:lnTo>
                  <a:pt x="1459102" y="45339"/>
                </a:lnTo>
                <a:lnTo>
                  <a:pt x="1459102" y="58039"/>
                </a:lnTo>
                <a:lnTo>
                  <a:pt x="1460785" y="58039"/>
                </a:lnTo>
                <a:lnTo>
                  <a:pt x="1471676" y="51689"/>
                </a:lnTo>
                <a:lnTo>
                  <a:pt x="1460785" y="45339"/>
                </a:lnTo>
                <a:close/>
              </a:path>
              <a:path w="1471929" h="103504">
                <a:moveTo>
                  <a:pt x="1455801" y="46228"/>
                </a:moveTo>
                <a:lnTo>
                  <a:pt x="1446439" y="51689"/>
                </a:lnTo>
                <a:lnTo>
                  <a:pt x="1455801" y="57150"/>
                </a:lnTo>
                <a:lnTo>
                  <a:pt x="1455801" y="46228"/>
                </a:lnTo>
                <a:close/>
              </a:path>
              <a:path w="1471929" h="103504">
                <a:moveTo>
                  <a:pt x="1459102" y="46228"/>
                </a:moveTo>
                <a:lnTo>
                  <a:pt x="1455801" y="46228"/>
                </a:lnTo>
                <a:lnTo>
                  <a:pt x="1455801" y="57150"/>
                </a:lnTo>
                <a:lnTo>
                  <a:pt x="1459102" y="57150"/>
                </a:lnTo>
                <a:lnTo>
                  <a:pt x="1459102" y="46228"/>
                </a:lnTo>
                <a:close/>
              </a:path>
              <a:path w="1471929" h="103504">
                <a:moveTo>
                  <a:pt x="1383029" y="0"/>
                </a:moveTo>
                <a:lnTo>
                  <a:pt x="1379092" y="1016"/>
                </a:lnTo>
                <a:lnTo>
                  <a:pt x="1375537" y="7112"/>
                </a:lnTo>
                <a:lnTo>
                  <a:pt x="1376679" y="10922"/>
                </a:lnTo>
                <a:lnTo>
                  <a:pt x="1379601" y="12700"/>
                </a:lnTo>
                <a:lnTo>
                  <a:pt x="1446439" y="51689"/>
                </a:lnTo>
                <a:lnTo>
                  <a:pt x="1455801" y="46228"/>
                </a:lnTo>
                <a:lnTo>
                  <a:pt x="1459102" y="46228"/>
                </a:lnTo>
                <a:lnTo>
                  <a:pt x="1459102" y="45339"/>
                </a:lnTo>
                <a:lnTo>
                  <a:pt x="1460785" y="45339"/>
                </a:lnTo>
                <a:lnTo>
                  <a:pt x="1383029"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34" name="object 12"/>
          <p:cNvSpPr txBox="1"/>
          <p:nvPr/>
        </p:nvSpPr>
        <p:spPr>
          <a:xfrm>
            <a:off x="3579114" y="3216655"/>
            <a:ext cx="1369695" cy="299720"/>
          </a:xfrm>
          <a:prstGeom prst="rect">
            <a:avLst/>
          </a:prstGeom>
        </p:spPr>
        <p:txBody>
          <a:bodyPr vert="horz" wrap="square" lIns="0" tIns="12700" rIns="0" bIns="0" rtlCol="0">
            <a:spAutoFit/>
          </a:bodyPr>
          <a:lstStyle/>
          <a:p>
            <a:pPr marL="12700">
              <a:spcBef>
                <a:spcPts val="100"/>
              </a:spcBef>
            </a:pPr>
            <a:r>
              <a:rPr dirty="0">
                <a:solidFill>
                  <a:srgbClr val="FF0000"/>
                </a:solidFill>
                <a:latin typeface="Palatino Linotype" panose="02040502050505030304"/>
                <a:cs typeface="Palatino Linotype" panose="02040502050505030304"/>
              </a:rPr>
              <a:t>Swap</a:t>
            </a:r>
            <a:r>
              <a:rPr spc="-50"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1</a:t>
            </a:r>
            <a:r>
              <a:rPr spc="-40"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and</a:t>
            </a:r>
            <a:r>
              <a:rPr spc="-50" dirty="0">
                <a:solidFill>
                  <a:srgbClr val="FF0000"/>
                </a:solidFill>
                <a:latin typeface="Palatino Linotype" panose="02040502050505030304"/>
                <a:cs typeface="Palatino Linotype" panose="02040502050505030304"/>
              </a:rPr>
              <a:t> 2</a:t>
            </a:r>
            <a:endParaRPr>
              <a:solidFill>
                <a:sysClr val="windowText" lastClr="000000"/>
              </a:solidFill>
              <a:latin typeface="Palatino Linotype" panose="02040502050505030304"/>
              <a:cs typeface="Palatino Linotype" panose="02040502050505030304"/>
            </a:endParaRPr>
          </a:p>
        </p:txBody>
      </p:sp>
      <p:sp>
        <p:nvSpPr>
          <p:cNvPr id="35" name="object 13"/>
          <p:cNvSpPr txBox="1"/>
          <p:nvPr/>
        </p:nvSpPr>
        <p:spPr>
          <a:xfrm>
            <a:off x="5236209" y="2805430"/>
            <a:ext cx="135255" cy="1581150"/>
          </a:xfrm>
          <a:prstGeom prst="rect">
            <a:avLst/>
          </a:prstGeom>
        </p:spPr>
        <p:txBody>
          <a:bodyPr vert="horz" wrap="square" lIns="0" tIns="13335" rIns="0" bIns="0" rtlCol="0">
            <a:spAutoFit/>
          </a:bodyPr>
          <a:lstStyle/>
          <a:p>
            <a:pPr marL="12700">
              <a:spcBef>
                <a:spcPts val="105"/>
              </a:spcBef>
            </a:pPr>
            <a:r>
              <a:rPr sz="1700" spc="-50" dirty="0">
                <a:solidFill>
                  <a:srgbClr val="FF0000"/>
                </a:solidFill>
                <a:cs typeface="Calibri" panose="020F0502020204030204"/>
              </a:rPr>
              <a:t>0</a:t>
            </a:r>
            <a:endParaRPr sz="1700">
              <a:solidFill>
                <a:sysClr val="windowText" lastClr="000000"/>
              </a:solidFill>
              <a:cs typeface="Calibri" panose="020F0502020204030204"/>
            </a:endParaRPr>
          </a:p>
          <a:p>
            <a:pPr marL="12700"/>
            <a:r>
              <a:rPr sz="1700" spc="-50" dirty="0">
                <a:solidFill>
                  <a:srgbClr val="FF0000"/>
                </a:solidFill>
                <a:cs typeface="Calibri" panose="020F0502020204030204"/>
              </a:rPr>
              <a:t>1</a:t>
            </a:r>
            <a:endParaRPr sz="1700">
              <a:solidFill>
                <a:sysClr val="windowText" lastClr="000000"/>
              </a:solidFill>
              <a:cs typeface="Calibri" panose="020F0502020204030204"/>
            </a:endParaRPr>
          </a:p>
          <a:p>
            <a:pPr marL="12700"/>
            <a:r>
              <a:rPr sz="1700" spc="-50" dirty="0">
                <a:solidFill>
                  <a:srgbClr val="FF0000"/>
                </a:solidFill>
                <a:cs typeface="Calibri" panose="020F0502020204030204"/>
              </a:rPr>
              <a:t>2</a:t>
            </a:r>
            <a:endParaRPr sz="1700">
              <a:solidFill>
                <a:sysClr val="windowText" lastClr="000000"/>
              </a:solidFill>
              <a:cs typeface="Calibri" panose="020F0502020204030204"/>
            </a:endParaRPr>
          </a:p>
          <a:p>
            <a:pPr marL="12700"/>
            <a:r>
              <a:rPr sz="1700" spc="-50" dirty="0">
                <a:solidFill>
                  <a:srgbClr val="FF0000"/>
                </a:solidFill>
                <a:cs typeface="Calibri" panose="020F0502020204030204"/>
              </a:rPr>
              <a:t>3</a:t>
            </a:r>
            <a:endParaRPr sz="1700">
              <a:solidFill>
                <a:sysClr val="windowText" lastClr="000000"/>
              </a:solidFill>
              <a:cs typeface="Calibri" panose="020F0502020204030204"/>
            </a:endParaRPr>
          </a:p>
          <a:p>
            <a:pPr marL="12700"/>
            <a:r>
              <a:rPr sz="1700" spc="-50" dirty="0">
                <a:solidFill>
                  <a:srgbClr val="FF0000"/>
                </a:solidFill>
                <a:cs typeface="Calibri" panose="020F0502020204030204"/>
              </a:rPr>
              <a:t>4</a:t>
            </a:r>
            <a:endParaRPr sz="1700">
              <a:solidFill>
                <a:sysClr val="windowText" lastClr="000000"/>
              </a:solidFill>
              <a:cs typeface="Calibri" panose="020F0502020204030204"/>
            </a:endParaRPr>
          </a:p>
          <a:p>
            <a:pPr marL="12700"/>
            <a:r>
              <a:rPr sz="1700" spc="-50" dirty="0">
                <a:solidFill>
                  <a:srgbClr val="FF0000"/>
                </a:solidFill>
                <a:cs typeface="Calibri" panose="020F0502020204030204"/>
              </a:rPr>
              <a:t>5</a:t>
            </a:r>
            <a:endParaRPr sz="1700">
              <a:solidFill>
                <a:sysClr val="windowText" lastClr="000000"/>
              </a:solidFill>
              <a:cs typeface="Calibri" panose="020F0502020204030204"/>
            </a:endParaRPr>
          </a:p>
        </p:txBody>
      </p:sp>
      <p:grpSp>
        <p:nvGrpSpPr>
          <p:cNvPr id="36" name="object 14"/>
          <p:cNvGrpSpPr/>
          <p:nvPr/>
        </p:nvGrpSpPr>
        <p:grpSpPr>
          <a:xfrm>
            <a:off x="1016317" y="5153977"/>
            <a:ext cx="6859905" cy="913765"/>
            <a:chOff x="1016317" y="5153977"/>
            <a:chExt cx="6859905" cy="913765"/>
          </a:xfrm>
        </p:grpSpPr>
        <p:sp>
          <p:nvSpPr>
            <p:cNvPr id="37" name="object 15"/>
            <p:cNvSpPr/>
            <p:nvPr/>
          </p:nvSpPr>
          <p:spPr>
            <a:xfrm>
              <a:off x="1021080" y="5158740"/>
              <a:ext cx="6850380" cy="904240"/>
            </a:xfrm>
            <a:custGeom>
              <a:avLst/>
              <a:gdLst/>
              <a:ahLst/>
              <a:cxnLst/>
              <a:rect l="l" t="t" r="r" b="b"/>
              <a:pathLst>
                <a:path w="6850380" h="904239">
                  <a:moveTo>
                    <a:pt x="6850380" y="0"/>
                  </a:moveTo>
                  <a:lnTo>
                    <a:pt x="0" y="0"/>
                  </a:lnTo>
                  <a:lnTo>
                    <a:pt x="0" y="903732"/>
                  </a:lnTo>
                  <a:lnTo>
                    <a:pt x="6850380" y="903732"/>
                  </a:lnTo>
                  <a:lnTo>
                    <a:pt x="6850380" y="0"/>
                  </a:lnTo>
                  <a:close/>
                </a:path>
              </a:pathLst>
            </a:custGeom>
            <a:solidFill>
              <a:srgbClr val="FFF1C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38" name="object 16"/>
            <p:cNvSpPr/>
            <p:nvPr/>
          </p:nvSpPr>
          <p:spPr>
            <a:xfrm>
              <a:off x="1021080" y="5158740"/>
              <a:ext cx="6850380" cy="904240"/>
            </a:xfrm>
            <a:custGeom>
              <a:avLst/>
              <a:gdLst/>
              <a:ahLst/>
              <a:cxnLst/>
              <a:rect l="l" t="t" r="r" b="b"/>
              <a:pathLst>
                <a:path w="6850380" h="904239">
                  <a:moveTo>
                    <a:pt x="0" y="903732"/>
                  </a:moveTo>
                  <a:lnTo>
                    <a:pt x="6850380" y="903732"/>
                  </a:lnTo>
                  <a:lnTo>
                    <a:pt x="6850380" y="0"/>
                  </a:lnTo>
                  <a:lnTo>
                    <a:pt x="0" y="0"/>
                  </a:lnTo>
                  <a:lnTo>
                    <a:pt x="0" y="903732"/>
                  </a:lnTo>
                  <a:close/>
                </a:path>
              </a:pathLst>
            </a:custGeom>
            <a:ln w="952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
        <p:nvSpPr>
          <p:cNvPr id="39" name="object 17"/>
          <p:cNvSpPr txBox="1"/>
          <p:nvPr/>
        </p:nvSpPr>
        <p:spPr>
          <a:xfrm>
            <a:off x="1646554" y="5164671"/>
            <a:ext cx="5600065" cy="787400"/>
          </a:xfrm>
          <a:prstGeom prst="rect">
            <a:avLst/>
          </a:prstGeom>
        </p:spPr>
        <p:txBody>
          <a:bodyPr vert="horz" wrap="square" lIns="0" tIns="88265" rIns="0" bIns="0" rtlCol="0">
            <a:spAutoFit/>
          </a:bodyPr>
          <a:lstStyle/>
          <a:p>
            <a:pPr algn="ctr">
              <a:spcBef>
                <a:spcPts val="695"/>
              </a:spcBef>
            </a:pPr>
            <a:r>
              <a:rPr sz="2000" b="1" dirty="0">
                <a:solidFill>
                  <a:srgbClr val="FF0000"/>
                </a:solidFill>
                <a:latin typeface="Palatino Linotype" panose="02040502050505030304"/>
                <a:cs typeface="Palatino Linotype" panose="02040502050505030304"/>
              </a:rPr>
              <a:t>Quadruples’</a:t>
            </a:r>
            <a:r>
              <a:rPr sz="2000" b="1" spc="-30" dirty="0">
                <a:solidFill>
                  <a:srgbClr val="FF0000"/>
                </a:solidFill>
                <a:latin typeface="Palatino Linotype" panose="02040502050505030304"/>
                <a:cs typeface="Palatino Linotype" panose="02040502050505030304"/>
              </a:rPr>
              <a:t> </a:t>
            </a:r>
            <a:r>
              <a:rPr sz="2000" b="1" spc="-10" dirty="0">
                <a:solidFill>
                  <a:srgbClr val="FF0000"/>
                </a:solidFill>
                <a:latin typeface="Palatino Linotype" panose="02040502050505030304"/>
                <a:cs typeface="Palatino Linotype" panose="02040502050505030304"/>
              </a:rPr>
              <a:t>advantage</a:t>
            </a:r>
            <a:endParaRPr sz="2000">
              <a:solidFill>
                <a:sysClr val="windowText" lastClr="000000"/>
              </a:solidFill>
              <a:latin typeface="Palatino Linotype" panose="02040502050505030304"/>
              <a:cs typeface="Palatino Linotype" panose="02040502050505030304"/>
            </a:endParaRPr>
          </a:p>
          <a:p>
            <a:pPr algn="ctr">
              <a:spcBef>
                <a:spcPts val="600"/>
              </a:spcBef>
            </a:pPr>
            <a:r>
              <a:rPr sz="2000" dirty="0">
                <a:solidFill>
                  <a:sysClr val="windowText" lastClr="000000"/>
                </a:solidFill>
                <a:latin typeface="Palatino Linotype" panose="02040502050505030304"/>
                <a:cs typeface="Palatino Linotype" panose="02040502050505030304"/>
              </a:rPr>
              <a:t>The</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instructions</a:t>
            </a:r>
            <a:r>
              <a:rPr sz="2000" spc="-4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that</a:t>
            </a:r>
            <a:r>
              <a:rPr sz="2000" spc="-1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use</a:t>
            </a:r>
            <a:r>
              <a:rPr sz="2000" spc="-30" dirty="0">
                <a:solidFill>
                  <a:sysClr val="windowText" lastClr="000000"/>
                </a:solidFill>
                <a:latin typeface="Palatino Linotype" panose="02040502050505030304"/>
                <a:cs typeface="Palatino Linotype" panose="02040502050505030304"/>
              </a:rPr>
              <a:t> </a:t>
            </a:r>
            <a:r>
              <a:rPr sz="2000" dirty="0">
                <a:solidFill>
                  <a:srgbClr val="0431FF"/>
                </a:solidFill>
                <a:latin typeface="Palatino Linotype" panose="02040502050505030304"/>
                <a:cs typeface="Palatino Linotype" panose="02040502050505030304"/>
              </a:rPr>
              <a:t>t</a:t>
            </a:r>
            <a:r>
              <a:rPr sz="1950" baseline="-21000" dirty="0">
                <a:solidFill>
                  <a:srgbClr val="0431FF"/>
                </a:solidFill>
                <a:latin typeface="Palatino Linotype" panose="02040502050505030304"/>
                <a:cs typeface="Palatino Linotype" panose="02040502050505030304"/>
              </a:rPr>
              <a:t>1</a:t>
            </a:r>
            <a:r>
              <a:rPr sz="1950" spc="240" baseline="-21000" dirty="0">
                <a:solidFill>
                  <a:srgbClr val="0431FF"/>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and</a:t>
            </a:r>
            <a:r>
              <a:rPr sz="2000" spc="-20" dirty="0">
                <a:solidFill>
                  <a:sysClr val="windowText" lastClr="000000"/>
                </a:solidFill>
                <a:latin typeface="Palatino Linotype" panose="02040502050505030304"/>
                <a:cs typeface="Palatino Linotype" panose="02040502050505030304"/>
              </a:rPr>
              <a:t> </a:t>
            </a:r>
            <a:r>
              <a:rPr sz="2000" dirty="0">
                <a:solidFill>
                  <a:srgbClr val="0431FF"/>
                </a:solidFill>
                <a:latin typeface="Palatino Linotype" panose="02040502050505030304"/>
                <a:cs typeface="Palatino Linotype" panose="02040502050505030304"/>
              </a:rPr>
              <a:t>t</a:t>
            </a:r>
            <a:r>
              <a:rPr sz="1950" baseline="-21000" dirty="0">
                <a:solidFill>
                  <a:srgbClr val="0431FF"/>
                </a:solidFill>
                <a:latin typeface="Palatino Linotype" panose="02040502050505030304"/>
                <a:cs typeface="Palatino Linotype" panose="02040502050505030304"/>
              </a:rPr>
              <a:t>3</a:t>
            </a:r>
            <a:r>
              <a:rPr sz="1950" spc="232" baseline="-21000" dirty="0">
                <a:solidFill>
                  <a:srgbClr val="0431FF"/>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are</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not</a:t>
            </a:r>
            <a:r>
              <a:rPr sz="2000" spc="-15"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affected</a:t>
            </a:r>
            <a:endParaRPr sz="2000">
              <a:solidFill>
                <a:sysClr val="windowText" lastClr="000000"/>
              </a:solidFill>
              <a:latin typeface="Palatino Linotype" panose="02040502050505030304"/>
              <a:cs typeface="Palatino Linotype" panose="02040502050505030304"/>
            </a:endParaRPr>
          </a:p>
        </p:txBody>
      </p:sp>
      <p:grpSp>
        <p:nvGrpSpPr>
          <p:cNvPr id="40" name="object 18"/>
          <p:cNvGrpSpPr/>
          <p:nvPr/>
        </p:nvGrpSpPr>
        <p:grpSpPr>
          <a:xfrm>
            <a:off x="6963029" y="3376929"/>
            <a:ext cx="1634489" cy="2113280"/>
            <a:chOff x="6963029" y="3376929"/>
            <a:chExt cx="1634489" cy="2113280"/>
          </a:xfrm>
        </p:grpSpPr>
        <p:sp>
          <p:nvSpPr>
            <p:cNvPr id="41" name="object 19"/>
            <p:cNvSpPr/>
            <p:nvPr/>
          </p:nvSpPr>
          <p:spPr>
            <a:xfrm>
              <a:off x="7933944" y="3383279"/>
              <a:ext cx="212090" cy="413384"/>
            </a:xfrm>
            <a:custGeom>
              <a:avLst/>
              <a:gdLst/>
              <a:ahLst/>
              <a:cxnLst/>
              <a:rect l="l" t="t" r="r" b="b"/>
              <a:pathLst>
                <a:path w="212090" h="413385">
                  <a:moveTo>
                    <a:pt x="0" y="0"/>
                  </a:moveTo>
                  <a:lnTo>
                    <a:pt x="41249" y="1383"/>
                  </a:lnTo>
                  <a:lnTo>
                    <a:pt x="74914" y="5159"/>
                  </a:lnTo>
                  <a:lnTo>
                    <a:pt x="97601" y="10769"/>
                  </a:lnTo>
                  <a:lnTo>
                    <a:pt x="105917" y="17653"/>
                  </a:lnTo>
                  <a:lnTo>
                    <a:pt x="105917" y="188849"/>
                  </a:lnTo>
                  <a:lnTo>
                    <a:pt x="114234" y="195732"/>
                  </a:lnTo>
                  <a:lnTo>
                    <a:pt x="136921" y="201342"/>
                  </a:lnTo>
                  <a:lnTo>
                    <a:pt x="170586" y="205118"/>
                  </a:lnTo>
                  <a:lnTo>
                    <a:pt x="211835" y="206502"/>
                  </a:lnTo>
                  <a:lnTo>
                    <a:pt x="170586" y="207885"/>
                  </a:lnTo>
                  <a:lnTo>
                    <a:pt x="136921" y="211661"/>
                  </a:lnTo>
                  <a:lnTo>
                    <a:pt x="114234" y="217271"/>
                  </a:lnTo>
                  <a:lnTo>
                    <a:pt x="105917" y="224155"/>
                  </a:lnTo>
                  <a:lnTo>
                    <a:pt x="105917" y="395351"/>
                  </a:lnTo>
                  <a:lnTo>
                    <a:pt x="97601" y="402234"/>
                  </a:lnTo>
                  <a:lnTo>
                    <a:pt x="74914" y="407844"/>
                  </a:lnTo>
                  <a:lnTo>
                    <a:pt x="41249" y="411620"/>
                  </a:lnTo>
                  <a:lnTo>
                    <a:pt x="0" y="413004"/>
                  </a:lnTo>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2" name="object 20"/>
            <p:cNvSpPr/>
            <p:nvPr/>
          </p:nvSpPr>
          <p:spPr>
            <a:xfrm>
              <a:off x="6963029" y="3584447"/>
              <a:ext cx="1634489" cy="1905635"/>
            </a:xfrm>
            <a:custGeom>
              <a:avLst/>
              <a:gdLst/>
              <a:ahLst/>
              <a:cxnLst/>
              <a:rect l="l" t="t" r="r" b="b"/>
              <a:pathLst>
                <a:path w="1634490" h="1905635">
                  <a:moveTo>
                    <a:pt x="75311" y="1804670"/>
                  </a:moveTo>
                  <a:lnTo>
                    <a:pt x="72771" y="1806955"/>
                  </a:lnTo>
                  <a:lnTo>
                    <a:pt x="0" y="1874392"/>
                  </a:lnTo>
                  <a:lnTo>
                    <a:pt x="94361" y="1904491"/>
                  </a:lnTo>
                  <a:lnTo>
                    <a:pt x="97790" y="1905508"/>
                  </a:lnTo>
                  <a:lnTo>
                    <a:pt x="101346" y="1903729"/>
                  </a:lnTo>
                  <a:lnTo>
                    <a:pt x="102362" y="1900427"/>
                  </a:lnTo>
                  <a:lnTo>
                    <a:pt x="103504" y="1896999"/>
                  </a:lnTo>
                  <a:lnTo>
                    <a:pt x="101600" y="1893442"/>
                  </a:lnTo>
                  <a:lnTo>
                    <a:pt x="98298" y="1892427"/>
                  </a:lnTo>
                  <a:lnTo>
                    <a:pt x="52691" y="1877821"/>
                  </a:lnTo>
                  <a:lnTo>
                    <a:pt x="13716" y="1877821"/>
                  </a:lnTo>
                  <a:lnTo>
                    <a:pt x="10922" y="1865376"/>
                  </a:lnTo>
                  <a:lnTo>
                    <a:pt x="33981" y="1860246"/>
                  </a:lnTo>
                  <a:lnTo>
                    <a:pt x="81406" y="1816353"/>
                  </a:lnTo>
                  <a:lnTo>
                    <a:pt x="83947" y="1813940"/>
                  </a:lnTo>
                  <a:lnTo>
                    <a:pt x="84074" y="1809877"/>
                  </a:lnTo>
                  <a:lnTo>
                    <a:pt x="81661" y="1807337"/>
                  </a:lnTo>
                  <a:lnTo>
                    <a:pt x="79375" y="1804796"/>
                  </a:lnTo>
                  <a:lnTo>
                    <a:pt x="75311" y="1804670"/>
                  </a:lnTo>
                  <a:close/>
                </a:path>
                <a:path w="1634490" h="1905635">
                  <a:moveTo>
                    <a:pt x="33981" y="1860246"/>
                  </a:moveTo>
                  <a:lnTo>
                    <a:pt x="10922" y="1865376"/>
                  </a:lnTo>
                  <a:lnTo>
                    <a:pt x="13716" y="1877821"/>
                  </a:lnTo>
                  <a:lnTo>
                    <a:pt x="20558" y="1876298"/>
                  </a:lnTo>
                  <a:lnTo>
                    <a:pt x="16637" y="1876298"/>
                  </a:lnTo>
                  <a:lnTo>
                    <a:pt x="14224" y="1865502"/>
                  </a:lnTo>
                  <a:lnTo>
                    <a:pt x="28301" y="1865502"/>
                  </a:lnTo>
                  <a:lnTo>
                    <a:pt x="33981" y="1860246"/>
                  </a:lnTo>
                  <a:close/>
                </a:path>
                <a:path w="1634490" h="1905635">
                  <a:moveTo>
                    <a:pt x="36704" y="1872702"/>
                  </a:moveTo>
                  <a:lnTo>
                    <a:pt x="13716" y="1877821"/>
                  </a:lnTo>
                  <a:lnTo>
                    <a:pt x="52691" y="1877821"/>
                  </a:lnTo>
                  <a:lnTo>
                    <a:pt x="36704" y="1872702"/>
                  </a:lnTo>
                  <a:close/>
                </a:path>
                <a:path w="1634490" h="1905635">
                  <a:moveTo>
                    <a:pt x="14224" y="1865502"/>
                  </a:moveTo>
                  <a:lnTo>
                    <a:pt x="16637" y="1876298"/>
                  </a:lnTo>
                  <a:lnTo>
                    <a:pt x="24682" y="1868852"/>
                  </a:lnTo>
                  <a:lnTo>
                    <a:pt x="14224" y="1865502"/>
                  </a:lnTo>
                  <a:close/>
                </a:path>
                <a:path w="1634490" h="1905635">
                  <a:moveTo>
                    <a:pt x="24682" y="1868852"/>
                  </a:moveTo>
                  <a:lnTo>
                    <a:pt x="16637" y="1876298"/>
                  </a:lnTo>
                  <a:lnTo>
                    <a:pt x="20558" y="1876298"/>
                  </a:lnTo>
                  <a:lnTo>
                    <a:pt x="36704" y="1872702"/>
                  </a:lnTo>
                  <a:lnTo>
                    <a:pt x="24682" y="1868852"/>
                  </a:lnTo>
                  <a:close/>
                </a:path>
                <a:path w="1634490" h="1905635">
                  <a:moveTo>
                    <a:pt x="789177" y="1674621"/>
                  </a:moveTo>
                  <a:lnTo>
                    <a:pt x="732536" y="1691004"/>
                  </a:lnTo>
                  <a:lnTo>
                    <a:pt x="616712" y="1722754"/>
                  </a:lnTo>
                  <a:lnTo>
                    <a:pt x="557276" y="1738121"/>
                  </a:lnTo>
                  <a:lnTo>
                    <a:pt x="375030" y="1782826"/>
                  </a:lnTo>
                  <a:lnTo>
                    <a:pt x="124968" y="1839976"/>
                  </a:lnTo>
                  <a:lnTo>
                    <a:pt x="33981" y="1860246"/>
                  </a:lnTo>
                  <a:lnTo>
                    <a:pt x="24682" y="1868852"/>
                  </a:lnTo>
                  <a:lnTo>
                    <a:pt x="36704" y="1872702"/>
                  </a:lnTo>
                  <a:lnTo>
                    <a:pt x="377951" y="1795145"/>
                  </a:lnTo>
                  <a:lnTo>
                    <a:pt x="500252" y="1765553"/>
                  </a:lnTo>
                  <a:lnTo>
                    <a:pt x="619887" y="1735074"/>
                  </a:lnTo>
                  <a:lnTo>
                    <a:pt x="736092" y="1703324"/>
                  </a:lnTo>
                  <a:lnTo>
                    <a:pt x="792734" y="1686814"/>
                  </a:lnTo>
                  <a:lnTo>
                    <a:pt x="832585" y="1674749"/>
                  </a:lnTo>
                  <a:lnTo>
                    <a:pt x="789051" y="1674749"/>
                  </a:lnTo>
                  <a:lnTo>
                    <a:pt x="789177" y="1674621"/>
                  </a:lnTo>
                  <a:close/>
                </a:path>
                <a:path w="1634490" h="1905635">
                  <a:moveTo>
                    <a:pt x="28301" y="1865502"/>
                  </a:moveTo>
                  <a:lnTo>
                    <a:pt x="14224" y="1865502"/>
                  </a:lnTo>
                  <a:lnTo>
                    <a:pt x="24682" y="1868852"/>
                  </a:lnTo>
                  <a:lnTo>
                    <a:pt x="28301" y="1865502"/>
                  </a:lnTo>
                  <a:close/>
                </a:path>
                <a:path w="1634490" h="1905635">
                  <a:moveTo>
                    <a:pt x="1002792" y="1605026"/>
                  </a:moveTo>
                  <a:lnTo>
                    <a:pt x="951229" y="1623187"/>
                  </a:lnTo>
                  <a:lnTo>
                    <a:pt x="898525" y="1640713"/>
                  </a:lnTo>
                  <a:lnTo>
                    <a:pt x="844296" y="1657985"/>
                  </a:lnTo>
                  <a:lnTo>
                    <a:pt x="789051" y="1674749"/>
                  </a:lnTo>
                  <a:lnTo>
                    <a:pt x="832585" y="1674749"/>
                  </a:lnTo>
                  <a:lnTo>
                    <a:pt x="902462" y="1652777"/>
                  </a:lnTo>
                  <a:lnTo>
                    <a:pt x="955421" y="1635125"/>
                  </a:lnTo>
                  <a:lnTo>
                    <a:pt x="1007110" y="1617090"/>
                  </a:lnTo>
                  <a:lnTo>
                    <a:pt x="1039188" y="1605152"/>
                  </a:lnTo>
                  <a:lnTo>
                    <a:pt x="1002665" y="1605152"/>
                  </a:lnTo>
                  <a:close/>
                </a:path>
                <a:path w="1634490" h="1905635">
                  <a:moveTo>
                    <a:pt x="1052829" y="1586483"/>
                  </a:moveTo>
                  <a:lnTo>
                    <a:pt x="1002665" y="1605152"/>
                  </a:lnTo>
                  <a:lnTo>
                    <a:pt x="1039188" y="1605152"/>
                  </a:lnTo>
                  <a:lnTo>
                    <a:pt x="1057275" y="1598421"/>
                  </a:lnTo>
                  <a:lnTo>
                    <a:pt x="1087310" y="1586610"/>
                  </a:lnTo>
                  <a:lnTo>
                    <a:pt x="1052702" y="1586610"/>
                  </a:lnTo>
                  <a:close/>
                </a:path>
                <a:path w="1634490" h="1905635">
                  <a:moveTo>
                    <a:pt x="1147952" y="1547749"/>
                  </a:moveTo>
                  <a:lnTo>
                    <a:pt x="1101090" y="1567433"/>
                  </a:lnTo>
                  <a:lnTo>
                    <a:pt x="1052702" y="1586610"/>
                  </a:lnTo>
                  <a:lnTo>
                    <a:pt x="1087310" y="1586610"/>
                  </a:lnTo>
                  <a:lnTo>
                    <a:pt x="1106043" y="1579245"/>
                  </a:lnTo>
                  <a:lnTo>
                    <a:pt x="1153032" y="1559433"/>
                  </a:lnTo>
                  <a:lnTo>
                    <a:pt x="1178819" y="1547876"/>
                  </a:lnTo>
                  <a:lnTo>
                    <a:pt x="1147826" y="1547876"/>
                  </a:lnTo>
                  <a:close/>
                </a:path>
                <a:path w="1634490" h="1905635">
                  <a:moveTo>
                    <a:pt x="1236218" y="1506601"/>
                  </a:moveTo>
                  <a:lnTo>
                    <a:pt x="1192911" y="1527556"/>
                  </a:lnTo>
                  <a:lnTo>
                    <a:pt x="1193165" y="1527556"/>
                  </a:lnTo>
                  <a:lnTo>
                    <a:pt x="1147826" y="1547876"/>
                  </a:lnTo>
                  <a:lnTo>
                    <a:pt x="1178819" y="1547876"/>
                  </a:lnTo>
                  <a:lnTo>
                    <a:pt x="1198372" y="1539113"/>
                  </a:lnTo>
                  <a:lnTo>
                    <a:pt x="1241932" y="1518031"/>
                  </a:lnTo>
                  <a:lnTo>
                    <a:pt x="1263741" y="1506727"/>
                  </a:lnTo>
                  <a:lnTo>
                    <a:pt x="1236091" y="1506727"/>
                  </a:lnTo>
                  <a:close/>
                </a:path>
                <a:path w="1634490" h="1905635">
                  <a:moveTo>
                    <a:pt x="1457168" y="1379982"/>
                  </a:moveTo>
                  <a:lnTo>
                    <a:pt x="1437640" y="1379982"/>
                  </a:lnTo>
                  <a:lnTo>
                    <a:pt x="1421892" y="1392427"/>
                  </a:lnTo>
                  <a:lnTo>
                    <a:pt x="1405763" y="1404746"/>
                  </a:lnTo>
                  <a:lnTo>
                    <a:pt x="1389126" y="1416684"/>
                  </a:lnTo>
                  <a:lnTo>
                    <a:pt x="1353947" y="1440307"/>
                  </a:lnTo>
                  <a:lnTo>
                    <a:pt x="1316736" y="1463166"/>
                  </a:lnTo>
                  <a:lnTo>
                    <a:pt x="1277493" y="1485264"/>
                  </a:lnTo>
                  <a:lnTo>
                    <a:pt x="1236091" y="1506727"/>
                  </a:lnTo>
                  <a:lnTo>
                    <a:pt x="1263741" y="1506727"/>
                  </a:lnTo>
                  <a:lnTo>
                    <a:pt x="1283589" y="1496440"/>
                  </a:lnTo>
                  <a:lnTo>
                    <a:pt x="1323213" y="1474089"/>
                  </a:lnTo>
                  <a:lnTo>
                    <a:pt x="1360931" y="1450975"/>
                  </a:lnTo>
                  <a:lnTo>
                    <a:pt x="1396365" y="1427099"/>
                  </a:lnTo>
                  <a:lnTo>
                    <a:pt x="1429766" y="1402460"/>
                  </a:lnTo>
                  <a:lnTo>
                    <a:pt x="1445514" y="1389888"/>
                  </a:lnTo>
                  <a:lnTo>
                    <a:pt x="1457168" y="1379982"/>
                  </a:lnTo>
                  <a:close/>
                </a:path>
                <a:path w="1634490" h="1905635">
                  <a:moveTo>
                    <a:pt x="1316863" y="1463039"/>
                  </a:moveTo>
                  <a:lnTo>
                    <a:pt x="1316638" y="1463166"/>
                  </a:lnTo>
                  <a:lnTo>
                    <a:pt x="1316863" y="1463039"/>
                  </a:lnTo>
                  <a:close/>
                </a:path>
                <a:path w="1634490" h="1905635">
                  <a:moveTo>
                    <a:pt x="1354074" y="1440179"/>
                  </a:moveTo>
                  <a:lnTo>
                    <a:pt x="1353867" y="1440307"/>
                  </a:lnTo>
                  <a:lnTo>
                    <a:pt x="1354074" y="1440179"/>
                  </a:lnTo>
                  <a:close/>
                </a:path>
                <a:path w="1634490" h="1905635">
                  <a:moveTo>
                    <a:pt x="1389252" y="1416558"/>
                  </a:moveTo>
                  <a:lnTo>
                    <a:pt x="1389064" y="1416684"/>
                  </a:lnTo>
                  <a:lnTo>
                    <a:pt x="1389252" y="1416558"/>
                  </a:lnTo>
                  <a:close/>
                </a:path>
                <a:path w="1634490" h="1905635">
                  <a:moveTo>
                    <a:pt x="1405890" y="1404620"/>
                  </a:moveTo>
                  <a:lnTo>
                    <a:pt x="1405713" y="1404746"/>
                  </a:lnTo>
                  <a:lnTo>
                    <a:pt x="1405890" y="1404620"/>
                  </a:lnTo>
                  <a:close/>
                </a:path>
                <a:path w="1634490" h="1905635">
                  <a:moveTo>
                    <a:pt x="1498302" y="1341501"/>
                  </a:moveTo>
                  <a:lnTo>
                    <a:pt x="1480566" y="1341501"/>
                  </a:lnTo>
                  <a:lnTo>
                    <a:pt x="1466723" y="1354582"/>
                  </a:lnTo>
                  <a:lnTo>
                    <a:pt x="1452372" y="1367408"/>
                  </a:lnTo>
                  <a:lnTo>
                    <a:pt x="1437386" y="1380108"/>
                  </a:lnTo>
                  <a:lnTo>
                    <a:pt x="1437640" y="1379982"/>
                  </a:lnTo>
                  <a:lnTo>
                    <a:pt x="1457168" y="1379982"/>
                  </a:lnTo>
                  <a:lnTo>
                    <a:pt x="1460753" y="1376933"/>
                  </a:lnTo>
                  <a:lnTo>
                    <a:pt x="1475359" y="1363852"/>
                  </a:lnTo>
                  <a:lnTo>
                    <a:pt x="1489328" y="1350645"/>
                  </a:lnTo>
                  <a:lnTo>
                    <a:pt x="1498302" y="1341501"/>
                  </a:lnTo>
                  <a:close/>
                </a:path>
                <a:path w="1634490" h="1905635">
                  <a:moveTo>
                    <a:pt x="1452499" y="1367282"/>
                  </a:moveTo>
                  <a:lnTo>
                    <a:pt x="1452349" y="1367408"/>
                  </a:lnTo>
                  <a:lnTo>
                    <a:pt x="1452499" y="1367282"/>
                  </a:lnTo>
                  <a:close/>
                </a:path>
                <a:path w="1634490" h="1905635">
                  <a:moveTo>
                    <a:pt x="1510977" y="1328165"/>
                  </a:moveTo>
                  <a:lnTo>
                    <a:pt x="1493647" y="1328165"/>
                  </a:lnTo>
                  <a:lnTo>
                    <a:pt x="1480312" y="1341627"/>
                  </a:lnTo>
                  <a:lnTo>
                    <a:pt x="1480566" y="1341501"/>
                  </a:lnTo>
                  <a:lnTo>
                    <a:pt x="1498302" y="1341501"/>
                  </a:lnTo>
                  <a:lnTo>
                    <a:pt x="1502664" y="1337056"/>
                  </a:lnTo>
                  <a:lnTo>
                    <a:pt x="1510977" y="1328165"/>
                  </a:lnTo>
                  <a:close/>
                </a:path>
                <a:path w="1634490" h="1905635">
                  <a:moveTo>
                    <a:pt x="1522839" y="1314831"/>
                  </a:moveTo>
                  <a:lnTo>
                    <a:pt x="1506093" y="1314831"/>
                  </a:lnTo>
                  <a:lnTo>
                    <a:pt x="1493520" y="1328293"/>
                  </a:lnTo>
                  <a:lnTo>
                    <a:pt x="1493647" y="1328165"/>
                  </a:lnTo>
                  <a:lnTo>
                    <a:pt x="1510977" y="1328165"/>
                  </a:lnTo>
                  <a:lnTo>
                    <a:pt x="1515491" y="1323339"/>
                  </a:lnTo>
                  <a:lnTo>
                    <a:pt x="1522839" y="1314831"/>
                  </a:lnTo>
                  <a:close/>
                </a:path>
                <a:path w="1634490" h="1905635">
                  <a:moveTo>
                    <a:pt x="1544914" y="1287271"/>
                  </a:moveTo>
                  <a:lnTo>
                    <a:pt x="1529079" y="1287271"/>
                  </a:lnTo>
                  <a:lnTo>
                    <a:pt x="1517777" y="1301369"/>
                  </a:lnTo>
                  <a:lnTo>
                    <a:pt x="1505966" y="1314958"/>
                  </a:lnTo>
                  <a:lnTo>
                    <a:pt x="1522839" y="1314831"/>
                  </a:lnTo>
                  <a:lnTo>
                    <a:pt x="1527555" y="1309370"/>
                  </a:lnTo>
                  <a:lnTo>
                    <a:pt x="1539113" y="1295145"/>
                  </a:lnTo>
                  <a:lnTo>
                    <a:pt x="1544914" y="1287271"/>
                  </a:lnTo>
                  <a:close/>
                </a:path>
                <a:path w="1634490" h="1905635">
                  <a:moveTo>
                    <a:pt x="1517903" y="1301114"/>
                  </a:moveTo>
                  <a:lnTo>
                    <a:pt x="1517684" y="1301369"/>
                  </a:lnTo>
                  <a:lnTo>
                    <a:pt x="1517903" y="1301114"/>
                  </a:lnTo>
                  <a:close/>
                </a:path>
                <a:path w="1634490" h="1905635">
                  <a:moveTo>
                    <a:pt x="1554948" y="1273175"/>
                  </a:moveTo>
                  <a:lnTo>
                    <a:pt x="1539494" y="1273175"/>
                  </a:lnTo>
                  <a:lnTo>
                    <a:pt x="1528952" y="1287399"/>
                  </a:lnTo>
                  <a:lnTo>
                    <a:pt x="1529079" y="1287271"/>
                  </a:lnTo>
                  <a:lnTo>
                    <a:pt x="1544914" y="1287271"/>
                  </a:lnTo>
                  <a:lnTo>
                    <a:pt x="1549780" y="1280668"/>
                  </a:lnTo>
                  <a:lnTo>
                    <a:pt x="1554948" y="1273175"/>
                  </a:lnTo>
                  <a:close/>
                </a:path>
                <a:path w="1634490" h="1905635">
                  <a:moveTo>
                    <a:pt x="1573168" y="1244345"/>
                  </a:moveTo>
                  <a:lnTo>
                    <a:pt x="1558417" y="1244345"/>
                  </a:lnTo>
                  <a:lnTo>
                    <a:pt x="1549273" y="1259077"/>
                  </a:lnTo>
                  <a:lnTo>
                    <a:pt x="1539367" y="1273302"/>
                  </a:lnTo>
                  <a:lnTo>
                    <a:pt x="1554948" y="1273175"/>
                  </a:lnTo>
                  <a:lnTo>
                    <a:pt x="1559941" y="1265935"/>
                  </a:lnTo>
                  <a:lnTo>
                    <a:pt x="1569339" y="1250950"/>
                  </a:lnTo>
                  <a:lnTo>
                    <a:pt x="1573168" y="1244345"/>
                  </a:lnTo>
                  <a:close/>
                </a:path>
                <a:path w="1634490" h="1905635">
                  <a:moveTo>
                    <a:pt x="1549400" y="1258824"/>
                  </a:moveTo>
                  <a:lnTo>
                    <a:pt x="1549223" y="1259077"/>
                  </a:lnTo>
                  <a:lnTo>
                    <a:pt x="1549400" y="1258824"/>
                  </a:lnTo>
                  <a:close/>
                </a:path>
                <a:path w="1634490" h="1905635">
                  <a:moveTo>
                    <a:pt x="1588797" y="1214627"/>
                  </a:moveTo>
                  <a:lnTo>
                    <a:pt x="1574800" y="1214627"/>
                  </a:lnTo>
                  <a:lnTo>
                    <a:pt x="1566926" y="1229740"/>
                  </a:lnTo>
                  <a:lnTo>
                    <a:pt x="1558290" y="1244472"/>
                  </a:lnTo>
                  <a:lnTo>
                    <a:pt x="1573168" y="1244345"/>
                  </a:lnTo>
                  <a:lnTo>
                    <a:pt x="1578102" y="1235837"/>
                  </a:lnTo>
                  <a:lnTo>
                    <a:pt x="1586102" y="1220343"/>
                  </a:lnTo>
                  <a:lnTo>
                    <a:pt x="1588797" y="1214627"/>
                  </a:lnTo>
                  <a:close/>
                </a:path>
                <a:path w="1634490" h="1905635">
                  <a:moveTo>
                    <a:pt x="1567052" y="1229487"/>
                  </a:moveTo>
                  <a:lnTo>
                    <a:pt x="1566904" y="1229740"/>
                  </a:lnTo>
                  <a:lnTo>
                    <a:pt x="1567052" y="1229487"/>
                  </a:lnTo>
                  <a:close/>
                </a:path>
                <a:path w="1634490" h="1905635">
                  <a:moveTo>
                    <a:pt x="1595676" y="1199514"/>
                  </a:moveTo>
                  <a:lnTo>
                    <a:pt x="1581912" y="1199514"/>
                  </a:lnTo>
                  <a:lnTo>
                    <a:pt x="1574723" y="1214775"/>
                  </a:lnTo>
                  <a:lnTo>
                    <a:pt x="1574800" y="1214627"/>
                  </a:lnTo>
                  <a:lnTo>
                    <a:pt x="1588797" y="1214627"/>
                  </a:lnTo>
                  <a:lnTo>
                    <a:pt x="1593469" y="1204721"/>
                  </a:lnTo>
                  <a:lnTo>
                    <a:pt x="1595676" y="1199514"/>
                  </a:lnTo>
                  <a:close/>
                </a:path>
                <a:path w="1634490" h="1905635">
                  <a:moveTo>
                    <a:pt x="1602071" y="1183894"/>
                  </a:moveTo>
                  <a:lnTo>
                    <a:pt x="1588516" y="1183894"/>
                  </a:lnTo>
                  <a:lnTo>
                    <a:pt x="1581785" y="1199641"/>
                  </a:lnTo>
                  <a:lnTo>
                    <a:pt x="1595676" y="1199514"/>
                  </a:lnTo>
                  <a:lnTo>
                    <a:pt x="1600200" y="1188846"/>
                  </a:lnTo>
                  <a:lnTo>
                    <a:pt x="1602071" y="1183894"/>
                  </a:lnTo>
                  <a:close/>
                </a:path>
                <a:path w="1634490" h="1905635">
                  <a:moveTo>
                    <a:pt x="1612907" y="1152525"/>
                  </a:moveTo>
                  <a:lnTo>
                    <a:pt x="1599692" y="1152525"/>
                  </a:lnTo>
                  <a:lnTo>
                    <a:pt x="1594357" y="1168653"/>
                  </a:lnTo>
                  <a:lnTo>
                    <a:pt x="1588389" y="1184147"/>
                  </a:lnTo>
                  <a:lnTo>
                    <a:pt x="1588516" y="1183894"/>
                  </a:lnTo>
                  <a:lnTo>
                    <a:pt x="1602071" y="1183894"/>
                  </a:lnTo>
                  <a:lnTo>
                    <a:pt x="1606296" y="1172718"/>
                  </a:lnTo>
                  <a:lnTo>
                    <a:pt x="1611756" y="1156462"/>
                  </a:lnTo>
                  <a:lnTo>
                    <a:pt x="1612907" y="1152525"/>
                  </a:lnTo>
                  <a:close/>
                </a:path>
                <a:path w="1634490" h="1905635">
                  <a:moveTo>
                    <a:pt x="1594357" y="1168400"/>
                  </a:moveTo>
                  <a:lnTo>
                    <a:pt x="1594261" y="1168653"/>
                  </a:lnTo>
                  <a:lnTo>
                    <a:pt x="1594357" y="1168400"/>
                  </a:lnTo>
                  <a:close/>
                </a:path>
                <a:path w="1634490" h="1905635">
                  <a:moveTo>
                    <a:pt x="1617472" y="1136395"/>
                  </a:moveTo>
                  <a:lnTo>
                    <a:pt x="1604391" y="1136395"/>
                  </a:lnTo>
                  <a:lnTo>
                    <a:pt x="1599565" y="1152778"/>
                  </a:lnTo>
                  <a:lnTo>
                    <a:pt x="1599692" y="1152525"/>
                  </a:lnTo>
                  <a:lnTo>
                    <a:pt x="1612907" y="1152525"/>
                  </a:lnTo>
                  <a:lnTo>
                    <a:pt x="1616582" y="1139952"/>
                  </a:lnTo>
                  <a:lnTo>
                    <a:pt x="1617472" y="1136395"/>
                  </a:lnTo>
                  <a:close/>
                </a:path>
                <a:path w="1634490" h="1905635">
                  <a:moveTo>
                    <a:pt x="1634105" y="1000506"/>
                  </a:moveTo>
                  <a:lnTo>
                    <a:pt x="1621409" y="1000506"/>
                  </a:lnTo>
                  <a:lnTo>
                    <a:pt x="1620520" y="1036065"/>
                  </a:lnTo>
                  <a:lnTo>
                    <a:pt x="1620435" y="1036574"/>
                  </a:lnTo>
                  <a:lnTo>
                    <a:pt x="1617218" y="1070356"/>
                  </a:lnTo>
                  <a:lnTo>
                    <a:pt x="1614931" y="1087246"/>
                  </a:lnTo>
                  <a:lnTo>
                    <a:pt x="1611884" y="1103883"/>
                  </a:lnTo>
                  <a:lnTo>
                    <a:pt x="1608454" y="1120394"/>
                  </a:lnTo>
                  <a:lnTo>
                    <a:pt x="1604264" y="1136650"/>
                  </a:lnTo>
                  <a:lnTo>
                    <a:pt x="1604391" y="1136395"/>
                  </a:lnTo>
                  <a:lnTo>
                    <a:pt x="1617472" y="1136395"/>
                  </a:lnTo>
                  <a:lnTo>
                    <a:pt x="1620774" y="1123188"/>
                  </a:lnTo>
                  <a:lnTo>
                    <a:pt x="1624329" y="1106170"/>
                  </a:lnTo>
                  <a:lnTo>
                    <a:pt x="1627504" y="1089152"/>
                  </a:lnTo>
                  <a:lnTo>
                    <a:pt x="1629918" y="1071752"/>
                  </a:lnTo>
                  <a:lnTo>
                    <a:pt x="1633093" y="1036574"/>
                  </a:lnTo>
                  <a:lnTo>
                    <a:pt x="1634105" y="1000506"/>
                  </a:lnTo>
                  <a:close/>
                </a:path>
                <a:path w="1634490" h="1905635">
                  <a:moveTo>
                    <a:pt x="1608454" y="1120139"/>
                  </a:moveTo>
                  <a:lnTo>
                    <a:pt x="1608390" y="1120394"/>
                  </a:lnTo>
                  <a:lnTo>
                    <a:pt x="1608454" y="1120139"/>
                  </a:lnTo>
                  <a:close/>
                </a:path>
                <a:path w="1634490" h="1905635">
                  <a:moveTo>
                    <a:pt x="1611884" y="1103629"/>
                  </a:moveTo>
                  <a:lnTo>
                    <a:pt x="1611832" y="1103883"/>
                  </a:lnTo>
                  <a:lnTo>
                    <a:pt x="1611884" y="1103629"/>
                  </a:lnTo>
                  <a:close/>
                </a:path>
                <a:path w="1634490" h="1905635">
                  <a:moveTo>
                    <a:pt x="1614931" y="1086993"/>
                  </a:moveTo>
                  <a:lnTo>
                    <a:pt x="1614886" y="1087246"/>
                  </a:lnTo>
                  <a:lnTo>
                    <a:pt x="1614931" y="1086993"/>
                  </a:lnTo>
                  <a:close/>
                </a:path>
                <a:path w="1634490" h="1905635">
                  <a:moveTo>
                    <a:pt x="1617218" y="1070102"/>
                  </a:moveTo>
                  <a:lnTo>
                    <a:pt x="1617184" y="1070356"/>
                  </a:lnTo>
                  <a:lnTo>
                    <a:pt x="1617218" y="1070102"/>
                  </a:lnTo>
                  <a:close/>
                </a:path>
                <a:path w="1634490" h="1905635">
                  <a:moveTo>
                    <a:pt x="1620520" y="1035684"/>
                  </a:moveTo>
                  <a:lnTo>
                    <a:pt x="1620483" y="1036065"/>
                  </a:lnTo>
                  <a:lnTo>
                    <a:pt x="1620520" y="1035684"/>
                  </a:lnTo>
                  <a:close/>
                </a:path>
                <a:path w="1634490" h="1905635">
                  <a:moveTo>
                    <a:pt x="1633107" y="964691"/>
                  </a:moveTo>
                  <a:lnTo>
                    <a:pt x="1620393" y="964691"/>
                  </a:lnTo>
                  <a:lnTo>
                    <a:pt x="1621403" y="1000707"/>
                  </a:lnTo>
                  <a:lnTo>
                    <a:pt x="1621409" y="1000506"/>
                  </a:lnTo>
                  <a:lnTo>
                    <a:pt x="1634105" y="1000506"/>
                  </a:lnTo>
                  <a:lnTo>
                    <a:pt x="1633107" y="964691"/>
                  </a:lnTo>
                  <a:close/>
                </a:path>
                <a:path w="1634490" h="1905635">
                  <a:moveTo>
                    <a:pt x="1630138" y="927988"/>
                  </a:moveTo>
                  <a:lnTo>
                    <a:pt x="1617472" y="927988"/>
                  </a:lnTo>
                  <a:lnTo>
                    <a:pt x="1620393" y="964945"/>
                  </a:lnTo>
                  <a:lnTo>
                    <a:pt x="1620393" y="964691"/>
                  </a:lnTo>
                  <a:lnTo>
                    <a:pt x="1633107" y="964691"/>
                  </a:lnTo>
                  <a:lnTo>
                    <a:pt x="1633093" y="964183"/>
                  </a:lnTo>
                  <a:lnTo>
                    <a:pt x="1630138" y="927988"/>
                  </a:lnTo>
                  <a:close/>
                </a:path>
                <a:path w="1634490" h="1905635">
                  <a:moveTo>
                    <a:pt x="1625341" y="890904"/>
                  </a:moveTo>
                  <a:lnTo>
                    <a:pt x="1612519" y="890904"/>
                  </a:lnTo>
                  <a:lnTo>
                    <a:pt x="1617472" y="928369"/>
                  </a:lnTo>
                  <a:lnTo>
                    <a:pt x="1617472" y="927988"/>
                  </a:lnTo>
                  <a:lnTo>
                    <a:pt x="1630138" y="927988"/>
                  </a:lnTo>
                  <a:lnTo>
                    <a:pt x="1630045" y="926845"/>
                  </a:lnTo>
                  <a:lnTo>
                    <a:pt x="1625341" y="890904"/>
                  </a:lnTo>
                  <a:close/>
                </a:path>
                <a:path w="1634490" h="1905635">
                  <a:moveTo>
                    <a:pt x="1618762" y="852932"/>
                  </a:moveTo>
                  <a:lnTo>
                    <a:pt x="1605915" y="852932"/>
                  </a:lnTo>
                  <a:lnTo>
                    <a:pt x="1612519" y="891158"/>
                  </a:lnTo>
                  <a:lnTo>
                    <a:pt x="1612519" y="890904"/>
                  </a:lnTo>
                  <a:lnTo>
                    <a:pt x="1625341" y="890904"/>
                  </a:lnTo>
                  <a:lnTo>
                    <a:pt x="1625092" y="889000"/>
                  </a:lnTo>
                  <a:lnTo>
                    <a:pt x="1618762" y="852932"/>
                  </a:lnTo>
                  <a:close/>
                </a:path>
                <a:path w="1634490" h="1905635">
                  <a:moveTo>
                    <a:pt x="1589195" y="735583"/>
                  </a:moveTo>
                  <a:lnTo>
                    <a:pt x="1575943" y="735583"/>
                  </a:lnTo>
                  <a:lnTo>
                    <a:pt x="1587500" y="775462"/>
                  </a:lnTo>
                  <a:lnTo>
                    <a:pt x="1597532" y="814577"/>
                  </a:lnTo>
                  <a:lnTo>
                    <a:pt x="1605915" y="853185"/>
                  </a:lnTo>
                  <a:lnTo>
                    <a:pt x="1605915" y="852932"/>
                  </a:lnTo>
                  <a:lnTo>
                    <a:pt x="1618762" y="852932"/>
                  </a:lnTo>
                  <a:lnTo>
                    <a:pt x="1618361" y="850645"/>
                  </a:lnTo>
                  <a:lnTo>
                    <a:pt x="1609852" y="811529"/>
                  </a:lnTo>
                  <a:lnTo>
                    <a:pt x="1599692" y="772032"/>
                  </a:lnTo>
                  <a:lnTo>
                    <a:pt x="1589195" y="735583"/>
                  </a:lnTo>
                  <a:close/>
                </a:path>
                <a:path w="1634490" h="1905635">
                  <a:moveTo>
                    <a:pt x="1597405" y="814451"/>
                  </a:moveTo>
                  <a:close/>
                </a:path>
                <a:path w="1634490" h="1905635">
                  <a:moveTo>
                    <a:pt x="1587373" y="775334"/>
                  </a:moveTo>
                  <a:lnTo>
                    <a:pt x="1587405" y="775462"/>
                  </a:lnTo>
                  <a:lnTo>
                    <a:pt x="1587373" y="775334"/>
                  </a:lnTo>
                  <a:close/>
                </a:path>
                <a:path w="1634490" h="1905635">
                  <a:moveTo>
                    <a:pt x="1576214" y="695451"/>
                  </a:moveTo>
                  <a:lnTo>
                    <a:pt x="1562862" y="695451"/>
                  </a:lnTo>
                  <a:lnTo>
                    <a:pt x="1575943" y="735838"/>
                  </a:lnTo>
                  <a:lnTo>
                    <a:pt x="1575943" y="735583"/>
                  </a:lnTo>
                  <a:lnTo>
                    <a:pt x="1589195" y="735583"/>
                  </a:lnTo>
                  <a:lnTo>
                    <a:pt x="1588135" y="731901"/>
                  </a:lnTo>
                  <a:lnTo>
                    <a:pt x="1576214" y="695451"/>
                  </a:lnTo>
                  <a:close/>
                </a:path>
                <a:path w="1634490" h="1905635">
                  <a:moveTo>
                    <a:pt x="1546321" y="613537"/>
                  </a:moveTo>
                  <a:lnTo>
                    <a:pt x="1532763" y="613537"/>
                  </a:lnTo>
                  <a:lnTo>
                    <a:pt x="1548638" y="654938"/>
                  </a:lnTo>
                  <a:lnTo>
                    <a:pt x="1562862" y="695578"/>
                  </a:lnTo>
                  <a:lnTo>
                    <a:pt x="1576214" y="695451"/>
                  </a:lnTo>
                  <a:lnTo>
                    <a:pt x="1574927" y="691514"/>
                  </a:lnTo>
                  <a:lnTo>
                    <a:pt x="1560449" y="650494"/>
                  </a:lnTo>
                  <a:lnTo>
                    <a:pt x="1546321" y="613537"/>
                  </a:lnTo>
                  <a:close/>
                </a:path>
                <a:path w="1634490" h="1905635">
                  <a:moveTo>
                    <a:pt x="1548511" y="654812"/>
                  </a:moveTo>
                  <a:close/>
                </a:path>
                <a:path w="1634490" h="1905635">
                  <a:moveTo>
                    <a:pt x="1529521" y="572007"/>
                  </a:moveTo>
                  <a:lnTo>
                    <a:pt x="1515872" y="572007"/>
                  </a:lnTo>
                  <a:lnTo>
                    <a:pt x="1532763" y="613663"/>
                  </a:lnTo>
                  <a:lnTo>
                    <a:pt x="1546321" y="613537"/>
                  </a:lnTo>
                  <a:lnTo>
                    <a:pt x="1544574" y="608964"/>
                  </a:lnTo>
                  <a:lnTo>
                    <a:pt x="1529521" y="572007"/>
                  </a:lnTo>
                  <a:close/>
                </a:path>
                <a:path w="1634490" h="1905635">
                  <a:moveTo>
                    <a:pt x="1511688" y="529970"/>
                  </a:moveTo>
                  <a:lnTo>
                    <a:pt x="1497965" y="529970"/>
                  </a:lnTo>
                  <a:lnTo>
                    <a:pt x="1515872" y="572134"/>
                  </a:lnTo>
                  <a:lnTo>
                    <a:pt x="1529521" y="572007"/>
                  </a:lnTo>
                  <a:lnTo>
                    <a:pt x="1527555" y="567182"/>
                  </a:lnTo>
                  <a:lnTo>
                    <a:pt x="1511688" y="529970"/>
                  </a:lnTo>
                  <a:close/>
                </a:path>
                <a:path w="1634490" h="1905635">
                  <a:moveTo>
                    <a:pt x="1472779" y="444881"/>
                  </a:moveTo>
                  <a:lnTo>
                    <a:pt x="1458849" y="444881"/>
                  </a:lnTo>
                  <a:lnTo>
                    <a:pt x="1478788" y="487679"/>
                  </a:lnTo>
                  <a:lnTo>
                    <a:pt x="1497965" y="530097"/>
                  </a:lnTo>
                  <a:lnTo>
                    <a:pt x="1511688" y="529970"/>
                  </a:lnTo>
                  <a:lnTo>
                    <a:pt x="1509522" y="524890"/>
                  </a:lnTo>
                  <a:lnTo>
                    <a:pt x="1490345" y="482345"/>
                  </a:lnTo>
                  <a:lnTo>
                    <a:pt x="1472779" y="444881"/>
                  </a:lnTo>
                  <a:close/>
                </a:path>
                <a:path w="1634490" h="1905635">
                  <a:moveTo>
                    <a:pt x="1408260" y="315087"/>
                  </a:moveTo>
                  <a:lnTo>
                    <a:pt x="1393952" y="315087"/>
                  </a:lnTo>
                  <a:lnTo>
                    <a:pt x="1416430" y="358775"/>
                  </a:lnTo>
                  <a:lnTo>
                    <a:pt x="1438021" y="402081"/>
                  </a:lnTo>
                  <a:lnTo>
                    <a:pt x="1458849" y="445007"/>
                  </a:lnTo>
                  <a:lnTo>
                    <a:pt x="1472779" y="444881"/>
                  </a:lnTo>
                  <a:lnTo>
                    <a:pt x="1470278" y="439546"/>
                  </a:lnTo>
                  <a:lnTo>
                    <a:pt x="1449324" y="396366"/>
                  </a:lnTo>
                  <a:lnTo>
                    <a:pt x="1427734" y="352932"/>
                  </a:lnTo>
                  <a:lnTo>
                    <a:pt x="1408260" y="315087"/>
                  </a:lnTo>
                  <a:close/>
                </a:path>
                <a:path w="1634490" h="1905635">
                  <a:moveTo>
                    <a:pt x="1437894" y="401954"/>
                  </a:moveTo>
                  <a:lnTo>
                    <a:pt x="1437955" y="402081"/>
                  </a:lnTo>
                  <a:lnTo>
                    <a:pt x="1437894" y="401954"/>
                  </a:lnTo>
                  <a:close/>
                </a:path>
                <a:path w="1634490" h="1905635">
                  <a:moveTo>
                    <a:pt x="1416303" y="358647"/>
                  </a:moveTo>
                  <a:lnTo>
                    <a:pt x="1416367" y="358775"/>
                  </a:lnTo>
                  <a:lnTo>
                    <a:pt x="1416303" y="358647"/>
                  </a:lnTo>
                  <a:close/>
                </a:path>
                <a:path w="1634490" h="1905635">
                  <a:moveTo>
                    <a:pt x="1385341" y="271399"/>
                  </a:moveTo>
                  <a:lnTo>
                    <a:pt x="1371092" y="271399"/>
                  </a:lnTo>
                  <a:lnTo>
                    <a:pt x="1393952" y="315213"/>
                  </a:lnTo>
                  <a:lnTo>
                    <a:pt x="1408260" y="315087"/>
                  </a:lnTo>
                  <a:lnTo>
                    <a:pt x="1405254" y="309244"/>
                  </a:lnTo>
                  <a:lnTo>
                    <a:pt x="1385341" y="271399"/>
                  </a:lnTo>
                  <a:close/>
                </a:path>
                <a:path w="1634490" h="1905635">
                  <a:moveTo>
                    <a:pt x="1236599" y="0"/>
                  </a:moveTo>
                  <a:lnTo>
                    <a:pt x="1225550" y="6096"/>
                  </a:lnTo>
                  <a:lnTo>
                    <a:pt x="1274952" y="94868"/>
                  </a:lnTo>
                  <a:lnTo>
                    <a:pt x="1323721" y="183514"/>
                  </a:lnTo>
                  <a:lnTo>
                    <a:pt x="1371092" y="271525"/>
                  </a:lnTo>
                  <a:lnTo>
                    <a:pt x="1385341" y="271399"/>
                  </a:lnTo>
                  <a:lnTo>
                    <a:pt x="1382268" y="265556"/>
                  </a:lnTo>
                  <a:lnTo>
                    <a:pt x="1334770" y="177419"/>
                  </a:lnTo>
                  <a:lnTo>
                    <a:pt x="1286002" y="88772"/>
                  </a:lnTo>
                  <a:lnTo>
                    <a:pt x="1236599" y="0"/>
                  </a:lnTo>
                  <a:close/>
                </a:path>
                <a:path w="1634490" h="1905635">
                  <a:moveTo>
                    <a:pt x="1323594" y="183387"/>
                  </a:move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21</a:t>
            </a:fld>
            <a:endParaRPr lang="en-US"/>
          </a:p>
        </p:txBody>
      </p:sp>
      <p:pic>
        <p:nvPicPr>
          <p:cNvPr id="27" name="object 2"/>
          <p:cNvPicPr/>
          <p:nvPr/>
        </p:nvPicPr>
        <p:blipFill>
          <a:blip r:embed="rId3" cstate="print"/>
          <a:stretch>
            <a:fillRect/>
          </a:stretch>
        </p:blipFill>
        <p:spPr>
          <a:xfrm>
            <a:off x="5478838" y="2924555"/>
            <a:ext cx="2019105" cy="236220"/>
          </a:xfrm>
          <a:prstGeom prst="rect">
            <a:avLst/>
          </a:prstGeom>
        </p:spPr>
      </p:pic>
      <p:grpSp>
        <p:nvGrpSpPr>
          <p:cNvPr id="28" name="object 3"/>
          <p:cNvGrpSpPr/>
          <p:nvPr/>
        </p:nvGrpSpPr>
        <p:grpSpPr>
          <a:xfrm>
            <a:off x="5431535" y="3131820"/>
            <a:ext cx="2162810" cy="1550035"/>
            <a:chOff x="5431535" y="3131820"/>
            <a:chExt cx="2162810" cy="1550035"/>
          </a:xfrm>
        </p:grpSpPr>
        <p:pic>
          <p:nvPicPr>
            <p:cNvPr id="29" name="object 4"/>
            <p:cNvPicPr/>
            <p:nvPr/>
          </p:nvPicPr>
          <p:blipFill>
            <a:blip r:embed="rId4" cstate="print"/>
            <a:stretch>
              <a:fillRect/>
            </a:stretch>
          </p:blipFill>
          <p:spPr>
            <a:xfrm>
              <a:off x="5437631" y="3381756"/>
              <a:ext cx="2156460" cy="1299972"/>
            </a:xfrm>
            <a:prstGeom prst="rect">
              <a:avLst/>
            </a:prstGeom>
          </p:spPr>
        </p:pic>
        <p:pic>
          <p:nvPicPr>
            <p:cNvPr id="30" name="object 5"/>
            <p:cNvPicPr/>
            <p:nvPr/>
          </p:nvPicPr>
          <p:blipFill>
            <a:blip r:embed="rId5" cstate="print"/>
            <a:stretch>
              <a:fillRect/>
            </a:stretch>
          </p:blipFill>
          <p:spPr>
            <a:xfrm>
              <a:off x="5431535" y="3131820"/>
              <a:ext cx="2156460" cy="313943"/>
            </a:xfrm>
            <a:prstGeom prst="rect">
              <a:avLst/>
            </a:prstGeom>
          </p:spPr>
        </p:pic>
      </p:grpSp>
      <p:pic>
        <p:nvPicPr>
          <p:cNvPr id="31" name="object 6"/>
          <p:cNvPicPr/>
          <p:nvPr/>
        </p:nvPicPr>
        <p:blipFill>
          <a:blip r:embed="rId6" cstate="print"/>
          <a:stretch>
            <a:fillRect/>
          </a:stretch>
        </p:blipFill>
        <p:spPr>
          <a:xfrm>
            <a:off x="5478838" y="2491832"/>
            <a:ext cx="2023684" cy="426627"/>
          </a:xfrm>
          <a:prstGeom prst="rect">
            <a:avLst/>
          </a:prstGeom>
        </p:spPr>
      </p:pic>
      <p:grpSp>
        <p:nvGrpSpPr>
          <p:cNvPr id="32" name="object 7"/>
          <p:cNvGrpSpPr/>
          <p:nvPr/>
        </p:nvGrpSpPr>
        <p:grpSpPr>
          <a:xfrm>
            <a:off x="1154938" y="2491758"/>
            <a:ext cx="2098675" cy="2186940"/>
            <a:chOff x="1154938" y="2491758"/>
            <a:chExt cx="2098675" cy="2186940"/>
          </a:xfrm>
        </p:grpSpPr>
        <p:pic>
          <p:nvPicPr>
            <p:cNvPr id="33" name="object 8"/>
            <p:cNvPicPr/>
            <p:nvPr/>
          </p:nvPicPr>
          <p:blipFill>
            <a:blip r:embed="rId7" cstate="print"/>
            <a:stretch>
              <a:fillRect/>
            </a:stretch>
          </p:blipFill>
          <p:spPr>
            <a:xfrm>
              <a:off x="1229926" y="2491758"/>
              <a:ext cx="2023684" cy="2186867"/>
            </a:xfrm>
            <a:prstGeom prst="rect">
              <a:avLst/>
            </a:prstGeom>
          </p:spPr>
        </p:pic>
        <p:sp>
          <p:nvSpPr>
            <p:cNvPr id="34" name="object 9"/>
            <p:cNvSpPr/>
            <p:nvPr/>
          </p:nvSpPr>
          <p:spPr>
            <a:xfrm>
              <a:off x="1161288" y="2918459"/>
              <a:ext cx="226060" cy="563880"/>
            </a:xfrm>
            <a:custGeom>
              <a:avLst/>
              <a:gdLst/>
              <a:ahLst/>
              <a:cxnLst/>
              <a:rect l="l" t="t" r="r" b="b"/>
              <a:pathLst>
                <a:path w="226059" h="563879">
                  <a:moveTo>
                    <a:pt x="0" y="563879"/>
                  </a:moveTo>
                  <a:lnTo>
                    <a:pt x="225552" y="563879"/>
                  </a:lnTo>
                  <a:lnTo>
                    <a:pt x="225552" y="0"/>
                  </a:lnTo>
                  <a:lnTo>
                    <a:pt x="0" y="0"/>
                  </a:lnTo>
                  <a:lnTo>
                    <a:pt x="0" y="563879"/>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
        <p:nvSpPr>
          <p:cNvPr id="35" name="object 10"/>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Problem</a:t>
            </a:r>
            <a:r>
              <a:rPr kumimoji="0" lang="en-US" sz="4000" b="1" i="0" u="none" strike="noStrike" kern="0" cap="none" spc="-13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of</a:t>
            </a:r>
            <a:r>
              <a:rPr kumimoji="0" lang="en-US" sz="4000" b="1" i="0" u="none" strike="noStrike" kern="0" cap="none" spc="-140"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30" normalizeH="0" baseline="0" noProof="0">
                <a:ln>
                  <a:noFill/>
                </a:ln>
                <a:solidFill>
                  <a:srgbClr val="000000"/>
                </a:solidFill>
                <a:effectLst/>
                <a:uLnTx/>
                <a:uFillTx/>
                <a:latin typeface="Palatino Linotype" panose="02040502050505030304"/>
                <a:ea typeface="+mj-ea"/>
              </a:rPr>
              <a:t>Triples</a:t>
            </a:r>
            <a:r>
              <a:rPr kumimoji="0" lang="en-US" sz="4000" b="1" i="0" u="none" strike="noStrike" kern="0" cap="none" spc="-13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Cont.</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36" name="object 11"/>
          <p:cNvSpPr txBox="1"/>
          <p:nvPr/>
        </p:nvSpPr>
        <p:spPr>
          <a:xfrm>
            <a:off x="707542" y="1653667"/>
            <a:ext cx="7195820" cy="330835"/>
          </a:xfrm>
          <a:prstGeom prst="rect">
            <a:avLst/>
          </a:prstGeom>
        </p:spPr>
        <p:txBody>
          <a:bodyPr vert="horz" wrap="square" lIns="0" tIns="13335" rIns="0" bIns="0" rtlCol="0">
            <a:spAutoFit/>
          </a:bodyPr>
          <a:lstStyle/>
          <a:p>
            <a:pPr marL="242570" indent="-229870">
              <a:spcBef>
                <a:spcPts val="105"/>
              </a:spcBef>
              <a:buFont typeface="Arial MT"/>
              <a:buChar char="•"/>
              <a:tabLst>
                <a:tab pos="242570" algn="l"/>
              </a:tabLst>
            </a:pPr>
            <a:r>
              <a:rPr sz="2000" dirty="0">
                <a:solidFill>
                  <a:sysClr val="windowText" lastClr="000000"/>
                </a:solidFill>
                <a:latin typeface="Palatino Linotype" panose="02040502050505030304"/>
                <a:cs typeface="Palatino Linotype" panose="02040502050505030304"/>
              </a:rPr>
              <a:t>In</a:t>
            </a:r>
            <a:r>
              <a:rPr sz="2000" spc="-3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optimizing</a:t>
            </a:r>
            <a:r>
              <a:rPr sz="2000" spc="-6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compilers,</a:t>
            </a:r>
            <a:r>
              <a:rPr sz="2000" spc="-5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instructions</a:t>
            </a:r>
            <a:r>
              <a:rPr sz="2000" spc="-6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are</a:t>
            </a:r>
            <a:r>
              <a:rPr sz="2000" spc="-4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often</a:t>
            </a:r>
            <a:r>
              <a:rPr sz="2000" spc="-6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moved</a:t>
            </a:r>
            <a:r>
              <a:rPr sz="2000" spc="-35"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around</a:t>
            </a:r>
            <a:endParaRPr sz="2000">
              <a:solidFill>
                <a:sysClr val="windowText" lastClr="000000"/>
              </a:solidFill>
              <a:latin typeface="Palatino Linotype" panose="02040502050505030304"/>
              <a:cs typeface="Palatino Linotype" panose="02040502050505030304"/>
            </a:endParaRPr>
          </a:p>
        </p:txBody>
      </p:sp>
      <p:sp>
        <p:nvSpPr>
          <p:cNvPr id="37" name="object 12"/>
          <p:cNvSpPr/>
          <p:nvPr/>
        </p:nvSpPr>
        <p:spPr>
          <a:xfrm>
            <a:off x="3585971" y="3378834"/>
            <a:ext cx="1471930" cy="103505"/>
          </a:xfrm>
          <a:custGeom>
            <a:avLst/>
            <a:gdLst/>
            <a:ahLst/>
            <a:cxnLst/>
            <a:rect l="l" t="t" r="r" b="b"/>
            <a:pathLst>
              <a:path w="1471929" h="103504">
                <a:moveTo>
                  <a:pt x="1446439" y="51688"/>
                </a:moveTo>
                <a:lnTo>
                  <a:pt x="1379601" y="90677"/>
                </a:lnTo>
                <a:lnTo>
                  <a:pt x="1376679" y="92455"/>
                </a:lnTo>
                <a:lnTo>
                  <a:pt x="1375537" y="96265"/>
                </a:lnTo>
                <a:lnTo>
                  <a:pt x="1379092" y="102362"/>
                </a:lnTo>
                <a:lnTo>
                  <a:pt x="1383029" y="103377"/>
                </a:lnTo>
                <a:lnTo>
                  <a:pt x="1460785" y="58038"/>
                </a:lnTo>
                <a:lnTo>
                  <a:pt x="1459102" y="58038"/>
                </a:lnTo>
                <a:lnTo>
                  <a:pt x="1459102" y="57150"/>
                </a:lnTo>
                <a:lnTo>
                  <a:pt x="1455801" y="57150"/>
                </a:lnTo>
                <a:lnTo>
                  <a:pt x="1446439" y="51688"/>
                </a:lnTo>
                <a:close/>
              </a:path>
              <a:path w="1471929" h="103504">
                <a:moveTo>
                  <a:pt x="1435553" y="45338"/>
                </a:moveTo>
                <a:lnTo>
                  <a:pt x="0" y="45338"/>
                </a:lnTo>
                <a:lnTo>
                  <a:pt x="0" y="58038"/>
                </a:lnTo>
                <a:lnTo>
                  <a:pt x="1435553" y="58038"/>
                </a:lnTo>
                <a:lnTo>
                  <a:pt x="1446439" y="51688"/>
                </a:lnTo>
                <a:lnTo>
                  <a:pt x="1435553" y="45338"/>
                </a:lnTo>
                <a:close/>
              </a:path>
              <a:path w="1471929" h="103504">
                <a:moveTo>
                  <a:pt x="1460785" y="45338"/>
                </a:moveTo>
                <a:lnTo>
                  <a:pt x="1459102" y="45338"/>
                </a:lnTo>
                <a:lnTo>
                  <a:pt x="1459102" y="58038"/>
                </a:lnTo>
                <a:lnTo>
                  <a:pt x="1460785" y="58038"/>
                </a:lnTo>
                <a:lnTo>
                  <a:pt x="1471676" y="51688"/>
                </a:lnTo>
                <a:lnTo>
                  <a:pt x="1460785" y="45338"/>
                </a:lnTo>
                <a:close/>
              </a:path>
              <a:path w="1471929" h="103504">
                <a:moveTo>
                  <a:pt x="1455801" y="46227"/>
                </a:moveTo>
                <a:lnTo>
                  <a:pt x="1446439" y="51688"/>
                </a:lnTo>
                <a:lnTo>
                  <a:pt x="1455801" y="57150"/>
                </a:lnTo>
                <a:lnTo>
                  <a:pt x="1455801" y="46227"/>
                </a:lnTo>
                <a:close/>
              </a:path>
              <a:path w="1471929" h="103504">
                <a:moveTo>
                  <a:pt x="1459102" y="46227"/>
                </a:moveTo>
                <a:lnTo>
                  <a:pt x="1455801" y="46227"/>
                </a:lnTo>
                <a:lnTo>
                  <a:pt x="1455801" y="57150"/>
                </a:lnTo>
                <a:lnTo>
                  <a:pt x="1459102" y="57150"/>
                </a:lnTo>
                <a:lnTo>
                  <a:pt x="1459102" y="46227"/>
                </a:lnTo>
                <a:close/>
              </a:path>
              <a:path w="1471929" h="103504">
                <a:moveTo>
                  <a:pt x="1383029" y="0"/>
                </a:moveTo>
                <a:lnTo>
                  <a:pt x="1379092" y="1015"/>
                </a:lnTo>
                <a:lnTo>
                  <a:pt x="1375537" y="7112"/>
                </a:lnTo>
                <a:lnTo>
                  <a:pt x="1376679" y="10922"/>
                </a:lnTo>
                <a:lnTo>
                  <a:pt x="1379601" y="12700"/>
                </a:lnTo>
                <a:lnTo>
                  <a:pt x="1446439" y="51688"/>
                </a:lnTo>
                <a:lnTo>
                  <a:pt x="1455801" y="46227"/>
                </a:lnTo>
                <a:lnTo>
                  <a:pt x="1459102" y="46227"/>
                </a:lnTo>
                <a:lnTo>
                  <a:pt x="1459102" y="45338"/>
                </a:lnTo>
                <a:lnTo>
                  <a:pt x="1460785" y="45338"/>
                </a:lnTo>
                <a:lnTo>
                  <a:pt x="1383029"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38" name="object 13"/>
          <p:cNvSpPr txBox="1"/>
          <p:nvPr/>
        </p:nvSpPr>
        <p:spPr>
          <a:xfrm>
            <a:off x="3579114" y="2998723"/>
            <a:ext cx="1369695" cy="299720"/>
          </a:xfrm>
          <a:prstGeom prst="rect">
            <a:avLst/>
          </a:prstGeom>
        </p:spPr>
        <p:txBody>
          <a:bodyPr vert="horz" wrap="square" lIns="0" tIns="12700" rIns="0" bIns="0" rtlCol="0">
            <a:spAutoFit/>
          </a:bodyPr>
          <a:lstStyle/>
          <a:p>
            <a:pPr marL="12700">
              <a:spcBef>
                <a:spcPts val="100"/>
              </a:spcBef>
            </a:pPr>
            <a:r>
              <a:rPr dirty="0">
                <a:solidFill>
                  <a:srgbClr val="FF0000"/>
                </a:solidFill>
                <a:latin typeface="Palatino Linotype" panose="02040502050505030304"/>
                <a:cs typeface="Palatino Linotype" panose="02040502050505030304"/>
              </a:rPr>
              <a:t>Swap</a:t>
            </a:r>
            <a:r>
              <a:rPr spc="-50"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1</a:t>
            </a:r>
            <a:r>
              <a:rPr spc="-40"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and</a:t>
            </a:r>
            <a:r>
              <a:rPr spc="-50" dirty="0">
                <a:solidFill>
                  <a:srgbClr val="FF0000"/>
                </a:solidFill>
                <a:latin typeface="Palatino Linotype" panose="02040502050505030304"/>
                <a:cs typeface="Palatino Linotype" panose="02040502050505030304"/>
              </a:rPr>
              <a:t> 2</a:t>
            </a:r>
            <a:endParaRPr>
              <a:solidFill>
                <a:sysClr val="windowText" lastClr="000000"/>
              </a:solidFill>
              <a:latin typeface="Palatino Linotype" panose="02040502050505030304"/>
              <a:cs typeface="Palatino Linotype" panose="02040502050505030304"/>
            </a:endParaRPr>
          </a:p>
        </p:txBody>
      </p:sp>
      <p:sp>
        <p:nvSpPr>
          <p:cNvPr id="39" name="object 14"/>
          <p:cNvSpPr/>
          <p:nvPr/>
        </p:nvSpPr>
        <p:spPr>
          <a:xfrm>
            <a:off x="5346191" y="2630423"/>
            <a:ext cx="295910" cy="1727200"/>
          </a:xfrm>
          <a:custGeom>
            <a:avLst/>
            <a:gdLst/>
            <a:ahLst/>
            <a:cxnLst/>
            <a:rect l="l" t="t" r="r" b="b"/>
            <a:pathLst>
              <a:path w="295910" h="1727200">
                <a:moveTo>
                  <a:pt x="295656" y="0"/>
                </a:moveTo>
                <a:lnTo>
                  <a:pt x="0" y="0"/>
                </a:lnTo>
                <a:lnTo>
                  <a:pt x="0" y="1726692"/>
                </a:lnTo>
                <a:lnTo>
                  <a:pt x="295656" y="1726692"/>
                </a:lnTo>
                <a:lnTo>
                  <a:pt x="295656"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0" name="object 15"/>
          <p:cNvSpPr txBox="1"/>
          <p:nvPr/>
        </p:nvSpPr>
        <p:spPr>
          <a:xfrm>
            <a:off x="5426202" y="2650617"/>
            <a:ext cx="135255" cy="1643380"/>
          </a:xfrm>
          <a:prstGeom prst="rect">
            <a:avLst/>
          </a:prstGeom>
        </p:spPr>
        <p:txBody>
          <a:bodyPr vert="horz" wrap="square" lIns="0" tIns="13335" rIns="0" bIns="0" rtlCol="0">
            <a:spAutoFit/>
          </a:bodyPr>
          <a:lstStyle/>
          <a:p>
            <a:pPr marL="12700">
              <a:spcBef>
                <a:spcPts val="105"/>
              </a:spcBef>
            </a:pPr>
            <a:r>
              <a:rPr sz="1700" spc="-50" dirty="0">
                <a:solidFill>
                  <a:srgbClr val="FF0000"/>
                </a:solidFill>
                <a:cs typeface="Calibri" panose="020F0502020204030204"/>
              </a:rPr>
              <a:t>0</a:t>
            </a:r>
            <a:endParaRPr sz="1700">
              <a:solidFill>
                <a:sysClr val="windowText" lastClr="000000"/>
              </a:solidFill>
              <a:cs typeface="Calibri" panose="020F0502020204030204"/>
            </a:endParaRPr>
          </a:p>
          <a:p>
            <a:pPr marL="12700">
              <a:spcBef>
                <a:spcPts val="95"/>
              </a:spcBef>
            </a:pPr>
            <a:r>
              <a:rPr sz="1700" spc="-50" dirty="0">
                <a:solidFill>
                  <a:srgbClr val="FF0000"/>
                </a:solidFill>
                <a:cs typeface="Calibri" panose="020F0502020204030204"/>
              </a:rPr>
              <a:t>1</a:t>
            </a:r>
            <a:endParaRPr sz="1700">
              <a:solidFill>
                <a:sysClr val="windowText" lastClr="000000"/>
              </a:solidFill>
              <a:cs typeface="Calibri" panose="020F0502020204030204"/>
            </a:endParaRPr>
          </a:p>
          <a:p>
            <a:pPr marL="12700">
              <a:spcBef>
                <a:spcPts val="100"/>
              </a:spcBef>
            </a:pPr>
            <a:r>
              <a:rPr sz="1700" spc="-50" dirty="0">
                <a:solidFill>
                  <a:srgbClr val="FF0000"/>
                </a:solidFill>
                <a:cs typeface="Calibri" panose="020F0502020204030204"/>
              </a:rPr>
              <a:t>2</a:t>
            </a:r>
            <a:endParaRPr sz="1700">
              <a:solidFill>
                <a:sysClr val="windowText" lastClr="000000"/>
              </a:solidFill>
              <a:cs typeface="Calibri" panose="020F0502020204030204"/>
            </a:endParaRPr>
          </a:p>
          <a:p>
            <a:pPr marL="12700">
              <a:spcBef>
                <a:spcPts val="105"/>
              </a:spcBef>
            </a:pPr>
            <a:r>
              <a:rPr sz="1700" spc="-50" dirty="0">
                <a:solidFill>
                  <a:srgbClr val="FF0000"/>
                </a:solidFill>
                <a:cs typeface="Calibri" panose="020F0502020204030204"/>
              </a:rPr>
              <a:t>3</a:t>
            </a:r>
            <a:endParaRPr sz="1700">
              <a:solidFill>
                <a:sysClr val="windowText" lastClr="000000"/>
              </a:solidFill>
              <a:cs typeface="Calibri" panose="020F0502020204030204"/>
            </a:endParaRPr>
          </a:p>
          <a:p>
            <a:pPr marL="12700">
              <a:spcBef>
                <a:spcPts val="95"/>
              </a:spcBef>
            </a:pPr>
            <a:r>
              <a:rPr sz="1700" spc="-50" dirty="0">
                <a:solidFill>
                  <a:srgbClr val="FF0000"/>
                </a:solidFill>
                <a:cs typeface="Calibri" panose="020F0502020204030204"/>
              </a:rPr>
              <a:t>4</a:t>
            </a:r>
            <a:endParaRPr sz="1700">
              <a:solidFill>
                <a:sysClr val="windowText" lastClr="000000"/>
              </a:solidFill>
              <a:cs typeface="Calibri" panose="020F0502020204030204"/>
            </a:endParaRPr>
          </a:p>
          <a:p>
            <a:pPr marL="12700">
              <a:spcBef>
                <a:spcPts val="95"/>
              </a:spcBef>
            </a:pPr>
            <a:r>
              <a:rPr sz="1700" spc="-50" dirty="0">
                <a:solidFill>
                  <a:srgbClr val="FF0000"/>
                </a:solidFill>
                <a:cs typeface="Calibri" panose="020F0502020204030204"/>
              </a:rPr>
              <a:t>5</a:t>
            </a:r>
            <a:endParaRPr sz="1700">
              <a:solidFill>
                <a:sysClr val="windowText" lastClr="000000"/>
              </a:solidFill>
              <a:cs typeface="Calibri" panose="020F0502020204030204"/>
            </a:endParaRPr>
          </a:p>
        </p:txBody>
      </p:sp>
      <p:grpSp>
        <p:nvGrpSpPr>
          <p:cNvPr id="41" name="object 16"/>
          <p:cNvGrpSpPr/>
          <p:nvPr/>
        </p:nvGrpSpPr>
        <p:grpSpPr>
          <a:xfrm>
            <a:off x="1016317" y="5153977"/>
            <a:ext cx="6859905" cy="913765"/>
            <a:chOff x="1016317" y="5153977"/>
            <a:chExt cx="6859905" cy="913765"/>
          </a:xfrm>
        </p:grpSpPr>
        <p:sp>
          <p:nvSpPr>
            <p:cNvPr id="42" name="object 17"/>
            <p:cNvSpPr/>
            <p:nvPr/>
          </p:nvSpPr>
          <p:spPr>
            <a:xfrm>
              <a:off x="1021080" y="5158740"/>
              <a:ext cx="6850380" cy="904240"/>
            </a:xfrm>
            <a:custGeom>
              <a:avLst/>
              <a:gdLst/>
              <a:ahLst/>
              <a:cxnLst/>
              <a:rect l="l" t="t" r="r" b="b"/>
              <a:pathLst>
                <a:path w="6850380" h="904239">
                  <a:moveTo>
                    <a:pt x="6850380" y="0"/>
                  </a:moveTo>
                  <a:lnTo>
                    <a:pt x="0" y="0"/>
                  </a:lnTo>
                  <a:lnTo>
                    <a:pt x="0" y="903732"/>
                  </a:lnTo>
                  <a:lnTo>
                    <a:pt x="6850380" y="903732"/>
                  </a:lnTo>
                  <a:lnTo>
                    <a:pt x="6850380" y="0"/>
                  </a:lnTo>
                  <a:close/>
                </a:path>
              </a:pathLst>
            </a:custGeom>
            <a:solidFill>
              <a:srgbClr val="FFF1C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3" name="object 18"/>
            <p:cNvSpPr/>
            <p:nvPr/>
          </p:nvSpPr>
          <p:spPr>
            <a:xfrm>
              <a:off x="1021080" y="5158740"/>
              <a:ext cx="6850380" cy="904240"/>
            </a:xfrm>
            <a:custGeom>
              <a:avLst/>
              <a:gdLst/>
              <a:ahLst/>
              <a:cxnLst/>
              <a:rect l="l" t="t" r="r" b="b"/>
              <a:pathLst>
                <a:path w="6850380" h="904239">
                  <a:moveTo>
                    <a:pt x="0" y="903732"/>
                  </a:moveTo>
                  <a:lnTo>
                    <a:pt x="6850380" y="903732"/>
                  </a:lnTo>
                  <a:lnTo>
                    <a:pt x="6850380" y="0"/>
                  </a:lnTo>
                  <a:lnTo>
                    <a:pt x="0" y="0"/>
                  </a:lnTo>
                  <a:lnTo>
                    <a:pt x="0" y="903732"/>
                  </a:lnTo>
                  <a:close/>
                </a:path>
              </a:pathLst>
            </a:custGeom>
            <a:ln w="952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
        <p:nvSpPr>
          <p:cNvPr id="44" name="object 19"/>
          <p:cNvSpPr txBox="1"/>
          <p:nvPr/>
        </p:nvSpPr>
        <p:spPr>
          <a:xfrm>
            <a:off x="1998091" y="5164671"/>
            <a:ext cx="4894580" cy="787400"/>
          </a:xfrm>
          <a:prstGeom prst="rect">
            <a:avLst/>
          </a:prstGeom>
        </p:spPr>
        <p:txBody>
          <a:bodyPr vert="horz" wrap="square" lIns="0" tIns="88265" rIns="0" bIns="0" rtlCol="0">
            <a:spAutoFit/>
          </a:bodyPr>
          <a:lstStyle/>
          <a:p>
            <a:pPr marL="635" algn="ctr">
              <a:spcBef>
                <a:spcPts val="695"/>
              </a:spcBef>
            </a:pPr>
            <a:r>
              <a:rPr sz="2000" b="1" spc="-10" dirty="0">
                <a:solidFill>
                  <a:srgbClr val="FF0000"/>
                </a:solidFill>
                <a:latin typeface="Palatino Linotype" panose="02040502050505030304"/>
                <a:cs typeface="Palatino Linotype" panose="02040502050505030304"/>
              </a:rPr>
              <a:t>Triples’</a:t>
            </a:r>
            <a:r>
              <a:rPr sz="2000" b="1" spc="-114" dirty="0">
                <a:solidFill>
                  <a:srgbClr val="FF0000"/>
                </a:solidFill>
                <a:latin typeface="Palatino Linotype" panose="02040502050505030304"/>
                <a:cs typeface="Palatino Linotype" panose="02040502050505030304"/>
              </a:rPr>
              <a:t> </a:t>
            </a:r>
            <a:r>
              <a:rPr sz="2000" b="1" spc="-10" dirty="0">
                <a:solidFill>
                  <a:srgbClr val="FF0000"/>
                </a:solidFill>
                <a:latin typeface="Palatino Linotype" panose="02040502050505030304"/>
                <a:cs typeface="Palatino Linotype" panose="02040502050505030304"/>
              </a:rPr>
              <a:t>problem</a:t>
            </a:r>
            <a:endParaRPr sz="2000">
              <a:solidFill>
                <a:sysClr val="windowText" lastClr="000000"/>
              </a:solidFill>
              <a:latin typeface="Palatino Linotype" panose="02040502050505030304"/>
              <a:cs typeface="Palatino Linotype" panose="02040502050505030304"/>
            </a:endParaRPr>
          </a:p>
          <a:p>
            <a:pPr algn="ctr">
              <a:spcBef>
                <a:spcPts val="600"/>
              </a:spcBef>
            </a:pPr>
            <a:r>
              <a:rPr sz="2000" dirty="0">
                <a:solidFill>
                  <a:sysClr val="windowText" lastClr="000000"/>
                </a:solidFill>
                <a:latin typeface="Palatino Linotype" panose="02040502050505030304"/>
                <a:cs typeface="Palatino Linotype" panose="02040502050505030304"/>
              </a:rPr>
              <a:t>The</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instructions</a:t>
            </a:r>
            <a:r>
              <a:rPr sz="2000" spc="-5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now</a:t>
            </a:r>
            <a:r>
              <a:rPr sz="2000" spc="-3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refer</a:t>
            </a:r>
            <a:r>
              <a:rPr sz="2000" spc="-3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to</a:t>
            </a:r>
            <a:r>
              <a:rPr sz="2000" spc="-3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wrong</a:t>
            </a:r>
            <a:r>
              <a:rPr sz="2000" spc="-40"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results</a:t>
            </a:r>
            <a:endParaRPr sz="2000">
              <a:solidFill>
                <a:sysClr val="windowText" lastClr="000000"/>
              </a:solidFill>
              <a:latin typeface="Palatino Linotype" panose="02040502050505030304"/>
              <a:cs typeface="Palatino Linotype" panose="02040502050505030304"/>
            </a:endParaRPr>
          </a:p>
        </p:txBody>
      </p:sp>
      <p:grpSp>
        <p:nvGrpSpPr>
          <p:cNvPr id="45" name="object 20"/>
          <p:cNvGrpSpPr/>
          <p:nvPr/>
        </p:nvGrpSpPr>
        <p:grpSpPr>
          <a:xfrm>
            <a:off x="6355270" y="3444430"/>
            <a:ext cx="1717675" cy="2335530"/>
            <a:chOff x="6355270" y="3444430"/>
            <a:chExt cx="1717675" cy="2335530"/>
          </a:xfrm>
        </p:grpSpPr>
        <p:sp>
          <p:nvSpPr>
            <p:cNvPr id="46" name="object 21"/>
            <p:cNvSpPr/>
            <p:nvPr/>
          </p:nvSpPr>
          <p:spPr>
            <a:xfrm>
              <a:off x="6990588" y="3763771"/>
              <a:ext cx="1082675" cy="2016125"/>
            </a:xfrm>
            <a:custGeom>
              <a:avLst/>
              <a:gdLst/>
              <a:ahLst/>
              <a:cxnLst/>
              <a:rect l="l" t="t" r="r" b="b"/>
              <a:pathLst>
                <a:path w="1082675" h="2016125">
                  <a:moveTo>
                    <a:pt x="69976" y="1917992"/>
                  </a:moveTo>
                  <a:lnTo>
                    <a:pt x="65912" y="1918334"/>
                  </a:lnTo>
                  <a:lnTo>
                    <a:pt x="63626" y="1921027"/>
                  </a:lnTo>
                  <a:lnTo>
                    <a:pt x="0" y="1996960"/>
                  </a:lnTo>
                  <a:lnTo>
                    <a:pt x="100837" y="2015655"/>
                  </a:lnTo>
                  <a:lnTo>
                    <a:pt x="104139" y="2013381"/>
                  </a:lnTo>
                  <a:lnTo>
                    <a:pt x="105409" y="2006485"/>
                  </a:lnTo>
                  <a:lnTo>
                    <a:pt x="103123" y="2003170"/>
                  </a:lnTo>
                  <a:lnTo>
                    <a:pt x="78868" y="1998675"/>
                  </a:lnTo>
                  <a:lnTo>
                    <a:pt x="13969" y="1998675"/>
                  </a:lnTo>
                  <a:lnTo>
                    <a:pt x="9651" y="1986724"/>
                  </a:lnTo>
                  <a:lnTo>
                    <a:pt x="31741" y="1978795"/>
                  </a:lnTo>
                  <a:lnTo>
                    <a:pt x="73405" y="1929180"/>
                  </a:lnTo>
                  <a:lnTo>
                    <a:pt x="75691" y="1926501"/>
                  </a:lnTo>
                  <a:lnTo>
                    <a:pt x="75310" y="1922487"/>
                  </a:lnTo>
                  <a:lnTo>
                    <a:pt x="69976" y="1917992"/>
                  </a:lnTo>
                  <a:close/>
                </a:path>
                <a:path w="1082675" h="2016125">
                  <a:moveTo>
                    <a:pt x="31741" y="1978795"/>
                  </a:moveTo>
                  <a:lnTo>
                    <a:pt x="9651" y="1986724"/>
                  </a:lnTo>
                  <a:lnTo>
                    <a:pt x="13969" y="1998675"/>
                  </a:lnTo>
                  <a:lnTo>
                    <a:pt x="19241" y="1996782"/>
                  </a:lnTo>
                  <a:lnTo>
                    <a:pt x="16636" y="1996782"/>
                  </a:lnTo>
                  <a:lnTo>
                    <a:pt x="12953" y="1986457"/>
                  </a:lnTo>
                  <a:lnTo>
                    <a:pt x="25307" y="1986457"/>
                  </a:lnTo>
                  <a:lnTo>
                    <a:pt x="31741" y="1978795"/>
                  </a:lnTo>
                  <a:close/>
                </a:path>
                <a:path w="1082675" h="2016125">
                  <a:moveTo>
                    <a:pt x="36070" y="1990742"/>
                  </a:moveTo>
                  <a:lnTo>
                    <a:pt x="13969" y="1998675"/>
                  </a:lnTo>
                  <a:lnTo>
                    <a:pt x="78868" y="1998675"/>
                  </a:lnTo>
                  <a:lnTo>
                    <a:pt x="36070" y="1990742"/>
                  </a:lnTo>
                  <a:close/>
                </a:path>
                <a:path w="1082675" h="2016125">
                  <a:moveTo>
                    <a:pt x="12953" y="1986457"/>
                  </a:moveTo>
                  <a:lnTo>
                    <a:pt x="16636" y="1996782"/>
                  </a:lnTo>
                  <a:lnTo>
                    <a:pt x="23643" y="1988439"/>
                  </a:lnTo>
                  <a:lnTo>
                    <a:pt x="12953" y="1986457"/>
                  </a:lnTo>
                  <a:close/>
                </a:path>
                <a:path w="1082675" h="2016125">
                  <a:moveTo>
                    <a:pt x="23643" y="1988439"/>
                  </a:moveTo>
                  <a:lnTo>
                    <a:pt x="16636" y="1996782"/>
                  </a:lnTo>
                  <a:lnTo>
                    <a:pt x="19241" y="1996782"/>
                  </a:lnTo>
                  <a:lnTo>
                    <a:pt x="36070" y="1990742"/>
                  </a:lnTo>
                  <a:lnTo>
                    <a:pt x="23643" y="1988439"/>
                  </a:lnTo>
                  <a:close/>
                </a:path>
                <a:path w="1082675" h="2016125">
                  <a:moveTo>
                    <a:pt x="200628" y="1930692"/>
                  </a:moveTo>
                  <a:lnTo>
                    <a:pt x="164430" y="1930704"/>
                  </a:lnTo>
                  <a:lnTo>
                    <a:pt x="81406" y="1960981"/>
                  </a:lnTo>
                  <a:lnTo>
                    <a:pt x="31741" y="1978795"/>
                  </a:lnTo>
                  <a:lnTo>
                    <a:pt x="23643" y="1988439"/>
                  </a:lnTo>
                  <a:lnTo>
                    <a:pt x="36070" y="1990742"/>
                  </a:lnTo>
                  <a:lnTo>
                    <a:pt x="118468" y="1960968"/>
                  </a:lnTo>
                  <a:lnTo>
                    <a:pt x="200628" y="1930692"/>
                  </a:lnTo>
                  <a:close/>
                </a:path>
                <a:path w="1082675" h="2016125">
                  <a:moveTo>
                    <a:pt x="25307" y="1986457"/>
                  </a:moveTo>
                  <a:lnTo>
                    <a:pt x="12953" y="1986457"/>
                  </a:lnTo>
                  <a:lnTo>
                    <a:pt x="23643" y="1988439"/>
                  </a:lnTo>
                  <a:lnTo>
                    <a:pt x="25307" y="1986457"/>
                  </a:lnTo>
                  <a:close/>
                </a:path>
                <a:path w="1082675" h="2016125">
                  <a:moveTo>
                    <a:pt x="81406" y="1960968"/>
                  </a:moveTo>
                  <a:close/>
                </a:path>
                <a:path w="1082675" h="2016125">
                  <a:moveTo>
                    <a:pt x="360677" y="1868347"/>
                  </a:moveTo>
                  <a:lnTo>
                    <a:pt x="327405" y="1868347"/>
                  </a:lnTo>
                  <a:lnTo>
                    <a:pt x="246506" y="1899970"/>
                  </a:lnTo>
                  <a:lnTo>
                    <a:pt x="164337" y="1930704"/>
                  </a:lnTo>
                  <a:lnTo>
                    <a:pt x="200628" y="1930692"/>
                  </a:lnTo>
                  <a:lnTo>
                    <a:pt x="251078" y="1911819"/>
                  </a:lnTo>
                  <a:lnTo>
                    <a:pt x="331977" y="1880158"/>
                  </a:lnTo>
                  <a:lnTo>
                    <a:pt x="360677" y="1868347"/>
                  </a:lnTo>
                  <a:close/>
                </a:path>
                <a:path w="1082675" h="2016125">
                  <a:moveTo>
                    <a:pt x="246506" y="1899945"/>
                  </a:moveTo>
                  <a:close/>
                </a:path>
                <a:path w="1082675" h="2016125">
                  <a:moveTo>
                    <a:pt x="438393" y="1835823"/>
                  </a:moveTo>
                  <a:lnTo>
                    <a:pt x="406272" y="1835823"/>
                  </a:lnTo>
                  <a:lnTo>
                    <a:pt x="327332" y="1868376"/>
                  </a:lnTo>
                  <a:lnTo>
                    <a:pt x="360677" y="1868347"/>
                  </a:lnTo>
                  <a:lnTo>
                    <a:pt x="411225" y="1847545"/>
                  </a:lnTo>
                  <a:lnTo>
                    <a:pt x="438393" y="1835823"/>
                  </a:lnTo>
                  <a:close/>
                </a:path>
                <a:path w="1082675" h="2016125">
                  <a:moveTo>
                    <a:pt x="444880" y="1819147"/>
                  </a:moveTo>
                  <a:lnTo>
                    <a:pt x="406145" y="1835861"/>
                  </a:lnTo>
                  <a:lnTo>
                    <a:pt x="438393" y="1835823"/>
                  </a:lnTo>
                  <a:lnTo>
                    <a:pt x="449960" y="1830831"/>
                  </a:lnTo>
                  <a:lnTo>
                    <a:pt x="475643" y="1819275"/>
                  </a:lnTo>
                  <a:lnTo>
                    <a:pt x="444753" y="1819275"/>
                  </a:lnTo>
                  <a:lnTo>
                    <a:pt x="444880" y="1819147"/>
                  </a:lnTo>
                  <a:close/>
                </a:path>
                <a:path w="1082675" h="2016125">
                  <a:moveTo>
                    <a:pt x="910253" y="1535175"/>
                  </a:moveTo>
                  <a:lnTo>
                    <a:pt x="892936" y="1535175"/>
                  </a:lnTo>
                  <a:lnTo>
                    <a:pt x="868171" y="1559686"/>
                  </a:lnTo>
                  <a:lnTo>
                    <a:pt x="842263" y="1583181"/>
                  </a:lnTo>
                  <a:lnTo>
                    <a:pt x="814958" y="1606041"/>
                  </a:lnTo>
                  <a:lnTo>
                    <a:pt x="786510" y="1628266"/>
                  </a:lnTo>
                  <a:lnTo>
                    <a:pt x="756792" y="1649729"/>
                  </a:lnTo>
                  <a:lnTo>
                    <a:pt x="725931" y="1670558"/>
                  </a:lnTo>
                  <a:lnTo>
                    <a:pt x="694054" y="1691004"/>
                  </a:lnTo>
                  <a:lnTo>
                    <a:pt x="661034" y="1710689"/>
                  </a:lnTo>
                  <a:lnTo>
                    <a:pt x="627126" y="1729866"/>
                  </a:lnTo>
                  <a:lnTo>
                    <a:pt x="592201" y="1748663"/>
                  </a:lnTo>
                  <a:lnTo>
                    <a:pt x="556513" y="1766824"/>
                  </a:lnTo>
                  <a:lnTo>
                    <a:pt x="519937" y="1784730"/>
                  </a:lnTo>
                  <a:lnTo>
                    <a:pt x="482726" y="1802129"/>
                  </a:lnTo>
                  <a:lnTo>
                    <a:pt x="444753" y="1819275"/>
                  </a:lnTo>
                  <a:lnTo>
                    <a:pt x="475643" y="1819275"/>
                  </a:lnTo>
                  <a:lnTo>
                    <a:pt x="525526" y="1796161"/>
                  </a:lnTo>
                  <a:lnTo>
                    <a:pt x="562228" y="1778253"/>
                  </a:lnTo>
                  <a:lnTo>
                    <a:pt x="598169" y="1759839"/>
                  </a:lnTo>
                  <a:lnTo>
                    <a:pt x="633348" y="1740915"/>
                  </a:lnTo>
                  <a:lnTo>
                    <a:pt x="667511" y="1721612"/>
                  </a:lnTo>
                  <a:lnTo>
                    <a:pt x="700785" y="1701800"/>
                  </a:lnTo>
                  <a:lnTo>
                    <a:pt x="733043" y="1681226"/>
                  </a:lnTo>
                  <a:lnTo>
                    <a:pt x="794257" y="1638300"/>
                  </a:lnTo>
                  <a:lnTo>
                    <a:pt x="850645" y="1592706"/>
                  </a:lnTo>
                  <a:lnTo>
                    <a:pt x="901953" y="1544192"/>
                  </a:lnTo>
                  <a:lnTo>
                    <a:pt x="910253" y="1535175"/>
                  </a:lnTo>
                  <a:close/>
                </a:path>
                <a:path w="1082675" h="2016125">
                  <a:moveTo>
                    <a:pt x="592327" y="1748536"/>
                  </a:moveTo>
                  <a:lnTo>
                    <a:pt x="592079" y="1748663"/>
                  </a:lnTo>
                  <a:lnTo>
                    <a:pt x="592327" y="1748536"/>
                  </a:lnTo>
                  <a:close/>
                </a:path>
                <a:path w="1082675" h="2016125">
                  <a:moveTo>
                    <a:pt x="627252" y="1729739"/>
                  </a:moveTo>
                  <a:lnTo>
                    <a:pt x="627017" y="1729866"/>
                  </a:lnTo>
                  <a:lnTo>
                    <a:pt x="627252" y="1729739"/>
                  </a:lnTo>
                  <a:close/>
                </a:path>
                <a:path w="1082675" h="2016125">
                  <a:moveTo>
                    <a:pt x="661161" y="1710563"/>
                  </a:moveTo>
                  <a:lnTo>
                    <a:pt x="660938" y="1710689"/>
                  </a:lnTo>
                  <a:lnTo>
                    <a:pt x="661161" y="1710563"/>
                  </a:lnTo>
                  <a:close/>
                </a:path>
                <a:path w="1082675" h="2016125">
                  <a:moveTo>
                    <a:pt x="694181" y="1690877"/>
                  </a:moveTo>
                  <a:lnTo>
                    <a:pt x="693969" y="1691004"/>
                  </a:lnTo>
                  <a:lnTo>
                    <a:pt x="694181" y="1690877"/>
                  </a:lnTo>
                  <a:close/>
                </a:path>
                <a:path w="1082675" h="2016125">
                  <a:moveTo>
                    <a:pt x="756919" y="1649602"/>
                  </a:moveTo>
                  <a:lnTo>
                    <a:pt x="756732" y="1649729"/>
                  </a:lnTo>
                  <a:lnTo>
                    <a:pt x="756919" y="1649602"/>
                  </a:lnTo>
                  <a:close/>
                </a:path>
                <a:path w="1082675" h="2016125">
                  <a:moveTo>
                    <a:pt x="786637" y="1628139"/>
                  </a:moveTo>
                  <a:lnTo>
                    <a:pt x="786462" y="1628266"/>
                  </a:lnTo>
                  <a:lnTo>
                    <a:pt x="786637" y="1628139"/>
                  </a:lnTo>
                  <a:close/>
                </a:path>
                <a:path w="1082675" h="2016125">
                  <a:moveTo>
                    <a:pt x="815085" y="1605914"/>
                  </a:moveTo>
                  <a:lnTo>
                    <a:pt x="814923" y="1606041"/>
                  </a:lnTo>
                  <a:lnTo>
                    <a:pt x="815085" y="1605914"/>
                  </a:lnTo>
                  <a:close/>
                </a:path>
                <a:path w="1082675" h="2016125">
                  <a:moveTo>
                    <a:pt x="842390" y="1583055"/>
                  </a:moveTo>
                  <a:lnTo>
                    <a:pt x="842239" y="1583181"/>
                  </a:lnTo>
                  <a:lnTo>
                    <a:pt x="842390" y="1583055"/>
                  </a:lnTo>
                  <a:close/>
                </a:path>
                <a:path w="1082675" h="2016125">
                  <a:moveTo>
                    <a:pt x="932560" y="1510156"/>
                  </a:moveTo>
                  <a:lnTo>
                    <a:pt x="916051" y="1510156"/>
                  </a:lnTo>
                  <a:lnTo>
                    <a:pt x="892711" y="1535399"/>
                  </a:lnTo>
                  <a:lnTo>
                    <a:pt x="892936" y="1535175"/>
                  </a:lnTo>
                  <a:lnTo>
                    <a:pt x="910253" y="1535175"/>
                  </a:lnTo>
                  <a:lnTo>
                    <a:pt x="925448" y="1518665"/>
                  </a:lnTo>
                  <a:lnTo>
                    <a:pt x="932560" y="1510156"/>
                  </a:lnTo>
                  <a:close/>
                </a:path>
                <a:path w="1082675" h="2016125">
                  <a:moveTo>
                    <a:pt x="953476" y="1484375"/>
                  </a:moveTo>
                  <a:lnTo>
                    <a:pt x="937640" y="1484375"/>
                  </a:lnTo>
                  <a:lnTo>
                    <a:pt x="915796" y="1510411"/>
                  </a:lnTo>
                  <a:lnTo>
                    <a:pt x="916051" y="1510156"/>
                  </a:lnTo>
                  <a:lnTo>
                    <a:pt x="932560" y="1510156"/>
                  </a:lnTo>
                  <a:lnTo>
                    <a:pt x="947419" y="1492377"/>
                  </a:lnTo>
                  <a:lnTo>
                    <a:pt x="953476" y="1484375"/>
                  </a:lnTo>
                  <a:close/>
                </a:path>
                <a:path w="1082675" h="2016125">
                  <a:moveTo>
                    <a:pt x="1007498" y="1401571"/>
                  </a:moveTo>
                  <a:lnTo>
                    <a:pt x="993266" y="1401571"/>
                  </a:lnTo>
                  <a:lnTo>
                    <a:pt x="976121" y="1430401"/>
                  </a:lnTo>
                  <a:lnTo>
                    <a:pt x="957579" y="1457959"/>
                  </a:lnTo>
                  <a:lnTo>
                    <a:pt x="937386" y="1484630"/>
                  </a:lnTo>
                  <a:lnTo>
                    <a:pt x="937640" y="1484375"/>
                  </a:lnTo>
                  <a:lnTo>
                    <a:pt x="953476" y="1484375"/>
                  </a:lnTo>
                  <a:lnTo>
                    <a:pt x="967993" y="1465198"/>
                  </a:lnTo>
                  <a:lnTo>
                    <a:pt x="986916" y="1437004"/>
                  </a:lnTo>
                  <a:lnTo>
                    <a:pt x="1004188" y="1407921"/>
                  </a:lnTo>
                  <a:lnTo>
                    <a:pt x="1007498" y="1401571"/>
                  </a:lnTo>
                  <a:close/>
                </a:path>
                <a:path w="1082675" h="2016125">
                  <a:moveTo>
                    <a:pt x="957833" y="1457578"/>
                  </a:moveTo>
                  <a:lnTo>
                    <a:pt x="957546" y="1457959"/>
                  </a:lnTo>
                  <a:lnTo>
                    <a:pt x="957833" y="1457578"/>
                  </a:lnTo>
                  <a:close/>
                </a:path>
                <a:path w="1082675" h="2016125">
                  <a:moveTo>
                    <a:pt x="976248" y="1430146"/>
                  </a:moveTo>
                  <a:lnTo>
                    <a:pt x="976078" y="1430401"/>
                  </a:lnTo>
                  <a:lnTo>
                    <a:pt x="976248" y="1430146"/>
                  </a:lnTo>
                  <a:close/>
                </a:path>
                <a:path w="1082675" h="2016125">
                  <a:moveTo>
                    <a:pt x="1046792" y="1310639"/>
                  </a:moveTo>
                  <a:lnTo>
                    <a:pt x="1033526" y="1310639"/>
                  </a:lnTo>
                  <a:lnTo>
                    <a:pt x="1033398" y="1311020"/>
                  </a:lnTo>
                  <a:lnTo>
                    <a:pt x="1021714" y="1342263"/>
                  </a:lnTo>
                  <a:lnTo>
                    <a:pt x="1008252" y="1372615"/>
                  </a:lnTo>
                  <a:lnTo>
                    <a:pt x="993012" y="1401952"/>
                  </a:lnTo>
                  <a:lnTo>
                    <a:pt x="993266" y="1401571"/>
                  </a:lnTo>
                  <a:lnTo>
                    <a:pt x="1007498" y="1401571"/>
                  </a:lnTo>
                  <a:lnTo>
                    <a:pt x="1019809" y="1377950"/>
                  </a:lnTo>
                  <a:lnTo>
                    <a:pt x="1033526" y="1346834"/>
                  </a:lnTo>
                  <a:lnTo>
                    <a:pt x="1045463" y="1314958"/>
                  </a:lnTo>
                  <a:lnTo>
                    <a:pt x="1046792" y="1310639"/>
                  </a:lnTo>
                  <a:close/>
                </a:path>
                <a:path w="1082675" h="2016125">
                  <a:moveTo>
                    <a:pt x="1008379" y="1372234"/>
                  </a:moveTo>
                  <a:lnTo>
                    <a:pt x="1008182" y="1372615"/>
                  </a:lnTo>
                  <a:lnTo>
                    <a:pt x="1008379" y="1372234"/>
                  </a:lnTo>
                  <a:close/>
                </a:path>
                <a:path w="1082675" h="2016125">
                  <a:moveTo>
                    <a:pt x="1021841" y="1341882"/>
                  </a:moveTo>
                  <a:lnTo>
                    <a:pt x="1021673" y="1342263"/>
                  </a:lnTo>
                  <a:lnTo>
                    <a:pt x="1021841" y="1341882"/>
                  </a:lnTo>
                  <a:close/>
                </a:path>
                <a:path w="1082675" h="2016125">
                  <a:moveTo>
                    <a:pt x="1033470" y="1310789"/>
                  </a:moveTo>
                  <a:lnTo>
                    <a:pt x="1033383" y="1311020"/>
                  </a:lnTo>
                  <a:lnTo>
                    <a:pt x="1033470" y="1310789"/>
                  </a:lnTo>
                  <a:close/>
                </a:path>
                <a:path w="1082675" h="2016125">
                  <a:moveTo>
                    <a:pt x="1056499" y="1278382"/>
                  </a:moveTo>
                  <a:lnTo>
                    <a:pt x="1043431" y="1278382"/>
                  </a:lnTo>
                  <a:lnTo>
                    <a:pt x="1033470" y="1310789"/>
                  </a:lnTo>
                  <a:lnTo>
                    <a:pt x="1033526" y="1310639"/>
                  </a:lnTo>
                  <a:lnTo>
                    <a:pt x="1046792" y="1310639"/>
                  </a:lnTo>
                  <a:lnTo>
                    <a:pt x="1055623" y="1281938"/>
                  </a:lnTo>
                  <a:lnTo>
                    <a:pt x="1056499" y="1278382"/>
                  </a:lnTo>
                  <a:close/>
                </a:path>
                <a:path w="1082675" h="2016125">
                  <a:moveTo>
                    <a:pt x="1064571" y="1244980"/>
                  </a:moveTo>
                  <a:lnTo>
                    <a:pt x="1051686" y="1244980"/>
                  </a:lnTo>
                  <a:lnTo>
                    <a:pt x="1043304" y="1278635"/>
                  </a:lnTo>
                  <a:lnTo>
                    <a:pt x="1043431" y="1278382"/>
                  </a:lnTo>
                  <a:lnTo>
                    <a:pt x="1056499" y="1278382"/>
                  </a:lnTo>
                  <a:lnTo>
                    <a:pt x="1064005" y="1247902"/>
                  </a:lnTo>
                  <a:lnTo>
                    <a:pt x="1064571" y="1244980"/>
                  </a:lnTo>
                  <a:close/>
                </a:path>
                <a:path w="1082675" h="2016125">
                  <a:moveTo>
                    <a:pt x="1082291" y="1065402"/>
                  </a:moveTo>
                  <a:lnTo>
                    <a:pt x="1069593" y="1065402"/>
                  </a:lnTo>
                  <a:lnTo>
                    <a:pt x="1068958" y="1103248"/>
                  </a:lnTo>
                  <a:lnTo>
                    <a:pt x="1068922" y="1103629"/>
                  </a:lnTo>
                  <a:lnTo>
                    <a:pt x="1066800" y="1140078"/>
                  </a:lnTo>
                  <a:lnTo>
                    <a:pt x="1066691" y="1140967"/>
                  </a:lnTo>
                  <a:lnTo>
                    <a:pt x="1063370" y="1176020"/>
                  </a:lnTo>
                  <a:lnTo>
                    <a:pt x="1058290" y="1211198"/>
                  </a:lnTo>
                  <a:lnTo>
                    <a:pt x="1051559" y="1245361"/>
                  </a:lnTo>
                  <a:lnTo>
                    <a:pt x="1051686" y="1244980"/>
                  </a:lnTo>
                  <a:lnTo>
                    <a:pt x="1064571" y="1244980"/>
                  </a:lnTo>
                  <a:lnTo>
                    <a:pt x="1070736" y="1213103"/>
                  </a:lnTo>
                  <a:lnTo>
                    <a:pt x="1075943" y="1177416"/>
                  </a:lnTo>
                  <a:lnTo>
                    <a:pt x="1079500" y="1140967"/>
                  </a:lnTo>
                  <a:lnTo>
                    <a:pt x="1081658" y="1103629"/>
                  </a:lnTo>
                  <a:lnTo>
                    <a:pt x="1082291" y="1065402"/>
                  </a:lnTo>
                  <a:close/>
                </a:path>
                <a:path w="1082675" h="2016125">
                  <a:moveTo>
                    <a:pt x="1058290" y="1210945"/>
                  </a:moveTo>
                  <a:lnTo>
                    <a:pt x="1058241" y="1211198"/>
                  </a:lnTo>
                  <a:lnTo>
                    <a:pt x="1058290" y="1210945"/>
                  </a:lnTo>
                  <a:close/>
                </a:path>
                <a:path w="1082675" h="2016125">
                  <a:moveTo>
                    <a:pt x="1063370" y="1175765"/>
                  </a:moveTo>
                  <a:lnTo>
                    <a:pt x="1063334" y="1176020"/>
                  </a:lnTo>
                  <a:lnTo>
                    <a:pt x="1063370" y="1175765"/>
                  </a:lnTo>
                  <a:close/>
                </a:path>
                <a:path w="1082675" h="2016125">
                  <a:moveTo>
                    <a:pt x="1066800" y="1139825"/>
                  </a:moveTo>
                  <a:lnTo>
                    <a:pt x="1066775" y="1140078"/>
                  </a:lnTo>
                  <a:lnTo>
                    <a:pt x="1066800" y="1139825"/>
                  </a:lnTo>
                  <a:close/>
                </a:path>
                <a:path w="1082675" h="2016125">
                  <a:moveTo>
                    <a:pt x="1068958" y="1102995"/>
                  </a:moveTo>
                  <a:lnTo>
                    <a:pt x="1068944" y="1103248"/>
                  </a:lnTo>
                  <a:lnTo>
                    <a:pt x="1068958" y="1102995"/>
                  </a:lnTo>
                  <a:close/>
                </a:path>
                <a:path w="1082675" h="2016125">
                  <a:moveTo>
                    <a:pt x="1081665" y="1027048"/>
                  </a:moveTo>
                  <a:lnTo>
                    <a:pt x="1068958" y="1027048"/>
                  </a:lnTo>
                  <a:lnTo>
                    <a:pt x="1069591" y="1065528"/>
                  </a:lnTo>
                  <a:lnTo>
                    <a:pt x="1082291" y="1065402"/>
                  </a:lnTo>
                  <a:lnTo>
                    <a:pt x="1081665" y="1027048"/>
                  </a:lnTo>
                  <a:close/>
                </a:path>
                <a:path w="1082675" h="2016125">
                  <a:moveTo>
                    <a:pt x="1079666" y="987932"/>
                  </a:moveTo>
                  <a:lnTo>
                    <a:pt x="1066927" y="987932"/>
                  </a:lnTo>
                  <a:lnTo>
                    <a:pt x="1068958" y="1027302"/>
                  </a:lnTo>
                  <a:lnTo>
                    <a:pt x="1068958" y="1027048"/>
                  </a:lnTo>
                  <a:lnTo>
                    <a:pt x="1081665" y="1027048"/>
                  </a:lnTo>
                  <a:lnTo>
                    <a:pt x="1081658" y="1026667"/>
                  </a:lnTo>
                  <a:lnTo>
                    <a:pt x="1079666" y="987932"/>
                  </a:lnTo>
                  <a:close/>
                </a:path>
                <a:path w="1082675" h="2016125">
                  <a:moveTo>
                    <a:pt x="1076418" y="948054"/>
                  </a:moveTo>
                  <a:lnTo>
                    <a:pt x="1063752" y="948054"/>
                  </a:lnTo>
                  <a:lnTo>
                    <a:pt x="1066927" y="988059"/>
                  </a:lnTo>
                  <a:lnTo>
                    <a:pt x="1079666" y="987932"/>
                  </a:lnTo>
                  <a:lnTo>
                    <a:pt x="1079627" y="987170"/>
                  </a:lnTo>
                  <a:lnTo>
                    <a:pt x="1076418" y="948054"/>
                  </a:lnTo>
                  <a:close/>
                </a:path>
                <a:path w="1082675" h="2016125">
                  <a:moveTo>
                    <a:pt x="1072167" y="907541"/>
                  </a:moveTo>
                  <a:lnTo>
                    <a:pt x="1059306" y="907541"/>
                  </a:lnTo>
                  <a:lnTo>
                    <a:pt x="1063752" y="948182"/>
                  </a:lnTo>
                  <a:lnTo>
                    <a:pt x="1063752" y="948054"/>
                  </a:lnTo>
                  <a:lnTo>
                    <a:pt x="1076418" y="948054"/>
                  </a:lnTo>
                  <a:lnTo>
                    <a:pt x="1076325" y="946911"/>
                  </a:lnTo>
                  <a:lnTo>
                    <a:pt x="1072167" y="907541"/>
                  </a:lnTo>
                  <a:close/>
                </a:path>
                <a:path w="1082675" h="2016125">
                  <a:moveTo>
                    <a:pt x="1066536" y="866266"/>
                  </a:moveTo>
                  <a:lnTo>
                    <a:pt x="1053718" y="866266"/>
                  </a:lnTo>
                  <a:lnTo>
                    <a:pt x="1059306" y="907669"/>
                  </a:lnTo>
                  <a:lnTo>
                    <a:pt x="1059306" y="907541"/>
                  </a:lnTo>
                  <a:lnTo>
                    <a:pt x="1072167" y="907541"/>
                  </a:lnTo>
                  <a:lnTo>
                    <a:pt x="1072006" y="906017"/>
                  </a:lnTo>
                  <a:lnTo>
                    <a:pt x="1066536" y="866266"/>
                  </a:lnTo>
                  <a:close/>
                </a:path>
                <a:path w="1082675" h="2016125">
                  <a:moveTo>
                    <a:pt x="1060027" y="824610"/>
                  </a:moveTo>
                  <a:lnTo>
                    <a:pt x="1047114" y="824610"/>
                  </a:lnTo>
                  <a:lnTo>
                    <a:pt x="1053718" y="866520"/>
                  </a:lnTo>
                  <a:lnTo>
                    <a:pt x="1053718" y="866266"/>
                  </a:lnTo>
                  <a:lnTo>
                    <a:pt x="1066536" y="866266"/>
                  </a:lnTo>
                  <a:lnTo>
                    <a:pt x="1066291" y="864488"/>
                  </a:lnTo>
                  <a:lnTo>
                    <a:pt x="1060027" y="824610"/>
                  </a:lnTo>
                  <a:close/>
                </a:path>
                <a:path w="1082675" h="2016125">
                  <a:moveTo>
                    <a:pt x="1052356" y="782065"/>
                  </a:moveTo>
                  <a:lnTo>
                    <a:pt x="1039494" y="782065"/>
                  </a:lnTo>
                  <a:lnTo>
                    <a:pt x="1047114" y="824738"/>
                  </a:lnTo>
                  <a:lnTo>
                    <a:pt x="1047114" y="824610"/>
                  </a:lnTo>
                  <a:lnTo>
                    <a:pt x="1060027" y="824610"/>
                  </a:lnTo>
                  <a:lnTo>
                    <a:pt x="1059687" y="822451"/>
                  </a:lnTo>
                  <a:lnTo>
                    <a:pt x="1052356" y="782065"/>
                  </a:lnTo>
                  <a:close/>
                </a:path>
                <a:path w="1082675" h="2016125">
                  <a:moveTo>
                    <a:pt x="1043814" y="739266"/>
                  </a:moveTo>
                  <a:lnTo>
                    <a:pt x="1030858" y="739266"/>
                  </a:lnTo>
                  <a:lnTo>
                    <a:pt x="1039494" y="782192"/>
                  </a:lnTo>
                  <a:lnTo>
                    <a:pt x="1052356" y="782065"/>
                  </a:lnTo>
                  <a:lnTo>
                    <a:pt x="1051940" y="779779"/>
                  </a:lnTo>
                  <a:lnTo>
                    <a:pt x="1043814" y="739266"/>
                  </a:lnTo>
                  <a:close/>
                </a:path>
                <a:path w="1082675" h="2016125">
                  <a:moveTo>
                    <a:pt x="1012859" y="607440"/>
                  </a:moveTo>
                  <a:lnTo>
                    <a:pt x="999743" y="607440"/>
                  </a:lnTo>
                  <a:lnTo>
                    <a:pt x="1010919" y="651890"/>
                  </a:lnTo>
                  <a:lnTo>
                    <a:pt x="1021333" y="695832"/>
                  </a:lnTo>
                  <a:lnTo>
                    <a:pt x="1030858" y="739394"/>
                  </a:lnTo>
                  <a:lnTo>
                    <a:pt x="1030858" y="739266"/>
                  </a:lnTo>
                  <a:lnTo>
                    <a:pt x="1043814" y="739266"/>
                  </a:lnTo>
                  <a:lnTo>
                    <a:pt x="1043304" y="736726"/>
                  </a:lnTo>
                  <a:lnTo>
                    <a:pt x="1033652" y="693038"/>
                  </a:lnTo>
                  <a:lnTo>
                    <a:pt x="1023238" y="648842"/>
                  </a:lnTo>
                  <a:lnTo>
                    <a:pt x="1012859" y="607440"/>
                  </a:lnTo>
                  <a:close/>
                </a:path>
                <a:path w="1082675" h="2016125">
                  <a:moveTo>
                    <a:pt x="975244" y="471931"/>
                  </a:moveTo>
                  <a:lnTo>
                    <a:pt x="962025" y="471931"/>
                  </a:lnTo>
                  <a:lnTo>
                    <a:pt x="975232" y="517525"/>
                  </a:lnTo>
                  <a:lnTo>
                    <a:pt x="987805" y="562736"/>
                  </a:lnTo>
                  <a:lnTo>
                    <a:pt x="999743" y="607567"/>
                  </a:lnTo>
                  <a:lnTo>
                    <a:pt x="1012859" y="607440"/>
                  </a:lnTo>
                  <a:lnTo>
                    <a:pt x="1012062" y="604265"/>
                  </a:lnTo>
                  <a:lnTo>
                    <a:pt x="999997" y="559434"/>
                  </a:lnTo>
                  <a:lnTo>
                    <a:pt x="987425" y="514095"/>
                  </a:lnTo>
                  <a:lnTo>
                    <a:pt x="975244" y="471931"/>
                  </a:lnTo>
                  <a:close/>
                </a:path>
                <a:path w="1082675" h="2016125">
                  <a:moveTo>
                    <a:pt x="819784" y="0"/>
                  </a:moveTo>
                  <a:lnTo>
                    <a:pt x="807719" y="4063"/>
                  </a:lnTo>
                  <a:lnTo>
                    <a:pt x="840358" y="98805"/>
                  </a:lnTo>
                  <a:lnTo>
                    <a:pt x="872616" y="193166"/>
                  </a:lnTo>
                  <a:lnTo>
                    <a:pt x="903985" y="286892"/>
                  </a:lnTo>
                  <a:lnTo>
                    <a:pt x="933830" y="379983"/>
                  </a:lnTo>
                  <a:lnTo>
                    <a:pt x="962025" y="472058"/>
                  </a:lnTo>
                  <a:lnTo>
                    <a:pt x="975244" y="471931"/>
                  </a:lnTo>
                  <a:lnTo>
                    <a:pt x="974216" y="468375"/>
                  </a:lnTo>
                  <a:lnTo>
                    <a:pt x="946022" y="376173"/>
                  </a:lnTo>
                  <a:lnTo>
                    <a:pt x="916051" y="282955"/>
                  </a:lnTo>
                  <a:lnTo>
                    <a:pt x="884681" y="189102"/>
                  </a:lnTo>
                  <a:lnTo>
                    <a:pt x="852423" y="94614"/>
                  </a:lnTo>
                  <a:lnTo>
                    <a:pt x="819784"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7" name="object 22"/>
            <p:cNvSpPr/>
            <p:nvPr/>
          </p:nvSpPr>
          <p:spPr>
            <a:xfrm>
              <a:off x="6369558" y="3458717"/>
              <a:ext cx="1120140" cy="571500"/>
            </a:xfrm>
            <a:custGeom>
              <a:avLst/>
              <a:gdLst/>
              <a:ahLst/>
              <a:cxnLst/>
              <a:rect l="l" t="t" r="r" b="b"/>
              <a:pathLst>
                <a:path w="1120140" h="571500">
                  <a:moveTo>
                    <a:pt x="0" y="571500"/>
                  </a:moveTo>
                  <a:lnTo>
                    <a:pt x="553212" y="571500"/>
                  </a:lnTo>
                  <a:lnTo>
                    <a:pt x="553212" y="277368"/>
                  </a:lnTo>
                  <a:lnTo>
                    <a:pt x="0" y="277368"/>
                  </a:lnTo>
                  <a:lnTo>
                    <a:pt x="0" y="571500"/>
                  </a:lnTo>
                  <a:close/>
                </a:path>
                <a:path w="1120140" h="571500">
                  <a:moveTo>
                    <a:pt x="566927" y="294132"/>
                  </a:moveTo>
                  <a:lnTo>
                    <a:pt x="1120139" y="294132"/>
                  </a:lnTo>
                  <a:lnTo>
                    <a:pt x="1120139" y="0"/>
                  </a:lnTo>
                  <a:lnTo>
                    <a:pt x="566927" y="0"/>
                  </a:lnTo>
                  <a:lnTo>
                    <a:pt x="566927" y="294132"/>
                  </a:lnTo>
                  <a:close/>
                </a:path>
              </a:pathLst>
            </a:custGeom>
            <a:ln w="28575">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8" name="object 23"/>
            <p:cNvSpPr/>
            <p:nvPr/>
          </p:nvSpPr>
          <p:spPr>
            <a:xfrm>
              <a:off x="7540752" y="3550919"/>
              <a:ext cx="210820" cy="413384"/>
            </a:xfrm>
            <a:custGeom>
              <a:avLst/>
              <a:gdLst/>
              <a:ahLst/>
              <a:cxnLst/>
              <a:rect l="l" t="t" r="r" b="b"/>
              <a:pathLst>
                <a:path w="210820" h="413385">
                  <a:moveTo>
                    <a:pt x="0" y="0"/>
                  </a:moveTo>
                  <a:lnTo>
                    <a:pt x="40915" y="1381"/>
                  </a:lnTo>
                  <a:lnTo>
                    <a:pt x="74342" y="5143"/>
                  </a:lnTo>
                  <a:lnTo>
                    <a:pt x="96887" y="10715"/>
                  </a:lnTo>
                  <a:lnTo>
                    <a:pt x="105155" y="17525"/>
                  </a:lnTo>
                  <a:lnTo>
                    <a:pt x="105155" y="188975"/>
                  </a:lnTo>
                  <a:lnTo>
                    <a:pt x="113424" y="195786"/>
                  </a:lnTo>
                  <a:lnTo>
                    <a:pt x="135969" y="201358"/>
                  </a:lnTo>
                  <a:lnTo>
                    <a:pt x="169396" y="205120"/>
                  </a:lnTo>
                  <a:lnTo>
                    <a:pt x="210312" y="206501"/>
                  </a:lnTo>
                  <a:lnTo>
                    <a:pt x="169396" y="207883"/>
                  </a:lnTo>
                  <a:lnTo>
                    <a:pt x="135969" y="211645"/>
                  </a:lnTo>
                  <a:lnTo>
                    <a:pt x="113424" y="217217"/>
                  </a:lnTo>
                  <a:lnTo>
                    <a:pt x="105155" y="224027"/>
                  </a:lnTo>
                  <a:lnTo>
                    <a:pt x="105155" y="395477"/>
                  </a:lnTo>
                  <a:lnTo>
                    <a:pt x="96887" y="402288"/>
                  </a:lnTo>
                  <a:lnTo>
                    <a:pt x="74342" y="407860"/>
                  </a:lnTo>
                  <a:lnTo>
                    <a:pt x="40915" y="411622"/>
                  </a:lnTo>
                  <a:lnTo>
                    <a:pt x="0" y="413003"/>
                  </a:lnTo>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22</a:t>
            </a:fld>
            <a:endParaRPr lang="en-US"/>
          </a:p>
        </p:txBody>
      </p:sp>
      <p:sp>
        <p:nvSpPr>
          <p:cNvPr id="11"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Indirect</a:t>
            </a:r>
            <a:r>
              <a:rPr kumimoji="0" lang="en-US" sz="4000" b="1" i="0" u="none" strike="noStrike" kern="0" cap="none" spc="-15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30" normalizeH="0" baseline="0" noProof="0">
                <a:ln>
                  <a:noFill/>
                </a:ln>
                <a:solidFill>
                  <a:srgbClr val="000000"/>
                </a:solidFill>
                <a:effectLst/>
                <a:uLnTx/>
                <a:uFillTx/>
                <a:latin typeface="Palatino Linotype" panose="02040502050505030304"/>
                <a:ea typeface="+mj-ea"/>
              </a:rPr>
              <a:t>Triples</a:t>
            </a:r>
            <a:r>
              <a:rPr kumimoji="0" lang="en-US" sz="4000" b="1" i="0" u="none" strike="noStrike" kern="0" cap="none" spc="-90" normalizeH="0" baseline="0" noProof="0">
                <a:ln>
                  <a:noFill/>
                </a:ln>
                <a:solidFill>
                  <a:srgbClr val="000000"/>
                </a:solidFill>
                <a:effectLst/>
                <a:uLnTx/>
                <a:uFillTx/>
                <a:latin typeface="Palatino Linotype" panose="02040502050505030304"/>
                <a:ea typeface="+mj-ea"/>
              </a:rPr>
              <a:t> (</a:t>
            </a:r>
            <a:r>
              <a:rPr kumimoji="0" lang="zh-CN" altLang="en-US" sz="4000" b="0" i="0" u="none" strike="noStrike" kern="0" cap="none" spc="-35"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rPr>
              <a:t>间接三元式</a:t>
            </a:r>
            <a:r>
              <a:rPr kumimoji="0" lang="en-US" altLang="zh-CN" sz="4000" b="1" i="0" u="none" strike="noStrike" kern="0" cap="none" spc="-50" normalizeH="0" baseline="0" noProof="0">
                <a:ln>
                  <a:noFill/>
                </a:ln>
                <a:solidFill>
                  <a:srgbClr val="000000"/>
                </a:solidFill>
                <a:effectLst/>
                <a:uLnTx/>
                <a:uFillTx/>
                <a:latin typeface="Palatino Linotype" panose="02040502050505030304"/>
                <a:ea typeface="宋体" panose="02010600030101010101" pitchFamily="2" charset="-122"/>
              </a:rPr>
              <a:t>)</a:t>
            </a:r>
            <a:endParaRPr kumimoji="0" lang="en-US" altLang="zh-CN" sz="4000" b="1" i="0" u="none" strike="noStrike" kern="0" cap="none" spc="-50" normalizeH="0" baseline="0" noProof="0" dirty="0">
              <a:ln>
                <a:noFill/>
              </a:ln>
              <a:solidFill>
                <a:srgbClr val="000000"/>
              </a:solidFill>
              <a:effectLst/>
              <a:uLnTx/>
              <a:uFillTx/>
              <a:latin typeface="Palatino Linotype" panose="02040502050505030304"/>
              <a:ea typeface="宋体" panose="02010600030101010101" pitchFamily="2" charset="-122"/>
            </a:endParaRPr>
          </a:p>
        </p:txBody>
      </p:sp>
      <p:grpSp>
        <p:nvGrpSpPr>
          <p:cNvPr id="12" name="object 3"/>
          <p:cNvGrpSpPr/>
          <p:nvPr/>
        </p:nvGrpSpPr>
        <p:grpSpPr>
          <a:xfrm>
            <a:off x="1316186" y="2965313"/>
            <a:ext cx="5589270" cy="2457450"/>
            <a:chOff x="1316186" y="2965313"/>
            <a:chExt cx="5589270" cy="2457450"/>
          </a:xfrm>
        </p:grpSpPr>
        <p:pic>
          <p:nvPicPr>
            <p:cNvPr id="13" name="object 4"/>
            <p:cNvPicPr/>
            <p:nvPr/>
          </p:nvPicPr>
          <p:blipFill>
            <a:blip r:embed="rId3" cstate="print"/>
            <a:stretch>
              <a:fillRect/>
            </a:stretch>
          </p:blipFill>
          <p:spPr>
            <a:xfrm>
              <a:off x="1316186" y="2965313"/>
              <a:ext cx="1214250" cy="2456924"/>
            </a:xfrm>
            <a:prstGeom prst="rect">
              <a:avLst/>
            </a:prstGeom>
          </p:spPr>
        </p:pic>
        <p:pic>
          <p:nvPicPr>
            <p:cNvPr id="14" name="object 5"/>
            <p:cNvPicPr/>
            <p:nvPr/>
          </p:nvPicPr>
          <p:blipFill>
            <a:blip r:embed="rId4" cstate="print"/>
            <a:stretch>
              <a:fillRect/>
            </a:stretch>
          </p:blipFill>
          <p:spPr>
            <a:xfrm>
              <a:off x="4815029" y="3002728"/>
              <a:ext cx="2089979" cy="2413273"/>
            </a:xfrm>
            <a:prstGeom prst="rect">
              <a:avLst/>
            </a:prstGeom>
          </p:spPr>
        </p:pic>
        <p:sp>
          <p:nvSpPr>
            <p:cNvPr id="15" name="object 6"/>
            <p:cNvSpPr/>
            <p:nvPr/>
          </p:nvSpPr>
          <p:spPr>
            <a:xfrm>
              <a:off x="2151888" y="3317874"/>
              <a:ext cx="2632075" cy="1671955"/>
            </a:xfrm>
            <a:custGeom>
              <a:avLst/>
              <a:gdLst/>
              <a:ahLst/>
              <a:cxnLst/>
              <a:rect l="l" t="t" r="r" b="b"/>
              <a:pathLst>
                <a:path w="2632075" h="1671954">
                  <a:moveTo>
                    <a:pt x="2631554" y="1031633"/>
                  </a:moveTo>
                  <a:lnTo>
                    <a:pt x="2620670" y="1025271"/>
                  </a:lnTo>
                  <a:lnTo>
                    <a:pt x="2542921" y="979932"/>
                  </a:lnTo>
                  <a:lnTo>
                    <a:pt x="2538984" y="980948"/>
                  </a:lnTo>
                  <a:lnTo>
                    <a:pt x="2537333" y="983996"/>
                  </a:lnTo>
                  <a:lnTo>
                    <a:pt x="2535555" y="987044"/>
                  </a:lnTo>
                  <a:lnTo>
                    <a:pt x="2536571" y="990854"/>
                  </a:lnTo>
                  <a:lnTo>
                    <a:pt x="2595537" y="1025271"/>
                  </a:lnTo>
                  <a:lnTo>
                    <a:pt x="0" y="1025271"/>
                  </a:lnTo>
                  <a:lnTo>
                    <a:pt x="0" y="1037971"/>
                  </a:lnTo>
                  <a:lnTo>
                    <a:pt x="2595562" y="1037971"/>
                  </a:lnTo>
                  <a:lnTo>
                    <a:pt x="2606446" y="1031633"/>
                  </a:lnTo>
                  <a:lnTo>
                    <a:pt x="2536571" y="1072388"/>
                  </a:lnTo>
                  <a:lnTo>
                    <a:pt x="2535555" y="1076198"/>
                  </a:lnTo>
                  <a:lnTo>
                    <a:pt x="2537333" y="1079246"/>
                  </a:lnTo>
                  <a:lnTo>
                    <a:pt x="2538984" y="1082294"/>
                  </a:lnTo>
                  <a:lnTo>
                    <a:pt x="2542921" y="1083310"/>
                  </a:lnTo>
                  <a:lnTo>
                    <a:pt x="2620670" y="1037971"/>
                  </a:lnTo>
                  <a:lnTo>
                    <a:pt x="2631554" y="1031633"/>
                  </a:lnTo>
                  <a:close/>
                </a:path>
                <a:path w="2632075" h="1671954">
                  <a:moveTo>
                    <a:pt x="2631567" y="1619885"/>
                  </a:moveTo>
                  <a:lnTo>
                    <a:pt x="2620670" y="1613535"/>
                  </a:lnTo>
                  <a:lnTo>
                    <a:pt x="2542921" y="1568196"/>
                  </a:lnTo>
                  <a:lnTo>
                    <a:pt x="2538984" y="1569212"/>
                  </a:lnTo>
                  <a:lnTo>
                    <a:pt x="2537333" y="1572260"/>
                  </a:lnTo>
                  <a:lnTo>
                    <a:pt x="2535555" y="1575308"/>
                  </a:lnTo>
                  <a:lnTo>
                    <a:pt x="2536571" y="1579118"/>
                  </a:lnTo>
                  <a:lnTo>
                    <a:pt x="2595549" y="1613535"/>
                  </a:lnTo>
                  <a:lnTo>
                    <a:pt x="0" y="1613535"/>
                  </a:lnTo>
                  <a:lnTo>
                    <a:pt x="0" y="1626235"/>
                  </a:lnTo>
                  <a:lnTo>
                    <a:pt x="2595549" y="1626235"/>
                  </a:lnTo>
                  <a:lnTo>
                    <a:pt x="2536571" y="1660652"/>
                  </a:lnTo>
                  <a:lnTo>
                    <a:pt x="2535555" y="1664462"/>
                  </a:lnTo>
                  <a:lnTo>
                    <a:pt x="2537333" y="1667510"/>
                  </a:lnTo>
                  <a:lnTo>
                    <a:pt x="2538984" y="1670558"/>
                  </a:lnTo>
                  <a:lnTo>
                    <a:pt x="2542921" y="1671574"/>
                  </a:lnTo>
                  <a:lnTo>
                    <a:pt x="2620670" y="1626235"/>
                  </a:lnTo>
                  <a:lnTo>
                    <a:pt x="2631567" y="1619885"/>
                  </a:lnTo>
                  <a:close/>
                </a:path>
                <a:path w="2632075" h="1671954">
                  <a:moveTo>
                    <a:pt x="2631567" y="1319657"/>
                  </a:moveTo>
                  <a:lnTo>
                    <a:pt x="2620670" y="1313307"/>
                  </a:lnTo>
                  <a:lnTo>
                    <a:pt x="2542921" y="1267968"/>
                  </a:lnTo>
                  <a:lnTo>
                    <a:pt x="2538984" y="1268984"/>
                  </a:lnTo>
                  <a:lnTo>
                    <a:pt x="2537333" y="1272032"/>
                  </a:lnTo>
                  <a:lnTo>
                    <a:pt x="2535555" y="1275080"/>
                  </a:lnTo>
                  <a:lnTo>
                    <a:pt x="2536571" y="1278890"/>
                  </a:lnTo>
                  <a:lnTo>
                    <a:pt x="2595549" y="1313307"/>
                  </a:lnTo>
                  <a:lnTo>
                    <a:pt x="0" y="1313307"/>
                  </a:lnTo>
                  <a:lnTo>
                    <a:pt x="0" y="1326007"/>
                  </a:lnTo>
                  <a:lnTo>
                    <a:pt x="2595549" y="1326007"/>
                  </a:lnTo>
                  <a:lnTo>
                    <a:pt x="2536571" y="1360424"/>
                  </a:lnTo>
                  <a:lnTo>
                    <a:pt x="2535555" y="1364234"/>
                  </a:lnTo>
                  <a:lnTo>
                    <a:pt x="2537333" y="1367282"/>
                  </a:lnTo>
                  <a:lnTo>
                    <a:pt x="2538984" y="1370330"/>
                  </a:lnTo>
                  <a:lnTo>
                    <a:pt x="2542921" y="1371346"/>
                  </a:lnTo>
                  <a:lnTo>
                    <a:pt x="2620670" y="1326007"/>
                  </a:lnTo>
                  <a:lnTo>
                    <a:pt x="2631567" y="1319657"/>
                  </a:lnTo>
                  <a:close/>
                </a:path>
                <a:path w="2632075" h="1671954">
                  <a:moveTo>
                    <a:pt x="2631567" y="693293"/>
                  </a:moveTo>
                  <a:lnTo>
                    <a:pt x="2620670" y="686943"/>
                  </a:lnTo>
                  <a:lnTo>
                    <a:pt x="2542921" y="641604"/>
                  </a:lnTo>
                  <a:lnTo>
                    <a:pt x="2538984" y="642620"/>
                  </a:lnTo>
                  <a:lnTo>
                    <a:pt x="2537333" y="645668"/>
                  </a:lnTo>
                  <a:lnTo>
                    <a:pt x="2535555" y="648716"/>
                  </a:lnTo>
                  <a:lnTo>
                    <a:pt x="2536571" y="652526"/>
                  </a:lnTo>
                  <a:lnTo>
                    <a:pt x="2595549" y="686943"/>
                  </a:lnTo>
                  <a:lnTo>
                    <a:pt x="0" y="686943"/>
                  </a:lnTo>
                  <a:lnTo>
                    <a:pt x="0" y="699643"/>
                  </a:lnTo>
                  <a:lnTo>
                    <a:pt x="2595549" y="699643"/>
                  </a:lnTo>
                  <a:lnTo>
                    <a:pt x="2536571" y="734060"/>
                  </a:lnTo>
                  <a:lnTo>
                    <a:pt x="2535555" y="737870"/>
                  </a:lnTo>
                  <a:lnTo>
                    <a:pt x="2537333" y="740918"/>
                  </a:lnTo>
                  <a:lnTo>
                    <a:pt x="2538984" y="743966"/>
                  </a:lnTo>
                  <a:lnTo>
                    <a:pt x="2542921" y="744982"/>
                  </a:lnTo>
                  <a:lnTo>
                    <a:pt x="2620670" y="699643"/>
                  </a:lnTo>
                  <a:lnTo>
                    <a:pt x="2631567" y="693293"/>
                  </a:lnTo>
                  <a:close/>
                </a:path>
                <a:path w="2632075" h="1671954">
                  <a:moveTo>
                    <a:pt x="2631567" y="379349"/>
                  </a:moveTo>
                  <a:lnTo>
                    <a:pt x="2620670" y="372999"/>
                  </a:lnTo>
                  <a:lnTo>
                    <a:pt x="2542921" y="327660"/>
                  </a:lnTo>
                  <a:lnTo>
                    <a:pt x="2538984" y="328676"/>
                  </a:lnTo>
                  <a:lnTo>
                    <a:pt x="2537333" y="331724"/>
                  </a:lnTo>
                  <a:lnTo>
                    <a:pt x="2535555" y="334772"/>
                  </a:lnTo>
                  <a:lnTo>
                    <a:pt x="2536571" y="338582"/>
                  </a:lnTo>
                  <a:lnTo>
                    <a:pt x="2595549" y="372999"/>
                  </a:lnTo>
                  <a:lnTo>
                    <a:pt x="0" y="372999"/>
                  </a:lnTo>
                  <a:lnTo>
                    <a:pt x="0" y="385699"/>
                  </a:lnTo>
                  <a:lnTo>
                    <a:pt x="2595549" y="385699"/>
                  </a:lnTo>
                  <a:lnTo>
                    <a:pt x="2536571" y="420116"/>
                  </a:lnTo>
                  <a:lnTo>
                    <a:pt x="2535555" y="423926"/>
                  </a:lnTo>
                  <a:lnTo>
                    <a:pt x="2537333" y="426974"/>
                  </a:lnTo>
                  <a:lnTo>
                    <a:pt x="2538984" y="430022"/>
                  </a:lnTo>
                  <a:lnTo>
                    <a:pt x="2542921" y="431038"/>
                  </a:lnTo>
                  <a:lnTo>
                    <a:pt x="2620670" y="385699"/>
                  </a:lnTo>
                  <a:lnTo>
                    <a:pt x="2631567" y="379349"/>
                  </a:lnTo>
                  <a:close/>
                </a:path>
                <a:path w="2632075" h="1671954">
                  <a:moveTo>
                    <a:pt x="2631567" y="51689"/>
                  </a:moveTo>
                  <a:lnTo>
                    <a:pt x="2620670" y="45339"/>
                  </a:lnTo>
                  <a:lnTo>
                    <a:pt x="2542921" y="0"/>
                  </a:lnTo>
                  <a:lnTo>
                    <a:pt x="2538984" y="1016"/>
                  </a:lnTo>
                  <a:lnTo>
                    <a:pt x="2537333" y="4064"/>
                  </a:lnTo>
                  <a:lnTo>
                    <a:pt x="2535555" y="7112"/>
                  </a:lnTo>
                  <a:lnTo>
                    <a:pt x="2536571" y="10922"/>
                  </a:lnTo>
                  <a:lnTo>
                    <a:pt x="2595549" y="45339"/>
                  </a:lnTo>
                  <a:lnTo>
                    <a:pt x="0" y="45339"/>
                  </a:lnTo>
                  <a:lnTo>
                    <a:pt x="0" y="58039"/>
                  </a:lnTo>
                  <a:lnTo>
                    <a:pt x="2595549" y="58039"/>
                  </a:lnTo>
                  <a:lnTo>
                    <a:pt x="2536571" y="92456"/>
                  </a:lnTo>
                  <a:lnTo>
                    <a:pt x="2535555" y="96266"/>
                  </a:lnTo>
                  <a:lnTo>
                    <a:pt x="2537333" y="99314"/>
                  </a:lnTo>
                  <a:lnTo>
                    <a:pt x="2538984" y="102362"/>
                  </a:lnTo>
                  <a:lnTo>
                    <a:pt x="2542921" y="103378"/>
                  </a:lnTo>
                  <a:lnTo>
                    <a:pt x="2620670" y="58039"/>
                  </a:lnTo>
                  <a:lnTo>
                    <a:pt x="2631567" y="51689"/>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
        <p:nvSpPr>
          <p:cNvPr id="16" name="object 7"/>
          <p:cNvSpPr txBox="1"/>
          <p:nvPr/>
        </p:nvSpPr>
        <p:spPr>
          <a:xfrm>
            <a:off x="707542" y="1677441"/>
            <a:ext cx="6614159" cy="1616075"/>
          </a:xfrm>
          <a:prstGeom prst="rect">
            <a:avLst/>
          </a:prstGeom>
        </p:spPr>
        <p:txBody>
          <a:bodyPr vert="horz" wrap="square" lIns="0" tIns="79375" rIns="0" bIns="0" rtlCol="0">
            <a:spAutoFit/>
          </a:bodyPr>
          <a:lstStyle/>
          <a:p>
            <a:pPr marL="242570" indent="-229870">
              <a:spcBef>
                <a:spcPts val="625"/>
              </a:spcBef>
              <a:buFont typeface="Arial MT"/>
              <a:buChar char="•"/>
              <a:tabLst>
                <a:tab pos="242570" algn="l"/>
              </a:tabLst>
            </a:pPr>
            <a:r>
              <a:rPr sz="2200" i="1" dirty="0">
                <a:solidFill>
                  <a:sysClr val="windowText" lastClr="000000"/>
                </a:solidFill>
                <a:latin typeface="Palatino Linotype" panose="02040502050505030304"/>
                <a:cs typeface="Palatino Linotype" panose="02040502050505030304"/>
              </a:rPr>
              <a:t>Indirect</a:t>
            </a:r>
            <a:r>
              <a:rPr sz="2200" i="1" spc="-35" dirty="0">
                <a:solidFill>
                  <a:sysClr val="windowText" lastClr="000000"/>
                </a:solidFill>
                <a:latin typeface="Palatino Linotype" panose="02040502050505030304"/>
                <a:cs typeface="Palatino Linotype" panose="02040502050505030304"/>
              </a:rPr>
              <a:t> </a:t>
            </a:r>
            <a:r>
              <a:rPr sz="2200" i="1" dirty="0">
                <a:solidFill>
                  <a:sysClr val="windowText" lastClr="000000"/>
                </a:solidFill>
                <a:latin typeface="Palatino Linotype" panose="02040502050505030304"/>
                <a:cs typeface="Palatino Linotype" panose="02040502050505030304"/>
              </a:rPr>
              <a:t>triples</a:t>
            </a:r>
            <a:r>
              <a:rPr sz="2200" i="1" spc="-5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consist</a:t>
            </a:r>
            <a:r>
              <a:rPr sz="2200" spc="-3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a</a:t>
            </a:r>
            <a:r>
              <a:rPr sz="2200" spc="-5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list</a:t>
            </a:r>
            <a:r>
              <a:rPr sz="2200" spc="-4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of</a:t>
            </a:r>
            <a:r>
              <a:rPr sz="2200" spc="-25" dirty="0">
                <a:solidFill>
                  <a:sysClr val="windowText" lastClr="000000"/>
                </a:solidFill>
                <a:latin typeface="Palatino Linotype" panose="02040502050505030304"/>
                <a:cs typeface="Palatino Linotype" panose="02040502050505030304"/>
              </a:rPr>
              <a:t> </a:t>
            </a:r>
            <a:r>
              <a:rPr sz="2200" dirty="0">
                <a:solidFill>
                  <a:srgbClr val="FF0000"/>
                </a:solidFill>
                <a:latin typeface="Palatino Linotype" panose="02040502050505030304"/>
                <a:cs typeface="Palatino Linotype" panose="02040502050505030304"/>
              </a:rPr>
              <a:t>pointers</a:t>
            </a:r>
            <a:r>
              <a:rPr sz="2200" spc="-45" dirty="0">
                <a:solidFill>
                  <a:srgbClr val="FF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to</a:t>
            </a:r>
            <a:r>
              <a:rPr sz="2200" spc="-4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triples</a:t>
            </a:r>
            <a:r>
              <a:rPr sz="2200" spc="-40" dirty="0">
                <a:solidFill>
                  <a:sysClr val="windowText" lastClr="000000"/>
                </a:solidFill>
                <a:latin typeface="Palatino Linotype" panose="02040502050505030304"/>
                <a:cs typeface="Palatino Linotype" panose="02040502050505030304"/>
              </a:rPr>
              <a:t> </a:t>
            </a:r>
            <a:r>
              <a:rPr sz="2200" spc="-20" dirty="0">
                <a:solidFill>
                  <a:sysClr val="windowText" lastClr="000000"/>
                </a:solidFill>
                <a:latin typeface="Palatino Linotype" panose="02040502050505030304"/>
                <a:cs typeface="Palatino Linotype" panose="02040502050505030304"/>
              </a:rPr>
              <a:t>(the</a:t>
            </a:r>
            <a:endParaRPr sz="2200">
              <a:solidFill>
                <a:sysClr val="windowText" lastClr="000000"/>
              </a:solidFill>
              <a:latin typeface="Palatino Linotype" panose="02040502050505030304"/>
              <a:cs typeface="Palatino Linotype" panose="02040502050505030304"/>
            </a:endParaRPr>
          </a:p>
          <a:p>
            <a:pPr marL="242570">
              <a:spcBef>
                <a:spcPts val="530"/>
              </a:spcBef>
            </a:pPr>
            <a:r>
              <a:rPr sz="2200" i="1" dirty="0">
                <a:solidFill>
                  <a:sysClr val="windowText" lastClr="000000"/>
                </a:solidFill>
                <a:latin typeface="Palatino Linotype" panose="02040502050505030304"/>
                <a:cs typeface="Palatino Linotype" panose="02040502050505030304"/>
              </a:rPr>
              <a:t>instruction</a:t>
            </a:r>
            <a:r>
              <a:rPr sz="2200" i="1" spc="-8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array</a:t>
            </a:r>
            <a:r>
              <a:rPr sz="2200" spc="-95" dirty="0">
                <a:solidFill>
                  <a:sysClr val="windowText" lastClr="000000"/>
                </a:solidFill>
                <a:latin typeface="Palatino Linotype" panose="02040502050505030304"/>
                <a:cs typeface="Palatino Linotype" panose="02040502050505030304"/>
              </a:rPr>
              <a:t> </a:t>
            </a:r>
            <a:r>
              <a:rPr sz="2200" spc="-10" dirty="0">
                <a:solidFill>
                  <a:sysClr val="windowText" lastClr="000000"/>
                </a:solidFill>
                <a:latin typeface="Palatino Linotype" panose="02040502050505030304"/>
                <a:cs typeface="Palatino Linotype" panose="02040502050505030304"/>
              </a:rPr>
              <a:t>below)</a:t>
            </a:r>
            <a:endParaRPr sz="2200">
              <a:solidFill>
                <a:sysClr val="windowText" lastClr="000000"/>
              </a:solidFill>
              <a:latin typeface="Palatino Linotype" panose="02040502050505030304"/>
              <a:cs typeface="Palatino Linotype" panose="02040502050505030304"/>
            </a:endParaRPr>
          </a:p>
          <a:p>
            <a:pPr>
              <a:spcBef>
                <a:spcPts val="1055"/>
              </a:spcBef>
            </a:pPr>
            <a:endParaRPr sz="2200">
              <a:solidFill>
                <a:sysClr val="windowText" lastClr="000000"/>
              </a:solidFill>
              <a:latin typeface="Palatino Linotype" panose="02040502050505030304"/>
              <a:cs typeface="Palatino Linotype" panose="02040502050505030304"/>
            </a:endParaRPr>
          </a:p>
          <a:p>
            <a:pPr marR="1101090" algn="ctr"/>
            <a:r>
              <a:rPr dirty="0">
                <a:solidFill>
                  <a:srgbClr val="FF0000"/>
                </a:solidFill>
                <a:latin typeface="Palatino Linotype" panose="02040502050505030304"/>
                <a:cs typeface="Palatino Linotype" panose="02040502050505030304"/>
              </a:rPr>
              <a:t>Points</a:t>
            </a:r>
            <a:r>
              <a:rPr spc="-110" dirty="0">
                <a:solidFill>
                  <a:srgbClr val="FF0000"/>
                </a:solidFill>
                <a:latin typeface="Palatino Linotype" panose="02040502050505030304"/>
                <a:cs typeface="Palatino Linotype" panose="02040502050505030304"/>
              </a:rPr>
              <a:t> </a:t>
            </a:r>
            <a:r>
              <a:rPr spc="-25" dirty="0">
                <a:solidFill>
                  <a:srgbClr val="FF0000"/>
                </a:solidFill>
                <a:latin typeface="Palatino Linotype" panose="02040502050505030304"/>
                <a:cs typeface="Palatino Linotype" panose="02040502050505030304"/>
              </a:rPr>
              <a:t>to</a:t>
            </a:r>
            <a:endParaRPr>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23</a:t>
            </a:fld>
            <a:endParaRPr lang="en-US"/>
          </a:p>
        </p:txBody>
      </p:sp>
      <p:sp>
        <p:nvSpPr>
          <p:cNvPr id="16"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Indirect</a:t>
            </a:r>
            <a:r>
              <a:rPr kumimoji="0" lang="en-US" sz="4000" b="1" i="0" u="none" strike="noStrike" kern="0" cap="none" spc="-15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30" normalizeH="0" baseline="0" noProof="0">
                <a:ln>
                  <a:noFill/>
                </a:ln>
                <a:solidFill>
                  <a:srgbClr val="000000"/>
                </a:solidFill>
                <a:effectLst/>
                <a:uLnTx/>
                <a:uFillTx/>
                <a:latin typeface="Palatino Linotype" panose="02040502050505030304"/>
                <a:ea typeface="+mj-ea"/>
              </a:rPr>
              <a:t>Triples</a:t>
            </a:r>
            <a:r>
              <a:rPr kumimoji="0" lang="en-US" sz="4000" b="1" i="0" u="none" strike="noStrike" kern="0" cap="none" spc="-90" normalizeH="0" baseline="0" noProof="0">
                <a:ln>
                  <a:noFill/>
                </a:ln>
                <a:solidFill>
                  <a:srgbClr val="000000"/>
                </a:solidFill>
                <a:effectLst/>
                <a:uLnTx/>
                <a:uFillTx/>
                <a:latin typeface="Palatino Linotype" panose="02040502050505030304"/>
                <a:ea typeface="+mj-ea"/>
              </a:rPr>
              <a:t> (</a:t>
            </a:r>
            <a:r>
              <a:rPr kumimoji="0" lang="zh-CN" altLang="en-US" sz="4000" b="0" i="0" u="none" strike="noStrike" kern="0" cap="none" spc="-35"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rPr>
              <a:t>间接三元式</a:t>
            </a:r>
            <a:r>
              <a:rPr kumimoji="0" lang="en-US" altLang="zh-CN" sz="4000" b="1" i="0" u="none" strike="noStrike" kern="0" cap="none" spc="-50" normalizeH="0" baseline="0" noProof="0">
                <a:ln>
                  <a:noFill/>
                </a:ln>
                <a:solidFill>
                  <a:srgbClr val="000000"/>
                </a:solidFill>
                <a:effectLst/>
                <a:uLnTx/>
                <a:uFillTx/>
                <a:latin typeface="Palatino Linotype" panose="02040502050505030304"/>
                <a:ea typeface="宋体" panose="02010600030101010101" pitchFamily="2" charset="-122"/>
              </a:rPr>
              <a:t>)</a:t>
            </a:r>
            <a:endParaRPr kumimoji="0" lang="en-US" altLang="zh-CN" sz="4000" b="1" i="0" u="none" strike="noStrike" kern="0" cap="none" spc="-50" normalizeH="0" baseline="0" noProof="0" dirty="0">
              <a:ln>
                <a:noFill/>
              </a:ln>
              <a:solidFill>
                <a:srgbClr val="000000"/>
              </a:solidFill>
              <a:effectLst/>
              <a:uLnTx/>
              <a:uFillTx/>
              <a:latin typeface="Palatino Linotype" panose="02040502050505030304"/>
              <a:ea typeface="宋体" panose="02010600030101010101" pitchFamily="2" charset="-122"/>
            </a:endParaRPr>
          </a:p>
        </p:txBody>
      </p:sp>
      <p:sp>
        <p:nvSpPr>
          <p:cNvPr id="17" name="object 3"/>
          <p:cNvSpPr txBox="1"/>
          <p:nvPr/>
        </p:nvSpPr>
        <p:spPr>
          <a:xfrm>
            <a:off x="707542" y="1677441"/>
            <a:ext cx="7548245" cy="830580"/>
          </a:xfrm>
          <a:prstGeom prst="rect">
            <a:avLst/>
          </a:prstGeom>
        </p:spPr>
        <p:txBody>
          <a:bodyPr vert="horz" wrap="square" lIns="0" tIns="79375" rIns="0" bIns="0" rtlCol="0">
            <a:spAutoFit/>
          </a:bodyPr>
          <a:lstStyle/>
          <a:p>
            <a:pPr marL="242570" indent="-229870">
              <a:spcBef>
                <a:spcPts val="625"/>
              </a:spcBef>
              <a:buFont typeface="Arial MT"/>
              <a:buChar char="•"/>
              <a:tabLst>
                <a:tab pos="242570" algn="l"/>
              </a:tabLst>
            </a:pPr>
            <a:r>
              <a:rPr sz="2200" dirty="0">
                <a:solidFill>
                  <a:sysClr val="windowText" lastClr="000000"/>
                </a:solidFill>
                <a:latin typeface="Palatino Linotype" panose="02040502050505030304"/>
                <a:cs typeface="Palatino Linotype" panose="02040502050505030304"/>
              </a:rPr>
              <a:t>An</a:t>
            </a:r>
            <a:r>
              <a:rPr sz="2200" spc="-5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optimization</a:t>
            </a:r>
            <a:r>
              <a:rPr sz="2200" spc="-7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can</a:t>
            </a:r>
            <a:r>
              <a:rPr sz="2200" spc="-4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move</a:t>
            </a:r>
            <a:r>
              <a:rPr sz="2200" spc="-5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an</a:t>
            </a:r>
            <a:r>
              <a:rPr sz="2200" spc="-5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instruction</a:t>
            </a:r>
            <a:r>
              <a:rPr sz="2200" spc="-5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by</a:t>
            </a:r>
            <a:r>
              <a:rPr sz="2200" spc="-5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reordering</a:t>
            </a:r>
            <a:r>
              <a:rPr sz="2200" spc="-30" dirty="0">
                <a:solidFill>
                  <a:sysClr val="windowText" lastClr="000000"/>
                </a:solidFill>
                <a:latin typeface="Palatino Linotype" panose="02040502050505030304"/>
                <a:cs typeface="Palatino Linotype" panose="02040502050505030304"/>
              </a:rPr>
              <a:t> </a:t>
            </a:r>
            <a:r>
              <a:rPr sz="2200" spc="-25" dirty="0">
                <a:solidFill>
                  <a:sysClr val="windowText" lastClr="000000"/>
                </a:solidFill>
                <a:latin typeface="Palatino Linotype" panose="02040502050505030304"/>
                <a:cs typeface="Palatino Linotype" panose="02040502050505030304"/>
              </a:rPr>
              <a:t>the</a:t>
            </a:r>
            <a:endParaRPr sz="2200">
              <a:solidFill>
                <a:sysClr val="windowText" lastClr="000000"/>
              </a:solidFill>
              <a:latin typeface="Palatino Linotype" panose="02040502050505030304"/>
              <a:cs typeface="Palatino Linotype" panose="02040502050505030304"/>
            </a:endParaRPr>
          </a:p>
          <a:p>
            <a:pPr marL="242570">
              <a:spcBef>
                <a:spcPts val="530"/>
              </a:spcBef>
            </a:pPr>
            <a:r>
              <a:rPr sz="2200" i="1" dirty="0">
                <a:solidFill>
                  <a:sysClr val="windowText" lastClr="000000"/>
                </a:solidFill>
                <a:latin typeface="Palatino Linotype" panose="02040502050505030304"/>
                <a:cs typeface="Palatino Linotype" panose="02040502050505030304"/>
              </a:rPr>
              <a:t>instruction</a:t>
            </a:r>
            <a:r>
              <a:rPr sz="2200" i="1" spc="-4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list</a:t>
            </a:r>
            <a:r>
              <a:rPr sz="2200" spc="-6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(without</a:t>
            </a:r>
            <a:r>
              <a:rPr sz="2200" spc="-8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modifying</a:t>
            </a:r>
            <a:r>
              <a:rPr sz="2200" spc="-7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the</a:t>
            </a:r>
            <a:r>
              <a:rPr sz="2200" spc="-80" dirty="0">
                <a:solidFill>
                  <a:sysClr val="windowText" lastClr="000000"/>
                </a:solidFill>
                <a:latin typeface="Palatino Linotype" panose="02040502050505030304"/>
                <a:cs typeface="Palatino Linotype" panose="02040502050505030304"/>
              </a:rPr>
              <a:t> </a:t>
            </a:r>
            <a:r>
              <a:rPr sz="2200" spc="-10" dirty="0">
                <a:solidFill>
                  <a:sysClr val="windowText" lastClr="000000"/>
                </a:solidFill>
                <a:latin typeface="Palatino Linotype" panose="02040502050505030304"/>
                <a:cs typeface="Palatino Linotype" panose="02040502050505030304"/>
              </a:rPr>
              <a:t>triples)</a:t>
            </a:r>
            <a:endParaRPr sz="2200">
              <a:solidFill>
                <a:sysClr val="windowText" lastClr="000000"/>
              </a:solidFill>
              <a:latin typeface="Palatino Linotype" panose="02040502050505030304"/>
              <a:cs typeface="Palatino Linotype" panose="02040502050505030304"/>
            </a:endParaRPr>
          </a:p>
        </p:txBody>
      </p:sp>
      <p:grpSp>
        <p:nvGrpSpPr>
          <p:cNvPr id="18" name="object 4"/>
          <p:cNvGrpSpPr/>
          <p:nvPr/>
        </p:nvGrpSpPr>
        <p:grpSpPr>
          <a:xfrm>
            <a:off x="1316186" y="2965313"/>
            <a:ext cx="5589270" cy="2457450"/>
            <a:chOff x="1316186" y="2965313"/>
            <a:chExt cx="5589270" cy="2457450"/>
          </a:xfrm>
        </p:grpSpPr>
        <p:pic>
          <p:nvPicPr>
            <p:cNvPr id="19" name="object 5"/>
            <p:cNvPicPr/>
            <p:nvPr/>
          </p:nvPicPr>
          <p:blipFill>
            <a:blip r:embed="rId3" cstate="print"/>
            <a:stretch>
              <a:fillRect/>
            </a:stretch>
          </p:blipFill>
          <p:spPr>
            <a:xfrm>
              <a:off x="1316186" y="2965313"/>
              <a:ext cx="1214250" cy="2456924"/>
            </a:xfrm>
            <a:prstGeom prst="rect">
              <a:avLst/>
            </a:prstGeom>
          </p:spPr>
        </p:pic>
        <p:pic>
          <p:nvPicPr>
            <p:cNvPr id="20" name="object 6"/>
            <p:cNvPicPr/>
            <p:nvPr/>
          </p:nvPicPr>
          <p:blipFill>
            <a:blip r:embed="rId4" cstate="print"/>
            <a:stretch>
              <a:fillRect/>
            </a:stretch>
          </p:blipFill>
          <p:spPr>
            <a:xfrm>
              <a:off x="4815029" y="3002728"/>
              <a:ext cx="2089979" cy="2413273"/>
            </a:xfrm>
            <a:prstGeom prst="rect">
              <a:avLst/>
            </a:prstGeom>
          </p:spPr>
        </p:pic>
        <p:sp>
          <p:nvSpPr>
            <p:cNvPr id="21" name="object 7"/>
            <p:cNvSpPr/>
            <p:nvPr/>
          </p:nvSpPr>
          <p:spPr>
            <a:xfrm>
              <a:off x="2151126" y="3317874"/>
              <a:ext cx="2632710" cy="1671955"/>
            </a:xfrm>
            <a:custGeom>
              <a:avLst/>
              <a:gdLst/>
              <a:ahLst/>
              <a:cxnLst/>
              <a:rect l="l" t="t" r="r" b="b"/>
              <a:pathLst>
                <a:path w="2632710" h="1671954">
                  <a:moveTo>
                    <a:pt x="2632316" y="1031633"/>
                  </a:moveTo>
                  <a:lnTo>
                    <a:pt x="2621432" y="1025271"/>
                  </a:lnTo>
                  <a:lnTo>
                    <a:pt x="2543683" y="979932"/>
                  </a:lnTo>
                  <a:lnTo>
                    <a:pt x="2539746" y="980948"/>
                  </a:lnTo>
                  <a:lnTo>
                    <a:pt x="2538095" y="983996"/>
                  </a:lnTo>
                  <a:lnTo>
                    <a:pt x="2536317" y="987044"/>
                  </a:lnTo>
                  <a:lnTo>
                    <a:pt x="2537333" y="990854"/>
                  </a:lnTo>
                  <a:lnTo>
                    <a:pt x="2596299" y="1025271"/>
                  </a:lnTo>
                  <a:lnTo>
                    <a:pt x="762" y="1025271"/>
                  </a:lnTo>
                  <a:lnTo>
                    <a:pt x="762" y="1037971"/>
                  </a:lnTo>
                  <a:lnTo>
                    <a:pt x="2596324" y="1037971"/>
                  </a:lnTo>
                  <a:lnTo>
                    <a:pt x="2607208" y="1031633"/>
                  </a:lnTo>
                  <a:lnTo>
                    <a:pt x="2537333" y="1072388"/>
                  </a:lnTo>
                  <a:lnTo>
                    <a:pt x="2536317" y="1076198"/>
                  </a:lnTo>
                  <a:lnTo>
                    <a:pt x="2538095" y="1079246"/>
                  </a:lnTo>
                  <a:lnTo>
                    <a:pt x="2539746" y="1082294"/>
                  </a:lnTo>
                  <a:lnTo>
                    <a:pt x="2543683" y="1083310"/>
                  </a:lnTo>
                  <a:lnTo>
                    <a:pt x="2621432" y="1037971"/>
                  </a:lnTo>
                  <a:lnTo>
                    <a:pt x="2632316" y="1031633"/>
                  </a:lnTo>
                  <a:close/>
                </a:path>
                <a:path w="2632710" h="1671954">
                  <a:moveTo>
                    <a:pt x="2632329" y="1619885"/>
                  </a:moveTo>
                  <a:lnTo>
                    <a:pt x="2621432" y="1613535"/>
                  </a:lnTo>
                  <a:lnTo>
                    <a:pt x="2543683" y="1568196"/>
                  </a:lnTo>
                  <a:lnTo>
                    <a:pt x="2539746" y="1569212"/>
                  </a:lnTo>
                  <a:lnTo>
                    <a:pt x="2538095" y="1572260"/>
                  </a:lnTo>
                  <a:lnTo>
                    <a:pt x="2536317" y="1575308"/>
                  </a:lnTo>
                  <a:lnTo>
                    <a:pt x="2537333" y="1579118"/>
                  </a:lnTo>
                  <a:lnTo>
                    <a:pt x="2596311" y="1613535"/>
                  </a:lnTo>
                  <a:lnTo>
                    <a:pt x="762" y="1613535"/>
                  </a:lnTo>
                  <a:lnTo>
                    <a:pt x="762" y="1626235"/>
                  </a:lnTo>
                  <a:lnTo>
                    <a:pt x="2596311" y="1626235"/>
                  </a:lnTo>
                  <a:lnTo>
                    <a:pt x="2537333" y="1660652"/>
                  </a:lnTo>
                  <a:lnTo>
                    <a:pt x="2536317" y="1664462"/>
                  </a:lnTo>
                  <a:lnTo>
                    <a:pt x="2538095" y="1667510"/>
                  </a:lnTo>
                  <a:lnTo>
                    <a:pt x="2539746" y="1670558"/>
                  </a:lnTo>
                  <a:lnTo>
                    <a:pt x="2543683" y="1671574"/>
                  </a:lnTo>
                  <a:lnTo>
                    <a:pt x="2621432" y="1626235"/>
                  </a:lnTo>
                  <a:lnTo>
                    <a:pt x="2632329" y="1619885"/>
                  </a:lnTo>
                  <a:close/>
                </a:path>
                <a:path w="2632710" h="1671954">
                  <a:moveTo>
                    <a:pt x="2632329" y="1319657"/>
                  </a:moveTo>
                  <a:lnTo>
                    <a:pt x="2621432" y="1313307"/>
                  </a:lnTo>
                  <a:lnTo>
                    <a:pt x="2543683" y="1267968"/>
                  </a:lnTo>
                  <a:lnTo>
                    <a:pt x="2539746" y="1268984"/>
                  </a:lnTo>
                  <a:lnTo>
                    <a:pt x="2538095" y="1272032"/>
                  </a:lnTo>
                  <a:lnTo>
                    <a:pt x="2536317" y="1275080"/>
                  </a:lnTo>
                  <a:lnTo>
                    <a:pt x="2537333" y="1278890"/>
                  </a:lnTo>
                  <a:lnTo>
                    <a:pt x="2596311" y="1313307"/>
                  </a:lnTo>
                  <a:lnTo>
                    <a:pt x="762" y="1313307"/>
                  </a:lnTo>
                  <a:lnTo>
                    <a:pt x="762" y="1326007"/>
                  </a:lnTo>
                  <a:lnTo>
                    <a:pt x="2596311" y="1326007"/>
                  </a:lnTo>
                  <a:lnTo>
                    <a:pt x="2537333" y="1360424"/>
                  </a:lnTo>
                  <a:lnTo>
                    <a:pt x="2536317" y="1364234"/>
                  </a:lnTo>
                  <a:lnTo>
                    <a:pt x="2538095" y="1367282"/>
                  </a:lnTo>
                  <a:lnTo>
                    <a:pt x="2539746" y="1370330"/>
                  </a:lnTo>
                  <a:lnTo>
                    <a:pt x="2543683" y="1371346"/>
                  </a:lnTo>
                  <a:lnTo>
                    <a:pt x="2621432" y="1326007"/>
                  </a:lnTo>
                  <a:lnTo>
                    <a:pt x="2632329" y="1319657"/>
                  </a:lnTo>
                  <a:close/>
                </a:path>
                <a:path w="2632710" h="1671954">
                  <a:moveTo>
                    <a:pt x="2632329" y="379349"/>
                  </a:moveTo>
                  <a:lnTo>
                    <a:pt x="2621216" y="374523"/>
                  </a:lnTo>
                  <a:lnTo>
                    <a:pt x="2538222" y="338455"/>
                  </a:lnTo>
                  <a:lnTo>
                    <a:pt x="2534412" y="339979"/>
                  </a:lnTo>
                  <a:lnTo>
                    <a:pt x="2533015" y="343154"/>
                  </a:lnTo>
                  <a:lnTo>
                    <a:pt x="2531618" y="346456"/>
                  </a:lnTo>
                  <a:lnTo>
                    <a:pt x="2533142" y="350139"/>
                  </a:lnTo>
                  <a:lnTo>
                    <a:pt x="2595689" y="377329"/>
                  </a:lnTo>
                  <a:lnTo>
                    <a:pt x="1316710" y="530021"/>
                  </a:lnTo>
                  <a:lnTo>
                    <a:pt x="1524" y="372999"/>
                  </a:lnTo>
                  <a:lnTo>
                    <a:pt x="0" y="385699"/>
                  </a:lnTo>
                  <a:lnTo>
                    <a:pt x="1262761" y="536460"/>
                  </a:lnTo>
                  <a:lnTo>
                    <a:pt x="0" y="687197"/>
                  </a:lnTo>
                  <a:lnTo>
                    <a:pt x="1524" y="699770"/>
                  </a:lnTo>
                  <a:lnTo>
                    <a:pt x="1316164" y="542836"/>
                  </a:lnTo>
                  <a:lnTo>
                    <a:pt x="2595689" y="695579"/>
                  </a:lnTo>
                  <a:lnTo>
                    <a:pt x="2533142" y="722757"/>
                  </a:lnTo>
                  <a:lnTo>
                    <a:pt x="2531618" y="726440"/>
                  </a:lnTo>
                  <a:lnTo>
                    <a:pt x="2533015" y="729615"/>
                  </a:lnTo>
                  <a:lnTo>
                    <a:pt x="2534412" y="732917"/>
                  </a:lnTo>
                  <a:lnTo>
                    <a:pt x="2538222" y="734314"/>
                  </a:lnTo>
                  <a:lnTo>
                    <a:pt x="2621178" y="698373"/>
                  </a:lnTo>
                  <a:lnTo>
                    <a:pt x="2632329" y="693547"/>
                  </a:lnTo>
                  <a:lnTo>
                    <a:pt x="2553208" y="633857"/>
                  </a:lnTo>
                  <a:lnTo>
                    <a:pt x="2550414" y="631698"/>
                  </a:lnTo>
                  <a:lnTo>
                    <a:pt x="2546477" y="632206"/>
                  </a:lnTo>
                  <a:lnTo>
                    <a:pt x="2544318" y="635000"/>
                  </a:lnTo>
                  <a:lnTo>
                    <a:pt x="2542286" y="637794"/>
                  </a:lnTo>
                  <a:lnTo>
                    <a:pt x="2542794" y="641858"/>
                  </a:lnTo>
                  <a:lnTo>
                    <a:pt x="2545588" y="643890"/>
                  </a:lnTo>
                  <a:lnTo>
                    <a:pt x="2597112" y="682866"/>
                  </a:lnTo>
                  <a:lnTo>
                    <a:pt x="1370114" y="536397"/>
                  </a:lnTo>
                  <a:lnTo>
                    <a:pt x="2597264" y="389890"/>
                  </a:lnTo>
                  <a:lnTo>
                    <a:pt x="2545588" y="428879"/>
                  </a:lnTo>
                  <a:lnTo>
                    <a:pt x="2542794" y="431038"/>
                  </a:lnTo>
                  <a:lnTo>
                    <a:pt x="2542286" y="434975"/>
                  </a:lnTo>
                  <a:lnTo>
                    <a:pt x="2544318" y="437896"/>
                  </a:lnTo>
                  <a:lnTo>
                    <a:pt x="2546477" y="440690"/>
                  </a:lnTo>
                  <a:lnTo>
                    <a:pt x="2550414" y="441198"/>
                  </a:lnTo>
                  <a:lnTo>
                    <a:pt x="2553208" y="439039"/>
                  </a:lnTo>
                  <a:lnTo>
                    <a:pt x="2632329" y="379349"/>
                  </a:lnTo>
                  <a:close/>
                </a:path>
                <a:path w="2632710" h="1671954">
                  <a:moveTo>
                    <a:pt x="2632329" y="51689"/>
                  </a:moveTo>
                  <a:lnTo>
                    <a:pt x="2621432" y="45339"/>
                  </a:lnTo>
                  <a:lnTo>
                    <a:pt x="2543683" y="0"/>
                  </a:lnTo>
                  <a:lnTo>
                    <a:pt x="2539746" y="1016"/>
                  </a:lnTo>
                  <a:lnTo>
                    <a:pt x="2538095" y="4064"/>
                  </a:lnTo>
                  <a:lnTo>
                    <a:pt x="2536317" y="7112"/>
                  </a:lnTo>
                  <a:lnTo>
                    <a:pt x="2537333" y="10922"/>
                  </a:lnTo>
                  <a:lnTo>
                    <a:pt x="2596311" y="45339"/>
                  </a:lnTo>
                  <a:lnTo>
                    <a:pt x="762" y="45339"/>
                  </a:lnTo>
                  <a:lnTo>
                    <a:pt x="762" y="58039"/>
                  </a:lnTo>
                  <a:lnTo>
                    <a:pt x="2596311" y="58039"/>
                  </a:lnTo>
                  <a:lnTo>
                    <a:pt x="2537333" y="92456"/>
                  </a:lnTo>
                  <a:lnTo>
                    <a:pt x="2536317" y="96266"/>
                  </a:lnTo>
                  <a:lnTo>
                    <a:pt x="2538095" y="99314"/>
                  </a:lnTo>
                  <a:lnTo>
                    <a:pt x="2539746" y="102362"/>
                  </a:lnTo>
                  <a:lnTo>
                    <a:pt x="2543683" y="103378"/>
                  </a:lnTo>
                  <a:lnTo>
                    <a:pt x="2621432" y="58039"/>
                  </a:lnTo>
                  <a:lnTo>
                    <a:pt x="2632329" y="51689"/>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pic>
          <p:nvPicPr>
            <p:cNvPr id="22" name="object 8"/>
            <p:cNvPicPr/>
            <p:nvPr/>
          </p:nvPicPr>
          <p:blipFill>
            <a:blip r:embed="rId5" cstate="print"/>
            <a:stretch>
              <a:fillRect/>
            </a:stretch>
          </p:blipFill>
          <p:spPr>
            <a:xfrm>
              <a:off x="1761744" y="3877056"/>
              <a:ext cx="353568" cy="263651"/>
            </a:xfrm>
            <a:prstGeom prst="rect">
              <a:avLst/>
            </a:prstGeom>
          </p:spPr>
        </p:pic>
        <p:pic>
          <p:nvPicPr>
            <p:cNvPr id="23" name="object 9"/>
            <p:cNvPicPr/>
            <p:nvPr/>
          </p:nvPicPr>
          <p:blipFill>
            <a:blip r:embed="rId6" cstate="print"/>
            <a:stretch>
              <a:fillRect/>
            </a:stretch>
          </p:blipFill>
          <p:spPr>
            <a:xfrm>
              <a:off x="1752600" y="3567684"/>
              <a:ext cx="371856" cy="268223"/>
            </a:xfrm>
            <a:prstGeom prst="rect">
              <a:avLst/>
            </a:prstGeom>
          </p:spPr>
        </p:pic>
        <p:sp>
          <p:nvSpPr>
            <p:cNvPr id="24" name="object 10"/>
            <p:cNvSpPr/>
            <p:nvPr/>
          </p:nvSpPr>
          <p:spPr>
            <a:xfrm>
              <a:off x="5657850" y="4155186"/>
              <a:ext cx="1187450" cy="608330"/>
            </a:xfrm>
            <a:custGeom>
              <a:avLst/>
              <a:gdLst/>
              <a:ahLst/>
              <a:cxnLst/>
              <a:rect l="l" t="t" r="r" b="b"/>
              <a:pathLst>
                <a:path w="1187450" h="608329">
                  <a:moveTo>
                    <a:pt x="0" y="608076"/>
                  </a:moveTo>
                  <a:lnTo>
                    <a:pt x="553212" y="608076"/>
                  </a:lnTo>
                  <a:lnTo>
                    <a:pt x="553212" y="313944"/>
                  </a:lnTo>
                  <a:lnTo>
                    <a:pt x="0" y="313944"/>
                  </a:lnTo>
                  <a:lnTo>
                    <a:pt x="0" y="608076"/>
                  </a:lnTo>
                  <a:close/>
                </a:path>
                <a:path w="1187450" h="608329">
                  <a:moveTo>
                    <a:pt x="633984" y="294131"/>
                  </a:moveTo>
                  <a:lnTo>
                    <a:pt x="1187196" y="294131"/>
                  </a:lnTo>
                  <a:lnTo>
                    <a:pt x="1187196" y="0"/>
                  </a:lnTo>
                  <a:lnTo>
                    <a:pt x="633984" y="0"/>
                  </a:lnTo>
                  <a:lnTo>
                    <a:pt x="633984" y="294131"/>
                  </a:lnTo>
                  <a:close/>
                </a:path>
              </a:pathLst>
            </a:custGeom>
            <a:ln w="28575">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
        <p:nvSpPr>
          <p:cNvPr id="25" name="object 11"/>
          <p:cNvSpPr txBox="1"/>
          <p:nvPr/>
        </p:nvSpPr>
        <p:spPr>
          <a:xfrm>
            <a:off x="1474977" y="5579770"/>
            <a:ext cx="916305" cy="299720"/>
          </a:xfrm>
          <a:prstGeom prst="rect">
            <a:avLst/>
          </a:prstGeom>
        </p:spPr>
        <p:txBody>
          <a:bodyPr vert="horz" wrap="square" lIns="0" tIns="12700" rIns="0" bIns="0" rtlCol="0">
            <a:spAutoFit/>
          </a:bodyPr>
          <a:lstStyle/>
          <a:p>
            <a:pPr marL="12700">
              <a:spcBef>
                <a:spcPts val="100"/>
              </a:spcBef>
            </a:pPr>
            <a:r>
              <a:rPr spc="-10" dirty="0">
                <a:solidFill>
                  <a:srgbClr val="FF0000"/>
                </a:solidFill>
                <a:latin typeface="Palatino Linotype" panose="02040502050505030304"/>
                <a:cs typeface="Palatino Linotype" panose="02040502050505030304"/>
              </a:rPr>
              <a:t>Pointers!</a:t>
            </a:r>
            <a:endParaRPr>
              <a:solidFill>
                <a:sysClr val="windowText" lastClr="000000"/>
              </a:solidFill>
              <a:latin typeface="Palatino Linotype" panose="02040502050505030304"/>
              <a:cs typeface="Palatino Linotype" panose="02040502050505030304"/>
            </a:endParaRPr>
          </a:p>
        </p:txBody>
      </p:sp>
      <p:sp>
        <p:nvSpPr>
          <p:cNvPr id="26" name="object 12"/>
          <p:cNvSpPr txBox="1"/>
          <p:nvPr/>
        </p:nvSpPr>
        <p:spPr>
          <a:xfrm>
            <a:off x="3887089" y="5564225"/>
            <a:ext cx="3943985" cy="513080"/>
          </a:xfrm>
          <a:prstGeom prst="rect">
            <a:avLst/>
          </a:prstGeom>
        </p:spPr>
        <p:txBody>
          <a:bodyPr vert="horz" wrap="square" lIns="0" tIns="12065" rIns="0" bIns="0" rtlCol="0">
            <a:spAutoFit/>
          </a:bodyPr>
          <a:lstStyle/>
          <a:p>
            <a:pPr marL="38100" marR="30480">
              <a:spcBef>
                <a:spcPts val="95"/>
              </a:spcBef>
            </a:pPr>
            <a:r>
              <a:rPr sz="1600" dirty="0">
                <a:solidFill>
                  <a:srgbClr val="FF0000"/>
                </a:solidFill>
                <a:latin typeface="Palatino Linotype" panose="02040502050505030304"/>
                <a:cs typeface="Palatino Linotype" panose="02040502050505030304"/>
              </a:rPr>
              <a:t>After</a:t>
            </a:r>
            <a:r>
              <a:rPr sz="1600" spc="10" dirty="0">
                <a:solidFill>
                  <a:srgbClr val="FF0000"/>
                </a:solidFill>
                <a:latin typeface="Palatino Linotype" panose="02040502050505030304"/>
                <a:cs typeface="Palatino Linotype" panose="02040502050505030304"/>
              </a:rPr>
              <a:t> </a:t>
            </a:r>
            <a:r>
              <a:rPr sz="1600" spc="-10" dirty="0">
                <a:solidFill>
                  <a:srgbClr val="FF0000"/>
                </a:solidFill>
                <a:latin typeface="Palatino Linotype" panose="02040502050505030304"/>
                <a:cs typeface="Palatino Linotype" panose="02040502050505030304"/>
              </a:rPr>
              <a:t>swapping,</a:t>
            </a:r>
            <a:r>
              <a:rPr sz="1600" spc="-5"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the</a:t>
            </a:r>
            <a:r>
              <a:rPr sz="1600" spc="-5"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1</a:t>
            </a:r>
            <a:r>
              <a:rPr sz="1575" baseline="26000" dirty="0">
                <a:solidFill>
                  <a:srgbClr val="FF0000"/>
                </a:solidFill>
                <a:latin typeface="Palatino Linotype" panose="02040502050505030304"/>
                <a:cs typeface="Palatino Linotype" panose="02040502050505030304"/>
              </a:rPr>
              <a:t>st</a:t>
            </a:r>
            <a:r>
              <a:rPr sz="1575" spc="165" baseline="26000"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and</a:t>
            </a:r>
            <a:r>
              <a:rPr sz="1600" spc="-20"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2</a:t>
            </a:r>
            <a:r>
              <a:rPr sz="1575" baseline="26000" dirty="0">
                <a:solidFill>
                  <a:srgbClr val="FF0000"/>
                </a:solidFill>
                <a:latin typeface="Palatino Linotype" panose="02040502050505030304"/>
                <a:cs typeface="Palatino Linotype" panose="02040502050505030304"/>
              </a:rPr>
              <a:t>nd</a:t>
            </a:r>
            <a:r>
              <a:rPr sz="1575" spc="157" baseline="26000" dirty="0">
                <a:solidFill>
                  <a:srgbClr val="FF0000"/>
                </a:solidFill>
                <a:latin typeface="Palatino Linotype" panose="02040502050505030304"/>
                <a:cs typeface="Palatino Linotype" panose="02040502050505030304"/>
              </a:rPr>
              <a:t> </a:t>
            </a:r>
            <a:r>
              <a:rPr sz="1600" spc="-10" dirty="0">
                <a:solidFill>
                  <a:srgbClr val="FF0000"/>
                </a:solidFill>
                <a:latin typeface="Palatino Linotype" panose="02040502050505030304"/>
                <a:cs typeface="Palatino Linotype" panose="02040502050505030304"/>
              </a:rPr>
              <a:t>instructions </a:t>
            </a:r>
            <a:r>
              <a:rPr sz="1600" dirty="0">
                <a:solidFill>
                  <a:srgbClr val="FF0000"/>
                </a:solidFill>
                <a:latin typeface="Palatino Linotype" panose="02040502050505030304"/>
                <a:cs typeface="Palatino Linotype" panose="02040502050505030304"/>
              </a:rPr>
              <a:t>in</a:t>
            </a:r>
            <a:r>
              <a:rPr sz="1600" spc="-25"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the</a:t>
            </a:r>
            <a:r>
              <a:rPr sz="1600" spc="-5"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list</a:t>
            </a:r>
            <a:r>
              <a:rPr sz="1600" spc="-40"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still</a:t>
            </a:r>
            <a:r>
              <a:rPr sz="1600" spc="-25"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point</a:t>
            </a:r>
            <a:r>
              <a:rPr sz="1600" spc="-15"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to</a:t>
            </a:r>
            <a:r>
              <a:rPr sz="1600" spc="-20"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the</a:t>
            </a:r>
            <a:r>
              <a:rPr sz="1600" spc="-5"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right</a:t>
            </a:r>
            <a:r>
              <a:rPr sz="1600" spc="-15" dirty="0">
                <a:solidFill>
                  <a:srgbClr val="FF0000"/>
                </a:solidFill>
                <a:latin typeface="Palatino Linotype" panose="02040502050505030304"/>
                <a:cs typeface="Palatino Linotype" panose="02040502050505030304"/>
              </a:rPr>
              <a:t> </a:t>
            </a:r>
            <a:r>
              <a:rPr sz="1600" spc="-20" dirty="0">
                <a:solidFill>
                  <a:srgbClr val="FF0000"/>
                </a:solidFill>
                <a:latin typeface="Palatino Linotype" panose="02040502050505030304"/>
                <a:cs typeface="Palatino Linotype" panose="02040502050505030304"/>
              </a:rPr>
              <a:t>ones</a:t>
            </a:r>
            <a:endParaRPr sz="1600">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24</a:t>
            </a:fld>
            <a:endParaRPr lang="en-US"/>
          </a:p>
        </p:txBody>
      </p:sp>
      <p:sp>
        <p:nvSpPr>
          <p:cNvPr id="10" name="object 2"/>
          <p:cNvSpPr txBox="1"/>
          <p:nvPr/>
        </p:nvSpPr>
        <p:spPr>
          <a:xfrm>
            <a:off x="707542" y="530809"/>
            <a:ext cx="7817484" cy="635000"/>
          </a:xfrm>
          <a:prstGeom prst="rect">
            <a:avLst/>
          </a:prstGeom>
        </p:spPr>
        <p:txBody>
          <a:bodyPr vert="horz" wrap="square" lIns="0" tIns="1333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105"/>
              </a:spcBef>
              <a:spcAft>
                <a:spcPts val="0"/>
              </a:spcAft>
              <a:buClrTx/>
              <a:buSzTx/>
              <a:buFontTx/>
              <a:buNone/>
              <a:defRPr/>
            </a:pPr>
            <a:r>
              <a:rPr kumimoji="0" lang="en-US" sz="3800" b="1" i="0" u="none" strike="noStrike" kern="0" cap="none" spc="0" normalizeH="0" baseline="0" noProof="0">
                <a:ln>
                  <a:noFill/>
                </a:ln>
                <a:solidFill>
                  <a:srgbClr val="000000"/>
                </a:solidFill>
                <a:effectLst/>
                <a:uLnTx/>
                <a:uFillTx/>
                <a:latin typeface="Palatino Linotype" panose="02040502050505030304"/>
                <a:ea typeface="+mj-ea"/>
              </a:rPr>
              <a:t>Static</a:t>
            </a:r>
            <a:r>
              <a:rPr kumimoji="0" lang="en-US" sz="3800" b="1" i="0" u="none" strike="noStrike" kern="0" cap="none" spc="-55" normalizeH="0" baseline="0" noProof="0">
                <a:ln>
                  <a:noFill/>
                </a:ln>
                <a:solidFill>
                  <a:srgbClr val="000000"/>
                </a:solidFill>
                <a:effectLst/>
                <a:uLnTx/>
                <a:uFillTx/>
                <a:latin typeface="Palatino Linotype" panose="02040502050505030304"/>
                <a:ea typeface="+mj-ea"/>
              </a:rPr>
              <a:t> </a:t>
            </a:r>
            <a:r>
              <a:rPr kumimoji="0" lang="en-US" sz="3800" b="1" i="0" u="none" strike="noStrike" kern="0" cap="none" spc="0" normalizeH="0" baseline="0" noProof="0">
                <a:ln>
                  <a:noFill/>
                </a:ln>
                <a:solidFill>
                  <a:srgbClr val="000000"/>
                </a:solidFill>
                <a:effectLst/>
                <a:uLnTx/>
                <a:uFillTx/>
                <a:latin typeface="Palatino Linotype" panose="02040502050505030304"/>
                <a:ea typeface="+mj-ea"/>
              </a:rPr>
              <a:t>Single-Assignment</a:t>
            </a:r>
            <a:r>
              <a:rPr kumimoji="0" lang="en-US" sz="3800" b="1" i="0" u="none" strike="noStrike" kern="0" cap="none" spc="-60" normalizeH="0" baseline="0" noProof="0">
                <a:ln>
                  <a:noFill/>
                </a:ln>
                <a:solidFill>
                  <a:srgbClr val="000000"/>
                </a:solidFill>
                <a:effectLst/>
                <a:uLnTx/>
                <a:uFillTx/>
                <a:latin typeface="Palatino Linotype" panose="02040502050505030304"/>
                <a:ea typeface="+mj-ea"/>
              </a:rPr>
              <a:t> </a:t>
            </a:r>
            <a:r>
              <a:rPr kumimoji="0" lang="en-US" sz="3800" b="1" i="0" u="none" strike="noStrike" kern="0" cap="none" spc="0" normalizeH="0" baseline="0" noProof="0">
                <a:ln>
                  <a:noFill/>
                </a:ln>
                <a:solidFill>
                  <a:srgbClr val="000000"/>
                </a:solidFill>
                <a:effectLst/>
                <a:uLnTx/>
                <a:uFillTx/>
                <a:latin typeface="Palatino Linotype" panose="02040502050505030304"/>
                <a:ea typeface="+mj-ea"/>
              </a:rPr>
              <a:t>Form</a:t>
            </a:r>
            <a:r>
              <a:rPr kumimoji="0" lang="en-US" sz="3800" b="1" i="0" u="none" strike="noStrike" kern="0" cap="none" spc="-40" normalizeH="0" baseline="0" noProof="0">
                <a:ln>
                  <a:noFill/>
                </a:ln>
                <a:solidFill>
                  <a:srgbClr val="000000"/>
                </a:solidFill>
                <a:effectLst/>
                <a:uLnTx/>
                <a:uFillTx/>
                <a:latin typeface="Palatino Linotype" panose="02040502050505030304"/>
                <a:ea typeface="+mj-ea"/>
              </a:rPr>
              <a:t> </a:t>
            </a:r>
            <a:r>
              <a:rPr kumimoji="0" lang="en-US" sz="3800" b="1" i="0" u="none" strike="noStrike" kern="0" cap="none" spc="-25" normalizeH="0" baseline="0" noProof="0">
                <a:ln>
                  <a:noFill/>
                </a:ln>
                <a:solidFill>
                  <a:srgbClr val="000000"/>
                </a:solidFill>
                <a:effectLst/>
                <a:uLnTx/>
                <a:uFillTx/>
                <a:latin typeface="Palatino Linotype" panose="02040502050505030304"/>
                <a:ea typeface="+mj-ea"/>
              </a:rPr>
              <a:t>(1)</a:t>
            </a:r>
            <a:endParaRPr kumimoji="0" lang="en-US" sz="3800" b="1" i="0" u="none" strike="noStrike" kern="0" cap="none" spc="0" normalizeH="0" baseline="0" noProof="0">
              <a:ln>
                <a:noFill/>
              </a:ln>
              <a:solidFill>
                <a:srgbClr val="A6A6A6"/>
              </a:solidFill>
              <a:effectLst/>
              <a:uLnTx/>
              <a:uFillTx/>
              <a:latin typeface="Palatino Linotype" panose="02040502050505030304"/>
              <a:ea typeface="+mj-ea"/>
            </a:endParaRPr>
          </a:p>
        </p:txBody>
      </p:sp>
      <p:sp>
        <p:nvSpPr>
          <p:cNvPr id="11" name="object 3"/>
          <p:cNvSpPr txBox="1"/>
          <p:nvPr/>
        </p:nvSpPr>
        <p:spPr>
          <a:xfrm>
            <a:off x="707542" y="1593316"/>
            <a:ext cx="7579359" cy="1351915"/>
          </a:xfrm>
          <a:prstGeom prst="rect">
            <a:avLst/>
          </a:prstGeom>
        </p:spPr>
        <p:txBody>
          <a:bodyPr vert="horz" wrap="square" lIns="0" tIns="12700" rIns="0" bIns="0" rtlCol="0">
            <a:spAutoFit/>
          </a:bodyPr>
          <a:lstStyle/>
          <a:p>
            <a:pPr marL="242570" marR="5080" indent="-230505">
              <a:lnSpc>
                <a:spcPct val="120000"/>
              </a:lnSpc>
              <a:spcBef>
                <a:spcPts val="100"/>
              </a:spcBef>
              <a:buClr>
                <a:srgbClr val="000000"/>
              </a:buClr>
              <a:buFont typeface="Arial MT"/>
              <a:buChar char="•"/>
              <a:tabLst>
                <a:tab pos="242570" algn="l"/>
              </a:tabLst>
            </a:pPr>
            <a:r>
              <a:rPr sz="2000" dirty="0">
                <a:solidFill>
                  <a:srgbClr val="FF0000"/>
                </a:solidFill>
                <a:latin typeface="Palatino Linotype" panose="02040502050505030304"/>
                <a:cs typeface="Palatino Linotype" panose="02040502050505030304"/>
              </a:rPr>
              <a:t>Static</a:t>
            </a:r>
            <a:r>
              <a:rPr sz="2000" spc="-10" dirty="0">
                <a:solidFill>
                  <a:srgbClr val="FF0000"/>
                </a:solidFill>
                <a:latin typeface="Palatino Linotype" panose="02040502050505030304"/>
                <a:cs typeface="Palatino Linotype" panose="02040502050505030304"/>
              </a:rPr>
              <a:t> single-</a:t>
            </a:r>
            <a:r>
              <a:rPr sz="2000" dirty="0">
                <a:solidFill>
                  <a:srgbClr val="FF0000"/>
                </a:solidFill>
                <a:latin typeface="Palatino Linotype" panose="02040502050505030304"/>
                <a:cs typeface="Palatino Linotype" panose="02040502050505030304"/>
              </a:rPr>
              <a:t>assignment</a:t>
            </a:r>
            <a:r>
              <a:rPr sz="2000" spc="-35" dirty="0">
                <a:solidFill>
                  <a:srgbClr val="FF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form</a:t>
            </a:r>
            <a:r>
              <a:rPr sz="2000" spc="-15" dirty="0">
                <a:solidFill>
                  <a:sysClr val="windowText" lastClr="00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SSA,</a:t>
            </a:r>
            <a:r>
              <a:rPr sz="2000" spc="-30" dirty="0">
                <a:solidFill>
                  <a:srgbClr val="FF0000"/>
                </a:solidFill>
                <a:latin typeface="Palatino Linotype" panose="02040502050505030304"/>
                <a:cs typeface="Palatino Linotype" panose="02040502050505030304"/>
              </a:rPr>
              <a:t> </a:t>
            </a:r>
            <a:r>
              <a:rPr sz="2000" dirty="0">
                <a:solidFill>
                  <a:srgbClr val="FF0000"/>
                </a:solidFill>
                <a:latin typeface="宋体" panose="02010600030101010101" pitchFamily="2" charset="-122"/>
                <a:cs typeface="宋体" panose="02010600030101010101" pitchFamily="2" charset="-122"/>
              </a:rPr>
              <a:t>静态单赋值形式</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is</a:t>
            </a:r>
            <a:r>
              <a:rPr sz="2000" spc="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an</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IR</a:t>
            </a:r>
            <a:r>
              <a:rPr sz="2000" spc="-45" dirty="0">
                <a:solidFill>
                  <a:sysClr val="windowText" lastClr="000000"/>
                </a:solidFill>
                <a:latin typeface="Palatino Linotype" panose="02040502050505030304"/>
                <a:cs typeface="Palatino Linotype" panose="02040502050505030304"/>
              </a:rPr>
              <a:t> </a:t>
            </a:r>
            <a:r>
              <a:rPr sz="2000" spc="-20" dirty="0">
                <a:solidFill>
                  <a:sysClr val="windowText" lastClr="000000"/>
                </a:solidFill>
                <a:latin typeface="Palatino Linotype" panose="02040502050505030304"/>
                <a:cs typeface="Palatino Linotype" panose="02040502050505030304"/>
              </a:rPr>
              <a:t>that </a:t>
            </a:r>
            <a:r>
              <a:rPr sz="2000" dirty="0">
                <a:solidFill>
                  <a:sysClr val="windowText" lastClr="000000"/>
                </a:solidFill>
                <a:latin typeface="Palatino Linotype" panose="02040502050505030304"/>
                <a:cs typeface="Palatino Linotype" panose="02040502050505030304"/>
              </a:rPr>
              <a:t>facilitates</a:t>
            </a:r>
            <a:r>
              <a:rPr sz="2000" spc="-4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certain</a:t>
            </a:r>
            <a:r>
              <a:rPr sz="2000" spc="-3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code</a:t>
            </a:r>
            <a:r>
              <a:rPr sz="2000" spc="-30"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optimizations</a:t>
            </a:r>
            <a:endParaRPr sz="2000">
              <a:solidFill>
                <a:sysClr val="windowText" lastClr="000000"/>
              </a:solidFill>
              <a:latin typeface="Palatino Linotype" panose="02040502050505030304"/>
              <a:cs typeface="Palatino Linotype" panose="02040502050505030304"/>
            </a:endParaRPr>
          </a:p>
          <a:p>
            <a:pPr marL="242570" indent="-229870">
              <a:spcBef>
                <a:spcPts val="2280"/>
              </a:spcBef>
              <a:buFont typeface="Arial MT"/>
              <a:buChar char="•"/>
              <a:tabLst>
                <a:tab pos="242570" algn="l"/>
              </a:tabLst>
            </a:pPr>
            <a:r>
              <a:rPr sz="2000" dirty="0">
                <a:solidFill>
                  <a:sysClr val="windowText" lastClr="000000"/>
                </a:solidFill>
                <a:latin typeface="Palatino Linotype" panose="02040502050505030304"/>
                <a:cs typeface="Palatino Linotype" panose="02040502050505030304"/>
              </a:rPr>
              <a:t>In</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SSA,</a:t>
            </a:r>
            <a:r>
              <a:rPr sz="2000" spc="-5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each</a:t>
            </a:r>
            <a:r>
              <a:rPr sz="2000" spc="-3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name</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receives</a:t>
            </a:r>
            <a:r>
              <a:rPr sz="2000" spc="-5" dirty="0">
                <a:solidFill>
                  <a:sysClr val="windowText" lastClr="00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a</a:t>
            </a:r>
            <a:r>
              <a:rPr sz="2000" spc="-1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single</a:t>
            </a:r>
            <a:r>
              <a:rPr sz="2000" spc="-25" dirty="0">
                <a:solidFill>
                  <a:srgbClr val="FF0000"/>
                </a:solidFill>
                <a:latin typeface="Palatino Linotype" panose="02040502050505030304"/>
                <a:cs typeface="Palatino Linotype" panose="02040502050505030304"/>
              </a:rPr>
              <a:t> </a:t>
            </a:r>
            <a:r>
              <a:rPr sz="2000" spc="-10" dirty="0">
                <a:solidFill>
                  <a:srgbClr val="FF0000"/>
                </a:solidFill>
                <a:latin typeface="Palatino Linotype" panose="02040502050505030304"/>
                <a:cs typeface="Palatino Linotype" panose="02040502050505030304"/>
              </a:rPr>
              <a:t>assignment</a:t>
            </a:r>
            <a:endParaRPr sz="2000">
              <a:solidFill>
                <a:sysClr val="windowText" lastClr="000000"/>
              </a:solidFill>
              <a:latin typeface="Palatino Linotype" panose="02040502050505030304"/>
              <a:cs typeface="Palatino Linotype" panose="02040502050505030304"/>
            </a:endParaRPr>
          </a:p>
        </p:txBody>
      </p:sp>
      <p:grpSp>
        <p:nvGrpSpPr>
          <p:cNvPr id="12" name="object 4"/>
          <p:cNvGrpSpPr/>
          <p:nvPr/>
        </p:nvGrpSpPr>
        <p:grpSpPr>
          <a:xfrm>
            <a:off x="1245530" y="3549777"/>
            <a:ext cx="6877684" cy="2148840"/>
            <a:chOff x="1245530" y="3549777"/>
            <a:chExt cx="6877684" cy="2148840"/>
          </a:xfrm>
        </p:grpSpPr>
        <p:pic>
          <p:nvPicPr>
            <p:cNvPr id="13" name="object 5"/>
            <p:cNvPicPr/>
            <p:nvPr/>
          </p:nvPicPr>
          <p:blipFill>
            <a:blip r:embed="rId3" cstate="print"/>
            <a:stretch>
              <a:fillRect/>
            </a:stretch>
          </p:blipFill>
          <p:spPr>
            <a:xfrm>
              <a:off x="1245530" y="3609765"/>
              <a:ext cx="6877389" cy="2088657"/>
            </a:xfrm>
            <a:prstGeom prst="rect">
              <a:avLst/>
            </a:prstGeom>
          </p:spPr>
        </p:pic>
        <p:sp>
          <p:nvSpPr>
            <p:cNvPr id="14" name="object 6"/>
            <p:cNvSpPr/>
            <p:nvPr/>
          </p:nvSpPr>
          <p:spPr>
            <a:xfrm>
              <a:off x="2006345" y="3559302"/>
              <a:ext cx="3935095" cy="978535"/>
            </a:xfrm>
            <a:custGeom>
              <a:avLst/>
              <a:gdLst/>
              <a:ahLst/>
              <a:cxnLst/>
              <a:rect l="l" t="t" r="r" b="b"/>
              <a:pathLst>
                <a:path w="3935095" h="978535">
                  <a:moveTo>
                    <a:pt x="0" y="347472"/>
                  </a:moveTo>
                  <a:lnTo>
                    <a:pt x="472440" y="347472"/>
                  </a:lnTo>
                  <a:lnTo>
                    <a:pt x="472440" y="0"/>
                  </a:lnTo>
                  <a:lnTo>
                    <a:pt x="0" y="0"/>
                  </a:lnTo>
                  <a:lnTo>
                    <a:pt x="0" y="347472"/>
                  </a:lnTo>
                  <a:close/>
                </a:path>
                <a:path w="3935095" h="978535">
                  <a:moveTo>
                    <a:pt x="0" y="973836"/>
                  </a:moveTo>
                  <a:lnTo>
                    <a:pt x="472440" y="973836"/>
                  </a:lnTo>
                  <a:lnTo>
                    <a:pt x="472440" y="627888"/>
                  </a:lnTo>
                  <a:lnTo>
                    <a:pt x="0" y="627888"/>
                  </a:lnTo>
                  <a:lnTo>
                    <a:pt x="0" y="973836"/>
                  </a:lnTo>
                  <a:close/>
                </a:path>
                <a:path w="3935095" h="978535">
                  <a:moveTo>
                    <a:pt x="3464052" y="359664"/>
                  </a:moveTo>
                  <a:lnTo>
                    <a:pt x="3934968" y="359664"/>
                  </a:lnTo>
                  <a:lnTo>
                    <a:pt x="3934968" y="12192"/>
                  </a:lnTo>
                  <a:lnTo>
                    <a:pt x="3464052" y="12192"/>
                  </a:lnTo>
                  <a:lnTo>
                    <a:pt x="3464052" y="359664"/>
                  </a:lnTo>
                  <a:close/>
                </a:path>
                <a:path w="3935095" h="978535">
                  <a:moveTo>
                    <a:pt x="3464052" y="978408"/>
                  </a:moveTo>
                  <a:lnTo>
                    <a:pt x="3934968" y="978408"/>
                  </a:lnTo>
                  <a:lnTo>
                    <a:pt x="3934968" y="632460"/>
                  </a:lnTo>
                  <a:lnTo>
                    <a:pt x="3464052" y="632460"/>
                  </a:lnTo>
                  <a:lnTo>
                    <a:pt x="3464052" y="978408"/>
                  </a:lnTo>
                  <a:close/>
                </a:path>
              </a:pathLst>
            </a:custGeom>
            <a:ln w="1905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25</a:t>
            </a:fld>
            <a:endParaRPr lang="en-US"/>
          </a:p>
        </p:txBody>
      </p:sp>
      <p:grpSp>
        <p:nvGrpSpPr>
          <p:cNvPr id="13" name="object 2"/>
          <p:cNvGrpSpPr/>
          <p:nvPr/>
        </p:nvGrpSpPr>
        <p:grpSpPr>
          <a:xfrm>
            <a:off x="2503170" y="2551557"/>
            <a:ext cx="4171950" cy="1009650"/>
            <a:chOff x="2503170" y="2551557"/>
            <a:chExt cx="4171950" cy="1009650"/>
          </a:xfrm>
        </p:grpSpPr>
        <p:pic>
          <p:nvPicPr>
            <p:cNvPr id="14" name="object 3"/>
            <p:cNvPicPr/>
            <p:nvPr/>
          </p:nvPicPr>
          <p:blipFill>
            <a:blip r:embed="rId3" cstate="print"/>
            <a:stretch>
              <a:fillRect/>
            </a:stretch>
          </p:blipFill>
          <p:spPr>
            <a:xfrm>
              <a:off x="2503170" y="2610180"/>
              <a:ext cx="4171950" cy="554063"/>
            </a:xfrm>
            <a:prstGeom prst="rect">
              <a:avLst/>
            </a:prstGeom>
          </p:spPr>
        </p:pic>
        <p:sp>
          <p:nvSpPr>
            <p:cNvPr id="15" name="object 4"/>
            <p:cNvSpPr/>
            <p:nvPr/>
          </p:nvSpPr>
          <p:spPr>
            <a:xfrm>
              <a:off x="4010406" y="2561082"/>
              <a:ext cx="2159635" cy="347980"/>
            </a:xfrm>
            <a:custGeom>
              <a:avLst/>
              <a:gdLst/>
              <a:ahLst/>
              <a:cxnLst/>
              <a:rect l="l" t="t" r="r" b="b"/>
              <a:pathLst>
                <a:path w="2159635" h="347980">
                  <a:moveTo>
                    <a:pt x="0" y="347472"/>
                  </a:moveTo>
                  <a:lnTo>
                    <a:pt x="356615" y="347472"/>
                  </a:lnTo>
                  <a:lnTo>
                    <a:pt x="356615" y="0"/>
                  </a:lnTo>
                  <a:lnTo>
                    <a:pt x="0" y="0"/>
                  </a:lnTo>
                  <a:lnTo>
                    <a:pt x="0" y="347472"/>
                  </a:lnTo>
                  <a:close/>
                </a:path>
                <a:path w="2159635" h="347980">
                  <a:moveTo>
                    <a:pt x="1804416" y="347472"/>
                  </a:moveTo>
                  <a:lnTo>
                    <a:pt x="2159508" y="347472"/>
                  </a:lnTo>
                  <a:lnTo>
                    <a:pt x="2159508" y="0"/>
                  </a:lnTo>
                  <a:lnTo>
                    <a:pt x="1804416" y="0"/>
                  </a:lnTo>
                  <a:lnTo>
                    <a:pt x="1804416" y="347472"/>
                  </a:lnTo>
                  <a:close/>
                </a:path>
              </a:pathLst>
            </a:custGeom>
            <a:ln w="1905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16" name="object 5"/>
            <p:cNvSpPr/>
            <p:nvPr/>
          </p:nvSpPr>
          <p:spPr>
            <a:xfrm>
              <a:off x="4136263" y="2907791"/>
              <a:ext cx="1906270" cy="653415"/>
            </a:xfrm>
            <a:custGeom>
              <a:avLst/>
              <a:gdLst/>
              <a:ahLst/>
              <a:cxnLst/>
              <a:rect l="l" t="t" r="r" b="b"/>
              <a:pathLst>
                <a:path w="1906270" h="653414">
                  <a:moveTo>
                    <a:pt x="103378" y="564642"/>
                  </a:moveTo>
                  <a:lnTo>
                    <a:pt x="102362" y="560832"/>
                  </a:lnTo>
                  <a:lnTo>
                    <a:pt x="96266" y="557276"/>
                  </a:lnTo>
                  <a:lnTo>
                    <a:pt x="92456" y="558292"/>
                  </a:lnTo>
                  <a:lnTo>
                    <a:pt x="58039" y="617296"/>
                  </a:lnTo>
                  <a:lnTo>
                    <a:pt x="58039" y="0"/>
                  </a:lnTo>
                  <a:lnTo>
                    <a:pt x="45339" y="0"/>
                  </a:lnTo>
                  <a:lnTo>
                    <a:pt x="45339" y="617296"/>
                  </a:lnTo>
                  <a:lnTo>
                    <a:pt x="10922" y="558292"/>
                  </a:lnTo>
                  <a:lnTo>
                    <a:pt x="7112" y="557276"/>
                  </a:lnTo>
                  <a:lnTo>
                    <a:pt x="1016" y="560832"/>
                  </a:lnTo>
                  <a:lnTo>
                    <a:pt x="0" y="564642"/>
                  </a:lnTo>
                  <a:lnTo>
                    <a:pt x="51689" y="653288"/>
                  </a:lnTo>
                  <a:lnTo>
                    <a:pt x="59016" y="640727"/>
                  </a:lnTo>
                  <a:lnTo>
                    <a:pt x="103378" y="564642"/>
                  </a:lnTo>
                  <a:close/>
                </a:path>
                <a:path w="1906270" h="653414">
                  <a:moveTo>
                    <a:pt x="1906270" y="564642"/>
                  </a:moveTo>
                  <a:lnTo>
                    <a:pt x="1905254" y="560832"/>
                  </a:lnTo>
                  <a:lnTo>
                    <a:pt x="1899158" y="557276"/>
                  </a:lnTo>
                  <a:lnTo>
                    <a:pt x="1895348" y="558292"/>
                  </a:lnTo>
                  <a:lnTo>
                    <a:pt x="1860931" y="617296"/>
                  </a:lnTo>
                  <a:lnTo>
                    <a:pt x="1854581" y="628180"/>
                  </a:lnTo>
                  <a:lnTo>
                    <a:pt x="1849120" y="637552"/>
                  </a:lnTo>
                  <a:lnTo>
                    <a:pt x="1854568" y="628180"/>
                  </a:lnTo>
                  <a:lnTo>
                    <a:pt x="1860918" y="617296"/>
                  </a:lnTo>
                  <a:lnTo>
                    <a:pt x="1860931" y="0"/>
                  </a:lnTo>
                  <a:lnTo>
                    <a:pt x="1848231" y="0"/>
                  </a:lnTo>
                  <a:lnTo>
                    <a:pt x="1848231" y="617296"/>
                  </a:lnTo>
                  <a:lnTo>
                    <a:pt x="1813814" y="558292"/>
                  </a:lnTo>
                  <a:lnTo>
                    <a:pt x="1810004" y="557276"/>
                  </a:lnTo>
                  <a:lnTo>
                    <a:pt x="1803908" y="560832"/>
                  </a:lnTo>
                  <a:lnTo>
                    <a:pt x="1802892" y="564642"/>
                  </a:lnTo>
                  <a:lnTo>
                    <a:pt x="1854581" y="653288"/>
                  </a:lnTo>
                  <a:lnTo>
                    <a:pt x="1861908" y="640727"/>
                  </a:lnTo>
                  <a:lnTo>
                    <a:pt x="1906270" y="564642"/>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
        <p:nvSpPr>
          <p:cNvPr id="17" name="object 6"/>
          <p:cNvSpPr txBox="1"/>
          <p:nvPr/>
        </p:nvSpPr>
        <p:spPr>
          <a:xfrm>
            <a:off x="707542" y="530809"/>
            <a:ext cx="7817484" cy="635000"/>
          </a:xfrm>
          <a:prstGeom prst="rect">
            <a:avLst/>
          </a:prstGeom>
        </p:spPr>
        <p:txBody>
          <a:bodyPr vert="horz" wrap="square" lIns="0" tIns="1333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105"/>
              </a:spcBef>
              <a:spcAft>
                <a:spcPts val="0"/>
              </a:spcAft>
              <a:buClrTx/>
              <a:buSzTx/>
              <a:buFontTx/>
              <a:buNone/>
              <a:defRPr/>
            </a:pPr>
            <a:r>
              <a:rPr kumimoji="0" lang="en-US" sz="3800" b="1" i="0" u="none" strike="noStrike" kern="0" cap="none" spc="0" normalizeH="0" baseline="0" noProof="0">
                <a:ln>
                  <a:noFill/>
                </a:ln>
                <a:solidFill>
                  <a:srgbClr val="000000"/>
                </a:solidFill>
                <a:effectLst/>
                <a:uLnTx/>
                <a:uFillTx/>
                <a:latin typeface="Palatino Linotype" panose="02040502050505030304"/>
                <a:ea typeface="+mj-ea"/>
              </a:rPr>
              <a:t>Static</a:t>
            </a:r>
            <a:r>
              <a:rPr kumimoji="0" lang="en-US" sz="3800" b="1" i="0" u="none" strike="noStrike" kern="0" cap="none" spc="-55" normalizeH="0" baseline="0" noProof="0">
                <a:ln>
                  <a:noFill/>
                </a:ln>
                <a:solidFill>
                  <a:srgbClr val="000000"/>
                </a:solidFill>
                <a:effectLst/>
                <a:uLnTx/>
                <a:uFillTx/>
                <a:latin typeface="Palatino Linotype" panose="02040502050505030304"/>
                <a:ea typeface="+mj-ea"/>
              </a:rPr>
              <a:t> </a:t>
            </a:r>
            <a:r>
              <a:rPr kumimoji="0" lang="en-US" sz="3800" b="1" i="0" u="none" strike="noStrike" kern="0" cap="none" spc="0" normalizeH="0" baseline="0" noProof="0">
                <a:ln>
                  <a:noFill/>
                </a:ln>
                <a:solidFill>
                  <a:srgbClr val="000000"/>
                </a:solidFill>
                <a:effectLst/>
                <a:uLnTx/>
                <a:uFillTx/>
                <a:latin typeface="Palatino Linotype" panose="02040502050505030304"/>
                <a:ea typeface="+mj-ea"/>
              </a:rPr>
              <a:t>Single-Assignment</a:t>
            </a:r>
            <a:r>
              <a:rPr kumimoji="0" lang="en-US" sz="3800" b="1" i="0" u="none" strike="noStrike" kern="0" cap="none" spc="-60" normalizeH="0" baseline="0" noProof="0">
                <a:ln>
                  <a:noFill/>
                </a:ln>
                <a:solidFill>
                  <a:srgbClr val="000000"/>
                </a:solidFill>
                <a:effectLst/>
                <a:uLnTx/>
                <a:uFillTx/>
                <a:latin typeface="Palatino Linotype" panose="02040502050505030304"/>
                <a:ea typeface="+mj-ea"/>
              </a:rPr>
              <a:t> </a:t>
            </a:r>
            <a:r>
              <a:rPr kumimoji="0" lang="en-US" sz="3800" b="1" i="0" u="none" strike="noStrike" kern="0" cap="none" spc="0" normalizeH="0" baseline="0" noProof="0">
                <a:ln>
                  <a:noFill/>
                </a:ln>
                <a:solidFill>
                  <a:srgbClr val="000000"/>
                </a:solidFill>
                <a:effectLst/>
                <a:uLnTx/>
                <a:uFillTx/>
                <a:latin typeface="Palatino Linotype" panose="02040502050505030304"/>
                <a:ea typeface="+mj-ea"/>
              </a:rPr>
              <a:t>Form</a:t>
            </a:r>
            <a:r>
              <a:rPr kumimoji="0" lang="en-US" sz="3800" b="1" i="0" u="none" strike="noStrike" kern="0" cap="none" spc="-40" normalizeH="0" baseline="0" noProof="0">
                <a:ln>
                  <a:noFill/>
                </a:ln>
                <a:solidFill>
                  <a:srgbClr val="000000"/>
                </a:solidFill>
                <a:effectLst/>
                <a:uLnTx/>
                <a:uFillTx/>
                <a:latin typeface="Palatino Linotype" panose="02040502050505030304"/>
                <a:ea typeface="+mj-ea"/>
              </a:rPr>
              <a:t> </a:t>
            </a:r>
            <a:r>
              <a:rPr kumimoji="0" lang="en-US" sz="3800" b="1" i="0" u="none" strike="noStrike" kern="0" cap="none" spc="-25" normalizeH="0" baseline="0" noProof="0">
                <a:ln>
                  <a:noFill/>
                </a:ln>
                <a:solidFill>
                  <a:srgbClr val="000000"/>
                </a:solidFill>
                <a:effectLst/>
                <a:uLnTx/>
                <a:uFillTx/>
                <a:latin typeface="Palatino Linotype" panose="02040502050505030304"/>
                <a:ea typeface="+mj-ea"/>
              </a:rPr>
              <a:t>(2)</a:t>
            </a:r>
            <a:endParaRPr kumimoji="0" lang="en-US" sz="3800" b="1" i="0" u="none" strike="noStrike" kern="0" cap="none" spc="0" normalizeH="0" baseline="0" noProof="0">
              <a:ln>
                <a:noFill/>
              </a:ln>
              <a:solidFill>
                <a:srgbClr val="A6A6A6"/>
              </a:solidFill>
              <a:effectLst/>
              <a:uLnTx/>
              <a:uFillTx/>
              <a:latin typeface="Palatino Linotype" panose="02040502050505030304"/>
              <a:ea typeface="+mj-ea"/>
            </a:endParaRPr>
          </a:p>
        </p:txBody>
      </p:sp>
      <p:sp>
        <p:nvSpPr>
          <p:cNvPr id="18" name="object 7"/>
          <p:cNvSpPr txBox="1"/>
          <p:nvPr/>
        </p:nvSpPr>
        <p:spPr>
          <a:xfrm>
            <a:off x="707542" y="1593316"/>
            <a:ext cx="7369809" cy="756920"/>
          </a:xfrm>
          <a:prstGeom prst="rect">
            <a:avLst/>
          </a:prstGeom>
        </p:spPr>
        <p:txBody>
          <a:bodyPr vert="horz" wrap="square" lIns="0" tIns="12700" rIns="0" bIns="0" rtlCol="0">
            <a:spAutoFit/>
          </a:bodyPr>
          <a:lstStyle/>
          <a:p>
            <a:pPr marL="242570" marR="5080" indent="-230505">
              <a:lnSpc>
                <a:spcPct val="120000"/>
              </a:lnSpc>
              <a:spcBef>
                <a:spcPts val="100"/>
              </a:spcBef>
              <a:buFont typeface="Arial MT"/>
              <a:buChar char="•"/>
              <a:tabLst>
                <a:tab pos="242570" algn="l"/>
              </a:tabLst>
            </a:pPr>
            <a:r>
              <a:rPr sz="2000" dirty="0">
                <a:solidFill>
                  <a:sysClr val="windowText" lastClr="000000"/>
                </a:solidFill>
                <a:latin typeface="Palatino Linotype" panose="02040502050505030304"/>
                <a:cs typeface="Palatino Linotype" panose="02040502050505030304"/>
              </a:rPr>
              <a:t>The</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same</a:t>
            </a:r>
            <a:r>
              <a:rPr sz="2000" spc="-4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variable</a:t>
            </a:r>
            <a:r>
              <a:rPr sz="2000" spc="-4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may</a:t>
            </a:r>
            <a:r>
              <a:rPr sz="2000" spc="-4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be</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defined</a:t>
            </a:r>
            <a:r>
              <a:rPr sz="2000" spc="-4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in</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two</a:t>
            </a:r>
            <a:r>
              <a:rPr sz="2000" spc="-3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different</a:t>
            </a:r>
            <a:r>
              <a:rPr sz="2000" spc="-50"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control-</a:t>
            </a:r>
            <a:r>
              <a:rPr sz="2000" spc="-20" dirty="0">
                <a:solidFill>
                  <a:sysClr val="windowText" lastClr="000000"/>
                </a:solidFill>
                <a:latin typeface="Palatino Linotype" panose="02040502050505030304"/>
                <a:cs typeface="Palatino Linotype" panose="02040502050505030304"/>
              </a:rPr>
              <a:t>flow </a:t>
            </a:r>
            <a:r>
              <a:rPr sz="2000" spc="-10" dirty="0">
                <a:solidFill>
                  <a:sysClr val="windowText" lastClr="000000"/>
                </a:solidFill>
                <a:latin typeface="Palatino Linotype" panose="02040502050505030304"/>
                <a:cs typeface="Palatino Linotype" panose="02040502050505030304"/>
              </a:rPr>
              <a:t>paths</a:t>
            </a:r>
            <a:endParaRPr sz="2000">
              <a:solidFill>
                <a:sysClr val="windowText" lastClr="000000"/>
              </a:solidFill>
              <a:latin typeface="Palatino Linotype" panose="02040502050505030304"/>
              <a:cs typeface="Palatino Linotype" panose="02040502050505030304"/>
            </a:endParaRPr>
          </a:p>
        </p:txBody>
      </p:sp>
      <p:sp>
        <p:nvSpPr>
          <p:cNvPr id="19" name="object 8"/>
          <p:cNvSpPr txBox="1"/>
          <p:nvPr/>
        </p:nvSpPr>
        <p:spPr>
          <a:xfrm>
            <a:off x="4035297" y="3582415"/>
            <a:ext cx="2110105" cy="269240"/>
          </a:xfrm>
          <a:prstGeom prst="rect">
            <a:avLst/>
          </a:prstGeom>
        </p:spPr>
        <p:txBody>
          <a:bodyPr vert="horz" wrap="square" lIns="0" tIns="12065" rIns="0" bIns="0" rtlCol="0">
            <a:spAutoFit/>
          </a:bodyPr>
          <a:lstStyle/>
          <a:p>
            <a:pPr marL="50800">
              <a:spcBef>
                <a:spcPts val="95"/>
              </a:spcBef>
              <a:tabLst>
                <a:tab pos="1855470" algn="l"/>
              </a:tabLst>
            </a:pPr>
            <a:r>
              <a:rPr sz="1600" spc="-25" dirty="0">
                <a:solidFill>
                  <a:srgbClr val="FF0000"/>
                </a:solidFill>
                <a:latin typeface="Palatino Linotype" panose="02040502050505030304"/>
                <a:cs typeface="Palatino Linotype" panose="02040502050505030304"/>
              </a:rPr>
              <a:t>X</a:t>
            </a:r>
            <a:r>
              <a:rPr sz="1575" spc="-37" baseline="-21000" dirty="0">
                <a:solidFill>
                  <a:srgbClr val="FF0000"/>
                </a:solidFill>
                <a:latin typeface="Palatino Linotype" panose="02040502050505030304"/>
                <a:cs typeface="Palatino Linotype" panose="02040502050505030304"/>
              </a:rPr>
              <a:t>1</a:t>
            </a:r>
            <a:r>
              <a:rPr sz="1575" baseline="-21000" dirty="0">
                <a:solidFill>
                  <a:srgbClr val="FF0000"/>
                </a:solidFill>
                <a:latin typeface="Palatino Linotype" panose="02040502050505030304"/>
                <a:cs typeface="Palatino Linotype" panose="02040502050505030304"/>
              </a:rPr>
              <a:t>	</a:t>
            </a:r>
            <a:r>
              <a:rPr sz="1600" spc="-25" dirty="0">
                <a:solidFill>
                  <a:srgbClr val="FF0000"/>
                </a:solidFill>
                <a:latin typeface="Palatino Linotype" panose="02040502050505030304"/>
                <a:cs typeface="Palatino Linotype" panose="02040502050505030304"/>
              </a:rPr>
              <a:t>X</a:t>
            </a:r>
            <a:r>
              <a:rPr sz="1575" spc="-37" baseline="-21000" dirty="0">
                <a:solidFill>
                  <a:srgbClr val="FF0000"/>
                </a:solidFill>
                <a:latin typeface="Palatino Linotype" panose="02040502050505030304"/>
                <a:cs typeface="Palatino Linotype" panose="02040502050505030304"/>
              </a:rPr>
              <a:t>2</a:t>
            </a:r>
            <a:endParaRPr sz="1575" baseline="-21000">
              <a:solidFill>
                <a:sysClr val="windowText" lastClr="000000"/>
              </a:solidFill>
              <a:latin typeface="Palatino Linotype" panose="02040502050505030304"/>
              <a:cs typeface="Palatino Linotype" panose="02040502050505030304"/>
            </a:endParaRPr>
          </a:p>
        </p:txBody>
      </p:sp>
      <p:sp>
        <p:nvSpPr>
          <p:cNvPr id="20" name="object 9"/>
          <p:cNvSpPr txBox="1"/>
          <p:nvPr/>
        </p:nvSpPr>
        <p:spPr>
          <a:xfrm>
            <a:off x="2182367" y="4151376"/>
            <a:ext cx="5474335" cy="607060"/>
          </a:xfrm>
          <a:prstGeom prst="rect">
            <a:avLst/>
          </a:prstGeom>
          <a:solidFill>
            <a:srgbClr val="FFF1CC"/>
          </a:solidFill>
          <a:ln w="9525">
            <a:solidFill>
              <a:srgbClr val="000000"/>
            </a:solidFill>
          </a:ln>
        </p:spPr>
        <p:txBody>
          <a:bodyPr vert="horz" wrap="square" lIns="0" tIns="135890" rIns="0" bIns="0" rtlCol="0">
            <a:spAutoFit/>
          </a:bodyPr>
          <a:lstStyle/>
          <a:p>
            <a:pPr marL="515620">
              <a:spcBef>
                <a:spcPts val="1070"/>
              </a:spcBef>
            </a:pPr>
            <a:r>
              <a:rPr sz="2000" dirty="0">
                <a:solidFill>
                  <a:srgbClr val="FF0000"/>
                </a:solidFill>
                <a:latin typeface="Palatino Linotype" panose="02040502050505030304"/>
                <a:cs typeface="Palatino Linotype" panose="02040502050505030304"/>
              </a:rPr>
              <a:t>Which</a:t>
            </a:r>
            <a:r>
              <a:rPr sz="2000" spc="-2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name</a:t>
            </a:r>
            <a:r>
              <a:rPr sz="2000" spc="-2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should</a:t>
            </a:r>
            <a:r>
              <a:rPr sz="2000" spc="-3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we</a:t>
            </a:r>
            <a:r>
              <a:rPr sz="2000" spc="-1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use</a:t>
            </a:r>
            <a:r>
              <a:rPr sz="2000" spc="-3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in</a:t>
            </a:r>
            <a:r>
              <a:rPr sz="2000" spc="5" dirty="0">
                <a:solidFill>
                  <a:srgbClr val="FF0000"/>
                </a:solidFill>
                <a:latin typeface="Palatino Linotype" panose="02040502050505030304"/>
                <a:cs typeface="Palatino Linotype" panose="02040502050505030304"/>
              </a:rPr>
              <a:t> </a:t>
            </a:r>
            <a:r>
              <a:rPr sz="2000" dirty="0">
                <a:solidFill>
                  <a:srgbClr val="0431FF"/>
                </a:solidFill>
                <a:latin typeface="Palatino Linotype" panose="02040502050505030304"/>
                <a:cs typeface="Palatino Linotype" panose="02040502050505030304"/>
              </a:rPr>
              <a:t>y</a:t>
            </a:r>
            <a:r>
              <a:rPr sz="2000" spc="-25" dirty="0">
                <a:solidFill>
                  <a:srgbClr val="0431FF"/>
                </a:solidFill>
                <a:latin typeface="Palatino Linotype" panose="02040502050505030304"/>
                <a:cs typeface="Palatino Linotype" panose="02040502050505030304"/>
              </a:rPr>
              <a:t> </a:t>
            </a:r>
            <a:r>
              <a:rPr sz="2000" dirty="0">
                <a:solidFill>
                  <a:srgbClr val="0431FF"/>
                </a:solidFill>
                <a:latin typeface="Palatino Linotype" panose="02040502050505030304"/>
                <a:cs typeface="Palatino Linotype" panose="02040502050505030304"/>
              </a:rPr>
              <a:t>=</a:t>
            </a:r>
            <a:r>
              <a:rPr sz="2000" spc="-15" dirty="0">
                <a:solidFill>
                  <a:srgbClr val="0431FF"/>
                </a:solidFill>
                <a:latin typeface="Palatino Linotype" panose="02040502050505030304"/>
                <a:cs typeface="Palatino Linotype" panose="02040502050505030304"/>
              </a:rPr>
              <a:t> </a:t>
            </a:r>
            <a:r>
              <a:rPr sz="2000" dirty="0">
                <a:solidFill>
                  <a:srgbClr val="0431FF"/>
                </a:solidFill>
                <a:latin typeface="Palatino Linotype" panose="02040502050505030304"/>
                <a:cs typeface="Palatino Linotype" panose="02040502050505030304"/>
              </a:rPr>
              <a:t>x</a:t>
            </a:r>
            <a:r>
              <a:rPr sz="2000" spc="-10" dirty="0">
                <a:solidFill>
                  <a:srgbClr val="0431FF"/>
                </a:solidFill>
                <a:latin typeface="Palatino Linotype" panose="02040502050505030304"/>
                <a:cs typeface="Palatino Linotype" panose="02040502050505030304"/>
              </a:rPr>
              <a:t> </a:t>
            </a:r>
            <a:r>
              <a:rPr sz="2000" dirty="0">
                <a:solidFill>
                  <a:srgbClr val="0431FF"/>
                </a:solidFill>
                <a:latin typeface="Palatino Linotype" panose="02040502050505030304"/>
                <a:cs typeface="Palatino Linotype" panose="02040502050505030304"/>
              </a:rPr>
              <a:t>*</a:t>
            </a:r>
            <a:r>
              <a:rPr sz="2000" spc="-15" dirty="0">
                <a:solidFill>
                  <a:srgbClr val="0431FF"/>
                </a:solidFill>
                <a:latin typeface="Palatino Linotype" panose="02040502050505030304"/>
                <a:cs typeface="Palatino Linotype" panose="02040502050505030304"/>
              </a:rPr>
              <a:t> </a:t>
            </a:r>
            <a:r>
              <a:rPr sz="2000" spc="-25" dirty="0">
                <a:solidFill>
                  <a:srgbClr val="0431FF"/>
                </a:solidFill>
                <a:latin typeface="Palatino Linotype" panose="02040502050505030304"/>
                <a:cs typeface="Palatino Linotype" panose="02040502050505030304"/>
              </a:rPr>
              <a:t>a</a:t>
            </a:r>
            <a:r>
              <a:rPr sz="2000" spc="-25" dirty="0">
                <a:solidFill>
                  <a:srgbClr val="FF0000"/>
                </a:solidFill>
                <a:latin typeface="Palatino Linotype" panose="02040502050505030304"/>
                <a:cs typeface="Palatino Linotype" panose="02040502050505030304"/>
              </a:rPr>
              <a:t>?</a:t>
            </a:r>
            <a:endParaRPr sz="2000">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26</a:t>
            </a:fld>
            <a:endParaRPr lang="en-US"/>
          </a:p>
        </p:txBody>
      </p:sp>
      <p:sp>
        <p:nvSpPr>
          <p:cNvPr id="17" name="object 2"/>
          <p:cNvSpPr txBox="1"/>
          <p:nvPr/>
        </p:nvSpPr>
        <p:spPr>
          <a:xfrm>
            <a:off x="707542" y="1593316"/>
            <a:ext cx="7369809" cy="756920"/>
          </a:xfrm>
          <a:prstGeom prst="rect">
            <a:avLst/>
          </a:prstGeom>
        </p:spPr>
        <p:txBody>
          <a:bodyPr vert="horz" wrap="square" lIns="0" tIns="12700" rIns="0" bIns="0" rtlCol="0">
            <a:spAutoFit/>
          </a:bodyPr>
          <a:lstStyle/>
          <a:p>
            <a:pPr marL="242570" marR="5080" indent="-230505">
              <a:lnSpc>
                <a:spcPct val="120000"/>
              </a:lnSpc>
              <a:spcBef>
                <a:spcPts val="100"/>
              </a:spcBef>
              <a:buFont typeface="Arial MT"/>
              <a:buChar char="•"/>
              <a:tabLst>
                <a:tab pos="242570" algn="l"/>
              </a:tabLst>
            </a:pPr>
            <a:r>
              <a:rPr sz="2000" dirty="0">
                <a:solidFill>
                  <a:sysClr val="windowText" lastClr="000000"/>
                </a:solidFill>
                <a:latin typeface="Palatino Linotype" panose="02040502050505030304"/>
                <a:cs typeface="Palatino Linotype" panose="02040502050505030304"/>
              </a:rPr>
              <a:t>The</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same</a:t>
            </a:r>
            <a:r>
              <a:rPr sz="2000" spc="-4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variable</a:t>
            </a:r>
            <a:r>
              <a:rPr sz="2000" spc="-4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may</a:t>
            </a:r>
            <a:r>
              <a:rPr sz="2000" spc="-4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be</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defined</a:t>
            </a:r>
            <a:r>
              <a:rPr sz="2000" spc="-4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in</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two</a:t>
            </a:r>
            <a:r>
              <a:rPr sz="2000" spc="-3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different</a:t>
            </a:r>
            <a:r>
              <a:rPr sz="2000" spc="-50"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control-</a:t>
            </a:r>
            <a:r>
              <a:rPr sz="2000" spc="-20" dirty="0">
                <a:solidFill>
                  <a:sysClr val="windowText" lastClr="000000"/>
                </a:solidFill>
                <a:latin typeface="Palatino Linotype" panose="02040502050505030304"/>
                <a:cs typeface="Palatino Linotype" panose="02040502050505030304"/>
              </a:rPr>
              <a:t>flow </a:t>
            </a:r>
            <a:r>
              <a:rPr sz="2000" spc="-10" dirty="0">
                <a:solidFill>
                  <a:sysClr val="windowText" lastClr="000000"/>
                </a:solidFill>
                <a:latin typeface="Palatino Linotype" panose="02040502050505030304"/>
                <a:cs typeface="Palatino Linotype" panose="02040502050505030304"/>
              </a:rPr>
              <a:t>paths</a:t>
            </a:r>
            <a:endParaRPr sz="2000">
              <a:solidFill>
                <a:sysClr val="windowText" lastClr="000000"/>
              </a:solidFill>
              <a:latin typeface="Palatino Linotype" panose="02040502050505030304"/>
              <a:cs typeface="Palatino Linotype" panose="02040502050505030304"/>
            </a:endParaRPr>
          </a:p>
        </p:txBody>
      </p:sp>
      <p:sp>
        <p:nvSpPr>
          <p:cNvPr id="18" name="object 3"/>
          <p:cNvSpPr txBox="1"/>
          <p:nvPr/>
        </p:nvSpPr>
        <p:spPr>
          <a:xfrm>
            <a:off x="707542" y="3726789"/>
            <a:ext cx="7686675" cy="758190"/>
          </a:xfrm>
          <a:prstGeom prst="rect">
            <a:avLst/>
          </a:prstGeom>
        </p:spPr>
        <p:txBody>
          <a:bodyPr vert="horz" wrap="square" lIns="0" tIns="12700" rIns="0" bIns="0" rtlCol="0">
            <a:spAutoFit/>
          </a:bodyPr>
          <a:lstStyle/>
          <a:p>
            <a:pPr marL="242570" marR="5080" indent="-230505">
              <a:lnSpc>
                <a:spcPct val="120000"/>
              </a:lnSpc>
              <a:spcBef>
                <a:spcPts val="100"/>
              </a:spcBef>
              <a:buFont typeface="Arial MT"/>
              <a:buChar char="•"/>
              <a:tabLst>
                <a:tab pos="242570" algn="l"/>
              </a:tabLst>
            </a:pPr>
            <a:r>
              <a:rPr sz="2000" dirty="0">
                <a:solidFill>
                  <a:sysClr val="windowText" lastClr="000000"/>
                </a:solidFill>
                <a:latin typeface="Palatino Linotype" panose="02040502050505030304"/>
                <a:cs typeface="Palatino Linotype" panose="02040502050505030304"/>
              </a:rPr>
              <a:t>SSA</a:t>
            </a:r>
            <a:r>
              <a:rPr sz="2000" spc="-14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uses</a:t>
            </a:r>
            <a:r>
              <a:rPr sz="2000" spc="-4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notational</a:t>
            </a:r>
            <a:r>
              <a:rPr sz="2000" spc="-4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convention</a:t>
            </a:r>
            <a:r>
              <a:rPr sz="2000" spc="-4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called</a:t>
            </a:r>
            <a:r>
              <a:rPr sz="2000" spc="-10" dirty="0">
                <a:solidFill>
                  <a:sysClr val="windowText" lastClr="000000"/>
                </a:solidFill>
                <a:latin typeface="Palatino Linotype" panose="02040502050505030304"/>
                <a:cs typeface="Palatino Linotype" panose="02040502050505030304"/>
              </a:rPr>
              <a:t> </a:t>
            </a:r>
            <a:r>
              <a:rPr sz="2000" dirty="0">
                <a:solidFill>
                  <a:srgbClr val="FF0000"/>
                </a:solidFill>
                <a:latin typeface="Cambria Math" panose="02040503050406030204"/>
                <a:cs typeface="Cambria Math" panose="02040503050406030204"/>
              </a:rPr>
              <a:t>𝜙</a:t>
            </a:r>
            <a:r>
              <a:rPr sz="2000" dirty="0">
                <a:solidFill>
                  <a:srgbClr val="FF0000"/>
                </a:solidFill>
                <a:latin typeface="Palatino Linotype" panose="02040502050505030304"/>
                <a:cs typeface="Palatino Linotype" panose="02040502050505030304"/>
              </a:rPr>
              <a:t>-function</a:t>
            </a:r>
            <a:r>
              <a:rPr sz="2000" spc="-60" dirty="0">
                <a:solidFill>
                  <a:srgbClr val="FF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to</a:t>
            </a:r>
            <a:r>
              <a:rPr sz="2000" spc="-3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combine</a:t>
            </a:r>
            <a:r>
              <a:rPr sz="2000" spc="-35" dirty="0">
                <a:solidFill>
                  <a:sysClr val="windowText" lastClr="000000"/>
                </a:solidFill>
                <a:latin typeface="Palatino Linotype" panose="02040502050505030304"/>
                <a:cs typeface="Palatino Linotype" panose="02040502050505030304"/>
              </a:rPr>
              <a:t> </a:t>
            </a:r>
            <a:r>
              <a:rPr sz="2000" spc="-25" dirty="0">
                <a:solidFill>
                  <a:sysClr val="windowText" lastClr="000000"/>
                </a:solidFill>
                <a:latin typeface="Palatino Linotype" panose="02040502050505030304"/>
                <a:cs typeface="Palatino Linotype" panose="02040502050505030304"/>
              </a:rPr>
              <a:t>the </a:t>
            </a:r>
            <a:r>
              <a:rPr sz="2000" dirty="0">
                <a:solidFill>
                  <a:sysClr val="windowText" lastClr="000000"/>
                </a:solidFill>
                <a:latin typeface="Palatino Linotype" panose="02040502050505030304"/>
                <a:cs typeface="Palatino Linotype" panose="02040502050505030304"/>
              </a:rPr>
              <a:t>two</a:t>
            </a:r>
            <a:r>
              <a:rPr sz="2000" spc="-4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definitions</a:t>
            </a:r>
            <a:r>
              <a:rPr sz="2000" spc="-3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of</a:t>
            </a:r>
            <a:r>
              <a:rPr sz="2000" spc="-40" dirty="0">
                <a:solidFill>
                  <a:sysClr val="windowText" lastClr="000000"/>
                </a:solidFill>
                <a:latin typeface="Palatino Linotype" panose="02040502050505030304"/>
                <a:cs typeface="Palatino Linotype" panose="02040502050505030304"/>
              </a:rPr>
              <a:t> </a:t>
            </a:r>
            <a:r>
              <a:rPr sz="2000" spc="-50" dirty="0">
                <a:solidFill>
                  <a:srgbClr val="0431FF"/>
                </a:solidFill>
                <a:latin typeface="Palatino Linotype" panose="02040502050505030304"/>
                <a:cs typeface="Palatino Linotype" panose="02040502050505030304"/>
              </a:rPr>
              <a:t>x</a:t>
            </a:r>
            <a:endParaRPr sz="2000">
              <a:solidFill>
                <a:sysClr val="windowText" lastClr="000000"/>
              </a:solidFill>
              <a:latin typeface="Palatino Linotype" panose="02040502050505030304"/>
              <a:cs typeface="Palatino Linotype" panose="02040502050505030304"/>
            </a:endParaRPr>
          </a:p>
        </p:txBody>
      </p:sp>
      <p:pic>
        <p:nvPicPr>
          <p:cNvPr id="19" name="object 4"/>
          <p:cNvPicPr/>
          <p:nvPr/>
        </p:nvPicPr>
        <p:blipFill>
          <a:blip r:embed="rId3" cstate="print"/>
          <a:stretch>
            <a:fillRect/>
          </a:stretch>
        </p:blipFill>
        <p:spPr>
          <a:xfrm>
            <a:off x="2503170" y="2610180"/>
            <a:ext cx="4171950" cy="554063"/>
          </a:xfrm>
          <a:prstGeom prst="rect">
            <a:avLst/>
          </a:prstGeom>
        </p:spPr>
      </p:pic>
      <p:sp>
        <p:nvSpPr>
          <p:cNvPr id="20" name="object 5"/>
          <p:cNvSpPr txBox="1"/>
          <p:nvPr/>
        </p:nvSpPr>
        <p:spPr>
          <a:xfrm>
            <a:off x="707542" y="530809"/>
            <a:ext cx="7817484" cy="635000"/>
          </a:xfrm>
          <a:prstGeom prst="rect">
            <a:avLst/>
          </a:prstGeom>
        </p:spPr>
        <p:txBody>
          <a:bodyPr vert="horz" wrap="square" lIns="0" tIns="1333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105"/>
              </a:spcBef>
              <a:spcAft>
                <a:spcPts val="0"/>
              </a:spcAft>
              <a:buClrTx/>
              <a:buSzTx/>
              <a:buFontTx/>
              <a:buNone/>
              <a:defRPr/>
            </a:pPr>
            <a:r>
              <a:rPr kumimoji="0" lang="en-US" sz="3800" b="1" i="0" u="none" strike="noStrike" kern="0" cap="none" spc="0" normalizeH="0" baseline="0" noProof="0">
                <a:ln>
                  <a:noFill/>
                </a:ln>
                <a:solidFill>
                  <a:srgbClr val="000000"/>
                </a:solidFill>
                <a:effectLst/>
                <a:uLnTx/>
                <a:uFillTx/>
                <a:latin typeface="Palatino Linotype" panose="02040502050505030304"/>
                <a:ea typeface="+mj-ea"/>
              </a:rPr>
              <a:t>Static</a:t>
            </a:r>
            <a:r>
              <a:rPr kumimoji="0" lang="en-US" sz="3800" b="1" i="0" u="none" strike="noStrike" kern="0" cap="none" spc="-55" normalizeH="0" baseline="0" noProof="0">
                <a:ln>
                  <a:noFill/>
                </a:ln>
                <a:solidFill>
                  <a:srgbClr val="000000"/>
                </a:solidFill>
                <a:effectLst/>
                <a:uLnTx/>
                <a:uFillTx/>
                <a:latin typeface="Palatino Linotype" panose="02040502050505030304"/>
                <a:ea typeface="+mj-ea"/>
              </a:rPr>
              <a:t> </a:t>
            </a:r>
            <a:r>
              <a:rPr kumimoji="0" lang="en-US" sz="3800" b="1" i="0" u="none" strike="noStrike" kern="0" cap="none" spc="0" normalizeH="0" baseline="0" noProof="0">
                <a:ln>
                  <a:noFill/>
                </a:ln>
                <a:solidFill>
                  <a:srgbClr val="000000"/>
                </a:solidFill>
                <a:effectLst/>
                <a:uLnTx/>
                <a:uFillTx/>
                <a:latin typeface="Palatino Linotype" panose="02040502050505030304"/>
                <a:ea typeface="+mj-ea"/>
              </a:rPr>
              <a:t>Single-Assignment</a:t>
            </a:r>
            <a:r>
              <a:rPr kumimoji="0" lang="en-US" sz="3800" b="1" i="0" u="none" strike="noStrike" kern="0" cap="none" spc="-60" normalizeH="0" baseline="0" noProof="0">
                <a:ln>
                  <a:noFill/>
                </a:ln>
                <a:solidFill>
                  <a:srgbClr val="000000"/>
                </a:solidFill>
                <a:effectLst/>
                <a:uLnTx/>
                <a:uFillTx/>
                <a:latin typeface="Palatino Linotype" panose="02040502050505030304"/>
                <a:ea typeface="+mj-ea"/>
              </a:rPr>
              <a:t> </a:t>
            </a:r>
            <a:r>
              <a:rPr kumimoji="0" lang="en-US" sz="3800" b="1" i="0" u="none" strike="noStrike" kern="0" cap="none" spc="0" normalizeH="0" baseline="0" noProof="0">
                <a:ln>
                  <a:noFill/>
                </a:ln>
                <a:solidFill>
                  <a:srgbClr val="000000"/>
                </a:solidFill>
                <a:effectLst/>
                <a:uLnTx/>
                <a:uFillTx/>
                <a:latin typeface="Palatino Linotype" panose="02040502050505030304"/>
                <a:ea typeface="+mj-ea"/>
              </a:rPr>
              <a:t>Form</a:t>
            </a:r>
            <a:r>
              <a:rPr kumimoji="0" lang="en-US" sz="3800" b="1" i="0" u="none" strike="noStrike" kern="0" cap="none" spc="-40" normalizeH="0" baseline="0" noProof="0">
                <a:ln>
                  <a:noFill/>
                </a:ln>
                <a:solidFill>
                  <a:srgbClr val="000000"/>
                </a:solidFill>
                <a:effectLst/>
                <a:uLnTx/>
                <a:uFillTx/>
                <a:latin typeface="Palatino Linotype" panose="02040502050505030304"/>
                <a:ea typeface="+mj-ea"/>
              </a:rPr>
              <a:t> </a:t>
            </a:r>
            <a:r>
              <a:rPr kumimoji="0" lang="en-US" sz="3800" b="1" i="0" u="none" strike="noStrike" kern="0" cap="none" spc="-25" normalizeH="0" baseline="0" noProof="0">
                <a:ln>
                  <a:noFill/>
                </a:ln>
                <a:solidFill>
                  <a:srgbClr val="000000"/>
                </a:solidFill>
                <a:effectLst/>
                <a:uLnTx/>
                <a:uFillTx/>
                <a:latin typeface="Palatino Linotype" panose="02040502050505030304"/>
                <a:ea typeface="+mj-ea"/>
              </a:rPr>
              <a:t>(3)</a:t>
            </a:r>
            <a:endParaRPr kumimoji="0" lang="en-US" sz="3800" b="1" i="0" u="none" strike="noStrike" kern="0" cap="none" spc="0" normalizeH="0" baseline="0" noProof="0">
              <a:ln>
                <a:noFill/>
              </a:ln>
              <a:solidFill>
                <a:srgbClr val="A6A6A6"/>
              </a:solidFill>
              <a:effectLst/>
              <a:uLnTx/>
              <a:uFillTx/>
              <a:latin typeface="Palatino Linotype" panose="02040502050505030304"/>
              <a:ea typeface="+mj-ea"/>
            </a:endParaRPr>
          </a:p>
        </p:txBody>
      </p:sp>
      <p:grpSp>
        <p:nvGrpSpPr>
          <p:cNvPr id="21" name="object 6"/>
          <p:cNvGrpSpPr/>
          <p:nvPr/>
        </p:nvGrpSpPr>
        <p:grpSpPr>
          <a:xfrm>
            <a:off x="999353" y="4968577"/>
            <a:ext cx="4411980" cy="948055"/>
            <a:chOff x="999353" y="4968577"/>
            <a:chExt cx="4411980" cy="948055"/>
          </a:xfrm>
        </p:grpSpPr>
        <p:pic>
          <p:nvPicPr>
            <p:cNvPr id="22" name="object 7"/>
            <p:cNvPicPr/>
            <p:nvPr/>
          </p:nvPicPr>
          <p:blipFill>
            <a:blip r:embed="rId4" cstate="print"/>
            <a:stretch>
              <a:fillRect/>
            </a:stretch>
          </p:blipFill>
          <p:spPr>
            <a:xfrm>
              <a:off x="999353" y="4968577"/>
              <a:ext cx="4411617" cy="554072"/>
            </a:xfrm>
            <a:prstGeom prst="rect">
              <a:avLst/>
            </a:prstGeom>
          </p:spPr>
        </p:pic>
        <p:pic>
          <p:nvPicPr>
            <p:cNvPr id="23" name="object 8"/>
            <p:cNvPicPr/>
            <p:nvPr/>
          </p:nvPicPr>
          <p:blipFill>
            <a:blip r:embed="rId5" cstate="print"/>
            <a:stretch>
              <a:fillRect/>
            </a:stretch>
          </p:blipFill>
          <p:spPr>
            <a:xfrm>
              <a:off x="1000506" y="5668494"/>
              <a:ext cx="1308735" cy="193500"/>
            </a:xfrm>
            <a:prstGeom prst="rect">
              <a:avLst/>
            </a:prstGeom>
          </p:spPr>
        </p:pic>
        <p:sp>
          <p:nvSpPr>
            <p:cNvPr id="24" name="object 9"/>
            <p:cNvSpPr/>
            <p:nvPr/>
          </p:nvSpPr>
          <p:spPr>
            <a:xfrm>
              <a:off x="1458468" y="5532119"/>
              <a:ext cx="299085" cy="384175"/>
            </a:xfrm>
            <a:custGeom>
              <a:avLst/>
              <a:gdLst/>
              <a:ahLst/>
              <a:cxnLst/>
              <a:rect l="l" t="t" r="r" b="b"/>
              <a:pathLst>
                <a:path w="299085" h="384175">
                  <a:moveTo>
                    <a:pt x="298704" y="0"/>
                  </a:moveTo>
                  <a:lnTo>
                    <a:pt x="0" y="0"/>
                  </a:lnTo>
                  <a:lnTo>
                    <a:pt x="0" y="384047"/>
                  </a:lnTo>
                  <a:lnTo>
                    <a:pt x="298704" y="384047"/>
                  </a:lnTo>
                  <a:lnTo>
                    <a:pt x="298704"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
        <p:nvSpPr>
          <p:cNvPr id="25" name="object 10"/>
          <p:cNvSpPr txBox="1"/>
          <p:nvPr/>
        </p:nvSpPr>
        <p:spPr>
          <a:xfrm>
            <a:off x="1511808" y="5550814"/>
            <a:ext cx="282575" cy="314960"/>
          </a:xfrm>
          <a:prstGeom prst="rect">
            <a:avLst/>
          </a:prstGeom>
        </p:spPr>
        <p:txBody>
          <a:bodyPr vert="horz" wrap="square" lIns="0" tIns="12065" rIns="0" bIns="0" rtlCol="0">
            <a:spAutoFit/>
          </a:bodyPr>
          <a:lstStyle/>
          <a:p>
            <a:pPr marL="38100">
              <a:spcBef>
                <a:spcPts val="95"/>
              </a:spcBef>
            </a:pPr>
            <a:r>
              <a:rPr sz="1900" spc="-25" dirty="0">
                <a:solidFill>
                  <a:srgbClr val="FF0000"/>
                </a:solidFill>
                <a:latin typeface="Palatino Linotype" panose="02040502050505030304"/>
                <a:cs typeface="Palatino Linotype" panose="02040502050505030304"/>
              </a:rPr>
              <a:t>x</a:t>
            </a:r>
            <a:r>
              <a:rPr sz="1875" spc="-37" baseline="-20000" dirty="0">
                <a:solidFill>
                  <a:srgbClr val="FF0000"/>
                </a:solidFill>
                <a:latin typeface="Palatino Linotype" panose="02040502050505030304"/>
                <a:cs typeface="Palatino Linotype" panose="02040502050505030304"/>
              </a:rPr>
              <a:t>3</a:t>
            </a:r>
            <a:endParaRPr sz="1875" baseline="-20000">
              <a:solidFill>
                <a:sysClr val="windowText" lastClr="000000"/>
              </a:solidFill>
              <a:latin typeface="Palatino Linotype" panose="02040502050505030304"/>
              <a:cs typeface="Palatino Linotype" panose="02040502050505030304"/>
            </a:endParaRPr>
          </a:p>
        </p:txBody>
      </p:sp>
      <p:sp>
        <p:nvSpPr>
          <p:cNvPr id="26" name="object 11"/>
          <p:cNvSpPr/>
          <p:nvPr/>
        </p:nvSpPr>
        <p:spPr>
          <a:xfrm>
            <a:off x="934211" y="5184647"/>
            <a:ext cx="299085" cy="386080"/>
          </a:xfrm>
          <a:custGeom>
            <a:avLst/>
            <a:gdLst/>
            <a:ahLst/>
            <a:cxnLst/>
            <a:rect l="l" t="t" r="r" b="b"/>
            <a:pathLst>
              <a:path w="299084" h="386079">
                <a:moveTo>
                  <a:pt x="298703" y="0"/>
                </a:moveTo>
                <a:lnTo>
                  <a:pt x="0" y="0"/>
                </a:lnTo>
                <a:lnTo>
                  <a:pt x="0" y="385571"/>
                </a:lnTo>
                <a:lnTo>
                  <a:pt x="298703" y="385571"/>
                </a:lnTo>
                <a:lnTo>
                  <a:pt x="298703"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27" name="object 12"/>
          <p:cNvSpPr txBox="1"/>
          <p:nvPr/>
        </p:nvSpPr>
        <p:spPr>
          <a:xfrm>
            <a:off x="987552" y="5204586"/>
            <a:ext cx="281940" cy="314960"/>
          </a:xfrm>
          <a:prstGeom prst="rect">
            <a:avLst/>
          </a:prstGeom>
        </p:spPr>
        <p:txBody>
          <a:bodyPr vert="horz" wrap="square" lIns="0" tIns="12065" rIns="0" bIns="0" rtlCol="0">
            <a:spAutoFit/>
          </a:bodyPr>
          <a:lstStyle/>
          <a:p>
            <a:pPr marL="38100">
              <a:spcBef>
                <a:spcPts val="95"/>
              </a:spcBef>
            </a:pPr>
            <a:r>
              <a:rPr sz="1900" spc="-25" dirty="0">
                <a:solidFill>
                  <a:srgbClr val="FF0000"/>
                </a:solidFill>
                <a:latin typeface="Palatino Linotype" panose="02040502050505030304"/>
                <a:cs typeface="Palatino Linotype" panose="02040502050505030304"/>
              </a:rPr>
              <a:t>x</a:t>
            </a:r>
            <a:r>
              <a:rPr sz="1875" spc="-37" baseline="-20000" dirty="0">
                <a:solidFill>
                  <a:srgbClr val="FF0000"/>
                </a:solidFill>
                <a:latin typeface="Palatino Linotype" panose="02040502050505030304"/>
                <a:cs typeface="Palatino Linotype" panose="02040502050505030304"/>
              </a:rPr>
              <a:t>3</a:t>
            </a:r>
            <a:endParaRPr sz="1875" baseline="-20000">
              <a:solidFill>
                <a:sysClr val="windowText" lastClr="000000"/>
              </a:solidFill>
              <a:latin typeface="Palatino Linotype" panose="02040502050505030304"/>
              <a:cs typeface="Palatino Linotype" panose="02040502050505030304"/>
            </a:endParaRPr>
          </a:p>
        </p:txBody>
      </p:sp>
      <p:sp>
        <p:nvSpPr>
          <p:cNvPr id="28" name="object 13"/>
          <p:cNvSpPr txBox="1"/>
          <p:nvPr/>
        </p:nvSpPr>
        <p:spPr>
          <a:xfrm>
            <a:off x="2876804" y="5315458"/>
            <a:ext cx="5562600" cy="269240"/>
          </a:xfrm>
          <a:prstGeom prst="rect">
            <a:avLst/>
          </a:prstGeom>
        </p:spPr>
        <p:txBody>
          <a:bodyPr vert="horz" wrap="square" lIns="0" tIns="12065" rIns="0" bIns="0" rtlCol="0">
            <a:spAutoFit/>
          </a:bodyPr>
          <a:lstStyle/>
          <a:p>
            <a:pPr marL="12700">
              <a:spcBef>
                <a:spcPts val="95"/>
              </a:spcBef>
            </a:pPr>
            <a:r>
              <a:rPr sz="1600" dirty="0">
                <a:solidFill>
                  <a:srgbClr val="FF0000"/>
                </a:solidFill>
                <a:latin typeface="Palatino Linotype" panose="02040502050505030304"/>
                <a:cs typeface="Palatino Linotype" panose="02040502050505030304"/>
              </a:rPr>
              <a:t>//</a:t>
            </a:r>
            <a:r>
              <a:rPr sz="1600" spc="-40"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x1</a:t>
            </a:r>
            <a:r>
              <a:rPr sz="1600" spc="-40"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if</a:t>
            </a:r>
            <a:r>
              <a:rPr sz="1600" spc="-35"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control</a:t>
            </a:r>
            <a:r>
              <a:rPr sz="1600" spc="-15"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flow</a:t>
            </a:r>
            <a:r>
              <a:rPr sz="1600" spc="-25"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passes</a:t>
            </a:r>
            <a:r>
              <a:rPr sz="1600" spc="-30"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through</a:t>
            </a:r>
            <a:r>
              <a:rPr sz="1600" spc="-15"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the</a:t>
            </a:r>
            <a:r>
              <a:rPr sz="1600" spc="-15"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true</a:t>
            </a:r>
            <a:r>
              <a:rPr sz="1600" spc="-30"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part;</a:t>
            </a:r>
            <a:r>
              <a:rPr sz="1600" spc="-40"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otherwise</a:t>
            </a:r>
            <a:r>
              <a:rPr sz="1600" spc="-20" dirty="0">
                <a:solidFill>
                  <a:srgbClr val="FF0000"/>
                </a:solidFill>
                <a:latin typeface="Palatino Linotype" panose="02040502050505030304"/>
                <a:cs typeface="Palatino Linotype" panose="02040502050505030304"/>
              </a:rPr>
              <a:t> </a:t>
            </a:r>
            <a:r>
              <a:rPr sz="1600" spc="-25" dirty="0">
                <a:solidFill>
                  <a:srgbClr val="FF0000"/>
                </a:solidFill>
                <a:latin typeface="Palatino Linotype" panose="02040502050505030304"/>
                <a:cs typeface="Palatino Linotype" panose="02040502050505030304"/>
              </a:rPr>
              <a:t>x2</a:t>
            </a:r>
            <a:endParaRPr sz="1600">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27</a:t>
            </a:fld>
            <a:endParaRPr lang="en-US"/>
          </a:p>
        </p:txBody>
      </p:sp>
      <p:sp>
        <p:nvSpPr>
          <p:cNvPr id="7"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Outline</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8" name="object 3"/>
          <p:cNvSpPr txBox="1"/>
          <p:nvPr/>
        </p:nvSpPr>
        <p:spPr>
          <a:xfrm>
            <a:off x="707542" y="1658239"/>
            <a:ext cx="4104004" cy="4110990"/>
          </a:xfrm>
          <a:prstGeom prst="rect">
            <a:avLst/>
          </a:prstGeom>
        </p:spPr>
        <p:txBody>
          <a:bodyPr vert="horz" wrap="square" lIns="0" tIns="12700" rIns="0" bIns="0" rtlCol="0">
            <a:spAutoFit/>
          </a:bodyPr>
          <a:lstStyle>
            <a:lvl1pPr marL="0">
              <a:defRPr sz="2400" b="0" i="0">
                <a:solidFill>
                  <a:srgbClr val="A6A6A6"/>
                </a:solidFill>
                <a:latin typeface="Palatino Linotype" panose="02040502050505030304"/>
                <a:ea typeface="+mn-ea"/>
                <a:cs typeface="Palatino Linotype" panose="0204050205050503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935" marR="0" lvl="0" indent="-229235" defTabSz="914400" eaLnBrk="1" fontAlgn="auto" latinLnBrk="0" hangingPunct="1">
              <a:lnSpc>
                <a:spcPct val="100000"/>
              </a:lnSpc>
              <a:spcBef>
                <a:spcPts val="100"/>
              </a:spcBef>
              <a:spcAft>
                <a:spcPts val="0"/>
              </a:spcAft>
              <a:buClr>
                <a:srgbClr val="000000"/>
              </a:buClr>
              <a:buSzTx/>
              <a:buFont typeface="Arial MT"/>
              <a:buChar char="•"/>
              <a:tabLst>
                <a:tab pos="241935" algn="l"/>
              </a:tabLst>
              <a:defRPr/>
            </a:pPr>
            <a:r>
              <a:rPr kumimoji="0" lang="en-US" sz="2400" b="0" i="0" u="none" strike="noStrike" kern="0" cap="none" spc="0" normalizeH="0" baseline="0" noProof="0">
                <a:ln>
                  <a:noFill/>
                </a:ln>
                <a:solidFill>
                  <a:srgbClr val="A6A6A6"/>
                </a:solidFill>
                <a:effectLst/>
                <a:uLnTx/>
                <a:uFillTx/>
                <a:latin typeface="Palatino Linotype" panose="02040502050505030304"/>
                <a:ea typeface="+mn-ea"/>
              </a:rPr>
              <a:t>Intermediate</a:t>
            </a:r>
            <a:r>
              <a:rPr kumimoji="0" lang="en-US" sz="2400" b="0" i="0" u="none" strike="noStrike" kern="0" cap="none" spc="-120" normalizeH="0" baseline="0" noProof="0">
                <a:ln>
                  <a:noFill/>
                </a:ln>
                <a:solidFill>
                  <a:srgbClr val="A6A6A6"/>
                </a:solidFill>
                <a:effectLst/>
                <a:uLnTx/>
                <a:uFillTx/>
                <a:latin typeface="Palatino Linotype" panose="02040502050505030304"/>
                <a:ea typeface="+mn-ea"/>
              </a:rPr>
              <a:t> </a:t>
            </a:r>
            <a:r>
              <a:rPr kumimoji="0" lang="en-US" sz="2400" b="0" i="0" u="none" strike="noStrike" kern="0" cap="none" spc="-10" normalizeH="0" baseline="0" noProof="0">
                <a:ln>
                  <a:noFill/>
                </a:ln>
                <a:solidFill>
                  <a:srgbClr val="A6A6A6"/>
                </a:solidFill>
                <a:effectLst/>
                <a:uLnTx/>
                <a:uFillTx/>
                <a:latin typeface="Palatino Linotype" panose="02040502050505030304"/>
                <a:ea typeface="+mn-ea"/>
              </a:rPr>
              <a:t>Representation</a:t>
            </a:r>
          </a:p>
          <a:p>
            <a:pPr marL="241935" marR="0" lvl="0" indent="-229235" defTabSz="914400" eaLnBrk="1" fontAlgn="auto" latinLnBrk="0" hangingPunct="1">
              <a:lnSpc>
                <a:spcPct val="100000"/>
              </a:lnSpc>
              <a:spcBef>
                <a:spcPts val="2975"/>
              </a:spcBef>
              <a:spcAft>
                <a:spcPts val="0"/>
              </a:spcAft>
              <a:buClrTx/>
              <a:buSzTx/>
              <a:buFont typeface="Arial MT"/>
              <a:buChar char="•"/>
              <a:tabLst>
                <a:tab pos="241935" algn="l"/>
              </a:tabLst>
              <a:defRPr/>
            </a:pPr>
            <a:r>
              <a:rPr kumimoji="0" lang="en-US" sz="2400" b="0" i="0" u="none" strike="noStrike" kern="0" cap="none" spc="-10" normalizeH="0" baseline="0" noProof="0">
                <a:ln>
                  <a:noFill/>
                </a:ln>
                <a:solidFill>
                  <a:srgbClr val="000000"/>
                </a:solidFill>
                <a:effectLst/>
                <a:uLnTx/>
                <a:uFillTx/>
                <a:latin typeface="Palatino Linotype" panose="02040502050505030304"/>
                <a:ea typeface="+mn-ea"/>
              </a:rPr>
              <a:t>Type</a:t>
            </a:r>
            <a:r>
              <a:rPr kumimoji="0" lang="en-US" sz="2400" b="0" i="0" u="none" strike="noStrike" kern="0" cap="none" spc="-85" normalizeH="0" baseline="0" noProof="0">
                <a:ln>
                  <a:noFill/>
                </a:ln>
                <a:solidFill>
                  <a:srgbClr val="000000"/>
                </a:solidFill>
                <a:effectLst/>
                <a:uLnTx/>
                <a:uFillTx/>
                <a:latin typeface="Palatino Linotype" panose="02040502050505030304"/>
                <a:ea typeface="+mn-ea"/>
              </a:rPr>
              <a:t> </a:t>
            </a:r>
            <a:r>
              <a:rPr kumimoji="0" lang="en-US" sz="2400" b="0" i="0" u="none" strike="noStrike" kern="0" cap="none" spc="0" normalizeH="0" baseline="0" noProof="0">
                <a:ln>
                  <a:noFill/>
                </a:ln>
                <a:solidFill>
                  <a:srgbClr val="000000"/>
                </a:solidFill>
                <a:effectLst/>
                <a:uLnTx/>
                <a:uFillTx/>
                <a:latin typeface="Palatino Linotype" panose="02040502050505030304"/>
                <a:ea typeface="+mn-ea"/>
              </a:rPr>
              <a:t>and</a:t>
            </a:r>
            <a:r>
              <a:rPr kumimoji="0" lang="en-US" sz="2400" b="0" i="0" u="none" strike="noStrike" kern="0" cap="none" spc="-85" normalizeH="0" baseline="0" noProof="0">
                <a:ln>
                  <a:noFill/>
                </a:ln>
                <a:solidFill>
                  <a:srgbClr val="000000"/>
                </a:solidFill>
                <a:effectLst/>
                <a:uLnTx/>
                <a:uFillTx/>
                <a:latin typeface="Palatino Linotype" panose="02040502050505030304"/>
                <a:ea typeface="+mn-ea"/>
              </a:rPr>
              <a:t> </a:t>
            </a:r>
            <a:r>
              <a:rPr kumimoji="0" lang="en-US" sz="2400" b="0" i="0" u="none" strike="noStrike" kern="0" cap="none" spc="-10" normalizeH="0" baseline="0" noProof="0">
                <a:ln>
                  <a:noFill/>
                </a:ln>
                <a:solidFill>
                  <a:srgbClr val="000000"/>
                </a:solidFill>
                <a:effectLst/>
                <a:uLnTx/>
                <a:uFillTx/>
                <a:latin typeface="Palatino Linotype" panose="02040502050505030304"/>
                <a:ea typeface="+mn-ea"/>
              </a:rPr>
              <a:t>Declarations</a:t>
            </a:r>
          </a:p>
          <a:p>
            <a:pPr marL="241935" marR="0" lvl="0" indent="-229235" defTabSz="914400" eaLnBrk="1" fontAlgn="auto" latinLnBrk="0" hangingPunct="1">
              <a:lnSpc>
                <a:spcPct val="100000"/>
              </a:lnSpc>
              <a:spcBef>
                <a:spcPts val="2975"/>
              </a:spcBef>
              <a:spcAft>
                <a:spcPts val="0"/>
              </a:spcAft>
              <a:buClr>
                <a:srgbClr val="000000"/>
              </a:buClr>
              <a:buSzTx/>
              <a:buFont typeface="Arial MT"/>
              <a:buChar char="•"/>
              <a:tabLst>
                <a:tab pos="241935" algn="l"/>
              </a:tabLst>
              <a:defRPr/>
            </a:pPr>
            <a:r>
              <a:rPr kumimoji="0" lang="en-US" sz="2400" b="0" i="0" u="none" strike="noStrike" kern="0" cap="none" spc="-25" normalizeH="0" baseline="0" noProof="0">
                <a:ln>
                  <a:noFill/>
                </a:ln>
                <a:solidFill>
                  <a:srgbClr val="A6A6A6"/>
                </a:solidFill>
                <a:effectLst/>
                <a:uLnTx/>
                <a:uFillTx/>
                <a:latin typeface="Palatino Linotype" panose="02040502050505030304"/>
                <a:ea typeface="+mn-ea"/>
              </a:rPr>
              <a:t>Translation</a:t>
            </a:r>
            <a:r>
              <a:rPr kumimoji="0" lang="en-US" sz="2400" b="0" i="0" u="none" strike="noStrike" kern="0" cap="none" spc="-35" normalizeH="0" baseline="0" noProof="0">
                <a:ln>
                  <a:noFill/>
                </a:ln>
                <a:solidFill>
                  <a:srgbClr val="A6A6A6"/>
                </a:solidFill>
                <a:effectLst/>
                <a:uLnTx/>
                <a:uFillTx/>
                <a:latin typeface="Palatino Linotype" panose="02040502050505030304"/>
                <a:ea typeface="+mn-ea"/>
              </a:rPr>
              <a:t> </a:t>
            </a:r>
            <a:r>
              <a:rPr kumimoji="0" lang="en-US" sz="2400" b="0" i="0" u="none" strike="noStrike" kern="0" cap="none" spc="0" normalizeH="0" baseline="0" noProof="0">
                <a:ln>
                  <a:noFill/>
                </a:ln>
                <a:solidFill>
                  <a:srgbClr val="A6A6A6"/>
                </a:solidFill>
                <a:effectLst/>
                <a:uLnTx/>
                <a:uFillTx/>
                <a:latin typeface="Palatino Linotype" panose="02040502050505030304"/>
                <a:ea typeface="+mn-ea"/>
              </a:rPr>
              <a:t>of</a:t>
            </a:r>
            <a:r>
              <a:rPr kumimoji="0" lang="en-US" sz="2400" b="0" i="0" u="none" strike="noStrike" kern="0" cap="none" spc="-40" normalizeH="0" baseline="0" noProof="0">
                <a:ln>
                  <a:noFill/>
                </a:ln>
                <a:solidFill>
                  <a:srgbClr val="A6A6A6"/>
                </a:solidFill>
                <a:effectLst/>
                <a:uLnTx/>
                <a:uFillTx/>
                <a:latin typeface="Palatino Linotype" panose="02040502050505030304"/>
                <a:ea typeface="+mn-ea"/>
              </a:rPr>
              <a:t> </a:t>
            </a:r>
            <a:r>
              <a:rPr kumimoji="0" lang="en-US" sz="2400" b="0" i="0" u="none" strike="noStrike" kern="0" cap="none" spc="-10" normalizeH="0" baseline="0" noProof="0">
                <a:ln>
                  <a:noFill/>
                </a:ln>
                <a:solidFill>
                  <a:srgbClr val="A6A6A6"/>
                </a:solidFill>
                <a:effectLst/>
                <a:uLnTx/>
                <a:uFillTx/>
                <a:latin typeface="Palatino Linotype" panose="02040502050505030304"/>
                <a:ea typeface="+mn-ea"/>
              </a:rPr>
              <a:t>Expressions</a:t>
            </a:r>
          </a:p>
          <a:p>
            <a:pPr marL="241300" marR="0" lvl="0" indent="-228600" defTabSz="914400" eaLnBrk="1" fontAlgn="auto" latinLnBrk="0" hangingPunct="1">
              <a:lnSpc>
                <a:spcPct val="100000"/>
              </a:lnSpc>
              <a:spcBef>
                <a:spcPts val="2980"/>
              </a:spcBef>
              <a:spcAft>
                <a:spcPts val="0"/>
              </a:spcAft>
              <a:buClr>
                <a:srgbClr val="000000"/>
              </a:buClr>
              <a:buSzTx/>
              <a:buFont typeface="Arial MT"/>
              <a:buChar char="•"/>
              <a:tabLst>
                <a:tab pos="241300" algn="l"/>
              </a:tabLst>
              <a:defRPr/>
            </a:pPr>
            <a:r>
              <a:rPr kumimoji="0" lang="en-US" sz="2400" b="0" i="0" u="none" strike="noStrike" kern="0" cap="none" spc="-20" normalizeH="0" baseline="0" noProof="0">
                <a:ln>
                  <a:noFill/>
                </a:ln>
                <a:solidFill>
                  <a:srgbClr val="A6A6A6"/>
                </a:solidFill>
                <a:effectLst/>
                <a:uLnTx/>
                <a:uFillTx/>
                <a:latin typeface="Palatino Linotype" panose="02040502050505030304"/>
                <a:ea typeface="+mn-ea"/>
              </a:rPr>
              <a:t>Type</a:t>
            </a:r>
            <a:r>
              <a:rPr kumimoji="0" lang="en-US" sz="2400" b="0" i="0" u="none" strike="noStrike" kern="0" cap="none" spc="-105" normalizeH="0" baseline="0" noProof="0">
                <a:ln>
                  <a:noFill/>
                </a:ln>
                <a:solidFill>
                  <a:srgbClr val="A6A6A6"/>
                </a:solidFill>
                <a:effectLst/>
                <a:uLnTx/>
                <a:uFillTx/>
                <a:latin typeface="Palatino Linotype" panose="02040502050505030304"/>
                <a:ea typeface="+mn-ea"/>
              </a:rPr>
              <a:t> </a:t>
            </a:r>
            <a:r>
              <a:rPr kumimoji="0" lang="en-US" sz="2400" b="0" i="0" u="none" strike="noStrike" kern="0" cap="none" spc="-10" normalizeH="0" baseline="0" noProof="0">
                <a:ln>
                  <a:noFill/>
                </a:ln>
                <a:solidFill>
                  <a:srgbClr val="A6A6A6"/>
                </a:solidFill>
                <a:effectLst/>
                <a:uLnTx/>
                <a:uFillTx/>
                <a:latin typeface="Palatino Linotype" panose="02040502050505030304"/>
                <a:ea typeface="+mn-ea"/>
              </a:rPr>
              <a:t>Checking</a:t>
            </a:r>
          </a:p>
          <a:p>
            <a:pPr marL="241935" marR="0" lvl="0" indent="-229235" defTabSz="914400" eaLnBrk="1" fontAlgn="auto" latinLnBrk="0" hangingPunct="1">
              <a:lnSpc>
                <a:spcPct val="100000"/>
              </a:lnSpc>
              <a:spcBef>
                <a:spcPts val="2975"/>
              </a:spcBef>
              <a:spcAft>
                <a:spcPts val="0"/>
              </a:spcAft>
              <a:buClr>
                <a:srgbClr val="000000"/>
              </a:buClr>
              <a:buSzTx/>
              <a:buFont typeface="Arial MT"/>
              <a:buChar char="•"/>
              <a:tabLst>
                <a:tab pos="241935" algn="l"/>
              </a:tabLst>
              <a:defRPr/>
            </a:pPr>
            <a:r>
              <a:rPr kumimoji="0" lang="en-US" sz="2400" b="0" i="0" u="none" strike="noStrike" kern="0" cap="none" spc="0" normalizeH="0" baseline="0" noProof="0">
                <a:ln>
                  <a:noFill/>
                </a:ln>
                <a:solidFill>
                  <a:srgbClr val="A6A6A6"/>
                </a:solidFill>
                <a:effectLst/>
                <a:uLnTx/>
                <a:uFillTx/>
                <a:latin typeface="Palatino Linotype" panose="02040502050505030304"/>
                <a:ea typeface="+mn-ea"/>
              </a:rPr>
              <a:t>Control</a:t>
            </a:r>
            <a:r>
              <a:rPr kumimoji="0" lang="en-US" sz="2400" b="0" i="0" u="none" strike="noStrike" kern="0" cap="none" spc="-95" normalizeH="0" baseline="0" noProof="0">
                <a:ln>
                  <a:noFill/>
                </a:ln>
                <a:solidFill>
                  <a:srgbClr val="A6A6A6"/>
                </a:solidFill>
                <a:effectLst/>
                <a:uLnTx/>
                <a:uFillTx/>
                <a:latin typeface="Palatino Linotype" panose="02040502050505030304"/>
                <a:ea typeface="+mn-ea"/>
              </a:rPr>
              <a:t> </a:t>
            </a:r>
            <a:r>
              <a:rPr kumimoji="0" lang="en-US" sz="2400" b="0" i="0" u="none" strike="noStrike" kern="0" cap="none" spc="-20" normalizeH="0" baseline="0" noProof="0">
                <a:ln>
                  <a:noFill/>
                </a:ln>
                <a:solidFill>
                  <a:srgbClr val="A6A6A6"/>
                </a:solidFill>
                <a:effectLst/>
                <a:uLnTx/>
                <a:uFillTx/>
                <a:latin typeface="Palatino Linotype" panose="02040502050505030304"/>
                <a:ea typeface="+mn-ea"/>
              </a:rPr>
              <a:t>Flow</a:t>
            </a:r>
          </a:p>
          <a:p>
            <a:pPr marL="241935" marR="0" lvl="0" indent="-229235" defTabSz="914400" eaLnBrk="1" fontAlgn="auto" latinLnBrk="0" hangingPunct="1">
              <a:lnSpc>
                <a:spcPct val="100000"/>
              </a:lnSpc>
              <a:spcBef>
                <a:spcPts val="2980"/>
              </a:spcBef>
              <a:spcAft>
                <a:spcPts val="0"/>
              </a:spcAft>
              <a:buClr>
                <a:srgbClr val="000000"/>
              </a:buClr>
              <a:buSzTx/>
              <a:buFont typeface="Arial MT"/>
              <a:buChar char="•"/>
              <a:tabLst>
                <a:tab pos="241935" algn="l"/>
              </a:tabLst>
              <a:defRPr/>
            </a:pPr>
            <a:r>
              <a:rPr kumimoji="0" lang="en-US" sz="2400" b="0" i="0" u="none" strike="noStrike" kern="0" cap="none" spc="-10" normalizeH="0" baseline="0" noProof="0">
                <a:ln>
                  <a:noFill/>
                </a:ln>
                <a:solidFill>
                  <a:srgbClr val="A6A6A6"/>
                </a:solidFill>
                <a:effectLst/>
                <a:uLnTx/>
                <a:uFillTx/>
                <a:latin typeface="Palatino Linotype" panose="02040502050505030304"/>
                <a:ea typeface="+mn-ea"/>
              </a:rPr>
              <a:t>Backpatching</a:t>
            </a:r>
            <a:endParaRPr kumimoji="0" lang="en-US" sz="2400" b="0" i="0" u="none" strike="noStrike" kern="0" cap="none" spc="-10" normalizeH="0" baseline="0" noProof="0" dirty="0">
              <a:ln>
                <a:noFill/>
              </a:ln>
              <a:solidFill>
                <a:srgbClr val="A6A6A6"/>
              </a:solidFill>
              <a:effectLst/>
              <a:uLnTx/>
              <a:uFillTx/>
              <a:latin typeface="Palatino Linotype" panose="02040502050505030304"/>
              <a:ea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28</a:t>
            </a:fld>
            <a:endParaRPr lang="en-US"/>
          </a:p>
        </p:txBody>
      </p:sp>
      <p:sp>
        <p:nvSpPr>
          <p:cNvPr id="7"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35" normalizeH="0" baseline="0" noProof="0">
                <a:ln>
                  <a:noFill/>
                </a:ln>
                <a:solidFill>
                  <a:srgbClr val="000000"/>
                </a:solidFill>
                <a:effectLst/>
                <a:uLnTx/>
                <a:uFillTx/>
                <a:latin typeface="Palatino Linotype" panose="02040502050505030304"/>
                <a:ea typeface="+mj-ea"/>
              </a:rPr>
              <a:t>Types</a:t>
            </a:r>
            <a:r>
              <a:rPr kumimoji="0" lang="en-US" sz="4000" b="1" i="0" u="none" strike="noStrike" kern="0" cap="none" spc="-13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and</a:t>
            </a:r>
            <a:r>
              <a:rPr kumimoji="0" lang="en-US" sz="4000" b="1" i="0" u="none" strike="noStrike" kern="0" cap="none" spc="-12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55" normalizeH="0" baseline="0" noProof="0">
                <a:ln>
                  <a:noFill/>
                </a:ln>
                <a:solidFill>
                  <a:srgbClr val="000000"/>
                </a:solidFill>
                <a:effectLst/>
                <a:uLnTx/>
                <a:uFillTx/>
                <a:latin typeface="Palatino Linotype" panose="02040502050505030304"/>
                <a:ea typeface="+mj-ea"/>
              </a:rPr>
              <a:t>Type</a:t>
            </a:r>
            <a:r>
              <a:rPr kumimoji="0" lang="en-US" sz="4000" b="1" i="0" u="none" strike="noStrike" kern="0" cap="none" spc="-12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Checking</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8" name="object 3"/>
          <p:cNvSpPr txBox="1"/>
          <p:nvPr/>
        </p:nvSpPr>
        <p:spPr>
          <a:xfrm>
            <a:off x="707542" y="1593316"/>
            <a:ext cx="7348220" cy="4345305"/>
          </a:xfrm>
          <a:prstGeom prst="rect">
            <a:avLst/>
          </a:prstGeom>
        </p:spPr>
        <p:txBody>
          <a:bodyPr vert="horz" wrap="square" lIns="0" tIns="12700" rIns="0" bIns="0" rtlCol="0">
            <a:spAutoFit/>
          </a:bodyPr>
          <a:lstStyle/>
          <a:p>
            <a:pPr marL="242570" marR="124460" indent="-230505">
              <a:lnSpc>
                <a:spcPct val="120000"/>
              </a:lnSpc>
              <a:spcBef>
                <a:spcPts val="100"/>
              </a:spcBef>
              <a:buClr>
                <a:srgbClr val="000000"/>
              </a:buClr>
              <a:buFont typeface="Arial MT"/>
              <a:buChar char="•"/>
              <a:tabLst>
                <a:tab pos="242570" algn="l"/>
              </a:tabLst>
            </a:pPr>
            <a:r>
              <a:rPr sz="2000" i="1" dirty="0">
                <a:solidFill>
                  <a:srgbClr val="FF0000"/>
                </a:solidFill>
                <a:latin typeface="Palatino Linotype" panose="02040502050505030304"/>
                <a:cs typeface="Palatino Linotype" panose="02040502050505030304"/>
              </a:rPr>
              <a:t>Data</a:t>
            </a:r>
            <a:r>
              <a:rPr sz="2000" i="1" spc="-40" dirty="0">
                <a:solidFill>
                  <a:srgbClr val="FF0000"/>
                </a:solidFill>
                <a:latin typeface="Palatino Linotype" panose="02040502050505030304"/>
                <a:cs typeface="Palatino Linotype" panose="02040502050505030304"/>
              </a:rPr>
              <a:t> </a:t>
            </a:r>
            <a:r>
              <a:rPr sz="2000" i="1" dirty="0">
                <a:solidFill>
                  <a:srgbClr val="FF0000"/>
                </a:solidFill>
                <a:latin typeface="Palatino Linotype" panose="02040502050505030304"/>
                <a:cs typeface="Palatino Linotype" panose="02040502050505030304"/>
              </a:rPr>
              <a:t>type</a:t>
            </a:r>
            <a:r>
              <a:rPr sz="2000" i="1" spc="-40" dirty="0">
                <a:solidFill>
                  <a:srgbClr val="FF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or</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simply</a:t>
            </a:r>
            <a:r>
              <a:rPr sz="2000" spc="-15" dirty="0">
                <a:solidFill>
                  <a:sysClr val="windowText" lastClr="000000"/>
                </a:solidFill>
                <a:latin typeface="Palatino Linotype" panose="02040502050505030304"/>
                <a:cs typeface="Palatino Linotype" panose="02040502050505030304"/>
              </a:rPr>
              <a:t> </a:t>
            </a:r>
            <a:r>
              <a:rPr sz="2000" i="1" dirty="0">
                <a:solidFill>
                  <a:srgbClr val="FF0000"/>
                </a:solidFill>
                <a:latin typeface="Palatino Linotype" panose="02040502050505030304"/>
                <a:cs typeface="Palatino Linotype" panose="02040502050505030304"/>
              </a:rPr>
              <a:t>type</a:t>
            </a:r>
            <a:r>
              <a:rPr sz="2000" i="1" spc="-40" dirty="0">
                <a:solidFill>
                  <a:srgbClr val="FF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tells</a:t>
            </a:r>
            <a:r>
              <a:rPr sz="2000" spc="-1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compiler</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or</a:t>
            </a:r>
            <a:r>
              <a:rPr sz="2000" spc="-3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interpreter</a:t>
            </a:r>
            <a:r>
              <a:rPr sz="2000" spc="-3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how</a:t>
            </a:r>
            <a:r>
              <a:rPr sz="2000" spc="-30" dirty="0">
                <a:solidFill>
                  <a:sysClr val="windowText" lastClr="000000"/>
                </a:solidFill>
                <a:latin typeface="Palatino Linotype" panose="02040502050505030304"/>
                <a:cs typeface="Palatino Linotype" panose="02040502050505030304"/>
              </a:rPr>
              <a:t> </a:t>
            </a:r>
            <a:r>
              <a:rPr sz="2000" spc="-25" dirty="0">
                <a:solidFill>
                  <a:sysClr val="windowText" lastClr="000000"/>
                </a:solidFill>
                <a:latin typeface="Palatino Linotype" panose="02040502050505030304"/>
                <a:cs typeface="Palatino Linotype" panose="02040502050505030304"/>
              </a:rPr>
              <a:t>the </a:t>
            </a:r>
            <a:r>
              <a:rPr sz="2000" dirty="0">
                <a:solidFill>
                  <a:sysClr val="windowText" lastClr="000000"/>
                </a:solidFill>
                <a:latin typeface="Palatino Linotype" panose="02040502050505030304"/>
                <a:cs typeface="Palatino Linotype" panose="02040502050505030304"/>
              </a:rPr>
              <a:t>programmers</a:t>
            </a:r>
            <a:r>
              <a:rPr sz="2000" spc="-4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intend</a:t>
            </a:r>
            <a:r>
              <a:rPr sz="2000" spc="-1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to</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use</a:t>
            </a:r>
            <a:r>
              <a:rPr sz="2000" spc="-1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the</a:t>
            </a:r>
            <a:r>
              <a:rPr sz="2000" spc="-5" dirty="0">
                <a:solidFill>
                  <a:sysClr val="windowText" lastClr="000000"/>
                </a:solidFill>
                <a:latin typeface="Palatino Linotype" panose="02040502050505030304"/>
                <a:cs typeface="Palatino Linotype" panose="02040502050505030304"/>
              </a:rPr>
              <a:t> </a:t>
            </a:r>
            <a:r>
              <a:rPr sz="2000" spc="-20" dirty="0">
                <a:solidFill>
                  <a:sysClr val="windowText" lastClr="000000"/>
                </a:solidFill>
                <a:latin typeface="Palatino Linotype" panose="02040502050505030304"/>
                <a:cs typeface="Palatino Linotype" panose="02040502050505030304"/>
              </a:rPr>
              <a:t>data</a:t>
            </a:r>
            <a:endParaRPr sz="2000">
              <a:solidFill>
                <a:sysClr val="windowText" lastClr="000000"/>
              </a:solidFill>
              <a:latin typeface="Palatino Linotype" panose="02040502050505030304"/>
              <a:cs typeface="Palatino Linotype" panose="02040502050505030304"/>
            </a:endParaRPr>
          </a:p>
          <a:p>
            <a:pPr marL="242570" indent="-229870">
              <a:spcBef>
                <a:spcPts val="2280"/>
              </a:spcBef>
              <a:buFont typeface="Arial MT"/>
              <a:buChar char="•"/>
              <a:tabLst>
                <a:tab pos="242570" algn="l"/>
              </a:tabLst>
            </a:pPr>
            <a:r>
              <a:rPr sz="2000" dirty="0">
                <a:solidFill>
                  <a:sysClr val="windowText" lastClr="000000"/>
                </a:solidFill>
                <a:latin typeface="Palatino Linotype" panose="02040502050505030304"/>
                <a:cs typeface="Palatino Linotype" panose="02040502050505030304"/>
              </a:rPr>
              <a:t>The</a:t>
            </a:r>
            <a:r>
              <a:rPr sz="2000" spc="-1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usefulness</a:t>
            </a:r>
            <a:r>
              <a:rPr sz="2000" spc="-6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of</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type</a:t>
            </a:r>
            <a:r>
              <a:rPr sz="2000" spc="-10" dirty="0">
                <a:solidFill>
                  <a:sysClr val="windowText" lastClr="000000"/>
                </a:solidFill>
                <a:latin typeface="Palatino Linotype" panose="02040502050505030304"/>
                <a:cs typeface="Palatino Linotype" panose="02040502050505030304"/>
              </a:rPr>
              <a:t> information</a:t>
            </a:r>
            <a:endParaRPr sz="2000">
              <a:solidFill>
                <a:sysClr val="windowText" lastClr="000000"/>
              </a:solidFill>
              <a:latin typeface="Palatino Linotype" panose="02040502050505030304"/>
              <a:cs typeface="Palatino Linotype" panose="02040502050505030304"/>
            </a:endParaRPr>
          </a:p>
          <a:p>
            <a:pPr marL="697865" lvl="1" indent="-227965">
              <a:spcBef>
                <a:spcPts val="1350"/>
              </a:spcBef>
              <a:buFont typeface="Wingdings" panose="05000000000000000000"/>
              <a:buChar char=""/>
              <a:tabLst>
                <a:tab pos="697865" algn="l"/>
              </a:tabLst>
            </a:pPr>
            <a:r>
              <a:rPr sz="1600" dirty="0">
                <a:solidFill>
                  <a:sysClr val="windowText" lastClr="000000"/>
                </a:solidFill>
                <a:latin typeface="Palatino Linotype" panose="02040502050505030304"/>
                <a:cs typeface="Palatino Linotype" panose="02040502050505030304"/>
              </a:rPr>
              <a:t>Find</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faults</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in</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a:t>
            </a:r>
            <a:r>
              <a:rPr sz="1600" spc="-1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source</a:t>
            </a:r>
            <a:r>
              <a:rPr sz="1600" spc="-30" dirty="0">
                <a:solidFill>
                  <a:sysClr val="windowText" lastClr="000000"/>
                </a:solidFill>
                <a:latin typeface="Palatino Linotype" panose="02040502050505030304"/>
                <a:cs typeface="Palatino Linotype" panose="02040502050505030304"/>
              </a:rPr>
              <a:t> </a:t>
            </a:r>
            <a:r>
              <a:rPr sz="1600" spc="-20" dirty="0">
                <a:solidFill>
                  <a:sysClr val="windowText" lastClr="000000"/>
                </a:solidFill>
                <a:latin typeface="Palatino Linotype" panose="02040502050505030304"/>
                <a:cs typeface="Palatino Linotype" panose="02040502050505030304"/>
              </a:rPr>
              <a:t>code</a:t>
            </a:r>
            <a:endParaRPr sz="1600">
              <a:solidFill>
                <a:sysClr val="windowText" lastClr="000000"/>
              </a:solidFill>
              <a:latin typeface="Palatino Linotype" panose="02040502050505030304"/>
              <a:cs typeface="Palatino Linotype" panose="02040502050505030304"/>
            </a:endParaRPr>
          </a:p>
          <a:p>
            <a:pPr marL="697865" lvl="1" indent="-227965">
              <a:spcBef>
                <a:spcPts val="1280"/>
              </a:spcBef>
              <a:buFont typeface="Wingdings" panose="05000000000000000000"/>
              <a:buChar char=""/>
              <a:tabLst>
                <a:tab pos="697865" algn="l"/>
              </a:tabLst>
            </a:pPr>
            <a:r>
              <a:rPr sz="1600" dirty="0">
                <a:solidFill>
                  <a:sysClr val="windowText" lastClr="000000"/>
                </a:solidFill>
                <a:latin typeface="Palatino Linotype" panose="02040502050505030304"/>
                <a:cs typeface="Palatino Linotype" panose="02040502050505030304"/>
              </a:rPr>
              <a:t>Determine</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a:t>
            </a:r>
            <a:r>
              <a:rPr sz="1600" spc="-1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storage</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needed</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for</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name</a:t>
            </a:r>
            <a:r>
              <a:rPr sz="1600" spc="-1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at</a:t>
            </a:r>
            <a:r>
              <a:rPr sz="1600" spc="-35"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runtime</a:t>
            </a:r>
            <a:endParaRPr sz="1600">
              <a:solidFill>
                <a:sysClr val="windowText" lastClr="000000"/>
              </a:solidFill>
              <a:latin typeface="Palatino Linotype" panose="02040502050505030304"/>
              <a:cs typeface="Palatino Linotype" panose="02040502050505030304"/>
            </a:endParaRPr>
          </a:p>
          <a:p>
            <a:pPr marL="697865" lvl="1" indent="-227965">
              <a:spcBef>
                <a:spcPts val="1285"/>
              </a:spcBef>
              <a:buFont typeface="Wingdings" panose="05000000000000000000"/>
              <a:buChar char=""/>
              <a:tabLst>
                <a:tab pos="697865" algn="l"/>
              </a:tabLst>
            </a:pPr>
            <a:r>
              <a:rPr sz="1600" dirty="0">
                <a:solidFill>
                  <a:sysClr val="windowText" lastClr="000000"/>
                </a:solidFill>
                <a:latin typeface="Palatino Linotype" panose="02040502050505030304"/>
                <a:cs typeface="Palatino Linotype" panose="02040502050505030304"/>
              </a:rPr>
              <a:t>Calculate</a:t>
            </a:r>
            <a:r>
              <a:rPr sz="1600" spc="-4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a:t>
            </a:r>
            <a:r>
              <a:rPr sz="1600" spc="-1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address</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of</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an</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array</a:t>
            </a:r>
            <a:r>
              <a:rPr sz="1600" spc="-40"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element</a:t>
            </a:r>
            <a:endParaRPr sz="1600">
              <a:solidFill>
                <a:sysClr val="windowText" lastClr="000000"/>
              </a:solidFill>
              <a:latin typeface="Palatino Linotype" panose="02040502050505030304"/>
              <a:cs typeface="Palatino Linotype" panose="02040502050505030304"/>
            </a:endParaRPr>
          </a:p>
          <a:p>
            <a:pPr marL="697865" lvl="1" indent="-227965">
              <a:spcBef>
                <a:spcPts val="1290"/>
              </a:spcBef>
              <a:buFont typeface="Wingdings" panose="05000000000000000000"/>
              <a:buChar char=""/>
              <a:tabLst>
                <a:tab pos="697865" algn="l"/>
              </a:tabLst>
            </a:pPr>
            <a:r>
              <a:rPr sz="1600" dirty="0">
                <a:solidFill>
                  <a:sysClr val="windowText" lastClr="000000"/>
                </a:solidFill>
                <a:latin typeface="Palatino Linotype" panose="02040502050505030304"/>
                <a:cs typeface="Palatino Linotype" panose="02040502050505030304"/>
              </a:rPr>
              <a:t>Insert</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type</a:t>
            </a:r>
            <a:r>
              <a:rPr sz="1600" spc="-35"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conversions</a:t>
            </a:r>
            <a:endParaRPr sz="1600">
              <a:solidFill>
                <a:sysClr val="windowText" lastClr="000000"/>
              </a:solidFill>
              <a:latin typeface="Palatino Linotype" panose="02040502050505030304"/>
              <a:cs typeface="Palatino Linotype" panose="02040502050505030304"/>
            </a:endParaRPr>
          </a:p>
          <a:p>
            <a:pPr marL="697865" lvl="1" indent="-227965">
              <a:spcBef>
                <a:spcPts val="1280"/>
              </a:spcBef>
              <a:buFont typeface="Wingdings" panose="05000000000000000000"/>
              <a:buChar char=""/>
              <a:tabLst>
                <a:tab pos="697865" algn="l"/>
              </a:tabLst>
            </a:pPr>
            <a:r>
              <a:rPr sz="1600" dirty="0">
                <a:solidFill>
                  <a:sysClr val="windowText" lastClr="000000"/>
                </a:solidFill>
                <a:latin typeface="Palatino Linotype" panose="02040502050505030304"/>
                <a:cs typeface="Palatino Linotype" panose="02040502050505030304"/>
              </a:rPr>
              <a:t>Choose</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right</a:t>
            </a:r>
            <a:r>
              <a:rPr sz="1600" spc="-4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version</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of</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an</a:t>
            </a:r>
            <a:r>
              <a:rPr sz="1600" spc="-4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arithmetic</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operator</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(e.g.,</a:t>
            </a:r>
            <a:r>
              <a:rPr sz="1600" spc="-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Consolas" panose="020B0609020204030204"/>
                <a:cs typeface="Consolas" panose="020B0609020204030204"/>
              </a:rPr>
              <a:t>fadd</a:t>
            </a:r>
            <a:r>
              <a:rPr sz="1600" dirty="0">
                <a:solidFill>
                  <a:sysClr val="windowText" lastClr="000000"/>
                </a:solidFill>
                <a:latin typeface="Palatino Linotype" panose="02040502050505030304"/>
                <a:cs typeface="Palatino Linotype" panose="02040502050505030304"/>
              </a:rPr>
              <a:t>,</a:t>
            </a:r>
            <a:r>
              <a:rPr sz="1600" spc="-55"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Consolas" panose="020B0609020204030204"/>
                <a:cs typeface="Consolas" panose="020B0609020204030204"/>
              </a:rPr>
              <a:t>iadd</a:t>
            </a:r>
            <a:r>
              <a:rPr sz="1600" spc="-10" dirty="0">
                <a:solidFill>
                  <a:sysClr val="windowText" lastClr="000000"/>
                </a:solidFill>
                <a:latin typeface="Palatino Linotype" panose="02040502050505030304"/>
                <a:cs typeface="Palatino Linotype" panose="02040502050505030304"/>
              </a:rPr>
              <a:t>)</a:t>
            </a:r>
            <a:endParaRPr sz="1600">
              <a:solidFill>
                <a:sysClr val="windowText" lastClr="000000"/>
              </a:solidFill>
              <a:latin typeface="Palatino Linotype" panose="02040502050505030304"/>
              <a:cs typeface="Palatino Linotype" panose="02040502050505030304"/>
            </a:endParaRPr>
          </a:p>
          <a:p>
            <a:pPr marL="0" lvl="1" indent="0">
              <a:spcBef>
                <a:spcPts val="60"/>
              </a:spcBef>
              <a:buFont typeface="Wingdings" panose="05000000000000000000"/>
              <a:buNone/>
            </a:pPr>
            <a:endParaRPr sz="1600">
              <a:solidFill>
                <a:sysClr val="windowText" lastClr="000000"/>
              </a:solidFill>
              <a:latin typeface="Palatino Linotype" panose="02040502050505030304"/>
              <a:cs typeface="Palatino Linotype" panose="02040502050505030304"/>
            </a:endParaRPr>
          </a:p>
          <a:p>
            <a:pPr marL="242570" indent="-229870">
              <a:buClr>
                <a:srgbClr val="000000"/>
              </a:buClr>
              <a:buFont typeface="Arial MT"/>
              <a:buChar char="•"/>
              <a:tabLst>
                <a:tab pos="242570" algn="l"/>
              </a:tabLst>
            </a:pPr>
            <a:r>
              <a:rPr sz="2000" i="1" spc="-30" dirty="0">
                <a:solidFill>
                  <a:srgbClr val="FF0000"/>
                </a:solidFill>
                <a:latin typeface="Palatino Linotype" panose="02040502050505030304"/>
                <a:cs typeface="Palatino Linotype" panose="02040502050505030304"/>
              </a:rPr>
              <a:t>Type</a:t>
            </a:r>
            <a:r>
              <a:rPr sz="2000" i="1" spc="-45" dirty="0">
                <a:solidFill>
                  <a:srgbClr val="FF0000"/>
                </a:solidFill>
                <a:latin typeface="Palatino Linotype" panose="02040502050505030304"/>
                <a:cs typeface="Palatino Linotype" panose="02040502050505030304"/>
              </a:rPr>
              <a:t> </a:t>
            </a:r>
            <a:r>
              <a:rPr sz="2000" i="1" dirty="0">
                <a:solidFill>
                  <a:srgbClr val="FF0000"/>
                </a:solidFill>
                <a:latin typeface="Palatino Linotype" panose="02040502050505030304"/>
                <a:cs typeface="Palatino Linotype" panose="02040502050505030304"/>
              </a:rPr>
              <a:t>checking</a:t>
            </a:r>
            <a:r>
              <a:rPr sz="2000" i="1" spc="-40" dirty="0">
                <a:solidFill>
                  <a:srgbClr val="FF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t>
            </a:r>
            <a:r>
              <a:rPr sz="2000" spc="-10" dirty="0">
                <a:solidFill>
                  <a:srgbClr val="FF0000"/>
                </a:solidFill>
                <a:latin typeface="宋体" panose="02010600030101010101" pitchFamily="2" charset="-122"/>
                <a:cs typeface="宋体" panose="02010600030101010101" pitchFamily="2" charset="-122"/>
              </a:rPr>
              <a:t>类型检查</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uses</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logical</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rules</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to</a:t>
            </a:r>
            <a:r>
              <a:rPr sz="2000" spc="-1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make</a:t>
            </a:r>
            <a:r>
              <a:rPr sz="2000" spc="-3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sure</a:t>
            </a:r>
            <a:r>
              <a:rPr sz="2000" spc="-1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that</a:t>
            </a:r>
            <a:r>
              <a:rPr sz="2000" spc="-20" dirty="0">
                <a:solidFill>
                  <a:sysClr val="windowText" lastClr="000000"/>
                </a:solidFill>
                <a:latin typeface="Palatino Linotype" panose="02040502050505030304"/>
                <a:cs typeface="Palatino Linotype" panose="02040502050505030304"/>
              </a:rPr>
              <a:t> </a:t>
            </a:r>
            <a:r>
              <a:rPr sz="2000" spc="-25" dirty="0">
                <a:solidFill>
                  <a:sysClr val="windowText" lastClr="000000"/>
                </a:solidFill>
                <a:latin typeface="Palatino Linotype" panose="02040502050505030304"/>
                <a:cs typeface="Palatino Linotype" panose="02040502050505030304"/>
              </a:rPr>
              <a:t>the</a:t>
            </a:r>
            <a:endParaRPr sz="2000">
              <a:solidFill>
                <a:sysClr val="windowText" lastClr="000000"/>
              </a:solidFill>
              <a:latin typeface="Palatino Linotype" panose="02040502050505030304"/>
              <a:cs typeface="Palatino Linotype" panose="02040502050505030304"/>
            </a:endParaRPr>
          </a:p>
          <a:p>
            <a:pPr marL="242570">
              <a:spcBef>
                <a:spcPts val="480"/>
              </a:spcBef>
            </a:pPr>
            <a:r>
              <a:rPr sz="2000" dirty="0">
                <a:solidFill>
                  <a:sysClr val="windowText" lastClr="000000"/>
                </a:solidFill>
                <a:latin typeface="Palatino Linotype" panose="02040502050505030304"/>
                <a:cs typeface="Palatino Linotype" panose="02040502050505030304"/>
              </a:rPr>
              <a:t>types</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of</a:t>
            </a:r>
            <a:r>
              <a:rPr sz="2000" spc="-3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the</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operands</a:t>
            </a:r>
            <a:r>
              <a:rPr sz="2000" spc="-4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match</a:t>
            </a:r>
            <a:r>
              <a:rPr sz="2000" spc="-3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the</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type</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expected</a:t>
            </a:r>
            <a:r>
              <a:rPr sz="2000" spc="-1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by</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an</a:t>
            </a:r>
            <a:r>
              <a:rPr sz="2000" spc="-35"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operator</a:t>
            </a:r>
            <a:endParaRPr sz="2000">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29</a:t>
            </a:fld>
            <a:endParaRPr lang="en-US"/>
          </a:p>
        </p:txBody>
      </p:sp>
      <p:sp>
        <p:nvSpPr>
          <p:cNvPr id="8"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50" normalizeH="0" baseline="0" noProof="0">
                <a:ln>
                  <a:noFill/>
                </a:ln>
                <a:solidFill>
                  <a:srgbClr val="000000"/>
                </a:solidFill>
                <a:effectLst/>
                <a:uLnTx/>
                <a:uFillTx/>
                <a:latin typeface="Palatino Linotype" panose="02040502050505030304"/>
                <a:ea typeface="+mj-ea"/>
              </a:rPr>
              <a:t>Type</a:t>
            </a:r>
            <a:r>
              <a:rPr kumimoji="0" lang="en-US" sz="4000" b="1" i="0" u="none" strike="noStrike" kern="0" cap="none" spc="-200"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Expressions</a:t>
            </a:r>
            <a:r>
              <a:rPr kumimoji="0" lang="en-US" sz="4000" b="1" i="0" u="none" strike="noStrike" kern="0" cap="none" spc="-105" normalizeH="0" baseline="0" noProof="0">
                <a:ln>
                  <a:noFill/>
                </a:ln>
                <a:solidFill>
                  <a:srgbClr val="000000"/>
                </a:solidFill>
                <a:effectLst/>
                <a:uLnTx/>
                <a:uFillTx/>
                <a:latin typeface="Palatino Linotype" panose="02040502050505030304"/>
                <a:ea typeface="+mj-ea"/>
              </a:rPr>
              <a:t> (</a:t>
            </a:r>
            <a:r>
              <a:rPr kumimoji="0" lang="zh-CN" altLang="en-US" sz="4000" b="0" i="0" u="none" strike="noStrike" kern="0" cap="none" spc="-35"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rPr>
              <a:t>类型表达式</a:t>
            </a:r>
            <a:r>
              <a:rPr kumimoji="0" lang="en-US" altLang="zh-CN" sz="4000" b="1" i="0" u="none" strike="noStrike" kern="0" cap="none" spc="-50" normalizeH="0" baseline="0" noProof="0">
                <a:ln>
                  <a:noFill/>
                </a:ln>
                <a:solidFill>
                  <a:srgbClr val="000000"/>
                </a:solidFill>
                <a:effectLst/>
                <a:uLnTx/>
                <a:uFillTx/>
                <a:latin typeface="Palatino Linotype" panose="02040502050505030304"/>
                <a:ea typeface="宋体" panose="02010600030101010101" pitchFamily="2" charset="-122"/>
              </a:rPr>
              <a:t>)</a:t>
            </a:r>
            <a:endParaRPr kumimoji="0" lang="en-US" altLang="zh-CN" sz="4000" b="1" i="0" u="none" strike="noStrike" kern="0" cap="none" spc="-50" normalizeH="0" baseline="0" noProof="0" dirty="0">
              <a:ln>
                <a:noFill/>
              </a:ln>
              <a:solidFill>
                <a:srgbClr val="000000"/>
              </a:solidFill>
              <a:effectLst/>
              <a:uLnTx/>
              <a:uFillTx/>
              <a:latin typeface="Palatino Linotype" panose="02040502050505030304"/>
              <a:ea typeface="宋体" panose="02010600030101010101" pitchFamily="2" charset="-122"/>
            </a:endParaRPr>
          </a:p>
        </p:txBody>
      </p:sp>
      <p:sp>
        <p:nvSpPr>
          <p:cNvPr id="9" name="object 3"/>
          <p:cNvSpPr txBox="1"/>
          <p:nvPr/>
        </p:nvSpPr>
        <p:spPr>
          <a:xfrm>
            <a:off x="707542" y="1486036"/>
            <a:ext cx="7670165" cy="2301875"/>
          </a:xfrm>
          <a:prstGeom prst="rect">
            <a:avLst/>
          </a:prstGeom>
        </p:spPr>
        <p:txBody>
          <a:bodyPr vert="horz" wrap="square" lIns="0" tIns="180340" rIns="0" bIns="0" rtlCol="0">
            <a:spAutoFit/>
          </a:bodyPr>
          <a:lstStyle/>
          <a:p>
            <a:pPr marL="242570" indent="-229870">
              <a:spcBef>
                <a:spcPts val="1420"/>
              </a:spcBef>
              <a:buClr>
                <a:srgbClr val="000000"/>
              </a:buClr>
              <a:buFont typeface="Arial MT"/>
              <a:buChar char="•"/>
              <a:tabLst>
                <a:tab pos="242570" algn="l"/>
              </a:tabLst>
            </a:pPr>
            <a:r>
              <a:rPr sz="2000" spc="-10" dirty="0">
                <a:solidFill>
                  <a:srgbClr val="FF0000"/>
                </a:solidFill>
                <a:latin typeface="Palatino Linotype" panose="02040502050505030304"/>
                <a:cs typeface="Palatino Linotype" panose="02040502050505030304"/>
              </a:rPr>
              <a:t>Types</a:t>
            </a:r>
            <a:r>
              <a:rPr sz="2000" spc="-40"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have</a:t>
            </a:r>
            <a:r>
              <a:rPr sz="2000" spc="-4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structure</a:t>
            </a:r>
            <a:r>
              <a:rPr sz="2000" dirty="0">
                <a:solidFill>
                  <a:sysClr val="windowText" lastClr="000000"/>
                </a:solidFill>
                <a:latin typeface="Palatino Linotype" panose="02040502050505030304"/>
                <a:cs typeface="Palatino Linotype" panose="02040502050505030304"/>
              </a:rPr>
              <a:t>,</a:t>
            </a:r>
            <a:r>
              <a:rPr sz="2000" spc="-6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which</a:t>
            </a:r>
            <a:r>
              <a:rPr sz="2000" spc="-5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can</a:t>
            </a:r>
            <a:r>
              <a:rPr sz="2000" spc="-5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be</a:t>
            </a:r>
            <a:r>
              <a:rPr sz="2000" spc="-3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represented</a:t>
            </a:r>
            <a:r>
              <a:rPr sz="2000" spc="-3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by</a:t>
            </a:r>
            <a:r>
              <a:rPr sz="2000" spc="-30" dirty="0">
                <a:solidFill>
                  <a:sysClr val="windowText" lastClr="000000"/>
                </a:solidFill>
                <a:latin typeface="Palatino Linotype" panose="02040502050505030304"/>
                <a:cs typeface="Palatino Linotype" panose="02040502050505030304"/>
              </a:rPr>
              <a:t> </a:t>
            </a:r>
            <a:r>
              <a:rPr sz="2000" i="1" dirty="0">
                <a:solidFill>
                  <a:srgbClr val="0431FF"/>
                </a:solidFill>
                <a:latin typeface="Palatino Linotype" panose="02040502050505030304"/>
                <a:cs typeface="Palatino Linotype" panose="02040502050505030304"/>
              </a:rPr>
              <a:t>type</a:t>
            </a:r>
            <a:r>
              <a:rPr sz="2000" i="1" spc="-60" dirty="0">
                <a:solidFill>
                  <a:srgbClr val="0431FF"/>
                </a:solidFill>
                <a:latin typeface="Palatino Linotype" panose="02040502050505030304"/>
                <a:cs typeface="Palatino Linotype" panose="02040502050505030304"/>
              </a:rPr>
              <a:t> </a:t>
            </a:r>
            <a:r>
              <a:rPr sz="2000" i="1" spc="-10" dirty="0">
                <a:solidFill>
                  <a:srgbClr val="0431FF"/>
                </a:solidFill>
                <a:latin typeface="Palatino Linotype" panose="02040502050505030304"/>
                <a:cs typeface="Palatino Linotype" panose="02040502050505030304"/>
              </a:rPr>
              <a:t>expressions</a:t>
            </a:r>
            <a:endParaRPr sz="2000">
              <a:solidFill>
                <a:sysClr val="windowText" lastClr="000000"/>
              </a:solidFill>
              <a:latin typeface="Palatino Linotype" panose="02040502050505030304"/>
              <a:cs typeface="Palatino Linotype" panose="02040502050505030304"/>
            </a:endParaRPr>
          </a:p>
          <a:p>
            <a:pPr marL="697865" lvl="1" indent="-227965">
              <a:spcBef>
                <a:spcPts val="1050"/>
              </a:spcBef>
              <a:buFont typeface="Wingdings" panose="05000000000000000000"/>
              <a:buChar char=""/>
              <a:tabLst>
                <a:tab pos="697865" algn="l"/>
              </a:tabLst>
            </a:pPr>
            <a:r>
              <a:rPr sz="1600" dirty="0">
                <a:solidFill>
                  <a:sysClr val="windowText" lastClr="000000"/>
                </a:solidFill>
                <a:latin typeface="Palatino Linotype" panose="02040502050505030304"/>
                <a:cs typeface="Palatino Linotype" panose="02040502050505030304"/>
              </a:rPr>
              <a:t>A</a:t>
            </a:r>
            <a:r>
              <a:rPr sz="1600" spc="-10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type</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expression</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is</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either</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basic</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type,</a:t>
            </a:r>
            <a:r>
              <a:rPr sz="1600" spc="-25" dirty="0">
                <a:solidFill>
                  <a:sysClr val="windowText" lastClr="000000"/>
                </a:solidFill>
                <a:latin typeface="Palatino Linotype" panose="02040502050505030304"/>
                <a:cs typeface="Palatino Linotype" panose="02040502050505030304"/>
              </a:rPr>
              <a:t> or</a:t>
            </a:r>
            <a:endParaRPr sz="1600">
              <a:solidFill>
                <a:sysClr val="windowText" lastClr="000000"/>
              </a:solidFill>
              <a:latin typeface="Palatino Linotype" panose="02040502050505030304"/>
              <a:cs typeface="Palatino Linotype" panose="02040502050505030304"/>
            </a:endParaRPr>
          </a:p>
          <a:p>
            <a:pPr marL="697865" lvl="1" indent="-227965">
              <a:spcBef>
                <a:spcPts val="985"/>
              </a:spcBef>
              <a:buFont typeface="Wingdings" panose="05000000000000000000"/>
              <a:buChar char=""/>
              <a:tabLst>
                <a:tab pos="697865" algn="l"/>
              </a:tabLst>
            </a:pPr>
            <a:r>
              <a:rPr sz="1600" dirty="0">
                <a:solidFill>
                  <a:sysClr val="windowText" lastClr="000000"/>
                </a:solidFill>
                <a:latin typeface="Palatino Linotype" panose="02040502050505030304"/>
                <a:cs typeface="Palatino Linotype" panose="02040502050505030304"/>
              </a:rPr>
              <a:t>Formed</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by</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applying</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a:t>
            </a:r>
            <a:r>
              <a:rPr sz="1600" spc="-15" dirty="0">
                <a:solidFill>
                  <a:sysClr val="windowText" lastClr="000000"/>
                </a:solidFill>
                <a:latin typeface="Palatino Linotype" panose="02040502050505030304"/>
                <a:cs typeface="Palatino Linotype" panose="02040502050505030304"/>
              </a:rPr>
              <a:t> </a:t>
            </a:r>
            <a:r>
              <a:rPr sz="1600" i="1" dirty="0">
                <a:solidFill>
                  <a:srgbClr val="0431FF"/>
                </a:solidFill>
                <a:latin typeface="Palatino Linotype" panose="02040502050505030304"/>
                <a:cs typeface="Palatino Linotype" panose="02040502050505030304"/>
              </a:rPr>
              <a:t>type</a:t>
            </a:r>
            <a:r>
              <a:rPr sz="1600" i="1" spc="-30" dirty="0">
                <a:solidFill>
                  <a:srgbClr val="0431FF"/>
                </a:solidFill>
                <a:latin typeface="Palatino Linotype" panose="02040502050505030304"/>
                <a:cs typeface="Palatino Linotype" panose="02040502050505030304"/>
              </a:rPr>
              <a:t> </a:t>
            </a:r>
            <a:r>
              <a:rPr sz="1600" i="1" dirty="0">
                <a:solidFill>
                  <a:srgbClr val="0431FF"/>
                </a:solidFill>
                <a:latin typeface="Palatino Linotype" panose="02040502050505030304"/>
                <a:cs typeface="Palatino Linotype" panose="02040502050505030304"/>
              </a:rPr>
              <a:t>constructor</a:t>
            </a:r>
            <a:r>
              <a:rPr sz="1600" i="1" spc="5" dirty="0">
                <a:solidFill>
                  <a:srgbClr val="0431FF"/>
                </a:solidFill>
                <a:latin typeface="Palatino Linotype" panose="02040502050505030304"/>
                <a:cs typeface="Palatino Linotype" panose="02040502050505030304"/>
              </a:rPr>
              <a:t> </a:t>
            </a:r>
            <a:r>
              <a:rPr sz="1600" spc="-25" dirty="0">
                <a:solidFill>
                  <a:sysClr val="windowText" lastClr="000000"/>
                </a:solidFill>
                <a:latin typeface="Palatino Linotype" panose="02040502050505030304"/>
                <a:cs typeface="Palatino Linotype" panose="02040502050505030304"/>
              </a:rPr>
              <a:t>(</a:t>
            </a:r>
            <a:r>
              <a:rPr sz="1600" spc="-25" dirty="0">
                <a:solidFill>
                  <a:sysClr val="windowText" lastClr="000000"/>
                </a:solidFill>
                <a:latin typeface="宋体" panose="02010600030101010101" pitchFamily="2" charset="-122"/>
                <a:cs typeface="宋体" panose="02010600030101010101" pitchFamily="2" charset="-122"/>
              </a:rPr>
              <a:t>类型构造算子</a:t>
            </a:r>
            <a:r>
              <a:rPr sz="1600" dirty="0">
                <a:solidFill>
                  <a:sysClr val="windowText" lastClr="000000"/>
                </a:solidFill>
                <a:latin typeface="Palatino Linotype" panose="02040502050505030304"/>
                <a:cs typeface="Palatino Linotype" panose="02040502050505030304"/>
              </a:rPr>
              <a:t>) to</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type</a:t>
            </a:r>
            <a:r>
              <a:rPr sz="1600" spc="-20"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expression</a:t>
            </a:r>
          </a:p>
          <a:p>
            <a:pPr marL="469900" lvl="1" indent="0">
              <a:spcBef>
                <a:spcPts val="985"/>
              </a:spcBef>
              <a:buFont typeface="Wingdings" panose="05000000000000000000"/>
              <a:buNone/>
              <a:tabLst>
                <a:tab pos="697865" algn="l"/>
              </a:tabLst>
            </a:pPr>
            <a:endParaRPr sz="1600">
              <a:solidFill>
                <a:sysClr val="windowText" lastClr="000000"/>
              </a:solidFill>
              <a:latin typeface="Palatino Linotype" panose="02040502050505030304"/>
              <a:cs typeface="Palatino Linotype" panose="02040502050505030304"/>
            </a:endParaRPr>
          </a:p>
          <a:p>
            <a:pPr marL="242570" indent="-229870">
              <a:buClr>
                <a:srgbClr val="000000"/>
              </a:buClr>
              <a:buFont typeface="Arial MT"/>
              <a:buChar char="•"/>
              <a:tabLst>
                <a:tab pos="242570" algn="l"/>
              </a:tabLst>
            </a:pPr>
            <a:r>
              <a:rPr sz="2000" spc="-10" dirty="0">
                <a:solidFill>
                  <a:srgbClr val="FF0000"/>
                </a:solidFill>
                <a:latin typeface="Cambria Math" panose="02040503050406030204"/>
                <a:cs typeface="Cambria Math" panose="02040503050406030204"/>
              </a:rPr>
              <a:t>𝑎𝑟𝑟𝑎𝑦(2,</a:t>
            </a:r>
            <a:r>
              <a:rPr sz="2000" spc="-110" dirty="0">
                <a:solidFill>
                  <a:srgbClr val="FF0000"/>
                </a:solidFill>
                <a:latin typeface="Cambria Math" panose="02040503050406030204"/>
                <a:cs typeface="Cambria Math" panose="02040503050406030204"/>
              </a:rPr>
              <a:t> </a:t>
            </a:r>
            <a:r>
              <a:rPr sz="2000" spc="-10" dirty="0">
                <a:solidFill>
                  <a:srgbClr val="FF0000"/>
                </a:solidFill>
                <a:latin typeface="Cambria Math" panose="02040503050406030204"/>
                <a:cs typeface="Cambria Math" panose="02040503050406030204"/>
              </a:rPr>
              <a:t>𝑎𝑟𝑟𝑎𝑦(3,</a:t>
            </a:r>
            <a:r>
              <a:rPr sz="2000" spc="-110" dirty="0">
                <a:solidFill>
                  <a:srgbClr val="FF0000"/>
                </a:solidFill>
                <a:latin typeface="Cambria Math" panose="02040503050406030204"/>
                <a:cs typeface="Cambria Math" panose="02040503050406030204"/>
              </a:rPr>
              <a:t> </a:t>
            </a:r>
            <a:r>
              <a:rPr sz="2000" dirty="0">
                <a:solidFill>
                  <a:srgbClr val="FF0000"/>
                </a:solidFill>
                <a:latin typeface="Cambria Math" panose="02040503050406030204"/>
                <a:cs typeface="Cambria Math" panose="02040503050406030204"/>
              </a:rPr>
              <a:t>𝑖𝑛𝑡𝑒𝑔𝑒𝑟))</a:t>
            </a:r>
            <a:r>
              <a:rPr sz="2000" spc="45" dirty="0">
                <a:solidFill>
                  <a:srgbClr val="FF0000"/>
                </a:solidFill>
                <a:latin typeface="Cambria Math" panose="02040503050406030204"/>
                <a:cs typeface="Cambria Math" panose="02040503050406030204"/>
              </a:rPr>
              <a:t> </a:t>
            </a:r>
            <a:r>
              <a:rPr sz="2000" dirty="0">
                <a:solidFill>
                  <a:sysClr val="windowText" lastClr="000000"/>
                </a:solidFill>
                <a:latin typeface="Palatino Linotype" panose="02040502050505030304"/>
                <a:cs typeface="Palatino Linotype" panose="02040502050505030304"/>
              </a:rPr>
              <a:t>is</a:t>
            </a:r>
            <a:r>
              <a:rPr sz="2000" spc="-1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the type</a:t>
            </a:r>
            <a:r>
              <a:rPr sz="2000" spc="-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expression</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for</a:t>
            </a:r>
            <a:r>
              <a:rPr sz="2000" spc="-15"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Consolas" panose="020B0609020204030204"/>
                <a:cs typeface="Consolas" panose="020B0609020204030204"/>
              </a:rPr>
              <a:t>int[2][3]</a:t>
            </a:r>
            <a:endParaRPr sz="2000">
              <a:solidFill>
                <a:sysClr val="windowText" lastClr="000000"/>
              </a:solidFill>
              <a:latin typeface="Consolas" panose="020B0609020204030204"/>
              <a:cs typeface="Consolas" panose="020B0609020204030204"/>
            </a:endParaRPr>
          </a:p>
          <a:p>
            <a:pPr marL="697865" lvl="1" indent="-227965">
              <a:spcBef>
                <a:spcPts val="1045"/>
              </a:spcBef>
              <a:buClr>
                <a:srgbClr val="000000"/>
              </a:buClr>
              <a:buFont typeface="Wingdings" panose="05000000000000000000"/>
              <a:buChar char=""/>
              <a:tabLst>
                <a:tab pos="697865" algn="l"/>
              </a:tabLst>
            </a:pPr>
            <a:r>
              <a:rPr sz="1600" dirty="0">
                <a:solidFill>
                  <a:srgbClr val="FF0000"/>
                </a:solidFill>
                <a:latin typeface="Cambria Math" panose="02040503050406030204"/>
                <a:cs typeface="Cambria Math" panose="02040503050406030204"/>
              </a:rPr>
              <a:t>𝑎𝑟𝑟𝑎𝑦</a:t>
            </a:r>
            <a:r>
              <a:rPr sz="1600" spc="35" dirty="0">
                <a:solidFill>
                  <a:srgbClr val="FF0000"/>
                </a:solidFill>
                <a:latin typeface="Cambria Math" panose="02040503050406030204"/>
                <a:cs typeface="Cambria Math" panose="02040503050406030204"/>
              </a:rPr>
              <a:t> </a:t>
            </a:r>
            <a:r>
              <a:rPr sz="1600" dirty="0">
                <a:solidFill>
                  <a:sysClr val="windowText" lastClr="000000"/>
                </a:solidFill>
                <a:latin typeface="Palatino Linotype" panose="02040502050505030304"/>
                <a:cs typeface="Palatino Linotype" panose="02040502050505030304"/>
              </a:rPr>
              <a:t>is</a:t>
            </a:r>
            <a:r>
              <a:rPr sz="1600" spc="-5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a:t>
            </a:r>
            <a:r>
              <a:rPr sz="1600" spc="-4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type</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constructor</a:t>
            </a:r>
            <a:r>
              <a:rPr sz="1600" spc="1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with</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two</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arguments:</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a:t>
            </a:r>
            <a:r>
              <a:rPr sz="1600" spc="-45"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number,</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a:t>
            </a:r>
            <a:r>
              <a:rPr sz="1600" spc="-4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type</a:t>
            </a:r>
            <a:r>
              <a:rPr sz="1600" spc="-35"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expression</a:t>
            </a:r>
            <a:endParaRPr sz="1600">
              <a:solidFill>
                <a:sysClr val="windowText" lastClr="000000"/>
              </a:solidFill>
              <a:latin typeface="Palatino Linotype" panose="02040502050505030304"/>
              <a:cs typeface="Palatino Linotype" panose="02040502050505030304"/>
            </a:endParaRPr>
          </a:p>
        </p:txBody>
      </p:sp>
      <p:pic>
        <p:nvPicPr>
          <p:cNvPr id="10" name="object 4"/>
          <p:cNvPicPr/>
          <p:nvPr/>
        </p:nvPicPr>
        <p:blipFill>
          <a:blip r:embed="rId3" cstate="print"/>
          <a:stretch>
            <a:fillRect/>
          </a:stretch>
        </p:blipFill>
        <p:spPr>
          <a:xfrm>
            <a:off x="3453508" y="4514250"/>
            <a:ext cx="2305600" cy="128300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30</a:t>
            </a:fld>
            <a:endParaRPr lang="en-US"/>
          </a:p>
        </p:txBody>
      </p:sp>
      <p:sp>
        <p:nvSpPr>
          <p:cNvPr id="7" name="object 2"/>
          <p:cNvSpPr txBox="1"/>
          <p:nvPr/>
        </p:nvSpPr>
        <p:spPr>
          <a:xfrm>
            <a:off x="707542" y="530809"/>
            <a:ext cx="7817484" cy="635000"/>
          </a:xfrm>
          <a:prstGeom prst="rect">
            <a:avLst/>
          </a:prstGeom>
        </p:spPr>
        <p:txBody>
          <a:bodyPr vert="horz" wrap="square" lIns="0" tIns="12700"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100"/>
              </a:spcBef>
              <a:spcAft>
                <a:spcPts val="0"/>
              </a:spcAft>
              <a:buClrTx/>
              <a:buSzTx/>
              <a:buFontTx/>
              <a:buNone/>
              <a:defRPr/>
            </a:pPr>
            <a:r>
              <a:rPr kumimoji="0" lang="en-US" sz="3600" b="1" i="0" u="none" strike="noStrike" kern="0" cap="none" spc="0" normalizeH="0" baseline="0" noProof="0">
                <a:ln>
                  <a:noFill/>
                </a:ln>
                <a:solidFill>
                  <a:srgbClr val="000000"/>
                </a:solidFill>
                <a:effectLst/>
                <a:uLnTx/>
                <a:uFillTx/>
                <a:latin typeface="Palatino Linotype" panose="02040502050505030304"/>
                <a:ea typeface="+mj-ea"/>
              </a:rPr>
              <a:t>The</a:t>
            </a:r>
            <a:r>
              <a:rPr kumimoji="0" lang="en-US" sz="3600" b="1" i="0" u="none" strike="noStrike" kern="0" cap="none" spc="-55" normalizeH="0" baseline="0" noProof="0">
                <a:ln>
                  <a:noFill/>
                </a:ln>
                <a:solidFill>
                  <a:srgbClr val="000000"/>
                </a:solidFill>
                <a:effectLst/>
                <a:uLnTx/>
                <a:uFillTx/>
                <a:latin typeface="Palatino Linotype" panose="02040502050505030304"/>
                <a:ea typeface="+mj-ea"/>
              </a:rPr>
              <a:t> </a:t>
            </a:r>
            <a:r>
              <a:rPr kumimoji="0" lang="en-US" sz="3600" b="1" i="0" u="none" strike="noStrike" kern="0" cap="none" spc="0" normalizeH="0" baseline="0" noProof="0">
                <a:ln>
                  <a:noFill/>
                </a:ln>
                <a:solidFill>
                  <a:srgbClr val="000000"/>
                </a:solidFill>
                <a:effectLst/>
                <a:uLnTx/>
                <a:uFillTx/>
                <a:latin typeface="Palatino Linotype" panose="02040502050505030304"/>
                <a:ea typeface="+mj-ea"/>
              </a:rPr>
              <a:t>Definition</a:t>
            </a:r>
            <a:r>
              <a:rPr kumimoji="0" lang="en-US" sz="3600" b="1" i="0" u="none" strike="noStrike" kern="0" cap="none" spc="-50" normalizeH="0" baseline="0" noProof="0">
                <a:ln>
                  <a:noFill/>
                </a:ln>
                <a:solidFill>
                  <a:srgbClr val="000000"/>
                </a:solidFill>
                <a:effectLst/>
                <a:uLnTx/>
                <a:uFillTx/>
                <a:latin typeface="Palatino Linotype" panose="02040502050505030304"/>
                <a:ea typeface="+mj-ea"/>
              </a:rPr>
              <a:t> </a:t>
            </a:r>
            <a:r>
              <a:rPr kumimoji="0" lang="en-US" sz="3600" b="1" i="0" u="none" strike="noStrike" kern="0" cap="none" spc="0" normalizeH="0" baseline="0" noProof="0">
                <a:ln>
                  <a:noFill/>
                </a:ln>
                <a:solidFill>
                  <a:srgbClr val="000000"/>
                </a:solidFill>
                <a:effectLst/>
                <a:uLnTx/>
                <a:uFillTx/>
                <a:latin typeface="Palatino Linotype" panose="02040502050505030304"/>
                <a:ea typeface="+mj-ea"/>
              </a:rPr>
              <a:t>of</a:t>
            </a:r>
            <a:r>
              <a:rPr kumimoji="0" lang="en-US" sz="3600" b="1" i="0" u="none" strike="noStrike" kern="0" cap="none" spc="-50" normalizeH="0" baseline="0" noProof="0">
                <a:ln>
                  <a:noFill/>
                </a:ln>
                <a:solidFill>
                  <a:srgbClr val="000000"/>
                </a:solidFill>
                <a:effectLst/>
                <a:uLnTx/>
                <a:uFillTx/>
                <a:latin typeface="Palatino Linotype" panose="02040502050505030304"/>
                <a:ea typeface="+mj-ea"/>
              </a:rPr>
              <a:t> </a:t>
            </a:r>
            <a:r>
              <a:rPr kumimoji="0" lang="en-US" sz="3600" b="1" i="0" u="none" strike="noStrike" kern="0" cap="none" spc="-40" normalizeH="0" baseline="0" noProof="0">
                <a:ln>
                  <a:noFill/>
                </a:ln>
                <a:solidFill>
                  <a:srgbClr val="000000"/>
                </a:solidFill>
                <a:effectLst/>
                <a:uLnTx/>
                <a:uFillTx/>
                <a:latin typeface="Palatino Linotype" panose="02040502050505030304"/>
                <a:ea typeface="+mj-ea"/>
              </a:rPr>
              <a:t>Type</a:t>
            </a:r>
            <a:r>
              <a:rPr kumimoji="0" lang="en-US" sz="3600" b="1" i="0" u="none" strike="noStrike" kern="0" cap="none" spc="-50" normalizeH="0" baseline="0" noProof="0">
                <a:ln>
                  <a:noFill/>
                </a:ln>
                <a:solidFill>
                  <a:srgbClr val="000000"/>
                </a:solidFill>
                <a:effectLst/>
                <a:uLnTx/>
                <a:uFillTx/>
                <a:latin typeface="Palatino Linotype" panose="02040502050505030304"/>
                <a:ea typeface="+mj-ea"/>
              </a:rPr>
              <a:t> </a:t>
            </a:r>
            <a:r>
              <a:rPr kumimoji="0" lang="en-US" sz="3600" b="1" i="0" u="none" strike="noStrike" kern="0" cap="none" spc="-10" normalizeH="0" baseline="0" noProof="0">
                <a:ln>
                  <a:noFill/>
                </a:ln>
                <a:solidFill>
                  <a:srgbClr val="000000"/>
                </a:solidFill>
                <a:effectLst/>
                <a:uLnTx/>
                <a:uFillTx/>
                <a:latin typeface="Palatino Linotype" panose="02040502050505030304"/>
                <a:ea typeface="+mj-ea"/>
              </a:rPr>
              <a:t>Expression</a:t>
            </a:r>
            <a:endParaRPr kumimoji="0" lang="en-US" sz="3600" b="1" i="0" u="none" strike="noStrike" kern="0" cap="none" spc="0" normalizeH="0" baseline="0" noProof="0">
              <a:ln>
                <a:noFill/>
              </a:ln>
              <a:solidFill>
                <a:srgbClr val="A6A6A6"/>
              </a:solidFill>
              <a:effectLst/>
              <a:uLnTx/>
              <a:uFillTx/>
              <a:latin typeface="Palatino Linotype" panose="02040502050505030304"/>
              <a:ea typeface="+mj-ea"/>
            </a:endParaRPr>
          </a:p>
        </p:txBody>
      </p:sp>
      <p:sp>
        <p:nvSpPr>
          <p:cNvPr id="8" name="object 3"/>
          <p:cNvSpPr txBox="1"/>
          <p:nvPr/>
        </p:nvSpPr>
        <p:spPr>
          <a:xfrm>
            <a:off x="707542" y="1652142"/>
            <a:ext cx="7701280" cy="4337685"/>
          </a:xfrm>
          <a:prstGeom prst="rect">
            <a:avLst/>
          </a:prstGeom>
        </p:spPr>
        <p:txBody>
          <a:bodyPr vert="horz" wrap="square" lIns="0" tIns="12700" rIns="0" bIns="0" rtlCol="0">
            <a:spAutoFit/>
          </a:bodyPr>
          <a:lstStyle/>
          <a:p>
            <a:pPr marL="242570" indent="-229870">
              <a:spcBef>
                <a:spcPts val="100"/>
              </a:spcBef>
              <a:buFont typeface="Arial MT"/>
              <a:buChar char="•"/>
              <a:tabLst>
                <a:tab pos="242570" algn="l"/>
              </a:tabLst>
            </a:pPr>
            <a:r>
              <a:rPr dirty="0">
                <a:solidFill>
                  <a:sysClr val="windowText" lastClr="000000"/>
                </a:solidFill>
                <a:latin typeface="Palatino Linotype" panose="02040502050505030304"/>
                <a:cs typeface="Palatino Linotype" panose="02040502050505030304"/>
              </a:rPr>
              <a:t>A</a:t>
            </a:r>
            <a:r>
              <a:rPr spc="-114"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basic</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type</a:t>
            </a:r>
            <a:r>
              <a:rPr spc="-2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is</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a:t>
            </a:r>
            <a:r>
              <a:rPr spc="-3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type</a:t>
            </a:r>
            <a:r>
              <a:rPr spc="-2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expression</a:t>
            </a:r>
            <a:endParaRPr>
              <a:solidFill>
                <a:sysClr val="windowText" lastClr="000000"/>
              </a:solidFill>
              <a:latin typeface="Palatino Linotype" panose="02040502050505030304"/>
              <a:cs typeface="Palatino Linotype" panose="02040502050505030304"/>
            </a:endParaRPr>
          </a:p>
          <a:p>
            <a:pPr marL="697865" lvl="1" indent="-227965">
              <a:spcBef>
                <a:spcPts val="1000"/>
              </a:spcBef>
              <a:buFont typeface="Wingdings" panose="05000000000000000000"/>
              <a:buChar char=""/>
              <a:tabLst>
                <a:tab pos="697865" algn="l"/>
              </a:tabLst>
            </a:pPr>
            <a:r>
              <a:rPr sz="1400" dirty="0">
                <a:solidFill>
                  <a:sysClr val="windowText" lastClr="000000"/>
                </a:solidFill>
                <a:latin typeface="Cambria Math" panose="02040503050406030204"/>
                <a:cs typeface="Cambria Math" panose="02040503050406030204"/>
              </a:rPr>
              <a:t>𝑏𝑜𝑜𝑙𝑒𝑎𝑛</a:t>
            </a:r>
            <a:r>
              <a:rPr sz="1400"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Cambria Math" panose="02040503050406030204"/>
                <a:cs typeface="Cambria Math" panose="02040503050406030204"/>
              </a:rPr>
              <a:t>𝑐ℎ𝑎𝑟</a:t>
            </a:r>
            <a:r>
              <a:rPr sz="1400" dirty="0">
                <a:solidFill>
                  <a:sysClr val="windowText" lastClr="000000"/>
                </a:solidFill>
                <a:latin typeface="Palatino Linotype" panose="02040502050505030304"/>
                <a:cs typeface="Palatino Linotype" panose="02040502050505030304"/>
              </a:rPr>
              <a:t>,</a:t>
            </a:r>
            <a:r>
              <a:rPr sz="1400" spc="10"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Cambria Math" panose="02040503050406030204"/>
                <a:cs typeface="Cambria Math" panose="02040503050406030204"/>
              </a:rPr>
              <a:t>𝑖𝑛𝑡𝑒𝑔𝑒𝑟</a:t>
            </a:r>
            <a:r>
              <a:rPr sz="1400" dirty="0">
                <a:solidFill>
                  <a:sysClr val="windowText" lastClr="000000"/>
                </a:solidFill>
                <a:latin typeface="Palatino Linotype" panose="02040502050505030304"/>
                <a:cs typeface="Palatino Linotype" panose="02040502050505030304"/>
              </a:rPr>
              <a:t>,</a:t>
            </a:r>
            <a:r>
              <a:rPr sz="1400" spc="5"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Cambria Math" panose="02040503050406030204"/>
                <a:cs typeface="Cambria Math" panose="02040503050406030204"/>
              </a:rPr>
              <a:t>𝑓𝑙𝑜𝑎𝑡</a:t>
            </a:r>
            <a:r>
              <a:rPr sz="1400" dirty="0">
                <a:solidFill>
                  <a:sysClr val="windowText" lastClr="000000"/>
                </a:solidFill>
                <a:latin typeface="Palatino Linotype" panose="02040502050505030304"/>
                <a:cs typeface="Palatino Linotype" panose="02040502050505030304"/>
              </a:rPr>
              <a:t>, and</a:t>
            </a:r>
            <a:r>
              <a:rPr sz="1400" spc="-15"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Cambria Math" panose="02040503050406030204"/>
                <a:cs typeface="Cambria Math" panose="02040503050406030204"/>
              </a:rPr>
              <a:t>𝑣𝑜𝑖𝑑</a:t>
            </a:r>
            <a:r>
              <a:rPr sz="1400" dirty="0">
                <a:solidFill>
                  <a:sysClr val="windowText" lastClr="000000"/>
                </a:solidFill>
                <a:latin typeface="Palatino Linotype" panose="02040502050505030304"/>
                <a:cs typeface="Palatino Linotype" panose="02040502050505030304"/>
              </a:rPr>
              <a:t>,</a:t>
            </a:r>
            <a:r>
              <a:rPr sz="1400" spc="15" dirty="0">
                <a:solidFill>
                  <a:sysClr val="windowText" lastClr="000000"/>
                </a:solidFill>
                <a:latin typeface="Palatino Linotype" panose="02040502050505030304"/>
                <a:cs typeface="Palatino Linotype" panose="02040502050505030304"/>
              </a:rPr>
              <a:t> </a:t>
            </a:r>
            <a:r>
              <a:rPr sz="1400" spc="-60" dirty="0">
                <a:solidFill>
                  <a:sysClr val="windowText" lastClr="000000"/>
                </a:solidFill>
                <a:latin typeface="Palatino Linotype" panose="02040502050505030304"/>
                <a:cs typeface="Palatino Linotype" panose="02040502050505030304"/>
              </a:rPr>
              <a:t>…</a:t>
            </a:r>
            <a:endParaRPr sz="1400">
              <a:solidFill>
                <a:sysClr val="windowText" lastClr="000000"/>
              </a:solidFill>
              <a:latin typeface="Palatino Linotype" panose="02040502050505030304"/>
              <a:cs typeface="Palatino Linotype" panose="02040502050505030304"/>
            </a:endParaRPr>
          </a:p>
          <a:p>
            <a:pPr marL="242570" indent="-229870">
              <a:spcBef>
                <a:spcPts val="1565"/>
              </a:spcBef>
              <a:buFont typeface="Arial MT"/>
              <a:buChar char="•"/>
              <a:tabLst>
                <a:tab pos="242570" algn="l"/>
              </a:tabLst>
            </a:pPr>
            <a:r>
              <a:rPr dirty="0">
                <a:solidFill>
                  <a:sysClr val="windowText" lastClr="000000"/>
                </a:solidFill>
                <a:latin typeface="Palatino Linotype" panose="02040502050505030304"/>
                <a:cs typeface="Palatino Linotype" panose="02040502050505030304"/>
              </a:rPr>
              <a:t>A</a:t>
            </a:r>
            <a:r>
              <a:rPr spc="-114"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type</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name</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(e.g.,</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name</a:t>
            </a:r>
            <a:r>
              <a:rPr spc="-1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of</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class)</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is</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a:t>
            </a:r>
            <a:r>
              <a:rPr spc="-3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type</a:t>
            </a:r>
            <a:r>
              <a:rPr spc="-2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expression</a:t>
            </a:r>
            <a:endParaRPr>
              <a:solidFill>
                <a:sysClr val="windowText" lastClr="000000"/>
              </a:solidFill>
              <a:latin typeface="Palatino Linotype" panose="02040502050505030304"/>
              <a:cs typeface="Palatino Linotype" panose="02040502050505030304"/>
            </a:endParaRPr>
          </a:p>
          <a:p>
            <a:pPr marL="242570" indent="-229870">
              <a:spcBef>
                <a:spcPts val="1635"/>
              </a:spcBef>
              <a:buFont typeface="Arial MT"/>
              <a:buChar char="•"/>
              <a:tabLst>
                <a:tab pos="242570" algn="l"/>
              </a:tabLst>
            </a:pPr>
            <a:r>
              <a:rPr dirty="0">
                <a:solidFill>
                  <a:sysClr val="windowText" lastClr="000000"/>
                </a:solidFill>
                <a:latin typeface="Palatino Linotype" panose="02040502050505030304"/>
                <a:cs typeface="Palatino Linotype" panose="02040502050505030304"/>
              </a:rPr>
              <a:t>A</a:t>
            </a:r>
            <a:r>
              <a:rPr spc="-114"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type</a:t>
            </a:r>
            <a:r>
              <a:rPr spc="-5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expression</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can</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be</a:t>
            </a:r>
            <a:r>
              <a:rPr spc="-40"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formed</a:t>
            </a:r>
            <a:endParaRPr>
              <a:solidFill>
                <a:sysClr val="windowText" lastClr="000000"/>
              </a:solidFill>
              <a:latin typeface="Palatino Linotype" panose="02040502050505030304"/>
              <a:cs typeface="Palatino Linotype" panose="02040502050505030304"/>
            </a:endParaRPr>
          </a:p>
          <a:p>
            <a:pPr marL="697865" lvl="1" indent="-227965">
              <a:spcBef>
                <a:spcPts val="1000"/>
              </a:spcBef>
              <a:buFont typeface="Wingdings" panose="05000000000000000000"/>
              <a:buChar char=""/>
              <a:tabLst>
                <a:tab pos="697865" algn="l"/>
              </a:tabLst>
            </a:pPr>
            <a:r>
              <a:rPr sz="1400" dirty="0">
                <a:solidFill>
                  <a:sysClr val="windowText" lastClr="000000"/>
                </a:solidFill>
                <a:latin typeface="Palatino Linotype" panose="02040502050505030304"/>
                <a:cs typeface="Palatino Linotype" panose="02040502050505030304"/>
              </a:rPr>
              <a:t>By</a:t>
            </a:r>
            <a:r>
              <a:rPr sz="1400" spc="-15"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applying</a:t>
            </a:r>
            <a:r>
              <a:rPr sz="1400" spc="-45"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the</a:t>
            </a:r>
            <a:r>
              <a:rPr sz="1400" spc="-5" dirty="0">
                <a:solidFill>
                  <a:sysClr val="windowText" lastClr="000000"/>
                </a:solidFill>
                <a:latin typeface="Palatino Linotype" panose="02040502050505030304"/>
                <a:cs typeface="Palatino Linotype" panose="02040502050505030304"/>
              </a:rPr>
              <a:t> </a:t>
            </a:r>
            <a:r>
              <a:rPr sz="1400" dirty="0">
                <a:solidFill>
                  <a:srgbClr val="0431FF"/>
                </a:solidFill>
                <a:latin typeface="Cambria Math" panose="02040503050406030204"/>
                <a:cs typeface="Cambria Math" panose="02040503050406030204"/>
              </a:rPr>
              <a:t>𝑎𝑟𝑟𝑎𝑦</a:t>
            </a:r>
            <a:r>
              <a:rPr sz="1400" spc="30" dirty="0">
                <a:solidFill>
                  <a:srgbClr val="0431FF"/>
                </a:solidFill>
                <a:latin typeface="Cambria Math" panose="02040503050406030204"/>
                <a:cs typeface="Cambria Math" panose="02040503050406030204"/>
              </a:rPr>
              <a:t> </a:t>
            </a:r>
            <a:r>
              <a:rPr sz="1400" dirty="0">
                <a:solidFill>
                  <a:sysClr val="windowText" lastClr="000000"/>
                </a:solidFill>
                <a:latin typeface="Palatino Linotype" panose="02040502050505030304"/>
                <a:cs typeface="Palatino Linotype" panose="02040502050505030304"/>
              </a:rPr>
              <a:t>type</a:t>
            </a:r>
            <a:r>
              <a:rPr sz="1400" spc="-15"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constructor</a:t>
            </a:r>
            <a:r>
              <a:rPr sz="1400" spc="-25"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to</a:t>
            </a:r>
            <a:r>
              <a:rPr sz="1400" spc="-10"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a</a:t>
            </a:r>
            <a:r>
              <a:rPr sz="1400" spc="-15"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number</a:t>
            </a:r>
            <a:r>
              <a:rPr sz="1400" spc="-25"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and</a:t>
            </a:r>
            <a:r>
              <a:rPr sz="1400" spc="-40"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a</a:t>
            </a:r>
            <a:r>
              <a:rPr sz="1400" spc="-5"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type</a:t>
            </a:r>
            <a:r>
              <a:rPr sz="1400" spc="-10" dirty="0">
                <a:solidFill>
                  <a:sysClr val="windowText" lastClr="000000"/>
                </a:solidFill>
                <a:latin typeface="Palatino Linotype" panose="02040502050505030304"/>
                <a:cs typeface="Palatino Linotype" panose="02040502050505030304"/>
              </a:rPr>
              <a:t> expression</a:t>
            </a:r>
            <a:endParaRPr sz="1400">
              <a:solidFill>
                <a:sysClr val="windowText" lastClr="000000"/>
              </a:solidFill>
              <a:latin typeface="Palatino Linotype" panose="02040502050505030304"/>
              <a:cs typeface="Palatino Linotype" panose="02040502050505030304"/>
            </a:endParaRPr>
          </a:p>
          <a:p>
            <a:pPr marL="697865" lvl="1" indent="-227965">
              <a:spcBef>
                <a:spcPts val="935"/>
              </a:spcBef>
              <a:buFont typeface="Wingdings" panose="05000000000000000000"/>
              <a:buChar char=""/>
              <a:tabLst>
                <a:tab pos="697865" algn="l"/>
              </a:tabLst>
            </a:pPr>
            <a:r>
              <a:rPr sz="1400" dirty="0">
                <a:solidFill>
                  <a:sysClr val="windowText" lastClr="000000"/>
                </a:solidFill>
                <a:latin typeface="Palatino Linotype" panose="02040502050505030304"/>
                <a:cs typeface="Palatino Linotype" panose="02040502050505030304"/>
              </a:rPr>
              <a:t>By</a:t>
            </a:r>
            <a:r>
              <a:rPr sz="1400" spc="-20"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applying</a:t>
            </a:r>
            <a:r>
              <a:rPr sz="1400" spc="-50"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the</a:t>
            </a:r>
            <a:r>
              <a:rPr sz="1400" spc="-10" dirty="0">
                <a:solidFill>
                  <a:sysClr val="windowText" lastClr="000000"/>
                </a:solidFill>
                <a:latin typeface="Palatino Linotype" panose="02040502050505030304"/>
                <a:cs typeface="Palatino Linotype" panose="02040502050505030304"/>
              </a:rPr>
              <a:t> </a:t>
            </a:r>
            <a:r>
              <a:rPr sz="1400" dirty="0">
                <a:solidFill>
                  <a:srgbClr val="0431FF"/>
                </a:solidFill>
                <a:latin typeface="Cambria Math" panose="02040503050406030204"/>
                <a:cs typeface="Cambria Math" panose="02040503050406030204"/>
              </a:rPr>
              <a:t>𝑟𝑒𝑐𝑜𝑟𝑑</a:t>
            </a:r>
            <a:r>
              <a:rPr sz="1400" spc="65" dirty="0">
                <a:solidFill>
                  <a:srgbClr val="0431FF"/>
                </a:solidFill>
                <a:latin typeface="Cambria Math" panose="02040503050406030204"/>
                <a:cs typeface="Cambria Math" panose="02040503050406030204"/>
              </a:rPr>
              <a:t> </a:t>
            </a:r>
            <a:r>
              <a:rPr sz="1400" dirty="0">
                <a:solidFill>
                  <a:sysClr val="windowText" lastClr="000000"/>
                </a:solidFill>
                <a:latin typeface="Palatino Linotype" panose="02040502050505030304"/>
                <a:cs typeface="Palatino Linotype" panose="02040502050505030304"/>
              </a:rPr>
              <a:t>type</a:t>
            </a:r>
            <a:r>
              <a:rPr sz="1400" spc="-20"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constructor</a:t>
            </a:r>
            <a:r>
              <a:rPr sz="1400" spc="-30"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to</a:t>
            </a:r>
            <a:r>
              <a:rPr sz="1400" spc="-15"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the</a:t>
            </a:r>
            <a:r>
              <a:rPr sz="1400" spc="-15"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field</a:t>
            </a:r>
            <a:r>
              <a:rPr sz="1400" spc="-15"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names</a:t>
            </a:r>
            <a:r>
              <a:rPr sz="1400" spc="-45"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and</a:t>
            </a:r>
            <a:r>
              <a:rPr sz="1400" spc="-40"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their</a:t>
            </a:r>
            <a:r>
              <a:rPr sz="1400" spc="-15" dirty="0">
                <a:solidFill>
                  <a:sysClr val="windowText" lastClr="000000"/>
                </a:solidFill>
                <a:latin typeface="Palatino Linotype" panose="02040502050505030304"/>
                <a:cs typeface="Palatino Linotype" panose="02040502050505030304"/>
              </a:rPr>
              <a:t> </a:t>
            </a:r>
            <a:r>
              <a:rPr sz="1400" spc="-10" dirty="0">
                <a:solidFill>
                  <a:sysClr val="windowText" lastClr="000000"/>
                </a:solidFill>
                <a:latin typeface="Palatino Linotype" panose="02040502050505030304"/>
                <a:cs typeface="Palatino Linotype" panose="02040502050505030304"/>
              </a:rPr>
              <a:t>types</a:t>
            </a:r>
            <a:endParaRPr sz="1400">
              <a:solidFill>
                <a:sysClr val="windowText" lastClr="000000"/>
              </a:solidFill>
              <a:latin typeface="Palatino Linotype" panose="02040502050505030304"/>
              <a:cs typeface="Palatino Linotype" panose="02040502050505030304"/>
            </a:endParaRPr>
          </a:p>
          <a:p>
            <a:pPr marL="697865" lvl="1" indent="-227965">
              <a:spcBef>
                <a:spcPts val="940"/>
              </a:spcBef>
              <a:buFont typeface="Wingdings" panose="05000000000000000000"/>
              <a:buChar char=""/>
              <a:tabLst>
                <a:tab pos="697865" algn="l"/>
              </a:tabLst>
            </a:pPr>
            <a:r>
              <a:rPr sz="1400" dirty="0">
                <a:solidFill>
                  <a:sysClr val="windowText" lastClr="000000"/>
                </a:solidFill>
                <a:latin typeface="Palatino Linotype" panose="02040502050505030304"/>
                <a:cs typeface="Palatino Linotype" panose="02040502050505030304"/>
              </a:rPr>
              <a:t>By</a:t>
            </a:r>
            <a:r>
              <a:rPr sz="1400" spc="-15"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applying</a:t>
            </a:r>
            <a:r>
              <a:rPr sz="1400" spc="-45"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the </a:t>
            </a:r>
            <a:r>
              <a:rPr sz="1400" dirty="0">
                <a:solidFill>
                  <a:srgbClr val="0431FF"/>
                </a:solidFill>
                <a:latin typeface="Cambria Math" panose="02040503050406030204"/>
                <a:cs typeface="Cambria Math" panose="02040503050406030204"/>
              </a:rPr>
              <a:t>→</a:t>
            </a:r>
            <a:r>
              <a:rPr sz="1400" spc="25" dirty="0">
                <a:solidFill>
                  <a:srgbClr val="0431FF"/>
                </a:solidFill>
                <a:latin typeface="Cambria Math" panose="02040503050406030204"/>
                <a:cs typeface="Cambria Math" panose="02040503050406030204"/>
              </a:rPr>
              <a:t> </a:t>
            </a:r>
            <a:r>
              <a:rPr sz="1400" dirty="0">
                <a:solidFill>
                  <a:sysClr val="windowText" lastClr="000000"/>
                </a:solidFill>
                <a:latin typeface="Palatino Linotype" panose="02040502050505030304"/>
                <a:cs typeface="Palatino Linotype" panose="02040502050505030304"/>
              </a:rPr>
              <a:t>type</a:t>
            </a:r>
            <a:r>
              <a:rPr sz="1400" spc="-15"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constructor</a:t>
            </a:r>
            <a:r>
              <a:rPr sz="1400" spc="-30"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for</a:t>
            </a:r>
            <a:r>
              <a:rPr sz="1400" spc="-30" dirty="0">
                <a:solidFill>
                  <a:sysClr val="windowText" lastClr="000000"/>
                </a:solidFill>
                <a:latin typeface="Palatino Linotype" panose="02040502050505030304"/>
                <a:cs typeface="Palatino Linotype" panose="02040502050505030304"/>
              </a:rPr>
              <a:t> </a:t>
            </a:r>
            <a:r>
              <a:rPr sz="1400" dirty="0">
                <a:solidFill>
                  <a:sysClr val="windowText" lastClr="000000"/>
                </a:solidFill>
                <a:latin typeface="Palatino Linotype" panose="02040502050505030304"/>
                <a:cs typeface="Palatino Linotype" panose="02040502050505030304"/>
              </a:rPr>
              <a:t>function</a:t>
            </a:r>
            <a:r>
              <a:rPr sz="1400" spc="-15" dirty="0">
                <a:solidFill>
                  <a:sysClr val="windowText" lastClr="000000"/>
                </a:solidFill>
                <a:latin typeface="Palatino Linotype" panose="02040502050505030304"/>
                <a:cs typeface="Palatino Linotype" panose="02040502050505030304"/>
              </a:rPr>
              <a:t> </a:t>
            </a:r>
            <a:r>
              <a:rPr sz="1400" spc="-10" dirty="0">
                <a:solidFill>
                  <a:sysClr val="windowText" lastClr="000000"/>
                </a:solidFill>
                <a:latin typeface="Palatino Linotype" panose="02040502050505030304"/>
                <a:cs typeface="Palatino Linotype" panose="02040502050505030304"/>
              </a:rPr>
              <a:t>types</a:t>
            </a:r>
            <a:endParaRPr sz="1400">
              <a:solidFill>
                <a:sysClr val="windowText" lastClr="000000"/>
              </a:solidFill>
              <a:latin typeface="Palatino Linotype" panose="02040502050505030304"/>
              <a:cs typeface="Palatino Linotype" panose="02040502050505030304"/>
            </a:endParaRPr>
          </a:p>
          <a:p>
            <a:pPr marL="242570" marR="5080" indent="-230505">
              <a:lnSpc>
                <a:spcPct val="120000"/>
              </a:lnSpc>
              <a:spcBef>
                <a:spcPts val="1135"/>
              </a:spcBef>
              <a:buFont typeface="Arial MT"/>
              <a:buChar char="•"/>
              <a:tabLst>
                <a:tab pos="242570" algn="l"/>
              </a:tabLst>
            </a:pPr>
            <a:r>
              <a:rPr dirty="0">
                <a:solidFill>
                  <a:sysClr val="windowText" lastClr="000000"/>
                </a:solidFill>
                <a:latin typeface="Palatino Linotype" panose="02040502050505030304"/>
                <a:cs typeface="Palatino Linotype" panose="02040502050505030304"/>
              </a:rPr>
              <a:t>If</a:t>
            </a:r>
            <a:r>
              <a:rPr spc="-25" dirty="0">
                <a:solidFill>
                  <a:sysClr val="windowText" lastClr="000000"/>
                </a:solidFill>
                <a:latin typeface="Palatino Linotype" panose="02040502050505030304"/>
                <a:cs typeface="Palatino Linotype" panose="02040502050505030304"/>
              </a:rPr>
              <a:t> </a:t>
            </a:r>
            <a:r>
              <a:rPr dirty="0">
                <a:solidFill>
                  <a:srgbClr val="0431FF"/>
                </a:solidFill>
                <a:latin typeface="Cambria Math" panose="02040503050406030204"/>
                <a:cs typeface="Cambria Math" panose="02040503050406030204"/>
              </a:rPr>
              <a:t>𝑠</a:t>
            </a:r>
            <a:r>
              <a:rPr spc="55" dirty="0">
                <a:solidFill>
                  <a:srgbClr val="0431FF"/>
                </a:solidFill>
                <a:latin typeface="Cambria Math" panose="02040503050406030204"/>
                <a:cs typeface="Cambria Math" panose="02040503050406030204"/>
              </a:rPr>
              <a:t> </a:t>
            </a:r>
            <a:r>
              <a:rPr dirty="0">
                <a:solidFill>
                  <a:sysClr val="windowText" lastClr="000000"/>
                </a:solidFill>
                <a:latin typeface="Palatino Linotype" panose="02040502050505030304"/>
                <a:cs typeface="Palatino Linotype" panose="02040502050505030304"/>
              </a:rPr>
              <a:t>and</a:t>
            </a:r>
            <a:r>
              <a:rPr spc="-30" dirty="0">
                <a:solidFill>
                  <a:sysClr val="windowText" lastClr="000000"/>
                </a:solidFill>
                <a:latin typeface="Palatino Linotype" panose="02040502050505030304"/>
                <a:cs typeface="Palatino Linotype" panose="02040502050505030304"/>
              </a:rPr>
              <a:t> </a:t>
            </a:r>
            <a:r>
              <a:rPr dirty="0">
                <a:solidFill>
                  <a:srgbClr val="0431FF"/>
                </a:solidFill>
                <a:latin typeface="Cambria Math" panose="02040503050406030204"/>
                <a:cs typeface="Cambria Math" panose="02040503050406030204"/>
              </a:rPr>
              <a:t>𝑡</a:t>
            </a:r>
            <a:r>
              <a:rPr spc="60" dirty="0">
                <a:solidFill>
                  <a:srgbClr val="0431FF"/>
                </a:solidFill>
                <a:latin typeface="Cambria Math" panose="02040503050406030204"/>
                <a:cs typeface="Cambria Math" panose="02040503050406030204"/>
              </a:rPr>
              <a:t> </a:t>
            </a:r>
            <a:r>
              <a:rPr dirty="0">
                <a:solidFill>
                  <a:sysClr val="windowText" lastClr="000000"/>
                </a:solidFill>
                <a:latin typeface="Palatino Linotype" panose="02040502050505030304"/>
                <a:cs typeface="Palatino Linotype" panose="02040502050505030304"/>
              </a:rPr>
              <a:t>are</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type</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expressions,</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then</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their</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Cartesian</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product </a:t>
            </a:r>
            <a:r>
              <a:rPr dirty="0">
                <a:solidFill>
                  <a:srgbClr val="0431FF"/>
                </a:solidFill>
                <a:latin typeface="Cambria Math" panose="02040503050406030204"/>
                <a:cs typeface="Cambria Math" panose="02040503050406030204"/>
              </a:rPr>
              <a:t>𝑠</a:t>
            </a:r>
            <a:r>
              <a:rPr spc="10" dirty="0">
                <a:solidFill>
                  <a:srgbClr val="0431FF"/>
                </a:solidFill>
                <a:latin typeface="Cambria Math" panose="02040503050406030204"/>
                <a:cs typeface="Cambria Math" panose="02040503050406030204"/>
              </a:rPr>
              <a:t> </a:t>
            </a:r>
            <a:r>
              <a:rPr dirty="0">
                <a:solidFill>
                  <a:srgbClr val="0431FF"/>
                </a:solidFill>
                <a:latin typeface="Cambria Math" panose="02040503050406030204"/>
                <a:cs typeface="Cambria Math" panose="02040503050406030204"/>
              </a:rPr>
              <a:t>×</a:t>
            </a:r>
            <a:r>
              <a:rPr spc="-20" dirty="0">
                <a:solidFill>
                  <a:srgbClr val="0431FF"/>
                </a:solidFill>
                <a:latin typeface="Cambria Math" panose="02040503050406030204"/>
                <a:cs typeface="Cambria Math" panose="02040503050406030204"/>
              </a:rPr>
              <a:t> </a:t>
            </a:r>
            <a:r>
              <a:rPr dirty="0">
                <a:solidFill>
                  <a:srgbClr val="0431FF"/>
                </a:solidFill>
                <a:latin typeface="Cambria Math" panose="02040503050406030204"/>
                <a:cs typeface="Cambria Math" panose="02040503050406030204"/>
              </a:rPr>
              <a:t>𝑡</a:t>
            </a:r>
            <a:r>
              <a:rPr spc="70" dirty="0">
                <a:solidFill>
                  <a:srgbClr val="0431FF"/>
                </a:solidFill>
                <a:latin typeface="Cambria Math" panose="02040503050406030204"/>
                <a:cs typeface="Cambria Math" panose="02040503050406030204"/>
              </a:rPr>
              <a:t> </a:t>
            </a:r>
            <a:r>
              <a:rPr dirty="0">
                <a:solidFill>
                  <a:sysClr val="windowText" lastClr="000000"/>
                </a:solidFill>
                <a:latin typeface="Palatino Linotype" panose="02040502050505030304"/>
                <a:cs typeface="Palatino Linotype" panose="02040502050505030304"/>
              </a:rPr>
              <a:t>is</a:t>
            </a:r>
            <a:r>
              <a:rPr spc="-5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a:t>
            </a:r>
            <a:r>
              <a:rPr spc="-30" dirty="0">
                <a:solidFill>
                  <a:sysClr val="windowText" lastClr="000000"/>
                </a:solidFill>
                <a:latin typeface="Palatino Linotype" panose="02040502050505030304"/>
                <a:cs typeface="Palatino Linotype" panose="02040502050505030304"/>
              </a:rPr>
              <a:t> </a:t>
            </a:r>
            <a:r>
              <a:rPr spc="-20" dirty="0">
                <a:solidFill>
                  <a:sysClr val="windowText" lastClr="000000"/>
                </a:solidFill>
                <a:latin typeface="Palatino Linotype" panose="02040502050505030304"/>
                <a:cs typeface="Palatino Linotype" panose="02040502050505030304"/>
              </a:rPr>
              <a:t>type </a:t>
            </a:r>
            <a:r>
              <a:rPr dirty="0">
                <a:solidFill>
                  <a:sysClr val="windowText" lastClr="000000"/>
                </a:solidFill>
                <a:latin typeface="Palatino Linotype" panose="02040502050505030304"/>
                <a:cs typeface="Palatino Linotype" panose="02040502050505030304"/>
              </a:rPr>
              <a:t>expression</a:t>
            </a:r>
            <a:r>
              <a:rPr spc="-5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(e.g.,</a:t>
            </a:r>
            <a:r>
              <a:rPr spc="-5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represent</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a:t>
            </a:r>
            <a:r>
              <a:rPr spc="-5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tuple</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of</a:t>
            </a:r>
            <a:r>
              <a:rPr spc="-4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types</a:t>
            </a:r>
            <a:r>
              <a:rPr spc="-3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such</a:t>
            </a:r>
            <a:r>
              <a:rPr spc="-3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as</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function</a:t>
            </a:r>
            <a:r>
              <a:rPr spc="-3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parameters)</a:t>
            </a:r>
            <a:endParaRPr>
              <a:solidFill>
                <a:sysClr val="windowText" lastClr="000000"/>
              </a:solidFill>
              <a:latin typeface="Palatino Linotype" panose="02040502050505030304"/>
              <a:cs typeface="Palatino Linotype" panose="02040502050505030304"/>
            </a:endParaRPr>
          </a:p>
          <a:p>
            <a:pPr>
              <a:spcBef>
                <a:spcPts val="1570"/>
              </a:spcBef>
            </a:pPr>
            <a:endParaRPr>
              <a:solidFill>
                <a:sysClr val="windowText" lastClr="000000"/>
              </a:solidFill>
              <a:latin typeface="Palatino Linotype" panose="02040502050505030304"/>
              <a:cs typeface="Palatino Linotype" panose="02040502050505030304"/>
            </a:endParaRPr>
          </a:p>
          <a:p>
            <a:pPr marL="12700" marR="122555"/>
            <a:r>
              <a:rPr sz="1400" dirty="0">
                <a:solidFill>
                  <a:srgbClr val="A6A6A6"/>
                </a:solidFill>
                <a:latin typeface="Palatino Linotype" panose="02040502050505030304"/>
                <a:cs typeface="Palatino Linotype" panose="02040502050505030304"/>
              </a:rPr>
              <a:t>*</a:t>
            </a:r>
            <a:r>
              <a:rPr sz="1400" spc="-15" dirty="0">
                <a:solidFill>
                  <a:srgbClr val="A6A6A6"/>
                </a:solidFill>
                <a:latin typeface="Palatino Linotype" panose="02040502050505030304"/>
                <a:cs typeface="Palatino Linotype" panose="02040502050505030304"/>
              </a:rPr>
              <a:t> </a:t>
            </a:r>
            <a:r>
              <a:rPr sz="1400" spc="-20" dirty="0">
                <a:solidFill>
                  <a:srgbClr val="A6A6A6"/>
                </a:solidFill>
                <a:latin typeface="Palatino Linotype" panose="02040502050505030304"/>
                <a:cs typeface="Palatino Linotype" panose="02040502050505030304"/>
              </a:rPr>
              <a:t>Type</a:t>
            </a:r>
            <a:r>
              <a:rPr sz="1400" spc="-35"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expressions</a:t>
            </a:r>
            <a:r>
              <a:rPr sz="1400" spc="-55"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may</a:t>
            </a:r>
            <a:r>
              <a:rPr sz="1400" spc="-20"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contain</a:t>
            </a:r>
            <a:r>
              <a:rPr sz="1400" spc="-30"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type</a:t>
            </a:r>
            <a:r>
              <a:rPr sz="1400" spc="-20"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variables</a:t>
            </a:r>
            <a:r>
              <a:rPr sz="1400" spc="-45"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(e.g.,</a:t>
            </a:r>
            <a:r>
              <a:rPr sz="1400" spc="-20"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those</a:t>
            </a:r>
            <a:r>
              <a:rPr sz="1400" spc="-35"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generated</a:t>
            </a:r>
            <a:r>
              <a:rPr sz="1400" spc="-30"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by</a:t>
            </a:r>
            <a:r>
              <a:rPr sz="1400" spc="-30"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compilers)</a:t>
            </a:r>
            <a:r>
              <a:rPr sz="1400" spc="-35"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whose</a:t>
            </a:r>
            <a:r>
              <a:rPr sz="1400" spc="-45" dirty="0">
                <a:solidFill>
                  <a:srgbClr val="A6A6A6"/>
                </a:solidFill>
                <a:latin typeface="Palatino Linotype" panose="02040502050505030304"/>
                <a:cs typeface="Palatino Linotype" panose="02040502050505030304"/>
              </a:rPr>
              <a:t> </a:t>
            </a:r>
            <a:r>
              <a:rPr sz="1400" spc="-10" dirty="0">
                <a:solidFill>
                  <a:srgbClr val="A6A6A6"/>
                </a:solidFill>
                <a:latin typeface="Palatino Linotype" panose="02040502050505030304"/>
                <a:cs typeface="Palatino Linotype" panose="02040502050505030304"/>
              </a:rPr>
              <a:t>values </a:t>
            </a:r>
            <a:r>
              <a:rPr sz="1400" dirty="0">
                <a:solidFill>
                  <a:srgbClr val="A6A6A6"/>
                </a:solidFill>
                <a:latin typeface="Palatino Linotype" panose="02040502050505030304"/>
                <a:cs typeface="Palatino Linotype" panose="02040502050505030304"/>
              </a:rPr>
              <a:t>are</a:t>
            </a:r>
            <a:r>
              <a:rPr sz="1400" spc="-20"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type</a:t>
            </a:r>
            <a:r>
              <a:rPr sz="1400" spc="-15" dirty="0">
                <a:solidFill>
                  <a:srgbClr val="A6A6A6"/>
                </a:solidFill>
                <a:latin typeface="Palatino Linotype" panose="02040502050505030304"/>
                <a:cs typeface="Palatino Linotype" panose="02040502050505030304"/>
              </a:rPr>
              <a:t> </a:t>
            </a:r>
            <a:r>
              <a:rPr sz="1400" spc="-10" dirty="0">
                <a:solidFill>
                  <a:srgbClr val="A6A6A6"/>
                </a:solidFill>
                <a:latin typeface="Palatino Linotype" panose="02040502050505030304"/>
                <a:cs typeface="Palatino Linotype" panose="02040502050505030304"/>
              </a:rPr>
              <a:t>expressions</a:t>
            </a:r>
            <a:endParaRPr sz="1400">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31</a:t>
            </a:fld>
            <a:endParaRPr lang="en-US"/>
          </a:p>
        </p:txBody>
      </p:sp>
      <p:sp>
        <p:nvSpPr>
          <p:cNvPr id="10"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50" normalizeH="0" baseline="0" noProof="0">
                <a:ln>
                  <a:noFill/>
                </a:ln>
                <a:solidFill>
                  <a:srgbClr val="000000"/>
                </a:solidFill>
                <a:effectLst/>
                <a:uLnTx/>
                <a:uFillTx/>
                <a:latin typeface="Palatino Linotype" panose="02040502050505030304"/>
                <a:ea typeface="+mj-ea"/>
              </a:rPr>
              <a:t>Type</a:t>
            </a:r>
            <a:r>
              <a:rPr kumimoji="0" lang="en-US" sz="4000" b="1" i="0" u="none" strike="noStrike" kern="0" cap="none" spc="-19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Equivalence</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11" name="object 3"/>
          <p:cNvSpPr txBox="1"/>
          <p:nvPr/>
        </p:nvSpPr>
        <p:spPr>
          <a:xfrm>
            <a:off x="707542" y="1656714"/>
            <a:ext cx="6741795" cy="360680"/>
          </a:xfrm>
          <a:prstGeom prst="rect">
            <a:avLst/>
          </a:prstGeom>
        </p:spPr>
        <p:txBody>
          <a:bodyPr vert="horz" wrap="square" lIns="0" tIns="12065" rIns="0" bIns="0" rtlCol="0">
            <a:spAutoFit/>
          </a:bodyPr>
          <a:lstStyle/>
          <a:p>
            <a:pPr marL="242570" indent="-229870">
              <a:spcBef>
                <a:spcPts val="95"/>
              </a:spcBef>
              <a:buFont typeface="Arial MT"/>
              <a:buChar char="•"/>
              <a:tabLst>
                <a:tab pos="242570" algn="l"/>
              </a:tabLst>
            </a:pPr>
            <a:r>
              <a:rPr sz="2200" spc="-25" dirty="0">
                <a:solidFill>
                  <a:sysClr val="windowText" lastClr="000000"/>
                </a:solidFill>
                <a:latin typeface="Palatino Linotype" panose="02040502050505030304"/>
                <a:cs typeface="Palatino Linotype" panose="02040502050505030304"/>
              </a:rPr>
              <a:t>Type</a:t>
            </a:r>
            <a:r>
              <a:rPr sz="2200" spc="-7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checking</a:t>
            </a:r>
            <a:r>
              <a:rPr sz="2200" spc="-8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rules</a:t>
            </a:r>
            <a:r>
              <a:rPr sz="2200" spc="-6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usually</a:t>
            </a:r>
            <a:r>
              <a:rPr sz="2200" spc="-6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have</a:t>
            </a:r>
            <a:r>
              <a:rPr sz="2200" spc="-9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the</a:t>
            </a:r>
            <a:r>
              <a:rPr sz="2200" spc="-9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following</a:t>
            </a:r>
            <a:r>
              <a:rPr sz="2200" spc="-75" dirty="0">
                <a:solidFill>
                  <a:sysClr val="windowText" lastClr="000000"/>
                </a:solidFill>
                <a:latin typeface="Palatino Linotype" panose="02040502050505030304"/>
                <a:cs typeface="Palatino Linotype" panose="02040502050505030304"/>
              </a:rPr>
              <a:t> </a:t>
            </a:r>
            <a:r>
              <a:rPr sz="2200" spc="-20" dirty="0">
                <a:solidFill>
                  <a:sysClr val="windowText" lastClr="000000"/>
                </a:solidFill>
                <a:latin typeface="Palatino Linotype" panose="02040502050505030304"/>
                <a:cs typeface="Palatino Linotype" panose="02040502050505030304"/>
              </a:rPr>
              <a:t>form</a:t>
            </a:r>
            <a:endParaRPr sz="2200">
              <a:solidFill>
                <a:sysClr val="windowText" lastClr="000000"/>
              </a:solidFill>
              <a:latin typeface="Palatino Linotype" panose="02040502050505030304"/>
              <a:cs typeface="Palatino Linotype" panose="02040502050505030304"/>
            </a:endParaRPr>
          </a:p>
        </p:txBody>
      </p:sp>
      <p:sp>
        <p:nvSpPr>
          <p:cNvPr id="12" name="object 4"/>
          <p:cNvSpPr txBox="1"/>
          <p:nvPr/>
        </p:nvSpPr>
        <p:spPr>
          <a:xfrm>
            <a:off x="995172" y="2447544"/>
            <a:ext cx="4081779" cy="1068705"/>
          </a:xfrm>
          <a:prstGeom prst="rect">
            <a:avLst/>
          </a:prstGeom>
          <a:solidFill>
            <a:srgbClr val="FFF1CC"/>
          </a:solidFill>
          <a:ln w="9525">
            <a:solidFill>
              <a:srgbClr val="000000"/>
            </a:solidFill>
          </a:ln>
        </p:spPr>
        <p:txBody>
          <a:bodyPr vert="horz" wrap="square" lIns="0" tIns="64769" rIns="0" bIns="0" rtlCol="0">
            <a:spAutoFit/>
          </a:bodyPr>
          <a:lstStyle/>
          <a:p>
            <a:pPr marL="91440">
              <a:spcBef>
                <a:spcPts val="510"/>
              </a:spcBef>
            </a:pPr>
            <a:r>
              <a:rPr b="1" dirty="0">
                <a:solidFill>
                  <a:srgbClr val="FF0000"/>
                </a:solidFill>
                <a:latin typeface="Palatino Linotype" panose="02040502050505030304"/>
                <a:cs typeface="Palatino Linotype" panose="02040502050505030304"/>
              </a:rPr>
              <a:t>If</a:t>
            </a:r>
            <a:r>
              <a:rPr b="1" spc="-30" dirty="0">
                <a:solidFill>
                  <a:srgbClr val="FF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two</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type</a:t>
            </a:r>
            <a:r>
              <a:rPr spc="-1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expressions</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are</a:t>
            </a:r>
            <a:r>
              <a:rPr spc="-2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equivalent</a:t>
            </a:r>
            <a:endParaRPr>
              <a:solidFill>
                <a:sysClr val="windowText" lastClr="000000"/>
              </a:solidFill>
              <a:latin typeface="Palatino Linotype" panose="02040502050505030304"/>
              <a:cs typeface="Palatino Linotype" panose="02040502050505030304"/>
            </a:endParaRPr>
          </a:p>
          <a:p>
            <a:pPr marL="91440">
              <a:spcBef>
                <a:spcPts val="435"/>
              </a:spcBef>
            </a:pPr>
            <a:r>
              <a:rPr b="1" dirty="0">
                <a:solidFill>
                  <a:srgbClr val="FF0000"/>
                </a:solidFill>
                <a:latin typeface="Palatino Linotype" panose="02040502050505030304"/>
                <a:cs typeface="Palatino Linotype" panose="02040502050505030304"/>
              </a:rPr>
              <a:t>then</a:t>
            </a:r>
            <a:r>
              <a:rPr b="1" spc="-40" dirty="0">
                <a:solidFill>
                  <a:srgbClr val="FF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return</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given</a:t>
            </a:r>
            <a:r>
              <a:rPr spc="-50" dirty="0">
                <a:solidFill>
                  <a:sysClr val="windowText" lastClr="000000"/>
                </a:solidFill>
                <a:latin typeface="Palatino Linotype" panose="02040502050505030304"/>
                <a:cs typeface="Palatino Linotype" panose="02040502050505030304"/>
              </a:rPr>
              <a:t> </a:t>
            </a:r>
            <a:r>
              <a:rPr spc="-20" dirty="0">
                <a:solidFill>
                  <a:sysClr val="windowText" lastClr="000000"/>
                </a:solidFill>
                <a:latin typeface="Palatino Linotype" panose="02040502050505030304"/>
                <a:cs typeface="Palatino Linotype" panose="02040502050505030304"/>
              </a:rPr>
              <a:t>type</a:t>
            </a:r>
            <a:endParaRPr>
              <a:solidFill>
                <a:sysClr val="windowText" lastClr="000000"/>
              </a:solidFill>
              <a:latin typeface="Palatino Linotype" panose="02040502050505030304"/>
              <a:cs typeface="Palatino Linotype" panose="02040502050505030304"/>
            </a:endParaRPr>
          </a:p>
          <a:p>
            <a:pPr marL="91440">
              <a:spcBef>
                <a:spcPts val="435"/>
              </a:spcBef>
            </a:pPr>
            <a:r>
              <a:rPr b="1" dirty="0">
                <a:solidFill>
                  <a:srgbClr val="FF0000"/>
                </a:solidFill>
                <a:latin typeface="Palatino Linotype" panose="02040502050505030304"/>
                <a:cs typeface="Palatino Linotype" panose="02040502050505030304"/>
              </a:rPr>
              <a:t>else</a:t>
            </a:r>
            <a:r>
              <a:rPr b="1" spc="-50" dirty="0">
                <a:solidFill>
                  <a:srgbClr val="FF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return</a:t>
            </a:r>
            <a:r>
              <a:rPr spc="-30" dirty="0">
                <a:solidFill>
                  <a:sysClr val="windowText" lastClr="000000"/>
                </a:solidFill>
                <a:latin typeface="Palatino Linotype" panose="02040502050505030304"/>
                <a:cs typeface="Palatino Linotype" panose="02040502050505030304"/>
              </a:rPr>
              <a:t> </a:t>
            </a:r>
            <a:r>
              <a:rPr b="1" spc="-10" dirty="0">
                <a:solidFill>
                  <a:srgbClr val="FF0000"/>
                </a:solidFill>
                <a:latin typeface="Palatino Linotype" panose="02040502050505030304"/>
                <a:cs typeface="Palatino Linotype" panose="02040502050505030304"/>
              </a:rPr>
              <a:t>type_error</a:t>
            </a:r>
            <a:endParaRPr>
              <a:solidFill>
                <a:sysClr val="windowText" lastClr="000000"/>
              </a:solidFill>
              <a:latin typeface="Palatino Linotype" panose="02040502050505030304"/>
              <a:cs typeface="Palatino Linotype" panose="02040502050505030304"/>
            </a:endParaRPr>
          </a:p>
        </p:txBody>
      </p:sp>
      <p:sp>
        <p:nvSpPr>
          <p:cNvPr id="13" name="object 5"/>
          <p:cNvSpPr txBox="1"/>
          <p:nvPr/>
        </p:nvSpPr>
        <p:spPr>
          <a:xfrm>
            <a:off x="5881115" y="2589276"/>
            <a:ext cx="2341245" cy="784860"/>
          </a:xfrm>
          <a:prstGeom prst="rect">
            <a:avLst/>
          </a:prstGeom>
          <a:solidFill>
            <a:srgbClr val="E1EFD9"/>
          </a:solidFill>
          <a:ln w="9525">
            <a:solidFill>
              <a:srgbClr val="000000"/>
            </a:solidFill>
          </a:ln>
        </p:spPr>
        <p:txBody>
          <a:bodyPr vert="horz" wrap="square" lIns="0" tIns="127635" rIns="0" bIns="0" rtlCol="0">
            <a:spAutoFit/>
          </a:bodyPr>
          <a:lstStyle/>
          <a:p>
            <a:pPr marL="92710">
              <a:spcBef>
                <a:spcPts val="1005"/>
              </a:spcBef>
            </a:pPr>
            <a:r>
              <a:rPr dirty="0">
                <a:solidFill>
                  <a:sysClr val="windowText" lastClr="000000"/>
                </a:solidFill>
                <a:latin typeface="Palatino Linotype" panose="02040502050505030304"/>
                <a:cs typeface="Palatino Linotype" panose="02040502050505030304"/>
              </a:rPr>
              <a:t>Code</a:t>
            </a:r>
            <a:r>
              <a:rPr spc="-5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under</a:t>
            </a:r>
            <a:r>
              <a:rPr spc="-5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analysis:</a:t>
            </a:r>
            <a:endParaRPr>
              <a:solidFill>
                <a:sysClr val="windowText" lastClr="000000"/>
              </a:solidFill>
              <a:latin typeface="Palatino Linotype" panose="02040502050505030304"/>
              <a:cs typeface="Palatino Linotype" panose="02040502050505030304"/>
            </a:endParaRPr>
          </a:p>
          <a:p>
            <a:pPr marL="92710">
              <a:spcBef>
                <a:spcPts val="335"/>
              </a:spcBef>
            </a:pPr>
            <a:r>
              <a:rPr dirty="0">
                <a:solidFill>
                  <a:srgbClr val="0431FF"/>
                </a:solidFill>
                <a:latin typeface="Consolas" panose="020B0609020204030204"/>
                <a:cs typeface="Consolas" panose="020B0609020204030204"/>
              </a:rPr>
              <a:t>a</a:t>
            </a:r>
            <a:r>
              <a:rPr spc="-15" dirty="0">
                <a:solidFill>
                  <a:srgbClr val="0431FF"/>
                </a:solidFill>
                <a:latin typeface="Consolas" panose="020B0609020204030204"/>
                <a:cs typeface="Consolas" panose="020B0609020204030204"/>
              </a:rPr>
              <a:t> </a:t>
            </a:r>
            <a:r>
              <a:rPr dirty="0">
                <a:solidFill>
                  <a:srgbClr val="0431FF"/>
                </a:solidFill>
                <a:latin typeface="Consolas" panose="020B0609020204030204"/>
                <a:cs typeface="Consolas" panose="020B0609020204030204"/>
              </a:rPr>
              <a:t>+</a:t>
            </a:r>
            <a:r>
              <a:rPr spc="-15" dirty="0">
                <a:solidFill>
                  <a:srgbClr val="0431FF"/>
                </a:solidFill>
                <a:latin typeface="Consolas" panose="020B0609020204030204"/>
                <a:cs typeface="Consolas" panose="020B0609020204030204"/>
              </a:rPr>
              <a:t> </a:t>
            </a:r>
            <a:r>
              <a:rPr spc="-50" dirty="0">
                <a:solidFill>
                  <a:srgbClr val="0431FF"/>
                </a:solidFill>
                <a:latin typeface="Consolas" panose="020B0609020204030204"/>
                <a:cs typeface="Consolas" panose="020B0609020204030204"/>
              </a:rPr>
              <a:t>b</a:t>
            </a:r>
            <a:endParaRPr>
              <a:solidFill>
                <a:sysClr val="windowText" lastClr="000000"/>
              </a:solidFill>
              <a:latin typeface="Consolas" panose="020B0609020204030204"/>
              <a:cs typeface="Consolas" panose="020B0609020204030204"/>
            </a:endParaRPr>
          </a:p>
        </p:txBody>
      </p:sp>
      <p:sp>
        <p:nvSpPr>
          <p:cNvPr id="14" name="object 6"/>
          <p:cNvSpPr txBox="1"/>
          <p:nvPr/>
        </p:nvSpPr>
        <p:spPr>
          <a:xfrm>
            <a:off x="707542" y="3942663"/>
            <a:ext cx="7914005" cy="1597025"/>
          </a:xfrm>
          <a:prstGeom prst="rect">
            <a:avLst/>
          </a:prstGeom>
        </p:spPr>
        <p:txBody>
          <a:bodyPr vert="horz" wrap="square" lIns="0" tIns="12065" rIns="0" bIns="0" rtlCol="0">
            <a:spAutoFit/>
          </a:bodyPr>
          <a:lstStyle/>
          <a:p>
            <a:pPr marL="242570" indent="-229870">
              <a:spcBef>
                <a:spcPts val="95"/>
              </a:spcBef>
              <a:buFont typeface="Arial MT"/>
              <a:buChar char="•"/>
              <a:tabLst>
                <a:tab pos="242570" algn="l"/>
              </a:tabLst>
            </a:pPr>
            <a:r>
              <a:rPr sz="2200" dirty="0">
                <a:solidFill>
                  <a:sysClr val="windowText" lastClr="000000"/>
                </a:solidFill>
                <a:latin typeface="Palatino Linotype" panose="02040502050505030304"/>
                <a:cs typeface="Palatino Linotype" panose="02040502050505030304"/>
              </a:rPr>
              <a:t>The</a:t>
            </a:r>
            <a:r>
              <a:rPr sz="2200" spc="-3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key</a:t>
            </a:r>
            <a:r>
              <a:rPr sz="2200" spc="-3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is</a:t>
            </a:r>
            <a:r>
              <a:rPr sz="2200" spc="-2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to</a:t>
            </a:r>
            <a:r>
              <a:rPr sz="2200" spc="-4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define</a:t>
            </a:r>
            <a:r>
              <a:rPr sz="2200" spc="-3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when</a:t>
            </a:r>
            <a:r>
              <a:rPr sz="2200" spc="-4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two</a:t>
            </a:r>
            <a:r>
              <a:rPr sz="2200" spc="-4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type</a:t>
            </a:r>
            <a:r>
              <a:rPr sz="2200" spc="-3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expressions</a:t>
            </a:r>
            <a:r>
              <a:rPr sz="2200" spc="-1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are</a:t>
            </a:r>
            <a:r>
              <a:rPr sz="2200" spc="-30" dirty="0">
                <a:solidFill>
                  <a:sysClr val="windowText" lastClr="000000"/>
                </a:solidFill>
                <a:latin typeface="Palatino Linotype" panose="02040502050505030304"/>
                <a:cs typeface="Palatino Linotype" panose="02040502050505030304"/>
              </a:rPr>
              <a:t> </a:t>
            </a:r>
            <a:r>
              <a:rPr sz="2200" spc="-10" dirty="0">
                <a:solidFill>
                  <a:sysClr val="windowText" lastClr="000000"/>
                </a:solidFill>
                <a:latin typeface="Palatino Linotype" panose="02040502050505030304"/>
                <a:cs typeface="Palatino Linotype" panose="02040502050505030304"/>
              </a:rPr>
              <a:t>equivalent</a:t>
            </a:r>
            <a:endParaRPr sz="2200">
              <a:solidFill>
                <a:sysClr val="windowText" lastClr="000000"/>
              </a:solidFill>
              <a:latin typeface="Palatino Linotype" panose="02040502050505030304"/>
              <a:cs typeface="Palatino Linotype" panose="02040502050505030304"/>
            </a:endParaRPr>
          </a:p>
          <a:p>
            <a:pPr marL="697865" marR="330835" lvl="1" indent="-228600">
              <a:lnSpc>
                <a:spcPct val="120000"/>
              </a:lnSpc>
              <a:spcBef>
                <a:spcPts val="1270"/>
              </a:spcBef>
              <a:buClr>
                <a:srgbClr val="000000"/>
              </a:buClr>
              <a:buFont typeface="Wingdings" panose="05000000000000000000"/>
              <a:buChar char=""/>
              <a:tabLst>
                <a:tab pos="697865" algn="l"/>
              </a:tabLst>
            </a:pPr>
            <a:r>
              <a:rPr dirty="0">
                <a:solidFill>
                  <a:srgbClr val="FF0000"/>
                </a:solidFill>
                <a:latin typeface="Palatino Linotype" panose="02040502050505030304"/>
                <a:cs typeface="Palatino Linotype" panose="02040502050505030304"/>
              </a:rPr>
              <a:t>The</a:t>
            </a:r>
            <a:r>
              <a:rPr spc="-45"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main</a:t>
            </a:r>
            <a:r>
              <a:rPr spc="-40"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difficulty</a:t>
            </a:r>
            <a:r>
              <a:rPr spc="-45" dirty="0">
                <a:solidFill>
                  <a:srgbClr val="FF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arises</a:t>
            </a:r>
            <a:r>
              <a:rPr spc="-5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from</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the</a:t>
            </a:r>
            <a:r>
              <a:rPr spc="-5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fact</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that</a:t>
            </a:r>
            <a:r>
              <a:rPr spc="-4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most</a:t>
            </a:r>
            <a:r>
              <a:rPr spc="-5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modern</a:t>
            </a:r>
            <a:r>
              <a:rPr spc="-30"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languages </a:t>
            </a:r>
            <a:r>
              <a:rPr dirty="0">
                <a:solidFill>
                  <a:sysClr val="windowText" lastClr="000000"/>
                </a:solidFill>
                <a:latin typeface="Palatino Linotype" panose="02040502050505030304"/>
                <a:cs typeface="Palatino Linotype" panose="02040502050505030304"/>
              </a:rPr>
              <a:t>allow</a:t>
            </a:r>
            <a:r>
              <a:rPr spc="-5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the</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naming</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of</a:t>
            </a:r>
            <a:r>
              <a:rPr spc="-40"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user-</a:t>
            </a:r>
            <a:r>
              <a:rPr dirty="0">
                <a:solidFill>
                  <a:sysClr val="windowText" lastClr="000000"/>
                </a:solidFill>
                <a:latin typeface="Palatino Linotype" panose="02040502050505030304"/>
                <a:cs typeface="Palatino Linotype" panose="02040502050505030304"/>
              </a:rPr>
              <a:t>defined</a:t>
            </a:r>
            <a:r>
              <a:rPr spc="-40"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types</a:t>
            </a:r>
            <a:endParaRPr>
              <a:solidFill>
                <a:sysClr val="windowText" lastClr="000000"/>
              </a:solidFill>
              <a:latin typeface="Palatino Linotype" panose="02040502050505030304"/>
              <a:cs typeface="Palatino Linotype" panose="02040502050505030304"/>
            </a:endParaRPr>
          </a:p>
          <a:p>
            <a:pPr marL="1155065" lvl="2" indent="-228600">
              <a:spcBef>
                <a:spcPts val="1600"/>
              </a:spcBef>
              <a:buClr>
                <a:srgbClr val="000000"/>
              </a:buClr>
              <a:buFont typeface="Courier New" panose="02070309020205020404"/>
              <a:buChar char="o"/>
              <a:tabLst>
                <a:tab pos="1155065" algn="l"/>
              </a:tabLst>
            </a:pPr>
            <a:r>
              <a:rPr sz="1400" dirty="0">
                <a:solidFill>
                  <a:srgbClr val="A6A6A6"/>
                </a:solidFill>
                <a:latin typeface="Palatino Linotype" panose="02040502050505030304"/>
                <a:cs typeface="Palatino Linotype" panose="02040502050505030304"/>
              </a:rPr>
              <a:t>In</a:t>
            </a:r>
            <a:r>
              <a:rPr sz="1400" spc="-20"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C/C++,</a:t>
            </a:r>
            <a:r>
              <a:rPr sz="1400" spc="-30"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type</a:t>
            </a:r>
            <a:r>
              <a:rPr sz="1400" spc="-10"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naming</a:t>
            </a:r>
            <a:r>
              <a:rPr sz="1400" spc="-30"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is</a:t>
            </a:r>
            <a:r>
              <a:rPr sz="1400" spc="-15"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achieved</a:t>
            </a:r>
            <a:r>
              <a:rPr sz="1400" spc="-20"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by</a:t>
            </a:r>
            <a:r>
              <a:rPr sz="1400" spc="-25"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the</a:t>
            </a:r>
            <a:r>
              <a:rPr sz="1400" spc="5" dirty="0">
                <a:solidFill>
                  <a:srgbClr val="A6A6A6"/>
                </a:solidFill>
                <a:latin typeface="Palatino Linotype" panose="02040502050505030304"/>
                <a:cs typeface="Palatino Linotype" panose="02040502050505030304"/>
              </a:rPr>
              <a:t> </a:t>
            </a:r>
            <a:r>
              <a:rPr sz="1400" spc="-20" dirty="0">
                <a:solidFill>
                  <a:srgbClr val="A6A6A6"/>
                </a:solidFill>
                <a:latin typeface="Consolas" panose="020B0609020204030204"/>
                <a:cs typeface="Consolas" panose="020B0609020204030204"/>
              </a:rPr>
              <a:t>typedef</a:t>
            </a:r>
            <a:r>
              <a:rPr sz="1400" spc="-380" dirty="0">
                <a:solidFill>
                  <a:srgbClr val="A6A6A6"/>
                </a:solidFill>
                <a:latin typeface="Consolas" panose="020B0609020204030204"/>
                <a:cs typeface="Consolas" panose="020B0609020204030204"/>
              </a:rPr>
              <a:t> </a:t>
            </a:r>
            <a:r>
              <a:rPr sz="1400" spc="-10" dirty="0">
                <a:solidFill>
                  <a:srgbClr val="A6A6A6"/>
                </a:solidFill>
                <a:latin typeface="Palatino Linotype" panose="02040502050505030304"/>
                <a:cs typeface="Palatino Linotype" panose="02040502050505030304"/>
              </a:rPr>
              <a:t>statement</a:t>
            </a:r>
            <a:endParaRPr sz="1400">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32</a:t>
            </a:fld>
            <a:endParaRPr lang="en-US"/>
          </a:p>
        </p:txBody>
      </p:sp>
      <p:sp>
        <p:nvSpPr>
          <p:cNvPr id="14"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Name</a:t>
            </a:r>
            <a:r>
              <a:rPr kumimoji="0" lang="en-US" sz="4000" b="1" i="0" u="none" strike="noStrike" kern="0" cap="none" spc="-120"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Equivalence</a:t>
            </a:r>
            <a:r>
              <a:rPr kumimoji="0" lang="en-US" sz="4000" b="1" i="0" u="none" strike="noStrike" kern="0" cap="none" spc="-70" normalizeH="0" baseline="0" noProof="0">
                <a:ln>
                  <a:noFill/>
                </a:ln>
                <a:solidFill>
                  <a:srgbClr val="000000"/>
                </a:solidFill>
                <a:effectLst/>
                <a:uLnTx/>
                <a:uFillTx/>
                <a:latin typeface="Palatino Linotype" panose="02040502050505030304"/>
                <a:ea typeface="+mj-ea"/>
              </a:rPr>
              <a:t> (</a:t>
            </a:r>
            <a:r>
              <a:rPr kumimoji="0" lang="zh-CN" altLang="en-US" sz="4000" b="0" i="0" u="none" strike="noStrike" kern="0" cap="none" spc="-35"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rPr>
              <a:t>名等价</a:t>
            </a:r>
            <a:r>
              <a:rPr kumimoji="0" lang="en-US" altLang="zh-CN" sz="4000" b="1" i="0" u="none" strike="noStrike" kern="0" cap="none" spc="-50" normalizeH="0" baseline="0" noProof="0">
                <a:ln>
                  <a:noFill/>
                </a:ln>
                <a:solidFill>
                  <a:srgbClr val="000000"/>
                </a:solidFill>
                <a:effectLst/>
                <a:uLnTx/>
                <a:uFillTx/>
                <a:latin typeface="Palatino Linotype" panose="02040502050505030304"/>
                <a:ea typeface="宋体" panose="02010600030101010101" pitchFamily="2" charset="-122"/>
              </a:rPr>
              <a:t>)</a:t>
            </a:r>
            <a:endParaRPr kumimoji="0" lang="en-US" altLang="zh-CN" sz="4000" b="1" i="0" u="none" strike="noStrike" kern="0" cap="none" spc="-50" normalizeH="0" baseline="0" noProof="0" dirty="0">
              <a:ln>
                <a:noFill/>
              </a:ln>
              <a:solidFill>
                <a:srgbClr val="000000"/>
              </a:solidFill>
              <a:effectLst/>
              <a:uLnTx/>
              <a:uFillTx/>
              <a:latin typeface="Palatino Linotype" panose="02040502050505030304"/>
              <a:ea typeface="宋体" panose="02010600030101010101" pitchFamily="2" charset="-122"/>
            </a:endParaRPr>
          </a:p>
        </p:txBody>
      </p:sp>
      <p:sp>
        <p:nvSpPr>
          <p:cNvPr id="15" name="object 3"/>
          <p:cNvSpPr txBox="1"/>
          <p:nvPr/>
        </p:nvSpPr>
        <p:spPr>
          <a:xfrm>
            <a:off x="707542" y="1597278"/>
            <a:ext cx="7704455" cy="1418590"/>
          </a:xfrm>
          <a:prstGeom prst="rect">
            <a:avLst/>
          </a:prstGeom>
        </p:spPr>
        <p:txBody>
          <a:bodyPr vert="horz" wrap="square" lIns="0" tIns="12700" rIns="0" bIns="0" rtlCol="0">
            <a:spAutoFit/>
          </a:bodyPr>
          <a:lstStyle/>
          <a:p>
            <a:pPr marL="242570" marR="613410" indent="-230505">
              <a:lnSpc>
                <a:spcPct val="120000"/>
              </a:lnSpc>
              <a:spcBef>
                <a:spcPts val="100"/>
              </a:spcBef>
              <a:buFont typeface="Arial MT"/>
              <a:buChar char="•"/>
              <a:tabLst>
                <a:tab pos="242570" algn="l"/>
              </a:tabLst>
            </a:pPr>
            <a:r>
              <a:rPr spc="-20" dirty="0">
                <a:solidFill>
                  <a:sysClr val="windowText" lastClr="000000"/>
                </a:solidFill>
                <a:latin typeface="Palatino Linotype" panose="02040502050505030304"/>
                <a:cs typeface="Palatino Linotype" panose="02040502050505030304"/>
              </a:rPr>
              <a:t>Treat</a:t>
            </a:r>
            <a:r>
              <a:rPr spc="-4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named</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types</a:t>
            </a:r>
            <a:r>
              <a:rPr spc="-4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as</a:t>
            </a:r>
            <a:r>
              <a:rPr spc="-4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basic</a:t>
            </a:r>
            <a:r>
              <a:rPr spc="-4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types;</a:t>
            </a:r>
            <a:r>
              <a:rPr spc="-20" dirty="0">
                <a:solidFill>
                  <a:sysClr val="windowText" lastClr="00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names</a:t>
            </a:r>
            <a:r>
              <a:rPr spc="-50"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in</a:t>
            </a:r>
            <a:r>
              <a:rPr spc="-40"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type</a:t>
            </a:r>
            <a:r>
              <a:rPr spc="-40"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expressions</a:t>
            </a:r>
            <a:r>
              <a:rPr spc="-30" dirty="0">
                <a:solidFill>
                  <a:srgbClr val="FF0000"/>
                </a:solidFill>
                <a:latin typeface="Palatino Linotype" panose="02040502050505030304"/>
                <a:cs typeface="Palatino Linotype" panose="02040502050505030304"/>
              </a:rPr>
              <a:t> </a:t>
            </a:r>
            <a:r>
              <a:rPr dirty="0">
                <a:solidFill>
                  <a:srgbClr val="FF0000"/>
                </a:solidFill>
                <a:latin typeface="Palatino Linotype" panose="02040502050505030304"/>
                <a:cs typeface="Palatino Linotype" panose="02040502050505030304"/>
              </a:rPr>
              <a:t>are</a:t>
            </a:r>
            <a:r>
              <a:rPr spc="-45" dirty="0">
                <a:solidFill>
                  <a:srgbClr val="FF0000"/>
                </a:solidFill>
                <a:latin typeface="Palatino Linotype" panose="02040502050505030304"/>
                <a:cs typeface="Palatino Linotype" panose="02040502050505030304"/>
              </a:rPr>
              <a:t> </a:t>
            </a:r>
            <a:r>
              <a:rPr spc="-25" dirty="0">
                <a:solidFill>
                  <a:srgbClr val="FF0000"/>
                </a:solidFill>
                <a:latin typeface="Palatino Linotype" panose="02040502050505030304"/>
                <a:cs typeface="Palatino Linotype" panose="02040502050505030304"/>
              </a:rPr>
              <a:t>not </a:t>
            </a:r>
            <a:r>
              <a:rPr dirty="0">
                <a:solidFill>
                  <a:srgbClr val="FF0000"/>
                </a:solidFill>
                <a:latin typeface="Palatino Linotype" panose="02040502050505030304"/>
                <a:cs typeface="Palatino Linotype" panose="02040502050505030304"/>
              </a:rPr>
              <a:t>replaced</a:t>
            </a:r>
            <a:r>
              <a:rPr spc="-45" dirty="0">
                <a:solidFill>
                  <a:srgbClr val="FF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by</a:t>
            </a:r>
            <a:r>
              <a:rPr spc="-4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the</a:t>
            </a:r>
            <a:r>
              <a:rPr spc="-3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exact</a:t>
            </a:r>
            <a:r>
              <a:rPr spc="-4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type</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expressions</a:t>
            </a:r>
            <a:r>
              <a:rPr spc="-4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they</a:t>
            </a:r>
            <a:r>
              <a:rPr spc="-4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define</a:t>
            </a:r>
            <a:endParaRPr>
              <a:solidFill>
                <a:sysClr val="windowText" lastClr="000000"/>
              </a:solidFill>
              <a:latin typeface="Palatino Linotype" panose="02040502050505030304"/>
              <a:cs typeface="Palatino Linotype" panose="02040502050505030304"/>
            </a:endParaRPr>
          </a:p>
          <a:p>
            <a:pPr marL="242570" indent="-229870">
              <a:spcBef>
                <a:spcPts val="1030"/>
              </a:spcBef>
              <a:buFont typeface="Arial MT"/>
              <a:buChar char="•"/>
              <a:tabLst>
                <a:tab pos="242570" algn="l"/>
              </a:tabLst>
            </a:pPr>
            <a:r>
              <a:rPr spc="-35" dirty="0">
                <a:solidFill>
                  <a:sysClr val="windowText" lastClr="000000"/>
                </a:solidFill>
                <a:latin typeface="Palatino Linotype" panose="02040502050505030304"/>
                <a:cs typeface="Palatino Linotype" panose="02040502050505030304"/>
              </a:rPr>
              <a:t>Two</a:t>
            </a:r>
            <a:r>
              <a:rPr spc="-4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type</a:t>
            </a:r>
            <a:r>
              <a:rPr spc="-3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expressions</a:t>
            </a:r>
            <a:r>
              <a:rPr spc="-3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are</a:t>
            </a:r>
            <a:r>
              <a:rPr spc="-3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name</a:t>
            </a:r>
            <a:r>
              <a:rPr spc="-40"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equivalent</a:t>
            </a:r>
            <a:r>
              <a:rPr spc="-5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if</a:t>
            </a:r>
            <a:r>
              <a:rPr spc="-3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and</a:t>
            </a:r>
            <a:r>
              <a:rPr spc="-5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only</a:t>
            </a:r>
            <a:r>
              <a:rPr spc="-3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if</a:t>
            </a:r>
            <a:r>
              <a:rPr spc="-20" dirty="0">
                <a:solidFill>
                  <a:sysClr val="windowText" lastClr="000000"/>
                </a:solidFill>
                <a:latin typeface="Palatino Linotype" panose="02040502050505030304"/>
                <a:cs typeface="Palatino Linotype" panose="02040502050505030304"/>
              </a:rPr>
              <a:t> </a:t>
            </a:r>
            <a:r>
              <a:rPr dirty="0">
                <a:solidFill>
                  <a:srgbClr val="0431FF"/>
                </a:solidFill>
                <a:latin typeface="Palatino Linotype" panose="02040502050505030304"/>
                <a:cs typeface="Palatino Linotype" panose="02040502050505030304"/>
              </a:rPr>
              <a:t>they</a:t>
            </a:r>
            <a:r>
              <a:rPr spc="-45" dirty="0">
                <a:solidFill>
                  <a:srgbClr val="0431FF"/>
                </a:solidFill>
                <a:latin typeface="Palatino Linotype" panose="02040502050505030304"/>
                <a:cs typeface="Palatino Linotype" panose="02040502050505030304"/>
              </a:rPr>
              <a:t> </a:t>
            </a:r>
            <a:r>
              <a:rPr dirty="0">
                <a:solidFill>
                  <a:srgbClr val="0431FF"/>
                </a:solidFill>
                <a:latin typeface="Palatino Linotype" panose="02040502050505030304"/>
                <a:cs typeface="Palatino Linotype" panose="02040502050505030304"/>
              </a:rPr>
              <a:t>are</a:t>
            </a:r>
            <a:r>
              <a:rPr spc="-40" dirty="0">
                <a:solidFill>
                  <a:srgbClr val="0431FF"/>
                </a:solidFill>
                <a:latin typeface="Palatino Linotype" panose="02040502050505030304"/>
                <a:cs typeface="Palatino Linotype" panose="02040502050505030304"/>
              </a:rPr>
              <a:t> </a:t>
            </a:r>
            <a:r>
              <a:rPr spc="-10" dirty="0">
                <a:solidFill>
                  <a:srgbClr val="0431FF"/>
                </a:solidFill>
                <a:latin typeface="Palatino Linotype" panose="02040502050505030304"/>
                <a:cs typeface="Palatino Linotype" panose="02040502050505030304"/>
              </a:rPr>
              <a:t>identical</a:t>
            </a:r>
            <a:endParaRPr>
              <a:solidFill>
                <a:sysClr val="windowText" lastClr="000000"/>
              </a:solidFill>
              <a:latin typeface="Palatino Linotype" panose="02040502050505030304"/>
              <a:cs typeface="Palatino Linotype" panose="02040502050505030304"/>
            </a:endParaRPr>
          </a:p>
          <a:p>
            <a:pPr marL="242570">
              <a:spcBef>
                <a:spcPts val="435"/>
              </a:spcBef>
            </a:pPr>
            <a:r>
              <a:rPr dirty="0">
                <a:solidFill>
                  <a:sysClr val="windowText" lastClr="000000"/>
                </a:solidFill>
                <a:latin typeface="Palatino Linotype" panose="02040502050505030304"/>
                <a:cs typeface="Palatino Linotype" panose="02040502050505030304"/>
              </a:rPr>
              <a:t>(represented</a:t>
            </a:r>
            <a:r>
              <a:rPr spc="-2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by</a:t>
            </a:r>
            <a:r>
              <a:rPr spc="-2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the</a:t>
            </a:r>
            <a:r>
              <a:rPr spc="-1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same</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syntax</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tree,</a:t>
            </a:r>
            <a:r>
              <a:rPr spc="-2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with</a:t>
            </a:r>
            <a:r>
              <a:rPr spc="-1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the</a:t>
            </a:r>
            <a:r>
              <a:rPr spc="-2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same</a:t>
            </a:r>
            <a:r>
              <a:rPr spc="-30"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labels)</a:t>
            </a:r>
            <a:endParaRPr>
              <a:solidFill>
                <a:sysClr val="windowText" lastClr="000000"/>
              </a:solidFill>
              <a:latin typeface="Palatino Linotype" panose="02040502050505030304"/>
              <a:cs typeface="Palatino Linotype" panose="02040502050505030304"/>
            </a:endParaRPr>
          </a:p>
        </p:txBody>
      </p:sp>
      <p:sp>
        <p:nvSpPr>
          <p:cNvPr id="16" name="object 4"/>
          <p:cNvSpPr txBox="1"/>
          <p:nvPr/>
        </p:nvSpPr>
        <p:spPr>
          <a:xfrm>
            <a:off x="1801367" y="3314700"/>
            <a:ext cx="2405380" cy="948055"/>
          </a:xfrm>
          <a:prstGeom prst="rect">
            <a:avLst/>
          </a:prstGeom>
          <a:ln w="9525">
            <a:solidFill>
              <a:srgbClr val="000000"/>
            </a:solidFill>
          </a:ln>
        </p:spPr>
        <p:txBody>
          <a:bodyPr vert="horz" wrap="square" lIns="0" tIns="86360" rIns="0" bIns="0" rtlCol="0">
            <a:spAutoFit/>
          </a:bodyPr>
          <a:lstStyle/>
          <a:p>
            <a:pPr marL="536575" marR="304165" indent="-445135">
              <a:spcBef>
                <a:spcPts val="680"/>
              </a:spcBef>
            </a:pPr>
            <a:r>
              <a:rPr sz="1400" dirty="0">
                <a:solidFill>
                  <a:srgbClr val="FF0000"/>
                </a:solidFill>
                <a:latin typeface="Consolas" panose="020B0609020204030204"/>
                <a:cs typeface="Consolas" panose="020B0609020204030204"/>
              </a:rPr>
              <a:t>typedef</a:t>
            </a:r>
            <a:r>
              <a:rPr sz="1400" spc="-25" dirty="0">
                <a:solidFill>
                  <a:srgbClr val="FF0000"/>
                </a:solidFill>
                <a:latin typeface="Consolas" panose="020B0609020204030204"/>
                <a:cs typeface="Consolas" panose="020B0609020204030204"/>
              </a:rPr>
              <a:t> </a:t>
            </a:r>
            <a:r>
              <a:rPr sz="1400" dirty="0">
                <a:solidFill>
                  <a:srgbClr val="232729"/>
                </a:solidFill>
                <a:latin typeface="Consolas" panose="020B0609020204030204"/>
                <a:cs typeface="Consolas" panose="020B0609020204030204"/>
              </a:rPr>
              <a:t>struct</a:t>
            </a:r>
            <a:r>
              <a:rPr sz="1400" spc="-35" dirty="0">
                <a:solidFill>
                  <a:srgbClr val="232729"/>
                </a:solidFill>
                <a:latin typeface="Consolas" panose="020B0609020204030204"/>
                <a:cs typeface="Consolas" panose="020B0609020204030204"/>
              </a:rPr>
              <a:t> </a:t>
            </a:r>
            <a:r>
              <a:rPr sz="1400" spc="-50" dirty="0">
                <a:solidFill>
                  <a:srgbClr val="232729"/>
                </a:solidFill>
                <a:latin typeface="Consolas" panose="020B0609020204030204"/>
                <a:cs typeface="Consolas" panose="020B0609020204030204"/>
              </a:rPr>
              <a:t>{ </a:t>
            </a:r>
            <a:r>
              <a:rPr sz="1400" dirty="0">
                <a:solidFill>
                  <a:srgbClr val="232729"/>
                </a:solidFill>
                <a:latin typeface="Consolas" panose="020B0609020204030204"/>
                <a:cs typeface="Consolas" panose="020B0609020204030204"/>
              </a:rPr>
              <a:t>int</a:t>
            </a:r>
            <a:r>
              <a:rPr sz="1400" spc="-20" dirty="0">
                <a:solidFill>
                  <a:srgbClr val="232729"/>
                </a:solidFill>
                <a:latin typeface="Consolas" panose="020B0609020204030204"/>
                <a:cs typeface="Consolas" panose="020B0609020204030204"/>
              </a:rPr>
              <a:t> </a:t>
            </a:r>
            <a:r>
              <a:rPr sz="1400" spc="-10" dirty="0">
                <a:solidFill>
                  <a:srgbClr val="232729"/>
                </a:solidFill>
                <a:latin typeface="Consolas" panose="020B0609020204030204"/>
                <a:cs typeface="Consolas" panose="020B0609020204030204"/>
              </a:rPr>
              <a:t>data[100]; </a:t>
            </a:r>
            <a:r>
              <a:rPr sz="1400" dirty="0">
                <a:solidFill>
                  <a:srgbClr val="232729"/>
                </a:solidFill>
                <a:latin typeface="Consolas" panose="020B0609020204030204"/>
                <a:cs typeface="Consolas" panose="020B0609020204030204"/>
              </a:rPr>
              <a:t>int</a:t>
            </a:r>
            <a:r>
              <a:rPr sz="1400" spc="-20" dirty="0">
                <a:solidFill>
                  <a:srgbClr val="232729"/>
                </a:solidFill>
                <a:latin typeface="Consolas" panose="020B0609020204030204"/>
                <a:cs typeface="Consolas" panose="020B0609020204030204"/>
              </a:rPr>
              <a:t> </a:t>
            </a:r>
            <a:r>
              <a:rPr sz="1400" spc="-10" dirty="0">
                <a:solidFill>
                  <a:srgbClr val="232729"/>
                </a:solidFill>
                <a:latin typeface="Consolas" panose="020B0609020204030204"/>
                <a:cs typeface="Consolas" panose="020B0609020204030204"/>
              </a:rPr>
              <a:t>count;</a:t>
            </a:r>
            <a:endParaRPr sz="1400">
              <a:solidFill>
                <a:sysClr val="windowText" lastClr="000000"/>
              </a:solidFill>
              <a:latin typeface="Consolas" panose="020B0609020204030204"/>
              <a:cs typeface="Consolas" panose="020B0609020204030204"/>
            </a:endParaRPr>
          </a:p>
          <a:p>
            <a:pPr marL="92075"/>
            <a:r>
              <a:rPr sz="1400" dirty="0">
                <a:solidFill>
                  <a:srgbClr val="232729"/>
                </a:solidFill>
                <a:latin typeface="Consolas" panose="020B0609020204030204"/>
                <a:cs typeface="Consolas" panose="020B0609020204030204"/>
              </a:rPr>
              <a:t>}</a:t>
            </a:r>
            <a:r>
              <a:rPr sz="1400" spc="-10" dirty="0">
                <a:solidFill>
                  <a:srgbClr val="232729"/>
                </a:solidFill>
                <a:latin typeface="Consolas" panose="020B0609020204030204"/>
                <a:cs typeface="Consolas" panose="020B0609020204030204"/>
              </a:rPr>
              <a:t> </a:t>
            </a:r>
            <a:r>
              <a:rPr sz="1400" spc="-10" dirty="0">
                <a:solidFill>
                  <a:srgbClr val="0431FF"/>
                </a:solidFill>
                <a:latin typeface="Consolas" panose="020B0609020204030204"/>
                <a:cs typeface="Consolas" panose="020B0609020204030204"/>
              </a:rPr>
              <a:t>Stack</a:t>
            </a:r>
            <a:r>
              <a:rPr sz="1400" spc="-10" dirty="0">
                <a:solidFill>
                  <a:srgbClr val="232729"/>
                </a:solidFill>
                <a:latin typeface="Consolas" panose="020B0609020204030204"/>
                <a:cs typeface="Consolas" panose="020B0609020204030204"/>
              </a:rPr>
              <a:t>;</a:t>
            </a:r>
          </a:p>
        </p:txBody>
      </p:sp>
      <p:sp>
        <p:nvSpPr>
          <p:cNvPr id="17" name="object 5"/>
          <p:cNvSpPr txBox="1"/>
          <p:nvPr/>
        </p:nvSpPr>
        <p:spPr>
          <a:xfrm>
            <a:off x="1801367" y="4663440"/>
            <a:ext cx="2405380" cy="949325"/>
          </a:xfrm>
          <a:prstGeom prst="rect">
            <a:avLst/>
          </a:prstGeom>
          <a:ln w="9525">
            <a:solidFill>
              <a:srgbClr val="000000"/>
            </a:solidFill>
          </a:ln>
        </p:spPr>
        <p:txBody>
          <a:bodyPr vert="horz" wrap="square" lIns="0" tIns="87630" rIns="0" bIns="0" rtlCol="0">
            <a:spAutoFit/>
          </a:bodyPr>
          <a:lstStyle/>
          <a:p>
            <a:pPr marL="536575" marR="304165" indent="-445135">
              <a:spcBef>
                <a:spcPts val="690"/>
              </a:spcBef>
            </a:pPr>
            <a:r>
              <a:rPr sz="1400" dirty="0">
                <a:solidFill>
                  <a:srgbClr val="FF0000"/>
                </a:solidFill>
                <a:latin typeface="Consolas" panose="020B0609020204030204"/>
                <a:cs typeface="Consolas" panose="020B0609020204030204"/>
              </a:rPr>
              <a:t>typedef</a:t>
            </a:r>
            <a:r>
              <a:rPr sz="1400" spc="-25" dirty="0">
                <a:solidFill>
                  <a:srgbClr val="FF0000"/>
                </a:solidFill>
                <a:latin typeface="Consolas" panose="020B0609020204030204"/>
                <a:cs typeface="Consolas" panose="020B0609020204030204"/>
              </a:rPr>
              <a:t> </a:t>
            </a:r>
            <a:r>
              <a:rPr sz="1400" dirty="0">
                <a:solidFill>
                  <a:srgbClr val="232729"/>
                </a:solidFill>
                <a:latin typeface="Consolas" panose="020B0609020204030204"/>
                <a:cs typeface="Consolas" panose="020B0609020204030204"/>
              </a:rPr>
              <a:t>struct</a:t>
            </a:r>
            <a:r>
              <a:rPr sz="1400" spc="-35" dirty="0">
                <a:solidFill>
                  <a:srgbClr val="232729"/>
                </a:solidFill>
                <a:latin typeface="Consolas" panose="020B0609020204030204"/>
                <a:cs typeface="Consolas" panose="020B0609020204030204"/>
              </a:rPr>
              <a:t> </a:t>
            </a:r>
            <a:r>
              <a:rPr sz="1400" spc="-50" dirty="0">
                <a:solidFill>
                  <a:srgbClr val="232729"/>
                </a:solidFill>
                <a:latin typeface="Consolas" panose="020B0609020204030204"/>
                <a:cs typeface="Consolas" panose="020B0609020204030204"/>
              </a:rPr>
              <a:t>{ </a:t>
            </a:r>
            <a:r>
              <a:rPr sz="1400" dirty="0">
                <a:solidFill>
                  <a:srgbClr val="232729"/>
                </a:solidFill>
                <a:latin typeface="Consolas" panose="020B0609020204030204"/>
                <a:cs typeface="Consolas" panose="020B0609020204030204"/>
              </a:rPr>
              <a:t>int</a:t>
            </a:r>
            <a:r>
              <a:rPr sz="1400" spc="-20" dirty="0">
                <a:solidFill>
                  <a:srgbClr val="232729"/>
                </a:solidFill>
                <a:latin typeface="Consolas" panose="020B0609020204030204"/>
                <a:cs typeface="Consolas" panose="020B0609020204030204"/>
              </a:rPr>
              <a:t> </a:t>
            </a:r>
            <a:r>
              <a:rPr sz="1400" spc="-10" dirty="0">
                <a:solidFill>
                  <a:srgbClr val="232729"/>
                </a:solidFill>
                <a:latin typeface="Consolas" panose="020B0609020204030204"/>
                <a:cs typeface="Consolas" panose="020B0609020204030204"/>
              </a:rPr>
              <a:t>data[100]; </a:t>
            </a:r>
            <a:r>
              <a:rPr sz="1400" dirty="0">
                <a:solidFill>
                  <a:srgbClr val="232729"/>
                </a:solidFill>
                <a:latin typeface="Consolas" panose="020B0609020204030204"/>
                <a:cs typeface="Consolas" panose="020B0609020204030204"/>
              </a:rPr>
              <a:t>int</a:t>
            </a:r>
            <a:r>
              <a:rPr sz="1400" spc="-20" dirty="0">
                <a:solidFill>
                  <a:srgbClr val="232729"/>
                </a:solidFill>
                <a:latin typeface="Consolas" panose="020B0609020204030204"/>
                <a:cs typeface="Consolas" panose="020B0609020204030204"/>
              </a:rPr>
              <a:t> </a:t>
            </a:r>
            <a:r>
              <a:rPr sz="1400" spc="-10" dirty="0">
                <a:solidFill>
                  <a:srgbClr val="232729"/>
                </a:solidFill>
                <a:latin typeface="Consolas" panose="020B0609020204030204"/>
                <a:cs typeface="Consolas" panose="020B0609020204030204"/>
              </a:rPr>
              <a:t>count;</a:t>
            </a:r>
            <a:endParaRPr sz="1400">
              <a:solidFill>
                <a:sysClr val="windowText" lastClr="000000"/>
              </a:solidFill>
              <a:latin typeface="Consolas" panose="020B0609020204030204"/>
              <a:cs typeface="Consolas" panose="020B0609020204030204"/>
            </a:endParaRPr>
          </a:p>
          <a:p>
            <a:pPr marL="92075"/>
            <a:r>
              <a:rPr sz="1400" dirty="0">
                <a:solidFill>
                  <a:srgbClr val="232729"/>
                </a:solidFill>
                <a:latin typeface="Consolas" panose="020B0609020204030204"/>
                <a:cs typeface="Consolas" panose="020B0609020204030204"/>
              </a:rPr>
              <a:t>}</a:t>
            </a:r>
            <a:r>
              <a:rPr sz="1400" spc="-10" dirty="0">
                <a:solidFill>
                  <a:srgbClr val="232729"/>
                </a:solidFill>
                <a:latin typeface="Consolas" panose="020B0609020204030204"/>
                <a:cs typeface="Consolas" panose="020B0609020204030204"/>
              </a:rPr>
              <a:t> </a:t>
            </a:r>
            <a:r>
              <a:rPr sz="1400" spc="-20" dirty="0">
                <a:solidFill>
                  <a:srgbClr val="0431FF"/>
                </a:solidFill>
                <a:latin typeface="Consolas" panose="020B0609020204030204"/>
                <a:cs typeface="Consolas" panose="020B0609020204030204"/>
              </a:rPr>
              <a:t>Set</a:t>
            </a:r>
            <a:r>
              <a:rPr sz="1400" spc="-20" dirty="0">
                <a:solidFill>
                  <a:srgbClr val="232729"/>
                </a:solidFill>
                <a:latin typeface="Consolas" panose="020B0609020204030204"/>
                <a:cs typeface="Consolas" panose="020B0609020204030204"/>
              </a:rPr>
              <a:t>;</a:t>
            </a:r>
          </a:p>
        </p:txBody>
      </p:sp>
      <p:sp>
        <p:nvSpPr>
          <p:cNvPr id="18" name="object 6"/>
          <p:cNvSpPr txBox="1"/>
          <p:nvPr/>
        </p:nvSpPr>
        <p:spPr>
          <a:xfrm>
            <a:off x="5007864" y="3314700"/>
            <a:ext cx="2505710" cy="2519680"/>
          </a:xfrm>
          <a:prstGeom prst="rect">
            <a:avLst/>
          </a:prstGeom>
          <a:ln w="9525">
            <a:solidFill>
              <a:srgbClr val="000000"/>
            </a:solidFill>
          </a:ln>
        </p:spPr>
        <p:txBody>
          <a:bodyPr vert="horz" wrap="square" lIns="0" tIns="22860" rIns="0" bIns="0" rtlCol="0">
            <a:spAutoFit/>
          </a:bodyPr>
          <a:lstStyle/>
          <a:p>
            <a:pPr marL="92075" marR="182245">
              <a:lnSpc>
                <a:spcPts val="3120"/>
              </a:lnSpc>
              <a:spcBef>
                <a:spcPts val="180"/>
              </a:spcBef>
            </a:pPr>
            <a:r>
              <a:rPr sz="1600" dirty="0">
                <a:solidFill>
                  <a:srgbClr val="FF0000"/>
                </a:solidFill>
                <a:latin typeface="Consolas" panose="020B0609020204030204"/>
                <a:cs typeface="Consolas" panose="020B0609020204030204"/>
              </a:rPr>
              <a:t>Code</a:t>
            </a:r>
            <a:r>
              <a:rPr sz="1600" spc="-40" dirty="0">
                <a:solidFill>
                  <a:srgbClr val="FF0000"/>
                </a:solidFill>
                <a:latin typeface="Consolas" panose="020B0609020204030204"/>
                <a:cs typeface="Consolas" panose="020B0609020204030204"/>
              </a:rPr>
              <a:t> </a:t>
            </a:r>
            <a:r>
              <a:rPr sz="1600" dirty="0">
                <a:solidFill>
                  <a:srgbClr val="FF0000"/>
                </a:solidFill>
                <a:latin typeface="Consolas" panose="020B0609020204030204"/>
                <a:cs typeface="Consolas" panose="020B0609020204030204"/>
              </a:rPr>
              <a:t>under</a:t>
            </a:r>
            <a:r>
              <a:rPr sz="1600" spc="-25" dirty="0">
                <a:solidFill>
                  <a:srgbClr val="FF0000"/>
                </a:solidFill>
                <a:latin typeface="Consolas" panose="020B0609020204030204"/>
                <a:cs typeface="Consolas" panose="020B0609020204030204"/>
              </a:rPr>
              <a:t> </a:t>
            </a:r>
            <a:r>
              <a:rPr sz="1600" spc="-10" dirty="0">
                <a:solidFill>
                  <a:srgbClr val="FF0000"/>
                </a:solidFill>
                <a:latin typeface="Consolas" panose="020B0609020204030204"/>
                <a:cs typeface="Consolas" panose="020B0609020204030204"/>
              </a:rPr>
              <a:t>analysis: </a:t>
            </a:r>
            <a:r>
              <a:rPr sz="1600" dirty="0">
                <a:solidFill>
                  <a:srgbClr val="0431FF"/>
                </a:solidFill>
                <a:latin typeface="Consolas" panose="020B0609020204030204"/>
                <a:cs typeface="Consolas" panose="020B0609020204030204"/>
              </a:rPr>
              <a:t>Stack</a:t>
            </a:r>
            <a:r>
              <a:rPr sz="1600" spc="-25" dirty="0">
                <a:solidFill>
                  <a:srgbClr val="0431FF"/>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x,</a:t>
            </a:r>
            <a:r>
              <a:rPr sz="1600" spc="-20" dirty="0">
                <a:solidFill>
                  <a:sysClr val="windowText" lastClr="000000"/>
                </a:solidFill>
                <a:latin typeface="Consolas" panose="020B0609020204030204"/>
                <a:cs typeface="Consolas" panose="020B0609020204030204"/>
              </a:rPr>
              <a:t> </a:t>
            </a:r>
            <a:r>
              <a:rPr sz="1600" spc="-25" dirty="0">
                <a:solidFill>
                  <a:sysClr val="windowText" lastClr="000000"/>
                </a:solidFill>
                <a:latin typeface="Consolas" panose="020B0609020204030204"/>
                <a:cs typeface="Consolas" panose="020B0609020204030204"/>
              </a:rPr>
              <a:t>y;</a:t>
            </a:r>
            <a:endParaRPr sz="1600">
              <a:solidFill>
                <a:sysClr val="windowText" lastClr="000000"/>
              </a:solidFill>
              <a:latin typeface="Consolas" panose="020B0609020204030204"/>
              <a:cs typeface="Consolas" panose="020B0609020204030204"/>
            </a:endParaRPr>
          </a:p>
          <a:p>
            <a:pPr marL="92075" marR="1403985">
              <a:lnSpc>
                <a:spcPts val="3120"/>
              </a:lnSpc>
            </a:pPr>
            <a:r>
              <a:rPr sz="1600" dirty="0">
                <a:solidFill>
                  <a:srgbClr val="0431FF"/>
                </a:solidFill>
                <a:latin typeface="Consolas" panose="020B0609020204030204"/>
                <a:cs typeface="Consolas" panose="020B0609020204030204"/>
              </a:rPr>
              <a:t>Set</a:t>
            </a:r>
            <a:r>
              <a:rPr sz="1600" spc="-20" dirty="0">
                <a:solidFill>
                  <a:srgbClr val="0431FF"/>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r,</a:t>
            </a:r>
            <a:r>
              <a:rPr sz="1600" spc="-15" dirty="0">
                <a:solidFill>
                  <a:sysClr val="windowText" lastClr="000000"/>
                </a:solidFill>
                <a:latin typeface="Consolas" panose="020B0609020204030204"/>
                <a:cs typeface="Consolas" panose="020B0609020204030204"/>
              </a:rPr>
              <a:t> </a:t>
            </a:r>
            <a:r>
              <a:rPr sz="1600" spc="-25" dirty="0">
                <a:solidFill>
                  <a:sysClr val="windowText" lastClr="000000"/>
                </a:solidFill>
                <a:latin typeface="Consolas" panose="020B0609020204030204"/>
                <a:cs typeface="Consolas" panose="020B0609020204030204"/>
              </a:rPr>
              <a:t>s; </a:t>
            </a:r>
            <a:r>
              <a:rPr sz="1600" dirty="0">
                <a:solidFill>
                  <a:sysClr val="windowText" lastClr="000000"/>
                </a:solidFill>
                <a:latin typeface="Consolas" panose="020B0609020204030204"/>
                <a:cs typeface="Consolas" panose="020B0609020204030204"/>
              </a:rPr>
              <a:t>x</a:t>
            </a:r>
            <a:r>
              <a:rPr sz="1600" spc="-10"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a:t>
            </a:r>
            <a:r>
              <a:rPr sz="1600" spc="-10" dirty="0">
                <a:solidFill>
                  <a:sysClr val="windowText" lastClr="000000"/>
                </a:solidFill>
                <a:latin typeface="Consolas" panose="020B0609020204030204"/>
                <a:cs typeface="Consolas" panose="020B0609020204030204"/>
              </a:rPr>
              <a:t> </a:t>
            </a:r>
            <a:r>
              <a:rPr sz="1600" spc="-25" dirty="0">
                <a:solidFill>
                  <a:sysClr val="windowText" lastClr="000000"/>
                </a:solidFill>
                <a:latin typeface="Consolas" panose="020B0609020204030204"/>
                <a:cs typeface="Consolas" panose="020B0609020204030204"/>
              </a:rPr>
              <a:t>y;</a:t>
            </a:r>
            <a:endParaRPr sz="1600">
              <a:solidFill>
                <a:sysClr val="windowText" lastClr="000000"/>
              </a:solidFill>
              <a:latin typeface="Consolas" panose="020B0609020204030204"/>
              <a:cs typeface="Consolas" panose="020B0609020204030204"/>
            </a:endParaRPr>
          </a:p>
          <a:p>
            <a:pPr marL="92075" marR="1737995">
              <a:lnSpc>
                <a:spcPts val="3120"/>
              </a:lnSpc>
            </a:pPr>
            <a:r>
              <a:rPr sz="1600" dirty="0">
                <a:solidFill>
                  <a:sysClr val="windowText" lastClr="000000"/>
                </a:solidFill>
                <a:latin typeface="Consolas" panose="020B0609020204030204"/>
                <a:cs typeface="Consolas" panose="020B0609020204030204"/>
              </a:rPr>
              <a:t>r</a:t>
            </a:r>
            <a:r>
              <a:rPr sz="1600" spc="-10"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a:t>
            </a:r>
            <a:r>
              <a:rPr sz="1600" spc="-10" dirty="0">
                <a:solidFill>
                  <a:sysClr val="windowText" lastClr="000000"/>
                </a:solidFill>
                <a:latin typeface="Consolas" panose="020B0609020204030204"/>
                <a:cs typeface="Consolas" panose="020B0609020204030204"/>
              </a:rPr>
              <a:t> </a:t>
            </a:r>
            <a:r>
              <a:rPr sz="1600" spc="-25" dirty="0">
                <a:solidFill>
                  <a:sysClr val="windowText" lastClr="000000"/>
                </a:solidFill>
                <a:latin typeface="Consolas" panose="020B0609020204030204"/>
                <a:cs typeface="Consolas" panose="020B0609020204030204"/>
              </a:rPr>
              <a:t>s; </a:t>
            </a:r>
            <a:r>
              <a:rPr sz="1600" dirty="0">
                <a:solidFill>
                  <a:sysClr val="windowText" lastClr="000000"/>
                </a:solidFill>
                <a:latin typeface="Consolas" panose="020B0609020204030204"/>
                <a:cs typeface="Consolas" panose="020B0609020204030204"/>
              </a:rPr>
              <a:t>x</a:t>
            </a:r>
            <a:r>
              <a:rPr sz="1600" spc="-10"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a:t>
            </a:r>
            <a:r>
              <a:rPr sz="1600" spc="-10" dirty="0">
                <a:solidFill>
                  <a:sysClr val="windowText" lastClr="000000"/>
                </a:solidFill>
                <a:latin typeface="Consolas" panose="020B0609020204030204"/>
                <a:cs typeface="Consolas" panose="020B0609020204030204"/>
              </a:rPr>
              <a:t> </a:t>
            </a:r>
            <a:r>
              <a:rPr sz="1600" spc="-25" dirty="0">
                <a:solidFill>
                  <a:sysClr val="windowText" lastClr="000000"/>
                </a:solidFill>
                <a:latin typeface="Consolas" panose="020B0609020204030204"/>
                <a:cs typeface="Consolas" panose="020B0609020204030204"/>
              </a:rPr>
              <a:t>r;</a:t>
            </a:r>
            <a:endParaRPr sz="1600">
              <a:solidFill>
                <a:sysClr val="windowText" lastClr="000000"/>
              </a:solidFill>
              <a:latin typeface="Consolas" panose="020B0609020204030204"/>
              <a:cs typeface="Consolas" panose="020B0609020204030204"/>
            </a:endParaRPr>
          </a:p>
        </p:txBody>
      </p:sp>
      <p:pic>
        <p:nvPicPr>
          <p:cNvPr id="19" name="object 7"/>
          <p:cNvPicPr/>
          <p:nvPr/>
        </p:nvPicPr>
        <p:blipFill>
          <a:blip r:embed="rId3" cstate="print"/>
          <a:stretch>
            <a:fillRect/>
          </a:stretch>
        </p:blipFill>
        <p:spPr>
          <a:xfrm>
            <a:off x="5960364" y="4611623"/>
            <a:ext cx="342900" cy="347471"/>
          </a:xfrm>
          <a:prstGeom prst="rect">
            <a:avLst/>
          </a:prstGeom>
        </p:spPr>
      </p:pic>
      <p:pic>
        <p:nvPicPr>
          <p:cNvPr id="20" name="object 8"/>
          <p:cNvPicPr/>
          <p:nvPr/>
        </p:nvPicPr>
        <p:blipFill>
          <a:blip r:embed="rId3" cstate="print"/>
          <a:stretch>
            <a:fillRect/>
          </a:stretch>
        </p:blipFill>
        <p:spPr>
          <a:xfrm>
            <a:off x="5957315" y="5024628"/>
            <a:ext cx="342900" cy="345948"/>
          </a:xfrm>
          <a:prstGeom prst="rect">
            <a:avLst/>
          </a:prstGeom>
        </p:spPr>
      </p:pic>
      <p:pic>
        <p:nvPicPr>
          <p:cNvPr id="21" name="object 9"/>
          <p:cNvPicPr/>
          <p:nvPr/>
        </p:nvPicPr>
        <p:blipFill>
          <a:blip r:embed="rId4" cstate="print"/>
          <a:stretch>
            <a:fillRect/>
          </a:stretch>
        </p:blipFill>
        <p:spPr>
          <a:xfrm>
            <a:off x="5960364" y="5437632"/>
            <a:ext cx="333632" cy="326136"/>
          </a:xfrm>
          <a:prstGeom prst="rect">
            <a:avLst/>
          </a:prstGeom>
        </p:spPr>
      </p:pic>
      <p:sp>
        <p:nvSpPr>
          <p:cNvPr id="22" name="object 10"/>
          <p:cNvSpPr txBox="1"/>
          <p:nvPr/>
        </p:nvSpPr>
        <p:spPr>
          <a:xfrm>
            <a:off x="851712" y="6045504"/>
            <a:ext cx="5708015" cy="239395"/>
          </a:xfrm>
          <a:prstGeom prst="rect">
            <a:avLst/>
          </a:prstGeom>
        </p:spPr>
        <p:txBody>
          <a:bodyPr vert="horz" wrap="square" lIns="0" tIns="12700" rIns="0" bIns="0" rtlCol="0">
            <a:spAutoFit/>
          </a:bodyPr>
          <a:lstStyle/>
          <a:p>
            <a:pPr marL="12700">
              <a:spcBef>
                <a:spcPts val="100"/>
              </a:spcBef>
            </a:pPr>
            <a:r>
              <a:rPr sz="1400" spc="-10" dirty="0">
                <a:solidFill>
                  <a:srgbClr val="A6A6A6"/>
                </a:solidFill>
                <a:latin typeface="Palatino Linotype" panose="02040502050505030304"/>
                <a:cs typeface="Palatino Linotype" panose="02040502050505030304"/>
                <a:hlinkClick r:id="rId5"/>
              </a:rPr>
              <a:t>http://web.eecs.utk.edu/~bvanderz/teaching/cs365Sp14/notes/types.html</a:t>
            </a:r>
            <a:endParaRPr sz="1400">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33</a:t>
            </a:fld>
            <a:endParaRPr lang="en-US"/>
          </a:p>
        </p:txBody>
      </p:sp>
      <p:sp>
        <p:nvSpPr>
          <p:cNvPr id="13"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Structural</a:t>
            </a:r>
            <a:r>
              <a:rPr kumimoji="0" lang="en-US" sz="4000" b="1" i="0" u="none" strike="noStrike" kern="0" cap="none" spc="-140"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Equivalence</a:t>
            </a:r>
            <a:r>
              <a:rPr kumimoji="0" lang="en-US" sz="4000" b="1" i="0" u="none" strike="noStrike" kern="0" cap="none" spc="-70" normalizeH="0" baseline="0" noProof="0">
                <a:ln>
                  <a:noFill/>
                </a:ln>
                <a:solidFill>
                  <a:srgbClr val="000000"/>
                </a:solidFill>
                <a:effectLst/>
                <a:uLnTx/>
                <a:uFillTx/>
                <a:latin typeface="Palatino Linotype" panose="02040502050505030304"/>
                <a:ea typeface="+mj-ea"/>
              </a:rPr>
              <a:t> (</a:t>
            </a:r>
            <a:r>
              <a:rPr kumimoji="0" lang="zh-CN" altLang="en-US" sz="4000" b="0" i="0" u="none" strike="noStrike" kern="0" cap="none" spc="-35"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rPr>
              <a:t>结构等价</a:t>
            </a:r>
            <a:r>
              <a:rPr kumimoji="0" lang="en-US" altLang="zh-CN" sz="4000" b="1" i="0" u="none" strike="noStrike" kern="0" cap="none" spc="-50" normalizeH="0" baseline="0" noProof="0">
                <a:ln>
                  <a:noFill/>
                </a:ln>
                <a:solidFill>
                  <a:srgbClr val="000000"/>
                </a:solidFill>
                <a:effectLst/>
                <a:uLnTx/>
                <a:uFillTx/>
                <a:latin typeface="Palatino Linotype" panose="02040502050505030304"/>
                <a:ea typeface="宋体" panose="02010600030101010101" pitchFamily="2" charset="-122"/>
              </a:rPr>
              <a:t>)</a:t>
            </a:r>
            <a:endParaRPr kumimoji="0" lang="en-US" altLang="zh-CN" sz="4000" b="1" i="0" u="none" strike="noStrike" kern="0" cap="none" spc="-50" normalizeH="0" baseline="0" noProof="0" dirty="0">
              <a:ln>
                <a:noFill/>
              </a:ln>
              <a:solidFill>
                <a:srgbClr val="000000"/>
              </a:solidFill>
              <a:effectLst/>
              <a:uLnTx/>
              <a:uFillTx/>
              <a:latin typeface="Palatino Linotype" panose="02040502050505030304"/>
              <a:ea typeface="宋体" panose="02010600030101010101" pitchFamily="2" charset="-122"/>
            </a:endParaRPr>
          </a:p>
        </p:txBody>
      </p:sp>
      <p:sp>
        <p:nvSpPr>
          <p:cNvPr id="14" name="object 3"/>
          <p:cNvSpPr txBox="1"/>
          <p:nvPr/>
        </p:nvSpPr>
        <p:spPr>
          <a:xfrm>
            <a:off x="707542" y="1589049"/>
            <a:ext cx="7015480" cy="830580"/>
          </a:xfrm>
          <a:prstGeom prst="rect">
            <a:avLst/>
          </a:prstGeom>
        </p:spPr>
        <p:txBody>
          <a:bodyPr vert="horz" wrap="square" lIns="0" tIns="12700" rIns="0" bIns="0" rtlCol="0">
            <a:spAutoFit/>
          </a:bodyPr>
          <a:lstStyle/>
          <a:p>
            <a:pPr marL="242570" marR="5080" indent="-230505">
              <a:lnSpc>
                <a:spcPct val="120000"/>
              </a:lnSpc>
              <a:spcBef>
                <a:spcPts val="100"/>
              </a:spcBef>
              <a:buFont typeface="Arial MT"/>
              <a:buChar char="•"/>
              <a:tabLst>
                <a:tab pos="242570" algn="l"/>
              </a:tabLst>
            </a:pPr>
            <a:r>
              <a:rPr sz="2200" dirty="0">
                <a:solidFill>
                  <a:sysClr val="windowText" lastClr="000000"/>
                </a:solidFill>
                <a:latin typeface="Palatino Linotype" panose="02040502050505030304"/>
                <a:cs typeface="Palatino Linotype" panose="02040502050505030304"/>
              </a:rPr>
              <a:t>For</a:t>
            </a:r>
            <a:r>
              <a:rPr sz="2200" spc="-1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named</a:t>
            </a:r>
            <a:r>
              <a:rPr sz="2200" spc="-4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types,</a:t>
            </a:r>
            <a:r>
              <a:rPr sz="2200" spc="-2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replace</a:t>
            </a:r>
            <a:r>
              <a:rPr sz="2200" spc="-3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the</a:t>
            </a:r>
            <a:r>
              <a:rPr sz="2200" spc="-3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type</a:t>
            </a:r>
            <a:r>
              <a:rPr sz="2200" spc="-2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names</a:t>
            </a:r>
            <a:r>
              <a:rPr sz="2200" spc="-5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by</a:t>
            </a:r>
            <a:r>
              <a:rPr sz="2200" spc="-3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their</a:t>
            </a:r>
            <a:r>
              <a:rPr sz="2200" spc="-40" dirty="0">
                <a:solidFill>
                  <a:sysClr val="windowText" lastClr="000000"/>
                </a:solidFill>
                <a:latin typeface="Palatino Linotype" panose="02040502050505030304"/>
                <a:cs typeface="Palatino Linotype" panose="02040502050505030304"/>
              </a:rPr>
              <a:t> </a:t>
            </a:r>
            <a:r>
              <a:rPr sz="2200" spc="-20" dirty="0">
                <a:solidFill>
                  <a:sysClr val="windowText" lastClr="000000"/>
                </a:solidFill>
                <a:latin typeface="Palatino Linotype" panose="02040502050505030304"/>
                <a:cs typeface="Palatino Linotype" panose="02040502050505030304"/>
              </a:rPr>
              <a:t>type </a:t>
            </a:r>
            <a:r>
              <a:rPr sz="2200" dirty="0">
                <a:solidFill>
                  <a:sysClr val="windowText" lastClr="000000"/>
                </a:solidFill>
                <a:latin typeface="Palatino Linotype" panose="02040502050505030304"/>
                <a:cs typeface="Palatino Linotype" panose="02040502050505030304"/>
              </a:rPr>
              <a:t>expressions</a:t>
            </a:r>
            <a:r>
              <a:rPr sz="2200" spc="-3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and</a:t>
            </a:r>
            <a:r>
              <a:rPr sz="2200" spc="-55" dirty="0">
                <a:solidFill>
                  <a:sysClr val="windowText" lastClr="000000"/>
                </a:solidFill>
                <a:latin typeface="Palatino Linotype" panose="02040502050505030304"/>
                <a:cs typeface="Palatino Linotype" panose="02040502050505030304"/>
              </a:rPr>
              <a:t> </a:t>
            </a:r>
            <a:r>
              <a:rPr sz="2200" spc="-10" dirty="0">
                <a:solidFill>
                  <a:sysClr val="windowText" lastClr="000000"/>
                </a:solidFill>
                <a:latin typeface="Palatino Linotype" panose="02040502050505030304"/>
                <a:cs typeface="Palatino Linotype" panose="02040502050505030304"/>
              </a:rPr>
              <a:t>recursively</a:t>
            </a:r>
            <a:r>
              <a:rPr sz="2200" spc="-3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check</a:t>
            </a:r>
            <a:r>
              <a:rPr sz="2200" spc="-60"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the</a:t>
            </a:r>
            <a:r>
              <a:rPr sz="2200" spc="-65" dirty="0">
                <a:solidFill>
                  <a:sysClr val="windowText" lastClr="000000"/>
                </a:solidFill>
                <a:latin typeface="Palatino Linotype" panose="02040502050505030304"/>
                <a:cs typeface="Palatino Linotype" panose="02040502050505030304"/>
              </a:rPr>
              <a:t> </a:t>
            </a:r>
            <a:r>
              <a:rPr sz="2200" dirty="0">
                <a:solidFill>
                  <a:sysClr val="windowText" lastClr="000000"/>
                </a:solidFill>
                <a:latin typeface="Palatino Linotype" panose="02040502050505030304"/>
                <a:cs typeface="Palatino Linotype" panose="02040502050505030304"/>
              </a:rPr>
              <a:t>substituted</a:t>
            </a:r>
            <a:r>
              <a:rPr sz="2200" spc="-50" dirty="0">
                <a:solidFill>
                  <a:sysClr val="windowText" lastClr="000000"/>
                </a:solidFill>
                <a:latin typeface="Palatino Linotype" panose="02040502050505030304"/>
                <a:cs typeface="Palatino Linotype" panose="02040502050505030304"/>
              </a:rPr>
              <a:t> </a:t>
            </a:r>
            <a:r>
              <a:rPr sz="2200" spc="-10" dirty="0">
                <a:solidFill>
                  <a:sysClr val="windowText" lastClr="000000"/>
                </a:solidFill>
                <a:latin typeface="Palatino Linotype" panose="02040502050505030304"/>
                <a:cs typeface="Palatino Linotype" panose="02040502050505030304"/>
              </a:rPr>
              <a:t>trees</a:t>
            </a:r>
            <a:endParaRPr sz="2200">
              <a:solidFill>
                <a:sysClr val="windowText" lastClr="000000"/>
              </a:solidFill>
              <a:latin typeface="Palatino Linotype" panose="02040502050505030304"/>
              <a:cs typeface="Palatino Linotype" panose="02040502050505030304"/>
            </a:endParaRPr>
          </a:p>
        </p:txBody>
      </p:sp>
      <p:sp>
        <p:nvSpPr>
          <p:cNvPr id="15" name="object 4"/>
          <p:cNvSpPr txBox="1"/>
          <p:nvPr/>
        </p:nvSpPr>
        <p:spPr>
          <a:xfrm>
            <a:off x="1656588" y="3101339"/>
            <a:ext cx="2403475" cy="948690"/>
          </a:xfrm>
          <a:prstGeom prst="rect">
            <a:avLst/>
          </a:prstGeom>
          <a:ln w="9525">
            <a:solidFill>
              <a:srgbClr val="000000"/>
            </a:solidFill>
          </a:ln>
        </p:spPr>
        <p:txBody>
          <a:bodyPr vert="horz" wrap="square" lIns="0" tIns="86360" rIns="0" bIns="0" rtlCol="0">
            <a:spAutoFit/>
          </a:bodyPr>
          <a:lstStyle/>
          <a:p>
            <a:pPr marL="535940" marR="303530" indent="-445135">
              <a:spcBef>
                <a:spcPts val="680"/>
              </a:spcBef>
            </a:pPr>
            <a:r>
              <a:rPr sz="1400" dirty="0">
                <a:solidFill>
                  <a:srgbClr val="FF0000"/>
                </a:solidFill>
                <a:latin typeface="Consolas" panose="020B0609020204030204"/>
                <a:cs typeface="Consolas" panose="020B0609020204030204"/>
              </a:rPr>
              <a:t>typedef</a:t>
            </a:r>
            <a:r>
              <a:rPr sz="1400" spc="-30" dirty="0">
                <a:solidFill>
                  <a:srgbClr val="FF0000"/>
                </a:solidFill>
                <a:latin typeface="Consolas" panose="020B0609020204030204"/>
                <a:cs typeface="Consolas" panose="020B0609020204030204"/>
              </a:rPr>
              <a:t> </a:t>
            </a:r>
            <a:r>
              <a:rPr sz="1400" dirty="0">
                <a:solidFill>
                  <a:srgbClr val="232729"/>
                </a:solidFill>
                <a:latin typeface="Consolas" panose="020B0609020204030204"/>
                <a:cs typeface="Consolas" panose="020B0609020204030204"/>
              </a:rPr>
              <a:t>struct</a:t>
            </a:r>
            <a:r>
              <a:rPr sz="1400" spc="-35" dirty="0">
                <a:solidFill>
                  <a:srgbClr val="232729"/>
                </a:solidFill>
                <a:latin typeface="Consolas" panose="020B0609020204030204"/>
                <a:cs typeface="Consolas" panose="020B0609020204030204"/>
              </a:rPr>
              <a:t> </a:t>
            </a:r>
            <a:r>
              <a:rPr sz="1400" spc="-50" dirty="0">
                <a:solidFill>
                  <a:srgbClr val="232729"/>
                </a:solidFill>
                <a:latin typeface="Consolas" panose="020B0609020204030204"/>
                <a:cs typeface="Consolas" panose="020B0609020204030204"/>
              </a:rPr>
              <a:t>{ </a:t>
            </a:r>
            <a:r>
              <a:rPr sz="1400" dirty="0">
                <a:solidFill>
                  <a:srgbClr val="232729"/>
                </a:solidFill>
                <a:latin typeface="Consolas" panose="020B0609020204030204"/>
                <a:cs typeface="Consolas" panose="020B0609020204030204"/>
              </a:rPr>
              <a:t>int</a:t>
            </a:r>
            <a:r>
              <a:rPr sz="1400" spc="-20" dirty="0">
                <a:solidFill>
                  <a:srgbClr val="232729"/>
                </a:solidFill>
                <a:latin typeface="Consolas" panose="020B0609020204030204"/>
                <a:cs typeface="Consolas" panose="020B0609020204030204"/>
              </a:rPr>
              <a:t> </a:t>
            </a:r>
            <a:r>
              <a:rPr sz="1400" spc="-10" dirty="0">
                <a:solidFill>
                  <a:srgbClr val="232729"/>
                </a:solidFill>
                <a:latin typeface="Consolas" panose="020B0609020204030204"/>
                <a:cs typeface="Consolas" panose="020B0609020204030204"/>
              </a:rPr>
              <a:t>data[100]; </a:t>
            </a:r>
            <a:r>
              <a:rPr sz="1400" dirty="0">
                <a:solidFill>
                  <a:srgbClr val="232729"/>
                </a:solidFill>
                <a:latin typeface="Consolas" panose="020B0609020204030204"/>
                <a:cs typeface="Consolas" panose="020B0609020204030204"/>
              </a:rPr>
              <a:t>int</a:t>
            </a:r>
            <a:r>
              <a:rPr sz="1400" spc="-20" dirty="0">
                <a:solidFill>
                  <a:srgbClr val="232729"/>
                </a:solidFill>
                <a:latin typeface="Consolas" panose="020B0609020204030204"/>
                <a:cs typeface="Consolas" panose="020B0609020204030204"/>
              </a:rPr>
              <a:t> </a:t>
            </a:r>
            <a:r>
              <a:rPr sz="1400" spc="-10" dirty="0">
                <a:solidFill>
                  <a:srgbClr val="232729"/>
                </a:solidFill>
                <a:latin typeface="Consolas" panose="020B0609020204030204"/>
                <a:cs typeface="Consolas" panose="020B0609020204030204"/>
              </a:rPr>
              <a:t>count;</a:t>
            </a:r>
            <a:endParaRPr sz="1400">
              <a:solidFill>
                <a:sysClr val="windowText" lastClr="000000"/>
              </a:solidFill>
              <a:latin typeface="Consolas" panose="020B0609020204030204"/>
              <a:cs typeface="Consolas" panose="020B0609020204030204"/>
            </a:endParaRPr>
          </a:p>
          <a:p>
            <a:pPr marL="90805">
              <a:spcBef>
                <a:spcPts val="5"/>
              </a:spcBef>
            </a:pPr>
            <a:r>
              <a:rPr sz="1400" dirty="0">
                <a:solidFill>
                  <a:srgbClr val="232729"/>
                </a:solidFill>
                <a:latin typeface="Consolas" panose="020B0609020204030204"/>
                <a:cs typeface="Consolas" panose="020B0609020204030204"/>
              </a:rPr>
              <a:t>}</a:t>
            </a:r>
            <a:r>
              <a:rPr sz="1400" spc="-10" dirty="0">
                <a:solidFill>
                  <a:srgbClr val="232729"/>
                </a:solidFill>
                <a:latin typeface="Consolas" panose="020B0609020204030204"/>
                <a:cs typeface="Consolas" panose="020B0609020204030204"/>
              </a:rPr>
              <a:t> </a:t>
            </a:r>
            <a:r>
              <a:rPr sz="1400" spc="-10" dirty="0">
                <a:solidFill>
                  <a:srgbClr val="0431FF"/>
                </a:solidFill>
                <a:latin typeface="Consolas" panose="020B0609020204030204"/>
                <a:cs typeface="Consolas" panose="020B0609020204030204"/>
              </a:rPr>
              <a:t>Stack</a:t>
            </a:r>
            <a:r>
              <a:rPr sz="1400" spc="-10" dirty="0">
                <a:solidFill>
                  <a:srgbClr val="232729"/>
                </a:solidFill>
                <a:latin typeface="Consolas" panose="020B0609020204030204"/>
                <a:cs typeface="Consolas" panose="020B0609020204030204"/>
              </a:rPr>
              <a:t>;</a:t>
            </a:r>
          </a:p>
        </p:txBody>
      </p:sp>
      <p:sp>
        <p:nvSpPr>
          <p:cNvPr id="16" name="object 5"/>
          <p:cNvSpPr txBox="1"/>
          <p:nvPr/>
        </p:nvSpPr>
        <p:spPr>
          <a:xfrm>
            <a:off x="1656588" y="4451603"/>
            <a:ext cx="2403475" cy="948055"/>
          </a:xfrm>
          <a:prstGeom prst="rect">
            <a:avLst/>
          </a:prstGeom>
          <a:ln w="9525">
            <a:solidFill>
              <a:srgbClr val="000000"/>
            </a:solidFill>
          </a:ln>
        </p:spPr>
        <p:txBody>
          <a:bodyPr vert="horz" wrap="square" lIns="0" tIns="86360" rIns="0" bIns="0" rtlCol="0">
            <a:spAutoFit/>
          </a:bodyPr>
          <a:lstStyle/>
          <a:p>
            <a:pPr marL="535940" marR="303530" indent="-445135">
              <a:spcBef>
                <a:spcPts val="680"/>
              </a:spcBef>
            </a:pPr>
            <a:r>
              <a:rPr sz="1400" dirty="0">
                <a:solidFill>
                  <a:srgbClr val="FF0000"/>
                </a:solidFill>
                <a:latin typeface="Consolas" panose="020B0609020204030204"/>
                <a:cs typeface="Consolas" panose="020B0609020204030204"/>
              </a:rPr>
              <a:t>typedef</a:t>
            </a:r>
            <a:r>
              <a:rPr sz="1400" spc="-30" dirty="0">
                <a:solidFill>
                  <a:srgbClr val="FF0000"/>
                </a:solidFill>
                <a:latin typeface="Consolas" panose="020B0609020204030204"/>
                <a:cs typeface="Consolas" panose="020B0609020204030204"/>
              </a:rPr>
              <a:t> </a:t>
            </a:r>
            <a:r>
              <a:rPr sz="1400" dirty="0">
                <a:solidFill>
                  <a:srgbClr val="232729"/>
                </a:solidFill>
                <a:latin typeface="Consolas" panose="020B0609020204030204"/>
                <a:cs typeface="Consolas" panose="020B0609020204030204"/>
              </a:rPr>
              <a:t>struct</a:t>
            </a:r>
            <a:r>
              <a:rPr sz="1400" spc="-35" dirty="0">
                <a:solidFill>
                  <a:srgbClr val="232729"/>
                </a:solidFill>
                <a:latin typeface="Consolas" panose="020B0609020204030204"/>
                <a:cs typeface="Consolas" panose="020B0609020204030204"/>
              </a:rPr>
              <a:t> </a:t>
            </a:r>
            <a:r>
              <a:rPr sz="1400" spc="-50" dirty="0">
                <a:solidFill>
                  <a:srgbClr val="232729"/>
                </a:solidFill>
                <a:latin typeface="Consolas" panose="020B0609020204030204"/>
                <a:cs typeface="Consolas" panose="020B0609020204030204"/>
              </a:rPr>
              <a:t>{ </a:t>
            </a:r>
            <a:r>
              <a:rPr sz="1400" dirty="0">
                <a:solidFill>
                  <a:srgbClr val="232729"/>
                </a:solidFill>
                <a:latin typeface="Consolas" panose="020B0609020204030204"/>
                <a:cs typeface="Consolas" panose="020B0609020204030204"/>
              </a:rPr>
              <a:t>int</a:t>
            </a:r>
            <a:r>
              <a:rPr sz="1400" spc="-20" dirty="0">
                <a:solidFill>
                  <a:srgbClr val="232729"/>
                </a:solidFill>
                <a:latin typeface="Consolas" panose="020B0609020204030204"/>
                <a:cs typeface="Consolas" panose="020B0609020204030204"/>
              </a:rPr>
              <a:t> </a:t>
            </a:r>
            <a:r>
              <a:rPr sz="1400" spc="-10" dirty="0">
                <a:solidFill>
                  <a:srgbClr val="232729"/>
                </a:solidFill>
                <a:latin typeface="Consolas" panose="020B0609020204030204"/>
                <a:cs typeface="Consolas" panose="020B0609020204030204"/>
              </a:rPr>
              <a:t>data[100]; </a:t>
            </a:r>
            <a:r>
              <a:rPr sz="1400" dirty="0">
                <a:solidFill>
                  <a:srgbClr val="232729"/>
                </a:solidFill>
                <a:latin typeface="Consolas" panose="020B0609020204030204"/>
                <a:cs typeface="Consolas" panose="020B0609020204030204"/>
              </a:rPr>
              <a:t>int</a:t>
            </a:r>
            <a:r>
              <a:rPr sz="1400" spc="-20" dirty="0">
                <a:solidFill>
                  <a:srgbClr val="232729"/>
                </a:solidFill>
                <a:latin typeface="Consolas" panose="020B0609020204030204"/>
                <a:cs typeface="Consolas" panose="020B0609020204030204"/>
              </a:rPr>
              <a:t> </a:t>
            </a:r>
            <a:r>
              <a:rPr sz="1400" spc="-10" dirty="0">
                <a:solidFill>
                  <a:srgbClr val="232729"/>
                </a:solidFill>
                <a:latin typeface="Consolas" panose="020B0609020204030204"/>
                <a:cs typeface="Consolas" panose="020B0609020204030204"/>
              </a:rPr>
              <a:t>count;</a:t>
            </a:r>
            <a:endParaRPr sz="1400">
              <a:solidFill>
                <a:sysClr val="windowText" lastClr="000000"/>
              </a:solidFill>
              <a:latin typeface="Consolas" panose="020B0609020204030204"/>
              <a:cs typeface="Consolas" panose="020B0609020204030204"/>
            </a:endParaRPr>
          </a:p>
          <a:p>
            <a:pPr marL="90805"/>
            <a:r>
              <a:rPr sz="1400" dirty="0">
                <a:solidFill>
                  <a:srgbClr val="232729"/>
                </a:solidFill>
                <a:latin typeface="Consolas" panose="020B0609020204030204"/>
                <a:cs typeface="Consolas" panose="020B0609020204030204"/>
              </a:rPr>
              <a:t>}</a:t>
            </a:r>
            <a:r>
              <a:rPr sz="1400" spc="-10" dirty="0">
                <a:solidFill>
                  <a:srgbClr val="232729"/>
                </a:solidFill>
                <a:latin typeface="Consolas" panose="020B0609020204030204"/>
                <a:cs typeface="Consolas" panose="020B0609020204030204"/>
              </a:rPr>
              <a:t> </a:t>
            </a:r>
            <a:r>
              <a:rPr sz="1400" spc="-20" dirty="0">
                <a:solidFill>
                  <a:srgbClr val="0431FF"/>
                </a:solidFill>
                <a:latin typeface="Consolas" panose="020B0609020204030204"/>
                <a:cs typeface="Consolas" panose="020B0609020204030204"/>
              </a:rPr>
              <a:t>Set</a:t>
            </a:r>
            <a:r>
              <a:rPr sz="1400" spc="-20" dirty="0">
                <a:solidFill>
                  <a:srgbClr val="232729"/>
                </a:solidFill>
                <a:latin typeface="Consolas" panose="020B0609020204030204"/>
                <a:cs typeface="Consolas" panose="020B0609020204030204"/>
              </a:rPr>
              <a:t>;</a:t>
            </a:r>
          </a:p>
        </p:txBody>
      </p:sp>
      <p:sp>
        <p:nvSpPr>
          <p:cNvPr id="17" name="object 6"/>
          <p:cNvSpPr txBox="1"/>
          <p:nvPr/>
        </p:nvSpPr>
        <p:spPr>
          <a:xfrm>
            <a:off x="4861559" y="3101339"/>
            <a:ext cx="2506980" cy="2519680"/>
          </a:xfrm>
          <a:prstGeom prst="rect">
            <a:avLst/>
          </a:prstGeom>
          <a:ln w="9525">
            <a:solidFill>
              <a:srgbClr val="000000"/>
            </a:solidFill>
          </a:ln>
        </p:spPr>
        <p:txBody>
          <a:bodyPr vert="horz" wrap="square" lIns="0" tIns="22860" rIns="0" bIns="0" rtlCol="0">
            <a:spAutoFit/>
          </a:bodyPr>
          <a:lstStyle/>
          <a:p>
            <a:pPr marL="92710" marR="182880">
              <a:lnSpc>
                <a:spcPts val="3120"/>
              </a:lnSpc>
              <a:spcBef>
                <a:spcPts val="180"/>
              </a:spcBef>
            </a:pPr>
            <a:r>
              <a:rPr sz="1600" dirty="0">
                <a:solidFill>
                  <a:srgbClr val="FF0000"/>
                </a:solidFill>
                <a:latin typeface="Consolas" panose="020B0609020204030204"/>
                <a:cs typeface="Consolas" panose="020B0609020204030204"/>
              </a:rPr>
              <a:t>Code</a:t>
            </a:r>
            <a:r>
              <a:rPr sz="1600" spc="-40" dirty="0">
                <a:solidFill>
                  <a:srgbClr val="FF0000"/>
                </a:solidFill>
                <a:latin typeface="Consolas" panose="020B0609020204030204"/>
                <a:cs typeface="Consolas" panose="020B0609020204030204"/>
              </a:rPr>
              <a:t> </a:t>
            </a:r>
            <a:r>
              <a:rPr sz="1600" dirty="0">
                <a:solidFill>
                  <a:srgbClr val="FF0000"/>
                </a:solidFill>
                <a:latin typeface="Consolas" panose="020B0609020204030204"/>
                <a:cs typeface="Consolas" panose="020B0609020204030204"/>
              </a:rPr>
              <a:t>under</a:t>
            </a:r>
            <a:r>
              <a:rPr sz="1600" spc="-25" dirty="0">
                <a:solidFill>
                  <a:srgbClr val="FF0000"/>
                </a:solidFill>
                <a:latin typeface="Consolas" panose="020B0609020204030204"/>
                <a:cs typeface="Consolas" panose="020B0609020204030204"/>
              </a:rPr>
              <a:t> </a:t>
            </a:r>
            <a:r>
              <a:rPr sz="1600" spc="-10" dirty="0">
                <a:solidFill>
                  <a:srgbClr val="FF0000"/>
                </a:solidFill>
                <a:latin typeface="Consolas" panose="020B0609020204030204"/>
                <a:cs typeface="Consolas" panose="020B0609020204030204"/>
              </a:rPr>
              <a:t>analysis: </a:t>
            </a:r>
            <a:r>
              <a:rPr sz="1600" dirty="0">
                <a:solidFill>
                  <a:srgbClr val="0431FF"/>
                </a:solidFill>
                <a:latin typeface="Consolas" panose="020B0609020204030204"/>
                <a:cs typeface="Consolas" panose="020B0609020204030204"/>
              </a:rPr>
              <a:t>Stack</a:t>
            </a:r>
            <a:r>
              <a:rPr sz="1600" spc="-25" dirty="0">
                <a:solidFill>
                  <a:srgbClr val="0431FF"/>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x,</a:t>
            </a:r>
            <a:r>
              <a:rPr sz="1600" spc="-20" dirty="0">
                <a:solidFill>
                  <a:sysClr val="windowText" lastClr="000000"/>
                </a:solidFill>
                <a:latin typeface="Consolas" panose="020B0609020204030204"/>
                <a:cs typeface="Consolas" panose="020B0609020204030204"/>
              </a:rPr>
              <a:t> </a:t>
            </a:r>
            <a:r>
              <a:rPr sz="1600" spc="-25" dirty="0">
                <a:solidFill>
                  <a:sysClr val="windowText" lastClr="000000"/>
                </a:solidFill>
                <a:latin typeface="Consolas" panose="020B0609020204030204"/>
                <a:cs typeface="Consolas" panose="020B0609020204030204"/>
              </a:rPr>
              <a:t>y;</a:t>
            </a:r>
            <a:endParaRPr sz="1600">
              <a:solidFill>
                <a:sysClr val="windowText" lastClr="000000"/>
              </a:solidFill>
              <a:latin typeface="Consolas" panose="020B0609020204030204"/>
              <a:cs typeface="Consolas" panose="020B0609020204030204"/>
            </a:endParaRPr>
          </a:p>
          <a:p>
            <a:pPr marL="92710">
              <a:spcBef>
                <a:spcPts val="895"/>
              </a:spcBef>
            </a:pPr>
            <a:r>
              <a:rPr sz="1600" dirty="0">
                <a:solidFill>
                  <a:srgbClr val="0431FF"/>
                </a:solidFill>
                <a:latin typeface="Consolas" panose="020B0609020204030204"/>
                <a:cs typeface="Consolas" panose="020B0609020204030204"/>
              </a:rPr>
              <a:t>Set</a:t>
            </a:r>
            <a:r>
              <a:rPr sz="1600" spc="-20" dirty="0">
                <a:solidFill>
                  <a:srgbClr val="0431FF"/>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r,</a:t>
            </a:r>
            <a:r>
              <a:rPr sz="1600" spc="-15" dirty="0">
                <a:solidFill>
                  <a:sysClr val="windowText" lastClr="000000"/>
                </a:solidFill>
                <a:latin typeface="Consolas" panose="020B0609020204030204"/>
                <a:cs typeface="Consolas" panose="020B0609020204030204"/>
              </a:rPr>
              <a:t> </a:t>
            </a:r>
            <a:r>
              <a:rPr sz="1600" spc="-25" dirty="0">
                <a:solidFill>
                  <a:sysClr val="windowText" lastClr="000000"/>
                </a:solidFill>
                <a:latin typeface="Consolas" panose="020B0609020204030204"/>
                <a:cs typeface="Consolas" panose="020B0609020204030204"/>
              </a:rPr>
              <a:t>s;</a:t>
            </a:r>
            <a:endParaRPr sz="1600">
              <a:solidFill>
                <a:sysClr val="windowText" lastClr="000000"/>
              </a:solidFill>
              <a:latin typeface="Consolas" panose="020B0609020204030204"/>
              <a:cs typeface="Consolas" panose="020B0609020204030204"/>
            </a:endParaRPr>
          </a:p>
          <a:p>
            <a:pPr marL="92710">
              <a:spcBef>
                <a:spcPts val="1200"/>
              </a:spcBef>
            </a:pPr>
            <a:r>
              <a:rPr sz="1600" dirty="0">
                <a:solidFill>
                  <a:sysClr val="windowText" lastClr="000000"/>
                </a:solidFill>
                <a:latin typeface="Consolas" panose="020B0609020204030204"/>
                <a:cs typeface="Consolas" panose="020B0609020204030204"/>
              </a:rPr>
              <a:t>x</a:t>
            </a:r>
            <a:r>
              <a:rPr sz="1600" spc="-10"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a:t>
            </a:r>
            <a:r>
              <a:rPr sz="1600" spc="-10" dirty="0">
                <a:solidFill>
                  <a:sysClr val="windowText" lastClr="000000"/>
                </a:solidFill>
                <a:latin typeface="Consolas" panose="020B0609020204030204"/>
                <a:cs typeface="Consolas" panose="020B0609020204030204"/>
              </a:rPr>
              <a:t> </a:t>
            </a:r>
            <a:r>
              <a:rPr sz="1600" spc="-25" dirty="0">
                <a:solidFill>
                  <a:sysClr val="windowText" lastClr="000000"/>
                </a:solidFill>
                <a:latin typeface="Consolas" panose="020B0609020204030204"/>
                <a:cs typeface="Consolas" panose="020B0609020204030204"/>
              </a:rPr>
              <a:t>y;</a:t>
            </a:r>
            <a:endParaRPr sz="1600">
              <a:solidFill>
                <a:sysClr val="windowText" lastClr="000000"/>
              </a:solidFill>
              <a:latin typeface="Consolas" panose="020B0609020204030204"/>
              <a:cs typeface="Consolas" panose="020B0609020204030204"/>
            </a:endParaRPr>
          </a:p>
          <a:p>
            <a:pPr marL="92710" marR="1738630">
              <a:lnSpc>
                <a:spcPct val="163000"/>
              </a:lnSpc>
              <a:spcBef>
                <a:spcPts val="5"/>
              </a:spcBef>
            </a:pPr>
            <a:r>
              <a:rPr sz="1600" dirty="0">
                <a:solidFill>
                  <a:sysClr val="windowText" lastClr="000000"/>
                </a:solidFill>
                <a:latin typeface="Consolas" panose="020B0609020204030204"/>
                <a:cs typeface="Consolas" panose="020B0609020204030204"/>
              </a:rPr>
              <a:t>r</a:t>
            </a:r>
            <a:r>
              <a:rPr sz="1600" spc="-10"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a:t>
            </a:r>
            <a:r>
              <a:rPr sz="1600" spc="-10" dirty="0">
                <a:solidFill>
                  <a:sysClr val="windowText" lastClr="000000"/>
                </a:solidFill>
                <a:latin typeface="Consolas" panose="020B0609020204030204"/>
                <a:cs typeface="Consolas" panose="020B0609020204030204"/>
              </a:rPr>
              <a:t> </a:t>
            </a:r>
            <a:r>
              <a:rPr sz="1600" spc="-25" dirty="0">
                <a:solidFill>
                  <a:sysClr val="windowText" lastClr="000000"/>
                </a:solidFill>
                <a:latin typeface="Consolas" panose="020B0609020204030204"/>
                <a:cs typeface="Consolas" panose="020B0609020204030204"/>
              </a:rPr>
              <a:t>s; </a:t>
            </a:r>
            <a:r>
              <a:rPr sz="1600" dirty="0">
                <a:solidFill>
                  <a:sysClr val="windowText" lastClr="000000"/>
                </a:solidFill>
                <a:latin typeface="Consolas" panose="020B0609020204030204"/>
                <a:cs typeface="Consolas" panose="020B0609020204030204"/>
              </a:rPr>
              <a:t>x</a:t>
            </a:r>
            <a:r>
              <a:rPr sz="1600" spc="-10" dirty="0">
                <a:solidFill>
                  <a:sysClr val="windowText" lastClr="000000"/>
                </a:solidFill>
                <a:latin typeface="Consolas" panose="020B0609020204030204"/>
                <a:cs typeface="Consolas" panose="020B0609020204030204"/>
              </a:rPr>
              <a:t> </a:t>
            </a:r>
            <a:r>
              <a:rPr sz="1600" dirty="0">
                <a:solidFill>
                  <a:sysClr val="windowText" lastClr="000000"/>
                </a:solidFill>
                <a:latin typeface="Consolas" panose="020B0609020204030204"/>
                <a:cs typeface="Consolas" panose="020B0609020204030204"/>
              </a:rPr>
              <a:t>=</a:t>
            </a:r>
            <a:r>
              <a:rPr sz="1600" spc="-10" dirty="0">
                <a:solidFill>
                  <a:sysClr val="windowText" lastClr="000000"/>
                </a:solidFill>
                <a:latin typeface="Consolas" panose="020B0609020204030204"/>
                <a:cs typeface="Consolas" panose="020B0609020204030204"/>
              </a:rPr>
              <a:t> </a:t>
            </a:r>
            <a:r>
              <a:rPr sz="1600" spc="-25" dirty="0">
                <a:solidFill>
                  <a:sysClr val="windowText" lastClr="000000"/>
                </a:solidFill>
                <a:latin typeface="Consolas" panose="020B0609020204030204"/>
                <a:cs typeface="Consolas" panose="020B0609020204030204"/>
              </a:rPr>
              <a:t>r;</a:t>
            </a:r>
            <a:endParaRPr sz="1600">
              <a:solidFill>
                <a:sysClr val="windowText" lastClr="000000"/>
              </a:solidFill>
              <a:latin typeface="Consolas" panose="020B0609020204030204"/>
              <a:cs typeface="Consolas" panose="020B0609020204030204"/>
            </a:endParaRPr>
          </a:p>
        </p:txBody>
      </p:sp>
      <p:pic>
        <p:nvPicPr>
          <p:cNvPr id="18" name="object 7"/>
          <p:cNvPicPr/>
          <p:nvPr/>
        </p:nvPicPr>
        <p:blipFill>
          <a:blip r:embed="rId3" cstate="print"/>
          <a:stretch>
            <a:fillRect/>
          </a:stretch>
        </p:blipFill>
        <p:spPr>
          <a:xfrm>
            <a:off x="5814059" y="4399788"/>
            <a:ext cx="342900" cy="345948"/>
          </a:xfrm>
          <a:prstGeom prst="rect">
            <a:avLst/>
          </a:prstGeom>
        </p:spPr>
      </p:pic>
      <p:pic>
        <p:nvPicPr>
          <p:cNvPr id="19" name="object 8"/>
          <p:cNvPicPr/>
          <p:nvPr/>
        </p:nvPicPr>
        <p:blipFill>
          <a:blip r:embed="rId3" cstate="print"/>
          <a:stretch>
            <a:fillRect/>
          </a:stretch>
        </p:blipFill>
        <p:spPr>
          <a:xfrm>
            <a:off x="5812535" y="4803647"/>
            <a:ext cx="342900" cy="347471"/>
          </a:xfrm>
          <a:prstGeom prst="rect">
            <a:avLst/>
          </a:prstGeom>
        </p:spPr>
      </p:pic>
      <p:pic>
        <p:nvPicPr>
          <p:cNvPr id="20" name="object 9"/>
          <p:cNvPicPr/>
          <p:nvPr/>
        </p:nvPicPr>
        <p:blipFill>
          <a:blip r:embed="rId3" cstate="print"/>
          <a:stretch>
            <a:fillRect/>
          </a:stretch>
        </p:blipFill>
        <p:spPr>
          <a:xfrm>
            <a:off x="5817108" y="5199888"/>
            <a:ext cx="342900" cy="34747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34</a:t>
            </a:fld>
            <a:endParaRPr lang="en-US"/>
          </a:p>
        </p:txBody>
      </p:sp>
      <p:sp>
        <p:nvSpPr>
          <p:cNvPr id="14"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Declarations</a:t>
            </a:r>
            <a:r>
              <a:rPr kumimoji="0" lang="en-US" sz="4000" b="1" i="0" u="none" strike="noStrike" kern="0" cap="none" spc="-114" normalizeH="0" baseline="0" noProof="0">
                <a:ln>
                  <a:noFill/>
                </a:ln>
                <a:solidFill>
                  <a:srgbClr val="000000"/>
                </a:solidFill>
                <a:effectLst/>
                <a:uLnTx/>
                <a:uFillTx/>
                <a:latin typeface="Palatino Linotype" panose="02040502050505030304"/>
                <a:ea typeface="+mj-ea"/>
              </a:rPr>
              <a:t> (</a:t>
            </a:r>
            <a:r>
              <a:rPr kumimoji="0" lang="zh-CN" altLang="en-US" sz="4000" b="0" i="0" u="none" strike="noStrike" kern="0" cap="none" spc="-35"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rPr>
              <a:t>类型的声明</a:t>
            </a:r>
            <a:r>
              <a:rPr kumimoji="0" lang="en-US" altLang="zh-CN" sz="4000" b="1" i="0" u="none" strike="noStrike" kern="0" cap="none" spc="-50" normalizeH="0" baseline="0" noProof="0">
                <a:ln>
                  <a:noFill/>
                </a:ln>
                <a:solidFill>
                  <a:srgbClr val="000000"/>
                </a:solidFill>
                <a:effectLst/>
                <a:uLnTx/>
                <a:uFillTx/>
                <a:latin typeface="Palatino Linotype" panose="02040502050505030304"/>
                <a:ea typeface="宋体" panose="02010600030101010101" pitchFamily="2" charset="-122"/>
              </a:rPr>
              <a:t>)</a:t>
            </a:r>
            <a:endParaRPr kumimoji="0" lang="en-US" altLang="zh-CN" sz="4000" b="1" i="0" u="none" strike="noStrike" kern="0" cap="none" spc="-50" normalizeH="0" baseline="0" noProof="0" dirty="0">
              <a:ln>
                <a:noFill/>
              </a:ln>
              <a:solidFill>
                <a:srgbClr val="000000"/>
              </a:solidFill>
              <a:effectLst/>
              <a:uLnTx/>
              <a:uFillTx/>
              <a:latin typeface="Palatino Linotype" panose="02040502050505030304"/>
              <a:ea typeface="宋体" panose="02010600030101010101" pitchFamily="2" charset="-122"/>
            </a:endParaRPr>
          </a:p>
        </p:txBody>
      </p:sp>
      <p:sp>
        <p:nvSpPr>
          <p:cNvPr id="15" name="object 3"/>
          <p:cNvSpPr txBox="1"/>
          <p:nvPr/>
        </p:nvSpPr>
        <p:spPr>
          <a:xfrm>
            <a:off x="707542" y="1653667"/>
            <a:ext cx="7543800" cy="2372995"/>
          </a:xfrm>
          <a:prstGeom prst="rect">
            <a:avLst/>
          </a:prstGeom>
        </p:spPr>
        <p:txBody>
          <a:bodyPr vert="horz" wrap="square" lIns="0" tIns="13335" rIns="0" bIns="0" rtlCol="0">
            <a:spAutoFit/>
          </a:bodyPr>
          <a:lstStyle/>
          <a:p>
            <a:pPr marL="242570" indent="-229870">
              <a:spcBef>
                <a:spcPts val="105"/>
              </a:spcBef>
              <a:buFont typeface="Arial MT"/>
              <a:buChar char="•"/>
              <a:tabLst>
                <a:tab pos="242570" algn="l"/>
              </a:tabLst>
            </a:pPr>
            <a:r>
              <a:rPr sz="2000" dirty="0">
                <a:solidFill>
                  <a:sysClr val="windowText" lastClr="000000"/>
                </a:solidFill>
                <a:latin typeface="Palatino Linotype" panose="02040502050505030304"/>
                <a:cs typeface="Palatino Linotype" panose="02040502050505030304"/>
              </a:rPr>
              <a:t>The</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grammar</a:t>
            </a:r>
            <a:r>
              <a:rPr sz="2000" spc="-5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below</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deals</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with</a:t>
            </a:r>
            <a:r>
              <a:rPr sz="2000" spc="-3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basic,</a:t>
            </a:r>
            <a:r>
              <a:rPr sz="2000" spc="-25" dirty="0">
                <a:solidFill>
                  <a:sysClr val="windowText" lastClr="000000"/>
                </a:solidFill>
                <a:latin typeface="Palatino Linotype" panose="02040502050505030304"/>
                <a:cs typeface="Palatino Linotype" panose="02040502050505030304"/>
              </a:rPr>
              <a:t> </a:t>
            </a:r>
            <a:r>
              <a:rPr sz="2000" spc="-30" dirty="0">
                <a:solidFill>
                  <a:sysClr val="windowText" lastClr="000000"/>
                </a:solidFill>
                <a:latin typeface="Palatino Linotype" panose="02040502050505030304"/>
                <a:cs typeface="Palatino Linotype" panose="02040502050505030304"/>
              </a:rPr>
              <a:t>array,</a:t>
            </a:r>
            <a:r>
              <a:rPr sz="2000" spc="-5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and</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record</a:t>
            </a:r>
            <a:r>
              <a:rPr sz="2000" spc="-45"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types</a:t>
            </a:r>
            <a:endParaRPr sz="2000">
              <a:solidFill>
                <a:sysClr val="windowText" lastClr="000000"/>
              </a:solidFill>
              <a:latin typeface="Palatino Linotype" panose="02040502050505030304"/>
              <a:cs typeface="Palatino Linotype" panose="02040502050505030304"/>
            </a:endParaRPr>
          </a:p>
          <a:p>
            <a:pPr marL="697865" lvl="1" indent="-227965">
              <a:spcBef>
                <a:spcPts val="1645"/>
              </a:spcBef>
              <a:buFont typeface="Wingdings" panose="05000000000000000000"/>
              <a:buChar char=""/>
              <a:tabLst>
                <a:tab pos="697865" algn="l"/>
              </a:tabLst>
            </a:pPr>
            <a:r>
              <a:rPr sz="1600" dirty="0">
                <a:solidFill>
                  <a:sysClr val="windowText" lastClr="000000"/>
                </a:solidFill>
                <a:latin typeface="Palatino Linotype" panose="02040502050505030304"/>
                <a:cs typeface="Palatino Linotype" panose="02040502050505030304"/>
              </a:rPr>
              <a:t>Nonterminal</a:t>
            </a:r>
            <a:r>
              <a:rPr sz="1600" spc="-15" dirty="0">
                <a:solidFill>
                  <a:sysClr val="windowText" lastClr="000000"/>
                </a:solidFill>
                <a:latin typeface="Palatino Linotype" panose="02040502050505030304"/>
                <a:cs typeface="Palatino Linotype" panose="02040502050505030304"/>
              </a:rPr>
              <a:t> </a:t>
            </a:r>
            <a:r>
              <a:rPr sz="1600" dirty="0">
                <a:solidFill>
                  <a:srgbClr val="FF0000"/>
                </a:solidFill>
                <a:latin typeface="Cambria Math" panose="02040503050406030204"/>
                <a:cs typeface="Cambria Math" panose="02040503050406030204"/>
              </a:rPr>
              <a:t>𝐷</a:t>
            </a:r>
            <a:r>
              <a:rPr sz="1600" spc="55" dirty="0">
                <a:solidFill>
                  <a:srgbClr val="FF0000"/>
                </a:solidFill>
                <a:latin typeface="Cambria Math" panose="02040503050406030204"/>
                <a:cs typeface="Cambria Math" panose="02040503050406030204"/>
              </a:rPr>
              <a:t> </a:t>
            </a:r>
            <a:r>
              <a:rPr sz="1600" dirty="0">
                <a:solidFill>
                  <a:sysClr val="windowText" lastClr="000000"/>
                </a:solidFill>
                <a:latin typeface="Palatino Linotype" panose="02040502050505030304"/>
                <a:cs typeface="Palatino Linotype" panose="02040502050505030304"/>
              </a:rPr>
              <a:t>generates</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sequence</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of</a:t>
            </a:r>
            <a:r>
              <a:rPr sz="1600" spc="-35"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declarations</a:t>
            </a:r>
            <a:endParaRPr sz="1600">
              <a:solidFill>
                <a:sysClr val="windowText" lastClr="000000"/>
              </a:solidFill>
              <a:latin typeface="Palatino Linotype" panose="02040502050505030304"/>
              <a:cs typeface="Palatino Linotype" panose="02040502050505030304"/>
            </a:endParaRPr>
          </a:p>
          <a:p>
            <a:pPr marL="697865" lvl="1" indent="-227965">
              <a:spcBef>
                <a:spcPts val="1585"/>
              </a:spcBef>
              <a:buClr>
                <a:srgbClr val="000000"/>
              </a:buClr>
              <a:buFont typeface="Wingdings" panose="05000000000000000000"/>
              <a:buChar char=""/>
              <a:tabLst>
                <a:tab pos="697865" algn="l"/>
              </a:tabLst>
            </a:pPr>
            <a:r>
              <a:rPr sz="1600" dirty="0">
                <a:solidFill>
                  <a:srgbClr val="FF0000"/>
                </a:solidFill>
                <a:latin typeface="Cambria Math" panose="02040503050406030204"/>
                <a:cs typeface="Cambria Math" panose="02040503050406030204"/>
              </a:rPr>
              <a:t>𝑇</a:t>
            </a:r>
            <a:r>
              <a:rPr sz="1600" spc="35" dirty="0">
                <a:solidFill>
                  <a:srgbClr val="FF0000"/>
                </a:solidFill>
                <a:latin typeface="Cambria Math" panose="02040503050406030204"/>
                <a:cs typeface="Cambria Math" panose="02040503050406030204"/>
              </a:rPr>
              <a:t> </a:t>
            </a:r>
            <a:r>
              <a:rPr sz="1600" dirty="0">
                <a:solidFill>
                  <a:sysClr val="windowText" lastClr="000000"/>
                </a:solidFill>
                <a:latin typeface="Palatino Linotype" panose="02040502050505030304"/>
                <a:cs typeface="Palatino Linotype" panose="02040502050505030304"/>
              </a:rPr>
              <a:t>generates</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basic,</a:t>
            </a:r>
            <a:r>
              <a:rPr sz="1600" spc="-40" dirty="0">
                <a:solidFill>
                  <a:sysClr val="windowText" lastClr="000000"/>
                </a:solidFill>
                <a:latin typeface="Palatino Linotype" panose="02040502050505030304"/>
                <a:cs typeface="Palatino Linotype" panose="02040502050505030304"/>
              </a:rPr>
              <a:t> </a:t>
            </a:r>
            <a:r>
              <a:rPr sz="1600" spc="-30" dirty="0">
                <a:solidFill>
                  <a:sysClr val="windowText" lastClr="000000"/>
                </a:solidFill>
                <a:latin typeface="Palatino Linotype" panose="02040502050505030304"/>
                <a:cs typeface="Palatino Linotype" panose="02040502050505030304"/>
              </a:rPr>
              <a:t>array,</a:t>
            </a:r>
            <a:r>
              <a:rPr sz="1600" spc="-4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or</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record</a:t>
            </a:r>
            <a:r>
              <a:rPr sz="1600" spc="-45"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types</a:t>
            </a:r>
            <a:r>
              <a:rPr lang="en-US" sz="1600" spc="-10" dirty="0">
                <a:solidFill>
                  <a:sysClr val="windowText" lastClr="000000"/>
                </a:solidFill>
                <a:latin typeface="Palatino Linotype" panose="02040502050505030304"/>
                <a:cs typeface="Palatino Linotype" panose="02040502050505030304"/>
              </a:rPr>
              <a:t>,</a:t>
            </a:r>
            <a:r>
              <a:rPr sz="1600" dirty="0">
                <a:solidFill>
                  <a:sysClr val="windowText" lastClr="000000"/>
                </a:solidFill>
                <a:latin typeface="Palatino Linotype" panose="02040502050505030304"/>
                <a:cs typeface="Palatino Linotype" panose="02040502050505030304"/>
              </a:rPr>
              <a:t>A</a:t>
            </a:r>
            <a:r>
              <a:rPr sz="1600" spc="-10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record</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type</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is</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sequence</a:t>
            </a:r>
            <a:r>
              <a:rPr sz="1600" spc="-1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of</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declarations</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for</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a:t>
            </a:r>
            <a:r>
              <a:rPr sz="1600" spc="-1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fields</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of</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a:t>
            </a:r>
            <a:r>
              <a:rPr sz="1600" spc="-10" dirty="0">
                <a:solidFill>
                  <a:sysClr val="windowText" lastClr="000000"/>
                </a:solidFill>
                <a:latin typeface="Palatino Linotype" panose="02040502050505030304"/>
                <a:cs typeface="Palatino Linotype" panose="02040502050505030304"/>
              </a:rPr>
              <a:t> record, </a:t>
            </a:r>
            <a:r>
              <a:rPr sz="1600" dirty="0">
                <a:solidFill>
                  <a:sysClr val="windowText" lastClr="000000"/>
                </a:solidFill>
                <a:latin typeface="Palatino Linotype" panose="02040502050505030304"/>
                <a:cs typeface="Palatino Linotype" panose="02040502050505030304"/>
              </a:rPr>
              <a:t>surrounded</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by</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curly</a:t>
            </a:r>
            <a:r>
              <a:rPr sz="1600" spc="-40"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braces</a:t>
            </a:r>
            <a:endParaRPr sz="1600">
              <a:solidFill>
                <a:sysClr val="windowText" lastClr="000000"/>
              </a:solidFill>
              <a:latin typeface="Palatino Linotype" panose="02040502050505030304"/>
              <a:cs typeface="Palatino Linotype" panose="02040502050505030304"/>
            </a:endParaRPr>
          </a:p>
          <a:p>
            <a:pPr marL="697865" lvl="1" indent="-227965">
              <a:spcBef>
                <a:spcPts val="1585"/>
              </a:spcBef>
              <a:buClr>
                <a:srgbClr val="000000"/>
              </a:buClr>
              <a:buFont typeface="Wingdings" panose="05000000000000000000"/>
              <a:buChar char=""/>
              <a:tabLst>
                <a:tab pos="697865" algn="l"/>
              </a:tabLst>
            </a:pPr>
            <a:r>
              <a:rPr sz="1600" dirty="0">
                <a:solidFill>
                  <a:srgbClr val="FF0000"/>
                </a:solidFill>
                <a:latin typeface="Cambria Math" panose="02040503050406030204"/>
                <a:cs typeface="Cambria Math" panose="02040503050406030204"/>
              </a:rPr>
              <a:t>𝐵</a:t>
            </a:r>
            <a:r>
              <a:rPr sz="1600" spc="30" dirty="0">
                <a:solidFill>
                  <a:srgbClr val="FF0000"/>
                </a:solidFill>
                <a:latin typeface="Cambria Math" panose="02040503050406030204"/>
                <a:cs typeface="Cambria Math" panose="02040503050406030204"/>
              </a:rPr>
              <a:t> </a:t>
            </a:r>
            <a:r>
              <a:rPr sz="1600" dirty="0">
                <a:solidFill>
                  <a:sysClr val="windowText" lastClr="000000"/>
                </a:solidFill>
                <a:latin typeface="Palatino Linotype" panose="02040502050505030304"/>
                <a:cs typeface="Palatino Linotype" panose="02040502050505030304"/>
              </a:rPr>
              <a:t>generates</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one</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of</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a:t>
            </a:r>
            <a:r>
              <a:rPr sz="1600" spc="-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basic</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types:</a:t>
            </a:r>
            <a:r>
              <a:rPr sz="1600" spc="-10" dirty="0">
                <a:solidFill>
                  <a:sysClr val="windowText" lastClr="000000"/>
                </a:solidFill>
                <a:latin typeface="Palatino Linotype" panose="02040502050505030304"/>
                <a:cs typeface="Palatino Linotype" panose="02040502050505030304"/>
              </a:rPr>
              <a:t> </a:t>
            </a:r>
            <a:r>
              <a:rPr sz="1600" spc="-10" dirty="0">
                <a:solidFill>
                  <a:srgbClr val="0431FF"/>
                </a:solidFill>
                <a:latin typeface="Consolas" panose="020B0609020204030204"/>
                <a:cs typeface="Consolas" panose="020B0609020204030204"/>
              </a:rPr>
              <a:t>int</a:t>
            </a:r>
            <a:r>
              <a:rPr sz="1600" spc="-490" dirty="0">
                <a:solidFill>
                  <a:srgbClr val="0431FF"/>
                </a:solidFill>
                <a:latin typeface="Consolas" panose="020B0609020204030204"/>
                <a:cs typeface="Consolas" panose="020B0609020204030204"/>
              </a:rPr>
              <a:t> </a:t>
            </a:r>
            <a:r>
              <a:rPr sz="1600" dirty="0">
                <a:solidFill>
                  <a:sysClr val="windowText" lastClr="000000"/>
                </a:solidFill>
                <a:latin typeface="Palatino Linotype" panose="02040502050505030304"/>
                <a:cs typeface="Palatino Linotype" panose="02040502050505030304"/>
              </a:rPr>
              <a:t>and</a:t>
            </a:r>
            <a:r>
              <a:rPr sz="1600" spc="-10" dirty="0">
                <a:solidFill>
                  <a:sysClr val="windowText" lastClr="000000"/>
                </a:solidFill>
                <a:latin typeface="Palatino Linotype" panose="02040502050505030304"/>
                <a:cs typeface="Palatino Linotype" panose="02040502050505030304"/>
              </a:rPr>
              <a:t> </a:t>
            </a:r>
            <a:r>
              <a:rPr sz="1600" spc="-10" dirty="0">
                <a:solidFill>
                  <a:srgbClr val="0431FF"/>
                </a:solidFill>
                <a:latin typeface="Consolas" panose="020B0609020204030204"/>
                <a:cs typeface="Consolas" panose="020B0609020204030204"/>
              </a:rPr>
              <a:t>float</a:t>
            </a:r>
            <a:endParaRPr sz="1600">
              <a:solidFill>
                <a:sysClr val="windowText" lastClr="000000"/>
              </a:solidFill>
              <a:latin typeface="Consolas" panose="020B0609020204030204"/>
              <a:cs typeface="Consolas" panose="020B0609020204030204"/>
            </a:endParaRPr>
          </a:p>
          <a:p>
            <a:pPr marL="697865" lvl="1" indent="-227965">
              <a:spcBef>
                <a:spcPts val="1585"/>
              </a:spcBef>
              <a:buClr>
                <a:srgbClr val="000000"/>
              </a:buClr>
              <a:buFont typeface="Wingdings" panose="05000000000000000000"/>
              <a:buChar char=""/>
              <a:tabLst>
                <a:tab pos="697865" algn="l"/>
              </a:tabLst>
            </a:pPr>
            <a:r>
              <a:rPr sz="1600" dirty="0">
                <a:solidFill>
                  <a:srgbClr val="FF0000"/>
                </a:solidFill>
                <a:latin typeface="Cambria Math" panose="02040503050406030204"/>
                <a:cs typeface="Cambria Math" panose="02040503050406030204"/>
              </a:rPr>
              <a:t>𝐶</a:t>
            </a:r>
            <a:r>
              <a:rPr sz="1600" spc="70" dirty="0">
                <a:solidFill>
                  <a:srgbClr val="FF0000"/>
                </a:solidFill>
                <a:latin typeface="Cambria Math" panose="02040503050406030204"/>
                <a:cs typeface="Cambria Math" panose="02040503050406030204"/>
              </a:rPr>
              <a:t> </a:t>
            </a:r>
            <a:r>
              <a:rPr sz="1600" dirty="0">
                <a:solidFill>
                  <a:sysClr val="windowText" lastClr="000000"/>
                </a:solidFill>
                <a:latin typeface="Palatino Linotype" panose="02040502050505030304"/>
                <a:cs typeface="Palatino Linotype" panose="02040502050505030304"/>
              </a:rPr>
              <a:t>generates</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sequences</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of</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one</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or</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more</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integers,</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each</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surrounded</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by</a:t>
            </a:r>
            <a:r>
              <a:rPr sz="1600" spc="-40"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brackets</a:t>
            </a:r>
            <a:endParaRPr sz="1600">
              <a:solidFill>
                <a:sysClr val="windowText" lastClr="000000"/>
              </a:solidFill>
              <a:latin typeface="Palatino Linotype" panose="02040502050505030304"/>
              <a:cs typeface="Palatino Linotype" panose="02040502050505030304"/>
            </a:endParaRPr>
          </a:p>
        </p:txBody>
      </p:sp>
      <p:pic>
        <p:nvPicPr>
          <p:cNvPr id="16" name="object 4"/>
          <p:cNvPicPr/>
          <p:nvPr/>
        </p:nvPicPr>
        <p:blipFill>
          <a:blip r:embed="rId3" cstate="print"/>
          <a:stretch>
            <a:fillRect/>
          </a:stretch>
        </p:blipFill>
        <p:spPr>
          <a:xfrm>
            <a:off x="3120560" y="5024010"/>
            <a:ext cx="2972047" cy="91313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35</a:t>
            </a:fld>
            <a:endParaRPr lang="en-US"/>
          </a:p>
        </p:txBody>
      </p:sp>
      <p:sp>
        <p:nvSpPr>
          <p:cNvPr id="7" name="object 2"/>
          <p:cNvSpPr txBox="1"/>
          <p:nvPr/>
        </p:nvSpPr>
        <p:spPr>
          <a:xfrm>
            <a:off x="862075" y="397255"/>
            <a:ext cx="7416165" cy="1254760"/>
          </a:xfrm>
          <a:prstGeom prst="rect">
            <a:avLst/>
          </a:prstGeom>
        </p:spPr>
        <p:txBody>
          <a:bodyPr vert="horz" wrap="square" lIns="0" tIns="190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50315" marR="5080" lvl="0" indent="-1238250" defTabSz="914400" eaLnBrk="1" fontAlgn="auto" latinLnBrk="0" hangingPunct="1">
              <a:lnSpc>
                <a:spcPct val="102000"/>
              </a:lnSpc>
              <a:spcBef>
                <a:spcPts val="15"/>
              </a:spcBef>
              <a:spcAft>
                <a:spcPts val="0"/>
              </a:spcAft>
              <a:buClrTx/>
              <a:buSzTx/>
              <a:buFontTx/>
              <a:buNone/>
              <a:defRPr/>
            </a:pP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Storage</a:t>
            </a:r>
            <a:r>
              <a:rPr kumimoji="0" lang="en-US" sz="4000" b="1" i="0" u="none" strike="noStrike" kern="0" cap="none" spc="-9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Layout</a:t>
            </a:r>
            <a:r>
              <a:rPr kumimoji="0" lang="en-US" sz="4000" b="1" i="0" u="none" strike="noStrike" kern="0" cap="none" spc="-90"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for</a:t>
            </a:r>
            <a:r>
              <a:rPr kumimoji="0" lang="en-US" sz="4000" b="1" i="0" u="none" strike="noStrike" kern="0" cap="none" spc="-9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Local</a:t>
            </a:r>
            <a:r>
              <a:rPr kumimoji="0" lang="en-US" sz="4000" b="1" i="0" u="none" strike="noStrike" kern="0" cap="none" spc="-9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Names </a:t>
            </a:r>
            <a:r>
              <a:rPr kumimoji="0" lang="en-US" sz="4000" b="1" i="0" u="none" strike="noStrike" kern="0" cap="none" spc="-20" normalizeH="0" baseline="0" noProof="0">
                <a:ln>
                  <a:noFill/>
                </a:ln>
                <a:solidFill>
                  <a:srgbClr val="000000"/>
                </a:solidFill>
                <a:effectLst/>
                <a:uLnTx/>
                <a:uFillTx/>
                <a:latin typeface="Palatino Linotype" panose="02040502050505030304"/>
                <a:ea typeface="+mj-ea"/>
              </a:rPr>
              <a:t>(</a:t>
            </a:r>
            <a:r>
              <a:rPr kumimoji="0" lang="zh-CN" altLang="en-US" sz="4000" b="0" i="0" u="none" strike="noStrike" kern="0" cap="none" spc="-3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rPr>
              <a:t>局部变量的存储布局</a:t>
            </a:r>
            <a:r>
              <a:rPr kumimoji="0" lang="en-US" altLang="zh-CN" sz="4000" b="1" i="0" u="none" strike="noStrike" kern="0" cap="none" spc="-50" normalizeH="0" baseline="0" noProof="0">
                <a:ln>
                  <a:noFill/>
                </a:ln>
                <a:solidFill>
                  <a:srgbClr val="000000"/>
                </a:solidFill>
                <a:effectLst/>
                <a:uLnTx/>
                <a:uFillTx/>
                <a:latin typeface="Palatino Linotype" panose="02040502050505030304"/>
                <a:ea typeface="宋体" panose="02010600030101010101" pitchFamily="2" charset="-122"/>
              </a:rPr>
              <a:t>)</a:t>
            </a:r>
            <a:endParaRPr kumimoji="0" lang="en-US" altLang="zh-CN" sz="4000" b="1" i="0" u="none" strike="noStrike" kern="0" cap="none" spc="-50" normalizeH="0" baseline="0" noProof="0" dirty="0">
              <a:ln>
                <a:noFill/>
              </a:ln>
              <a:solidFill>
                <a:srgbClr val="000000"/>
              </a:solidFill>
              <a:effectLst/>
              <a:uLnTx/>
              <a:uFillTx/>
              <a:latin typeface="Palatino Linotype" panose="02040502050505030304"/>
              <a:ea typeface="宋体" panose="02010600030101010101" pitchFamily="2" charset="-122"/>
            </a:endParaRPr>
          </a:p>
        </p:txBody>
      </p:sp>
      <p:sp>
        <p:nvSpPr>
          <p:cNvPr id="8" name="object 3"/>
          <p:cNvSpPr txBox="1"/>
          <p:nvPr/>
        </p:nvSpPr>
        <p:spPr>
          <a:xfrm>
            <a:off x="656742" y="2068360"/>
            <a:ext cx="7707630" cy="4064000"/>
          </a:xfrm>
          <a:prstGeom prst="rect">
            <a:avLst/>
          </a:prstGeom>
        </p:spPr>
        <p:txBody>
          <a:bodyPr vert="horz" wrap="square" lIns="0" tIns="74295" rIns="0" bIns="0" rtlCol="0">
            <a:spAutoFit/>
          </a:bodyPr>
          <a:lstStyle/>
          <a:p>
            <a:pPr marL="293370" indent="-229870">
              <a:spcBef>
                <a:spcPts val="585"/>
              </a:spcBef>
              <a:buFont typeface="Arial MT"/>
              <a:buChar char="•"/>
              <a:tabLst>
                <a:tab pos="293370" algn="l"/>
              </a:tabLst>
            </a:pPr>
            <a:r>
              <a:rPr sz="2000" dirty="0">
                <a:solidFill>
                  <a:sysClr val="windowText" lastClr="000000"/>
                </a:solidFill>
                <a:latin typeface="Palatino Linotype" panose="02040502050505030304"/>
                <a:cs typeface="Palatino Linotype" panose="02040502050505030304"/>
              </a:rPr>
              <a:t>From</a:t>
            </a:r>
            <a:r>
              <a:rPr sz="2000" spc="-5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the</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type</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of</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name,</a:t>
            </a:r>
            <a:r>
              <a:rPr sz="2000" spc="-4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we</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can</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decide</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the</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amount</a:t>
            </a:r>
            <a:r>
              <a:rPr sz="2000" spc="-6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of</a:t>
            </a:r>
            <a:r>
              <a:rPr sz="2000" spc="-25"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memory</a:t>
            </a:r>
            <a:endParaRPr sz="2000" dirty="0">
              <a:solidFill>
                <a:sysClr val="windowText" lastClr="000000"/>
              </a:solidFill>
              <a:latin typeface="Palatino Linotype" panose="02040502050505030304"/>
              <a:cs typeface="Palatino Linotype" panose="02040502050505030304"/>
            </a:endParaRPr>
          </a:p>
          <a:p>
            <a:pPr marL="293370">
              <a:spcBef>
                <a:spcPts val="480"/>
              </a:spcBef>
            </a:pPr>
            <a:r>
              <a:rPr sz="2000" dirty="0">
                <a:solidFill>
                  <a:sysClr val="windowText" lastClr="000000"/>
                </a:solidFill>
                <a:latin typeface="Palatino Linotype" panose="02040502050505030304"/>
                <a:cs typeface="Palatino Linotype" panose="02040502050505030304"/>
              </a:rPr>
              <a:t>needed</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for</a:t>
            </a:r>
            <a:r>
              <a:rPr sz="2000" spc="-3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the</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name</a:t>
            </a:r>
            <a:r>
              <a:rPr sz="2000" spc="-3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at</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run</a:t>
            </a:r>
            <a:r>
              <a:rPr sz="2000" spc="-40" dirty="0">
                <a:solidFill>
                  <a:sysClr val="windowText" lastClr="000000"/>
                </a:solidFill>
                <a:latin typeface="Palatino Linotype" panose="02040502050505030304"/>
                <a:cs typeface="Palatino Linotype" panose="02040502050505030304"/>
              </a:rPr>
              <a:t> </a:t>
            </a:r>
            <a:r>
              <a:rPr sz="2000" spc="-20" dirty="0">
                <a:solidFill>
                  <a:sysClr val="windowText" lastClr="000000"/>
                </a:solidFill>
                <a:latin typeface="Palatino Linotype" panose="02040502050505030304"/>
                <a:cs typeface="Palatino Linotype" panose="02040502050505030304"/>
              </a:rPr>
              <a:t>time</a:t>
            </a:r>
            <a:endParaRPr sz="2000" dirty="0">
              <a:solidFill>
                <a:sysClr val="windowText" lastClr="000000"/>
              </a:solidFill>
              <a:latin typeface="Palatino Linotype" panose="02040502050505030304"/>
              <a:cs typeface="Palatino Linotype" panose="02040502050505030304"/>
            </a:endParaRPr>
          </a:p>
          <a:p>
            <a:pPr marL="748665" lvl="1" indent="-227965">
              <a:spcBef>
                <a:spcPts val="1050"/>
              </a:spcBef>
              <a:buFont typeface="Wingdings" panose="05000000000000000000"/>
              <a:buChar char=""/>
              <a:tabLst>
                <a:tab pos="748665" algn="l"/>
              </a:tabLst>
            </a:pPr>
            <a:r>
              <a:rPr sz="1600" dirty="0">
                <a:solidFill>
                  <a:sysClr val="windowText" lastClr="000000"/>
                </a:solidFill>
                <a:latin typeface="Palatino Linotype" panose="02040502050505030304"/>
                <a:cs typeface="Palatino Linotype" panose="02040502050505030304"/>
              </a:rPr>
              <a:t>The</a:t>
            </a:r>
            <a:r>
              <a:rPr sz="1600" spc="-25" dirty="0">
                <a:solidFill>
                  <a:sysClr val="windowText" lastClr="000000"/>
                </a:solidFill>
                <a:latin typeface="Palatino Linotype" panose="02040502050505030304"/>
                <a:cs typeface="Palatino Linotype" panose="02040502050505030304"/>
              </a:rPr>
              <a:t> </a:t>
            </a:r>
            <a:r>
              <a:rPr sz="1600" i="1" dirty="0">
                <a:solidFill>
                  <a:srgbClr val="FF0000"/>
                </a:solidFill>
                <a:latin typeface="Palatino Linotype" panose="02040502050505030304"/>
                <a:cs typeface="Palatino Linotype" panose="02040502050505030304"/>
              </a:rPr>
              <a:t>width</a:t>
            </a:r>
            <a:r>
              <a:rPr sz="1600" i="1" spc="-15" dirty="0">
                <a:solidFill>
                  <a:srgbClr val="FF0000"/>
                </a:solidFill>
                <a:latin typeface="Palatino Linotype" panose="02040502050505030304"/>
                <a:cs typeface="Palatino Linotype" panose="02040502050505030304"/>
              </a:rPr>
              <a:t> </a:t>
            </a:r>
            <a:r>
              <a:rPr sz="1600" spc="-25" dirty="0">
                <a:solidFill>
                  <a:srgbClr val="FF0000"/>
                </a:solidFill>
                <a:latin typeface="Palatino Linotype" panose="02040502050505030304"/>
                <a:cs typeface="Palatino Linotype" panose="02040502050505030304"/>
              </a:rPr>
              <a:t>(</a:t>
            </a:r>
            <a:r>
              <a:rPr sz="1600" spc="-25" dirty="0">
                <a:solidFill>
                  <a:srgbClr val="FF0000"/>
                </a:solidFill>
                <a:latin typeface="宋体" panose="02010600030101010101" pitchFamily="2" charset="-122"/>
                <a:cs typeface="宋体" panose="02010600030101010101" pitchFamily="2" charset="-122"/>
              </a:rPr>
              <a:t>宽度</a:t>
            </a:r>
            <a:r>
              <a:rPr sz="1600" dirty="0">
                <a:solidFill>
                  <a:srgbClr val="FF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of</a:t>
            </a:r>
            <a:r>
              <a:rPr sz="1600" spc="-1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type</a:t>
            </a:r>
            <a:r>
              <a:rPr sz="1600" spc="-15" dirty="0">
                <a:solidFill>
                  <a:sysClr val="windowText" lastClr="000000"/>
                </a:solidFill>
                <a:latin typeface="Palatino Linotype" panose="02040502050505030304"/>
                <a:cs typeface="Palatino Linotype" panose="02040502050505030304"/>
              </a:rPr>
              <a:t>: # </a:t>
            </a:r>
            <a:r>
              <a:rPr sz="1600" dirty="0">
                <a:solidFill>
                  <a:sysClr val="windowText" lastClr="000000"/>
                </a:solidFill>
                <a:latin typeface="Palatino Linotype" panose="02040502050505030304"/>
                <a:cs typeface="Palatino Linotype" panose="02040502050505030304"/>
              </a:rPr>
              <a:t>memory</a:t>
            </a:r>
            <a:r>
              <a:rPr sz="1600" spc="-1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units</a:t>
            </a:r>
            <a:r>
              <a:rPr sz="1600" spc="-1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needed</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for</a:t>
            </a:r>
            <a:r>
              <a:rPr sz="1600" spc="-1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an</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object</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of</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a:t>
            </a:r>
            <a:r>
              <a:rPr sz="1600" spc="-5" dirty="0">
                <a:solidFill>
                  <a:sysClr val="windowText" lastClr="000000"/>
                </a:solidFill>
                <a:latin typeface="Palatino Linotype" panose="02040502050505030304"/>
                <a:cs typeface="Palatino Linotype" panose="02040502050505030304"/>
              </a:rPr>
              <a:t> </a:t>
            </a:r>
            <a:r>
              <a:rPr sz="1600" spc="-20" dirty="0">
                <a:solidFill>
                  <a:sysClr val="windowText" lastClr="000000"/>
                </a:solidFill>
                <a:latin typeface="Palatino Linotype" panose="02040502050505030304"/>
                <a:cs typeface="Palatino Linotype" panose="02040502050505030304"/>
              </a:rPr>
              <a:t>type</a:t>
            </a:r>
            <a:endParaRPr sz="1600" dirty="0">
              <a:solidFill>
                <a:sysClr val="windowText" lastClr="000000"/>
              </a:solidFill>
              <a:latin typeface="Palatino Linotype" panose="02040502050505030304"/>
              <a:cs typeface="Palatino Linotype" panose="02040502050505030304"/>
            </a:endParaRPr>
          </a:p>
          <a:p>
            <a:pPr marL="748665" marR="228600" lvl="1" indent="-228600">
              <a:lnSpc>
                <a:spcPct val="120000"/>
              </a:lnSpc>
              <a:spcBef>
                <a:spcPts val="595"/>
              </a:spcBef>
              <a:buClr>
                <a:srgbClr val="000000"/>
              </a:buClr>
              <a:buFont typeface="Wingdings" panose="05000000000000000000"/>
              <a:buChar char=""/>
              <a:tabLst>
                <a:tab pos="748665" algn="l"/>
              </a:tabLst>
            </a:pPr>
            <a:r>
              <a:rPr sz="1600" dirty="0">
                <a:solidFill>
                  <a:schemeClr val="bg2">
                    <a:lumMod val="50000"/>
                  </a:schemeClr>
                </a:solidFill>
                <a:latin typeface="Palatino Linotype" panose="02040502050505030304"/>
                <a:cs typeface="Palatino Linotype" panose="02040502050505030304"/>
              </a:rPr>
              <a:t>For</a:t>
            </a:r>
            <a:r>
              <a:rPr sz="1600" spc="-35"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data</a:t>
            </a:r>
            <a:r>
              <a:rPr sz="1600" spc="-25"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of</a:t>
            </a:r>
            <a:r>
              <a:rPr sz="1600" spc="-30" dirty="0">
                <a:solidFill>
                  <a:schemeClr val="bg2">
                    <a:lumMod val="50000"/>
                  </a:schemeClr>
                </a:solidFill>
                <a:latin typeface="Palatino Linotype" panose="02040502050505030304"/>
                <a:cs typeface="Palatino Linotype" panose="02040502050505030304"/>
              </a:rPr>
              <a:t> </a:t>
            </a:r>
            <a:r>
              <a:rPr sz="1600" spc="-10" dirty="0">
                <a:solidFill>
                  <a:schemeClr val="bg2">
                    <a:lumMod val="50000"/>
                  </a:schemeClr>
                </a:solidFill>
                <a:latin typeface="Palatino Linotype" panose="02040502050505030304"/>
                <a:cs typeface="Palatino Linotype" panose="02040502050505030304"/>
              </a:rPr>
              <a:t>varying</a:t>
            </a:r>
            <a:r>
              <a:rPr sz="1600" spc="-25"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lengths,</a:t>
            </a:r>
            <a:r>
              <a:rPr sz="1600" spc="-15"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such</a:t>
            </a:r>
            <a:r>
              <a:rPr sz="1600" spc="-25"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as</a:t>
            </a:r>
            <a:r>
              <a:rPr sz="1600" spc="-35"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strings,</a:t>
            </a:r>
            <a:r>
              <a:rPr sz="1600" spc="-20"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or</a:t>
            </a:r>
            <a:r>
              <a:rPr sz="1600" spc="-25"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whose</a:t>
            </a:r>
            <a:r>
              <a:rPr sz="1600" spc="-30"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size</a:t>
            </a:r>
            <a:r>
              <a:rPr sz="1600" spc="-35"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cannot</a:t>
            </a:r>
            <a:r>
              <a:rPr sz="1600" spc="-5" dirty="0">
                <a:solidFill>
                  <a:schemeClr val="bg2">
                    <a:lumMod val="50000"/>
                  </a:schemeClr>
                </a:solidFill>
                <a:latin typeface="Palatino Linotype" panose="02040502050505030304"/>
                <a:cs typeface="Palatino Linotype" panose="02040502050505030304"/>
              </a:rPr>
              <a:t> </a:t>
            </a:r>
            <a:r>
              <a:rPr sz="1600" spc="-25" dirty="0">
                <a:solidFill>
                  <a:schemeClr val="bg2">
                    <a:lumMod val="50000"/>
                  </a:schemeClr>
                </a:solidFill>
                <a:latin typeface="Palatino Linotype" panose="02040502050505030304"/>
                <a:cs typeface="Palatino Linotype" panose="02040502050505030304"/>
              </a:rPr>
              <a:t>be </a:t>
            </a:r>
            <a:r>
              <a:rPr sz="1600" dirty="0">
                <a:solidFill>
                  <a:schemeClr val="bg2">
                    <a:lumMod val="50000"/>
                  </a:schemeClr>
                </a:solidFill>
                <a:latin typeface="Palatino Linotype" panose="02040502050505030304"/>
                <a:cs typeface="Palatino Linotype" panose="02040502050505030304"/>
              </a:rPr>
              <a:t>determined</a:t>
            </a:r>
            <a:r>
              <a:rPr sz="1600" spc="-30"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until</a:t>
            </a:r>
            <a:r>
              <a:rPr sz="1600" spc="-35"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run</a:t>
            </a:r>
            <a:r>
              <a:rPr sz="1600" spc="-35"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time,</a:t>
            </a:r>
            <a:r>
              <a:rPr sz="1600" spc="-35"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such</a:t>
            </a:r>
            <a:r>
              <a:rPr sz="1600" spc="-20"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as</a:t>
            </a:r>
            <a:r>
              <a:rPr sz="1600" spc="-50"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dynamic</a:t>
            </a:r>
            <a:r>
              <a:rPr sz="1600" spc="-20"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arrays,</a:t>
            </a:r>
            <a:r>
              <a:rPr sz="1600" spc="-50"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we</a:t>
            </a:r>
            <a:r>
              <a:rPr sz="1600" spc="-45"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only</a:t>
            </a:r>
            <a:r>
              <a:rPr sz="1600" spc="-35"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reserve</a:t>
            </a:r>
            <a:r>
              <a:rPr sz="1600" spc="-55"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a</a:t>
            </a:r>
            <a:r>
              <a:rPr sz="1600" spc="-40" dirty="0">
                <a:solidFill>
                  <a:schemeClr val="bg2">
                    <a:lumMod val="50000"/>
                  </a:schemeClr>
                </a:solidFill>
                <a:latin typeface="Palatino Linotype" panose="02040502050505030304"/>
                <a:cs typeface="Palatino Linotype" panose="02040502050505030304"/>
              </a:rPr>
              <a:t> </a:t>
            </a:r>
            <a:r>
              <a:rPr sz="1600" spc="-10" dirty="0">
                <a:solidFill>
                  <a:schemeClr val="bg2">
                    <a:lumMod val="50000"/>
                  </a:schemeClr>
                </a:solidFill>
                <a:latin typeface="Palatino Linotype" panose="02040502050505030304"/>
                <a:cs typeface="Palatino Linotype" panose="02040502050505030304"/>
              </a:rPr>
              <a:t>fixed </a:t>
            </a:r>
            <a:r>
              <a:rPr sz="1600" dirty="0">
                <a:solidFill>
                  <a:schemeClr val="bg2">
                    <a:lumMod val="50000"/>
                  </a:schemeClr>
                </a:solidFill>
                <a:latin typeface="Palatino Linotype" panose="02040502050505030304"/>
                <a:cs typeface="Palatino Linotype" panose="02040502050505030304"/>
              </a:rPr>
              <a:t>amount</a:t>
            </a:r>
            <a:r>
              <a:rPr sz="1600" spc="-15"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of</a:t>
            </a:r>
            <a:r>
              <a:rPr sz="1600" spc="-30"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memory</a:t>
            </a:r>
            <a:r>
              <a:rPr sz="1600" spc="-25"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for</a:t>
            </a:r>
            <a:r>
              <a:rPr sz="1600" spc="-25"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a</a:t>
            </a:r>
            <a:r>
              <a:rPr sz="1600" spc="-30"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pointer</a:t>
            </a:r>
            <a:r>
              <a:rPr sz="1600" spc="-15"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to</a:t>
            </a:r>
            <a:r>
              <a:rPr sz="1600" spc="-30" dirty="0">
                <a:solidFill>
                  <a:schemeClr val="bg2">
                    <a:lumMod val="50000"/>
                  </a:schemeClr>
                </a:solidFill>
                <a:latin typeface="Palatino Linotype" panose="02040502050505030304"/>
                <a:cs typeface="Palatino Linotype" panose="02040502050505030304"/>
              </a:rPr>
              <a:t> </a:t>
            </a:r>
            <a:r>
              <a:rPr sz="1600" dirty="0">
                <a:solidFill>
                  <a:schemeClr val="bg2">
                    <a:lumMod val="50000"/>
                  </a:schemeClr>
                </a:solidFill>
                <a:latin typeface="Palatino Linotype" panose="02040502050505030304"/>
                <a:cs typeface="Palatino Linotype" panose="02040502050505030304"/>
              </a:rPr>
              <a:t>the</a:t>
            </a:r>
            <a:r>
              <a:rPr sz="1600" spc="-10" dirty="0">
                <a:solidFill>
                  <a:schemeClr val="bg2">
                    <a:lumMod val="50000"/>
                  </a:schemeClr>
                </a:solidFill>
                <a:latin typeface="Palatino Linotype" panose="02040502050505030304"/>
                <a:cs typeface="Palatino Linotype" panose="02040502050505030304"/>
              </a:rPr>
              <a:t> </a:t>
            </a:r>
            <a:r>
              <a:rPr sz="1600" spc="-20" dirty="0">
                <a:solidFill>
                  <a:schemeClr val="bg2">
                    <a:lumMod val="50000"/>
                  </a:schemeClr>
                </a:solidFill>
                <a:latin typeface="Palatino Linotype" panose="02040502050505030304"/>
                <a:cs typeface="Palatino Linotype" panose="02040502050505030304"/>
              </a:rPr>
              <a:t>data</a:t>
            </a:r>
            <a:endParaRPr sz="1600" dirty="0">
              <a:solidFill>
                <a:schemeClr val="bg2">
                  <a:lumMod val="50000"/>
                </a:schemeClr>
              </a:solidFill>
              <a:latin typeface="Palatino Linotype" panose="02040502050505030304"/>
              <a:cs typeface="Palatino Linotype" panose="02040502050505030304"/>
            </a:endParaRPr>
          </a:p>
          <a:p>
            <a:pPr marL="0" lvl="1">
              <a:spcBef>
                <a:spcPts val="660"/>
              </a:spcBef>
              <a:buFont typeface="Wingdings" panose="05000000000000000000"/>
              <a:buChar char=""/>
            </a:pPr>
            <a:endParaRPr sz="1600" dirty="0">
              <a:solidFill>
                <a:sysClr val="windowText" lastClr="000000"/>
              </a:solidFill>
              <a:latin typeface="Palatino Linotype" panose="02040502050505030304"/>
              <a:cs typeface="Palatino Linotype" panose="02040502050505030304"/>
            </a:endParaRPr>
          </a:p>
          <a:p>
            <a:pPr marL="293370" indent="-229870">
              <a:buFont typeface="Arial MT"/>
              <a:buChar char="•"/>
              <a:tabLst>
                <a:tab pos="293370" algn="l"/>
              </a:tabLst>
            </a:pPr>
            <a:r>
              <a:rPr sz="2000" dirty="0">
                <a:solidFill>
                  <a:sysClr val="windowText" lastClr="000000"/>
                </a:solidFill>
                <a:latin typeface="Palatino Linotype" panose="02040502050505030304"/>
                <a:cs typeface="Palatino Linotype" panose="02040502050505030304"/>
              </a:rPr>
              <a:t>For</a:t>
            </a:r>
            <a:r>
              <a:rPr sz="2000" spc="-40" dirty="0">
                <a:solidFill>
                  <a:sysClr val="windowText" lastClr="00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local</a:t>
            </a:r>
            <a:r>
              <a:rPr sz="2000" spc="-4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names</a:t>
            </a:r>
            <a:r>
              <a:rPr sz="2000" spc="-3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of</a:t>
            </a:r>
            <a:r>
              <a:rPr sz="2000" spc="-4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a</a:t>
            </a:r>
            <a:r>
              <a:rPr sz="2000" spc="-25"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function</a:t>
            </a:r>
            <a:r>
              <a:rPr sz="2000" dirty="0">
                <a:solidFill>
                  <a:sysClr val="windowText" lastClr="000000"/>
                </a:solidFill>
                <a:latin typeface="Palatino Linotype" panose="02040502050505030304"/>
                <a:cs typeface="Palatino Linotype" panose="02040502050505030304"/>
              </a:rPr>
              <a:t>,</a:t>
            </a:r>
            <a:r>
              <a:rPr sz="2000" spc="-6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we</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always</a:t>
            </a:r>
            <a:r>
              <a:rPr sz="2000" spc="-5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assign</a:t>
            </a:r>
            <a:r>
              <a:rPr sz="2000" spc="-4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contiguous</a:t>
            </a:r>
            <a:r>
              <a:rPr sz="2000" spc="-55"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bytes</a:t>
            </a:r>
            <a:r>
              <a:rPr sz="1950" spc="-15" baseline="26000" dirty="0">
                <a:solidFill>
                  <a:sysClr val="windowText" lastClr="000000"/>
                </a:solidFill>
                <a:latin typeface="Palatino Linotype" panose="02040502050505030304"/>
                <a:cs typeface="Palatino Linotype" panose="02040502050505030304"/>
              </a:rPr>
              <a:t>*</a:t>
            </a:r>
            <a:endParaRPr sz="1950" baseline="26000" dirty="0">
              <a:solidFill>
                <a:sysClr val="windowText" lastClr="000000"/>
              </a:solidFill>
              <a:latin typeface="Palatino Linotype" panose="02040502050505030304"/>
              <a:cs typeface="Palatino Linotype" panose="02040502050505030304"/>
            </a:endParaRPr>
          </a:p>
          <a:p>
            <a:pPr marL="748665" lvl="1" indent="-227965">
              <a:spcBef>
                <a:spcPts val="1050"/>
              </a:spcBef>
              <a:buFont typeface="Wingdings" panose="05000000000000000000"/>
              <a:buChar char=""/>
              <a:tabLst>
                <a:tab pos="748665" algn="l"/>
              </a:tabLst>
            </a:pPr>
            <a:r>
              <a:rPr sz="1600" dirty="0">
                <a:solidFill>
                  <a:sysClr val="windowText" lastClr="000000"/>
                </a:solidFill>
                <a:latin typeface="Palatino Linotype" panose="02040502050505030304"/>
                <a:cs typeface="Palatino Linotype" panose="02040502050505030304"/>
              </a:rPr>
              <a:t>For</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each</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such</a:t>
            </a:r>
            <a:r>
              <a:rPr sz="1600" spc="-1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name,</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at</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compile</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time,</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we</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can</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compute</a:t>
            </a:r>
            <a:r>
              <a:rPr sz="1600" spc="-1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a:t>
            </a:r>
            <a:r>
              <a:rPr sz="1600" spc="-10" dirty="0">
                <a:solidFill>
                  <a:sysClr val="windowText" lastClr="00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relative</a:t>
            </a:r>
            <a:r>
              <a:rPr sz="1600" spc="-50" dirty="0">
                <a:solidFill>
                  <a:srgbClr val="FF0000"/>
                </a:solidFill>
                <a:latin typeface="Palatino Linotype" panose="02040502050505030304"/>
                <a:cs typeface="Palatino Linotype" panose="02040502050505030304"/>
              </a:rPr>
              <a:t> </a:t>
            </a:r>
            <a:r>
              <a:rPr sz="1600" spc="-10" dirty="0">
                <a:solidFill>
                  <a:srgbClr val="FF0000"/>
                </a:solidFill>
                <a:latin typeface="Palatino Linotype" panose="02040502050505030304"/>
                <a:cs typeface="Palatino Linotype" panose="02040502050505030304"/>
              </a:rPr>
              <a:t>address</a:t>
            </a:r>
            <a:endParaRPr sz="1600" dirty="0">
              <a:solidFill>
                <a:sysClr val="windowText" lastClr="000000"/>
              </a:solidFill>
              <a:latin typeface="Palatino Linotype" panose="02040502050505030304"/>
              <a:cs typeface="Palatino Linotype" panose="02040502050505030304"/>
            </a:endParaRPr>
          </a:p>
          <a:p>
            <a:pPr marL="748665" lvl="1" indent="-227965">
              <a:spcBef>
                <a:spcPts val="985"/>
              </a:spcBef>
              <a:buFont typeface="Wingdings" panose="05000000000000000000"/>
              <a:buChar char=""/>
              <a:tabLst>
                <a:tab pos="748665" algn="l"/>
              </a:tabLst>
            </a:pPr>
            <a:r>
              <a:rPr sz="1600" spc="-20" dirty="0">
                <a:solidFill>
                  <a:sysClr val="windowText" lastClr="000000"/>
                </a:solidFill>
                <a:latin typeface="Palatino Linotype" panose="02040502050505030304"/>
                <a:cs typeface="Palatino Linotype" panose="02040502050505030304"/>
              </a:rPr>
              <a:t>Type</a:t>
            </a:r>
            <a:r>
              <a:rPr sz="1600" spc="-5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information</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and</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relative</a:t>
            </a:r>
            <a:r>
              <a:rPr sz="1600" spc="-7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addresses</a:t>
            </a:r>
            <a:r>
              <a:rPr sz="1600" spc="-4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are</a:t>
            </a:r>
            <a:r>
              <a:rPr sz="1600" spc="-5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stored</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in</a:t>
            </a:r>
            <a:r>
              <a:rPr sz="1600" spc="-15" dirty="0">
                <a:solidFill>
                  <a:sysClr val="windowText" lastClr="000000"/>
                </a:solidFill>
                <a:latin typeface="Palatino Linotype" panose="02040502050505030304"/>
                <a:cs typeface="Palatino Linotype" panose="02040502050505030304"/>
              </a:rPr>
              <a:t> </a:t>
            </a:r>
            <a:r>
              <a:rPr sz="1600" dirty="0">
                <a:solidFill>
                  <a:srgbClr val="0431FF"/>
                </a:solidFill>
                <a:latin typeface="Palatino Linotype" panose="02040502050505030304"/>
                <a:cs typeface="Palatino Linotype" panose="02040502050505030304"/>
              </a:rPr>
              <a:t>symbol</a:t>
            </a:r>
            <a:r>
              <a:rPr sz="1600" spc="-45" dirty="0">
                <a:solidFill>
                  <a:srgbClr val="0431FF"/>
                </a:solidFill>
                <a:latin typeface="Palatino Linotype" panose="02040502050505030304"/>
                <a:cs typeface="Palatino Linotype" panose="02040502050505030304"/>
              </a:rPr>
              <a:t> </a:t>
            </a:r>
            <a:r>
              <a:rPr sz="1600" spc="-10" dirty="0">
                <a:solidFill>
                  <a:srgbClr val="0431FF"/>
                </a:solidFill>
                <a:latin typeface="Palatino Linotype" panose="02040502050505030304"/>
                <a:cs typeface="Palatino Linotype" panose="02040502050505030304"/>
              </a:rPr>
              <a:t>table</a:t>
            </a:r>
            <a:endParaRPr sz="1600" dirty="0">
              <a:solidFill>
                <a:sysClr val="windowText" lastClr="000000"/>
              </a:solidFill>
              <a:latin typeface="Palatino Linotype" panose="02040502050505030304"/>
              <a:cs typeface="Palatino Linotype" panose="02040502050505030304"/>
            </a:endParaRPr>
          </a:p>
          <a:p>
            <a:pPr>
              <a:spcBef>
                <a:spcPts val="860"/>
              </a:spcBef>
            </a:pPr>
            <a:endParaRPr sz="1600" dirty="0">
              <a:solidFill>
                <a:sysClr val="windowText" lastClr="000000"/>
              </a:solidFill>
              <a:latin typeface="Palatino Linotype" panose="02040502050505030304"/>
              <a:cs typeface="Palatino Linotype" panose="02040502050505030304"/>
            </a:endParaRPr>
          </a:p>
          <a:p>
            <a:pPr marL="266700"/>
            <a:r>
              <a:rPr sz="1200" dirty="0">
                <a:solidFill>
                  <a:schemeClr val="bg2">
                    <a:lumMod val="50000"/>
                  </a:schemeClr>
                </a:solidFill>
                <a:latin typeface="Palatino Linotype" panose="02040502050505030304"/>
                <a:cs typeface="Palatino Linotype" panose="02040502050505030304"/>
              </a:rPr>
              <a:t>*</a:t>
            </a:r>
            <a:r>
              <a:rPr sz="1200" spc="-35" dirty="0">
                <a:solidFill>
                  <a:schemeClr val="bg2">
                    <a:lumMod val="50000"/>
                  </a:schemeClr>
                </a:solidFill>
                <a:latin typeface="Palatino Linotype" panose="02040502050505030304"/>
                <a:cs typeface="Palatino Linotype" panose="02040502050505030304"/>
              </a:rPr>
              <a:t> </a:t>
            </a:r>
            <a:r>
              <a:rPr sz="1200" dirty="0">
                <a:solidFill>
                  <a:schemeClr val="bg2">
                    <a:lumMod val="50000"/>
                  </a:schemeClr>
                </a:solidFill>
                <a:latin typeface="Palatino Linotype" panose="02040502050505030304"/>
                <a:cs typeface="Palatino Linotype" panose="02040502050505030304"/>
              </a:rPr>
              <a:t>This</a:t>
            </a:r>
            <a:r>
              <a:rPr sz="1200" spc="-15" dirty="0">
                <a:solidFill>
                  <a:schemeClr val="bg2">
                    <a:lumMod val="50000"/>
                  </a:schemeClr>
                </a:solidFill>
                <a:latin typeface="Palatino Linotype" panose="02040502050505030304"/>
                <a:cs typeface="Palatino Linotype" panose="02040502050505030304"/>
              </a:rPr>
              <a:t> </a:t>
            </a:r>
            <a:r>
              <a:rPr sz="1200" dirty="0">
                <a:solidFill>
                  <a:schemeClr val="bg2">
                    <a:lumMod val="50000"/>
                  </a:schemeClr>
                </a:solidFill>
                <a:latin typeface="Palatino Linotype" panose="02040502050505030304"/>
                <a:cs typeface="Palatino Linotype" panose="02040502050505030304"/>
              </a:rPr>
              <a:t>follows</a:t>
            </a:r>
            <a:r>
              <a:rPr sz="1200" spc="-40" dirty="0">
                <a:solidFill>
                  <a:schemeClr val="bg2">
                    <a:lumMod val="50000"/>
                  </a:schemeClr>
                </a:solidFill>
                <a:latin typeface="Palatino Linotype" panose="02040502050505030304"/>
                <a:cs typeface="Palatino Linotype" panose="02040502050505030304"/>
              </a:rPr>
              <a:t> </a:t>
            </a:r>
            <a:r>
              <a:rPr sz="1200" dirty="0">
                <a:solidFill>
                  <a:schemeClr val="bg2">
                    <a:lumMod val="50000"/>
                  </a:schemeClr>
                </a:solidFill>
                <a:latin typeface="Palatino Linotype" panose="02040502050505030304"/>
                <a:cs typeface="Palatino Linotype" panose="02040502050505030304"/>
              </a:rPr>
              <a:t>the</a:t>
            </a:r>
            <a:r>
              <a:rPr sz="1200" spc="-30" dirty="0">
                <a:solidFill>
                  <a:schemeClr val="bg2">
                    <a:lumMod val="50000"/>
                  </a:schemeClr>
                </a:solidFill>
                <a:latin typeface="Palatino Linotype" panose="02040502050505030304"/>
                <a:cs typeface="Palatino Linotype" panose="02040502050505030304"/>
              </a:rPr>
              <a:t> </a:t>
            </a:r>
            <a:r>
              <a:rPr sz="1200" dirty="0">
                <a:solidFill>
                  <a:schemeClr val="bg2">
                    <a:lumMod val="50000"/>
                  </a:schemeClr>
                </a:solidFill>
                <a:latin typeface="Palatino Linotype" panose="02040502050505030304"/>
                <a:cs typeface="Palatino Linotype" panose="02040502050505030304"/>
              </a:rPr>
              <a:t>principle</a:t>
            </a:r>
            <a:r>
              <a:rPr sz="1200" spc="10" dirty="0">
                <a:solidFill>
                  <a:schemeClr val="bg2">
                    <a:lumMod val="50000"/>
                  </a:schemeClr>
                </a:solidFill>
                <a:latin typeface="Palatino Linotype" panose="02040502050505030304"/>
                <a:cs typeface="Palatino Linotype" panose="02040502050505030304"/>
              </a:rPr>
              <a:t> </a:t>
            </a:r>
            <a:r>
              <a:rPr sz="1200" dirty="0">
                <a:solidFill>
                  <a:schemeClr val="bg2">
                    <a:lumMod val="50000"/>
                  </a:schemeClr>
                </a:solidFill>
                <a:latin typeface="Palatino Linotype" panose="02040502050505030304"/>
                <a:cs typeface="Palatino Linotype" panose="02040502050505030304"/>
              </a:rPr>
              <a:t>of</a:t>
            </a:r>
            <a:r>
              <a:rPr sz="1200" spc="-50" dirty="0">
                <a:solidFill>
                  <a:schemeClr val="bg2">
                    <a:lumMod val="50000"/>
                  </a:schemeClr>
                </a:solidFill>
                <a:latin typeface="Palatino Linotype" panose="02040502050505030304"/>
                <a:cs typeface="Palatino Linotype" panose="02040502050505030304"/>
              </a:rPr>
              <a:t> </a:t>
            </a:r>
            <a:r>
              <a:rPr sz="1200" dirty="0">
                <a:solidFill>
                  <a:schemeClr val="bg2">
                    <a:lumMod val="50000"/>
                  </a:schemeClr>
                </a:solidFill>
                <a:latin typeface="Palatino Linotype" panose="02040502050505030304"/>
                <a:cs typeface="Palatino Linotype" panose="02040502050505030304"/>
              </a:rPr>
              <a:t>proximity</a:t>
            </a:r>
            <a:r>
              <a:rPr sz="1200" spc="-25" dirty="0">
                <a:solidFill>
                  <a:schemeClr val="bg2">
                    <a:lumMod val="50000"/>
                  </a:schemeClr>
                </a:solidFill>
                <a:latin typeface="Palatino Linotype" panose="02040502050505030304"/>
                <a:cs typeface="Palatino Linotype" panose="02040502050505030304"/>
              </a:rPr>
              <a:t> </a:t>
            </a:r>
            <a:r>
              <a:rPr sz="1200" dirty="0">
                <a:solidFill>
                  <a:schemeClr val="bg2">
                    <a:lumMod val="50000"/>
                  </a:schemeClr>
                </a:solidFill>
                <a:latin typeface="Palatino Linotype" panose="02040502050505030304"/>
                <a:cs typeface="Palatino Linotype" panose="02040502050505030304"/>
              </a:rPr>
              <a:t>and</a:t>
            </a:r>
            <a:r>
              <a:rPr sz="1200" spc="-25" dirty="0">
                <a:solidFill>
                  <a:schemeClr val="bg2">
                    <a:lumMod val="50000"/>
                  </a:schemeClr>
                </a:solidFill>
                <a:latin typeface="Palatino Linotype" panose="02040502050505030304"/>
                <a:cs typeface="Palatino Linotype" panose="02040502050505030304"/>
              </a:rPr>
              <a:t> </a:t>
            </a:r>
            <a:r>
              <a:rPr sz="1200" dirty="0">
                <a:solidFill>
                  <a:schemeClr val="bg2">
                    <a:lumMod val="50000"/>
                  </a:schemeClr>
                </a:solidFill>
                <a:latin typeface="Palatino Linotype" panose="02040502050505030304"/>
                <a:cs typeface="Palatino Linotype" panose="02040502050505030304"/>
              </a:rPr>
              <a:t>is</a:t>
            </a:r>
            <a:r>
              <a:rPr sz="1200" spc="-20" dirty="0">
                <a:solidFill>
                  <a:schemeClr val="bg2">
                    <a:lumMod val="50000"/>
                  </a:schemeClr>
                </a:solidFill>
                <a:latin typeface="Palatino Linotype" panose="02040502050505030304"/>
                <a:cs typeface="Palatino Linotype" panose="02040502050505030304"/>
              </a:rPr>
              <a:t> </a:t>
            </a:r>
            <a:r>
              <a:rPr sz="1200" dirty="0">
                <a:solidFill>
                  <a:schemeClr val="bg2">
                    <a:lumMod val="50000"/>
                  </a:schemeClr>
                </a:solidFill>
                <a:latin typeface="Palatino Linotype" panose="02040502050505030304"/>
                <a:cs typeface="Palatino Linotype" panose="02040502050505030304"/>
              </a:rPr>
              <a:t>mainly</a:t>
            </a:r>
            <a:r>
              <a:rPr sz="1200" spc="-20" dirty="0">
                <a:solidFill>
                  <a:schemeClr val="bg2">
                    <a:lumMod val="50000"/>
                  </a:schemeClr>
                </a:solidFill>
                <a:latin typeface="Palatino Linotype" panose="02040502050505030304"/>
                <a:cs typeface="Palatino Linotype" panose="02040502050505030304"/>
              </a:rPr>
              <a:t> </a:t>
            </a:r>
            <a:r>
              <a:rPr sz="1200" dirty="0">
                <a:solidFill>
                  <a:schemeClr val="bg2">
                    <a:lumMod val="50000"/>
                  </a:schemeClr>
                </a:solidFill>
                <a:latin typeface="Palatino Linotype" panose="02040502050505030304"/>
                <a:cs typeface="Palatino Linotype" panose="02040502050505030304"/>
              </a:rPr>
              <a:t>for</a:t>
            </a:r>
            <a:r>
              <a:rPr sz="1200" spc="-45" dirty="0">
                <a:solidFill>
                  <a:schemeClr val="bg2">
                    <a:lumMod val="50000"/>
                  </a:schemeClr>
                </a:solidFill>
                <a:latin typeface="Palatino Linotype" panose="02040502050505030304"/>
                <a:cs typeface="Palatino Linotype" panose="02040502050505030304"/>
              </a:rPr>
              <a:t> </a:t>
            </a:r>
            <a:r>
              <a:rPr sz="1200" dirty="0">
                <a:solidFill>
                  <a:schemeClr val="bg2">
                    <a:lumMod val="50000"/>
                  </a:schemeClr>
                </a:solidFill>
                <a:latin typeface="Palatino Linotype" panose="02040502050505030304"/>
                <a:cs typeface="Palatino Linotype" panose="02040502050505030304"/>
              </a:rPr>
              <a:t>performance</a:t>
            </a:r>
            <a:r>
              <a:rPr sz="1200" spc="-20" dirty="0">
                <a:solidFill>
                  <a:schemeClr val="bg2">
                    <a:lumMod val="50000"/>
                  </a:schemeClr>
                </a:solidFill>
                <a:latin typeface="Palatino Linotype" panose="02040502050505030304"/>
                <a:cs typeface="Palatino Linotype" panose="02040502050505030304"/>
              </a:rPr>
              <a:t> </a:t>
            </a:r>
            <a:r>
              <a:rPr sz="1200" spc="-10" dirty="0">
                <a:solidFill>
                  <a:schemeClr val="bg2">
                    <a:lumMod val="50000"/>
                  </a:schemeClr>
                </a:solidFill>
                <a:latin typeface="Palatino Linotype" panose="02040502050505030304"/>
                <a:cs typeface="Palatino Linotype" panose="02040502050505030304"/>
              </a:rPr>
              <a:t>considerations.</a:t>
            </a:r>
            <a:endParaRPr sz="1200" dirty="0">
              <a:solidFill>
                <a:schemeClr val="bg2">
                  <a:lumMod val="50000"/>
                </a:schemeClr>
              </a:solidFill>
              <a:latin typeface="Palatino Linotype" panose="02040502050505030304"/>
              <a:cs typeface="Palatino Linotype" panose="020405020505050303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36</a:t>
            </a:fld>
            <a:endParaRPr lang="en-US"/>
          </a:p>
        </p:txBody>
      </p:sp>
      <p:sp>
        <p:nvSpPr>
          <p:cNvPr id="15" name="object 2"/>
          <p:cNvSpPr txBox="1"/>
          <p:nvPr/>
        </p:nvSpPr>
        <p:spPr>
          <a:xfrm>
            <a:off x="968755" y="427990"/>
            <a:ext cx="7209790" cy="1123315"/>
          </a:xfrm>
          <a:prstGeom prst="rect">
            <a:avLst/>
          </a:prstGeom>
        </p:spPr>
        <p:txBody>
          <a:bodyPr vert="horz" wrap="square" lIns="0" tIns="12700"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2216150" marR="5080" lvl="0" indent="-2204085" defTabSz="914400" eaLnBrk="1" fontAlgn="auto" latinLnBrk="0" hangingPunct="1">
              <a:lnSpc>
                <a:spcPct val="100000"/>
              </a:lnSpc>
              <a:spcBef>
                <a:spcPts val="100"/>
              </a:spcBef>
              <a:spcAft>
                <a:spcPts val="0"/>
              </a:spcAft>
              <a:buClrTx/>
              <a:buSzTx/>
              <a:buFontTx/>
              <a:buNone/>
              <a:defRPr/>
            </a:pPr>
            <a:r>
              <a:rPr kumimoji="0" lang="en-US" sz="3600" b="1" i="0" u="none" strike="noStrike" kern="0" cap="none" spc="0" normalizeH="0" baseline="0" noProof="0">
                <a:ln>
                  <a:noFill/>
                </a:ln>
                <a:solidFill>
                  <a:srgbClr val="000000"/>
                </a:solidFill>
                <a:effectLst/>
                <a:uLnTx/>
                <a:uFillTx/>
                <a:latin typeface="Palatino Linotype" panose="02040502050505030304"/>
                <a:ea typeface="+mj-ea"/>
              </a:rPr>
              <a:t>An</a:t>
            </a:r>
            <a:r>
              <a:rPr kumimoji="0" lang="en-US" sz="3600" b="1" i="0" u="none" strike="noStrike" kern="0" cap="none" spc="-80" normalizeH="0" baseline="0" noProof="0">
                <a:ln>
                  <a:noFill/>
                </a:ln>
                <a:solidFill>
                  <a:srgbClr val="000000"/>
                </a:solidFill>
                <a:effectLst/>
                <a:uLnTx/>
                <a:uFillTx/>
                <a:latin typeface="Palatino Linotype" panose="02040502050505030304"/>
                <a:ea typeface="+mj-ea"/>
              </a:rPr>
              <a:t> </a:t>
            </a:r>
            <a:r>
              <a:rPr kumimoji="0" lang="en-US" sz="3600" b="1" i="0" u="none" strike="noStrike" kern="0" cap="none" spc="0" normalizeH="0" baseline="0" noProof="0">
                <a:ln>
                  <a:noFill/>
                </a:ln>
                <a:solidFill>
                  <a:srgbClr val="000000"/>
                </a:solidFill>
                <a:effectLst/>
                <a:uLnTx/>
                <a:uFillTx/>
                <a:latin typeface="Palatino Linotype" panose="02040502050505030304"/>
                <a:ea typeface="+mj-ea"/>
              </a:rPr>
              <a:t>SDT</a:t>
            </a:r>
            <a:r>
              <a:rPr kumimoji="0" lang="en-US" sz="3600" b="1" i="0" u="none" strike="noStrike" kern="0" cap="none" spc="-80" normalizeH="0" baseline="0" noProof="0">
                <a:ln>
                  <a:noFill/>
                </a:ln>
                <a:solidFill>
                  <a:srgbClr val="000000"/>
                </a:solidFill>
                <a:effectLst/>
                <a:uLnTx/>
                <a:uFillTx/>
                <a:latin typeface="Palatino Linotype" panose="02040502050505030304"/>
                <a:ea typeface="+mj-ea"/>
              </a:rPr>
              <a:t> </a:t>
            </a:r>
            <a:r>
              <a:rPr kumimoji="0" lang="en-US" sz="3600" b="1" i="0" u="none" strike="noStrike" kern="0" cap="none" spc="0" normalizeH="0" baseline="0" noProof="0">
                <a:ln>
                  <a:noFill/>
                </a:ln>
                <a:solidFill>
                  <a:srgbClr val="000000"/>
                </a:solidFill>
                <a:effectLst/>
                <a:uLnTx/>
                <a:uFillTx/>
                <a:latin typeface="Palatino Linotype" panose="02040502050505030304"/>
                <a:ea typeface="+mj-ea"/>
              </a:rPr>
              <a:t>for</a:t>
            </a:r>
            <a:r>
              <a:rPr kumimoji="0" lang="en-US" sz="3600" b="1" i="0" u="none" strike="noStrike" kern="0" cap="none" spc="-80" normalizeH="0" baseline="0" noProof="0">
                <a:ln>
                  <a:noFill/>
                </a:ln>
                <a:solidFill>
                  <a:srgbClr val="000000"/>
                </a:solidFill>
                <a:effectLst/>
                <a:uLnTx/>
                <a:uFillTx/>
                <a:latin typeface="Palatino Linotype" panose="02040502050505030304"/>
                <a:ea typeface="+mj-ea"/>
              </a:rPr>
              <a:t> </a:t>
            </a:r>
            <a:r>
              <a:rPr kumimoji="0" lang="en-US" sz="3600" b="1" i="0" u="none" strike="noStrike" kern="0" cap="none" spc="0" normalizeH="0" baseline="0" noProof="0">
                <a:ln>
                  <a:noFill/>
                </a:ln>
                <a:solidFill>
                  <a:srgbClr val="000000"/>
                </a:solidFill>
                <a:effectLst/>
                <a:uLnTx/>
                <a:uFillTx/>
                <a:latin typeface="Palatino Linotype" panose="02040502050505030304"/>
                <a:ea typeface="+mj-ea"/>
              </a:rPr>
              <a:t>Computing</a:t>
            </a:r>
            <a:r>
              <a:rPr kumimoji="0" lang="en-US" sz="3600" b="1" i="0" u="none" strike="noStrike" kern="0" cap="none" spc="-80" normalizeH="0" baseline="0" noProof="0">
                <a:ln>
                  <a:noFill/>
                </a:ln>
                <a:solidFill>
                  <a:srgbClr val="000000"/>
                </a:solidFill>
                <a:effectLst/>
                <a:uLnTx/>
                <a:uFillTx/>
                <a:latin typeface="Palatino Linotype" panose="02040502050505030304"/>
                <a:ea typeface="+mj-ea"/>
              </a:rPr>
              <a:t> </a:t>
            </a:r>
            <a:r>
              <a:rPr kumimoji="0" lang="en-US" sz="3600" b="1" i="0" u="none" strike="noStrike" kern="0" cap="none" spc="-55" normalizeH="0" baseline="0" noProof="0">
                <a:ln>
                  <a:noFill/>
                </a:ln>
                <a:solidFill>
                  <a:srgbClr val="000000"/>
                </a:solidFill>
                <a:effectLst/>
                <a:uLnTx/>
                <a:uFillTx/>
                <a:latin typeface="Palatino Linotype" panose="02040502050505030304"/>
                <a:ea typeface="+mj-ea"/>
              </a:rPr>
              <a:t>Types</a:t>
            </a:r>
            <a:r>
              <a:rPr kumimoji="0" lang="en-US" sz="3600" b="1" i="0" u="none" strike="noStrike" kern="0" cap="none" spc="-75" normalizeH="0" baseline="0" noProof="0">
                <a:ln>
                  <a:noFill/>
                </a:ln>
                <a:solidFill>
                  <a:srgbClr val="000000"/>
                </a:solidFill>
                <a:effectLst/>
                <a:uLnTx/>
                <a:uFillTx/>
                <a:latin typeface="Palatino Linotype" panose="02040502050505030304"/>
                <a:ea typeface="+mj-ea"/>
              </a:rPr>
              <a:t> </a:t>
            </a:r>
            <a:r>
              <a:rPr kumimoji="0" lang="en-US" sz="3600" b="1" i="0" u="none" strike="noStrike" kern="0" cap="none" spc="-25" normalizeH="0" baseline="0" noProof="0">
                <a:ln>
                  <a:noFill/>
                </a:ln>
                <a:solidFill>
                  <a:srgbClr val="000000"/>
                </a:solidFill>
                <a:effectLst/>
                <a:uLnTx/>
                <a:uFillTx/>
                <a:latin typeface="Palatino Linotype" panose="02040502050505030304"/>
                <a:ea typeface="+mj-ea"/>
              </a:rPr>
              <a:t>and </a:t>
            </a:r>
            <a:r>
              <a:rPr kumimoji="0" lang="en-US" sz="3600" b="1" i="0" u="none" strike="noStrike" kern="0" cap="none" spc="0" normalizeH="0" baseline="0" noProof="0">
                <a:ln>
                  <a:noFill/>
                </a:ln>
                <a:solidFill>
                  <a:srgbClr val="000000"/>
                </a:solidFill>
                <a:effectLst/>
                <a:uLnTx/>
                <a:uFillTx/>
                <a:latin typeface="Palatino Linotype" panose="02040502050505030304"/>
                <a:ea typeface="+mj-ea"/>
              </a:rPr>
              <a:t>Their</a:t>
            </a:r>
            <a:r>
              <a:rPr kumimoji="0" lang="en-US" sz="3600" b="1" i="0" u="none" strike="noStrike" kern="0" cap="none" spc="-20" normalizeH="0" baseline="0" noProof="0">
                <a:ln>
                  <a:noFill/>
                </a:ln>
                <a:solidFill>
                  <a:srgbClr val="000000"/>
                </a:solidFill>
                <a:effectLst/>
                <a:uLnTx/>
                <a:uFillTx/>
                <a:latin typeface="Palatino Linotype" panose="02040502050505030304"/>
                <a:ea typeface="+mj-ea"/>
              </a:rPr>
              <a:t> </a:t>
            </a:r>
            <a:r>
              <a:rPr kumimoji="0" lang="en-US" sz="3600" b="1" i="0" u="none" strike="noStrike" kern="0" cap="none" spc="-10" normalizeH="0" baseline="0" noProof="0">
                <a:ln>
                  <a:noFill/>
                </a:ln>
                <a:solidFill>
                  <a:srgbClr val="000000"/>
                </a:solidFill>
                <a:effectLst/>
                <a:uLnTx/>
                <a:uFillTx/>
                <a:latin typeface="Palatino Linotype" panose="02040502050505030304"/>
                <a:ea typeface="+mj-ea"/>
              </a:rPr>
              <a:t>Widths</a:t>
            </a:r>
            <a:endParaRPr kumimoji="0" lang="en-US" sz="3600" b="1" i="0" u="none" strike="noStrike" kern="0" cap="none" spc="0" normalizeH="0" baseline="0" noProof="0">
              <a:ln>
                <a:noFill/>
              </a:ln>
              <a:solidFill>
                <a:srgbClr val="A6A6A6"/>
              </a:solidFill>
              <a:effectLst/>
              <a:uLnTx/>
              <a:uFillTx/>
              <a:latin typeface="Palatino Linotype" panose="02040502050505030304"/>
              <a:ea typeface="+mj-ea"/>
            </a:endParaRPr>
          </a:p>
        </p:txBody>
      </p:sp>
      <p:sp>
        <p:nvSpPr>
          <p:cNvPr id="16" name="object 3"/>
          <p:cNvSpPr txBox="1"/>
          <p:nvPr/>
        </p:nvSpPr>
        <p:spPr>
          <a:xfrm>
            <a:off x="707542" y="1810638"/>
            <a:ext cx="7751445" cy="1591945"/>
          </a:xfrm>
          <a:prstGeom prst="rect">
            <a:avLst/>
          </a:prstGeom>
        </p:spPr>
        <p:txBody>
          <a:bodyPr vert="horz" wrap="square" lIns="0" tIns="13335" rIns="0" bIns="0" rtlCol="0">
            <a:spAutoFit/>
          </a:bodyPr>
          <a:lstStyle/>
          <a:p>
            <a:pPr marL="242570" indent="-229870">
              <a:spcBef>
                <a:spcPts val="105"/>
              </a:spcBef>
              <a:buClr>
                <a:srgbClr val="000000"/>
              </a:buClr>
              <a:buFont typeface="Arial MT"/>
              <a:buChar char="•"/>
              <a:tabLst>
                <a:tab pos="242570" algn="l"/>
              </a:tabLst>
            </a:pPr>
            <a:r>
              <a:rPr sz="2000" dirty="0">
                <a:solidFill>
                  <a:srgbClr val="FF0000"/>
                </a:solidFill>
                <a:latin typeface="Palatino Linotype" panose="02040502050505030304"/>
                <a:cs typeface="Palatino Linotype" panose="02040502050505030304"/>
              </a:rPr>
              <a:t>Synthesized</a:t>
            </a:r>
            <a:r>
              <a:rPr sz="2000" spc="-30" dirty="0">
                <a:solidFill>
                  <a:srgbClr val="FF0000"/>
                </a:solidFill>
                <a:latin typeface="Palatino Linotype" panose="02040502050505030304"/>
                <a:cs typeface="Palatino Linotype" panose="02040502050505030304"/>
              </a:rPr>
              <a:t> </a:t>
            </a:r>
            <a:r>
              <a:rPr sz="2000" dirty="0">
                <a:solidFill>
                  <a:srgbClr val="FF0000"/>
                </a:solidFill>
                <a:latin typeface="Palatino Linotype" panose="02040502050505030304"/>
                <a:cs typeface="Palatino Linotype" panose="02040502050505030304"/>
              </a:rPr>
              <a:t>attributes</a:t>
            </a:r>
            <a:r>
              <a:rPr sz="2000" dirty="0">
                <a:solidFill>
                  <a:sysClr val="windowText" lastClr="000000"/>
                </a:solidFill>
                <a:latin typeface="Palatino Linotype" panose="02040502050505030304"/>
                <a:cs typeface="Palatino Linotype" panose="02040502050505030304"/>
              </a:rPr>
              <a:t>:</a:t>
            </a:r>
            <a:r>
              <a:rPr sz="2000" spc="-5" dirty="0">
                <a:solidFill>
                  <a:sysClr val="windowText" lastClr="000000"/>
                </a:solidFill>
                <a:latin typeface="Palatino Linotype" panose="02040502050505030304"/>
                <a:cs typeface="Palatino Linotype" panose="02040502050505030304"/>
              </a:rPr>
              <a:t> </a:t>
            </a:r>
            <a:r>
              <a:rPr sz="2000" i="1" dirty="0">
                <a:solidFill>
                  <a:sysClr val="windowText" lastClr="000000"/>
                </a:solidFill>
                <a:latin typeface="Palatino Linotype" panose="02040502050505030304"/>
                <a:cs typeface="Palatino Linotype" panose="02040502050505030304"/>
              </a:rPr>
              <a:t>type</a:t>
            </a:r>
            <a:r>
              <a:rPr sz="2000" dirty="0">
                <a:solidFill>
                  <a:sysClr val="windowText" lastClr="000000"/>
                </a:solidFill>
                <a:latin typeface="Palatino Linotype" panose="02040502050505030304"/>
                <a:cs typeface="Palatino Linotype" panose="02040502050505030304"/>
              </a:rPr>
              <a:t>,</a:t>
            </a:r>
            <a:r>
              <a:rPr sz="2000" spc="-35" dirty="0">
                <a:solidFill>
                  <a:sysClr val="windowText" lastClr="000000"/>
                </a:solidFill>
                <a:latin typeface="Palatino Linotype" panose="02040502050505030304"/>
                <a:cs typeface="Palatino Linotype" panose="02040502050505030304"/>
              </a:rPr>
              <a:t> </a:t>
            </a:r>
            <a:r>
              <a:rPr sz="2000" i="1" spc="-10" dirty="0">
                <a:solidFill>
                  <a:sysClr val="windowText" lastClr="000000"/>
                </a:solidFill>
                <a:latin typeface="Palatino Linotype" panose="02040502050505030304"/>
                <a:cs typeface="Palatino Linotype" panose="02040502050505030304"/>
              </a:rPr>
              <a:t>width</a:t>
            </a:r>
            <a:endParaRPr sz="2000">
              <a:solidFill>
                <a:sysClr val="windowText" lastClr="000000"/>
              </a:solidFill>
              <a:latin typeface="Palatino Linotype" panose="02040502050505030304"/>
              <a:cs typeface="Palatino Linotype" panose="02040502050505030304"/>
            </a:endParaRPr>
          </a:p>
          <a:p>
            <a:pPr marL="242570" indent="-229870">
              <a:spcBef>
                <a:spcPts val="1680"/>
              </a:spcBef>
              <a:buFont typeface="Arial MT"/>
              <a:buChar char="•"/>
              <a:tabLst>
                <a:tab pos="242570" algn="l"/>
              </a:tabLst>
            </a:pPr>
            <a:r>
              <a:rPr sz="2000" dirty="0">
                <a:solidFill>
                  <a:sysClr val="windowText" lastClr="000000"/>
                </a:solidFill>
                <a:latin typeface="Palatino Linotype" panose="02040502050505030304"/>
                <a:cs typeface="Palatino Linotype" panose="02040502050505030304"/>
              </a:rPr>
              <a:t>Global</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variables</a:t>
            </a:r>
            <a:r>
              <a:rPr sz="2000" spc="-30" dirty="0">
                <a:solidFill>
                  <a:sysClr val="windowText" lastClr="000000"/>
                </a:solidFill>
                <a:latin typeface="Palatino Linotype" panose="02040502050505030304"/>
                <a:cs typeface="Palatino Linotype" panose="02040502050505030304"/>
              </a:rPr>
              <a:t> </a:t>
            </a:r>
            <a:r>
              <a:rPr sz="2000" i="1" dirty="0">
                <a:solidFill>
                  <a:sysClr val="windowText" lastClr="000000"/>
                </a:solidFill>
                <a:latin typeface="Palatino Linotype" panose="02040502050505030304"/>
                <a:cs typeface="Palatino Linotype" panose="02040502050505030304"/>
              </a:rPr>
              <a:t>t</a:t>
            </a:r>
            <a:r>
              <a:rPr sz="2000" i="1"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and</a:t>
            </a:r>
            <a:r>
              <a:rPr sz="2000" spc="-25" dirty="0">
                <a:solidFill>
                  <a:sysClr val="windowText" lastClr="000000"/>
                </a:solidFill>
                <a:latin typeface="Palatino Linotype" panose="02040502050505030304"/>
                <a:cs typeface="Palatino Linotype" panose="02040502050505030304"/>
              </a:rPr>
              <a:t> </a:t>
            </a:r>
            <a:r>
              <a:rPr sz="2000" i="1" dirty="0">
                <a:solidFill>
                  <a:sysClr val="windowText" lastClr="000000"/>
                </a:solidFill>
                <a:latin typeface="Palatino Linotype" panose="02040502050505030304"/>
                <a:cs typeface="Palatino Linotype" panose="02040502050505030304"/>
              </a:rPr>
              <a:t>w</a:t>
            </a:r>
            <a:r>
              <a:rPr sz="2000" i="1"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pass</a:t>
            </a:r>
            <a:r>
              <a:rPr sz="2000" spc="-3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type</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and</a:t>
            </a:r>
            <a:r>
              <a:rPr sz="2000" spc="-3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width</a:t>
            </a:r>
            <a:r>
              <a:rPr sz="2000" spc="-3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information</a:t>
            </a:r>
            <a:r>
              <a:rPr sz="2000" spc="-5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from</a:t>
            </a:r>
            <a:r>
              <a:rPr sz="2000" spc="-4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a:t>
            </a:r>
            <a:r>
              <a:rPr sz="2000" spc="-15" dirty="0">
                <a:solidFill>
                  <a:sysClr val="windowText" lastClr="000000"/>
                </a:solidFill>
                <a:latin typeface="Palatino Linotype" panose="02040502050505030304"/>
                <a:cs typeface="Palatino Linotype" panose="02040502050505030304"/>
              </a:rPr>
              <a:t> </a:t>
            </a:r>
            <a:r>
              <a:rPr sz="2000" spc="-50" dirty="0">
                <a:solidFill>
                  <a:sysClr val="windowText" lastClr="000000"/>
                </a:solidFill>
                <a:latin typeface="Cambria Math" panose="02040503050406030204"/>
                <a:cs typeface="Cambria Math" panose="02040503050406030204"/>
              </a:rPr>
              <a:t>𝐵</a:t>
            </a:r>
            <a:endParaRPr sz="2000">
              <a:solidFill>
                <a:sysClr val="windowText" lastClr="000000"/>
              </a:solidFill>
              <a:latin typeface="Cambria Math" panose="02040503050406030204"/>
              <a:cs typeface="Cambria Math" panose="02040503050406030204"/>
            </a:endParaRPr>
          </a:p>
          <a:p>
            <a:pPr marL="242570">
              <a:spcBef>
                <a:spcPts val="480"/>
              </a:spcBef>
            </a:pPr>
            <a:r>
              <a:rPr sz="2000" dirty="0">
                <a:solidFill>
                  <a:sysClr val="windowText" lastClr="000000"/>
                </a:solidFill>
                <a:latin typeface="Palatino Linotype" panose="02040502050505030304"/>
                <a:cs typeface="Palatino Linotype" panose="02040502050505030304"/>
              </a:rPr>
              <a:t>node</a:t>
            </a:r>
            <a:r>
              <a:rPr sz="2000" spc="-3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in</a:t>
            </a:r>
            <a:r>
              <a:rPr sz="2000" spc="-1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parse</a:t>
            </a:r>
            <a:r>
              <a:rPr sz="2000" spc="-1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tree</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to</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the</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node</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for</a:t>
            </a:r>
            <a:r>
              <a:rPr sz="2000" spc="-3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the</a:t>
            </a:r>
            <a:r>
              <a:rPr sz="2000" spc="-1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production</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Cambria Math" panose="02040503050406030204"/>
                <a:cs typeface="Cambria Math" panose="02040503050406030204"/>
              </a:rPr>
              <a:t>𝐶</a:t>
            </a:r>
            <a:r>
              <a:rPr sz="2000" spc="175" dirty="0">
                <a:solidFill>
                  <a:sysClr val="windowText" lastClr="000000"/>
                </a:solidFill>
                <a:latin typeface="Cambria Math" panose="02040503050406030204"/>
                <a:cs typeface="Cambria Math" panose="02040503050406030204"/>
              </a:rPr>
              <a:t> </a:t>
            </a:r>
            <a:r>
              <a:rPr sz="2000" dirty="0">
                <a:solidFill>
                  <a:sysClr val="windowText" lastClr="000000"/>
                </a:solidFill>
                <a:latin typeface="Cambria Math" panose="02040503050406030204"/>
                <a:cs typeface="Cambria Math" panose="02040503050406030204"/>
              </a:rPr>
              <a:t>→</a:t>
            </a:r>
            <a:r>
              <a:rPr sz="2000" spc="100" dirty="0">
                <a:solidFill>
                  <a:sysClr val="windowText" lastClr="000000"/>
                </a:solidFill>
                <a:latin typeface="Cambria Math" panose="02040503050406030204"/>
                <a:cs typeface="Cambria Math" panose="02040503050406030204"/>
              </a:rPr>
              <a:t> </a:t>
            </a:r>
            <a:r>
              <a:rPr sz="2000" spc="-50" dirty="0">
                <a:solidFill>
                  <a:sysClr val="windowText" lastClr="000000"/>
                </a:solidFill>
                <a:latin typeface="Cambria Math" panose="02040503050406030204"/>
                <a:cs typeface="Cambria Math" panose="02040503050406030204"/>
              </a:rPr>
              <a:t>𝜖</a:t>
            </a:r>
            <a:endParaRPr sz="2000">
              <a:solidFill>
                <a:sysClr val="windowText" lastClr="000000"/>
              </a:solidFill>
              <a:latin typeface="Cambria Math" panose="02040503050406030204"/>
              <a:cs typeface="Cambria Math" panose="02040503050406030204"/>
            </a:endParaRPr>
          </a:p>
          <a:p>
            <a:pPr marL="697865" lvl="1" indent="-227965">
              <a:spcBef>
                <a:spcPts val="1050"/>
              </a:spcBef>
              <a:buFont typeface="Wingdings" panose="05000000000000000000"/>
              <a:buChar char=""/>
              <a:tabLst>
                <a:tab pos="697865" algn="l"/>
              </a:tabLst>
            </a:pPr>
            <a:r>
              <a:rPr sz="1600" dirty="0">
                <a:solidFill>
                  <a:sysClr val="windowText" lastClr="000000"/>
                </a:solidFill>
                <a:latin typeface="Palatino Linotype" panose="02040502050505030304"/>
                <a:cs typeface="Palatino Linotype" panose="02040502050505030304"/>
              </a:rPr>
              <a:t>In</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an</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SDD,</a:t>
            </a:r>
            <a:r>
              <a:rPr sz="1600" spc="-25" dirty="0">
                <a:solidFill>
                  <a:sysClr val="windowText" lastClr="000000"/>
                </a:solidFill>
                <a:latin typeface="Palatino Linotype" panose="02040502050505030304"/>
                <a:cs typeface="Palatino Linotype" panose="02040502050505030304"/>
              </a:rPr>
              <a:t> </a:t>
            </a:r>
            <a:r>
              <a:rPr sz="1600" i="1" dirty="0">
                <a:solidFill>
                  <a:sysClr val="windowText" lastClr="000000"/>
                </a:solidFill>
                <a:latin typeface="Palatino Linotype" panose="02040502050505030304"/>
                <a:cs typeface="Palatino Linotype" panose="02040502050505030304"/>
              </a:rPr>
              <a:t>t</a:t>
            </a:r>
            <a:r>
              <a:rPr sz="1600" i="1"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and</a:t>
            </a:r>
            <a:r>
              <a:rPr sz="1600" spc="-20" dirty="0">
                <a:solidFill>
                  <a:sysClr val="windowText" lastClr="000000"/>
                </a:solidFill>
                <a:latin typeface="Palatino Linotype" panose="02040502050505030304"/>
                <a:cs typeface="Palatino Linotype" panose="02040502050505030304"/>
              </a:rPr>
              <a:t> </a:t>
            </a:r>
            <a:r>
              <a:rPr sz="1600" i="1" dirty="0">
                <a:solidFill>
                  <a:sysClr val="windowText" lastClr="000000"/>
                </a:solidFill>
                <a:latin typeface="Palatino Linotype" panose="02040502050505030304"/>
                <a:cs typeface="Palatino Linotype" panose="02040502050505030304"/>
              </a:rPr>
              <a:t>w</a:t>
            </a:r>
            <a:r>
              <a:rPr sz="1600" i="1"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would</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be</a:t>
            </a:r>
            <a:r>
              <a:rPr sz="1600" spc="-35"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Cambria Math" panose="02040503050406030204"/>
                <a:cs typeface="Cambria Math" panose="02040503050406030204"/>
              </a:rPr>
              <a:t>𝐶</a:t>
            </a:r>
            <a:r>
              <a:rPr sz="1600" spc="-10" dirty="0">
                <a:solidFill>
                  <a:sysClr val="windowText" lastClr="000000"/>
                </a:solidFill>
                <a:latin typeface="Palatino Linotype" panose="02040502050505030304"/>
                <a:cs typeface="Palatino Linotype" panose="02040502050505030304"/>
              </a:rPr>
              <a:t>’s</a:t>
            </a:r>
            <a:r>
              <a:rPr sz="1600" spc="-35" dirty="0">
                <a:solidFill>
                  <a:sysClr val="windowText" lastClr="00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inherited</a:t>
            </a:r>
            <a:r>
              <a:rPr sz="1600" spc="-25"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attributes</a:t>
            </a:r>
            <a:r>
              <a:rPr sz="1600" spc="-10" dirty="0">
                <a:solidFill>
                  <a:srgbClr val="FF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a:t>
            </a:r>
            <a:r>
              <a:rPr sz="1600" spc="-1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SDD</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is</a:t>
            </a:r>
            <a:r>
              <a:rPr sz="1600" spc="-30" dirty="0">
                <a:solidFill>
                  <a:sysClr val="windowText" lastClr="000000"/>
                </a:solidFill>
                <a:latin typeface="Palatino Linotype" panose="02040502050505030304"/>
                <a:cs typeface="Palatino Linotype" panose="02040502050505030304"/>
              </a:rPr>
              <a:t> </a:t>
            </a:r>
            <a:r>
              <a:rPr sz="1600" spc="-20" dirty="0">
                <a:solidFill>
                  <a:sysClr val="windowText" lastClr="000000"/>
                </a:solidFill>
                <a:latin typeface="Palatino Linotype" panose="02040502050505030304"/>
                <a:cs typeface="Palatino Linotype" panose="02040502050505030304"/>
              </a:rPr>
              <a:t>L-</a:t>
            </a:r>
            <a:r>
              <a:rPr sz="1600" spc="-10" dirty="0">
                <a:solidFill>
                  <a:sysClr val="windowText" lastClr="000000"/>
                </a:solidFill>
                <a:latin typeface="Palatino Linotype" panose="02040502050505030304"/>
                <a:cs typeface="Palatino Linotype" panose="02040502050505030304"/>
              </a:rPr>
              <a:t>attributed)*</a:t>
            </a:r>
            <a:endParaRPr sz="1600">
              <a:solidFill>
                <a:sysClr val="windowText" lastClr="000000"/>
              </a:solidFill>
              <a:latin typeface="Palatino Linotype" panose="02040502050505030304"/>
              <a:cs typeface="Palatino Linotype" panose="02040502050505030304"/>
            </a:endParaRPr>
          </a:p>
        </p:txBody>
      </p:sp>
      <p:grpSp>
        <p:nvGrpSpPr>
          <p:cNvPr id="17" name="object 4"/>
          <p:cNvGrpSpPr/>
          <p:nvPr/>
        </p:nvGrpSpPr>
        <p:grpSpPr>
          <a:xfrm>
            <a:off x="1926247" y="3580384"/>
            <a:ext cx="6116320" cy="2461260"/>
            <a:chOff x="1926247" y="3580384"/>
            <a:chExt cx="6116320" cy="2461260"/>
          </a:xfrm>
        </p:grpSpPr>
        <p:pic>
          <p:nvPicPr>
            <p:cNvPr id="18" name="object 5"/>
            <p:cNvPicPr/>
            <p:nvPr/>
          </p:nvPicPr>
          <p:blipFill>
            <a:blip r:embed="rId3" cstate="print"/>
            <a:stretch>
              <a:fillRect/>
            </a:stretch>
          </p:blipFill>
          <p:spPr>
            <a:xfrm>
              <a:off x="1926247" y="3733075"/>
              <a:ext cx="5300200" cy="2308335"/>
            </a:xfrm>
            <a:prstGeom prst="rect">
              <a:avLst/>
            </a:prstGeom>
          </p:spPr>
        </p:pic>
        <p:sp>
          <p:nvSpPr>
            <p:cNvPr id="19" name="object 6"/>
            <p:cNvSpPr/>
            <p:nvPr/>
          </p:nvSpPr>
          <p:spPr>
            <a:xfrm>
              <a:off x="4038600" y="3810000"/>
              <a:ext cx="1007744" cy="1541145"/>
            </a:xfrm>
            <a:custGeom>
              <a:avLst/>
              <a:gdLst/>
              <a:ahLst/>
              <a:cxnLst/>
              <a:rect l="l" t="t" r="r" b="b"/>
              <a:pathLst>
                <a:path w="1007745" h="1541145">
                  <a:moveTo>
                    <a:pt x="0" y="148589"/>
                  </a:moveTo>
                  <a:lnTo>
                    <a:pt x="7310" y="90761"/>
                  </a:lnTo>
                  <a:lnTo>
                    <a:pt x="27241" y="43529"/>
                  </a:lnTo>
                  <a:lnTo>
                    <a:pt x="56792" y="11680"/>
                  </a:lnTo>
                  <a:lnTo>
                    <a:pt x="92963" y="0"/>
                  </a:lnTo>
                  <a:lnTo>
                    <a:pt x="129135" y="11680"/>
                  </a:lnTo>
                  <a:lnTo>
                    <a:pt x="158686" y="43529"/>
                  </a:lnTo>
                  <a:lnTo>
                    <a:pt x="178617" y="90761"/>
                  </a:lnTo>
                  <a:lnTo>
                    <a:pt x="185927" y="148589"/>
                  </a:lnTo>
                  <a:lnTo>
                    <a:pt x="178617" y="206418"/>
                  </a:lnTo>
                  <a:lnTo>
                    <a:pt x="158686" y="253650"/>
                  </a:lnTo>
                  <a:lnTo>
                    <a:pt x="129135" y="285499"/>
                  </a:lnTo>
                  <a:lnTo>
                    <a:pt x="92963" y="297180"/>
                  </a:lnTo>
                  <a:lnTo>
                    <a:pt x="56792" y="285499"/>
                  </a:lnTo>
                  <a:lnTo>
                    <a:pt x="27241" y="253650"/>
                  </a:lnTo>
                  <a:lnTo>
                    <a:pt x="7310" y="206418"/>
                  </a:lnTo>
                  <a:lnTo>
                    <a:pt x="0" y="148589"/>
                  </a:lnTo>
                  <a:close/>
                </a:path>
                <a:path w="1007745" h="1541145">
                  <a:moveTo>
                    <a:pt x="0" y="1540764"/>
                  </a:moveTo>
                  <a:lnTo>
                    <a:pt x="1007363" y="1540764"/>
                  </a:lnTo>
                  <a:lnTo>
                    <a:pt x="1007363" y="1278636"/>
                  </a:lnTo>
                  <a:lnTo>
                    <a:pt x="0" y="1278636"/>
                  </a:lnTo>
                  <a:lnTo>
                    <a:pt x="0" y="1540764"/>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20" name="object 7"/>
            <p:cNvSpPr/>
            <p:nvPr/>
          </p:nvSpPr>
          <p:spPr>
            <a:xfrm>
              <a:off x="3816478" y="3953002"/>
              <a:ext cx="235585" cy="1268095"/>
            </a:xfrm>
            <a:custGeom>
              <a:avLst/>
              <a:gdLst/>
              <a:ahLst/>
              <a:cxnLst/>
              <a:rect l="l" t="t" r="r" b="b"/>
              <a:pathLst>
                <a:path w="235585" h="1268095">
                  <a:moveTo>
                    <a:pt x="153451" y="1234459"/>
                  </a:moveTo>
                  <a:lnTo>
                    <a:pt x="137031" y="1263015"/>
                  </a:lnTo>
                  <a:lnTo>
                    <a:pt x="222121" y="1267968"/>
                  </a:lnTo>
                  <a:lnTo>
                    <a:pt x="204505" y="1241425"/>
                  </a:lnTo>
                  <a:lnTo>
                    <a:pt x="163447" y="1241425"/>
                  </a:lnTo>
                  <a:lnTo>
                    <a:pt x="153451" y="1234459"/>
                  </a:lnTo>
                  <a:close/>
                </a:path>
                <a:path w="235585" h="1268095">
                  <a:moveTo>
                    <a:pt x="159817" y="1223387"/>
                  </a:moveTo>
                  <a:lnTo>
                    <a:pt x="153451" y="1234459"/>
                  </a:lnTo>
                  <a:lnTo>
                    <a:pt x="163447" y="1241425"/>
                  </a:lnTo>
                  <a:lnTo>
                    <a:pt x="170686" y="1231138"/>
                  </a:lnTo>
                  <a:lnTo>
                    <a:pt x="159817" y="1223387"/>
                  </a:lnTo>
                  <a:close/>
                </a:path>
                <a:path w="235585" h="1268095">
                  <a:moveTo>
                    <a:pt x="175004" y="1196975"/>
                  </a:moveTo>
                  <a:lnTo>
                    <a:pt x="159817" y="1223387"/>
                  </a:lnTo>
                  <a:lnTo>
                    <a:pt x="170686" y="1231138"/>
                  </a:lnTo>
                  <a:lnTo>
                    <a:pt x="163447" y="1241425"/>
                  </a:lnTo>
                  <a:lnTo>
                    <a:pt x="204505" y="1241425"/>
                  </a:lnTo>
                  <a:lnTo>
                    <a:pt x="175004" y="1196975"/>
                  </a:lnTo>
                  <a:close/>
                </a:path>
                <a:path w="235585" h="1268095">
                  <a:moveTo>
                    <a:pt x="234313" y="0"/>
                  </a:moveTo>
                  <a:lnTo>
                    <a:pt x="188720" y="15240"/>
                  </a:lnTo>
                  <a:lnTo>
                    <a:pt x="156335" y="44196"/>
                  </a:lnTo>
                  <a:lnTo>
                    <a:pt x="125855" y="85725"/>
                  </a:lnTo>
                  <a:lnTo>
                    <a:pt x="106678" y="119887"/>
                  </a:lnTo>
                  <a:lnTo>
                    <a:pt x="88517" y="158496"/>
                  </a:lnTo>
                  <a:lnTo>
                    <a:pt x="71753" y="201295"/>
                  </a:lnTo>
                  <a:lnTo>
                    <a:pt x="56259" y="247777"/>
                  </a:lnTo>
                  <a:lnTo>
                    <a:pt x="42289" y="297434"/>
                  </a:lnTo>
                  <a:lnTo>
                    <a:pt x="30097" y="349885"/>
                  </a:lnTo>
                  <a:lnTo>
                    <a:pt x="19683" y="404495"/>
                  </a:lnTo>
                  <a:lnTo>
                    <a:pt x="11301" y="461010"/>
                  </a:lnTo>
                  <a:lnTo>
                    <a:pt x="5078" y="519049"/>
                  </a:lnTo>
                  <a:lnTo>
                    <a:pt x="1268" y="577850"/>
                  </a:lnTo>
                  <a:lnTo>
                    <a:pt x="0" y="637286"/>
                  </a:lnTo>
                  <a:lnTo>
                    <a:pt x="252" y="666877"/>
                  </a:lnTo>
                  <a:lnTo>
                    <a:pt x="2665" y="725932"/>
                  </a:lnTo>
                  <a:lnTo>
                    <a:pt x="10666" y="813308"/>
                  </a:lnTo>
                  <a:lnTo>
                    <a:pt x="18540" y="869823"/>
                  </a:lnTo>
                  <a:lnTo>
                    <a:pt x="28319" y="924433"/>
                  </a:lnTo>
                  <a:lnTo>
                    <a:pt x="39876" y="976884"/>
                  </a:lnTo>
                  <a:lnTo>
                    <a:pt x="53084" y="1026414"/>
                  </a:lnTo>
                  <a:lnTo>
                    <a:pt x="67689" y="1072896"/>
                  </a:lnTo>
                  <a:lnTo>
                    <a:pt x="83691" y="1115695"/>
                  </a:lnTo>
                  <a:lnTo>
                    <a:pt x="100709" y="1154303"/>
                  </a:lnTo>
                  <a:lnTo>
                    <a:pt x="118743" y="1188339"/>
                  </a:lnTo>
                  <a:lnTo>
                    <a:pt x="147953" y="1230630"/>
                  </a:lnTo>
                  <a:lnTo>
                    <a:pt x="153451" y="1234459"/>
                  </a:lnTo>
                  <a:lnTo>
                    <a:pt x="159817" y="1223387"/>
                  </a:lnTo>
                  <a:lnTo>
                    <a:pt x="157863" y="1221994"/>
                  </a:lnTo>
                  <a:lnTo>
                    <a:pt x="157351" y="1221994"/>
                  </a:lnTo>
                  <a:lnTo>
                    <a:pt x="156081" y="1220724"/>
                  </a:lnTo>
                  <a:lnTo>
                    <a:pt x="156359" y="1220724"/>
                  </a:lnTo>
                  <a:lnTo>
                    <a:pt x="148124" y="1210183"/>
                  </a:lnTo>
                  <a:lnTo>
                    <a:pt x="138856" y="1196721"/>
                  </a:lnTo>
                  <a:lnTo>
                    <a:pt x="129822" y="1182116"/>
                  </a:lnTo>
                  <a:lnTo>
                    <a:pt x="120916" y="1166114"/>
                  </a:lnTo>
                  <a:lnTo>
                    <a:pt x="112077" y="1148842"/>
                  </a:lnTo>
                  <a:lnTo>
                    <a:pt x="103747" y="1130554"/>
                  </a:lnTo>
                  <a:lnTo>
                    <a:pt x="95481" y="1110996"/>
                  </a:lnTo>
                  <a:lnTo>
                    <a:pt x="95403" y="1110742"/>
                  </a:lnTo>
                  <a:lnTo>
                    <a:pt x="87424" y="1090295"/>
                  </a:lnTo>
                  <a:lnTo>
                    <a:pt x="79799" y="1068832"/>
                  </a:lnTo>
                  <a:lnTo>
                    <a:pt x="72430" y="1046353"/>
                  </a:lnTo>
                  <a:lnTo>
                    <a:pt x="65315" y="1022985"/>
                  </a:lnTo>
                  <a:lnTo>
                    <a:pt x="58581" y="998855"/>
                  </a:lnTo>
                  <a:lnTo>
                    <a:pt x="52261" y="973963"/>
                  </a:lnTo>
                  <a:lnTo>
                    <a:pt x="52264" y="973709"/>
                  </a:lnTo>
                  <a:lnTo>
                    <a:pt x="46383" y="948309"/>
                  </a:lnTo>
                  <a:lnTo>
                    <a:pt x="40792" y="922020"/>
                  </a:lnTo>
                  <a:lnTo>
                    <a:pt x="35836" y="895223"/>
                  </a:lnTo>
                  <a:lnTo>
                    <a:pt x="31135" y="867918"/>
                  </a:lnTo>
                  <a:lnTo>
                    <a:pt x="23275" y="811911"/>
                  </a:lnTo>
                  <a:lnTo>
                    <a:pt x="17650" y="755396"/>
                  </a:lnTo>
                  <a:lnTo>
                    <a:pt x="17506" y="754126"/>
                  </a:lnTo>
                  <a:lnTo>
                    <a:pt x="15359" y="725170"/>
                  </a:lnTo>
                  <a:lnTo>
                    <a:pt x="13838" y="695960"/>
                  </a:lnTo>
                  <a:lnTo>
                    <a:pt x="12951" y="666496"/>
                  </a:lnTo>
                  <a:lnTo>
                    <a:pt x="12700" y="637286"/>
                  </a:lnTo>
                  <a:lnTo>
                    <a:pt x="12966" y="607441"/>
                  </a:lnTo>
                  <a:lnTo>
                    <a:pt x="14004" y="577850"/>
                  </a:lnTo>
                  <a:lnTo>
                    <a:pt x="15629" y="549021"/>
                  </a:lnTo>
                  <a:lnTo>
                    <a:pt x="17791" y="520065"/>
                  </a:lnTo>
                  <a:lnTo>
                    <a:pt x="20560" y="491236"/>
                  </a:lnTo>
                  <a:lnTo>
                    <a:pt x="23844" y="462788"/>
                  </a:lnTo>
                  <a:lnTo>
                    <a:pt x="23912" y="462534"/>
                  </a:lnTo>
                  <a:lnTo>
                    <a:pt x="32111" y="406654"/>
                  </a:lnTo>
                  <a:lnTo>
                    <a:pt x="37059" y="379349"/>
                  </a:lnTo>
                  <a:lnTo>
                    <a:pt x="42518" y="352552"/>
                  </a:lnTo>
                  <a:lnTo>
                    <a:pt x="42572" y="352425"/>
                  </a:lnTo>
                  <a:lnTo>
                    <a:pt x="48357" y="326263"/>
                  </a:lnTo>
                  <a:lnTo>
                    <a:pt x="54578" y="300609"/>
                  </a:lnTo>
                  <a:lnTo>
                    <a:pt x="54643" y="300481"/>
                  </a:lnTo>
                  <a:lnTo>
                    <a:pt x="61305" y="275717"/>
                  </a:lnTo>
                  <a:lnTo>
                    <a:pt x="68414" y="251587"/>
                  </a:lnTo>
                  <a:lnTo>
                    <a:pt x="75817" y="227965"/>
                  </a:lnTo>
                  <a:lnTo>
                    <a:pt x="83647" y="205740"/>
                  </a:lnTo>
                  <a:lnTo>
                    <a:pt x="83739" y="205612"/>
                  </a:lnTo>
                  <a:lnTo>
                    <a:pt x="91772" y="184150"/>
                  </a:lnTo>
                  <a:lnTo>
                    <a:pt x="100224" y="163703"/>
                  </a:lnTo>
                  <a:lnTo>
                    <a:pt x="109034" y="144145"/>
                  </a:lnTo>
                  <a:lnTo>
                    <a:pt x="117858" y="125856"/>
                  </a:lnTo>
                  <a:lnTo>
                    <a:pt x="127184" y="108585"/>
                  </a:lnTo>
                  <a:lnTo>
                    <a:pt x="136627" y="92583"/>
                  </a:lnTo>
                  <a:lnTo>
                    <a:pt x="146054" y="77978"/>
                  </a:lnTo>
                  <a:lnTo>
                    <a:pt x="146302" y="77597"/>
                  </a:lnTo>
                  <a:lnTo>
                    <a:pt x="156081" y="64262"/>
                  </a:lnTo>
                  <a:lnTo>
                    <a:pt x="165776" y="52705"/>
                  </a:lnTo>
                  <a:lnTo>
                    <a:pt x="175657" y="42291"/>
                  </a:lnTo>
                  <a:lnTo>
                    <a:pt x="175512" y="42291"/>
                  </a:lnTo>
                  <a:lnTo>
                    <a:pt x="185926" y="33020"/>
                  </a:lnTo>
                  <a:lnTo>
                    <a:pt x="186058" y="33020"/>
                  </a:lnTo>
                  <a:lnTo>
                    <a:pt x="195447" y="26035"/>
                  </a:lnTo>
                  <a:lnTo>
                    <a:pt x="195959" y="25654"/>
                  </a:lnTo>
                  <a:lnTo>
                    <a:pt x="205326" y="20320"/>
                  </a:lnTo>
                  <a:lnTo>
                    <a:pt x="205992" y="19939"/>
                  </a:lnTo>
                  <a:lnTo>
                    <a:pt x="206145" y="19939"/>
                  </a:lnTo>
                  <a:lnTo>
                    <a:pt x="215289" y="16129"/>
                  </a:lnTo>
                  <a:lnTo>
                    <a:pt x="215009" y="16129"/>
                  </a:lnTo>
                  <a:lnTo>
                    <a:pt x="215898" y="15875"/>
                  </a:lnTo>
                  <a:lnTo>
                    <a:pt x="216038" y="15875"/>
                  </a:lnTo>
                  <a:lnTo>
                    <a:pt x="225290" y="13589"/>
                  </a:lnTo>
                  <a:lnTo>
                    <a:pt x="224788" y="13589"/>
                  </a:lnTo>
                  <a:lnTo>
                    <a:pt x="225804" y="13462"/>
                  </a:lnTo>
                  <a:lnTo>
                    <a:pt x="226312" y="13462"/>
                  </a:lnTo>
                  <a:lnTo>
                    <a:pt x="235456" y="12700"/>
                  </a:lnTo>
                  <a:lnTo>
                    <a:pt x="234313" y="0"/>
                  </a:lnTo>
                  <a:close/>
                </a:path>
                <a:path w="235585" h="1268095">
                  <a:moveTo>
                    <a:pt x="156081" y="1220724"/>
                  </a:moveTo>
                  <a:lnTo>
                    <a:pt x="157351" y="1221994"/>
                  </a:lnTo>
                  <a:lnTo>
                    <a:pt x="156709" y="1221171"/>
                  </a:lnTo>
                  <a:lnTo>
                    <a:pt x="156081" y="1220724"/>
                  </a:lnTo>
                  <a:close/>
                </a:path>
                <a:path w="235585" h="1268095">
                  <a:moveTo>
                    <a:pt x="156709" y="1221171"/>
                  </a:moveTo>
                  <a:lnTo>
                    <a:pt x="157351" y="1221994"/>
                  </a:lnTo>
                  <a:lnTo>
                    <a:pt x="157863" y="1221994"/>
                  </a:lnTo>
                  <a:lnTo>
                    <a:pt x="156709" y="1221171"/>
                  </a:lnTo>
                  <a:close/>
                </a:path>
                <a:path w="235585" h="1268095">
                  <a:moveTo>
                    <a:pt x="156359" y="1220724"/>
                  </a:moveTo>
                  <a:lnTo>
                    <a:pt x="156081" y="1220724"/>
                  </a:lnTo>
                  <a:lnTo>
                    <a:pt x="156709" y="1221171"/>
                  </a:lnTo>
                  <a:lnTo>
                    <a:pt x="156359" y="1220724"/>
                  </a:lnTo>
                  <a:close/>
                </a:path>
                <a:path w="235585" h="1268095">
                  <a:moveTo>
                    <a:pt x="147826" y="1209802"/>
                  </a:moveTo>
                  <a:lnTo>
                    <a:pt x="148080" y="1210183"/>
                  </a:lnTo>
                  <a:lnTo>
                    <a:pt x="147826" y="1209802"/>
                  </a:lnTo>
                  <a:close/>
                </a:path>
                <a:path w="235585" h="1268095">
                  <a:moveTo>
                    <a:pt x="138682" y="1196467"/>
                  </a:moveTo>
                  <a:lnTo>
                    <a:pt x="138809" y="1196721"/>
                  </a:lnTo>
                  <a:lnTo>
                    <a:pt x="138682" y="1196467"/>
                  </a:lnTo>
                  <a:close/>
                </a:path>
                <a:path w="235585" h="1268095">
                  <a:moveTo>
                    <a:pt x="129665" y="1181862"/>
                  </a:moveTo>
                  <a:lnTo>
                    <a:pt x="129792" y="1182116"/>
                  </a:lnTo>
                  <a:lnTo>
                    <a:pt x="129665" y="1181862"/>
                  </a:lnTo>
                  <a:close/>
                </a:path>
                <a:path w="235585" h="1268095">
                  <a:moveTo>
                    <a:pt x="120775" y="1165860"/>
                  </a:moveTo>
                  <a:lnTo>
                    <a:pt x="120902" y="1166114"/>
                  </a:lnTo>
                  <a:lnTo>
                    <a:pt x="120775" y="1165860"/>
                  </a:lnTo>
                  <a:close/>
                </a:path>
                <a:path w="235585" h="1268095">
                  <a:moveTo>
                    <a:pt x="112081" y="1148715"/>
                  </a:moveTo>
                  <a:close/>
                </a:path>
                <a:path w="235585" h="1268095">
                  <a:moveTo>
                    <a:pt x="103630" y="1130300"/>
                  </a:moveTo>
                  <a:lnTo>
                    <a:pt x="103630" y="1130554"/>
                  </a:lnTo>
                  <a:lnTo>
                    <a:pt x="103630" y="1130300"/>
                  </a:lnTo>
                  <a:close/>
                </a:path>
                <a:path w="235585" h="1268095">
                  <a:moveTo>
                    <a:pt x="95403" y="1110742"/>
                  </a:moveTo>
                  <a:lnTo>
                    <a:pt x="95502" y="1110996"/>
                  </a:lnTo>
                  <a:lnTo>
                    <a:pt x="95403" y="1110742"/>
                  </a:lnTo>
                  <a:close/>
                </a:path>
                <a:path w="235585" h="1268095">
                  <a:moveTo>
                    <a:pt x="87374" y="1090168"/>
                  </a:moveTo>
                  <a:lnTo>
                    <a:pt x="87374" y="1090295"/>
                  </a:lnTo>
                  <a:lnTo>
                    <a:pt x="87374" y="1090168"/>
                  </a:lnTo>
                  <a:close/>
                </a:path>
                <a:path w="235585" h="1268095">
                  <a:moveTo>
                    <a:pt x="79754" y="1068705"/>
                  </a:moveTo>
                  <a:close/>
                </a:path>
                <a:path w="235585" h="1268095">
                  <a:moveTo>
                    <a:pt x="72388" y="1046226"/>
                  </a:moveTo>
                  <a:lnTo>
                    <a:pt x="72388" y="1046353"/>
                  </a:lnTo>
                  <a:lnTo>
                    <a:pt x="72388" y="1046226"/>
                  </a:lnTo>
                  <a:close/>
                </a:path>
                <a:path w="235585" h="1268095">
                  <a:moveTo>
                    <a:pt x="65368" y="1022858"/>
                  </a:moveTo>
                  <a:close/>
                </a:path>
                <a:path w="235585" h="1268095">
                  <a:moveTo>
                    <a:pt x="58640" y="998728"/>
                  </a:moveTo>
                  <a:close/>
                </a:path>
                <a:path w="235585" h="1268095">
                  <a:moveTo>
                    <a:pt x="52264" y="973709"/>
                  </a:moveTo>
                  <a:lnTo>
                    <a:pt x="52322" y="973963"/>
                  </a:lnTo>
                  <a:lnTo>
                    <a:pt x="52264" y="973709"/>
                  </a:lnTo>
                  <a:close/>
                </a:path>
                <a:path w="235585" h="1268095">
                  <a:moveTo>
                    <a:pt x="46353" y="948182"/>
                  </a:moveTo>
                  <a:lnTo>
                    <a:pt x="46353" y="948309"/>
                  </a:lnTo>
                  <a:lnTo>
                    <a:pt x="46353" y="948182"/>
                  </a:lnTo>
                  <a:close/>
                </a:path>
                <a:path w="235585" h="1268095">
                  <a:moveTo>
                    <a:pt x="40765" y="921893"/>
                  </a:moveTo>
                  <a:lnTo>
                    <a:pt x="40765" y="922020"/>
                  </a:lnTo>
                  <a:lnTo>
                    <a:pt x="40765" y="921893"/>
                  </a:lnTo>
                  <a:close/>
                </a:path>
                <a:path w="235585" h="1268095">
                  <a:moveTo>
                    <a:pt x="35812" y="895096"/>
                  </a:moveTo>
                  <a:close/>
                </a:path>
                <a:path w="235585" h="1268095">
                  <a:moveTo>
                    <a:pt x="31113" y="867791"/>
                  </a:moveTo>
                  <a:close/>
                </a:path>
                <a:path w="235585" h="1268095">
                  <a:moveTo>
                    <a:pt x="23239" y="811657"/>
                  </a:moveTo>
                  <a:lnTo>
                    <a:pt x="23239" y="811911"/>
                  </a:lnTo>
                  <a:lnTo>
                    <a:pt x="23239" y="811657"/>
                  </a:lnTo>
                  <a:close/>
                </a:path>
                <a:path w="235585" h="1268095">
                  <a:moveTo>
                    <a:pt x="17524" y="754126"/>
                  </a:moveTo>
                  <a:lnTo>
                    <a:pt x="17524" y="754380"/>
                  </a:lnTo>
                  <a:lnTo>
                    <a:pt x="17524" y="754126"/>
                  </a:lnTo>
                  <a:close/>
                </a:path>
                <a:path w="235585" h="1268095">
                  <a:moveTo>
                    <a:pt x="12961" y="607568"/>
                  </a:moveTo>
                  <a:lnTo>
                    <a:pt x="12952" y="607822"/>
                  </a:lnTo>
                  <a:lnTo>
                    <a:pt x="12961" y="607568"/>
                  </a:lnTo>
                  <a:close/>
                </a:path>
                <a:path w="235585" h="1268095">
                  <a:moveTo>
                    <a:pt x="13976" y="578358"/>
                  </a:moveTo>
                  <a:close/>
                </a:path>
                <a:path w="235585" h="1268095">
                  <a:moveTo>
                    <a:pt x="15629" y="549021"/>
                  </a:moveTo>
                  <a:close/>
                </a:path>
                <a:path w="235585" h="1268095">
                  <a:moveTo>
                    <a:pt x="17791" y="520065"/>
                  </a:moveTo>
                  <a:close/>
                </a:path>
                <a:path w="235585" h="1268095">
                  <a:moveTo>
                    <a:pt x="20572" y="491109"/>
                  </a:moveTo>
                  <a:close/>
                </a:path>
                <a:path w="235585" h="1268095">
                  <a:moveTo>
                    <a:pt x="23912" y="462534"/>
                  </a:moveTo>
                  <a:lnTo>
                    <a:pt x="23874" y="462788"/>
                  </a:lnTo>
                  <a:lnTo>
                    <a:pt x="23912" y="462534"/>
                  </a:lnTo>
                  <a:close/>
                </a:path>
                <a:path w="235585" h="1268095">
                  <a:moveTo>
                    <a:pt x="32152" y="406527"/>
                  </a:moveTo>
                  <a:close/>
                </a:path>
                <a:path w="235585" h="1268095">
                  <a:moveTo>
                    <a:pt x="37108" y="379222"/>
                  </a:moveTo>
                  <a:close/>
                </a:path>
                <a:path w="235585" h="1268095">
                  <a:moveTo>
                    <a:pt x="42572" y="352425"/>
                  </a:moveTo>
                  <a:lnTo>
                    <a:pt x="42543" y="352552"/>
                  </a:lnTo>
                  <a:lnTo>
                    <a:pt x="42572" y="352425"/>
                  </a:lnTo>
                  <a:close/>
                </a:path>
                <a:path w="235585" h="1268095">
                  <a:moveTo>
                    <a:pt x="48416" y="326136"/>
                  </a:moveTo>
                  <a:close/>
                </a:path>
                <a:path w="235585" h="1268095">
                  <a:moveTo>
                    <a:pt x="54643" y="300481"/>
                  </a:moveTo>
                  <a:lnTo>
                    <a:pt x="54608" y="300609"/>
                  </a:lnTo>
                  <a:lnTo>
                    <a:pt x="54643" y="300481"/>
                  </a:lnTo>
                  <a:close/>
                </a:path>
                <a:path w="235585" h="1268095">
                  <a:moveTo>
                    <a:pt x="61377" y="275590"/>
                  </a:moveTo>
                  <a:close/>
                </a:path>
                <a:path w="235585" h="1268095">
                  <a:moveTo>
                    <a:pt x="68491" y="251460"/>
                  </a:moveTo>
                  <a:close/>
                </a:path>
                <a:path w="235585" h="1268095">
                  <a:moveTo>
                    <a:pt x="75906" y="227965"/>
                  </a:moveTo>
                  <a:lnTo>
                    <a:pt x="75817" y="228219"/>
                  </a:lnTo>
                  <a:lnTo>
                    <a:pt x="75906" y="227965"/>
                  </a:lnTo>
                  <a:close/>
                </a:path>
                <a:path w="235585" h="1268095">
                  <a:moveTo>
                    <a:pt x="83739" y="205612"/>
                  </a:moveTo>
                  <a:lnTo>
                    <a:pt x="83691" y="205740"/>
                  </a:lnTo>
                  <a:lnTo>
                    <a:pt x="83739" y="205612"/>
                  </a:lnTo>
                  <a:close/>
                </a:path>
                <a:path w="235585" h="1268095">
                  <a:moveTo>
                    <a:pt x="91872" y="184023"/>
                  </a:moveTo>
                  <a:close/>
                </a:path>
                <a:path w="235585" h="1268095">
                  <a:moveTo>
                    <a:pt x="100328" y="163449"/>
                  </a:moveTo>
                  <a:lnTo>
                    <a:pt x="100201" y="163703"/>
                  </a:lnTo>
                  <a:lnTo>
                    <a:pt x="100328" y="163449"/>
                  </a:lnTo>
                  <a:close/>
                </a:path>
                <a:path w="235585" h="1268095">
                  <a:moveTo>
                    <a:pt x="109091" y="144018"/>
                  </a:moveTo>
                  <a:lnTo>
                    <a:pt x="108964" y="144145"/>
                  </a:lnTo>
                  <a:lnTo>
                    <a:pt x="109091" y="144018"/>
                  </a:lnTo>
                  <a:close/>
                </a:path>
                <a:path w="235585" h="1268095">
                  <a:moveTo>
                    <a:pt x="127252" y="108458"/>
                  </a:moveTo>
                  <a:close/>
                </a:path>
                <a:path w="235585" h="1268095">
                  <a:moveTo>
                    <a:pt x="136777" y="92329"/>
                  </a:moveTo>
                  <a:lnTo>
                    <a:pt x="136523" y="92583"/>
                  </a:lnTo>
                  <a:lnTo>
                    <a:pt x="136777" y="92329"/>
                  </a:lnTo>
                  <a:close/>
                </a:path>
                <a:path w="235585" h="1268095">
                  <a:moveTo>
                    <a:pt x="146327" y="77597"/>
                  </a:moveTo>
                  <a:lnTo>
                    <a:pt x="146098" y="77909"/>
                  </a:lnTo>
                  <a:lnTo>
                    <a:pt x="146327" y="77597"/>
                  </a:lnTo>
                  <a:close/>
                </a:path>
                <a:path w="235585" h="1268095">
                  <a:moveTo>
                    <a:pt x="156145" y="64262"/>
                  </a:moveTo>
                  <a:lnTo>
                    <a:pt x="155827" y="64643"/>
                  </a:lnTo>
                  <a:lnTo>
                    <a:pt x="156145" y="64262"/>
                  </a:lnTo>
                  <a:close/>
                </a:path>
                <a:path w="235585" h="1268095">
                  <a:moveTo>
                    <a:pt x="165987" y="52450"/>
                  </a:moveTo>
                  <a:lnTo>
                    <a:pt x="165733" y="52705"/>
                  </a:lnTo>
                  <a:lnTo>
                    <a:pt x="165987" y="52450"/>
                  </a:lnTo>
                  <a:close/>
                </a:path>
                <a:path w="235585" h="1268095">
                  <a:moveTo>
                    <a:pt x="176020" y="41910"/>
                  </a:moveTo>
                  <a:lnTo>
                    <a:pt x="175512" y="42291"/>
                  </a:lnTo>
                  <a:lnTo>
                    <a:pt x="175657" y="42291"/>
                  </a:lnTo>
                  <a:lnTo>
                    <a:pt x="176020" y="41910"/>
                  </a:lnTo>
                  <a:close/>
                </a:path>
                <a:path w="235585" h="1268095">
                  <a:moveTo>
                    <a:pt x="186058" y="33020"/>
                  </a:moveTo>
                  <a:lnTo>
                    <a:pt x="185926" y="33020"/>
                  </a:lnTo>
                  <a:lnTo>
                    <a:pt x="185545" y="33400"/>
                  </a:lnTo>
                  <a:lnTo>
                    <a:pt x="186058" y="33020"/>
                  </a:lnTo>
                  <a:close/>
                </a:path>
                <a:path w="235585" h="1268095">
                  <a:moveTo>
                    <a:pt x="195959" y="25654"/>
                  </a:moveTo>
                  <a:lnTo>
                    <a:pt x="195324" y="26035"/>
                  </a:lnTo>
                  <a:lnTo>
                    <a:pt x="195854" y="25732"/>
                  </a:lnTo>
                  <a:close/>
                </a:path>
                <a:path w="235585" h="1268095">
                  <a:moveTo>
                    <a:pt x="195854" y="25732"/>
                  </a:moveTo>
                  <a:lnTo>
                    <a:pt x="195324" y="26035"/>
                  </a:lnTo>
                  <a:lnTo>
                    <a:pt x="195854" y="25732"/>
                  </a:lnTo>
                  <a:close/>
                </a:path>
                <a:path w="235585" h="1268095">
                  <a:moveTo>
                    <a:pt x="195991" y="25654"/>
                  </a:moveTo>
                  <a:lnTo>
                    <a:pt x="195854" y="25732"/>
                  </a:lnTo>
                  <a:lnTo>
                    <a:pt x="195991" y="25654"/>
                  </a:lnTo>
                  <a:close/>
                </a:path>
                <a:path w="235585" h="1268095">
                  <a:moveTo>
                    <a:pt x="205992" y="19939"/>
                  </a:moveTo>
                  <a:lnTo>
                    <a:pt x="205230" y="20320"/>
                  </a:lnTo>
                  <a:lnTo>
                    <a:pt x="205582" y="20173"/>
                  </a:lnTo>
                  <a:lnTo>
                    <a:pt x="205992" y="19939"/>
                  </a:lnTo>
                  <a:close/>
                </a:path>
                <a:path w="235585" h="1268095">
                  <a:moveTo>
                    <a:pt x="205582" y="20173"/>
                  </a:moveTo>
                  <a:lnTo>
                    <a:pt x="205230" y="20320"/>
                  </a:lnTo>
                  <a:lnTo>
                    <a:pt x="205582" y="20173"/>
                  </a:lnTo>
                  <a:close/>
                </a:path>
                <a:path w="235585" h="1268095">
                  <a:moveTo>
                    <a:pt x="206145" y="19939"/>
                  </a:moveTo>
                  <a:lnTo>
                    <a:pt x="205992" y="19939"/>
                  </a:lnTo>
                  <a:lnTo>
                    <a:pt x="205582" y="20173"/>
                  </a:lnTo>
                  <a:lnTo>
                    <a:pt x="206145" y="19939"/>
                  </a:lnTo>
                  <a:close/>
                </a:path>
                <a:path w="235585" h="1268095">
                  <a:moveTo>
                    <a:pt x="215898" y="15875"/>
                  </a:moveTo>
                  <a:lnTo>
                    <a:pt x="215009" y="16129"/>
                  </a:lnTo>
                  <a:lnTo>
                    <a:pt x="215696" y="15959"/>
                  </a:lnTo>
                  <a:lnTo>
                    <a:pt x="215898" y="15875"/>
                  </a:lnTo>
                  <a:close/>
                </a:path>
                <a:path w="235585" h="1268095">
                  <a:moveTo>
                    <a:pt x="215696" y="15959"/>
                  </a:moveTo>
                  <a:lnTo>
                    <a:pt x="215009" y="16129"/>
                  </a:lnTo>
                  <a:lnTo>
                    <a:pt x="215289" y="16129"/>
                  </a:lnTo>
                  <a:lnTo>
                    <a:pt x="215696" y="15959"/>
                  </a:lnTo>
                  <a:close/>
                </a:path>
                <a:path w="235585" h="1268095">
                  <a:moveTo>
                    <a:pt x="216038" y="15875"/>
                  </a:moveTo>
                  <a:lnTo>
                    <a:pt x="215898" y="15875"/>
                  </a:lnTo>
                  <a:lnTo>
                    <a:pt x="215696" y="15959"/>
                  </a:lnTo>
                  <a:lnTo>
                    <a:pt x="216038" y="15875"/>
                  </a:lnTo>
                  <a:close/>
                </a:path>
                <a:path w="235585" h="1268095">
                  <a:moveTo>
                    <a:pt x="225804" y="13462"/>
                  </a:moveTo>
                  <a:lnTo>
                    <a:pt x="224788" y="13589"/>
                  </a:lnTo>
                  <a:lnTo>
                    <a:pt x="225546" y="13525"/>
                  </a:lnTo>
                  <a:lnTo>
                    <a:pt x="225804" y="13462"/>
                  </a:lnTo>
                  <a:close/>
                </a:path>
                <a:path w="235585" h="1268095">
                  <a:moveTo>
                    <a:pt x="225546" y="13525"/>
                  </a:moveTo>
                  <a:lnTo>
                    <a:pt x="224788" y="13589"/>
                  </a:lnTo>
                  <a:lnTo>
                    <a:pt x="225290" y="13589"/>
                  </a:lnTo>
                  <a:lnTo>
                    <a:pt x="225546" y="13525"/>
                  </a:lnTo>
                  <a:close/>
                </a:path>
                <a:path w="235585" h="1268095">
                  <a:moveTo>
                    <a:pt x="226312" y="13462"/>
                  </a:moveTo>
                  <a:lnTo>
                    <a:pt x="225804" y="13462"/>
                  </a:lnTo>
                  <a:lnTo>
                    <a:pt x="225546" y="13525"/>
                  </a:lnTo>
                  <a:lnTo>
                    <a:pt x="226312" y="13462"/>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8"/>
            <p:cNvSpPr/>
            <p:nvPr/>
          </p:nvSpPr>
          <p:spPr>
            <a:xfrm>
              <a:off x="5071872" y="3810000"/>
              <a:ext cx="186055" cy="297180"/>
            </a:xfrm>
            <a:custGeom>
              <a:avLst/>
              <a:gdLst/>
              <a:ahLst/>
              <a:cxnLst/>
              <a:rect l="l" t="t" r="r" b="b"/>
              <a:pathLst>
                <a:path w="186054" h="297179">
                  <a:moveTo>
                    <a:pt x="0" y="148589"/>
                  </a:moveTo>
                  <a:lnTo>
                    <a:pt x="7310" y="90761"/>
                  </a:lnTo>
                  <a:lnTo>
                    <a:pt x="27241" y="43529"/>
                  </a:lnTo>
                  <a:lnTo>
                    <a:pt x="56792" y="11680"/>
                  </a:lnTo>
                  <a:lnTo>
                    <a:pt x="92963" y="0"/>
                  </a:lnTo>
                  <a:lnTo>
                    <a:pt x="129135" y="11680"/>
                  </a:lnTo>
                  <a:lnTo>
                    <a:pt x="158686" y="43529"/>
                  </a:lnTo>
                  <a:lnTo>
                    <a:pt x="178617" y="90761"/>
                  </a:lnTo>
                  <a:lnTo>
                    <a:pt x="185927" y="148589"/>
                  </a:lnTo>
                  <a:lnTo>
                    <a:pt x="178617" y="206418"/>
                  </a:lnTo>
                  <a:lnTo>
                    <a:pt x="158686" y="253650"/>
                  </a:lnTo>
                  <a:lnTo>
                    <a:pt x="129135" y="285499"/>
                  </a:lnTo>
                  <a:lnTo>
                    <a:pt x="92963" y="297180"/>
                  </a:lnTo>
                  <a:lnTo>
                    <a:pt x="56792" y="285499"/>
                  </a:lnTo>
                  <a:lnTo>
                    <a:pt x="27241" y="253650"/>
                  </a:lnTo>
                  <a:lnTo>
                    <a:pt x="7310" y="206418"/>
                  </a:lnTo>
                  <a:lnTo>
                    <a:pt x="0" y="148589"/>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22" name="object 9"/>
            <p:cNvSpPr/>
            <p:nvPr/>
          </p:nvSpPr>
          <p:spPr>
            <a:xfrm>
              <a:off x="5158486" y="3580384"/>
              <a:ext cx="2884170" cy="1676400"/>
            </a:xfrm>
            <a:custGeom>
              <a:avLst/>
              <a:gdLst/>
              <a:ahLst/>
              <a:cxnLst/>
              <a:rect l="l" t="t" r="r" b="b"/>
              <a:pathLst>
                <a:path w="2884170" h="1676400">
                  <a:moveTo>
                    <a:pt x="1141729" y="1600200"/>
                  </a:moveTo>
                  <a:lnTo>
                    <a:pt x="1066164" y="1651000"/>
                  </a:lnTo>
                  <a:lnTo>
                    <a:pt x="1142746" y="1676400"/>
                  </a:lnTo>
                  <a:lnTo>
                    <a:pt x="1142407" y="1651000"/>
                  </a:lnTo>
                  <a:lnTo>
                    <a:pt x="1129664" y="1651000"/>
                  </a:lnTo>
                  <a:lnTo>
                    <a:pt x="1129538" y="1638300"/>
                  </a:lnTo>
                  <a:lnTo>
                    <a:pt x="1142238" y="1638300"/>
                  </a:lnTo>
                  <a:lnTo>
                    <a:pt x="1141729" y="1600200"/>
                  </a:lnTo>
                  <a:close/>
                </a:path>
                <a:path w="2884170" h="1676400">
                  <a:moveTo>
                    <a:pt x="1142238" y="1638300"/>
                  </a:moveTo>
                  <a:lnTo>
                    <a:pt x="1129538" y="1638300"/>
                  </a:lnTo>
                  <a:lnTo>
                    <a:pt x="1129664" y="1651000"/>
                  </a:lnTo>
                  <a:lnTo>
                    <a:pt x="1142407" y="1651000"/>
                  </a:lnTo>
                  <a:lnTo>
                    <a:pt x="1142238" y="1638300"/>
                  </a:lnTo>
                  <a:close/>
                </a:path>
                <a:path w="2884170" h="1676400">
                  <a:moveTo>
                    <a:pt x="1320673" y="1638300"/>
                  </a:moveTo>
                  <a:lnTo>
                    <a:pt x="1142238" y="1638300"/>
                  </a:lnTo>
                  <a:lnTo>
                    <a:pt x="1142407" y="1651000"/>
                  </a:lnTo>
                  <a:lnTo>
                    <a:pt x="1236090" y="1651000"/>
                  </a:lnTo>
                  <a:lnTo>
                    <a:pt x="1320673" y="1638300"/>
                  </a:lnTo>
                  <a:close/>
                </a:path>
                <a:path w="2884170" h="1676400">
                  <a:moveTo>
                    <a:pt x="1777111" y="25400"/>
                  </a:moveTo>
                  <a:lnTo>
                    <a:pt x="1642871" y="25400"/>
                  </a:lnTo>
                  <a:lnTo>
                    <a:pt x="1709292" y="38100"/>
                  </a:lnTo>
                  <a:lnTo>
                    <a:pt x="1774824" y="38100"/>
                  </a:lnTo>
                  <a:lnTo>
                    <a:pt x="1840230" y="50800"/>
                  </a:lnTo>
                  <a:lnTo>
                    <a:pt x="1839975" y="50800"/>
                  </a:lnTo>
                  <a:lnTo>
                    <a:pt x="1904491" y="63500"/>
                  </a:lnTo>
                  <a:lnTo>
                    <a:pt x="1904238" y="63500"/>
                  </a:lnTo>
                  <a:lnTo>
                    <a:pt x="1967864" y="88900"/>
                  </a:lnTo>
                  <a:lnTo>
                    <a:pt x="2030348" y="101600"/>
                  </a:lnTo>
                  <a:lnTo>
                    <a:pt x="2030094" y="101600"/>
                  </a:lnTo>
                  <a:lnTo>
                    <a:pt x="2091436" y="127000"/>
                  </a:lnTo>
                  <a:lnTo>
                    <a:pt x="2151253" y="139700"/>
                  </a:lnTo>
                  <a:lnTo>
                    <a:pt x="2151125" y="139700"/>
                  </a:lnTo>
                  <a:lnTo>
                    <a:pt x="2209672" y="165100"/>
                  </a:lnTo>
                  <a:lnTo>
                    <a:pt x="2266568" y="190500"/>
                  </a:lnTo>
                  <a:lnTo>
                    <a:pt x="2266315" y="190500"/>
                  </a:lnTo>
                  <a:lnTo>
                    <a:pt x="2321687" y="215900"/>
                  </a:lnTo>
                  <a:lnTo>
                    <a:pt x="2374899" y="241300"/>
                  </a:lnTo>
                  <a:lnTo>
                    <a:pt x="2426208" y="266700"/>
                  </a:lnTo>
                  <a:lnTo>
                    <a:pt x="2475357" y="292100"/>
                  </a:lnTo>
                  <a:lnTo>
                    <a:pt x="2499106" y="317500"/>
                  </a:lnTo>
                  <a:lnTo>
                    <a:pt x="2522346" y="330200"/>
                  </a:lnTo>
                  <a:lnTo>
                    <a:pt x="2544953" y="342900"/>
                  </a:lnTo>
                  <a:lnTo>
                    <a:pt x="2544825" y="342900"/>
                  </a:lnTo>
                  <a:lnTo>
                    <a:pt x="2566923" y="355600"/>
                  </a:lnTo>
                  <a:lnTo>
                    <a:pt x="2588260" y="381000"/>
                  </a:lnTo>
                  <a:lnTo>
                    <a:pt x="2609088" y="393700"/>
                  </a:lnTo>
                  <a:lnTo>
                    <a:pt x="2629027" y="406400"/>
                  </a:lnTo>
                  <a:lnTo>
                    <a:pt x="2628899" y="406400"/>
                  </a:lnTo>
                  <a:lnTo>
                    <a:pt x="2648458" y="419100"/>
                  </a:lnTo>
                  <a:lnTo>
                    <a:pt x="2667127" y="444500"/>
                  </a:lnTo>
                  <a:lnTo>
                    <a:pt x="2685161" y="457200"/>
                  </a:lnTo>
                  <a:lnTo>
                    <a:pt x="2702433" y="482600"/>
                  </a:lnTo>
                  <a:lnTo>
                    <a:pt x="2718942" y="495300"/>
                  </a:lnTo>
                  <a:lnTo>
                    <a:pt x="2734564" y="508000"/>
                  </a:lnTo>
                  <a:lnTo>
                    <a:pt x="2749677" y="533400"/>
                  </a:lnTo>
                  <a:lnTo>
                    <a:pt x="2749549" y="533400"/>
                  </a:lnTo>
                  <a:lnTo>
                    <a:pt x="2763773" y="546100"/>
                  </a:lnTo>
                  <a:lnTo>
                    <a:pt x="2777236" y="571500"/>
                  </a:lnTo>
                  <a:lnTo>
                    <a:pt x="2789809" y="584200"/>
                  </a:lnTo>
                  <a:lnTo>
                    <a:pt x="2801492" y="596900"/>
                  </a:lnTo>
                  <a:lnTo>
                    <a:pt x="2812415" y="622300"/>
                  </a:lnTo>
                  <a:lnTo>
                    <a:pt x="2822320" y="635000"/>
                  </a:lnTo>
                  <a:lnTo>
                    <a:pt x="2831465" y="660400"/>
                  </a:lnTo>
                  <a:lnTo>
                    <a:pt x="2839719" y="673100"/>
                  </a:lnTo>
                  <a:lnTo>
                    <a:pt x="2846959" y="698500"/>
                  </a:lnTo>
                  <a:lnTo>
                    <a:pt x="2853309" y="711200"/>
                  </a:lnTo>
                  <a:lnTo>
                    <a:pt x="2858769" y="736600"/>
                  </a:lnTo>
                  <a:lnTo>
                    <a:pt x="2863341" y="749300"/>
                  </a:lnTo>
                  <a:lnTo>
                    <a:pt x="2866770" y="774700"/>
                  </a:lnTo>
                  <a:lnTo>
                    <a:pt x="2869311" y="787400"/>
                  </a:lnTo>
                  <a:lnTo>
                    <a:pt x="2870708" y="812800"/>
                  </a:lnTo>
                  <a:lnTo>
                    <a:pt x="2871342" y="825500"/>
                  </a:lnTo>
                  <a:lnTo>
                    <a:pt x="2869057" y="863600"/>
                  </a:lnTo>
                  <a:lnTo>
                    <a:pt x="2861437" y="901700"/>
                  </a:lnTo>
                  <a:lnTo>
                    <a:pt x="2861691" y="901700"/>
                  </a:lnTo>
                  <a:lnTo>
                    <a:pt x="2848864" y="939800"/>
                  </a:lnTo>
                  <a:lnTo>
                    <a:pt x="2849117" y="939800"/>
                  </a:lnTo>
                  <a:lnTo>
                    <a:pt x="2831591" y="977900"/>
                  </a:lnTo>
                  <a:lnTo>
                    <a:pt x="2831845" y="977900"/>
                  </a:lnTo>
                  <a:lnTo>
                    <a:pt x="2809747" y="1016000"/>
                  </a:lnTo>
                  <a:lnTo>
                    <a:pt x="2810002" y="1016000"/>
                  </a:lnTo>
                  <a:lnTo>
                    <a:pt x="2783205" y="1054100"/>
                  </a:lnTo>
                  <a:lnTo>
                    <a:pt x="2783586" y="1054100"/>
                  </a:lnTo>
                  <a:lnTo>
                    <a:pt x="2752597" y="1092200"/>
                  </a:lnTo>
                  <a:lnTo>
                    <a:pt x="2752852" y="1092200"/>
                  </a:lnTo>
                  <a:lnTo>
                    <a:pt x="2717799" y="1117600"/>
                  </a:lnTo>
                  <a:lnTo>
                    <a:pt x="2718054" y="1117600"/>
                  </a:lnTo>
                  <a:lnTo>
                    <a:pt x="2678938" y="1155700"/>
                  </a:lnTo>
                  <a:lnTo>
                    <a:pt x="2679191" y="1155700"/>
                  </a:lnTo>
                  <a:lnTo>
                    <a:pt x="2636266" y="1193800"/>
                  </a:lnTo>
                  <a:lnTo>
                    <a:pt x="2636519" y="1193800"/>
                  </a:lnTo>
                  <a:lnTo>
                    <a:pt x="2589911" y="1231900"/>
                  </a:lnTo>
                  <a:lnTo>
                    <a:pt x="2540127" y="1257300"/>
                  </a:lnTo>
                  <a:lnTo>
                    <a:pt x="2540381" y="1257300"/>
                  </a:lnTo>
                  <a:lnTo>
                    <a:pt x="2486914" y="1295400"/>
                  </a:lnTo>
                  <a:lnTo>
                    <a:pt x="2430653" y="1320800"/>
                  </a:lnTo>
                  <a:lnTo>
                    <a:pt x="2371216" y="1358900"/>
                  </a:lnTo>
                  <a:lnTo>
                    <a:pt x="2371470" y="1358900"/>
                  </a:lnTo>
                  <a:lnTo>
                    <a:pt x="2309114" y="1384300"/>
                  </a:lnTo>
                  <a:lnTo>
                    <a:pt x="2244343" y="1409700"/>
                  </a:lnTo>
                  <a:lnTo>
                    <a:pt x="2176907" y="1435100"/>
                  </a:lnTo>
                  <a:lnTo>
                    <a:pt x="2177161" y="1435100"/>
                  </a:lnTo>
                  <a:lnTo>
                    <a:pt x="2107311" y="1460500"/>
                  </a:lnTo>
                  <a:lnTo>
                    <a:pt x="2035556" y="1485900"/>
                  </a:lnTo>
                  <a:lnTo>
                    <a:pt x="1961641" y="1511300"/>
                  </a:lnTo>
                  <a:lnTo>
                    <a:pt x="1961895" y="1511300"/>
                  </a:lnTo>
                  <a:lnTo>
                    <a:pt x="1886077" y="1536700"/>
                  </a:lnTo>
                  <a:lnTo>
                    <a:pt x="1886331" y="1536700"/>
                  </a:lnTo>
                  <a:lnTo>
                    <a:pt x="1808861" y="1549400"/>
                  </a:lnTo>
                  <a:lnTo>
                    <a:pt x="1729993" y="1574800"/>
                  </a:lnTo>
                  <a:lnTo>
                    <a:pt x="1730247" y="1574800"/>
                  </a:lnTo>
                  <a:lnTo>
                    <a:pt x="1649857" y="1587500"/>
                  </a:lnTo>
                  <a:lnTo>
                    <a:pt x="1650111" y="1587500"/>
                  </a:lnTo>
                  <a:lnTo>
                    <a:pt x="1568577" y="1600200"/>
                  </a:lnTo>
                  <a:lnTo>
                    <a:pt x="1568831" y="1600200"/>
                  </a:lnTo>
                  <a:lnTo>
                    <a:pt x="1486408" y="1612900"/>
                  </a:lnTo>
                  <a:lnTo>
                    <a:pt x="1403222" y="1625600"/>
                  </a:lnTo>
                  <a:lnTo>
                    <a:pt x="1319656" y="1625600"/>
                  </a:lnTo>
                  <a:lnTo>
                    <a:pt x="1235328" y="1638300"/>
                  </a:lnTo>
                  <a:lnTo>
                    <a:pt x="1404746" y="1638300"/>
                  </a:lnTo>
                  <a:lnTo>
                    <a:pt x="1732788" y="1587500"/>
                  </a:lnTo>
                  <a:lnTo>
                    <a:pt x="1811909" y="1562100"/>
                  </a:lnTo>
                  <a:lnTo>
                    <a:pt x="1889506" y="1549400"/>
                  </a:lnTo>
                  <a:lnTo>
                    <a:pt x="2039492" y="1498600"/>
                  </a:lnTo>
                  <a:lnTo>
                    <a:pt x="2111629" y="1473200"/>
                  </a:lnTo>
                  <a:lnTo>
                    <a:pt x="2181606" y="1447800"/>
                  </a:lnTo>
                  <a:lnTo>
                    <a:pt x="2249296" y="1422400"/>
                  </a:lnTo>
                  <a:lnTo>
                    <a:pt x="2314447" y="1397000"/>
                  </a:lnTo>
                  <a:lnTo>
                    <a:pt x="2376932" y="1371600"/>
                  </a:lnTo>
                  <a:lnTo>
                    <a:pt x="2436748" y="1333500"/>
                  </a:lnTo>
                  <a:lnTo>
                    <a:pt x="2493391" y="1308100"/>
                  </a:lnTo>
                  <a:lnTo>
                    <a:pt x="2546985" y="1270000"/>
                  </a:lnTo>
                  <a:lnTo>
                    <a:pt x="2597277" y="1231900"/>
                  </a:lnTo>
                  <a:lnTo>
                    <a:pt x="2644140" y="1206500"/>
                  </a:lnTo>
                  <a:lnTo>
                    <a:pt x="2687319" y="1168400"/>
                  </a:lnTo>
                  <a:lnTo>
                    <a:pt x="2726690" y="1130300"/>
                  </a:lnTo>
                  <a:lnTo>
                    <a:pt x="2762122" y="1092200"/>
                  </a:lnTo>
                  <a:lnTo>
                    <a:pt x="2793491" y="1054100"/>
                  </a:lnTo>
                  <a:lnTo>
                    <a:pt x="2820542" y="1016000"/>
                  </a:lnTo>
                  <a:lnTo>
                    <a:pt x="2843021" y="977900"/>
                  </a:lnTo>
                  <a:lnTo>
                    <a:pt x="2860802" y="939800"/>
                  </a:lnTo>
                  <a:lnTo>
                    <a:pt x="2873756" y="901700"/>
                  </a:lnTo>
                  <a:lnTo>
                    <a:pt x="2881630" y="863600"/>
                  </a:lnTo>
                  <a:lnTo>
                    <a:pt x="2884042" y="825500"/>
                  </a:lnTo>
                  <a:lnTo>
                    <a:pt x="2883408" y="812800"/>
                  </a:lnTo>
                  <a:lnTo>
                    <a:pt x="2881884" y="787400"/>
                  </a:lnTo>
                  <a:lnTo>
                    <a:pt x="2879216" y="762000"/>
                  </a:lnTo>
                  <a:lnTo>
                    <a:pt x="2875661" y="749300"/>
                  </a:lnTo>
                  <a:lnTo>
                    <a:pt x="2871089" y="723900"/>
                  </a:lnTo>
                  <a:lnTo>
                    <a:pt x="2865373" y="711200"/>
                  </a:lnTo>
                  <a:lnTo>
                    <a:pt x="2858896" y="685800"/>
                  </a:lnTo>
                  <a:lnTo>
                    <a:pt x="2851404" y="673100"/>
                  </a:lnTo>
                  <a:lnTo>
                    <a:pt x="2842894" y="647700"/>
                  </a:lnTo>
                  <a:lnTo>
                    <a:pt x="2833623" y="635000"/>
                  </a:lnTo>
                  <a:lnTo>
                    <a:pt x="2823337" y="609600"/>
                  </a:lnTo>
                  <a:lnTo>
                    <a:pt x="2812161" y="596900"/>
                  </a:lnTo>
                  <a:lnTo>
                    <a:pt x="2800222" y="571500"/>
                  </a:lnTo>
                  <a:lnTo>
                    <a:pt x="2787522" y="558800"/>
                  </a:lnTo>
                  <a:lnTo>
                    <a:pt x="2773807" y="533400"/>
                  </a:lnTo>
                  <a:lnTo>
                    <a:pt x="2759456" y="520700"/>
                  </a:lnTo>
                  <a:lnTo>
                    <a:pt x="2744089" y="508000"/>
                  </a:lnTo>
                  <a:lnTo>
                    <a:pt x="2728214" y="482600"/>
                  </a:lnTo>
                  <a:lnTo>
                    <a:pt x="2711449" y="469900"/>
                  </a:lnTo>
                  <a:lnTo>
                    <a:pt x="2693923" y="444500"/>
                  </a:lnTo>
                  <a:lnTo>
                    <a:pt x="2675763" y="431800"/>
                  </a:lnTo>
                  <a:lnTo>
                    <a:pt x="2656840" y="419100"/>
                  </a:lnTo>
                  <a:lnTo>
                    <a:pt x="2637155" y="393700"/>
                  </a:lnTo>
                  <a:lnTo>
                    <a:pt x="2616962" y="381000"/>
                  </a:lnTo>
                  <a:lnTo>
                    <a:pt x="2596007" y="368300"/>
                  </a:lnTo>
                  <a:lnTo>
                    <a:pt x="2574416" y="355600"/>
                  </a:lnTo>
                  <a:lnTo>
                    <a:pt x="2552191" y="330200"/>
                  </a:lnTo>
                  <a:lnTo>
                    <a:pt x="2529459" y="317500"/>
                  </a:lnTo>
                  <a:lnTo>
                    <a:pt x="2505964" y="304800"/>
                  </a:lnTo>
                  <a:lnTo>
                    <a:pt x="2481961" y="292100"/>
                  </a:lnTo>
                  <a:lnTo>
                    <a:pt x="2432431" y="254000"/>
                  </a:lnTo>
                  <a:lnTo>
                    <a:pt x="2380741" y="228600"/>
                  </a:lnTo>
                  <a:lnTo>
                    <a:pt x="2327147" y="203200"/>
                  </a:lnTo>
                  <a:lnTo>
                    <a:pt x="2271521" y="177800"/>
                  </a:lnTo>
                  <a:lnTo>
                    <a:pt x="2214371" y="152400"/>
                  </a:lnTo>
                  <a:lnTo>
                    <a:pt x="2155570" y="127000"/>
                  </a:lnTo>
                  <a:lnTo>
                    <a:pt x="2095372" y="114300"/>
                  </a:lnTo>
                  <a:lnTo>
                    <a:pt x="2033905" y="88900"/>
                  </a:lnTo>
                  <a:lnTo>
                    <a:pt x="1971039" y="76200"/>
                  </a:lnTo>
                  <a:lnTo>
                    <a:pt x="1907286" y="50800"/>
                  </a:lnTo>
                  <a:lnTo>
                    <a:pt x="1777111" y="25400"/>
                  </a:lnTo>
                  <a:close/>
                </a:path>
                <a:path w="2884170" h="1676400">
                  <a:moveTo>
                    <a:pt x="13208" y="228600"/>
                  </a:moveTo>
                  <a:lnTo>
                    <a:pt x="508" y="228600"/>
                  </a:lnTo>
                  <a:lnTo>
                    <a:pt x="0" y="241300"/>
                  </a:lnTo>
                  <a:lnTo>
                    <a:pt x="12700" y="241300"/>
                  </a:lnTo>
                  <a:lnTo>
                    <a:pt x="13208" y="228600"/>
                  </a:lnTo>
                  <a:close/>
                </a:path>
                <a:path w="2884170" h="1676400">
                  <a:moveTo>
                    <a:pt x="19812" y="215900"/>
                  </a:moveTo>
                  <a:lnTo>
                    <a:pt x="5461" y="215900"/>
                  </a:lnTo>
                  <a:lnTo>
                    <a:pt x="2539" y="228600"/>
                  </a:lnTo>
                  <a:lnTo>
                    <a:pt x="16255" y="228600"/>
                  </a:lnTo>
                  <a:lnTo>
                    <a:pt x="19812" y="215900"/>
                  </a:lnTo>
                  <a:close/>
                </a:path>
                <a:path w="2884170" h="1676400">
                  <a:moveTo>
                    <a:pt x="29083" y="203200"/>
                  </a:moveTo>
                  <a:lnTo>
                    <a:pt x="14477" y="203200"/>
                  </a:lnTo>
                  <a:lnTo>
                    <a:pt x="9525" y="215900"/>
                  </a:lnTo>
                  <a:lnTo>
                    <a:pt x="23494" y="215900"/>
                  </a:lnTo>
                  <a:lnTo>
                    <a:pt x="29083" y="203200"/>
                  </a:lnTo>
                  <a:close/>
                </a:path>
                <a:path w="2884170" h="1676400">
                  <a:moveTo>
                    <a:pt x="50291" y="190500"/>
                  </a:moveTo>
                  <a:lnTo>
                    <a:pt x="27304" y="190500"/>
                  </a:lnTo>
                  <a:lnTo>
                    <a:pt x="20574" y="203200"/>
                  </a:lnTo>
                  <a:lnTo>
                    <a:pt x="42037" y="203200"/>
                  </a:lnTo>
                  <a:lnTo>
                    <a:pt x="50291" y="190500"/>
                  </a:lnTo>
                  <a:close/>
                </a:path>
                <a:path w="2884170" h="1676400">
                  <a:moveTo>
                    <a:pt x="69214" y="177800"/>
                  </a:moveTo>
                  <a:lnTo>
                    <a:pt x="43687" y="177800"/>
                  </a:lnTo>
                  <a:lnTo>
                    <a:pt x="35051" y="190500"/>
                  </a:lnTo>
                  <a:lnTo>
                    <a:pt x="59054" y="190500"/>
                  </a:lnTo>
                  <a:lnTo>
                    <a:pt x="69214" y="177800"/>
                  </a:lnTo>
                  <a:close/>
                </a:path>
                <a:path w="2884170" h="1676400">
                  <a:moveTo>
                    <a:pt x="104266" y="165100"/>
                  </a:moveTo>
                  <a:lnTo>
                    <a:pt x="74675" y="165100"/>
                  </a:lnTo>
                  <a:lnTo>
                    <a:pt x="63500" y="177800"/>
                  </a:lnTo>
                  <a:lnTo>
                    <a:pt x="91566" y="177800"/>
                  </a:lnTo>
                  <a:lnTo>
                    <a:pt x="104266" y="165100"/>
                  </a:lnTo>
                  <a:close/>
                </a:path>
                <a:path w="2884170" h="1676400">
                  <a:moveTo>
                    <a:pt x="131825" y="152400"/>
                  </a:moveTo>
                  <a:lnTo>
                    <a:pt x="99567" y="152400"/>
                  </a:lnTo>
                  <a:lnTo>
                    <a:pt x="86740" y="165100"/>
                  </a:lnTo>
                  <a:lnTo>
                    <a:pt x="117475" y="165100"/>
                  </a:lnTo>
                  <a:lnTo>
                    <a:pt x="131825" y="152400"/>
                  </a:lnTo>
                  <a:close/>
                </a:path>
                <a:path w="2884170" h="1676400">
                  <a:moveTo>
                    <a:pt x="179197" y="139700"/>
                  </a:moveTo>
                  <a:lnTo>
                    <a:pt x="127635" y="139700"/>
                  </a:lnTo>
                  <a:lnTo>
                    <a:pt x="113284" y="152400"/>
                  </a:lnTo>
                  <a:lnTo>
                    <a:pt x="162560" y="152400"/>
                  </a:lnTo>
                  <a:lnTo>
                    <a:pt x="179197" y="139700"/>
                  </a:lnTo>
                  <a:close/>
                </a:path>
                <a:path w="2884170" h="1676400">
                  <a:moveTo>
                    <a:pt x="233299" y="127000"/>
                  </a:moveTo>
                  <a:lnTo>
                    <a:pt x="175640" y="127000"/>
                  </a:lnTo>
                  <a:lnTo>
                    <a:pt x="158876" y="139700"/>
                  </a:lnTo>
                  <a:lnTo>
                    <a:pt x="214375" y="139700"/>
                  </a:lnTo>
                  <a:lnTo>
                    <a:pt x="233299" y="127000"/>
                  </a:lnTo>
                  <a:close/>
                </a:path>
                <a:path w="2884170" h="1676400">
                  <a:moveTo>
                    <a:pt x="272796" y="114300"/>
                  </a:moveTo>
                  <a:lnTo>
                    <a:pt x="230250" y="114300"/>
                  </a:lnTo>
                  <a:lnTo>
                    <a:pt x="211200" y="127000"/>
                  </a:lnTo>
                  <a:lnTo>
                    <a:pt x="252602" y="127000"/>
                  </a:lnTo>
                  <a:lnTo>
                    <a:pt x="272796" y="114300"/>
                  </a:lnTo>
                  <a:close/>
                </a:path>
                <a:path w="2884170" h="1676400">
                  <a:moveTo>
                    <a:pt x="336930" y="101600"/>
                  </a:moveTo>
                  <a:lnTo>
                    <a:pt x="270001" y="101600"/>
                  </a:lnTo>
                  <a:lnTo>
                    <a:pt x="249681" y="114300"/>
                  </a:lnTo>
                  <a:lnTo>
                    <a:pt x="314833" y="114300"/>
                  </a:lnTo>
                  <a:lnTo>
                    <a:pt x="336930" y="101600"/>
                  </a:lnTo>
                  <a:close/>
                </a:path>
                <a:path w="2884170" h="1676400">
                  <a:moveTo>
                    <a:pt x="406780" y="88900"/>
                  </a:moveTo>
                  <a:lnTo>
                    <a:pt x="334517" y="88900"/>
                  </a:lnTo>
                  <a:lnTo>
                    <a:pt x="312292" y="101600"/>
                  </a:lnTo>
                  <a:lnTo>
                    <a:pt x="382777" y="101600"/>
                  </a:lnTo>
                  <a:lnTo>
                    <a:pt x="406780" y="88900"/>
                  </a:lnTo>
                  <a:close/>
                </a:path>
                <a:path w="2884170" h="1676400">
                  <a:moveTo>
                    <a:pt x="507618" y="76200"/>
                  </a:moveTo>
                  <a:lnTo>
                    <a:pt x="404622" y="76200"/>
                  </a:lnTo>
                  <a:lnTo>
                    <a:pt x="380618" y="88900"/>
                  </a:lnTo>
                  <a:lnTo>
                    <a:pt x="456056" y="88900"/>
                  </a:lnTo>
                  <a:lnTo>
                    <a:pt x="507618" y="76200"/>
                  </a:lnTo>
                  <a:close/>
                </a:path>
                <a:path w="2884170" h="1676400">
                  <a:moveTo>
                    <a:pt x="673226" y="50800"/>
                  </a:moveTo>
                  <a:lnTo>
                    <a:pt x="559180" y="50800"/>
                  </a:lnTo>
                  <a:lnTo>
                    <a:pt x="454025" y="76200"/>
                  </a:lnTo>
                  <a:lnTo>
                    <a:pt x="507491" y="76200"/>
                  </a:lnTo>
                  <a:lnTo>
                    <a:pt x="560959" y="63500"/>
                  </a:lnTo>
                  <a:lnTo>
                    <a:pt x="616076" y="63500"/>
                  </a:lnTo>
                  <a:lnTo>
                    <a:pt x="673226" y="50800"/>
                  </a:lnTo>
                  <a:close/>
                </a:path>
                <a:path w="2884170" h="1676400">
                  <a:moveTo>
                    <a:pt x="791590" y="38100"/>
                  </a:moveTo>
                  <a:lnTo>
                    <a:pt x="671702" y="38100"/>
                  </a:lnTo>
                  <a:lnTo>
                    <a:pt x="614552" y="50800"/>
                  </a:lnTo>
                  <a:lnTo>
                    <a:pt x="731647" y="50800"/>
                  </a:lnTo>
                  <a:lnTo>
                    <a:pt x="791590" y="38100"/>
                  </a:lnTo>
                  <a:close/>
                </a:path>
                <a:path w="2884170" h="1676400">
                  <a:moveTo>
                    <a:pt x="979042" y="25400"/>
                  </a:moveTo>
                  <a:lnTo>
                    <a:pt x="790448" y="25400"/>
                  </a:lnTo>
                  <a:lnTo>
                    <a:pt x="730376" y="38100"/>
                  </a:lnTo>
                  <a:lnTo>
                    <a:pt x="915415" y="38100"/>
                  </a:lnTo>
                  <a:lnTo>
                    <a:pt x="979042" y="25400"/>
                  </a:lnTo>
                  <a:close/>
                </a:path>
                <a:path w="2884170" h="1676400">
                  <a:moveTo>
                    <a:pt x="1174623" y="12700"/>
                  </a:moveTo>
                  <a:lnTo>
                    <a:pt x="978153" y="12700"/>
                  </a:lnTo>
                  <a:lnTo>
                    <a:pt x="914526" y="25400"/>
                  </a:lnTo>
                  <a:lnTo>
                    <a:pt x="1108710" y="25400"/>
                  </a:lnTo>
                  <a:lnTo>
                    <a:pt x="1174623" y="12700"/>
                  </a:lnTo>
                  <a:close/>
                </a:path>
                <a:path w="2884170" h="1676400">
                  <a:moveTo>
                    <a:pt x="1577086" y="0"/>
                  </a:moveTo>
                  <a:lnTo>
                    <a:pt x="1174114" y="0"/>
                  </a:lnTo>
                  <a:lnTo>
                    <a:pt x="1108075" y="12700"/>
                  </a:lnTo>
                  <a:lnTo>
                    <a:pt x="1576069" y="12700"/>
                  </a:lnTo>
                  <a:lnTo>
                    <a:pt x="1642998" y="25400"/>
                  </a:lnTo>
                  <a:lnTo>
                    <a:pt x="1710943" y="25400"/>
                  </a:lnTo>
                  <a:lnTo>
                    <a:pt x="1577086"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10"/>
            <p:cNvSpPr/>
            <p:nvPr/>
          </p:nvSpPr>
          <p:spPr>
            <a:xfrm>
              <a:off x="5071872" y="5088636"/>
              <a:ext cx="1152525" cy="262255"/>
            </a:xfrm>
            <a:custGeom>
              <a:avLst/>
              <a:gdLst/>
              <a:ahLst/>
              <a:cxnLst/>
              <a:rect l="l" t="t" r="r" b="b"/>
              <a:pathLst>
                <a:path w="1152525" h="262254">
                  <a:moveTo>
                    <a:pt x="0" y="262127"/>
                  </a:moveTo>
                  <a:lnTo>
                    <a:pt x="1152144" y="262127"/>
                  </a:lnTo>
                  <a:lnTo>
                    <a:pt x="1152144" y="0"/>
                  </a:lnTo>
                  <a:lnTo>
                    <a:pt x="0" y="0"/>
                  </a:lnTo>
                  <a:lnTo>
                    <a:pt x="0" y="262127"/>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
        <p:nvSpPr>
          <p:cNvPr id="24" name="object 11"/>
          <p:cNvSpPr txBox="1"/>
          <p:nvPr/>
        </p:nvSpPr>
        <p:spPr>
          <a:xfrm>
            <a:off x="1938654" y="6043371"/>
            <a:ext cx="4321810" cy="197490"/>
          </a:xfrm>
          <a:prstGeom prst="rect">
            <a:avLst/>
          </a:prstGeom>
        </p:spPr>
        <p:txBody>
          <a:bodyPr vert="horz" wrap="square" lIns="0" tIns="12700" rIns="0" bIns="0" rtlCol="0">
            <a:spAutoFit/>
          </a:bodyPr>
          <a:lstStyle/>
          <a:p>
            <a:pPr marL="12700">
              <a:spcBef>
                <a:spcPts val="100"/>
              </a:spcBef>
            </a:pPr>
            <a:r>
              <a:rPr sz="1200" dirty="0">
                <a:solidFill>
                  <a:schemeClr val="bg2">
                    <a:lumMod val="50000"/>
                  </a:schemeClr>
                </a:solidFill>
                <a:latin typeface="Palatino Linotype" panose="02040502050505030304"/>
                <a:cs typeface="Palatino Linotype" panose="02040502050505030304"/>
              </a:rPr>
              <a:t>This</a:t>
            </a:r>
            <a:r>
              <a:rPr sz="1200" spc="-10" dirty="0">
                <a:solidFill>
                  <a:schemeClr val="bg2">
                    <a:lumMod val="50000"/>
                  </a:schemeClr>
                </a:solidFill>
                <a:latin typeface="Palatino Linotype" panose="02040502050505030304"/>
                <a:cs typeface="Palatino Linotype" panose="02040502050505030304"/>
              </a:rPr>
              <a:t> </a:t>
            </a:r>
            <a:r>
              <a:rPr sz="1200" dirty="0">
                <a:solidFill>
                  <a:schemeClr val="bg2">
                    <a:lumMod val="50000"/>
                  </a:schemeClr>
                </a:solidFill>
                <a:latin typeface="Palatino Linotype" panose="02040502050505030304"/>
                <a:cs typeface="Palatino Linotype" panose="02040502050505030304"/>
              </a:rPr>
              <a:t>SDT</a:t>
            </a:r>
            <a:r>
              <a:rPr sz="1200" spc="-50" dirty="0">
                <a:solidFill>
                  <a:schemeClr val="bg2">
                    <a:lumMod val="50000"/>
                  </a:schemeClr>
                </a:solidFill>
                <a:latin typeface="Palatino Linotype" panose="02040502050505030304"/>
                <a:cs typeface="Palatino Linotype" panose="02040502050505030304"/>
              </a:rPr>
              <a:t> </a:t>
            </a:r>
            <a:r>
              <a:rPr sz="1200" dirty="0">
                <a:solidFill>
                  <a:schemeClr val="bg2">
                    <a:lumMod val="50000"/>
                  </a:schemeClr>
                </a:solidFill>
                <a:latin typeface="Palatino Linotype" panose="02040502050505030304"/>
                <a:cs typeface="Palatino Linotype" panose="02040502050505030304"/>
              </a:rPr>
              <a:t>can</a:t>
            </a:r>
            <a:r>
              <a:rPr sz="1200" spc="-30" dirty="0">
                <a:solidFill>
                  <a:schemeClr val="bg2">
                    <a:lumMod val="50000"/>
                  </a:schemeClr>
                </a:solidFill>
                <a:latin typeface="Palatino Linotype" panose="02040502050505030304"/>
                <a:cs typeface="Palatino Linotype" panose="02040502050505030304"/>
              </a:rPr>
              <a:t> </a:t>
            </a:r>
            <a:r>
              <a:rPr sz="1200" dirty="0">
                <a:solidFill>
                  <a:schemeClr val="bg2">
                    <a:lumMod val="50000"/>
                  </a:schemeClr>
                </a:solidFill>
                <a:latin typeface="Palatino Linotype" panose="02040502050505030304"/>
                <a:cs typeface="Palatino Linotype" panose="02040502050505030304"/>
              </a:rPr>
              <a:t>be</a:t>
            </a:r>
            <a:r>
              <a:rPr sz="1200" spc="-30" dirty="0">
                <a:solidFill>
                  <a:schemeClr val="bg2">
                    <a:lumMod val="50000"/>
                  </a:schemeClr>
                </a:solidFill>
                <a:latin typeface="Palatino Linotype" panose="02040502050505030304"/>
                <a:cs typeface="Palatino Linotype" panose="02040502050505030304"/>
              </a:rPr>
              <a:t> </a:t>
            </a:r>
            <a:r>
              <a:rPr sz="1200" dirty="0">
                <a:solidFill>
                  <a:schemeClr val="bg2">
                    <a:lumMod val="50000"/>
                  </a:schemeClr>
                </a:solidFill>
                <a:latin typeface="Palatino Linotype" panose="02040502050505030304"/>
                <a:cs typeface="Palatino Linotype" panose="02040502050505030304"/>
              </a:rPr>
              <a:t>implemented</a:t>
            </a:r>
            <a:r>
              <a:rPr sz="1200" spc="-15" dirty="0">
                <a:solidFill>
                  <a:schemeClr val="bg2">
                    <a:lumMod val="50000"/>
                  </a:schemeClr>
                </a:solidFill>
                <a:latin typeface="Palatino Linotype" panose="02040502050505030304"/>
                <a:cs typeface="Palatino Linotype" panose="02040502050505030304"/>
              </a:rPr>
              <a:t> </a:t>
            </a:r>
            <a:r>
              <a:rPr sz="1200" dirty="0">
                <a:solidFill>
                  <a:schemeClr val="bg2">
                    <a:lumMod val="50000"/>
                  </a:schemeClr>
                </a:solidFill>
                <a:latin typeface="Palatino Linotype" panose="02040502050505030304"/>
                <a:cs typeface="Palatino Linotype" panose="02040502050505030304"/>
              </a:rPr>
              <a:t>during</a:t>
            </a:r>
            <a:r>
              <a:rPr sz="1200" spc="-25" dirty="0">
                <a:solidFill>
                  <a:schemeClr val="bg2">
                    <a:lumMod val="50000"/>
                  </a:schemeClr>
                </a:solidFill>
                <a:latin typeface="Palatino Linotype" panose="02040502050505030304"/>
                <a:cs typeface="Palatino Linotype" panose="02040502050505030304"/>
              </a:rPr>
              <a:t> </a:t>
            </a:r>
            <a:r>
              <a:rPr sz="1200" spc="-10" dirty="0">
                <a:solidFill>
                  <a:schemeClr val="bg2">
                    <a:lumMod val="50000"/>
                  </a:schemeClr>
                </a:solidFill>
                <a:latin typeface="Palatino Linotype" panose="02040502050505030304"/>
                <a:cs typeface="Palatino Linotype" panose="02040502050505030304"/>
              </a:rPr>
              <a:t>recursive-</a:t>
            </a:r>
            <a:r>
              <a:rPr sz="1200" dirty="0">
                <a:solidFill>
                  <a:schemeClr val="bg2">
                    <a:lumMod val="50000"/>
                  </a:schemeClr>
                </a:solidFill>
                <a:latin typeface="Palatino Linotype" panose="02040502050505030304"/>
                <a:cs typeface="Palatino Linotype" panose="02040502050505030304"/>
              </a:rPr>
              <a:t>descent</a:t>
            </a:r>
            <a:r>
              <a:rPr sz="1200" spc="5" dirty="0">
                <a:solidFill>
                  <a:schemeClr val="bg2">
                    <a:lumMod val="50000"/>
                  </a:schemeClr>
                </a:solidFill>
                <a:latin typeface="Palatino Linotype" panose="02040502050505030304"/>
                <a:cs typeface="Palatino Linotype" panose="02040502050505030304"/>
              </a:rPr>
              <a:t> </a:t>
            </a:r>
            <a:r>
              <a:rPr sz="1200" spc="-10" dirty="0">
                <a:solidFill>
                  <a:schemeClr val="bg2">
                    <a:lumMod val="50000"/>
                  </a:schemeClr>
                </a:solidFill>
                <a:latin typeface="Palatino Linotype" panose="02040502050505030304"/>
                <a:cs typeface="Palatino Linotype" panose="02040502050505030304"/>
              </a:rPr>
              <a:t>parsing</a:t>
            </a:r>
            <a:endParaRPr sz="1200" dirty="0">
              <a:solidFill>
                <a:schemeClr val="bg2">
                  <a:lumMod val="50000"/>
                </a:schemeClr>
              </a:solidFill>
              <a:latin typeface="Palatino Linotype" panose="02040502050505030304"/>
              <a:cs typeface="Palatino Linotype" panose="020405020505050303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37</a:t>
            </a:fld>
            <a:endParaRPr lang="en-US"/>
          </a:p>
        </p:txBody>
      </p:sp>
      <p:sp>
        <p:nvSpPr>
          <p:cNvPr id="9"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30" normalizeH="0" baseline="0" noProof="0">
                <a:ln>
                  <a:noFill/>
                </a:ln>
                <a:solidFill>
                  <a:srgbClr val="000000"/>
                </a:solidFill>
                <a:effectLst/>
                <a:uLnTx/>
                <a:uFillTx/>
                <a:latin typeface="Palatino Linotype" panose="02040502050505030304"/>
                <a:ea typeface="+mj-ea"/>
              </a:rPr>
              <a:t>Translation</a:t>
            </a:r>
            <a:r>
              <a:rPr kumimoji="0" lang="en-US" sz="4000" b="1" i="0" u="none" strike="noStrike" kern="0" cap="none" spc="-13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Process</a:t>
            </a:r>
            <a:r>
              <a:rPr kumimoji="0" lang="en-US" sz="4000" b="1" i="0" u="none" strike="noStrike" kern="0" cap="none" spc="-14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Example</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10" name="object 3"/>
          <p:cNvSpPr txBox="1"/>
          <p:nvPr/>
        </p:nvSpPr>
        <p:spPr>
          <a:xfrm>
            <a:off x="643839" y="1520444"/>
            <a:ext cx="7748905" cy="1229360"/>
          </a:xfrm>
          <a:prstGeom prst="rect">
            <a:avLst/>
          </a:prstGeom>
        </p:spPr>
        <p:txBody>
          <a:bodyPr vert="horz" wrap="square" lIns="0" tIns="13335" rIns="0" bIns="0" rtlCol="0">
            <a:spAutoFit/>
          </a:bodyPr>
          <a:lstStyle/>
          <a:p>
            <a:pPr marL="242570" indent="-229870">
              <a:spcBef>
                <a:spcPts val="105"/>
              </a:spcBef>
              <a:buClr>
                <a:srgbClr val="000000"/>
              </a:buClr>
              <a:buFont typeface="Arial MT"/>
              <a:buChar char="•"/>
              <a:tabLst>
                <a:tab pos="242570" algn="l"/>
              </a:tabLst>
            </a:pPr>
            <a:r>
              <a:rPr sz="2000" b="1" dirty="0">
                <a:solidFill>
                  <a:srgbClr val="0431FF"/>
                </a:solidFill>
                <a:latin typeface="Palatino Linotype" panose="02040502050505030304"/>
                <a:cs typeface="Palatino Linotype" panose="02040502050505030304"/>
              </a:rPr>
              <a:t>Recall</a:t>
            </a:r>
            <a:r>
              <a:rPr sz="2000" b="1" spc="-55" dirty="0">
                <a:solidFill>
                  <a:srgbClr val="0431FF"/>
                </a:solidFill>
                <a:latin typeface="Palatino Linotype" panose="02040502050505030304"/>
                <a:cs typeface="Palatino Linotype" panose="02040502050505030304"/>
              </a:rPr>
              <a:t> </a:t>
            </a:r>
            <a:r>
              <a:rPr sz="2000" b="1" dirty="0">
                <a:solidFill>
                  <a:srgbClr val="0431FF"/>
                </a:solidFill>
                <a:latin typeface="Palatino Linotype" panose="02040502050505030304"/>
                <a:cs typeface="Palatino Linotype" panose="02040502050505030304"/>
              </a:rPr>
              <a:t>the translation</a:t>
            </a:r>
            <a:r>
              <a:rPr sz="2000" b="1" spc="-45" dirty="0">
                <a:solidFill>
                  <a:srgbClr val="0431FF"/>
                </a:solidFill>
                <a:latin typeface="Palatino Linotype" panose="02040502050505030304"/>
                <a:cs typeface="Palatino Linotype" panose="02040502050505030304"/>
              </a:rPr>
              <a:t> </a:t>
            </a:r>
            <a:r>
              <a:rPr sz="2000" b="1" dirty="0">
                <a:solidFill>
                  <a:srgbClr val="0431FF"/>
                </a:solidFill>
                <a:latin typeface="Palatino Linotype" panose="02040502050505030304"/>
                <a:cs typeface="Palatino Linotype" panose="02040502050505030304"/>
              </a:rPr>
              <a:t>during recursive-descent</a:t>
            </a:r>
            <a:r>
              <a:rPr sz="2000" b="1" spc="-40" dirty="0">
                <a:solidFill>
                  <a:srgbClr val="0431FF"/>
                </a:solidFill>
                <a:latin typeface="Palatino Linotype" panose="02040502050505030304"/>
                <a:cs typeface="Palatino Linotype" panose="02040502050505030304"/>
              </a:rPr>
              <a:t> </a:t>
            </a:r>
            <a:r>
              <a:rPr sz="2000" b="1" spc="-10" dirty="0">
                <a:solidFill>
                  <a:srgbClr val="0431FF"/>
                </a:solidFill>
                <a:latin typeface="Palatino Linotype" panose="02040502050505030304"/>
                <a:cs typeface="Palatino Linotype" panose="02040502050505030304"/>
              </a:rPr>
              <a:t>parsing</a:t>
            </a:r>
            <a:endParaRPr sz="2000">
              <a:solidFill>
                <a:sysClr val="windowText" lastClr="000000"/>
              </a:solidFill>
              <a:latin typeface="Palatino Linotype" panose="02040502050505030304"/>
              <a:cs typeface="Palatino Linotype" panose="02040502050505030304"/>
            </a:endParaRPr>
          </a:p>
          <a:p>
            <a:pPr marL="697865" lvl="1" indent="-227965">
              <a:spcBef>
                <a:spcPts val="1645"/>
              </a:spcBef>
              <a:buFont typeface="Wingdings" panose="05000000000000000000"/>
              <a:buChar char=""/>
              <a:tabLst>
                <a:tab pos="697865" algn="l"/>
              </a:tabLst>
            </a:pPr>
            <a:r>
              <a:rPr sz="1600" dirty="0">
                <a:solidFill>
                  <a:sysClr val="windowText" lastClr="000000"/>
                </a:solidFill>
                <a:latin typeface="Palatino Linotype" panose="02040502050505030304"/>
                <a:cs typeface="Palatino Linotype" panose="02040502050505030304"/>
              </a:rPr>
              <a:t>Use</a:t>
            </a:r>
            <a:r>
              <a:rPr sz="1600" spc="-4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arguments</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of</a:t>
            </a:r>
            <a:r>
              <a:rPr sz="1600" spc="-4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function</a:t>
            </a:r>
            <a:r>
              <a:rPr sz="1600" spc="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Cambria Math" panose="02040503050406030204"/>
                <a:cs typeface="Cambria Math" panose="02040503050406030204"/>
              </a:rPr>
              <a:t>𝐴</a:t>
            </a:r>
            <a:r>
              <a:rPr sz="1600" dirty="0">
                <a:solidFill>
                  <a:sysClr val="windowText" lastClr="000000"/>
                </a:solidFill>
                <a:latin typeface="Palatino Linotype" panose="02040502050505030304"/>
                <a:cs typeface="Palatino Linotype" panose="02040502050505030304"/>
              </a:rPr>
              <a:t>()</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to</a:t>
            </a:r>
            <a:r>
              <a:rPr sz="1600" spc="-4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pass</a:t>
            </a:r>
            <a:r>
              <a:rPr sz="1600" spc="-5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nonterminal</a:t>
            </a:r>
            <a:r>
              <a:rPr sz="1600" spc="-5" dirty="0">
                <a:solidFill>
                  <a:sysClr val="windowText" lastClr="000000"/>
                </a:solidFill>
                <a:latin typeface="Palatino Linotype" panose="02040502050505030304"/>
                <a:cs typeface="Palatino Linotype" panose="02040502050505030304"/>
              </a:rPr>
              <a:t> </a:t>
            </a:r>
            <a:r>
              <a:rPr sz="1600" spc="-45" dirty="0">
                <a:solidFill>
                  <a:sysClr val="windowText" lastClr="000000"/>
                </a:solidFill>
                <a:latin typeface="Cambria Math" panose="02040503050406030204"/>
                <a:cs typeface="Cambria Math" panose="02040503050406030204"/>
              </a:rPr>
              <a:t>𝐴</a:t>
            </a:r>
            <a:r>
              <a:rPr sz="1600" spc="-45" dirty="0">
                <a:solidFill>
                  <a:sysClr val="windowText" lastClr="000000"/>
                </a:solidFill>
                <a:latin typeface="Palatino Linotype" panose="02040502050505030304"/>
                <a:cs typeface="Palatino Linotype" panose="02040502050505030304"/>
              </a:rPr>
              <a:t>’s</a:t>
            </a:r>
            <a:r>
              <a:rPr sz="1600" spc="-35" dirty="0">
                <a:solidFill>
                  <a:sysClr val="windowText" lastClr="00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inherited</a:t>
            </a:r>
            <a:r>
              <a:rPr sz="1600" spc="-45" dirty="0">
                <a:solidFill>
                  <a:srgbClr val="FF0000"/>
                </a:solidFill>
                <a:latin typeface="Palatino Linotype" panose="02040502050505030304"/>
                <a:cs typeface="Palatino Linotype" panose="02040502050505030304"/>
              </a:rPr>
              <a:t> </a:t>
            </a:r>
            <a:r>
              <a:rPr sz="1600" spc="-10" dirty="0">
                <a:solidFill>
                  <a:srgbClr val="FF0000"/>
                </a:solidFill>
                <a:latin typeface="Palatino Linotype" panose="02040502050505030304"/>
                <a:cs typeface="Palatino Linotype" panose="02040502050505030304"/>
              </a:rPr>
              <a:t>attributes*</a:t>
            </a:r>
            <a:endParaRPr sz="1600">
              <a:solidFill>
                <a:sysClr val="windowText" lastClr="000000"/>
              </a:solidFill>
              <a:latin typeface="Palatino Linotype" panose="02040502050505030304"/>
              <a:cs typeface="Palatino Linotype" panose="02040502050505030304"/>
            </a:endParaRPr>
          </a:p>
          <a:p>
            <a:pPr marL="697865" lvl="1" indent="-227965">
              <a:spcBef>
                <a:spcPts val="1585"/>
              </a:spcBef>
              <a:buFont typeface="Wingdings" panose="05000000000000000000"/>
              <a:buChar char=""/>
              <a:tabLst>
                <a:tab pos="697865" algn="l"/>
              </a:tabLst>
            </a:pPr>
            <a:r>
              <a:rPr sz="1600" dirty="0">
                <a:solidFill>
                  <a:sysClr val="windowText" lastClr="000000"/>
                </a:solidFill>
                <a:latin typeface="Palatino Linotype" panose="02040502050505030304"/>
                <a:cs typeface="Palatino Linotype" panose="02040502050505030304"/>
              </a:rPr>
              <a:t>Evaluate</a:t>
            </a:r>
            <a:r>
              <a:rPr sz="1600" spc="-5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and</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Return</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a:t>
            </a:r>
            <a:r>
              <a:rPr sz="1600" spc="-20" dirty="0">
                <a:solidFill>
                  <a:sysClr val="windowText" lastClr="00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synthesized</a:t>
            </a:r>
            <a:r>
              <a:rPr sz="1600" spc="-20"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attributes</a:t>
            </a:r>
            <a:r>
              <a:rPr sz="1600" spc="-30" dirty="0">
                <a:solidFill>
                  <a:srgbClr val="FF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of</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Cambria Math" panose="02040503050406030204"/>
                <a:cs typeface="Cambria Math" panose="02040503050406030204"/>
              </a:rPr>
              <a:t>𝐴</a:t>
            </a:r>
            <a:r>
              <a:rPr sz="1600" spc="5" dirty="0">
                <a:solidFill>
                  <a:sysClr val="windowText" lastClr="000000"/>
                </a:solidFill>
                <a:latin typeface="Cambria Math" panose="02040503050406030204"/>
                <a:cs typeface="Cambria Math" panose="02040503050406030204"/>
              </a:rPr>
              <a:t> </a:t>
            </a:r>
            <a:r>
              <a:rPr sz="1600" dirty="0">
                <a:solidFill>
                  <a:sysClr val="windowText" lastClr="000000"/>
                </a:solidFill>
                <a:latin typeface="Palatino Linotype" panose="02040502050505030304"/>
                <a:cs typeface="Palatino Linotype" panose="02040502050505030304"/>
              </a:rPr>
              <a:t>when</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Cambria Math" panose="02040503050406030204"/>
                <a:cs typeface="Cambria Math" panose="02040503050406030204"/>
              </a:rPr>
              <a:t>𝐴</a:t>
            </a:r>
            <a:r>
              <a:rPr sz="1600" dirty="0">
                <a:solidFill>
                  <a:sysClr val="windowText" lastClr="000000"/>
                </a:solidFill>
                <a:latin typeface="Palatino Linotype" panose="02040502050505030304"/>
                <a:cs typeface="Palatino Linotype" panose="02040502050505030304"/>
              </a:rPr>
              <a:t>()</a:t>
            </a:r>
            <a:r>
              <a:rPr sz="1600" spc="-25"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completes</a:t>
            </a:r>
            <a:endParaRPr sz="1600">
              <a:solidFill>
                <a:sysClr val="windowText" lastClr="000000"/>
              </a:solidFill>
              <a:latin typeface="Palatino Linotype" panose="02040502050505030304"/>
              <a:cs typeface="Palatino Linotype" panose="02040502050505030304"/>
            </a:endParaRPr>
          </a:p>
        </p:txBody>
      </p:sp>
      <p:pic>
        <p:nvPicPr>
          <p:cNvPr id="11" name="object 4"/>
          <p:cNvPicPr/>
          <p:nvPr/>
        </p:nvPicPr>
        <p:blipFill>
          <a:blip r:embed="rId3" cstate="print"/>
          <a:stretch>
            <a:fillRect/>
          </a:stretch>
        </p:blipFill>
        <p:spPr>
          <a:xfrm>
            <a:off x="1280851" y="3219681"/>
            <a:ext cx="6587265" cy="2722431"/>
          </a:xfrm>
          <a:prstGeom prst="rect">
            <a:avLst/>
          </a:prstGeom>
        </p:spPr>
      </p:pic>
      <p:sp>
        <p:nvSpPr>
          <p:cNvPr id="12" name="object 5"/>
          <p:cNvSpPr txBox="1"/>
          <p:nvPr/>
        </p:nvSpPr>
        <p:spPr>
          <a:xfrm>
            <a:off x="1255572" y="5365191"/>
            <a:ext cx="3872229" cy="910590"/>
          </a:xfrm>
          <a:prstGeom prst="rect">
            <a:avLst/>
          </a:prstGeom>
        </p:spPr>
        <p:txBody>
          <a:bodyPr vert="horz" wrap="square" lIns="0" tIns="12700" rIns="0" bIns="0" rtlCol="0">
            <a:spAutoFit/>
          </a:bodyPr>
          <a:lstStyle/>
          <a:p>
            <a:pPr marL="323850">
              <a:spcBef>
                <a:spcPts val="100"/>
              </a:spcBef>
            </a:pPr>
            <a:r>
              <a:rPr spc="-10" dirty="0">
                <a:solidFill>
                  <a:srgbClr val="0431FF"/>
                </a:solidFill>
                <a:latin typeface="Consolas" panose="020B0609020204030204"/>
                <a:cs typeface="Consolas" panose="020B0609020204030204"/>
              </a:rPr>
              <a:t>int[2][3]</a:t>
            </a:r>
            <a:endParaRPr>
              <a:solidFill>
                <a:sysClr val="windowText" lastClr="000000"/>
              </a:solidFill>
              <a:latin typeface="Consolas" panose="020B0609020204030204"/>
              <a:cs typeface="Consolas" panose="020B0609020204030204"/>
            </a:endParaRPr>
          </a:p>
          <a:p>
            <a:pPr>
              <a:spcBef>
                <a:spcPts val="1020"/>
              </a:spcBef>
            </a:pPr>
            <a:endParaRPr>
              <a:solidFill>
                <a:sysClr val="windowText" lastClr="000000"/>
              </a:solidFill>
              <a:latin typeface="Consolas" panose="020B0609020204030204"/>
              <a:cs typeface="Consolas" panose="020B0609020204030204"/>
            </a:endParaRPr>
          </a:p>
          <a:p>
            <a:pPr marL="12700"/>
            <a:r>
              <a:rPr sz="1400" dirty="0">
                <a:solidFill>
                  <a:srgbClr val="A6A6A6"/>
                </a:solidFill>
                <a:latin typeface="Palatino Linotype" panose="02040502050505030304"/>
                <a:cs typeface="Palatino Linotype" panose="02040502050505030304"/>
              </a:rPr>
              <a:t>*</a:t>
            </a:r>
            <a:r>
              <a:rPr sz="1400" spc="-15"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In</a:t>
            </a:r>
            <a:r>
              <a:rPr sz="1400" spc="-15"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our</a:t>
            </a:r>
            <a:r>
              <a:rPr sz="1400" spc="-15"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example,</a:t>
            </a:r>
            <a:r>
              <a:rPr sz="1400" spc="-15"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we</a:t>
            </a:r>
            <a:r>
              <a:rPr sz="1400" spc="-30"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use</a:t>
            </a:r>
            <a:r>
              <a:rPr sz="1400" spc="-30"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global</a:t>
            </a:r>
            <a:r>
              <a:rPr sz="1400" spc="-30"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variables</a:t>
            </a:r>
            <a:r>
              <a:rPr sz="1400" spc="-25" dirty="0">
                <a:solidFill>
                  <a:srgbClr val="A6A6A6"/>
                </a:solidFill>
                <a:latin typeface="Palatino Linotype" panose="02040502050505030304"/>
                <a:cs typeface="Palatino Linotype" panose="02040502050505030304"/>
              </a:rPr>
              <a:t> </a:t>
            </a:r>
            <a:r>
              <a:rPr sz="1400" i="1" dirty="0">
                <a:solidFill>
                  <a:srgbClr val="A6A6A6"/>
                </a:solidFill>
                <a:latin typeface="Palatino Linotype" panose="02040502050505030304"/>
                <a:cs typeface="Palatino Linotype" panose="02040502050505030304"/>
              </a:rPr>
              <a:t>t</a:t>
            </a:r>
            <a:r>
              <a:rPr sz="1400" i="1" spc="-20" dirty="0">
                <a:solidFill>
                  <a:srgbClr val="A6A6A6"/>
                </a:solidFill>
                <a:latin typeface="Palatino Linotype" panose="02040502050505030304"/>
                <a:cs typeface="Palatino Linotype" panose="02040502050505030304"/>
              </a:rPr>
              <a:t> </a:t>
            </a:r>
            <a:r>
              <a:rPr sz="1400" dirty="0">
                <a:solidFill>
                  <a:srgbClr val="A6A6A6"/>
                </a:solidFill>
                <a:latin typeface="Palatino Linotype" panose="02040502050505030304"/>
                <a:cs typeface="Palatino Linotype" panose="02040502050505030304"/>
              </a:rPr>
              <a:t>and</a:t>
            </a:r>
            <a:r>
              <a:rPr sz="1400" spc="-35" dirty="0">
                <a:solidFill>
                  <a:srgbClr val="A6A6A6"/>
                </a:solidFill>
                <a:latin typeface="Palatino Linotype" panose="02040502050505030304"/>
                <a:cs typeface="Palatino Linotype" panose="02040502050505030304"/>
              </a:rPr>
              <a:t> </a:t>
            </a:r>
            <a:r>
              <a:rPr sz="1400" i="1" spc="-50" dirty="0">
                <a:solidFill>
                  <a:srgbClr val="A6A6A6"/>
                </a:solidFill>
                <a:latin typeface="Palatino Linotype" panose="02040502050505030304"/>
                <a:cs typeface="Palatino Linotype" panose="02040502050505030304"/>
              </a:rPr>
              <a:t>w</a:t>
            </a:r>
            <a:endParaRPr sz="1400">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38</a:t>
            </a:fld>
            <a:endParaRPr lang="en-US"/>
          </a:p>
        </p:txBody>
      </p:sp>
      <p:sp>
        <p:nvSpPr>
          <p:cNvPr id="15"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30" normalizeH="0" baseline="0" noProof="0">
                <a:ln>
                  <a:noFill/>
                </a:ln>
                <a:solidFill>
                  <a:srgbClr val="000000"/>
                </a:solidFill>
                <a:effectLst/>
                <a:uLnTx/>
                <a:uFillTx/>
                <a:latin typeface="Palatino Linotype" panose="02040502050505030304"/>
                <a:ea typeface="+mj-ea"/>
              </a:rPr>
              <a:t>Translation</a:t>
            </a:r>
            <a:r>
              <a:rPr kumimoji="0" lang="en-US" sz="4000" b="1" i="0" u="none" strike="noStrike" kern="0" cap="none" spc="-13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Process</a:t>
            </a:r>
            <a:r>
              <a:rPr kumimoji="0" lang="en-US" sz="4000" b="1" i="0" u="none" strike="noStrike" kern="0" cap="none" spc="-14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Example</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16" name="object 3"/>
          <p:cNvSpPr txBox="1"/>
          <p:nvPr/>
        </p:nvSpPr>
        <p:spPr>
          <a:xfrm>
            <a:off x="814832" y="1343659"/>
            <a:ext cx="2540635" cy="1066165"/>
          </a:xfrm>
          <a:prstGeom prst="rect">
            <a:avLst/>
          </a:prstGeom>
        </p:spPr>
        <p:txBody>
          <a:bodyPr vert="horz" wrap="square" lIns="0" tIns="12700" rIns="0" bIns="0" rtlCol="0">
            <a:spAutoFit/>
          </a:bodyPr>
          <a:lstStyle/>
          <a:p>
            <a:pPr marL="12700">
              <a:spcBef>
                <a:spcPts val="100"/>
              </a:spcBef>
            </a:pPr>
            <a:r>
              <a:rPr dirty="0">
                <a:solidFill>
                  <a:sysClr val="windowText" lastClr="000000"/>
                </a:solidFill>
                <a:latin typeface="Palatino Linotype" panose="02040502050505030304"/>
                <a:cs typeface="Palatino Linotype" panose="02040502050505030304"/>
              </a:rPr>
              <a:t>Input</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string:</a:t>
            </a:r>
            <a:r>
              <a:rPr spc="465" dirty="0">
                <a:solidFill>
                  <a:sysClr val="windowText" lastClr="000000"/>
                </a:solidFill>
                <a:latin typeface="Palatino Linotype" panose="02040502050505030304"/>
                <a:cs typeface="Palatino Linotype" panose="02040502050505030304"/>
              </a:rPr>
              <a:t> </a:t>
            </a:r>
            <a:r>
              <a:rPr spc="-10" dirty="0">
                <a:solidFill>
                  <a:srgbClr val="0431FF"/>
                </a:solidFill>
                <a:latin typeface="Consolas" panose="020B0609020204030204"/>
                <a:cs typeface="Consolas" panose="020B0609020204030204"/>
              </a:rPr>
              <a:t>int[2][3]</a:t>
            </a:r>
            <a:endParaRPr>
              <a:solidFill>
                <a:sysClr val="windowText" lastClr="000000"/>
              </a:solidFill>
              <a:latin typeface="Consolas" panose="020B0609020204030204"/>
              <a:cs typeface="Consolas" panose="020B0609020204030204"/>
            </a:endParaRPr>
          </a:p>
          <a:p>
            <a:pPr>
              <a:spcBef>
                <a:spcPts val="1765"/>
              </a:spcBef>
            </a:pPr>
            <a:endParaRPr>
              <a:solidFill>
                <a:sysClr val="windowText" lastClr="000000"/>
              </a:solidFill>
              <a:latin typeface="Consolas" panose="020B0609020204030204"/>
              <a:cs typeface="Consolas" panose="020B0609020204030204"/>
            </a:endParaRPr>
          </a:p>
          <a:p>
            <a:pPr marL="779145"/>
            <a:r>
              <a:rPr spc="-50" dirty="0">
                <a:solidFill>
                  <a:sysClr val="windowText" lastClr="000000"/>
                </a:solidFill>
                <a:latin typeface="Palatino Linotype" panose="02040502050505030304"/>
                <a:cs typeface="Palatino Linotype" panose="02040502050505030304"/>
              </a:rPr>
              <a:t>T</a:t>
            </a:r>
            <a:endParaRPr>
              <a:solidFill>
                <a:sysClr val="windowText" lastClr="000000"/>
              </a:solidFill>
              <a:latin typeface="Palatino Linotype" panose="02040502050505030304"/>
              <a:cs typeface="Palatino Linotype" panose="02040502050505030304"/>
            </a:endParaRPr>
          </a:p>
        </p:txBody>
      </p:sp>
      <p:sp>
        <p:nvSpPr>
          <p:cNvPr id="17" name="object 4"/>
          <p:cNvSpPr txBox="1"/>
          <p:nvPr/>
        </p:nvSpPr>
        <p:spPr>
          <a:xfrm>
            <a:off x="814832" y="2735707"/>
            <a:ext cx="16510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B</a:t>
            </a:r>
            <a:endParaRPr>
              <a:solidFill>
                <a:sysClr val="windowText" lastClr="000000"/>
              </a:solidFill>
              <a:latin typeface="Palatino Linotype" panose="02040502050505030304"/>
              <a:cs typeface="Palatino Linotype" panose="02040502050505030304"/>
            </a:endParaRPr>
          </a:p>
        </p:txBody>
      </p:sp>
      <p:sp>
        <p:nvSpPr>
          <p:cNvPr id="18" name="object 5"/>
          <p:cNvSpPr txBox="1"/>
          <p:nvPr/>
        </p:nvSpPr>
        <p:spPr>
          <a:xfrm>
            <a:off x="2299207" y="2735707"/>
            <a:ext cx="18796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19" name="object 6"/>
          <p:cNvSpPr/>
          <p:nvPr/>
        </p:nvSpPr>
        <p:spPr>
          <a:xfrm>
            <a:off x="899160" y="2461260"/>
            <a:ext cx="1495425" cy="256540"/>
          </a:xfrm>
          <a:custGeom>
            <a:avLst/>
            <a:gdLst/>
            <a:ahLst/>
            <a:cxnLst/>
            <a:rect l="l" t="t" r="r" b="b"/>
            <a:pathLst>
              <a:path w="1495425" h="256539">
                <a:moveTo>
                  <a:pt x="766572" y="0"/>
                </a:moveTo>
                <a:lnTo>
                  <a:pt x="0" y="256412"/>
                </a:lnTo>
              </a:path>
              <a:path w="1495425" h="256539">
                <a:moveTo>
                  <a:pt x="766572" y="0"/>
                </a:moveTo>
                <a:lnTo>
                  <a:pt x="1495425" y="256412"/>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20" name="object 7"/>
          <p:cNvSpPr/>
          <p:nvPr/>
        </p:nvSpPr>
        <p:spPr>
          <a:xfrm>
            <a:off x="6390640" y="2228723"/>
            <a:ext cx="0" cy="2973070"/>
          </a:xfrm>
          <a:custGeom>
            <a:avLst/>
            <a:gdLst/>
            <a:ahLst/>
            <a:cxnLst/>
            <a:rect l="l" t="t" r="r" b="b"/>
            <a:pathLst>
              <a:path h="2973070">
                <a:moveTo>
                  <a:pt x="0" y="0"/>
                </a:moveTo>
                <a:lnTo>
                  <a:pt x="0" y="297307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8"/>
          <p:cNvSpPr/>
          <p:nvPr/>
        </p:nvSpPr>
        <p:spPr>
          <a:xfrm>
            <a:off x="8101456" y="2228723"/>
            <a:ext cx="0" cy="2973070"/>
          </a:xfrm>
          <a:custGeom>
            <a:avLst/>
            <a:gdLst/>
            <a:ahLst/>
            <a:cxnLst/>
            <a:rect l="l" t="t" r="r" b="b"/>
            <a:pathLst>
              <a:path h="2973070">
                <a:moveTo>
                  <a:pt x="0" y="0"/>
                </a:moveTo>
                <a:lnTo>
                  <a:pt x="0" y="297307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22" name="object 9"/>
          <p:cNvSpPr txBox="1"/>
          <p:nvPr/>
        </p:nvSpPr>
        <p:spPr>
          <a:xfrm>
            <a:off x="6390640" y="4824603"/>
            <a:ext cx="1711325" cy="370840"/>
          </a:xfrm>
          <a:prstGeom prst="rect">
            <a:avLst/>
          </a:prstGeom>
          <a:ln w="12700">
            <a:solidFill>
              <a:srgbClr val="000000"/>
            </a:solidFill>
          </a:ln>
        </p:spPr>
        <p:txBody>
          <a:bodyPr vert="horz" wrap="square" lIns="0" tIns="31750" rIns="0" bIns="0" rtlCol="0">
            <a:spAutoFit/>
          </a:bodyPr>
          <a:lstStyle/>
          <a:p>
            <a:pPr marL="1905" algn="ctr">
              <a:spcBef>
                <a:spcPts val="250"/>
              </a:spcBef>
            </a:pPr>
            <a:r>
              <a:rPr spc="-25" dirty="0">
                <a:solidFill>
                  <a:sysClr val="windowText" lastClr="000000"/>
                </a:solidFill>
                <a:latin typeface="Palatino Linotype" panose="02040502050505030304"/>
                <a:cs typeface="Palatino Linotype" panose="02040502050505030304"/>
              </a:rPr>
              <a:t>T()</a:t>
            </a:r>
            <a:endParaRPr>
              <a:solidFill>
                <a:sysClr val="windowText" lastClr="000000"/>
              </a:solidFill>
              <a:latin typeface="Palatino Linotype" panose="02040502050505030304"/>
              <a:cs typeface="Palatino Linotype" panose="02040502050505030304"/>
            </a:endParaRPr>
          </a:p>
        </p:txBody>
      </p:sp>
      <p:sp>
        <p:nvSpPr>
          <p:cNvPr id="23" name="object 10"/>
          <p:cNvSpPr txBox="1"/>
          <p:nvPr/>
        </p:nvSpPr>
        <p:spPr>
          <a:xfrm>
            <a:off x="6819138" y="5393842"/>
            <a:ext cx="895350" cy="269240"/>
          </a:xfrm>
          <a:prstGeom prst="rect">
            <a:avLst/>
          </a:prstGeom>
        </p:spPr>
        <p:txBody>
          <a:bodyPr vert="horz" wrap="square" lIns="0" tIns="12065" rIns="0" bIns="0" rtlCol="0">
            <a:spAutoFit/>
          </a:bodyPr>
          <a:lstStyle/>
          <a:p>
            <a:pPr marL="12700">
              <a:spcBef>
                <a:spcPts val="95"/>
              </a:spcBef>
            </a:pPr>
            <a:r>
              <a:rPr sz="1600" dirty="0">
                <a:solidFill>
                  <a:sysClr val="windowText" lastClr="000000"/>
                </a:solidFill>
                <a:latin typeface="Palatino Linotype" panose="02040502050505030304"/>
                <a:cs typeface="Palatino Linotype" panose="02040502050505030304"/>
              </a:rPr>
              <a:t>Call</a:t>
            </a:r>
            <a:r>
              <a:rPr sz="1600" spc="-30"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stack</a:t>
            </a:r>
            <a:endParaRPr sz="1600">
              <a:solidFill>
                <a:sysClr val="windowText" lastClr="000000"/>
              </a:solidFill>
              <a:latin typeface="Palatino Linotype" panose="02040502050505030304"/>
              <a:cs typeface="Palatino Linotype" panose="02040502050505030304"/>
            </a:endParaRPr>
          </a:p>
        </p:txBody>
      </p:sp>
      <p:sp>
        <p:nvSpPr>
          <p:cNvPr id="24" name="object 11"/>
          <p:cNvSpPr txBox="1"/>
          <p:nvPr/>
        </p:nvSpPr>
        <p:spPr>
          <a:xfrm>
            <a:off x="817575" y="4082288"/>
            <a:ext cx="3196590" cy="299720"/>
          </a:xfrm>
          <a:prstGeom prst="rect">
            <a:avLst/>
          </a:prstGeom>
        </p:spPr>
        <p:txBody>
          <a:bodyPr vert="horz" wrap="square" lIns="0" tIns="12700" rIns="0" bIns="0" rtlCol="0">
            <a:spAutoFit/>
          </a:bodyPr>
          <a:lstStyle/>
          <a:p>
            <a:pPr marL="12700">
              <a:spcBef>
                <a:spcPts val="100"/>
              </a:spcBef>
            </a:pPr>
            <a:r>
              <a:rPr b="1" dirty="0">
                <a:solidFill>
                  <a:srgbClr val="FF0000"/>
                </a:solidFill>
                <a:latin typeface="Palatino Linotype" panose="02040502050505030304"/>
                <a:cs typeface="Palatino Linotype" panose="02040502050505030304"/>
              </a:rPr>
              <a:t>Step</a:t>
            </a:r>
            <a:r>
              <a:rPr b="1" spc="-20" dirty="0">
                <a:solidFill>
                  <a:srgbClr val="FF0000"/>
                </a:solidFill>
                <a:latin typeface="Palatino Linotype" panose="02040502050505030304"/>
                <a:cs typeface="Palatino Linotype" panose="02040502050505030304"/>
              </a:rPr>
              <a:t> </a:t>
            </a:r>
            <a:r>
              <a:rPr b="1" dirty="0">
                <a:solidFill>
                  <a:srgbClr val="FF0000"/>
                </a:solidFill>
                <a:latin typeface="Palatino Linotype" panose="02040502050505030304"/>
                <a:cs typeface="Palatino Linotype" panose="02040502050505030304"/>
              </a:rPr>
              <a:t>1:</a:t>
            </a:r>
            <a:r>
              <a:rPr b="1" spc="-20" dirty="0">
                <a:solidFill>
                  <a:srgbClr val="FF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Rewrite</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Cambria Math" panose="02040503050406030204"/>
                <a:cs typeface="Cambria Math" panose="02040503050406030204"/>
              </a:rPr>
              <a:t>𝑇</a:t>
            </a:r>
            <a:r>
              <a:rPr spc="80" dirty="0">
                <a:solidFill>
                  <a:sysClr val="windowText" lastClr="000000"/>
                </a:solidFill>
                <a:latin typeface="Cambria Math" panose="02040503050406030204"/>
                <a:cs typeface="Cambria Math" panose="02040503050406030204"/>
              </a:rPr>
              <a:t> </a:t>
            </a:r>
            <a:r>
              <a:rPr dirty="0">
                <a:solidFill>
                  <a:sysClr val="windowText" lastClr="000000"/>
                </a:solidFill>
                <a:latin typeface="Palatino Linotype" panose="02040502050505030304"/>
                <a:cs typeface="Palatino Linotype" panose="02040502050505030304"/>
              </a:rPr>
              <a:t>using</a:t>
            </a:r>
            <a:r>
              <a:rPr spc="-1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Cambria Math" panose="02040503050406030204"/>
                <a:cs typeface="Cambria Math" panose="02040503050406030204"/>
              </a:rPr>
              <a:t>𝑇</a:t>
            </a:r>
            <a:r>
              <a:rPr spc="114" dirty="0">
                <a:solidFill>
                  <a:sysClr val="windowText" lastClr="000000"/>
                </a:solidFill>
                <a:latin typeface="Cambria Math" panose="02040503050406030204"/>
                <a:cs typeface="Cambria Math" panose="02040503050406030204"/>
              </a:rPr>
              <a:t> </a:t>
            </a:r>
            <a:r>
              <a:rPr dirty="0">
                <a:solidFill>
                  <a:sysClr val="windowText" lastClr="000000"/>
                </a:solidFill>
                <a:latin typeface="Cambria Math" panose="02040503050406030204"/>
                <a:cs typeface="Cambria Math" panose="02040503050406030204"/>
              </a:rPr>
              <a:t>→</a:t>
            </a:r>
            <a:r>
              <a:rPr spc="90" dirty="0">
                <a:solidFill>
                  <a:sysClr val="windowText" lastClr="000000"/>
                </a:solidFill>
                <a:latin typeface="Cambria Math" panose="02040503050406030204"/>
                <a:cs typeface="Cambria Math" panose="02040503050406030204"/>
              </a:rPr>
              <a:t> </a:t>
            </a:r>
            <a:r>
              <a:rPr spc="-25" dirty="0">
                <a:solidFill>
                  <a:sysClr val="windowText" lastClr="000000"/>
                </a:solidFill>
                <a:latin typeface="Cambria Math" panose="02040503050406030204"/>
                <a:cs typeface="Cambria Math" panose="02040503050406030204"/>
              </a:rPr>
              <a:t>𝐵𝐶</a:t>
            </a:r>
            <a:endParaRPr>
              <a:solidFill>
                <a:sysClr val="windowText" lastClr="000000"/>
              </a:solidFill>
              <a:latin typeface="Cambria Math" panose="02040503050406030204"/>
              <a:cs typeface="Cambria Math" panose="020405030504060302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39</a:t>
            </a:fld>
            <a:endParaRPr lang="en-US"/>
          </a:p>
        </p:txBody>
      </p:sp>
      <p:sp>
        <p:nvSpPr>
          <p:cNvPr id="16"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30" normalizeH="0" baseline="0" noProof="0">
                <a:ln>
                  <a:noFill/>
                </a:ln>
                <a:solidFill>
                  <a:srgbClr val="000000"/>
                </a:solidFill>
                <a:effectLst/>
                <a:uLnTx/>
                <a:uFillTx/>
                <a:latin typeface="Palatino Linotype" panose="02040502050505030304"/>
                <a:ea typeface="+mj-ea"/>
              </a:rPr>
              <a:t>Translation</a:t>
            </a:r>
            <a:r>
              <a:rPr kumimoji="0" lang="en-US" sz="4000" b="1" i="0" u="none" strike="noStrike" kern="0" cap="none" spc="-13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Process</a:t>
            </a:r>
            <a:r>
              <a:rPr kumimoji="0" lang="en-US" sz="4000" b="1" i="0" u="none" strike="noStrike" kern="0" cap="none" spc="-14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Example</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17" name="object 3"/>
          <p:cNvSpPr txBox="1"/>
          <p:nvPr/>
        </p:nvSpPr>
        <p:spPr>
          <a:xfrm>
            <a:off x="814832" y="1343659"/>
            <a:ext cx="2540635" cy="1066165"/>
          </a:xfrm>
          <a:prstGeom prst="rect">
            <a:avLst/>
          </a:prstGeom>
        </p:spPr>
        <p:txBody>
          <a:bodyPr vert="horz" wrap="square" lIns="0" tIns="12700" rIns="0" bIns="0" rtlCol="0">
            <a:spAutoFit/>
          </a:bodyPr>
          <a:lstStyle/>
          <a:p>
            <a:pPr marL="12700">
              <a:spcBef>
                <a:spcPts val="100"/>
              </a:spcBef>
            </a:pPr>
            <a:r>
              <a:rPr dirty="0">
                <a:solidFill>
                  <a:sysClr val="windowText" lastClr="000000"/>
                </a:solidFill>
                <a:latin typeface="Palatino Linotype" panose="02040502050505030304"/>
                <a:cs typeface="Palatino Linotype" panose="02040502050505030304"/>
              </a:rPr>
              <a:t>Input</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string:</a:t>
            </a:r>
            <a:r>
              <a:rPr spc="465" dirty="0">
                <a:solidFill>
                  <a:sysClr val="windowText" lastClr="000000"/>
                </a:solidFill>
                <a:latin typeface="Palatino Linotype" panose="02040502050505030304"/>
                <a:cs typeface="Palatino Linotype" panose="02040502050505030304"/>
              </a:rPr>
              <a:t> </a:t>
            </a:r>
            <a:r>
              <a:rPr spc="-10" dirty="0">
                <a:solidFill>
                  <a:srgbClr val="A6A6A6"/>
                </a:solidFill>
                <a:latin typeface="Consolas" panose="020B0609020204030204"/>
                <a:cs typeface="Consolas" panose="020B0609020204030204"/>
              </a:rPr>
              <a:t>int</a:t>
            </a:r>
            <a:r>
              <a:rPr spc="-10" dirty="0">
                <a:solidFill>
                  <a:srgbClr val="0431FF"/>
                </a:solidFill>
                <a:latin typeface="Consolas" panose="020B0609020204030204"/>
                <a:cs typeface="Consolas" panose="020B0609020204030204"/>
              </a:rPr>
              <a:t>[2][3]</a:t>
            </a:r>
            <a:endParaRPr>
              <a:solidFill>
                <a:sysClr val="windowText" lastClr="000000"/>
              </a:solidFill>
              <a:latin typeface="Consolas" panose="020B0609020204030204"/>
              <a:cs typeface="Consolas" panose="020B0609020204030204"/>
            </a:endParaRPr>
          </a:p>
          <a:p>
            <a:pPr>
              <a:spcBef>
                <a:spcPts val="1765"/>
              </a:spcBef>
            </a:pPr>
            <a:endParaRPr>
              <a:solidFill>
                <a:sysClr val="windowText" lastClr="000000"/>
              </a:solidFill>
              <a:latin typeface="Consolas" panose="020B0609020204030204"/>
              <a:cs typeface="Consolas" panose="020B0609020204030204"/>
            </a:endParaRPr>
          </a:p>
          <a:p>
            <a:pPr marL="779145"/>
            <a:r>
              <a:rPr spc="-50" dirty="0">
                <a:solidFill>
                  <a:sysClr val="windowText" lastClr="000000"/>
                </a:solidFill>
                <a:latin typeface="Palatino Linotype" panose="02040502050505030304"/>
                <a:cs typeface="Palatino Linotype" panose="02040502050505030304"/>
              </a:rPr>
              <a:t>T</a:t>
            </a:r>
            <a:endParaRPr>
              <a:solidFill>
                <a:sysClr val="windowText" lastClr="000000"/>
              </a:solidFill>
              <a:latin typeface="Palatino Linotype" panose="02040502050505030304"/>
              <a:cs typeface="Palatino Linotype" panose="02040502050505030304"/>
            </a:endParaRPr>
          </a:p>
        </p:txBody>
      </p:sp>
      <p:sp>
        <p:nvSpPr>
          <p:cNvPr id="18" name="object 4"/>
          <p:cNvSpPr txBox="1"/>
          <p:nvPr/>
        </p:nvSpPr>
        <p:spPr>
          <a:xfrm>
            <a:off x="814832" y="2735707"/>
            <a:ext cx="16510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B</a:t>
            </a:r>
            <a:endParaRPr>
              <a:solidFill>
                <a:sysClr val="windowText" lastClr="000000"/>
              </a:solidFill>
              <a:latin typeface="Palatino Linotype" panose="02040502050505030304"/>
              <a:cs typeface="Palatino Linotype" panose="02040502050505030304"/>
            </a:endParaRPr>
          </a:p>
        </p:txBody>
      </p:sp>
      <p:sp>
        <p:nvSpPr>
          <p:cNvPr id="19" name="object 5"/>
          <p:cNvSpPr txBox="1"/>
          <p:nvPr/>
        </p:nvSpPr>
        <p:spPr>
          <a:xfrm>
            <a:off x="2299207" y="2735707"/>
            <a:ext cx="18796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20" name="object 6"/>
          <p:cNvSpPr/>
          <p:nvPr/>
        </p:nvSpPr>
        <p:spPr>
          <a:xfrm>
            <a:off x="899160" y="2461260"/>
            <a:ext cx="1495425" cy="256540"/>
          </a:xfrm>
          <a:custGeom>
            <a:avLst/>
            <a:gdLst/>
            <a:ahLst/>
            <a:cxnLst/>
            <a:rect l="l" t="t" r="r" b="b"/>
            <a:pathLst>
              <a:path w="1495425" h="256539">
                <a:moveTo>
                  <a:pt x="766572" y="0"/>
                </a:moveTo>
                <a:lnTo>
                  <a:pt x="0" y="256412"/>
                </a:lnTo>
              </a:path>
              <a:path w="1495425" h="256539">
                <a:moveTo>
                  <a:pt x="766572" y="0"/>
                </a:moveTo>
                <a:lnTo>
                  <a:pt x="1495425" y="256412"/>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aphicFrame>
        <p:nvGraphicFramePr>
          <p:cNvPr id="21" name="object 7"/>
          <p:cNvGraphicFramePr>
            <a:graphicFrameLocks noGrp="1"/>
          </p:cNvGraphicFramePr>
          <p:nvPr/>
        </p:nvGraphicFramePr>
        <p:xfrm>
          <a:off x="6384290" y="2222373"/>
          <a:ext cx="1710689" cy="2966085"/>
        </p:xfrm>
        <a:graphic>
          <a:graphicData uri="http://schemas.openxmlformats.org/drawingml/2006/table">
            <a:tbl>
              <a:tblPr firstRow="1" bandRow="1"/>
              <a:tblGrid>
                <a:gridCol w="1710689">
                  <a:extLst>
                    <a:ext uri="{9D8B030D-6E8A-4147-A177-3AD203B41FA5}">
                      <a16:colId xmlns:a16="http://schemas.microsoft.com/office/drawing/2014/main" val="20000"/>
                    </a:ext>
                  </a:extLst>
                </a:gridCol>
              </a:tblGrid>
              <a:tr h="2225040">
                <a:tc>
                  <a:txBody>
                    <a:bodyPr/>
                    <a:lstStyle>
                      <a:lvl1pPr marL="0" algn="l" defTabSz="914400">
                        <a:defRPr sz="1800">
                          <a:solidFill>
                            <a:schemeClr val="tx1"/>
                          </a:solidFill>
                          <a:latin typeface="Calibri" panose="020F0502020204030204"/>
                        </a:defRPr>
                      </a:lvl1pPr>
                      <a:lvl2pPr marL="457200" algn="l" defTabSz="914400">
                        <a:defRPr sz="1800">
                          <a:solidFill>
                            <a:schemeClr val="tx1"/>
                          </a:solidFill>
                          <a:latin typeface="Calibri" panose="020F0502020204030204"/>
                        </a:defRPr>
                      </a:lvl2pPr>
                      <a:lvl3pPr marL="914400" algn="l" defTabSz="914400">
                        <a:defRPr sz="1800">
                          <a:solidFill>
                            <a:schemeClr val="tx1"/>
                          </a:solidFill>
                          <a:latin typeface="Calibri" panose="020F0502020204030204"/>
                        </a:defRPr>
                      </a:lvl3pPr>
                      <a:lvl4pPr marL="1371600" algn="l" defTabSz="914400">
                        <a:defRPr sz="1800">
                          <a:solidFill>
                            <a:schemeClr val="tx1"/>
                          </a:solidFill>
                          <a:latin typeface="Calibri" panose="020F0502020204030204"/>
                        </a:defRPr>
                      </a:lvl4pPr>
                      <a:lvl5pPr marL="1828800" algn="l" defTabSz="914400">
                        <a:defRPr sz="1800">
                          <a:solidFill>
                            <a:schemeClr val="tx1"/>
                          </a:solidFill>
                          <a:latin typeface="Calibri" panose="020F0502020204030204"/>
                        </a:defRPr>
                      </a:lvl5pPr>
                      <a:lvl6pPr marL="2286000" algn="l" defTabSz="914400">
                        <a:defRPr sz="1800">
                          <a:solidFill>
                            <a:schemeClr val="tx1"/>
                          </a:solidFill>
                          <a:latin typeface="Calibri" panose="020F0502020204030204"/>
                        </a:defRPr>
                      </a:lvl6pPr>
                      <a:lvl7pPr marL="2743200" algn="l" defTabSz="914400">
                        <a:defRPr sz="1800">
                          <a:solidFill>
                            <a:schemeClr val="tx1"/>
                          </a:solidFill>
                          <a:latin typeface="Calibri" panose="020F0502020204030204"/>
                        </a:defRPr>
                      </a:lvl7pPr>
                      <a:lvl8pPr marL="3200400" algn="l" defTabSz="914400">
                        <a:defRPr sz="1800">
                          <a:solidFill>
                            <a:schemeClr val="tx1"/>
                          </a:solidFill>
                          <a:latin typeface="Calibri" panose="020F0502020204030204"/>
                        </a:defRPr>
                      </a:lvl8pPr>
                      <a:lvl9pPr marL="3657600" algn="l" defTabSz="914400">
                        <a:defRPr sz="1800">
                          <a:solidFill>
                            <a:schemeClr val="tx1"/>
                          </a:solidFill>
                          <a:latin typeface="Calibri" panose="020F0502020204030204"/>
                        </a:defRPr>
                      </a:lvl9pPr>
                    </a:lstStyle>
                    <a:p>
                      <a:pPr>
                        <a:lnSpc>
                          <a:spcPct val="100000"/>
                        </a:lnSpc>
                      </a:pPr>
                      <a:endParaRPr sz="19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a:noFill/>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205">
                <a:tc>
                  <a:txBody>
                    <a:bodyPr/>
                    <a:lstStyle>
                      <a:lvl1pPr marL="0" algn="l" defTabSz="914400">
                        <a:defRPr sz="1800">
                          <a:solidFill>
                            <a:schemeClr val="tx1"/>
                          </a:solidFill>
                          <a:latin typeface="Calibri" panose="020F0502020204030204"/>
                        </a:defRPr>
                      </a:lvl1pPr>
                      <a:lvl2pPr marL="457200" algn="l" defTabSz="914400">
                        <a:defRPr sz="1800">
                          <a:solidFill>
                            <a:schemeClr val="tx1"/>
                          </a:solidFill>
                          <a:latin typeface="Calibri" panose="020F0502020204030204"/>
                        </a:defRPr>
                      </a:lvl2pPr>
                      <a:lvl3pPr marL="914400" algn="l" defTabSz="914400">
                        <a:defRPr sz="1800">
                          <a:solidFill>
                            <a:schemeClr val="tx1"/>
                          </a:solidFill>
                          <a:latin typeface="Calibri" panose="020F0502020204030204"/>
                        </a:defRPr>
                      </a:lvl3pPr>
                      <a:lvl4pPr marL="1371600" algn="l" defTabSz="914400">
                        <a:defRPr sz="1800">
                          <a:solidFill>
                            <a:schemeClr val="tx1"/>
                          </a:solidFill>
                          <a:latin typeface="Calibri" panose="020F0502020204030204"/>
                        </a:defRPr>
                      </a:lvl4pPr>
                      <a:lvl5pPr marL="1828800" algn="l" defTabSz="914400">
                        <a:defRPr sz="1800">
                          <a:solidFill>
                            <a:schemeClr val="tx1"/>
                          </a:solidFill>
                          <a:latin typeface="Calibri" panose="020F0502020204030204"/>
                        </a:defRPr>
                      </a:lvl5pPr>
                      <a:lvl6pPr marL="2286000" algn="l" defTabSz="914400">
                        <a:defRPr sz="1800">
                          <a:solidFill>
                            <a:schemeClr val="tx1"/>
                          </a:solidFill>
                          <a:latin typeface="Calibri" panose="020F0502020204030204"/>
                        </a:defRPr>
                      </a:lvl6pPr>
                      <a:lvl7pPr marL="2743200" algn="l" defTabSz="914400">
                        <a:defRPr sz="1800">
                          <a:solidFill>
                            <a:schemeClr val="tx1"/>
                          </a:solidFill>
                          <a:latin typeface="Calibri" panose="020F0502020204030204"/>
                        </a:defRPr>
                      </a:lvl7pPr>
                      <a:lvl8pPr marL="3200400" algn="l" defTabSz="914400">
                        <a:defRPr sz="1800">
                          <a:solidFill>
                            <a:schemeClr val="tx1"/>
                          </a:solidFill>
                          <a:latin typeface="Calibri" panose="020F0502020204030204"/>
                        </a:defRPr>
                      </a:lvl8pPr>
                      <a:lvl9pPr marL="3657600" algn="l" defTabSz="914400">
                        <a:defRPr sz="1800">
                          <a:solidFill>
                            <a:schemeClr val="tx1"/>
                          </a:solidFill>
                          <a:latin typeface="Calibri" panose="020F0502020204030204"/>
                        </a:defRPr>
                      </a:lvl9pPr>
                    </a:lstStyle>
                    <a:p>
                      <a:pPr marL="1270" algn="ctr">
                        <a:lnSpc>
                          <a:spcPct val="100000"/>
                        </a:lnSpc>
                        <a:spcBef>
                          <a:spcPts val="245"/>
                        </a:spcBef>
                      </a:pPr>
                      <a:r>
                        <a:rPr sz="1800" spc="-25" dirty="0">
                          <a:latin typeface="Palatino Linotype" panose="02040502050505030304"/>
                          <a:cs typeface="Palatino Linotype" panose="02040502050505030304"/>
                        </a:rPr>
                        <a:t>B()</a:t>
                      </a:r>
                      <a:endParaRPr sz="1800">
                        <a:latin typeface="Palatino Linotype" panose="02040502050505030304"/>
                        <a:cs typeface="Palatino Linotype" panose="02040502050505030304"/>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914400">
                        <a:defRPr sz="1800">
                          <a:solidFill>
                            <a:schemeClr val="tx1"/>
                          </a:solidFill>
                          <a:latin typeface="Calibri" panose="020F0502020204030204"/>
                        </a:defRPr>
                      </a:lvl1pPr>
                      <a:lvl2pPr marL="457200" algn="l" defTabSz="914400">
                        <a:defRPr sz="1800">
                          <a:solidFill>
                            <a:schemeClr val="tx1"/>
                          </a:solidFill>
                          <a:latin typeface="Calibri" panose="020F0502020204030204"/>
                        </a:defRPr>
                      </a:lvl2pPr>
                      <a:lvl3pPr marL="914400" algn="l" defTabSz="914400">
                        <a:defRPr sz="1800">
                          <a:solidFill>
                            <a:schemeClr val="tx1"/>
                          </a:solidFill>
                          <a:latin typeface="Calibri" panose="020F0502020204030204"/>
                        </a:defRPr>
                      </a:lvl3pPr>
                      <a:lvl4pPr marL="1371600" algn="l" defTabSz="914400">
                        <a:defRPr sz="1800">
                          <a:solidFill>
                            <a:schemeClr val="tx1"/>
                          </a:solidFill>
                          <a:latin typeface="Calibri" panose="020F0502020204030204"/>
                        </a:defRPr>
                      </a:lvl4pPr>
                      <a:lvl5pPr marL="1828800" algn="l" defTabSz="914400">
                        <a:defRPr sz="1800">
                          <a:solidFill>
                            <a:schemeClr val="tx1"/>
                          </a:solidFill>
                          <a:latin typeface="Calibri" panose="020F0502020204030204"/>
                        </a:defRPr>
                      </a:lvl5pPr>
                      <a:lvl6pPr marL="2286000" algn="l" defTabSz="914400">
                        <a:defRPr sz="1800">
                          <a:solidFill>
                            <a:schemeClr val="tx1"/>
                          </a:solidFill>
                          <a:latin typeface="Calibri" panose="020F0502020204030204"/>
                        </a:defRPr>
                      </a:lvl6pPr>
                      <a:lvl7pPr marL="2743200" algn="l" defTabSz="914400">
                        <a:defRPr sz="1800">
                          <a:solidFill>
                            <a:schemeClr val="tx1"/>
                          </a:solidFill>
                          <a:latin typeface="Calibri" panose="020F0502020204030204"/>
                        </a:defRPr>
                      </a:lvl7pPr>
                      <a:lvl8pPr marL="3200400" algn="l" defTabSz="914400">
                        <a:defRPr sz="1800">
                          <a:solidFill>
                            <a:schemeClr val="tx1"/>
                          </a:solidFill>
                          <a:latin typeface="Calibri" panose="020F0502020204030204"/>
                        </a:defRPr>
                      </a:lvl8pPr>
                      <a:lvl9pPr marL="3657600" algn="l" defTabSz="914400">
                        <a:defRPr sz="1800">
                          <a:solidFill>
                            <a:schemeClr val="tx1"/>
                          </a:solidFill>
                          <a:latin typeface="Calibri" panose="020F0502020204030204"/>
                        </a:defRPr>
                      </a:lvl9pPr>
                    </a:lstStyle>
                    <a:p>
                      <a:pPr marL="1905" algn="ctr">
                        <a:lnSpc>
                          <a:spcPct val="100000"/>
                        </a:lnSpc>
                        <a:spcBef>
                          <a:spcPts val="250"/>
                        </a:spcBef>
                      </a:pPr>
                      <a:r>
                        <a:rPr sz="1800" spc="-25" dirty="0">
                          <a:latin typeface="Palatino Linotype" panose="02040502050505030304"/>
                          <a:cs typeface="Palatino Linotype" panose="02040502050505030304"/>
                        </a:rPr>
                        <a:t>T()</a:t>
                      </a:r>
                      <a:endParaRPr sz="1800">
                        <a:latin typeface="Palatino Linotype" panose="02040502050505030304"/>
                        <a:cs typeface="Palatino Linotype" panose="02040502050505030304"/>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22" name="object 8"/>
          <p:cNvSpPr txBox="1"/>
          <p:nvPr/>
        </p:nvSpPr>
        <p:spPr>
          <a:xfrm>
            <a:off x="6819138" y="5393842"/>
            <a:ext cx="895350" cy="269240"/>
          </a:xfrm>
          <a:prstGeom prst="rect">
            <a:avLst/>
          </a:prstGeom>
        </p:spPr>
        <p:txBody>
          <a:bodyPr vert="horz" wrap="square" lIns="0" tIns="12065" rIns="0" bIns="0" rtlCol="0">
            <a:spAutoFit/>
          </a:bodyPr>
          <a:lstStyle/>
          <a:p>
            <a:pPr marL="12700">
              <a:spcBef>
                <a:spcPts val="95"/>
              </a:spcBef>
            </a:pPr>
            <a:r>
              <a:rPr sz="1600" dirty="0">
                <a:solidFill>
                  <a:sysClr val="windowText" lastClr="000000"/>
                </a:solidFill>
                <a:latin typeface="Palatino Linotype" panose="02040502050505030304"/>
                <a:cs typeface="Palatino Linotype" panose="02040502050505030304"/>
              </a:rPr>
              <a:t>Call</a:t>
            </a:r>
            <a:r>
              <a:rPr sz="1600" spc="-30"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stack</a:t>
            </a:r>
            <a:endParaRPr sz="1600">
              <a:solidFill>
                <a:sysClr val="windowText" lastClr="000000"/>
              </a:solidFill>
              <a:latin typeface="Palatino Linotype" panose="02040502050505030304"/>
              <a:cs typeface="Palatino Linotype" panose="02040502050505030304"/>
            </a:endParaRPr>
          </a:p>
        </p:txBody>
      </p:sp>
      <p:sp>
        <p:nvSpPr>
          <p:cNvPr id="23" name="object 9"/>
          <p:cNvSpPr txBox="1"/>
          <p:nvPr/>
        </p:nvSpPr>
        <p:spPr>
          <a:xfrm>
            <a:off x="738022" y="3329178"/>
            <a:ext cx="2852420" cy="1918335"/>
          </a:xfrm>
          <a:prstGeom prst="rect">
            <a:avLst/>
          </a:prstGeom>
        </p:spPr>
        <p:txBody>
          <a:bodyPr vert="horz" wrap="square" lIns="0" tIns="12700" rIns="0" bIns="0" rtlCol="0">
            <a:spAutoFit/>
          </a:bodyPr>
          <a:lstStyle/>
          <a:p>
            <a:pPr marL="12700">
              <a:spcBef>
                <a:spcPts val="100"/>
              </a:spcBef>
            </a:pPr>
            <a:r>
              <a:rPr b="1" spc="-25" dirty="0">
                <a:solidFill>
                  <a:sysClr val="windowText" lastClr="000000"/>
                </a:solidFill>
                <a:latin typeface="Palatino Linotype" panose="02040502050505030304"/>
                <a:cs typeface="Palatino Linotype" panose="02040502050505030304"/>
              </a:rPr>
              <a:t>int</a:t>
            </a:r>
            <a:endParaRPr>
              <a:solidFill>
                <a:sysClr val="windowText" lastClr="000000"/>
              </a:solidFill>
              <a:latin typeface="Palatino Linotype" panose="02040502050505030304"/>
              <a:cs typeface="Palatino Linotype" panose="02040502050505030304"/>
            </a:endParaRPr>
          </a:p>
          <a:p>
            <a:pPr>
              <a:spcBef>
                <a:spcPts val="375"/>
              </a:spcBef>
            </a:pPr>
            <a:endParaRPr>
              <a:solidFill>
                <a:sysClr val="windowText" lastClr="000000"/>
              </a:solidFill>
              <a:latin typeface="Palatino Linotype" panose="02040502050505030304"/>
              <a:cs typeface="Palatino Linotype" panose="02040502050505030304"/>
            </a:endParaRPr>
          </a:p>
          <a:p>
            <a:pPr marL="88900"/>
            <a:r>
              <a:rPr b="1" dirty="0">
                <a:solidFill>
                  <a:srgbClr val="FF0000"/>
                </a:solidFill>
                <a:latin typeface="Palatino Linotype" panose="02040502050505030304"/>
                <a:cs typeface="Palatino Linotype" panose="02040502050505030304"/>
              </a:rPr>
              <a:t>Step</a:t>
            </a:r>
            <a:r>
              <a:rPr b="1" spc="-40" dirty="0">
                <a:solidFill>
                  <a:srgbClr val="FF0000"/>
                </a:solidFill>
                <a:latin typeface="Palatino Linotype" panose="02040502050505030304"/>
                <a:cs typeface="Palatino Linotype" panose="02040502050505030304"/>
              </a:rPr>
              <a:t> </a:t>
            </a:r>
            <a:r>
              <a:rPr b="1" spc="-25" dirty="0">
                <a:solidFill>
                  <a:srgbClr val="FF0000"/>
                </a:solidFill>
                <a:latin typeface="Palatino Linotype" panose="02040502050505030304"/>
                <a:cs typeface="Palatino Linotype" panose="02040502050505030304"/>
              </a:rPr>
              <a:t>2:</a:t>
            </a:r>
            <a:endParaRPr>
              <a:solidFill>
                <a:sysClr val="windowText" lastClr="000000"/>
              </a:solidFill>
              <a:latin typeface="Palatino Linotype" panose="02040502050505030304"/>
              <a:cs typeface="Palatino Linotype" panose="02040502050505030304"/>
            </a:endParaRPr>
          </a:p>
          <a:p>
            <a:pPr marL="375920" indent="-287020">
              <a:spcBef>
                <a:spcPts val="430"/>
              </a:spcBef>
              <a:buFont typeface="Arial MT"/>
              <a:buChar char="•"/>
              <a:tabLst>
                <a:tab pos="375920" algn="l"/>
              </a:tabLst>
            </a:pPr>
            <a:r>
              <a:rPr dirty="0">
                <a:solidFill>
                  <a:sysClr val="windowText" lastClr="000000"/>
                </a:solidFill>
                <a:latin typeface="Palatino Linotype" panose="02040502050505030304"/>
                <a:cs typeface="Palatino Linotype" panose="02040502050505030304"/>
              </a:rPr>
              <a:t>Rewrite</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Cambria Math" panose="02040503050406030204"/>
                <a:cs typeface="Cambria Math" panose="02040503050406030204"/>
              </a:rPr>
              <a:t>𝐵</a:t>
            </a:r>
            <a:r>
              <a:rPr spc="90" dirty="0">
                <a:solidFill>
                  <a:sysClr val="windowText" lastClr="000000"/>
                </a:solidFill>
                <a:latin typeface="Cambria Math" panose="02040503050406030204"/>
                <a:cs typeface="Cambria Math" panose="02040503050406030204"/>
              </a:rPr>
              <a:t> </a:t>
            </a:r>
            <a:r>
              <a:rPr dirty="0">
                <a:solidFill>
                  <a:sysClr val="windowText" lastClr="000000"/>
                </a:solidFill>
                <a:latin typeface="Palatino Linotype" panose="02040502050505030304"/>
                <a:cs typeface="Palatino Linotype" panose="02040502050505030304"/>
              </a:rPr>
              <a:t>using</a:t>
            </a:r>
            <a:r>
              <a:rPr spc="-2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Cambria Math" panose="02040503050406030204"/>
                <a:cs typeface="Cambria Math" panose="02040503050406030204"/>
              </a:rPr>
              <a:t>𝐵</a:t>
            </a:r>
            <a:r>
              <a:rPr spc="125" dirty="0">
                <a:solidFill>
                  <a:sysClr val="windowText" lastClr="000000"/>
                </a:solidFill>
                <a:latin typeface="Cambria Math" panose="02040503050406030204"/>
                <a:cs typeface="Cambria Math" panose="02040503050406030204"/>
              </a:rPr>
              <a:t> </a:t>
            </a:r>
            <a:r>
              <a:rPr dirty="0">
                <a:solidFill>
                  <a:sysClr val="windowText" lastClr="000000"/>
                </a:solidFill>
                <a:latin typeface="Cambria Math" panose="02040503050406030204"/>
                <a:cs typeface="Cambria Math" panose="02040503050406030204"/>
              </a:rPr>
              <a:t>→</a:t>
            </a:r>
            <a:r>
              <a:rPr spc="90" dirty="0">
                <a:solidFill>
                  <a:sysClr val="windowText" lastClr="000000"/>
                </a:solidFill>
                <a:latin typeface="Cambria Math" panose="02040503050406030204"/>
                <a:cs typeface="Cambria Math" panose="02040503050406030204"/>
              </a:rPr>
              <a:t> </a:t>
            </a:r>
            <a:r>
              <a:rPr spc="-25" dirty="0">
                <a:solidFill>
                  <a:sysClr val="windowText" lastClr="000000"/>
                </a:solidFill>
                <a:latin typeface="Cambria Math" panose="02040503050406030204"/>
                <a:cs typeface="Cambria Math" panose="02040503050406030204"/>
              </a:rPr>
              <a:t>𝐢𝐧𝐭</a:t>
            </a:r>
            <a:endParaRPr>
              <a:solidFill>
                <a:sysClr val="windowText" lastClr="000000"/>
              </a:solidFill>
              <a:latin typeface="Cambria Math" panose="02040503050406030204"/>
              <a:cs typeface="Cambria Math" panose="02040503050406030204"/>
            </a:endParaRPr>
          </a:p>
          <a:p>
            <a:pPr marL="375920" indent="-287020">
              <a:spcBef>
                <a:spcPts val="435"/>
              </a:spcBef>
              <a:buFont typeface="Arial MT"/>
              <a:buChar char="•"/>
              <a:tabLst>
                <a:tab pos="375920" algn="l"/>
              </a:tabLst>
            </a:pPr>
            <a:r>
              <a:rPr dirty="0">
                <a:solidFill>
                  <a:sysClr val="windowText" lastClr="000000"/>
                </a:solidFill>
                <a:latin typeface="Palatino Linotype" panose="02040502050505030304"/>
                <a:cs typeface="Palatino Linotype" panose="02040502050505030304"/>
              </a:rPr>
              <a:t>Match</a:t>
            </a:r>
            <a:r>
              <a:rPr spc="-20"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input</a:t>
            </a:r>
            <a:endParaRPr>
              <a:solidFill>
                <a:sysClr val="windowText" lastClr="000000"/>
              </a:solidFill>
              <a:latin typeface="Palatino Linotype" panose="02040502050505030304"/>
              <a:cs typeface="Palatino Linotype" panose="02040502050505030304"/>
            </a:endParaRPr>
          </a:p>
          <a:p>
            <a:pPr marL="375920" indent="-287020">
              <a:spcBef>
                <a:spcPts val="435"/>
              </a:spcBef>
              <a:buFont typeface="Arial MT"/>
              <a:buChar char="•"/>
              <a:tabLst>
                <a:tab pos="375920" algn="l"/>
              </a:tabLst>
            </a:pPr>
            <a:r>
              <a:rPr dirty="0">
                <a:solidFill>
                  <a:sysClr val="windowText" lastClr="000000"/>
                </a:solidFill>
                <a:latin typeface="Palatino Linotype" panose="02040502050505030304"/>
                <a:cs typeface="Palatino Linotype" panose="02040502050505030304"/>
              </a:rPr>
              <a:t>Execute</a:t>
            </a:r>
            <a:r>
              <a:rPr spc="-4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semantic</a:t>
            </a:r>
            <a:r>
              <a:rPr spc="-3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action</a:t>
            </a:r>
            <a:endParaRPr>
              <a:solidFill>
                <a:sysClr val="windowText" lastClr="000000"/>
              </a:solidFill>
              <a:latin typeface="Palatino Linotype" panose="02040502050505030304"/>
              <a:cs typeface="Palatino Linotype" panose="02040502050505030304"/>
            </a:endParaRPr>
          </a:p>
        </p:txBody>
      </p:sp>
      <p:sp>
        <p:nvSpPr>
          <p:cNvPr id="24" name="object 10"/>
          <p:cNvSpPr/>
          <p:nvPr/>
        </p:nvSpPr>
        <p:spPr>
          <a:xfrm>
            <a:off x="899160" y="3086100"/>
            <a:ext cx="0" cy="224154"/>
          </a:xfrm>
          <a:custGeom>
            <a:avLst/>
            <a:gdLst/>
            <a:ahLst/>
            <a:cxnLst/>
            <a:rect l="l" t="t" r="r" b="b"/>
            <a:pathLst>
              <a:path h="224154">
                <a:moveTo>
                  <a:pt x="0" y="0"/>
                </a:moveTo>
                <a:lnTo>
                  <a:pt x="0" y="22390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pic>
        <p:nvPicPr>
          <p:cNvPr id="25" name="object 11"/>
          <p:cNvPicPr/>
          <p:nvPr/>
        </p:nvPicPr>
        <p:blipFill>
          <a:blip r:embed="rId3" cstate="print"/>
          <a:stretch>
            <a:fillRect/>
          </a:stretch>
        </p:blipFill>
        <p:spPr>
          <a:xfrm>
            <a:off x="826638" y="5578654"/>
            <a:ext cx="4761663" cy="203109"/>
          </a:xfrm>
          <a:prstGeom prst="rect">
            <a:avLst/>
          </a:prstGeom>
        </p:spPr>
      </p:pic>
      <p:sp>
        <p:nvSpPr>
          <p:cNvPr id="26" name="object 12"/>
          <p:cNvSpPr txBox="1"/>
          <p:nvPr/>
        </p:nvSpPr>
        <p:spPr>
          <a:xfrm>
            <a:off x="1058062" y="2675890"/>
            <a:ext cx="913130" cy="391160"/>
          </a:xfrm>
          <a:prstGeom prst="rect">
            <a:avLst/>
          </a:prstGeom>
        </p:spPr>
        <p:txBody>
          <a:bodyPr vert="horz" wrap="square" lIns="0" tIns="12700" rIns="0" bIns="0" rtlCol="0">
            <a:spAutoFit/>
          </a:bodyPr>
          <a:lstStyle/>
          <a:p>
            <a:pPr marL="12700">
              <a:spcBef>
                <a:spcPts val="100"/>
              </a:spcBef>
            </a:pPr>
            <a:r>
              <a:rPr sz="1200" i="1" dirty="0">
                <a:solidFill>
                  <a:srgbClr val="6F2F9F"/>
                </a:solidFill>
                <a:latin typeface="Palatino Linotype" panose="02040502050505030304"/>
                <a:cs typeface="Palatino Linotype" panose="02040502050505030304"/>
              </a:rPr>
              <a:t>type</a:t>
            </a:r>
            <a:r>
              <a:rPr sz="1200" i="1" spc="-1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spc="-10" dirty="0">
                <a:solidFill>
                  <a:srgbClr val="6F2F9F"/>
                </a:solidFill>
                <a:latin typeface="Palatino Linotype" panose="02040502050505030304"/>
                <a:cs typeface="Palatino Linotype" panose="02040502050505030304"/>
              </a:rPr>
              <a:t>integer</a:t>
            </a:r>
            <a:endParaRPr sz="1200">
              <a:solidFill>
                <a:sysClr val="windowText" lastClr="000000"/>
              </a:solidFill>
              <a:latin typeface="Palatino Linotype" panose="02040502050505030304"/>
              <a:cs typeface="Palatino Linotype" panose="02040502050505030304"/>
            </a:endParaRPr>
          </a:p>
          <a:p>
            <a:pPr marL="12700"/>
            <a:r>
              <a:rPr sz="1200" i="1" dirty="0">
                <a:solidFill>
                  <a:srgbClr val="6F2F9F"/>
                </a:solidFill>
                <a:latin typeface="Palatino Linotype" panose="02040502050505030304"/>
                <a:cs typeface="Palatino Linotype" panose="02040502050505030304"/>
              </a:rPr>
              <a:t>width</a:t>
            </a:r>
            <a:r>
              <a:rPr sz="1200" i="1" spc="-2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15" dirty="0">
                <a:solidFill>
                  <a:srgbClr val="6F2F9F"/>
                </a:solidFill>
                <a:latin typeface="Palatino Linotype" panose="02040502050505030304"/>
                <a:cs typeface="Palatino Linotype" panose="02040502050505030304"/>
              </a:rPr>
              <a:t> </a:t>
            </a:r>
            <a:r>
              <a:rPr sz="1200" spc="-50" dirty="0">
                <a:solidFill>
                  <a:srgbClr val="6F2F9F"/>
                </a:solidFill>
                <a:latin typeface="Palatino Linotype" panose="02040502050505030304"/>
                <a:cs typeface="Palatino Linotype" panose="02040502050505030304"/>
              </a:rPr>
              <a:t>4</a:t>
            </a:r>
            <a:endParaRPr sz="1200">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40</a:t>
            </a:fld>
            <a:endParaRPr lang="en-US"/>
          </a:p>
        </p:txBody>
      </p:sp>
      <p:sp>
        <p:nvSpPr>
          <p:cNvPr id="23"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30" normalizeH="0" baseline="0" noProof="0">
                <a:ln>
                  <a:noFill/>
                </a:ln>
                <a:solidFill>
                  <a:srgbClr val="000000"/>
                </a:solidFill>
                <a:effectLst/>
                <a:uLnTx/>
                <a:uFillTx/>
                <a:latin typeface="Palatino Linotype" panose="02040502050505030304"/>
                <a:ea typeface="+mj-ea"/>
              </a:rPr>
              <a:t>Translation</a:t>
            </a:r>
            <a:r>
              <a:rPr kumimoji="0" lang="en-US" sz="4000" b="1" i="0" u="none" strike="noStrike" kern="0" cap="none" spc="-13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Process</a:t>
            </a:r>
            <a:r>
              <a:rPr kumimoji="0" lang="en-US" sz="4000" b="1" i="0" u="none" strike="noStrike" kern="0" cap="none" spc="-14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Example</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24" name="object 3"/>
          <p:cNvSpPr txBox="1"/>
          <p:nvPr/>
        </p:nvSpPr>
        <p:spPr>
          <a:xfrm>
            <a:off x="1581658" y="2109978"/>
            <a:ext cx="16573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T</a:t>
            </a:r>
            <a:endParaRPr>
              <a:solidFill>
                <a:sysClr val="windowText" lastClr="000000"/>
              </a:solidFill>
              <a:latin typeface="Palatino Linotype" panose="02040502050505030304"/>
              <a:cs typeface="Palatino Linotype" panose="02040502050505030304"/>
            </a:endParaRPr>
          </a:p>
        </p:txBody>
      </p:sp>
      <p:sp>
        <p:nvSpPr>
          <p:cNvPr id="25" name="object 4"/>
          <p:cNvSpPr txBox="1"/>
          <p:nvPr/>
        </p:nvSpPr>
        <p:spPr>
          <a:xfrm>
            <a:off x="814832" y="2735707"/>
            <a:ext cx="16510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B</a:t>
            </a:r>
            <a:endParaRPr>
              <a:solidFill>
                <a:sysClr val="windowText" lastClr="000000"/>
              </a:solidFill>
              <a:latin typeface="Palatino Linotype" panose="02040502050505030304"/>
              <a:cs typeface="Palatino Linotype" panose="02040502050505030304"/>
            </a:endParaRPr>
          </a:p>
        </p:txBody>
      </p:sp>
      <p:sp>
        <p:nvSpPr>
          <p:cNvPr id="26" name="object 5"/>
          <p:cNvSpPr txBox="1"/>
          <p:nvPr/>
        </p:nvSpPr>
        <p:spPr>
          <a:xfrm>
            <a:off x="2299207" y="2735707"/>
            <a:ext cx="18796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27" name="object 6"/>
          <p:cNvSpPr/>
          <p:nvPr/>
        </p:nvSpPr>
        <p:spPr>
          <a:xfrm>
            <a:off x="899160" y="2461260"/>
            <a:ext cx="1495425" cy="256540"/>
          </a:xfrm>
          <a:custGeom>
            <a:avLst/>
            <a:gdLst/>
            <a:ahLst/>
            <a:cxnLst/>
            <a:rect l="l" t="t" r="r" b="b"/>
            <a:pathLst>
              <a:path w="1495425" h="256539">
                <a:moveTo>
                  <a:pt x="766572" y="0"/>
                </a:moveTo>
                <a:lnTo>
                  <a:pt x="0" y="256412"/>
                </a:lnTo>
              </a:path>
              <a:path w="1495425" h="256539">
                <a:moveTo>
                  <a:pt x="766572" y="0"/>
                </a:moveTo>
                <a:lnTo>
                  <a:pt x="1495425" y="256412"/>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28" name="object 7"/>
          <p:cNvSpPr txBox="1"/>
          <p:nvPr/>
        </p:nvSpPr>
        <p:spPr>
          <a:xfrm>
            <a:off x="814832" y="1343659"/>
            <a:ext cx="2540635" cy="299720"/>
          </a:xfrm>
          <a:prstGeom prst="rect">
            <a:avLst/>
          </a:prstGeom>
        </p:spPr>
        <p:txBody>
          <a:bodyPr vert="horz" wrap="square" lIns="0" tIns="12700" rIns="0" bIns="0" rtlCol="0">
            <a:spAutoFit/>
          </a:bodyPr>
          <a:lstStyle/>
          <a:p>
            <a:pPr marL="12700">
              <a:spcBef>
                <a:spcPts val="100"/>
              </a:spcBef>
            </a:pPr>
            <a:r>
              <a:rPr dirty="0">
                <a:solidFill>
                  <a:sysClr val="windowText" lastClr="000000"/>
                </a:solidFill>
                <a:latin typeface="Palatino Linotype" panose="02040502050505030304"/>
                <a:cs typeface="Palatino Linotype" panose="02040502050505030304"/>
              </a:rPr>
              <a:t>Input</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string:</a:t>
            </a:r>
            <a:r>
              <a:rPr spc="465" dirty="0">
                <a:solidFill>
                  <a:sysClr val="windowText" lastClr="000000"/>
                </a:solidFill>
                <a:latin typeface="Palatino Linotype" panose="02040502050505030304"/>
                <a:cs typeface="Palatino Linotype" panose="02040502050505030304"/>
              </a:rPr>
              <a:t> </a:t>
            </a:r>
            <a:r>
              <a:rPr spc="-10" dirty="0">
                <a:solidFill>
                  <a:srgbClr val="A6A6A6"/>
                </a:solidFill>
                <a:latin typeface="Consolas" panose="020B0609020204030204"/>
                <a:cs typeface="Consolas" panose="020B0609020204030204"/>
              </a:rPr>
              <a:t>int</a:t>
            </a:r>
            <a:r>
              <a:rPr spc="-10" dirty="0">
                <a:solidFill>
                  <a:srgbClr val="0431FF"/>
                </a:solidFill>
                <a:latin typeface="Consolas" panose="020B0609020204030204"/>
                <a:cs typeface="Consolas" panose="020B0609020204030204"/>
              </a:rPr>
              <a:t>[2][3]</a:t>
            </a:r>
            <a:endParaRPr>
              <a:solidFill>
                <a:sysClr val="windowText" lastClr="000000"/>
              </a:solidFill>
              <a:latin typeface="Consolas" panose="020B0609020204030204"/>
              <a:cs typeface="Consolas" panose="020B0609020204030204"/>
            </a:endParaRPr>
          </a:p>
        </p:txBody>
      </p:sp>
      <p:sp>
        <p:nvSpPr>
          <p:cNvPr id="29" name="object 8"/>
          <p:cNvSpPr/>
          <p:nvPr/>
        </p:nvSpPr>
        <p:spPr>
          <a:xfrm>
            <a:off x="6390640" y="2228723"/>
            <a:ext cx="0" cy="2973070"/>
          </a:xfrm>
          <a:custGeom>
            <a:avLst/>
            <a:gdLst/>
            <a:ahLst/>
            <a:cxnLst/>
            <a:rect l="l" t="t" r="r" b="b"/>
            <a:pathLst>
              <a:path h="2973070">
                <a:moveTo>
                  <a:pt x="0" y="0"/>
                </a:moveTo>
                <a:lnTo>
                  <a:pt x="0" y="297307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30" name="object 9"/>
          <p:cNvSpPr/>
          <p:nvPr/>
        </p:nvSpPr>
        <p:spPr>
          <a:xfrm>
            <a:off x="8101456" y="2228723"/>
            <a:ext cx="0" cy="2973070"/>
          </a:xfrm>
          <a:custGeom>
            <a:avLst/>
            <a:gdLst/>
            <a:ahLst/>
            <a:cxnLst/>
            <a:rect l="l" t="t" r="r" b="b"/>
            <a:pathLst>
              <a:path h="2973070">
                <a:moveTo>
                  <a:pt x="0" y="0"/>
                </a:moveTo>
                <a:lnTo>
                  <a:pt x="0" y="297307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31" name="object 10"/>
          <p:cNvSpPr txBox="1"/>
          <p:nvPr/>
        </p:nvSpPr>
        <p:spPr>
          <a:xfrm>
            <a:off x="6390640" y="4824603"/>
            <a:ext cx="1711325" cy="370840"/>
          </a:xfrm>
          <a:prstGeom prst="rect">
            <a:avLst/>
          </a:prstGeom>
          <a:ln w="12700">
            <a:solidFill>
              <a:srgbClr val="000000"/>
            </a:solidFill>
          </a:ln>
        </p:spPr>
        <p:txBody>
          <a:bodyPr vert="horz" wrap="square" lIns="0" tIns="31750" rIns="0" bIns="0" rtlCol="0">
            <a:spAutoFit/>
          </a:bodyPr>
          <a:lstStyle/>
          <a:p>
            <a:pPr marL="1905" algn="ctr">
              <a:spcBef>
                <a:spcPts val="250"/>
              </a:spcBef>
            </a:pPr>
            <a:r>
              <a:rPr spc="-25" dirty="0">
                <a:solidFill>
                  <a:sysClr val="windowText" lastClr="000000"/>
                </a:solidFill>
                <a:latin typeface="Palatino Linotype" panose="02040502050505030304"/>
                <a:cs typeface="Palatino Linotype" panose="02040502050505030304"/>
              </a:rPr>
              <a:t>T()</a:t>
            </a:r>
            <a:endParaRPr>
              <a:solidFill>
                <a:sysClr val="windowText" lastClr="000000"/>
              </a:solidFill>
              <a:latin typeface="Palatino Linotype" panose="02040502050505030304"/>
              <a:cs typeface="Palatino Linotype" panose="02040502050505030304"/>
            </a:endParaRPr>
          </a:p>
        </p:txBody>
      </p:sp>
      <p:sp>
        <p:nvSpPr>
          <p:cNvPr id="32" name="object 11"/>
          <p:cNvSpPr txBox="1"/>
          <p:nvPr/>
        </p:nvSpPr>
        <p:spPr>
          <a:xfrm>
            <a:off x="6819138" y="5393842"/>
            <a:ext cx="895350" cy="269240"/>
          </a:xfrm>
          <a:prstGeom prst="rect">
            <a:avLst/>
          </a:prstGeom>
        </p:spPr>
        <p:txBody>
          <a:bodyPr vert="horz" wrap="square" lIns="0" tIns="12065" rIns="0" bIns="0" rtlCol="0">
            <a:spAutoFit/>
          </a:bodyPr>
          <a:lstStyle/>
          <a:p>
            <a:pPr marL="12700">
              <a:spcBef>
                <a:spcPts val="95"/>
              </a:spcBef>
            </a:pPr>
            <a:r>
              <a:rPr sz="1600" dirty="0">
                <a:solidFill>
                  <a:sysClr val="windowText" lastClr="000000"/>
                </a:solidFill>
                <a:latin typeface="Palatino Linotype" panose="02040502050505030304"/>
                <a:cs typeface="Palatino Linotype" panose="02040502050505030304"/>
              </a:rPr>
              <a:t>Call</a:t>
            </a:r>
            <a:r>
              <a:rPr sz="1600" spc="-30"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stack</a:t>
            </a:r>
            <a:endParaRPr sz="1600">
              <a:solidFill>
                <a:sysClr val="windowText" lastClr="000000"/>
              </a:solidFill>
              <a:latin typeface="Palatino Linotype" panose="02040502050505030304"/>
              <a:cs typeface="Palatino Linotype" panose="02040502050505030304"/>
            </a:endParaRPr>
          </a:p>
        </p:txBody>
      </p:sp>
      <p:sp>
        <p:nvSpPr>
          <p:cNvPr id="33" name="object 12"/>
          <p:cNvSpPr txBox="1"/>
          <p:nvPr/>
        </p:nvSpPr>
        <p:spPr>
          <a:xfrm>
            <a:off x="817575" y="4388040"/>
            <a:ext cx="2730500" cy="685165"/>
          </a:xfrm>
          <a:prstGeom prst="rect">
            <a:avLst/>
          </a:prstGeom>
        </p:spPr>
        <p:txBody>
          <a:bodyPr vert="horz" wrap="square" lIns="0" tIns="67945" rIns="0" bIns="0" rtlCol="0">
            <a:spAutoFit/>
          </a:bodyPr>
          <a:lstStyle/>
          <a:p>
            <a:pPr marL="299085" indent="-286385">
              <a:spcBef>
                <a:spcPts val="535"/>
              </a:spcBef>
              <a:buFont typeface="Arial MT"/>
              <a:buChar char="•"/>
              <a:tabLst>
                <a:tab pos="299085" algn="l"/>
              </a:tabLst>
            </a:pPr>
            <a:r>
              <a:rPr dirty="0">
                <a:solidFill>
                  <a:sysClr val="windowText" lastClr="000000"/>
                </a:solidFill>
                <a:latin typeface="Palatino Linotype" panose="02040502050505030304"/>
                <a:cs typeface="Palatino Linotype" panose="02040502050505030304"/>
              </a:rPr>
              <a:t>B() </a:t>
            </a:r>
            <a:r>
              <a:rPr spc="-10" dirty="0">
                <a:solidFill>
                  <a:sysClr val="windowText" lastClr="000000"/>
                </a:solidFill>
                <a:latin typeface="Palatino Linotype" panose="02040502050505030304"/>
                <a:cs typeface="Palatino Linotype" panose="02040502050505030304"/>
              </a:rPr>
              <a:t>returns</a:t>
            </a:r>
            <a:endParaRPr>
              <a:solidFill>
                <a:sysClr val="windowText" lastClr="000000"/>
              </a:solidFill>
              <a:latin typeface="Palatino Linotype" panose="02040502050505030304"/>
              <a:cs typeface="Palatino Linotype" panose="02040502050505030304"/>
            </a:endParaRPr>
          </a:p>
          <a:p>
            <a:pPr marL="299085" indent="-286385">
              <a:spcBef>
                <a:spcPts val="435"/>
              </a:spcBef>
              <a:buFont typeface="Arial MT"/>
              <a:buChar char="•"/>
              <a:tabLst>
                <a:tab pos="299085" algn="l"/>
              </a:tabLst>
            </a:pPr>
            <a:r>
              <a:rPr dirty="0">
                <a:solidFill>
                  <a:sysClr val="windowText" lastClr="000000"/>
                </a:solidFill>
                <a:latin typeface="Palatino Linotype" panose="02040502050505030304"/>
                <a:cs typeface="Palatino Linotype" panose="02040502050505030304"/>
              </a:rPr>
              <a:t>Execute</a:t>
            </a:r>
            <a:r>
              <a:rPr spc="-4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semantic</a:t>
            </a:r>
            <a:r>
              <a:rPr spc="-3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action</a:t>
            </a:r>
            <a:endParaRPr>
              <a:solidFill>
                <a:sysClr val="windowText" lastClr="000000"/>
              </a:solidFill>
              <a:latin typeface="Palatino Linotype" panose="02040502050505030304"/>
              <a:cs typeface="Palatino Linotype" panose="02040502050505030304"/>
            </a:endParaRPr>
          </a:p>
        </p:txBody>
      </p:sp>
      <p:sp>
        <p:nvSpPr>
          <p:cNvPr id="34" name="object 13"/>
          <p:cNvSpPr txBox="1"/>
          <p:nvPr/>
        </p:nvSpPr>
        <p:spPr>
          <a:xfrm>
            <a:off x="738022" y="3329178"/>
            <a:ext cx="803910" cy="1085215"/>
          </a:xfrm>
          <a:prstGeom prst="rect">
            <a:avLst/>
          </a:prstGeom>
        </p:spPr>
        <p:txBody>
          <a:bodyPr vert="horz" wrap="square" lIns="0" tIns="12700" rIns="0" bIns="0" rtlCol="0">
            <a:spAutoFit/>
          </a:bodyPr>
          <a:lstStyle/>
          <a:p>
            <a:pPr marL="12700">
              <a:spcBef>
                <a:spcPts val="100"/>
              </a:spcBef>
            </a:pPr>
            <a:r>
              <a:rPr b="1" spc="-25" dirty="0">
                <a:solidFill>
                  <a:sysClr val="windowText" lastClr="000000"/>
                </a:solidFill>
                <a:latin typeface="Palatino Linotype" panose="02040502050505030304"/>
                <a:cs typeface="Palatino Linotype" panose="02040502050505030304"/>
              </a:rPr>
              <a:t>int</a:t>
            </a:r>
            <a:endParaRPr>
              <a:solidFill>
                <a:sysClr val="windowText" lastClr="000000"/>
              </a:solidFill>
              <a:latin typeface="Palatino Linotype" panose="02040502050505030304"/>
              <a:cs typeface="Palatino Linotype" panose="02040502050505030304"/>
            </a:endParaRPr>
          </a:p>
          <a:p>
            <a:pPr>
              <a:spcBef>
                <a:spcPts val="1590"/>
              </a:spcBef>
            </a:pPr>
            <a:endParaRPr>
              <a:solidFill>
                <a:sysClr val="windowText" lastClr="000000"/>
              </a:solidFill>
              <a:latin typeface="Palatino Linotype" panose="02040502050505030304"/>
              <a:cs typeface="Palatino Linotype" panose="02040502050505030304"/>
            </a:endParaRPr>
          </a:p>
          <a:p>
            <a:pPr marL="92075"/>
            <a:r>
              <a:rPr b="1" dirty="0">
                <a:solidFill>
                  <a:srgbClr val="FF0000"/>
                </a:solidFill>
                <a:latin typeface="Palatino Linotype" panose="02040502050505030304"/>
                <a:cs typeface="Palatino Linotype" panose="02040502050505030304"/>
              </a:rPr>
              <a:t>Step</a:t>
            </a:r>
            <a:r>
              <a:rPr b="1" spc="-40" dirty="0">
                <a:solidFill>
                  <a:srgbClr val="FF0000"/>
                </a:solidFill>
                <a:latin typeface="Palatino Linotype" panose="02040502050505030304"/>
                <a:cs typeface="Palatino Linotype" panose="02040502050505030304"/>
              </a:rPr>
              <a:t> </a:t>
            </a:r>
            <a:r>
              <a:rPr b="1" spc="-25" dirty="0">
                <a:solidFill>
                  <a:srgbClr val="FF0000"/>
                </a:solidFill>
                <a:latin typeface="Palatino Linotype" panose="02040502050505030304"/>
                <a:cs typeface="Palatino Linotype" panose="02040502050505030304"/>
              </a:rPr>
              <a:t>3:</a:t>
            </a:r>
            <a:endParaRPr>
              <a:solidFill>
                <a:sysClr val="windowText" lastClr="000000"/>
              </a:solidFill>
              <a:latin typeface="Palatino Linotype" panose="02040502050505030304"/>
              <a:cs typeface="Palatino Linotype" panose="02040502050505030304"/>
            </a:endParaRPr>
          </a:p>
        </p:txBody>
      </p:sp>
      <p:sp>
        <p:nvSpPr>
          <p:cNvPr id="35" name="object 14"/>
          <p:cNvSpPr/>
          <p:nvPr/>
        </p:nvSpPr>
        <p:spPr>
          <a:xfrm>
            <a:off x="899160" y="3086100"/>
            <a:ext cx="0" cy="224154"/>
          </a:xfrm>
          <a:custGeom>
            <a:avLst/>
            <a:gdLst/>
            <a:ahLst/>
            <a:cxnLst/>
            <a:rect l="l" t="t" r="r" b="b"/>
            <a:pathLst>
              <a:path h="224154">
                <a:moveTo>
                  <a:pt x="0" y="0"/>
                </a:moveTo>
                <a:lnTo>
                  <a:pt x="0" y="22390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nvGrpSpPr>
          <p:cNvPr id="36" name="object 15"/>
          <p:cNvGrpSpPr/>
          <p:nvPr/>
        </p:nvGrpSpPr>
        <p:grpSpPr>
          <a:xfrm>
            <a:off x="714880" y="5448046"/>
            <a:ext cx="4890770" cy="508000"/>
            <a:chOff x="714880" y="5448046"/>
            <a:chExt cx="4890770" cy="508000"/>
          </a:xfrm>
        </p:grpSpPr>
        <p:pic>
          <p:nvPicPr>
            <p:cNvPr id="37" name="object 16"/>
            <p:cNvPicPr/>
            <p:nvPr/>
          </p:nvPicPr>
          <p:blipFill>
            <a:blip r:embed="rId3" cstate="print"/>
            <a:stretch>
              <a:fillRect/>
            </a:stretch>
          </p:blipFill>
          <p:spPr>
            <a:xfrm>
              <a:off x="714880" y="5484909"/>
              <a:ext cx="4890492" cy="470781"/>
            </a:xfrm>
            <a:prstGeom prst="rect">
              <a:avLst/>
            </a:prstGeom>
          </p:spPr>
        </p:pic>
        <p:sp>
          <p:nvSpPr>
            <p:cNvPr id="38" name="object 17"/>
            <p:cNvSpPr/>
            <p:nvPr/>
          </p:nvSpPr>
          <p:spPr>
            <a:xfrm>
              <a:off x="2471927" y="5454396"/>
              <a:ext cx="2679700" cy="265430"/>
            </a:xfrm>
            <a:custGeom>
              <a:avLst/>
              <a:gdLst/>
              <a:ahLst/>
              <a:cxnLst/>
              <a:rect l="l" t="t" r="r" b="b"/>
              <a:pathLst>
                <a:path w="2679700" h="265429">
                  <a:moveTo>
                    <a:pt x="0" y="265175"/>
                  </a:moveTo>
                  <a:lnTo>
                    <a:pt x="2679192" y="265175"/>
                  </a:lnTo>
                  <a:lnTo>
                    <a:pt x="2679192" y="0"/>
                  </a:lnTo>
                  <a:lnTo>
                    <a:pt x="0" y="0"/>
                  </a:lnTo>
                  <a:lnTo>
                    <a:pt x="0" y="265175"/>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
        <p:nvSpPr>
          <p:cNvPr id="39" name="object 18"/>
          <p:cNvSpPr txBox="1"/>
          <p:nvPr/>
        </p:nvSpPr>
        <p:spPr>
          <a:xfrm>
            <a:off x="1058062" y="2675890"/>
            <a:ext cx="913130" cy="391160"/>
          </a:xfrm>
          <a:prstGeom prst="rect">
            <a:avLst/>
          </a:prstGeom>
        </p:spPr>
        <p:txBody>
          <a:bodyPr vert="horz" wrap="square" lIns="0" tIns="12700" rIns="0" bIns="0" rtlCol="0">
            <a:spAutoFit/>
          </a:bodyPr>
          <a:lstStyle/>
          <a:p>
            <a:pPr marL="12700">
              <a:spcBef>
                <a:spcPts val="100"/>
              </a:spcBef>
            </a:pPr>
            <a:r>
              <a:rPr sz="1200" i="1" dirty="0">
                <a:solidFill>
                  <a:srgbClr val="6F2F9F"/>
                </a:solidFill>
                <a:latin typeface="Palatino Linotype" panose="02040502050505030304"/>
                <a:cs typeface="Palatino Linotype" panose="02040502050505030304"/>
              </a:rPr>
              <a:t>type</a:t>
            </a:r>
            <a:r>
              <a:rPr sz="1200" i="1" spc="-1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spc="-10" dirty="0">
                <a:solidFill>
                  <a:srgbClr val="6F2F9F"/>
                </a:solidFill>
                <a:latin typeface="Palatino Linotype" panose="02040502050505030304"/>
                <a:cs typeface="Palatino Linotype" panose="02040502050505030304"/>
              </a:rPr>
              <a:t>integer</a:t>
            </a:r>
            <a:endParaRPr sz="1200">
              <a:solidFill>
                <a:sysClr val="windowText" lastClr="000000"/>
              </a:solidFill>
              <a:latin typeface="Palatino Linotype" panose="02040502050505030304"/>
              <a:cs typeface="Palatino Linotype" panose="02040502050505030304"/>
            </a:endParaRPr>
          </a:p>
          <a:p>
            <a:pPr marL="12700"/>
            <a:r>
              <a:rPr sz="1200" i="1" dirty="0">
                <a:solidFill>
                  <a:srgbClr val="6F2F9F"/>
                </a:solidFill>
                <a:latin typeface="Palatino Linotype" panose="02040502050505030304"/>
                <a:cs typeface="Palatino Linotype" panose="02040502050505030304"/>
              </a:rPr>
              <a:t>width</a:t>
            </a:r>
            <a:r>
              <a:rPr sz="1200" i="1" spc="-2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15" dirty="0">
                <a:solidFill>
                  <a:srgbClr val="6F2F9F"/>
                </a:solidFill>
                <a:latin typeface="Palatino Linotype" panose="02040502050505030304"/>
                <a:cs typeface="Palatino Linotype" panose="02040502050505030304"/>
              </a:rPr>
              <a:t> </a:t>
            </a:r>
            <a:r>
              <a:rPr sz="1200" spc="-50" dirty="0">
                <a:solidFill>
                  <a:srgbClr val="6F2F9F"/>
                </a:solidFill>
                <a:latin typeface="Palatino Linotype" panose="02040502050505030304"/>
                <a:cs typeface="Palatino Linotype" panose="02040502050505030304"/>
              </a:rPr>
              <a:t>4</a:t>
            </a:r>
            <a:endParaRPr sz="1200">
              <a:solidFill>
                <a:sysClr val="windowText" lastClr="000000"/>
              </a:solidFill>
              <a:latin typeface="Palatino Linotype" panose="02040502050505030304"/>
              <a:cs typeface="Palatino Linotype" panose="02040502050505030304"/>
            </a:endParaRPr>
          </a:p>
        </p:txBody>
      </p:sp>
      <p:sp>
        <p:nvSpPr>
          <p:cNvPr id="40" name="object 19"/>
          <p:cNvSpPr txBox="1"/>
          <p:nvPr/>
        </p:nvSpPr>
        <p:spPr>
          <a:xfrm>
            <a:off x="4224528" y="1491996"/>
            <a:ext cx="1266825" cy="646430"/>
          </a:xfrm>
          <a:prstGeom prst="rect">
            <a:avLst/>
          </a:prstGeom>
          <a:solidFill>
            <a:srgbClr val="FFF1CC"/>
          </a:solidFill>
          <a:ln w="9525">
            <a:solidFill>
              <a:srgbClr val="000000"/>
            </a:solidFill>
          </a:ln>
        </p:spPr>
        <p:txBody>
          <a:bodyPr vert="horz" wrap="square" lIns="0" tIns="31115" rIns="0" bIns="0" rtlCol="0">
            <a:spAutoFit/>
          </a:bodyPr>
          <a:lstStyle/>
          <a:p>
            <a:pPr marL="92075">
              <a:spcBef>
                <a:spcPts val="245"/>
              </a:spcBef>
            </a:pPr>
            <a:r>
              <a:rPr i="1" dirty="0">
                <a:solidFill>
                  <a:sysClr val="windowText" lastClr="000000"/>
                </a:solidFill>
                <a:latin typeface="Palatino Linotype" panose="02040502050505030304"/>
                <a:cs typeface="Palatino Linotype" panose="02040502050505030304"/>
              </a:rPr>
              <a:t>t</a:t>
            </a:r>
            <a:r>
              <a:rPr i="1" spc="-1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t>
            </a:r>
            <a:r>
              <a:rPr spc="-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integer</a:t>
            </a:r>
            <a:endParaRPr>
              <a:solidFill>
                <a:sysClr val="windowText" lastClr="000000"/>
              </a:solidFill>
              <a:latin typeface="Palatino Linotype" panose="02040502050505030304"/>
              <a:cs typeface="Palatino Linotype" panose="02040502050505030304"/>
            </a:endParaRPr>
          </a:p>
          <a:p>
            <a:pPr marL="92075"/>
            <a:r>
              <a:rPr i="1" dirty="0">
                <a:solidFill>
                  <a:sysClr val="windowText" lastClr="000000"/>
                </a:solidFill>
                <a:latin typeface="Palatino Linotype" panose="02040502050505030304"/>
                <a:cs typeface="Palatino Linotype" panose="02040502050505030304"/>
              </a:rPr>
              <a:t>w</a:t>
            </a:r>
            <a:r>
              <a:rPr i="1" spc="-2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t>
            </a:r>
            <a:r>
              <a:rPr spc="-25" dirty="0">
                <a:solidFill>
                  <a:sysClr val="windowText" lastClr="000000"/>
                </a:solidFill>
                <a:latin typeface="Palatino Linotype" panose="02040502050505030304"/>
                <a:cs typeface="Palatino Linotype" panose="02040502050505030304"/>
              </a:rPr>
              <a:t> </a:t>
            </a:r>
            <a:r>
              <a:rPr spc="-50" dirty="0">
                <a:solidFill>
                  <a:sysClr val="windowText" lastClr="000000"/>
                </a:solidFill>
                <a:latin typeface="Palatino Linotype" panose="02040502050505030304"/>
                <a:cs typeface="Palatino Linotype" panose="02040502050505030304"/>
              </a:rPr>
              <a:t>4</a:t>
            </a:r>
            <a:endParaRPr>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41</a:t>
            </a:fld>
            <a:endParaRPr lang="en-US"/>
          </a:p>
        </p:txBody>
      </p:sp>
      <p:sp>
        <p:nvSpPr>
          <p:cNvPr id="26"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30" normalizeH="0" baseline="0" noProof="0">
                <a:ln>
                  <a:noFill/>
                </a:ln>
                <a:solidFill>
                  <a:srgbClr val="000000"/>
                </a:solidFill>
                <a:effectLst/>
                <a:uLnTx/>
                <a:uFillTx/>
                <a:latin typeface="Palatino Linotype" panose="02040502050505030304"/>
                <a:ea typeface="+mj-ea"/>
              </a:rPr>
              <a:t>Translation</a:t>
            </a:r>
            <a:r>
              <a:rPr kumimoji="0" lang="en-US" sz="4000" b="1" i="0" u="none" strike="noStrike" kern="0" cap="none" spc="-13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Process</a:t>
            </a:r>
            <a:r>
              <a:rPr kumimoji="0" lang="en-US" sz="4000" b="1" i="0" u="none" strike="noStrike" kern="0" cap="none" spc="-14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Example</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27" name="object 3"/>
          <p:cNvSpPr txBox="1"/>
          <p:nvPr/>
        </p:nvSpPr>
        <p:spPr>
          <a:xfrm>
            <a:off x="1581658" y="2109978"/>
            <a:ext cx="16573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T</a:t>
            </a:r>
            <a:endParaRPr>
              <a:solidFill>
                <a:sysClr val="windowText" lastClr="000000"/>
              </a:solidFill>
              <a:latin typeface="Palatino Linotype" panose="02040502050505030304"/>
              <a:cs typeface="Palatino Linotype" panose="02040502050505030304"/>
            </a:endParaRPr>
          </a:p>
        </p:txBody>
      </p:sp>
      <p:sp>
        <p:nvSpPr>
          <p:cNvPr id="28" name="object 4"/>
          <p:cNvSpPr txBox="1"/>
          <p:nvPr/>
        </p:nvSpPr>
        <p:spPr>
          <a:xfrm>
            <a:off x="814832" y="2735707"/>
            <a:ext cx="16510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B</a:t>
            </a:r>
            <a:endParaRPr>
              <a:solidFill>
                <a:sysClr val="windowText" lastClr="000000"/>
              </a:solidFill>
              <a:latin typeface="Palatino Linotype" panose="02040502050505030304"/>
              <a:cs typeface="Palatino Linotype" panose="02040502050505030304"/>
            </a:endParaRPr>
          </a:p>
        </p:txBody>
      </p:sp>
      <p:sp>
        <p:nvSpPr>
          <p:cNvPr id="29" name="object 5"/>
          <p:cNvSpPr txBox="1"/>
          <p:nvPr/>
        </p:nvSpPr>
        <p:spPr>
          <a:xfrm>
            <a:off x="2299207" y="2735707"/>
            <a:ext cx="18796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30" name="object 6"/>
          <p:cNvSpPr/>
          <p:nvPr/>
        </p:nvSpPr>
        <p:spPr>
          <a:xfrm>
            <a:off x="899160" y="2461260"/>
            <a:ext cx="1495425" cy="256540"/>
          </a:xfrm>
          <a:custGeom>
            <a:avLst/>
            <a:gdLst/>
            <a:ahLst/>
            <a:cxnLst/>
            <a:rect l="l" t="t" r="r" b="b"/>
            <a:pathLst>
              <a:path w="1495425" h="256539">
                <a:moveTo>
                  <a:pt x="766572" y="0"/>
                </a:moveTo>
                <a:lnTo>
                  <a:pt x="0" y="256412"/>
                </a:lnTo>
              </a:path>
              <a:path w="1495425" h="256539">
                <a:moveTo>
                  <a:pt x="766572" y="0"/>
                </a:moveTo>
                <a:lnTo>
                  <a:pt x="1495425" y="256412"/>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31" name="object 7"/>
          <p:cNvSpPr txBox="1"/>
          <p:nvPr/>
        </p:nvSpPr>
        <p:spPr>
          <a:xfrm>
            <a:off x="814832" y="1343659"/>
            <a:ext cx="2540635" cy="299720"/>
          </a:xfrm>
          <a:prstGeom prst="rect">
            <a:avLst/>
          </a:prstGeom>
        </p:spPr>
        <p:txBody>
          <a:bodyPr vert="horz" wrap="square" lIns="0" tIns="12700" rIns="0" bIns="0" rtlCol="0">
            <a:spAutoFit/>
          </a:bodyPr>
          <a:lstStyle/>
          <a:p>
            <a:pPr marL="12700">
              <a:spcBef>
                <a:spcPts val="100"/>
              </a:spcBef>
            </a:pPr>
            <a:r>
              <a:rPr dirty="0">
                <a:solidFill>
                  <a:sysClr val="windowText" lastClr="000000"/>
                </a:solidFill>
                <a:latin typeface="Palatino Linotype" panose="02040502050505030304"/>
                <a:cs typeface="Palatino Linotype" panose="02040502050505030304"/>
              </a:rPr>
              <a:t>Input</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string:</a:t>
            </a:r>
            <a:r>
              <a:rPr spc="465" dirty="0">
                <a:solidFill>
                  <a:sysClr val="windowText" lastClr="000000"/>
                </a:solidFill>
                <a:latin typeface="Palatino Linotype" panose="02040502050505030304"/>
                <a:cs typeface="Palatino Linotype" panose="02040502050505030304"/>
              </a:rPr>
              <a:t> </a:t>
            </a:r>
            <a:r>
              <a:rPr spc="-10" dirty="0">
                <a:solidFill>
                  <a:srgbClr val="A6A6A6"/>
                </a:solidFill>
                <a:latin typeface="Consolas" panose="020B0609020204030204"/>
                <a:cs typeface="Consolas" panose="020B0609020204030204"/>
              </a:rPr>
              <a:t>int[2]</a:t>
            </a:r>
            <a:r>
              <a:rPr spc="-10" dirty="0">
                <a:solidFill>
                  <a:srgbClr val="0431FF"/>
                </a:solidFill>
                <a:latin typeface="Consolas" panose="020B0609020204030204"/>
                <a:cs typeface="Consolas" panose="020B0609020204030204"/>
              </a:rPr>
              <a:t>[3]</a:t>
            </a:r>
            <a:endParaRPr>
              <a:solidFill>
                <a:sysClr val="windowText" lastClr="000000"/>
              </a:solidFill>
              <a:latin typeface="Consolas" panose="020B0609020204030204"/>
              <a:cs typeface="Consolas" panose="020B0609020204030204"/>
            </a:endParaRPr>
          </a:p>
        </p:txBody>
      </p:sp>
      <p:graphicFrame>
        <p:nvGraphicFramePr>
          <p:cNvPr id="32" name="object 8"/>
          <p:cNvGraphicFramePr>
            <a:graphicFrameLocks noGrp="1"/>
          </p:cNvGraphicFramePr>
          <p:nvPr/>
        </p:nvGraphicFramePr>
        <p:xfrm>
          <a:off x="6384290" y="2222373"/>
          <a:ext cx="1710689" cy="2966085"/>
        </p:xfrm>
        <a:graphic>
          <a:graphicData uri="http://schemas.openxmlformats.org/drawingml/2006/table">
            <a:tbl>
              <a:tblPr firstRow="1" bandRow="1"/>
              <a:tblGrid>
                <a:gridCol w="1710689">
                  <a:extLst>
                    <a:ext uri="{9D8B030D-6E8A-4147-A177-3AD203B41FA5}">
                      <a16:colId xmlns:a16="http://schemas.microsoft.com/office/drawing/2014/main" val="20000"/>
                    </a:ext>
                  </a:extLst>
                </a:gridCol>
              </a:tblGrid>
              <a:tr h="2225040">
                <a:tc>
                  <a:txBody>
                    <a:bodyPr/>
                    <a:lstStyle>
                      <a:lvl1pPr marL="0" algn="l" defTabSz="914400">
                        <a:defRPr sz="1800">
                          <a:solidFill>
                            <a:schemeClr val="tx1"/>
                          </a:solidFill>
                          <a:latin typeface="Calibri" panose="020F0502020204030204"/>
                        </a:defRPr>
                      </a:lvl1pPr>
                      <a:lvl2pPr marL="457200" algn="l" defTabSz="914400">
                        <a:defRPr sz="1800">
                          <a:solidFill>
                            <a:schemeClr val="tx1"/>
                          </a:solidFill>
                          <a:latin typeface="Calibri" panose="020F0502020204030204"/>
                        </a:defRPr>
                      </a:lvl2pPr>
                      <a:lvl3pPr marL="914400" algn="l" defTabSz="914400">
                        <a:defRPr sz="1800">
                          <a:solidFill>
                            <a:schemeClr val="tx1"/>
                          </a:solidFill>
                          <a:latin typeface="Calibri" panose="020F0502020204030204"/>
                        </a:defRPr>
                      </a:lvl3pPr>
                      <a:lvl4pPr marL="1371600" algn="l" defTabSz="914400">
                        <a:defRPr sz="1800">
                          <a:solidFill>
                            <a:schemeClr val="tx1"/>
                          </a:solidFill>
                          <a:latin typeface="Calibri" panose="020F0502020204030204"/>
                        </a:defRPr>
                      </a:lvl4pPr>
                      <a:lvl5pPr marL="1828800" algn="l" defTabSz="914400">
                        <a:defRPr sz="1800">
                          <a:solidFill>
                            <a:schemeClr val="tx1"/>
                          </a:solidFill>
                          <a:latin typeface="Calibri" panose="020F0502020204030204"/>
                        </a:defRPr>
                      </a:lvl5pPr>
                      <a:lvl6pPr marL="2286000" algn="l" defTabSz="914400">
                        <a:defRPr sz="1800">
                          <a:solidFill>
                            <a:schemeClr val="tx1"/>
                          </a:solidFill>
                          <a:latin typeface="Calibri" panose="020F0502020204030204"/>
                        </a:defRPr>
                      </a:lvl6pPr>
                      <a:lvl7pPr marL="2743200" algn="l" defTabSz="914400">
                        <a:defRPr sz="1800">
                          <a:solidFill>
                            <a:schemeClr val="tx1"/>
                          </a:solidFill>
                          <a:latin typeface="Calibri" panose="020F0502020204030204"/>
                        </a:defRPr>
                      </a:lvl7pPr>
                      <a:lvl8pPr marL="3200400" algn="l" defTabSz="914400">
                        <a:defRPr sz="1800">
                          <a:solidFill>
                            <a:schemeClr val="tx1"/>
                          </a:solidFill>
                          <a:latin typeface="Calibri" panose="020F0502020204030204"/>
                        </a:defRPr>
                      </a:lvl8pPr>
                      <a:lvl9pPr marL="3657600" algn="l" defTabSz="914400">
                        <a:defRPr sz="1800">
                          <a:solidFill>
                            <a:schemeClr val="tx1"/>
                          </a:solidFill>
                          <a:latin typeface="Calibri" panose="020F0502020204030204"/>
                        </a:defRPr>
                      </a:lvl9pPr>
                    </a:lstStyle>
                    <a:p>
                      <a:pPr>
                        <a:lnSpc>
                          <a:spcPct val="100000"/>
                        </a:lnSpc>
                      </a:pPr>
                      <a:endParaRPr sz="19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a:noFill/>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205">
                <a:tc>
                  <a:txBody>
                    <a:bodyPr/>
                    <a:lstStyle>
                      <a:lvl1pPr marL="0" algn="l" defTabSz="914400">
                        <a:defRPr sz="1800">
                          <a:solidFill>
                            <a:schemeClr val="tx1"/>
                          </a:solidFill>
                          <a:latin typeface="Calibri" panose="020F0502020204030204"/>
                        </a:defRPr>
                      </a:lvl1pPr>
                      <a:lvl2pPr marL="457200" algn="l" defTabSz="914400">
                        <a:defRPr sz="1800">
                          <a:solidFill>
                            <a:schemeClr val="tx1"/>
                          </a:solidFill>
                          <a:latin typeface="Calibri" panose="020F0502020204030204"/>
                        </a:defRPr>
                      </a:lvl2pPr>
                      <a:lvl3pPr marL="914400" algn="l" defTabSz="914400">
                        <a:defRPr sz="1800">
                          <a:solidFill>
                            <a:schemeClr val="tx1"/>
                          </a:solidFill>
                          <a:latin typeface="Calibri" panose="020F0502020204030204"/>
                        </a:defRPr>
                      </a:lvl3pPr>
                      <a:lvl4pPr marL="1371600" algn="l" defTabSz="914400">
                        <a:defRPr sz="1800">
                          <a:solidFill>
                            <a:schemeClr val="tx1"/>
                          </a:solidFill>
                          <a:latin typeface="Calibri" panose="020F0502020204030204"/>
                        </a:defRPr>
                      </a:lvl4pPr>
                      <a:lvl5pPr marL="1828800" algn="l" defTabSz="914400">
                        <a:defRPr sz="1800">
                          <a:solidFill>
                            <a:schemeClr val="tx1"/>
                          </a:solidFill>
                          <a:latin typeface="Calibri" panose="020F0502020204030204"/>
                        </a:defRPr>
                      </a:lvl5pPr>
                      <a:lvl6pPr marL="2286000" algn="l" defTabSz="914400">
                        <a:defRPr sz="1800">
                          <a:solidFill>
                            <a:schemeClr val="tx1"/>
                          </a:solidFill>
                          <a:latin typeface="Calibri" panose="020F0502020204030204"/>
                        </a:defRPr>
                      </a:lvl6pPr>
                      <a:lvl7pPr marL="2743200" algn="l" defTabSz="914400">
                        <a:defRPr sz="1800">
                          <a:solidFill>
                            <a:schemeClr val="tx1"/>
                          </a:solidFill>
                          <a:latin typeface="Calibri" panose="020F0502020204030204"/>
                        </a:defRPr>
                      </a:lvl7pPr>
                      <a:lvl8pPr marL="3200400" algn="l" defTabSz="914400">
                        <a:defRPr sz="1800">
                          <a:solidFill>
                            <a:schemeClr val="tx1"/>
                          </a:solidFill>
                          <a:latin typeface="Calibri" panose="020F0502020204030204"/>
                        </a:defRPr>
                      </a:lvl8pPr>
                      <a:lvl9pPr marL="3657600" algn="l" defTabSz="914400">
                        <a:defRPr sz="1800">
                          <a:solidFill>
                            <a:schemeClr val="tx1"/>
                          </a:solidFill>
                          <a:latin typeface="Calibri" panose="020F0502020204030204"/>
                        </a:defRPr>
                      </a:lvl9pPr>
                    </a:lstStyle>
                    <a:p>
                      <a:pPr marL="1270" algn="ctr">
                        <a:lnSpc>
                          <a:spcPct val="100000"/>
                        </a:lnSpc>
                        <a:spcBef>
                          <a:spcPts val="245"/>
                        </a:spcBef>
                      </a:pPr>
                      <a:r>
                        <a:rPr sz="1800" dirty="0">
                          <a:latin typeface="Palatino Linotype" panose="02040502050505030304"/>
                          <a:cs typeface="Palatino Linotype" panose="02040502050505030304"/>
                        </a:rPr>
                        <a:t>C(t, </a:t>
                      </a:r>
                      <a:r>
                        <a:rPr sz="1800" spc="-25" dirty="0">
                          <a:latin typeface="Palatino Linotype" panose="02040502050505030304"/>
                          <a:cs typeface="Palatino Linotype" panose="02040502050505030304"/>
                        </a:rPr>
                        <a:t>w)</a:t>
                      </a:r>
                      <a:endParaRPr sz="1800">
                        <a:latin typeface="Palatino Linotype" panose="02040502050505030304"/>
                        <a:cs typeface="Palatino Linotype" panose="02040502050505030304"/>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914400">
                        <a:defRPr sz="1800">
                          <a:solidFill>
                            <a:schemeClr val="tx1"/>
                          </a:solidFill>
                          <a:latin typeface="Calibri" panose="020F0502020204030204"/>
                        </a:defRPr>
                      </a:lvl1pPr>
                      <a:lvl2pPr marL="457200" algn="l" defTabSz="914400">
                        <a:defRPr sz="1800">
                          <a:solidFill>
                            <a:schemeClr val="tx1"/>
                          </a:solidFill>
                          <a:latin typeface="Calibri" panose="020F0502020204030204"/>
                        </a:defRPr>
                      </a:lvl2pPr>
                      <a:lvl3pPr marL="914400" algn="l" defTabSz="914400">
                        <a:defRPr sz="1800">
                          <a:solidFill>
                            <a:schemeClr val="tx1"/>
                          </a:solidFill>
                          <a:latin typeface="Calibri" panose="020F0502020204030204"/>
                        </a:defRPr>
                      </a:lvl3pPr>
                      <a:lvl4pPr marL="1371600" algn="l" defTabSz="914400">
                        <a:defRPr sz="1800">
                          <a:solidFill>
                            <a:schemeClr val="tx1"/>
                          </a:solidFill>
                          <a:latin typeface="Calibri" panose="020F0502020204030204"/>
                        </a:defRPr>
                      </a:lvl4pPr>
                      <a:lvl5pPr marL="1828800" algn="l" defTabSz="914400">
                        <a:defRPr sz="1800">
                          <a:solidFill>
                            <a:schemeClr val="tx1"/>
                          </a:solidFill>
                          <a:latin typeface="Calibri" panose="020F0502020204030204"/>
                        </a:defRPr>
                      </a:lvl5pPr>
                      <a:lvl6pPr marL="2286000" algn="l" defTabSz="914400">
                        <a:defRPr sz="1800">
                          <a:solidFill>
                            <a:schemeClr val="tx1"/>
                          </a:solidFill>
                          <a:latin typeface="Calibri" panose="020F0502020204030204"/>
                        </a:defRPr>
                      </a:lvl6pPr>
                      <a:lvl7pPr marL="2743200" algn="l" defTabSz="914400">
                        <a:defRPr sz="1800">
                          <a:solidFill>
                            <a:schemeClr val="tx1"/>
                          </a:solidFill>
                          <a:latin typeface="Calibri" panose="020F0502020204030204"/>
                        </a:defRPr>
                      </a:lvl7pPr>
                      <a:lvl8pPr marL="3200400" algn="l" defTabSz="914400">
                        <a:defRPr sz="1800">
                          <a:solidFill>
                            <a:schemeClr val="tx1"/>
                          </a:solidFill>
                          <a:latin typeface="Calibri" panose="020F0502020204030204"/>
                        </a:defRPr>
                      </a:lvl8pPr>
                      <a:lvl9pPr marL="3657600" algn="l" defTabSz="914400">
                        <a:defRPr sz="1800">
                          <a:solidFill>
                            <a:schemeClr val="tx1"/>
                          </a:solidFill>
                          <a:latin typeface="Calibri" panose="020F0502020204030204"/>
                        </a:defRPr>
                      </a:lvl9pPr>
                    </a:lstStyle>
                    <a:p>
                      <a:pPr marL="1905" algn="ctr">
                        <a:lnSpc>
                          <a:spcPct val="100000"/>
                        </a:lnSpc>
                        <a:spcBef>
                          <a:spcPts val="250"/>
                        </a:spcBef>
                      </a:pPr>
                      <a:r>
                        <a:rPr sz="1800" spc="-25" dirty="0">
                          <a:latin typeface="Palatino Linotype" panose="02040502050505030304"/>
                          <a:cs typeface="Palatino Linotype" panose="02040502050505030304"/>
                        </a:rPr>
                        <a:t>T()</a:t>
                      </a:r>
                      <a:endParaRPr sz="1800">
                        <a:latin typeface="Palatino Linotype" panose="02040502050505030304"/>
                        <a:cs typeface="Palatino Linotype" panose="02040502050505030304"/>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33" name="object 9"/>
          <p:cNvSpPr txBox="1"/>
          <p:nvPr/>
        </p:nvSpPr>
        <p:spPr>
          <a:xfrm>
            <a:off x="6819138" y="5393842"/>
            <a:ext cx="895350" cy="269240"/>
          </a:xfrm>
          <a:prstGeom prst="rect">
            <a:avLst/>
          </a:prstGeom>
        </p:spPr>
        <p:txBody>
          <a:bodyPr vert="horz" wrap="square" lIns="0" tIns="12065" rIns="0" bIns="0" rtlCol="0">
            <a:spAutoFit/>
          </a:bodyPr>
          <a:lstStyle/>
          <a:p>
            <a:pPr marL="12700">
              <a:spcBef>
                <a:spcPts val="95"/>
              </a:spcBef>
            </a:pPr>
            <a:r>
              <a:rPr sz="1600" dirty="0">
                <a:solidFill>
                  <a:sysClr val="windowText" lastClr="000000"/>
                </a:solidFill>
                <a:latin typeface="Palatino Linotype" panose="02040502050505030304"/>
                <a:cs typeface="Palatino Linotype" panose="02040502050505030304"/>
              </a:rPr>
              <a:t>Call</a:t>
            </a:r>
            <a:r>
              <a:rPr sz="1600" spc="-30"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stack</a:t>
            </a:r>
            <a:endParaRPr sz="1600">
              <a:solidFill>
                <a:sysClr val="windowText" lastClr="000000"/>
              </a:solidFill>
              <a:latin typeface="Palatino Linotype" panose="02040502050505030304"/>
              <a:cs typeface="Palatino Linotype" panose="02040502050505030304"/>
            </a:endParaRPr>
          </a:p>
        </p:txBody>
      </p:sp>
      <p:sp>
        <p:nvSpPr>
          <p:cNvPr id="34" name="object 10"/>
          <p:cNvSpPr txBox="1"/>
          <p:nvPr/>
        </p:nvSpPr>
        <p:spPr>
          <a:xfrm>
            <a:off x="817575" y="4114292"/>
            <a:ext cx="724535" cy="299720"/>
          </a:xfrm>
          <a:prstGeom prst="rect">
            <a:avLst/>
          </a:prstGeom>
        </p:spPr>
        <p:txBody>
          <a:bodyPr vert="horz" wrap="square" lIns="0" tIns="12700" rIns="0" bIns="0" rtlCol="0">
            <a:spAutoFit/>
          </a:bodyPr>
          <a:lstStyle/>
          <a:p>
            <a:pPr marL="12700">
              <a:spcBef>
                <a:spcPts val="100"/>
              </a:spcBef>
            </a:pPr>
            <a:r>
              <a:rPr b="1" dirty="0">
                <a:solidFill>
                  <a:srgbClr val="FF0000"/>
                </a:solidFill>
                <a:latin typeface="Palatino Linotype" panose="02040502050505030304"/>
                <a:cs typeface="Palatino Linotype" panose="02040502050505030304"/>
              </a:rPr>
              <a:t>Step</a:t>
            </a:r>
            <a:r>
              <a:rPr b="1" spc="-40" dirty="0">
                <a:solidFill>
                  <a:srgbClr val="FF0000"/>
                </a:solidFill>
                <a:latin typeface="Palatino Linotype" panose="02040502050505030304"/>
                <a:cs typeface="Palatino Linotype" panose="02040502050505030304"/>
              </a:rPr>
              <a:t> </a:t>
            </a:r>
            <a:r>
              <a:rPr b="1" spc="-25" dirty="0">
                <a:solidFill>
                  <a:srgbClr val="FF0000"/>
                </a:solidFill>
                <a:latin typeface="Palatino Linotype" panose="02040502050505030304"/>
                <a:cs typeface="Palatino Linotype" panose="02040502050505030304"/>
              </a:rPr>
              <a:t>4:</a:t>
            </a:r>
            <a:endParaRPr>
              <a:solidFill>
                <a:sysClr val="windowText" lastClr="000000"/>
              </a:solidFill>
              <a:latin typeface="Palatino Linotype" panose="02040502050505030304"/>
              <a:cs typeface="Palatino Linotype" panose="02040502050505030304"/>
            </a:endParaRPr>
          </a:p>
        </p:txBody>
      </p:sp>
      <p:sp>
        <p:nvSpPr>
          <p:cNvPr id="35" name="object 11"/>
          <p:cNvSpPr/>
          <p:nvPr/>
        </p:nvSpPr>
        <p:spPr>
          <a:xfrm>
            <a:off x="3829431" y="4511039"/>
            <a:ext cx="50165" cy="213360"/>
          </a:xfrm>
          <a:custGeom>
            <a:avLst/>
            <a:gdLst/>
            <a:ahLst/>
            <a:cxnLst/>
            <a:rect l="l" t="t" r="r" b="b"/>
            <a:pathLst>
              <a:path w="50164" h="213360">
                <a:moveTo>
                  <a:pt x="49784" y="0"/>
                </a:moveTo>
                <a:lnTo>
                  <a:pt x="0" y="0"/>
                </a:lnTo>
                <a:lnTo>
                  <a:pt x="0" y="8890"/>
                </a:lnTo>
                <a:lnTo>
                  <a:pt x="31369" y="8890"/>
                </a:lnTo>
                <a:lnTo>
                  <a:pt x="31369" y="204470"/>
                </a:lnTo>
                <a:lnTo>
                  <a:pt x="0" y="204470"/>
                </a:lnTo>
                <a:lnTo>
                  <a:pt x="0" y="213360"/>
                </a:lnTo>
                <a:lnTo>
                  <a:pt x="49784" y="213360"/>
                </a:lnTo>
                <a:lnTo>
                  <a:pt x="49784" y="204470"/>
                </a:lnTo>
                <a:lnTo>
                  <a:pt x="49784" y="8890"/>
                </a:lnTo>
                <a:lnTo>
                  <a:pt x="49784"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36" name="object 12"/>
          <p:cNvSpPr/>
          <p:nvPr/>
        </p:nvSpPr>
        <p:spPr>
          <a:xfrm>
            <a:off x="3280143" y="4511039"/>
            <a:ext cx="50165" cy="213360"/>
          </a:xfrm>
          <a:custGeom>
            <a:avLst/>
            <a:gdLst/>
            <a:ahLst/>
            <a:cxnLst/>
            <a:rect l="l" t="t" r="r" b="b"/>
            <a:pathLst>
              <a:path w="50164" h="213360">
                <a:moveTo>
                  <a:pt x="49796" y="0"/>
                </a:moveTo>
                <a:lnTo>
                  <a:pt x="0" y="0"/>
                </a:lnTo>
                <a:lnTo>
                  <a:pt x="0" y="8890"/>
                </a:lnTo>
                <a:lnTo>
                  <a:pt x="0" y="204470"/>
                </a:lnTo>
                <a:lnTo>
                  <a:pt x="0" y="213360"/>
                </a:lnTo>
                <a:lnTo>
                  <a:pt x="49796" y="213360"/>
                </a:lnTo>
                <a:lnTo>
                  <a:pt x="49796" y="204470"/>
                </a:lnTo>
                <a:lnTo>
                  <a:pt x="18554" y="204470"/>
                </a:lnTo>
                <a:lnTo>
                  <a:pt x="18554" y="8890"/>
                </a:lnTo>
                <a:lnTo>
                  <a:pt x="49796" y="8890"/>
                </a:lnTo>
                <a:lnTo>
                  <a:pt x="49796"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37" name="object 13"/>
          <p:cNvSpPr txBox="1"/>
          <p:nvPr/>
        </p:nvSpPr>
        <p:spPr>
          <a:xfrm>
            <a:off x="3323335" y="4443171"/>
            <a:ext cx="730885" cy="300355"/>
          </a:xfrm>
          <a:prstGeom prst="rect">
            <a:avLst/>
          </a:prstGeom>
        </p:spPr>
        <p:txBody>
          <a:bodyPr vert="horz" wrap="square" lIns="0" tIns="12700" rIns="0" bIns="0" rtlCol="0">
            <a:spAutoFit/>
          </a:bodyPr>
          <a:lstStyle/>
          <a:p>
            <a:pPr marL="12700">
              <a:spcBef>
                <a:spcPts val="100"/>
              </a:spcBef>
            </a:pPr>
            <a:r>
              <a:rPr dirty="0">
                <a:solidFill>
                  <a:sysClr val="windowText" lastClr="000000"/>
                </a:solidFill>
                <a:latin typeface="Cambria Math" panose="02040503050406030204"/>
                <a:cs typeface="Cambria Math" panose="02040503050406030204"/>
              </a:rPr>
              <a:t>𝐧𝐮𝐦</a:t>
            </a:r>
            <a:r>
              <a:rPr spc="229" dirty="0">
                <a:solidFill>
                  <a:sysClr val="windowText" lastClr="000000"/>
                </a:solidFill>
                <a:latin typeface="Cambria Math" panose="02040503050406030204"/>
                <a:cs typeface="Cambria Math" panose="02040503050406030204"/>
              </a:rPr>
              <a:t> </a:t>
            </a:r>
            <a:r>
              <a:rPr spc="-50" dirty="0">
                <a:solidFill>
                  <a:sysClr val="windowText" lastClr="000000"/>
                </a:solidFill>
                <a:latin typeface="Cambria Math" panose="02040503050406030204"/>
                <a:cs typeface="Cambria Math" panose="02040503050406030204"/>
              </a:rPr>
              <a:t>𝐶</a:t>
            </a:r>
            <a:endParaRPr>
              <a:solidFill>
                <a:sysClr val="windowText" lastClr="000000"/>
              </a:solidFill>
              <a:latin typeface="Cambria Math" panose="02040503050406030204"/>
              <a:cs typeface="Cambria Math" panose="02040503050406030204"/>
            </a:endParaRPr>
          </a:p>
        </p:txBody>
      </p:sp>
      <p:sp>
        <p:nvSpPr>
          <p:cNvPr id="38" name="object 14"/>
          <p:cNvSpPr txBox="1"/>
          <p:nvPr/>
        </p:nvSpPr>
        <p:spPr>
          <a:xfrm>
            <a:off x="817575" y="4388040"/>
            <a:ext cx="2388235" cy="685165"/>
          </a:xfrm>
          <a:prstGeom prst="rect">
            <a:avLst/>
          </a:prstGeom>
        </p:spPr>
        <p:txBody>
          <a:bodyPr vert="horz" wrap="square" lIns="0" tIns="67945" rIns="0" bIns="0" rtlCol="0">
            <a:spAutoFit/>
          </a:bodyPr>
          <a:lstStyle/>
          <a:p>
            <a:pPr marL="299085" indent="-286385">
              <a:spcBef>
                <a:spcPts val="535"/>
              </a:spcBef>
              <a:buFont typeface="Arial MT"/>
              <a:buChar char="•"/>
              <a:tabLst>
                <a:tab pos="299085" algn="l"/>
              </a:tabLst>
            </a:pPr>
            <a:r>
              <a:rPr dirty="0">
                <a:solidFill>
                  <a:sysClr val="windowText" lastClr="000000"/>
                </a:solidFill>
                <a:latin typeface="Palatino Linotype" panose="02040502050505030304"/>
                <a:cs typeface="Palatino Linotype" panose="02040502050505030304"/>
              </a:rPr>
              <a:t>Rewrite</a:t>
            </a:r>
            <a:r>
              <a:rPr spc="-1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Cambria Math" panose="02040503050406030204"/>
                <a:cs typeface="Cambria Math" panose="02040503050406030204"/>
              </a:rPr>
              <a:t>𝐶</a:t>
            </a:r>
            <a:r>
              <a:rPr spc="125" dirty="0">
                <a:solidFill>
                  <a:sysClr val="windowText" lastClr="000000"/>
                </a:solidFill>
                <a:latin typeface="Cambria Math" panose="02040503050406030204"/>
                <a:cs typeface="Cambria Math" panose="02040503050406030204"/>
              </a:rPr>
              <a:t> </a:t>
            </a:r>
            <a:r>
              <a:rPr dirty="0">
                <a:solidFill>
                  <a:sysClr val="windowText" lastClr="000000"/>
                </a:solidFill>
                <a:latin typeface="Palatino Linotype" panose="02040502050505030304"/>
                <a:cs typeface="Palatino Linotype" panose="02040502050505030304"/>
              </a:rPr>
              <a:t>using</a:t>
            </a:r>
            <a:r>
              <a:rPr spc="-1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Cambria Math" panose="02040503050406030204"/>
                <a:cs typeface="Cambria Math" panose="02040503050406030204"/>
              </a:rPr>
              <a:t>𝐶</a:t>
            </a:r>
            <a:r>
              <a:rPr spc="170" dirty="0">
                <a:solidFill>
                  <a:sysClr val="windowText" lastClr="000000"/>
                </a:solidFill>
                <a:latin typeface="Cambria Math" panose="02040503050406030204"/>
                <a:cs typeface="Cambria Math" panose="02040503050406030204"/>
              </a:rPr>
              <a:t> </a:t>
            </a:r>
            <a:r>
              <a:rPr spc="-50" dirty="0">
                <a:solidFill>
                  <a:sysClr val="windowText" lastClr="000000"/>
                </a:solidFill>
                <a:latin typeface="Cambria Math" panose="02040503050406030204"/>
                <a:cs typeface="Cambria Math" panose="02040503050406030204"/>
              </a:rPr>
              <a:t>→</a:t>
            </a:r>
            <a:endParaRPr>
              <a:solidFill>
                <a:sysClr val="windowText" lastClr="000000"/>
              </a:solidFill>
              <a:latin typeface="Cambria Math" panose="02040503050406030204"/>
              <a:cs typeface="Cambria Math" panose="02040503050406030204"/>
            </a:endParaRPr>
          </a:p>
          <a:p>
            <a:pPr marL="299085" indent="-286385">
              <a:spcBef>
                <a:spcPts val="435"/>
              </a:spcBef>
              <a:buFont typeface="Arial MT"/>
              <a:buChar char="•"/>
              <a:tabLst>
                <a:tab pos="299085" algn="l"/>
              </a:tabLst>
            </a:pPr>
            <a:r>
              <a:rPr dirty="0">
                <a:solidFill>
                  <a:sysClr val="windowText" lastClr="000000"/>
                </a:solidFill>
                <a:latin typeface="Palatino Linotype" panose="02040502050505030304"/>
                <a:cs typeface="Palatino Linotype" panose="02040502050505030304"/>
              </a:rPr>
              <a:t>Match</a:t>
            </a:r>
            <a:r>
              <a:rPr spc="-20"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input</a:t>
            </a:r>
            <a:endParaRPr>
              <a:solidFill>
                <a:sysClr val="windowText" lastClr="000000"/>
              </a:solidFill>
              <a:latin typeface="Palatino Linotype" panose="02040502050505030304"/>
              <a:cs typeface="Palatino Linotype" panose="02040502050505030304"/>
            </a:endParaRPr>
          </a:p>
        </p:txBody>
      </p:sp>
      <p:sp>
        <p:nvSpPr>
          <p:cNvPr id="39" name="object 15"/>
          <p:cNvSpPr txBox="1"/>
          <p:nvPr/>
        </p:nvSpPr>
        <p:spPr>
          <a:xfrm>
            <a:off x="738022" y="3329178"/>
            <a:ext cx="317500" cy="299720"/>
          </a:xfrm>
          <a:prstGeom prst="rect">
            <a:avLst/>
          </a:prstGeom>
        </p:spPr>
        <p:txBody>
          <a:bodyPr vert="horz" wrap="square" lIns="0" tIns="12700" rIns="0" bIns="0" rtlCol="0">
            <a:spAutoFit/>
          </a:bodyPr>
          <a:lstStyle/>
          <a:p>
            <a:pPr marL="12700">
              <a:spcBef>
                <a:spcPts val="100"/>
              </a:spcBef>
            </a:pPr>
            <a:r>
              <a:rPr b="1" spc="-25" dirty="0">
                <a:solidFill>
                  <a:sysClr val="windowText" lastClr="000000"/>
                </a:solidFill>
                <a:latin typeface="Palatino Linotype" panose="02040502050505030304"/>
                <a:cs typeface="Palatino Linotype" panose="02040502050505030304"/>
              </a:rPr>
              <a:t>int</a:t>
            </a:r>
            <a:endParaRPr>
              <a:solidFill>
                <a:sysClr val="windowText" lastClr="000000"/>
              </a:solidFill>
              <a:latin typeface="Palatino Linotype" panose="02040502050505030304"/>
              <a:cs typeface="Palatino Linotype" panose="02040502050505030304"/>
            </a:endParaRPr>
          </a:p>
        </p:txBody>
      </p:sp>
      <p:sp>
        <p:nvSpPr>
          <p:cNvPr id="40" name="object 16"/>
          <p:cNvSpPr/>
          <p:nvPr/>
        </p:nvSpPr>
        <p:spPr>
          <a:xfrm>
            <a:off x="899160" y="3086100"/>
            <a:ext cx="0" cy="224154"/>
          </a:xfrm>
          <a:custGeom>
            <a:avLst/>
            <a:gdLst/>
            <a:ahLst/>
            <a:cxnLst/>
            <a:rect l="l" t="t" r="r" b="b"/>
            <a:pathLst>
              <a:path h="224154">
                <a:moveTo>
                  <a:pt x="0" y="0"/>
                </a:moveTo>
                <a:lnTo>
                  <a:pt x="0" y="22390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1" name="object 17"/>
          <p:cNvSpPr txBox="1"/>
          <p:nvPr/>
        </p:nvSpPr>
        <p:spPr>
          <a:xfrm>
            <a:off x="1744472" y="3329178"/>
            <a:ext cx="292100" cy="299720"/>
          </a:xfrm>
          <a:prstGeom prst="rect">
            <a:avLst/>
          </a:prstGeom>
        </p:spPr>
        <p:txBody>
          <a:bodyPr vert="horz" wrap="square" lIns="0" tIns="12700" rIns="0" bIns="0" rtlCol="0">
            <a:spAutoFit/>
          </a:bodyPr>
          <a:lstStyle/>
          <a:p>
            <a:pPr marL="12700">
              <a:spcBef>
                <a:spcPts val="100"/>
              </a:spcBef>
            </a:pPr>
            <a:r>
              <a:rPr spc="-25" dirty="0">
                <a:solidFill>
                  <a:sysClr val="windowText" lastClr="000000"/>
                </a:solidFill>
                <a:latin typeface="Palatino Linotype" panose="02040502050505030304"/>
                <a:cs typeface="Palatino Linotype" panose="02040502050505030304"/>
              </a:rPr>
              <a:t>[</a:t>
            </a:r>
            <a:r>
              <a:rPr b="1" spc="-25" dirty="0">
                <a:solidFill>
                  <a:sysClr val="windowText" lastClr="000000"/>
                </a:solidFill>
                <a:latin typeface="Palatino Linotype" panose="02040502050505030304"/>
                <a:cs typeface="Palatino Linotype" panose="02040502050505030304"/>
              </a:rPr>
              <a:t>2</a:t>
            </a:r>
            <a:r>
              <a:rPr spc="-25" dirty="0">
                <a:solidFill>
                  <a:sysClr val="windowText" lastClr="000000"/>
                </a:solidFill>
                <a:latin typeface="Palatino Linotype" panose="02040502050505030304"/>
                <a:cs typeface="Palatino Linotype" panose="02040502050505030304"/>
              </a:rPr>
              <a:t>]</a:t>
            </a:r>
            <a:endParaRPr>
              <a:solidFill>
                <a:sysClr val="windowText" lastClr="000000"/>
              </a:solidFill>
              <a:latin typeface="Palatino Linotype" panose="02040502050505030304"/>
              <a:cs typeface="Palatino Linotype" panose="02040502050505030304"/>
            </a:endParaRPr>
          </a:p>
        </p:txBody>
      </p:sp>
      <p:sp>
        <p:nvSpPr>
          <p:cNvPr id="42" name="object 18"/>
          <p:cNvSpPr txBox="1"/>
          <p:nvPr/>
        </p:nvSpPr>
        <p:spPr>
          <a:xfrm>
            <a:off x="3108198" y="3334003"/>
            <a:ext cx="18796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43" name="object 19"/>
          <p:cNvSpPr/>
          <p:nvPr/>
        </p:nvSpPr>
        <p:spPr>
          <a:xfrm>
            <a:off x="1892807" y="3086100"/>
            <a:ext cx="1310640" cy="229235"/>
          </a:xfrm>
          <a:custGeom>
            <a:avLst/>
            <a:gdLst/>
            <a:ahLst/>
            <a:cxnLst/>
            <a:rect l="l" t="t" r="r" b="b"/>
            <a:pathLst>
              <a:path w="1310639" h="229235">
                <a:moveTo>
                  <a:pt x="501777" y="0"/>
                </a:moveTo>
                <a:lnTo>
                  <a:pt x="0" y="223900"/>
                </a:lnTo>
              </a:path>
              <a:path w="1310639" h="229235">
                <a:moveTo>
                  <a:pt x="501396" y="0"/>
                </a:moveTo>
                <a:lnTo>
                  <a:pt x="1310259" y="228853"/>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4" name="object 20"/>
          <p:cNvSpPr txBox="1"/>
          <p:nvPr/>
        </p:nvSpPr>
        <p:spPr>
          <a:xfrm>
            <a:off x="1058062" y="2675890"/>
            <a:ext cx="913130" cy="391160"/>
          </a:xfrm>
          <a:prstGeom prst="rect">
            <a:avLst/>
          </a:prstGeom>
        </p:spPr>
        <p:txBody>
          <a:bodyPr vert="horz" wrap="square" lIns="0" tIns="12700" rIns="0" bIns="0" rtlCol="0">
            <a:spAutoFit/>
          </a:bodyPr>
          <a:lstStyle/>
          <a:p>
            <a:pPr marL="12700">
              <a:spcBef>
                <a:spcPts val="100"/>
              </a:spcBef>
            </a:pPr>
            <a:r>
              <a:rPr sz="1200" i="1" dirty="0">
                <a:solidFill>
                  <a:srgbClr val="6F2F9F"/>
                </a:solidFill>
                <a:latin typeface="Palatino Linotype" panose="02040502050505030304"/>
                <a:cs typeface="Palatino Linotype" panose="02040502050505030304"/>
              </a:rPr>
              <a:t>type</a:t>
            </a:r>
            <a:r>
              <a:rPr sz="1200" i="1" spc="-1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spc="-10" dirty="0">
                <a:solidFill>
                  <a:srgbClr val="6F2F9F"/>
                </a:solidFill>
                <a:latin typeface="Palatino Linotype" panose="02040502050505030304"/>
                <a:cs typeface="Palatino Linotype" panose="02040502050505030304"/>
              </a:rPr>
              <a:t>integer</a:t>
            </a:r>
            <a:endParaRPr sz="1200">
              <a:solidFill>
                <a:sysClr val="windowText" lastClr="000000"/>
              </a:solidFill>
              <a:latin typeface="Palatino Linotype" panose="02040502050505030304"/>
              <a:cs typeface="Palatino Linotype" panose="02040502050505030304"/>
            </a:endParaRPr>
          </a:p>
          <a:p>
            <a:pPr marL="12700"/>
            <a:r>
              <a:rPr sz="1200" i="1" dirty="0">
                <a:solidFill>
                  <a:srgbClr val="6F2F9F"/>
                </a:solidFill>
                <a:latin typeface="Palatino Linotype" panose="02040502050505030304"/>
                <a:cs typeface="Palatino Linotype" panose="02040502050505030304"/>
              </a:rPr>
              <a:t>width</a:t>
            </a:r>
            <a:r>
              <a:rPr sz="1200" i="1" spc="-2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15" dirty="0">
                <a:solidFill>
                  <a:srgbClr val="6F2F9F"/>
                </a:solidFill>
                <a:latin typeface="Palatino Linotype" panose="02040502050505030304"/>
                <a:cs typeface="Palatino Linotype" panose="02040502050505030304"/>
              </a:rPr>
              <a:t> </a:t>
            </a:r>
            <a:r>
              <a:rPr sz="1200" spc="-50" dirty="0">
                <a:solidFill>
                  <a:srgbClr val="6F2F9F"/>
                </a:solidFill>
                <a:latin typeface="Palatino Linotype" panose="02040502050505030304"/>
                <a:cs typeface="Palatino Linotype" panose="02040502050505030304"/>
              </a:rPr>
              <a:t>4</a:t>
            </a:r>
            <a:endParaRPr sz="1200">
              <a:solidFill>
                <a:sysClr val="windowText" lastClr="000000"/>
              </a:solidFill>
              <a:latin typeface="Palatino Linotype" panose="02040502050505030304"/>
              <a:cs typeface="Palatino Linotype" panose="02040502050505030304"/>
            </a:endParaRPr>
          </a:p>
        </p:txBody>
      </p:sp>
      <p:sp>
        <p:nvSpPr>
          <p:cNvPr id="45" name="object 21"/>
          <p:cNvSpPr txBox="1"/>
          <p:nvPr/>
        </p:nvSpPr>
        <p:spPr>
          <a:xfrm>
            <a:off x="4224528" y="1491996"/>
            <a:ext cx="1266825" cy="646430"/>
          </a:xfrm>
          <a:prstGeom prst="rect">
            <a:avLst/>
          </a:prstGeom>
          <a:solidFill>
            <a:srgbClr val="FFF1CC"/>
          </a:solidFill>
          <a:ln w="9525">
            <a:solidFill>
              <a:srgbClr val="000000"/>
            </a:solidFill>
          </a:ln>
        </p:spPr>
        <p:txBody>
          <a:bodyPr vert="horz" wrap="square" lIns="0" tIns="31115" rIns="0" bIns="0" rtlCol="0">
            <a:spAutoFit/>
          </a:bodyPr>
          <a:lstStyle/>
          <a:p>
            <a:pPr marL="92075">
              <a:spcBef>
                <a:spcPts val="245"/>
              </a:spcBef>
            </a:pPr>
            <a:r>
              <a:rPr i="1" dirty="0">
                <a:solidFill>
                  <a:sysClr val="windowText" lastClr="000000"/>
                </a:solidFill>
                <a:latin typeface="Palatino Linotype" panose="02040502050505030304"/>
                <a:cs typeface="Palatino Linotype" panose="02040502050505030304"/>
              </a:rPr>
              <a:t>t</a:t>
            </a:r>
            <a:r>
              <a:rPr i="1" spc="-1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t>
            </a:r>
            <a:r>
              <a:rPr spc="-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integer</a:t>
            </a:r>
            <a:endParaRPr>
              <a:solidFill>
                <a:sysClr val="windowText" lastClr="000000"/>
              </a:solidFill>
              <a:latin typeface="Palatino Linotype" panose="02040502050505030304"/>
              <a:cs typeface="Palatino Linotype" panose="02040502050505030304"/>
            </a:endParaRPr>
          </a:p>
          <a:p>
            <a:pPr marL="92075"/>
            <a:r>
              <a:rPr i="1" dirty="0">
                <a:solidFill>
                  <a:sysClr val="windowText" lastClr="000000"/>
                </a:solidFill>
                <a:latin typeface="Palatino Linotype" panose="02040502050505030304"/>
                <a:cs typeface="Palatino Linotype" panose="02040502050505030304"/>
              </a:rPr>
              <a:t>w</a:t>
            </a:r>
            <a:r>
              <a:rPr i="1" spc="-2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t>
            </a:r>
            <a:r>
              <a:rPr spc="-25" dirty="0">
                <a:solidFill>
                  <a:sysClr val="windowText" lastClr="000000"/>
                </a:solidFill>
                <a:latin typeface="Palatino Linotype" panose="02040502050505030304"/>
                <a:cs typeface="Palatino Linotype" panose="02040502050505030304"/>
              </a:rPr>
              <a:t> </a:t>
            </a:r>
            <a:r>
              <a:rPr spc="-50" dirty="0">
                <a:solidFill>
                  <a:sysClr val="windowText" lastClr="000000"/>
                </a:solidFill>
                <a:latin typeface="Palatino Linotype" panose="02040502050505030304"/>
                <a:cs typeface="Palatino Linotype" panose="02040502050505030304"/>
              </a:rPr>
              <a:t>4</a:t>
            </a:r>
            <a:endParaRPr>
              <a:solidFill>
                <a:sysClr val="windowText" lastClr="000000"/>
              </a:solidFill>
              <a:latin typeface="Palatino Linotype" panose="02040502050505030304"/>
              <a:cs typeface="Palatino Linotype" panose="02040502050505030304"/>
            </a:endParaRPr>
          </a:p>
        </p:txBody>
      </p:sp>
      <p:sp>
        <p:nvSpPr>
          <p:cNvPr id="46" name="object 22"/>
          <p:cNvSpPr/>
          <p:nvPr/>
        </p:nvSpPr>
        <p:spPr>
          <a:xfrm>
            <a:off x="2511551" y="2859023"/>
            <a:ext cx="4295140" cy="1818005"/>
          </a:xfrm>
          <a:custGeom>
            <a:avLst/>
            <a:gdLst/>
            <a:ahLst/>
            <a:cxnLst/>
            <a:rect l="l" t="t" r="r" b="b"/>
            <a:pathLst>
              <a:path w="4295140" h="1818004">
                <a:moveTo>
                  <a:pt x="0" y="0"/>
                </a:moveTo>
                <a:lnTo>
                  <a:pt x="58483" y="10232"/>
                </a:lnTo>
                <a:lnTo>
                  <a:pt x="116949" y="20467"/>
                </a:lnTo>
                <a:lnTo>
                  <a:pt x="175378" y="30710"/>
                </a:lnTo>
                <a:lnTo>
                  <a:pt x="233752" y="40963"/>
                </a:lnTo>
                <a:lnTo>
                  <a:pt x="292054" y="51230"/>
                </a:lnTo>
                <a:lnTo>
                  <a:pt x="350265" y="61515"/>
                </a:lnTo>
                <a:lnTo>
                  <a:pt x="408367" y="71820"/>
                </a:lnTo>
                <a:lnTo>
                  <a:pt x="466343" y="82150"/>
                </a:lnTo>
                <a:lnTo>
                  <a:pt x="524173" y="92508"/>
                </a:lnTo>
                <a:lnTo>
                  <a:pt x="581840" y="102898"/>
                </a:lnTo>
                <a:lnTo>
                  <a:pt x="639326" y="113322"/>
                </a:lnTo>
                <a:lnTo>
                  <a:pt x="696612" y="123785"/>
                </a:lnTo>
                <a:lnTo>
                  <a:pt x="753681" y="134290"/>
                </a:lnTo>
                <a:lnTo>
                  <a:pt x="810514" y="144840"/>
                </a:lnTo>
                <a:lnTo>
                  <a:pt x="867094" y="155439"/>
                </a:lnTo>
                <a:lnTo>
                  <a:pt x="923402" y="166090"/>
                </a:lnTo>
                <a:lnTo>
                  <a:pt x="979420" y="176798"/>
                </a:lnTo>
                <a:lnTo>
                  <a:pt x="1035131" y="187565"/>
                </a:lnTo>
                <a:lnTo>
                  <a:pt x="1090515" y="198394"/>
                </a:lnTo>
                <a:lnTo>
                  <a:pt x="1145555" y="209291"/>
                </a:lnTo>
                <a:lnTo>
                  <a:pt x="1200233" y="220257"/>
                </a:lnTo>
                <a:lnTo>
                  <a:pt x="1254530" y="231296"/>
                </a:lnTo>
                <a:lnTo>
                  <a:pt x="1308429" y="242412"/>
                </a:lnTo>
                <a:lnTo>
                  <a:pt x="1361911" y="253609"/>
                </a:lnTo>
                <a:lnTo>
                  <a:pt x="1414959" y="264889"/>
                </a:lnTo>
                <a:lnTo>
                  <a:pt x="1467554" y="276257"/>
                </a:lnTo>
                <a:lnTo>
                  <a:pt x="1519678" y="287716"/>
                </a:lnTo>
                <a:lnTo>
                  <a:pt x="1571313" y="299269"/>
                </a:lnTo>
                <a:lnTo>
                  <a:pt x="1622441" y="310920"/>
                </a:lnTo>
                <a:lnTo>
                  <a:pt x="1673044" y="322672"/>
                </a:lnTo>
                <a:lnTo>
                  <a:pt x="1723104" y="334530"/>
                </a:lnTo>
                <a:lnTo>
                  <a:pt x="1772602" y="346495"/>
                </a:lnTo>
                <a:lnTo>
                  <a:pt x="1821521" y="358572"/>
                </a:lnTo>
                <a:lnTo>
                  <a:pt x="1869842" y="370765"/>
                </a:lnTo>
                <a:lnTo>
                  <a:pt x="1917548" y="383076"/>
                </a:lnTo>
                <a:lnTo>
                  <a:pt x="1964620" y="395510"/>
                </a:lnTo>
                <a:lnTo>
                  <a:pt x="2011040" y="408070"/>
                </a:lnTo>
                <a:lnTo>
                  <a:pt x="2056790" y="420758"/>
                </a:lnTo>
                <a:lnTo>
                  <a:pt x="2101852" y="433580"/>
                </a:lnTo>
                <a:lnTo>
                  <a:pt x="2146208" y="446538"/>
                </a:lnTo>
                <a:lnTo>
                  <a:pt x="2189839" y="459636"/>
                </a:lnTo>
                <a:lnTo>
                  <a:pt x="2232728" y="472877"/>
                </a:lnTo>
                <a:lnTo>
                  <a:pt x="2274857" y="486264"/>
                </a:lnTo>
                <a:lnTo>
                  <a:pt x="2316207" y="499802"/>
                </a:lnTo>
                <a:lnTo>
                  <a:pt x="2356761" y="513494"/>
                </a:lnTo>
                <a:lnTo>
                  <a:pt x="2396499" y="527343"/>
                </a:lnTo>
                <a:lnTo>
                  <a:pt x="2435405" y="541353"/>
                </a:lnTo>
                <a:lnTo>
                  <a:pt x="2473460" y="555527"/>
                </a:lnTo>
                <a:lnTo>
                  <a:pt x="2510646" y="569869"/>
                </a:lnTo>
                <a:lnTo>
                  <a:pt x="2546945" y="584382"/>
                </a:lnTo>
                <a:lnTo>
                  <a:pt x="2582338" y="599069"/>
                </a:lnTo>
                <a:lnTo>
                  <a:pt x="2650337" y="628983"/>
                </a:lnTo>
                <a:lnTo>
                  <a:pt x="2714498" y="659638"/>
                </a:lnTo>
                <a:lnTo>
                  <a:pt x="2769224" y="689016"/>
                </a:lnTo>
                <a:lnTo>
                  <a:pt x="2819542" y="720180"/>
                </a:lnTo>
                <a:lnTo>
                  <a:pt x="2865696" y="752980"/>
                </a:lnTo>
                <a:lnTo>
                  <a:pt x="2907925" y="787264"/>
                </a:lnTo>
                <a:lnTo>
                  <a:pt x="2946472" y="822882"/>
                </a:lnTo>
                <a:lnTo>
                  <a:pt x="2981580" y="859685"/>
                </a:lnTo>
                <a:lnTo>
                  <a:pt x="3013488" y="897520"/>
                </a:lnTo>
                <a:lnTo>
                  <a:pt x="3042440" y="936239"/>
                </a:lnTo>
                <a:lnTo>
                  <a:pt x="3068677" y="975690"/>
                </a:lnTo>
                <a:lnTo>
                  <a:pt x="3092440" y="1015722"/>
                </a:lnTo>
                <a:lnTo>
                  <a:pt x="3113972" y="1056186"/>
                </a:lnTo>
                <a:lnTo>
                  <a:pt x="3133514" y="1096930"/>
                </a:lnTo>
                <a:lnTo>
                  <a:pt x="3151308" y="1137805"/>
                </a:lnTo>
                <a:lnTo>
                  <a:pt x="3167596" y="1178659"/>
                </a:lnTo>
                <a:lnTo>
                  <a:pt x="3182620" y="1219342"/>
                </a:lnTo>
                <a:lnTo>
                  <a:pt x="3196620" y="1259705"/>
                </a:lnTo>
                <a:lnTo>
                  <a:pt x="3209840" y="1299595"/>
                </a:lnTo>
                <a:lnTo>
                  <a:pt x="3222520" y="1338863"/>
                </a:lnTo>
                <a:lnTo>
                  <a:pt x="3234903" y="1377358"/>
                </a:lnTo>
                <a:lnTo>
                  <a:pt x="3247230" y="1414930"/>
                </a:lnTo>
                <a:lnTo>
                  <a:pt x="3259743" y="1451428"/>
                </a:lnTo>
                <a:lnTo>
                  <a:pt x="3286293" y="1520600"/>
                </a:lnTo>
                <a:lnTo>
                  <a:pt x="3316489" y="1583671"/>
                </a:lnTo>
                <a:lnTo>
                  <a:pt x="3352264" y="1639437"/>
                </a:lnTo>
                <a:lnTo>
                  <a:pt x="3395552" y="1686692"/>
                </a:lnTo>
                <a:lnTo>
                  <a:pt x="3668303" y="1798762"/>
                </a:lnTo>
                <a:lnTo>
                  <a:pt x="3956399" y="1817798"/>
                </a:lnTo>
                <a:lnTo>
                  <a:pt x="4195107" y="1801568"/>
                </a:lnTo>
                <a:lnTo>
                  <a:pt x="4294632" y="1787778"/>
                </a:lnTo>
              </a:path>
            </a:pathLst>
          </a:custGeom>
          <a:ln w="12699">
            <a:solidFill>
              <a:srgbClr val="FF0000"/>
            </a:solidFill>
            <a:prstDash val="sys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42</a:t>
            </a:fld>
            <a:endParaRPr lang="en-US"/>
          </a:p>
        </p:txBody>
      </p:sp>
      <p:sp>
        <p:nvSpPr>
          <p:cNvPr id="33"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30" normalizeH="0" baseline="0" noProof="0">
                <a:ln>
                  <a:noFill/>
                </a:ln>
                <a:solidFill>
                  <a:srgbClr val="000000"/>
                </a:solidFill>
                <a:effectLst/>
                <a:uLnTx/>
                <a:uFillTx/>
                <a:latin typeface="Palatino Linotype" panose="02040502050505030304"/>
                <a:ea typeface="+mj-ea"/>
              </a:rPr>
              <a:t>Translation</a:t>
            </a:r>
            <a:r>
              <a:rPr kumimoji="0" lang="en-US" sz="4000" b="1" i="0" u="none" strike="noStrike" kern="0" cap="none" spc="-13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Process</a:t>
            </a:r>
            <a:r>
              <a:rPr kumimoji="0" lang="en-US" sz="4000" b="1" i="0" u="none" strike="noStrike" kern="0" cap="none" spc="-14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Example</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34" name="object 3"/>
          <p:cNvSpPr txBox="1"/>
          <p:nvPr/>
        </p:nvSpPr>
        <p:spPr>
          <a:xfrm>
            <a:off x="1581658" y="2109978"/>
            <a:ext cx="16573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T</a:t>
            </a:r>
            <a:endParaRPr>
              <a:solidFill>
                <a:sysClr val="windowText" lastClr="000000"/>
              </a:solidFill>
              <a:latin typeface="Palatino Linotype" panose="02040502050505030304"/>
              <a:cs typeface="Palatino Linotype" panose="02040502050505030304"/>
            </a:endParaRPr>
          </a:p>
        </p:txBody>
      </p:sp>
      <p:sp>
        <p:nvSpPr>
          <p:cNvPr id="35" name="object 4"/>
          <p:cNvSpPr txBox="1"/>
          <p:nvPr/>
        </p:nvSpPr>
        <p:spPr>
          <a:xfrm>
            <a:off x="814832" y="2735707"/>
            <a:ext cx="16510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B</a:t>
            </a:r>
            <a:endParaRPr>
              <a:solidFill>
                <a:sysClr val="windowText" lastClr="000000"/>
              </a:solidFill>
              <a:latin typeface="Palatino Linotype" panose="02040502050505030304"/>
              <a:cs typeface="Palatino Linotype" panose="02040502050505030304"/>
            </a:endParaRPr>
          </a:p>
        </p:txBody>
      </p:sp>
      <p:sp>
        <p:nvSpPr>
          <p:cNvPr id="36" name="object 5"/>
          <p:cNvSpPr txBox="1"/>
          <p:nvPr/>
        </p:nvSpPr>
        <p:spPr>
          <a:xfrm>
            <a:off x="2299207" y="2735707"/>
            <a:ext cx="18796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37" name="object 6"/>
          <p:cNvSpPr/>
          <p:nvPr/>
        </p:nvSpPr>
        <p:spPr>
          <a:xfrm>
            <a:off x="899160" y="2461260"/>
            <a:ext cx="1495425" cy="256540"/>
          </a:xfrm>
          <a:custGeom>
            <a:avLst/>
            <a:gdLst/>
            <a:ahLst/>
            <a:cxnLst/>
            <a:rect l="l" t="t" r="r" b="b"/>
            <a:pathLst>
              <a:path w="1495425" h="256539">
                <a:moveTo>
                  <a:pt x="766572" y="0"/>
                </a:moveTo>
                <a:lnTo>
                  <a:pt x="0" y="256412"/>
                </a:lnTo>
              </a:path>
              <a:path w="1495425" h="256539">
                <a:moveTo>
                  <a:pt x="766572" y="0"/>
                </a:moveTo>
                <a:lnTo>
                  <a:pt x="1495425" y="256412"/>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38" name="object 7"/>
          <p:cNvSpPr txBox="1"/>
          <p:nvPr/>
        </p:nvSpPr>
        <p:spPr>
          <a:xfrm>
            <a:off x="814832" y="1343659"/>
            <a:ext cx="2540635" cy="299720"/>
          </a:xfrm>
          <a:prstGeom prst="rect">
            <a:avLst/>
          </a:prstGeom>
        </p:spPr>
        <p:txBody>
          <a:bodyPr vert="horz" wrap="square" lIns="0" tIns="12700" rIns="0" bIns="0" rtlCol="0">
            <a:spAutoFit/>
          </a:bodyPr>
          <a:lstStyle/>
          <a:p>
            <a:pPr marL="12700">
              <a:spcBef>
                <a:spcPts val="100"/>
              </a:spcBef>
            </a:pPr>
            <a:r>
              <a:rPr dirty="0">
                <a:solidFill>
                  <a:sysClr val="windowText" lastClr="000000"/>
                </a:solidFill>
                <a:latin typeface="Palatino Linotype" panose="02040502050505030304"/>
                <a:cs typeface="Palatino Linotype" panose="02040502050505030304"/>
              </a:rPr>
              <a:t>Input</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string:</a:t>
            </a:r>
            <a:r>
              <a:rPr spc="465" dirty="0">
                <a:solidFill>
                  <a:sysClr val="windowText" lastClr="000000"/>
                </a:solidFill>
                <a:latin typeface="Palatino Linotype" panose="02040502050505030304"/>
                <a:cs typeface="Palatino Linotype" panose="02040502050505030304"/>
              </a:rPr>
              <a:t> </a:t>
            </a:r>
            <a:r>
              <a:rPr spc="-10" dirty="0">
                <a:solidFill>
                  <a:srgbClr val="A6A6A6"/>
                </a:solidFill>
                <a:latin typeface="Consolas" panose="020B0609020204030204"/>
                <a:cs typeface="Consolas" panose="020B0609020204030204"/>
              </a:rPr>
              <a:t>int[2][3]</a:t>
            </a:r>
            <a:endParaRPr>
              <a:solidFill>
                <a:sysClr val="windowText" lastClr="000000"/>
              </a:solidFill>
              <a:latin typeface="Consolas" panose="020B0609020204030204"/>
              <a:cs typeface="Consolas" panose="020B0609020204030204"/>
            </a:endParaRPr>
          </a:p>
        </p:txBody>
      </p:sp>
      <p:sp>
        <p:nvSpPr>
          <p:cNvPr id="39" name="object 8"/>
          <p:cNvSpPr/>
          <p:nvPr/>
        </p:nvSpPr>
        <p:spPr>
          <a:xfrm>
            <a:off x="6384290" y="2228723"/>
            <a:ext cx="1724025" cy="2973070"/>
          </a:xfrm>
          <a:custGeom>
            <a:avLst/>
            <a:gdLst/>
            <a:ahLst/>
            <a:cxnLst/>
            <a:rect l="l" t="t" r="r" b="b"/>
            <a:pathLst>
              <a:path w="1724025" h="2973070">
                <a:moveTo>
                  <a:pt x="0" y="1854200"/>
                </a:moveTo>
                <a:lnTo>
                  <a:pt x="1723516" y="1854200"/>
                </a:lnTo>
              </a:path>
              <a:path w="1724025" h="2973070">
                <a:moveTo>
                  <a:pt x="0" y="2225040"/>
                </a:moveTo>
                <a:lnTo>
                  <a:pt x="1723516" y="2225040"/>
                </a:lnTo>
              </a:path>
              <a:path w="1724025" h="2973070">
                <a:moveTo>
                  <a:pt x="6350" y="0"/>
                </a:moveTo>
                <a:lnTo>
                  <a:pt x="6350" y="2973070"/>
                </a:lnTo>
              </a:path>
              <a:path w="1724025" h="2973070">
                <a:moveTo>
                  <a:pt x="1717166" y="0"/>
                </a:moveTo>
                <a:lnTo>
                  <a:pt x="1717166" y="297307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0" name="object 9"/>
          <p:cNvSpPr txBox="1"/>
          <p:nvPr/>
        </p:nvSpPr>
        <p:spPr>
          <a:xfrm>
            <a:off x="6396990" y="4101845"/>
            <a:ext cx="1698625" cy="299720"/>
          </a:xfrm>
          <a:prstGeom prst="rect">
            <a:avLst/>
          </a:prstGeom>
        </p:spPr>
        <p:txBody>
          <a:bodyPr vert="horz" wrap="square" lIns="0" tIns="12700" rIns="0" bIns="0" rtlCol="0">
            <a:spAutoFit/>
          </a:bodyPr>
          <a:lstStyle/>
          <a:p>
            <a:pPr marL="2540" algn="ctr">
              <a:spcBef>
                <a:spcPts val="100"/>
              </a:spcBef>
            </a:pPr>
            <a:r>
              <a:rPr spc="-25"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41" name="object 10"/>
          <p:cNvSpPr txBox="1"/>
          <p:nvPr/>
        </p:nvSpPr>
        <p:spPr>
          <a:xfrm>
            <a:off x="6396990" y="4472685"/>
            <a:ext cx="1698625" cy="299720"/>
          </a:xfrm>
          <a:prstGeom prst="rect">
            <a:avLst/>
          </a:prstGeom>
        </p:spPr>
        <p:txBody>
          <a:bodyPr vert="horz" wrap="square" lIns="0" tIns="12700" rIns="0" bIns="0" rtlCol="0">
            <a:spAutoFit/>
          </a:bodyPr>
          <a:lstStyle/>
          <a:p>
            <a:pPr marL="2540" algn="ctr">
              <a:spcBef>
                <a:spcPts val="100"/>
              </a:spcBef>
            </a:pPr>
            <a:r>
              <a:rPr spc="-25"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42" name="object 11"/>
          <p:cNvSpPr txBox="1"/>
          <p:nvPr/>
        </p:nvSpPr>
        <p:spPr>
          <a:xfrm>
            <a:off x="6390640" y="4824603"/>
            <a:ext cx="1711325" cy="370840"/>
          </a:xfrm>
          <a:prstGeom prst="rect">
            <a:avLst/>
          </a:prstGeom>
          <a:ln w="12700">
            <a:solidFill>
              <a:srgbClr val="000000"/>
            </a:solidFill>
          </a:ln>
        </p:spPr>
        <p:txBody>
          <a:bodyPr vert="horz" wrap="square" lIns="0" tIns="31750" rIns="0" bIns="0" rtlCol="0">
            <a:spAutoFit/>
          </a:bodyPr>
          <a:lstStyle/>
          <a:p>
            <a:pPr marL="1905" algn="ctr">
              <a:spcBef>
                <a:spcPts val="250"/>
              </a:spcBef>
            </a:pPr>
            <a:r>
              <a:rPr spc="-25" dirty="0">
                <a:solidFill>
                  <a:sysClr val="windowText" lastClr="000000"/>
                </a:solidFill>
                <a:latin typeface="Palatino Linotype" panose="02040502050505030304"/>
                <a:cs typeface="Palatino Linotype" panose="02040502050505030304"/>
              </a:rPr>
              <a:t>T()</a:t>
            </a:r>
            <a:endParaRPr>
              <a:solidFill>
                <a:sysClr val="windowText" lastClr="000000"/>
              </a:solidFill>
              <a:latin typeface="Palatino Linotype" panose="02040502050505030304"/>
              <a:cs typeface="Palatino Linotype" panose="02040502050505030304"/>
            </a:endParaRPr>
          </a:p>
        </p:txBody>
      </p:sp>
      <p:sp>
        <p:nvSpPr>
          <p:cNvPr id="43" name="object 12"/>
          <p:cNvSpPr txBox="1"/>
          <p:nvPr/>
        </p:nvSpPr>
        <p:spPr>
          <a:xfrm>
            <a:off x="6819138" y="5393842"/>
            <a:ext cx="895350" cy="269240"/>
          </a:xfrm>
          <a:prstGeom prst="rect">
            <a:avLst/>
          </a:prstGeom>
        </p:spPr>
        <p:txBody>
          <a:bodyPr vert="horz" wrap="square" lIns="0" tIns="12065" rIns="0" bIns="0" rtlCol="0">
            <a:spAutoFit/>
          </a:bodyPr>
          <a:lstStyle/>
          <a:p>
            <a:pPr marL="12700">
              <a:spcBef>
                <a:spcPts val="95"/>
              </a:spcBef>
            </a:pPr>
            <a:r>
              <a:rPr sz="1600" dirty="0">
                <a:solidFill>
                  <a:sysClr val="windowText" lastClr="000000"/>
                </a:solidFill>
                <a:latin typeface="Palatino Linotype" panose="02040502050505030304"/>
                <a:cs typeface="Palatino Linotype" panose="02040502050505030304"/>
              </a:rPr>
              <a:t>Call</a:t>
            </a:r>
            <a:r>
              <a:rPr sz="1600" spc="-30"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stack</a:t>
            </a:r>
            <a:endParaRPr sz="1600">
              <a:solidFill>
                <a:sysClr val="windowText" lastClr="000000"/>
              </a:solidFill>
              <a:latin typeface="Palatino Linotype" panose="02040502050505030304"/>
              <a:cs typeface="Palatino Linotype" panose="02040502050505030304"/>
            </a:endParaRPr>
          </a:p>
        </p:txBody>
      </p:sp>
      <p:sp>
        <p:nvSpPr>
          <p:cNvPr id="44" name="object 13"/>
          <p:cNvSpPr txBox="1"/>
          <p:nvPr/>
        </p:nvSpPr>
        <p:spPr>
          <a:xfrm>
            <a:off x="755395" y="4634941"/>
            <a:ext cx="725170" cy="300355"/>
          </a:xfrm>
          <a:prstGeom prst="rect">
            <a:avLst/>
          </a:prstGeom>
        </p:spPr>
        <p:txBody>
          <a:bodyPr vert="horz" wrap="square" lIns="0" tIns="12700" rIns="0" bIns="0" rtlCol="0">
            <a:spAutoFit/>
          </a:bodyPr>
          <a:lstStyle/>
          <a:p>
            <a:pPr marL="12700">
              <a:spcBef>
                <a:spcPts val="100"/>
              </a:spcBef>
            </a:pPr>
            <a:r>
              <a:rPr b="1" dirty="0">
                <a:solidFill>
                  <a:srgbClr val="FF0000"/>
                </a:solidFill>
                <a:latin typeface="Palatino Linotype" panose="02040502050505030304"/>
                <a:cs typeface="Palatino Linotype" panose="02040502050505030304"/>
              </a:rPr>
              <a:t>Step </a:t>
            </a:r>
            <a:r>
              <a:rPr b="1" spc="-25" dirty="0">
                <a:solidFill>
                  <a:srgbClr val="FF0000"/>
                </a:solidFill>
                <a:latin typeface="Palatino Linotype" panose="02040502050505030304"/>
                <a:cs typeface="Palatino Linotype" panose="02040502050505030304"/>
              </a:rPr>
              <a:t>5:</a:t>
            </a:r>
            <a:endParaRPr>
              <a:solidFill>
                <a:sysClr val="windowText" lastClr="000000"/>
              </a:solidFill>
              <a:latin typeface="Palatino Linotype" panose="02040502050505030304"/>
              <a:cs typeface="Palatino Linotype" panose="02040502050505030304"/>
            </a:endParaRPr>
          </a:p>
        </p:txBody>
      </p:sp>
      <p:sp>
        <p:nvSpPr>
          <p:cNvPr id="45" name="object 14"/>
          <p:cNvSpPr/>
          <p:nvPr/>
        </p:nvSpPr>
        <p:spPr>
          <a:xfrm>
            <a:off x="3767582" y="5031739"/>
            <a:ext cx="50165" cy="213360"/>
          </a:xfrm>
          <a:custGeom>
            <a:avLst/>
            <a:gdLst/>
            <a:ahLst/>
            <a:cxnLst/>
            <a:rect l="l" t="t" r="r" b="b"/>
            <a:pathLst>
              <a:path w="50164" h="213360">
                <a:moveTo>
                  <a:pt x="49784" y="0"/>
                </a:moveTo>
                <a:lnTo>
                  <a:pt x="0" y="0"/>
                </a:lnTo>
                <a:lnTo>
                  <a:pt x="0" y="8890"/>
                </a:lnTo>
                <a:lnTo>
                  <a:pt x="31242" y="8890"/>
                </a:lnTo>
                <a:lnTo>
                  <a:pt x="31242" y="204470"/>
                </a:lnTo>
                <a:lnTo>
                  <a:pt x="0" y="204470"/>
                </a:lnTo>
                <a:lnTo>
                  <a:pt x="0" y="213360"/>
                </a:lnTo>
                <a:lnTo>
                  <a:pt x="49784" y="213360"/>
                </a:lnTo>
                <a:lnTo>
                  <a:pt x="49784" y="204470"/>
                </a:lnTo>
                <a:lnTo>
                  <a:pt x="49784" y="8890"/>
                </a:lnTo>
                <a:lnTo>
                  <a:pt x="49784"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6" name="object 15"/>
          <p:cNvSpPr/>
          <p:nvPr/>
        </p:nvSpPr>
        <p:spPr>
          <a:xfrm>
            <a:off x="3218180" y="5031739"/>
            <a:ext cx="50165" cy="213360"/>
          </a:xfrm>
          <a:custGeom>
            <a:avLst/>
            <a:gdLst/>
            <a:ahLst/>
            <a:cxnLst/>
            <a:rect l="l" t="t" r="r" b="b"/>
            <a:pathLst>
              <a:path w="50164" h="213360">
                <a:moveTo>
                  <a:pt x="49784" y="0"/>
                </a:moveTo>
                <a:lnTo>
                  <a:pt x="0" y="0"/>
                </a:lnTo>
                <a:lnTo>
                  <a:pt x="0" y="8890"/>
                </a:lnTo>
                <a:lnTo>
                  <a:pt x="0" y="204470"/>
                </a:lnTo>
                <a:lnTo>
                  <a:pt x="0" y="213360"/>
                </a:lnTo>
                <a:lnTo>
                  <a:pt x="49784" y="213360"/>
                </a:lnTo>
                <a:lnTo>
                  <a:pt x="49784" y="204470"/>
                </a:lnTo>
                <a:lnTo>
                  <a:pt x="18542" y="204470"/>
                </a:lnTo>
                <a:lnTo>
                  <a:pt x="18542" y="8890"/>
                </a:lnTo>
                <a:lnTo>
                  <a:pt x="49784" y="8890"/>
                </a:lnTo>
                <a:lnTo>
                  <a:pt x="49784"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7" name="object 16"/>
          <p:cNvSpPr txBox="1"/>
          <p:nvPr/>
        </p:nvSpPr>
        <p:spPr>
          <a:xfrm>
            <a:off x="3261486" y="4964683"/>
            <a:ext cx="730250" cy="299720"/>
          </a:xfrm>
          <a:prstGeom prst="rect">
            <a:avLst/>
          </a:prstGeom>
        </p:spPr>
        <p:txBody>
          <a:bodyPr vert="horz" wrap="square" lIns="0" tIns="12700" rIns="0" bIns="0" rtlCol="0">
            <a:spAutoFit/>
          </a:bodyPr>
          <a:lstStyle/>
          <a:p>
            <a:pPr marL="12700">
              <a:spcBef>
                <a:spcPts val="100"/>
              </a:spcBef>
            </a:pPr>
            <a:r>
              <a:rPr dirty="0">
                <a:solidFill>
                  <a:sysClr val="windowText" lastClr="000000"/>
                </a:solidFill>
                <a:latin typeface="Cambria Math" panose="02040503050406030204"/>
                <a:cs typeface="Cambria Math" panose="02040503050406030204"/>
              </a:rPr>
              <a:t>𝐧𝐮𝐦</a:t>
            </a:r>
            <a:r>
              <a:rPr spc="235" dirty="0">
                <a:solidFill>
                  <a:sysClr val="windowText" lastClr="000000"/>
                </a:solidFill>
                <a:latin typeface="Cambria Math" panose="02040503050406030204"/>
                <a:cs typeface="Cambria Math" panose="02040503050406030204"/>
              </a:rPr>
              <a:t> </a:t>
            </a:r>
            <a:r>
              <a:rPr spc="-50" dirty="0">
                <a:solidFill>
                  <a:sysClr val="windowText" lastClr="000000"/>
                </a:solidFill>
                <a:latin typeface="Cambria Math" panose="02040503050406030204"/>
                <a:cs typeface="Cambria Math" panose="02040503050406030204"/>
              </a:rPr>
              <a:t>𝐶</a:t>
            </a:r>
            <a:endParaRPr>
              <a:solidFill>
                <a:sysClr val="windowText" lastClr="000000"/>
              </a:solidFill>
              <a:latin typeface="Cambria Math" panose="02040503050406030204"/>
              <a:cs typeface="Cambria Math" panose="02040503050406030204"/>
            </a:endParaRPr>
          </a:p>
        </p:txBody>
      </p:sp>
      <p:sp>
        <p:nvSpPr>
          <p:cNvPr id="48" name="object 17"/>
          <p:cNvSpPr txBox="1"/>
          <p:nvPr/>
        </p:nvSpPr>
        <p:spPr>
          <a:xfrm>
            <a:off x="755395" y="4909820"/>
            <a:ext cx="2388235" cy="683895"/>
          </a:xfrm>
          <a:prstGeom prst="rect">
            <a:avLst/>
          </a:prstGeom>
        </p:spPr>
        <p:txBody>
          <a:bodyPr vert="horz" wrap="square" lIns="0" tIns="67310" rIns="0" bIns="0" rtlCol="0">
            <a:spAutoFit/>
          </a:bodyPr>
          <a:lstStyle/>
          <a:p>
            <a:pPr marL="299085" indent="-286385">
              <a:spcBef>
                <a:spcPts val="530"/>
              </a:spcBef>
              <a:buFont typeface="Arial MT"/>
              <a:buChar char="•"/>
              <a:tabLst>
                <a:tab pos="299085" algn="l"/>
              </a:tabLst>
            </a:pPr>
            <a:r>
              <a:rPr dirty="0">
                <a:solidFill>
                  <a:sysClr val="windowText" lastClr="000000"/>
                </a:solidFill>
                <a:latin typeface="Palatino Linotype" panose="02040502050505030304"/>
                <a:cs typeface="Palatino Linotype" panose="02040502050505030304"/>
              </a:rPr>
              <a:t>Rewrite</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Cambria Math" panose="02040503050406030204"/>
                <a:cs typeface="Cambria Math" panose="02040503050406030204"/>
              </a:rPr>
              <a:t>𝐶</a:t>
            </a:r>
            <a:r>
              <a:rPr spc="110" dirty="0">
                <a:solidFill>
                  <a:sysClr val="windowText" lastClr="000000"/>
                </a:solidFill>
                <a:latin typeface="Cambria Math" panose="02040503050406030204"/>
                <a:cs typeface="Cambria Math" panose="02040503050406030204"/>
              </a:rPr>
              <a:t> </a:t>
            </a:r>
            <a:r>
              <a:rPr dirty="0">
                <a:solidFill>
                  <a:sysClr val="windowText" lastClr="000000"/>
                </a:solidFill>
                <a:latin typeface="Palatino Linotype" panose="02040502050505030304"/>
                <a:cs typeface="Palatino Linotype" panose="02040502050505030304"/>
              </a:rPr>
              <a:t>using</a:t>
            </a:r>
            <a:r>
              <a:rPr spc="-2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Cambria Math" panose="02040503050406030204"/>
                <a:cs typeface="Cambria Math" panose="02040503050406030204"/>
              </a:rPr>
              <a:t>𝐶</a:t>
            </a:r>
            <a:r>
              <a:rPr spc="160" dirty="0">
                <a:solidFill>
                  <a:sysClr val="windowText" lastClr="000000"/>
                </a:solidFill>
                <a:latin typeface="Cambria Math" panose="02040503050406030204"/>
                <a:cs typeface="Cambria Math" panose="02040503050406030204"/>
              </a:rPr>
              <a:t> </a:t>
            </a:r>
            <a:r>
              <a:rPr spc="-50" dirty="0">
                <a:solidFill>
                  <a:sysClr val="windowText" lastClr="000000"/>
                </a:solidFill>
                <a:latin typeface="Cambria Math" panose="02040503050406030204"/>
                <a:cs typeface="Cambria Math" panose="02040503050406030204"/>
              </a:rPr>
              <a:t>→</a:t>
            </a:r>
            <a:endParaRPr>
              <a:solidFill>
                <a:sysClr val="windowText" lastClr="000000"/>
              </a:solidFill>
              <a:latin typeface="Cambria Math" panose="02040503050406030204"/>
              <a:cs typeface="Cambria Math" panose="02040503050406030204"/>
            </a:endParaRPr>
          </a:p>
          <a:p>
            <a:pPr marL="299085" indent="-286385">
              <a:spcBef>
                <a:spcPts val="430"/>
              </a:spcBef>
              <a:buFont typeface="Arial MT"/>
              <a:buChar char="•"/>
              <a:tabLst>
                <a:tab pos="299085" algn="l"/>
              </a:tabLst>
            </a:pPr>
            <a:r>
              <a:rPr dirty="0">
                <a:solidFill>
                  <a:sysClr val="windowText" lastClr="000000"/>
                </a:solidFill>
                <a:latin typeface="Palatino Linotype" panose="02040502050505030304"/>
                <a:cs typeface="Palatino Linotype" panose="02040502050505030304"/>
              </a:rPr>
              <a:t>Match</a:t>
            </a:r>
            <a:r>
              <a:rPr spc="-20"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input</a:t>
            </a:r>
            <a:endParaRPr>
              <a:solidFill>
                <a:sysClr val="windowText" lastClr="000000"/>
              </a:solidFill>
              <a:latin typeface="Palatino Linotype" panose="02040502050505030304"/>
              <a:cs typeface="Palatino Linotype" panose="02040502050505030304"/>
            </a:endParaRPr>
          </a:p>
        </p:txBody>
      </p:sp>
      <p:sp>
        <p:nvSpPr>
          <p:cNvPr id="49" name="object 18"/>
          <p:cNvSpPr txBox="1"/>
          <p:nvPr/>
        </p:nvSpPr>
        <p:spPr>
          <a:xfrm>
            <a:off x="738022" y="3329178"/>
            <a:ext cx="317500" cy="299720"/>
          </a:xfrm>
          <a:prstGeom prst="rect">
            <a:avLst/>
          </a:prstGeom>
        </p:spPr>
        <p:txBody>
          <a:bodyPr vert="horz" wrap="square" lIns="0" tIns="12700" rIns="0" bIns="0" rtlCol="0">
            <a:spAutoFit/>
          </a:bodyPr>
          <a:lstStyle/>
          <a:p>
            <a:pPr marL="12700">
              <a:spcBef>
                <a:spcPts val="100"/>
              </a:spcBef>
            </a:pPr>
            <a:r>
              <a:rPr b="1" spc="-25" dirty="0">
                <a:solidFill>
                  <a:sysClr val="windowText" lastClr="000000"/>
                </a:solidFill>
                <a:latin typeface="Palatino Linotype" panose="02040502050505030304"/>
                <a:cs typeface="Palatino Linotype" panose="02040502050505030304"/>
              </a:rPr>
              <a:t>int</a:t>
            </a:r>
            <a:endParaRPr>
              <a:solidFill>
                <a:sysClr val="windowText" lastClr="000000"/>
              </a:solidFill>
              <a:latin typeface="Palatino Linotype" panose="02040502050505030304"/>
              <a:cs typeface="Palatino Linotype" panose="02040502050505030304"/>
            </a:endParaRPr>
          </a:p>
        </p:txBody>
      </p:sp>
      <p:sp>
        <p:nvSpPr>
          <p:cNvPr id="50" name="object 19"/>
          <p:cNvSpPr/>
          <p:nvPr/>
        </p:nvSpPr>
        <p:spPr>
          <a:xfrm>
            <a:off x="899160" y="3086100"/>
            <a:ext cx="0" cy="224154"/>
          </a:xfrm>
          <a:custGeom>
            <a:avLst/>
            <a:gdLst/>
            <a:ahLst/>
            <a:cxnLst/>
            <a:rect l="l" t="t" r="r" b="b"/>
            <a:pathLst>
              <a:path h="224154">
                <a:moveTo>
                  <a:pt x="0" y="0"/>
                </a:moveTo>
                <a:lnTo>
                  <a:pt x="0" y="22390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51" name="object 20"/>
          <p:cNvSpPr txBox="1"/>
          <p:nvPr/>
        </p:nvSpPr>
        <p:spPr>
          <a:xfrm>
            <a:off x="1744472" y="3329178"/>
            <a:ext cx="292100" cy="299720"/>
          </a:xfrm>
          <a:prstGeom prst="rect">
            <a:avLst/>
          </a:prstGeom>
        </p:spPr>
        <p:txBody>
          <a:bodyPr vert="horz" wrap="square" lIns="0" tIns="12700" rIns="0" bIns="0" rtlCol="0">
            <a:spAutoFit/>
          </a:bodyPr>
          <a:lstStyle/>
          <a:p>
            <a:pPr marL="12700">
              <a:spcBef>
                <a:spcPts val="100"/>
              </a:spcBef>
            </a:pPr>
            <a:r>
              <a:rPr spc="-25" dirty="0">
                <a:solidFill>
                  <a:sysClr val="windowText" lastClr="000000"/>
                </a:solidFill>
                <a:latin typeface="Palatino Linotype" panose="02040502050505030304"/>
                <a:cs typeface="Palatino Linotype" panose="02040502050505030304"/>
              </a:rPr>
              <a:t>[</a:t>
            </a:r>
            <a:r>
              <a:rPr b="1" spc="-25" dirty="0">
                <a:solidFill>
                  <a:sysClr val="windowText" lastClr="000000"/>
                </a:solidFill>
                <a:latin typeface="Palatino Linotype" panose="02040502050505030304"/>
                <a:cs typeface="Palatino Linotype" panose="02040502050505030304"/>
              </a:rPr>
              <a:t>2</a:t>
            </a:r>
            <a:r>
              <a:rPr spc="-25" dirty="0">
                <a:solidFill>
                  <a:sysClr val="windowText" lastClr="000000"/>
                </a:solidFill>
                <a:latin typeface="Palatino Linotype" panose="02040502050505030304"/>
                <a:cs typeface="Palatino Linotype" panose="02040502050505030304"/>
              </a:rPr>
              <a:t>]</a:t>
            </a:r>
            <a:endParaRPr>
              <a:solidFill>
                <a:sysClr val="windowText" lastClr="000000"/>
              </a:solidFill>
              <a:latin typeface="Palatino Linotype" panose="02040502050505030304"/>
              <a:cs typeface="Palatino Linotype" panose="02040502050505030304"/>
            </a:endParaRPr>
          </a:p>
        </p:txBody>
      </p:sp>
      <p:sp>
        <p:nvSpPr>
          <p:cNvPr id="52" name="object 21"/>
          <p:cNvSpPr txBox="1"/>
          <p:nvPr/>
        </p:nvSpPr>
        <p:spPr>
          <a:xfrm>
            <a:off x="3108198" y="3334003"/>
            <a:ext cx="18796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53" name="object 22"/>
          <p:cNvSpPr/>
          <p:nvPr/>
        </p:nvSpPr>
        <p:spPr>
          <a:xfrm>
            <a:off x="1892807" y="3086100"/>
            <a:ext cx="1310640" cy="229235"/>
          </a:xfrm>
          <a:custGeom>
            <a:avLst/>
            <a:gdLst/>
            <a:ahLst/>
            <a:cxnLst/>
            <a:rect l="l" t="t" r="r" b="b"/>
            <a:pathLst>
              <a:path w="1310639" h="229235">
                <a:moveTo>
                  <a:pt x="501777" y="0"/>
                </a:moveTo>
                <a:lnTo>
                  <a:pt x="0" y="223900"/>
                </a:lnTo>
              </a:path>
              <a:path w="1310639" h="229235">
                <a:moveTo>
                  <a:pt x="501396" y="0"/>
                </a:moveTo>
                <a:lnTo>
                  <a:pt x="1310259" y="228853"/>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54" name="object 23"/>
          <p:cNvSpPr txBox="1"/>
          <p:nvPr/>
        </p:nvSpPr>
        <p:spPr>
          <a:xfrm>
            <a:off x="2553461" y="3944873"/>
            <a:ext cx="292100" cy="299720"/>
          </a:xfrm>
          <a:prstGeom prst="rect">
            <a:avLst/>
          </a:prstGeom>
        </p:spPr>
        <p:txBody>
          <a:bodyPr vert="horz" wrap="square" lIns="0" tIns="12700" rIns="0" bIns="0" rtlCol="0">
            <a:spAutoFit/>
          </a:bodyPr>
          <a:lstStyle/>
          <a:p>
            <a:pPr marL="12700">
              <a:spcBef>
                <a:spcPts val="100"/>
              </a:spcBef>
            </a:pPr>
            <a:r>
              <a:rPr spc="-25" dirty="0">
                <a:solidFill>
                  <a:sysClr val="windowText" lastClr="000000"/>
                </a:solidFill>
                <a:latin typeface="Palatino Linotype" panose="02040502050505030304"/>
                <a:cs typeface="Palatino Linotype" panose="02040502050505030304"/>
              </a:rPr>
              <a:t>[</a:t>
            </a:r>
            <a:r>
              <a:rPr b="1" spc="-25" dirty="0">
                <a:solidFill>
                  <a:sysClr val="windowText" lastClr="000000"/>
                </a:solidFill>
                <a:latin typeface="Palatino Linotype" panose="02040502050505030304"/>
                <a:cs typeface="Palatino Linotype" panose="02040502050505030304"/>
              </a:rPr>
              <a:t>3</a:t>
            </a:r>
            <a:r>
              <a:rPr spc="-25" dirty="0">
                <a:solidFill>
                  <a:sysClr val="windowText" lastClr="000000"/>
                </a:solidFill>
                <a:latin typeface="Palatino Linotype" panose="02040502050505030304"/>
                <a:cs typeface="Palatino Linotype" panose="02040502050505030304"/>
              </a:rPr>
              <a:t>]</a:t>
            </a:r>
            <a:endParaRPr>
              <a:solidFill>
                <a:sysClr val="windowText" lastClr="000000"/>
              </a:solidFill>
              <a:latin typeface="Palatino Linotype" panose="02040502050505030304"/>
              <a:cs typeface="Palatino Linotype" panose="02040502050505030304"/>
            </a:endParaRPr>
          </a:p>
        </p:txBody>
      </p:sp>
      <p:sp>
        <p:nvSpPr>
          <p:cNvPr id="55" name="object 24"/>
          <p:cNvSpPr txBox="1"/>
          <p:nvPr/>
        </p:nvSpPr>
        <p:spPr>
          <a:xfrm>
            <a:off x="3917060" y="3949700"/>
            <a:ext cx="18796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grpSp>
        <p:nvGrpSpPr>
          <p:cNvPr id="56" name="object 25"/>
          <p:cNvGrpSpPr/>
          <p:nvPr/>
        </p:nvGrpSpPr>
        <p:grpSpPr>
          <a:xfrm>
            <a:off x="2505201" y="2852673"/>
            <a:ext cx="4554220" cy="1873250"/>
            <a:chOff x="2505201" y="2852673"/>
            <a:chExt cx="4554220" cy="1873250"/>
          </a:xfrm>
        </p:grpSpPr>
        <p:sp>
          <p:nvSpPr>
            <p:cNvPr id="57" name="object 26"/>
            <p:cNvSpPr/>
            <p:nvPr/>
          </p:nvSpPr>
          <p:spPr>
            <a:xfrm>
              <a:off x="2700527" y="3685031"/>
              <a:ext cx="1311910" cy="246379"/>
            </a:xfrm>
            <a:custGeom>
              <a:avLst/>
              <a:gdLst/>
              <a:ahLst/>
              <a:cxnLst/>
              <a:rect l="l" t="t" r="r" b="b"/>
              <a:pathLst>
                <a:path w="1311910" h="246379">
                  <a:moveTo>
                    <a:pt x="501777" y="0"/>
                  </a:moveTo>
                  <a:lnTo>
                    <a:pt x="0" y="241300"/>
                  </a:lnTo>
                </a:path>
                <a:path w="1311910" h="246379">
                  <a:moveTo>
                    <a:pt x="502920" y="0"/>
                  </a:moveTo>
                  <a:lnTo>
                    <a:pt x="1311783" y="246253"/>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58" name="object 27"/>
            <p:cNvSpPr/>
            <p:nvPr/>
          </p:nvSpPr>
          <p:spPr>
            <a:xfrm>
              <a:off x="2511551" y="2859023"/>
              <a:ext cx="4541520" cy="1860550"/>
            </a:xfrm>
            <a:custGeom>
              <a:avLst/>
              <a:gdLst/>
              <a:ahLst/>
              <a:cxnLst/>
              <a:rect l="l" t="t" r="r" b="b"/>
              <a:pathLst>
                <a:path w="4541520" h="1860550">
                  <a:moveTo>
                    <a:pt x="0" y="0"/>
                  </a:moveTo>
                  <a:lnTo>
                    <a:pt x="58645" y="9926"/>
                  </a:lnTo>
                  <a:lnTo>
                    <a:pt x="117273" y="19855"/>
                  </a:lnTo>
                  <a:lnTo>
                    <a:pt x="175869" y="29791"/>
                  </a:lnTo>
                  <a:lnTo>
                    <a:pt x="234416" y="39737"/>
                  </a:lnTo>
                  <a:lnTo>
                    <a:pt x="292898" y="49694"/>
                  </a:lnTo>
                  <a:lnTo>
                    <a:pt x="351298" y="59667"/>
                  </a:lnTo>
                  <a:lnTo>
                    <a:pt x="409600" y="69659"/>
                  </a:lnTo>
                  <a:lnTo>
                    <a:pt x="467788" y="79672"/>
                  </a:lnTo>
                  <a:lnTo>
                    <a:pt x="525845" y="89710"/>
                  </a:lnTo>
                  <a:lnTo>
                    <a:pt x="583755" y="99775"/>
                  </a:lnTo>
                  <a:lnTo>
                    <a:pt x="641502" y="109871"/>
                  </a:lnTo>
                  <a:lnTo>
                    <a:pt x="699070" y="120000"/>
                  </a:lnTo>
                  <a:lnTo>
                    <a:pt x="756441" y="130167"/>
                  </a:lnTo>
                  <a:lnTo>
                    <a:pt x="813600" y="140373"/>
                  </a:lnTo>
                  <a:lnTo>
                    <a:pt x="870530" y="150622"/>
                  </a:lnTo>
                  <a:lnTo>
                    <a:pt x="927216" y="160917"/>
                  </a:lnTo>
                  <a:lnTo>
                    <a:pt x="983640" y="171260"/>
                  </a:lnTo>
                  <a:lnTo>
                    <a:pt x="1039787" y="181656"/>
                  </a:lnTo>
                  <a:lnTo>
                    <a:pt x="1095640" y="192107"/>
                  </a:lnTo>
                  <a:lnTo>
                    <a:pt x="1151182" y="202615"/>
                  </a:lnTo>
                  <a:lnTo>
                    <a:pt x="1206398" y="213185"/>
                  </a:lnTo>
                  <a:lnTo>
                    <a:pt x="1261271" y="223819"/>
                  </a:lnTo>
                  <a:lnTo>
                    <a:pt x="1315785" y="234520"/>
                  </a:lnTo>
                  <a:lnTo>
                    <a:pt x="1369924" y="245291"/>
                  </a:lnTo>
                  <a:lnTo>
                    <a:pt x="1423670" y="256136"/>
                  </a:lnTo>
                  <a:lnTo>
                    <a:pt x="1477008" y="267056"/>
                  </a:lnTo>
                  <a:lnTo>
                    <a:pt x="1529922" y="278057"/>
                  </a:lnTo>
                  <a:lnTo>
                    <a:pt x="1582395" y="289139"/>
                  </a:lnTo>
                  <a:lnTo>
                    <a:pt x="1634410" y="300307"/>
                  </a:lnTo>
                  <a:lnTo>
                    <a:pt x="1685952" y="311563"/>
                  </a:lnTo>
                  <a:lnTo>
                    <a:pt x="1737004" y="322911"/>
                  </a:lnTo>
                  <a:lnTo>
                    <a:pt x="1787550" y="334353"/>
                  </a:lnTo>
                  <a:lnTo>
                    <a:pt x="1837574" y="345893"/>
                  </a:lnTo>
                  <a:lnTo>
                    <a:pt x="1887058" y="357534"/>
                  </a:lnTo>
                  <a:lnTo>
                    <a:pt x="1935988" y="369278"/>
                  </a:lnTo>
                  <a:lnTo>
                    <a:pt x="1984346" y="381129"/>
                  </a:lnTo>
                  <a:lnTo>
                    <a:pt x="2032116" y="393090"/>
                  </a:lnTo>
                  <a:lnTo>
                    <a:pt x="2079282" y="405163"/>
                  </a:lnTo>
                  <a:lnTo>
                    <a:pt x="2125827" y="417352"/>
                  </a:lnTo>
                  <a:lnTo>
                    <a:pt x="2171736" y="429661"/>
                  </a:lnTo>
                  <a:lnTo>
                    <a:pt x="2216991" y="442091"/>
                  </a:lnTo>
                  <a:lnTo>
                    <a:pt x="2261577" y="454646"/>
                  </a:lnTo>
                  <a:lnTo>
                    <a:pt x="2305478" y="467329"/>
                  </a:lnTo>
                  <a:lnTo>
                    <a:pt x="2348676" y="480143"/>
                  </a:lnTo>
                  <a:lnTo>
                    <a:pt x="2391155" y="493091"/>
                  </a:lnTo>
                  <a:lnTo>
                    <a:pt x="2432900" y="506177"/>
                  </a:lnTo>
                  <a:lnTo>
                    <a:pt x="2473894" y="519402"/>
                  </a:lnTo>
                  <a:lnTo>
                    <a:pt x="2514120" y="532771"/>
                  </a:lnTo>
                  <a:lnTo>
                    <a:pt x="2553562" y="546286"/>
                  </a:lnTo>
                  <a:lnTo>
                    <a:pt x="2592205" y="559950"/>
                  </a:lnTo>
                  <a:lnTo>
                    <a:pt x="2630031" y="573767"/>
                  </a:lnTo>
                  <a:lnTo>
                    <a:pt x="2667024" y="587739"/>
                  </a:lnTo>
                  <a:lnTo>
                    <a:pt x="2703168" y="601869"/>
                  </a:lnTo>
                  <a:lnTo>
                    <a:pt x="2772844" y="630618"/>
                  </a:lnTo>
                  <a:lnTo>
                    <a:pt x="2838927" y="660036"/>
                  </a:lnTo>
                  <a:lnTo>
                    <a:pt x="2924974" y="703154"/>
                  </a:lnTo>
                  <a:lnTo>
                    <a:pt x="2975257" y="732917"/>
                  </a:lnTo>
                  <a:lnTo>
                    <a:pt x="3021640" y="764166"/>
                  </a:lnTo>
                  <a:lnTo>
                    <a:pt x="3064334" y="796774"/>
                  </a:lnTo>
                  <a:lnTo>
                    <a:pt x="3103549" y="830615"/>
                  </a:lnTo>
                  <a:lnTo>
                    <a:pt x="3139497" y="865562"/>
                  </a:lnTo>
                  <a:lnTo>
                    <a:pt x="3172387" y="901488"/>
                  </a:lnTo>
                  <a:lnTo>
                    <a:pt x="3202432" y="938266"/>
                  </a:lnTo>
                  <a:lnTo>
                    <a:pt x="3229840" y="975769"/>
                  </a:lnTo>
                  <a:lnTo>
                    <a:pt x="3254823" y="1013870"/>
                  </a:lnTo>
                  <a:lnTo>
                    <a:pt x="3277592" y="1052444"/>
                  </a:lnTo>
                  <a:lnTo>
                    <a:pt x="3298357" y="1091362"/>
                  </a:lnTo>
                  <a:lnTo>
                    <a:pt x="3317329" y="1130499"/>
                  </a:lnTo>
                  <a:lnTo>
                    <a:pt x="3334719" y="1169727"/>
                  </a:lnTo>
                  <a:lnTo>
                    <a:pt x="3350737" y="1208919"/>
                  </a:lnTo>
                  <a:lnTo>
                    <a:pt x="3365595" y="1247949"/>
                  </a:lnTo>
                  <a:lnTo>
                    <a:pt x="3379502" y="1286690"/>
                  </a:lnTo>
                  <a:lnTo>
                    <a:pt x="3392669" y="1325015"/>
                  </a:lnTo>
                  <a:lnTo>
                    <a:pt x="3405308" y="1362797"/>
                  </a:lnTo>
                  <a:lnTo>
                    <a:pt x="3417628" y="1399910"/>
                  </a:lnTo>
                  <a:lnTo>
                    <a:pt x="3429841" y="1436227"/>
                  </a:lnTo>
                  <a:lnTo>
                    <a:pt x="3454787" y="1505964"/>
                  </a:lnTo>
                  <a:lnTo>
                    <a:pt x="3481830" y="1570994"/>
                  </a:lnTo>
                  <a:lnTo>
                    <a:pt x="3512658" y="1630302"/>
                  </a:lnTo>
                  <a:lnTo>
                    <a:pt x="3548954" y="1682875"/>
                  </a:lnTo>
                  <a:lnTo>
                    <a:pt x="3592405" y="1727697"/>
                  </a:lnTo>
                  <a:lnTo>
                    <a:pt x="3879240" y="1841013"/>
                  </a:lnTo>
                  <a:lnTo>
                    <a:pt x="4183872" y="1860502"/>
                  </a:lnTo>
                  <a:lnTo>
                    <a:pt x="4436282" y="1843914"/>
                  </a:lnTo>
                  <a:lnTo>
                    <a:pt x="4541520" y="1829815"/>
                  </a:lnTo>
                </a:path>
                <a:path w="4541520" h="1860550">
                  <a:moveTo>
                    <a:pt x="787908" y="618743"/>
                  </a:moveTo>
                  <a:lnTo>
                    <a:pt x="847283" y="623778"/>
                  </a:lnTo>
                  <a:lnTo>
                    <a:pt x="906632" y="628815"/>
                  </a:lnTo>
                  <a:lnTo>
                    <a:pt x="965932" y="633858"/>
                  </a:lnTo>
                  <a:lnTo>
                    <a:pt x="1025156" y="638907"/>
                  </a:lnTo>
                  <a:lnTo>
                    <a:pt x="1084279" y="643967"/>
                  </a:lnTo>
                  <a:lnTo>
                    <a:pt x="1143277" y="649038"/>
                  </a:lnTo>
                  <a:lnTo>
                    <a:pt x="1202123" y="654124"/>
                  </a:lnTo>
                  <a:lnTo>
                    <a:pt x="1260793" y="659227"/>
                  </a:lnTo>
                  <a:lnTo>
                    <a:pt x="1319262" y="664349"/>
                  </a:lnTo>
                  <a:lnTo>
                    <a:pt x="1377504" y="669492"/>
                  </a:lnTo>
                  <a:lnTo>
                    <a:pt x="1435495" y="674658"/>
                  </a:lnTo>
                  <a:lnTo>
                    <a:pt x="1493208" y="679851"/>
                  </a:lnTo>
                  <a:lnTo>
                    <a:pt x="1550620" y="685073"/>
                  </a:lnTo>
                  <a:lnTo>
                    <a:pt x="1607704" y="690325"/>
                  </a:lnTo>
                  <a:lnTo>
                    <a:pt x="1664436" y="695610"/>
                  </a:lnTo>
                  <a:lnTo>
                    <a:pt x="1720790" y="700931"/>
                  </a:lnTo>
                  <a:lnTo>
                    <a:pt x="1776741" y="706290"/>
                  </a:lnTo>
                  <a:lnTo>
                    <a:pt x="1832265" y="711688"/>
                  </a:lnTo>
                  <a:lnTo>
                    <a:pt x="1887335" y="717129"/>
                  </a:lnTo>
                  <a:lnTo>
                    <a:pt x="1941927" y="722615"/>
                  </a:lnTo>
                  <a:lnTo>
                    <a:pt x="1996015" y="728149"/>
                  </a:lnTo>
                  <a:lnTo>
                    <a:pt x="2049575" y="733731"/>
                  </a:lnTo>
                  <a:lnTo>
                    <a:pt x="2102581" y="739366"/>
                  </a:lnTo>
                  <a:lnTo>
                    <a:pt x="2155008" y="745055"/>
                  </a:lnTo>
                  <a:lnTo>
                    <a:pt x="2206831" y="750800"/>
                  </a:lnTo>
                  <a:lnTo>
                    <a:pt x="2258025" y="756604"/>
                  </a:lnTo>
                  <a:lnTo>
                    <a:pt x="2308563" y="762470"/>
                  </a:lnTo>
                  <a:lnTo>
                    <a:pt x="2358423" y="768398"/>
                  </a:lnTo>
                  <a:lnTo>
                    <a:pt x="2407577" y="774393"/>
                  </a:lnTo>
                  <a:lnTo>
                    <a:pt x="2456001" y="780456"/>
                  </a:lnTo>
                  <a:lnTo>
                    <a:pt x="2503670" y="786590"/>
                  </a:lnTo>
                  <a:lnTo>
                    <a:pt x="2550559" y="792797"/>
                  </a:lnTo>
                  <a:lnTo>
                    <a:pt x="2596642" y="799078"/>
                  </a:lnTo>
                  <a:lnTo>
                    <a:pt x="2641894" y="805438"/>
                  </a:lnTo>
                  <a:lnTo>
                    <a:pt x="2686291" y="811877"/>
                  </a:lnTo>
                  <a:lnTo>
                    <a:pt x="2729806" y="818399"/>
                  </a:lnTo>
                  <a:lnTo>
                    <a:pt x="2772415" y="825005"/>
                  </a:lnTo>
                  <a:lnTo>
                    <a:pt x="2814093" y="831699"/>
                  </a:lnTo>
                  <a:lnTo>
                    <a:pt x="2854814" y="838481"/>
                  </a:lnTo>
                  <a:lnTo>
                    <a:pt x="2894553" y="845356"/>
                  </a:lnTo>
                  <a:lnTo>
                    <a:pt x="2933285" y="852324"/>
                  </a:lnTo>
                  <a:lnTo>
                    <a:pt x="2970985" y="859388"/>
                  </a:lnTo>
                  <a:lnTo>
                    <a:pt x="3043188" y="873816"/>
                  </a:lnTo>
                  <a:lnTo>
                    <a:pt x="3110961" y="888657"/>
                  </a:lnTo>
                  <a:lnTo>
                    <a:pt x="3212902" y="915082"/>
                  </a:lnTo>
                  <a:lnTo>
                    <a:pt x="3274311" y="935543"/>
                  </a:lnTo>
                  <a:lnTo>
                    <a:pt x="3328060" y="957408"/>
                  </a:lnTo>
                  <a:lnTo>
                    <a:pt x="3374856" y="980463"/>
                  </a:lnTo>
                  <a:lnTo>
                    <a:pt x="3415407" y="1004494"/>
                  </a:lnTo>
                  <a:lnTo>
                    <a:pt x="3450420" y="1029288"/>
                  </a:lnTo>
                  <a:lnTo>
                    <a:pt x="3480605" y="1054632"/>
                  </a:lnTo>
                  <a:lnTo>
                    <a:pt x="3529321" y="1106113"/>
                  </a:lnTo>
                  <a:lnTo>
                    <a:pt x="3567219" y="1157229"/>
                  </a:lnTo>
                  <a:lnTo>
                    <a:pt x="3599964" y="1206272"/>
                  </a:lnTo>
                  <a:lnTo>
                    <a:pt x="3616174" y="1229482"/>
                  </a:lnTo>
                  <a:lnTo>
                    <a:pt x="3651809" y="1272211"/>
                  </a:lnTo>
                  <a:lnTo>
                    <a:pt x="3696453" y="1308596"/>
                  </a:lnTo>
                  <a:lnTo>
                    <a:pt x="3755771" y="1336928"/>
                  </a:lnTo>
                  <a:lnTo>
                    <a:pt x="3970645" y="1375626"/>
                  </a:lnTo>
                  <a:lnTo>
                    <a:pt x="4220606" y="1383617"/>
                  </a:lnTo>
                  <a:lnTo>
                    <a:pt x="4427729" y="1376773"/>
                  </a:lnTo>
                  <a:lnTo>
                    <a:pt x="4514088" y="1370964"/>
                  </a:lnTo>
                </a:path>
              </a:pathLst>
            </a:custGeom>
            <a:ln w="12700">
              <a:solidFill>
                <a:srgbClr val="FF0000"/>
              </a:solidFill>
              <a:prstDash val="sys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
        <p:nvSpPr>
          <p:cNvPr id="59" name="object 28"/>
          <p:cNvSpPr txBox="1"/>
          <p:nvPr/>
        </p:nvSpPr>
        <p:spPr>
          <a:xfrm>
            <a:off x="1058062" y="2675890"/>
            <a:ext cx="913130" cy="391160"/>
          </a:xfrm>
          <a:prstGeom prst="rect">
            <a:avLst/>
          </a:prstGeom>
        </p:spPr>
        <p:txBody>
          <a:bodyPr vert="horz" wrap="square" lIns="0" tIns="12700" rIns="0" bIns="0" rtlCol="0">
            <a:spAutoFit/>
          </a:bodyPr>
          <a:lstStyle/>
          <a:p>
            <a:pPr marL="12700">
              <a:spcBef>
                <a:spcPts val="100"/>
              </a:spcBef>
            </a:pPr>
            <a:r>
              <a:rPr sz="1200" i="1" dirty="0">
                <a:solidFill>
                  <a:srgbClr val="6F2F9F"/>
                </a:solidFill>
                <a:latin typeface="Palatino Linotype" panose="02040502050505030304"/>
                <a:cs typeface="Palatino Linotype" panose="02040502050505030304"/>
              </a:rPr>
              <a:t>type</a:t>
            </a:r>
            <a:r>
              <a:rPr sz="1200" i="1" spc="-1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spc="-10" dirty="0">
                <a:solidFill>
                  <a:srgbClr val="6F2F9F"/>
                </a:solidFill>
                <a:latin typeface="Palatino Linotype" panose="02040502050505030304"/>
                <a:cs typeface="Palatino Linotype" panose="02040502050505030304"/>
              </a:rPr>
              <a:t>integer</a:t>
            </a:r>
            <a:endParaRPr sz="1200">
              <a:solidFill>
                <a:sysClr val="windowText" lastClr="000000"/>
              </a:solidFill>
              <a:latin typeface="Palatino Linotype" panose="02040502050505030304"/>
              <a:cs typeface="Palatino Linotype" panose="02040502050505030304"/>
            </a:endParaRPr>
          </a:p>
          <a:p>
            <a:pPr marL="12700"/>
            <a:r>
              <a:rPr sz="1200" i="1" dirty="0">
                <a:solidFill>
                  <a:srgbClr val="6F2F9F"/>
                </a:solidFill>
                <a:latin typeface="Palatino Linotype" panose="02040502050505030304"/>
                <a:cs typeface="Palatino Linotype" panose="02040502050505030304"/>
              </a:rPr>
              <a:t>width</a:t>
            </a:r>
            <a:r>
              <a:rPr sz="1200" i="1" spc="-2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15" dirty="0">
                <a:solidFill>
                  <a:srgbClr val="6F2F9F"/>
                </a:solidFill>
                <a:latin typeface="Palatino Linotype" panose="02040502050505030304"/>
                <a:cs typeface="Palatino Linotype" panose="02040502050505030304"/>
              </a:rPr>
              <a:t> </a:t>
            </a:r>
            <a:r>
              <a:rPr sz="1200" spc="-50" dirty="0">
                <a:solidFill>
                  <a:srgbClr val="6F2F9F"/>
                </a:solidFill>
                <a:latin typeface="Palatino Linotype" panose="02040502050505030304"/>
                <a:cs typeface="Palatino Linotype" panose="02040502050505030304"/>
              </a:rPr>
              <a:t>4</a:t>
            </a:r>
            <a:endParaRPr sz="1200">
              <a:solidFill>
                <a:sysClr val="windowText" lastClr="000000"/>
              </a:solidFill>
              <a:latin typeface="Palatino Linotype" panose="02040502050505030304"/>
              <a:cs typeface="Palatino Linotype" panose="02040502050505030304"/>
            </a:endParaRPr>
          </a:p>
        </p:txBody>
      </p:sp>
      <p:sp>
        <p:nvSpPr>
          <p:cNvPr id="60" name="object 29"/>
          <p:cNvSpPr txBox="1"/>
          <p:nvPr/>
        </p:nvSpPr>
        <p:spPr>
          <a:xfrm>
            <a:off x="4224528" y="1491996"/>
            <a:ext cx="1266825" cy="646430"/>
          </a:xfrm>
          <a:prstGeom prst="rect">
            <a:avLst/>
          </a:prstGeom>
          <a:solidFill>
            <a:srgbClr val="FFF1CC"/>
          </a:solidFill>
          <a:ln w="9525">
            <a:solidFill>
              <a:srgbClr val="000000"/>
            </a:solidFill>
          </a:ln>
        </p:spPr>
        <p:txBody>
          <a:bodyPr vert="horz" wrap="square" lIns="0" tIns="31115" rIns="0" bIns="0" rtlCol="0">
            <a:spAutoFit/>
          </a:bodyPr>
          <a:lstStyle/>
          <a:p>
            <a:pPr marL="92075">
              <a:spcBef>
                <a:spcPts val="245"/>
              </a:spcBef>
            </a:pPr>
            <a:r>
              <a:rPr i="1" dirty="0">
                <a:solidFill>
                  <a:sysClr val="windowText" lastClr="000000"/>
                </a:solidFill>
                <a:latin typeface="Palatino Linotype" panose="02040502050505030304"/>
                <a:cs typeface="Palatino Linotype" panose="02040502050505030304"/>
              </a:rPr>
              <a:t>t</a:t>
            </a:r>
            <a:r>
              <a:rPr i="1" spc="-1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t>
            </a:r>
            <a:r>
              <a:rPr spc="-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integer</a:t>
            </a:r>
            <a:endParaRPr>
              <a:solidFill>
                <a:sysClr val="windowText" lastClr="000000"/>
              </a:solidFill>
              <a:latin typeface="Palatino Linotype" panose="02040502050505030304"/>
              <a:cs typeface="Palatino Linotype" panose="02040502050505030304"/>
            </a:endParaRPr>
          </a:p>
          <a:p>
            <a:pPr marL="92075"/>
            <a:r>
              <a:rPr i="1" dirty="0">
                <a:solidFill>
                  <a:sysClr val="windowText" lastClr="000000"/>
                </a:solidFill>
                <a:latin typeface="Palatino Linotype" panose="02040502050505030304"/>
                <a:cs typeface="Palatino Linotype" panose="02040502050505030304"/>
              </a:rPr>
              <a:t>w</a:t>
            </a:r>
            <a:r>
              <a:rPr i="1" spc="-2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t>
            </a:r>
            <a:r>
              <a:rPr spc="-25" dirty="0">
                <a:solidFill>
                  <a:sysClr val="windowText" lastClr="000000"/>
                </a:solidFill>
                <a:latin typeface="Palatino Linotype" panose="02040502050505030304"/>
                <a:cs typeface="Palatino Linotype" panose="02040502050505030304"/>
              </a:rPr>
              <a:t> </a:t>
            </a:r>
            <a:r>
              <a:rPr spc="-50" dirty="0">
                <a:solidFill>
                  <a:sysClr val="windowText" lastClr="000000"/>
                </a:solidFill>
                <a:latin typeface="Palatino Linotype" panose="02040502050505030304"/>
                <a:cs typeface="Palatino Linotype" panose="02040502050505030304"/>
              </a:rPr>
              <a:t>4</a:t>
            </a:r>
            <a:endParaRPr>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43</a:t>
            </a:fld>
            <a:endParaRPr lang="en-US"/>
          </a:p>
        </p:txBody>
      </p:sp>
      <p:sp>
        <p:nvSpPr>
          <p:cNvPr id="32"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30" normalizeH="0" baseline="0" noProof="0">
                <a:ln>
                  <a:noFill/>
                </a:ln>
                <a:solidFill>
                  <a:srgbClr val="000000"/>
                </a:solidFill>
                <a:effectLst/>
                <a:uLnTx/>
                <a:uFillTx/>
                <a:latin typeface="Palatino Linotype" panose="02040502050505030304"/>
                <a:ea typeface="+mj-ea"/>
              </a:rPr>
              <a:t>Translation</a:t>
            </a:r>
            <a:r>
              <a:rPr kumimoji="0" lang="en-US" sz="4000" b="1" i="0" u="none" strike="noStrike" kern="0" cap="none" spc="-13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Process</a:t>
            </a:r>
            <a:r>
              <a:rPr kumimoji="0" lang="en-US" sz="4000" b="1" i="0" u="none" strike="noStrike" kern="0" cap="none" spc="-14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Example</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33" name="object 3"/>
          <p:cNvSpPr txBox="1"/>
          <p:nvPr/>
        </p:nvSpPr>
        <p:spPr>
          <a:xfrm>
            <a:off x="1581658" y="2109978"/>
            <a:ext cx="16573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T</a:t>
            </a:r>
            <a:endParaRPr>
              <a:solidFill>
                <a:sysClr val="windowText" lastClr="000000"/>
              </a:solidFill>
              <a:latin typeface="Palatino Linotype" panose="02040502050505030304"/>
              <a:cs typeface="Palatino Linotype" panose="02040502050505030304"/>
            </a:endParaRPr>
          </a:p>
        </p:txBody>
      </p:sp>
      <p:sp>
        <p:nvSpPr>
          <p:cNvPr id="34" name="object 4"/>
          <p:cNvSpPr txBox="1"/>
          <p:nvPr/>
        </p:nvSpPr>
        <p:spPr>
          <a:xfrm>
            <a:off x="814832" y="2735707"/>
            <a:ext cx="16510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B</a:t>
            </a:r>
            <a:endParaRPr>
              <a:solidFill>
                <a:sysClr val="windowText" lastClr="000000"/>
              </a:solidFill>
              <a:latin typeface="Palatino Linotype" panose="02040502050505030304"/>
              <a:cs typeface="Palatino Linotype" panose="02040502050505030304"/>
            </a:endParaRPr>
          </a:p>
        </p:txBody>
      </p:sp>
      <p:sp>
        <p:nvSpPr>
          <p:cNvPr id="35" name="object 5"/>
          <p:cNvSpPr txBox="1"/>
          <p:nvPr/>
        </p:nvSpPr>
        <p:spPr>
          <a:xfrm>
            <a:off x="2299207" y="2735707"/>
            <a:ext cx="18796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36" name="object 6"/>
          <p:cNvSpPr/>
          <p:nvPr/>
        </p:nvSpPr>
        <p:spPr>
          <a:xfrm>
            <a:off x="899160" y="2461260"/>
            <a:ext cx="1495425" cy="256540"/>
          </a:xfrm>
          <a:custGeom>
            <a:avLst/>
            <a:gdLst/>
            <a:ahLst/>
            <a:cxnLst/>
            <a:rect l="l" t="t" r="r" b="b"/>
            <a:pathLst>
              <a:path w="1495425" h="256539">
                <a:moveTo>
                  <a:pt x="766572" y="0"/>
                </a:moveTo>
                <a:lnTo>
                  <a:pt x="0" y="256412"/>
                </a:lnTo>
              </a:path>
              <a:path w="1495425" h="256539">
                <a:moveTo>
                  <a:pt x="766572" y="0"/>
                </a:moveTo>
                <a:lnTo>
                  <a:pt x="1495425" y="256412"/>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37" name="object 7"/>
          <p:cNvSpPr txBox="1"/>
          <p:nvPr/>
        </p:nvSpPr>
        <p:spPr>
          <a:xfrm>
            <a:off x="814832" y="1343659"/>
            <a:ext cx="2540635" cy="299720"/>
          </a:xfrm>
          <a:prstGeom prst="rect">
            <a:avLst/>
          </a:prstGeom>
        </p:spPr>
        <p:txBody>
          <a:bodyPr vert="horz" wrap="square" lIns="0" tIns="12700" rIns="0" bIns="0" rtlCol="0">
            <a:spAutoFit/>
          </a:bodyPr>
          <a:lstStyle/>
          <a:p>
            <a:pPr marL="12700">
              <a:spcBef>
                <a:spcPts val="100"/>
              </a:spcBef>
            </a:pPr>
            <a:r>
              <a:rPr dirty="0">
                <a:solidFill>
                  <a:sysClr val="windowText" lastClr="000000"/>
                </a:solidFill>
                <a:latin typeface="Palatino Linotype" panose="02040502050505030304"/>
                <a:cs typeface="Palatino Linotype" panose="02040502050505030304"/>
              </a:rPr>
              <a:t>Input</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string:</a:t>
            </a:r>
            <a:r>
              <a:rPr spc="465" dirty="0">
                <a:solidFill>
                  <a:sysClr val="windowText" lastClr="000000"/>
                </a:solidFill>
                <a:latin typeface="Palatino Linotype" panose="02040502050505030304"/>
                <a:cs typeface="Palatino Linotype" panose="02040502050505030304"/>
              </a:rPr>
              <a:t> </a:t>
            </a:r>
            <a:r>
              <a:rPr spc="-10" dirty="0">
                <a:solidFill>
                  <a:srgbClr val="A6A6A6"/>
                </a:solidFill>
                <a:latin typeface="Consolas" panose="020B0609020204030204"/>
                <a:cs typeface="Consolas" panose="020B0609020204030204"/>
              </a:rPr>
              <a:t>int[2][3]</a:t>
            </a:r>
            <a:endParaRPr>
              <a:solidFill>
                <a:sysClr val="windowText" lastClr="000000"/>
              </a:solidFill>
              <a:latin typeface="Consolas" panose="020B0609020204030204"/>
              <a:cs typeface="Consolas" panose="020B0609020204030204"/>
            </a:endParaRPr>
          </a:p>
        </p:txBody>
      </p:sp>
      <p:sp>
        <p:nvSpPr>
          <p:cNvPr id="38" name="object 8"/>
          <p:cNvSpPr/>
          <p:nvPr/>
        </p:nvSpPr>
        <p:spPr>
          <a:xfrm>
            <a:off x="6384290" y="2228723"/>
            <a:ext cx="1724025" cy="2973070"/>
          </a:xfrm>
          <a:custGeom>
            <a:avLst/>
            <a:gdLst/>
            <a:ahLst/>
            <a:cxnLst/>
            <a:rect l="l" t="t" r="r" b="b"/>
            <a:pathLst>
              <a:path w="1724025" h="2973070">
                <a:moveTo>
                  <a:pt x="0" y="1483359"/>
                </a:moveTo>
                <a:lnTo>
                  <a:pt x="1723516" y="1483359"/>
                </a:lnTo>
              </a:path>
              <a:path w="1724025" h="2973070">
                <a:moveTo>
                  <a:pt x="0" y="1854200"/>
                </a:moveTo>
                <a:lnTo>
                  <a:pt x="1723516" y="1854200"/>
                </a:lnTo>
              </a:path>
              <a:path w="1724025" h="2973070">
                <a:moveTo>
                  <a:pt x="0" y="2225040"/>
                </a:moveTo>
                <a:lnTo>
                  <a:pt x="1723516" y="2225040"/>
                </a:lnTo>
              </a:path>
              <a:path w="1724025" h="2973070">
                <a:moveTo>
                  <a:pt x="0" y="2595879"/>
                </a:moveTo>
                <a:lnTo>
                  <a:pt x="1723516" y="2595879"/>
                </a:lnTo>
              </a:path>
              <a:path w="1724025" h="2973070">
                <a:moveTo>
                  <a:pt x="6350" y="0"/>
                </a:moveTo>
                <a:lnTo>
                  <a:pt x="6350" y="2973070"/>
                </a:lnTo>
              </a:path>
              <a:path w="1724025" h="2973070">
                <a:moveTo>
                  <a:pt x="1717166" y="0"/>
                </a:moveTo>
                <a:lnTo>
                  <a:pt x="1717166" y="2973070"/>
                </a:lnTo>
              </a:path>
              <a:path w="1724025" h="2973070">
                <a:moveTo>
                  <a:pt x="0" y="2966720"/>
                </a:moveTo>
                <a:lnTo>
                  <a:pt x="1723516" y="296672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39" name="object 9"/>
          <p:cNvSpPr txBox="1"/>
          <p:nvPr/>
        </p:nvSpPr>
        <p:spPr>
          <a:xfrm>
            <a:off x="7077582" y="3730879"/>
            <a:ext cx="339725" cy="299720"/>
          </a:xfrm>
          <a:prstGeom prst="rect">
            <a:avLst/>
          </a:prstGeom>
        </p:spPr>
        <p:txBody>
          <a:bodyPr vert="horz" wrap="square" lIns="0" tIns="12700" rIns="0" bIns="0" rtlCol="0">
            <a:spAutoFit/>
          </a:bodyPr>
          <a:lstStyle/>
          <a:p>
            <a:pPr marL="12700">
              <a:spcBef>
                <a:spcPts val="100"/>
              </a:spcBef>
            </a:pPr>
            <a:r>
              <a:rPr spc="-25"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40" name="object 10"/>
          <p:cNvSpPr txBox="1"/>
          <p:nvPr/>
        </p:nvSpPr>
        <p:spPr>
          <a:xfrm>
            <a:off x="7077582" y="4101845"/>
            <a:ext cx="339725" cy="299720"/>
          </a:xfrm>
          <a:prstGeom prst="rect">
            <a:avLst/>
          </a:prstGeom>
        </p:spPr>
        <p:txBody>
          <a:bodyPr vert="horz" wrap="square" lIns="0" tIns="12700" rIns="0" bIns="0" rtlCol="0">
            <a:spAutoFit/>
          </a:bodyPr>
          <a:lstStyle/>
          <a:p>
            <a:pPr marL="12700">
              <a:spcBef>
                <a:spcPts val="100"/>
              </a:spcBef>
            </a:pPr>
            <a:r>
              <a:rPr spc="-25"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41" name="object 11"/>
          <p:cNvSpPr txBox="1"/>
          <p:nvPr/>
        </p:nvSpPr>
        <p:spPr>
          <a:xfrm>
            <a:off x="7077582" y="4472685"/>
            <a:ext cx="339725" cy="299720"/>
          </a:xfrm>
          <a:prstGeom prst="rect">
            <a:avLst/>
          </a:prstGeom>
        </p:spPr>
        <p:txBody>
          <a:bodyPr vert="horz" wrap="square" lIns="0" tIns="12700" rIns="0" bIns="0" rtlCol="0">
            <a:spAutoFit/>
          </a:bodyPr>
          <a:lstStyle/>
          <a:p>
            <a:pPr marL="12700">
              <a:spcBef>
                <a:spcPts val="100"/>
              </a:spcBef>
            </a:pPr>
            <a:r>
              <a:rPr spc="-25"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42" name="object 12"/>
          <p:cNvSpPr txBox="1"/>
          <p:nvPr/>
        </p:nvSpPr>
        <p:spPr>
          <a:xfrm>
            <a:off x="7088251" y="4843653"/>
            <a:ext cx="318135" cy="299720"/>
          </a:xfrm>
          <a:prstGeom prst="rect">
            <a:avLst/>
          </a:prstGeom>
        </p:spPr>
        <p:txBody>
          <a:bodyPr vert="horz" wrap="square" lIns="0" tIns="12700" rIns="0" bIns="0" rtlCol="0">
            <a:spAutoFit/>
          </a:bodyPr>
          <a:lstStyle/>
          <a:p>
            <a:pPr marL="12700">
              <a:spcBef>
                <a:spcPts val="100"/>
              </a:spcBef>
            </a:pPr>
            <a:r>
              <a:rPr spc="-25" dirty="0">
                <a:solidFill>
                  <a:sysClr val="windowText" lastClr="000000"/>
                </a:solidFill>
                <a:latin typeface="Palatino Linotype" panose="02040502050505030304"/>
                <a:cs typeface="Palatino Linotype" panose="02040502050505030304"/>
              </a:rPr>
              <a:t>T()</a:t>
            </a:r>
            <a:endParaRPr>
              <a:solidFill>
                <a:sysClr val="windowText" lastClr="000000"/>
              </a:solidFill>
              <a:latin typeface="Palatino Linotype" panose="02040502050505030304"/>
              <a:cs typeface="Palatino Linotype" panose="02040502050505030304"/>
            </a:endParaRPr>
          </a:p>
        </p:txBody>
      </p:sp>
      <p:sp>
        <p:nvSpPr>
          <p:cNvPr id="43" name="object 13"/>
          <p:cNvSpPr txBox="1"/>
          <p:nvPr/>
        </p:nvSpPr>
        <p:spPr>
          <a:xfrm>
            <a:off x="6819138" y="5393842"/>
            <a:ext cx="895350" cy="269240"/>
          </a:xfrm>
          <a:prstGeom prst="rect">
            <a:avLst/>
          </a:prstGeom>
        </p:spPr>
        <p:txBody>
          <a:bodyPr vert="horz" wrap="square" lIns="0" tIns="12065" rIns="0" bIns="0" rtlCol="0">
            <a:spAutoFit/>
          </a:bodyPr>
          <a:lstStyle/>
          <a:p>
            <a:pPr marL="12700">
              <a:spcBef>
                <a:spcPts val="95"/>
              </a:spcBef>
            </a:pPr>
            <a:r>
              <a:rPr sz="1600" dirty="0">
                <a:solidFill>
                  <a:sysClr val="windowText" lastClr="000000"/>
                </a:solidFill>
                <a:latin typeface="Palatino Linotype" panose="02040502050505030304"/>
                <a:cs typeface="Palatino Linotype" panose="02040502050505030304"/>
              </a:rPr>
              <a:t>Call</a:t>
            </a:r>
            <a:r>
              <a:rPr sz="1600" spc="-30"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stack</a:t>
            </a:r>
            <a:endParaRPr sz="1600">
              <a:solidFill>
                <a:sysClr val="windowText" lastClr="000000"/>
              </a:solidFill>
              <a:latin typeface="Palatino Linotype" panose="02040502050505030304"/>
              <a:cs typeface="Palatino Linotype" panose="02040502050505030304"/>
            </a:endParaRPr>
          </a:p>
        </p:txBody>
      </p:sp>
      <p:sp>
        <p:nvSpPr>
          <p:cNvPr id="44" name="object 14"/>
          <p:cNvSpPr txBox="1"/>
          <p:nvPr/>
        </p:nvSpPr>
        <p:spPr>
          <a:xfrm>
            <a:off x="755395" y="4579810"/>
            <a:ext cx="2557145" cy="685165"/>
          </a:xfrm>
          <a:prstGeom prst="rect">
            <a:avLst/>
          </a:prstGeom>
        </p:spPr>
        <p:txBody>
          <a:bodyPr vert="horz" wrap="square" lIns="0" tIns="67945" rIns="0" bIns="0" rtlCol="0">
            <a:spAutoFit/>
          </a:bodyPr>
          <a:lstStyle/>
          <a:p>
            <a:pPr marL="12700">
              <a:spcBef>
                <a:spcPts val="535"/>
              </a:spcBef>
            </a:pPr>
            <a:r>
              <a:rPr b="1" dirty="0">
                <a:solidFill>
                  <a:srgbClr val="FF0000"/>
                </a:solidFill>
                <a:latin typeface="Palatino Linotype" panose="02040502050505030304"/>
                <a:cs typeface="Palatino Linotype" panose="02040502050505030304"/>
              </a:rPr>
              <a:t>Step </a:t>
            </a:r>
            <a:r>
              <a:rPr b="1" spc="-25" dirty="0">
                <a:solidFill>
                  <a:srgbClr val="FF0000"/>
                </a:solidFill>
                <a:latin typeface="Palatino Linotype" panose="02040502050505030304"/>
                <a:cs typeface="Palatino Linotype" panose="02040502050505030304"/>
              </a:rPr>
              <a:t>5:</a:t>
            </a:r>
            <a:endParaRPr>
              <a:solidFill>
                <a:sysClr val="windowText" lastClr="000000"/>
              </a:solidFill>
              <a:latin typeface="Palatino Linotype" panose="02040502050505030304"/>
              <a:cs typeface="Palatino Linotype" panose="02040502050505030304"/>
            </a:endParaRPr>
          </a:p>
          <a:p>
            <a:pPr marL="299085" indent="-286385">
              <a:spcBef>
                <a:spcPts val="435"/>
              </a:spcBef>
              <a:buFont typeface="Arial MT"/>
              <a:buChar char="•"/>
              <a:tabLst>
                <a:tab pos="299085" algn="l"/>
              </a:tabLst>
            </a:pPr>
            <a:r>
              <a:rPr dirty="0">
                <a:solidFill>
                  <a:sysClr val="windowText" lastClr="000000"/>
                </a:solidFill>
                <a:latin typeface="Palatino Linotype" panose="02040502050505030304"/>
                <a:cs typeface="Palatino Linotype" panose="02040502050505030304"/>
              </a:rPr>
              <a:t>Rewrite</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Cambria Math" panose="02040503050406030204"/>
                <a:cs typeface="Cambria Math" panose="02040503050406030204"/>
              </a:rPr>
              <a:t>𝐶</a:t>
            </a:r>
            <a:r>
              <a:rPr spc="114" dirty="0">
                <a:solidFill>
                  <a:sysClr val="windowText" lastClr="000000"/>
                </a:solidFill>
                <a:latin typeface="Cambria Math" panose="02040503050406030204"/>
                <a:cs typeface="Cambria Math" panose="02040503050406030204"/>
              </a:rPr>
              <a:t> </a:t>
            </a:r>
            <a:r>
              <a:rPr dirty="0">
                <a:solidFill>
                  <a:sysClr val="windowText" lastClr="000000"/>
                </a:solidFill>
                <a:latin typeface="Palatino Linotype" panose="02040502050505030304"/>
                <a:cs typeface="Palatino Linotype" panose="02040502050505030304"/>
              </a:rPr>
              <a:t>using</a:t>
            </a:r>
            <a:r>
              <a:rPr spc="-2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Cambria Math" panose="02040503050406030204"/>
                <a:cs typeface="Cambria Math" panose="02040503050406030204"/>
              </a:rPr>
              <a:t>𝐶</a:t>
            </a:r>
            <a:r>
              <a:rPr spc="160" dirty="0">
                <a:solidFill>
                  <a:sysClr val="windowText" lastClr="000000"/>
                </a:solidFill>
                <a:latin typeface="Cambria Math" panose="02040503050406030204"/>
                <a:cs typeface="Cambria Math" panose="02040503050406030204"/>
              </a:rPr>
              <a:t> </a:t>
            </a:r>
            <a:r>
              <a:rPr dirty="0">
                <a:solidFill>
                  <a:sysClr val="windowText" lastClr="000000"/>
                </a:solidFill>
                <a:latin typeface="Cambria Math" panose="02040503050406030204"/>
                <a:cs typeface="Cambria Math" panose="02040503050406030204"/>
              </a:rPr>
              <a:t>→</a:t>
            </a:r>
            <a:r>
              <a:rPr spc="75" dirty="0">
                <a:solidFill>
                  <a:sysClr val="windowText" lastClr="000000"/>
                </a:solidFill>
                <a:latin typeface="Cambria Math" panose="02040503050406030204"/>
                <a:cs typeface="Cambria Math" panose="02040503050406030204"/>
              </a:rPr>
              <a:t> </a:t>
            </a:r>
            <a:r>
              <a:rPr spc="-50" dirty="0">
                <a:solidFill>
                  <a:sysClr val="windowText" lastClr="000000"/>
                </a:solidFill>
                <a:latin typeface="Cambria Math" panose="02040503050406030204"/>
                <a:cs typeface="Cambria Math" panose="02040503050406030204"/>
              </a:rPr>
              <a:t>𝜖</a:t>
            </a:r>
            <a:endParaRPr>
              <a:solidFill>
                <a:sysClr val="windowText" lastClr="000000"/>
              </a:solidFill>
              <a:latin typeface="Cambria Math" panose="02040503050406030204"/>
              <a:cs typeface="Cambria Math" panose="02040503050406030204"/>
            </a:endParaRPr>
          </a:p>
        </p:txBody>
      </p:sp>
      <p:sp>
        <p:nvSpPr>
          <p:cNvPr id="45" name="object 15"/>
          <p:cNvSpPr txBox="1"/>
          <p:nvPr/>
        </p:nvSpPr>
        <p:spPr>
          <a:xfrm>
            <a:off x="738022" y="3329178"/>
            <a:ext cx="317500" cy="299720"/>
          </a:xfrm>
          <a:prstGeom prst="rect">
            <a:avLst/>
          </a:prstGeom>
        </p:spPr>
        <p:txBody>
          <a:bodyPr vert="horz" wrap="square" lIns="0" tIns="12700" rIns="0" bIns="0" rtlCol="0">
            <a:spAutoFit/>
          </a:bodyPr>
          <a:lstStyle/>
          <a:p>
            <a:pPr marL="12700">
              <a:spcBef>
                <a:spcPts val="100"/>
              </a:spcBef>
            </a:pPr>
            <a:r>
              <a:rPr b="1" spc="-25" dirty="0">
                <a:solidFill>
                  <a:sysClr val="windowText" lastClr="000000"/>
                </a:solidFill>
                <a:latin typeface="Palatino Linotype" panose="02040502050505030304"/>
                <a:cs typeface="Palatino Linotype" panose="02040502050505030304"/>
              </a:rPr>
              <a:t>int</a:t>
            </a:r>
            <a:endParaRPr>
              <a:solidFill>
                <a:sysClr val="windowText" lastClr="000000"/>
              </a:solidFill>
              <a:latin typeface="Palatino Linotype" panose="02040502050505030304"/>
              <a:cs typeface="Palatino Linotype" panose="02040502050505030304"/>
            </a:endParaRPr>
          </a:p>
        </p:txBody>
      </p:sp>
      <p:sp>
        <p:nvSpPr>
          <p:cNvPr id="46" name="object 16"/>
          <p:cNvSpPr/>
          <p:nvPr/>
        </p:nvSpPr>
        <p:spPr>
          <a:xfrm>
            <a:off x="899160" y="3086100"/>
            <a:ext cx="0" cy="224154"/>
          </a:xfrm>
          <a:custGeom>
            <a:avLst/>
            <a:gdLst/>
            <a:ahLst/>
            <a:cxnLst/>
            <a:rect l="l" t="t" r="r" b="b"/>
            <a:pathLst>
              <a:path h="224154">
                <a:moveTo>
                  <a:pt x="0" y="0"/>
                </a:moveTo>
                <a:lnTo>
                  <a:pt x="0" y="22390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7" name="object 17"/>
          <p:cNvSpPr txBox="1"/>
          <p:nvPr/>
        </p:nvSpPr>
        <p:spPr>
          <a:xfrm>
            <a:off x="1744472" y="3329178"/>
            <a:ext cx="292100" cy="299720"/>
          </a:xfrm>
          <a:prstGeom prst="rect">
            <a:avLst/>
          </a:prstGeom>
        </p:spPr>
        <p:txBody>
          <a:bodyPr vert="horz" wrap="square" lIns="0" tIns="12700" rIns="0" bIns="0" rtlCol="0">
            <a:spAutoFit/>
          </a:bodyPr>
          <a:lstStyle/>
          <a:p>
            <a:pPr marL="12700">
              <a:spcBef>
                <a:spcPts val="100"/>
              </a:spcBef>
            </a:pPr>
            <a:r>
              <a:rPr spc="-25" dirty="0">
                <a:solidFill>
                  <a:sysClr val="windowText" lastClr="000000"/>
                </a:solidFill>
                <a:latin typeface="Palatino Linotype" panose="02040502050505030304"/>
                <a:cs typeface="Palatino Linotype" panose="02040502050505030304"/>
              </a:rPr>
              <a:t>[</a:t>
            </a:r>
            <a:r>
              <a:rPr b="1" spc="-25" dirty="0">
                <a:solidFill>
                  <a:sysClr val="windowText" lastClr="000000"/>
                </a:solidFill>
                <a:latin typeface="Palatino Linotype" panose="02040502050505030304"/>
                <a:cs typeface="Palatino Linotype" panose="02040502050505030304"/>
              </a:rPr>
              <a:t>2</a:t>
            </a:r>
            <a:r>
              <a:rPr spc="-25" dirty="0">
                <a:solidFill>
                  <a:sysClr val="windowText" lastClr="000000"/>
                </a:solidFill>
                <a:latin typeface="Palatino Linotype" panose="02040502050505030304"/>
                <a:cs typeface="Palatino Linotype" panose="02040502050505030304"/>
              </a:rPr>
              <a:t>]</a:t>
            </a:r>
            <a:endParaRPr>
              <a:solidFill>
                <a:sysClr val="windowText" lastClr="000000"/>
              </a:solidFill>
              <a:latin typeface="Palatino Linotype" panose="02040502050505030304"/>
              <a:cs typeface="Palatino Linotype" panose="02040502050505030304"/>
            </a:endParaRPr>
          </a:p>
        </p:txBody>
      </p:sp>
      <p:sp>
        <p:nvSpPr>
          <p:cNvPr id="48" name="object 18"/>
          <p:cNvSpPr txBox="1"/>
          <p:nvPr/>
        </p:nvSpPr>
        <p:spPr>
          <a:xfrm>
            <a:off x="3108198" y="3334003"/>
            <a:ext cx="18796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49" name="object 19"/>
          <p:cNvSpPr/>
          <p:nvPr/>
        </p:nvSpPr>
        <p:spPr>
          <a:xfrm>
            <a:off x="1892807" y="3086100"/>
            <a:ext cx="1310640" cy="229235"/>
          </a:xfrm>
          <a:custGeom>
            <a:avLst/>
            <a:gdLst/>
            <a:ahLst/>
            <a:cxnLst/>
            <a:rect l="l" t="t" r="r" b="b"/>
            <a:pathLst>
              <a:path w="1310639" h="229235">
                <a:moveTo>
                  <a:pt x="501777" y="0"/>
                </a:moveTo>
                <a:lnTo>
                  <a:pt x="0" y="223900"/>
                </a:lnTo>
              </a:path>
              <a:path w="1310639" h="229235">
                <a:moveTo>
                  <a:pt x="501396" y="0"/>
                </a:moveTo>
                <a:lnTo>
                  <a:pt x="1310259" y="228853"/>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50" name="object 20"/>
          <p:cNvSpPr txBox="1"/>
          <p:nvPr/>
        </p:nvSpPr>
        <p:spPr>
          <a:xfrm>
            <a:off x="2553461" y="3944873"/>
            <a:ext cx="292100" cy="299720"/>
          </a:xfrm>
          <a:prstGeom prst="rect">
            <a:avLst/>
          </a:prstGeom>
        </p:spPr>
        <p:txBody>
          <a:bodyPr vert="horz" wrap="square" lIns="0" tIns="12700" rIns="0" bIns="0" rtlCol="0">
            <a:spAutoFit/>
          </a:bodyPr>
          <a:lstStyle/>
          <a:p>
            <a:pPr marL="12700">
              <a:spcBef>
                <a:spcPts val="100"/>
              </a:spcBef>
            </a:pPr>
            <a:r>
              <a:rPr spc="-25" dirty="0">
                <a:solidFill>
                  <a:sysClr val="windowText" lastClr="000000"/>
                </a:solidFill>
                <a:latin typeface="Palatino Linotype" panose="02040502050505030304"/>
                <a:cs typeface="Palatino Linotype" panose="02040502050505030304"/>
              </a:rPr>
              <a:t>[</a:t>
            </a:r>
            <a:r>
              <a:rPr b="1" spc="-25" dirty="0">
                <a:solidFill>
                  <a:sysClr val="windowText" lastClr="000000"/>
                </a:solidFill>
                <a:latin typeface="Palatino Linotype" panose="02040502050505030304"/>
                <a:cs typeface="Palatino Linotype" panose="02040502050505030304"/>
              </a:rPr>
              <a:t>3</a:t>
            </a:r>
            <a:r>
              <a:rPr spc="-25" dirty="0">
                <a:solidFill>
                  <a:sysClr val="windowText" lastClr="000000"/>
                </a:solidFill>
                <a:latin typeface="Palatino Linotype" panose="02040502050505030304"/>
                <a:cs typeface="Palatino Linotype" panose="02040502050505030304"/>
              </a:rPr>
              <a:t>]</a:t>
            </a:r>
            <a:endParaRPr>
              <a:solidFill>
                <a:sysClr val="windowText" lastClr="000000"/>
              </a:solidFill>
              <a:latin typeface="Palatino Linotype" panose="02040502050505030304"/>
              <a:cs typeface="Palatino Linotype" panose="02040502050505030304"/>
            </a:endParaRPr>
          </a:p>
        </p:txBody>
      </p:sp>
      <p:sp>
        <p:nvSpPr>
          <p:cNvPr id="51" name="object 21"/>
          <p:cNvSpPr txBox="1"/>
          <p:nvPr/>
        </p:nvSpPr>
        <p:spPr>
          <a:xfrm>
            <a:off x="3917060" y="3949700"/>
            <a:ext cx="18796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52" name="object 22"/>
          <p:cNvSpPr/>
          <p:nvPr/>
        </p:nvSpPr>
        <p:spPr>
          <a:xfrm>
            <a:off x="2700527" y="3685032"/>
            <a:ext cx="1311910" cy="246379"/>
          </a:xfrm>
          <a:custGeom>
            <a:avLst/>
            <a:gdLst/>
            <a:ahLst/>
            <a:cxnLst/>
            <a:rect l="l" t="t" r="r" b="b"/>
            <a:pathLst>
              <a:path w="1311910" h="246379">
                <a:moveTo>
                  <a:pt x="501777" y="0"/>
                </a:moveTo>
                <a:lnTo>
                  <a:pt x="0" y="241300"/>
                </a:lnTo>
              </a:path>
              <a:path w="1311910" h="246379">
                <a:moveTo>
                  <a:pt x="502920" y="0"/>
                </a:moveTo>
                <a:lnTo>
                  <a:pt x="1311783" y="246253"/>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53" name="object 23"/>
          <p:cNvSpPr txBox="1"/>
          <p:nvPr/>
        </p:nvSpPr>
        <p:spPr>
          <a:xfrm>
            <a:off x="1058062" y="2675890"/>
            <a:ext cx="913130" cy="391160"/>
          </a:xfrm>
          <a:prstGeom prst="rect">
            <a:avLst/>
          </a:prstGeom>
        </p:spPr>
        <p:txBody>
          <a:bodyPr vert="horz" wrap="square" lIns="0" tIns="12700" rIns="0" bIns="0" rtlCol="0">
            <a:spAutoFit/>
          </a:bodyPr>
          <a:lstStyle/>
          <a:p>
            <a:pPr marL="12700">
              <a:spcBef>
                <a:spcPts val="100"/>
              </a:spcBef>
            </a:pPr>
            <a:r>
              <a:rPr sz="1200" i="1" dirty="0">
                <a:solidFill>
                  <a:srgbClr val="6F2F9F"/>
                </a:solidFill>
                <a:latin typeface="Palatino Linotype" panose="02040502050505030304"/>
                <a:cs typeface="Palatino Linotype" panose="02040502050505030304"/>
              </a:rPr>
              <a:t>type</a:t>
            </a:r>
            <a:r>
              <a:rPr sz="1200" i="1" spc="-1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spc="-10" dirty="0">
                <a:solidFill>
                  <a:srgbClr val="6F2F9F"/>
                </a:solidFill>
                <a:latin typeface="Palatino Linotype" panose="02040502050505030304"/>
                <a:cs typeface="Palatino Linotype" panose="02040502050505030304"/>
              </a:rPr>
              <a:t>integer</a:t>
            </a:r>
            <a:endParaRPr sz="1200">
              <a:solidFill>
                <a:sysClr val="windowText" lastClr="000000"/>
              </a:solidFill>
              <a:latin typeface="Palatino Linotype" panose="02040502050505030304"/>
              <a:cs typeface="Palatino Linotype" panose="02040502050505030304"/>
            </a:endParaRPr>
          </a:p>
          <a:p>
            <a:pPr marL="12700"/>
            <a:r>
              <a:rPr sz="1200" i="1" dirty="0">
                <a:solidFill>
                  <a:srgbClr val="6F2F9F"/>
                </a:solidFill>
                <a:latin typeface="Palatino Linotype" panose="02040502050505030304"/>
                <a:cs typeface="Palatino Linotype" panose="02040502050505030304"/>
              </a:rPr>
              <a:t>width</a:t>
            </a:r>
            <a:r>
              <a:rPr sz="1200" i="1" spc="-2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15" dirty="0">
                <a:solidFill>
                  <a:srgbClr val="6F2F9F"/>
                </a:solidFill>
                <a:latin typeface="Palatino Linotype" panose="02040502050505030304"/>
                <a:cs typeface="Palatino Linotype" panose="02040502050505030304"/>
              </a:rPr>
              <a:t> </a:t>
            </a:r>
            <a:r>
              <a:rPr sz="1200" spc="-50" dirty="0">
                <a:solidFill>
                  <a:srgbClr val="6F2F9F"/>
                </a:solidFill>
                <a:latin typeface="Palatino Linotype" panose="02040502050505030304"/>
                <a:cs typeface="Palatino Linotype" panose="02040502050505030304"/>
              </a:rPr>
              <a:t>4</a:t>
            </a:r>
            <a:endParaRPr sz="1200">
              <a:solidFill>
                <a:sysClr val="windowText" lastClr="000000"/>
              </a:solidFill>
              <a:latin typeface="Palatino Linotype" panose="02040502050505030304"/>
              <a:cs typeface="Palatino Linotype" panose="02040502050505030304"/>
            </a:endParaRPr>
          </a:p>
        </p:txBody>
      </p:sp>
      <p:sp>
        <p:nvSpPr>
          <p:cNvPr id="54" name="object 24"/>
          <p:cNvSpPr txBox="1"/>
          <p:nvPr/>
        </p:nvSpPr>
        <p:spPr>
          <a:xfrm>
            <a:off x="4224528" y="1491996"/>
            <a:ext cx="1266825" cy="646430"/>
          </a:xfrm>
          <a:prstGeom prst="rect">
            <a:avLst/>
          </a:prstGeom>
          <a:solidFill>
            <a:srgbClr val="FFF1CC"/>
          </a:solidFill>
          <a:ln w="9525">
            <a:solidFill>
              <a:srgbClr val="000000"/>
            </a:solidFill>
          </a:ln>
        </p:spPr>
        <p:txBody>
          <a:bodyPr vert="horz" wrap="square" lIns="0" tIns="31115" rIns="0" bIns="0" rtlCol="0">
            <a:spAutoFit/>
          </a:bodyPr>
          <a:lstStyle/>
          <a:p>
            <a:pPr marL="92075">
              <a:spcBef>
                <a:spcPts val="245"/>
              </a:spcBef>
            </a:pPr>
            <a:r>
              <a:rPr i="1" dirty="0">
                <a:solidFill>
                  <a:sysClr val="windowText" lastClr="000000"/>
                </a:solidFill>
                <a:latin typeface="Palatino Linotype" panose="02040502050505030304"/>
                <a:cs typeface="Palatino Linotype" panose="02040502050505030304"/>
              </a:rPr>
              <a:t>t</a:t>
            </a:r>
            <a:r>
              <a:rPr i="1" spc="-1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t>
            </a:r>
            <a:r>
              <a:rPr spc="-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integer</a:t>
            </a:r>
            <a:endParaRPr>
              <a:solidFill>
                <a:sysClr val="windowText" lastClr="000000"/>
              </a:solidFill>
              <a:latin typeface="Palatino Linotype" panose="02040502050505030304"/>
              <a:cs typeface="Palatino Linotype" panose="02040502050505030304"/>
            </a:endParaRPr>
          </a:p>
          <a:p>
            <a:pPr marL="92075"/>
            <a:r>
              <a:rPr i="1" dirty="0">
                <a:solidFill>
                  <a:sysClr val="windowText" lastClr="000000"/>
                </a:solidFill>
                <a:latin typeface="Palatino Linotype" panose="02040502050505030304"/>
                <a:cs typeface="Palatino Linotype" panose="02040502050505030304"/>
              </a:rPr>
              <a:t>w</a:t>
            </a:r>
            <a:r>
              <a:rPr i="1" spc="-2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t>
            </a:r>
            <a:r>
              <a:rPr spc="-25" dirty="0">
                <a:solidFill>
                  <a:sysClr val="windowText" lastClr="000000"/>
                </a:solidFill>
                <a:latin typeface="Palatino Linotype" panose="02040502050505030304"/>
                <a:cs typeface="Palatino Linotype" panose="02040502050505030304"/>
              </a:rPr>
              <a:t> </a:t>
            </a:r>
            <a:r>
              <a:rPr spc="-50" dirty="0">
                <a:solidFill>
                  <a:sysClr val="windowText" lastClr="000000"/>
                </a:solidFill>
                <a:latin typeface="Palatino Linotype" panose="02040502050505030304"/>
                <a:cs typeface="Palatino Linotype" panose="02040502050505030304"/>
              </a:rPr>
              <a:t>4</a:t>
            </a:r>
            <a:endParaRPr>
              <a:solidFill>
                <a:sysClr val="windowText" lastClr="000000"/>
              </a:solidFill>
              <a:latin typeface="Palatino Linotype" panose="02040502050505030304"/>
              <a:cs typeface="Palatino Linotype" panose="02040502050505030304"/>
            </a:endParaRPr>
          </a:p>
        </p:txBody>
      </p:sp>
      <p:sp>
        <p:nvSpPr>
          <p:cNvPr id="55" name="object 25"/>
          <p:cNvSpPr txBox="1"/>
          <p:nvPr/>
        </p:nvSpPr>
        <p:spPr>
          <a:xfrm>
            <a:off x="3943350" y="4566284"/>
            <a:ext cx="13208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𝜖</a:t>
            </a:r>
            <a:endParaRPr>
              <a:solidFill>
                <a:sysClr val="windowText" lastClr="000000"/>
              </a:solidFill>
              <a:latin typeface="Cambria Math" panose="02040503050406030204"/>
              <a:cs typeface="Cambria Math" panose="02040503050406030204"/>
            </a:endParaRPr>
          </a:p>
        </p:txBody>
      </p:sp>
      <p:grpSp>
        <p:nvGrpSpPr>
          <p:cNvPr id="56" name="object 26"/>
          <p:cNvGrpSpPr/>
          <p:nvPr/>
        </p:nvGrpSpPr>
        <p:grpSpPr>
          <a:xfrm>
            <a:off x="2505201" y="2852673"/>
            <a:ext cx="4575810" cy="1873250"/>
            <a:chOff x="2505201" y="2852673"/>
            <a:chExt cx="4575810" cy="1873250"/>
          </a:xfrm>
        </p:grpSpPr>
        <p:sp>
          <p:nvSpPr>
            <p:cNvPr id="57" name="object 27"/>
            <p:cNvSpPr/>
            <p:nvPr/>
          </p:nvSpPr>
          <p:spPr>
            <a:xfrm>
              <a:off x="4011167" y="4300727"/>
              <a:ext cx="0" cy="245745"/>
            </a:xfrm>
            <a:custGeom>
              <a:avLst/>
              <a:gdLst/>
              <a:ahLst/>
              <a:cxnLst/>
              <a:rect l="l" t="t" r="r" b="b"/>
              <a:pathLst>
                <a:path h="245745">
                  <a:moveTo>
                    <a:pt x="0" y="0"/>
                  </a:moveTo>
                  <a:lnTo>
                    <a:pt x="0" y="245364"/>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58" name="object 28"/>
            <p:cNvSpPr/>
            <p:nvPr/>
          </p:nvSpPr>
          <p:spPr>
            <a:xfrm>
              <a:off x="2511551" y="2859023"/>
              <a:ext cx="4563110" cy="1860550"/>
            </a:xfrm>
            <a:custGeom>
              <a:avLst/>
              <a:gdLst/>
              <a:ahLst/>
              <a:cxnLst/>
              <a:rect l="l" t="t" r="r" b="b"/>
              <a:pathLst>
                <a:path w="4563109" h="1860550">
                  <a:moveTo>
                    <a:pt x="1632203" y="1219200"/>
                  </a:moveTo>
                  <a:lnTo>
                    <a:pt x="1691519" y="1217150"/>
                  </a:lnTo>
                  <a:lnTo>
                    <a:pt x="1750795" y="1215098"/>
                  </a:lnTo>
                  <a:lnTo>
                    <a:pt x="1809989" y="1213043"/>
                  </a:lnTo>
                  <a:lnTo>
                    <a:pt x="1869062" y="1210982"/>
                  </a:lnTo>
                  <a:lnTo>
                    <a:pt x="1927972" y="1208915"/>
                  </a:lnTo>
                  <a:lnTo>
                    <a:pt x="1986679" y="1206840"/>
                  </a:lnTo>
                  <a:lnTo>
                    <a:pt x="2045143" y="1204755"/>
                  </a:lnTo>
                  <a:lnTo>
                    <a:pt x="2103323" y="1202659"/>
                  </a:lnTo>
                  <a:lnTo>
                    <a:pt x="2161179" y="1200550"/>
                  </a:lnTo>
                  <a:lnTo>
                    <a:pt x="2218669" y="1198427"/>
                  </a:lnTo>
                  <a:lnTo>
                    <a:pt x="2275753" y="1196288"/>
                  </a:lnTo>
                  <a:lnTo>
                    <a:pt x="2332391" y="1194132"/>
                  </a:lnTo>
                  <a:lnTo>
                    <a:pt x="2388543" y="1191957"/>
                  </a:lnTo>
                  <a:lnTo>
                    <a:pt x="2444167" y="1189762"/>
                  </a:lnTo>
                  <a:lnTo>
                    <a:pt x="2499222" y="1187545"/>
                  </a:lnTo>
                  <a:lnTo>
                    <a:pt x="2553670" y="1185304"/>
                  </a:lnTo>
                  <a:lnTo>
                    <a:pt x="2607468" y="1183039"/>
                  </a:lnTo>
                  <a:lnTo>
                    <a:pt x="2660576" y="1180748"/>
                  </a:lnTo>
                  <a:lnTo>
                    <a:pt x="2712954" y="1178428"/>
                  </a:lnTo>
                  <a:lnTo>
                    <a:pt x="2764562" y="1176079"/>
                  </a:lnTo>
                  <a:lnTo>
                    <a:pt x="2815357" y="1173699"/>
                  </a:lnTo>
                  <a:lnTo>
                    <a:pt x="2865301" y="1171287"/>
                  </a:lnTo>
                  <a:lnTo>
                    <a:pt x="2914352" y="1168840"/>
                  </a:lnTo>
                  <a:lnTo>
                    <a:pt x="2962470" y="1166359"/>
                  </a:lnTo>
                  <a:lnTo>
                    <a:pt x="3009614" y="1163840"/>
                  </a:lnTo>
                  <a:lnTo>
                    <a:pt x="3055744" y="1161282"/>
                  </a:lnTo>
                  <a:lnTo>
                    <a:pt x="3100819" y="1158685"/>
                  </a:lnTo>
                  <a:lnTo>
                    <a:pt x="3144799" y="1156046"/>
                  </a:lnTo>
                  <a:lnTo>
                    <a:pt x="3187643" y="1153364"/>
                  </a:lnTo>
                  <a:lnTo>
                    <a:pt x="3229310" y="1150637"/>
                  </a:lnTo>
                  <a:lnTo>
                    <a:pt x="3269759" y="1147864"/>
                  </a:lnTo>
                  <a:lnTo>
                    <a:pt x="3308951" y="1145043"/>
                  </a:lnTo>
                  <a:lnTo>
                    <a:pt x="3383400" y="1139253"/>
                  </a:lnTo>
                  <a:lnTo>
                    <a:pt x="3452331" y="1133254"/>
                  </a:lnTo>
                  <a:lnTo>
                    <a:pt x="3560970" y="1121386"/>
                  </a:lnTo>
                  <a:lnTo>
                    <a:pt x="3624370" y="1111599"/>
                  </a:lnTo>
                  <a:lnTo>
                    <a:pt x="3676450" y="1101010"/>
                  </a:lnTo>
                  <a:lnTo>
                    <a:pt x="3718832" y="1089820"/>
                  </a:lnTo>
                  <a:lnTo>
                    <a:pt x="3780999" y="1066434"/>
                  </a:lnTo>
                  <a:lnTo>
                    <a:pt x="3823858" y="1043042"/>
                  </a:lnTo>
                  <a:lnTo>
                    <a:pt x="3842106" y="1031844"/>
                  </a:lnTo>
                  <a:lnTo>
                    <a:pt x="3860397" y="1021243"/>
                  </a:lnTo>
                  <a:lnTo>
                    <a:pt x="3903603" y="1002636"/>
                  </a:lnTo>
                  <a:lnTo>
                    <a:pt x="3966464" y="988821"/>
                  </a:lnTo>
                  <a:lnTo>
                    <a:pt x="4135463" y="976399"/>
                  </a:lnTo>
                  <a:lnTo>
                    <a:pt x="4332049" y="973835"/>
                  </a:lnTo>
                  <a:lnTo>
                    <a:pt x="4494940" y="976034"/>
                  </a:lnTo>
                  <a:lnTo>
                    <a:pt x="4562856" y="977900"/>
                  </a:lnTo>
                </a:path>
                <a:path w="4563109" h="1860550">
                  <a:moveTo>
                    <a:pt x="0" y="0"/>
                  </a:moveTo>
                  <a:lnTo>
                    <a:pt x="58645" y="9926"/>
                  </a:lnTo>
                  <a:lnTo>
                    <a:pt x="117273" y="19855"/>
                  </a:lnTo>
                  <a:lnTo>
                    <a:pt x="175869" y="29791"/>
                  </a:lnTo>
                  <a:lnTo>
                    <a:pt x="234416" y="39737"/>
                  </a:lnTo>
                  <a:lnTo>
                    <a:pt x="292898" y="49694"/>
                  </a:lnTo>
                  <a:lnTo>
                    <a:pt x="351298" y="59667"/>
                  </a:lnTo>
                  <a:lnTo>
                    <a:pt x="409600" y="69659"/>
                  </a:lnTo>
                  <a:lnTo>
                    <a:pt x="467788" y="79672"/>
                  </a:lnTo>
                  <a:lnTo>
                    <a:pt x="525845" y="89710"/>
                  </a:lnTo>
                  <a:lnTo>
                    <a:pt x="583755" y="99775"/>
                  </a:lnTo>
                  <a:lnTo>
                    <a:pt x="641502" y="109871"/>
                  </a:lnTo>
                  <a:lnTo>
                    <a:pt x="699070" y="120000"/>
                  </a:lnTo>
                  <a:lnTo>
                    <a:pt x="756441" y="130167"/>
                  </a:lnTo>
                  <a:lnTo>
                    <a:pt x="813600" y="140373"/>
                  </a:lnTo>
                  <a:lnTo>
                    <a:pt x="870530" y="150622"/>
                  </a:lnTo>
                  <a:lnTo>
                    <a:pt x="927216" y="160917"/>
                  </a:lnTo>
                  <a:lnTo>
                    <a:pt x="983640" y="171260"/>
                  </a:lnTo>
                  <a:lnTo>
                    <a:pt x="1039787" y="181656"/>
                  </a:lnTo>
                  <a:lnTo>
                    <a:pt x="1095640" y="192107"/>
                  </a:lnTo>
                  <a:lnTo>
                    <a:pt x="1151182" y="202615"/>
                  </a:lnTo>
                  <a:lnTo>
                    <a:pt x="1206398" y="213185"/>
                  </a:lnTo>
                  <a:lnTo>
                    <a:pt x="1261271" y="223819"/>
                  </a:lnTo>
                  <a:lnTo>
                    <a:pt x="1315785" y="234520"/>
                  </a:lnTo>
                  <a:lnTo>
                    <a:pt x="1369924" y="245291"/>
                  </a:lnTo>
                  <a:lnTo>
                    <a:pt x="1423670" y="256136"/>
                  </a:lnTo>
                  <a:lnTo>
                    <a:pt x="1477008" y="267056"/>
                  </a:lnTo>
                  <a:lnTo>
                    <a:pt x="1529922" y="278057"/>
                  </a:lnTo>
                  <a:lnTo>
                    <a:pt x="1582395" y="289139"/>
                  </a:lnTo>
                  <a:lnTo>
                    <a:pt x="1634410" y="300307"/>
                  </a:lnTo>
                  <a:lnTo>
                    <a:pt x="1685952" y="311563"/>
                  </a:lnTo>
                  <a:lnTo>
                    <a:pt x="1737004" y="322911"/>
                  </a:lnTo>
                  <a:lnTo>
                    <a:pt x="1787550" y="334353"/>
                  </a:lnTo>
                  <a:lnTo>
                    <a:pt x="1837574" y="345893"/>
                  </a:lnTo>
                  <a:lnTo>
                    <a:pt x="1887058" y="357534"/>
                  </a:lnTo>
                  <a:lnTo>
                    <a:pt x="1935988" y="369278"/>
                  </a:lnTo>
                  <a:lnTo>
                    <a:pt x="1984346" y="381129"/>
                  </a:lnTo>
                  <a:lnTo>
                    <a:pt x="2032116" y="393090"/>
                  </a:lnTo>
                  <a:lnTo>
                    <a:pt x="2079282" y="405163"/>
                  </a:lnTo>
                  <a:lnTo>
                    <a:pt x="2125827" y="417352"/>
                  </a:lnTo>
                  <a:lnTo>
                    <a:pt x="2171736" y="429661"/>
                  </a:lnTo>
                  <a:lnTo>
                    <a:pt x="2216991" y="442091"/>
                  </a:lnTo>
                  <a:lnTo>
                    <a:pt x="2261577" y="454646"/>
                  </a:lnTo>
                  <a:lnTo>
                    <a:pt x="2305478" y="467329"/>
                  </a:lnTo>
                  <a:lnTo>
                    <a:pt x="2348676" y="480143"/>
                  </a:lnTo>
                  <a:lnTo>
                    <a:pt x="2391155" y="493091"/>
                  </a:lnTo>
                  <a:lnTo>
                    <a:pt x="2432900" y="506177"/>
                  </a:lnTo>
                  <a:lnTo>
                    <a:pt x="2473894" y="519402"/>
                  </a:lnTo>
                  <a:lnTo>
                    <a:pt x="2514120" y="532771"/>
                  </a:lnTo>
                  <a:lnTo>
                    <a:pt x="2553562" y="546286"/>
                  </a:lnTo>
                  <a:lnTo>
                    <a:pt x="2592205" y="559950"/>
                  </a:lnTo>
                  <a:lnTo>
                    <a:pt x="2630031" y="573767"/>
                  </a:lnTo>
                  <a:lnTo>
                    <a:pt x="2667024" y="587739"/>
                  </a:lnTo>
                  <a:lnTo>
                    <a:pt x="2703168" y="601869"/>
                  </a:lnTo>
                  <a:lnTo>
                    <a:pt x="2772844" y="630618"/>
                  </a:lnTo>
                  <a:lnTo>
                    <a:pt x="2838927" y="660036"/>
                  </a:lnTo>
                  <a:lnTo>
                    <a:pt x="2924974" y="703154"/>
                  </a:lnTo>
                  <a:lnTo>
                    <a:pt x="2975257" y="732917"/>
                  </a:lnTo>
                  <a:lnTo>
                    <a:pt x="3021640" y="764166"/>
                  </a:lnTo>
                  <a:lnTo>
                    <a:pt x="3064334" y="796774"/>
                  </a:lnTo>
                  <a:lnTo>
                    <a:pt x="3103549" y="830615"/>
                  </a:lnTo>
                  <a:lnTo>
                    <a:pt x="3139497" y="865562"/>
                  </a:lnTo>
                  <a:lnTo>
                    <a:pt x="3172387" y="901488"/>
                  </a:lnTo>
                  <a:lnTo>
                    <a:pt x="3202432" y="938266"/>
                  </a:lnTo>
                  <a:lnTo>
                    <a:pt x="3229840" y="975769"/>
                  </a:lnTo>
                  <a:lnTo>
                    <a:pt x="3254823" y="1013870"/>
                  </a:lnTo>
                  <a:lnTo>
                    <a:pt x="3277592" y="1052444"/>
                  </a:lnTo>
                  <a:lnTo>
                    <a:pt x="3298357" y="1091362"/>
                  </a:lnTo>
                  <a:lnTo>
                    <a:pt x="3317329" y="1130499"/>
                  </a:lnTo>
                  <a:lnTo>
                    <a:pt x="3334719" y="1169727"/>
                  </a:lnTo>
                  <a:lnTo>
                    <a:pt x="3350737" y="1208919"/>
                  </a:lnTo>
                  <a:lnTo>
                    <a:pt x="3365595" y="1247949"/>
                  </a:lnTo>
                  <a:lnTo>
                    <a:pt x="3379502" y="1286690"/>
                  </a:lnTo>
                  <a:lnTo>
                    <a:pt x="3392669" y="1325015"/>
                  </a:lnTo>
                  <a:lnTo>
                    <a:pt x="3405308" y="1362797"/>
                  </a:lnTo>
                  <a:lnTo>
                    <a:pt x="3417628" y="1399910"/>
                  </a:lnTo>
                  <a:lnTo>
                    <a:pt x="3429841" y="1436227"/>
                  </a:lnTo>
                  <a:lnTo>
                    <a:pt x="3454787" y="1505964"/>
                  </a:lnTo>
                  <a:lnTo>
                    <a:pt x="3481830" y="1570994"/>
                  </a:lnTo>
                  <a:lnTo>
                    <a:pt x="3512658" y="1630302"/>
                  </a:lnTo>
                  <a:lnTo>
                    <a:pt x="3548954" y="1682875"/>
                  </a:lnTo>
                  <a:lnTo>
                    <a:pt x="3592405" y="1727697"/>
                  </a:lnTo>
                  <a:lnTo>
                    <a:pt x="3879240" y="1841013"/>
                  </a:lnTo>
                  <a:lnTo>
                    <a:pt x="4183872" y="1860502"/>
                  </a:lnTo>
                  <a:lnTo>
                    <a:pt x="4436282" y="1843914"/>
                  </a:lnTo>
                  <a:lnTo>
                    <a:pt x="4541520" y="1829815"/>
                  </a:lnTo>
                </a:path>
                <a:path w="4563109" h="1860550">
                  <a:moveTo>
                    <a:pt x="787908" y="618743"/>
                  </a:moveTo>
                  <a:lnTo>
                    <a:pt x="847283" y="623778"/>
                  </a:lnTo>
                  <a:lnTo>
                    <a:pt x="906632" y="628815"/>
                  </a:lnTo>
                  <a:lnTo>
                    <a:pt x="965932" y="633858"/>
                  </a:lnTo>
                  <a:lnTo>
                    <a:pt x="1025156" y="638907"/>
                  </a:lnTo>
                  <a:lnTo>
                    <a:pt x="1084279" y="643967"/>
                  </a:lnTo>
                  <a:lnTo>
                    <a:pt x="1143277" y="649038"/>
                  </a:lnTo>
                  <a:lnTo>
                    <a:pt x="1202123" y="654124"/>
                  </a:lnTo>
                  <a:lnTo>
                    <a:pt x="1260793" y="659227"/>
                  </a:lnTo>
                  <a:lnTo>
                    <a:pt x="1319262" y="664349"/>
                  </a:lnTo>
                  <a:lnTo>
                    <a:pt x="1377504" y="669492"/>
                  </a:lnTo>
                  <a:lnTo>
                    <a:pt x="1435495" y="674658"/>
                  </a:lnTo>
                  <a:lnTo>
                    <a:pt x="1493208" y="679851"/>
                  </a:lnTo>
                  <a:lnTo>
                    <a:pt x="1550620" y="685073"/>
                  </a:lnTo>
                  <a:lnTo>
                    <a:pt x="1607704" y="690325"/>
                  </a:lnTo>
                  <a:lnTo>
                    <a:pt x="1664436" y="695610"/>
                  </a:lnTo>
                  <a:lnTo>
                    <a:pt x="1720790" y="700931"/>
                  </a:lnTo>
                  <a:lnTo>
                    <a:pt x="1776741" y="706290"/>
                  </a:lnTo>
                  <a:lnTo>
                    <a:pt x="1832265" y="711688"/>
                  </a:lnTo>
                  <a:lnTo>
                    <a:pt x="1887335" y="717129"/>
                  </a:lnTo>
                  <a:lnTo>
                    <a:pt x="1941927" y="722615"/>
                  </a:lnTo>
                  <a:lnTo>
                    <a:pt x="1996015" y="728149"/>
                  </a:lnTo>
                  <a:lnTo>
                    <a:pt x="2049575" y="733731"/>
                  </a:lnTo>
                  <a:lnTo>
                    <a:pt x="2102581" y="739366"/>
                  </a:lnTo>
                  <a:lnTo>
                    <a:pt x="2155008" y="745055"/>
                  </a:lnTo>
                  <a:lnTo>
                    <a:pt x="2206831" y="750800"/>
                  </a:lnTo>
                  <a:lnTo>
                    <a:pt x="2258025" y="756604"/>
                  </a:lnTo>
                  <a:lnTo>
                    <a:pt x="2308563" y="762470"/>
                  </a:lnTo>
                  <a:lnTo>
                    <a:pt x="2358423" y="768398"/>
                  </a:lnTo>
                  <a:lnTo>
                    <a:pt x="2407577" y="774393"/>
                  </a:lnTo>
                  <a:lnTo>
                    <a:pt x="2456001" y="780456"/>
                  </a:lnTo>
                  <a:lnTo>
                    <a:pt x="2503670" y="786590"/>
                  </a:lnTo>
                  <a:lnTo>
                    <a:pt x="2550559" y="792797"/>
                  </a:lnTo>
                  <a:lnTo>
                    <a:pt x="2596642" y="799078"/>
                  </a:lnTo>
                  <a:lnTo>
                    <a:pt x="2641894" y="805438"/>
                  </a:lnTo>
                  <a:lnTo>
                    <a:pt x="2686291" y="811877"/>
                  </a:lnTo>
                  <a:lnTo>
                    <a:pt x="2729806" y="818399"/>
                  </a:lnTo>
                  <a:lnTo>
                    <a:pt x="2772415" y="825005"/>
                  </a:lnTo>
                  <a:lnTo>
                    <a:pt x="2814093" y="831699"/>
                  </a:lnTo>
                  <a:lnTo>
                    <a:pt x="2854814" y="838481"/>
                  </a:lnTo>
                  <a:lnTo>
                    <a:pt x="2894553" y="845356"/>
                  </a:lnTo>
                  <a:lnTo>
                    <a:pt x="2933285" y="852324"/>
                  </a:lnTo>
                  <a:lnTo>
                    <a:pt x="2970985" y="859388"/>
                  </a:lnTo>
                  <a:lnTo>
                    <a:pt x="3043188" y="873816"/>
                  </a:lnTo>
                  <a:lnTo>
                    <a:pt x="3110961" y="888657"/>
                  </a:lnTo>
                  <a:lnTo>
                    <a:pt x="3212902" y="915082"/>
                  </a:lnTo>
                  <a:lnTo>
                    <a:pt x="3274311" y="935543"/>
                  </a:lnTo>
                  <a:lnTo>
                    <a:pt x="3328060" y="957408"/>
                  </a:lnTo>
                  <a:lnTo>
                    <a:pt x="3374856" y="980463"/>
                  </a:lnTo>
                  <a:lnTo>
                    <a:pt x="3415407" y="1004494"/>
                  </a:lnTo>
                  <a:lnTo>
                    <a:pt x="3450420" y="1029288"/>
                  </a:lnTo>
                  <a:lnTo>
                    <a:pt x="3480605" y="1054632"/>
                  </a:lnTo>
                  <a:lnTo>
                    <a:pt x="3529321" y="1106113"/>
                  </a:lnTo>
                  <a:lnTo>
                    <a:pt x="3567219" y="1157229"/>
                  </a:lnTo>
                  <a:lnTo>
                    <a:pt x="3599964" y="1206272"/>
                  </a:lnTo>
                  <a:lnTo>
                    <a:pt x="3616174" y="1229482"/>
                  </a:lnTo>
                  <a:lnTo>
                    <a:pt x="3651809" y="1272211"/>
                  </a:lnTo>
                  <a:lnTo>
                    <a:pt x="3696453" y="1308596"/>
                  </a:lnTo>
                  <a:lnTo>
                    <a:pt x="3755771" y="1336928"/>
                  </a:lnTo>
                  <a:lnTo>
                    <a:pt x="3970645" y="1375626"/>
                  </a:lnTo>
                  <a:lnTo>
                    <a:pt x="4220606" y="1383617"/>
                  </a:lnTo>
                  <a:lnTo>
                    <a:pt x="4427729" y="1376773"/>
                  </a:lnTo>
                  <a:lnTo>
                    <a:pt x="4514088" y="1370964"/>
                  </a:lnTo>
                </a:path>
              </a:pathLst>
            </a:custGeom>
            <a:ln w="12700">
              <a:solidFill>
                <a:srgbClr val="FF0000"/>
              </a:solidFill>
              <a:prstDash val="sys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44</a:t>
            </a:fld>
            <a:endParaRPr lang="en-US"/>
          </a:p>
        </p:txBody>
      </p:sp>
      <p:sp>
        <p:nvSpPr>
          <p:cNvPr id="32"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30" normalizeH="0" baseline="0" noProof="0">
                <a:ln>
                  <a:noFill/>
                </a:ln>
                <a:solidFill>
                  <a:srgbClr val="000000"/>
                </a:solidFill>
                <a:effectLst/>
                <a:uLnTx/>
                <a:uFillTx/>
                <a:latin typeface="Palatino Linotype" panose="02040502050505030304"/>
                <a:ea typeface="+mj-ea"/>
              </a:rPr>
              <a:t>Translation</a:t>
            </a:r>
            <a:r>
              <a:rPr kumimoji="0" lang="en-US" sz="4000" b="1" i="0" u="none" strike="noStrike" kern="0" cap="none" spc="-13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Process</a:t>
            </a:r>
            <a:r>
              <a:rPr kumimoji="0" lang="en-US" sz="4000" b="1" i="0" u="none" strike="noStrike" kern="0" cap="none" spc="-14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Example</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33" name="object 3"/>
          <p:cNvSpPr txBox="1"/>
          <p:nvPr/>
        </p:nvSpPr>
        <p:spPr>
          <a:xfrm>
            <a:off x="1581658" y="2109978"/>
            <a:ext cx="16573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T</a:t>
            </a:r>
            <a:endParaRPr>
              <a:solidFill>
                <a:sysClr val="windowText" lastClr="000000"/>
              </a:solidFill>
              <a:latin typeface="Palatino Linotype" panose="02040502050505030304"/>
              <a:cs typeface="Palatino Linotype" panose="02040502050505030304"/>
            </a:endParaRPr>
          </a:p>
        </p:txBody>
      </p:sp>
      <p:sp>
        <p:nvSpPr>
          <p:cNvPr id="34" name="object 4"/>
          <p:cNvSpPr txBox="1"/>
          <p:nvPr/>
        </p:nvSpPr>
        <p:spPr>
          <a:xfrm>
            <a:off x="814832" y="2735707"/>
            <a:ext cx="16510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B</a:t>
            </a:r>
            <a:endParaRPr>
              <a:solidFill>
                <a:sysClr val="windowText" lastClr="000000"/>
              </a:solidFill>
              <a:latin typeface="Palatino Linotype" panose="02040502050505030304"/>
              <a:cs typeface="Palatino Linotype" panose="02040502050505030304"/>
            </a:endParaRPr>
          </a:p>
        </p:txBody>
      </p:sp>
      <p:sp>
        <p:nvSpPr>
          <p:cNvPr id="35" name="object 5"/>
          <p:cNvSpPr txBox="1"/>
          <p:nvPr/>
        </p:nvSpPr>
        <p:spPr>
          <a:xfrm>
            <a:off x="2299207" y="2735707"/>
            <a:ext cx="18796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36" name="object 6"/>
          <p:cNvSpPr/>
          <p:nvPr/>
        </p:nvSpPr>
        <p:spPr>
          <a:xfrm>
            <a:off x="899160" y="2461260"/>
            <a:ext cx="1495425" cy="256540"/>
          </a:xfrm>
          <a:custGeom>
            <a:avLst/>
            <a:gdLst/>
            <a:ahLst/>
            <a:cxnLst/>
            <a:rect l="l" t="t" r="r" b="b"/>
            <a:pathLst>
              <a:path w="1495425" h="256539">
                <a:moveTo>
                  <a:pt x="766572" y="0"/>
                </a:moveTo>
                <a:lnTo>
                  <a:pt x="0" y="256412"/>
                </a:lnTo>
              </a:path>
              <a:path w="1495425" h="256539">
                <a:moveTo>
                  <a:pt x="766572" y="0"/>
                </a:moveTo>
                <a:lnTo>
                  <a:pt x="1495425" y="256412"/>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37" name="object 7"/>
          <p:cNvSpPr txBox="1"/>
          <p:nvPr/>
        </p:nvSpPr>
        <p:spPr>
          <a:xfrm>
            <a:off x="814832" y="1343659"/>
            <a:ext cx="2540635" cy="299720"/>
          </a:xfrm>
          <a:prstGeom prst="rect">
            <a:avLst/>
          </a:prstGeom>
        </p:spPr>
        <p:txBody>
          <a:bodyPr vert="horz" wrap="square" lIns="0" tIns="12700" rIns="0" bIns="0" rtlCol="0">
            <a:spAutoFit/>
          </a:bodyPr>
          <a:lstStyle/>
          <a:p>
            <a:pPr marL="12700">
              <a:spcBef>
                <a:spcPts val="100"/>
              </a:spcBef>
            </a:pPr>
            <a:r>
              <a:rPr dirty="0">
                <a:solidFill>
                  <a:sysClr val="windowText" lastClr="000000"/>
                </a:solidFill>
                <a:latin typeface="Palatino Linotype" panose="02040502050505030304"/>
                <a:cs typeface="Palatino Linotype" panose="02040502050505030304"/>
              </a:rPr>
              <a:t>Input</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string:</a:t>
            </a:r>
            <a:r>
              <a:rPr spc="465" dirty="0">
                <a:solidFill>
                  <a:sysClr val="windowText" lastClr="000000"/>
                </a:solidFill>
                <a:latin typeface="Palatino Linotype" panose="02040502050505030304"/>
                <a:cs typeface="Palatino Linotype" panose="02040502050505030304"/>
              </a:rPr>
              <a:t> </a:t>
            </a:r>
            <a:r>
              <a:rPr spc="-10" dirty="0">
                <a:solidFill>
                  <a:srgbClr val="A6A6A6"/>
                </a:solidFill>
                <a:latin typeface="Consolas" panose="020B0609020204030204"/>
                <a:cs typeface="Consolas" panose="020B0609020204030204"/>
              </a:rPr>
              <a:t>int[2][3]</a:t>
            </a:r>
            <a:endParaRPr>
              <a:solidFill>
                <a:sysClr val="windowText" lastClr="000000"/>
              </a:solidFill>
              <a:latin typeface="Consolas" panose="020B0609020204030204"/>
              <a:cs typeface="Consolas" panose="020B0609020204030204"/>
            </a:endParaRPr>
          </a:p>
        </p:txBody>
      </p:sp>
      <p:sp>
        <p:nvSpPr>
          <p:cNvPr id="38" name="object 8"/>
          <p:cNvSpPr txBox="1"/>
          <p:nvPr/>
        </p:nvSpPr>
        <p:spPr>
          <a:xfrm>
            <a:off x="6819138" y="5393842"/>
            <a:ext cx="895350" cy="269240"/>
          </a:xfrm>
          <a:prstGeom prst="rect">
            <a:avLst/>
          </a:prstGeom>
        </p:spPr>
        <p:txBody>
          <a:bodyPr vert="horz" wrap="square" lIns="0" tIns="12065" rIns="0" bIns="0" rtlCol="0">
            <a:spAutoFit/>
          </a:bodyPr>
          <a:lstStyle/>
          <a:p>
            <a:pPr marL="12700">
              <a:spcBef>
                <a:spcPts val="95"/>
              </a:spcBef>
            </a:pPr>
            <a:r>
              <a:rPr sz="1600" dirty="0">
                <a:solidFill>
                  <a:sysClr val="windowText" lastClr="000000"/>
                </a:solidFill>
                <a:latin typeface="Palatino Linotype" panose="02040502050505030304"/>
                <a:cs typeface="Palatino Linotype" panose="02040502050505030304"/>
              </a:rPr>
              <a:t>Call</a:t>
            </a:r>
            <a:r>
              <a:rPr sz="1600" spc="-30"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stack</a:t>
            </a:r>
            <a:endParaRPr sz="1600">
              <a:solidFill>
                <a:sysClr val="windowText" lastClr="000000"/>
              </a:solidFill>
              <a:latin typeface="Palatino Linotype" panose="02040502050505030304"/>
              <a:cs typeface="Palatino Linotype" panose="02040502050505030304"/>
            </a:endParaRPr>
          </a:p>
        </p:txBody>
      </p:sp>
      <p:sp>
        <p:nvSpPr>
          <p:cNvPr id="39" name="object 9"/>
          <p:cNvSpPr txBox="1"/>
          <p:nvPr/>
        </p:nvSpPr>
        <p:spPr>
          <a:xfrm>
            <a:off x="755395" y="4634941"/>
            <a:ext cx="725170" cy="300355"/>
          </a:xfrm>
          <a:prstGeom prst="rect">
            <a:avLst/>
          </a:prstGeom>
        </p:spPr>
        <p:txBody>
          <a:bodyPr vert="horz" wrap="square" lIns="0" tIns="12700" rIns="0" bIns="0" rtlCol="0">
            <a:spAutoFit/>
          </a:bodyPr>
          <a:lstStyle/>
          <a:p>
            <a:pPr marL="12700">
              <a:spcBef>
                <a:spcPts val="100"/>
              </a:spcBef>
            </a:pPr>
            <a:r>
              <a:rPr b="1" dirty="0">
                <a:solidFill>
                  <a:srgbClr val="FF0000"/>
                </a:solidFill>
                <a:latin typeface="Palatino Linotype" panose="02040502050505030304"/>
                <a:cs typeface="Palatino Linotype" panose="02040502050505030304"/>
              </a:rPr>
              <a:t>Step </a:t>
            </a:r>
            <a:r>
              <a:rPr b="1" spc="-25" dirty="0">
                <a:solidFill>
                  <a:srgbClr val="FF0000"/>
                </a:solidFill>
                <a:latin typeface="Palatino Linotype" panose="02040502050505030304"/>
                <a:cs typeface="Palatino Linotype" panose="02040502050505030304"/>
              </a:rPr>
              <a:t>6:</a:t>
            </a:r>
            <a:endParaRPr>
              <a:solidFill>
                <a:sysClr val="windowText" lastClr="000000"/>
              </a:solidFill>
              <a:latin typeface="Palatino Linotype" panose="02040502050505030304"/>
              <a:cs typeface="Palatino Linotype" panose="02040502050505030304"/>
            </a:endParaRPr>
          </a:p>
        </p:txBody>
      </p:sp>
      <p:sp>
        <p:nvSpPr>
          <p:cNvPr id="40" name="object 10"/>
          <p:cNvSpPr txBox="1"/>
          <p:nvPr/>
        </p:nvSpPr>
        <p:spPr>
          <a:xfrm>
            <a:off x="755395" y="4909820"/>
            <a:ext cx="2730500" cy="683895"/>
          </a:xfrm>
          <a:prstGeom prst="rect">
            <a:avLst/>
          </a:prstGeom>
        </p:spPr>
        <p:txBody>
          <a:bodyPr vert="horz" wrap="square" lIns="0" tIns="67310" rIns="0" bIns="0" rtlCol="0">
            <a:spAutoFit/>
          </a:bodyPr>
          <a:lstStyle/>
          <a:p>
            <a:pPr marL="299085" indent="-286385">
              <a:spcBef>
                <a:spcPts val="530"/>
              </a:spcBef>
              <a:buFont typeface="Arial MT"/>
              <a:buChar char="•"/>
              <a:tabLst>
                <a:tab pos="299085" algn="l"/>
              </a:tabLst>
            </a:pPr>
            <a:r>
              <a:rPr dirty="0">
                <a:solidFill>
                  <a:sysClr val="windowText" lastClr="000000"/>
                </a:solidFill>
                <a:latin typeface="Palatino Linotype" panose="02040502050505030304"/>
                <a:cs typeface="Palatino Linotype" panose="02040502050505030304"/>
              </a:rPr>
              <a:t>C() </a:t>
            </a:r>
            <a:r>
              <a:rPr spc="-10" dirty="0">
                <a:solidFill>
                  <a:sysClr val="windowText" lastClr="000000"/>
                </a:solidFill>
                <a:latin typeface="Palatino Linotype" panose="02040502050505030304"/>
                <a:cs typeface="Palatino Linotype" panose="02040502050505030304"/>
              </a:rPr>
              <a:t>returns</a:t>
            </a:r>
            <a:endParaRPr>
              <a:solidFill>
                <a:sysClr val="windowText" lastClr="000000"/>
              </a:solidFill>
              <a:latin typeface="Palatino Linotype" panose="02040502050505030304"/>
              <a:cs typeface="Palatino Linotype" panose="02040502050505030304"/>
            </a:endParaRPr>
          </a:p>
          <a:p>
            <a:pPr marL="299085" indent="-286385">
              <a:spcBef>
                <a:spcPts val="430"/>
              </a:spcBef>
              <a:buFont typeface="Arial MT"/>
              <a:buChar char="•"/>
              <a:tabLst>
                <a:tab pos="299085" algn="l"/>
              </a:tabLst>
            </a:pPr>
            <a:r>
              <a:rPr dirty="0">
                <a:solidFill>
                  <a:sysClr val="windowText" lastClr="000000"/>
                </a:solidFill>
                <a:latin typeface="Palatino Linotype" panose="02040502050505030304"/>
                <a:cs typeface="Palatino Linotype" panose="02040502050505030304"/>
              </a:rPr>
              <a:t>Execute</a:t>
            </a:r>
            <a:r>
              <a:rPr spc="-4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semantic</a:t>
            </a:r>
            <a:r>
              <a:rPr spc="-3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action</a:t>
            </a:r>
            <a:endParaRPr>
              <a:solidFill>
                <a:sysClr val="windowText" lastClr="000000"/>
              </a:solidFill>
              <a:latin typeface="Palatino Linotype" panose="02040502050505030304"/>
              <a:cs typeface="Palatino Linotype" panose="02040502050505030304"/>
            </a:endParaRPr>
          </a:p>
        </p:txBody>
      </p:sp>
      <p:sp>
        <p:nvSpPr>
          <p:cNvPr id="41" name="object 11"/>
          <p:cNvSpPr txBox="1"/>
          <p:nvPr/>
        </p:nvSpPr>
        <p:spPr>
          <a:xfrm>
            <a:off x="738022" y="3329178"/>
            <a:ext cx="317500" cy="299720"/>
          </a:xfrm>
          <a:prstGeom prst="rect">
            <a:avLst/>
          </a:prstGeom>
        </p:spPr>
        <p:txBody>
          <a:bodyPr vert="horz" wrap="square" lIns="0" tIns="12700" rIns="0" bIns="0" rtlCol="0">
            <a:spAutoFit/>
          </a:bodyPr>
          <a:lstStyle/>
          <a:p>
            <a:pPr marL="12700">
              <a:spcBef>
                <a:spcPts val="100"/>
              </a:spcBef>
            </a:pPr>
            <a:r>
              <a:rPr b="1" spc="-25" dirty="0">
                <a:solidFill>
                  <a:sysClr val="windowText" lastClr="000000"/>
                </a:solidFill>
                <a:latin typeface="Palatino Linotype" panose="02040502050505030304"/>
                <a:cs typeface="Palatino Linotype" panose="02040502050505030304"/>
              </a:rPr>
              <a:t>int</a:t>
            </a:r>
            <a:endParaRPr>
              <a:solidFill>
                <a:sysClr val="windowText" lastClr="000000"/>
              </a:solidFill>
              <a:latin typeface="Palatino Linotype" panose="02040502050505030304"/>
              <a:cs typeface="Palatino Linotype" panose="02040502050505030304"/>
            </a:endParaRPr>
          </a:p>
        </p:txBody>
      </p:sp>
      <p:sp>
        <p:nvSpPr>
          <p:cNvPr id="42" name="object 12"/>
          <p:cNvSpPr/>
          <p:nvPr/>
        </p:nvSpPr>
        <p:spPr>
          <a:xfrm>
            <a:off x="899160" y="3086100"/>
            <a:ext cx="0" cy="224154"/>
          </a:xfrm>
          <a:custGeom>
            <a:avLst/>
            <a:gdLst/>
            <a:ahLst/>
            <a:cxnLst/>
            <a:rect l="l" t="t" r="r" b="b"/>
            <a:pathLst>
              <a:path h="224154">
                <a:moveTo>
                  <a:pt x="0" y="0"/>
                </a:moveTo>
                <a:lnTo>
                  <a:pt x="0" y="22390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3" name="object 13"/>
          <p:cNvSpPr txBox="1"/>
          <p:nvPr/>
        </p:nvSpPr>
        <p:spPr>
          <a:xfrm>
            <a:off x="1744472" y="3329178"/>
            <a:ext cx="292100" cy="299720"/>
          </a:xfrm>
          <a:prstGeom prst="rect">
            <a:avLst/>
          </a:prstGeom>
        </p:spPr>
        <p:txBody>
          <a:bodyPr vert="horz" wrap="square" lIns="0" tIns="12700" rIns="0" bIns="0" rtlCol="0">
            <a:spAutoFit/>
          </a:bodyPr>
          <a:lstStyle/>
          <a:p>
            <a:pPr marL="12700">
              <a:spcBef>
                <a:spcPts val="100"/>
              </a:spcBef>
            </a:pPr>
            <a:r>
              <a:rPr spc="-25" dirty="0">
                <a:solidFill>
                  <a:sysClr val="windowText" lastClr="000000"/>
                </a:solidFill>
                <a:latin typeface="Palatino Linotype" panose="02040502050505030304"/>
                <a:cs typeface="Palatino Linotype" panose="02040502050505030304"/>
              </a:rPr>
              <a:t>[</a:t>
            </a:r>
            <a:r>
              <a:rPr b="1" spc="-25" dirty="0">
                <a:solidFill>
                  <a:sysClr val="windowText" lastClr="000000"/>
                </a:solidFill>
                <a:latin typeface="Palatino Linotype" panose="02040502050505030304"/>
                <a:cs typeface="Palatino Linotype" panose="02040502050505030304"/>
              </a:rPr>
              <a:t>2</a:t>
            </a:r>
            <a:r>
              <a:rPr spc="-25" dirty="0">
                <a:solidFill>
                  <a:sysClr val="windowText" lastClr="000000"/>
                </a:solidFill>
                <a:latin typeface="Palatino Linotype" panose="02040502050505030304"/>
                <a:cs typeface="Palatino Linotype" panose="02040502050505030304"/>
              </a:rPr>
              <a:t>]</a:t>
            </a:r>
            <a:endParaRPr>
              <a:solidFill>
                <a:sysClr val="windowText" lastClr="000000"/>
              </a:solidFill>
              <a:latin typeface="Palatino Linotype" panose="02040502050505030304"/>
              <a:cs typeface="Palatino Linotype" panose="02040502050505030304"/>
            </a:endParaRPr>
          </a:p>
        </p:txBody>
      </p:sp>
      <p:sp>
        <p:nvSpPr>
          <p:cNvPr id="44" name="object 14"/>
          <p:cNvSpPr txBox="1"/>
          <p:nvPr/>
        </p:nvSpPr>
        <p:spPr>
          <a:xfrm>
            <a:off x="3108198" y="3334003"/>
            <a:ext cx="18796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45" name="object 15"/>
          <p:cNvSpPr/>
          <p:nvPr/>
        </p:nvSpPr>
        <p:spPr>
          <a:xfrm>
            <a:off x="1892807" y="3086100"/>
            <a:ext cx="1310640" cy="229235"/>
          </a:xfrm>
          <a:custGeom>
            <a:avLst/>
            <a:gdLst/>
            <a:ahLst/>
            <a:cxnLst/>
            <a:rect l="l" t="t" r="r" b="b"/>
            <a:pathLst>
              <a:path w="1310639" h="229235">
                <a:moveTo>
                  <a:pt x="501777" y="0"/>
                </a:moveTo>
                <a:lnTo>
                  <a:pt x="0" y="223900"/>
                </a:lnTo>
              </a:path>
              <a:path w="1310639" h="229235">
                <a:moveTo>
                  <a:pt x="501396" y="0"/>
                </a:moveTo>
                <a:lnTo>
                  <a:pt x="1310259" y="228853"/>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6" name="object 16"/>
          <p:cNvSpPr txBox="1"/>
          <p:nvPr/>
        </p:nvSpPr>
        <p:spPr>
          <a:xfrm>
            <a:off x="2553461" y="3944873"/>
            <a:ext cx="292100" cy="299720"/>
          </a:xfrm>
          <a:prstGeom prst="rect">
            <a:avLst/>
          </a:prstGeom>
        </p:spPr>
        <p:txBody>
          <a:bodyPr vert="horz" wrap="square" lIns="0" tIns="12700" rIns="0" bIns="0" rtlCol="0">
            <a:spAutoFit/>
          </a:bodyPr>
          <a:lstStyle/>
          <a:p>
            <a:pPr marL="12700">
              <a:spcBef>
                <a:spcPts val="100"/>
              </a:spcBef>
            </a:pPr>
            <a:r>
              <a:rPr spc="-25" dirty="0">
                <a:solidFill>
                  <a:sysClr val="windowText" lastClr="000000"/>
                </a:solidFill>
                <a:latin typeface="Palatino Linotype" panose="02040502050505030304"/>
                <a:cs typeface="Palatino Linotype" panose="02040502050505030304"/>
              </a:rPr>
              <a:t>[</a:t>
            </a:r>
            <a:r>
              <a:rPr b="1" spc="-25" dirty="0">
                <a:solidFill>
                  <a:sysClr val="windowText" lastClr="000000"/>
                </a:solidFill>
                <a:latin typeface="Palatino Linotype" panose="02040502050505030304"/>
                <a:cs typeface="Palatino Linotype" panose="02040502050505030304"/>
              </a:rPr>
              <a:t>3</a:t>
            </a:r>
            <a:r>
              <a:rPr spc="-25" dirty="0">
                <a:solidFill>
                  <a:sysClr val="windowText" lastClr="000000"/>
                </a:solidFill>
                <a:latin typeface="Palatino Linotype" panose="02040502050505030304"/>
                <a:cs typeface="Palatino Linotype" panose="02040502050505030304"/>
              </a:rPr>
              <a:t>]</a:t>
            </a:r>
            <a:endParaRPr>
              <a:solidFill>
                <a:sysClr val="windowText" lastClr="000000"/>
              </a:solidFill>
              <a:latin typeface="Palatino Linotype" panose="02040502050505030304"/>
              <a:cs typeface="Palatino Linotype" panose="02040502050505030304"/>
            </a:endParaRPr>
          </a:p>
        </p:txBody>
      </p:sp>
      <p:sp>
        <p:nvSpPr>
          <p:cNvPr id="47" name="object 17"/>
          <p:cNvSpPr txBox="1"/>
          <p:nvPr/>
        </p:nvSpPr>
        <p:spPr>
          <a:xfrm>
            <a:off x="3917060" y="3949700"/>
            <a:ext cx="18796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48" name="object 18"/>
          <p:cNvSpPr/>
          <p:nvPr/>
        </p:nvSpPr>
        <p:spPr>
          <a:xfrm>
            <a:off x="2700527" y="3685032"/>
            <a:ext cx="1311910" cy="246379"/>
          </a:xfrm>
          <a:custGeom>
            <a:avLst/>
            <a:gdLst/>
            <a:ahLst/>
            <a:cxnLst/>
            <a:rect l="l" t="t" r="r" b="b"/>
            <a:pathLst>
              <a:path w="1311910" h="246379">
                <a:moveTo>
                  <a:pt x="501777" y="0"/>
                </a:moveTo>
                <a:lnTo>
                  <a:pt x="0" y="241300"/>
                </a:lnTo>
              </a:path>
              <a:path w="1311910" h="246379">
                <a:moveTo>
                  <a:pt x="502920" y="0"/>
                </a:moveTo>
                <a:lnTo>
                  <a:pt x="1311783" y="246253"/>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9" name="object 19"/>
          <p:cNvSpPr txBox="1"/>
          <p:nvPr/>
        </p:nvSpPr>
        <p:spPr>
          <a:xfrm>
            <a:off x="1058062" y="2675890"/>
            <a:ext cx="913130" cy="391160"/>
          </a:xfrm>
          <a:prstGeom prst="rect">
            <a:avLst/>
          </a:prstGeom>
        </p:spPr>
        <p:txBody>
          <a:bodyPr vert="horz" wrap="square" lIns="0" tIns="12700" rIns="0" bIns="0" rtlCol="0">
            <a:spAutoFit/>
          </a:bodyPr>
          <a:lstStyle/>
          <a:p>
            <a:pPr marL="12700">
              <a:spcBef>
                <a:spcPts val="100"/>
              </a:spcBef>
            </a:pPr>
            <a:r>
              <a:rPr sz="1200" i="1" dirty="0">
                <a:solidFill>
                  <a:srgbClr val="6F2F9F"/>
                </a:solidFill>
                <a:latin typeface="Palatino Linotype" panose="02040502050505030304"/>
                <a:cs typeface="Palatino Linotype" panose="02040502050505030304"/>
              </a:rPr>
              <a:t>type</a:t>
            </a:r>
            <a:r>
              <a:rPr sz="1200" i="1" spc="-1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spc="-10" dirty="0">
                <a:solidFill>
                  <a:srgbClr val="6F2F9F"/>
                </a:solidFill>
                <a:latin typeface="Palatino Linotype" panose="02040502050505030304"/>
                <a:cs typeface="Palatino Linotype" panose="02040502050505030304"/>
              </a:rPr>
              <a:t>integer</a:t>
            </a:r>
            <a:endParaRPr sz="1200">
              <a:solidFill>
                <a:sysClr val="windowText" lastClr="000000"/>
              </a:solidFill>
              <a:latin typeface="Palatino Linotype" panose="02040502050505030304"/>
              <a:cs typeface="Palatino Linotype" panose="02040502050505030304"/>
            </a:endParaRPr>
          </a:p>
          <a:p>
            <a:pPr marL="12700"/>
            <a:r>
              <a:rPr sz="1200" i="1" dirty="0">
                <a:solidFill>
                  <a:srgbClr val="6F2F9F"/>
                </a:solidFill>
                <a:latin typeface="Palatino Linotype" panose="02040502050505030304"/>
                <a:cs typeface="Palatino Linotype" panose="02040502050505030304"/>
              </a:rPr>
              <a:t>width</a:t>
            </a:r>
            <a:r>
              <a:rPr sz="1200" i="1" spc="-2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15" dirty="0">
                <a:solidFill>
                  <a:srgbClr val="6F2F9F"/>
                </a:solidFill>
                <a:latin typeface="Palatino Linotype" panose="02040502050505030304"/>
                <a:cs typeface="Palatino Linotype" panose="02040502050505030304"/>
              </a:rPr>
              <a:t> </a:t>
            </a:r>
            <a:r>
              <a:rPr sz="1200" spc="-50" dirty="0">
                <a:solidFill>
                  <a:srgbClr val="6F2F9F"/>
                </a:solidFill>
                <a:latin typeface="Palatino Linotype" panose="02040502050505030304"/>
                <a:cs typeface="Palatino Linotype" panose="02040502050505030304"/>
              </a:rPr>
              <a:t>4</a:t>
            </a:r>
            <a:endParaRPr sz="1200">
              <a:solidFill>
                <a:sysClr val="windowText" lastClr="000000"/>
              </a:solidFill>
              <a:latin typeface="Palatino Linotype" panose="02040502050505030304"/>
              <a:cs typeface="Palatino Linotype" panose="02040502050505030304"/>
            </a:endParaRPr>
          </a:p>
        </p:txBody>
      </p:sp>
      <p:sp>
        <p:nvSpPr>
          <p:cNvPr id="50" name="object 20"/>
          <p:cNvSpPr txBox="1"/>
          <p:nvPr/>
        </p:nvSpPr>
        <p:spPr>
          <a:xfrm>
            <a:off x="4224528" y="1491996"/>
            <a:ext cx="1266825" cy="646430"/>
          </a:xfrm>
          <a:prstGeom prst="rect">
            <a:avLst/>
          </a:prstGeom>
          <a:solidFill>
            <a:srgbClr val="FFF1CC"/>
          </a:solidFill>
          <a:ln w="9525">
            <a:solidFill>
              <a:srgbClr val="000000"/>
            </a:solidFill>
          </a:ln>
        </p:spPr>
        <p:txBody>
          <a:bodyPr vert="horz" wrap="square" lIns="0" tIns="31115" rIns="0" bIns="0" rtlCol="0">
            <a:spAutoFit/>
          </a:bodyPr>
          <a:lstStyle/>
          <a:p>
            <a:pPr marL="92075">
              <a:spcBef>
                <a:spcPts val="245"/>
              </a:spcBef>
            </a:pPr>
            <a:r>
              <a:rPr i="1" dirty="0">
                <a:solidFill>
                  <a:sysClr val="windowText" lastClr="000000"/>
                </a:solidFill>
                <a:latin typeface="Palatino Linotype" panose="02040502050505030304"/>
                <a:cs typeface="Palatino Linotype" panose="02040502050505030304"/>
              </a:rPr>
              <a:t>t</a:t>
            </a:r>
            <a:r>
              <a:rPr i="1" spc="-1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t>
            </a:r>
            <a:r>
              <a:rPr spc="-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integer</a:t>
            </a:r>
            <a:endParaRPr>
              <a:solidFill>
                <a:sysClr val="windowText" lastClr="000000"/>
              </a:solidFill>
              <a:latin typeface="Palatino Linotype" panose="02040502050505030304"/>
              <a:cs typeface="Palatino Linotype" panose="02040502050505030304"/>
            </a:endParaRPr>
          </a:p>
          <a:p>
            <a:pPr marL="92075"/>
            <a:r>
              <a:rPr i="1" dirty="0">
                <a:solidFill>
                  <a:sysClr val="windowText" lastClr="000000"/>
                </a:solidFill>
                <a:latin typeface="Palatino Linotype" panose="02040502050505030304"/>
                <a:cs typeface="Palatino Linotype" panose="02040502050505030304"/>
              </a:rPr>
              <a:t>w</a:t>
            </a:r>
            <a:r>
              <a:rPr i="1" spc="-2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t>
            </a:r>
            <a:r>
              <a:rPr spc="-25" dirty="0">
                <a:solidFill>
                  <a:sysClr val="windowText" lastClr="000000"/>
                </a:solidFill>
                <a:latin typeface="Palatino Linotype" panose="02040502050505030304"/>
                <a:cs typeface="Palatino Linotype" panose="02040502050505030304"/>
              </a:rPr>
              <a:t> </a:t>
            </a:r>
            <a:r>
              <a:rPr spc="-50" dirty="0">
                <a:solidFill>
                  <a:sysClr val="windowText" lastClr="000000"/>
                </a:solidFill>
                <a:latin typeface="Palatino Linotype" panose="02040502050505030304"/>
                <a:cs typeface="Palatino Linotype" panose="02040502050505030304"/>
              </a:rPr>
              <a:t>4</a:t>
            </a:r>
            <a:endParaRPr>
              <a:solidFill>
                <a:sysClr val="windowText" lastClr="000000"/>
              </a:solidFill>
              <a:latin typeface="Palatino Linotype" panose="02040502050505030304"/>
              <a:cs typeface="Palatino Linotype" panose="02040502050505030304"/>
            </a:endParaRPr>
          </a:p>
        </p:txBody>
      </p:sp>
      <p:sp>
        <p:nvSpPr>
          <p:cNvPr id="51" name="object 21"/>
          <p:cNvSpPr txBox="1"/>
          <p:nvPr/>
        </p:nvSpPr>
        <p:spPr>
          <a:xfrm>
            <a:off x="3943350" y="4566284"/>
            <a:ext cx="13208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𝜖</a:t>
            </a:r>
            <a:endParaRPr>
              <a:solidFill>
                <a:sysClr val="windowText" lastClr="000000"/>
              </a:solidFill>
              <a:latin typeface="Cambria Math" panose="02040503050406030204"/>
              <a:cs typeface="Cambria Math" panose="02040503050406030204"/>
            </a:endParaRPr>
          </a:p>
        </p:txBody>
      </p:sp>
      <p:sp>
        <p:nvSpPr>
          <p:cNvPr id="52" name="object 22"/>
          <p:cNvSpPr/>
          <p:nvPr/>
        </p:nvSpPr>
        <p:spPr>
          <a:xfrm>
            <a:off x="4011167" y="4300728"/>
            <a:ext cx="0" cy="245745"/>
          </a:xfrm>
          <a:custGeom>
            <a:avLst/>
            <a:gdLst/>
            <a:ahLst/>
            <a:cxnLst/>
            <a:rect l="l" t="t" r="r" b="b"/>
            <a:pathLst>
              <a:path h="245745">
                <a:moveTo>
                  <a:pt x="0" y="0"/>
                </a:moveTo>
                <a:lnTo>
                  <a:pt x="0" y="245364"/>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nvGrpSpPr>
          <p:cNvPr id="53" name="object 23"/>
          <p:cNvGrpSpPr/>
          <p:nvPr/>
        </p:nvGrpSpPr>
        <p:grpSpPr>
          <a:xfrm>
            <a:off x="1190617" y="5893053"/>
            <a:ext cx="4395470" cy="278130"/>
            <a:chOff x="1190617" y="5893053"/>
            <a:chExt cx="4395470" cy="278130"/>
          </a:xfrm>
        </p:grpSpPr>
        <p:pic>
          <p:nvPicPr>
            <p:cNvPr id="54" name="object 24"/>
            <p:cNvPicPr/>
            <p:nvPr/>
          </p:nvPicPr>
          <p:blipFill>
            <a:blip r:embed="rId3" cstate="print"/>
            <a:stretch>
              <a:fillRect/>
            </a:stretch>
          </p:blipFill>
          <p:spPr>
            <a:xfrm>
              <a:off x="1190617" y="5947616"/>
              <a:ext cx="4262104" cy="195251"/>
            </a:xfrm>
            <a:prstGeom prst="rect">
              <a:avLst/>
            </a:prstGeom>
          </p:spPr>
        </p:pic>
        <p:sp>
          <p:nvSpPr>
            <p:cNvPr id="55" name="object 25"/>
            <p:cNvSpPr/>
            <p:nvPr/>
          </p:nvSpPr>
          <p:spPr>
            <a:xfrm>
              <a:off x="2900172" y="5899403"/>
              <a:ext cx="2679700" cy="265430"/>
            </a:xfrm>
            <a:custGeom>
              <a:avLst/>
              <a:gdLst/>
              <a:ahLst/>
              <a:cxnLst/>
              <a:rect l="l" t="t" r="r" b="b"/>
              <a:pathLst>
                <a:path w="2679700" h="265429">
                  <a:moveTo>
                    <a:pt x="0" y="265176"/>
                  </a:moveTo>
                  <a:lnTo>
                    <a:pt x="2679192" y="265176"/>
                  </a:lnTo>
                  <a:lnTo>
                    <a:pt x="2679192" y="0"/>
                  </a:lnTo>
                  <a:lnTo>
                    <a:pt x="0" y="0"/>
                  </a:lnTo>
                  <a:lnTo>
                    <a:pt x="0" y="265176"/>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
        <p:nvSpPr>
          <p:cNvPr id="56" name="object 26"/>
          <p:cNvSpPr txBox="1"/>
          <p:nvPr/>
        </p:nvSpPr>
        <p:spPr>
          <a:xfrm>
            <a:off x="4350765" y="3861942"/>
            <a:ext cx="913130" cy="391160"/>
          </a:xfrm>
          <a:prstGeom prst="rect">
            <a:avLst/>
          </a:prstGeom>
        </p:spPr>
        <p:txBody>
          <a:bodyPr vert="horz" wrap="square" lIns="0" tIns="12700" rIns="0" bIns="0" rtlCol="0">
            <a:spAutoFit/>
          </a:bodyPr>
          <a:lstStyle/>
          <a:p>
            <a:pPr marL="12700">
              <a:spcBef>
                <a:spcPts val="100"/>
              </a:spcBef>
            </a:pPr>
            <a:r>
              <a:rPr sz="1200" i="1" dirty="0">
                <a:solidFill>
                  <a:srgbClr val="6F2F9F"/>
                </a:solidFill>
                <a:latin typeface="Palatino Linotype" panose="02040502050505030304"/>
                <a:cs typeface="Palatino Linotype" panose="02040502050505030304"/>
              </a:rPr>
              <a:t>type</a:t>
            </a:r>
            <a:r>
              <a:rPr sz="1200" i="1" spc="-1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spc="-10" dirty="0">
                <a:solidFill>
                  <a:srgbClr val="6F2F9F"/>
                </a:solidFill>
                <a:latin typeface="Palatino Linotype" panose="02040502050505030304"/>
                <a:cs typeface="Palatino Linotype" panose="02040502050505030304"/>
              </a:rPr>
              <a:t>integer</a:t>
            </a:r>
            <a:endParaRPr sz="1200">
              <a:solidFill>
                <a:sysClr val="windowText" lastClr="000000"/>
              </a:solidFill>
              <a:latin typeface="Palatino Linotype" panose="02040502050505030304"/>
              <a:cs typeface="Palatino Linotype" panose="02040502050505030304"/>
            </a:endParaRPr>
          </a:p>
          <a:p>
            <a:pPr marL="12700"/>
            <a:r>
              <a:rPr sz="1200" i="1" dirty="0">
                <a:solidFill>
                  <a:srgbClr val="6F2F9F"/>
                </a:solidFill>
                <a:latin typeface="Palatino Linotype" panose="02040502050505030304"/>
                <a:cs typeface="Palatino Linotype" panose="02040502050505030304"/>
              </a:rPr>
              <a:t>width</a:t>
            </a:r>
            <a:r>
              <a:rPr sz="1200" i="1" spc="-2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15" dirty="0">
                <a:solidFill>
                  <a:srgbClr val="6F2F9F"/>
                </a:solidFill>
                <a:latin typeface="Palatino Linotype" panose="02040502050505030304"/>
                <a:cs typeface="Palatino Linotype" panose="02040502050505030304"/>
              </a:rPr>
              <a:t> </a:t>
            </a:r>
            <a:r>
              <a:rPr sz="1200" spc="-50" dirty="0">
                <a:solidFill>
                  <a:srgbClr val="6F2F9F"/>
                </a:solidFill>
                <a:latin typeface="Palatino Linotype" panose="02040502050505030304"/>
                <a:cs typeface="Palatino Linotype" panose="02040502050505030304"/>
              </a:rPr>
              <a:t>4</a:t>
            </a:r>
            <a:endParaRPr sz="1200">
              <a:solidFill>
                <a:sysClr val="windowText" lastClr="000000"/>
              </a:solidFill>
              <a:latin typeface="Palatino Linotype" panose="02040502050505030304"/>
              <a:cs typeface="Palatino Linotype" panose="02040502050505030304"/>
            </a:endParaRPr>
          </a:p>
        </p:txBody>
      </p:sp>
      <p:sp>
        <p:nvSpPr>
          <p:cNvPr id="57" name="object 27"/>
          <p:cNvSpPr/>
          <p:nvPr/>
        </p:nvSpPr>
        <p:spPr>
          <a:xfrm>
            <a:off x="2511551" y="2859023"/>
            <a:ext cx="4541520" cy="1860550"/>
          </a:xfrm>
          <a:custGeom>
            <a:avLst/>
            <a:gdLst/>
            <a:ahLst/>
            <a:cxnLst/>
            <a:rect l="l" t="t" r="r" b="b"/>
            <a:pathLst>
              <a:path w="4541520" h="1860550">
                <a:moveTo>
                  <a:pt x="0" y="0"/>
                </a:moveTo>
                <a:lnTo>
                  <a:pt x="58645" y="9926"/>
                </a:lnTo>
                <a:lnTo>
                  <a:pt x="117273" y="19855"/>
                </a:lnTo>
                <a:lnTo>
                  <a:pt x="175869" y="29791"/>
                </a:lnTo>
                <a:lnTo>
                  <a:pt x="234416" y="39737"/>
                </a:lnTo>
                <a:lnTo>
                  <a:pt x="292898" y="49694"/>
                </a:lnTo>
                <a:lnTo>
                  <a:pt x="351298" y="59667"/>
                </a:lnTo>
                <a:lnTo>
                  <a:pt x="409600" y="69659"/>
                </a:lnTo>
                <a:lnTo>
                  <a:pt x="467788" y="79672"/>
                </a:lnTo>
                <a:lnTo>
                  <a:pt x="525845" y="89710"/>
                </a:lnTo>
                <a:lnTo>
                  <a:pt x="583755" y="99775"/>
                </a:lnTo>
                <a:lnTo>
                  <a:pt x="641502" y="109871"/>
                </a:lnTo>
                <a:lnTo>
                  <a:pt x="699070" y="120000"/>
                </a:lnTo>
                <a:lnTo>
                  <a:pt x="756441" y="130167"/>
                </a:lnTo>
                <a:lnTo>
                  <a:pt x="813600" y="140373"/>
                </a:lnTo>
                <a:lnTo>
                  <a:pt x="870530" y="150622"/>
                </a:lnTo>
                <a:lnTo>
                  <a:pt x="927216" y="160917"/>
                </a:lnTo>
                <a:lnTo>
                  <a:pt x="983640" y="171260"/>
                </a:lnTo>
                <a:lnTo>
                  <a:pt x="1039787" y="181656"/>
                </a:lnTo>
                <a:lnTo>
                  <a:pt x="1095640" y="192107"/>
                </a:lnTo>
                <a:lnTo>
                  <a:pt x="1151182" y="202615"/>
                </a:lnTo>
                <a:lnTo>
                  <a:pt x="1206398" y="213185"/>
                </a:lnTo>
                <a:lnTo>
                  <a:pt x="1261271" y="223819"/>
                </a:lnTo>
                <a:lnTo>
                  <a:pt x="1315785" y="234520"/>
                </a:lnTo>
                <a:lnTo>
                  <a:pt x="1369924" y="245291"/>
                </a:lnTo>
                <a:lnTo>
                  <a:pt x="1423670" y="256136"/>
                </a:lnTo>
                <a:lnTo>
                  <a:pt x="1477008" y="267056"/>
                </a:lnTo>
                <a:lnTo>
                  <a:pt x="1529922" y="278057"/>
                </a:lnTo>
                <a:lnTo>
                  <a:pt x="1582395" y="289139"/>
                </a:lnTo>
                <a:lnTo>
                  <a:pt x="1634410" y="300307"/>
                </a:lnTo>
                <a:lnTo>
                  <a:pt x="1685952" y="311563"/>
                </a:lnTo>
                <a:lnTo>
                  <a:pt x="1737004" y="322911"/>
                </a:lnTo>
                <a:lnTo>
                  <a:pt x="1787550" y="334353"/>
                </a:lnTo>
                <a:lnTo>
                  <a:pt x="1837574" y="345893"/>
                </a:lnTo>
                <a:lnTo>
                  <a:pt x="1887058" y="357534"/>
                </a:lnTo>
                <a:lnTo>
                  <a:pt x="1935988" y="369278"/>
                </a:lnTo>
                <a:lnTo>
                  <a:pt x="1984346" y="381129"/>
                </a:lnTo>
                <a:lnTo>
                  <a:pt x="2032116" y="393090"/>
                </a:lnTo>
                <a:lnTo>
                  <a:pt x="2079282" y="405163"/>
                </a:lnTo>
                <a:lnTo>
                  <a:pt x="2125827" y="417352"/>
                </a:lnTo>
                <a:lnTo>
                  <a:pt x="2171736" y="429661"/>
                </a:lnTo>
                <a:lnTo>
                  <a:pt x="2216991" y="442091"/>
                </a:lnTo>
                <a:lnTo>
                  <a:pt x="2261577" y="454646"/>
                </a:lnTo>
                <a:lnTo>
                  <a:pt x="2305478" y="467329"/>
                </a:lnTo>
                <a:lnTo>
                  <a:pt x="2348676" y="480143"/>
                </a:lnTo>
                <a:lnTo>
                  <a:pt x="2391155" y="493091"/>
                </a:lnTo>
                <a:lnTo>
                  <a:pt x="2432900" y="506177"/>
                </a:lnTo>
                <a:lnTo>
                  <a:pt x="2473894" y="519402"/>
                </a:lnTo>
                <a:lnTo>
                  <a:pt x="2514120" y="532771"/>
                </a:lnTo>
                <a:lnTo>
                  <a:pt x="2553562" y="546286"/>
                </a:lnTo>
                <a:lnTo>
                  <a:pt x="2592205" y="559950"/>
                </a:lnTo>
                <a:lnTo>
                  <a:pt x="2630031" y="573767"/>
                </a:lnTo>
                <a:lnTo>
                  <a:pt x="2667024" y="587739"/>
                </a:lnTo>
                <a:lnTo>
                  <a:pt x="2703168" y="601869"/>
                </a:lnTo>
                <a:lnTo>
                  <a:pt x="2772844" y="630618"/>
                </a:lnTo>
                <a:lnTo>
                  <a:pt x="2838927" y="660036"/>
                </a:lnTo>
                <a:lnTo>
                  <a:pt x="2924974" y="703154"/>
                </a:lnTo>
                <a:lnTo>
                  <a:pt x="2975257" y="732917"/>
                </a:lnTo>
                <a:lnTo>
                  <a:pt x="3021640" y="764166"/>
                </a:lnTo>
                <a:lnTo>
                  <a:pt x="3064334" y="796774"/>
                </a:lnTo>
                <a:lnTo>
                  <a:pt x="3103549" y="830615"/>
                </a:lnTo>
                <a:lnTo>
                  <a:pt x="3139497" y="865562"/>
                </a:lnTo>
                <a:lnTo>
                  <a:pt x="3172387" y="901488"/>
                </a:lnTo>
                <a:lnTo>
                  <a:pt x="3202432" y="938266"/>
                </a:lnTo>
                <a:lnTo>
                  <a:pt x="3229840" y="975769"/>
                </a:lnTo>
                <a:lnTo>
                  <a:pt x="3254823" y="1013870"/>
                </a:lnTo>
                <a:lnTo>
                  <a:pt x="3277592" y="1052444"/>
                </a:lnTo>
                <a:lnTo>
                  <a:pt x="3298357" y="1091362"/>
                </a:lnTo>
                <a:lnTo>
                  <a:pt x="3317329" y="1130499"/>
                </a:lnTo>
                <a:lnTo>
                  <a:pt x="3334719" y="1169727"/>
                </a:lnTo>
                <a:lnTo>
                  <a:pt x="3350737" y="1208919"/>
                </a:lnTo>
                <a:lnTo>
                  <a:pt x="3365595" y="1247949"/>
                </a:lnTo>
                <a:lnTo>
                  <a:pt x="3379502" y="1286690"/>
                </a:lnTo>
                <a:lnTo>
                  <a:pt x="3392669" y="1325015"/>
                </a:lnTo>
                <a:lnTo>
                  <a:pt x="3405308" y="1362797"/>
                </a:lnTo>
                <a:lnTo>
                  <a:pt x="3417628" y="1399910"/>
                </a:lnTo>
                <a:lnTo>
                  <a:pt x="3429841" y="1436227"/>
                </a:lnTo>
                <a:lnTo>
                  <a:pt x="3454787" y="1505964"/>
                </a:lnTo>
                <a:lnTo>
                  <a:pt x="3481830" y="1570994"/>
                </a:lnTo>
                <a:lnTo>
                  <a:pt x="3512658" y="1630302"/>
                </a:lnTo>
                <a:lnTo>
                  <a:pt x="3548954" y="1682875"/>
                </a:lnTo>
                <a:lnTo>
                  <a:pt x="3592405" y="1727697"/>
                </a:lnTo>
                <a:lnTo>
                  <a:pt x="3879240" y="1841013"/>
                </a:lnTo>
                <a:lnTo>
                  <a:pt x="4183872" y="1860502"/>
                </a:lnTo>
                <a:lnTo>
                  <a:pt x="4436282" y="1843914"/>
                </a:lnTo>
                <a:lnTo>
                  <a:pt x="4541520" y="1829815"/>
                </a:lnTo>
              </a:path>
              <a:path w="4541520" h="1860550">
                <a:moveTo>
                  <a:pt x="787908" y="618743"/>
                </a:moveTo>
                <a:lnTo>
                  <a:pt x="847283" y="623778"/>
                </a:lnTo>
                <a:lnTo>
                  <a:pt x="906632" y="628815"/>
                </a:lnTo>
                <a:lnTo>
                  <a:pt x="965932" y="633858"/>
                </a:lnTo>
                <a:lnTo>
                  <a:pt x="1025156" y="638907"/>
                </a:lnTo>
                <a:lnTo>
                  <a:pt x="1084279" y="643967"/>
                </a:lnTo>
                <a:lnTo>
                  <a:pt x="1143277" y="649038"/>
                </a:lnTo>
                <a:lnTo>
                  <a:pt x="1202123" y="654124"/>
                </a:lnTo>
                <a:lnTo>
                  <a:pt x="1260793" y="659227"/>
                </a:lnTo>
                <a:lnTo>
                  <a:pt x="1319262" y="664349"/>
                </a:lnTo>
                <a:lnTo>
                  <a:pt x="1377504" y="669492"/>
                </a:lnTo>
                <a:lnTo>
                  <a:pt x="1435495" y="674658"/>
                </a:lnTo>
                <a:lnTo>
                  <a:pt x="1493208" y="679851"/>
                </a:lnTo>
                <a:lnTo>
                  <a:pt x="1550620" y="685073"/>
                </a:lnTo>
                <a:lnTo>
                  <a:pt x="1607704" y="690325"/>
                </a:lnTo>
                <a:lnTo>
                  <a:pt x="1664436" y="695610"/>
                </a:lnTo>
                <a:lnTo>
                  <a:pt x="1720790" y="700931"/>
                </a:lnTo>
                <a:lnTo>
                  <a:pt x="1776741" y="706290"/>
                </a:lnTo>
                <a:lnTo>
                  <a:pt x="1832265" y="711688"/>
                </a:lnTo>
                <a:lnTo>
                  <a:pt x="1887335" y="717129"/>
                </a:lnTo>
                <a:lnTo>
                  <a:pt x="1941927" y="722615"/>
                </a:lnTo>
                <a:lnTo>
                  <a:pt x="1996015" y="728149"/>
                </a:lnTo>
                <a:lnTo>
                  <a:pt x="2049575" y="733731"/>
                </a:lnTo>
                <a:lnTo>
                  <a:pt x="2102581" y="739366"/>
                </a:lnTo>
                <a:lnTo>
                  <a:pt x="2155008" y="745055"/>
                </a:lnTo>
                <a:lnTo>
                  <a:pt x="2206831" y="750800"/>
                </a:lnTo>
                <a:lnTo>
                  <a:pt x="2258025" y="756604"/>
                </a:lnTo>
                <a:lnTo>
                  <a:pt x="2308563" y="762470"/>
                </a:lnTo>
                <a:lnTo>
                  <a:pt x="2358423" y="768398"/>
                </a:lnTo>
                <a:lnTo>
                  <a:pt x="2407577" y="774393"/>
                </a:lnTo>
                <a:lnTo>
                  <a:pt x="2456001" y="780456"/>
                </a:lnTo>
                <a:lnTo>
                  <a:pt x="2503670" y="786590"/>
                </a:lnTo>
                <a:lnTo>
                  <a:pt x="2550559" y="792797"/>
                </a:lnTo>
                <a:lnTo>
                  <a:pt x="2596642" y="799078"/>
                </a:lnTo>
                <a:lnTo>
                  <a:pt x="2641894" y="805438"/>
                </a:lnTo>
                <a:lnTo>
                  <a:pt x="2686291" y="811877"/>
                </a:lnTo>
                <a:lnTo>
                  <a:pt x="2729806" y="818399"/>
                </a:lnTo>
                <a:lnTo>
                  <a:pt x="2772415" y="825005"/>
                </a:lnTo>
                <a:lnTo>
                  <a:pt x="2814093" y="831699"/>
                </a:lnTo>
                <a:lnTo>
                  <a:pt x="2854814" y="838481"/>
                </a:lnTo>
                <a:lnTo>
                  <a:pt x="2894553" y="845356"/>
                </a:lnTo>
                <a:lnTo>
                  <a:pt x="2933285" y="852324"/>
                </a:lnTo>
                <a:lnTo>
                  <a:pt x="2970985" y="859388"/>
                </a:lnTo>
                <a:lnTo>
                  <a:pt x="3043188" y="873816"/>
                </a:lnTo>
                <a:lnTo>
                  <a:pt x="3110961" y="888657"/>
                </a:lnTo>
                <a:lnTo>
                  <a:pt x="3212902" y="915082"/>
                </a:lnTo>
                <a:lnTo>
                  <a:pt x="3274311" y="935543"/>
                </a:lnTo>
                <a:lnTo>
                  <a:pt x="3328060" y="957408"/>
                </a:lnTo>
                <a:lnTo>
                  <a:pt x="3374856" y="980463"/>
                </a:lnTo>
                <a:lnTo>
                  <a:pt x="3415407" y="1004494"/>
                </a:lnTo>
                <a:lnTo>
                  <a:pt x="3450420" y="1029288"/>
                </a:lnTo>
                <a:lnTo>
                  <a:pt x="3480605" y="1054632"/>
                </a:lnTo>
                <a:lnTo>
                  <a:pt x="3529321" y="1106113"/>
                </a:lnTo>
                <a:lnTo>
                  <a:pt x="3567219" y="1157229"/>
                </a:lnTo>
                <a:lnTo>
                  <a:pt x="3599964" y="1206272"/>
                </a:lnTo>
                <a:lnTo>
                  <a:pt x="3616174" y="1229482"/>
                </a:lnTo>
                <a:lnTo>
                  <a:pt x="3651809" y="1272211"/>
                </a:lnTo>
                <a:lnTo>
                  <a:pt x="3696453" y="1308596"/>
                </a:lnTo>
                <a:lnTo>
                  <a:pt x="3755771" y="1336928"/>
                </a:lnTo>
                <a:lnTo>
                  <a:pt x="3970645" y="1375626"/>
                </a:lnTo>
                <a:lnTo>
                  <a:pt x="4220606" y="1383617"/>
                </a:lnTo>
                <a:lnTo>
                  <a:pt x="4427729" y="1376773"/>
                </a:lnTo>
                <a:lnTo>
                  <a:pt x="4514088" y="1370964"/>
                </a:lnTo>
              </a:path>
            </a:pathLst>
          </a:custGeom>
          <a:ln w="12700">
            <a:solidFill>
              <a:srgbClr val="FF0000"/>
            </a:solidFill>
            <a:prstDash val="sys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aphicFrame>
        <p:nvGraphicFramePr>
          <p:cNvPr id="58" name="object 28"/>
          <p:cNvGraphicFramePr>
            <a:graphicFrameLocks noGrp="1"/>
          </p:cNvGraphicFramePr>
          <p:nvPr/>
        </p:nvGraphicFramePr>
        <p:xfrm>
          <a:off x="6384290" y="2222373"/>
          <a:ext cx="1710689" cy="2965450"/>
        </p:xfrm>
        <a:graphic>
          <a:graphicData uri="http://schemas.openxmlformats.org/drawingml/2006/table">
            <a:tbl>
              <a:tblPr firstRow="1" bandRow="1"/>
              <a:tblGrid>
                <a:gridCol w="1710689">
                  <a:extLst>
                    <a:ext uri="{9D8B030D-6E8A-4147-A177-3AD203B41FA5}">
                      <a16:colId xmlns:a16="http://schemas.microsoft.com/office/drawing/2014/main" val="20000"/>
                    </a:ext>
                  </a:extLst>
                </a:gridCol>
              </a:tblGrid>
              <a:tr h="1854200">
                <a:tc>
                  <a:txBody>
                    <a:bodyPr/>
                    <a:lstStyle>
                      <a:lvl1pPr marL="0" algn="l" defTabSz="914400">
                        <a:defRPr sz="1800">
                          <a:solidFill>
                            <a:schemeClr val="tx1"/>
                          </a:solidFill>
                          <a:latin typeface="Calibri" panose="020F0502020204030204"/>
                        </a:defRPr>
                      </a:lvl1pPr>
                      <a:lvl2pPr marL="457200" algn="l" defTabSz="914400">
                        <a:defRPr sz="1800">
                          <a:solidFill>
                            <a:schemeClr val="tx1"/>
                          </a:solidFill>
                          <a:latin typeface="Calibri" panose="020F0502020204030204"/>
                        </a:defRPr>
                      </a:lvl2pPr>
                      <a:lvl3pPr marL="914400" algn="l" defTabSz="914400">
                        <a:defRPr sz="1800">
                          <a:solidFill>
                            <a:schemeClr val="tx1"/>
                          </a:solidFill>
                          <a:latin typeface="Calibri" panose="020F0502020204030204"/>
                        </a:defRPr>
                      </a:lvl3pPr>
                      <a:lvl4pPr marL="1371600" algn="l" defTabSz="914400">
                        <a:defRPr sz="1800">
                          <a:solidFill>
                            <a:schemeClr val="tx1"/>
                          </a:solidFill>
                          <a:latin typeface="Calibri" panose="020F0502020204030204"/>
                        </a:defRPr>
                      </a:lvl4pPr>
                      <a:lvl5pPr marL="1828800" algn="l" defTabSz="914400">
                        <a:defRPr sz="1800">
                          <a:solidFill>
                            <a:schemeClr val="tx1"/>
                          </a:solidFill>
                          <a:latin typeface="Calibri" panose="020F0502020204030204"/>
                        </a:defRPr>
                      </a:lvl5pPr>
                      <a:lvl6pPr marL="2286000" algn="l" defTabSz="914400">
                        <a:defRPr sz="1800">
                          <a:solidFill>
                            <a:schemeClr val="tx1"/>
                          </a:solidFill>
                          <a:latin typeface="Calibri" panose="020F0502020204030204"/>
                        </a:defRPr>
                      </a:lvl6pPr>
                      <a:lvl7pPr marL="2743200" algn="l" defTabSz="914400">
                        <a:defRPr sz="1800">
                          <a:solidFill>
                            <a:schemeClr val="tx1"/>
                          </a:solidFill>
                          <a:latin typeface="Calibri" panose="020F0502020204030204"/>
                        </a:defRPr>
                      </a:lvl7pPr>
                      <a:lvl8pPr marL="3200400" algn="l" defTabSz="914400">
                        <a:defRPr sz="1800">
                          <a:solidFill>
                            <a:schemeClr val="tx1"/>
                          </a:solidFill>
                          <a:latin typeface="Calibri" panose="020F0502020204030204"/>
                        </a:defRPr>
                      </a:lvl8pPr>
                      <a:lvl9pPr marL="3657600" algn="l" defTabSz="914400">
                        <a:defRPr sz="1800">
                          <a:solidFill>
                            <a:schemeClr val="tx1"/>
                          </a:solidFill>
                          <a:latin typeface="Calibri" panose="020F0502020204030204"/>
                        </a:defRPr>
                      </a:lvl9pPr>
                    </a:lstStyle>
                    <a:p>
                      <a:pPr>
                        <a:lnSpc>
                          <a:spcPct val="100000"/>
                        </a:lnSpc>
                      </a:pPr>
                      <a:endParaRPr sz="18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a:noFill/>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205">
                <a:tc>
                  <a:txBody>
                    <a:bodyPr/>
                    <a:lstStyle>
                      <a:lvl1pPr marL="0" algn="l" defTabSz="914400">
                        <a:defRPr sz="1800">
                          <a:solidFill>
                            <a:schemeClr val="tx1"/>
                          </a:solidFill>
                          <a:latin typeface="Calibri" panose="020F0502020204030204"/>
                        </a:defRPr>
                      </a:lvl1pPr>
                      <a:lvl2pPr marL="457200" algn="l" defTabSz="914400">
                        <a:defRPr sz="1800">
                          <a:solidFill>
                            <a:schemeClr val="tx1"/>
                          </a:solidFill>
                          <a:latin typeface="Calibri" panose="020F0502020204030204"/>
                        </a:defRPr>
                      </a:lvl2pPr>
                      <a:lvl3pPr marL="914400" algn="l" defTabSz="914400">
                        <a:defRPr sz="1800">
                          <a:solidFill>
                            <a:schemeClr val="tx1"/>
                          </a:solidFill>
                          <a:latin typeface="Calibri" panose="020F0502020204030204"/>
                        </a:defRPr>
                      </a:lvl3pPr>
                      <a:lvl4pPr marL="1371600" algn="l" defTabSz="914400">
                        <a:defRPr sz="1800">
                          <a:solidFill>
                            <a:schemeClr val="tx1"/>
                          </a:solidFill>
                          <a:latin typeface="Calibri" panose="020F0502020204030204"/>
                        </a:defRPr>
                      </a:lvl4pPr>
                      <a:lvl5pPr marL="1828800" algn="l" defTabSz="914400">
                        <a:defRPr sz="1800">
                          <a:solidFill>
                            <a:schemeClr val="tx1"/>
                          </a:solidFill>
                          <a:latin typeface="Calibri" panose="020F0502020204030204"/>
                        </a:defRPr>
                      </a:lvl5pPr>
                      <a:lvl6pPr marL="2286000" algn="l" defTabSz="914400">
                        <a:defRPr sz="1800">
                          <a:solidFill>
                            <a:schemeClr val="tx1"/>
                          </a:solidFill>
                          <a:latin typeface="Calibri" panose="020F0502020204030204"/>
                        </a:defRPr>
                      </a:lvl6pPr>
                      <a:lvl7pPr marL="2743200" algn="l" defTabSz="914400">
                        <a:defRPr sz="1800">
                          <a:solidFill>
                            <a:schemeClr val="tx1"/>
                          </a:solidFill>
                          <a:latin typeface="Calibri" panose="020F0502020204030204"/>
                        </a:defRPr>
                      </a:lvl7pPr>
                      <a:lvl8pPr marL="3200400" algn="l" defTabSz="914400">
                        <a:defRPr sz="1800">
                          <a:solidFill>
                            <a:schemeClr val="tx1"/>
                          </a:solidFill>
                          <a:latin typeface="Calibri" panose="020F0502020204030204"/>
                        </a:defRPr>
                      </a:lvl8pPr>
                      <a:lvl9pPr marL="3657600" algn="l" defTabSz="914400">
                        <a:defRPr sz="1800">
                          <a:solidFill>
                            <a:schemeClr val="tx1"/>
                          </a:solidFill>
                          <a:latin typeface="Calibri" panose="020F0502020204030204"/>
                        </a:defRPr>
                      </a:lvl9pPr>
                    </a:lstStyle>
                    <a:p>
                      <a:pPr marL="2540" algn="ctr">
                        <a:lnSpc>
                          <a:spcPct val="100000"/>
                        </a:lnSpc>
                        <a:spcBef>
                          <a:spcPts val="245"/>
                        </a:spcBef>
                      </a:pPr>
                      <a:r>
                        <a:rPr sz="1800" spc="-25" dirty="0">
                          <a:latin typeface="Palatino Linotype" panose="02040502050505030304"/>
                          <a:cs typeface="Palatino Linotype" panose="02040502050505030304"/>
                        </a:rPr>
                        <a:t>C()</a:t>
                      </a:r>
                      <a:endParaRPr sz="1800">
                        <a:latin typeface="Palatino Linotype" panose="02040502050505030304"/>
                        <a:cs typeface="Palatino Linotype" panose="02040502050505030304"/>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205">
                <a:tc>
                  <a:txBody>
                    <a:bodyPr/>
                    <a:lstStyle>
                      <a:lvl1pPr marL="0" algn="l" defTabSz="914400">
                        <a:defRPr sz="1800">
                          <a:solidFill>
                            <a:schemeClr val="tx1"/>
                          </a:solidFill>
                          <a:latin typeface="Calibri" panose="020F0502020204030204"/>
                        </a:defRPr>
                      </a:lvl1pPr>
                      <a:lvl2pPr marL="457200" algn="l" defTabSz="914400">
                        <a:defRPr sz="1800">
                          <a:solidFill>
                            <a:schemeClr val="tx1"/>
                          </a:solidFill>
                          <a:latin typeface="Calibri" panose="020F0502020204030204"/>
                        </a:defRPr>
                      </a:lvl2pPr>
                      <a:lvl3pPr marL="914400" algn="l" defTabSz="914400">
                        <a:defRPr sz="1800">
                          <a:solidFill>
                            <a:schemeClr val="tx1"/>
                          </a:solidFill>
                          <a:latin typeface="Calibri" panose="020F0502020204030204"/>
                        </a:defRPr>
                      </a:lvl3pPr>
                      <a:lvl4pPr marL="1371600" algn="l" defTabSz="914400">
                        <a:defRPr sz="1800">
                          <a:solidFill>
                            <a:schemeClr val="tx1"/>
                          </a:solidFill>
                          <a:latin typeface="Calibri" panose="020F0502020204030204"/>
                        </a:defRPr>
                      </a:lvl4pPr>
                      <a:lvl5pPr marL="1828800" algn="l" defTabSz="914400">
                        <a:defRPr sz="1800">
                          <a:solidFill>
                            <a:schemeClr val="tx1"/>
                          </a:solidFill>
                          <a:latin typeface="Calibri" panose="020F0502020204030204"/>
                        </a:defRPr>
                      </a:lvl5pPr>
                      <a:lvl6pPr marL="2286000" algn="l" defTabSz="914400">
                        <a:defRPr sz="1800">
                          <a:solidFill>
                            <a:schemeClr val="tx1"/>
                          </a:solidFill>
                          <a:latin typeface="Calibri" panose="020F0502020204030204"/>
                        </a:defRPr>
                      </a:lvl6pPr>
                      <a:lvl7pPr marL="2743200" algn="l" defTabSz="914400">
                        <a:defRPr sz="1800">
                          <a:solidFill>
                            <a:schemeClr val="tx1"/>
                          </a:solidFill>
                          <a:latin typeface="Calibri" panose="020F0502020204030204"/>
                        </a:defRPr>
                      </a:lvl7pPr>
                      <a:lvl8pPr marL="3200400" algn="l" defTabSz="914400">
                        <a:defRPr sz="1800">
                          <a:solidFill>
                            <a:schemeClr val="tx1"/>
                          </a:solidFill>
                          <a:latin typeface="Calibri" panose="020F0502020204030204"/>
                        </a:defRPr>
                      </a:lvl8pPr>
                      <a:lvl9pPr marL="3657600" algn="l" defTabSz="914400">
                        <a:defRPr sz="1800">
                          <a:solidFill>
                            <a:schemeClr val="tx1"/>
                          </a:solidFill>
                          <a:latin typeface="Calibri" panose="020F0502020204030204"/>
                        </a:defRPr>
                      </a:lvl9pPr>
                    </a:lstStyle>
                    <a:p>
                      <a:pPr marL="2540" algn="ctr">
                        <a:lnSpc>
                          <a:spcPct val="100000"/>
                        </a:lnSpc>
                        <a:spcBef>
                          <a:spcPts val="245"/>
                        </a:spcBef>
                      </a:pPr>
                      <a:r>
                        <a:rPr sz="1800" spc="-25" dirty="0">
                          <a:latin typeface="Palatino Linotype" panose="02040502050505030304"/>
                          <a:cs typeface="Palatino Linotype" panose="02040502050505030304"/>
                        </a:rPr>
                        <a:t>C()</a:t>
                      </a:r>
                      <a:endParaRPr sz="1800">
                        <a:latin typeface="Palatino Linotype" panose="02040502050505030304"/>
                        <a:cs typeface="Palatino Linotype" panose="02040502050505030304"/>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914400">
                        <a:defRPr sz="1800">
                          <a:solidFill>
                            <a:schemeClr val="tx1"/>
                          </a:solidFill>
                          <a:latin typeface="Calibri" panose="020F0502020204030204"/>
                        </a:defRPr>
                      </a:lvl1pPr>
                      <a:lvl2pPr marL="457200" algn="l" defTabSz="914400">
                        <a:defRPr sz="1800">
                          <a:solidFill>
                            <a:schemeClr val="tx1"/>
                          </a:solidFill>
                          <a:latin typeface="Calibri" panose="020F0502020204030204"/>
                        </a:defRPr>
                      </a:lvl2pPr>
                      <a:lvl3pPr marL="914400" algn="l" defTabSz="914400">
                        <a:defRPr sz="1800">
                          <a:solidFill>
                            <a:schemeClr val="tx1"/>
                          </a:solidFill>
                          <a:latin typeface="Calibri" panose="020F0502020204030204"/>
                        </a:defRPr>
                      </a:lvl3pPr>
                      <a:lvl4pPr marL="1371600" algn="l" defTabSz="914400">
                        <a:defRPr sz="1800">
                          <a:solidFill>
                            <a:schemeClr val="tx1"/>
                          </a:solidFill>
                          <a:latin typeface="Calibri" panose="020F0502020204030204"/>
                        </a:defRPr>
                      </a:lvl4pPr>
                      <a:lvl5pPr marL="1828800" algn="l" defTabSz="914400">
                        <a:defRPr sz="1800">
                          <a:solidFill>
                            <a:schemeClr val="tx1"/>
                          </a:solidFill>
                          <a:latin typeface="Calibri" panose="020F0502020204030204"/>
                        </a:defRPr>
                      </a:lvl5pPr>
                      <a:lvl6pPr marL="2286000" algn="l" defTabSz="914400">
                        <a:defRPr sz="1800">
                          <a:solidFill>
                            <a:schemeClr val="tx1"/>
                          </a:solidFill>
                          <a:latin typeface="Calibri" panose="020F0502020204030204"/>
                        </a:defRPr>
                      </a:lvl6pPr>
                      <a:lvl7pPr marL="2743200" algn="l" defTabSz="914400">
                        <a:defRPr sz="1800">
                          <a:solidFill>
                            <a:schemeClr val="tx1"/>
                          </a:solidFill>
                          <a:latin typeface="Calibri" panose="020F0502020204030204"/>
                        </a:defRPr>
                      </a:lvl7pPr>
                      <a:lvl8pPr marL="3200400" algn="l" defTabSz="914400">
                        <a:defRPr sz="1800">
                          <a:solidFill>
                            <a:schemeClr val="tx1"/>
                          </a:solidFill>
                          <a:latin typeface="Calibri" panose="020F0502020204030204"/>
                        </a:defRPr>
                      </a:lvl8pPr>
                      <a:lvl9pPr marL="3657600" algn="l" defTabSz="914400">
                        <a:defRPr sz="1800">
                          <a:solidFill>
                            <a:schemeClr val="tx1"/>
                          </a:solidFill>
                          <a:latin typeface="Calibri" panose="020F0502020204030204"/>
                        </a:defRPr>
                      </a:lvl9pPr>
                    </a:lstStyle>
                    <a:p>
                      <a:pPr marL="1905" algn="ctr">
                        <a:lnSpc>
                          <a:spcPct val="100000"/>
                        </a:lnSpc>
                        <a:spcBef>
                          <a:spcPts val="250"/>
                        </a:spcBef>
                      </a:pPr>
                      <a:r>
                        <a:rPr sz="1800" spc="-25" dirty="0">
                          <a:latin typeface="Palatino Linotype" panose="02040502050505030304"/>
                          <a:cs typeface="Palatino Linotype" panose="02040502050505030304"/>
                        </a:rPr>
                        <a:t>T()</a:t>
                      </a:r>
                      <a:endParaRPr sz="1800">
                        <a:latin typeface="Palatino Linotype" panose="02040502050505030304"/>
                        <a:cs typeface="Palatino Linotype" panose="02040502050505030304"/>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45</a:t>
            </a:fld>
            <a:endParaRPr lang="en-US"/>
          </a:p>
        </p:txBody>
      </p:sp>
      <p:sp>
        <p:nvSpPr>
          <p:cNvPr id="33"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30" normalizeH="0" baseline="0" noProof="0">
                <a:ln>
                  <a:noFill/>
                </a:ln>
                <a:solidFill>
                  <a:srgbClr val="000000"/>
                </a:solidFill>
                <a:effectLst/>
                <a:uLnTx/>
                <a:uFillTx/>
                <a:latin typeface="Palatino Linotype" panose="02040502050505030304"/>
                <a:ea typeface="+mj-ea"/>
              </a:rPr>
              <a:t>Translation</a:t>
            </a:r>
            <a:r>
              <a:rPr kumimoji="0" lang="en-US" sz="4000" b="1" i="0" u="none" strike="noStrike" kern="0" cap="none" spc="-13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Process</a:t>
            </a:r>
            <a:r>
              <a:rPr kumimoji="0" lang="en-US" sz="4000" b="1" i="0" u="none" strike="noStrike" kern="0" cap="none" spc="-14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Example</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34" name="object 3"/>
          <p:cNvSpPr txBox="1"/>
          <p:nvPr/>
        </p:nvSpPr>
        <p:spPr>
          <a:xfrm>
            <a:off x="1581658" y="2109978"/>
            <a:ext cx="16573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T</a:t>
            </a:r>
            <a:endParaRPr>
              <a:solidFill>
                <a:sysClr val="windowText" lastClr="000000"/>
              </a:solidFill>
              <a:latin typeface="Palatino Linotype" panose="02040502050505030304"/>
              <a:cs typeface="Palatino Linotype" panose="02040502050505030304"/>
            </a:endParaRPr>
          </a:p>
        </p:txBody>
      </p:sp>
      <p:sp>
        <p:nvSpPr>
          <p:cNvPr id="35" name="object 4"/>
          <p:cNvSpPr txBox="1"/>
          <p:nvPr/>
        </p:nvSpPr>
        <p:spPr>
          <a:xfrm>
            <a:off x="814832" y="2735707"/>
            <a:ext cx="16510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B</a:t>
            </a:r>
            <a:endParaRPr>
              <a:solidFill>
                <a:sysClr val="windowText" lastClr="000000"/>
              </a:solidFill>
              <a:latin typeface="Palatino Linotype" panose="02040502050505030304"/>
              <a:cs typeface="Palatino Linotype" panose="02040502050505030304"/>
            </a:endParaRPr>
          </a:p>
        </p:txBody>
      </p:sp>
      <p:sp>
        <p:nvSpPr>
          <p:cNvPr id="36" name="object 5"/>
          <p:cNvSpPr txBox="1"/>
          <p:nvPr/>
        </p:nvSpPr>
        <p:spPr>
          <a:xfrm>
            <a:off x="2299207" y="2735707"/>
            <a:ext cx="18796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37" name="object 6"/>
          <p:cNvSpPr/>
          <p:nvPr/>
        </p:nvSpPr>
        <p:spPr>
          <a:xfrm>
            <a:off x="899160" y="2461260"/>
            <a:ext cx="1495425" cy="256540"/>
          </a:xfrm>
          <a:custGeom>
            <a:avLst/>
            <a:gdLst/>
            <a:ahLst/>
            <a:cxnLst/>
            <a:rect l="l" t="t" r="r" b="b"/>
            <a:pathLst>
              <a:path w="1495425" h="256539">
                <a:moveTo>
                  <a:pt x="766572" y="0"/>
                </a:moveTo>
                <a:lnTo>
                  <a:pt x="0" y="256412"/>
                </a:lnTo>
              </a:path>
              <a:path w="1495425" h="256539">
                <a:moveTo>
                  <a:pt x="766572" y="0"/>
                </a:moveTo>
                <a:lnTo>
                  <a:pt x="1495425" y="256412"/>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38" name="object 7"/>
          <p:cNvSpPr txBox="1"/>
          <p:nvPr/>
        </p:nvSpPr>
        <p:spPr>
          <a:xfrm>
            <a:off x="814832" y="1343659"/>
            <a:ext cx="2540635" cy="299720"/>
          </a:xfrm>
          <a:prstGeom prst="rect">
            <a:avLst/>
          </a:prstGeom>
        </p:spPr>
        <p:txBody>
          <a:bodyPr vert="horz" wrap="square" lIns="0" tIns="12700" rIns="0" bIns="0" rtlCol="0">
            <a:spAutoFit/>
          </a:bodyPr>
          <a:lstStyle/>
          <a:p>
            <a:pPr marL="12700">
              <a:spcBef>
                <a:spcPts val="100"/>
              </a:spcBef>
            </a:pPr>
            <a:r>
              <a:rPr dirty="0">
                <a:solidFill>
                  <a:sysClr val="windowText" lastClr="000000"/>
                </a:solidFill>
                <a:latin typeface="Palatino Linotype" panose="02040502050505030304"/>
                <a:cs typeface="Palatino Linotype" panose="02040502050505030304"/>
              </a:rPr>
              <a:t>Input</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string:</a:t>
            </a:r>
            <a:r>
              <a:rPr spc="465" dirty="0">
                <a:solidFill>
                  <a:sysClr val="windowText" lastClr="000000"/>
                </a:solidFill>
                <a:latin typeface="Palatino Linotype" panose="02040502050505030304"/>
                <a:cs typeface="Palatino Linotype" panose="02040502050505030304"/>
              </a:rPr>
              <a:t> </a:t>
            </a:r>
            <a:r>
              <a:rPr spc="-10" dirty="0">
                <a:solidFill>
                  <a:srgbClr val="A6A6A6"/>
                </a:solidFill>
                <a:latin typeface="Consolas" panose="020B0609020204030204"/>
                <a:cs typeface="Consolas" panose="020B0609020204030204"/>
              </a:rPr>
              <a:t>int[2][3]</a:t>
            </a:r>
            <a:endParaRPr>
              <a:solidFill>
                <a:sysClr val="windowText" lastClr="000000"/>
              </a:solidFill>
              <a:latin typeface="Consolas" panose="020B0609020204030204"/>
              <a:cs typeface="Consolas" panose="020B0609020204030204"/>
            </a:endParaRPr>
          </a:p>
        </p:txBody>
      </p:sp>
      <p:graphicFrame>
        <p:nvGraphicFramePr>
          <p:cNvPr id="39" name="object 8"/>
          <p:cNvGraphicFramePr>
            <a:graphicFrameLocks noGrp="1"/>
          </p:cNvGraphicFramePr>
          <p:nvPr/>
        </p:nvGraphicFramePr>
        <p:xfrm>
          <a:off x="6384290" y="2222373"/>
          <a:ext cx="1710689" cy="2966085"/>
        </p:xfrm>
        <a:graphic>
          <a:graphicData uri="http://schemas.openxmlformats.org/drawingml/2006/table">
            <a:tbl>
              <a:tblPr firstRow="1" bandRow="1"/>
              <a:tblGrid>
                <a:gridCol w="1710689">
                  <a:extLst>
                    <a:ext uri="{9D8B030D-6E8A-4147-A177-3AD203B41FA5}">
                      <a16:colId xmlns:a16="http://schemas.microsoft.com/office/drawing/2014/main" val="20000"/>
                    </a:ext>
                  </a:extLst>
                </a:gridCol>
              </a:tblGrid>
              <a:tr h="2225040">
                <a:tc>
                  <a:txBody>
                    <a:bodyPr/>
                    <a:lstStyle>
                      <a:lvl1pPr marL="0" algn="l" defTabSz="914400">
                        <a:defRPr sz="1800">
                          <a:solidFill>
                            <a:schemeClr val="tx1"/>
                          </a:solidFill>
                          <a:latin typeface="Calibri" panose="020F0502020204030204"/>
                        </a:defRPr>
                      </a:lvl1pPr>
                      <a:lvl2pPr marL="457200" algn="l" defTabSz="914400">
                        <a:defRPr sz="1800">
                          <a:solidFill>
                            <a:schemeClr val="tx1"/>
                          </a:solidFill>
                          <a:latin typeface="Calibri" panose="020F0502020204030204"/>
                        </a:defRPr>
                      </a:lvl2pPr>
                      <a:lvl3pPr marL="914400" algn="l" defTabSz="914400">
                        <a:defRPr sz="1800">
                          <a:solidFill>
                            <a:schemeClr val="tx1"/>
                          </a:solidFill>
                          <a:latin typeface="Calibri" panose="020F0502020204030204"/>
                        </a:defRPr>
                      </a:lvl3pPr>
                      <a:lvl4pPr marL="1371600" algn="l" defTabSz="914400">
                        <a:defRPr sz="1800">
                          <a:solidFill>
                            <a:schemeClr val="tx1"/>
                          </a:solidFill>
                          <a:latin typeface="Calibri" panose="020F0502020204030204"/>
                        </a:defRPr>
                      </a:lvl4pPr>
                      <a:lvl5pPr marL="1828800" algn="l" defTabSz="914400">
                        <a:defRPr sz="1800">
                          <a:solidFill>
                            <a:schemeClr val="tx1"/>
                          </a:solidFill>
                          <a:latin typeface="Calibri" panose="020F0502020204030204"/>
                        </a:defRPr>
                      </a:lvl5pPr>
                      <a:lvl6pPr marL="2286000" algn="l" defTabSz="914400">
                        <a:defRPr sz="1800">
                          <a:solidFill>
                            <a:schemeClr val="tx1"/>
                          </a:solidFill>
                          <a:latin typeface="Calibri" panose="020F0502020204030204"/>
                        </a:defRPr>
                      </a:lvl6pPr>
                      <a:lvl7pPr marL="2743200" algn="l" defTabSz="914400">
                        <a:defRPr sz="1800">
                          <a:solidFill>
                            <a:schemeClr val="tx1"/>
                          </a:solidFill>
                          <a:latin typeface="Calibri" panose="020F0502020204030204"/>
                        </a:defRPr>
                      </a:lvl7pPr>
                      <a:lvl8pPr marL="3200400" algn="l" defTabSz="914400">
                        <a:defRPr sz="1800">
                          <a:solidFill>
                            <a:schemeClr val="tx1"/>
                          </a:solidFill>
                          <a:latin typeface="Calibri" panose="020F0502020204030204"/>
                        </a:defRPr>
                      </a:lvl8pPr>
                      <a:lvl9pPr marL="3657600" algn="l" defTabSz="914400">
                        <a:defRPr sz="1800">
                          <a:solidFill>
                            <a:schemeClr val="tx1"/>
                          </a:solidFill>
                          <a:latin typeface="Calibri" panose="020F0502020204030204"/>
                        </a:defRPr>
                      </a:lvl9pPr>
                    </a:lstStyle>
                    <a:p>
                      <a:pPr>
                        <a:lnSpc>
                          <a:spcPct val="100000"/>
                        </a:lnSpc>
                      </a:pPr>
                      <a:endParaRPr sz="17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a:noFill/>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205">
                <a:tc>
                  <a:txBody>
                    <a:bodyPr/>
                    <a:lstStyle>
                      <a:lvl1pPr marL="0" algn="l" defTabSz="914400">
                        <a:defRPr sz="1800">
                          <a:solidFill>
                            <a:schemeClr val="tx1"/>
                          </a:solidFill>
                          <a:latin typeface="Calibri" panose="020F0502020204030204"/>
                        </a:defRPr>
                      </a:lvl1pPr>
                      <a:lvl2pPr marL="457200" algn="l" defTabSz="914400">
                        <a:defRPr sz="1800">
                          <a:solidFill>
                            <a:schemeClr val="tx1"/>
                          </a:solidFill>
                          <a:latin typeface="Calibri" panose="020F0502020204030204"/>
                        </a:defRPr>
                      </a:lvl2pPr>
                      <a:lvl3pPr marL="914400" algn="l" defTabSz="914400">
                        <a:defRPr sz="1800">
                          <a:solidFill>
                            <a:schemeClr val="tx1"/>
                          </a:solidFill>
                          <a:latin typeface="Calibri" panose="020F0502020204030204"/>
                        </a:defRPr>
                      </a:lvl3pPr>
                      <a:lvl4pPr marL="1371600" algn="l" defTabSz="914400">
                        <a:defRPr sz="1800">
                          <a:solidFill>
                            <a:schemeClr val="tx1"/>
                          </a:solidFill>
                          <a:latin typeface="Calibri" panose="020F0502020204030204"/>
                        </a:defRPr>
                      </a:lvl4pPr>
                      <a:lvl5pPr marL="1828800" algn="l" defTabSz="914400">
                        <a:defRPr sz="1800">
                          <a:solidFill>
                            <a:schemeClr val="tx1"/>
                          </a:solidFill>
                          <a:latin typeface="Calibri" panose="020F0502020204030204"/>
                        </a:defRPr>
                      </a:lvl5pPr>
                      <a:lvl6pPr marL="2286000" algn="l" defTabSz="914400">
                        <a:defRPr sz="1800">
                          <a:solidFill>
                            <a:schemeClr val="tx1"/>
                          </a:solidFill>
                          <a:latin typeface="Calibri" panose="020F0502020204030204"/>
                        </a:defRPr>
                      </a:lvl6pPr>
                      <a:lvl7pPr marL="2743200" algn="l" defTabSz="914400">
                        <a:defRPr sz="1800">
                          <a:solidFill>
                            <a:schemeClr val="tx1"/>
                          </a:solidFill>
                          <a:latin typeface="Calibri" panose="020F0502020204030204"/>
                        </a:defRPr>
                      </a:lvl7pPr>
                      <a:lvl8pPr marL="3200400" algn="l" defTabSz="914400">
                        <a:defRPr sz="1800">
                          <a:solidFill>
                            <a:schemeClr val="tx1"/>
                          </a:solidFill>
                          <a:latin typeface="Calibri" panose="020F0502020204030204"/>
                        </a:defRPr>
                      </a:lvl8pPr>
                      <a:lvl9pPr marL="3657600" algn="l" defTabSz="914400">
                        <a:defRPr sz="1800">
                          <a:solidFill>
                            <a:schemeClr val="tx1"/>
                          </a:solidFill>
                          <a:latin typeface="Calibri" panose="020F0502020204030204"/>
                        </a:defRPr>
                      </a:lvl9pPr>
                    </a:lstStyle>
                    <a:p>
                      <a:pPr marL="2540" algn="ctr">
                        <a:lnSpc>
                          <a:spcPct val="100000"/>
                        </a:lnSpc>
                        <a:spcBef>
                          <a:spcPts val="245"/>
                        </a:spcBef>
                      </a:pPr>
                      <a:r>
                        <a:rPr sz="1800" spc="-25" dirty="0">
                          <a:latin typeface="Palatino Linotype" panose="02040502050505030304"/>
                          <a:cs typeface="Palatino Linotype" panose="02040502050505030304"/>
                        </a:rPr>
                        <a:t>C()</a:t>
                      </a:r>
                      <a:endParaRPr sz="1800">
                        <a:latin typeface="Palatino Linotype" panose="02040502050505030304"/>
                        <a:cs typeface="Palatino Linotype" panose="02040502050505030304"/>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914400">
                        <a:defRPr sz="1800">
                          <a:solidFill>
                            <a:schemeClr val="tx1"/>
                          </a:solidFill>
                          <a:latin typeface="Calibri" panose="020F0502020204030204"/>
                        </a:defRPr>
                      </a:lvl1pPr>
                      <a:lvl2pPr marL="457200" algn="l" defTabSz="914400">
                        <a:defRPr sz="1800">
                          <a:solidFill>
                            <a:schemeClr val="tx1"/>
                          </a:solidFill>
                          <a:latin typeface="Calibri" panose="020F0502020204030204"/>
                        </a:defRPr>
                      </a:lvl2pPr>
                      <a:lvl3pPr marL="914400" algn="l" defTabSz="914400">
                        <a:defRPr sz="1800">
                          <a:solidFill>
                            <a:schemeClr val="tx1"/>
                          </a:solidFill>
                          <a:latin typeface="Calibri" panose="020F0502020204030204"/>
                        </a:defRPr>
                      </a:lvl3pPr>
                      <a:lvl4pPr marL="1371600" algn="l" defTabSz="914400">
                        <a:defRPr sz="1800">
                          <a:solidFill>
                            <a:schemeClr val="tx1"/>
                          </a:solidFill>
                          <a:latin typeface="Calibri" panose="020F0502020204030204"/>
                        </a:defRPr>
                      </a:lvl4pPr>
                      <a:lvl5pPr marL="1828800" algn="l" defTabSz="914400">
                        <a:defRPr sz="1800">
                          <a:solidFill>
                            <a:schemeClr val="tx1"/>
                          </a:solidFill>
                          <a:latin typeface="Calibri" panose="020F0502020204030204"/>
                        </a:defRPr>
                      </a:lvl5pPr>
                      <a:lvl6pPr marL="2286000" algn="l" defTabSz="914400">
                        <a:defRPr sz="1800">
                          <a:solidFill>
                            <a:schemeClr val="tx1"/>
                          </a:solidFill>
                          <a:latin typeface="Calibri" panose="020F0502020204030204"/>
                        </a:defRPr>
                      </a:lvl6pPr>
                      <a:lvl7pPr marL="2743200" algn="l" defTabSz="914400">
                        <a:defRPr sz="1800">
                          <a:solidFill>
                            <a:schemeClr val="tx1"/>
                          </a:solidFill>
                          <a:latin typeface="Calibri" panose="020F0502020204030204"/>
                        </a:defRPr>
                      </a:lvl7pPr>
                      <a:lvl8pPr marL="3200400" algn="l" defTabSz="914400">
                        <a:defRPr sz="1800">
                          <a:solidFill>
                            <a:schemeClr val="tx1"/>
                          </a:solidFill>
                          <a:latin typeface="Calibri" panose="020F0502020204030204"/>
                        </a:defRPr>
                      </a:lvl8pPr>
                      <a:lvl9pPr marL="3657600" algn="l" defTabSz="914400">
                        <a:defRPr sz="1800">
                          <a:solidFill>
                            <a:schemeClr val="tx1"/>
                          </a:solidFill>
                          <a:latin typeface="Calibri" panose="020F0502020204030204"/>
                        </a:defRPr>
                      </a:lvl9pPr>
                    </a:lstStyle>
                    <a:p>
                      <a:pPr marL="1905" algn="ctr">
                        <a:lnSpc>
                          <a:spcPct val="100000"/>
                        </a:lnSpc>
                        <a:spcBef>
                          <a:spcPts val="250"/>
                        </a:spcBef>
                      </a:pPr>
                      <a:r>
                        <a:rPr sz="1800" spc="-25" dirty="0">
                          <a:latin typeface="Palatino Linotype" panose="02040502050505030304"/>
                          <a:cs typeface="Palatino Linotype" panose="02040502050505030304"/>
                        </a:rPr>
                        <a:t>T()</a:t>
                      </a:r>
                      <a:endParaRPr sz="1800">
                        <a:latin typeface="Palatino Linotype" panose="02040502050505030304"/>
                        <a:cs typeface="Palatino Linotype" panose="02040502050505030304"/>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40" name="object 9"/>
          <p:cNvSpPr txBox="1"/>
          <p:nvPr/>
        </p:nvSpPr>
        <p:spPr>
          <a:xfrm>
            <a:off x="6819138" y="5393842"/>
            <a:ext cx="895350" cy="269240"/>
          </a:xfrm>
          <a:prstGeom prst="rect">
            <a:avLst/>
          </a:prstGeom>
        </p:spPr>
        <p:txBody>
          <a:bodyPr vert="horz" wrap="square" lIns="0" tIns="12065" rIns="0" bIns="0" rtlCol="0">
            <a:spAutoFit/>
          </a:bodyPr>
          <a:lstStyle/>
          <a:p>
            <a:pPr marL="12700">
              <a:spcBef>
                <a:spcPts val="95"/>
              </a:spcBef>
            </a:pPr>
            <a:r>
              <a:rPr sz="1600" dirty="0">
                <a:solidFill>
                  <a:sysClr val="windowText" lastClr="000000"/>
                </a:solidFill>
                <a:latin typeface="Palatino Linotype" panose="02040502050505030304"/>
                <a:cs typeface="Palatino Linotype" panose="02040502050505030304"/>
              </a:rPr>
              <a:t>Call</a:t>
            </a:r>
            <a:r>
              <a:rPr sz="1600" spc="-30"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stack</a:t>
            </a:r>
            <a:endParaRPr sz="1600">
              <a:solidFill>
                <a:sysClr val="windowText" lastClr="000000"/>
              </a:solidFill>
              <a:latin typeface="Palatino Linotype" panose="02040502050505030304"/>
              <a:cs typeface="Palatino Linotype" panose="02040502050505030304"/>
            </a:endParaRPr>
          </a:p>
        </p:txBody>
      </p:sp>
      <p:sp>
        <p:nvSpPr>
          <p:cNvPr id="41" name="object 10"/>
          <p:cNvSpPr txBox="1"/>
          <p:nvPr/>
        </p:nvSpPr>
        <p:spPr>
          <a:xfrm>
            <a:off x="755395" y="4634941"/>
            <a:ext cx="725170" cy="300355"/>
          </a:xfrm>
          <a:prstGeom prst="rect">
            <a:avLst/>
          </a:prstGeom>
        </p:spPr>
        <p:txBody>
          <a:bodyPr vert="horz" wrap="square" lIns="0" tIns="12700" rIns="0" bIns="0" rtlCol="0">
            <a:spAutoFit/>
          </a:bodyPr>
          <a:lstStyle/>
          <a:p>
            <a:pPr marL="12700">
              <a:spcBef>
                <a:spcPts val="100"/>
              </a:spcBef>
            </a:pPr>
            <a:r>
              <a:rPr b="1" dirty="0">
                <a:solidFill>
                  <a:srgbClr val="FF0000"/>
                </a:solidFill>
                <a:latin typeface="Palatino Linotype" panose="02040502050505030304"/>
                <a:cs typeface="Palatino Linotype" panose="02040502050505030304"/>
              </a:rPr>
              <a:t>Step </a:t>
            </a:r>
            <a:r>
              <a:rPr b="1" spc="-25" dirty="0">
                <a:solidFill>
                  <a:srgbClr val="FF0000"/>
                </a:solidFill>
                <a:latin typeface="Palatino Linotype" panose="02040502050505030304"/>
                <a:cs typeface="Palatino Linotype" panose="02040502050505030304"/>
              </a:rPr>
              <a:t>7:</a:t>
            </a:r>
            <a:endParaRPr>
              <a:solidFill>
                <a:sysClr val="windowText" lastClr="000000"/>
              </a:solidFill>
              <a:latin typeface="Palatino Linotype" panose="02040502050505030304"/>
              <a:cs typeface="Palatino Linotype" panose="02040502050505030304"/>
            </a:endParaRPr>
          </a:p>
        </p:txBody>
      </p:sp>
      <p:sp>
        <p:nvSpPr>
          <p:cNvPr id="42" name="object 11"/>
          <p:cNvSpPr txBox="1"/>
          <p:nvPr/>
        </p:nvSpPr>
        <p:spPr>
          <a:xfrm>
            <a:off x="755395" y="4909820"/>
            <a:ext cx="2730500" cy="683895"/>
          </a:xfrm>
          <a:prstGeom prst="rect">
            <a:avLst/>
          </a:prstGeom>
        </p:spPr>
        <p:txBody>
          <a:bodyPr vert="horz" wrap="square" lIns="0" tIns="67310" rIns="0" bIns="0" rtlCol="0">
            <a:spAutoFit/>
          </a:bodyPr>
          <a:lstStyle/>
          <a:p>
            <a:pPr marL="299085" indent="-286385">
              <a:spcBef>
                <a:spcPts val="530"/>
              </a:spcBef>
              <a:buFont typeface="Arial MT"/>
              <a:buChar char="•"/>
              <a:tabLst>
                <a:tab pos="299085" algn="l"/>
              </a:tabLst>
            </a:pPr>
            <a:r>
              <a:rPr dirty="0">
                <a:solidFill>
                  <a:sysClr val="windowText" lastClr="000000"/>
                </a:solidFill>
                <a:latin typeface="Palatino Linotype" panose="02040502050505030304"/>
                <a:cs typeface="Palatino Linotype" panose="02040502050505030304"/>
              </a:rPr>
              <a:t>C() </a:t>
            </a:r>
            <a:r>
              <a:rPr spc="-10" dirty="0">
                <a:solidFill>
                  <a:sysClr val="windowText" lastClr="000000"/>
                </a:solidFill>
                <a:latin typeface="Palatino Linotype" panose="02040502050505030304"/>
                <a:cs typeface="Palatino Linotype" panose="02040502050505030304"/>
              </a:rPr>
              <a:t>returns</a:t>
            </a:r>
            <a:endParaRPr>
              <a:solidFill>
                <a:sysClr val="windowText" lastClr="000000"/>
              </a:solidFill>
              <a:latin typeface="Palatino Linotype" panose="02040502050505030304"/>
              <a:cs typeface="Palatino Linotype" panose="02040502050505030304"/>
            </a:endParaRPr>
          </a:p>
          <a:p>
            <a:pPr marL="299085" indent="-286385">
              <a:spcBef>
                <a:spcPts val="430"/>
              </a:spcBef>
              <a:buFont typeface="Arial MT"/>
              <a:buChar char="•"/>
              <a:tabLst>
                <a:tab pos="299085" algn="l"/>
              </a:tabLst>
            </a:pPr>
            <a:r>
              <a:rPr dirty="0">
                <a:solidFill>
                  <a:sysClr val="windowText" lastClr="000000"/>
                </a:solidFill>
                <a:latin typeface="Palatino Linotype" panose="02040502050505030304"/>
                <a:cs typeface="Palatino Linotype" panose="02040502050505030304"/>
              </a:rPr>
              <a:t>Execute</a:t>
            </a:r>
            <a:r>
              <a:rPr spc="-4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semantic</a:t>
            </a:r>
            <a:r>
              <a:rPr spc="-3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action</a:t>
            </a:r>
            <a:endParaRPr>
              <a:solidFill>
                <a:sysClr val="windowText" lastClr="000000"/>
              </a:solidFill>
              <a:latin typeface="Palatino Linotype" panose="02040502050505030304"/>
              <a:cs typeface="Palatino Linotype" panose="02040502050505030304"/>
            </a:endParaRPr>
          </a:p>
        </p:txBody>
      </p:sp>
      <p:sp>
        <p:nvSpPr>
          <p:cNvPr id="43" name="object 12"/>
          <p:cNvSpPr txBox="1"/>
          <p:nvPr/>
        </p:nvSpPr>
        <p:spPr>
          <a:xfrm>
            <a:off x="738022" y="3329178"/>
            <a:ext cx="317500" cy="299720"/>
          </a:xfrm>
          <a:prstGeom prst="rect">
            <a:avLst/>
          </a:prstGeom>
        </p:spPr>
        <p:txBody>
          <a:bodyPr vert="horz" wrap="square" lIns="0" tIns="12700" rIns="0" bIns="0" rtlCol="0">
            <a:spAutoFit/>
          </a:bodyPr>
          <a:lstStyle/>
          <a:p>
            <a:pPr marL="12700">
              <a:spcBef>
                <a:spcPts val="100"/>
              </a:spcBef>
            </a:pPr>
            <a:r>
              <a:rPr b="1" spc="-25" dirty="0">
                <a:solidFill>
                  <a:sysClr val="windowText" lastClr="000000"/>
                </a:solidFill>
                <a:latin typeface="Palatino Linotype" panose="02040502050505030304"/>
                <a:cs typeface="Palatino Linotype" panose="02040502050505030304"/>
              </a:rPr>
              <a:t>int</a:t>
            </a:r>
            <a:endParaRPr>
              <a:solidFill>
                <a:sysClr val="windowText" lastClr="000000"/>
              </a:solidFill>
              <a:latin typeface="Palatino Linotype" panose="02040502050505030304"/>
              <a:cs typeface="Palatino Linotype" panose="02040502050505030304"/>
            </a:endParaRPr>
          </a:p>
        </p:txBody>
      </p:sp>
      <p:sp>
        <p:nvSpPr>
          <p:cNvPr id="44" name="object 13"/>
          <p:cNvSpPr/>
          <p:nvPr/>
        </p:nvSpPr>
        <p:spPr>
          <a:xfrm>
            <a:off x="899160" y="3086100"/>
            <a:ext cx="0" cy="224154"/>
          </a:xfrm>
          <a:custGeom>
            <a:avLst/>
            <a:gdLst/>
            <a:ahLst/>
            <a:cxnLst/>
            <a:rect l="l" t="t" r="r" b="b"/>
            <a:pathLst>
              <a:path h="224154">
                <a:moveTo>
                  <a:pt x="0" y="0"/>
                </a:moveTo>
                <a:lnTo>
                  <a:pt x="0" y="22390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5" name="object 14"/>
          <p:cNvSpPr txBox="1"/>
          <p:nvPr/>
        </p:nvSpPr>
        <p:spPr>
          <a:xfrm>
            <a:off x="1744472" y="3329178"/>
            <a:ext cx="292100" cy="299720"/>
          </a:xfrm>
          <a:prstGeom prst="rect">
            <a:avLst/>
          </a:prstGeom>
        </p:spPr>
        <p:txBody>
          <a:bodyPr vert="horz" wrap="square" lIns="0" tIns="12700" rIns="0" bIns="0" rtlCol="0">
            <a:spAutoFit/>
          </a:bodyPr>
          <a:lstStyle/>
          <a:p>
            <a:pPr marL="12700">
              <a:spcBef>
                <a:spcPts val="100"/>
              </a:spcBef>
            </a:pPr>
            <a:r>
              <a:rPr spc="-25" dirty="0">
                <a:solidFill>
                  <a:sysClr val="windowText" lastClr="000000"/>
                </a:solidFill>
                <a:latin typeface="Palatino Linotype" panose="02040502050505030304"/>
                <a:cs typeface="Palatino Linotype" panose="02040502050505030304"/>
              </a:rPr>
              <a:t>[</a:t>
            </a:r>
            <a:r>
              <a:rPr b="1" spc="-25" dirty="0">
                <a:solidFill>
                  <a:sysClr val="windowText" lastClr="000000"/>
                </a:solidFill>
                <a:latin typeface="Palatino Linotype" panose="02040502050505030304"/>
                <a:cs typeface="Palatino Linotype" panose="02040502050505030304"/>
              </a:rPr>
              <a:t>2</a:t>
            </a:r>
            <a:r>
              <a:rPr spc="-25" dirty="0">
                <a:solidFill>
                  <a:sysClr val="windowText" lastClr="000000"/>
                </a:solidFill>
                <a:latin typeface="Palatino Linotype" panose="02040502050505030304"/>
                <a:cs typeface="Palatino Linotype" panose="02040502050505030304"/>
              </a:rPr>
              <a:t>]</a:t>
            </a:r>
            <a:endParaRPr>
              <a:solidFill>
                <a:sysClr val="windowText" lastClr="000000"/>
              </a:solidFill>
              <a:latin typeface="Palatino Linotype" panose="02040502050505030304"/>
              <a:cs typeface="Palatino Linotype" panose="02040502050505030304"/>
            </a:endParaRPr>
          </a:p>
        </p:txBody>
      </p:sp>
      <p:sp>
        <p:nvSpPr>
          <p:cNvPr id="46" name="object 15"/>
          <p:cNvSpPr/>
          <p:nvPr/>
        </p:nvSpPr>
        <p:spPr>
          <a:xfrm>
            <a:off x="1892807" y="3086100"/>
            <a:ext cx="1310640" cy="229235"/>
          </a:xfrm>
          <a:custGeom>
            <a:avLst/>
            <a:gdLst/>
            <a:ahLst/>
            <a:cxnLst/>
            <a:rect l="l" t="t" r="r" b="b"/>
            <a:pathLst>
              <a:path w="1310639" h="229235">
                <a:moveTo>
                  <a:pt x="501777" y="0"/>
                </a:moveTo>
                <a:lnTo>
                  <a:pt x="0" y="223900"/>
                </a:lnTo>
              </a:path>
              <a:path w="1310639" h="229235">
                <a:moveTo>
                  <a:pt x="501396" y="0"/>
                </a:moveTo>
                <a:lnTo>
                  <a:pt x="1310259" y="228853"/>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7" name="object 16"/>
          <p:cNvSpPr txBox="1"/>
          <p:nvPr/>
        </p:nvSpPr>
        <p:spPr>
          <a:xfrm>
            <a:off x="2553461" y="3944873"/>
            <a:ext cx="292100" cy="299720"/>
          </a:xfrm>
          <a:prstGeom prst="rect">
            <a:avLst/>
          </a:prstGeom>
        </p:spPr>
        <p:txBody>
          <a:bodyPr vert="horz" wrap="square" lIns="0" tIns="12700" rIns="0" bIns="0" rtlCol="0">
            <a:spAutoFit/>
          </a:bodyPr>
          <a:lstStyle/>
          <a:p>
            <a:pPr marL="12700">
              <a:spcBef>
                <a:spcPts val="100"/>
              </a:spcBef>
            </a:pPr>
            <a:r>
              <a:rPr spc="-25" dirty="0">
                <a:solidFill>
                  <a:sysClr val="windowText" lastClr="000000"/>
                </a:solidFill>
                <a:latin typeface="Palatino Linotype" panose="02040502050505030304"/>
                <a:cs typeface="Palatino Linotype" panose="02040502050505030304"/>
              </a:rPr>
              <a:t>[</a:t>
            </a:r>
            <a:r>
              <a:rPr b="1" spc="-25" dirty="0">
                <a:solidFill>
                  <a:sysClr val="windowText" lastClr="000000"/>
                </a:solidFill>
                <a:latin typeface="Palatino Linotype" panose="02040502050505030304"/>
                <a:cs typeface="Palatino Linotype" panose="02040502050505030304"/>
              </a:rPr>
              <a:t>3</a:t>
            </a:r>
            <a:r>
              <a:rPr spc="-25" dirty="0">
                <a:solidFill>
                  <a:sysClr val="windowText" lastClr="000000"/>
                </a:solidFill>
                <a:latin typeface="Palatino Linotype" panose="02040502050505030304"/>
                <a:cs typeface="Palatino Linotype" panose="02040502050505030304"/>
              </a:rPr>
              <a:t>]</a:t>
            </a:r>
            <a:endParaRPr>
              <a:solidFill>
                <a:sysClr val="windowText" lastClr="000000"/>
              </a:solidFill>
              <a:latin typeface="Palatino Linotype" panose="02040502050505030304"/>
              <a:cs typeface="Palatino Linotype" panose="02040502050505030304"/>
            </a:endParaRPr>
          </a:p>
        </p:txBody>
      </p:sp>
      <p:sp>
        <p:nvSpPr>
          <p:cNvPr id="48" name="object 17"/>
          <p:cNvSpPr txBox="1"/>
          <p:nvPr/>
        </p:nvSpPr>
        <p:spPr>
          <a:xfrm>
            <a:off x="3917060" y="3949700"/>
            <a:ext cx="18796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49" name="object 18"/>
          <p:cNvSpPr/>
          <p:nvPr/>
        </p:nvSpPr>
        <p:spPr>
          <a:xfrm>
            <a:off x="2700527" y="3685032"/>
            <a:ext cx="1311910" cy="246379"/>
          </a:xfrm>
          <a:custGeom>
            <a:avLst/>
            <a:gdLst/>
            <a:ahLst/>
            <a:cxnLst/>
            <a:rect l="l" t="t" r="r" b="b"/>
            <a:pathLst>
              <a:path w="1311910" h="246379">
                <a:moveTo>
                  <a:pt x="501777" y="0"/>
                </a:moveTo>
                <a:lnTo>
                  <a:pt x="0" y="241300"/>
                </a:lnTo>
              </a:path>
              <a:path w="1311910" h="246379">
                <a:moveTo>
                  <a:pt x="502920" y="0"/>
                </a:moveTo>
                <a:lnTo>
                  <a:pt x="1311783" y="246253"/>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50" name="object 19"/>
          <p:cNvSpPr txBox="1"/>
          <p:nvPr/>
        </p:nvSpPr>
        <p:spPr>
          <a:xfrm>
            <a:off x="1058062" y="2675890"/>
            <a:ext cx="913130" cy="391160"/>
          </a:xfrm>
          <a:prstGeom prst="rect">
            <a:avLst/>
          </a:prstGeom>
        </p:spPr>
        <p:txBody>
          <a:bodyPr vert="horz" wrap="square" lIns="0" tIns="12700" rIns="0" bIns="0" rtlCol="0">
            <a:spAutoFit/>
          </a:bodyPr>
          <a:lstStyle/>
          <a:p>
            <a:pPr marL="12700">
              <a:spcBef>
                <a:spcPts val="100"/>
              </a:spcBef>
            </a:pPr>
            <a:r>
              <a:rPr sz="1200" i="1" dirty="0">
                <a:solidFill>
                  <a:srgbClr val="6F2F9F"/>
                </a:solidFill>
                <a:latin typeface="Palatino Linotype" panose="02040502050505030304"/>
                <a:cs typeface="Palatino Linotype" panose="02040502050505030304"/>
              </a:rPr>
              <a:t>type</a:t>
            </a:r>
            <a:r>
              <a:rPr sz="1200" i="1" spc="-1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spc="-10" dirty="0">
                <a:solidFill>
                  <a:srgbClr val="6F2F9F"/>
                </a:solidFill>
                <a:latin typeface="Palatino Linotype" panose="02040502050505030304"/>
                <a:cs typeface="Palatino Linotype" panose="02040502050505030304"/>
              </a:rPr>
              <a:t>integer</a:t>
            </a:r>
            <a:endParaRPr sz="1200">
              <a:solidFill>
                <a:sysClr val="windowText" lastClr="000000"/>
              </a:solidFill>
              <a:latin typeface="Palatino Linotype" panose="02040502050505030304"/>
              <a:cs typeface="Palatino Linotype" panose="02040502050505030304"/>
            </a:endParaRPr>
          </a:p>
          <a:p>
            <a:pPr marL="12700"/>
            <a:r>
              <a:rPr sz="1200" i="1" dirty="0">
                <a:solidFill>
                  <a:srgbClr val="6F2F9F"/>
                </a:solidFill>
                <a:latin typeface="Palatino Linotype" panose="02040502050505030304"/>
                <a:cs typeface="Palatino Linotype" panose="02040502050505030304"/>
              </a:rPr>
              <a:t>width</a:t>
            </a:r>
            <a:r>
              <a:rPr sz="1200" i="1" spc="-2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15" dirty="0">
                <a:solidFill>
                  <a:srgbClr val="6F2F9F"/>
                </a:solidFill>
                <a:latin typeface="Palatino Linotype" panose="02040502050505030304"/>
                <a:cs typeface="Palatino Linotype" panose="02040502050505030304"/>
              </a:rPr>
              <a:t> </a:t>
            </a:r>
            <a:r>
              <a:rPr sz="1200" spc="-50" dirty="0">
                <a:solidFill>
                  <a:srgbClr val="6F2F9F"/>
                </a:solidFill>
                <a:latin typeface="Palatino Linotype" panose="02040502050505030304"/>
                <a:cs typeface="Palatino Linotype" panose="02040502050505030304"/>
              </a:rPr>
              <a:t>4</a:t>
            </a:r>
            <a:endParaRPr sz="1200">
              <a:solidFill>
                <a:sysClr val="windowText" lastClr="000000"/>
              </a:solidFill>
              <a:latin typeface="Palatino Linotype" panose="02040502050505030304"/>
              <a:cs typeface="Palatino Linotype" panose="02040502050505030304"/>
            </a:endParaRPr>
          </a:p>
        </p:txBody>
      </p:sp>
      <p:sp>
        <p:nvSpPr>
          <p:cNvPr id="51" name="object 20"/>
          <p:cNvSpPr txBox="1"/>
          <p:nvPr/>
        </p:nvSpPr>
        <p:spPr>
          <a:xfrm>
            <a:off x="4224528" y="1491996"/>
            <a:ext cx="1266825" cy="646430"/>
          </a:xfrm>
          <a:prstGeom prst="rect">
            <a:avLst/>
          </a:prstGeom>
          <a:solidFill>
            <a:srgbClr val="FFF1CC"/>
          </a:solidFill>
          <a:ln w="9525">
            <a:solidFill>
              <a:srgbClr val="000000"/>
            </a:solidFill>
          </a:ln>
        </p:spPr>
        <p:txBody>
          <a:bodyPr vert="horz" wrap="square" lIns="0" tIns="31115" rIns="0" bIns="0" rtlCol="0">
            <a:spAutoFit/>
          </a:bodyPr>
          <a:lstStyle/>
          <a:p>
            <a:pPr marL="92075">
              <a:spcBef>
                <a:spcPts val="245"/>
              </a:spcBef>
            </a:pPr>
            <a:r>
              <a:rPr i="1" dirty="0">
                <a:solidFill>
                  <a:sysClr val="windowText" lastClr="000000"/>
                </a:solidFill>
                <a:latin typeface="Palatino Linotype" panose="02040502050505030304"/>
                <a:cs typeface="Palatino Linotype" panose="02040502050505030304"/>
              </a:rPr>
              <a:t>t</a:t>
            </a:r>
            <a:r>
              <a:rPr i="1" spc="-1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t>
            </a:r>
            <a:r>
              <a:rPr spc="-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integer</a:t>
            </a:r>
            <a:endParaRPr>
              <a:solidFill>
                <a:sysClr val="windowText" lastClr="000000"/>
              </a:solidFill>
              <a:latin typeface="Palatino Linotype" panose="02040502050505030304"/>
              <a:cs typeface="Palatino Linotype" panose="02040502050505030304"/>
            </a:endParaRPr>
          </a:p>
          <a:p>
            <a:pPr marL="92075"/>
            <a:r>
              <a:rPr i="1" dirty="0">
                <a:solidFill>
                  <a:sysClr val="windowText" lastClr="000000"/>
                </a:solidFill>
                <a:latin typeface="Palatino Linotype" panose="02040502050505030304"/>
                <a:cs typeface="Palatino Linotype" panose="02040502050505030304"/>
              </a:rPr>
              <a:t>w</a:t>
            </a:r>
            <a:r>
              <a:rPr i="1" spc="-2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t>
            </a:r>
            <a:r>
              <a:rPr spc="-25" dirty="0">
                <a:solidFill>
                  <a:sysClr val="windowText" lastClr="000000"/>
                </a:solidFill>
                <a:latin typeface="Palatino Linotype" panose="02040502050505030304"/>
                <a:cs typeface="Palatino Linotype" panose="02040502050505030304"/>
              </a:rPr>
              <a:t> </a:t>
            </a:r>
            <a:r>
              <a:rPr spc="-50" dirty="0">
                <a:solidFill>
                  <a:sysClr val="windowText" lastClr="000000"/>
                </a:solidFill>
                <a:latin typeface="Palatino Linotype" panose="02040502050505030304"/>
                <a:cs typeface="Palatino Linotype" panose="02040502050505030304"/>
              </a:rPr>
              <a:t>4</a:t>
            </a:r>
            <a:endParaRPr>
              <a:solidFill>
                <a:sysClr val="windowText" lastClr="000000"/>
              </a:solidFill>
              <a:latin typeface="Palatino Linotype" panose="02040502050505030304"/>
              <a:cs typeface="Palatino Linotype" panose="02040502050505030304"/>
            </a:endParaRPr>
          </a:p>
        </p:txBody>
      </p:sp>
      <p:sp>
        <p:nvSpPr>
          <p:cNvPr id="52" name="object 21"/>
          <p:cNvSpPr txBox="1"/>
          <p:nvPr/>
        </p:nvSpPr>
        <p:spPr>
          <a:xfrm>
            <a:off x="3943350" y="4566284"/>
            <a:ext cx="13208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𝜖</a:t>
            </a:r>
            <a:endParaRPr>
              <a:solidFill>
                <a:sysClr val="windowText" lastClr="000000"/>
              </a:solidFill>
              <a:latin typeface="Cambria Math" panose="02040503050406030204"/>
              <a:cs typeface="Cambria Math" panose="02040503050406030204"/>
            </a:endParaRPr>
          </a:p>
        </p:txBody>
      </p:sp>
      <p:sp>
        <p:nvSpPr>
          <p:cNvPr id="53" name="object 22"/>
          <p:cNvSpPr/>
          <p:nvPr/>
        </p:nvSpPr>
        <p:spPr>
          <a:xfrm>
            <a:off x="4011167" y="4300728"/>
            <a:ext cx="0" cy="245745"/>
          </a:xfrm>
          <a:custGeom>
            <a:avLst/>
            <a:gdLst/>
            <a:ahLst/>
            <a:cxnLst/>
            <a:rect l="l" t="t" r="r" b="b"/>
            <a:pathLst>
              <a:path h="245745">
                <a:moveTo>
                  <a:pt x="0" y="0"/>
                </a:moveTo>
                <a:lnTo>
                  <a:pt x="0" y="245364"/>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nvGrpSpPr>
          <p:cNvPr id="54" name="object 23"/>
          <p:cNvGrpSpPr/>
          <p:nvPr/>
        </p:nvGrpSpPr>
        <p:grpSpPr>
          <a:xfrm>
            <a:off x="1030606" y="5737605"/>
            <a:ext cx="5147945" cy="572135"/>
            <a:chOff x="1030606" y="5737605"/>
            <a:chExt cx="5147945" cy="572135"/>
          </a:xfrm>
        </p:grpSpPr>
        <p:pic>
          <p:nvPicPr>
            <p:cNvPr id="55" name="object 24"/>
            <p:cNvPicPr/>
            <p:nvPr/>
          </p:nvPicPr>
          <p:blipFill>
            <a:blip r:embed="rId3" cstate="print"/>
            <a:stretch>
              <a:fillRect/>
            </a:stretch>
          </p:blipFill>
          <p:spPr>
            <a:xfrm>
              <a:off x="1030606" y="5800913"/>
              <a:ext cx="5119843" cy="447711"/>
            </a:xfrm>
            <a:prstGeom prst="rect">
              <a:avLst/>
            </a:prstGeom>
          </p:spPr>
        </p:pic>
        <p:sp>
          <p:nvSpPr>
            <p:cNvPr id="56" name="object 25"/>
            <p:cNvSpPr/>
            <p:nvPr/>
          </p:nvSpPr>
          <p:spPr>
            <a:xfrm>
              <a:off x="2819400" y="5743955"/>
              <a:ext cx="3352800" cy="559435"/>
            </a:xfrm>
            <a:custGeom>
              <a:avLst/>
              <a:gdLst/>
              <a:ahLst/>
              <a:cxnLst/>
              <a:rect l="l" t="t" r="r" b="b"/>
              <a:pathLst>
                <a:path w="3352800" h="559435">
                  <a:moveTo>
                    <a:pt x="0" y="559308"/>
                  </a:moveTo>
                  <a:lnTo>
                    <a:pt x="3352800" y="559308"/>
                  </a:lnTo>
                  <a:lnTo>
                    <a:pt x="3352800" y="0"/>
                  </a:lnTo>
                  <a:lnTo>
                    <a:pt x="0" y="0"/>
                  </a:lnTo>
                  <a:lnTo>
                    <a:pt x="0" y="559308"/>
                  </a:lnTo>
                  <a:close/>
                </a:path>
              </a:pathLst>
            </a:custGeom>
            <a:ln w="12699">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
        <p:nvSpPr>
          <p:cNvPr id="57" name="object 26"/>
          <p:cNvSpPr txBox="1"/>
          <p:nvPr/>
        </p:nvSpPr>
        <p:spPr>
          <a:xfrm>
            <a:off x="4350765" y="3861942"/>
            <a:ext cx="913130" cy="391160"/>
          </a:xfrm>
          <a:prstGeom prst="rect">
            <a:avLst/>
          </a:prstGeom>
        </p:spPr>
        <p:txBody>
          <a:bodyPr vert="horz" wrap="square" lIns="0" tIns="12700" rIns="0" bIns="0" rtlCol="0">
            <a:spAutoFit/>
          </a:bodyPr>
          <a:lstStyle/>
          <a:p>
            <a:pPr marL="12700">
              <a:spcBef>
                <a:spcPts val="100"/>
              </a:spcBef>
            </a:pPr>
            <a:r>
              <a:rPr sz="1200" i="1" dirty="0">
                <a:solidFill>
                  <a:srgbClr val="6F2F9F"/>
                </a:solidFill>
                <a:latin typeface="Palatino Linotype" panose="02040502050505030304"/>
                <a:cs typeface="Palatino Linotype" panose="02040502050505030304"/>
              </a:rPr>
              <a:t>type</a:t>
            </a:r>
            <a:r>
              <a:rPr sz="1200" i="1" spc="-1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spc="-10" dirty="0">
                <a:solidFill>
                  <a:srgbClr val="6F2F9F"/>
                </a:solidFill>
                <a:latin typeface="Palatino Linotype" panose="02040502050505030304"/>
                <a:cs typeface="Palatino Linotype" panose="02040502050505030304"/>
              </a:rPr>
              <a:t>integer</a:t>
            </a:r>
            <a:endParaRPr sz="1200">
              <a:solidFill>
                <a:sysClr val="windowText" lastClr="000000"/>
              </a:solidFill>
              <a:latin typeface="Palatino Linotype" panose="02040502050505030304"/>
              <a:cs typeface="Palatino Linotype" panose="02040502050505030304"/>
            </a:endParaRPr>
          </a:p>
          <a:p>
            <a:pPr marL="12700"/>
            <a:r>
              <a:rPr sz="1200" i="1" dirty="0">
                <a:solidFill>
                  <a:srgbClr val="6F2F9F"/>
                </a:solidFill>
                <a:latin typeface="Palatino Linotype" panose="02040502050505030304"/>
                <a:cs typeface="Palatino Linotype" panose="02040502050505030304"/>
              </a:rPr>
              <a:t>width</a:t>
            </a:r>
            <a:r>
              <a:rPr sz="1200" i="1" spc="-2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15" dirty="0">
                <a:solidFill>
                  <a:srgbClr val="6F2F9F"/>
                </a:solidFill>
                <a:latin typeface="Palatino Linotype" panose="02040502050505030304"/>
                <a:cs typeface="Palatino Linotype" panose="02040502050505030304"/>
              </a:rPr>
              <a:t> </a:t>
            </a:r>
            <a:r>
              <a:rPr sz="1200" spc="-50" dirty="0">
                <a:solidFill>
                  <a:srgbClr val="6F2F9F"/>
                </a:solidFill>
                <a:latin typeface="Palatino Linotype" panose="02040502050505030304"/>
                <a:cs typeface="Palatino Linotype" panose="02040502050505030304"/>
              </a:rPr>
              <a:t>4</a:t>
            </a:r>
            <a:endParaRPr sz="1200">
              <a:solidFill>
                <a:sysClr val="windowText" lastClr="000000"/>
              </a:solidFill>
              <a:latin typeface="Palatino Linotype" panose="02040502050505030304"/>
              <a:cs typeface="Palatino Linotype" panose="02040502050505030304"/>
            </a:endParaRPr>
          </a:p>
        </p:txBody>
      </p:sp>
      <p:sp>
        <p:nvSpPr>
          <p:cNvPr id="58" name="object 27"/>
          <p:cNvSpPr/>
          <p:nvPr/>
        </p:nvSpPr>
        <p:spPr>
          <a:xfrm>
            <a:off x="2511551" y="2859023"/>
            <a:ext cx="4541520" cy="1860550"/>
          </a:xfrm>
          <a:custGeom>
            <a:avLst/>
            <a:gdLst/>
            <a:ahLst/>
            <a:cxnLst/>
            <a:rect l="l" t="t" r="r" b="b"/>
            <a:pathLst>
              <a:path w="4541520" h="1860550">
                <a:moveTo>
                  <a:pt x="0" y="0"/>
                </a:moveTo>
                <a:lnTo>
                  <a:pt x="58645" y="9926"/>
                </a:lnTo>
                <a:lnTo>
                  <a:pt x="117273" y="19855"/>
                </a:lnTo>
                <a:lnTo>
                  <a:pt x="175869" y="29791"/>
                </a:lnTo>
                <a:lnTo>
                  <a:pt x="234416" y="39737"/>
                </a:lnTo>
                <a:lnTo>
                  <a:pt x="292898" y="49694"/>
                </a:lnTo>
                <a:lnTo>
                  <a:pt x="351298" y="59667"/>
                </a:lnTo>
                <a:lnTo>
                  <a:pt x="409600" y="69659"/>
                </a:lnTo>
                <a:lnTo>
                  <a:pt x="467788" y="79672"/>
                </a:lnTo>
                <a:lnTo>
                  <a:pt x="525845" y="89710"/>
                </a:lnTo>
                <a:lnTo>
                  <a:pt x="583755" y="99775"/>
                </a:lnTo>
                <a:lnTo>
                  <a:pt x="641502" y="109871"/>
                </a:lnTo>
                <a:lnTo>
                  <a:pt x="699070" y="120000"/>
                </a:lnTo>
                <a:lnTo>
                  <a:pt x="756441" y="130167"/>
                </a:lnTo>
                <a:lnTo>
                  <a:pt x="813600" y="140373"/>
                </a:lnTo>
                <a:lnTo>
                  <a:pt x="870530" y="150622"/>
                </a:lnTo>
                <a:lnTo>
                  <a:pt x="927216" y="160917"/>
                </a:lnTo>
                <a:lnTo>
                  <a:pt x="983640" y="171260"/>
                </a:lnTo>
                <a:lnTo>
                  <a:pt x="1039787" y="181656"/>
                </a:lnTo>
                <a:lnTo>
                  <a:pt x="1095640" y="192107"/>
                </a:lnTo>
                <a:lnTo>
                  <a:pt x="1151182" y="202615"/>
                </a:lnTo>
                <a:lnTo>
                  <a:pt x="1206398" y="213185"/>
                </a:lnTo>
                <a:lnTo>
                  <a:pt x="1261271" y="223819"/>
                </a:lnTo>
                <a:lnTo>
                  <a:pt x="1315785" y="234520"/>
                </a:lnTo>
                <a:lnTo>
                  <a:pt x="1369924" y="245291"/>
                </a:lnTo>
                <a:lnTo>
                  <a:pt x="1423670" y="256136"/>
                </a:lnTo>
                <a:lnTo>
                  <a:pt x="1477008" y="267056"/>
                </a:lnTo>
                <a:lnTo>
                  <a:pt x="1529922" y="278057"/>
                </a:lnTo>
                <a:lnTo>
                  <a:pt x="1582395" y="289139"/>
                </a:lnTo>
                <a:lnTo>
                  <a:pt x="1634410" y="300307"/>
                </a:lnTo>
                <a:lnTo>
                  <a:pt x="1685952" y="311563"/>
                </a:lnTo>
                <a:lnTo>
                  <a:pt x="1737004" y="322911"/>
                </a:lnTo>
                <a:lnTo>
                  <a:pt x="1787550" y="334353"/>
                </a:lnTo>
                <a:lnTo>
                  <a:pt x="1837574" y="345893"/>
                </a:lnTo>
                <a:lnTo>
                  <a:pt x="1887058" y="357534"/>
                </a:lnTo>
                <a:lnTo>
                  <a:pt x="1935988" y="369278"/>
                </a:lnTo>
                <a:lnTo>
                  <a:pt x="1984346" y="381129"/>
                </a:lnTo>
                <a:lnTo>
                  <a:pt x="2032116" y="393090"/>
                </a:lnTo>
                <a:lnTo>
                  <a:pt x="2079282" y="405163"/>
                </a:lnTo>
                <a:lnTo>
                  <a:pt x="2125827" y="417352"/>
                </a:lnTo>
                <a:lnTo>
                  <a:pt x="2171736" y="429661"/>
                </a:lnTo>
                <a:lnTo>
                  <a:pt x="2216991" y="442091"/>
                </a:lnTo>
                <a:lnTo>
                  <a:pt x="2261577" y="454646"/>
                </a:lnTo>
                <a:lnTo>
                  <a:pt x="2305478" y="467329"/>
                </a:lnTo>
                <a:lnTo>
                  <a:pt x="2348676" y="480143"/>
                </a:lnTo>
                <a:lnTo>
                  <a:pt x="2391155" y="493091"/>
                </a:lnTo>
                <a:lnTo>
                  <a:pt x="2432900" y="506177"/>
                </a:lnTo>
                <a:lnTo>
                  <a:pt x="2473894" y="519402"/>
                </a:lnTo>
                <a:lnTo>
                  <a:pt x="2514120" y="532771"/>
                </a:lnTo>
                <a:lnTo>
                  <a:pt x="2553562" y="546286"/>
                </a:lnTo>
                <a:lnTo>
                  <a:pt x="2592205" y="559950"/>
                </a:lnTo>
                <a:lnTo>
                  <a:pt x="2630031" y="573767"/>
                </a:lnTo>
                <a:lnTo>
                  <a:pt x="2667024" y="587739"/>
                </a:lnTo>
                <a:lnTo>
                  <a:pt x="2703168" y="601869"/>
                </a:lnTo>
                <a:lnTo>
                  <a:pt x="2772844" y="630618"/>
                </a:lnTo>
                <a:lnTo>
                  <a:pt x="2838927" y="660036"/>
                </a:lnTo>
                <a:lnTo>
                  <a:pt x="2924974" y="703154"/>
                </a:lnTo>
                <a:lnTo>
                  <a:pt x="2975257" y="732917"/>
                </a:lnTo>
                <a:lnTo>
                  <a:pt x="3021640" y="764166"/>
                </a:lnTo>
                <a:lnTo>
                  <a:pt x="3064334" y="796774"/>
                </a:lnTo>
                <a:lnTo>
                  <a:pt x="3103549" y="830615"/>
                </a:lnTo>
                <a:lnTo>
                  <a:pt x="3139497" y="865562"/>
                </a:lnTo>
                <a:lnTo>
                  <a:pt x="3172387" y="901488"/>
                </a:lnTo>
                <a:lnTo>
                  <a:pt x="3202432" y="938266"/>
                </a:lnTo>
                <a:lnTo>
                  <a:pt x="3229840" y="975769"/>
                </a:lnTo>
                <a:lnTo>
                  <a:pt x="3254823" y="1013870"/>
                </a:lnTo>
                <a:lnTo>
                  <a:pt x="3277592" y="1052444"/>
                </a:lnTo>
                <a:lnTo>
                  <a:pt x="3298357" y="1091362"/>
                </a:lnTo>
                <a:lnTo>
                  <a:pt x="3317329" y="1130499"/>
                </a:lnTo>
                <a:lnTo>
                  <a:pt x="3334719" y="1169727"/>
                </a:lnTo>
                <a:lnTo>
                  <a:pt x="3350737" y="1208919"/>
                </a:lnTo>
                <a:lnTo>
                  <a:pt x="3365595" y="1247949"/>
                </a:lnTo>
                <a:lnTo>
                  <a:pt x="3379502" y="1286690"/>
                </a:lnTo>
                <a:lnTo>
                  <a:pt x="3392669" y="1325015"/>
                </a:lnTo>
                <a:lnTo>
                  <a:pt x="3405308" y="1362797"/>
                </a:lnTo>
                <a:lnTo>
                  <a:pt x="3417628" y="1399910"/>
                </a:lnTo>
                <a:lnTo>
                  <a:pt x="3429841" y="1436227"/>
                </a:lnTo>
                <a:lnTo>
                  <a:pt x="3454787" y="1505964"/>
                </a:lnTo>
                <a:lnTo>
                  <a:pt x="3481830" y="1570994"/>
                </a:lnTo>
                <a:lnTo>
                  <a:pt x="3512658" y="1630302"/>
                </a:lnTo>
                <a:lnTo>
                  <a:pt x="3548954" y="1682875"/>
                </a:lnTo>
                <a:lnTo>
                  <a:pt x="3592405" y="1727697"/>
                </a:lnTo>
                <a:lnTo>
                  <a:pt x="3879240" y="1841013"/>
                </a:lnTo>
                <a:lnTo>
                  <a:pt x="4183872" y="1860502"/>
                </a:lnTo>
                <a:lnTo>
                  <a:pt x="4436282" y="1843914"/>
                </a:lnTo>
                <a:lnTo>
                  <a:pt x="4541520" y="1829815"/>
                </a:lnTo>
              </a:path>
            </a:pathLst>
          </a:custGeom>
          <a:ln w="12699">
            <a:solidFill>
              <a:srgbClr val="FF0000"/>
            </a:solidFill>
            <a:prstDash val="sys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59" name="object 28"/>
          <p:cNvSpPr txBox="1"/>
          <p:nvPr/>
        </p:nvSpPr>
        <p:spPr>
          <a:xfrm>
            <a:off x="3082798" y="3258439"/>
            <a:ext cx="1821814" cy="299720"/>
          </a:xfrm>
          <a:prstGeom prst="rect">
            <a:avLst/>
          </a:prstGeom>
        </p:spPr>
        <p:txBody>
          <a:bodyPr vert="horz" wrap="square" lIns="0" tIns="12700" rIns="0" bIns="0" rtlCol="0">
            <a:spAutoFit/>
          </a:bodyPr>
          <a:lstStyle/>
          <a:p>
            <a:pPr marL="38100">
              <a:spcBef>
                <a:spcPts val="100"/>
              </a:spcBef>
            </a:pPr>
            <a:r>
              <a:rPr sz="2700" baseline="-19000" dirty="0">
                <a:solidFill>
                  <a:sysClr val="windowText" lastClr="000000"/>
                </a:solidFill>
                <a:latin typeface="Palatino Linotype" panose="02040502050505030304"/>
                <a:cs typeface="Palatino Linotype" panose="02040502050505030304"/>
              </a:rPr>
              <a:t>C</a:t>
            </a:r>
            <a:r>
              <a:rPr sz="2700" spc="270" baseline="-19000" dirty="0">
                <a:solidFill>
                  <a:sysClr val="windowText" lastClr="000000"/>
                </a:solidFill>
                <a:latin typeface="Palatino Linotype" panose="02040502050505030304"/>
                <a:cs typeface="Palatino Linotype" panose="02040502050505030304"/>
              </a:rPr>
              <a:t> </a:t>
            </a:r>
            <a:r>
              <a:rPr sz="1200" i="1" dirty="0">
                <a:solidFill>
                  <a:srgbClr val="6F2F9F"/>
                </a:solidFill>
                <a:latin typeface="Palatino Linotype" panose="02040502050505030304"/>
                <a:cs typeface="Palatino Linotype" panose="02040502050505030304"/>
              </a:rPr>
              <a:t>type</a:t>
            </a:r>
            <a:r>
              <a:rPr sz="1200" i="1" spc="-1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array(3,</a:t>
            </a:r>
            <a:r>
              <a:rPr sz="1200" spc="-30" dirty="0">
                <a:solidFill>
                  <a:srgbClr val="6F2F9F"/>
                </a:solidFill>
                <a:latin typeface="Palatino Linotype" panose="02040502050505030304"/>
                <a:cs typeface="Palatino Linotype" panose="02040502050505030304"/>
              </a:rPr>
              <a:t> </a:t>
            </a:r>
            <a:r>
              <a:rPr sz="1200" spc="-10" dirty="0">
                <a:solidFill>
                  <a:srgbClr val="6F2F9F"/>
                </a:solidFill>
                <a:latin typeface="Palatino Linotype" panose="02040502050505030304"/>
                <a:cs typeface="Palatino Linotype" panose="02040502050505030304"/>
              </a:rPr>
              <a:t>integer)</a:t>
            </a:r>
            <a:endParaRPr sz="1200">
              <a:solidFill>
                <a:sysClr val="windowText" lastClr="000000"/>
              </a:solidFill>
              <a:latin typeface="Palatino Linotype" panose="02040502050505030304"/>
              <a:cs typeface="Palatino Linotype" panose="02040502050505030304"/>
            </a:endParaRPr>
          </a:p>
        </p:txBody>
      </p:sp>
      <p:sp>
        <p:nvSpPr>
          <p:cNvPr id="60" name="object 29"/>
          <p:cNvSpPr txBox="1"/>
          <p:nvPr/>
        </p:nvSpPr>
        <p:spPr>
          <a:xfrm>
            <a:off x="3354070" y="3517519"/>
            <a:ext cx="1126490" cy="208279"/>
          </a:xfrm>
          <a:prstGeom prst="rect">
            <a:avLst/>
          </a:prstGeom>
        </p:spPr>
        <p:txBody>
          <a:bodyPr vert="horz" wrap="square" lIns="0" tIns="12700" rIns="0" bIns="0" rtlCol="0">
            <a:spAutoFit/>
          </a:bodyPr>
          <a:lstStyle/>
          <a:p>
            <a:pPr marL="12700">
              <a:spcBef>
                <a:spcPts val="100"/>
              </a:spcBef>
            </a:pPr>
            <a:r>
              <a:rPr sz="1200" i="1" dirty="0">
                <a:solidFill>
                  <a:srgbClr val="6F2F9F"/>
                </a:solidFill>
                <a:latin typeface="Palatino Linotype" panose="02040502050505030304"/>
                <a:cs typeface="Palatino Linotype" panose="02040502050505030304"/>
              </a:rPr>
              <a:t>width</a:t>
            </a:r>
            <a:r>
              <a:rPr sz="1200" i="1" spc="-1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3</a:t>
            </a:r>
            <a:r>
              <a:rPr sz="1200" spc="-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1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4</a:t>
            </a:r>
            <a:r>
              <a:rPr sz="1200" spc="-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spc="-25" dirty="0">
                <a:solidFill>
                  <a:srgbClr val="6F2F9F"/>
                </a:solidFill>
                <a:latin typeface="Palatino Linotype" panose="02040502050505030304"/>
                <a:cs typeface="Palatino Linotype" panose="02040502050505030304"/>
              </a:rPr>
              <a:t>12</a:t>
            </a:r>
            <a:endParaRPr sz="1200">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46</a:t>
            </a:fld>
            <a:endParaRPr lang="en-US"/>
          </a:p>
        </p:txBody>
      </p:sp>
      <p:sp>
        <p:nvSpPr>
          <p:cNvPr id="35"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30" normalizeH="0" baseline="0" noProof="0">
                <a:ln>
                  <a:noFill/>
                </a:ln>
                <a:solidFill>
                  <a:srgbClr val="000000"/>
                </a:solidFill>
                <a:effectLst/>
                <a:uLnTx/>
                <a:uFillTx/>
                <a:latin typeface="Palatino Linotype" panose="02040502050505030304"/>
                <a:ea typeface="+mj-ea"/>
              </a:rPr>
              <a:t>Translation</a:t>
            </a:r>
            <a:r>
              <a:rPr kumimoji="0" lang="en-US" sz="4000" b="1" i="0" u="none" strike="noStrike" kern="0" cap="none" spc="-13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Process</a:t>
            </a:r>
            <a:r>
              <a:rPr kumimoji="0" lang="en-US" sz="4000" b="1" i="0" u="none" strike="noStrike" kern="0" cap="none" spc="-14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Example</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36" name="object 3"/>
          <p:cNvSpPr txBox="1"/>
          <p:nvPr/>
        </p:nvSpPr>
        <p:spPr>
          <a:xfrm>
            <a:off x="1581658" y="2109978"/>
            <a:ext cx="16573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T</a:t>
            </a:r>
            <a:endParaRPr>
              <a:solidFill>
                <a:sysClr val="windowText" lastClr="000000"/>
              </a:solidFill>
              <a:latin typeface="Palatino Linotype" panose="02040502050505030304"/>
              <a:cs typeface="Palatino Linotype" panose="02040502050505030304"/>
            </a:endParaRPr>
          </a:p>
        </p:txBody>
      </p:sp>
      <p:sp>
        <p:nvSpPr>
          <p:cNvPr id="37" name="object 4"/>
          <p:cNvSpPr txBox="1"/>
          <p:nvPr/>
        </p:nvSpPr>
        <p:spPr>
          <a:xfrm>
            <a:off x="814832" y="2735707"/>
            <a:ext cx="16510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B</a:t>
            </a:r>
            <a:endParaRPr>
              <a:solidFill>
                <a:sysClr val="windowText" lastClr="000000"/>
              </a:solidFill>
              <a:latin typeface="Palatino Linotype" panose="02040502050505030304"/>
              <a:cs typeface="Palatino Linotype" panose="02040502050505030304"/>
            </a:endParaRPr>
          </a:p>
        </p:txBody>
      </p:sp>
      <p:sp>
        <p:nvSpPr>
          <p:cNvPr id="38" name="object 5"/>
          <p:cNvSpPr txBox="1"/>
          <p:nvPr/>
        </p:nvSpPr>
        <p:spPr>
          <a:xfrm>
            <a:off x="2299207" y="2735707"/>
            <a:ext cx="18796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39" name="object 6"/>
          <p:cNvSpPr/>
          <p:nvPr/>
        </p:nvSpPr>
        <p:spPr>
          <a:xfrm>
            <a:off x="899160" y="2461260"/>
            <a:ext cx="1495425" cy="256540"/>
          </a:xfrm>
          <a:custGeom>
            <a:avLst/>
            <a:gdLst/>
            <a:ahLst/>
            <a:cxnLst/>
            <a:rect l="l" t="t" r="r" b="b"/>
            <a:pathLst>
              <a:path w="1495425" h="256539">
                <a:moveTo>
                  <a:pt x="766572" y="0"/>
                </a:moveTo>
                <a:lnTo>
                  <a:pt x="0" y="256412"/>
                </a:lnTo>
              </a:path>
              <a:path w="1495425" h="256539">
                <a:moveTo>
                  <a:pt x="766572" y="0"/>
                </a:moveTo>
                <a:lnTo>
                  <a:pt x="1495425" y="256412"/>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0" name="object 7"/>
          <p:cNvSpPr txBox="1"/>
          <p:nvPr/>
        </p:nvSpPr>
        <p:spPr>
          <a:xfrm>
            <a:off x="814832" y="1343659"/>
            <a:ext cx="2540635" cy="299720"/>
          </a:xfrm>
          <a:prstGeom prst="rect">
            <a:avLst/>
          </a:prstGeom>
        </p:spPr>
        <p:txBody>
          <a:bodyPr vert="horz" wrap="square" lIns="0" tIns="12700" rIns="0" bIns="0" rtlCol="0">
            <a:spAutoFit/>
          </a:bodyPr>
          <a:lstStyle/>
          <a:p>
            <a:pPr marL="12700">
              <a:spcBef>
                <a:spcPts val="100"/>
              </a:spcBef>
            </a:pPr>
            <a:r>
              <a:rPr dirty="0">
                <a:solidFill>
                  <a:sysClr val="windowText" lastClr="000000"/>
                </a:solidFill>
                <a:latin typeface="Palatino Linotype" panose="02040502050505030304"/>
                <a:cs typeface="Palatino Linotype" panose="02040502050505030304"/>
              </a:rPr>
              <a:t>Input</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string:</a:t>
            </a:r>
            <a:r>
              <a:rPr spc="465" dirty="0">
                <a:solidFill>
                  <a:sysClr val="windowText" lastClr="000000"/>
                </a:solidFill>
                <a:latin typeface="Palatino Linotype" panose="02040502050505030304"/>
                <a:cs typeface="Palatino Linotype" panose="02040502050505030304"/>
              </a:rPr>
              <a:t> </a:t>
            </a:r>
            <a:r>
              <a:rPr spc="-10" dirty="0">
                <a:solidFill>
                  <a:srgbClr val="A6A6A6"/>
                </a:solidFill>
                <a:latin typeface="Consolas" panose="020B0609020204030204"/>
                <a:cs typeface="Consolas" panose="020B0609020204030204"/>
              </a:rPr>
              <a:t>int[2][3]</a:t>
            </a:r>
            <a:endParaRPr>
              <a:solidFill>
                <a:sysClr val="windowText" lastClr="000000"/>
              </a:solidFill>
              <a:latin typeface="Consolas" panose="020B0609020204030204"/>
              <a:cs typeface="Consolas" panose="020B0609020204030204"/>
            </a:endParaRPr>
          </a:p>
        </p:txBody>
      </p:sp>
      <p:sp>
        <p:nvSpPr>
          <p:cNvPr id="41" name="object 8"/>
          <p:cNvSpPr/>
          <p:nvPr/>
        </p:nvSpPr>
        <p:spPr>
          <a:xfrm>
            <a:off x="6390640" y="2228723"/>
            <a:ext cx="0" cy="2973070"/>
          </a:xfrm>
          <a:custGeom>
            <a:avLst/>
            <a:gdLst/>
            <a:ahLst/>
            <a:cxnLst/>
            <a:rect l="l" t="t" r="r" b="b"/>
            <a:pathLst>
              <a:path h="2973070">
                <a:moveTo>
                  <a:pt x="0" y="0"/>
                </a:moveTo>
                <a:lnTo>
                  <a:pt x="0" y="297307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2" name="object 9"/>
          <p:cNvSpPr/>
          <p:nvPr/>
        </p:nvSpPr>
        <p:spPr>
          <a:xfrm>
            <a:off x="8101456" y="2228723"/>
            <a:ext cx="0" cy="2973070"/>
          </a:xfrm>
          <a:custGeom>
            <a:avLst/>
            <a:gdLst/>
            <a:ahLst/>
            <a:cxnLst/>
            <a:rect l="l" t="t" r="r" b="b"/>
            <a:pathLst>
              <a:path h="2973070">
                <a:moveTo>
                  <a:pt x="0" y="0"/>
                </a:moveTo>
                <a:lnTo>
                  <a:pt x="0" y="297307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3" name="object 10"/>
          <p:cNvSpPr txBox="1"/>
          <p:nvPr/>
        </p:nvSpPr>
        <p:spPr>
          <a:xfrm>
            <a:off x="6390640" y="4824603"/>
            <a:ext cx="1711325" cy="370840"/>
          </a:xfrm>
          <a:prstGeom prst="rect">
            <a:avLst/>
          </a:prstGeom>
          <a:ln w="12700">
            <a:solidFill>
              <a:srgbClr val="000000"/>
            </a:solidFill>
          </a:ln>
        </p:spPr>
        <p:txBody>
          <a:bodyPr vert="horz" wrap="square" lIns="0" tIns="31750" rIns="0" bIns="0" rtlCol="0">
            <a:spAutoFit/>
          </a:bodyPr>
          <a:lstStyle/>
          <a:p>
            <a:pPr marL="1905" algn="ctr">
              <a:spcBef>
                <a:spcPts val="250"/>
              </a:spcBef>
            </a:pPr>
            <a:r>
              <a:rPr spc="-25" dirty="0">
                <a:solidFill>
                  <a:sysClr val="windowText" lastClr="000000"/>
                </a:solidFill>
                <a:latin typeface="Palatino Linotype" panose="02040502050505030304"/>
                <a:cs typeface="Palatino Linotype" panose="02040502050505030304"/>
              </a:rPr>
              <a:t>T()</a:t>
            </a:r>
            <a:endParaRPr>
              <a:solidFill>
                <a:sysClr val="windowText" lastClr="000000"/>
              </a:solidFill>
              <a:latin typeface="Palatino Linotype" panose="02040502050505030304"/>
              <a:cs typeface="Palatino Linotype" panose="02040502050505030304"/>
            </a:endParaRPr>
          </a:p>
        </p:txBody>
      </p:sp>
      <p:sp>
        <p:nvSpPr>
          <p:cNvPr id="44" name="object 11"/>
          <p:cNvSpPr txBox="1"/>
          <p:nvPr/>
        </p:nvSpPr>
        <p:spPr>
          <a:xfrm>
            <a:off x="6819138" y="5393842"/>
            <a:ext cx="895350" cy="269240"/>
          </a:xfrm>
          <a:prstGeom prst="rect">
            <a:avLst/>
          </a:prstGeom>
        </p:spPr>
        <p:txBody>
          <a:bodyPr vert="horz" wrap="square" lIns="0" tIns="12065" rIns="0" bIns="0" rtlCol="0">
            <a:spAutoFit/>
          </a:bodyPr>
          <a:lstStyle/>
          <a:p>
            <a:pPr marL="12700">
              <a:spcBef>
                <a:spcPts val="95"/>
              </a:spcBef>
            </a:pPr>
            <a:r>
              <a:rPr sz="1600" dirty="0">
                <a:solidFill>
                  <a:sysClr val="windowText" lastClr="000000"/>
                </a:solidFill>
                <a:latin typeface="Palatino Linotype" panose="02040502050505030304"/>
                <a:cs typeface="Palatino Linotype" panose="02040502050505030304"/>
              </a:rPr>
              <a:t>Call</a:t>
            </a:r>
            <a:r>
              <a:rPr sz="1600" spc="-30"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stack</a:t>
            </a:r>
            <a:endParaRPr sz="1600">
              <a:solidFill>
                <a:sysClr val="windowText" lastClr="000000"/>
              </a:solidFill>
              <a:latin typeface="Palatino Linotype" panose="02040502050505030304"/>
              <a:cs typeface="Palatino Linotype" panose="02040502050505030304"/>
            </a:endParaRPr>
          </a:p>
        </p:txBody>
      </p:sp>
      <p:sp>
        <p:nvSpPr>
          <p:cNvPr id="45" name="object 12"/>
          <p:cNvSpPr txBox="1"/>
          <p:nvPr/>
        </p:nvSpPr>
        <p:spPr>
          <a:xfrm>
            <a:off x="755395" y="4634941"/>
            <a:ext cx="725170" cy="300355"/>
          </a:xfrm>
          <a:prstGeom prst="rect">
            <a:avLst/>
          </a:prstGeom>
        </p:spPr>
        <p:txBody>
          <a:bodyPr vert="horz" wrap="square" lIns="0" tIns="12700" rIns="0" bIns="0" rtlCol="0">
            <a:spAutoFit/>
          </a:bodyPr>
          <a:lstStyle/>
          <a:p>
            <a:pPr marL="12700">
              <a:spcBef>
                <a:spcPts val="100"/>
              </a:spcBef>
            </a:pPr>
            <a:r>
              <a:rPr b="1" dirty="0">
                <a:solidFill>
                  <a:srgbClr val="FF0000"/>
                </a:solidFill>
                <a:latin typeface="Palatino Linotype" panose="02040502050505030304"/>
                <a:cs typeface="Palatino Linotype" panose="02040502050505030304"/>
              </a:rPr>
              <a:t>Step </a:t>
            </a:r>
            <a:r>
              <a:rPr b="1" spc="-25" dirty="0">
                <a:solidFill>
                  <a:srgbClr val="FF0000"/>
                </a:solidFill>
                <a:latin typeface="Palatino Linotype" panose="02040502050505030304"/>
                <a:cs typeface="Palatino Linotype" panose="02040502050505030304"/>
              </a:rPr>
              <a:t>8:</a:t>
            </a:r>
            <a:endParaRPr>
              <a:solidFill>
                <a:sysClr val="windowText" lastClr="000000"/>
              </a:solidFill>
              <a:latin typeface="Palatino Linotype" panose="02040502050505030304"/>
              <a:cs typeface="Palatino Linotype" panose="02040502050505030304"/>
            </a:endParaRPr>
          </a:p>
        </p:txBody>
      </p:sp>
      <p:sp>
        <p:nvSpPr>
          <p:cNvPr id="46" name="object 13"/>
          <p:cNvSpPr txBox="1"/>
          <p:nvPr/>
        </p:nvSpPr>
        <p:spPr>
          <a:xfrm>
            <a:off x="755395" y="4909820"/>
            <a:ext cx="2730500" cy="683895"/>
          </a:xfrm>
          <a:prstGeom prst="rect">
            <a:avLst/>
          </a:prstGeom>
        </p:spPr>
        <p:txBody>
          <a:bodyPr vert="horz" wrap="square" lIns="0" tIns="67310" rIns="0" bIns="0" rtlCol="0">
            <a:spAutoFit/>
          </a:bodyPr>
          <a:lstStyle/>
          <a:p>
            <a:pPr marL="299085" indent="-286385">
              <a:spcBef>
                <a:spcPts val="530"/>
              </a:spcBef>
              <a:buFont typeface="Arial MT"/>
              <a:buChar char="•"/>
              <a:tabLst>
                <a:tab pos="299085" algn="l"/>
              </a:tabLst>
            </a:pPr>
            <a:r>
              <a:rPr dirty="0">
                <a:solidFill>
                  <a:sysClr val="windowText" lastClr="000000"/>
                </a:solidFill>
                <a:latin typeface="Palatino Linotype" panose="02040502050505030304"/>
                <a:cs typeface="Palatino Linotype" panose="02040502050505030304"/>
              </a:rPr>
              <a:t>C() </a:t>
            </a:r>
            <a:r>
              <a:rPr spc="-10" dirty="0">
                <a:solidFill>
                  <a:sysClr val="windowText" lastClr="000000"/>
                </a:solidFill>
                <a:latin typeface="Palatino Linotype" panose="02040502050505030304"/>
                <a:cs typeface="Palatino Linotype" panose="02040502050505030304"/>
              </a:rPr>
              <a:t>returns</a:t>
            </a:r>
            <a:endParaRPr>
              <a:solidFill>
                <a:sysClr val="windowText" lastClr="000000"/>
              </a:solidFill>
              <a:latin typeface="Palatino Linotype" panose="02040502050505030304"/>
              <a:cs typeface="Palatino Linotype" panose="02040502050505030304"/>
            </a:endParaRPr>
          </a:p>
          <a:p>
            <a:pPr marL="299085" indent="-286385">
              <a:spcBef>
                <a:spcPts val="430"/>
              </a:spcBef>
              <a:buFont typeface="Arial MT"/>
              <a:buChar char="•"/>
              <a:tabLst>
                <a:tab pos="299085" algn="l"/>
              </a:tabLst>
            </a:pPr>
            <a:r>
              <a:rPr dirty="0">
                <a:solidFill>
                  <a:sysClr val="windowText" lastClr="000000"/>
                </a:solidFill>
                <a:latin typeface="Palatino Linotype" panose="02040502050505030304"/>
                <a:cs typeface="Palatino Linotype" panose="02040502050505030304"/>
              </a:rPr>
              <a:t>Execute</a:t>
            </a:r>
            <a:r>
              <a:rPr spc="-4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semantic</a:t>
            </a:r>
            <a:r>
              <a:rPr spc="-3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action</a:t>
            </a:r>
            <a:endParaRPr>
              <a:solidFill>
                <a:sysClr val="windowText" lastClr="000000"/>
              </a:solidFill>
              <a:latin typeface="Palatino Linotype" panose="02040502050505030304"/>
              <a:cs typeface="Palatino Linotype" panose="02040502050505030304"/>
            </a:endParaRPr>
          </a:p>
        </p:txBody>
      </p:sp>
      <p:sp>
        <p:nvSpPr>
          <p:cNvPr id="47" name="object 14"/>
          <p:cNvSpPr txBox="1"/>
          <p:nvPr/>
        </p:nvSpPr>
        <p:spPr>
          <a:xfrm>
            <a:off x="738022" y="3329178"/>
            <a:ext cx="317500" cy="299720"/>
          </a:xfrm>
          <a:prstGeom prst="rect">
            <a:avLst/>
          </a:prstGeom>
        </p:spPr>
        <p:txBody>
          <a:bodyPr vert="horz" wrap="square" lIns="0" tIns="12700" rIns="0" bIns="0" rtlCol="0">
            <a:spAutoFit/>
          </a:bodyPr>
          <a:lstStyle/>
          <a:p>
            <a:pPr marL="12700">
              <a:spcBef>
                <a:spcPts val="100"/>
              </a:spcBef>
            </a:pPr>
            <a:r>
              <a:rPr b="1" spc="-25" dirty="0">
                <a:solidFill>
                  <a:sysClr val="windowText" lastClr="000000"/>
                </a:solidFill>
                <a:latin typeface="Palatino Linotype" panose="02040502050505030304"/>
                <a:cs typeface="Palatino Linotype" panose="02040502050505030304"/>
              </a:rPr>
              <a:t>int</a:t>
            </a:r>
            <a:endParaRPr>
              <a:solidFill>
                <a:sysClr val="windowText" lastClr="000000"/>
              </a:solidFill>
              <a:latin typeface="Palatino Linotype" panose="02040502050505030304"/>
              <a:cs typeface="Palatino Linotype" panose="02040502050505030304"/>
            </a:endParaRPr>
          </a:p>
        </p:txBody>
      </p:sp>
      <p:sp>
        <p:nvSpPr>
          <p:cNvPr id="48" name="object 15"/>
          <p:cNvSpPr/>
          <p:nvPr/>
        </p:nvSpPr>
        <p:spPr>
          <a:xfrm>
            <a:off x="899160" y="3086100"/>
            <a:ext cx="0" cy="224154"/>
          </a:xfrm>
          <a:custGeom>
            <a:avLst/>
            <a:gdLst/>
            <a:ahLst/>
            <a:cxnLst/>
            <a:rect l="l" t="t" r="r" b="b"/>
            <a:pathLst>
              <a:path h="224154">
                <a:moveTo>
                  <a:pt x="0" y="0"/>
                </a:moveTo>
                <a:lnTo>
                  <a:pt x="0" y="22390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9" name="object 16"/>
          <p:cNvSpPr txBox="1"/>
          <p:nvPr/>
        </p:nvSpPr>
        <p:spPr>
          <a:xfrm>
            <a:off x="1744472" y="3329178"/>
            <a:ext cx="292100" cy="299720"/>
          </a:xfrm>
          <a:prstGeom prst="rect">
            <a:avLst/>
          </a:prstGeom>
        </p:spPr>
        <p:txBody>
          <a:bodyPr vert="horz" wrap="square" lIns="0" tIns="12700" rIns="0" bIns="0" rtlCol="0">
            <a:spAutoFit/>
          </a:bodyPr>
          <a:lstStyle/>
          <a:p>
            <a:pPr marL="12700">
              <a:spcBef>
                <a:spcPts val="100"/>
              </a:spcBef>
            </a:pPr>
            <a:r>
              <a:rPr spc="-25" dirty="0">
                <a:solidFill>
                  <a:sysClr val="windowText" lastClr="000000"/>
                </a:solidFill>
                <a:latin typeface="Palatino Linotype" panose="02040502050505030304"/>
                <a:cs typeface="Palatino Linotype" panose="02040502050505030304"/>
              </a:rPr>
              <a:t>[</a:t>
            </a:r>
            <a:r>
              <a:rPr b="1" spc="-25" dirty="0">
                <a:solidFill>
                  <a:sysClr val="windowText" lastClr="000000"/>
                </a:solidFill>
                <a:latin typeface="Palatino Linotype" panose="02040502050505030304"/>
                <a:cs typeface="Palatino Linotype" panose="02040502050505030304"/>
              </a:rPr>
              <a:t>2</a:t>
            </a:r>
            <a:r>
              <a:rPr spc="-25" dirty="0">
                <a:solidFill>
                  <a:sysClr val="windowText" lastClr="000000"/>
                </a:solidFill>
                <a:latin typeface="Palatino Linotype" panose="02040502050505030304"/>
                <a:cs typeface="Palatino Linotype" panose="02040502050505030304"/>
              </a:rPr>
              <a:t>]</a:t>
            </a:r>
            <a:endParaRPr>
              <a:solidFill>
                <a:sysClr val="windowText" lastClr="000000"/>
              </a:solidFill>
              <a:latin typeface="Palatino Linotype" panose="02040502050505030304"/>
              <a:cs typeface="Palatino Linotype" panose="02040502050505030304"/>
            </a:endParaRPr>
          </a:p>
        </p:txBody>
      </p:sp>
      <p:sp>
        <p:nvSpPr>
          <p:cNvPr id="50" name="object 17"/>
          <p:cNvSpPr/>
          <p:nvPr/>
        </p:nvSpPr>
        <p:spPr>
          <a:xfrm>
            <a:off x="1892807" y="3086100"/>
            <a:ext cx="1310640" cy="229235"/>
          </a:xfrm>
          <a:custGeom>
            <a:avLst/>
            <a:gdLst/>
            <a:ahLst/>
            <a:cxnLst/>
            <a:rect l="l" t="t" r="r" b="b"/>
            <a:pathLst>
              <a:path w="1310639" h="229235">
                <a:moveTo>
                  <a:pt x="501777" y="0"/>
                </a:moveTo>
                <a:lnTo>
                  <a:pt x="0" y="223900"/>
                </a:lnTo>
              </a:path>
              <a:path w="1310639" h="229235">
                <a:moveTo>
                  <a:pt x="501396" y="0"/>
                </a:moveTo>
                <a:lnTo>
                  <a:pt x="1310259" y="228853"/>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51" name="object 18"/>
          <p:cNvSpPr txBox="1"/>
          <p:nvPr/>
        </p:nvSpPr>
        <p:spPr>
          <a:xfrm>
            <a:off x="2553461" y="3944873"/>
            <a:ext cx="292100" cy="299720"/>
          </a:xfrm>
          <a:prstGeom prst="rect">
            <a:avLst/>
          </a:prstGeom>
        </p:spPr>
        <p:txBody>
          <a:bodyPr vert="horz" wrap="square" lIns="0" tIns="12700" rIns="0" bIns="0" rtlCol="0">
            <a:spAutoFit/>
          </a:bodyPr>
          <a:lstStyle/>
          <a:p>
            <a:pPr marL="12700">
              <a:spcBef>
                <a:spcPts val="100"/>
              </a:spcBef>
            </a:pPr>
            <a:r>
              <a:rPr spc="-25" dirty="0">
                <a:solidFill>
                  <a:sysClr val="windowText" lastClr="000000"/>
                </a:solidFill>
                <a:latin typeface="Palatino Linotype" panose="02040502050505030304"/>
                <a:cs typeface="Palatino Linotype" panose="02040502050505030304"/>
              </a:rPr>
              <a:t>[</a:t>
            </a:r>
            <a:r>
              <a:rPr b="1" spc="-25" dirty="0">
                <a:solidFill>
                  <a:sysClr val="windowText" lastClr="000000"/>
                </a:solidFill>
                <a:latin typeface="Palatino Linotype" panose="02040502050505030304"/>
                <a:cs typeface="Palatino Linotype" panose="02040502050505030304"/>
              </a:rPr>
              <a:t>3</a:t>
            </a:r>
            <a:r>
              <a:rPr spc="-25" dirty="0">
                <a:solidFill>
                  <a:sysClr val="windowText" lastClr="000000"/>
                </a:solidFill>
                <a:latin typeface="Palatino Linotype" panose="02040502050505030304"/>
                <a:cs typeface="Palatino Linotype" panose="02040502050505030304"/>
              </a:rPr>
              <a:t>]</a:t>
            </a:r>
            <a:endParaRPr>
              <a:solidFill>
                <a:sysClr val="windowText" lastClr="000000"/>
              </a:solidFill>
              <a:latin typeface="Palatino Linotype" panose="02040502050505030304"/>
              <a:cs typeface="Palatino Linotype" panose="02040502050505030304"/>
            </a:endParaRPr>
          </a:p>
        </p:txBody>
      </p:sp>
      <p:sp>
        <p:nvSpPr>
          <p:cNvPr id="52" name="object 19"/>
          <p:cNvSpPr txBox="1"/>
          <p:nvPr/>
        </p:nvSpPr>
        <p:spPr>
          <a:xfrm>
            <a:off x="3917060" y="3949700"/>
            <a:ext cx="18796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53" name="object 20"/>
          <p:cNvSpPr/>
          <p:nvPr/>
        </p:nvSpPr>
        <p:spPr>
          <a:xfrm>
            <a:off x="2700527" y="3685032"/>
            <a:ext cx="1311910" cy="246379"/>
          </a:xfrm>
          <a:custGeom>
            <a:avLst/>
            <a:gdLst/>
            <a:ahLst/>
            <a:cxnLst/>
            <a:rect l="l" t="t" r="r" b="b"/>
            <a:pathLst>
              <a:path w="1311910" h="246379">
                <a:moveTo>
                  <a:pt x="501777" y="0"/>
                </a:moveTo>
                <a:lnTo>
                  <a:pt x="0" y="241300"/>
                </a:lnTo>
              </a:path>
              <a:path w="1311910" h="246379">
                <a:moveTo>
                  <a:pt x="502920" y="0"/>
                </a:moveTo>
                <a:lnTo>
                  <a:pt x="1311783" y="246253"/>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54" name="object 21"/>
          <p:cNvSpPr txBox="1"/>
          <p:nvPr/>
        </p:nvSpPr>
        <p:spPr>
          <a:xfrm>
            <a:off x="3082798" y="3258439"/>
            <a:ext cx="1821814" cy="299720"/>
          </a:xfrm>
          <a:prstGeom prst="rect">
            <a:avLst/>
          </a:prstGeom>
        </p:spPr>
        <p:txBody>
          <a:bodyPr vert="horz" wrap="square" lIns="0" tIns="12700" rIns="0" bIns="0" rtlCol="0">
            <a:spAutoFit/>
          </a:bodyPr>
          <a:lstStyle/>
          <a:p>
            <a:pPr marL="38100">
              <a:spcBef>
                <a:spcPts val="100"/>
              </a:spcBef>
            </a:pPr>
            <a:r>
              <a:rPr sz="2700" baseline="-19000" dirty="0">
                <a:solidFill>
                  <a:sysClr val="windowText" lastClr="000000"/>
                </a:solidFill>
                <a:latin typeface="Palatino Linotype" panose="02040502050505030304"/>
                <a:cs typeface="Palatino Linotype" panose="02040502050505030304"/>
              </a:rPr>
              <a:t>C</a:t>
            </a:r>
            <a:r>
              <a:rPr sz="2700" spc="270" baseline="-19000" dirty="0">
                <a:solidFill>
                  <a:sysClr val="windowText" lastClr="000000"/>
                </a:solidFill>
                <a:latin typeface="Palatino Linotype" panose="02040502050505030304"/>
                <a:cs typeface="Palatino Linotype" panose="02040502050505030304"/>
              </a:rPr>
              <a:t> </a:t>
            </a:r>
            <a:r>
              <a:rPr sz="1200" i="1" dirty="0">
                <a:solidFill>
                  <a:srgbClr val="6F2F9F"/>
                </a:solidFill>
                <a:latin typeface="Palatino Linotype" panose="02040502050505030304"/>
                <a:cs typeface="Palatino Linotype" panose="02040502050505030304"/>
              </a:rPr>
              <a:t>type</a:t>
            </a:r>
            <a:r>
              <a:rPr sz="1200" i="1" spc="-1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array(3,</a:t>
            </a:r>
            <a:r>
              <a:rPr sz="1200" spc="-30" dirty="0">
                <a:solidFill>
                  <a:srgbClr val="6F2F9F"/>
                </a:solidFill>
                <a:latin typeface="Palatino Linotype" panose="02040502050505030304"/>
                <a:cs typeface="Palatino Linotype" panose="02040502050505030304"/>
              </a:rPr>
              <a:t> </a:t>
            </a:r>
            <a:r>
              <a:rPr sz="1200" spc="-10" dirty="0">
                <a:solidFill>
                  <a:srgbClr val="6F2F9F"/>
                </a:solidFill>
                <a:latin typeface="Palatino Linotype" panose="02040502050505030304"/>
                <a:cs typeface="Palatino Linotype" panose="02040502050505030304"/>
              </a:rPr>
              <a:t>integer)</a:t>
            </a:r>
            <a:endParaRPr sz="1200">
              <a:solidFill>
                <a:sysClr val="windowText" lastClr="000000"/>
              </a:solidFill>
              <a:latin typeface="Palatino Linotype" panose="02040502050505030304"/>
              <a:cs typeface="Palatino Linotype" panose="02040502050505030304"/>
            </a:endParaRPr>
          </a:p>
        </p:txBody>
      </p:sp>
      <p:sp>
        <p:nvSpPr>
          <p:cNvPr id="55" name="object 22"/>
          <p:cNvSpPr txBox="1"/>
          <p:nvPr/>
        </p:nvSpPr>
        <p:spPr>
          <a:xfrm>
            <a:off x="1058062" y="2675890"/>
            <a:ext cx="913130" cy="391160"/>
          </a:xfrm>
          <a:prstGeom prst="rect">
            <a:avLst/>
          </a:prstGeom>
        </p:spPr>
        <p:txBody>
          <a:bodyPr vert="horz" wrap="square" lIns="0" tIns="12700" rIns="0" bIns="0" rtlCol="0">
            <a:spAutoFit/>
          </a:bodyPr>
          <a:lstStyle/>
          <a:p>
            <a:pPr marL="12700">
              <a:spcBef>
                <a:spcPts val="100"/>
              </a:spcBef>
            </a:pPr>
            <a:r>
              <a:rPr sz="1200" i="1" dirty="0">
                <a:solidFill>
                  <a:srgbClr val="6F2F9F"/>
                </a:solidFill>
                <a:latin typeface="Palatino Linotype" panose="02040502050505030304"/>
                <a:cs typeface="Palatino Linotype" panose="02040502050505030304"/>
              </a:rPr>
              <a:t>type</a:t>
            </a:r>
            <a:r>
              <a:rPr sz="1200" i="1" spc="-1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spc="-10" dirty="0">
                <a:solidFill>
                  <a:srgbClr val="6F2F9F"/>
                </a:solidFill>
                <a:latin typeface="Palatino Linotype" panose="02040502050505030304"/>
                <a:cs typeface="Palatino Linotype" panose="02040502050505030304"/>
              </a:rPr>
              <a:t>integer</a:t>
            </a:r>
            <a:endParaRPr sz="1200">
              <a:solidFill>
                <a:sysClr val="windowText" lastClr="000000"/>
              </a:solidFill>
              <a:latin typeface="Palatino Linotype" panose="02040502050505030304"/>
              <a:cs typeface="Palatino Linotype" panose="02040502050505030304"/>
            </a:endParaRPr>
          </a:p>
          <a:p>
            <a:pPr marL="12700"/>
            <a:r>
              <a:rPr sz="1200" i="1" dirty="0">
                <a:solidFill>
                  <a:srgbClr val="6F2F9F"/>
                </a:solidFill>
                <a:latin typeface="Palatino Linotype" panose="02040502050505030304"/>
                <a:cs typeface="Palatino Linotype" panose="02040502050505030304"/>
              </a:rPr>
              <a:t>width</a:t>
            </a:r>
            <a:r>
              <a:rPr sz="1200" i="1" spc="-2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15" dirty="0">
                <a:solidFill>
                  <a:srgbClr val="6F2F9F"/>
                </a:solidFill>
                <a:latin typeface="Palatino Linotype" panose="02040502050505030304"/>
                <a:cs typeface="Palatino Linotype" panose="02040502050505030304"/>
              </a:rPr>
              <a:t> </a:t>
            </a:r>
            <a:r>
              <a:rPr sz="1200" spc="-50" dirty="0">
                <a:solidFill>
                  <a:srgbClr val="6F2F9F"/>
                </a:solidFill>
                <a:latin typeface="Palatino Linotype" panose="02040502050505030304"/>
                <a:cs typeface="Palatino Linotype" panose="02040502050505030304"/>
              </a:rPr>
              <a:t>4</a:t>
            </a:r>
            <a:endParaRPr sz="1200">
              <a:solidFill>
                <a:sysClr val="windowText" lastClr="000000"/>
              </a:solidFill>
              <a:latin typeface="Palatino Linotype" panose="02040502050505030304"/>
              <a:cs typeface="Palatino Linotype" panose="02040502050505030304"/>
            </a:endParaRPr>
          </a:p>
        </p:txBody>
      </p:sp>
      <p:sp>
        <p:nvSpPr>
          <p:cNvPr id="56" name="object 23"/>
          <p:cNvSpPr txBox="1"/>
          <p:nvPr/>
        </p:nvSpPr>
        <p:spPr>
          <a:xfrm>
            <a:off x="4224528" y="1491996"/>
            <a:ext cx="1266825" cy="646430"/>
          </a:xfrm>
          <a:prstGeom prst="rect">
            <a:avLst/>
          </a:prstGeom>
          <a:solidFill>
            <a:srgbClr val="FFF1CC"/>
          </a:solidFill>
          <a:ln w="9525">
            <a:solidFill>
              <a:srgbClr val="000000"/>
            </a:solidFill>
          </a:ln>
        </p:spPr>
        <p:txBody>
          <a:bodyPr vert="horz" wrap="square" lIns="0" tIns="31115" rIns="0" bIns="0" rtlCol="0">
            <a:spAutoFit/>
          </a:bodyPr>
          <a:lstStyle/>
          <a:p>
            <a:pPr marL="92075">
              <a:spcBef>
                <a:spcPts val="245"/>
              </a:spcBef>
            </a:pPr>
            <a:r>
              <a:rPr i="1" dirty="0">
                <a:solidFill>
                  <a:sysClr val="windowText" lastClr="000000"/>
                </a:solidFill>
                <a:latin typeface="Palatino Linotype" panose="02040502050505030304"/>
                <a:cs typeface="Palatino Linotype" panose="02040502050505030304"/>
              </a:rPr>
              <a:t>t</a:t>
            </a:r>
            <a:r>
              <a:rPr i="1" spc="-1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t>
            </a:r>
            <a:r>
              <a:rPr spc="-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integer</a:t>
            </a:r>
            <a:endParaRPr>
              <a:solidFill>
                <a:sysClr val="windowText" lastClr="000000"/>
              </a:solidFill>
              <a:latin typeface="Palatino Linotype" panose="02040502050505030304"/>
              <a:cs typeface="Palatino Linotype" panose="02040502050505030304"/>
            </a:endParaRPr>
          </a:p>
          <a:p>
            <a:pPr marL="92075"/>
            <a:r>
              <a:rPr i="1" dirty="0">
                <a:solidFill>
                  <a:sysClr val="windowText" lastClr="000000"/>
                </a:solidFill>
                <a:latin typeface="Palatino Linotype" panose="02040502050505030304"/>
                <a:cs typeface="Palatino Linotype" panose="02040502050505030304"/>
              </a:rPr>
              <a:t>w</a:t>
            </a:r>
            <a:r>
              <a:rPr i="1" spc="-2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t>
            </a:r>
            <a:r>
              <a:rPr spc="-25" dirty="0">
                <a:solidFill>
                  <a:sysClr val="windowText" lastClr="000000"/>
                </a:solidFill>
                <a:latin typeface="Palatino Linotype" panose="02040502050505030304"/>
                <a:cs typeface="Palatino Linotype" panose="02040502050505030304"/>
              </a:rPr>
              <a:t> </a:t>
            </a:r>
            <a:r>
              <a:rPr spc="-50" dirty="0">
                <a:solidFill>
                  <a:sysClr val="windowText" lastClr="000000"/>
                </a:solidFill>
                <a:latin typeface="Palatino Linotype" panose="02040502050505030304"/>
                <a:cs typeface="Palatino Linotype" panose="02040502050505030304"/>
              </a:rPr>
              <a:t>4</a:t>
            </a:r>
            <a:endParaRPr>
              <a:solidFill>
                <a:sysClr val="windowText" lastClr="000000"/>
              </a:solidFill>
              <a:latin typeface="Palatino Linotype" panose="02040502050505030304"/>
              <a:cs typeface="Palatino Linotype" panose="02040502050505030304"/>
            </a:endParaRPr>
          </a:p>
        </p:txBody>
      </p:sp>
      <p:sp>
        <p:nvSpPr>
          <p:cNvPr id="57" name="object 24"/>
          <p:cNvSpPr txBox="1"/>
          <p:nvPr/>
        </p:nvSpPr>
        <p:spPr>
          <a:xfrm>
            <a:off x="3943350" y="4566284"/>
            <a:ext cx="13208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𝜖</a:t>
            </a:r>
            <a:endParaRPr>
              <a:solidFill>
                <a:sysClr val="windowText" lastClr="000000"/>
              </a:solidFill>
              <a:latin typeface="Cambria Math" panose="02040503050406030204"/>
              <a:cs typeface="Cambria Math" panose="02040503050406030204"/>
            </a:endParaRPr>
          </a:p>
        </p:txBody>
      </p:sp>
      <p:sp>
        <p:nvSpPr>
          <p:cNvPr id="58" name="object 25"/>
          <p:cNvSpPr/>
          <p:nvPr/>
        </p:nvSpPr>
        <p:spPr>
          <a:xfrm>
            <a:off x="4011167" y="4300728"/>
            <a:ext cx="0" cy="245745"/>
          </a:xfrm>
          <a:custGeom>
            <a:avLst/>
            <a:gdLst/>
            <a:ahLst/>
            <a:cxnLst/>
            <a:rect l="l" t="t" r="r" b="b"/>
            <a:pathLst>
              <a:path h="245745">
                <a:moveTo>
                  <a:pt x="0" y="0"/>
                </a:moveTo>
                <a:lnTo>
                  <a:pt x="0" y="245364"/>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nvGrpSpPr>
          <p:cNvPr id="59" name="object 26"/>
          <p:cNvGrpSpPr/>
          <p:nvPr/>
        </p:nvGrpSpPr>
        <p:grpSpPr>
          <a:xfrm>
            <a:off x="1030606" y="5737605"/>
            <a:ext cx="5147945" cy="572135"/>
            <a:chOff x="1030606" y="5737605"/>
            <a:chExt cx="5147945" cy="572135"/>
          </a:xfrm>
        </p:grpSpPr>
        <p:pic>
          <p:nvPicPr>
            <p:cNvPr id="60" name="object 27"/>
            <p:cNvPicPr/>
            <p:nvPr/>
          </p:nvPicPr>
          <p:blipFill>
            <a:blip r:embed="rId3" cstate="print"/>
            <a:stretch>
              <a:fillRect/>
            </a:stretch>
          </p:blipFill>
          <p:spPr>
            <a:xfrm>
              <a:off x="1030606" y="5800913"/>
              <a:ext cx="5119843" cy="447711"/>
            </a:xfrm>
            <a:prstGeom prst="rect">
              <a:avLst/>
            </a:prstGeom>
          </p:spPr>
        </p:pic>
        <p:sp>
          <p:nvSpPr>
            <p:cNvPr id="61" name="object 28"/>
            <p:cNvSpPr/>
            <p:nvPr/>
          </p:nvSpPr>
          <p:spPr>
            <a:xfrm>
              <a:off x="2819400" y="5743955"/>
              <a:ext cx="3352800" cy="559435"/>
            </a:xfrm>
            <a:custGeom>
              <a:avLst/>
              <a:gdLst/>
              <a:ahLst/>
              <a:cxnLst/>
              <a:rect l="l" t="t" r="r" b="b"/>
              <a:pathLst>
                <a:path w="3352800" h="559435">
                  <a:moveTo>
                    <a:pt x="0" y="559308"/>
                  </a:moveTo>
                  <a:lnTo>
                    <a:pt x="3352800" y="559308"/>
                  </a:lnTo>
                  <a:lnTo>
                    <a:pt x="3352800" y="0"/>
                  </a:lnTo>
                  <a:lnTo>
                    <a:pt x="0" y="0"/>
                  </a:lnTo>
                  <a:lnTo>
                    <a:pt x="0" y="559308"/>
                  </a:lnTo>
                  <a:close/>
                </a:path>
              </a:pathLst>
            </a:custGeom>
            <a:ln w="12699">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
        <p:nvSpPr>
          <p:cNvPr id="62" name="object 29"/>
          <p:cNvSpPr txBox="1"/>
          <p:nvPr/>
        </p:nvSpPr>
        <p:spPr>
          <a:xfrm>
            <a:off x="4350765" y="3861942"/>
            <a:ext cx="913130" cy="391160"/>
          </a:xfrm>
          <a:prstGeom prst="rect">
            <a:avLst/>
          </a:prstGeom>
        </p:spPr>
        <p:txBody>
          <a:bodyPr vert="horz" wrap="square" lIns="0" tIns="12700" rIns="0" bIns="0" rtlCol="0">
            <a:spAutoFit/>
          </a:bodyPr>
          <a:lstStyle/>
          <a:p>
            <a:pPr marL="12700">
              <a:spcBef>
                <a:spcPts val="100"/>
              </a:spcBef>
            </a:pPr>
            <a:r>
              <a:rPr sz="1200" i="1" dirty="0">
                <a:solidFill>
                  <a:srgbClr val="6F2F9F"/>
                </a:solidFill>
                <a:latin typeface="Palatino Linotype" panose="02040502050505030304"/>
                <a:cs typeface="Palatino Linotype" panose="02040502050505030304"/>
              </a:rPr>
              <a:t>type</a:t>
            </a:r>
            <a:r>
              <a:rPr sz="1200" i="1" spc="-1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spc="-10" dirty="0">
                <a:solidFill>
                  <a:srgbClr val="6F2F9F"/>
                </a:solidFill>
                <a:latin typeface="Palatino Linotype" panose="02040502050505030304"/>
                <a:cs typeface="Palatino Linotype" panose="02040502050505030304"/>
              </a:rPr>
              <a:t>integer</a:t>
            </a:r>
            <a:endParaRPr sz="1200">
              <a:solidFill>
                <a:sysClr val="windowText" lastClr="000000"/>
              </a:solidFill>
              <a:latin typeface="Palatino Linotype" panose="02040502050505030304"/>
              <a:cs typeface="Palatino Linotype" panose="02040502050505030304"/>
            </a:endParaRPr>
          </a:p>
          <a:p>
            <a:pPr marL="12700"/>
            <a:r>
              <a:rPr sz="1200" i="1" dirty="0">
                <a:solidFill>
                  <a:srgbClr val="6F2F9F"/>
                </a:solidFill>
                <a:latin typeface="Palatino Linotype" panose="02040502050505030304"/>
                <a:cs typeface="Palatino Linotype" panose="02040502050505030304"/>
              </a:rPr>
              <a:t>width</a:t>
            </a:r>
            <a:r>
              <a:rPr sz="1200" i="1" spc="-2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15" dirty="0">
                <a:solidFill>
                  <a:srgbClr val="6F2F9F"/>
                </a:solidFill>
                <a:latin typeface="Palatino Linotype" panose="02040502050505030304"/>
                <a:cs typeface="Palatino Linotype" panose="02040502050505030304"/>
              </a:rPr>
              <a:t> </a:t>
            </a:r>
            <a:r>
              <a:rPr sz="1200" spc="-50" dirty="0">
                <a:solidFill>
                  <a:srgbClr val="6F2F9F"/>
                </a:solidFill>
                <a:latin typeface="Palatino Linotype" panose="02040502050505030304"/>
                <a:cs typeface="Palatino Linotype" panose="02040502050505030304"/>
              </a:rPr>
              <a:t>4</a:t>
            </a:r>
            <a:endParaRPr sz="1200">
              <a:solidFill>
                <a:sysClr val="windowText" lastClr="000000"/>
              </a:solidFill>
              <a:latin typeface="Palatino Linotype" panose="02040502050505030304"/>
              <a:cs typeface="Palatino Linotype" panose="02040502050505030304"/>
            </a:endParaRPr>
          </a:p>
        </p:txBody>
      </p:sp>
      <p:sp>
        <p:nvSpPr>
          <p:cNvPr id="63" name="object 30"/>
          <p:cNvSpPr txBox="1"/>
          <p:nvPr/>
        </p:nvSpPr>
        <p:spPr>
          <a:xfrm>
            <a:off x="3354070" y="3517519"/>
            <a:ext cx="1126490" cy="208279"/>
          </a:xfrm>
          <a:prstGeom prst="rect">
            <a:avLst/>
          </a:prstGeom>
        </p:spPr>
        <p:txBody>
          <a:bodyPr vert="horz" wrap="square" lIns="0" tIns="12700" rIns="0" bIns="0" rtlCol="0">
            <a:spAutoFit/>
          </a:bodyPr>
          <a:lstStyle/>
          <a:p>
            <a:pPr marL="12700">
              <a:spcBef>
                <a:spcPts val="100"/>
              </a:spcBef>
            </a:pPr>
            <a:r>
              <a:rPr sz="1200" i="1" dirty="0">
                <a:solidFill>
                  <a:srgbClr val="6F2F9F"/>
                </a:solidFill>
                <a:latin typeface="Palatino Linotype" panose="02040502050505030304"/>
                <a:cs typeface="Palatino Linotype" panose="02040502050505030304"/>
              </a:rPr>
              <a:t>width</a:t>
            </a:r>
            <a:r>
              <a:rPr sz="1200" i="1" spc="-1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3</a:t>
            </a:r>
            <a:r>
              <a:rPr sz="1200" spc="-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1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4</a:t>
            </a:r>
            <a:r>
              <a:rPr sz="1200" spc="-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spc="-25" dirty="0">
                <a:solidFill>
                  <a:srgbClr val="6F2F9F"/>
                </a:solidFill>
                <a:latin typeface="Palatino Linotype" panose="02040502050505030304"/>
                <a:cs typeface="Palatino Linotype" panose="02040502050505030304"/>
              </a:rPr>
              <a:t>12</a:t>
            </a:r>
            <a:endParaRPr sz="1200">
              <a:solidFill>
                <a:sysClr val="windowText" lastClr="000000"/>
              </a:solidFill>
              <a:latin typeface="Palatino Linotype" panose="02040502050505030304"/>
              <a:cs typeface="Palatino Linotype" panose="02040502050505030304"/>
            </a:endParaRPr>
          </a:p>
        </p:txBody>
      </p:sp>
      <p:sp>
        <p:nvSpPr>
          <p:cNvPr id="64" name="object 31"/>
          <p:cNvSpPr txBox="1"/>
          <p:nvPr/>
        </p:nvSpPr>
        <p:spPr>
          <a:xfrm>
            <a:off x="2665857" y="2580259"/>
            <a:ext cx="2134235" cy="391160"/>
          </a:xfrm>
          <a:prstGeom prst="rect">
            <a:avLst/>
          </a:prstGeom>
        </p:spPr>
        <p:txBody>
          <a:bodyPr vert="horz" wrap="square" lIns="0" tIns="12700" rIns="0" bIns="0" rtlCol="0">
            <a:spAutoFit/>
          </a:bodyPr>
          <a:lstStyle/>
          <a:p>
            <a:pPr marL="12700">
              <a:spcBef>
                <a:spcPts val="100"/>
              </a:spcBef>
            </a:pPr>
            <a:r>
              <a:rPr sz="1200" i="1" dirty="0">
                <a:solidFill>
                  <a:srgbClr val="6F2F9F"/>
                </a:solidFill>
                <a:latin typeface="Palatino Linotype" panose="02040502050505030304"/>
                <a:cs typeface="Palatino Linotype" panose="02040502050505030304"/>
              </a:rPr>
              <a:t>type</a:t>
            </a:r>
            <a:r>
              <a:rPr sz="1200" i="1" spc="-3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2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array(2,</a:t>
            </a:r>
            <a:r>
              <a:rPr sz="1200" spc="-4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array(3,</a:t>
            </a:r>
            <a:r>
              <a:rPr sz="1200" spc="-50" dirty="0">
                <a:solidFill>
                  <a:srgbClr val="6F2F9F"/>
                </a:solidFill>
                <a:latin typeface="Palatino Linotype" panose="02040502050505030304"/>
                <a:cs typeface="Palatino Linotype" panose="02040502050505030304"/>
              </a:rPr>
              <a:t> </a:t>
            </a:r>
            <a:r>
              <a:rPr sz="1200" spc="-10" dirty="0">
                <a:solidFill>
                  <a:srgbClr val="6F2F9F"/>
                </a:solidFill>
                <a:latin typeface="Palatino Linotype" panose="02040502050505030304"/>
                <a:cs typeface="Palatino Linotype" panose="02040502050505030304"/>
              </a:rPr>
              <a:t>integer))</a:t>
            </a:r>
            <a:endParaRPr sz="1200">
              <a:solidFill>
                <a:sysClr val="windowText" lastClr="000000"/>
              </a:solidFill>
              <a:latin typeface="Palatino Linotype" panose="02040502050505030304"/>
              <a:cs typeface="Palatino Linotype" panose="02040502050505030304"/>
            </a:endParaRPr>
          </a:p>
          <a:p>
            <a:pPr marL="12700"/>
            <a:r>
              <a:rPr sz="1200" i="1" dirty="0">
                <a:solidFill>
                  <a:srgbClr val="6F2F9F"/>
                </a:solidFill>
                <a:latin typeface="Palatino Linotype" panose="02040502050505030304"/>
                <a:cs typeface="Palatino Linotype" panose="02040502050505030304"/>
              </a:rPr>
              <a:t>width</a:t>
            </a:r>
            <a:r>
              <a:rPr sz="1200" i="1" spc="-1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2</a:t>
            </a:r>
            <a:r>
              <a:rPr sz="1200" spc="-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1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12</a:t>
            </a:r>
            <a:r>
              <a:rPr sz="1200" spc="-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spc="-25" dirty="0">
                <a:solidFill>
                  <a:srgbClr val="6F2F9F"/>
                </a:solidFill>
                <a:latin typeface="Palatino Linotype" panose="02040502050505030304"/>
                <a:cs typeface="Palatino Linotype" panose="02040502050505030304"/>
              </a:rPr>
              <a:t>24</a:t>
            </a:r>
            <a:endParaRPr sz="1200">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47</a:t>
            </a:fld>
            <a:endParaRPr lang="en-US"/>
          </a:p>
        </p:txBody>
      </p:sp>
      <p:sp>
        <p:nvSpPr>
          <p:cNvPr id="34"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30" normalizeH="0" baseline="0" noProof="0">
                <a:ln>
                  <a:noFill/>
                </a:ln>
                <a:solidFill>
                  <a:srgbClr val="000000"/>
                </a:solidFill>
                <a:effectLst/>
                <a:uLnTx/>
                <a:uFillTx/>
                <a:latin typeface="Palatino Linotype" panose="02040502050505030304"/>
                <a:ea typeface="+mj-ea"/>
              </a:rPr>
              <a:t>Translation</a:t>
            </a:r>
            <a:r>
              <a:rPr kumimoji="0" lang="en-US" sz="4000" b="1" i="0" u="none" strike="noStrike" kern="0" cap="none" spc="-13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Process</a:t>
            </a:r>
            <a:r>
              <a:rPr kumimoji="0" lang="en-US" sz="4000" b="1" i="0" u="none" strike="noStrike" kern="0" cap="none" spc="-14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Example</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35" name="object 3"/>
          <p:cNvSpPr txBox="1"/>
          <p:nvPr/>
        </p:nvSpPr>
        <p:spPr>
          <a:xfrm>
            <a:off x="1581658" y="2109978"/>
            <a:ext cx="16573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T</a:t>
            </a:r>
            <a:endParaRPr>
              <a:solidFill>
                <a:sysClr val="windowText" lastClr="000000"/>
              </a:solidFill>
              <a:latin typeface="Palatino Linotype" panose="02040502050505030304"/>
              <a:cs typeface="Palatino Linotype" panose="02040502050505030304"/>
            </a:endParaRPr>
          </a:p>
        </p:txBody>
      </p:sp>
      <p:sp>
        <p:nvSpPr>
          <p:cNvPr id="36" name="object 4"/>
          <p:cNvSpPr txBox="1"/>
          <p:nvPr/>
        </p:nvSpPr>
        <p:spPr>
          <a:xfrm>
            <a:off x="814832" y="2735707"/>
            <a:ext cx="16510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B</a:t>
            </a:r>
            <a:endParaRPr>
              <a:solidFill>
                <a:sysClr val="windowText" lastClr="000000"/>
              </a:solidFill>
              <a:latin typeface="Palatino Linotype" panose="02040502050505030304"/>
              <a:cs typeface="Palatino Linotype" panose="02040502050505030304"/>
            </a:endParaRPr>
          </a:p>
        </p:txBody>
      </p:sp>
      <p:sp>
        <p:nvSpPr>
          <p:cNvPr id="37" name="object 5"/>
          <p:cNvSpPr txBox="1"/>
          <p:nvPr/>
        </p:nvSpPr>
        <p:spPr>
          <a:xfrm>
            <a:off x="2299207" y="2735707"/>
            <a:ext cx="18796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38" name="object 6"/>
          <p:cNvSpPr/>
          <p:nvPr/>
        </p:nvSpPr>
        <p:spPr>
          <a:xfrm>
            <a:off x="899160" y="2461260"/>
            <a:ext cx="1495425" cy="256540"/>
          </a:xfrm>
          <a:custGeom>
            <a:avLst/>
            <a:gdLst/>
            <a:ahLst/>
            <a:cxnLst/>
            <a:rect l="l" t="t" r="r" b="b"/>
            <a:pathLst>
              <a:path w="1495425" h="256539">
                <a:moveTo>
                  <a:pt x="766572" y="0"/>
                </a:moveTo>
                <a:lnTo>
                  <a:pt x="0" y="256412"/>
                </a:lnTo>
              </a:path>
              <a:path w="1495425" h="256539">
                <a:moveTo>
                  <a:pt x="766572" y="0"/>
                </a:moveTo>
                <a:lnTo>
                  <a:pt x="1495425" y="256412"/>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39" name="object 7"/>
          <p:cNvSpPr txBox="1"/>
          <p:nvPr/>
        </p:nvSpPr>
        <p:spPr>
          <a:xfrm>
            <a:off x="814832" y="1343659"/>
            <a:ext cx="2540635" cy="299720"/>
          </a:xfrm>
          <a:prstGeom prst="rect">
            <a:avLst/>
          </a:prstGeom>
        </p:spPr>
        <p:txBody>
          <a:bodyPr vert="horz" wrap="square" lIns="0" tIns="12700" rIns="0" bIns="0" rtlCol="0">
            <a:spAutoFit/>
          </a:bodyPr>
          <a:lstStyle/>
          <a:p>
            <a:pPr marL="12700">
              <a:spcBef>
                <a:spcPts val="100"/>
              </a:spcBef>
            </a:pPr>
            <a:r>
              <a:rPr dirty="0">
                <a:solidFill>
                  <a:sysClr val="windowText" lastClr="000000"/>
                </a:solidFill>
                <a:latin typeface="Palatino Linotype" panose="02040502050505030304"/>
                <a:cs typeface="Palatino Linotype" panose="02040502050505030304"/>
              </a:rPr>
              <a:t>Input</a:t>
            </a:r>
            <a:r>
              <a:rPr spc="-2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string:</a:t>
            </a:r>
            <a:r>
              <a:rPr spc="465" dirty="0">
                <a:solidFill>
                  <a:sysClr val="windowText" lastClr="000000"/>
                </a:solidFill>
                <a:latin typeface="Palatino Linotype" panose="02040502050505030304"/>
                <a:cs typeface="Palatino Linotype" panose="02040502050505030304"/>
              </a:rPr>
              <a:t> </a:t>
            </a:r>
            <a:r>
              <a:rPr spc="-10" dirty="0">
                <a:solidFill>
                  <a:srgbClr val="A6A6A6"/>
                </a:solidFill>
                <a:latin typeface="Consolas" panose="020B0609020204030204"/>
                <a:cs typeface="Consolas" panose="020B0609020204030204"/>
              </a:rPr>
              <a:t>int[2][3]</a:t>
            </a:r>
            <a:endParaRPr>
              <a:solidFill>
                <a:sysClr val="windowText" lastClr="000000"/>
              </a:solidFill>
              <a:latin typeface="Consolas" panose="020B0609020204030204"/>
              <a:cs typeface="Consolas" panose="020B0609020204030204"/>
            </a:endParaRPr>
          </a:p>
        </p:txBody>
      </p:sp>
      <p:sp>
        <p:nvSpPr>
          <p:cNvPr id="40" name="object 8"/>
          <p:cNvSpPr/>
          <p:nvPr/>
        </p:nvSpPr>
        <p:spPr>
          <a:xfrm>
            <a:off x="6384290" y="2228723"/>
            <a:ext cx="1724025" cy="2973070"/>
          </a:xfrm>
          <a:custGeom>
            <a:avLst/>
            <a:gdLst/>
            <a:ahLst/>
            <a:cxnLst/>
            <a:rect l="l" t="t" r="r" b="b"/>
            <a:pathLst>
              <a:path w="1724025" h="2973070">
                <a:moveTo>
                  <a:pt x="6350" y="0"/>
                </a:moveTo>
                <a:lnTo>
                  <a:pt x="6350" y="2973070"/>
                </a:lnTo>
              </a:path>
              <a:path w="1724025" h="2973070">
                <a:moveTo>
                  <a:pt x="1717166" y="0"/>
                </a:moveTo>
                <a:lnTo>
                  <a:pt x="1717166" y="2973070"/>
                </a:lnTo>
              </a:path>
              <a:path w="1724025" h="2973070">
                <a:moveTo>
                  <a:pt x="0" y="2966720"/>
                </a:moveTo>
                <a:lnTo>
                  <a:pt x="1723516" y="296672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1" name="object 9"/>
          <p:cNvSpPr txBox="1"/>
          <p:nvPr/>
        </p:nvSpPr>
        <p:spPr>
          <a:xfrm>
            <a:off x="6819138" y="5393842"/>
            <a:ext cx="895350" cy="269240"/>
          </a:xfrm>
          <a:prstGeom prst="rect">
            <a:avLst/>
          </a:prstGeom>
        </p:spPr>
        <p:txBody>
          <a:bodyPr vert="horz" wrap="square" lIns="0" tIns="12065" rIns="0" bIns="0" rtlCol="0">
            <a:spAutoFit/>
          </a:bodyPr>
          <a:lstStyle/>
          <a:p>
            <a:pPr marL="12700">
              <a:spcBef>
                <a:spcPts val="95"/>
              </a:spcBef>
            </a:pPr>
            <a:r>
              <a:rPr sz="1600" dirty="0">
                <a:solidFill>
                  <a:sysClr val="windowText" lastClr="000000"/>
                </a:solidFill>
                <a:latin typeface="Palatino Linotype" panose="02040502050505030304"/>
                <a:cs typeface="Palatino Linotype" panose="02040502050505030304"/>
              </a:rPr>
              <a:t>Call</a:t>
            </a:r>
            <a:r>
              <a:rPr sz="1600" spc="-30"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stack</a:t>
            </a:r>
            <a:endParaRPr sz="1600">
              <a:solidFill>
                <a:sysClr val="windowText" lastClr="000000"/>
              </a:solidFill>
              <a:latin typeface="Palatino Linotype" panose="02040502050505030304"/>
              <a:cs typeface="Palatino Linotype" panose="02040502050505030304"/>
            </a:endParaRPr>
          </a:p>
        </p:txBody>
      </p:sp>
      <p:sp>
        <p:nvSpPr>
          <p:cNvPr id="42" name="object 10"/>
          <p:cNvSpPr txBox="1"/>
          <p:nvPr/>
        </p:nvSpPr>
        <p:spPr>
          <a:xfrm>
            <a:off x="755395" y="4634941"/>
            <a:ext cx="725170" cy="300355"/>
          </a:xfrm>
          <a:prstGeom prst="rect">
            <a:avLst/>
          </a:prstGeom>
        </p:spPr>
        <p:txBody>
          <a:bodyPr vert="horz" wrap="square" lIns="0" tIns="12700" rIns="0" bIns="0" rtlCol="0">
            <a:spAutoFit/>
          </a:bodyPr>
          <a:lstStyle/>
          <a:p>
            <a:pPr marL="12700">
              <a:spcBef>
                <a:spcPts val="100"/>
              </a:spcBef>
            </a:pPr>
            <a:r>
              <a:rPr b="1" dirty="0">
                <a:solidFill>
                  <a:srgbClr val="FF0000"/>
                </a:solidFill>
                <a:latin typeface="Palatino Linotype" panose="02040502050505030304"/>
                <a:cs typeface="Palatino Linotype" panose="02040502050505030304"/>
              </a:rPr>
              <a:t>Step </a:t>
            </a:r>
            <a:r>
              <a:rPr b="1" spc="-25" dirty="0">
                <a:solidFill>
                  <a:srgbClr val="FF0000"/>
                </a:solidFill>
                <a:latin typeface="Palatino Linotype" panose="02040502050505030304"/>
                <a:cs typeface="Palatino Linotype" panose="02040502050505030304"/>
              </a:rPr>
              <a:t>8:</a:t>
            </a:r>
            <a:endParaRPr>
              <a:solidFill>
                <a:sysClr val="windowText" lastClr="000000"/>
              </a:solidFill>
              <a:latin typeface="Palatino Linotype" panose="02040502050505030304"/>
              <a:cs typeface="Palatino Linotype" panose="02040502050505030304"/>
            </a:endParaRPr>
          </a:p>
        </p:txBody>
      </p:sp>
      <p:sp>
        <p:nvSpPr>
          <p:cNvPr id="43" name="object 11"/>
          <p:cNvSpPr txBox="1"/>
          <p:nvPr/>
        </p:nvSpPr>
        <p:spPr>
          <a:xfrm>
            <a:off x="755395" y="4909820"/>
            <a:ext cx="2730500" cy="683895"/>
          </a:xfrm>
          <a:prstGeom prst="rect">
            <a:avLst/>
          </a:prstGeom>
        </p:spPr>
        <p:txBody>
          <a:bodyPr vert="horz" wrap="square" lIns="0" tIns="67310" rIns="0" bIns="0" rtlCol="0">
            <a:spAutoFit/>
          </a:bodyPr>
          <a:lstStyle/>
          <a:p>
            <a:pPr marL="299085" indent="-286385">
              <a:spcBef>
                <a:spcPts val="530"/>
              </a:spcBef>
              <a:buFont typeface="Arial MT"/>
              <a:buChar char="•"/>
              <a:tabLst>
                <a:tab pos="299085" algn="l"/>
              </a:tabLst>
            </a:pPr>
            <a:r>
              <a:rPr dirty="0">
                <a:solidFill>
                  <a:sysClr val="windowText" lastClr="000000"/>
                </a:solidFill>
                <a:latin typeface="Palatino Linotype" panose="02040502050505030304"/>
                <a:cs typeface="Palatino Linotype" panose="02040502050505030304"/>
              </a:rPr>
              <a:t>T() </a:t>
            </a:r>
            <a:r>
              <a:rPr spc="-10" dirty="0">
                <a:solidFill>
                  <a:sysClr val="windowText" lastClr="000000"/>
                </a:solidFill>
                <a:latin typeface="Palatino Linotype" panose="02040502050505030304"/>
                <a:cs typeface="Palatino Linotype" panose="02040502050505030304"/>
              </a:rPr>
              <a:t>returns</a:t>
            </a:r>
            <a:endParaRPr>
              <a:solidFill>
                <a:sysClr val="windowText" lastClr="000000"/>
              </a:solidFill>
              <a:latin typeface="Palatino Linotype" panose="02040502050505030304"/>
              <a:cs typeface="Palatino Linotype" panose="02040502050505030304"/>
            </a:endParaRPr>
          </a:p>
          <a:p>
            <a:pPr marL="299085" indent="-286385">
              <a:spcBef>
                <a:spcPts val="430"/>
              </a:spcBef>
              <a:buFont typeface="Arial MT"/>
              <a:buChar char="•"/>
              <a:tabLst>
                <a:tab pos="299085" algn="l"/>
              </a:tabLst>
            </a:pPr>
            <a:r>
              <a:rPr dirty="0">
                <a:solidFill>
                  <a:sysClr val="windowText" lastClr="000000"/>
                </a:solidFill>
                <a:latin typeface="Palatino Linotype" panose="02040502050505030304"/>
                <a:cs typeface="Palatino Linotype" panose="02040502050505030304"/>
              </a:rPr>
              <a:t>Execute</a:t>
            </a:r>
            <a:r>
              <a:rPr spc="-4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semantic</a:t>
            </a:r>
            <a:r>
              <a:rPr spc="-3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action</a:t>
            </a:r>
            <a:endParaRPr>
              <a:solidFill>
                <a:sysClr val="windowText" lastClr="000000"/>
              </a:solidFill>
              <a:latin typeface="Palatino Linotype" panose="02040502050505030304"/>
              <a:cs typeface="Palatino Linotype" panose="02040502050505030304"/>
            </a:endParaRPr>
          </a:p>
        </p:txBody>
      </p:sp>
      <p:sp>
        <p:nvSpPr>
          <p:cNvPr id="44" name="object 12"/>
          <p:cNvSpPr txBox="1"/>
          <p:nvPr/>
        </p:nvSpPr>
        <p:spPr>
          <a:xfrm>
            <a:off x="738022" y="3329178"/>
            <a:ext cx="317500" cy="299720"/>
          </a:xfrm>
          <a:prstGeom prst="rect">
            <a:avLst/>
          </a:prstGeom>
        </p:spPr>
        <p:txBody>
          <a:bodyPr vert="horz" wrap="square" lIns="0" tIns="12700" rIns="0" bIns="0" rtlCol="0">
            <a:spAutoFit/>
          </a:bodyPr>
          <a:lstStyle/>
          <a:p>
            <a:pPr marL="12700">
              <a:spcBef>
                <a:spcPts val="100"/>
              </a:spcBef>
            </a:pPr>
            <a:r>
              <a:rPr b="1" spc="-25" dirty="0">
                <a:solidFill>
                  <a:sysClr val="windowText" lastClr="000000"/>
                </a:solidFill>
                <a:latin typeface="Palatino Linotype" panose="02040502050505030304"/>
                <a:cs typeface="Palatino Linotype" panose="02040502050505030304"/>
              </a:rPr>
              <a:t>int</a:t>
            </a:r>
            <a:endParaRPr>
              <a:solidFill>
                <a:sysClr val="windowText" lastClr="000000"/>
              </a:solidFill>
              <a:latin typeface="Palatino Linotype" panose="02040502050505030304"/>
              <a:cs typeface="Palatino Linotype" panose="02040502050505030304"/>
            </a:endParaRPr>
          </a:p>
        </p:txBody>
      </p:sp>
      <p:sp>
        <p:nvSpPr>
          <p:cNvPr id="45" name="object 13"/>
          <p:cNvSpPr/>
          <p:nvPr/>
        </p:nvSpPr>
        <p:spPr>
          <a:xfrm>
            <a:off x="899160" y="3086100"/>
            <a:ext cx="0" cy="224154"/>
          </a:xfrm>
          <a:custGeom>
            <a:avLst/>
            <a:gdLst/>
            <a:ahLst/>
            <a:cxnLst/>
            <a:rect l="l" t="t" r="r" b="b"/>
            <a:pathLst>
              <a:path h="224154">
                <a:moveTo>
                  <a:pt x="0" y="0"/>
                </a:moveTo>
                <a:lnTo>
                  <a:pt x="0" y="22390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6" name="object 14"/>
          <p:cNvSpPr txBox="1"/>
          <p:nvPr/>
        </p:nvSpPr>
        <p:spPr>
          <a:xfrm>
            <a:off x="1744472" y="3329178"/>
            <a:ext cx="292100" cy="299720"/>
          </a:xfrm>
          <a:prstGeom prst="rect">
            <a:avLst/>
          </a:prstGeom>
        </p:spPr>
        <p:txBody>
          <a:bodyPr vert="horz" wrap="square" lIns="0" tIns="12700" rIns="0" bIns="0" rtlCol="0">
            <a:spAutoFit/>
          </a:bodyPr>
          <a:lstStyle/>
          <a:p>
            <a:pPr marL="12700">
              <a:spcBef>
                <a:spcPts val="100"/>
              </a:spcBef>
            </a:pPr>
            <a:r>
              <a:rPr spc="-25" dirty="0">
                <a:solidFill>
                  <a:sysClr val="windowText" lastClr="000000"/>
                </a:solidFill>
                <a:latin typeface="Palatino Linotype" panose="02040502050505030304"/>
                <a:cs typeface="Palatino Linotype" panose="02040502050505030304"/>
              </a:rPr>
              <a:t>[</a:t>
            </a:r>
            <a:r>
              <a:rPr b="1" spc="-25" dirty="0">
                <a:solidFill>
                  <a:sysClr val="windowText" lastClr="000000"/>
                </a:solidFill>
                <a:latin typeface="Palatino Linotype" panose="02040502050505030304"/>
                <a:cs typeface="Palatino Linotype" panose="02040502050505030304"/>
              </a:rPr>
              <a:t>2</a:t>
            </a:r>
            <a:r>
              <a:rPr spc="-25" dirty="0">
                <a:solidFill>
                  <a:sysClr val="windowText" lastClr="000000"/>
                </a:solidFill>
                <a:latin typeface="Palatino Linotype" panose="02040502050505030304"/>
                <a:cs typeface="Palatino Linotype" panose="02040502050505030304"/>
              </a:rPr>
              <a:t>]</a:t>
            </a:r>
            <a:endParaRPr>
              <a:solidFill>
                <a:sysClr val="windowText" lastClr="000000"/>
              </a:solidFill>
              <a:latin typeface="Palatino Linotype" panose="02040502050505030304"/>
              <a:cs typeface="Palatino Linotype" panose="02040502050505030304"/>
            </a:endParaRPr>
          </a:p>
        </p:txBody>
      </p:sp>
      <p:sp>
        <p:nvSpPr>
          <p:cNvPr id="47" name="object 15"/>
          <p:cNvSpPr/>
          <p:nvPr/>
        </p:nvSpPr>
        <p:spPr>
          <a:xfrm>
            <a:off x="1892807" y="3086100"/>
            <a:ext cx="1310640" cy="229235"/>
          </a:xfrm>
          <a:custGeom>
            <a:avLst/>
            <a:gdLst/>
            <a:ahLst/>
            <a:cxnLst/>
            <a:rect l="l" t="t" r="r" b="b"/>
            <a:pathLst>
              <a:path w="1310639" h="229235">
                <a:moveTo>
                  <a:pt x="501777" y="0"/>
                </a:moveTo>
                <a:lnTo>
                  <a:pt x="0" y="223900"/>
                </a:lnTo>
              </a:path>
              <a:path w="1310639" h="229235">
                <a:moveTo>
                  <a:pt x="501396" y="0"/>
                </a:moveTo>
                <a:lnTo>
                  <a:pt x="1310259" y="228853"/>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48" name="object 16"/>
          <p:cNvSpPr txBox="1"/>
          <p:nvPr/>
        </p:nvSpPr>
        <p:spPr>
          <a:xfrm>
            <a:off x="2553461" y="3944873"/>
            <a:ext cx="292100" cy="299720"/>
          </a:xfrm>
          <a:prstGeom prst="rect">
            <a:avLst/>
          </a:prstGeom>
        </p:spPr>
        <p:txBody>
          <a:bodyPr vert="horz" wrap="square" lIns="0" tIns="12700" rIns="0" bIns="0" rtlCol="0">
            <a:spAutoFit/>
          </a:bodyPr>
          <a:lstStyle/>
          <a:p>
            <a:pPr marL="12700">
              <a:spcBef>
                <a:spcPts val="100"/>
              </a:spcBef>
            </a:pPr>
            <a:r>
              <a:rPr spc="-25" dirty="0">
                <a:solidFill>
                  <a:sysClr val="windowText" lastClr="000000"/>
                </a:solidFill>
                <a:latin typeface="Palatino Linotype" panose="02040502050505030304"/>
                <a:cs typeface="Palatino Linotype" panose="02040502050505030304"/>
              </a:rPr>
              <a:t>[</a:t>
            </a:r>
            <a:r>
              <a:rPr b="1" spc="-25" dirty="0">
                <a:solidFill>
                  <a:sysClr val="windowText" lastClr="000000"/>
                </a:solidFill>
                <a:latin typeface="Palatino Linotype" panose="02040502050505030304"/>
                <a:cs typeface="Palatino Linotype" panose="02040502050505030304"/>
              </a:rPr>
              <a:t>3</a:t>
            </a:r>
            <a:r>
              <a:rPr spc="-25" dirty="0">
                <a:solidFill>
                  <a:sysClr val="windowText" lastClr="000000"/>
                </a:solidFill>
                <a:latin typeface="Palatino Linotype" panose="02040502050505030304"/>
                <a:cs typeface="Palatino Linotype" panose="02040502050505030304"/>
              </a:rPr>
              <a:t>]</a:t>
            </a:r>
            <a:endParaRPr>
              <a:solidFill>
                <a:sysClr val="windowText" lastClr="000000"/>
              </a:solidFill>
              <a:latin typeface="Palatino Linotype" panose="02040502050505030304"/>
              <a:cs typeface="Palatino Linotype" panose="02040502050505030304"/>
            </a:endParaRPr>
          </a:p>
        </p:txBody>
      </p:sp>
      <p:sp>
        <p:nvSpPr>
          <p:cNvPr id="49" name="object 17"/>
          <p:cNvSpPr txBox="1"/>
          <p:nvPr/>
        </p:nvSpPr>
        <p:spPr>
          <a:xfrm>
            <a:off x="3917060" y="3949700"/>
            <a:ext cx="18796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panose="02040502050505030304"/>
                <a:cs typeface="Palatino Linotype" panose="02040502050505030304"/>
              </a:rPr>
              <a:t>C</a:t>
            </a:r>
            <a:endParaRPr>
              <a:solidFill>
                <a:sysClr val="windowText" lastClr="000000"/>
              </a:solidFill>
              <a:latin typeface="Palatino Linotype" panose="02040502050505030304"/>
              <a:cs typeface="Palatino Linotype" panose="02040502050505030304"/>
            </a:endParaRPr>
          </a:p>
        </p:txBody>
      </p:sp>
      <p:sp>
        <p:nvSpPr>
          <p:cNvPr id="50" name="object 18"/>
          <p:cNvSpPr/>
          <p:nvPr/>
        </p:nvSpPr>
        <p:spPr>
          <a:xfrm>
            <a:off x="2700527" y="3685032"/>
            <a:ext cx="1311910" cy="246379"/>
          </a:xfrm>
          <a:custGeom>
            <a:avLst/>
            <a:gdLst/>
            <a:ahLst/>
            <a:cxnLst/>
            <a:rect l="l" t="t" r="r" b="b"/>
            <a:pathLst>
              <a:path w="1311910" h="246379">
                <a:moveTo>
                  <a:pt x="501777" y="0"/>
                </a:moveTo>
                <a:lnTo>
                  <a:pt x="0" y="241300"/>
                </a:lnTo>
              </a:path>
              <a:path w="1311910" h="246379">
                <a:moveTo>
                  <a:pt x="502920" y="0"/>
                </a:moveTo>
                <a:lnTo>
                  <a:pt x="1311783" y="246253"/>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51" name="object 19"/>
          <p:cNvSpPr txBox="1"/>
          <p:nvPr/>
        </p:nvSpPr>
        <p:spPr>
          <a:xfrm>
            <a:off x="3082798" y="3258439"/>
            <a:ext cx="1821814" cy="299720"/>
          </a:xfrm>
          <a:prstGeom prst="rect">
            <a:avLst/>
          </a:prstGeom>
        </p:spPr>
        <p:txBody>
          <a:bodyPr vert="horz" wrap="square" lIns="0" tIns="12700" rIns="0" bIns="0" rtlCol="0">
            <a:spAutoFit/>
          </a:bodyPr>
          <a:lstStyle/>
          <a:p>
            <a:pPr marL="38100">
              <a:spcBef>
                <a:spcPts val="100"/>
              </a:spcBef>
            </a:pPr>
            <a:r>
              <a:rPr sz="2700" baseline="-19000" dirty="0">
                <a:solidFill>
                  <a:sysClr val="windowText" lastClr="000000"/>
                </a:solidFill>
                <a:latin typeface="Palatino Linotype" panose="02040502050505030304"/>
                <a:cs typeface="Palatino Linotype" panose="02040502050505030304"/>
              </a:rPr>
              <a:t>C</a:t>
            </a:r>
            <a:r>
              <a:rPr sz="2700" spc="270" baseline="-19000" dirty="0">
                <a:solidFill>
                  <a:sysClr val="windowText" lastClr="000000"/>
                </a:solidFill>
                <a:latin typeface="Palatino Linotype" panose="02040502050505030304"/>
                <a:cs typeface="Palatino Linotype" panose="02040502050505030304"/>
              </a:rPr>
              <a:t> </a:t>
            </a:r>
            <a:r>
              <a:rPr sz="1200" i="1" dirty="0">
                <a:solidFill>
                  <a:srgbClr val="6F2F9F"/>
                </a:solidFill>
                <a:latin typeface="Palatino Linotype" panose="02040502050505030304"/>
                <a:cs typeface="Palatino Linotype" panose="02040502050505030304"/>
              </a:rPr>
              <a:t>type</a:t>
            </a:r>
            <a:r>
              <a:rPr sz="1200" i="1" spc="-1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array(3,</a:t>
            </a:r>
            <a:r>
              <a:rPr sz="1200" spc="-30" dirty="0">
                <a:solidFill>
                  <a:srgbClr val="6F2F9F"/>
                </a:solidFill>
                <a:latin typeface="Palatino Linotype" panose="02040502050505030304"/>
                <a:cs typeface="Palatino Linotype" panose="02040502050505030304"/>
              </a:rPr>
              <a:t> </a:t>
            </a:r>
            <a:r>
              <a:rPr sz="1200" spc="-10" dirty="0">
                <a:solidFill>
                  <a:srgbClr val="6F2F9F"/>
                </a:solidFill>
                <a:latin typeface="Palatino Linotype" panose="02040502050505030304"/>
                <a:cs typeface="Palatino Linotype" panose="02040502050505030304"/>
              </a:rPr>
              <a:t>integer)</a:t>
            </a:r>
            <a:endParaRPr sz="1200">
              <a:solidFill>
                <a:sysClr val="windowText" lastClr="000000"/>
              </a:solidFill>
              <a:latin typeface="Palatino Linotype" panose="02040502050505030304"/>
              <a:cs typeface="Palatino Linotype" panose="02040502050505030304"/>
            </a:endParaRPr>
          </a:p>
        </p:txBody>
      </p:sp>
      <p:sp>
        <p:nvSpPr>
          <p:cNvPr id="52" name="object 20"/>
          <p:cNvSpPr txBox="1"/>
          <p:nvPr/>
        </p:nvSpPr>
        <p:spPr>
          <a:xfrm>
            <a:off x="1058062" y="2675890"/>
            <a:ext cx="913130" cy="391160"/>
          </a:xfrm>
          <a:prstGeom prst="rect">
            <a:avLst/>
          </a:prstGeom>
        </p:spPr>
        <p:txBody>
          <a:bodyPr vert="horz" wrap="square" lIns="0" tIns="12700" rIns="0" bIns="0" rtlCol="0">
            <a:spAutoFit/>
          </a:bodyPr>
          <a:lstStyle/>
          <a:p>
            <a:pPr marL="12700">
              <a:spcBef>
                <a:spcPts val="100"/>
              </a:spcBef>
            </a:pPr>
            <a:r>
              <a:rPr sz="1200" i="1" dirty="0">
                <a:solidFill>
                  <a:srgbClr val="6F2F9F"/>
                </a:solidFill>
                <a:latin typeface="Palatino Linotype" panose="02040502050505030304"/>
                <a:cs typeface="Palatino Linotype" panose="02040502050505030304"/>
              </a:rPr>
              <a:t>type</a:t>
            </a:r>
            <a:r>
              <a:rPr sz="1200" i="1" spc="-1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spc="-10" dirty="0">
                <a:solidFill>
                  <a:srgbClr val="6F2F9F"/>
                </a:solidFill>
                <a:latin typeface="Palatino Linotype" panose="02040502050505030304"/>
                <a:cs typeface="Palatino Linotype" panose="02040502050505030304"/>
              </a:rPr>
              <a:t>integer</a:t>
            </a:r>
            <a:endParaRPr sz="1200">
              <a:solidFill>
                <a:sysClr val="windowText" lastClr="000000"/>
              </a:solidFill>
              <a:latin typeface="Palatino Linotype" panose="02040502050505030304"/>
              <a:cs typeface="Palatino Linotype" panose="02040502050505030304"/>
            </a:endParaRPr>
          </a:p>
          <a:p>
            <a:pPr marL="12700"/>
            <a:r>
              <a:rPr sz="1200" i="1" dirty="0">
                <a:solidFill>
                  <a:srgbClr val="6F2F9F"/>
                </a:solidFill>
                <a:latin typeface="Palatino Linotype" panose="02040502050505030304"/>
                <a:cs typeface="Palatino Linotype" panose="02040502050505030304"/>
              </a:rPr>
              <a:t>width</a:t>
            </a:r>
            <a:r>
              <a:rPr sz="1200" i="1" spc="-2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15" dirty="0">
                <a:solidFill>
                  <a:srgbClr val="6F2F9F"/>
                </a:solidFill>
                <a:latin typeface="Palatino Linotype" panose="02040502050505030304"/>
                <a:cs typeface="Palatino Linotype" panose="02040502050505030304"/>
              </a:rPr>
              <a:t> </a:t>
            </a:r>
            <a:r>
              <a:rPr sz="1200" spc="-50" dirty="0">
                <a:solidFill>
                  <a:srgbClr val="6F2F9F"/>
                </a:solidFill>
                <a:latin typeface="Palatino Linotype" panose="02040502050505030304"/>
                <a:cs typeface="Palatino Linotype" panose="02040502050505030304"/>
              </a:rPr>
              <a:t>4</a:t>
            </a:r>
            <a:endParaRPr sz="1200">
              <a:solidFill>
                <a:sysClr val="windowText" lastClr="000000"/>
              </a:solidFill>
              <a:latin typeface="Palatino Linotype" panose="02040502050505030304"/>
              <a:cs typeface="Palatino Linotype" panose="02040502050505030304"/>
            </a:endParaRPr>
          </a:p>
        </p:txBody>
      </p:sp>
      <p:sp>
        <p:nvSpPr>
          <p:cNvPr id="53" name="object 21"/>
          <p:cNvSpPr txBox="1"/>
          <p:nvPr/>
        </p:nvSpPr>
        <p:spPr>
          <a:xfrm>
            <a:off x="4224528" y="1491996"/>
            <a:ext cx="1266825" cy="646430"/>
          </a:xfrm>
          <a:prstGeom prst="rect">
            <a:avLst/>
          </a:prstGeom>
          <a:solidFill>
            <a:srgbClr val="FFF1CC"/>
          </a:solidFill>
          <a:ln w="9525">
            <a:solidFill>
              <a:srgbClr val="000000"/>
            </a:solidFill>
          </a:ln>
        </p:spPr>
        <p:txBody>
          <a:bodyPr vert="horz" wrap="square" lIns="0" tIns="31115" rIns="0" bIns="0" rtlCol="0">
            <a:spAutoFit/>
          </a:bodyPr>
          <a:lstStyle/>
          <a:p>
            <a:pPr marL="92075">
              <a:spcBef>
                <a:spcPts val="245"/>
              </a:spcBef>
            </a:pPr>
            <a:r>
              <a:rPr i="1" dirty="0">
                <a:solidFill>
                  <a:sysClr val="windowText" lastClr="000000"/>
                </a:solidFill>
                <a:latin typeface="Palatino Linotype" panose="02040502050505030304"/>
                <a:cs typeface="Palatino Linotype" panose="02040502050505030304"/>
              </a:rPr>
              <a:t>t</a:t>
            </a:r>
            <a:r>
              <a:rPr i="1" spc="-15"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t>
            </a:r>
            <a:r>
              <a:rPr spc="-5" dirty="0">
                <a:solidFill>
                  <a:sysClr val="windowText" lastClr="000000"/>
                </a:solidFill>
                <a:latin typeface="Palatino Linotype" panose="02040502050505030304"/>
                <a:cs typeface="Palatino Linotype" panose="02040502050505030304"/>
              </a:rPr>
              <a:t> </a:t>
            </a:r>
            <a:r>
              <a:rPr spc="-10" dirty="0">
                <a:solidFill>
                  <a:sysClr val="windowText" lastClr="000000"/>
                </a:solidFill>
                <a:latin typeface="Palatino Linotype" panose="02040502050505030304"/>
                <a:cs typeface="Palatino Linotype" panose="02040502050505030304"/>
              </a:rPr>
              <a:t>integer</a:t>
            </a:r>
            <a:endParaRPr>
              <a:solidFill>
                <a:sysClr val="windowText" lastClr="000000"/>
              </a:solidFill>
              <a:latin typeface="Palatino Linotype" panose="02040502050505030304"/>
              <a:cs typeface="Palatino Linotype" panose="02040502050505030304"/>
            </a:endParaRPr>
          </a:p>
          <a:p>
            <a:pPr marL="92075"/>
            <a:r>
              <a:rPr i="1" dirty="0">
                <a:solidFill>
                  <a:sysClr val="windowText" lastClr="000000"/>
                </a:solidFill>
                <a:latin typeface="Palatino Linotype" panose="02040502050505030304"/>
                <a:cs typeface="Palatino Linotype" panose="02040502050505030304"/>
              </a:rPr>
              <a:t>w</a:t>
            </a:r>
            <a:r>
              <a:rPr i="1" spc="-20" dirty="0">
                <a:solidFill>
                  <a:sysClr val="windowText" lastClr="000000"/>
                </a:solidFill>
                <a:latin typeface="Palatino Linotype" panose="02040502050505030304"/>
                <a:cs typeface="Palatino Linotype" panose="02040502050505030304"/>
              </a:rPr>
              <a:t> </a:t>
            </a:r>
            <a:r>
              <a:rPr dirty="0">
                <a:solidFill>
                  <a:sysClr val="windowText" lastClr="000000"/>
                </a:solidFill>
                <a:latin typeface="Palatino Linotype" panose="02040502050505030304"/>
                <a:cs typeface="Palatino Linotype" panose="02040502050505030304"/>
              </a:rPr>
              <a:t>=</a:t>
            </a:r>
            <a:r>
              <a:rPr spc="-25" dirty="0">
                <a:solidFill>
                  <a:sysClr val="windowText" lastClr="000000"/>
                </a:solidFill>
                <a:latin typeface="Palatino Linotype" panose="02040502050505030304"/>
                <a:cs typeface="Palatino Linotype" panose="02040502050505030304"/>
              </a:rPr>
              <a:t> </a:t>
            </a:r>
            <a:r>
              <a:rPr spc="-50" dirty="0">
                <a:solidFill>
                  <a:sysClr val="windowText" lastClr="000000"/>
                </a:solidFill>
                <a:latin typeface="Palatino Linotype" panose="02040502050505030304"/>
                <a:cs typeface="Palatino Linotype" panose="02040502050505030304"/>
              </a:rPr>
              <a:t>4</a:t>
            </a:r>
            <a:endParaRPr>
              <a:solidFill>
                <a:sysClr val="windowText" lastClr="000000"/>
              </a:solidFill>
              <a:latin typeface="Palatino Linotype" panose="02040502050505030304"/>
              <a:cs typeface="Palatino Linotype" panose="02040502050505030304"/>
            </a:endParaRPr>
          </a:p>
        </p:txBody>
      </p:sp>
      <p:sp>
        <p:nvSpPr>
          <p:cNvPr id="54" name="object 22"/>
          <p:cNvSpPr txBox="1"/>
          <p:nvPr/>
        </p:nvSpPr>
        <p:spPr>
          <a:xfrm>
            <a:off x="3943350" y="4566284"/>
            <a:ext cx="13208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Cambria Math" panose="02040503050406030204"/>
                <a:cs typeface="Cambria Math" panose="02040503050406030204"/>
              </a:rPr>
              <a:t>𝜖</a:t>
            </a:r>
            <a:endParaRPr>
              <a:solidFill>
                <a:sysClr val="windowText" lastClr="000000"/>
              </a:solidFill>
              <a:latin typeface="Cambria Math" panose="02040503050406030204"/>
              <a:cs typeface="Cambria Math" panose="02040503050406030204"/>
            </a:endParaRPr>
          </a:p>
        </p:txBody>
      </p:sp>
      <p:sp>
        <p:nvSpPr>
          <p:cNvPr id="55" name="object 23"/>
          <p:cNvSpPr/>
          <p:nvPr/>
        </p:nvSpPr>
        <p:spPr>
          <a:xfrm>
            <a:off x="4011167" y="4300728"/>
            <a:ext cx="0" cy="245745"/>
          </a:xfrm>
          <a:custGeom>
            <a:avLst/>
            <a:gdLst/>
            <a:ahLst/>
            <a:cxnLst/>
            <a:rect l="l" t="t" r="r" b="b"/>
            <a:pathLst>
              <a:path h="245745">
                <a:moveTo>
                  <a:pt x="0" y="0"/>
                </a:moveTo>
                <a:lnTo>
                  <a:pt x="0" y="245364"/>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sp>
        <p:nvSpPr>
          <p:cNvPr id="56" name="object 24"/>
          <p:cNvSpPr txBox="1"/>
          <p:nvPr/>
        </p:nvSpPr>
        <p:spPr>
          <a:xfrm>
            <a:off x="4350765" y="3861942"/>
            <a:ext cx="913130" cy="391160"/>
          </a:xfrm>
          <a:prstGeom prst="rect">
            <a:avLst/>
          </a:prstGeom>
        </p:spPr>
        <p:txBody>
          <a:bodyPr vert="horz" wrap="square" lIns="0" tIns="12700" rIns="0" bIns="0" rtlCol="0">
            <a:spAutoFit/>
          </a:bodyPr>
          <a:lstStyle/>
          <a:p>
            <a:pPr marL="12700">
              <a:spcBef>
                <a:spcPts val="100"/>
              </a:spcBef>
            </a:pPr>
            <a:r>
              <a:rPr sz="1200" i="1" dirty="0">
                <a:solidFill>
                  <a:srgbClr val="6F2F9F"/>
                </a:solidFill>
                <a:latin typeface="Palatino Linotype" panose="02040502050505030304"/>
                <a:cs typeface="Palatino Linotype" panose="02040502050505030304"/>
              </a:rPr>
              <a:t>type</a:t>
            </a:r>
            <a:r>
              <a:rPr sz="1200" i="1" spc="-1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spc="-10" dirty="0">
                <a:solidFill>
                  <a:srgbClr val="6F2F9F"/>
                </a:solidFill>
                <a:latin typeface="Palatino Linotype" panose="02040502050505030304"/>
                <a:cs typeface="Palatino Linotype" panose="02040502050505030304"/>
              </a:rPr>
              <a:t>integer</a:t>
            </a:r>
            <a:endParaRPr sz="1200">
              <a:solidFill>
                <a:sysClr val="windowText" lastClr="000000"/>
              </a:solidFill>
              <a:latin typeface="Palatino Linotype" panose="02040502050505030304"/>
              <a:cs typeface="Palatino Linotype" panose="02040502050505030304"/>
            </a:endParaRPr>
          </a:p>
          <a:p>
            <a:pPr marL="12700"/>
            <a:r>
              <a:rPr sz="1200" i="1" dirty="0">
                <a:solidFill>
                  <a:srgbClr val="6F2F9F"/>
                </a:solidFill>
                <a:latin typeface="Palatino Linotype" panose="02040502050505030304"/>
                <a:cs typeface="Palatino Linotype" panose="02040502050505030304"/>
              </a:rPr>
              <a:t>width</a:t>
            </a:r>
            <a:r>
              <a:rPr sz="1200" i="1" spc="-2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15" dirty="0">
                <a:solidFill>
                  <a:srgbClr val="6F2F9F"/>
                </a:solidFill>
                <a:latin typeface="Palatino Linotype" panose="02040502050505030304"/>
                <a:cs typeface="Palatino Linotype" panose="02040502050505030304"/>
              </a:rPr>
              <a:t> </a:t>
            </a:r>
            <a:r>
              <a:rPr sz="1200" spc="-50" dirty="0">
                <a:solidFill>
                  <a:srgbClr val="6F2F9F"/>
                </a:solidFill>
                <a:latin typeface="Palatino Linotype" panose="02040502050505030304"/>
                <a:cs typeface="Palatino Linotype" panose="02040502050505030304"/>
              </a:rPr>
              <a:t>4</a:t>
            </a:r>
            <a:endParaRPr sz="1200">
              <a:solidFill>
                <a:sysClr val="windowText" lastClr="000000"/>
              </a:solidFill>
              <a:latin typeface="Palatino Linotype" panose="02040502050505030304"/>
              <a:cs typeface="Palatino Linotype" panose="02040502050505030304"/>
            </a:endParaRPr>
          </a:p>
        </p:txBody>
      </p:sp>
      <p:sp>
        <p:nvSpPr>
          <p:cNvPr id="57" name="object 25"/>
          <p:cNvSpPr txBox="1"/>
          <p:nvPr/>
        </p:nvSpPr>
        <p:spPr>
          <a:xfrm>
            <a:off x="3354070" y="3517519"/>
            <a:ext cx="1126490" cy="208279"/>
          </a:xfrm>
          <a:prstGeom prst="rect">
            <a:avLst/>
          </a:prstGeom>
        </p:spPr>
        <p:txBody>
          <a:bodyPr vert="horz" wrap="square" lIns="0" tIns="12700" rIns="0" bIns="0" rtlCol="0">
            <a:spAutoFit/>
          </a:bodyPr>
          <a:lstStyle/>
          <a:p>
            <a:pPr marL="12700">
              <a:spcBef>
                <a:spcPts val="100"/>
              </a:spcBef>
            </a:pPr>
            <a:r>
              <a:rPr sz="1200" i="1" dirty="0">
                <a:solidFill>
                  <a:srgbClr val="6F2F9F"/>
                </a:solidFill>
                <a:latin typeface="Palatino Linotype" panose="02040502050505030304"/>
                <a:cs typeface="Palatino Linotype" panose="02040502050505030304"/>
              </a:rPr>
              <a:t>width</a:t>
            </a:r>
            <a:r>
              <a:rPr sz="1200" i="1" spc="-1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3</a:t>
            </a:r>
            <a:r>
              <a:rPr sz="1200" spc="-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1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4</a:t>
            </a:r>
            <a:r>
              <a:rPr sz="1200" spc="-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spc="-25" dirty="0">
                <a:solidFill>
                  <a:srgbClr val="6F2F9F"/>
                </a:solidFill>
                <a:latin typeface="Palatino Linotype" panose="02040502050505030304"/>
                <a:cs typeface="Palatino Linotype" panose="02040502050505030304"/>
              </a:rPr>
              <a:t>12</a:t>
            </a:r>
            <a:endParaRPr sz="1200">
              <a:solidFill>
                <a:sysClr val="windowText" lastClr="000000"/>
              </a:solidFill>
              <a:latin typeface="Palatino Linotype" panose="02040502050505030304"/>
              <a:cs typeface="Palatino Linotype" panose="02040502050505030304"/>
            </a:endParaRPr>
          </a:p>
        </p:txBody>
      </p:sp>
      <p:sp>
        <p:nvSpPr>
          <p:cNvPr id="58" name="object 26"/>
          <p:cNvSpPr txBox="1"/>
          <p:nvPr/>
        </p:nvSpPr>
        <p:spPr>
          <a:xfrm>
            <a:off x="2665857" y="2580259"/>
            <a:ext cx="2134235" cy="391160"/>
          </a:xfrm>
          <a:prstGeom prst="rect">
            <a:avLst/>
          </a:prstGeom>
        </p:spPr>
        <p:txBody>
          <a:bodyPr vert="horz" wrap="square" lIns="0" tIns="12700" rIns="0" bIns="0" rtlCol="0">
            <a:spAutoFit/>
          </a:bodyPr>
          <a:lstStyle/>
          <a:p>
            <a:pPr marL="12700">
              <a:spcBef>
                <a:spcPts val="100"/>
              </a:spcBef>
            </a:pPr>
            <a:r>
              <a:rPr sz="1200" i="1" dirty="0">
                <a:solidFill>
                  <a:srgbClr val="6F2F9F"/>
                </a:solidFill>
                <a:latin typeface="Palatino Linotype" panose="02040502050505030304"/>
                <a:cs typeface="Palatino Linotype" panose="02040502050505030304"/>
              </a:rPr>
              <a:t>type</a:t>
            </a:r>
            <a:r>
              <a:rPr sz="1200" i="1" spc="-3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2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array(2,</a:t>
            </a:r>
            <a:r>
              <a:rPr sz="1200" spc="-4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array(3,</a:t>
            </a:r>
            <a:r>
              <a:rPr sz="1200" spc="-50" dirty="0">
                <a:solidFill>
                  <a:srgbClr val="6F2F9F"/>
                </a:solidFill>
                <a:latin typeface="Palatino Linotype" panose="02040502050505030304"/>
                <a:cs typeface="Palatino Linotype" panose="02040502050505030304"/>
              </a:rPr>
              <a:t> </a:t>
            </a:r>
            <a:r>
              <a:rPr sz="1200" spc="-10" dirty="0">
                <a:solidFill>
                  <a:srgbClr val="6F2F9F"/>
                </a:solidFill>
                <a:latin typeface="Palatino Linotype" panose="02040502050505030304"/>
                <a:cs typeface="Palatino Linotype" panose="02040502050505030304"/>
              </a:rPr>
              <a:t>integer))</a:t>
            </a:r>
            <a:endParaRPr sz="1200">
              <a:solidFill>
                <a:sysClr val="windowText" lastClr="000000"/>
              </a:solidFill>
              <a:latin typeface="Palatino Linotype" panose="02040502050505030304"/>
              <a:cs typeface="Palatino Linotype" panose="02040502050505030304"/>
            </a:endParaRPr>
          </a:p>
          <a:p>
            <a:pPr marL="12700"/>
            <a:r>
              <a:rPr sz="1200" i="1" dirty="0">
                <a:solidFill>
                  <a:srgbClr val="6F2F9F"/>
                </a:solidFill>
                <a:latin typeface="Palatino Linotype" panose="02040502050505030304"/>
                <a:cs typeface="Palatino Linotype" panose="02040502050505030304"/>
              </a:rPr>
              <a:t>width</a:t>
            </a:r>
            <a:r>
              <a:rPr sz="1200" i="1" spc="-1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2</a:t>
            </a:r>
            <a:r>
              <a:rPr sz="1200" spc="-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1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12</a:t>
            </a:r>
            <a:r>
              <a:rPr sz="1200" spc="-5"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5" dirty="0">
                <a:solidFill>
                  <a:srgbClr val="6F2F9F"/>
                </a:solidFill>
                <a:latin typeface="Palatino Linotype" panose="02040502050505030304"/>
                <a:cs typeface="Palatino Linotype" panose="02040502050505030304"/>
              </a:rPr>
              <a:t> </a:t>
            </a:r>
            <a:r>
              <a:rPr sz="1200" spc="-25" dirty="0">
                <a:solidFill>
                  <a:srgbClr val="6F2F9F"/>
                </a:solidFill>
                <a:latin typeface="Palatino Linotype" panose="02040502050505030304"/>
                <a:cs typeface="Palatino Linotype" panose="02040502050505030304"/>
              </a:rPr>
              <a:t>24</a:t>
            </a:r>
            <a:endParaRPr sz="1200">
              <a:solidFill>
                <a:sysClr val="windowText" lastClr="000000"/>
              </a:solidFill>
              <a:latin typeface="Palatino Linotype" panose="02040502050505030304"/>
              <a:cs typeface="Palatino Linotype" panose="02040502050505030304"/>
            </a:endParaRPr>
          </a:p>
        </p:txBody>
      </p:sp>
      <p:grpSp>
        <p:nvGrpSpPr>
          <p:cNvPr id="59" name="object 27"/>
          <p:cNvGrpSpPr/>
          <p:nvPr/>
        </p:nvGrpSpPr>
        <p:grpSpPr>
          <a:xfrm>
            <a:off x="1104985" y="5762679"/>
            <a:ext cx="5015865" cy="518159"/>
            <a:chOff x="1104985" y="5762679"/>
            <a:chExt cx="5015865" cy="518159"/>
          </a:xfrm>
        </p:grpSpPr>
        <p:pic>
          <p:nvPicPr>
            <p:cNvPr id="60" name="object 28"/>
            <p:cNvPicPr/>
            <p:nvPr/>
          </p:nvPicPr>
          <p:blipFill>
            <a:blip r:embed="rId3" cstate="print"/>
            <a:stretch>
              <a:fillRect/>
            </a:stretch>
          </p:blipFill>
          <p:spPr>
            <a:xfrm>
              <a:off x="1104985" y="5762679"/>
              <a:ext cx="4891111" cy="470262"/>
            </a:xfrm>
            <a:prstGeom prst="rect">
              <a:avLst/>
            </a:prstGeom>
          </p:spPr>
        </p:pic>
        <p:sp>
          <p:nvSpPr>
            <p:cNvPr id="61" name="object 29"/>
            <p:cNvSpPr/>
            <p:nvPr/>
          </p:nvSpPr>
          <p:spPr>
            <a:xfrm>
              <a:off x="2846832" y="6009131"/>
              <a:ext cx="3267710" cy="265430"/>
            </a:xfrm>
            <a:custGeom>
              <a:avLst/>
              <a:gdLst/>
              <a:ahLst/>
              <a:cxnLst/>
              <a:rect l="l" t="t" r="r" b="b"/>
              <a:pathLst>
                <a:path w="3267710" h="265429">
                  <a:moveTo>
                    <a:pt x="0" y="265176"/>
                  </a:moveTo>
                  <a:lnTo>
                    <a:pt x="3267455" y="265176"/>
                  </a:lnTo>
                  <a:lnTo>
                    <a:pt x="3267455" y="0"/>
                  </a:lnTo>
                  <a:lnTo>
                    <a:pt x="0" y="0"/>
                  </a:lnTo>
                  <a:lnTo>
                    <a:pt x="0" y="265176"/>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
        <p:nvSpPr>
          <p:cNvPr id="62" name="object 30"/>
          <p:cNvSpPr txBox="1"/>
          <p:nvPr/>
        </p:nvSpPr>
        <p:spPr>
          <a:xfrm>
            <a:off x="1928241" y="2026411"/>
            <a:ext cx="2134235" cy="391795"/>
          </a:xfrm>
          <a:prstGeom prst="rect">
            <a:avLst/>
          </a:prstGeom>
        </p:spPr>
        <p:txBody>
          <a:bodyPr vert="horz" wrap="square" lIns="0" tIns="12700" rIns="0" bIns="0" rtlCol="0">
            <a:spAutoFit/>
          </a:bodyPr>
          <a:lstStyle/>
          <a:p>
            <a:pPr marL="12700">
              <a:spcBef>
                <a:spcPts val="100"/>
              </a:spcBef>
            </a:pPr>
            <a:r>
              <a:rPr sz="1200" i="1" dirty="0">
                <a:solidFill>
                  <a:srgbClr val="6F2F9F"/>
                </a:solidFill>
                <a:latin typeface="Palatino Linotype" panose="02040502050505030304"/>
                <a:cs typeface="Palatino Linotype" panose="02040502050505030304"/>
              </a:rPr>
              <a:t>type</a:t>
            </a:r>
            <a:r>
              <a:rPr sz="1200" i="1" spc="-3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2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array(2,</a:t>
            </a:r>
            <a:r>
              <a:rPr sz="1200" spc="-4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array(3,</a:t>
            </a:r>
            <a:r>
              <a:rPr sz="1200" spc="-50" dirty="0">
                <a:solidFill>
                  <a:srgbClr val="6F2F9F"/>
                </a:solidFill>
                <a:latin typeface="Palatino Linotype" panose="02040502050505030304"/>
                <a:cs typeface="Palatino Linotype" panose="02040502050505030304"/>
              </a:rPr>
              <a:t> </a:t>
            </a:r>
            <a:r>
              <a:rPr sz="1200" spc="-10" dirty="0">
                <a:solidFill>
                  <a:srgbClr val="6F2F9F"/>
                </a:solidFill>
                <a:latin typeface="Palatino Linotype" panose="02040502050505030304"/>
                <a:cs typeface="Palatino Linotype" panose="02040502050505030304"/>
              </a:rPr>
              <a:t>integer))</a:t>
            </a:r>
            <a:endParaRPr sz="1200">
              <a:solidFill>
                <a:sysClr val="windowText" lastClr="000000"/>
              </a:solidFill>
              <a:latin typeface="Palatino Linotype" panose="02040502050505030304"/>
              <a:cs typeface="Palatino Linotype" panose="02040502050505030304"/>
            </a:endParaRPr>
          </a:p>
          <a:p>
            <a:pPr marL="12700"/>
            <a:r>
              <a:rPr sz="1200" i="1" dirty="0">
                <a:solidFill>
                  <a:srgbClr val="6F2F9F"/>
                </a:solidFill>
                <a:latin typeface="Palatino Linotype" panose="02040502050505030304"/>
                <a:cs typeface="Palatino Linotype" panose="02040502050505030304"/>
              </a:rPr>
              <a:t>width</a:t>
            </a:r>
            <a:r>
              <a:rPr sz="1200" i="1" spc="-20" dirty="0">
                <a:solidFill>
                  <a:srgbClr val="6F2F9F"/>
                </a:solidFill>
                <a:latin typeface="Palatino Linotype" panose="02040502050505030304"/>
                <a:cs typeface="Palatino Linotype" panose="02040502050505030304"/>
              </a:rPr>
              <a:t> </a:t>
            </a:r>
            <a:r>
              <a:rPr sz="1200" dirty="0">
                <a:solidFill>
                  <a:srgbClr val="6F2F9F"/>
                </a:solidFill>
                <a:latin typeface="Palatino Linotype" panose="02040502050505030304"/>
                <a:cs typeface="Palatino Linotype" panose="02040502050505030304"/>
              </a:rPr>
              <a:t>=</a:t>
            </a:r>
            <a:r>
              <a:rPr sz="1200" spc="-15" dirty="0">
                <a:solidFill>
                  <a:srgbClr val="6F2F9F"/>
                </a:solidFill>
                <a:latin typeface="Palatino Linotype" panose="02040502050505030304"/>
                <a:cs typeface="Palatino Linotype" panose="02040502050505030304"/>
              </a:rPr>
              <a:t> </a:t>
            </a:r>
            <a:r>
              <a:rPr sz="1200" spc="-25" dirty="0">
                <a:solidFill>
                  <a:srgbClr val="6F2F9F"/>
                </a:solidFill>
                <a:latin typeface="Palatino Linotype" panose="02040502050505030304"/>
                <a:cs typeface="Palatino Linotype" panose="02040502050505030304"/>
              </a:rPr>
              <a:t>24</a:t>
            </a:r>
            <a:endParaRPr sz="1200">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48</a:t>
            </a:fld>
            <a:endParaRPr lang="en-US"/>
          </a:p>
        </p:txBody>
      </p:sp>
      <p:sp>
        <p:nvSpPr>
          <p:cNvPr id="11"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Sequences</a:t>
            </a:r>
            <a:r>
              <a:rPr kumimoji="0" lang="en-US" sz="4000" b="1" i="0" u="none" strike="noStrike" kern="0" cap="none" spc="-3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000000"/>
                </a:solidFill>
                <a:effectLst/>
                <a:uLnTx/>
                <a:uFillTx/>
                <a:latin typeface="Palatino Linotype" panose="02040502050505030304"/>
                <a:ea typeface="+mj-ea"/>
              </a:rPr>
              <a:t>of</a:t>
            </a:r>
            <a:r>
              <a:rPr kumimoji="0" lang="en-US" sz="4000" b="1" i="0" u="none" strike="noStrike" kern="0" cap="none" spc="-35" normalizeH="0" baseline="0" noProof="0">
                <a:ln>
                  <a:noFill/>
                </a:ln>
                <a:solidFill>
                  <a:srgbClr val="000000"/>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000000"/>
                </a:solidFill>
                <a:effectLst/>
                <a:uLnTx/>
                <a:uFillTx/>
                <a:latin typeface="Palatino Linotype" panose="02040502050505030304"/>
                <a:ea typeface="+mj-ea"/>
              </a:rPr>
              <a:t>Declarations</a:t>
            </a:r>
            <a:endParaRPr kumimoji="0" lang="en-US" sz="4000" b="1" i="0" u="none" strike="noStrike" kern="0" cap="none" spc="-10" normalizeH="0" baseline="0" noProof="0" dirty="0">
              <a:ln>
                <a:noFill/>
              </a:ln>
              <a:solidFill>
                <a:srgbClr val="000000"/>
              </a:solidFill>
              <a:effectLst/>
              <a:uLnTx/>
              <a:uFillTx/>
              <a:latin typeface="Palatino Linotype" panose="02040502050505030304"/>
              <a:ea typeface="+mj-ea"/>
            </a:endParaRPr>
          </a:p>
        </p:txBody>
      </p:sp>
      <p:sp>
        <p:nvSpPr>
          <p:cNvPr id="12" name="object 3"/>
          <p:cNvSpPr txBox="1"/>
          <p:nvPr/>
        </p:nvSpPr>
        <p:spPr>
          <a:xfrm>
            <a:off x="707542" y="1445158"/>
            <a:ext cx="7580630" cy="2040889"/>
          </a:xfrm>
          <a:prstGeom prst="rect">
            <a:avLst/>
          </a:prstGeom>
        </p:spPr>
        <p:txBody>
          <a:bodyPr vert="horz" wrap="square" lIns="0" tIns="12700" rIns="0" bIns="0" rtlCol="0">
            <a:spAutoFit/>
          </a:bodyPr>
          <a:lstStyle/>
          <a:p>
            <a:pPr marL="242570" marR="5080" indent="-230505">
              <a:lnSpc>
                <a:spcPct val="120000"/>
              </a:lnSpc>
              <a:spcBef>
                <a:spcPts val="100"/>
              </a:spcBef>
              <a:buFont typeface="Arial MT"/>
              <a:buChar char="•"/>
              <a:tabLst>
                <a:tab pos="242570" algn="l"/>
              </a:tabLst>
            </a:pPr>
            <a:r>
              <a:rPr sz="1900" dirty="0">
                <a:solidFill>
                  <a:sysClr val="windowText" lastClr="000000"/>
                </a:solidFill>
                <a:latin typeface="Palatino Linotype" panose="02040502050505030304"/>
                <a:cs typeface="Palatino Linotype" panose="02040502050505030304"/>
              </a:rPr>
              <a:t>When</a:t>
            </a:r>
            <a:r>
              <a:rPr sz="1900" spc="-50"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dealing</a:t>
            </a:r>
            <a:r>
              <a:rPr sz="1900" spc="-35"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with</a:t>
            </a:r>
            <a:r>
              <a:rPr sz="1900" spc="-50"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a</a:t>
            </a:r>
            <a:r>
              <a:rPr sz="1900" spc="-45"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procedure,</a:t>
            </a:r>
            <a:r>
              <a:rPr sz="1900" spc="-25"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local</a:t>
            </a:r>
            <a:r>
              <a:rPr sz="1900" spc="-45" dirty="0">
                <a:solidFill>
                  <a:sysClr val="windowText" lastClr="000000"/>
                </a:solidFill>
                <a:latin typeface="Palatino Linotype" panose="02040502050505030304"/>
                <a:cs typeface="Palatino Linotype" panose="02040502050505030304"/>
              </a:rPr>
              <a:t> </a:t>
            </a:r>
            <a:r>
              <a:rPr sz="1900" spc="-10" dirty="0">
                <a:solidFill>
                  <a:sysClr val="windowText" lastClr="000000"/>
                </a:solidFill>
                <a:latin typeface="Palatino Linotype" panose="02040502050505030304"/>
                <a:cs typeface="Palatino Linotype" panose="02040502050505030304"/>
              </a:rPr>
              <a:t>variables</a:t>
            </a:r>
            <a:r>
              <a:rPr sz="1900" spc="-40"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should</a:t>
            </a:r>
            <a:r>
              <a:rPr sz="1900" spc="-35"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be</a:t>
            </a:r>
            <a:r>
              <a:rPr sz="1900" spc="-45"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put</a:t>
            </a:r>
            <a:r>
              <a:rPr sz="1900" spc="-30"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in</a:t>
            </a:r>
            <a:r>
              <a:rPr sz="1900" spc="-45" dirty="0">
                <a:solidFill>
                  <a:sysClr val="windowText" lastClr="000000"/>
                </a:solidFill>
                <a:latin typeface="Palatino Linotype" panose="02040502050505030304"/>
                <a:cs typeface="Palatino Linotype" panose="02040502050505030304"/>
              </a:rPr>
              <a:t> </a:t>
            </a:r>
            <a:r>
              <a:rPr sz="1900" spc="-50" dirty="0">
                <a:solidFill>
                  <a:sysClr val="windowText" lastClr="000000"/>
                </a:solidFill>
                <a:latin typeface="Palatino Linotype" panose="02040502050505030304"/>
                <a:cs typeface="Palatino Linotype" panose="02040502050505030304"/>
              </a:rPr>
              <a:t>a </a:t>
            </a:r>
            <a:r>
              <a:rPr sz="1900" dirty="0">
                <a:solidFill>
                  <a:sysClr val="windowText" lastClr="000000"/>
                </a:solidFill>
                <a:latin typeface="Palatino Linotype" panose="02040502050505030304"/>
                <a:cs typeface="Palatino Linotype" panose="02040502050505030304"/>
              </a:rPr>
              <a:t>separate</a:t>
            </a:r>
            <a:r>
              <a:rPr sz="1900" spc="-30"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symbol</a:t>
            </a:r>
            <a:r>
              <a:rPr sz="1900" spc="-30"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table;</a:t>
            </a:r>
            <a:r>
              <a:rPr sz="1900" spc="-35"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their</a:t>
            </a:r>
            <a:r>
              <a:rPr sz="1900" spc="-45"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declarations</a:t>
            </a:r>
            <a:r>
              <a:rPr sz="1900" spc="-50"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can</a:t>
            </a:r>
            <a:r>
              <a:rPr sz="1900" spc="-45"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be</a:t>
            </a:r>
            <a:r>
              <a:rPr sz="1900" spc="-30"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processed</a:t>
            </a:r>
            <a:r>
              <a:rPr sz="1900" spc="-45"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as</a:t>
            </a:r>
            <a:r>
              <a:rPr sz="1900" spc="-45"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a</a:t>
            </a:r>
            <a:r>
              <a:rPr sz="1900" spc="-45" dirty="0">
                <a:solidFill>
                  <a:sysClr val="windowText" lastClr="000000"/>
                </a:solidFill>
                <a:latin typeface="Palatino Linotype" panose="02040502050505030304"/>
                <a:cs typeface="Palatino Linotype" panose="02040502050505030304"/>
              </a:rPr>
              <a:t> </a:t>
            </a:r>
            <a:r>
              <a:rPr sz="1900" spc="-10" dirty="0">
                <a:solidFill>
                  <a:sysClr val="windowText" lastClr="000000"/>
                </a:solidFill>
                <a:latin typeface="Palatino Linotype" panose="02040502050505030304"/>
                <a:cs typeface="Palatino Linotype" panose="02040502050505030304"/>
              </a:rPr>
              <a:t>group</a:t>
            </a:r>
            <a:endParaRPr sz="1900">
              <a:solidFill>
                <a:sysClr val="windowText" lastClr="000000"/>
              </a:solidFill>
              <a:latin typeface="Palatino Linotype" panose="02040502050505030304"/>
              <a:cs typeface="Palatino Linotype" panose="02040502050505030304"/>
            </a:endParaRPr>
          </a:p>
          <a:p>
            <a:pPr marL="697865" lvl="1" indent="-227965">
              <a:spcBef>
                <a:spcPts val="1030"/>
              </a:spcBef>
              <a:buClr>
                <a:srgbClr val="000000"/>
              </a:buClr>
              <a:buFont typeface="Wingdings" panose="05000000000000000000"/>
              <a:buChar char=""/>
              <a:tabLst>
                <a:tab pos="697865" algn="l"/>
              </a:tabLst>
            </a:pPr>
            <a:r>
              <a:rPr sz="1600" dirty="0">
                <a:solidFill>
                  <a:srgbClr val="FF0000"/>
                </a:solidFill>
                <a:latin typeface="Palatino Linotype" panose="02040502050505030304"/>
                <a:cs typeface="Palatino Linotype" panose="02040502050505030304"/>
              </a:rPr>
              <a:t>Name</a:t>
            </a:r>
            <a:r>
              <a:rPr sz="1600" dirty="0">
                <a:solidFill>
                  <a:sysClr val="windowText" lastClr="000000"/>
                </a:solidFill>
                <a:latin typeface="Palatino Linotype" panose="02040502050505030304"/>
                <a:cs typeface="Palatino Linotype" panose="02040502050505030304"/>
              </a:rPr>
              <a:t>,</a:t>
            </a:r>
            <a:r>
              <a:rPr sz="1600" spc="-45" dirty="0">
                <a:solidFill>
                  <a:sysClr val="windowText" lastClr="00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type</a:t>
            </a:r>
            <a:r>
              <a:rPr sz="1600" dirty="0">
                <a:solidFill>
                  <a:sysClr val="windowText" lastClr="000000"/>
                </a:solidFill>
                <a:latin typeface="Palatino Linotype" panose="02040502050505030304"/>
                <a:cs typeface="Palatino Linotype" panose="02040502050505030304"/>
              </a:rPr>
              <a:t>,</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and</a:t>
            </a:r>
            <a:r>
              <a:rPr sz="1600" spc="-25" dirty="0">
                <a:solidFill>
                  <a:sysClr val="windowText" lastClr="00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relative</a:t>
            </a:r>
            <a:r>
              <a:rPr sz="1600" spc="-45"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address</a:t>
            </a:r>
            <a:r>
              <a:rPr sz="1600" spc="-25" dirty="0">
                <a:solidFill>
                  <a:srgbClr val="FF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of</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each</a:t>
            </a:r>
            <a:r>
              <a:rPr sz="1600" spc="-35"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variable</a:t>
            </a:r>
            <a:r>
              <a:rPr sz="1600" spc="-4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should</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be</a:t>
            </a:r>
            <a:r>
              <a:rPr sz="1600" spc="-35"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stored</a:t>
            </a:r>
            <a:endParaRPr sz="1600">
              <a:solidFill>
                <a:sysClr val="windowText" lastClr="000000"/>
              </a:solidFill>
              <a:latin typeface="Palatino Linotype" panose="02040502050505030304"/>
              <a:cs typeface="Palatino Linotype" panose="02040502050505030304"/>
            </a:endParaRPr>
          </a:p>
          <a:p>
            <a:pPr marL="0" lvl="1">
              <a:spcBef>
                <a:spcPts val="50"/>
              </a:spcBef>
              <a:buFont typeface="Wingdings" panose="05000000000000000000"/>
              <a:buChar char=""/>
            </a:pPr>
            <a:endParaRPr sz="1600">
              <a:solidFill>
                <a:sysClr val="windowText" lastClr="000000"/>
              </a:solidFill>
              <a:latin typeface="Palatino Linotype" panose="02040502050505030304"/>
              <a:cs typeface="Palatino Linotype" panose="02040502050505030304"/>
            </a:endParaRPr>
          </a:p>
          <a:p>
            <a:pPr marL="229870" marR="410210" indent="-229870" algn="r">
              <a:spcBef>
                <a:spcPts val="5"/>
              </a:spcBef>
              <a:buFont typeface="Arial MT"/>
              <a:buChar char="•"/>
              <a:tabLst>
                <a:tab pos="229870" algn="l"/>
              </a:tabLst>
            </a:pPr>
            <a:r>
              <a:rPr sz="1900" dirty="0">
                <a:solidFill>
                  <a:sysClr val="windowText" lastClr="000000"/>
                </a:solidFill>
                <a:latin typeface="Palatino Linotype" panose="02040502050505030304"/>
                <a:cs typeface="Palatino Linotype" panose="02040502050505030304"/>
              </a:rPr>
              <a:t>The</a:t>
            </a:r>
            <a:r>
              <a:rPr sz="1900" spc="-45"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translation</a:t>
            </a:r>
            <a:r>
              <a:rPr sz="1900" spc="-40"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scheme</a:t>
            </a:r>
            <a:r>
              <a:rPr sz="1900" spc="-40"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below</a:t>
            </a:r>
            <a:r>
              <a:rPr sz="1900" spc="-20"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handles</a:t>
            </a:r>
            <a:r>
              <a:rPr sz="1900" spc="-50"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a</a:t>
            </a:r>
            <a:r>
              <a:rPr sz="1900" spc="-35"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sequence</a:t>
            </a:r>
            <a:r>
              <a:rPr sz="1900" spc="-35" dirty="0">
                <a:solidFill>
                  <a:sysClr val="windowText" lastClr="000000"/>
                </a:solidFill>
                <a:latin typeface="Palatino Linotype" panose="02040502050505030304"/>
                <a:cs typeface="Palatino Linotype" panose="02040502050505030304"/>
              </a:rPr>
              <a:t> </a:t>
            </a:r>
            <a:r>
              <a:rPr sz="1900" dirty="0">
                <a:solidFill>
                  <a:sysClr val="windowText" lastClr="000000"/>
                </a:solidFill>
                <a:latin typeface="Palatino Linotype" panose="02040502050505030304"/>
                <a:cs typeface="Palatino Linotype" panose="02040502050505030304"/>
              </a:rPr>
              <a:t>of</a:t>
            </a:r>
            <a:r>
              <a:rPr sz="1900" spc="-20" dirty="0">
                <a:solidFill>
                  <a:sysClr val="windowText" lastClr="000000"/>
                </a:solidFill>
                <a:latin typeface="Palatino Linotype" panose="02040502050505030304"/>
                <a:cs typeface="Palatino Linotype" panose="02040502050505030304"/>
              </a:rPr>
              <a:t> </a:t>
            </a:r>
            <a:r>
              <a:rPr sz="1900" spc="-10" dirty="0">
                <a:solidFill>
                  <a:sysClr val="windowText" lastClr="000000"/>
                </a:solidFill>
                <a:latin typeface="Palatino Linotype" panose="02040502050505030304"/>
                <a:cs typeface="Palatino Linotype" panose="02040502050505030304"/>
              </a:rPr>
              <a:t>declarations</a:t>
            </a:r>
            <a:endParaRPr sz="1900">
              <a:solidFill>
                <a:sysClr val="windowText" lastClr="000000"/>
              </a:solidFill>
              <a:latin typeface="Palatino Linotype" panose="02040502050505030304"/>
              <a:cs typeface="Palatino Linotype" panose="02040502050505030304"/>
            </a:endParaRPr>
          </a:p>
          <a:p>
            <a:pPr marL="227965" marR="422910" lvl="1" indent="-227965" algn="r">
              <a:spcBef>
                <a:spcPts val="1030"/>
              </a:spcBef>
              <a:buClr>
                <a:srgbClr val="000000"/>
              </a:buClr>
              <a:buFont typeface="Wingdings" panose="05000000000000000000"/>
              <a:buChar char=""/>
              <a:tabLst>
                <a:tab pos="227965" algn="l"/>
              </a:tabLst>
            </a:pPr>
            <a:r>
              <a:rPr sz="1600" dirty="0">
                <a:solidFill>
                  <a:srgbClr val="FF0000"/>
                </a:solidFill>
                <a:latin typeface="Cambria Math" panose="02040503050406030204"/>
                <a:cs typeface="Cambria Math" panose="02040503050406030204"/>
              </a:rPr>
              <a:t>𝑜𝑓𝑓𝑠𝑒𝑡</a:t>
            </a:r>
            <a:r>
              <a:rPr sz="1600" dirty="0">
                <a:solidFill>
                  <a:sysClr val="windowText" lastClr="000000"/>
                </a:solidFill>
                <a:latin typeface="Palatino Linotype" panose="02040502050505030304"/>
                <a:cs typeface="Palatino Linotype" panose="02040502050505030304"/>
              </a:rPr>
              <a:t>:</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next</a:t>
            </a:r>
            <a:r>
              <a:rPr sz="1600" spc="-20"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available</a:t>
            </a:r>
            <a:r>
              <a:rPr sz="1600" spc="-5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relative</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address;</a:t>
            </a:r>
            <a:r>
              <a:rPr sz="1600" spc="-5" dirty="0">
                <a:solidFill>
                  <a:sysClr val="windowText" lastClr="000000"/>
                </a:solidFill>
                <a:latin typeface="Palatino Linotype" panose="02040502050505030304"/>
                <a:cs typeface="Palatino Linotype" panose="02040502050505030304"/>
              </a:rPr>
              <a:t> </a:t>
            </a:r>
            <a:r>
              <a:rPr sz="1600" dirty="0">
                <a:solidFill>
                  <a:srgbClr val="FF0000"/>
                </a:solidFill>
                <a:latin typeface="Cambria Math" panose="02040503050406030204"/>
                <a:cs typeface="Cambria Math" panose="02040503050406030204"/>
              </a:rPr>
              <a:t>𝑡𝑜𝑝</a:t>
            </a:r>
            <a:r>
              <a:rPr sz="1600" dirty="0">
                <a:solidFill>
                  <a:sysClr val="windowText" lastClr="000000"/>
                </a:solidFill>
                <a:latin typeface="Palatino Linotype" panose="02040502050505030304"/>
                <a:cs typeface="Palatino Linotype" panose="02040502050505030304"/>
              </a:rPr>
              <a:t>:</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a:t>
            </a:r>
            <a:r>
              <a:rPr sz="1600" spc="-1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current</a:t>
            </a:r>
            <a:r>
              <a:rPr sz="1600" spc="-1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symbol</a:t>
            </a:r>
            <a:r>
              <a:rPr sz="1600" spc="-25"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table</a:t>
            </a:r>
            <a:endParaRPr sz="1600">
              <a:solidFill>
                <a:sysClr val="windowText" lastClr="000000"/>
              </a:solidFill>
              <a:latin typeface="Palatino Linotype" panose="02040502050505030304"/>
              <a:cs typeface="Palatino Linotype" panose="02040502050505030304"/>
            </a:endParaRPr>
          </a:p>
        </p:txBody>
      </p:sp>
      <p:grpSp>
        <p:nvGrpSpPr>
          <p:cNvPr id="13" name="object 4"/>
          <p:cNvGrpSpPr/>
          <p:nvPr/>
        </p:nvGrpSpPr>
        <p:grpSpPr>
          <a:xfrm>
            <a:off x="1916874" y="3914775"/>
            <a:ext cx="5310505" cy="1845310"/>
            <a:chOff x="1916874" y="3914775"/>
            <a:chExt cx="5310505" cy="1845310"/>
          </a:xfrm>
        </p:grpSpPr>
        <p:pic>
          <p:nvPicPr>
            <p:cNvPr id="14" name="object 5"/>
            <p:cNvPicPr/>
            <p:nvPr/>
          </p:nvPicPr>
          <p:blipFill>
            <a:blip r:embed="rId3" cstate="print"/>
            <a:stretch>
              <a:fillRect/>
            </a:stretch>
          </p:blipFill>
          <p:spPr>
            <a:xfrm>
              <a:off x="1960363" y="4009350"/>
              <a:ext cx="5041790" cy="1576270"/>
            </a:xfrm>
            <a:prstGeom prst="rect">
              <a:avLst/>
            </a:prstGeom>
          </p:spPr>
        </p:pic>
        <p:sp>
          <p:nvSpPr>
            <p:cNvPr id="15" name="object 6"/>
            <p:cNvSpPr/>
            <p:nvPr/>
          </p:nvSpPr>
          <p:spPr>
            <a:xfrm>
              <a:off x="1921636" y="3919537"/>
              <a:ext cx="5300980" cy="1835785"/>
            </a:xfrm>
            <a:custGeom>
              <a:avLst/>
              <a:gdLst/>
              <a:ahLst/>
              <a:cxnLst/>
              <a:rect l="l" t="t" r="r" b="b"/>
              <a:pathLst>
                <a:path w="5300980" h="1835785">
                  <a:moveTo>
                    <a:pt x="0" y="1835277"/>
                  </a:moveTo>
                  <a:lnTo>
                    <a:pt x="5300853" y="1835277"/>
                  </a:lnTo>
                  <a:lnTo>
                    <a:pt x="5300853" y="0"/>
                  </a:lnTo>
                  <a:lnTo>
                    <a:pt x="0" y="0"/>
                  </a:lnTo>
                  <a:lnTo>
                    <a:pt x="0" y="1835277"/>
                  </a:lnTo>
                  <a:close/>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
        <p:nvSpPr>
          <p:cNvPr id="16" name="object 7"/>
          <p:cNvSpPr txBox="1"/>
          <p:nvPr/>
        </p:nvSpPr>
        <p:spPr>
          <a:xfrm>
            <a:off x="2348229" y="5819343"/>
            <a:ext cx="4401820" cy="269240"/>
          </a:xfrm>
          <a:prstGeom prst="rect">
            <a:avLst/>
          </a:prstGeom>
        </p:spPr>
        <p:txBody>
          <a:bodyPr vert="horz" wrap="square" lIns="0" tIns="12065" rIns="0" bIns="0" rtlCol="0">
            <a:spAutoFit/>
          </a:bodyPr>
          <a:lstStyle/>
          <a:p>
            <a:pPr marL="12700">
              <a:spcBef>
                <a:spcPts val="95"/>
              </a:spcBef>
            </a:pPr>
            <a:r>
              <a:rPr sz="1600" dirty="0">
                <a:solidFill>
                  <a:srgbClr val="FF0000"/>
                </a:solidFill>
                <a:latin typeface="Palatino Linotype" panose="02040502050505030304"/>
                <a:cs typeface="Palatino Linotype" panose="02040502050505030304"/>
              </a:rPr>
              <a:t>Computing</a:t>
            </a:r>
            <a:r>
              <a:rPr sz="1600" spc="-20"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relative</a:t>
            </a:r>
            <a:r>
              <a:rPr sz="1600" spc="-80"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addresses</a:t>
            </a:r>
            <a:r>
              <a:rPr sz="1600" spc="-50"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of</a:t>
            </a:r>
            <a:r>
              <a:rPr sz="1600" spc="-50" dirty="0">
                <a:solidFill>
                  <a:srgbClr val="FF0000"/>
                </a:solidFill>
                <a:latin typeface="Palatino Linotype" panose="02040502050505030304"/>
                <a:cs typeface="Palatino Linotype" panose="02040502050505030304"/>
              </a:rPr>
              <a:t> </a:t>
            </a:r>
            <a:r>
              <a:rPr sz="1600" dirty="0">
                <a:solidFill>
                  <a:srgbClr val="FF0000"/>
                </a:solidFill>
                <a:latin typeface="Palatino Linotype" panose="02040502050505030304"/>
                <a:cs typeface="Palatino Linotype" panose="02040502050505030304"/>
              </a:rPr>
              <a:t>declared</a:t>
            </a:r>
            <a:r>
              <a:rPr sz="1600" spc="-65" dirty="0">
                <a:solidFill>
                  <a:srgbClr val="FF0000"/>
                </a:solidFill>
                <a:latin typeface="Palatino Linotype" panose="02040502050505030304"/>
                <a:cs typeface="Palatino Linotype" panose="02040502050505030304"/>
              </a:rPr>
              <a:t> </a:t>
            </a:r>
            <a:r>
              <a:rPr sz="1600" spc="-10" dirty="0">
                <a:solidFill>
                  <a:srgbClr val="FF0000"/>
                </a:solidFill>
                <a:latin typeface="Palatino Linotype" panose="02040502050505030304"/>
                <a:cs typeface="Palatino Linotype" panose="02040502050505030304"/>
              </a:rPr>
              <a:t>names</a:t>
            </a:r>
            <a:endParaRPr sz="1600">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49</a:t>
            </a:fld>
            <a:endParaRPr lang="en-US"/>
          </a:p>
        </p:txBody>
      </p:sp>
      <p:sp>
        <p:nvSpPr>
          <p:cNvPr id="8"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0" normalizeH="0" baseline="0" noProof="0">
                <a:ln>
                  <a:noFill/>
                </a:ln>
                <a:solidFill>
                  <a:srgbClr val="A6A6A6"/>
                </a:solidFill>
                <a:effectLst/>
                <a:uLnTx/>
                <a:uFillTx/>
                <a:latin typeface="Palatino Linotype" panose="02040502050505030304"/>
                <a:ea typeface="+mj-ea"/>
              </a:rPr>
              <a:t>Fields</a:t>
            </a:r>
            <a:r>
              <a:rPr kumimoji="0" lang="en-US" sz="4000" b="1" i="0" u="none" strike="noStrike" kern="0" cap="none" spc="-40" normalizeH="0" baseline="0" noProof="0">
                <a:ln>
                  <a:noFill/>
                </a:ln>
                <a:solidFill>
                  <a:srgbClr val="A6A6A6"/>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A6A6A6"/>
                </a:solidFill>
                <a:effectLst/>
                <a:uLnTx/>
                <a:uFillTx/>
                <a:latin typeface="Palatino Linotype" panose="02040502050505030304"/>
                <a:ea typeface="+mj-ea"/>
              </a:rPr>
              <a:t>in</a:t>
            </a:r>
            <a:r>
              <a:rPr kumimoji="0" lang="en-US" sz="4000" b="1" i="0" u="none" strike="noStrike" kern="0" cap="none" spc="-35" normalizeH="0" baseline="0" noProof="0">
                <a:ln>
                  <a:noFill/>
                </a:ln>
                <a:solidFill>
                  <a:srgbClr val="A6A6A6"/>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A6A6A6"/>
                </a:solidFill>
                <a:effectLst/>
                <a:uLnTx/>
                <a:uFillTx/>
                <a:latin typeface="Palatino Linotype" panose="02040502050505030304"/>
                <a:ea typeface="+mj-ea"/>
              </a:rPr>
              <a:t>Records</a:t>
            </a:r>
            <a:r>
              <a:rPr kumimoji="0" lang="en-US" sz="4000" b="1" i="0" u="none" strike="noStrike" kern="0" cap="none" spc="-40" normalizeH="0" baseline="0" noProof="0">
                <a:ln>
                  <a:noFill/>
                </a:ln>
                <a:solidFill>
                  <a:srgbClr val="A6A6A6"/>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A6A6A6"/>
                </a:solidFill>
                <a:effectLst/>
                <a:uLnTx/>
                <a:uFillTx/>
                <a:latin typeface="Palatino Linotype" panose="02040502050505030304"/>
                <a:ea typeface="+mj-ea"/>
              </a:rPr>
              <a:t>and</a:t>
            </a:r>
            <a:r>
              <a:rPr kumimoji="0" lang="en-US" sz="4000" b="1" i="0" u="none" strike="noStrike" kern="0" cap="none" spc="-50" normalizeH="0" baseline="0" noProof="0">
                <a:ln>
                  <a:noFill/>
                </a:ln>
                <a:solidFill>
                  <a:srgbClr val="A6A6A6"/>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A6A6A6"/>
                </a:solidFill>
                <a:effectLst/>
                <a:uLnTx/>
                <a:uFillTx/>
                <a:latin typeface="Palatino Linotype" panose="02040502050505030304"/>
                <a:ea typeface="+mj-ea"/>
              </a:rPr>
              <a:t>Classes*</a:t>
            </a:r>
            <a:endParaRPr kumimoji="0" lang="en-US" sz="4000" b="1" i="0" u="none" strike="noStrike" kern="0" cap="none" spc="-10" normalizeH="0" baseline="0" noProof="0" dirty="0">
              <a:ln>
                <a:noFill/>
              </a:ln>
              <a:solidFill>
                <a:srgbClr val="A6A6A6"/>
              </a:solidFill>
              <a:effectLst/>
              <a:uLnTx/>
              <a:uFillTx/>
              <a:latin typeface="Palatino Linotype" panose="02040502050505030304"/>
              <a:ea typeface="+mj-ea"/>
            </a:endParaRPr>
          </a:p>
        </p:txBody>
      </p:sp>
      <p:sp>
        <p:nvSpPr>
          <p:cNvPr id="9" name="object 3"/>
          <p:cNvSpPr txBox="1"/>
          <p:nvPr/>
        </p:nvSpPr>
        <p:spPr>
          <a:xfrm>
            <a:off x="707542" y="1486036"/>
            <a:ext cx="7570470" cy="3692525"/>
          </a:xfrm>
          <a:prstGeom prst="rect">
            <a:avLst/>
          </a:prstGeom>
        </p:spPr>
        <p:txBody>
          <a:bodyPr vert="horz" wrap="square" lIns="0" tIns="180340" rIns="0" bIns="0" rtlCol="0">
            <a:spAutoFit/>
          </a:bodyPr>
          <a:lstStyle/>
          <a:p>
            <a:pPr marL="242570" indent="-229870">
              <a:spcBef>
                <a:spcPts val="1420"/>
              </a:spcBef>
              <a:buFont typeface="Arial MT"/>
              <a:buChar char="•"/>
              <a:tabLst>
                <a:tab pos="242570" algn="l"/>
              </a:tabLst>
            </a:pPr>
            <a:r>
              <a:rPr sz="2000" spc="-40" dirty="0">
                <a:solidFill>
                  <a:sysClr val="windowText" lastClr="000000"/>
                </a:solidFill>
                <a:latin typeface="Palatino Linotype" panose="02040502050505030304"/>
                <a:cs typeface="Palatino Linotype" panose="02040502050505030304"/>
              </a:rPr>
              <a:t>Two</a:t>
            </a:r>
            <a:r>
              <a:rPr sz="2000" spc="-85"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assumptions:</a:t>
            </a:r>
            <a:endParaRPr sz="2000">
              <a:solidFill>
                <a:sysClr val="windowText" lastClr="000000"/>
              </a:solidFill>
              <a:latin typeface="Palatino Linotype" panose="02040502050505030304"/>
              <a:cs typeface="Palatino Linotype" panose="02040502050505030304"/>
            </a:endParaRPr>
          </a:p>
          <a:p>
            <a:pPr marL="697865" lvl="1" indent="-227965">
              <a:spcBef>
                <a:spcPts val="1050"/>
              </a:spcBef>
              <a:buFont typeface="Wingdings" panose="05000000000000000000"/>
              <a:buChar char=""/>
              <a:tabLst>
                <a:tab pos="697865" algn="l"/>
              </a:tabLst>
            </a:pPr>
            <a:r>
              <a:rPr sz="1600" dirty="0">
                <a:solidFill>
                  <a:sysClr val="windowText" lastClr="000000"/>
                </a:solidFill>
                <a:latin typeface="Palatino Linotype" panose="02040502050505030304"/>
                <a:cs typeface="Palatino Linotype" panose="02040502050505030304"/>
              </a:rPr>
              <a:t>The</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field</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names</a:t>
            </a:r>
            <a:r>
              <a:rPr sz="1600" spc="-1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within</a:t>
            </a:r>
            <a:r>
              <a:rPr sz="1600" spc="-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record</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must be</a:t>
            </a:r>
            <a:r>
              <a:rPr sz="1600" spc="-25"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distinct</a:t>
            </a:r>
            <a:endParaRPr sz="1600">
              <a:solidFill>
                <a:sysClr val="windowText" lastClr="000000"/>
              </a:solidFill>
              <a:latin typeface="Palatino Linotype" panose="02040502050505030304"/>
              <a:cs typeface="Palatino Linotype" panose="02040502050505030304"/>
            </a:endParaRPr>
          </a:p>
          <a:p>
            <a:pPr marL="697865" lvl="1" indent="-227965">
              <a:spcBef>
                <a:spcPts val="985"/>
              </a:spcBef>
              <a:buFont typeface="Wingdings" panose="05000000000000000000"/>
              <a:buChar char=""/>
              <a:tabLst>
                <a:tab pos="697865" algn="l"/>
              </a:tabLst>
            </a:pPr>
            <a:r>
              <a:rPr sz="1600" dirty="0">
                <a:solidFill>
                  <a:sysClr val="windowText" lastClr="000000"/>
                </a:solidFill>
                <a:latin typeface="Palatino Linotype" panose="02040502050505030304"/>
                <a:cs typeface="Palatino Linotype" panose="02040502050505030304"/>
              </a:rPr>
              <a:t>The</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offset</a:t>
            </a:r>
            <a:r>
              <a:rPr sz="1600" spc="-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for</a:t>
            </a:r>
            <a:r>
              <a:rPr sz="1600" spc="-1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field</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name</a:t>
            </a:r>
            <a:r>
              <a:rPr sz="1600" spc="-1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is</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relative</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to</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a:t>
            </a:r>
            <a:r>
              <a:rPr sz="1600" spc="-1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data</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area</a:t>
            </a:r>
            <a:r>
              <a:rPr sz="1600" spc="-15" dirty="0">
                <a:solidFill>
                  <a:sysClr val="windowText" lastClr="000000"/>
                </a:solidFill>
                <a:latin typeface="Palatino Linotype" panose="02040502050505030304"/>
                <a:cs typeface="Palatino Linotype" panose="02040502050505030304"/>
              </a:rPr>
              <a:t> (</a:t>
            </a:r>
            <a:r>
              <a:rPr sz="1600" spc="-25" dirty="0">
                <a:solidFill>
                  <a:sysClr val="windowText" lastClr="000000"/>
                </a:solidFill>
                <a:latin typeface="宋体" panose="02010600030101010101" pitchFamily="2" charset="-122"/>
                <a:cs typeface="宋体" panose="02010600030101010101" pitchFamily="2" charset="-122"/>
              </a:rPr>
              <a:t>数据区</a:t>
            </a:r>
            <a:r>
              <a:rPr sz="1600" dirty="0">
                <a:solidFill>
                  <a:sysClr val="windowText" lastClr="000000"/>
                </a:solidFill>
                <a:latin typeface="Palatino Linotype" panose="02040502050505030304"/>
                <a:cs typeface="Palatino Linotype" panose="02040502050505030304"/>
              </a:rPr>
              <a:t>) for</a:t>
            </a:r>
            <a:r>
              <a:rPr sz="1600" spc="-1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that </a:t>
            </a:r>
            <a:r>
              <a:rPr sz="1600" spc="-10" dirty="0">
                <a:solidFill>
                  <a:sysClr val="windowText" lastClr="000000"/>
                </a:solidFill>
                <a:latin typeface="Palatino Linotype" panose="02040502050505030304"/>
                <a:cs typeface="Palatino Linotype" panose="02040502050505030304"/>
              </a:rPr>
              <a:t>record</a:t>
            </a:r>
            <a:endParaRPr sz="1600">
              <a:solidFill>
                <a:sysClr val="windowText" lastClr="000000"/>
              </a:solidFill>
              <a:latin typeface="Palatino Linotype" panose="02040502050505030304"/>
              <a:cs typeface="Palatino Linotype" panose="02040502050505030304"/>
            </a:endParaRPr>
          </a:p>
          <a:p>
            <a:pPr marL="0" lvl="1">
              <a:spcBef>
                <a:spcPts val="660"/>
              </a:spcBef>
              <a:buFont typeface="Wingdings" panose="05000000000000000000"/>
              <a:buChar char=""/>
            </a:pPr>
            <a:endParaRPr sz="1600">
              <a:solidFill>
                <a:sysClr val="windowText" lastClr="000000"/>
              </a:solidFill>
              <a:latin typeface="Palatino Linotype" panose="02040502050505030304"/>
              <a:cs typeface="Palatino Linotype" panose="02040502050505030304"/>
            </a:endParaRPr>
          </a:p>
          <a:p>
            <a:pPr marL="242570" indent="-229870">
              <a:buFont typeface="Arial MT"/>
              <a:buChar char="•"/>
              <a:tabLst>
                <a:tab pos="242570" algn="l"/>
              </a:tabLst>
            </a:pPr>
            <a:r>
              <a:rPr sz="2000" dirty="0">
                <a:solidFill>
                  <a:sysClr val="windowText" lastClr="000000"/>
                </a:solidFill>
                <a:latin typeface="Palatino Linotype" panose="02040502050505030304"/>
                <a:cs typeface="Palatino Linotype" panose="02040502050505030304"/>
              </a:rPr>
              <a:t>For</a:t>
            </a:r>
            <a:r>
              <a:rPr sz="2000" spc="-25"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Palatino Linotype" panose="02040502050505030304"/>
                <a:cs typeface="Palatino Linotype" panose="02040502050505030304"/>
              </a:rPr>
              <a:t>convenience,</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we</a:t>
            </a:r>
            <a:r>
              <a:rPr sz="2000" spc="-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use</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a</a:t>
            </a:r>
            <a:r>
              <a:rPr sz="2000" spc="-2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symbol</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table</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for</a:t>
            </a:r>
            <a:r>
              <a:rPr sz="2000" spc="-4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each</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record</a:t>
            </a:r>
            <a:r>
              <a:rPr sz="2000" spc="-40" dirty="0">
                <a:solidFill>
                  <a:sysClr val="windowText" lastClr="000000"/>
                </a:solidFill>
                <a:latin typeface="Palatino Linotype" panose="02040502050505030304"/>
                <a:cs typeface="Palatino Linotype" panose="02040502050505030304"/>
              </a:rPr>
              <a:t> </a:t>
            </a:r>
            <a:r>
              <a:rPr sz="2000" spc="-20" dirty="0">
                <a:solidFill>
                  <a:sysClr val="windowText" lastClr="000000"/>
                </a:solidFill>
                <a:latin typeface="Palatino Linotype" panose="02040502050505030304"/>
                <a:cs typeface="Palatino Linotype" panose="02040502050505030304"/>
              </a:rPr>
              <a:t>type</a:t>
            </a:r>
            <a:endParaRPr sz="2000">
              <a:solidFill>
                <a:sysClr val="windowText" lastClr="000000"/>
              </a:solidFill>
              <a:latin typeface="Palatino Linotype" panose="02040502050505030304"/>
              <a:cs typeface="Palatino Linotype" panose="02040502050505030304"/>
            </a:endParaRPr>
          </a:p>
          <a:p>
            <a:pPr marL="697865" lvl="1" indent="-227965">
              <a:spcBef>
                <a:spcPts val="1045"/>
              </a:spcBef>
              <a:buFont typeface="Wingdings" panose="05000000000000000000"/>
              <a:buChar char=""/>
              <a:tabLst>
                <a:tab pos="697865" algn="l"/>
              </a:tabLst>
            </a:pPr>
            <a:r>
              <a:rPr sz="1600" dirty="0">
                <a:solidFill>
                  <a:sysClr val="windowText" lastClr="000000"/>
                </a:solidFill>
                <a:latin typeface="Palatino Linotype" panose="02040502050505030304"/>
                <a:cs typeface="Palatino Linotype" panose="02040502050505030304"/>
              </a:rPr>
              <a:t>Store</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both</a:t>
            </a:r>
            <a:r>
              <a:rPr sz="1600" spc="-1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type</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and</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relative</a:t>
            </a:r>
            <a:r>
              <a:rPr sz="1600" spc="-6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address</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of</a:t>
            </a:r>
            <a:r>
              <a:rPr sz="1600" spc="-30"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fields</a:t>
            </a:r>
            <a:endParaRPr sz="1600">
              <a:solidFill>
                <a:sysClr val="windowText" lastClr="000000"/>
              </a:solidFill>
              <a:latin typeface="Palatino Linotype" panose="02040502050505030304"/>
              <a:cs typeface="Palatino Linotype" panose="02040502050505030304"/>
            </a:endParaRPr>
          </a:p>
          <a:p>
            <a:pPr marL="0" lvl="1">
              <a:spcBef>
                <a:spcPts val="660"/>
              </a:spcBef>
              <a:buFont typeface="Wingdings" panose="05000000000000000000"/>
              <a:buChar char=""/>
            </a:pPr>
            <a:endParaRPr sz="1600">
              <a:solidFill>
                <a:sysClr val="windowText" lastClr="000000"/>
              </a:solidFill>
              <a:latin typeface="Palatino Linotype" panose="02040502050505030304"/>
              <a:cs typeface="Palatino Linotype" panose="02040502050505030304"/>
            </a:endParaRPr>
          </a:p>
          <a:p>
            <a:pPr marL="242570" indent="-229870">
              <a:buFont typeface="Arial MT"/>
              <a:buChar char="•"/>
              <a:tabLst>
                <a:tab pos="242570" algn="l"/>
              </a:tabLst>
            </a:pPr>
            <a:r>
              <a:rPr sz="2000" dirty="0">
                <a:solidFill>
                  <a:sysClr val="windowText" lastClr="000000"/>
                </a:solidFill>
                <a:latin typeface="Palatino Linotype" panose="02040502050505030304"/>
                <a:cs typeface="Palatino Linotype" panose="02040502050505030304"/>
              </a:rPr>
              <a:t>A</a:t>
            </a:r>
            <a:r>
              <a:rPr sz="2000" spc="-12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record</a:t>
            </a:r>
            <a:r>
              <a:rPr sz="2000" spc="-3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type</a:t>
            </a:r>
            <a:r>
              <a:rPr sz="2000" spc="-1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has</a:t>
            </a:r>
            <a:r>
              <a:rPr sz="2000" spc="-15"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the</a:t>
            </a:r>
            <a:r>
              <a:rPr sz="2000" spc="-10" dirty="0">
                <a:solidFill>
                  <a:sysClr val="windowText" lastClr="000000"/>
                </a:solidFill>
                <a:latin typeface="Palatino Linotype" panose="02040502050505030304"/>
                <a:cs typeface="Palatino Linotype" panose="02040502050505030304"/>
              </a:rPr>
              <a:t> </a:t>
            </a:r>
            <a:r>
              <a:rPr sz="2000" dirty="0">
                <a:solidFill>
                  <a:sysClr val="windowText" lastClr="000000"/>
                </a:solidFill>
                <a:latin typeface="Palatino Linotype" panose="02040502050505030304"/>
                <a:cs typeface="Palatino Linotype" panose="02040502050505030304"/>
              </a:rPr>
              <a:t>form</a:t>
            </a:r>
            <a:r>
              <a:rPr sz="2000" spc="-35" dirty="0">
                <a:solidFill>
                  <a:sysClr val="windowText" lastClr="000000"/>
                </a:solidFill>
                <a:latin typeface="Palatino Linotype" panose="02040502050505030304"/>
                <a:cs typeface="Palatino Linotype" panose="02040502050505030304"/>
              </a:rPr>
              <a:t> </a:t>
            </a:r>
            <a:r>
              <a:rPr sz="2000" spc="-10" dirty="0">
                <a:solidFill>
                  <a:sysClr val="windowText" lastClr="000000"/>
                </a:solidFill>
                <a:latin typeface="Cambria Math" panose="02040503050406030204"/>
                <a:cs typeface="Cambria Math" panose="02040503050406030204"/>
              </a:rPr>
              <a:t>𝑟𝑒𝑐𝑜𝑟𝑑(𝑡)</a:t>
            </a:r>
            <a:endParaRPr sz="2000">
              <a:solidFill>
                <a:sysClr val="windowText" lastClr="000000"/>
              </a:solidFill>
              <a:latin typeface="Cambria Math" panose="02040503050406030204"/>
              <a:cs typeface="Cambria Math" panose="02040503050406030204"/>
            </a:endParaRPr>
          </a:p>
          <a:p>
            <a:pPr marL="697865" lvl="1" indent="-227965">
              <a:spcBef>
                <a:spcPts val="1050"/>
              </a:spcBef>
              <a:buFont typeface="Wingdings" panose="05000000000000000000"/>
              <a:buChar char=""/>
              <a:tabLst>
                <a:tab pos="697865" algn="l"/>
              </a:tabLst>
            </a:pPr>
            <a:r>
              <a:rPr sz="1600" dirty="0">
                <a:solidFill>
                  <a:sysClr val="windowText" lastClr="000000"/>
                </a:solidFill>
                <a:latin typeface="Cambria Math" panose="02040503050406030204"/>
                <a:cs typeface="Cambria Math" panose="02040503050406030204"/>
              </a:rPr>
              <a:t>𝑟𝑒𝑐𝑜𝑟𝑑</a:t>
            </a:r>
            <a:r>
              <a:rPr sz="1600" spc="75" dirty="0">
                <a:solidFill>
                  <a:sysClr val="windowText" lastClr="000000"/>
                </a:solidFill>
                <a:latin typeface="Cambria Math" panose="02040503050406030204"/>
                <a:cs typeface="Cambria Math" panose="02040503050406030204"/>
              </a:rPr>
              <a:t> </a:t>
            </a:r>
            <a:r>
              <a:rPr sz="1600" dirty="0">
                <a:solidFill>
                  <a:sysClr val="windowText" lastClr="000000"/>
                </a:solidFill>
                <a:latin typeface="Palatino Linotype" panose="02040502050505030304"/>
                <a:cs typeface="Palatino Linotype" panose="02040502050505030304"/>
              </a:rPr>
              <a:t>is</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a:t>
            </a:r>
            <a:r>
              <a:rPr sz="1600" spc="-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type</a:t>
            </a:r>
            <a:r>
              <a:rPr sz="1600" spc="-20"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constructor</a:t>
            </a:r>
            <a:endParaRPr sz="1600">
              <a:solidFill>
                <a:sysClr val="windowText" lastClr="000000"/>
              </a:solidFill>
              <a:latin typeface="Palatino Linotype" panose="02040502050505030304"/>
              <a:cs typeface="Palatino Linotype" panose="02040502050505030304"/>
            </a:endParaRPr>
          </a:p>
          <a:p>
            <a:pPr marL="697865" lvl="1" indent="-227965">
              <a:spcBef>
                <a:spcPts val="985"/>
              </a:spcBef>
              <a:buFont typeface="Wingdings" panose="05000000000000000000"/>
              <a:buChar char=""/>
              <a:tabLst>
                <a:tab pos="697865" algn="l"/>
              </a:tabLst>
            </a:pPr>
            <a:r>
              <a:rPr sz="1600" dirty="0">
                <a:solidFill>
                  <a:sysClr val="windowText" lastClr="000000"/>
                </a:solidFill>
                <a:latin typeface="Cambria Math" panose="02040503050406030204"/>
                <a:cs typeface="Cambria Math" panose="02040503050406030204"/>
              </a:rPr>
              <a:t>𝑡</a:t>
            </a:r>
            <a:r>
              <a:rPr sz="1600" spc="40" dirty="0">
                <a:solidFill>
                  <a:sysClr val="windowText" lastClr="000000"/>
                </a:solidFill>
                <a:latin typeface="Cambria Math" panose="02040503050406030204"/>
                <a:cs typeface="Cambria Math" panose="02040503050406030204"/>
              </a:rPr>
              <a:t> </a:t>
            </a:r>
            <a:r>
              <a:rPr sz="1600" dirty="0">
                <a:solidFill>
                  <a:sysClr val="windowText" lastClr="000000"/>
                </a:solidFill>
                <a:latin typeface="Palatino Linotype" panose="02040502050505030304"/>
                <a:cs typeface="Palatino Linotype" panose="02040502050505030304"/>
              </a:rPr>
              <a:t>is</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symbol</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table</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object,</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holding</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info</a:t>
            </a:r>
            <a:r>
              <a:rPr sz="1600" spc="-1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about</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fields</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of</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this</a:t>
            </a:r>
            <a:r>
              <a:rPr sz="1600" spc="-1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record</a:t>
            </a:r>
            <a:r>
              <a:rPr sz="1600" spc="-35" dirty="0">
                <a:solidFill>
                  <a:sysClr val="windowText" lastClr="000000"/>
                </a:solidFill>
                <a:latin typeface="Palatino Linotype" panose="02040502050505030304"/>
                <a:cs typeface="Palatino Linotype" panose="02040502050505030304"/>
              </a:rPr>
              <a:t> </a:t>
            </a:r>
            <a:r>
              <a:rPr sz="1600" spc="-20" dirty="0">
                <a:solidFill>
                  <a:sysClr val="windowText" lastClr="000000"/>
                </a:solidFill>
                <a:latin typeface="Palatino Linotype" panose="02040502050505030304"/>
                <a:cs typeface="Palatino Linotype" panose="02040502050505030304"/>
              </a:rPr>
              <a:t>type</a:t>
            </a:r>
            <a:endParaRPr sz="1600">
              <a:solidFill>
                <a:sysClr val="windowText" lastClr="000000"/>
              </a:solidFill>
              <a:latin typeface="Palatino Linotype" panose="02040502050505030304"/>
              <a:cs typeface="Palatino Linotype" panose="02040502050505030304"/>
            </a:endParaRPr>
          </a:p>
        </p:txBody>
      </p:sp>
      <p:sp>
        <p:nvSpPr>
          <p:cNvPr id="10" name="object 4"/>
          <p:cNvSpPr txBox="1"/>
          <p:nvPr/>
        </p:nvSpPr>
        <p:spPr>
          <a:xfrm>
            <a:off x="808126" y="5763259"/>
            <a:ext cx="1710055" cy="239395"/>
          </a:xfrm>
          <a:prstGeom prst="rect">
            <a:avLst/>
          </a:prstGeom>
        </p:spPr>
        <p:txBody>
          <a:bodyPr vert="horz" wrap="square" lIns="0" tIns="12700" rIns="0" bIns="0" rtlCol="0">
            <a:spAutoFit/>
          </a:bodyPr>
          <a:lstStyle/>
          <a:p>
            <a:pPr marL="12700">
              <a:spcBef>
                <a:spcPts val="100"/>
              </a:spcBef>
            </a:pPr>
            <a:r>
              <a:rPr sz="1400" dirty="0">
                <a:solidFill>
                  <a:srgbClr val="7E7E7E"/>
                </a:solidFill>
                <a:latin typeface="Palatino Linotype" panose="02040502050505030304"/>
                <a:cs typeface="Palatino Linotype" panose="02040502050505030304"/>
              </a:rPr>
              <a:t>*</a:t>
            </a:r>
            <a:r>
              <a:rPr sz="1400" spc="5" dirty="0">
                <a:solidFill>
                  <a:srgbClr val="7E7E7E"/>
                </a:solidFill>
                <a:latin typeface="Palatino Linotype" panose="02040502050505030304"/>
                <a:cs typeface="Palatino Linotype" panose="02040502050505030304"/>
              </a:rPr>
              <a:t> </a:t>
            </a:r>
            <a:r>
              <a:rPr sz="1400" spc="-10" dirty="0">
                <a:solidFill>
                  <a:srgbClr val="7E7E7E"/>
                </a:solidFill>
                <a:latin typeface="Palatino Linotype" panose="02040502050505030304"/>
                <a:cs typeface="Palatino Linotype" panose="02040502050505030304"/>
              </a:rPr>
              <a:t>Self-</a:t>
            </a:r>
            <a:r>
              <a:rPr sz="1400" dirty="0">
                <a:solidFill>
                  <a:srgbClr val="7E7E7E"/>
                </a:solidFill>
                <a:latin typeface="Palatino Linotype" panose="02040502050505030304"/>
                <a:cs typeface="Palatino Linotype" panose="02040502050505030304"/>
              </a:rPr>
              <a:t>study</a:t>
            </a:r>
            <a:r>
              <a:rPr sz="1400" spc="-15" dirty="0">
                <a:solidFill>
                  <a:srgbClr val="7E7E7E"/>
                </a:solidFill>
                <a:latin typeface="Palatino Linotype" panose="02040502050505030304"/>
                <a:cs typeface="Palatino Linotype" panose="02040502050505030304"/>
              </a:rPr>
              <a:t> </a:t>
            </a:r>
            <a:r>
              <a:rPr sz="1400" spc="-10" dirty="0">
                <a:solidFill>
                  <a:srgbClr val="7E7E7E"/>
                </a:solidFill>
                <a:latin typeface="Palatino Linotype" panose="02040502050505030304"/>
                <a:cs typeface="Palatino Linotype" panose="02040502050505030304"/>
              </a:rPr>
              <a:t>materials</a:t>
            </a:r>
            <a:endParaRPr sz="1400">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50</a:t>
            </a:fld>
            <a:endParaRPr lang="en-US"/>
          </a:p>
        </p:txBody>
      </p:sp>
      <p:sp>
        <p:nvSpPr>
          <p:cNvPr id="10" name="object 2"/>
          <p:cNvSpPr txBox="1"/>
          <p:nvPr/>
        </p:nvSpPr>
        <p:spPr>
          <a:xfrm>
            <a:off x="707542" y="530809"/>
            <a:ext cx="7817484" cy="635000"/>
          </a:xfrm>
          <a:prstGeom prst="rect">
            <a:avLst/>
          </a:prstGeom>
        </p:spPr>
        <p:txBody>
          <a:bodyPr vert="horz" wrap="square" lIns="0" tIns="12065" rIns="0" bIns="0" rtlCol="0">
            <a:spAutoFit/>
          </a:bodyPr>
          <a:lstStyle>
            <a:lvl1pPr>
              <a:defRPr sz="4000" b="1" i="0">
                <a:solidFill>
                  <a:srgbClr val="A6A6A6"/>
                </a:solidFill>
                <a:latin typeface="Palatino Linotype" panose="02040502050505030304"/>
                <a:ea typeface="+mj-ea"/>
                <a:cs typeface="Palatino Linotype" panose="02040502050505030304"/>
              </a:defRPr>
            </a:lvl1pPr>
          </a:lstStyle>
          <a:p>
            <a:pPr marL="12700" marR="0" lvl="0" indent="0" defTabSz="914400" eaLnBrk="1" fontAlgn="auto" latinLnBrk="0" hangingPunct="1">
              <a:lnSpc>
                <a:spcPct val="100000"/>
              </a:lnSpc>
              <a:spcBef>
                <a:spcPts val="95"/>
              </a:spcBef>
              <a:spcAft>
                <a:spcPts val="0"/>
              </a:spcAft>
              <a:buClrTx/>
              <a:buSzTx/>
              <a:buFontTx/>
              <a:buNone/>
              <a:defRPr/>
            </a:pPr>
            <a:r>
              <a:rPr kumimoji="0" lang="en-US" sz="4000" b="1" i="0" u="none" strike="noStrike" kern="0" cap="none" spc="0" normalizeH="0" baseline="0" noProof="0">
                <a:ln>
                  <a:noFill/>
                </a:ln>
                <a:solidFill>
                  <a:srgbClr val="A6A6A6"/>
                </a:solidFill>
                <a:effectLst/>
                <a:uLnTx/>
                <a:uFillTx/>
                <a:latin typeface="Palatino Linotype" panose="02040502050505030304"/>
                <a:ea typeface="+mj-ea"/>
              </a:rPr>
              <a:t>Fields</a:t>
            </a:r>
            <a:r>
              <a:rPr kumimoji="0" lang="en-US" sz="4000" b="1" i="0" u="none" strike="noStrike" kern="0" cap="none" spc="-40" normalizeH="0" baseline="0" noProof="0">
                <a:ln>
                  <a:noFill/>
                </a:ln>
                <a:solidFill>
                  <a:srgbClr val="A6A6A6"/>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A6A6A6"/>
                </a:solidFill>
                <a:effectLst/>
                <a:uLnTx/>
                <a:uFillTx/>
                <a:latin typeface="Palatino Linotype" panose="02040502050505030304"/>
                <a:ea typeface="+mj-ea"/>
              </a:rPr>
              <a:t>in</a:t>
            </a:r>
            <a:r>
              <a:rPr kumimoji="0" lang="en-US" sz="4000" b="1" i="0" u="none" strike="noStrike" kern="0" cap="none" spc="-35" normalizeH="0" baseline="0" noProof="0">
                <a:ln>
                  <a:noFill/>
                </a:ln>
                <a:solidFill>
                  <a:srgbClr val="A6A6A6"/>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A6A6A6"/>
                </a:solidFill>
                <a:effectLst/>
                <a:uLnTx/>
                <a:uFillTx/>
                <a:latin typeface="Palatino Linotype" panose="02040502050505030304"/>
                <a:ea typeface="+mj-ea"/>
              </a:rPr>
              <a:t>Records</a:t>
            </a:r>
            <a:r>
              <a:rPr kumimoji="0" lang="en-US" sz="4000" b="1" i="0" u="none" strike="noStrike" kern="0" cap="none" spc="-40" normalizeH="0" baseline="0" noProof="0">
                <a:ln>
                  <a:noFill/>
                </a:ln>
                <a:solidFill>
                  <a:srgbClr val="A6A6A6"/>
                </a:solidFill>
                <a:effectLst/>
                <a:uLnTx/>
                <a:uFillTx/>
                <a:latin typeface="Palatino Linotype" panose="02040502050505030304"/>
                <a:ea typeface="+mj-ea"/>
              </a:rPr>
              <a:t> </a:t>
            </a:r>
            <a:r>
              <a:rPr kumimoji="0" lang="en-US" sz="4000" b="1" i="0" u="none" strike="noStrike" kern="0" cap="none" spc="0" normalizeH="0" baseline="0" noProof="0">
                <a:ln>
                  <a:noFill/>
                </a:ln>
                <a:solidFill>
                  <a:srgbClr val="A6A6A6"/>
                </a:solidFill>
                <a:effectLst/>
                <a:uLnTx/>
                <a:uFillTx/>
                <a:latin typeface="Palatino Linotype" panose="02040502050505030304"/>
                <a:ea typeface="+mj-ea"/>
              </a:rPr>
              <a:t>and</a:t>
            </a:r>
            <a:r>
              <a:rPr kumimoji="0" lang="en-US" sz="4000" b="1" i="0" u="none" strike="noStrike" kern="0" cap="none" spc="-50" normalizeH="0" baseline="0" noProof="0">
                <a:ln>
                  <a:noFill/>
                </a:ln>
                <a:solidFill>
                  <a:srgbClr val="A6A6A6"/>
                </a:solidFill>
                <a:effectLst/>
                <a:uLnTx/>
                <a:uFillTx/>
                <a:latin typeface="Palatino Linotype" panose="02040502050505030304"/>
                <a:ea typeface="+mj-ea"/>
              </a:rPr>
              <a:t> </a:t>
            </a:r>
            <a:r>
              <a:rPr kumimoji="0" lang="en-US" sz="4000" b="1" i="0" u="none" strike="noStrike" kern="0" cap="none" spc="-10" normalizeH="0" baseline="0" noProof="0">
                <a:ln>
                  <a:noFill/>
                </a:ln>
                <a:solidFill>
                  <a:srgbClr val="A6A6A6"/>
                </a:solidFill>
                <a:effectLst/>
                <a:uLnTx/>
                <a:uFillTx/>
                <a:latin typeface="Palatino Linotype" panose="02040502050505030304"/>
                <a:ea typeface="+mj-ea"/>
              </a:rPr>
              <a:t>Classes</a:t>
            </a:r>
            <a:endParaRPr kumimoji="0" lang="en-US" sz="4000" b="1" i="0" u="none" strike="noStrike" kern="0" cap="none" spc="-10" normalizeH="0" baseline="0" noProof="0" dirty="0">
              <a:ln>
                <a:noFill/>
              </a:ln>
              <a:solidFill>
                <a:srgbClr val="A6A6A6"/>
              </a:solidFill>
              <a:effectLst/>
              <a:uLnTx/>
              <a:uFillTx/>
              <a:latin typeface="Palatino Linotype" panose="02040502050505030304"/>
              <a:ea typeface="+mj-ea"/>
            </a:endParaRPr>
          </a:p>
        </p:txBody>
      </p:sp>
      <p:grpSp>
        <p:nvGrpSpPr>
          <p:cNvPr id="11" name="object 3"/>
          <p:cNvGrpSpPr/>
          <p:nvPr/>
        </p:nvGrpSpPr>
        <p:grpSpPr>
          <a:xfrm>
            <a:off x="1025271" y="1852739"/>
            <a:ext cx="7093584" cy="1698625"/>
            <a:chOff x="1025271" y="1852739"/>
            <a:chExt cx="7093584" cy="1698625"/>
          </a:xfrm>
        </p:grpSpPr>
        <p:pic>
          <p:nvPicPr>
            <p:cNvPr id="12" name="object 4"/>
            <p:cNvPicPr/>
            <p:nvPr/>
          </p:nvPicPr>
          <p:blipFill>
            <a:blip r:embed="rId3" cstate="print"/>
            <a:stretch>
              <a:fillRect/>
            </a:stretch>
          </p:blipFill>
          <p:spPr>
            <a:xfrm>
              <a:off x="1282199" y="2002839"/>
              <a:ext cx="6653153" cy="1338205"/>
            </a:xfrm>
            <a:prstGeom prst="rect">
              <a:avLst/>
            </a:prstGeom>
          </p:spPr>
        </p:pic>
        <p:sp>
          <p:nvSpPr>
            <p:cNvPr id="13" name="object 5"/>
            <p:cNvSpPr/>
            <p:nvPr/>
          </p:nvSpPr>
          <p:spPr>
            <a:xfrm>
              <a:off x="1030033" y="1857501"/>
              <a:ext cx="7084059" cy="1689100"/>
            </a:xfrm>
            <a:custGeom>
              <a:avLst/>
              <a:gdLst/>
              <a:ahLst/>
              <a:cxnLst/>
              <a:rect l="l" t="t" r="r" b="b"/>
              <a:pathLst>
                <a:path w="7084059" h="1689100">
                  <a:moveTo>
                    <a:pt x="0" y="1688973"/>
                  </a:moveTo>
                  <a:lnTo>
                    <a:pt x="7083933" y="1688973"/>
                  </a:lnTo>
                  <a:lnTo>
                    <a:pt x="7083933" y="0"/>
                  </a:lnTo>
                  <a:lnTo>
                    <a:pt x="0" y="0"/>
                  </a:lnTo>
                  <a:lnTo>
                    <a:pt x="0" y="1688973"/>
                  </a:lnTo>
                  <a:close/>
                </a:path>
              </a:pathLst>
            </a:custGeom>
            <a:ln w="952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endParaRPr>
            </a:p>
          </p:txBody>
        </p:sp>
      </p:grpSp>
      <p:sp>
        <p:nvSpPr>
          <p:cNvPr id="14" name="object 6"/>
          <p:cNvSpPr txBox="1"/>
          <p:nvPr/>
        </p:nvSpPr>
        <p:spPr>
          <a:xfrm>
            <a:off x="1011123" y="3920997"/>
            <a:ext cx="6989445" cy="1452245"/>
          </a:xfrm>
          <a:prstGeom prst="rect">
            <a:avLst/>
          </a:prstGeom>
        </p:spPr>
        <p:txBody>
          <a:bodyPr vert="horz" wrap="square" lIns="0" tIns="12065" rIns="0" bIns="0" rtlCol="0">
            <a:spAutoFit/>
          </a:bodyPr>
          <a:lstStyle/>
          <a:p>
            <a:pPr marL="299085" indent="-286385">
              <a:spcBef>
                <a:spcPts val="95"/>
              </a:spcBef>
              <a:buFont typeface="Arial MT"/>
              <a:buChar char="•"/>
              <a:tabLst>
                <a:tab pos="299085" algn="l"/>
              </a:tabLst>
            </a:pPr>
            <a:r>
              <a:rPr sz="1600" dirty="0">
                <a:solidFill>
                  <a:sysClr val="windowText" lastClr="000000"/>
                </a:solidFill>
                <a:latin typeface="Palatino Linotype" panose="02040502050505030304"/>
                <a:cs typeface="Palatino Linotype" panose="02040502050505030304"/>
              </a:rPr>
              <a:t>The</a:t>
            </a:r>
            <a:r>
              <a:rPr sz="1600" spc="-4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class</a:t>
            </a:r>
            <a:r>
              <a:rPr sz="1600" spc="-40" dirty="0">
                <a:solidFill>
                  <a:sysClr val="windowText" lastClr="000000"/>
                </a:solidFill>
                <a:latin typeface="Palatino Linotype" panose="02040502050505030304"/>
                <a:cs typeface="Palatino Linotype" panose="02040502050505030304"/>
              </a:rPr>
              <a:t> </a:t>
            </a:r>
            <a:r>
              <a:rPr sz="1600" dirty="0">
                <a:solidFill>
                  <a:srgbClr val="0431FF"/>
                </a:solidFill>
                <a:latin typeface="Cambria Math" panose="02040503050406030204"/>
                <a:cs typeface="Cambria Math" panose="02040503050406030204"/>
              </a:rPr>
              <a:t>𝐸𝑛𝑣</a:t>
            </a:r>
            <a:r>
              <a:rPr sz="1600" spc="55" dirty="0">
                <a:solidFill>
                  <a:srgbClr val="0431FF"/>
                </a:solidFill>
                <a:latin typeface="Cambria Math" panose="02040503050406030204"/>
                <a:cs typeface="Cambria Math" panose="02040503050406030204"/>
              </a:rPr>
              <a:t> </a:t>
            </a:r>
            <a:r>
              <a:rPr sz="1600" dirty="0">
                <a:solidFill>
                  <a:sysClr val="windowText" lastClr="000000"/>
                </a:solidFill>
                <a:latin typeface="Palatino Linotype" panose="02040502050505030304"/>
                <a:cs typeface="Palatino Linotype" panose="02040502050505030304"/>
              </a:rPr>
              <a:t>implements</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symbol</a:t>
            </a:r>
            <a:r>
              <a:rPr sz="1600" spc="-30"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tables</a:t>
            </a:r>
            <a:endParaRPr sz="1600">
              <a:solidFill>
                <a:sysClr val="windowText" lastClr="000000"/>
              </a:solidFill>
              <a:latin typeface="Palatino Linotype" panose="02040502050505030304"/>
              <a:cs typeface="Palatino Linotype" panose="02040502050505030304"/>
            </a:endParaRPr>
          </a:p>
          <a:p>
            <a:pPr marL="299085" indent="-286385">
              <a:spcBef>
                <a:spcPts val="1585"/>
              </a:spcBef>
              <a:buFont typeface="Arial MT"/>
              <a:buChar char="•"/>
              <a:tabLst>
                <a:tab pos="299085" algn="l"/>
              </a:tabLst>
            </a:pPr>
            <a:r>
              <a:rPr sz="1600" dirty="0">
                <a:solidFill>
                  <a:srgbClr val="0431FF"/>
                </a:solidFill>
                <a:latin typeface="Cambria Math" panose="02040503050406030204"/>
                <a:cs typeface="Cambria Math" panose="02040503050406030204"/>
              </a:rPr>
              <a:t>𝐸𝑛𝑣.</a:t>
            </a:r>
            <a:r>
              <a:rPr sz="1600" spc="-95"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𝑝𝑢𝑠ℎ(𝑡𝑜𝑝)</a:t>
            </a:r>
            <a:r>
              <a:rPr sz="1600" spc="5" dirty="0">
                <a:solidFill>
                  <a:srgbClr val="0431FF"/>
                </a:solidFill>
                <a:latin typeface="Cambria Math" panose="02040503050406030204"/>
                <a:cs typeface="Cambria Math" panose="02040503050406030204"/>
              </a:rPr>
              <a:t> </a:t>
            </a:r>
            <a:r>
              <a:rPr sz="1600" dirty="0">
                <a:solidFill>
                  <a:sysClr val="windowText" lastClr="000000"/>
                </a:solidFill>
                <a:latin typeface="Palatino Linotype" panose="02040502050505030304"/>
                <a:cs typeface="Palatino Linotype" panose="02040502050505030304"/>
              </a:rPr>
              <a:t>and</a:t>
            </a:r>
            <a:r>
              <a:rPr sz="1600" spc="-5" dirty="0">
                <a:solidFill>
                  <a:sysClr val="windowText" lastClr="000000"/>
                </a:solidFill>
                <a:latin typeface="Palatino Linotype" panose="02040502050505030304"/>
                <a:cs typeface="Palatino Linotype" panose="02040502050505030304"/>
              </a:rPr>
              <a:t> </a:t>
            </a:r>
            <a:r>
              <a:rPr sz="1600" dirty="0">
                <a:solidFill>
                  <a:srgbClr val="0431FF"/>
                </a:solidFill>
                <a:latin typeface="Cambria Math" panose="02040503050406030204"/>
                <a:cs typeface="Cambria Math" panose="02040503050406030204"/>
              </a:rPr>
              <a:t>𝑆𝑡𝑎𝑐𝑘.</a:t>
            </a:r>
            <a:r>
              <a:rPr sz="1600" spc="-95" dirty="0">
                <a:solidFill>
                  <a:srgbClr val="0431FF"/>
                </a:solidFill>
                <a:latin typeface="Cambria Math" panose="02040503050406030204"/>
                <a:cs typeface="Cambria Math" panose="02040503050406030204"/>
              </a:rPr>
              <a:t> </a:t>
            </a:r>
            <a:r>
              <a:rPr sz="1600" dirty="0">
                <a:solidFill>
                  <a:srgbClr val="0431FF"/>
                </a:solidFill>
                <a:latin typeface="Cambria Math" panose="02040503050406030204"/>
                <a:cs typeface="Cambria Math" panose="02040503050406030204"/>
              </a:rPr>
              <a:t>𝑝𝑢𝑠ℎ(𝑜𝑓𝑓𝑠𝑒𝑡)</a:t>
            </a:r>
            <a:r>
              <a:rPr sz="1600" spc="20" dirty="0">
                <a:solidFill>
                  <a:srgbClr val="0431FF"/>
                </a:solidFill>
                <a:latin typeface="Cambria Math" panose="02040503050406030204"/>
                <a:cs typeface="Cambria Math" panose="02040503050406030204"/>
              </a:rPr>
              <a:t> </a:t>
            </a:r>
            <a:r>
              <a:rPr sz="1600" dirty="0">
                <a:solidFill>
                  <a:sysClr val="windowText" lastClr="000000"/>
                </a:solidFill>
                <a:latin typeface="Palatino Linotype" panose="02040502050505030304"/>
                <a:cs typeface="Palatino Linotype" panose="02040502050505030304"/>
              </a:rPr>
              <a:t>save</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a:t>
            </a:r>
            <a:r>
              <a:rPr sz="1600" spc="-1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current symbol</a:t>
            </a:r>
            <a:r>
              <a:rPr sz="1600" spc="-1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table</a:t>
            </a:r>
            <a:r>
              <a:rPr sz="1600" spc="-35" dirty="0">
                <a:solidFill>
                  <a:sysClr val="windowText" lastClr="000000"/>
                </a:solidFill>
                <a:latin typeface="Palatino Linotype" panose="02040502050505030304"/>
                <a:cs typeface="Palatino Linotype" panose="02040502050505030304"/>
              </a:rPr>
              <a:t> </a:t>
            </a:r>
            <a:r>
              <a:rPr sz="1600" spc="-25" dirty="0">
                <a:solidFill>
                  <a:sysClr val="windowText" lastClr="000000"/>
                </a:solidFill>
                <a:latin typeface="Palatino Linotype" panose="02040502050505030304"/>
                <a:cs typeface="Palatino Linotype" panose="02040502050505030304"/>
              </a:rPr>
              <a:t>and</a:t>
            </a:r>
            <a:endParaRPr sz="1600">
              <a:solidFill>
                <a:sysClr val="windowText" lastClr="000000"/>
              </a:solidFill>
              <a:latin typeface="Palatino Linotype" panose="02040502050505030304"/>
              <a:cs typeface="Palatino Linotype" panose="02040502050505030304"/>
            </a:endParaRPr>
          </a:p>
          <a:p>
            <a:pPr marL="299085">
              <a:spcBef>
                <a:spcPts val="385"/>
              </a:spcBef>
            </a:pPr>
            <a:r>
              <a:rPr sz="1600" dirty="0">
                <a:solidFill>
                  <a:sysClr val="windowText" lastClr="000000"/>
                </a:solidFill>
                <a:latin typeface="Palatino Linotype" panose="02040502050505030304"/>
                <a:cs typeface="Palatino Linotype" panose="02040502050505030304"/>
              </a:rPr>
              <a:t>offset;</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later,</a:t>
            </a:r>
            <a:r>
              <a:rPr sz="1600" spc="-5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they</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will</a:t>
            </a:r>
            <a:r>
              <a:rPr sz="1600" spc="-3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be</a:t>
            </a:r>
            <a:r>
              <a:rPr sz="1600" spc="-4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popped</a:t>
            </a:r>
            <a:r>
              <a:rPr sz="1600" spc="-4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to</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continue</a:t>
            </a:r>
            <a:r>
              <a:rPr sz="1600" spc="-1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with</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other</a:t>
            </a:r>
            <a:r>
              <a:rPr sz="1600" spc="-35"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translation</a:t>
            </a:r>
            <a:endParaRPr sz="1600">
              <a:solidFill>
                <a:sysClr val="windowText" lastClr="000000"/>
              </a:solidFill>
              <a:latin typeface="Palatino Linotype" panose="02040502050505030304"/>
              <a:cs typeface="Palatino Linotype" panose="02040502050505030304"/>
            </a:endParaRPr>
          </a:p>
          <a:p>
            <a:pPr marL="299085" indent="-286385">
              <a:spcBef>
                <a:spcPts val="1585"/>
              </a:spcBef>
              <a:buFont typeface="Arial MT"/>
              <a:buChar char="•"/>
              <a:tabLst>
                <a:tab pos="299085" algn="l"/>
              </a:tabLst>
            </a:pPr>
            <a:r>
              <a:rPr sz="1600" dirty="0">
                <a:solidFill>
                  <a:sysClr val="windowText" lastClr="000000"/>
                </a:solidFill>
                <a:latin typeface="Palatino Linotype" panose="02040502050505030304"/>
                <a:cs typeface="Palatino Linotype" panose="02040502050505030304"/>
              </a:rPr>
              <a:t>The</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translation scheme</a:t>
            </a:r>
            <a:r>
              <a:rPr sz="1600" spc="-1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can</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be</a:t>
            </a:r>
            <a:r>
              <a:rPr sz="1600" spc="-3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adapted</a:t>
            </a:r>
            <a:r>
              <a:rPr sz="1600" spc="-2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to</a:t>
            </a:r>
            <a:r>
              <a:rPr sz="1600" spc="-25"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deal</a:t>
            </a:r>
            <a:r>
              <a:rPr sz="1600" spc="-40" dirty="0">
                <a:solidFill>
                  <a:sysClr val="windowText" lastClr="000000"/>
                </a:solidFill>
                <a:latin typeface="Palatino Linotype" panose="02040502050505030304"/>
                <a:cs typeface="Palatino Linotype" panose="02040502050505030304"/>
              </a:rPr>
              <a:t> </a:t>
            </a:r>
            <a:r>
              <a:rPr sz="1600" dirty="0">
                <a:solidFill>
                  <a:sysClr val="windowText" lastClr="000000"/>
                </a:solidFill>
                <a:latin typeface="Palatino Linotype" panose="02040502050505030304"/>
                <a:cs typeface="Palatino Linotype" panose="02040502050505030304"/>
              </a:rPr>
              <a:t>with</a:t>
            </a:r>
            <a:r>
              <a:rPr sz="1600" spc="-15" dirty="0">
                <a:solidFill>
                  <a:sysClr val="windowText" lastClr="000000"/>
                </a:solidFill>
                <a:latin typeface="Palatino Linotype" panose="02040502050505030304"/>
                <a:cs typeface="Palatino Linotype" panose="02040502050505030304"/>
              </a:rPr>
              <a:t> </a:t>
            </a:r>
            <a:r>
              <a:rPr sz="1600" spc="-10" dirty="0">
                <a:solidFill>
                  <a:sysClr val="windowText" lastClr="000000"/>
                </a:solidFill>
                <a:latin typeface="Palatino Linotype" panose="02040502050505030304"/>
                <a:cs typeface="Palatino Linotype" panose="02040502050505030304"/>
              </a:rPr>
              <a:t>classes</a:t>
            </a:r>
            <a:endParaRPr sz="1600">
              <a:solidFill>
                <a:sysClr val="windowText" lastClr="000000"/>
              </a:solidFill>
              <a:latin typeface="Palatino Linotype" panose="02040502050505030304"/>
              <a:cs typeface="Palatino Linotype" panose="02040502050505030304"/>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51</a:t>
            </a:fld>
            <a:endParaRPr lang="en-US"/>
          </a:p>
        </p:txBody>
      </p:sp>
      <p:sp>
        <p:nvSpPr>
          <p:cNvPr id="7" name="object 2">
            <a:extLst>
              <a:ext uri="{FF2B5EF4-FFF2-40B4-BE49-F238E27FC236}">
                <a16:creationId xmlns:a16="http://schemas.microsoft.com/office/drawing/2014/main" id="{C4E36AE9-7D22-6766-1FC6-026FA059469E}"/>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O</a:t>
            </a:r>
            <a:r>
              <a:rPr kumimoji="0" lang="en-US" sz="4000" b="1" i="0" u="none" strike="noStrike" kern="0" cap="none" spc="-20" normalizeH="0" baseline="0" noProof="0">
                <a:ln>
                  <a:noFill/>
                </a:ln>
                <a:solidFill>
                  <a:sysClr val="windowText" lastClr="000000"/>
                </a:solidFill>
                <a:effectLst/>
                <a:uLnTx/>
                <a:uFillTx/>
                <a:latin typeface="Palatino Linotype"/>
                <a:ea typeface="+mj-ea"/>
              </a:rPr>
              <a:t>u</a:t>
            </a:r>
            <a:r>
              <a:rPr kumimoji="0" lang="en-US" sz="4000" b="1" i="0" u="none" strike="noStrike" kern="0" cap="none" spc="-5" normalizeH="0" baseline="0" noProof="0">
                <a:ln>
                  <a:noFill/>
                </a:ln>
                <a:solidFill>
                  <a:sysClr val="windowText" lastClr="000000"/>
                </a:solidFill>
                <a:effectLst/>
                <a:uLnTx/>
                <a:uFillTx/>
                <a:latin typeface="Palatino Linotype"/>
                <a:ea typeface="+mj-ea"/>
              </a:rPr>
              <a:t>tline</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FE544455-A69D-8089-6C21-1B42CFA6E8B0}"/>
              </a:ext>
            </a:extLst>
          </p:cNvPr>
          <p:cNvSpPr txBox="1"/>
          <p:nvPr/>
        </p:nvSpPr>
        <p:spPr>
          <a:xfrm>
            <a:off x="707542" y="1658239"/>
            <a:ext cx="4103370" cy="3921586"/>
          </a:xfrm>
          <a:prstGeom prst="rect">
            <a:avLst/>
          </a:prstGeom>
        </p:spPr>
        <p:txBody>
          <a:bodyPr vert="horz" wrap="square" lIns="0" tIns="12700" rIns="0" bIns="0" rtlCol="0">
            <a:spAutoFit/>
          </a:bodyPr>
          <a:lstStyle/>
          <a:p>
            <a:pPr marL="242570" indent="-230504" rtl="0">
              <a:spcBef>
                <a:spcPts val="100"/>
              </a:spcBef>
              <a:buClr>
                <a:srgbClr val="000000"/>
              </a:buClr>
              <a:buFont typeface="Arial MT"/>
              <a:buChar char="•"/>
              <a:tabLst>
                <a:tab pos="243204" algn="l"/>
              </a:tabLst>
            </a:pPr>
            <a:r>
              <a:rPr sz="2400" kern="1200" spc="-5" dirty="0">
                <a:solidFill>
                  <a:schemeClr val="bg2">
                    <a:lumMod val="50000"/>
                  </a:schemeClr>
                </a:solidFill>
                <a:latin typeface="Palatino Linotype"/>
                <a:cs typeface="Palatino Linotype"/>
              </a:rPr>
              <a:t>Intermediate</a:t>
            </a:r>
            <a:r>
              <a:rPr sz="2400" kern="1200" spc="-30" dirty="0">
                <a:solidFill>
                  <a:schemeClr val="bg2">
                    <a:lumMod val="50000"/>
                  </a:schemeClr>
                </a:solidFill>
                <a:latin typeface="Palatino Linotype"/>
                <a:cs typeface="Palatino Linotype"/>
              </a:rPr>
              <a:t> </a:t>
            </a:r>
            <a:r>
              <a:rPr sz="2400" kern="1200" spc="-5" dirty="0">
                <a:solidFill>
                  <a:schemeClr val="bg2">
                    <a:lumMod val="50000"/>
                  </a:schemeClr>
                </a:solidFill>
                <a:latin typeface="Palatino Linotype"/>
                <a:cs typeface="Palatino Linotype"/>
              </a:rPr>
              <a:t>Representation</a:t>
            </a:r>
            <a:endParaRPr sz="2400" kern="1200" dirty="0">
              <a:solidFill>
                <a:schemeClr val="bg2">
                  <a:lumMod val="50000"/>
                </a:schemeClr>
              </a:solidFill>
              <a:latin typeface="Palatino Linotype"/>
              <a:cs typeface="Palatino Linotype"/>
            </a:endParaRPr>
          </a:p>
          <a:p>
            <a:pPr rtl="0">
              <a:spcBef>
                <a:spcPts val="5"/>
              </a:spcBef>
              <a:buFont typeface="Arial MT"/>
              <a:buChar char="•"/>
            </a:pPr>
            <a:endParaRPr sz="2200" kern="1200" dirty="0">
              <a:solidFill>
                <a:schemeClr val="bg2">
                  <a:lumMod val="50000"/>
                </a:schemeClr>
              </a:solidFill>
              <a:latin typeface="Palatino Linotype"/>
              <a:cs typeface="Palatino Linotype"/>
            </a:endParaRPr>
          </a:p>
          <a:p>
            <a:pPr marL="242570" indent="-230504" rtl="0">
              <a:buClr>
                <a:srgbClr val="000000"/>
              </a:buClr>
              <a:buFont typeface="Arial MT"/>
              <a:buChar char="•"/>
              <a:tabLst>
                <a:tab pos="243204" algn="l"/>
              </a:tabLst>
            </a:pPr>
            <a:r>
              <a:rPr sz="2400" kern="1200" spc="-45" dirty="0">
                <a:solidFill>
                  <a:schemeClr val="bg2">
                    <a:lumMod val="50000"/>
                  </a:schemeClr>
                </a:solidFill>
                <a:latin typeface="Palatino Linotype"/>
                <a:cs typeface="Palatino Linotype"/>
              </a:rPr>
              <a:t>Type</a:t>
            </a:r>
            <a:r>
              <a:rPr sz="2400" kern="1200" spc="-15" dirty="0">
                <a:solidFill>
                  <a:schemeClr val="bg2">
                    <a:lumMod val="50000"/>
                  </a:schemeClr>
                </a:solidFill>
                <a:latin typeface="Palatino Linotype"/>
                <a:cs typeface="Palatino Linotype"/>
              </a:rPr>
              <a:t> </a:t>
            </a:r>
            <a:r>
              <a:rPr sz="2400" kern="1200" spc="-5" dirty="0">
                <a:solidFill>
                  <a:schemeClr val="bg2">
                    <a:lumMod val="50000"/>
                  </a:schemeClr>
                </a:solidFill>
                <a:latin typeface="Palatino Linotype"/>
                <a:cs typeface="Palatino Linotype"/>
              </a:rPr>
              <a:t>and Declarations</a:t>
            </a:r>
            <a:endParaRPr sz="2400" kern="1200" dirty="0">
              <a:solidFill>
                <a:schemeClr val="bg2">
                  <a:lumMod val="50000"/>
                </a:schemeClr>
              </a:solidFill>
              <a:latin typeface="Palatino Linotype"/>
              <a:cs typeface="Palatino Linotype"/>
            </a:endParaRPr>
          </a:p>
          <a:p>
            <a:pPr rtl="0">
              <a:spcBef>
                <a:spcPts val="10"/>
              </a:spcBef>
              <a:buFont typeface="Arial MT"/>
              <a:buChar char="•"/>
            </a:pPr>
            <a:endParaRPr sz="2200" kern="1200" dirty="0">
              <a:solidFill>
                <a:prstClr val="black"/>
              </a:solidFill>
              <a:latin typeface="Palatino Linotype"/>
              <a:cs typeface="Palatino Linotype"/>
            </a:endParaRPr>
          </a:p>
          <a:p>
            <a:pPr marL="242570" indent="-230504" rtl="0">
              <a:buFont typeface="Arial MT"/>
              <a:buChar char="•"/>
              <a:tabLst>
                <a:tab pos="243204" algn="l"/>
              </a:tabLst>
            </a:pPr>
            <a:r>
              <a:rPr sz="2400" kern="1200" spc="-20" dirty="0">
                <a:solidFill>
                  <a:prstClr val="black"/>
                </a:solidFill>
                <a:latin typeface="Palatino Linotype"/>
                <a:cs typeface="Palatino Linotype"/>
              </a:rPr>
              <a:t>Translation</a:t>
            </a:r>
            <a:r>
              <a:rPr sz="2400" kern="1200" spc="-10" dirty="0">
                <a:solidFill>
                  <a:prstClr val="black"/>
                </a:solidFill>
                <a:latin typeface="Palatino Linotype"/>
                <a:cs typeface="Palatino Linotype"/>
              </a:rPr>
              <a:t> </a:t>
            </a:r>
            <a:r>
              <a:rPr sz="2400" kern="1200" dirty="0">
                <a:solidFill>
                  <a:prstClr val="black"/>
                </a:solidFill>
                <a:latin typeface="Palatino Linotype"/>
                <a:cs typeface="Palatino Linotype"/>
              </a:rPr>
              <a:t>of</a:t>
            </a:r>
            <a:r>
              <a:rPr sz="2400" kern="1200" spc="-15" dirty="0">
                <a:solidFill>
                  <a:prstClr val="black"/>
                </a:solidFill>
                <a:latin typeface="Palatino Linotype"/>
                <a:cs typeface="Palatino Linotype"/>
              </a:rPr>
              <a:t> </a:t>
            </a:r>
            <a:r>
              <a:rPr sz="2400" kern="1200" dirty="0">
                <a:solidFill>
                  <a:prstClr val="black"/>
                </a:solidFill>
                <a:latin typeface="Palatino Linotype"/>
                <a:cs typeface="Palatino Linotype"/>
              </a:rPr>
              <a:t>Expressions</a:t>
            </a:r>
          </a:p>
          <a:p>
            <a:pPr rtl="0">
              <a:spcBef>
                <a:spcPts val="10"/>
              </a:spcBef>
              <a:buFont typeface="Arial MT"/>
              <a:buChar char="•"/>
            </a:pPr>
            <a:endParaRPr sz="2200" kern="1200" dirty="0">
              <a:solidFill>
                <a:prstClr val="black"/>
              </a:solidFill>
              <a:latin typeface="Palatino Linotype"/>
              <a:cs typeface="Palatino Linotype"/>
            </a:endParaRPr>
          </a:p>
          <a:p>
            <a:pPr marL="242570" indent="-230504" rtl="0">
              <a:buClr>
                <a:srgbClr val="000000"/>
              </a:buClr>
              <a:buFont typeface="Arial MT"/>
              <a:buChar char="•"/>
              <a:tabLst>
                <a:tab pos="243204" algn="l"/>
              </a:tabLst>
            </a:pPr>
            <a:r>
              <a:rPr sz="2400" kern="1200" spc="-45" dirty="0">
                <a:solidFill>
                  <a:schemeClr val="bg2">
                    <a:lumMod val="50000"/>
                  </a:schemeClr>
                </a:solidFill>
                <a:latin typeface="Palatino Linotype"/>
                <a:cs typeface="Palatino Linotype"/>
              </a:rPr>
              <a:t>Type</a:t>
            </a:r>
            <a:r>
              <a:rPr sz="2400" kern="1200" spc="-30" dirty="0">
                <a:solidFill>
                  <a:schemeClr val="bg2">
                    <a:lumMod val="50000"/>
                  </a:schemeClr>
                </a:solidFill>
                <a:latin typeface="Palatino Linotype"/>
                <a:cs typeface="Palatino Linotype"/>
              </a:rPr>
              <a:t> </a:t>
            </a:r>
            <a:r>
              <a:rPr sz="2400" kern="1200" spc="-5" dirty="0">
                <a:solidFill>
                  <a:schemeClr val="bg2">
                    <a:lumMod val="50000"/>
                  </a:schemeClr>
                </a:solidFill>
                <a:latin typeface="Palatino Linotype"/>
                <a:cs typeface="Palatino Linotype"/>
              </a:rPr>
              <a:t>Checking</a:t>
            </a:r>
            <a:endParaRPr sz="2400" kern="1200" dirty="0">
              <a:solidFill>
                <a:schemeClr val="bg2">
                  <a:lumMod val="50000"/>
                </a:schemeClr>
              </a:solidFill>
              <a:latin typeface="Palatino Linotype"/>
              <a:cs typeface="Palatino Linotype"/>
            </a:endParaRPr>
          </a:p>
          <a:p>
            <a:pPr rtl="0">
              <a:spcBef>
                <a:spcPts val="10"/>
              </a:spcBef>
              <a:buFont typeface="Arial MT"/>
              <a:buChar char="•"/>
            </a:pPr>
            <a:endParaRPr sz="2200" kern="1200" dirty="0">
              <a:solidFill>
                <a:schemeClr val="bg2">
                  <a:lumMod val="50000"/>
                </a:schemeClr>
              </a:solidFill>
              <a:latin typeface="Palatino Linotype"/>
              <a:cs typeface="Palatino Linotype"/>
            </a:endParaRPr>
          </a:p>
          <a:p>
            <a:pPr marL="242570" indent="-230504" rtl="0">
              <a:buClr>
                <a:srgbClr val="000000"/>
              </a:buClr>
              <a:buFont typeface="Arial MT"/>
              <a:buChar char="•"/>
              <a:tabLst>
                <a:tab pos="243204" algn="l"/>
              </a:tabLst>
            </a:pPr>
            <a:r>
              <a:rPr sz="2400" kern="1200" spc="-5" dirty="0">
                <a:solidFill>
                  <a:schemeClr val="bg2">
                    <a:lumMod val="50000"/>
                  </a:schemeClr>
                </a:solidFill>
                <a:latin typeface="Palatino Linotype"/>
                <a:cs typeface="Palatino Linotype"/>
              </a:rPr>
              <a:t>Control</a:t>
            </a:r>
            <a:r>
              <a:rPr sz="2400" kern="1200" spc="-25" dirty="0">
                <a:solidFill>
                  <a:schemeClr val="bg2">
                    <a:lumMod val="50000"/>
                  </a:schemeClr>
                </a:solidFill>
                <a:latin typeface="Palatino Linotype"/>
                <a:cs typeface="Palatino Linotype"/>
              </a:rPr>
              <a:t> </a:t>
            </a:r>
            <a:r>
              <a:rPr sz="2400" kern="1200" spc="-5" dirty="0">
                <a:solidFill>
                  <a:schemeClr val="bg2">
                    <a:lumMod val="50000"/>
                  </a:schemeClr>
                </a:solidFill>
                <a:latin typeface="Palatino Linotype"/>
                <a:cs typeface="Palatino Linotype"/>
              </a:rPr>
              <a:t>Flow</a:t>
            </a:r>
            <a:endParaRPr sz="2400" kern="1200" dirty="0">
              <a:solidFill>
                <a:schemeClr val="bg2">
                  <a:lumMod val="50000"/>
                </a:schemeClr>
              </a:solidFill>
              <a:latin typeface="Palatino Linotype"/>
              <a:cs typeface="Palatino Linotype"/>
            </a:endParaRPr>
          </a:p>
          <a:p>
            <a:pPr rtl="0">
              <a:spcBef>
                <a:spcPts val="5"/>
              </a:spcBef>
              <a:buFont typeface="Arial MT"/>
              <a:buChar char="•"/>
            </a:pPr>
            <a:endParaRPr sz="2200" kern="1200" dirty="0">
              <a:solidFill>
                <a:schemeClr val="bg2">
                  <a:lumMod val="50000"/>
                </a:schemeClr>
              </a:solidFill>
              <a:latin typeface="Palatino Linotype"/>
              <a:cs typeface="Palatino Linotype"/>
            </a:endParaRPr>
          </a:p>
          <a:p>
            <a:pPr marL="242570" indent="-230504" rtl="0">
              <a:spcBef>
                <a:spcPts val="5"/>
              </a:spcBef>
              <a:buClr>
                <a:srgbClr val="000000"/>
              </a:buClr>
              <a:buFont typeface="Arial MT"/>
              <a:buChar char="•"/>
              <a:tabLst>
                <a:tab pos="243204" algn="l"/>
              </a:tabLst>
            </a:pPr>
            <a:r>
              <a:rPr sz="2400" kern="1200" spc="-5" dirty="0">
                <a:solidFill>
                  <a:schemeClr val="bg2">
                    <a:lumMod val="50000"/>
                  </a:schemeClr>
                </a:solidFill>
                <a:latin typeface="Palatino Linotype"/>
                <a:cs typeface="Palatino Linotype"/>
              </a:rPr>
              <a:t>Backpatching</a:t>
            </a:r>
            <a:endParaRPr sz="2400" kern="1200" dirty="0">
              <a:solidFill>
                <a:schemeClr val="bg2">
                  <a:lumMod val="50000"/>
                </a:schemeClr>
              </a:solidFill>
              <a:latin typeface="Palatino Linotype"/>
              <a:cs typeface="Palatino Linotype"/>
            </a:endParaRPr>
          </a:p>
        </p:txBody>
      </p:sp>
    </p:spTree>
    <p:extLst>
      <p:ext uri="{BB962C8B-B14F-4D97-AF65-F5344CB8AC3E}">
        <p14:creationId xmlns:p14="http://schemas.microsoft.com/office/powerpoint/2010/main" val="27142608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52</a:t>
            </a:fld>
            <a:endParaRPr lang="en-US"/>
          </a:p>
        </p:txBody>
      </p:sp>
      <p:sp>
        <p:nvSpPr>
          <p:cNvPr id="13" name="object 2">
            <a:extLst>
              <a:ext uri="{FF2B5EF4-FFF2-40B4-BE49-F238E27FC236}">
                <a16:creationId xmlns:a16="http://schemas.microsoft.com/office/drawing/2014/main" id="{9B0AB3AB-3B91-20AF-579D-EC0AA008BA85}"/>
              </a:ext>
            </a:extLst>
          </p:cNvPr>
          <p:cNvSpPr txBox="1">
            <a:spLocks/>
          </p:cNvSpPr>
          <p:nvPr/>
        </p:nvSpPr>
        <p:spPr>
          <a:xfrm>
            <a:off x="707542" y="520141"/>
            <a:ext cx="546735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Expressions</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and</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Arrays</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14" name="object 3">
            <a:extLst>
              <a:ext uri="{FF2B5EF4-FFF2-40B4-BE49-F238E27FC236}">
                <a16:creationId xmlns:a16="http://schemas.microsoft.com/office/drawing/2014/main" id="{7D92B850-CAAD-095D-F927-D81F09435041}"/>
              </a:ext>
            </a:extLst>
          </p:cNvPr>
          <p:cNvSpPr txBox="1"/>
          <p:nvPr/>
        </p:nvSpPr>
        <p:spPr>
          <a:xfrm>
            <a:off x="707542" y="1486036"/>
            <a:ext cx="7619365" cy="875665"/>
          </a:xfrm>
          <a:prstGeom prst="rect">
            <a:avLst/>
          </a:prstGeom>
        </p:spPr>
        <p:txBody>
          <a:bodyPr vert="horz" wrap="square" lIns="0" tIns="180340" rIns="0" bIns="0" rtlCol="0">
            <a:spAutoFit/>
          </a:bodyPr>
          <a:lstStyle/>
          <a:p>
            <a:pPr marL="242570" indent="-230504" rtl="0">
              <a:spcBef>
                <a:spcPts val="1420"/>
              </a:spcBef>
              <a:buFont typeface="Arial MT"/>
              <a:buChar char="•"/>
              <a:tabLst>
                <a:tab pos="242570" algn="l"/>
                <a:tab pos="243204" algn="l"/>
              </a:tabLst>
            </a:pPr>
            <a:r>
              <a:rPr sz="2000" kern="1200" dirty="0">
                <a:solidFill>
                  <a:prstClr val="black"/>
                </a:solidFill>
                <a:latin typeface="Palatino Linotype"/>
                <a:cs typeface="Palatino Linotype"/>
              </a:rPr>
              <a:t>An</a:t>
            </a:r>
            <a:r>
              <a:rPr sz="2000" kern="1200" spc="-15" dirty="0">
                <a:solidFill>
                  <a:prstClr val="black"/>
                </a:solidFill>
                <a:latin typeface="Palatino Linotype"/>
                <a:cs typeface="Palatino Linotype"/>
              </a:rPr>
              <a:t> </a:t>
            </a:r>
            <a:r>
              <a:rPr sz="2000" kern="1200" dirty="0">
                <a:solidFill>
                  <a:prstClr val="black"/>
                </a:solidFill>
                <a:latin typeface="Palatino Linotype"/>
                <a:cs typeface="Palatino Linotype"/>
              </a:rPr>
              <a:t>expression</a:t>
            </a:r>
            <a:r>
              <a:rPr sz="2000" kern="1200" spc="-15" dirty="0">
                <a:solidFill>
                  <a:prstClr val="black"/>
                </a:solidFill>
                <a:latin typeface="Palatino Linotype"/>
                <a:cs typeface="Palatino Linotype"/>
              </a:rPr>
              <a:t> </a:t>
            </a:r>
            <a:r>
              <a:rPr sz="2000" kern="1200" dirty="0">
                <a:solidFill>
                  <a:prstClr val="black"/>
                </a:solidFill>
                <a:latin typeface="Palatino Linotype"/>
                <a:cs typeface="Palatino Linotype"/>
              </a:rPr>
              <a:t>with</a:t>
            </a:r>
            <a:r>
              <a:rPr sz="2000" kern="1200" spc="-20" dirty="0">
                <a:solidFill>
                  <a:prstClr val="black"/>
                </a:solidFill>
                <a:latin typeface="Palatino Linotype"/>
                <a:cs typeface="Palatino Linotype"/>
              </a:rPr>
              <a:t> </a:t>
            </a:r>
            <a:r>
              <a:rPr sz="2000" kern="1200" spc="-5" dirty="0">
                <a:solidFill>
                  <a:prstClr val="black"/>
                </a:solidFill>
                <a:latin typeface="Palatino Linotype"/>
                <a:cs typeface="Palatino Linotype"/>
              </a:rPr>
              <a:t>more</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than one</a:t>
            </a:r>
            <a:r>
              <a:rPr sz="2000" kern="1200" dirty="0">
                <a:solidFill>
                  <a:prstClr val="black"/>
                </a:solidFill>
                <a:latin typeface="Palatino Linotype"/>
                <a:cs typeface="Palatino Linotype"/>
              </a:rPr>
              <a:t> operator:</a:t>
            </a:r>
            <a:r>
              <a:rPr sz="2000" kern="1200" spc="-30" dirty="0">
                <a:solidFill>
                  <a:prstClr val="black"/>
                </a:solidFill>
                <a:latin typeface="Palatino Linotype"/>
                <a:cs typeface="Palatino Linotype"/>
              </a:rPr>
              <a:t> </a:t>
            </a:r>
            <a:r>
              <a:rPr sz="2000" kern="1200" dirty="0">
                <a:solidFill>
                  <a:prstClr val="black"/>
                </a:solidFill>
                <a:latin typeface="Cambria Math"/>
                <a:cs typeface="Cambria Math"/>
              </a:rPr>
              <a:t>𝑎</a:t>
            </a:r>
            <a:r>
              <a:rPr sz="2000" kern="1200" spc="5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 </a:t>
            </a:r>
            <a:r>
              <a:rPr sz="2000" kern="1200" dirty="0">
                <a:solidFill>
                  <a:prstClr val="black"/>
                </a:solidFill>
                <a:latin typeface="Cambria Math"/>
                <a:cs typeface="Cambria Math"/>
              </a:rPr>
              <a:t>𝑏</a:t>
            </a:r>
            <a:r>
              <a:rPr sz="2000" kern="1200" spc="3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5" dirty="0">
                <a:solidFill>
                  <a:prstClr val="black"/>
                </a:solidFill>
                <a:latin typeface="Cambria Math"/>
                <a:cs typeface="Cambria Math"/>
              </a:rPr>
              <a:t> </a:t>
            </a:r>
            <a:r>
              <a:rPr sz="2000" kern="1200" dirty="0">
                <a:solidFill>
                  <a:prstClr val="black"/>
                </a:solidFill>
                <a:latin typeface="Cambria Math"/>
                <a:cs typeface="Cambria Math"/>
              </a:rPr>
              <a:t>𝑐</a:t>
            </a:r>
          </a:p>
          <a:p>
            <a:pPr marL="697865" lvl="1" indent="-228600" rtl="0">
              <a:spcBef>
                <a:spcPts val="1050"/>
              </a:spcBef>
              <a:buFont typeface="Wingdings"/>
              <a:buChar char=""/>
              <a:tabLst>
                <a:tab pos="697865" algn="l"/>
                <a:tab pos="698500" algn="l"/>
              </a:tabLst>
            </a:pPr>
            <a:r>
              <a:rPr sz="1600" kern="1200" spc="-15" dirty="0">
                <a:solidFill>
                  <a:prstClr val="black"/>
                </a:solidFill>
                <a:latin typeface="Palatino Linotype"/>
                <a:cs typeface="Palatino Linotype"/>
              </a:rPr>
              <a:t>Translate</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into</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multiple</a:t>
            </a:r>
            <a:r>
              <a:rPr sz="1600" kern="1200" spc="15" dirty="0">
                <a:solidFill>
                  <a:prstClr val="black"/>
                </a:solidFill>
                <a:latin typeface="Palatino Linotype"/>
                <a:cs typeface="Palatino Linotype"/>
              </a:rPr>
              <a:t> </a:t>
            </a:r>
            <a:r>
              <a:rPr sz="1600" kern="1200" spc="-10" dirty="0">
                <a:solidFill>
                  <a:prstClr val="black"/>
                </a:solidFill>
                <a:latin typeface="Palatino Linotype"/>
                <a:cs typeface="Palatino Linotype"/>
              </a:rPr>
              <a:t>instructions</a:t>
            </a:r>
            <a:r>
              <a:rPr sz="1600" kern="1200" spc="40" dirty="0">
                <a:solidFill>
                  <a:prstClr val="black"/>
                </a:solidFill>
                <a:latin typeface="Palatino Linotype"/>
                <a:cs typeface="Palatino Linotype"/>
              </a:rPr>
              <a:t> </a:t>
            </a:r>
            <a:r>
              <a:rPr sz="1600" kern="1200" spc="-5" dirty="0">
                <a:solidFill>
                  <a:prstClr val="black"/>
                </a:solidFill>
                <a:latin typeface="Palatino Linotype"/>
                <a:cs typeface="Palatino Linotype"/>
              </a:rPr>
              <a:t>with</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at</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most</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one</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operator</a:t>
            </a:r>
            <a:r>
              <a:rPr sz="1600" kern="1200" spc="15" dirty="0">
                <a:solidFill>
                  <a:prstClr val="black"/>
                </a:solidFill>
                <a:latin typeface="Palatino Linotype"/>
                <a:cs typeface="Palatino Linotype"/>
              </a:rPr>
              <a:t> </a:t>
            </a:r>
            <a:r>
              <a:rPr sz="1600" kern="1200" spc="-10" dirty="0">
                <a:solidFill>
                  <a:prstClr val="black"/>
                </a:solidFill>
                <a:latin typeface="Palatino Linotype"/>
                <a:cs typeface="Palatino Linotype"/>
              </a:rPr>
              <a:t>per</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instruction</a:t>
            </a:r>
            <a:endParaRPr sz="1600" kern="1200" dirty="0">
              <a:solidFill>
                <a:prstClr val="black"/>
              </a:solidFill>
              <a:latin typeface="Palatino Linotype"/>
              <a:cs typeface="Palatino Linotype"/>
            </a:endParaRPr>
          </a:p>
        </p:txBody>
      </p:sp>
      <p:sp>
        <p:nvSpPr>
          <p:cNvPr id="15" name="object 4">
            <a:extLst>
              <a:ext uri="{FF2B5EF4-FFF2-40B4-BE49-F238E27FC236}">
                <a16:creationId xmlns:a16="http://schemas.microsoft.com/office/drawing/2014/main" id="{35C88168-E2D2-35FB-63E2-06CD3941B00F}"/>
              </a:ext>
            </a:extLst>
          </p:cNvPr>
          <p:cNvSpPr txBox="1"/>
          <p:nvPr/>
        </p:nvSpPr>
        <p:spPr>
          <a:xfrm>
            <a:off x="707542" y="4321911"/>
            <a:ext cx="7323455" cy="756920"/>
          </a:xfrm>
          <a:prstGeom prst="rect">
            <a:avLst/>
          </a:prstGeom>
        </p:spPr>
        <p:txBody>
          <a:bodyPr vert="horz" wrap="square" lIns="0" tIns="12700" rIns="0" bIns="0" rtlCol="0">
            <a:spAutoFit/>
          </a:bodyPr>
          <a:lstStyle/>
          <a:p>
            <a:pPr marL="242570" marR="5080" indent="-230504" rtl="0">
              <a:lnSpc>
                <a:spcPct val="120000"/>
              </a:lnSpc>
              <a:spcBef>
                <a:spcPts val="100"/>
              </a:spcBef>
              <a:buFont typeface="Arial MT"/>
              <a:buChar char="•"/>
              <a:tabLst>
                <a:tab pos="242570" algn="l"/>
                <a:tab pos="243204" algn="l"/>
              </a:tabLst>
            </a:pPr>
            <a:r>
              <a:rPr sz="2000" kern="1200" dirty="0">
                <a:solidFill>
                  <a:prstClr val="black"/>
                </a:solidFill>
                <a:latin typeface="Palatino Linotype"/>
                <a:cs typeface="Palatino Linotype"/>
              </a:rPr>
              <a:t>An array </a:t>
            </a:r>
            <a:r>
              <a:rPr sz="2000" kern="1200" spc="-5" dirty="0">
                <a:solidFill>
                  <a:prstClr val="black"/>
                </a:solidFill>
                <a:latin typeface="Palatino Linotype"/>
                <a:cs typeface="Palatino Linotype"/>
              </a:rPr>
              <a:t>reference </a:t>
            </a:r>
            <a:r>
              <a:rPr sz="2000" kern="1200" spc="15" dirty="0">
                <a:solidFill>
                  <a:prstClr val="black"/>
                </a:solidFill>
                <a:latin typeface="Cambria Math"/>
                <a:cs typeface="Cambria Math"/>
              </a:rPr>
              <a:t>𝐴[𝑖][𝑗] </a:t>
            </a:r>
            <a:r>
              <a:rPr sz="2000" kern="1200" dirty="0">
                <a:solidFill>
                  <a:prstClr val="black"/>
                </a:solidFill>
                <a:latin typeface="Palatino Linotype"/>
                <a:cs typeface="Palatino Linotype"/>
              </a:rPr>
              <a:t>will expand </a:t>
            </a:r>
            <a:r>
              <a:rPr sz="2000" kern="1200" spc="-5" dirty="0">
                <a:solidFill>
                  <a:prstClr val="black"/>
                </a:solidFill>
                <a:latin typeface="Palatino Linotype"/>
                <a:cs typeface="Palatino Linotype"/>
              </a:rPr>
              <a:t>into </a:t>
            </a:r>
            <a:r>
              <a:rPr sz="2000" kern="1200" dirty="0">
                <a:solidFill>
                  <a:prstClr val="black"/>
                </a:solidFill>
                <a:latin typeface="Palatino Linotype"/>
                <a:cs typeface="Palatino Linotype"/>
              </a:rPr>
              <a:t>a sequence of </a:t>
            </a:r>
            <a:r>
              <a:rPr sz="2000" kern="1200" spc="-10" dirty="0">
                <a:solidFill>
                  <a:prstClr val="black"/>
                </a:solidFill>
                <a:latin typeface="Palatino Linotype"/>
                <a:cs typeface="Palatino Linotype"/>
              </a:rPr>
              <a:t>three- </a:t>
            </a:r>
            <a:r>
              <a:rPr sz="2000" kern="1200" spc="-484" dirty="0">
                <a:solidFill>
                  <a:prstClr val="black"/>
                </a:solidFill>
                <a:latin typeface="Palatino Linotype"/>
                <a:cs typeface="Palatino Linotype"/>
              </a:rPr>
              <a:t> </a:t>
            </a:r>
            <a:r>
              <a:rPr sz="2000" kern="1200" dirty="0">
                <a:solidFill>
                  <a:prstClr val="black"/>
                </a:solidFill>
                <a:latin typeface="Palatino Linotype"/>
                <a:cs typeface="Palatino Linotype"/>
              </a:rPr>
              <a:t>address</a:t>
            </a:r>
            <a:r>
              <a:rPr sz="2000" kern="1200" spc="-5" dirty="0">
                <a:solidFill>
                  <a:prstClr val="black"/>
                </a:solidFill>
                <a:latin typeface="Palatino Linotype"/>
                <a:cs typeface="Palatino Linotype"/>
              </a:rPr>
              <a:t> instructions</a:t>
            </a:r>
            <a:r>
              <a:rPr sz="2000" kern="1200" spc="-30" dirty="0">
                <a:solidFill>
                  <a:prstClr val="black"/>
                </a:solidFill>
                <a:latin typeface="Palatino Linotype"/>
                <a:cs typeface="Palatino Linotype"/>
              </a:rPr>
              <a:t> </a:t>
            </a:r>
            <a:r>
              <a:rPr sz="2000" kern="1200" spc="-5" dirty="0">
                <a:solidFill>
                  <a:prstClr val="black"/>
                </a:solidFill>
                <a:latin typeface="Palatino Linotype"/>
                <a:cs typeface="Palatino Linotype"/>
              </a:rPr>
              <a:t>that </a:t>
            </a:r>
            <a:r>
              <a:rPr sz="2000" kern="1200" dirty="0">
                <a:solidFill>
                  <a:prstClr val="black"/>
                </a:solidFill>
                <a:latin typeface="Palatino Linotype"/>
                <a:cs typeface="Palatino Linotype"/>
              </a:rPr>
              <a:t>calculate</a:t>
            </a:r>
            <a:r>
              <a:rPr sz="2000" kern="1200" spc="-20" dirty="0">
                <a:solidFill>
                  <a:prstClr val="black"/>
                </a:solidFill>
                <a:latin typeface="Palatino Linotype"/>
                <a:cs typeface="Palatino Linotype"/>
              </a:rPr>
              <a:t> </a:t>
            </a:r>
            <a:r>
              <a:rPr sz="2000" kern="1200" dirty="0">
                <a:solidFill>
                  <a:prstClr val="black"/>
                </a:solidFill>
                <a:latin typeface="Palatino Linotype"/>
                <a:cs typeface="Palatino Linotype"/>
              </a:rPr>
              <a:t>an</a:t>
            </a:r>
            <a:r>
              <a:rPr sz="2000" kern="1200" spc="10" dirty="0">
                <a:solidFill>
                  <a:prstClr val="black"/>
                </a:solidFill>
                <a:latin typeface="Palatino Linotype"/>
                <a:cs typeface="Palatino Linotype"/>
              </a:rPr>
              <a:t> </a:t>
            </a:r>
            <a:r>
              <a:rPr sz="2000" kern="1200" dirty="0">
                <a:solidFill>
                  <a:srgbClr val="FF0000"/>
                </a:solidFill>
                <a:latin typeface="Palatino Linotype"/>
                <a:cs typeface="Palatino Linotype"/>
              </a:rPr>
              <a:t>address </a:t>
            </a:r>
            <a:r>
              <a:rPr sz="2000" kern="1200" dirty="0">
                <a:solidFill>
                  <a:prstClr val="black"/>
                </a:solidFill>
                <a:latin typeface="Palatino Linotype"/>
                <a:cs typeface="Palatino Linotype"/>
              </a:rPr>
              <a:t>for</a:t>
            </a:r>
            <a:r>
              <a:rPr sz="2000" kern="1200" spc="-2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reference</a:t>
            </a:r>
          </a:p>
        </p:txBody>
      </p:sp>
      <p:sp>
        <p:nvSpPr>
          <p:cNvPr id="16" name="object 5">
            <a:extLst>
              <a:ext uri="{FF2B5EF4-FFF2-40B4-BE49-F238E27FC236}">
                <a16:creationId xmlns:a16="http://schemas.microsoft.com/office/drawing/2014/main" id="{A4A16CD3-1612-C463-A8FB-AD84A7181110}"/>
              </a:ext>
            </a:extLst>
          </p:cNvPr>
          <p:cNvSpPr txBox="1"/>
          <p:nvPr/>
        </p:nvSpPr>
        <p:spPr>
          <a:xfrm>
            <a:off x="1864867" y="3264534"/>
            <a:ext cx="877569"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ambria Math"/>
                <a:cs typeface="Cambria Math"/>
              </a:rPr>
              <a:t>𝑎</a:t>
            </a:r>
            <a:r>
              <a:rPr kern="1200" spc="25" dirty="0">
                <a:solidFill>
                  <a:prstClr val="black"/>
                </a:solidFill>
                <a:latin typeface="Cambria Math"/>
                <a:cs typeface="Cambria Math"/>
              </a:rPr>
              <a:t> </a:t>
            </a:r>
            <a:r>
              <a:rPr kern="1200" dirty="0">
                <a:solidFill>
                  <a:prstClr val="black"/>
                </a:solidFill>
                <a:latin typeface="Cambria Math"/>
                <a:cs typeface="Cambria Math"/>
              </a:rPr>
              <a:t>+</a:t>
            </a:r>
            <a:r>
              <a:rPr kern="1200" spc="-30" dirty="0">
                <a:solidFill>
                  <a:prstClr val="black"/>
                </a:solidFill>
                <a:latin typeface="Cambria Math"/>
                <a:cs typeface="Cambria Math"/>
              </a:rPr>
              <a:t> </a:t>
            </a:r>
            <a:r>
              <a:rPr kern="1200" dirty="0">
                <a:solidFill>
                  <a:prstClr val="black"/>
                </a:solidFill>
                <a:latin typeface="Cambria Math"/>
                <a:cs typeface="Cambria Math"/>
              </a:rPr>
              <a:t>𝑏</a:t>
            </a:r>
            <a:r>
              <a:rPr kern="1200" spc="20" dirty="0">
                <a:solidFill>
                  <a:prstClr val="black"/>
                </a:solidFill>
                <a:latin typeface="Cambria Math"/>
                <a:cs typeface="Cambria Math"/>
              </a:rPr>
              <a:t> </a:t>
            </a:r>
            <a:r>
              <a:rPr kern="1200" dirty="0">
                <a:solidFill>
                  <a:prstClr val="black"/>
                </a:solidFill>
                <a:latin typeface="Cambria Math"/>
                <a:cs typeface="Cambria Math"/>
              </a:rPr>
              <a:t>∗</a:t>
            </a:r>
            <a:r>
              <a:rPr kern="1200" spc="-15" dirty="0">
                <a:solidFill>
                  <a:prstClr val="black"/>
                </a:solidFill>
                <a:latin typeface="Cambria Math"/>
                <a:cs typeface="Cambria Math"/>
              </a:rPr>
              <a:t> </a:t>
            </a:r>
            <a:r>
              <a:rPr kern="1200" dirty="0">
                <a:solidFill>
                  <a:prstClr val="black"/>
                </a:solidFill>
                <a:latin typeface="Cambria Math"/>
                <a:cs typeface="Cambria Math"/>
              </a:rPr>
              <a:t>𝑐</a:t>
            </a:r>
            <a:endParaRPr kern="1200">
              <a:solidFill>
                <a:prstClr val="black"/>
              </a:solidFill>
              <a:latin typeface="Cambria Math"/>
              <a:cs typeface="Cambria Math"/>
            </a:endParaRPr>
          </a:p>
        </p:txBody>
      </p:sp>
      <p:grpSp>
        <p:nvGrpSpPr>
          <p:cNvPr id="17" name="object 6">
            <a:extLst>
              <a:ext uri="{FF2B5EF4-FFF2-40B4-BE49-F238E27FC236}">
                <a16:creationId xmlns:a16="http://schemas.microsoft.com/office/drawing/2014/main" id="{73BA66B7-04C8-6CF9-7DAA-567AB3D76922}"/>
              </a:ext>
            </a:extLst>
          </p:cNvPr>
          <p:cNvGrpSpPr/>
          <p:nvPr/>
        </p:nvGrpSpPr>
        <p:grpSpPr>
          <a:xfrm>
            <a:off x="3408934" y="3282441"/>
            <a:ext cx="549275" cy="293370"/>
            <a:chOff x="3408934" y="3282441"/>
            <a:chExt cx="549275" cy="293370"/>
          </a:xfrm>
        </p:grpSpPr>
        <p:sp>
          <p:nvSpPr>
            <p:cNvPr id="18" name="object 7">
              <a:extLst>
                <a:ext uri="{FF2B5EF4-FFF2-40B4-BE49-F238E27FC236}">
                  <a16:creationId xmlns:a16="http://schemas.microsoft.com/office/drawing/2014/main" id="{BC90CCBF-E5C4-C9E8-F771-2BC2D4BE24B6}"/>
                </a:ext>
              </a:extLst>
            </p:cNvPr>
            <p:cNvSpPr/>
            <p:nvPr/>
          </p:nvSpPr>
          <p:spPr>
            <a:xfrm>
              <a:off x="3415284" y="3288791"/>
              <a:ext cx="536575" cy="280670"/>
            </a:xfrm>
            <a:custGeom>
              <a:avLst/>
              <a:gdLst/>
              <a:ahLst/>
              <a:cxnLst/>
              <a:rect l="l" t="t" r="r" b="b"/>
              <a:pathLst>
                <a:path w="536575" h="280670">
                  <a:moveTo>
                    <a:pt x="396239" y="0"/>
                  </a:moveTo>
                  <a:lnTo>
                    <a:pt x="396239" y="70104"/>
                  </a:lnTo>
                  <a:lnTo>
                    <a:pt x="0" y="70104"/>
                  </a:lnTo>
                  <a:lnTo>
                    <a:pt x="0" y="210312"/>
                  </a:lnTo>
                  <a:lnTo>
                    <a:pt x="396239" y="210312"/>
                  </a:lnTo>
                  <a:lnTo>
                    <a:pt x="396239" y="280416"/>
                  </a:lnTo>
                  <a:lnTo>
                    <a:pt x="536448" y="140208"/>
                  </a:lnTo>
                  <a:lnTo>
                    <a:pt x="396239" y="0"/>
                  </a:lnTo>
                  <a:close/>
                </a:path>
              </a:pathLst>
            </a:custGeom>
            <a:solidFill>
              <a:srgbClr val="4471C4"/>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9" name="object 8">
              <a:extLst>
                <a:ext uri="{FF2B5EF4-FFF2-40B4-BE49-F238E27FC236}">
                  <a16:creationId xmlns:a16="http://schemas.microsoft.com/office/drawing/2014/main" id="{534981F8-26B6-5EFF-E894-8A5C5E761D54}"/>
                </a:ext>
              </a:extLst>
            </p:cNvPr>
            <p:cNvSpPr/>
            <p:nvPr/>
          </p:nvSpPr>
          <p:spPr>
            <a:xfrm>
              <a:off x="3415284" y="3288791"/>
              <a:ext cx="536575" cy="280670"/>
            </a:xfrm>
            <a:custGeom>
              <a:avLst/>
              <a:gdLst/>
              <a:ahLst/>
              <a:cxnLst/>
              <a:rect l="l" t="t" r="r" b="b"/>
              <a:pathLst>
                <a:path w="536575" h="280670">
                  <a:moveTo>
                    <a:pt x="0" y="70104"/>
                  </a:moveTo>
                  <a:lnTo>
                    <a:pt x="396239" y="70104"/>
                  </a:lnTo>
                  <a:lnTo>
                    <a:pt x="396239" y="0"/>
                  </a:lnTo>
                  <a:lnTo>
                    <a:pt x="536448" y="140208"/>
                  </a:lnTo>
                  <a:lnTo>
                    <a:pt x="396239" y="280416"/>
                  </a:lnTo>
                  <a:lnTo>
                    <a:pt x="396239" y="210312"/>
                  </a:lnTo>
                  <a:lnTo>
                    <a:pt x="0" y="210312"/>
                  </a:lnTo>
                  <a:lnTo>
                    <a:pt x="0" y="70104"/>
                  </a:lnTo>
                  <a:close/>
                </a:path>
              </a:pathLst>
            </a:custGeom>
            <a:ln w="12700">
              <a:solidFill>
                <a:srgbClr val="2E528F"/>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0" name="object 9">
            <a:extLst>
              <a:ext uri="{FF2B5EF4-FFF2-40B4-BE49-F238E27FC236}">
                <a16:creationId xmlns:a16="http://schemas.microsoft.com/office/drawing/2014/main" id="{B1BD08D0-3259-1493-21D6-2ABD2708EEB7}"/>
              </a:ext>
            </a:extLst>
          </p:cNvPr>
          <p:cNvSpPr txBox="1"/>
          <p:nvPr/>
        </p:nvSpPr>
        <p:spPr>
          <a:xfrm>
            <a:off x="4561332" y="3125546"/>
            <a:ext cx="1153160" cy="574675"/>
          </a:xfrm>
          <a:prstGeom prst="rect">
            <a:avLst/>
          </a:prstGeom>
        </p:spPr>
        <p:txBody>
          <a:bodyPr vert="horz" wrap="square" lIns="0" tIns="12700" rIns="0" bIns="0" rtlCol="0">
            <a:spAutoFit/>
          </a:bodyPr>
          <a:lstStyle/>
          <a:p>
            <a:pPr marL="111125" rtl="0">
              <a:spcBef>
                <a:spcPts val="100"/>
              </a:spcBef>
            </a:pPr>
            <a:r>
              <a:rPr kern="1200" spc="-10" dirty="0">
                <a:solidFill>
                  <a:prstClr val="black"/>
                </a:solidFill>
                <a:latin typeface="Cambria Math"/>
                <a:cs typeface="Cambria Math"/>
              </a:rPr>
              <a:t>𝑡</a:t>
            </a:r>
            <a:r>
              <a:rPr sz="1950" kern="1200" spc="-15" baseline="-14957" dirty="0">
                <a:solidFill>
                  <a:prstClr val="black"/>
                </a:solidFill>
                <a:latin typeface="Cambria Math"/>
                <a:cs typeface="Cambria Math"/>
              </a:rPr>
              <a:t>1</a:t>
            </a:r>
            <a:r>
              <a:rPr sz="1950" kern="1200" spc="382" baseline="-14957" dirty="0">
                <a:solidFill>
                  <a:prstClr val="black"/>
                </a:solidFill>
                <a:latin typeface="Cambria Math"/>
                <a:cs typeface="Cambria Math"/>
              </a:rPr>
              <a:t> </a:t>
            </a:r>
            <a:r>
              <a:rPr kern="1200" dirty="0">
                <a:solidFill>
                  <a:prstClr val="black"/>
                </a:solidFill>
                <a:latin typeface="Cambria Math"/>
                <a:cs typeface="Cambria Math"/>
              </a:rPr>
              <a:t>=</a:t>
            </a:r>
            <a:r>
              <a:rPr kern="1200" spc="85" dirty="0">
                <a:solidFill>
                  <a:prstClr val="black"/>
                </a:solidFill>
                <a:latin typeface="Cambria Math"/>
                <a:cs typeface="Cambria Math"/>
              </a:rPr>
              <a:t> </a:t>
            </a:r>
            <a:r>
              <a:rPr kern="1200" dirty="0">
                <a:solidFill>
                  <a:prstClr val="black"/>
                </a:solidFill>
                <a:latin typeface="Cambria Math"/>
                <a:cs typeface="Cambria Math"/>
              </a:rPr>
              <a:t>𝑏</a:t>
            </a:r>
            <a:r>
              <a:rPr kern="1200" spc="30" dirty="0">
                <a:solidFill>
                  <a:prstClr val="black"/>
                </a:solidFill>
                <a:latin typeface="Cambria Math"/>
                <a:cs typeface="Cambria Math"/>
              </a:rPr>
              <a:t> </a:t>
            </a:r>
            <a:r>
              <a:rPr kern="1200" dirty="0">
                <a:solidFill>
                  <a:prstClr val="black"/>
                </a:solidFill>
                <a:latin typeface="Cambria Math"/>
                <a:cs typeface="Cambria Math"/>
              </a:rPr>
              <a:t>∗ 𝑐</a:t>
            </a:r>
            <a:endParaRPr kern="1200">
              <a:solidFill>
                <a:prstClr val="black"/>
              </a:solidFill>
              <a:latin typeface="Cambria Math"/>
              <a:cs typeface="Cambria Math"/>
            </a:endParaRPr>
          </a:p>
          <a:p>
            <a:pPr marL="38100" rtl="0">
              <a:spcBef>
                <a:spcPts val="5"/>
              </a:spcBef>
            </a:pPr>
            <a:r>
              <a:rPr kern="1200" spc="5" dirty="0">
                <a:solidFill>
                  <a:prstClr val="black"/>
                </a:solidFill>
                <a:latin typeface="Cambria Math"/>
                <a:cs typeface="Cambria Math"/>
              </a:rPr>
              <a:t>𝑡</a:t>
            </a:r>
            <a:r>
              <a:rPr sz="1950" kern="1200" spc="7" baseline="-14957" dirty="0">
                <a:solidFill>
                  <a:prstClr val="black"/>
                </a:solidFill>
                <a:latin typeface="Cambria Math"/>
                <a:cs typeface="Cambria Math"/>
              </a:rPr>
              <a:t>2</a:t>
            </a:r>
            <a:r>
              <a:rPr sz="1950" kern="1200" spc="397" baseline="-14957" dirty="0">
                <a:solidFill>
                  <a:prstClr val="black"/>
                </a:solidFill>
                <a:latin typeface="Cambria Math"/>
                <a:cs typeface="Cambria Math"/>
              </a:rPr>
              <a:t> </a:t>
            </a:r>
            <a:r>
              <a:rPr kern="1200" dirty="0">
                <a:solidFill>
                  <a:prstClr val="black"/>
                </a:solidFill>
                <a:latin typeface="Cambria Math"/>
                <a:cs typeface="Cambria Math"/>
              </a:rPr>
              <a:t>=</a:t>
            </a:r>
            <a:r>
              <a:rPr kern="1200" spc="85" dirty="0">
                <a:solidFill>
                  <a:prstClr val="black"/>
                </a:solidFill>
                <a:latin typeface="Cambria Math"/>
                <a:cs typeface="Cambria Math"/>
              </a:rPr>
              <a:t> </a:t>
            </a:r>
            <a:r>
              <a:rPr kern="1200" dirty="0">
                <a:solidFill>
                  <a:prstClr val="black"/>
                </a:solidFill>
                <a:latin typeface="Cambria Math"/>
                <a:cs typeface="Cambria Math"/>
              </a:rPr>
              <a:t>𝑎</a:t>
            </a:r>
            <a:r>
              <a:rPr kern="1200" spc="35" dirty="0">
                <a:solidFill>
                  <a:prstClr val="black"/>
                </a:solidFill>
                <a:latin typeface="Cambria Math"/>
                <a:cs typeface="Cambria Math"/>
              </a:rPr>
              <a:t> </a:t>
            </a:r>
            <a:r>
              <a:rPr kern="1200" dirty="0">
                <a:solidFill>
                  <a:prstClr val="black"/>
                </a:solidFill>
                <a:latin typeface="Cambria Math"/>
                <a:cs typeface="Cambria Math"/>
              </a:rPr>
              <a:t>+</a:t>
            </a:r>
            <a:r>
              <a:rPr kern="1200" spc="-20" dirty="0">
                <a:solidFill>
                  <a:prstClr val="black"/>
                </a:solidFill>
                <a:latin typeface="Cambria Math"/>
                <a:cs typeface="Cambria Math"/>
              </a:rPr>
              <a:t> </a:t>
            </a:r>
            <a:r>
              <a:rPr kern="1200" spc="-15" dirty="0">
                <a:solidFill>
                  <a:prstClr val="black"/>
                </a:solidFill>
                <a:latin typeface="Cambria Math"/>
                <a:cs typeface="Cambria Math"/>
              </a:rPr>
              <a:t>𝑡</a:t>
            </a:r>
            <a:r>
              <a:rPr sz="1950" kern="1200" spc="-22" baseline="-14957" dirty="0">
                <a:solidFill>
                  <a:prstClr val="black"/>
                </a:solidFill>
                <a:latin typeface="Cambria Math"/>
                <a:cs typeface="Cambria Math"/>
              </a:rPr>
              <a:t>1</a:t>
            </a:r>
            <a:endParaRPr sz="1950" kern="1200" baseline="-14957">
              <a:solidFill>
                <a:prstClr val="black"/>
              </a:solidFill>
              <a:latin typeface="Cambria Math"/>
              <a:cs typeface="Cambria Math"/>
            </a:endParaRPr>
          </a:p>
        </p:txBody>
      </p:sp>
    </p:spTree>
    <p:extLst>
      <p:ext uri="{BB962C8B-B14F-4D97-AF65-F5344CB8AC3E}">
        <p14:creationId xmlns:p14="http://schemas.microsoft.com/office/powerpoint/2010/main" val="25590019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53</a:t>
            </a:fld>
            <a:endParaRPr lang="en-US"/>
          </a:p>
        </p:txBody>
      </p:sp>
      <p:sp>
        <p:nvSpPr>
          <p:cNvPr id="9" name="object 2">
            <a:extLst>
              <a:ext uri="{FF2B5EF4-FFF2-40B4-BE49-F238E27FC236}">
                <a16:creationId xmlns:a16="http://schemas.microsoft.com/office/drawing/2014/main" id="{28316D8B-4CE9-C182-71D2-0B354DEEFF1E}"/>
              </a:ext>
            </a:extLst>
          </p:cNvPr>
          <p:cNvSpPr txBox="1">
            <a:spLocks/>
          </p:cNvSpPr>
          <p:nvPr/>
        </p:nvSpPr>
        <p:spPr>
          <a:xfrm>
            <a:off x="707542" y="520141"/>
            <a:ext cx="559562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SDD</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for Expressions</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(1)</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pic>
        <p:nvPicPr>
          <p:cNvPr id="10" name="object 3">
            <a:extLst>
              <a:ext uri="{FF2B5EF4-FFF2-40B4-BE49-F238E27FC236}">
                <a16:creationId xmlns:a16="http://schemas.microsoft.com/office/drawing/2014/main" id="{86B578F4-B140-E5D7-AA49-23E3EC411A37}"/>
              </a:ext>
            </a:extLst>
          </p:cNvPr>
          <p:cNvPicPr/>
          <p:nvPr/>
        </p:nvPicPr>
        <p:blipFill>
          <a:blip r:embed="rId3" cstate="print"/>
          <a:stretch>
            <a:fillRect/>
          </a:stretch>
        </p:blipFill>
        <p:spPr>
          <a:xfrm>
            <a:off x="728472" y="1737360"/>
            <a:ext cx="4561332" cy="3331380"/>
          </a:xfrm>
          <a:prstGeom prst="rect">
            <a:avLst/>
          </a:prstGeom>
        </p:spPr>
      </p:pic>
      <p:sp>
        <p:nvSpPr>
          <p:cNvPr id="11" name="object 4">
            <a:extLst>
              <a:ext uri="{FF2B5EF4-FFF2-40B4-BE49-F238E27FC236}">
                <a16:creationId xmlns:a16="http://schemas.microsoft.com/office/drawing/2014/main" id="{D1947926-A170-FC58-9C0D-6D86E17D304B}"/>
              </a:ext>
            </a:extLst>
          </p:cNvPr>
          <p:cNvSpPr txBox="1"/>
          <p:nvPr/>
        </p:nvSpPr>
        <p:spPr>
          <a:xfrm>
            <a:off x="5614542" y="1646301"/>
            <a:ext cx="2878455" cy="3437254"/>
          </a:xfrm>
          <a:prstGeom prst="rect">
            <a:avLst/>
          </a:prstGeom>
        </p:spPr>
        <p:txBody>
          <a:bodyPr vert="horz" wrap="square" lIns="0" tIns="22860" rIns="0" bIns="0" rtlCol="0">
            <a:spAutoFit/>
          </a:bodyPr>
          <a:lstStyle/>
          <a:p>
            <a:pPr marL="12700" marR="204470" rtl="0">
              <a:lnSpc>
                <a:spcPts val="2150"/>
              </a:lnSpc>
              <a:spcBef>
                <a:spcPts val="180"/>
              </a:spcBef>
            </a:pPr>
            <a:r>
              <a:rPr kern="1200" spc="30" dirty="0">
                <a:solidFill>
                  <a:srgbClr val="FF0000"/>
                </a:solidFill>
                <a:latin typeface="Cambria Math"/>
                <a:cs typeface="Cambria Math"/>
              </a:rPr>
              <a:t>𝑆</a:t>
            </a:r>
            <a:r>
              <a:rPr kern="1200" dirty="0">
                <a:solidFill>
                  <a:srgbClr val="FF0000"/>
                </a:solidFill>
                <a:latin typeface="Cambria Math"/>
                <a:cs typeface="Cambria Math"/>
              </a:rPr>
              <a:t>.</a:t>
            </a:r>
            <a:r>
              <a:rPr kern="1200" spc="-95" dirty="0">
                <a:solidFill>
                  <a:srgbClr val="FF0000"/>
                </a:solidFill>
                <a:latin typeface="Cambria Math"/>
                <a:cs typeface="Cambria Math"/>
              </a:rPr>
              <a:t> </a:t>
            </a:r>
            <a:r>
              <a:rPr kern="1200" dirty="0">
                <a:solidFill>
                  <a:srgbClr val="FF0000"/>
                </a:solidFill>
                <a:latin typeface="Cambria Math"/>
                <a:cs typeface="Cambria Math"/>
              </a:rPr>
              <a:t>𝑐𝑜𝑑𝑒</a:t>
            </a:r>
            <a:r>
              <a:rPr kern="1200" spc="80" dirty="0">
                <a:solidFill>
                  <a:srgbClr val="FF0000"/>
                </a:solidFill>
                <a:latin typeface="Cambria Math"/>
                <a:cs typeface="Cambria Math"/>
              </a:rPr>
              <a:t> </a:t>
            </a:r>
            <a:r>
              <a:rPr kern="1200" dirty="0">
                <a:solidFill>
                  <a:prstClr val="black"/>
                </a:solidFill>
                <a:latin typeface="Palatino Linotype"/>
                <a:cs typeface="Palatino Linotype"/>
              </a:rPr>
              <a:t>and</a:t>
            </a:r>
            <a:r>
              <a:rPr kern="1200" spc="5" dirty="0">
                <a:solidFill>
                  <a:prstClr val="black"/>
                </a:solidFill>
                <a:latin typeface="Palatino Linotype"/>
                <a:cs typeface="Palatino Linotype"/>
              </a:rPr>
              <a:t> </a:t>
            </a:r>
            <a:r>
              <a:rPr kern="1200" spc="75" dirty="0">
                <a:solidFill>
                  <a:srgbClr val="FF0000"/>
                </a:solidFill>
                <a:latin typeface="Cambria Math"/>
                <a:cs typeface="Cambria Math"/>
              </a:rPr>
              <a:t>𝐸</a:t>
            </a:r>
            <a:r>
              <a:rPr kern="1200" dirty="0">
                <a:solidFill>
                  <a:srgbClr val="FF0000"/>
                </a:solidFill>
                <a:latin typeface="Cambria Math"/>
                <a:cs typeface="Cambria Math"/>
              </a:rPr>
              <a:t>.</a:t>
            </a:r>
            <a:r>
              <a:rPr kern="1200" spc="-95" dirty="0">
                <a:solidFill>
                  <a:srgbClr val="FF0000"/>
                </a:solidFill>
                <a:latin typeface="Cambria Math"/>
                <a:cs typeface="Cambria Math"/>
              </a:rPr>
              <a:t> </a:t>
            </a:r>
            <a:r>
              <a:rPr kern="1200" dirty="0">
                <a:solidFill>
                  <a:srgbClr val="FF0000"/>
                </a:solidFill>
                <a:latin typeface="Cambria Math"/>
                <a:cs typeface="Cambria Math"/>
              </a:rPr>
              <a:t>𝑐𝑜𝑑𝑒</a:t>
            </a:r>
            <a:r>
              <a:rPr kern="1200" spc="90" dirty="0">
                <a:solidFill>
                  <a:srgbClr val="FF0000"/>
                </a:solidFill>
                <a:latin typeface="Cambria Math"/>
                <a:cs typeface="Cambria Math"/>
              </a:rPr>
              <a:t> </a:t>
            </a:r>
            <a:r>
              <a:rPr kern="1200" dirty="0">
                <a:solidFill>
                  <a:prstClr val="black"/>
                </a:solidFill>
                <a:latin typeface="Palatino Linotype"/>
                <a:cs typeface="Palatino Linotype"/>
              </a:rPr>
              <a:t>de</a:t>
            </a:r>
            <a:r>
              <a:rPr kern="1200" spc="-5" dirty="0">
                <a:solidFill>
                  <a:prstClr val="black"/>
                </a:solidFill>
                <a:latin typeface="Palatino Linotype"/>
                <a:cs typeface="Palatino Linotype"/>
              </a:rPr>
              <a:t>note  three-address </a:t>
            </a:r>
            <a:r>
              <a:rPr kern="1200" dirty="0">
                <a:solidFill>
                  <a:prstClr val="black"/>
                </a:solidFill>
                <a:latin typeface="Palatino Linotype"/>
                <a:cs typeface="Palatino Linotype"/>
              </a:rPr>
              <a:t>code</a:t>
            </a:r>
          </a:p>
          <a:p>
            <a:pPr rtl="0">
              <a:spcBef>
                <a:spcPts val="60"/>
              </a:spcBef>
            </a:pPr>
            <a:endParaRPr sz="1750" kern="1200" dirty="0">
              <a:solidFill>
                <a:prstClr val="black"/>
              </a:solidFill>
              <a:latin typeface="Palatino Linotype"/>
              <a:cs typeface="Palatino Linotype"/>
            </a:endParaRPr>
          </a:p>
          <a:p>
            <a:pPr marL="12700" rtl="0"/>
            <a:r>
              <a:rPr kern="1200" spc="75" dirty="0">
                <a:solidFill>
                  <a:srgbClr val="FF0000"/>
                </a:solidFill>
                <a:latin typeface="Cambria Math"/>
                <a:cs typeface="Cambria Math"/>
              </a:rPr>
              <a:t>𝐸</a:t>
            </a:r>
            <a:r>
              <a:rPr kern="1200" dirty="0">
                <a:solidFill>
                  <a:srgbClr val="FF0000"/>
                </a:solidFill>
                <a:latin typeface="Cambria Math"/>
                <a:cs typeface="Cambria Math"/>
              </a:rPr>
              <a:t>.</a:t>
            </a:r>
            <a:r>
              <a:rPr kern="1200" spc="-95" dirty="0">
                <a:solidFill>
                  <a:srgbClr val="FF0000"/>
                </a:solidFill>
                <a:latin typeface="Cambria Math"/>
                <a:cs typeface="Cambria Math"/>
              </a:rPr>
              <a:t> </a:t>
            </a:r>
            <a:r>
              <a:rPr kern="1200" dirty="0">
                <a:solidFill>
                  <a:srgbClr val="FF0000"/>
                </a:solidFill>
                <a:latin typeface="Cambria Math"/>
                <a:cs typeface="Cambria Math"/>
              </a:rPr>
              <a:t>𝑎𝑑</a:t>
            </a:r>
            <a:r>
              <a:rPr kern="1200" spc="-15" dirty="0">
                <a:solidFill>
                  <a:srgbClr val="FF0000"/>
                </a:solidFill>
                <a:latin typeface="Cambria Math"/>
                <a:cs typeface="Cambria Math"/>
              </a:rPr>
              <a:t>𝑑</a:t>
            </a:r>
            <a:r>
              <a:rPr kern="1200" dirty="0">
                <a:solidFill>
                  <a:srgbClr val="FF0000"/>
                </a:solidFill>
                <a:latin typeface="Cambria Math"/>
                <a:cs typeface="Cambria Math"/>
              </a:rPr>
              <a:t>𝑟</a:t>
            </a:r>
            <a:r>
              <a:rPr kern="1200" spc="70" dirty="0">
                <a:solidFill>
                  <a:srgbClr val="FF0000"/>
                </a:solidFill>
                <a:latin typeface="Cambria Math"/>
                <a:cs typeface="Cambria Math"/>
              </a:rPr>
              <a:t> </a:t>
            </a:r>
            <a:r>
              <a:rPr kern="1200" dirty="0">
                <a:solidFill>
                  <a:prstClr val="black"/>
                </a:solidFill>
                <a:latin typeface="Palatino Linotype"/>
                <a:cs typeface="Palatino Linotype"/>
              </a:rPr>
              <a:t>de</a:t>
            </a:r>
            <a:r>
              <a:rPr kern="1200" spc="-5" dirty="0">
                <a:solidFill>
                  <a:prstClr val="black"/>
                </a:solidFill>
                <a:latin typeface="Palatino Linotype"/>
                <a:cs typeface="Palatino Linotype"/>
              </a:rPr>
              <a:t>note</a:t>
            </a:r>
            <a:r>
              <a:rPr kern="1200" dirty="0">
                <a:solidFill>
                  <a:prstClr val="black"/>
                </a:solidFill>
                <a:latin typeface="Palatino Linotype"/>
                <a:cs typeface="Palatino Linotype"/>
              </a:rPr>
              <a:t>s</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th</a:t>
            </a:r>
            <a:r>
              <a:rPr kern="1200" dirty="0">
                <a:solidFill>
                  <a:prstClr val="black"/>
                </a:solidFill>
                <a:latin typeface="Palatino Linotype"/>
                <a:cs typeface="Palatino Linotype"/>
              </a:rPr>
              <a:t>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a:t>
            </a:r>
            <a:r>
              <a:rPr kern="1200" spc="5" dirty="0">
                <a:solidFill>
                  <a:prstClr val="black"/>
                </a:solidFill>
                <a:latin typeface="Palatino Linotype"/>
                <a:cs typeface="Palatino Linotype"/>
              </a:rPr>
              <a:t>d</a:t>
            </a:r>
            <a:r>
              <a:rPr kern="1200" dirty="0">
                <a:solidFill>
                  <a:prstClr val="black"/>
                </a:solidFill>
                <a:latin typeface="Palatino Linotype"/>
                <a:cs typeface="Palatino Linotype"/>
              </a:rPr>
              <a:t>dre</a:t>
            </a:r>
            <a:r>
              <a:rPr kern="1200" spc="5" dirty="0">
                <a:solidFill>
                  <a:prstClr val="black"/>
                </a:solidFill>
                <a:latin typeface="Palatino Linotype"/>
                <a:cs typeface="Palatino Linotype"/>
              </a:rPr>
              <a:t>s</a:t>
            </a:r>
            <a:r>
              <a:rPr kern="1200" dirty="0">
                <a:solidFill>
                  <a:prstClr val="black"/>
                </a:solidFill>
                <a:latin typeface="Palatino Linotype"/>
                <a:cs typeface="Palatino Linotype"/>
              </a:rPr>
              <a:t>s</a:t>
            </a:r>
          </a:p>
          <a:p>
            <a:pPr marL="12700" rtl="0"/>
            <a:r>
              <a:rPr kern="1200" spc="-5" dirty="0">
                <a:solidFill>
                  <a:prstClr val="black"/>
                </a:solidFill>
                <a:latin typeface="Palatino Linotype"/>
                <a:cs typeface="Palatino Linotype"/>
              </a:rPr>
              <a:t>that</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will</a:t>
            </a:r>
            <a:r>
              <a:rPr kern="1200" spc="-15" dirty="0">
                <a:solidFill>
                  <a:prstClr val="black"/>
                </a:solidFill>
                <a:latin typeface="Palatino Linotype"/>
                <a:cs typeface="Palatino Linotype"/>
              </a:rPr>
              <a:t> </a:t>
            </a:r>
            <a:r>
              <a:rPr kern="1200" spc="-5" dirty="0">
                <a:solidFill>
                  <a:prstClr val="black"/>
                </a:solidFill>
                <a:latin typeface="Palatino Linotype"/>
                <a:cs typeface="Palatino Linotype"/>
              </a:rPr>
              <a:t>hold</a:t>
            </a:r>
            <a:r>
              <a:rPr kern="1200" spc="-15" dirty="0">
                <a:solidFill>
                  <a:prstClr val="black"/>
                </a:solidFill>
                <a:latin typeface="Palatino Linotype"/>
                <a:cs typeface="Palatino Linotype"/>
              </a:rPr>
              <a:t> </a:t>
            </a:r>
            <a:r>
              <a:rPr kern="1200" spc="-5" dirty="0">
                <a:solidFill>
                  <a:prstClr val="black"/>
                </a:solidFill>
                <a:latin typeface="Palatino Linotype"/>
                <a:cs typeface="Palatino Linotype"/>
              </a:rPr>
              <a:t>the</a:t>
            </a:r>
            <a:r>
              <a:rPr kern="1200" spc="-10" dirty="0">
                <a:solidFill>
                  <a:prstClr val="black"/>
                </a:solidFill>
                <a:latin typeface="Palatino Linotype"/>
                <a:cs typeface="Palatino Linotype"/>
              </a:rPr>
              <a:t> value</a:t>
            </a:r>
            <a:r>
              <a:rPr kern="1200" spc="-25" dirty="0">
                <a:solidFill>
                  <a:prstClr val="black"/>
                </a:solidFill>
                <a:latin typeface="Palatino Linotype"/>
                <a:cs typeface="Palatino Linotype"/>
              </a:rPr>
              <a:t> </a:t>
            </a:r>
            <a:r>
              <a:rPr kern="1200" dirty="0">
                <a:solidFill>
                  <a:prstClr val="black"/>
                </a:solidFill>
                <a:latin typeface="Palatino Linotype"/>
                <a:cs typeface="Palatino Linotype"/>
              </a:rPr>
              <a:t>of</a:t>
            </a:r>
            <a:r>
              <a:rPr kern="1200" spc="5" dirty="0">
                <a:solidFill>
                  <a:prstClr val="black"/>
                </a:solidFill>
                <a:latin typeface="Palatino Linotype"/>
                <a:cs typeface="Palatino Linotype"/>
              </a:rPr>
              <a:t> </a:t>
            </a:r>
            <a:r>
              <a:rPr kern="1200" dirty="0">
                <a:solidFill>
                  <a:prstClr val="black"/>
                </a:solidFill>
                <a:latin typeface="Cambria Math"/>
                <a:cs typeface="Cambria Math"/>
              </a:rPr>
              <a:t>𝐸</a:t>
            </a:r>
          </a:p>
          <a:p>
            <a:pPr rtl="0"/>
            <a:endParaRPr sz="2100" kern="1200" dirty="0">
              <a:solidFill>
                <a:prstClr val="black"/>
              </a:solidFill>
              <a:latin typeface="Cambria Math"/>
              <a:cs typeface="Cambria Math"/>
            </a:endParaRPr>
          </a:p>
          <a:p>
            <a:pPr marL="12700" marR="5080" rtl="0">
              <a:spcBef>
                <a:spcPts val="5"/>
              </a:spcBef>
            </a:pPr>
            <a:r>
              <a:rPr kern="1200" dirty="0">
                <a:solidFill>
                  <a:srgbClr val="FF0000"/>
                </a:solidFill>
                <a:latin typeface="Cambria Math"/>
                <a:cs typeface="Cambria Math"/>
              </a:rPr>
              <a:t>𝑡𝑜𝑝</a:t>
            </a:r>
            <a:r>
              <a:rPr kern="1200" spc="60" dirty="0">
                <a:solidFill>
                  <a:srgbClr val="FF0000"/>
                </a:solidFill>
                <a:latin typeface="Cambria Math"/>
                <a:cs typeface="Cambria Math"/>
              </a:rPr>
              <a:t> </a:t>
            </a:r>
            <a:r>
              <a:rPr kern="1200" dirty="0">
                <a:solidFill>
                  <a:prstClr val="black"/>
                </a:solidFill>
                <a:latin typeface="Palatino Linotype"/>
                <a:cs typeface="Palatino Linotype"/>
              </a:rPr>
              <a:t>denotes </a:t>
            </a:r>
            <a:r>
              <a:rPr kern="1200" spc="-5" dirty="0">
                <a:solidFill>
                  <a:prstClr val="black"/>
                </a:solidFill>
                <a:latin typeface="Palatino Linotype"/>
                <a:cs typeface="Palatino Linotype"/>
              </a:rPr>
              <a:t>the current </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symbol table; </a:t>
            </a:r>
            <a:r>
              <a:rPr i="1" kern="1200" dirty="0">
                <a:solidFill>
                  <a:srgbClr val="FF0000"/>
                </a:solidFill>
                <a:latin typeface="Palatino Linotype"/>
                <a:cs typeface="Palatino Linotype"/>
              </a:rPr>
              <a:t>get </a:t>
            </a:r>
            <a:r>
              <a:rPr kern="1200" spc="-5" dirty="0">
                <a:solidFill>
                  <a:prstClr val="black"/>
                </a:solidFill>
                <a:latin typeface="Palatino Linotype"/>
                <a:cs typeface="Palatino Linotype"/>
              </a:rPr>
              <a:t>returns the </a:t>
            </a:r>
            <a:r>
              <a:rPr kern="1200" spc="-434" dirty="0">
                <a:solidFill>
                  <a:prstClr val="black"/>
                </a:solidFill>
                <a:latin typeface="Palatino Linotype"/>
                <a:cs typeface="Palatino Linotype"/>
              </a:rPr>
              <a:t> </a:t>
            </a:r>
            <a:r>
              <a:rPr kern="1200" dirty="0">
                <a:solidFill>
                  <a:prstClr val="black"/>
                </a:solidFill>
                <a:latin typeface="Palatino Linotype"/>
                <a:cs typeface="Palatino Linotype"/>
              </a:rPr>
              <a:t>address</a:t>
            </a:r>
            <a:r>
              <a:rPr kern="1200" spc="-25" dirty="0">
                <a:solidFill>
                  <a:prstClr val="black"/>
                </a:solidFill>
                <a:latin typeface="Palatino Linotype"/>
                <a:cs typeface="Palatino Linotype"/>
              </a:rPr>
              <a:t> </a:t>
            </a:r>
            <a:r>
              <a:rPr kern="1200" dirty="0">
                <a:solidFill>
                  <a:prstClr val="black"/>
                </a:solidFill>
                <a:latin typeface="Palatino Linotype"/>
                <a:cs typeface="Palatino Linotype"/>
              </a:rPr>
              <a:t>of </a:t>
            </a:r>
            <a:r>
              <a:rPr b="1" kern="1200" dirty="0">
                <a:solidFill>
                  <a:prstClr val="black"/>
                </a:solidFill>
                <a:latin typeface="Palatino Linotype"/>
                <a:cs typeface="Palatino Linotype"/>
              </a:rPr>
              <a:t>id</a:t>
            </a:r>
            <a:r>
              <a:rPr b="1" kern="1200" spc="-15" dirty="0">
                <a:solidFill>
                  <a:prstClr val="black"/>
                </a:solidFill>
                <a:latin typeface="Palatino Linotype"/>
                <a:cs typeface="Palatino Linotype"/>
              </a:rPr>
              <a:t> </a:t>
            </a:r>
            <a:r>
              <a:rPr kern="1200" dirty="0">
                <a:solidFill>
                  <a:prstClr val="black"/>
                </a:solidFill>
                <a:latin typeface="Palatino Linotype"/>
                <a:cs typeface="Palatino Linotype"/>
              </a:rPr>
              <a:t>(a</a:t>
            </a:r>
            <a:r>
              <a:rPr kern="1200" spc="-5" dirty="0">
                <a:solidFill>
                  <a:prstClr val="black"/>
                </a:solidFill>
                <a:latin typeface="Palatino Linotype"/>
                <a:cs typeface="Palatino Linotype"/>
              </a:rPr>
              <a:t> variable)</a:t>
            </a:r>
            <a:endParaRPr kern="1200" dirty="0">
              <a:solidFill>
                <a:prstClr val="black"/>
              </a:solidFill>
              <a:latin typeface="Palatino Linotype"/>
              <a:cs typeface="Palatino Linotype"/>
            </a:endParaRPr>
          </a:p>
          <a:p>
            <a:pPr rtl="0"/>
            <a:endParaRPr sz="1900" kern="1200" dirty="0">
              <a:solidFill>
                <a:prstClr val="black"/>
              </a:solidFill>
              <a:latin typeface="Palatino Linotype"/>
              <a:cs typeface="Palatino Linotype"/>
            </a:endParaRPr>
          </a:p>
          <a:p>
            <a:pPr marL="12700" marR="8890" rtl="0">
              <a:lnSpc>
                <a:spcPts val="2150"/>
              </a:lnSpc>
            </a:pPr>
            <a:r>
              <a:rPr kern="1200" dirty="0">
                <a:solidFill>
                  <a:srgbClr val="FF0000"/>
                </a:solidFill>
                <a:latin typeface="Cambria Math"/>
                <a:cs typeface="Cambria Math"/>
              </a:rPr>
              <a:t>𝑔𝑒𝑛</a:t>
            </a:r>
            <a:r>
              <a:rPr kern="1200" spc="70" dirty="0">
                <a:solidFill>
                  <a:srgbClr val="FF0000"/>
                </a:solidFill>
                <a:latin typeface="Cambria Math"/>
                <a:cs typeface="Cambria Math"/>
              </a:rPr>
              <a:t> </a:t>
            </a:r>
            <a:r>
              <a:rPr kern="1200" spc="-5" dirty="0">
                <a:solidFill>
                  <a:prstClr val="black"/>
                </a:solidFill>
                <a:latin typeface="Palatino Linotype"/>
                <a:cs typeface="Palatino Linotype"/>
              </a:rPr>
              <a:t>generates</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three-address </a:t>
            </a:r>
            <a:r>
              <a:rPr kern="1200" spc="-434" dirty="0">
                <a:solidFill>
                  <a:prstClr val="black"/>
                </a:solidFill>
                <a:latin typeface="Palatino Linotype"/>
                <a:cs typeface="Palatino Linotype"/>
              </a:rPr>
              <a:t> </a:t>
            </a:r>
            <a:r>
              <a:rPr kern="1200" spc="-5" dirty="0">
                <a:solidFill>
                  <a:prstClr val="black"/>
                </a:solidFill>
                <a:latin typeface="Palatino Linotype"/>
                <a:cs typeface="Palatino Linotype"/>
              </a:rPr>
              <a:t>instructions</a:t>
            </a:r>
            <a:endParaRPr kern="1200" dirty="0">
              <a:solidFill>
                <a:prstClr val="black"/>
              </a:solidFill>
              <a:latin typeface="Palatino Linotype"/>
              <a:cs typeface="Palatino Linotype"/>
            </a:endParaRPr>
          </a:p>
        </p:txBody>
      </p:sp>
      <p:sp>
        <p:nvSpPr>
          <p:cNvPr id="12" name="object 5">
            <a:extLst>
              <a:ext uri="{FF2B5EF4-FFF2-40B4-BE49-F238E27FC236}">
                <a16:creationId xmlns:a16="http://schemas.microsoft.com/office/drawing/2014/main" id="{B6266C35-C7E8-8347-D3FA-E9CB9080AD82}"/>
              </a:ext>
            </a:extLst>
          </p:cNvPr>
          <p:cNvSpPr txBox="1"/>
          <p:nvPr/>
        </p:nvSpPr>
        <p:spPr>
          <a:xfrm>
            <a:off x="681227" y="5411723"/>
            <a:ext cx="7886700" cy="736600"/>
          </a:xfrm>
          <a:prstGeom prst="rect">
            <a:avLst/>
          </a:prstGeom>
          <a:solidFill>
            <a:srgbClr val="FFF1CC"/>
          </a:solidFill>
          <a:ln w="12700">
            <a:solidFill>
              <a:srgbClr val="EC7C30"/>
            </a:solidFill>
          </a:ln>
        </p:spPr>
        <p:txBody>
          <a:bodyPr vert="horz" wrap="square" lIns="0" tIns="10795" rIns="0" bIns="0" rtlCol="0">
            <a:spAutoFit/>
          </a:bodyPr>
          <a:lstStyle/>
          <a:p>
            <a:pPr marL="92075" marR="369570" rtl="0">
              <a:lnSpc>
                <a:spcPct val="120000"/>
              </a:lnSpc>
              <a:spcBef>
                <a:spcPts val="85"/>
              </a:spcBef>
            </a:pPr>
            <a:r>
              <a:rPr kern="1200" dirty="0">
                <a:solidFill>
                  <a:prstClr val="black"/>
                </a:solidFill>
                <a:latin typeface="Palatino Linotype"/>
                <a:cs typeface="Palatino Linotype"/>
              </a:rPr>
              <a:t>All attributes are synthesized. </a:t>
            </a:r>
            <a:r>
              <a:rPr kern="1200" spc="-5" dirty="0">
                <a:solidFill>
                  <a:prstClr val="black"/>
                </a:solidFill>
                <a:latin typeface="Palatino Linotype"/>
                <a:cs typeface="Palatino Linotype"/>
              </a:rPr>
              <a:t>This </a:t>
            </a:r>
            <a:r>
              <a:rPr kern="1200" dirty="0">
                <a:solidFill>
                  <a:srgbClr val="FF0000"/>
                </a:solidFill>
                <a:latin typeface="Palatino Linotype"/>
                <a:cs typeface="Palatino Linotype"/>
              </a:rPr>
              <a:t>S-attributed SDD </a:t>
            </a:r>
            <a:r>
              <a:rPr kern="1200" dirty="0">
                <a:solidFill>
                  <a:prstClr val="black"/>
                </a:solidFill>
                <a:latin typeface="Palatino Linotype"/>
                <a:cs typeface="Palatino Linotype"/>
              </a:rPr>
              <a:t>can </a:t>
            </a:r>
            <a:r>
              <a:rPr kern="1200" spc="-5" dirty="0">
                <a:solidFill>
                  <a:prstClr val="black"/>
                </a:solidFill>
                <a:latin typeface="Palatino Linotype"/>
                <a:cs typeface="Palatino Linotype"/>
              </a:rPr>
              <a:t>be implemented </a:t>
            </a:r>
            <a:r>
              <a:rPr kern="1200" spc="-434" dirty="0">
                <a:solidFill>
                  <a:prstClr val="black"/>
                </a:solidFill>
                <a:latin typeface="Palatino Linotype"/>
                <a:cs typeface="Palatino Linotype"/>
              </a:rPr>
              <a:t> </a:t>
            </a:r>
            <a:r>
              <a:rPr kern="1200" dirty="0">
                <a:solidFill>
                  <a:prstClr val="black"/>
                </a:solidFill>
                <a:latin typeface="Palatino Linotype"/>
                <a:cs typeface="Palatino Linotype"/>
              </a:rPr>
              <a:t>during </a:t>
            </a:r>
            <a:r>
              <a:rPr kern="1200" spc="-5" dirty="0">
                <a:solidFill>
                  <a:prstClr val="black"/>
                </a:solidFill>
                <a:latin typeface="Palatino Linotype"/>
                <a:cs typeface="Palatino Linotype"/>
              </a:rPr>
              <a:t>bottom-up</a:t>
            </a:r>
            <a:r>
              <a:rPr kern="1200" spc="25" dirty="0">
                <a:solidFill>
                  <a:prstClr val="black"/>
                </a:solidFill>
                <a:latin typeface="Palatino Linotype"/>
                <a:cs typeface="Palatino Linotype"/>
              </a:rPr>
              <a:t> </a:t>
            </a:r>
            <a:r>
              <a:rPr kern="1200" spc="-5" dirty="0">
                <a:solidFill>
                  <a:prstClr val="black"/>
                </a:solidFill>
                <a:latin typeface="Palatino Linotype"/>
                <a:cs typeface="Palatino Linotype"/>
              </a:rPr>
              <a:t>parsing.</a:t>
            </a:r>
            <a:endParaRPr kern="1200">
              <a:solidFill>
                <a:prstClr val="black"/>
              </a:solidFill>
              <a:latin typeface="Palatino Linotype"/>
              <a:cs typeface="Palatino Linotype"/>
            </a:endParaRPr>
          </a:p>
        </p:txBody>
      </p:sp>
    </p:spTree>
    <p:extLst>
      <p:ext uri="{BB962C8B-B14F-4D97-AF65-F5344CB8AC3E}">
        <p14:creationId xmlns:p14="http://schemas.microsoft.com/office/powerpoint/2010/main" val="38015825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54</a:t>
            </a:fld>
            <a:endParaRPr lang="en-US"/>
          </a:p>
        </p:txBody>
      </p:sp>
      <p:sp>
        <p:nvSpPr>
          <p:cNvPr id="15" name="object 2">
            <a:extLst>
              <a:ext uri="{FF2B5EF4-FFF2-40B4-BE49-F238E27FC236}">
                <a16:creationId xmlns:a16="http://schemas.microsoft.com/office/drawing/2014/main" id="{578FBA32-D0E3-9248-0D07-9ECBA9530A71}"/>
              </a:ext>
            </a:extLst>
          </p:cNvPr>
          <p:cNvSpPr txBox="1">
            <a:spLocks/>
          </p:cNvSpPr>
          <p:nvPr/>
        </p:nvSpPr>
        <p:spPr>
          <a:xfrm>
            <a:off x="707542" y="520141"/>
            <a:ext cx="559562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SDD</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for Expressions</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(2)</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grpSp>
        <p:nvGrpSpPr>
          <p:cNvPr id="16" name="object 3">
            <a:extLst>
              <a:ext uri="{FF2B5EF4-FFF2-40B4-BE49-F238E27FC236}">
                <a16:creationId xmlns:a16="http://schemas.microsoft.com/office/drawing/2014/main" id="{7E90E35B-EB63-853C-940B-4B52D2B096C7}"/>
              </a:ext>
            </a:extLst>
          </p:cNvPr>
          <p:cNvGrpSpPr/>
          <p:nvPr/>
        </p:nvGrpSpPr>
        <p:grpSpPr>
          <a:xfrm>
            <a:off x="728472" y="1941576"/>
            <a:ext cx="4561840" cy="3331845"/>
            <a:chOff x="728472" y="1941576"/>
            <a:chExt cx="4561840" cy="3331845"/>
          </a:xfrm>
        </p:grpSpPr>
        <p:pic>
          <p:nvPicPr>
            <p:cNvPr id="17" name="object 4">
              <a:extLst>
                <a:ext uri="{FF2B5EF4-FFF2-40B4-BE49-F238E27FC236}">
                  <a16:creationId xmlns:a16="http://schemas.microsoft.com/office/drawing/2014/main" id="{B5F6A46D-537F-7FFB-5233-2246F76EF7EE}"/>
                </a:ext>
              </a:extLst>
            </p:cNvPr>
            <p:cNvPicPr/>
            <p:nvPr/>
          </p:nvPicPr>
          <p:blipFill>
            <a:blip r:embed="rId3" cstate="print"/>
            <a:stretch>
              <a:fillRect/>
            </a:stretch>
          </p:blipFill>
          <p:spPr>
            <a:xfrm>
              <a:off x="728472" y="1941576"/>
              <a:ext cx="4561332" cy="3331380"/>
            </a:xfrm>
            <a:prstGeom prst="rect">
              <a:avLst/>
            </a:prstGeom>
          </p:spPr>
        </p:pic>
        <p:sp>
          <p:nvSpPr>
            <p:cNvPr id="18" name="object 5">
              <a:extLst>
                <a:ext uri="{FF2B5EF4-FFF2-40B4-BE49-F238E27FC236}">
                  <a16:creationId xmlns:a16="http://schemas.microsoft.com/office/drawing/2014/main" id="{42EAB44B-22EE-5FEF-6730-4B2E1DD698CE}"/>
                </a:ext>
              </a:extLst>
            </p:cNvPr>
            <p:cNvSpPr/>
            <p:nvPr/>
          </p:nvSpPr>
          <p:spPr>
            <a:xfrm>
              <a:off x="1944624" y="4876800"/>
              <a:ext cx="1923414" cy="195580"/>
            </a:xfrm>
            <a:custGeom>
              <a:avLst/>
              <a:gdLst/>
              <a:ahLst/>
              <a:cxnLst/>
              <a:rect l="l" t="t" r="r" b="b"/>
              <a:pathLst>
                <a:path w="1923414" h="195579">
                  <a:moveTo>
                    <a:pt x="0" y="195072"/>
                  </a:moveTo>
                  <a:lnTo>
                    <a:pt x="1923288" y="195072"/>
                  </a:lnTo>
                  <a:lnTo>
                    <a:pt x="1923288" y="0"/>
                  </a:lnTo>
                  <a:lnTo>
                    <a:pt x="0" y="0"/>
                  </a:lnTo>
                  <a:lnTo>
                    <a:pt x="0" y="195072"/>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19" name="object 6">
            <a:extLst>
              <a:ext uri="{FF2B5EF4-FFF2-40B4-BE49-F238E27FC236}">
                <a16:creationId xmlns:a16="http://schemas.microsoft.com/office/drawing/2014/main" id="{ACCFE4F5-384B-2E2D-63FE-15A9D3850B09}"/>
              </a:ext>
            </a:extLst>
          </p:cNvPr>
          <p:cNvSpPr txBox="1"/>
          <p:nvPr/>
        </p:nvSpPr>
        <p:spPr>
          <a:xfrm>
            <a:off x="4878070" y="4734559"/>
            <a:ext cx="3164840" cy="452755"/>
          </a:xfrm>
          <a:prstGeom prst="rect">
            <a:avLst/>
          </a:prstGeom>
        </p:spPr>
        <p:txBody>
          <a:bodyPr vert="horz" wrap="square" lIns="0" tIns="12700" rIns="0" bIns="0" rtlCol="0">
            <a:spAutoFit/>
          </a:bodyPr>
          <a:lstStyle/>
          <a:p>
            <a:pPr marL="12700" marR="5080" rtl="0">
              <a:spcBef>
                <a:spcPts val="100"/>
              </a:spcBef>
            </a:pPr>
            <a:r>
              <a:rPr sz="1400" kern="1200" dirty="0">
                <a:solidFill>
                  <a:srgbClr val="FF0000"/>
                </a:solidFill>
                <a:latin typeface="Palatino Linotype"/>
                <a:cs typeface="Palatino Linotype"/>
              </a:rPr>
              <a:t>Check </a:t>
            </a:r>
            <a:r>
              <a:rPr sz="1400" kern="1200" spc="-5" dirty="0">
                <a:solidFill>
                  <a:srgbClr val="FF0000"/>
                </a:solidFill>
                <a:latin typeface="Palatino Linotype"/>
                <a:cs typeface="Palatino Linotype"/>
              </a:rPr>
              <a:t>the symbol-table entry </a:t>
            </a:r>
            <a:r>
              <a:rPr sz="1400" kern="1200" dirty="0">
                <a:solidFill>
                  <a:srgbClr val="FF0000"/>
                </a:solidFill>
                <a:latin typeface="Palatino Linotype"/>
                <a:cs typeface="Palatino Linotype"/>
              </a:rPr>
              <a:t>for </a:t>
            </a:r>
            <a:r>
              <a:rPr sz="1400" kern="1200" dirty="0">
                <a:solidFill>
                  <a:srgbClr val="0431FF"/>
                </a:solidFill>
                <a:latin typeface="Cambria Math"/>
                <a:cs typeface="Cambria Math"/>
              </a:rPr>
              <a:t>𝐢𝐝 </a:t>
            </a:r>
            <a:r>
              <a:rPr sz="1400" kern="1200" dirty="0">
                <a:solidFill>
                  <a:srgbClr val="FF0000"/>
                </a:solidFill>
                <a:latin typeface="Palatino Linotype"/>
                <a:cs typeface="Palatino Linotype"/>
              </a:rPr>
              <a:t>and </a:t>
            </a:r>
            <a:r>
              <a:rPr sz="1400" kern="1200" spc="-335" dirty="0">
                <a:solidFill>
                  <a:srgbClr val="FF0000"/>
                </a:solidFill>
                <a:latin typeface="Palatino Linotype"/>
                <a:cs typeface="Palatino Linotype"/>
              </a:rPr>
              <a:t> </a:t>
            </a:r>
            <a:r>
              <a:rPr sz="1400" kern="1200" spc="-10" dirty="0">
                <a:solidFill>
                  <a:srgbClr val="FF0000"/>
                </a:solidFill>
                <a:latin typeface="Palatino Linotype"/>
                <a:cs typeface="Palatino Linotype"/>
              </a:rPr>
              <a:t>save</a:t>
            </a:r>
            <a:r>
              <a:rPr sz="1400" kern="1200" spc="-35" dirty="0">
                <a:solidFill>
                  <a:srgbClr val="FF0000"/>
                </a:solidFill>
                <a:latin typeface="Palatino Linotype"/>
                <a:cs typeface="Palatino Linotype"/>
              </a:rPr>
              <a:t> </a:t>
            </a:r>
            <a:r>
              <a:rPr sz="1400" kern="1200" dirty="0">
                <a:solidFill>
                  <a:srgbClr val="FF0000"/>
                </a:solidFill>
                <a:latin typeface="Palatino Linotype"/>
                <a:cs typeface="Palatino Linotype"/>
              </a:rPr>
              <a:t>its </a:t>
            </a:r>
            <a:r>
              <a:rPr sz="1400" kern="1200" spc="-5" dirty="0">
                <a:solidFill>
                  <a:srgbClr val="FF0000"/>
                </a:solidFill>
                <a:latin typeface="Palatino Linotype"/>
                <a:cs typeface="Palatino Linotype"/>
              </a:rPr>
              <a:t>address</a:t>
            </a:r>
            <a:r>
              <a:rPr sz="1400" kern="1200" spc="-25" dirty="0">
                <a:solidFill>
                  <a:srgbClr val="FF0000"/>
                </a:solidFill>
                <a:latin typeface="Palatino Linotype"/>
                <a:cs typeface="Palatino Linotype"/>
              </a:rPr>
              <a:t> </a:t>
            </a:r>
            <a:r>
              <a:rPr sz="1400" kern="1200" dirty="0">
                <a:solidFill>
                  <a:srgbClr val="FF0000"/>
                </a:solidFill>
                <a:latin typeface="Palatino Linotype"/>
                <a:cs typeface="Palatino Linotype"/>
              </a:rPr>
              <a:t>in </a:t>
            </a:r>
            <a:r>
              <a:rPr sz="1400" i="1" kern="1200" dirty="0">
                <a:solidFill>
                  <a:srgbClr val="0431FF"/>
                </a:solidFill>
                <a:latin typeface="Palatino Linotype"/>
                <a:cs typeface="Palatino Linotype"/>
              </a:rPr>
              <a:t>E.addr</a:t>
            </a:r>
            <a:endParaRPr sz="1400" kern="1200" dirty="0">
              <a:solidFill>
                <a:prstClr val="black"/>
              </a:solidFill>
              <a:latin typeface="Palatino Linotype"/>
              <a:cs typeface="Palatino Linotype"/>
            </a:endParaRPr>
          </a:p>
        </p:txBody>
      </p:sp>
      <p:grpSp>
        <p:nvGrpSpPr>
          <p:cNvPr id="20" name="object 7">
            <a:extLst>
              <a:ext uri="{FF2B5EF4-FFF2-40B4-BE49-F238E27FC236}">
                <a16:creationId xmlns:a16="http://schemas.microsoft.com/office/drawing/2014/main" id="{F0AFD06A-F9E4-382B-79E4-CE0DECF2D1BA}"/>
              </a:ext>
            </a:extLst>
          </p:cNvPr>
          <p:cNvGrpSpPr/>
          <p:nvPr/>
        </p:nvGrpSpPr>
        <p:grpSpPr>
          <a:xfrm>
            <a:off x="1938273" y="3590290"/>
            <a:ext cx="2860675" cy="1435735"/>
            <a:chOff x="1938273" y="3590290"/>
            <a:chExt cx="2860675" cy="1435735"/>
          </a:xfrm>
        </p:grpSpPr>
        <p:sp>
          <p:nvSpPr>
            <p:cNvPr id="21" name="object 8">
              <a:extLst>
                <a:ext uri="{FF2B5EF4-FFF2-40B4-BE49-F238E27FC236}">
                  <a16:creationId xmlns:a16="http://schemas.microsoft.com/office/drawing/2014/main" id="{FF7A5704-5F4A-6043-2413-C842B8FCFAC2}"/>
                </a:ext>
              </a:extLst>
            </p:cNvPr>
            <p:cNvSpPr/>
            <p:nvPr/>
          </p:nvSpPr>
          <p:spPr>
            <a:xfrm>
              <a:off x="3867911" y="4922647"/>
              <a:ext cx="930910" cy="103505"/>
            </a:xfrm>
            <a:custGeom>
              <a:avLst/>
              <a:gdLst/>
              <a:ahLst/>
              <a:cxnLst/>
              <a:rect l="l" t="t" r="r" b="b"/>
              <a:pathLst>
                <a:path w="930910" h="103504">
                  <a:moveTo>
                    <a:pt x="905546" y="51688"/>
                  </a:moveTo>
                  <a:lnTo>
                    <a:pt x="838708" y="90677"/>
                  </a:lnTo>
                  <a:lnTo>
                    <a:pt x="835787" y="92455"/>
                  </a:lnTo>
                  <a:lnTo>
                    <a:pt x="834643" y="96265"/>
                  </a:lnTo>
                  <a:lnTo>
                    <a:pt x="838200" y="102361"/>
                  </a:lnTo>
                  <a:lnTo>
                    <a:pt x="842137" y="103377"/>
                  </a:lnTo>
                  <a:lnTo>
                    <a:pt x="919892" y="58038"/>
                  </a:lnTo>
                  <a:lnTo>
                    <a:pt x="918210" y="58038"/>
                  </a:lnTo>
                  <a:lnTo>
                    <a:pt x="918210" y="57150"/>
                  </a:lnTo>
                  <a:lnTo>
                    <a:pt x="914908" y="57150"/>
                  </a:lnTo>
                  <a:lnTo>
                    <a:pt x="905546" y="51688"/>
                  </a:lnTo>
                  <a:close/>
                </a:path>
                <a:path w="930910" h="103504">
                  <a:moveTo>
                    <a:pt x="894660" y="45338"/>
                  </a:moveTo>
                  <a:lnTo>
                    <a:pt x="0" y="45338"/>
                  </a:lnTo>
                  <a:lnTo>
                    <a:pt x="0" y="58038"/>
                  </a:lnTo>
                  <a:lnTo>
                    <a:pt x="894660" y="58038"/>
                  </a:lnTo>
                  <a:lnTo>
                    <a:pt x="905546" y="51688"/>
                  </a:lnTo>
                  <a:lnTo>
                    <a:pt x="894660" y="45338"/>
                  </a:lnTo>
                  <a:close/>
                </a:path>
                <a:path w="930910" h="103504">
                  <a:moveTo>
                    <a:pt x="919892" y="45338"/>
                  </a:moveTo>
                  <a:lnTo>
                    <a:pt x="918210" y="45338"/>
                  </a:lnTo>
                  <a:lnTo>
                    <a:pt x="918210" y="58038"/>
                  </a:lnTo>
                  <a:lnTo>
                    <a:pt x="919892" y="58038"/>
                  </a:lnTo>
                  <a:lnTo>
                    <a:pt x="930783" y="51688"/>
                  </a:lnTo>
                  <a:lnTo>
                    <a:pt x="919892" y="45338"/>
                  </a:lnTo>
                  <a:close/>
                </a:path>
                <a:path w="930910" h="103504">
                  <a:moveTo>
                    <a:pt x="914908" y="46227"/>
                  </a:moveTo>
                  <a:lnTo>
                    <a:pt x="905546" y="51688"/>
                  </a:lnTo>
                  <a:lnTo>
                    <a:pt x="914908" y="57150"/>
                  </a:lnTo>
                  <a:lnTo>
                    <a:pt x="914908" y="46227"/>
                  </a:lnTo>
                  <a:close/>
                </a:path>
                <a:path w="930910" h="103504">
                  <a:moveTo>
                    <a:pt x="918210" y="46227"/>
                  </a:moveTo>
                  <a:lnTo>
                    <a:pt x="914908" y="46227"/>
                  </a:lnTo>
                  <a:lnTo>
                    <a:pt x="914908" y="57150"/>
                  </a:lnTo>
                  <a:lnTo>
                    <a:pt x="918210" y="57150"/>
                  </a:lnTo>
                  <a:lnTo>
                    <a:pt x="918210" y="46227"/>
                  </a:lnTo>
                  <a:close/>
                </a:path>
                <a:path w="930910" h="103504">
                  <a:moveTo>
                    <a:pt x="842137" y="0"/>
                  </a:moveTo>
                  <a:lnTo>
                    <a:pt x="838200" y="1015"/>
                  </a:lnTo>
                  <a:lnTo>
                    <a:pt x="834643" y="7111"/>
                  </a:lnTo>
                  <a:lnTo>
                    <a:pt x="835787" y="10921"/>
                  </a:lnTo>
                  <a:lnTo>
                    <a:pt x="838708" y="12700"/>
                  </a:lnTo>
                  <a:lnTo>
                    <a:pt x="905546" y="51688"/>
                  </a:lnTo>
                  <a:lnTo>
                    <a:pt x="914908" y="46227"/>
                  </a:lnTo>
                  <a:lnTo>
                    <a:pt x="918210" y="46227"/>
                  </a:lnTo>
                  <a:lnTo>
                    <a:pt x="918210" y="45338"/>
                  </a:lnTo>
                  <a:lnTo>
                    <a:pt x="919892" y="45338"/>
                  </a:lnTo>
                  <a:lnTo>
                    <a:pt x="842137" y="0"/>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2" name="object 9">
              <a:extLst>
                <a:ext uri="{FF2B5EF4-FFF2-40B4-BE49-F238E27FC236}">
                  <a16:creationId xmlns:a16="http://schemas.microsoft.com/office/drawing/2014/main" id="{2103E1A3-D72E-70C6-8693-003D8354C3E9}"/>
                </a:ext>
              </a:extLst>
            </p:cNvPr>
            <p:cNvSpPr/>
            <p:nvPr/>
          </p:nvSpPr>
          <p:spPr>
            <a:xfrm>
              <a:off x="1944623" y="3596640"/>
              <a:ext cx="1923414" cy="195580"/>
            </a:xfrm>
            <a:custGeom>
              <a:avLst/>
              <a:gdLst/>
              <a:ahLst/>
              <a:cxnLst/>
              <a:rect l="l" t="t" r="r" b="b"/>
              <a:pathLst>
                <a:path w="1923414" h="195579">
                  <a:moveTo>
                    <a:pt x="0" y="195072"/>
                  </a:moveTo>
                  <a:lnTo>
                    <a:pt x="1923288" y="195072"/>
                  </a:lnTo>
                  <a:lnTo>
                    <a:pt x="1923288" y="0"/>
                  </a:lnTo>
                  <a:lnTo>
                    <a:pt x="0" y="0"/>
                  </a:lnTo>
                  <a:lnTo>
                    <a:pt x="0" y="195072"/>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3" name="object 10">
              <a:extLst>
                <a:ext uri="{FF2B5EF4-FFF2-40B4-BE49-F238E27FC236}">
                  <a16:creationId xmlns:a16="http://schemas.microsoft.com/office/drawing/2014/main" id="{C44591DD-BAB3-490B-1CCE-583FF15B59CE}"/>
                </a:ext>
              </a:extLst>
            </p:cNvPr>
            <p:cNvSpPr/>
            <p:nvPr/>
          </p:nvSpPr>
          <p:spPr>
            <a:xfrm>
              <a:off x="3867911" y="3642487"/>
              <a:ext cx="895985" cy="103505"/>
            </a:xfrm>
            <a:custGeom>
              <a:avLst/>
              <a:gdLst/>
              <a:ahLst/>
              <a:cxnLst/>
              <a:rect l="l" t="t" r="r" b="b"/>
              <a:pathLst>
                <a:path w="895985" h="103504">
                  <a:moveTo>
                    <a:pt x="870875" y="51688"/>
                  </a:moveTo>
                  <a:lnTo>
                    <a:pt x="800988" y="92456"/>
                  </a:lnTo>
                  <a:lnTo>
                    <a:pt x="799973" y="96265"/>
                  </a:lnTo>
                  <a:lnTo>
                    <a:pt x="803528" y="102362"/>
                  </a:lnTo>
                  <a:lnTo>
                    <a:pt x="807465" y="103377"/>
                  </a:lnTo>
                  <a:lnTo>
                    <a:pt x="810387" y="101600"/>
                  </a:lnTo>
                  <a:lnTo>
                    <a:pt x="885094" y="58038"/>
                  </a:lnTo>
                  <a:lnTo>
                    <a:pt x="883412" y="58038"/>
                  </a:lnTo>
                  <a:lnTo>
                    <a:pt x="883412" y="57150"/>
                  </a:lnTo>
                  <a:lnTo>
                    <a:pt x="880237" y="57150"/>
                  </a:lnTo>
                  <a:lnTo>
                    <a:pt x="870875" y="51688"/>
                  </a:lnTo>
                  <a:close/>
                </a:path>
                <a:path w="895985" h="103504">
                  <a:moveTo>
                    <a:pt x="859989" y="45338"/>
                  </a:moveTo>
                  <a:lnTo>
                    <a:pt x="0" y="45338"/>
                  </a:lnTo>
                  <a:lnTo>
                    <a:pt x="0" y="58038"/>
                  </a:lnTo>
                  <a:lnTo>
                    <a:pt x="859989" y="58038"/>
                  </a:lnTo>
                  <a:lnTo>
                    <a:pt x="870875" y="51688"/>
                  </a:lnTo>
                  <a:lnTo>
                    <a:pt x="859989" y="45338"/>
                  </a:lnTo>
                  <a:close/>
                </a:path>
                <a:path w="895985" h="103504">
                  <a:moveTo>
                    <a:pt x="885094" y="45338"/>
                  </a:moveTo>
                  <a:lnTo>
                    <a:pt x="883412" y="45338"/>
                  </a:lnTo>
                  <a:lnTo>
                    <a:pt x="883412" y="58038"/>
                  </a:lnTo>
                  <a:lnTo>
                    <a:pt x="885094" y="58038"/>
                  </a:lnTo>
                  <a:lnTo>
                    <a:pt x="895985" y="51688"/>
                  </a:lnTo>
                  <a:lnTo>
                    <a:pt x="885094" y="45338"/>
                  </a:lnTo>
                  <a:close/>
                </a:path>
                <a:path w="895985" h="103504">
                  <a:moveTo>
                    <a:pt x="880237" y="46227"/>
                  </a:moveTo>
                  <a:lnTo>
                    <a:pt x="870875" y="51688"/>
                  </a:lnTo>
                  <a:lnTo>
                    <a:pt x="880237" y="57150"/>
                  </a:lnTo>
                  <a:lnTo>
                    <a:pt x="880237" y="46227"/>
                  </a:lnTo>
                  <a:close/>
                </a:path>
                <a:path w="895985" h="103504">
                  <a:moveTo>
                    <a:pt x="883412" y="46227"/>
                  </a:moveTo>
                  <a:lnTo>
                    <a:pt x="880237" y="46227"/>
                  </a:lnTo>
                  <a:lnTo>
                    <a:pt x="880237" y="57150"/>
                  </a:lnTo>
                  <a:lnTo>
                    <a:pt x="883412" y="57150"/>
                  </a:lnTo>
                  <a:lnTo>
                    <a:pt x="883412" y="46227"/>
                  </a:lnTo>
                  <a:close/>
                </a:path>
                <a:path w="895985" h="103504">
                  <a:moveTo>
                    <a:pt x="807465" y="0"/>
                  </a:moveTo>
                  <a:lnTo>
                    <a:pt x="803528" y="1015"/>
                  </a:lnTo>
                  <a:lnTo>
                    <a:pt x="799973" y="7112"/>
                  </a:lnTo>
                  <a:lnTo>
                    <a:pt x="800988" y="10921"/>
                  </a:lnTo>
                  <a:lnTo>
                    <a:pt x="870875" y="51688"/>
                  </a:lnTo>
                  <a:lnTo>
                    <a:pt x="880237" y="46227"/>
                  </a:lnTo>
                  <a:lnTo>
                    <a:pt x="883412" y="46227"/>
                  </a:lnTo>
                  <a:lnTo>
                    <a:pt x="883412" y="45338"/>
                  </a:lnTo>
                  <a:lnTo>
                    <a:pt x="885094" y="45338"/>
                  </a:lnTo>
                  <a:lnTo>
                    <a:pt x="810387" y="1777"/>
                  </a:lnTo>
                  <a:lnTo>
                    <a:pt x="807465" y="0"/>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4" name="object 11">
            <a:extLst>
              <a:ext uri="{FF2B5EF4-FFF2-40B4-BE49-F238E27FC236}">
                <a16:creationId xmlns:a16="http://schemas.microsoft.com/office/drawing/2014/main" id="{1137FFD1-BC41-4260-0CB7-4E0CF9631CCD}"/>
              </a:ext>
            </a:extLst>
          </p:cNvPr>
          <p:cNvSpPr txBox="1"/>
          <p:nvPr/>
        </p:nvSpPr>
        <p:spPr>
          <a:xfrm>
            <a:off x="4843398" y="3562350"/>
            <a:ext cx="3188970" cy="239395"/>
          </a:xfrm>
          <a:prstGeom prst="rect">
            <a:avLst/>
          </a:prstGeom>
        </p:spPr>
        <p:txBody>
          <a:bodyPr vert="horz" wrap="square" lIns="0" tIns="13335" rIns="0" bIns="0" rtlCol="0">
            <a:spAutoFit/>
          </a:bodyPr>
          <a:lstStyle/>
          <a:p>
            <a:pPr marL="12700" rtl="0">
              <a:spcBef>
                <a:spcPts val="105"/>
              </a:spcBef>
            </a:pPr>
            <a:r>
              <a:rPr sz="1400" kern="1200" spc="-15" dirty="0">
                <a:solidFill>
                  <a:srgbClr val="FF0000"/>
                </a:solidFill>
                <a:latin typeface="Palatino Linotype"/>
                <a:cs typeface="Palatino Linotype"/>
              </a:rPr>
              <a:t>Temporary</a:t>
            </a:r>
            <a:r>
              <a:rPr sz="1400" kern="1200" spc="-35" dirty="0">
                <a:solidFill>
                  <a:srgbClr val="FF0000"/>
                </a:solidFill>
                <a:latin typeface="Palatino Linotype"/>
                <a:cs typeface="Palatino Linotype"/>
              </a:rPr>
              <a:t> </a:t>
            </a:r>
            <a:r>
              <a:rPr sz="1400" kern="1200" dirty="0">
                <a:solidFill>
                  <a:srgbClr val="FF0000"/>
                </a:solidFill>
                <a:latin typeface="Palatino Linotype"/>
                <a:cs typeface="Palatino Linotype"/>
              </a:rPr>
              <a:t>name</a:t>
            </a:r>
            <a:r>
              <a:rPr sz="1400" kern="1200" spc="-5" dirty="0">
                <a:solidFill>
                  <a:srgbClr val="FF0000"/>
                </a:solidFill>
                <a:latin typeface="Palatino Linotype"/>
                <a:cs typeface="Palatino Linotype"/>
              </a:rPr>
              <a:t> generated</a:t>
            </a:r>
            <a:r>
              <a:rPr sz="1400" kern="1200" spc="-25" dirty="0">
                <a:solidFill>
                  <a:srgbClr val="FF0000"/>
                </a:solidFill>
                <a:latin typeface="Palatino Linotype"/>
                <a:cs typeface="Palatino Linotype"/>
              </a:rPr>
              <a:t> </a:t>
            </a:r>
            <a:r>
              <a:rPr sz="1400" kern="1200" spc="-5" dirty="0">
                <a:solidFill>
                  <a:srgbClr val="FF0000"/>
                </a:solidFill>
                <a:latin typeface="Palatino Linotype"/>
                <a:cs typeface="Palatino Linotype"/>
              </a:rPr>
              <a:t>by</a:t>
            </a:r>
            <a:r>
              <a:rPr sz="1400" kern="1200" dirty="0">
                <a:solidFill>
                  <a:srgbClr val="FF0000"/>
                </a:solidFill>
                <a:latin typeface="Palatino Linotype"/>
                <a:cs typeface="Palatino Linotype"/>
              </a:rPr>
              <a:t> compiler</a:t>
            </a:r>
            <a:endParaRPr sz="1400" kern="1200" dirty="0">
              <a:solidFill>
                <a:prstClr val="black"/>
              </a:solidFill>
              <a:latin typeface="Palatino Linotype"/>
              <a:cs typeface="Palatino Linotype"/>
            </a:endParaRPr>
          </a:p>
        </p:txBody>
      </p:sp>
    </p:spTree>
    <p:extLst>
      <p:ext uri="{BB962C8B-B14F-4D97-AF65-F5344CB8AC3E}">
        <p14:creationId xmlns:p14="http://schemas.microsoft.com/office/powerpoint/2010/main" val="32326806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55</a:t>
            </a:fld>
            <a:endParaRPr lang="en-US"/>
          </a:p>
        </p:txBody>
      </p:sp>
      <p:sp>
        <p:nvSpPr>
          <p:cNvPr id="13" name="object 2">
            <a:extLst>
              <a:ext uri="{FF2B5EF4-FFF2-40B4-BE49-F238E27FC236}">
                <a16:creationId xmlns:a16="http://schemas.microsoft.com/office/drawing/2014/main" id="{92180114-DC0C-DCA4-C5EA-2F0865E002D6}"/>
              </a:ext>
            </a:extLst>
          </p:cNvPr>
          <p:cNvSpPr txBox="1">
            <a:spLocks/>
          </p:cNvSpPr>
          <p:nvPr/>
        </p:nvSpPr>
        <p:spPr>
          <a:xfrm>
            <a:off x="707542" y="520141"/>
            <a:ext cx="559562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SDD</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for Expressions</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(3)</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grpSp>
        <p:nvGrpSpPr>
          <p:cNvPr id="14" name="object 3">
            <a:extLst>
              <a:ext uri="{FF2B5EF4-FFF2-40B4-BE49-F238E27FC236}">
                <a16:creationId xmlns:a16="http://schemas.microsoft.com/office/drawing/2014/main" id="{35B07E66-ADBE-704B-465A-C860C37144E3}"/>
              </a:ext>
            </a:extLst>
          </p:cNvPr>
          <p:cNvGrpSpPr/>
          <p:nvPr/>
        </p:nvGrpSpPr>
        <p:grpSpPr>
          <a:xfrm>
            <a:off x="728472" y="1941576"/>
            <a:ext cx="5337175" cy="3331845"/>
            <a:chOff x="728472" y="1941576"/>
            <a:chExt cx="5337175" cy="3331845"/>
          </a:xfrm>
        </p:grpSpPr>
        <p:pic>
          <p:nvPicPr>
            <p:cNvPr id="15" name="object 4">
              <a:extLst>
                <a:ext uri="{FF2B5EF4-FFF2-40B4-BE49-F238E27FC236}">
                  <a16:creationId xmlns:a16="http://schemas.microsoft.com/office/drawing/2014/main" id="{9E09AA65-321C-76FB-6D7D-623F6D5FC33F}"/>
                </a:ext>
              </a:extLst>
            </p:cNvPr>
            <p:cNvPicPr/>
            <p:nvPr/>
          </p:nvPicPr>
          <p:blipFill>
            <a:blip r:embed="rId3" cstate="print"/>
            <a:stretch>
              <a:fillRect/>
            </a:stretch>
          </p:blipFill>
          <p:spPr>
            <a:xfrm>
              <a:off x="728472" y="1941576"/>
              <a:ext cx="4561332" cy="3331380"/>
            </a:xfrm>
            <a:prstGeom prst="rect">
              <a:avLst/>
            </a:prstGeom>
          </p:spPr>
        </p:pic>
        <p:sp>
          <p:nvSpPr>
            <p:cNvPr id="16" name="object 5">
              <a:extLst>
                <a:ext uri="{FF2B5EF4-FFF2-40B4-BE49-F238E27FC236}">
                  <a16:creationId xmlns:a16="http://schemas.microsoft.com/office/drawing/2014/main" id="{B85AA785-F263-3B91-35F5-8CDE323D3569}"/>
                </a:ext>
              </a:extLst>
            </p:cNvPr>
            <p:cNvSpPr/>
            <p:nvPr/>
          </p:nvSpPr>
          <p:spPr>
            <a:xfrm>
              <a:off x="1944624" y="3055619"/>
              <a:ext cx="3385185" cy="373380"/>
            </a:xfrm>
            <a:custGeom>
              <a:avLst/>
              <a:gdLst/>
              <a:ahLst/>
              <a:cxnLst/>
              <a:rect l="l" t="t" r="r" b="b"/>
              <a:pathLst>
                <a:path w="3385185" h="373379">
                  <a:moveTo>
                    <a:pt x="0" y="373379"/>
                  </a:moveTo>
                  <a:lnTo>
                    <a:pt x="3384804" y="373379"/>
                  </a:lnTo>
                  <a:lnTo>
                    <a:pt x="3384804" y="0"/>
                  </a:lnTo>
                  <a:lnTo>
                    <a:pt x="0" y="0"/>
                  </a:lnTo>
                  <a:lnTo>
                    <a:pt x="0" y="373379"/>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7" name="object 6">
              <a:extLst>
                <a:ext uri="{FF2B5EF4-FFF2-40B4-BE49-F238E27FC236}">
                  <a16:creationId xmlns:a16="http://schemas.microsoft.com/office/drawing/2014/main" id="{BCF0C810-61D4-B7A4-F49C-D5BE3A2873BD}"/>
                </a:ext>
              </a:extLst>
            </p:cNvPr>
            <p:cNvSpPr/>
            <p:nvPr/>
          </p:nvSpPr>
          <p:spPr>
            <a:xfrm>
              <a:off x="5329427" y="3191383"/>
              <a:ext cx="657225" cy="103505"/>
            </a:xfrm>
            <a:custGeom>
              <a:avLst/>
              <a:gdLst/>
              <a:ahLst/>
              <a:cxnLst/>
              <a:rect l="l" t="t" r="r" b="b"/>
              <a:pathLst>
                <a:path w="657225" h="103504">
                  <a:moveTo>
                    <a:pt x="631734" y="51688"/>
                  </a:moveTo>
                  <a:lnTo>
                    <a:pt x="561848" y="92455"/>
                  </a:lnTo>
                  <a:lnTo>
                    <a:pt x="560832" y="96265"/>
                  </a:lnTo>
                  <a:lnTo>
                    <a:pt x="564388" y="102362"/>
                  </a:lnTo>
                  <a:lnTo>
                    <a:pt x="568325" y="103377"/>
                  </a:lnTo>
                  <a:lnTo>
                    <a:pt x="646080" y="58038"/>
                  </a:lnTo>
                  <a:lnTo>
                    <a:pt x="644271" y="58038"/>
                  </a:lnTo>
                  <a:lnTo>
                    <a:pt x="644271" y="57150"/>
                  </a:lnTo>
                  <a:lnTo>
                    <a:pt x="641096" y="57150"/>
                  </a:lnTo>
                  <a:lnTo>
                    <a:pt x="631734" y="51688"/>
                  </a:lnTo>
                  <a:close/>
                </a:path>
                <a:path w="657225" h="103504">
                  <a:moveTo>
                    <a:pt x="620848" y="45338"/>
                  </a:moveTo>
                  <a:lnTo>
                    <a:pt x="0" y="45338"/>
                  </a:lnTo>
                  <a:lnTo>
                    <a:pt x="0" y="58038"/>
                  </a:lnTo>
                  <a:lnTo>
                    <a:pt x="620848" y="58038"/>
                  </a:lnTo>
                  <a:lnTo>
                    <a:pt x="631734" y="51688"/>
                  </a:lnTo>
                  <a:lnTo>
                    <a:pt x="620848" y="45338"/>
                  </a:lnTo>
                  <a:close/>
                </a:path>
                <a:path w="657225" h="103504">
                  <a:moveTo>
                    <a:pt x="646080" y="45338"/>
                  </a:moveTo>
                  <a:lnTo>
                    <a:pt x="644271" y="45338"/>
                  </a:lnTo>
                  <a:lnTo>
                    <a:pt x="644271" y="58038"/>
                  </a:lnTo>
                  <a:lnTo>
                    <a:pt x="646080" y="58038"/>
                  </a:lnTo>
                  <a:lnTo>
                    <a:pt x="656971" y="51688"/>
                  </a:lnTo>
                  <a:lnTo>
                    <a:pt x="646080" y="45338"/>
                  </a:lnTo>
                  <a:close/>
                </a:path>
                <a:path w="657225" h="103504">
                  <a:moveTo>
                    <a:pt x="641096" y="46227"/>
                  </a:moveTo>
                  <a:lnTo>
                    <a:pt x="631734" y="51688"/>
                  </a:lnTo>
                  <a:lnTo>
                    <a:pt x="641096" y="57150"/>
                  </a:lnTo>
                  <a:lnTo>
                    <a:pt x="641096" y="46227"/>
                  </a:lnTo>
                  <a:close/>
                </a:path>
                <a:path w="657225" h="103504">
                  <a:moveTo>
                    <a:pt x="644271" y="46227"/>
                  </a:moveTo>
                  <a:lnTo>
                    <a:pt x="641096" y="46227"/>
                  </a:lnTo>
                  <a:lnTo>
                    <a:pt x="641096" y="57150"/>
                  </a:lnTo>
                  <a:lnTo>
                    <a:pt x="644271" y="57150"/>
                  </a:lnTo>
                  <a:lnTo>
                    <a:pt x="644271" y="46227"/>
                  </a:lnTo>
                  <a:close/>
                </a:path>
                <a:path w="657225" h="103504">
                  <a:moveTo>
                    <a:pt x="568325" y="0"/>
                  </a:moveTo>
                  <a:lnTo>
                    <a:pt x="564388" y="1015"/>
                  </a:lnTo>
                  <a:lnTo>
                    <a:pt x="560832" y="7112"/>
                  </a:lnTo>
                  <a:lnTo>
                    <a:pt x="561848" y="10921"/>
                  </a:lnTo>
                  <a:lnTo>
                    <a:pt x="631734" y="51688"/>
                  </a:lnTo>
                  <a:lnTo>
                    <a:pt x="641096" y="46227"/>
                  </a:lnTo>
                  <a:lnTo>
                    <a:pt x="644271" y="46227"/>
                  </a:lnTo>
                  <a:lnTo>
                    <a:pt x="644271" y="45338"/>
                  </a:lnTo>
                  <a:lnTo>
                    <a:pt x="646080" y="45338"/>
                  </a:lnTo>
                  <a:lnTo>
                    <a:pt x="568325" y="0"/>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8" name="object 7">
              <a:extLst>
                <a:ext uri="{FF2B5EF4-FFF2-40B4-BE49-F238E27FC236}">
                  <a16:creationId xmlns:a16="http://schemas.microsoft.com/office/drawing/2014/main" id="{C93CF821-5C5A-9877-4027-C125A3B319A1}"/>
                </a:ext>
              </a:extLst>
            </p:cNvPr>
            <p:cNvSpPr/>
            <p:nvPr/>
          </p:nvSpPr>
          <p:spPr>
            <a:xfrm>
              <a:off x="1905000" y="2278379"/>
              <a:ext cx="3424554" cy="1891664"/>
            </a:xfrm>
            <a:custGeom>
              <a:avLst/>
              <a:gdLst/>
              <a:ahLst/>
              <a:cxnLst/>
              <a:rect l="l" t="t" r="r" b="b"/>
              <a:pathLst>
                <a:path w="3424554" h="1891664">
                  <a:moveTo>
                    <a:pt x="39624" y="1891284"/>
                  </a:moveTo>
                  <a:lnTo>
                    <a:pt x="3424428" y="1891284"/>
                  </a:lnTo>
                  <a:lnTo>
                    <a:pt x="3424428" y="1517904"/>
                  </a:lnTo>
                  <a:lnTo>
                    <a:pt x="39624" y="1517904"/>
                  </a:lnTo>
                  <a:lnTo>
                    <a:pt x="39624" y="1891284"/>
                  </a:lnTo>
                  <a:close/>
                </a:path>
                <a:path w="3424554" h="1891664">
                  <a:moveTo>
                    <a:pt x="0" y="541020"/>
                  </a:moveTo>
                  <a:lnTo>
                    <a:pt x="3384804" y="541020"/>
                  </a:lnTo>
                  <a:lnTo>
                    <a:pt x="3384804" y="0"/>
                  </a:lnTo>
                  <a:lnTo>
                    <a:pt x="0" y="0"/>
                  </a:lnTo>
                  <a:lnTo>
                    <a:pt x="0" y="541020"/>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9" name="object 8">
              <a:extLst>
                <a:ext uri="{FF2B5EF4-FFF2-40B4-BE49-F238E27FC236}">
                  <a16:creationId xmlns:a16="http://schemas.microsoft.com/office/drawing/2014/main" id="{110D75D6-2FC1-7844-E475-903D83D0C20D}"/>
                </a:ext>
              </a:extLst>
            </p:cNvPr>
            <p:cNvSpPr/>
            <p:nvPr/>
          </p:nvSpPr>
          <p:spPr>
            <a:xfrm>
              <a:off x="5286375" y="2542793"/>
              <a:ext cx="779145" cy="1445895"/>
            </a:xfrm>
            <a:custGeom>
              <a:avLst/>
              <a:gdLst/>
              <a:ahLst/>
              <a:cxnLst/>
              <a:rect l="l" t="t" r="r" b="b"/>
              <a:pathLst>
                <a:path w="779145" h="1445895">
                  <a:moveTo>
                    <a:pt x="777875" y="491490"/>
                  </a:moveTo>
                  <a:lnTo>
                    <a:pt x="777138" y="490093"/>
                  </a:lnTo>
                  <a:lnTo>
                    <a:pt x="732028" y="403606"/>
                  </a:lnTo>
                  <a:lnTo>
                    <a:pt x="730377" y="400558"/>
                  </a:lnTo>
                  <a:lnTo>
                    <a:pt x="726567" y="399288"/>
                  </a:lnTo>
                  <a:lnTo>
                    <a:pt x="723392" y="400939"/>
                  </a:lnTo>
                  <a:lnTo>
                    <a:pt x="720344" y="402590"/>
                  </a:lnTo>
                  <a:lnTo>
                    <a:pt x="719074" y="406400"/>
                  </a:lnTo>
                  <a:lnTo>
                    <a:pt x="750760" y="466966"/>
                  </a:lnTo>
                  <a:lnTo>
                    <a:pt x="6858" y="0"/>
                  </a:lnTo>
                  <a:lnTo>
                    <a:pt x="0" y="10668"/>
                  </a:lnTo>
                  <a:lnTo>
                    <a:pt x="744042" y="477634"/>
                  </a:lnTo>
                  <a:lnTo>
                    <a:pt x="679323" y="475488"/>
                  </a:lnTo>
                  <a:lnTo>
                    <a:pt x="675767" y="475488"/>
                  </a:lnTo>
                  <a:lnTo>
                    <a:pt x="672846" y="478155"/>
                  </a:lnTo>
                  <a:lnTo>
                    <a:pt x="672592" y="485140"/>
                  </a:lnTo>
                  <a:lnTo>
                    <a:pt x="675386" y="488061"/>
                  </a:lnTo>
                  <a:lnTo>
                    <a:pt x="777875" y="491490"/>
                  </a:lnTo>
                  <a:close/>
                </a:path>
                <a:path w="779145" h="1445895">
                  <a:moveTo>
                    <a:pt x="778764" y="892302"/>
                  </a:moveTo>
                  <a:lnTo>
                    <a:pt x="676783" y="903732"/>
                  </a:lnTo>
                  <a:lnTo>
                    <a:pt x="674370" y="906907"/>
                  </a:lnTo>
                  <a:lnTo>
                    <a:pt x="675132" y="913892"/>
                  </a:lnTo>
                  <a:lnTo>
                    <a:pt x="678307" y="916432"/>
                  </a:lnTo>
                  <a:lnTo>
                    <a:pt x="746036" y="908786"/>
                  </a:lnTo>
                  <a:lnTo>
                    <a:pt x="39243" y="1435227"/>
                  </a:lnTo>
                  <a:lnTo>
                    <a:pt x="46863" y="1445387"/>
                  </a:lnTo>
                  <a:lnTo>
                    <a:pt x="753732" y="918883"/>
                  </a:lnTo>
                  <a:lnTo>
                    <a:pt x="728345" y="978535"/>
                  </a:lnTo>
                  <a:lnTo>
                    <a:pt x="726948" y="981710"/>
                  </a:lnTo>
                  <a:lnTo>
                    <a:pt x="728472" y="985393"/>
                  </a:lnTo>
                  <a:lnTo>
                    <a:pt x="734822" y="988187"/>
                  </a:lnTo>
                  <a:lnTo>
                    <a:pt x="738632" y="986675"/>
                  </a:lnTo>
                  <a:lnTo>
                    <a:pt x="740029" y="983488"/>
                  </a:lnTo>
                  <a:lnTo>
                    <a:pt x="777735" y="894715"/>
                  </a:lnTo>
                  <a:lnTo>
                    <a:pt x="778764" y="892302"/>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0" name="object 9">
            <a:extLst>
              <a:ext uri="{FF2B5EF4-FFF2-40B4-BE49-F238E27FC236}">
                <a16:creationId xmlns:a16="http://schemas.microsoft.com/office/drawing/2014/main" id="{CBF3A940-0EB9-A159-2FED-1884DFAF40F0}"/>
              </a:ext>
            </a:extLst>
          </p:cNvPr>
          <p:cNvSpPr txBox="1"/>
          <p:nvPr/>
        </p:nvSpPr>
        <p:spPr>
          <a:xfrm>
            <a:off x="6065265" y="3110230"/>
            <a:ext cx="1978025" cy="239395"/>
          </a:xfrm>
          <a:prstGeom prst="rect">
            <a:avLst/>
          </a:prstGeom>
        </p:spPr>
        <p:txBody>
          <a:bodyPr vert="horz" wrap="square" lIns="0" tIns="13335" rIns="0" bIns="0" rtlCol="0">
            <a:spAutoFit/>
          </a:bodyPr>
          <a:lstStyle/>
          <a:p>
            <a:pPr marL="12700" rtl="0">
              <a:spcBef>
                <a:spcPts val="105"/>
              </a:spcBef>
            </a:pPr>
            <a:r>
              <a:rPr sz="1400" kern="1200" dirty="0">
                <a:solidFill>
                  <a:srgbClr val="FF0000"/>
                </a:solidFill>
                <a:latin typeface="Palatino Linotype"/>
                <a:cs typeface="Palatino Linotype"/>
              </a:rPr>
              <a:t>Concatenate</a:t>
            </a:r>
            <a:r>
              <a:rPr sz="1400" kern="1200" spc="-45" dirty="0">
                <a:solidFill>
                  <a:srgbClr val="FF0000"/>
                </a:solidFill>
                <a:latin typeface="Palatino Linotype"/>
                <a:cs typeface="Palatino Linotype"/>
              </a:rPr>
              <a:t> </a:t>
            </a:r>
            <a:r>
              <a:rPr sz="1400" kern="1200" spc="-5" dirty="0">
                <a:solidFill>
                  <a:srgbClr val="FF0000"/>
                </a:solidFill>
                <a:latin typeface="Palatino Linotype"/>
                <a:cs typeface="Palatino Linotype"/>
              </a:rPr>
              <a:t>instructions</a:t>
            </a:r>
            <a:endParaRPr sz="1400" kern="1200" dirty="0">
              <a:solidFill>
                <a:prstClr val="black"/>
              </a:solidFill>
              <a:latin typeface="Palatino Linotype"/>
              <a:cs typeface="Palatino Linotype"/>
            </a:endParaRPr>
          </a:p>
        </p:txBody>
      </p:sp>
    </p:spTree>
    <p:extLst>
      <p:ext uri="{BB962C8B-B14F-4D97-AF65-F5344CB8AC3E}">
        <p14:creationId xmlns:p14="http://schemas.microsoft.com/office/powerpoint/2010/main" val="35082800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56</a:t>
            </a:fld>
            <a:endParaRPr lang="en-US"/>
          </a:p>
        </p:txBody>
      </p:sp>
      <p:sp>
        <p:nvSpPr>
          <p:cNvPr id="10" name="object 2">
            <a:extLst>
              <a:ext uri="{FF2B5EF4-FFF2-40B4-BE49-F238E27FC236}">
                <a16:creationId xmlns:a16="http://schemas.microsoft.com/office/drawing/2014/main" id="{654ED578-1F8E-E9B5-3AB5-46265D830F4F}"/>
              </a:ext>
            </a:extLst>
          </p:cNvPr>
          <p:cNvSpPr txBox="1">
            <a:spLocks/>
          </p:cNvSpPr>
          <p:nvPr/>
        </p:nvSpPr>
        <p:spPr>
          <a:xfrm>
            <a:off x="707542" y="520141"/>
            <a:ext cx="556895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Inefficiency</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in</a:t>
            </a:r>
            <a:r>
              <a:rPr kumimoji="0" lang="en-US" sz="4000" b="1" i="0" u="none" strike="noStrike" kern="0" cap="none" spc="-2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the</a:t>
            </a:r>
            <a:r>
              <a:rPr kumimoji="0" lang="en-US" sz="4000" b="1" i="0" u="none" strike="noStrike" kern="0" cap="none" spc="-2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SDD</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grpSp>
        <p:nvGrpSpPr>
          <p:cNvPr id="11" name="object 3">
            <a:extLst>
              <a:ext uri="{FF2B5EF4-FFF2-40B4-BE49-F238E27FC236}">
                <a16:creationId xmlns:a16="http://schemas.microsoft.com/office/drawing/2014/main" id="{93916049-87D9-AB92-AB67-96745D3410C4}"/>
              </a:ext>
            </a:extLst>
          </p:cNvPr>
          <p:cNvGrpSpPr/>
          <p:nvPr/>
        </p:nvGrpSpPr>
        <p:grpSpPr>
          <a:xfrm>
            <a:off x="728472" y="1941576"/>
            <a:ext cx="4561840" cy="3331845"/>
            <a:chOff x="728472" y="1941576"/>
            <a:chExt cx="4561840" cy="3331845"/>
          </a:xfrm>
        </p:grpSpPr>
        <p:pic>
          <p:nvPicPr>
            <p:cNvPr id="12" name="object 4">
              <a:extLst>
                <a:ext uri="{FF2B5EF4-FFF2-40B4-BE49-F238E27FC236}">
                  <a16:creationId xmlns:a16="http://schemas.microsoft.com/office/drawing/2014/main" id="{D4A9D53E-68BC-979C-078E-F0BBDD8F963C}"/>
                </a:ext>
              </a:extLst>
            </p:cNvPr>
            <p:cNvPicPr/>
            <p:nvPr/>
          </p:nvPicPr>
          <p:blipFill>
            <a:blip r:embed="rId3" cstate="print"/>
            <a:stretch>
              <a:fillRect/>
            </a:stretch>
          </p:blipFill>
          <p:spPr>
            <a:xfrm>
              <a:off x="728472" y="1941576"/>
              <a:ext cx="4561332" cy="3331380"/>
            </a:xfrm>
            <a:prstGeom prst="rect">
              <a:avLst/>
            </a:prstGeom>
          </p:spPr>
        </p:pic>
        <p:sp>
          <p:nvSpPr>
            <p:cNvPr id="13" name="object 5">
              <a:extLst>
                <a:ext uri="{FF2B5EF4-FFF2-40B4-BE49-F238E27FC236}">
                  <a16:creationId xmlns:a16="http://schemas.microsoft.com/office/drawing/2014/main" id="{18619649-B388-C188-53D8-CFFC239EB0C5}"/>
                </a:ext>
              </a:extLst>
            </p:cNvPr>
            <p:cNvSpPr/>
            <p:nvPr/>
          </p:nvSpPr>
          <p:spPr>
            <a:xfrm>
              <a:off x="1967483" y="2278379"/>
              <a:ext cx="1876425" cy="2443480"/>
            </a:xfrm>
            <a:custGeom>
              <a:avLst/>
              <a:gdLst/>
              <a:ahLst/>
              <a:cxnLst/>
              <a:rect l="l" t="t" r="r" b="b"/>
              <a:pathLst>
                <a:path w="1876425" h="2443479">
                  <a:moveTo>
                    <a:pt x="0" y="201167"/>
                  </a:moveTo>
                  <a:lnTo>
                    <a:pt x="509016" y="201167"/>
                  </a:lnTo>
                  <a:lnTo>
                    <a:pt x="509016" y="0"/>
                  </a:lnTo>
                  <a:lnTo>
                    <a:pt x="0" y="0"/>
                  </a:lnTo>
                  <a:lnTo>
                    <a:pt x="0" y="201167"/>
                  </a:lnTo>
                  <a:close/>
                </a:path>
                <a:path w="1876425" h="2443479">
                  <a:moveTo>
                    <a:pt x="694944" y="201167"/>
                  </a:moveTo>
                  <a:lnTo>
                    <a:pt x="1203959" y="201167"/>
                  </a:lnTo>
                  <a:lnTo>
                    <a:pt x="1203959" y="0"/>
                  </a:lnTo>
                  <a:lnTo>
                    <a:pt x="694944" y="0"/>
                  </a:lnTo>
                  <a:lnTo>
                    <a:pt x="694944" y="201167"/>
                  </a:lnTo>
                  <a:close/>
                </a:path>
                <a:path w="1876425" h="2443479">
                  <a:moveTo>
                    <a:pt x="24384" y="975359"/>
                  </a:moveTo>
                  <a:lnTo>
                    <a:pt x="533400" y="975359"/>
                  </a:lnTo>
                  <a:lnTo>
                    <a:pt x="533400" y="774191"/>
                  </a:lnTo>
                  <a:lnTo>
                    <a:pt x="24384" y="774191"/>
                  </a:lnTo>
                  <a:lnTo>
                    <a:pt x="24384" y="975359"/>
                  </a:lnTo>
                  <a:close/>
                </a:path>
                <a:path w="1876425" h="2443479">
                  <a:moveTo>
                    <a:pt x="694944" y="975359"/>
                  </a:moveTo>
                  <a:lnTo>
                    <a:pt x="1203959" y="975359"/>
                  </a:lnTo>
                  <a:lnTo>
                    <a:pt x="1203959" y="774191"/>
                  </a:lnTo>
                  <a:lnTo>
                    <a:pt x="694944" y="774191"/>
                  </a:lnTo>
                  <a:lnTo>
                    <a:pt x="694944" y="975359"/>
                  </a:lnTo>
                  <a:close/>
                </a:path>
                <a:path w="1876425" h="2443479">
                  <a:moveTo>
                    <a:pt x="1367028" y="975359"/>
                  </a:moveTo>
                  <a:lnTo>
                    <a:pt x="1876044" y="975359"/>
                  </a:lnTo>
                  <a:lnTo>
                    <a:pt x="1876044" y="774191"/>
                  </a:lnTo>
                  <a:lnTo>
                    <a:pt x="1367028" y="774191"/>
                  </a:lnTo>
                  <a:lnTo>
                    <a:pt x="1367028" y="975359"/>
                  </a:lnTo>
                  <a:close/>
                </a:path>
                <a:path w="1876425" h="2443479">
                  <a:moveTo>
                    <a:pt x="24384" y="1708403"/>
                  </a:moveTo>
                  <a:lnTo>
                    <a:pt x="533400" y="1708403"/>
                  </a:lnTo>
                  <a:lnTo>
                    <a:pt x="533400" y="1507235"/>
                  </a:lnTo>
                  <a:lnTo>
                    <a:pt x="24384" y="1507235"/>
                  </a:lnTo>
                  <a:lnTo>
                    <a:pt x="24384" y="1708403"/>
                  </a:lnTo>
                  <a:close/>
                </a:path>
                <a:path w="1876425" h="2443479">
                  <a:moveTo>
                    <a:pt x="694944" y="1708403"/>
                  </a:moveTo>
                  <a:lnTo>
                    <a:pt x="1203959" y="1708403"/>
                  </a:lnTo>
                  <a:lnTo>
                    <a:pt x="1203959" y="1507235"/>
                  </a:lnTo>
                  <a:lnTo>
                    <a:pt x="694944" y="1507235"/>
                  </a:lnTo>
                  <a:lnTo>
                    <a:pt x="694944" y="1708403"/>
                  </a:lnTo>
                  <a:close/>
                </a:path>
                <a:path w="1876425" h="2443479">
                  <a:moveTo>
                    <a:pt x="24384" y="2442971"/>
                  </a:moveTo>
                  <a:lnTo>
                    <a:pt x="533400" y="2442971"/>
                  </a:lnTo>
                  <a:lnTo>
                    <a:pt x="533400" y="2241803"/>
                  </a:lnTo>
                  <a:lnTo>
                    <a:pt x="24384" y="2241803"/>
                  </a:lnTo>
                  <a:lnTo>
                    <a:pt x="24384" y="2442971"/>
                  </a:lnTo>
                  <a:close/>
                </a:path>
                <a:path w="1876425" h="2443479">
                  <a:moveTo>
                    <a:pt x="694944" y="2442971"/>
                  </a:moveTo>
                  <a:lnTo>
                    <a:pt x="1203959" y="2442971"/>
                  </a:lnTo>
                  <a:lnTo>
                    <a:pt x="1203959" y="2241803"/>
                  </a:lnTo>
                  <a:lnTo>
                    <a:pt x="694944" y="2241803"/>
                  </a:lnTo>
                  <a:lnTo>
                    <a:pt x="694944" y="2442971"/>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14" name="object 6">
            <a:extLst>
              <a:ext uri="{FF2B5EF4-FFF2-40B4-BE49-F238E27FC236}">
                <a16:creationId xmlns:a16="http://schemas.microsoft.com/office/drawing/2014/main" id="{2037DC10-1B22-8199-1391-B47DB1F5723E}"/>
              </a:ext>
            </a:extLst>
          </p:cNvPr>
          <p:cNvSpPr txBox="1"/>
          <p:nvPr/>
        </p:nvSpPr>
        <p:spPr>
          <a:xfrm>
            <a:off x="5668517" y="2829792"/>
            <a:ext cx="2993390" cy="1123950"/>
          </a:xfrm>
          <a:prstGeom prst="rect">
            <a:avLst/>
          </a:prstGeom>
        </p:spPr>
        <p:txBody>
          <a:bodyPr vert="horz" wrap="square" lIns="0" tIns="13335" rIns="0" bIns="0" rtlCol="0">
            <a:spAutoFit/>
          </a:bodyPr>
          <a:lstStyle/>
          <a:p>
            <a:pPr marL="12700" marR="5080" algn="just" rtl="0">
              <a:lnSpc>
                <a:spcPct val="150100"/>
              </a:lnSpc>
              <a:spcBef>
                <a:spcPts val="105"/>
              </a:spcBef>
            </a:pPr>
            <a:r>
              <a:rPr sz="1600" kern="1200" spc="-5" dirty="0">
                <a:solidFill>
                  <a:srgbClr val="FF0000"/>
                </a:solidFill>
                <a:latin typeface="Palatino Linotype"/>
                <a:cs typeface="Palatino Linotype"/>
              </a:rPr>
              <a:t>Code attributes can be </a:t>
            </a:r>
            <a:r>
              <a:rPr sz="1600" kern="1200" spc="-10" dirty="0">
                <a:solidFill>
                  <a:srgbClr val="FF0000"/>
                </a:solidFill>
                <a:latin typeface="Palatino Linotype"/>
                <a:cs typeface="Palatino Linotype"/>
              </a:rPr>
              <a:t>very </a:t>
            </a:r>
            <a:r>
              <a:rPr sz="1600" kern="1200" spc="-5" dirty="0">
                <a:solidFill>
                  <a:srgbClr val="FF0000"/>
                </a:solidFill>
                <a:latin typeface="Palatino Linotype"/>
                <a:cs typeface="Palatino Linotype"/>
              </a:rPr>
              <a:t>long </a:t>
            </a:r>
            <a:r>
              <a:rPr sz="1600" kern="1200" dirty="0">
                <a:solidFill>
                  <a:srgbClr val="FF0000"/>
                </a:solidFill>
                <a:latin typeface="Palatino Linotype"/>
                <a:cs typeface="Palatino Linotype"/>
              </a:rPr>
              <a:t> </a:t>
            </a:r>
            <a:r>
              <a:rPr sz="1600" kern="1200" spc="-5" dirty="0">
                <a:solidFill>
                  <a:srgbClr val="FF0000"/>
                </a:solidFill>
                <a:latin typeface="Palatino Linotype"/>
                <a:cs typeface="Palatino Linotype"/>
              </a:rPr>
              <a:t>strings </a:t>
            </a:r>
            <a:r>
              <a:rPr sz="1600" kern="1200" spc="-5" dirty="0">
                <a:solidFill>
                  <a:prstClr val="black"/>
                </a:solidFill>
                <a:latin typeface="Palatino Linotype"/>
                <a:cs typeface="Palatino Linotype"/>
              </a:rPr>
              <a:t>(as </a:t>
            </a:r>
            <a:r>
              <a:rPr sz="1600" kern="1200" spc="-10" dirty="0">
                <a:solidFill>
                  <a:prstClr val="black"/>
                </a:solidFill>
                <a:latin typeface="Palatino Linotype"/>
                <a:cs typeface="Palatino Linotype"/>
              </a:rPr>
              <a:t>the </a:t>
            </a:r>
            <a:r>
              <a:rPr sz="1600" kern="1200" spc="-5" dirty="0">
                <a:solidFill>
                  <a:prstClr val="black"/>
                </a:solidFill>
                <a:latin typeface="Palatino Linotype"/>
                <a:cs typeface="Palatino Linotype"/>
              </a:rPr>
              <a:t>expressions can be </a:t>
            </a:r>
            <a:r>
              <a:rPr sz="1600" kern="1200" spc="-385" dirty="0">
                <a:solidFill>
                  <a:prstClr val="black"/>
                </a:solidFill>
                <a:latin typeface="Palatino Linotype"/>
                <a:cs typeface="Palatino Linotype"/>
              </a:rPr>
              <a:t> </a:t>
            </a:r>
            <a:r>
              <a:rPr sz="1600" kern="1200" spc="-5" dirty="0">
                <a:solidFill>
                  <a:prstClr val="black"/>
                </a:solidFill>
                <a:latin typeface="Palatino Linotype"/>
                <a:cs typeface="Palatino Linotype"/>
              </a:rPr>
              <a:t>arbitrarily</a:t>
            </a:r>
            <a:r>
              <a:rPr sz="1600" kern="1200" spc="-25" dirty="0">
                <a:solidFill>
                  <a:prstClr val="black"/>
                </a:solidFill>
                <a:latin typeface="Palatino Linotype"/>
                <a:cs typeface="Palatino Linotype"/>
              </a:rPr>
              <a:t> </a:t>
            </a:r>
            <a:r>
              <a:rPr sz="1600" kern="1200" spc="-5" dirty="0">
                <a:solidFill>
                  <a:prstClr val="black"/>
                </a:solidFill>
                <a:latin typeface="Palatino Linotype"/>
                <a:cs typeface="Palatino Linotype"/>
              </a:rPr>
              <a:t>complex)</a:t>
            </a:r>
            <a:endParaRPr sz="1600" kern="1200" dirty="0">
              <a:solidFill>
                <a:prstClr val="black"/>
              </a:solidFill>
              <a:latin typeface="Palatino Linotype"/>
              <a:cs typeface="Palatino Linotype"/>
            </a:endParaRPr>
          </a:p>
        </p:txBody>
      </p:sp>
    </p:spTree>
    <p:extLst>
      <p:ext uri="{BB962C8B-B14F-4D97-AF65-F5344CB8AC3E}">
        <p14:creationId xmlns:p14="http://schemas.microsoft.com/office/powerpoint/2010/main" val="39663617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57</a:t>
            </a:fld>
            <a:endParaRPr lang="en-US"/>
          </a:p>
        </p:txBody>
      </p:sp>
      <p:sp>
        <p:nvSpPr>
          <p:cNvPr id="12" name="object 2">
            <a:extLst>
              <a:ext uri="{FF2B5EF4-FFF2-40B4-BE49-F238E27FC236}">
                <a16:creationId xmlns:a16="http://schemas.microsoft.com/office/drawing/2014/main" id="{5D3347FE-2554-83FB-8E3B-BACF6C0B1AA3}"/>
              </a:ext>
            </a:extLst>
          </p:cNvPr>
          <p:cNvSpPr txBox="1">
            <a:spLocks/>
          </p:cNvSpPr>
          <p:nvPr/>
        </p:nvSpPr>
        <p:spPr>
          <a:xfrm>
            <a:off x="707542" y="520141"/>
            <a:ext cx="751840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Incremental</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35" normalizeH="0" baseline="0" noProof="0">
                <a:ln>
                  <a:noFill/>
                </a:ln>
                <a:solidFill>
                  <a:sysClr val="windowText" lastClr="000000"/>
                </a:solidFill>
                <a:effectLst/>
                <a:uLnTx/>
                <a:uFillTx/>
                <a:latin typeface="Palatino Linotype"/>
                <a:ea typeface="+mj-ea"/>
              </a:rPr>
              <a:t>Translation</a:t>
            </a:r>
            <a:r>
              <a:rPr kumimoji="0" lang="en-US" sz="4000" b="1" i="0" u="none" strike="noStrike" kern="0" cap="none" spc="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Scheme</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13" name="object 3">
            <a:extLst>
              <a:ext uri="{FF2B5EF4-FFF2-40B4-BE49-F238E27FC236}">
                <a16:creationId xmlns:a16="http://schemas.microsoft.com/office/drawing/2014/main" id="{7D103307-1A91-149F-13C5-D82D9F82B24C}"/>
              </a:ext>
            </a:extLst>
          </p:cNvPr>
          <p:cNvSpPr txBox="1"/>
          <p:nvPr/>
        </p:nvSpPr>
        <p:spPr>
          <a:xfrm>
            <a:off x="707542" y="1596199"/>
            <a:ext cx="7638415" cy="1419860"/>
          </a:xfrm>
          <a:prstGeom prst="rect">
            <a:avLst/>
          </a:prstGeom>
        </p:spPr>
        <p:txBody>
          <a:bodyPr vert="horz" wrap="square" lIns="0" tIns="67945" rIns="0" bIns="0" rtlCol="0">
            <a:spAutoFit/>
          </a:bodyPr>
          <a:lstStyle/>
          <a:p>
            <a:pPr marL="242570" indent="-230504" rtl="0">
              <a:spcBef>
                <a:spcPts val="535"/>
              </a:spcBef>
              <a:buFont typeface="Arial MT"/>
              <a:buChar char="•"/>
              <a:tabLst>
                <a:tab pos="242570" algn="l"/>
                <a:tab pos="243204" algn="l"/>
              </a:tabLst>
            </a:pPr>
            <a:r>
              <a:rPr kern="1200" dirty="0">
                <a:solidFill>
                  <a:prstClr val="black"/>
                </a:solidFill>
                <a:latin typeface="Palatino Linotype"/>
                <a:cs typeface="Palatino Linotype"/>
              </a:rPr>
              <a:t>In</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the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SDT</a:t>
            </a:r>
            <a:r>
              <a:rPr kern="1200" spc="-5" dirty="0">
                <a:solidFill>
                  <a:prstClr val="black"/>
                </a:solidFill>
                <a:latin typeface="Palatino Linotype"/>
                <a:cs typeface="Palatino Linotype"/>
              </a:rPr>
              <a:t> </a:t>
            </a:r>
            <a:r>
              <a:rPr kern="1200" spc="-35" dirty="0">
                <a:solidFill>
                  <a:prstClr val="black"/>
                </a:solidFill>
                <a:latin typeface="Palatino Linotype"/>
                <a:cs typeface="Palatino Linotype"/>
              </a:rPr>
              <a:t>below,</a:t>
            </a:r>
            <a:r>
              <a:rPr kern="1200" spc="5" dirty="0">
                <a:solidFill>
                  <a:prstClr val="black"/>
                </a:solidFill>
                <a:latin typeface="Palatino Linotype"/>
                <a:cs typeface="Palatino Linotype"/>
              </a:rPr>
              <a:t> </a:t>
            </a:r>
            <a:r>
              <a:rPr kern="1200" spc="-5" dirty="0">
                <a:solidFill>
                  <a:srgbClr val="FF0000"/>
                </a:solidFill>
                <a:latin typeface="Cambria Math"/>
                <a:cs typeface="Cambria Math"/>
              </a:rPr>
              <a:t>𝑔𝑒𝑛</a:t>
            </a:r>
            <a:r>
              <a:rPr kern="1200" spc="95" dirty="0">
                <a:solidFill>
                  <a:srgbClr val="FF0000"/>
                </a:solidFill>
                <a:latin typeface="Cambria Math"/>
                <a:cs typeface="Cambria Math"/>
              </a:rPr>
              <a:t> </a:t>
            </a:r>
            <a:r>
              <a:rPr kern="1200" spc="-5" dirty="0">
                <a:solidFill>
                  <a:prstClr val="black"/>
                </a:solidFill>
                <a:latin typeface="Palatino Linotype"/>
                <a:cs typeface="Palatino Linotype"/>
              </a:rPr>
              <a:t>not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only</a:t>
            </a:r>
            <a:r>
              <a:rPr kern="1200" spc="20" dirty="0">
                <a:solidFill>
                  <a:prstClr val="black"/>
                </a:solidFill>
                <a:latin typeface="Palatino Linotype"/>
                <a:cs typeface="Palatino Linotype"/>
              </a:rPr>
              <a:t> </a:t>
            </a:r>
            <a:r>
              <a:rPr kern="1200" spc="-5" dirty="0">
                <a:solidFill>
                  <a:srgbClr val="0431FF"/>
                </a:solidFill>
                <a:latin typeface="Palatino Linotype"/>
                <a:cs typeface="Palatino Linotype"/>
              </a:rPr>
              <a:t>generates</a:t>
            </a:r>
            <a:r>
              <a:rPr kern="1200" dirty="0">
                <a:solidFill>
                  <a:srgbClr val="0431FF"/>
                </a:solidFill>
                <a:latin typeface="Palatino Linotype"/>
                <a:cs typeface="Palatino Linotype"/>
              </a:rPr>
              <a:t> </a:t>
            </a:r>
            <a:r>
              <a:rPr kern="1200" dirty="0">
                <a:solidFill>
                  <a:prstClr val="black"/>
                </a:solidFill>
                <a:latin typeface="Palatino Linotype"/>
                <a:cs typeface="Palatino Linotype"/>
              </a:rPr>
              <a:t>a</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three-address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instruction,</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but</a:t>
            </a:r>
            <a:endParaRPr kern="1200" dirty="0">
              <a:solidFill>
                <a:prstClr val="black"/>
              </a:solidFill>
              <a:latin typeface="Palatino Linotype"/>
              <a:cs typeface="Palatino Linotype"/>
            </a:endParaRPr>
          </a:p>
          <a:p>
            <a:pPr marL="242570" rtl="0">
              <a:spcBef>
                <a:spcPts val="434"/>
              </a:spcBef>
            </a:pPr>
            <a:r>
              <a:rPr kern="1200" dirty="0">
                <a:solidFill>
                  <a:prstClr val="black"/>
                </a:solidFill>
                <a:latin typeface="Palatino Linotype"/>
                <a:cs typeface="Palatino Linotype"/>
              </a:rPr>
              <a:t>also</a:t>
            </a:r>
            <a:r>
              <a:rPr kern="1200" spc="-5" dirty="0">
                <a:solidFill>
                  <a:prstClr val="black"/>
                </a:solidFill>
                <a:latin typeface="Palatino Linotype"/>
                <a:cs typeface="Palatino Linotype"/>
              </a:rPr>
              <a:t> </a:t>
            </a:r>
            <a:r>
              <a:rPr kern="1200" spc="-5" dirty="0">
                <a:solidFill>
                  <a:srgbClr val="0431FF"/>
                </a:solidFill>
                <a:latin typeface="Palatino Linotype"/>
                <a:cs typeface="Palatino Linotype"/>
              </a:rPr>
              <a:t>appends</a:t>
            </a:r>
            <a:r>
              <a:rPr kern="1200" spc="20" dirty="0">
                <a:solidFill>
                  <a:srgbClr val="0431FF"/>
                </a:solidFill>
                <a:latin typeface="Palatino Linotype"/>
                <a:cs typeface="Palatino Linotype"/>
              </a:rPr>
              <a:t> </a:t>
            </a:r>
            <a:r>
              <a:rPr kern="1200" dirty="0">
                <a:solidFill>
                  <a:prstClr val="black"/>
                </a:solidFill>
                <a:latin typeface="Palatino Linotype"/>
                <a:cs typeface="Palatino Linotype"/>
              </a:rPr>
              <a:t>it</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to</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the</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sequence</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of</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instructions</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generated</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so far</a:t>
            </a:r>
          </a:p>
          <a:p>
            <a:pPr marL="242570" marR="653415" indent="-230504" rtl="0">
              <a:lnSpc>
                <a:spcPct val="120000"/>
              </a:lnSpc>
              <a:spcBef>
                <a:spcPts val="600"/>
              </a:spcBef>
              <a:buFont typeface="Arial MT"/>
              <a:buChar char="•"/>
              <a:tabLst>
                <a:tab pos="242570" algn="l"/>
                <a:tab pos="243204" algn="l"/>
              </a:tabLst>
            </a:pPr>
            <a:r>
              <a:rPr kern="1200" dirty="0">
                <a:solidFill>
                  <a:prstClr val="black"/>
                </a:solidFill>
                <a:latin typeface="Palatino Linotype"/>
                <a:cs typeface="Palatino Linotype"/>
              </a:rPr>
              <a:t>In </a:t>
            </a:r>
            <a:r>
              <a:rPr kern="1200" spc="-5" dirty="0">
                <a:solidFill>
                  <a:prstClr val="black"/>
                </a:solidFill>
                <a:latin typeface="Palatino Linotype"/>
                <a:cs typeface="Palatino Linotype"/>
              </a:rPr>
              <a:t>comparison,</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in</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the previous</a:t>
            </a:r>
            <a:r>
              <a:rPr kern="1200" dirty="0">
                <a:solidFill>
                  <a:prstClr val="black"/>
                </a:solidFill>
                <a:latin typeface="Palatino Linotype"/>
                <a:cs typeface="Palatino Linotype"/>
              </a:rPr>
              <a:t> SDD,</a:t>
            </a:r>
            <a:r>
              <a:rPr kern="1200" spc="-20" dirty="0">
                <a:solidFill>
                  <a:prstClr val="black"/>
                </a:solidFill>
                <a:latin typeface="Palatino Linotype"/>
                <a:cs typeface="Palatino Linotype"/>
              </a:rPr>
              <a:t> </a:t>
            </a:r>
            <a:r>
              <a:rPr kern="1200" spc="-5" dirty="0">
                <a:solidFill>
                  <a:prstClr val="black"/>
                </a:solidFill>
                <a:latin typeface="Palatino Linotype"/>
                <a:cs typeface="Palatino Linotype"/>
              </a:rPr>
              <a:t>the</a:t>
            </a:r>
            <a:r>
              <a:rPr kern="1200" spc="25" dirty="0">
                <a:solidFill>
                  <a:prstClr val="black"/>
                </a:solidFill>
                <a:latin typeface="Palatino Linotype"/>
                <a:cs typeface="Palatino Linotype"/>
              </a:rPr>
              <a:t> </a:t>
            </a:r>
            <a:r>
              <a:rPr kern="1200" dirty="0">
                <a:solidFill>
                  <a:srgbClr val="FF0000"/>
                </a:solidFill>
                <a:latin typeface="Cambria Math"/>
                <a:cs typeface="Cambria Math"/>
              </a:rPr>
              <a:t>𝑐𝑜𝑑𝑒</a:t>
            </a:r>
            <a:r>
              <a:rPr kern="1200" spc="85" dirty="0">
                <a:solidFill>
                  <a:srgbClr val="FF0000"/>
                </a:solidFill>
                <a:latin typeface="Cambria Math"/>
                <a:cs typeface="Cambria Math"/>
              </a:rPr>
              <a:t> </a:t>
            </a:r>
            <a:r>
              <a:rPr kern="1200" dirty="0">
                <a:solidFill>
                  <a:prstClr val="black"/>
                </a:solidFill>
                <a:latin typeface="Palatino Linotype"/>
                <a:cs typeface="Palatino Linotype"/>
              </a:rPr>
              <a:t>attribute can </a:t>
            </a:r>
            <a:r>
              <a:rPr kern="1200" spc="-5" dirty="0">
                <a:solidFill>
                  <a:prstClr val="black"/>
                </a:solidFill>
                <a:latin typeface="Palatino Linotype"/>
                <a:cs typeface="Palatino Linotype"/>
              </a:rPr>
              <a:t>be </a:t>
            </a:r>
            <a:r>
              <a:rPr kern="1200" dirty="0">
                <a:solidFill>
                  <a:prstClr val="black"/>
                </a:solidFill>
                <a:latin typeface="Palatino Linotype"/>
                <a:cs typeface="Palatino Linotype"/>
              </a:rPr>
              <a:t>long </a:t>
            </a:r>
            <a:r>
              <a:rPr kern="1200" spc="-434" dirty="0">
                <a:solidFill>
                  <a:prstClr val="black"/>
                </a:solidFill>
                <a:latin typeface="Palatino Linotype"/>
                <a:cs typeface="Palatino Linotype"/>
              </a:rPr>
              <a:t> </a:t>
            </a:r>
            <a:r>
              <a:rPr kern="1200" spc="-5" dirty="0">
                <a:solidFill>
                  <a:prstClr val="black"/>
                </a:solidFill>
                <a:latin typeface="Palatino Linotype"/>
                <a:cs typeface="Palatino Linotype"/>
              </a:rPr>
              <a:t>strings </a:t>
            </a:r>
            <a:r>
              <a:rPr kern="1200" dirty="0">
                <a:solidFill>
                  <a:prstClr val="black"/>
                </a:solidFill>
                <a:latin typeface="Palatino Linotype"/>
                <a:cs typeface="Palatino Linotype"/>
              </a:rPr>
              <a:t>after </a:t>
            </a:r>
            <a:r>
              <a:rPr kern="1200" spc="-5" dirty="0">
                <a:solidFill>
                  <a:prstClr val="black"/>
                </a:solidFill>
                <a:latin typeface="Palatino Linotype"/>
                <a:cs typeface="Palatino Linotype"/>
              </a:rPr>
              <a:t>concatenations</a:t>
            </a:r>
            <a:endParaRPr kern="1200" dirty="0">
              <a:solidFill>
                <a:prstClr val="black"/>
              </a:solidFill>
              <a:latin typeface="Palatino Linotype"/>
              <a:cs typeface="Palatino Linotype"/>
            </a:endParaRPr>
          </a:p>
        </p:txBody>
      </p:sp>
      <p:grpSp>
        <p:nvGrpSpPr>
          <p:cNvPr id="14" name="object 4">
            <a:extLst>
              <a:ext uri="{FF2B5EF4-FFF2-40B4-BE49-F238E27FC236}">
                <a16:creationId xmlns:a16="http://schemas.microsoft.com/office/drawing/2014/main" id="{515C6F32-B1BD-ADBB-B3E7-FCE4179B2CD1}"/>
              </a:ext>
            </a:extLst>
          </p:cNvPr>
          <p:cNvGrpSpPr/>
          <p:nvPr/>
        </p:nvGrpSpPr>
        <p:grpSpPr>
          <a:xfrm>
            <a:off x="938402" y="3419475"/>
            <a:ext cx="4743450" cy="2564130"/>
            <a:chOff x="938402" y="3419475"/>
            <a:chExt cx="4743450" cy="2564130"/>
          </a:xfrm>
        </p:grpSpPr>
        <p:pic>
          <p:nvPicPr>
            <p:cNvPr id="15" name="object 5">
              <a:extLst>
                <a:ext uri="{FF2B5EF4-FFF2-40B4-BE49-F238E27FC236}">
                  <a16:creationId xmlns:a16="http://schemas.microsoft.com/office/drawing/2014/main" id="{742B53C1-DEF4-03BC-1091-C760A82D7E5F}"/>
                </a:ext>
              </a:extLst>
            </p:cNvPr>
            <p:cNvPicPr/>
            <p:nvPr/>
          </p:nvPicPr>
          <p:blipFill>
            <a:blip r:embed="rId3" cstate="print"/>
            <a:stretch>
              <a:fillRect/>
            </a:stretch>
          </p:blipFill>
          <p:spPr>
            <a:xfrm>
              <a:off x="998064" y="3498411"/>
              <a:ext cx="4577847" cy="2344558"/>
            </a:xfrm>
            <a:prstGeom prst="rect">
              <a:avLst/>
            </a:prstGeom>
          </p:spPr>
        </p:pic>
        <p:sp>
          <p:nvSpPr>
            <p:cNvPr id="16" name="object 6">
              <a:extLst>
                <a:ext uri="{FF2B5EF4-FFF2-40B4-BE49-F238E27FC236}">
                  <a16:creationId xmlns:a16="http://schemas.microsoft.com/office/drawing/2014/main" id="{3257BE8A-5C72-BED7-6362-EC30D45B050A}"/>
                </a:ext>
              </a:extLst>
            </p:cNvPr>
            <p:cNvSpPr/>
            <p:nvPr/>
          </p:nvSpPr>
          <p:spPr>
            <a:xfrm>
              <a:off x="943165" y="3424237"/>
              <a:ext cx="4733925" cy="2554605"/>
            </a:xfrm>
            <a:custGeom>
              <a:avLst/>
              <a:gdLst/>
              <a:ahLst/>
              <a:cxnLst/>
              <a:rect l="l" t="t" r="r" b="b"/>
              <a:pathLst>
                <a:path w="4733925" h="2554604">
                  <a:moveTo>
                    <a:pt x="0" y="2554605"/>
                  </a:moveTo>
                  <a:lnTo>
                    <a:pt x="4733925" y="2554605"/>
                  </a:lnTo>
                  <a:lnTo>
                    <a:pt x="4733925" y="0"/>
                  </a:lnTo>
                  <a:lnTo>
                    <a:pt x="0" y="0"/>
                  </a:lnTo>
                  <a:lnTo>
                    <a:pt x="0" y="2554605"/>
                  </a:lnTo>
                  <a:close/>
                </a:path>
              </a:pathLst>
            </a:custGeom>
            <a:ln w="9524">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pic>
        <p:nvPicPr>
          <p:cNvPr id="17" name="object 7">
            <a:extLst>
              <a:ext uri="{FF2B5EF4-FFF2-40B4-BE49-F238E27FC236}">
                <a16:creationId xmlns:a16="http://schemas.microsoft.com/office/drawing/2014/main" id="{AFC75033-DD53-756F-6383-339B09F18206}"/>
              </a:ext>
            </a:extLst>
          </p:cNvPr>
          <p:cNvPicPr/>
          <p:nvPr/>
        </p:nvPicPr>
        <p:blipFill>
          <a:blip r:embed="rId4" cstate="print"/>
          <a:stretch>
            <a:fillRect/>
          </a:stretch>
        </p:blipFill>
        <p:spPr>
          <a:xfrm>
            <a:off x="6970585" y="3487578"/>
            <a:ext cx="745807" cy="1052417"/>
          </a:xfrm>
          <a:prstGeom prst="rect">
            <a:avLst/>
          </a:prstGeom>
        </p:spPr>
      </p:pic>
      <p:sp>
        <p:nvSpPr>
          <p:cNvPr id="18" name="object 8">
            <a:extLst>
              <a:ext uri="{FF2B5EF4-FFF2-40B4-BE49-F238E27FC236}">
                <a16:creationId xmlns:a16="http://schemas.microsoft.com/office/drawing/2014/main" id="{1734A79F-D213-76AE-2A30-67CDF4BBA48F}"/>
              </a:ext>
            </a:extLst>
          </p:cNvPr>
          <p:cNvSpPr txBox="1"/>
          <p:nvPr/>
        </p:nvSpPr>
        <p:spPr>
          <a:xfrm>
            <a:off x="5833871" y="4828032"/>
            <a:ext cx="3034665" cy="958850"/>
          </a:xfrm>
          <a:prstGeom prst="rect">
            <a:avLst/>
          </a:prstGeom>
          <a:solidFill>
            <a:srgbClr val="FFF1CC"/>
          </a:solidFill>
          <a:ln w="12700">
            <a:solidFill>
              <a:srgbClr val="EC7C30"/>
            </a:solidFill>
          </a:ln>
        </p:spPr>
        <p:txBody>
          <a:bodyPr vert="horz" wrap="square" lIns="0" tIns="13335" rIns="0" bIns="0" rtlCol="0">
            <a:spAutoFit/>
          </a:bodyPr>
          <a:lstStyle/>
          <a:p>
            <a:pPr marL="92075" marR="100965" algn="just" rtl="0">
              <a:lnSpc>
                <a:spcPct val="120100"/>
              </a:lnSpc>
              <a:spcBef>
                <a:spcPts val="105"/>
              </a:spcBef>
            </a:pPr>
            <a:r>
              <a:rPr sz="1600" kern="1200" spc="-5" dirty="0">
                <a:solidFill>
                  <a:srgbClr val="FF0000"/>
                </a:solidFill>
                <a:latin typeface="Palatino Linotype"/>
                <a:cs typeface="Palatino Linotype"/>
              </a:rPr>
              <a:t>Why </a:t>
            </a:r>
            <a:r>
              <a:rPr sz="1600" kern="1200" spc="-10" dirty="0">
                <a:solidFill>
                  <a:srgbClr val="FF0000"/>
                </a:solidFill>
                <a:latin typeface="Palatino Linotype"/>
                <a:cs typeface="Palatino Linotype"/>
              </a:rPr>
              <a:t>this </a:t>
            </a:r>
            <a:r>
              <a:rPr sz="1600" kern="1200" spc="-5" dirty="0">
                <a:solidFill>
                  <a:srgbClr val="FF0000"/>
                </a:solidFill>
                <a:latin typeface="Palatino Linotype"/>
                <a:cs typeface="Palatino Linotype"/>
              </a:rPr>
              <a:t>incremental approach </a:t>
            </a:r>
            <a:r>
              <a:rPr sz="1600" kern="1200" spc="-385" dirty="0">
                <a:solidFill>
                  <a:srgbClr val="FF0000"/>
                </a:solidFill>
                <a:latin typeface="Palatino Linotype"/>
                <a:cs typeface="Palatino Linotype"/>
              </a:rPr>
              <a:t> </a:t>
            </a:r>
            <a:r>
              <a:rPr sz="1600" kern="1200" spc="-5" dirty="0">
                <a:solidFill>
                  <a:srgbClr val="FF0000"/>
                </a:solidFill>
                <a:latin typeface="Palatino Linotype"/>
                <a:cs typeface="Palatino Linotype"/>
              </a:rPr>
              <a:t>can guarantee </a:t>
            </a:r>
            <a:r>
              <a:rPr sz="1600" kern="1200" spc="-10" dirty="0">
                <a:solidFill>
                  <a:srgbClr val="FF0000"/>
                </a:solidFill>
                <a:latin typeface="Palatino Linotype"/>
                <a:cs typeface="Palatino Linotype"/>
              </a:rPr>
              <a:t>the </a:t>
            </a:r>
            <a:r>
              <a:rPr sz="1600" kern="1200" dirty="0">
                <a:solidFill>
                  <a:srgbClr val="FF0000"/>
                </a:solidFill>
                <a:latin typeface="Palatino Linotype"/>
                <a:cs typeface="Palatino Linotype"/>
              </a:rPr>
              <a:t>correct order </a:t>
            </a:r>
            <a:r>
              <a:rPr sz="1600" kern="1200" spc="-385" dirty="0">
                <a:solidFill>
                  <a:srgbClr val="FF0000"/>
                </a:solidFill>
                <a:latin typeface="Palatino Linotype"/>
                <a:cs typeface="Palatino Linotype"/>
              </a:rPr>
              <a:t> </a:t>
            </a:r>
            <a:r>
              <a:rPr sz="1600" kern="1200" spc="-5" dirty="0">
                <a:solidFill>
                  <a:srgbClr val="FF0000"/>
                </a:solidFill>
                <a:latin typeface="Palatino Linotype"/>
                <a:cs typeface="Palatino Linotype"/>
              </a:rPr>
              <a:t>of</a:t>
            </a:r>
            <a:r>
              <a:rPr sz="1600" kern="1200" dirty="0">
                <a:solidFill>
                  <a:srgbClr val="FF0000"/>
                </a:solidFill>
                <a:latin typeface="Palatino Linotype"/>
                <a:cs typeface="Palatino Linotype"/>
              </a:rPr>
              <a:t> </a:t>
            </a:r>
            <a:r>
              <a:rPr sz="1600" kern="1200" spc="-5" dirty="0">
                <a:solidFill>
                  <a:srgbClr val="FF0000"/>
                </a:solidFill>
                <a:latin typeface="Palatino Linotype"/>
                <a:cs typeface="Palatino Linotype"/>
              </a:rPr>
              <a:t>instructions?</a:t>
            </a:r>
            <a:endParaRPr sz="1600" kern="1200" dirty="0">
              <a:solidFill>
                <a:prstClr val="black"/>
              </a:solidFill>
              <a:latin typeface="Palatino Linotype"/>
              <a:cs typeface="Palatino Linotype"/>
            </a:endParaRPr>
          </a:p>
        </p:txBody>
      </p:sp>
    </p:spTree>
    <p:extLst>
      <p:ext uri="{BB962C8B-B14F-4D97-AF65-F5344CB8AC3E}">
        <p14:creationId xmlns:p14="http://schemas.microsoft.com/office/powerpoint/2010/main" val="28884083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58</a:t>
            </a:fld>
            <a:endParaRPr lang="en-US"/>
          </a:p>
        </p:txBody>
      </p:sp>
      <p:sp>
        <p:nvSpPr>
          <p:cNvPr id="11" name="object 2">
            <a:extLst>
              <a:ext uri="{FF2B5EF4-FFF2-40B4-BE49-F238E27FC236}">
                <a16:creationId xmlns:a16="http://schemas.microsoft.com/office/drawing/2014/main" id="{CBAFA697-42E0-3AF5-781A-00CD01601301}"/>
              </a:ext>
            </a:extLst>
          </p:cNvPr>
          <p:cNvSpPr txBox="1">
            <a:spLocks/>
          </p:cNvSpPr>
          <p:nvPr/>
        </p:nvSpPr>
        <p:spPr>
          <a:xfrm>
            <a:off x="707542" y="520141"/>
            <a:ext cx="751840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Incremental</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35" normalizeH="0" baseline="0" noProof="0">
                <a:ln>
                  <a:noFill/>
                </a:ln>
                <a:solidFill>
                  <a:sysClr val="windowText" lastClr="000000"/>
                </a:solidFill>
                <a:effectLst/>
                <a:uLnTx/>
                <a:uFillTx/>
                <a:latin typeface="Palatino Linotype"/>
                <a:ea typeface="+mj-ea"/>
              </a:rPr>
              <a:t>Translation</a:t>
            </a:r>
            <a:r>
              <a:rPr kumimoji="0" lang="en-US" sz="4000" b="1" i="0" u="none" strike="noStrike" kern="0" cap="none" spc="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Scheme</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12" name="object 3">
            <a:extLst>
              <a:ext uri="{FF2B5EF4-FFF2-40B4-BE49-F238E27FC236}">
                <a16:creationId xmlns:a16="http://schemas.microsoft.com/office/drawing/2014/main" id="{15222850-06A2-815C-A315-899D6036AB13}"/>
              </a:ext>
            </a:extLst>
          </p:cNvPr>
          <p:cNvSpPr txBox="1"/>
          <p:nvPr/>
        </p:nvSpPr>
        <p:spPr>
          <a:xfrm>
            <a:off x="707542" y="1596199"/>
            <a:ext cx="7638415" cy="1419860"/>
          </a:xfrm>
          <a:prstGeom prst="rect">
            <a:avLst/>
          </a:prstGeom>
        </p:spPr>
        <p:txBody>
          <a:bodyPr vert="horz" wrap="square" lIns="0" tIns="67945" rIns="0" bIns="0" rtlCol="0">
            <a:spAutoFit/>
          </a:bodyPr>
          <a:lstStyle/>
          <a:p>
            <a:pPr marL="242570" indent="-230504" rtl="0">
              <a:spcBef>
                <a:spcPts val="535"/>
              </a:spcBef>
              <a:buFont typeface="Arial MT"/>
              <a:buChar char="•"/>
              <a:tabLst>
                <a:tab pos="242570" algn="l"/>
                <a:tab pos="243204" algn="l"/>
              </a:tabLst>
            </a:pPr>
            <a:r>
              <a:rPr kern="1200" dirty="0">
                <a:solidFill>
                  <a:prstClr val="black"/>
                </a:solidFill>
                <a:latin typeface="Palatino Linotype"/>
                <a:cs typeface="Palatino Linotype"/>
              </a:rPr>
              <a:t>In</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the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SDT</a:t>
            </a:r>
            <a:r>
              <a:rPr kern="1200" spc="-5" dirty="0">
                <a:solidFill>
                  <a:prstClr val="black"/>
                </a:solidFill>
                <a:latin typeface="Palatino Linotype"/>
                <a:cs typeface="Palatino Linotype"/>
              </a:rPr>
              <a:t> </a:t>
            </a:r>
            <a:r>
              <a:rPr kern="1200" spc="-35" dirty="0">
                <a:solidFill>
                  <a:prstClr val="black"/>
                </a:solidFill>
                <a:latin typeface="Palatino Linotype"/>
                <a:cs typeface="Palatino Linotype"/>
              </a:rPr>
              <a:t>below,</a:t>
            </a:r>
            <a:r>
              <a:rPr kern="1200" spc="5" dirty="0">
                <a:solidFill>
                  <a:prstClr val="black"/>
                </a:solidFill>
                <a:latin typeface="Palatino Linotype"/>
                <a:cs typeface="Palatino Linotype"/>
              </a:rPr>
              <a:t> </a:t>
            </a:r>
            <a:r>
              <a:rPr kern="1200" spc="-5" dirty="0">
                <a:solidFill>
                  <a:srgbClr val="FF0000"/>
                </a:solidFill>
                <a:latin typeface="Cambria Math"/>
                <a:cs typeface="Cambria Math"/>
              </a:rPr>
              <a:t>𝑔𝑒𝑛</a:t>
            </a:r>
            <a:r>
              <a:rPr kern="1200" spc="95" dirty="0">
                <a:solidFill>
                  <a:srgbClr val="FF0000"/>
                </a:solidFill>
                <a:latin typeface="Cambria Math"/>
                <a:cs typeface="Cambria Math"/>
              </a:rPr>
              <a:t> </a:t>
            </a:r>
            <a:r>
              <a:rPr kern="1200" spc="-5" dirty="0">
                <a:solidFill>
                  <a:prstClr val="black"/>
                </a:solidFill>
                <a:latin typeface="Palatino Linotype"/>
                <a:cs typeface="Palatino Linotype"/>
              </a:rPr>
              <a:t>not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only</a:t>
            </a:r>
            <a:r>
              <a:rPr kern="1200" spc="20" dirty="0">
                <a:solidFill>
                  <a:prstClr val="black"/>
                </a:solidFill>
                <a:latin typeface="Palatino Linotype"/>
                <a:cs typeface="Palatino Linotype"/>
              </a:rPr>
              <a:t> </a:t>
            </a:r>
            <a:r>
              <a:rPr kern="1200" spc="-5" dirty="0">
                <a:solidFill>
                  <a:srgbClr val="0431FF"/>
                </a:solidFill>
                <a:latin typeface="Palatino Linotype"/>
                <a:cs typeface="Palatino Linotype"/>
              </a:rPr>
              <a:t>generates</a:t>
            </a:r>
            <a:r>
              <a:rPr kern="1200" dirty="0">
                <a:solidFill>
                  <a:srgbClr val="0431FF"/>
                </a:solidFill>
                <a:latin typeface="Palatino Linotype"/>
                <a:cs typeface="Palatino Linotype"/>
              </a:rPr>
              <a:t> </a:t>
            </a:r>
            <a:r>
              <a:rPr kern="1200" dirty="0">
                <a:solidFill>
                  <a:prstClr val="black"/>
                </a:solidFill>
                <a:latin typeface="Palatino Linotype"/>
                <a:cs typeface="Palatino Linotype"/>
              </a:rPr>
              <a:t>a</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three-address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instruction,</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but</a:t>
            </a:r>
            <a:endParaRPr kern="1200" dirty="0">
              <a:solidFill>
                <a:prstClr val="black"/>
              </a:solidFill>
              <a:latin typeface="Palatino Linotype"/>
              <a:cs typeface="Palatino Linotype"/>
            </a:endParaRPr>
          </a:p>
          <a:p>
            <a:pPr marL="242570" rtl="0">
              <a:spcBef>
                <a:spcPts val="434"/>
              </a:spcBef>
            </a:pPr>
            <a:r>
              <a:rPr kern="1200" dirty="0">
                <a:solidFill>
                  <a:prstClr val="black"/>
                </a:solidFill>
                <a:latin typeface="Palatino Linotype"/>
                <a:cs typeface="Palatino Linotype"/>
              </a:rPr>
              <a:t>also</a:t>
            </a:r>
            <a:r>
              <a:rPr kern="1200" spc="-5" dirty="0">
                <a:solidFill>
                  <a:prstClr val="black"/>
                </a:solidFill>
                <a:latin typeface="Palatino Linotype"/>
                <a:cs typeface="Palatino Linotype"/>
              </a:rPr>
              <a:t> </a:t>
            </a:r>
            <a:r>
              <a:rPr kern="1200" spc="-5" dirty="0">
                <a:solidFill>
                  <a:srgbClr val="0431FF"/>
                </a:solidFill>
                <a:latin typeface="Palatino Linotype"/>
                <a:cs typeface="Palatino Linotype"/>
              </a:rPr>
              <a:t>appends</a:t>
            </a:r>
            <a:r>
              <a:rPr kern="1200" spc="20" dirty="0">
                <a:solidFill>
                  <a:srgbClr val="0431FF"/>
                </a:solidFill>
                <a:latin typeface="Palatino Linotype"/>
                <a:cs typeface="Palatino Linotype"/>
              </a:rPr>
              <a:t> </a:t>
            </a:r>
            <a:r>
              <a:rPr kern="1200" dirty="0">
                <a:solidFill>
                  <a:prstClr val="black"/>
                </a:solidFill>
                <a:latin typeface="Palatino Linotype"/>
                <a:cs typeface="Palatino Linotype"/>
              </a:rPr>
              <a:t>it</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to</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the</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sequence</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of</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instructions</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generated</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so far</a:t>
            </a:r>
          </a:p>
          <a:p>
            <a:pPr marL="242570" marR="653415" indent="-230504" rtl="0">
              <a:lnSpc>
                <a:spcPct val="120000"/>
              </a:lnSpc>
              <a:spcBef>
                <a:spcPts val="600"/>
              </a:spcBef>
              <a:buFont typeface="Arial MT"/>
              <a:buChar char="•"/>
              <a:tabLst>
                <a:tab pos="242570" algn="l"/>
                <a:tab pos="243204" algn="l"/>
              </a:tabLst>
            </a:pPr>
            <a:r>
              <a:rPr kern="1200" dirty="0">
                <a:solidFill>
                  <a:prstClr val="black"/>
                </a:solidFill>
                <a:latin typeface="Palatino Linotype"/>
                <a:cs typeface="Palatino Linotype"/>
              </a:rPr>
              <a:t>In </a:t>
            </a:r>
            <a:r>
              <a:rPr kern="1200" spc="-5" dirty="0">
                <a:solidFill>
                  <a:prstClr val="black"/>
                </a:solidFill>
                <a:latin typeface="Palatino Linotype"/>
                <a:cs typeface="Palatino Linotype"/>
              </a:rPr>
              <a:t>comparison,</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in</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the previous</a:t>
            </a:r>
            <a:r>
              <a:rPr kern="1200" dirty="0">
                <a:solidFill>
                  <a:prstClr val="black"/>
                </a:solidFill>
                <a:latin typeface="Palatino Linotype"/>
                <a:cs typeface="Palatino Linotype"/>
              </a:rPr>
              <a:t> SDD,</a:t>
            </a:r>
            <a:r>
              <a:rPr kern="1200" spc="-20" dirty="0">
                <a:solidFill>
                  <a:prstClr val="black"/>
                </a:solidFill>
                <a:latin typeface="Palatino Linotype"/>
                <a:cs typeface="Palatino Linotype"/>
              </a:rPr>
              <a:t> </a:t>
            </a:r>
            <a:r>
              <a:rPr kern="1200" spc="-5" dirty="0">
                <a:solidFill>
                  <a:prstClr val="black"/>
                </a:solidFill>
                <a:latin typeface="Palatino Linotype"/>
                <a:cs typeface="Palatino Linotype"/>
              </a:rPr>
              <a:t>the</a:t>
            </a:r>
            <a:r>
              <a:rPr kern="1200" spc="25" dirty="0">
                <a:solidFill>
                  <a:prstClr val="black"/>
                </a:solidFill>
                <a:latin typeface="Palatino Linotype"/>
                <a:cs typeface="Palatino Linotype"/>
              </a:rPr>
              <a:t> </a:t>
            </a:r>
            <a:r>
              <a:rPr kern="1200" dirty="0">
                <a:solidFill>
                  <a:srgbClr val="FF0000"/>
                </a:solidFill>
                <a:latin typeface="Cambria Math"/>
                <a:cs typeface="Cambria Math"/>
              </a:rPr>
              <a:t>𝑐𝑜𝑑𝑒</a:t>
            </a:r>
            <a:r>
              <a:rPr kern="1200" spc="85" dirty="0">
                <a:solidFill>
                  <a:srgbClr val="FF0000"/>
                </a:solidFill>
                <a:latin typeface="Cambria Math"/>
                <a:cs typeface="Cambria Math"/>
              </a:rPr>
              <a:t> </a:t>
            </a:r>
            <a:r>
              <a:rPr kern="1200" dirty="0">
                <a:solidFill>
                  <a:prstClr val="black"/>
                </a:solidFill>
                <a:latin typeface="Palatino Linotype"/>
                <a:cs typeface="Palatino Linotype"/>
              </a:rPr>
              <a:t>attribute can </a:t>
            </a:r>
            <a:r>
              <a:rPr kern="1200" spc="-5" dirty="0">
                <a:solidFill>
                  <a:prstClr val="black"/>
                </a:solidFill>
                <a:latin typeface="Palatino Linotype"/>
                <a:cs typeface="Palatino Linotype"/>
              </a:rPr>
              <a:t>be </a:t>
            </a:r>
            <a:r>
              <a:rPr kern="1200" dirty="0">
                <a:solidFill>
                  <a:prstClr val="black"/>
                </a:solidFill>
                <a:latin typeface="Palatino Linotype"/>
                <a:cs typeface="Palatino Linotype"/>
              </a:rPr>
              <a:t>long </a:t>
            </a:r>
            <a:r>
              <a:rPr kern="1200" spc="-434" dirty="0">
                <a:solidFill>
                  <a:prstClr val="black"/>
                </a:solidFill>
                <a:latin typeface="Palatino Linotype"/>
                <a:cs typeface="Palatino Linotype"/>
              </a:rPr>
              <a:t> </a:t>
            </a:r>
            <a:r>
              <a:rPr kern="1200" spc="-5" dirty="0">
                <a:solidFill>
                  <a:prstClr val="black"/>
                </a:solidFill>
                <a:latin typeface="Palatino Linotype"/>
                <a:cs typeface="Palatino Linotype"/>
              </a:rPr>
              <a:t>strings </a:t>
            </a:r>
            <a:r>
              <a:rPr kern="1200" dirty="0">
                <a:solidFill>
                  <a:prstClr val="black"/>
                </a:solidFill>
                <a:latin typeface="Palatino Linotype"/>
                <a:cs typeface="Palatino Linotype"/>
              </a:rPr>
              <a:t>after </a:t>
            </a:r>
            <a:r>
              <a:rPr kern="1200" spc="-5" dirty="0">
                <a:solidFill>
                  <a:prstClr val="black"/>
                </a:solidFill>
                <a:latin typeface="Palatino Linotype"/>
                <a:cs typeface="Palatino Linotype"/>
              </a:rPr>
              <a:t>concatenations</a:t>
            </a:r>
            <a:endParaRPr kern="1200" dirty="0">
              <a:solidFill>
                <a:prstClr val="black"/>
              </a:solidFill>
              <a:latin typeface="Palatino Linotype"/>
              <a:cs typeface="Palatino Linotype"/>
            </a:endParaRPr>
          </a:p>
        </p:txBody>
      </p:sp>
      <p:grpSp>
        <p:nvGrpSpPr>
          <p:cNvPr id="13" name="object 4">
            <a:extLst>
              <a:ext uri="{FF2B5EF4-FFF2-40B4-BE49-F238E27FC236}">
                <a16:creationId xmlns:a16="http://schemas.microsoft.com/office/drawing/2014/main" id="{D0AA53A0-7D70-C934-7DE1-2BEC94CC219B}"/>
              </a:ext>
            </a:extLst>
          </p:cNvPr>
          <p:cNvGrpSpPr/>
          <p:nvPr/>
        </p:nvGrpSpPr>
        <p:grpSpPr>
          <a:xfrm>
            <a:off x="938402" y="3419475"/>
            <a:ext cx="4743450" cy="2564130"/>
            <a:chOff x="938402" y="3419475"/>
            <a:chExt cx="4743450" cy="2564130"/>
          </a:xfrm>
        </p:grpSpPr>
        <p:pic>
          <p:nvPicPr>
            <p:cNvPr id="14" name="object 5">
              <a:extLst>
                <a:ext uri="{FF2B5EF4-FFF2-40B4-BE49-F238E27FC236}">
                  <a16:creationId xmlns:a16="http://schemas.microsoft.com/office/drawing/2014/main" id="{1BF3EEBF-8A17-7C8D-2815-18E52E76C786}"/>
                </a:ext>
              </a:extLst>
            </p:cNvPr>
            <p:cNvPicPr/>
            <p:nvPr/>
          </p:nvPicPr>
          <p:blipFill>
            <a:blip r:embed="rId3" cstate="print"/>
            <a:stretch>
              <a:fillRect/>
            </a:stretch>
          </p:blipFill>
          <p:spPr>
            <a:xfrm>
              <a:off x="998064" y="3498411"/>
              <a:ext cx="4577847" cy="2344558"/>
            </a:xfrm>
            <a:prstGeom prst="rect">
              <a:avLst/>
            </a:prstGeom>
          </p:spPr>
        </p:pic>
        <p:sp>
          <p:nvSpPr>
            <p:cNvPr id="15" name="object 6">
              <a:extLst>
                <a:ext uri="{FF2B5EF4-FFF2-40B4-BE49-F238E27FC236}">
                  <a16:creationId xmlns:a16="http://schemas.microsoft.com/office/drawing/2014/main" id="{B1883220-F73C-17E8-14F3-26ACD170BDD3}"/>
                </a:ext>
              </a:extLst>
            </p:cNvPr>
            <p:cNvSpPr/>
            <p:nvPr/>
          </p:nvSpPr>
          <p:spPr>
            <a:xfrm>
              <a:off x="943165" y="3424237"/>
              <a:ext cx="4733925" cy="2554605"/>
            </a:xfrm>
            <a:custGeom>
              <a:avLst/>
              <a:gdLst/>
              <a:ahLst/>
              <a:cxnLst/>
              <a:rect l="l" t="t" r="r" b="b"/>
              <a:pathLst>
                <a:path w="4733925" h="2554604">
                  <a:moveTo>
                    <a:pt x="0" y="2554605"/>
                  </a:moveTo>
                  <a:lnTo>
                    <a:pt x="4733925" y="2554605"/>
                  </a:lnTo>
                  <a:lnTo>
                    <a:pt x="4733925" y="0"/>
                  </a:lnTo>
                  <a:lnTo>
                    <a:pt x="0" y="0"/>
                  </a:lnTo>
                  <a:lnTo>
                    <a:pt x="0" y="2554605"/>
                  </a:lnTo>
                  <a:close/>
                </a:path>
              </a:pathLst>
            </a:custGeom>
            <a:ln w="9524">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16" name="object 7">
            <a:extLst>
              <a:ext uri="{FF2B5EF4-FFF2-40B4-BE49-F238E27FC236}">
                <a16:creationId xmlns:a16="http://schemas.microsoft.com/office/drawing/2014/main" id="{6676CD95-78C3-AFF2-0134-9A2EAD151046}"/>
              </a:ext>
            </a:extLst>
          </p:cNvPr>
          <p:cNvSpPr txBox="1"/>
          <p:nvPr/>
        </p:nvSpPr>
        <p:spPr>
          <a:xfrm>
            <a:off x="5870447" y="3777996"/>
            <a:ext cx="3034665" cy="1847214"/>
          </a:xfrm>
          <a:prstGeom prst="rect">
            <a:avLst/>
          </a:prstGeom>
          <a:solidFill>
            <a:srgbClr val="FFF1CC"/>
          </a:solidFill>
          <a:ln w="12700">
            <a:solidFill>
              <a:srgbClr val="EC7C30"/>
            </a:solidFill>
          </a:ln>
        </p:spPr>
        <p:txBody>
          <a:bodyPr vert="horz" wrap="square" lIns="0" tIns="14604" rIns="0" bIns="0" rtlCol="0">
            <a:spAutoFit/>
          </a:bodyPr>
          <a:lstStyle/>
          <a:p>
            <a:pPr marL="91440" marR="223520" rtl="0">
              <a:lnSpc>
                <a:spcPct val="120000"/>
              </a:lnSpc>
              <a:spcBef>
                <a:spcPts val="114"/>
              </a:spcBef>
            </a:pPr>
            <a:r>
              <a:rPr sz="1600" kern="1200" spc="-5" dirty="0">
                <a:solidFill>
                  <a:prstClr val="black"/>
                </a:solidFill>
                <a:latin typeface="Palatino Linotype"/>
                <a:cs typeface="Palatino Linotype"/>
              </a:rPr>
              <a:t>This</a:t>
            </a:r>
            <a:r>
              <a:rPr sz="1600" kern="1200" spc="-10" dirty="0">
                <a:solidFill>
                  <a:prstClr val="black"/>
                </a:solidFill>
                <a:latin typeface="Palatino Linotype"/>
                <a:cs typeface="Palatino Linotype"/>
              </a:rPr>
              <a:t> postfix</a:t>
            </a:r>
            <a:r>
              <a:rPr sz="1600" kern="1200" spc="20" dirty="0">
                <a:solidFill>
                  <a:prstClr val="black"/>
                </a:solidFill>
                <a:latin typeface="Palatino Linotype"/>
                <a:cs typeface="Palatino Linotype"/>
              </a:rPr>
              <a:t> </a:t>
            </a:r>
            <a:r>
              <a:rPr sz="1600" kern="1200" spc="-5" dirty="0">
                <a:solidFill>
                  <a:prstClr val="black"/>
                </a:solidFill>
                <a:latin typeface="Palatino Linotype"/>
                <a:cs typeface="Palatino Linotype"/>
              </a:rPr>
              <a:t>SDT</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can</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be </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implemented</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in bottom-up </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parsing where subexpressions </a:t>
            </a:r>
            <a:r>
              <a:rPr sz="1600" kern="1200" spc="-385" dirty="0">
                <a:solidFill>
                  <a:prstClr val="black"/>
                </a:solidFill>
                <a:latin typeface="Palatino Linotype"/>
                <a:cs typeface="Palatino Linotype"/>
              </a:rPr>
              <a:t> </a:t>
            </a:r>
            <a:r>
              <a:rPr sz="1600" kern="1200" spc="-5" dirty="0">
                <a:solidFill>
                  <a:prstClr val="black"/>
                </a:solidFill>
                <a:latin typeface="Palatino Linotype"/>
                <a:cs typeface="Palatino Linotype"/>
              </a:rPr>
              <a:t>are</a:t>
            </a:r>
            <a:r>
              <a:rPr sz="1600" kern="1200" spc="-10" dirty="0">
                <a:solidFill>
                  <a:prstClr val="black"/>
                </a:solidFill>
                <a:latin typeface="Palatino Linotype"/>
                <a:cs typeface="Palatino Linotype"/>
              </a:rPr>
              <a:t> </a:t>
            </a:r>
            <a:r>
              <a:rPr sz="1600" kern="1200" spc="-15" dirty="0">
                <a:solidFill>
                  <a:prstClr val="black"/>
                </a:solidFill>
                <a:latin typeface="Palatino Linotype"/>
                <a:cs typeface="Palatino Linotype"/>
              </a:rPr>
              <a:t>always </a:t>
            </a:r>
            <a:r>
              <a:rPr sz="1600" kern="1200" spc="-5" dirty="0">
                <a:solidFill>
                  <a:prstClr val="black"/>
                </a:solidFill>
                <a:latin typeface="Palatino Linotype"/>
                <a:cs typeface="Palatino Linotype"/>
              </a:rPr>
              <a:t>handled</a:t>
            </a:r>
            <a:r>
              <a:rPr sz="1600" kern="1200" spc="20" dirty="0">
                <a:solidFill>
                  <a:prstClr val="black"/>
                </a:solidFill>
                <a:latin typeface="Palatino Linotype"/>
                <a:cs typeface="Palatino Linotype"/>
              </a:rPr>
              <a:t> </a:t>
            </a:r>
            <a:r>
              <a:rPr sz="1600" kern="1200" spc="-5" dirty="0">
                <a:solidFill>
                  <a:prstClr val="black"/>
                </a:solidFill>
                <a:latin typeface="Palatino Linotype"/>
                <a:cs typeface="Palatino Linotype"/>
              </a:rPr>
              <a:t>first</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(e.g., </a:t>
            </a:r>
            <a:r>
              <a:rPr sz="1600" kern="1200" dirty="0">
                <a:solidFill>
                  <a:prstClr val="black"/>
                </a:solidFill>
                <a:latin typeface="Palatino Linotype"/>
                <a:cs typeface="Palatino Linotype"/>
              </a:rPr>
              <a:t> </a:t>
            </a:r>
            <a:r>
              <a:rPr sz="1600" kern="1200" spc="-10" dirty="0">
                <a:solidFill>
                  <a:prstClr val="black"/>
                </a:solidFill>
                <a:latin typeface="Palatino Linotype"/>
                <a:cs typeface="Palatino Linotype"/>
              </a:rPr>
              <a:t>the </a:t>
            </a:r>
            <a:r>
              <a:rPr sz="1600" kern="1200" spc="-5" dirty="0">
                <a:solidFill>
                  <a:prstClr val="black"/>
                </a:solidFill>
                <a:latin typeface="Palatino Linotype"/>
                <a:cs typeface="Palatino Linotype"/>
              </a:rPr>
              <a:t>code </a:t>
            </a:r>
            <a:r>
              <a:rPr sz="1600" kern="1200" dirty="0">
                <a:solidFill>
                  <a:prstClr val="black"/>
                </a:solidFill>
                <a:latin typeface="Palatino Linotype"/>
                <a:cs typeface="Palatino Linotype"/>
              </a:rPr>
              <a:t>of </a:t>
            </a:r>
            <a:r>
              <a:rPr sz="1600" i="1" kern="1200" dirty="0">
                <a:solidFill>
                  <a:prstClr val="black"/>
                </a:solidFill>
                <a:latin typeface="Palatino Linotype"/>
                <a:cs typeface="Palatino Linotype"/>
              </a:rPr>
              <a:t>E</a:t>
            </a:r>
            <a:r>
              <a:rPr sz="1575" kern="1200" baseline="-21164" dirty="0">
                <a:solidFill>
                  <a:prstClr val="black"/>
                </a:solidFill>
                <a:latin typeface="Palatino Linotype"/>
                <a:cs typeface="Palatino Linotype"/>
              </a:rPr>
              <a:t>1</a:t>
            </a:r>
            <a:r>
              <a:rPr sz="1575" kern="1200" spc="7" baseline="-21164" dirty="0">
                <a:solidFill>
                  <a:prstClr val="black"/>
                </a:solidFill>
                <a:latin typeface="Palatino Linotype"/>
                <a:cs typeface="Palatino Linotype"/>
              </a:rPr>
              <a:t> </a:t>
            </a:r>
            <a:r>
              <a:rPr sz="1600" kern="1200" spc="-5" dirty="0">
                <a:solidFill>
                  <a:prstClr val="black"/>
                </a:solidFill>
                <a:latin typeface="Palatino Linotype"/>
                <a:cs typeface="Palatino Linotype"/>
              </a:rPr>
              <a:t>and </a:t>
            </a:r>
            <a:r>
              <a:rPr sz="1600" i="1" kern="1200" dirty="0">
                <a:solidFill>
                  <a:prstClr val="black"/>
                </a:solidFill>
                <a:latin typeface="Palatino Linotype"/>
                <a:cs typeface="Palatino Linotype"/>
              </a:rPr>
              <a:t>E</a:t>
            </a:r>
            <a:r>
              <a:rPr sz="1575" kern="1200" baseline="-21164" dirty="0">
                <a:solidFill>
                  <a:prstClr val="black"/>
                </a:solidFill>
                <a:latin typeface="Palatino Linotype"/>
                <a:cs typeface="Palatino Linotype"/>
              </a:rPr>
              <a:t>2</a:t>
            </a:r>
            <a:r>
              <a:rPr sz="1575" kern="1200" spc="7" baseline="-21164" dirty="0">
                <a:solidFill>
                  <a:prstClr val="black"/>
                </a:solidFill>
                <a:latin typeface="Palatino Linotype"/>
                <a:cs typeface="Palatino Linotype"/>
              </a:rPr>
              <a:t> </a:t>
            </a:r>
            <a:r>
              <a:rPr sz="1600" kern="1200" spc="-5" dirty="0">
                <a:solidFill>
                  <a:prstClr val="black"/>
                </a:solidFill>
                <a:latin typeface="Palatino Linotype"/>
                <a:cs typeface="Palatino Linotype"/>
              </a:rPr>
              <a:t>is </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generated before</a:t>
            </a:r>
            <a:r>
              <a:rPr sz="1600" kern="1200" spc="5" dirty="0">
                <a:solidFill>
                  <a:prstClr val="black"/>
                </a:solidFill>
                <a:latin typeface="Palatino Linotype"/>
                <a:cs typeface="Palatino Linotype"/>
              </a:rPr>
              <a:t> </a:t>
            </a:r>
            <a:r>
              <a:rPr sz="1600" i="1" kern="1200" spc="-5" dirty="0">
                <a:solidFill>
                  <a:prstClr val="black"/>
                </a:solidFill>
                <a:latin typeface="Palatino Linotype"/>
                <a:cs typeface="Palatino Linotype"/>
              </a:rPr>
              <a:t>E</a:t>
            </a:r>
            <a:r>
              <a:rPr sz="1600" kern="1200" spc="-5" dirty="0">
                <a:solidFill>
                  <a:prstClr val="black"/>
                </a:solidFill>
                <a:latin typeface="Palatino Linotype"/>
                <a:cs typeface="Palatino Linotype"/>
              </a:rPr>
              <a:t>)</a:t>
            </a:r>
            <a:endParaRPr sz="1600" kern="1200" dirty="0">
              <a:solidFill>
                <a:prstClr val="black"/>
              </a:solidFill>
              <a:latin typeface="Palatino Linotype"/>
              <a:cs typeface="Palatino Linotype"/>
            </a:endParaRPr>
          </a:p>
        </p:txBody>
      </p:sp>
    </p:spTree>
    <p:extLst>
      <p:ext uri="{BB962C8B-B14F-4D97-AF65-F5344CB8AC3E}">
        <p14:creationId xmlns:p14="http://schemas.microsoft.com/office/powerpoint/2010/main" val="32012932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59</a:t>
            </a:fld>
            <a:endParaRPr lang="en-US"/>
          </a:p>
        </p:txBody>
      </p:sp>
      <p:sp>
        <p:nvSpPr>
          <p:cNvPr id="49" name="object 2">
            <a:extLst>
              <a:ext uri="{FF2B5EF4-FFF2-40B4-BE49-F238E27FC236}">
                <a16:creationId xmlns:a16="http://schemas.microsoft.com/office/drawing/2014/main" id="{BD1DF422-1459-5E3F-3F8C-8418EB7EFCFB}"/>
              </a:ext>
            </a:extLst>
          </p:cNvPr>
          <p:cNvSpPr txBox="1">
            <a:spLocks/>
          </p:cNvSpPr>
          <p:nvPr/>
        </p:nvSpPr>
        <p:spPr>
          <a:xfrm>
            <a:off x="707542" y="314705"/>
            <a:ext cx="7195184" cy="57404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tab pos="4673600" algn="l"/>
              </a:tabLst>
              <a:defRPr/>
            </a:pPr>
            <a:r>
              <a:rPr kumimoji="0" lang="en-US" sz="3600" b="1" i="0" u="none" strike="noStrike" kern="0" cap="none" spc="0" normalizeH="0" baseline="0" noProof="0">
                <a:ln>
                  <a:noFill/>
                </a:ln>
                <a:solidFill>
                  <a:sysClr val="windowText" lastClr="000000"/>
                </a:solidFill>
                <a:effectLst/>
                <a:uLnTx/>
                <a:uFillTx/>
                <a:latin typeface="Palatino Linotype"/>
                <a:ea typeface="+mj-ea"/>
              </a:rPr>
              <a:t>Example: </a:t>
            </a:r>
            <a:r>
              <a:rPr kumimoji="0" lang="en-US" sz="3600" b="1" i="0" u="none" strike="noStrike" kern="0" cap="none" spc="-265" normalizeH="0" baseline="0" noProof="0">
                <a:ln>
                  <a:noFill/>
                </a:ln>
                <a:solidFill>
                  <a:sysClr val="windowText" lastClr="000000"/>
                </a:solidFill>
                <a:effectLst/>
                <a:uLnTx/>
                <a:uFillTx/>
                <a:latin typeface="Palatino Linotype"/>
                <a:ea typeface="+mj-ea"/>
              </a:rPr>
              <a:t>T</a:t>
            </a:r>
            <a:r>
              <a:rPr kumimoji="0" lang="en-US" sz="3600" b="1" i="0" u="none" strike="noStrike" kern="0" cap="none" spc="-5" normalizeH="0" baseline="0" noProof="0">
                <a:ln>
                  <a:noFill/>
                </a:ln>
                <a:solidFill>
                  <a:sysClr val="windowText" lastClr="000000"/>
                </a:solidFill>
                <a:effectLst/>
                <a:uLnTx/>
                <a:uFillTx/>
                <a:latin typeface="Palatino Linotype"/>
                <a:ea typeface="+mj-ea"/>
              </a:rPr>
              <a:t>ranslatin</a:t>
            </a:r>
            <a:r>
              <a:rPr kumimoji="0" lang="en-US" sz="3600" b="1" i="0" u="none" strike="noStrike" kern="0" cap="none" spc="0" normalizeH="0" baseline="0" noProof="0">
                <a:ln>
                  <a:noFill/>
                </a:ln>
                <a:solidFill>
                  <a:sysClr val="windowText" lastClr="000000"/>
                </a:solidFill>
                <a:effectLst/>
                <a:uLnTx/>
                <a:uFillTx/>
                <a:latin typeface="Palatino Linotype"/>
                <a:ea typeface="+mj-ea"/>
              </a:rPr>
              <a:t>g	</a:t>
            </a:r>
            <a:r>
              <a:rPr kumimoji="0" lang="en-US" sz="3600" b="1" i="0" u="none" strike="noStrike" kern="0" cap="none" spc="0" normalizeH="0" baseline="0" noProof="0">
                <a:ln>
                  <a:noFill/>
                </a:ln>
                <a:solidFill>
                  <a:srgbClr val="0431FF"/>
                </a:solidFill>
                <a:effectLst/>
                <a:uLnTx/>
                <a:uFillTx/>
                <a:latin typeface="Consolas"/>
                <a:ea typeface="+mj-ea"/>
                <a:cs typeface="Consolas"/>
              </a:rPr>
              <a:t>c</a:t>
            </a:r>
            <a:r>
              <a:rPr kumimoji="0" lang="en-US" sz="3600" b="1" i="0" u="none" strike="noStrike" kern="0" cap="none" spc="-1440" normalizeH="0" baseline="0" noProof="0">
                <a:ln>
                  <a:noFill/>
                </a:ln>
                <a:solidFill>
                  <a:srgbClr val="0431FF"/>
                </a:solidFill>
                <a:effectLst/>
                <a:uLnTx/>
                <a:uFillTx/>
                <a:latin typeface="Consolas"/>
                <a:ea typeface="+mj-ea"/>
                <a:cs typeface="Consolas"/>
              </a:rPr>
              <a:t> </a:t>
            </a:r>
            <a:r>
              <a:rPr kumimoji="0" lang="en-US" sz="3600" b="1" i="0" u="none" strike="noStrike" kern="0" cap="none" spc="0" normalizeH="0" baseline="0" noProof="0">
                <a:ln>
                  <a:noFill/>
                </a:ln>
                <a:solidFill>
                  <a:srgbClr val="0431FF"/>
                </a:solidFill>
                <a:effectLst/>
                <a:uLnTx/>
                <a:uFillTx/>
                <a:latin typeface="Consolas"/>
                <a:ea typeface="+mj-ea"/>
                <a:cs typeface="Consolas"/>
              </a:rPr>
              <a:t>=</a:t>
            </a:r>
            <a:r>
              <a:rPr kumimoji="0" lang="en-US" sz="3600" b="1" i="0" u="none" strike="noStrike" kern="0" cap="none" spc="-1425" normalizeH="0" baseline="0" noProof="0">
                <a:ln>
                  <a:noFill/>
                </a:ln>
                <a:solidFill>
                  <a:srgbClr val="0431FF"/>
                </a:solidFill>
                <a:effectLst/>
                <a:uLnTx/>
                <a:uFillTx/>
                <a:latin typeface="Consolas"/>
                <a:ea typeface="+mj-ea"/>
                <a:cs typeface="Consolas"/>
              </a:rPr>
              <a:t> </a:t>
            </a:r>
            <a:r>
              <a:rPr kumimoji="0" lang="en-US" sz="3600" b="1" i="0" u="none" strike="noStrike" kern="0" cap="none" spc="0" normalizeH="0" baseline="0" noProof="0">
                <a:ln>
                  <a:noFill/>
                </a:ln>
                <a:solidFill>
                  <a:srgbClr val="0431FF"/>
                </a:solidFill>
                <a:effectLst/>
                <a:uLnTx/>
                <a:uFillTx/>
                <a:latin typeface="Consolas"/>
                <a:ea typeface="+mj-ea"/>
                <a:cs typeface="Consolas"/>
              </a:rPr>
              <a:t>–</a:t>
            </a:r>
            <a:r>
              <a:rPr kumimoji="0" lang="en-US" sz="3600" b="1" i="0" u="none" strike="noStrike" kern="0" cap="none" spc="-1440" normalizeH="0" baseline="0" noProof="0">
                <a:ln>
                  <a:noFill/>
                </a:ln>
                <a:solidFill>
                  <a:srgbClr val="0431FF"/>
                </a:solidFill>
                <a:effectLst/>
                <a:uLnTx/>
                <a:uFillTx/>
                <a:latin typeface="Consolas"/>
                <a:ea typeface="+mj-ea"/>
                <a:cs typeface="Consolas"/>
              </a:rPr>
              <a:t> </a:t>
            </a:r>
            <a:r>
              <a:rPr kumimoji="0" lang="en-US" sz="3600" b="1" i="0" u="none" strike="noStrike" kern="0" cap="none" spc="0" normalizeH="0" baseline="0" noProof="0">
                <a:ln>
                  <a:noFill/>
                </a:ln>
                <a:solidFill>
                  <a:srgbClr val="0431FF"/>
                </a:solidFill>
                <a:effectLst/>
                <a:uLnTx/>
                <a:uFillTx/>
                <a:latin typeface="Consolas"/>
                <a:ea typeface="+mj-ea"/>
                <a:cs typeface="Consolas"/>
              </a:rPr>
              <a:t>(</a:t>
            </a:r>
            <a:r>
              <a:rPr kumimoji="0" lang="en-US" sz="3600" b="1" i="0" u="none" strike="noStrike" kern="0" cap="none" spc="-1380" normalizeH="0" baseline="0" noProof="0">
                <a:ln>
                  <a:noFill/>
                </a:ln>
                <a:solidFill>
                  <a:srgbClr val="0431FF"/>
                </a:solidFill>
                <a:effectLst/>
                <a:uLnTx/>
                <a:uFillTx/>
                <a:latin typeface="Consolas"/>
                <a:ea typeface="+mj-ea"/>
                <a:cs typeface="Consolas"/>
              </a:rPr>
              <a:t> </a:t>
            </a:r>
            <a:r>
              <a:rPr kumimoji="0" lang="en-US" sz="3600" b="1" i="0" u="none" strike="noStrike" kern="0" cap="none" spc="0" normalizeH="0" baseline="0" noProof="0">
                <a:ln>
                  <a:noFill/>
                </a:ln>
                <a:solidFill>
                  <a:srgbClr val="0431FF"/>
                </a:solidFill>
                <a:effectLst/>
                <a:uLnTx/>
                <a:uFillTx/>
                <a:latin typeface="Consolas"/>
                <a:ea typeface="+mj-ea"/>
                <a:cs typeface="Consolas"/>
              </a:rPr>
              <a:t>a</a:t>
            </a:r>
            <a:r>
              <a:rPr kumimoji="0" lang="en-US" sz="3600" b="1" i="0" u="none" strike="noStrike" kern="0" cap="none" spc="-1440" normalizeH="0" baseline="0" noProof="0">
                <a:ln>
                  <a:noFill/>
                </a:ln>
                <a:solidFill>
                  <a:srgbClr val="0431FF"/>
                </a:solidFill>
                <a:effectLst/>
                <a:uLnTx/>
                <a:uFillTx/>
                <a:latin typeface="Consolas"/>
                <a:ea typeface="+mj-ea"/>
                <a:cs typeface="Consolas"/>
              </a:rPr>
              <a:t> </a:t>
            </a:r>
            <a:r>
              <a:rPr kumimoji="0" lang="en-US" sz="3600" b="1" i="0" u="none" strike="noStrike" kern="0" cap="none" spc="0" normalizeH="0" baseline="0" noProof="0">
                <a:ln>
                  <a:noFill/>
                </a:ln>
                <a:solidFill>
                  <a:srgbClr val="0431FF"/>
                </a:solidFill>
                <a:effectLst/>
                <a:uLnTx/>
                <a:uFillTx/>
                <a:latin typeface="Consolas"/>
                <a:ea typeface="+mj-ea"/>
                <a:cs typeface="Consolas"/>
              </a:rPr>
              <a:t>+</a:t>
            </a:r>
            <a:r>
              <a:rPr kumimoji="0" lang="en-US" sz="3600" b="1" i="0" u="none" strike="noStrike" kern="0" cap="none" spc="-1430" normalizeH="0" baseline="0" noProof="0">
                <a:ln>
                  <a:noFill/>
                </a:ln>
                <a:solidFill>
                  <a:srgbClr val="0431FF"/>
                </a:solidFill>
                <a:effectLst/>
                <a:uLnTx/>
                <a:uFillTx/>
                <a:latin typeface="Consolas"/>
                <a:ea typeface="+mj-ea"/>
                <a:cs typeface="Consolas"/>
              </a:rPr>
              <a:t> </a:t>
            </a:r>
            <a:r>
              <a:rPr kumimoji="0" lang="en-US" sz="3600" b="1" i="0" u="none" strike="noStrike" kern="0" cap="none" spc="0" normalizeH="0" baseline="0" noProof="0">
                <a:ln>
                  <a:noFill/>
                </a:ln>
                <a:solidFill>
                  <a:srgbClr val="0431FF"/>
                </a:solidFill>
                <a:effectLst/>
                <a:uLnTx/>
                <a:uFillTx/>
                <a:latin typeface="Consolas"/>
                <a:ea typeface="+mj-ea"/>
                <a:cs typeface="Consolas"/>
              </a:rPr>
              <a:t>b</a:t>
            </a:r>
            <a:r>
              <a:rPr kumimoji="0" lang="en-US" sz="3600" b="1" i="0" u="none" strike="noStrike" kern="0" cap="none" spc="-1395" normalizeH="0" baseline="0" noProof="0">
                <a:ln>
                  <a:noFill/>
                </a:ln>
                <a:solidFill>
                  <a:srgbClr val="0431FF"/>
                </a:solidFill>
                <a:effectLst/>
                <a:uLnTx/>
                <a:uFillTx/>
                <a:latin typeface="Consolas"/>
                <a:ea typeface="+mj-ea"/>
                <a:cs typeface="Consolas"/>
              </a:rPr>
              <a:t> </a:t>
            </a:r>
            <a:r>
              <a:rPr kumimoji="0" lang="en-US" sz="3600" b="1" i="0" u="none" strike="noStrike" kern="0" cap="none" spc="0" normalizeH="0" baseline="0" noProof="0">
                <a:ln>
                  <a:noFill/>
                </a:ln>
                <a:solidFill>
                  <a:srgbClr val="0431FF"/>
                </a:solidFill>
                <a:effectLst/>
                <a:uLnTx/>
                <a:uFillTx/>
                <a:latin typeface="Consolas"/>
                <a:ea typeface="+mj-ea"/>
                <a:cs typeface="Consolas"/>
              </a:rPr>
              <a:t>)</a:t>
            </a:r>
            <a:endParaRPr kumimoji="0" lang="en-US" sz="3600" b="1" i="0" u="none" strike="noStrike" kern="0" cap="none" spc="0" normalizeH="0" baseline="0" noProof="0">
              <a:ln>
                <a:noFill/>
              </a:ln>
              <a:solidFill>
                <a:sysClr val="windowText" lastClr="000000"/>
              </a:solidFill>
              <a:effectLst/>
              <a:uLnTx/>
              <a:uFillTx/>
              <a:latin typeface="Consolas"/>
              <a:ea typeface="+mj-ea"/>
              <a:cs typeface="Consolas"/>
            </a:endParaRPr>
          </a:p>
        </p:txBody>
      </p:sp>
      <p:grpSp>
        <p:nvGrpSpPr>
          <p:cNvPr id="50" name="object 3">
            <a:extLst>
              <a:ext uri="{FF2B5EF4-FFF2-40B4-BE49-F238E27FC236}">
                <a16:creationId xmlns:a16="http://schemas.microsoft.com/office/drawing/2014/main" id="{38331B76-56EA-3D62-96FF-F477D091BED8}"/>
              </a:ext>
            </a:extLst>
          </p:cNvPr>
          <p:cNvGrpSpPr/>
          <p:nvPr/>
        </p:nvGrpSpPr>
        <p:grpSpPr>
          <a:xfrm>
            <a:off x="4855019" y="1244663"/>
            <a:ext cx="4068445" cy="2201545"/>
            <a:chOff x="4855019" y="1244663"/>
            <a:chExt cx="4068445" cy="2201545"/>
          </a:xfrm>
        </p:grpSpPr>
        <p:pic>
          <p:nvPicPr>
            <p:cNvPr id="51" name="object 4">
              <a:extLst>
                <a:ext uri="{FF2B5EF4-FFF2-40B4-BE49-F238E27FC236}">
                  <a16:creationId xmlns:a16="http://schemas.microsoft.com/office/drawing/2014/main" id="{A2213BF2-0A60-CE9F-66C2-9489881EE343}"/>
                </a:ext>
              </a:extLst>
            </p:cNvPr>
            <p:cNvPicPr/>
            <p:nvPr/>
          </p:nvPicPr>
          <p:blipFill>
            <a:blip r:embed="rId3" cstate="print"/>
            <a:stretch>
              <a:fillRect/>
            </a:stretch>
          </p:blipFill>
          <p:spPr>
            <a:xfrm>
              <a:off x="4907579" y="1313771"/>
              <a:ext cx="3923658" cy="2010423"/>
            </a:xfrm>
            <a:prstGeom prst="rect">
              <a:avLst/>
            </a:prstGeom>
          </p:spPr>
        </p:pic>
        <p:sp>
          <p:nvSpPr>
            <p:cNvPr id="52" name="object 5">
              <a:extLst>
                <a:ext uri="{FF2B5EF4-FFF2-40B4-BE49-F238E27FC236}">
                  <a16:creationId xmlns:a16="http://schemas.microsoft.com/office/drawing/2014/main" id="{6B58044B-0E16-514B-AC90-C79CDE489206}"/>
                </a:ext>
              </a:extLst>
            </p:cNvPr>
            <p:cNvSpPr/>
            <p:nvPr/>
          </p:nvSpPr>
          <p:spPr>
            <a:xfrm>
              <a:off x="4859782" y="1249425"/>
              <a:ext cx="4058920" cy="2192020"/>
            </a:xfrm>
            <a:custGeom>
              <a:avLst/>
              <a:gdLst/>
              <a:ahLst/>
              <a:cxnLst/>
              <a:rect l="l" t="t" r="r" b="b"/>
              <a:pathLst>
                <a:path w="4058920" h="2192020">
                  <a:moveTo>
                    <a:pt x="0" y="2191893"/>
                  </a:moveTo>
                  <a:lnTo>
                    <a:pt x="4058792" y="2191893"/>
                  </a:lnTo>
                  <a:lnTo>
                    <a:pt x="4058792" y="0"/>
                  </a:lnTo>
                  <a:lnTo>
                    <a:pt x="0" y="0"/>
                  </a:lnTo>
                  <a:lnTo>
                    <a:pt x="0" y="2191893"/>
                  </a:lnTo>
                  <a:close/>
                </a:path>
              </a:pathLst>
            </a:custGeom>
            <a:ln w="9524">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53" name="object 6">
            <a:extLst>
              <a:ext uri="{FF2B5EF4-FFF2-40B4-BE49-F238E27FC236}">
                <a16:creationId xmlns:a16="http://schemas.microsoft.com/office/drawing/2014/main" id="{330343C3-634F-FC0A-F8A4-3900CBC18C1B}"/>
              </a:ext>
            </a:extLst>
          </p:cNvPr>
          <p:cNvSpPr txBox="1"/>
          <p:nvPr/>
        </p:nvSpPr>
        <p:spPr>
          <a:xfrm>
            <a:off x="990701" y="5799835"/>
            <a:ext cx="165735" cy="330835"/>
          </a:xfrm>
          <a:prstGeom prst="rect">
            <a:avLst/>
          </a:prstGeom>
        </p:spPr>
        <p:txBody>
          <a:bodyPr vert="horz" wrap="square" lIns="0" tIns="12700" rIns="0" bIns="0" rtlCol="0">
            <a:spAutoFit/>
          </a:bodyPr>
          <a:lstStyle/>
          <a:p>
            <a:pPr marL="12700" rtl="0">
              <a:spcBef>
                <a:spcPts val="100"/>
              </a:spcBef>
            </a:pPr>
            <a:r>
              <a:rPr sz="2000" kern="1200" dirty="0">
                <a:solidFill>
                  <a:srgbClr val="0431FF"/>
                </a:solidFill>
                <a:latin typeface="Consolas"/>
                <a:cs typeface="Consolas"/>
              </a:rPr>
              <a:t>a</a:t>
            </a:r>
            <a:endParaRPr sz="2000" kern="1200">
              <a:solidFill>
                <a:prstClr val="black"/>
              </a:solidFill>
              <a:latin typeface="Consolas"/>
              <a:cs typeface="Consolas"/>
            </a:endParaRPr>
          </a:p>
        </p:txBody>
      </p:sp>
      <p:sp>
        <p:nvSpPr>
          <p:cNvPr id="54" name="object 7">
            <a:extLst>
              <a:ext uri="{FF2B5EF4-FFF2-40B4-BE49-F238E27FC236}">
                <a16:creationId xmlns:a16="http://schemas.microsoft.com/office/drawing/2014/main" id="{262C1452-5DA9-51D0-CABC-8BA8B824E754}"/>
              </a:ext>
            </a:extLst>
          </p:cNvPr>
          <p:cNvSpPr txBox="1"/>
          <p:nvPr/>
        </p:nvSpPr>
        <p:spPr>
          <a:xfrm>
            <a:off x="3389757" y="5034229"/>
            <a:ext cx="1424940" cy="331470"/>
          </a:xfrm>
          <a:prstGeom prst="rect">
            <a:avLst/>
          </a:prstGeom>
        </p:spPr>
        <p:txBody>
          <a:bodyPr vert="horz" wrap="square" lIns="0" tIns="13335" rIns="0" bIns="0" rtlCol="0">
            <a:spAutoFit/>
          </a:bodyPr>
          <a:lstStyle/>
          <a:p>
            <a:pPr marL="12700" rtl="0">
              <a:spcBef>
                <a:spcPts val="105"/>
              </a:spcBef>
            </a:pPr>
            <a:r>
              <a:rPr sz="2000" kern="1200" dirty="0">
                <a:solidFill>
                  <a:srgbClr val="0431FF"/>
                </a:solidFill>
                <a:latin typeface="Consolas"/>
                <a:cs typeface="Consolas"/>
              </a:rPr>
              <a:t>E</a:t>
            </a:r>
            <a:r>
              <a:rPr sz="2000" kern="1200" dirty="0">
                <a:solidFill>
                  <a:prstClr val="black"/>
                </a:solidFill>
                <a:latin typeface="Consolas"/>
                <a:cs typeface="Consolas"/>
              </a:rPr>
              <a:t>.addr</a:t>
            </a:r>
            <a:r>
              <a:rPr sz="2000" kern="1200" spc="-50" dirty="0">
                <a:solidFill>
                  <a:prstClr val="black"/>
                </a:solidFill>
                <a:latin typeface="Consolas"/>
                <a:cs typeface="Consolas"/>
              </a:rPr>
              <a:t> </a:t>
            </a:r>
            <a:r>
              <a:rPr sz="2000" kern="1200" dirty="0">
                <a:solidFill>
                  <a:prstClr val="black"/>
                </a:solidFill>
                <a:latin typeface="Consolas"/>
                <a:cs typeface="Consolas"/>
              </a:rPr>
              <a:t>=</a:t>
            </a:r>
            <a:r>
              <a:rPr sz="2000" kern="1200" spc="-40" dirty="0">
                <a:solidFill>
                  <a:prstClr val="black"/>
                </a:solidFill>
                <a:latin typeface="Consolas"/>
                <a:cs typeface="Consolas"/>
              </a:rPr>
              <a:t> </a:t>
            </a:r>
            <a:r>
              <a:rPr sz="2000" kern="1200" dirty="0">
                <a:solidFill>
                  <a:prstClr val="black"/>
                </a:solidFill>
                <a:latin typeface="Consolas"/>
                <a:cs typeface="Consolas"/>
              </a:rPr>
              <a:t>b</a:t>
            </a:r>
            <a:endParaRPr sz="2000" kern="1200">
              <a:solidFill>
                <a:prstClr val="black"/>
              </a:solidFill>
              <a:latin typeface="Consolas"/>
              <a:cs typeface="Consolas"/>
            </a:endParaRPr>
          </a:p>
        </p:txBody>
      </p:sp>
      <p:sp>
        <p:nvSpPr>
          <p:cNvPr id="55" name="object 8">
            <a:extLst>
              <a:ext uri="{FF2B5EF4-FFF2-40B4-BE49-F238E27FC236}">
                <a16:creationId xmlns:a16="http://schemas.microsoft.com/office/drawing/2014/main" id="{B004A498-6887-082E-3688-39FDFDB4DE1A}"/>
              </a:ext>
            </a:extLst>
          </p:cNvPr>
          <p:cNvSpPr txBox="1"/>
          <p:nvPr/>
        </p:nvSpPr>
        <p:spPr>
          <a:xfrm>
            <a:off x="4024629" y="5794654"/>
            <a:ext cx="165735" cy="330835"/>
          </a:xfrm>
          <a:prstGeom prst="rect">
            <a:avLst/>
          </a:prstGeom>
        </p:spPr>
        <p:txBody>
          <a:bodyPr vert="horz" wrap="square" lIns="0" tIns="12700" rIns="0" bIns="0" rtlCol="0">
            <a:spAutoFit/>
          </a:bodyPr>
          <a:lstStyle/>
          <a:p>
            <a:pPr marL="12700" rtl="0">
              <a:spcBef>
                <a:spcPts val="100"/>
              </a:spcBef>
            </a:pPr>
            <a:r>
              <a:rPr sz="2000" kern="1200" dirty="0">
                <a:solidFill>
                  <a:srgbClr val="0431FF"/>
                </a:solidFill>
                <a:latin typeface="Consolas"/>
                <a:cs typeface="Consolas"/>
              </a:rPr>
              <a:t>b</a:t>
            </a:r>
            <a:endParaRPr sz="2000" kern="1200">
              <a:solidFill>
                <a:prstClr val="black"/>
              </a:solidFill>
              <a:latin typeface="Consolas"/>
              <a:cs typeface="Consolas"/>
            </a:endParaRPr>
          </a:p>
        </p:txBody>
      </p:sp>
      <p:sp>
        <p:nvSpPr>
          <p:cNvPr id="56" name="object 9">
            <a:extLst>
              <a:ext uri="{FF2B5EF4-FFF2-40B4-BE49-F238E27FC236}">
                <a16:creationId xmlns:a16="http://schemas.microsoft.com/office/drawing/2014/main" id="{570CE16B-31EA-E67B-51EB-95C0C90AF113}"/>
              </a:ext>
            </a:extLst>
          </p:cNvPr>
          <p:cNvSpPr txBox="1"/>
          <p:nvPr/>
        </p:nvSpPr>
        <p:spPr>
          <a:xfrm>
            <a:off x="2507742" y="5037201"/>
            <a:ext cx="165735" cy="330835"/>
          </a:xfrm>
          <a:prstGeom prst="rect">
            <a:avLst/>
          </a:prstGeom>
        </p:spPr>
        <p:txBody>
          <a:bodyPr vert="horz" wrap="square" lIns="0" tIns="12700" rIns="0" bIns="0" rtlCol="0">
            <a:spAutoFit/>
          </a:bodyPr>
          <a:lstStyle/>
          <a:p>
            <a:pPr marL="12700" rtl="0">
              <a:spcBef>
                <a:spcPts val="100"/>
              </a:spcBef>
            </a:pPr>
            <a:r>
              <a:rPr sz="2000" kern="1200" dirty="0">
                <a:solidFill>
                  <a:srgbClr val="0431FF"/>
                </a:solidFill>
                <a:latin typeface="Consolas"/>
                <a:cs typeface="Consolas"/>
              </a:rPr>
              <a:t>+</a:t>
            </a:r>
            <a:endParaRPr sz="2000" kern="1200">
              <a:solidFill>
                <a:prstClr val="black"/>
              </a:solidFill>
              <a:latin typeface="Consolas"/>
              <a:cs typeface="Consolas"/>
            </a:endParaRPr>
          </a:p>
        </p:txBody>
      </p:sp>
      <p:sp>
        <p:nvSpPr>
          <p:cNvPr id="57" name="object 10">
            <a:extLst>
              <a:ext uri="{FF2B5EF4-FFF2-40B4-BE49-F238E27FC236}">
                <a16:creationId xmlns:a16="http://schemas.microsoft.com/office/drawing/2014/main" id="{F6CB7FA1-710C-F5AE-BE5F-7B55947A7F81}"/>
              </a:ext>
            </a:extLst>
          </p:cNvPr>
          <p:cNvSpPr txBox="1"/>
          <p:nvPr/>
        </p:nvSpPr>
        <p:spPr>
          <a:xfrm>
            <a:off x="1043736" y="3834206"/>
            <a:ext cx="165735" cy="331470"/>
          </a:xfrm>
          <a:prstGeom prst="rect">
            <a:avLst/>
          </a:prstGeom>
        </p:spPr>
        <p:txBody>
          <a:bodyPr vert="horz" wrap="square" lIns="0" tIns="13335" rIns="0" bIns="0" rtlCol="0">
            <a:spAutoFit/>
          </a:bodyPr>
          <a:lstStyle/>
          <a:p>
            <a:pPr marL="12700" rtl="0">
              <a:spcBef>
                <a:spcPts val="105"/>
              </a:spcBef>
            </a:pPr>
            <a:r>
              <a:rPr sz="2000" kern="1200" dirty="0">
                <a:solidFill>
                  <a:srgbClr val="0431FF"/>
                </a:solidFill>
                <a:latin typeface="Consolas"/>
                <a:cs typeface="Consolas"/>
              </a:rPr>
              <a:t>(</a:t>
            </a:r>
            <a:endParaRPr sz="2000" kern="1200">
              <a:solidFill>
                <a:prstClr val="black"/>
              </a:solidFill>
              <a:latin typeface="Consolas"/>
              <a:cs typeface="Consolas"/>
            </a:endParaRPr>
          </a:p>
        </p:txBody>
      </p:sp>
      <p:sp>
        <p:nvSpPr>
          <p:cNvPr id="58" name="object 11">
            <a:extLst>
              <a:ext uri="{FF2B5EF4-FFF2-40B4-BE49-F238E27FC236}">
                <a16:creationId xmlns:a16="http://schemas.microsoft.com/office/drawing/2014/main" id="{27315753-5076-5B0D-3181-BFF7C603E95F}"/>
              </a:ext>
            </a:extLst>
          </p:cNvPr>
          <p:cNvSpPr txBox="1"/>
          <p:nvPr/>
        </p:nvSpPr>
        <p:spPr>
          <a:xfrm>
            <a:off x="2627757" y="2921000"/>
            <a:ext cx="1563370" cy="330835"/>
          </a:xfrm>
          <a:prstGeom prst="rect">
            <a:avLst/>
          </a:prstGeom>
        </p:spPr>
        <p:txBody>
          <a:bodyPr vert="horz" wrap="square" lIns="0" tIns="13335" rIns="0" bIns="0" rtlCol="0">
            <a:spAutoFit/>
          </a:bodyPr>
          <a:lstStyle/>
          <a:p>
            <a:pPr marL="12700" rtl="0">
              <a:spcBef>
                <a:spcPts val="105"/>
              </a:spcBef>
            </a:pPr>
            <a:r>
              <a:rPr sz="2000" kern="1200" dirty="0">
                <a:solidFill>
                  <a:srgbClr val="0431FF"/>
                </a:solidFill>
                <a:latin typeface="Consolas"/>
                <a:cs typeface="Consolas"/>
              </a:rPr>
              <a:t>E</a:t>
            </a:r>
            <a:r>
              <a:rPr sz="2000" kern="1200" dirty="0">
                <a:solidFill>
                  <a:prstClr val="black"/>
                </a:solidFill>
                <a:latin typeface="Consolas"/>
                <a:cs typeface="Consolas"/>
              </a:rPr>
              <a:t>.addr</a:t>
            </a:r>
            <a:r>
              <a:rPr sz="2000" kern="1200" spc="-50" dirty="0">
                <a:solidFill>
                  <a:prstClr val="black"/>
                </a:solidFill>
                <a:latin typeface="Consolas"/>
                <a:cs typeface="Consolas"/>
              </a:rPr>
              <a:t> </a:t>
            </a:r>
            <a:r>
              <a:rPr sz="2000" kern="1200" dirty="0">
                <a:solidFill>
                  <a:prstClr val="black"/>
                </a:solidFill>
                <a:latin typeface="Consolas"/>
                <a:cs typeface="Consolas"/>
              </a:rPr>
              <a:t>=</a:t>
            </a:r>
            <a:r>
              <a:rPr sz="2000" kern="1200" spc="-45" dirty="0">
                <a:solidFill>
                  <a:prstClr val="black"/>
                </a:solidFill>
                <a:latin typeface="Consolas"/>
                <a:cs typeface="Consolas"/>
              </a:rPr>
              <a:t> </a:t>
            </a:r>
            <a:r>
              <a:rPr sz="2000" kern="1200" spc="-5" dirty="0">
                <a:solidFill>
                  <a:prstClr val="black"/>
                </a:solidFill>
                <a:latin typeface="Consolas"/>
                <a:cs typeface="Consolas"/>
              </a:rPr>
              <a:t>t1</a:t>
            </a:r>
            <a:endParaRPr sz="2000" kern="1200">
              <a:solidFill>
                <a:prstClr val="black"/>
              </a:solidFill>
              <a:latin typeface="Consolas"/>
              <a:cs typeface="Consolas"/>
            </a:endParaRPr>
          </a:p>
        </p:txBody>
      </p:sp>
      <p:sp>
        <p:nvSpPr>
          <p:cNvPr id="59" name="object 12">
            <a:extLst>
              <a:ext uri="{FF2B5EF4-FFF2-40B4-BE49-F238E27FC236}">
                <a16:creationId xmlns:a16="http://schemas.microsoft.com/office/drawing/2014/main" id="{D07CD24E-2DF7-FCC1-AB8E-188F7664C894}"/>
              </a:ext>
            </a:extLst>
          </p:cNvPr>
          <p:cNvSpPr txBox="1"/>
          <p:nvPr/>
        </p:nvSpPr>
        <p:spPr>
          <a:xfrm>
            <a:off x="1464310" y="2921000"/>
            <a:ext cx="165735" cy="330835"/>
          </a:xfrm>
          <a:prstGeom prst="rect">
            <a:avLst/>
          </a:prstGeom>
        </p:spPr>
        <p:txBody>
          <a:bodyPr vert="horz" wrap="square" lIns="0" tIns="13335" rIns="0" bIns="0" rtlCol="0">
            <a:spAutoFit/>
          </a:bodyPr>
          <a:lstStyle/>
          <a:p>
            <a:pPr marL="12700" rtl="0">
              <a:spcBef>
                <a:spcPts val="105"/>
              </a:spcBef>
            </a:pPr>
            <a:r>
              <a:rPr sz="2000" kern="1200" dirty="0">
                <a:solidFill>
                  <a:srgbClr val="0431FF"/>
                </a:solidFill>
                <a:latin typeface="Consolas"/>
                <a:cs typeface="Consolas"/>
              </a:rPr>
              <a:t>-</a:t>
            </a:r>
            <a:endParaRPr sz="2000" kern="1200">
              <a:solidFill>
                <a:prstClr val="black"/>
              </a:solidFill>
              <a:latin typeface="Consolas"/>
              <a:cs typeface="Consolas"/>
            </a:endParaRPr>
          </a:p>
        </p:txBody>
      </p:sp>
      <p:sp>
        <p:nvSpPr>
          <p:cNvPr id="60" name="object 13">
            <a:extLst>
              <a:ext uri="{FF2B5EF4-FFF2-40B4-BE49-F238E27FC236}">
                <a16:creationId xmlns:a16="http://schemas.microsoft.com/office/drawing/2014/main" id="{06A48E77-4B83-E6AE-5645-0B7F3254C4A2}"/>
              </a:ext>
            </a:extLst>
          </p:cNvPr>
          <p:cNvSpPr txBox="1"/>
          <p:nvPr/>
        </p:nvSpPr>
        <p:spPr>
          <a:xfrm>
            <a:off x="449986" y="2293747"/>
            <a:ext cx="165735" cy="330835"/>
          </a:xfrm>
          <a:prstGeom prst="rect">
            <a:avLst/>
          </a:prstGeom>
        </p:spPr>
        <p:txBody>
          <a:bodyPr vert="horz" wrap="square" lIns="0" tIns="13335" rIns="0" bIns="0" rtlCol="0">
            <a:spAutoFit/>
          </a:bodyPr>
          <a:lstStyle/>
          <a:p>
            <a:pPr marL="12700" rtl="0">
              <a:spcBef>
                <a:spcPts val="105"/>
              </a:spcBef>
            </a:pPr>
            <a:r>
              <a:rPr sz="2000" kern="1200" dirty="0">
                <a:solidFill>
                  <a:srgbClr val="0431FF"/>
                </a:solidFill>
                <a:latin typeface="Consolas"/>
                <a:cs typeface="Consolas"/>
              </a:rPr>
              <a:t>c</a:t>
            </a:r>
            <a:endParaRPr sz="2000" kern="1200">
              <a:solidFill>
                <a:prstClr val="black"/>
              </a:solidFill>
              <a:latin typeface="Consolas"/>
              <a:cs typeface="Consolas"/>
            </a:endParaRPr>
          </a:p>
        </p:txBody>
      </p:sp>
      <p:sp>
        <p:nvSpPr>
          <p:cNvPr id="61" name="object 14">
            <a:extLst>
              <a:ext uri="{FF2B5EF4-FFF2-40B4-BE49-F238E27FC236}">
                <a16:creationId xmlns:a16="http://schemas.microsoft.com/office/drawing/2014/main" id="{9E5230E6-395A-33A2-0111-E7DFD13E1F60}"/>
              </a:ext>
            </a:extLst>
          </p:cNvPr>
          <p:cNvSpPr txBox="1"/>
          <p:nvPr/>
        </p:nvSpPr>
        <p:spPr>
          <a:xfrm>
            <a:off x="1206500" y="2293747"/>
            <a:ext cx="165735" cy="330835"/>
          </a:xfrm>
          <a:prstGeom prst="rect">
            <a:avLst/>
          </a:prstGeom>
        </p:spPr>
        <p:txBody>
          <a:bodyPr vert="horz" wrap="square" lIns="0" tIns="13335" rIns="0" bIns="0" rtlCol="0">
            <a:spAutoFit/>
          </a:bodyPr>
          <a:lstStyle/>
          <a:p>
            <a:pPr marL="12700" rtl="0">
              <a:spcBef>
                <a:spcPts val="105"/>
              </a:spcBef>
            </a:pPr>
            <a:r>
              <a:rPr sz="2000" kern="1200" dirty="0">
                <a:solidFill>
                  <a:srgbClr val="0431FF"/>
                </a:solidFill>
                <a:latin typeface="Consolas"/>
                <a:cs typeface="Consolas"/>
              </a:rPr>
              <a:t>=</a:t>
            </a:r>
            <a:endParaRPr sz="2000" kern="1200">
              <a:solidFill>
                <a:prstClr val="black"/>
              </a:solidFill>
              <a:latin typeface="Consolas"/>
              <a:cs typeface="Consolas"/>
            </a:endParaRPr>
          </a:p>
        </p:txBody>
      </p:sp>
      <p:sp>
        <p:nvSpPr>
          <p:cNvPr id="62" name="object 15">
            <a:extLst>
              <a:ext uri="{FF2B5EF4-FFF2-40B4-BE49-F238E27FC236}">
                <a16:creationId xmlns:a16="http://schemas.microsoft.com/office/drawing/2014/main" id="{EAF08C0B-0536-5121-EC74-8752BE8B50DB}"/>
              </a:ext>
            </a:extLst>
          </p:cNvPr>
          <p:cNvSpPr/>
          <p:nvPr/>
        </p:nvSpPr>
        <p:spPr>
          <a:xfrm>
            <a:off x="1074419" y="1856232"/>
            <a:ext cx="3383279" cy="3924935"/>
          </a:xfrm>
          <a:custGeom>
            <a:avLst/>
            <a:gdLst/>
            <a:ahLst/>
            <a:cxnLst/>
            <a:rect l="l" t="t" r="r" b="b"/>
            <a:pathLst>
              <a:path w="3383279" h="3924935">
                <a:moveTo>
                  <a:pt x="0" y="3560064"/>
                </a:moveTo>
                <a:lnTo>
                  <a:pt x="0" y="3924922"/>
                </a:lnTo>
              </a:path>
              <a:path w="3383279" h="3924935">
                <a:moveTo>
                  <a:pt x="1782826" y="2359151"/>
                </a:moveTo>
                <a:lnTo>
                  <a:pt x="0" y="3158743"/>
                </a:lnTo>
              </a:path>
              <a:path w="3383279" h="3924935">
                <a:moveTo>
                  <a:pt x="1783080" y="2359151"/>
                </a:moveTo>
                <a:lnTo>
                  <a:pt x="3034030" y="3158743"/>
                </a:lnTo>
              </a:path>
              <a:path w="3383279" h="3924935">
                <a:moveTo>
                  <a:pt x="1782318" y="2359151"/>
                </a:moveTo>
                <a:lnTo>
                  <a:pt x="1516380" y="3161284"/>
                </a:lnTo>
              </a:path>
              <a:path w="3383279" h="3924935">
                <a:moveTo>
                  <a:pt x="3034284" y="3560064"/>
                </a:moveTo>
                <a:lnTo>
                  <a:pt x="3034284" y="3919778"/>
                </a:lnTo>
              </a:path>
              <a:path w="3383279" h="3924935">
                <a:moveTo>
                  <a:pt x="2342642" y="1446276"/>
                </a:moveTo>
                <a:lnTo>
                  <a:pt x="53340" y="1959609"/>
                </a:lnTo>
              </a:path>
              <a:path w="3383279" h="3924935">
                <a:moveTo>
                  <a:pt x="2342642" y="1446276"/>
                </a:moveTo>
                <a:lnTo>
                  <a:pt x="1783080" y="1959609"/>
                </a:lnTo>
              </a:path>
              <a:path w="3383279" h="3924935">
                <a:moveTo>
                  <a:pt x="2342388" y="1446276"/>
                </a:moveTo>
                <a:lnTo>
                  <a:pt x="3383153" y="1959609"/>
                </a:lnTo>
              </a:path>
              <a:path w="3383279" h="3924935">
                <a:moveTo>
                  <a:pt x="1679956" y="819912"/>
                </a:moveTo>
                <a:lnTo>
                  <a:pt x="473964" y="1046733"/>
                </a:lnTo>
              </a:path>
              <a:path w="3383279" h="3924935">
                <a:moveTo>
                  <a:pt x="1679448" y="819912"/>
                </a:moveTo>
                <a:lnTo>
                  <a:pt x="2342007" y="1046733"/>
                </a:lnTo>
              </a:path>
              <a:path w="3383279" h="3924935">
                <a:moveTo>
                  <a:pt x="1679321" y="419734"/>
                </a:moveTo>
                <a:lnTo>
                  <a:pt x="499872" y="0"/>
                </a:lnTo>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3" name="object 16">
            <a:extLst>
              <a:ext uri="{FF2B5EF4-FFF2-40B4-BE49-F238E27FC236}">
                <a16:creationId xmlns:a16="http://schemas.microsoft.com/office/drawing/2014/main" id="{1C9EEFBD-080F-E306-557C-1C51304C20B2}"/>
              </a:ext>
            </a:extLst>
          </p:cNvPr>
          <p:cNvSpPr txBox="1"/>
          <p:nvPr/>
        </p:nvSpPr>
        <p:spPr>
          <a:xfrm>
            <a:off x="1490852" y="1473834"/>
            <a:ext cx="165735" cy="330835"/>
          </a:xfrm>
          <a:prstGeom prst="rect">
            <a:avLst/>
          </a:prstGeom>
        </p:spPr>
        <p:txBody>
          <a:bodyPr vert="horz" wrap="square" lIns="0" tIns="13335" rIns="0" bIns="0" rtlCol="0">
            <a:spAutoFit/>
          </a:bodyPr>
          <a:lstStyle/>
          <a:p>
            <a:pPr marL="12700" rtl="0">
              <a:spcBef>
                <a:spcPts val="105"/>
              </a:spcBef>
            </a:pPr>
            <a:r>
              <a:rPr sz="2000" kern="1200" dirty="0">
                <a:solidFill>
                  <a:srgbClr val="0431FF"/>
                </a:solidFill>
                <a:latin typeface="Consolas"/>
                <a:cs typeface="Consolas"/>
              </a:rPr>
              <a:t>S</a:t>
            </a:r>
            <a:endParaRPr sz="2000" kern="1200">
              <a:solidFill>
                <a:prstClr val="black"/>
              </a:solidFill>
              <a:latin typeface="Consolas"/>
              <a:cs typeface="Consolas"/>
            </a:endParaRPr>
          </a:p>
        </p:txBody>
      </p:sp>
      <p:grpSp>
        <p:nvGrpSpPr>
          <p:cNvPr id="64" name="object 17">
            <a:extLst>
              <a:ext uri="{FF2B5EF4-FFF2-40B4-BE49-F238E27FC236}">
                <a16:creationId xmlns:a16="http://schemas.microsoft.com/office/drawing/2014/main" id="{74AF61CC-4D89-3A1E-5961-46E917B705B0}"/>
              </a:ext>
            </a:extLst>
          </p:cNvPr>
          <p:cNvGrpSpPr/>
          <p:nvPr/>
        </p:nvGrpSpPr>
        <p:grpSpPr>
          <a:xfrm>
            <a:off x="271223" y="1849882"/>
            <a:ext cx="1606550" cy="4331970"/>
            <a:chOff x="271223" y="1849882"/>
            <a:chExt cx="1606550" cy="4331970"/>
          </a:xfrm>
        </p:grpSpPr>
        <p:sp>
          <p:nvSpPr>
            <p:cNvPr id="65" name="object 18">
              <a:extLst>
                <a:ext uri="{FF2B5EF4-FFF2-40B4-BE49-F238E27FC236}">
                  <a16:creationId xmlns:a16="http://schemas.microsoft.com/office/drawing/2014/main" id="{E12633C5-9E91-0F40-7FE3-B8C69DC59965}"/>
                </a:ext>
              </a:extLst>
            </p:cNvPr>
            <p:cNvSpPr/>
            <p:nvPr/>
          </p:nvSpPr>
          <p:spPr>
            <a:xfrm>
              <a:off x="277573" y="4888971"/>
              <a:ext cx="1593850" cy="1286510"/>
            </a:xfrm>
            <a:custGeom>
              <a:avLst/>
              <a:gdLst/>
              <a:ahLst/>
              <a:cxnLst/>
              <a:rect l="l" t="t" r="r" b="b"/>
              <a:pathLst>
                <a:path w="1593850" h="1286510">
                  <a:moveTo>
                    <a:pt x="262646" y="67838"/>
                  </a:moveTo>
                  <a:lnTo>
                    <a:pt x="329459" y="56544"/>
                  </a:lnTo>
                  <a:lnTo>
                    <a:pt x="369424" y="50556"/>
                  </a:lnTo>
                  <a:lnTo>
                    <a:pt x="413223" y="44474"/>
                  </a:lnTo>
                  <a:lnTo>
                    <a:pt x="460451" y="38398"/>
                  </a:lnTo>
                  <a:lnTo>
                    <a:pt x="510704" y="32428"/>
                  </a:lnTo>
                  <a:lnTo>
                    <a:pt x="563579" y="26665"/>
                  </a:lnTo>
                  <a:lnTo>
                    <a:pt x="618670" y="21209"/>
                  </a:lnTo>
                  <a:lnTo>
                    <a:pt x="675574" y="16159"/>
                  </a:lnTo>
                  <a:lnTo>
                    <a:pt x="733886" y="11615"/>
                  </a:lnTo>
                  <a:lnTo>
                    <a:pt x="793203" y="7678"/>
                  </a:lnTo>
                  <a:lnTo>
                    <a:pt x="853120" y="4448"/>
                  </a:lnTo>
                  <a:lnTo>
                    <a:pt x="913233" y="2025"/>
                  </a:lnTo>
                  <a:lnTo>
                    <a:pt x="973138" y="509"/>
                  </a:lnTo>
                  <a:lnTo>
                    <a:pt x="1032431" y="0"/>
                  </a:lnTo>
                  <a:lnTo>
                    <a:pt x="1090707" y="597"/>
                  </a:lnTo>
                  <a:lnTo>
                    <a:pt x="1147563" y="2402"/>
                  </a:lnTo>
                  <a:lnTo>
                    <a:pt x="1202593" y="5514"/>
                  </a:lnTo>
                  <a:lnTo>
                    <a:pt x="1255395" y="10034"/>
                  </a:lnTo>
                  <a:lnTo>
                    <a:pt x="1305564" y="16060"/>
                  </a:lnTo>
                  <a:lnTo>
                    <a:pt x="1352695" y="23694"/>
                  </a:lnTo>
                  <a:lnTo>
                    <a:pt x="1396385" y="33036"/>
                  </a:lnTo>
                  <a:lnTo>
                    <a:pt x="1436229" y="44185"/>
                  </a:lnTo>
                  <a:lnTo>
                    <a:pt x="1502764" y="72307"/>
                  </a:lnTo>
                  <a:lnTo>
                    <a:pt x="1549067" y="108859"/>
                  </a:lnTo>
                  <a:lnTo>
                    <a:pt x="1578562" y="162619"/>
                  </a:lnTo>
                  <a:lnTo>
                    <a:pt x="1592332" y="233170"/>
                  </a:lnTo>
                  <a:lnTo>
                    <a:pt x="1593847" y="273733"/>
                  </a:lnTo>
                  <a:lnTo>
                    <a:pt x="1592061" y="317283"/>
                  </a:lnTo>
                  <a:lnTo>
                    <a:pt x="1587185" y="363416"/>
                  </a:lnTo>
                  <a:lnTo>
                    <a:pt x="1579429" y="411728"/>
                  </a:lnTo>
                  <a:lnTo>
                    <a:pt x="1569003" y="461816"/>
                  </a:lnTo>
                  <a:lnTo>
                    <a:pt x="1556118" y="513277"/>
                  </a:lnTo>
                  <a:lnTo>
                    <a:pt x="1540983" y="565706"/>
                  </a:lnTo>
                  <a:lnTo>
                    <a:pt x="1523809" y="618699"/>
                  </a:lnTo>
                  <a:lnTo>
                    <a:pt x="1504806" y="671854"/>
                  </a:lnTo>
                  <a:lnTo>
                    <a:pt x="1484184" y="724766"/>
                  </a:lnTo>
                  <a:lnTo>
                    <a:pt x="1462153" y="777032"/>
                  </a:lnTo>
                  <a:lnTo>
                    <a:pt x="1438924" y="828248"/>
                  </a:lnTo>
                  <a:lnTo>
                    <a:pt x="1414707" y="878011"/>
                  </a:lnTo>
                  <a:lnTo>
                    <a:pt x="1389711" y="925916"/>
                  </a:lnTo>
                  <a:lnTo>
                    <a:pt x="1364148" y="971561"/>
                  </a:lnTo>
                  <a:lnTo>
                    <a:pt x="1338226" y="1014540"/>
                  </a:lnTo>
                  <a:lnTo>
                    <a:pt x="1312158" y="1054452"/>
                  </a:lnTo>
                  <a:lnTo>
                    <a:pt x="1286152" y="1090891"/>
                  </a:lnTo>
                  <a:lnTo>
                    <a:pt x="1260419" y="1123455"/>
                  </a:lnTo>
                  <a:lnTo>
                    <a:pt x="1210612" y="1175342"/>
                  </a:lnTo>
                  <a:lnTo>
                    <a:pt x="1176702" y="1201228"/>
                  </a:lnTo>
                  <a:lnTo>
                    <a:pt x="1138850" y="1223391"/>
                  </a:lnTo>
                  <a:lnTo>
                    <a:pt x="1097519" y="1241968"/>
                  </a:lnTo>
                  <a:lnTo>
                    <a:pt x="1053173" y="1257099"/>
                  </a:lnTo>
                  <a:lnTo>
                    <a:pt x="1006275" y="1268923"/>
                  </a:lnTo>
                  <a:lnTo>
                    <a:pt x="957291" y="1277579"/>
                  </a:lnTo>
                  <a:lnTo>
                    <a:pt x="906683" y="1283206"/>
                  </a:lnTo>
                  <a:lnTo>
                    <a:pt x="854916" y="1285944"/>
                  </a:lnTo>
                  <a:lnTo>
                    <a:pt x="802454" y="1285930"/>
                  </a:lnTo>
                  <a:lnTo>
                    <a:pt x="749760" y="1283304"/>
                  </a:lnTo>
                  <a:lnTo>
                    <a:pt x="697298" y="1278206"/>
                  </a:lnTo>
                  <a:lnTo>
                    <a:pt x="645533" y="1270773"/>
                  </a:lnTo>
                  <a:lnTo>
                    <a:pt x="594928" y="1261146"/>
                  </a:lnTo>
                  <a:lnTo>
                    <a:pt x="545947" y="1249464"/>
                  </a:lnTo>
                  <a:lnTo>
                    <a:pt x="499053" y="1235864"/>
                  </a:lnTo>
                  <a:lnTo>
                    <a:pt x="454712" y="1220487"/>
                  </a:lnTo>
                  <a:lnTo>
                    <a:pt x="413387" y="1203471"/>
                  </a:lnTo>
                  <a:lnTo>
                    <a:pt x="375542" y="1184956"/>
                  </a:lnTo>
                  <a:lnTo>
                    <a:pt x="341640" y="1165080"/>
                  </a:lnTo>
                  <a:lnTo>
                    <a:pt x="308817" y="1140498"/>
                  </a:lnTo>
                  <a:lnTo>
                    <a:pt x="277457" y="1110460"/>
                  </a:lnTo>
                  <a:lnTo>
                    <a:pt x="247595" y="1075590"/>
                  </a:lnTo>
                  <a:lnTo>
                    <a:pt x="219266" y="1036510"/>
                  </a:lnTo>
                  <a:lnTo>
                    <a:pt x="192505" y="993842"/>
                  </a:lnTo>
                  <a:lnTo>
                    <a:pt x="167345" y="948210"/>
                  </a:lnTo>
                  <a:lnTo>
                    <a:pt x="143823" y="900235"/>
                  </a:lnTo>
                  <a:lnTo>
                    <a:pt x="121973" y="850541"/>
                  </a:lnTo>
                  <a:lnTo>
                    <a:pt x="101830" y="799750"/>
                  </a:lnTo>
                  <a:lnTo>
                    <a:pt x="83429" y="748485"/>
                  </a:lnTo>
                  <a:lnTo>
                    <a:pt x="66804" y="697368"/>
                  </a:lnTo>
                  <a:lnTo>
                    <a:pt x="51990" y="647023"/>
                  </a:lnTo>
                  <a:lnTo>
                    <a:pt x="39023" y="598071"/>
                  </a:lnTo>
                  <a:lnTo>
                    <a:pt x="27936" y="551135"/>
                  </a:lnTo>
                  <a:lnTo>
                    <a:pt x="18765" y="506838"/>
                  </a:lnTo>
                  <a:lnTo>
                    <a:pt x="11545" y="465802"/>
                  </a:lnTo>
                  <a:lnTo>
                    <a:pt x="3096" y="396006"/>
                  </a:lnTo>
                  <a:lnTo>
                    <a:pt x="365" y="348594"/>
                  </a:lnTo>
                  <a:lnTo>
                    <a:pt x="0" y="305117"/>
                  </a:lnTo>
                  <a:lnTo>
                    <a:pt x="2967" y="265435"/>
                  </a:lnTo>
                  <a:lnTo>
                    <a:pt x="22764" y="196897"/>
                  </a:lnTo>
                  <a:lnTo>
                    <a:pt x="67488" y="141863"/>
                  </a:lnTo>
                  <a:lnTo>
                    <a:pt x="101614" y="119061"/>
                  </a:lnTo>
                  <a:lnTo>
                    <a:pt x="144871" y="99216"/>
                  </a:lnTo>
                  <a:lnTo>
                    <a:pt x="198226" y="82188"/>
                  </a:lnTo>
                  <a:lnTo>
                    <a:pt x="262646" y="67838"/>
                  </a:lnTo>
                  <a:close/>
                </a:path>
              </a:pathLst>
            </a:custGeom>
            <a:ln w="12700">
              <a:solidFill>
                <a:srgbClr val="C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6" name="object 19">
              <a:extLst>
                <a:ext uri="{FF2B5EF4-FFF2-40B4-BE49-F238E27FC236}">
                  <a16:creationId xmlns:a16="http://schemas.microsoft.com/office/drawing/2014/main" id="{21DA211B-789A-4FAF-D531-0DC2573C0C2E}"/>
                </a:ext>
              </a:extLst>
            </p:cNvPr>
            <p:cNvSpPr/>
            <p:nvPr/>
          </p:nvSpPr>
          <p:spPr>
            <a:xfrm>
              <a:off x="533400" y="1856232"/>
              <a:ext cx="1042035" cy="419734"/>
            </a:xfrm>
            <a:custGeom>
              <a:avLst/>
              <a:gdLst/>
              <a:ahLst/>
              <a:cxnLst/>
              <a:rect l="l" t="t" r="r" b="b"/>
              <a:pathLst>
                <a:path w="1042035" h="419735">
                  <a:moveTo>
                    <a:pt x="757428" y="419734"/>
                  </a:moveTo>
                  <a:lnTo>
                    <a:pt x="1041908" y="0"/>
                  </a:lnTo>
                </a:path>
                <a:path w="1042035" h="419735">
                  <a:moveTo>
                    <a:pt x="0" y="419734"/>
                  </a:moveTo>
                  <a:lnTo>
                    <a:pt x="1040891" y="0"/>
                  </a:lnTo>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67" name="object 20">
            <a:extLst>
              <a:ext uri="{FF2B5EF4-FFF2-40B4-BE49-F238E27FC236}">
                <a16:creationId xmlns:a16="http://schemas.microsoft.com/office/drawing/2014/main" id="{A5E63A29-8469-7A17-A9A5-DA77FC1FABE7}"/>
              </a:ext>
            </a:extLst>
          </p:cNvPr>
          <p:cNvSpPr txBox="1"/>
          <p:nvPr/>
        </p:nvSpPr>
        <p:spPr>
          <a:xfrm>
            <a:off x="355803" y="4512324"/>
            <a:ext cx="1424940" cy="853440"/>
          </a:xfrm>
          <a:prstGeom prst="rect">
            <a:avLst/>
          </a:prstGeom>
        </p:spPr>
        <p:txBody>
          <a:bodyPr vert="horz" wrap="square" lIns="0" tIns="129539" rIns="0" bIns="0" rtlCol="0">
            <a:spAutoFit/>
          </a:bodyPr>
          <a:lstStyle/>
          <a:p>
            <a:pPr marL="56515" rtl="0">
              <a:spcBef>
                <a:spcPts val="1019"/>
              </a:spcBef>
            </a:pPr>
            <a:r>
              <a:rPr b="1" kern="1200" dirty="0">
                <a:solidFill>
                  <a:srgbClr val="C00000"/>
                </a:solidFill>
                <a:latin typeface="Palatino Linotype"/>
                <a:cs typeface="Palatino Linotype"/>
              </a:rPr>
              <a:t>1</a:t>
            </a:r>
            <a:endParaRPr kern="1200">
              <a:solidFill>
                <a:prstClr val="black"/>
              </a:solidFill>
              <a:latin typeface="Palatino Linotype"/>
              <a:cs typeface="Palatino Linotype"/>
            </a:endParaRPr>
          </a:p>
          <a:p>
            <a:pPr marL="12700" rtl="0">
              <a:spcBef>
                <a:spcPts val="1035"/>
              </a:spcBef>
            </a:pPr>
            <a:r>
              <a:rPr sz="2000" kern="1200" dirty="0">
                <a:solidFill>
                  <a:srgbClr val="0431FF"/>
                </a:solidFill>
                <a:latin typeface="Consolas"/>
                <a:cs typeface="Consolas"/>
              </a:rPr>
              <a:t>E</a:t>
            </a:r>
            <a:r>
              <a:rPr sz="2000" kern="1200" dirty="0">
                <a:solidFill>
                  <a:prstClr val="black"/>
                </a:solidFill>
                <a:latin typeface="Consolas"/>
                <a:cs typeface="Consolas"/>
              </a:rPr>
              <a:t>.addr</a:t>
            </a:r>
            <a:r>
              <a:rPr sz="2000" kern="1200" spc="-50" dirty="0">
                <a:solidFill>
                  <a:prstClr val="black"/>
                </a:solidFill>
                <a:latin typeface="Consolas"/>
                <a:cs typeface="Consolas"/>
              </a:rPr>
              <a:t> </a:t>
            </a:r>
            <a:r>
              <a:rPr sz="2000" kern="1200" dirty="0">
                <a:solidFill>
                  <a:prstClr val="black"/>
                </a:solidFill>
                <a:latin typeface="Consolas"/>
                <a:cs typeface="Consolas"/>
              </a:rPr>
              <a:t>=</a:t>
            </a:r>
            <a:r>
              <a:rPr sz="2000" kern="1200" spc="-40" dirty="0">
                <a:solidFill>
                  <a:prstClr val="black"/>
                </a:solidFill>
                <a:latin typeface="Consolas"/>
                <a:cs typeface="Consolas"/>
              </a:rPr>
              <a:t> </a:t>
            </a:r>
            <a:r>
              <a:rPr sz="2000" kern="1200" dirty="0">
                <a:solidFill>
                  <a:prstClr val="black"/>
                </a:solidFill>
                <a:latin typeface="Consolas"/>
                <a:cs typeface="Consolas"/>
              </a:rPr>
              <a:t>a</a:t>
            </a:r>
            <a:endParaRPr sz="2000" kern="1200">
              <a:solidFill>
                <a:prstClr val="black"/>
              </a:solidFill>
              <a:latin typeface="Consolas"/>
              <a:cs typeface="Consolas"/>
            </a:endParaRPr>
          </a:p>
        </p:txBody>
      </p:sp>
      <p:grpSp>
        <p:nvGrpSpPr>
          <p:cNvPr id="68" name="object 21">
            <a:extLst>
              <a:ext uri="{FF2B5EF4-FFF2-40B4-BE49-F238E27FC236}">
                <a16:creationId xmlns:a16="http://schemas.microsoft.com/office/drawing/2014/main" id="{092871C6-FDC7-D5D0-B0E1-C9B57EBEAB19}"/>
              </a:ext>
            </a:extLst>
          </p:cNvPr>
          <p:cNvGrpSpPr/>
          <p:nvPr/>
        </p:nvGrpSpPr>
        <p:grpSpPr>
          <a:xfrm>
            <a:off x="105049" y="1471930"/>
            <a:ext cx="7872095" cy="4709795"/>
            <a:chOff x="105049" y="1471930"/>
            <a:chExt cx="7872095" cy="4709795"/>
          </a:xfrm>
        </p:grpSpPr>
        <p:pic>
          <p:nvPicPr>
            <p:cNvPr id="69" name="object 22">
              <a:extLst>
                <a:ext uri="{FF2B5EF4-FFF2-40B4-BE49-F238E27FC236}">
                  <a16:creationId xmlns:a16="http://schemas.microsoft.com/office/drawing/2014/main" id="{09B65C7F-9A32-735A-08E0-36155094308E}"/>
                </a:ext>
              </a:extLst>
            </p:cNvPr>
            <p:cNvPicPr/>
            <p:nvPr/>
          </p:nvPicPr>
          <p:blipFill>
            <a:blip r:embed="rId4" cstate="print"/>
            <a:stretch>
              <a:fillRect/>
            </a:stretch>
          </p:blipFill>
          <p:spPr>
            <a:xfrm>
              <a:off x="105049" y="1471930"/>
              <a:ext cx="4901352" cy="4709334"/>
            </a:xfrm>
            <a:prstGeom prst="rect">
              <a:avLst/>
            </a:prstGeom>
          </p:spPr>
        </p:pic>
        <p:sp>
          <p:nvSpPr>
            <p:cNvPr id="70" name="object 23">
              <a:extLst>
                <a:ext uri="{FF2B5EF4-FFF2-40B4-BE49-F238E27FC236}">
                  <a16:creationId xmlns:a16="http://schemas.microsoft.com/office/drawing/2014/main" id="{1F1075B8-FC2D-C8E4-D90E-38B4488BB699}"/>
                </a:ext>
              </a:extLst>
            </p:cNvPr>
            <p:cNvSpPr/>
            <p:nvPr/>
          </p:nvSpPr>
          <p:spPr>
            <a:xfrm>
              <a:off x="5554980" y="4215383"/>
              <a:ext cx="2415540" cy="1891664"/>
            </a:xfrm>
            <a:custGeom>
              <a:avLst/>
              <a:gdLst/>
              <a:ahLst/>
              <a:cxnLst/>
              <a:rect l="l" t="t" r="r" b="b"/>
              <a:pathLst>
                <a:path w="2415540" h="1891664">
                  <a:moveTo>
                    <a:pt x="2415539" y="0"/>
                  </a:moveTo>
                  <a:lnTo>
                    <a:pt x="0" y="0"/>
                  </a:lnTo>
                  <a:lnTo>
                    <a:pt x="0" y="1891283"/>
                  </a:lnTo>
                  <a:lnTo>
                    <a:pt x="2415539" y="1891283"/>
                  </a:lnTo>
                  <a:lnTo>
                    <a:pt x="2415539" y="0"/>
                  </a:lnTo>
                  <a:close/>
                </a:path>
              </a:pathLst>
            </a:custGeom>
            <a:solidFill>
              <a:srgbClr val="FFF1C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71" name="object 24">
              <a:extLst>
                <a:ext uri="{FF2B5EF4-FFF2-40B4-BE49-F238E27FC236}">
                  <a16:creationId xmlns:a16="http://schemas.microsoft.com/office/drawing/2014/main" id="{5D29BE4C-343B-CEE7-3CF3-DC1838F1A75B}"/>
                </a:ext>
              </a:extLst>
            </p:cNvPr>
            <p:cNvSpPr/>
            <p:nvPr/>
          </p:nvSpPr>
          <p:spPr>
            <a:xfrm>
              <a:off x="5554980" y="4215383"/>
              <a:ext cx="2415540" cy="1891664"/>
            </a:xfrm>
            <a:custGeom>
              <a:avLst/>
              <a:gdLst/>
              <a:ahLst/>
              <a:cxnLst/>
              <a:rect l="l" t="t" r="r" b="b"/>
              <a:pathLst>
                <a:path w="2415540" h="1891664">
                  <a:moveTo>
                    <a:pt x="0" y="1891283"/>
                  </a:moveTo>
                  <a:lnTo>
                    <a:pt x="2415539" y="1891283"/>
                  </a:lnTo>
                  <a:lnTo>
                    <a:pt x="2415539" y="0"/>
                  </a:lnTo>
                  <a:lnTo>
                    <a:pt x="0" y="0"/>
                  </a:lnTo>
                  <a:lnTo>
                    <a:pt x="0" y="1891283"/>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72" name="object 25">
            <a:extLst>
              <a:ext uri="{FF2B5EF4-FFF2-40B4-BE49-F238E27FC236}">
                <a16:creationId xmlns:a16="http://schemas.microsoft.com/office/drawing/2014/main" id="{62FCF5FF-4879-5607-4BA1-AAC574D1B780}"/>
              </a:ext>
            </a:extLst>
          </p:cNvPr>
          <p:cNvSpPr txBox="1"/>
          <p:nvPr/>
        </p:nvSpPr>
        <p:spPr>
          <a:xfrm>
            <a:off x="5599938" y="3751326"/>
            <a:ext cx="1671955" cy="299720"/>
          </a:xfrm>
          <a:prstGeom prst="rect">
            <a:avLst/>
          </a:prstGeom>
        </p:spPr>
        <p:txBody>
          <a:bodyPr vert="horz" wrap="square" lIns="0" tIns="12700" rIns="0" bIns="0" rtlCol="0">
            <a:spAutoFit/>
          </a:bodyPr>
          <a:lstStyle/>
          <a:p>
            <a:pPr marL="12700" rtl="0">
              <a:spcBef>
                <a:spcPts val="100"/>
              </a:spcBef>
            </a:pPr>
            <a:r>
              <a:rPr kern="1200" spc="-5" dirty="0">
                <a:solidFill>
                  <a:prstClr val="black"/>
                </a:solidFill>
                <a:latin typeface="Palatino Linotype"/>
                <a:cs typeface="Palatino Linotype"/>
              </a:rPr>
              <a:t>Generated</a:t>
            </a:r>
            <a:r>
              <a:rPr kern="1200" spc="-50" dirty="0">
                <a:solidFill>
                  <a:prstClr val="black"/>
                </a:solidFill>
                <a:latin typeface="Palatino Linotype"/>
                <a:cs typeface="Palatino Linotype"/>
              </a:rPr>
              <a:t> </a:t>
            </a:r>
            <a:r>
              <a:rPr kern="1200" dirty="0">
                <a:solidFill>
                  <a:prstClr val="black"/>
                </a:solidFill>
                <a:latin typeface="Palatino Linotype"/>
                <a:cs typeface="Palatino Linotype"/>
              </a:rPr>
              <a:t>code:</a:t>
            </a:r>
            <a:endParaRPr kern="1200">
              <a:solidFill>
                <a:prstClr val="black"/>
              </a:solidFill>
              <a:latin typeface="Palatino Linotype"/>
              <a:cs typeface="Palatino Linotype"/>
            </a:endParaRPr>
          </a:p>
        </p:txBody>
      </p:sp>
      <p:sp>
        <p:nvSpPr>
          <p:cNvPr id="73" name="object 26">
            <a:extLst>
              <a:ext uri="{FF2B5EF4-FFF2-40B4-BE49-F238E27FC236}">
                <a16:creationId xmlns:a16="http://schemas.microsoft.com/office/drawing/2014/main" id="{D556E8CA-90EE-BFF4-3F29-E32E2C11749B}"/>
              </a:ext>
            </a:extLst>
          </p:cNvPr>
          <p:cNvSpPr txBox="1"/>
          <p:nvPr/>
        </p:nvSpPr>
        <p:spPr>
          <a:xfrm>
            <a:off x="5142357" y="4619625"/>
            <a:ext cx="139700" cy="299720"/>
          </a:xfrm>
          <a:prstGeom prst="rect">
            <a:avLst/>
          </a:prstGeom>
        </p:spPr>
        <p:txBody>
          <a:bodyPr vert="horz" wrap="square" lIns="0" tIns="12700" rIns="0" bIns="0" rtlCol="0">
            <a:spAutoFit/>
          </a:bodyPr>
          <a:lstStyle/>
          <a:p>
            <a:pPr marL="12700" rtl="0">
              <a:spcBef>
                <a:spcPts val="100"/>
              </a:spcBef>
            </a:pPr>
            <a:r>
              <a:rPr b="1" kern="1200" dirty="0">
                <a:solidFill>
                  <a:srgbClr val="0431FF"/>
                </a:solidFill>
                <a:latin typeface="Palatino Linotype"/>
                <a:cs typeface="Palatino Linotype"/>
              </a:rPr>
              <a:t>2</a:t>
            </a:r>
            <a:endParaRPr kern="1200">
              <a:solidFill>
                <a:prstClr val="black"/>
              </a:solidFill>
              <a:latin typeface="Palatino Linotype"/>
              <a:cs typeface="Palatino Linotype"/>
            </a:endParaRPr>
          </a:p>
        </p:txBody>
      </p:sp>
      <p:sp>
        <p:nvSpPr>
          <p:cNvPr id="74" name="object 27">
            <a:extLst>
              <a:ext uri="{FF2B5EF4-FFF2-40B4-BE49-F238E27FC236}">
                <a16:creationId xmlns:a16="http://schemas.microsoft.com/office/drawing/2014/main" id="{FB5473C9-F565-4938-3B1C-CCA7030DF16A}"/>
              </a:ext>
            </a:extLst>
          </p:cNvPr>
          <p:cNvSpPr txBox="1"/>
          <p:nvPr/>
        </p:nvSpPr>
        <p:spPr>
          <a:xfrm>
            <a:off x="8309229" y="3064509"/>
            <a:ext cx="332105" cy="299720"/>
          </a:xfrm>
          <a:prstGeom prst="rect">
            <a:avLst/>
          </a:prstGeom>
        </p:spPr>
        <p:txBody>
          <a:bodyPr vert="horz" wrap="square" lIns="0" tIns="12700" rIns="0" bIns="0" rtlCol="0">
            <a:spAutoFit/>
          </a:bodyPr>
          <a:lstStyle/>
          <a:p>
            <a:pPr marL="12700" rtl="0">
              <a:spcBef>
                <a:spcPts val="100"/>
              </a:spcBef>
            </a:pPr>
            <a:r>
              <a:rPr b="1" kern="1200" dirty="0">
                <a:solidFill>
                  <a:srgbClr val="C00000"/>
                </a:solidFill>
                <a:latin typeface="Palatino Linotype"/>
                <a:cs typeface="Palatino Linotype"/>
              </a:rPr>
              <a:t>1</a:t>
            </a:r>
            <a:r>
              <a:rPr b="1" kern="1200" spc="75" dirty="0">
                <a:solidFill>
                  <a:srgbClr val="C00000"/>
                </a:solidFill>
                <a:latin typeface="Palatino Linotype"/>
                <a:cs typeface="Palatino Linotype"/>
              </a:rPr>
              <a:t> </a:t>
            </a:r>
            <a:r>
              <a:rPr b="1" kern="1200" dirty="0">
                <a:solidFill>
                  <a:srgbClr val="0431FF"/>
                </a:solidFill>
                <a:latin typeface="Palatino Linotype"/>
                <a:cs typeface="Palatino Linotype"/>
              </a:rPr>
              <a:t>2</a:t>
            </a:r>
            <a:endParaRPr kern="1200">
              <a:solidFill>
                <a:prstClr val="black"/>
              </a:solidFill>
              <a:latin typeface="Palatino Linotype"/>
              <a:cs typeface="Palatino Linotype"/>
            </a:endParaRPr>
          </a:p>
        </p:txBody>
      </p:sp>
      <p:sp>
        <p:nvSpPr>
          <p:cNvPr id="75" name="object 28">
            <a:extLst>
              <a:ext uri="{FF2B5EF4-FFF2-40B4-BE49-F238E27FC236}">
                <a16:creationId xmlns:a16="http://schemas.microsoft.com/office/drawing/2014/main" id="{89F90652-B93C-4BA4-4732-C605F567A712}"/>
              </a:ext>
            </a:extLst>
          </p:cNvPr>
          <p:cNvSpPr txBox="1"/>
          <p:nvPr/>
        </p:nvSpPr>
        <p:spPr>
          <a:xfrm>
            <a:off x="2068195" y="3834206"/>
            <a:ext cx="2472055" cy="331470"/>
          </a:xfrm>
          <a:prstGeom prst="rect">
            <a:avLst/>
          </a:prstGeom>
        </p:spPr>
        <p:txBody>
          <a:bodyPr vert="horz" wrap="square" lIns="0" tIns="13335" rIns="0" bIns="0" rtlCol="0">
            <a:spAutoFit/>
          </a:bodyPr>
          <a:lstStyle/>
          <a:p>
            <a:pPr marL="12700" rtl="0">
              <a:spcBef>
                <a:spcPts val="105"/>
              </a:spcBef>
              <a:tabLst>
                <a:tab pos="1873250" algn="l"/>
                <a:tab pos="2318385" algn="l"/>
              </a:tabLst>
            </a:pPr>
            <a:r>
              <a:rPr sz="2000" kern="1200" dirty="0">
                <a:solidFill>
                  <a:srgbClr val="0431FF"/>
                </a:solidFill>
                <a:latin typeface="Consolas"/>
                <a:cs typeface="Consolas"/>
              </a:rPr>
              <a:t>E</a:t>
            </a:r>
            <a:r>
              <a:rPr sz="2000" kern="1200" dirty="0">
                <a:solidFill>
                  <a:prstClr val="black"/>
                </a:solidFill>
                <a:latin typeface="Consolas"/>
                <a:cs typeface="Consolas"/>
              </a:rPr>
              <a:t>.a</a:t>
            </a:r>
            <a:r>
              <a:rPr sz="2000" kern="1200" spc="-10" dirty="0">
                <a:solidFill>
                  <a:prstClr val="black"/>
                </a:solidFill>
                <a:latin typeface="Consolas"/>
                <a:cs typeface="Consolas"/>
              </a:rPr>
              <a:t>d</a:t>
            </a:r>
            <a:r>
              <a:rPr sz="2000" kern="1200" dirty="0">
                <a:solidFill>
                  <a:prstClr val="black"/>
                </a:solidFill>
                <a:latin typeface="Consolas"/>
                <a:cs typeface="Consolas"/>
              </a:rPr>
              <a:t>dr</a:t>
            </a:r>
            <a:r>
              <a:rPr sz="2000" kern="1200" spc="-10" dirty="0">
                <a:solidFill>
                  <a:prstClr val="black"/>
                </a:solidFill>
                <a:latin typeface="Consolas"/>
                <a:cs typeface="Consolas"/>
              </a:rPr>
              <a:t> </a:t>
            </a:r>
            <a:r>
              <a:rPr sz="2000" kern="1200" dirty="0">
                <a:solidFill>
                  <a:prstClr val="black"/>
                </a:solidFill>
                <a:latin typeface="Consolas"/>
                <a:cs typeface="Consolas"/>
              </a:rPr>
              <a:t>= </a:t>
            </a:r>
            <a:r>
              <a:rPr sz="2000" kern="1200" spc="-10" dirty="0">
                <a:solidFill>
                  <a:prstClr val="black"/>
                </a:solidFill>
                <a:latin typeface="Consolas"/>
                <a:cs typeface="Consolas"/>
              </a:rPr>
              <a:t>t</a:t>
            </a:r>
            <a:r>
              <a:rPr sz="2000" kern="1200" dirty="0">
                <a:solidFill>
                  <a:prstClr val="black"/>
                </a:solidFill>
                <a:latin typeface="Consolas"/>
                <a:cs typeface="Consolas"/>
              </a:rPr>
              <a:t>1	</a:t>
            </a:r>
            <a:r>
              <a:rPr sz="2700" b="1" kern="1200" baseline="3086" dirty="0">
                <a:solidFill>
                  <a:srgbClr val="EC7C30"/>
                </a:solidFill>
                <a:latin typeface="Palatino Linotype"/>
                <a:cs typeface="Palatino Linotype"/>
              </a:rPr>
              <a:t>3	</a:t>
            </a:r>
            <a:r>
              <a:rPr sz="2000" kern="1200" dirty="0">
                <a:solidFill>
                  <a:srgbClr val="0431FF"/>
                </a:solidFill>
                <a:latin typeface="Consolas"/>
                <a:cs typeface="Consolas"/>
              </a:rPr>
              <a:t>)</a:t>
            </a:r>
            <a:endParaRPr sz="2000" kern="1200">
              <a:solidFill>
                <a:prstClr val="black"/>
              </a:solidFill>
              <a:latin typeface="Consolas"/>
              <a:cs typeface="Consolas"/>
            </a:endParaRPr>
          </a:p>
        </p:txBody>
      </p:sp>
      <p:sp>
        <p:nvSpPr>
          <p:cNvPr id="76" name="object 29">
            <a:extLst>
              <a:ext uri="{FF2B5EF4-FFF2-40B4-BE49-F238E27FC236}">
                <a16:creationId xmlns:a16="http://schemas.microsoft.com/office/drawing/2014/main" id="{F732106F-C846-1354-DE81-75722B8836B4}"/>
              </a:ext>
            </a:extLst>
          </p:cNvPr>
          <p:cNvSpPr txBox="1"/>
          <p:nvPr/>
        </p:nvSpPr>
        <p:spPr>
          <a:xfrm>
            <a:off x="5784850" y="4427601"/>
            <a:ext cx="1278890" cy="299720"/>
          </a:xfrm>
          <a:prstGeom prst="rect">
            <a:avLst/>
          </a:prstGeom>
        </p:spPr>
        <p:txBody>
          <a:bodyPr vert="horz" wrap="square" lIns="0" tIns="12700" rIns="0" bIns="0" rtlCol="0">
            <a:spAutoFit/>
          </a:bodyPr>
          <a:lstStyle/>
          <a:p>
            <a:pPr marL="12700" rtl="0">
              <a:spcBef>
                <a:spcPts val="100"/>
              </a:spcBef>
            </a:pPr>
            <a:r>
              <a:rPr kern="1200" spc="-5" dirty="0">
                <a:solidFill>
                  <a:prstClr val="black"/>
                </a:solidFill>
                <a:latin typeface="Consolas"/>
                <a:cs typeface="Consolas"/>
              </a:rPr>
              <a:t>t1</a:t>
            </a:r>
            <a:r>
              <a:rPr kern="1200" spc="-40" dirty="0">
                <a:solidFill>
                  <a:prstClr val="black"/>
                </a:solidFill>
                <a:latin typeface="Consolas"/>
                <a:cs typeface="Consolas"/>
              </a:rPr>
              <a:t> </a:t>
            </a:r>
            <a:r>
              <a:rPr kern="1200" dirty="0">
                <a:solidFill>
                  <a:prstClr val="black"/>
                </a:solidFill>
                <a:latin typeface="Consolas"/>
                <a:cs typeface="Consolas"/>
              </a:rPr>
              <a:t>=</a:t>
            </a:r>
            <a:r>
              <a:rPr kern="1200" spc="-30" dirty="0">
                <a:solidFill>
                  <a:prstClr val="black"/>
                </a:solidFill>
                <a:latin typeface="Consolas"/>
                <a:cs typeface="Consolas"/>
              </a:rPr>
              <a:t> </a:t>
            </a:r>
            <a:r>
              <a:rPr kern="1200" dirty="0">
                <a:solidFill>
                  <a:prstClr val="black"/>
                </a:solidFill>
                <a:latin typeface="Consolas"/>
                <a:cs typeface="Consolas"/>
              </a:rPr>
              <a:t>a</a:t>
            </a:r>
            <a:r>
              <a:rPr kern="1200" spc="-35" dirty="0">
                <a:solidFill>
                  <a:prstClr val="black"/>
                </a:solidFill>
                <a:latin typeface="Consolas"/>
                <a:cs typeface="Consolas"/>
              </a:rPr>
              <a:t> </a:t>
            </a:r>
            <a:r>
              <a:rPr kern="1200" dirty="0">
                <a:solidFill>
                  <a:prstClr val="black"/>
                </a:solidFill>
                <a:latin typeface="Consolas"/>
                <a:cs typeface="Consolas"/>
              </a:rPr>
              <a:t>+</a:t>
            </a:r>
            <a:r>
              <a:rPr kern="1200" spc="-30" dirty="0">
                <a:solidFill>
                  <a:prstClr val="black"/>
                </a:solidFill>
                <a:latin typeface="Consolas"/>
                <a:cs typeface="Consolas"/>
              </a:rPr>
              <a:t> </a:t>
            </a:r>
            <a:r>
              <a:rPr kern="1200" dirty="0">
                <a:solidFill>
                  <a:prstClr val="black"/>
                </a:solidFill>
                <a:latin typeface="Consolas"/>
                <a:cs typeface="Consolas"/>
              </a:rPr>
              <a:t>b</a:t>
            </a:r>
            <a:endParaRPr kern="1200">
              <a:solidFill>
                <a:prstClr val="black"/>
              </a:solidFill>
              <a:latin typeface="Consolas"/>
              <a:cs typeface="Consolas"/>
            </a:endParaRPr>
          </a:p>
        </p:txBody>
      </p:sp>
      <p:sp>
        <p:nvSpPr>
          <p:cNvPr id="77" name="object 30">
            <a:extLst>
              <a:ext uri="{FF2B5EF4-FFF2-40B4-BE49-F238E27FC236}">
                <a16:creationId xmlns:a16="http://schemas.microsoft.com/office/drawing/2014/main" id="{35A86057-35D7-66CA-C1BA-3BD72A84FAEC}"/>
              </a:ext>
            </a:extLst>
          </p:cNvPr>
          <p:cNvSpPr txBox="1"/>
          <p:nvPr/>
        </p:nvSpPr>
        <p:spPr>
          <a:xfrm>
            <a:off x="7933435" y="1567434"/>
            <a:ext cx="139700" cy="299720"/>
          </a:xfrm>
          <a:prstGeom prst="rect">
            <a:avLst/>
          </a:prstGeom>
        </p:spPr>
        <p:txBody>
          <a:bodyPr vert="horz" wrap="square" lIns="0" tIns="12700" rIns="0" bIns="0" rtlCol="0">
            <a:spAutoFit/>
          </a:bodyPr>
          <a:lstStyle/>
          <a:p>
            <a:pPr marL="12700" rtl="0">
              <a:spcBef>
                <a:spcPts val="100"/>
              </a:spcBef>
            </a:pPr>
            <a:r>
              <a:rPr b="1" kern="1200" dirty="0">
                <a:solidFill>
                  <a:srgbClr val="EC7C30"/>
                </a:solidFill>
                <a:latin typeface="Palatino Linotype"/>
                <a:cs typeface="Palatino Linotype"/>
              </a:rPr>
              <a:t>3</a:t>
            </a:r>
            <a:endParaRPr kern="1200">
              <a:solidFill>
                <a:prstClr val="black"/>
              </a:solidFill>
              <a:latin typeface="Palatino Linotype"/>
              <a:cs typeface="Palatino Linotype"/>
            </a:endParaRPr>
          </a:p>
        </p:txBody>
      </p:sp>
      <p:sp>
        <p:nvSpPr>
          <p:cNvPr id="78" name="object 31">
            <a:extLst>
              <a:ext uri="{FF2B5EF4-FFF2-40B4-BE49-F238E27FC236}">
                <a16:creationId xmlns:a16="http://schemas.microsoft.com/office/drawing/2014/main" id="{46859A9F-374B-74D3-D2D8-AAA273D39BAE}"/>
              </a:ext>
            </a:extLst>
          </p:cNvPr>
          <p:cNvSpPr txBox="1"/>
          <p:nvPr/>
        </p:nvSpPr>
        <p:spPr>
          <a:xfrm>
            <a:off x="8431783" y="4425188"/>
            <a:ext cx="139700" cy="299720"/>
          </a:xfrm>
          <a:prstGeom prst="rect">
            <a:avLst/>
          </a:prstGeom>
        </p:spPr>
        <p:txBody>
          <a:bodyPr vert="horz" wrap="square" lIns="0" tIns="12700" rIns="0" bIns="0" rtlCol="0">
            <a:spAutoFit/>
          </a:bodyPr>
          <a:lstStyle/>
          <a:p>
            <a:pPr marL="12700" rtl="0">
              <a:spcBef>
                <a:spcPts val="100"/>
              </a:spcBef>
            </a:pPr>
            <a:r>
              <a:rPr b="1" kern="1200" dirty="0">
                <a:solidFill>
                  <a:srgbClr val="EC7C30"/>
                </a:solidFill>
                <a:latin typeface="Palatino Linotype"/>
                <a:cs typeface="Palatino Linotype"/>
              </a:rPr>
              <a:t>3</a:t>
            </a:r>
            <a:endParaRPr kern="1200">
              <a:solidFill>
                <a:prstClr val="black"/>
              </a:solidFill>
              <a:latin typeface="Palatino Linotype"/>
              <a:cs typeface="Palatino Linotype"/>
            </a:endParaRPr>
          </a:p>
        </p:txBody>
      </p:sp>
      <p:grpSp>
        <p:nvGrpSpPr>
          <p:cNvPr id="79" name="object 32">
            <a:extLst>
              <a:ext uri="{FF2B5EF4-FFF2-40B4-BE49-F238E27FC236}">
                <a16:creationId xmlns:a16="http://schemas.microsoft.com/office/drawing/2014/main" id="{5A3F551A-EB12-7270-24D8-2D3CA1D9DCCB}"/>
              </a:ext>
            </a:extLst>
          </p:cNvPr>
          <p:cNvGrpSpPr/>
          <p:nvPr/>
        </p:nvGrpSpPr>
        <p:grpSpPr>
          <a:xfrm>
            <a:off x="6644385" y="4583938"/>
            <a:ext cx="1714500" cy="1134745"/>
            <a:chOff x="6644385" y="4583938"/>
            <a:chExt cx="1714500" cy="1134745"/>
          </a:xfrm>
        </p:grpSpPr>
        <p:sp>
          <p:nvSpPr>
            <p:cNvPr id="80" name="object 33">
              <a:extLst>
                <a:ext uri="{FF2B5EF4-FFF2-40B4-BE49-F238E27FC236}">
                  <a16:creationId xmlns:a16="http://schemas.microsoft.com/office/drawing/2014/main" id="{CE303107-E86B-0D0C-A7B4-284DAD3F592C}"/>
                </a:ext>
              </a:extLst>
            </p:cNvPr>
            <p:cNvSpPr/>
            <p:nvPr/>
          </p:nvSpPr>
          <p:spPr>
            <a:xfrm>
              <a:off x="7156703" y="4590288"/>
              <a:ext cx="1195705" cy="1270"/>
            </a:xfrm>
            <a:custGeom>
              <a:avLst/>
              <a:gdLst/>
              <a:ahLst/>
              <a:cxnLst/>
              <a:rect l="l" t="t" r="r" b="b"/>
              <a:pathLst>
                <a:path w="1195704" h="1270">
                  <a:moveTo>
                    <a:pt x="0" y="1016"/>
                  </a:moveTo>
                  <a:lnTo>
                    <a:pt x="1195324" y="0"/>
                  </a:lnTo>
                </a:path>
              </a:pathLst>
            </a:custGeom>
            <a:ln w="12699">
              <a:solidFill>
                <a:srgbClr val="EC7C30"/>
              </a:solidFill>
              <a:prstDash val="sysDash"/>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81" name="object 34">
              <a:extLst>
                <a:ext uri="{FF2B5EF4-FFF2-40B4-BE49-F238E27FC236}">
                  <a16:creationId xmlns:a16="http://schemas.microsoft.com/office/drawing/2014/main" id="{C031A19C-9EAA-55D2-61C5-805A47ED705F}"/>
                </a:ext>
              </a:extLst>
            </p:cNvPr>
            <p:cNvSpPr/>
            <p:nvPr/>
          </p:nvSpPr>
          <p:spPr>
            <a:xfrm>
              <a:off x="7068311" y="5161788"/>
              <a:ext cx="1195705" cy="1270"/>
            </a:xfrm>
            <a:custGeom>
              <a:avLst/>
              <a:gdLst/>
              <a:ahLst/>
              <a:cxnLst/>
              <a:rect l="l" t="t" r="r" b="b"/>
              <a:pathLst>
                <a:path w="1195704" h="1270">
                  <a:moveTo>
                    <a:pt x="0" y="1016"/>
                  </a:moveTo>
                  <a:lnTo>
                    <a:pt x="1195324" y="0"/>
                  </a:lnTo>
                </a:path>
              </a:pathLst>
            </a:custGeom>
            <a:ln w="12699">
              <a:solidFill>
                <a:srgbClr val="6F2F9F"/>
              </a:solidFill>
              <a:prstDash val="sysDash"/>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82" name="object 35">
              <a:extLst>
                <a:ext uri="{FF2B5EF4-FFF2-40B4-BE49-F238E27FC236}">
                  <a16:creationId xmlns:a16="http://schemas.microsoft.com/office/drawing/2014/main" id="{A7F972FD-8888-115D-077F-AA7E8688617C}"/>
                </a:ext>
              </a:extLst>
            </p:cNvPr>
            <p:cNvSpPr/>
            <p:nvPr/>
          </p:nvSpPr>
          <p:spPr>
            <a:xfrm>
              <a:off x="6650735" y="5708904"/>
              <a:ext cx="1679575" cy="3810"/>
            </a:xfrm>
            <a:custGeom>
              <a:avLst/>
              <a:gdLst/>
              <a:ahLst/>
              <a:cxnLst/>
              <a:rect l="l" t="t" r="r" b="b"/>
              <a:pathLst>
                <a:path w="1679575" h="3810">
                  <a:moveTo>
                    <a:pt x="0" y="3187"/>
                  </a:moveTo>
                  <a:lnTo>
                    <a:pt x="1679321" y="0"/>
                  </a:lnTo>
                </a:path>
              </a:pathLst>
            </a:custGeom>
            <a:ln w="12700">
              <a:solidFill>
                <a:srgbClr val="FF0000"/>
              </a:solidFill>
              <a:prstDash val="sysDash"/>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83" name="object 36">
            <a:extLst>
              <a:ext uri="{FF2B5EF4-FFF2-40B4-BE49-F238E27FC236}">
                <a16:creationId xmlns:a16="http://schemas.microsoft.com/office/drawing/2014/main" id="{B2F8AA40-B3B3-50F1-5F47-A770321AEEA7}"/>
              </a:ext>
            </a:extLst>
          </p:cNvPr>
          <p:cNvSpPr txBox="1"/>
          <p:nvPr/>
        </p:nvSpPr>
        <p:spPr>
          <a:xfrm>
            <a:off x="4586478" y="2893567"/>
            <a:ext cx="139700" cy="299720"/>
          </a:xfrm>
          <a:prstGeom prst="rect">
            <a:avLst/>
          </a:prstGeom>
        </p:spPr>
        <p:txBody>
          <a:bodyPr vert="horz" wrap="square" lIns="0" tIns="12700" rIns="0" bIns="0" rtlCol="0">
            <a:spAutoFit/>
          </a:bodyPr>
          <a:lstStyle/>
          <a:p>
            <a:pPr marL="12700" rtl="0">
              <a:spcBef>
                <a:spcPts val="100"/>
              </a:spcBef>
            </a:pPr>
            <a:r>
              <a:rPr b="1" kern="1200" dirty="0">
                <a:solidFill>
                  <a:srgbClr val="538235"/>
                </a:solidFill>
                <a:latin typeface="Palatino Linotype"/>
                <a:cs typeface="Palatino Linotype"/>
              </a:rPr>
              <a:t>4</a:t>
            </a:r>
            <a:endParaRPr kern="1200">
              <a:solidFill>
                <a:prstClr val="black"/>
              </a:solidFill>
              <a:latin typeface="Palatino Linotype"/>
              <a:cs typeface="Palatino Linotype"/>
            </a:endParaRPr>
          </a:p>
        </p:txBody>
      </p:sp>
      <p:sp>
        <p:nvSpPr>
          <p:cNvPr id="84" name="object 37">
            <a:extLst>
              <a:ext uri="{FF2B5EF4-FFF2-40B4-BE49-F238E27FC236}">
                <a16:creationId xmlns:a16="http://schemas.microsoft.com/office/drawing/2014/main" id="{9137A5F6-FB4A-2446-D783-28765899425F}"/>
              </a:ext>
            </a:extLst>
          </p:cNvPr>
          <p:cNvSpPr txBox="1"/>
          <p:nvPr/>
        </p:nvSpPr>
        <p:spPr>
          <a:xfrm>
            <a:off x="1965198" y="1844650"/>
            <a:ext cx="1563370" cy="780415"/>
          </a:xfrm>
          <a:prstGeom prst="rect">
            <a:avLst/>
          </a:prstGeom>
        </p:spPr>
        <p:txBody>
          <a:bodyPr vert="horz" wrap="square" lIns="0" tIns="95250" rIns="0" bIns="0" rtlCol="0">
            <a:spAutoFit/>
          </a:bodyPr>
          <a:lstStyle/>
          <a:p>
            <a:pPr marR="162560" algn="r" rtl="0">
              <a:spcBef>
                <a:spcPts val="750"/>
              </a:spcBef>
            </a:pPr>
            <a:r>
              <a:rPr b="1" kern="1200" dirty="0">
                <a:solidFill>
                  <a:srgbClr val="6F2F9F"/>
                </a:solidFill>
                <a:latin typeface="Palatino Linotype"/>
                <a:cs typeface="Palatino Linotype"/>
              </a:rPr>
              <a:t>5</a:t>
            </a:r>
            <a:endParaRPr kern="1200">
              <a:solidFill>
                <a:prstClr val="black"/>
              </a:solidFill>
              <a:latin typeface="Palatino Linotype"/>
              <a:cs typeface="Palatino Linotype"/>
            </a:endParaRPr>
          </a:p>
          <a:p>
            <a:pPr marL="12700" rtl="0">
              <a:spcBef>
                <a:spcPts val="730"/>
              </a:spcBef>
            </a:pPr>
            <a:r>
              <a:rPr sz="2000" kern="1200" dirty="0">
                <a:solidFill>
                  <a:srgbClr val="0431FF"/>
                </a:solidFill>
                <a:latin typeface="Consolas"/>
                <a:cs typeface="Consolas"/>
              </a:rPr>
              <a:t>E</a:t>
            </a:r>
            <a:r>
              <a:rPr sz="2000" kern="1200" dirty="0">
                <a:solidFill>
                  <a:prstClr val="black"/>
                </a:solidFill>
                <a:latin typeface="Consolas"/>
                <a:cs typeface="Consolas"/>
              </a:rPr>
              <a:t>.addr</a:t>
            </a:r>
            <a:r>
              <a:rPr sz="2000" kern="1200" spc="-50" dirty="0">
                <a:solidFill>
                  <a:prstClr val="black"/>
                </a:solidFill>
                <a:latin typeface="Consolas"/>
                <a:cs typeface="Consolas"/>
              </a:rPr>
              <a:t> </a:t>
            </a:r>
            <a:r>
              <a:rPr sz="2000" kern="1200" dirty="0">
                <a:solidFill>
                  <a:prstClr val="black"/>
                </a:solidFill>
                <a:latin typeface="Consolas"/>
                <a:cs typeface="Consolas"/>
              </a:rPr>
              <a:t>=</a:t>
            </a:r>
            <a:r>
              <a:rPr sz="2000" kern="1200" spc="-45" dirty="0">
                <a:solidFill>
                  <a:prstClr val="black"/>
                </a:solidFill>
                <a:latin typeface="Consolas"/>
                <a:cs typeface="Consolas"/>
              </a:rPr>
              <a:t> </a:t>
            </a:r>
            <a:r>
              <a:rPr sz="2000" kern="1200" spc="-5" dirty="0">
                <a:solidFill>
                  <a:prstClr val="black"/>
                </a:solidFill>
                <a:latin typeface="Consolas"/>
                <a:cs typeface="Consolas"/>
              </a:rPr>
              <a:t>t2</a:t>
            </a:r>
            <a:endParaRPr sz="2000" kern="1200">
              <a:solidFill>
                <a:prstClr val="black"/>
              </a:solidFill>
              <a:latin typeface="Consolas"/>
              <a:cs typeface="Consolas"/>
            </a:endParaRPr>
          </a:p>
        </p:txBody>
      </p:sp>
      <p:sp>
        <p:nvSpPr>
          <p:cNvPr id="85" name="object 38">
            <a:extLst>
              <a:ext uri="{FF2B5EF4-FFF2-40B4-BE49-F238E27FC236}">
                <a16:creationId xmlns:a16="http://schemas.microsoft.com/office/drawing/2014/main" id="{5FF086C4-D81F-043C-46A3-71666B9F9218}"/>
              </a:ext>
            </a:extLst>
          </p:cNvPr>
          <p:cNvSpPr txBox="1"/>
          <p:nvPr/>
        </p:nvSpPr>
        <p:spPr>
          <a:xfrm>
            <a:off x="7733156" y="2695194"/>
            <a:ext cx="139700" cy="299720"/>
          </a:xfrm>
          <a:prstGeom prst="rect">
            <a:avLst/>
          </a:prstGeom>
        </p:spPr>
        <p:txBody>
          <a:bodyPr vert="horz" wrap="square" lIns="0" tIns="12700" rIns="0" bIns="0" rtlCol="0">
            <a:spAutoFit/>
          </a:bodyPr>
          <a:lstStyle/>
          <a:p>
            <a:pPr marL="12700" rtl="0">
              <a:spcBef>
                <a:spcPts val="100"/>
              </a:spcBef>
            </a:pPr>
            <a:r>
              <a:rPr b="1" kern="1200" dirty="0">
                <a:solidFill>
                  <a:srgbClr val="538235"/>
                </a:solidFill>
                <a:latin typeface="Palatino Linotype"/>
                <a:cs typeface="Palatino Linotype"/>
              </a:rPr>
              <a:t>4</a:t>
            </a:r>
            <a:endParaRPr kern="1200">
              <a:solidFill>
                <a:prstClr val="black"/>
              </a:solidFill>
              <a:latin typeface="Palatino Linotype"/>
              <a:cs typeface="Palatino Linotype"/>
            </a:endParaRPr>
          </a:p>
        </p:txBody>
      </p:sp>
      <p:sp>
        <p:nvSpPr>
          <p:cNvPr id="86" name="object 39">
            <a:extLst>
              <a:ext uri="{FF2B5EF4-FFF2-40B4-BE49-F238E27FC236}">
                <a16:creationId xmlns:a16="http://schemas.microsoft.com/office/drawing/2014/main" id="{FF730A1B-3528-0F80-C735-A002FEF16EB5}"/>
              </a:ext>
            </a:extLst>
          </p:cNvPr>
          <p:cNvSpPr txBox="1"/>
          <p:nvPr/>
        </p:nvSpPr>
        <p:spPr>
          <a:xfrm>
            <a:off x="8009001" y="2144014"/>
            <a:ext cx="139700" cy="299720"/>
          </a:xfrm>
          <a:prstGeom prst="rect">
            <a:avLst/>
          </a:prstGeom>
        </p:spPr>
        <p:txBody>
          <a:bodyPr vert="horz" wrap="square" lIns="0" tIns="12700" rIns="0" bIns="0" rtlCol="0">
            <a:spAutoFit/>
          </a:bodyPr>
          <a:lstStyle/>
          <a:p>
            <a:pPr marL="12700" rtl="0">
              <a:spcBef>
                <a:spcPts val="100"/>
              </a:spcBef>
            </a:pPr>
            <a:r>
              <a:rPr b="1" kern="1200" dirty="0">
                <a:solidFill>
                  <a:srgbClr val="6F2F9F"/>
                </a:solidFill>
                <a:latin typeface="Palatino Linotype"/>
                <a:cs typeface="Palatino Linotype"/>
              </a:rPr>
              <a:t>5</a:t>
            </a:r>
            <a:endParaRPr kern="1200">
              <a:solidFill>
                <a:prstClr val="black"/>
              </a:solidFill>
              <a:latin typeface="Palatino Linotype"/>
              <a:cs typeface="Palatino Linotype"/>
            </a:endParaRPr>
          </a:p>
        </p:txBody>
      </p:sp>
      <p:sp>
        <p:nvSpPr>
          <p:cNvPr id="87" name="object 40">
            <a:extLst>
              <a:ext uri="{FF2B5EF4-FFF2-40B4-BE49-F238E27FC236}">
                <a16:creationId xmlns:a16="http://schemas.microsoft.com/office/drawing/2014/main" id="{884DEEE1-15C3-A300-1FBC-B58C55BC1C6F}"/>
              </a:ext>
            </a:extLst>
          </p:cNvPr>
          <p:cNvSpPr txBox="1"/>
          <p:nvPr/>
        </p:nvSpPr>
        <p:spPr>
          <a:xfrm>
            <a:off x="5784850" y="5002225"/>
            <a:ext cx="1155065" cy="300355"/>
          </a:xfrm>
          <a:prstGeom prst="rect">
            <a:avLst/>
          </a:prstGeom>
        </p:spPr>
        <p:txBody>
          <a:bodyPr vert="horz" wrap="square" lIns="0" tIns="12700" rIns="0" bIns="0" rtlCol="0">
            <a:spAutoFit/>
          </a:bodyPr>
          <a:lstStyle/>
          <a:p>
            <a:pPr marL="12700" rtl="0">
              <a:spcBef>
                <a:spcPts val="100"/>
              </a:spcBef>
            </a:pPr>
            <a:r>
              <a:rPr kern="1200" spc="-5" dirty="0">
                <a:solidFill>
                  <a:prstClr val="black"/>
                </a:solidFill>
                <a:latin typeface="Consolas"/>
                <a:cs typeface="Consolas"/>
              </a:rPr>
              <a:t>t2</a:t>
            </a:r>
            <a:r>
              <a:rPr kern="1200" spc="-45" dirty="0">
                <a:solidFill>
                  <a:prstClr val="black"/>
                </a:solidFill>
                <a:latin typeface="Consolas"/>
                <a:cs typeface="Consolas"/>
              </a:rPr>
              <a:t> </a:t>
            </a:r>
            <a:r>
              <a:rPr kern="1200" dirty="0">
                <a:solidFill>
                  <a:prstClr val="black"/>
                </a:solidFill>
                <a:latin typeface="Consolas"/>
                <a:cs typeface="Consolas"/>
              </a:rPr>
              <a:t>=</a:t>
            </a:r>
            <a:r>
              <a:rPr kern="1200" spc="-30" dirty="0">
                <a:solidFill>
                  <a:prstClr val="black"/>
                </a:solidFill>
                <a:latin typeface="Consolas"/>
                <a:cs typeface="Consolas"/>
              </a:rPr>
              <a:t> </a:t>
            </a:r>
            <a:r>
              <a:rPr kern="1200" dirty="0">
                <a:solidFill>
                  <a:prstClr val="black"/>
                </a:solidFill>
                <a:latin typeface="Consolas"/>
                <a:cs typeface="Consolas"/>
              </a:rPr>
              <a:t>-</a:t>
            </a:r>
            <a:r>
              <a:rPr kern="1200" spc="-45" dirty="0">
                <a:solidFill>
                  <a:prstClr val="black"/>
                </a:solidFill>
                <a:latin typeface="Consolas"/>
                <a:cs typeface="Consolas"/>
              </a:rPr>
              <a:t> </a:t>
            </a:r>
            <a:r>
              <a:rPr kern="1200" spc="5" dirty="0">
                <a:solidFill>
                  <a:prstClr val="black"/>
                </a:solidFill>
                <a:latin typeface="Consolas"/>
                <a:cs typeface="Consolas"/>
              </a:rPr>
              <a:t>t1</a:t>
            </a:r>
            <a:endParaRPr kern="1200">
              <a:solidFill>
                <a:prstClr val="black"/>
              </a:solidFill>
              <a:latin typeface="Consolas"/>
              <a:cs typeface="Consolas"/>
            </a:endParaRPr>
          </a:p>
        </p:txBody>
      </p:sp>
      <p:sp>
        <p:nvSpPr>
          <p:cNvPr id="88" name="object 41">
            <a:extLst>
              <a:ext uri="{FF2B5EF4-FFF2-40B4-BE49-F238E27FC236}">
                <a16:creationId xmlns:a16="http://schemas.microsoft.com/office/drawing/2014/main" id="{8CB0650B-4CB0-1E5E-8946-9C050AF2FB57}"/>
              </a:ext>
            </a:extLst>
          </p:cNvPr>
          <p:cNvSpPr txBox="1"/>
          <p:nvPr/>
        </p:nvSpPr>
        <p:spPr>
          <a:xfrm>
            <a:off x="8411336" y="5000701"/>
            <a:ext cx="140335" cy="300355"/>
          </a:xfrm>
          <a:prstGeom prst="rect">
            <a:avLst/>
          </a:prstGeom>
        </p:spPr>
        <p:txBody>
          <a:bodyPr vert="horz" wrap="square" lIns="0" tIns="12700" rIns="0" bIns="0" rtlCol="0">
            <a:spAutoFit/>
          </a:bodyPr>
          <a:lstStyle/>
          <a:p>
            <a:pPr marL="12700" rtl="0">
              <a:spcBef>
                <a:spcPts val="100"/>
              </a:spcBef>
            </a:pPr>
            <a:r>
              <a:rPr b="1" kern="1200" dirty="0">
                <a:solidFill>
                  <a:srgbClr val="6F2F9F"/>
                </a:solidFill>
                <a:latin typeface="Palatino Linotype"/>
                <a:cs typeface="Palatino Linotype"/>
              </a:rPr>
              <a:t>5</a:t>
            </a:r>
            <a:endParaRPr kern="1200">
              <a:solidFill>
                <a:prstClr val="black"/>
              </a:solidFill>
              <a:latin typeface="Palatino Linotype"/>
              <a:cs typeface="Palatino Linotype"/>
            </a:endParaRPr>
          </a:p>
        </p:txBody>
      </p:sp>
      <p:sp>
        <p:nvSpPr>
          <p:cNvPr id="89" name="object 42">
            <a:extLst>
              <a:ext uri="{FF2B5EF4-FFF2-40B4-BE49-F238E27FC236}">
                <a16:creationId xmlns:a16="http://schemas.microsoft.com/office/drawing/2014/main" id="{2ABA89F5-9743-2298-E9F7-8D6518ECDC24}"/>
              </a:ext>
            </a:extLst>
          </p:cNvPr>
          <p:cNvSpPr txBox="1"/>
          <p:nvPr/>
        </p:nvSpPr>
        <p:spPr>
          <a:xfrm>
            <a:off x="423468" y="1284223"/>
            <a:ext cx="139700" cy="299720"/>
          </a:xfrm>
          <a:prstGeom prst="rect">
            <a:avLst/>
          </a:prstGeom>
        </p:spPr>
        <p:txBody>
          <a:bodyPr vert="horz" wrap="square" lIns="0" tIns="12700" rIns="0" bIns="0" rtlCol="0">
            <a:spAutoFit/>
          </a:bodyPr>
          <a:lstStyle/>
          <a:p>
            <a:pPr marL="12700" rtl="0">
              <a:spcBef>
                <a:spcPts val="100"/>
              </a:spcBef>
            </a:pPr>
            <a:r>
              <a:rPr b="1" kern="1200" dirty="0">
                <a:solidFill>
                  <a:srgbClr val="FF0000"/>
                </a:solidFill>
                <a:latin typeface="Palatino Linotype"/>
                <a:cs typeface="Palatino Linotype"/>
              </a:rPr>
              <a:t>6</a:t>
            </a:r>
            <a:endParaRPr kern="1200">
              <a:solidFill>
                <a:prstClr val="black"/>
              </a:solidFill>
              <a:latin typeface="Palatino Linotype"/>
              <a:cs typeface="Palatino Linotype"/>
            </a:endParaRPr>
          </a:p>
        </p:txBody>
      </p:sp>
      <p:sp>
        <p:nvSpPr>
          <p:cNvPr id="90" name="object 43">
            <a:extLst>
              <a:ext uri="{FF2B5EF4-FFF2-40B4-BE49-F238E27FC236}">
                <a16:creationId xmlns:a16="http://schemas.microsoft.com/office/drawing/2014/main" id="{FE4AFFBE-3BCD-A130-1EDF-B26909711BF2}"/>
              </a:ext>
            </a:extLst>
          </p:cNvPr>
          <p:cNvSpPr txBox="1"/>
          <p:nvPr/>
        </p:nvSpPr>
        <p:spPr>
          <a:xfrm>
            <a:off x="8729218" y="1197990"/>
            <a:ext cx="139700" cy="299720"/>
          </a:xfrm>
          <a:prstGeom prst="rect">
            <a:avLst/>
          </a:prstGeom>
        </p:spPr>
        <p:txBody>
          <a:bodyPr vert="horz" wrap="square" lIns="0" tIns="12700" rIns="0" bIns="0" rtlCol="0">
            <a:spAutoFit/>
          </a:bodyPr>
          <a:lstStyle/>
          <a:p>
            <a:pPr marL="12700" rtl="0">
              <a:spcBef>
                <a:spcPts val="100"/>
              </a:spcBef>
            </a:pPr>
            <a:r>
              <a:rPr b="1" kern="1200" dirty="0">
                <a:solidFill>
                  <a:srgbClr val="FF0000"/>
                </a:solidFill>
                <a:latin typeface="Palatino Linotype"/>
                <a:cs typeface="Palatino Linotype"/>
              </a:rPr>
              <a:t>6</a:t>
            </a:r>
            <a:endParaRPr kern="1200">
              <a:solidFill>
                <a:prstClr val="black"/>
              </a:solidFill>
              <a:latin typeface="Palatino Linotype"/>
              <a:cs typeface="Palatino Linotype"/>
            </a:endParaRPr>
          </a:p>
        </p:txBody>
      </p:sp>
      <p:sp>
        <p:nvSpPr>
          <p:cNvPr id="91" name="object 44">
            <a:extLst>
              <a:ext uri="{FF2B5EF4-FFF2-40B4-BE49-F238E27FC236}">
                <a16:creationId xmlns:a16="http://schemas.microsoft.com/office/drawing/2014/main" id="{953FF861-ACC2-AB36-7E67-8357CD0BC56D}"/>
              </a:ext>
            </a:extLst>
          </p:cNvPr>
          <p:cNvSpPr txBox="1"/>
          <p:nvPr/>
        </p:nvSpPr>
        <p:spPr>
          <a:xfrm>
            <a:off x="5785865" y="5548985"/>
            <a:ext cx="777875"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c</a:t>
            </a:r>
            <a:r>
              <a:rPr kern="1200" spc="-65" dirty="0">
                <a:solidFill>
                  <a:prstClr val="black"/>
                </a:solidFill>
                <a:latin typeface="Consolas"/>
                <a:cs typeface="Consolas"/>
              </a:rPr>
              <a:t> </a:t>
            </a:r>
            <a:r>
              <a:rPr kern="1200" dirty="0">
                <a:solidFill>
                  <a:prstClr val="black"/>
                </a:solidFill>
                <a:latin typeface="Consolas"/>
                <a:cs typeface="Consolas"/>
              </a:rPr>
              <a:t>=</a:t>
            </a:r>
            <a:r>
              <a:rPr kern="1200" spc="-60" dirty="0">
                <a:solidFill>
                  <a:prstClr val="black"/>
                </a:solidFill>
                <a:latin typeface="Consolas"/>
                <a:cs typeface="Consolas"/>
              </a:rPr>
              <a:t> </a:t>
            </a:r>
            <a:r>
              <a:rPr kern="1200" dirty="0">
                <a:solidFill>
                  <a:prstClr val="black"/>
                </a:solidFill>
                <a:latin typeface="Consolas"/>
                <a:cs typeface="Consolas"/>
              </a:rPr>
              <a:t>t2</a:t>
            </a:r>
            <a:endParaRPr kern="1200">
              <a:solidFill>
                <a:prstClr val="black"/>
              </a:solidFill>
              <a:latin typeface="Consolas"/>
              <a:cs typeface="Consolas"/>
            </a:endParaRPr>
          </a:p>
        </p:txBody>
      </p:sp>
      <p:sp>
        <p:nvSpPr>
          <p:cNvPr id="92" name="object 45">
            <a:extLst>
              <a:ext uri="{FF2B5EF4-FFF2-40B4-BE49-F238E27FC236}">
                <a16:creationId xmlns:a16="http://schemas.microsoft.com/office/drawing/2014/main" id="{5B87DDE6-0B94-5C0C-42D8-6E86F19829C1}"/>
              </a:ext>
            </a:extLst>
          </p:cNvPr>
          <p:cNvSpPr txBox="1"/>
          <p:nvPr/>
        </p:nvSpPr>
        <p:spPr>
          <a:xfrm>
            <a:off x="8410193" y="5544108"/>
            <a:ext cx="139700" cy="299720"/>
          </a:xfrm>
          <a:prstGeom prst="rect">
            <a:avLst/>
          </a:prstGeom>
        </p:spPr>
        <p:txBody>
          <a:bodyPr vert="horz" wrap="square" lIns="0" tIns="12700" rIns="0" bIns="0" rtlCol="0">
            <a:spAutoFit/>
          </a:bodyPr>
          <a:lstStyle/>
          <a:p>
            <a:pPr marL="12700" rtl="0">
              <a:spcBef>
                <a:spcPts val="100"/>
              </a:spcBef>
            </a:pPr>
            <a:r>
              <a:rPr b="1" kern="1200" dirty="0">
                <a:solidFill>
                  <a:srgbClr val="FF0000"/>
                </a:solidFill>
                <a:latin typeface="Palatino Linotype"/>
                <a:cs typeface="Palatino Linotype"/>
              </a:rPr>
              <a:t>6</a:t>
            </a:r>
            <a:endParaRPr kern="1200">
              <a:solidFill>
                <a:prstClr val="black"/>
              </a:solidFill>
              <a:latin typeface="Palatino Linotype"/>
              <a:cs typeface="Palatino Linotype"/>
            </a:endParaRPr>
          </a:p>
        </p:txBody>
      </p:sp>
    </p:spTree>
    <p:extLst>
      <p:ext uri="{BB962C8B-B14F-4D97-AF65-F5344CB8AC3E}">
        <p14:creationId xmlns:p14="http://schemas.microsoft.com/office/powerpoint/2010/main" val="25386124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4" name="object 5">
            <a:extLst>
              <a:ext uri="{FF2B5EF4-FFF2-40B4-BE49-F238E27FC236}">
                <a16:creationId xmlns:a16="http://schemas.microsoft.com/office/drawing/2014/main" id="{6F5664F2-8003-37BE-07A8-C57905582AC0}"/>
              </a:ext>
            </a:extLst>
          </p:cNvPr>
          <p:cNvSpPr txBox="1"/>
          <p:nvPr/>
        </p:nvSpPr>
        <p:spPr>
          <a:xfrm>
            <a:off x="669442" y="1581150"/>
            <a:ext cx="7677784" cy="2122805"/>
          </a:xfrm>
          <a:prstGeom prst="rect">
            <a:avLst/>
          </a:prstGeom>
        </p:spPr>
        <p:txBody>
          <a:bodyPr vert="horz" wrap="square" lIns="0" tIns="12700" rIns="0" bIns="0" rtlCol="0">
            <a:spAutoFit/>
          </a:bodyPr>
          <a:lstStyle/>
          <a:p>
            <a:pPr marL="280670" indent="-230504" rtl="0">
              <a:spcBef>
                <a:spcPts val="100"/>
              </a:spcBef>
              <a:buFont typeface="Arial MT"/>
              <a:buChar char="•"/>
              <a:tabLst>
                <a:tab pos="280670" algn="l"/>
                <a:tab pos="281305" algn="l"/>
              </a:tabLst>
            </a:pPr>
            <a:r>
              <a:rPr kern="1200" dirty="0">
                <a:solidFill>
                  <a:prstClr val="black"/>
                </a:solidFill>
                <a:latin typeface="Palatino Linotype"/>
                <a:cs typeface="Palatino Linotype"/>
              </a:rPr>
              <a:t>Array</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elements </a:t>
            </a:r>
            <a:r>
              <a:rPr kern="1200" dirty="0">
                <a:solidFill>
                  <a:prstClr val="black"/>
                </a:solidFill>
                <a:latin typeface="Palatino Linotype"/>
                <a:cs typeface="Palatino Linotype"/>
              </a:rPr>
              <a:t>can</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be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accessed</a:t>
            </a:r>
            <a:r>
              <a:rPr kern="1200" spc="-25" dirty="0">
                <a:solidFill>
                  <a:prstClr val="black"/>
                </a:solidFill>
                <a:latin typeface="Palatino Linotype"/>
                <a:cs typeface="Palatino Linotype"/>
              </a:rPr>
              <a:t> </a:t>
            </a:r>
            <a:r>
              <a:rPr kern="1200" spc="-5" dirty="0">
                <a:solidFill>
                  <a:prstClr val="black"/>
                </a:solidFill>
                <a:latin typeface="Palatino Linotype"/>
                <a:cs typeface="Palatino Linotype"/>
              </a:rPr>
              <a:t>quickly </a:t>
            </a:r>
            <a:r>
              <a:rPr kern="1200" dirty="0">
                <a:solidFill>
                  <a:prstClr val="black"/>
                </a:solidFill>
                <a:latin typeface="Palatino Linotype"/>
                <a:cs typeface="Palatino Linotype"/>
              </a:rPr>
              <a:t>if</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they </a:t>
            </a:r>
            <a:r>
              <a:rPr kern="1200" dirty="0">
                <a:solidFill>
                  <a:prstClr val="black"/>
                </a:solidFill>
                <a:latin typeface="Palatino Linotype"/>
                <a:cs typeface="Palatino Linotype"/>
              </a:rPr>
              <a:t>are </a:t>
            </a:r>
            <a:r>
              <a:rPr kern="1200" spc="-5" dirty="0">
                <a:solidFill>
                  <a:prstClr val="black"/>
                </a:solidFill>
                <a:latin typeface="Palatino Linotype"/>
                <a:cs typeface="Palatino Linotype"/>
              </a:rPr>
              <a:t>stored consecutively</a:t>
            </a:r>
            <a:endParaRPr kern="1200" dirty="0">
              <a:solidFill>
                <a:prstClr val="black"/>
              </a:solidFill>
              <a:latin typeface="Palatino Linotype"/>
              <a:cs typeface="Palatino Linotype"/>
            </a:endParaRPr>
          </a:p>
          <a:p>
            <a:pPr rtl="0">
              <a:spcBef>
                <a:spcPts val="5"/>
              </a:spcBef>
              <a:buFont typeface="Arial MT"/>
              <a:buChar char="•"/>
            </a:pPr>
            <a:endParaRPr sz="1650" kern="1200" dirty="0">
              <a:solidFill>
                <a:prstClr val="black"/>
              </a:solidFill>
              <a:latin typeface="Palatino Linotype"/>
              <a:cs typeface="Palatino Linotype"/>
            </a:endParaRPr>
          </a:p>
          <a:p>
            <a:pPr marL="280670" indent="-230504" rtl="0">
              <a:buFont typeface="Arial MT"/>
              <a:buChar char="•"/>
              <a:tabLst>
                <a:tab pos="280670" algn="l"/>
                <a:tab pos="281305" algn="l"/>
              </a:tabLst>
            </a:pPr>
            <a:r>
              <a:rPr kern="1200" spc="-5" dirty="0">
                <a:solidFill>
                  <a:prstClr val="black"/>
                </a:solidFill>
                <a:latin typeface="Palatino Linotype"/>
                <a:cs typeface="Palatino Linotype"/>
              </a:rPr>
              <a:t>For</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an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array</a:t>
            </a:r>
            <a:r>
              <a:rPr kern="1200" spc="15" dirty="0">
                <a:solidFill>
                  <a:prstClr val="black"/>
                </a:solidFill>
                <a:latin typeface="Palatino Linotype"/>
                <a:cs typeface="Palatino Linotype"/>
              </a:rPr>
              <a:t> </a:t>
            </a:r>
            <a:r>
              <a:rPr kern="1200" dirty="0">
                <a:solidFill>
                  <a:prstClr val="black"/>
                </a:solidFill>
                <a:latin typeface="Cambria Math"/>
                <a:cs typeface="Cambria Math"/>
              </a:rPr>
              <a:t>𝐴</a:t>
            </a:r>
            <a:r>
              <a:rPr kern="1200" spc="65" dirty="0">
                <a:solidFill>
                  <a:prstClr val="black"/>
                </a:solidFill>
                <a:latin typeface="Cambria Math"/>
                <a:cs typeface="Cambria Math"/>
              </a:rPr>
              <a:t> </a:t>
            </a:r>
            <a:r>
              <a:rPr kern="1200" dirty="0">
                <a:solidFill>
                  <a:prstClr val="black"/>
                </a:solidFill>
                <a:latin typeface="Palatino Linotype"/>
                <a:cs typeface="Palatino Linotype"/>
              </a:rPr>
              <a:t>with</a:t>
            </a:r>
            <a:r>
              <a:rPr kern="1200" spc="-10" dirty="0">
                <a:solidFill>
                  <a:prstClr val="black"/>
                </a:solidFill>
                <a:latin typeface="Palatino Linotype"/>
                <a:cs typeface="Palatino Linotype"/>
              </a:rPr>
              <a:t> </a:t>
            </a:r>
            <a:r>
              <a:rPr kern="1200" dirty="0">
                <a:solidFill>
                  <a:prstClr val="black"/>
                </a:solidFill>
                <a:latin typeface="Cambria Math"/>
                <a:cs typeface="Cambria Math"/>
              </a:rPr>
              <a:t>𝑛</a:t>
            </a:r>
            <a:r>
              <a:rPr kern="1200" spc="85" dirty="0">
                <a:solidFill>
                  <a:prstClr val="black"/>
                </a:solidFill>
                <a:latin typeface="Cambria Math"/>
                <a:cs typeface="Cambria Math"/>
              </a:rPr>
              <a:t> </a:t>
            </a:r>
            <a:r>
              <a:rPr kern="1200" spc="-5" dirty="0">
                <a:solidFill>
                  <a:prstClr val="black"/>
                </a:solidFill>
                <a:latin typeface="Palatino Linotype"/>
                <a:cs typeface="Palatino Linotype"/>
              </a:rPr>
              <a:t>elements,</a:t>
            </a:r>
            <a:r>
              <a:rPr kern="1200" spc="-20" dirty="0">
                <a:solidFill>
                  <a:prstClr val="black"/>
                </a:solidFill>
                <a:latin typeface="Palatino Linotype"/>
                <a:cs typeface="Palatino Linotype"/>
              </a:rPr>
              <a:t> </a:t>
            </a:r>
            <a:r>
              <a:rPr kern="1200" spc="-5" dirty="0">
                <a:solidFill>
                  <a:prstClr val="black"/>
                </a:solidFill>
                <a:latin typeface="Palatino Linotype"/>
                <a:cs typeface="Palatino Linotype"/>
              </a:rPr>
              <a:t>the</a:t>
            </a:r>
            <a:r>
              <a:rPr kern="1200" spc="15" dirty="0">
                <a:solidFill>
                  <a:prstClr val="black"/>
                </a:solidFill>
                <a:latin typeface="Palatino Linotype"/>
                <a:cs typeface="Palatino Linotype"/>
              </a:rPr>
              <a:t> </a:t>
            </a:r>
            <a:r>
              <a:rPr kern="1200" spc="-5" dirty="0">
                <a:solidFill>
                  <a:srgbClr val="FF0000"/>
                </a:solidFill>
                <a:latin typeface="Palatino Linotype"/>
                <a:cs typeface="Palatino Linotype"/>
              </a:rPr>
              <a:t>relative </a:t>
            </a:r>
            <a:r>
              <a:rPr kern="1200" dirty="0">
                <a:solidFill>
                  <a:srgbClr val="FF0000"/>
                </a:solidFill>
                <a:latin typeface="Palatino Linotype"/>
                <a:cs typeface="Palatino Linotype"/>
              </a:rPr>
              <a:t>address</a:t>
            </a:r>
            <a:r>
              <a:rPr kern="1200" spc="-15" dirty="0">
                <a:solidFill>
                  <a:srgbClr val="FF0000"/>
                </a:solidFill>
                <a:latin typeface="Palatino Linotype"/>
                <a:cs typeface="Palatino Linotype"/>
              </a:rPr>
              <a:t> </a:t>
            </a:r>
            <a:r>
              <a:rPr kern="1200" dirty="0">
                <a:solidFill>
                  <a:srgbClr val="FF0000"/>
                </a:solidFill>
                <a:latin typeface="Palatino Linotype"/>
                <a:cs typeface="Palatino Linotype"/>
              </a:rPr>
              <a:t>of</a:t>
            </a:r>
            <a:r>
              <a:rPr kern="1200" spc="5" dirty="0">
                <a:solidFill>
                  <a:srgbClr val="FF0000"/>
                </a:solidFill>
                <a:latin typeface="Palatino Linotype"/>
                <a:cs typeface="Palatino Linotype"/>
              </a:rPr>
              <a:t> </a:t>
            </a:r>
            <a:r>
              <a:rPr kern="1200" spc="15" dirty="0">
                <a:solidFill>
                  <a:srgbClr val="FF0000"/>
                </a:solidFill>
                <a:latin typeface="Cambria Math"/>
                <a:cs typeface="Cambria Math"/>
              </a:rPr>
              <a:t>𝐴[𝑖]</a:t>
            </a:r>
            <a:r>
              <a:rPr kern="1200" spc="45" dirty="0">
                <a:solidFill>
                  <a:srgbClr val="FF0000"/>
                </a:solidFill>
                <a:latin typeface="Cambria Math"/>
                <a:cs typeface="Cambria Math"/>
              </a:rPr>
              <a:t> </a:t>
            </a:r>
            <a:r>
              <a:rPr kern="1200" dirty="0">
                <a:solidFill>
                  <a:prstClr val="black"/>
                </a:solidFill>
                <a:latin typeface="Palatino Linotype"/>
                <a:cs typeface="Palatino Linotype"/>
              </a:rPr>
              <a:t>is:</a:t>
            </a:r>
          </a:p>
          <a:p>
            <a:pPr marL="735965" lvl="1" indent="-228600" rtl="0">
              <a:spcBef>
                <a:spcPts val="1005"/>
              </a:spcBef>
              <a:buClr>
                <a:srgbClr val="000000"/>
              </a:buClr>
              <a:buFont typeface="Wingdings"/>
              <a:buChar char=""/>
              <a:tabLst>
                <a:tab pos="735965" algn="l"/>
                <a:tab pos="736600" algn="l"/>
              </a:tabLst>
            </a:pPr>
            <a:r>
              <a:rPr sz="1500" kern="1200" dirty="0">
                <a:solidFill>
                  <a:srgbClr val="0431FF"/>
                </a:solidFill>
                <a:latin typeface="Cambria Math"/>
                <a:cs typeface="Cambria Math"/>
              </a:rPr>
              <a:t>𝒃𝒂𝒔𝒆</a:t>
            </a:r>
            <a:r>
              <a:rPr sz="1500" kern="1200" spc="-5" dirty="0">
                <a:solidFill>
                  <a:srgbClr val="0431FF"/>
                </a:solidFill>
                <a:latin typeface="Cambria Math"/>
                <a:cs typeface="Cambria Math"/>
              </a:rPr>
              <a:t> </a:t>
            </a:r>
            <a:r>
              <a:rPr sz="1500" kern="1200" dirty="0">
                <a:solidFill>
                  <a:srgbClr val="0431FF"/>
                </a:solidFill>
                <a:latin typeface="Cambria Math"/>
                <a:cs typeface="Cambria Math"/>
              </a:rPr>
              <a:t>+</a:t>
            </a:r>
            <a:r>
              <a:rPr sz="1500" kern="1200" spc="15" dirty="0">
                <a:solidFill>
                  <a:srgbClr val="0431FF"/>
                </a:solidFill>
                <a:latin typeface="Cambria Math"/>
                <a:cs typeface="Cambria Math"/>
              </a:rPr>
              <a:t> </a:t>
            </a:r>
            <a:r>
              <a:rPr sz="1500" kern="1200" dirty="0">
                <a:solidFill>
                  <a:srgbClr val="0431FF"/>
                </a:solidFill>
                <a:latin typeface="Cambria Math"/>
                <a:cs typeface="Cambria Math"/>
              </a:rPr>
              <a:t>𝒊 ∗</a:t>
            </a:r>
            <a:r>
              <a:rPr sz="1500" kern="1200" spc="15" dirty="0">
                <a:solidFill>
                  <a:srgbClr val="0431FF"/>
                </a:solidFill>
                <a:latin typeface="Cambria Math"/>
                <a:cs typeface="Cambria Math"/>
              </a:rPr>
              <a:t> </a:t>
            </a:r>
            <a:r>
              <a:rPr sz="1500" kern="1200" dirty="0">
                <a:solidFill>
                  <a:srgbClr val="0431FF"/>
                </a:solidFill>
                <a:latin typeface="Cambria Math"/>
                <a:cs typeface="Cambria Math"/>
              </a:rPr>
              <a:t>𝒘</a:t>
            </a:r>
            <a:r>
              <a:rPr sz="1500" kern="1200" spc="50" dirty="0">
                <a:solidFill>
                  <a:srgbClr val="0431FF"/>
                </a:solidFill>
                <a:latin typeface="Cambria Math"/>
                <a:cs typeface="Cambria Math"/>
              </a:rPr>
              <a:t> </a:t>
            </a:r>
            <a:r>
              <a:rPr sz="1500" kern="1200" spc="-5" dirty="0">
                <a:solidFill>
                  <a:prstClr val="black"/>
                </a:solidFill>
                <a:latin typeface="Palatino Linotype"/>
                <a:cs typeface="Palatino Linotype"/>
              </a:rPr>
              <a:t>(</a:t>
            </a:r>
            <a:r>
              <a:rPr sz="1500" kern="1200" spc="-5" dirty="0">
                <a:solidFill>
                  <a:srgbClr val="0431FF"/>
                </a:solidFill>
                <a:latin typeface="Cambria Math"/>
                <a:cs typeface="Cambria Math"/>
              </a:rPr>
              <a:t>𝑏𝑎𝑠𝑒</a:t>
            </a:r>
            <a:r>
              <a:rPr sz="1500" kern="1200" spc="80" dirty="0">
                <a:solidFill>
                  <a:srgbClr val="0431FF"/>
                </a:solidFill>
                <a:latin typeface="Cambria Math"/>
                <a:cs typeface="Cambria Math"/>
              </a:rPr>
              <a:t> </a:t>
            </a:r>
            <a:r>
              <a:rPr sz="1500" kern="1200" spc="-5" dirty="0">
                <a:solidFill>
                  <a:prstClr val="black"/>
                </a:solidFill>
                <a:latin typeface="Palatino Linotype"/>
                <a:cs typeface="Palatino Linotype"/>
              </a:rPr>
              <a:t>is</a:t>
            </a:r>
            <a:r>
              <a:rPr sz="1500" kern="1200" spc="5" dirty="0">
                <a:solidFill>
                  <a:prstClr val="black"/>
                </a:solidFill>
                <a:latin typeface="Palatino Linotype"/>
                <a:cs typeface="Palatino Linotype"/>
              </a:rPr>
              <a:t> </a:t>
            </a:r>
            <a:r>
              <a:rPr sz="1500" kern="1200" spc="-5" dirty="0">
                <a:solidFill>
                  <a:prstClr val="black"/>
                </a:solidFill>
                <a:latin typeface="Palatino Linotype"/>
                <a:cs typeface="Palatino Linotype"/>
              </a:rPr>
              <a:t>the</a:t>
            </a:r>
            <a:r>
              <a:rPr sz="1500" kern="1200" spc="-10" dirty="0">
                <a:solidFill>
                  <a:prstClr val="black"/>
                </a:solidFill>
                <a:latin typeface="Palatino Linotype"/>
                <a:cs typeface="Palatino Linotype"/>
              </a:rPr>
              <a:t> relative </a:t>
            </a:r>
            <a:r>
              <a:rPr sz="1500" kern="1200" spc="-5" dirty="0">
                <a:solidFill>
                  <a:prstClr val="black"/>
                </a:solidFill>
                <a:latin typeface="Palatino Linotype"/>
                <a:cs typeface="Palatino Linotype"/>
              </a:rPr>
              <a:t>address</a:t>
            </a:r>
            <a:r>
              <a:rPr sz="1500" kern="1200" spc="-20" dirty="0">
                <a:solidFill>
                  <a:prstClr val="black"/>
                </a:solidFill>
                <a:latin typeface="Palatino Linotype"/>
                <a:cs typeface="Palatino Linotype"/>
              </a:rPr>
              <a:t> </a:t>
            </a:r>
            <a:r>
              <a:rPr sz="1500" kern="1200" dirty="0">
                <a:solidFill>
                  <a:prstClr val="black"/>
                </a:solidFill>
                <a:latin typeface="Palatino Linotype"/>
                <a:cs typeface="Palatino Linotype"/>
              </a:rPr>
              <a:t>of</a:t>
            </a:r>
            <a:r>
              <a:rPr sz="1500" kern="1200" spc="20" dirty="0">
                <a:solidFill>
                  <a:prstClr val="black"/>
                </a:solidFill>
                <a:latin typeface="Palatino Linotype"/>
                <a:cs typeface="Palatino Linotype"/>
              </a:rPr>
              <a:t> </a:t>
            </a:r>
            <a:r>
              <a:rPr sz="1500" kern="1200" dirty="0">
                <a:solidFill>
                  <a:prstClr val="black"/>
                </a:solidFill>
                <a:latin typeface="Cambria Math"/>
                <a:cs typeface="Cambria Math"/>
              </a:rPr>
              <a:t>𝐴[0]</a:t>
            </a:r>
            <a:r>
              <a:rPr sz="1500" kern="1200" dirty="0">
                <a:solidFill>
                  <a:prstClr val="black"/>
                </a:solidFill>
                <a:latin typeface="Palatino Linotype"/>
                <a:cs typeface="Palatino Linotype"/>
              </a:rPr>
              <a:t>,</a:t>
            </a:r>
            <a:r>
              <a:rPr sz="1500" kern="1200" spc="-5" dirty="0">
                <a:solidFill>
                  <a:prstClr val="black"/>
                </a:solidFill>
                <a:latin typeface="Palatino Linotype"/>
                <a:cs typeface="Palatino Linotype"/>
              </a:rPr>
              <a:t> </a:t>
            </a:r>
            <a:r>
              <a:rPr sz="1500" kern="1200" dirty="0">
                <a:solidFill>
                  <a:srgbClr val="0431FF"/>
                </a:solidFill>
                <a:latin typeface="Cambria Math"/>
                <a:cs typeface="Cambria Math"/>
              </a:rPr>
              <a:t>𝑤</a:t>
            </a:r>
            <a:r>
              <a:rPr sz="1500" kern="1200" spc="100" dirty="0">
                <a:solidFill>
                  <a:srgbClr val="0431FF"/>
                </a:solidFill>
                <a:latin typeface="Cambria Math"/>
                <a:cs typeface="Cambria Math"/>
              </a:rPr>
              <a:t> </a:t>
            </a:r>
            <a:r>
              <a:rPr sz="1500" kern="1200" spc="-5" dirty="0">
                <a:solidFill>
                  <a:prstClr val="black"/>
                </a:solidFill>
                <a:latin typeface="Palatino Linotype"/>
                <a:cs typeface="Palatino Linotype"/>
              </a:rPr>
              <a:t>is</a:t>
            </a:r>
            <a:r>
              <a:rPr sz="1500" kern="1200" spc="5" dirty="0">
                <a:solidFill>
                  <a:prstClr val="black"/>
                </a:solidFill>
                <a:latin typeface="Palatino Linotype"/>
                <a:cs typeface="Palatino Linotype"/>
              </a:rPr>
              <a:t> </a:t>
            </a:r>
            <a:r>
              <a:rPr sz="1500" kern="1200" spc="-5" dirty="0">
                <a:solidFill>
                  <a:prstClr val="black"/>
                </a:solidFill>
                <a:latin typeface="Palatino Linotype"/>
                <a:cs typeface="Palatino Linotype"/>
              </a:rPr>
              <a:t>the</a:t>
            </a:r>
            <a:r>
              <a:rPr sz="1500" kern="1200" spc="-10" dirty="0">
                <a:solidFill>
                  <a:prstClr val="black"/>
                </a:solidFill>
                <a:latin typeface="Palatino Linotype"/>
                <a:cs typeface="Palatino Linotype"/>
              </a:rPr>
              <a:t> </a:t>
            </a:r>
            <a:r>
              <a:rPr sz="1500" kern="1200" spc="-5" dirty="0">
                <a:solidFill>
                  <a:prstClr val="black"/>
                </a:solidFill>
                <a:latin typeface="Palatino Linotype"/>
                <a:cs typeface="Palatino Linotype"/>
              </a:rPr>
              <a:t>width</a:t>
            </a:r>
            <a:r>
              <a:rPr sz="1500" kern="1200" spc="5" dirty="0">
                <a:solidFill>
                  <a:prstClr val="black"/>
                </a:solidFill>
                <a:latin typeface="Palatino Linotype"/>
                <a:cs typeface="Palatino Linotype"/>
              </a:rPr>
              <a:t> </a:t>
            </a:r>
            <a:r>
              <a:rPr sz="1500" kern="1200" dirty="0">
                <a:solidFill>
                  <a:prstClr val="black"/>
                </a:solidFill>
                <a:latin typeface="Palatino Linotype"/>
                <a:cs typeface="Palatino Linotype"/>
              </a:rPr>
              <a:t>of</a:t>
            </a:r>
            <a:r>
              <a:rPr sz="1500" kern="1200" spc="5" dirty="0">
                <a:solidFill>
                  <a:prstClr val="black"/>
                </a:solidFill>
                <a:latin typeface="Palatino Linotype"/>
                <a:cs typeface="Palatino Linotype"/>
              </a:rPr>
              <a:t> </a:t>
            </a:r>
            <a:r>
              <a:rPr sz="1500" kern="1200" dirty="0">
                <a:solidFill>
                  <a:prstClr val="black"/>
                </a:solidFill>
                <a:latin typeface="Palatino Linotype"/>
                <a:cs typeface="Palatino Linotype"/>
              </a:rPr>
              <a:t>an</a:t>
            </a:r>
            <a:r>
              <a:rPr sz="1500" kern="1200" spc="5" dirty="0">
                <a:solidFill>
                  <a:prstClr val="black"/>
                </a:solidFill>
                <a:latin typeface="Palatino Linotype"/>
                <a:cs typeface="Palatino Linotype"/>
              </a:rPr>
              <a:t> </a:t>
            </a:r>
            <a:r>
              <a:rPr sz="1500" kern="1200" spc="-5" dirty="0">
                <a:solidFill>
                  <a:prstClr val="black"/>
                </a:solidFill>
                <a:latin typeface="Palatino Linotype"/>
                <a:cs typeface="Palatino Linotype"/>
              </a:rPr>
              <a:t>element)</a:t>
            </a:r>
            <a:endParaRPr sz="1500" kern="1200" dirty="0">
              <a:solidFill>
                <a:prstClr val="black"/>
              </a:solidFill>
              <a:latin typeface="Palatino Linotype"/>
              <a:cs typeface="Palatino Linotype"/>
            </a:endParaRPr>
          </a:p>
          <a:p>
            <a:pPr lvl="1" rtl="0">
              <a:spcBef>
                <a:spcPts val="30"/>
              </a:spcBef>
              <a:buFont typeface="Wingdings"/>
              <a:buChar char=""/>
            </a:pPr>
            <a:endParaRPr sz="1600" kern="1200" dirty="0">
              <a:solidFill>
                <a:prstClr val="black"/>
              </a:solidFill>
              <a:latin typeface="Palatino Linotype"/>
              <a:cs typeface="Palatino Linotype"/>
            </a:endParaRPr>
          </a:p>
          <a:p>
            <a:pPr marL="280670" indent="-230504" rtl="0">
              <a:buFont typeface="Arial MT"/>
              <a:buChar char="•"/>
              <a:tabLst>
                <a:tab pos="280670" algn="l"/>
                <a:tab pos="281305" algn="l"/>
              </a:tabLst>
            </a:pPr>
            <a:r>
              <a:rPr kern="1200" spc="-5" dirty="0">
                <a:solidFill>
                  <a:prstClr val="black"/>
                </a:solidFill>
                <a:latin typeface="Palatino Linotype"/>
                <a:cs typeface="Palatino Linotype"/>
              </a:rPr>
              <a:t>For </a:t>
            </a:r>
            <a:r>
              <a:rPr kern="1200" dirty="0">
                <a:solidFill>
                  <a:prstClr val="black"/>
                </a:solidFill>
                <a:latin typeface="Palatino Linotype"/>
                <a:cs typeface="Palatino Linotype"/>
              </a:rPr>
              <a:t>a 2D</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array</a:t>
            </a:r>
            <a:r>
              <a:rPr kern="1200" spc="20" dirty="0">
                <a:solidFill>
                  <a:prstClr val="black"/>
                </a:solidFill>
                <a:latin typeface="Palatino Linotype"/>
                <a:cs typeface="Palatino Linotype"/>
              </a:rPr>
              <a:t> </a:t>
            </a:r>
            <a:r>
              <a:rPr kern="1200" dirty="0">
                <a:solidFill>
                  <a:prstClr val="black"/>
                </a:solidFill>
                <a:latin typeface="Cambria Math"/>
                <a:cs typeface="Cambria Math"/>
              </a:rPr>
              <a:t>𝐴</a:t>
            </a:r>
            <a:r>
              <a:rPr kern="1200" spc="55" dirty="0">
                <a:solidFill>
                  <a:prstClr val="black"/>
                </a:solidFill>
                <a:latin typeface="Cambria Math"/>
                <a:cs typeface="Cambria Math"/>
              </a:rPr>
              <a:t> </a:t>
            </a:r>
            <a:r>
              <a:rPr kern="1200" spc="-5" dirty="0">
                <a:solidFill>
                  <a:prstClr val="black"/>
                </a:solidFill>
                <a:latin typeface="Palatino Linotype"/>
                <a:cs typeface="Palatino Linotype"/>
              </a:rPr>
              <a:t>(row-major</a:t>
            </a:r>
            <a:r>
              <a:rPr kern="1200" spc="25" dirty="0">
                <a:solidFill>
                  <a:prstClr val="black"/>
                </a:solidFill>
                <a:latin typeface="Palatino Linotype"/>
                <a:cs typeface="Palatino Linotype"/>
              </a:rPr>
              <a:t> </a:t>
            </a:r>
            <a:r>
              <a:rPr kern="1200" spc="-5" dirty="0">
                <a:solidFill>
                  <a:prstClr val="black"/>
                </a:solidFill>
                <a:latin typeface="Palatino Linotype"/>
                <a:cs typeface="Palatino Linotype"/>
              </a:rPr>
              <a:t>layout),</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the relative</a:t>
            </a:r>
            <a:r>
              <a:rPr kern="1200" dirty="0">
                <a:solidFill>
                  <a:prstClr val="black"/>
                </a:solidFill>
                <a:latin typeface="Palatino Linotype"/>
                <a:cs typeface="Palatino Linotype"/>
              </a:rPr>
              <a:t> address</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of</a:t>
            </a:r>
            <a:r>
              <a:rPr kern="1200" spc="15" dirty="0">
                <a:solidFill>
                  <a:prstClr val="black"/>
                </a:solidFill>
                <a:latin typeface="Palatino Linotype"/>
                <a:cs typeface="Palatino Linotype"/>
              </a:rPr>
              <a:t> </a:t>
            </a:r>
            <a:r>
              <a:rPr kern="1200" dirty="0">
                <a:solidFill>
                  <a:prstClr val="black"/>
                </a:solidFill>
                <a:latin typeface="Cambria Math"/>
                <a:cs typeface="Cambria Math"/>
              </a:rPr>
              <a:t>𝐴</a:t>
            </a:r>
            <a:r>
              <a:rPr lang="en-US" kern="1200" spc="260" dirty="0">
                <a:solidFill>
                  <a:prstClr val="black"/>
                </a:solidFill>
                <a:latin typeface="Cambria Math"/>
                <a:cs typeface="Cambria Math"/>
              </a:rPr>
              <a:t>[</a:t>
            </a:r>
            <a:r>
              <a:rPr kern="1200" dirty="0">
                <a:solidFill>
                  <a:prstClr val="black"/>
                </a:solidFill>
                <a:latin typeface="Cambria Math"/>
                <a:cs typeface="Cambria Math"/>
              </a:rPr>
              <a:t>𝑖</a:t>
            </a:r>
            <a:r>
              <a:rPr sz="1950" kern="1200" baseline="-14957" dirty="0">
                <a:solidFill>
                  <a:prstClr val="black"/>
                </a:solidFill>
                <a:latin typeface="Cambria Math"/>
                <a:cs typeface="Cambria Math"/>
              </a:rPr>
              <a:t>1</a:t>
            </a:r>
            <a:r>
              <a:rPr lang="en-US" kern="1200" spc="20" dirty="0">
                <a:solidFill>
                  <a:prstClr val="black"/>
                </a:solidFill>
                <a:latin typeface="Cambria Math"/>
                <a:cs typeface="Cambria Math"/>
              </a:rPr>
              <a:t>][</a:t>
            </a:r>
            <a:r>
              <a:rPr kern="1200" spc="20" dirty="0">
                <a:solidFill>
                  <a:prstClr val="black"/>
                </a:solidFill>
                <a:latin typeface="Cambria Math"/>
                <a:cs typeface="Cambria Math"/>
              </a:rPr>
              <a:t>𝑖</a:t>
            </a:r>
            <a:r>
              <a:rPr sz="1950" kern="1200" spc="30" baseline="-14957" dirty="0">
                <a:solidFill>
                  <a:prstClr val="black"/>
                </a:solidFill>
                <a:latin typeface="Cambria Math"/>
                <a:cs typeface="Cambria Math"/>
              </a:rPr>
              <a:t>2</a:t>
            </a:r>
            <a:r>
              <a:rPr kern="1200" spc="20" dirty="0">
                <a:solidFill>
                  <a:prstClr val="black"/>
                </a:solidFill>
                <a:latin typeface="Cambria Math"/>
                <a:cs typeface="Cambria Math"/>
              </a:rPr>
              <a:t>]</a:t>
            </a:r>
            <a:r>
              <a:rPr kern="1200" spc="30" dirty="0">
                <a:solidFill>
                  <a:prstClr val="black"/>
                </a:solidFill>
                <a:latin typeface="Cambria Math"/>
                <a:cs typeface="Cambria Math"/>
              </a:rPr>
              <a:t> </a:t>
            </a:r>
            <a:r>
              <a:rPr kern="1200" dirty="0">
                <a:solidFill>
                  <a:prstClr val="black"/>
                </a:solidFill>
                <a:latin typeface="Palatino Linotype"/>
                <a:cs typeface="Palatino Linotype"/>
              </a:rPr>
              <a:t>is:</a:t>
            </a:r>
          </a:p>
          <a:p>
            <a:pPr marL="735965" lvl="1" indent="-228600" rtl="0">
              <a:spcBef>
                <a:spcPts val="1010"/>
              </a:spcBef>
              <a:buClr>
                <a:srgbClr val="000000"/>
              </a:buClr>
              <a:buFont typeface="Wingdings"/>
              <a:buChar char=""/>
              <a:tabLst>
                <a:tab pos="735965" algn="l"/>
                <a:tab pos="736600" algn="l"/>
              </a:tabLst>
            </a:pPr>
            <a:r>
              <a:rPr sz="1500" kern="1200" dirty="0">
                <a:solidFill>
                  <a:srgbClr val="0431FF"/>
                </a:solidFill>
                <a:latin typeface="Cambria Math"/>
                <a:cs typeface="Cambria Math"/>
              </a:rPr>
              <a:t>𝒃𝒂𝒔𝒆</a:t>
            </a:r>
            <a:r>
              <a:rPr sz="1500" kern="1200" spc="320" dirty="0">
                <a:solidFill>
                  <a:srgbClr val="0431FF"/>
                </a:solidFill>
                <a:latin typeface="Cambria Math"/>
                <a:cs typeface="Cambria Math"/>
              </a:rPr>
              <a:t> </a:t>
            </a:r>
            <a:r>
              <a:rPr sz="1500" kern="1200" dirty="0">
                <a:solidFill>
                  <a:srgbClr val="0431FF"/>
                </a:solidFill>
                <a:latin typeface="Cambria Math"/>
                <a:cs typeface="Cambria Math"/>
              </a:rPr>
              <a:t>+</a:t>
            </a:r>
            <a:r>
              <a:rPr sz="1500" kern="1200" spc="10" dirty="0">
                <a:solidFill>
                  <a:srgbClr val="0431FF"/>
                </a:solidFill>
                <a:latin typeface="Cambria Math"/>
                <a:cs typeface="Cambria Math"/>
              </a:rPr>
              <a:t> </a:t>
            </a:r>
            <a:r>
              <a:rPr sz="1500" kern="1200" spc="-5" dirty="0">
                <a:solidFill>
                  <a:srgbClr val="0431FF"/>
                </a:solidFill>
                <a:latin typeface="Cambria Math"/>
                <a:cs typeface="Cambria Math"/>
              </a:rPr>
              <a:t>𝒊</a:t>
            </a:r>
            <a:r>
              <a:rPr sz="1650" kern="1200" spc="-7" baseline="-15151" dirty="0">
                <a:solidFill>
                  <a:srgbClr val="0431FF"/>
                </a:solidFill>
                <a:latin typeface="Cambria Math"/>
                <a:cs typeface="Cambria Math"/>
              </a:rPr>
              <a:t>𝟏</a:t>
            </a:r>
            <a:r>
              <a:rPr sz="1650" kern="1200" spc="240" baseline="-15151" dirty="0">
                <a:solidFill>
                  <a:srgbClr val="0431FF"/>
                </a:solidFill>
                <a:latin typeface="Cambria Math"/>
                <a:cs typeface="Cambria Math"/>
              </a:rPr>
              <a:t> </a:t>
            </a:r>
            <a:r>
              <a:rPr sz="1500" kern="1200" dirty="0">
                <a:solidFill>
                  <a:srgbClr val="0431FF"/>
                </a:solidFill>
                <a:latin typeface="Cambria Math"/>
                <a:cs typeface="Cambria Math"/>
              </a:rPr>
              <a:t>∗ 𝒘</a:t>
            </a:r>
            <a:r>
              <a:rPr sz="1650" kern="1200" baseline="-15151" dirty="0">
                <a:solidFill>
                  <a:srgbClr val="0431FF"/>
                </a:solidFill>
                <a:latin typeface="Cambria Math"/>
                <a:cs typeface="Cambria Math"/>
              </a:rPr>
              <a:t>𝟏</a:t>
            </a:r>
            <a:r>
              <a:rPr sz="1650" kern="1200" spc="217" baseline="-15151" dirty="0">
                <a:solidFill>
                  <a:srgbClr val="0431FF"/>
                </a:solidFill>
                <a:latin typeface="Cambria Math"/>
                <a:cs typeface="Cambria Math"/>
              </a:rPr>
              <a:t> </a:t>
            </a:r>
            <a:r>
              <a:rPr sz="1500" kern="1200" dirty="0">
                <a:solidFill>
                  <a:srgbClr val="0431FF"/>
                </a:solidFill>
                <a:latin typeface="Cambria Math"/>
                <a:cs typeface="Cambria Math"/>
              </a:rPr>
              <a:t>+</a:t>
            </a:r>
            <a:r>
              <a:rPr sz="1500" kern="1200" spc="10" dirty="0">
                <a:solidFill>
                  <a:srgbClr val="0431FF"/>
                </a:solidFill>
                <a:latin typeface="Cambria Math"/>
                <a:cs typeface="Cambria Math"/>
              </a:rPr>
              <a:t> </a:t>
            </a:r>
            <a:r>
              <a:rPr sz="1500" kern="1200" spc="-5" dirty="0">
                <a:solidFill>
                  <a:srgbClr val="0431FF"/>
                </a:solidFill>
                <a:latin typeface="Cambria Math"/>
                <a:cs typeface="Cambria Math"/>
              </a:rPr>
              <a:t>𝒊</a:t>
            </a:r>
            <a:r>
              <a:rPr sz="1650" kern="1200" spc="-7" baseline="-15151" dirty="0">
                <a:solidFill>
                  <a:srgbClr val="0431FF"/>
                </a:solidFill>
                <a:latin typeface="Cambria Math"/>
                <a:cs typeface="Cambria Math"/>
              </a:rPr>
              <a:t>𝟐</a:t>
            </a:r>
            <a:r>
              <a:rPr sz="1650" kern="1200" spc="232" baseline="-15151" dirty="0">
                <a:solidFill>
                  <a:srgbClr val="0431FF"/>
                </a:solidFill>
                <a:latin typeface="Cambria Math"/>
                <a:cs typeface="Cambria Math"/>
              </a:rPr>
              <a:t> </a:t>
            </a:r>
            <a:r>
              <a:rPr sz="1500" kern="1200" dirty="0">
                <a:solidFill>
                  <a:srgbClr val="0431FF"/>
                </a:solidFill>
                <a:latin typeface="Cambria Math"/>
                <a:cs typeface="Cambria Math"/>
              </a:rPr>
              <a:t>∗ 𝒘</a:t>
            </a:r>
            <a:r>
              <a:rPr sz="1650" kern="1200" baseline="-15151" dirty="0">
                <a:solidFill>
                  <a:srgbClr val="0431FF"/>
                </a:solidFill>
                <a:latin typeface="Cambria Math"/>
                <a:cs typeface="Cambria Math"/>
              </a:rPr>
              <a:t>𝟐</a:t>
            </a:r>
            <a:r>
              <a:rPr sz="1650" kern="1200" spc="270" baseline="-15151" dirty="0">
                <a:solidFill>
                  <a:srgbClr val="0431FF"/>
                </a:solidFill>
                <a:latin typeface="Cambria Math"/>
                <a:cs typeface="Cambria Math"/>
              </a:rPr>
              <a:t> </a:t>
            </a:r>
            <a:r>
              <a:rPr sz="1500" kern="1200" spc="-25" dirty="0">
                <a:solidFill>
                  <a:prstClr val="black"/>
                </a:solidFill>
                <a:latin typeface="Palatino Linotype"/>
                <a:cs typeface="Palatino Linotype"/>
              </a:rPr>
              <a:t>(</a:t>
            </a:r>
            <a:r>
              <a:rPr sz="1500" kern="1200" spc="-25" dirty="0">
                <a:solidFill>
                  <a:srgbClr val="0431FF"/>
                </a:solidFill>
                <a:latin typeface="Cambria Math"/>
                <a:cs typeface="Cambria Math"/>
              </a:rPr>
              <a:t>𝑤</a:t>
            </a:r>
            <a:r>
              <a:rPr sz="1650" kern="1200" spc="-37" baseline="-15151" dirty="0">
                <a:solidFill>
                  <a:srgbClr val="0431FF"/>
                </a:solidFill>
                <a:latin typeface="Cambria Math"/>
                <a:cs typeface="Cambria Math"/>
              </a:rPr>
              <a:t>1</a:t>
            </a:r>
            <a:r>
              <a:rPr sz="1650" kern="1200" spc="315" baseline="-15151" dirty="0">
                <a:solidFill>
                  <a:srgbClr val="0431FF"/>
                </a:solidFill>
                <a:latin typeface="Cambria Math"/>
                <a:cs typeface="Cambria Math"/>
              </a:rPr>
              <a:t> </a:t>
            </a:r>
            <a:r>
              <a:rPr sz="1500" kern="1200" spc="-5" dirty="0">
                <a:solidFill>
                  <a:prstClr val="black"/>
                </a:solidFill>
                <a:latin typeface="Palatino Linotype"/>
                <a:cs typeface="Palatino Linotype"/>
              </a:rPr>
              <a:t>is</a:t>
            </a:r>
            <a:r>
              <a:rPr sz="1500" kern="1200" spc="5" dirty="0">
                <a:solidFill>
                  <a:prstClr val="black"/>
                </a:solidFill>
                <a:latin typeface="Palatino Linotype"/>
                <a:cs typeface="Palatino Linotype"/>
              </a:rPr>
              <a:t> </a:t>
            </a:r>
            <a:r>
              <a:rPr sz="1500" kern="1200" spc="-5" dirty="0">
                <a:solidFill>
                  <a:prstClr val="black"/>
                </a:solidFill>
                <a:latin typeface="Palatino Linotype"/>
                <a:cs typeface="Palatino Linotype"/>
              </a:rPr>
              <a:t>the</a:t>
            </a:r>
            <a:r>
              <a:rPr sz="1500" kern="1200" spc="-15" dirty="0">
                <a:solidFill>
                  <a:prstClr val="black"/>
                </a:solidFill>
                <a:latin typeface="Palatino Linotype"/>
                <a:cs typeface="Palatino Linotype"/>
              </a:rPr>
              <a:t> </a:t>
            </a:r>
            <a:r>
              <a:rPr sz="1500" kern="1200" spc="-5" dirty="0">
                <a:solidFill>
                  <a:prstClr val="black"/>
                </a:solidFill>
                <a:latin typeface="Palatino Linotype"/>
                <a:cs typeface="Palatino Linotype"/>
              </a:rPr>
              <a:t>width</a:t>
            </a:r>
            <a:r>
              <a:rPr sz="1500" kern="1200" spc="5" dirty="0">
                <a:solidFill>
                  <a:prstClr val="black"/>
                </a:solidFill>
                <a:latin typeface="Palatino Linotype"/>
                <a:cs typeface="Palatino Linotype"/>
              </a:rPr>
              <a:t> </a:t>
            </a:r>
            <a:r>
              <a:rPr sz="1500" kern="1200" dirty="0">
                <a:solidFill>
                  <a:prstClr val="black"/>
                </a:solidFill>
                <a:latin typeface="Palatino Linotype"/>
                <a:cs typeface="Palatino Linotype"/>
              </a:rPr>
              <a:t>of a </a:t>
            </a:r>
            <a:r>
              <a:rPr sz="1500" kern="1200" spc="-40" dirty="0">
                <a:solidFill>
                  <a:prstClr val="black"/>
                </a:solidFill>
                <a:latin typeface="Palatino Linotype"/>
                <a:cs typeface="Palatino Linotype"/>
              </a:rPr>
              <a:t>row,</a:t>
            </a:r>
            <a:r>
              <a:rPr sz="1500" kern="1200" spc="10" dirty="0">
                <a:solidFill>
                  <a:prstClr val="black"/>
                </a:solidFill>
                <a:latin typeface="Palatino Linotype"/>
                <a:cs typeface="Palatino Linotype"/>
              </a:rPr>
              <a:t> </a:t>
            </a:r>
            <a:r>
              <a:rPr sz="1500" kern="1200" spc="-20" dirty="0">
                <a:solidFill>
                  <a:srgbClr val="0431FF"/>
                </a:solidFill>
                <a:latin typeface="Cambria Math"/>
                <a:cs typeface="Cambria Math"/>
              </a:rPr>
              <a:t>𝑤</a:t>
            </a:r>
            <a:r>
              <a:rPr sz="1650" kern="1200" spc="-30" baseline="-15151" dirty="0">
                <a:solidFill>
                  <a:srgbClr val="0431FF"/>
                </a:solidFill>
                <a:latin typeface="Cambria Math"/>
                <a:cs typeface="Cambria Math"/>
              </a:rPr>
              <a:t>2  </a:t>
            </a:r>
            <a:r>
              <a:rPr sz="1500" kern="1200" spc="-5" dirty="0">
                <a:solidFill>
                  <a:prstClr val="black"/>
                </a:solidFill>
                <a:latin typeface="Palatino Linotype"/>
                <a:cs typeface="Palatino Linotype"/>
              </a:rPr>
              <a:t>is</a:t>
            </a:r>
            <a:r>
              <a:rPr sz="1500" kern="1200" spc="5" dirty="0">
                <a:solidFill>
                  <a:prstClr val="black"/>
                </a:solidFill>
                <a:latin typeface="Palatino Linotype"/>
                <a:cs typeface="Palatino Linotype"/>
              </a:rPr>
              <a:t> </a:t>
            </a:r>
            <a:r>
              <a:rPr sz="1500" kern="1200" spc="-5" dirty="0">
                <a:solidFill>
                  <a:prstClr val="black"/>
                </a:solidFill>
                <a:latin typeface="Palatino Linotype"/>
                <a:cs typeface="Palatino Linotype"/>
              </a:rPr>
              <a:t>the</a:t>
            </a:r>
            <a:r>
              <a:rPr sz="1500" kern="1200" spc="-15" dirty="0">
                <a:solidFill>
                  <a:prstClr val="black"/>
                </a:solidFill>
                <a:latin typeface="Palatino Linotype"/>
                <a:cs typeface="Palatino Linotype"/>
              </a:rPr>
              <a:t> </a:t>
            </a:r>
            <a:r>
              <a:rPr sz="1500" kern="1200" spc="-5" dirty="0">
                <a:solidFill>
                  <a:prstClr val="black"/>
                </a:solidFill>
                <a:latin typeface="Palatino Linotype"/>
                <a:cs typeface="Palatino Linotype"/>
              </a:rPr>
              <a:t>width</a:t>
            </a:r>
            <a:r>
              <a:rPr sz="1500" kern="1200" spc="10" dirty="0">
                <a:solidFill>
                  <a:prstClr val="black"/>
                </a:solidFill>
                <a:latin typeface="Palatino Linotype"/>
                <a:cs typeface="Palatino Linotype"/>
              </a:rPr>
              <a:t> </a:t>
            </a:r>
            <a:r>
              <a:rPr sz="1500" kern="1200" dirty="0">
                <a:solidFill>
                  <a:prstClr val="black"/>
                </a:solidFill>
                <a:latin typeface="Palatino Linotype"/>
                <a:cs typeface="Palatino Linotype"/>
              </a:rPr>
              <a:t>of an</a:t>
            </a:r>
            <a:r>
              <a:rPr sz="1500" kern="1200" spc="-10" dirty="0">
                <a:solidFill>
                  <a:prstClr val="black"/>
                </a:solidFill>
                <a:latin typeface="Palatino Linotype"/>
                <a:cs typeface="Palatino Linotype"/>
              </a:rPr>
              <a:t> </a:t>
            </a:r>
            <a:r>
              <a:rPr sz="1500" kern="1200" spc="-5" dirty="0">
                <a:solidFill>
                  <a:prstClr val="black"/>
                </a:solidFill>
                <a:latin typeface="Palatino Linotype"/>
                <a:cs typeface="Palatino Linotype"/>
              </a:rPr>
              <a:t>element)</a:t>
            </a:r>
            <a:endParaRPr sz="1500" kern="1200" dirty="0">
              <a:solidFill>
                <a:prstClr val="black"/>
              </a:solidFill>
              <a:latin typeface="Palatino Linotype"/>
              <a:cs typeface="Palatino Linotype"/>
            </a:endParaRPr>
          </a:p>
        </p:txBody>
      </p:sp>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60</a:t>
            </a:fld>
            <a:endParaRPr lang="en-US"/>
          </a:p>
        </p:txBody>
      </p:sp>
      <p:sp>
        <p:nvSpPr>
          <p:cNvPr id="21" name="object 2">
            <a:extLst>
              <a:ext uri="{FF2B5EF4-FFF2-40B4-BE49-F238E27FC236}">
                <a16:creationId xmlns:a16="http://schemas.microsoft.com/office/drawing/2014/main" id="{47DF336D-5AB3-441A-57AB-C15B23A91452}"/>
              </a:ext>
            </a:extLst>
          </p:cNvPr>
          <p:cNvSpPr txBox="1">
            <a:spLocks/>
          </p:cNvSpPr>
          <p:nvPr/>
        </p:nvSpPr>
        <p:spPr>
          <a:xfrm>
            <a:off x="707542" y="520141"/>
            <a:ext cx="6427470" cy="627736"/>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Addressing</a:t>
            </a:r>
            <a:r>
              <a:rPr kumimoji="0" lang="en-US" sz="4000" b="1" i="0" u="none" strike="noStrike" kern="0" cap="none" spc="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Array</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Elements</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graphicFrame>
        <p:nvGraphicFramePr>
          <p:cNvPr id="25" name="object 6">
            <a:extLst>
              <a:ext uri="{FF2B5EF4-FFF2-40B4-BE49-F238E27FC236}">
                <a16:creationId xmlns:a16="http://schemas.microsoft.com/office/drawing/2014/main" id="{071B65AE-F846-8F69-9BDD-75C79ADBE3BF}"/>
              </a:ext>
            </a:extLst>
          </p:cNvPr>
          <p:cNvGraphicFramePr>
            <a:graphicFrameLocks noGrp="1"/>
          </p:cNvGraphicFramePr>
          <p:nvPr>
            <p:extLst>
              <p:ext uri="{D42A27DB-BD31-4B8C-83A1-F6EECF244321}">
                <p14:modId xmlns:p14="http://schemas.microsoft.com/office/powerpoint/2010/main" val="2440474355"/>
              </p:ext>
            </p:extLst>
          </p:nvPr>
        </p:nvGraphicFramePr>
        <p:xfrm>
          <a:off x="2704592" y="4062221"/>
          <a:ext cx="920750" cy="1815754"/>
        </p:xfrm>
        <a:graphic>
          <a:graphicData uri="http://schemas.openxmlformats.org/drawingml/2006/table">
            <a:tbl>
              <a:tblPr firstRow="1" bandRow="1"/>
              <a:tblGrid>
                <a:gridCol w="920750">
                  <a:extLst>
                    <a:ext uri="{9D8B030D-6E8A-4147-A177-3AD203B41FA5}">
                      <a16:colId xmlns:a16="http://schemas.microsoft.com/office/drawing/2014/main" val="20000"/>
                    </a:ext>
                  </a:extLst>
                </a:gridCol>
              </a:tblGrid>
              <a:tr h="3026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160020" algn="r">
                        <a:lnSpc>
                          <a:spcPct val="100000"/>
                        </a:lnSpc>
                        <a:spcBef>
                          <a:spcPts val="295"/>
                        </a:spcBef>
                      </a:pPr>
                      <a:r>
                        <a:rPr sz="1200" dirty="0">
                          <a:latin typeface="Consolas"/>
                          <a:cs typeface="Consolas"/>
                        </a:rPr>
                        <a:t>A[0][0]</a:t>
                      </a:r>
                      <a:endParaRPr sz="1200">
                        <a:latin typeface="Consolas"/>
                        <a:cs typeface="Consolas"/>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2641">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160020" algn="r">
                        <a:lnSpc>
                          <a:spcPct val="100000"/>
                        </a:lnSpc>
                        <a:spcBef>
                          <a:spcPts val="295"/>
                        </a:spcBef>
                      </a:pPr>
                      <a:r>
                        <a:rPr sz="1200" dirty="0">
                          <a:latin typeface="Consolas"/>
                          <a:cs typeface="Consolas"/>
                        </a:rPr>
                        <a:t>A[0][1]</a:t>
                      </a:r>
                      <a:endParaRPr sz="1200">
                        <a:latin typeface="Consolas"/>
                        <a:cs typeface="Consolas"/>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026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160020" algn="r">
                        <a:lnSpc>
                          <a:spcPct val="100000"/>
                        </a:lnSpc>
                        <a:spcBef>
                          <a:spcPts val="295"/>
                        </a:spcBef>
                      </a:pPr>
                      <a:r>
                        <a:rPr sz="1200" dirty="0">
                          <a:latin typeface="Consolas"/>
                          <a:cs typeface="Consolas"/>
                        </a:rPr>
                        <a:t>A[0][2]</a:t>
                      </a:r>
                      <a:endParaRPr sz="1200">
                        <a:latin typeface="Consolas"/>
                        <a:cs typeface="Consolas"/>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02641">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160020" algn="r">
                        <a:lnSpc>
                          <a:spcPct val="100000"/>
                        </a:lnSpc>
                        <a:spcBef>
                          <a:spcPts val="295"/>
                        </a:spcBef>
                      </a:pPr>
                      <a:r>
                        <a:rPr sz="1200" dirty="0">
                          <a:latin typeface="Consolas"/>
                          <a:cs typeface="Consolas"/>
                        </a:rPr>
                        <a:t>A[1][0]</a:t>
                      </a:r>
                      <a:endParaRPr sz="1200">
                        <a:latin typeface="Consolas"/>
                        <a:cs typeface="Consolas"/>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02513">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160020" algn="r">
                        <a:lnSpc>
                          <a:spcPct val="100000"/>
                        </a:lnSpc>
                        <a:spcBef>
                          <a:spcPts val="295"/>
                        </a:spcBef>
                      </a:pPr>
                      <a:r>
                        <a:rPr sz="1200" dirty="0">
                          <a:latin typeface="Consolas"/>
                          <a:cs typeface="Consolas"/>
                        </a:rPr>
                        <a:t>A[1][1]</a:t>
                      </a:r>
                      <a:endParaRPr sz="1200">
                        <a:latin typeface="Consolas"/>
                        <a:cs typeface="Consolas"/>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02679">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160020" algn="r">
                        <a:lnSpc>
                          <a:spcPct val="100000"/>
                        </a:lnSpc>
                        <a:spcBef>
                          <a:spcPts val="295"/>
                        </a:spcBef>
                      </a:pPr>
                      <a:r>
                        <a:rPr sz="1200" dirty="0">
                          <a:latin typeface="Consolas"/>
                          <a:cs typeface="Consolas"/>
                        </a:rPr>
                        <a:t>A[1][2]</a:t>
                      </a:r>
                      <a:endParaRPr sz="1200">
                        <a:latin typeface="Consolas"/>
                        <a:cs typeface="Consolas"/>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26" name="object 7">
            <a:extLst>
              <a:ext uri="{FF2B5EF4-FFF2-40B4-BE49-F238E27FC236}">
                <a16:creationId xmlns:a16="http://schemas.microsoft.com/office/drawing/2014/main" id="{4894C987-7762-F412-6A0F-5AAA9FC7756C}"/>
              </a:ext>
            </a:extLst>
          </p:cNvPr>
          <p:cNvSpPr/>
          <p:nvPr/>
        </p:nvSpPr>
        <p:spPr>
          <a:xfrm>
            <a:off x="2517648" y="4066032"/>
            <a:ext cx="111760" cy="875030"/>
          </a:xfrm>
          <a:custGeom>
            <a:avLst/>
            <a:gdLst/>
            <a:ahLst/>
            <a:cxnLst/>
            <a:rect l="l" t="t" r="r" b="b"/>
            <a:pathLst>
              <a:path w="111760" h="875029">
                <a:moveTo>
                  <a:pt x="111251" y="874776"/>
                </a:moveTo>
                <a:lnTo>
                  <a:pt x="89594" y="874041"/>
                </a:lnTo>
                <a:lnTo>
                  <a:pt x="71913" y="872045"/>
                </a:lnTo>
                <a:lnTo>
                  <a:pt x="59995" y="869096"/>
                </a:lnTo>
                <a:lnTo>
                  <a:pt x="55625" y="865505"/>
                </a:lnTo>
                <a:lnTo>
                  <a:pt x="55625" y="446659"/>
                </a:lnTo>
                <a:lnTo>
                  <a:pt x="51256" y="443067"/>
                </a:lnTo>
                <a:lnTo>
                  <a:pt x="39338" y="440118"/>
                </a:lnTo>
                <a:lnTo>
                  <a:pt x="21657" y="438122"/>
                </a:lnTo>
                <a:lnTo>
                  <a:pt x="0" y="437388"/>
                </a:lnTo>
                <a:lnTo>
                  <a:pt x="21657" y="436653"/>
                </a:lnTo>
                <a:lnTo>
                  <a:pt x="39338" y="434657"/>
                </a:lnTo>
                <a:lnTo>
                  <a:pt x="51256" y="431708"/>
                </a:lnTo>
                <a:lnTo>
                  <a:pt x="55625" y="428117"/>
                </a:lnTo>
                <a:lnTo>
                  <a:pt x="55625" y="9271"/>
                </a:lnTo>
                <a:lnTo>
                  <a:pt x="59995" y="5679"/>
                </a:lnTo>
                <a:lnTo>
                  <a:pt x="71913" y="2730"/>
                </a:lnTo>
                <a:lnTo>
                  <a:pt x="89594" y="734"/>
                </a:lnTo>
                <a:lnTo>
                  <a:pt x="111251" y="0"/>
                </a:lnTo>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7" name="object 8">
            <a:extLst>
              <a:ext uri="{FF2B5EF4-FFF2-40B4-BE49-F238E27FC236}">
                <a16:creationId xmlns:a16="http://schemas.microsoft.com/office/drawing/2014/main" id="{0732FBD4-3D82-7A97-04AC-4330F82AF38F}"/>
              </a:ext>
            </a:extLst>
          </p:cNvPr>
          <p:cNvSpPr txBox="1"/>
          <p:nvPr/>
        </p:nvSpPr>
        <p:spPr>
          <a:xfrm>
            <a:off x="1593341" y="4371594"/>
            <a:ext cx="739775" cy="228268"/>
          </a:xfrm>
          <a:prstGeom prst="rect">
            <a:avLst/>
          </a:prstGeom>
        </p:spPr>
        <p:txBody>
          <a:bodyPr vert="horz" wrap="square" lIns="0" tIns="12700" rIns="0" bIns="0" rtlCol="0">
            <a:spAutoFit/>
          </a:bodyPr>
          <a:lstStyle/>
          <a:p>
            <a:pPr marL="12700" rtl="0">
              <a:spcBef>
                <a:spcPts val="100"/>
              </a:spcBef>
            </a:pPr>
            <a:r>
              <a:rPr sz="1400" kern="1200" dirty="0">
                <a:solidFill>
                  <a:prstClr val="black"/>
                </a:solidFill>
                <a:latin typeface="Palatino Linotype"/>
                <a:cs typeface="Palatino Linotype"/>
              </a:rPr>
              <a:t>First</a:t>
            </a:r>
            <a:r>
              <a:rPr sz="1400" kern="1200" spc="-85" dirty="0">
                <a:solidFill>
                  <a:prstClr val="black"/>
                </a:solidFill>
                <a:latin typeface="Palatino Linotype"/>
                <a:cs typeface="Palatino Linotype"/>
              </a:rPr>
              <a:t> </a:t>
            </a:r>
            <a:r>
              <a:rPr sz="1400" kern="1200" dirty="0">
                <a:solidFill>
                  <a:prstClr val="black"/>
                </a:solidFill>
                <a:latin typeface="Palatino Linotype"/>
                <a:cs typeface="Palatino Linotype"/>
              </a:rPr>
              <a:t>row</a:t>
            </a:r>
            <a:endParaRPr sz="1400" kern="1200">
              <a:solidFill>
                <a:prstClr val="black"/>
              </a:solidFill>
              <a:latin typeface="Palatino Linotype"/>
              <a:cs typeface="Palatino Linotype"/>
            </a:endParaRPr>
          </a:p>
        </p:txBody>
      </p:sp>
      <p:sp>
        <p:nvSpPr>
          <p:cNvPr id="28" name="object 9">
            <a:extLst>
              <a:ext uri="{FF2B5EF4-FFF2-40B4-BE49-F238E27FC236}">
                <a16:creationId xmlns:a16="http://schemas.microsoft.com/office/drawing/2014/main" id="{95510632-2C5F-11FD-102C-A92B2620BFA0}"/>
              </a:ext>
            </a:extLst>
          </p:cNvPr>
          <p:cNvSpPr txBox="1"/>
          <p:nvPr/>
        </p:nvSpPr>
        <p:spPr>
          <a:xfrm>
            <a:off x="1489075" y="5299964"/>
            <a:ext cx="953135" cy="228268"/>
          </a:xfrm>
          <a:prstGeom prst="rect">
            <a:avLst/>
          </a:prstGeom>
        </p:spPr>
        <p:txBody>
          <a:bodyPr vert="horz" wrap="square" lIns="0" tIns="12700" rIns="0" bIns="0" rtlCol="0">
            <a:spAutoFit/>
          </a:bodyPr>
          <a:lstStyle/>
          <a:p>
            <a:pPr marL="12700" rtl="0">
              <a:spcBef>
                <a:spcPts val="100"/>
              </a:spcBef>
            </a:pPr>
            <a:r>
              <a:rPr sz="1400" kern="1200" dirty="0">
                <a:solidFill>
                  <a:prstClr val="black"/>
                </a:solidFill>
                <a:latin typeface="Palatino Linotype"/>
                <a:cs typeface="Palatino Linotype"/>
              </a:rPr>
              <a:t>Second</a:t>
            </a:r>
            <a:r>
              <a:rPr sz="1400" kern="1200" spc="-80" dirty="0">
                <a:solidFill>
                  <a:prstClr val="black"/>
                </a:solidFill>
                <a:latin typeface="Palatino Linotype"/>
                <a:cs typeface="Palatino Linotype"/>
              </a:rPr>
              <a:t> </a:t>
            </a:r>
            <a:r>
              <a:rPr sz="1400" kern="1200" dirty="0">
                <a:solidFill>
                  <a:prstClr val="black"/>
                </a:solidFill>
                <a:latin typeface="Palatino Linotype"/>
                <a:cs typeface="Palatino Linotype"/>
              </a:rPr>
              <a:t>row</a:t>
            </a:r>
            <a:endParaRPr sz="1400" kern="1200">
              <a:solidFill>
                <a:prstClr val="black"/>
              </a:solidFill>
              <a:latin typeface="Palatino Linotype"/>
              <a:cs typeface="Palatino Linotype"/>
            </a:endParaRPr>
          </a:p>
        </p:txBody>
      </p:sp>
      <p:sp>
        <p:nvSpPr>
          <p:cNvPr id="29" name="object 10">
            <a:extLst>
              <a:ext uri="{FF2B5EF4-FFF2-40B4-BE49-F238E27FC236}">
                <a16:creationId xmlns:a16="http://schemas.microsoft.com/office/drawing/2014/main" id="{29B633ED-EF25-435A-1FA4-A977AD285844}"/>
              </a:ext>
            </a:extLst>
          </p:cNvPr>
          <p:cNvSpPr/>
          <p:nvPr/>
        </p:nvSpPr>
        <p:spPr>
          <a:xfrm>
            <a:off x="2517648" y="5009388"/>
            <a:ext cx="111760" cy="875030"/>
          </a:xfrm>
          <a:custGeom>
            <a:avLst/>
            <a:gdLst/>
            <a:ahLst/>
            <a:cxnLst/>
            <a:rect l="l" t="t" r="r" b="b"/>
            <a:pathLst>
              <a:path w="111760" h="875029">
                <a:moveTo>
                  <a:pt x="111251" y="874776"/>
                </a:moveTo>
                <a:lnTo>
                  <a:pt x="89594" y="874047"/>
                </a:lnTo>
                <a:lnTo>
                  <a:pt x="71913" y="872059"/>
                </a:lnTo>
                <a:lnTo>
                  <a:pt x="59995" y="869112"/>
                </a:lnTo>
                <a:lnTo>
                  <a:pt x="55625" y="865505"/>
                </a:lnTo>
                <a:lnTo>
                  <a:pt x="55625" y="446659"/>
                </a:lnTo>
                <a:lnTo>
                  <a:pt x="51256" y="443067"/>
                </a:lnTo>
                <a:lnTo>
                  <a:pt x="39338" y="440118"/>
                </a:lnTo>
                <a:lnTo>
                  <a:pt x="21657" y="438122"/>
                </a:lnTo>
                <a:lnTo>
                  <a:pt x="0" y="437388"/>
                </a:lnTo>
                <a:lnTo>
                  <a:pt x="21657" y="436653"/>
                </a:lnTo>
                <a:lnTo>
                  <a:pt x="39338" y="434657"/>
                </a:lnTo>
                <a:lnTo>
                  <a:pt x="51256" y="431708"/>
                </a:lnTo>
                <a:lnTo>
                  <a:pt x="55625" y="428117"/>
                </a:lnTo>
                <a:lnTo>
                  <a:pt x="55625" y="9270"/>
                </a:lnTo>
                <a:lnTo>
                  <a:pt x="59995" y="5679"/>
                </a:lnTo>
                <a:lnTo>
                  <a:pt x="71913" y="2730"/>
                </a:lnTo>
                <a:lnTo>
                  <a:pt x="89594" y="734"/>
                </a:lnTo>
                <a:lnTo>
                  <a:pt x="111251" y="0"/>
                </a:lnTo>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0" name="object 11">
            <a:extLst>
              <a:ext uri="{FF2B5EF4-FFF2-40B4-BE49-F238E27FC236}">
                <a16:creationId xmlns:a16="http://schemas.microsoft.com/office/drawing/2014/main" id="{4DA17DF4-C2AF-05A1-FE90-7D4F4A52E51B}"/>
              </a:ext>
            </a:extLst>
          </p:cNvPr>
          <p:cNvSpPr txBox="1"/>
          <p:nvPr/>
        </p:nvSpPr>
        <p:spPr>
          <a:xfrm>
            <a:off x="1945894" y="5952235"/>
            <a:ext cx="1191895" cy="228268"/>
          </a:xfrm>
          <a:prstGeom prst="rect">
            <a:avLst/>
          </a:prstGeom>
        </p:spPr>
        <p:txBody>
          <a:bodyPr vert="horz" wrap="square" lIns="0" tIns="12700" rIns="0" bIns="0" rtlCol="0">
            <a:spAutoFit/>
          </a:bodyPr>
          <a:lstStyle/>
          <a:p>
            <a:pPr marL="12700" rtl="0">
              <a:spcBef>
                <a:spcPts val="100"/>
              </a:spcBef>
            </a:pPr>
            <a:r>
              <a:rPr sz="1400" kern="1200" dirty="0">
                <a:solidFill>
                  <a:srgbClr val="FF0000"/>
                </a:solidFill>
                <a:latin typeface="Palatino Linotype"/>
                <a:cs typeface="Palatino Linotype"/>
              </a:rPr>
              <a:t>Ro</a:t>
            </a:r>
            <a:r>
              <a:rPr sz="1400" kern="1200" spc="5" dirty="0">
                <a:solidFill>
                  <a:srgbClr val="FF0000"/>
                </a:solidFill>
                <a:latin typeface="Palatino Linotype"/>
                <a:cs typeface="Palatino Linotype"/>
              </a:rPr>
              <a:t>w</a:t>
            </a:r>
            <a:r>
              <a:rPr sz="1400" kern="1200" dirty="0">
                <a:solidFill>
                  <a:srgbClr val="FF0000"/>
                </a:solidFill>
                <a:latin typeface="Palatino Linotype"/>
                <a:cs typeface="Palatino Linotype"/>
              </a:rPr>
              <a:t>-major</a:t>
            </a:r>
            <a:r>
              <a:rPr sz="1400" kern="1200" spc="-45" dirty="0">
                <a:solidFill>
                  <a:srgbClr val="FF0000"/>
                </a:solidFill>
                <a:latin typeface="Palatino Linotype"/>
                <a:cs typeface="Palatino Linotype"/>
              </a:rPr>
              <a:t> </a:t>
            </a:r>
            <a:r>
              <a:rPr sz="1400" kern="1200" dirty="0">
                <a:solidFill>
                  <a:srgbClr val="FF0000"/>
                </a:solidFill>
                <a:latin typeface="Palatino Linotype"/>
                <a:cs typeface="Palatino Linotype"/>
              </a:rPr>
              <a:t>(C)</a:t>
            </a:r>
            <a:endParaRPr sz="1400" kern="1200">
              <a:solidFill>
                <a:prstClr val="black"/>
              </a:solidFill>
              <a:latin typeface="Palatino Linotype"/>
              <a:cs typeface="Palatino Linotype"/>
            </a:endParaRPr>
          </a:p>
        </p:txBody>
      </p:sp>
      <p:graphicFrame>
        <p:nvGraphicFramePr>
          <p:cNvPr id="31" name="object 12">
            <a:extLst>
              <a:ext uri="{FF2B5EF4-FFF2-40B4-BE49-F238E27FC236}">
                <a16:creationId xmlns:a16="http://schemas.microsoft.com/office/drawing/2014/main" id="{16EF85CE-4AA0-7C70-8DED-1AA37748D275}"/>
              </a:ext>
            </a:extLst>
          </p:cNvPr>
          <p:cNvGraphicFramePr>
            <a:graphicFrameLocks noGrp="1"/>
          </p:cNvGraphicFramePr>
          <p:nvPr>
            <p:extLst>
              <p:ext uri="{D42A27DB-BD31-4B8C-83A1-F6EECF244321}">
                <p14:modId xmlns:p14="http://schemas.microsoft.com/office/powerpoint/2010/main" val="1772490831"/>
              </p:ext>
            </p:extLst>
          </p:nvPr>
        </p:nvGraphicFramePr>
        <p:xfrm>
          <a:off x="4932426" y="4062221"/>
          <a:ext cx="920750" cy="1815754"/>
        </p:xfrm>
        <a:graphic>
          <a:graphicData uri="http://schemas.openxmlformats.org/drawingml/2006/table">
            <a:tbl>
              <a:tblPr firstRow="1" bandRow="1"/>
              <a:tblGrid>
                <a:gridCol w="920750">
                  <a:extLst>
                    <a:ext uri="{9D8B030D-6E8A-4147-A177-3AD203B41FA5}">
                      <a16:colId xmlns:a16="http://schemas.microsoft.com/office/drawing/2014/main" val="20000"/>
                    </a:ext>
                  </a:extLst>
                </a:gridCol>
              </a:tblGrid>
              <a:tr h="3026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95"/>
                        </a:spcBef>
                      </a:pPr>
                      <a:r>
                        <a:rPr sz="1200" dirty="0">
                          <a:latin typeface="Consolas"/>
                          <a:cs typeface="Consolas"/>
                        </a:rPr>
                        <a:t>A[0][0]</a:t>
                      </a:r>
                      <a:endParaRPr sz="1200">
                        <a:latin typeface="Consolas"/>
                        <a:cs typeface="Consolas"/>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2641">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95"/>
                        </a:spcBef>
                      </a:pPr>
                      <a:r>
                        <a:rPr sz="1200" dirty="0">
                          <a:latin typeface="Consolas"/>
                          <a:cs typeface="Consolas"/>
                        </a:rPr>
                        <a:t>A[1][0]</a:t>
                      </a:r>
                      <a:endParaRPr sz="1200">
                        <a:latin typeface="Consolas"/>
                        <a:cs typeface="Consolas"/>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026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95"/>
                        </a:spcBef>
                      </a:pPr>
                      <a:r>
                        <a:rPr sz="1200" dirty="0">
                          <a:latin typeface="Consolas"/>
                          <a:cs typeface="Consolas"/>
                        </a:rPr>
                        <a:t>A[0][1]</a:t>
                      </a:r>
                      <a:endParaRPr sz="1200">
                        <a:latin typeface="Consolas"/>
                        <a:cs typeface="Consolas"/>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02641">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95"/>
                        </a:spcBef>
                      </a:pPr>
                      <a:r>
                        <a:rPr sz="1200" dirty="0">
                          <a:latin typeface="Consolas"/>
                          <a:cs typeface="Consolas"/>
                        </a:rPr>
                        <a:t>A[1][1]</a:t>
                      </a:r>
                      <a:endParaRPr sz="1200">
                        <a:latin typeface="Consolas"/>
                        <a:cs typeface="Consolas"/>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02513">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95"/>
                        </a:spcBef>
                      </a:pPr>
                      <a:r>
                        <a:rPr sz="1200" dirty="0">
                          <a:latin typeface="Consolas"/>
                          <a:cs typeface="Consolas"/>
                        </a:rPr>
                        <a:t>A[0][2]</a:t>
                      </a:r>
                      <a:endParaRPr sz="1200">
                        <a:latin typeface="Consolas"/>
                        <a:cs typeface="Consolas"/>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02679">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95"/>
                        </a:spcBef>
                      </a:pPr>
                      <a:r>
                        <a:rPr sz="1200" dirty="0">
                          <a:latin typeface="Consolas"/>
                          <a:cs typeface="Consolas"/>
                        </a:rPr>
                        <a:t>A[1][2]</a:t>
                      </a:r>
                      <a:endParaRPr sz="1200">
                        <a:latin typeface="Consolas"/>
                        <a:cs typeface="Consolas"/>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32" name="object 13">
            <a:extLst>
              <a:ext uri="{FF2B5EF4-FFF2-40B4-BE49-F238E27FC236}">
                <a16:creationId xmlns:a16="http://schemas.microsoft.com/office/drawing/2014/main" id="{628C0B6B-AC1D-215D-4F91-C011E8648EB6}"/>
              </a:ext>
            </a:extLst>
          </p:cNvPr>
          <p:cNvSpPr/>
          <p:nvPr/>
        </p:nvSpPr>
        <p:spPr>
          <a:xfrm>
            <a:off x="5896355" y="4072128"/>
            <a:ext cx="146685" cy="1797050"/>
          </a:xfrm>
          <a:custGeom>
            <a:avLst/>
            <a:gdLst/>
            <a:ahLst/>
            <a:cxnLst/>
            <a:rect l="l" t="t" r="r" b="b"/>
            <a:pathLst>
              <a:path w="146685" h="1797050">
                <a:moveTo>
                  <a:pt x="0" y="585216"/>
                </a:moveTo>
                <a:lnTo>
                  <a:pt x="28467" y="584257"/>
                </a:lnTo>
                <a:lnTo>
                  <a:pt x="51720" y="581644"/>
                </a:lnTo>
                <a:lnTo>
                  <a:pt x="67401" y="577768"/>
                </a:lnTo>
                <a:lnTo>
                  <a:pt x="73152" y="573024"/>
                </a:lnTo>
                <a:lnTo>
                  <a:pt x="73152" y="304800"/>
                </a:lnTo>
                <a:lnTo>
                  <a:pt x="78902" y="300055"/>
                </a:lnTo>
                <a:lnTo>
                  <a:pt x="94583" y="296179"/>
                </a:lnTo>
                <a:lnTo>
                  <a:pt x="117836" y="293566"/>
                </a:lnTo>
                <a:lnTo>
                  <a:pt x="146304" y="292608"/>
                </a:lnTo>
                <a:lnTo>
                  <a:pt x="117836" y="291649"/>
                </a:lnTo>
                <a:lnTo>
                  <a:pt x="94583" y="289036"/>
                </a:lnTo>
                <a:lnTo>
                  <a:pt x="78902" y="285160"/>
                </a:lnTo>
                <a:lnTo>
                  <a:pt x="73152" y="280416"/>
                </a:lnTo>
                <a:lnTo>
                  <a:pt x="73152" y="12192"/>
                </a:lnTo>
                <a:lnTo>
                  <a:pt x="67401" y="7447"/>
                </a:lnTo>
                <a:lnTo>
                  <a:pt x="51720" y="3571"/>
                </a:lnTo>
                <a:lnTo>
                  <a:pt x="28467" y="958"/>
                </a:lnTo>
                <a:lnTo>
                  <a:pt x="0" y="0"/>
                </a:lnTo>
              </a:path>
              <a:path w="146685" h="1797050">
                <a:moveTo>
                  <a:pt x="0" y="1196340"/>
                </a:moveTo>
                <a:lnTo>
                  <a:pt x="28467" y="1195381"/>
                </a:lnTo>
                <a:lnTo>
                  <a:pt x="51720" y="1192768"/>
                </a:lnTo>
                <a:lnTo>
                  <a:pt x="67401" y="1188892"/>
                </a:lnTo>
                <a:lnTo>
                  <a:pt x="73152" y="1184148"/>
                </a:lnTo>
                <a:lnTo>
                  <a:pt x="73152" y="916686"/>
                </a:lnTo>
                <a:lnTo>
                  <a:pt x="78902" y="911941"/>
                </a:lnTo>
                <a:lnTo>
                  <a:pt x="94583" y="908065"/>
                </a:lnTo>
                <a:lnTo>
                  <a:pt x="117836" y="905452"/>
                </a:lnTo>
                <a:lnTo>
                  <a:pt x="146304" y="904494"/>
                </a:lnTo>
                <a:lnTo>
                  <a:pt x="117836" y="903535"/>
                </a:lnTo>
                <a:lnTo>
                  <a:pt x="94583" y="900922"/>
                </a:lnTo>
                <a:lnTo>
                  <a:pt x="78902" y="897046"/>
                </a:lnTo>
                <a:lnTo>
                  <a:pt x="73152" y="892302"/>
                </a:lnTo>
                <a:lnTo>
                  <a:pt x="73152" y="624840"/>
                </a:lnTo>
                <a:lnTo>
                  <a:pt x="67401" y="620095"/>
                </a:lnTo>
                <a:lnTo>
                  <a:pt x="51720" y="616219"/>
                </a:lnTo>
                <a:lnTo>
                  <a:pt x="28467" y="613606"/>
                </a:lnTo>
                <a:lnTo>
                  <a:pt x="0" y="612648"/>
                </a:lnTo>
              </a:path>
              <a:path w="146685" h="1797050">
                <a:moveTo>
                  <a:pt x="0" y="1796796"/>
                </a:moveTo>
                <a:lnTo>
                  <a:pt x="28467" y="1795837"/>
                </a:lnTo>
                <a:lnTo>
                  <a:pt x="51720" y="1793224"/>
                </a:lnTo>
                <a:lnTo>
                  <a:pt x="67401" y="1789348"/>
                </a:lnTo>
                <a:lnTo>
                  <a:pt x="73152" y="1784604"/>
                </a:lnTo>
                <a:lnTo>
                  <a:pt x="73152" y="1516380"/>
                </a:lnTo>
                <a:lnTo>
                  <a:pt x="78902" y="1511635"/>
                </a:lnTo>
                <a:lnTo>
                  <a:pt x="94583" y="1507759"/>
                </a:lnTo>
                <a:lnTo>
                  <a:pt x="117836" y="1505146"/>
                </a:lnTo>
                <a:lnTo>
                  <a:pt x="146304" y="1504188"/>
                </a:lnTo>
                <a:lnTo>
                  <a:pt x="117836" y="1503229"/>
                </a:lnTo>
                <a:lnTo>
                  <a:pt x="94583" y="1500616"/>
                </a:lnTo>
                <a:lnTo>
                  <a:pt x="78902" y="1496740"/>
                </a:lnTo>
                <a:lnTo>
                  <a:pt x="73152" y="1491996"/>
                </a:lnTo>
                <a:lnTo>
                  <a:pt x="73152" y="1223772"/>
                </a:lnTo>
                <a:lnTo>
                  <a:pt x="67401" y="1219027"/>
                </a:lnTo>
                <a:lnTo>
                  <a:pt x="51720" y="1215151"/>
                </a:lnTo>
                <a:lnTo>
                  <a:pt x="28467" y="1212538"/>
                </a:lnTo>
                <a:lnTo>
                  <a:pt x="0" y="1211580"/>
                </a:lnTo>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3" name="object 14">
            <a:extLst>
              <a:ext uri="{FF2B5EF4-FFF2-40B4-BE49-F238E27FC236}">
                <a16:creationId xmlns:a16="http://schemas.microsoft.com/office/drawing/2014/main" id="{11AFDE16-6C45-B4EC-F213-D93F499E6428}"/>
              </a:ext>
            </a:extLst>
          </p:cNvPr>
          <p:cNvSpPr txBox="1"/>
          <p:nvPr/>
        </p:nvSpPr>
        <p:spPr>
          <a:xfrm>
            <a:off x="6184138" y="4232909"/>
            <a:ext cx="1021715" cy="228268"/>
          </a:xfrm>
          <a:prstGeom prst="rect">
            <a:avLst/>
          </a:prstGeom>
        </p:spPr>
        <p:txBody>
          <a:bodyPr vert="horz" wrap="square" lIns="0" tIns="12700" rIns="0" bIns="0" rtlCol="0">
            <a:spAutoFit/>
          </a:bodyPr>
          <a:lstStyle/>
          <a:p>
            <a:pPr marL="12700" rtl="0">
              <a:spcBef>
                <a:spcPts val="100"/>
              </a:spcBef>
            </a:pPr>
            <a:r>
              <a:rPr sz="1400" kern="1200" dirty="0">
                <a:solidFill>
                  <a:prstClr val="black"/>
                </a:solidFill>
                <a:latin typeface="Palatino Linotype"/>
                <a:cs typeface="Palatino Linotype"/>
              </a:rPr>
              <a:t>First</a:t>
            </a:r>
            <a:r>
              <a:rPr sz="1400" kern="1200" spc="-75" dirty="0">
                <a:solidFill>
                  <a:prstClr val="black"/>
                </a:solidFill>
                <a:latin typeface="Palatino Linotype"/>
                <a:cs typeface="Palatino Linotype"/>
              </a:rPr>
              <a:t> </a:t>
            </a:r>
            <a:r>
              <a:rPr sz="1400" kern="1200" dirty="0">
                <a:solidFill>
                  <a:prstClr val="black"/>
                </a:solidFill>
                <a:latin typeface="Palatino Linotype"/>
                <a:cs typeface="Palatino Linotype"/>
              </a:rPr>
              <a:t>column</a:t>
            </a:r>
            <a:endParaRPr sz="1400" kern="1200">
              <a:solidFill>
                <a:prstClr val="black"/>
              </a:solidFill>
              <a:latin typeface="Palatino Linotype"/>
              <a:cs typeface="Palatino Linotype"/>
            </a:endParaRPr>
          </a:p>
        </p:txBody>
      </p:sp>
      <p:sp>
        <p:nvSpPr>
          <p:cNvPr id="34" name="object 15">
            <a:extLst>
              <a:ext uri="{FF2B5EF4-FFF2-40B4-BE49-F238E27FC236}">
                <a16:creationId xmlns:a16="http://schemas.microsoft.com/office/drawing/2014/main" id="{71706A72-7549-D0FE-A407-5EE11AF759FF}"/>
              </a:ext>
            </a:extLst>
          </p:cNvPr>
          <p:cNvSpPr txBox="1"/>
          <p:nvPr/>
        </p:nvSpPr>
        <p:spPr>
          <a:xfrm>
            <a:off x="5137784" y="5953759"/>
            <a:ext cx="1932305" cy="228268"/>
          </a:xfrm>
          <a:prstGeom prst="rect">
            <a:avLst/>
          </a:prstGeom>
        </p:spPr>
        <p:txBody>
          <a:bodyPr vert="horz" wrap="square" lIns="0" tIns="12700" rIns="0" bIns="0" rtlCol="0">
            <a:spAutoFit/>
          </a:bodyPr>
          <a:lstStyle/>
          <a:p>
            <a:pPr marL="12700" rtl="0">
              <a:spcBef>
                <a:spcPts val="100"/>
              </a:spcBef>
            </a:pPr>
            <a:r>
              <a:rPr sz="1400" kern="1200" dirty="0">
                <a:solidFill>
                  <a:srgbClr val="FF0000"/>
                </a:solidFill>
                <a:latin typeface="Palatino Linotype"/>
                <a:cs typeface="Palatino Linotype"/>
              </a:rPr>
              <a:t>Col</a:t>
            </a:r>
            <a:r>
              <a:rPr sz="1400" kern="1200" spc="5" dirty="0">
                <a:solidFill>
                  <a:srgbClr val="FF0000"/>
                </a:solidFill>
                <a:latin typeface="Palatino Linotype"/>
                <a:cs typeface="Palatino Linotype"/>
              </a:rPr>
              <a:t>u</a:t>
            </a:r>
            <a:r>
              <a:rPr sz="1400" kern="1200" dirty="0">
                <a:solidFill>
                  <a:srgbClr val="FF0000"/>
                </a:solidFill>
                <a:latin typeface="Palatino Linotype"/>
                <a:cs typeface="Palatino Linotype"/>
              </a:rPr>
              <a:t>m</a:t>
            </a:r>
            <a:r>
              <a:rPr sz="1400" kern="1200" spc="-5" dirty="0">
                <a:solidFill>
                  <a:srgbClr val="FF0000"/>
                </a:solidFill>
                <a:latin typeface="Palatino Linotype"/>
                <a:cs typeface="Palatino Linotype"/>
              </a:rPr>
              <a:t>n</a:t>
            </a:r>
            <a:r>
              <a:rPr sz="1400" kern="1200" dirty="0">
                <a:solidFill>
                  <a:srgbClr val="FF0000"/>
                </a:solidFill>
                <a:latin typeface="Palatino Linotype"/>
                <a:cs typeface="Palatino Linotype"/>
              </a:rPr>
              <a:t>-major</a:t>
            </a:r>
            <a:r>
              <a:rPr sz="1400" kern="1200" spc="-45" dirty="0">
                <a:solidFill>
                  <a:srgbClr val="FF0000"/>
                </a:solidFill>
                <a:latin typeface="Palatino Linotype"/>
                <a:cs typeface="Palatino Linotype"/>
              </a:rPr>
              <a:t> </a:t>
            </a:r>
            <a:r>
              <a:rPr sz="1400" kern="1200" dirty="0">
                <a:solidFill>
                  <a:srgbClr val="FF0000"/>
                </a:solidFill>
                <a:latin typeface="Palatino Linotype"/>
                <a:cs typeface="Palatino Linotype"/>
              </a:rPr>
              <a:t>(Fort</a:t>
            </a:r>
            <a:r>
              <a:rPr sz="1400" kern="1200" spc="-10" dirty="0">
                <a:solidFill>
                  <a:srgbClr val="FF0000"/>
                </a:solidFill>
                <a:latin typeface="Palatino Linotype"/>
                <a:cs typeface="Palatino Linotype"/>
              </a:rPr>
              <a:t>r</a:t>
            </a:r>
            <a:r>
              <a:rPr sz="1400" kern="1200" dirty="0">
                <a:solidFill>
                  <a:srgbClr val="FF0000"/>
                </a:solidFill>
                <a:latin typeface="Palatino Linotype"/>
                <a:cs typeface="Palatino Linotype"/>
              </a:rPr>
              <a:t>an)</a:t>
            </a:r>
            <a:endParaRPr sz="1400" kern="1200">
              <a:solidFill>
                <a:prstClr val="black"/>
              </a:solidFill>
              <a:latin typeface="Palatino Linotype"/>
              <a:cs typeface="Palatino Linotype"/>
            </a:endParaRPr>
          </a:p>
        </p:txBody>
      </p:sp>
      <p:sp>
        <p:nvSpPr>
          <p:cNvPr id="35" name="object 16">
            <a:extLst>
              <a:ext uri="{FF2B5EF4-FFF2-40B4-BE49-F238E27FC236}">
                <a16:creationId xmlns:a16="http://schemas.microsoft.com/office/drawing/2014/main" id="{2A776DBA-33D6-2B3B-E7ED-169A1E0C8EE5}"/>
              </a:ext>
            </a:extLst>
          </p:cNvPr>
          <p:cNvSpPr txBox="1"/>
          <p:nvPr/>
        </p:nvSpPr>
        <p:spPr>
          <a:xfrm>
            <a:off x="6184138" y="4838191"/>
            <a:ext cx="1234440" cy="228268"/>
          </a:xfrm>
          <a:prstGeom prst="rect">
            <a:avLst/>
          </a:prstGeom>
        </p:spPr>
        <p:txBody>
          <a:bodyPr vert="horz" wrap="square" lIns="0" tIns="12700" rIns="0" bIns="0" rtlCol="0">
            <a:spAutoFit/>
          </a:bodyPr>
          <a:lstStyle/>
          <a:p>
            <a:pPr marL="12700" rtl="0">
              <a:spcBef>
                <a:spcPts val="100"/>
              </a:spcBef>
            </a:pPr>
            <a:r>
              <a:rPr sz="1400" kern="1200" dirty="0">
                <a:solidFill>
                  <a:prstClr val="black"/>
                </a:solidFill>
                <a:latin typeface="Palatino Linotype"/>
                <a:cs typeface="Palatino Linotype"/>
              </a:rPr>
              <a:t>Second</a:t>
            </a:r>
            <a:r>
              <a:rPr sz="1400" kern="1200" spc="-70" dirty="0">
                <a:solidFill>
                  <a:prstClr val="black"/>
                </a:solidFill>
                <a:latin typeface="Palatino Linotype"/>
                <a:cs typeface="Palatino Linotype"/>
              </a:rPr>
              <a:t> </a:t>
            </a:r>
            <a:r>
              <a:rPr sz="1400" kern="1200" dirty="0">
                <a:solidFill>
                  <a:prstClr val="black"/>
                </a:solidFill>
                <a:latin typeface="Palatino Linotype"/>
                <a:cs typeface="Palatino Linotype"/>
              </a:rPr>
              <a:t>column</a:t>
            </a:r>
            <a:endParaRPr sz="1400" kern="1200">
              <a:solidFill>
                <a:prstClr val="black"/>
              </a:solidFill>
              <a:latin typeface="Palatino Linotype"/>
              <a:cs typeface="Palatino Linotype"/>
            </a:endParaRPr>
          </a:p>
        </p:txBody>
      </p:sp>
      <p:sp>
        <p:nvSpPr>
          <p:cNvPr id="36" name="object 17">
            <a:extLst>
              <a:ext uri="{FF2B5EF4-FFF2-40B4-BE49-F238E27FC236}">
                <a16:creationId xmlns:a16="http://schemas.microsoft.com/office/drawing/2014/main" id="{1FC9249E-C528-B95D-EEF5-15015D4264DE}"/>
              </a:ext>
            </a:extLst>
          </p:cNvPr>
          <p:cNvSpPr txBox="1"/>
          <p:nvPr/>
        </p:nvSpPr>
        <p:spPr>
          <a:xfrm>
            <a:off x="6184138" y="5450230"/>
            <a:ext cx="1111250" cy="228268"/>
          </a:xfrm>
          <a:prstGeom prst="rect">
            <a:avLst/>
          </a:prstGeom>
        </p:spPr>
        <p:txBody>
          <a:bodyPr vert="horz" wrap="square" lIns="0" tIns="12700" rIns="0" bIns="0" rtlCol="0">
            <a:spAutoFit/>
          </a:bodyPr>
          <a:lstStyle/>
          <a:p>
            <a:pPr marL="12700" rtl="0">
              <a:spcBef>
                <a:spcPts val="100"/>
              </a:spcBef>
            </a:pPr>
            <a:r>
              <a:rPr sz="1400" kern="1200" dirty="0">
                <a:solidFill>
                  <a:prstClr val="black"/>
                </a:solidFill>
                <a:latin typeface="Palatino Linotype"/>
                <a:cs typeface="Palatino Linotype"/>
              </a:rPr>
              <a:t>Third</a:t>
            </a:r>
            <a:r>
              <a:rPr sz="1400" kern="1200" spc="-70" dirty="0">
                <a:solidFill>
                  <a:prstClr val="black"/>
                </a:solidFill>
                <a:latin typeface="Palatino Linotype"/>
                <a:cs typeface="Palatino Linotype"/>
              </a:rPr>
              <a:t> </a:t>
            </a:r>
            <a:r>
              <a:rPr sz="1400" kern="1200" dirty="0">
                <a:solidFill>
                  <a:prstClr val="black"/>
                </a:solidFill>
                <a:latin typeface="Palatino Linotype"/>
                <a:cs typeface="Palatino Linotype"/>
              </a:rPr>
              <a:t>column</a:t>
            </a:r>
            <a:endParaRPr sz="1400" kern="1200">
              <a:solidFill>
                <a:prstClr val="black"/>
              </a:solidFill>
              <a:latin typeface="Palatino Linotype"/>
              <a:cs typeface="Palatino Linotype"/>
            </a:endParaRPr>
          </a:p>
        </p:txBody>
      </p:sp>
    </p:spTree>
    <p:extLst>
      <p:ext uri="{BB962C8B-B14F-4D97-AF65-F5344CB8AC3E}">
        <p14:creationId xmlns:p14="http://schemas.microsoft.com/office/powerpoint/2010/main" val="42224410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4" name="object 11">
            <a:extLst>
              <a:ext uri="{FF2B5EF4-FFF2-40B4-BE49-F238E27FC236}">
                <a16:creationId xmlns:a16="http://schemas.microsoft.com/office/drawing/2014/main" id="{FD3186F5-B057-68E5-2E0A-B5B166328623}"/>
              </a:ext>
            </a:extLst>
          </p:cNvPr>
          <p:cNvSpPr txBox="1"/>
          <p:nvPr/>
        </p:nvSpPr>
        <p:spPr>
          <a:xfrm>
            <a:off x="656742" y="1581150"/>
            <a:ext cx="7677784" cy="3344545"/>
          </a:xfrm>
          <a:prstGeom prst="rect">
            <a:avLst/>
          </a:prstGeom>
        </p:spPr>
        <p:txBody>
          <a:bodyPr vert="horz" wrap="square" lIns="0" tIns="12700" rIns="0" bIns="0" rtlCol="0">
            <a:spAutoFit/>
          </a:bodyPr>
          <a:lstStyle/>
          <a:p>
            <a:pPr marL="293370" indent="-230504" rtl="0">
              <a:spcBef>
                <a:spcPts val="100"/>
              </a:spcBef>
              <a:buFont typeface="Arial MT"/>
              <a:buChar char="•"/>
              <a:tabLst>
                <a:tab pos="293370" algn="l"/>
                <a:tab pos="294005" algn="l"/>
              </a:tabLst>
            </a:pPr>
            <a:r>
              <a:rPr kern="1200" dirty="0">
                <a:solidFill>
                  <a:prstClr val="black"/>
                </a:solidFill>
                <a:latin typeface="Palatino Linotype"/>
                <a:cs typeface="Palatino Linotype"/>
              </a:rPr>
              <a:t>Array</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elements </a:t>
            </a:r>
            <a:r>
              <a:rPr kern="1200" dirty="0">
                <a:solidFill>
                  <a:prstClr val="black"/>
                </a:solidFill>
                <a:latin typeface="Palatino Linotype"/>
                <a:cs typeface="Palatino Linotype"/>
              </a:rPr>
              <a:t>can</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be</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accessed</a:t>
            </a:r>
            <a:r>
              <a:rPr kern="1200" spc="-25" dirty="0">
                <a:solidFill>
                  <a:prstClr val="black"/>
                </a:solidFill>
                <a:latin typeface="Palatino Linotype"/>
                <a:cs typeface="Palatino Linotype"/>
              </a:rPr>
              <a:t> </a:t>
            </a:r>
            <a:r>
              <a:rPr kern="1200" spc="-5" dirty="0">
                <a:solidFill>
                  <a:prstClr val="black"/>
                </a:solidFill>
                <a:latin typeface="Palatino Linotype"/>
                <a:cs typeface="Palatino Linotype"/>
              </a:rPr>
              <a:t>quickly </a:t>
            </a:r>
            <a:r>
              <a:rPr kern="1200" dirty="0">
                <a:solidFill>
                  <a:prstClr val="black"/>
                </a:solidFill>
                <a:latin typeface="Palatino Linotype"/>
                <a:cs typeface="Palatino Linotype"/>
              </a:rPr>
              <a:t>if</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they </a:t>
            </a:r>
            <a:r>
              <a:rPr kern="1200" dirty="0">
                <a:solidFill>
                  <a:prstClr val="black"/>
                </a:solidFill>
                <a:latin typeface="Palatino Linotype"/>
                <a:cs typeface="Palatino Linotype"/>
              </a:rPr>
              <a:t>are </a:t>
            </a:r>
            <a:r>
              <a:rPr kern="1200" spc="-5" dirty="0">
                <a:solidFill>
                  <a:prstClr val="black"/>
                </a:solidFill>
                <a:latin typeface="Palatino Linotype"/>
                <a:cs typeface="Palatino Linotype"/>
              </a:rPr>
              <a:t>stored consecutively</a:t>
            </a:r>
            <a:endParaRPr kern="1200" dirty="0">
              <a:solidFill>
                <a:prstClr val="black"/>
              </a:solidFill>
              <a:latin typeface="Palatino Linotype"/>
              <a:cs typeface="Palatino Linotype"/>
            </a:endParaRPr>
          </a:p>
          <a:p>
            <a:pPr rtl="0">
              <a:spcBef>
                <a:spcPts val="5"/>
              </a:spcBef>
              <a:buFont typeface="Arial MT"/>
              <a:buChar char="•"/>
            </a:pPr>
            <a:endParaRPr sz="1650" kern="1200" dirty="0">
              <a:solidFill>
                <a:prstClr val="black"/>
              </a:solidFill>
              <a:latin typeface="Palatino Linotype"/>
              <a:cs typeface="Palatino Linotype"/>
            </a:endParaRPr>
          </a:p>
          <a:p>
            <a:pPr marL="293370" indent="-230504" rtl="0">
              <a:buFont typeface="Arial MT"/>
              <a:buChar char="•"/>
              <a:tabLst>
                <a:tab pos="293370" algn="l"/>
                <a:tab pos="294005" algn="l"/>
              </a:tabLst>
            </a:pPr>
            <a:r>
              <a:rPr kern="1200" spc="-5" dirty="0">
                <a:solidFill>
                  <a:prstClr val="black"/>
                </a:solidFill>
                <a:latin typeface="Palatino Linotype"/>
                <a:cs typeface="Palatino Linotype"/>
              </a:rPr>
              <a:t>For</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an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array</a:t>
            </a:r>
            <a:r>
              <a:rPr kern="1200" spc="15" dirty="0">
                <a:solidFill>
                  <a:prstClr val="black"/>
                </a:solidFill>
                <a:latin typeface="Palatino Linotype"/>
                <a:cs typeface="Palatino Linotype"/>
              </a:rPr>
              <a:t> </a:t>
            </a:r>
            <a:r>
              <a:rPr kern="1200" dirty="0">
                <a:solidFill>
                  <a:prstClr val="black"/>
                </a:solidFill>
                <a:latin typeface="Cambria Math"/>
                <a:cs typeface="Cambria Math"/>
              </a:rPr>
              <a:t>𝐴</a:t>
            </a:r>
            <a:r>
              <a:rPr kern="1200" spc="65" dirty="0">
                <a:solidFill>
                  <a:prstClr val="black"/>
                </a:solidFill>
                <a:latin typeface="Cambria Math"/>
                <a:cs typeface="Cambria Math"/>
              </a:rPr>
              <a:t> </a:t>
            </a:r>
            <a:r>
              <a:rPr kern="1200" dirty="0">
                <a:solidFill>
                  <a:prstClr val="black"/>
                </a:solidFill>
                <a:latin typeface="Palatino Linotype"/>
                <a:cs typeface="Palatino Linotype"/>
              </a:rPr>
              <a:t>with</a:t>
            </a:r>
            <a:r>
              <a:rPr kern="1200" spc="-10" dirty="0">
                <a:solidFill>
                  <a:prstClr val="black"/>
                </a:solidFill>
                <a:latin typeface="Palatino Linotype"/>
                <a:cs typeface="Palatino Linotype"/>
              </a:rPr>
              <a:t> </a:t>
            </a:r>
            <a:r>
              <a:rPr kern="1200" dirty="0">
                <a:solidFill>
                  <a:prstClr val="black"/>
                </a:solidFill>
                <a:latin typeface="Cambria Math"/>
                <a:cs typeface="Cambria Math"/>
              </a:rPr>
              <a:t>𝑛</a:t>
            </a:r>
            <a:r>
              <a:rPr kern="1200" spc="85" dirty="0">
                <a:solidFill>
                  <a:prstClr val="black"/>
                </a:solidFill>
                <a:latin typeface="Cambria Math"/>
                <a:cs typeface="Cambria Math"/>
              </a:rPr>
              <a:t> </a:t>
            </a:r>
            <a:r>
              <a:rPr kern="1200" spc="-5" dirty="0">
                <a:solidFill>
                  <a:prstClr val="black"/>
                </a:solidFill>
                <a:latin typeface="Palatino Linotype"/>
                <a:cs typeface="Palatino Linotype"/>
              </a:rPr>
              <a:t>elements,</a:t>
            </a:r>
            <a:r>
              <a:rPr kern="1200" spc="-20" dirty="0">
                <a:solidFill>
                  <a:prstClr val="black"/>
                </a:solidFill>
                <a:latin typeface="Palatino Linotype"/>
                <a:cs typeface="Palatino Linotype"/>
              </a:rPr>
              <a:t> </a:t>
            </a:r>
            <a:r>
              <a:rPr kern="1200" spc="-5" dirty="0">
                <a:solidFill>
                  <a:prstClr val="black"/>
                </a:solidFill>
                <a:latin typeface="Palatino Linotype"/>
                <a:cs typeface="Palatino Linotype"/>
              </a:rPr>
              <a:t>the</a:t>
            </a:r>
            <a:r>
              <a:rPr kern="1200" spc="15" dirty="0">
                <a:solidFill>
                  <a:prstClr val="black"/>
                </a:solidFill>
                <a:latin typeface="Palatino Linotype"/>
                <a:cs typeface="Palatino Linotype"/>
              </a:rPr>
              <a:t> </a:t>
            </a:r>
            <a:r>
              <a:rPr kern="1200" spc="-5" dirty="0">
                <a:solidFill>
                  <a:srgbClr val="FF0000"/>
                </a:solidFill>
                <a:latin typeface="Palatino Linotype"/>
                <a:cs typeface="Palatino Linotype"/>
              </a:rPr>
              <a:t>relative </a:t>
            </a:r>
            <a:r>
              <a:rPr kern="1200" dirty="0">
                <a:solidFill>
                  <a:srgbClr val="FF0000"/>
                </a:solidFill>
                <a:latin typeface="Palatino Linotype"/>
                <a:cs typeface="Palatino Linotype"/>
              </a:rPr>
              <a:t>address</a:t>
            </a:r>
            <a:r>
              <a:rPr kern="1200" spc="-15" dirty="0">
                <a:solidFill>
                  <a:srgbClr val="FF0000"/>
                </a:solidFill>
                <a:latin typeface="Palatino Linotype"/>
                <a:cs typeface="Palatino Linotype"/>
              </a:rPr>
              <a:t> </a:t>
            </a:r>
            <a:r>
              <a:rPr kern="1200" dirty="0">
                <a:solidFill>
                  <a:srgbClr val="FF0000"/>
                </a:solidFill>
                <a:latin typeface="Palatino Linotype"/>
                <a:cs typeface="Palatino Linotype"/>
              </a:rPr>
              <a:t>of</a:t>
            </a:r>
            <a:r>
              <a:rPr kern="1200" spc="5" dirty="0">
                <a:solidFill>
                  <a:srgbClr val="FF0000"/>
                </a:solidFill>
                <a:latin typeface="Palatino Linotype"/>
                <a:cs typeface="Palatino Linotype"/>
              </a:rPr>
              <a:t> </a:t>
            </a:r>
            <a:r>
              <a:rPr kern="1200" spc="15" dirty="0">
                <a:solidFill>
                  <a:srgbClr val="FF0000"/>
                </a:solidFill>
                <a:latin typeface="Cambria Math"/>
                <a:cs typeface="Cambria Math"/>
              </a:rPr>
              <a:t>𝐴[𝑖]</a:t>
            </a:r>
            <a:r>
              <a:rPr kern="1200" spc="45" dirty="0">
                <a:solidFill>
                  <a:srgbClr val="FF0000"/>
                </a:solidFill>
                <a:latin typeface="Cambria Math"/>
                <a:cs typeface="Cambria Math"/>
              </a:rPr>
              <a:t> </a:t>
            </a:r>
            <a:r>
              <a:rPr kern="1200" dirty="0">
                <a:solidFill>
                  <a:prstClr val="black"/>
                </a:solidFill>
                <a:latin typeface="Palatino Linotype"/>
                <a:cs typeface="Palatino Linotype"/>
              </a:rPr>
              <a:t>is:</a:t>
            </a:r>
          </a:p>
          <a:p>
            <a:pPr marL="748665" lvl="1" indent="-228600" rtl="0">
              <a:spcBef>
                <a:spcPts val="1005"/>
              </a:spcBef>
              <a:buClr>
                <a:srgbClr val="000000"/>
              </a:buClr>
              <a:buFont typeface="Wingdings"/>
              <a:buChar char=""/>
              <a:tabLst>
                <a:tab pos="748665" algn="l"/>
                <a:tab pos="749300" algn="l"/>
              </a:tabLst>
            </a:pPr>
            <a:r>
              <a:rPr sz="1500" kern="1200" dirty="0">
                <a:solidFill>
                  <a:srgbClr val="0431FF"/>
                </a:solidFill>
                <a:latin typeface="Cambria Math"/>
                <a:cs typeface="Cambria Math"/>
              </a:rPr>
              <a:t>𝒃𝒂𝒔𝒆</a:t>
            </a:r>
            <a:r>
              <a:rPr sz="1500" kern="1200" spc="-5" dirty="0">
                <a:solidFill>
                  <a:srgbClr val="0431FF"/>
                </a:solidFill>
                <a:latin typeface="Cambria Math"/>
                <a:cs typeface="Cambria Math"/>
              </a:rPr>
              <a:t> </a:t>
            </a:r>
            <a:r>
              <a:rPr sz="1500" kern="1200" dirty="0">
                <a:solidFill>
                  <a:srgbClr val="0431FF"/>
                </a:solidFill>
                <a:latin typeface="Cambria Math"/>
                <a:cs typeface="Cambria Math"/>
              </a:rPr>
              <a:t>+</a:t>
            </a:r>
            <a:r>
              <a:rPr sz="1500" kern="1200" spc="15" dirty="0">
                <a:solidFill>
                  <a:srgbClr val="0431FF"/>
                </a:solidFill>
                <a:latin typeface="Cambria Math"/>
                <a:cs typeface="Cambria Math"/>
              </a:rPr>
              <a:t> </a:t>
            </a:r>
            <a:r>
              <a:rPr sz="1500" kern="1200" dirty="0">
                <a:solidFill>
                  <a:srgbClr val="0431FF"/>
                </a:solidFill>
                <a:latin typeface="Cambria Math"/>
                <a:cs typeface="Cambria Math"/>
              </a:rPr>
              <a:t>𝒊 ∗</a:t>
            </a:r>
            <a:r>
              <a:rPr sz="1500" kern="1200" spc="15" dirty="0">
                <a:solidFill>
                  <a:srgbClr val="0431FF"/>
                </a:solidFill>
                <a:latin typeface="Cambria Math"/>
                <a:cs typeface="Cambria Math"/>
              </a:rPr>
              <a:t> </a:t>
            </a:r>
            <a:r>
              <a:rPr sz="1500" kern="1200" dirty="0">
                <a:solidFill>
                  <a:srgbClr val="0431FF"/>
                </a:solidFill>
                <a:latin typeface="Cambria Math"/>
                <a:cs typeface="Cambria Math"/>
              </a:rPr>
              <a:t>𝒘</a:t>
            </a:r>
            <a:r>
              <a:rPr sz="1500" kern="1200" spc="50" dirty="0">
                <a:solidFill>
                  <a:srgbClr val="0431FF"/>
                </a:solidFill>
                <a:latin typeface="Cambria Math"/>
                <a:cs typeface="Cambria Math"/>
              </a:rPr>
              <a:t> </a:t>
            </a:r>
            <a:r>
              <a:rPr sz="1500" kern="1200" spc="-5" dirty="0">
                <a:solidFill>
                  <a:prstClr val="black"/>
                </a:solidFill>
                <a:latin typeface="Palatino Linotype"/>
                <a:cs typeface="Palatino Linotype"/>
              </a:rPr>
              <a:t>(</a:t>
            </a:r>
            <a:r>
              <a:rPr sz="1500" kern="1200" spc="-5" dirty="0">
                <a:solidFill>
                  <a:srgbClr val="0431FF"/>
                </a:solidFill>
                <a:latin typeface="Cambria Math"/>
                <a:cs typeface="Cambria Math"/>
              </a:rPr>
              <a:t>𝑏𝑎𝑠𝑒</a:t>
            </a:r>
            <a:r>
              <a:rPr sz="1500" kern="1200" spc="80" dirty="0">
                <a:solidFill>
                  <a:srgbClr val="0431FF"/>
                </a:solidFill>
                <a:latin typeface="Cambria Math"/>
                <a:cs typeface="Cambria Math"/>
              </a:rPr>
              <a:t> </a:t>
            </a:r>
            <a:r>
              <a:rPr sz="1500" kern="1200" spc="-5" dirty="0">
                <a:solidFill>
                  <a:prstClr val="black"/>
                </a:solidFill>
                <a:latin typeface="Palatino Linotype"/>
                <a:cs typeface="Palatino Linotype"/>
              </a:rPr>
              <a:t>is</a:t>
            </a:r>
            <a:r>
              <a:rPr sz="1500" kern="1200" spc="5" dirty="0">
                <a:solidFill>
                  <a:prstClr val="black"/>
                </a:solidFill>
                <a:latin typeface="Palatino Linotype"/>
                <a:cs typeface="Palatino Linotype"/>
              </a:rPr>
              <a:t> </a:t>
            </a:r>
            <a:r>
              <a:rPr sz="1500" kern="1200" spc="-5" dirty="0">
                <a:solidFill>
                  <a:prstClr val="black"/>
                </a:solidFill>
                <a:latin typeface="Palatino Linotype"/>
                <a:cs typeface="Palatino Linotype"/>
              </a:rPr>
              <a:t>the</a:t>
            </a:r>
            <a:r>
              <a:rPr sz="1500" kern="1200" spc="-10" dirty="0">
                <a:solidFill>
                  <a:prstClr val="black"/>
                </a:solidFill>
                <a:latin typeface="Palatino Linotype"/>
                <a:cs typeface="Palatino Linotype"/>
              </a:rPr>
              <a:t> relative </a:t>
            </a:r>
            <a:r>
              <a:rPr sz="1500" kern="1200" spc="-5" dirty="0">
                <a:solidFill>
                  <a:prstClr val="black"/>
                </a:solidFill>
                <a:latin typeface="Palatino Linotype"/>
                <a:cs typeface="Palatino Linotype"/>
              </a:rPr>
              <a:t>address</a:t>
            </a:r>
            <a:r>
              <a:rPr sz="1500" kern="1200" spc="-20" dirty="0">
                <a:solidFill>
                  <a:prstClr val="black"/>
                </a:solidFill>
                <a:latin typeface="Palatino Linotype"/>
                <a:cs typeface="Palatino Linotype"/>
              </a:rPr>
              <a:t> </a:t>
            </a:r>
            <a:r>
              <a:rPr sz="1500" kern="1200" dirty="0">
                <a:solidFill>
                  <a:prstClr val="black"/>
                </a:solidFill>
                <a:latin typeface="Palatino Linotype"/>
                <a:cs typeface="Palatino Linotype"/>
              </a:rPr>
              <a:t>of</a:t>
            </a:r>
            <a:r>
              <a:rPr sz="1500" kern="1200" spc="20" dirty="0">
                <a:solidFill>
                  <a:prstClr val="black"/>
                </a:solidFill>
                <a:latin typeface="Palatino Linotype"/>
                <a:cs typeface="Palatino Linotype"/>
              </a:rPr>
              <a:t> </a:t>
            </a:r>
            <a:r>
              <a:rPr sz="1500" kern="1200" dirty="0">
                <a:solidFill>
                  <a:prstClr val="black"/>
                </a:solidFill>
                <a:latin typeface="Cambria Math"/>
                <a:cs typeface="Cambria Math"/>
              </a:rPr>
              <a:t>𝐴[0]</a:t>
            </a:r>
            <a:r>
              <a:rPr sz="1500" kern="1200" dirty="0">
                <a:solidFill>
                  <a:prstClr val="black"/>
                </a:solidFill>
                <a:latin typeface="Palatino Linotype"/>
                <a:cs typeface="Palatino Linotype"/>
              </a:rPr>
              <a:t>,</a:t>
            </a:r>
            <a:r>
              <a:rPr sz="1500" kern="1200" spc="-5" dirty="0">
                <a:solidFill>
                  <a:prstClr val="black"/>
                </a:solidFill>
                <a:latin typeface="Palatino Linotype"/>
                <a:cs typeface="Palatino Linotype"/>
              </a:rPr>
              <a:t> </a:t>
            </a:r>
            <a:r>
              <a:rPr sz="1500" kern="1200" dirty="0">
                <a:solidFill>
                  <a:srgbClr val="0431FF"/>
                </a:solidFill>
                <a:latin typeface="Cambria Math"/>
                <a:cs typeface="Cambria Math"/>
              </a:rPr>
              <a:t>𝑤</a:t>
            </a:r>
            <a:r>
              <a:rPr sz="1500" kern="1200" spc="100" dirty="0">
                <a:solidFill>
                  <a:srgbClr val="0431FF"/>
                </a:solidFill>
                <a:latin typeface="Cambria Math"/>
                <a:cs typeface="Cambria Math"/>
              </a:rPr>
              <a:t> </a:t>
            </a:r>
            <a:r>
              <a:rPr sz="1500" kern="1200" spc="-5" dirty="0">
                <a:solidFill>
                  <a:prstClr val="black"/>
                </a:solidFill>
                <a:latin typeface="Palatino Linotype"/>
                <a:cs typeface="Palatino Linotype"/>
              </a:rPr>
              <a:t>is</a:t>
            </a:r>
            <a:r>
              <a:rPr sz="1500" kern="1200" spc="5" dirty="0">
                <a:solidFill>
                  <a:prstClr val="black"/>
                </a:solidFill>
                <a:latin typeface="Palatino Linotype"/>
                <a:cs typeface="Palatino Linotype"/>
              </a:rPr>
              <a:t> </a:t>
            </a:r>
            <a:r>
              <a:rPr sz="1500" kern="1200" spc="-5" dirty="0">
                <a:solidFill>
                  <a:prstClr val="black"/>
                </a:solidFill>
                <a:latin typeface="Palatino Linotype"/>
                <a:cs typeface="Palatino Linotype"/>
              </a:rPr>
              <a:t>the</a:t>
            </a:r>
            <a:r>
              <a:rPr sz="1500" kern="1200" spc="-10" dirty="0">
                <a:solidFill>
                  <a:prstClr val="black"/>
                </a:solidFill>
                <a:latin typeface="Palatino Linotype"/>
                <a:cs typeface="Palatino Linotype"/>
              </a:rPr>
              <a:t> </a:t>
            </a:r>
            <a:r>
              <a:rPr sz="1500" kern="1200" spc="-5" dirty="0">
                <a:solidFill>
                  <a:prstClr val="black"/>
                </a:solidFill>
                <a:latin typeface="Palatino Linotype"/>
                <a:cs typeface="Palatino Linotype"/>
              </a:rPr>
              <a:t>width</a:t>
            </a:r>
            <a:r>
              <a:rPr sz="1500" kern="1200" spc="5" dirty="0">
                <a:solidFill>
                  <a:prstClr val="black"/>
                </a:solidFill>
                <a:latin typeface="Palatino Linotype"/>
                <a:cs typeface="Palatino Linotype"/>
              </a:rPr>
              <a:t> </a:t>
            </a:r>
            <a:r>
              <a:rPr sz="1500" kern="1200" dirty="0">
                <a:solidFill>
                  <a:prstClr val="black"/>
                </a:solidFill>
                <a:latin typeface="Palatino Linotype"/>
                <a:cs typeface="Palatino Linotype"/>
              </a:rPr>
              <a:t>of</a:t>
            </a:r>
            <a:r>
              <a:rPr sz="1500" kern="1200" spc="5" dirty="0">
                <a:solidFill>
                  <a:prstClr val="black"/>
                </a:solidFill>
                <a:latin typeface="Palatino Linotype"/>
                <a:cs typeface="Palatino Linotype"/>
              </a:rPr>
              <a:t> </a:t>
            </a:r>
            <a:r>
              <a:rPr sz="1500" kern="1200" dirty="0">
                <a:solidFill>
                  <a:prstClr val="black"/>
                </a:solidFill>
                <a:latin typeface="Palatino Linotype"/>
                <a:cs typeface="Palatino Linotype"/>
              </a:rPr>
              <a:t>an</a:t>
            </a:r>
            <a:r>
              <a:rPr sz="1500" kern="1200" spc="5" dirty="0">
                <a:solidFill>
                  <a:prstClr val="black"/>
                </a:solidFill>
                <a:latin typeface="Palatino Linotype"/>
                <a:cs typeface="Palatino Linotype"/>
              </a:rPr>
              <a:t> </a:t>
            </a:r>
            <a:r>
              <a:rPr sz="1500" kern="1200" spc="-5" dirty="0">
                <a:solidFill>
                  <a:prstClr val="black"/>
                </a:solidFill>
                <a:latin typeface="Palatino Linotype"/>
                <a:cs typeface="Palatino Linotype"/>
              </a:rPr>
              <a:t>element)</a:t>
            </a:r>
            <a:endParaRPr sz="1500" kern="1200" dirty="0">
              <a:solidFill>
                <a:prstClr val="black"/>
              </a:solidFill>
              <a:latin typeface="Palatino Linotype"/>
              <a:cs typeface="Palatino Linotype"/>
            </a:endParaRPr>
          </a:p>
          <a:p>
            <a:pPr lvl="1" rtl="0">
              <a:spcBef>
                <a:spcPts val="30"/>
              </a:spcBef>
              <a:buFontTx/>
              <a:buChar char=""/>
            </a:pPr>
            <a:endParaRPr sz="1600" kern="1200" dirty="0">
              <a:solidFill>
                <a:prstClr val="black"/>
              </a:solidFill>
              <a:latin typeface="Palatino Linotype"/>
              <a:cs typeface="Palatino Linotype"/>
            </a:endParaRPr>
          </a:p>
          <a:p>
            <a:pPr marL="293370" indent="-230504" rtl="0">
              <a:buFont typeface="Arial MT"/>
              <a:buChar char="•"/>
              <a:tabLst>
                <a:tab pos="293370" algn="l"/>
                <a:tab pos="294005" algn="l"/>
              </a:tabLst>
            </a:pPr>
            <a:r>
              <a:rPr kern="1200" spc="-5" dirty="0">
                <a:solidFill>
                  <a:prstClr val="black"/>
                </a:solidFill>
                <a:latin typeface="Palatino Linotype"/>
                <a:cs typeface="Palatino Linotype"/>
              </a:rPr>
              <a:t>For </a:t>
            </a:r>
            <a:r>
              <a:rPr kern="1200" dirty="0">
                <a:solidFill>
                  <a:prstClr val="black"/>
                </a:solidFill>
                <a:latin typeface="Palatino Linotype"/>
                <a:cs typeface="Palatino Linotype"/>
              </a:rPr>
              <a:t>a 2D</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array</a:t>
            </a:r>
            <a:r>
              <a:rPr kern="1200" spc="20" dirty="0">
                <a:solidFill>
                  <a:prstClr val="black"/>
                </a:solidFill>
                <a:latin typeface="Palatino Linotype"/>
                <a:cs typeface="Palatino Linotype"/>
              </a:rPr>
              <a:t> </a:t>
            </a:r>
            <a:r>
              <a:rPr kern="1200" dirty="0">
                <a:solidFill>
                  <a:prstClr val="black"/>
                </a:solidFill>
                <a:latin typeface="Cambria Math"/>
                <a:cs typeface="Cambria Math"/>
              </a:rPr>
              <a:t>𝐴</a:t>
            </a:r>
            <a:r>
              <a:rPr kern="1200" spc="55" dirty="0">
                <a:solidFill>
                  <a:prstClr val="black"/>
                </a:solidFill>
                <a:latin typeface="Cambria Math"/>
                <a:cs typeface="Cambria Math"/>
              </a:rPr>
              <a:t> </a:t>
            </a:r>
            <a:r>
              <a:rPr kern="1200" spc="-5" dirty="0">
                <a:solidFill>
                  <a:prstClr val="black"/>
                </a:solidFill>
                <a:latin typeface="Palatino Linotype"/>
                <a:cs typeface="Palatino Linotype"/>
              </a:rPr>
              <a:t>(row-major</a:t>
            </a:r>
            <a:r>
              <a:rPr kern="1200" spc="25" dirty="0">
                <a:solidFill>
                  <a:prstClr val="black"/>
                </a:solidFill>
                <a:latin typeface="Palatino Linotype"/>
                <a:cs typeface="Palatino Linotype"/>
              </a:rPr>
              <a:t> </a:t>
            </a:r>
            <a:r>
              <a:rPr kern="1200" spc="-5" dirty="0">
                <a:solidFill>
                  <a:prstClr val="black"/>
                </a:solidFill>
                <a:latin typeface="Palatino Linotype"/>
                <a:cs typeface="Palatino Linotype"/>
              </a:rPr>
              <a:t>layout),</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the relative</a:t>
            </a:r>
            <a:r>
              <a:rPr kern="1200" dirty="0">
                <a:solidFill>
                  <a:prstClr val="black"/>
                </a:solidFill>
                <a:latin typeface="Palatino Linotype"/>
                <a:cs typeface="Palatino Linotype"/>
              </a:rPr>
              <a:t> address</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of</a:t>
            </a:r>
            <a:r>
              <a:rPr kern="1200" spc="15" dirty="0">
                <a:solidFill>
                  <a:prstClr val="black"/>
                </a:solidFill>
                <a:latin typeface="Palatino Linotype"/>
                <a:cs typeface="Palatino Linotype"/>
              </a:rPr>
              <a:t> </a:t>
            </a:r>
            <a:r>
              <a:rPr kern="1200" dirty="0">
                <a:solidFill>
                  <a:prstClr val="black"/>
                </a:solidFill>
                <a:latin typeface="Cambria Math"/>
                <a:cs typeface="Cambria Math"/>
              </a:rPr>
              <a:t>𝐴</a:t>
            </a:r>
            <a:r>
              <a:rPr lang="en-US" kern="1200" dirty="0">
                <a:solidFill>
                  <a:prstClr val="black"/>
                </a:solidFill>
                <a:latin typeface="Cambria Math"/>
                <a:cs typeface="Cambria Math"/>
              </a:rPr>
              <a:t>[</a:t>
            </a:r>
            <a:r>
              <a:rPr kern="1200" dirty="0">
                <a:solidFill>
                  <a:prstClr val="black"/>
                </a:solidFill>
                <a:latin typeface="Cambria Math"/>
                <a:cs typeface="Cambria Math"/>
              </a:rPr>
              <a:t>𝑖</a:t>
            </a:r>
            <a:r>
              <a:rPr sz="1950" kern="1200" baseline="-14957" dirty="0">
                <a:solidFill>
                  <a:prstClr val="black"/>
                </a:solidFill>
                <a:latin typeface="Cambria Math"/>
                <a:cs typeface="Cambria Math"/>
              </a:rPr>
              <a:t>1</a:t>
            </a:r>
            <a:r>
              <a:rPr lang="en-US" kern="1200" spc="20" dirty="0">
                <a:solidFill>
                  <a:prstClr val="black"/>
                </a:solidFill>
                <a:latin typeface="Cambria Math"/>
                <a:cs typeface="Cambria Math"/>
              </a:rPr>
              <a:t>][</a:t>
            </a:r>
            <a:r>
              <a:rPr kern="1200" spc="20" dirty="0">
                <a:solidFill>
                  <a:prstClr val="black"/>
                </a:solidFill>
                <a:latin typeface="Cambria Math"/>
                <a:cs typeface="Cambria Math"/>
              </a:rPr>
              <a:t>𝑖</a:t>
            </a:r>
            <a:r>
              <a:rPr sz="1950" kern="1200" spc="30" baseline="-14957" dirty="0">
                <a:solidFill>
                  <a:prstClr val="black"/>
                </a:solidFill>
                <a:latin typeface="Cambria Math"/>
                <a:cs typeface="Cambria Math"/>
              </a:rPr>
              <a:t>2</a:t>
            </a:r>
            <a:r>
              <a:rPr kern="1200" spc="20" dirty="0">
                <a:solidFill>
                  <a:prstClr val="black"/>
                </a:solidFill>
                <a:latin typeface="Cambria Math"/>
                <a:cs typeface="Cambria Math"/>
              </a:rPr>
              <a:t>]</a:t>
            </a:r>
            <a:r>
              <a:rPr kern="1200" spc="30" dirty="0">
                <a:solidFill>
                  <a:prstClr val="black"/>
                </a:solidFill>
                <a:latin typeface="Cambria Math"/>
                <a:cs typeface="Cambria Math"/>
              </a:rPr>
              <a:t> </a:t>
            </a:r>
            <a:r>
              <a:rPr kern="1200" dirty="0">
                <a:solidFill>
                  <a:prstClr val="black"/>
                </a:solidFill>
                <a:latin typeface="Palatino Linotype"/>
                <a:cs typeface="Palatino Linotype"/>
              </a:rPr>
              <a:t>is:</a:t>
            </a:r>
          </a:p>
          <a:p>
            <a:pPr marL="748665" lvl="1" indent="-228600" rtl="0">
              <a:spcBef>
                <a:spcPts val="1010"/>
              </a:spcBef>
              <a:buClr>
                <a:srgbClr val="000000"/>
              </a:buClr>
              <a:buFont typeface="Wingdings"/>
              <a:buChar char=""/>
              <a:tabLst>
                <a:tab pos="748665" algn="l"/>
                <a:tab pos="749300" algn="l"/>
              </a:tabLst>
            </a:pPr>
            <a:r>
              <a:rPr sz="1500" kern="1200" dirty="0">
                <a:solidFill>
                  <a:srgbClr val="0431FF"/>
                </a:solidFill>
                <a:latin typeface="Cambria Math"/>
                <a:cs typeface="Cambria Math"/>
              </a:rPr>
              <a:t>𝒃𝒂𝒔𝒆</a:t>
            </a:r>
            <a:r>
              <a:rPr sz="1500" kern="1200" spc="320" dirty="0">
                <a:solidFill>
                  <a:srgbClr val="0431FF"/>
                </a:solidFill>
                <a:latin typeface="Cambria Math"/>
                <a:cs typeface="Cambria Math"/>
              </a:rPr>
              <a:t> </a:t>
            </a:r>
            <a:r>
              <a:rPr sz="1500" kern="1200" dirty="0">
                <a:solidFill>
                  <a:srgbClr val="0431FF"/>
                </a:solidFill>
                <a:latin typeface="Cambria Math"/>
                <a:cs typeface="Cambria Math"/>
              </a:rPr>
              <a:t>+</a:t>
            </a:r>
            <a:r>
              <a:rPr sz="1500" kern="1200" spc="10" dirty="0">
                <a:solidFill>
                  <a:srgbClr val="0431FF"/>
                </a:solidFill>
                <a:latin typeface="Cambria Math"/>
                <a:cs typeface="Cambria Math"/>
              </a:rPr>
              <a:t> </a:t>
            </a:r>
            <a:r>
              <a:rPr sz="1500" kern="1200" spc="-5" dirty="0">
                <a:solidFill>
                  <a:srgbClr val="0431FF"/>
                </a:solidFill>
                <a:latin typeface="Cambria Math"/>
                <a:cs typeface="Cambria Math"/>
              </a:rPr>
              <a:t>𝒊</a:t>
            </a:r>
            <a:r>
              <a:rPr sz="1650" kern="1200" spc="-7" baseline="-15151" dirty="0">
                <a:solidFill>
                  <a:srgbClr val="0431FF"/>
                </a:solidFill>
                <a:latin typeface="Cambria Math"/>
                <a:cs typeface="Cambria Math"/>
              </a:rPr>
              <a:t>𝟏</a:t>
            </a:r>
            <a:r>
              <a:rPr sz="1650" kern="1200" spc="240" baseline="-15151" dirty="0">
                <a:solidFill>
                  <a:srgbClr val="0431FF"/>
                </a:solidFill>
                <a:latin typeface="Cambria Math"/>
                <a:cs typeface="Cambria Math"/>
              </a:rPr>
              <a:t> </a:t>
            </a:r>
            <a:r>
              <a:rPr sz="1500" kern="1200" dirty="0">
                <a:solidFill>
                  <a:srgbClr val="0431FF"/>
                </a:solidFill>
                <a:latin typeface="Cambria Math"/>
                <a:cs typeface="Cambria Math"/>
              </a:rPr>
              <a:t>∗ 𝒘</a:t>
            </a:r>
            <a:r>
              <a:rPr sz="1650" kern="1200" baseline="-15151" dirty="0">
                <a:solidFill>
                  <a:srgbClr val="0431FF"/>
                </a:solidFill>
                <a:latin typeface="Cambria Math"/>
                <a:cs typeface="Cambria Math"/>
              </a:rPr>
              <a:t>𝟏</a:t>
            </a:r>
            <a:r>
              <a:rPr sz="1650" kern="1200" spc="217" baseline="-15151" dirty="0">
                <a:solidFill>
                  <a:srgbClr val="0431FF"/>
                </a:solidFill>
                <a:latin typeface="Cambria Math"/>
                <a:cs typeface="Cambria Math"/>
              </a:rPr>
              <a:t> </a:t>
            </a:r>
            <a:r>
              <a:rPr sz="1500" kern="1200" dirty="0">
                <a:solidFill>
                  <a:srgbClr val="0431FF"/>
                </a:solidFill>
                <a:latin typeface="Cambria Math"/>
                <a:cs typeface="Cambria Math"/>
              </a:rPr>
              <a:t>+</a:t>
            </a:r>
            <a:r>
              <a:rPr sz="1500" kern="1200" spc="10" dirty="0">
                <a:solidFill>
                  <a:srgbClr val="0431FF"/>
                </a:solidFill>
                <a:latin typeface="Cambria Math"/>
                <a:cs typeface="Cambria Math"/>
              </a:rPr>
              <a:t> </a:t>
            </a:r>
            <a:r>
              <a:rPr sz="1500" kern="1200" spc="-5" dirty="0">
                <a:solidFill>
                  <a:srgbClr val="0431FF"/>
                </a:solidFill>
                <a:latin typeface="Cambria Math"/>
                <a:cs typeface="Cambria Math"/>
              </a:rPr>
              <a:t>𝒊</a:t>
            </a:r>
            <a:r>
              <a:rPr sz="1650" kern="1200" spc="-7" baseline="-15151" dirty="0">
                <a:solidFill>
                  <a:srgbClr val="0431FF"/>
                </a:solidFill>
                <a:latin typeface="Cambria Math"/>
                <a:cs typeface="Cambria Math"/>
              </a:rPr>
              <a:t>𝟐</a:t>
            </a:r>
            <a:r>
              <a:rPr sz="1650" kern="1200" spc="232" baseline="-15151" dirty="0">
                <a:solidFill>
                  <a:srgbClr val="0431FF"/>
                </a:solidFill>
                <a:latin typeface="Cambria Math"/>
                <a:cs typeface="Cambria Math"/>
              </a:rPr>
              <a:t> </a:t>
            </a:r>
            <a:r>
              <a:rPr sz="1500" kern="1200" dirty="0">
                <a:solidFill>
                  <a:srgbClr val="0431FF"/>
                </a:solidFill>
                <a:latin typeface="Cambria Math"/>
                <a:cs typeface="Cambria Math"/>
              </a:rPr>
              <a:t>∗ 𝒘</a:t>
            </a:r>
            <a:r>
              <a:rPr sz="1650" kern="1200" baseline="-15151" dirty="0">
                <a:solidFill>
                  <a:srgbClr val="0431FF"/>
                </a:solidFill>
                <a:latin typeface="Cambria Math"/>
                <a:cs typeface="Cambria Math"/>
              </a:rPr>
              <a:t>𝟐</a:t>
            </a:r>
            <a:r>
              <a:rPr sz="1650" kern="1200" spc="270" baseline="-15151" dirty="0">
                <a:solidFill>
                  <a:srgbClr val="0431FF"/>
                </a:solidFill>
                <a:latin typeface="Cambria Math"/>
                <a:cs typeface="Cambria Math"/>
              </a:rPr>
              <a:t> </a:t>
            </a:r>
            <a:r>
              <a:rPr sz="1500" kern="1200" spc="-25" dirty="0">
                <a:solidFill>
                  <a:prstClr val="black"/>
                </a:solidFill>
                <a:latin typeface="Palatino Linotype"/>
                <a:cs typeface="Palatino Linotype"/>
              </a:rPr>
              <a:t>(</a:t>
            </a:r>
            <a:r>
              <a:rPr sz="1500" kern="1200" spc="-25" dirty="0">
                <a:solidFill>
                  <a:srgbClr val="0431FF"/>
                </a:solidFill>
                <a:latin typeface="Cambria Math"/>
                <a:cs typeface="Cambria Math"/>
              </a:rPr>
              <a:t>𝑤</a:t>
            </a:r>
            <a:r>
              <a:rPr sz="1650" kern="1200" spc="-37" baseline="-15151" dirty="0">
                <a:solidFill>
                  <a:srgbClr val="0431FF"/>
                </a:solidFill>
                <a:latin typeface="Cambria Math"/>
                <a:cs typeface="Cambria Math"/>
              </a:rPr>
              <a:t>1</a:t>
            </a:r>
            <a:r>
              <a:rPr sz="1650" kern="1200" spc="315" baseline="-15151" dirty="0">
                <a:solidFill>
                  <a:srgbClr val="0431FF"/>
                </a:solidFill>
                <a:latin typeface="Cambria Math"/>
                <a:cs typeface="Cambria Math"/>
              </a:rPr>
              <a:t> </a:t>
            </a:r>
            <a:r>
              <a:rPr sz="1500" kern="1200" spc="-5" dirty="0">
                <a:solidFill>
                  <a:prstClr val="black"/>
                </a:solidFill>
                <a:latin typeface="Palatino Linotype"/>
                <a:cs typeface="Palatino Linotype"/>
              </a:rPr>
              <a:t>is</a:t>
            </a:r>
            <a:r>
              <a:rPr sz="1500" kern="1200" spc="5" dirty="0">
                <a:solidFill>
                  <a:prstClr val="black"/>
                </a:solidFill>
                <a:latin typeface="Palatino Linotype"/>
                <a:cs typeface="Palatino Linotype"/>
              </a:rPr>
              <a:t> </a:t>
            </a:r>
            <a:r>
              <a:rPr sz="1500" kern="1200" spc="-5" dirty="0">
                <a:solidFill>
                  <a:prstClr val="black"/>
                </a:solidFill>
                <a:latin typeface="Palatino Linotype"/>
                <a:cs typeface="Palatino Linotype"/>
              </a:rPr>
              <a:t>the</a:t>
            </a:r>
            <a:r>
              <a:rPr sz="1500" kern="1200" spc="-15" dirty="0">
                <a:solidFill>
                  <a:prstClr val="black"/>
                </a:solidFill>
                <a:latin typeface="Palatino Linotype"/>
                <a:cs typeface="Palatino Linotype"/>
              </a:rPr>
              <a:t> </a:t>
            </a:r>
            <a:r>
              <a:rPr sz="1500" kern="1200" spc="-5" dirty="0">
                <a:solidFill>
                  <a:prstClr val="black"/>
                </a:solidFill>
                <a:latin typeface="Palatino Linotype"/>
                <a:cs typeface="Palatino Linotype"/>
              </a:rPr>
              <a:t>width</a:t>
            </a:r>
            <a:r>
              <a:rPr sz="1500" kern="1200" spc="5" dirty="0">
                <a:solidFill>
                  <a:prstClr val="black"/>
                </a:solidFill>
                <a:latin typeface="Palatino Linotype"/>
                <a:cs typeface="Palatino Linotype"/>
              </a:rPr>
              <a:t> </a:t>
            </a:r>
            <a:r>
              <a:rPr sz="1500" kern="1200" dirty="0">
                <a:solidFill>
                  <a:prstClr val="black"/>
                </a:solidFill>
                <a:latin typeface="Palatino Linotype"/>
                <a:cs typeface="Palatino Linotype"/>
              </a:rPr>
              <a:t>of a </a:t>
            </a:r>
            <a:r>
              <a:rPr sz="1500" kern="1200" spc="-40" dirty="0">
                <a:solidFill>
                  <a:prstClr val="black"/>
                </a:solidFill>
                <a:latin typeface="Palatino Linotype"/>
                <a:cs typeface="Palatino Linotype"/>
              </a:rPr>
              <a:t>row,</a:t>
            </a:r>
            <a:r>
              <a:rPr sz="1500" kern="1200" spc="10" dirty="0">
                <a:solidFill>
                  <a:prstClr val="black"/>
                </a:solidFill>
                <a:latin typeface="Palatino Linotype"/>
                <a:cs typeface="Palatino Linotype"/>
              </a:rPr>
              <a:t> </a:t>
            </a:r>
            <a:r>
              <a:rPr sz="1500" kern="1200" spc="-20" dirty="0">
                <a:solidFill>
                  <a:srgbClr val="0431FF"/>
                </a:solidFill>
                <a:latin typeface="Cambria Math"/>
                <a:cs typeface="Cambria Math"/>
              </a:rPr>
              <a:t>𝑤</a:t>
            </a:r>
            <a:r>
              <a:rPr sz="1650" kern="1200" spc="-30" baseline="-15151" dirty="0">
                <a:solidFill>
                  <a:srgbClr val="0431FF"/>
                </a:solidFill>
                <a:latin typeface="Cambria Math"/>
                <a:cs typeface="Cambria Math"/>
              </a:rPr>
              <a:t>2  </a:t>
            </a:r>
            <a:r>
              <a:rPr sz="1500" kern="1200" spc="-5" dirty="0">
                <a:solidFill>
                  <a:prstClr val="black"/>
                </a:solidFill>
                <a:latin typeface="Palatino Linotype"/>
                <a:cs typeface="Palatino Linotype"/>
              </a:rPr>
              <a:t>is</a:t>
            </a:r>
            <a:r>
              <a:rPr sz="1500" kern="1200" spc="5" dirty="0">
                <a:solidFill>
                  <a:prstClr val="black"/>
                </a:solidFill>
                <a:latin typeface="Palatino Linotype"/>
                <a:cs typeface="Palatino Linotype"/>
              </a:rPr>
              <a:t> </a:t>
            </a:r>
            <a:r>
              <a:rPr sz="1500" kern="1200" spc="-5" dirty="0">
                <a:solidFill>
                  <a:prstClr val="black"/>
                </a:solidFill>
                <a:latin typeface="Palatino Linotype"/>
                <a:cs typeface="Palatino Linotype"/>
              </a:rPr>
              <a:t>the</a:t>
            </a:r>
            <a:r>
              <a:rPr sz="1500" kern="1200" spc="-15" dirty="0">
                <a:solidFill>
                  <a:prstClr val="black"/>
                </a:solidFill>
                <a:latin typeface="Palatino Linotype"/>
                <a:cs typeface="Palatino Linotype"/>
              </a:rPr>
              <a:t> </a:t>
            </a:r>
            <a:r>
              <a:rPr sz="1500" kern="1200" spc="-5" dirty="0">
                <a:solidFill>
                  <a:prstClr val="black"/>
                </a:solidFill>
                <a:latin typeface="Palatino Linotype"/>
                <a:cs typeface="Palatino Linotype"/>
              </a:rPr>
              <a:t>width</a:t>
            </a:r>
            <a:r>
              <a:rPr sz="1500" kern="1200" spc="10" dirty="0">
                <a:solidFill>
                  <a:prstClr val="black"/>
                </a:solidFill>
                <a:latin typeface="Palatino Linotype"/>
                <a:cs typeface="Palatino Linotype"/>
              </a:rPr>
              <a:t> </a:t>
            </a:r>
            <a:r>
              <a:rPr sz="1500" kern="1200" dirty="0">
                <a:solidFill>
                  <a:prstClr val="black"/>
                </a:solidFill>
                <a:latin typeface="Palatino Linotype"/>
                <a:cs typeface="Palatino Linotype"/>
              </a:rPr>
              <a:t>of an</a:t>
            </a:r>
            <a:r>
              <a:rPr sz="1500" kern="1200" spc="-10" dirty="0">
                <a:solidFill>
                  <a:prstClr val="black"/>
                </a:solidFill>
                <a:latin typeface="Palatino Linotype"/>
                <a:cs typeface="Palatino Linotype"/>
              </a:rPr>
              <a:t> </a:t>
            </a:r>
            <a:r>
              <a:rPr sz="1500" kern="1200" spc="-5" dirty="0">
                <a:solidFill>
                  <a:prstClr val="black"/>
                </a:solidFill>
                <a:latin typeface="Palatino Linotype"/>
                <a:cs typeface="Palatino Linotype"/>
              </a:rPr>
              <a:t>element)</a:t>
            </a:r>
            <a:endParaRPr sz="1500" kern="1200" dirty="0">
              <a:solidFill>
                <a:prstClr val="black"/>
              </a:solidFill>
              <a:latin typeface="Palatino Linotype"/>
              <a:cs typeface="Palatino Linotype"/>
            </a:endParaRPr>
          </a:p>
          <a:p>
            <a:pPr lvl="1" rtl="0">
              <a:spcBef>
                <a:spcPts val="65"/>
              </a:spcBef>
              <a:buFontTx/>
              <a:buChar char=""/>
            </a:pPr>
            <a:endParaRPr sz="1250" kern="1200" dirty="0">
              <a:solidFill>
                <a:prstClr val="black"/>
              </a:solidFill>
              <a:latin typeface="Palatino Linotype"/>
              <a:cs typeface="Palatino Linotype"/>
            </a:endParaRPr>
          </a:p>
          <a:p>
            <a:pPr marL="293370" marR="529590" indent="-230504" rtl="0">
              <a:lnSpc>
                <a:spcPct val="120000"/>
              </a:lnSpc>
              <a:buFont typeface="Arial MT"/>
              <a:buChar char="•"/>
              <a:tabLst>
                <a:tab pos="293370" algn="l"/>
                <a:tab pos="294005" algn="l"/>
                <a:tab pos="2773045" algn="l"/>
                <a:tab pos="3684904" algn="l"/>
              </a:tabLst>
            </a:pPr>
            <a:r>
              <a:rPr kern="1200" spc="-5" dirty="0">
                <a:solidFill>
                  <a:prstClr val="black"/>
                </a:solidFill>
                <a:latin typeface="Palatino Linotype"/>
                <a:cs typeface="Palatino Linotype"/>
              </a:rPr>
              <a:t>Further</a:t>
            </a:r>
            <a:r>
              <a:rPr kern="1200" spc="30" dirty="0">
                <a:solidFill>
                  <a:prstClr val="black"/>
                </a:solidFill>
                <a:latin typeface="Palatino Linotype"/>
                <a:cs typeface="Palatino Linotype"/>
              </a:rPr>
              <a:t> </a:t>
            </a:r>
            <a:r>
              <a:rPr kern="1200" spc="-5" dirty="0">
                <a:solidFill>
                  <a:prstClr val="black"/>
                </a:solidFill>
                <a:latin typeface="Palatino Linotype"/>
                <a:cs typeface="Palatino Linotype"/>
              </a:rPr>
              <a:t>generalize</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to</a:t>
            </a:r>
            <a:r>
              <a:rPr kern="1200" spc="15" dirty="0">
                <a:solidFill>
                  <a:prstClr val="black"/>
                </a:solidFill>
                <a:latin typeface="Palatino Linotype"/>
                <a:cs typeface="Palatino Linotype"/>
              </a:rPr>
              <a:t> </a:t>
            </a:r>
            <a:r>
              <a:rPr kern="1200" dirty="0">
                <a:solidFill>
                  <a:prstClr val="black"/>
                </a:solidFill>
                <a:latin typeface="Cambria Math"/>
                <a:cs typeface="Cambria Math"/>
              </a:rPr>
              <a:t>𝑘</a:t>
            </a:r>
            <a:r>
              <a:rPr kern="1200" dirty="0">
                <a:solidFill>
                  <a:prstClr val="black"/>
                </a:solidFill>
                <a:latin typeface="Palatino Linotype"/>
                <a:cs typeface="Palatino Linotype"/>
              </a:rPr>
              <a:t>-dimensional</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array</a:t>
            </a:r>
            <a:r>
              <a:rPr kern="1200" spc="10" dirty="0">
                <a:solidFill>
                  <a:prstClr val="black"/>
                </a:solidFill>
                <a:latin typeface="Palatino Linotype"/>
                <a:cs typeface="Palatino Linotype"/>
              </a:rPr>
              <a:t> </a:t>
            </a:r>
            <a:r>
              <a:rPr kern="1200" dirty="0">
                <a:solidFill>
                  <a:prstClr val="black"/>
                </a:solidFill>
                <a:latin typeface="Cambria Math"/>
                <a:cs typeface="Cambria Math"/>
              </a:rPr>
              <a:t>𝐴</a:t>
            </a:r>
            <a:r>
              <a:rPr kern="1200" spc="75" dirty="0">
                <a:solidFill>
                  <a:prstClr val="black"/>
                </a:solidFill>
                <a:latin typeface="Cambria Math"/>
                <a:cs typeface="Cambria Math"/>
              </a:rPr>
              <a:t> </a:t>
            </a:r>
            <a:r>
              <a:rPr kern="1200" spc="-5" dirty="0">
                <a:solidFill>
                  <a:prstClr val="black"/>
                </a:solidFill>
                <a:latin typeface="Palatino Linotype"/>
                <a:cs typeface="Palatino Linotype"/>
              </a:rPr>
              <a:t>(row-major</a:t>
            </a:r>
            <a:r>
              <a:rPr kern="1200" spc="15" dirty="0">
                <a:solidFill>
                  <a:prstClr val="black"/>
                </a:solidFill>
                <a:latin typeface="Palatino Linotype"/>
                <a:cs typeface="Palatino Linotype"/>
              </a:rPr>
              <a:t> </a:t>
            </a:r>
            <a:r>
              <a:rPr kern="1200" spc="-5" dirty="0">
                <a:solidFill>
                  <a:prstClr val="black"/>
                </a:solidFill>
                <a:latin typeface="Palatino Linotype"/>
                <a:cs typeface="Palatino Linotype"/>
              </a:rPr>
              <a:t>layout),</a:t>
            </a:r>
            <a:r>
              <a:rPr kern="1200" spc="25" dirty="0">
                <a:solidFill>
                  <a:prstClr val="black"/>
                </a:solidFill>
                <a:latin typeface="Palatino Linotype"/>
                <a:cs typeface="Palatino Linotype"/>
              </a:rPr>
              <a:t> </a:t>
            </a:r>
            <a:r>
              <a:rPr kern="1200" spc="-5" dirty="0">
                <a:solidFill>
                  <a:prstClr val="black"/>
                </a:solidFill>
                <a:latin typeface="Palatino Linotype"/>
                <a:cs typeface="Palatino Linotype"/>
              </a:rPr>
              <a:t>the </a:t>
            </a:r>
            <a:r>
              <a:rPr kern="1200" spc="-434" dirty="0">
                <a:solidFill>
                  <a:prstClr val="black"/>
                </a:solidFill>
                <a:latin typeface="Palatino Linotype"/>
                <a:cs typeface="Palatino Linotype"/>
              </a:rPr>
              <a:t> </a:t>
            </a:r>
            <a:r>
              <a:rPr kern="1200" spc="-5" dirty="0">
                <a:solidFill>
                  <a:prstClr val="black"/>
                </a:solidFill>
                <a:latin typeface="Palatino Linotype"/>
                <a:cs typeface="Palatino Linotype"/>
              </a:rPr>
              <a:t>relative</a:t>
            </a:r>
            <a:r>
              <a:rPr kern="1200" dirty="0">
                <a:solidFill>
                  <a:prstClr val="black"/>
                </a:solidFill>
                <a:latin typeface="Palatino Linotype"/>
                <a:cs typeface="Palatino Linotype"/>
              </a:rPr>
              <a:t> address</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of</a:t>
            </a:r>
            <a:r>
              <a:rPr kern="1200" spc="10" dirty="0">
                <a:solidFill>
                  <a:prstClr val="black"/>
                </a:solidFill>
                <a:latin typeface="Palatino Linotype"/>
                <a:cs typeface="Palatino Linotype"/>
              </a:rPr>
              <a:t> </a:t>
            </a:r>
            <a:r>
              <a:rPr kern="1200" dirty="0">
                <a:solidFill>
                  <a:prstClr val="black"/>
                </a:solidFill>
                <a:latin typeface="Cambria Math"/>
                <a:cs typeface="Cambria Math"/>
              </a:rPr>
              <a:t>𝐴</a:t>
            </a:r>
            <a:r>
              <a:rPr lang="en-US" kern="1200" spc="260" dirty="0">
                <a:solidFill>
                  <a:prstClr val="black"/>
                </a:solidFill>
                <a:latin typeface="Cambria Math"/>
                <a:cs typeface="Cambria Math"/>
              </a:rPr>
              <a:t>[</a:t>
            </a:r>
            <a:r>
              <a:rPr kern="1200" dirty="0">
                <a:solidFill>
                  <a:prstClr val="black"/>
                </a:solidFill>
                <a:latin typeface="Cambria Math"/>
                <a:cs typeface="Cambria Math"/>
              </a:rPr>
              <a:t>𝑖</a:t>
            </a:r>
            <a:r>
              <a:rPr sz="1950" kern="1200" baseline="-14957" dirty="0">
                <a:solidFill>
                  <a:prstClr val="black"/>
                </a:solidFill>
                <a:latin typeface="Cambria Math"/>
                <a:cs typeface="Cambria Math"/>
              </a:rPr>
              <a:t>1</a:t>
            </a:r>
            <a:r>
              <a:rPr lang="en-US" altLang="zh-CN" kern="1200" spc="260" dirty="0">
                <a:solidFill>
                  <a:prstClr val="black"/>
                </a:solidFill>
                <a:latin typeface="Cambria Math"/>
                <a:cs typeface="Cambria Math"/>
              </a:rPr>
              <a:t>][</a:t>
            </a:r>
            <a:r>
              <a:rPr kern="1200" spc="20" dirty="0">
                <a:solidFill>
                  <a:prstClr val="black"/>
                </a:solidFill>
                <a:latin typeface="Cambria Math"/>
                <a:cs typeface="Cambria Math"/>
              </a:rPr>
              <a:t>𝑖</a:t>
            </a:r>
            <a:r>
              <a:rPr sz="1950" kern="1200" spc="30" baseline="-14957" dirty="0">
                <a:solidFill>
                  <a:prstClr val="black"/>
                </a:solidFill>
                <a:latin typeface="Cambria Math"/>
                <a:cs typeface="Cambria Math"/>
              </a:rPr>
              <a:t>2</a:t>
            </a:r>
            <a:r>
              <a:rPr lang="en-US" altLang="zh-CN" kern="1200" spc="260" dirty="0">
                <a:solidFill>
                  <a:prstClr val="black"/>
                </a:solidFill>
                <a:latin typeface="Cambria Math"/>
                <a:cs typeface="Cambria Math"/>
              </a:rPr>
              <a:t>]</a:t>
            </a:r>
            <a:r>
              <a:rPr kern="1200" dirty="0">
                <a:solidFill>
                  <a:prstClr val="black"/>
                </a:solidFill>
                <a:latin typeface="Cambria Math"/>
                <a:cs typeface="Cambria Math"/>
              </a:rPr>
              <a:t>…</a:t>
            </a:r>
            <a:r>
              <a:rPr lang="en-US" altLang="zh-CN" kern="1200" spc="260" dirty="0">
                <a:solidFill>
                  <a:prstClr val="black"/>
                </a:solidFill>
                <a:latin typeface="Cambria Math"/>
                <a:cs typeface="Cambria Math"/>
              </a:rPr>
              <a:t>[</a:t>
            </a:r>
            <a:r>
              <a:rPr kern="1200" spc="40" dirty="0">
                <a:solidFill>
                  <a:prstClr val="black"/>
                </a:solidFill>
                <a:latin typeface="Cambria Math"/>
                <a:cs typeface="Cambria Math"/>
              </a:rPr>
              <a:t>𝑖</a:t>
            </a:r>
            <a:r>
              <a:rPr sz="1950" kern="1200" spc="60" baseline="-14957" dirty="0">
                <a:solidFill>
                  <a:prstClr val="black"/>
                </a:solidFill>
                <a:latin typeface="Cambria Math"/>
                <a:cs typeface="Cambria Math"/>
              </a:rPr>
              <a:t>𝑘</a:t>
            </a:r>
            <a:r>
              <a:rPr lang="en-US" altLang="zh-CN" kern="1200" spc="260" dirty="0">
                <a:solidFill>
                  <a:prstClr val="black"/>
                </a:solidFill>
                <a:latin typeface="Cambria Math"/>
                <a:cs typeface="Cambria Math"/>
              </a:rPr>
              <a:t>]</a:t>
            </a:r>
            <a:r>
              <a:rPr kern="1200" dirty="0">
                <a:solidFill>
                  <a:prstClr val="black"/>
                </a:solidFill>
                <a:latin typeface="Palatino Linotype"/>
                <a:cs typeface="Palatino Linotype"/>
              </a:rPr>
              <a:t>is:</a:t>
            </a:r>
          </a:p>
          <a:p>
            <a:pPr marL="748665" lvl="1" indent="-228600" rtl="0">
              <a:spcBef>
                <a:spcPts val="1000"/>
              </a:spcBef>
              <a:buClr>
                <a:srgbClr val="000000"/>
              </a:buClr>
              <a:buFont typeface="Wingdings"/>
              <a:buChar char=""/>
              <a:tabLst>
                <a:tab pos="748665" algn="l"/>
                <a:tab pos="749300" algn="l"/>
              </a:tabLst>
            </a:pPr>
            <a:r>
              <a:rPr sz="1400" kern="1200" dirty="0">
                <a:solidFill>
                  <a:srgbClr val="0431FF"/>
                </a:solidFill>
                <a:latin typeface="Cambria Math"/>
                <a:cs typeface="Cambria Math"/>
              </a:rPr>
              <a:t>𝒃𝒂𝒔𝒆</a:t>
            </a:r>
            <a:r>
              <a:rPr sz="1400" kern="1200" spc="15" dirty="0">
                <a:solidFill>
                  <a:srgbClr val="0431FF"/>
                </a:solidFill>
                <a:latin typeface="Cambria Math"/>
                <a:cs typeface="Cambria Math"/>
              </a:rPr>
              <a:t> </a:t>
            </a:r>
            <a:r>
              <a:rPr sz="1400" kern="1200" dirty="0">
                <a:solidFill>
                  <a:srgbClr val="0431FF"/>
                </a:solidFill>
                <a:latin typeface="Cambria Math"/>
                <a:cs typeface="Cambria Math"/>
              </a:rPr>
              <a:t>+</a:t>
            </a:r>
            <a:r>
              <a:rPr sz="1400" kern="1200" spc="315" dirty="0">
                <a:solidFill>
                  <a:srgbClr val="0431FF"/>
                </a:solidFill>
                <a:latin typeface="Cambria Math"/>
                <a:cs typeface="Cambria Math"/>
              </a:rPr>
              <a:t> </a:t>
            </a:r>
            <a:r>
              <a:rPr sz="1400" kern="1200" dirty="0">
                <a:solidFill>
                  <a:srgbClr val="0431FF"/>
                </a:solidFill>
                <a:latin typeface="Cambria Math"/>
                <a:cs typeface="Cambria Math"/>
              </a:rPr>
              <a:t>𝒊</a:t>
            </a:r>
            <a:r>
              <a:rPr sz="1500" kern="1200" baseline="-16666" dirty="0">
                <a:solidFill>
                  <a:srgbClr val="0431FF"/>
                </a:solidFill>
                <a:latin typeface="Cambria Math"/>
                <a:cs typeface="Cambria Math"/>
              </a:rPr>
              <a:t>𝟏</a:t>
            </a:r>
            <a:r>
              <a:rPr sz="1500" kern="1200" spc="254" baseline="-16666" dirty="0">
                <a:solidFill>
                  <a:srgbClr val="0431FF"/>
                </a:solidFill>
                <a:latin typeface="Cambria Math"/>
                <a:cs typeface="Cambria Math"/>
              </a:rPr>
              <a:t> </a:t>
            </a:r>
            <a:r>
              <a:rPr sz="1400" kern="1200" dirty="0">
                <a:solidFill>
                  <a:srgbClr val="0431FF"/>
                </a:solidFill>
                <a:latin typeface="Cambria Math"/>
                <a:cs typeface="Cambria Math"/>
              </a:rPr>
              <a:t>∗</a:t>
            </a:r>
            <a:r>
              <a:rPr sz="1400" kern="1200" spc="-5" dirty="0">
                <a:solidFill>
                  <a:srgbClr val="0431FF"/>
                </a:solidFill>
                <a:latin typeface="Cambria Math"/>
                <a:cs typeface="Cambria Math"/>
              </a:rPr>
              <a:t> </a:t>
            </a:r>
            <a:r>
              <a:rPr sz="1400" kern="1200" spc="5" dirty="0">
                <a:solidFill>
                  <a:srgbClr val="0431FF"/>
                </a:solidFill>
                <a:latin typeface="Cambria Math"/>
                <a:cs typeface="Cambria Math"/>
              </a:rPr>
              <a:t>𝒘</a:t>
            </a:r>
            <a:r>
              <a:rPr sz="1500" kern="1200" spc="7" baseline="-16666" dirty="0">
                <a:solidFill>
                  <a:srgbClr val="0431FF"/>
                </a:solidFill>
                <a:latin typeface="Cambria Math"/>
                <a:cs typeface="Cambria Math"/>
              </a:rPr>
              <a:t>𝟏</a:t>
            </a:r>
            <a:r>
              <a:rPr sz="1500" kern="1200" spc="217" baseline="-16666" dirty="0">
                <a:solidFill>
                  <a:srgbClr val="0431FF"/>
                </a:solidFill>
                <a:latin typeface="Cambria Math"/>
                <a:cs typeface="Cambria Math"/>
              </a:rPr>
              <a:t> </a:t>
            </a:r>
            <a:r>
              <a:rPr sz="1400" kern="1200" dirty="0">
                <a:solidFill>
                  <a:srgbClr val="0431FF"/>
                </a:solidFill>
                <a:latin typeface="Cambria Math"/>
                <a:cs typeface="Cambria Math"/>
              </a:rPr>
              <a:t>+</a:t>
            </a:r>
            <a:r>
              <a:rPr sz="1400" kern="1200" spc="10" dirty="0">
                <a:solidFill>
                  <a:srgbClr val="0431FF"/>
                </a:solidFill>
                <a:latin typeface="Cambria Math"/>
                <a:cs typeface="Cambria Math"/>
              </a:rPr>
              <a:t> </a:t>
            </a:r>
            <a:r>
              <a:rPr sz="1400" kern="1200" dirty="0">
                <a:solidFill>
                  <a:srgbClr val="0431FF"/>
                </a:solidFill>
                <a:latin typeface="Cambria Math"/>
                <a:cs typeface="Cambria Math"/>
              </a:rPr>
              <a:t>𝒊</a:t>
            </a:r>
            <a:r>
              <a:rPr sz="1500" kern="1200" baseline="-16666" dirty="0">
                <a:solidFill>
                  <a:srgbClr val="0431FF"/>
                </a:solidFill>
                <a:latin typeface="Cambria Math"/>
                <a:cs typeface="Cambria Math"/>
              </a:rPr>
              <a:t>𝟐</a:t>
            </a:r>
            <a:r>
              <a:rPr sz="1500" kern="1200" spc="232" baseline="-16666" dirty="0">
                <a:solidFill>
                  <a:srgbClr val="0431FF"/>
                </a:solidFill>
                <a:latin typeface="Cambria Math"/>
                <a:cs typeface="Cambria Math"/>
              </a:rPr>
              <a:t> </a:t>
            </a:r>
            <a:r>
              <a:rPr sz="1400" kern="1200" dirty="0">
                <a:solidFill>
                  <a:srgbClr val="0431FF"/>
                </a:solidFill>
                <a:latin typeface="Cambria Math"/>
                <a:cs typeface="Cambria Math"/>
              </a:rPr>
              <a:t>∗</a:t>
            </a:r>
            <a:r>
              <a:rPr sz="1400" kern="1200" spc="-5" dirty="0">
                <a:solidFill>
                  <a:srgbClr val="0431FF"/>
                </a:solidFill>
                <a:latin typeface="Cambria Math"/>
                <a:cs typeface="Cambria Math"/>
              </a:rPr>
              <a:t> </a:t>
            </a:r>
            <a:r>
              <a:rPr sz="1400" kern="1200" spc="5" dirty="0">
                <a:solidFill>
                  <a:srgbClr val="0431FF"/>
                </a:solidFill>
                <a:latin typeface="Cambria Math"/>
                <a:cs typeface="Cambria Math"/>
              </a:rPr>
              <a:t>𝒘</a:t>
            </a:r>
            <a:r>
              <a:rPr sz="1500" kern="1200" spc="7" baseline="-16666" dirty="0">
                <a:solidFill>
                  <a:srgbClr val="0431FF"/>
                </a:solidFill>
                <a:latin typeface="Cambria Math"/>
                <a:cs typeface="Cambria Math"/>
              </a:rPr>
              <a:t>𝟐</a:t>
            </a:r>
            <a:r>
              <a:rPr sz="1500" kern="1200" spc="232" baseline="-16666" dirty="0">
                <a:solidFill>
                  <a:srgbClr val="0431FF"/>
                </a:solidFill>
                <a:latin typeface="Cambria Math"/>
                <a:cs typeface="Cambria Math"/>
              </a:rPr>
              <a:t> </a:t>
            </a:r>
            <a:r>
              <a:rPr sz="1400" kern="1200" dirty="0">
                <a:solidFill>
                  <a:srgbClr val="0431FF"/>
                </a:solidFill>
                <a:latin typeface="Cambria Math"/>
                <a:cs typeface="Cambria Math"/>
              </a:rPr>
              <a:t>+</a:t>
            </a:r>
            <a:r>
              <a:rPr sz="1400" kern="1200" spc="-5" dirty="0">
                <a:solidFill>
                  <a:srgbClr val="0431FF"/>
                </a:solidFill>
                <a:latin typeface="Cambria Math"/>
                <a:cs typeface="Cambria Math"/>
              </a:rPr>
              <a:t> </a:t>
            </a:r>
            <a:r>
              <a:rPr sz="1400" kern="1200" dirty="0">
                <a:solidFill>
                  <a:srgbClr val="0431FF"/>
                </a:solidFill>
                <a:latin typeface="Cambria Math"/>
                <a:cs typeface="Cambria Math"/>
              </a:rPr>
              <a:t>⋯</a:t>
            </a:r>
            <a:r>
              <a:rPr sz="1400" kern="1200" spc="-75" dirty="0">
                <a:solidFill>
                  <a:srgbClr val="0431FF"/>
                </a:solidFill>
                <a:latin typeface="Cambria Math"/>
                <a:cs typeface="Cambria Math"/>
              </a:rPr>
              <a:t> </a:t>
            </a:r>
            <a:r>
              <a:rPr sz="1400" kern="1200" dirty="0">
                <a:solidFill>
                  <a:srgbClr val="0431FF"/>
                </a:solidFill>
                <a:latin typeface="Cambria Math"/>
                <a:cs typeface="Cambria Math"/>
              </a:rPr>
              <a:t>+</a:t>
            </a:r>
            <a:r>
              <a:rPr sz="1400" kern="1200" spc="5" dirty="0">
                <a:solidFill>
                  <a:srgbClr val="0431FF"/>
                </a:solidFill>
                <a:latin typeface="Cambria Math"/>
                <a:cs typeface="Cambria Math"/>
              </a:rPr>
              <a:t> </a:t>
            </a:r>
            <a:r>
              <a:rPr sz="1400" kern="1200" dirty="0">
                <a:solidFill>
                  <a:srgbClr val="0431FF"/>
                </a:solidFill>
                <a:latin typeface="Cambria Math"/>
                <a:cs typeface="Cambria Math"/>
              </a:rPr>
              <a:t>𝒊</a:t>
            </a:r>
            <a:r>
              <a:rPr sz="1500" kern="1200" baseline="-16666" dirty="0">
                <a:solidFill>
                  <a:srgbClr val="0431FF"/>
                </a:solidFill>
                <a:latin typeface="Cambria Math"/>
                <a:cs typeface="Cambria Math"/>
              </a:rPr>
              <a:t>𝒌</a:t>
            </a:r>
            <a:r>
              <a:rPr sz="1500" kern="1200" spc="240" baseline="-16666" dirty="0">
                <a:solidFill>
                  <a:srgbClr val="0431FF"/>
                </a:solidFill>
                <a:latin typeface="Cambria Math"/>
                <a:cs typeface="Cambria Math"/>
              </a:rPr>
              <a:t> </a:t>
            </a:r>
            <a:r>
              <a:rPr sz="1400" kern="1200" dirty="0">
                <a:solidFill>
                  <a:srgbClr val="0431FF"/>
                </a:solidFill>
                <a:latin typeface="Cambria Math"/>
                <a:cs typeface="Cambria Math"/>
              </a:rPr>
              <a:t>∗ </a:t>
            </a:r>
            <a:r>
              <a:rPr sz="1400" kern="1200" spc="5" dirty="0">
                <a:solidFill>
                  <a:srgbClr val="0431FF"/>
                </a:solidFill>
                <a:latin typeface="Cambria Math"/>
                <a:cs typeface="Cambria Math"/>
              </a:rPr>
              <a:t>𝒘</a:t>
            </a:r>
            <a:r>
              <a:rPr sz="1500" kern="1200" spc="7" baseline="-16666" dirty="0">
                <a:solidFill>
                  <a:srgbClr val="0431FF"/>
                </a:solidFill>
                <a:latin typeface="Cambria Math"/>
                <a:cs typeface="Cambria Math"/>
              </a:rPr>
              <a:t>𝒌</a:t>
            </a:r>
            <a:r>
              <a:rPr sz="1500" kern="1200" spc="270" baseline="-16666" dirty="0">
                <a:solidFill>
                  <a:srgbClr val="0431FF"/>
                </a:solidFill>
                <a:latin typeface="Cambria Math"/>
                <a:cs typeface="Cambria Math"/>
              </a:rPr>
              <a:t> </a:t>
            </a:r>
            <a:r>
              <a:rPr sz="1400" kern="1200" spc="-30" dirty="0">
                <a:solidFill>
                  <a:prstClr val="black"/>
                </a:solidFill>
                <a:latin typeface="Palatino Linotype"/>
                <a:cs typeface="Palatino Linotype"/>
              </a:rPr>
              <a:t>(</a:t>
            </a:r>
            <a:r>
              <a:rPr sz="1400" kern="1200" spc="-30" dirty="0">
                <a:solidFill>
                  <a:prstClr val="black"/>
                </a:solidFill>
                <a:latin typeface="Cambria Math"/>
                <a:cs typeface="Cambria Math"/>
              </a:rPr>
              <a:t>𝑤</a:t>
            </a:r>
            <a:r>
              <a:rPr sz="1400" kern="1200" spc="-30" dirty="0">
                <a:solidFill>
                  <a:prstClr val="black"/>
                </a:solidFill>
                <a:latin typeface="Palatino Linotype"/>
                <a:cs typeface="Palatino Linotype"/>
              </a:rPr>
              <a:t>’s</a:t>
            </a:r>
            <a:r>
              <a:rPr sz="1400" kern="1200" spc="-15" dirty="0">
                <a:solidFill>
                  <a:prstClr val="black"/>
                </a:solidFill>
                <a:latin typeface="Palatino Linotype"/>
                <a:cs typeface="Palatino Linotype"/>
              </a:rPr>
              <a:t> </a:t>
            </a:r>
            <a:r>
              <a:rPr sz="1400" kern="1200" dirty="0">
                <a:solidFill>
                  <a:prstClr val="black"/>
                </a:solidFill>
                <a:latin typeface="Palatino Linotype"/>
                <a:cs typeface="Palatino Linotype"/>
              </a:rPr>
              <a:t>can</a:t>
            </a:r>
            <a:r>
              <a:rPr sz="1400" kern="1200" spc="-15" dirty="0">
                <a:solidFill>
                  <a:prstClr val="black"/>
                </a:solidFill>
                <a:latin typeface="Palatino Linotype"/>
                <a:cs typeface="Palatino Linotype"/>
              </a:rPr>
              <a:t> </a:t>
            </a:r>
            <a:r>
              <a:rPr sz="1400" kern="1200" spc="-5" dirty="0">
                <a:solidFill>
                  <a:prstClr val="black"/>
                </a:solidFill>
                <a:latin typeface="Palatino Linotype"/>
                <a:cs typeface="Palatino Linotype"/>
              </a:rPr>
              <a:t>be</a:t>
            </a:r>
            <a:r>
              <a:rPr sz="1400" kern="1200" spc="5" dirty="0">
                <a:solidFill>
                  <a:prstClr val="black"/>
                </a:solidFill>
                <a:latin typeface="Palatino Linotype"/>
                <a:cs typeface="Palatino Linotype"/>
              </a:rPr>
              <a:t> </a:t>
            </a:r>
            <a:r>
              <a:rPr sz="1400" kern="1200" spc="-5" dirty="0">
                <a:solidFill>
                  <a:prstClr val="black"/>
                </a:solidFill>
                <a:latin typeface="Palatino Linotype"/>
                <a:cs typeface="Palatino Linotype"/>
              </a:rPr>
              <a:t>generalized</a:t>
            </a:r>
            <a:r>
              <a:rPr sz="1400" kern="1200" spc="-25" dirty="0">
                <a:solidFill>
                  <a:prstClr val="black"/>
                </a:solidFill>
                <a:latin typeface="Palatino Linotype"/>
                <a:cs typeface="Palatino Linotype"/>
              </a:rPr>
              <a:t> </a:t>
            </a:r>
            <a:r>
              <a:rPr sz="1400" kern="1200" dirty="0">
                <a:solidFill>
                  <a:prstClr val="black"/>
                </a:solidFill>
                <a:latin typeface="Palatino Linotype"/>
                <a:cs typeface="Palatino Linotype"/>
              </a:rPr>
              <a:t>as</a:t>
            </a:r>
            <a:r>
              <a:rPr sz="1400" kern="1200" spc="-10" dirty="0">
                <a:solidFill>
                  <a:prstClr val="black"/>
                </a:solidFill>
                <a:latin typeface="Palatino Linotype"/>
                <a:cs typeface="Palatino Linotype"/>
              </a:rPr>
              <a:t> </a:t>
            </a:r>
            <a:r>
              <a:rPr sz="1400" kern="1200" spc="-5" dirty="0">
                <a:solidFill>
                  <a:prstClr val="black"/>
                </a:solidFill>
                <a:latin typeface="Palatino Linotype"/>
                <a:cs typeface="Palatino Linotype"/>
              </a:rPr>
              <a:t>above)</a:t>
            </a:r>
            <a:endParaRPr sz="1400" kern="1200" dirty="0">
              <a:solidFill>
                <a:prstClr val="black"/>
              </a:solidFill>
              <a:latin typeface="Palatino Linotype"/>
              <a:cs typeface="Palatino Linotype"/>
            </a:endParaRPr>
          </a:p>
        </p:txBody>
      </p:sp>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61</a:t>
            </a:fld>
            <a:endParaRPr lang="en-US"/>
          </a:p>
        </p:txBody>
      </p:sp>
      <p:sp>
        <p:nvSpPr>
          <p:cNvPr id="15" name="object 2">
            <a:extLst>
              <a:ext uri="{FF2B5EF4-FFF2-40B4-BE49-F238E27FC236}">
                <a16:creationId xmlns:a16="http://schemas.microsoft.com/office/drawing/2014/main" id="{1E7BB9F2-02BE-AC34-E3A5-2E42EAE0CC79}"/>
              </a:ext>
            </a:extLst>
          </p:cNvPr>
          <p:cNvSpPr txBox="1">
            <a:spLocks/>
          </p:cNvSpPr>
          <p:nvPr/>
        </p:nvSpPr>
        <p:spPr>
          <a:xfrm>
            <a:off x="707542" y="520141"/>
            <a:ext cx="642747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Addressing</a:t>
            </a:r>
            <a:r>
              <a:rPr kumimoji="0" lang="en-US" sz="4000" b="1" i="0" u="none" strike="noStrike" kern="0" cap="none" spc="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Array</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Elements</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Tree>
    <p:extLst>
      <p:ext uri="{BB962C8B-B14F-4D97-AF65-F5344CB8AC3E}">
        <p14:creationId xmlns:p14="http://schemas.microsoft.com/office/powerpoint/2010/main" val="30862052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4" name="object 11">
            <a:extLst>
              <a:ext uri="{FF2B5EF4-FFF2-40B4-BE49-F238E27FC236}">
                <a16:creationId xmlns:a16="http://schemas.microsoft.com/office/drawing/2014/main" id="{89344614-C413-47C6-8BBD-4737BDC9E623}"/>
              </a:ext>
            </a:extLst>
          </p:cNvPr>
          <p:cNvSpPr txBox="1"/>
          <p:nvPr/>
        </p:nvSpPr>
        <p:spPr>
          <a:xfrm>
            <a:off x="669442" y="1589049"/>
            <a:ext cx="7715884" cy="2435860"/>
          </a:xfrm>
          <a:prstGeom prst="rect">
            <a:avLst/>
          </a:prstGeom>
        </p:spPr>
        <p:txBody>
          <a:bodyPr vert="horz" wrap="square" lIns="0" tIns="12700" rIns="0" bIns="0" rtlCol="0">
            <a:spAutoFit/>
          </a:bodyPr>
          <a:lstStyle/>
          <a:p>
            <a:pPr marL="280670" marR="43180" indent="-230504" rtl="0">
              <a:lnSpc>
                <a:spcPct val="120000"/>
              </a:lnSpc>
              <a:spcBef>
                <a:spcPts val="100"/>
              </a:spcBef>
              <a:buFont typeface="Arial MT"/>
              <a:buChar char="•"/>
              <a:tabLst>
                <a:tab pos="280670" algn="l"/>
                <a:tab pos="281305" algn="l"/>
              </a:tabLst>
            </a:pPr>
            <a:r>
              <a:rPr sz="2200" kern="1200" spc="-5" dirty="0">
                <a:solidFill>
                  <a:prstClr val="black"/>
                </a:solidFill>
                <a:latin typeface="Palatino Linotype"/>
                <a:cs typeface="Palatino Linotype"/>
              </a:rPr>
              <a:t>The main</a:t>
            </a:r>
            <a:r>
              <a:rPr sz="2200" kern="1200" spc="-15" dirty="0">
                <a:solidFill>
                  <a:prstClr val="black"/>
                </a:solidFill>
                <a:latin typeface="Palatino Linotype"/>
                <a:cs typeface="Palatino Linotype"/>
              </a:rPr>
              <a:t> </a:t>
            </a:r>
            <a:r>
              <a:rPr sz="2200" kern="1200" spc="-10" dirty="0">
                <a:solidFill>
                  <a:prstClr val="black"/>
                </a:solidFill>
                <a:latin typeface="Palatino Linotype"/>
                <a:cs typeface="Palatino Linotype"/>
              </a:rPr>
              <a:t>problem</a:t>
            </a:r>
            <a:r>
              <a:rPr sz="2200" kern="1200" spc="20" dirty="0">
                <a:solidFill>
                  <a:prstClr val="black"/>
                </a:solidFill>
                <a:latin typeface="Palatino Linotype"/>
                <a:cs typeface="Palatino Linotype"/>
              </a:rPr>
              <a:t> </a:t>
            </a:r>
            <a:r>
              <a:rPr sz="2200" kern="1200" spc="-5" dirty="0">
                <a:solidFill>
                  <a:prstClr val="black"/>
                </a:solidFill>
                <a:latin typeface="Palatino Linotype"/>
                <a:cs typeface="Palatino Linotype"/>
              </a:rPr>
              <a:t>in</a:t>
            </a:r>
            <a:r>
              <a:rPr sz="2200" kern="1200" dirty="0">
                <a:solidFill>
                  <a:prstClr val="black"/>
                </a:solidFill>
                <a:latin typeface="Palatino Linotype"/>
                <a:cs typeface="Palatino Linotype"/>
              </a:rPr>
              <a:t> </a:t>
            </a:r>
            <a:r>
              <a:rPr sz="2200" kern="1200" spc="-5" dirty="0">
                <a:solidFill>
                  <a:prstClr val="black"/>
                </a:solidFill>
                <a:latin typeface="Palatino Linotype"/>
                <a:cs typeface="Palatino Linotype"/>
              </a:rPr>
              <a:t>generating</a:t>
            </a:r>
            <a:r>
              <a:rPr sz="2200" kern="1200" spc="-15" dirty="0">
                <a:solidFill>
                  <a:prstClr val="black"/>
                </a:solidFill>
                <a:latin typeface="Palatino Linotype"/>
                <a:cs typeface="Palatino Linotype"/>
              </a:rPr>
              <a:t> </a:t>
            </a:r>
            <a:r>
              <a:rPr sz="2200" kern="1200" spc="-5" dirty="0">
                <a:solidFill>
                  <a:prstClr val="black"/>
                </a:solidFill>
                <a:latin typeface="Palatino Linotype"/>
                <a:cs typeface="Palatino Linotype"/>
              </a:rPr>
              <a:t>code</a:t>
            </a:r>
            <a:r>
              <a:rPr sz="2200" kern="1200" spc="5" dirty="0">
                <a:solidFill>
                  <a:prstClr val="black"/>
                </a:solidFill>
                <a:latin typeface="Palatino Linotype"/>
                <a:cs typeface="Palatino Linotype"/>
              </a:rPr>
              <a:t> </a:t>
            </a:r>
            <a:r>
              <a:rPr sz="2200" kern="1200" spc="-5" dirty="0">
                <a:solidFill>
                  <a:prstClr val="black"/>
                </a:solidFill>
                <a:latin typeface="Palatino Linotype"/>
                <a:cs typeface="Palatino Linotype"/>
              </a:rPr>
              <a:t>for</a:t>
            </a:r>
            <a:r>
              <a:rPr sz="2200" kern="1200" spc="10" dirty="0">
                <a:solidFill>
                  <a:prstClr val="black"/>
                </a:solidFill>
                <a:latin typeface="Palatino Linotype"/>
                <a:cs typeface="Palatino Linotype"/>
              </a:rPr>
              <a:t> </a:t>
            </a:r>
            <a:r>
              <a:rPr sz="2200" kern="1200" spc="-5" dirty="0">
                <a:solidFill>
                  <a:prstClr val="black"/>
                </a:solidFill>
                <a:latin typeface="Palatino Linotype"/>
                <a:cs typeface="Palatino Linotype"/>
              </a:rPr>
              <a:t>array</a:t>
            </a:r>
            <a:r>
              <a:rPr sz="2200" kern="1200" spc="20" dirty="0">
                <a:solidFill>
                  <a:prstClr val="black"/>
                </a:solidFill>
                <a:latin typeface="Palatino Linotype"/>
                <a:cs typeface="Palatino Linotype"/>
              </a:rPr>
              <a:t> </a:t>
            </a:r>
            <a:r>
              <a:rPr sz="2200" kern="1200" spc="-5" dirty="0">
                <a:solidFill>
                  <a:prstClr val="black"/>
                </a:solidFill>
                <a:latin typeface="Palatino Linotype"/>
                <a:cs typeface="Palatino Linotype"/>
              </a:rPr>
              <a:t>references</a:t>
            </a:r>
            <a:r>
              <a:rPr sz="2200" kern="1200" spc="10" dirty="0">
                <a:solidFill>
                  <a:prstClr val="black"/>
                </a:solidFill>
                <a:latin typeface="Palatino Linotype"/>
                <a:cs typeface="Palatino Linotype"/>
              </a:rPr>
              <a:t> </a:t>
            </a:r>
            <a:r>
              <a:rPr sz="2200" kern="1200" spc="-10" dirty="0">
                <a:solidFill>
                  <a:prstClr val="black"/>
                </a:solidFill>
                <a:latin typeface="Palatino Linotype"/>
                <a:cs typeface="Palatino Linotype"/>
              </a:rPr>
              <a:t>is </a:t>
            </a:r>
            <a:r>
              <a:rPr sz="2200" kern="1200" spc="-535" dirty="0">
                <a:solidFill>
                  <a:prstClr val="black"/>
                </a:solidFill>
                <a:latin typeface="Palatino Linotype"/>
                <a:cs typeface="Palatino Linotype"/>
              </a:rPr>
              <a:t> </a:t>
            </a:r>
            <a:r>
              <a:rPr sz="2200" kern="1200" spc="-5" dirty="0">
                <a:solidFill>
                  <a:prstClr val="black"/>
                </a:solidFill>
                <a:latin typeface="Palatino Linotype"/>
                <a:cs typeface="Palatino Linotype"/>
              </a:rPr>
              <a:t>to </a:t>
            </a:r>
            <a:r>
              <a:rPr sz="2200" kern="1200" spc="-5" dirty="0">
                <a:solidFill>
                  <a:srgbClr val="FF0000"/>
                </a:solidFill>
                <a:latin typeface="Palatino Linotype"/>
                <a:cs typeface="Palatino Linotype"/>
              </a:rPr>
              <a:t>relate</a:t>
            </a:r>
            <a:r>
              <a:rPr sz="2200" kern="1200" dirty="0">
                <a:solidFill>
                  <a:srgbClr val="FF0000"/>
                </a:solidFill>
                <a:latin typeface="Palatino Linotype"/>
                <a:cs typeface="Palatino Linotype"/>
              </a:rPr>
              <a:t> </a:t>
            </a:r>
            <a:r>
              <a:rPr sz="2200" kern="1200" spc="-10" dirty="0">
                <a:solidFill>
                  <a:srgbClr val="FF0000"/>
                </a:solidFill>
                <a:latin typeface="Palatino Linotype"/>
                <a:cs typeface="Palatino Linotype"/>
              </a:rPr>
              <a:t>the</a:t>
            </a:r>
            <a:r>
              <a:rPr sz="2200" kern="1200" spc="-15" dirty="0">
                <a:solidFill>
                  <a:srgbClr val="FF0000"/>
                </a:solidFill>
                <a:latin typeface="Palatino Linotype"/>
                <a:cs typeface="Palatino Linotype"/>
              </a:rPr>
              <a:t> </a:t>
            </a:r>
            <a:r>
              <a:rPr sz="2200" kern="1200" spc="-5" dirty="0">
                <a:solidFill>
                  <a:srgbClr val="FF0000"/>
                </a:solidFill>
                <a:latin typeface="Palatino Linotype"/>
                <a:cs typeface="Palatino Linotype"/>
              </a:rPr>
              <a:t>address-calculation</a:t>
            </a:r>
            <a:r>
              <a:rPr sz="2200" kern="1200" spc="20" dirty="0">
                <a:solidFill>
                  <a:srgbClr val="FF0000"/>
                </a:solidFill>
                <a:latin typeface="Palatino Linotype"/>
                <a:cs typeface="Palatino Linotype"/>
              </a:rPr>
              <a:t> </a:t>
            </a:r>
            <a:r>
              <a:rPr sz="2200" kern="1200" spc="-5" dirty="0">
                <a:solidFill>
                  <a:srgbClr val="FF0000"/>
                </a:solidFill>
                <a:latin typeface="Palatino Linotype"/>
                <a:cs typeface="Palatino Linotype"/>
              </a:rPr>
              <a:t>formula</a:t>
            </a:r>
            <a:r>
              <a:rPr sz="2200" kern="1200" spc="15" dirty="0">
                <a:solidFill>
                  <a:srgbClr val="FF0000"/>
                </a:solidFill>
                <a:latin typeface="Palatino Linotype"/>
                <a:cs typeface="Palatino Linotype"/>
              </a:rPr>
              <a:t> </a:t>
            </a:r>
            <a:r>
              <a:rPr sz="2200" kern="1200" spc="-5" dirty="0">
                <a:solidFill>
                  <a:srgbClr val="FF0000"/>
                </a:solidFill>
                <a:latin typeface="Palatino Linotype"/>
                <a:cs typeface="Palatino Linotype"/>
              </a:rPr>
              <a:t>to</a:t>
            </a:r>
            <a:r>
              <a:rPr sz="2200" kern="1200" dirty="0">
                <a:solidFill>
                  <a:srgbClr val="FF0000"/>
                </a:solidFill>
                <a:latin typeface="Palatino Linotype"/>
                <a:cs typeface="Palatino Linotype"/>
              </a:rPr>
              <a:t> </a:t>
            </a:r>
            <a:r>
              <a:rPr sz="2200" kern="1200" spc="-10" dirty="0">
                <a:solidFill>
                  <a:srgbClr val="FF0000"/>
                </a:solidFill>
                <a:latin typeface="Palatino Linotype"/>
                <a:cs typeface="Palatino Linotype"/>
              </a:rPr>
              <a:t>the </a:t>
            </a:r>
            <a:r>
              <a:rPr sz="2200" kern="1200" spc="-5" dirty="0">
                <a:solidFill>
                  <a:srgbClr val="FF0000"/>
                </a:solidFill>
                <a:latin typeface="Palatino Linotype"/>
                <a:cs typeface="Palatino Linotype"/>
              </a:rPr>
              <a:t>grammar</a:t>
            </a:r>
            <a:endParaRPr sz="2200" kern="1200" dirty="0">
              <a:solidFill>
                <a:prstClr val="black"/>
              </a:solidFill>
              <a:latin typeface="Palatino Linotype"/>
              <a:cs typeface="Palatino Linotype"/>
            </a:endParaRPr>
          </a:p>
          <a:p>
            <a:pPr rtl="0">
              <a:spcBef>
                <a:spcPts val="60"/>
              </a:spcBef>
              <a:buFont typeface="Arial MT"/>
              <a:buChar char="•"/>
            </a:pPr>
            <a:endParaRPr sz="2100" kern="1200" dirty="0">
              <a:solidFill>
                <a:prstClr val="black"/>
              </a:solidFill>
              <a:latin typeface="Palatino Linotype"/>
              <a:cs typeface="Palatino Linotype"/>
            </a:endParaRPr>
          </a:p>
          <a:p>
            <a:pPr marL="735965" lvl="1" indent="-228600" rtl="0">
              <a:buFont typeface="Wingdings"/>
              <a:buChar char=""/>
              <a:tabLst>
                <a:tab pos="736600" algn="l"/>
                <a:tab pos="3655060" algn="l"/>
                <a:tab pos="4568190" algn="l"/>
              </a:tabLst>
            </a:pPr>
            <a:r>
              <a:rPr kern="1200" dirty="0">
                <a:solidFill>
                  <a:prstClr val="black"/>
                </a:solidFill>
                <a:latin typeface="Palatino Linotype"/>
                <a:cs typeface="Palatino Linotype"/>
              </a:rPr>
              <a:t>The </a:t>
            </a:r>
            <a:r>
              <a:rPr kern="1200" spc="-5" dirty="0">
                <a:solidFill>
                  <a:prstClr val="black"/>
                </a:solidFill>
                <a:latin typeface="Palatino Linotype"/>
                <a:cs typeface="Palatino Linotype"/>
              </a:rPr>
              <a:t>relative</a:t>
            </a:r>
            <a:r>
              <a:rPr kern="1200" spc="-20" dirty="0">
                <a:solidFill>
                  <a:prstClr val="black"/>
                </a:solidFill>
                <a:latin typeface="Palatino Linotype"/>
                <a:cs typeface="Palatino Linotype"/>
              </a:rPr>
              <a:t> </a:t>
            </a:r>
            <a:r>
              <a:rPr kern="1200" dirty="0">
                <a:solidFill>
                  <a:prstClr val="black"/>
                </a:solidFill>
                <a:latin typeface="Palatino Linotype"/>
                <a:cs typeface="Palatino Linotype"/>
              </a:rPr>
              <a:t>address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of </a:t>
            </a:r>
            <a:r>
              <a:rPr kern="1200" dirty="0">
                <a:solidFill>
                  <a:prstClr val="black"/>
                </a:solidFill>
                <a:latin typeface="Cambria Math"/>
                <a:cs typeface="Cambria Math"/>
              </a:rPr>
              <a:t>𝐴</a:t>
            </a:r>
            <a:r>
              <a:rPr lang="en-US" altLang="zh-CN" kern="1200" dirty="0">
                <a:solidFill>
                  <a:prstClr val="black"/>
                </a:solidFill>
                <a:latin typeface="Cambria Math"/>
                <a:cs typeface="Cambria Math"/>
              </a:rPr>
              <a:t>[</a:t>
            </a:r>
            <a:r>
              <a:rPr kern="1200" spc="5" dirty="0">
                <a:solidFill>
                  <a:prstClr val="black"/>
                </a:solidFill>
                <a:latin typeface="Cambria Math"/>
                <a:cs typeface="Cambria Math"/>
              </a:rPr>
              <a:t>𝑖</a:t>
            </a:r>
            <a:r>
              <a:rPr sz="1950" kern="1200" spc="7" baseline="-14957" dirty="0">
                <a:solidFill>
                  <a:prstClr val="black"/>
                </a:solidFill>
                <a:latin typeface="Cambria Math"/>
                <a:cs typeface="Cambria Math"/>
              </a:rPr>
              <a:t>1</a:t>
            </a:r>
            <a:r>
              <a:rPr kumimoji="0" lang="zh-CN" altLang="en-US" sz="1800" b="0" i="0" u="none" strike="noStrike" kern="1200" cap="none" spc="0" normalizeH="0" baseline="0" noProof="0" dirty="0">
                <a:ln>
                  <a:noFill/>
                </a:ln>
                <a:solidFill>
                  <a:prstClr val="black"/>
                </a:solidFill>
                <a:effectLst/>
                <a:uLnTx/>
                <a:uFillTx/>
                <a:latin typeface="Cambria Math"/>
                <a:cs typeface="Cambria Math"/>
              </a:rPr>
              <a:t> </a:t>
            </a:r>
            <a:r>
              <a:rPr kumimoji="0" lang="en-US" altLang="zh-CN" sz="1800" b="0" i="0" u="none" strike="noStrike" kern="1200" cap="none" spc="0" normalizeH="0" baseline="0" noProof="0" dirty="0">
                <a:ln>
                  <a:noFill/>
                </a:ln>
                <a:solidFill>
                  <a:prstClr val="black"/>
                </a:solidFill>
                <a:effectLst/>
                <a:uLnTx/>
                <a:uFillTx/>
                <a:latin typeface="Cambria Math"/>
                <a:cs typeface="Cambria Math"/>
              </a:rPr>
              <a:t>]</a:t>
            </a:r>
            <a:r>
              <a:rPr kumimoji="0" lang="zh-CN" altLang="en-US" sz="1800" b="0" i="0" u="none" strike="noStrike" kern="1200" cap="none" spc="0" normalizeH="0" baseline="0" noProof="0" dirty="0">
                <a:ln>
                  <a:noFill/>
                </a:ln>
                <a:solidFill>
                  <a:prstClr val="black"/>
                </a:solidFill>
                <a:effectLst/>
                <a:uLnTx/>
                <a:uFillTx/>
                <a:latin typeface="Cambria Math"/>
                <a:cs typeface="Cambria Math"/>
              </a:rPr>
              <a:t> </a:t>
            </a:r>
            <a:r>
              <a:rPr kumimoji="0" lang="en-US" altLang="zh-CN" sz="1800" b="0" i="0" u="none" strike="noStrike" kern="1200" cap="none" spc="0" normalizeH="0" baseline="0" noProof="0" dirty="0">
                <a:ln>
                  <a:noFill/>
                </a:ln>
                <a:solidFill>
                  <a:prstClr val="black"/>
                </a:solidFill>
                <a:effectLst/>
                <a:uLnTx/>
                <a:uFillTx/>
                <a:latin typeface="Cambria Math"/>
                <a:cs typeface="Cambria Math"/>
              </a:rPr>
              <a:t>[</a:t>
            </a:r>
            <a:r>
              <a:rPr kern="1200" spc="25" dirty="0">
                <a:solidFill>
                  <a:prstClr val="black"/>
                </a:solidFill>
                <a:latin typeface="Cambria Math"/>
                <a:cs typeface="Cambria Math"/>
              </a:rPr>
              <a:t>𝑖</a:t>
            </a:r>
            <a:r>
              <a:rPr sz="1950" kern="1200" spc="37" baseline="-14957" dirty="0">
                <a:solidFill>
                  <a:prstClr val="black"/>
                </a:solidFill>
                <a:latin typeface="Cambria Math"/>
                <a:cs typeface="Cambria Math"/>
              </a:rPr>
              <a:t>2 </a:t>
            </a:r>
            <a:r>
              <a:rPr kumimoji="0" lang="en-US" altLang="zh-CN" sz="1800" b="0" i="0" u="none" strike="noStrike" kern="1200" cap="none" spc="0" normalizeH="0" baseline="0" noProof="0" dirty="0">
                <a:ln>
                  <a:noFill/>
                </a:ln>
                <a:solidFill>
                  <a:prstClr val="black"/>
                </a:solidFill>
                <a:effectLst/>
                <a:uLnTx/>
                <a:uFillTx/>
                <a:latin typeface="Cambria Math"/>
                <a:cs typeface="Cambria Math"/>
              </a:rPr>
              <a:t>] </a:t>
            </a:r>
            <a:r>
              <a:rPr kern="1200" dirty="0">
                <a:solidFill>
                  <a:prstClr val="black"/>
                </a:solidFill>
                <a:latin typeface="Cambria Math"/>
                <a:cs typeface="Cambria Math"/>
              </a:rPr>
              <a:t>…</a:t>
            </a:r>
            <a:r>
              <a:rPr lang="zh-CN" altLang="en-US" kern="1200" spc="530" dirty="0">
                <a:solidFill>
                  <a:prstClr val="black"/>
                </a:solidFill>
                <a:latin typeface="Cambria Math"/>
                <a:cs typeface="Cambria Math"/>
              </a:rPr>
              <a:t> </a:t>
            </a:r>
            <a:r>
              <a:rPr kumimoji="0" lang="en-US" altLang="zh-CN" sz="1800" b="0" i="0" u="none" strike="noStrike" kern="1200" cap="none" spc="0" normalizeH="0" baseline="0" noProof="0" dirty="0">
                <a:ln>
                  <a:noFill/>
                </a:ln>
                <a:solidFill>
                  <a:prstClr val="black"/>
                </a:solidFill>
                <a:effectLst/>
                <a:uLnTx/>
                <a:uFillTx/>
                <a:latin typeface="Cambria Math"/>
                <a:cs typeface="Cambria Math"/>
              </a:rPr>
              <a:t>[</a:t>
            </a:r>
            <a:r>
              <a:rPr kern="1200" spc="40" dirty="0">
                <a:solidFill>
                  <a:prstClr val="black"/>
                </a:solidFill>
                <a:latin typeface="Cambria Math"/>
                <a:cs typeface="Cambria Math"/>
              </a:rPr>
              <a:t>𝑖</a:t>
            </a:r>
            <a:r>
              <a:rPr sz="1950" kern="1200" spc="60" baseline="-14957" dirty="0">
                <a:solidFill>
                  <a:prstClr val="black"/>
                </a:solidFill>
                <a:latin typeface="Cambria Math"/>
                <a:cs typeface="Cambria Math"/>
              </a:rPr>
              <a:t>𝑘</a:t>
            </a:r>
            <a:r>
              <a:rPr kumimoji="0" lang="en-US" altLang="zh-CN" sz="1800" b="0" i="0" u="none" strike="noStrike" kern="1200" cap="none" spc="0" normalizeH="0" baseline="0" noProof="0" dirty="0">
                <a:ln>
                  <a:noFill/>
                </a:ln>
                <a:solidFill>
                  <a:prstClr val="black"/>
                </a:solidFill>
                <a:effectLst/>
                <a:uLnTx/>
                <a:uFillTx/>
                <a:latin typeface="Cambria Math"/>
                <a:cs typeface="Cambria Math"/>
              </a:rPr>
              <a:t>] </a:t>
            </a:r>
            <a:r>
              <a:rPr kern="1200" dirty="0">
                <a:solidFill>
                  <a:prstClr val="black"/>
                </a:solidFill>
                <a:latin typeface="Palatino Linotype"/>
                <a:cs typeface="Palatino Linotype"/>
              </a:rPr>
              <a:t>is</a:t>
            </a:r>
            <a:r>
              <a:rPr kern="1200" spc="-10" dirty="0">
                <a:solidFill>
                  <a:prstClr val="black"/>
                </a:solidFill>
                <a:latin typeface="Palatino Linotype"/>
                <a:cs typeface="Palatino Linotype"/>
              </a:rPr>
              <a:t> </a:t>
            </a:r>
            <a:r>
              <a:rPr kern="1200" dirty="0">
                <a:solidFill>
                  <a:prstClr val="black"/>
                </a:solidFill>
                <a:latin typeface="Cambria Math"/>
                <a:cs typeface="Cambria Math"/>
              </a:rPr>
              <a:t>𝑏𝑎𝑠𝑒</a:t>
            </a:r>
            <a:r>
              <a:rPr kern="1200" spc="45" dirty="0">
                <a:solidFill>
                  <a:prstClr val="black"/>
                </a:solidFill>
                <a:latin typeface="Cambria Math"/>
                <a:cs typeface="Cambria Math"/>
              </a:rPr>
              <a:t> </a:t>
            </a:r>
            <a:r>
              <a:rPr kern="1200" dirty="0">
                <a:solidFill>
                  <a:prstClr val="black"/>
                </a:solidFill>
                <a:latin typeface="Cambria Math"/>
                <a:cs typeface="Cambria Math"/>
              </a:rPr>
              <a:t>+</a:t>
            </a:r>
            <a:r>
              <a:rPr kern="1200" spc="390" dirty="0">
                <a:solidFill>
                  <a:prstClr val="black"/>
                </a:solidFill>
                <a:latin typeface="Cambria Math"/>
                <a:cs typeface="Cambria Math"/>
              </a:rPr>
              <a:t> </a:t>
            </a:r>
            <a:r>
              <a:rPr kern="1200" spc="5" dirty="0">
                <a:solidFill>
                  <a:prstClr val="black"/>
                </a:solidFill>
                <a:latin typeface="Cambria Math"/>
                <a:cs typeface="Cambria Math"/>
              </a:rPr>
              <a:t>𝑖</a:t>
            </a:r>
            <a:r>
              <a:rPr sz="1950" kern="1200" spc="7" baseline="-14957" dirty="0">
                <a:solidFill>
                  <a:prstClr val="black"/>
                </a:solidFill>
                <a:latin typeface="Cambria Math"/>
                <a:cs typeface="Cambria Math"/>
              </a:rPr>
              <a:t>1</a:t>
            </a:r>
            <a:r>
              <a:rPr sz="1950" kern="1200" spc="247" baseline="-14957" dirty="0">
                <a:solidFill>
                  <a:prstClr val="black"/>
                </a:solidFill>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spc="-25" dirty="0">
                <a:solidFill>
                  <a:prstClr val="black"/>
                </a:solidFill>
                <a:latin typeface="Cambria Math"/>
                <a:cs typeface="Cambria Math"/>
              </a:rPr>
              <a:t>𝑤</a:t>
            </a:r>
            <a:r>
              <a:rPr sz="1950" kern="1200" spc="-37" baseline="-14957" dirty="0">
                <a:solidFill>
                  <a:prstClr val="black"/>
                </a:solidFill>
                <a:latin typeface="Cambria Math"/>
                <a:cs typeface="Cambria Math"/>
              </a:rPr>
              <a:t>1</a:t>
            </a:r>
            <a:r>
              <a:rPr sz="1950" kern="1200" spc="240" baseline="-14957" dirty="0">
                <a:solidFill>
                  <a:prstClr val="black"/>
                </a:solidFill>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spc="25" dirty="0">
                <a:solidFill>
                  <a:prstClr val="black"/>
                </a:solidFill>
                <a:latin typeface="Cambria Math"/>
                <a:cs typeface="Cambria Math"/>
              </a:rPr>
              <a:t>𝑖</a:t>
            </a:r>
            <a:r>
              <a:rPr sz="1950" kern="1200" spc="37" baseline="-14957" dirty="0">
                <a:solidFill>
                  <a:prstClr val="black"/>
                </a:solidFill>
                <a:latin typeface="Cambria Math"/>
                <a:cs typeface="Cambria Math"/>
              </a:rPr>
              <a:t>2</a:t>
            </a:r>
            <a:r>
              <a:rPr sz="1950" kern="1200" spc="262" baseline="-14957" dirty="0">
                <a:solidFill>
                  <a:prstClr val="black"/>
                </a:solidFill>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spc="-10" dirty="0">
                <a:solidFill>
                  <a:prstClr val="black"/>
                </a:solidFill>
                <a:latin typeface="Cambria Math"/>
                <a:cs typeface="Cambria Math"/>
              </a:rPr>
              <a:t>𝑤</a:t>
            </a:r>
            <a:r>
              <a:rPr sz="1950" kern="1200" spc="-15" baseline="-14957" dirty="0">
                <a:solidFill>
                  <a:prstClr val="black"/>
                </a:solidFill>
                <a:latin typeface="Cambria Math"/>
                <a:cs typeface="Cambria Math"/>
              </a:rPr>
              <a:t>2</a:t>
            </a:r>
            <a:r>
              <a:rPr sz="1950" kern="1200" spc="240" baseline="-14957" dirty="0">
                <a:solidFill>
                  <a:prstClr val="black"/>
                </a:solidFill>
                <a:latin typeface="Cambria Math"/>
                <a:cs typeface="Cambria Math"/>
              </a:rPr>
              <a:t> </a:t>
            </a:r>
            <a:r>
              <a:rPr kern="1200" dirty="0">
                <a:solidFill>
                  <a:prstClr val="black"/>
                </a:solidFill>
                <a:latin typeface="Cambria Math"/>
                <a:cs typeface="Cambria Math"/>
              </a:rPr>
              <a:t>+</a:t>
            </a:r>
          </a:p>
          <a:p>
            <a:pPr marL="735965" rtl="0">
              <a:spcBef>
                <a:spcPts val="434"/>
              </a:spcBef>
            </a:pPr>
            <a:r>
              <a:rPr kern="1200" dirty="0">
                <a:solidFill>
                  <a:prstClr val="black"/>
                </a:solidFill>
                <a:latin typeface="Cambria Math"/>
                <a:cs typeface="Cambria Math"/>
              </a:rPr>
              <a:t>⋯</a:t>
            </a:r>
            <a:r>
              <a:rPr kern="1200" spc="-105" dirty="0">
                <a:solidFill>
                  <a:prstClr val="black"/>
                </a:solidFill>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spc="5" dirty="0">
                <a:solidFill>
                  <a:prstClr val="black"/>
                </a:solidFill>
                <a:latin typeface="Cambria Math"/>
                <a:cs typeface="Cambria Math"/>
              </a:rPr>
              <a:t>𝑖</a:t>
            </a:r>
            <a:r>
              <a:rPr sz="1950" kern="1200" spc="217" baseline="-14957" dirty="0">
                <a:solidFill>
                  <a:prstClr val="black"/>
                </a:solidFill>
                <a:latin typeface="Cambria Math"/>
                <a:cs typeface="Cambria Math"/>
              </a:rPr>
              <a:t>𝑘</a:t>
            </a:r>
            <a:r>
              <a:rPr sz="1950" kern="1200" baseline="-14957" dirty="0">
                <a:solidFill>
                  <a:prstClr val="black"/>
                </a:solidFill>
                <a:latin typeface="Cambria Math"/>
                <a:cs typeface="Cambria Math"/>
              </a:rPr>
              <a:t> </a:t>
            </a:r>
            <a:r>
              <a:rPr sz="1950" kern="1200" spc="-97" baseline="-14957" dirty="0">
                <a:solidFill>
                  <a:prstClr val="black"/>
                </a:solidFill>
                <a:latin typeface="Cambria Math"/>
                <a:cs typeface="Cambria Math"/>
              </a:rPr>
              <a:t> </a:t>
            </a:r>
            <a:r>
              <a:rPr kern="1200" dirty="0">
                <a:solidFill>
                  <a:prstClr val="black"/>
                </a:solidFill>
                <a:latin typeface="Cambria Math"/>
                <a:cs typeface="Cambria Math"/>
              </a:rPr>
              <a:t>∗</a:t>
            </a:r>
            <a:r>
              <a:rPr kern="1200" spc="15" dirty="0">
                <a:solidFill>
                  <a:prstClr val="black"/>
                </a:solidFill>
                <a:latin typeface="Cambria Math"/>
                <a:cs typeface="Cambria Math"/>
              </a:rPr>
              <a:t> </a:t>
            </a:r>
            <a:r>
              <a:rPr kern="1200" spc="-60" dirty="0">
                <a:solidFill>
                  <a:prstClr val="black"/>
                </a:solidFill>
                <a:latin typeface="Cambria Math"/>
                <a:cs typeface="Cambria Math"/>
              </a:rPr>
              <a:t>𝑤</a:t>
            </a:r>
            <a:r>
              <a:rPr sz="1950" kern="1200" spc="217" baseline="-14957" dirty="0">
                <a:solidFill>
                  <a:prstClr val="black"/>
                </a:solidFill>
                <a:latin typeface="Cambria Math"/>
                <a:cs typeface="Cambria Math"/>
              </a:rPr>
              <a:t>𝑘</a:t>
            </a:r>
            <a:endParaRPr sz="1950" kern="1200" baseline="-14957" dirty="0">
              <a:solidFill>
                <a:prstClr val="black"/>
              </a:solidFill>
              <a:latin typeface="Cambria Math"/>
              <a:cs typeface="Cambria Math"/>
            </a:endParaRPr>
          </a:p>
          <a:p>
            <a:pPr rtl="0">
              <a:spcBef>
                <a:spcPts val="20"/>
              </a:spcBef>
            </a:pPr>
            <a:endParaRPr sz="2400" kern="1200" dirty="0">
              <a:solidFill>
                <a:prstClr val="black"/>
              </a:solidFill>
              <a:latin typeface="Cambria Math"/>
              <a:cs typeface="Cambria Math"/>
            </a:endParaRPr>
          </a:p>
          <a:p>
            <a:pPr marL="735965" lvl="1" indent="-228600" rtl="0">
              <a:buFont typeface="Wingdings"/>
              <a:buChar char=""/>
              <a:tabLst>
                <a:tab pos="736600" algn="l"/>
                <a:tab pos="6007100" algn="l"/>
                <a:tab pos="6341110" algn="l"/>
              </a:tabLst>
            </a:pPr>
            <a:r>
              <a:rPr kern="1200" dirty="0">
                <a:solidFill>
                  <a:prstClr val="black"/>
                </a:solidFill>
                <a:latin typeface="Palatino Linotype"/>
                <a:cs typeface="Palatino Linotype"/>
              </a:rPr>
              <a:t>Productions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for </a:t>
            </a:r>
            <a:r>
              <a:rPr kern="1200" spc="-5" dirty="0">
                <a:solidFill>
                  <a:prstClr val="black"/>
                </a:solidFill>
                <a:latin typeface="Palatino Linotype"/>
                <a:cs typeface="Palatino Linotype"/>
              </a:rPr>
              <a:t>generating</a:t>
            </a:r>
            <a:r>
              <a:rPr kern="1200" spc="15" dirty="0">
                <a:solidFill>
                  <a:prstClr val="black"/>
                </a:solidFill>
                <a:latin typeface="Palatino Linotype"/>
                <a:cs typeface="Palatino Linotype"/>
              </a:rPr>
              <a:t> </a:t>
            </a:r>
            <a:r>
              <a:rPr kern="1200" spc="-5" dirty="0">
                <a:solidFill>
                  <a:prstClr val="black"/>
                </a:solidFill>
                <a:latin typeface="Palatino Linotype"/>
                <a:cs typeface="Palatino Linotype"/>
              </a:rPr>
              <a:t>array</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references:</a:t>
            </a:r>
            <a:r>
              <a:rPr kern="1200" spc="25" dirty="0">
                <a:solidFill>
                  <a:prstClr val="black"/>
                </a:solidFill>
                <a:latin typeface="Palatino Linotype"/>
                <a:cs typeface="Palatino Linotype"/>
              </a:rPr>
              <a:t> </a:t>
            </a:r>
            <a:r>
              <a:rPr kern="1200" dirty="0">
                <a:solidFill>
                  <a:prstClr val="black"/>
                </a:solidFill>
                <a:latin typeface="Cambria Math"/>
                <a:cs typeface="Cambria Math"/>
              </a:rPr>
              <a:t>𝐿</a:t>
            </a:r>
            <a:r>
              <a:rPr kern="1200" spc="130" dirty="0">
                <a:solidFill>
                  <a:prstClr val="black"/>
                </a:solidFill>
                <a:latin typeface="Cambria Math"/>
                <a:cs typeface="Cambria Math"/>
              </a:rPr>
              <a:t> </a:t>
            </a:r>
            <a:r>
              <a:rPr kern="1200" dirty="0">
                <a:solidFill>
                  <a:prstClr val="black"/>
                </a:solidFill>
                <a:latin typeface="Cambria Math"/>
                <a:cs typeface="Cambria Math"/>
              </a:rPr>
              <a:t>→</a:t>
            </a:r>
            <a:r>
              <a:rPr kern="1200" spc="114" dirty="0">
                <a:solidFill>
                  <a:prstClr val="black"/>
                </a:solidFill>
                <a:latin typeface="Cambria Math"/>
                <a:cs typeface="Cambria Math"/>
              </a:rPr>
              <a:t> </a:t>
            </a:r>
            <a:r>
              <a:rPr kern="1200" dirty="0">
                <a:solidFill>
                  <a:prstClr val="black"/>
                </a:solidFill>
                <a:latin typeface="Cambria Math"/>
                <a:cs typeface="Cambria Math"/>
              </a:rPr>
              <a:t>𝐿</a:t>
            </a:r>
            <a:r>
              <a:rPr kumimoji="0" lang="en-US" altLang="zh-CN" sz="1800" b="0" i="0" u="none" strike="noStrike" kern="1200" cap="none" spc="0" normalizeH="0" baseline="0" noProof="0" dirty="0">
                <a:ln>
                  <a:noFill/>
                </a:ln>
                <a:solidFill>
                  <a:prstClr val="black"/>
                </a:solidFill>
                <a:effectLst/>
                <a:uLnTx/>
                <a:uFillTx/>
                <a:latin typeface="Cambria Math"/>
                <a:cs typeface="Cambria Math"/>
              </a:rPr>
              <a:t>[</a:t>
            </a:r>
            <a:r>
              <a:rPr kern="1200" dirty="0">
                <a:solidFill>
                  <a:prstClr val="black"/>
                </a:solidFill>
                <a:latin typeface="Cambria Math"/>
                <a:cs typeface="Cambria Math"/>
              </a:rPr>
              <a:t>𝐸</a:t>
            </a:r>
            <a:r>
              <a:rPr kumimoji="0" lang="en-US" altLang="zh-CN" sz="1800" b="0" i="0" u="none" strike="noStrike" kern="1200" cap="none" spc="0" normalizeH="0" baseline="0" noProof="0" dirty="0">
                <a:ln>
                  <a:noFill/>
                </a:ln>
                <a:solidFill>
                  <a:prstClr val="black"/>
                </a:solidFill>
                <a:effectLst/>
                <a:uLnTx/>
                <a:uFillTx/>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spc="-5" dirty="0">
                <a:solidFill>
                  <a:prstClr val="black"/>
                </a:solidFill>
                <a:latin typeface="Cambria Math"/>
                <a:cs typeface="Cambria Math"/>
              </a:rPr>
              <a:t>𝐢𝐝</a:t>
            </a:r>
            <a:r>
              <a:rPr kern="1200" spc="-20" dirty="0">
                <a:solidFill>
                  <a:prstClr val="black"/>
                </a:solidFill>
                <a:latin typeface="Cambria Math"/>
                <a:cs typeface="Cambria Math"/>
              </a:rPr>
              <a:t> </a:t>
            </a:r>
            <a:r>
              <a:rPr kern="1200" dirty="0">
                <a:solidFill>
                  <a:prstClr val="black"/>
                </a:solidFill>
                <a:latin typeface="Cambria Math"/>
                <a:cs typeface="Cambria Math"/>
              </a:rPr>
              <a:t>[</a:t>
            </a:r>
            <a:r>
              <a:rPr kern="1200" spc="-10" dirty="0">
                <a:solidFill>
                  <a:prstClr val="black"/>
                </a:solidFill>
                <a:latin typeface="Cambria Math"/>
                <a:cs typeface="Cambria Math"/>
              </a:rPr>
              <a:t> </a:t>
            </a:r>
            <a:r>
              <a:rPr kern="1200" dirty="0">
                <a:solidFill>
                  <a:prstClr val="black"/>
                </a:solidFill>
                <a:latin typeface="Cambria Math"/>
                <a:cs typeface="Cambria Math"/>
              </a:rPr>
              <a:t>𝐸</a:t>
            </a:r>
            <a:r>
              <a:rPr kern="1200" spc="40" dirty="0">
                <a:solidFill>
                  <a:prstClr val="black"/>
                </a:solidFill>
                <a:latin typeface="Cambria Math"/>
                <a:cs typeface="Cambria Math"/>
              </a:rPr>
              <a:t> </a:t>
            </a:r>
            <a:r>
              <a:rPr kern="1200" dirty="0">
                <a:solidFill>
                  <a:prstClr val="black"/>
                </a:solidFill>
                <a:latin typeface="Cambria Math"/>
                <a:cs typeface="Cambria Math"/>
              </a:rPr>
              <a:t>]</a:t>
            </a:r>
          </a:p>
        </p:txBody>
      </p:sp>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62</a:t>
            </a:fld>
            <a:endParaRPr lang="en-US"/>
          </a:p>
        </p:txBody>
      </p:sp>
      <p:sp>
        <p:nvSpPr>
          <p:cNvPr id="15" name="object 2">
            <a:extLst>
              <a:ext uri="{FF2B5EF4-FFF2-40B4-BE49-F238E27FC236}">
                <a16:creationId xmlns:a16="http://schemas.microsoft.com/office/drawing/2014/main" id="{84E8D5E2-FBC8-8CE7-01C9-6ACF89A061A9}"/>
              </a:ext>
            </a:extLst>
          </p:cNvPr>
          <p:cNvSpPr txBox="1">
            <a:spLocks/>
          </p:cNvSpPr>
          <p:nvPr/>
        </p:nvSpPr>
        <p:spPr>
          <a:xfrm>
            <a:off x="707542" y="520141"/>
            <a:ext cx="7393305"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35" normalizeH="0" baseline="0" noProof="0">
                <a:ln>
                  <a:noFill/>
                </a:ln>
                <a:solidFill>
                  <a:sysClr val="windowText" lastClr="000000"/>
                </a:solidFill>
                <a:effectLst/>
                <a:uLnTx/>
                <a:uFillTx/>
                <a:latin typeface="Palatino Linotype"/>
                <a:ea typeface="+mj-ea"/>
              </a:rPr>
              <a:t>Translation</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of</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Array</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References</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Tree>
    <p:extLst>
      <p:ext uri="{BB962C8B-B14F-4D97-AF65-F5344CB8AC3E}">
        <p14:creationId xmlns:p14="http://schemas.microsoft.com/office/powerpoint/2010/main" val="3182737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112AF95-9F97-41A6-A4F4-8CF4711A176A}"/>
              </a:ext>
            </a:extLst>
          </p:cNvPr>
          <p:cNvSpPr>
            <a:spLocks noGrp="1"/>
          </p:cNvSpPr>
          <p:nvPr>
            <p:ph type="dt" sz="half" idx="10"/>
          </p:nvPr>
        </p:nvSpPr>
        <p:spPr/>
        <p:txBody>
          <a:bodyPr/>
          <a:lstStyle/>
          <a:p>
            <a:pPr>
              <a:defRPr/>
            </a:pPr>
            <a:r>
              <a:rPr lang="en-US" altLang="zh-CN"/>
              <a:t>Fall 2024</a:t>
            </a:r>
            <a:endParaRPr lang="en-US"/>
          </a:p>
        </p:txBody>
      </p:sp>
      <p:sp>
        <p:nvSpPr>
          <p:cNvPr id="3" name="页脚占位符 2">
            <a:extLst>
              <a:ext uri="{FF2B5EF4-FFF2-40B4-BE49-F238E27FC236}">
                <a16:creationId xmlns:a16="http://schemas.microsoft.com/office/drawing/2014/main" id="{582FC3D8-2DB5-4D7E-AEE2-D51181F24E4B}"/>
              </a:ext>
            </a:extLst>
          </p:cNvPr>
          <p:cNvSpPr>
            <a:spLocks noGrp="1"/>
          </p:cNvSpPr>
          <p:nvPr>
            <p:ph type="ftr" sz="quarter" idx="11"/>
          </p:nvPr>
        </p:nvSpPr>
        <p:spPr/>
        <p:txBody>
          <a:bodyPr/>
          <a:lstStyle/>
          <a:p>
            <a:pPr>
              <a:defRPr/>
            </a:pPr>
            <a:r>
              <a:rPr lang="en-US"/>
              <a:t>BUPT Compilers</a:t>
            </a:r>
          </a:p>
        </p:txBody>
      </p:sp>
      <p:sp>
        <p:nvSpPr>
          <p:cNvPr id="4" name="灯片编号占位符 3">
            <a:extLst>
              <a:ext uri="{FF2B5EF4-FFF2-40B4-BE49-F238E27FC236}">
                <a16:creationId xmlns:a16="http://schemas.microsoft.com/office/drawing/2014/main" id="{6E0DF6DF-AF75-4501-927D-1DC45EA23FA4}"/>
              </a:ext>
            </a:extLst>
          </p:cNvPr>
          <p:cNvSpPr>
            <a:spLocks noGrp="1"/>
          </p:cNvSpPr>
          <p:nvPr>
            <p:ph type="sldNum" sz="quarter" idx="12"/>
          </p:nvPr>
        </p:nvSpPr>
        <p:spPr/>
        <p:txBody>
          <a:bodyPr/>
          <a:lstStyle/>
          <a:p>
            <a:pPr>
              <a:defRPr/>
            </a:pPr>
            <a:fld id="{2FBC720A-3716-234A-B2DF-CBC7E48049F5}" type="slidenum">
              <a:rPr lang="en-US" altLang="zh-CN" smtClean="0"/>
              <a:t>63</a:t>
            </a:fld>
            <a:endParaRPr lang="en-US" altLang="zh-CN"/>
          </a:p>
        </p:txBody>
      </p:sp>
      <p:sp>
        <p:nvSpPr>
          <p:cNvPr id="5" name="矩形 4">
            <a:extLst>
              <a:ext uri="{FF2B5EF4-FFF2-40B4-BE49-F238E27FC236}">
                <a16:creationId xmlns:a16="http://schemas.microsoft.com/office/drawing/2014/main" id="{152F0FEC-DB1E-4A20-9EB8-C406D99F2DAB}"/>
              </a:ext>
            </a:extLst>
          </p:cNvPr>
          <p:cNvSpPr/>
          <p:nvPr/>
        </p:nvSpPr>
        <p:spPr>
          <a:xfrm>
            <a:off x="323850" y="1203325"/>
            <a:ext cx="8424863" cy="2681288"/>
          </a:xfrm>
          <a:prstGeom prst="rect">
            <a:avLst/>
          </a:prstGeom>
        </p:spPr>
        <p:txBody>
          <a:bodyPr>
            <a:spAutoFit/>
          </a:bodyPr>
          <a:lstStyle/>
          <a:p>
            <a:pPr marL="576248" lvl="1" indent="-273044" eaLnBrk="1" hangingPunct="1">
              <a:lnSpc>
                <a:spcPts val="3500"/>
              </a:lnSpc>
              <a:spcBef>
                <a:spcPct val="20000"/>
              </a:spcBef>
              <a:buSzPct val="100000"/>
              <a:buFont typeface="Wingdings" pitchFamily="2" charset="2"/>
              <a:buChar char="Ø"/>
              <a:defRPr/>
            </a:pPr>
            <a:r>
              <a:rPr lang="zh-CN" altLang="en-US" sz="2800" b="1" dirty="0">
                <a:solidFill>
                  <a:prstClr val="black"/>
                </a:solidFill>
                <a:latin typeface="Times New Roman" panose="02020603050405020304" pitchFamily="18" charset="0"/>
                <a:ea typeface="华文楷体" panose="02010600040101010101" pitchFamily="2" charset="-122"/>
                <a:cs typeface="Times New Roman" pitchFamily="18" charset="0"/>
              </a:rPr>
              <a:t>假设</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type</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a:t>
            </a:r>
            <a:r>
              <a:rPr lang="en-US" altLang="zh-CN" sz="2800" b="1" i="1" dirty="0">
                <a:solidFill>
                  <a:srgbClr val="073E87">
                    <a:lumMod val="60000"/>
                    <a:lumOff val="40000"/>
                  </a:srgbClr>
                </a:solidFill>
                <a:latin typeface="Times New Roman" panose="02020603050405020304" pitchFamily="18" charset="0"/>
                <a:ea typeface="华文楷体" panose="02010600040101010101" pitchFamily="2" charset="-122"/>
                <a:cs typeface="Times New Roman" pitchFamily="18" charset="0"/>
              </a:rPr>
              <a:t>a</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 array</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3</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 </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array</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5</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 </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array</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8</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 </a:t>
            </a:r>
            <a:r>
              <a:rPr lang="en-US" altLang="zh-CN" sz="2800" b="1" i="1" dirty="0" err="1">
                <a:solidFill>
                  <a:prstClr val="black"/>
                </a:solidFill>
                <a:latin typeface="Times New Roman" panose="02020603050405020304" pitchFamily="18" charset="0"/>
                <a:ea typeface="华文楷体" panose="02010600040101010101" pitchFamily="2" charset="-122"/>
                <a:cs typeface="Times New Roman" pitchFamily="18" charset="0"/>
              </a:rPr>
              <a:t>int</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 ) )</a:t>
            </a:r>
            <a:r>
              <a:rPr lang="zh-CN" altLang="en-US" sz="2800" b="1" dirty="0">
                <a:solidFill>
                  <a:prstClr val="black"/>
                </a:solidFill>
                <a:latin typeface="Times New Roman" panose="02020603050405020304" pitchFamily="18" charset="0"/>
                <a:ea typeface="华文楷体" panose="02010600040101010101" pitchFamily="2" charset="-122"/>
                <a:cs typeface="Times New Roman" pitchFamily="18" charset="0"/>
              </a:rPr>
              <a:t>，</a:t>
            </a:r>
            <a:endPar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endParaRPr>
          </a:p>
          <a:p>
            <a:pPr marL="303204" lvl="1" indent="0" eaLnBrk="1" hangingPunct="1">
              <a:lnSpc>
                <a:spcPts val="3500"/>
              </a:lnSpc>
              <a:spcBef>
                <a:spcPct val="20000"/>
              </a:spcBef>
              <a:buSzPct val="100000"/>
              <a:defRPr/>
            </a:pPr>
            <a:r>
              <a:rPr lang="zh-CN" altLang="en-US" sz="2500" b="1" dirty="0">
                <a:solidFill>
                  <a:srgbClr val="000000"/>
                </a:solidFill>
                <a:latin typeface="Times New Roman" pitchFamily="18" charset="0"/>
                <a:ea typeface="楷体" pitchFamily="49" charset="-122"/>
                <a:cs typeface="Times New Roman" pitchFamily="18" charset="0"/>
              </a:rPr>
              <a:t>    </a:t>
            </a:r>
            <a:r>
              <a:rPr lang="zh-CN" altLang="en-US" sz="2800" b="1" dirty="0">
                <a:solidFill>
                  <a:srgbClr val="000000"/>
                </a:solidFill>
                <a:latin typeface="Times New Roman" pitchFamily="18" charset="0"/>
                <a:ea typeface="楷体" pitchFamily="49" charset="-122"/>
                <a:cs typeface="Times New Roman" pitchFamily="18" charset="0"/>
              </a:rPr>
              <a:t>一个整型变量占用</a:t>
            </a:r>
            <a:r>
              <a:rPr lang="en-US" altLang="zh-CN" sz="2800" b="1" dirty="0">
                <a:solidFill>
                  <a:srgbClr val="000000"/>
                </a:solidFill>
                <a:latin typeface="Times New Roman" pitchFamily="18" charset="0"/>
                <a:ea typeface="楷体" pitchFamily="49" charset="-122"/>
                <a:cs typeface="Times New Roman" pitchFamily="18" charset="0"/>
              </a:rPr>
              <a:t>4</a:t>
            </a:r>
            <a:r>
              <a:rPr lang="zh-CN" altLang="en-US" sz="2800" b="1" dirty="0">
                <a:solidFill>
                  <a:srgbClr val="000000"/>
                </a:solidFill>
                <a:latin typeface="Times New Roman" pitchFamily="18" charset="0"/>
                <a:ea typeface="楷体" pitchFamily="49" charset="-122"/>
                <a:cs typeface="Times New Roman" pitchFamily="18" charset="0"/>
              </a:rPr>
              <a:t>个字节，</a:t>
            </a:r>
            <a:endPar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endParaRPr>
          </a:p>
          <a:p>
            <a:pPr lvl="1" indent="0" eaLnBrk="1" hangingPunct="1">
              <a:lnSpc>
                <a:spcPts val="3500"/>
              </a:lnSpc>
              <a:spcBef>
                <a:spcPct val="20000"/>
              </a:spcBef>
              <a:buClr>
                <a:srgbClr val="FF0000"/>
              </a:buClr>
              <a:buSzPct val="100000"/>
              <a:defRPr/>
            </a:pP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   </a:t>
            </a:r>
            <a:r>
              <a:rPr lang="zh-CN" altLang="en-US" sz="2800" b="1" dirty="0">
                <a:solidFill>
                  <a:prstClr val="black"/>
                </a:solidFill>
                <a:latin typeface="Times New Roman" panose="02020603050405020304" pitchFamily="18" charset="0"/>
                <a:ea typeface="华文楷体" panose="02010600040101010101" pitchFamily="2" charset="-122"/>
                <a:cs typeface="Times New Roman" pitchFamily="18" charset="0"/>
              </a:rPr>
              <a:t>则</a:t>
            </a:r>
            <a:r>
              <a:rPr lang="en-US" altLang="zh-CN" sz="2800" b="1" i="1" dirty="0" err="1">
                <a:solidFill>
                  <a:prstClr val="black"/>
                </a:solidFill>
                <a:latin typeface="Times New Roman" panose="02020603050405020304" pitchFamily="18" charset="0"/>
                <a:ea typeface="华文楷体" panose="02010600040101010101" pitchFamily="2" charset="-122"/>
                <a:cs typeface="Times New Roman" pitchFamily="18" charset="0"/>
              </a:rPr>
              <a:t>addr</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a</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i</a:t>
            </a:r>
            <a:r>
              <a:rPr lang="en-US" altLang="zh-CN" sz="2800" b="1" baseline="-25000" dirty="0">
                <a:solidFill>
                  <a:prstClr val="black"/>
                </a:solidFill>
                <a:latin typeface="Times New Roman" panose="02020603050405020304" pitchFamily="18" charset="0"/>
                <a:ea typeface="华文楷体" panose="02010600040101010101" pitchFamily="2" charset="-122"/>
                <a:cs typeface="Times New Roman" pitchFamily="18" charset="0"/>
              </a:rPr>
              <a:t>1</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i</a:t>
            </a:r>
            <a:r>
              <a:rPr lang="en-US" altLang="zh-CN" sz="2800" b="1" baseline="-25000" dirty="0">
                <a:solidFill>
                  <a:prstClr val="black"/>
                </a:solidFill>
                <a:latin typeface="Times New Roman" panose="02020603050405020304" pitchFamily="18" charset="0"/>
                <a:ea typeface="华文楷体" panose="02010600040101010101" pitchFamily="2" charset="-122"/>
                <a:cs typeface="Times New Roman" pitchFamily="18" charset="0"/>
              </a:rPr>
              <a:t>2</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i</a:t>
            </a:r>
            <a:r>
              <a:rPr lang="en-US" altLang="zh-CN" sz="2800" b="1" baseline="-25000" dirty="0">
                <a:solidFill>
                  <a:prstClr val="black"/>
                </a:solidFill>
                <a:latin typeface="Times New Roman" panose="02020603050405020304" pitchFamily="18" charset="0"/>
                <a:ea typeface="华文楷体" panose="02010600040101010101" pitchFamily="2" charset="-122"/>
                <a:cs typeface="Times New Roman" pitchFamily="18" charset="0"/>
              </a:rPr>
              <a:t>3</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 = </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base </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 </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i</a:t>
            </a:r>
            <a:r>
              <a:rPr lang="en-US" altLang="zh-CN" sz="2800" b="1" baseline="-25000" dirty="0">
                <a:solidFill>
                  <a:prstClr val="black"/>
                </a:solidFill>
                <a:latin typeface="Times New Roman" panose="02020603050405020304" pitchFamily="18" charset="0"/>
                <a:ea typeface="华文楷体" panose="02010600040101010101" pitchFamily="2" charset="-122"/>
                <a:cs typeface="Times New Roman" pitchFamily="18" charset="0"/>
              </a:rPr>
              <a:t>1 </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 w</a:t>
            </a:r>
            <a:r>
              <a:rPr lang="en-US" altLang="zh-CN" sz="2800" b="1" baseline="-25000" dirty="0">
                <a:solidFill>
                  <a:prstClr val="black"/>
                </a:solidFill>
                <a:latin typeface="Times New Roman" panose="02020603050405020304" pitchFamily="18" charset="0"/>
                <a:ea typeface="华文楷体" panose="02010600040101010101" pitchFamily="2" charset="-122"/>
                <a:cs typeface="Times New Roman" pitchFamily="18" charset="0"/>
              </a:rPr>
              <a:t>1</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  + </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i</a:t>
            </a:r>
            <a:r>
              <a:rPr lang="en-US" altLang="zh-CN" sz="2800" b="1" baseline="-25000" dirty="0">
                <a:solidFill>
                  <a:prstClr val="black"/>
                </a:solidFill>
                <a:latin typeface="Times New Roman" panose="02020603050405020304" pitchFamily="18" charset="0"/>
                <a:ea typeface="华文楷体" panose="02010600040101010101" pitchFamily="2" charset="-122"/>
                <a:cs typeface="Times New Roman" pitchFamily="18" charset="0"/>
              </a:rPr>
              <a:t>2</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w</a:t>
            </a:r>
            <a:r>
              <a:rPr lang="en-US" altLang="zh-CN" sz="2800" b="1" baseline="-25000" dirty="0">
                <a:solidFill>
                  <a:prstClr val="black"/>
                </a:solidFill>
                <a:latin typeface="Times New Roman" panose="02020603050405020304" pitchFamily="18" charset="0"/>
                <a:ea typeface="华文楷体" panose="02010600040101010101" pitchFamily="2" charset="-122"/>
                <a:cs typeface="Times New Roman" pitchFamily="18" charset="0"/>
              </a:rPr>
              <a:t>2</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 + </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i</a:t>
            </a:r>
            <a:r>
              <a:rPr lang="en-US" altLang="zh-CN" sz="2800" b="1" baseline="-25000" dirty="0">
                <a:solidFill>
                  <a:prstClr val="black"/>
                </a:solidFill>
                <a:latin typeface="Times New Roman" panose="02020603050405020304" pitchFamily="18" charset="0"/>
                <a:ea typeface="华文楷体" panose="02010600040101010101" pitchFamily="2" charset="-122"/>
                <a:cs typeface="Times New Roman" pitchFamily="18" charset="0"/>
              </a:rPr>
              <a:t>3</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w</a:t>
            </a:r>
            <a:r>
              <a:rPr lang="en-US" altLang="zh-CN" sz="2800" b="1" baseline="-25000" dirty="0">
                <a:solidFill>
                  <a:prstClr val="black"/>
                </a:solidFill>
                <a:latin typeface="Times New Roman" panose="02020603050405020304" pitchFamily="18" charset="0"/>
                <a:ea typeface="华文楷体" panose="02010600040101010101" pitchFamily="2" charset="-122"/>
                <a:cs typeface="Times New Roman" pitchFamily="18" charset="0"/>
              </a:rPr>
              <a:t>3</a:t>
            </a:r>
            <a:endPar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endParaRPr>
          </a:p>
          <a:p>
            <a:pPr lvl="1" indent="0" eaLnBrk="1" hangingPunct="1">
              <a:lnSpc>
                <a:spcPts val="3500"/>
              </a:lnSpc>
              <a:spcBef>
                <a:spcPct val="20000"/>
              </a:spcBef>
              <a:buClr>
                <a:srgbClr val="FF0000"/>
              </a:buClr>
              <a:buSzPct val="100000"/>
              <a:defRPr/>
            </a:pP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                                    = </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base </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 </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i</a:t>
            </a:r>
            <a:r>
              <a:rPr lang="en-US" altLang="zh-CN" sz="2800" b="1" baseline="-25000" dirty="0">
                <a:solidFill>
                  <a:prstClr val="black"/>
                </a:solidFill>
                <a:latin typeface="Times New Roman" panose="02020603050405020304" pitchFamily="18" charset="0"/>
                <a:ea typeface="华文楷体" panose="02010600040101010101" pitchFamily="2" charset="-122"/>
                <a:cs typeface="Times New Roman" pitchFamily="18" charset="0"/>
              </a:rPr>
              <a:t>1</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*160 + </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i</a:t>
            </a:r>
            <a:r>
              <a:rPr lang="en-US" altLang="zh-CN" sz="2800" b="1" baseline="-25000" dirty="0">
                <a:solidFill>
                  <a:prstClr val="black"/>
                </a:solidFill>
                <a:latin typeface="Times New Roman" panose="02020603050405020304" pitchFamily="18" charset="0"/>
                <a:ea typeface="华文楷体" panose="02010600040101010101" pitchFamily="2" charset="-122"/>
                <a:cs typeface="Times New Roman" pitchFamily="18" charset="0"/>
              </a:rPr>
              <a:t>2</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*32 + </a:t>
            </a:r>
            <a:r>
              <a:rPr lang="en-US" altLang="zh-CN" sz="2800" b="1" i="1" dirty="0">
                <a:solidFill>
                  <a:prstClr val="black"/>
                </a:solidFill>
                <a:latin typeface="Times New Roman" panose="02020603050405020304" pitchFamily="18" charset="0"/>
                <a:ea typeface="华文楷体" panose="02010600040101010101" pitchFamily="2" charset="-122"/>
                <a:cs typeface="Times New Roman" pitchFamily="18" charset="0"/>
              </a:rPr>
              <a:t>i</a:t>
            </a:r>
            <a:r>
              <a:rPr lang="en-US" altLang="zh-CN" sz="2800" b="1" baseline="-25000" dirty="0">
                <a:solidFill>
                  <a:prstClr val="black"/>
                </a:solidFill>
                <a:latin typeface="Times New Roman" panose="02020603050405020304" pitchFamily="18" charset="0"/>
                <a:ea typeface="华文楷体" panose="02010600040101010101" pitchFamily="2" charset="-122"/>
                <a:cs typeface="Times New Roman" pitchFamily="18" charset="0"/>
              </a:rPr>
              <a:t>3</a:t>
            </a:r>
            <a:r>
              <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rPr>
              <a:t>*4</a:t>
            </a:r>
          </a:p>
          <a:p>
            <a:pPr lvl="1" indent="0" eaLnBrk="1" hangingPunct="1">
              <a:lnSpc>
                <a:spcPts val="3500"/>
              </a:lnSpc>
              <a:spcBef>
                <a:spcPct val="20000"/>
              </a:spcBef>
              <a:buClr>
                <a:srgbClr val="FF0000"/>
              </a:buClr>
              <a:buSzPct val="100000"/>
              <a:defRPr/>
            </a:pPr>
            <a:endParaRPr lang="en-US" altLang="zh-CN" sz="2800" b="1" dirty="0">
              <a:solidFill>
                <a:prstClr val="black"/>
              </a:solidFill>
              <a:latin typeface="Times New Roman" panose="02020603050405020304" pitchFamily="18" charset="0"/>
              <a:ea typeface="华文楷体" panose="02010600040101010101" pitchFamily="2" charset="-122"/>
              <a:cs typeface="Times New Roman" pitchFamily="18" charset="0"/>
            </a:endParaRPr>
          </a:p>
        </p:txBody>
      </p:sp>
      <p:grpSp>
        <p:nvGrpSpPr>
          <p:cNvPr id="6" name="组合 15">
            <a:extLst>
              <a:ext uri="{FF2B5EF4-FFF2-40B4-BE49-F238E27FC236}">
                <a16:creationId xmlns:a16="http://schemas.microsoft.com/office/drawing/2014/main" id="{1D3EA878-592C-4CA5-BEBE-B032D5B87CB1}"/>
              </a:ext>
            </a:extLst>
          </p:cNvPr>
          <p:cNvGrpSpPr>
            <a:grpSpLocks/>
          </p:cNvGrpSpPr>
          <p:nvPr/>
        </p:nvGrpSpPr>
        <p:grpSpPr bwMode="auto">
          <a:xfrm>
            <a:off x="3879850" y="3246438"/>
            <a:ext cx="2347913" cy="588962"/>
            <a:chOff x="3879504" y="2814638"/>
            <a:chExt cx="2348680" cy="589330"/>
          </a:xfrm>
        </p:grpSpPr>
        <p:cxnSp>
          <p:nvCxnSpPr>
            <p:cNvPr id="7" name="直接连接符 6">
              <a:extLst>
                <a:ext uri="{FF2B5EF4-FFF2-40B4-BE49-F238E27FC236}">
                  <a16:creationId xmlns:a16="http://schemas.microsoft.com/office/drawing/2014/main" id="{B6F09577-6D78-488D-BE26-0E21DFFE202C}"/>
                </a:ext>
              </a:extLst>
            </p:cNvPr>
            <p:cNvCxnSpPr/>
            <p:nvPr/>
          </p:nvCxnSpPr>
          <p:spPr>
            <a:xfrm>
              <a:off x="5651733" y="2814638"/>
              <a:ext cx="576451" cy="0"/>
            </a:xfrm>
            <a:prstGeom prst="line">
              <a:avLst/>
            </a:prstGeom>
            <a:ln w="381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B143ABB8-5B2E-4512-AABA-53CAF7D54550}"/>
                </a:ext>
              </a:extLst>
            </p:cNvPr>
            <p:cNvCxnSpPr/>
            <p:nvPr/>
          </p:nvCxnSpPr>
          <p:spPr>
            <a:xfrm>
              <a:off x="5219792" y="3187933"/>
              <a:ext cx="576451" cy="0"/>
            </a:xfrm>
            <a:prstGeom prst="line">
              <a:avLst/>
            </a:prstGeom>
            <a:ln w="381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BCEC0BBE-FE45-459E-A2EF-99845185BB30}"/>
                </a:ext>
              </a:extLst>
            </p:cNvPr>
            <p:cNvCxnSpPr/>
            <p:nvPr/>
          </p:nvCxnSpPr>
          <p:spPr>
            <a:xfrm flipV="1">
              <a:off x="5796243" y="2833700"/>
              <a:ext cx="63521" cy="354233"/>
            </a:xfrm>
            <a:prstGeom prst="line">
              <a:avLst/>
            </a:prstGeom>
            <a:ln w="381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 name="矩形 13">
              <a:extLst>
                <a:ext uri="{FF2B5EF4-FFF2-40B4-BE49-F238E27FC236}">
                  <a16:creationId xmlns:a16="http://schemas.microsoft.com/office/drawing/2014/main" id="{3CC1B93C-98E3-4650-BFFE-E9F7389E4258}"/>
                </a:ext>
              </a:extLst>
            </p:cNvPr>
            <p:cNvSpPr>
              <a:spLocks noChangeArrowheads="1"/>
            </p:cNvSpPr>
            <p:nvPr/>
          </p:nvSpPr>
          <p:spPr bwMode="auto">
            <a:xfrm>
              <a:off x="3879504" y="3003668"/>
              <a:ext cx="1413337" cy="400300"/>
            </a:xfrm>
            <a:prstGeom prst="rect">
              <a:avLst/>
            </a:prstGeom>
            <a:noFill/>
            <a:ln>
              <a:noFill/>
            </a:ln>
          </p:spPr>
          <p:txBody>
            <a:bodyPr wrap="none">
              <a:spAutoFit/>
            </a:bodyPr>
            <a:lstStyle/>
            <a:p>
              <a:pPr>
                <a:defRPr/>
              </a:pPr>
              <a:r>
                <a:rPr lang="en-US" altLang="zh-CN" sz="2000" b="1" i="1" dirty="0">
                  <a:solidFill>
                    <a:schemeClr val="tx2">
                      <a:lumMod val="60000"/>
                      <a:lumOff val="40000"/>
                    </a:schemeClr>
                  </a:solidFill>
                  <a:latin typeface="Times New Roman" pitchFamily="18" charset="0"/>
                  <a:ea typeface="楷体" pitchFamily="49" charset="-122"/>
                  <a:cs typeface="Times New Roman" pitchFamily="18" charset="0"/>
                </a:rPr>
                <a:t>a</a:t>
              </a:r>
              <a:r>
                <a:rPr lang="en-US" altLang="zh-CN" sz="2000" b="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i="1" baseline="-25000"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000" b="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b="1" dirty="0">
                  <a:solidFill>
                    <a:srgbClr val="2D83F4"/>
                  </a:solidFill>
                  <a:latin typeface="Times New Roman" panose="02020603050405020304" pitchFamily="18" charset="0"/>
                  <a:ea typeface="楷体" panose="02010609060101010101" pitchFamily="49" charset="-122"/>
                  <a:cs typeface="Times New Roman" panose="02020603050405020304" pitchFamily="18" charset="0"/>
                </a:rPr>
                <a:t>的宽度</a:t>
              </a:r>
              <a:endParaRPr lang="zh-CN" altLang="en-US" sz="2000" dirty="0">
                <a:solidFill>
                  <a:srgbClr val="2D83F4"/>
                </a:solidFill>
                <a:ea typeface="楷体" panose="02010609060101010101" pitchFamily="49" charset="-122"/>
                <a:cs typeface="Times New Roman" panose="02020603050405020304" pitchFamily="18" charset="0"/>
              </a:endParaRPr>
            </a:p>
          </p:txBody>
        </p:sp>
      </p:grpSp>
      <p:grpSp>
        <p:nvGrpSpPr>
          <p:cNvPr id="11" name="组合 17">
            <a:extLst>
              <a:ext uri="{FF2B5EF4-FFF2-40B4-BE49-F238E27FC236}">
                <a16:creationId xmlns:a16="http://schemas.microsoft.com/office/drawing/2014/main" id="{277038A0-1745-44CA-AB54-F74E9E2E7345}"/>
              </a:ext>
            </a:extLst>
          </p:cNvPr>
          <p:cNvGrpSpPr>
            <a:grpSpLocks/>
          </p:cNvGrpSpPr>
          <p:nvPr/>
        </p:nvGrpSpPr>
        <p:grpSpPr bwMode="auto">
          <a:xfrm>
            <a:off x="4849813" y="3246438"/>
            <a:ext cx="2530475" cy="939800"/>
            <a:chOff x="3533593" y="2814638"/>
            <a:chExt cx="2530158" cy="940078"/>
          </a:xfrm>
        </p:grpSpPr>
        <p:cxnSp>
          <p:nvCxnSpPr>
            <p:cNvPr id="12" name="直接连接符 11">
              <a:extLst>
                <a:ext uri="{FF2B5EF4-FFF2-40B4-BE49-F238E27FC236}">
                  <a16:creationId xmlns:a16="http://schemas.microsoft.com/office/drawing/2014/main" id="{BE5316E8-1719-4656-A191-00BC6897C4B7}"/>
                </a:ext>
              </a:extLst>
            </p:cNvPr>
            <p:cNvCxnSpPr/>
            <p:nvPr/>
          </p:nvCxnSpPr>
          <p:spPr>
            <a:xfrm>
              <a:off x="5652640" y="2814638"/>
              <a:ext cx="411111" cy="0"/>
            </a:xfrm>
            <a:prstGeom prst="line">
              <a:avLst/>
            </a:prstGeom>
            <a:ln w="381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D315B205-CC84-42FD-A320-F3E0A3E43AC6}"/>
                </a:ext>
              </a:extLst>
            </p:cNvPr>
            <p:cNvCxnSpPr/>
            <p:nvPr/>
          </p:nvCxnSpPr>
          <p:spPr>
            <a:xfrm>
              <a:off x="5219307" y="3538752"/>
              <a:ext cx="576190" cy="0"/>
            </a:xfrm>
            <a:prstGeom prst="line">
              <a:avLst/>
            </a:prstGeom>
            <a:ln w="381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F90DA764-0A7A-4C26-B179-C8965621457F}"/>
                </a:ext>
              </a:extLst>
            </p:cNvPr>
            <p:cNvCxnSpPr/>
            <p:nvPr/>
          </p:nvCxnSpPr>
          <p:spPr>
            <a:xfrm flipV="1">
              <a:off x="5795497" y="2833694"/>
              <a:ext cx="63492" cy="705058"/>
            </a:xfrm>
            <a:prstGeom prst="line">
              <a:avLst/>
            </a:prstGeom>
            <a:ln w="381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 name="矩形 21">
              <a:extLst>
                <a:ext uri="{FF2B5EF4-FFF2-40B4-BE49-F238E27FC236}">
                  <a16:creationId xmlns:a16="http://schemas.microsoft.com/office/drawing/2014/main" id="{05DDF369-FE0C-4A67-BA54-C45890997FF0}"/>
                </a:ext>
              </a:extLst>
            </p:cNvPr>
            <p:cNvSpPr>
              <a:spLocks noChangeArrowheads="1"/>
            </p:cNvSpPr>
            <p:nvPr/>
          </p:nvSpPr>
          <p:spPr bwMode="auto">
            <a:xfrm>
              <a:off x="3533593" y="3354513"/>
              <a:ext cx="1737674" cy="400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000" b="1" i="1">
                  <a:solidFill>
                    <a:srgbClr val="2D83F4"/>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sz="2000" b="1">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i="1" baseline="-25000">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000" b="1">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i="1" baseline="-25000">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000" b="1">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b="1">
                  <a:solidFill>
                    <a:srgbClr val="2D83F4"/>
                  </a:solidFill>
                  <a:latin typeface="Times New Roman" panose="02020603050405020304" pitchFamily="18" charset="0"/>
                  <a:ea typeface="楷体" panose="02010609060101010101" pitchFamily="49" charset="-122"/>
                  <a:cs typeface="Times New Roman" panose="02020603050405020304" pitchFamily="18" charset="0"/>
                </a:rPr>
                <a:t>的宽度</a:t>
              </a:r>
              <a:endParaRPr lang="zh-CN" altLang="en-US" sz="2000">
                <a:solidFill>
                  <a:srgbClr val="2D83F4"/>
                </a:solidFill>
              </a:endParaRPr>
            </a:p>
          </p:txBody>
        </p:sp>
      </p:grpSp>
      <p:grpSp>
        <p:nvGrpSpPr>
          <p:cNvPr id="16" name="组合 24">
            <a:extLst>
              <a:ext uri="{FF2B5EF4-FFF2-40B4-BE49-F238E27FC236}">
                <a16:creationId xmlns:a16="http://schemas.microsoft.com/office/drawing/2014/main" id="{1C7E34C9-C560-4247-A022-18DDE61452AD}"/>
              </a:ext>
            </a:extLst>
          </p:cNvPr>
          <p:cNvGrpSpPr>
            <a:grpSpLocks/>
          </p:cNvGrpSpPr>
          <p:nvPr/>
        </p:nvGrpSpPr>
        <p:grpSpPr bwMode="auto">
          <a:xfrm>
            <a:off x="5532438" y="3219450"/>
            <a:ext cx="2898775" cy="1368425"/>
            <a:chOff x="3164757" y="2814638"/>
            <a:chExt cx="2898994" cy="1368212"/>
          </a:xfrm>
        </p:grpSpPr>
        <p:cxnSp>
          <p:nvCxnSpPr>
            <p:cNvPr id="17" name="直接连接符 16">
              <a:extLst>
                <a:ext uri="{FF2B5EF4-FFF2-40B4-BE49-F238E27FC236}">
                  <a16:creationId xmlns:a16="http://schemas.microsoft.com/office/drawing/2014/main" id="{39FE058C-EB2C-4DC2-BDAF-3CF651285B1F}"/>
                </a:ext>
              </a:extLst>
            </p:cNvPr>
            <p:cNvCxnSpPr/>
            <p:nvPr/>
          </p:nvCxnSpPr>
          <p:spPr>
            <a:xfrm>
              <a:off x="5652557" y="2814638"/>
              <a:ext cx="411194" cy="0"/>
            </a:xfrm>
            <a:prstGeom prst="line">
              <a:avLst/>
            </a:prstGeom>
            <a:ln w="381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223FF9CF-DDF4-4F85-A24F-D781AE539B8E}"/>
                </a:ext>
              </a:extLst>
            </p:cNvPr>
            <p:cNvCxnSpPr/>
            <p:nvPr/>
          </p:nvCxnSpPr>
          <p:spPr>
            <a:xfrm>
              <a:off x="5149282" y="3966984"/>
              <a:ext cx="576306" cy="0"/>
            </a:xfrm>
            <a:prstGeom prst="line">
              <a:avLst/>
            </a:prstGeom>
            <a:ln w="381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25B03415-8541-4511-AE6A-85F8EE258228}"/>
                </a:ext>
              </a:extLst>
            </p:cNvPr>
            <p:cNvCxnSpPr/>
            <p:nvPr/>
          </p:nvCxnSpPr>
          <p:spPr>
            <a:xfrm flipV="1">
              <a:off x="5725587" y="2833685"/>
              <a:ext cx="79381" cy="1149171"/>
            </a:xfrm>
            <a:prstGeom prst="line">
              <a:avLst/>
            </a:prstGeom>
            <a:ln w="381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0" name="矩形 28">
              <a:extLst>
                <a:ext uri="{FF2B5EF4-FFF2-40B4-BE49-F238E27FC236}">
                  <a16:creationId xmlns:a16="http://schemas.microsoft.com/office/drawing/2014/main" id="{A9E9EA2B-3D78-49F1-80A3-4360E8E61999}"/>
                </a:ext>
              </a:extLst>
            </p:cNvPr>
            <p:cNvSpPr>
              <a:spLocks noChangeArrowheads="1"/>
            </p:cNvSpPr>
            <p:nvPr/>
          </p:nvSpPr>
          <p:spPr bwMode="auto">
            <a:xfrm>
              <a:off x="3164757" y="3782820"/>
              <a:ext cx="2063909" cy="40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000" b="1" i="1">
                  <a:solidFill>
                    <a:srgbClr val="2D83F4"/>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sz="2000" b="1">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i="1" baseline="-25000">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000" b="1">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i="1" baseline="-25000">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000" b="1">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i="1" baseline="-25000">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3</a:t>
              </a:r>
              <a:r>
                <a:rPr lang="en-US" altLang="zh-CN" sz="2000" b="1">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b="1">
                  <a:solidFill>
                    <a:srgbClr val="2D83F4"/>
                  </a:solidFill>
                  <a:latin typeface="Times New Roman" panose="02020603050405020304" pitchFamily="18" charset="0"/>
                  <a:ea typeface="楷体" panose="02010609060101010101" pitchFamily="49" charset="-122"/>
                  <a:cs typeface="Times New Roman" panose="02020603050405020304" pitchFamily="18" charset="0"/>
                </a:rPr>
                <a:t>的宽度</a:t>
              </a:r>
              <a:endParaRPr lang="zh-CN" altLang="en-US" sz="2000">
                <a:solidFill>
                  <a:srgbClr val="2D83F4"/>
                </a:solidFill>
              </a:endParaRPr>
            </a:p>
          </p:txBody>
        </p:sp>
      </p:grpSp>
    </p:spTree>
    <p:extLst>
      <p:ext uri="{BB962C8B-B14F-4D97-AF65-F5344CB8AC3E}">
        <p14:creationId xmlns:p14="http://schemas.microsoft.com/office/powerpoint/2010/main" val="321564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dirty="0"/>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64</a:t>
            </a:fld>
            <a:endParaRPr lang="en-US" dirty="0"/>
          </a:p>
        </p:txBody>
      </p:sp>
      <p:sp>
        <p:nvSpPr>
          <p:cNvPr id="22" name="object 2">
            <a:extLst>
              <a:ext uri="{FF2B5EF4-FFF2-40B4-BE49-F238E27FC236}">
                <a16:creationId xmlns:a16="http://schemas.microsoft.com/office/drawing/2014/main" id="{7861359A-8AD2-159D-4BB0-39F71D027A1A}"/>
              </a:ext>
            </a:extLst>
          </p:cNvPr>
          <p:cNvSpPr txBox="1">
            <a:spLocks/>
          </p:cNvSpPr>
          <p:nvPr/>
        </p:nvSpPr>
        <p:spPr>
          <a:xfrm>
            <a:off x="707542" y="520141"/>
            <a:ext cx="673989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SDT</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for</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Array</a:t>
            </a:r>
            <a:r>
              <a:rPr kumimoji="0" lang="en-US" sz="4000" b="1" i="0" u="none" strike="noStrike" kern="0" cap="none" spc="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References</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(1)</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23" name="object 3">
            <a:extLst>
              <a:ext uri="{FF2B5EF4-FFF2-40B4-BE49-F238E27FC236}">
                <a16:creationId xmlns:a16="http://schemas.microsoft.com/office/drawing/2014/main" id="{8AEEDDB2-67FF-090D-A2DF-E3690730C14A}"/>
              </a:ext>
            </a:extLst>
          </p:cNvPr>
          <p:cNvSpPr txBox="1"/>
          <p:nvPr/>
        </p:nvSpPr>
        <p:spPr>
          <a:xfrm>
            <a:off x="540512" y="4469129"/>
            <a:ext cx="3430270" cy="239395"/>
          </a:xfrm>
          <a:prstGeom prst="rect">
            <a:avLst/>
          </a:prstGeom>
        </p:spPr>
        <p:txBody>
          <a:bodyPr vert="horz" wrap="square" lIns="0" tIns="12700" rIns="0" bIns="0" rtlCol="0">
            <a:spAutoFit/>
          </a:bodyPr>
          <a:lstStyle/>
          <a:p>
            <a:pPr marL="12700" rtl="0">
              <a:spcBef>
                <a:spcPts val="100"/>
              </a:spcBef>
            </a:pPr>
            <a:r>
              <a:rPr sz="1400" kern="1200" spc="30" dirty="0">
                <a:solidFill>
                  <a:srgbClr val="FF0000"/>
                </a:solidFill>
                <a:latin typeface="Cambria Math"/>
                <a:cs typeface="Cambria Math"/>
              </a:rPr>
              <a:t>𝐿</a:t>
            </a:r>
            <a:r>
              <a:rPr sz="1400" kern="1200" dirty="0">
                <a:solidFill>
                  <a:srgbClr val="FF0000"/>
                </a:solidFill>
                <a:latin typeface="Cambria Math"/>
                <a:cs typeface="Cambria Math"/>
              </a:rPr>
              <a:t>.</a:t>
            </a:r>
            <a:r>
              <a:rPr sz="1400" kern="1200" spc="-85" dirty="0">
                <a:solidFill>
                  <a:srgbClr val="FF0000"/>
                </a:solidFill>
                <a:latin typeface="Cambria Math"/>
                <a:cs typeface="Cambria Math"/>
              </a:rPr>
              <a:t> </a:t>
            </a:r>
            <a:r>
              <a:rPr sz="1400" kern="1200" spc="-5" dirty="0">
                <a:solidFill>
                  <a:srgbClr val="FF0000"/>
                </a:solidFill>
                <a:latin typeface="Cambria Math"/>
                <a:cs typeface="Cambria Math"/>
              </a:rPr>
              <a:t>𝑎𝑟</a:t>
            </a:r>
            <a:r>
              <a:rPr sz="1400" kern="1200" spc="-10" dirty="0">
                <a:solidFill>
                  <a:srgbClr val="FF0000"/>
                </a:solidFill>
                <a:latin typeface="Cambria Math"/>
                <a:cs typeface="Cambria Math"/>
              </a:rPr>
              <a:t>𝑟</a:t>
            </a:r>
            <a:r>
              <a:rPr sz="1400" kern="1200" spc="-5" dirty="0">
                <a:solidFill>
                  <a:srgbClr val="FF0000"/>
                </a:solidFill>
                <a:latin typeface="Cambria Math"/>
                <a:cs typeface="Cambria Math"/>
              </a:rPr>
              <a:t>𝑎</a:t>
            </a:r>
            <a:r>
              <a:rPr sz="1400" kern="1200" spc="20" dirty="0">
                <a:solidFill>
                  <a:srgbClr val="FF0000"/>
                </a:solidFill>
                <a:latin typeface="Cambria Math"/>
                <a:cs typeface="Cambria Math"/>
              </a:rPr>
              <a:t>𝑦</a:t>
            </a:r>
            <a:r>
              <a:rPr sz="1400" kern="1200" dirty="0">
                <a:solidFill>
                  <a:srgbClr val="FF0000"/>
                </a:solidFill>
                <a:latin typeface="Cambria Math"/>
                <a:cs typeface="Cambria Math"/>
              </a:rPr>
              <a:t>.</a:t>
            </a:r>
            <a:r>
              <a:rPr sz="1400" kern="1200" spc="-85" dirty="0">
                <a:solidFill>
                  <a:srgbClr val="FF0000"/>
                </a:solidFill>
                <a:latin typeface="Cambria Math"/>
                <a:cs typeface="Cambria Math"/>
              </a:rPr>
              <a:t> </a:t>
            </a:r>
            <a:r>
              <a:rPr sz="1400" kern="1200" spc="-5" dirty="0">
                <a:solidFill>
                  <a:srgbClr val="FF0000"/>
                </a:solidFill>
                <a:latin typeface="Cambria Math"/>
                <a:cs typeface="Cambria Math"/>
              </a:rPr>
              <a:t>𝑏𝑎𝑠</a:t>
            </a:r>
            <a:r>
              <a:rPr sz="1400" kern="1200" spc="15" dirty="0">
                <a:solidFill>
                  <a:srgbClr val="FF0000"/>
                </a:solidFill>
                <a:latin typeface="Cambria Math"/>
                <a:cs typeface="Cambria Math"/>
              </a:rPr>
              <a:t>𝑒</a:t>
            </a:r>
            <a:r>
              <a:rPr sz="1400" kern="1200" dirty="0">
                <a:solidFill>
                  <a:prstClr val="black"/>
                </a:solidFill>
                <a:latin typeface="Palatino Linotype"/>
                <a:cs typeface="Palatino Linotype"/>
              </a:rPr>
              <a:t>:</a:t>
            </a:r>
            <a:r>
              <a:rPr sz="1400" kern="1200" spc="-5" dirty="0">
                <a:solidFill>
                  <a:prstClr val="black"/>
                </a:solidFill>
                <a:latin typeface="Palatino Linotype"/>
                <a:cs typeface="Palatino Linotype"/>
              </a:rPr>
              <a:t> th</a:t>
            </a:r>
            <a:r>
              <a:rPr sz="1400" kern="1200" dirty="0">
                <a:solidFill>
                  <a:prstClr val="black"/>
                </a:solidFill>
                <a:latin typeface="Palatino Linotype"/>
                <a:cs typeface="Palatino Linotype"/>
              </a:rPr>
              <a:t>e </a:t>
            </a:r>
            <a:r>
              <a:rPr sz="1400" kern="1200" spc="-5" dirty="0">
                <a:solidFill>
                  <a:prstClr val="black"/>
                </a:solidFill>
                <a:latin typeface="Palatino Linotype"/>
                <a:cs typeface="Palatino Linotype"/>
              </a:rPr>
              <a:t>b</a:t>
            </a:r>
            <a:r>
              <a:rPr sz="1400" kern="1200" spc="5" dirty="0">
                <a:solidFill>
                  <a:prstClr val="black"/>
                </a:solidFill>
                <a:latin typeface="Palatino Linotype"/>
                <a:cs typeface="Palatino Linotype"/>
              </a:rPr>
              <a:t>a</a:t>
            </a:r>
            <a:r>
              <a:rPr sz="1400" kern="1200" dirty="0">
                <a:solidFill>
                  <a:prstClr val="black"/>
                </a:solidFill>
                <a:latin typeface="Palatino Linotype"/>
                <a:cs typeface="Palatino Linotype"/>
              </a:rPr>
              <a:t>se</a:t>
            </a:r>
            <a:r>
              <a:rPr sz="1400" kern="1200" spc="-30" dirty="0">
                <a:solidFill>
                  <a:prstClr val="black"/>
                </a:solidFill>
                <a:latin typeface="Palatino Linotype"/>
                <a:cs typeface="Palatino Linotype"/>
              </a:rPr>
              <a:t> </a:t>
            </a:r>
            <a:r>
              <a:rPr sz="1400" kern="1200" dirty="0">
                <a:solidFill>
                  <a:prstClr val="black"/>
                </a:solidFill>
                <a:latin typeface="Palatino Linotype"/>
                <a:cs typeface="Palatino Linotype"/>
              </a:rPr>
              <a:t>a</a:t>
            </a:r>
            <a:r>
              <a:rPr sz="1400" kern="1200" spc="-10" dirty="0">
                <a:solidFill>
                  <a:prstClr val="black"/>
                </a:solidFill>
                <a:latin typeface="Palatino Linotype"/>
                <a:cs typeface="Palatino Linotype"/>
              </a:rPr>
              <a:t>dd</a:t>
            </a:r>
            <a:r>
              <a:rPr sz="1400" kern="1200" dirty="0">
                <a:solidFill>
                  <a:prstClr val="black"/>
                </a:solidFill>
                <a:latin typeface="Palatino Linotype"/>
                <a:cs typeface="Palatino Linotype"/>
              </a:rPr>
              <a:t>ress</a:t>
            </a:r>
            <a:r>
              <a:rPr sz="1400" kern="1200" spc="-35" dirty="0">
                <a:solidFill>
                  <a:prstClr val="black"/>
                </a:solidFill>
                <a:latin typeface="Palatino Linotype"/>
                <a:cs typeface="Palatino Linotype"/>
              </a:rPr>
              <a:t> </a:t>
            </a:r>
            <a:r>
              <a:rPr sz="1400" kern="1200" dirty="0">
                <a:solidFill>
                  <a:prstClr val="black"/>
                </a:solidFill>
                <a:latin typeface="Palatino Linotype"/>
                <a:cs typeface="Palatino Linotype"/>
              </a:rPr>
              <a:t>of </a:t>
            </a:r>
            <a:r>
              <a:rPr sz="1400" kern="1200" spc="-5" dirty="0">
                <a:solidFill>
                  <a:prstClr val="black"/>
                </a:solidFill>
                <a:latin typeface="Palatino Linotype"/>
                <a:cs typeface="Palatino Linotype"/>
              </a:rPr>
              <a:t>th</a:t>
            </a:r>
            <a:r>
              <a:rPr sz="1400" kern="1200" dirty="0">
                <a:solidFill>
                  <a:prstClr val="black"/>
                </a:solidFill>
                <a:latin typeface="Palatino Linotype"/>
                <a:cs typeface="Palatino Linotype"/>
              </a:rPr>
              <a:t>e</a:t>
            </a:r>
            <a:r>
              <a:rPr sz="1400" kern="1200" spc="-5" dirty="0">
                <a:solidFill>
                  <a:prstClr val="black"/>
                </a:solidFill>
                <a:latin typeface="Palatino Linotype"/>
                <a:cs typeface="Palatino Linotype"/>
              </a:rPr>
              <a:t> </a:t>
            </a:r>
            <a:r>
              <a:rPr sz="1400" kern="1200" dirty="0">
                <a:solidFill>
                  <a:prstClr val="black"/>
                </a:solidFill>
                <a:latin typeface="Palatino Linotype"/>
                <a:cs typeface="Palatino Linotype"/>
              </a:rPr>
              <a:t>array</a:t>
            </a:r>
            <a:endParaRPr sz="1400" kern="1200">
              <a:solidFill>
                <a:prstClr val="black"/>
              </a:solidFill>
              <a:latin typeface="Palatino Linotype"/>
              <a:cs typeface="Palatino Linotype"/>
            </a:endParaRPr>
          </a:p>
        </p:txBody>
      </p:sp>
      <p:sp>
        <p:nvSpPr>
          <p:cNvPr id="24" name="object 4">
            <a:extLst>
              <a:ext uri="{FF2B5EF4-FFF2-40B4-BE49-F238E27FC236}">
                <a16:creationId xmlns:a16="http://schemas.microsoft.com/office/drawing/2014/main" id="{0936D16D-FF67-3C33-080B-6037E575CDF9}"/>
              </a:ext>
            </a:extLst>
          </p:cNvPr>
          <p:cNvSpPr txBox="1"/>
          <p:nvPr/>
        </p:nvSpPr>
        <p:spPr>
          <a:xfrm>
            <a:off x="540512" y="4834890"/>
            <a:ext cx="5372100" cy="239395"/>
          </a:xfrm>
          <a:prstGeom prst="rect">
            <a:avLst/>
          </a:prstGeom>
        </p:spPr>
        <p:txBody>
          <a:bodyPr vert="horz" wrap="square" lIns="0" tIns="12700" rIns="0" bIns="0" rtlCol="0">
            <a:spAutoFit/>
          </a:bodyPr>
          <a:lstStyle/>
          <a:p>
            <a:pPr marL="12700" rtl="0">
              <a:spcBef>
                <a:spcPts val="100"/>
              </a:spcBef>
            </a:pPr>
            <a:r>
              <a:rPr sz="1400" kern="1200" spc="15" dirty="0">
                <a:solidFill>
                  <a:srgbClr val="FF0000"/>
                </a:solidFill>
                <a:latin typeface="Cambria Math"/>
                <a:cs typeface="Cambria Math"/>
              </a:rPr>
              <a:t>𝐿.</a:t>
            </a:r>
            <a:r>
              <a:rPr sz="1400" kern="1200" spc="-85" dirty="0">
                <a:solidFill>
                  <a:srgbClr val="FF0000"/>
                </a:solidFill>
                <a:latin typeface="Cambria Math"/>
                <a:cs typeface="Cambria Math"/>
              </a:rPr>
              <a:t> </a:t>
            </a:r>
            <a:r>
              <a:rPr sz="1400" kern="1200" dirty="0">
                <a:solidFill>
                  <a:srgbClr val="FF0000"/>
                </a:solidFill>
                <a:latin typeface="Cambria Math"/>
                <a:cs typeface="Cambria Math"/>
              </a:rPr>
              <a:t>𝑎𝑑𝑑𝑟</a:t>
            </a:r>
            <a:r>
              <a:rPr sz="1400" kern="1200" dirty="0">
                <a:solidFill>
                  <a:prstClr val="black"/>
                </a:solidFill>
                <a:latin typeface="Palatino Linotype"/>
                <a:cs typeface="Palatino Linotype"/>
              </a:rPr>
              <a:t>: a</a:t>
            </a:r>
            <a:r>
              <a:rPr sz="1400" kern="1200" spc="15" dirty="0">
                <a:solidFill>
                  <a:prstClr val="black"/>
                </a:solidFill>
                <a:latin typeface="Palatino Linotype"/>
                <a:cs typeface="Palatino Linotype"/>
              </a:rPr>
              <a:t> </a:t>
            </a:r>
            <a:r>
              <a:rPr sz="1400" kern="1200" spc="-5" dirty="0">
                <a:solidFill>
                  <a:prstClr val="black"/>
                </a:solidFill>
                <a:latin typeface="Palatino Linotype"/>
                <a:cs typeface="Palatino Linotype"/>
              </a:rPr>
              <a:t>temporary</a:t>
            </a:r>
            <a:r>
              <a:rPr sz="1400" kern="1200" spc="-15" dirty="0">
                <a:solidFill>
                  <a:prstClr val="black"/>
                </a:solidFill>
                <a:latin typeface="Palatino Linotype"/>
                <a:cs typeface="Palatino Linotype"/>
              </a:rPr>
              <a:t> </a:t>
            </a:r>
            <a:r>
              <a:rPr sz="1400" kern="1200" dirty="0">
                <a:solidFill>
                  <a:prstClr val="black"/>
                </a:solidFill>
                <a:latin typeface="Palatino Linotype"/>
                <a:cs typeface="Palatino Linotype"/>
              </a:rPr>
              <a:t>for</a:t>
            </a:r>
            <a:r>
              <a:rPr sz="1400" kern="1200" spc="-10" dirty="0">
                <a:solidFill>
                  <a:prstClr val="black"/>
                </a:solidFill>
                <a:latin typeface="Palatino Linotype"/>
                <a:cs typeface="Palatino Linotype"/>
              </a:rPr>
              <a:t> </a:t>
            </a:r>
            <a:r>
              <a:rPr sz="1400" kern="1200" spc="-5" dirty="0">
                <a:solidFill>
                  <a:prstClr val="black"/>
                </a:solidFill>
                <a:latin typeface="Palatino Linotype"/>
                <a:cs typeface="Palatino Linotype"/>
              </a:rPr>
              <a:t>computing the </a:t>
            </a:r>
            <a:r>
              <a:rPr sz="1400" kern="1200" dirty="0">
                <a:solidFill>
                  <a:prstClr val="black"/>
                </a:solidFill>
                <a:latin typeface="Palatino Linotype"/>
                <a:cs typeface="Palatino Linotype"/>
              </a:rPr>
              <a:t>offset</a:t>
            </a:r>
            <a:r>
              <a:rPr sz="1400" kern="1200" spc="-15" dirty="0">
                <a:solidFill>
                  <a:prstClr val="black"/>
                </a:solidFill>
                <a:latin typeface="Palatino Linotype"/>
                <a:cs typeface="Palatino Linotype"/>
              </a:rPr>
              <a:t> </a:t>
            </a:r>
            <a:r>
              <a:rPr sz="1400" kern="1200" dirty="0">
                <a:solidFill>
                  <a:prstClr val="black"/>
                </a:solidFill>
                <a:latin typeface="Palatino Linotype"/>
                <a:cs typeface="Palatino Linotype"/>
              </a:rPr>
              <a:t>for</a:t>
            </a:r>
            <a:r>
              <a:rPr sz="1400" kern="1200" spc="-10" dirty="0">
                <a:solidFill>
                  <a:prstClr val="black"/>
                </a:solidFill>
                <a:latin typeface="Palatino Linotype"/>
                <a:cs typeface="Palatino Linotype"/>
              </a:rPr>
              <a:t> </a:t>
            </a:r>
            <a:r>
              <a:rPr sz="1400" kern="1200" spc="-5" dirty="0">
                <a:solidFill>
                  <a:prstClr val="black"/>
                </a:solidFill>
                <a:latin typeface="Palatino Linotype"/>
                <a:cs typeface="Palatino Linotype"/>
              </a:rPr>
              <a:t>the</a:t>
            </a:r>
            <a:r>
              <a:rPr sz="1400" kern="1200" spc="10" dirty="0">
                <a:solidFill>
                  <a:prstClr val="black"/>
                </a:solidFill>
                <a:latin typeface="Palatino Linotype"/>
                <a:cs typeface="Palatino Linotype"/>
              </a:rPr>
              <a:t> </a:t>
            </a:r>
            <a:r>
              <a:rPr sz="1400" kern="1200" spc="-5" dirty="0">
                <a:solidFill>
                  <a:prstClr val="black"/>
                </a:solidFill>
                <a:latin typeface="Palatino Linotype"/>
                <a:cs typeface="Palatino Linotype"/>
              </a:rPr>
              <a:t>array</a:t>
            </a:r>
            <a:r>
              <a:rPr sz="1400" kern="1200" spc="-25" dirty="0">
                <a:solidFill>
                  <a:prstClr val="black"/>
                </a:solidFill>
                <a:latin typeface="Palatino Linotype"/>
                <a:cs typeface="Palatino Linotype"/>
              </a:rPr>
              <a:t> </a:t>
            </a:r>
            <a:r>
              <a:rPr sz="1400" kern="1200" dirty="0">
                <a:solidFill>
                  <a:prstClr val="black"/>
                </a:solidFill>
                <a:latin typeface="Palatino Linotype"/>
                <a:cs typeface="Palatino Linotype"/>
              </a:rPr>
              <a:t>reference</a:t>
            </a:r>
          </a:p>
        </p:txBody>
      </p:sp>
      <p:sp>
        <p:nvSpPr>
          <p:cNvPr id="25" name="object 5">
            <a:extLst>
              <a:ext uri="{FF2B5EF4-FFF2-40B4-BE49-F238E27FC236}">
                <a16:creationId xmlns:a16="http://schemas.microsoft.com/office/drawing/2014/main" id="{7A39EAC2-BE84-F0B3-101B-B558A4C37221}"/>
              </a:ext>
            </a:extLst>
          </p:cNvPr>
          <p:cNvSpPr txBox="1"/>
          <p:nvPr/>
        </p:nvSpPr>
        <p:spPr>
          <a:xfrm>
            <a:off x="540512" y="5200650"/>
            <a:ext cx="3725545" cy="239395"/>
          </a:xfrm>
          <a:prstGeom prst="rect">
            <a:avLst/>
          </a:prstGeom>
        </p:spPr>
        <p:txBody>
          <a:bodyPr vert="horz" wrap="square" lIns="0" tIns="12700" rIns="0" bIns="0" rtlCol="0">
            <a:spAutoFit/>
          </a:bodyPr>
          <a:lstStyle/>
          <a:p>
            <a:pPr marL="12700" rtl="0">
              <a:spcBef>
                <a:spcPts val="100"/>
              </a:spcBef>
            </a:pPr>
            <a:r>
              <a:rPr sz="1400" kern="1200" spc="30" dirty="0">
                <a:solidFill>
                  <a:srgbClr val="FF0000"/>
                </a:solidFill>
                <a:latin typeface="Cambria Math"/>
                <a:cs typeface="Cambria Math"/>
              </a:rPr>
              <a:t>𝐿</a:t>
            </a:r>
            <a:r>
              <a:rPr sz="1400" kern="1200" dirty="0">
                <a:solidFill>
                  <a:srgbClr val="FF0000"/>
                </a:solidFill>
                <a:latin typeface="Cambria Math"/>
                <a:cs typeface="Cambria Math"/>
              </a:rPr>
              <a:t>.</a:t>
            </a:r>
            <a:r>
              <a:rPr sz="1400" kern="1200" spc="-85" dirty="0">
                <a:solidFill>
                  <a:srgbClr val="FF0000"/>
                </a:solidFill>
                <a:latin typeface="Cambria Math"/>
                <a:cs typeface="Cambria Math"/>
              </a:rPr>
              <a:t> </a:t>
            </a:r>
            <a:r>
              <a:rPr sz="1400" kern="1200" dirty="0">
                <a:solidFill>
                  <a:srgbClr val="FF0000"/>
                </a:solidFill>
                <a:latin typeface="Cambria Math"/>
                <a:cs typeface="Cambria Math"/>
              </a:rPr>
              <a:t>𝑡</a:t>
            </a:r>
            <a:r>
              <a:rPr sz="1400" kern="1200" spc="-10" dirty="0">
                <a:solidFill>
                  <a:srgbClr val="FF0000"/>
                </a:solidFill>
                <a:latin typeface="Cambria Math"/>
                <a:cs typeface="Cambria Math"/>
              </a:rPr>
              <a:t>𝑦</a:t>
            </a:r>
            <a:r>
              <a:rPr sz="1400" kern="1200" dirty="0">
                <a:solidFill>
                  <a:srgbClr val="FF0000"/>
                </a:solidFill>
                <a:latin typeface="Cambria Math"/>
                <a:cs typeface="Cambria Math"/>
              </a:rPr>
              <a:t>𝑝</a:t>
            </a:r>
            <a:r>
              <a:rPr sz="1400" kern="1200" spc="30" dirty="0">
                <a:solidFill>
                  <a:srgbClr val="FF0000"/>
                </a:solidFill>
                <a:latin typeface="Cambria Math"/>
                <a:cs typeface="Cambria Math"/>
              </a:rPr>
              <a:t>𝑒</a:t>
            </a:r>
            <a:r>
              <a:rPr sz="1400" kern="1200" dirty="0">
                <a:solidFill>
                  <a:prstClr val="black"/>
                </a:solidFill>
                <a:latin typeface="Palatino Linotype"/>
                <a:cs typeface="Palatino Linotype"/>
              </a:rPr>
              <a:t>:</a:t>
            </a:r>
            <a:r>
              <a:rPr sz="1400" kern="1200" spc="-5" dirty="0">
                <a:solidFill>
                  <a:prstClr val="black"/>
                </a:solidFill>
                <a:latin typeface="Palatino Linotype"/>
                <a:cs typeface="Palatino Linotype"/>
              </a:rPr>
              <a:t> th</a:t>
            </a:r>
            <a:r>
              <a:rPr sz="1400" kern="1200" dirty="0">
                <a:solidFill>
                  <a:prstClr val="black"/>
                </a:solidFill>
                <a:latin typeface="Palatino Linotype"/>
                <a:cs typeface="Palatino Linotype"/>
              </a:rPr>
              <a:t>e </a:t>
            </a:r>
            <a:r>
              <a:rPr sz="1400" kern="1200" spc="-5" dirty="0">
                <a:solidFill>
                  <a:prstClr val="black"/>
                </a:solidFill>
                <a:latin typeface="Palatino Linotype"/>
                <a:cs typeface="Palatino Linotype"/>
              </a:rPr>
              <a:t>ty</a:t>
            </a:r>
            <a:r>
              <a:rPr sz="1400" kern="1200" spc="-10" dirty="0">
                <a:solidFill>
                  <a:prstClr val="black"/>
                </a:solidFill>
                <a:latin typeface="Palatino Linotype"/>
                <a:cs typeface="Palatino Linotype"/>
              </a:rPr>
              <a:t>p</a:t>
            </a:r>
            <a:r>
              <a:rPr sz="1400" kern="1200" dirty="0">
                <a:solidFill>
                  <a:prstClr val="black"/>
                </a:solidFill>
                <a:latin typeface="Palatino Linotype"/>
                <a:cs typeface="Palatino Linotype"/>
              </a:rPr>
              <a:t>e of</a:t>
            </a:r>
            <a:r>
              <a:rPr sz="1400" kern="1200" spc="-5" dirty="0">
                <a:solidFill>
                  <a:prstClr val="black"/>
                </a:solidFill>
                <a:latin typeface="Palatino Linotype"/>
                <a:cs typeface="Palatino Linotype"/>
              </a:rPr>
              <a:t> th</a:t>
            </a:r>
            <a:r>
              <a:rPr sz="1400" kern="1200" dirty="0">
                <a:solidFill>
                  <a:prstClr val="black"/>
                </a:solidFill>
                <a:latin typeface="Palatino Linotype"/>
                <a:cs typeface="Palatino Linotype"/>
              </a:rPr>
              <a:t>e</a:t>
            </a:r>
            <a:r>
              <a:rPr sz="1400" kern="1200" spc="-5" dirty="0">
                <a:solidFill>
                  <a:prstClr val="black"/>
                </a:solidFill>
                <a:latin typeface="Palatino Linotype"/>
                <a:cs typeface="Palatino Linotype"/>
              </a:rPr>
              <a:t> </a:t>
            </a:r>
            <a:r>
              <a:rPr sz="1400" kern="1200" dirty="0">
                <a:solidFill>
                  <a:srgbClr val="0431FF"/>
                </a:solidFill>
                <a:latin typeface="Palatino Linotype"/>
                <a:cs typeface="Palatino Linotype"/>
              </a:rPr>
              <a:t>su</a:t>
            </a:r>
            <a:r>
              <a:rPr sz="1400" kern="1200" spc="-5" dirty="0">
                <a:solidFill>
                  <a:srgbClr val="0431FF"/>
                </a:solidFill>
                <a:latin typeface="Palatino Linotype"/>
                <a:cs typeface="Palatino Linotype"/>
              </a:rPr>
              <a:t>b</a:t>
            </a:r>
            <a:r>
              <a:rPr sz="1400" kern="1200" spc="5" dirty="0">
                <a:solidFill>
                  <a:srgbClr val="0431FF"/>
                </a:solidFill>
                <a:latin typeface="Palatino Linotype"/>
                <a:cs typeface="Palatino Linotype"/>
              </a:rPr>
              <a:t>a</a:t>
            </a:r>
            <a:r>
              <a:rPr sz="1400" kern="1200" dirty="0">
                <a:solidFill>
                  <a:srgbClr val="0431FF"/>
                </a:solidFill>
                <a:latin typeface="Palatino Linotype"/>
                <a:cs typeface="Palatino Linotype"/>
              </a:rPr>
              <a:t>r</a:t>
            </a:r>
            <a:r>
              <a:rPr sz="1400" kern="1200" spc="-10" dirty="0">
                <a:solidFill>
                  <a:srgbClr val="0431FF"/>
                </a:solidFill>
                <a:latin typeface="Palatino Linotype"/>
                <a:cs typeface="Palatino Linotype"/>
              </a:rPr>
              <a:t>r</a:t>
            </a:r>
            <a:r>
              <a:rPr sz="1400" kern="1200" dirty="0">
                <a:solidFill>
                  <a:srgbClr val="0431FF"/>
                </a:solidFill>
                <a:latin typeface="Palatino Linotype"/>
                <a:cs typeface="Palatino Linotype"/>
              </a:rPr>
              <a:t>ay</a:t>
            </a:r>
            <a:r>
              <a:rPr sz="1400" kern="1200" spc="-30" dirty="0">
                <a:solidFill>
                  <a:srgbClr val="0431FF"/>
                </a:solidFill>
                <a:latin typeface="Palatino Linotype"/>
                <a:cs typeface="Palatino Linotype"/>
              </a:rPr>
              <a:t> </a:t>
            </a:r>
            <a:r>
              <a:rPr sz="1400" kern="1200" spc="-5" dirty="0">
                <a:solidFill>
                  <a:prstClr val="black"/>
                </a:solidFill>
                <a:latin typeface="Palatino Linotype"/>
                <a:cs typeface="Palatino Linotype"/>
              </a:rPr>
              <a:t>gene</a:t>
            </a:r>
            <a:r>
              <a:rPr sz="1400" kern="1200" spc="-10" dirty="0">
                <a:solidFill>
                  <a:prstClr val="black"/>
                </a:solidFill>
                <a:latin typeface="Palatino Linotype"/>
                <a:cs typeface="Palatino Linotype"/>
              </a:rPr>
              <a:t>r</a:t>
            </a:r>
            <a:r>
              <a:rPr sz="1400" kern="1200" dirty="0">
                <a:solidFill>
                  <a:prstClr val="black"/>
                </a:solidFill>
                <a:latin typeface="Palatino Linotype"/>
                <a:cs typeface="Palatino Linotype"/>
              </a:rPr>
              <a:t>a</a:t>
            </a:r>
            <a:r>
              <a:rPr sz="1400" kern="1200" spc="-5" dirty="0">
                <a:solidFill>
                  <a:prstClr val="black"/>
                </a:solidFill>
                <a:latin typeface="Palatino Linotype"/>
                <a:cs typeface="Palatino Linotype"/>
              </a:rPr>
              <a:t>te</a:t>
            </a:r>
            <a:r>
              <a:rPr sz="1400" kern="1200" dirty="0">
                <a:solidFill>
                  <a:prstClr val="black"/>
                </a:solidFill>
                <a:latin typeface="Palatino Linotype"/>
                <a:cs typeface="Palatino Linotype"/>
              </a:rPr>
              <a:t>d</a:t>
            </a:r>
            <a:r>
              <a:rPr sz="1400" kern="1200" spc="-25" dirty="0">
                <a:solidFill>
                  <a:prstClr val="black"/>
                </a:solidFill>
                <a:latin typeface="Palatino Linotype"/>
                <a:cs typeface="Palatino Linotype"/>
              </a:rPr>
              <a:t> </a:t>
            </a:r>
            <a:r>
              <a:rPr sz="1400" kern="1200" spc="-5" dirty="0">
                <a:solidFill>
                  <a:prstClr val="black"/>
                </a:solidFill>
                <a:latin typeface="Palatino Linotype"/>
                <a:cs typeface="Palatino Linotype"/>
              </a:rPr>
              <a:t>b</a:t>
            </a:r>
            <a:r>
              <a:rPr sz="1400" kern="1200" dirty="0">
                <a:solidFill>
                  <a:prstClr val="black"/>
                </a:solidFill>
                <a:latin typeface="Palatino Linotype"/>
                <a:cs typeface="Palatino Linotype"/>
              </a:rPr>
              <a:t>y</a:t>
            </a:r>
            <a:r>
              <a:rPr sz="1400" kern="1200" spc="5" dirty="0">
                <a:solidFill>
                  <a:prstClr val="black"/>
                </a:solidFill>
                <a:latin typeface="Palatino Linotype"/>
                <a:cs typeface="Palatino Linotype"/>
              </a:rPr>
              <a:t> </a:t>
            </a:r>
            <a:r>
              <a:rPr sz="1400" kern="1200" dirty="0">
                <a:solidFill>
                  <a:prstClr val="black"/>
                </a:solidFill>
                <a:latin typeface="Cambria Math"/>
                <a:cs typeface="Cambria Math"/>
              </a:rPr>
              <a:t>𝐿</a:t>
            </a:r>
            <a:endParaRPr sz="1400" kern="1200">
              <a:solidFill>
                <a:prstClr val="black"/>
              </a:solidFill>
              <a:latin typeface="Cambria Math"/>
              <a:cs typeface="Cambria Math"/>
            </a:endParaRPr>
          </a:p>
        </p:txBody>
      </p:sp>
      <p:sp>
        <p:nvSpPr>
          <p:cNvPr id="26" name="object 6">
            <a:extLst>
              <a:ext uri="{FF2B5EF4-FFF2-40B4-BE49-F238E27FC236}">
                <a16:creationId xmlns:a16="http://schemas.microsoft.com/office/drawing/2014/main" id="{35A74A2B-4D3F-04AF-4826-973EE688D787}"/>
              </a:ext>
            </a:extLst>
          </p:cNvPr>
          <p:cNvSpPr txBox="1"/>
          <p:nvPr/>
        </p:nvSpPr>
        <p:spPr>
          <a:xfrm>
            <a:off x="540512" y="5566664"/>
            <a:ext cx="4599305" cy="239395"/>
          </a:xfrm>
          <a:prstGeom prst="rect">
            <a:avLst/>
          </a:prstGeom>
        </p:spPr>
        <p:txBody>
          <a:bodyPr vert="horz" wrap="square" lIns="0" tIns="12700" rIns="0" bIns="0" rtlCol="0">
            <a:spAutoFit/>
          </a:bodyPr>
          <a:lstStyle/>
          <a:p>
            <a:pPr marL="12700" rtl="0">
              <a:spcBef>
                <a:spcPts val="100"/>
              </a:spcBef>
            </a:pPr>
            <a:r>
              <a:rPr sz="1400" kern="1200" spc="15" dirty="0">
                <a:solidFill>
                  <a:srgbClr val="FF0000"/>
                </a:solidFill>
                <a:latin typeface="Cambria Math"/>
                <a:cs typeface="Cambria Math"/>
              </a:rPr>
              <a:t>𝑡.</a:t>
            </a:r>
            <a:r>
              <a:rPr sz="1400" kern="1200" spc="-85" dirty="0">
                <a:solidFill>
                  <a:srgbClr val="FF0000"/>
                </a:solidFill>
                <a:latin typeface="Cambria Math"/>
                <a:cs typeface="Cambria Math"/>
              </a:rPr>
              <a:t> </a:t>
            </a:r>
            <a:r>
              <a:rPr sz="1400" kern="1200" dirty="0">
                <a:solidFill>
                  <a:srgbClr val="FF0000"/>
                </a:solidFill>
                <a:latin typeface="Cambria Math"/>
                <a:cs typeface="Cambria Math"/>
              </a:rPr>
              <a:t>𝑒𝑙𝑒𝑚</a:t>
            </a:r>
            <a:r>
              <a:rPr sz="1400" kern="1200" dirty="0">
                <a:solidFill>
                  <a:prstClr val="black"/>
                </a:solidFill>
                <a:latin typeface="Palatino Linotype"/>
                <a:cs typeface="Palatino Linotype"/>
              </a:rPr>
              <a:t>:</a:t>
            </a:r>
            <a:r>
              <a:rPr sz="1400" kern="1200" spc="-5" dirty="0">
                <a:solidFill>
                  <a:prstClr val="black"/>
                </a:solidFill>
                <a:latin typeface="Palatino Linotype"/>
                <a:cs typeface="Palatino Linotype"/>
              </a:rPr>
              <a:t> </a:t>
            </a:r>
            <a:r>
              <a:rPr sz="1400" kern="1200" dirty="0">
                <a:solidFill>
                  <a:prstClr val="black"/>
                </a:solidFill>
                <a:latin typeface="Palatino Linotype"/>
                <a:cs typeface="Palatino Linotype"/>
              </a:rPr>
              <a:t>for</a:t>
            </a:r>
            <a:r>
              <a:rPr sz="1400" kern="1200" spc="-10" dirty="0">
                <a:solidFill>
                  <a:prstClr val="black"/>
                </a:solidFill>
                <a:latin typeface="Palatino Linotype"/>
                <a:cs typeface="Palatino Linotype"/>
              </a:rPr>
              <a:t> </a:t>
            </a:r>
            <a:r>
              <a:rPr sz="1400" kern="1200" dirty="0">
                <a:solidFill>
                  <a:prstClr val="black"/>
                </a:solidFill>
                <a:latin typeface="Palatino Linotype"/>
                <a:cs typeface="Palatino Linotype"/>
              </a:rPr>
              <a:t>any</a:t>
            </a:r>
            <a:r>
              <a:rPr sz="1400" kern="1200" spc="-20" dirty="0">
                <a:solidFill>
                  <a:prstClr val="black"/>
                </a:solidFill>
                <a:latin typeface="Palatino Linotype"/>
                <a:cs typeface="Palatino Linotype"/>
              </a:rPr>
              <a:t> </a:t>
            </a:r>
            <a:r>
              <a:rPr sz="1400" kern="1200" spc="-5" dirty="0">
                <a:solidFill>
                  <a:prstClr val="black"/>
                </a:solidFill>
                <a:latin typeface="Palatino Linotype"/>
                <a:cs typeface="Palatino Linotype"/>
              </a:rPr>
              <a:t>array</a:t>
            </a:r>
            <a:r>
              <a:rPr sz="1400" kern="1200" spc="-30" dirty="0">
                <a:solidFill>
                  <a:prstClr val="black"/>
                </a:solidFill>
                <a:latin typeface="Palatino Linotype"/>
                <a:cs typeface="Palatino Linotype"/>
              </a:rPr>
              <a:t> </a:t>
            </a:r>
            <a:r>
              <a:rPr sz="1400" kern="1200" spc="-5" dirty="0">
                <a:solidFill>
                  <a:prstClr val="black"/>
                </a:solidFill>
                <a:latin typeface="Palatino Linotype"/>
                <a:cs typeface="Palatino Linotype"/>
              </a:rPr>
              <a:t>type</a:t>
            </a:r>
            <a:r>
              <a:rPr sz="1400" kern="1200" spc="15" dirty="0">
                <a:solidFill>
                  <a:prstClr val="black"/>
                </a:solidFill>
                <a:latin typeface="Palatino Linotype"/>
                <a:cs typeface="Palatino Linotype"/>
              </a:rPr>
              <a:t> </a:t>
            </a:r>
            <a:r>
              <a:rPr sz="1400" kern="1200" spc="15" dirty="0">
                <a:solidFill>
                  <a:prstClr val="black"/>
                </a:solidFill>
                <a:latin typeface="Cambria Math"/>
                <a:cs typeface="Cambria Math"/>
              </a:rPr>
              <a:t>𝑡</a:t>
            </a:r>
            <a:r>
              <a:rPr sz="1400" kern="1200" spc="15" dirty="0">
                <a:solidFill>
                  <a:prstClr val="black"/>
                </a:solidFill>
                <a:latin typeface="Palatino Linotype"/>
                <a:cs typeface="Palatino Linotype"/>
              </a:rPr>
              <a:t>,</a:t>
            </a:r>
            <a:r>
              <a:rPr sz="1400" kern="1200" spc="-5" dirty="0">
                <a:solidFill>
                  <a:prstClr val="black"/>
                </a:solidFill>
                <a:latin typeface="Palatino Linotype"/>
                <a:cs typeface="Palatino Linotype"/>
              </a:rPr>
              <a:t> </a:t>
            </a:r>
            <a:r>
              <a:rPr sz="1400" kern="1200" spc="10" dirty="0">
                <a:solidFill>
                  <a:srgbClr val="FF0000"/>
                </a:solidFill>
                <a:latin typeface="Cambria Math"/>
                <a:cs typeface="Cambria Math"/>
              </a:rPr>
              <a:t>𝑡.</a:t>
            </a:r>
            <a:r>
              <a:rPr sz="1400" kern="1200" spc="-65" dirty="0">
                <a:solidFill>
                  <a:srgbClr val="FF0000"/>
                </a:solidFill>
                <a:latin typeface="Cambria Math"/>
                <a:cs typeface="Cambria Math"/>
              </a:rPr>
              <a:t> </a:t>
            </a:r>
            <a:r>
              <a:rPr sz="1400" kern="1200" spc="-5" dirty="0">
                <a:solidFill>
                  <a:srgbClr val="FF0000"/>
                </a:solidFill>
                <a:latin typeface="Cambria Math"/>
                <a:cs typeface="Cambria Math"/>
              </a:rPr>
              <a:t>𝑒𝑙𝑒𝑚</a:t>
            </a:r>
            <a:r>
              <a:rPr sz="1400" kern="1200" spc="60" dirty="0">
                <a:solidFill>
                  <a:srgbClr val="FF0000"/>
                </a:solidFill>
                <a:latin typeface="Cambria Math"/>
                <a:cs typeface="Cambria Math"/>
              </a:rPr>
              <a:t> </a:t>
            </a:r>
            <a:r>
              <a:rPr sz="1400" kern="1200" spc="-10" dirty="0">
                <a:solidFill>
                  <a:prstClr val="black"/>
                </a:solidFill>
                <a:latin typeface="Palatino Linotype"/>
                <a:cs typeface="Palatino Linotype"/>
              </a:rPr>
              <a:t>gives </a:t>
            </a:r>
            <a:r>
              <a:rPr sz="1400" kern="1200" spc="-5" dirty="0">
                <a:solidFill>
                  <a:prstClr val="black"/>
                </a:solidFill>
                <a:latin typeface="Palatino Linotype"/>
                <a:cs typeface="Palatino Linotype"/>
              </a:rPr>
              <a:t>the</a:t>
            </a:r>
            <a:r>
              <a:rPr sz="1400" kern="1200" dirty="0">
                <a:solidFill>
                  <a:prstClr val="black"/>
                </a:solidFill>
                <a:latin typeface="Palatino Linotype"/>
                <a:cs typeface="Palatino Linotype"/>
              </a:rPr>
              <a:t> element</a:t>
            </a:r>
            <a:r>
              <a:rPr sz="1400" kern="1200" spc="5" dirty="0">
                <a:solidFill>
                  <a:prstClr val="black"/>
                </a:solidFill>
                <a:latin typeface="Palatino Linotype"/>
                <a:cs typeface="Palatino Linotype"/>
              </a:rPr>
              <a:t> </a:t>
            </a:r>
            <a:r>
              <a:rPr sz="1400" kern="1200" spc="-5" dirty="0">
                <a:solidFill>
                  <a:prstClr val="black"/>
                </a:solidFill>
                <a:latin typeface="Palatino Linotype"/>
                <a:cs typeface="Palatino Linotype"/>
              </a:rPr>
              <a:t>type</a:t>
            </a:r>
            <a:endParaRPr sz="1400" kern="1200" dirty="0">
              <a:solidFill>
                <a:prstClr val="black"/>
              </a:solidFill>
              <a:latin typeface="Palatino Linotype"/>
              <a:cs typeface="Palatino Linotype"/>
            </a:endParaRPr>
          </a:p>
        </p:txBody>
      </p:sp>
      <p:sp>
        <p:nvSpPr>
          <p:cNvPr id="27" name="object 7">
            <a:extLst>
              <a:ext uri="{FF2B5EF4-FFF2-40B4-BE49-F238E27FC236}">
                <a16:creationId xmlns:a16="http://schemas.microsoft.com/office/drawing/2014/main" id="{9D5FA119-761A-84B1-6BB2-1FD51AD4C8FC}"/>
              </a:ext>
            </a:extLst>
          </p:cNvPr>
          <p:cNvSpPr/>
          <p:nvPr/>
        </p:nvSpPr>
        <p:spPr>
          <a:xfrm>
            <a:off x="6393179" y="1930907"/>
            <a:ext cx="2330450" cy="306705"/>
          </a:xfrm>
          <a:custGeom>
            <a:avLst/>
            <a:gdLst/>
            <a:ahLst/>
            <a:cxnLst/>
            <a:rect l="l" t="t" r="r" b="b"/>
            <a:pathLst>
              <a:path w="2330450" h="306705">
                <a:moveTo>
                  <a:pt x="0" y="306324"/>
                </a:moveTo>
                <a:lnTo>
                  <a:pt x="2330196" y="306324"/>
                </a:lnTo>
                <a:lnTo>
                  <a:pt x="2330196" y="0"/>
                </a:lnTo>
                <a:lnTo>
                  <a:pt x="0" y="0"/>
                </a:lnTo>
                <a:lnTo>
                  <a:pt x="0" y="306324"/>
                </a:lnTo>
                <a:close/>
              </a:path>
            </a:pathLst>
          </a:custGeom>
          <a:ln w="12699">
            <a:solidFill>
              <a:srgbClr val="4471C4"/>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8" name="object 8">
            <a:extLst>
              <a:ext uri="{FF2B5EF4-FFF2-40B4-BE49-F238E27FC236}">
                <a16:creationId xmlns:a16="http://schemas.microsoft.com/office/drawing/2014/main" id="{F4270ACD-F9AE-9184-1A5F-2378242B70F5}"/>
              </a:ext>
            </a:extLst>
          </p:cNvPr>
          <p:cNvSpPr txBox="1"/>
          <p:nvPr/>
        </p:nvSpPr>
        <p:spPr>
          <a:xfrm>
            <a:off x="6591681" y="4576317"/>
            <a:ext cx="134620" cy="239395"/>
          </a:xfrm>
          <a:prstGeom prst="rect">
            <a:avLst/>
          </a:prstGeom>
        </p:spPr>
        <p:txBody>
          <a:bodyPr vert="horz" wrap="square" lIns="0" tIns="12700" rIns="0" bIns="0" rtlCol="0">
            <a:spAutoFit/>
          </a:bodyPr>
          <a:lstStyle/>
          <a:p>
            <a:pPr marL="12700" rtl="0">
              <a:spcBef>
                <a:spcPts val="100"/>
              </a:spcBef>
            </a:pPr>
            <a:r>
              <a:rPr sz="1400" kern="1200" dirty="0">
                <a:solidFill>
                  <a:prstClr val="black"/>
                </a:solidFill>
                <a:latin typeface="Palatino Linotype"/>
                <a:cs typeface="Palatino Linotype"/>
              </a:rPr>
              <a:t>L</a:t>
            </a:r>
            <a:endParaRPr sz="1400" kern="1200">
              <a:solidFill>
                <a:prstClr val="black"/>
              </a:solidFill>
              <a:latin typeface="Palatino Linotype"/>
              <a:cs typeface="Palatino Linotype"/>
            </a:endParaRPr>
          </a:p>
        </p:txBody>
      </p:sp>
      <p:grpSp>
        <p:nvGrpSpPr>
          <p:cNvPr id="29" name="object 9">
            <a:extLst>
              <a:ext uri="{FF2B5EF4-FFF2-40B4-BE49-F238E27FC236}">
                <a16:creationId xmlns:a16="http://schemas.microsoft.com/office/drawing/2014/main" id="{E22ED17C-F617-18CF-A7FD-33E1DD7CCB1D}"/>
              </a:ext>
            </a:extLst>
          </p:cNvPr>
          <p:cNvGrpSpPr/>
          <p:nvPr/>
        </p:nvGrpSpPr>
        <p:grpSpPr>
          <a:xfrm>
            <a:off x="529970" y="1605851"/>
            <a:ext cx="8270240" cy="3262629"/>
            <a:chOff x="529970" y="1605851"/>
            <a:chExt cx="8270240" cy="3262629"/>
          </a:xfrm>
        </p:grpSpPr>
        <p:pic>
          <p:nvPicPr>
            <p:cNvPr id="30" name="object 10">
              <a:extLst>
                <a:ext uri="{FF2B5EF4-FFF2-40B4-BE49-F238E27FC236}">
                  <a16:creationId xmlns:a16="http://schemas.microsoft.com/office/drawing/2014/main" id="{5F26B45D-2DE3-3A73-8BC6-E5D00A6EDA07}"/>
                </a:ext>
              </a:extLst>
            </p:cNvPr>
            <p:cNvPicPr/>
            <p:nvPr/>
          </p:nvPicPr>
          <p:blipFill>
            <a:blip r:embed="rId3" cstate="print"/>
            <a:stretch>
              <a:fillRect/>
            </a:stretch>
          </p:blipFill>
          <p:spPr>
            <a:xfrm>
              <a:off x="704229" y="1716090"/>
              <a:ext cx="5028955" cy="2118244"/>
            </a:xfrm>
            <a:prstGeom prst="rect">
              <a:avLst/>
            </a:prstGeom>
          </p:spPr>
        </p:pic>
        <p:sp>
          <p:nvSpPr>
            <p:cNvPr id="31" name="object 11">
              <a:extLst>
                <a:ext uri="{FF2B5EF4-FFF2-40B4-BE49-F238E27FC236}">
                  <a16:creationId xmlns:a16="http://schemas.microsoft.com/office/drawing/2014/main" id="{44779057-EDE4-5851-D41D-D3DD942BB6E7}"/>
                </a:ext>
              </a:extLst>
            </p:cNvPr>
            <p:cNvSpPr/>
            <p:nvPr/>
          </p:nvSpPr>
          <p:spPr>
            <a:xfrm>
              <a:off x="534733" y="1610613"/>
              <a:ext cx="5322570" cy="2301875"/>
            </a:xfrm>
            <a:custGeom>
              <a:avLst/>
              <a:gdLst/>
              <a:ahLst/>
              <a:cxnLst/>
              <a:rect l="l" t="t" r="r" b="b"/>
              <a:pathLst>
                <a:path w="5322570" h="2301875">
                  <a:moveTo>
                    <a:pt x="0" y="2301620"/>
                  </a:moveTo>
                  <a:lnTo>
                    <a:pt x="5322189" y="2301620"/>
                  </a:lnTo>
                  <a:lnTo>
                    <a:pt x="5322189" y="0"/>
                  </a:lnTo>
                  <a:lnTo>
                    <a:pt x="0" y="0"/>
                  </a:lnTo>
                  <a:lnTo>
                    <a:pt x="0" y="230162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2" name="object 12">
              <a:extLst>
                <a:ext uri="{FF2B5EF4-FFF2-40B4-BE49-F238E27FC236}">
                  <a16:creationId xmlns:a16="http://schemas.microsoft.com/office/drawing/2014/main" id="{A1F3104C-12A7-712B-6D63-B3CC4718D23C}"/>
                </a:ext>
              </a:extLst>
            </p:cNvPr>
            <p:cNvSpPr/>
            <p:nvPr/>
          </p:nvSpPr>
          <p:spPr>
            <a:xfrm>
              <a:off x="5172455" y="3390899"/>
              <a:ext cx="234950" cy="307975"/>
            </a:xfrm>
            <a:custGeom>
              <a:avLst/>
              <a:gdLst/>
              <a:ahLst/>
              <a:cxnLst/>
              <a:rect l="l" t="t" r="r" b="b"/>
              <a:pathLst>
                <a:path w="234950" h="307975">
                  <a:moveTo>
                    <a:pt x="234696" y="0"/>
                  </a:moveTo>
                  <a:lnTo>
                    <a:pt x="0" y="0"/>
                  </a:lnTo>
                  <a:lnTo>
                    <a:pt x="0" y="307848"/>
                  </a:lnTo>
                  <a:lnTo>
                    <a:pt x="234696" y="307848"/>
                  </a:lnTo>
                  <a:lnTo>
                    <a:pt x="234696" y="0"/>
                  </a:lnTo>
                  <a:close/>
                </a:path>
              </a:pathLst>
            </a:custGeom>
            <a:solidFill>
              <a:srgbClr val="FFFF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3" name="object 13">
              <a:extLst>
                <a:ext uri="{FF2B5EF4-FFF2-40B4-BE49-F238E27FC236}">
                  <a16:creationId xmlns:a16="http://schemas.microsoft.com/office/drawing/2014/main" id="{0FB29306-1BBA-5072-9089-7860C289DC96}"/>
                </a:ext>
              </a:extLst>
            </p:cNvPr>
            <p:cNvSpPr/>
            <p:nvPr/>
          </p:nvSpPr>
          <p:spPr>
            <a:xfrm>
              <a:off x="6620256" y="3604259"/>
              <a:ext cx="76200" cy="949325"/>
            </a:xfrm>
            <a:custGeom>
              <a:avLst/>
              <a:gdLst/>
              <a:ahLst/>
              <a:cxnLst/>
              <a:rect l="l" t="t" r="r" b="b"/>
              <a:pathLst>
                <a:path w="76200" h="949325">
                  <a:moveTo>
                    <a:pt x="76200" y="873125"/>
                  </a:moveTo>
                  <a:lnTo>
                    <a:pt x="44450" y="873125"/>
                  </a:lnTo>
                  <a:lnTo>
                    <a:pt x="44450" y="623316"/>
                  </a:lnTo>
                  <a:lnTo>
                    <a:pt x="31750" y="623316"/>
                  </a:lnTo>
                  <a:lnTo>
                    <a:pt x="31750" y="873125"/>
                  </a:lnTo>
                  <a:lnTo>
                    <a:pt x="0" y="873125"/>
                  </a:lnTo>
                  <a:lnTo>
                    <a:pt x="38100" y="949325"/>
                  </a:lnTo>
                  <a:lnTo>
                    <a:pt x="69850" y="885825"/>
                  </a:lnTo>
                  <a:lnTo>
                    <a:pt x="76200" y="873125"/>
                  </a:lnTo>
                  <a:close/>
                </a:path>
                <a:path w="76200" h="949325">
                  <a:moveTo>
                    <a:pt x="76200" y="240665"/>
                  </a:moveTo>
                  <a:lnTo>
                    <a:pt x="44450" y="240665"/>
                  </a:lnTo>
                  <a:lnTo>
                    <a:pt x="44450" y="0"/>
                  </a:lnTo>
                  <a:lnTo>
                    <a:pt x="31750" y="0"/>
                  </a:lnTo>
                  <a:lnTo>
                    <a:pt x="31750" y="240665"/>
                  </a:lnTo>
                  <a:lnTo>
                    <a:pt x="0" y="240665"/>
                  </a:lnTo>
                  <a:lnTo>
                    <a:pt x="38100" y="316865"/>
                  </a:lnTo>
                  <a:lnTo>
                    <a:pt x="69850" y="253365"/>
                  </a:lnTo>
                  <a:lnTo>
                    <a:pt x="76200" y="240665"/>
                  </a:lnTo>
                  <a:close/>
                </a:path>
              </a:pathLst>
            </a:custGeom>
            <a:solidFill>
              <a:srgbClr val="4471C4"/>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4" name="object 14">
              <a:extLst>
                <a:ext uri="{FF2B5EF4-FFF2-40B4-BE49-F238E27FC236}">
                  <a16:creationId xmlns:a16="http://schemas.microsoft.com/office/drawing/2014/main" id="{D11984C2-552B-700E-646B-D926D2A3CE24}"/>
                </a:ext>
              </a:extLst>
            </p:cNvPr>
            <p:cNvSpPr/>
            <p:nvPr/>
          </p:nvSpPr>
          <p:spPr>
            <a:xfrm>
              <a:off x="6330695" y="3317747"/>
              <a:ext cx="2463165" cy="1544320"/>
            </a:xfrm>
            <a:custGeom>
              <a:avLst/>
              <a:gdLst/>
              <a:ahLst/>
              <a:cxnLst/>
              <a:rect l="l" t="t" r="r" b="b"/>
              <a:pathLst>
                <a:path w="2463165" h="1544320">
                  <a:moveTo>
                    <a:pt x="0" y="1543812"/>
                  </a:moveTo>
                  <a:lnTo>
                    <a:pt x="2462783" y="1543812"/>
                  </a:lnTo>
                  <a:lnTo>
                    <a:pt x="2462783" y="0"/>
                  </a:lnTo>
                  <a:lnTo>
                    <a:pt x="0" y="0"/>
                  </a:lnTo>
                  <a:lnTo>
                    <a:pt x="0" y="1543812"/>
                  </a:lnTo>
                  <a:close/>
                </a:path>
              </a:pathLst>
            </a:custGeom>
            <a:ln w="12700">
              <a:solidFill>
                <a:srgbClr val="FFC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35" name="object 15">
            <a:extLst>
              <a:ext uri="{FF2B5EF4-FFF2-40B4-BE49-F238E27FC236}">
                <a16:creationId xmlns:a16="http://schemas.microsoft.com/office/drawing/2014/main" id="{F5048AFE-03EA-B511-A9F0-9904F806A16B}"/>
              </a:ext>
            </a:extLst>
          </p:cNvPr>
          <p:cNvSpPr txBox="1">
            <a:spLocks/>
          </p:cNvSpPr>
          <p:nvPr/>
        </p:nvSpPr>
        <p:spPr>
          <a:xfrm>
            <a:off x="540512" y="1951482"/>
            <a:ext cx="8414385" cy="2547620"/>
          </a:xfrm>
          <a:prstGeom prst="rect">
            <a:avLst/>
          </a:prstGeom>
        </p:spPr>
        <p:txBody>
          <a:bodyPr vert="horz" wrap="square" lIns="0" tIns="13335" rIns="0" bIns="0" rtlCol="0">
            <a:spAutoFit/>
          </a:bodyPr>
          <a:lstStyle>
            <a:lvl1pPr marL="0">
              <a:defRPr sz="1400" b="1" i="0">
                <a:solidFill>
                  <a:srgbClr val="0431FF"/>
                </a:solidFill>
                <a:latin typeface="Palatino Linotype"/>
                <a:ea typeface="+mn-ea"/>
                <a:cs typeface="Palatino Linotype"/>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944870" marR="0" lvl="0" indent="0" defTabSz="914400" eaLnBrk="1" fontAlgn="auto" latinLnBrk="0" hangingPunct="1">
              <a:lnSpc>
                <a:spcPct val="100000"/>
              </a:lnSpc>
              <a:spcBef>
                <a:spcPts val="105"/>
              </a:spcBef>
              <a:spcAft>
                <a:spcPts val="0"/>
              </a:spcAft>
              <a:buClrTx/>
              <a:buSzTx/>
              <a:buFontTx/>
              <a:buNone/>
              <a:tabLst/>
              <a:defRPr/>
            </a:pPr>
            <a:r>
              <a:rPr kumimoji="0" lang="en-US" sz="1400" b="1" i="0" u="none" strike="noStrike" kern="0" cap="none" spc="0" normalizeH="0" baseline="0" noProof="0" dirty="0">
                <a:ln>
                  <a:noFill/>
                </a:ln>
                <a:solidFill>
                  <a:srgbClr val="0431FF"/>
                </a:solidFill>
                <a:effectLst/>
                <a:uLnTx/>
                <a:uFillTx/>
                <a:latin typeface="Palatino Linotype"/>
                <a:ea typeface="+mn-ea"/>
              </a:rPr>
              <a:t>A</a:t>
            </a:r>
            <a:r>
              <a:rPr kumimoji="0" lang="en-US" sz="1400" b="1" i="0" u="none" strike="noStrike" kern="0" cap="none" spc="-10" normalizeH="0" baseline="0" noProof="0" dirty="0">
                <a:ln>
                  <a:noFill/>
                </a:ln>
                <a:solidFill>
                  <a:srgbClr val="0431FF"/>
                </a:solidFill>
                <a:effectLst/>
                <a:uLnTx/>
                <a:uFillTx/>
                <a:latin typeface="Palatino Linotype"/>
                <a:ea typeface="+mn-ea"/>
              </a:rPr>
              <a:t> </a:t>
            </a:r>
            <a:r>
              <a:rPr kumimoji="0" lang="en-US" sz="1400" b="1" i="0" u="none" strike="noStrike" kern="0" cap="none" spc="0" normalizeH="0" baseline="0" noProof="0" dirty="0">
                <a:ln>
                  <a:noFill/>
                </a:ln>
                <a:solidFill>
                  <a:srgbClr val="0431FF"/>
                </a:solidFill>
                <a:effectLst/>
                <a:uLnTx/>
                <a:uFillTx/>
                <a:latin typeface="Palatino Linotype"/>
                <a:ea typeface="+mn-ea"/>
              </a:rPr>
              <a:t>is</a:t>
            </a:r>
            <a:r>
              <a:rPr kumimoji="0" lang="en-US" sz="1400" b="1" i="0" u="none" strike="noStrike" kern="0" cap="none" spc="-10" normalizeH="0" baseline="0" noProof="0" dirty="0">
                <a:ln>
                  <a:noFill/>
                </a:ln>
                <a:solidFill>
                  <a:srgbClr val="0431FF"/>
                </a:solidFill>
                <a:effectLst/>
                <a:uLnTx/>
                <a:uFillTx/>
                <a:latin typeface="Palatino Linotype"/>
                <a:ea typeface="+mn-ea"/>
              </a:rPr>
              <a:t> </a:t>
            </a:r>
            <a:r>
              <a:rPr kumimoji="0" lang="en-US" sz="1400" b="1" i="0" u="none" strike="noStrike" kern="0" cap="none" spc="0" normalizeH="0" baseline="0" noProof="0" dirty="0">
                <a:ln>
                  <a:noFill/>
                </a:ln>
                <a:solidFill>
                  <a:srgbClr val="0431FF"/>
                </a:solidFill>
                <a:effectLst/>
                <a:uLnTx/>
                <a:uFillTx/>
                <a:latin typeface="Palatino Linotype"/>
                <a:ea typeface="+mn-ea"/>
              </a:rPr>
              <a:t>a</a:t>
            </a:r>
            <a:r>
              <a:rPr kumimoji="0" lang="en-US" sz="1400" b="1" i="0" u="none" strike="noStrike" kern="0" cap="none" spc="-20" normalizeH="0" baseline="0" noProof="0" dirty="0">
                <a:ln>
                  <a:noFill/>
                </a:ln>
                <a:solidFill>
                  <a:srgbClr val="0431FF"/>
                </a:solidFill>
                <a:effectLst/>
                <a:uLnTx/>
                <a:uFillTx/>
                <a:latin typeface="Palatino Linotype"/>
                <a:ea typeface="+mn-ea"/>
              </a:rPr>
              <a:t> </a:t>
            </a:r>
            <a:r>
              <a:rPr kumimoji="0" lang="en-US" sz="1400" b="1" i="0" u="none" strike="noStrike" kern="0" cap="none" spc="0" normalizeH="0" baseline="0" noProof="0" dirty="0">
                <a:ln>
                  <a:noFill/>
                </a:ln>
                <a:solidFill>
                  <a:srgbClr val="0431FF"/>
                </a:solidFill>
                <a:effectLst/>
                <a:uLnTx/>
                <a:uFillTx/>
                <a:latin typeface="Palatino Linotype"/>
                <a:ea typeface="+mn-ea"/>
              </a:rPr>
              <a:t>2*3</a:t>
            </a:r>
            <a:r>
              <a:rPr kumimoji="0" lang="en-US" sz="1400" b="1" i="0" u="none" strike="noStrike" kern="0" cap="none" spc="-20" normalizeH="0" baseline="0" noProof="0" dirty="0">
                <a:ln>
                  <a:noFill/>
                </a:ln>
                <a:solidFill>
                  <a:srgbClr val="0431FF"/>
                </a:solidFill>
                <a:effectLst/>
                <a:uLnTx/>
                <a:uFillTx/>
                <a:latin typeface="Palatino Linotype"/>
                <a:ea typeface="+mn-ea"/>
              </a:rPr>
              <a:t> </a:t>
            </a:r>
            <a:r>
              <a:rPr kumimoji="0" lang="en-US" sz="1400" b="1" i="0" u="none" strike="noStrike" kern="0" cap="none" spc="0" normalizeH="0" baseline="0" noProof="0" dirty="0">
                <a:ln>
                  <a:noFill/>
                </a:ln>
                <a:solidFill>
                  <a:srgbClr val="0431FF"/>
                </a:solidFill>
                <a:effectLst/>
                <a:uLnTx/>
                <a:uFillTx/>
                <a:latin typeface="Palatino Linotype"/>
                <a:ea typeface="+mn-ea"/>
              </a:rPr>
              <a:t>array</a:t>
            </a:r>
            <a:r>
              <a:rPr kumimoji="0" lang="en-US" sz="1400" b="1" i="0" u="none" strike="noStrike" kern="0" cap="none" spc="-35" normalizeH="0" baseline="0" noProof="0" dirty="0">
                <a:ln>
                  <a:noFill/>
                </a:ln>
                <a:solidFill>
                  <a:srgbClr val="0431FF"/>
                </a:solidFill>
                <a:effectLst/>
                <a:uLnTx/>
                <a:uFillTx/>
                <a:latin typeface="Palatino Linotype"/>
                <a:ea typeface="+mn-ea"/>
              </a:rPr>
              <a:t> </a:t>
            </a:r>
            <a:r>
              <a:rPr kumimoji="0" lang="en-US" sz="1400" b="1" i="0" u="none" strike="noStrike" kern="0" cap="none" spc="-5" normalizeH="0" baseline="0" noProof="0" dirty="0">
                <a:ln>
                  <a:noFill/>
                </a:ln>
                <a:solidFill>
                  <a:srgbClr val="0431FF"/>
                </a:solidFill>
                <a:effectLst/>
                <a:uLnTx/>
                <a:uFillTx/>
                <a:latin typeface="Palatino Linotype"/>
                <a:ea typeface="+mn-ea"/>
              </a:rPr>
              <a:t>of </a:t>
            </a:r>
            <a:r>
              <a:rPr kumimoji="0" lang="en-US" sz="1400" b="1" i="0" u="none" strike="noStrike" kern="0" cap="none" spc="0" normalizeH="0" baseline="0" noProof="0" dirty="0">
                <a:ln>
                  <a:noFill/>
                </a:ln>
                <a:solidFill>
                  <a:srgbClr val="0431FF"/>
                </a:solidFill>
                <a:effectLst/>
                <a:uLnTx/>
                <a:uFillTx/>
                <a:latin typeface="Palatino Linotype"/>
                <a:ea typeface="+mn-ea"/>
              </a:rPr>
              <a:t>integers</a:t>
            </a:r>
          </a:p>
          <a:p>
            <a:pPr marL="0" marR="0" lvl="0" indent="0" defTabSz="914400" eaLnBrk="1" fontAlgn="auto" latinLnBrk="0" hangingPunct="1">
              <a:lnSpc>
                <a:spcPct val="100000"/>
              </a:lnSpc>
              <a:spcBef>
                <a:spcPts val="45"/>
              </a:spcBef>
              <a:spcAft>
                <a:spcPts val="0"/>
              </a:spcAft>
              <a:buClrTx/>
              <a:buSzTx/>
              <a:buFontTx/>
              <a:buNone/>
              <a:tabLst/>
              <a:defRPr/>
            </a:pPr>
            <a:endParaRPr kumimoji="0" lang="en-US" sz="1300" b="1" i="0" u="none" strike="noStrike" kern="0" cap="none" spc="0" normalizeH="0" baseline="0" noProof="0" dirty="0">
              <a:ln>
                <a:noFill/>
              </a:ln>
              <a:solidFill>
                <a:srgbClr val="0431FF"/>
              </a:solidFill>
              <a:effectLst/>
              <a:uLnTx/>
              <a:uFillTx/>
              <a:latin typeface="Palatino Linotype"/>
              <a:ea typeface="+mn-ea"/>
            </a:endParaRPr>
          </a:p>
          <a:p>
            <a:pPr marL="6705600" marR="5080" lvl="0" indent="-796290" defTabSz="914400" eaLnBrk="1" fontAlgn="auto" latinLnBrk="0" hangingPunct="1">
              <a:lnSpc>
                <a:spcPct val="114999"/>
              </a:lnSpc>
              <a:spcBef>
                <a:spcPts val="5"/>
              </a:spcBef>
              <a:spcAft>
                <a:spcPts val="0"/>
              </a:spcAft>
              <a:buClrTx/>
              <a:buSzTx/>
              <a:buFontTx/>
              <a:buNone/>
              <a:tabLst/>
              <a:defRPr/>
            </a:pPr>
            <a:r>
              <a:rPr kumimoji="0" lang="en-US" sz="1400" b="0" i="1" u="none" strike="noStrike" kern="0" cap="none" spc="-5" normalizeH="0" baseline="0" noProof="0" dirty="0" err="1">
                <a:ln>
                  <a:noFill/>
                </a:ln>
                <a:solidFill>
                  <a:srgbClr val="FF0000"/>
                </a:solidFill>
                <a:effectLst/>
                <a:uLnTx/>
                <a:uFillTx/>
                <a:latin typeface="Palatino Linotype"/>
                <a:ea typeface="+mn-ea"/>
              </a:rPr>
              <a:t>L.ty</a:t>
            </a:r>
            <a:r>
              <a:rPr kumimoji="0" lang="en-US" sz="1400" b="0" i="1" u="none" strike="noStrike" kern="0" cap="none" spc="5" normalizeH="0" baseline="0" noProof="0" dirty="0" err="1">
                <a:ln>
                  <a:noFill/>
                </a:ln>
                <a:solidFill>
                  <a:srgbClr val="FF0000"/>
                </a:solidFill>
                <a:effectLst/>
                <a:uLnTx/>
                <a:uFillTx/>
                <a:latin typeface="Palatino Linotype"/>
                <a:ea typeface="+mn-ea"/>
              </a:rPr>
              <a:t>p</a:t>
            </a:r>
            <a:r>
              <a:rPr kumimoji="0" lang="en-US" sz="1400" b="0" i="1" u="none" strike="noStrike" kern="0" cap="none" spc="0" normalizeH="0" baseline="0" noProof="0" dirty="0" err="1">
                <a:ln>
                  <a:noFill/>
                </a:ln>
                <a:solidFill>
                  <a:srgbClr val="FF0000"/>
                </a:solidFill>
                <a:effectLst/>
                <a:uLnTx/>
                <a:uFillTx/>
                <a:latin typeface="Palatino Linotype"/>
                <a:ea typeface="+mn-ea"/>
              </a:rPr>
              <a:t>e</a:t>
            </a:r>
            <a:r>
              <a:rPr kumimoji="0" lang="en-US" sz="1400" b="0" i="1" u="none" strike="noStrike" kern="0" cap="none" spc="-15" normalizeH="0" baseline="0" noProof="0" dirty="0">
                <a:ln>
                  <a:noFill/>
                </a:ln>
                <a:solidFill>
                  <a:srgbClr val="FF0000"/>
                </a:solidFill>
                <a:effectLst/>
                <a:uLnTx/>
                <a:uFillTx/>
                <a:latin typeface="Palatino Linotype"/>
                <a:ea typeface="+mn-ea"/>
              </a:rPr>
              <a:t> </a:t>
            </a:r>
            <a:r>
              <a:rPr kumimoji="0" lang="en-US" sz="1400" b="0" i="0" u="none" strike="noStrike" kern="0" cap="none" spc="0" normalizeH="0" baseline="0" noProof="0" dirty="0">
                <a:ln>
                  <a:noFill/>
                </a:ln>
                <a:solidFill>
                  <a:srgbClr val="FF0000"/>
                </a:solidFill>
                <a:effectLst/>
                <a:uLnTx/>
                <a:uFillTx/>
                <a:latin typeface="Palatino Linotype"/>
                <a:ea typeface="+mn-ea"/>
              </a:rPr>
              <a:t>is</a:t>
            </a:r>
            <a:r>
              <a:rPr kumimoji="0" lang="en-US" sz="1400" b="0" i="0" u="none" strike="noStrike" kern="0" cap="none" spc="-15" normalizeH="0" baseline="0" noProof="0" dirty="0">
                <a:ln>
                  <a:noFill/>
                </a:ln>
                <a:solidFill>
                  <a:srgbClr val="FF0000"/>
                </a:solidFill>
                <a:effectLst/>
                <a:uLnTx/>
                <a:uFillTx/>
                <a:latin typeface="Palatino Linotype"/>
                <a:ea typeface="+mn-ea"/>
              </a:rPr>
              <a:t> </a:t>
            </a:r>
            <a:r>
              <a:rPr kumimoji="0" lang="en-US" sz="1400" b="0" i="0" u="none" strike="noStrike" kern="0" cap="none" spc="-5" normalizeH="0" baseline="0" noProof="0" dirty="0">
                <a:ln>
                  <a:noFill/>
                </a:ln>
                <a:solidFill>
                  <a:srgbClr val="FF0000"/>
                </a:solidFill>
                <a:effectLst/>
                <a:uLnTx/>
                <a:uFillTx/>
                <a:latin typeface="Palatino Linotype"/>
                <a:ea typeface="+mn-ea"/>
              </a:rPr>
              <a:t>th</a:t>
            </a:r>
            <a:r>
              <a:rPr kumimoji="0" lang="en-US" sz="1400" b="0" i="0" u="none" strike="noStrike" kern="0" cap="none" spc="0" normalizeH="0" baseline="0" noProof="0" dirty="0">
                <a:ln>
                  <a:noFill/>
                </a:ln>
                <a:solidFill>
                  <a:srgbClr val="FF0000"/>
                </a:solidFill>
                <a:effectLst/>
                <a:uLnTx/>
                <a:uFillTx/>
                <a:latin typeface="Palatino Linotype"/>
                <a:ea typeface="+mn-ea"/>
              </a:rPr>
              <a:t>e </a:t>
            </a:r>
            <a:r>
              <a:rPr kumimoji="0" lang="en-US" sz="1400" b="0" i="0" u="none" strike="noStrike" kern="0" cap="none" spc="-5" normalizeH="0" baseline="0" noProof="0" dirty="0">
                <a:ln>
                  <a:noFill/>
                </a:ln>
                <a:solidFill>
                  <a:srgbClr val="FF0000"/>
                </a:solidFill>
                <a:effectLst/>
                <a:uLnTx/>
                <a:uFillTx/>
                <a:latin typeface="Palatino Linotype"/>
                <a:ea typeface="+mn-ea"/>
              </a:rPr>
              <a:t>ty</a:t>
            </a:r>
            <a:r>
              <a:rPr kumimoji="0" lang="en-US" sz="1400" b="0" i="0" u="none" strike="noStrike" kern="0" cap="none" spc="-10" normalizeH="0" baseline="0" noProof="0" dirty="0">
                <a:ln>
                  <a:noFill/>
                </a:ln>
                <a:solidFill>
                  <a:srgbClr val="FF0000"/>
                </a:solidFill>
                <a:effectLst/>
                <a:uLnTx/>
                <a:uFillTx/>
                <a:latin typeface="Palatino Linotype"/>
                <a:ea typeface="+mn-ea"/>
              </a:rPr>
              <a:t>p</a:t>
            </a:r>
            <a:r>
              <a:rPr kumimoji="0" lang="en-US" sz="1400" b="0" i="0" u="none" strike="noStrike" kern="0" cap="none" spc="0" normalizeH="0" baseline="0" noProof="0" dirty="0">
                <a:ln>
                  <a:noFill/>
                </a:ln>
                <a:solidFill>
                  <a:srgbClr val="FF0000"/>
                </a:solidFill>
                <a:effectLst/>
                <a:uLnTx/>
                <a:uFillTx/>
                <a:latin typeface="Palatino Linotype"/>
                <a:ea typeface="+mn-ea"/>
              </a:rPr>
              <a:t>e of</a:t>
            </a:r>
            <a:r>
              <a:rPr kumimoji="0" lang="en-US" sz="1400" b="0" i="0" u="none" strike="noStrike" kern="0" cap="none" spc="-65" normalizeH="0" baseline="0" noProof="0" dirty="0">
                <a:ln>
                  <a:noFill/>
                </a:ln>
                <a:solidFill>
                  <a:srgbClr val="FF0000"/>
                </a:solidFill>
                <a:effectLst/>
                <a:uLnTx/>
                <a:uFillTx/>
                <a:latin typeface="Palatino Linotype"/>
                <a:ea typeface="+mn-ea"/>
              </a:rPr>
              <a:t> </a:t>
            </a:r>
            <a:r>
              <a:rPr kumimoji="0" lang="en-US" sz="1400" b="0" i="0" u="none" strike="noStrike" kern="0" cap="none" spc="-95" normalizeH="0" baseline="0" noProof="0" dirty="0">
                <a:ln>
                  <a:noFill/>
                </a:ln>
                <a:solidFill>
                  <a:srgbClr val="FF0000"/>
                </a:solidFill>
                <a:effectLst/>
                <a:uLnTx/>
                <a:uFillTx/>
                <a:latin typeface="Palatino Linotype"/>
                <a:ea typeface="+mn-ea"/>
              </a:rPr>
              <a:t>A</a:t>
            </a:r>
            <a:r>
              <a:rPr kumimoji="0" lang="en-US" sz="1400" b="0" i="0" u="none" strike="noStrike" kern="0" cap="none" spc="-150" normalizeH="0" baseline="0" noProof="0" dirty="0">
                <a:ln>
                  <a:noFill/>
                </a:ln>
                <a:solidFill>
                  <a:srgbClr val="FF0000"/>
                </a:solidFill>
                <a:effectLst/>
                <a:uLnTx/>
                <a:uFillTx/>
                <a:latin typeface="Palatino Linotype"/>
                <a:ea typeface="+mn-ea"/>
              </a:rPr>
              <a:t>’</a:t>
            </a:r>
            <a:r>
              <a:rPr kumimoji="0" lang="en-US" sz="1400" b="0" i="0" u="none" strike="noStrike" kern="0" cap="none" spc="0" normalizeH="0" baseline="0" noProof="0" dirty="0">
                <a:ln>
                  <a:noFill/>
                </a:ln>
                <a:solidFill>
                  <a:srgbClr val="FF0000"/>
                </a:solidFill>
                <a:effectLst/>
                <a:uLnTx/>
                <a:uFillTx/>
                <a:latin typeface="Palatino Linotype"/>
                <a:ea typeface="+mn-ea"/>
              </a:rPr>
              <a:t>s</a:t>
            </a:r>
            <a:r>
              <a:rPr kumimoji="0" lang="en-US" sz="1400" b="0" i="0" u="none" strike="noStrike" kern="0" cap="none" spc="-15" normalizeH="0" baseline="0" noProof="0" dirty="0">
                <a:ln>
                  <a:noFill/>
                </a:ln>
                <a:solidFill>
                  <a:srgbClr val="FF0000"/>
                </a:solidFill>
                <a:effectLst/>
                <a:uLnTx/>
                <a:uFillTx/>
                <a:latin typeface="Palatino Linotype"/>
                <a:ea typeface="+mn-ea"/>
              </a:rPr>
              <a:t> </a:t>
            </a:r>
            <a:r>
              <a:rPr kumimoji="0" lang="en-US" sz="1400" b="0" i="0" u="none" strike="noStrike" kern="0" cap="none" spc="0" normalizeH="0" baseline="0" noProof="0" dirty="0">
                <a:ln>
                  <a:noFill/>
                </a:ln>
                <a:solidFill>
                  <a:srgbClr val="FF0000"/>
                </a:solidFill>
                <a:effectLst/>
                <a:uLnTx/>
                <a:uFillTx/>
                <a:latin typeface="Palatino Linotype"/>
                <a:ea typeface="+mn-ea"/>
              </a:rPr>
              <a:t>ele</a:t>
            </a:r>
            <a:r>
              <a:rPr kumimoji="0" lang="en-US" sz="1400" b="0" i="0" u="none" strike="noStrike" kern="0" cap="none" spc="-10" normalizeH="0" baseline="0" noProof="0" dirty="0">
                <a:ln>
                  <a:noFill/>
                </a:ln>
                <a:solidFill>
                  <a:srgbClr val="FF0000"/>
                </a:solidFill>
                <a:effectLst/>
                <a:uLnTx/>
                <a:uFillTx/>
                <a:latin typeface="Palatino Linotype"/>
                <a:ea typeface="+mn-ea"/>
              </a:rPr>
              <a:t>m</a:t>
            </a:r>
            <a:r>
              <a:rPr kumimoji="0" lang="en-US" sz="1400" b="0" i="0" u="none" strike="noStrike" kern="0" cap="none" spc="0" normalizeH="0" baseline="0" noProof="0" dirty="0">
                <a:ln>
                  <a:noFill/>
                </a:ln>
                <a:solidFill>
                  <a:srgbClr val="FF0000"/>
                </a:solidFill>
                <a:effectLst/>
                <a:uLnTx/>
                <a:uFillTx/>
                <a:latin typeface="Palatino Linotype"/>
                <a:ea typeface="+mn-ea"/>
              </a:rPr>
              <a:t>ent:  </a:t>
            </a:r>
            <a:r>
              <a:rPr kumimoji="0" lang="en-US" sz="1400" b="0" i="0" u="none" strike="noStrike" kern="0" cap="none" spc="-5" normalizeH="0" baseline="0" noProof="0" dirty="0">
                <a:ln>
                  <a:noFill/>
                </a:ln>
                <a:solidFill>
                  <a:srgbClr val="0431FF"/>
                </a:solidFill>
                <a:effectLst/>
                <a:uLnTx/>
                <a:uFillTx/>
                <a:latin typeface="Palatino Linotype"/>
                <a:ea typeface="+mn-ea"/>
              </a:rPr>
              <a:t>array(3,</a:t>
            </a:r>
            <a:r>
              <a:rPr kumimoji="0" lang="en-US" sz="1400" b="0" i="0" u="none" strike="noStrike" kern="0" cap="none" spc="-50" normalizeH="0" baseline="0" noProof="0" dirty="0">
                <a:ln>
                  <a:noFill/>
                </a:ln>
                <a:solidFill>
                  <a:srgbClr val="0431FF"/>
                </a:solidFill>
                <a:effectLst/>
                <a:uLnTx/>
                <a:uFillTx/>
                <a:latin typeface="Palatino Linotype"/>
                <a:ea typeface="+mn-ea"/>
              </a:rPr>
              <a:t> </a:t>
            </a:r>
            <a:r>
              <a:rPr kumimoji="0" lang="en-US" sz="1400" b="0" i="0" u="none" strike="noStrike" kern="0" cap="none" spc="0" normalizeH="0" baseline="0" noProof="0" dirty="0">
                <a:ln>
                  <a:noFill/>
                </a:ln>
                <a:solidFill>
                  <a:srgbClr val="0431FF"/>
                </a:solidFill>
                <a:effectLst/>
                <a:uLnTx/>
                <a:uFillTx/>
                <a:latin typeface="Palatino Linotype"/>
                <a:ea typeface="+mn-ea"/>
              </a:rPr>
              <a:t>int)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431FF"/>
              </a:solidFill>
              <a:effectLst/>
              <a:uLnTx/>
              <a:uFillTx/>
              <a:latin typeface="Palatino Linotype"/>
              <a:ea typeface="+mn-ea"/>
            </a:endParaRPr>
          </a:p>
          <a:p>
            <a:pPr marL="0" marR="0" lvl="0" indent="0" defTabSz="914400" eaLnBrk="1" fontAlgn="auto" latinLnBrk="0" hangingPunct="1">
              <a:lnSpc>
                <a:spcPct val="100000"/>
              </a:lnSpc>
              <a:spcBef>
                <a:spcPts val="30"/>
              </a:spcBef>
              <a:spcAft>
                <a:spcPts val="0"/>
              </a:spcAft>
              <a:buClrTx/>
              <a:buSzTx/>
              <a:buFontTx/>
              <a:buNone/>
              <a:tabLst/>
              <a:defRPr/>
            </a:pPr>
            <a:endParaRPr kumimoji="0" lang="en-US" sz="1100" b="1" i="0" u="none" strike="noStrike" kern="0" cap="none" spc="0" normalizeH="0" baseline="0" noProof="0" dirty="0">
              <a:ln>
                <a:noFill/>
              </a:ln>
              <a:solidFill>
                <a:srgbClr val="0431FF"/>
              </a:solidFill>
              <a:effectLst/>
              <a:uLnTx/>
              <a:uFillTx/>
              <a:latin typeface="Palatino Linotype"/>
              <a:ea typeface="+mn-ea"/>
            </a:endParaRPr>
          </a:p>
          <a:p>
            <a:pPr marL="5882640" marR="0" lvl="0" indent="0" defTabSz="914400" eaLnBrk="1" fontAlgn="auto" latinLnBrk="0" hangingPunct="1">
              <a:lnSpc>
                <a:spcPct val="100000"/>
              </a:lnSpc>
              <a:spcBef>
                <a:spcPts val="5"/>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Palatino Linotype"/>
                <a:ea typeface="+mn-ea"/>
              </a:rPr>
              <a:t>A[</a:t>
            </a:r>
            <a:r>
              <a:rPr kumimoji="0" lang="en-US" sz="1400" b="0" i="0" u="none" strike="noStrike" kern="0" cap="none" spc="0" normalizeH="0" baseline="0" noProof="0" dirty="0" err="1">
                <a:ln>
                  <a:noFill/>
                </a:ln>
                <a:solidFill>
                  <a:srgbClr val="000000"/>
                </a:solidFill>
                <a:effectLst/>
                <a:uLnTx/>
                <a:uFillTx/>
                <a:latin typeface="Palatino Linotype"/>
                <a:ea typeface="+mn-ea"/>
              </a:rPr>
              <a:t>i</a:t>
            </a:r>
            <a:r>
              <a:rPr kumimoji="0" lang="en-US" sz="1400" b="0" i="0" u="none" strike="noStrike" kern="0" cap="none" spc="0" normalizeH="0" baseline="0" noProof="0" dirty="0">
                <a:ln>
                  <a:noFill/>
                </a:ln>
                <a:solidFill>
                  <a:srgbClr val="000000"/>
                </a:solidFill>
                <a:effectLst/>
                <a:uLnTx/>
                <a:uFillTx/>
                <a:latin typeface="Palatino Linotype"/>
                <a:ea typeface="+mn-ea"/>
              </a:rPr>
              <a:t>][j]</a:t>
            </a:r>
          </a:p>
          <a:p>
            <a:pPr marL="6313170" marR="0" lvl="0" indent="0" defTabSz="914400" eaLnBrk="1" fontAlgn="auto" latinLnBrk="0" hangingPunct="1">
              <a:lnSpc>
                <a:spcPct val="100000"/>
              </a:lnSpc>
              <a:spcBef>
                <a:spcPts val="610"/>
              </a:spcBef>
              <a:spcAft>
                <a:spcPts val="0"/>
              </a:spcAft>
              <a:buClrTx/>
              <a:buSzTx/>
              <a:buFontTx/>
              <a:buNone/>
              <a:tabLst/>
              <a:defRPr/>
            </a:pPr>
            <a:r>
              <a:rPr kumimoji="0" lang="en-US" sz="1400" b="0" i="0" u="none" strike="noStrike" kern="0" cap="none" spc="-5" normalizeH="0" baseline="0" noProof="0" dirty="0">
                <a:ln>
                  <a:noFill/>
                </a:ln>
                <a:solidFill>
                  <a:srgbClr val="000000"/>
                </a:solidFill>
                <a:effectLst/>
                <a:uLnTx/>
                <a:uFillTx/>
                <a:latin typeface="Palatino Linotype"/>
                <a:ea typeface="+mn-ea"/>
              </a:rPr>
              <a:t>Reduce</a:t>
            </a:r>
            <a:r>
              <a:rPr kumimoji="0" lang="en-US" sz="1400" b="0" i="0" u="none" strike="noStrike" kern="0" cap="none" spc="-10" normalizeH="0" baseline="0" noProof="0" dirty="0">
                <a:ln>
                  <a:noFill/>
                </a:ln>
                <a:solidFill>
                  <a:srgbClr val="000000"/>
                </a:solidFill>
                <a:effectLst/>
                <a:uLnTx/>
                <a:uFillTx/>
                <a:latin typeface="Palatino Linotype"/>
                <a:ea typeface="+mn-ea"/>
              </a:rPr>
              <a:t> </a:t>
            </a:r>
            <a:r>
              <a:rPr kumimoji="0" lang="en-US" sz="1400" b="0" i="0" u="none" strike="noStrike" kern="0" cap="none" spc="0" normalizeH="0" baseline="0" noProof="0" dirty="0">
                <a:ln>
                  <a:noFill/>
                </a:ln>
                <a:solidFill>
                  <a:srgbClr val="000000"/>
                </a:solidFill>
                <a:effectLst/>
                <a:uLnTx/>
                <a:uFillTx/>
                <a:latin typeface="Palatino Linotype"/>
                <a:ea typeface="+mn-ea"/>
              </a:rPr>
              <a:t>using</a:t>
            </a:r>
            <a:r>
              <a:rPr kumimoji="0" lang="en-US" sz="1400" b="0" i="0" u="none" strike="noStrike" kern="0" cap="none" spc="-35" normalizeH="0" baseline="0" noProof="0" dirty="0">
                <a:ln>
                  <a:noFill/>
                </a:ln>
                <a:solidFill>
                  <a:srgbClr val="000000"/>
                </a:solidFill>
                <a:effectLst/>
                <a:uLnTx/>
                <a:uFillTx/>
                <a:latin typeface="Palatino Linotype"/>
                <a:ea typeface="+mn-ea"/>
              </a:rPr>
              <a:t> </a:t>
            </a:r>
            <a:r>
              <a:rPr kumimoji="0" lang="en-US" sz="1400" b="0" i="0" u="none" strike="noStrike" kern="0" cap="none" spc="-5" normalizeH="0" baseline="0" noProof="0" dirty="0">
                <a:ln>
                  <a:noFill/>
                </a:ln>
                <a:solidFill>
                  <a:srgbClr val="000000"/>
                </a:solidFill>
                <a:effectLst/>
                <a:uLnTx/>
                <a:uFillTx/>
                <a:latin typeface="Palatino Linotype"/>
                <a:ea typeface="+mn-ea"/>
              </a:rPr>
              <a:t>prod.</a:t>
            </a:r>
            <a:r>
              <a:rPr kumimoji="0" lang="en-US" sz="1400" b="0" i="0" u="none" strike="noStrike" kern="0" cap="none" spc="-15" normalizeH="0" baseline="0" noProof="0" dirty="0">
                <a:ln>
                  <a:noFill/>
                </a:ln>
                <a:solidFill>
                  <a:srgbClr val="000000"/>
                </a:solidFill>
                <a:effectLst/>
                <a:uLnTx/>
                <a:uFillTx/>
                <a:latin typeface="Palatino Linotype"/>
                <a:ea typeface="+mn-ea"/>
              </a:rPr>
              <a:t> </a:t>
            </a:r>
            <a:r>
              <a:rPr kumimoji="0" lang="en-US" sz="1400" b="0" i="0" u="none" strike="noStrike" kern="0" cap="none" spc="0" normalizeH="0" baseline="0" noProof="0" dirty="0">
                <a:ln>
                  <a:noFill/>
                </a:ln>
                <a:solidFill>
                  <a:srgbClr val="000000"/>
                </a:solidFill>
                <a:effectLst/>
                <a:uLnTx/>
                <a:uFillTx/>
                <a:latin typeface="Palatino Linotype"/>
                <a:ea typeface="+mn-ea"/>
              </a:rPr>
              <a:t>#1</a:t>
            </a:r>
          </a:p>
          <a:p>
            <a:pPr marL="5983605" marR="0" lvl="0" indent="0" defTabSz="914400" eaLnBrk="1" fontAlgn="auto" latinLnBrk="0" hangingPunct="1">
              <a:lnSpc>
                <a:spcPts val="1470"/>
              </a:lnSpc>
              <a:spcBef>
                <a:spcPts val="950"/>
              </a:spcBef>
              <a:spcAft>
                <a:spcPts val="0"/>
              </a:spcAft>
              <a:buClrTx/>
              <a:buSzTx/>
              <a:buFontTx/>
              <a:buNone/>
              <a:tabLst/>
              <a:defRPr/>
            </a:pPr>
            <a:r>
              <a:rPr kumimoji="0" lang="en-US" sz="1400" b="0" i="0" u="none" strike="noStrike" kern="0" cap="none" spc="-5" normalizeH="0" baseline="0" noProof="0" dirty="0">
                <a:ln>
                  <a:noFill/>
                </a:ln>
                <a:solidFill>
                  <a:srgbClr val="000000"/>
                </a:solidFill>
                <a:effectLst/>
                <a:uLnTx/>
                <a:uFillTx/>
                <a:latin typeface="Palatino Linotype"/>
                <a:ea typeface="+mn-ea"/>
              </a:rPr>
              <a:t>L[j]</a:t>
            </a:r>
          </a:p>
          <a:p>
            <a:pPr marL="12700" marR="0" lvl="0" indent="0" defTabSz="914400" eaLnBrk="1" fontAlgn="auto" latinLnBrk="0" hangingPunct="1">
              <a:lnSpc>
                <a:spcPts val="1250"/>
              </a:lnSpc>
              <a:spcBef>
                <a:spcPts val="0"/>
              </a:spcBef>
              <a:spcAft>
                <a:spcPts val="0"/>
              </a:spcAft>
              <a:buClrTx/>
              <a:buSzTx/>
              <a:buFontTx/>
              <a:buNone/>
              <a:tabLst/>
              <a:defRPr/>
            </a:pPr>
            <a:r>
              <a:rPr kumimoji="0" lang="en-US" sz="1400" b="0" i="0" u="none" strike="noStrike" kern="0" cap="none" spc="35" normalizeH="0" baseline="0" noProof="0" dirty="0">
                <a:ln>
                  <a:noFill/>
                </a:ln>
                <a:solidFill>
                  <a:srgbClr val="FF0000"/>
                </a:solidFill>
                <a:effectLst/>
                <a:uLnTx/>
                <a:uFillTx/>
                <a:latin typeface="Cambria Math"/>
                <a:ea typeface="+mn-ea"/>
                <a:cs typeface="Cambria Math"/>
              </a:rPr>
              <a:t>𝐿</a:t>
            </a:r>
            <a:r>
              <a:rPr kumimoji="0" lang="en-US" sz="1400" b="0" i="0" u="none" strike="noStrike" kern="0" cap="none" spc="0" normalizeH="0" baseline="0" noProof="0" dirty="0">
                <a:ln>
                  <a:noFill/>
                </a:ln>
                <a:solidFill>
                  <a:srgbClr val="FF0000"/>
                </a:solidFill>
                <a:effectLst/>
                <a:uLnTx/>
                <a:uFillTx/>
                <a:latin typeface="Cambria Math"/>
                <a:ea typeface="+mn-ea"/>
                <a:cs typeface="Cambria Math"/>
              </a:rPr>
              <a:t>.</a:t>
            </a:r>
            <a:r>
              <a:rPr kumimoji="0" lang="en-US" sz="1400" b="0" i="0" u="none" strike="noStrike" kern="0" cap="none" spc="-85" normalizeH="0" baseline="0" noProof="0" dirty="0">
                <a:ln>
                  <a:noFill/>
                </a:ln>
                <a:solidFill>
                  <a:srgbClr val="FF0000"/>
                </a:solidFill>
                <a:effectLst/>
                <a:uLnTx/>
                <a:uFillTx/>
                <a:latin typeface="Cambria Math"/>
                <a:ea typeface="+mn-ea"/>
                <a:cs typeface="Cambria Math"/>
              </a:rPr>
              <a:t> </a:t>
            </a:r>
            <a:r>
              <a:rPr kumimoji="0" lang="en-US" sz="1400" b="0" i="0" u="none" strike="noStrike" kern="0" cap="none" spc="0" normalizeH="0" baseline="0" noProof="0" dirty="0">
                <a:ln>
                  <a:noFill/>
                </a:ln>
                <a:solidFill>
                  <a:srgbClr val="FF0000"/>
                </a:solidFill>
                <a:effectLst/>
                <a:uLnTx/>
                <a:uFillTx/>
                <a:latin typeface="Cambria Math"/>
                <a:ea typeface="+mn-ea"/>
                <a:cs typeface="Cambria Math"/>
              </a:rPr>
              <a:t>𝑎𝑟</a:t>
            </a:r>
            <a:r>
              <a:rPr kumimoji="0" lang="en-US" sz="1400" b="0" i="0" u="none" strike="noStrike" kern="0" cap="none" spc="-5" normalizeH="0" baseline="0" noProof="0" dirty="0">
                <a:ln>
                  <a:noFill/>
                </a:ln>
                <a:solidFill>
                  <a:srgbClr val="FF0000"/>
                </a:solidFill>
                <a:effectLst/>
                <a:uLnTx/>
                <a:uFillTx/>
                <a:latin typeface="Cambria Math"/>
                <a:ea typeface="+mn-ea"/>
                <a:cs typeface="Cambria Math"/>
              </a:rPr>
              <a:t>𝑟</a:t>
            </a:r>
            <a:r>
              <a:rPr kumimoji="0" lang="en-US" sz="1400" b="0" i="0" u="none" strike="noStrike" kern="0" cap="none" spc="0" normalizeH="0" baseline="0" noProof="0" dirty="0">
                <a:ln>
                  <a:noFill/>
                </a:ln>
                <a:solidFill>
                  <a:srgbClr val="FF0000"/>
                </a:solidFill>
                <a:effectLst/>
                <a:uLnTx/>
                <a:uFillTx/>
                <a:latin typeface="Cambria Math"/>
                <a:ea typeface="+mn-ea"/>
                <a:cs typeface="Cambria Math"/>
              </a:rPr>
              <a:t>𝑎</a:t>
            </a:r>
            <a:r>
              <a:rPr kumimoji="0" lang="en-US" sz="1400" b="0" i="0" u="none" strike="noStrike" kern="0" cap="none" spc="20" normalizeH="0" baseline="0" noProof="0" dirty="0">
                <a:ln>
                  <a:noFill/>
                </a:ln>
                <a:solidFill>
                  <a:srgbClr val="FF0000"/>
                </a:solidFill>
                <a:effectLst/>
                <a:uLnTx/>
                <a:uFillTx/>
                <a:latin typeface="Cambria Math"/>
                <a:ea typeface="+mn-ea"/>
                <a:cs typeface="Cambria Math"/>
              </a:rPr>
              <a:t>𝑦</a:t>
            </a:r>
            <a:r>
              <a:rPr kumimoji="0" lang="en-US" sz="1400" b="0" i="0" u="none" strike="noStrike" kern="0" cap="none" spc="0" normalizeH="0" baseline="0" noProof="0" dirty="0">
                <a:ln>
                  <a:noFill/>
                </a:ln>
                <a:solidFill>
                  <a:srgbClr val="000000"/>
                </a:solidFill>
                <a:effectLst/>
                <a:uLnTx/>
                <a:uFillTx/>
                <a:latin typeface="Palatino Linotype"/>
                <a:ea typeface="+mn-ea"/>
              </a:rPr>
              <a:t>:</a:t>
            </a:r>
            <a:r>
              <a:rPr kumimoji="0" lang="en-US" sz="1400" b="0" i="0" u="none" strike="noStrike" kern="0" cap="none" spc="-10" normalizeH="0" baseline="0" noProof="0" dirty="0">
                <a:ln>
                  <a:noFill/>
                </a:ln>
                <a:solidFill>
                  <a:srgbClr val="000000"/>
                </a:solidFill>
                <a:effectLst/>
                <a:uLnTx/>
                <a:uFillTx/>
                <a:latin typeface="Palatino Linotype"/>
                <a:ea typeface="+mn-ea"/>
              </a:rPr>
              <a:t> </a:t>
            </a:r>
            <a:r>
              <a:rPr kumimoji="0" lang="en-US" sz="1400" b="0" i="0" u="none" strike="noStrike" kern="0" cap="none" spc="0" normalizeH="0" baseline="0" noProof="0" dirty="0">
                <a:ln>
                  <a:noFill/>
                </a:ln>
                <a:solidFill>
                  <a:srgbClr val="000000"/>
                </a:solidFill>
                <a:effectLst/>
                <a:uLnTx/>
                <a:uFillTx/>
                <a:latin typeface="Palatino Linotype"/>
                <a:ea typeface="+mn-ea"/>
              </a:rPr>
              <a:t>a </a:t>
            </a:r>
            <a:r>
              <a:rPr kumimoji="0" lang="en-US" sz="1400" b="0" i="0" u="none" strike="noStrike" kern="0" cap="none" spc="-10" normalizeH="0" baseline="0" noProof="0" dirty="0">
                <a:ln>
                  <a:noFill/>
                </a:ln>
                <a:solidFill>
                  <a:srgbClr val="000000"/>
                </a:solidFill>
                <a:effectLst/>
                <a:uLnTx/>
                <a:uFillTx/>
                <a:latin typeface="Palatino Linotype"/>
                <a:ea typeface="+mn-ea"/>
              </a:rPr>
              <a:t>p</a:t>
            </a:r>
            <a:r>
              <a:rPr kumimoji="0" lang="en-US" sz="1400" b="0" i="0" u="none" strike="noStrike" kern="0" cap="none" spc="0" normalizeH="0" baseline="0" noProof="0" dirty="0">
                <a:ln>
                  <a:noFill/>
                </a:ln>
                <a:solidFill>
                  <a:srgbClr val="000000"/>
                </a:solidFill>
                <a:effectLst/>
                <a:uLnTx/>
                <a:uFillTx/>
                <a:latin typeface="Palatino Linotype"/>
                <a:ea typeface="+mn-ea"/>
              </a:rPr>
              <a:t>oin</a:t>
            </a:r>
            <a:r>
              <a:rPr kumimoji="0" lang="en-US" sz="1400" b="0" i="0" u="none" strike="noStrike" kern="0" cap="none" spc="-10" normalizeH="0" baseline="0" noProof="0" dirty="0">
                <a:ln>
                  <a:noFill/>
                </a:ln>
                <a:solidFill>
                  <a:srgbClr val="000000"/>
                </a:solidFill>
                <a:effectLst/>
                <a:uLnTx/>
                <a:uFillTx/>
                <a:latin typeface="Palatino Linotype"/>
                <a:ea typeface="+mn-ea"/>
              </a:rPr>
              <a:t>t</a:t>
            </a:r>
            <a:r>
              <a:rPr kumimoji="0" lang="en-US" sz="1400" b="0" i="0" u="none" strike="noStrike" kern="0" cap="none" spc="0" normalizeH="0" baseline="0" noProof="0" dirty="0">
                <a:ln>
                  <a:noFill/>
                </a:ln>
                <a:solidFill>
                  <a:srgbClr val="000000"/>
                </a:solidFill>
                <a:effectLst/>
                <a:uLnTx/>
                <a:uFillTx/>
                <a:latin typeface="Palatino Linotype"/>
                <a:ea typeface="+mn-ea"/>
              </a:rPr>
              <a:t>er</a:t>
            </a:r>
            <a:r>
              <a:rPr kumimoji="0" lang="en-US" sz="1400" b="0" i="0" u="none" strike="noStrike" kern="0" cap="none" spc="-5" normalizeH="0" baseline="0" noProof="0" dirty="0">
                <a:ln>
                  <a:noFill/>
                </a:ln>
                <a:solidFill>
                  <a:srgbClr val="000000"/>
                </a:solidFill>
                <a:effectLst/>
                <a:uLnTx/>
                <a:uFillTx/>
                <a:latin typeface="Palatino Linotype"/>
                <a:ea typeface="+mn-ea"/>
              </a:rPr>
              <a:t> </a:t>
            </a:r>
            <a:r>
              <a:rPr kumimoji="0" lang="en-US" sz="1400" b="0" i="0" u="none" strike="noStrike" kern="0" cap="none" spc="-10" normalizeH="0" baseline="0" noProof="0" dirty="0">
                <a:ln>
                  <a:noFill/>
                </a:ln>
                <a:solidFill>
                  <a:srgbClr val="000000"/>
                </a:solidFill>
                <a:effectLst/>
                <a:uLnTx/>
                <a:uFillTx/>
                <a:latin typeface="Palatino Linotype"/>
                <a:ea typeface="+mn-ea"/>
              </a:rPr>
              <a:t>t</a:t>
            </a:r>
            <a:r>
              <a:rPr kumimoji="0" lang="en-US" sz="1400" b="0" i="0" u="none" strike="noStrike" kern="0" cap="none" spc="0" normalizeH="0" baseline="0" noProof="0" dirty="0">
                <a:ln>
                  <a:noFill/>
                </a:ln>
                <a:solidFill>
                  <a:srgbClr val="000000"/>
                </a:solidFill>
                <a:effectLst/>
                <a:uLnTx/>
                <a:uFillTx/>
                <a:latin typeface="Palatino Linotype"/>
                <a:ea typeface="+mn-ea"/>
              </a:rPr>
              <a:t>o </a:t>
            </a:r>
            <a:r>
              <a:rPr kumimoji="0" lang="en-US" sz="1400" b="0" i="0" u="none" strike="noStrike" kern="0" cap="none" spc="-10" normalizeH="0" baseline="0" noProof="0" dirty="0">
                <a:ln>
                  <a:noFill/>
                </a:ln>
                <a:solidFill>
                  <a:srgbClr val="000000"/>
                </a:solidFill>
                <a:effectLst/>
                <a:uLnTx/>
                <a:uFillTx/>
                <a:latin typeface="Palatino Linotype"/>
                <a:ea typeface="+mn-ea"/>
              </a:rPr>
              <a:t>t</a:t>
            </a:r>
            <a:r>
              <a:rPr kumimoji="0" lang="en-US" sz="1400" b="0" i="0" u="none" strike="noStrike" kern="0" cap="none" spc="-5" normalizeH="0" baseline="0" noProof="0" dirty="0">
                <a:ln>
                  <a:noFill/>
                </a:ln>
                <a:solidFill>
                  <a:srgbClr val="000000"/>
                </a:solidFill>
                <a:effectLst/>
                <a:uLnTx/>
                <a:uFillTx/>
                <a:latin typeface="Palatino Linotype"/>
                <a:ea typeface="+mn-ea"/>
              </a:rPr>
              <a:t>h</a:t>
            </a:r>
            <a:r>
              <a:rPr kumimoji="0" lang="en-US" sz="1400" b="0" i="0" u="none" strike="noStrike" kern="0" cap="none" spc="0" normalizeH="0" baseline="0" noProof="0" dirty="0">
                <a:ln>
                  <a:noFill/>
                </a:ln>
                <a:solidFill>
                  <a:srgbClr val="000000"/>
                </a:solidFill>
                <a:effectLst/>
                <a:uLnTx/>
                <a:uFillTx/>
                <a:latin typeface="Palatino Linotype"/>
                <a:ea typeface="+mn-ea"/>
              </a:rPr>
              <a:t>e </a:t>
            </a:r>
            <a:r>
              <a:rPr kumimoji="0" lang="en-US" sz="1400" b="0" i="0" u="none" strike="noStrike" kern="0" cap="none" spc="5" normalizeH="0" baseline="0" noProof="0" dirty="0">
                <a:ln>
                  <a:noFill/>
                </a:ln>
                <a:solidFill>
                  <a:srgbClr val="000000"/>
                </a:solidFill>
                <a:effectLst/>
                <a:uLnTx/>
                <a:uFillTx/>
                <a:latin typeface="Palatino Linotype"/>
                <a:ea typeface="+mn-ea"/>
              </a:rPr>
              <a:t>s</a:t>
            </a:r>
            <a:r>
              <a:rPr kumimoji="0" lang="en-US" sz="1400" b="0" i="0" u="none" strike="noStrike" kern="0" cap="none" spc="-5" normalizeH="0" baseline="0" noProof="0" dirty="0">
                <a:ln>
                  <a:noFill/>
                </a:ln>
                <a:solidFill>
                  <a:srgbClr val="000000"/>
                </a:solidFill>
                <a:effectLst/>
                <a:uLnTx/>
                <a:uFillTx/>
                <a:latin typeface="Palatino Linotype"/>
                <a:ea typeface="+mn-ea"/>
              </a:rPr>
              <a:t>ymbo</a:t>
            </a:r>
            <a:r>
              <a:rPr kumimoji="0" lang="en-US" sz="1400" b="0" i="0" u="none" strike="noStrike" kern="0" cap="none" spc="5" normalizeH="0" baseline="0" noProof="0" dirty="0">
                <a:ln>
                  <a:noFill/>
                </a:ln>
                <a:solidFill>
                  <a:srgbClr val="000000"/>
                </a:solidFill>
                <a:effectLst/>
                <a:uLnTx/>
                <a:uFillTx/>
                <a:latin typeface="Palatino Linotype"/>
                <a:ea typeface="+mn-ea"/>
              </a:rPr>
              <a:t>l</a:t>
            </a:r>
            <a:r>
              <a:rPr kumimoji="0" lang="en-US" sz="1400" b="0" i="0" u="none" strike="noStrike" kern="0" cap="none" spc="-5" normalizeH="0" baseline="0" noProof="0" dirty="0">
                <a:ln>
                  <a:noFill/>
                </a:ln>
                <a:solidFill>
                  <a:srgbClr val="000000"/>
                </a:solidFill>
                <a:effectLst/>
                <a:uLnTx/>
                <a:uFillTx/>
                <a:latin typeface="Palatino Linotype"/>
                <a:ea typeface="+mn-ea"/>
              </a:rPr>
              <a:t>-ta</a:t>
            </a:r>
            <a:r>
              <a:rPr kumimoji="0" lang="en-US" sz="1400" b="0" i="0" u="none" strike="noStrike" kern="0" cap="none" spc="0" normalizeH="0" baseline="0" noProof="0" dirty="0">
                <a:ln>
                  <a:noFill/>
                </a:ln>
                <a:solidFill>
                  <a:srgbClr val="000000"/>
                </a:solidFill>
                <a:effectLst/>
                <a:uLnTx/>
                <a:uFillTx/>
                <a:latin typeface="Palatino Linotype"/>
                <a:ea typeface="+mn-ea"/>
              </a:rPr>
              <a:t>ble</a:t>
            </a:r>
            <a:r>
              <a:rPr kumimoji="0" lang="en-US" sz="1400" b="0" i="0" u="none" strike="noStrike" kern="0" cap="none" spc="-30" normalizeH="0" baseline="0" noProof="0" dirty="0">
                <a:ln>
                  <a:noFill/>
                </a:ln>
                <a:solidFill>
                  <a:srgbClr val="000000"/>
                </a:solidFill>
                <a:effectLst/>
                <a:uLnTx/>
                <a:uFillTx/>
                <a:latin typeface="Palatino Linotype"/>
                <a:ea typeface="+mn-ea"/>
              </a:rPr>
              <a:t> </a:t>
            </a:r>
            <a:r>
              <a:rPr kumimoji="0" lang="en-US" sz="1400" b="0" i="0" u="none" strike="noStrike" kern="0" cap="none" spc="0" normalizeH="0" baseline="0" noProof="0" dirty="0">
                <a:ln>
                  <a:noFill/>
                </a:ln>
                <a:solidFill>
                  <a:srgbClr val="000000"/>
                </a:solidFill>
                <a:effectLst/>
                <a:uLnTx/>
                <a:uFillTx/>
                <a:latin typeface="Palatino Linotype"/>
                <a:ea typeface="+mn-ea"/>
              </a:rPr>
              <a:t>en</a:t>
            </a:r>
            <a:r>
              <a:rPr kumimoji="0" lang="en-US" sz="1400" b="0" i="0" u="none" strike="noStrike" kern="0" cap="none" spc="-10" normalizeH="0" baseline="0" noProof="0" dirty="0">
                <a:ln>
                  <a:noFill/>
                </a:ln>
                <a:solidFill>
                  <a:srgbClr val="000000"/>
                </a:solidFill>
                <a:effectLst/>
                <a:uLnTx/>
                <a:uFillTx/>
                <a:latin typeface="Palatino Linotype"/>
                <a:ea typeface="+mn-ea"/>
              </a:rPr>
              <a:t>t</a:t>
            </a:r>
            <a:r>
              <a:rPr kumimoji="0" lang="en-US" sz="1400" b="0" i="0" u="none" strike="noStrike" kern="0" cap="none" spc="0" normalizeH="0" baseline="0" noProof="0" dirty="0">
                <a:ln>
                  <a:noFill/>
                </a:ln>
                <a:solidFill>
                  <a:srgbClr val="000000"/>
                </a:solidFill>
                <a:effectLst/>
                <a:uLnTx/>
                <a:uFillTx/>
                <a:latin typeface="Palatino Linotype"/>
                <a:ea typeface="+mn-ea"/>
              </a:rPr>
              <a:t>ry</a:t>
            </a:r>
            <a:r>
              <a:rPr kumimoji="0" lang="en-US" sz="1400" b="0" i="0" u="none" strike="noStrike" kern="0" cap="none" spc="-5" normalizeH="0" baseline="0" noProof="0" dirty="0">
                <a:ln>
                  <a:noFill/>
                </a:ln>
                <a:solidFill>
                  <a:srgbClr val="000000"/>
                </a:solidFill>
                <a:effectLst/>
                <a:uLnTx/>
                <a:uFillTx/>
                <a:latin typeface="Palatino Linotype"/>
                <a:ea typeface="+mn-ea"/>
              </a:rPr>
              <a:t> </a:t>
            </a:r>
            <a:r>
              <a:rPr kumimoji="0" lang="en-US" sz="1400" b="0" i="0" u="none" strike="noStrike" kern="0" cap="none" spc="0" normalizeH="0" baseline="0" noProof="0" dirty="0">
                <a:ln>
                  <a:noFill/>
                </a:ln>
                <a:solidFill>
                  <a:srgbClr val="000000"/>
                </a:solidFill>
                <a:effectLst/>
                <a:uLnTx/>
                <a:uFillTx/>
                <a:latin typeface="Palatino Linotype"/>
                <a:ea typeface="+mn-ea"/>
              </a:rPr>
              <a:t>for</a:t>
            </a:r>
            <a:r>
              <a:rPr kumimoji="0" lang="en-US" sz="1400" b="0" i="0" u="none" strike="noStrike" kern="0" cap="none" spc="-25" normalizeH="0" baseline="0" noProof="0" dirty="0">
                <a:ln>
                  <a:noFill/>
                </a:ln>
                <a:solidFill>
                  <a:srgbClr val="000000"/>
                </a:solidFill>
                <a:effectLst/>
                <a:uLnTx/>
                <a:uFillTx/>
                <a:latin typeface="Palatino Linotype"/>
                <a:ea typeface="+mn-ea"/>
              </a:rPr>
              <a:t> </a:t>
            </a:r>
            <a:r>
              <a:rPr kumimoji="0" lang="en-US" sz="1400" b="0" i="0" u="none" strike="noStrike" kern="0" cap="none" spc="-5" normalizeH="0" baseline="0" noProof="0" dirty="0">
                <a:ln>
                  <a:noFill/>
                </a:ln>
                <a:solidFill>
                  <a:srgbClr val="000000"/>
                </a:solidFill>
                <a:effectLst/>
                <a:uLnTx/>
                <a:uFillTx/>
                <a:latin typeface="Palatino Linotype"/>
                <a:ea typeface="+mn-ea"/>
              </a:rPr>
              <a:t>t</a:t>
            </a:r>
            <a:r>
              <a:rPr kumimoji="0" lang="en-US" sz="1400" b="0" i="0" u="none" strike="noStrike" kern="0" cap="none" spc="-10" normalizeH="0" baseline="0" noProof="0" dirty="0">
                <a:ln>
                  <a:noFill/>
                </a:ln>
                <a:solidFill>
                  <a:srgbClr val="000000"/>
                </a:solidFill>
                <a:effectLst/>
                <a:uLnTx/>
                <a:uFillTx/>
                <a:latin typeface="Palatino Linotype"/>
                <a:ea typeface="+mn-ea"/>
              </a:rPr>
              <a:t>h</a:t>
            </a:r>
            <a:r>
              <a:rPr kumimoji="0" lang="en-US" sz="1400" b="0" i="0" u="none" strike="noStrike" kern="0" cap="none" spc="0" normalizeH="0" baseline="0" noProof="0" dirty="0">
                <a:ln>
                  <a:noFill/>
                </a:ln>
                <a:solidFill>
                  <a:srgbClr val="000000"/>
                </a:solidFill>
                <a:effectLst/>
                <a:uLnTx/>
                <a:uFillTx/>
                <a:latin typeface="Palatino Linotype"/>
                <a:ea typeface="+mn-ea"/>
              </a:rPr>
              <a:t>e</a:t>
            </a:r>
            <a:r>
              <a:rPr kumimoji="0" lang="en-US" sz="1400" b="0" i="0" u="none" strike="noStrike" kern="0" cap="none" spc="5" normalizeH="0" baseline="0" noProof="0" dirty="0">
                <a:ln>
                  <a:noFill/>
                </a:ln>
                <a:solidFill>
                  <a:srgbClr val="000000"/>
                </a:solidFill>
                <a:effectLst/>
                <a:uLnTx/>
                <a:uFillTx/>
                <a:latin typeface="Palatino Linotype"/>
                <a:ea typeface="+mn-ea"/>
              </a:rPr>
              <a:t> </a:t>
            </a:r>
            <a:r>
              <a:rPr kumimoji="0" lang="en-US" sz="1400" b="0" i="0" u="none" strike="noStrike" kern="0" cap="none" spc="0" normalizeH="0" baseline="0" noProof="0" dirty="0">
                <a:ln>
                  <a:noFill/>
                </a:ln>
                <a:solidFill>
                  <a:srgbClr val="000000"/>
                </a:solidFill>
                <a:effectLst/>
                <a:uLnTx/>
                <a:uFillTx/>
                <a:latin typeface="Palatino Linotype"/>
                <a:ea typeface="+mn-ea"/>
              </a:rPr>
              <a:t>ar</a:t>
            </a:r>
            <a:r>
              <a:rPr kumimoji="0" lang="en-US" sz="1400" b="0" i="0" u="none" strike="noStrike" kern="0" cap="none" spc="-10" normalizeH="0" baseline="0" noProof="0" dirty="0">
                <a:ln>
                  <a:noFill/>
                </a:ln>
                <a:solidFill>
                  <a:srgbClr val="000000"/>
                </a:solidFill>
                <a:effectLst/>
                <a:uLnTx/>
                <a:uFillTx/>
                <a:latin typeface="Palatino Linotype"/>
                <a:ea typeface="+mn-ea"/>
              </a:rPr>
              <a:t>r</a:t>
            </a:r>
            <a:r>
              <a:rPr kumimoji="0" lang="en-US" sz="1400" b="0" i="0" u="none" strike="noStrike" kern="0" cap="none" spc="0" normalizeH="0" baseline="0" noProof="0" dirty="0">
                <a:ln>
                  <a:noFill/>
                </a:ln>
                <a:solidFill>
                  <a:srgbClr val="000000"/>
                </a:solidFill>
                <a:effectLst/>
                <a:uLnTx/>
                <a:uFillTx/>
                <a:latin typeface="Palatino Linotype"/>
                <a:ea typeface="+mn-ea"/>
              </a:rPr>
              <a:t>ay</a:t>
            </a:r>
            <a:r>
              <a:rPr kumimoji="0" lang="en-US" sz="1400" b="0" i="0" u="none" strike="noStrike" kern="0" cap="none" spc="-30" normalizeH="0" baseline="0" noProof="0" dirty="0">
                <a:ln>
                  <a:noFill/>
                </a:ln>
                <a:solidFill>
                  <a:srgbClr val="000000"/>
                </a:solidFill>
                <a:effectLst/>
                <a:uLnTx/>
                <a:uFillTx/>
                <a:latin typeface="Palatino Linotype"/>
                <a:ea typeface="+mn-ea"/>
              </a:rPr>
              <a:t> </a:t>
            </a:r>
            <a:r>
              <a:rPr kumimoji="0" lang="en-US" sz="1400" b="0" i="0" u="none" strike="noStrike" kern="0" cap="none" spc="0" normalizeH="0" baseline="0" noProof="0" dirty="0">
                <a:ln>
                  <a:noFill/>
                </a:ln>
                <a:solidFill>
                  <a:srgbClr val="000000"/>
                </a:solidFill>
                <a:effectLst/>
                <a:uLnTx/>
                <a:uFillTx/>
                <a:latin typeface="Palatino Linotype"/>
                <a:ea typeface="+mn-ea"/>
              </a:rPr>
              <a:t>name</a:t>
            </a:r>
          </a:p>
          <a:p>
            <a:pPr marL="6313170" marR="0" lvl="0" indent="0" defTabSz="914400" eaLnBrk="1" fontAlgn="auto" latinLnBrk="0" hangingPunct="1">
              <a:lnSpc>
                <a:spcPts val="1455"/>
              </a:lnSpc>
              <a:spcBef>
                <a:spcPts val="0"/>
              </a:spcBef>
              <a:spcAft>
                <a:spcPts val="0"/>
              </a:spcAft>
              <a:buClrTx/>
              <a:buSzTx/>
              <a:buFontTx/>
              <a:buNone/>
              <a:tabLst/>
              <a:defRPr/>
            </a:pPr>
            <a:r>
              <a:rPr kumimoji="0" lang="en-US" sz="1400" b="0" i="0" u="none" strike="noStrike" kern="0" cap="none" spc="-5" normalizeH="0" baseline="0" noProof="0" dirty="0">
                <a:ln>
                  <a:noFill/>
                </a:ln>
                <a:solidFill>
                  <a:srgbClr val="000000"/>
                </a:solidFill>
                <a:effectLst/>
                <a:uLnTx/>
                <a:uFillTx/>
                <a:latin typeface="Palatino Linotype"/>
                <a:ea typeface="+mn-ea"/>
              </a:rPr>
              <a:t>Reduce</a:t>
            </a:r>
            <a:r>
              <a:rPr kumimoji="0" lang="en-US" sz="1400" b="0" i="0" u="none" strike="noStrike" kern="0" cap="none" spc="-10" normalizeH="0" baseline="0" noProof="0" dirty="0">
                <a:ln>
                  <a:noFill/>
                </a:ln>
                <a:solidFill>
                  <a:srgbClr val="000000"/>
                </a:solidFill>
                <a:effectLst/>
                <a:uLnTx/>
                <a:uFillTx/>
                <a:latin typeface="Palatino Linotype"/>
                <a:ea typeface="+mn-ea"/>
              </a:rPr>
              <a:t> </a:t>
            </a:r>
            <a:r>
              <a:rPr kumimoji="0" lang="en-US" sz="1400" b="0" i="0" u="none" strike="noStrike" kern="0" cap="none" spc="0" normalizeH="0" baseline="0" noProof="0" dirty="0">
                <a:ln>
                  <a:noFill/>
                </a:ln>
                <a:solidFill>
                  <a:srgbClr val="000000"/>
                </a:solidFill>
                <a:effectLst/>
                <a:uLnTx/>
                <a:uFillTx/>
                <a:latin typeface="Palatino Linotype"/>
                <a:ea typeface="+mn-ea"/>
              </a:rPr>
              <a:t>using</a:t>
            </a:r>
            <a:r>
              <a:rPr kumimoji="0" lang="en-US" sz="1400" b="0" i="0" u="none" strike="noStrike" kern="0" cap="none" spc="-35" normalizeH="0" baseline="0" noProof="0" dirty="0">
                <a:ln>
                  <a:noFill/>
                </a:ln>
                <a:solidFill>
                  <a:srgbClr val="000000"/>
                </a:solidFill>
                <a:effectLst/>
                <a:uLnTx/>
                <a:uFillTx/>
                <a:latin typeface="Palatino Linotype"/>
                <a:ea typeface="+mn-ea"/>
              </a:rPr>
              <a:t> </a:t>
            </a:r>
            <a:r>
              <a:rPr kumimoji="0" lang="en-US" sz="1400" b="0" i="0" u="none" strike="noStrike" kern="0" cap="none" spc="-5" normalizeH="0" baseline="0" noProof="0" dirty="0">
                <a:ln>
                  <a:noFill/>
                </a:ln>
                <a:solidFill>
                  <a:srgbClr val="000000"/>
                </a:solidFill>
                <a:effectLst/>
                <a:uLnTx/>
                <a:uFillTx/>
                <a:latin typeface="Palatino Linotype"/>
                <a:ea typeface="+mn-ea"/>
              </a:rPr>
              <a:t>prod.</a:t>
            </a:r>
            <a:r>
              <a:rPr kumimoji="0" lang="en-US" sz="1400" b="0" i="0" u="none" strike="noStrike" kern="0" cap="none" spc="-15" normalizeH="0" baseline="0" noProof="0" dirty="0">
                <a:ln>
                  <a:noFill/>
                </a:ln>
                <a:solidFill>
                  <a:srgbClr val="000000"/>
                </a:solidFill>
                <a:effectLst/>
                <a:uLnTx/>
                <a:uFillTx/>
                <a:latin typeface="Palatino Linotype"/>
                <a:ea typeface="+mn-ea"/>
              </a:rPr>
              <a:t> </a:t>
            </a:r>
            <a:r>
              <a:rPr kumimoji="0" lang="en-US" sz="1400" b="0" i="0" u="none" strike="noStrike" kern="0" cap="none" spc="0" normalizeH="0" baseline="0" noProof="0" dirty="0">
                <a:ln>
                  <a:noFill/>
                </a:ln>
                <a:solidFill>
                  <a:srgbClr val="000000"/>
                </a:solidFill>
                <a:effectLst/>
                <a:uLnTx/>
                <a:uFillTx/>
                <a:latin typeface="Palatino Linotype"/>
                <a:ea typeface="+mn-ea"/>
              </a:rPr>
              <a:t>#2</a:t>
            </a:r>
          </a:p>
        </p:txBody>
      </p:sp>
      <p:sp>
        <p:nvSpPr>
          <p:cNvPr id="36" name="object 16">
            <a:extLst>
              <a:ext uri="{FF2B5EF4-FFF2-40B4-BE49-F238E27FC236}">
                <a16:creationId xmlns:a16="http://schemas.microsoft.com/office/drawing/2014/main" id="{1AE9699F-98AB-5B32-3002-6447C60D21F3}"/>
              </a:ext>
            </a:extLst>
          </p:cNvPr>
          <p:cNvSpPr/>
          <p:nvPr/>
        </p:nvSpPr>
        <p:spPr>
          <a:xfrm>
            <a:off x="4661915" y="2010155"/>
            <a:ext cx="3078480" cy="1576705"/>
          </a:xfrm>
          <a:custGeom>
            <a:avLst/>
            <a:gdLst/>
            <a:ahLst/>
            <a:cxnLst/>
            <a:rect l="l" t="t" r="r" b="b"/>
            <a:pathLst>
              <a:path w="3078479" h="1576704">
                <a:moveTo>
                  <a:pt x="1849501" y="404368"/>
                </a:moveTo>
                <a:lnTo>
                  <a:pt x="0" y="0"/>
                </a:lnTo>
              </a:path>
              <a:path w="3078479" h="1576704">
                <a:moveTo>
                  <a:pt x="3077972" y="1576705"/>
                </a:moveTo>
                <a:lnTo>
                  <a:pt x="3046476" y="950976"/>
                </a:lnTo>
              </a:path>
            </a:pathLst>
          </a:custGeom>
          <a:ln w="12700">
            <a:solidFill>
              <a:srgbClr val="FF0000"/>
            </a:solidFill>
            <a:prstDash val="sysDash"/>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7" name="object 17">
            <a:extLst>
              <a:ext uri="{FF2B5EF4-FFF2-40B4-BE49-F238E27FC236}">
                <a16:creationId xmlns:a16="http://schemas.microsoft.com/office/drawing/2014/main" id="{62EB9A7E-F3F1-D62D-A04A-4FC627D2A046}"/>
              </a:ext>
            </a:extLst>
          </p:cNvPr>
          <p:cNvSpPr txBox="1"/>
          <p:nvPr/>
        </p:nvSpPr>
        <p:spPr>
          <a:xfrm>
            <a:off x="6186932" y="5226100"/>
            <a:ext cx="2698115" cy="666115"/>
          </a:xfrm>
          <a:prstGeom prst="rect">
            <a:avLst/>
          </a:prstGeom>
        </p:spPr>
        <p:txBody>
          <a:bodyPr vert="horz" wrap="square" lIns="0" tIns="12700" rIns="0" bIns="0" rtlCol="0">
            <a:spAutoFit/>
          </a:bodyPr>
          <a:lstStyle/>
          <a:p>
            <a:pPr marL="1264920" marR="5080" indent="-1252855" rtl="0">
              <a:lnSpc>
                <a:spcPct val="150000"/>
              </a:lnSpc>
              <a:spcBef>
                <a:spcPts val="100"/>
              </a:spcBef>
            </a:pPr>
            <a:r>
              <a:rPr sz="1400" i="1" kern="1200" spc="-5" dirty="0">
                <a:solidFill>
                  <a:srgbClr val="FF0000"/>
                </a:solidFill>
                <a:latin typeface="Palatino Linotype"/>
                <a:cs typeface="Palatino Linotype"/>
              </a:rPr>
              <a:t>L.type</a:t>
            </a:r>
            <a:r>
              <a:rPr sz="1400" i="1" kern="1200" spc="-30" dirty="0">
                <a:solidFill>
                  <a:srgbClr val="FF0000"/>
                </a:solidFill>
                <a:latin typeface="Palatino Linotype"/>
                <a:cs typeface="Palatino Linotype"/>
              </a:rPr>
              <a:t> </a:t>
            </a:r>
            <a:r>
              <a:rPr sz="1400" kern="1200" dirty="0">
                <a:solidFill>
                  <a:srgbClr val="FF0000"/>
                </a:solidFill>
                <a:latin typeface="Palatino Linotype"/>
                <a:cs typeface="Palatino Linotype"/>
              </a:rPr>
              <a:t>is</a:t>
            </a:r>
            <a:r>
              <a:rPr sz="1400" kern="1200" spc="-20" dirty="0">
                <a:solidFill>
                  <a:srgbClr val="FF0000"/>
                </a:solidFill>
                <a:latin typeface="Palatino Linotype"/>
                <a:cs typeface="Palatino Linotype"/>
              </a:rPr>
              <a:t> </a:t>
            </a:r>
            <a:r>
              <a:rPr sz="1400" kern="1200" spc="-5" dirty="0">
                <a:solidFill>
                  <a:srgbClr val="FF0000"/>
                </a:solidFill>
                <a:latin typeface="Palatino Linotype"/>
                <a:cs typeface="Palatino Linotype"/>
              </a:rPr>
              <a:t>the type</a:t>
            </a:r>
            <a:r>
              <a:rPr sz="1400" kern="1200" spc="-10" dirty="0">
                <a:solidFill>
                  <a:srgbClr val="FF0000"/>
                </a:solidFill>
                <a:latin typeface="Palatino Linotype"/>
                <a:cs typeface="Palatino Linotype"/>
              </a:rPr>
              <a:t> </a:t>
            </a:r>
            <a:r>
              <a:rPr sz="1400" kern="1200" dirty="0">
                <a:solidFill>
                  <a:srgbClr val="FF0000"/>
                </a:solidFill>
                <a:latin typeface="Palatino Linotype"/>
                <a:cs typeface="Palatino Linotype"/>
              </a:rPr>
              <a:t>of</a:t>
            </a:r>
            <a:r>
              <a:rPr sz="1400" kern="1200" spc="-70" dirty="0">
                <a:solidFill>
                  <a:srgbClr val="FF0000"/>
                </a:solidFill>
                <a:latin typeface="Palatino Linotype"/>
                <a:cs typeface="Palatino Linotype"/>
              </a:rPr>
              <a:t> </a:t>
            </a:r>
            <a:r>
              <a:rPr sz="1400" kern="1200" spc="-25" dirty="0">
                <a:solidFill>
                  <a:srgbClr val="FF0000"/>
                </a:solidFill>
                <a:latin typeface="Palatino Linotype"/>
                <a:cs typeface="Palatino Linotype"/>
              </a:rPr>
              <a:t>A[i]’s</a:t>
            </a:r>
            <a:r>
              <a:rPr sz="1400" kern="1200" spc="-30" dirty="0">
                <a:solidFill>
                  <a:srgbClr val="FF0000"/>
                </a:solidFill>
                <a:latin typeface="Palatino Linotype"/>
                <a:cs typeface="Palatino Linotype"/>
              </a:rPr>
              <a:t> </a:t>
            </a:r>
            <a:r>
              <a:rPr sz="1400" kern="1200" dirty="0">
                <a:solidFill>
                  <a:srgbClr val="FF0000"/>
                </a:solidFill>
                <a:latin typeface="Palatino Linotype"/>
                <a:cs typeface="Palatino Linotype"/>
              </a:rPr>
              <a:t>element: </a:t>
            </a:r>
            <a:r>
              <a:rPr sz="1400" kern="1200" spc="-335" dirty="0">
                <a:solidFill>
                  <a:srgbClr val="FF0000"/>
                </a:solidFill>
                <a:latin typeface="Palatino Linotype"/>
                <a:cs typeface="Palatino Linotype"/>
              </a:rPr>
              <a:t> </a:t>
            </a:r>
            <a:r>
              <a:rPr sz="1400" kern="1200" spc="-5" dirty="0">
                <a:solidFill>
                  <a:srgbClr val="0431FF"/>
                </a:solidFill>
                <a:latin typeface="Palatino Linotype"/>
                <a:cs typeface="Palatino Linotype"/>
              </a:rPr>
              <a:t>int</a:t>
            </a:r>
            <a:endParaRPr sz="1400" kern="1200" dirty="0">
              <a:solidFill>
                <a:prstClr val="black"/>
              </a:solidFill>
              <a:latin typeface="Palatino Linotype"/>
              <a:cs typeface="Palatino Linotype"/>
            </a:endParaRPr>
          </a:p>
        </p:txBody>
      </p:sp>
      <p:sp>
        <p:nvSpPr>
          <p:cNvPr id="38" name="object 18">
            <a:extLst>
              <a:ext uri="{FF2B5EF4-FFF2-40B4-BE49-F238E27FC236}">
                <a16:creationId xmlns:a16="http://schemas.microsoft.com/office/drawing/2014/main" id="{89D3377C-43A1-5AD2-7796-0C0AB3241B3F}"/>
              </a:ext>
            </a:extLst>
          </p:cNvPr>
          <p:cNvSpPr/>
          <p:nvPr/>
        </p:nvSpPr>
        <p:spPr>
          <a:xfrm>
            <a:off x="4236720" y="2941297"/>
            <a:ext cx="3503295" cy="2355215"/>
          </a:xfrm>
          <a:custGeom>
            <a:avLst/>
            <a:gdLst/>
            <a:ahLst/>
            <a:cxnLst/>
            <a:rect l="l" t="t" r="r" b="b"/>
            <a:pathLst>
              <a:path w="3503295" h="2355215">
                <a:moveTo>
                  <a:pt x="3320796" y="2293388"/>
                </a:moveTo>
                <a:lnTo>
                  <a:pt x="3503040" y="1603270"/>
                </a:lnTo>
              </a:path>
              <a:path w="3503295" h="2355215">
                <a:moveTo>
                  <a:pt x="0" y="28597"/>
                </a:moveTo>
                <a:lnTo>
                  <a:pt x="47131" y="23841"/>
                </a:lnTo>
                <a:lnTo>
                  <a:pt x="94241" y="19204"/>
                </a:lnTo>
                <a:lnTo>
                  <a:pt x="141307" y="14805"/>
                </a:lnTo>
                <a:lnTo>
                  <a:pt x="188309" y="10760"/>
                </a:lnTo>
                <a:lnTo>
                  <a:pt x="235224" y="7189"/>
                </a:lnTo>
                <a:lnTo>
                  <a:pt x="282031" y="4209"/>
                </a:lnTo>
                <a:lnTo>
                  <a:pt x="328707" y="1939"/>
                </a:lnTo>
                <a:lnTo>
                  <a:pt x="375232" y="496"/>
                </a:lnTo>
                <a:lnTo>
                  <a:pt x="421584" y="0"/>
                </a:lnTo>
                <a:lnTo>
                  <a:pt x="467741" y="566"/>
                </a:lnTo>
                <a:lnTo>
                  <a:pt x="513681" y="2315"/>
                </a:lnTo>
                <a:lnTo>
                  <a:pt x="559383" y="5364"/>
                </a:lnTo>
                <a:lnTo>
                  <a:pt x="604825" y="9831"/>
                </a:lnTo>
                <a:lnTo>
                  <a:pt x="649986" y="15834"/>
                </a:lnTo>
                <a:lnTo>
                  <a:pt x="694843" y="23491"/>
                </a:lnTo>
                <a:lnTo>
                  <a:pt x="739375" y="32920"/>
                </a:lnTo>
                <a:lnTo>
                  <a:pt x="783561" y="44240"/>
                </a:lnTo>
                <a:lnTo>
                  <a:pt x="827378" y="57569"/>
                </a:lnTo>
                <a:lnTo>
                  <a:pt x="870806" y="73024"/>
                </a:lnTo>
                <a:lnTo>
                  <a:pt x="913822" y="90723"/>
                </a:lnTo>
                <a:lnTo>
                  <a:pt x="956405" y="110786"/>
                </a:lnTo>
                <a:lnTo>
                  <a:pt x="998533" y="133329"/>
                </a:lnTo>
                <a:lnTo>
                  <a:pt x="1040184" y="158472"/>
                </a:lnTo>
                <a:lnTo>
                  <a:pt x="1081337" y="186331"/>
                </a:lnTo>
                <a:lnTo>
                  <a:pt x="1121971" y="217026"/>
                </a:lnTo>
                <a:lnTo>
                  <a:pt x="1162063" y="250673"/>
                </a:lnTo>
                <a:lnTo>
                  <a:pt x="1201592" y="287393"/>
                </a:lnTo>
                <a:lnTo>
                  <a:pt x="1240535" y="327301"/>
                </a:lnTo>
                <a:lnTo>
                  <a:pt x="1288164" y="381505"/>
                </a:lnTo>
                <a:lnTo>
                  <a:pt x="1334894" y="440606"/>
                </a:lnTo>
                <a:lnTo>
                  <a:pt x="1357936" y="471921"/>
                </a:lnTo>
                <a:lnTo>
                  <a:pt x="1380769" y="504374"/>
                </a:lnTo>
                <a:lnTo>
                  <a:pt x="1403398" y="537938"/>
                </a:lnTo>
                <a:lnTo>
                  <a:pt x="1425830" y="572583"/>
                </a:lnTo>
                <a:lnTo>
                  <a:pt x="1448068" y="608281"/>
                </a:lnTo>
                <a:lnTo>
                  <a:pt x="1470118" y="645004"/>
                </a:lnTo>
                <a:lnTo>
                  <a:pt x="1491986" y="682723"/>
                </a:lnTo>
                <a:lnTo>
                  <a:pt x="1513676" y="721410"/>
                </a:lnTo>
                <a:lnTo>
                  <a:pt x="1535194" y="761036"/>
                </a:lnTo>
                <a:lnTo>
                  <a:pt x="1556545" y="801573"/>
                </a:lnTo>
                <a:lnTo>
                  <a:pt x="1577735" y="842992"/>
                </a:lnTo>
                <a:lnTo>
                  <a:pt x="1598767" y="885265"/>
                </a:lnTo>
                <a:lnTo>
                  <a:pt x="1619649" y="928363"/>
                </a:lnTo>
                <a:lnTo>
                  <a:pt x="1640384" y="972258"/>
                </a:lnTo>
                <a:lnTo>
                  <a:pt x="1660979" y="1016921"/>
                </a:lnTo>
                <a:lnTo>
                  <a:pt x="1681438" y="1062325"/>
                </a:lnTo>
                <a:lnTo>
                  <a:pt x="1701766" y="1108440"/>
                </a:lnTo>
                <a:lnTo>
                  <a:pt x="1721969" y="1155238"/>
                </a:lnTo>
                <a:lnTo>
                  <a:pt x="1742052" y="1202690"/>
                </a:lnTo>
                <a:lnTo>
                  <a:pt x="1762021" y="1250768"/>
                </a:lnTo>
                <a:lnTo>
                  <a:pt x="1781880" y="1299444"/>
                </a:lnTo>
                <a:lnTo>
                  <a:pt x="1801634" y="1348689"/>
                </a:lnTo>
                <a:lnTo>
                  <a:pt x="1821289" y="1398475"/>
                </a:lnTo>
                <a:lnTo>
                  <a:pt x="1840851" y="1448773"/>
                </a:lnTo>
                <a:lnTo>
                  <a:pt x="1860323" y="1499554"/>
                </a:lnTo>
                <a:lnTo>
                  <a:pt x="1879712" y="1550791"/>
                </a:lnTo>
                <a:lnTo>
                  <a:pt x="1899023" y="1602454"/>
                </a:lnTo>
                <a:lnTo>
                  <a:pt x="1918261" y="1654516"/>
                </a:lnTo>
                <a:lnTo>
                  <a:pt x="1937431" y="1706947"/>
                </a:lnTo>
                <a:lnTo>
                  <a:pt x="1956539" y="1759720"/>
                </a:lnTo>
                <a:lnTo>
                  <a:pt x="1975589" y="1812805"/>
                </a:lnTo>
                <a:lnTo>
                  <a:pt x="1994586" y="1866175"/>
                </a:lnTo>
                <a:lnTo>
                  <a:pt x="2013537" y="1919801"/>
                </a:lnTo>
                <a:lnTo>
                  <a:pt x="2032446" y="1973654"/>
                </a:lnTo>
                <a:lnTo>
                  <a:pt x="2051319" y="2027706"/>
                </a:lnTo>
                <a:lnTo>
                  <a:pt x="2070160" y="2081929"/>
                </a:lnTo>
                <a:lnTo>
                  <a:pt x="2088975" y="2136293"/>
                </a:lnTo>
                <a:lnTo>
                  <a:pt x="2107770" y="2190772"/>
                </a:lnTo>
                <a:lnTo>
                  <a:pt x="2126548" y="2245335"/>
                </a:lnTo>
                <a:lnTo>
                  <a:pt x="2145316" y="2299954"/>
                </a:lnTo>
                <a:lnTo>
                  <a:pt x="2164079" y="2354602"/>
                </a:lnTo>
              </a:path>
            </a:pathLst>
          </a:custGeom>
          <a:ln w="12700">
            <a:solidFill>
              <a:srgbClr val="FF0000"/>
            </a:solidFill>
            <a:prstDash val="sysDash"/>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13778622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65</a:t>
            </a:fld>
            <a:endParaRPr lang="en-US"/>
          </a:p>
        </p:txBody>
      </p:sp>
      <p:sp>
        <p:nvSpPr>
          <p:cNvPr id="11" name="object 2">
            <a:extLst>
              <a:ext uri="{FF2B5EF4-FFF2-40B4-BE49-F238E27FC236}">
                <a16:creationId xmlns:a16="http://schemas.microsoft.com/office/drawing/2014/main" id="{D9FF3F49-70FC-D40D-353B-21CDB1FF3FB4}"/>
              </a:ext>
            </a:extLst>
          </p:cNvPr>
          <p:cNvSpPr txBox="1">
            <a:spLocks/>
          </p:cNvSpPr>
          <p:nvPr/>
        </p:nvSpPr>
        <p:spPr>
          <a:xfrm>
            <a:off x="707542" y="520141"/>
            <a:ext cx="673989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SDT</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for</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Array</a:t>
            </a:r>
            <a:r>
              <a:rPr kumimoji="0" lang="en-US" sz="4000" b="1" i="0" u="none" strike="noStrike" kern="0" cap="none" spc="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References</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(2)</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12" name="object 3">
            <a:extLst>
              <a:ext uri="{FF2B5EF4-FFF2-40B4-BE49-F238E27FC236}">
                <a16:creationId xmlns:a16="http://schemas.microsoft.com/office/drawing/2014/main" id="{04C200BC-3FEC-BD6D-BEDA-CC1341AB35D4}"/>
              </a:ext>
            </a:extLst>
          </p:cNvPr>
          <p:cNvSpPr txBox="1"/>
          <p:nvPr/>
        </p:nvSpPr>
        <p:spPr>
          <a:xfrm>
            <a:off x="707542" y="1517116"/>
            <a:ext cx="6393180" cy="909319"/>
          </a:xfrm>
          <a:prstGeom prst="rect">
            <a:avLst/>
          </a:prstGeom>
        </p:spPr>
        <p:txBody>
          <a:bodyPr vert="horz" wrap="square" lIns="0" tIns="149860" rIns="0" bIns="0" rtlCol="0">
            <a:spAutoFit/>
          </a:bodyPr>
          <a:lstStyle/>
          <a:p>
            <a:pPr marL="242570" indent="-230504" rtl="0">
              <a:spcBef>
                <a:spcPts val="1180"/>
              </a:spcBef>
              <a:buFont typeface="Arial MT"/>
              <a:buChar char="•"/>
              <a:tabLst>
                <a:tab pos="242570" algn="l"/>
                <a:tab pos="243204" algn="l"/>
              </a:tabLst>
            </a:pPr>
            <a:r>
              <a:rPr sz="2000" kern="1200" spc="-5" dirty="0">
                <a:solidFill>
                  <a:prstClr val="black"/>
                </a:solidFill>
                <a:latin typeface="Palatino Linotype"/>
                <a:cs typeface="Palatino Linotype"/>
              </a:rPr>
              <a:t>The</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semantic</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actions</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of </a:t>
            </a:r>
            <a:r>
              <a:rPr sz="2000" kern="1200" spc="-5" dirty="0">
                <a:solidFill>
                  <a:prstClr val="black"/>
                </a:solidFill>
                <a:latin typeface="Palatino Linotype"/>
                <a:cs typeface="Palatino Linotype"/>
              </a:rPr>
              <a:t>L-productions</a:t>
            </a:r>
            <a:r>
              <a:rPr sz="2000" kern="1200" spc="-30" dirty="0">
                <a:solidFill>
                  <a:prstClr val="black"/>
                </a:solidFill>
                <a:latin typeface="Palatino Linotype"/>
                <a:cs typeface="Palatino Linotype"/>
              </a:rPr>
              <a:t> </a:t>
            </a:r>
            <a:r>
              <a:rPr sz="2000" kern="1200" spc="-5" dirty="0">
                <a:solidFill>
                  <a:prstClr val="black"/>
                </a:solidFill>
                <a:latin typeface="Palatino Linotype"/>
                <a:cs typeface="Palatino Linotype"/>
              </a:rPr>
              <a:t>compute </a:t>
            </a:r>
            <a:r>
              <a:rPr sz="2000" kern="1200" dirty="0">
                <a:solidFill>
                  <a:prstClr val="black"/>
                </a:solidFill>
                <a:latin typeface="Palatino Linotype"/>
                <a:cs typeface="Palatino Linotype"/>
              </a:rPr>
              <a:t>offsets</a:t>
            </a:r>
          </a:p>
          <a:p>
            <a:pPr marL="242570" indent="-230504" rtl="0">
              <a:spcBef>
                <a:spcPts val="1080"/>
              </a:spcBef>
              <a:buFont typeface="Arial MT"/>
              <a:buChar char="•"/>
              <a:tabLst>
                <a:tab pos="242570" algn="l"/>
                <a:tab pos="243204" algn="l"/>
              </a:tabLst>
            </a:pPr>
            <a:r>
              <a:rPr sz="2000" kern="1200" spc="-5" dirty="0">
                <a:solidFill>
                  <a:prstClr val="black"/>
                </a:solidFill>
                <a:latin typeface="Palatino Linotype"/>
                <a:cs typeface="Palatino Linotype"/>
              </a:rPr>
              <a:t>The </a:t>
            </a:r>
            <a:r>
              <a:rPr sz="2000" kern="1200" dirty="0">
                <a:solidFill>
                  <a:prstClr val="black"/>
                </a:solidFill>
                <a:latin typeface="Palatino Linotype"/>
                <a:cs typeface="Palatino Linotype"/>
              </a:rPr>
              <a:t>address</a:t>
            </a:r>
            <a:r>
              <a:rPr sz="2000" kern="1200" spc="-15" dirty="0">
                <a:solidFill>
                  <a:prstClr val="black"/>
                </a:solidFill>
                <a:latin typeface="Palatino Linotype"/>
                <a:cs typeface="Palatino Linotype"/>
              </a:rPr>
              <a:t> </a:t>
            </a:r>
            <a:r>
              <a:rPr sz="2000" kern="1200" dirty="0">
                <a:solidFill>
                  <a:prstClr val="black"/>
                </a:solidFill>
                <a:latin typeface="Palatino Linotype"/>
                <a:cs typeface="Palatino Linotype"/>
              </a:rPr>
              <a:t>of</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an array</a:t>
            </a:r>
            <a:r>
              <a:rPr sz="2000" kern="1200" spc="-35" dirty="0">
                <a:solidFill>
                  <a:prstClr val="black"/>
                </a:solidFill>
                <a:latin typeface="Palatino Linotype"/>
                <a:cs typeface="Palatino Linotype"/>
              </a:rPr>
              <a:t> </a:t>
            </a:r>
            <a:r>
              <a:rPr sz="2000" kern="1200" dirty="0">
                <a:solidFill>
                  <a:prstClr val="black"/>
                </a:solidFill>
                <a:latin typeface="Palatino Linotype"/>
                <a:cs typeface="Palatino Linotype"/>
              </a:rPr>
              <a:t>element</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is</a:t>
            </a:r>
            <a:r>
              <a:rPr sz="2000" kern="1200" spc="10" dirty="0">
                <a:solidFill>
                  <a:prstClr val="black"/>
                </a:solidFill>
                <a:latin typeface="Palatino Linotype"/>
                <a:cs typeface="Palatino Linotype"/>
              </a:rPr>
              <a:t> </a:t>
            </a:r>
            <a:r>
              <a:rPr sz="2000" kern="1200" spc="-5" dirty="0">
                <a:solidFill>
                  <a:srgbClr val="0431FF"/>
                </a:solidFill>
                <a:latin typeface="Cambria Math"/>
                <a:cs typeface="Cambria Math"/>
              </a:rPr>
              <a:t>𝑏𝑎𝑠𝑒</a:t>
            </a:r>
            <a:r>
              <a:rPr sz="2000" kern="1200" spc="35" dirty="0">
                <a:solidFill>
                  <a:srgbClr val="0431FF"/>
                </a:solidFill>
                <a:latin typeface="Cambria Math"/>
                <a:cs typeface="Cambria Math"/>
              </a:rPr>
              <a:t> </a:t>
            </a:r>
            <a:r>
              <a:rPr sz="2000" kern="1200" dirty="0">
                <a:solidFill>
                  <a:srgbClr val="0431FF"/>
                </a:solidFill>
                <a:latin typeface="Cambria Math"/>
                <a:cs typeface="Cambria Math"/>
              </a:rPr>
              <a:t>+</a:t>
            </a:r>
            <a:r>
              <a:rPr sz="2000" kern="1200" spc="450" dirty="0">
                <a:solidFill>
                  <a:srgbClr val="0431FF"/>
                </a:solidFill>
                <a:latin typeface="Cambria Math"/>
                <a:cs typeface="Cambria Math"/>
              </a:rPr>
              <a:t> </a:t>
            </a:r>
            <a:r>
              <a:rPr sz="2000" kern="1200" dirty="0">
                <a:solidFill>
                  <a:srgbClr val="0431FF"/>
                </a:solidFill>
                <a:latin typeface="Cambria Math"/>
                <a:cs typeface="Cambria Math"/>
              </a:rPr>
              <a:t>𝑜𝑓𝑓𝑠𝑒𝑡</a:t>
            </a:r>
            <a:endParaRPr sz="2000" kern="1200" dirty="0">
              <a:solidFill>
                <a:prstClr val="black"/>
              </a:solidFill>
              <a:latin typeface="Cambria Math"/>
              <a:cs typeface="Cambria Math"/>
            </a:endParaRPr>
          </a:p>
        </p:txBody>
      </p:sp>
      <p:pic>
        <p:nvPicPr>
          <p:cNvPr id="13" name="object 4">
            <a:extLst>
              <a:ext uri="{FF2B5EF4-FFF2-40B4-BE49-F238E27FC236}">
                <a16:creationId xmlns:a16="http://schemas.microsoft.com/office/drawing/2014/main" id="{9645350F-6A3A-B8B6-6BED-0DDD320F85A0}"/>
              </a:ext>
            </a:extLst>
          </p:cNvPr>
          <p:cNvPicPr/>
          <p:nvPr/>
        </p:nvPicPr>
        <p:blipFill>
          <a:blip r:embed="rId3" cstate="print"/>
          <a:stretch>
            <a:fillRect/>
          </a:stretch>
        </p:blipFill>
        <p:spPr>
          <a:xfrm>
            <a:off x="1153016" y="3022605"/>
            <a:ext cx="5937532" cy="1784215"/>
          </a:xfrm>
          <a:prstGeom prst="rect">
            <a:avLst/>
          </a:prstGeom>
        </p:spPr>
      </p:pic>
      <p:sp>
        <p:nvSpPr>
          <p:cNvPr id="14" name="object 5">
            <a:extLst>
              <a:ext uri="{FF2B5EF4-FFF2-40B4-BE49-F238E27FC236}">
                <a16:creationId xmlns:a16="http://schemas.microsoft.com/office/drawing/2014/main" id="{74B387A1-59B9-DC7F-20CA-9DDDDB311DD1}"/>
              </a:ext>
            </a:extLst>
          </p:cNvPr>
          <p:cNvSpPr/>
          <p:nvPr/>
        </p:nvSpPr>
        <p:spPr>
          <a:xfrm>
            <a:off x="3469385" y="4872990"/>
            <a:ext cx="3400425" cy="0"/>
          </a:xfrm>
          <a:custGeom>
            <a:avLst/>
            <a:gdLst/>
            <a:ahLst/>
            <a:cxnLst/>
            <a:rect l="l" t="t" r="r" b="b"/>
            <a:pathLst>
              <a:path w="3400425">
                <a:moveTo>
                  <a:pt x="0" y="0"/>
                </a:moveTo>
                <a:lnTo>
                  <a:pt x="3400043" y="0"/>
                </a:lnTo>
              </a:path>
            </a:pathLst>
          </a:custGeom>
          <a:ln w="28575">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5" name="object 6">
            <a:extLst>
              <a:ext uri="{FF2B5EF4-FFF2-40B4-BE49-F238E27FC236}">
                <a16:creationId xmlns:a16="http://schemas.microsoft.com/office/drawing/2014/main" id="{357390BE-CC47-3224-2ED7-EF649F246CC7}"/>
              </a:ext>
            </a:extLst>
          </p:cNvPr>
          <p:cNvSpPr txBox="1"/>
          <p:nvPr/>
        </p:nvSpPr>
        <p:spPr>
          <a:xfrm>
            <a:off x="3563239" y="5055234"/>
            <a:ext cx="3180080" cy="299720"/>
          </a:xfrm>
          <a:prstGeom prst="rect">
            <a:avLst/>
          </a:prstGeom>
        </p:spPr>
        <p:txBody>
          <a:bodyPr vert="horz" wrap="square" lIns="0" tIns="12700" rIns="0" bIns="0" rtlCol="0">
            <a:spAutoFit/>
          </a:bodyPr>
          <a:lstStyle/>
          <a:p>
            <a:pPr marL="12700" rtl="0">
              <a:spcBef>
                <a:spcPts val="100"/>
              </a:spcBef>
            </a:pPr>
            <a:r>
              <a:rPr kern="1200" spc="-5" dirty="0">
                <a:solidFill>
                  <a:srgbClr val="FF0000"/>
                </a:solidFill>
                <a:latin typeface="Palatino Linotype"/>
                <a:cs typeface="Palatino Linotype"/>
              </a:rPr>
              <a:t>Instruction</a:t>
            </a:r>
            <a:r>
              <a:rPr kern="1200" dirty="0">
                <a:solidFill>
                  <a:srgbClr val="FF0000"/>
                </a:solidFill>
                <a:latin typeface="Palatino Linotype"/>
                <a:cs typeface="Palatino Linotype"/>
              </a:rPr>
              <a:t> of</a:t>
            </a:r>
            <a:r>
              <a:rPr kern="1200" spc="-5" dirty="0">
                <a:solidFill>
                  <a:srgbClr val="FF0000"/>
                </a:solidFill>
                <a:latin typeface="Palatino Linotype"/>
                <a:cs typeface="Palatino Linotype"/>
              </a:rPr>
              <a:t> the </a:t>
            </a:r>
            <a:r>
              <a:rPr kern="1200" dirty="0">
                <a:solidFill>
                  <a:srgbClr val="FF0000"/>
                </a:solidFill>
                <a:latin typeface="Palatino Linotype"/>
                <a:cs typeface="Palatino Linotype"/>
              </a:rPr>
              <a:t>form</a:t>
            </a:r>
            <a:r>
              <a:rPr kern="1200" spc="15" dirty="0">
                <a:solidFill>
                  <a:srgbClr val="FF0000"/>
                </a:solidFill>
                <a:latin typeface="Palatino Linotype"/>
                <a:cs typeface="Palatino Linotype"/>
              </a:rPr>
              <a:t> </a:t>
            </a:r>
            <a:r>
              <a:rPr kern="1200" dirty="0">
                <a:solidFill>
                  <a:srgbClr val="FF0000"/>
                </a:solidFill>
                <a:latin typeface="Cambria Math"/>
                <a:cs typeface="Cambria Math"/>
              </a:rPr>
              <a:t>𝑥</a:t>
            </a:r>
            <a:r>
              <a:rPr kern="1200" spc="150" dirty="0">
                <a:solidFill>
                  <a:srgbClr val="FF0000"/>
                </a:solidFill>
                <a:latin typeface="Cambria Math"/>
                <a:cs typeface="Cambria Math"/>
              </a:rPr>
              <a:t> </a:t>
            </a:r>
            <a:r>
              <a:rPr kern="1200" dirty="0">
                <a:solidFill>
                  <a:srgbClr val="FF0000"/>
                </a:solidFill>
                <a:latin typeface="Cambria Math"/>
                <a:cs typeface="Cambria Math"/>
              </a:rPr>
              <a:t>=</a:t>
            </a:r>
            <a:r>
              <a:rPr kern="1200" spc="100" dirty="0">
                <a:solidFill>
                  <a:srgbClr val="FF0000"/>
                </a:solidFill>
                <a:latin typeface="Cambria Math"/>
                <a:cs typeface="Cambria Math"/>
              </a:rPr>
              <a:t> </a:t>
            </a:r>
            <a:r>
              <a:rPr kern="1200" spc="20" dirty="0">
                <a:solidFill>
                  <a:srgbClr val="FF0000"/>
                </a:solidFill>
                <a:latin typeface="Cambria Math"/>
                <a:cs typeface="Cambria Math"/>
              </a:rPr>
              <a:t>𝑎[𝑖]</a:t>
            </a:r>
            <a:endParaRPr kern="1200">
              <a:solidFill>
                <a:prstClr val="black"/>
              </a:solidFill>
              <a:latin typeface="Cambria Math"/>
              <a:cs typeface="Cambria Math"/>
            </a:endParaRPr>
          </a:p>
        </p:txBody>
      </p:sp>
      <p:sp>
        <p:nvSpPr>
          <p:cNvPr id="16" name="object 7">
            <a:extLst>
              <a:ext uri="{FF2B5EF4-FFF2-40B4-BE49-F238E27FC236}">
                <a16:creationId xmlns:a16="http://schemas.microsoft.com/office/drawing/2014/main" id="{5F65DECD-86FA-80A4-E2E7-A78E9A52516D}"/>
              </a:ext>
            </a:extLst>
          </p:cNvPr>
          <p:cNvSpPr txBox="1"/>
          <p:nvPr/>
        </p:nvSpPr>
        <p:spPr>
          <a:xfrm>
            <a:off x="998219" y="5695188"/>
            <a:ext cx="6254750" cy="368935"/>
          </a:xfrm>
          <a:prstGeom prst="rect">
            <a:avLst/>
          </a:prstGeom>
          <a:solidFill>
            <a:srgbClr val="FFF1CC"/>
          </a:solidFill>
          <a:ln w="12700">
            <a:solidFill>
              <a:srgbClr val="EC7C30"/>
            </a:solidFill>
          </a:ln>
        </p:spPr>
        <p:txBody>
          <a:bodyPr vert="horz" wrap="square" lIns="0" tIns="31115" rIns="0" bIns="0" rtlCol="0">
            <a:spAutoFit/>
          </a:bodyPr>
          <a:lstStyle/>
          <a:p>
            <a:pPr algn="ctr" rtl="0">
              <a:spcBef>
                <a:spcPts val="245"/>
              </a:spcBef>
            </a:pPr>
            <a:r>
              <a:rPr kern="1200" dirty="0">
                <a:solidFill>
                  <a:prstClr val="black"/>
                </a:solidFill>
                <a:latin typeface="Palatino Linotype"/>
                <a:cs typeface="Palatino Linotype"/>
              </a:rPr>
              <a:t>Array</a:t>
            </a:r>
            <a:r>
              <a:rPr kern="1200" spc="-20" dirty="0">
                <a:solidFill>
                  <a:prstClr val="black"/>
                </a:solidFill>
                <a:latin typeface="Palatino Linotype"/>
                <a:cs typeface="Palatino Linotype"/>
              </a:rPr>
              <a:t> </a:t>
            </a:r>
            <a:r>
              <a:rPr kern="1200" dirty="0">
                <a:solidFill>
                  <a:prstClr val="black"/>
                </a:solidFill>
                <a:latin typeface="Palatino Linotype"/>
                <a:cs typeface="Palatino Linotype"/>
              </a:rPr>
              <a:t>references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can</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be</a:t>
            </a:r>
            <a:r>
              <a:rPr kern="1200" spc="-15" dirty="0">
                <a:solidFill>
                  <a:prstClr val="black"/>
                </a:solidFill>
                <a:latin typeface="Palatino Linotype"/>
                <a:cs typeface="Palatino Linotype"/>
              </a:rPr>
              <a:t> </a:t>
            </a:r>
            <a:r>
              <a:rPr kern="1200" spc="-5" dirty="0">
                <a:solidFill>
                  <a:prstClr val="black"/>
                </a:solidFill>
                <a:latin typeface="Palatino Linotype"/>
                <a:cs typeface="Palatino Linotype"/>
              </a:rPr>
              <a:t>part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of</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an</a:t>
            </a:r>
            <a:r>
              <a:rPr kern="1200" spc="-20" dirty="0">
                <a:solidFill>
                  <a:prstClr val="black"/>
                </a:solidFill>
                <a:latin typeface="Palatino Linotype"/>
                <a:cs typeface="Palatino Linotype"/>
              </a:rPr>
              <a:t> </a:t>
            </a:r>
            <a:r>
              <a:rPr kern="1200" dirty="0">
                <a:solidFill>
                  <a:prstClr val="black"/>
                </a:solidFill>
                <a:latin typeface="Palatino Linotype"/>
                <a:cs typeface="Palatino Linotype"/>
              </a:rPr>
              <a:t>expression</a:t>
            </a:r>
            <a:endParaRPr kern="1200">
              <a:solidFill>
                <a:prstClr val="black"/>
              </a:solidFill>
              <a:latin typeface="Palatino Linotype"/>
              <a:cs typeface="Palatino Linotype"/>
            </a:endParaRPr>
          </a:p>
        </p:txBody>
      </p:sp>
    </p:spTree>
    <p:extLst>
      <p:ext uri="{BB962C8B-B14F-4D97-AF65-F5344CB8AC3E}">
        <p14:creationId xmlns:p14="http://schemas.microsoft.com/office/powerpoint/2010/main" val="4146487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66</a:t>
            </a:fld>
            <a:endParaRPr lang="en-US"/>
          </a:p>
        </p:txBody>
      </p:sp>
      <p:sp>
        <p:nvSpPr>
          <p:cNvPr id="12" name="object 2">
            <a:extLst>
              <a:ext uri="{FF2B5EF4-FFF2-40B4-BE49-F238E27FC236}">
                <a16:creationId xmlns:a16="http://schemas.microsoft.com/office/drawing/2014/main" id="{56C9AF7A-4790-5233-7B79-A1D788CCFECD}"/>
              </a:ext>
            </a:extLst>
          </p:cNvPr>
          <p:cNvSpPr txBox="1">
            <a:spLocks/>
          </p:cNvSpPr>
          <p:nvPr/>
        </p:nvSpPr>
        <p:spPr>
          <a:xfrm>
            <a:off x="707542" y="520141"/>
            <a:ext cx="6739890" cy="627736"/>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SDT</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for</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Array</a:t>
            </a:r>
            <a:r>
              <a:rPr kumimoji="0" lang="en-US" sz="4000" b="1" i="0" u="none" strike="noStrike" kern="0" cap="none" spc="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References</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(3)</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13" name="object 3">
            <a:extLst>
              <a:ext uri="{FF2B5EF4-FFF2-40B4-BE49-F238E27FC236}">
                <a16:creationId xmlns:a16="http://schemas.microsoft.com/office/drawing/2014/main" id="{DC4C1868-BA84-14B6-90CB-485D8348AFF7}"/>
              </a:ext>
            </a:extLst>
          </p:cNvPr>
          <p:cNvSpPr/>
          <p:nvPr/>
        </p:nvSpPr>
        <p:spPr>
          <a:xfrm>
            <a:off x="3469385" y="3364229"/>
            <a:ext cx="4230370" cy="0"/>
          </a:xfrm>
          <a:custGeom>
            <a:avLst/>
            <a:gdLst/>
            <a:ahLst/>
            <a:cxnLst/>
            <a:rect l="l" t="t" r="r" b="b"/>
            <a:pathLst>
              <a:path w="4230370">
                <a:moveTo>
                  <a:pt x="0" y="0"/>
                </a:moveTo>
                <a:lnTo>
                  <a:pt x="4230370" y="0"/>
                </a:lnTo>
              </a:path>
            </a:pathLst>
          </a:custGeom>
          <a:ln w="28575">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4" name="object 4">
            <a:extLst>
              <a:ext uri="{FF2B5EF4-FFF2-40B4-BE49-F238E27FC236}">
                <a16:creationId xmlns:a16="http://schemas.microsoft.com/office/drawing/2014/main" id="{BE39B52E-6D8A-B5B2-A414-40B6EC088164}"/>
              </a:ext>
            </a:extLst>
          </p:cNvPr>
          <p:cNvSpPr/>
          <p:nvPr/>
        </p:nvSpPr>
        <p:spPr>
          <a:xfrm>
            <a:off x="6124956" y="3625850"/>
            <a:ext cx="50165" cy="212090"/>
          </a:xfrm>
          <a:custGeom>
            <a:avLst/>
            <a:gdLst/>
            <a:ahLst/>
            <a:cxnLst/>
            <a:rect l="l" t="t" r="r" b="b"/>
            <a:pathLst>
              <a:path w="50164" h="212089">
                <a:moveTo>
                  <a:pt x="49784" y="0"/>
                </a:moveTo>
                <a:lnTo>
                  <a:pt x="0" y="0"/>
                </a:lnTo>
                <a:lnTo>
                  <a:pt x="0" y="8890"/>
                </a:lnTo>
                <a:lnTo>
                  <a:pt x="31242" y="8890"/>
                </a:lnTo>
                <a:lnTo>
                  <a:pt x="31242" y="204470"/>
                </a:lnTo>
                <a:lnTo>
                  <a:pt x="0" y="204470"/>
                </a:lnTo>
                <a:lnTo>
                  <a:pt x="0" y="212090"/>
                </a:lnTo>
                <a:lnTo>
                  <a:pt x="49784" y="212090"/>
                </a:lnTo>
                <a:lnTo>
                  <a:pt x="49784" y="204470"/>
                </a:lnTo>
                <a:lnTo>
                  <a:pt x="49784" y="8890"/>
                </a:lnTo>
                <a:lnTo>
                  <a:pt x="49784" y="0"/>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5" name="object 5">
            <a:extLst>
              <a:ext uri="{FF2B5EF4-FFF2-40B4-BE49-F238E27FC236}">
                <a16:creationId xmlns:a16="http://schemas.microsoft.com/office/drawing/2014/main" id="{27A15260-747E-A0A7-E01E-6FE331CA5554}"/>
              </a:ext>
            </a:extLst>
          </p:cNvPr>
          <p:cNvSpPr/>
          <p:nvPr/>
        </p:nvSpPr>
        <p:spPr>
          <a:xfrm>
            <a:off x="5984113" y="3625850"/>
            <a:ext cx="50165" cy="212090"/>
          </a:xfrm>
          <a:custGeom>
            <a:avLst/>
            <a:gdLst/>
            <a:ahLst/>
            <a:cxnLst/>
            <a:rect l="l" t="t" r="r" b="b"/>
            <a:pathLst>
              <a:path w="50164" h="212089">
                <a:moveTo>
                  <a:pt x="49784" y="0"/>
                </a:moveTo>
                <a:lnTo>
                  <a:pt x="0" y="0"/>
                </a:lnTo>
                <a:lnTo>
                  <a:pt x="0" y="8890"/>
                </a:lnTo>
                <a:lnTo>
                  <a:pt x="0" y="204470"/>
                </a:lnTo>
                <a:lnTo>
                  <a:pt x="0" y="212090"/>
                </a:lnTo>
                <a:lnTo>
                  <a:pt x="49784" y="212090"/>
                </a:lnTo>
                <a:lnTo>
                  <a:pt x="49784" y="204470"/>
                </a:lnTo>
                <a:lnTo>
                  <a:pt x="18415" y="204470"/>
                </a:lnTo>
                <a:lnTo>
                  <a:pt x="18415" y="8890"/>
                </a:lnTo>
                <a:lnTo>
                  <a:pt x="49784" y="8890"/>
                </a:lnTo>
                <a:lnTo>
                  <a:pt x="49784" y="0"/>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6" name="object 6">
            <a:extLst>
              <a:ext uri="{FF2B5EF4-FFF2-40B4-BE49-F238E27FC236}">
                <a16:creationId xmlns:a16="http://schemas.microsoft.com/office/drawing/2014/main" id="{0C7D6DFC-3F13-93EA-FA2E-74ADF298D782}"/>
              </a:ext>
            </a:extLst>
          </p:cNvPr>
          <p:cNvSpPr txBox="1"/>
          <p:nvPr/>
        </p:nvSpPr>
        <p:spPr>
          <a:xfrm>
            <a:off x="3834129" y="3557778"/>
            <a:ext cx="2798445" cy="289823"/>
          </a:xfrm>
          <a:prstGeom prst="rect">
            <a:avLst/>
          </a:prstGeom>
        </p:spPr>
        <p:txBody>
          <a:bodyPr vert="horz" wrap="square" lIns="0" tIns="12700" rIns="0" bIns="0" rtlCol="0">
            <a:spAutoFit/>
          </a:bodyPr>
          <a:lstStyle/>
          <a:p>
            <a:pPr marL="12700" rtl="0">
              <a:spcBef>
                <a:spcPts val="100"/>
              </a:spcBef>
              <a:tabLst>
                <a:tab pos="2428240" algn="l"/>
              </a:tabLst>
            </a:pPr>
            <a:r>
              <a:rPr kern="1200" spc="-5" dirty="0">
                <a:solidFill>
                  <a:srgbClr val="FF0000"/>
                </a:solidFill>
                <a:latin typeface="Palatino Linotype"/>
                <a:cs typeface="Palatino Linotype"/>
              </a:rPr>
              <a:t>Instruction</a:t>
            </a:r>
            <a:r>
              <a:rPr kern="1200" spc="15" dirty="0">
                <a:solidFill>
                  <a:srgbClr val="FF0000"/>
                </a:solidFill>
                <a:latin typeface="Palatino Linotype"/>
                <a:cs typeface="Palatino Linotype"/>
              </a:rPr>
              <a:t> </a:t>
            </a:r>
            <a:r>
              <a:rPr kern="1200" dirty="0">
                <a:solidFill>
                  <a:srgbClr val="FF0000"/>
                </a:solidFill>
                <a:latin typeface="Palatino Linotype"/>
                <a:cs typeface="Palatino Linotype"/>
              </a:rPr>
              <a:t>of</a:t>
            </a:r>
            <a:r>
              <a:rPr kern="1200" spc="5" dirty="0">
                <a:solidFill>
                  <a:srgbClr val="FF0000"/>
                </a:solidFill>
                <a:latin typeface="Palatino Linotype"/>
                <a:cs typeface="Palatino Linotype"/>
              </a:rPr>
              <a:t> </a:t>
            </a:r>
            <a:r>
              <a:rPr kern="1200" dirty="0">
                <a:solidFill>
                  <a:srgbClr val="FF0000"/>
                </a:solidFill>
                <a:latin typeface="Palatino Linotype"/>
                <a:cs typeface="Palatino Linotype"/>
              </a:rPr>
              <a:t>form</a:t>
            </a:r>
            <a:r>
              <a:rPr kern="1200" spc="20" dirty="0">
                <a:solidFill>
                  <a:srgbClr val="FF0000"/>
                </a:solidFill>
                <a:latin typeface="Palatino Linotype"/>
                <a:cs typeface="Palatino Linotype"/>
              </a:rPr>
              <a:t> </a:t>
            </a:r>
            <a:r>
              <a:rPr kern="1200" dirty="0">
                <a:solidFill>
                  <a:srgbClr val="FF0000"/>
                </a:solidFill>
                <a:latin typeface="Cambria Math"/>
                <a:cs typeface="Cambria Math"/>
              </a:rPr>
              <a:t>𝑎</a:t>
            </a:r>
            <a:r>
              <a:rPr kern="1200" spc="285" dirty="0">
                <a:solidFill>
                  <a:srgbClr val="FF0000"/>
                </a:solidFill>
                <a:latin typeface="Cambria Math"/>
                <a:cs typeface="Cambria Math"/>
              </a:rPr>
              <a:t> </a:t>
            </a:r>
            <a:r>
              <a:rPr kern="1200" dirty="0">
                <a:solidFill>
                  <a:srgbClr val="FF0000"/>
                </a:solidFill>
                <a:latin typeface="Cambria Math"/>
                <a:cs typeface="Cambria Math"/>
              </a:rPr>
              <a:t>𝑖	=</a:t>
            </a:r>
            <a:r>
              <a:rPr kern="1200" spc="20" dirty="0">
                <a:solidFill>
                  <a:srgbClr val="FF0000"/>
                </a:solidFill>
                <a:latin typeface="Cambria Math"/>
                <a:cs typeface="Cambria Math"/>
              </a:rPr>
              <a:t> </a:t>
            </a:r>
            <a:r>
              <a:rPr kern="1200" dirty="0">
                <a:solidFill>
                  <a:srgbClr val="FF0000"/>
                </a:solidFill>
                <a:latin typeface="Cambria Math"/>
                <a:cs typeface="Cambria Math"/>
              </a:rPr>
              <a:t>𝑥</a:t>
            </a:r>
            <a:endParaRPr kern="1200">
              <a:solidFill>
                <a:prstClr val="black"/>
              </a:solidFill>
              <a:latin typeface="Cambria Math"/>
              <a:cs typeface="Cambria Math"/>
            </a:endParaRPr>
          </a:p>
        </p:txBody>
      </p:sp>
      <p:pic>
        <p:nvPicPr>
          <p:cNvPr id="17" name="object 7">
            <a:extLst>
              <a:ext uri="{FF2B5EF4-FFF2-40B4-BE49-F238E27FC236}">
                <a16:creationId xmlns:a16="http://schemas.microsoft.com/office/drawing/2014/main" id="{2AC7E9D8-CA7A-75B2-DA50-43DA0994EC80}"/>
              </a:ext>
            </a:extLst>
          </p:cNvPr>
          <p:cNvPicPr/>
          <p:nvPr/>
        </p:nvPicPr>
        <p:blipFill>
          <a:blip r:embed="rId3" cstate="print"/>
          <a:stretch>
            <a:fillRect/>
          </a:stretch>
        </p:blipFill>
        <p:spPr>
          <a:xfrm>
            <a:off x="1072402" y="2329995"/>
            <a:ext cx="6859703" cy="870292"/>
          </a:xfrm>
          <a:prstGeom prst="rect">
            <a:avLst/>
          </a:prstGeom>
        </p:spPr>
      </p:pic>
      <p:sp>
        <p:nvSpPr>
          <p:cNvPr id="18" name="object 8">
            <a:extLst>
              <a:ext uri="{FF2B5EF4-FFF2-40B4-BE49-F238E27FC236}">
                <a16:creationId xmlns:a16="http://schemas.microsoft.com/office/drawing/2014/main" id="{A65D269D-1CE0-E782-9139-A5E2B92EF1D1}"/>
              </a:ext>
            </a:extLst>
          </p:cNvPr>
          <p:cNvSpPr txBox="1"/>
          <p:nvPr/>
        </p:nvSpPr>
        <p:spPr>
          <a:xfrm>
            <a:off x="987552" y="4660391"/>
            <a:ext cx="7169150" cy="309059"/>
          </a:xfrm>
          <a:prstGeom prst="rect">
            <a:avLst/>
          </a:prstGeom>
          <a:solidFill>
            <a:srgbClr val="FFF1CC"/>
          </a:solidFill>
          <a:ln w="12700">
            <a:solidFill>
              <a:srgbClr val="EC7C30"/>
            </a:solidFill>
          </a:ln>
        </p:spPr>
        <p:txBody>
          <a:bodyPr vert="horz" wrap="square" lIns="0" tIns="31750" rIns="0" bIns="0" rtlCol="0">
            <a:spAutoFit/>
          </a:bodyPr>
          <a:lstStyle/>
          <a:p>
            <a:pPr marL="181610" rtl="0">
              <a:spcBef>
                <a:spcPts val="250"/>
              </a:spcBef>
            </a:pPr>
            <a:r>
              <a:rPr kern="1200" dirty="0">
                <a:solidFill>
                  <a:prstClr val="black"/>
                </a:solidFill>
                <a:latin typeface="Palatino Linotype"/>
                <a:cs typeface="Palatino Linotype"/>
              </a:rPr>
              <a:t>Array</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references can</a:t>
            </a:r>
            <a:r>
              <a:rPr kern="1200" spc="-5" dirty="0">
                <a:solidFill>
                  <a:prstClr val="black"/>
                </a:solidFill>
                <a:latin typeface="Palatino Linotype"/>
                <a:cs typeface="Palatino Linotype"/>
              </a:rPr>
              <a:t> appear</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at</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the</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LHS</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of an</a:t>
            </a:r>
            <a:r>
              <a:rPr kern="1200" spc="-5" dirty="0">
                <a:solidFill>
                  <a:prstClr val="black"/>
                </a:solidFill>
                <a:latin typeface="Palatino Linotype"/>
                <a:cs typeface="Palatino Linotype"/>
              </a:rPr>
              <a:t> assignment</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statement</a:t>
            </a:r>
            <a:endParaRPr kern="1200" dirty="0">
              <a:solidFill>
                <a:prstClr val="black"/>
              </a:solidFill>
              <a:latin typeface="Palatino Linotype"/>
              <a:cs typeface="Palatino Linotype"/>
            </a:endParaRPr>
          </a:p>
        </p:txBody>
      </p:sp>
    </p:spTree>
    <p:extLst>
      <p:ext uri="{BB962C8B-B14F-4D97-AF65-F5344CB8AC3E}">
        <p14:creationId xmlns:p14="http://schemas.microsoft.com/office/powerpoint/2010/main" val="32773817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E54E163-15DE-43E0-B88A-B419FF02C1A2}"/>
              </a:ext>
            </a:extLst>
          </p:cNvPr>
          <p:cNvSpPr>
            <a:spLocks noGrp="1"/>
          </p:cNvSpPr>
          <p:nvPr>
            <p:ph type="dt" sz="half" idx="10"/>
          </p:nvPr>
        </p:nvSpPr>
        <p:spPr/>
        <p:txBody>
          <a:bodyPr/>
          <a:lstStyle/>
          <a:p>
            <a:pPr>
              <a:defRPr/>
            </a:pPr>
            <a:r>
              <a:rPr lang="en-US" altLang="zh-CN"/>
              <a:t>Fall 2024</a:t>
            </a:r>
            <a:endParaRPr lang="en-US"/>
          </a:p>
        </p:txBody>
      </p:sp>
      <p:sp>
        <p:nvSpPr>
          <p:cNvPr id="3" name="页脚占位符 2">
            <a:extLst>
              <a:ext uri="{FF2B5EF4-FFF2-40B4-BE49-F238E27FC236}">
                <a16:creationId xmlns:a16="http://schemas.microsoft.com/office/drawing/2014/main" id="{B8302E33-0B4F-457C-8D1E-3B3922C69F40}"/>
              </a:ext>
            </a:extLst>
          </p:cNvPr>
          <p:cNvSpPr>
            <a:spLocks noGrp="1"/>
          </p:cNvSpPr>
          <p:nvPr>
            <p:ph type="ftr" sz="quarter" idx="11"/>
          </p:nvPr>
        </p:nvSpPr>
        <p:spPr/>
        <p:txBody>
          <a:bodyPr/>
          <a:lstStyle/>
          <a:p>
            <a:pPr>
              <a:defRPr/>
            </a:pPr>
            <a:r>
              <a:rPr lang="en-US"/>
              <a:t>BUPT Compilers</a:t>
            </a:r>
          </a:p>
        </p:txBody>
      </p:sp>
      <p:sp>
        <p:nvSpPr>
          <p:cNvPr id="4" name="灯片编号占位符 3">
            <a:extLst>
              <a:ext uri="{FF2B5EF4-FFF2-40B4-BE49-F238E27FC236}">
                <a16:creationId xmlns:a16="http://schemas.microsoft.com/office/drawing/2014/main" id="{2F150AC8-84B2-4153-8553-0DA995A81D80}"/>
              </a:ext>
            </a:extLst>
          </p:cNvPr>
          <p:cNvSpPr>
            <a:spLocks noGrp="1"/>
          </p:cNvSpPr>
          <p:nvPr>
            <p:ph type="sldNum" sz="quarter" idx="12"/>
          </p:nvPr>
        </p:nvSpPr>
        <p:spPr/>
        <p:txBody>
          <a:bodyPr/>
          <a:lstStyle/>
          <a:p>
            <a:pPr>
              <a:defRPr/>
            </a:pPr>
            <a:fld id="{2FBC720A-3716-234A-B2DF-CBC7E48049F5}" type="slidenum">
              <a:rPr lang="en-US" altLang="zh-CN" smtClean="0"/>
              <a:t>67</a:t>
            </a:fld>
            <a:endParaRPr lang="en-US" altLang="zh-CN"/>
          </a:p>
        </p:txBody>
      </p:sp>
      <p:sp>
        <p:nvSpPr>
          <p:cNvPr id="7" name="Rectangle 4">
            <a:extLst>
              <a:ext uri="{FF2B5EF4-FFF2-40B4-BE49-F238E27FC236}">
                <a16:creationId xmlns:a16="http://schemas.microsoft.com/office/drawing/2014/main" id="{6F0B4300-4A3E-4095-B3B9-65CB07EC118E}"/>
              </a:ext>
            </a:extLst>
          </p:cNvPr>
          <p:cNvSpPr txBox="1">
            <a:spLocks noChangeArrowheads="1"/>
          </p:cNvSpPr>
          <p:nvPr/>
        </p:nvSpPr>
        <p:spPr>
          <a:xfrm>
            <a:off x="2006600" y="160338"/>
            <a:ext cx="5845175" cy="1096962"/>
          </a:xfrm>
          <a:prstGeom prst="rect">
            <a:avLst/>
          </a:prstGeom>
        </p:spPr>
        <p:txBody>
          <a:bodyPr lIns="68580" tIns="34290" rIns="68580" bIns="34290"/>
          <a:lstStyle>
            <a:lvl1pPr algn="l" rtl="0" eaLnBrk="0" fontAlgn="base" hangingPunct="0">
              <a:spcBef>
                <a:spcPct val="0"/>
              </a:spcBef>
              <a:spcAft>
                <a:spcPct val="0"/>
              </a:spcAft>
              <a:defRPr sz="4400">
                <a:solidFill>
                  <a:schemeClr val="tx2"/>
                </a:solidFill>
                <a:latin typeface="Times New Roman" pitchFamily="18" charset="0"/>
                <a:ea typeface="楷体" pitchFamily="49" charset="-122"/>
                <a:cs typeface="+mj-cs"/>
              </a:defRPr>
            </a:lvl1pPr>
            <a:lvl2pPr algn="l" rtl="0" eaLnBrk="0" fontAlgn="base" hangingPunct="0">
              <a:spcBef>
                <a:spcPct val="0"/>
              </a:spcBef>
              <a:spcAft>
                <a:spcPct val="0"/>
              </a:spcAft>
              <a:defRPr sz="4400">
                <a:solidFill>
                  <a:schemeClr val="tx2"/>
                </a:solidFill>
                <a:latin typeface="Times New Roman" pitchFamily="18" charset="0"/>
                <a:ea typeface="楷体" pitchFamily="49" charset="-122"/>
              </a:defRPr>
            </a:lvl2pPr>
            <a:lvl3pPr algn="l" rtl="0" eaLnBrk="0" fontAlgn="base" hangingPunct="0">
              <a:spcBef>
                <a:spcPct val="0"/>
              </a:spcBef>
              <a:spcAft>
                <a:spcPct val="0"/>
              </a:spcAft>
              <a:defRPr sz="4400">
                <a:solidFill>
                  <a:schemeClr val="tx2"/>
                </a:solidFill>
                <a:latin typeface="Times New Roman" pitchFamily="18" charset="0"/>
                <a:ea typeface="楷体" pitchFamily="49" charset="-122"/>
              </a:defRPr>
            </a:lvl3pPr>
            <a:lvl4pPr algn="l" rtl="0" eaLnBrk="0" fontAlgn="base" hangingPunct="0">
              <a:spcBef>
                <a:spcPct val="0"/>
              </a:spcBef>
              <a:spcAft>
                <a:spcPct val="0"/>
              </a:spcAft>
              <a:defRPr sz="4400">
                <a:solidFill>
                  <a:schemeClr val="tx2"/>
                </a:solidFill>
                <a:latin typeface="Times New Roman" pitchFamily="18" charset="0"/>
                <a:ea typeface="楷体" pitchFamily="49" charset="-122"/>
              </a:defRPr>
            </a:lvl4pPr>
            <a:lvl5pPr algn="l" rtl="0" eaLnBrk="0" fontAlgn="base" hangingPunct="0">
              <a:spcBef>
                <a:spcPct val="0"/>
              </a:spcBef>
              <a:spcAft>
                <a:spcPct val="0"/>
              </a:spcAft>
              <a:defRPr sz="4400">
                <a:solidFill>
                  <a:schemeClr val="tx2"/>
                </a:solidFill>
                <a:latin typeface="Times New Roman" pitchFamily="18" charset="0"/>
                <a:ea typeface="楷体" pitchFamily="49" charset="-122"/>
              </a:defRPr>
            </a:lvl5pPr>
            <a:lvl6pPr marL="457200" algn="l" rtl="0" fontAlgn="base">
              <a:spcBef>
                <a:spcPct val="0"/>
              </a:spcBef>
              <a:spcAft>
                <a:spcPct val="0"/>
              </a:spcAft>
              <a:defRPr sz="4400">
                <a:solidFill>
                  <a:schemeClr val="tx2"/>
                </a:solidFill>
                <a:latin typeface="Tahoma" pitchFamily="34" charset="0"/>
                <a:ea typeface="宋体" pitchFamily="2" charset="-122"/>
              </a:defRPr>
            </a:lvl6pPr>
            <a:lvl7pPr marL="914400" algn="l" rtl="0" fontAlgn="base">
              <a:spcBef>
                <a:spcPct val="0"/>
              </a:spcBef>
              <a:spcAft>
                <a:spcPct val="0"/>
              </a:spcAft>
              <a:defRPr sz="4400">
                <a:solidFill>
                  <a:schemeClr val="tx2"/>
                </a:solidFill>
                <a:latin typeface="Tahoma" pitchFamily="34" charset="0"/>
                <a:ea typeface="宋体" pitchFamily="2" charset="-122"/>
              </a:defRPr>
            </a:lvl7pPr>
            <a:lvl8pPr marL="1371600" algn="l" rtl="0" fontAlgn="base">
              <a:spcBef>
                <a:spcPct val="0"/>
              </a:spcBef>
              <a:spcAft>
                <a:spcPct val="0"/>
              </a:spcAft>
              <a:defRPr sz="4400">
                <a:solidFill>
                  <a:schemeClr val="tx2"/>
                </a:solidFill>
                <a:latin typeface="Tahoma" pitchFamily="34" charset="0"/>
                <a:ea typeface="宋体" pitchFamily="2" charset="-122"/>
              </a:defRPr>
            </a:lvl8pPr>
            <a:lvl9pPr marL="1828800" algn="l" rtl="0" fontAlgn="base">
              <a:spcBef>
                <a:spcPct val="0"/>
              </a:spcBef>
              <a:spcAft>
                <a:spcPct val="0"/>
              </a:spcAft>
              <a:defRPr sz="4400">
                <a:solidFill>
                  <a:schemeClr val="tx2"/>
                </a:solidFill>
                <a:latin typeface="Tahoma" pitchFamily="34" charset="0"/>
                <a:ea typeface="宋体" pitchFamily="2" charset="-122"/>
              </a:defRPr>
            </a:lvl9pPr>
          </a:lstStyle>
          <a:p>
            <a:pPr eaLnBrk="1" hangingPunct="1">
              <a:defRPr/>
            </a:pPr>
            <a:endParaRPr lang="en-US" altLang="zh-CN" sz="2400" dirty="0">
              <a:solidFill>
                <a:srgbClr val="5EAEFF"/>
              </a:solidFill>
              <a:effectLst>
                <a:outerShdw blurRad="38100" dist="38100" dir="2700000" algn="tl">
                  <a:srgbClr val="C0C0C0"/>
                </a:outerShdw>
              </a:effectLst>
              <a:latin typeface="楷体_GB2312" pitchFamily="49" charset="-122"/>
              <a:ea typeface="楷体_GB2312" pitchFamily="49" charset="-122"/>
            </a:endParaRPr>
          </a:p>
        </p:txBody>
      </p:sp>
      <p:sp>
        <p:nvSpPr>
          <p:cNvPr id="8" name="矩形 5">
            <a:extLst>
              <a:ext uri="{FF2B5EF4-FFF2-40B4-BE49-F238E27FC236}">
                <a16:creationId xmlns:a16="http://schemas.microsoft.com/office/drawing/2014/main" id="{23E69C12-C3D1-4DDB-9E19-ECE66AF5E762}"/>
              </a:ext>
            </a:extLst>
          </p:cNvPr>
          <p:cNvSpPr>
            <a:spLocks noChangeArrowheads="1"/>
          </p:cNvSpPr>
          <p:nvPr/>
        </p:nvSpPr>
        <p:spPr bwMode="auto">
          <a:xfrm>
            <a:off x="803275" y="5168994"/>
            <a:ext cx="445135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301625">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lvl="1" indent="0" eaLnBrk="1" hangingPunct="1">
              <a:lnSpc>
                <a:spcPts val="2500"/>
              </a:lnSpc>
              <a:spcBef>
                <a:spcPct val="20000"/>
              </a:spcBef>
              <a:buSzPct val="100000"/>
            </a:pPr>
            <a:r>
              <a:rPr lang="en-US" altLang="zh-CN" sz="2400" b="1" i="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base</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i="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i="1"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400" b="1" dirty="0">
                <a:solidFill>
                  <a:srgbClr val="FF0000"/>
                </a:solidFill>
                <a:latin typeface="Times New Roman" panose="02020603050405020304" pitchFamily="18" charset="0"/>
                <a:ea typeface="楷体_GB2312"/>
                <a:cs typeface="Times New Roman" panose="02020603050405020304" pitchFamily="18" charset="0"/>
                <a:sym typeface="Symbol" panose="05050102010706020507" pitchFamily="18" charset="2"/>
              </a:rPr>
              <a:t></a:t>
            </a:r>
            <a:r>
              <a:rPr kumimoji="1" lang="en-US" altLang="zh-CN" sz="2400" b="1" i="1" dirty="0">
                <a:solidFill>
                  <a:srgbClr val="FF0000"/>
                </a:solidFill>
                <a:latin typeface="Times New Roman" panose="02020603050405020304" pitchFamily="18" charset="0"/>
                <a:ea typeface="楷体_GB2312"/>
                <a:cs typeface="Times New Roman" panose="02020603050405020304" pitchFamily="18" charset="0"/>
                <a:sym typeface="Symbol" panose="05050102010706020507" pitchFamily="18" charset="2"/>
              </a:rPr>
              <a:t>w</a:t>
            </a:r>
            <a:r>
              <a:rPr lang="en-US" altLang="zh-CN" sz="2400" b="1" i="1"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i="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i="1"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400" b="1" dirty="0">
                <a:solidFill>
                  <a:srgbClr val="FF0000"/>
                </a:solidFill>
                <a:latin typeface="Times New Roman" panose="02020603050405020304" pitchFamily="18" charset="0"/>
                <a:ea typeface="楷体_GB2312"/>
                <a:cs typeface="Times New Roman" panose="02020603050405020304" pitchFamily="18" charset="0"/>
                <a:sym typeface="Symbol" panose="05050102010706020507" pitchFamily="18" charset="2"/>
              </a:rPr>
              <a:t></a:t>
            </a:r>
            <a:r>
              <a:rPr kumimoji="1" lang="en-US" altLang="zh-CN" sz="2400" b="1" i="1" dirty="0">
                <a:solidFill>
                  <a:srgbClr val="FF0000"/>
                </a:solidFill>
                <a:latin typeface="Times New Roman" panose="02020603050405020304" pitchFamily="18" charset="0"/>
                <a:ea typeface="楷体_GB2312"/>
                <a:cs typeface="Times New Roman" panose="02020603050405020304" pitchFamily="18" charset="0"/>
                <a:sym typeface="Symbol" panose="05050102010706020507" pitchFamily="18" charset="2"/>
              </a:rPr>
              <a:t>w</a:t>
            </a:r>
            <a:r>
              <a:rPr lang="en-US" altLang="zh-CN" sz="2400" b="1" i="1"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i="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i="1" baseline="-250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k</a:t>
            </a:r>
            <a:r>
              <a:rPr kumimoji="1" lang="zh-CN" altLang="en-US" sz="2400" b="1" dirty="0">
                <a:solidFill>
                  <a:srgbClr val="FF0000"/>
                </a:solidFill>
                <a:latin typeface="Times New Roman" panose="02020603050405020304" pitchFamily="18" charset="0"/>
                <a:ea typeface="楷体_GB2312"/>
                <a:cs typeface="Times New Roman" panose="02020603050405020304" pitchFamily="18" charset="0"/>
                <a:sym typeface="Symbol" panose="05050102010706020507" pitchFamily="18" charset="2"/>
              </a:rPr>
              <a:t></a:t>
            </a:r>
            <a:r>
              <a:rPr kumimoji="1" lang="en-US" altLang="zh-CN" sz="2400" b="1" i="1" dirty="0" err="1">
                <a:solidFill>
                  <a:srgbClr val="FF0000"/>
                </a:solidFill>
                <a:latin typeface="Times New Roman" panose="02020603050405020304" pitchFamily="18" charset="0"/>
                <a:ea typeface="楷体_GB2312"/>
                <a:cs typeface="Times New Roman" panose="02020603050405020304" pitchFamily="18" charset="0"/>
                <a:sym typeface="Symbol" panose="05050102010706020507" pitchFamily="18" charset="2"/>
              </a:rPr>
              <a:t>w</a:t>
            </a:r>
            <a:r>
              <a:rPr lang="en-US" altLang="zh-CN" sz="2400" b="1" i="1" baseline="-250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k</a:t>
            </a:r>
            <a:endPar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 name="Rectangle 8">
            <a:extLst>
              <a:ext uri="{FF2B5EF4-FFF2-40B4-BE49-F238E27FC236}">
                <a16:creationId xmlns:a16="http://schemas.microsoft.com/office/drawing/2014/main" id="{99304FAB-1EEA-4C8D-BB46-9AD4444E6272}"/>
              </a:ext>
            </a:extLst>
          </p:cNvPr>
          <p:cNvSpPr>
            <a:spLocks noChangeArrowheads="1"/>
          </p:cNvSpPr>
          <p:nvPr/>
        </p:nvSpPr>
        <p:spPr bwMode="auto">
          <a:xfrm>
            <a:off x="467544" y="5886129"/>
            <a:ext cx="8424935" cy="341415"/>
          </a:xfrm>
          <a:prstGeom prst="rect">
            <a:avLst/>
          </a:prstGeom>
          <a:solidFill>
            <a:schemeClr val="accent5">
              <a:lumMod val="60000"/>
              <a:lumOff val="40000"/>
            </a:schemeClr>
          </a:solidFill>
          <a:ln w="12700">
            <a:solidFill>
              <a:schemeClr val="tx1"/>
            </a:solidFill>
            <a:miter lim="800000"/>
            <a:headEnd/>
            <a:tailEnd/>
          </a:ln>
        </p:spPr>
        <p:txBody>
          <a:bodyPr lIns="68580" tIns="34290" rIns="68580" bIns="34290" anchor="b"/>
          <a:lstStyle/>
          <a:p>
            <a:pPr marL="0" lvl="1" indent="0" eaLnBrk="1" hangingPunct="1">
              <a:lnSpc>
                <a:spcPts val="2500"/>
              </a:lnSpc>
              <a:defRPr/>
            </a:pPr>
            <a:r>
              <a:rPr lang="zh-CN" altLang="en-US" b="1" dirty="0">
                <a:solidFill>
                  <a:prstClr val="black"/>
                </a:solidFill>
                <a:latin typeface="Times New Roman" pitchFamily="18" charset="0"/>
                <a:ea typeface="楷体" pitchFamily="49" charset="-122"/>
                <a:cs typeface="Times New Roman" pitchFamily="18" charset="0"/>
              </a:rPr>
              <a:t>假设 </a:t>
            </a:r>
            <a:r>
              <a:rPr lang="en-US" altLang="zh-CN" b="1" i="1" dirty="0">
                <a:solidFill>
                  <a:prstClr val="black"/>
                </a:solidFill>
                <a:latin typeface="Times New Roman" pitchFamily="18" charset="0"/>
                <a:ea typeface="楷体" pitchFamily="49" charset="-122"/>
                <a:cs typeface="Times New Roman" pitchFamily="18" charset="0"/>
              </a:rPr>
              <a:t>type</a:t>
            </a:r>
            <a:r>
              <a:rPr lang="en-US" altLang="zh-CN" b="1" dirty="0">
                <a:solidFill>
                  <a:prstClr val="black"/>
                </a:solidFill>
                <a:latin typeface="Times New Roman" pitchFamily="18" charset="0"/>
                <a:ea typeface="楷体" pitchFamily="49" charset="-122"/>
                <a:cs typeface="Times New Roman" pitchFamily="18" charset="0"/>
              </a:rPr>
              <a:t>(</a:t>
            </a:r>
            <a:r>
              <a:rPr lang="en-US" altLang="zh-CN" b="1" i="1" dirty="0">
                <a:solidFill>
                  <a:prstClr val="black"/>
                </a:solidFill>
                <a:latin typeface="Times New Roman" pitchFamily="18" charset="0"/>
                <a:ea typeface="楷体" pitchFamily="49" charset="-122"/>
                <a:cs typeface="Times New Roman" pitchFamily="18" charset="0"/>
              </a:rPr>
              <a:t>a</a:t>
            </a:r>
            <a:r>
              <a:rPr lang="en-US" altLang="zh-CN" b="1" dirty="0">
                <a:solidFill>
                  <a:prstClr val="black"/>
                </a:solidFill>
                <a:latin typeface="Times New Roman" pitchFamily="18" charset="0"/>
                <a:ea typeface="楷体" pitchFamily="49" charset="-122"/>
                <a:cs typeface="Times New Roman" pitchFamily="18" charset="0"/>
              </a:rPr>
              <a:t>)</a:t>
            </a:r>
            <a:r>
              <a:rPr lang="en-US" altLang="zh-CN" b="1" i="1" dirty="0">
                <a:solidFill>
                  <a:prstClr val="black"/>
                </a:solidFill>
                <a:latin typeface="Times New Roman" pitchFamily="18" charset="0"/>
                <a:ea typeface="楷体" pitchFamily="49" charset="-122"/>
                <a:cs typeface="Times New Roman" pitchFamily="18" charset="0"/>
              </a:rPr>
              <a:t>= array</a:t>
            </a:r>
            <a:r>
              <a:rPr lang="en-US" altLang="zh-CN" b="1" dirty="0">
                <a:solidFill>
                  <a:prstClr val="black"/>
                </a:solidFill>
                <a:latin typeface="Times New Roman" pitchFamily="18" charset="0"/>
                <a:ea typeface="楷体" pitchFamily="49" charset="-122"/>
                <a:cs typeface="Times New Roman" pitchFamily="18" charset="0"/>
              </a:rPr>
              <a:t>(3, </a:t>
            </a:r>
            <a:r>
              <a:rPr lang="en-US" altLang="zh-CN" b="1" i="1" dirty="0">
                <a:solidFill>
                  <a:prstClr val="black"/>
                </a:solidFill>
                <a:latin typeface="Times New Roman" pitchFamily="18" charset="0"/>
                <a:ea typeface="楷体" pitchFamily="49" charset="-122"/>
                <a:cs typeface="Times New Roman" pitchFamily="18" charset="0"/>
              </a:rPr>
              <a:t>array</a:t>
            </a:r>
            <a:r>
              <a:rPr lang="en-US" altLang="zh-CN" b="1" dirty="0">
                <a:solidFill>
                  <a:prstClr val="black"/>
                </a:solidFill>
                <a:latin typeface="Times New Roman" pitchFamily="18" charset="0"/>
                <a:ea typeface="楷体" pitchFamily="49" charset="-122"/>
                <a:cs typeface="Times New Roman" pitchFamily="18" charset="0"/>
              </a:rPr>
              <a:t>(5, </a:t>
            </a:r>
            <a:r>
              <a:rPr lang="en-US" altLang="zh-CN" b="1" i="1" dirty="0">
                <a:solidFill>
                  <a:prstClr val="black"/>
                </a:solidFill>
                <a:latin typeface="Times New Roman" pitchFamily="18" charset="0"/>
                <a:ea typeface="楷体" pitchFamily="49" charset="-122"/>
                <a:cs typeface="Times New Roman" pitchFamily="18" charset="0"/>
              </a:rPr>
              <a:t>array</a:t>
            </a:r>
            <a:r>
              <a:rPr lang="en-US" altLang="zh-CN" b="1" dirty="0">
                <a:solidFill>
                  <a:prstClr val="black"/>
                </a:solidFill>
                <a:latin typeface="Times New Roman" pitchFamily="18" charset="0"/>
                <a:ea typeface="楷体" pitchFamily="49" charset="-122"/>
                <a:cs typeface="Times New Roman" pitchFamily="18" charset="0"/>
              </a:rPr>
              <a:t>(8, </a:t>
            </a:r>
            <a:r>
              <a:rPr lang="en-US" altLang="zh-CN" b="1" i="1" dirty="0">
                <a:solidFill>
                  <a:prstClr val="black"/>
                </a:solidFill>
                <a:latin typeface="Times New Roman" pitchFamily="18" charset="0"/>
                <a:ea typeface="楷体" pitchFamily="49" charset="-122"/>
                <a:cs typeface="Times New Roman" pitchFamily="18" charset="0"/>
              </a:rPr>
              <a:t>int</a:t>
            </a:r>
            <a:r>
              <a:rPr lang="en-US" altLang="zh-CN" b="1" dirty="0">
                <a:solidFill>
                  <a:prstClr val="black"/>
                </a:solidFill>
                <a:latin typeface="Times New Roman" pitchFamily="18" charset="0"/>
                <a:ea typeface="楷体" pitchFamily="49" charset="-122"/>
                <a:cs typeface="Times New Roman" pitchFamily="18" charset="0"/>
              </a:rPr>
              <a:t>) ) )</a:t>
            </a:r>
            <a:r>
              <a:rPr lang="zh-CN" altLang="en-US" b="1" dirty="0">
                <a:solidFill>
                  <a:prstClr val="black"/>
                </a:solidFill>
                <a:latin typeface="Times New Roman" pitchFamily="18" charset="0"/>
                <a:ea typeface="楷体" pitchFamily="49" charset="-122"/>
                <a:cs typeface="Times New Roman" pitchFamily="18" charset="0"/>
              </a:rPr>
              <a:t>，计算</a:t>
            </a:r>
            <a:r>
              <a:rPr lang="en-US" altLang="zh-CN" b="1" i="1" dirty="0">
                <a:solidFill>
                  <a:prstClr val="black"/>
                </a:solidFill>
                <a:latin typeface="Times New Roman" pitchFamily="18" charset="0"/>
                <a:ea typeface="楷体" pitchFamily="49" charset="-122"/>
                <a:cs typeface="Times New Roman" pitchFamily="18" charset="0"/>
              </a:rPr>
              <a:t>a</a:t>
            </a:r>
            <a:r>
              <a:rPr lang="en-US" altLang="zh-CN" b="1" dirty="0">
                <a:solidFill>
                  <a:prstClr val="black"/>
                </a:solidFill>
                <a:latin typeface="Times New Roman" pitchFamily="18" charset="0"/>
                <a:ea typeface="楷体" pitchFamily="49" charset="-122"/>
                <a:cs typeface="Times New Roman" pitchFamily="18" charset="0"/>
              </a:rPr>
              <a:t>[</a:t>
            </a:r>
            <a:r>
              <a:rPr lang="en-US" altLang="zh-CN" b="1" i="1" dirty="0">
                <a:solidFill>
                  <a:prstClr val="black"/>
                </a:solidFill>
                <a:latin typeface="Times New Roman" pitchFamily="18" charset="0"/>
                <a:ea typeface="楷体" pitchFamily="49" charset="-122"/>
                <a:cs typeface="Times New Roman" pitchFamily="18" charset="0"/>
              </a:rPr>
              <a:t>i</a:t>
            </a:r>
            <a:r>
              <a:rPr lang="en-US" altLang="zh-CN" b="1" baseline="-25000" dirty="0">
                <a:solidFill>
                  <a:prstClr val="black"/>
                </a:solidFill>
                <a:latin typeface="Times New Roman" pitchFamily="18" charset="0"/>
                <a:ea typeface="楷体" pitchFamily="49" charset="-122"/>
                <a:cs typeface="Times New Roman" pitchFamily="18" charset="0"/>
              </a:rPr>
              <a:t>1</a:t>
            </a:r>
            <a:r>
              <a:rPr lang="en-US" altLang="zh-CN" b="1" dirty="0">
                <a:solidFill>
                  <a:prstClr val="black"/>
                </a:solidFill>
                <a:latin typeface="Times New Roman" pitchFamily="18" charset="0"/>
                <a:ea typeface="楷体" pitchFamily="49" charset="-122"/>
                <a:cs typeface="Times New Roman" pitchFamily="18" charset="0"/>
              </a:rPr>
              <a:t>][</a:t>
            </a:r>
            <a:r>
              <a:rPr lang="en-US" altLang="zh-CN" b="1" i="1" dirty="0">
                <a:solidFill>
                  <a:prstClr val="black"/>
                </a:solidFill>
                <a:latin typeface="Times New Roman" pitchFamily="18" charset="0"/>
                <a:ea typeface="楷体" pitchFamily="49" charset="-122"/>
                <a:cs typeface="Times New Roman" pitchFamily="18" charset="0"/>
              </a:rPr>
              <a:t>i</a:t>
            </a:r>
            <a:r>
              <a:rPr lang="en-US" altLang="zh-CN" b="1" baseline="-25000" dirty="0">
                <a:solidFill>
                  <a:prstClr val="black"/>
                </a:solidFill>
                <a:latin typeface="Times New Roman" pitchFamily="18" charset="0"/>
                <a:ea typeface="楷体" pitchFamily="49" charset="-122"/>
                <a:cs typeface="Times New Roman" pitchFamily="18" charset="0"/>
              </a:rPr>
              <a:t>2</a:t>
            </a:r>
            <a:r>
              <a:rPr lang="en-US" altLang="zh-CN" b="1" dirty="0">
                <a:solidFill>
                  <a:prstClr val="black"/>
                </a:solidFill>
                <a:latin typeface="Times New Roman" pitchFamily="18" charset="0"/>
                <a:ea typeface="楷体" pitchFamily="49" charset="-122"/>
                <a:cs typeface="Times New Roman" pitchFamily="18" charset="0"/>
              </a:rPr>
              <a:t>][</a:t>
            </a:r>
            <a:r>
              <a:rPr lang="en-US" altLang="zh-CN" b="1" i="1" dirty="0">
                <a:solidFill>
                  <a:prstClr val="black"/>
                </a:solidFill>
                <a:latin typeface="Times New Roman" pitchFamily="18" charset="0"/>
                <a:ea typeface="楷体" pitchFamily="49" charset="-122"/>
                <a:cs typeface="Times New Roman" pitchFamily="18" charset="0"/>
              </a:rPr>
              <a:t>i</a:t>
            </a:r>
            <a:r>
              <a:rPr lang="en-US" altLang="zh-CN" b="1" baseline="-25000" dirty="0">
                <a:solidFill>
                  <a:prstClr val="black"/>
                </a:solidFill>
                <a:latin typeface="Times New Roman" pitchFamily="18" charset="0"/>
                <a:ea typeface="楷体" pitchFamily="49" charset="-122"/>
                <a:cs typeface="Times New Roman" pitchFamily="18" charset="0"/>
              </a:rPr>
              <a:t>3</a:t>
            </a:r>
            <a:r>
              <a:rPr lang="en-US" altLang="zh-CN" b="1" dirty="0">
                <a:solidFill>
                  <a:prstClr val="black"/>
                </a:solidFill>
                <a:latin typeface="Times New Roman" pitchFamily="18" charset="0"/>
                <a:ea typeface="楷体" pitchFamily="49" charset="-122"/>
                <a:cs typeface="Times New Roman" pitchFamily="18" charset="0"/>
              </a:rPr>
              <a:t>]</a:t>
            </a:r>
            <a:r>
              <a:rPr lang="zh-CN" altLang="en-US" b="1" dirty="0">
                <a:solidFill>
                  <a:prstClr val="black"/>
                </a:solidFill>
                <a:latin typeface="Times New Roman" pitchFamily="18" charset="0"/>
                <a:ea typeface="楷体" pitchFamily="49" charset="-122"/>
                <a:cs typeface="Times New Roman" pitchFamily="18" charset="0"/>
              </a:rPr>
              <a:t>数组引用的偏移地址</a:t>
            </a:r>
          </a:p>
        </p:txBody>
      </p:sp>
      <p:cxnSp>
        <p:nvCxnSpPr>
          <p:cNvPr id="11" name="直接连接符 10">
            <a:extLst>
              <a:ext uri="{FF2B5EF4-FFF2-40B4-BE49-F238E27FC236}">
                <a16:creationId xmlns:a16="http://schemas.microsoft.com/office/drawing/2014/main" id="{08E1EA3D-E236-47EE-AD84-63D280B4014C}"/>
              </a:ext>
            </a:extLst>
          </p:cNvPr>
          <p:cNvCxnSpPr/>
          <p:nvPr/>
        </p:nvCxnSpPr>
        <p:spPr>
          <a:xfrm>
            <a:off x="1866900" y="5641228"/>
            <a:ext cx="720725" cy="0"/>
          </a:xfrm>
          <a:prstGeom prst="line">
            <a:avLst/>
          </a:prstGeom>
          <a:ln w="254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Rectangle 20">
            <a:extLst>
              <a:ext uri="{FF2B5EF4-FFF2-40B4-BE49-F238E27FC236}">
                <a16:creationId xmlns:a16="http://schemas.microsoft.com/office/drawing/2014/main" id="{505D730C-7CF5-4FC2-8B32-8964B660CA7F}"/>
              </a:ext>
            </a:extLst>
          </p:cNvPr>
          <p:cNvSpPr>
            <a:spLocks noChangeArrowheads="1"/>
          </p:cNvSpPr>
          <p:nvPr/>
        </p:nvSpPr>
        <p:spPr bwMode="auto">
          <a:xfrm>
            <a:off x="4917281" y="2892699"/>
            <a:ext cx="1196975" cy="269875"/>
          </a:xfrm>
          <a:prstGeom prst="rect">
            <a:avLst/>
          </a:prstGeom>
          <a:noFill/>
          <a:ln>
            <a:noFill/>
          </a:ln>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1600" b="1" i="1" dirty="0" err="1">
                <a:solidFill>
                  <a:srgbClr val="0080FF"/>
                </a:solidFill>
                <a:latin typeface="Times New Roman" panose="02020603050405020304" pitchFamily="18" charset="0"/>
                <a:ea typeface="楷体_GB2312" pitchFamily="49" charset="-122"/>
                <a:cs typeface="Times New Roman" panose="02020603050405020304" pitchFamily="18" charset="0"/>
              </a:rPr>
              <a:t>addr</a:t>
            </a:r>
            <a:r>
              <a:rPr lang="en-US" altLang="zh-CN" sz="1600" b="1" i="1" dirty="0">
                <a:solidFill>
                  <a:srgbClr val="0080FF"/>
                </a:solidFill>
                <a:latin typeface="Times New Roman" panose="02020603050405020304" pitchFamily="18" charset="0"/>
                <a:ea typeface="楷体_GB2312" pitchFamily="49" charset="-122"/>
                <a:cs typeface="Times New Roman" panose="02020603050405020304" pitchFamily="18" charset="0"/>
              </a:rPr>
              <a:t>=</a:t>
            </a:r>
            <a:r>
              <a:rPr lang="en-US" altLang="zh-CN" sz="1600" b="1" i="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600" b="1" i="1" baseline="-25000"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1600" b="1"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lang="en-US" altLang="zh-CN" sz="1600" b="1" i="1"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rPr>
              <a:t>160</a:t>
            </a:r>
            <a:endParaRPr lang="en-US" altLang="zh-CN" sz="1600" b="1" baseline="-25000"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endParaRPr>
          </a:p>
        </p:txBody>
      </p:sp>
      <p:sp>
        <p:nvSpPr>
          <p:cNvPr id="13" name="Rectangle 38">
            <a:extLst>
              <a:ext uri="{FF2B5EF4-FFF2-40B4-BE49-F238E27FC236}">
                <a16:creationId xmlns:a16="http://schemas.microsoft.com/office/drawing/2014/main" id="{316F64A1-5F32-48FB-B7BE-EEFEBDD8B5BD}"/>
              </a:ext>
            </a:extLst>
          </p:cNvPr>
          <p:cNvSpPr>
            <a:spLocks noChangeArrowheads="1"/>
          </p:cNvSpPr>
          <p:nvPr/>
        </p:nvSpPr>
        <p:spPr bwMode="auto">
          <a:xfrm>
            <a:off x="4939506" y="2659336"/>
            <a:ext cx="2376488"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b="1" i="1" dirty="0">
                <a:solidFill>
                  <a:srgbClr val="0080FF"/>
                </a:solidFill>
                <a:latin typeface="Times New Roman" panose="02020603050405020304" pitchFamily="18" charset="0"/>
                <a:ea typeface="楷体_GB2312"/>
                <a:cs typeface="Times New Roman" panose="02020603050405020304" pitchFamily="18" charset="0"/>
              </a:rPr>
              <a:t>type=array</a:t>
            </a:r>
            <a:r>
              <a:rPr kumimoji="1" lang="en-US" altLang="zh-CN" sz="1600" b="1" dirty="0">
                <a:solidFill>
                  <a:srgbClr val="0080FF"/>
                </a:solidFill>
                <a:latin typeface="Times New Roman" panose="02020603050405020304" pitchFamily="18" charset="0"/>
                <a:ea typeface="楷体_GB2312"/>
                <a:cs typeface="Times New Roman" panose="02020603050405020304" pitchFamily="18" charset="0"/>
              </a:rPr>
              <a:t>(</a:t>
            </a:r>
            <a:r>
              <a:rPr kumimoji="1" lang="en-US" altLang="zh-CN" sz="1600" b="1" i="1" dirty="0">
                <a:solidFill>
                  <a:srgbClr val="0080FF"/>
                </a:solidFill>
                <a:latin typeface="Times New Roman" panose="02020603050405020304" pitchFamily="18" charset="0"/>
                <a:ea typeface="楷体_GB2312"/>
                <a:cs typeface="Times New Roman" panose="02020603050405020304" pitchFamily="18" charset="0"/>
              </a:rPr>
              <a:t>5</a:t>
            </a:r>
            <a:r>
              <a:rPr kumimoji="1" lang="en-US" altLang="zh-CN" sz="1600" b="1" dirty="0">
                <a:solidFill>
                  <a:srgbClr val="0080FF"/>
                </a:solidFill>
                <a:latin typeface="Times New Roman" panose="02020603050405020304" pitchFamily="18" charset="0"/>
                <a:ea typeface="楷体_GB2312"/>
                <a:cs typeface="Times New Roman" panose="02020603050405020304" pitchFamily="18" charset="0"/>
              </a:rPr>
              <a:t>,</a:t>
            </a:r>
            <a:r>
              <a:rPr kumimoji="1" lang="en-US" altLang="zh-CN" sz="1600" b="1" i="1" dirty="0">
                <a:solidFill>
                  <a:srgbClr val="0080FF"/>
                </a:solidFill>
                <a:latin typeface="Times New Roman" panose="02020603050405020304" pitchFamily="18" charset="0"/>
                <a:ea typeface="楷体_GB2312"/>
                <a:cs typeface="Times New Roman" panose="02020603050405020304" pitchFamily="18" charset="0"/>
              </a:rPr>
              <a:t> array</a:t>
            </a:r>
            <a:r>
              <a:rPr kumimoji="1" lang="en-US" altLang="zh-CN" sz="1600" b="1" dirty="0">
                <a:solidFill>
                  <a:srgbClr val="0080FF"/>
                </a:solidFill>
                <a:latin typeface="Times New Roman" panose="02020603050405020304" pitchFamily="18" charset="0"/>
                <a:ea typeface="楷体_GB2312"/>
                <a:cs typeface="Times New Roman" panose="02020603050405020304" pitchFamily="18" charset="0"/>
              </a:rPr>
              <a:t>(</a:t>
            </a:r>
            <a:r>
              <a:rPr kumimoji="1" lang="en-US" altLang="zh-CN" sz="1600" b="1" i="1" dirty="0">
                <a:solidFill>
                  <a:srgbClr val="0080FF"/>
                </a:solidFill>
                <a:latin typeface="Times New Roman" panose="02020603050405020304" pitchFamily="18" charset="0"/>
                <a:ea typeface="楷体_GB2312"/>
                <a:cs typeface="Times New Roman" panose="02020603050405020304" pitchFamily="18" charset="0"/>
              </a:rPr>
              <a:t>8</a:t>
            </a:r>
            <a:r>
              <a:rPr kumimoji="1" lang="en-US" altLang="zh-CN" sz="1600" b="1" dirty="0">
                <a:solidFill>
                  <a:srgbClr val="0080FF"/>
                </a:solidFill>
                <a:latin typeface="Times New Roman" panose="02020603050405020304" pitchFamily="18" charset="0"/>
                <a:ea typeface="楷体_GB2312"/>
                <a:cs typeface="Times New Roman" panose="02020603050405020304" pitchFamily="18" charset="0"/>
              </a:rPr>
              <a:t>,</a:t>
            </a:r>
            <a:r>
              <a:rPr kumimoji="1" lang="en-US" altLang="zh-CN" sz="1600" b="1" i="1" dirty="0">
                <a:solidFill>
                  <a:srgbClr val="0080FF"/>
                </a:solidFill>
                <a:latin typeface="Times New Roman" panose="02020603050405020304" pitchFamily="18" charset="0"/>
                <a:ea typeface="楷体_GB2312"/>
                <a:cs typeface="Times New Roman" panose="02020603050405020304" pitchFamily="18" charset="0"/>
              </a:rPr>
              <a:t>int</a:t>
            </a:r>
            <a:r>
              <a:rPr kumimoji="1" lang="en-US" altLang="zh-CN" sz="1600" b="1" dirty="0">
                <a:solidFill>
                  <a:srgbClr val="0080FF"/>
                </a:solidFill>
                <a:latin typeface="Times New Roman" panose="02020603050405020304" pitchFamily="18" charset="0"/>
                <a:ea typeface="楷体_GB2312"/>
                <a:cs typeface="Times New Roman" panose="02020603050405020304" pitchFamily="18" charset="0"/>
              </a:rPr>
              <a:t>))</a:t>
            </a:r>
            <a:endParaRPr kumimoji="1" lang="zh-CN" altLang="en-US" sz="1600" b="1" dirty="0">
              <a:solidFill>
                <a:srgbClr val="0080FF"/>
              </a:solidFill>
              <a:latin typeface="Times New Roman" panose="02020603050405020304" pitchFamily="18" charset="0"/>
              <a:ea typeface="楷体_GB2312"/>
              <a:cs typeface="Times New Roman" panose="02020603050405020304" pitchFamily="18" charset="0"/>
            </a:endParaRPr>
          </a:p>
        </p:txBody>
      </p:sp>
      <p:sp>
        <p:nvSpPr>
          <p:cNvPr id="14" name="Rectangle 39">
            <a:extLst>
              <a:ext uri="{FF2B5EF4-FFF2-40B4-BE49-F238E27FC236}">
                <a16:creationId xmlns:a16="http://schemas.microsoft.com/office/drawing/2014/main" id="{1CA4B9F3-6EC1-4054-985F-85B761178831}"/>
              </a:ext>
            </a:extLst>
          </p:cNvPr>
          <p:cNvSpPr>
            <a:spLocks noChangeArrowheads="1"/>
          </p:cNvSpPr>
          <p:nvPr/>
        </p:nvSpPr>
        <p:spPr bwMode="auto">
          <a:xfrm>
            <a:off x="5772944" y="2030686"/>
            <a:ext cx="221615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b="1" i="1">
                <a:solidFill>
                  <a:srgbClr val="0080FF"/>
                </a:solidFill>
                <a:latin typeface="Times New Roman" panose="02020603050405020304" pitchFamily="18" charset="0"/>
                <a:ea typeface="楷体_GB2312"/>
                <a:cs typeface="Times New Roman" panose="02020603050405020304" pitchFamily="18" charset="0"/>
              </a:rPr>
              <a:t>type=array</a:t>
            </a:r>
            <a:r>
              <a:rPr kumimoji="1" lang="en-US" altLang="zh-CN" sz="1600" b="1">
                <a:solidFill>
                  <a:srgbClr val="0080FF"/>
                </a:solidFill>
                <a:latin typeface="Times New Roman" panose="02020603050405020304" pitchFamily="18" charset="0"/>
                <a:ea typeface="楷体_GB2312"/>
                <a:cs typeface="Times New Roman" panose="02020603050405020304" pitchFamily="18" charset="0"/>
              </a:rPr>
              <a:t>(</a:t>
            </a:r>
            <a:r>
              <a:rPr kumimoji="1" lang="zh-CN" altLang="en-US" sz="1600" b="1" i="1">
                <a:solidFill>
                  <a:srgbClr val="0080FF"/>
                </a:solidFill>
                <a:latin typeface="Times New Roman" panose="02020603050405020304" pitchFamily="18" charset="0"/>
                <a:ea typeface="楷体_GB2312"/>
                <a:cs typeface="Times New Roman" panose="02020603050405020304" pitchFamily="18" charset="0"/>
              </a:rPr>
              <a:t> </a:t>
            </a:r>
            <a:r>
              <a:rPr kumimoji="1" lang="en-US" altLang="zh-CN" sz="1600" b="1">
                <a:solidFill>
                  <a:srgbClr val="0080FF"/>
                </a:solidFill>
                <a:latin typeface="Times New Roman" panose="02020603050405020304" pitchFamily="18" charset="0"/>
                <a:ea typeface="楷体_GB2312"/>
                <a:cs typeface="Times New Roman" panose="02020603050405020304" pitchFamily="18" charset="0"/>
              </a:rPr>
              <a:t>8,</a:t>
            </a:r>
            <a:r>
              <a:rPr kumimoji="1" lang="en-US" altLang="zh-CN" sz="1600" b="1" i="1">
                <a:solidFill>
                  <a:srgbClr val="0080FF"/>
                </a:solidFill>
                <a:latin typeface="Times New Roman" panose="02020603050405020304" pitchFamily="18" charset="0"/>
                <a:ea typeface="楷体_GB2312"/>
                <a:cs typeface="Times New Roman" panose="02020603050405020304" pitchFamily="18" charset="0"/>
              </a:rPr>
              <a:t> int </a:t>
            </a:r>
            <a:r>
              <a:rPr kumimoji="1" lang="en-US" altLang="zh-CN" sz="1600" b="1">
                <a:solidFill>
                  <a:srgbClr val="0080FF"/>
                </a:solidFill>
                <a:latin typeface="Times New Roman" panose="02020603050405020304" pitchFamily="18" charset="0"/>
                <a:ea typeface="楷体_GB2312"/>
                <a:cs typeface="Times New Roman" panose="02020603050405020304" pitchFamily="18" charset="0"/>
              </a:rPr>
              <a:t>)</a:t>
            </a:r>
            <a:endParaRPr kumimoji="1" lang="zh-CN" altLang="en-US" sz="1600" b="1">
              <a:solidFill>
                <a:srgbClr val="0080FF"/>
              </a:solidFill>
              <a:latin typeface="Times New Roman" panose="02020603050405020304" pitchFamily="18" charset="0"/>
              <a:ea typeface="楷体_GB2312"/>
              <a:cs typeface="Times New Roman" panose="02020603050405020304" pitchFamily="18" charset="0"/>
            </a:endParaRPr>
          </a:p>
        </p:txBody>
      </p:sp>
      <p:sp>
        <p:nvSpPr>
          <p:cNvPr id="15" name="Rectangle 40">
            <a:extLst>
              <a:ext uri="{FF2B5EF4-FFF2-40B4-BE49-F238E27FC236}">
                <a16:creationId xmlns:a16="http://schemas.microsoft.com/office/drawing/2014/main" id="{7ECCCDAC-2A5A-4AA7-93C6-732A30AE46A2}"/>
              </a:ext>
            </a:extLst>
          </p:cNvPr>
          <p:cNvSpPr>
            <a:spLocks noChangeArrowheads="1"/>
          </p:cNvSpPr>
          <p:nvPr/>
        </p:nvSpPr>
        <p:spPr bwMode="auto">
          <a:xfrm>
            <a:off x="6422231" y="1324249"/>
            <a:ext cx="11890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b="1" i="1">
                <a:solidFill>
                  <a:srgbClr val="0080FF"/>
                </a:solidFill>
                <a:latin typeface="Times New Roman" panose="02020603050405020304" pitchFamily="18" charset="0"/>
                <a:ea typeface="楷体_GB2312"/>
                <a:cs typeface="Times New Roman" panose="02020603050405020304" pitchFamily="18" charset="0"/>
              </a:rPr>
              <a:t>type=int</a:t>
            </a:r>
            <a:endParaRPr kumimoji="1" lang="zh-CN" altLang="en-US" sz="1600" b="1" i="1">
              <a:solidFill>
                <a:srgbClr val="0080FF"/>
              </a:solidFill>
              <a:latin typeface="Times New Roman" panose="02020603050405020304" pitchFamily="18" charset="0"/>
              <a:ea typeface="楷体_GB2312"/>
              <a:cs typeface="Times New Roman" panose="02020603050405020304" pitchFamily="18" charset="0"/>
            </a:endParaRPr>
          </a:p>
        </p:txBody>
      </p:sp>
      <p:sp>
        <p:nvSpPr>
          <p:cNvPr id="16" name="Rectangle 59">
            <a:extLst>
              <a:ext uri="{FF2B5EF4-FFF2-40B4-BE49-F238E27FC236}">
                <a16:creationId xmlns:a16="http://schemas.microsoft.com/office/drawing/2014/main" id="{541490A1-E209-428D-94FF-4B605EABB242}"/>
              </a:ext>
            </a:extLst>
          </p:cNvPr>
          <p:cNvSpPr>
            <a:spLocks noChangeArrowheads="1"/>
          </p:cNvSpPr>
          <p:nvPr/>
        </p:nvSpPr>
        <p:spPr bwMode="auto">
          <a:xfrm>
            <a:off x="5693569" y="2278336"/>
            <a:ext cx="1844675" cy="269875"/>
          </a:xfrm>
          <a:prstGeom prst="rect">
            <a:avLst/>
          </a:prstGeom>
          <a:noFill/>
          <a:ln>
            <a:noFill/>
          </a:ln>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1600" b="1" i="1" dirty="0" err="1">
                <a:solidFill>
                  <a:srgbClr val="0080FF"/>
                </a:solidFill>
                <a:latin typeface="Times New Roman" panose="02020603050405020304" pitchFamily="18" charset="0"/>
                <a:ea typeface="楷体_GB2312" pitchFamily="49" charset="-122"/>
                <a:cs typeface="Times New Roman" panose="02020603050405020304" pitchFamily="18" charset="0"/>
              </a:rPr>
              <a:t>addr</a:t>
            </a:r>
            <a:r>
              <a:rPr lang="en-US" altLang="zh-CN" sz="1600" b="1" i="1" dirty="0">
                <a:solidFill>
                  <a:srgbClr val="0080FF"/>
                </a:solidFill>
                <a:latin typeface="Times New Roman" panose="02020603050405020304" pitchFamily="18" charset="0"/>
                <a:ea typeface="楷体_GB2312" pitchFamily="49" charset="-122"/>
                <a:cs typeface="Times New Roman" panose="02020603050405020304" pitchFamily="18" charset="0"/>
              </a:rPr>
              <a:t>=</a:t>
            </a:r>
            <a:r>
              <a:rPr lang="en-US" altLang="zh-CN" sz="1600" b="1" i="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600" b="1" i="1" baseline="-25000"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1600" b="1"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lang="en-US" altLang="zh-CN" sz="1600" b="1" i="1"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rPr>
              <a:t>160+</a:t>
            </a:r>
            <a:r>
              <a:rPr lang="en-US" altLang="zh-CN" sz="1600" b="1" i="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600" b="1" i="1" baseline="-25000"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1600" b="1"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lang="en-US" altLang="zh-CN" sz="1600" b="1" i="1"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rPr>
              <a:t>32</a:t>
            </a:r>
            <a:endParaRPr lang="en-US" altLang="zh-CN" sz="1600" b="1" baseline="-25000" dirty="0">
              <a:solidFill>
                <a:srgbClr val="0080FF"/>
              </a:solidFill>
              <a:latin typeface="Times New Roman" panose="02020603050405020304" pitchFamily="18" charset="0"/>
              <a:ea typeface="楷体_GB2312" pitchFamily="49" charset="-122"/>
              <a:cs typeface="Times New Roman" panose="02020603050405020304" pitchFamily="18" charset="0"/>
            </a:endParaRPr>
          </a:p>
        </p:txBody>
      </p:sp>
      <p:sp>
        <p:nvSpPr>
          <p:cNvPr id="17" name="Rectangle 61">
            <a:extLst>
              <a:ext uri="{FF2B5EF4-FFF2-40B4-BE49-F238E27FC236}">
                <a16:creationId xmlns:a16="http://schemas.microsoft.com/office/drawing/2014/main" id="{F758EC75-0F26-447B-A550-AF8C62445FFC}"/>
              </a:ext>
            </a:extLst>
          </p:cNvPr>
          <p:cNvSpPr>
            <a:spLocks noChangeArrowheads="1"/>
          </p:cNvSpPr>
          <p:nvPr/>
        </p:nvSpPr>
        <p:spPr bwMode="auto">
          <a:xfrm>
            <a:off x="6385719" y="1557611"/>
            <a:ext cx="2233612" cy="269875"/>
          </a:xfrm>
          <a:prstGeom prst="rect">
            <a:avLst/>
          </a:prstGeom>
          <a:noFill/>
          <a:ln>
            <a:noFill/>
          </a:ln>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1600" b="1" i="1" dirty="0" err="1">
                <a:solidFill>
                  <a:srgbClr val="0080FF"/>
                </a:solidFill>
                <a:latin typeface="Times New Roman" panose="02020603050405020304" pitchFamily="18" charset="0"/>
                <a:ea typeface="楷体_GB2312" pitchFamily="49" charset="-122"/>
                <a:cs typeface="Times New Roman" panose="02020603050405020304" pitchFamily="18" charset="0"/>
              </a:rPr>
              <a:t>addr</a:t>
            </a:r>
            <a:r>
              <a:rPr lang="en-US" altLang="zh-CN" sz="1600" b="1" i="1" dirty="0">
                <a:solidFill>
                  <a:srgbClr val="0080FF"/>
                </a:solidFill>
                <a:latin typeface="Times New Roman" panose="02020603050405020304" pitchFamily="18" charset="0"/>
                <a:ea typeface="楷体_GB2312" pitchFamily="49" charset="-122"/>
                <a:cs typeface="Times New Roman" panose="02020603050405020304" pitchFamily="18" charset="0"/>
              </a:rPr>
              <a:t>=</a:t>
            </a:r>
            <a:r>
              <a:rPr lang="en-US" altLang="zh-CN" sz="1600" b="1" i="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600" b="1" i="1" baseline="-25000"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1600" b="1"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lang="en-US" altLang="zh-CN" sz="1600" b="1" i="1"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rPr>
              <a:t>160+</a:t>
            </a:r>
            <a:r>
              <a:rPr lang="en-US" altLang="zh-CN" sz="1600" b="1" i="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600" b="1" i="1" baseline="-25000"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1600" b="1"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lang="en-US" altLang="zh-CN" sz="1600" b="1" i="1"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rPr>
              <a:t>32+</a:t>
            </a:r>
            <a:r>
              <a:rPr lang="en-US" altLang="zh-CN" sz="1600" b="1" i="1"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600" b="1" i="1" baseline="-25000" dirty="0">
                <a:solidFill>
                  <a:schemeClr val="tx2">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3</a:t>
            </a:r>
            <a:r>
              <a:rPr kumimoji="1" lang="zh-CN" altLang="en-US" sz="1600" b="1"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lang="en-US" altLang="zh-CN" sz="1600" b="1" i="1"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rPr>
              <a:t>4</a:t>
            </a:r>
            <a:endParaRPr lang="en-US" altLang="zh-CN" sz="1600" b="1" baseline="-25000" dirty="0">
              <a:solidFill>
                <a:srgbClr val="0080FF"/>
              </a:solidFill>
              <a:latin typeface="Times New Roman" panose="02020603050405020304" pitchFamily="18" charset="0"/>
              <a:ea typeface="楷体_GB2312" pitchFamily="49" charset="-122"/>
              <a:cs typeface="Times New Roman" panose="02020603050405020304" pitchFamily="18" charset="0"/>
            </a:endParaRPr>
          </a:p>
        </p:txBody>
      </p:sp>
      <p:sp>
        <p:nvSpPr>
          <p:cNvPr id="18" name="Rectangle 63">
            <a:extLst>
              <a:ext uri="{FF2B5EF4-FFF2-40B4-BE49-F238E27FC236}">
                <a16:creationId xmlns:a16="http://schemas.microsoft.com/office/drawing/2014/main" id="{E0A9650B-0EC4-4B0A-B6F0-B3C065573B9D}"/>
              </a:ext>
            </a:extLst>
          </p:cNvPr>
          <p:cNvSpPr>
            <a:spLocks noChangeArrowheads="1"/>
          </p:cNvSpPr>
          <p:nvPr/>
        </p:nvSpPr>
        <p:spPr bwMode="auto">
          <a:xfrm>
            <a:off x="4969669" y="2483124"/>
            <a:ext cx="86360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1600" b="1" i="1">
                <a:solidFill>
                  <a:srgbClr val="0080FF"/>
                </a:solidFill>
                <a:latin typeface="Times New Roman" panose="02020603050405020304" pitchFamily="18" charset="0"/>
                <a:ea typeface="楷体_GB2312"/>
                <a:cs typeface="Times New Roman" panose="02020603050405020304" pitchFamily="18" charset="0"/>
              </a:rPr>
              <a:t>array=a</a:t>
            </a:r>
            <a:endParaRPr lang="en-US" altLang="zh-CN" sz="1600" b="1" i="1" baseline="-25000">
              <a:solidFill>
                <a:srgbClr val="0080FF"/>
              </a:solidFill>
              <a:latin typeface="Times New Roman" panose="02020603050405020304" pitchFamily="18" charset="0"/>
              <a:ea typeface="楷体_GB2312"/>
              <a:cs typeface="Times New Roman" panose="02020603050405020304" pitchFamily="18" charset="0"/>
            </a:endParaRPr>
          </a:p>
        </p:txBody>
      </p:sp>
      <p:sp>
        <p:nvSpPr>
          <p:cNvPr id="19" name="Rectangle 64">
            <a:extLst>
              <a:ext uri="{FF2B5EF4-FFF2-40B4-BE49-F238E27FC236}">
                <a16:creationId xmlns:a16="http://schemas.microsoft.com/office/drawing/2014/main" id="{20DF112B-491C-48EB-8FD0-85474937F04D}"/>
              </a:ext>
            </a:extLst>
          </p:cNvPr>
          <p:cNvSpPr>
            <a:spLocks noChangeArrowheads="1"/>
          </p:cNvSpPr>
          <p:nvPr/>
        </p:nvSpPr>
        <p:spPr bwMode="auto">
          <a:xfrm>
            <a:off x="5768181" y="1902099"/>
            <a:ext cx="809625"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1600" b="1" i="1">
                <a:solidFill>
                  <a:srgbClr val="0080FF"/>
                </a:solidFill>
                <a:latin typeface="Times New Roman" panose="02020603050405020304" pitchFamily="18" charset="0"/>
                <a:ea typeface="楷体_GB2312"/>
                <a:cs typeface="Times New Roman" panose="02020603050405020304" pitchFamily="18" charset="0"/>
              </a:rPr>
              <a:t>array=a</a:t>
            </a:r>
            <a:endParaRPr lang="en-US" altLang="zh-CN" sz="1600" b="1" i="1" baseline="-25000">
              <a:solidFill>
                <a:srgbClr val="0080FF"/>
              </a:solidFill>
              <a:latin typeface="Times New Roman" panose="02020603050405020304" pitchFamily="18" charset="0"/>
              <a:ea typeface="楷体_GB2312"/>
              <a:cs typeface="Times New Roman" panose="02020603050405020304" pitchFamily="18" charset="0"/>
            </a:endParaRPr>
          </a:p>
        </p:txBody>
      </p:sp>
      <p:sp>
        <p:nvSpPr>
          <p:cNvPr id="20" name="Rectangle 65">
            <a:extLst>
              <a:ext uri="{FF2B5EF4-FFF2-40B4-BE49-F238E27FC236}">
                <a16:creationId xmlns:a16="http://schemas.microsoft.com/office/drawing/2014/main" id="{D6C40F15-5B22-4323-BC13-433B6EFEE77F}"/>
              </a:ext>
            </a:extLst>
          </p:cNvPr>
          <p:cNvSpPr>
            <a:spLocks noChangeArrowheads="1"/>
          </p:cNvSpPr>
          <p:nvPr/>
        </p:nvSpPr>
        <p:spPr bwMode="auto">
          <a:xfrm>
            <a:off x="6422231" y="1198836"/>
            <a:ext cx="917575"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1600" b="1" i="1">
                <a:solidFill>
                  <a:srgbClr val="0080FF"/>
                </a:solidFill>
                <a:latin typeface="Times New Roman" panose="02020603050405020304" pitchFamily="18" charset="0"/>
                <a:ea typeface="楷体_GB2312"/>
                <a:cs typeface="Times New Roman" panose="02020603050405020304" pitchFamily="18" charset="0"/>
              </a:rPr>
              <a:t>array=a</a:t>
            </a:r>
            <a:endParaRPr lang="en-US" altLang="zh-CN" sz="1600" b="1" i="1" baseline="-25000">
              <a:solidFill>
                <a:srgbClr val="0080FF"/>
              </a:solidFill>
              <a:latin typeface="Times New Roman" panose="02020603050405020304" pitchFamily="18" charset="0"/>
              <a:ea typeface="楷体_GB2312"/>
              <a:cs typeface="Times New Roman" panose="02020603050405020304" pitchFamily="18" charset="0"/>
            </a:endParaRPr>
          </a:p>
        </p:txBody>
      </p:sp>
      <p:sp>
        <p:nvSpPr>
          <p:cNvPr id="21" name="Line 67">
            <a:extLst>
              <a:ext uri="{FF2B5EF4-FFF2-40B4-BE49-F238E27FC236}">
                <a16:creationId xmlns:a16="http://schemas.microsoft.com/office/drawing/2014/main" id="{45FB196E-BAF3-45DE-9F5C-B9C1BD9784D7}"/>
              </a:ext>
            </a:extLst>
          </p:cNvPr>
          <p:cNvSpPr>
            <a:spLocks noChangeShapeType="1"/>
          </p:cNvSpPr>
          <p:nvPr/>
        </p:nvSpPr>
        <p:spPr bwMode="auto">
          <a:xfrm>
            <a:off x="6150769" y="2984774"/>
            <a:ext cx="962025" cy="15875"/>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22" name="Line 68">
            <a:extLst>
              <a:ext uri="{FF2B5EF4-FFF2-40B4-BE49-F238E27FC236}">
                <a16:creationId xmlns:a16="http://schemas.microsoft.com/office/drawing/2014/main" id="{A5F529DD-39B5-4CCF-BE15-5B10258713FF}"/>
              </a:ext>
            </a:extLst>
          </p:cNvPr>
          <p:cNvSpPr>
            <a:spLocks noChangeShapeType="1"/>
          </p:cNvSpPr>
          <p:nvPr/>
        </p:nvSpPr>
        <p:spPr bwMode="auto">
          <a:xfrm>
            <a:off x="7087394" y="2279924"/>
            <a:ext cx="16351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grpSp>
        <p:nvGrpSpPr>
          <p:cNvPr id="23" name="组合 4">
            <a:extLst>
              <a:ext uri="{FF2B5EF4-FFF2-40B4-BE49-F238E27FC236}">
                <a16:creationId xmlns:a16="http://schemas.microsoft.com/office/drawing/2014/main" id="{CB4EECAA-5509-4045-827F-58DC5FFA7BF7}"/>
              </a:ext>
            </a:extLst>
          </p:cNvPr>
          <p:cNvGrpSpPr>
            <a:grpSpLocks/>
          </p:cNvGrpSpPr>
          <p:nvPr/>
        </p:nvGrpSpPr>
        <p:grpSpPr bwMode="auto">
          <a:xfrm>
            <a:off x="4645819" y="2664099"/>
            <a:ext cx="2444750" cy="1487487"/>
            <a:chOff x="5135563" y="1860650"/>
            <a:chExt cx="2445543" cy="1487065"/>
          </a:xfrm>
        </p:grpSpPr>
        <p:sp>
          <p:nvSpPr>
            <p:cNvPr id="24" name="Line 18">
              <a:extLst>
                <a:ext uri="{FF2B5EF4-FFF2-40B4-BE49-F238E27FC236}">
                  <a16:creationId xmlns:a16="http://schemas.microsoft.com/office/drawing/2014/main" id="{492A868E-0D3C-4496-B905-E5FD81769635}"/>
                </a:ext>
              </a:extLst>
            </p:cNvPr>
            <p:cNvSpPr>
              <a:spLocks noChangeShapeType="1"/>
            </p:cNvSpPr>
            <p:nvPr/>
          </p:nvSpPr>
          <p:spPr bwMode="auto">
            <a:xfrm>
              <a:off x="5340350" y="2121000"/>
              <a:ext cx="1893192" cy="39021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dirty="0"/>
            </a:p>
          </p:txBody>
        </p:sp>
        <p:sp>
          <p:nvSpPr>
            <p:cNvPr id="25" name="Rectangle 13">
              <a:extLst>
                <a:ext uri="{FF2B5EF4-FFF2-40B4-BE49-F238E27FC236}">
                  <a16:creationId xmlns:a16="http://schemas.microsoft.com/office/drawing/2014/main" id="{A67112CA-E39B-465A-9BA8-B6B837E5EF52}"/>
                </a:ext>
              </a:extLst>
            </p:cNvPr>
            <p:cNvSpPr>
              <a:spLocks noChangeArrowheads="1"/>
            </p:cNvSpPr>
            <p:nvPr/>
          </p:nvSpPr>
          <p:spPr bwMode="auto">
            <a:xfrm>
              <a:off x="5184775" y="1860650"/>
              <a:ext cx="323850" cy="21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b="1" i="1">
                  <a:solidFill>
                    <a:srgbClr val="000000"/>
                  </a:solidFill>
                  <a:latin typeface="Times New Roman" panose="02020603050405020304" pitchFamily="18" charset="0"/>
                  <a:cs typeface="Times New Roman" panose="02020603050405020304" pitchFamily="18" charset="0"/>
                </a:rPr>
                <a:t>L</a:t>
              </a:r>
            </a:p>
          </p:txBody>
        </p:sp>
        <p:sp>
          <p:nvSpPr>
            <p:cNvPr id="26" name="Line 17">
              <a:extLst>
                <a:ext uri="{FF2B5EF4-FFF2-40B4-BE49-F238E27FC236}">
                  <a16:creationId xmlns:a16="http://schemas.microsoft.com/office/drawing/2014/main" id="{076DFC2A-FFF6-4DC4-AE4B-3F0FF55B800C}"/>
                </a:ext>
              </a:extLst>
            </p:cNvPr>
            <p:cNvSpPr>
              <a:spLocks noChangeShapeType="1"/>
            </p:cNvSpPr>
            <p:nvPr/>
          </p:nvSpPr>
          <p:spPr bwMode="auto">
            <a:xfrm flipH="1">
              <a:off x="5292079" y="2121000"/>
              <a:ext cx="23439" cy="4619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27" name="Rectangle 19">
              <a:extLst>
                <a:ext uri="{FF2B5EF4-FFF2-40B4-BE49-F238E27FC236}">
                  <a16:creationId xmlns:a16="http://schemas.microsoft.com/office/drawing/2014/main" id="{D3D14414-0AE9-4B8F-BE94-56B8888BDE61}"/>
                </a:ext>
              </a:extLst>
            </p:cNvPr>
            <p:cNvSpPr>
              <a:spLocks noChangeArrowheads="1"/>
            </p:cNvSpPr>
            <p:nvPr/>
          </p:nvSpPr>
          <p:spPr bwMode="auto">
            <a:xfrm>
              <a:off x="5135563" y="2519968"/>
              <a:ext cx="323850" cy="527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b="1">
                  <a:solidFill>
                    <a:srgbClr val="000000"/>
                  </a:solidFill>
                  <a:latin typeface="Times New Roman" panose="02020603050405020304" pitchFamily="18" charset="0"/>
                  <a:cs typeface="Times New Roman" panose="02020603050405020304" pitchFamily="18" charset="0"/>
                </a:rPr>
                <a:t>id</a:t>
              </a:r>
            </a:p>
            <a:p>
              <a:pPr algn="ctr" eaLnBrk="1" hangingPunct="1"/>
              <a:r>
                <a:rPr lang="en-US" altLang="zh-CN" sz="1600" b="1">
                  <a:solidFill>
                    <a:srgbClr val="000000"/>
                  </a:solidFill>
                  <a:latin typeface="Times New Roman" panose="02020603050405020304" pitchFamily="18" charset="0"/>
                  <a:cs typeface="Times New Roman" panose="02020603050405020304" pitchFamily="18" charset="0"/>
                </a:rPr>
                <a:t>(</a:t>
              </a:r>
              <a:r>
                <a:rPr lang="en-US" altLang="zh-CN" sz="1600" b="1" i="1">
                  <a:solidFill>
                    <a:srgbClr val="000000"/>
                  </a:solidFill>
                  <a:latin typeface="Times New Roman" panose="02020603050405020304" pitchFamily="18" charset="0"/>
                  <a:cs typeface="Times New Roman" panose="02020603050405020304" pitchFamily="18" charset="0"/>
                </a:rPr>
                <a:t>a</a:t>
              </a:r>
              <a:r>
                <a:rPr lang="en-US" altLang="zh-CN" sz="1600" b="1">
                  <a:solidFill>
                    <a:srgbClr val="000000"/>
                  </a:solidFill>
                  <a:latin typeface="Times New Roman" panose="02020603050405020304" pitchFamily="18" charset="0"/>
                  <a:cs typeface="Times New Roman" panose="02020603050405020304" pitchFamily="18" charset="0"/>
                </a:rPr>
                <a:t>)</a:t>
              </a:r>
            </a:p>
          </p:txBody>
        </p:sp>
        <p:sp>
          <p:nvSpPr>
            <p:cNvPr id="28" name="Rectangle 22">
              <a:extLst>
                <a:ext uri="{FF2B5EF4-FFF2-40B4-BE49-F238E27FC236}">
                  <a16:creationId xmlns:a16="http://schemas.microsoft.com/office/drawing/2014/main" id="{1AA79E41-B35B-40E0-8E13-BE60A9FC5353}"/>
                </a:ext>
              </a:extLst>
            </p:cNvPr>
            <p:cNvSpPr>
              <a:spLocks noChangeArrowheads="1"/>
            </p:cNvSpPr>
            <p:nvPr/>
          </p:nvSpPr>
          <p:spPr bwMode="auto">
            <a:xfrm>
              <a:off x="6876256" y="2990528"/>
              <a:ext cx="704850"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lnSpc>
                  <a:spcPts val="1500"/>
                </a:lnSpc>
              </a:pPr>
              <a:r>
                <a:rPr lang="en-US" altLang="zh-CN" sz="1600" b="1">
                  <a:solidFill>
                    <a:srgbClr val="000000"/>
                  </a:solidFill>
                  <a:latin typeface="Times New Roman" panose="02020603050405020304" pitchFamily="18" charset="0"/>
                  <a:cs typeface="Times New Roman" panose="02020603050405020304" pitchFamily="18" charset="0"/>
                </a:rPr>
                <a:t>id</a:t>
              </a:r>
            </a:p>
            <a:p>
              <a:pPr algn="ctr" eaLnBrk="1" hangingPunct="1">
                <a:lnSpc>
                  <a:spcPts val="1500"/>
                </a:lnSpc>
              </a:pPr>
              <a:r>
                <a:rPr lang="en-US" altLang="zh-CN" sz="1600" b="1">
                  <a:solidFill>
                    <a:srgbClr val="000000"/>
                  </a:solidFill>
                  <a:latin typeface="Times New Roman" panose="02020603050405020304" pitchFamily="18" charset="0"/>
                  <a:cs typeface="Times New Roman" panose="02020603050405020304" pitchFamily="18" charset="0"/>
                </a:rPr>
                <a:t>(</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i</a:t>
              </a:r>
              <a:r>
                <a:rPr lang="en-US" altLang="zh-CN" sz="1600" b="1" baseline="-25000">
                  <a:solidFill>
                    <a:srgbClr val="000000"/>
                  </a:solidFill>
                  <a:latin typeface="Times New Roman" panose="02020603050405020304" pitchFamily="18" charset="0"/>
                  <a:ea typeface="楷体_GB2312"/>
                  <a:cs typeface="Times New Roman" panose="02020603050405020304" pitchFamily="18" charset="0"/>
                </a:rPr>
                <a:t>1</a:t>
              </a:r>
              <a:r>
                <a:rPr lang="en-US" altLang="zh-CN" sz="1600" b="1">
                  <a:solidFill>
                    <a:srgbClr val="000000"/>
                  </a:solidFill>
                  <a:latin typeface="Times New Roman" panose="02020603050405020304" pitchFamily="18" charset="0"/>
                  <a:cs typeface="Times New Roman" panose="02020603050405020304" pitchFamily="18" charset="0"/>
                </a:rPr>
                <a:t>)</a:t>
              </a:r>
            </a:p>
          </p:txBody>
        </p:sp>
        <p:sp>
          <p:nvSpPr>
            <p:cNvPr id="29" name="Rectangle 53">
              <a:extLst>
                <a:ext uri="{FF2B5EF4-FFF2-40B4-BE49-F238E27FC236}">
                  <a16:creationId xmlns:a16="http://schemas.microsoft.com/office/drawing/2014/main" id="{99899BD5-3D0D-45D5-94B8-1664C6091878}"/>
                </a:ext>
              </a:extLst>
            </p:cNvPr>
            <p:cNvSpPr>
              <a:spLocks noChangeArrowheads="1"/>
            </p:cNvSpPr>
            <p:nvPr/>
          </p:nvSpPr>
          <p:spPr bwMode="auto">
            <a:xfrm>
              <a:off x="7127180" y="2620748"/>
              <a:ext cx="323850"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b="1">
                  <a:solidFill>
                    <a:srgbClr val="000000"/>
                  </a:solidFill>
                  <a:latin typeface="Times New Roman" panose="02020603050405020304" pitchFamily="18" charset="0"/>
                  <a:ea typeface="楷体_GB2312"/>
                  <a:cs typeface="Times New Roman" panose="02020603050405020304" pitchFamily="18" charset="0"/>
                </a:rPr>
                <a:t>[</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 E </a:t>
              </a:r>
              <a:r>
                <a:rPr lang="en-US" altLang="zh-CN" sz="1600" b="1">
                  <a:solidFill>
                    <a:srgbClr val="000000"/>
                  </a:solidFill>
                  <a:latin typeface="Times New Roman" panose="02020603050405020304" pitchFamily="18" charset="0"/>
                  <a:ea typeface="楷体_GB2312"/>
                  <a:cs typeface="Times New Roman" panose="02020603050405020304" pitchFamily="18" charset="0"/>
                </a:rPr>
                <a:t>]</a:t>
              </a:r>
            </a:p>
          </p:txBody>
        </p:sp>
        <p:sp>
          <p:nvSpPr>
            <p:cNvPr id="30" name="Line 54">
              <a:extLst>
                <a:ext uri="{FF2B5EF4-FFF2-40B4-BE49-F238E27FC236}">
                  <a16:creationId xmlns:a16="http://schemas.microsoft.com/office/drawing/2014/main" id="{3D4355FE-FF43-4625-9A2C-C3FABBC91A69}"/>
                </a:ext>
              </a:extLst>
            </p:cNvPr>
            <p:cNvSpPr>
              <a:spLocks noChangeShapeType="1"/>
            </p:cNvSpPr>
            <p:nvPr/>
          </p:nvSpPr>
          <p:spPr bwMode="auto">
            <a:xfrm>
              <a:off x="7233542" y="2838236"/>
              <a:ext cx="0" cy="161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grpSp>
      <p:grpSp>
        <p:nvGrpSpPr>
          <p:cNvPr id="31" name="组合 47">
            <a:extLst>
              <a:ext uri="{FF2B5EF4-FFF2-40B4-BE49-F238E27FC236}">
                <a16:creationId xmlns:a16="http://schemas.microsoft.com/office/drawing/2014/main" id="{4E45BBB2-1218-4891-8EF4-6171C4949278}"/>
              </a:ext>
            </a:extLst>
          </p:cNvPr>
          <p:cNvGrpSpPr>
            <a:grpSpLocks/>
          </p:cNvGrpSpPr>
          <p:nvPr/>
        </p:nvGrpSpPr>
        <p:grpSpPr bwMode="auto">
          <a:xfrm>
            <a:off x="4906169" y="2160861"/>
            <a:ext cx="2878137" cy="1263650"/>
            <a:chOff x="5429250" y="1260575"/>
            <a:chExt cx="2878138" cy="1263302"/>
          </a:xfrm>
        </p:grpSpPr>
        <p:sp>
          <p:nvSpPr>
            <p:cNvPr id="32" name="Line 14">
              <a:extLst>
                <a:ext uri="{FF2B5EF4-FFF2-40B4-BE49-F238E27FC236}">
                  <a16:creationId xmlns:a16="http://schemas.microsoft.com/office/drawing/2014/main" id="{C8FE8494-FDE7-47C9-8E37-0D9C21EB5C6D}"/>
                </a:ext>
              </a:extLst>
            </p:cNvPr>
            <p:cNvSpPr>
              <a:spLocks noChangeShapeType="1"/>
            </p:cNvSpPr>
            <p:nvPr/>
          </p:nvSpPr>
          <p:spPr bwMode="auto">
            <a:xfrm>
              <a:off x="6230937" y="1518830"/>
              <a:ext cx="1803401" cy="2830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33" name="Rectangle 10">
              <a:extLst>
                <a:ext uri="{FF2B5EF4-FFF2-40B4-BE49-F238E27FC236}">
                  <a16:creationId xmlns:a16="http://schemas.microsoft.com/office/drawing/2014/main" id="{4064B31B-997B-442D-94AF-24D16F542EB7}"/>
                </a:ext>
              </a:extLst>
            </p:cNvPr>
            <p:cNvSpPr>
              <a:spLocks noChangeArrowheads="1"/>
            </p:cNvSpPr>
            <p:nvPr/>
          </p:nvSpPr>
          <p:spPr bwMode="auto">
            <a:xfrm>
              <a:off x="6043613" y="1260575"/>
              <a:ext cx="3238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b="1" i="1">
                  <a:solidFill>
                    <a:srgbClr val="000000"/>
                  </a:solidFill>
                  <a:latin typeface="Times New Roman" panose="02020603050405020304" pitchFamily="18" charset="0"/>
                  <a:cs typeface="Times New Roman" panose="02020603050405020304" pitchFamily="18" charset="0"/>
                </a:rPr>
                <a:t>L</a:t>
              </a:r>
            </a:p>
          </p:txBody>
        </p:sp>
        <p:sp>
          <p:nvSpPr>
            <p:cNvPr id="34" name="Line 12">
              <a:extLst>
                <a:ext uri="{FF2B5EF4-FFF2-40B4-BE49-F238E27FC236}">
                  <a16:creationId xmlns:a16="http://schemas.microsoft.com/office/drawing/2014/main" id="{6138D4E0-C56F-4877-A30D-B7E513C3DE0B}"/>
                </a:ext>
              </a:extLst>
            </p:cNvPr>
            <p:cNvSpPr>
              <a:spLocks noChangeShapeType="1"/>
            </p:cNvSpPr>
            <p:nvPr/>
          </p:nvSpPr>
          <p:spPr bwMode="auto">
            <a:xfrm flipH="1">
              <a:off x="5429250" y="1539974"/>
              <a:ext cx="665163" cy="23495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35" name="Rectangle 16">
              <a:extLst>
                <a:ext uri="{FF2B5EF4-FFF2-40B4-BE49-F238E27FC236}">
                  <a16:creationId xmlns:a16="http://schemas.microsoft.com/office/drawing/2014/main" id="{92FCFE08-5DD8-43C6-9E84-803F88CA14B5}"/>
                </a:ext>
              </a:extLst>
            </p:cNvPr>
            <p:cNvSpPr>
              <a:spLocks noChangeArrowheads="1"/>
            </p:cNvSpPr>
            <p:nvPr/>
          </p:nvSpPr>
          <p:spPr bwMode="auto">
            <a:xfrm>
              <a:off x="7821613" y="2307977"/>
              <a:ext cx="4857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lnSpc>
                  <a:spcPts val="1500"/>
                </a:lnSpc>
              </a:pPr>
              <a:r>
                <a:rPr lang="en-US" altLang="zh-CN" sz="1600" b="1">
                  <a:solidFill>
                    <a:srgbClr val="000000"/>
                  </a:solidFill>
                  <a:latin typeface="Times New Roman" panose="02020603050405020304" pitchFamily="18" charset="0"/>
                  <a:cs typeface="Times New Roman" panose="02020603050405020304" pitchFamily="18" charset="0"/>
                </a:rPr>
                <a:t>id</a:t>
              </a:r>
            </a:p>
            <a:p>
              <a:pPr algn="ctr" eaLnBrk="1" hangingPunct="1">
                <a:lnSpc>
                  <a:spcPts val="1500"/>
                </a:lnSpc>
              </a:pPr>
              <a:r>
                <a:rPr lang="en-US" altLang="zh-CN" sz="1600" b="1">
                  <a:solidFill>
                    <a:srgbClr val="000000"/>
                  </a:solidFill>
                  <a:latin typeface="Times New Roman" panose="02020603050405020304" pitchFamily="18" charset="0"/>
                  <a:cs typeface="Times New Roman" panose="02020603050405020304" pitchFamily="18" charset="0"/>
                </a:rPr>
                <a:t>(</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i</a:t>
              </a:r>
              <a:r>
                <a:rPr lang="en-US" altLang="zh-CN" sz="1600" b="1" baseline="-25000">
                  <a:solidFill>
                    <a:srgbClr val="000000"/>
                  </a:solidFill>
                  <a:latin typeface="Times New Roman" panose="02020603050405020304" pitchFamily="18" charset="0"/>
                  <a:ea typeface="楷体_GB2312"/>
                  <a:cs typeface="Times New Roman" panose="02020603050405020304" pitchFamily="18" charset="0"/>
                </a:rPr>
                <a:t>2</a:t>
              </a:r>
              <a:r>
                <a:rPr lang="en-US" altLang="zh-CN" sz="1600" b="1">
                  <a:solidFill>
                    <a:srgbClr val="000000"/>
                  </a:solidFill>
                  <a:latin typeface="Times New Roman" panose="02020603050405020304" pitchFamily="18" charset="0"/>
                  <a:cs typeface="Times New Roman" panose="02020603050405020304" pitchFamily="18" charset="0"/>
                </a:rPr>
                <a:t>)</a:t>
              </a:r>
            </a:p>
          </p:txBody>
        </p:sp>
        <p:sp>
          <p:nvSpPr>
            <p:cNvPr id="36" name="Rectangle 55">
              <a:extLst>
                <a:ext uri="{FF2B5EF4-FFF2-40B4-BE49-F238E27FC236}">
                  <a16:creationId xmlns:a16="http://schemas.microsoft.com/office/drawing/2014/main" id="{6C7FFB2A-BCA3-4A5B-B3B7-61A8F10EB22A}"/>
                </a:ext>
              </a:extLst>
            </p:cNvPr>
            <p:cNvSpPr>
              <a:spLocks noChangeArrowheads="1"/>
            </p:cNvSpPr>
            <p:nvPr/>
          </p:nvSpPr>
          <p:spPr bwMode="auto">
            <a:xfrm>
              <a:off x="7872413" y="1813025"/>
              <a:ext cx="323850" cy="21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b="1">
                  <a:solidFill>
                    <a:srgbClr val="000000"/>
                  </a:solidFill>
                  <a:latin typeface="Times New Roman" panose="02020603050405020304" pitchFamily="18" charset="0"/>
                  <a:ea typeface="楷体_GB2312"/>
                  <a:cs typeface="Times New Roman" panose="02020603050405020304" pitchFamily="18" charset="0"/>
                </a:rPr>
                <a:t>[</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 E </a:t>
              </a:r>
              <a:r>
                <a:rPr lang="en-US" altLang="zh-CN" sz="1600" b="1">
                  <a:solidFill>
                    <a:srgbClr val="000000"/>
                  </a:solidFill>
                  <a:latin typeface="Times New Roman" panose="02020603050405020304" pitchFamily="18" charset="0"/>
                  <a:ea typeface="楷体_GB2312"/>
                  <a:cs typeface="Times New Roman" panose="02020603050405020304" pitchFamily="18" charset="0"/>
                </a:rPr>
                <a:t>]</a:t>
              </a:r>
            </a:p>
          </p:txBody>
        </p:sp>
        <p:sp>
          <p:nvSpPr>
            <p:cNvPr id="37" name="Line 56">
              <a:extLst>
                <a:ext uri="{FF2B5EF4-FFF2-40B4-BE49-F238E27FC236}">
                  <a16:creationId xmlns:a16="http://schemas.microsoft.com/office/drawing/2014/main" id="{D4669734-7113-49D8-9BFF-E1B2F71F4552}"/>
                </a:ext>
              </a:extLst>
            </p:cNvPr>
            <p:cNvSpPr>
              <a:spLocks noChangeShapeType="1"/>
            </p:cNvSpPr>
            <p:nvPr/>
          </p:nvSpPr>
          <p:spPr bwMode="auto">
            <a:xfrm>
              <a:off x="8034338" y="2032100"/>
              <a:ext cx="0" cy="161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grpSp>
      <p:grpSp>
        <p:nvGrpSpPr>
          <p:cNvPr id="38" name="组合 48">
            <a:extLst>
              <a:ext uri="{FF2B5EF4-FFF2-40B4-BE49-F238E27FC236}">
                <a16:creationId xmlns:a16="http://schemas.microsoft.com/office/drawing/2014/main" id="{A99A55D7-54DD-4815-B374-A707AFD24C79}"/>
              </a:ext>
            </a:extLst>
          </p:cNvPr>
          <p:cNvGrpSpPr>
            <a:grpSpLocks/>
          </p:cNvGrpSpPr>
          <p:nvPr/>
        </p:nvGrpSpPr>
        <p:grpSpPr bwMode="auto">
          <a:xfrm>
            <a:off x="5930106" y="1456011"/>
            <a:ext cx="2414588" cy="1239838"/>
            <a:chOff x="6369050" y="666850"/>
            <a:chExt cx="2414111" cy="1239587"/>
          </a:xfrm>
        </p:grpSpPr>
        <p:sp>
          <p:nvSpPr>
            <p:cNvPr id="39" name="Rectangle 25">
              <a:extLst>
                <a:ext uri="{FF2B5EF4-FFF2-40B4-BE49-F238E27FC236}">
                  <a16:creationId xmlns:a16="http://schemas.microsoft.com/office/drawing/2014/main" id="{2C006E51-9B9A-448B-B841-775E3924C3F2}"/>
                </a:ext>
              </a:extLst>
            </p:cNvPr>
            <p:cNvSpPr>
              <a:spLocks noChangeArrowheads="1"/>
            </p:cNvSpPr>
            <p:nvPr/>
          </p:nvSpPr>
          <p:spPr bwMode="auto">
            <a:xfrm>
              <a:off x="6660126" y="666850"/>
              <a:ext cx="3238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b="1" i="1">
                  <a:solidFill>
                    <a:srgbClr val="000000"/>
                  </a:solidFill>
                  <a:latin typeface="Times New Roman" panose="02020603050405020304" pitchFamily="18" charset="0"/>
                  <a:cs typeface="Times New Roman" panose="02020603050405020304" pitchFamily="18" charset="0"/>
                </a:rPr>
                <a:t>L</a:t>
              </a:r>
            </a:p>
          </p:txBody>
        </p:sp>
        <p:sp>
          <p:nvSpPr>
            <p:cNvPr id="40" name="Line 26">
              <a:extLst>
                <a:ext uri="{FF2B5EF4-FFF2-40B4-BE49-F238E27FC236}">
                  <a16:creationId xmlns:a16="http://schemas.microsoft.com/office/drawing/2014/main" id="{D18DDCC8-1218-437A-AB35-7F4F71EA49AE}"/>
                </a:ext>
              </a:extLst>
            </p:cNvPr>
            <p:cNvSpPr>
              <a:spLocks noChangeShapeType="1"/>
            </p:cNvSpPr>
            <p:nvPr/>
          </p:nvSpPr>
          <p:spPr bwMode="auto">
            <a:xfrm flipH="1">
              <a:off x="6369050" y="997050"/>
              <a:ext cx="498475" cy="1936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41" name="Line 27">
              <a:extLst>
                <a:ext uri="{FF2B5EF4-FFF2-40B4-BE49-F238E27FC236}">
                  <a16:creationId xmlns:a16="http://schemas.microsoft.com/office/drawing/2014/main" id="{938466A4-8619-4D46-BFD0-1742D7046D32}"/>
                </a:ext>
              </a:extLst>
            </p:cNvPr>
            <p:cNvSpPr>
              <a:spLocks noChangeShapeType="1"/>
            </p:cNvSpPr>
            <p:nvPr/>
          </p:nvSpPr>
          <p:spPr bwMode="auto">
            <a:xfrm>
              <a:off x="6877049" y="973237"/>
              <a:ext cx="1622190" cy="18377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42" name="Rectangle 28">
              <a:extLst>
                <a:ext uri="{FF2B5EF4-FFF2-40B4-BE49-F238E27FC236}">
                  <a16:creationId xmlns:a16="http://schemas.microsoft.com/office/drawing/2014/main" id="{97EC2314-5A49-4D52-BDE1-B6C5D4AA88C7}"/>
                </a:ext>
              </a:extLst>
            </p:cNvPr>
            <p:cNvSpPr>
              <a:spLocks noChangeArrowheads="1"/>
            </p:cNvSpPr>
            <p:nvPr/>
          </p:nvSpPr>
          <p:spPr bwMode="auto">
            <a:xfrm>
              <a:off x="8243411" y="1636562"/>
              <a:ext cx="53975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lnSpc>
                  <a:spcPts val="1500"/>
                </a:lnSpc>
              </a:pPr>
              <a:r>
                <a:rPr lang="en-US" altLang="zh-CN" sz="1600" b="1">
                  <a:solidFill>
                    <a:srgbClr val="000000"/>
                  </a:solidFill>
                  <a:latin typeface="Times New Roman" panose="02020603050405020304" pitchFamily="18" charset="0"/>
                  <a:cs typeface="Times New Roman" panose="02020603050405020304" pitchFamily="18" charset="0"/>
                </a:rPr>
                <a:t>id</a:t>
              </a:r>
            </a:p>
            <a:p>
              <a:pPr algn="ctr" eaLnBrk="1" hangingPunct="1">
                <a:lnSpc>
                  <a:spcPts val="1500"/>
                </a:lnSpc>
              </a:pPr>
              <a:r>
                <a:rPr lang="en-US" altLang="zh-CN" sz="1600" b="1">
                  <a:solidFill>
                    <a:srgbClr val="000000"/>
                  </a:solidFill>
                  <a:latin typeface="Times New Roman" panose="02020603050405020304" pitchFamily="18" charset="0"/>
                  <a:cs typeface="Times New Roman" panose="02020603050405020304" pitchFamily="18" charset="0"/>
                </a:rPr>
                <a:t>(</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i</a:t>
              </a:r>
              <a:r>
                <a:rPr lang="en-US" altLang="zh-CN" sz="1600" b="1" baseline="-25000">
                  <a:solidFill>
                    <a:srgbClr val="000000"/>
                  </a:solidFill>
                  <a:latin typeface="Times New Roman" panose="02020603050405020304" pitchFamily="18" charset="0"/>
                  <a:ea typeface="楷体_GB2312"/>
                  <a:cs typeface="Times New Roman" panose="02020603050405020304" pitchFamily="18" charset="0"/>
                </a:rPr>
                <a:t>3</a:t>
              </a:r>
              <a:r>
                <a:rPr lang="en-US" altLang="zh-CN" sz="1600" b="1">
                  <a:solidFill>
                    <a:srgbClr val="000000"/>
                  </a:solidFill>
                  <a:latin typeface="Times New Roman" panose="02020603050405020304" pitchFamily="18" charset="0"/>
                  <a:cs typeface="Times New Roman" panose="02020603050405020304" pitchFamily="18" charset="0"/>
                </a:rPr>
                <a:t>)</a:t>
              </a:r>
            </a:p>
          </p:txBody>
        </p:sp>
        <p:sp>
          <p:nvSpPr>
            <p:cNvPr id="43" name="Rectangle 57">
              <a:extLst>
                <a:ext uri="{FF2B5EF4-FFF2-40B4-BE49-F238E27FC236}">
                  <a16:creationId xmlns:a16="http://schemas.microsoft.com/office/drawing/2014/main" id="{0D4BBF7C-9AC5-4DF9-BCDF-E64AC16DDAD2}"/>
                </a:ext>
              </a:extLst>
            </p:cNvPr>
            <p:cNvSpPr>
              <a:spLocks noChangeArrowheads="1"/>
            </p:cNvSpPr>
            <p:nvPr/>
          </p:nvSpPr>
          <p:spPr bwMode="auto">
            <a:xfrm>
              <a:off x="8337310" y="1168500"/>
              <a:ext cx="323850" cy="21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b="1">
                  <a:solidFill>
                    <a:srgbClr val="000000"/>
                  </a:solidFill>
                  <a:latin typeface="Times New Roman" panose="02020603050405020304" pitchFamily="18" charset="0"/>
                  <a:ea typeface="楷体_GB2312"/>
                  <a:cs typeface="Times New Roman" panose="02020603050405020304" pitchFamily="18" charset="0"/>
                </a:rPr>
                <a:t>[</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 E </a:t>
              </a:r>
              <a:r>
                <a:rPr lang="en-US" altLang="zh-CN" sz="1600" b="1">
                  <a:solidFill>
                    <a:srgbClr val="000000"/>
                  </a:solidFill>
                  <a:latin typeface="Times New Roman" panose="02020603050405020304" pitchFamily="18" charset="0"/>
                  <a:ea typeface="楷体_GB2312"/>
                  <a:cs typeface="Times New Roman" panose="02020603050405020304" pitchFamily="18" charset="0"/>
                </a:rPr>
                <a:t>]</a:t>
              </a:r>
            </a:p>
          </p:txBody>
        </p:sp>
        <p:sp>
          <p:nvSpPr>
            <p:cNvPr id="44" name="Line 58">
              <a:extLst>
                <a:ext uri="{FF2B5EF4-FFF2-40B4-BE49-F238E27FC236}">
                  <a16:creationId xmlns:a16="http://schemas.microsoft.com/office/drawing/2014/main" id="{C6B590BB-7492-4455-8049-B64580935A3E}"/>
                </a:ext>
              </a:extLst>
            </p:cNvPr>
            <p:cNvSpPr>
              <a:spLocks noChangeShapeType="1"/>
            </p:cNvSpPr>
            <p:nvPr/>
          </p:nvSpPr>
          <p:spPr bwMode="auto">
            <a:xfrm>
              <a:off x="8499239" y="1384400"/>
              <a:ext cx="0" cy="161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grpSp>
      <p:cxnSp>
        <p:nvCxnSpPr>
          <p:cNvPr id="45" name="直接连接符 44">
            <a:extLst>
              <a:ext uri="{FF2B5EF4-FFF2-40B4-BE49-F238E27FC236}">
                <a16:creationId xmlns:a16="http://schemas.microsoft.com/office/drawing/2014/main" id="{1CF4CA20-D131-4FA8-8A9B-22B96F46C209}"/>
              </a:ext>
            </a:extLst>
          </p:cNvPr>
          <p:cNvCxnSpPr/>
          <p:nvPr/>
        </p:nvCxnSpPr>
        <p:spPr>
          <a:xfrm>
            <a:off x="2730500" y="5641228"/>
            <a:ext cx="720725" cy="0"/>
          </a:xfrm>
          <a:prstGeom prst="line">
            <a:avLst/>
          </a:prstGeom>
          <a:ln w="254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6" name="Line 67">
            <a:extLst>
              <a:ext uri="{FF2B5EF4-FFF2-40B4-BE49-F238E27FC236}">
                <a16:creationId xmlns:a16="http://schemas.microsoft.com/office/drawing/2014/main" id="{D3940134-AF2B-4C73-AEBB-543705B6366B}"/>
              </a:ext>
            </a:extLst>
          </p:cNvPr>
          <p:cNvSpPr>
            <a:spLocks noChangeShapeType="1"/>
          </p:cNvSpPr>
          <p:nvPr/>
        </p:nvSpPr>
        <p:spPr bwMode="auto">
          <a:xfrm>
            <a:off x="2816250" y="6227545"/>
            <a:ext cx="22320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cxnSp>
        <p:nvCxnSpPr>
          <p:cNvPr id="47" name="直接箭头连接符 46">
            <a:extLst>
              <a:ext uri="{FF2B5EF4-FFF2-40B4-BE49-F238E27FC236}">
                <a16:creationId xmlns:a16="http://schemas.microsoft.com/office/drawing/2014/main" id="{6EB6C2AE-07DB-41E3-A575-F6B7F8C59541}"/>
              </a:ext>
            </a:extLst>
          </p:cNvPr>
          <p:cNvCxnSpPr/>
          <p:nvPr/>
        </p:nvCxnSpPr>
        <p:spPr>
          <a:xfrm flipV="1">
            <a:off x="6674644" y="2476774"/>
            <a:ext cx="69850" cy="309562"/>
          </a:xfrm>
          <a:prstGeom prst="straightConnector1">
            <a:avLst/>
          </a:prstGeom>
          <a:ln w="38100">
            <a:solidFill>
              <a:srgbClr val="FF0000"/>
            </a:solidFill>
            <a:prstDash val="dash"/>
            <a:tailEnd type="stealth" w="lg" len="lg"/>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E28AD17D-7A29-45E7-8ACA-64AAFF321B55}"/>
              </a:ext>
            </a:extLst>
          </p:cNvPr>
          <p:cNvCxnSpPr>
            <a:stCxn id="14" idx="0"/>
          </p:cNvCxnSpPr>
          <p:nvPr/>
        </p:nvCxnSpPr>
        <p:spPr>
          <a:xfrm flipV="1">
            <a:off x="6881019" y="1808436"/>
            <a:ext cx="80962" cy="222250"/>
          </a:xfrm>
          <a:prstGeom prst="straightConnector1">
            <a:avLst/>
          </a:prstGeom>
          <a:ln w="38100">
            <a:solidFill>
              <a:srgbClr val="FF0000"/>
            </a:solidFill>
            <a:prstDash val="dash"/>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4232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 calcmode="lin" valueType="num">
                                      <p:cBhvr>
                                        <p:cTn id="14" dur="500" fill="hold"/>
                                        <p:tgtEl>
                                          <p:spTgt spid="23"/>
                                        </p:tgtEl>
                                        <p:attrNameLst>
                                          <p:attrName>ppt_w</p:attrName>
                                        </p:attrNameLst>
                                      </p:cBhvr>
                                      <p:tavLst>
                                        <p:tav tm="0">
                                          <p:val>
                                            <p:fltVal val="0"/>
                                          </p:val>
                                        </p:tav>
                                        <p:tav tm="100000">
                                          <p:val>
                                            <p:strVal val="#ppt_w"/>
                                          </p:val>
                                        </p:tav>
                                      </p:tavLst>
                                    </p:anim>
                                    <p:anim calcmode="lin" valueType="num">
                                      <p:cBhvr>
                                        <p:cTn id="15" dur="500" fill="hold"/>
                                        <p:tgtEl>
                                          <p:spTgt spid="23"/>
                                        </p:tgtEl>
                                        <p:attrNameLst>
                                          <p:attrName>ppt_h</p:attrName>
                                        </p:attrNameLst>
                                      </p:cBhvr>
                                      <p:tavLst>
                                        <p:tav tm="0">
                                          <p:val>
                                            <p:fltVal val="0"/>
                                          </p:val>
                                        </p:tav>
                                        <p:tav tm="100000">
                                          <p:val>
                                            <p:strVal val="#ppt_h"/>
                                          </p:val>
                                        </p:tav>
                                      </p:tavLst>
                                    </p:anim>
                                    <p:animEffect transition="in" filter="fade">
                                      <p:cBhvr>
                                        <p:cTn id="16" dur="5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46"/>
                                        </p:tgtEl>
                                        <p:attrNameLst>
                                          <p:attrName>style.visibility</p:attrName>
                                        </p:attrNameLst>
                                      </p:cBhvr>
                                      <p:to>
                                        <p:strVal val="visible"/>
                                      </p:to>
                                    </p:set>
                                    <p:anim calcmode="lin" valueType="num">
                                      <p:cBhvr>
                                        <p:cTn id="21" dur="500" fill="hold"/>
                                        <p:tgtEl>
                                          <p:spTgt spid="46"/>
                                        </p:tgtEl>
                                        <p:attrNameLst>
                                          <p:attrName>ppt_w</p:attrName>
                                        </p:attrNameLst>
                                      </p:cBhvr>
                                      <p:tavLst>
                                        <p:tav tm="0">
                                          <p:val>
                                            <p:fltVal val="0"/>
                                          </p:val>
                                        </p:tav>
                                        <p:tav tm="100000">
                                          <p:val>
                                            <p:strVal val="#ppt_w"/>
                                          </p:val>
                                        </p:tav>
                                      </p:tavLst>
                                    </p:anim>
                                    <p:anim calcmode="lin" valueType="num">
                                      <p:cBhvr>
                                        <p:cTn id="22" dur="500" fill="hold"/>
                                        <p:tgtEl>
                                          <p:spTgt spid="46"/>
                                        </p:tgtEl>
                                        <p:attrNameLst>
                                          <p:attrName>ppt_h</p:attrName>
                                        </p:attrNameLst>
                                      </p:cBhvr>
                                      <p:tavLst>
                                        <p:tav tm="0">
                                          <p:val>
                                            <p:fltVal val="0"/>
                                          </p:val>
                                        </p:tav>
                                        <p:tav tm="100000">
                                          <p:val>
                                            <p:strVal val="#ppt_h"/>
                                          </p:val>
                                        </p:tav>
                                      </p:tavLst>
                                    </p:anim>
                                    <p:animEffect transition="in" filter="fade">
                                      <p:cBhvr>
                                        <p:cTn id="23" dur="500"/>
                                        <p:tgtEl>
                                          <p:spTgt spid="46"/>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ppt_w</p:attrName>
                                        </p:attrNameLst>
                                      </p:cBhvr>
                                      <p:tavLst>
                                        <p:tav tm="0">
                                          <p:val>
                                            <p:fltVal val="0"/>
                                          </p:val>
                                        </p:tav>
                                        <p:tav tm="100000">
                                          <p:val>
                                            <p:strVal val="#ppt_w"/>
                                          </p:val>
                                        </p:tav>
                                      </p:tavLst>
                                    </p:anim>
                                    <p:anim calcmode="lin" valueType="num">
                                      <p:cBhvr>
                                        <p:cTn id="36" dur="500" fill="hold"/>
                                        <p:tgtEl>
                                          <p:spTgt spid="11"/>
                                        </p:tgtEl>
                                        <p:attrNameLst>
                                          <p:attrName>ppt_h</p:attrName>
                                        </p:attrNameLst>
                                      </p:cBhvr>
                                      <p:tavLst>
                                        <p:tav tm="0">
                                          <p:val>
                                            <p:fltVal val="0"/>
                                          </p:val>
                                        </p:tav>
                                        <p:tav tm="100000">
                                          <p:val>
                                            <p:strVal val="#ppt_h"/>
                                          </p:val>
                                        </p:tav>
                                      </p:tavLst>
                                    </p:anim>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31"/>
                                        </p:tgtEl>
                                        <p:attrNameLst>
                                          <p:attrName>style.visibility</p:attrName>
                                        </p:attrNameLst>
                                      </p:cBhvr>
                                      <p:to>
                                        <p:strVal val="visible"/>
                                      </p:to>
                                    </p:set>
                                    <p:anim calcmode="lin" valueType="num">
                                      <p:cBhvr>
                                        <p:cTn id="49" dur="500" fill="hold"/>
                                        <p:tgtEl>
                                          <p:spTgt spid="31"/>
                                        </p:tgtEl>
                                        <p:attrNameLst>
                                          <p:attrName>ppt_w</p:attrName>
                                        </p:attrNameLst>
                                      </p:cBhvr>
                                      <p:tavLst>
                                        <p:tav tm="0">
                                          <p:val>
                                            <p:fltVal val="0"/>
                                          </p:val>
                                        </p:tav>
                                        <p:tav tm="100000">
                                          <p:val>
                                            <p:strVal val="#ppt_w"/>
                                          </p:val>
                                        </p:tav>
                                      </p:tavLst>
                                    </p:anim>
                                    <p:anim calcmode="lin" valueType="num">
                                      <p:cBhvr>
                                        <p:cTn id="50" dur="500" fill="hold"/>
                                        <p:tgtEl>
                                          <p:spTgt spid="31"/>
                                        </p:tgtEl>
                                        <p:attrNameLst>
                                          <p:attrName>ppt_h</p:attrName>
                                        </p:attrNameLst>
                                      </p:cBhvr>
                                      <p:tavLst>
                                        <p:tav tm="0">
                                          <p:val>
                                            <p:fltVal val="0"/>
                                          </p:val>
                                        </p:tav>
                                        <p:tav tm="100000">
                                          <p:val>
                                            <p:strVal val="#ppt_h"/>
                                          </p:val>
                                        </p:tav>
                                      </p:tavLst>
                                    </p:anim>
                                    <p:animEffect transition="in" filter="fade">
                                      <p:cBhvr>
                                        <p:cTn id="51" dur="500"/>
                                        <p:tgtEl>
                                          <p:spTgt spid="31"/>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21"/>
                                        </p:tgtEl>
                                        <p:attrNameLst>
                                          <p:attrName>style.visibility</p:attrName>
                                        </p:attrNameLst>
                                      </p:cBhvr>
                                      <p:to>
                                        <p:strVal val="visible"/>
                                      </p:to>
                                    </p:set>
                                    <p:anim calcmode="lin" valueType="num">
                                      <p:cBhvr>
                                        <p:cTn id="56" dur="500" fill="hold"/>
                                        <p:tgtEl>
                                          <p:spTgt spid="21"/>
                                        </p:tgtEl>
                                        <p:attrNameLst>
                                          <p:attrName>ppt_w</p:attrName>
                                        </p:attrNameLst>
                                      </p:cBhvr>
                                      <p:tavLst>
                                        <p:tav tm="0">
                                          <p:val>
                                            <p:fltVal val="0"/>
                                          </p:val>
                                        </p:tav>
                                        <p:tav tm="100000">
                                          <p:val>
                                            <p:strVal val="#ppt_w"/>
                                          </p:val>
                                        </p:tav>
                                      </p:tavLst>
                                    </p:anim>
                                    <p:anim calcmode="lin" valueType="num">
                                      <p:cBhvr>
                                        <p:cTn id="57" dur="500" fill="hold"/>
                                        <p:tgtEl>
                                          <p:spTgt spid="21"/>
                                        </p:tgtEl>
                                        <p:attrNameLst>
                                          <p:attrName>ppt_h</p:attrName>
                                        </p:attrNameLst>
                                      </p:cBhvr>
                                      <p:tavLst>
                                        <p:tav tm="0">
                                          <p:val>
                                            <p:fltVal val="0"/>
                                          </p:val>
                                        </p:tav>
                                        <p:tav tm="100000">
                                          <p:val>
                                            <p:strVal val="#ppt_h"/>
                                          </p:val>
                                        </p:tav>
                                      </p:tavLst>
                                    </p:anim>
                                    <p:animEffect transition="in" filter="fade">
                                      <p:cBhvr>
                                        <p:cTn id="58" dur="500"/>
                                        <p:tgtEl>
                                          <p:spTgt spid="21"/>
                                        </p:tgtEl>
                                      </p:cBhvr>
                                    </p:animEffect>
                                  </p:childTnLst>
                                </p:cTn>
                              </p:par>
                            </p:childTnLst>
                          </p:cTn>
                        </p:par>
                        <p:par>
                          <p:cTn id="59" fill="hold">
                            <p:stCondLst>
                              <p:cond delay="500"/>
                            </p:stCondLst>
                            <p:childTnLst>
                              <p:par>
                                <p:cTn id="60" presetID="53" presetClass="entr" presetSubtype="16" fill="hold" nodeType="afterEffect">
                                  <p:stCondLst>
                                    <p:cond delay="0"/>
                                  </p:stCondLst>
                                  <p:childTnLst>
                                    <p:set>
                                      <p:cBhvr>
                                        <p:cTn id="61" dur="1" fill="hold">
                                          <p:stCondLst>
                                            <p:cond delay="0"/>
                                          </p:stCondLst>
                                        </p:cTn>
                                        <p:tgtEl>
                                          <p:spTgt spid="47"/>
                                        </p:tgtEl>
                                        <p:attrNameLst>
                                          <p:attrName>style.visibility</p:attrName>
                                        </p:attrNameLst>
                                      </p:cBhvr>
                                      <p:to>
                                        <p:strVal val="visible"/>
                                      </p:to>
                                    </p:set>
                                    <p:anim calcmode="lin" valueType="num">
                                      <p:cBhvr>
                                        <p:cTn id="62" dur="500" fill="hold"/>
                                        <p:tgtEl>
                                          <p:spTgt spid="47"/>
                                        </p:tgtEl>
                                        <p:attrNameLst>
                                          <p:attrName>ppt_w</p:attrName>
                                        </p:attrNameLst>
                                      </p:cBhvr>
                                      <p:tavLst>
                                        <p:tav tm="0">
                                          <p:val>
                                            <p:fltVal val="0"/>
                                          </p:val>
                                        </p:tav>
                                        <p:tav tm="100000">
                                          <p:val>
                                            <p:strVal val="#ppt_w"/>
                                          </p:val>
                                        </p:tav>
                                      </p:tavLst>
                                    </p:anim>
                                    <p:anim calcmode="lin" valueType="num">
                                      <p:cBhvr>
                                        <p:cTn id="63" dur="500" fill="hold"/>
                                        <p:tgtEl>
                                          <p:spTgt spid="47"/>
                                        </p:tgtEl>
                                        <p:attrNameLst>
                                          <p:attrName>ppt_h</p:attrName>
                                        </p:attrNameLst>
                                      </p:cBhvr>
                                      <p:tavLst>
                                        <p:tav tm="0">
                                          <p:val>
                                            <p:fltVal val="0"/>
                                          </p:val>
                                        </p:tav>
                                        <p:tav tm="100000">
                                          <p:val>
                                            <p:strVal val="#ppt_h"/>
                                          </p:val>
                                        </p:tav>
                                      </p:tavLst>
                                    </p:anim>
                                    <p:animEffect transition="in" filter="fade">
                                      <p:cBhvr>
                                        <p:cTn id="64" dur="500"/>
                                        <p:tgtEl>
                                          <p:spTgt spid="47"/>
                                        </p:tgtEl>
                                      </p:cBhvr>
                                    </p:animEffect>
                                  </p:childTnLst>
                                </p:cTn>
                              </p:par>
                            </p:childTnLst>
                          </p:cTn>
                        </p:par>
                        <p:par>
                          <p:cTn id="65" fill="hold">
                            <p:stCondLst>
                              <p:cond delay="1000"/>
                            </p:stCondLst>
                            <p:childTnLst>
                              <p:par>
                                <p:cTn id="66" presetID="53" presetClass="entr" presetSubtype="16" fill="hold" grpId="0" nodeType="afterEffect">
                                  <p:stCondLst>
                                    <p:cond delay="0"/>
                                  </p:stCondLst>
                                  <p:childTnLst>
                                    <p:set>
                                      <p:cBhvr>
                                        <p:cTn id="67" dur="1" fill="hold">
                                          <p:stCondLst>
                                            <p:cond delay="0"/>
                                          </p:stCondLst>
                                        </p:cTn>
                                        <p:tgtEl>
                                          <p:spTgt spid="14"/>
                                        </p:tgtEl>
                                        <p:attrNameLst>
                                          <p:attrName>style.visibility</p:attrName>
                                        </p:attrNameLst>
                                      </p:cBhvr>
                                      <p:to>
                                        <p:strVal val="visible"/>
                                      </p:to>
                                    </p:set>
                                    <p:anim calcmode="lin" valueType="num">
                                      <p:cBhvr>
                                        <p:cTn id="68" dur="500" fill="hold"/>
                                        <p:tgtEl>
                                          <p:spTgt spid="14"/>
                                        </p:tgtEl>
                                        <p:attrNameLst>
                                          <p:attrName>ppt_w</p:attrName>
                                        </p:attrNameLst>
                                      </p:cBhvr>
                                      <p:tavLst>
                                        <p:tav tm="0">
                                          <p:val>
                                            <p:fltVal val="0"/>
                                          </p:val>
                                        </p:tav>
                                        <p:tav tm="100000">
                                          <p:val>
                                            <p:strVal val="#ppt_w"/>
                                          </p:val>
                                        </p:tav>
                                      </p:tavLst>
                                    </p:anim>
                                    <p:anim calcmode="lin" valueType="num">
                                      <p:cBhvr>
                                        <p:cTn id="69" dur="500" fill="hold"/>
                                        <p:tgtEl>
                                          <p:spTgt spid="14"/>
                                        </p:tgtEl>
                                        <p:attrNameLst>
                                          <p:attrName>ppt_h</p:attrName>
                                        </p:attrNameLst>
                                      </p:cBhvr>
                                      <p:tavLst>
                                        <p:tav tm="0">
                                          <p:val>
                                            <p:fltVal val="0"/>
                                          </p:val>
                                        </p:tav>
                                        <p:tav tm="100000">
                                          <p:val>
                                            <p:strVal val="#ppt_h"/>
                                          </p:val>
                                        </p:tav>
                                      </p:tavLst>
                                    </p:anim>
                                    <p:animEffect transition="in" filter="fade">
                                      <p:cBhvr>
                                        <p:cTn id="70" dur="500"/>
                                        <p:tgtEl>
                                          <p:spTgt spid="14"/>
                                        </p:tgtEl>
                                      </p:cBhvr>
                                    </p:animEffect>
                                  </p:childTnLst>
                                </p:cTn>
                              </p:par>
                            </p:childTnLst>
                          </p:cTn>
                        </p:par>
                      </p:childTnLst>
                    </p:cTn>
                  </p:par>
                  <p:par>
                    <p:cTn id="71" fill="hold">
                      <p:stCondLst>
                        <p:cond delay="indefinite"/>
                      </p:stCondLst>
                      <p:childTnLst>
                        <p:par>
                          <p:cTn id="72" fill="hold">
                            <p:stCondLst>
                              <p:cond delay="0"/>
                            </p:stCondLst>
                            <p:childTnLst>
                              <p:par>
                                <p:cTn id="73" presetID="53" presetClass="entr" presetSubtype="16" fill="hold" nodeType="clickEffect">
                                  <p:stCondLst>
                                    <p:cond delay="0"/>
                                  </p:stCondLst>
                                  <p:childTnLst>
                                    <p:set>
                                      <p:cBhvr>
                                        <p:cTn id="74" dur="1" fill="hold">
                                          <p:stCondLst>
                                            <p:cond delay="0"/>
                                          </p:stCondLst>
                                        </p:cTn>
                                        <p:tgtEl>
                                          <p:spTgt spid="45"/>
                                        </p:tgtEl>
                                        <p:attrNameLst>
                                          <p:attrName>style.visibility</p:attrName>
                                        </p:attrNameLst>
                                      </p:cBhvr>
                                      <p:to>
                                        <p:strVal val="visible"/>
                                      </p:to>
                                    </p:set>
                                    <p:anim calcmode="lin" valueType="num">
                                      <p:cBhvr>
                                        <p:cTn id="75" dur="500" fill="hold"/>
                                        <p:tgtEl>
                                          <p:spTgt spid="45"/>
                                        </p:tgtEl>
                                        <p:attrNameLst>
                                          <p:attrName>ppt_w</p:attrName>
                                        </p:attrNameLst>
                                      </p:cBhvr>
                                      <p:tavLst>
                                        <p:tav tm="0">
                                          <p:val>
                                            <p:fltVal val="0"/>
                                          </p:val>
                                        </p:tav>
                                        <p:tav tm="100000">
                                          <p:val>
                                            <p:strVal val="#ppt_w"/>
                                          </p:val>
                                        </p:tav>
                                      </p:tavLst>
                                    </p:anim>
                                    <p:anim calcmode="lin" valueType="num">
                                      <p:cBhvr>
                                        <p:cTn id="76" dur="500" fill="hold"/>
                                        <p:tgtEl>
                                          <p:spTgt spid="45"/>
                                        </p:tgtEl>
                                        <p:attrNameLst>
                                          <p:attrName>ppt_h</p:attrName>
                                        </p:attrNameLst>
                                      </p:cBhvr>
                                      <p:tavLst>
                                        <p:tav tm="0">
                                          <p:val>
                                            <p:fltVal val="0"/>
                                          </p:val>
                                        </p:tav>
                                        <p:tav tm="100000">
                                          <p:val>
                                            <p:strVal val="#ppt_h"/>
                                          </p:val>
                                        </p:tav>
                                      </p:tavLst>
                                    </p:anim>
                                    <p:animEffect transition="in" filter="fade">
                                      <p:cBhvr>
                                        <p:cTn id="77" dur="500"/>
                                        <p:tgtEl>
                                          <p:spTgt spid="45"/>
                                        </p:tgtEl>
                                      </p:cBhvr>
                                    </p:animEffect>
                                  </p:childTnLst>
                                </p:cTn>
                              </p:par>
                            </p:childTnLst>
                          </p:cTn>
                        </p:par>
                      </p:childTnLst>
                    </p:cTn>
                  </p:par>
                  <p:par>
                    <p:cTn id="78" fill="hold">
                      <p:stCondLst>
                        <p:cond delay="indefinite"/>
                      </p:stCondLst>
                      <p:childTnLst>
                        <p:par>
                          <p:cTn id="79" fill="hold">
                            <p:stCondLst>
                              <p:cond delay="0"/>
                            </p:stCondLst>
                            <p:childTnLst>
                              <p:par>
                                <p:cTn id="80" presetID="53" presetClass="entr" presetSubtype="16" fill="hold" grpId="0" nodeType="clickEffect">
                                  <p:stCondLst>
                                    <p:cond delay="0"/>
                                  </p:stCondLst>
                                  <p:childTnLst>
                                    <p:set>
                                      <p:cBhvr>
                                        <p:cTn id="81" dur="1" fill="hold">
                                          <p:stCondLst>
                                            <p:cond delay="0"/>
                                          </p:stCondLst>
                                        </p:cTn>
                                        <p:tgtEl>
                                          <p:spTgt spid="16"/>
                                        </p:tgtEl>
                                        <p:attrNameLst>
                                          <p:attrName>style.visibility</p:attrName>
                                        </p:attrNameLst>
                                      </p:cBhvr>
                                      <p:to>
                                        <p:strVal val="visible"/>
                                      </p:to>
                                    </p:set>
                                    <p:anim calcmode="lin" valueType="num">
                                      <p:cBhvr>
                                        <p:cTn id="82" dur="500" fill="hold"/>
                                        <p:tgtEl>
                                          <p:spTgt spid="16"/>
                                        </p:tgtEl>
                                        <p:attrNameLst>
                                          <p:attrName>ppt_w</p:attrName>
                                        </p:attrNameLst>
                                      </p:cBhvr>
                                      <p:tavLst>
                                        <p:tav tm="0">
                                          <p:val>
                                            <p:fltVal val="0"/>
                                          </p:val>
                                        </p:tav>
                                        <p:tav tm="100000">
                                          <p:val>
                                            <p:strVal val="#ppt_w"/>
                                          </p:val>
                                        </p:tav>
                                      </p:tavLst>
                                    </p:anim>
                                    <p:anim calcmode="lin" valueType="num">
                                      <p:cBhvr>
                                        <p:cTn id="83" dur="500" fill="hold"/>
                                        <p:tgtEl>
                                          <p:spTgt spid="16"/>
                                        </p:tgtEl>
                                        <p:attrNameLst>
                                          <p:attrName>ppt_h</p:attrName>
                                        </p:attrNameLst>
                                      </p:cBhvr>
                                      <p:tavLst>
                                        <p:tav tm="0">
                                          <p:val>
                                            <p:fltVal val="0"/>
                                          </p:val>
                                        </p:tav>
                                        <p:tav tm="100000">
                                          <p:val>
                                            <p:strVal val="#ppt_h"/>
                                          </p:val>
                                        </p:tav>
                                      </p:tavLst>
                                    </p:anim>
                                    <p:animEffect transition="in" filter="fade">
                                      <p:cBhvr>
                                        <p:cTn id="84" dur="500"/>
                                        <p:tgtEl>
                                          <p:spTgt spid="16"/>
                                        </p:tgtEl>
                                      </p:cBhvr>
                                    </p:animEffect>
                                  </p:childTnLst>
                                </p:cTn>
                              </p:par>
                            </p:childTnLst>
                          </p:cTn>
                        </p:par>
                      </p:childTnLst>
                    </p:cTn>
                  </p:par>
                  <p:par>
                    <p:cTn id="85" fill="hold">
                      <p:stCondLst>
                        <p:cond delay="indefinite"/>
                      </p:stCondLst>
                      <p:childTnLst>
                        <p:par>
                          <p:cTn id="86" fill="hold">
                            <p:stCondLst>
                              <p:cond delay="0"/>
                            </p:stCondLst>
                            <p:childTnLst>
                              <p:par>
                                <p:cTn id="87" presetID="53" presetClass="entr" presetSubtype="16" fill="hold" nodeType="clickEffect">
                                  <p:stCondLst>
                                    <p:cond delay="0"/>
                                  </p:stCondLst>
                                  <p:childTnLst>
                                    <p:set>
                                      <p:cBhvr>
                                        <p:cTn id="88" dur="1" fill="hold">
                                          <p:stCondLst>
                                            <p:cond delay="0"/>
                                          </p:stCondLst>
                                        </p:cTn>
                                        <p:tgtEl>
                                          <p:spTgt spid="38"/>
                                        </p:tgtEl>
                                        <p:attrNameLst>
                                          <p:attrName>style.visibility</p:attrName>
                                        </p:attrNameLst>
                                      </p:cBhvr>
                                      <p:to>
                                        <p:strVal val="visible"/>
                                      </p:to>
                                    </p:set>
                                    <p:anim calcmode="lin" valueType="num">
                                      <p:cBhvr>
                                        <p:cTn id="89" dur="500" fill="hold"/>
                                        <p:tgtEl>
                                          <p:spTgt spid="38"/>
                                        </p:tgtEl>
                                        <p:attrNameLst>
                                          <p:attrName>ppt_w</p:attrName>
                                        </p:attrNameLst>
                                      </p:cBhvr>
                                      <p:tavLst>
                                        <p:tav tm="0">
                                          <p:val>
                                            <p:fltVal val="0"/>
                                          </p:val>
                                        </p:tav>
                                        <p:tav tm="100000">
                                          <p:val>
                                            <p:strVal val="#ppt_w"/>
                                          </p:val>
                                        </p:tav>
                                      </p:tavLst>
                                    </p:anim>
                                    <p:anim calcmode="lin" valueType="num">
                                      <p:cBhvr>
                                        <p:cTn id="90" dur="500" fill="hold"/>
                                        <p:tgtEl>
                                          <p:spTgt spid="38"/>
                                        </p:tgtEl>
                                        <p:attrNameLst>
                                          <p:attrName>ppt_h</p:attrName>
                                        </p:attrNameLst>
                                      </p:cBhvr>
                                      <p:tavLst>
                                        <p:tav tm="0">
                                          <p:val>
                                            <p:fltVal val="0"/>
                                          </p:val>
                                        </p:tav>
                                        <p:tav tm="100000">
                                          <p:val>
                                            <p:strVal val="#ppt_h"/>
                                          </p:val>
                                        </p:tav>
                                      </p:tavLst>
                                    </p:anim>
                                    <p:animEffect transition="in" filter="fade">
                                      <p:cBhvr>
                                        <p:cTn id="91" dur="500"/>
                                        <p:tgtEl>
                                          <p:spTgt spid="38"/>
                                        </p:tgtEl>
                                      </p:cBhvr>
                                    </p:animEffect>
                                  </p:childTnLst>
                                </p:cTn>
                              </p:par>
                            </p:childTnLst>
                          </p:cTn>
                        </p:par>
                      </p:childTnLst>
                    </p:cTn>
                  </p:par>
                  <p:par>
                    <p:cTn id="92" fill="hold">
                      <p:stCondLst>
                        <p:cond delay="indefinite"/>
                      </p:stCondLst>
                      <p:childTnLst>
                        <p:par>
                          <p:cTn id="93" fill="hold">
                            <p:stCondLst>
                              <p:cond delay="0"/>
                            </p:stCondLst>
                            <p:childTnLst>
                              <p:par>
                                <p:cTn id="94" presetID="53" presetClass="entr" presetSubtype="16" fill="hold" nodeType="clickEffect">
                                  <p:stCondLst>
                                    <p:cond delay="0"/>
                                  </p:stCondLst>
                                  <p:childTnLst>
                                    <p:set>
                                      <p:cBhvr>
                                        <p:cTn id="95" dur="1" fill="hold">
                                          <p:stCondLst>
                                            <p:cond delay="0"/>
                                          </p:stCondLst>
                                        </p:cTn>
                                        <p:tgtEl>
                                          <p:spTgt spid="22"/>
                                        </p:tgtEl>
                                        <p:attrNameLst>
                                          <p:attrName>style.visibility</p:attrName>
                                        </p:attrNameLst>
                                      </p:cBhvr>
                                      <p:to>
                                        <p:strVal val="visible"/>
                                      </p:to>
                                    </p:set>
                                    <p:anim calcmode="lin" valueType="num">
                                      <p:cBhvr>
                                        <p:cTn id="96" dur="500" fill="hold"/>
                                        <p:tgtEl>
                                          <p:spTgt spid="22"/>
                                        </p:tgtEl>
                                        <p:attrNameLst>
                                          <p:attrName>ppt_w</p:attrName>
                                        </p:attrNameLst>
                                      </p:cBhvr>
                                      <p:tavLst>
                                        <p:tav tm="0">
                                          <p:val>
                                            <p:fltVal val="0"/>
                                          </p:val>
                                        </p:tav>
                                        <p:tav tm="100000">
                                          <p:val>
                                            <p:strVal val="#ppt_w"/>
                                          </p:val>
                                        </p:tav>
                                      </p:tavLst>
                                    </p:anim>
                                    <p:anim calcmode="lin" valueType="num">
                                      <p:cBhvr>
                                        <p:cTn id="97" dur="500" fill="hold"/>
                                        <p:tgtEl>
                                          <p:spTgt spid="22"/>
                                        </p:tgtEl>
                                        <p:attrNameLst>
                                          <p:attrName>ppt_h</p:attrName>
                                        </p:attrNameLst>
                                      </p:cBhvr>
                                      <p:tavLst>
                                        <p:tav tm="0">
                                          <p:val>
                                            <p:fltVal val="0"/>
                                          </p:val>
                                        </p:tav>
                                        <p:tav tm="100000">
                                          <p:val>
                                            <p:strVal val="#ppt_h"/>
                                          </p:val>
                                        </p:tav>
                                      </p:tavLst>
                                    </p:anim>
                                    <p:animEffect transition="in" filter="fade">
                                      <p:cBhvr>
                                        <p:cTn id="98" dur="500"/>
                                        <p:tgtEl>
                                          <p:spTgt spid="22"/>
                                        </p:tgtEl>
                                      </p:cBhvr>
                                    </p:animEffect>
                                  </p:childTnLst>
                                </p:cTn>
                              </p:par>
                            </p:childTnLst>
                          </p:cTn>
                        </p:par>
                        <p:par>
                          <p:cTn id="99" fill="hold">
                            <p:stCondLst>
                              <p:cond delay="500"/>
                            </p:stCondLst>
                            <p:childTnLst>
                              <p:par>
                                <p:cTn id="100" presetID="53" presetClass="entr" presetSubtype="16" fill="hold" nodeType="afterEffect">
                                  <p:stCondLst>
                                    <p:cond delay="0"/>
                                  </p:stCondLst>
                                  <p:childTnLst>
                                    <p:set>
                                      <p:cBhvr>
                                        <p:cTn id="101" dur="1" fill="hold">
                                          <p:stCondLst>
                                            <p:cond delay="0"/>
                                          </p:stCondLst>
                                        </p:cTn>
                                        <p:tgtEl>
                                          <p:spTgt spid="48"/>
                                        </p:tgtEl>
                                        <p:attrNameLst>
                                          <p:attrName>style.visibility</p:attrName>
                                        </p:attrNameLst>
                                      </p:cBhvr>
                                      <p:to>
                                        <p:strVal val="visible"/>
                                      </p:to>
                                    </p:set>
                                    <p:anim calcmode="lin" valueType="num">
                                      <p:cBhvr>
                                        <p:cTn id="102" dur="500" fill="hold"/>
                                        <p:tgtEl>
                                          <p:spTgt spid="48"/>
                                        </p:tgtEl>
                                        <p:attrNameLst>
                                          <p:attrName>ppt_w</p:attrName>
                                        </p:attrNameLst>
                                      </p:cBhvr>
                                      <p:tavLst>
                                        <p:tav tm="0">
                                          <p:val>
                                            <p:fltVal val="0"/>
                                          </p:val>
                                        </p:tav>
                                        <p:tav tm="100000">
                                          <p:val>
                                            <p:strVal val="#ppt_w"/>
                                          </p:val>
                                        </p:tav>
                                      </p:tavLst>
                                    </p:anim>
                                    <p:anim calcmode="lin" valueType="num">
                                      <p:cBhvr>
                                        <p:cTn id="103" dur="500" fill="hold"/>
                                        <p:tgtEl>
                                          <p:spTgt spid="48"/>
                                        </p:tgtEl>
                                        <p:attrNameLst>
                                          <p:attrName>ppt_h</p:attrName>
                                        </p:attrNameLst>
                                      </p:cBhvr>
                                      <p:tavLst>
                                        <p:tav tm="0">
                                          <p:val>
                                            <p:fltVal val="0"/>
                                          </p:val>
                                        </p:tav>
                                        <p:tav tm="100000">
                                          <p:val>
                                            <p:strVal val="#ppt_h"/>
                                          </p:val>
                                        </p:tav>
                                      </p:tavLst>
                                    </p:anim>
                                    <p:animEffect transition="in" filter="fade">
                                      <p:cBhvr>
                                        <p:cTn id="104" dur="500"/>
                                        <p:tgtEl>
                                          <p:spTgt spid="48"/>
                                        </p:tgtEl>
                                      </p:cBhvr>
                                    </p:animEffect>
                                  </p:childTnLst>
                                </p:cTn>
                              </p:par>
                            </p:childTnLst>
                          </p:cTn>
                        </p:par>
                        <p:par>
                          <p:cTn id="105" fill="hold">
                            <p:stCondLst>
                              <p:cond delay="1000"/>
                            </p:stCondLst>
                            <p:childTnLst>
                              <p:par>
                                <p:cTn id="106" presetID="53" presetClass="entr" presetSubtype="16" fill="hold" grpId="0" nodeType="afterEffect">
                                  <p:stCondLst>
                                    <p:cond delay="0"/>
                                  </p:stCondLst>
                                  <p:childTnLst>
                                    <p:set>
                                      <p:cBhvr>
                                        <p:cTn id="107" dur="1" fill="hold">
                                          <p:stCondLst>
                                            <p:cond delay="0"/>
                                          </p:stCondLst>
                                        </p:cTn>
                                        <p:tgtEl>
                                          <p:spTgt spid="15"/>
                                        </p:tgtEl>
                                        <p:attrNameLst>
                                          <p:attrName>style.visibility</p:attrName>
                                        </p:attrNameLst>
                                      </p:cBhvr>
                                      <p:to>
                                        <p:strVal val="visible"/>
                                      </p:to>
                                    </p:set>
                                    <p:anim calcmode="lin" valueType="num">
                                      <p:cBhvr>
                                        <p:cTn id="108" dur="500" fill="hold"/>
                                        <p:tgtEl>
                                          <p:spTgt spid="15"/>
                                        </p:tgtEl>
                                        <p:attrNameLst>
                                          <p:attrName>ppt_w</p:attrName>
                                        </p:attrNameLst>
                                      </p:cBhvr>
                                      <p:tavLst>
                                        <p:tav tm="0">
                                          <p:val>
                                            <p:fltVal val="0"/>
                                          </p:val>
                                        </p:tav>
                                        <p:tav tm="100000">
                                          <p:val>
                                            <p:strVal val="#ppt_w"/>
                                          </p:val>
                                        </p:tav>
                                      </p:tavLst>
                                    </p:anim>
                                    <p:anim calcmode="lin" valueType="num">
                                      <p:cBhvr>
                                        <p:cTn id="109" dur="500" fill="hold"/>
                                        <p:tgtEl>
                                          <p:spTgt spid="15"/>
                                        </p:tgtEl>
                                        <p:attrNameLst>
                                          <p:attrName>ppt_h</p:attrName>
                                        </p:attrNameLst>
                                      </p:cBhvr>
                                      <p:tavLst>
                                        <p:tav tm="0">
                                          <p:val>
                                            <p:fltVal val="0"/>
                                          </p:val>
                                        </p:tav>
                                        <p:tav tm="100000">
                                          <p:val>
                                            <p:strVal val="#ppt_h"/>
                                          </p:val>
                                        </p:tav>
                                      </p:tavLst>
                                    </p:anim>
                                    <p:animEffect transition="in" filter="fade">
                                      <p:cBhvr>
                                        <p:cTn id="110" dur="500"/>
                                        <p:tgtEl>
                                          <p:spTgt spid="15"/>
                                        </p:tgtEl>
                                      </p:cBhvr>
                                    </p:animEffect>
                                  </p:childTnLst>
                                </p:cTn>
                              </p:par>
                            </p:childTnLst>
                          </p:cTn>
                        </p:par>
                      </p:childTnLst>
                    </p:cTn>
                  </p:par>
                  <p:par>
                    <p:cTn id="111" fill="hold">
                      <p:stCondLst>
                        <p:cond delay="indefinite"/>
                      </p:stCondLst>
                      <p:childTnLst>
                        <p:par>
                          <p:cTn id="112" fill="hold">
                            <p:stCondLst>
                              <p:cond delay="0"/>
                            </p:stCondLst>
                            <p:childTnLst>
                              <p:par>
                                <p:cTn id="113" presetID="53" presetClass="entr" presetSubtype="16" fill="hold" grpId="0" nodeType="clickEffect">
                                  <p:stCondLst>
                                    <p:cond delay="0"/>
                                  </p:stCondLst>
                                  <p:childTnLst>
                                    <p:set>
                                      <p:cBhvr>
                                        <p:cTn id="114" dur="1" fill="hold">
                                          <p:stCondLst>
                                            <p:cond delay="0"/>
                                          </p:stCondLst>
                                        </p:cTn>
                                        <p:tgtEl>
                                          <p:spTgt spid="17"/>
                                        </p:tgtEl>
                                        <p:attrNameLst>
                                          <p:attrName>style.visibility</p:attrName>
                                        </p:attrNameLst>
                                      </p:cBhvr>
                                      <p:to>
                                        <p:strVal val="visible"/>
                                      </p:to>
                                    </p:set>
                                    <p:anim calcmode="lin" valueType="num">
                                      <p:cBhvr>
                                        <p:cTn id="115" dur="500" fill="hold"/>
                                        <p:tgtEl>
                                          <p:spTgt spid="17"/>
                                        </p:tgtEl>
                                        <p:attrNameLst>
                                          <p:attrName>ppt_w</p:attrName>
                                        </p:attrNameLst>
                                      </p:cBhvr>
                                      <p:tavLst>
                                        <p:tav tm="0">
                                          <p:val>
                                            <p:fltVal val="0"/>
                                          </p:val>
                                        </p:tav>
                                        <p:tav tm="100000">
                                          <p:val>
                                            <p:strVal val="#ppt_w"/>
                                          </p:val>
                                        </p:tav>
                                      </p:tavLst>
                                    </p:anim>
                                    <p:anim calcmode="lin" valueType="num">
                                      <p:cBhvr>
                                        <p:cTn id="116" dur="500" fill="hold"/>
                                        <p:tgtEl>
                                          <p:spTgt spid="17"/>
                                        </p:tgtEl>
                                        <p:attrNameLst>
                                          <p:attrName>ppt_h</p:attrName>
                                        </p:attrNameLst>
                                      </p:cBhvr>
                                      <p:tavLst>
                                        <p:tav tm="0">
                                          <p:val>
                                            <p:fltVal val="0"/>
                                          </p:val>
                                        </p:tav>
                                        <p:tav tm="100000">
                                          <p:val>
                                            <p:strVal val="#ppt_h"/>
                                          </p:val>
                                        </p:tav>
                                      </p:tavLst>
                                    </p:anim>
                                    <p:animEffect transition="in" filter="fade">
                                      <p:cBhvr>
                                        <p:cTn id="117" dur="500"/>
                                        <p:tgtEl>
                                          <p:spTgt spid="17"/>
                                        </p:tgtEl>
                                      </p:cBhvr>
                                    </p:animEffect>
                                  </p:childTnLst>
                                </p:cTn>
                              </p:par>
                            </p:childTnLst>
                          </p:cTn>
                        </p:par>
                      </p:childTnLst>
                    </p:cTn>
                  </p:par>
                  <p:par>
                    <p:cTn id="118" fill="hold">
                      <p:stCondLst>
                        <p:cond delay="indefinite"/>
                      </p:stCondLst>
                      <p:childTnLst>
                        <p:par>
                          <p:cTn id="119" fill="hold">
                            <p:stCondLst>
                              <p:cond delay="0"/>
                            </p:stCondLst>
                            <p:childTnLst>
                              <p:par>
                                <p:cTn id="120" presetID="53" presetClass="entr" presetSubtype="16" fill="hold" grpId="0" nodeType="clickEffect">
                                  <p:stCondLst>
                                    <p:cond delay="0"/>
                                  </p:stCondLst>
                                  <p:childTnLst>
                                    <p:set>
                                      <p:cBhvr>
                                        <p:cTn id="121" dur="1" fill="hold">
                                          <p:stCondLst>
                                            <p:cond delay="0"/>
                                          </p:stCondLst>
                                        </p:cTn>
                                        <p:tgtEl>
                                          <p:spTgt spid="18"/>
                                        </p:tgtEl>
                                        <p:attrNameLst>
                                          <p:attrName>style.visibility</p:attrName>
                                        </p:attrNameLst>
                                      </p:cBhvr>
                                      <p:to>
                                        <p:strVal val="visible"/>
                                      </p:to>
                                    </p:set>
                                    <p:anim calcmode="lin" valueType="num">
                                      <p:cBhvr>
                                        <p:cTn id="122" dur="500" fill="hold"/>
                                        <p:tgtEl>
                                          <p:spTgt spid="18"/>
                                        </p:tgtEl>
                                        <p:attrNameLst>
                                          <p:attrName>ppt_w</p:attrName>
                                        </p:attrNameLst>
                                      </p:cBhvr>
                                      <p:tavLst>
                                        <p:tav tm="0">
                                          <p:val>
                                            <p:fltVal val="0"/>
                                          </p:val>
                                        </p:tav>
                                        <p:tav tm="100000">
                                          <p:val>
                                            <p:strVal val="#ppt_w"/>
                                          </p:val>
                                        </p:tav>
                                      </p:tavLst>
                                    </p:anim>
                                    <p:anim calcmode="lin" valueType="num">
                                      <p:cBhvr>
                                        <p:cTn id="123" dur="500" fill="hold"/>
                                        <p:tgtEl>
                                          <p:spTgt spid="18"/>
                                        </p:tgtEl>
                                        <p:attrNameLst>
                                          <p:attrName>ppt_h</p:attrName>
                                        </p:attrNameLst>
                                      </p:cBhvr>
                                      <p:tavLst>
                                        <p:tav tm="0">
                                          <p:val>
                                            <p:fltVal val="0"/>
                                          </p:val>
                                        </p:tav>
                                        <p:tav tm="100000">
                                          <p:val>
                                            <p:strVal val="#ppt_h"/>
                                          </p:val>
                                        </p:tav>
                                      </p:tavLst>
                                    </p:anim>
                                    <p:animEffect transition="in" filter="fade">
                                      <p:cBhvr>
                                        <p:cTn id="124" dur="500"/>
                                        <p:tgtEl>
                                          <p:spTgt spid="18"/>
                                        </p:tgtEl>
                                      </p:cBhvr>
                                    </p:animEffect>
                                  </p:childTnLst>
                                </p:cTn>
                              </p:par>
                            </p:childTnLst>
                          </p:cTn>
                        </p:par>
                        <p:par>
                          <p:cTn id="125" fill="hold">
                            <p:stCondLst>
                              <p:cond delay="500"/>
                            </p:stCondLst>
                            <p:childTnLst>
                              <p:par>
                                <p:cTn id="126" presetID="53" presetClass="entr" presetSubtype="16" fill="hold" grpId="0" nodeType="afterEffect">
                                  <p:stCondLst>
                                    <p:cond delay="0"/>
                                  </p:stCondLst>
                                  <p:childTnLst>
                                    <p:set>
                                      <p:cBhvr>
                                        <p:cTn id="127" dur="1" fill="hold">
                                          <p:stCondLst>
                                            <p:cond delay="0"/>
                                          </p:stCondLst>
                                        </p:cTn>
                                        <p:tgtEl>
                                          <p:spTgt spid="19"/>
                                        </p:tgtEl>
                                        <p:attrNameLst>
                                          <p:attrName>style.visibility</p:attrName>
                                        </p:attrNameLst>
                                      </p:cBhvr>
                                      <p:to>
                                        <p:strVal val="visible"/>
                                      </p:to>
                                    </p:set>
                                    <p:anim calcmode="lin" valueType="num">
                                      <p:cBhvr>
                                        <p:cTn id="128" dur="500" fill="hold"/>
                                        <p:tgtEl>
                                          <p:spTgt spid="19"/>
                                        </p:tgtEl>
                                        <p:attrNameLst>
                                          <p:attrName>ppt_w</p:attrName>
                                        </p:attrNameLst>
                                      </p:cBhvr>
                                      <p:tavLst>
                                        <p:tav tm="0">
                                          <p:val>
                                            <p:fltVal val="0"/>
                                          </p:val>
                                        </p:tav>
                                        <p:tav tm="100000">
                                          <p:val>
                                            <p:strVal val="#ppt_w"/>
                                          </p:val>
                                        </p:tav>
                                      </p:tavLst>
                                    </p:anim>
                                    <p:anim calcmode="lin" valueType="num">
                                      <p:cBhvr>
                                        <p:cTn id="129" dur="500" fill="hold"/>
                                        <p:tgtEl>
                                          <p:spTgt spid="19"/>
                                        </p:tgtEl>
                                        <p:attrNameLst>
                                          <p:attrName>ppt_h</p:attrName>
                                        </p:attrNameLst>
                                      </p:cBhvr>
                                      <p:tavLst>
                                        <p:tav tm="0">
                                          <p:val>
                                            <p:fltVal val="0"/>
                                          </p:val>
                                        </p:tav>
                                        <p:tav tm="100000">
                                          <p:val>
                                            <p:strVal val="#ppt_h"/>
                                          </p:val>
                                        </p:tav>
                                      </p:tavLst>
                                    </p:anim>
                                    <p:animEffect transition="in" filter="fade">
                                      <p:cBhvr>
                                        <p:cTn id="130" dur="500"/>
                                        <p:tgtEl>
                                          <p:spTgt spid="19"/>
                                        </p:tgtEl>
                                      </p:cBhvr>
                                    </p:animEffect>
                                  </p:childTnLst>
                                </p:cTn>
                              </p:par>
                            </p:childTnLst>
                          </p:cTn>
                        </p:par>
                        <p:par>
                          <p:cTn id="131" fill="hold">
                            <p:stCondLst>
                              <p:cond delay="1000"/>
                            </p:stCondLst>
                            <p:childTnLst>
                              <p:par>
                                <p:cTn id="132" presetID="53" presetClass="entr" presetSubtype="16" fill="hold" grpId="0" nodeType="afterEffect">
                                  <p:stCondLst>
                                    <p:cond delay="0"/>
                                  </p:stCondLst>
                                  <p:childTnLst>
                                    <p:set>
                                      <p:cBhvr>
                                        <p:cTn id="133" dur="1" fill="hold">
                                          <p:stCondLst>
                                            <p:cond delay="0"/>
                                          </p:stCondLst>
                                        </p:cTn>
                                        <p:tgtEl>
                                          <p:spTgt spid="20"/>
                                        </p:tgtEl>
                                        <p:attrNameLst>
                                          <p:attrName>style.visibility</p:attrName>
                                        </p:attrNameLst>
                                      </p:cBhvr>
                                      <p:to>
                                        <p:strVal val="visible"/>
                                      </p:to>
                                    </p:set>
                                    <p:anim calcmode="lin" valueType="num">
                                      <p:cBhvr>
                                        <p:cTn id="134" dur="500" fill="hold"/>
                                        <p:tgtEl>
                                          <p:spTgt spid="20"/>
                                        </p:tgtEl>
                                        <p:attrNameLst>
                                          <p:attrName>ppt_w</p:attrName>
                                        </p:attrNameLst>
                                      </p:cBhvr>
                                      <p:tavLst>
                                        <p:tav tm="0">
                                          <p:val>
                                            <p:fltVal val="0"/>
                                          </p:val>
                                        </p:tav>
                                        <p:tav tm="100000">
                                          <p:val>
                                            <p:strVal val="#ppt_w"/>
                                          </p:val>
                                        </p:tav>
                                      </p:tavLst>
                                    </p:anim>
                                    <p:anim calcmode="lin" valueType="num">
                                      <p:cBhvr>
                                        <p:cTn id="135" dur="500" fill="hold"/>
                                        <p:tgtEl>
                                          <p:spTgt spid="20"/>
                                        </p:tgtEl>
                                        <p:attrNameLst>
                                          <p:attrName>ppt_h</p:attrName>
                                        </p:attrNameLst>
                                      </p:cBhvr>
                                      <p:tavLst>
                                        <p:tav tm="0">
                                          <p:val>
                                            <p:fltVal val="0"/>
                                          </p:val>
                                        </p:tav>
                                        <p:tav tm="100000">
                                          <p:val>
                                            <p:strVal val="#ppt_h"/>
                                          </p:val>
                                        </p:tav>
                                      </p:tavLst>
                                    </p:anim>
                                    <p:animEffect transition="in" filter="fade">
                                      <p:cBhvr>
                                        <p:cTn id="13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P spid="13" grpId="0"/>
      <p:bldP spid="14" grpId="0"/>
      <p:bldP spid="15" grpId="0"/>
      <p:bldP spid="16" grpId="0"/>
      <p:bldP spid="17" grpId="0"/>
      <p:bldP spid="18" grpId="0"/>
      <p:bldP spid="19" grpId="0"/>
      <p:bldP spid="2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D08E732-1414-469C-8E48-706900FE1597}"/>
              </a:ext>
            </a:extLst>
          </p:cNvPr>
          <p:cNvSpPr>
            <a:spLocks noGrp="1"/>
          </p:cNvSpPr>
          <p:nvPr>
            <p:ph type="dt" sz="half" idx="10"/>
          </p:nvPr>
        </p:nvSpPr>
        <p:spPr/>
        <p:txBody>
          <a:bodyPr/>
          <a:lstStyle/>
          <a:p>
            <a:pPr>
              <a:defRPr/>
            </a:pPr>
            <a:r>
              <a:rPr lang="en-US" altLang="zh-CN"/>
              <a:t>Fall 2024</a:t>
            </a:r>
            <a:endParaRPr lang="en-US"/>
          </a:p>
        </p:txBody>
      </p:sp>
      <p:sp>
        <p:nvSpPr>
          <p:cNvPr id="3" name="页脚占位符 2">
            <a:extLst>
              <a:ext uri="{FF2B5EF4-FFF2-40B4-BE49-F238E27FC236}">
                <a16:creationId xmlns:a16="http://schemas.microsoft.com/office/drawing/2014/main" id="{7B97F336-8464-41F2-B2AC-815B03A1D69F}"/>
              </a:ext>
            </a:extLst>
          </p:cNvPr>
          <p:cNvSpPr>
            <a:spLocks noGrp="1"/>
          </p:cNvSpPr>
          <p:nvPr>
            <p:ph type="ftr" sz="quarter" idx="11"/>
          </p:nvPr>
        </p:nvSpPr>
        <p:spPr/>
        <p:txBody>
          <a:bodyPr/>
          <a:lstStyle/>
          <a:p>
            <a:pPr>
              <a:defRPr/>
            </a:pPr>
            <a:r>
              <a:rPr lang="en-US"/>
              <a:t>BUPT Compilers</a:t>
            </a:r>
          </a:p>
        </p:txBody>
      </p:sp>
      <p:sp>
        <p:nvSpPr>
          <p:cNvPr id="4" name="灯片编号占位符 3">
            <a:extLst>
              <a:ext uri="{FF2B5EF4-FFF2-40B4-BE49-F238E27FC236}">
                <a16:creationId xmlns:a16="http://schemas.microsoft.com/office/drawing/2014/main" id="{69899B97-F542-4EF3-AB69-EFA74738DA62}"/>
              </a:ext>
            </a:extLst>
          </p:cNvPr>
          <p:cNvSpPr>
            <a:spLocks noGrp="1"/>
          </p:cNvSpPr>
          <p:nvPr>
            <p:ph type="sldNum" sz="quarter" idx="12"/>
          </p:nvPr>
        </p:nvSpPr>
        <p:spPr/>
        <p:txBody>
          <a:bodyPr/>
          <a:lstStyle/>
          <a:p>
            <a:pPr>
              <a:defRPr/>
            </a:pPr>
            <a:fld id="{2FBC720A-3716-234A-B2DF-CBC7E48049F5}" type="slidenum">
              <a:rPr lang="en-US" altLang="zh-CN" smtClean="0"/>
              <a:t>68</a:t>
            </a:fld>
            <a:endParaRPr lang="en-US" altLang="zh-CN"/>
          </a:p>
        </p:txBody>
      </p:sp>
      <p:sp>
        <p:nvSpPr>
          <p:cNvPr id="6" name="Rectangle 4">
            <a:extLst>
              <a:ext uri="{FF2B5EF4-FFF2-40B4-BE49-F238E27FC236}">
                <a16:creationId xmlns:a16="http://schemas.microsoft.com/office/drawing/2014/main" id="{AF4A2E6D-3F69-4408-B5CA-2A11907AF40D}"/>
              </a:ext>
            </a:extLst>
          </p:cNvPr>
          <p:cNvSpPr txBox="1">
            <a:spLocks noChangeArrowheads="1"/>
          </p:cNvSpPr>
          <p:nvPr/>
        </p:nvSpPr>
        <p:spPr>
          <a:xfrm>
            <a:off x="755650" y="268288"/>
            <a:ext cx="7931150" cy="358775"/>
          </a:xfrm>
          <a:prstGeom prst="rect">
            <a:avLst/>
          </a:prstGeom>
        </p:spPr>
        <p:txBody>
          <a:bodyPr/>
          <a:lstStyle>
            <a:lvl1pPr algn="l" defTabSz="914400">
              <a:lnSpc>
                <a:spcPct val="90000"/>
              </a:lnSpc>
              <a:spcBef>
                <a:spcPts val="0"/>
              </a:spcBef>
              <a:buNone/>
              <a:defRPr sz="4400">
                <a:solidFill>
                  <a:schemeClr val="tx1"/>
                </a:solidFill>
                <a:latin typeface="Ubuntu Mono derivative Powerlin"/>
                <a:ea typeface="+mj-ea"/>
                <a:cs typeface="+mj-cs"/>
              </a:defRPr>
            </a:lvl1pPr>
          </a:lstStyle>
          <a:p>
            <a:pPr>
              <a:defRPr/>
            </a:pPr>
            <a:r>
              <a:rPr lang="zh-CN" altLang="en-US" sz="3000" spc="300">
                <a:latin typeface="微软雅黑" pitchFamily="34" charset="-122"/>
                <a:ea typeface="微软雅黑" pitchFamily="34" charset="-122"/>
                <a:cs typeface="Times New Roman" pitchFamily="18" charset="0"/>
              </a:rPr>
              <a:t>数组引用的</a:t>
            </a:r>
            <a:r>
              <a:rPr lang="en-US" altLang="zh-CN" sz="3000" i="1">
                <a:cs typeface="Times New Roman" pitchFamily="18" charset="0"/>
              </a:rPr>
              <a:t>SDT</a:t>
            </a:r>
            <a:endParaRPr lang="en-US" altLang="zh-CN" sz="3000" i="1" dirty="0">
              <a:effectLst>
                <a:outerShdw blurRad="38100" dist="38100" dir="2700000" algn="tl">
                  <a:srgbClr val="C0C0C0"/>
                </a:outerShdw>
              </a:effectLst>
              <a:cs typeface="Times New Roman" pitchFamily="18" charset="0"/>
            </a:endParaRPr>
          </a:p>
        </p:txBody>
      </p:sp>
      <p:sp>
        <p:nvSpPr>
          <p:cNvPr id="7" name="Rectangle 8">
            <a:extLst>
              <a:ext uri="{FF2B5EF4-FFF2-40B4-BE49-F238E27FC236}">
                <a16:creationId xmlns:a16="http://schemas.microsoft.com/office/drawing/2014/main" id="{92999674-DBB1-4333-9BD4-8D5468A0BE54}"/>
              </a:ext>
            </a:extLst>
          </p:cNvPr>
          <p:cNvSpPr>
            <a:spLocks noChangeArrowheads="1"/>
          </p:cNvSpPr>
          <p:nvPr/>
        </p:nvSpPr>
        <p:spPr bwMode="auto">
          <a:xfrm>
            <a:off x="3814763" y="123825"/>
            <a:ext cx="5186362" cy="628650"/>
          </a:xfrm>
          <a:prstGeom prst="rect">
            <a:avLst/>
          </a:prstGeom>
          <a:solidFill>
            <a:schemeClr val="accent5">
              <a:lumMod val="60000"/>
              <a:lumOff val="40000"/>
            </a:schemeClr>
          </a:solidFill>
          <a:ln w="12700">
            <a:solidFill>
              <a:schemeClr val="tx1"/>
            </a:solidFill>
            <a:miter lim="800000"/>
            <a:headEnd/>
            <a:tailEnd/>
          </a:ln>
        </p:spPr>
        <p:txBody>
          <a:bodyPr lIns="68580" tIns="34290" rIns="68580" bIns="34290" anchor="b"/>
          <a:lstStyle/>
          <a:p>
            <a:pPr marL="0" lvl="1" indent="0" eaLnBrk="1" hangingPunct="1">
              <a:defRPr/>
            </a:pPr>
            <a:r>
              <a:rPr lang="zh-CN" altLang="en-US" sz="2000" b="1" dirty="0">
                <a:solidFill>
                  <a:prstClr val="black"/>
                </a:solidFill>
                <a:latin typeface="Times New Roman" pitchFamily="18" charset="0"/>
                <a:ea typeface="楷体" pitchFamily="49" charset="-122"/>
                <a:cs typeface="Times New Roman" pitchFamily="18" charset="0"/>
              </a:rPr>
              <a:t>假设 </a:t>
            </a:r>
            <a:r>
              <a:rPr lang="en-US" altLang="zh-CN" sz="2000" b="1" i="1" dirty="0">
                <a:solidFill>
                  <a:prstClr val="black"/>
                </a:solidFill>
                <a:latin typeface="Times New Roman" pitchFamily="18" charset="0"/>
                <a:ea typeface="楷体" pitchFamily="49" charset="-122"/>
                <a:cs typeface="Times New Roman" pitchFamily="18" charset="0"/>
              </a:rPr>
              <a:t>type</a:t>
            </a:r>
            <a:r>
              <a:rPr lang="en-US" altLang="zh-CN" sz="2000" b="1" dirty="0">
                <a:solidFill>
                  <a:prstClr val="black"/>
                </a:solidFill>
                <a:latin typeface="Times New Roman" pitchFamily="18" charset="0"/>
                <a:ea typeface="楷体" pitchFamily="49" charset="-122"/>
                <a:cs typeface="Times New Roman" pitchFamily="18" charset="0"/>
              </a:rPr>
              <a:t>(</a:t>
            </a:r>
            <a:r>
              <a:rPr lang="en-US" altLang="zh-CN" sz="2000" b="1" i="1" dirty="0">
                <a:solidFill>
                  <a:prstClr val="black"/>
                </a:solidFill>
                <a:latin typeface="Times New Roman" pitchFamily="18" charset="0"/>
                <a:ea typeface="楷体" pitchFamily="49" charset="-122"/>
                <a:cs typeface="Times New Roman" pitchFamily="18" charset="0"/>
              </a:rPr>
              <a:t>a</a:t>
            </a:r>
            <a:r>
              <a:rPr lang="en-US" altLang="zh-CN" sz="2000" b="1" dirty="0">
                <a:solidFill>
                  <a:prstClr val="black"/>
                </a:solidFill>
                <a:latin typeface="Times New Roman" pitchFamily="18" charset="0"/>
                <a:ea typeface="楷体" pitchFamily="49" charset="-122"/>
                <a:cs typeface="Times New Roman" pitchFamily="18" charset="0"/>
              </a:rPr>
              <a:t>)</a:t>
            </a:r>
            <a:r>
              <a:rPr lang="en-US" altLang="zh-CN" sz="2000" b="1" i="1" dirty="0">
                <a:solidFill>
                  <a:prstClr val="black"/>
                </a:solidFill>
                <a:latin typeface="Times New Roman" pitchFamily="18" charset="0"/>
                <a:ea typeface="楷体" pitchFamily="49" charset="-122"/>
                <a:cs typeface="Times New Roman" pitchFamily="18" charset="0"/>
              </a:rPr>
              <a:t>= array</a:t>
            </a:r>
            <a:r>
              <a:rPr lang="en-US" altLang="zh-CN" sz="2000" b="1" dirty="0">
                <a:solidFill>
                  <a:prstClr val="black"/>
                </a:solidFill>
                <a:latin typeface="Times New Roman" pitchFamily="18" charset="0"/>
                <a:ea typeface="楷体" pitchFamily="49" charset="-122"/>
                <a:cs typeface="Times New Roman" pitchFamily="18" charset="0"/>
              </a:rPr>
              <a:t>(3, </a:t>
            </a:r>
            <a:r>
              <a:rPr lang="en-US" altLang="zh-CN" sz="2000" b="1" i="1" dirty="0">
                <a:solidFill>
                  <a:prstClr val="black"/>
                </a:solidFill>
                <a:latin typeface="Times New Roman" pitchFamily="18" charset="0"/>
                <a:ea typeface="楷体" pitchFamily="49" charset="-122"/>
                <a:cs typeface="Times New Roman" pitchFamily="18" charset="0"/>
              </a:rPr>
              <a:t>array</a:t>
            </a:r>
            <a:r>
              <a:rPr lang="en-US" altLang="zh-CN" sz="2000" b="1" dirty="0">
                <a:solidFill>
                  <a:prstClr val="black"/>
                </a:solidFill>
                <a:latin typeface="Times New Roman" pitchFamily="18" charset="0"/>
                <a:ea typeface="楷体" pitchFamily="49" charset="-122"/>
                <a:cs typeface="Times New Roman" pitchFamily="18" charset="0"/>
              </a:rPr>
              <a:t>(5, </a:t>
            </a:r>
            <a:r>
              <a:rPr lang="en-US" altLang="zh-CN" sz="2000" b="1" i="1" dirty="0">
                <a:solidFill>
                  <a:prstClr val="black"/>
                </a:solidFill>
                <a:latin typeface="Times New Roman" pitchFamily="18" charset="0"/>
                <a:ea typeface="楷体" pitchFamily="49" charset="-122"/>
                <a:cs typeface="Times New Roman" pitchFamily="18" charset="0"/>
              </a:rPr>
              <a:t>array</a:t>
            </a:r>
            <a:r>
              <a:rPr lang="en-US" altLang="zh-CN" sz="2000" b="1" dirty="0">
                <a:solidFill>
                  <a:prstClr val="black"/>
                </a:solidFill>
                <a:latin typeface="Times New Roman" pitchFamily="18" charset="0"/>
                <a:ea typeface="楷体" pitchFamily="49" charset="-122"/>
                <a:cs typeface="Times New Roman" pitchFamily="18" charset="0"/>
              </a:rPr>
              <a:t>(8, </a:t>
            </a:r>
            <a:r>
              <a:rPr lang="en-US" altLang="zh-CN" sz="2000" b="1" i="1" dirty="0" err="1">
                <a:solidFill>
                  <a:prstClr val="black"/>
                </a:solidFill>
                <a:latin typeface="Times New Roman" pitchFamily="18" charset="0"/>
                <a:ea typeface="楷体" pitchFamily="49" charset="-122"/>
                <a:cs typeface="Times New Roman" pitchFamily="18" charset="0"/>
              </a:rPr>
              <a:t>int</a:t>
            </a:r>
            <a:r>
              <a:rPr lang="en-US" altLang="zh-CN" sz="2000" b="1" dirty="0">
                <a:solidFill>
                  <a:prstClr val="black"/>
                </a:solidFill>
                <a:latin typeface="Times New Roman" pitchFamily="18" charset="0"/>
                <a:ea typeface="楷体" pitchFamily="49" charset="-122"/>
                <a:cs typeface="Times New Roman" pitchFamily="18" charset="0"/>
              </a:rPr>
              <a:t>) ) )</a:t>
            </a:r>
            <a:r>
              <a:rPr lang="zh-CN" altLang="en-US" sz="2000" b="1" dirty="0">
                <a:solidFill>
                  <a:prstClr val="black"/>
                </a:solidFill>
                <a:latin typeface="Times New Roman" pitchFamily="18" charset="0"/>
                <a:ea typeface="楷体" pitchFamily="49" charset="-122"/>
                <a:cs typeface="Times New Roman" pitchFamily="18" charset="0"/>
              </a:rPr>
              <a:t>，</a:t>
            </a:r>
            <a:br>
              <a:rPr lang="zh-CN" altLang="en-US" sz="2000" b="1" dirty="0">
                <a:solidFill>
                  <a:prstClr val="black"/>
                </a:solidFill>
                <a:latin typeface="Times New Roman" pitchFamily="18" charset="0"/>
                <a:ea typeface="楷体" pitchFamily="49" charset="-122"/>
                <a:cs typeface="Times New Roman" pitchFamily="18" charset="0"/>
              </a:rPr>
            </a:br>
            <a:r>
              <a:rPr lang="zh-CN" altLang="en-US" sz="2000" b="1" dirty="0">
                <a:solidFill>
                  <a:prstClr val="black"/>
                </a:solidFill>
                <a:latin typeface="Times New Roman" pitchFamily="18" charset="0"/>
                <a:ea typeface="楷体" pitchFamily="49" charset="-122"/>
                <a:cs typeface="Times New Roman" pitchFamily="18" charset="0"/>
              </a:rPr>
              <a:t>翻译语句片段“</a:t>
            </a:r>
            <a:r>
              <a:rPr lang="en-US" altLang="zh-CN" sz="2000" b="1" i="1" dirty="0">
                <a:solidFill>
                  <a:prstClr val="black"/>
                </a:solidFill>
                <a:latin typeface="Times New Roman" pitchFamily="18" charset="0"/>
                <a:ea typeface="楷体" pitchFamily="49" charset="-122"/>
                <a:cs typeface="Times New Roman" pitchFamily="18" charset="0"/>
              </a:rPr>
              <a:t>a</a:t>
            </a:r>
            <a:r>
              <a:rPr lang="en-US" altLang="zh-CN" sz="2000" b="1" dirty="0">
                <a:solidFill>
                  <a:prstClr val="black"/>
                </a:solidFill>
                <a:latin typeface="Times New Roman" pitchFamily="18" charset="0"/>
                <a:ea typeface="楷体" pitchFamily="49" charset="-122"/>
                <a:cs typeface="Times New Roman" pitchFamily="18" charset="0"/>
              </a:rPr>
              <a:t>[</a:t>
            </a:r>
            <a:r>
              <a:rPr lang="en-US" altLang="zh-CN" sz="2000" b="1" i="1" dirty="0">
                <a:solidFill>
                  <a:prstClr val="black"/>
                </a:solidFill>
                <a:latin typeface="Times New Roman" pitchFamily="18" charset="0"/>
                <a:ea typeface="楷体" pitchFamily="49" charset="-122"/>
                <a:cs typeface="Times New Roman" pitchFamily="18" charset="0"/>
              </a:rPr>
              <a:t>i</a:t>
            </a:r>
            <a:r>
              <a:rPr lang="en-US" altLang="zh-CN" sz="2000" b="1" baseline="-25000" dirty="0">
                <a:solidFill>
                  <a:prstClr val="black"/>
                </a:solidFill>
                <a:latin typeface="Times New Roman" pitchFamily="18" charset="0"/>
                <a:ea typeface="楷体" pitchFamily="49" charset="-122"/>
                <a:cs typeface="Times New Roman" pitchFamily="18" charset="0"/>
              </a:rPr>
              <a:t>1</a:t>
            </a:r>
            <a:r>
              <a:rPr lang="en-US" altLang="zh-CN" sz="2000" b="1" dirty="0">
                <a:solidFill>
                  <a:prstClr val="black"/>
                </a:solidFill>
                <a:latin typeface="Times New Roman" pitchFamily="18" charset="0"/>
                <a:ea typeface="楷体" pitchFamily="49" charset="-122"/>
                <a:cs typeface="Times New Roman" pitchFamily="18" charset="0"/>
              </a:rPr>
              <a:t>][</a:t>
            </a:r>
            <a:r>
              <a:rPr lang="en-US" altLang="zh-CN" sz="2000" b="1" i="1" dirty="0">
                <a:solidFill>
                  <a:prstClr val="black"/>
                </a:solidFill>
                <a:latin typeface="Times New Roman" pitchFamily="18" charset="0"/>
                <a:ea typeface="楷体" pitchFamily="49" charset="-122"/>
                <a:cs typeface="Times New Roman" pitchFamily="18" charset="0"/>
              </a:rPr>
              <a:t>i</a:t>
            </a:r>
            <a:r>
              <a:rPr lang="en-US" altLang="zh-CN" sz="2000" b="1" baseline="-25000" dirty="0">
                <a:solidFill>
                  <a:prstClr val="black"/>
                </a:solidFill>
                <a:latin typeface="Times New Roman" pitchFamily="18" charset="0"/>
                <a:ea typeface="楷体" pitchFamily="49" charset="-122"/>
                <a:cs typeface="Times New Roman" pitchFamily="18" charset="0"/>
              </a:rPr>
              <a:t>2</a:t>
            </a:r>
            <a:r>
              <a:rPr lang="en-US" altLang="zh-CN" sz="2000" b="1" dirty="0">
                <a:solidFill>
                  <a:prstClr val="black"/>
                </a:solidFill>
                <a:latin typeface="Times New Roman" pitchFamily="18" charset="0"/>
                <a:ea typeface="楷体" pitchFamily="49" charset="-122"/>
                <a:cs typeface="Times New Roman" pitchFamily="18" charset="0"/>
              </a:rPr>
              <a:t>][</a:t>
            </a:r>
            <a:r>
              <a:rPr lang="en-US" altLang="zh-CN" sz="2000" b="1" i="1" dirty="0">
                <a:solidFill>
                  <a:prstClr val="black"/>
                </a:solidFill>
                <a:latin typeface="Times New Roman" pitchFamily="18" charset="0"/>
                <a:ea typeface="楷体" pitchFamily="49" charset="-122"/>
                <a:cs typeface="Times New Roman" pitchFamily="18" charset="0"/>
              </a:rPr>
              <a:t>i</a:t>
            </a:r>
            <a:r>
              <a:rPr lang="en-US" altLang="zh-CN" sz="2000" b="1" baseline="-25000" dirty="0">
                <a:solidFill>
                  <a:prstClr val="black"/>
                </a:solidFill>
                <a:latin typeface="Times New Roman" pitchFamily="18" charset="0"/>
                <a:ea typeface="楷体" pitchFamily="49" charset="-122"/>
                <a:cs typeface="Times New Roman" pitchFamily="18" charset="0"/>
              </a:rPr>
              <a:t>3</a:t>
            </a:r>
            <a:r>
              <a:rPr lang="en-US" altLang="zh-CN" sz="2000" b="1" dirty="0">
                <a:solidFill>
                  <a:prstClr val="black"/>
                </a:solidFill>
                <a:latin typeface="Times New Roman" pitchFamily="18" charset="0"/>
                <a:ea typeface="楷体" pitchFamily="49" charset="-122"/>
                <a:cs typeface="Times New Roman" pitchFamily="18" charset="0"/>
              </a:rPr>
              <a:t>]</a:t>
            </a:r>
            <a:r>
              <a:rPr lang="zh-CN" altLang="en-US" sz="2000" b="1" dirty="0">
                <a:solidFill>
                  <a:prstClr val="black"/>
                </a:solidFill>
                <a:latin typeface="Times New Roman" pitchFamily="18" charset="0"/>
                <a:ea typeface="楷体" pitchFamily="49" charset="-122"/>
                <a:cs typeface="Times New Roman" pitchFamily="18" charset="0"/>
              </a:rPr>
              <a:t>”</a:t>
            </a:r>
          </a:p>
        </p:txBody>
      </p:sp>
      <p:sp>
        <p:nvSpPr>
          <p:cNvPr id="8" name="Rectangle 20">
            <a:extLst>
              <a:ext uri="{FF2B5EF4-FFF2-40B4-BE49-F238E27FC236}">
                <a16:creationId xmlns:a16="http://schemas.microsoft.com/office/drawing/2014/main" id="{B8CE4C33-50A8-474F-BC11-A22E0DF35F3F}"/>
              </a:ext>
            </a:extLst>
          </p:cNvPr>
          <p:cNvSpPr>
            <a:spLocks noChangeArrowheads="1"/>
          </p:cNvSpPr>
          <p:nvPr/>
        </p:nvSpPr>
        <p:spPr bwMode="auto">
          <a:xfrm>
            <a:off x="5253038" y="3714750"/>
            <a:ext cx="1196975"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1600" b="1" i="1" dirty="0" err="1">
                <a:solidFill>
                  <a:srgbClr val="0080FF"/>
                </a:solidFill>
                <a:latin typeface="Times New Roman" panose="02020603050405020304" pitchFamily="18" charset="0"/>
                <a:ea typeface="楷体_GB2312"/>
                <a:cs typeface="Times New Roman" panose="02020603050405020304" pitchFamily="18" charset="0"/>
              </a:rPr>
              <a:t>addr</a:t>
            </a:r>
            <a:r>
              <a:rPr lang="en-US" altLang="zh-CN" sz="1600" b="1" i="1" dirty="0">
                <a:solidFill>
                  <a:srgbClr val="0080FF"/>
                </a:solidFill>
                <a:latin typeface="Times New Roman" panose="02020603050405020304" pitchFamily="18" charset="0"/>
                <a:ea typeface="楷体_GB2312"/>
                <a:cs typeface="Times New Roman" panose="02020603050405020304" pitchFamily="18" charset="0"/>
              </a:rPr>
              <a:t>=t</a:t>
            </a:r>
            <a:r>
              <a:rPr lang="en-US" altLang="zh-CN" sz="1600" b="1" baseline="-25000" dirty="0">
                <a:solidFill>
                  <a:srgbClr val="0080FF"/>
                </a:solidFill>
                <a:latin typeface="Times New Roman" panose="02020603050405020304" pitchFamily="18" charset="0"/>
                <a:ea typeface="楷体_GB2312"/>
                <a:cs typeface="Times New Roman" panose="02020603050405020304" pitchFamily="18" charset="0"/>
              </a:rPr>
              <a:t>1</a:t>
            </a:r>
          </a:p>
        </p:txBody>
      </p:sp>
      <p:sp>
        <p:nvSpPr>
          <p:cNvPr id="9" name="Rectangle 38">
            <a:extLst>
              <a:ext uri="{FF2B5EF4-FFF2-40B4-BE49-F238E27FC236}">
                <a16:creationId xmlns:a16="http://schemas.microsoft.com/office/drawing/2014/main" id="{7931BBB6-3F09-417F-B338-FD6E1299B1D4}"/>
              </a:ext>
            </a:extLst>
          </p:cNvPr>
          <p:cNvSpPr>
            <a:spLocks noChangeArrowheads="1"/>
          </p:cNvSpPr>
          <p:nvPr/>
        </p:nvSpPr>
        <p:spPr bwMode="auto">
          <a:xfrm>
            <a:off x="5275263" y="3500438"/>
            <a:ext cx="2376487"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b="1" i="1" dirty="0">
                <a:solidFill>
                  <a:srgbClr val="0080FF"/>
                </a:solidFill>
                <a:latin typeface="Times New Roman" panose="02020603050405020304" pitchFamily="18" charset="0"/>
                <a:ea typeface="楷体_GB2312"/>
                <a:cs typeface="Times New Roman" panose="02020603050405020304" pitchFamily="18" charset="0"/>
              </a:rPr>
              <a:t>type=array</a:t>
            </a:r>
            <a:r>
              <a:rPr kumimoji="1" lang="en-US" altLang="zh-CN" sz="1600" b="1" dirty="0">
                <a:solidFill>
                  <a:srgbClr val="0080FF"/>
                </a:solidFill>
                <a:latin typeface="Times New Roman" panose="02020603050405020304" pitchFamily="18" charset="0"/>
                <a:ea typeface="楷体_GB2312"/>
                <a:cs typeface="Times New Roman" panose="02020603050405020304" pitchFamily="18" charset="0"/>
              </a:rPr>
              <a:t>(</a:t>
            </a:r>
            <a:r>
              <a:rPr kumimoji="1" lang="en-US" altLang="zh-CN" sz="1600" b="1" i="1" dirty="0">
                <a:solidFill>
                  <a:srgbClr val="0080FF"/>
                </a:solidFill>
                <a:latin typeface="Times New Roman" panose="02020603050405020304" pitchFamily="18" charset="0"/>
                <a:ea typeface="楷体_GB2312"/>
                <a:cs typeface="Times New Roman" panose="02020603050405020304" pitchFamily="18" charset="0"/>
              </a:rPr>
              <a:t>5</a:t>
            </a:r>
            <a:r>
              <a:rPr kumimoji="1" lang="en-US" altLang="zh-CN" sz="1600" b="1" dirty="0">
                <a:solidFill>
                  <a:srgbClr val="0080FF"/>
                </a:solidFill>
                <a:latin typeface="Times New Roman" panose="02020603050405020304" pitchFamily="18" charset="0"/>
                <a:ea typeface="楷体_GB2312"/>
                <a:cs typeface="Times New Roman" panose="02020603050405020304" pitchFamily="18" charset="0"/>
              </a:rPr>
              <a:t>,</a:t>
            </a:r>
            <a:r>
              <a:rPr kumimoji="1" lang="en-US" altLang="zh-CN" sz="1600" b="1" i="1" dirty="0">
                <a:solidFill>
                  <a:srgbClr val="0080FF"/>
                </a:solidFill>
                <a:latin typeface="Times New Roman" panose="02020603050405020304" pitchFamily="18" charset="0"/>
                <a:ea typeface="楷体_GB2312"/>
                <a:cs typeface="Times New Roman" panose="02020603050405020304" pitchFamily="18" charset="0"/>
              </a:rPr>
              <a:t> array</a:t>
            </a:r>
            <a:r>
              <a:rPr kumimoji="1" lang="en-US" altLang="zh-CN" sz="1600" b="1" dirty="0">
                <a:solidFill>
                  <a:srgbClr val="0080FF"/>
                </a:solidFill>
                <a:latin typeface="Times New Roman" panose="02020603050405020304" pitchFamily="18" charset="0"/>
                <a:ea typeface="楷体_GB2312"/>
                <a:cs typeface="Times New Roman" panose="02020603050405020304" pitchFamily="18" charset="0"/>
              </a:rPr>
              <a:t>(</a:t>
            </a:r>
            <a:r>
              <a:rPr kumimoji="1" lang="en-US" altLang="zh-CN" sz="1600" b="1" i="1" dirty="0">
                <a:solidFill>
                  <a:srgbClr val="0080FF"/>
                </a:solidFill>
                <a:latin typeface="Times New Roman" panose="02020603050405020304" pitchFamily="18" charset="0"/>
                <a:ea typeface="楷体_GB2312"/>
                <a:cs typeface="Times New Roman" panose="02020603050405020304" pitchFamily="18" charset="0"/>
              </a:rPr>
              <a:t>8</a:t>
            </a:r>
            <a:r>
              <a:rPr kumimoji="1" lang="en-US" altLang="zh-CN" sz="1600" b="1" dirty="0">
                <a:solidFill>
                  <a:srgbClr val="0080FF"/>
                </a:solidFill>
                <a:latin typeface="Times New Roman" panose="02020603050405020304" pitchFamily="18" charset="0"/>
                <a:ea typeface="楷体_GB2312"/>
                <a:cs typeface="Times New Roman" panose="02020603050405020304" pitchFamily="18" charset="0"/>
              </a:rPr>
              <a:t>,</a:t>
            </a:r>
            <a:r>
              <a:rPr kumimoji="1" lang="en-US" altLang="zh-CN" sz="1600" b="1" i="1" dirty="0">
                <a:solidFill>
                  <a:srgbClr val="0080FF"/>
                </a:solidFill>
                <a:latin typeface="Times New Roman" panose="02020603050405020304" pitchFamily="18" charset="0"/>
                <a:ea typeface="楷体_GB2312"/>
                <a:cs typeface="Times New Roman" panose="02020603050405020304" pitchFamily="18" charset="0"/>
              </a:rPr>
              <a:t>int</a:t>
            </a:r>
            <a:r>
              <a:rPr kumimoji="1" lang="en-US" altLang="zh-CN" sz="1600" b="1" dirty="0">
                <a:solidFill>
                  <a:srgbClr val="0080FF"/>
                </a:solidFill>
                <a:latin typeface="Times New Roman" panose="02020603050405020304" pitchFamily="18" charset="0"/>
                <a:ea typeface="楷体_GB2312"/>
                <a:cs typeface="Times New Roman" panose="02020603050405020304" pitchFamily="18" charset="0"/>
              </a:rPr>
              <a:t>))</a:t>
            </a:r>
            <a:endParaRPr kumimoji="1" lang="zh-CN" altLang="en-US" sz="1600" b="1" dirty="0">
              <a:solidFill>
                <a:srgbClr val="0080FF"/>
              </a:solidFill>
              <a:latin typeface="Times New Roman" panose="02020603050405020304" pitchFamily="18" charset="0"/>
              <a:ea typeface="楷体_GB2312"/>
              <a:cs typeface="Times New Roman" panose="02020603050405020304" pitchFamily="18" charset="0"/>
            </a:endParaRPr>
          </a:p>
        </p:txBody>
      </p:sp>
      <p:sp>
        <p:nvSpPr>
          <p:cNvPr id="10" name="Rectangle 39">
            <a:extLst>
              <a:ext uri="{FF2B5EF4-FFF2-40B4-BE49-F238E27FC236}">
                <a16:creationId xmlns:a16="http://schemas.microsoft.com/office/drawing/2014/main" id="{2698672F-E572-44D9-A4E7-EBBACF44756E}"/>
              </a:ext>
            </a:extLst>
          </p:cNvPr>
          <p:cNvSpPr>
            <a:spLocks noChangeArrowheads="1"/>
          </p:cNvSpPr>
          <p:nvPr/>
        </p:nvSpPr>
        <p:spPr bwMode="auto">
          <a:xfrm>
            <a:off x="6061075" y="2928938"/>
            <a:ext cx="221615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b="1" i="1">
                <a:solidFill>
                  <a:srgbClr val="0080FF"/>
                </a:solidFill>
                <a:latin typeface="Times New Roman" panose="02020603050405020304" pitchFamily="18" charset="0"/>
                <a:ea typeface="楷体_GB2312"/>
                <a:cs typeface="Times New Roman" panose="02020603050405020304" pitchFamily="18" charset="0"/>
              </a:rPr>
              <a:t>type=array</a:t>
            </a:r>
            <a:r>
              <a:rPr kumimoji="1" lang="en-US" altLang="zh-CN" sz="1600" b="1">
                <a:solidFill>
                  <a:srgbClr val="0080FF"/>
                </a:solidFill>
                <a:latin typeface="Times New Roman" panose="02020603050405020304" pitchFamily="18" charset="0"/>
                <a:ea typeface="楷体_GB2312"/>
                <a:cs typeface="Times New Roman" panose="02020603050405020304" pitchFamily="18" charset="0"/>
              </a:rPr>
              <a:t>(</a:t>
            </a:r>
            <a:r>
              <a:rPr kumimoji="1" lang="zh-CN" altLang="en-US" sz="1600" b="1" i="1">
                <a:solidFill>
                  <a:srgbClr val="0080FF"/>
                </a:solidFill>
                <a:latin typeface="Times New Roman" panose="02020603050405020304" pitchFamily="18" charset="0"/>
                <a:ea typeface="楷体_GB2312"/>
                <a:cs typeface="Times New Roman" panose="02020603050405020304" pitchFamily="18" charset="0"/>
              </a:rPr>
              <a:t> </a:t>
            </a:r>
            <a:r>
              <a:rPr kumimoji="1" lang="en-US" altLang="zh-CN" sz="1600" b="1">
                <a:solidFill>
                  <a:srgbClr val="0080FF"/>
                </a:solidFill>
                <a:latin typeface="Times New Roman" panose="02020603050405020304" pitchFamily="18" charset="0"/>
                <a:ea typeface="楷体_GB2312"/>
                <a:cs typeface="Times New Roman" panose="02020603050405020304" pitchFamily="18" charset="0"/>
              </a:rPr>
              <a:t>8,</a:t>
            </a:r>
            <a:r>
              <a:rPr kumimoji="1" lang="en-US" altLang="zh-CN" sz="1600" b="1" i="1">
                <a:solidFill>
                  <a:srgbClr val="0080FF"/>
                </a:solidFill>
                <a:latin typeface="Times New Roman" panose="02020603050405020304" pitchFamily="18" charset="0"/>
                <a:ea typeface="楷体_GB2312"/>
                <a:cs typeface="Times New Roman" panose="02020603050405020304" pitchFamily="18" charset="0"/>
              </a:rPr>
              <a:t> int </a:t>
            </a:r>
            <a:r>
              <a:rPr kumimoji="1" lang="en-US" altLang="zh-CN" sz="1600" b="1">
                <a:solidFill>
                  <a:srgbClr val="0080FF"/>
                </a:solidFill>
                <a:latin typeface="Times New Roman" panose="02020603050405020304" pitchFamily="18" charset="0"/>
                <a:ea typeface="楷体_GB2312"/>
                <a:cs typeface="Times New Roman" panose="02020603050405020304" pitchFamily="18" charset="0"/>
              </a:rPr>
              <a:t>)</a:t>
            </a:r>
            <a:endParaRPr kumimoji="1" lang="zh-CN" altLang="en-US" sz="1600" b="1">
              <a:solidFill>
                <a:srgbClr val="0080FF"/>
              </a:solidFill>
              <a:latin typeface="Times New Roman" panose="02020603050405020304" pitchFamily="18" charset="0"/>
              <a:ea typeface="楷体_GB2312"/>
              <a:cs typeface="Times New Roman" panose="02020603050405020304" pitchFamily="18" charset="0"/>
            </a:endParaRPr>
          </a:p>
        </p:txBody>
      </p:sp>
      <p:sp>
        <p:nvSpPr>
          <p:cNvPr id="11" name="Rectangle 40">
            <a:extLst>
              <a:ext uri="{FF2B5EF4-FFF2-40B4-BE49-F238E27FC236}">
                <a16:creationId xmlns:a16="http://schemas.microsoft.com/office/drawing/2014/main" id="{09E921EC-5D9A-4812-8421-E5797FBF0413}"/>
              </a:ext>
            </a:extLst>
          </p:cNvPr>
          <p:cNvSpPr>
            <a:spLocks noChangeArrowheads="1"/>
          </p:cNvSpPr>
          <p:nvPr/>
        </p:nvSpPr>
        <p:spPr bwMode="auto">
          <a:xfrm>
            <a:off x="6983413" y="2249488"/>
            <a:ext cx="118903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600" b="1" i="1">
                <a:solidFill>
                  <a:srgbClr val="0080FF"/>
                </a:solidFill>
                <a:latin typeface="Times New Roman" panose="02020603050405020304" pitchFamily="18" charset="0"/>
                <a:ea typeface="楷体_GB2312"/>
                <a:cs typeface="Times New Roman" panose="02020603050405020304" pitchFamily="18" charset="0"/>
              </a:rPr>
              <a:t>type=int</a:t>
            </a:r>
            <a:endParaRPr kumimoji="1" lang="zh-CN" altLang="en-US" sz="1600" b="1" i="1">
              <a:solidFill>
                <a:srgbClr val="0080FF"/>
              </a:solidFill>
              <a:latin typeface="Times New Roman" panose="02020603050405020304" pitchFamily="18" charset="0"/>
              <a:ea typeface="楷体_GB2312"/>
              <a:cs typeface="Times New Roman" panose="02020603050405020304" pitchFamily="18" charset="0"/>
            </a:endParaRPr>
          </a:p>
        </p:txBody>
      </p:sp>
      <p:sp>
        <p:nvSpPr>
          <p:cNvPr id="12" name="Rectangle 59">
            <a:extLst>
              <a:ext uri="{FF2B5EF4-FFF2-40B4-BE49-F238E27FC236}">
                <a16:creationId xmlns:a16="http://schemas.microsoft.com/office/drawing/2014/main" id="{BE53E8A3-4507-40E2-A4D6-A444AFEC3D10}"/>
              </a:ext>
            </a:extLst>
          </p:cNvPr>
          <p:cNvSpPr>
            <a:spLocks noChangeArrowheads="1"/>
          </p:cNvSpPr>
          <p:nvPr/>
        </p:nvSpPr>
        <p:spPr bwMode="auto">
          <a:xfrm>
            <a:off x="6061075" y="3143250"/>
            <a:ext cx="109855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1600" b="1" i="1" dirty="0" err="1">
                <a:solidFill>
                  <a:srgbClr val="0080FF"/>
                </a:solidFill>
                <a:latin typeface="Times New Roman" panose="02020603050405020304" pitchFamily="18" charset="0"/>
                <a:ea typeface="楷体_GB2312"/>
                <a:cs typeface="Times New Roman" panose="02020603050405020304" pitchFamily="18" charset="0"/>
              </a:rPr>
              <a:t>addr</a:t>
            </a:r>
            <a:r>
              <a:rPr lang="en-US" altLang="zh-CN" sz="1600" b="1" i="1" dirty="0">
                <a:solidFill>
                  <a:srgbClr val="0080FF"/>
                </a:solidFill>
                <a:latin typeface="Times New Roman" panose="02020603050405020304" pitchFamily="18" charset="0"/>
                <a:ea typeface="楷体_GB2312"/>
                <a:cs typeface="Times New Roman" panose="02020603050405020304" pitchFamily="18" charset="0"/>
              </a:rPr>
              <a:t>=t</a:t>
            </a:r>
            <a:r>
              <a:rPr lang="en-US" altLang="zh-CN" sz="1600" b="1" baseline="-25000" dirty="0">
                <a:solidFill>
                  <a:srgbClr val="0080FF"/>
                </a:solidFill>
                <a:latin typeface="Times New Roman" panose="02020603050405020304" pitchFamily="18" charset="0"/>
                <a:ea typeface="楷体_GB2312"/>
                <a:cs typeface="Times New Roman" panose="02020603050405020304" pitchFamily="18" charset="0"/>
              </a:rPr>
              <a:t>3</a:t>
            </a:r>
          </a:p>
        </p:txBody>
      </p:sp>
      <p:sp>
        <p:nvSpPr>
          <p:cNvPr id="13" name="Rectangle 61">
            <a:extLst>
              <a:ext uri="{FF2B5EF4-FFF2-40B4-BE49-F238E27FC236}">
                <a16:creationId xmlns:a16="http://schemas.microsoft.com/office/drawing/2014/main" id="{C1ADB512-4C08-4F4F-ABD8-1B3B97717E79}"/>
              </a:ext>
            </a:extLst>
          </p:cNvPr>
          <p:cNvSpPr>
            <a:spLocks noChangeArrowheads="1"/>
          </p:cNvSpPr>
          <p:nvPr/>
        </p:nvSpPr>
        <p:spPr bwMode="auto">
          <a:xfrm>
            <a:off x="6983413" y="2482850"/>
            <a:ext cx="917575"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1600" b="1" i="1" dirty="0" err="1">
                <a:solidFill>
                  <a:srgbClr val="0080FF"/>
                </a:solidFill>
                <a:latin typeface="Times New Roman" panose="02020603050405020304" pitchFamily="18" charset="0"/>
                <a:ea typeface="楷体_GB2312"/>
                <a:cs typeface="Times New Roman" panose="02020603050405020304" pitchFamily="18" charset="0"/>
              </a:rPr>
              <a:t>addr</a:t>
            </a:r>
            <a:r>
              <a:rPr lang="en-US" altLang="zh-CN" sz="1600" b="1" i="1" dirty="0">
                <a:solidFill>
                  <a:srgbClr val="0080FF"/>
                </a:solidFill>
                <a:latin typeface="Times New Roman" panose="02020603050405020304" pitchFamily="18" charset="0"/>
                <a:ea typeface="楷体_GB2312"/>
                <a:cs typeface="Times New Roman" panose="02020603050405020304" pitchFamily="18" charset="0"/>
              </a:rPr>
              <a:t>=t</a:t>
            </a:r>
            <a:r>
              <a:rPr lang="en-US" altLang="zh-CN" sz="1600" b="1" baseline="-25000" dirty="0">
                <a:solidFill>
                  <a:srgbClr val="0080FF"/>
                </a:solidFill>
                <a:latin typeface="Times New Roman" panose="02020603050405020304" pitchFamily="18" charset="0"/>
                <a:ea typeface="楷体_GB2312"/>
                <a:cs typeface="Times New Roman" panose="02020603050405020304" pitchFamily="18" charset="0"/>
              </a:rPr>
              <a:t>5</a:t>
            </a:r>
          </a:p>
        </p:txBody>
      </p:sp>
      <p:sp>
        <p:nvSpPr>
          <p:cNvPr id="14" name="Rectangle 62">
            <a:extLst>
              <a:ext uri="{FF2B5EF4-FFF2-40B4-BE49-F238E27FC236}">
                <a16:creationId xmlns:a16="http://schemas.microsoft.com/office/drawing/2014/main" id="{3FC047B2-3BC9-42CD-8728-D6AF2A46C0BD}"/>
              </a:ext>
            </a:extLst>
          </p:cNvPr>
          <p:cNvSpPr>
            <a:spLocks noChangeArrowheads="1"/>
          </p:cNvSpPr>
          <p:nvPr/>
        </p:nvSpPr>
        <p:spPr bwMode="auto">
          <a:xfrm>
            <a:off x="6983413" y="1708150"/>
            <a:ext cx="865187"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1600" b="1" i="1">
                <a:solidFill>
                  <a:srgbClr val="0080FF"/>
                </a:solidFill>
                <a:latin typeface="Times New Roman" panose="02020603050405020304" pitchFamily="18" charset="0"/>
                <a:ea typeface="楷体_GB2312"/>
                <a:cs typeface="Times New Roman" panose="02020603050405020304" pitchFamily="18" charset="0"/>
              </a:rPr>
              <a:t>addr=t</a:t>
            </a:r>
            <a:r>
              <a:rPr lang="en-US" altLang="zh-CN" sz="1600" b="1" baseline="-25000">
                <a:solidFill>
                  <a:srgbClr val="0080FF"/>
                </a:solidFill>
                <a:latin typeface="Times New Roman" panose="02020603050405020304" pitchFamily="18" charset="0"/>
                <a:ea typeface="楷体_GB2312"/>
                <a:cs typeface="Times New Roman" panose="02020603050405020304" pitchFamily="18" charset="0"/>
              </a:rPr>
              <a:t>6</a:t>
            </a:r>
          </a:p>
        </p:txBody>
      </p:sp>
      <p:sp>
        <p:nvSpPr>
          <p:cNvPr id="15" name="Rectangle 63">
            <a:extLst>
              <a:ext uri="{FF2B5EF4-FFF2-40B4-BE49-F238E27FC236}">
                <a16:creationId xmlns:a16="http://schemas.microsoft.com/office/drawing/2014/main" id="{76BD8851-E9EF-4487-9903-7B60D34D8DD1}"/>
              </a:ext>
            </a:extLst>
          </p:cNvPr>
          <p:cNvSpPr>
            <a:spLocks noChangeArrowheads="1"/>
          </p:cNvSpPr>
          <p:nvPr/>
        </p:nvSpPr>
        <p:spPr bwMode="auto">
          <a:xfrm>
            <a:off x="5305425" y="3357563"/>
            <a:ext cx="86360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1600" b="1" i="1" dirty="0">
                <a:solidFill>
                  <a:srgbClr val="0080FF"/>
                </a:solidFill>
                <a:latin typeface="Times New Roman" panose="02020603050405020304" pitchFamily="18" charset="0"/>
                <a:ea typeface="楷体_GB2312"/>
                <a:cs typeface="Times New Roman" panose="02020603050405020304" pitchFamily="18" charset="0"/>
              </a:rPr>
              <a:t>array=a</a:t>
            </a:r>
            <a:endParaRPr lang="en-US" altLang="zh-CN" sz="1600" b="1" i="1" baseline="-25000" dirty="0">
              <a:solidFill>
                <a:srgbClr val="0080FF"/>
              </a:solidFill>
              <a:latin typeface="Times New Roman" panose="02020603050405020304" pitchFamily="18" charset="0"/>
              <a:ea typeface="楷体_GB2312"/>
              <a:cs typeface="Times New Roman" panose="02020603050405020304" pitchFamily="18" charset="0"/>
            </a:endParaRPr>
          </a:p>
        </p:txBody>
      </p:sp>
      <p:sp>
        <p:nvSpPr>
          <p:cNvPr id="16" name="Rectangle 64">
            <a:extLst>
              <a:ext uri="{FF2B5EF4-FFF2-40B4-BE49-F238E27FC236}">
                <a16:creationId xmlns:a16="http://schemas.microsoft.com/office/drawing/2014/main" id="{14E56EC8-682E-4DC6-9F65-D62FCFBCE918}"/>
              </a:ext>
            </a:extLst>
          </p:cNvPr>
          <p:cNvSpPr>
            <a:spLocks noChangeArrowheads="1"/>
          </p:cNvSpPr>
          <p:nvPr/>
        </p:nvSpPr>
        <p:spPr bwMode="auto">
          <a:xfrm>
            <a:off x="6061075" y="2801938"/>
            <a:ext cx="809625"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1600" b="1" i="1">
                <a:solidFill>
                  <a:srgbClr val="0080FF"/>
                </a:solidFill>
                <a:latin typeface="Times New Roman" panose="02020603050405020304" pitchFamily="18" charset="0"/>
                <a:ea typeface="楷体_GB2312"/>
                <a:cs typeface="Times New Roman" panose="02020603050405020304" pitchFamily="18" charset="0"/>
              </a:rPr>
              <a:t>array=a</a:t>
            </a:r>
            <a:endParaRPr lang="en-US" altLang="zh-CN" sz="1600" b="1" i="1" baseline="-25000">
              <a:solidFill>
                <a:srgbClr val="0080FF"/>
              </a:solidFill>
              <a:latin typeface="Times New Roman" panose="02020603050405020304" pitchFamily="18" charset="0"/>
              <a:ea typeface="楷体_GB2312"/>
              <a:cs typeface="Times New Roman" panose="02020603050405020304" pitchFamily="18" charset="0"/>
            </a:endParaRPr>
          </a:p>
        </p:txBody>
      </p:sp>
      <p:sp>
        <p:nvSpPr>
          <p:cNvPr id="17" name="Rectangle 65">
            <a:extLst>
              <a:ext uri="{FF2B5EF4-FFF2-40B4-BE49-F238E27FC236}">
                <a16:creationId xmlns:a16="http://schemas.microsoft.com/office/drawing/2014/main" id="{51F80B33-714E-451E-9854-17FAD16918DB}"/>
              </a:ext>
            </a:extLst>
          </p:cNvPr>
          <p:cNvSpPr>
            <a:spLocks noChangeArrowheads="1"/>
          </p:cNvSpPr>
          <p:nvPr/>
        </p:nvSpPr>
        <p:spPr bwMode="auto">
          <a:xfrm>
            <a:off x="6983413" y="2051050"/>
            <a:ext cx="917575"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1600" b="1" i="1">
                <a:solidFill>
                  <a:srgbClr val="0080FF"/>
                </a:solidFill>
                <a:latin typeface="Times New Roman" panose="02020603050405020304" pitchFamily="18" charset="0"/>
                <a:ea typeface="楷体_GB2312"/>
                <a:cs typeface="Times New Roman" panose="02020603050405020304" pitchFamily="18" charset="0"/>
              </a:rPr>
              <a:t>array=a</a:t>
            </a:r>
            <a:endParaRPr lang="en-US" altLang="zh-CN" sz="1600" b="1" i="1" baseline="-25000">
              <a:solidFill>
                <a:srgbClr val="0080FF"/>
              </a:solidFill>
              <a:latin typeface="Times New Roman" panose="02020603050405020304" pitchFamily="18" charset="0"/>
              <a:ea typeface="楷体_GB2312"/>
              <a:cs typeface="Times New Roman" panose="02020603050405020304" pitchFamily="18" charset="0"/>
            </a:endParaRPr>
          </a:p>
        </p:txBody>
      </p:sp>
      <p:sp>
        <p:nvSpPr>
          <p:cNvPr id="18" name="Line 66">
            <a:extLst>
              <a:ext uri="{FF2B5EF4-FFF2-40B4-BE49-F238E27FC236}">
                <a16:creationId xmlns:a16="http://schemas.microsoft.com/office/drawing/2014/main" id="{18440A65-0D48-4BE9-8B67-002C098840A4}"/>
              </a:ext>
            </a:extLst>
          </p:cNvPr>
          <p:cNvSpPr>
            <a:spLocks noChangeShapeType="1"/>
          </p:cNvSpPr>
          <p:nvPr/>
        </p:nvSpPr>
        <p:spPr bwMode="auto">
          <a:xfrm>
            <a:off x="6283325" y="411163"/>
            <a:ext cx="2320925" cy="11112"/>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19" name="Line 67">
            <a:extLst>
              <a:ext uri="{FF2B5EF4-FFF2-40B4-BE49-F238E27FC236}">
                <a16:creationId xmlns:a16="http://schemas.microsoft.com/office/drawing/2014/main" id="{62C131AA-C915-4A59-AA82-E9DE47D19191}"/>
              </a:ext>
            </a:extLst>
          </p:cNvPr>
          <p:cNvSpPr>
            <a:spLocks noChangeShapeType="1"/>
          </p:cNvSpPr>
          <p:nvPr/>
        </p:nvSpPr>
        <p:spPr bwMode="auto">
          <a:xfrm>
            <a:off x="6561138" y="3786188"/>
            <a:ext cx="9620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20" name="Line 68">
            <a:extLst>
              <a:ext uri="{FF2B5EF4-FFF2-40B4-BE49-F238E27FC236}">
                <a16:creationId xmlns:a16="http://schemas.microsoft.com/office/drawing/2014/main" id="{4717F092-463D-4382-87AA-31ACEA70572F}"/>
              </a:ext>
            </a:extLst>
          </p:cNvPr>
          <p:cNvSpPr>
            <a:spLocks noChangeShapeType="1"/>
          </p:cNvSpPr>
          <p:nvPr/>
        </p:nvSpPr>
        <p:spPr bwMode="auto">
          <a:xfrm>
            <a:off x="7418388" y="3214688"/>
            <a:ext cx="16351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grpSp>
        <p:nvGrpSpPr>
          <p:cNvPr id="21" name="组合 4">
            <a:extLst>
              <a:ext uri="{FF2B5EF4-FFF2-40B4-BE49-F238E27FC236}">
                <a16:creationId xmlns:a16="http://schemas.microsoft.com/office/drawing/2014/main" id="{5637053D-E951-43EE-B0BA-2CA17CEAA463}"/>
              </a:ext>
            </a:extLst>
          </p:cNvPr>
          <p:cNvGrpSpPr>
            <a:grpSpLocks/>
          </p:cNvGrpSpPr>
          <p:nvPr/>
        </p:nvGrpSpPr>
        <p:grpSpPr bwMode="auto">
          <a:xfrm>
            <a:off x="4981575" y="1708150"/>
            <a:ext cx="3622675" cy="3384550"/>
            <a:chOff x="5135563" y="1890613"/>
            <a:chExt cx="3621979" cy="3384376"/>
          </a:xfrm>
        </p:grpSpPr>
        <p:sp>
          <p:nvSpPr>
            <p:cNvPr id="22" name="Rectangle 9">
              <a:extLst>
                <a:ext uri="{FF2B5EF4-FFF2-40B4-BE49-F238E27FC236}">
                  <a16:creationId xmlns:a16="http://schemas.microsoft.com/office/drawing/2014/main" id="{71FC0282-21A6-44F2-B2BB-082222634158}"/>
                </a:ext>
              </a:extLst>
            </p:cNvPr>
            <p:cNvSpPr>
              <a:spLocks noChangeArrowheads="1"/>
            </p:cNvSpPr>
            <p:nvPr/>
          </p:nvSpPr>
          <p:spPr bwMode="auto">
            <a:xfrm>
              <a:off x="6921865" y="1890613"/>
              <a:ext cx="32385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b="1" i="1">
                  <a:solidFill>
                    <a:srgbClr val="000000"/>
                  </a:solidFill>
                  <a:latin typeface="Times New Roman" panose="02020603050405020304" pitchFamily="18" charset="0"/>
                  <a:cs typeface="Times New Roman" panose="02020603050405020304" pitchFamily="18" charset="0"/>
                </a:rPr>
                <a:t>E</a:t>
              </a:r>
            </a:p>
          </p:txBody>
        </p:sp>
        <p:sp>
          <p:nvSpPr>
            <p:cNvPr id="23" name="Rectangle 10">
              <a:extLst>
                <a:ext uri="{FF2B5EF4-FFF2-40B4-BE49-F238E27FC236}">
                  <a16:creationId xmlns:a16="http://schemas.microsoft.com/office/drawing/2014/main" id="{09C1DE73-3C86-4908-B37C-D00E3DF9B586}"/>
                </a:ext>
              </a:extLst>
            </p:cNvPr>
            <p:cNvSpPr>
              <a:spLocks noChangeArrowheads="1"/>
            </p:cNvSpPr>
            <p:nvPr/>
          </p:nvSpPr>
          <p:spPr bwMode="auto">
            <a:xfrm>
              <a:off x="6043613" y="3171726"/>
              <a:ext cx="3238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b="1" i="1">
                  <a:solidFill>
                    <a:srgbClr val="000000"/>
                  </a:solidFill>
                  <a:latin typeface="Times New Roman" panose="02020603050405020304" pitchFamily="18" charset="0"/>
                  <a:cs typeface="Times New Roman" panose="02020603050405020304" pitchFamily="18" charset="0"/>
                </a:rPr>
                <a:t>L</a:t>
              </a:r>
            </a:p>
          </p:txBody>
        </p:sp>
        <p:sp>
          <p:nvSpPr>
            <p:cNvPr id="24" name="Line 11">
              <a:extLst>
                <a:ext uri="{FF2B5EF4-FFF2-40B4-BE49-F238E27FC236}">
                  <a16:creationId xmlns:a16="http://schemas.microsoft.com/office/drawing/2014/main" id="{BD528C58-00EB-48C7-9500-A0756A497180}"/>
                </a:ext>
              </a:extLst>
            </p:cNvPr>
            <p:cNvSpPr>
              <a:spLocks noChangeShapeType="1"/>
            </p:cNvSpPr>
            <p:nvPr/>
          </p:nvSpPr>
          <p:spPr bwMode="auto">
            <a:xfrm>
              <a:off x="7083790" y="2092226"/>
              <a:ext cx="0" cy="4857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25" name="Line 12">
              <a:extLst>
                <a:ext uri="{FF2B5EF4-FFF2-40B4-BE49-F238E27FC236}">
                  <a16:creationId xmlns:a16="http://schemas.microsoft.com/office/drawing/2014/main" id="{8DAB480A-E718-4833-9A01-FBECBA0F9A87}"/>
                </a:ext>
              </a:extLst>
            </p:cNvPr>
            <p:cNvSpPr>
              <a:spLocks noChangeShapeType="1"/>
            </p:cNvSpPr>
            <p:nvPr/>
          </p:nvSpPr>
          <p:spPr bwMode="auto">
            <a:xfrm flipH="1">
              <a:off x="5429250" y="3451125"/>
              <a:ext cx="665163" cy="23495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26" name="Rectangle 13">
              <a:extLst>
                <a:ext uri="{FF2B5EF4-FFF2-40B4-BE49-F238E27FC236}">
                  <a16:creationId xmlns:a16="http://schemas.microsoft.com/office/drawing/2014/main" id="{48D65521-EBEE-4CC3-810F-B15E022C05F8}"/>
                </a:ext>
              </a:extLst>
            </p:cNvPr>
            <p:cNvSpPr>
              <a:spLocks noChangeArrowheads="1"/>
            </p:cNvSpPr>
            <p:nvPr/>
          </p:nvSpPr>
          <p:spPr bwMode="auto">
            <a:xfrm>
              <a:off x="5184775" y="3771801"/>
              <a:ext cx="323850" cy="21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b="1" i="1">
                  <a:solidFill>
                    <a:srgbClr val="000000"/>
                  </a:solidFill>
                  <a:latin typeface="Times New Roman" panose="02020603050405020304" pitchFamily="18" charset="0"/>
                  <a:cs typeface="Times New Roman" panose="02020603050405020304" pitchFamily="18" charset="0"/>
                </a:rPr>
                <a:t>L</a:t>
              </a:r>
            </a:p>
          </p:txBody>
        </p:sp>
        <p:sp>
          <p:nvSpPr>
            <p:cNvPr id="27" name="Line 14">
              <a:extLst>
                <a:ext uri="{FF2B5EF4-FFF2-40B4-BE49-F238E27FC236}">
                  <a16:creationId xmlns:a16="http://schemas.microsoft.com/office/drawing/2014/main" id="{16A9F28D-F7A6-4506-9C2A-57AE21F40096}"/>
                </a:ext>
              </a:extLst>
            </p:cNvPr>
            <p:cNvSpPr>
              <a:spLocks noChangeShapeType="1"/>
            </p:cNvSpPr>
            <p:nvPr/>
          </p:nvSpPr>
          <p:spPr bwMode="auto">
            <a:xfrm>
              <a:off x="6230937" y="3429981"/>
              <a:ext cx="1803401" cy="2830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28" name="Rectangle 16">
              <a:extLst>
                <a:ext uri="{FF2B5EF4-FFF2-40B4-BE49-F238E27FC236}">
                  <a16:creationId xmlns:a16="http://schemas.microsoft.com/office/drawing/2014/main" id="{835305BC-D622-4E57-BA8E-6292EB4D697E}"/>
                </a:ext>
              </a:extLst>
            </p:cNvPr>
            <p:cNvSpPr>
              <a:spLocks noChangeArrowheads="1"/>
            </p:cNvSpPr>
            <p:nvPr/>
          </p:nvSpPr>
          <p:spPr bwMode="auto">
            <a:xfrm>
              <a:off x="7821613" y="4087712"/>
              <a:ext cx="485775" cy="413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lnSpc>
                  <a:spcPts val="1500"/>
                </a:lnSpc>
              </a:pPr>
              <a:r>
                <a:rPr lang="en-US" altLang="zh-CN" sz="1600" b="1">
                  <a:solidFill>
                    <a:srgbClr val="000000"/>
                  </a:solidFill>
                  <a:latin typeface="Times New Roman" panose="02020603050405020304" pitchFamily="18" charset="0"/>
                  <a:cs typeface="Times New Roman" panose="02020603050405020304" pitchFamily="18" charset="0"/>
                </a:rPr>
                <a:t>id</a:t>
              </a:r>
            </a:p>
            <a:p>
              <a:pPr algn="ctr" eaLnBrk="1" hangingPunct="1">
                <a:lnSpc>
                  <a:spcPts val="1500"/>
                </a:lnSpc>
              </a:pPr>
              <a:r>
                <a:rPr lang="en-US" altLang="zh-CN" sz="1600" b="1">
                  <a:solidFill>
                    <a:srgbClr val="000000"/>
                  </a:solidFill>
                  <a:latin typeface="Times New Roman" panose="02020603050405020304" pitchFamily="18" charset="0"/>
                  <a:cs typeface="Times New Roman" panose="02020603050405020304" pitchFamily="18" charset="0"/>
                </a:rPr>
                <a:t>(</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i</a:t>
              </a:r>
              <a:r>
                <a:rPr lang="en-US" altLang="zh-CN" sz="1600" b="1" baseline="-25000">
                  <a:solidFill>
                    <a:srgbClr val="000000"/>
                  </a:solidFill>
                  <a:latin typeface="Times New Roman" panose="02020603050405020304" pitchFamily="18" charset="0"/>
                  <a:ea typeface="楷体_GB2312"/>
                  <a:cs typeface="Times New Roman" panose="02020603050405020304" pitchFamily="18" charset="0"/>
                </a:rPr>
                <a:t>2</a:t>
              </a:r>
              <a:r>
                <a:rPr lang="en-US" altLang="zh-CN" sz="1600" b="1">
                  <a:solidFill>
                    <a:srgbClr val="000000"/>
                  </a:solidFill>
                  <a:latin typeface="Times New Roman" panose="02020603050405020304" pitchFamily="18" charset="0"/>
                  <a:cs typeface="Times New Roman" panose="02020603050405020304" pitchFamily="18" charset="0"/>
                </a:rPr>
                <a:t>)</a:t>
              </a:r>
            </a:p>
          </p:txBody>
        </p:sp>
        <p:sp>
          <p:nvSpPr>
            <p:cNvPr id="29" name="Line 17">
              <a:extLst>
                <a:ext uri="{FF2B5EF4-FFF2-40B4-BE49-F238E27FC236}">
                  <a16:creationId xmlns:a16="http://schemas.microsoft.com/office/drawing/2014/main" id="{E2D5532F-BCAD-44A7-BA2F-FBA1D9CBEBF5}"/>
                </a:ext>
              </a:extLst>
            </p:cNvPr>
            <p:cNvSpPr>
              <a:spLocks noChangeShapeType="1"/>
            </p:cNvSpPr>
            <p:nvPr/>
          </p:nvSpPr>
          <p:spPr bwMode="auto">
            <a:xfrm flipH="1">
              <a:off x="5292080" y="4006751"/>
              <a:ext cx="17463" cy="4873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30" name="Line 18">
              <a:extLst>
                <a:ext uri="{FF2B5EF4-FFF2-40B4-BE49-F238E27FC236}">
                  <a16:creationId xmlns:a16="http://schemas.microsoft.com/office/drawing/2014/main" id="{15C7917E-6066-4EB2-B0C5-2731E5845A30}"/>
                </a:ext>
              </a:extLst>
            </p:cNvPr>
            <p:cNvSpPr>
              <a:spLocks noChangeShapeType="1"/>
            </p:cNvSpPr>
            <p:nvPr/>
          </p:nvSpPr>
          <p:spPr bwMode="auto">
            <a:xfrm>
              <a:off x="5340351" y="4032151"/>
              <a:ext cx="2420940" cy="4667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31" name="Rectangle 19">
              <a:extLst>
                <a:ext uri="{FF2B5EF4-FFF2-40B4-BE49-F238E27FC236}">
                  <a16:creationId xmlns:a16="http://schemas.microsoft.com/office/drawing/2014/main" id="{8BE34670-A016-445F-8DB7-553E1280802A}"/>
                </a:ext>
              </a:extLst>
            </p:cNvPr>
            <p:cNvSpPr>
              <a:spLocks noChangeArrowheads="1"/>
            </p:cNvSpPr>
            <p:nvPr/>
          </p:nvSpPr>
          <p:spPr bwMode="auto">
            <a:xfrm>
              <a:off x="5135563" y="4431119"/>
              <a:ext cx="323850" cy="527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b="1">
                  <a:solidFill>
                    <a:srgbClr val="000000"/>
                  </a:solidFill>
                  <a:latin typeface="Times New Roman" panose="02020603050405020304" pitchFamily="18" charset="0"/>
                  <a:cs typeface="Times New Roman" panose="02020603050405020304" pitchFamily="18" charset="0"/>
                </a:rPr>
                <a:t>id</a:t>
              </a:r>
            </a:p>
            <a:p>
              <a:pPr algn="ctr" eaLnBrk="1" hangingPunct="1"/>
              <a:r>
                <a:rPr lang="en-US" altLang="zh-CN" sz="1600" b="1">
                  <a:solidFill>
                    <a:srgbClr val="000000"/>
                  </a:solidFill>
                  <a:latin typeface="Times New Roman" panose="02020603050405020304" pitchFamily="18" charset="0"/>
                  <a:cs typeface="Times New Roman" panose="02020603050405020304" pitchFamily="18" charset="0"/>
                </a:rPr>
                <a:t>(</a:t>
              </a:r>
              <a:r>
                <a:rPr lang="en-US" altLang="zh-CN" sz="1600" b="1" i="1">
                  <a:solidFill>
                    <a:srgbClr val="000000"/>
                  </a:solidFill>
                  <a:latin typeface="Times New Roman" panose="02020603050405020304" pitchFamily="18" charset="0"/>
                  <a:cs typeface="Times New Roman" panose="02020603050405020304" pitchFamily="18" charset="0"/>
                </a:rPr>
                <a:t>a</a:t>
              </a:r>
              <a:r>
                <a:rPr lang="en-US" altLang="zh-CN" sz="1600" b="1">
                  <a:solidFill>
                    <a:srgbClr val="000000"/>
                  </a:solidFill>
                  <a:latin typeface="Times New Roman" panose="02020603050405020304" pitchFamily="18" charset="0"/>
                  <a:cs typeface="Times New Roman" panose="02020603050405020304" pitchFamily="18" charset="0"/>
                </a:rPr>
                <a:t>)</a:t>
              </a:r>
            </a:p>
          </p:txBody>
        </p:sp>
        <p:sp>
          <p:nvSpPr>
            <p:cNvPr id="32" name="Rectangle 22">
              <a:extLst>
                <a:ext uri="{FF2B5EF4-FFF2-40B4-BE49-F238E27FC236}">
                  <a16:creationId xmlns:a16="http://schemas.microsoft.com/office/drawing/2014/main" id="{7906EF2A-E8CD-481E-8A7B-3F6FCFD1FF00}"/>
                </a:ext>
              </a:extLst>
            </p:cNvPr>
            <p:cNvSpPr>
              <a:spLocks noChangeArrowheads="1"/>
            </p:cNvSpPr>
            <p:nvPr/>
          </p:nvSpPr>
          <p:spPr bwMode="auto">
            <a:xfrm>
              <a:off x="7451795" y="4917802"/>
              <a:ext cx="704850"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lnSpc>
                  <a:spcPts val="1500"/>
                </a:lnSpc>
              </a:pPr>
              <a:r>
                <a:rPr lang="en-US" altLang="zh-CN" sz="1600" b="1">
                  <a:solidFill>
                    <a:srgbClr val="000000"/>
                  </a:solidFill>
                  <a:latin typeface="Times New Roman" panose="02020603050405020304" pitchFamily="18" charset="0"/>
                  <a:cs typeface="Times New Roman" panose="02020603050405020304" pitchFamily="18" charset="0"/>
                </a:rPr>
                <a:t>id</a:t>
              </a:r>
            </a:p>
            <a:p>
              <a:pPr algn="ctr" eaLnBrk="1" hangingPunct="1">
                <a:lnSpc>
                  <a:spcPts val="1500"/>
                </a:lnSpc>
              </a:pPr>
              <a:r>
                <a:rPr lang="en-US" altLang="zh-CN" sz="1600" b="1">
                  <a:solidFill>
                    <a:srgbClr val="000000"/>
                  </a:solidFill>
                  <a:latin typeface="Times New Roman" panose="02020603050405020304" pitchFamily="18" charset="0"/>
                  <a:cs typeface="Times New Roman" panose="02020603050405020304" pitchFamily="18" charset="0"/>
                </a:rPr>
                <a:t>(</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i</a:t>
              </a:r>
              <a:r>
                <a:rPr lang="en-US" altLang="zh-CN" sz="1600" b="1" baseline="-25000">
                  <a:solidFill>
                    <a:srgbClr val="000000"/>
                  </a:solidFill>
                  <a:latin typeface="Times New Roman" panose="02020603050405020304" pitchFamily="18" charset="0"/>
                  <a:ea typeface="楷体_GB2312"/>
                  <a:cs typeface="Times New Roman" panose="02020603050405020304" pitchFamily="18" charset="0"/>
                </a:rPr>
                <a:t>1</a:t>
              </a:r>
              <a:r>
                <a:rPr lang="en-US" altLang="zh-CN" sz="1600" b="1">
                  <a:solidFill>
                    <a:srgbClr val="000000"/>
                  </a:solidFill>
                  <a:latin typeface="Times New Roman" panose="02020603050405020304" pitchFamily="18" charset="0"/>
                  <a:cs typeface="Times New Roman" panose="02020603050405020304" pitchFamily="18" charset="0"/>
                </a:rPr>
                <a:t>)</a:t>
              </a:r>
            </a:p>
          </p:txBody>
        </p:sp>
        <p:sp>
          <p:nvSpPr>
            <p:cNvPr id="33" name="Rectangle 25">
              <a:extLst>
                <a:ext uri="{FF2B5EF4-FFF2-40B4-BE49-F238E27FC236}">
                  <a16:creationId xmlns:a16="http://schemas.microsoft.com/office/drawing/2014/main" id="{5A6D4E3B-CAD3-4F41-9B78-6681EDD709B8}"/>
                </a:ext>
              </a:extLst>
            </p:cNvPr>
            <p:cNvSpPr>
              <a:spLocks noChangeArrowheads="1"/>
            </p:cNvSpPr>
            <p:nvPr/>
          </p:nvSpPr>
          <p:spPr bwMode="auto">
            <a:xfrm>
              <a:off x="6921865" y="2578001"/>
              <a:ext cx="3238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b="1" i="1">
                  <a:solidFill>
                    <a:srgbClr val="000000"/>
                  </a:solidFill>
                  <a:latin typeface="Times New Roman" panose="02020603050405020304" pitchFamily="18" charset="0"/>
                  <a:cs typeface="Times New Roman" panose="02020603050405020304" pitchFamily="18" charset="0"/>
                </a:rPr>
                <a:t>L</a:t>
              </a:r>
            </a:p>
          </p:txBody>
        </p:sp>
        <p:sp>
          <p:nvSpPr>
            <p:cNvPr id="34" name="Line 26">
              <a:extLst>
                <a:ext uri="{FF2B5EF4-FFF2-40B4-BE49-F238E27FC236}">
                  <a16:creationId xmlns:a16="http://schemas.microsoft.com/office/drawing/2014/main" id="{58BD6F1C-304E-4DE5-882F-746CB03D7BB8}"/>
                </a:ext>
              </a:extLst>
            </p:cNvPr>
            <p:cNvSpPr>
              <a:spLocks noChangeShapeType="1"/>
            </p:cNvSpPr>
            <p:nvPr/>
          </p:nvSpPr>
          <p:spPr bwMode="auto">
            <a:xfrm flipH="1">
              <a:off x="6369049" y="2887563"/>
              <a:ext cx="664025" cy="2143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35" name="Line 27">
              <a:extLst>
                <a:ext uri="{FF2B5EF4-FFF2-40B4-BE49-F238E27FC236}">
                  <a16:creationId xmlns:a16="http://schemas.microsoft.com/office/drawing/2014/main" id="{6CC7096B-EE75-41EC-A6F9-CA5295A351C4}"/>
                </a:ext>
              </a:extLst>
            </p:cNvPr>
            <p:cNvSpPr>
              <a:spLocks noChangeShapeType="1"/>
            </p:cNvSpPr>
            <p:nvPr/>
          </p:nvSpPr>
          <p:spPr bwMode="auto">
            <a:xfrm>
              <a:off x="7060815" y="2902931"/>
              <a:ext cx="1206059" cy="2386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36" name="Rectangle 28">
              <a:extLst>
                <a:ext uri="{FF2B5EF4-FFF2-40B4-BE49-F238E27FC236}">
                  <a16:creationId xmlns:a16="http://schemas.microsoft.com/office/drawing/2014/main" id="{D666B0E1-F803-42EC-8829-7ADBB6A0E759}"/>
                </a:ext>
              </a:extLst>
            </p:cNvPr>
            <p:cNvSpPr>
              <a:spLocks noChangeArrowheads="1"/>
            </p:cNvSpPr>
            <p:nvPr/>
          </p:nvSpPr>
          <p:spPr bwMode="auto">
            <a:xfrm>
              <a:off x="8217792" y="3492946"/>
              <a:ext cx="53975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lnSpc>
                  <a:spcPts val="1500"/>
                </a:lnSpc>
              </a:pPr>
              <a:r>
                <a:rPr lang="en-US" altLang="zh-CN" sz="1600" b="1">
                  <a:solidFill>
                    <a:srgbClr val="000000"/>
                  </a:solidFill>
                  <a:latin typeface="Times New Roman" panose="02020603050405020304" pitchFamily="18" charset="0"/>
                  <a:cs typeface="Times New Roman" panose="02020603050405020304" pitchFamily="18" charset="0"/>
                </a:rPr>
                <a:t>id</a:t>
              </a:r>
            </a:p>
            <a:p>
              <a:pPr algn="ctr" eaLnBrk="1" hangingPunct="1">
                <a:lnSpc>
                  <a:spcPts val="1500"/>
                </a:lnSpc>
              </a:pPr>
              <a:r>
                <a:rPr lang="en-US" altLang="zh-CN" sz="1600" b="1">
                  <a:solidFill>
                    <a:srgbClr val="000000"/>
                  </a:solidFill>
                  <a:latin typeface="Times New Roman" panose="02020603050405020304" pitchFamily="18" charset="0"/>
                  <a:cs typeface="Times New Roman" panose="02020603050405020304" pitchFamily="18" charset="0"/>
                </a:rPr>
                <a:t>(</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i</a:t>
              </a:r>
              <a:r>
                <a:rPr lang="en-US" altLang="zh-CN" sz="1600" b="1" baseline="-25000">
                  <a:solidFill>
                    <a:srgbClr val="000000"/>
                  </a:solidFill>
                  <a:latin typeface="Times New Roman" panose="02020603050405020304" pitchFamily="18" charset="0"/>
                  <a:ea typeface="楷体_GB2312"/>
                  <a:cs typeface="Times New Roman" panose="02020603050405020304" pitchFamily="18" charset="0"/>
                </a:rPr>
                <a:t>3</a:t>
              </a:r>
              <a:r>
                <a:rPr lang="en-US" altLang="zh-CN" sz="1600" b="1">
                  <a:solidFill>
                    <a:srgbClr val="000000"/>
                  </a:solidFill>
                  <a:latin typeface="Times New Roman" panose="02020603050405020304" pitchFamily="18" charset="0"/>
                  <a:cs typeface="Times New Roman" panose="02020603050405020304" pitchFamily="18" charset="0"/>
                </a:rPr>
                <a:t>)</a:t>
              </a:r>
            </a:p>
          </p:txBody>
        </p:sp>
        <p:sp>
          <p:nvSpPr>
            <p:cNvPr id="37" name="Rectangle 53">
              <a:extLst>
                <a:ext uri="{FF2B5EF4-FFF2-40B4-BE49-F238E27FC236}">
                  <a16:creationId xmlns:a16="http://schemas.microsoft.com/office/drawing/2014/main" id="{C13B6FA9-4086-4E91-A512-9C838631D569}"/>
                </a:ext>
              </a:extLst>
            </p:cNvPr>
            <p:cNvSpPr>
              <a:spLocks noChangeArrowheads="1"/>
            </p:cNvSpPr>
            <p:nvPr/>
          </p:nvSpPr>
          <p:spPr bwMode="auto">
            <a:xfrm>
              <a:off x="7658354" y="4525863"/>
              <a:ext cx="323850"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b="1">
                  <a:solidFill>
                    <a:srgbClr val="000000"/>
                  </a:solidFill>
                  <a:latin typeface="Times New Roman" panose="02020603050405020304" pitchFamily="18" charset="0"/>
                  <a:ea typeface="楷体_GB2312"/>
                  <a:cs typeface="Times New Roman" panose="02020603050405020304" pitchFamily="18" charset="0"/>
                </a:rPr>
                <a:t>[</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 E </a:t>
              </a:r>
              <a:r>
                <a:rPr lang="en-US" altLang="zh-CN" sz="1600" b="1">
                  <a:solidFill>
                    <a:srgbClr val="000000"/>
                  </a:solidFill>
                  <a:latin typeface="Times New Roman" panose="02020603050405020304" pitchFamily="18" charset="0"/>
                  <a:ea typeface="楷体_GB2312"/>
                  <a:cs typeface="Times New Roman" panose="02020603050405020304" pitchFamily="18" charset="0"/>
                </a:rPr>
                <a:t>]</a:t>
              </a:r>
            </a:p>
          </p:txBody>
        </p:sp>
        <p:sp>
          <p:nvSpPr>
            <p:cNvPr id="38" name="Line 54">
              <a:extLst>
                <a:ext uri="{FF2B5EF4-FFF2-40B4-BE49-F238E27FC236}">
                  <a16:creationId xmlns:a16="http://schemas.microsoft.com/office/drawing/2014/main" id="{DEB6193B-BF93-419E-85D6-273BFC758564}"/>
                </a:ext>
              </a:extLst>
            </p:cNvPr>
            <p:cNvSpPr>
              <a:spLocks noChangeShapeType="1"/>
            </p:cNvSpPr>
            <p:nvPr/>
          </p:nvSpPr>
          <p:spPr bwMode="auto">
            <a:xfrm>
              <a:off x="7801230" y="4735413"/>
              <a:ext cx="0" cy="161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39" name="Rectangle 55">
              <a:extLst>
                <a:ext uri="{FF2B5EF4-FFF2-40B4-BE49-F238E27FC236}">
                  <a16:creationId xmlns:a16="http://schemas.microsoft.com/office/drawing/2014/main" id="{5195A268-5E4A-4A64-8CD7-05E999C90C1D}"/>
                </a:ext>
              </a:extLst>
            </p:cNvPr>
            <p:cNvSpPr>
              <a:spLocks noChangeArrowheads="1"/>
            </p:cNvSpPr>
            <p:nvPr/>
          </p:nvSpPr>
          <p:spPr bwMode="auto">
            <a:xfrm>
              <a:off x="7872413" y="3724176"/>
              <a:ext cx="323850" cy="21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b="1">
                  <a:solidFill>
                    <a:srgbClr val="000000"/>
                  </a:solidFill>
                  <a:latin typeface="Times New Roman" panose="02020603050405020304" pitchFamily="18" charset="0"/>
                  <a:ea typeface="楷体_GB2312"/>
                  <a:cs typeface="Times New Roman" panose="02020603050405020304" pitchFamily="18" charset="0"/>
                </a:rPr>
                <a:t>[</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 E </a:t>
              </a:r>
              <a:r>
                <a:rPr lang="en-US" altLang="zh-CN" sz="1600" b="1">
                  <a:solidFill>
                    <a:srgbClr val="000000"/>
                  </a:solidFill>
                  <a:latin typeface="Times New Roman" panose="02020603050405020304" pitchFamily="18" charset="0"/>
                  <a:ea typeface="楷体_GB2312"/>
                  <a:cs typeface="Times New Roman" panose="02020603050405020304" pitchFamily="18" charset="0"/>
                </a:rPr>
                <a:t>]</a:t>
              </a:r>
            </a:p>
          </p:txBody>
        </p:sp>
        <p:sp>
          <p:nvSpPr>
            <p:cNvPr id="40" name="Line 56">
              <a:extLst>
                <a:ext uri="{FF2B5EF4-FFF2-40B4-BE49-F238E27FC236}">
                  <a16:creationId xmlns:a16="http://schemas.microsoft.com/office/drawing/2014/main" id="{4FF53E02-2B0F-4436-ADC2-4FF491997B4B}"/>
                </a:ext>
              </a:extLst>
            </p:cNvPr>
            <p:cNvSpPr>
              <a:spLocks noChangeShapeType="1"/>
            </p:cNvSpPr>
            <p:nvPr/>
          </p:nvSpPr>
          <p:spPr bwMode="auto">
            <a:xfrm>
              <a:off x="8034338" y="3943251"/>
              <a:ext cx="0" cy="161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41" name="Rectangle 57">
              <a:extLst>
                <a:ext uri="{FF2B5EF4-FFF2-40B4-BE49-F238E27FC236}">
                  <a16:creationId xmlns:a16="http://schemas.microsoft.com/office/drawing/2014/main" id="{4EF7938D-02B7-4BAB-815E-A966BBFCDE9E}"/>
                </a:ext>
              </a:extLst>
            </p:cNvPr>
            <p:cNvSpPr>
              <a:spLocks noChangeArrowheads="1"/>
            </p:cNvSpPr>
            <p:nvPr/>
          </p:nvSpPr>
          <p:spPr bwMode="auto">
            <a:xfrm>
              <a:off x="8275687" y="3079651"/>
              <a:ext cx="323850" cy="21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1600" b="1">
                  <a:solidFill>
                    <a:srgbClr val="000000"/>
                  </a:solidFill>
                  <a:latin typeface="Times New Roman" panose="02020603050405020304" pitchFamily="18" charset="0"/>
                  <a:ea typeface="楷体_GB2312"/>
                  <a:cs typeface="Times New Roman" panose="02020603050405020304" pitchFamily="18" charset="0"/>
                </a:rPr>
                <a:t>[</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 E </a:t>
              </a:r>
              <a:r>
                <a:rPr lang="en-US" altLang="zh-CN" sz="1600" b="1">
                  <a:solidFill>
                    <a:srgbClr val="000000"/>
                  </a:solidFill>
                  <a:latin typeface="Times New Roman" panose="02020603050405020304" pitchFamily="18" charset="0"/>
                  <a:ea typeface="楷体_GB2312"/>
                  <a:cs typeface="Times New Roman" panose="02020603050405020304" pitchFamily="18" charset="0"/>
                </a:rPr>
                <a:t>]</a:t>
              </a:r>
            </a:p>
          </p:txBody>
        </p:sp>
        <p:sp>
          <p:nvSpPr>
            <p:cNvPr id="42" name="Line 58">
              <a:extLst>
                <a:ext uri="{FF2B5EF4-FFF2-40B4-BE49-F238E27FC236}">
                  <a16:creationId xmlns:a16="http://schemas.microsoft.com/office/drawing/2014/main" id="{CE6F3379-ED93-433D-BECE-9DC0E3113E1B}"/>
                </a:ext>
              </a:extLst>
            </p:cNvPr>
            <p:cNvSpPr>
              <a:spLocks noChangeShapeType="1"/>
            </p:cNvSpPr>
            <p:nvPr/>
          </p:nvSpPr>
          <p:spPr bwMode="auto">
            <a:xfrm>
              <a:off x="8437612" y="3295551"/>
              <a:ext cx="0" cy="161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grpSp>
      <p:sp>
        <p:nvSpPr>
          <p:cNvPr id="43" name="Rectangle 69">
            <a:extLst>
              <a:ext uri="{FF2B5EF4-FFF2-40B4-BE49-F238E27FC236}">
                <a16:creationId xmlns:a16="http://schemas.microsoft.com/office/drawing/2014/main" id="{D4F46E3B-A13B-4217-95E6-090D8800DA36}"/>
              </a:ext>
            </a:extLst>
          </p:cNvPr>
          <p:cNvSpPr>
            <a:spLocks noChangeArrowheads="1"/>
          </p:cNvSpPr>
          <p:nvPr/>
        </p:nvSpPr>
        <p:spPr bwMode="auto">
          <a:xfrm>
            <a:off x="7802563" y="4300538"/>
            <a:ext cx="1087437"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1600" b="1" i="1">
                <a:solidFill>
                  <a:srgbClr val="0080FF"/>
                </a:solidFill>
                <a:latin typeface="Times New Roman" panose="02020603050405020304" pitchFamily="18" charset="0"/>
                <a:ea typeface="楷体_GB2312"/>
                <a:cs typeface="Times New Roman" panose="02020603050405020304" pitchFamily="18" charset="0"/>
              </a:rPr>
              <a:t>addr=i</a:t>
            </a:r>
            <a:r>
              <a:rPr lang="en-US" altLang="zh-CN" sz="1600" b="1" baseline="-25000">
                <a:solidFill>
                  <a:srgbClr val="0080FF"/>
                </a:solidFill>
                <a:latin typeface="Times New Roman" panose="02020603050405020304" pitchFamily="18" charset="0"/>
                <a:ea typeface="楷体_GB2312"/>
                <a:cs typeface="Times New Roman" panose="02020603050405020304" pitchFamily="18" charset="0"/>
              </a:rPr>
              <a:t>1</a:t>
            </a:r>
          </a:p>
        </p:txBody>
      </p:sp>
      <p:sp>
        <p:nvSpPr>
          <p:cNvPr id="44" name="Rectangle 70">
            <a:extLst>
              <a:ext uri="{FF2B5EF4-FFF2-40B4-BE49-F238E27FC236}">
                <a16:creationId xmlns:a16="http://schemas.microsoft.com/office/drawing/2014/main" id="{E94C42C9-AA87-4AFC-A30A-778BEE3D464C}"/>
              </a:ext>
            </a:extLst>
          </p:cNvPr>
          <p:cNvSpPr>
            <a:spLocks noChangeArrowheads="1"/>
          </p:cNvSpPr>
          <p:nvPr/>
        </p:nvSpPr>
        <p:spPr bwMode="auto">
          <a:xfrm>
            <a:off x="8027988" y="3579813"/>
            <a:ext cx="865187"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1600" b="1" i="1">
                <a:solidFill>
                  <a:srgbClr val="0080FF"/>
                </a:solidFill>
                <a:latin typeface="Times New Roman" panose="02020603050405020304" pitchFamily="18" charset="0"/>
                <a:ea typeface="楷体_GB2312"/>
                <a:cs typeface="Times New Roman" panose="02020603050405020304" pitchFamily="18" charset="0"/>
              </a:rPr>
              <a:t>addr=i</a:t>
            </a:r>
            <a:r>
              <a:rPr lang="en-US" altLang="zh-CN" sz="1600" b="1" baseline="-25000">
                <a:solidFill>
                  <a:srgbClr val="0080FF"/>
                </a:solidFill>
                <a:latin typeface="Times New Roman" panose="02020603050405020304" pitchFamily="18" charset="0"/>
                <a:ea typeface="楷体_GB2312"/>
                <a:cs typeface="Times New Roman" panose="02020603050405020304" pitchFamily="18" charset="0"/>
              </a:rPr>
              <a:t>2</a:t>
            </a:r>
          </a:p>
        </p:txBody>
      </p:sp>
      <p:sp>
        <p:nvSpPr>
          <p:cNvPr id="45" name="Rectangle 71">
            <a:extLst>
              <a:ext uri="{FF2B5EF4-FFF2-40B4-BE49-F238E27FC236}">
                <a16:creationId xmlns:a16="http://schemas.microsoft.com/office/drawing/2014/main" id="{573D0FE6-F431-4E4F-A7C1-C6E9F9FC39FB}"/>
              </a:ext>
            </a:extLst>
          </p:cNvPr>
          <p:cNvSpPr>
            <a:spLocks noChangeArrowheads="1"/>
          </p:cNvSpPr>
          <p:nvPr/>
        </p:nvSpPr>
        <p:spPr bwMode="auto">
          <a:xfrm>
            <a:off x="8431213" y="2859088"/>
            <a:ext cx="749300"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1600" b="1" i="1">
                <a:solidFill>
                  <a:srgbClr val="0080FF"/>
                </a:solidFill>
                <a:latin typeface="Times New Roman" panose="02020603050405020304" pitchFamily="18" charset="0"/>
                <a:ea typeface="楷体_GB2312"/>
                <a:cs typeface="Times New Roman" panose="02020603050405020304" pitchFamily="18" charset="0"/>
              </a:rPr>
              <a:t>addr=i</a:t>
            </a:r>
            <a:r>
              <a:rPr lang="en-US" altLang="zh-CN" sz="1600" b="1" baseline="-25000">
                <a:solidFill>
                  <a:srgbClr val="0080FF"/>
                </a:solidFill>
                <a:latin typeface="Times New Roman" panose="02020603050405020304" pitchFamily="18" charset="0"/>
                <a:ea typeface="楷体_GB2312"/>
                <a:cs typeface="Times New Roman" panose="02020603050405020304" pitchFamily="18" charset="0"/>
              </a:rPr>
              <a:t>3</a:t>
            </a:r>
          </a:p>
        </p:txBody>
      </p:sp>
      <p:sp>
        <p:nvSpPr>
          <p:cNvPr id="46" name="Rectangle 24">
            <a:extLst>
              <a:ext uri="{FF2B5EF4-FFF2-40B4-BE49-F238E27FC236}">
                <a16:creationId xmlns:a16="http://schemas.microsoft.com/office/drawing/2014/main" id="{D8832D67-74F0-4174-85E7-3CDEBF7DCBA0}"/>
              </a:ext>
            </a:extLst>
          </p:cNvPr>
          <p:cNvSpPr>
            <a:spLocks noChangeArrowheads="1"/>
          </p:cNvSpPr>
          <p:nvPr/>
        </p:nvSpPr>
        <p:spPr bwMode="auto">
          <a:xfrm>
            <a:off x="7885113" y="1058863"/>
            <a:ext cx="1122362" cy="1793875"/>
          </a:xfrm>
          <a:prstGeom prst="rect">
            <a:avLst/>
          </a:prstGeom>
          <a:solidFill>
            <a:srgbClr val="FFCCCC"/>
          </a:solidFill>
          <a:ln w="9525">
            <a:solidFill>
              <a:schemeClr val="tx1"/>
            </a:solidFill>
            <a:miter lim="800000"/>
            <a:headEnd/>
            <a:tailEnd/>
          </a:ln>
        </p:spPr>
        <p:txBody>
          <a:bodyPr lIns="68580" tIns="34290" rIns="68580" bIns="34290">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en-US" sz="1600" b="1">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三地址码</a:t>
            </a:r>
            <a:endParaRPr lang="en-US" altLang="zh-CN" sz="1600" b="1">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a:p>
            <a:pPr eaLnBrk="1" hangingPunct="1"/>
            <a:r>
              <a:rPr lang="en-US" altLang="zh-CN" sz="1600" b="1" i="1">
                <a:solidFill>
                  <a:srgbClr val="000000"/>
                </a:solidFill>
                <a:latin typeface="Times New Roman" panose="02020603050405020304" pitchFamily="18" charset="0"/>
                <a:ea typeface="楷体_GB2312"/>
                <a:cs typeface="Times New Roman" panose="02020603050405020304" pitchFamily="18" charset="0"/>
              </a:rPr>
              <a:t>t</a:t>
            </a:r>
            <a:r>
              <a:rPr lang="en-US" altLang="zh-CN" sz="1600" b="1" baseline="-25000">
                <a:solidFill>
                  <a:srgbClr val="000000"/>
                </a:solidFill>
                <a:latin typeface="Times New Roman" panose="02020603050405020304" pitchFamily="18" charset="0"/>
                <a:ea typeface="楷体_GB2312"/>
                <a:cs typeface="Times New Roman" panose="02020603050405020304" pitchFamily="18" charset="0"/>
              </a:rPr>
              <a:t>1</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 = i</a:t>
            </a:r>
            <a:r>
              <a:rPr lang="en-US" altLang="zh-CN" sz="1600" b="1" baseline="-25000">
                <a:solidFill>
                  <a:srgbClr val="000000"/>
                </a:solidFill>
                <a:latin typeface="Times New Roman" panose="02020603050405020304" pitchFamily="18" charset="0"/>
                <a:ea typeface="楷体_GB2312"/>
                <a:cs typeface="Times New Roman" panose="02020603050405020304" pitchFamily="18" charset="0"/>
              </a:rPr>
              <a:t>1</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a:t>
            </a:r>
            <a:r>
              <a:rPr lang="en-US" altLang="zh-CN" sz="1600" b="1">
                <a:solidFill>
                  <a:srgbClr val="000000"/>
                </a:solidFill>
                <a:latin typeface="Times New Roman" panose="02020603050405020304" pitchFamily="18" charset="0"/>
                <a:ea typeface="楷体_GB2312"/>
                <a:cs typeface="Times New Roman" panose="02020603050405020304" pitchFamily="18" charset="0"/>
              </a:rPr>
              <a:t>160</a:t>
            </a:r>
          </a:p>
          <a:p>
            <a:pPr eaLnBrk="1" hangingPunct="1"/>
            <a:r>
              <a:rPr lang="en-US" altLang="zh-CN" sz="1600" b="1" i="1">
                <a:solidFill>
                  <a:srgbClr val="000000"/>
                </a:solidFill>
                <a:latin typeface="Times New Roman" panose="02020603050405020304" pitchFamily="18" charset="0"/>
                <a:ea typeface="楷体_GB2312"/>
                <a:cs typeface="Times New Roman" panose="02020603050405020304" pitchFamily="18" charset="0"/>
              </a:rPr>
              <a:t>t</a:t>
            </a:r>
            <a:r>
              <a:rPr lang="en-US" altLang="zh-CN" sz="1600" b="1" baseline="-25000">
                <a:solidFill>
                  <a:srgbClr val="000000"/>
                </a:solidFill>
                <a:latin typeface="Times New Roman" panose="02020603050405020304" pitchFamily="18" charset="0"/>
                <a:ea typeface="楷体_GB2312"/>
                <a:cs typeface="Times New Roman" panose="02020603050405020304" pitchFamily="18" charset="0"/>
              </a:rPr>
              <a:t>2</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 = i</a:t>
            </a:r>
            <a:r>
              <a:rPr lang="en-US" altLang="zh-CN" sz="1600" b="1" baseline="-25000">
                <a:solidFill>
                  <a:srgbClr val="000000"/>
                </a:solidFill>
                <a:latin typeface="Times New Roman" panose="02020603050405020304" pitchFamily="18" charset="0"/>
                <a:ea typeface="楷体_GB2312"/>
                <a:cs typeface="Times New Roman" panose="02020603050405020304" pitchFamily="18" charset="0"/>
              </a:rPr>
              <a:t>2</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a:t>
            </a:r>
            <a:r>
              <a:rPr lang="en-US" altLang="zh-CN" sz="1600" b="1">
                <a:solidFill>
                  <a:srgbClr val="000000"/>
                </a:solidFill>
                <a:latin typeface="Times New Roman" panose="02020603050405020304" pitchFamily="18" charset="0"/>
                <a:ea typeface="楷体_GB2312"/>
                <a:cs typeface="Times New Roman" panose="02020603050405020304" pitchFamily="18" charset="0"/>
              </a:rPr>
              <a:t>32</a:t>
            </a:r>
          </a:p>
          <a:p>
            <a:pPr eaLnBrk="1" hangingPunct="1"/>
            <a:r>
              <a:rPr lang="en-US" altLang="zh-CN" sz="1600" b="1" i="1">
                <a:solidFill>
                  <a:srgbClr val="000000"/>
                </a:solidFill>
                <a:latin typeface="Times New Roman" panose="02020603050405020304" pitchFamily="18" charset="0"/>
                <a:ea typeface="楷体_GB2312"/>
                <a:cs typeface="Times New Roman" panose="02020603050405020304" pitchFamily="18" charset="0"/>
              </a:rPr>
              <a:t>t</a:t>
            </a:r>
            <a:r>
              <a:rPr lang="en-US" altLang="zh-CN" sz="1600" b="1" baseline="-25000">
                <a:solidFill>
                  <a:srgbClr val="000000"/>
                </a:solidFill>
                <a:latin typeface="Times New Roman" panose="02020603050405020304" pitchFamily="18" charset="0"/>
                <a:ea typeface="楷体_GB2312"/>
                <a:cs typeface="Times New Roman" panose="02020603050405020304" pitchFamily="18" charset="0"/>
              </a:rPr>
              <a:t>3</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 = t</a:t>
            </a:r>
            <a:r>
              <a:rPr lang="en-US" altLang="zh-CN" sz="1600" b="1" baseline="-25000">
                <a:solidFill>
                  <a:srgbClr val="000000"/>
                </a:solidFill>
                <a:latin typeface="Times New Roman" panose="02020603050405020304" pitchFamily="18" charset="0"/>
                <a:ea typeface="楷体_GB2312"/>
                <a:cs typeface="Times New Roman" panose="02020603050405020304" pitchFamily="18" charset="0"/>
              </a:rPr>
              <a:t>1</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+t</a:t>
            </a:r>
            <a:r>
              <a:rPr lang="en-US" altLang="zh-CN" sz="1600" b="1" baseline="-25000">
                <a:solidFill>
                  <a:srgbClr val="000000"/>
                </a:solidFill>
                <a:latin typeface="Times New Roman" panose="02020603050405020304" pitchFamily="18" charset="0"/>
                <a:ea typeface="楷体_GB2312"/>
                <a:cs typeface="Times New Roman" panose="02020603050405020304" pitchFamily="18" charset="0"/>
              </a:rPr>
              <a:t>2</a:t>
            </a:r>
          </a:p>
          <a:p>
            <a:pPr eaLnBrk="1" hangingPunct="1"/>
            <a:r>
              <a:rPr lang="en-US" altLang="zh-CN" sz="1600" b="1" i="1">
                <a:solidFill>
                  <a:srgbClr val="000000"/>
                </a:solidFill>
                <a:latin typeface="Times New Roman" panose="02020603050405020304" pitchFamily="18" charset="0"/>
                <a:ea typeface="楷体_GB2312"/>
                <a:cs typeface="Times New Roman" panose="02020603050405020304" pitchFamily="18" charset="0"/>
              </a:rPr>
              <a:t>t</a:t>
            </a:r>
            <a:r>
              <a:rPr lang="en-US" altLang="zh-CN" sz="1600" b="1" baseline="-25000">
                <a:solidFill>
                  <a:srgbClr val="000000"/>
                </a:solidFill>
                <a:latin typeface="Times New Roman" panose="02020603050405020304" pitchFamily="18" charset="0"/>
                <a:ea typeface="楷体_GB2312"/>
                <a:cs typeface="Times New Roman" panose="02020603050405020304" pitchFamily="18" charset="0"/>
              </a:rPr>
              <a:t>4</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 = i</a:t>
            </a:r>
            <a:r>
              <a:rPr lang="en-US" altLang="zh-CN" sz="1600" b="1" baseline="-25000">
                <a:solidFill>
                  <a:srgbClr val="000000"/>
                </a:solidFill>
                <a:latin typeface="Times New Roman" panose="02020603050405020304" pitchFamily="18" charset="0"/>
                <a:ea typeface="楷体_GB2312"/>
                <a:cs typeface="Times New Roman" panose="02020603050405020304" pitchFamily="18" charset="0"/>
              </a:rPr>
              <a:t>3</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a:t>
            </a:r>
            <a:r>
              <a:rPr lang="en-US" altLang="zh-CN" sz="1600" b="1">
                <a:solidFill>
                  <a:srgbClr val="000000"/>
                </a:solidFill>
                <a:latin typeface="Times New Roman" panose="02020603050405020304" pitchFamily="18" charset="0"/>
                <a:ea typeface="楷体_GB2312"/>
                <a:cs typeface="Times New Roman" panose="02020603050405020304" pitchFamily="18" charset="0"/>
              </a:rPr>
              <a:t>4</a:t>
            </a:r>
          </a:p>
          <a:p>
            <a:pPr eaLnBrk="1" hangingPunct="1"/>
            <a:r>
              <a:rPr lang="en-US" altLang="zh-CN" sz="1600" b="1" i="1">
                <a:solidFill>
                  <a:srgbClr val="000000"/>
                </a:solidFill>
                <a:latin typeface="Times New Roman" panose="02020603050405020304" pitchFamily="18" charset="0"/>
                <a:ea typeface="楷体_GB2312"/>
                <a:cs typeface="Times New Roman" panose="02020603050405020304" pitchFamily="18" charset="0"/>
              </a:rPr>
              <a:t>t</a:t>
            </a:r>
            <a:r>
              <a:rPr lang="en-US" altLang="zh-CN" sz="1600" b="1" baseline="-25000">
                <a:solidFill>
                  <a:srgbClr val="000000"/>
                </a:solidFill>
                <a:latin typeface="Times New Roman" panose="02020603050405020304" pitchFamily="18" charset="0"/>
                <a:ea typeface="楷体_GB2312"/>
                <a:cs typeface="Times New Roman" panose="02020603050405020304" pitchFamily="18" charset="0"/>
              </a:rPr>
              <a:t>5</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 = t</a:t>
            </a:r>
            <a:r>
              <a:rPr lang="en-US" altLang="zh-CN" sz="1600" b="1" baseline="-25000">
                <a:solidFill>
                  <a:srgbClr val="000000"/>
                </a:solidFill>
                <a:latin typeface="Times New Roman" panose="02020603050405020304" pitchFamily="18" charset="0"/>
                <a:ea typeface="楷体_GB2312"/>
                <a:cs typeface="Times New Roman" panose="02020603050405020304" pitchFamily="18" charset="0"/>
              </a:rPr>
              <a:t>3</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+t</a:t>
            </a:r>
            <a:r>
              <a:rPr lang="en-US" altLang="zh-CN" sz="1600" b="1" baseline="-25000">
                <a:solidFill>
                  <a:srgbClr val="000000"/>
                </a:solidFill>
                <a:latin typeface="Times New Roman" panose="02020603050405020304" pitchFamily="18" charset="0"/>
                <a:ea typeface="楷体_GB2312"/>
                <a:cs typeface="Times New Roman" panose="02020603050405020304" pitchFamily="18" charset="0"/>
              </a:rPr>
              <a:t>4</a:t>
            </a:r>
          </a:p>
          <a:p>
            <a:pPr eaLnBrk="1" hangingPunct="1"/>
            <a:r>
              <a:rPr lang="en-US" altLang="zh-CN" sz="1600" b="1" i="1">
                <a:solidFill>
                  <a:srgbClr val="000000"/>
                </a:solidFill>
                <a:latin typeface="Times New Roman" panose="02020603050405020304" pitchFamily="18" charset="0"/>
                <a:ea typeface="楷体_GB2312"/>
                <a:cs typeface="Times New Roman" panose="02020603050405020304" pitchFamily="18" charset="0"/>
              </a:rPr>
              <a:t>t</a:t>
            </a:r>
            <a:r>
              <a:rPr lang="en-US" altLang="zh-CN" sz="1600" b="1" baseline="-25000">
                <a:solidFill>
                  <a:srgbClr val="000000"/>
                </a:solidFill>
                <a:latin typeface="Times New Roman" panose="02020603050405020304" pitchFamily="18" charset="0"/>
                <a:ea typeface="楷体_GB2312"/>
                <a:cs typeface="Times New Roman" panose="02020603050405020304" pitchFamily="18" charset="0"/>
              </a:rPr>
              <a:t>6</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 = a</a:t>
            </a:r>
            <a:r>
              <a:rPr lang="en-US" altLang="zh-CN" sz="1600" b="1">
                <a:solidFill>
                  <a:srgbClr val="000000"/>
                </a:solidFill>
                <a:latin typeface="Times New Roman" panose="02020603050405020304" pitchFamily="18" charset="0"/>
                <a:ea typeface="楷体_GB2312"/>
                <a:cs typeface="Times New Roman" panose="02020603050405020304" pitchFamily="18" charset="0"/>
              </a:rPr>
              <a:t>[</a:t>
            </a:r>
            <a:r>
              <a:rPr lang="en-US" altLang="zh-CN" sz="1600" b="1" i="1">
                <a:solidFill>
                  <a:srgbClr val="000000"/>
                </a:solidFill>
                <a:latin typeface="Times New Roman" panose="02020603050405020304" pitchFamily="18" charset="0"/>
                <a:ea typeface="楷体_GB2312"/>
                <a:cs typeface="Times New Roman" panose="02020603050405020304" pitchFamily="18" charset="0"/>
              </a:rPr>
              <a:t>t</a:t>
            </a:r>
            <a:r>
              <a:rPr lang="en-US" altLang="zh-CN" sz="1600" b="1" baseline="-25000">
                <a:solidFill>
                  <a:srgbClr val="000000"/>
                </a:solidFill>
                <a:latin typeface="Times New Roman" panose="02020603050405020304" pitchFamily="18" charset="0"/>
                <a:ea typeface="楷体_GB2312"/>
                <a:cs typeface="Times New Roman" panose="02020603050405020304" pitchFamily="18" charset="0"/>
              </a:rPr>
              <a:t>5</a:t>
            </a:r>
            <a:r>
              <a:rPr lang="en-US" altLang="zh-CN" sz="1600" b="1">
                <a:solidFill>
                  <a:srgbClr val="000000"/>
                </a:solidFill>
                <a:latin typeface="Times New Roman" panose="02020603050405020304" pitchFamily="18" charset="0"/>
                <a:ea typeface="楷体_GB2312"/>
                <a:cs typeface="Times New Roman" panose="02020603050405020304" pitchFamily="18" charset="0"/>
              </a:rPr>
              <a:t>]</a:t>
            </a:r>
          </a:p>
        </p:txBody>
      </p:sp>
      <p:sp>
        <p:nvSpPr>
          <p:cNvPr id="47" name="矩形 2">
            <a:extLst>
              <a:ext uri="{FF2B5EF4-FFF2-40B4-BE49-F238E27FC236}">
                <a16:creationId xmlns:a16="http://schemas.microsoft.com/office/drawing/2014/main" id="{97A29602-47AE-40E9-8417-F24BABFB9A09}"/>
              </a:ext>
            </a:extLst>
          </p:cNvPr>
          <p:cNvSpPr>
            <a:spLocks noChangeArrowheads="1"/>
          </p:cNvSpPr>
          <p:nvPr/>
        </p:nvSpPr>
        <p:spPr bwMode="auto">
          <a:xfrm>
            <a:off x="3779838" y="2254250"/>
            <a:ext cx="21986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endParaRPr lang="zh-CN" altLang="en-US" sz="1600">
              <a:solidFill>
                <a:srgbClr val="000000"/>
              </a:solidFill>
              <a:cs typeface="Times New Roman" panose="02020603050405020304" pitchFamily="18" charset="0"/>
            </a:endParaRPr>
          </a:p>
        </p:txBody>
      </p:sp>
      <p:sp>
        <p:nvSpPr>
          <p:cNvPr id="48" name="矩形 5">
            <a:extLst>
              <a:ext uri="{FF2B5EF4-FFF2-40B4-BE49-F238E27FC236}">
                <a16:creationId xmlns:a16="http://schemas.microsoft.com/office/drawing/2014/main" id="{78062B4C-0DAE-4E97-A888-7E3C1C47B5C3}"/>
              </a:ext>
            </a:extLst>
          </p:cNvPr>
          <p:cNvSpPr>
            <a:spLocks noChangeArrowheads="1"/>
          </p:cNvSpPr>
          <p:nvPr/>
        </p:nvSpPr>
        <p:spPr bwMode="auto">
          <a:xfrm>
            <a:off x="2843213" y="754063"/>
            <a:ext cx="5024437"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a:solidFill>
                  <a:schemeClr val="tx1"/>
                </a:solidFill>
                <a:latin typeface="Tahoma" panose="020B0604030504040204" pitchFamily="34" charset="0"/>
                <a:ea typeface="宋体" panose="02010600030101010101" pitchFamily="2" charset="-122"/>
              </a:defRPr>
            </a:lvl1pPr>
            <a:lvl2pPr marL="301625">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lvl="1" indent="0" eaLnBrk="1" hangingPunct="1">
              <a:lnSpc>
                <a:spcPts val="2500"/>
              </a:lnSpc>
              <a:spcBef>
                <a:spcPct val="20000"/>
              </a:spcBef>
              <a:buSzPct val="100000"/>
            </a:pPr>
            <a:r>
              <a:rPr lang="en-US" altLang="zh-CN" sz="2000" b="1" i="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addr</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baseline="-250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baseline="-250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baseline="-250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3</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000" b="1" i="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base</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i="1" baseline="-250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000" b="1">
                <a:solidFill>
                  <a:srgbClr val="FF0000"/>
                </a:solidFill>
                <a:latin typeface="Times New Roman" panose="02020603050405020304" pitchFamily="18" charset="0"/>
                <a:ea typeface="楷体_GB2312"/>
                <a:cs typeface="Times New Roman" panose="02020603050405020304" pitchFamily="18" charset="0"/>
                <a:sym typeface="Symbol" panose="05050102010706020507" pitchFamily="18" charset="2"/>
              </a:rPr>
              <a:t></a:t>
            </a:r>
            <a:r>
              <a:rPr kumimoji="1" lang="en-US" altLang="zh-CN" sz="2000" b="1" i="1">
                <a:solidFill>
                  <a:srgbClr val="FF0000"/>
                </a:solidFill>
                <a:latin typeface="Times New Roman" panose="02020603050405020304" pitchFamily="18" charset="0"/>
                <a:ea typeface="楷体_GB2312"/>
                <a:cs typeface="Times New Roman" panose="02020603050405020304" pitchFamily="18" charset="0"/>
                <a:sym typeface="Symbol" panose="05050102010706020507" pitchFamily="18" charset="2"/>
              </a:rPr>
              <a:t>w</a:t>
            </a:r>
            <a:r>
              <a:rPr lang="en-US" altLang="zh-CN" sz="2000" b="1" i="1" baseline="-250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i="1" baseline="-250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000" b="1">
                <a:solidFill>
                  <a:srgbClr val="FF0000"/>
                </a:solidFill>
                <a:latin typeface="Times New Roman" panose="02020603050405020304" pitchFamily="18" charset="0"/>
                <a:ea typeface="楷体_GB2312"/>
                <a:cs typeface="Times New Roman" panose="02020603050405020304" pitchFamily="18" charset="0"/>
                <a:sym typeface="Symbol" panose="05050102010706020507" pitchFamily="18" charset="2"/>
              </a:rPr>
              <a:t></a:t>
            </a:r>
            <a:r>
              <a:rPr kumimoji="1" lang="en-US" altLang="zh-CN" sz="2000" b="1" i="1">
                <a:solidFill>
                  <a:srgbClr val="FF0000"/>
                </a:solidFill>
                <a:latin typeface="Times New Roman" panose="02020603050405020304" pitchFamily="18" charset="0"/>
                <a:ea typeface="楷体_GB2312"/>
                <a:cs typeface="Times New Roman" panose="02020603050405020304" pitchFamily="18" charset="0"/>
                <a:sym typeface="Symbol" panose="05050102010706020507" pitchFamily="18" charset="2"/>
              </a:rPr>
              <a:t>w</a:t>
            </a:r>
            <a:r>
              <a:rPr lang="en-US" altLang="zh-CN" sz="2000" b="1" i="1" baseline="-250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i="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000" b="1" i="1" baseline="-250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3</a:t>
            </a:r>
            <a:r>
              <a:rPr kumimoji="1" lang="zh-CN" altLang="en-US" sz="2000" b="1">
                <a:solidFill>
                  <a:srgbClr val="FF0000"/>
                </a:solidFill>
                <a:latin typeface="Times New Roman" panose="02020603050405020304" pitchFamily="18" charset="0"/>
                <a:ea typeface="楷体_GB2312"/>
                <a:cs typeface="Times New Roman" panose="02020603050405020304" pitchFamily="18" charset="0"/>
                <a:sym typeface="Symbol" panose="05050102010706020507" pitchFamily="18" charset="2"/>
              </a:rPr>
              <a:t></a:t>
            </a:r>
            <a:r>
              <a:rPr kumimoji="1" lang="en-US" altLang="zh-CN" sz="2000" b="1" i="1">
                <a:solidFill>
                  <a:srgbClr val="FF0000"/>
                </a:solidFill>
                <a:latin typeface="Times New Roman" panose="02020603050405020304" pitchFamily="18" charset="0"/>
                <a:ea typeface="楷体_GB2312"/>
                <a:cs typeface="Times New Roman" panose="02020603050405020304" pitchFamily="18" charset="0"/>
                <a:sym typeface="Symbol" panose="05050102010706020507" pitchFamily="18" charset="2"/>
              </a:rPr>
              <a:t>w</a:t>
            </a:r>
            <a:r>
              <a:rPr lang="en-US" altLang="zh-CN" sz="2000" b="1" i="1" baseline="-2500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3</a:t>
            </a:r>
            <a:endParaRPr lang="en-US" altLang="zh-CN" sz="2000" b="1">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49" name="组合 6">
            <a:extLst>
              <a:ext uri="{FF2B5EF4-FFF2-40B4-BE49-F238E27FC236}">
                <a16:creationId xmlns:a16="http://schemas.microsoft.com/office/drawing/2014/main" id="{73A711AD-189F-4E95-965E-45E5FA4A627B}"/>
              </a:ext>
            </a:extLst>
          </p:cNvPr>
          <p:cNvGrpSpPr>
            <a:grpSpLocks/>
          </p:cNvGrpSpPr>
          <p:nvPr/>
        </p:nvGrpSpPr>
        <p:grpSpPr bwMode="auto">
          <a:xfrm>
            <a:off x="5737225" y="1058863"/>
            <a:ext cx="604838" cy="339725"/>
            <a:chOff x="3681830" y="3822828"/>
            <a:chExt cx="604382" cy="339503"/>
          </a:xfrm>
        </p:grpSpPr>
        <p:cxnSp>
          <p:nvCxnSpPr>
            <p:cNvPr id="50" name="直接连接符 49">
              <a:extLst>
                <a:ext uri="{FF2B5EF4-FFF2-40B4-BE49-F238E27FC236}">
                  <a16:creationId xmlns:a16="http://schemas.microsoft.com/office/drawing/2014/main" id="{53A5396B-618C-4E80-8B5C-B58A8B31CCC7}"/>
                </a:ext>
              </a:extLst>
            </p:cNvPr>
            <p:cNvCxnSpPr/>
            <p:nvPr/>
          </p:nvCxnSpPr>
          <p:spPr>
            <a:xfrm>
              <a:off x="3681830" y="3910083"/>
              <a:ext cx="604382" cy="1587"/>
            </a:xfrm>
            <a:prstGeom prst="line">
              <a:avLst/>
            </a:prstGeom>
            <a:ln w="254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1" name="矩形 5">
              <a:extLst>
                <a:ext uri="{FF2B5EF4-FFF2-40B4-BE49-F238E27FC236}">
                  <a16:creationId xmlns:a16="http://schemas.microsoft.com/office/drawing/2014/main" id="{98B6B6B3-D1FE-4750-9D77-013117DDBBC8}"/>
                </a:ext>
              </a:extLst>
            </p:cNvPr>
            <p:cNvSpPr>
              <a:spLocks noChangeArrowheads="1"/>
            </p:cNvSpPr>
            <p:nvPr/>
          </p:nvSpPr>
          <p:spPr bwMode="auto">
            <a:xfrm>
              <a:off x="3861083" y="3822828"/>
              <a:ext cx="310915" cy="339503"/>
            </a:xfrm>
            <a:prstGeom prst="rect">
              <a:avLst/>
            </a:prstGeom>
            <a:noFill/>
            <a:ln>
              <a:noFill/>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lang="en-US" altLang="zh-CN" sz="1600" b="1" i="1"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rPr>
                <a:t>t</a:t>
              </a:r>
              <a:r>
                <a:rPr lang="en-US" altLang="zh-CN" sz="1600" b="1" baseline="-25000"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rPr>
                <a:t>1</a:t>
              </a:r>
              <a:endParaRPr lang="zh-CN" altLang="en-US" sz="1600" dirty="0">
                <a:solidFill>
                  <a:schemeClr val="tx2">
                    <a:lumMod val="60000"/>
                    <a:lumOff val="40000"/>
                  </a:schemeClr>
                </a:solidFill>
                <a:ea typeface="华文楷体" panose="02010600040101010101" pitchFamily="2" charset="-122"/>
                <a:cs typeface="Times New Roman" panose="02020603050405020304" pitchFamily="18" charset="0"/>
              </a:endParaRPr>
            </a:p>
          </p:txBody>
        </p:sp>
      </p:grpSp>
      <p:grpSp>
        <p:nvGrpSpPr>
          <p:cNvPr id="52" name="组合 6">
            <a:extLst>
              <a:ext uri="{FF2B5EF4-FFF2-40B4-BE49-F238E27FC236}">
                <a16:creationId xmlns:a16="http://schemas.microsoft.com/office/drawing/2014/main" id="{FAA8FC5E-B569-4350-8626-CB50940F2F9D}"/>
              </a:ext>
            </a:extLst>
          </p:cNvPr>
          <p:cNvGrpSpPr>
            <a:grpSpLocks/>
          </p:cNvGrpSpPr>
          <p:nvPr/>
        </p:nvGrpSpPr>
        <p:grpSpPr bwMode="auto">
          <a:xfrm>
            <a:off x="6443663" y="1058863"/>
            <a:ext cx="604837" cy="339725"/>
            <a:chOff x="3681830" y="3822828"/>
            <a:chExt cx="604382" cy="339503"/>
          </a:xfrm>
        </p:grpSpPr>
        <p:cxnSp>
          <p:nvCxnSpPr>
            <p:cNvPr id="53" name="直接连接符 52">
              <a:extLst>
                <a:ext uri="{FF2B5EF4-FFF2-40B4-BE49-F238E27FC236}">
                  <a16:creationId xmlns:a16="http://schemas.microsoft.com/office/drawing/2014/main" id="{55B70691-2A42-46CE-A8EE-D7FA0C0638A3}"/>
                </a:ext>
              </a:extLst>
            </p:cNvPr>
            <p:cNvCxnSpPr/>
            <p:nvPr/>
          </p:nvCxnSpPr>
          <p:spPr>
            <a:xfrm>
              <a:off x="3681830" y="3910083"/>
              <a:ext cx="604382" cy="1587"/>
            </a:xfrm>
            <a:prstGeom prst="line">
              <a:avLst/>
            </a:prstGeom>
            <a:ln w="254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4" name="矩形 5">
              <a:extLst>
                <a:ext uri="{FF2B5EF4-FFF2-40B4-BE49-F238E27FC236}">
                  <a16:creationId xmlns:a16="http://schemas.microsoft.com/office/drawing/2014/main" id="{621E67DC-1E05-4179-B80B-2A185D6A9053}"/>
                </a:ext>
              </a:extLst>
            </p:cNvPr>
            <p:cNvSpPr>
              <a:spLocks noChangeArrowheads="1"/>
            </p:cNvSpPr>
            <p:nvPr/>
          </p:nvSpPr>
          <p:spPr bwMode="auto">
            <a:xfrm>
              <a:off x="3861082" y="3822828"/>
              <a:ext cx="310916" cy="339503"/>
            </a:xfrm>
            <a:prstGeom prst="rect">
              <a:avLst/>
            </a:prstGeom>
            <a:noFill/>
            <a:ln>
              <a:noFill/>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lang="en-US" altLang="zh-CN" sz="1600" b="1" i="1"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rPr>
                <a:t>t</a:t>
              </a:r>
              <a:r>
                <a:rPr lang="en-US" altLang="zh-CN" sz="1600" b="1" baseline="-25000"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rPr>
                <a:t>2</a:t>
              </a:r>
              <a:endParaRPr lang="zh-CN" altLang="en-US" sz="1600" dirty="0">
                <a:solidFill>
                  <a:schemeClr val="tx2">
                    <a:lumMod val="60000"/>
                    <a:lumOff val="40000"/>
                  </a:schemeClr>
                </a:solidFill>
                <a:ea typeface="华文楷体" panose="02010600040101010101" pitchFamily="2" charset="-122"/>
                <a:cs typeface="Times New Roman" panose="02020603050405020304" pitchFamily="18" charset="0"/>
              </a:endParaRPr>
            </a:p>
          </p:txBody>
        </p:sp>
      </p:grpSp>
      <p:grpSp>
        <p:nvGrpSpPr>
          <p:cNvPr id="55" name="组合 6">
            <a:extLst>
              <a:ext uri="{FF2B5EF4-FFF2-40B4-BE49-F238E27FC236}">
                <a16:creationId xmlns:a16="http://schemas.microsoft.com/office/drawing/2014/main" id="{C9563C80-550D-40BA-BFE4-C95DEC048FEA}"/>
              </a:ext>
            </a:extLst>
          </p:cNvPr>
          <p:cNvGrpSpPr>
            <a:grpSpLocks/>
          </p:cNvGrpSpPr>
          <p:nvPr/>
        </p:nvGrpSpPr>
        <p:grpSpPr bwMode="auto">
          <a:xfrm>
            <a:off x="7135813" y="1058863"/>
            <a:ext cx="604837" cy="339725"/>
            <a:chOff x="3681830" y="3822828"/>
            <a:chExt cx="604382" cy="339503"/>
          </a:xfrm>
        </p:grpSpPr>
        <p:cxnSp>
          <p:nvCxnSpPr>
            <p:cNvPr id="56" name="直接连接符 55">
              <a:extLst>
                <a:ext uri="{FF2B5EF4-FFF2-40B4-BE49-F238E27FC236}">
                  <a16:creationId xmlns:a16="http://schemas.microsoft.com/office/drawing/2014/main" id="{E8A532D9-DAFC-46E8-BBB9-94460D1A49AC}"/>
                </a:ext>
              </a:extLst>
            </p:cNvPr>
            <p:cNvCxnSpPr/>
            <p:nvPr/>
          </p:nvCxnSpPr>
          <p:spPr>
            <a:xfrm>
              <a:off x="3681830" y="3910083"/>
              <a:ext cx="604382" cy="1587"/>
            </a:xfrm>
            <a:prstGeom prst="line">
              <a:avLst/>
            </a:prstGeom>
            <a:ln w="254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7" name="矩形 5">
              <a:extLst>
                <a:ext uri="{FF2B5EF4-FFF2-40B4-BE49-F238E27FC236}">
                  <a16:creationId xmlns:a16="http://schemas.microsoft.com/office/drawing/2014/main" id="{6930804B-6547-4E9C-A099-3EC9F0A30BD8}"/>
                </a:ext>
              </a:extLst>
            </p:cNvPr>
            <p:cNvSpPr>
              <a:spLocks noChangeArrowheads="1"/>
            </p:cNvSpPr>
            <p:nvPr/>
          </p:nvSpPr>
          <p:spPr bwMode="auto">
            <a:xfrm>
              <a:off x="3861082" y="3822828"/>
              <a:ext cx="310916" cy="339503"/>
            </a:xfrm>
            <a:prstGeom prst="rect">
              <a:avLst/>
            </a:prstGeom>
            <a:noFill/>
            <a:ln>
              <a:noFill/>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lang="en-US" altLang="zh-CN" sz="1600" b="1" i="1"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rPr>
                <a:t>t</a:t>
              </a:r>
              <a:r>
                <a:rPr lang="en-US" altLang="zh-CN" sz="1600" b="1" baseline="-25000" dirty="0">
                  <a:solidFill>
                    <a:schemeClr val="tx2">
                      <a:lumMod val="60000"/>
                      <a:lumOff val="40000"/>
                    </a:schemeClr>
                  </a:solidFill>
                  <a:latin typeface="Times New Roman" panose="02020603050405020304" pitchFamily="18" charset="0"/>
                  <a:ea typeface="楷体_GB2312" pitchFamily="49" charset="-122"/>
                  <a:cs typeface="Times New Roman" panose="02020603050405020304" pitchFamily="18" charset="0"/>
                </a:rPr>
                <a:t>4</a:t>
              </a:r>
              <a:endParaRPr lang="zh-CN" altLang="en-US" sz="1600" dirty="0">
                <a:solidFill>
                  <a:schemeClr val="tx2">
                    <a:lumMod val="60000"/>
                    <a:lumOff val="40000"/>
                  </a:schemeClr>
                </a:solidFill>
                <a:ea typeface="华文楷体" panose="02010600040101010101" pitchFamily="2" charset="-122"/>
                <a:cs typeface="Times New Roman" panose="02020603050405020304" pitchFamily="18" charset="0"/>
              </a:endParaRPr>
            </a:p>
          </p:txBody>
        </p:sp>
      </p:grpSp>
      <p:pic>
        <p:nvPicPr>
          <p:cNvPr id="61" name="object 8">
            <a:extLst>
              <a:ext uri="{FF2B5EF4-FFF2-40B4-BE49-F238E27FC236}">
                <a16:creationId xmlns:a16="http://schemas.microsoft.com/office/drawing/2014/main" id="{8B5DFBF9-DC2D-4C6A-A885-456BFB1D68AC}"/>
              </a:ext>
            </a:extLst>
          </p:cNvPr>
          <p:cNvPicPr/>
          <p:nvPr/>
        </p:nvPicPr>
        <p:blipFill>
          <a:blip r:embed="rId2" cstate="print"/>
          <a:stretch>
            <a:fillRect/>
          </a:stretch>
        </p:blipFill>
        <p:spPr bwMode="auto">
          <a:xfrm>
            <a:off x="397486" y="1425851"/>
            <a:ext cx="4160902" cy="1250397"/>
          </a:xfrm>
          <a:prstGeom prst="rect">
            <a:avLst/>
          </a:prstGeom>
        </p:spPr>
      </p:pic>
      <p:grpSp>
        <p:nvGrpSpPr>
          <p:cNvPr id="63" name="object 5">
            <a:extLst>
              <a:ext uri="{FF2B5EF4-FFF2-40B4-BE49-F238E27FC236}">
                <a16:creationId xmlns:a16="http://schemas.microsoft.com/office/drawing/2014/main" id="{F5EA0E64-6A3A-4DDB-987E-857919A64DEC}"/>
              </a:ext>
            </a:extLst>
          </p:cNvPr>
          <p:cNvGrpSpPr/>
          <p:nvPr/>
        </p:nvGrpSpPr>
        <p:grpSpPr>
          <a:xfrm>
            <a:off x="345272" y="2919475"/>
            <a:ext cx="4558030" cy="2027555"/>
            <a:chOff x="4543075" y="152019"/>
            <a:chExt cx="4558030" cy="2027555"/>
          </a:xfrm>
        </p:grpSpPr>
        <p:pic>
          <p:nvPicPr>
            <p:cNvPr id="64" name="object 6">
              <a:extLst>
                <a:ext uri="{FF2B5EF4-FFF2-40B4-BE49-F238E27FC236}">
                  <a16:creationId xmlns:a16="http://schemas.microsoft.com/office/drawing/2014/main" id="{262B5E1F-C86D-4908-A411-0F0F2FEB6884}"/>
                </a:ext>
              </a:extLst>
            </p:cNvPr>
            <p:cNvPicPr/>
            <p:nvPr/>
          </p:nvPicPr>
          <p:blipFill>
            <a:blip r:embed="rId3" cstate="print"/>
            <a:stretch>
              <a:fillRect/>
            </a:stretch>
          </p:blipFill>
          <p:spPr>
            <a:xfrm>
              <a:off x="4543075" y="152019"/>
              <a:ext cx="4557617" cy="2027301"/>
            </a:xfrm>
            <a:prstGeom prst="rect">
              <a:avLst/>
            </a:prstGeom>
          </p:spPr>
        </p:pic>
        <p:sp>
          <p:nvSpPr>
            <p:cNvPr id="65" name="object 7">
              <a:extLst>
                <a:ext uri="{FF2B5EF4-FFF2-40B4-BE49-F238E27FC236}">
                  <a16:creationId xmlns:a16="http://schemas.microsoft.com/office/drawing/2014/main" id="{41065010-DF4C-4B84-8B28-E34A66537A8F}"/>
                </a:ext>
              </a:extLst>
            </p:cNvPr>
            <p:cNvSpPr/>
            <p:nvPr/>
          </p:nvSpPr>
          <p:spPr>
            <a:xfrm>
              <a:off x="8479535" y="1720596"/>
              <a:ext cx="234950" cy="307975"/>
            </a:xfrm>
            <a:custGeom>
              <a:avLst/>
              <a:gdLst/>
              <a:ahLst/>
              <a:cxnLst/>
              <a:rect l="l" t="t" r="r" b="b"/>
              <a:pathLst>
                <a:path w="234950" h="307975">
                  <a:moveTo>
                    <a:pt x="234696" y="0"/>
                  </a:moveTo>
                  <a:lnTo>
                    <a:pt x="0" y="0"/>
                  </a:lnTo>
                  <a:lnTo>
                    <a:pt x="0" y="307848"/>
                  </a:lnTo>
                  <a:lnTo>
                    <a:pt x="234696" y="307848"/>
                  </a:lnTo>
                  <a:lnTo>
                    <a:pt x="234696" y="0"/>
                  </a:lnTo>
                  <a:close/>
                </a:path>
              </a:pathLst>
            </a:custGeom>
            <a:solidFill>
              <a:srgbClr val="FFFF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Tree>
    <p:extLst>
      <p:ext uri="{BB962C8B-B14F-4D97-AF65-F5344CB8AC3E}">
        <p14:creationId xmlns:p14="http://schemas.microsoft.com/office/powerpoint/2010/main" val="2322801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8"/>
                                        </p:tgtEl>
                                        <p:attrNameLst>
                                          <p:attrName>style.visibility</p:attrName>
                                        </p:attrNameLst>
                                      </p:cBhvr>
                                      <p:to>
                                        <p:strVal val="visible"/>
                                      </p:to>
                                    </p:set>
                                    <p:anim calcmode="lin" valueType="num">
                                      <p:cBhvr>
                                        <p:cTn id="14" dur="500" fill="hold"/>
                                        <p:tgtEl>
                                          <p:spTgt spid="48"/>
                                        </p:tgtEl>
                                        <p:attrNameLst>
                                          <p:attrName>ppt_w</p:attrName>
                                        </p:attrNameLst>
                                      </p:cBhvr>
                                      <p:tavLst>
                                        <p:tav tm="0">
                                          <p:val>
                                            <p:fltVal val="0"/>
                                          </p:val>
                                        </p:tav>
                                        <p:tav tm="100000">
                                          <p:val>
                                            <p:strVal val="#ppt_w"/>
                                          </p:val>
                                        </p:tav>
                                      </p:tavLst>
                                    </p:anim>
                                    <p:anim calcmode="lin" valueType="num">
                                      <p:cBhvr>
                                        <p:cTn id="15" dur="500" fill="hold"/>
                                        <p:tgtEl>
                                          <p:spTgt spid="48"/>
                                        </p:tgtEl>
                                        <p:attrNameLst>
                                          <p:attrName>ppt_h</p:attrName>
                                        </p:attrNameLst>
                                      </p:cBhvr>
                                      <p:tavLst>
                                        <p:tav tm="0">
                                          <p:val>
                                            <p:fltVal val="0"/>
                                          </p:val>
                                        </p:tav>
                                        <p:tav tm="100000">
                                          <p:val>
                                            <p:strVal val="#ppt_h"/>
                                          </p:val>
                                        </p:tav>
                                      </p:tavLst>
                                    </p:anim>
                                    <p:animEffect transition="in" filter="fade">
                                      <p:cBhvr>
                                        <p:cTn id="16" dur="500"/>
                                        <p:tgtEl>
                                          <p:spTgt spid="48"/>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p:cTn id="21" dur="500" fill="hold"/>
                                        <p:tgtEl>
                                          <p:spTgt spid="21"/>
                                        </p:tgtEl>
                                        <p:attrNameLst>
                                          <p:attrName>ppt_w</p:attrName>
                                        </p:attrNameLst>
                                      </p:cBhvr>
                                      <p:tavLst>
                                        <p:tav tm="0">
                                          <p:val>
                                            <p:fltVal val="0"/>
                                          </p:val>
                                        </p:tav>
                                        <p:tav tm="100000">
                                          <p:val>
                                            <p:strVal val="#ppt_w"/>
                                          </p:val>
                                        </p:tav>
                                      </p:tavLst>
                                    </p:anim>
                                    <p:anim calcmode="lin" valueType="num">
                                      <p:cBhvr>
                                        <p:cTn id="22" dur="500" fill="hold"/>
                                        <p:tgtEl>
                                          <p:spTgt spid="21"/>
                                        </p:tgtEl>
                                        <p:attrNameLst>
                                          <p:attrName>ppt_h</p:attrName>
                                        </p:attrNameLst>
                                      </p:cBhvr>
                                      <p:tavLst>
                                        <p:tav tm="0">
                                          <p:val>
                                            <p:fltVal val="0"/>
                                          </p:val>
                                        </p:tav>
                                        <p:tav tm="100000">
                                          <p:val>
                                            <p:strVal val="#ppt_h"/>
                                          </p:val>
                                        </p:tav>
                                      </p:tavLst>
                                    </p:anim>
                                    <p:animEffect transition="in" filter="fade">
                                      <p:cBhvr>
                                        <p:cTn id="23" dur="5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43"/>
                                        </p:tgtEl>
                                        <p:attrNameLst>
                                          <p:attrName>style.visibility</p:attrName>
                                        </p:attrNameLst>
                                      </p:cBhvr>
                                      <p:to>
                                        <p:strVal val="visible"/>
                                      </p:to>
                                    </p:set>
                                    <p:anim calcmode="lin" valueType="num">
                                      <p:cBhvr>
                                        <p:cTn id="28" dur="500" fill="hold"/>
                                        <p:tgtEl>
                                          <p:spTgt spid="43"/>
                                        </p:tgtEl>
                                        <p:attrNameLst>
                                          <p:attrName>ppt_w</p:attrName>
                                        </p:attrNameLst>
                                      </p:cBhvr>
                                      <p:tavLst>
                                        <p:tav tm="0">
                                          <p:val>
                                            <p:fltVal val="0"/>
                                          </p:val>
                                        </p:tav>
                                        <p:tav tm="100000">
                                          <p:val>
                                            <p:strVal val="#ppt_w"/>
                                          </p:val>
                                        </p:tav>
                                      </p:tavLst>
                                    </p:anim>
                                    <p:anim calcmode="lin" valueType="num">
                                      <p:cBhvr>
                                        <p:cTn id="29" dur="500" fill="hold"/>
                                        <p:tgtEl>
                                          <p:spTgt spid="43"/>
                                        </p:tgtEl>
                                        <p:attrNameLst>
                                          <p:attrName>ppt_h</p:attrName>
                                        </p:attrNameLst>
                                      </p:cBhvr>
                                      <p:tavLst>
                                        <p:tav tm="0">
                                          <p:val>
                                            <p:fltVal val="0"/>
                                          </p:val>
                                        </p:tav>
                                        <p:tav tm="100000">
                                          <p:val>
                                            <p:strVal val="#ppt_h"/>
                                          </p:val>
                                        </p:tav>
                                      </p:tavLst>
                                    </p:anim>
                                    <p:animEffect transition="in" filter="fade">
                                      <p:cBhvr>
                                        <p:cTn id="30" dur="500"/>
                                        <p:tgtEl>
                                          <p:spTgt spid="43"/>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anim calcmode="lin" valueType="num">
                                      <p:cBhvr>
                                        <p:cTn id="33" dur="500" fill="hold"/>
                                        <p:tgtEl>
                                          <p:spTgt spid="44"/>
                                        </p:tgtEl>
                                        <p:attrNameLst>
                                          <p:attrName>ppt_w</p:attrName>
                                        </p:attrNameLst>
                                      </p:cBhvr>
                                      <p:tavLst>
                                        <p:tav tm="0">
                                          <p:val>
                                            <p:fltVal val="0"/>
                                          </p:val>
                                        </p:tav>
                                        <p:tav tm="100000">
                                          <p:val>
                                            <p:strVal val="#ppt_w"/>
                                          </p:val>
                                        </p:tav>
                                      </p:tavLst>
                                    </p:anim>
                                    <p:anim calcmode="lin" valueType="num">
                                      <p:cBhvr>
                                        <p:cTn id="34" dur="500" fill="hold"/>
                                        <p:tgtEl>
                                          <p:spTgt spid="44"/>
                                        </p:tgtEl>
                                        <p:attrNameLst>
                                          <p:attrName>ppt_h</p:attrName>
                                        </p:attrNameLst>
                                      </p:cBhvr>
                                      <p:tavLst>
                                        <p:tav tm="0">
                                          <p:val>
                                            <p:fltVal val="0"/>
                                          </p:val>
                                        </p:tav>
                                        <p:tav tm="100000">
                                          <p:val>
                                            <p:strVal val="#ppt_h"/>
                                          </p:val>
                                        </p:tav>
                                      </p:tavLst>
                                    </p:anim>
                                    <p:animEffect transition="in" filter="fade">
                                      <p:cBhvr>
                                        <p:cTn id="35" dur="500"/>
                                        <p:tgtEl>
                                          <p:spTgt spid="44"/>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anim calcmode="lin" valueType="num">
                                      <p:cBhvr>
                                        <p:cTn id="38" dur="500" fill="hold"/>
                                        <p:tgtEl>
                                          <p:spTgt spid="45"/>
                                        </p:tgtEl>
                                        <p:attrNameLst>
                                          <p:attrName>ppt_w</p:attrName>
                                        </p:attrNameLst>
                                      </p:cBhvr>
                                      <p:tavLst>
                                        <p:tav tm="0">
                                          <p:val>
                                            <p:fltVal val="0"/>
                                          </p:val>
                                        </p:tav>
                                        <p:tav tm="100000">
                                          <p:val>
                                            <p:strVal val="#ppt_w"/>
                                          </p:val>
                                        </p:tav>
                                      </p:tavLst>
                                    </p:anim>
                                    <p:anim calcmode="lin" valueType="num">
                                      <p:cBhvr>
                                        <p:cTn id="39" dur="500" fill="hold"/>
                                        <p:tgtEl>
                                          <p:spTgt spid="45"/>
                                        </p:tgtEl>
                                        <p:attrNameLst>
                                          <p:attrName>ppt_h</p:attrName>
                                        </p:attrNameLst>
                                      </p:cBhvr>
                                      <p:tavLst>
                                        <p:tav tm="0">
                                          <p:val>
                                            <p:fltVal val="0"/>
                                          </p:val>
                                        </p:tav>
                                        <p:tav tm="100000">
                                          <p:val>
                                            <p:strVal val="#ppt_h"/>
                                          </p:val>
                                        </p:tav>
                                      </p:tavLst>
                                    </p:anim>
                                    <p:animEffect transition="in" filter="fade">
                                      <p:cBhvr>
                                        <p:cTn id="40" dur="500"/>
                                        <p:tgtEl>
                                          <p:spTgt spid="45"/>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p:cTn id="45" dur="500" fill="hold"/>
                                        <p:tgtEl>
                                          <p:spTgt spid="15"/>
                                        </p:tgtEl>
                                        <p:attrNameLst>
                                          <p:attrName>ppt_w</p:attrName>
                                        </p:attrNameLst>
                                      </p:cBhvr>
                                      <p:tavLst>
                                        <p:tav tm="0">
                                          <p:val>
                                            <p:fltVal val="0"/>
                                          </p:val>
                                        </p:tav>
                                        <p:tav tm="100000">
                                          <p:val>
                                            <p:strVal val="#ppt_w"/>
                                          </p:val>
                                        </p:tav>
                                      </p:tavLst>
                                    </p:anim>
                                    <p:anim calcmode="lin" valueType="num">
                                      <p:cBhvr>
                                        <p:cTn id="46" dur="500" fill="hold"/>
                                        <p:tgtEl>
                                          <p:spTgt spid="15"/>
                                        </p:tgtEl>
                                        <p:attrNameLst>
                                          <p:attrName>ppt_h</p:attrName>
                                        </p:attrNameLst>
                                      </p:cBhvr>
                                      <p:tavLst>
                                        <p:tav tm="0">
                                          <p:val>
                                            <p:fltVal val="0"/>
                                          </p:val>
                                        </p:tav>
                                        <p:tav tm="100000">
                                          <p:val>
                                            <p:strVal val="#ppt_h"/>
                                          </p:val>
                                        </p:tav>
                                      </p:tavLst>
                                    </p:anim>
                                    <p:animEffect transition="in" filter="fade">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nodeType="clickEffect">
                                  <p:stCondLst>
                                    <p:cond delay="0"/>
                                  </p:stCondLst>
                                  <p:childTnLst>
                                    <p:set>
                                      <p:cBhvr>
                                        <p:cTn id="51" dur="1" fill="hold">
                                          <p:stCondLst>
                                            <p:cond delay="0"/>
                                          </p:stCondLst>
                                        </p:cTn>
                                        <p:tgtEl>
                                          <p:spTgt spid="18"/>
                                        </p:tgtEl>
                                        <p:attrNameLst>
                                          <p:attrName>style.visibility</p:attrName>
                                        </p:attrNameLst>
                                      </p:cBhvr>
                                      <p:to>
                                        <p:strVal val="visible"/>
                                      </p:to>
                                    </p:set>
                                    <p:anim calcmode="lin" valueType="num">
                                      <p:cBhvr>
                                        <p:cTn id="52" dur="500" fill="hold"/>
                                        <p:tgtEl>
                                          <p:spTgt spid="18"/>
                                        </p:tgtEl>
                                        <p:attrNameLst>
                                          <p:attrName>ppt_w</p:attrName>
                                        </p:attrNameLst>
                                      </p:cBhvr>
                                      <p:tavLst>
                                        <p:tav tm="0">
                                          <p:val>
                                            <p:fltVal val="0"/>
                                          </p:val>
                                        </p:tav>
                                        <p:tav tm="100000">
                                          <p:val>
                                            <p:strVal val="#ppt_w"/>
                                          </p:val>
                                        </p:tav>
                                      </p:tavLst>
                                    </p:anim>
                                    <p:anim calcmode="lin" valueType="num">
                                      <p:cBhvr>
                                        <p:cTn id="53" dur="500" fill="hold"/>
                                        <p:tgtEl>
                                          <p:spTgt spid="18"/>
                                        </p:tgtEl>
                                        <p:attrNameLst>
                                          <p:attrName>ppt_h</p:attrName>
                                        </p:attrNameLst>
                                      </p:cBhvr>
                                      <p:tavLst>
                                        <p:tav tm="0">
                                          <p:val>
                                            <p:fltVal val="0"/>
                                          </p:val>
                                        </p:tav>
                                        <p:tav tm="100000">
                                          <p:val>
                                            <p:strVal val="#ppt_h"/>
                                          </p:val>
                                        </p:tav>
                                      </p:tavLst>
                                    </p:anim>
                                    <p:animEffect transition="in" filter="fade">
                                      <p:cBhvr>
                                        <p:cTn id="54" dur="500"/>
                                        <p:tgtEl>
                                          <p:spTgt spid="18"/>
                                        </p:tgtEl>
                                      </p:cBhvr>
                                    </p:animEffect>
                                  </p:childTnLst>
                                </p:cTn>
                              </p:par>
                            </p:childTnLst>
                          </p:cTn>
                        </p:par>
                      </p:childTnLst>
                    </p:cTn>
                  </p:par>
                  <p:par>
                    <p:cTn id="55" fill="hold">
                      <p:stCondLst>
                        <p:cond delay="indefinite"/>
                      </p:stCondLst>
                      <p:childTnLst>
                        <p:par>
                          <p:cTn id="56" fill="hold">
                            <p:stCondLst>
                              <p:cond delay="0"/>
                            </p:stCondLst>
                            <p:childTnLst>
                              <p:par>
                                <p:cTn id="57" presetID="53" presetClass="entr" presetSubtype="16" fill="hold" grpId="0" nodeType="clickEffect">
                                  <p:stCondLst>
                                    <p:cond delay="0"/>
                                  </p:stCondLst>
                                  <p:childTnLst>
                                    <p:set>
                                      <p:cBhvr>
                                        <p:cTn id="58" dur="1" fill="hold">
                                          <p:stCondLst>
                                            <p:cond delay="0"/>
                                          </p:stCondLst>
                                        </p:cTn>
                                        <p:tgtEl>
                                          <p:spTgt spid="9"/>
                                        </p:tgtEl>
                                        <p:attrNameLst>
                                          <p:attrName>style.visibility</p:attrName>
                                        </p:attrNameLst>
                                      </p:cBhvr>
                                      <p:to>
                                        <p:strVal val="visible"/>
                                      </p:to>
                                    </p:set>
                                    <p:anim calcmode="lin" valueType="num">
                                      <p:cBhvr>
                                        <p:cTn id="59" dur="500" fill="hold"/>
                                        <p:tgtEl>
                                          <p:spTgt spid="9"/>
                                        </p:tgtEl>
                                        <p:attrNameLst>
                                          <p:attrName>ppt_w</p:attrName>
                                        </p:attrNameLst>
                                      </p:cBhvr>
                                      <p:tavLst>
                                        <p:tav tm="0">
                                          <p:val>
                                            <p:fltVal val="0"/>
                                          </p:val>
                                        </p:tav>
                                        <p:tav tm="100000">
                                          <p:val>
                                            <p:strVal val="#ppt_w"/>
                                          </p:val>
                                        </p:tav>
                                      </p:tavLst>
                                    </p:anim>
                                    <p:anim calcmode="lin" valueType="num">
                                      <p:cBhvr>
                                        <p:cTn id="60" dur="500" fill="hold"/>
                                        <p:tgtEl>
                                          <p:spTgt spid="9"/>
                                        </p:tgtEl>
                                        <p:attrNameLst>
                                          <p:attrName>ppt_h</p:attrName>
                                        </p:attrNameLst>
                                      </p:cBhvr>
                                      <p:tavLst>
                                        <p:tav tm="0">
                                          <p:val>
                                            <p:fltVal val="0"/>
                                          </p:val>
                                        </p:tav>
                                        <p:tav tm="100000">
                                          <p:val>
                                            <p:strVal val="#ppt_h"/>
                                          </p:val>
                                        </p:tav>
                                      </p:tavLst>
                                    </p:anim>
                                    <p:animEffect transition="in" filter="fade">
                                      <p:cBhvr>
                                        <p:cTn id="61" dur="500"/>
                                        <p:tgtEl>
                                          <p:spTgt spid="9"/>
                                        </p:tgtEl>
                                      </p:cBhvr>
                                    </p:animEffect>
                                  </p:childTnLst>
                                </p:cTn>
                              </p:par>
                            </p:childTnLst>
                          </p:cTn>
                        </p:par>
                      </p:childTnLst>
                    </p:cTn>
                  </p:par>
                  <p:par>
                    <p:cTn id="62" fill="hold">
                      <p:stCondLst>
                        <p:cond delay="indefinite"/>
                      </p:stCondLst>
                      <p:childTnLst>
                        <p:par>
                          <p:cTn id="63" fill="hold">
                            <p:stCondLst>
                              <p:cond delay="0"/>
                            </p:stCondLst>
                            <p:childTnLst>
                              <p:par>
                                <p:cTn id="64" presetID="53" presetClass="entr" presetSubtype="16" fill="hold" grpId="0" nodeType="clickEffect">
                                  <p:stCondLst>
                                    <p:cond delay="0"/>
                                  </p:stCondLst>
                                  <p:childTnLst>
                                    <p:set>
                                      <p:cBhvr>
                                        <p:cTn id="65" dur="1" fill="hold">
                                          <p:stCondLst>
                                            <p:cond delay="0"/>
                                          </p:stCondLst>
                                        </p:cTn>
                                        <p:tgtEl>
                                          <p:spTgt spid="8"/>
                                        </p:tgtEl>
                                        <p:attrNameLst>
                                          <p:attrName>style.visibility</p:attrName>
                                        </p:attrNameLst>
                                      </p:cBhvr>
                                      <p:to>
                                        <p:strVal val="visible"/>
                                      </p:to>
                                    </p:set>
                                    <p:anim calcmode="lin" valueType="num">
                                      <p:cBhvr>
                                        <p:cTn id="66" dur="500" fill="hold"/>
                                        <p:tgtEl>
                                          <p:spTgt spid="8"/>
                                        </p:tgtEl>
                                        <p:attrNameLst>
                                          <p:attrName>ppt_w</p:attrName>
                                        </p:attrNameLst>
                                      </p:cBhvr>
                                      <p:tavLst>
                                        <p:tav tm="0">
                                          <p:val>
                                            <p:fltVal val="0"/>
                                          </p:val>
                                        </p:tav>
                                        <p:tav tm="100000">
                                          <p:val>
                                            <p:strVal val="#ppt_w"/>
                                          </p:val>
                                        </p:tav>
                                      </p:tavLst>
                                    </p:anim>
                                    <p:anim calcmode="lin" valueType="num">
                                      <p:cBhvr>
                                        <p:cTn id="67" dur="500" fill="hold"/>
                                        <p:tgtEl>
                                          <p:spTgt spid="8"/>
                                        </p:tgtEl>
                                        <p:attrNameLst>
                                          <p:attrName>ppt_h</p:attrName>
                                        </p:attrNameLst>
                                      </p:cBhvr>
                                      <p:tavLst>
                                        <p:tav tm="0">
                                          <p:val>
                                            <p:fltVal val="0"/>
                                          </p:val>
                                        </p:tav>
                                        <p:tav tm="100000">
                                          <p:val>
                                            <p:strVal val="#ppt_h"/>
                                          </p:val>
                                        </p:tav>
                                      </p:tavLst>
                                    </p:anim>
                                    <p:animEffect transition="in" filter="fade">
                                      <p:cBhvr>
                                        <p:cTn id="68" dur="500"/>
                                        <p:tgtEl>
                                          <p:spTgt spid="8"/>
                                        </p:tgtEl>
                                      </p:cBhvr>
                                    </p:animEffect>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46">
                                            <p:bg/>
                                          </p:spTgt>
                                        </p:tgtEl>
                                        <p:attrNameLst>
                                          <p:attrName>style.visibility</p:attrName>
                                        </p:attrNameLst>
                                      </p:cBhvr>
                                      <p:to>
                                        <p:strVal val="visible"/>
                                      </p:to>
                                    </p:set>
                                    <p:anim calcmode="lin" valueType="num">
                                      <p:cBhvr>
                                        <p:cTn id="73" dur="500" fill="hold"/>
                                        <p:tgtEl>
                                          <p:spTgt spid="46">
                                            <p:bg/>
                                          </p:spTgt>
                                        </p:tgtEl>
                                        <p:attrNameLst>
                                          <p:attrName>ppt_w</p:attrName>
                                        </p:attrNameLst>
                                      </p:cBhvr>
                                      <p:tavLst>
                                        <p:tav tm="0">
                                          <p:val>
                                            <p:fltVal val="0"/>
                                          </p:val>
                                        </p:tav>
                                        <p:tav tm="100000">
                                          <p:val>
                                            <p:strVal val="#ppt_w"/>
                                          </p:val>
                                        </p:tav>
                                      </p:tavLst>
                                    </p:anim>
                                    <p:anim calcmode="lin" valueType="num">
                                      <p:cBhvr>
                                        <p:cTn id="74" dur="500" fill="hold"/>
                                        <p:tgtEl>
                                          <p:spTgt spid="46">
                                            <p:bg/>
                                          </p:spTgt>
                                        </p:tgtEl>
                                        <p:attrNameLst>
                                          <p:attrName>ppt_h</p:attrName>
                                        </p:attrNameLst>
                                      </p:cBhvr>
                                      <p:tavLst>
                                        <p:tav tm="0">
                                          <p:val>
                                            <p:fltVal val="0"/>
                                          </p:val>
                                        </p:tav>
                                        <p:tav tm="100000">
                                          <p:val>
                                            <p:strVal val="#ppt_h"/>
                                          </p:val>
                                        </p:tav>
                                      </p:tavLst>
                                    </p:anim>
                                    <p:animEffect transition="in" filter="fade">
                                      <p:cBhvr>
                                        <p:cTn id="75" dur="500"/>
                                        <p:tgtEl>
                                          <p:spTgt spid="46">
                                            <p:bg/>
                                          </p:spTgt>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46">
                                            <p:txEl>
                                              <p:pRg st="0" end="0"/>
                                            </p:txEl>
                                          </p:spTgt>
                                        </p:tgtEl>
                                        <p:attrNameLst>
                                          <p:attrName>style.visibility</p:attrName>
                                        </p:attrNameLst>
                                      </p:cBhvr>
                                      <p:to>
                                        <p:strVal val="visible"/>
                                      </p:to>
                                    </p:set>
                                    <p:anim calcmode="lin" valueType="num">
                                      <p:cBhvr>
                                        <p:cTn id="78" dur="500" fill="hold"/>
                                        <p:tgtEl>
                                          <p:spTgt spid="46">
                                            <p:txEl>
                                              <p:pRg st="0" end="0"/>
                                            </p:txEl>
                                          </p:spTgt>
                                        </p:tgtEl>
                                        <p:attrNameLst>
                                          <p:attrName>ppt_w</p:attrName>
                                        </p:attrNameLst>
                                      </p:cBhvr>
                                      <p:tavLst>
                                        <p:tav tm="0">
                                          <p:val>
                                            <p:fltVal val="0"/>
                                          </p:val>
                                        </p:tav>
                                        <p:tav tm="100000">
                                          <p:val>
                                            <p:strVal val="#ppt_w"/>
                                          </p:val>
                                        </p:tav>
                                      </p:tavLst>
                                    </p:anim>
                                    <p:anim calcmode="lin" valueType="num">
                                      <p:cBhvr>
                                        <p:cTn id="79" dur="500" fill="hold"/>
                                        <p:tgtEl>
                                          <p:spTgt spid="46">
                                            <p:txEl>
                                              <p:pRg st="0" end="0"/>
                                            </p:txEl>
                                          </p:spTgt>
                                        </p:tgtEl>
                                        <p:attrNameLst>
                                          <p:attrName>ppt_h</p:attrName>
                                        </p:attrNameLst>
                                      </p:cBhvr>
                                      <p:tavLst>
                                        <p:tav tm="0">
                                          <p:val>
                                            <p:fltVal val="0"/>
                                          </p:val>
                                        </p:tav>
                                        <p:tav tm="100000">
                                          <p:val>
                                            <p:strVal val="#ppt_h"/>
                                          </p:val>
                                        </p:tav>
                                      </p:tavLst>
                                    </p:anim>
                                    <p:animEffect transition="in" filter="fade">
                                      <p:cBhvr>
                                        <p:cTn id="80" dur="500"/>
                                        <p:tgtEl>
                                          <p:spTgt spid="46">
                                            <p:txEl>
                                              <p:pRg st="0" end="0"/>
                                            </p:txEl>
                                          </p:spTgt>
                                        </p:tgtEl>
                                      </p:cBhvr>
                                    </p:animEffect>
                                  </p:childTnLst>
                                </p:cTn>
                              </p:par>
                              <p:par>
                                <p:cTn id="81" presetID="53" presetClass="entr" presetSubtype="16" fill="hold" nodeType="withEffect">
                                  <p:stCondLst>
                                    <p:cond delay="0"/>
                                  </p:stCondLst>
                                  <p:childTnLst>
                                    <p:set>
                                      <p:cBhvr>
                                        <p:cTn id="82" dur="1" fill="hold">
                                          <p:stCondLst>
                                            <p:cond delay="0"/>
                                          </p:stCondLst>
                                        </p:cTn>
                                        <p:tgtEl>
                                          <p:spTgt spid="46">
                                            <p:txEl>
                                              <p:pRg st="1" end="1"/>
                                            </p:txEl>
                                          </p:spTgt>
                                        </p:tgtEl>
                                        <p:attrNameLst>
                                          <p:attrName>style.visibility</p:attrName>
                                        </p:attrNameLst>
                                      </p:cBhvr>
                                      <p:to>
                                        <p:strVal val="visible"/>
                                      </p:to>
                                    </p:set>
                                    <p:anim calcmode="lin" valueType="num">
                                      <p:cBhvr>
                                        <p:cTn id="83" dur="500" fill="hold"/>
                                        <p:tgtEl>
                                          <p:spTgt spid="46">
                                            <p:txEl>
                                              <p:pRg st="1" end="1"/>
                                            </p:txEl>
                                          </p:spTgt>
                                        </p:tgtEl>
                                        <p:attrNameLst>
                                          <p:attrName>ppt_w</p:attrName>
                                        </p:attrNameLst>
                                      </p:cBhvr>
                                      <p:tavLst>
                                        <p:tav tm="0">
                                          <p:val>
                                            <p:fltVal val="0"/>
                                          </p:val>
                                        </p:tav>
                                        <p:tav tm="100000">
                                          <p:val>
                                            <p:strVal val="#ppt_w"/>
                                          </p:val>
                                        </p:tav>
                                      </p:tavLst>
                                    </p:anim>
                                    <p:anim calcmode="lin" valueType="num">
                                      <p:cBhvr>
                                        <p:cTn id="84" dur="500" fill="hold"/>
                                        <p:tgtEl>
                                          <p:spTgt spid="46">
                                            <p:txEl>
                                              <p:pRg st="1" end="1"/>
                                            </p:txEl>
                                          </p:spTgt>
                                        </p:tgtEl>
                                        <p:attrNameLst>
                                          <p:attrName>ppt_h</p:attrName>
                                        </p:attrNameLst>
                                      </p:cBhvr>
                                      <p:tavLst>
                                        <p:tav tm="0">
                                          <p:val>
                                            <p:fltVal val="0"/>
                                          </p:val>
                                        </p:tav>
                                        <p:tav tm="100000">
                                          <p:val>
                                            <p:strVal val="#ppt_h"/>
                                          </p:val>
                                        </p:tav>
                                      </p:tavLst>
                                    </p:anim>
                                    <p:animEffect transition="in" filter="fade">
                                      <p:cBhvr>
                                        <p:cTn id="85" dur="500"/>
                                        <p:tgtEl>
                                          <p:spTgt spid="46">
                                            <p:txEl>
                                              <p:pRg st="1" end="1"/>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53" presetClass="entr" presetSubtype="16" fill="hold" nodeType="clickEffect">
                                  <p:stCondLst>
                                    <p:cond delay="0"/>
                                  </p:stCondLst>
                                  <p:childTnLst>
                                    <p:set>
                                      <p:cBhvr>
                                        <p:cTn id="89" dur="1" fill="hold">
                                          <p:stCondLst>
                                            <p:cond delay="0"/>
                                          </p:stCondLst>
                                        </p:cTn>
                                        <p:tgtEl>
                                          <p:spTgt spid="49"/>
                                        </p:tgtEl>
                                        <p:attrNameLst>
                                          <p:attrName>style.visibility</p:attrName>
                                        </p:attrNameLst>
                                      </p:cBhvr>
                                      <p:to>
                                        <p:strVal val="visible"/>
                                      </p:to>
                                    </p:set>
                                    <p:anim calcmode="lin" valueType="num">
                                      <p:cBhvr>
                                        <p:cTn id="90" dur="500" fill="hold"/>
                                        <p:tgtEl>
                                          <p:spTgt spid="49"/>
                                        </p:tgtEl>
                                        <p:attrNameLst>
                                          <p:attrName>ppt_w</p:attrName>
                                        </p:attrNameLst>
                                      </p:cBhvr>
                                      <p:tavLst>
                                        <p:tav tm="0">
                                          <p:val>
                                            <p:fltVal val="0"/>
                                          </p:val>
                                        </p:tav>
                                        <p:tav tm="100000">
                                          <p:val>
                                            <p:strVal val="#ppt_w"/>
                                          </p:val>
                                        </p:tav>
                                      </p:tavLst>
                                    </p:anim>
                                    <p:anim calcmode="lin" valueType="num">
                                      <p:cBhvr>
                                        <p:cTn id="91" dur="500" fill="hold"/>
                                        <p:tgtEl>
                                          <p:spTgt spid="49"/>
                                        </p:tgtEl>
                                        <p:attrNameLst>
                                          <p:attrName>ppt_h</p:attrName>
                                        </p:attrNameLst>
                                      </p:cBhvr>
                                      <p:tavLst>
                                        <p:tav tm="0">
                                          <p:val>
                                            <p:fltVal val="0"/>
                                          </p:val>
                                        </p:tav>
                                        <p:tav tm="100000">
                                          <p:val>
                                            <p:strVal val="#ppt_h"/>
                                          </p:val>
                                        </p:tav>
                                      </p:tavLst>
                                    </p:anim>
                                    <p:animEffect transition="in" filter="fade">
                                      <p:cBhvr>
                                        <p:cTn id="92" dur="500"/>
                                        <p:tgtEl>
                                          <p:spTgt spid="49"/>
                                        </p:tgtEl>
                                      </p:cBhvr>
                                    </p:animEffect>
                                  </p:childTnLst>
                                </p:cTn>
                              </p:par>
                            </p:childTnLst>
                          </p:cTn>
                        </p:par>
                      </p:childTnLst>
                    </p:cTn>
                  </p:par>
                  <p:par>
                    <p:cTn id="93" fill="hold">
                      <p:stCondLst>
                        <p:cond delay="indefinite"/>
                      </p:stCondLst>
                      <p:childTnLst>
                        <p:par>
                          <p:cTn id="94" fill="hold">
                            <p:stCondLst>
                              <p:cond delay="0"/>
                            </p:stCondLst>
                            <p:childTnLst>
                              <p:par>
                                <p:cTn id="95" presetID="53" presetClass="entr" presetSubtype="16" fill="hold" grpId="0" nodeType="clickEffect">
                                  <p:stCondLst>
                                    <p:cond delay="0"/>
                                  </p:stCondLst>
                                  <p:childTnLst>
                                    <p:set>
                                      <p:cBhvr>
                                        <p:cTn id="96" dur="1" fill="hold">
                                          <p:stCondLst>
                                            <p:cond delay="0"/>
                                          </p:stCondLst>
                                        </p:cTn>
                                        <p:tgtEl>
                                          <p:spTgt spid="16"/>
                                        </p:tgtEl>
                                        <p:attrNameLst>
                                          <p:attrName>style.visibility</p:attrName>
                                        </p:attrNameLst>
                                      </p:cBhvr>
                                      <p:to>
                                        <p:strVal val="visible"/>
                                      </p:to>
                                    </p:set>
                                    <p:anim calcmode="lin" valueType="num">
                                      <p:cBhvr>
                                        <p:cTn id="97" dur="500" fill="hold"/>
                                        <p:tgtEl>
                                          <p:spTgt spid="16"/>
                                        </p:tgtEl>
                                        <p:attrNameLst>
                                          <p:attrName>ppt_w</p:attrName>
                                        </p:attrNameLst>
                                      </p:cBhvr>
                                      <p:tavLst>
                                        <p:tav tm="0">
                                          <p:val>
                                            <p:fltVal val="0"/>
                                          </p:val>
                                        </p:tav>
                                        <p:tav tm="100000">
                                          <p:val>
                                            <p:strVal val="#ppt_w"/>
                                          </p:val>
                                        </p:tav>
                                      </p:tavLst>
                                    </p:anim>
                                    <p:anim calcmode="lin" valueType="num">
                                      <p:cBhvr>
                                        <p:cTn id="98" dur="500" fill="hold"/>
                                        <p:tgtEl>
                                          <p:spTgt spid="16"/>
                                        </p:tgtEl>
                                        <p:attrNameLst>
                                          <p:attrName>ppt_h</p:attrName>
                                        </p:attrNameLst>
                                      </p:cBhvr>
                                      <p:tavLst>
                                        <p:tav tm="0">
                                          <p:val>
                                            <p:fltVal val="0"/>
                                          </p:val>
                                        </p:tav>
                                        <p:tav tm="100000">
                                          <p:val>
                                            <p:strVal val="#ppt_h"/>
                                          </p:val>
                                        </p:tav>
                                      </p:tavLst>
                                    </p:anim>
                                    <p:animEffect transition="in" filter="fade">
                                      <p:cBhvr>
                                        <p:cTn id="99" dur="500"/>
                                        <p:tgtEl>
                                          <p:spTgt spid="16"/>
                                        </p:tgtEl>
                                      </p:cBhvr>
                                    </p:animEffect>
                                  </p:childTnLst>
                                </p:cTn>
                              </p:par>
                            </p:childTnLst>
                          </p:cTn>
                        </p:par>
                      </p:childTnLst>
                    </p:cTn>
                  </p:par>
                  <p:par>
                    <p:cTn id="100" fill="hold">
                      <p:stCondLst>
                        <p:cond delay="indefinite"/>
                      </p:stCondLst>
                      <p:childTnLst>
                        <p:par>
                          <p:cTn id="101" fill="hold">
                            <p:stCondLst>
                              <p:cond delay="0"/>
                            </p:stCondLst>
                            <p:childTnLst>
                              <p:par>
                                <p:cTn id="102" presetID="53" presetClass="entr" presetSubtype="16" fill="hold" nodeType="clickEffect">
                                  <p:stCondLst>
                                    <p:cond delay="0"/>
                                  </p:stCondLst>
                                  <p:childTnLst>
                                    <p:set>
                                      <p:cBhvr>
                                        <p:cTn id="103" dur="1" fill="hold">
                                          <p:stCondLst>
                                            <p:cond delay="0"/>
                                          </p:stCondLst>
                                        </p:cTn>
                                        <p:tgtEl>
                                          <p:spTgt spid="19"/>
                                        </p:tgtEl>
                                        <p:attrNameLst>
                                          <p:attrName>style.visibility</p:attrName>
                                        </p:attrNameLst>
                                      </p:cBhvr>
                                      <p:to>
                                        <p:strVal val="visible"/>
                                      </p:to>
                                    </p:set>
                                    <p:anim calcmode="lin" valueType="num">
                                      <p:cBhvr>
                                        <p:cTn id="104" dur="500" fill="hold"/>
                                        <p:tgtEl>
                                          <p:spTgt spid="19"/>
                                        </p:tgtEl>
                                        <p:attrNameLst>
                                          <p:attrName>ppt_w</p:attrName>
                                        </p:attrNameLst>
                                      </p:cBhvr>
                                      <p:tavLst>
                                        <p:tav tm="0">
                                          <p:val>
                                            <p:fltVal val="0"/>
                                          </p:val>
                                        </p:tav>
                                        <p:tav tm="100000">
                                          <p:val>
                                            <p:strVal val="#ppt_w"/>
                                          </p:val>
                                        </p:tav>
                                      </p:tavLst>
                                    </p:anim>
                                    <p:anim calcmode="lin" valueType="num">
                                      <p:cBhvr>
                                        <p:cTn id="105" dur="500" fill="hold"/>
                                        <p:tgtEl>
                                          <p:spTgt spid="19"/>
                                        </p:tgtEl>
                                        <p:attrNameLst>
                                          <p:attrName>ppt_h</p:attrName>
                                        </p:attrNameLst>
                                      </p:cBhvr>
                                      <p:tavLst>
                                        <p:tav tm="0">
                                          <p:val>
                                            <p:fltVal val="0"/>
                                          </p:val>
                                        </p:tav>
                                        <p:tav tm="100000">
                                          <p:val>
                                            <p:strVal val="#ppt_h"/>
                                          </p:val>
                                        </p:tav>
                                      </p:tavLst>
                                    </p:anim>
                                    <p:animEffect transition="in" filter="fade">
                                      <p:cBhvr>
                                        <p:cTn id="106" dur="500"/>
                                        <p:tgtEl>
                                          <p:spTgt spid="19"/>
                                        </p:tgtEl>
                                      </p:cBhvr>
                                    </p:animEffect>
                                  </p:childTnLst>
                                </p:cTn>
                              </p:par>
                            </p:childTnLst>
                          </p:cTn>
                        </p:par>
                        <p:par>
                          <p:cTn id="107" fill="hold">
                            <p:stCondLst>
                              <p:cond delay="500"/>
                            </p:stCondLst>
                            <p:childTnLst>
                              <p:par>
                                <p:cTn id="108" presetID="53" presetClass="entr" presetSubtype="16" fill="hold" grpId="0" nodeType="afterEffect">
                                  <p:stCondLst>
                                    <p:cond delay="0"/>
                                  </p:stCondLst>
                                  <p:childTnLst>
                                    <p:set>
                                      <p:cBhvr>
                                        <p:cTn id="109" dur="1" fill="hold">
                                          <p:stCondLst>
                                            <p:cond delay="0"/>
                                          </p:stCondLst>
                                        </p:cTn>
                                        <p:tgtEl>
                                          <p:spTgt spid="10"/>
                                        </p:tgtEl>
                                        <p:attrNameLst>
                                          <p:attrName>style.visibility</p:attrName>
                                        </p:attrNameLst>
                                      </p:cBhvr>
                                      <p:to>
                                        <p:strVal val="visible"/>
                                      </p:to>
                                    </p:set>
                                    <p:anim calcmode="lin" valueType="num">
                                      <p:cBhvr>
                                        <p:cTn id="110" dur="500" fill="hold"/>
                                        <p:tgtEl>
                                          <p:spTgt spid="10"/>
                                        </p:tgtEl>
                                        <p:attrNameLst>
                                          <p:attrName>ppt_w</p:attrName>
                                        </p:attrNameLst>
                                      </p:cBhvr>
                                      <p:tavLst>
                                        <p:tav tm="0">
                                          <p:val>
                                            <p:fltVal val="0"/>
                                          </p:val>
                                        </p:tav>
                                        <p:tav tm="100000">
                                          <p:val>
                                            <p:strVal val="#ppt_w"/>
                                          </p:val>
                                        </p:tav>
                                      </p:tavLst>
                                    </p:anim>
                                    <p:anim calcmode="lin" valueType="num">
                                      <p:cBhvr>
                                        <p:cTn id="111" dur="500" fill="hold"/>
                                        <p:tgtEl>
                                          <p:spTgt spid="10"/>
                                        </p:tgtEl>
                                        <p:attrNameLst>
                                          <p:attrName>ppt_h</p:attrName>
                                        </p:attrNameLst>
                                      </p:cBhvr>
                                      <p:tavLst>
                                        <p:tav tm="0">
                                          <p:val>
                                            <p:fltVal val="0"/>
                                          </p:val>
                                        </p:tav>
                                        <p:tav tm="100000">
                                          <p:val>
                                            <p:strVal val="#ppt_h"/>
                                          </p:val>
                                        </p:tav>
                                      </p:tavLst>
                                    </p:anim>
                                    <p:animEffect transition="in" filter="fade">
                                      <p:cBhvr>
                                        <p:cTn id="112" dur="500"/>
                                        <p:tgtEl>
                                          <p:spTgt spid="10"/>
                                        </p:tgtEl>
                                      </p:cBhvr>
                                    </p:animEffect>
                                  </p:childTnLst>
                                </p:cTn>
                              </p:par>
                            </p:childTnLst>
                          </p:cTn>
                        </p:par>
                      </p:childTnLst>
                    </p:cTn>
                  </p:par>
                  <p:par>
                    <p:cTn id="113" fill="hold">
                      <p:stCondLst>
                        <p:cond delay="indefinite"/>
                      </p:stCondLst>
                      <p:childTnLst>
                        <p:par>
                          <p:cTn id="114" fill="hold">
                            <p:stCondLst>
                              <p:cond delay="0"/>
                            </p:stCondLst>
                            <p:childTnLst>
                              <p:par>
                                <p:cTn id="115" presetID="53" presetClass="entr" presetSubtype="16" fill="hold" nodeType="clickEffect">
                                  <p:stCondLst>
                                    <p:cond delay="0"/>
                                  </p:stCondLst>
                                  <p:childTnLst>
                                    <p:set>
                                      <p:cBhvr>
                                        <p:cTn id="116" dur="1" fill="hold">
                                          <p:stCondLst>
                                            <p:cond delay="0"/>
                                          </p:stCondLst>
                                        </p:cTn>
                                        <p:tgtEl>
                                          <p:spTgt spid="52"/>
                                        </p:tgtEl>
                                        <p:attrNameLst>
                                          <p:attrName>style.visibility</p:attrName>
                                        </p:attrNameLst>
                                      </p:cBhvr>
                                      <p:to>
                                        <p:strVal val="visible"/>
                                      </p:to>
                                    </p:set>
                                    <p:anim calcmode="lin" valueType="num">
                                      <p:cBhvr>
                                        <p:cTn id="117" dur="500" fill="hold"/>
                                        <p:tgtEl>
                                          <p:spTgt spid="52"/>
                                        </p:tgtEl>
                                        <p:attrNameLst>
                                          <p:attrName>ppt_w</p:attrName>
                                        </p:attrNameLst>
                                      </p:cBhvr>
                                      <p:tavLst>
                                        <p:tav tm="0">
                                          <p:val>
                                            <p:fltVal val="0"/>
                                          </p:val>
                                        </p:tav>
                                        <p:tav tm="100000">
                                          <p:val>
                                            <p:strVal val="#ppt_w"/>
                                          </p:val>
                                        </p:tav>
                                      </p:tavLst>
                                    </p:anim>
                                    <p:anim calcmode="lin" valueType="num">
                                      <p:cBhvr>
                                        <p:cTn id="118" dur="500" fill="hold"/>
                                        <p:tgtEl>
                                          <p:spTgt spid="52"/>
                                        </p:tgtEl>
                                        <p:attrNameLst>
                                          <p:attrName>ppt_h</p:attrName>
                                        </p:attrNameLst>
                                      </p:cBhvr>
                                      <p:tavLst>
                                        <p:tav tm="0">
                                          <p:val>
                                            <p:fltVal val="0"/>
                                          </p:val>
                                        </p:tav>
                                        <p:tav tm="100000">
                                          <p:val>
                                            <p:strVal val="#ppt_h"/>
                                          </p:val>
                                        </p:tav>
                                      </p:tavLst>
                                    </p:anim>
                                    <p:animEffect transition="in" filter="fade">
                                      <p:cBhvr>
                                        <p:cTn id="119" dur="500"/>
                                        <p:tgtEl>
                                          <p:spTgt spid="52"/>
                                        </p:tgtEl>
                                      </p:cBhvr>
                                    </p:animEffect>
                                  </p:childTnLst>
                                </p:cTn>
                              </p:par>
                            </p:childTnLst>
                          </p:cTn>
                        </p:par>
                      </p:childTnLst>
                    </p:cTn>
                  </p:par>
                  <p:par>
                    <p:cTn id="120" fill="hold">
                      <p:stCondLst>
                        <p:cond delay="indefinite"/>
                      </p:stCondLst>
                      <p:childTnLst>
                        <p:par>
                          <p:cTn id="121" fill="hold">
                            <p:stCondLst>
                              <p:cond delay="0"/>
                            </p:stCondLst>
                            <p:childTnLst>
                              <p:par>
                                <p:cTn id="122" presetID="53" presetClass="entr" presetSubtype="16" fill="hold" nodeType="clickEffect">
                                  <p:stCondLst>
                                    <p:cond delay="0"/>
                                  </p:stCondLst>
                                  <p:childTnLst>
                                    <p:set>
                                      <p:cBhvr>
                                        <p:cTn id="123" dur="1" fill="hold">
                                          <p:stCondLst>
                                            <p:cond delay="0"/>
                                          </p:stCondLst>
                                        </p:cTn>
                                        <p:tgtEl>
                                          <p:spTgt spid="46">
                                            <p:txEl>
                                              <p:pRg st="2" end="2"/>
                                            </p:txEl>
                                          </p:spTgt>
                                        </p:tgtEl>
                                        <p:attrNameLst>
                                          <p:attrName>style.visibility</p:attrName>
                                        </p:attrNameLst>
                                      </p:cBhvr>
                                      <p:to>
                                        <p:strVal val="visible"/>
                                      </p:to>
                                    </p:set>
                                    <p:anim calcmode="lin" valueType="num">
                                      <p:cBhvr>
                                        <p:cTn id="124" dur="500" fill="hold"/>
                                        <p:tgtEl>
                                          <p:spTgt spid="46">
                                            <p:txEl>
                                              <p:pRg st="2" end="2"/>
                                            </p:txEl>
                                          </p:spTgt>
                                        </p:tgtEl>
                                        <p:attrNameLst>
                                          <p:attrName>ppt_w</p:attrName>
                                        </p:attrNameLst>
                                      </p:cBhvr>
                                      <p:tavLst>
                                        <p:tav tm="0">
                                          <p:val>
                                            <p:fltVal val="0"/>
                                          </p:val>
                                        </p:tav>
                                        <p:tav tm="100000">
                                          <p:val>
                                            <p:strVal val="#ppt_w"/>
                                          </p:val>
                                        </p:tav>
                                      </p:tavLst>
                                    </p:anim>
                                    <p:anim calcmode="lin" valueType="num">
                                      <p:cBhvr>
                                        <p:cTn id="125" dur="500" fill="hold"/>
                                        <p:tgtEl>
                                          <p:spTgt spid="46">
                                            <p:txEl>
                                              <p:pRg st="2" end="2"/>
                                            </p:txEl>
                                          </p:spTgt>
                                        </p:tgtEl>
                                        <p:attrNameLst>
                                          <p:attrName>ppt_h</p:attrName>
                                        </p:attrNameLst>
                                      </p:cBhvr>
                                      <p:tavLst>
                                        <p:tav tm="0">
                                          <p:val>
                                            <p:fltVal val="0"/>
                                          </p:val>
                                        </p:tav>
                                        <p:tav tm="100000">
                                          <p:val>
                                            <p:strVal val="#ppt_h"/>
                                          </p:val>
                                        </p:tav>
                                      </p:tavLst>
                                    </p:anim>
                                    <p:animEffect transition="in" filter="fade">
                                      <p:cBhvr>
                                        <p:cTn id="126" dur="500"/>
                                        <p:tgtEl>
                                          <p:spTgt spid="46">
                                            <p:txEl>
                                              <p:pRg st="2" end="2"/>
                                            </p:txEl>
                                          </p:spTgt>
                                        </p:tgtEl>
                                      </p:cBhvr>
                                    </p:animEffect>
                                  </p:childTnLst>
                                </p:cTn>
                              </p:par>
                            </p:childTnLst>
                          </p:cTn>
                        </p:par>
                      </p:childTnLst>
                    </p:cTn>
                  </p:par>
                  <p:par>
                    <p:cTn id="127" fill="hold">
                      <p:stCondLst>
                        <p:cond delay="indefinite"/>
                      </p:stCondLst>
                      <p:childTnLst>
                        <p:par>
                          <p:cTn id="128" fill="hold">
                            <p:stCondLst>
                              <p:cond delay="0"/>
                            </p:stCondLst>
                            <p:childTnLst>
                              <p:par>
                                <p:cTn id="129" presetID="53" presetClass="entr" presetSubtype="16" fill="hold" grpId="0" nodeType="clickEffect">
                                  <p:stCondLst>
                                    <p:cond delay="0"/>
                                  </p:stCondLst>
                                  <p:childTnLst>
                                    <p:set>
                                      <p:cBhvr>
                                        <p:cTn id="130" dur="1" fill="hold">
                                          <p:stCondLst>
                                            <p:cond delay="0"/>
                                          </p:stCondLst>
                                        </p:cTn>
                                        <p:tgtEl>
                                          <p:spTgt spid="12"/>
                                        </p:tgtEl>
                                        <p:attrNameLst>
                                          <p:attrName>style.visibility</p:attrName>
                                        </p:attrNameLst>
                                      </p:cBhvr>
                                      <p:to>
                                        <p:strVal val="visible"/>
                                      </p:to>
                                    </p:set>
                                    <p:anim calcmode="lin" valueType="num">
                                      <p:cBhvr>
                                        <p:cTn id="131" dur="500" fill="hold"/>
                                        <p:tgtEl>
                                          <p:spTgt spid="12"/>
                                        </p:tgtEl>
                                        <p:attrNameLst>
                                          <p:attrName>ppt_w</p:attrName>
                                        </p:attrNameLst>
                                      </p:cBhvr>
                                      <p:tavLst>
                                        <p:tav tm="0">
                                          <p:val>
                                            <p:fltVal val="0"/>
                                          </p:val>
                                        </p:tav>
                                        <p:tav tm="100000">
                                          <p:val>
                                            <p:strVal val="#ppt_w"/>
                                          </p:val>
                                        </p:tav>
                                      </p:tavLst>
                                    </p:anim>
                                    <p:anim calcmode="lin" valueType="num">
                                      <p:cBhvr>
                                        <p:cTn id="132" dur="500" fill="hold"/>
                                        <p:tgtEl>
                                          <p:spTgt spid="12"/>
                                        </p:tgtEl>
                                        <p:attrNameLst>
                                          <p:attrName>ppt_h</p:attrName>
                                        </p:attrNameLst>
                                      </p:cBhvr>
                                      <p:tavLst>
                                        <p:tav tm="0">
                                          <p:val>
                                            <p:fltVal val="0"/>
                                          </p:val>
                                        </p:tav>
                                        <p:tav tm="100000">
                                          <p:val>
                                            <p:strVal val="#ppt_h"/>
                                          </p:val>
                                        </p:tav>
                                      </p:tavLst>
                                    </p:anim>
                                    <p:animEffect transition="in" filter="fade">
                                      <p:cBhvr>
                                        <p:cTn id="133" dur="500"/>
                                        <p:tgtEl>
                                          <p:spTgt spid="12"/>
                                        </p:tgtEl>
                                      </p:cBhvr>
                                    </p:animEffect>
                                  </p:childTnLst>
                                </p:cTn>
                              </p:par>
                            </p:childTnLst>
                          </p:cTn>
                        </p:par>
                      </p:childTnLst>
                    </p:cTn>
                  </p:par>
                  <p:par>
                    <p:cTn id="134" fill="hold">
                      <p:stCondLst>
                        <p:cond delay="indefinite"/>
                      </p:stCondLst>
                      <p:childTnLst>
                        <p:par>
                          <p:cTn id="135" fill="hold">
                            <p:stCondLst>
                              <p:cond delay="0"/>
                            </p:stCondLst>
                            <p:childTnLst>
                              <p:par>
                                <p:cTn id="136" presetID="53" presetClass="entr" presetSubtype="16" fill="hold" nodeType="clickEffect">
                                  <p:stCondLst>
                                    <p:cond delay="0"/>
                                  </p:stCondLst>
                                  <p:childTnLst>
                                    <p:set>
                                      <p:cBhvr>
                                        <p:cTn id="137" dur="1" fill="hold">
                                          <p:stCondLst>
                                            <p:cond delay="0"/>
                                          </p:stCondLst>
                                        </p:cTn>
                                        <p:tgtEl>
                                          <p:spTgt spid="46">
                                            <p:txEl>
                                              <p:pRg st="3" end="3"/>
                                            </p:txEl>
                                          </p:spTgt>
                                        </p:tgtEl>
                                        <p:attrNameLst>
                                          <p:attrName>style.visibility</p:attrName>
                                        </p:attrNameLst>
                                      </p:cBhvr>
                                      <p:to>
                                        <p:strVal val="visible"/>
                                      </p:to>
                                    </p:set>
                                    <p:anim calcmode="lin" valueType="num">
                                      <p:cBhvr>
                                        <p:cTn id="138" dur="500" fill="hold"/>
                                        <p:tgtEl>
                                          <p:spTgt spid="46">
                                            <p:txEl>
                                              <p:pRg st="3" end="3"/>
                                            </p:txEl>
                                          </p:spTgt>
                                        </p:tgtEl>
                                        <p:attrNameLst>
                                          <p:attrName>ppt_w</p:attrName>
                                        </p:attrNameLst>
                                      </p:cBhvr>
                                      <p:tavLst>
                                        <p:tav tm="0">
                                          <p:val>
                                            <p:fltVal val="0"/>
                                          </p:val>
                                        </p:tav>
                                        <p:tav tm="100000">
                                          <p:val>
                                            <p:strVal val="#ppt_w"/>
                                          </p:val>
                                        </p:tav>
                                      </p:tavLst>
                                    </p:anim>
                                    <p:anim calcmode="lin" valueType="num">
                                      <p:cBhvr>
                                        <p:cTn id="139" dur="500" fill="hold"/>
                                        <p:tgtEl>
                                          <p:spTgt spid="46">
                                            <p:txEl>
                                              <p:pRg st="3" end="3"/>
                                            </p:txEl>
                                          </p:spTgt>
                                        </p:tgtEl>
                                        <p:attrNameLst>
                                          <p:attrName>ppt_h</p:attrName>
                                        </p:attrNameLst>
                                      </p:cBhvr>
                                      <p:tavLst>
                                        <p:tav tm="0">
                                          <p:val>
                                            <p:fltVal val="0"/>
                                          </p:val>
                                        </p:tav>
                                        <p:tav tm="100000">
                                          <p:val>
                                            <p:strVal val="#ppt_h"/>
                                          </p:val>
                                        </p:tav>
                                      </p:tavLst>
                                    </p:anim>
                                    <p:animEffect transition="in" filter="fade">
                                      <p:cBhvr>
                                        <p:cTn id="140" dur="500"/>
                                        <p:tgtEl>
                                          <p:spTgt spid="46">
                                            <p:txEl>
                                              <p:pRg st="3" end="3"/>
                                            </p:txEl>
                                          </p:spTgt>
                                        </p:tgtEl>
                                      </p:cBhvr>
                                    </p:animEffect>
                                  </p:childTnLst>
                                </p:cTn>
                              </p:par>
                            </p:childTnLst>
                          </p:cTn>
                        </p:par>
                      </p:childTnLst>
                    </p:cTn>
                  </p:par>
                  <p:par>
                    <p:cTn id="141" fill="hold">
                      <p:stCondLst>
                        <p:cond delay="indefinite"/>
                      </p:stCondLst>
                      <p:childTnLst>
                        <p:par>
                          <p:cTn id="142" fill="hold">
                            <p:stCondLst>
                              <p:cond delay="0"/>
                            </p:stCondLst>
                            <p:childTnLst>
                              <p:par>
                                <p:cTn id="143" presetID="53" presetClass="entr" presetSubtype="16" fill="hold" grpId="0" nodeType="clickEffect">
                                  <p:stCondLst>
                                    <p:cond delay="0"/>
                                  </p:stCondLst>
                                  <p:childTnLst>
                                    <p:set>
                                      <p:cBhvr>
                                        <p:cTn id="144" dur="1" fill="hold">
                                          <p:stCondLst>
                                            <p:cond delay="0"/>
                                          </p:stCondLst>
                                        </p:cTn>
                                        <p:tgtEl>
                                          <p:spTgt spid="17"/>
                                        </p:tgtEl>
                                        <p:attrNameLst>
                                          <p:attrName>style.visibility</p:attrName>
                                        </p:attrNameLst>
                                      </p:cBhvr>
                                      <p:to>
                                        <p:strVal val="visible"/>
                                      </p:to>
                                    </p:set>
                                    <p:anim calcmode="lin" valueType="num">
                                      <p:cBhvr>
                                        <p:cTn id="145" dur="500" fill="hold"/>
                                        <p:tgtEl>
                                          <p:spTgt spid="17"/>
                                        </p:tgtEl>
                                        <p:attrNameLst>
                                          <p:attrName>ppt_w</p:attrName>
                                        </p:attrNameLst>
                                      </p:cBhvr>
                                      <p:tavLst>
                                        <p:tav tm="0">
                                          <p:val>
                                            <p:fltVal val="0"/>
                                          </p:val>
                                        </p:tav>
                                        <p:tav tm="100000">
                                          <p:val>
                                            <p:strVal val="#ppt_w"/>
                                          </p:val>
                                        </p:tav>
                                      </p:tavLst>
                                    </p:anim>
                                    <p:anim calcmode="lin" valueType="num">
                                      <p:cBhvr>
                                        <p:cTn id="146" dur="500" fill="hold"/>
                                        <p:tgtEl>
                                          <p:spTgt spid="17"/>
                                        </p:tgtEl>
                                        <p:attrNameLst>
                                          <p:attrName>ppt_h</p:attrName>
                                        </p:attrNameLst>
                                      </p:cBhvr>
                                      <p:tavLst>
                                        <p:tav tm="0">
                                          <p:val>
                                            <p:fltVal val="0"/>
                                          </p:val>
                                        </p:tav>
                                        <p:tav tm="100000">
                                          <p:val>
                                            <p:strVal val="#ppt_h"/>
                                          </p:val>
                                        </p:tav>
                                      </p:tavLst>
                                    </p:anim>
                                    <p:animEffect transition="in" filter="fade">
                                      <p:cBhvr>
                                        <p:cTn id="147" dur="500"/>
                                        <p:tgtEl>
                                          <p:spTgt spid="17"/>
                                        </p:tgtEl>
                                      </p:cBhvr>
                                    </p:animEffect>
                                  </p:childTnLst>
                                </p:cTn>
                              </p:par>
                            </p:childTnLst>
                          </p:cTn>
                        </p:par>
                      </p:childTnLst>
                    </p:cTn>
                  </p:par>
                  <p:par>
                    <p:cTn id="148" fill="hold">
                      <p:stCondLst>
                        <p:cond delay="indefinite"/>
                      </p:stCondLst>
                      <p:childTnLst>
                        <p:par>
                          <p:cTn id="149" fill="hold">
                            <p:stCondLst>
                              <p:cond delay="0"/>
                            </p:stCondLst>
                            <p:childTnLst>
                              <p:par>
                                <p:cTn id="150" presetID="53" presetClass="entr" presetSubtype="16" fill="hold" nodeType="clickEffect">
                                  <p:stCondLst>
                                    <p:cond delay="0"/>
                                  </p:stCondLst>
                                  <p:childTnLst>
                                    <p:set>
                                      <p:cBhvr>
                                        <p:cTn id="151" dur="1" fill="hold">
                                          <p:stCondLst>
                                            <p:cond delay="0"/>
                                          </p:stCondLst>
                                        </p:cTn>
                                        <p:tgtEl>
                                          <p:spTgt spid="20"/>
                                        </p:tgtEl>
                                        <p:attrNameLst>
                                          <p:attrName>style.visibility</p:attrName>
                                        </p:attrNameLst>
                                      </p:cBhvr>
                                      <p:to>
                                        <p:strVal val="visible"/>
                                      </p:to>
                                    </p:set>
                                    <p:anim calcmode="lin" valueType="num">
                                      <p:cBhvr>
                                        <p:cTn id="152" dur="500" fill="hold"/>
                                        <p:tgtEl>
                                          <p:spTgt spid="20"/>
                                        </p:tgtEl>
                                        <p:attrNameLst>
                                          <p:attrName>ppt_w</p:attrName>
                                        </p:attrNameLst>
                                      </p:cBhvr>
                                      <p:tavLst>
                                        <p:tav tm="0">
                                          <p:val>
                                            <p:fltVal val="0"/>
                                          </p:val>
                                        </p:tav>
                                        <p:tav tm="100000">
                                          <p:val>
                                            <p:strVal val="#ppt_w"/>
                                          </p:val>
                                        </p:tav>
                                      </p:tavLst>
                                    </p:anim>
                                    <p:anim calcmode="lin" valueType="num">
                                      <p:cBhvr>
                                        <p:cTn id="153" dur="500" fill="hold"/>
                                        <p:tgtEl>
                                          <p:spTgt spid="20"/>
                                        </p:tgtEl>
                                        <p:attrNameLst>
                                          <p:attrName>ppt_h</p:attrName>
                                        </p:attrNameLst>
                                      </p:cBhvr>
                                      <p:tavLst>
                                        <p:tav tm="0">
                                          <p:val>
                                            <p:fltVal val="0"/>
                                          </p:val>
                                        </p:tav>
                                        <p:tav tm="100000">
                                          <p:val>
                                            <p:strVal val="#ppt_h"/>
                                          </p:val>
                                        </p:tav>
                                      </p:tavLst>
                                    </p:anim>
                                    <p:animEffect transition="in" filter="fade">
                                      <p:cBhvr>
                                        <p:cTn id="154" dur="500"/>
                                        <p:tgtEl>
                                          <p:spTgt spid="20"/>
                                        </p:tgtEl>
                                      </p:cBhvr>
                                    </p:animEffect>
                                  </p:childTnLst>
                                </p:cTn>
                              </p:par>
                            </p:childTnLst>
                          </p:cTn>
                        </p:par>
                        <p:par>
                          <p:cTn id="155" fill="hold">
                            <p:stCondLst>
                              <p:cond delay="500"/>
                            </p:stCondLst>
                            <p:childTnLst>
                              <p:par>
                                <p:cTn id="156" presetID="53" presetClass="entr" presetSubtype="16" fill="hold" grpId="0" nodeType="afterEffect">
                                  <p:stCondLst>
                                    <p:cond delay="0"/>
                                  </p:stCondLst>
                                  <p:childTnLst>
                                    <p:set>
                                      <p:cBhvr>
                                        <p:cTn id="157" dur="1" fill="hold">
                                          <p:stCondLst>
                                            <p:cond delay="0"/>
                                          </p:stCondLst>
                                        </p:cTn>
                                        <p:tgtEl>
                                          <p:spTgt spid="11"/>
                                        </p:tgtEl>
                                        <p:attrNameLst>
                                          <p:attrName>style.visibility</p:attrName>
                                        </p:attrNameLst>
                                      </p:cBhvr>
                                      <p:to>
                                        <p:strVal val="visible"/>
                                      </p:to>
                                    </p:set>
                                    <p:anim calcmode="lin" valueType="num">
                                      <p:cBhvr>
                                        <p:cTn id="158" dur="500" fill="hold"/>
                                        <p:tgtEl>
                                          <p:spTgt spid="11"/>
                                        </p:tgtEl>
                                        <p:attrNameLst>
                                          <p:attrName>ppt_w</p:attrName>
                                        </p:attrNameLst>
                                      </p:cBhvr>
                                      <p:tavLst>
                                        <p:tav tm="0">
                                          <p:val>
                                            <p:fltVal val="0"/>
                                          </p:val>
                                        </p:tav>
                                        <p:tav tm="100000">
                                          <p:val>
                                            <p:strVal val="#ppt_w"/>
                                          </p:val>
                                        </p:tav>
                                      </p:tavLst>
                                    </p:anim>
                                    <p:anim calcmode="lin" valueType="num">
                                      <p:cBhvr>
                                        <p:cTn id="159" dur="500" fill="hold"/>
                                        <p:tgtEl>
                                          <p:spTgt spid="11"/>
                                        </p:tgtEl>
                                        <p:attrNameLst>
                                          <p:attrName>ppt_h</p:attrName>
                                        </p:attrNameLst>
                                      </p:cBhvr>
                                      <p:tavLst>
                                        <p:tav tm="0">
                                          <p:val>
                                            <p:fltVal val="0"/>
                                          </p:val>
                                        </p:tav>
                                        <p:tav tm="100000">
                                          <p:val>
                                            <p:strVal val="#ppt_h"/>
                                          </p:val>
                                        </p:tav>
                                      </p:tavLst>
                                    </p:anim>
                                    <p:animEffect transition="in" filter="fade">
                                      <p:cBhvr>
                                        <p:cTn id="160" dur="500"/>
                                        <p:tgtEl>
                                          <p:spTgt spid="11"/>
                                        </p:tgtEl>
                                      </p:cBhvr>
                                    </p:animEffect>
                                  </p:childTnLst>
                                </p:cTn>
                              </p:par>
                            </p:childTnLst>
                          </p:cTn>
                        </p:par>
                      </p:childTnLst>
                    </p:cTn>
                  </p:par>
                  <p:par>
                    <p:cTn id="161" fill="hold">
                      <p:stCondLst>
                        <p:cond delay="indefinite"/>
                      </p:stCondLst>
                      <p:childTnLst>
                        <p:par>
                          <p:cTn id="162" fill="hold">
                            <p:stCondLst>
                              <p:cond delay="0"/>
                            </p:stCondLst>
                            <p:childTnLst>
                              <p:par>
                                <p:cTn id="163" presetID="53" presetClass="entr" presetSubtype="16" fill="hold" nodeType="clickEffect">
                                  <p:stCondLst>
                                    <p:cond delay="0"/>
                                  </p:stCondLst>
                                  <p:childTnLst>
                                    <p:set>
                                      <p:cBhvr>
                                        <p:cTn id="164" dur="1" fill="hold">
                                          <p:stCondLst>
                                            <p:cond delay="0"/>
                                          </p:stCondLst>
                                        </p:cTn>
                                        <p:tgtEl>
                                          <p:spTgt spid="55"/>
                                        </p:tgtEl>
                                        <p:attrNameLst>
                                          <p:attrName>style.visibility</p:attrName>
                                        </p:attrNameLst>
                                      </p:cBhvr>
                                      <p:to>
                                        <p:strVal val="visible"/>
                                      </p:to>
                                    </p:set>
                                    <p:anim calcmode="lin" valueType="num">
                                      <p:cBhvr>
                                        <p:cTn id="165" dur="500" fill="hold"/>
                                        <p:tgtEl>
                                          <p:spTgt spid="55"/>
                                        </p:tgtEl>
                                        <p:attrNameLst>
                                          <p:attrName>ppt_w</p:attrName>
                                        </p:attrNameLst>
                                      </p:cBhvr>
                                      <p:tavLst>
                                        <p:tav tm="0">
                                          <p:val>
                                            <p:fltVal val="0"/>
                                          </p:val>
                                        </p:tav>
                                        <p:tav tm="100000">
                                          <p:val>
                                            <p:strVal val="#ppt_w"/>
                                          </p:val>
                                        </p:tav>
                                      </p:tavLst>
                                    </p:anim>
                                    <p:anim calcmode="lin" valueType="num">
                                      <p:cBhvr>
                                        <p:cTn id="166" dur="500" fill="hold"/>
                                        <p:tgtEl>
                                          <p:spTgt spid="55"/>
                                        </p:tgtEl>
                                        <p:attrNameLst>
                                          <p:attrName>ppt_h</p:attrName>
                                        </p:attrNameLst>
                                      </p:cBhvr>
                                      <p:tavLst>
                                        <p:tav tm="0">
                                          <p:val>
                                            <p:fltVal val="0"/>
                                          </p:val>
                                        </p:tav>
                                        <p:tav tm="100000">
                                          <p:val>
                                            <p:strVal val="#ppt_h"/>
                                          </p:val>
                                        </p:tav>
                                      </p:tavLst>
                                    </p:anim>
                                    <p:animEffect transition="in" filter="fade">
                                      <p:cBhvr>
                                        <p:cTn id="167" dur="500"/>
                                        <p:tgtEl>
                                          <p:spTgt spid="55"/>
                                        </p:tgtEl>
                                      </p:cBhvr>
                                    </p:animEffect>
                                  </p:childTnLst>
                                </p:cTn>
                              </p:par>
                            </p:childTnLst>
                          </p:cTn>
                        </p:par>
                      </p:childTnLst>
                    </p:cTn>
                  </p:par>
                  <p:par>
                    <p:cTn id="168" fill="hold">
                      <p:stCondLst>
                        <p:cond delay="indefinite"/>
                      </p:stCondLst>
                      <p:childTnLst>
                        <p:par>
                          <p:cTn id="169" fill="hold">
                            <p:stCondLst>
                              <p:cond delay="0"/>
                            </p:stCondLst>
                            <p:childTnLst>
                              <p:par>
                                <p:cTn id="170" presetID="53" presetClass="entr" presetSubtype="16" fill="hold" nodeType="clickEffect">
                                  <p:stCondLst>
                                    <p:cond delay="0"/>
                                  </p:stCondLst>
                                  <p:childTnLst>
                                    <p:set>
                                      <p:cBhvr>
                                        <p:cTn id="171" dur="1" fill="hold">
                                          <p:stCondLst>
                                            <p:cond delay="0"/>
                                          </p:stCondLst>
                                        </p:cTn>
                                        <p:tgtEl>
                                          <p:spTgt spid="46">
                                            <p:txEl>
                                              <p:pRg st="4" end="4"/>
                                            </p:txEl>
                                          </p:spTgt>
                                        </p:tgtEl>
                                        <p:attrNameLst>
                                          <p:attrName>style.visibility</p:attrName>
                                        </p:attrNameLst>
                                      </p:cBhvr>
                                      <p:to>
                                        <p:strVal val="visible"/>
                                      </p:to>
                                    </p:set>
                                    <p:anim calcmode="lin" valueType="num">
                                      <p:cBhvr>
                                        <p:cTn id="172" dur="500" fill="hold"/>
                                        <p:tgtEl>
                                          <p:spTgt spid="46">
                                            <p:txEl>
                                              <p:pRg st="4" end="4"/>
                                            </p:txEl>
                                          </p:spTgt>
                                        </p:tgtEl>
                                        <p:attrNameLst>
                                          <p:attrName>ppt_w</p:attrName>
                                        </p:attrNameLst>
                                      </p:cBhvr>
                                      <p:tavLst>
                                        <p:tav tm="0">
                                          <p:val>
                                            <p:fltVal val="0"/>
                                          </p:val>
                                        </p:tav>
                                        <p:tav tm="100000">
                                          <p:val>
                                            <p:strVal val="#ppt_w"/>
                                          </p:val>
                                        </p:tav>
                                      </p:tavLst>
                                    </p:anim>
                                    <p:anim calcmode="lin" valueType="num">
                                      <p:cBhvr>
                                        <p:cTn id="173" dur="500" fill="hold"/>
                                        <p:tgtEl>
                                          <p:spTgt spid="46">
                                            <p:txEl>
                                              <p:pRg st="4" end="4"/>
                                            </p:txEl>
                                          </p:spTgt>
                                        </p:tgtEl>
                                        <p:attrNameLst>
                                          <p:attrName>ppt_h</p:attrName>
                                        </p:attrNameLst>
                                      </p:cBhvr>
                                      <p:tavLst>
                                        <p:tav tm="0">
                                          <p:val>
                                            <p:fltVal val="0"/>
                                          </p:val>
                                        </p:tav>
                                        <p:tav tm="100000">
                                          <p:val>
                                            <p:strVal val="#ppt_h"/>
                                          </p:val>
                                        </p:tav>
                                      </p:tavLst>
                                    </p:anim>
                                    <p:animEffect transition="in" filter="fade">
                                      <p:cBhvr>
                                        <p:cTn id="174" dur="500"/>
                                        <p:tgtEl>
                                          <p:spTgt spid="46">
                                            <p:txEl>
                                              <p:pRg st="4" end="4"/>
                                            </p:txEl>
                                          </p:spTgt>
                                        </p:tgtEl>
                                      </p:cBhvr>
                                    </p:animEffect>
                                  </p:childTnLst>
                                </p:cTn>
                              </p:par>
                            </p:childTnLst>
                          </p:cTn>
                        </p:par>
                      </p:childTnLst>
                    </p:cTn>
                  </p:par>
                  <p:par>
                    <p:cTn id="175" fill="hold">
                      <p:stCondLst>
                        <p:cond delay="indefinite"/>
                      </p:stCondLst>
                      <p:childTnLst>
                        <p:par>
                          <p:cTn id="176" fill="hold">
                            <p:stCondLst>
                              <p:cond delay="0"/>
                            </p:stCondLst>
                            <p:childTnLst>
                              <p:par>
                                <p:cTn id="177" presetID="53" presetClass="entr" presetSubtype="16" fill="hold" grpId="0" nodeType="clickEffect">
                                  <p:stCondLst>
                                    <p:cond delay="0"/>
                                  </p:stCondLst>
                                  <p:childTnLst>
                                    <p:set>
                                      <p:cBhvr>
                                        <p:cTn id="178" dur="1" fill="hold">
                                          <p:stCondLst>
                                            <p:cond delay="0"/>
                                          </p:stCondLst>
                                        </p:cTn>
                                        <p:tgtEl>
                                          <p:spTgt spid="13"/>
                                        </p:tgtEl>
                                        <p:attrNameLst>
                                          <p:attrName>style.visibility</p:attrName>
                                        </p:attrNameLst>
                                      </p:cBhvr>
                                      <p:to>
                                        <p:strVal val="visible"/>
                                      </p:to>
                                    </p:set>
                                    <p:anim calcmode="lin" valueType="num">
                                      <p:cBhvr>
                                        <p:cTn id="179" dur="500" fill="hold"/>
                                        <p:tgtEl>
                                          <p:spTgt spid="13"/>
                                        </p:tgtEl>
                                        <p:attrNameLst>
                                          <p:attrName>ppt_w</p:attrName>
                                        </p:attrNameLst>
                                      </p:cBhvr>
                                      <p:tavLst>
                                        <p:tav tm="0">
                                          <p:val>
                                            <p:fltVal val="0"/>
                                          </p:val>
                                        </p:tav>
                                        <p:tav tm="100000">
                                          <p:val>
                                            <p:strVal val="#ppt_w"/>
                                          </p:val>
                                        </p:tav>
                                      </p:tavLst>
                                    </p:anim>
                                    <p:anim calcmode="lin" valueType="num">
                                      <p:cBhvr>
                                        <p:cTn id="180" dur="500" fill="hold"/>
                                        <p:tgtEl>
                                          <p:spTgt spid="13"/>
                                        </p:tgtEl>
                                        <p:attrNameLst>
                                          <p:attrName>ppt_h</p:attrName>
                                        </p:attrNameLst>
                                      </p:cBhvr>
                                      <p:tavLst>
                                        <p:tav tm="0">
                                          <p:val>
                                            <p:fltVal val="0"/>
                                          </p:val>
                                        </p:tav>
                                        <p:tav tm="100000">
                                          <p:val>
                                            <p:strVal val="#ppt_h"/>
                                          </p:val>
                                        </p:tav>
                                      </p:tavLst>
                                    </p:anim>
                                    <p:animEffect transition="in" filter="fade">
                                      <p:cBhvr>
                                        <p:cTn id="181" dur="500"/>
                                        <p:tgtEl>
                                          <p:spTgt spid="13"/>
                                        </p:tgtEl>
                                      </p:cBhvr>
                                    </p:animEffect>
                                  </p:childTnLst>
                                </p:cTn>
                              </p:par>
                            </p:childTnLst>
                          </p:cTn>
                        </p:par>
                      </p:childTnLst>
                    </p:cTn>
                  </p:par>
                  <p:par>
                    <p:cTn id="182" fill="hold">
                      <p:stCondLst>
                        <p:cond delay="indefinite"/>
                      </p:stCondLst>
                      <p:childTnLst>
                        <p:par>
                          <p:cTn id="183" fill="hold">
                            <p:stCondLst>
                              <p:cond delay="0"/>
                            </p:stCondLst>
                            <p:childTnLst>
                              <p:par>
                                <p:cTn id="184" presetID="53" presetClass="entr" presetSubtype="16" fill="hold" nodeType="clickEffect">
                                  <p:stCondLst>
                                    <p:cond delay="0"/>
                                  </p:stCondLst>
                                  <p:childTnLst>
                                    <p:set>
                                      <p:cBhvr>
                                        <p:cTn id="185" dur="1" fill="hold">
                                          <p:stCondLst>
                                            <p:cond delay="0"/>
                                          </p:stCondLst>
                                        </p:cTn>
                                        <p:tgtEl>
                                          <p:spTgt spid="46">
                                            <p:txEl>
                                              <p:pRg st="5" end="5"/>
                                            </p:txEl>
                                          </p:spTgt>
                                        </p:tgtEl>
                                        <p:attrNameLst>
                                          <p:attrName>style.visibility</p:attrName>
                                        </p:attrNameLst>
                                      </p:cBhvr>
                                      <p:to>
                                        <p:strVal val="visible"/>
                                      </p:to>
                                    </p:set>
                                    <p:anim calcmode="lin" valueType="num">
                                      <p:cBhvr>
                                        <p:cTn id="186" dur="500" fill="hold"/>
                                        <p:tgtEl>
                                          <p:spTgt spid="46">
                                            <p:txEl>
                                              <p:pRg st="5" end="5"/>
                                            </p:txEl>
                                          </p:spTgt>
                                        </p:tgtEl>
                                        <p:attrNameLst>
                                          <p:attrName>ppt_w</p:attrName>
                                        </p:attrNameLst>
                                      </p:cBhvr>
                                      <p:tavLst>
                                        <p:tav tm="0">
                                          <p:val>
                                            <p:fltVal val="0"/>
                                          </p:val>
                                        </p:tav>
                                        <p:tav tm="100000">
                                          <p:val>
                                            <p:strVal val="#ppt_w"/>
                                          </p:val>
                                        </p:tav>
                                      </p:tavLst>
                                    </p:anim>
                                    <p:anim calcmode="lin" valueType="num">
                                      <p:cBhvr>
                                        <p:cTn id="187" dur="500" fill="hold"/>
                                        <p:tgtEl>
                                          <p:spTgt spid="46">
                                            <p:txEl>
                                              <p:pRg st="5" end="5"/>
                                            </p:txEl>
                                          </p:spTgt>
                                        </p:tgtEl>
                                        <p:attrNameLst>
                                          <p:attrName>ppt_h</p:attrName>
                                        </p:attrNameLst>
                                      </p:cBhvr>
                                      <p:tavLst>
                                        <p:tav tm="0">
                                          <p:val>
                                            <p:fltVal val="0"/>
                                          </p:val>
                                        </p:tav>
                                        <p:tav tm="100000">
                                          <p:val>
                                            <p:strVal val="#ppt_h"/>
                                          </p:val>
                                        </p:tav>
                                      </p:tavLst>
                                    </p:anim>
                                    <p:animEffect transition="in" filter="fade">
                                      <p:cBhvr>
                                        <p:cTn id="188" dur="500"/>
                                        <p:tgtEl>
                                          <p:spTgt spid="46">
                                            <p:txEl>
                                              <p:pRg st="5" end="5"/>
                                            </p:txEl>
                                          </p:spTgt>
                                        </p:tgtEl>
                                      </p:cBhvr>
                                    </p:animEffect>
                                  </p:childTnLst>
                                </p:cTn>
                              </p:par>
                            </p:childTnLst>
                          </p:cTn>
                        </p:par>
                      </p:childTnLst>
                    </p:cTn>
                  </p:par>
                  <p:par>
                    <p:cTn id="189" fill="hold">
                      <p:stCondLst>
                        <p:cond delay="indefinite"/>
                      </p:stCondLst>
                      <p:childTnLst>
                        <p:par>
                          <p:cTn id="190" fill="hold">
                            <p:stCondLst>
                              <p:cond delay="0"/>
                            </p:stCondLst>
                            <p:childTnLst>
                              <p:par>
                                <p:cTn id="191" presetID="53" presetClass="entr" presetSubtype="16" fill="hold" grpId="0" nodeType="clickEffect">
                                  <p:stCondLst>
                                    <p:cond delay="0"/>
                                  </p:stCondLst>
                                  <p:childTnLst>
                                    <p:set>
                                      <p:cBhvr>
                                        <p:cTn id="192" dur="1" fill="hold">
                                          <p:stCondLst>
                                            <p:cond delay="0"/>
                                          </p:stCondLst>
                                        </p:cTn>
                                        <p:tgtEl>
                                          <p:spTgt spid="14"/>
                                        </p:tgtEl>
                                        <p:attrNameLst>
                                          <p:attrName>style.visibility</p:attrName>
                                        </p:attrNameLst>
                                      </p:cBhvr>
                                      <p:to>
                                        <p:strVal val="visible"/>
                                      </p:to>
                                    </p:set>
                                    <p:anim calcmode="lin" valueType="num">
                                      <p:cBhvr>
                                        <p:cTn id="193" dur="500" fill="hold"/>
                                        <p:tgtEl>
                                          <p:spTgt spid="14"/>
                                        </p:tgtEl>
                                        <p:attrNameLst>
                                          <p:attrName>ppt_w</p:attrName>
                                        </p:attrNameLst>
                                      </p:cBhvr>
                                      <p:tavLst>
                                        <p:tav tm="0">
                                          <p:val>
                                            <p:fltVal val="0"/>
                                          </p:val>
                                        </p:tav>
                                        <p:tav tm="100000">
                                          <p:val>
                                            <p:strVal val="#ppt_w"/>
                                          </p:val>
                                        </p:tav>
                                      </p:tavLst>
                                    </p:anim>
                                    <p:anim calcmode="lin" valueType="num">
                                      <p:cBhvr>
                                        <p:cTn id="194" dur="500" fill="hold"/>
                                        <p:tgtEl>
                                          <p:spTgt spid="14"/>
                                        </p:tgtEl>
                                        <p:attrNameLst>
                                          <p:attrName>ppt_h</p:attrName>
                                        </p:attrNameLst>
                                      </p:cBhvr>
                                      <p:tavLst>
                                        <p:tav tm="0">
                                          <p:val>
                                            <p:fltVal val="0"/>
                                          </p:val>
                                        </p:tav>
                                        <p:tav tm="100000">
                                          <p:val>
                                            <p:strVal val="#ppt_h"/>
                                          </p:val>
                                        </p:tav>
                                      </p:tavLst>
                                    </p:anim>
                                    <p:animEffect transition="in" filter="fade">
                                      <p:cBhvr>
                                        <p:cTn id="195" dur="500"/>
                                        <p:tgtEl>
                                          <p:spTgt spid="14"/>
                                        </p:tgtEl>
                                      </p:cBhvr>
                                    </p:animEffect>
                                  </p:childTnLst>
                                </p:cTn>
                              </p:par>
                            </p:childTnLst>
                          </p:cTn>
                        </p:par>
                      </p:childTnLst>
                    </p:cTn>
                  </p:par>
                  <p:par>
                    <p:cTn id="196" fill="hold">
                      <p:stCondLst>
                        <p:cond delay="indefinite"/>
                      </p:stCondLst>
                      <p:childTnLst>
                        <p:par>
                          <p:cTn id="197" fill="hold">
                            <p:stCondLst>
                              <p:cond delay="0"/>
                            </p:stCondLst>
                            <p:childTnLst>
                              <p:par>
                                <p:cTn id="198" presetID="53" presetClass="entr" presetSubtype="16" fill="hold" nodeType="clickEffect">
                                  <p:stCondLst>
                                    <p:cond delay="0"/>
                                  </p:stCondLst>
                                  <p:childTnLst>
                                    <p:set>
                                      <p:cBhvr>
                                        <p:cTn id="199" dur="1" fill="hold">
                                          <p:stCondLst>
                                            <p:cond delay="0"/>
                                          </p:stCondLst>
                                        </p:cTn>
                                        <p:tgtEl>
                                          <p:spTgt spid="46">
                                            <p:txEl>
                                              <p:pRg st="6" end="6"/>
                                            </p:txEl>
                                          </p:spTgt>
                                        </p:tgtEl>
                                        <p:attrNameLst>
                                          <p:attrName>style.visibility</p:attrName>
                                        </p:attrNameLst>
                                      </p:cBhvr>
                                      <p:to>
                                        <p:strVal val="visible"/>
                                      </p:to>
                                    </p:set>
                                    <p:anim calcmode="lin" valueType="num">
                                      <p:cBhvr>
                                        <p:cTn id="200" dur="500" fill="hold"/>
                                        <p:tgtEl>
                                          <p:spTgt spid="46">
                                            <p:txEl>
                                              <p:pRg st="6" end="6"/>
                                            </p:txEl>
                                          </p:spTgt>
                                        </p:tgtEl>
                                        <p:attrNameLst>
                                          <p:attrName>ppt_w</p:attrName>
                                        </p:attrNameLst>
                                      </p:cBhvr>
                                      <p:tavLst>
                                        <p:tav tm="0">
                                          <p:val>
                                            <p:fltVal val="0"/>
                                          </p:val>
                                        </p:tav>
                                        <p:tav tm="100000">
                                          <p:val>
                                            <p:strVal val="#ppt_w"/>
                                          </p:val>
                                        </p:tav>
                                      </p:tavLst>
                                    </p:anim>
                                    <p:anim calcmode="lin" valueType="num">
                                      <p:cBhvr>
                                        <p:cTn id="201" dur="500" fill="hold"/>
                                        <p:tgtEl>
                                          <p:spTgt spid="46">
                                            <p:txEl>
                                              <p:pRg st="6" end="6"/>
                                            </p:txEl>
                                          </p:spTgt>
                                        </p:tgtEl>
                                        <p:attrNameLst>
                                          <p:attrName>ppt_h</p:attrName>
                                        </p:attrNameLst>
                                      </p:cBhvr>
                                      <p:tavLst>
                                        <p:tav tm="0">
                                          <p:val>
                                            <p:fltVal val="0"/>
                                          </p:val>
                                        </p:tav>
                                        <p:tav tm="100000">
                                          <p:val>
                                            <p:strVal val="#ppt_h"/>
                                          </p:val>
                                        </p:tav>
                                      </p:tavLst>
                                    </p:anim>
                                    <p:animEffect transition="in" filter="fade">
                                      <p:cBhvr>
                                        <p:cTn id="202" dur="500"/>
                                        <p:tgtEl>
                                          <p:spTgt spid="4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p:bldP spid="13" grpId="0"/>
      <p:bldP spid="14" grpId="0"/>
      <p:bldP spid="15" grpId="0"/>
      <p:bldP spid="16" grpId="0"/>
      <p:bldP spid="17" grpId="0"/>
      <p:bldP spid="43" grpId="0"/>
      <p:bldP spid="44" grpId="0"/>
      <p:bldP spid="45" grpId="0"/>
      <p:bldP spid="46" grpId="0" build="allAtOnce" animBg="1"/>
      <p:bldP spid="48" grpId="0"/>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69</a:t>
            </a:fld>
            <a:endParaRPr lang="en-US"/>
          </a:p>
        </p:txBody>
      </p:sp>
      <p:grpSp>
        <p:nvGrpSpPr>
          <p:cNvPr id="37" name="object 2">
            <a:extLst>
              <a:ext uri="{FF2B5EF4-FFF2-40B4-BE49-F238E27FC236}">
                <a16:creationId xmlns:a16="http://schemas.microsoft.com/office/drawing/2014/main" id="{4E398180-AD0E-C522-2423-17375866BF72}"/>
              </a:ext>
            </a:extLst>
          </p:cNvPr>
          <p:cNvGrpSpPr/>
          <p:nvPr/>
        </p:nvGrpSpPr>
        <p:grpSpPr>
          <a:xfrm>
            <a:off x="5868670" y="3335782"/>
            <a:ext cx="2070100" cy="2526030"/>
            <a:chOff x="5868670" y="3335782"/>
            <a:chExt cx="2070100" cy="2526030"/>
          </a:xfrm>
        </p:grpSpPr>
        <p:sp>
          <p:nvSpPr>
            <p:cNvPr id="38" name="object 3">
              <a:extLst>
                <a:ext uri="{FF2B5EF4-FFF2-40B4-BE49-F238E27FC236}">
                  <a16:creationId xmlns:a16="http://schemas.microsoft.com/office/drawing/2014/main" id="{DE61FBCA-98C8-968F-22DB-2552794A46E9}"/>
                </a:ext>
              </a:extLst>
            </p:cNvPr>
            <p:cNvSpPr/>
            <p:nvPr/>
          </p:nvSpPr>
          <p:spPr>
            <a:xfrm>
              <a:off x="5875020" y="3342132"/>
              <a:ext cx="2057400" cy="2513330"/>
            </a:xfrm>
            <a:custGeom>
              <a:avLst/>
              <a:gdLst/>
              <a:ahLst/>
              <a:cxnLst/>
              <a:rect l="l" t="t" r="r" b="b"/>
              <a:pathLst>
                <a:path w="2057400" h="2513329">
                  <a:moveTo>
                    <a:pt x="2057400" y="0"/>
                  </a:moveTo>
                  <a:lnTo>
                    <a:pt x="0" y="0"/>
                  </a:lnTo>
                  <a:lnTo>
                    <a:pt x="0" y="2513076"/>
                  </a:lnTo>
                  <a:lnTo>
                    <a:pt x="2057400" y="2513076"/>
                  </a:lnTo>
                  <a:lnTo>
                    <a:pt x="2057400" y="0"/>
                  </a:lnTo>
                  <a:close/>
                </a:path>
              </a:pathLst>
            </a:custGeom>
            <a:solidFill>
              <a:srgbClr val="FFF1C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9" name="object 4">
              <a:extLst>
                <a:ext uri="{FF2B5EF4-FFF2-40B4-BE49-F238E27FC236}">
                  <a16:creationId xmlns:a16="http://schemas.microsoft.com/office/drawing/2014/main" id="{E2A0BC9C-6FF0-4DFD-CB08-5CBE46DBE2FD}"/>
                </a:ext>
              </a:extLst>
            </p:cNvPr>
            <p:cNvSpPr/>
            <p:nvPr/>
          </p:nvSpPr>
          <p:spPr>
            <a:xfrm>
              <a:off x="5875020" y="3342132"/>
              <a:ext cx="2057400" cy="2513330"/>
            </a:xfrm>
            <a:custGeom>
              <a:avLst/>
              <a:gdLst/>
              <a:ahLst/>
              <a:cxnLst/>
              <a:rect l="l" t="t" r="r" b="b"/>
              <a:pathLst>
                <a:path w="2057400" h="2513329">
                  <a:moveTo>
                    <a:pt x="0" y="2513076"/>
                  </a:moveTo>
                  <a:lnTo>
                    <a:pt x="2057400" y="2513076"/>
                  </a:lnTo>
                  <a:lnTo>
                    <a:pt x="2057400" y="0"/>
                  </a:lnTo>
                  <a:lnTo>
                    <a:pt x="0" y="0"/>
                  </a:lnTo>
                  <a:lnTo>
                    <a:pt x="0" y="2513076"/>
                  </a:lnTo>
                  <a:close/>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grpSp>
        <p:nvGrpSpPr>
          <p:cNvPr id="40" name="object 5">
            <a:extLst>
              <a:ext uri="{FF2B5EF4-FFF2-40B4-BE49-F238E27FC236}">
                <a16:creationId xmlns:a16="http://schemas.microsoft.com/office/drawing/2014/main" id="{18197AD9-4C84-0D0A-6B74-34169DEBF633}"/>
              </a:ext>
            </a:extLst>
          </p:cNvPr>
          <p:cNvGrpSpPr/>
          <p:nvPr/>
        </p:nvGrpSpPr>
        <p:grpSpPr>
          <a:xfrm>
            <a:off x="4543075" y="152019"/>
            <a:ext cx="4558030" cy="2027555"/>
            <a:chOff x="4543075" y="152019"/>
            <a:chExt cx="4558030" cy="2027555"/>
          </a:xfrm>
        </p:grpSpPr>
        <p:pic>
          <p:nvPicPr>
            <p:cNvPr id="41" name="object 6">
              <a:extLst>
                <a:ext uri="{FF2B5EF4-FFF2-40B4-BE49-F238E27FC236}">
                  <a16:creationId xmlns:a16="http://schemas.microsoft.com/office/drawing/2014/main" id="{07709B7D-6827-AA2D-667B-ED72B92325E2}"/>
                </a:ext>
              </a:extLst>
            </p:cNvPr>
            <p:cNvPicPr/>
            <p:nvPr/>
          </p:nvPicPr>
          <p:blipFill>
            <a:blip r:embed="rId3" cstate="print"/>
            <a:stretch>
              <a:fillRect/>
            </a:stretch>
          </p:blipFill>
          <p:spPr>
            <a:xfrm>
              <a:off x="4543075" y="152019"/>
              <a:ext cx="4557617" cy="2027301"/>
            </a:xfrm>
            <a:prstGeom prst="rect">
              <a:avLst/>
            </a:prstGeom>
          </p:spPr>
        </p:pic>
        <p:sp>
          <p:nvSpPr>
            <p:cNvPr id="42" name="object 7">
              <a:extLst>
                <a:ext uri="{FF2B5EF4-FFF2-40B4-BE49-F238E27FC236}">
                  <a16:creationId xmlns:a16="http://schemas.microsoft.com/office/drawing/2014/main" id="{8D9464EA-0153-A471-5361-6B8973B58406}"/>
                </a:ext>
              </a:extLst>
            </p:cNvPr>
            <p:cNvSpPr/>
            <p:nvPr/>
          </p:nvSpPr>
          <p:spPr>
            <a:xfrm>
              <a:off x="8479535" y="1720596"/>
              <a:ext cx="234950" cy="307975"/>
            </a:xfrm>
            <a:custGeom>
              <a:avLst/>
              <a:gdLst/>
              <a:ahLst/>
              <a:cxnLst/>
              <a:rect l="l" t="t" r="r" b="b"/>
              <a:pathLst>
                <a:path w="234950" h="307975">
                  <a:moveTo>
                    <a:pt x="234696" y="0"/>
                  </a:moveTo>
                  <a:lnTo>
                    <a:pt x="0" y="0"/>
                  </a:lnTo>
                  <a:lnTo>
                    <a:pt x="0" y="307848"/>
                  </a:lnTo>
                  <a:lnTo>
                    <a:pt x="234696" y="307848"/>
                  </a:lnTo>
                  <a:lnTo>
                    <a:pt x="234696" y="0"/>
                  </a:lnTo>
                  <a:close/>
                </a:path>
              </a:pathLst>
            </a:custGeom>
            <a:solidFill>
              <a:srgbClr val="FFFF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pic>
        <p:nvPicPr>
          <p:cNvPr id="43" name="object 8">
            <a:extLst>
              <a:ext uri="{FF2B5EF4-FFF2-40B4-BE49-F238E27FC236}">
                <a16:creationId xmlns:a16="http://schemas.microsoft.com/office/drawing/2014/main" id="{A279BE3B-8313-05F0-C74A-C0DC208B650A}"/>
              </a:ext>
            </a:extLst>
          </p:cNvPr>
          <p:cNvPicPr/>
          <p:nvPr/>
        </p:nvPicPr>
        <p:blipFill>
          <a:blip r:embed="rId4" cstate="print"/>
          <a:stretch>
            <a:fillRect/>
          </a:stretch>
        </p:blipFill>
        <p:spPr>
          <a:xfrm>
            <a:off x="160293" y="208959"/>
            <a:ext cx="4160902" cy="1250397"/>
          </a:xfrm>
          <a:prstGeom prst="rect">
            <a:avLst/>
          </a:prstGeom>
        </p:spPr>
      </p:pic>
      <p:sp>
        <p:nvSpPr>
          <p:cNvPr id="44" name="object 9">
            <a:extLst>
              <a:ext uri="{FF2B5EF4-FFF2-40B4-BE49-F238E27FC236}">
                <a16:creationId xmlns:a16="http://schemas.microsoft.com/office/drawing/2014/main" id="{AA18C1B8-EDA2-CB26-A16F-99AE612020AD}"/>
              </a:ext>
            </a:extLst>
          </p:cNvPr>
          <p:cNvSpPr txBox="1"/>
          <p:nvPr/>
        </p:nvSpPr>
        <p:spPr>
          <a:xfrm>
            <a:off x="403352" y="1685671"/>
            <a:ext cx="3472179" cy="391160"/>
          </a:xfrm>
          <a:prstGeom prst="rect">
            <a:avLst/>
          </a:prstGeom>
        </p:spPr>
        <p:txBody>
          <a:bodyPr vert="horz" wrap="square" lIns="0" tIns="12700" rIns="0" bIns="0" rtlCol="0">
            <a:spAutoFit/>
          </a:bodyPr>
          <a:lstStyle/>
          <a:p>
            <a:pPr marL="12700" rtl="0">
              <a:spcBef>
                <a:spcPts val="100"/>
              </a:spcBef>
            </a:pPr>
            <a:r>
              <a:rPr sz="2400" kern="1200" spc="-20" dirty="0">
                <a:solidFill>
                  <a:srgbClr val="FF0000"/>
                </a:solidFill>
                <a:latin typeface="Palatino Linotype"/>
                <a:cs typeface="Palatino Linotype"/>
              </a:rPr>
              <a:t>Translating</a:t>
            </a:r>
            <a:r>
              <a:rPr sz="2400" kern="1200" spc="5" dirty="0">
                <a:solidFill>
                  <a:srgbClr val="FF0000"/>
                </a:solidFill>
                <a:latin typeface="Palatino Linotype"/>
                <a:cs typeface="Palatino Linotype"/>
              </a:rPr>
              <a:t> </a:t>
            </a:r>
            <a:r>
              <a:rPr sz="2400" kern="1200" dirty="0">
                <a:solidFill>
                  <a:srgbClr val="FF0000"/>
                </a:solidFill>
                <a:latin typeface="Consolas"/>
                <a:cs typeface="Consolas"/>
              </a:rPr>
              <a:t>c</a:t>
            </a:r>
            <a:r>
              <a:rPr sz="2400" kern="1200" spc="-15" dirty="0">
                <a:solidFill>
                  <a:srgbClr val="FF0000"/>
                </a:solidFill>
                <a:latin typeface="Consolas"/>
                <a:cs typeface="Consolas"/>
              </a:rPr>
              <a:t> </a:t>
            </a:r>
            <a:r>
              <a:rPr sz="2400" kern="1200" dirty="0">
                <a:solidFill>
                  <a:srgbClr val="FF0000"/>
                </a:solidFill>
                <a:latin typeface="Consolas"/>
                <a:cs typeface="Consolas"/>
              </a:rPr>
              <a:t>+</a:t>
            </a:r>
            <a:r>
              <a:rPr sz="2400" kern="1200" spc="-15" dirty="0">
                <a:solidFill>
                  <a:srgbClr val="FF0000"/>
                </a:solidFill>
                <a:latin typeface="Consolas"/>
                <a:cs typeface="Consolas"/>
              </a:rPr>
              <a:t> </a:t>
            </a:r>
            <a:r>
              <a:rPr sz="2400" kern="1200" dirty="0">
                <a:solidFill>
                  <a:srgbClr val="FF0000"/>
                </a:solidFill>
                <a:latin typeface="Consolas"/>
                <a:cs typeface="Consolas"/>
              </a:rPr>
              <a:t>a[i][j]</a:t>
            </a:r>
            <a:endParaRPr sz="2400" kern="1200">
              <a:solidFill>
                <a:prstClr val="black"/>
              </a:solidFill>
              <a:latin typeface="Consolas"/>
              <a:cs typeface="Consolas"/>
            </a:endParaRPr>
          </a:p>
        </p:txBody>
      </p:sp>
      <p:grpSp>
        <p:nvGrpSpPr>
          <p:cNvPr id="45" name="object 10">
            <a:extLst>
              <a:ext uri="{FF2B5EF4-FFF2-40B4-BE49-F238E27FC236}">
                <a16:creationId xmlns:a16="http://schemas.microsoft.com/office/drawing/2014/main" id="{37AD8D3D-4133-0F2F-2B2B-C43C302A8929}"/>
              </a:ext>
            </a:extLst>
          </p:cNvPr>
          <p:cNvGrpSpPr/>
          <p:nvPr/>
        </p:nvGrpSpPr>
        <p:grpSpPr>
          <a:xfrm>
            <a:off x="156899" y="2604250"/>
            <a:ext cx="5499100" cy="3612515"/>
            <a:chOff x="156899" y="2604250"/>
            <a:chExt cx="5499100" cy="3612515"/>
          </a:xfrm>
        </p:grpSpPr>
        <p:pic>
          <p:nvPicPr>
            <p:cNvPr id="46" name="object 11">
              <a:extLst>
                <a:ext uri="{FF2B5EF4-FFF2-40B4-BE49-F238E27FC236}">
                  <a16:creationId xmlns:a16="http://schemas.microsoft.com/office/drawing/2014/main" id="{B6532991-120B-2E5A-142A-BF4F314B3A48}"/>
                </a:ext>
              </a:extLst>
            </p:cNvPr>
            <p:cNvPicPr/>
            <p:nvPr/>
          </p:nvPicPr>
          <p:blipFill>
            <a:blip r:embed="rId5" cstate="print"/>
            <a:stretch>
              <a:fillRect/>
            </a:stretch>
          </p:blipFill>
          <p:spPr>
            <a:xfrm>
              <a:off x="358386" y="2818071"/>
              <a:ext cx="5152206" cy="3136001"/>
            </a:xfrm>
            <a:prstGeom prst="rect">
              <a:avLst/>
            </a:prstGeom>
          </p:spPr>
        </p:pic>
        <p:pic>
          <p:nvPicPr>
            <p:cNvPr id="47" name="object 12">
              <a:extLst>
                <a:ext uri="{FF2B5EF4-FFF2-40B4-BE49-F238E27FC236}">
                  <a16:creationId xmlns:a16="http://schemas.microsoft.com/office/drawing/2014/main" id="{C5428A8C-9361-440D-95CD-5B106A554CEC}"/>
                </a:ext>
              </a:extLst>
            </p:cNvPr>
            <p:cNvPicPr/>
            <p:nvPr/>
          </p:nvPicPr>
          <p:blipFill>
            <a:blip r:embed="rId6" cstate="print"/>
            <a:stretch>
              <a:fillRect/>
            </a:stretch>
          </p:blipFill>
          <p:spPr>
            <a:xfrm>
              <a:off x="156899" y="2604250"/>
              <a:ext cx="5498915" cy="3612386"/>
            </a:xfrm>
            <a:prstGeom prst="rect">
              <a:avLst/>
            </a:prstGeom>
          </p:spPr>
        </p:pic>
      </p:grpSp>
      <p:sp>
        <p:nvSpPr>
          <p:cNvPr id="48" name="object 13">
            <a:extLst>
              <a:ext uri="{FF2B5EF4-FFF2-40B4-BE49-F238E27FC236}">
                <a16:creationId xmlns:a16="http://schemas.microsoft.com/office/drawing/2014/main" id="{7651DB7E-2EDC-D2F4-BF5D-B0CC96E29670}"/>
              </a:ext>
            </a:extLst>
          </p:cNvPr>
          <p:cNvSpPr txBox="1"/>
          <p:nvPr/>
        </p:nvSpPr>
        <p:spPr>
          <a:xfrm>
            <a:off x="338124" y="3021329"/>
            <a:ext cx="139700" cy="299720"/>
          </a:xfrm>
          <a:prstGeom prst="rect">
            <a:avLst/>
          </a:prstGeom>
        </p:spPr>
        <p:txBody>
          <a:bodyPr vert="horz" wrap="square" lIns="0" tIns="12700" rIns="0" bIns="0" rtlCol="0">
            <a:spAutoFit/>
          </a:bodyPr>
          <a:lstStyle/>
          <a:p>
            <a:pPr marL="12700" rtl="0">
              <a:spcBef>
                <a:spcPts val="100"/>
              </a:spcBef>
            </a:pPr>
            <a:r>
              <a:rPr b="1" kern="1200" dirty="0">
                <a:solidFill>
                  <a:srgbClr val="FF0000"/>
                </a:solidFill>
                <a:latin typeface="Palatino Linotype"/>
                <a:cs typeface="Palatino Linotype"/>
              </a:rPr>
              <a:t>1</a:t>
            </a:r>
            <a:endParaRPr kern="1200">
              <a:solidFill>
                <a:prstClr val="black"/>
              </a:solidFill>
              <a:latin typeface="Palatino Linotype"/>
              <a:cs typeface="Palatino Linotype"/>
            </a:endParaRPr>
          </a:p>
        </p:txBody>
      </p:sp>
      <p:sp>
        <p:nvSpPr>
          <p:cNvPr id="49" name="object 14">
            <a:extLst>
              <a:ext uri="{FF2B5EF4-FFF2-40B4-BE49-F238E27FC236}">
                <a16:creationId xmlns:a16="http://schemas.microsoft.com/office/drawing/2014/main" id="{CEB441B6-B435-D512-9731-84B39396A5A7}"/>
              </a:ext>
            </a:extLst>
          </p:cNvPr>
          <p:cNvSpPr txBox="1"/>
          <p:nvPr/>
        </p:nvSpPr>
        <p:spPr>
          <a:xfrm>
            <a:off x="47053" y="103504"/>
            <a:ext cx="4392930" cy="1459230"/>
          </a:xfrm>
          <a:prstGeom prst="rect">
            <a:avLst/>
          </a:prstGeom>
          <a:ln w="9525">
            <a:solidFill>
              <a:srgbClr val="000000"/>
            </a:solidFill>
          </a:ln>
        </p:spPr>
        <p:txBody>
          <a:bodyPr vert="horz" wrap="square" lIns="0" tIns="0" rIns="0" bIns="0" rtlCol="0">
            <a:spAutoFit/>
          </a:bodyPr>
          <a:lstStyle/>
          <a:p>
            <a:pPr marL="3502660" rtl="0">
              <a:lnSpc>
                <a:spcPts val="2120"/>
              </a:lnSpc>
            </a:pPr>
            <a:r>
              <a:rPr b="1" kern="1200" dirty="0">
                <a:solidFill>
                  <a:srgbClr val="FA7C79"/>
                </a:solidFill>
                <a:latin typeface="Palatino Linotype"/>
                <a:cs typeface="Palatino Linotype"/>
              </a:rPr>
              <a:t>6</a:t>
            </a:r>
            <a:endParaRPr kern="1200">
              <a:solidFill>
                <a:prstClr val="black"/>
              </a:solidFill>
              <a:latin typeface="Palatino Linotype"/>
              <a:cs typeface="Palatino Linotype"/>
            </a:endParaRPr>
          </a:p>
          <a:p>
            <a:pPr rtl="0">
              <a:spcBef>
                <a:spcPts val="15"/>
              </a:spcBef>
            </a:pPr>
            <a:endParaRPr sz="1700" kern="1200">
              <a:solidFill>
                <a:prstClr val="black"/>
              </a:solidFill>
              <a:latin typeface="Palatino Linotype"/>
              <a:cs typeface="Palatino Linotype"/>
            </a:endParaRPr>
          </a:p>
          <a:p>
            <a:pPr marL="3500120" rtl="0">
              <a:tabLst>
                <a:tab pos="3765550" algn="l"/>
              </a:tabLst>
            </a:pPr>
            <a:r>
              <a:rPr b="1" kern="1200" dirty="0">
                <a:solidFill>
                  <a:srgbClr val="FF0000"/>
                </a:solidFill>
                <a:latin typeface="Palatino Linotype"/>
                <a:cs typeface="Palatino Linotype"/>
              </a:rPr>
              <a:t>1	</a:t>
            </a:r>
            <a:r>
              <a:rPr b="1" kern="1200" dirty="0">
                <a:solidFill>
                  <a:srgbClr val="00AF50"/>
                </a:solidFill>
                <a:latin typeface="Palatino Linotype"/>
                <a:cs typeface="Palatino Linotype"/>
              </a:rPr>
              <a:t>3</a:t>
            </a:r>
            <a:endParaRPr kern="1200">
              <a:solidFill>
                <a:prstClr val="black"/>
              </a:solidFill>
              <a:latin typeface="Palatino Linotype"/>
              <a:cs typeface="Palatino Linotype"/>
            </a:endParaRPr>
          </a:p>
          <a:p>
            <a:pPr marL="3505200" rtl="0">
              <a:spcBef>
                <a:spcPts val="600"/>
              </a:spcBef>
            </a:pPr>
            <a:r>
              <a:rPr b="1" kern="1200" dirty="0">
                <a:solidFill>
                  <a:srgbClr val="6F2F9F"/>
                </a:solidFill>
                <a:latin typeface="Palatino Linotype"/>
                <a:cs typeface="Palatino Linotype"/>
              </a:rPr>
              <a:t>5</a:t>
            </a:r>
            <a:endParaRPr kern="1200">
              <a:solidFill>
                <a:prstClr val="black"/>
              </a:solidFill>
              <a:latin typeface="Palatino Linotype"/>
              <a:cs typeface="Palatino Linotype"/>
            </a:endParaRPr>
          </a:p>
        </p:txBody>
      </p:sp>
      <p:sp>
        <p:nvSpPr>
          <p:cNvPr id="50" name="object 15">
            <a:extLst>
              <a:ext uri="{FF2B5EF4-FFF2-40B4-BE49-F238E27FC236}">
                <a16:creationId xmlns:a16="http://schemas.microsoft.com/office/drawing/2014/main" id="{AD10EA07-9627-596B-C8DA-C1376DD19FCA}"/>
              </a:ext>
            </a:extLst>
          </p:cNvPr>
          <p:cNvSpPr txBox="1"/>
          <p:nvPr/>
        </p:nvSpPr>
        <p:spPr>
          <a:xfrm>
            <a:off x="556666" y="4372102"/>
            <a:ext cx="139700" cy="299720"/>
          </a:xfrm>
          <a:prstGeom prst="rect">
            <a:avLst/>
          </a:prstGeom>
        </p:spPr>
        <p:txBody>
          <a:bodyPr vert="horz" wrap="square" lIns="0" tIns="12700" rIns="0" bIns="0" rtlCol="0">
            <a:spAutoFit/>
          </a:bodyPr>
          <a:lstStyle/>
          <a:p>
            <a:pPr marL="12700" rtl="0">
              <a:spcBef>
                <a:spcPts val="100"/>
              </a:spcBef>
            </a:pPr>
            <a:r>
              <a:rPr b="1" kern="1200" dirty="0">
                <a:solidFill>
                  <a:srgbClr val="0431FF"/>
                </a:solidFill>
                <a:latin typeface="Palatino Linotype"/>
                <a:cs typeface="Palatino Linotype"/>
              </a:rPr>
              <a:t>2</a:t>
            </a:r>
            <a:endParaRPr kern="1200">
              <a:solidFill>
                <a:prstClr val="black"/>
              </a:solidFill>
              <a:latin typeface="Palatino Linotype"/>
              <a:cs typeface="Palatino Linotype"/>
            </a:endParaRPr>
          </a:p>
        </p:txBody>
      </p:sp>
      <p:sp>
        <p:nvSpPr>
          <p:cNvPr id="51" name="object 16">
            <a:extLst>
              <a:ext uri="{FF2B5EF4-FFF2-40B4-BE49-F238E27FC236}">
                <a16:creationId xmlns:a16="http://schemas.microsoft.com/office/drawing/2014/main" id="{CA105E5E-D447-66B3-D715-688F3072A71B}"/>
              </a:ext>
            </a:extLst>
          </p:cNvPr>
          <p:cNvSpPr txBox="1"/>
          <p:nvPr/>
        </p:nvSpPr>
        <p:spPr>
          <a:xfrm>
            <a:off x="4501641" y="103504"/>
            <a:ext cx="4619625" cy="2080895"/>
          </a:xfrm>
          <a:prstGeom prst="rect">
            <a:avLst/>
          </a:prstGeom>
          <a:ln w="9525">
            <a:solidFill>
              <a:srgbClr val="000000"/>
            </a:solidFill>
          </a:ln>
        </p:spPr>
        <p:txBody>
          <a:bodyPr vert="horz" wrap="square" lIns="0" tIns="191770" rIns="0" bIns="0" rtlCol="0">
            <a:spAutoFit/>
          </a:bodyPr>
          <a:lstStyle/>
          <a:p>
            <a:pPr marR="576580" algn="r" rtl="0">
              <a:spcBef>
                <a:spcPts val="1510"/>
              </a:spcBef>
            </a:pPr>
            <a:r>
              <a:rPr b="1" kern="1200" dirty="0">
                <a:solidFill>
                  <a:srgbClr val="0431FF"/>
                </a:solidFill>
                <a:latin typeface="Palatino Linotype"/>
                <a:cs typeface="Palatino Linotype"/>
              </a:rPr>
              <a:t>2</a:t>
            </a:r>
            <a:endParaRPr kern="1200" dirty="0">
              <a:solidFill>
                <a:prstClr val="black"/>
              </a:solidFill>
              <a:latin typeface="Palatino Linotype"/>
              <a:cs typeface="Palatino Linotype"/>
            </a:endParaRPr>
          </a:p>
          <a:p>
            <a:pPr rtl="0"/>
            <a:endParaRPr kern="1200" dirty="0">
              <a:solidFill>
                <a:prstClr val="black"/>
              </a:solidFill>
              <a:latin typeface="Palatino Linotype"/>
              <a:cs typeface="Palatino Linotype"/>
            </a:endParaRPr>
          </a:p>
          <a:p>
            <a:pPr rtl="0">
              <a:spcBef>
                <a:spcPts val="10"/>
              </a:spcBef>
            </a:pPr>
            <a:endParaRPr sz="2550" kern="1200" dirty="0">
              <a:solidFill>
                <a:prstClr val="black"/>
              </a:solidFill>
              <a:latin typeface="Palatino Linotype"/>
              <a:cs typeface="Palatino Linotype"/>
            </a:endParaRPr>
          </a:p>
          <a:p>
            <a:pPr marR="570230" algn="r" rtl="0">
              <a:spcBef>
                <a:spcPts val="5"/>
              </a:spcBef>
            </a:pPr>
            <a:r>
              <a:rPr b="1" kern="1200" dirty="0">
                <a:solidFill>
                  <a:srgbClr val="BE9000"/>
                </a:solidFill>
                <a:latin typeface="Palatino Linotype"/>
                <a:cs typeface="Palatino Linotype"/>
              </a:rPr>
              <a:t>4</a:t>
            </a:r>
            <a:endParaRPr kern="1200" dirty="0">
              <a:solidFill>
                <a:prstClr val="black"/>
              </a:solidFill>
              <a:latin typeface="Palatino Linotype"/>
              <a:cs typeface="Palatino Linotype"/>
            </a:endParaRPr>
          </a:p>
        </p:txBody>
      </p:sp>
      <p:graphicFrame>
        <p:nvGraphicFramePr>
          <p:cNvPr id="52" name="object 17">
            <a:extLst>
              <a:ext uri="{FF2B5EF4-FFF2-40B4-BE49-F238E27FC236}">
                <a16:creationId xmlns:a16="http://schemas.microsoft.com/office/drawing/2014/main" id="{BAFC161F-5914-00A2-20E8-7701C6E37BBB}"/>
              </a:ext>
            </a:extLst>
          </p:cNvPr>
          <p:cNvGraphicFramePr>
            <a:graphicFrameLocks noGrp="1"/>
          </p:cNvGraphicFramePr>
          <p:nvPr/>
        </p:nvGraphicFramePr>
        <p:xfrm>
          <a:off x="6107810" y="3626508"/>
          <a:ext cx="1442085" cy="669289"/>
        </p:xfrm>
        <a:graphic>
          <a:graphicData uri="http://schemas.openxmlformats.org/drawingml/2006/table">
            <a:tbl>
              <a:tblPr firstRow="1" bandRow="1"/>
              <a:tblGrid>
                <a:gridCol w="344805">
                  <a:extLst>
                    <a:ext uri="{9D8B030D-6E8A-4147-A177-3AD203B41FA5}">
                      <a16:colId xmlns:a16="http://schemas.microsoft.com/office/drawing/2014/main" val="20000"/>
                    </a:ext>
                  </a:extLst>
                </a:gridCol>
                <a:gridCol w="250825">
                  <a:extLst>
                    <a:ext uri="{9D8B030D-6E8A-4147-A177-3AD203B41FA5}">
                      <a16:colId xmlns:a16="http://schemas.microsoft.com/office/drawing/2014/main" val="20001"/>
                    </a:ext>
                  </a:extLst>
                </a:gridCol>
                <a:gridCol w="846455">
                  <a:extLst>
                    <a:ext uri="{9D8B030D-6E8A-4147-A177-3AD203B41FA5}">
                      <a16:colId xmlns:a16="http://schemas.microsoft.com/office/drawing/2014/main" val="20002"/>
                    </a:ext>
                  </a:extLst>
                </a:gridCol>
              </a:tblGrid>
              <a:tr h="334644">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22225" algn="ctr">
                        <a:lnSpc>
                          <a:spcPts val="1695"/>
                        </a:lnSpc>
                      </a:pPr>
                      <a:r>
                        <a:rPr sz="1800" spc="-5" dirty="0">
                          <a:latin typeface="Consolas"/>
                          <a:cs typeface="Consolas"/>
                        </a:rPr>
                        <a:t>t1</a:t>
                      </a:r>
                      <a:endParaRPr sz="1800">
                        <a:latin typeface="Consolas"/>
                        <a:cs typeface="Consolas"/>
                      </a:endParaRPr>
                    </a:p>
                  </a:txBody>
                  <a:tcPr marL="0" marR="0" marT="0" marB="0">
                    <a:lnL>
                      <a:noFill/>
                    </a:lnL>
                    <a:lnR>
                      <a:noFill/>
                    </a:lnR>
                    <a:lnT>
                      <a:noFill/>
                    </a:lnT>
                    <a:lnB>
                      <a:noFill/>
                    </a:lnB>
                    <a:lnTlToBr w="12700" cmpd="sng">
                      <a:noFill/>
                      <a:prstDash val="solid"/>
                    </a:lnTlToBr>
                    <a:lnBlToTr w="12700" cmpd="sng">
                      <a:noFill/>
                      <a:prstDash val="solid"/>
                    </a:lnBlToTr>
                    <a:solidFill>
                      <a:srgbClr val="FFF1CC"/>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ts val="1695"/>
                        </a:lnSpc>
                      </a:pPr>
                      <a:r>
                        <a:rPr sz="1800" dirty="0">
                          <a:latin typeface="Consolas"/>
                          <a:cs typeface="Consolas"/>
                        </a:rPr>
                        <a:t>=</a:t>
                      </a:r>
                      <a:endParaRPr sz="1800">
                        <a:latin typeface="Consolas"/>
                        <a:cs typeface="Consolas"/>
                      </a:endParaRPr>
                    </a:p>
                  </a:txBody>
                  <a:tcPr marL="0" marR="0" marT="0" marB="0">
                    <a:lnL>
                      <a:noFill/>
                    </a:lnL>
                    <a:lnR>
                      <a:noFill/>
                    </a:lnR>
                    <a:lnT>
                      <a:noFill/>
                    </a:lnT>
                    <a:lnB>
                      <a:noFill/>
                    </a:lnB>
                    <a:lnTlToBr w="12700" cmpd="sng">
                      <a:noFill/>
                      <a:prstDash val="solid"/>
                    </a:lnTlToBr>
                    <a:lnBlToTr w="12700" cmpd="sng">
                      <a:noFill/>
                      <a:prstDash val="solid"/>
                    </a:lnBlToTr>
                    <a:solidFill>
                      <a:srgbClr val="FFF1CC"/>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62230">
                        <a:lnSpc>
                          <a:spcPts val="1695"/>
                        </a:lnSpc>
                      </a:pPr>
                      <a:r>
                        <a:rPr sz="1800" dirty="0">
                          <a:latin typeface="Consolas"/>
                          <a:cs typeface="Consolas"/>
                        </a:rPr>
                        <a:t>i</a:t>
                      </a:r>
                      <a:r>
                        <a:rPr sz="1800" spc="-60" dirty="0">
                          <a:latin typeface="Consolas"/>
                          <a:cs typeface="Consolas"/>
                        </a:rPr>
                        <a:t> </a:t>
                      </a:r>
                      <a:r>
                        <a:rPr sz="1800" dirty="0">
                          <a:latin typeface="Consolas"/>
                          <a:cs typeface="Consolas"/>
                        </a:rPr>
                        <a:t>*</a:t>
                      </a:r>
                      <a:r>
                        <a:rPr sz="1800" spc="-45" dirty="0">
                          <a:latin typeface="Consolas"/>
                          <a:cs typeface="Consolas"/>
                        </a:rPr>
                        <a:t> </a:t>
                      </a:r>
                      <a:r>
                        <a:rPr sz="1800" spc="-5" dirty="0">
                          <a:latin typeface="Consolas"/>
                          <a:cs typeface="Consolas"/>
                        </a:rPr>
                        <a:t>12</a:t>
                      </a:r>
                      <a:endParaRPr sz="1800">
                        <a:latin typeface="Consolas"/>
                        <a:cs typeface="Consolas"/>
                      </a:endParaRPr>
                    </a:p>
                  </a:txBody>
                  <a:tcPr marL="0" marR="0" marT="0" marB="0">
                    <a:lnL>
                      <a:noFill/>
                    </a:lnL>
                    <a:lnR>
                      <a:noFill/>
                    </a:lnR>
                    <a:lnT>
                      <a:noFill/>
                    </a:lnT>
                    <a:lnB>
                      <a:noFill/>
                    </a:lnB>
                    <a:lnTlToBr w="12700" cmpd="sng">
                      <a:noFill/>
                      <a:prstDash val="solid"/>
                    </a:lnTlToBr>
                    <a:lnBlToTr w="12700" cmpd="sng">
                      <a:noFill/>
                      <a:prstDash val="solid"/>
                    </a:lnBlToTr>
                    <a:solidFill>
                      <a:srgbClr val="FFF1CC"/>
                    </a:solidFill>
                  </a:tcPr>
                </a:tc>
                <a:extLst>
                  <a:ext uri="{0D108BD9-81ED-4DB2-BD59-A6C34878D82A}">
                    <a16:rowId xmlns:a16="http://schemas.microsoft.com/office/drawing/2014/main" val="10000"/>
                  </a:ext>
                </a:extLst>
              </a:tr>
              <a:tr h="334645">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22225" algn="ctr">
                        <a:lnSpc>
                          <a:spcPct val="100000"/>
                        </a:lnSpc>
                        <a:spcBef>
                          <a:spcPts val="370"/>
                        </a:spcBef>
                      </a:pPr>
                      <a:r>
                        <a:rPr sz="1800" spc="-5" dirty="0">
                          <a:latin typeface="Consolas"/>
                          <a:cs typeface="Consolas"/>
                        </a:rPr>
                        <a:t>t2</a:t>
                      </a:r>
                      <a:endParaRPr sz="1800">
                        <a:latin typeface="Consolas"/>
                        <a:cs typeface="Consolas"/>
                      </a:endParaRPr>
                    </a:p>
                  </a:txBody>
                  <a:tcPr marL="0" marR="0" marT="46990" marB="0">
                    <a:lnL>
                      <a:noFill/>
                    </a:lnL>
                    <a:lnR>
                      <a:noFill/>
                    </a:lnR>
                    <a:lnT>
                      <a:noFill/>
                    </a:lnT>
                    <a:lnB>
                      <a:noFill/>
                    </a:lnB>
                    <a:lnTlToBr w="12700" cmpd="sng">
                      <a:noFill/>
                      <a:prstDash val="solid"/>
                    </a:lnTlToBr>
                    <a:lnBlToTr w="12700" cmpd="sng">
                      <a:noFill/>
                      <a:prstDash val="solid"/>
                    </a:lnBlToTr>
                    <a:solidFill>
                      <a:srgbClr val="FFF1CC"/>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370"/>
                        </a:spcBef>
                      </a:pPr>
                      <a:r>
                        <a:rPr sz="1800" dirty="0">
                          <a:latin typeface="Consolas"/>
                          <a:cs typeface="Consolas"/>
                        </a:rPr>
                        <a:t>=</a:t>
                      </a:r>
                      <a:endParaRPr sz="1800">
                        <a:latin typeface="Consolas"/>
                        <a:cs typeface="Consolas"/>
                      </a:endParaRPr>
                    </a:p>
                  </a:txBody>
                  <a:tcPr marL="0" marR="0" marT="46990" marB="0">
                    <a:lnL>
                      <a:noFill/>
                    </a:lnL>
                    <a:lnR>
                      <a:noFill/>
                    </a:lnR>
                    <a:lnT>
                      <a:noFill/>
                    </a:lnT>
                    <a:lnB>
                      <a:noFill/>
                    </a:lnB>
                    <a:lnTlToBr w="12700" cmpd="sng">
                      <a:noFill/>
                      <a:prstDash val="solid"/>
                    </a:lnTlToBr>
                    <a:lnBlToTr w="12700" cmpd="sng">
                      <a:noFill/>
                      <a:prstDash val="solid"/>
                    </a:lnBlToTr>
                    <a:solidFill>
                      <a:srgbClr val="FFF1CC"/>
                    </a:solid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62230">
                        <a:lnSpc>
                          <a:spcPct val="100000"/>
                        </a:lnSpc>
                        <a:spcBef>
                          <a:spcPts val="370"/>
                        </a:spcBef>
                      </a:pPr>
                      <a:r>
                        <a:rPr sz="1800" dirty="0">
                          <a:latin typeface="Consolas"/>
                          <a:cs typeface="Consolas"/>
                        </a:rPr>
                        <a:t>j</a:t>
                      </a:r>
                      <a:r>
                        <a:rPr sz="1800" spc="-55" dirty="0">
                          <a:latin typeface="Consolas"/>
                          <a:cs typeface="Consolas"/>
                        </a:rPr>
                        <a:t> </a:t>
                      </a:r>
                      <a:r>
                        <a:rPr sz="1800" dirty="0">
                          <a:latin typeface="Consolas"/>
                          <a:cs typeface="Consolas"/>
                        </a:rPr>
                        <a:t>*</a:t>
                      </a:r>
                      <a:r>
                        <a:rPr sz="1800" spc="-45" dirty="0">
                          <a:latin typeface="Consolas"/>
                          <a:cs typeface="Consolas"/>
                        </a:rPr>
                        <a:t> </a:t>
                      </a:r>
                      <a:r>
                        <a:rPr sz="1800" dirty="0">
                          <a:latin typeface="Consolas"/>
                          <a:cs typeface="Consolas"/>
                        </a:rPr>
                        <a:t>4</a:t>
                      </a:r>
                      <a:endParaRPr sz="1800">
                        <a:latin typeface="Consolas"/>
                        <a:cs typeface="Consolas"/>
                      </a:endParaRPr>
                    </a:p>
                  </a:txBody>
                  <a:tcPr marL="0" marR="0" marT="46990" marB="0">
                    <a:lnL>
                      <a:noFill/>
                    </a:lnL>
                    <a:lnR>
                      <a:noFill/>
                    </a:lnR>
                    <a:lnT>
                      <a:noFill/>
                    </a:lnT>
                    <a:lnB>
                      <a:noFill/>
                    </a:lnB>
                    <a:lnTlToBr w="12700" cmpd="sng">
                      <a:noFill/>
                      <a:prstDash val="solid"/>
                    </a:lnTlToBr>
                    <a:lnBlToTr w="12700" cmpd="sng">
                      <a:noFill/>
                      <a:prstDash val="solid"/>
                    </a:lnBlToTr>
                    <a:solidFill>
                      <a:srgbClr val="FFF1CC"/>
                    </a:solidFill>
                  </a:tcPr>
                </a:tc>
                <a:extLst>
                  <a:ext uri="{0D108BD9-81ED-4DB2-BD59-A6C34878D82A}">
                    <a16:rowId xmlns:a16="http://schemas.microsoft.com/office/drawing/2014/main" val="10001"/>
                  </a:ext>
                </a:extLst>
              </a:tr>
            </a:tbl>
          </a:graphicData>
        </a:graphic>
      </p:graphicFrame>
      <p:sp>
        <p:nvSpPr>
          <p:cNvPr id="53" name="object 18">
            <a:extLst>
              <a:ext uri="{FF2B5EF4-FFF2-40B4-BE49-F238E27FC236}">
                <a16:creationId xmlns:a16="http://schemas.microsoft.com/office/drawing/2014/main" id="{D0A66F7B-68EB-284A-2A40-1645717212FD}"/>
              </a:ext>
            </a:extLst>
          </p:cNvPr>
          <p:cNvSpPr txBox="1"/>
          <p:nvPr/>
        </p:nvSpPr>
        <p:spPr>
          <a:xfrm>
            <a:off x="8462518" y="3553459"/>
            <a:ext cx="139700" cy="299720"/>
          </a:xfrm>
          <a:prstGeom prst="rect">
            <a:avLst/>
          </a:prstGeom>
        </p:spPr>
        <p:txBody>
          <a:bodyPr vert="horz" wrap="square" lIns="0" tIns="12700" rIns="0" bIns="0" rtlCol="0">
            <a:spAutoFit/>
          </a:bodyPr>
          <a:lstStyle/>
          <a:p>
            <a:pPr marL="12700" rtl="0">
              <a:spcBef>
                <a:spcPts val="100"/>
              </a:spcBef>
            </a:pPr>
            <a:r>
              <a:rPr b="1" kern="1200" dirty="0">
                <a:solidFill>
                  <a:srgbClr val="0431FF"/>
                </a:solidFill>
                <a:latin typeface="Palatino Linotype"/>
                <a:cs typeface="Palatino Linotype"/>
              </a:rPr>
              <a:t>2</a:t>
            </a:r>
            <a:endParaRPr kern="1200">
              <a:solidFill>
                <a:prstClr val="black"/>
              </a:solidFill>
              <a:latin typeface="Palatino Linotype"/>
              <a:cs typeface="Palatino Linotype"/>
            </a:endParaRPr>
          </a:p>
        </p:txBody>
      </p:sp>
      <p:sp>
        <p:nvSpPr>
          <p:cNvPr id="54" name="object 19">
            <a:extLst>
              <a:ext uri="{FF2B5EF4-FFF2-40B4-BE49-F238E27FC236}">
                <a16:creationId xmlns:a16="http://schemas.microsoft.com/office/drawing/2014/main" id="{DAEC2AA2-A574-9446-2BDA-5917D7CC2D19}"/>
              </a:ext>
            </a:extLst>
          </p:cNvPr>
          <p:cNvSpPr txBox="1"/>
          <p:nvPr/>
        </p:nvSpPr>
        <p:spPr>
          <a:xfrm>
            <a:off x="6126860" y="4436109"/>
            <a:ext cx="1529080" cy="299720"/>
          </a:xfrm>
          <a:prstGeom prst="rect">
            <a:avLst/>
          </a:prstGeom>
        </p:spPr>
        <p:txBody>
          <a:bodyPr vert="horz" wrap="square" lIns="0" tIns="12700" rIns="0" bIns="0" rtlCol="0">
            <a:spAutoFit/>
          </a:bodyPr>
          <a:lstStyle/>
          <a:p>
            <a:pPr marL="12700" rtl="0">
              <a:spcBef>
                <a:spcPts val="100"/>
              </a:spcBef>
            </a:pPr>
            <a:r>
              <a:rPr kern="1200" spc="-5" dirty="0">
                <a:solidFill>
                  <a:prstClr val="black"/>
                </a:solidFill>
                <a:latin typeface="Consolas"/>
                <a:cs typeface="Consolas"/>
              </a:rPr>
              <a:t>t3</a:t>
            </a:r>
            <a:r>
              <a:rPr kern="1200" spc="-40" dirty="0">
                <a:solidFill>
                  <a:prstClr val="black"/>
                </a:solidFill>
                <a:latin typeface="Consolas"/>
                <a:cs typeface="Consolas"/>
              </a:rPr>
              <a:t> </a:t>
            </a:r>
            <a:r>
              <a:rPr kern="1200" dirty="0">
                <a:solidFill>
                  <a:prstClr val="black"/>
                </a:solidFill>
                <a:latin typeface="Consolas"/>
                <a:cs typeface="Consolas"/>
              </a:rPr>
              <a:t>=</a:t>
            </a:r>
            <a:r>
              <a:rPr kern="1200" spc="-25" dirty="0">
                <a:solidFill>
                  <a:prstClr val="black"/>
                </a:solidFill>
                <a:latin typeface="Consolas"/>
                <a:cs typeface="Consolas"/>
              </a:rPr>
              <a:t> </a:t>
            </a:r>
            <a:r>
              <a:rPr kern="1200" spc="-5" dirty="0">
                <a:solidFill>
                  <a:prstClr val="black"/>
                </a:solidFill>
                <a:latin typeface="Consolas"/>
                <a:cs typeface="Consolas"/>
              </a:rPr>
              <a:t>t1</a:t>
            </a:r>
            <a:r>
              <a:rPr kern="1200" spc="-25" dirty="0">
                <a:solidFill>
                  <a:prstClr val="black"/>
                </a:solidFill>
                <a:latin typeface="Consolas"/>
                <a:cs typeface="Consolas"/>
              </a:rPr>
              <a:t> </a:t>
            </a:r>
            <a:r>
              <a:rPr kern="1200" dirty="0">
                <a:solidFill>
                  <a:prstClr val="black"/>
                </a:solidFill>
                <a:latin typeface="Consolas"/>
                <a:cs typeface="Consolas"/>
              </a:rPr>
              <a:t>+</a:t>
            </a:r>
            <a:r>
              <a:rPr kern="1200" spc="-35" dirty="0">
                <a:solidFill>
                  <a:prstClr val="black"/>
                </a:solidFill>
                <a:latin typeface="Consolas"/>
                <a:cs typeface="Consolas"/>
              </a:rPr>
              <a:t> </a:t>
            </a:r>
            <a:r>
              <a:rPr kern="1200" spc="-5" dirty="0">
                <a:solidFill>
                  <a:prstClr val="black"/>
                </a:solidFill>
                <a:latin typeface="Consolas"/>
                <a:cs typeface="Consolas"/>
              </a:rPr>
              <a:t>t2</a:t>
            </a:r>
            <a:endParaRPr kern="1200">
              <a:solidFill>
                <a:prstClr val="black"/>
              </a:solidFill>
              <a:latin typeface="Consolas"/>
              <a:cs typeface="Consolas"/>
            </a:endParaRPr>
          </a:p>
        </p:txBody>
      </p:sp>
      <p:sp>
        <p:nvSpPr>
          <p:cNvPr id="55" name="object 20">
            <a:extLst>
              <a:ext uri="{FF2B5EF4-FFF2-40B4-BE49-F238E27FC236}">
                <a16:creationId xmlns:a16="http://schemas.microsoft.com/office/drawing/2014/main" id="{585A3AA0-58C8-5D92-C9CC-2470368D0C38}"/>
              </a:ext>
            </a:extLst>
          </p:cNvPr>
          <p:cNvSpPr txBox="1"/>
          <p:nvPr/>
        </p:nvSpPr>
        <p:spPr>
          <a:xfrm>
            <a:off x="6126860" y="4880609"/>
            <a:ext cx="1278890" cy="299720"/>
          </a:xfrm>
          <a:prstGeom prst="rect">
            <a:avLst/>
          </a:prstGeom>
        </p:spPr>
        <p:txBody>
          <a:bodyPr vert="horz" wrap="square" lIns="0" tIns="12700" rIns="0" bIns="0" rtlCol="0">
            <a:spAutoFit/>
          </a:bodyPr>
          <a:lstStyle/>
          <a:p>
            <a:pPr marL="12700" rtl="0">
              <a:spcBef>
                <a:spcPts val="100"/>
              </a:spcBef>
            </a:pPr>
            <a:r>
              <a:rPr kern="1200" spc="-5" dirty="0">
                <a:solidFill>
                  <a:prstClr val="black"/>
                </a:solidFill>
                <a:latin typeface="Consolas"/>
                <a:cs typeface="Consolas"/>
              </a:rPr>
              <a:t>t4</a:t>
            </a:r>
            <a:r>
              <a:rPr kern="1200" spc="-55" dirty="0">
                <a:solidFill>
                  <a:prstClr val="black"/>
                </a:solidFill>
                <a:latin typeface="Consolas"/>
                <a:cs typeface="Consolas"/>
              </a:rPr>
              <a:t> </a:t>
            </a:r>
            <a:r>
              <a:rPr kern="1200" dirty="0">
                <a:solidFill>
                  <a:prstClr val="black"/>
                </a:solidFill>
                <a:latin typeface="Consolas"/>
                <a:cs typeface="Consolas"/>
              </a:rPr>
              <a:t>=</a:t>
            </a:r>
            <a:r>
              <a:rPr kern="1200" spc="-50" dirty="0">
                <a:solidFill>
                  <a:prstClr val="black"/>
                </a:solidFill>
                <a:latin typeface="Consolas"/>
                <a:cs typeface="Consolas"/>
              </a:rPr>
              <a:t> </a:t>
            </a:r>
            <a:r>
              <a:rPr kern="1200" spc="-5" dirty="0">
                <a:solidFill>
                  <a:prstClr val="black"/>
                </a:solidFill>
                <a:latin typeface="Consolas"/>
                <a:cs typeface="Consolas"/>
              </a:rPr>
              <a:t>a[t3]</a:t>
            </a:r>
            <a:endParaRPr kern="1200">
              <a:solidFill>
                <a:prstClr val="black"/>
              </a:solidFill>
              <a:latin typeface="Consolas"/>
              <a:cs typeface="Consolas"/>
            </a:endParaRPr>
          </a:p>
        </p:txBody>
      </p:sp>
      <p:sp>
        <p:nvSpPr>
          <p:cNvPr id="56" name="object 21">
            <a:extLst>
              <a:ext uri="{FF2B5EF4-FFF2-40B4-BE49-F238E27FC236}">
                <a16:creationId xmlns:a16="http://schemas.microsoft.com/office/drawing/2014/main" id="{CBFAECE8-DF1C-58DE-4CCF-1576A3934611}"/>
              </a:ext>
            </a:extLst>
          </p:cNvPr>
          <p:cNvSpPr txBox="1"/>
          <p:nvPr/>
        </p:nvSpPr>
        <p:spPr>
          <a:xfrm>
            <a:off x="6126860" y="5321046"/>
            <a:ext cx="1403985" cy="299720"/>
          </a:xfrm>
          <a:prstGeom prst="rect">
            <a:avLst/>
          </a:prstGeom>
        </p:spPr>
        <p:txBody>
          <a:bodyPr vert="horz" wrap="square" lIns="0" tIns="12700" rIns="0" bIns="0" rtlCol="0">
            <a:spAutoFit/>
          </a:bodyPr>
          <a:lstStyle/>
          <a:p>
            <a:pPr marL="12700" rtl="0">
              <a:spcBef>
                <a:spcPts val="100"/>
              </a:spcBef>
            </a:pPr>
            <a:r>
              <a:rPr kern="1200" spc="-5" dirty="0">
                <a:solidFill>
                  <a:prstClr val="black"/>
                </a:solidFill>
                <a:latin typeface="Consolas"/>
                <a:cs typeface="Consolas"/>
              </a:rPr>
              <a:t>t5</a:t>
            </a:r>
            <a:r>
              <a:rPr kern="1200" spc="-40" dirty="0">
                <a:solidFill>
                  <a:prstClr val="black"/>
                </a:solidFill>
                <a:latin typeface="Consolas"/>
                <a:cs typeface="Consolas"/>
              </a:rPr>
              <a:t> </a:t>
            </a:r>
            <a:r>
              <a:rPr kern="1200" dirty="0">
                <a:solidFill>
                  <a:prstClr val="black"/>
                </a:solidFill>
                <a:latin typeface="Consolas"/>
                <a:cs typeface="Consolas"/>
              </a:rPr>
              <a:t>=</a:t>
            </a:r>
            <a:r>
              <a:rPr kern="1200" spc="-25" dirty="0">
                <a:solidFill>
                  <a:prstClr val="black"/>
                </a:solidFill>
                <a:latin typeface="Consolas"/>
                <a:cs typeface="Consolas"/>
              </a:rPr>
              <a:t> </a:t>
            </a:r>
            <a:r>
              <a:rPr kern="1200" dirty="0">
                <a:solidFill>
                  <a:prstClr val="black"/>
                </a:solidFill>
                <a:latin typeface="Consolas"/>
                <a:cs typeface="Consolas"/>
              </a:rPr>
              <a:t>c</a:t>
            </a:r>
            <a:r>
              <a:rPr kern="1200" spc="-40" dirty="0">
                <a:solidFill>
                  <a:prstClr val="black"/>
                </a:solidFill>
                <a:latin typeface="Consolas"/>
                <a:cs typeface="Consolas"/>
              </a:rPr>
              <a:t> </a:t>
            </a:r>
            <a:r>
              <a:rPr kern="1200" dirty="0">
                <a:solidFill>
                  <a:prstClr val="black"/>
                </a:solidFill>
                <a:latin typeface="Consolas"/>
                <a:cs typeface="Consolas"/>
              </a:rPr>
              <a:t>+</a:t>
            </a:r>
            <a:r>
              <a:rPr kern="1200" spc="-25" dirty="0">
                <a:solidFill>
                  <a:prstClr val="black"/>
                </a:solidFill>
                <a:latin typeface="Consolas"/>
                <a:cs typeface="Consolas"/>
              </a:rPr>
              <a:t> </a:t>
            </a:r>
            <a:r>
              <a:rPr kern="1200" spc="-5" dirty="0">
                <a:solidFill>
                  <a:prstClr val="black"/>
                </a:solidFill>
                <a:latin typeface="Consolas"/>
                <a:cs typeface="Consolas"/>
              </a:rPr>
              <a:t>t4</a:t>
            </a:r>
            <a:endParaRPr kern="1200">
              <a:solidFill>
                <a:prstClr val="black"/>
              </a:solidFill>
              <a:latin typeface="Consolas"/>
              <a:cs typeface="Consolas"/>
            </a:endParaRPr>
          </a:p>
        </p:txBody>
      </p:sp>
      <p:sp>
        <p:nvSpPr>
          <p:cNvPr id="57" name="object 22">
            <a:extLst>
              <a:ext uri="{FF2B5EF4-FFF2-40B4-BE49-F238E27FC236}">
                <a16:creationId xmlns:a16="http://schemas.microsoft.com/office/drawing/2014/main" id="{CC4DB45E-238A-C16A-8AAE-CA613A4BE2AA}"/>
              </a:ext>
            </a:extLst>
          </p:cNvPr>
          <p:cNvSpPr/>
          <p:nvPr/>
        </p:nvSpPr>
        <p:spPr>
          <a:xfrm>
            <a:off x="7624571" y="3720084"/>
            <a:ext cx="758190" cy="0"/>
          </a:xfrm>
          <a:custGeom>
            <a:avLst/>
            <a:gdLst/>
            <a:ahLst/>
            <a:cxnLst/>
            <a:rect l="l" t="t" r="r" b="b"/>
            <a:pathLst>
              <a:path w="758190">
                <a:moveTo>
                  <a:pt x="0" y="0"/>
                </a:moveTo>
                <a:lnTo>
                  <a:pt x="757681" y="0"/>
                </a:lnTo>
              </a:path>
            </a:pathLst>
          </a:custGeom>
          <a:ln w="12700">
            <a:solidFill>
              <a:srgbClr val="0431FF"/>
            </a:solidFill>
            <a:prstDash val="sysDash"/>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8" name="object 23">
            <a:extLst>
              <a:ext uri="{FF2B5EF4-FFF2-40B4-BE49-F238E27FC236}">
                <a16:creationId xmlns:a16="http://schemas.microsoft.com/office/drawing/2014/main" id="{AC7EAEB1-04C5-15BE-A29A-1E603449C7FD}"/>
              </a:ext>
            </a:extLst>
          </p:cNvPr>
          <p:cNvSpPr txBox="1"/>
          <p:nvPr/>
        </p:nvSpPr>
        <p:spPr>
          <a:xfrm>
            <a:off x="4963159" y="5130165"/>
            <a:ext cx="139700" cy="299720"/>
          </a:xfrm>
          <a:prstGeom prst="rect">
            <a:avLst/>
          </a:prstGeom>
        </p:spPr>
        <p:txBody>
          <a:bodyPr vert="horz" wrap="square" lIns="0" tIns="12700" rIns="0" bIns="0" rtlCol="0">
            <a:spAutoFit/>
          </a:bodyPr>
          <a:lstStyle/>
          <a:p>
            <a:pPr marL="12700" rtl="0">
              <a:spcBef>
                <a:spcPts val="100"/>
              </a:spcBef>
            </a:pPr>
            <a:r>
              <a:rPr b="1" kern="1200" dirty="0">
                <a:solidFill>
                  <a:srgbClr val="00AF50"/>
                </a:solidFill>
                <a:latin typeface="Palatino Linotype"/>
                <a:cs typeface="Palatino Linotype"/>
              </a:rPr>
              <a:t>3</a:t>
            </a:r>
            <a:endParaRPr kern="1200">
              <a:solidFill>
                <a:prstClr val="black"/>
              </a:solidFill>
              <a:latin typeface="Palatino Linotype"/>
              <a:cs typeface="Palatino Linotype"/>
            </a:endParaRPr>
          </a:p>
        </p:txBody>
      </p:sp>
      <p:sp>
        <p:nvSpPr>
          <p:cNvPr id="59" name="object 24">
            <a:extLst>
              <a:ext uri="{FF2B5EF4-FFF2-40B4-BE49-F238E27FC236}">
                <a16:creationId xmlns:a16="http://schemas.microsoft.com/office/drawing/2014/main" id="{BE2241BB-6227-A818-FC15-2F35120983EA}"/>
              </a:ext>
            </a:extLst>
          </p:cNvPr>
          <p:cNvSpPr txBox="1"/>
          <p:nvPr/>
        </p:nvSpPr>
        <p:spPr>
          <a:xfrm>
            <a:off x="5136007" y="3665931"/>
            <a:ext cx="140335" cy="300355"/>
          </a:xfrm>
          <a:prstGeom prst="rect">
            <a:avLst/>
          </a:prstGeom>
        </p:spPr>
        <p:txBody>
          <a:bodyPr vert="horz" wrap="square" lIns="0" tIns="12700" rIns="0" bIns="0" rtlCol="0">
            <a:spAutoFit/>
          </a:bodyPr>
          <a:lstStyle/>
          <a:p>
            <a:pPr marL="12700" rtl="0">
              <a:spcBef>
                <a:spcPts val="100"/>
              </a:spcBef>
            </a:pPr>
            <a:r>
              <a:rPr b="1" kern="1200" dirty="0">
                <a:solidFill>
                  <a:srgbClr val="BE9000"/>
                </a:solidFill>
                <a:latin typeface="Palatino Linotype"/>
                <a:cs typeface="Palatino Linotype"/>
              </a:rPr>
              <a:t>4</a:t>
            </a:r>
            <a:endParaRPr kern="1200">
              <a:solidFill>
                <a:prstClr val="black"/>
              </a:solidFill>
              <a:latin typeface="Palatino Linotype"/>
              <a:cs typeface="Palatino Linotype"/>
            </a:endParaRPr>
          </a:p>
        </p:txBody>
      </p:sp>
      <p:sp>
        <p:nvSpPr>
          <p:cNvPr id="60" name="object 25">
            <a:extLst>
              <a:ext uri="{FF2B5EF4-FFF2-40B4-BE49-F238E27FC236}">
                <a16:creationId xmlns:a16="http://schemas.microsoft.com/office/drawing/2014/main" id="{6767FF8C-9F1E-3A5C-DF7E-B4473974B5CD}"/>
              </a:ext>
            </a:extLst>
          </p:cNvPr>
          <p:cNvSpPr/>
          <p:nvPr/>
        </p:nvSpPr>
        <p:spPr>
          <a:xfrm>
            <a:off x="7520940" y="4160520"/>
            <a:ext cx="868044" cy="440690"/>
          </a:xfrm>
          <a:custGeom>
            <a:avLst/>
            <a:gdLst/>
            <a:ahLst/>
            <a:cxnLst/>
            <a:rect l="l" t="t" r="r" b="b"/>
            <a:pathLst>
              <a:path w="868045" h="440689">
                <a:moveTo>
                  <a:pt x="0" y="0"/>
                </a:moveTo>
                <a:lnTo>
                  <a:pt x="867790" y="225932"/>
                </a:lnTo>
              </a:path>
              <a:path w="868045" h="440689">
                <a:moveTo>
                  <a:pt x="230124" y="440181"/>
                </a:moveTo>
                <a:lnTo>
                  <a:pt x="866775" y="225551"/>
                </a:lnTo>
              </a:path>
            </a:pathLst>
          </a:custGeom>
          <a:ln w="12700">
            <a:solidFill>
              <a:srgbClr val="BE9000"/>
            </a:solidFill>
            <a:prstDash val="sysDash"/>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1" name="object 26">
            <a:extLst>
              <a:ext uri="{FF2B5EF4-FFF2-40B4-BE49-F238E27FC236}">
                <a16:creationId xmlns:a16="http://schemas.microsoft.com/office/drawing/2014/main" id="{F03B2F39-37D0-C98D-E493-AD272021DECD}"/>
              </a:ext>
            </a:extLst>
          </p:cNvPr>
          <p:cNvSpPr txBox="1"/>
          <p:nvPr/>
        </p:nvSpPr>
        <p:spPr>
          <a:xfrm>
            <a:off x="8468359" y="4220082"/>
            <a:ext cx="139700" cy="299720"/>
          </a:xfrm>
          <a:prstGeom prst="rect">
            <a:avLst/>
          </a:prstGeom>
        </p:spPr>
        <p:txBody>
          <a:bodyPr vert="horz" wrap="square" lIns="0" tIns="12700" rIns="0" bIns="0" rtlCol="0">
            <a:spAutoFit/>
          </a:bodyPr>
          <a:lstStyle/>
          <a:p>
            <a:pPr marL="12700" rtl="0">
              <a:spcBef>
                <a:spcPts val="100"/>
              </a:spcBef>
            </a:pPr>
            <a:r>
              <a:rPr b="1" kern="1200" dirty="0">
                <a:solidFill>
                  <a:srgbClr val="BE9000"/>
                </a:solidFill>
                <a:latin typeface="Palatino Linotype"/>
                <a:cs typeface="Palatino Linotype"/>
              </a:rPr>
              <a:t>4</a:t>
            </a:r>
            <a:endParaRPr kern="1200">
              <a:solidFill>
                <a:prstClr val="black"/>
              </a:solidFill>
              <a:latin typeface="Palatino Linotype"/>
              <a:cs typeface="Palatino Linotype"/>
            </a:endParaRPr>
          </a:p>
        </p:txBody>
      </p:sp>
      <p:sp>
        <p:nvSpPr>
          <p:cNvPr id="62" name="object 27">
            <a:extLst>
              <a:ext uri="{FF2B5EF4-FFF2-40B4-BE49-F238E27FC236}">
                <a16:creationId xmlns:a16="http://schemas.microsoft.com/office/drawing/2014/main" id="{ED7BAE58-D48B-89E4-FF99-A119CCD949A1}"/>
              </a:ext>
            </a:extLst>
          </p:cNvPr>
          <p:cNvSpPr txBox="1"/>
          <p:nvPr/>
        </p:nvSpPr>
        <p:spPr>
          <a:xfrm>
            <a:off x="4426077" y="3021329"/>
            <a:ext cx="139700" cy="299720"/>
          </a:xfrm>
          <a:prstGeom prst="rect">
            <a:avLst/>
          </a:prstGeom>
        </p:spPr>
        <p:txBody>
          <a:bodyPr vert="horz" wrap="square" lIns="0" tIns="12700" rIns="0" bIns="0" rtlCol="0">
            <a:spAutoFit/>
          </a:bodyPr>
          <a:lstStyle/>
          <a:p>
            <a:pPr marL="12700" rtl="0">
              <a:spcBef>
                <a:spcPts val="100"/>
              </a:spcBef>
            </a:pPr>
            <a:r>
              <a:rPr b="1" kern="1200" dirty="0">
                <a:solidFill>
                  <a:srgbClr val="6F2F9F"/>
                </a:solidFill>
                <a:latin typeface="Palatino Linotype"/>
                <a:cs typeface="Palatino Linotype"/>
              </a:rPr>
              <a:t>5</a:t>
            </a:r>
            <a:endParaRPr kern="1200">
              <a:solidFill>
                <a:prstClr val="black"/>
              </a:solidFill>
              <a:latin typeface="Palatino Linotype"/>
              <a:cs typeface="Palatino Linotype"/>
            </a:endParaRPr>
          </a:p>
        </p:txBody>
      </p:sp>
      <p:sp>
        <p:nvSpPr>
          <p:cNvPr id="63" name="object 28">
            <a:extLst>
              <a:ext uri="{FF2B5EF4-FFF2-40B4-BE49-F238E27FC236}">
                <a16:creationId xmlns:a16="http://schemas.microsoft.com/office/drawing/2014/main" id="{3B656D38-99BC-4591-6214-D04DCE55B4DE}"/>
              </a:ext>
            </a:extLst>
          </p:cNvPr>
          <p:cNvSpPr txBox="1"/>
          <p:nvPr/>
        </p:nvSpPr>
        <p:spPr>
          <a:xfrm>
            <a:off x="8472678" y="4881753"/>
            <a:ext cx="139700" cy="299720"/>
          </a:xfrm>
          <a:prstGeom prst="rect">
            <a:avLst/>
          </a:prstGeom>
        </p:spPr>
        <p:txBody>
          <a:bodyPr vert="horz" wrap="square" lIns="0" tIns="12700" rIns="0" bIns="0" rtlCol="0">
            <a:spAutoFit/>
          </a:bodyPr>
          <a:lstStyle/>
          <a:p>
            <a:pPr marL="12700" rtl="0">
              <a:spcBef>
                <a:spcPts val="100"/>
              </a:spcBef>
            </a:pPr>
            <a:r>
              <a:rPr b="1" kern="1200" dirty="0">
                <a:solidFill>
                  <a:srgbClr val="6F2F9F"/>
                </a:solidFill>
                <a:latin typeface="Palatino Linotype"/>
                <a:cs typeface="Palatino Linotype"/>
              </a:rPr>
              <a:t>5</a:t>
            </a:r>
            <a:endParaRPr kern="1200">
              <a:solidFill>
                <a:prstClr val="black"/>
              </a:solidFill>
              <a:latin typeface="Palatino Linotype"/>
              <a:cs typeface="Palatino Linotype"/>
            </a:endParaRPr>
          </a:p>
        </p:txBody>
      </p:sp>
      <p:sp>
        <p:nvSpPr>
          <p:cNvPr id="64" name="object 29">
            <a:extLst>
              <a:ext uri="{FF2B5EF4-FFF2-40B4-BE49-F238E27FC236}">
                <a16:creationId xmlns:a16="http://schemas.microsoft.com/office/drawing/2014/main" id="{2D63B963-D808-B848-8CCF-65348631788D}"/>
              </a:ext>
            </a:extLst>
          </p:cNvPr>
          <p:cNvSpPr/>
          <p:nvPr/>
        </p:nvSpPr>
        <p:spPr>
          <a:xfrm>
            <a:off x="7498080" y="5044440"/>
            <a:ext cx="894715" cy="3175"/>
          </a:xfrm>
          <a:custGeom>
            <a:avLst/>
            <a:gdLst/>
            <a:ahLst/>
            <a:cxnLst/>
            <a:rect l="l" t="t" r="r" b="b"/>
            <a:pathLst>
              <a:path w="894715" h="3175">
                <a:moveTo>
                  <a:pt x="0" y="0"/>
                </a:moveTo>
                <a:lnTo>
                  <a:pt x="894206" y="2793"/>
                </a:lnTo>
              </a:path>
            </a:pathLst>
          </a:custGeom>
          <a:ln w="12700">
            <a:solidFill>
              <a:srgbClr val="6F2F9F"/>
            </a:solidFill>
            <a:prstDash val="sysDash"/>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5" name="object 30">
            <a:extLst>
              <a:ext uri="{FF2B5EF4-FFF2-40B4-BE49-F238E27FC236}">
                <a16:creationId xmlns:a16="http://schemas.microsoft.com/office/drawing/2014/main" id="{B0138BC6-D6FD-2877-B669-B3771BEE5599}"/>
              </a:ext>
            </a:extLst>
          </p:cNvPr>
          <p:cNvSpPr txBox="1"/>
          <p:nvPr/>
        </p:nvSpPr>
        <p:spPr>
          <a:xfrm>
            <a:off x="4509642" y="2532379"/>
            <a:ext cx="139700" cy="299720"/>
          </a:xfrm>
          <a:prstGeom prst="rect">
            <a:avLst/>
          </a:prstGeom>
        </p:spPr>
        <p:txBody>
          <a:bodyPr vert="horz" wrap="square" lIns="0" tIns="12700" rIns="0" bIns="0" rtlCol="0">
            <a:spAutoFit/>
          </a:bodyPr>
          <a:lstStyle/>
          <a:p>
            <a:pPr marL="12700" rtl="0">
              <a:spcBef>
                <a:spcPts val="100"/>
              </a:spcBef>
            </a:pPr>
            <a:r>
              <a:rPr b="1" kern="1200" dirty="0">
                <a:solidFill>
                  <a:srgbClr val="FA7C79"/>
                </a:solidFill>
                <a:latin typeface="Palatino Linotype"/>
                <a:cs typeface="Palatino Linotype"/>
              </a:rPr>
              <a:t>6</a:t>
            </a:r>
            <a:endParaRPr kern="1200">
              <a:solidFill>
                <a:prstClr val="black"/>
              </a:solidFill>
              <a:latin typeface="Palatino Linotype"/>
              <a:cs typeface="Palatino Linotype"/>
            </a:endParaRPr>
          </a:p>
        </p:txBody>
      </p:sp>
      <p:sp>
        <p:nvSpPr>
          <p:cNvPr id="66" name="object 31">
            <a:extLst>
              <a:ext uri="{FF2B5EF4-FFF2-40B4-BE49-F238E27FC236}">
                <a16:creationId xmlns:a16="http://schemas.microsoft.com/office/drawing/2014/main" id="{AFD5D212-3E55-13E1-62D4-98AFABD6AC08}"/>
              </a:ext>
            </a:extLst>
          </p:cNvPr>
          <p:cNvSpPr txBox="1"/>
          <p:nvPr/>
        </p:nvSpPr>
        <p:spPr>
          <a:xfrm>
            <a:off x="8462518" y="5319521"/>
            <a:ext cx="139700" cy="299720"/>
          </a:xfrm>
          <a:prstGeom prst="rect">
            <a:avLst/>
          </a:prstGeom>
        </p:spPr>
        <p:txBody>
          <a:bodyPr vert="horz" wrap="square" lIns="0" tIns="12700" rIns="0" bIns="0" rtlCol="0">
            <a:spAutoFit/>
          </a:bodyPr>
          <a:lstStyle/>
          <a:p>
            <a:pPr marL="12700" rtl="0">
              <a:spcBef>
                <a:spcPts val="100"/>
              </a:spcBef>
            </a:pPr>
            <a:r>
              <a:rPr b="1" kern="1200" dirty="0">
                <a:solidFill>
                  <a:srgbClr val="FA7C79"/>
                </a:solidFill>
                <a:latin typeface="Palatino Linotype"/>
                <a:cs typeface="Palatino Linotype"/>
              </a:rPr>
              <a:t>6</a:t>
            </a:r>
            <a:endParaRPr kern="1200">
              <a:solidFill>
                <a:prstClr val="black"/>
              </a:solidFill>
              <a:latin typeface="Palatino Linotype"/>
              <a:cs typeface="Palatino Linotype"/>
            </a:endParaRPr>
          </a:p>
        </p:txBody>
      </p:sp>
      <p:sp>
        <p:nvSpPr>
          <p:cNvPr id="67" name="object 32">
            <a:extLst>
              <a:ext uri="{FF2B5EF4-FFF2-40B4-BE49-F238E27FC236}">
                <a16:creationId xmlns:a16="http://schemas.microsoft.com/office/drawing/2014/main" id="{9958062E-5A61-E4E6-7D13-1155D472B406}"/>
              </a:ext>
            </a:extLst>
          </p:cNvPr>
          <p:cNvSpPr/>
          <p:nvPr/>
        </p:nvSpPr>
        <p:spPr>
          <a:xfrm>
            <a:off x="7624571" y="5484876"/>
            <a:ext cx="758190" cy="0"/>
          </a:xfrm>
          <a:custGeom>
            <a:avLst/>
            <a:gdLst/>
            <a:ahLst/>
            <a:cxnLst/>
            <a:rect l="l" t="t" r="r" b="b"/>
            <a:pathLst>
              <a:path w="758190">
                <a:moveTo>
                  <a:pt x="0" y="0"/>
                </a:moveTo>
                <a:lnTo>
                  <a:pt x="757681" y="0"/>
                </a:lnTo>
              </a:path>
            </a:pathLst>
          </a:custGeom>
          <a:ln w="12700">
            <a:solidFill>
              <a:srgbClr val="FF7B80"/>
            </a:solidFill>
            <a:prstDash val="sysDash"/>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8" name="object 33">
            <a:extLst>
              <a:ext uri="{FF2B5EF4-FFF2-40B4-BE49-F238E27FC236}">
                <a16:creationId xmlns:a16="http://schemas.microsoft.com/office/drawing/2014/main" id="{3EC3155A-AD10-05CF-632E-A7F9E423C686}"/>
              </a:ext>
            </a:extLst>
          </p:cNvPr>
          <p:cNvSpPr txBox="1"/>
          <p:nvPr/>
        </p:nvSpPr>
        <p:spPr>
          <a:xfrm>
            <a:off x="5874258" y="2939541"/>
            <a:ext cx="1671955" cy="299720"/>
          </a:xfrm>
          <a:prstGeom prst="rect">
            <a:avLst/>
          </a:prstGeom>
        </p:spPr>
        <p:txBody>
          <a:bodyPr vert="horz" wrap="square" lIns="0" tIns="12700" rIns="0" bIns="0" rtlCol="0">
            <a:spAutoFit/>
          </a:bodyPr>
          <a:lstStyle/>
          <a:p>
            <a:pPr marL="12700" rtl="0">
              <a:spcBef>
                <a:spcPts val="100"/>
              </a:spcBef>
            </a:pPr>
            <a:r>
              <a:rPr kern="1200" spc="-5" dirty="0">
                <a:solidFill>
                  <a:prstClr val="black"/>
                </a:solidFill>
                <a:latin typeface="Palatino Linotype"/>
                <a:cs typeface="Palatino Linotype"/>
              </a:rPr>
              <a:t>Generated</a:t>
            </a:r>
            <a:r>
              <a:rPr kern="1200" spc="-50" dirty="0">
                <a:solidFill>
                  <a:prstClr val="black"/>
                </a:solidFill>
                <a:latin typeface="Palatino Linotype"/>
                <a:cs typeface="Palatino Linotype"/>
              </a:rPr>
              <a:t> </a:t>
            </a:r>
            <a:r>
              <a:rPr kern="1200" dirty="0">
                <a:solidFill>
                  <a:prstClr val="black"/>
                </a:solidFill>
                <a:latin typeface="Palatino Linotype"/>
                <a:cs typeface="Palatino Linotype"/>
              </a:rPr>
              <a:t>code:</a:t>
            </a:r>
            <a:endParaRPr kern="1200">
              <a:solidFill>
                <a:prstClr val="black"/>
              </a:solidFill>
              <a:latin typeface="Palatino Linotype"/>
              <a:cs typeface="Palatino Linotype"/>
            </a:endParaRPr>
          </a:p>
        </p:txBody>
      </p:sp>
    </p:spTree>
    <p:extLst>
      <p:ext uri="{BB962C8B-B14F-4D97-AF65-F5344CB8AC3E}">
        <p14:creationId xmlns:p14="http://schemas.microsoft.com/office/powerpoint/2010/main" val="24964142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70</a:t>
            </a:fld>
            <a:endParaRPr lang="en-US"/>
          </a:p>
        </p:txBody>
      </p:sp>
      <p:sp>
        <p:nvSpPr>
          <p:cNvPr id="7" name="object 2">
            <a:extLst>
              <a:ext uri="{FF2B5EF4-FFF2-40B4-BE49-F238E27FC236}">
                <a16:creationId xmlns:a16="http://schemas.microsoft.com/office/drawing/2014/main" id="{52A8CAED-A44D-E8F5-7C14-B7ABB55B05B3}"/>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O</a:t>
            </a:r>
            <a:r>
              <a:rPr kumimoji="0" lang="en-US" sz="4000" b="1" i="0" u="none" strike="noStrike" kern="0" cap="none" spc="-20" normalizeH="0" baseline="0" noProof="0">
                <a:ln>
                  <a:noFill/>
                </a:ln>
                <a:solidFill>
                  <a:sysClr val="windowText" lastClr="000000"/>
                </a:solidFill>
                <a:effectLst/>
                <a:uLnTx/>
                <a:uFillTx/>
                <a:latin typeface="Palatino Linotype"/>
                <a:ea typeface="+mj-ea"/>
              </a:rPr>
              <a:t>u</a:t>
            </a:r>
            <a:r>
              <a:rPr kumimoji="0" lang="en-US" sz="4000" b="1" i="0" u="none" strike="noStrike" kern="0" cap="none" spc="-5" normalizeH="0" baseline="0" noProof="0">
                <a:ln>
                  <a:noFill/>
                </a:ln>
                <a:solidFill>
                  <a:sysClr val="windowText" lastClr="000000"/>
                </a:solidFill>
                <a:effectLst/>
                <a:uLnTx/>
                <a:uFillTx/>
                <a:latin typeface="Palatino Linotype"/>
                <a:ea typeface="+mj-ea"/>
              </a:rPr>
              <a:t>tline</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4116B541-F519-94EA-FFA8-27D843A68922}"/>
              </a:ext>
            </a:extLst>
          </p:cNvPr>
          <p:cNvSpPr txBox="1"/>
          <p:nvPr/>
        </p:nvSpPr>
        <p:spPr>
          <a:xfrm>
            <a:off x="707542" y="1658239"/>
            <a:ext cx="4103370" cy="4110990"/>
          </a:xfrm>
          <a:prstGeom prst="rect">
            <a:avLst/>
          </a:prstGeom>
        </p:spPr>
        <p:txBody>
          <a:bodyPr vert="horz" wrap="square" lIns="0" tIns="12700" rIns="0" bIns="0" rtlCol="0">
            <a:spAutoFit/>
          </a:bodyPr>
          <a:lstStyle/>
          <a:p>
            <a:pPr marL="242570" indent="-230504" rtl="0">
              <a:spcBef>
                <a:spcPts val="100"/>
              </a:spcBef>
              <a:buClr>
                <a:srgbClr val="000000"/>
              </a:buClr>
              <a:buFont typeface="Arial MT"/>
              <a:buChar char="•"/>
              <a:tabLst>
                <a:tab pos="243204" algn="l"/>
              </a:tabLst>
            </a:pPr>
            <a:r>
              <a:rPr sz="2400" kern="1200" spc="-5" dirty="0">
                <a:solidFill>
                  <a:srgbClr val="A6A6A6"/>
                </a:solidFill>
                <a:latin typeface="Palatino Linotype"/>
                <a:cs typeface="Palatino Linotype"/>
              </a:rPr>
              <a:t>Intermediate</a:t>
            </a:r>
            <a:r>
              <a:rPr sz="2400" kern="1200" spc="-30" dirty="0">
                <a:solidFill>
                  <a:srgbClr val="A6A6A6"/>
                </a:solidFill>
                <a:latin typeface="Palatino Linotype"/>
                <a:cs typeface="Palatino Linotype"/>
              </a:rPr>
              <a:t> </a:t>
            </a:r>
            <a:r>
              <a:rPr sz="2400" kern="1200" spc="-5" dirty="0">
                <a:solidFill>
                  <a:srgbClr val="A6A6A6"/>
                </a:solidFill>
                <a:latin typeface="Palatino Linotype"/>
                <a:cs typeface="Palatino Linotype"/>
              </a:rPr>
              <a:t>Representation</a:t>
            </a:r>
            <a:endParaRPr sz="2400" kern="1200" dirty="0">
              <a:solidFill>
                <a:prstClr val="black"/>
              </a:solidFill>
              <a:latin typeface="Palatino Linotype"/>
              <a:cs typeface="Palatino Linotype"/>
            </a:endParaRPr>
          </a:p>
          <a:p>
            <a:pPr rtl="0">
              <a:spcBef>
                <a:spcPts val="5"/>
              </a:spcBef>
              <a:buFont typeface="Arial MT"/>
              <a:buChar char="•"/>
            </a:pPr>
            <a:endParaRPr sz="2200" kern="1200" dirty="0">
              <a:solidFill>
                <a:prstClr val="black"/>
              </a:solidFill>
              <a:latin typeface="Palatino Linotype"/>
              <a:cs typeface="Palatino Linotype"/>
            </a:endParaRPr>
          </a:p>
          <a:p>
            <a:pPr marL="242570" indent="-230504" rtl="0">
              <a:buClr>
                <a:srgbClr val="000000"/>
              </a:buClr>
              <a:buFont typeface="Arial MT"/>
              <a:buChar char="•"/>
              <a:tabLst>
                <a:tab pos="243204" algn="l"/>
              </a:tabLst>
            </a:pPr>
            <a:r>
              <a:rPr sz="2400" kern="1200" spc="-45" dirty="0">
                <a:solidFill>
                  <a:srgbClr val="A6A6A6"/>
                </a:solidFill>
                <a:latin typeface="Palatino Linotype"/>
                <a:cs typeface="Palatino Linotype"/>
              </a:rPr>
              <a:t>Type</a:t>
            </a:r>
            <a:r>
              <a:rPr sz="2400" kern="1200" spc="-15" dirty="0">
                <a:solidFill>
                  <a:srgbClr val="A6A6A6"/>
                </a:solidFill>
                <a:latin typeface="Palatino Linotype"/>
                <a:cs typeface="Palatino Linotype"/>
              </a:rPr>
              <a:t> </a:t>
            </a:r>
            <a:r>
              <a:rPr sz="2400" kern="1200" spc="-5" dirty="0">
                <a:solidFill>
                  <a:srgbClr val="A6A6A6"/>
                </a:solidFill>
                <a:latin typeface="Palatino Linotype"/>
                <a:cs typeface="Palatino Linotype"/>
              </a:rPr>
              <a:t>and Declarations</a:t>
            </a:r>
            <a:endParaRPr sz="2400" kern="1200" dirty="0">
              <a:solidFill>
                <a:prstClr val="black"/>
              </a:solidFill>
              <a:latin typeface="Palatino Linotype"/>
              <a:cs typeface="Palatino Linotype"/>
            </a:endParaRPr>
          </a:p>
          <a:p>
            <a:pPr rtl="0">
              <a:spcBef>
                <a:spcPts val="10"/>
              </a:spcBef>
              <a:buFont typeface="Arial MT"/>
              <a:buChar char="•"/>
            </a:pPr>
            <a:endParaRPr sz="2200" kern="1200" dirty="0">
              <a:solidFill>
                <a:prstClr val="black"/>
              </a:solidFill>
              <a:latin typeface="Palatino Linotype"/>
              <a:cs typeface="Palatino Linotype"/>
            </a:endParaRPr>
          </a:p>
          <a:p>
            <a:pPr marL="242570" indent="-230504" rtl="0">
              <a:buClr>
                <a:srgbClr val="000000"/>
              </a:buClr>
              <a:buFont typeface="Arial MT"/>
              <a:buChar char="•"/>
              <a:tabLst>
                <a:tab pos="243204" algn="l"/>
              </a:tabLst>
            </a:pPr>
            <a:r>
              <a:rPr sz="2400" kern="1200" spc="-20" dirty="0">
                <a:solidFill>
                  <a:srgbClr val="A6A6A6"/>
                </a:solidFill>
                <a:latin typeface="Palatino Linotype"/>
                <a:cs typeface="Palatino Linotype"/>
              </a:rPr>
              <a:t>Translation</a:t>
            </a:r>
            <a:r>
              <a:rPr sz="2400" kern="1200" spc="-10" dirty="0">
                <a:solidFill>
                  <a:srgbClr val="A6A6A6"/>
                </a:solidFill>
                <a:latin typeface="Palatino Linotype"/>
                <a:cs typeface="Palatino Linotype"/>
              </a:rPr>
              <a:t> </a:t>
            </a:r>
            <a:r>
              <a:rPr sz="2400" kern="1200" dirty="0">
                <a:solidFill>
                  <a:srgbClr val="A6A6A6"/>
                </a:solidFill>
                <a:latin typeface="Palatino Linotype"/>
                <a:cs typeface="Palatino Linotype"/>
              </a:rPr>
              <a:t>of</a:t>
            </a:r>
            <a:r>
              <a:rPr sz="2400" kern="1200" spc="-15" dirty="0">
                <a:solidFill>
                  <a:srgbClr val="A6A6A6"/>
                </a:solidFill>
                <a:latin typeface="Palatino Linotype"/>
                <a:cs typeface="Palatino Linotype"/>
              </a:rPr>
              <a:t> </a:t>
            </a:r>
            <a:r>
              <a:rPr sz="2400" kern="1200" dirty="0">
                <a:solidFill>
                  <a:srgbClr val="A6A6A6"/>
                </a:solidFill>
                <a:latin typeface="Palatino Linotype"/>
                <a:cs typeface="Palatino Linotype"/>
              </a:rPr>
              <a:t>Expressions</a:t>
            </a:r>
            <a:endParaRPr sz="2400" kern="1200" dirty="0">
              <a:solidFill>
                <a:prstClr val="black"/>
              </a:solidFill>
              <a:latin typeface="Palatino Linotype"/>
              <a:cs typeface="Palatino Linotype"/>
            </a:endParaRPr>
          </a:p>
          <a:p>
            <a:pPr rtl="0">
              <a:spcBef>
                <a:spcPts val="10"/>
              </a:spcBef>
              <a:buFont typeface="Arial MT"/>
              <a:buChar char="•"/>
            </a:pPr>
            <a:endParaRPr sz="2200" kern="1200" dirty="0">
              <a:solidFill>
                <a:prstClr val="black"/>
              </a:solidFill>
              <a:latin typeface="Palatino Linotype"/>
              <a:cs typeface="Palatino Linotype"/>
            </a:endParaRPr>
          </a:p>
          <a:p>
            <a:pPr marL="242570" indent="-230504" rtl="0">
              <a:buFont typeface="Arial MT"/>
              <a:buChar char="•"/>
              <a:tabLst>
                <a:tab pos="243204" algn="l"/>
              </a:tabLst>
            </a:pPr>
            <a:r>
              <a:rPr sz="2400" kern="1200" spc="-45" dirty="0">
                <a:solidFill>
                  <a:prstClr val="black"/>
                </a:solidFill>
                <a:latin typeface="Palatino Linotype"/>
                <a:cs typeface="Palatino Linotype"/>
              </a:rPr>
              <a:t>Type</a:t>
            </a:r>
            <a:r>
              <a:rPr sz="2400" kern="1200" spc="-30" dirty="0">
                <a:solidFill>
                  <a:prstClr val="black"/>
                </a:solidFill>
                <a:latin typeface="Palatino Linotype"/>
                <a:cs typeface="Palatino Linotype"/>
              </a:rPr>
              <a:t> </a:t>
            </a:r>
            <a:r>
              <a:rPr sz="2400" kern="1200" spc="-5" dirty="0">
                <a:solidFill>
                  <a:prstClr val="black"/>
                </a:solidFill>
                <a:latin typeface="Palatino Linotype"/>
                <a:cs typeface="Palatino Linotype"/>
              </a:rPr>
              <a:t>Checking</a:t>
            </a:r>
            <a:endParaRPr sz="2400" kern="1200" dirty="0">
              <a:solidFill>
                <a:prstClr val="black"/>
              </a:solidFill>
              <a:latin typeface="Palatino Linotype"/>
              <a:cs typeface="Palatino Linotype"/>
            </a:endParaRPr>
          </a:p>
          <a:p>
            <a:pPr rtl="0">
              <a:spcBef>
                <a:spcPts val="10"/>
              </a:spcBef>
              <a:buFont typeface="Arial MT"/>
              <a:buChar char="•"/>
            </a:pPr>
            <a:endParaRPr sz="2200" kern="1200" dirty="0">
              <a:solidFill>
                <a:prstClr val="black"/>
              </a:solidFill>
              <a:latin typeface="Palatino Linotype"/>
              <a:cs typeface="Palatino Linotype"/>
            </a:endParaRPr>
          </a:p>
          <a:p>
            <a:pPr marL="242570" indent="-230504" rtl="0">
              <a:buClr>
                <a:srgbClr val="000000"/>
              </a:buClr>
              <a:buFont typeface="Arial MT"/>
              <a:buChar char="•"/>
              <a:tabLst>
                <a:tab pos="243204" algn="l"/>
              </a:tabLst>
            </a:pPr>
            <a:r>
              <a:rPr sz="2400" kern="1200" spc="-5" dirty="0">
                <a:solidFill>
                  <a:srgbClr val="A6A6A6"/>
                </a:solidFill>
                <a:latin typeface="Palatino Linotype"/>
                <a:cs typeface="Palatino Linotype"/>
              </a:rPr>
              <a:t>Control</a:t>
            </a:r>
            <a:r>
              <a:rPr sz="2400" kern="1200" spc="-25" dirty="0">
                <a:solidFill>
                  <a:srgbClr val="A6A6A6"/>
                </a:solidFill>
                <a:latin typeface="Palatino Linotype"/>
                <a:cs typeface="Palatino Linotype"/>
              </a:rPr>
              <a:t> </a:t>
            </a:r>
            <a:r>
              <a:rPr sz="2400" kern="1200" spc="-5" dirty="0">
                <a:solidFill>
                  <a:srgbClr val="A6A6A6"/>
                </a:solidFill>
                <a:latin typeface="Palatino Linotype"/>
                <a:cs typeface="Palatino Linotype"/>
              </a:rPr>
              <a:t>Flow</a:t>
            </a:r>
            <a:endParaRPr sz="2400" kern="1200" dirty="0">
              <a:solidFill>
                <a:prstClr val="black"/>
              </a:solidFill>
              <a:latin typeface="Palatino Linotype"/>
              <a:cs typeface="Palatino Linotype"/>
            </a:endParaRPr>
          </a:p>
          <a:p>
            <a:pPr rtl="0">
              <a:spcBef>
                <a:spcPts val="5"/>
              </a:spcBef>
              <a:buFont typeface="Arial MT"/>
              <a:buChar char="•"/>
            </a:pPr>
            <a:endParaRPr sz="2200" kern="1200" dirty="0">
              <a:solidFill>
                <a:prstClr val="black"/>
              </a:solidFill>
              <a:latin typeface="Palatino Linotype"/>
              <a:cs typeface="Palatino Linotype"/>
            </a:endParaRPr>
          </a:p>
          <a:p>
            <a:pPr marL="242570" indent="-230504" rtl="0">
              <a:spcBef>
                <a:spcPts val="5"/>
              </a:spcBef>
              <a:buClr>
                <a:srgbClr val="000000"/>
              </a:buClr>
              <a:buFont typeface="Arial MT"/>
              <a:buChar char="•"/>
              <a:tabLst>
                <a:tab pos="243204" algn="l"/>
              </a:tabLst>
            </a:pPr>
            <a:r>
              <a:rPr sz="2400" kern="1200" spc="-5" dirty="0">
                <a:solidFill>
                  <a:srgbClr val="A6A6A6"/>
                </a:solidFill>
                <a:latin typeface="Palatino Linotype"/>
                <a:cs typeface="Palatino Linotype"/>
              </a:rPr>
              <a:t>Backpatching</a:t>
            </a:r>
            <a:endParaRPr sz="2400" kern="1200" dirty="0">
              <a:solidFill>
                <a:prstClr val="black"/>
              </a:solidFill>
              <a:latin typeface="Palatino Linotype"/>
              <a:cs typeface="Palatino Linotype"/>
            </a:endParaRPr>
          </a:p>
        </p:txBody>
      </p:sp>
    </p:spTree>
    <p:extLst>
      <p:ext uri="{BB962C8B-B14F-4D97-AF65-F5344CB8AC3E}">
        <p14:creationId xmlns:p14="http://schemas.microsoft.com/office/powerpoint/2010/main" val="7186783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71</a:t>
            </a:fld>
            <a:endParaRPr lang="en-US"/>
          </a:p>
        </p:txBody>
      </p:sp>
      <p:sp>
        <p:nvSpPr>
          <p:cNvPr id="7" name="object 2">
            <a:extLst>
              <a:ext uri="{FF2B5EF4-FFF2-40B4-BE49-F238E27FC236}">
                <a16:creationId xmlns:a16="http://schemas.microsoft.com/office/drawing/2014/main" id="{DD3A3A2C-99ED-9DFC-907E-811097CF442F}"/>
              </a:ext>
            </a:extLst>
          </p:cNvPr>
          <p:cNvSpPr txBox="1">
            <a:spLocks/>
          </p:cNvSpPr>
          <p:nvPr/>
        </p:nvSpPr>
        <p:spPr>
          <a:xfrm>
            <a:off x="707542" y="520141"/>
            <a:ext cx="351536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100" normalizeH="0" baseline="0" noProof="0">
                <a:ln>
                  <a:noFill/>
                </a:ln>
                <a:solidFill>
                  <a:sysClr val="windowText" lastClr="000000"/>
                </a:solidFill>
                <a:effectLst/>
                <a:uLnTx/>
                <a:uFillTx/>
                <a:latin typeface="Palatino Linotype"/>
                <a:ea typeface="+mj-ea"/>
              </a:rPr>
              <a:t>Type</a:t>
            </a:r>
            <a:r>
              <a:rPr kumimoji="0" lang="en-US" sz="4000" b="1" i="0" u="none" strike="noStrike" kern="0" cap="none" spc="-5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Checking</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DE3D9A51-08B4-423A-10BC-54593ADA2D04}"/>
              </a:ext>
            </a:extLst>
          </p:cNvPr>
          <p:cNvSpPr txBox="1"/>
          <p:nvPr/>
        </p:nvSpPr>
        <p:spPr>
          <a:xfrm>
            <a:off x="707542" y="1595145"/>
            <a:ext cx="7618730" cy="4244340"/>
          </a:xfrm>
          <a:prstGeom prst="rect">
            <a:avLst/>
          </a:prstGeom>
        </p:spPr>
        <p:txBody>
          <a:bodyPr vert="horz" wrap="square" lIns="0" tIns="12700" rIns="0" bIns="0" rtlCol="0">
            <a:spAutoFit/>
          </a:bodyPr>
          <a:lstStyle/>
          <a:p>
            <a:pPr marL="242570" marR="106045" indent="-230504" rtl="0">
              <a:lnSpc>
                <a:spcPct val="120000"/>
              </a:lnSpc>
              <a:spcBef>
                <a:spcPts val="100"/>
              </a:spcBef>
              <a:buFont typeface="Arial MT"/>
              <a:buChar char="•"/>
              <a:tabLst>
                <a:tab pos="242570" algn="l"/>
                <a:tab pos="243204" algn="l"/>
              </a:tabLst>
            </a:pPr>
            <a:r>
              <a:rPr sz="1900" kern="1200" spc="-70" dirty="0">
                <a:solidFill>
                  <a:prstClr val="black"/>
                </a:solidFill>
                <a:latin typeface="Palatino Linotype"/>
                <a:cs typeface="Palatino Linotype"/>
              </a:rPr>
              <a:t>To</a:t>
            </a:r>
            <a:r>
              <a:rPr sz="1900" kern="1200" spc="-5" dirty="0">
                <a:solidFill>
                  <a:prstClr val="black"/>
                </a:solidFill>
                <a:latin typeface="Palatino Linotype"/>
                <a:cs typeface="Palatino Linotype"/>
              </a:rPr>
              <a:t> </a:t>
            </a:r>
            <a:r>
              <a:rPr sz="1900" kern="1200" dirty="0">
                <a:solidFill>
                  <a:prstClr val="black"/>
                </a:solidFill>
                <a:latin typeface="Palatino Linotype"/>
                <a:cs typeface="Palatino Linotype"/>
              </a:rPr>
              <a:t>do</a:t>
            </a:r>
            <a:r>
              <a:rPr sz="1900" kern="1200" spc="-5" dirty="0">
                <a:solidFill>
                  <a:prstClr val="black"/>
                </a:solidFill>
                <a:latin typeface="Palatino Linotype"/>
                <a:cs typeface="Palatino Linotype"/>
              </a:rPr>
              <a:t> type</a:t>
            </a:r>
            <a:r>
              <a:rPr sz="1900" kern="1200" spc="5" dirty="0">
                <a:solidFill>
                  <a:prstClr val="black"/>
                </a:solidFill>
                <a:latin typeface="Palatino Linotype"/>
                <a:cs typeface="Palatino Linotype"/>
              </a:rPr>
              <a:t> </a:t>
            </a:r>
            <a:r>
              <a:rPr sz="1900" kern="1200" spc="-5" dirty="0">
                <a:solidFill>
                  <a:prstClr val="black"/>
                </a:solidFill>
                <a:latin typeface="Palatino Linotype"/>
                <a:cs typeface="Palatino Linotype"/>
              </a:rPr>
              <a:t>checking,</a:t>
            </a:r>
            <a:r>
              <a:rPr sz="1900" kern="1200" dirty="0">
                <a:solidFill>
                  <a:prstClr val="black"/>
                </a:solidFill>
                <a:latin typeface="Palatino Linotype"/>
                <a:cs typeface="Palatino Linotype"/>
              </a:rPr>
              <a:t> </a:t>
            </a:r>
            <a:r>
              <a:rPr sz="1900" kern="1200" spc="-5" dirty="0">
                <a:solidFill>
                  <a:prstClr val="black"/>
                </a:solidFill>
                <a:latin typeface="Palatino Linotype"/>
                <a:cs typeface="Palatino Linotype"/>
              </a:rPr>
              <a:t>a</a:t>
            </a:r>
            <a:r>
              <a:rPr sz="1900" kern="1200" spc="-10" dirty="0">
                <a:solidFill>
                  <a:prstClr val="black"/>
                </a:solidFill>
                <a:latin typeface="Palatino Linotype"/>
                <a:cs typeface="Palatino Linotype"/>
              </a:rPr>
              <a:t> compiler</a:t>
            </a:r>
            <a:r>
              <a:rPr sz="1900" kern="1200" spc="15" dirty="0">
                <a:solidFill>
                  <a:prstClr val="black"/>
                </a:solidFill>
                <a:latin typeface="Palatino Linotype"/>
                <a:cs typeface="Palatino Linotype"/>
              </a:rPr>
              <a:t> </a:t>
            </a:r>
            <a:r>
              <a:rPr sz="1900" kern="1200" spc="-5" dirty="0">
                <a:solidFill>
                  <a:prstClr val="black"/>
                </a:solidFill>
                <a:latin typeface="Palatino Linotype"/>
                <a:cs typeface="Palatino Linotype"/>
              </a:rPr>
              <a:t>needs to</a:t>
            </a:r>
            <a:r>
              <a:rPr sz="1900" kern="1200" dirty="0">
                <a:solidFill>
                  <a:prstClr val="black"/>
                </a:solidFill>
                <a:latin typeface="Palatino Linotype"/>
                <a:cs typeface="Palatino Linotype"/>
              </a:rPr>
              <a:t> </a:t>
            </a:r>
            <a:r>
              <a:rPr sz="1900" kern="1200" spc="-5" dirty="0">
                <a:solidFill>
                  <a:prstClr val="black"/>
                </a:solidFill>
                <a:latin typeface="Palatino Linotype"/>
                <a:cs typeface="Palatino Linotype"/>
              </a:rPr>
              <a:t>assign a</a:t>
            </a:r>
            <a:r>
              <a:rPr sz="1900" kern="1200" spc="25" dirty="0">
                <a:solidFill>
                  <a:prstClr val="black"/>
                </a:solidFill>
                <a:latin typeface="Palatino Linotype"/>
                <a:cs typeface="Palatino Linotype"/>
              </a:rPr>
              <a:t> </a:t>
            </a:r>
            <a:r>
              <a:rPr sz="1900" kern="1200" spc="-5" dirty="0">
                <a:solidFill>
                  <a:srgbClr val="FF0000"/>
                </a:solidFill>
                <a:latin typeface="Palatino Linotype"/>
                <a:cs typeface="Palatino Linotype"/>
              </a:rPr>
              <a:t>type</a:t>
            </a:r>
            <a:r>
              <a:rPr sz="1900" kern="1200" spc="5" dirty="0">
                <a:solidFill>
                  <a:srgbClr val="FF0000"/>
                </a:solidFill>
                <a:latin typeface="Palatino Linotype"/>
                <a:cs typeface="Palatino Linotype"/>
              </a:rPr>
              <a:t> </a:t>
            </a:r>
            <a:r>
              <a:rPr sz="1900" kern="1200" spc="-5" dirty="0">
                <a:solidFill>
                  <a:srgbClr val="FF0000"/>
                </a:solidFill>
                <a:latin typeface="Palatino Linotype"/>
                <a:cs typeface="Palatino Linotype"/>
              </a:rPr>
              <a:t>expression </a:t>
            </a:r>
            <a:r>
              <a:rPr sz="1900" kern="1200" spc="-5" dirty="0">
                <a:solidFill>
                  <a:prstClr val="black"/>
                </a:solidFill>
                <a:latin typeface="Palatino Linotype"/>
                <a:cs typeface="Palatino Linotype"/>
              </a:rPr>
              <a:t>to </a:t>
            </a:r>
            <a:r>
              <a:rPr sz="1900" kern="1200" spc="-459" dirty="0">
                <a:solidFill>
                  <a:prstClr val="black"/>
                </a:solidFill>
                <a:latin typeface="Palatino Linotype"/>
                <a:cs typeface="Palatino Linotype"/>
              </a:rPr>
              <a:t> </a:t>
            </a:r>
            <a:r>
              <a:rPr sz="1900" kern="1200" spc="-5" dirty="0">
                <a:solidFill>
                  <a:prstClr val="black"/>
                </a:solidFill>
                <a:latin typeface="Palatino Linotype"/>
                <a:cs typeface="Palatino Linotype"/>
              </a:rPr>
              <a:t>each</a:t>
            </a:r>
            <a:r>
              <a:rPr sz="1900" kern="1200" spc="-10" dirty="0">
                <a:solidFill>
                  <a:prstClr val="black"/>
                </a:solidFill>
                <a:latin typeface="Palatino Linotype"/>
                <a:cs typeface="Palatino Linotype"/>
              </a:rPr>
              <a:t> component</a:t>
            </a:r>
            <a:r>
              <a:rPr sz="1900" kern="1200" spc="5" dirty="0">
                <a:solidFill>
                  <a:prstClr val="black"/>
                </a:solidFill>
                <a:latin typeface="Palatino Linotype"/>
                <a:cs typeface="Palatino Linotype"/>
              </a:rPr>
              <a:t> </a:t>
            </a:r>
            <a:r>
              <a:rPr sz="1900" kern="1200" spc="-5" dirty="0">
                <a:solidFill>
                  <a:prstClr val="black"/>
                </a:solidFill>
                <a:latin typeface="Palatino Linotype"/>
                <a:cs typeface="Palatino Linotype"/>
              </a:rPr>
              <a:t>of</a:t>
            </a:r>
            <a:r>
              <a:rPr sz="1900" kern="1200" spc="15" dirty="0">
                <a:solidFill>
                  <a:prstClr val="black"/>
                </a:solidFill>
                <a:latin typeface="Palatino Linotype"/>
                <a:cs typeface="Palatino Linotype"/>
              </a:rPr>
              <a:t> </a:t>
            </a:r>
            <a:r>
              <a:rPr sz="1900" kern="1200" spc="-5" dirty="0">
                <a:solidFill>
                  <a:prstClr val="black"/>
                </a:solidFill>
                <a:latin typeface="Palatino Linotype"/>
                <a:cs typeface="Palatino Linotype"/>
              </a:rPr>
              <a:t>the </a:t>
            </a:r>
            <a:r>
              <a:rPr sz="1900" kern="1200" spc="-10" dirty="0">
                <a:solidFill>
                  <a:prstClr val="black"/>
                </a:solidFill>
                <a:latin typeface="Palatino Linotype"/>
                <a:cs typeface="Palatino Linotype"/>
              </a:rPr>
              <a:t>source</a:t>
            </a:r>
            <a:r>
              <a:rPr sz="1900" kern="1200" spc="15" dirty="0">
                <a:solidFill>
                  <a:prstClr val="black"/>
                </a:solidFill>
                <a:latin typeface="Palatino Linotype"/>
                <a:cs typeface="Palatino Linotype"/>
              </a:rPr>
              <a:t> </a:t>
            </a:r>
            <a:r>
              <a:rPr sz="1900" kern="1200" spc="-10" dirty="0">
                <a:solidFill>
                  <a:prstClr val="black"/>
                </a:solidFill>
                <a:latin typeface="Palatino Linotype"/>
                <a:cs typeface="Palatino Linotype"/>
              </a:rPr>
              <a:t>program</a:t>
            </a:r>
            <a:endParaRPr sz="1900" kern="1200" dirty="0">
              <a:solidFill>
                <a:prstClr val="black"/>
              </a:solidFill>
              <a:latin typeface="Palatino Linotype"/>
              <a:cs typeface="Palatino Linotype"/>
            </a:endParaRPr>
          </a:p>
          <a:p>
            <a:pPr rtl="0">
              <a:spcBef>
                <a:spcPts val="35"/>
              </a:spcBef>
              <a:buFont typeface="Arial MT"/>
              <a:buChar char="•"/>
            </a:pPr>
            <a:endParaRPr sz="1750" kern="1200" dirty="0">
              <a:solidFill>
                <a:prstClr val="black"/>
              </a:solidFill>
              <a:latin typeface="Palatino Linotype"/>
              <a:cs typeface="Palatino Linotype"/>
            </a:endParaRPr>
          </a:p>
          <a:p>
            <a:pPr marL="242570" marR="45085" indent="-230504" rtl="0">
              <a:lnSpc>
                <a:spcPct val="120100"/>
              </a:lnSpc>
              <a:buFont typeface="Arial MT"/>
              <a:buChar char="•"/>
              <a:tabLst>
                <a:tab pos="242570" algn="l"/>
                <a:tab pos="243204" algn="l"/>
              </a:tabLst>
            </a:pPr>
            <a:r>
              <a:rPr sz="1900" kern="1200" spc="-5" dirty="0">
                <a:solidFill>
                  <a:prstClr val="black"/>
                </a:solidFill>
                <a:latin typeface="Palatino Linotype"/>
                <a:cs typeface="Palatino Linotype"/>
              </a:rPr>
              <a:t>The </a:t>
            </a:r>
            <a:r>
              <a:rPr sz="1900" kern="1200" spc="-10" dirty="0">
                <a:solidFill>
                  <a:prstClr val="black"/>
                </a:solidFill>
                <a:latin typeface="Palatino Linotype"/>
                <a:cs typeface="Palatino Linotype"/>
              </a:rPr>
              <a:t>compiler</a:t>
            </a:r>
            <a:r>
              <a:rPr sz="1900" kern="1200" spc="15" dirty="0">
                <a:solidFill>
                  <a:prstClr val="black"/>
                </a:solidFill>
                <a:latin typeface="Palatino Linotype"/>
                <a:cs typeface="Palatino Linotype"/>
              </a:rPr>
              <a:t> </a:t>
            </a:r>
            <a:r>
              <a:rPr sz="1900" kern="1200" spc="-5" dirty="0">
                <a:solidFill>
                  <a:prstClr val="black"/>
                </a:solidFill>
                <a:latin typeface="Palatino Linotype"/>
                <a:cs typeface="Palatino Linotype"/>
              </a:rPr>
              <a:t>then determines</a:t>
            </a:r>
            <a:r>
              <a:rPr sz="1900" kern="1200" spc="10" dirty="0">
                <a:solidFill>
                  <a:prstClr val="black"/>
                </a:solidFill>
                <a:latin typeface="Palatino Linotype"/>
                <a:cs typeface="Palatino Linotype"/>
              </a:rPr>
              <a:t> </a:t>
            </a:r>
            <a:r>
              <a:rPr sz="1900" kern="1200" spc="-5" dirty="0">
                <a:solidFill>
                  <a:prstClr val="black"/>
                </a:solidFill>
                <a:latin typeface="Palatino Linotype"/>
                <a:cs typeface="Palatino Linotype"/>
              </a:rPr>
              <a:t>that</a:t>
            </a:r>
            <a:r>
              <a:rPr sz="1900" kern="1200" dirty="0">
                <a:solidFill>
                  <a:prstClr val="black"/>
                </a:solidFill>
                <a:latin typeface="Palatino Linotype"/>
                <a:cs typeface="Palatino Linotype"/>
              </a:rPr>
              <a:t> </a:t>
            </a:r>
            <a:r>
              <a:rPr sz="1900" kern="1200" spc="-5" dirty="0">
                <a:solidFill>
                  <a:prstClr val="black"/>
                </a:solidFill>
                <a:latin typeface="Palatino Linotype"/>
                <a:cs typeface="Palatino Linotype"/>
              </a:rPr>
              <a:t>the</a:t>
            </a:r>
            <a:r>
              <a:rPr sz="1900" kern="1200" spc="5" dirty="0">
                <a:solidFill>
                  <a:prstClr val="black"/>
                </a:solidFill>
                <a:latin typeface="Palatino Linotype"/>
                <a:cs typeface="Palatino Linotype"/>
              </a:rPr>
              <a:t> </a:t>
            </a:r>
            <a:r>
              <a:rPr sz="1900" kern="1200" spc="-5" dirty="0">
                <a:solidFill>
                  <a:prstClr val="black"/>
                </a:solidFill>
                <a:latin typeface="Palatino Linotype"/>
                <a:cs typeface="Palatino Linotype"/>
              </a:rPr>
              <a:t>type</a:t>
            </a:r>
            <a:r>
              <a:rPr sz="1900" kern="1200" spc="10" dirty="0">
                <a:solidFill>
                  <a:prstClr val="black"/>
                </a:solidFill>
                <a:latin typeface="Palatino Linotype"/>
                <a:cs typeface="Palatino Linotype"/>
              </a:rPr>
              <a:t> </a:t>
            </a:r>
            <a:r>
              <a:rPr sz="1900" kern="1200" spc="-10" dirty="0">
                <a:solidFill>
                  <a:prstClr val="black"/>
                </a:solidFill>
                <a:latin typeface="Palatino Linotype"/>
                <a:cs typeface="Palatino Linotype"/>
              </a:rPr>
              <a:t>expressions</a:t>
            </a:r>
            <a:r>
              <a:rPr sz="1900" kern="1200" spc="-20" dirty="0">
                <a:solidFill>
                  <a:prstClr val="black"/>
                </a:solidFill>
                <a:latin typeface="Palatino Linotype"/>
                <a:cs typeface="Palatino Linotype"/>
              </a:rPr>
              <a:t> </a:t>
            </a:r>
            <a:r>
              <a:rPr sz="1900" kern="1200" spc="-5" dirty="0">
                <a:solidFill>
                  <a:prstClr val="black"/>
                </a:solidFill>
                <a:latin typeface="Palatino Linotype"/>
                <a:cs typeface="Palatino Linotype"/>
              </a:rPr>
              <a:t>conform</a:t>
            </a:r>
            <a:r>
              <a:rPr sz="1900" kern="1200" spc="5" dirty="0">
                <a:solidFill>
                  <a:prstClr val="black"/>
                </a:solidFill>
                <a:latin typeface="Palatino Linotype"/>
                <a:cs typeface="Palatino Linotype"/>
              </a:rPr>
              <a:t> </a:t>
            </a:r>
            <a:r>
              <a:rPr sz="1900" kern="1200" spc="-5" dirty="0">
                <a:solidFill>
                  <a:prstClr val="black"/>
                </a:solidFill>
                <a:latin typeface="Palatino Linotype"/>
                <a:cs typeface="Palatino Linotype"/>
              </a:rPr>
              <a:t>to</a:t>
            </a:r>
            <a:r>
              <a:rPr sz="1900" kern="1200" spc="55" dirty="0">
                <a:solidFill>
                  <a:prstClr val="black"/>
                </a:solidFill>
                <a:latin typeface="Palatino Linotype"/>
                <a:cs typeface="Palatino Linotype"/>
              </a:rPr>
              <a:t> </a:t>
            </a:r>
            <a:r>
              <a:rPr sz="1900" kern="1200" spc="-5" dirty="0">
                <a:solidFill>
                  <a:srgbClr val="FF0000"/>
                </a:solidFill>
                <a:latin typeface="Palatino Linotype"/>
                <a:cs typeface="Palatino Linotype"/>
              </a:rPr>
              <a:t>a </a:t>
            </a:r>
            <a:r>
              <a:rPr sz="1900" kern="1200" spc="-459" dirty="0">
                <a:solidFill>
                  <a:srgbClr val="FF0000"/>
                </a:solidFill>
                <a:latin typeface="Palatino Linotype"/>
                <a:cs typeface="Palatino Linotype"/>
              </a:rPr>
              <a:t> </a:t>
            </a:r>
            <a:r>
              <a:rPr sz="1900" kern="1200" spc="-5" dirty="0">
                <a:solidFill>
                  <a:srgbClr val="FF0000"/>
                </a:solidFill>
                <a:latin typeface="Palatino Linotype"/>
                <a:cs typeface="Palatino Linotype"/>
              </a:rPr>
              <a:t>collection </a:t>
            </a:r>
            <a:r>
              <a:rPr sz="1900" kern="1200" spc="-10" dirty="0">
                <a:solidFill>
                  <a:srgbClr val="FF0000"/>
                </a:solidFill>
                <a:latin typeface="Palatino Linotype"/>
                <a:cs typeface="Palatino Linotype"/>
              </a:rPr>
              <a:t>of</a:t>
            </a:r>
            <a:r>
              <a:rPr sz="1900" kern="1200" spc="15" dirty="0">
                <a:solidFill>
                  <a:srgbClr val="FF0000"/>
                </a:solidFill>
                <a:latin typeface="Palatino Linotype"/>
                <a:cs typeface="Palatino Linotype"/>
              </a:rPr>
              <a:t> </a:t>
            </a:r>
            <a:r>
              <a:rPr sz="1900" kern="1200" spc="-10" dirty="0">
                <a:solidFill>
                  <a:srgbClr val="FF0000"/>
                </a:solidFill>
                <a:latin typeface="Palatino Linotype"/>
                <a:cs typeface="Palatino Linotype"/>
              </a:rPr>
              <a:t>logical</a:t>
            </a:r>
            <a:r>
              <a:rPr sz="1900" kern="1200" spc="-5" dirty="0">
                <a:solidFill>
                  <a:srgbClr val="FF0000"/>
                </a:solidFill>
                <a:latin typeface="Palatino Linotype"/>
                <a:cs typeface="Palatino Linotype"/>
              </a:rPr>
              <a:t> rules</a:t>
            </a:r>
            <a:r>
              <a:rPr sz="1900" kern="1200" dirty="0">
                <a:solidFill>
                  <a:srgbClr val="FF0000"/>
                </a:solidFill>
                <a:latin typeface="Palatino Linotype"/>
                <a:cs typeface="Palatino Linotype"/>
              </a:rPr>
              <a:t> </a:t>
            </a:r>
            <a:r>
              <a:rPr sz="1900" kern="1200" dirty="0">
                <a:solidFill>
                  <a:prstClr val="black"/>
                </a:solidFill>
                <a:latin typeface="Palatino Linotype"/>
                <a:cs typeface="Palatino Linotype"/>
              </a:rPr>
              <a:t>(i.e.,</a:t>
            </a:r>
            <a:r>
              <a:rPr sz="1900" kern="1200" spc="-15" dirty="0">
                <a:solidFill>
                  <a:prstClr val="black"/>
                </a:solidFill>
                <a:latin typeface="Palatino Linotype"/>
                <a:cs typeface="Palatino Linotype"/>
              </a:rPr>
              <a:t> </a:t>
            </a:r>
            <a:r>
              <a:rPr sz="1900" kern="1200" spc="-5" dirty="0">
                <a:solidFill>
                  <a:prstClr val="black"/>
                </a:solidFill>
                <a:latin typeface="Palatino Linotype"/>
                <a:cs typeface="Palatino Linotype"/>
              </a:rPr>
              <a:t>the</a:t>
            </a:r>
            <a:r>
              <a:rPr sz="1900" kern="1200" spc="15" dirty="0">
                <a:solidFill>
                  <a:prstClr val="black"/>
                </a:solidFill>
                <a:latin typeface="Palatino Linotype"/>
                <a:cs typeface="Palatino Linotype"/>
              </a:rPr>
              <a:t> </a:t>
            </a:r>
            <a:r>
              <a:rPr sz="1900" i="1" kern="1200" spc="-5" dirty="0">
                <a:solidFill>
                  <a:srgbClr val="FF0000"/>
                </a:solidFill>
                <a:latin typeface="Palatino Linotype"/>
                <a:cs typeface="Palatino Linotype"/>
              </a:rPr>
              <a:t>type</a:t>
            </a:r>
            <a:r>
              <a:rPr sz="1900" i="1" kern="1200" dirty="0">
                <a:solidFill>
                  <a:srgbClr val="FF0000"/>
                </a:solidFill>
                <a:latin typeface="Palatino Linotype"/>
                <a:cs typeface="Palatino Linotype"/>
              </a:rPr>
              <a:t> </a:t>
            </a:r>
            <a:r>
              <a:rPr sz="1900" i="1" kern="1200" spc="-10" dirty="0">
                <a:solidFill>
                  <a:srgbClr val="FF0000"/>
                </a:solidFill>
                <a:latin typeface="Palatino Linotype"/>
                <a:cs typeface="Palatino Linotype"/>
              </a:rPr>
              <a:t>system</a:t>
            </a:r>
            <a:r>
              <a:rPr sz="1900" kern="1200" spc="-10" dirty="0">
                <a:solidFill>
                  <a:prstClr val="black"/>
                </a:solidFill>
                <a:latin typeface="Palatino Linotype"/>
                <a:cs typeface="Palatino Linotype"/>
              </a:rPr>
              <a:t>)</a:t>
            </a:r>
            <a:endParaRPr sz="1900" kern="1200" dirty="0">
              <a:solidFill>
                <a:prstClr val="black"/>
              </a:solidFill>
              <a:latin typeface="Palatino Linotype"/>
              <a:cs typeface="Palatino Linotype"/>
            </a:endParaRPr>
          </a:p>
          <a:p>
            <a:pPr marL="697865" marR="52069" lvl="1" indent="-228600" rtl="0">
              <a:lnSpc>
                <a:spcPct val="120000"/>
              </a:lnSpc>
              <a:spcBef>
                <a:spcPts val="650"/>
              </a:spcBef>
              <a:buFont typeface="Wingdings"/>
              <a:buChar char=""/>
              <a:tabLst>
                <a:tab pos="697865" algn="l"/>
                <a:tab pos="698500" algn="l"/>
              </a:tabLst>
            </a:pPr>
            <a:r>
              <a:rPr sz="1600" kern="1200" spc="-5" dirty="0">
                <a:solidFill>
                  <a:prstClr val="black"/>
                </a:solidFill>
                <a:latin typeface="Palatino Linotype"/>
                <a:cs typeface="Palatino Linotype"/>
              </a:rPr>
              <a:t>A</a:t>
            </a:r>
            <a:r>
              <a:rPr sz="1600" kern="1200" spc="-80" dirty="0">
                <a:solidFill>
                  <a:prstClr val="black"/>
                </a:solidFill>
                <a:latin typeface="Palatino Linotype"/>
                <a:cs typeface="Palatino Linotype"/>
              </a:rPr>
              <a:t> </a:t>
            </a:r>
            <a:r>
              <a:rPr sz="1600" i="1" kern="1200" spc="-10" dirty="0">
                <a:solidFill>
                  <a:srgbClr val="FF0000"/>
                </a:solidFill>
                <a:latin typeface="Palatino Linotype"/>
                <a:cs typeface="Palatino Linotype"/>
              </a:rPr>
              <a:t>sound</a:t>
            </a:r>
            <a:r>
              <a:rPr sz="1600" i="1" kern="1200" spc="10" dirty="0">
                <a:solidFill>
                  <a:srgbClr val="FF0000"/>
                </a:solidFill>
                <a:latin typeface="Palatino Linotype"/>
                <a:cs typeface="Palatino Linotype"/>
              </a:rPr>
              <a:t> </a:t>
            </a:r>
            <a:r>
              <a:rPr sz="1600" kern="1200" spc="-10" dirty="0">
                <a:solidFill>
                  <a:prstClr val="black"/>
                </a:solidFill>
                <a:latin typeface="Palatino Linotype"/>
                <a:cs typeface="Palatino Linotype"/>
              </a:rPr>
              <a:t>type</a:t>
            </a:r>
            <a:r>
              <a:rPr sz="1600" kern="1200" spc="15" dirty="0">
                <a:solidFill>
                  <a:prstClr val="black"/>
                </a:solidFill>
                <a:latin typeface="Palatino Linotype"/>
                <a:cs typeface="Palatino Linotype"/>
              </a:rPr>
              <a:t> </a:t>
            </a:r>
            <a:r>
              <a:rPr sz="1600" kern="1200" spc="-10" dirty="0">
                <a:solidFill>
                  <a:prstClr val="black"/>
                </a:solidFill>
                <a:latin typeface="Palatino Linotype"/>
                <a:cs typeface="Palatino Linotype"/>
              </a:rPr>
              <a:t>system</a:t>
            </a:r>
            <a:r>
              <a:rPr sz="1600" kern="1200" spc="20" dirty="0">
                <a:solidFill>
                  <a:prstClr val="black"/>
                </a:solidFill>
                <a:latin typeface="Palatino Linotype"/>
                <a:cs typeface="Palatino Linotype"/>
              </a:rPr>
              <a:t> </a:t>
            </a:r>
            <a:r>
              <a:rPr sz="1600" kern="1200" spc="-5" dirty="0">
                <a:solidFill>
                  <a:prstClr val="black"/>
                </a:solidFill>
                <a:latin typeface="Palatino Linotype"/>
                <a:cs typeface="Palatino Linotype"/>
              </a:rPr>
              <a:t>allows us</a:t>
            </a:r>
            <a:r>
              <a:rPr sz="1600" kern="1200" dirty="0">
                <a:solidFill>
                  <a:prstClr val="black"/>
                </a:solidFill>
                <a:latin typeface="Palatino Linotype"/>
                <a:cs typeface="Palatino Linotype"/>
              </a:rPr>
              <a:t> </a:t>
            </a:r>
            <a:r>
              <a:rPr sz="1600" kern="1200" spc="-10" dirty="0">
                <a:solidFill>
                  <a:prstClr val="black"/>
                </a:solidFill>
                <a:latin typeface="Palatino Linotype"/>
                <a:cs typeface="Palatino Linotype"/>
              </a:rPr>
              <a:t>to</a:t>
            </a:r>
            <a:r>
              <a:rPr sz="1600" kern="1200" spc="20" dirty="0">
                <a:solidFill>
                  <a:prstClr val="black"/>
                </a:solidFill>
                <a:latin typeface="Palatino Linotype"/>
                <a:cs typeface="Palatino Linotype"/>
              </a:rPr>
              <a:t> </a:t>
            </a:r>
            <a:r>
              <a:rPr sz="1600" kern="1200" spc="-5" dirty="0">
                <a:solidFill>
                  <a:prstClr val="black"/>
                </a:solidFill>
                <a:latin typeface="Palatino Linotype"/>
                <a:cs typeface="Palatino Linotype"/>
              </a:rPr>
              <a:t>determine</a:t>
            </a:r>
            <a:r>
              <a:rPr sz="1600" kern="1200" spc="25" dirty="0">
                <a:solidFill>
                  <a:prstClr val="black"/>
                </a:solidFill>
                <a:latin typeface="Palatino Linotype"/>
                <a:cs typeface="Palatino Linotype"/>
              </a:rPr>
              <a:t> </a:t>
            </a:r>
            <a:r>
              <a:rPr sz="1600" kern="1200" spc="-5" dirty="0">
                <a:solidFill>
                  <a:prstClr val="black"/>
                </a:solidFill>
                <a:latin typeface="Palatino Linotype"/>
                <a:cs typeface="Palatino Linotype"/>
              </a:rPr>
              <a:t>statically</a:t>
            </a:r>
            <a:r>
              <a:rPr sz="1600" kern="1200" spc="5" dirty="0">
                <a:solidFill>
                  <a:prstClr val="black"/>
                </a:solidFill>
                <a:latin typeface="Palatino Linotype"/>
                <a:cs typeface="Palatino Linotype"/>
              </a:rPr>
              <a:t> </a:t>
            </a:r>
            <a:r>
              <a:rPr sz="1600" kern="1200" spc="-10" dirty="0">
                <a:solidFill>
                  <a:prstClr val="black"/>
                </a:solidFill>
                <a:latin typeface="Palatino Linotype"/>
                <a:cs typeface="Palatino Linotype"/>
              </a:rPr>
              <a:t>that</a:t>
            </a:r>
            <a:r>
              <a:rPr sz="1600" kern="1200" spc="35" dirty="0">
                <a:solidFill>
                  <a:prstClr val="black"/>
                </a:solidFill>
                <a:latin typeface="Palatino Linotype"/>
                <a:cs typeface="Palatino Linotype"/>
              </a:rPr>
              <a:t> </a:t>
            </a:r>
            <a:r>
              <a:rPr sz="1600" kern="1200" spc="-10" dirty="0">
                <a:solidFill>
                  <a:prstClr val="black"/>
                </a:solidFill>
                <a:latin typeface="Palatino Linotype"/>
                <a:cs typeface="Palatino Linotype"/>
              </a:rPr>
              <a:t>type</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errors cannot </a:t>
            </a:r>
            <a:r>
              <a:rPr sz="1600" kern="1200" spc="-385" dirty="0">
                <a:solidFill>
                  <a:prstClr val="black"/>
                </a:solidFill>
                <a:latin typeface="Palatino Linotype"/>
                <a:cs typeface="Palatino Linotype"/>
              </a:rPr>
              <a:t> </a:t>
            </a:r>
            <a:r>
              <a:rPr sz="1600" kern="1200" spc="-5" dirty="0">
                <a:solidFill>
                  <a:prstClr val="black"/>
                </a:solidFill>
                <a:latin typeface="Palatino Linotype"/>
                <a:cs typeface="Palatino Linotype"/>
              </a:rPr>
              <a:t>occur</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at run</a:t>
            </a:r>
            <a:r>
              <a:rPr sz="1600" kern="1200" spc="10" dirty="0">
                <a:solidFill>
                  <a:prstClr val="black"/>
                </a:solidFill>
                <a:latin typeface="Palatino Linotype"/>
                <a:cs typeface="Palatino Linotype"/>
              </a:rPr>
              <a:t> </a:t>
            </a:r>
            <a:r>
              <a:rPr sz="1600" kern="1200" spc="-10" dirty="0">
                <a:solidFill>
                  <a:prstClr val="black"/>
                </a:solidFill>
                <a:latin typeface="Palatino Linotype"/>
                <a:cs typeface="Palatino Linotype"/>
              </a:rPr>
              <a:t>time</a:t>
            </a:r>
            <a:endParaRPr sz="1600" kern="1200" dirty="0">
              <a:solidFill>
                <a:prstClr val="black"/>
              </a:solidFill>
              <a:latin typeface="Palatino Linotype"/>
              <a:cs typeface="Palatino Linotype"/>
            </a:endParaRPr>
          </a:p>
          <a:p>
            <a:pPr lvl="1" rtl="0">
              <a:spcBef>
                <a:spcPts val="60"/>
              </a:spcBef>
              <a:buFontTx/>
              <a:buChar char=""/>
            </a:pPr>
            <a:endParaRPr sz="1700" kern="1200" dirty="0">
              <a:solidFill>
                <a:prstClr val="black"/>
              </a:solidFill>
              <a:latin typeface="Palatino Linotype"/>
              <a:cs typeface="Palatino Linotype"/>
            </a:endParaRPr>
          </a:p>
          <a:p>
            <a:pPr marL="242570" marR="5080" indent="-230504" rtl="0">
              <a:lnSpc>
                <a:spcPct val="120000"/>
              </a:lnSpc>
              <a:buFont typeface="Arial MT"/>
              <a:buChar char="•"/>
              <a:tabLst>
                <a:tab pos="242570" algn="l"/>
                <a:tab pos="243204" algn="l"/>
              </a:tabLst>
            </a:pPr>
            <a:r>
              <a:rPr sz="1900" kern="1200" spc="-5" dirty="0">
                <a:solidFill>
                  <a:prstClr val="black"/>
                </a:solidFill>
                <a:latin typeface="Palatino Linotype"/>
                <a:cs typeface="Palatino Linotype"/>
              </a:rPr>
              <a:t>A</a:t>
            </a:r>
            <a:r>
              <a:rPr sz="1900" kern="1200" spc="-105" dirty="0">
                <a:solidFill>
                  <a:prstClr val="black"/>
                </a:solidFill>
                <a:latin typeface="Palatino Linotype"/>
                <a:cs typeface="Palatino Linotype"/>
              </a:rPr>
              <a:t> </a:t>
            </a:r>
            <a:r>
              <a:rPr sz="1900" kern="1200" spc="-10" dirty="0">
                <a:solidFill>
                  <a:prstClr val="black"/>
                </a:solidFill>
                <a:latin typeface="Palatino Linotype"/>
                <a:cs typeface="Palatino Linotype"/>
              </a:rPr>
              <a:t>language</a:t>
            </a:r>
            <a:r>
              <a:rPr sz="1900" kern="1200" spc="15" dirty="0">
                <a:solidFill>
                  <a:prstClr val="black"/>
                </a:solidFill>
                <a:latin typeface="Palatino Linotype"/>
                <a:cs typeface="Palatino Linotype"/>
              </a:rPr>
              <a:t> </a:t>
            </a:r>
            <a:r>
              <a:rPr sz="1900" kern="1200" spc="-5" dirty="0">
                <a:solidFill>
                  <a:prstClr val="black"/>
                </a:solidFill>
                <a:latin typeface="Palatino Linotype"/>
                <a:cs typeface="Palatino Linotype"/>
              </a:rPr>
              <a:t>is </a:t>
            </a:r>
            <a:r>
              <a:rPr sz="1900" i="1" kern="1200" spc="-10" dirty="0">
                <a:solidFill>
                  <a:srgbClr val="FF0000"/>
                </a:solidFill>
                <a:latin typeface="Palatino Linotype"/>
                <a:cs typeface="Palatino Linotype"/>
              </a:rPr>
              <a:t>strongly</a:t>
            </a:r>
            <a:r>
              <a:rPr sz="1900" i="1" kern="1200" spc="20" dirty="0">
                <a:solidFill>
                  <a:srgbClr val="FF0000"/>
                </a:solidFill>
                <a:latin typeface="Palatino Linotype"/>
                <a:cs typeface="Palatino Linotype"/>
              </a:rPr>
              <a:t> </a:t>
            </a:r>
            <a:r>
              <a:rPr sz="1900" i="1" kern="1200" spc="-5" dirty="0">
                <a:solidFill>
                  <a:srgbClr val="FF0000"/>
                </a:solidFill>
                <a:latin typeface="Palatino Linotype"/>
                <a:cs typeface="Palatino Linotype"/>
              </a:rPr>
              <a:t>typed</a:t>
            </a:r>
            <a:r>
              <a:rPr sz="1900" i="1" kern="1200" spc="15" dirty="0">
                <a:solidFill>
                  <a:srgbClr val="FF0000"/>
                </a:solidFill>
                <a:latin typeface="Palatino Linotype"/>
                <a:cs typeface="Palatino Linotype"/>
              </a:rPr>
              <a:t> </a:t>
            </a:r>
            <a:r>
              <a:rPr sz="1900" kern="1200" spc="-5" dirty="0">
                <a:solidFill>
                  <a:prstClr val="black"/>
                </a:solidFill>
                <a:latin typeface="Palatino Linotype"/>
                <a:cs typeface="Palatino Linotype"/>
              </a:rPr>
              <a:t>if </a:t>
            </a:r>
            <a:r>
              <a:rPr sz="1900" kern="1200" spc="-10" dirty="0">
                <a:solidFill>
                  <a:prstClr val="black"/>
                </a:solidFill>
                <a:latin typeface="Palatino Linotype"/>
                <a:cs typeface="Palatino Linotype"/>
              </a:rPr>
              <a:t>the</a:t>
            </a:r>
            <a:r>
              <a:rPr sz="1900" kern="1200" spc="15" dirty="0">
                <a:solidFill>
                  <a:prstClr val="black"/>
                </a:solidFill>
                <a:latin typeface="Palatino Linotype"/>
                <a:cs typeface="Palatino Linotype"/>
              </a:rPr>
              <a:t> </a:t>
            </a:r>
            <a:r>
              <a:rPr sz="1900" kern="1200" spc="-10" dirty="0">
                <a:solidFill>
                  <a:prstClr val="black"/>
                </a:solidFill>
                <a:latin typeface="Palatino Linotype"/>
                <a:cs typeface="Palatino Linotype"/>
              </a:rPr>
              <a:t>compiler</a:t>
            </a:r>
            <a:r>
              <a:rPr sz="1900" kern="1200" dirty="0">
                <a:solidFill>
                  <a:prstClr val="black"/>
                </a:solidFill>
                <a:latin typeface="Palatino Linotype"/>
                <a:cs typeface="Palatino Linotype"/>
              </a:rPr>
              <a:t> </a:t>
            </a:r>
            <a:r>
              <a:rPr sz="1900" kern="1200" spc="-5" dirty="0">
                <a:solidFill>
                  <a:prstClr val="black"/>
                </a:solidFill>
                <a:latin typeface="Palatino Linotype"/>
                <a:cs typeface="Palatino Linotype"/>
              </a:rPr>
              <a:t>guarantees</a:t>
            </a:r>
            <a:r>
              <a:rPr sz="1900" kern="1200" spc="25" dirty="0">
                <a:solidFill>
                  <a:prstClr val="black"/>
                </a:solidFill>
                <a:latin typeface="Palatino Linotype"/>
                <a:cs typeface="Palatino Linotype"/>
              </a:rPr>
              <a:t> </a:t>
            </a:r>
            <a:r>
              <a:rPr sz="1900" kern="1200" spc="-5" dirty="0">
                <a:solidFill>
                  <a:prstClr val="black"/>
                </a:solidFill>
                <a:latin typeface="Palatino Linotype"/>
                <a:cs typeface="Palatino Linotype"/>
              </a:rPr>
              <a:t>that</a:t>
            </a:r>
            <a:r>
              <a:rPr sz="1900" kern="1200" dirty="0">
                <a:solidFill>
                  <a:prstClr val="black"/>
                </a:solidFill>
                <a:latin typeface="Palatino Linotype"/>
                <a:cs typeface="Palatino Linotype"/>
              </a:rPr>
              <a:t> </a:t>
            </a:r>
            <a:r>
              <a:rPr sz="1900" kern="1200" spc="-10" dirty="0">
                <a:solidFill>
                  <a:prstClr val="black"/>
                </a:solidFill>
                <a:latin typeface="Palatino Linotype"/>
                <a:cs typeface="Palatino Linotype"/>
              </a:rPr>
              <a:t>the </a:t>
            </a:r>
            <a:r>
              <a:rPr sz="1900" kern="1200" spc="-5" dirty="0">
                <a:solidFill>
                  <a:prstClr val="black"/>
                </a:solidFill>
                <a:latin typeface="Palatino Linotype"/>
                <a:cs typeface="Palatino Linotype"/>
              </a:rPr>
              <a:t> </a:t>
            </a:r>
            <a:r>
              <a:rPr sz="1900" kern="1200" spc="-10" dirty="0">
                <a:solidFill>
                  <a:prstClr val="black"/>
                </a:solidFill>
                <a:latin typeface="Palatino Linotype"/>
                <a:cs typeface="Palatino Linotype"/>
              </a:rPr>
              <a:t>programs</a:t>
            </a:r>
            <a:r>
              <a:rPr sz="1900" kern="1200" spc="25" dirty="0">
                <a:solidFill>
                  <a:prstClr val="black"/>
                </a:solidFill>
                <a:latin typeface="Palatino Linotype"/>
                <a:cs typeface="Palatino Linotype"/>
              </a:rPr>
              <a:t> </a:t>
            </a:r>
            <a:r>
              <a:rPr sz="1900" kern="1200" spc="-5" dirty="0">
                <a:solidFill>
                  <a:prstClr val="black"/>
                </a:solidFill>
                <a:latin typeface="Palatino Linotype"/>
                <a:cs typeface="Palatino Linotype"/>
              </a:rPr>
              <a:t>it accepts will</a:t>
            </a:r>
            <a:r>
              <a:rPr sz="1900" kern="1200" spc="5" dirty="0">
                <a:solidFill>
                  <a:prstClr val="black"/>
                </a:solidFill>
                <a:latin typeface="Palatino Linotype"/>
                <a:cs typeface="Palatino Linotype"/>
              </a:rPr>
              <a:t> </a:t>
            </a:r>
            <a:r>
              <a:rPr sz="1900" kern="1200" spc="-10" dirty="0">
                <a:solidFill>
                  <a:prstClr val="black"/>
                </a:solidFill>
                <a:latin typeface="Palatino Linotype"/>
                <a:cs typeface="Palatino Linotype"/>
              </a:rPr>
              <a:t>run</a:t>
            </a:r>
            <a:r>
              <a:rPr sz="1900" kern="1200" dirty="0">
                <a:solidFill>
                  <a:prstClr val="black"/>
                </a:solidFill>
                <a:latin typeface="Palatino Linotype"/>
                <a:cs typeface="Palatino Linotype"/>
              </a:rPr>
              <a:t> </a:t>
            </a:r>
            <a:r>
              <a:rPr sz="1900" kern="1200" spc="-5" dirty="0">
                <a:solidFill>
                  <a:prstClr val="black"/>
                </a:solidFill>
                <a:latin typeface="Palatino Linotype"/>
                <a:cs typeface="Palatino Linotype"/>
              </a:rPr>
              <a:t>without</a:t>
            </a:r>
            <a:r>
              <a:rPr sz="1900" kern="1200" spc="20" dirty="0">
                <a:solidFill>
                  <a:prstClr val="black"/>
                </a:solidFill>
                <a:latin typeface="Palatino Linotype"/>
                <a:cs typeface="Palatino Linotype"/>
              </a:rPr>
              <a:t> </a:t>
            </a:r>
            <a:r>
              <a:rPr sz="1900" kern="1200" spc="-5" dirty="0">
                <a:solidFill>
                  <a:prstClr val="black"/>
                </a:solidFill>
                <a:latin typeface="Palatino Linotype"/>
                <a:cs typeface="Palatino Linotype"/>
              </a:rPr>
              <a:t>type</a:t>
            </a:r>
            <a:r>
              <a:rPr sz="1900" kern="1200" spc="5" dirty="0">
                <a:solidFill>
                  <a:prstClr val="black"/>
                </a:solidFill>
                <a:latin typeface="Palatino Linotype"/>
                <a:cs typeface="Palatino Linotype"/>
              </a:rPr>
              <a:t> </a:t>
            </a:r>
            <a:r>
              <a:rPr sz="1900" kern="1200" spc="-10" dirty="0">
                <a:solidFill>
                  <a:prstClr val="black"/>
                </a:solidFill>
                <a:latin typeface="Palatino Linotype"/>
                <a:cs typeface="Palatino Linotype"/>
              </a:rPr>
              <a:t>errors</a:t>
            </a:r>
            <a:r>
              <a:rPr sz="1900" kern="1200" spc="15" dirty="0">
                <a:solidFill>
                  <a:prstClr val="black"/>
                </a:solidFill>
                <a:latin typeface="Palatino Linotype"/>
                <a:cs typeface="Palatino Linotype"/>
              </a:rPr>
              <a:t> </a:t>
            </a:r>
            <a:r>
              <a:rPr sz="1900" kern="1200" dirty="0">
                <a:solidFill>
                  <a:prstClr val="black"/>
                </a:solidFill>
                <a:latin typeface="Palatino Linotype"/>
                <a:cs typeface="Palatino Linotype"/>
              </a:rPr>
              <a:t>(</a:t>
            </a:r>
            <a:r>
              <a:rPr sz="1900" kern="1200" dirty="0">
                <a:solidFill>
                  <a:srgbClr val="FF0000"/>
                </a:solidFill>
                <a:latin typeface="Palatino Linotype"/>
                <a:cs typeface="Palatino Linotype"/>
              </a:rPr>
              <a:t>sound</a:t>
            </a:r>
            <a:r>
              <a:rPr sz="1900" kern="1200" spc="20" dirty="0">
                <a:solidFill>
                  <a:srgbClr val="FF0000"/>
                </a:solidFill>
                <a:latin typeface="Palatino Linotype"/>
                <a:cs typeface="Palatino Linotype"/>
              </a:rPr>
              <a:t> </a:t>
            </a:r>
            <a:r>
              <a:rPr sz="1900" kern="1200" spc="-5" dirty="0">
                <a:solidFill>
                  <a:srgbClr val="FF0000"/>
                </a:solidFill>
                <a:latin typeface="Palatino Linotype"/>
                <a:cs typeface="Palatino Linotype"/>
              </a:rPr>
              <a:t>type</a:t>
            </a:r>
            <a:r>
              <a:rPr sz="1900" kern="1200" spc="5" dirty="0">
                <a:solidFill>
                  <a:srgbClr val="FF0000"/>
                </a:solidFill>
                <a:latin typeface="Palatino Linotype"/>
                <a:cs typeface="Palatino Linotype"/>
              </a:rPr>
              <a:t> </a:t>
            </a:r>
            <a:r>
              <a:rPr sz="1900" kern="1200" dirty="0">
                <a:solidFill>
                  <a:srgbClr val="FF0000"/>
                </a:solidFill>
                <a:latin typeface="Palatino Linotype"/>
                <a:cs typeface="Palatino Linotype"/>
              </a:rPr>
              <a:t>system</a:t>
            </a:r>
            <a:r>
              <a:rPr sz="1900" kern="1200" dirty="0">
                <a:solidFill>
                  <a:prstClr val="black"/>
                </a:solidFill>
                <a:latin typeface="Palatino Linotype"/>
                <a:cs typeface="Palatino Linotype"/>
              </a:rPr>
              <a:t>)</a:t>
            </a:r>
          </a:p>
          <a:p>
            <a:pPr marL="697865" lvl="1" indent="-228600" rtl="0">
              <a:spcBef>
                <a:spcPts val="1625"/>
              </a:spcBef>
              <a:buClr>
                <a:srgbClr val="000000"/>
              </a:buClr>
              <a:buFont typeface="Wingdings"/>
              <a:buChar char=""/>
              <a:tabLst>
                <a:tab pos="697865" algn="l"/>
                <a:tab pos="698500" algn="l"/>
              </a:tabLst>
            </a:pPr>
            <a:r>
              <a:rPr sz="1500" b="1" kern="1200" spc="-5" dirty="0">
                <a:solidFill>
                  <a:srgbClr val="0431FF"/>
                </a:solidFill>
                <a:latin typeface="Palatino Linotype"/>
                <a:cs typeface="Palatino Linotype"/>
              </a:rPr>
              <a:t>Strongly</a:t>
            </a:r>
            <a:r>
              <a:rPr sz="1500" b="1" kern="1200" dirty="0">
                <a:solidFill>
                  <a:srgbClr val="0431FF"/>
                </a:solidFill>
                <a:latin typeface="Palatino Linotype"/>
                <a:cs typeface="Palatino Linotype"/>
              </a:rPr>
              <a:t> </a:t>
            </a:r>
            <a:r>
              <a:rPr sz="1500" b="1" kern="1200" spc="-5" dirty="0">
                <a:solidFill>
                  <a:srgbClr val="0431FF"/>
                </a:solidFill>
                <a:latin typeface="Palatino Linotype"/>
                <a:cs typeface="Palatino Linotype"/>
              </a:rPr>
              <a:t>typed:</a:t>
            </a:r>
            <a:r>
              <a:rPr sz="1500" b="1" kern="1200" dirty="0">
                <a:solidFill>
                  <a:srgbClr val="0431FF"/>
                </a:solidFill>
                <a:latin typeface="Palatino Linotype"/>
                <a:cs typeface="Palatino Linotype"/>
              </a:rPr>
              <a:t> </a:t>
            </a:r>
            <a:r>
              <a:rPr sz="1500" kern="1200" spc="-10" dirty="0">
                <a:solidFill>
                  <a:prstClr val="black"/>
                </a:solidFill>
                <a:latin typeface="Palatino Linotype"/>
                <a:cs typeface="Palatino Linotype"/>
              </a:rPr>
              <a:t>Java</a:t>
            </a:r>
            <a:r>
              <a:rPr sz="1500" kern="1200" spc="-25" dirty="0">
                <a:solidFill>
                  <a:prstClr val="black"/>
                </a:solidFill>
                <a:latin typeface="Palatino Linotype"/>
                <a:cs typeface="Palatino Linotype"/>
              </a:rPr>
              <a:t> </a:t>
            </a:r>
            <a:r>
              <a:rPr sz="1500" kern="1200" dirty="0">
                <a:solidFill>
                  <a:prstClr val="black"/>
                </a:solidFill>
                <a:latin typeface="Palatino Linotype"/>
                <a:cs typeface="Palatino Linotype"/>
              </a:rPr>
              <a:t>(</a:t>
            </a:r>
            <a:r>
              <a:rPr sz="1500" kern="1200" dirty="0">
                <a:solidFill>
                  <a:prstClr val="black"/>
                </a:solidFill>
                <a:latin typeface="Consolas"/>
                <a:cs typeface="Consolas"/>
              </a:rPr>
              <a:t>double</a:t>
            </a:r>
            <a:r>
              <a:rPr sz="1500" kern="1200" spc="-25" dirty="0">
                <a:solidFill>
                  <a:prstClr val="black"/>
                </a:solidFill>
                <a:latin typeface="Consolas"/>
                <a:cs typeface="Consolas"/>
              </a:rPr>
              <a:t> </a:t>
            </a:r>
            <a:r>
              <a:rPr sz="1500" kern="1200" dirty="0">
                <a:solidFill>
                  <a:prstClr val="black"/>
                </a:solidFill>
                <a:latin typeface="Consolas"/>
                <a:cs typeface="Consolas"/>
              </a:rPr>
              <a:t>a;</a:t>
            </a:r>
            <a:r>
              <a:rPr sz="1500" kern="1200" spc="-5" dirty="0">
                <a:solidFill>
                  <a:prstClr val="black"/>
                </a:solidFill>
                <a:latin typeface="Consolas"/>
                <a:cs typeface="Consolas"/>
              </a:rPr>
              <a:t> </a:t>
            </a:r>
            <a:r>
              <a:rPr sz="1500" strike="sngStrike" kern="1200" dirty="0">
                <a:solidFill>
                  <a:prstClr val="black"/>
                </a:solidFill>
                <a:latin typeface="Consolas"/>
                <a:cs typeface="Consolas"/>
              </a:rPr>
              <a:t>int</a:t>
            </a:r>
            <a:r>
              <a:rPr sz="1500" strike="sngStrike" kern="1200" spc="-10" dirty="0">
                <a:solidFill>
                  <a:prstClr val="black"/>
                </a:solidFill>
                <a:latin typeface="Consolas"/>
                <a:cs typeface="Consolas"/>
              </a:rPr>
              <a:t> </a:t>
            </a:r>
            <a:r>
              <a:rPr sz="1500" strike="sngStrike" kern="1200" dirty="0">
                <a:solidFill>
                  <a:prstClr val="black"/>
                </a:solidFill>
                <a:latin typeface="Consolas"/>
                <a:cs typeface="Consolas"/>
              </a:rPr>
              <a:t>b =</a:t>
            </a:r>
            <a:r>
              <a:rPr sz="1500" strike="sngStrike" kern="1200" spc="-15" dirty="0">
                <a:solidFill>
                  <a:prstClr val="black"/>
                </a:solidFill>
                <a:latin typeface="Consolas"/>
                <a:cs typeface="Consolas"/>
              </a:rPr>
              <a:t> </a:t>
            </a:r>
            <a:r>
              <a:rPr sz="1500" strike="sngStrike" kern="1200" dirty="0">
                <a:solidFill>
                  <a:prstClr val="black"/>
                </a:solidFill>
                <a:latin typeface="Consolas"/>
                <a:cs typeface="Consolas"/>
              </a:rPr>
              <a:t>a</a:t>
            </a:r>
            <a:r>
              <a:rPr sz="1500" kern="1200" dirty="0">
                <a:solidFill>
                  <a:prstClr val="black"/>
                </a:solidFill>
                <a:latin typeface="Consolas"/>
                <a:cs typeface="Consolas"/>
              </a:rPr>
              <a:t>;</a:t>
            </a:r>
            <a:r>
              <a:rPr sz="1500" kern="1200" spc="-10" dirty="0">
                <a:solidFill>
                  <a:prstClr val="black"/>
                </a:solidFill>
                <a:latin typeface="Consolas"/>
                <a:cs typeface="Consolas"/>
              </a:rPr>
              <a:t> </a:t>
            </a:r>
            <a:r>
              <a:rPr sz="1500" kern="1200" dirty="0">
                <a:solidFill>
                  <a:srgbClr val="FF0000"/>
                </a:solidFill>
                <a:latin typeface="Consolas"/>
                <a:cs typeface="Consolas"/>
              </a:rPr>
              <a:t>//cannot</a:t>
            </a:r>
            <a:r>
              <a:rPr sz="1500" kern="1200" spc="-25" dirty="0">
                <a:solidFill>
                  <a:srgbClr val="FF0000"/>
                </a:solidFill>
                <a:latin typeface="Consolas"/>
                <a:cs typeface="Consolas"/>
              </a:rPr>
              <a:t> </a:t>
            </a:r>
            <a:r>
              <a:rPr sz="1500" kern="1200" dirty="0">
                <a:solidFill>
                  <a:srgbClr val="FF0000"/>
                </a:solidFill>
                <a:latin typeface="Consolas"/>
                <a:cs typeface="Consolas"/>
              </a:rPr>
              <a:t>compile</a:t>
            </a:r>
            <a:r>
              <a:rPr sz="1500" kern="1200" dirty="0">
                <a:solidFill>
                  <a:prstClr val="black"/>
                </a:solidFill>
                <a:latin typeface="Palatino Linotype"/>
                <a:cs typeface="Palatino Linotype"/>
              </a:rPr>
              <a:t>)</a:t>
            </a:r>
          </a:p>
          <a:p>
            <a:pPr lvl="1" rtl="0">
              <a:spcBef>
                <a:spcPts val="10"/>
              </a:spcBef>
              <a:buFontTx/>
              <a:buChar char=""/>
            </a:pPr>
            <a:endParaRPr sz="1150" kern="1200" dirty="0">
              <a:solidFill>
                <a:prstClr val="black"/>
              </a:solidFill>
              <a:latin typeface="Palatino Linotype"/>
              <a:cs typeface="Palatino Linotype"/>
            </a:endParaRPr>
          </a:p>
          <a:p>
            <a:pPr marL="697865" lvl="1" indent="-228600" rtl="0">
              <a:buClr>
                <a:srgbClr val="000000"/>
              </a:buClr>
              <a:buFont typeface="Wingdings"/>
              <a:buChar char=""/>
              <a:tabLst>
                <a:tab pos="697865" algn="l"/>
                <a:tab pos="698500" algn="l"/>
              </a:tabLst>
            </a:pPr>
            <a:r>
              <a:rPr sz="1500" b="1" kern="1200" spc="-20" dirty="0">
                <a:solidFill>
                  <a:srgbClr val="0431FF"/>
                </a:solidFill>
                <a:latin typeface="Palatino Linotype"/>
                <a:cs typeface="Palatino Linotype"/>
              </a:rPr>
              <a:t>Weakly</a:t>
            </a:r>
            <a:r>
              <a:rPr sz="1500" b="1" kern="1200" spc="-25" dirty="0">
                <a:solidFill>
                  <a:srgbClr val="0431FF"/>
                </a:solidFill>
                <a:latin typeface="Palatino Linotype"/>
                <a:cs typeface="Palatino Linotype"/>
              </a:rPr>
              <a:t> </a:t>
            </a:r>
            <a:r>
              <a:rPr sz="1500" b="1" kern="1200" spc="-5" dirty="0">
                <a:solidFill>
                  <a:srgbClr val="0431FF"/>
                </a:solidFill>
                <a:latin typeface="Palatino Linotype"/>
                <a:cs typeface="Palatino Linotype"/>
              </a:rPr>
              <a:t>typed: </a:t>
            </a:r>
            <a:r>
              <a:rPr sz="1500" kern="1200" dirty="0">
                <a:solidFill>
                  <a:prstClr val="black"/>
                </a:solidFill>
                <a:latin typeface="Palatino Linotype"/>
                <a:cs typeface="Palatino Linotype"/>
              </a:rPr>
              <a:t>C/C++</a:t>
            </a:r>
            <a:r>
              <a:rPr sz="1500" kern="1200" spc="-25" dirty="0">
                <a:solidFill>
                  <a:prstClr val="black"/>
                </a:solidFill>
                <a:latin typeface="Palatino Linotype"/>
                <a:cs typeface="Palatino Linotype"/>
              </a:rPr>
              <a:t> </a:t>
            </a:r>
            <a:r>
              <a:rPr sz="1500" kern="1200" dirty="0">
                <a:solidFill>
                  <a:prstClr val="black"/>
                </a:solidFill>
                <a:latin typeface="Palatino Linotype"/>
                <a:cs typeface="Palatino Linotype"/>
              </a:rPr>
              <a:t>(</a:t>
            </a:r>
            <a:r>
              <a:rPr sz="1500" kern="1200" dirty="0">
                <a:solidFill>
                  <a:prstClr val="black"/>
                </a:solidFill>
                <a:latin typeface="Consolas"/>
                <a:cs typeface="Consolas"/>
              </a:rPr>
              <a:t>double</a:t>
            </a:r>
            <a:r>
              <a:rPr sz="1500" kern="1200" spc="-30" dirty="0">
                <a:solidFill>
                  <a:prstClr val="black"/>
                </a:solidFill>
                <a:latin typeface="Consolas"/>
                <a:cs typeface="Consolas"/>
              </a:rPr>
              <a:t> </a:t>
            </a:r>
            <a:r>
              <a:rPr sz="1500" kern="1200" dirty="0">
                <a:solidFill>
                  <a:prstClr val="black"/>
                </a:solidFill>
                <a:latin typeface="Consolas"/>
                <a:cs typeface="Consolas"/>
              </a:rPr>
              <a:t>a;</a:t>
            </a:r>
            <a:r>
              <a:rPr sz="1500" kern="1200" spc="-10" dirty="0">
                <a:solidFill>
                  <a:prstClr val="black"/>
                </a:solidFill>
                <a:latin typeface="Consolas"/>
                <a:cs typeface="Consolas"/>
              </a:rPr>
              <a:t> </a:t>
            </a:r>
            <a:r>
              <a:rPr sz="1500" kern="1200" dirty="0">
                <a:solidFill>
                  <a:prstClr val="black"/>
                </a:solidFill>
                <a:latin typeface="Consolas"/>
                <a:cs typeface="Consolas"/>
              </a:rPr>
              <a:t>int</a:t>
            </a:r>
            <a:r>
              <a:rPr sz="1500" kern="1200" spc="-15" dirty="0">
                <a:solidFill>
                  <a:prstClr val="black"/>
                </a:solidFill>
                <a:latin typeface="Consolas"/>
                <a:cs typeface="Consolas"/>
              </a:rPr>
              <a:t> </a:t>
            </a:r>
            <a:r>
              <a:rPr sz="1500" kern="1200" dirty="0">
                <a:solidFill>
                  <a:prstClr val="black"/>
                </a:solidFill>
                <a:latin typeface="Consolas"/>
                <a:cs typeface="Consolas"/>
              </a:rPr>
              <a:t>b</a:t>
            </a:r>
            <a:r>
              <a:rPr sz="1500" kern="1200" spc="-5" dirty="0">
                <a:solidFill>
                  <a:prstClr val="black"/>
                </a:solidFill>
                <a:latin typeface="Consolas"/>
                <a:cs typeface="Consolas"/>
              </a:rPr>
              <a:t> </a:t>
            </a:r>
            <a:r>
              <a:rPr sz="1500" kern="1200" dirty="0">
                <a:solidFill>
                  <a:prstClr val="black"/>
                </a:solidFill>
                <a:latin typeface="Consolas"/>
                <a:cs typeface="Consolas"/>
              </a:rPr>
              <a:t>=</a:t>
            </a:r>
            <a:r>
              <a:rPr sz="1500" kern="1200" spc="-15" dirty="0">
                <a:solidFill>
                  <a:prstClr val="black"/>
                </a:solidFill>
                <a:latin typeface="Consolas"/>
                <a:cs typeface="Consolas"/>
              </a:rPr>
              <a:t> </a:t>
            </a:r>
            <a:r>
              <a:rPr sz="1500" kern="1200" dirty="0">
                <a:solidFill>
                  <a:prstClr val="black"/>
                </a:solidFill>
                <a:latin typeface="Consolas"/>
                <a:cs typeface="Consolas"/>
              </a:rPr>
              <a:t>a; </a:t>
            </a:r>
            <a:r>
              <a:rPr sz="1500" kern="1200" dirty="0">
                <a:solidFill>
                  <a:srgbClr val="00AF50"/>
                </a:solidFill>
                <a:latin typeface="Consolas"/>
                <a:cs typeface="Consolas"/>
              </a:rPr>
              <a:t>//implicit</a:t>
            </a:r>
            <a:r>
              <a:rPr sz="1500" kern="1200" spc="-30" dirty="0">
                <a:solidFill>
                  <a:srgbClr val="00AF50"/>
                </a:solidFill>
                <a:latin typeface="Consolas"/>
                <a:cs typeface="Consolas"/>
              </a:rPr>
              <a:t> </a:t>
            </a:r>
            <a:r>
              <a:rPr sz="1500" kern="1200" dirty="0">
                <a:solidFill>
                  <a:srgbClr val="00AF50"/>
                </a:solidFill>
                <a:latin typeface="Consolas"/>
                <a:cs typeface="Consolas"/>
              </a:rPr>
              <a:t>conversion</a:t>
            </a:r>
            <a:r>
              <a:rPr sz="1500" kern="1200" dirty="0">
                <a:solidFill>
                  <a:prstClr val="black"/>
                </a:solidFill>
                <a:latin typeface="Palatino Linotype"/>
                <a:cs typeface="Palatino Linotype"/>
              </a:rPr>
              <a:t>)</a:t>
            </a:r>
          </a:p>
        </p:txBody>
      </p:sp>
    </p:spTree>
    <p:extLst>
      <p:ext uri="{BB962C8B-B14F-4D97-AF65-F5344CB8AC3E}">
        <p14:creationId xmlns:p14="http://schemas.microsoft.com/office/powerpoint/2010/main" val="164133196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72</a:t>
            </a:fld>
            <a:endParaRPr lang="en-US"/>
          </a:p>
        </p:txBody>
      </p:sp>
      <p:sp>
        <p:nvSpPr>
          <p:cNvPr id="7" name="object 2">
            <a:extLst>
              <a:ext uri="{FF2B5EF4-FFF2-40B4-BE49-F238E27FC236}">
                <a16:creationId xmlns:a16="http://schemas.microsoft.com/office/drawing/2014/main" id="{C770762B-2F79-3772-3AB0-DEDB0A758113}"/>
              </a:ext>
            </a:extLst>
          </p:cNvPr>
          <p:cNvSpPr txBox="1">
            <a:spLocks/>
          </p:cNvSpPr>
          <p:nvPr/>
        </p:nvSpPr>
        <p:spPr>
          <a:xfrm>
            <a:off x="707542" y="520141"/>
            <a:ext cx="576961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Rules</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for</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95" normalizeH="0" baseline="0" noProof="0">
                <a:ln>
                  <a:noFill/>
                </a:ln>
                <a:solidFill>
                  <a:sysClr val="windowText" lastClr="000000"/>
                </a:solidFill>
                <a:effectLst/>
                <a:uLnTx/>
                <a:uFillTx/>
                <a:latin typeface="Palatino Linotype"/>
                <a:ea typeface="+mj-ea"/>
              </a:rPr>
              <a:t>Type</a:t>
            </a:r>
            <a:r>
              <a:rPr kumimoji="0" lang="en-US" sz="4000" b="1" i="0" u="none" strike="noStrike" kern="0" cap="none" spc="-20"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Checking</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2B388F89-B0DD-91AD-C24C-E7210915AB47}"/>
              </a:ext>
            </a:extLst>
          </p:cNvPr>
          <p:cNvSpPr txBox="1"/>
          <p:nvPr/>
        </p:nvSpPr>
        <p:spPr>
          <a:xfrm>
            <a:off x="707542" y="1497718"/>
            <a:ext cx="7598409" cy="4497705"/>
          </a:xfrm>
          <a:prstGeom prst="rect">
            <a:avLst/>
          </a:prstGeom>
        </p:spPr>
        <p:txBody>
          <a:bodyPr vert="horz" wrap="square" lIns="0" tIns="146685" rIns="0" bIns="0" rtlCol="0">
            <a:spAutoFit/>
          </a:bodyPr>
          <a:lstStyle/>
          <a:p>
            <a:pPr marL="242570" indent="-230504" rtl="0">
              <a:spcBef>
                <a:spcPts val="1155"/>
              </a:spcBef>
              <a:buFont typeface="Arial MT"/>
              <a:buChar char="•"/>
              <a:tabLst>
                <a:tab pos="242570" algn="l"/>
                <a:tab pos="243204" algn="l"/>
              </a:tabLst>
            </a:pPr>
            <a:r>
              <a:rPr sz="2200" b="1" kern="1200" spc="-60" dirty="0">
                <a:solidFill>
                  <a:prstClr val="black"/>
                </a:solidFill>
                <a:latin typeface="Palatino Linotype"/>
                <a:cs typeface="Palatino Linotype"/>
              </a:rPr>
              <a:t>Type</a:t>
            </a:r>
            <a:r>
              <a:rPr sz="2200" b="1" kern="1200" spc="-10" dirty="0">
                <a:solidFill>
                  <a:prstClr val="black"/>
                </a:solidFill>
                <a:latin typeface="Palatino Linotype"/>
                <a:cs typeface="Palatino Linotype"/>
              </a:rPr>
              <a:t> </a:t>
            </a:r>
            <a:r>
              <a:rPr sz="2200" b="1" kern="1200" spc="-5" dirty="0">
                <a:solidFill>
                  <a:prstClr val="black"/>
                </a:solidFill>
                <a:latin typeface="Palatino Linotype"/>
                <a:cs typeface="Palatino Linotype"/>
              </a:rPr>
              <a:t>synthesis</a:t>
            </a:r>
            <a:r>
              <a:rPr sz="2200" b="1" kern="1200" spc="15" dirty="0">
                <a:solidFill>
                  <a:prstClr val="black"/>
                </a:solidFill>
                <a:latin typeface="Palatino Linotype"/>
                <a:cs typeface="Palatino Linotype"/>
              </a:rPr>
              <a:t> </a:t>
            </a:r>
            <a:r>
              <a:rPr sz="2200" b="1" kern="1200" dirty="0">
                <a:solidFill>
                  <a:prstClr val="black"/>
                </a:solidFill>
                <a:latin typeface="Palatino Linotype"/>
                <a:cs typeface="Palatino Linotype"/>
              </a:rPr>
              <a:t>(</a:t>
            </a:r>
            <a:r>
              <a:rPr sz="2200" kern="1200" spc="5" dirty="0">
                <a:solidFill>
                  <a:srgbClr val="FF0000"/>
                </a:solidFill>
                <a:latin typeface="SimSun"/>
                <a:cs typeface="SimSun"/>
              </a:rPr>
              <a:t>类型合成</a:t>
            </a:r>
            <a:r>
              <a:rPr sz="2200" b="1" kern="1200" spc="-5" dirty="0">
                <a:solidFill>
                  <a:prstClr val="black"/>
                </a:solidFill>
                <a:latin typeface="Palatino Linotype"/>
                <a:cs typeface="Palatino Linotype"/>
              </a:rPr>
              <a:t>)</a:t>
            </a:r>
            <a:endParaRPr sz="2200" kern="1200" dirty="0">
              <a:solidFill>
                <a:prstClr val="black"/>
              </a:solidFill>
              <a:latin typeface="Palatino Linotype"/>
              <a:cs typeface="Palatino Linotype"/>
            </a:endParaRPr>
          </a:p>
          <a:p>
            <a:pPr marL="697865" lvl="1" indent="-228600" rtl="0">
              <a:spcBef>
                <a:spcPts val="865"/>
              </a:spcBef>
              <a:buFont typeface="Wingdings"/>
              <a:buChar char=""/>
              <a:tabLst>
                <a:tab pos="698500" algn="l"/>
              </a:tabLst>
            </a:pPr>
            <a:r>
              <a:rPr kern="1200" dirty="0">
                <a:solidFill>
                  <a:prstClr val="black"/>
                </a:solidFill>
                <a:latin typeface="Palatino Linotype"/>
                <a:cs typeface="Palatino Linotype"/>
              </a:rPr>
              <a:t>Build</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up</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the</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type</a:t>
            </a:r>
            <a:r>
              <a:rPr kern="1200" dirty="0">
                <a:solidFill>
                  <a:prstClr val="black"/>
                </a:solidFill>
                <a:latin typeface="Palatino Linotype"/>
                <a:cs typeface="Palatino Linotype"/>
              </a:rPr>
              <a:t> of an</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expression</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from</a:t>
            </a:r>
            <a:r>
              <a:rPr kern="1200" spc="-5" dirty="0">
                <a:solidFill>
                  <a:prstClr val="black"/>
                </a:solidFill>
                <a:latin typeface="Palatino Linotype"/>
                <a:cs typeface="Palatino Linotype"/>
              </a:rPr>
              <a:t> the types</a:t>
            </a:r>
            <a:r>
              <a:rPr kern="1200" dirty="0">
                <a:solidFill>
                  <a:prstClr val="black"/>
                </a:solidFill>
                <a:latin typeface="Palatino Linotype"/>
                <a:cs typeface="Palatino Linotype"/>
              </a:rPr>
              <a:t> of subexpressions</a:t>
            </a:r>
          </a:p>
          <a:p>
            <a:pPr marL="1155065" lvl="2" indent="-229235" rtl="0">
              <a:spcBef>
                <a:spcPts val="1415"/>
              </a:spcBef>
              <a:buClr>
                <a:srgbClr val="000000"/>
              </a:buClr>
              <a:buFont typeface="Courier New"/>
              <a:buChar char="o"/>
              <a:tabLst>
                <a:tab pos="1155700" algn="l"/>
              </a:tabLst>
            </a:pPr>
            <a:r>
              <a:rPr sz="1600" b="1" kern="1200" spc="-30" dirty="0">
                <a:solidFill>
                  <a:srgbClr val="FF0000"/>
                </a:solidFill>
                <a:latin typeface="Palatino Linotype"/>
                <a:cs typeface="Palatino Linotype"/>
              </a:rPr>
              <a:t>Typical</a:t>
            </a:r>
            <a:r>
              <a:rPr sz="1600" b="1" kern="1200" dirty="0">
                <a:solidFill>
                  <a:srgbClr val="FF0000"/>
                </a:solidFill>
                <a:latin typeface="Palatino Linotype"/>
                <a:cs typeface="Palatino Linotype"/>
              </a:rPr>
              <a:t> </a:t>
            </a:r>
            <a:r>
              <a:rPr sz="1600" b="1" kern="1200" spc="-5" dirty="0">
                <a:solidFill>
                  <a:srgbClr val="FF0000"/>
                </a:solidFill>
                <a:latin typeface="Palatino Linotype"/>
                <a:cs typeface="Palatino Linotype"/>
              </a:rPr>
              <a:t>form:</a:t>
            </a:r>
            <a:r>
              <a:rPr sz="1600" b="1" kern="1200" spc="25" dirty="0">
                <a:solidFill>
                  <a:srgbClr val="FF0000"/>
                </a:solidFill>
                <a:latin typeface="Palatino Linotype"/>
                <a:cs typeface="Palatino Linotype"/>
              </a:rPr>
              <a:t> </a:t>
            </a:r>
            <a:r>
              <a:rPr sz="1600" b="1" kern="1200" spc="-5" dirty="0">
                <a:solidFill>
                  <a:srgbClr val="0431FF"/>
                </a:solidFill>
                <a:latin typeface="Palatino Linotype"/>
                <a:cs typeface="Palatino Linotype"/>
              </a:rPr>
              <a:t>if</a:t>
            </a:r>
            <a:r>
              <a:rPr sz="1600" b="1" kern="1200" spc="10" dirty="0">
                <a:solidFill>
                  <a:srgbClr val="0431FF"/>
                </a:solidFill>
                <a:latin typeface="Palatino Linotype"/>
                <a:cs typeface="Palatino Linotype"/>
              </a:rPr>
              <a:t> </a:t>
            </a:r>
            <a:r>
              <a:rPr sz="1600" kern="1200" spc="-5" dirty="0">
                <a:solidFill>
                  <a:prstClr val="black"/>
                </a:solidFill>
                <a:latin typeface="Cambria Math"/>
                <a:cs typeface="Cambria Math"/>
              </a:rPr>
              <a:t>𝑓</a:t>
            </a:r>
            <a:r>
              <a:rPr sz="1600" kern="1200" spc="105" dirty="0">
                <a:solidFill>
                  <a:prstClr val="black"/>
                </a:solidFill>
                <a:latin typeface="Cambria Math"/>
                <a:cs typeface="Cambria Math"/>
              </a:rPr>
              <a:t> </a:t>
            </a:r>
            <a:r>
              <a:rPr sz="1600" kern="1200" spc="-5" dirty="0">
                <a:solidFill>
                  <a:prstClr val="black"/>
                </a:solidFill>
                <a:latin typeface="Palatino Linotype"/>
                <a:cs typeface="Palatino Linotype"/>
              </a:rPr>
              <a:t>has </a:t>
            </a:r>
            <a:r>
              <a:rPr sz="1600" kern="1200" spc="-10" dirty="0">
                <a:solidFill>
                  <a:prstClr val="black"/>
                </a:solidFill>
                <a:latin typeface="Palatino Linotype"/>
                <a:cs typeface="Palatino Linotype"/>
              </a:rPr>
              <a:t>type</a:t>
            </a:r>
            <a:r>
              <a:rPr sz="1600" kern="1200" spc="20" dirty="0">
                <a:solidFill>
                  <a:prstClr val="black"/>
                </a:solidFill>
                <a:latin typeface="Palatino Linotype"/>
                <a:cs typeface="Palatino Linotype"/>
              </a:rPr>
              <a:t> </a:t>
            </a:r>
            <a:r>
              <a:rPr sz="1600" kern="1200" spc="-5" dirty="0">
                <a:solidFill>
                  <a:prstClr val="black"/>
                </a:solidFill>
                <a:latin typeface="Cambria Math"/>
                <a:cs typeface="Cambria Math"/>
              </a:rPr>
              <a:t>𝑠</a:t>
            </a:r>
            <a:r>
              <a:rPr sz="1600" kern="1200" spc="120"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spc="-5" dirty="0">
                <a:solidFill>
                  <a:prstClr val="black"/>
                </a:solidFill>
                <a:latin typeface="Cambria Math"/>
                <a:cs typeface="Cambria Math"/>
              </a:rPr>
              <a:t>𝑡</a:t>
            </a:r>
            <a:r>
              <a:rPr sz="1600" kern="1200" spc="95" dirty="0">
                <a:solidFill>
                  <a:prstClr val="black"/>
                </a:solidFill>
                <a:latin typeface="Cambria Math"/>
                <a:cs typeface="Cambria Math"/>
              </a:rPr>
              <a:t> </a:t>
            </a:r>
            <a:r>
              <a:rPr sz="1600" b="1" kern="1200" spc="-5" dirty="0">
                <a:solidFill>
                  <a:srgbClr val="0431FF"/>
                </a:solidFill>
                <a:latin typeface="Palatino Linotype"/>
                <a:cs typeface="Palatino Linotype"/>
              </a:rPr>
              <a:t>and</a:t>
            </a:r>
            <a:r>
              <a:rPr sz="1600" b="1" kern="1200" spc="5" dirty="0">
                <a:solidFill>
                  <a:srgbClr val="0431FF"/>
                </a:solidFill>
                <a:latin typeface="Palatino Linotype"/>
                <a:cs typeface="Palatino Linotype"/>
              </a:rPr>
              <a:t> </a:t>
            </a:r>
            <a:r>
              <a:rPr sz="1600" kern="1200" spc="-5" dirty="0">
                <a:solidFill>
                  <a:prstClr val="black"/>
                </a:solidFill>
                <a:latin typeface="Cambria Math"/>
                <a:cs typeface="Cambria Math"/>
              </a:rPr>
              <a:t>𝑥</a:t>
            </a:r>
            <a:r>
              <a:rPr sz="1600" kern="1200" spc="95" dirty="0">
                <a:solidFill>
                  <a:prstClr val="black"/>
                </a:solidFill>
                <a:latin typeface="Cambria Math"/>
                <a:cs typeface="Cambria Math"/>
              </a:rPr>
              <a:t> </a:t>
            </a:r>
            <a:r>
              <a:rPr sz="1600" kern="1200" spc="-5" dirty="0">
                <a:solidFill>
                  <a:prstClr val="black"/>
                </a:solidFill>
                <a:latin typeface="Palatino Linotype"/>
                <a:cs typeface="Palatino Linotype"/>
              </a:rPr>
              <a:t>has </a:t>
            </a:r>
            <a:r>
              <a:rPr sz="1600" kern="1200" spc="-10" dirty="0">
                <a:solidFill>
                  <a:prstClr val="black"/>
                </a:solidFill>
                <a:latin typeface="Palatino Linotype"/>
                <a:cs typeface="Palatino Linotype"/>
              </a:rPr>
              <a:t>type</a:t>
            </a:r>
            <a:r>
              <a:rPr sz="1600" kern="1200" spc="20" dirty="0">
                <a:solidFill>
                  <a:prstClr val="black"/>
                </a:solidFill>
                <a:latin typeface="Palatino Linotype"/>
                <a:cs typeface="Palatino Linotype"/>
              </a:rPr>
              <a:t> </a:t>
            </a:r>
            <a:r>
              <a:rPr sz="1600" kern="1200" spc="10" dirty="0">
                <a:solidFill>
                  <a:prstClr val="black"/>
                </a:solidFill>
                <a:latin typeface="Cambria Math"/>
                <a:cs typeface="Cambria Math"/>
              </a:rPr>
              <a:t>𝑠</a:t>
            </a:r>
            <a:r>
              <a:rPr sz="1600" kern="1200" spc="10" dirty="0">
                <a:solidFill>
                  <a:prstClr val="black"/>
                </a:solidFill>
                <a:latin typeface="Palatino Linotype"/>
                <a:cs typeface="Palatino Linotype"/>
              </a:rPr>
              <a:t>,</a:t>
            </a:r>
            <a:r>
              <a:rPr sz="1600" kern="1200" spc="5" dirty="0">
                <a:solidFill>
                  <a:prstClr val="black"/>
                </a:solidFill>
                <a:latin typeface="Palatino Linotype"/>
                <a:cs typeface="Palatino Linotype"/>
              </a:rPr>
              <a:t> </a:t>
            </a:r>
            <a:r>
              <a:rPr sz="1600" b="1" kern="1200" spc="-5" dirty="0">
                <a:solidFill>
                  <a:srgbClr val="0431FF"/>
                </a:solidFill>
                <a:latin typeface="Palatino Linotype"/>
                <a:cs typeface="Palatino Linotype"/>
              </a:rPr>
              <a:t>then</a:t>
            </a:r>
            <a:r>
              <a:rPr sz="1600" b="1" kern="1200" spc="10" dirty="0">
                <a:solidFill>
                  <a:srgbClr val="0431FF"/>
                </a:solidFill>
                <a:latin typeface="Palatino Linotype"/>
                <a:cs typeface="Palatino Linotype"/>
              </a:rPr>
              <a:t> </a:t>
            </a:r>
            <a:r>
              <a:rPr sz="1600" kern="1200" spc="-5" dirty="0">
                <a:solidFill>
                  <a:prstClr val="black"/>
                </a:solidFill>
                <a:latin typeface="Palatino Linotype"/>
                <a:cs typeface="Palatino Linotype"/>
              </a:rPr>
              <a:t>expression</a:t>
            </a:r>
            <a:r>
              <a:rPr sz="1600" kern="1200" spc="10" dirty="0">
                <a:solidFill>
                  <a:prstClr val="black"/>
                </a:solidFill>
                <a:latin typeface="Palatino Linotype"/>
                <a:cs typeface="Palatino Linotype"/>
              </a:rPr>
              <a:t> </a:t>
            </a:r>
            <a:r>
              <a:rPr sz="1600" kern="1200" spc="15" dirty="0">
                <a:solidFill>
                  <a:prstClr val="black"/>
                </a:solidFill>
                <a:latin typeface="Cambria Math"/>
                <a:cs typeface="Cambria Math"/>
              </a:rPr>
              <a:t>𝑓(𝑥)</a:t>
            </a:r>
            <a:endParaRPr sz="1600" kern="1200" dirty="0">
              <a:solidFill>
                <a:prstClr val="black"/>
              </a:solidFill>
              <a:latin typeface="Cambria Math"/>
              <a:cs typeface="Cambria Math"/>
            </a:endParaRPr>
          </a:p>
          <a:p>
            <a:pPr marL="1155065" rtl="0">
              <a:spcBef>
                <a:spcPts val="190"/>
              </a:spcBef>
            </a:pPr>
            <a:r>
              <a:rPr sz="1600" kern="1200" spc="-5" dirty="0">
                <a:solidFill>
                  <a:prstClr val="black"/>
                </a:solidFill>
                <a:latin typeface="Palatino Linotype"/>
                <a:cs typeface="Palatino Linotype"/>
              </a:rPr>
              <a:t>has</a:t>
            </a:r>
            <a:r>
              <a:rPr sz="1600" kern="1200" spc="-30" dirty="0">
                <a:solidFill>
                  <a:prstClr val="black"/>
                </a:solidFill>
                <a:latin typeface="Palatino Linotype"/>
                <a:cs typeface="Palatino Linotype"/>
              </a:rPr>
              <a:t> </a:t>
            </a:r>
            <a:r>
              <a:rPr sz="1600" kern="1200" spc="-10" dirty="0">
                <a:solidFill>
                  <a:prstClr val="black"/>
                </a:solidFill>
                <a:latin typeface="Palatino Linotype"/>
                <a:cs typeface="Palatino Linotype"/>
              </a:rPr>
              <a:t>type </a:t>
            </a:r>
            <a:r>
              <a:rPr sz="1600" kern="1200" spc="-5" dirty="0">
                <a:solidFill>
                  <a:prstClr val="black"/>
                </a:solidFill>
                <a:latin typeface="Cambria Math"/>
                <a:cs typeface="Cambria Math"/>
              </a:rPr>
              <a:t>𝑡</a:t>
            </a:r>
            <a:endParaRPr sz="1600" kern="1200" dirty="0">
              <a:solidFill>
                <a:prstClr val="black"/>
              </a:solidFill>
              <a:latin typeface="Cambria Math"/>
              <a:cs typeface="Cambria Math"/>
            </a:endParaRPr>
          </a:p>
          <a:p>
            <a:pPr marL="1155065" lvl="2" indent="-229235" rtl="0">
              <a:spcBef>
                <a:spcPts val="1395"/>
              </a:spcBef>
              <a:buClr>
                <a:srgbClr val="000000"/>
              </a:buClr>
              <a:buFont typeface="Courier New"/>
              <a:buChar char="o"/>
              <a:tabLst>
                <a:tab pos="1155700" algn="l"/>
              </a:tabLst>
            </a:pPr>
            <a:r>
              <a:rPr sz="1600" b="1" kern="1200" spc="-5" dirty="0">
                <a:solidFill>
                  <a:srgbClr val="538235"/>
                </a:solidFill>
                <a:latin typeface="Palatino Linotype"/>
                <a:cs typeface="Palatino Linotype"/>
              </a:rPr>
              <a:t>Example:</a:t>
            </a:r>
            <a:r>
              <a:rPr sz="1600" b="1" kern="1200" spc="10" dirty="0">
                <a:solidFill>
                  <a:srgbClr val="538235"/>
                </a:solidFill>
                <a:latin typeface="Palatino Linotype"/>
                <a:cs typeface="Palatino Linotype"/>
              </a:rPr>
              <a:t> </a:t>
            </a:r>
            <a:r>
              <a:rPr sz="1600" kern="1200" spc="20" dirty="0">
                <a:solidFill>
                  <a:prstClr val="black"/>
                </a:solidFill>
                <a:latin typeface="Cambria Math"/>
                <a:cs typeface="Cambria Math"/>
              </a:rPr>
              <a:t>𝑓(𝑥)</a:t>
            </a:r>
            <a:r>
              <a:rPr sz="1600" kern="1200" spc="65"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spc="450" dirty="0">
                <a:solidFill>
                  <a:prstClr val="black"/>
                </a:solidFill>
                <a:latin typeface="Cambria Math"/>
                <a:cs typeface="Cambria Math"/>
              </a:rPr>
              <a:t> </a:t>
            </a:r>
            <a:r>
              <a:rPr sz="1600" kern="1200" spc="-5" dirty="0">
                <a:solidFill>
                  <a:prstClr val="black"/>
                </a:solidFill>
                <a:latin typeface="Cambria Math"/>
                <a:cs typeface="Cambria Math"/>
              </a:rPr>
              <a:t>−𝑥</a:t>
            </a:r>
            <a:r>
              <a:rPr sz="1600" kern="1200" spc="90" dirty="0">
                <a:solidFill>
                  <a:prstClr val="black"/>
                </a:solidFill>
                <a:latin typeface="Cambria Math"/>
                <a:cs typeface="Cambria Math"/>
              </a:rPr>
              <a:t> </a:t>
            </a:r>
            <a:r>
              <a:rPr sz="1600" kern="1200" spc="-5" dirty="0">
                <a:solidFill>
                  <a:prstClr val="black"/>
                </a:solidFill>
                <a:latin typeface="Palatino Linotype"/>
                <a:cs typeface="Palatino Linotype"/>
              </a:rPr>
              <a:t>(can</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be generalized</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to</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multi-argument</a:t>
            </a:r>
            <a:r>
              <a:rPr sz="1600" kern="1200" spc="35" dirty="0">
                <a:solidFill>
                  <a:prstClr val="black"/>
                </a:solidFill>
                <a:latin typeface="Palatino Linotype"/>
                <a:cs typeface="Palatino Linotype"/>
              </a:rPr>
              <a:t> </a:t>
            </a:r>
            <a:r>
              <a:rPr sz="1600" kern="1200" spc="-5" dirty="0">
                <a:solidFill>
                  <a:prstClr val="black"/>
                </a:solidFill>
                <a:latin typeface="Palatino Linotype"/>
                <a:cs typeface="Palatino Linotype"/>
              </a:rPr>
              <a:t>cases)</a:t>
            </a:r>
            <a:endParaRPr sz="1600" kern="1200" dirty="0">
              <a:solidFill>
                <a:prstClr val="black"/>
              </a:solidFill>
              <a:latin typeface="Palatino Linotype"/>
              <a:cs typeface="Palatino Linotype"/>
            </a:endParaRPr>
          </a:p>
          <a:p>
            <a:pPr lvl="2" rtl="0">
              <a:spcBef>
                <a:spcPts val="20"/>
              </a:spcBef>
              <a:buFont typeface="Courier New"/>
              <a:buChar char="o"/>
            </a:pPr>
            <a:endParaRPr sz="2350" kern="1200" dirty="0">
              <a:solidFill>
                <a:prstClr val="black"/>
              </a:solidFill>
              <a:latin typeface="Palatino Linotype"/>
              <a:cs typeface="Palatino Linotype"/>
            </a:endParaRPr>
          </a:p>
          <a:p>
            <a:pPr marL="242570" indent="-230504" rtl="0">
              <a:buFont typeface="Arial MT"/>
              <a:buChar char="•"/>
              <a:tabLst>
                <a:tab pos="242570" algn="l"/>
                <a:tab pos="243204" algn="l"/>
              </a:tabLst>
            </a:pPr>
            <a:r>
              <a:rPr sz="2200" b="1" kern="1200" spc="-60" dirty="0">
                <a:solidFill>
                  <a:prstClr val="black"/>
                </a:solidFill>
                <a:latin typeface="Palatino Linotype"/>
                <a:cs typeface="Palatino Linotype"/>
              </a:rPr>
              <a:t>Type</a:t>
            </a:r>
            <a:r>
              <a:rPr sz="2200" b="1" kern="1200" spc="-15" dirty="0">
                <a:solidFill>
                  <a:prstClr val="black"/>
                </a:solidFill>
                <a:latin typeface="Palatino Linotype"/>
                <a:cs typeface="Palatino Linotype"/>
              </a:rPr>
              <a:t> </a:t>
            </a:r>
            <a:r>
              <a:rPr sz="2200" b="1" kern="1200" spc="-5" dirty="0">
                <a:solidFill>
                  <a:prstClr val="black"/>
                </a:solidFill>
                <a:latin typeface="Palatino Linotype"/>
                <a:cs typeface="Palatino Linotype"/>
              </a:rPr>
              <a:t>inference</a:t>
            </a:r>
            <a:r>
              <a:rPr sz="2200" b="1" kern="1200" spc="-15" dirty="0">
                <a:solidFill>
                  <a:prstClr val="black"/>
                </a:solidFill>
                <a:latin typeface="Palatino Linotype"/>
                <a:cs typeface="Palatino Linotype"/>
              </a:rPr>
              <a:t> </a:t>
            </a:r>
            <a:r>
              <a:rPr sz="2200" b="1" kern="1200" spc="10" dirty="0">
                <a:solidFill>
                  <a:prstClr val="black"/>
                </a:solidFill>
                <a:latin typeface="Palatino Linotype"/>
                <a:cs typeface="Palatino Linotype"/>
              </a:rPr>
              <a:t>(</a:t>
            </a:r>
            <a:r>
              <a:rPr sz="2200" kern="1200" spc="5" dirty="0">
                <a:solidFill>
                  <a:srgbClr val="FF0000"/>
                </a:solidFill>
                <a:latin typeface="SimSun"/>
                <a:cs typeface="SimSun"/>
              </a:rPr>
              <a:t>类型推导</a:t>
            </a:r>
            <a:r>
              <a:rPr sz="2200" b="1" kern="1200" spc="-5" dirty="0">
                <a:solidFill>
                  <a:prstClr val="black"/>
                </a:solidFill>
                <a:latin typeface="Palatino Linotype"/>
                <a:cs typeface="Palatino Linotype"/>
              </a:rPr>
              <a:t>)</a:t>
            </a:r>
            <a:endParaRPr sz="2200" kern="1200" dirty="0">
              <a:solidFill>
                <a:prstClr val="black"/>
              </a:solidFill>
              <a:latin typeface="Palatino Linotype"/>
              <a:cs typeface="Palatino Linotype"/>
            </a:endParaRPr>
          </a:p>
          <a:p>
            <a:pPr marL="697865" lvl="1" indent="-228600" rtl="0">
              <a:spcBef>
                <a:spcPts val="875"/>
              </a:spcBef>
              <a:buFont typeface="Wingdings"/>
              <a:buChar char=""/>
              <a:tabLst>
                <a:tab pos="698500" algn="l"/>
              </a:tabLst>
            </a:pPr>
            <a:r>
              <a:rPr kern="1200" dirty="0">
                <a:solidFill>
                  <a:prstClr val="black"/>
                </a:solidFill>
                <a:latin typeface="Palatino Linotype"/>
                <a:cs typeface="Palatino Linotype"/>
              </a:rPr>
              <a:t>Determine</a:t>
            </a:r>
            <a:r>
              <a:rPr kern="1200" spc="-5" dirty="0">
                <a:solidFill>
                  <a:prstClr val="black"/>
                </a:solidFill>
                <a:latin typeface="Palatino Linotype"/>
                <a:cs typeface="Palatino Linotype"/>
              </a:rPr>
              <a:t> the</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type</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of a</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language</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construct</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from </a:t>
            </a:r>
            <a:r>
              <a:rPr kern="1200" spc="-5" dirty="0">
                <a:solidFill>
                  <a:prstClr val="black"/>
                </a:solidFill>
                <a:latin typeface="Palatino Linotype"/>
                <a:cs typeface="Palatino Linotype"/>
              </a:rPr>
              <a:t>the</a:t>
            </a:r>
            <a:r>
              <a:rPr kern="1200" spc="-10" dirty="0">
                <a:solidFill>
                  <a:prstClr val="black"/>
                </a:solidFill>
                <a:latin typeface="Palatino Linotype"/>
                <a:cs typeface="Palatino Linotype"/>
              </a:rPr>
              <a:t> </a:t>
            </a:r>
            <a:r>
              <a:rPr kern="1200" spc="-20" dirty="0">
                <a:solidFill>
                  <a:prstClr val="black"/>
                </a:solidFill>
                <a:latin typeface="Palatino Linotype"/>
                <a:cs typeface="Palatino Linotype"/>
              </a:rPr>
              <a:t>way</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it is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used</a:t>
            </a:r>
          </a:p>
          <a:p>
            <a:pPr marL="1155065" lvl="2" indent="-229235" rtl="0">
              <a:spcBef>
                <a:spcPts val="1410"/>
              </a:spcBef>
              <a:buClr>
                <a:srgbClr val="000000"/>
              </a:buClr>
              <a:buFont typeface="Courier New"/>
              <a:buChar char="o"/>
              <a:tabLst>
                <a:tab pos="1155700" algn="l"/>
              </a:tabLst>
            </a:pPr>
            <a:r>
              <a:rPr sz="1600" b="1" kern="1200" spc="-30" dirty="0">
                <a:solidFill>
                  <a:srgbClr val="FF0000"/>
                </a:solidFill>
                <a:latin typeface="Palatino Linotype"/>
                <a:cs typeface="Palatino Linotype"/>
              </a:rPr>
              <a:t>Typical</a:t>
            </a:r>
            <a:r>
              <a:rPr sz="1600" b="1" kern="1200" dirty="0">
                <a:solidFill>
                  <a:srgbClr val="FF0000"/>
                </a:solidFill>
                <a:latin typeface="Palatino Linotype"/>
                <a:cs typeface="Palatino Linotype"/>
              </a:rPr>
              <a:t> </a:t>
            </a:r>
            <a:r>
              <a:rPr sz="1600" b="1" kern="1200" spc="-5" dirty="0">
                <a:solidFill>
                  <a:srgbClr val="FF0000"/>
                </a:solidFill>
                <a:latin typeface="Palatino Linotype"/>
                <a:cs typeface="Palatino Linotype"/>
              </a:rPr>
              <a:t>form:</a:t>
            </a:r>
            <a:r>
              <a:rPr sz="1600" b="1" kern="1200" spc="20" dirty="0">
                <a:solidFill>
                  <a:srgbClr val="FF0000"/>
                </a:solidFill>
                <a:latin typeface="Palatino Linotype"/>
                <a:cs typeface="Palatino Linotype"/>
              </a:rPr>
              <a:t> </a:t>
            </a:r>
            <a:r>
              <a:rPr sz="1600" b="1" kern="1200" spc="-5" dirty="0">
                <a:solidFill>
                  <a:srgbClr val="0431FF"/>
                </a:solidFill>
                <a:latin typeface="Palatino Linotype"/>
                <a:cs typeface="Palatino Linotype"/>
              </a:rPr>
              <a:t>if</a:t>
            </a:r>
            <a:r>
              <a:rPr sz="1600" b="1" kern="1200" spc="10" dirty="0">
                <a:solidFill>
                  <a:srgbClr val="0431FF"/>
                </a:solidFill>
                <a:latin typeface="Palatino Linotype"/>
                <a:cs typeface="Palatino Linotype"/>
              </a:rPr>
              <a:t> </a:t>
            </a:r>
            <a:r>
              <a:rPr sz="1600" kern="1200" spc="20" dirty="0">
                <a:solidFill>
                  <a:prstClr val="black"/>
                </a:solidFill>
                <a:latin typeface="Cambria Math"/>
                <a:cs typeface="Cambria Math"/>
              </a:rPr>
              <a:t>𝑓(𝑥)</a:t>
            </a:r>
            <a:r>
              <a:rPr sz="1600" kern="1200" spc="55" dirty="0">
                <a:solidFill>
                  <a:prstClr val="black"/>
                </a:solidFill>
                <a:latin typeface="Cambria Math"/>
                <a:cs typeface="Cambria Math"/>
              </a:rPr>
              <a:t> </a:t>
            </a:r>
            <a:r>
              <a:rPr sz="1600" kern="1200" spc="-5" dirty="0">
                <a:solidFill>
                  <a:prstClr val="black"/>
                </a:solidFill>
                <a:latin typeface="Palatino Linotype"/>
                <a:cs typeface="Palatino Linotype"/>
              </a:rPr>
              <a:t>is an</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expression,</a:t>
            </a:r>
            <a:r>
              <a:rPr sz="1600" kern="1200" spc="10" dirty="0">
                <a:solidFill>
                  <a:prstClr val="black"/>
                </a:solidFill>
                <a:latin typeface="Palatino Linotype"/>
                <a:cs typeface="Palatino Linotype"/>
              </a:rPr>
              <a:t> </a:t>
            </a:r>
            <a:r>
              <a:rPr sz="1600" b="1" kern="1200" spc="-5" dirty="0">
                <a:solidFill>
                  <a:srgbClr val="0431FF"/>
                </a:solidFill>
                <a:latin typeface="Palatino Linotype"/>
                <a:cs typeface="Palatino Linotype"/>
              </a:rPr>
              <a:t>then</a:t>
            </a:r>
            <a:r>
              <a:rPr sz="1600" b="1" kern="1200" spc="10" dirty="0">
                <a:solidFill>
                  <a:srgbClr val="0431FF"/>
                </a:solidFill>
                <a:latin typeface="Palatino Linotype"/>
                <a:cs typeface="Palatino Linotype"/>
              </a:rPr>
              <a:t> </a:t>
            </a:r>
            <a:r>
              <a:rPr sz="1600" kern="1200" spc="-5" dirty="0">
                <a:solidFill>
                  <a:prstClr val="black"/>
                </a:solidFill>
                <a:latin typeface="Palatino Linotype"/>
                <a:cs typeface="Palatino Linotype"/>
              </a:rPr>
              <a:t>for</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some</a:t>
            </a:r>
            <a:r>
              <a:rPr sz="1600" kern="1200" spc="5" dirty="0">
                <a:solidFill>
                  <a:prstClr val="black"/>
                </a:solidFill>
                <a:latin typeface="Palatino Linotype"/>
                <a:cs typeface="Palatino Linotype"/>
              </a:rPr>
              <a:t> </a:t>
            </a:r>
            <a:r>
              <a:rPr sz="1600" kern="1200" spc="-10" dirty="0">
                <a:solidFill>
                  <a:prstClr val="black"/>
                </a:solidFill>
                <a:latin typeface="Palatino Linotype"/>
                <a:cs typeface="Palatino Linotype"/>
              </a:rPr>
              <a:t>types</a:t>
            </a:r>
            <a:r>
              <a:rPr sz="1600" kern="1200" spc="10" dirty="0">
                <a:solidFill>
                  <a:prstClr val="black"/>
                </a:solidFill>
                <a:latin typeface="Palatino Linotype"/>
                <a:cs typeface="Palatino Linotype"/>
              </a:rPr>
              <a:t> </a:t>
            </a:r>
            <a:r>
              <a:rPr sz="1600" kern="1200" spc="-5" dirty="0">
                <a:solidFill>
                  <a:prstClr val="black"/>
                </a:solidFill>
                <a:latin typeface="Cambria Math"/>
                <a:cs typeface="Cambria Math"/>
              </a:rPr>
              <a:t>𝛼</a:t>
            </a:r>
            <a:r>
              <a:rPr sz="1600" kern="1200" spc="90" dirty="0">
                <a:solidFill>
                  <a:prstClr val="black"/>
                </a:solidFill>
                <a:latin typeface="Cambria Math"/>
                <a:cs typeface="Cambria Math"/>
              </a:rPr>
              <a:t> </a:t>
            </a:r>
            <a:r>
              <a:rPr sz="1600" kern="1200" spc="-5" dirty="0">
                <a:solidFill>
                  <a:prstClr val="black"/>
                </a:solidFill>
                <a:latin typeface="Palatino Linotype"/>
                <a:cs typeface="Palatino Linotype"/>
              </a:rPr>
              <a:t>and</a:t>
            </a:r>
            <a:r>
              <a:rPr sz="1600" kern="1200" spc="15" dirty="0">
                <a:solidFill>
                  <a:prstClr val="black"/>
                </a:solidFill>
                <a:latin typeface="Palatino Linotype"/>
                <a:cs typeface="Palatino Linotype"/>
              </a:rPr>
              <a:t> </a:t>
            </a:r>
            <a:r>
              <a:rPr sz="1600" kern="1200" spc="25" dirty="0">
                <a:solidFill>
                  <a:prstClr val="black"/>
                </a:solidFill>
                <a:latin typeface="Cambria Math"/>
                <a:cs typeface="Cambria Math"/>
              </a:rPr>
              <a:t>𝛽</a:t>
            </a:r>
            <a:r>
              <a:rPr sz="1600" kern="1200" spc="25" dirty="0">
                <a:solidFill>
                  <a:prstClr val="black"/>
                </a:solidFill>
                <a:latin typeface="Palatino Linotype"/>
                <a:cs typeface="Palatino Linotype"/>
              </a:rPr>
              <a:t>,</a:t>
            </a:r>
            <a:r>
              <a:rPr sz="1600" kern="1200" spc="-10" dirty="0">
                <a:solidFill>
                  <a:prstClr val="black"/>
                </a:solidFill>
                <a:latin typeface="Palatino Linotype"/>
                <a:cs typeface="Palatino Linotype"/>
              </a:rPr>
              <a:t> </a:t>
            </a:r>
            <a:r>
              <a:rPr sz="1600" kern="1200" spc="-5" dirty="0">
                <a:solidFill>
                  <a:prstClr val="black"/>
                </a:solidFill>
                <a:latin typeface="Cambria Math"/>
                <a:cs typeface="Cambria Math"/>
              </a:rPr>
              <a:t>𝑓</a:t>
            </a:r>
            <a:endParaRPr sz="1600" kern="1200" dirty="0">
              <a:solidFill>
                <a:prstClr val="black"/>
              </a:solidFill>
              <a:latin typeface="Cambria Math"/>
              <a:cs typeface="Cambria Math"/>
            </a:endParaRPr>
          </a:p>
          <a:p>
            <a:pPr marL="1155065" rtl="0">
              <a:spcBef>
                <a:spcPts val="190"/>
              </a:spcBef>
            </a:pPr>
            <a:r>
              <a:rPr sz="1600" kern="1200" spc="-5" dirty="0">
                <a:solidFill>
                  <a:prstClr val="black"/>
                </a:solidFill>
                <a:latin typeface="Palatino Linotype"/>
                <a:cs typeface="Palatino Linotype"/>
              </a:rPr>
              <a:t>has</a:t>
            </a:r>
            <a:r>
              <a:rPr sz="1600" kern="1200" spc="-10" dirty="0">
                <a:solidFill>
                  <a:prstClr val="black"/>
                </a:solidFill>
                <a:latin typeface="Palatino Linotype"/>
                <a:cs typeface="Palatino Linotype"/>
              </a:rPr>
              <a:t> type</a:t>
            </a:r>
            <a:r>
              <a:rPr sz="1600" kern="1200" spc="10" dirty="0">
                <a:solidFill>
                  <a:prstClr val="black"/>
                </a:solidFill>
                <a:latin typeface="Palatino Linotype"/>
                <a:cs typeface="Palatino Linotype"/>
              </a:rPr>
              <a:t> </a:t>
            </a:r>
            <a:r>
              <a:rPr sz="1600" kern="1200" spc="-5" dirty="0">
                <a:solidFill>
                  <a:prstClr val="black"/>
                </a:solidFill>
                <a:latin typeface="Cambria Math"/>
                <a:cs typeface="Cambria Math"/>
              </a:rPr>
              <a:t>𝛼</a:t>
            </a:r>
            <a:r>
              <a:rPr sz="1600" kern="1200" spc="135"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spc="-5" dirty="0">
                <a:solidFill>
                  <a:prstClr val="black"/>
                </a:solidFill>
                <a:latin typeface="Cambria Math"/>
                <a:cs typeface="Cambria Math"/>
              </a:rPr>
              <a:t>𝛽</a:t>
            </a:r>
            <a:r>
              <a:rPr sz="1600" kern="1200" spc="90" dirty="0">
                <a:solidFill>
                  <a:prstClr val="black"/>
                </a:solidFill>
                <a:latin typeface="Cambria Math"/>
                <a:cs typeface="Cambria Math"/>
              </a:rPr>
              <a:t> </a:t>
            </a:r>
            <a:r>
              <a:rPr sz="1600" kern="1200" spc="-5" dirty="0">
                <a:solidFill>
                  <a:prstClr val="black"/>
                </a:solidFill>
                <a:latin typeface="Palatino Linotype"/>
                <a:cs typeface="Palatino Linotype"/>
              </a:rPr>
              <a:t>and</a:t>
            </a:r>
            <a:r>
              <a:rPr sz="1600" kern="1200" spc="10" dirty="0">
                <a:solidFill>
                  <a:prstClr val="black"/>
                </a:solidFill>
                <a:latin typeface="Palatino Linotype"/>
                <a:cs typeface="Palatino Linotype"/>
              </a:rPr>
              <a:t> </a:t>
            </a:r>
            <a:r>
              <a:rPr sz="1600" kern="1200" spc="-5" dirty="0">
                <a:solidFill>
                  <a:prstClr val="black"/>
                </a:solidFill>
                <a:latin typeface="Cambria Math"/>
                <a:cs typeface="Cambria Math"/>
              </a:rPr>
              <a:t>𝑥</a:t>
            </a:r>
            <a:r>
              <a:rPr sz="1600" kern="1200" spc="90" dirty="0">
                <a:solidFill>
                  <a:prstClr val="black"/>
                </a:solidFill>
                <a:latin typeface="Cambria Math"/>
                <a:cs typeface="Cambria Math"/>
              </a:rPr>
              <a:t> </a:t>
            </a:r>
            <a:r>
              <a:rPr sz="1600" kern="1200" spc="-5" dirty="0">
                <a:solidFill>
                  <a:prstClr val="black"/>
                </a:solidFill>
                <a:latin typeface="Palatino Linotype"/>
                <a:cs typeface="Palatino Linotype"/>
              </a:rPr>
              <a:t>has</a:t>
            </a:r>
            <a:r>
              <a:rPr sz="1600" kern="1200" spc="5" dirty="0">
                <a:solidFill>
                  <a:prstClr val="black"/>
                </a:solidFill>
                <a:latin typeface="Palatino Linotype"/>
                <a:cs typeface="Palatino Linotype"/>
              </a:rPr>
              <a:t> </a:t>
            </a:r>
            <a:r>
              <a:rPr sz="1600" kern="1200" spc="-10" dirty="0">
                <a:solidFill>
                  <a:prstClr val="black"/>
                </a:solidFill>
                <a:latin typeface="Palatino Linotype"/>
                <a:cs typeface="Palatino Linotype"/>
              </a:rPr>
              <a:t>type</a:t>
            </a:r>
            <a:r>
              <a:rPr sz="1600" kern="1200" spc="-5" dirty="0">
                <a:solidFill>
                  <a:prstClr val="black"/>
                </a:solidFill>
                <a:latin typeface="Palatino Linotype"/>
                <a:cs typeface="Palatino Linotype"/>
              </a:rPr>
              <a:t> </a:t>
            </a:r>
            <a:r>
              <a:rPr sz="1600" kern="1200" spc="-5" dirty="0">
                <a:solidFill>
                  <a:prstClr val="black"/>
                </a:solidFill>
                <a:latin typeface="Cambria Math"/>
                <a:cs typeface="Cambria Math"/>
              </a:rPr>
              <a:t>𝛼</a:t>
            </a:r>
            <a:endParaRPr sz="1600" kern="1200" dirty="0">
              <a:solidFill>
                <a:prstClr val="black"/>
              </a:solidFill>
              <a:latin typeface="Cambria Math"/>
              <a:cs typeface="Cambria Math"/>
            </a:endParaRPr>
          </a:p>
          <a:p>
            <a:pPr marL="1155065" lvl="2" indent="-229235" rtl="0">
              <a:spcBef>
                <a:spcPts val="1395"/>
              </a:spcBef>
              <a:buClr>
                <a:srgbClr val="000000"/>
              </a:buClr>
              <a:buFont typeface="Courier New"/>
              <a:buChar char="o"/>
              <a:tabLst>
                <a:tab pos="1155700" algn="l"/>
              </a:tabLst>
            </a:pPr>
            <a:r>
              <a:rPr sz="1600" b="1" kern="1200" spc="-5" dirty="0">
                <a:solidFill>
                  <a:srgbClr val="538235"/>
                </a:solidFill>
                <a:latin typeface="Palatino Linotype"/>
                <a:cs typeface="Palatino Linotype"/>
              </a:rPr>
              <a:t>Example:</a:t>
            </a:r>
            <a:r>
              <a:rPr sz="1600" b="1" kern="1200" spc="15" dirty="0">
                <a:solidFill>
                  <a:srgbClr val="538235"/>
                </a:solidFill>
                <a:latin typeface="Palatino Linotype"/>
                <a:cs typeface="Palatino Linotype"/>
              </a:rPr>
              <a:t> </a:t>
            </a:r>
            <a:r>
              <a:rPr sz="1600" kern="1200" spc="-5" dirty="0">
                <a:solidFill>
                  <a:prstClr val="black"/>
                </a:solidFill>
                <a:latin typeface="Palatino Linotype"/>
                <a:cs typeface="Palatino Linotype"/>
              </a:rPr>
              <a:t>let </a:t>
            </a:r>
            <a:r>
              <a:rPr sz="1600" kern="1200" spc="-5" dirty="0">
                <a:solidFill>
                  <a:prstClr val="black"/>
                </a:solidFill>
                <a:latin typeface="Cambria Math"/>
                <a:cs typeface="Cambria Math"/>
              </a:rPr>
              <a:t>𝑛𝑢𝑙𝑙</a:t>
            </a:r>
            <a:r>
              <a:rPr sz="1600" kern="1200" spc="90" dirty="0">
                <a:solidFill>
                  <a:prstClr val="black"/>
                </a:solidFill>
                <a:latin typeface="Cambria Math"/>
                <a:cs typeface="Cambria Math"/>
              </a:rPr>
              <a:t> </a:t>
            </a:r>
            <a:r>
              <a:rPr sz="1600" kern="1200" spc="-5" dirty="0">
                <a:solidFill>
                  <a:prstClr val="black"/>
                </a:solidFill>
                <a:latin typeface="Palatino Linotype"/>
                <a:cs typeface="Palatino Linotype"/>
              </a:rPr>
              <a:t>be</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a</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function</a:t>
            </a:r>
            <a:r>
              <a:rPr sz="1600" kern="1200" spc="40" dirty="0">
                <a:solidFill>
                  <a:prstClr val="black"/>
                </a:solidFill>
                <a:latin typeface="Palatino Linotype"/>
                <a:cs typeface="Palatino Linotype"/>
              </a:rPr>
              <a:t> </a:t>
            </a:r>
            <a:r>
              <a:rPr sz="1600" kern="1200" spc="-10" dirty="0">
                <a:solidFill>
                  <a:prstClr val="black"/>
                </a:solidFill>
                <a:latin typeface="Palatino Linotype"/>
                <a:cs typeface="Palatino Linotype"/>
              </a:rPr>
              <a:t>that</a:t>
            </a:r>
            <a:r>
              <a:rPr sz="1600" kern="1200" spc="25" dirty="0">
                <a:solidFill>
                  <a:prstClr val="black"/>
                </a:solidFill>
                <a:latin typeface="Palatino Linotype"/>
                <a:cs typeface="Palatino Linotype"/>
              </a:rPr>
              <a:t> </a:t>
            </a:r>
            <a:r>
              <a:rPr sz="1600" kern="1200" spc="-5" dirty="0">
                <a:solidFill>
                  <a:prstClr val="black"/>
                </a:solidFill>
                <a:latin typeface="Palatino Linotype"/>
                <a:cs typeface="Palatino Linotype"/>
              </a:rPr>
              <a:t>tests</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whether</a:t>
            </a:r>
            <a:r>
              <a:rPr sz="1600" kern="1200" spc="35" dirty="0">
                <a:solidFill>
                  <a:prstClr val="black"/>
                </a:solidFill>
                <a:latin typeface="Palatino Linotype"/>
                <a:cs typeface="Palatino Linotype"/>
              </a:rPr>
              <a:t> </a:t>
            </a:r>
            <a:r>
              <a:rPr sz="1600" kern="1200" spc="-5" dirty="0">
                <a:solidFill>
                  <a:prstClr val="black"/>
                </a:solidFill>
                <a:latin typeface="Palatino Linotype"/>
                <a:cs typeface="Palatino Linotype"/>
              </a:rPr>
              <a:t>a</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list</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is </a:t>
            </a:r>
            <a:r>
              <a:rPr sz="1600" kern="1200" spc="-40" dirty="0">
                <a:solidFill>
                  <a:prstClr val="black"/>
                </a:solidFill>
                <a:latin typeface="Palatino Linotype"/>
                <a:cs typeface="Palatino Linotype"/>
              </a:rPr>
              <a:t>empty,</a:t>
            </a:r>
            <a:r>
              <a:rPr sz="1600" kern="1200" spc="20" dirty="0">
                <a:solidFill>
                  <a:prstClr val="black"/>
                </a:solidFill>
                <a:latin typeface="Palatino Linotype"/>
                <a:cs typeface="Palatino Linotype"/>
              </a:rPr>
              <a:t> </a:t>
            </a:r>
            <a:r>
              <a:rPr sz="1600" kern="1200" spc="-10" dirty="0">
                <a:solidFill>
                  <a:prstClr val="black"/>
                </a:solidFill>
                <a:latin typeface="Palatino Linotype"/>
                <a:cs typeface="Palatino Linotype"/>
              </a:rPr>
              <a:t>then</a:t>
            </a:r>
            <a:endParaRPr sz="1600" kern="1200" dirty="0">
              <a:solidFill>
                <a:prstClr val="black"/>
              </a:solidFill>
              <a:latin typeface="Palatino Linotype"/>
              <a:cs typeface="Palatino Linotype"/>
            </a:endParaRPr>
          </a:p>
          <a:p>
            <a:pPr marL="1155065" rtl="0">
              <a:spcBef>
                <a:spcPts val="195"/>
              </a:spcBef>
            </a:pPr>
            <a:r>
              <a:rPr sz="1600" kern="1200" spc="-5" dirty="0">
                <a:solidFill>
                  <a:prstClr val="black"/>
                </a:solidFill>
                <a:latin typeface="Palatino Linotype"/>
                <a:cs typeface="Palatino Linotype"/>
              </a:rPr>
              <a:t>from</a:t>
            </a:r>
            <a:r>
              <a:rPr sz="1600" kern="1200" spc="15" dirty="0">
                <a:solidFill>
                  <a:prstClr val="black"/>
                </a:solidFill>
                <a:latin typeface="Palatino Linotype"/>
                <a:cs typeface="Palatino Linotype"/>
              </a:rPr>
              <a:t> </a:t>
            </a:r>
            <a:r>
              <a:rPr sz="1600" kern="1200" spc="-10" dirty="0">
                <a:solidFill>
                  <a:prstClr val="black"/>
                </a:solidFill>
                <a:latin typeface="Palatino Linotype"/>
                <a:cs typeface="Palatino Linotype"/>
              </a:rPr>
              <a:t>the</a:t>
            </a:r>
            <a:r>
              <a:rPr sz="1600" kern="1200" spc="25" dirty="0">
                <a:solidFill>
                  <a:prstClr val="black"/>
                </a:solidFill>
                <a:latin typeface="Palatino Linotype"/>
                <a:cs typeface="Palatino Linotype"/>
              </a:rPr>
              <a:t> </a:t>
            </a:r>
            <a:r>
              <a:rPr sz="1600" kern="1200" spc="-5" dirty="0">
                <a:solidFill>
                  <a:prstClr val="black"/>
                </a:solidFill>
                <a:latin typeface="Palatino Linotype"/>
                <a:cs typeface="Palatino Linotype"/>
              </a:rPr>
              <a:t>usage</a:t>
            </a:r>
            <a:r>
              <a:rPr sz="1600" kern="1200" spc="10" dirty="0">
                <a:solidFill>
                  <a:prstClr val="black"/>
                </a:solidFill>
                <a:latin typeface="Palatino Linotype"/>
                <a:cs typeface="Palatino Linotype"/>
              </a:rPr>
              <a:t> </a:t>
            </a:r>
            <a:r>
              <a:rPr sz="1600" kern="1200" spc="5" dirty="0">
                <a:solidFill>
                  <a:prstClr val="black"/>
                </a:solidFill>
                <a:latin typeface="Cambria Math"/>
                <a:cs typeface="Cambria Math"/>
              </a:rPr>
              <a:t>𝑛𝑢𝑙𝑙(𝑥)</a:t>
            </a:r>
            <a:r>
              <a:rPr sz="1600" kern="1200" spc="5" dirty="0">
                <a:solidFill>
                  <a:prstClr val="black"/>
                </a:solidFill>
                <a:latin typeface="Palatino Linotype"/>
                <a:cs typeface="Palatino Linotype"/>
              </a:rPr>
              <a:t>,</a:t>
            </a:r>
            <a:r>
              <a:rPr sz="1600" kern="1200" spc="-5" dirty="0">
                <a:solidFill>
                  <a:prstClr val="black"/>
                </a:solidFill>
                <a:latin typeface="Palatino Linotype"/>
                <a:cs typeface="Palatino Linotype"/>
              </a:rPr>
              <a:t> </a:t>
            </a:r>
            <a:r>
              <a:rPr sz="1600" kern="1200" spc="-20" dirty="0">
                <a:solidFill>
                  <a:prstClr val="black"/>
                </a:solidFill>
                <a:latin typeface="Palatino Linotype"/>
                <a:cs typeface="Palatino Linotype"/>
              </a:rPr>
              <a:t>we</a:t>
            </a:r>
            <a:r>
              <a:rPr sz="1600" kern="1200" spc="-5" dirty="0">
                <a:solidFill>
                  <a:prstClr val="black"/>
                </a:solidFill>
                <a:latin typeface="Palatino Linotype"/>
                <a:cs typeface="Palatino Linotype"/>
              </a:rPr>
              <a:t> can</a:t>
            </a:r>
            <a:r>
              <a:rPr sz="1600" kern="1200" spc="15" dirty="0">
                <a:solidFill>
                  <a:prstClr val="black"/>
                </a:solidFill>
                <a:latin typeface="Palatino Linotype"/>
                <a:cs typeface="Palatino Linotype"/>
              </a:rPr>
              <a:t> </a:t>
            </a:r>
            <a:r>
              <a:rPr sz="1600" kern="1200" spc="-10" dirty="0">
                <a:solidFill>
                  <a:prstClr val="black"/>
                </a:solidFill>
                <a:latin typeface="Palatino Linotype"/>
                <a:cs typeface="Palatino Linotype"/>
              </a:rPr>
              <a:t>tell</a:t>
            </a:r>
            <a:r>
              <a:rPr sz="1600" kern="1200" spc="5" dirty="0">
                <a:solidFill>
                  <a:prstClr val="black"/>
                </a:solidFill>
                <a:latin typeface="Palatino Linotype"/>
                <a:cs typeface="Palatino Linotype"/>
              </a:rPr>
              <a:t> </a:t>
            </a:r>
            <a:r>
              <a:rPr sz="1600" kern="1200" spc="-10" dirty="0">
                <a:solidFill>
                  <a:prstClr val="black"/>
                </a:solidFill>
                <a:latin typeface="Palatino Linotype"/>
                <a:cs typeface="Palatino Linotype"/>
              </a:rPr>
              <a:t>that</a:t>
            </a:r>
            <a:r>
              <a:rPr sz="1600" kern="1200" spc="25" dirty="0">
                <a:solidFill>
                  <a:prstClr val="black"/>
                </a:solidFill>
                <a:latin typeface="Palatino Linotype"/>
                <a:cs typeface="Palatino Linotype"/>
              </a:rPr>
              <a:t> </a:t>
            </a:r>
            <a:r>
              <a:rPr sz="1600" kern="1200" spc="-5" dirty="0">
                <a:solidFill>
                  <a:prstClr val="black"/>
                </a:solidFill>
                <a:latin typeface="Cambria Math"/>
                <a:cs typeface="Cambria Math"/>
              </a:rPr>
              <a:t>𝑥</a:t>
            </a:r>
            <a:r>
              <a:rPr sz="1600" kern="1200" spc="90" dirty="0">
                <a:solidFill>
                  <a:prstClr val="black"/>
                </a:solidFill>
                <a:latin typeface="Cambria Math"/>
                <a:cs typeface="Cambria Math"/>
              </a:rPr>
              <a:t> </a:t>
            </a:r>
            <a:r>
              <a:rPr sz="1600" kern="1200" spc="-10" dirty="0">
                <a:solidFill>
                  <a:prstClr val="black"/>
                </a:solidFill>
                <a:latin typeface="Palatino Linotype"/>
                <a:cs typeface="Palatino Linotype"/>
              </a:rPr>
              <a:t>must</a:t>
            </a:r>
            <a:r>
              <a:rPr sz="1600" kern="1200" spc="30" dirty="0">
                <a:solidFill>
                  <a:prstClr val="black"/>
                </a:solidFill>
                <a:latin typeface="Palatino Linotype"/>
                <a:cs typeface="Palatino Linotype"/>
              </a:rPr>
              <a:t> </a:t>
            </a:r>
            <a:r>
              <a:rPr sz="1600" kern="1200" spc="-5" dirty="0">
                <a:solidFill>
                  <a:prstClr val="black"/>
                </a:solidFill>
                <a:latin typeface="Palatino Linotype"/>
                <a:cs typeface="Palatino Linotype"/>
              </a:rPr>
              <a:t>be</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a</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list</a:t>
            </a:r>
            <a:endParaRPr sz="1600" kern="1200" dirty="0">
              <a:solidFill>
                <a:prstClr val="black"/>
              </a:solidFill>
              <a:latin typeface="Palatino Linotype"/>
              <a:cs typeface="Palatino Linotype"/>
            </a:endParaRPr>
          </a:p>
        </p:txBody>
      </p:sp>
    </p:spTree>
    <p:extLst>
      <p:ext uri="{BB962C8B-B14F-4D97-AF65-F5344CB8AC3E}">
        <p14:creationId xmlns:p14="http://schemas.microsoft.com/office/powerpoint/2010/main" val="414035532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73</a:t>
            </a:fld>
            <a:endParaRPr lang="en-US"/>
          </a:p>
        </p:txBody>
      </p:sp>
      <p:sp>
        <p:nvSpPr>
          <p:cNvPr id="9" name="object 2">
            <a:extLst>
              <a:ext uri="{FF2B5EF4-FFF2-40B4-BE49-F238E27FC236}">
                <a16:creationId xmlns:a16="http://schemas.microsoft.com/office/drawing/2014/main" id="{4623EA3F-934F-E979-8DE9-F45BF44CCFBB}"/>
              </a:ext>
            </a:extLst>
          </p:cNvPr>
          <p:cNvSpPr txBox="1">
            <a:spLocks/>
          </p:cNvSpPr>
          <p:nvPr/>
        </p:nvSpPr>
        <p:spPr>
          <a:xfrm>
            <a:off x="707542" y="520141"/>
            <a:ext cx="419481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100" normalizeH="0" baseline="0" noProof="0" dirty="0">
                <a:ln>
                  <a:noFill/>
                </a:ln>
                <a:solidFill>
                  <a:sysClr val="windowText" lastClr="000000"/>
                </a:solidFill>
                <a:effectLst/>
                <a:uLnTx/>
                <a:uFillTx/>
                <a:latin typeface="Palatino Linotype"/>
                <a:ea typeface="+mj-ea"/>
              </a:rPr>
              <a:t>Type</a:t>
            </a:r>
            <a:r>
              <a:rPr kumimoji="0" lang="en-US" sz="4000" b="1" i="0" u="none" strike="noStrike" kern="0" cap="none" spc="-70" normalizeH="0" baseline="0" noProof="0" dirty="0">
                <a:ln>
                  <a:noFill/>
                </a:ln>
                <a:solidFill>
                  <a:sysClr val="windowText" lastClr="000000"/>
                </a:solidFill>
                <a:effectLst/>
                <a:uLnTx/>
                <a:uFillTx/>
                <a:latin typeface="Palatino Linotype"/>
                <a:ea typeface="+mj-ea"/>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rPr>
              <a:t>Conversions</a:t>
            </a:r>
          </a:p>
        </p:txBody>
      </p:sp>
      <p:sp>
        <p:nvSpPr>
          <p:cNvPr id="10" name="object 3">
            <a:extLst>
              <a:ext uri="{FF2B5EF4-FFF2-40B4-BE49-F238E27FC236}">
                <a16:creationId xmlns:a16="http://schemas.microsoft.com/office/drawing/2014/main" id="{70AF8238-480C-5831-4DD6-908B6CEB63ED}"/>
              </a:ext>
            </a:extLst>
          </p:cNvPr>
          <p:cNvSpPr/>
          <p:nvPr/>
        </p:nvSpPr>
        <p:spPr>
          <a:xfrm>
            <a:off x="4226305" y="3186938"/>
            <a:ext cx="525780" cy="187960"/>
          </a:xfrm>
          <a:custGeom>
            <a:avLst/>
            <a:gdLst/>
            <a:ahLst/>
            <a:cxnLst/>
            <a:rect l="l" t="t" r="r" b="b"/>
            <a:pathLst>
              <a:path w="525779" h="187960">
                <a:moveTo>
                  <a:pt x="465709" y="0"/>
                </a:moveTo>
                <a:lnTo>
                  <a:pt x="463042" y="7620"/>
                </a:lnTo>
                <a:lnTo>
                  <a:pt x="473900" y="12334"/>
                </a:lnTo>
                <a:lnTo>
                  <a:pt x="483235" y="18859"/>
                </a:lnTo>
                <a:lnTo>
                  <a:pt x="505618" y="62293"/>
                </a:lnTo>
                <a:lnTo>
                  <a:pt x="508381" y="92963"/>
                </a:lnTo>
                <a:lnTo>
                  <a:pt x="507690" y="109517"/>
                </a:lnTo>
                <a:lnTo>
                  <a:pt x="497332" y="149987"/>
                </a:lnTo>
                <a:lnTo>
                  <a:pt x="463296" y="180086"/>
                </a:lnTo>
                <a:lnTo>
                  <a:pt x="465709" y="187706"/>
                </a:lnTo>
                <a:lnTo>
                  <a:pt x="501588" y="166417"/>
                </a:lnTo>
                <a:lnTo>
                  <a:pt x="521700" y="127111"/>
                </a:lnTo>
                <a:lnTo>
                  <a:pt x="525526" y="93852"/>
                </a:lnTo>
                <a:lnTo>
                  <a:pt x="524551" y="76684"/>
                </a:lnTo>
                <a:lnTo>
                  <a:pt x="510032" y="32892"/>
                </a:lnTo>
                <a:lnTo>
                  <a:pt x="479278" y="4907"/>
                </a:lnTo>
                <a:lnTo>
                  <a:pt x="465709" y="0"/>
                </a:lnTo>
                <a:close/>
              </a:path>
              <a:path w="525779" h="187960">
                <a:moveTo>
                  <a:pt x="59944" y="0"/>
                </a:moveTo>
                <a:lnTo>
                  <a:pt x="24118" y="21341"/>
                </a:lnTo>
                <a:lnTo>
                  <a:pt x="3889" y="60801"/>
                </a:lnTo>
                <a:lnTo>
                  <a:pt x="0" y="93852"/>
                </a:lnTo>
                <a:lnTo>
                  <a:pt x="974" y="111166"/>
                </a:lnTo>
                <a:lnTo>
                  <a:pt x="15494" y="154939"/>
                </a:lnTo>
                <a:lnTo>
                  <a:pt x="46301" y="182800"/>
                </a:lnTo>
                <a:lnTo>
                  <a:pt x="59944" y="187706"/>
                </a:lnTo>
                <a:lnTo>
                  <a:pt x="62230" y="180086"/>
                </a:lnTo>
                <a:lnTo>
                  <a:pt x="51538" y="175347"/>
                </a:lnTo>
                <a:lnTo>
                  <a:pt x="42322" y="168751"/>
                </a:lnTo>
                <a:lnTo>
                  <a:pt x="19923" y="124523"/>
                </a:lnTo>
                <a:lnTo>
                  <a:pt x="17145" y="92963"/>
                </a:lnTo>
                <a:lnTo>
                  <a:pt x="17837" y="76914"/>
                </a:lnTo>
                <a:lnTo>
                  <a:pt x="28321" y="37337"/>
                </a:lnTo>
                <a:lnTo>
                  <a:pt x="62611" y="7620"/>
                </a:lnTo>
                <a:lnTo>
                  <a:pt x="59944" y="0"/>
                </a:lnTo>
                <a:close/>
              </a:path>
            </a:pathLst>
          </a:custGeom>
          <a:solidFill>
            <a:srgbClr val="0431FF"/>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1" name="object 4">
            <a:extLst>
              <a:ext uri="{FF2B5EF4-FFF2-40B4-BE49-F238E27FC236}">
                <a16:creationId xmlns:a16="http://schemas.microsoft.com/office/drawing/2014/main" id="{26D24FB9-150E-B9CE-6046-F21716F2D9E3}"/>
              </a:ext>
            </a:extLst>
          </p:cNvPr>
          <p:cNvSpPr/>
          <p:nvPr/>
        </p:nvSpPr>
        <p:spPr>
          <a:xfrm>
            <a:off x="2219198" y="5091938"/>
            <a:ext cx="3841750" cy="187960"/>
          </a:xfrm>
          <a:custGeom>
            <a:avLst/>
            <a:gdLst/>
            <a:ahLst/>
            <a:cxnLst/>
            <a:rect l="l" t="t" r="r" b="b"/>
            <a:pathLst>
              <a:path w="3841750" h="187960">
                <a:moveTo>
                  <a:pt x="3781932" y="0"/>
                </a:moveTo>
                <a:lnTo>
                  <a:pt x="3779266" y="7619"/>
                </a:lnTo>
                <a:lnTo>
                  <a:pt x="3790124" y="12334"/>
                </a:lnTo>
                <a:lnTo>
                  <a:pt x="3799458" y="18859"/>
                </a:lnTo>
                <a:lnTo>
                  <a:pt x="3821842" y="62293"/>
                </a:lnTo>
                <a:lnTo>
                  <a:pt x="3824604" y="92963"/>
                </a:lnTo>
                <a:lnTo>
                  <a:pt x="3823914" y="109517"/>
                </a:lnTo>
                <a:lnTo>
                  <a:pt x="3813555" y="149987"/>
                </a:lnTo>
                <a:lnTo>
                  <a:pt x="3779519" y="180086"/>
                </a:lnTo>
                <a:lnTo>
                  <a:pt x="3781932" y="187706"/>
                </a:lnTo>
                <a:lnTo>
                  <a:pt x="3817812" y="166417"/>
                </a:lnTo>
                <a:lnTo>
                  <a:pt x="3837924" y="127111"/>
                </a:lnTo>
                <a:lnTo>
                  <a:pt x="3841750" y="93853"/>
                </a:lnTo>
                <a:lnTo>
                  <a:pt x="3840775" y="76684"/>
                </a:lnTo>
                <a:lnTo>
                  <a:pt x="3826255" y="32893"/>
                </a:lnTo>
                <a:lnTo>
                  <a:pt x="3795502" y="4907"/>
                </a:lnTo>
                <a:lnTo>
                  <a:pt x="3781932" y="0"/>
                </a:lnTo>
                <a:close/>
              </a:path>
              <a:path w="3841750" h="187960">
                <a:moveTo>
                  <a:pt x="59943" y="0"/>
                </a:moveTo>
                <a:lnTo>
                  <a:pt x="24118" y="21341"/>
                </a:lnTo>
                <a:lnTo>
                  <a:pt x="3889" y="60801"/>
                </a:lnTo>
                <a:lnTo>
                  <a:pt x="0" y="93853"/>
                </a:lnTo>
                <a:lnTo>
                  <a:pt x="974" y="111166"/>
                </a:lnTo>
                <a:lnTo>
                  <a:pt x="15493" y="154940"/>
                </a:lnTo>
                <a:lnTo>
                  <a:pt x="46301" y="182800"/>
                </a:lnTo>
                <a:lnTo>
                  <a:pt x="59943" y="187706"/>
                </a:lnTo>
                <a:lnTo>
                  <a:pt x="62229" y="180086"/>
                </a:lnTo>
                <a:lnTo>
                  <a:pt x="51538" y="175347"/>
                </a:lnTo>
                <a:lnTo>
                  <a:pt x="42322" y="168751"/>
                </a:lnTo>
                <a:lnTo>
                  <a:pt x="19923" y="124523"/>
                </a:lnTo>
                <a:lnTo>
                  <a:pt x="17144" y="92963"/>
                </a:lnTo>
                <a:lnTo>
                  <a:pt x="17837" y="76914"/>
                </a:lnTo>
                <a:lnTo>
                  <a:pt x="28320" y="37337"/>
                </a:lnTo>
                <a:lnTo>
                  <a:pt x="62610" y="7619"/>
                </a:lnTo>
                <a:lnTo>
                  <a:pt x="59943"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12" name="object 5">
            <a:extLst>
              <a:ext uri="{FF2B5EF4-FFF2-40B4-BE49-F238E27FC236}">
                <a16:creationId xmlns:a16="http://schemas.microsoft.com/office/drawing/2014/main" id="{A0E28EB6-61C9-08E6-2A0B-0ACAC934AF1D}"/>
              </a:ext>
            </a:extLst>
          </p:cNvPr>
          <p:cNvSpPr txBox="1"/>
          <p:nvPr/>
        </p:nvSpPr>
        <p:spPr>
          <a:xfrm>
            <a:off x="631342" y="1486036"/>
            <a:ext cx="7771130" cy="4597156"/>
          </a:xfrm>
          <a:prstGeom prst="rect">
            <a:avLst/>
          </a:prstGeom>
        </p:spPr>
        <p:txBody>
          <a:bodyPr vert="horz" wrap="square" lIns="0" tIns="180340" rIns="0" bIns="0" rtlCol="0">
            <a:spAutoFit/>
          </a:bodyPr>
          <a:lstStyle/>
          <a:p>
            <a:pPr marL="318770" indent="-230504" rtl="0">
              <a:spcBef>
                <a:spcPts val="1420"/>
              </a:spcBef>
              <a:buFont typeface="Arial MT"/>
              <a:buChar char="•"/>
              <a:tabLst>
                <a:tab pos="318770" algn="l"/>
                <a:tab pos="319405" algn="l"/>
              </a:tabLst>
            </a:pPr>
            <a:r>
              <a:rPr sz="2000" kern="1200" spc="-5" dirty="0">
                <a:solidFill>
                  <a:prstClr val="black"/>
                </a:solidFill>
                <a:latin typeface="Palatino Linotype"/>
                <a:cs typeface="Palatino Linotype"/>
              </a:rPr>
              <a:t>Consider </a:t>
            </a:r>
            <a:r>
              <a:rPr sz="2000" kern="1200" dirty="0">
                <a:solidFill>
                  <a:prstClr val="black"/>
                </a:solidFill>
                <a:latin typeface="Palatino Linotype"/>
                <a:cs typeface="Palatino Linotype"/>
              </a:rPr>
              <a:t>an</a:t>
            </a:r>
            <a:r>
              <a:rPr sz="2000" kern="1200" spc="-25" dirty="0">
                <a:solidFill>
                  <a:prstClr val="black"/>
                </a:solidFill>
                <a:latin typeface="Palatino Linotype"/>
                <a:cs typeface="Palatino Linotype"/>
              </a:rPr>
              <a:t> </a:t>
            </a:r>
            <a:r>
              <a:rPr sz="2000" kern="1200" dirty="0">
                <a:solidFill>
                  <a:prstClr val="black"/>
                </a:solidFill>
                <a:latin typeface="Palatino Linotype"/>
                <a:cs typeface="Palatino Linotype"/>
              </a:rPr>
              <a:t>expression</a:t>
            </a:r>
            <a:r>
              <a:rPr sz="2000" kern="1200" spc="5" dirty="0">
                <a:solidFill>
                  <a:prstClr val="black"/>
                </a:solidFill>
                <a:latin typeface="Palatino Linotype"/>
                <a:cs typeface="Palatino Linotype"/>
              </a:rPr>
              <a:t> </a:t>
            </a:r>
            <a:r>
              <a:rPr sz="2000" kern="1200" dirty="0">
                <a:solidFill>
                  <a:srgbClr val="0431FF"/>
                </a:solidFill>
                <a:latin typeface="Cambria Math"/>
                <a:cs typeface="Cambria Math"/>
              </a:rPr>
              <a:t>𝑥</a:t>
            </a:r>
            <a:r>
              <a:rPr sz="2000" kern="1200" spc="495" dirty="0">
                <a:solidFill>
                  <a:srgbClr val="0431FF"/>
                </a:solidFill>
                <a:latin typeface="Cambria Math"/>
                <a:cs typeface="Cambria Math"/>
              </a:rPr>
              <a:t> </a:t>
            </a:r>
            <a:r>
              <a:rPr sz="2000" kern="1200" dirty="0">
                <a:solidFill>
                  <a:srgbClr val="0431FF"/>
                </a:solidFill>
                <a:latin typeface="Cambria Math"/>
                <a:cs typeface="Cambria Math"/>
              </a:rPr>
              <a:t>∗</a:t>
            </a:r>
            <a:r>
              <a:rPr sz="2000" kern="1200" spc="434" dirty="0">
                <a:solidFill>
                  <a:srgbClr val="0431FF"/>
                </a:solidFill>
                <a:latin typeface="Cambria Math"/>
                <a:cs typeface="Cambria Math"/>
              </a:rPr>
              <a:t> </a:t>
            </a:r>
            <a:r>
              <a:rPr sz="2000" kern="1200" spc="30" dirty="0">
                <a:solidFill>
                  <a:srgbClr val="0431FF"/>
                </a:solidFill>
                <a:latin typeface="Cambria Math"/>
                <a:cs typeface="Cambria Math"/>
              </a:rPr>
              <a:t>𝑖</a:t>
            </a:r>
            <a:r>
              <a:rPr sz="2000" kern="1200" spc="30"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where</a:t>
            </a:r>
            <a:r>
              <a:rPr sz="2000" kern="1200" spc="-10" dirty="0">
                <a:solidFill>
                  <a:prstClr val="black"/>
                </a:solidFill>
                <a:latin typeface="Palatino Linotype"/>
                <a:cs typeface="Palatino Linotype"/>
              </a:rPr>
              <a:t> </a:t>
            </a:r>
            <a:r>
              <a:rPr sz="2000" kern="1200" dirty="0">
                <a:solidFill>
                  <a:srgbClr val="0431FF"/>
                </a:solidFill>
                <a:latin typeface="Cambria Math"/>
                <a:cs typeface="Cambria Math"/>
              </a:rPr>
              <a:t>𝑥</a:t>
            </a:r>
            <a:r>
              <a:rPr sz="2000" kern="1200" spc="125" dirty="0">
                <a:solidFill>
                  <a:srgbClr val="0431FF"/>
                </a:solidFill>
                <a:latin typeface="Cambria Math"/>
                <a:cs typeface="Cambria Math"/>
              </a:rPr>
              <a:t> </a:t>
            </a:r>
            <a:r>
              <a:rPr sz="2000" kern="1200" dirty="0">
                <a:solidFill>
                  <a:prstClr val="black"/>
                </a:solidFill>
                <a:latin typeface="Palatino Linotype"/>
                <a:cs typeface="Palatino Linotype"/>
              </a:rPr>
              <a:t>is</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a float</a:t>
            </a:r>
            <a:r>
              <a:rPr sz="2000" kern="1200" spc="-25" dirty="0">
                <a:solidFill>
                  <a:prstClr val="black"/>
                </a:solidFill>
                <a:latin typeface="Palatino Linotype"/>
                <a:cs typeface="Palatino Linotype"/>
              </a:rPr>
              <a:t> </a:t>
            </a:r>
            <a:r>
              <a:rPr sz="2000" kern="1200" dirty="0">
                <a:solidFill>
                  <a:prstClr val="black"/>
                </a:solidFill>
                <a:latin typeface="Palatino Linotype"/>
                <a:cs typeface="Palatino Linotype"/>
              </a:rPr>
              <a:t>and</a:t>
            </a:r>
            <a:r>
              <a:rPr sz="2000" kern="1200" spc="-5" dirty="0">
                <a:solidFill>
                  <a:prstClr val="black"/>
                </a:solidFill>
                <a:latin typeface="Palatino Linotype"/>
                <a:cs typeface="Palatino Linotype"/>
              </a:rPr>
              <a:t> </a:t>
            </a:r>
            <a:r>
              <a:rPr sz="2000" kern="1200" dirty="0">
                <a:solidFill>
                  <a:srgbClr val="0431FF"/>
                </a:solidFill>
                <a:latin typeface="Cambria Math"/>
                <a:cs typeface="Cambria Math"/>
              </a:rPr>
              <a:t>𝑖</a:t>
            </a:r>
            <a:r>
              <a:rPr sz="2000" kern="1200" spc="120" dirty="0">
                <a:solidFill>
                  <a:srgbClr val="0431FF"/>
                </a:solidFill>
                <a:latin typeface="Cambria Math"/>
                <a:cs typeface="Cambria Math"/>
              </a:rPr>
              <a:t> </a:t>
            </a:r>
            <a:r>
              <a:rPr sz="2000" kern="1200" dirty="0">
                <a:solidFill>
                  <a:prstClr val="black"/>
                </a:solidFill>
                <a:latin typeface="Palatino Linotype"/>
                <a:cs typeface="Palatino Linotype"/>
              </a:rPr>
              <a:t>is</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an integer</a:t>
            </a:r>
          </a:p>
          <a:p>
            <a:pPr marL="774065" marR="235585" lvl="1" indent="-228600" rtl="0">
              <a:lnSpc>
                <a:spcPct val="120000"/>
              </a:lnSpc>
              <a:spcBef>
                <a:spcPts val="665"/>
              </a:spcBef>
              <a:buFont typeface="Wingdings"/>
              <a:buChar char=""/>
              <a:tabLst>
                <a:tab pos="774065" algn="l"/>
                <a:tab pos="774700" algn="l"/>
              </a:tabLst>
            </a:pPr>
            <a:r>
              <a:rPr sz="1600" kern="1200" spc="-5" dirty="0">
                <a:solidFill>
                  <a:prstClr val="black"/>
                </a:solidFill>
                <a:latin typeface="Palatino Linotype"/>
                <a:cs typeface="Palatino Linotype"/>
              </a:rPr>
              <a:t>The</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representation</a:t>
            </a:r>
            <a:r>
              <a:rPr sz="1600" kern="1200" spc="30" dirty="0">
                <a:solidFill>
                  <a:prstClr val="black"/>
                </a:solidFill>
                <a:latin typeface="Palatino Linotype"/>
                <a:cs typeface="Palatino Linotype"/>
              </a:rPr>
              <a:t> </a:t>
            </a:r>
            <a:r>
              <a:rPr sz="1600" kern="1200" spc="-10" dirty="0">
                <a:solidFill>
                  <a:prstClr val="black"/>
                </a:solidFill>
                <a:latin typeface="Palatino Linotype"/>
                <a:cs typeface="Palatino Linotype"/>
              </a:rPr>
              <a:t>(the</a:t>
            </a:r>
            <a:r>
              <a:rPr sz="1600" kern="1200" spc="30" dirty="0">
                <a:solidFill>
                  <a:prstClr val="black"/>
                </a:solidFill>
                <a:latin typeface="Palatino Linotype"/>
                <a:cs typeface="Palatino Linotype"/>
              </a:rPr>
              <a:t> </a:t>
            </a:r>
            <a:r>
              <a:rPr sz="1600" kern="1200" spc="-20" dirty="0">
                <a:solidFill>
                  <a:prstClr val="black"/>
                </a:solidFill>
                <a:latin typeface="Palatino Linotype"/>
                <a:cs typeface="Palatino Linotype"/>
              </a:rPr>
              <a:t>way</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of</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organizing</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0/1</a:t>
            </a:r>
            <a:r>
              <a:rPr sz="1600" kern="1200" spc="5" dirty="0">
                <a:solidFill>
                  <a:prstClr val="black"/>
                </a:solidFill>
                <a:latin typeface="Palatino Linotype"/>
                <a:cs typeface="Palatino Linotype"/>
              </a:rPr>
              <a:t> </a:t>
            </a:r>
            <a:r>
              <a:rPr sz="1600" kern="1200" spc="-10" dirty="0">
                <a:solidFill>
                  <a:prstClr val="black"/>
                </a:solidFill>
                <a:latin typeface="Palatino Linotype"/>
                <a:cs typeface="Palatino Linotype"/>
              </a:rPr>
              <a:t>bits)</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of</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integers</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and</a:t>
            </a:r>
            <a:r>
              <a:rPr sz="1600" kern="1200" spc="25" dirty="0">
                <a:solidFill>
                  <a:prstClr val="black"/>
                </a:solidFill>
                <a:latin typeface="Palatino Linotype"/>
                <a:cs typeface="Palatino Linotype"/>
              </a:rPr>
              <a:t> </a:t>
            </a:r>
            <a:r>
              <a:rPr sz="1600" kern="1200" dirty="0">
                <a:solidFill>
                  <a:prstClr val="black"/>
                </a:solidFill>
                <a:latin typeface="Palatino Linotype"/>
                <a:cs typeface="Palatino Linotype"/>
              </a:rPr>
              <a:t>floating- </a:t>
            </a:r>
            <a:r>
              <a:rPr sz="1600" kern="1200" spc="-385" dirty="0">
                <a:solidFill>
                  <a:prstClr val="black"/>
                </a:solidFill>
                <a:latin typeface="Palatino Linotype"/>
                <a:cs typeface="Palatino Linotype"/>
              </a:rPr>
              <a:t> </a:t>
            </a:r>
            <a:r>
              <a:rPr sz="1600" kern="1200" spc="-5" dirty="0">
                <a:solidFill>
                  <a:prstClr val="black"/>
                </a:solidFill>
                <a:latin typeface="Palatino Linotype"/>
                <a:cs typeface="Palatino Linotype"/>
              </a:rPr>
              <a:t>point</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numbers</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is different</a:t>
            </a:r>
            <a:endParaRPr sz="1600" kern="1200" dirty="0">
              <a:solidFill>
                <a:prstClr val="black"/>
              </a:solidFill>
              <a:latin typeface="Palatino Linotype"/>
              <a:cs typeface="Palatino Linotype"/>
            </a:endParaRPr>
          </a:p>
          <a:p>
            <a:pPr marL="774065" lvl="1" indent="-228600" rtl="0">
              <a:spcBef>
                <a:spcPts val="985"/>
              </a:spcBef>
              <a:buFont typeface="Wingdings"/>
              <a:buChar char=""/>
              <a:tabLst>
                <a:tab pos="774065" algn="l"/>
                <a:tab pos="774700" algn="l"/>
              </a:tabLst>
            </a:pPr>
            <a:r>
              <a:rPr sz="1600" kern="1200" spc="-5" dirty="0">
                <a:solidFill>
                  <a:prstClr val="black"/>
                </a:solidFill>
                <a:latin typeface="Palatino Linotype"/>
                <a:cs typeface="Palatino Linotype"/>
              </a:rPr>
              <a:t>Different</a:t>
            </a:r>
            <a:r>
              <a:rPr sz="1600" kern="1200" spc="25" dirty="0">
                <a:solidFill>
                  <a:prstClr val="black"/>
                </a:solidFill>
                <a:latin typeface="Palatino Linotype"/>
                <a:cs typeface="Palatino Linotype"/>
              </a:rPr>
              <a:t> </a:t>
            </a:r>
            <a:r>
              <a:rPr sz="1600" kern="1200" spc="-5" dirty="0">
                <a:solidFill>
                  <a:prstClr val="black"/>
                </a:solidFill>
                <a:latin typeface="Palatino Linotype"/>
                <a:cs typeface="Palatino Linotype"/>
              </a:rPr>
              <a:t>machine</a:t>
            </a:r>
            <a:r>
              <a:rPr sz="1600" kern="1200" spc="25" dirty="0">
                <a:solidFill>
                  <a:prstClr val="black"/>
                </a:solidFill>
                <a:latin typeface="Palatino Linotype"/>
                <a:cs typeface="Palatino Linotype"/>
              </a:rPr>
              <a:t> </a:t>
            </a:r>
            <a:r>
              <a:rPr sz="1600" kern="1200" spc="-10" dirty="0">
                <a:solidFill>
                  <a:prstClr val="black"/>
                </a:solidFill>
                <a:latin typeface="Palatino Linotype"/>
                <a:cs typeface="Palatino Linotype"/>
              </a:rPr>
              <a:t>instructions</a:t>
            </a:r>
            <a:r>
              <a:rPr sz="1600" kern="1200" spc="45" dirty="0">
                <a:solidFill>
                  <a:prstClr val="black"/>
                </a:solidFill>
                <a:latin typeface="Palatino Linotype"/>
                <a:cs typeface="Palatino Linotype"/>
              </a:rPr>
              <a:t> </a:t>
            </a:r>
            <a:r>
              <a:rPr sz="1600" kern="1200" spc="-5" dirty="0">
                <a:solidFill>
                  <a:prstClr val="black"/>
                </a:solidFill>
                <a:latin typeface="Palatino Linotype"/>
                <a:cs typeface="Palatino Linotype"/>
              </a:rPr>
              <a:t>are</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used</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for</a:t>
            </a:r>
            <a:r>
              <a:rPr sz="1600" kern="1200" spc="20" dirty="0">
                <a:solidFill>
                  <a:prstClr val="black"/>
                </a:solidFill>
                <a:latin typeface="Palatino Linotype"/>
                <a:cs typeface="Palatino Linotype"/>
              </a:rPr>
              <a:t> </a:t>
            </a:r>
            <a:r>
              <a:rPr sz="1600" kern="1200" spc="-5" dirty="0">
                <a:solidFill>
                  <a:prstClr val="black"/>
                </a:solidFill>
                <a:latin typeface="Palatino Linotype"/>
                <a:cs typeface="Palatino Linotype"/>
              </a:rPr>
              <a:t>operations</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on</a:t>
            </a:r>
            <a:r>
              <a:rPr sz="1600" kern="1200" spc="25" dirty="0">
                <a:solidFill>
                  <a:prstClr val="black"/>
                </a:solidFill>
                <a:latin typeface="Palatino Linotype"/>
                <a:cs typeface="Palatino Linotype"/>
              </a:rPr>
              <a:t> </a:t>
            </a:r>
            <a:r>
              <a:rPr sz="1600" kern="1200" spc="-5" dirty="0">
                <a:solidFill>
                  <a:prstClr val="black"/>
                </a:solidFill>
                <a:latin typeface="Palatino Linotype"/>
                <a:cs typeface="Palatino Linotype"/>
              </a:rPr>
              <a:t>integers</a:t>
            </a:r>
            <a:r>
              <a:rPr sz="1600" kern="1200" dirty="0">
                <a:solidFill>
                  <a:prstClr val="black"/>
                </a:solidFill>
                <a:latin typeface="Palatino Linotype"/>
                <a:cs typeface="Palatino Linotype"/>
              </a:rPr>
              <a:t> an</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floats</a:t>
            </a:r>
            <a:endParaRPr sz="1600" kern="1200" dirty="0">
              <a:solidFill>
                <a:prstClr val="black"/>
              </a:solidFill>
              <a:latin typeface="Palatino Linotype"/>
              <a:cs typeface="Palatino Linotype"/>
            </a:endParaRPr>
          </a:p>
          <a:p>
            <a:pPr marL="774065" lvl="1" indent="-228600" rtl="0">
              <a:spcBef>
                <a:spcPts val="985"/>
              </a:spcBef>
              <a:buFont typeface="Wingdings"/>
              <a:buChar char=""/>
              <a:tabLst>
                <a:tab pos="774065" algn="l"/>
                <a:tab pos="774700" algn="l"/>
                <a:tab pos="3661410" algn="l"/>
                <a:tab pos="4184015" algn="l"/>
                <a:tab pos="4443095" algn="l"/>
              </a:tabLst>
            </a:pPr>
            <a:r>
              <a:rPr sz="1600" kern="1200" spc="-10" dirty="0">
                <a:solidFill>
                  <a:prstClr val="black"/>
                </a:solidFill>
                <a:latin typeface="Palatino Linotype"/>
                <a:cs typeface="Palatino Linotype"/>
              </a:rPr>
              <a:t>Convert</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integers</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to</a:t>
            </a:r>
            <a:r>
              <a:rPr sz="1600" kern="1200" spc="20" dirty="0">
                <a:solidFill>
                  <a:prstClr val="black"/>
                </a:solidFill>
                <a:latin typeface="Palatino Linotype"/>
                <a:cs typeface="Palatino Linotype"/>
              </a:rPr>
              <a:t> </a:t>
            </a:r>
            <a:r>
              <a:rPr sz="1600" kern="1200" spc="-5" dirty="0">
                <a:solidFill>
                  <a:prstClr val="black"/>
                </a:solidFill>
                <a:latin typeface="Palatino Linotype"/>
                <a:cs typeface="Palatino Linotype"/>
              </a:rPr>
              <a:t>floats:</a:t>
            </a:r>
            <a:r>
              <a:rPr sz="1600" kern="1200" spc="35" dirty="0">
                <a:solidFill>
                  <a:prstClr val="black"/>
                </a:solidFill>
                <a:latin typeface="Palatino Linotype"/>
                <a:cs typeface="Palatino Linotype"/>
              </a:rPr>
              <a:t> </a:t>
            </a:r>
            <a:r>
              <a:rPr sz="1600" kern="1200" spc="25" dirty="0">
                <a:solidFill>
                  <a:srgbClr val="0431FF"/>
                </a:solidFill>
                <a:latin typeface="Cambria Math"/>
                <a:cs typeface="Cambria Math"/>
              </a:rPr>
              <a:t>t</a:t>
            </a:r>
            <a:r>
              <a:rPr sz="1725" kern="1200" spc="37" baseline="-14492" dirty="0">
                <a:solidFill>
                  <a:srgbClr val="0431FF"/>
                </a:solidFill>
                <a:latin typeface="Cambria Math"/>
                <a:cs typeface="Cambria Math"/>
              </a:rPr>
              <a:t>1</a:t>
            </a:r>
            <a:r>
              <a:rPr sz="1725" kern="1200" spc="412" baseline="-14492" dirty="0">
                <a:solidFill>
                  <a:srgbClr val="0431FF"/>
                </a:solidFill>
                <a:latin typeface="Cambria Math"/>
                <a:cs typeface="Cambria Math"/>
              </a:rPr>
              <a:t> </a:t>
            </a:r>
            <a:r>
              <a:rPr sz="1600" kern="1200" spc="-5" dirty="0">
                <a:solidFill>
                  <a:srgbClr val="0431FF"/>
                </a:solidFill>
                <a:latin typeface="Cambria Math"/>
                <a:cs typeface="Cambria Math"/>
              </a:rPr>
              <a:t>=	</a:t>
            </a:r>
            <a:r>
              <a:rPr sz="1600" kern="1200" dirty="0">
                <a:solidFill>
                  <a:srgbClr val="0431FF"/>
                </a:solidFill>
                <a:latin typeface="Cambria Math"/>
                <a:cs typeface="Cambria Math"/>
              </a:rPr>
              <a:t>float	</a:t>
            </a:r>
            <a:r>
              <a:rPr sz="1600" kern="1200" spc="-5" dirty="0">
                <a:solidFill>
                  <a:srgbClr val="0431FF"/>
                </a:solidFill>
                <a:latin typeface="Cambria Math"/>
                <a:cs typeface="Cambria Math"/>
              </a:rPr>
              <a:t>i	</a:t>
            </a:r>
            <a:r>
              <a:rPr sz="1600" kern="1200" spc="45" dirty="0">
                <a:solidFill>
                  <a:srgbClr val="0431FF"/>
                </a:solidFill>
                <a:latin typeface="Cambria Math"/>
                <a:cs typeface="Cambria Math"/>
              </a:rPr>
              <a:t>t</a:t>
            </a:r>
            <a:r>
              <a:rPr sz="1725" kern="1200" spc="67" baseline="-14492" dirty="0">
                <a:solidFill>
                  <a:srgbClr val="0431FF"/>
                </a:solidFill>
                <a:latin typeface="Cambria Math"/>
                <a:cs typeface="Cambria Math"/>
              </a:rPr>
              <a:t>2</a:t>
            </a:r>
            <a:r>
              <a:rPr sz="1725" kern="1200" spc="359" baseline="-14492" dirty="0">
                <a:solidFill>
                  <a:srgbClr val="0431FF"/>
                </a:solidFill>
                <a:latin typeface="Cambria Math"/>
                <a:cs typeface="Cambria Math"/>
              </a:rPr>
              <a:t> </a:t>
            </a:r>
            <a:r>
              <a:rPr sz="1600" kern="1200" spc="-5" dirty="0">
                <a:solidFill>
                  <a:srgbClr val="0431FF"/>
                </a:solidFill>
                <a:latin typeface="Cambria Math"/>
                <a:cs typeface="Cambria Math"/>
              </a:rPr>
              <a:t>=</a:t>
            </a:r>
            <a:r>
              <a:rPr sz="1600" kern="1200" spc="75" dirty="0">
                <a:solidFill>
                  <a:srgbClr val="0431FF"/>
                </a:solidFill>
                <a:latin typeface="Cambria Math"/>
                <a:cs typeface="Cambria Math"/>
              </a:rPr>
              <a:t> </a:t>
            </a:r>
            <a:r>
              <a:rPr sz="1600" kern="1200" spc="-5" dirty="0">
                <a:solidFill>
                  <a:srgbClr val="0431FF"/>
                </a:solidFill>
                <a:latin typeface="Cambria Math"/>
                <a:cs typeface="Cambria Math"/>
              </a:rPr>
              <a:t>x</a:t>
            </a:r>
            <a:r>
              <a:rPr lang="en-US" altLang="zh-CN" sz="1600" kern="1200" spc="-5" dirty="0">
                <a:solidFill>
                  <a:srgbClr val="0431FF"/>
                </a:solidFill>
                <a:latin typeface="Cambria Math"/>
                <a:cs typeface="Cambria Math"/>
              </a:rPr>
              <a:t> </a:t>
            </a:r>
            <a:r>
              <a:rPr sz="1600" kern="1200" spc="-20" dirty="0">
                <a:solidFill>
                  <a:srgbClr val="0431FF"/>
                </a:solidFill>
                <a:latin typeface="Cambria Math"/>
                <a:cs typeface="Cambria Math"/>
              </a:rPr>
              <a:t> </a:t>
            </a:r>
            <a:r>
              <a:rPr sz="1600" kern="1200" dirty="0">
                <a:solidFill>
                  <a:srgbClr val="0431FF"/>
                </a:solidFill>
                <a:latin typeface="Cambria Math"/>
                <a:cs typeface="Cambria Math"/>
              </a:rPr>
              <a:t>fmul</a:t>
            </a:r>
            <a:r>
              <a:rPr sz="1600" kern="1200" spc="-5" dirty="0">
                <a:solidFill>
                  <a:srgbClr val="0431FF"/>
                </a:solidFill>
                <a:latin typeface="Cambria Math"/>
                <a:cs typeface="Cambria Math"/>
              </a:rPr>
              <a:t> </a:t>
            </a:r>
            <a:r>
              <a:rPr sz="1600" kern="1200" spc="25" dirty="0">
                <a:solidFill>
                  <a:srgbClr val="0431FF"/>
                </a:solidFill>
                <a:latin typeface="Cambria Math"/>
                <a:cs typeface="Cambria Math"/>
              </a:rPr>
              <a:t>t</a:t>
            </a:r>
            <a:r>
              <a:rPr sz="1725" kern="1200" spc="37" baseline="-14492" dirty="0">
                <a:solidFill>
                  <a:srgbClr val="0431FF"/>
                </a:solidFill>
                <a:latin typeface="Cambria Math"/>
                <a:cs typeface="Cambria Math"/>
              </a:rPr>
              <a:t>1</a:t>
            </a:r>
            <a:endParaRPr sz="1725" kern="1200" baseline="-14492" dirty="0">
              <a:solidFill>
                <a:prstClr val="black"/>
              </a:solidFill>
              <a:latin typeface="Cambria Math"/>
              <a:cs typeface="Cambria Math"/>
            </a:endParaRPr>
          </a:p>
          <a:p>
            <a:pPr lvl="1" rtl="0">
              <a:spcBef>
                <a:spcPts val="15"/>
              </a:spcBef>
              <a:buFont typeface="Wingdings"/>
              <a:buChar char=""/>
            </a:pPr>
            <a:endParaRPr sz="2900" kern="1200" dirty="0">
              <a:solidFill>
                <a:prstClr val="black"/>
              </a:solidFill>
              <a:latin typeface="Cambria Math"/>
              <a:cs typeface="Cambria Math"/>
            </a:endParaRPr>
          </a:p>
          <a:p>
            <a:pPr marL="318770" indent="-230504" rtl="0">
              <a:spcBef>
                <a:spcPts val="5"/>
              </a:spcBef>
              <a:buClr>
                <a:srgbClr val="000000"/>
              </a:buClr>
              <a:buFont typeface="Arial MT"/>
              <a:buChar char="•"/>
              <a:tabLst>
                <a:tab pos="318770" algn="l"/>
                <a:tab pos="319405" algn="l"/>
              </a:tabLst>
            </a:pPr>
            <a:r>
              <a:rPr sz="2000" kern="1200" spc="-40" dirty="0">
                <a:solidFill>
                  <a:srgbClr val="FF0000"/>
                </a:solidFill>
                <a:latin typeface="Palatino Linotype"/>
                <a:cs typeface="Palatino Linotype"/>
              </a:rPr>
              <a:t>Type</a:t>
            </a:r>
            <a:r>
              <a:rPr sz="2000" kern="1200" dirty="0">
                <a:solidFill>
                  <a:srgbClr val="FF0000"/>
                </a:solidFill>
                <a:latin typeface="Palatino Linotype"/>
                <a:cs typeface="Palatino Linotype"/>
              </a:rPr>
              <a:t> </a:t>
            </a:r>
            <a:r>
              <a:rPr sz="2000" kern="1200" spc="-5" dirty="0">
                <a:solidFill>
                  <a:srgbClr val="FF0000"/>
                </a:solidFill>
                <a:latin typeface="Palatino Linotype"/>
                <a:cs typeface="Palatino Linotype"/>
              </a:rPr>
              <a:t>conversion</a:t>
            </a:r>
            <a:r>
              <a:rPr sz="2000" kern="1200" spc="-20" dirty="0">
                <a:solidFill>
                  <a:srgbClr val="FF0000"/>
                </a:solidFill>
                <a:latin typeface="Palatino Linotype"/>
                <a:cs typeface="Palatino Linotype"/>
              </a:rPr>
              <a:t> </a:t>
            </a:r>
            <a:r>
              <a:rPr sz="2000" kern="1200" dirty="0">
                <a:solidFill>
                  <a:srgbClr val="FF0000"/>
                </a:solidFill>
                <a:latin typeface="Palatino Linotype"/>
                <a:cs typeface="Palatino Linotype"/>
              </a:rPr>
              <a:t>SDT</a:t>
            </a:r>
            <a:r>
              <a:rPr sz="2000" kern="1200" spc="10" dirty="0">
                <a:solidFill>
                  <a:srgbClr val="FF0000"/>
                </a:solidFill>
                <a:latin typeface="Palatino Linotype"/>
                <a:cs typeface="Palatino Linotype"/>
              </a:rPr>
              <a:t> </a:t>
            </a:r>
            <a:r>
              <a:rPr sz="2000" kern="1200" dirty="0">
                <a:solidFill>
                  <a:prstClr val="black"/>
                </a:solidFill>
                <a:latin typeface="Palatino Linotype"/>
                <a:cs typeface="Palatino Linotype"/>
              </a:rPr>
              <a:t>for</a:t>
            </a:r>
            <a:r>
              <a:rPr sz="2000" kern="1200" spc="-15" dirty="0">
                <a:solidFill>
                  <a:prstClr val="black"/>
                </a:solidFill>
                <a:latin typeface="Palatino Linotype"/>
                <a:cs typeface="Palatino Linotype"/>
              </a:rPr>
              <a:t> </a:t>
            </a:r>
            <a:r>
              <a:rPr sz="2000" kern="1200" dirty="0">
                <a:solidFill>
                  <a:prstClr val="black"/>
                </a:solidFill>
                <a:latin typeface="Palatino Linotype"/>
                <a:cs typeface="Palatino Linotype"/>
              </a:rPr>
              <a:t>a</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simple</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case</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(using</a:t>
            </a:r>
            <a:r>
              <a:rPr sz="2000" kern="1200" spc="-30" dirty="0">
                <a:solidFill>
                  <a:prstClr val="black"/>
                </a:solidFill>
                <a:latin typeface="Palatino Linotype"/>
                <a:cs typeface="Palatino Linotype"/>
              </a:rPr>
              <a:t> </a:t>
            </a:r>
            <a:r>
              <a:rPr sz="2000" kern="1200" spc="-5" dirty="0">
                <a:solidFill>
                  <a:prstClr val="black"/>
                </a:solidFill>
                <a:latin typeface="Palatino Linotype"/>
                <a:cs typeface="Palatino Linotype"/>
              </a:rPr>
              <a:t>type</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synthesis)</a:t>
            </a:r>
            <a:endParaRPr sz="2000" kern="1200" dirty="0">
              <a:solidFill>
                <a:prstClr val="black"/>
              </a:solidFill>
              <a:latin typeface="Palatino Linotype"/>
              <a:cs typeface="Palatino Linotype"/>
            </a:endParaRPr>
          </a:p>
          <a:p>
            <a:pPr marL="774065" lvl="1" indent="-228600" rtl="0">
              <a:spcBef>
                <a:spcPts val="1045"/>
              </a:spcBef>
              <a:buFont typeface="Wingdings"/>
              <a:buChar char=""/>
              <a:tabLst>
                <a:tab pos="774065" algn="l"/>
                <a:tab pos="774700" algn="l"/>
              </a:tabLst>
            </a:pPr>
            <a:r>
              <a:rPr sz="1600" kern="1200" spc="-5" dirty="0">
                <a:solidFill>
                  <a:prstClr val="black"/>
                </a:solidFill>
                <a:latin typeface="Cambria Math"/>
                <a:cs typeface="Cambria Math"/>
              </a:rPr>
              <a:t>𝐸</a:t>
            </a:r>
            <a:r>
              <a:rPr sz="1600" kern="1200" spc="140"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spc="65" dirty="0">
                <a:solidFill>
                  <a:prstClr val="black"/>
                </a:solidFill>
                <a:latin typeface="Cambria Math"/>
                <a:cs typeface="Cambria Math"/>
              </a:rPr>
              <a:t> </a:t>
            </a:r>
            <a:r>
              <a:rPr sz="1600" kern="1200" spc="-45" dirty="0">
                <a:solidFill>
                  <a:prstClr val="black"/>
                </a:solidFill>
                <a:latin typeface="Cambria Math"/>
                <a:cs typeface="Cambria Math"/>
              </a:rPr>
              <a:t>𝐸</a:t>
            </a:r>
            <a:r>
              <a:rPr sz="1725" kern="1200" spc="-67" baseline="-16908" dirty="0">
                <a:solidFill>
                  <a:prstClr val="black"/>
                </a:solidFill>
                <a:latin typeface="Cambria Math"/>
                <a:cs typeface="Cambria Math"/>
              </a:rPr>
              <a:t>1</a:t>
            </a:r>
            <a:r>
              <a:rPr sz="1725" kern="1200" spc="240" baseline="-16908"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spc="-15" dirty="0">
                <a:solidFill>
                  <a:prstClr val="black"/>
                </a:solidFill>
                <a:latin typeface="Cambria Math"/>
                <a:cs typeface="Cambria Math"/>
              </a:rPr>
              <a:t> </a:t>
            </a:r>
            <a:r>
              <a:rPr sz="1600" kern="1200" spc="-30" dirty="0">
                <a:solidFill>
                  <a:prstClr val="black"/>
                </a:solidFill>
                <a:latin typeface="Cambria Math"/>
                <a:cs typeface="Cambria Math"/>
              </a:rPr>
              <a:t>𝐸</a:t>
            </a:r>
            <a:r>
              <a:rPr sz="1725" kern="1200" spc="-44" baseline="-16908" dirty="0">
                <a:solidFill>
                  <a:prstClr val="black"/>
                </a:solidFill>
                <a:latin typeface="Cambria Math"/>
                <a:cs typeface="Cambria Math"/>
              </a:rPr>
              <a:t>2</a:t>
            </a:r>
            <a:endParaRPr sz="1725" kern="1200" baseline="-16908" dirty="0">
              <a:solidFill>
                <a:prstClr val="black"/>
              </a:solidFill>
              <a:latin typeface="Cambria Math"/>
              <a:cs typeface="Cambria Math"/>
            </a:endParaRPr>
          </a:p>
          <a:p>
            <a:pPr marR="775335" algn="r" rtl="0">
              <a:spcBef>
                <a:spcPts val="1420"/>
              </a:spcBef>
              <a:tabLst>
                <a:tab pos="433705" algn="l"/>
              </a:tabLst>
            </a:pPr>
            <a:r>
              <a:rPr sz="1600" kern="1200" spc="-5" dirty="0">
                <a:solidFill>
                  <a:prstClr val="black"/>
                </a:solidFill>
                <a:latin typeface="Cambria Math"/>
                <a:cs typeface="Cambria Math"/>
              </a:rPr>
              <a:t>{	𝐢𝐟(𝐸</a:t>
            </a:r>
            <a:r>
              <a:rPr sz="1575" kern="1200" spc="-7" baseline="-21164" dirty="0">
                <a:solidFill>
                  <a:prstClr val="black"/>
                </a:solidFill>
                <a:latin typeface="Cambria Math"/>
                <a:cs typeface="Cambria Math"/>
              </a:rPr>
              <a:t>1</a:t>
            </a:r>
            <a:r>
              <a:rPr sz="1600" kern="1200" spc="-5" dirty="0">
                <a:solidFill>
                  <a:prstClr val="black"/>
                </a:solidFill>
                <a:latin typeface="Cambria Math"/>
                <a:cs typeface="Cambria Math"/>
              </a:rPr>
              <a:t>.</a:t>
            </a:r>
            <a:r>
              <a:rPr sz="1600" kern="1200" spc="-95" dirty="0">
                <a:solidFill>
                  <a:prstClr val="black"/>
                </a:solidFill>
                <a:latin typeface="Cambria Math"/>
                <a:cs typeface="Cambria Math"/>
              </a:rPr>
              <a:t> </a:t>
            </a:r>
            <a:r>
              <a:rPr sz="1600" kern="1200" spc="-5" dirty="0">
                <a:solidFill>
                  <a:prstClr val="black"/>
                </a:solidFill>
                <a:latin typeface="Cambria Math"/>
                <a:cs typeface="Cambria Math"/>
              </a:rPr>
              <a:t>𝑡𝑦𝑝𝑒</a:t>
            </a:r>
            <a:r>
              <a:rPr sz="1600" kern="1200" spc="505"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spc="455" dirty="0">
                <a:solidFill>
                  <a:prstClr val="black"/>
                </a:solidFill>
                <a:latin typeface="Cambria Math"/>
                <a:cs typeface="Cambria Math"/>
              </a:rPr>
              <a:t> </a:t>
            </a:r>
            <a:r>
              <a:rPr sz="1600" kern="1200" spc="-5" dirty="0">
                <a:solidFill>
                  <a:prstClr val="black"/>
                </a:solidFill>
                <a:latin typeface="Cambria Math"/>
                <a:cs typeface="Cambria Math"/>
              </a:rPr>
              <a:t>𝑖𝑛𝑡𝑒𝑔𝑒𝑟</a:t>
            </a:r>
            <a:r>
              <a:rPr sz="1600" kern="1200" spc="50" dirty="0">
                <a:solidFill>
                  <a:prstClr val="black"/>
                </a:solidFill>
                <a:latin typeface="Cambria Math"/>
                <a:cs typeface="Cambria Math"/>
              </a:rPr>
              <a:t> </a:t>
            </a:r>
            <a:r>
              <a:rPr sz="1600" kern="1200" spc="-10" dirty="0">
                <a:solidFill>
                  <a:prstClr val="black"/>
                </a:solidFill>
                <a:latin typeface="Cambria Math"/>
                <a:cs typeface="Cambria Math"/>
              </a:rPr>
              <a:t>𝐚𝐧𝐝</a:t>
            </a:r>
            <a:r>
              <a:rPr sz="1600" kern="1200" dirty="0">
                <a:solidFill>
                  <a:prstClr val="black"/>
                </a:solidFill>
                <a:latin typeface="Cambria Math"/>
                <a:cs typeface="Cambria Math"/>
              </a:rPr>
              <a:t> </a:t>
            </a:r>
            <a:r>
              <a:rPr sz="1600" kern="1200" spc="-5" dirty="0">
                <a:solidFill>
                  <a:prstClr val="black"/>
                </a:solidFill>
                <a:latin typeface="Cambria Math"/>
                <a:cs typeface="Cambria Math"/>
              </a:rPr>
              <a:t>𝐸</a:t>
            </a:r>
            <a:r>
              <a:rPr sz="1575" kern="1200" spc="-7" baseline="-21164" dirty="0">
                <a:solidFill>
                  <a:prstClr val="black"/>
                </a:solidFill>
                <a:latin typeface="Cambria Math"/>
                <a:cs typeface="Cambria Math"/>
              </a:rPr>
              <a:t>2</a:t>
            </a:r>
            <a:r>
              <a:rPr sz="1600" kern="1200" spc="-5" dirty="0">
                <a:solidFill>
                  <a:prstClr val="black"/>
                </a:solidFill>
                <a:latin typeface="Cambria Math"/>
                <a:cs typeface="Cambria Math"/>
              </a:rPr>
              <a:t>.</a:t>
            </a:r>
            <a:r>
              <a:rPr sz="1600" kern="1200" spc="-75" dirty="0">
                <a:solidFill>
                  <a:prstClr val="black"/>
                </a:solidFill>
                <a:latin typeface="Cambria Math"/>
                <a:cs typeface="Cambria Math"/>
              </a:rPr>
              <a:t> </a:t>
            </a:r>
            <a:r>
              <a:rPr sz="1600" kern="1200" spc="-5" dirty="0">
                <a:solidFill>
                  <a:prstClr val="black"/>
                </a:solidFill>
                <a:latin typeface="Cambria Math"/>
                <a:cs typeface="Cambria Math"/>
              </a:rPr>
              <a:t>𝑡𝑦𝑝𝑒</a:t>
            </a:r>
            <a:r>
              <a:rPr sz="1600" kern="1200" spc="490"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spc="465" dirty="0">
                <a:solidFill>
                  <a:prstClr val="black"/>
                </a:solidFill>
                <a:latin typeface="Cambria Math"/>
                <a:cs typeface="Cambria Math"/>
              </a:rPr>
              <a:t> </a:t>
            </a:r>
            <a:r>
              <a:rPr sz="1600" kern="1200" dirty="0">
                <a:solidFill>
                  <a:prstClr val="black"/>
                </a:solidFill>
                <a:latin typeface="Cambria Math"/>
                <a:cs typeface="Cambria Math"/>
              </a:rPr>
              <a:t>𝑖𝑛𝑡𝑒𝑔𝑒𝑟)</a:t>
            </a:r>
            <a:r>
              <a:rPr sz="1600" kern="1200" spc="-5" dirty="0">
                <a:solidFill>
                  <a:prstClr val="black"/>
                </a:solidFill>
                <a:latin typeface="Cambria Math"/>
                <a:cs typeface="Cambria Math"/>
              </a:rPr>
              <a:t> </a:t>
            </a:r>
            <a:r>
              <a:rPr sz="1600" kern="1200" spc="25" dirty="0">
                <a:solidFill>
                  <a:prstClr val="black"/>
                </a:solidFill>
                <a:latin typeface="Cambria Math"/>
                <a:cs typeface="Cambria Math"/>
              </a:rPr>
              <a:t>𝐸.</a:t>
            </a:r>
            <a:r>
              <a:rPr sz="1600" kern="1200" spc="-75" dirty="0">
                <a:solidFill>
                  <a:prstClr val="black"/>
                </a:solidFill>
                <a:latin typeface="Cambria Math"/>
                <a:cs typeface="Cambria Math"/>
              </a:rPr>
              <a:t> </a:t>
            </a:r>
            <a:r>
              <a:rPr sz="1600" kern="1200" spc="-5" dirty="0">
                <a:solidFill>
                  <a:prstClr val="black"/>
                </a:solidFill>
                <a:latin typeface="Cambria Math"/>
                <a:cs typeface="Cambria Math"/>
              </a:rPr>
              <a:t>𝑡𝑦𝑝𝑒</a:t>
            </a:r>
            <a:r>
              <a:rPr sz="1600" kern="1200" spc="505"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spc="455" dirty="0">
                <a:solidFill>
                  <a:prstClr val="black"/>
                </a:solidFill>
                <a:latin typeface="Cambria Math"/>
                <a:cs typeface="Cambria Math"/>
              </a:rPr>
              <a:t> </a:t>
            </a:r>
            <a:r>
              <a:rPr sz="1600" kern="1200" dirty="0">
                <a:solidFill>
                  <a:prstClr val="black"/>
                </a:solidFill>
                <a:latin typeface="Cambria Math"/>
                <a:cs typeface="Cambria Math"/>
              </a:rPr>
              <a:t>𝑖𝑛𝑡𝑒𝑔𝑒𝑟;</a:t>
            </a:r>
          </a:p>
          <a:p>
            <a:pPr marR="755650" algn="r" rtl="0">
              <a:spcBef>
                <a:spcPts val="960"/>
              </a:spcBef>
              <a:tabLst>
                <a:tab pos="4504055" algn="l"/>
              </a:tabLst>
            </a:pPr>
            <a:r>
              <a:rPr sz="1600" kern="1200" spc="-5" dirty="0">
                <a:solidFill>
                  <a:prstClr val="black"/>
                </a:solidFill>
                <a:latin typeface="Cambria Math"/>
                <a:cs typeface="Cambria Math"/>
              </a:rPr>
              <a:t>𝐞𝐥𝐬𝐞</a:t>
            </a:r>
            <a:r>
              <a:rPr sz="1600" kern="1200" spc="5" dirty="0">
                <a:solidFill>
                  <a:prstClr val="black"/>
                </a:solidFill>
                <a:latin typeface="Cambria Math"/>
                <a:cs typeface="Cambria Math"/>
              </a:rPr>
              <a:t> </a:t>
            </a:r>
            <a:r>
              <a:rPr sz="1600" kern="1200" spc="-5" dirty="0">
                <a:solidFill>
                  <a:prstClr val="black"/>
                </a:solidFill>
                <a:latin typeface="Cambria Math"/>
                <a:cs typeface="Cambria Math"/>
              </a:rPr>
              <a:t>𝐢𝐟</a:t>
            </a:r>
            <a:r>
              <a:rPr sz="1600" kern="1200" dirty="0">
                <a:solidFill>
                  <a:prstClr val="black"/>
                </a:solidFill>
                <a:latin typeface="Cambria Math"/>
                <a:cs typeface="Cambria Math"/>
              </a:rPr>
              <a:t> </a:t>
            </a:r>
            <a:r>
              <a:rPr sz="1600" kern="1200" spc="-55" dirty="0">
                <a:solidFill>
                  <a:prstClr val="black"/>
                </a:solidFill>
                <a:latin typeface="Cambria Math"/>
                <a:cs typeface="Cambria Math"/>
              </a:rPr>
              <a:t> </a:t>
            </a:r>
            <a:r>
              <a:rPr sz="1600" kern="1200" spc="-10" dirty="0">
                <a:solidFill>
                  <a:prstClr val="black"/>
                </a:solidFill>
                <a:latin typeface="Cambria Math"/>
                <a:cs typeface="Cambria Math"/>
              </a:rPr>
              <a:t>𝐸</a:t>
            </a:r>
            <a:r>
              <a:rPr sz="1575" kern="1200" spc="22" baseline="-21164" dirty="0">
                <a:solidFill>
                  <a:prstClr val="black"/>
                </a:solidFill>
                <a:latin typeface="Cambria Math"/>
                <a:cs typeface="Cambria Math"/>
              </a:rPr>
              <a:t>1</a:t>
            </a:r>
            <a:r>
              <a:rPr sz="1600" kern="1200" spc="-5" dirty="0">
                <a:solidFill>
                  <a:prstClr val="black"/>
                </a:solidFill>
                <a:latin typeface="Cambria Math"/>
                <a:cs typeface="Cambria Math"/>
              </a:rPr>
              <a:t>.</a:t>
            </a:r>
            <a:r>
              <a:rPr sz="1600" kern="1200" spc="-95" dirty="0">
                <a:solidFill>
                  <a:prstClr val="black"/>
                </a:solidFill>
                <a:latin typeface="Cambria Math"/>
                <a:cs typeface="Cambria Math"/>
              </a:rPr>
              <a:t> </a:t>
            </a:r>
            <a:r>
              <a:rPr sz="1600" kern="1200" spc="-15" dirty="0">
                <a:solidFill>
                  <a:prstClr val="black"/>
                </a:solidFill>
                <a:latin typeface="Cambria Math"/>
                <a:cs typeface="Cambria Math"/>
              </a:rPr>
              <a:t>𝑡</a:t>
            </a:r>
            <a:r>
              <a:rPr sz="1600" kern="1200" dirty="0">
                <a:solidFill>
                  <a:prstClr val="black"/>
                </a:solidFill>
                <a:latin typeface="Cambria Math"/>
                <a:cs typeface="Cambria Math"/>
              </a:rPr>
              <a:t>𝑦</a:t>
            </a:r>
            <a:r>
              <a:rPr sz="1600" kern="1200" spc="-5" dirty="0">
                <a:solidFill>
                  <a:prstClr val="black"/>
                </a:solidFill>
                <a:latin typeface="Cambria Math"/>
                <a:cs typeface="Cambria Math"/>
              </a:rPr>
              <a:t>𝑝𝑒</a:t>
            </a:r>
            <a:r>
              <a:rPr sz="1600" kern="1200" dirty="0">
                <a:solidFill>
                  <a:prstClr val="black"/>
                </a:solidFill>
                <a:latin typeface="Cambria Math"/>
                <a:cs typeface="Cambria Math"/>
              </a:rPr>
              <a:t> </a:t>
            </a:r>
            <a:r>
              <a:rPr sz="1600" kern="1200" spc="145"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dirty="0">
                <a:solidFill>
                  <a:prstClr val="black"/>
                </a:solidFill>
                <a:latin typeface="Cambria Math"/>
                <a:cs typeface="Cambria Math"/>
              </a:rPr>
              <a:t> </a:t>
            </a:r>
            <a:r>
              <a:rPr sz="1600" kern="1200" spc="95" dirty="0">
                <a:solidFill>
                  <a:prstClr val="black"/>
                </a:solidFill>
                <a:latin typeface="Cambria Math"/>
                <a:cs typeface="Cambria Math"/>
              </a:rPr>
              <a:t> </a:t>
            </a:r>
            <a:r>
              <a:rPr sz="1600" kern="1200" spc="-5" dirty="0">
                <a:solidFill>
                  <a:prstClr val="black"/>
                </a:solidFill>
                <a:latin typeface="Cambria Math"/>
                <a:cs typeface="Cambria Math"/>
              </a:rPr>
              <a:t>𝑓𝑙𝑜𝑎𝑡</a:t>
            </a:r>
            <a:r>
              <a:rPr sz="1600" kern="1200" spc="35" dirty="0">
                <a:solidFill>
                  <a:prstClr val="black"/>
                </a:solidFill>
                <a:latin typeface="Cambria Math"/>
                <a:cs typeface="Cambria Math"/>
              </a:rPr>
              <a:t> </a:t>
            </a:r>
            <a:r>
              <a:rPr sz="1600" kern="1200" spc="-5" dirty="0">
                <a:solidFill>
                  <a:prstClr val="black"/>
                </a:solidFill>
                <a:latin typeface="Cambria Math"/>
                <a:cs typeface="Cambria Math"/>
              </a:rPr>
              <a:t>𝐚𝐧𝐝</a:t>
            </a:r>
            <a:r>
              <a:rPr sz="1600" kern="1200" spc="-15" dirty="0">
                <a:solidFill>
                  <a:prstClr val="black"/>
                </a:solidFill>
                <a:latin typeface="Cambria Math"/>
                <a:cs typeface="Cambria Math"/>
              </a:rPr>
              <a:t> </a:t>
            </a:r>
            <a:r>
              <a:rPr sz="1600" kern="1200" spc="-10" dirty="0">
                <a:solidFill>
                  <a:prstClr val="black"/>
                </a:solidFill>
                <a:latin typeface="Cambria Math"/>
                <a:cs typeface="Cambria Math"/>
              </a:rPr>
              <a:t>𝐸</a:t>
            </a:r>
            <a:r>
              <a:rPr sz="1575" kern="1200" spc="22" baseline="-21164" dirty="0">
                <a:solidFill>
                  <a:prstClr val="black"/>
                </a:solidFill>
                <a:latin typeface="Cambria Math"/>
                <a:cs typeface="Cambria Math"/>
              </a:rPr>
              <a:t>2</a:t>
            </a:r>
            <a:r>
              <a:rPr sz="1600" kern="1200" spc="-5" dirty="0">
                <a:solidFill>
                  <a:prstClr val="black"/>
                </a:solidFill>
                <a:latin typeface="Cambria Math"/>
                <a:cs typeface="Cambria Math"/>
              </a:rPr>
              <a:t>.</a:t>
            </a:r>
            <a:r>
              <a:rPr sz="1600" kern="1200" spc="-95" dirty="0">
                <a:solidFill>
                  <a:prstClr val="black"/>
                </a:solidFill>
                <a:latin typeface="Cambria Math"/>
                <a:cs typeface="Cambria Math"/>
              </a:rPr>
              <a:t> </a:t>
            </a:r>
            <a:r>
              <a:rPr sz="1600" kern="1200" spc="-15" dirty="0">
                <a:solidFill>
                  <a:prstClr val="black"/>
                </a:solidFill>
                <a:latin typeface="Cambria Math"/>
                <a:cs typeface="Cambria Math"/>
              </a:rPr>
              <a:t>𝑡</a:t>
            </a:r>
            <a:r>
              <a:rPr sz="1600" kern="1200" dirty="0">
                <a:solidFill>
                  <a:prstClr val="black"/>
                </a:solidFill>
                <a:latin typeface="Cambria Math"/>
                <a:cs typeface="Cambria Math"/>
              </a:rPr>
              <a:t>𝑦</a:t>
            </a:r>
            <a:r>
              <a:rPr sz="1600" kern="1200" spc="-5" dirty="0">
                <a:solidFill>
                  <a:prstClr val="black"/>
                </a:solidFill>
                <a:latin typeface="Cambria Math"/>
                <a:cs typeface="Cambria Math"/>
              </a:rPr>
              <a:t>𝑝𝑒</a:t>
            </a:r>
            <a:r>
              <a:rPr sz="1600" kern="1200" dirty="0">
                <a:solidFill>
                  <a:prstClr val="black"/>
                </a:solidFill>
                <a:latin typeface="Cambria Math"/>
                <a:cs typeface="Cambria Math"/>
              </a:rPr>
              <a:t> </a:t>
            </a:r>
            <a:r>
              <a:rPr sz="1600" kern="1200" spc="145"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dirty="0">
                <a:solidFill>
                  <a:prstClr val="black"/>
                </a:solidFill>
                <a:latin typeface="Cambria Math"/>
                <a:cs typeface="Cambria Math"/>
              </a:rPr>
              <a:t> </a:t>
            </a:r>
            <a:r>
              <a:rPr sz="1600" kern="1200" spc="95" dirty="0">
                <a:solidFill>
                  <a:prstClr val="black"/>
                </a:solidFill>
                <a:latin typeface="Cambria Math"/>
                <a:cs typeface="Cambria Math"/>
              </a:rPr>
              <a:t> </a:t>
            </a:r>
            <a:r>
              <a:rPr sz="1600" kern="1200" spc="-5" dirty="0">
                <a:solidFill>
                  <a:prstClr val="black"/>
                </a:solidFill>
                <a:latin typeface="Cambria Math"/>
                <a:cs typeface="Cambria Math"/>
              </a:rPr>
              <a:t>𝑖</a:t>
            </a:r>
            <a:r>
              <a:rPr sz="1600" kern="1200" spc="-15" dirty="0">
                <a:solidFill>
                  <a:prstClr val="black"/>
                </a:solidFill>
                <a:latin typeface="Cambria Math"/>
                <a:cs typeface="Cambria Math"/>
              </a:rPr>
              <a:t>𝑛</a:t>
            </a:r>
            <a:r>
              <a:rPr sz="1600" kern="1200" spc="-5" dirty="0">
                <a:solidFill>
                  <a:prstClr val="black"/>
                </a:solidFill>
                <a:latin typeface="Cambria Math"/>
                <a:cs typeface="Cambria Math"/>
              </a:rPr>
              <a:t>𝑡</a:t>
            </a:r>
            <a:r>
              <a:rPr sz="1600" kern="1200" spc="5" dirty="0">
                <a:solidFill>
                  <a:prstClr val="black"/>
                </a:solidFill>
                <a:latin typeface="Cambria Math"/>
                <a:cs typeface="Cambria Math"/>
              </a:rPr>
              <a:t>𝑒</a:t>
            </a:r>
            <a:r>
              <a:rPr sz="1600" kern="1200" spc="-5" dirty="0">
                <a:solidFill>
                  <a:prstClr val="black"/>
                </a:solidFill>
                <a:latin typeface="Cambria Math"/>
                <a:cs typeface="Cambria Math"/>
              </a:rPr>
              <a:t>𝑔</a:t>
            </a:r>
            <a:r>
              <a:rPr sz="1600" kern="1200" dirty="0">
                <a:solidFill>
                  <a:prstClr val="black"/>
                </a:solidFill>
                <a:latin typeface="Cambria Math"/>
                <a:cs typeface="Cambria Math"/>
              </a:rPr>
              <a:t>𝑒</a:t>
            </a:r>
            <a:r>
              <a:rPr sz="1600" kern="1200" spc="-5" dirty="0">
                <a:solidFill>
                  <a:prstClr val="black"/>
                </a:solidFill>
                <a:latin typeface="Cambria Math"/>
                <a:cs typeface="Cambria Math"/>
              </a:rPr>
              <a:t>𝑟</a:t>
            </a:r>
            <a:r>
              <a:rPr sz="1600" kern="1200" dirty="0">
                <a:solidFill>
                  <a:prstClr val="black"/>
                </a:solidFill>
                <a:latin typeface="Cambria Math"/>
                <a:cs typeface="Cambria Math"/>
              </a:rPr>
              <a:t>	</a:t>
            </a:r>
            <a:r>
              <a:rPr sz="1600" kern="1200" spc="50" dirty="0">
                <a:solidFill>
                  <a:prstClr val="black"/>
                </a:solidFill>
                <a:latin typeface="Cambria Math"/>
                <a:cs typeface="Cambria Math"/>
              </a:rPr>
              <a:t>𝐸</a:t>
            </a:r>
            <a:r>
              <a:rPr sz="1600" kern="1200" spc="-5" dirty="0">
                <a:solidFill>
                  <a:prstClr val="black"/>
                </a:solidFill>
                <a:latin typeface="Cambria Math"/>
                <a:cs typeface="Cambria Math"/>
              </a:rPr>
              <a:t>.</a:t>
            </a:r>
            <a:r>
              <a:rPr sz="1600" kern="1200" spc="-95" dirty="0">
                <a:solidFill>
                  <a:prstClr val="black"/>
                </a:solidFill>
                <a:latin typeface="Cambria Math"/>
                <a:cs typeface="Cambria Math"/>
              </a:rPr>
              <a:t> </a:t>
            </a:r>
            <a:r>
              <a:rPr sz="1600" kern="1200" spc="-15" dirty="0">
                <a:solidFill>
                  <a:prstClr val="black"/>
                </a:solidFill>
                <a:latin typeface="Cambria Math"/>
                <a:cs typeface="Cambria Math"/>
              </a:rPr>
              <a:t>𝑡</a:t>
            </a:r>
            <a:r>
              <a:rPr sz="1600" kern="1200" dirty="0">
                <a:solidFill>
                  <a:prstClr val="black"/>
                </a:solidFill>
                <a:latin typeface="Cambria Math"/>
                <a:cs typeface="Cambria Math"/>
              </a:rPr>
              <a:t>𝑦</a:t>
            </a:r>
            <a:r>
              <a:rPr sz="1600" kern="1200" spc="-5" dirty="0">
                <a:solidFill>
                  <a:prstClr val="black"/>
                </a:solidFill>
                <a:latin typeface="Cambria Math"/>
                <a:cs typeface="Cambria Math"/>
              </a:rPr>
              <a:t>𝑝𝑒</a:t>
            </a:r>
            <a:r>
              <a:rPr sz="1600" kern="1200" dirty="0">
                <a:solidFill>
                  <a:prstClr val="black"/>
                </a:solidFill>
                <a:latin typeface="Cambria Math"/>
                <a:cs typeface="Cambria Math"/>
              </a:rPr>
              <a:t> </a:t>
            </a:r>
            <a:r>
              <a:rPr sz="1600" kern="1200" spc="145"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dirty="0">
                <a:solidFill>
                  <a:prstClr val="black"/>
                </a:solidFill>
                <a:latin typeface="Cambria Math"/>
                <a:cs typeface="Cambria Math"/>
              </a:rPr>
              <a:t> </a:t>
            </a:r>
            <a:r>
              <a:rPr sz="1600" kern="1200" spc="95" dirty="0">
                <a:solidFill>
                  <a:prstClr val="black"/>
                </a:solidFill>
                <a:latin typeface="Cambria Math"/>
                <a:cs typeface="Cambria Math"/>
              </a:rPr>
              <a:t> </a:t>
            </a:r>
            <a:r>
              <a:rPr sz="1600" kern="1200" spc="-5" dirty="0">
                <a:solidFill>
                  <a:prstClr val="black"/>
                </a:solidFill>
                <a:latin typeface="Cambria Math"/>
                <a:cs typeface="Cambria Math"/>
              </a:rPr>
              <a:t>𝑓𝑙𝑜𝑎</a:t>
            </a:r>
            <a:r>
              <a:rPr sz="1600" kern="1200" spc="35" dirty="0">
                <a:solidFill>
                  <a:prstClr val="black"/>
                </a:solidFill>
                <a:latin typeface="Cambria Math"/>
                <a:cs typeface="Cambria Math"/>
              </a:rPr>
              <a:t>𝑡</a:t>
            </a:r>
            <a:r>
              <a:rPr sz="1600" kern="1200" spc="-5" dirty="0">
                <a:solidFill>
                  <a:prstClr val="black"/>
                </a:solidFill>
                <a:latin typeface="Cambria Math"/>
                <a:cs typeface="Cambria Math"/>
              </a:rPr>
              <a:t>;</a:t>
            </a:r>
            <a:endParaRPr sz="1600" kern="1200" dirty="0">
              <a:solidFill>
                <a:prstClr val="black"/>
              </a:solidFill>
              <a:latin typeface="Cambria Math"/>
              <a:cs typeface="Cambria Math"/>
            </a:endParaRPr>
          </a:p>
          <a:p>
            <a:pPr marL="1078865" rtl="0">
              <a:spcBef>
                <a:spcPts val="960"/>
              </a:spcBef>
            </a:pPr>
            <a:r>
              <a:rPr sz="1600" kern="1200" spc="-5" dirty="0">
                <a:solidFill>
                  <a:prstClr val="black"/>
                </a:solidFill>
                <a:latin typeface="Cambria Math"/>
                <a:cs typeface="Cambria Math"/>
              </a:rPr>
              <a:t>…</a:t>
            </a:r>
            <a:endParaRPr sz="1600" kern="1200" dirty="0">
              <a:solidFill>
                <a:prstClr val="black"/>
              </a:solidFill>
              <a:latin typeface="Cambria Math"/>
              <a:cs typeface="Cambria Math"/>
            </a:endParaRPr>
          </a:p>
          <a:p>
            <a:pPr marL="546100" rtl="0">
              <a:spcBef>
                <a:spcPts val="960"/>
              </a:spcBef>
            </a:pPr>
            <a:r>
              <a:rPr sz="1600" kern="1200" spc="-5" dirty="0">
                <a:solidFill>
                  <a:prstClr val="black"/>
                </a:solidFill>
                <a:latin typeface="Cambria Math"/>
                <a:cs typeface="Cambria Math"/>
              </a:rPr>
              <a:t>}</a:t>
            </a:r>
            <a:endParaRPr sz="1600" kern="1200" dirty="0">
              <a:solidFill>
                <a:prstClr val="black"/>
              </a:solidFill>
              <a:latin typeface="Cambria Math"/>
              <a:cs typeface="Cambria Math"/>
            </a:endParaRPr>
          </a:p>
        </p:txBody>
      </p:sp>
    </p:spTree>
    <p:extLst>
      <p:ext uri="{BB962C8B-B14F-4D97-AF65-F5344CB8AC3E}">
        <p14:creationId xmlns:p14="http://schemas.microsoft.com/office/powerpoint/2010/main" val="56620882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74</a:t>
            </a:fld>
            <a:endParaRPr lang="en-US"/>
          </a:p>
        </p:txBody>
      </p:sp>
      <p:sp>
        <p:nvSpPr>
          <p:cNvPr id="9" name="object 2">
            <a:extLst>
              <a:ext uri="{FF2B5EF4-FFF2-40B4-BE49-F238E27FC236}">
                <a16:creationId xmlns:a16="http://schemas.microsoft.com/office/drawing/2014/main" id="{0DDF4FB6-10D9-EE37-87B5-E2A0FE70B41A}"/>
              </a:ext>
            </a:extLst>
          </p:cNvPr>
          <p:cNvSpPr txBox="1">
            <a:spLocks/>
          </p:cNvSpPr>
          <p:nvPr/>
        </p:nvSpPr>
        <p:spPr>
          <a:xfrm>
            <a:off x="707542" y="520141"/>
            <a:ext cx="6716395"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15" normalizeH="0" baseline="0" noProof="0">
                <a:ln>
                  <a:noFill/>
                </a:ln>
                <a:solidFill>
                  <a:sysClr val="windowText" lastClr="000000"/>
                </a:solidFill>
                <a:effectLst/>
                <a:uLnTx/>
                <a:uFillTx/>
                <a:latin typeface="Palatino Linotype"/>
                <a:ea typeface="+mj-ea"/>
              </a:rPr>
              <a:t>Widening</a:t>
            </a:r>
            <a:r>
              <a:rPr kumimoji="0" lang="en-US" sz="4000" b="1" i="0" u="none" strike="noStrike" kern="0" cap="none" spc="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and</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Narrowing</a:t>
            </a:r>
            <a:r>
              <a:rPr kumimoji="0" lang="en-US" sz="4000" b="1" i="0" u="none" strike="noStrike" kern="0" cap="none" spc="2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(1)</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10" name="object 3">
            <a:extLst>
              <a:ext uri="{FF2B5EF4-FFF2-40B4-BE49-F238E27FC236}">
                <a16:creationId xmlns:a16="http://schemas.microsoft.com/office/drawing/2014/main" id="{025BEAE1-6921-FD2C-7B18-E8CBB6C318FD}"/>
              </a:ext>
            </a:extLst>
          </p:cNvPr>
          <p:cNvSpPr txBox="1"/>
          <p:nvPr/>
        </p:nvSpPr>
        <p:spPr>
          <a:xfrm>
            <a:off x="707542" y="1653667"/>
            <a:ext cx="7463155" cy="1290955"/>
          </a:xfrm>
          <a:prstGeom prst="rect">
            <a:avLst/>
          </a:prstGeom>
        </p:spPr>
        <p:txBody>
          <a:bodyPr vert="horz" wrap="square" lIns="0" tIns="13335" rIns="0" bIns="0" rtlCol="0">
            <a:spAutoFit/>
          </a:bodyPr>
          <a:lstStyle/>
          <a:p>
            <a:pPr marL="242570" indent="-230504" rtl="0">
              <a:spcBef>
                <a:spcPts val="105"/>
              </a:spcBef>
              <a:buFont typeface="Arial MT"/>
              <a:buChar char="•"/>
              <a:tabLst>
                <a:tab pos="242570" algn="l"/>
                <a:tab pos="243204" algn="l"/>
              </a:tabLst>
            </a:pPr>
            <a:r>
              <a:rPr sz="2000" kern="1200" spc="-40" dirty="0">
                <a:solidFill>
                  <a:prstClr val="black"/>
                </a:solidFill>
                <a:latin typeface="Palatino Linotype"/>
                <a:cs typeface="Palatino Linotype"/>
              </a:rPr>
              <a:t>Type</a:t>
            </a:r>
            <a:r>
              <a:rPr sz="2000" kern="1200" spc="-5" dirty="0">
                <a:solidFill>
                  <a:prstClr val="black"/>
                </a:solidFill>
                <a:latin typeface="Palatino Linotype"/>
                <a:cs typeface="Palatino Linotype"/>
              </a:rPr>
              <a:t> conversion</a:t>
            </a:r>
            <a:r>
              <a:rPr sz="2000" kern="1200" spc="-25" dirty="0">
                <a:solidFill>
                  <a:prstClr val="black"/>
                </a:solidFill>
                <a:latin typeface="Palatino Linotype"/>
                <a:cs typeface="Palatino Linotype"/>
              </a:rPr>
              <a:t> </a:t>
            </a:r>
            <a:r>
              <a:rPr sz="2000" kern="1200" dirty="0">
                <a:solidFill>
                  <a:prstClr val="black"/>
                </a:solidFill>
                <a:latin typeface="Palatino Linotype"/>
                <a:cs typeface="Palatino Linotype"/>
              </a:rPr>
              <a:t>rules</a:t>
            </a:r>
            <a:r>
              <a:rPr sz="2000" kern="1200" spc="-20" dirty="0">
                <a:solidFill>
                  <a:prstClr val="black"/>
                </a:solidFill>
                <a:latin typeface="Palatino Linotype"/>
                <a:cs typeface="Palatino Linotype"/>
              </a:rPr>
              <a:t> </a:t>
            </a:r>
            <a:r>
              <a:rPr sz="2000" kern="1200" spc="-15" dirty="0">
                <a:solidFill>
                  <a:prstClr val="black"/>
                </a:solidFill>
                <a:latin typeface="Palatino Linotype"/>
                <a:cs typeface="Palatino Linotype"/>
              </a:rPr>
              <a:t>vary</a:t>
            </a:r>
            <a:r>
              <a:rPr sz="2000" kern="1200" spc="-20" dirty="0">
                <a:solidFill>
                  <a:prstClr val="black"/>
                </a:solidFill>
                <a:latin typeface="Palatino Linotype"/>
                <a:cs typeface="Palatino Linotype"/>
              </a:rPr>
              <a:t> </a:t>
            </a:r>
            <a:r>
              <a:rPr sz="2000" kern="1200" dirty="0">
                <a:solidFill>
                  <a:prstClr val="black"/>
                </a:solidFill>
                <a:latin typeface="Palatino Linotype"/>
                <a:cs typeface="Palatino Linotype"/>
              </a:rPr>
              <a:t>from</a:t>
            </a:r>
            <a:r>
              <a:rPr sz="2000" kern="1200" spc="-25" dirty="0">
                <a:solidFill>
                  <a:prstClr val="black"/>
                </a:solidFill>
                <a:latin typeface="Palatino Linotype"/>
                <a:cs typeface="Palatino Linotype"/>
              </a:rPr>
              <a:t> </a:t>
            </a:r>
            <a:r>
              <a:rPr sz="2000" kern="1200" dirty="0">
                <a:solidFill>
                  <a:prstClr val="black"/>
                </a:solidFill>
                <a:latin typeface="Palatino Linotype"/>
                <a:cs typeface="Palatino Linotype"/>
              </a:rPr>
              <a:t>language</a:t>
            </a:r>
            <a:r>
              <a:rPr sz="2000" kern="1200" spc="-35" dirty="0">
                <a:solidFill>
                  <a:prstClr val="black"/>
                </a:solidFill>
                <a:latin typeface="Palatino Linotype"/>
                <a:cs typeface="Palatino Linotype"/>
              </a:rPr>
              <a:t> </a:t>
            </a:r>
            <a:r>
              <a:rPr sz="2000" kern="1200" spc="-5" dirty="0">
                <a:solidFill>
                  <a:prstClr val="black"/>
                </a:solidFill>
                <a:latin typeface="Palatino Linotype"/>
                <a:cs typeface="Palatino Linotype"/>
              </a:rPr>
              <a:t>to</a:t>
            </a:r>
            <a:r>
              <a:rPr sz="2000" kern="1200" spc="-20" dirty="0">
                <a:solidFill>
                  <a:prstClr val="black"/>
                </a:solidFill>
                <a:latin typeface="Palatino Linotype"/>
                <a:cs typeface="Palatino Linotype"/>
              </a:rPr>
              <a:t> </a:t>
            </a:r>
            <a:r>
              <a:rPr sz="2000" kern="1200" dirty="0">
                <a:solidFill>
                  <a:prstClr val="black"/>
                </a:solidFill>
                <a:latin typeface="Palatino Linotype"/>
                <a:cs typeface="Palatino Linotype"/>
              </a:rPr>
              <a:t>language</a:t>
            </a:r>
          </a:p>
          <a:p>
            <a:pPr rtl="0">
              <a:spcBef>
                <a:spcPts val="50"/>
              </a:spcBef>
              <a:buFont typeface="Arial MT"/>
              <a:buChar char="•"/>
            </a:pPr>
            <a:endParaRPr sz="1650" kern="1200" dirty="0">
              <a:solidFill>
                <a:prstClr val="black"/>
              </a:solidFill>
              <a:latin typeface="Palatino Linotype"/>
              <a:cs typeface="Palatino Linotype"/>
            </a:endParaRPr>
          </a:p>
          <a:p>
            <a:pPr marL="242570" indent="-230504" rtl="0">
              <a:buFont typeface="Arial MT"/>
              <a:buChar char="•"/>
              <a:tabLst>
                <a:tab pos="242570" algn="l"/>
                <a:tab pos="243204" algn="l"/>
              </a:tabLst>
            </a:pPr>
            <a:r>
              <a:rPr sz="2000" kern="1200" spc="-15" dirty="0">
                <a:solidFill>
                  <a:prstClr val="black"/>
                </a:solidFill>
                <a:latin typeface="Palatino Linotype"/>
                <a:cs typeface="Palatino Linotype"/>
              </a:rPr>
              <a:t>Java</a:t>
            </a:r>
            <a:r>
              <a:rPr sz="2000" kern="1200" spc="-30" dirty="0">
                <a:solidFill>
                  <a:prstClr val="black"/>
                </a:solidFill>
                <a:latin typeface="Palatino Linotype"/>
                <a:cs typeface="Palatino Linotype"/>
              </a:rPr>
              <a:t> </a:t>
            </a:r>
            <a:r>
              <a:rPr sz="2000" kern="1200" dirty="0">
                <a:solidFill>
                  <a:prstClr val="black"/>
                </a:solidFill>
                <a:latin typeface="Palatino Linotype"/>
                <a:cs typeface="Palatino Linotype"/>
              </a:rPr>
              <a:t>distinguishes</a:t>
            </a:r>
            <a:r>
              <a:rPr sz="2000" kern="1200" spc="-15" dirty="0">
                <a:solidFill>
                  <a:prstClr val="black"/>
                </a:solidFill>
                <a:latin typeface="Palatino Linotype"/>
                <a:cs typeface="Palatino Linotype"/>
              </a:rPr>
              <a:t> </a:t>
            </a:r>
            <a:r>
              <a:rPr sz="2000" kern="1200" spc="-10" dirty="0">
                <a:solidFill>
                  <a:prstClr val="black"/>
                </a:solidFill>
                <a:latin typeface="Palatino Linotype"/>
                <a:cs typeface="Palatino Linotype"/>
              </a:rPr>
              <a:t>between</a:t>
            </a:r>
            <a:r>
              <a:rPr sz="2000" kern="1200" spc="25" dirty="0">
                <a:solidFill>
                  <a:prstClr val="black"/>
                </a:solidFill>
                <a:latin typeface="Palatino Linotype"/>
                <a:cs typeface="Palatino Linotype"/>
              </a:rPr>
              <a:t> </a:t>
            </a:r>
            <a:r>
              <a:rPr sz="2000" i="1" kern="1200" spc="-5" dirty="0">
                <a:solidFill>
                  <a:srgbClr val="FF0000"/>
                </a:solidFill>
                <a:latin typeface="Palatino Linotype"/>
                <a:cs typeface="Palatino Linotype"/>
              </a:rPr>
              <a:t>widening</a:t>
            </a:r>
            <a:r>
              <a:rPr sz="2000" i="1" kern="1200" spc="-40" dirty="0">
                <a:solidFill>
                  <a:srgbClr val="FF0000"/>
                </a:solidFill>
                <a:latin typeface="Palatino Linotype"/>
                <a:cs typeface="Palatino Linotype"/>
              </a:rPr>
              <a:t> </a:t>
            </a:r>
            <a:r>
              <a:rPr sz="2000" kern="1200" spc="-5" dirty="0">
                <a:solidFill>
                  <a:prstClr val="black"/>
                </a:solidFill>
                <a:latin typeface="Palatino Linotype"/>
                <a:cs typeface="Palatino Linotype"/>
              </a:rPr>
              <a:t>conversions</a:t>
            </a:r>
            <a:r>
              <a:rPr sz="2000" kern="1200" spc="-20" dirty="0">
                <a:solidFill>
                  <a:prstClr val="black"/>
                </a:solidFill>
                <a:latin typeface="Palatino Linotype"/>
                <a:cs typeface="Palatino Linotype"/>
              </a:rPr>
              <a:t> </a:t>
            </a:r>
            <a:r>
              <a:rPr sz="2000" kern="1200" spc="5" dirty="0">
                <a:solidFill>
                  <a:prstClr val="black"/>
                </a:solidFill>
                <a:latin typeface="Palatino Linotype"/>
                <a:cs typeface="Palatino Linotype"/>
              </a:rPr>
              <a:t>(</a:t>
            </a:r>
            <a:r>
              <a:rPr sz="2000" kern="1200" dirty="0">
                <a:solidFill>
                  <a:srgbClr val="FF0000"/>
                </a:solidFill>
                <a:latin typeface="SimSun"/>
                <a:cs typeface="SimSun"/>
              </a:rPr>
              <a:t>类型拓宽</a:t>
            </a:r>
            <a:r>
              <a:rPr sz="2000" kern="1200" dirty="0">
                <a:solidFill>
                  <a:prstClr val="black"/>
                </a:solidFill>
                <a:latin typeface="Palatino Linotype"/>
                <a:cs typeface="Palatino Linotype"/>
              </a:rPr>
              <a:t>)</a:t>
            </a:r>
            <a:r>
              <a:rPr sz="2000" kern="1200" spc="-25" dirty="0">
                <a:solidFill>
                  <a:prstClr val="black"/>
                </a:solidFill>
                <a:latin typeface="Palatino Linotype"/>
                <a:cs typeface="Palatino Linotype"/>
              </a:rPr>
              <a:t> </a:t>
            </a:r>
            <a:r>
              <a:rPr sz="2000" kern="1200" dirty="0">
                <a:solidFill>
                  <a:prstClr val="black"/>
                </a:solidFill>
                <a:latin typeface="Palatino Linotype"/>
                <a:cs typeface="Palatino Linotype"/>
              </a:rPr>
              <a:t>and</a:t>
            </a:r>
          </a:p>
          <a:p>
            <a:pPr marL="242570" rtl="0">
              <a:spcBef>
                <a:spcPts val="480"/>
              </a:spcBef>
            </a:pPr>
            <a:r>
              <a:rPr sz="2000" i="1" kern="1200" spc="-5" dirty="0">
                <a:solidFill>
                  <a:srgbClr val="FF0000"/>
                </a:solidFill>
                <a:latin typeface="Palatino Linotype"/>
                <a:cs typeface="Palatino Linotype"/>
              </a:rPr>
              <a:t>narrowing</a:t>
            </a:r>
            <a:r>
              <a:rPr sz="2000" i="1" kern="1200" spc="-40" dirty="0">
                <a:solidFill>
                  <a:srgbClr val="FF0000"/>
                </a:solidFill>
                <a:latin typeface="Palatino Linotype"/>
                <a:cs typeface="Palatino Linotype"/>
              </a:rPr>
              <a:t> </a:t>
            </a:r>
            <a:r>
              <a:rPr sz="2000" kern="1200" spc="-5" dirty="0">
                <a:solidFill>
                  <a:prstClr val="black"/>
                </a:solidFill>
                <a:latin typeface="Palatino Linotype"/>
                <a:cs typeface="Palatino Linotype"/>
              </a:rPr>
              <a:t>conversions</a:t>
            </a:r>
            <a:r>
              <a:rPr sz="2000" kern="1200" spc="-40" dirty="0">
                <a:solidFill>
                  <a:prstClr val="black"/>
                </a:solidFill>
                <a:latin typeface="Palatino Linotype"/>
                <a:cs typeface="Palatino Linotype"/>
              </a:rPr>
              <a:t> </a:t>
            </a:r>
            <a:r>
              <a:rPr sz="2000" kern="1200" spc="5" dirty="0">
                <a:solidFill>
                  <a:prstClr val="black"/>
                </a:solidFill>
                <a:latin typeface="Palatino Linotype"/>
                <a:cs typeface="Palatino Linotype"/>
              </a:rPr>
              <a:t>(</a:t>
            </a:r>
            <a:r>
              <a:rPr sz="2000" kern="1200" dirty="0">
                <a:solidFill>
                  <a:srgbClr val="FF0000"/>
                </a:solidFill>
                <a:latin typeface="SimSun"/>
                <a:cs typeface="SimSun"/>
              </a:rPr>
              <a:t>类型窄化</a:t>
            </a:r>
            <a:r>
              <a:rPr sz="2000" kern="1200" dirty="0">
                <a:solidFill>
                  <a:prstClr val="black"/>
                </a:solidFill>
                <a:latin typeface="Palatino Linotype"/>
                <a:cs typeface="Palatino Linotype"/>
              </a:rPr>
              <a:t>)</a:t>
            </a:r>
          </a:p>
        </p:txBody>
      </p:sp>
      <p:pic>
        <p:nvPicPr>
          <p:cNvPr id="11" name="object 4">
            <a:extLst>
              <a:ext uri="{FF2B5EF4-FFF2-40B4-BE49-F238E27FC236}">
                <a16:creationId xmlns:a16="http://schemas.microsoft.com/office/drawing/2014/main" id="{6E092F6D-166C-3D82-DDD4-E243D78B2C5A}"/>
              </a:ext>
            </a:extLst>
          </p:cNvPr>
          <p:cNvPicPr/>
          <p:nvPr/>
        </p:nvPicPr>
        <p:blipFill>
          <a:blip r:embed="rId3" cstate="print"/>
          <a:stretch>
            <a:fillRect/>
          </a:stretch>
        </p:blipFill>
        <p:spPr>
          <a:xfrm>
            <a:off x="2531261" y="3503111"/>
            <a:ext cx="4088581" cy="2430384"/>
          </a:xfrm>
          <a:prstGeom prst="rect">
            <a:avLst/>
          </a:prstGeom>
        </p:spPr>
      </p:pic>
      <p:sp>
        <p:nvSpPr>
          <p:cNvPr id="12" name="object 5">
            <a:extLst>
              <a:ext uri="{FF2B5EF4-FFF2-40B4-BE49-F238E27FC236}">
                <a16:creationId xmlns:a16="http://schemas.microsoft.com/office/drawing/2014/main" id="{EC5B6AF3-D16D-3A3E-EDC1-C31C1F67A743}"/>
              </a:ext>
            </a:extLst>
          </p:cNvPr>
          <p:cNvSpPr/>
          <p:nvPr/>
        </p:nvSpPr>
        <p:spPr>
          <a:xfrm>
            <a:off x="2075814" y="3934967"/>
            <a:ext cx="103505" cy="1116965"/>
          </a:xfrm>
          <a:custGeom>
            <a:avLst/>
            <a:gdLst/>
            <a:ahLst/>
            <a:cxnLst/>
            <a:rect l="l" t="t" r="r" b="b"/>
            <a:pathLst>
              <a:path w="103505" h="1116964">
                <a:moveTo>
                  <a:pt x="51688" y="25109"/>
                </a:moveTo>
                <a:lnTo>
                  <a:pt x="45339" y="35995"/>
                </a:lnTo>
                <a:lnTo>
                  <a:pt x="45339" y="1116710"/>
                </a:lnTo>
                <a:lnTo>
                  <a:pt x="58039" y="1116710"/>
                </a:lnTo>
                <a:lnTo>
                  <a:pt x="58039" y="35995"/>
                </a:lnTo>
                <a:lnTo>
                  <a:pt x="51688" y="25109"/>
                </a:lnTo>
                <a:close/>
              </a:path>
              <a:path w="103505" h="1116964">
                <a:moveTo>
                  <a:pt x="51689" y="0"/>
                </a:moveTo>
                <a:lnTo>
                  <a:pt x="0" y="88645"/>
                </a:lnTo>
                <a:lnTo>
                  <a:pt x="1016" y="92455"/>
                </a:lnTo>
                <a:lnTo>
                  <a:pt x="7112" y="96011"/>
                </a:lnTo>
                <a:lnTo>
                  <a:pt x="10922" y="94995"/>
                </a:lnTo>
                <a:lnTo>
                  <a:pt x="45338" y="35995"/>
                </a:lnTo>
                <a:lnTo>
                  <a:pt x="45339" y="12572"/>
                </a:lnTo>
                <a:lnTo>
                  <a:pt x="59020" y="12572"/>
                </a:lnTo>
                <a:lnTo>
                  <a:pt x="51689" y="0"/>
                </a:lnTo>
                <a:close/>
              </a:path>
              <a:path w="103505" h="1116964">
                <a:moveTo>
                  <a:pt x="59020" y="12572"/>
                </a:moveTo>
                <a:lnTo>
                  <a:pt x="58039" y="12572"/>
                </a:lnTo>
                <a:lnTo>
                  <a:pt x="58039" y="35995"/>
                </a:lnTo>
                <a:lnTo>
                  <a:pt x="92456" y="94995"/>
                </a:lnTo>
                <a:lnTo>
                  <a:pt x="96266" y="96011"/>
                </a:lnTo>
                <a:lnTo>
                  <a:pt x="102362" y="92455"/>
                </a:lnTo>
                <a:lnTo>
                  <a:pt x="103378" y="88645"/>
                </a:lnTo>
                <a:lnTo>
                  <a:pt x="59020" y="12572"/>
                </a:lnTo>
                <a:close/>
              </a:path>
              <a:path w="103505" h="1116964">
                <a:moveTo>
                  <a:pt x="58039" y="12572"/>
                </a:moveTo>
                <a:lnTo>
                  <a:pt x="45339" y="12572"/>
                </a:lnTo>
                <a:lnTo>
                  <a:pt x="45339" y="35995"/>
                </a:lnTo>
                <a:lnTo>
                  <a:pt x="51689" y="25109"/>
                </a:lnTo>
                <a:lnTo>
                  <a:pt x="46228" y="15747"/>
                </a:lnTo>
                <a:lnTo>
                  <a:pt x="58039" y="15747"/>
                </a:lnTo>
                <a:lnTo>
                  <a:pt x="58039" y="12572"/>
                </a:lnTo>
                <a:close/>
              </a:path>
              <a:path w="103505" h="1116964">
                <a:moveTo>
                  <a:pt x="58039" y="15747"/>
                </a:moveTo>
                <a:lnTo>
                  <a:pt x="57150" y="15747"/>
                </a:lnTo>
                <a:lnTo>
                  <a:pt x="51688" y="25109"/>
                </a:lnTo>
                <a:lnTo>
                  <a:pt x="58039" y="35995"/>
                </a:lnTo>
                <a:lnTo>
                  <a:pt x="58039" y="15747"/>
                </a:lnTo>
                <a:close/>
              </a:path>
              <a:path w="103505" h="1116964">
                <a:moveTo>
                  <a:pt x="57150" y="15747"/>
                </a:moveTo>
                <a:lnTo>
                  <a:pt x="46228" y="15747"/>
                </a:lnTo>
                <a:lnTo>
                  <a:pt x="51688" y="25109"/>
                </a:lnTo>
                <a:lnTo>
                  <a:pt x="57150" y="15747"/>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241942283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75</a:t>
            </a:fld>
            <a:endParaRPr lang="en-US"/>
          </a:p>
        </p:txBody>
      </p:sp>
      <p:sp>
        <p:nvSpPr>
          <p:cNvPr id="9" name="object 2">
            <a:extLst>
              <a:ext uri="{FF2B5EF4-FFF2-40B4-BE49-F238E27FC236}">
                <a16:creationId xmlns:a16="http://schemas.microsoft.com/office/drawing/2014/main" id="{CED3215F-8140-0841-EDE2-60A89578CDAD}"/>
              </a:ext>
            </a:extLst>
          </p:cNvPr>
          <p:cNvSpPr txBox="1">
            <a:spLocks/>
          </p:cNvSpPr>
          <p:nvPr/>
        </p:nvSpPr>
        <p:spPr>
          <a:xfrm>
            <a:off x="707542" y="520141"/>
            <a:ext cx="6716395"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15" normalizeH="0" baseline="0" noProof="0">
                <a:ln>
                  <a:noFill/>
                </a:ln>
                <a:solidFill>
                  <a:sysClr val="windowText" lastClr="000000"/>
                </a:solidFill>
                <a:effectLst/>
                <a:uLnTx/>
                <a:uFillTx/>
                <a:latin typeface="Palatino Linotype"/>
                <a:ea typeface="+mj-ea"/>
              </a:rPr>
              <a:t>Widening</a:t>
            </a:r>
            <a:r>
              <a:rPr kumimoji="0" lang="en-US" sz="4000" b="1" i="0" u="none" strike="noStrike" kern="0" cap="none" spc="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and</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Narrowing</a:t>
            </a:r>
            <a:r>
              <a:rPr kumimoji="0" lang="en-US" sz="4000" b="1" i="0" u="none" strike="noStrike" kern="0" cap="none" spc="2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(2)</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10" name="object 3">
            <a:extLst>
              <a:ext uri="{FF2B5EF4-FFF2-40B4-BE49-F238E27FC236}">
                <a16:creationId xmlns:a16="http://schemas.microsoft.com/office/drawing/2014/main" id="{39F510C5-968C-2B90-81B5-4FC4B27E46CE}"/>
              </a:ext>
            </a:extLst>
          </p:cNvPr>
          <p:cNvSpPr txBox="1"/>
          <p:nvPr/>
        </p:nvSpPr>
        <p:spPr>
          <a:xfrm>
            <a:off x="707542" y="1595145"/>
            <a:ext cx="7599045" cy="1567815"/>
          </a:xfrm>
          <a:prstGeom prst="rect">
            <a:avLst/>
          </a:prstGeom>
        </p:spPr>
        <p:txBody>
          <a:bodyPr vert="horz" wrap="square" lIns="0" tIns="12700" rIns="0" bIns="0" rtlCol="0">
            <a:spAutoFit/>
          </a:bodyPr>
          <a:lstStyle/>
          <a:p>
            <a:pPr marL="242570" marR="26034" indent="-230504" rtl="0">
              <a:lnSpc>
                <a:spcPct val="120000"/>
              </a:lnSpc>
              <a:spcBef>
                <a:spcPts val="100"/>
              </a:spcBef>
              <a:buClr>
                <a:srgbClr val="000000"/>
              </a:buClr>
              <a:buFont typeface="Arial MT"/>
              <a:buChar char="•"/>
              <a:tabLst>
                <a:tab pos="242570" algn="l"/>
                <a:tab pos="243204" algn="l"/>
              </a:tabLst>
            </a:pPr>
            <a:r>
              <a:rPr sz="1900" i="1" kern="1200" spc="-10" dirty="0">
                <a:solidFill>
                  <a:srgbClr val="FF0000"/>
                </a:solidFill>
                <a:latin typeface="Palatino Linotype"/>
                <a:cs typeface="Palatino Linotype"/>
              </a:rPr>
              <a:t>Widening</a:t>
            </a:r>
            <a:r>
              <a:rPr sz="1900" i="1" kern="1200" spc="15" dirty="0">
                <a:solidFill>
                  <a:srgbClr val="FF0000"/>
                </a:solidFill>
                <a:latin typeface="Palatino Linotype"/>
                <a:cs typeface="Palatino Linotype"/>
              </a:rPr>
              <a:t> </a:t>
            </a:r>
            <a:r>
              <a:rPr sz="1900" kern="1200" spc="-10" dirty="0">
                <a:solidFill>
                  <a:prstClr val="black"/>
                </a:solidFill>
                <a:latin typeface="Palatino Linotype"/>
                <a:cs typeface="Palatino Linotype"/>
              </a:rPr>
              <a:t>conversions</a:t>
            </a:r>
            <a:r>
              <a:rPr sz="1900" kern="1200" dirty="0">
                <a:solidFill>
                  <a:prstClr val="black"/>
                </a:solidFill>
                <a:latin typeface="Palatino Linotype"/>
                <a:cs typeface="Palatino Linotype"/>
              </a:rPr>
              <a:t> </a:t>
            </a:r>
            <a:r>
              <a:rPr sz="1900" kern="1200" spc="-15" dirty="0">
                <a:solidFill>
                  <a:srgbClr val="0431FF"/>
                </a:solidFill>
                <a:latin typeface="Palatino Linotype"/>
                <a:cs typeface="Palatino Linotype"/>
              </a:rPr>
              <a:t>preserve</a:t>
            </a:r>
            <a:r>
              <a:rPr sz="1900" kern="1200" spc="20" dirty="0">
                <a:solidFill>
                  <a:srgbClr val="0431FF"/>
                </a:solidFill>
                <a:latin typeface="Palatino Linotype"/>
                <a:cs typeface="Palatino Linotype"/>
              </a:rPr>
              <a:t> </a:t>
            </a:r>
            <a:r>
              <a:rPr sz="1900" kern="1200" spc="-5" dirty="0">
                <a:solidFill>
                  <a:srgbClr val="0431FF"/>
                </a:solidFill>
                <a:latin typeface="Palatino Linotype"/>
                <a:cs typeface="Palatino Linotype"/>
              </a:rPr>
              <a:t>information</a:t>
            </a:r>
            <a:r>
              <a:rPr sz="1900" kern="1200" spc="20" dirty="0">
                <a:solidFill>
                  <a:srgbClr val="0431FF"/>
                </a:solidFill>
                <a:latin typeface="Palatino Linotype"/>
                <a:cs typeface="Palatino Linotype"/>
              </a:rPr>
              <a:t> </a:t>
            </a:r>
            <a:r>
              <a:rPr sz="1900" kern="1200" spc="-5" dirty="0">
                <a:solidFill>
                  <a:prstClr val="black"/>
                </a:solidFill>
                <a:latin typeface="Palatino Linotype"/>
                <a:cs typeface="Palatino Linotype"/>
              </a:rPr>
              <a:t>and</a:t>
            </a:r>
            <a:r>
              <a:rPr sz="1900" kern="1200" dirty="0">
                <a:solidFill>
                  <a:prstClr val="black"/>
                </a:solidFill>
                <a:latin typeface="Palatino Linotype"/>
                <a:cs typeface="Palatino Linotype"/>
              </a:rPr>
              <a:t> </a:t>
            </a:r>
            <a:r>
              <a:rPr sz="1900" kern="1200" spc="-5" dirty="0">
                <a:solidFill>
                  <a:prstClr val="black"/>
                </a:solidFill>
                <a:latin typeface="Palatino Linotype"/>
                <a:cs typeface="Palatino Linotype"/>
              </a:rPr>
              <a:t>can</a:t>
            </a:r>
            <a:r>
              <a:rPr sz="1900" kern="1200" spc="-10" dirty="0">
                <a:solidFill>
                  <a:prstClr val="black"/>
                </a:solidFill>
                <a:latin typeface="Palatino Linotype"/>
                <a:cs typeface="Palatino Linotype"/>
              </a:rPr>
              <a:t> </a:t>
            </a:r>
            <a:r>
              <a:rPr sz="1900" kern="1200" spc="-5" dirty="0">
                <a:solidFill>
                  <a:prstClr val="black"/>
                </a:solidFill>
                <a:latin typeface="Palatino Linotype"/>
                <a:cs typeface="Palatino Linotype"/>
              </a:rPr>
              <a:t>be</a:t>
            </a:r>
            <a:r>
              <a:rPr sz="1900" kern="1200" spc="15" dirty="0">
                <a:solidFill>
                  <a:prstClr val="black"/>
                </a:solidFill>
                <a:latin typeface="Palatino Linotype"/>
                <a:cs typeface="Palatino Linotype"/>
              </a:rPr>
              <a:t> </a:t>
            </a:r>
            <a:r>
              <a:rPr sz="1900" kern="1200" spc="-5" dirty="0">
                <a:solidFill>
                  <a:prstClr val="black"/>
                </a:solidFill>
                <a:latin typeface="Palatino Linotype"/>
                <a:cs typeface="Palatino Linotype"/>
              </a:rPr>
              <a:t>done </a:t>
            </a:r>
            <a:r>
              <a:rPr sz="1900" kern="1200" dirty="0">
                <a:solidFill>
                  <a:prstClr val="black"/>
                </a:solidFill>
                <a:latin typeface="Palatino Linotype"/>
                <a:cs typeface="Palatino Linotype"/>
              </a:rPr>
              <a:t> </a:t>
            </a:r>
            <a:r>
              <a:rPr sz="1900" kern="1200" spc="-5" dirty="0">
                <a:solidFill>
                  <a:prstClr val="black"/>
                </a:solidFill>
                <a:latin typeface="Palatino Linotype"/>
                <a:cs typeface="Palatino Linotype"/>
              </a:rPr>
              <a:t>automatically</a:t>
            </a:r>
            <a:r>
              <a:rPr sz="1900" kern="1200" spc="25" dirty="0">
                <a:solidFill>
                  <a:prstClr val="black"/>
                </a:solidFill>
                <a:latin typeface="Palatino Linotype"/>
                <a:cs typeface="Palatino Linotype"/>
              </a:rPr>
              <a:t> </a:t>
            </a:r>
            <a:r>
              <a:rPr sz="1900" kern="1200" spc="-5" dirty="0">
                <a:solidFill>
                  <a:prstClr val="black"/>
                </a:solidFill>
                <a:latin typeface="Palatino Linotype"/>
                <a:cs typeface="Palatino Linotype"/>
              </a:rPr>
              <a:t>by</a:t>
            </a:r>
            <a:r>
              <a:rPr sz="1900" kern="1200" spc="10" dirty="0">
                <a:solidFill>
                  <a:prstClr val="black"/>
                </a:solidFill>
                <a:latin typeface="Palatino Linotype"/>
                <a:cs typeface="Palatino Linotype"/>
              </a:rPr>
              <a:t> </a:t>
            </a:r>
            <a:r>
              <a:rPr sz="1900" kern="1200" spc="-5" dirty="0">
                <a:solidFill>
                  <a:prstClr val="black"/>
                </a:solidFill>
                <a:latin typeface="Palatino Linotype"/>
                <a:cs typeface="Palatino Linotype"/>
              </a:rPr>
              <a:t>the</a:t>
            </a:r>
            <a:r>
              <a:rPr sz="1900" kern="1200" dirty="0">
                <a:solidFill>
                  <a:prstClr val="black"/>
                </a:solidFill>
                <a:latin typeface="Palatino Linotype"/>
                <a:cs typeface="Palatino Linotype"/>
              </a:rPr>
              <a:t> </a:t>
            </a:r>
            <a:r>
              <a:rPr sz="1900" kern="1200" spc="-10" dirty="0">
                <a:solidFill>
                  <a:prstClr val="black"/>
                </a:solidFill>
                <a:latin typeface="Palatino Linotype"/>
                <a:cs typeface="Palatino Linotype"/>
              </a:rPr>
              <a:t>compiler</a:t>
            </a:r>
            <a:r>
              <a:rPr sz="1900" kern="1200" dirty="0">
                <a:solidFill>
                  <a:prstClr val="black"/>
                </a:solidFill>
                <a:latin typeface="Palatino Linotype"/>
                <a:cs typeface="Palatino Linotype"/>
              </a:rPr>
              <a:t> (</a:t>
            </a:r>
            <a:r>
              <a:rPr sz="1900" i="1" kern="1200" dirty="0">
                <a:solidFill>
                  <a:srgbClr val="FF0000"/>
                </a:solidFill>
                <a:latin typeface="Palatino Linotype"/>
                <a:cs typeface="Palatino Linotype"/>
              </a:rPr>
              <a:t>implicit</a:t>
            </a:r>
            <a:r>
              <a:rPr sz="1900" i="1" kern="1200" spc="15" dirty="0">
                <a:solidFill>
                  <a:srgbClr val="FF0000"/>
                </a:solidFill>
                <a:latin typeface="Palatino Linotype"/>
                <a:cs typeface="Palatino Linotype"/>
              </a:rPr>
              <a:t> </a:t>
            </a:r>
            <a:r>
              <a:rPr sz="1900" kern="1200" spc="-5" dirty="0">
                <a:solidFill>
                  <a:prstClr val="black"/>
                </a:solidFill>
                <a:latin typeface="Palatino Linotype"/>
                <a:cs typeface="Palatino Linotype"/>
              </a:rPr>
              <a:t>type</a:t>
            </a:r>
            <a:r>
              <a:rPr sz="1900" kern="1200" spc="5" dirty="0">
                <a:solidFill>
                  <a:prstClr val="black"/>
                </a:solidFill>
                <a:latin typeface="Palatino Linotype"/>
                <a:cs typeface="Palatino Linotype"/>
              </a:rPr>
              <a:t> </a:t>
            </a:r>
            <a:r>
              <a:rPr sz="1900" kern="1200" spc="-10" dirty="0">
                <a:solidFill>
                  <a:prstClr val="black"/>
                </a:solidFill>
                <a:latin typeface="Palatino Linotype"/>
                <a:cs typeface="Palatino Linotype"/>
              </a:rPr>
              <a:t>conversions,</a:t>
            </a:r>
            <a:r>
              <a:rPr sz="1900" kern="1200" spc="10" dirty="0">
                <a:solidFill>
                  <a:prstClr val="black"/>
                </a:solidFill>
                <a:latin typeface="Palatino Linotype"/>
                <a:cs typeface="Palatino Linotype"/>
              </a:rPr>
              <a:t> </a:t>
            </a:r>
            <a:r>
              <a:rPr sz="1900" kern="1200" spc="-5" dirty="0">
                <a:solidFill>
                  <a:prstClr val="black"/>
                </a:solidFill>
                <a:latin typeface="Palatino Linotype"/>
                <a:cs typeface="Palatino Linotype"/>
              </a:rPr>
              <a:t>or</a:t>
            </a:r>
            <a:r>
              <a:rPr sz="1900" kern="1200" spc="5" dirty="0">
                <a:solidFill>
                  <a:prstClr val="black"/>
                </a:solidFill>
                <a:latin typeface="Palatino Linotype"/>
                <a:cs typeface="Palatino Linotype"/>
              </a:rPr>
              <a:t> </a:t>
            </a:r>
            <a:r>
              <a:rPr sz="1900" i="1" kern="1200" spc="-10" dirty="0">
                <a:solidFill>
                  <a:srgbClr val="FF0000"/>
                </a:solidFill>
                <a:latin typeface="Palatino Linotype"/>
                <a:cs typeface="Palatino Linotype"/>
              </a:rPr>
              <a:t>coercions</a:t>
            </a:r>
            <a:r>
              <a:rPr sz="1900" kern="1200" spc="-10" dirty="0">
                <a:solidFill>
                  <a:prstClr val="black"/>
                </a:solidFill>
                <a:latin typeface="Palatino Linotype"/>
                <a:cs typeface="Palatino Linotype"/>
              </a:rPr>
              <a:t>)</a:t>
            </a:r>
            <a:endParaRPr sz="1900" kern="1200" dirty="0">
              <a:solidFill>
                <a:prstClr val="black"/>
              </a:solidFill>
              <a:latin typeface="Palatino Linotype"/>
              <a:cs typeface="Palatino Linotype"/>
            </a:endParaRPr>
          </a:p>
          <a:p>
            <a:pPr marL="229870" marR="37465" indent="-229870" algn="r" rtl="0">
              <a:spcBef>
                <a:spcPts val="1655"/>
              </a:spcBef>
              <a:buClr>
                <a:srgbClr val="000000"/>
              </a:buClr>
              <a:buFont typeface="Arial MT"/>
              <a:buChar char="•"/>
              <a:tabLst>
                <a:tab pos="229870" algn="l"/>
                <a:tab pos="243204" algn="l"/>
              </a:tabLst>
            </a:pPr>
            <a:r>
              <a:rPr sz="1900" i="1" kern="1200" spc="-10" dirty="0">
                <a:solidFill>
                  <a:srgbClr val="FF0000"/>
                </a:solidFill>
                <a:latin typeface="Palatino Linotype"/>
                <a:cs typeface="Palatino Linotype"/>
              </a:rPr>
              <a:t>Narrowing</a:t>
            </a:r>
            <a:r>
              <a:rPr sz="1900" i="1" kern="1200" spc="20" dirty="0">
                <a:solidFill>
                  <a:srgbClr val="FF0000"/>
                </a:solidFill>
                <a:latin typeface="Palatino Linotype"/>
                <a:cs typeface="Palatino Linotype"/>
              </a:rPr>
              <a:t> </a:t>
            </a:r>
            <a:r>
              <a:rPr sz="1900" kern="1200" spc="-10" dirty="0">
                <a:solidFill>
                  <a:prstClr val="black"/>
                </a:solidFill>
                <a:latin typeface="Palatino Linotype"/>
                <a:cs typeface="Palatino Linotype"/>
              </a:rPr>
              <a:t>conversions</a:t>
            </a:r>
            <a:r>
              <a:rPr sz="1900" kern="1200" spc="10" dirty="0">
                <a:solidFill>
                  <a:prstClr val="black"/>
                </a:solidFill>
                <a:latin typeface="Palatino Linotype"/>
                <a:cs typeface="Palatino Linotype"/>
              </a:rPr>
              <a:t> </a:t>
            </a:r>
            <a:r>
              <a:rPr sz="1900" kern="1200" spc="-10" dirty="0">
                <a:solidFill>
                  <a:srgbClr val="0431FF"/>
                </a:solidFill>
                <a:latin typeface="Palatino Linotype"/>
                <a:cs typeface="Palatino Linotype"/>
              </a:rPr>
              <a:t>lose</a:t>
            </a:r>
            <a:r>
              <a:rPr sz="1900" kern="1200" spc="10" dirty="0">
                <a:solidFill>
                  <a:srgbClr val="0431FF"/>
                </a:solidFill>
                <a:latin typeface="Palatino Linotype"/>
                <a:cs typeface="Palatino Linotype"/>
              </a:rPr>
              <a:t> </a:t>
            </a:r>
            <a:r>
              <a:rPr sz="1900" kern="1200" spc="-5" dirty="0">
                <a:solidFill>
                  <a:srgbClr val="0431FF"/>
                </a:solidFill>
                <a:latin typeface="Palatino Linotype"/>
                <a:cs typeface="Palatino Linotype"/>
              </a:rPr>
              <a:t>information</a:t>
            </a:r>
            <a:r>
              <a:rPr sz="1900" kern="1200" spc="30" dirty="0">
                <a:solidFill>
                  <a:srgbClr val="0431FF"/>
                </a:solidFill>
                <a:latin typeface="Palatino Linotype"/>
                <a:cs typeface="Palatino Linotype"/>
              </a:rPr>
              <a:t> </a:t>
            </a:r>
            <a:r>
              <a:rPr sz="1900" kern="1200" spc="-5" dirty="0">
                <a:solidFill>
                  <a:prstClr val="black"/>
                </a:solidFill>
                <a:latin typeface="Palatino Linotype"/>
                <a:cs typeface="Palatino Linotype"/>
              </a:rPr>
              <a:t>and</a:t>
            </a:r>
            <a:r>
              <a:rPr sz="1900" kern="1200" spc="5" dirty="0">
                <a:solidFill>
                  <a:prstClr val="black"/>
                </a:solidFill>
                <a:latin typeface="Palatino Linotype"/>
                <a:cs typeface="Palatino Linotype"/>
              </a:rPr>
              <a:t> </a:t>
            </a:r>
            <a:r>
              <a:rPr sz="1900" kern="1200" spc="-10" dirty="0">
                <a:solidFill>
                  <a:prstClr val="black"/>
                </a:solidFill>
                <a:latin typeface="Palatino Linotype"/>
                <a:cs typeface="Palatino Linotype"/>
              </a:rPr>
              <a:t>require</a:t>
            </a:r>
            <a:r>
              <a:rPr sz="1900" kern="1200" spc="40" dirty="0">
                <a:solidFill>
                  <a:prstClr val="black"/>
                </a:solidFill>
                <a:latin typeface="Palatino Linotype"/>
                <a:cs typeface="Palatino Linotype"/>
              </a:rPr>
              <a:t> </a:t>
            </a:r>
            <a:r>
              <a:rPr sz="1900" kern="1200" spc="-10" dirty="0">
                <a:solidFill>
                  <a:prstClr val="black"/>
                </a:solidFill>
                <a:latin typeface="Palatino Linotype"/>
                <a:cs typeface="Palatino Linotype"/>
              </a:rPr>
              <a:t>programmers</a:t>
            </a:r>
            <a:r>
              <a:rPr sz="1900" kern="1200" spc="45" dirty="0">
                <a:solidFill>
                  <a:prstClr val="black"/>
                </a:solidFill>
                <a:latin typeface="Palatino Linotype"/>
                <a:cs typeface="Palatino Linotype"/>
              </a:rPr>
              <a:t> </a:t>
            </a:r>
            <a:r>
              <a:rPr sz="1900" kern="1200" spc="-5" dirty="0">
                <a:solidFill>
                  <a:prstClr val="black"/>
                </a:solidFill>
                <a:latin typeface="Palatino Linotype"/>
                <a:cs typeface="Palatino Linotype"/>
              </a:rPr>
              <a:t>to</a:t>
            </a:r>
            <a:endParaRPr sz="1900" kern="1200" dirty="0">
              <a:solidFill>
                <a:prstClr val="black"/>
              </a:solidFill>
              <a:latin typeface="Palatino Linotype"/>
              <a:cs typeface="Palatino Linotype"/>
            </a:endParaRPr>
          </a:p>
          <a:p>
            <a:pPr marR="5080" algn="r" rtl="0">
              <a:spcBef>
                <a:spcPts val="455"/>
              </a:spcBef>
            </a:pPr>
            <a:r>
              <a:rPr sz="1900" kern="1200" spc="-5" dirty="0">
                <a:solidFill>
                  <a:prstClr val="black"/>
                </a:solidFill>
                <a:latin typeface="Palatino Linotype"/>
                <a:cs typeface="Palatino Linotype"/>
              </a:rPr>
              <a:t>write</a:t>
            </a:r>
            <a:r>
              <a:rPr sz="1900" kern="1200" spc="10" dirty="0">
                <a:solidFill>
                  <a:prstClr val="black"/>
                </a:solidFill>
                <a:latin typeface="Palatino Linotype"/>
                <a:cs typeface="Palatino Linotype"/>
              </a:rPr>
              <a:t> </a:t>
            </a:r>
            <a:r>
              <a:rPr sz="1900" kern="1200" spc="-5" dirty="0">
                <a:solidFill>
                  <a:prstClr val="black"/>
                </a:solidFill>
                <a:latin typeface="Palatino Linotype"/>
                <a:cs typeface="Palatino Linotype"/>
              </a:rPr>
              <a:t>code</a:t>
            </a:r>
            <a:r>
              <a:rPr sz="1900" kern="1200" spc="10" dirty="0">
                <a:solidFill>
                  <a:prstClr val="black"/>
                </a:solidFill>
                <a:latin typeface="Palatino Linotype"/>
                <a:cs typeface="Palatino Linotype"/>
              </a:rPr>
              <a:t> </a:t>
            </a:r>
            <a:r>
              <a:rPr sz="1900" kern="1200" dirty="0">
                <a:solidFill>
                  <a:prstClr val="black"/>
                </a:solidFill>
                <a:latin typeface="Palatino Linotype"/>
                <a:cs typeface="Palatino Linotype"/>
              </a:rPr>
              <a:t>to</a:t>
            </a:r>
            <a:r>
              <a:rPr sz="1900" kern="1200" spc="5" dirty="0">
                <a:solidFill>
                  <a:prstClr val="black"/>
                </a:solidFill>
                <a:latin typeface="Palatino Linotype"/>
                <a:cs typeface="Palatino Linotype"/>
              </a:rPr>
              <a:t> </a:t>
            </a:r>
            <a:r>
              <a:rPr sz="1900" kern="1200" spc="-5" dirty="0">
                <a:solidFill>
                  <a:prstClr val="black"/>
                </a:solidFill>
                <a:latin typeface="Palatino Linotype"/>
                <a:cs typeface="Palatino Linotype"/>
              </a:rPr>
              <a:t>cause</a:t>
            </a:r>
            <a:r>
              <a:rPr sz="1900" kern="1200" spc="15" dirty="0">
                <a:solidFill>
                  <a:prstClr val="black"/>
                </a:solidFill>
                <a:latin typeface="Palatino Linotype"/>
                <a:cs typeface="Palatino Linotype"/>
              </a:rPr>
              <a:t> </a:t>
            </a:r>
            <a:r>
              <a:rPr sz="1900" kern="1200" spc="-5" dirty="0">
                <a:solidFill>
                  <a:prstClr val="black"/>
                </a:solidFill>
                <a:latin typeface="Palatino Linotype"/>
                <a:cs typeface="Palatino Linotype"/>
              </a:rPr>
              <a:t>the</a:t>
            </a:r>
            <a:r>
              <a:rPr sz="1900" kern="1200" spc="10" dirty="0">
                <a:solidFill>
                  <a:prstClr val="black"/>
                </a:solidFill>
                <a:latin typeface="Palatino Linotype"/>
                <a:cs typeface="Palatino Linotype"/>
              </a:rPr>
              <a:t> </a:t>
            </a:r>
            <a:r>
              <a:rPr sz="1900" kern="1200" spc="-10" dirty="0">
                <a:solidFill>
                  <a:prstClr val="black"/>
                </a:solidFill>
                <a:latin typeface="Palatino Linotype"/>
                <a:cs typeface="Palatino Linotype"/>
              </a:rPr>
              <a:t>conversion</a:t>
            </a:r>
            <a:r>
              <a:rPr sz="1900" kern="1200" dirty="0">
                <a:solidFill>
                  <a:prstClr val="black"/>
                </a:solidFill>
                <a:latin typeface="Palatino Linotype"/>
                <a:cs typeface="Palatino Linotype"/>
              </a:rPr>
              <a:t> </a:t>
            </a:r>
            <a:r>
              <a:rPr sz="1900" kern="1200" spc="-5" dirty="0">
                <a:solidFill>
                  <a:prstClr val="black"/>
                </a:solidFill>
                <a:latin typeface="Palatino Linotype"/>
                <a:cs typeface="Palatino Linotype"/>
              </a:rPr>
              <a:t>(</a:t>
            </a:r>
            <a:r>
              <a:rPr sz="1900" i="1" kern="1200" spc="-5" dirty="0">
                <a:solidFill>
                  <a:srgbClr val="FF0000"/>
                </a:solidFill>
                <a:latin typeface="Palatino Linotype"/>
                <a:cs typeface="Palatino Linotype"/>
              </a:rPr>
              <a:t>explicit</a:t>
            </a:r>
            <a:r>
              <a:rPr sz="1900" i="1" kern="1200" spc="30" dirty="0">
                <a:solidFill>
                  <a:srgbClr val="FF0000"/>
                </a:solidFill>
                <a:latin typeface="Palatino Linotype"/>
                <a:cs typeface="Palatino Linotype"/>
              </a:rPr>
              <a:t> </a:t>
            </a:r>
            <a:r>
              <a:rPr sz="1900" kern="1200" spc="-5" dirty="0">
                <a:solidFill>
                  <a:prstClr val="black"/>
                </a:solidFill>
                <a:latin typeface="Palatino Linotype"/>
                <a:cs typeface="Palatino Linotype"/>
              </a:rPr>
              <a:t>type</a:t>
            </a:r>
            <a:r>
              <a:rPr sz="1900" kern="1200" spc="10" dirty="0">
                <a:solidFill>
                  <a:prstClr val="black"/>
                </a:solidFill>
                <a:latin typeface="Palatino Linotype"/>
                <a:cs typeface="Palatino Linotype"/>
              </a:rPr>
              <a:t> </a:t>
            </a:r>
            <a:r>
              <a:rPr sz="1900" kern="1200" spc="-10" dirty="0">
                <a:solidFill>
                  <a:prstClr val="black"/>
                </a:solidFill>
                <a:latin typeface="Palatino Linotype"/>
                <a:cs typeface="Palatino Linotype"/>
              </a:rPr>
              <a:t>conversions,</a:t>
            </a:r>
            <a:r>
              <a:rPr sz="1900" kern="1200" spc="15" dirty="0">
                <a:solidFill>
                  <a:prstClr val="black"/>
                </a:solidFill>
                <a:latin typeface="Palatino Linotype"/>
                <a:cs typeface="Palatino Linotype"/>
              </a:rPr>
              <a:t> </a:t>
            </a:r>
            <a:r>
              <a:rPr sz="1900" kern="1200" spc="-5" dirty="0">
                <a:solidFill>
                  <a:prstClr val="black"/>
                </a:solidFill>
                <a:latin typeface="Palatino Linotype"/>
                <a:cs typeface="Palatino Linotype"/>
              </a:rPr>
              <a:t>or</a:t>
            </a:r>
            <a:r>
              <a:rPr sz="1900" kern="1200" spc="5" dirty="0">
                <a:solidFill>
                  <a:prstClr val="black"/>
                </a:solidFill>
                <a:latin typeface="Palatino Linotype"/>
                <a:cs typeface="Palatino Linotype"/>
              </a:rPr>
              <a:t> </a:t>
            </a:r>
            <a:r>
              <a:rPr sz="1900" i="1" kern="1200" spc="-5" dirty="0">
                <a:solidFill>
                  <a:srgbClr val="FF0000"/>
                </a:solidFill>
                <a:latin typeface="Palatino Linotype"/>
                <a:cs typeface="Palatino Linotype"/>
              </a:rPr>
              <a:t>casts</a:t>
            </a:r>
            <a:r>
              <a:rPr sz="1900" kern="1200" spc="-5" dirty="0">
                <a:solidFill>
                  <a:prstClr val="black"/>
                </a:solidFill>
                <a:latin typeface="Palatino Linotype"/>
                <a:cs typeface="Palatino Linotype"/>
              </a:rPr>
              <a:t>)</a:t>
            </a:r>
            <a:endParaRPr sz="1900" kern="1200" dirty="0">
              <a:solidFill>
                <a:prstClr val="black"/>
              </a:solidFill>
              <a:latin typeface="Palatino Linotype"/>
              <a:cs typeface="Palatino Linotype"/>
            </a:endParaRPr>
          </a:p>
        </p:txBody>
      </p:sp>
      <p:pic>
        <p:nvPicPr>
          <p:cNvPr id="11" name="object 4">
            <a:extLst>
              <a:ext uri="{FF2B5EF4-FFF2-40B4-BE49-F238E27FC236}">
                <a16:creationId xmlns:a16="http://schemas.microsoft.com/office/drawing/2014/main" id="{0B0F0980-2A0C-BB5A-9826-0978EDBF50F6}"/>
              </a:ext>
            </a:extLst>
          </p:cNvPr>
          <p:cNvPicPr/>
          <p:nvPr/>
        </p:nvPicPr>
        <p:blipFill>
          <a:blip r:embed="rId3" cstate="print"/>
          <a:stretch>
            <a:fillRect/>
          </a:stretch>
        </p:blipFill>
        <p:spPr>
          <a:xfrm>
            <a:off x="2531261" y="3585365"/>
            <a:ext cx="4088581" cy="2428944"/>
          </a:xfrm>
          <a:prstGeom prst="rect">
            <a:avLst/>
          </a:prstGeom>
        </p:spPr>
      </p:pic>
      <p:sp>
        <p:nvSpPr>
          <p:cNvPr id="12" name="object 5">
            <a:extLst>
              <a:ext uri="{FF2B5EF4-FFF2-40B4-BE49-F238E27FC236}">
                <a16:creationId xmlns:a16="http://schemas.microsoft.com/office/drawing/2014/main" id="{A849A57B-F8D1-E5F7-2C5E-62BB19AD26BA}"/>
              </a:ext>
            </a:extLst>
          </p:cNvPr>
          <p:cNvSpPr/>
          <p:nvPr/>
        </p:nvSpPr>
        <p:spPr>
          <a:xfrm>
            <a:off x="2075814" y="4017264"/>
            <a:ext cx="103505" cy="1116965"/>
          </a:xfrm>
          <a:custGeom>
            <a:avLst/>
            <a:gdLst/>
            <a:ahLst/>
            <a:cxnLst/>
            <a:rect l="l" t="t" r="r" b="b"/>
            <a:pathLst>
              <a:path w="103505" h="1116964">
                <a:moveTo>
                  <a:pt x="51688" y="25109"/>
                </a:moveTo>
                <a:lnTo>
                  <a:pt x="45339" y="35995"/>
                </a:lnTo>
                <a:lnTo>
                  <a:pt x="45339" y="1116711"/>
                </a:lnTo>
                <a:lnTo>
                  <a:pt x="58039" y="1116711"/>
                </a:lnTo>
                <a:lnTo>
                  <a:pt x="58039" y="35995"/>
                </a:lnTo>
                <a:lnTo>
                  <a:pt x="51688" y="25109"/>
                </a:lnTo>
                <a:close/>
              </a:path>
              <a:path w="103505" h="1116964">
                <a:moveTo>
                  <a:pt x="51689" y="0"/>
                </a:moveTo>
                <a:lnTo>
                  <a:pt x="0" y="88646"/>
                </a:lnTo>
                <a:lnTo>
                  <a:pt x="1016" y="92456"/>
                </a:lnTo>
                <a:lnTo>
                  <a:pt x="7112" y="96012"/>
                </a:lnTo>
                <a:lnTo>
                  <a:pt x="10922" y="94996"/>
                </a:lnTo>
                <a:lnTo>
                  <a:pt x="45338" y="35995"/>
                </a:lnTo>
                <a:lnTo>
                  <a:pt x="45339" y="12573"/>
                </a:lnTo>
                <a:lnTo>
                  <a:pt x="59020" y="12573"/>
                </a:lnTo>
                <a:lnTo>
                  <a:pt x="51689" y="0"/>
                </a:lnTo>
                <a:close/>
              </a:path>
              <a:path w="103505" h="1116964">
                <a:moveTo>
                  <a:pt x="59020" y="12573"/>
                </a:moveTo>
                <a:lnTo>
                  <a:pt x="58039" y="12573"/>
                </a:lnTo>
                <a:lnTo>
                  <a:pt x="58039" y="35995"/>
                </a:lnTo>
                <a:lnTo>
                  <a:pt x="92456" y="94996"/>
                </a:lnTo>
                <a:lnTo>
                  <a:pt x="96266" y="96012"/>
                </a:lnTo>
                <a:lnTo>
                  <a:pt x="102362" y="92456"/>
                </a:lnTo>
                <a:lnTo>
                  <a:pt x="103378" y="88646"/>
                </a:lnTo>
                <a:lnTo>
                  <a:pt x="59020" y="12573"/>
                </a:lnTo>
                <a:close/>
              </a:path>
              <a:path w="103505" h="1116964">
                <a:moveTo>
                  <a:pt x="58039" y="12573"/>
                </a:moveTo>
                <a:lnTo>
                  <a:pt x="45339" y="12573"/>
                </a:lnTo>
                <a:lnTo>
                  <a:pt x="45339" y="35995"/>
                </a:lnTo>
                <a:lnTo>
                  <a:pt x="51688" y="25109"/>
                </a:lnTo>
                <a:lnTo>
                  <a:pt x="46228" y="15748"/>
                </a:lnTo>
                <a:lnTo>
                  <a:pt x="58039" y="15748"/>
                </a:lnTo>
                <a:lnTo>
                  <a:pt x="58039" y="12573"/>
                </a:lnTo>
                <a:close/>
              </a:path>
              <a:path w="103505" h="1116964">
                <a:moveTo>
                  <a:pt x="58039" y="15748"/>
                </a:moveTo>
                <a:lnTo>
                  <a:pt x="57150" y="15748"/>
                </a:lnTo>
                <a:lnTo>
                  <a:pt x="51688" y="25109"/>
                </a:lnTo>
                <a:lnTo>
                  <a:pt x="58039" y="35995"/>
                </a:lnTo>
                <a:lnTo>
                  <a:pt x="58039" y="15748"/>
                </a:lnTo>
                <a:close/>
              </a:path>
              <a:path w="103505" h="1116964">
                <a:moveTo>
                  <a:pt x="57150" y="15748"/>
                </a:moveTo>
                <a:lnTo>
                  <a:pt x="46228" y="15748"/>
                </a:lnTo>
                <a:lnTo>
                  <a:pt x="51688" y="25109"/>
                </a:lnTo>
                <a:lnTo>
                  <a:pt x="57150" y="15748"/>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37469864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76</a:t>
            </a:fld>
            <a:endParaRPr lang="en-US"/>
          </a:p>
        </p:txBody>
      </p:sp>
      <p:sp>
        <p:nvSpPr>
          <p:cNvPr id="13" name="object 2">
            <a:extLst>
              <a:ext uri="{FF2B5EF4-FFF2-40B4-BE49-F238E27FC236}">
                <a16:creationId xmlns:a16="http://schemas.microsoft.com/office/drawing/2014/main" id="{0A627200-ED77-9470-C60E-B801939E3660}"/>
              </a:ext>
            </a:extLst>
          </p:cNvPr>
          <p:cNvSpPr txBox="1">
            <a:spLocks/>
          </p:cNvSpPr>
          <p:nvPr/>
        </p:nvSpPr>
        <p:spPr>
          <a:xfrm>
            <a:off x="707542" y="520141"/>
            <a:ext cx="5969635"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SDT</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for</a:t>
            </a:r>
            <a:r>
              <a:rPr kumimoji="0" lang="en-US" sz="4000" b="1" i="0" u="none" strike="noStrike" kern="0" cap="none" spc="10" normalizeH="0" baseline="0" noProof="0">
                <a:ln>
                  <a:noFill/>
                </a:ln>
                <a:solidFill>
                  <a:sysClr val="windowText" lastClr="000000"/>
                </a:solidFill>
                <a:effectLst/>
                <a:uLnTx/>
                <a:uFillTx/>
                <a:latin typeface="Palatino Linotype"/>
                <a:ea typeface="+mj-ea"/>
              </a:rPr>
              <a:t> </a:t>
            </a:r>
            <a:r>
              <a:rPr kumimoji="0" lang="en-US" sz="4000" b="1" i="0" u="none" strike="noStrike" kern="0" cap="none" spc="-100" normalizeH="0" baseline="0" noProof="0">
                <a:ln>
                  <a:noFill/>
                </a:ln>
                <a:solidFill>
                  <a:sysClr val="windowText" lastClr="000000"/>
                </a:solidFill>
                <a:effectLst/>
                <a:uLnTx/>
                <a:uFillTx/>
                <a:latin typeface="Palatino Linotype"/>
                <a:ea typeface="+mj-ea"/>
              </a:rPr>
              <a:t>Type</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Conversion</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4" name="object 3">
            <a:extLst>
              <a:ext uri="{FF2B5EF4-FFF2-40B4-BE49-F238E27FC236}">
                <a16:creationId xmlns:a16="http://schemas.microsoft.com/office/drawing/2014/main" id="{552D8B5E-C4FF-4FC6-9538-8BF68E2B07A6}"/>
              </a:ext>
            </a:extLst>
          </p:cNvPr>
          <p:cNvSpPr txBox="1"/>
          <p:nvPr/>
        </p:nvSpPr>
        <p:spPr>
          <a:xfrm>
            <a:off x="669442" y="1593316"/>
            <a:ext cx="7764145" cy="1717675"/>
          </a:xfrm>
          <a:prstGeom prst="rect">
            <a:avLst/>
          </a:prstGeom>
        </p:spPr>
        <p:txBody>
          <a:bodyPr vert="horz" wrap="square" lIns="0" tIns="12700" rIns="0" bIns="0" rtlCol="0">
            <a:spAutoFit/>
          </a:bodyPr>
          <a:lstStyle/>
          <a:p>
            <a:pPr marL="280670" marR="43180" indent="-230504" rtl="0">
              <a:lnSpc>
                <a:spcPct val="120000"/>
              </a:lnSpc>
              <a:spcBef>
                <a:spcPts val="100"/>
              </a:spcBef>
              <a:buClr>
                <a:srgbClr val="000000"/>
              </a:buClr>
              <a:buFont typeface="Arial MT"/>
              <a:buChar char="•"/>
              <a:tabLst>
                <a:tab pos="280670" algn="l"/>
                <a:tab pos="281305" algn="l"/>
              </a:tabLst>
            </a:pPr>
            <a:r>
              <a:rPr sz="2000" kern="1200" spc="5" dirty="0">
                <a:solidFill>
                  <a:srgbClr val="FF0000"/>
                </a:solidFill>
                <a:latin typeface="Cambria Math"/>
                <a:cs typeface="Cambria Math"/>
              </a:rPr>
              <a:t>max(𝑡</a:t>
            </a:r>
            <a:r>
              <a:rPr sz="2175" kern="1200" spc="7" baseline="-15325" dirty="0">
                <a:solidFill>
                  <a:srgbClr val="FF0000"/>
                </a:solidFill>
                <a:latin typeface="Cambria Math"/>
                <a:cs typeface="Cambria Math"/>
              </a:rPr>
              <a:t>1</a:t>
            </a:r>
            <a:r>
              <a:rPr sz="2000" kern="1200" spc="5" dirty="0">
                <a:solidFill>
                  <a:srgbClr val="FF0000"/>
                </a:solidFill>
                <a:latin typeface="Cambria Math"/>
                <a:cs typeface="Cambria Math"/>
              </a:rPr>
              <a:t>,</a:t>
            </a:r>
            <a:r>
              <a:rPr sz="2000" kern="1200" spc="-120" dirty="0">
                <a:solidFill>
                  <a:srgbClr val="FF0000"/>
                </a:solidFill>
                <a:latin typeface="Cambria Math"/>
                <a:cs typeface="Cambria Math"/>
              </a:rPr>
              <a:t> </a:t>
            </a:r>
            <a:r>
              <a:rPr sz="2000" kern="1200" spc="35" dirty="0">
                <a:solidFill>
                  <a:srgbClr val="FF0000"/>
                </a:solidFill>
                <a:latin typeface="Cambria Math"/>
                <a:cs typeface="Cambria Math"/>
              </a:rPr>
              <a:t>𝑡</a:t>
            </a:r>
            <a:r>
              <a:rPr sz="2175" kern="1200" spc="52" baseline="-15325" dirty="0">
                <a:solidFill>
                  <a:srgbClr val="FF0000"/>
                </a:solidFill>
                <a:latin typeface="Cambria Math"/>
                <a:cs typeface="Cambria Math"/>
              </a:rPr>
              <a:t>2</a:t>
            </a:r>
            <a:r>
              <a:rPr sz="2000" kern="1200" spc="35" dirty="0">
                <a:solidFill>
                  <a:srgbClr val="FF0000"/>
                </a:solidFill>
                <a:latin typeface="Cambria Math"/>
                <a:cs typeface="Cambria Math"/>
              </a:rPr>
              <a:t>)</a:t>
            </a:r>
            <a:r>
              <a:rPr sz="2000" kern="1200" spc="45" dirty="0">
                <a:solidFill>
                  <a:srgbClr val="FF0000"/>
                </a:solidFill>
                <a:latin typeface="Cambria Math"/>
                <a:cs typeface="Cambria Math"/>
              </a:rPr>
              <a:t> </a:t>
            </a:r>
            <a:r>
              <a:rPr sz="2000" kern="1200" spc="-5" dirty="0">
                <a:solidFill>
                  <a:prstClr val="black"/>
                </a:solidFill>
                <a:latin typeface="Palatino Linotype"/>
                <a:cs typeface="Palatino Linotype"/>
              </a:rPr>
              <a:t>takes</a:t>
            </a:r>
            <a:r>
              <a:rPr sz="2000" kern="1200" dirty="0">
                <a:solidFill>
                  <a:prstClr val="black"/>
                </a:solidFill>
                <a:latin typeface="Palatino Linotype"/>
                <a:cs typeface="Palatino Linotype"/>
              </a:rPr>
              <a:t> </a:t>
            </a:r>
            <a:r>
              <a:rPr sz="2000" kern="1200" spc="-20" dirty="0">
                <a:solidFill>
                  <a:prstClr val="black"/>
                </a:solidFill>
                <a:latin typeface="Palatino Linotype"/>
                <a:cs typeface="Palatino Linotype"/>
              </a:rPr>
              <a:t>two</a:t>
            </a:r>
            <a:r>
              <a:rPr sz="2000" kern="1200" spc="-15" dirty="0">
                <a:solidFill>
                  <a:prstClr val="black"/>
                </a:solidFill>
                <a:latin typeface="Palatino Linotype"/>
                <a:cs typeface="Palatino Linotype"/>
              </a:rPr>
              <a:t> </a:t>
            </a:r>
            <a:r>
              <a:rPr sz="2000" kern="1200" spc="-5" dirty="0">
                <a:solidFill>
                  <a:prstClr val="black"/>
                </a:solidFill>
                <a:latin typeface="Palatino Linotype"/>
                <a:cs typeface="Palatino Linotype"/>
              </a:rPr>
              <a:t>types</a:t>
            </a:r>
            <a:r>
              <a:rPr sz="2000" kern="1200" dirty="0">
                <a:solidFill>
                  <a:prstClr val="black"/>
                </a:solidFill>
                <a:latin typeface="Palatino Linotype"/>
                <a:cs typeface="Palatino Linotype"/>
              </a:rPr>
              <a:t> </a:t>
            </a:r>
            <a:r>
              <a:rPr sz="2000" kern="1200" spc="-15" dirty="0">
                <a:solidFill>
                  <a:prstClr val="black"/>
                </a:solidFill>
                <a:latin typeface="Cambria Math"/>
                <a:cs typeface="Cambria Math"/>
              </a:rPr>
              <a:t>𝑡</a:t>
            </a:r>
            <a:r>
              <a:rPr sz="2175" kern="1200" spc="-22" baseline="-15325" dirty="0">
                <a:solidFill>
                  <a:prstClr val="black"/>
                </a:solidFill>
                <a:latin typeface="Cambria Math"/>
                <a:cs typeface="Cambria Math"/>
              </a:rPr>
              <a:t>1</a:t>
            </a:r>
            <a:r>
              <a:rPr sz="2175" kern="1200" spc="390" baseline="-15325" dirty="0">
                <a:solidFill>
                  <a:prstClr val="black"/>
                </a:solidFill>
                <a:latin typeface="Cambria Math"/>
                <a:cs typeface="Cambria Math"/>
              </a:rPr>
              <a:t> </a:t>
            </a:r>
            <a:r>
              <a:rPr sz="2000" kern="1200" dirty="0">
                <a:solidFill>
                  <a:prstClr val="black"/>
                </a:solidFill>
                <a:latin typeface="Palatino Linotype"/>
                <a:cs typeface="Palatino Linotype"/>
              </a:rPr>
              <a:t>and </a:t>
            </a:r>
            <a:r>
              <a:rPr sz="2000" kern="1200" spc="10" dirty="0">
                <a:solidFill>
                  <a:prstClr val="black"/>
                </a:solidFill>
                <a:latin typeface="Cambria Math"/>
                <a:cs typeface="Cambria Math"/>
              </a:rPr>
              <a:t>𝑡</a:t>
            </a:r>
            <a:r>
              <a:rPr sz="2175" kern="1200" spc="15" baseline="-15325" dirty="0">
                <a:solidFill>
                  <a:prstClr val="black"/>
                </a:solidFill>
                <a:latin typeface="Cambria Math"/>
                <a:cs typeface="Cambria Math"/>
              </a:rPr>
              <a:t>2</a:t>
            </a:r>
            <a:r>
              <a:rPr sz="2175" kern="1200" spc="390" baseline="-15325" dirty="0">
                <a:solidFill>
                  <a:prstClr val="black"/>
                </a:solidFill>
                <a:latin typeface="Cambria Math"/>
                <a:cs typeface="Cambria Math"/>
              </a:rPr>
              <a:t> </a:t>
            </a:r>
            <a:r>
              <a:rPr sz="2000" kern="1200" dirty="0">
                <a:solidFill>
                  <a:prstClr val="black"/>
                </a:solidFill>
                <a:latin typeface="Palatino Linotype"/>
                <a:cs typeface="Palatino Linotype"/>
              </a:rPr>
              <a:t>and </a:t>
            </a:r>
            <a:r>
              <a:rPr sz="2000" kern="1200" spc="-5" dirty="0">
                <a:solidFill>
                  <a:prstClr val="black"/>
                </a:solidFill>
                <a:latin typeface="Palatino Linotype"/>
                <a:cs typeface="Palatino Linotype"/>
              </a:rPr>
              <a:t>returns</a:t>
            </a:r>
            <a:r>
              <a:rPr sz="2000" kern="1200" spc="-2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spc="5" dirty="0">
                <a:solidFill>
                  <a:prstClr val="black"/>
                </a:solidFill>
                <a:latin typeface="Palatino Linotype"/>
                <a:cs typeface="Palatino Linotype"/>
              </a:rPr>
              <a:t> </a:t>
            </a:r>
            <a:r>
              <a:rPr sz="2000" kern="1200" dirty="0">
                <a:solidFill>
                  <a:srgbClr val="0431FF"/>
                </a:solidFill>
                <a:latin typeface="Palatino Linotype"/>
                <a:cs typeface="Palatino Linotype"/>
              </a:rPr>
              <a:t>maximum</a:t>
            </a:r>
            <a:r>
              <a:rPr sz="2000" kern="1200" spc="-25" dirty="0">
                <a:solidFill>
                  <a:srgbClr val="0431FF"/>
                </a:solidFill>
                <a:latin typeface="Palatino Linotype"/>
                <a:cs typeface="Palatino Linotype"/>
              </a:rPr>
              <a:t> </a:t>
            </a:r>
            <a:r>
              <a:rPr sz="2000" kern="1200" dirty="0">
                <a:solidFill>
                  <a:prstClr val="black"/>
                </a:solidFill>
                <a:latin typeface="Palatino Linotype"/>
                <a:cs typeface="Palatino Linotype"/>
              </a:rPr>
              <a:t>(or </a:t>
            </a:r>
            <a:r>
              <a:rPr sz="2000" kern="1200" spc="-484" dirty="0">
                <a:solidFill>
                  <a:prstClr val="black"/>
                </a:solidFill>
                <a:latin typeface="Palatino Linotype"/>
                <a:cs typeface="Palatino Linotype"/>
              </a:rPr>
              <a:t> </a:t>
            </a:r>
            <a:r>
              <a:rPr sz="2000" kern="1200" dirty="0">
                <a:solidFill>
                  <a:srgbClr val="0431FF"/>
                </a:solidFill>
                <a:latin typeface="Palatino Linotype"/>
                <a:cs typeface="Palatino Linotype"/>
              </a:rPr>
              <a:t>least</a:t>
            </a:r>
            <a:r>
              <a:rPr sz="2000" kern="1200" spc="-15" dirty="0">
                <a:solidFill>
                  <a:srgbClr val="0431FF"/>
                </a:solidFill>
                <a:latin typeface="Palatino Linotype"/>
                <a:cs typeface="Palatino Linotype"/>
              </a:rPr>
              <a:t> </a:t>
            </a:r>
            <a:r>
              <a:rPr sz="2000" kern="1200" spc="-5" dirty="0">
                <a:solidFill>
                  <a:srgbClr val="0431FF"/>
                </a:solidFill>
                <a:latin typeface="Palatino Linotype"/>
                <a:cs typeface="Palatino Linotype"/>
              </a:rPr>
              <a:t>upper</a:t>
            </a:r>
            <a:r>
              <a:rPr sz="2000" kern="1200" spc="-15" dirty="0">
                <a:solidFill>
                  <a:srgbClr val="0431FF"/>
                </a:solidFill>
                <a:latin typeface="Palatino Linotype"/>
                <a:cs typeface="Palatino Linotype"/>
              </a:rPr>
              <a:t> </a:t>
            </a:r>
            <a:r>
              <a:rPr sz="2000" kern="1200" spc="-5" dirty="0">
                <a:solidFill>
                  <a:srgbClr val="0431FF"/>
                </a:solidFill>
                <a:latin typeface="Palatino Linotype"/>
                <a:cs typeface="Palatino Linotype"/>
              </a:rPr>
              <a:t>bound</a:t>
            </a:r>
            <a:r>
              <a:rPr sz="2000" kern="1200" spc="-5" dirty="0">
                <a:solidFill>
                  <a:prstClr val="black"/>
                </a:solidFill>
                <a:latin typeface="Palatino Linotype"/>
                <a:cs typeface="Palatino Linotype"/>
              </a:rPr>
              <a:t>)</a:t>
            </a:r>
            <a:r>
              <a:rPr sz="2000" kern="1200" spc="-20" dirty="0">
                <a:solidFill>
                  <a:prstClr val="black"/>
                </a:solidFill>
                <a:latin typeface="Palatino Linotype"/>
                <a:cs typeface="Palatino Linotype"/>
              </a:rPr>
              <a:t> </a:t>
            </a:r>
            <a:r>
              <a:rPr sz="2000" kern="1200" dirty="0">
                <a:solidFill>
                  <a:prstClr val="black"/>
                </a:solidFill>
                <a:latin typeface="Palatino Linotype"/>
                <a:cs typeface="Palatino Linotype"/>
              </a:rPr>
              <a:t>of</a:t>
            </a:r>
            <a:r>
              <a:rPr sz="2000" kern="1200" spc="-15"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a:t>
            </a:r>
            <a:r>
              <a:rPr sz="2000" kern="1200" spc="-15" dirty="0">
                <a:solidFill>
                  <a:prstClr val="black"/>
                </a:solidFill>
                <a:latin typeface="Palatino Linotype"/>
                <a:cs typeface="Palatino Linotype"/>
              </a:rPr>
              <a:t>two </a:t>
            </a:r>
            <a:r>
              <a:rPr sz="2000" kern="1200" spc="-5" dirty="0">
                <a:solidFill>
                  <a:prstClr val="black"/>
                </a:solidFill>
                <a:latin typeface="Palatino Linotype"/>
                <a:cs typeface="Palatino Linotype"/>
              </a:rPr>
              <a:t>types</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in </a:t>
            </a:r>
            <a:r>
              <a:rPr sz="2000" kern="1200" spc="-5" dirty="0">
                <a:solidFill>
                  <a:prstClr val="black"/>
                </a:solidFill>
                <a:latin typeface="Palatino Linotype"/>
                <a:cs typeface="Palatino Linotype"/>
              </a:rPr>
              <a:t>the</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widening hierarchy</a:t>
            </a:r>
          </a:p>
          <a:p>
            <a:pPr marL="280670" marR="330200" indent="-230504" rtl="0">
              <a:lnSpc>
                <a:spcPct val="120100"/>
              </a:lnSpc>
              <a:spcBef>
                <a:spcPts val="1795"/>
              </a:spcBef>
              <a:buClr>
                <a:srgbClr val="000000"/>
              </a:buClr>
              <a:buFont typeface="Arial MT"/>
              <a:buChar char="•"/>
              <a:tabLst>
                <a:tab pos="280670" algn="l"/>
                <a:tab pos="281305" algn="l"/>
              </a:tabLst>
            </a:pPr>
            <a:r>
              <a:rPr sz="2000" kern="1200" spc="10" dirty="0">
                <a:solidFill>
                  <a:srgbClr val="FF0000"/>
                </a:solidFill>
                <a:latin typeface="Cambria Math"/>
                <a:cs typeface="Cambria Math"/>
              </a:rPr>
              <a:t>𝑤𝑖𝑑𝑒𝑛(𝑎,</a:t>
            </a:r>
            <a:r>
              <a:rPr sz="2000" kern="1200" spc="-105" dirty="0">
                <a:solidFill>
                  <a:srgbClr val="FF0000"/>
                </a:solidFill>
                <a:latin typeface="Cambria Math"/>
                <a:cs typeface="Cambria Math"/>
              </a:rPr>
              <a:t> </a:t>
            </a:r>
            <a:r>
              <a:rPr sz="2000" kern="1200" spc="20" dirty="0">
                <a:solidFill>
                  <a:srgbClr val="FF0000"/>
                </a:solidFill>
                <a:latin typeface="Cambria Math"/>
                <a:cs typeface="Cambria Math"/>
              </a:rPr>
              <a:t>𝑡,</a:t>
            </a:r>
            <a:r>
              <a:rPr sz="2000" kern="1200" spc="-110" dirty="0">
                <a:solidFill>
                  <a:srgbClr val="FF0000"/>
                </a:solidFill>
                <a:latin typeface="Cambria Math"/>
                <a:cs typeface="Cambria Math"/>
              </a:rPr>
              <a:t> </a:t>
            </a:r>
            <a:r>
              <a:rPr sz="2000" kern="1200" spc="25" dirty="0">
                <a:solidFill>
                  <a:srgbClr val="FF0000"/>
                </a:solidFill>
                <a:latin typeface="Cambria Math"/>
                <a:cs typeface="Cambria Math"/>
              </a:rPr>
              <a:t>𝑤)</a:t>
            </a:r>
            <a:r>
              <a:rPr sz="2000" kern="1200" spc="50" dirty="0">
                <a:solidFill>
                  <a:srgbClr val="FF0000"/>
                </a:solidFill>
                <a:latin typeface="Cambria Math"/>
                <a:cs typeface="Cambria Math"/>
              </a:rPr>
              <a:t> </a:t>
            </a:r>
            <a:r>
              <a:rPr sz="2000" kern="1200" spc="-5" dirty="0">
                <a:solidFill>
                  <a:prstClr val="black"/>
                </a:solidFill>
                <a:latin typeface="Palatino Linotype"/>
                <a:cs typeface="Palatino Linotype"/>
              </a:rPr>
              <a:t>generates</a:t>
            </a:r>
            <a:r>
              <a:rPr sz="2000" kern="1200" spc="-20" dirty="0">
                <a:solidFill>
                  <a:prstClr val="black"/>
                </a:solidFill>
                <a:latin typeface="Palatino Linotype"/>
                <a:cs typeface="Palatino Linotype"/>
              </a:rPr>
              <a:t> </a:t>
            </a:r>
            <a:r>
              <a:rPr sz="2000" kern="1200" spc="-5" dirty="0">
                <a:solidFill>
                  <a:prstClr val="black"/>
                </a:solidFill>
                <a:latin typeface="Palatino Linotype"/>
                <a:cs typeface="Palatino Linotype"/>
              </a:rPr>
              <a:t>type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conversions</a:t>
            </a:r>
            <a:r>
              <a:rPr sz="2000" kern="1200" spc="-20" dirty="0">
                <a:solidFill>
                  <a:prstClr val="black"/>
                </a:solidFill>
                <a:latin typeface="Palatino Linotype"/>
                <a:cs typeface="Palatino Linotype"/>
              </a:rPr>
              <a:t> </a:t>
            </a:r>
            <a:r>
              <a:rPr sz="2000" kern="1200" dirty="0">
                <a:solidFill>
                  <a:prstClr val="black"/>
                </a:solidFill>
                <a:latin typeface="Palatino Linotype"/>
                <a:cs typeface="Palatino Linotype"/>
              </a:rPr>
              <a:t>if</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needed</a:t>
            </a:r>
            <a:r>
              <a:rPr sz="2000" kern="1200" spc="5" dirty="0">
                <a:solidFill>
                  <a:prstClr val="black"/>
                </a:solidFill>
                <a:latin typeface="Palatino Linotype"/>
                <a:cs typeface="Palatino Linotype"/>
              </a:rPr>
              <a:t> </a:t>
            </a:r>
            <a:r>
              <a:rPr sz="2000" kern="1200" spc="-5" dirty="0">
                <a:solidFill>
                  <a:prstClr val="black"/>
                </a:solidFill>
                <a:latin typeface="Palatino Linotype"/>
                <a:cs typeface="Palatino Linotype"/>
              </a:rPr>
              <a:t>to</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widen</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an </a:t>
            </a:r>
            <a:r>
              <a:rPr sz="2000" kern="1200" spc="-484" dirty="0">
                <a:solidFill>
                  <a:prstClr val="black"/>
                </a:solidFill>
                <a:latin typeface="Palatino Linotype"/>
                <a:cs typeface="Palatino Linotype"/>
              </a:rPr>
              <a:t> </a:t>
            </a:r>
            <a:r>
              <a:rPr sz="2000" kern="1200" dirty="0">
                <a:solidFill>
                  <a:srgbClr val="0431FF"/>
                </a:solidFill>
                <a:latin typeface="Palatino Linotype"/>
                <a:cs typeface="Palatino Linotype"/>
              </a:rPr>
              <a:t>address</a:t>
            </a:r>
            <a:r>
              <a:rPr sz="2000" kern="1200" spc="-10" dirty="0">
                <a:solidFill>
                  <a:srgbClr val="0431FF"/>
                </a:solidFill>
                <a:latin typeface="Palatino Linotype"/>
                <a:cs typeface="Palatino Linotype"/>
              </a:rPr>
              <a:t> </a:t>
            </a:r>
            <a:r>
              <a:rPr sz="2000" kern="1200" dirty="0">
                <a:solidFill>
                  <a:srgbClr val="0431FF"/>
                </a:solidFill>
                <a:latin typeface="Cambria Math"/>
                <a:cs typeface="Cambria Math"/>
              </a:rPr>
              <a:t>𝑎</a:t>
            </a:r>
            <a:r>
              <a:rPr sz="2000" kern="1200" spc="110" dirty="0">
                <a:solidFill>
                  <a:srgbClr val="0431FF"/>
                </a:solidFill>
                <a:latin typeface="Cambria Math"/>
                <a:cs typeface="Cambria Math"/>
              </a:rPr>
              <a:t> </a:t>
            </a:r>
            <a:r>
              <a:rPr sz="2000" kern="1200" dirty="0">
                <a:solidFill>
                  <a:prstClr val="black"/>
                </a:solidFill>
                <a:latin typeface="Palatino Linotype"/>
                <a:cs typeface="Palatino Linotype"/>
              </a:rPr>
              <a:t>of</a:t>
            </a:r>
            <a:r>
              <a:rPr sz="2000" kern="1200" spc="-20" dirty="0">
                <a:solidFill>
                  <a:prstClr val="black"/>
                </a:solidFill>
                <a:latin typeface="Palatino Linotype"/>
                <a:cs typeface="Palatino Linotype"/>
              </a:rPr>
              <a:t> </a:t>
            </a:r>
            <a:r>
              <a:rPr sz="2000" kern="1200" spc="-5" dirty="0">
                <a:solidFill>
                  <a:srgbClr val="0431FF"/>
                </a:solidFill>
                <a:latin typeface="Palatino Linotype"/>
                <a:cs typeface="Palatino Linotype"/>
              </a:rPr>
              <a:t>type</a:t>
            </a:r>
            <a:r>
              <a:rPr sz="2000" kern="1200" dirty="0">
                <a:solidFill>
                  <a:srgbClr val="0431FF"/>
                </a:solidFill>
                <a:latin typeface="Palatino Linotype"/>
                <a:cs typeface="Palatino Linotype"/>
              </a:rPr>
              <a:t> </a:t>
            </a:r>
            <a:r>
              <a:rPr sz="2000" kern="1200" dirty="0">
                <a:solidFill>
                  <a:srgbClr val="0431FF"/>
                </a:solidFill>
                <a:latin typeface="Cambria Math"/>
                <a:cs typeface="Cambria Math"/>
              </a:rPr>
              <a:t>𝑡</a:t>
            </a:r>
            <a:r>
              <a:rPr sz="2000" kern="1200" spc="100" dirty="0">
                <a:solidFill>
                  <a:srgbClr val="0431FF"/>
                </a:solidFill>
                <a:latin typeface="Cambria Math"/>
                <a:cs typeface="Cambria Math"/>
              </a:rPr>
              <a:t> </a:t>
            </a:r>
            <a:r>
              <a:rPr sz="2000" kern="1200" spc="-5" dirty="0">
                <a:solidFill>
                  <a:prstClr val="black"/>
                </a:solidFill>
                <a:latin typeface="Palatino Linotype"/>
                <a:cs typeface="Palatino Linotype"/>
              </a:rPr>
              <a:t>into</a:t>
            </a:r>
            <a:r>
              <a:rPr sz="2000" kern="1200" dirty="0">
                <a:solidFill>
                  <a:prstClr val="black"/>
                </a:solidFill>
                <a:latin typeface="Palatino Linotype"/>
                <a:cs typeface="Palatino Linotype"/>
              </a:rPr>
              <a:t> a</a:t>
            </a:r>
            <a:r>
              <a:rPr sz="2000" kern="1200" spc="-5" dirty="0">
                <a:solidFill>
                  <a:prstClr val="black"/>
                </a:solidFill>
                <a:latin typeface="Palatino Linotype"/>
                <a:cs typeface="Palatino Linotype"/>
              </a:rPr>
              <a:t> </a:t>
            </a:r>
            <a:r>
              <a:rPr sz="2000" kern="1200" spc="-10" dirty="0">
                <a:solidFill>
                  <a:prstClr val="black"/>
                </a:solidFill>
                <a:latin typeface="Palatino Linotype"/>
                <a:cs typeface="Palatino Linotype"/>
              </a:rPr>
              <a:t>value</a:t>
            </a:r>
            <a:r>
              <a:rPr sz="2000" kern="1200" spc="-30" dirty="0">
                <a:solidFill>
                  <a:prstClr val="black"/>
                </a:solidFill>
                <a:latin typeface="Palatino Linotype"/>
                <a:cs typeface="Palatino Linotype"/>
              </a:rPr>
              <a:t> </a:t>
            </a:r>
            <a:r>
              <a:rPr sz="2000" kern="1200" dirty="0">
                <a:solidFill>
                  <a:prstClr val="black"/>
                </a:solidFill>
                <a:latin typeface="Palatino Linotype"/>
                <a:cs typeface="Palatino Linotype"/>
              </a:rPr>
              <a:t>of </a:t>
            </a:r>
            <a:r>
              <a:rPr sz="2000" kern="1200" spc="-5" dirty="0">
                <a:solidFill>
                  <a:srgbClr val="0431FF"/>
                </a:solidFill>
                <a:latin typeface="Palatino Linotype"/>
                <a:cs typeface="Palatino Linotype"/>
              </a:rPr>
              <a:t>type</a:t>
            </a:r>
            <a:r>
              <a:rPr sz="2000" kern="1200" spc="-10" dirty="0">
                <a:solidFill>
                  <a:srgbClr val="0431FF"/>
                </a:solidFill>
                <a:latin typeface="Palatino Linotype"/>
                <a:cs typeface="Palatino Linotype"/>
              </a:rPr>
              <a:t> </a:t>
            </a:r>
            <a:r>
              <a:rPr sz="2000" kern="1200" dirty="0">
                <a:solidFill>
                  <a:srgbClr val="0431FF"/>
                </a:solidFill>
                <a:latin typeface="Cambria Math"/>
                <a:cs typeface="Cambria Math"/>
              </a:rPr>
              <a:t>𝑤</a:t>
            </a:r>
            <a:endParaRPr sz="2000" kern="1200" dirty="0">
              <a:solidFill>
                <a:prstClr val="black"/>
              </a:solidFill>
              <a:latin typeface="Cambria Math"/>
              <a:cs typeface="Cambria Math"/>
            </a:endParaRPr>
          </a:p>
        </p:txBody>
      </p:sp>
      <p:grpSp>
        <p:nvGrpSpPr>
          <p:cNvPr id="15" name="object 4">
            <a:extLst>
              <a:ext uri="{FF2B5EF4-FFF2-40B4-BE49-F238E27FC236}">
                <a16:creationId xmlns:a16="http://schemas.microsoft.com/office/drawing/2014/main" id="{56C93146-5424-7D0C-7B28-066E6B858666}"/>
              </a:ext>
            </a:extLst>
          </p:cNvPr>
          <p:cNvGrpSpPr/>
          <p:nvPr/>
        </p:nvGrpSpPr>
        <p:grpSpPr>
          <a:xfrm>
            <a:off x="4135691" y="4364354"/>
            <a:ext cx="4390390" cy="1293495"/>
            <a:chOff x="4135691" y="4364354"/>
            <a:chExt cx="4390390" cy="1293495"/>
          </a:xfrm>
        </p:grpSpPr>
        <p:pic>
          <p:nvPicPr>
            <p:cNvPr id="16" name="object 5">
              <a:extLst>
                <a:ext uri="{FF2B5EF4-FFF2-40B4-BE49-F238E27FC236}">
                  <a16:creationId xmlns:a16="http://schemas.microsoft.com/office/drawing/2014/main" id="{69185A03-8083-5A31-961D-C65413B72402}"/>
                </a:ext>
              </a:extLst>
            </p:cNvPr>
            <p:cNvPicPr/>
            <p:nvPr/>
          </p:nvPicPr>
          <p:blipFill>
            <a:blip r:embed="rId3" cstate="print"/>
            <a:stretch>
              <a:fillRect/>
            </a:stretch>
          </p:blipFill>
          <p:spPr>
            <a:xfrm>
              <a:off x="4163958" y="4478377"/>
              <a:ext cx="4318531" cy="1081145"/>
            </a:xfrm>
            <a:prstGeom prst="rect">
              <a:avLst/>
            </a:prstGeom>
          </p:spPr>
        </p:pic>
        <p:sp>
          <p:nvSpPr>
            <p:cNvPr id="17" name="object 6">
              <a:extLst>
                <a:ext uri="{FF2B5EF4-FFF2-40B4-BE49-F238E27FC236}">
                  <a16:creationId xmlns:a16="http://schemas.microsoft.com/office/drawing/2014/main" id="{AF8D32B6-8632-5C7F-DBC5-238FFC7D3DA9}"/>
                </a:ext>
              </a:extLst>
            </p:cNvPr>
            <p:cNvSpPr/>
            <p:nvPr/>
          </p:nvSpPr>
          <p:spPr>
            <a:xfrm>
              <a:off x="4140453" y="4369117"/>
              <a:ext cx="4380865" cy="1283970"/>
            </a:xfrm>
            <a:custGeom>
              <a:avLst/>
              <a:gdLst/>
              <a:ahLst/>
              <a:cxnLst/>
              <a:rect l="l" t="t" r="r" b="b"/>
              <a:pathLst>
                <a:path w="4380865" h="1283970">
                  <a:moveTo>
                    <a:pt x="0" y="1283589"/>
                  </a:moveTo>
                  <a:lnTo>
                    <a:pt x="4380357" y="1283589"/>
                  </a:lnTo>
                  <a:lnTo>
                    <a:pt x="4380357" y="0"/>
                  </a:lnTo>
                  <a:lnTo>
                    <a:pt x="0" y="0"/>
                  </a:lnTo>
                  <a:lnTo>
                    <a:pt x="0" y="1283589"/>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grpSp>
        <p:nvGrpSpPr>
          <p:cNvPr id="18" name="object 7">
            <a:extLst>
              <a:ext uri="{FF2B5EF4-FFF2-40B4-BE49-F238E27FC236}">
                <a16:creationId xmlns:a16="http://schemas.microsoft.com/office/drawing/2014/main" id="{03F58261-F600-1825-3A7D-A889744772CD}"/>
              </a:ext>
            </a:extLst>
          </p:cNvPr>
          <p:cNvGrpSpPr/>
          <p:nvPr/>
        </p:nvGrpSpPr>
        <p:grpSpPr>
          <a:xfrm>
            <a:off x="702183" y="4067175"/>
            <a:ext cx="3169285" cy="1885950"/>
            <a:chOff x="702183" y="4067175"/>
            <a:chExt cx="3169285" cy="1885950"/>
          </a:xfrm>
        </p:grpSpPr>
        <p:pic>
          <p:nvPicPr>
            <p:cNvPr id="19" name="object 8">
              <a:extLst>
                <a:ext uri="{FF2B5EF4-FFF2-40B4-BE49-F238E27FC236}">
                  <a16:creationId xmlns:a16="http://schemas.microsoft.com/office/drawing/2014/main" id="{CB7C594B-35F4-D580-8F42-AE1003981C10}"/>
                </a:ext>
              </a:extLst>
            </p:cNvPr>
            <p:cNvPicPr/>
            <p:nvPr/>
          </p:nvPicPr>
          <p:blipFill>
            <a:blip r:embed="rId4" cstate="print"/>
            <a:stretch>
              <a:fillRect/>
            </a:stretch>
          </p:blipFill>
          <p:spPr>
            <a:xfrm>
              <a:off x="727484" y="4181877"/>
              <a:ext cx="3092259" cy="1688098"/>
            </a:xfrm>
            <a:prstGeom prst="rect">
              <a:avLst/>
            </a:prstGeom>
          </p:spPr>
        </p:pic>
        <p:sp>
          <p:nvSpPr>
            <p:cNvPr id="20" name="object 9">
              <a:extLst>
                <a:ext uri="{FF2B5EF4-FFF2-40B4-BE49-F238E27FC236}">
                  <a16:creationId xmlns:a16="http://schemas.microsoft.com/office/drawing/2014/main" id="{4B038BB4-6DFB-3223-23E8-43F779D85D22}"/>
                </a:ext>
              </a:extLst>
            </p:cNvPr>
            <p:cNvSpPr/>
            <p:nvPr/>
          </p:nvSpPr>
          <p:spPr>
            <a:xfrm>
              <a:off x="706945" y="4071937"/>
              <a:ext cx="3159760" cy="1876425"/>
            </a:xfrm>
            <a:custGeom>
              <a:avLst/>
              <a:gdLst/>
              <a:ahLst/>
              <a:cxnLst/>
              <a:rect l="l" t="t" r="r" b="b"/>
              <a:pathLst>
                <a:path w="3159760" h="1876425">
                  <a:moveTo>
                    <a:pt x="0" y="1876425"/>
                  </a:moveTo>
                  <a:lnTo>
                    <a:pt x="3159633" y="1876425"/>
                  </a:lnTo>
                  <a:lnTo>
                    <a:pt x="3159633" y="0"/>
                  </a:lnTo>
                  <a:lnTo>
                    <a:pt x="0" y="0"/>
                  </a:lnTo>
                  <a:lnTo>
                    <a:pt x="0" y="1876425"/>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Tree>
    <p:extLst>
      <p:ext uri="{BB962C8B-B14F-4D97-AF65-F5344CB8AC3E}">
        <p14:creationId xmlns:p14="http://schemas.microsoft.com/office/powerpoint/2010/main" val="23743290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77</a:t>
            </a:fld>
            <a:endParaRPr lang="en-US"/>
          </a:p>
        </p:txBody>
      </p:sp>
      <p:sp>
        <p:nvSpPr>
          <p:cNvPr id="34" name="object 2">
            <a:extLst>
              <a:ext uri="{FF2B5EF4-FFF2-40B4-BE49-F238E27FC236}">
                <a16:creationId xmlns:a16="http://schemas.microsoft.com/office/drawing/2014/main" id="{F6DBDF8E-E741-20D7-D3AC-FBB9E37CEAF5}"/>
              </a:ext>
            </a:extLst>
          </p:cNvPr>
          <p:cNvSpPr txBox="1">
            <a:spLocks/>
          </p:cNvSpPr>
          <p:nvPr/>
        </p:nvSpPr>
        <p:spPr>
          <a:xfrm>
            <a:off x="707542" y="520141"/>
            <a:ext cx="2026285"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35" name="object 3">
            <a:extLst>
              <a:ext uri="{FF2B5EF4-FFF2-40B4-BE49-F238E27FC236}">
                <a16:creationId xmlns:a16="http://schemas.microsoft.com/office/drawing/2014/main" id="{B25F85AA-9660-0A9E-576E-E67270765748}"/>
              </a:ext>
            </a:extLst>
          </p:cNvPr>
          <p:cNvSpPr txBox="1"/>
          <p:nvPr/>
        </p:nvSpPr>
        <p:spPr>
          <a:xfrm>
            <a:off x="707542" y="1658239"/>
            <a:ext cx="7249159" cy="391160"/>
          </a:xfrm>
          <a:prstGeom prst="rect">
            <a:avLst/>
          </a:prstGeom>
        </p:spPr>
        <p:txBody>
          <a:bodyPr vert="horz" wrap="square" lIns="0" tIns="12700" rIns="0" bIns="0" rtlCol="0">
            <a:spAutoFit/>
          </a:bodyPr>
          <a:lstStyle/>
          <a:p>
            <a:pPr marL="242570" indent="-230504" rtl="0">
              <a:spcBef>
                <a:spcPts val="100"/>
              </a:spcBef>
              <a:buFont typeface="Arial MT"/>
              <a:buChar char="•"/>
              <a:tabLst>
                <a:tab pos="243204" algn="l"/>
              </a:tabLst>
            </a:pPr>
            <a:r>
              <a:rPr sz="2400" kern="1200" dirty="0">
                <a:solidFill>
                  <a:prstClr val="black"/>
                </a:solidFill>
                <a:latin typeface="Consolas"/>
                <a:cs typeface="Consolas"/>
              </a:rPr>
              <a:t>a</a:t>
            </a:r>
            <a:r>
              <a:rPr sz="2400" kern="1200" spc="10" dirty="0">
                <a:solidFill>
                  <a:prstClr val="black"/>
                </a:solidFill>
                <a:latin typeface="Consolas"/>
                <a:cs typeface="Consolas"/>
              </a:rPr>
              <a:t> </a:t>
            </a:r>
            <a:r>
              <a:rPr sz="2400" kern="1200" dirty="0">
                <a:solidFill>
                  <a:prstClr val="black"/>
                </a:solidFill>
                <a:latin typeface="Consolas"/>
                <a:cs typeface="Consolas"/>
              </a:rPr>
              <a:t>+</a:t>
            </a:r>
            <a:r>
              <a:rPr sz="2400" kern="1200" spc="10" dirty="0">
                <a:solidFill>
                  <a:prstClr val="black"/>
                </a:solidFill>
                <a:latin typeface="Consolas"/>
                <a:cs typeface="Consolas"/>
              </a:rPr>
              <a:t> </a:t>
            </a:r>
            <a:r>
              <a:rPr sz="2400" kern="1200" dirty="0">
                <a:solidFill>
                  <a:prstClr val="black"/>
                </a:solidFill>
                <a:latin typeface="Consolas"/>
                <a:cs typeface="Consolas"/>
              </a:rPr>
              <a:t>b</a:t>
            </a:r>
            <a:r>
              <a:rPr sz="2400" kern="1200" spc="-720" dirty="0">
                <a:solidFill>
                  <a:prstClr val="black"/>
                </a:solidFill>
                <a:latin typeface="Consolas"/>
                <a:cs typeface="Consolas"/>
              </a:rPr>
              <a:t> </a:t>
            </a:r>
            <a:r>
              <a:rPr sz="2400" kern="1200" dirty="0">
                <a:solidFill>
                  <a:prstClr val="black"/>
                </a:solidFill>
                <a:latin typeface="Palatino Linotype"/>
                <a:cs typeface="Palatino Linotype"/>
              </a:rPr>
              <a:t>(</a:t>
            </a:r>
            <a:r>
              <a:rPr sz="2400" kern="1200" spc="5" dirty="0">
                <a:solidFill>
                  <a:prstClr val="black"/>
                </a:solidFill>
                <a:latin typeface="Palatino Linotype"/>
                <a:cs typeface="Palatino Linotype"/>
              </a:rPr>
              <a:t>s</a:t>
            </a:r>
            <a:r>
              <a:rPr sz="2400" kern="1200" dirty="0">
                <a:solidFill>
                  <a:prstClr val="black"/>
                </a:solidFill>
                <a:latin typeface="Palatino Linotype"/>
                <a:cs typeface="Palatino Linotype"/>
              </a:rPr>
              <a:t>u</a:t>
            </a:r>
            <a:r>
              <a:rPr sz="2400" kern="1200" spc="-5" dirty="0">
                <a:solidFill>
                  <a:prstClr val="black"/>
                </a:solidFill>
                <a:latin typeface="Palatino Linotype"/>
                <a:cs typeface="Palatino Linotype"/>
              </a:rPr>
              <a:t>ppos</a:t>
            </a:r>
            <a:r>
              <a:rPr sz="2400" kern="1200" dirty="0">
                <a:solidFill>
                  <a:prstClr val="black"/>
                </a:solidFill>
                <a:latin typeface="Palatino Linotype"/>
                <a:cs typeface="Palatino Linotype"/>
              </a:rPr>
              <a:t>e</a:t>
            </a:r>
            <a:r>
              <a:rPr sz="2400" kern="1200" spc="-25" dirty="0">
                <a:solidFill>
                  <a:prstClr val="black"/>
                </a:solidFill>
                <a:latin typeface="Palatino Linotype"/>
                <a:cs typeface="Palatino Linotype"/>
              </a:rPr>
              <a:t> </a:t>
            </a:r>
            <a:r>
              <a:rPr sz="2400" kern="1200" dirty="0">
                <a:solidFill>
                  <a:prstClr val="black"/>
                </a:solidFill>
                <a:latin typeface="Consolas"/>
                <a:cs typeface="Consolas"/>
              </a:rPr>
              <a:t>a</a:t>
            </a:r>
            <a:r>
              <a:rPr sz="2400" kern="1200" spc="-710" dirty="0">
                <a:solidFill>
                  <a:prstClr val="black"/>
                </a:solidFill>
                <a:latin typeface="Consolas"/>
                <a:cs typeface="Consolas"/>
              </a:rPr>
              <a:t> </a:t>
            </a:r>
            <a:r>
              <a:rPr sz="2400" kern="1200" spc="-5" dirty="0">
                <a:solidFill>
                  <a:prstClr val="black"/>
                </a:solidFill>
                <a:latin typeface="Palatino Linotype"/>
                <a:cs typeface="Palatino Linotype"/>
              </a:rPr>
              <a:t>i</a:t>
            </a:r>
            <a:r>
              <a:rPr sz="2400" kern="1200" dirty="0">
                <a:solidFill>
                  <a:prstClr val="black"/>
                </a:solidFill>
                <a:latin typeface="Palatino Linotype"/>
                <a:cs typeface="Palatino Linotype"/>
              </a:rPr>
              <a:t>s</a:t>
            </a:r>
            <a:r>
              <a:rPr sz="2400" kern="1200" spc="-15" dirty="0">
                <a:solidFill>
                  <a:prstClr val="black"/>
                </a:solidFill>
                <a:latin typeface="Palatino Linotype"/>
                <a:cs typeface="Palatino Linotype"/>
              </a:rPr>
              <a:t> </a:t>
            </a:r>
            <a:r>
              <a:rPr sz="2400" kern="1200" dirty="0">
                <a:solidFill>
                  <a:prstClr val="black"/>
                </a:solidFill>
                <a:latin typeface="Palatino Linotype"/>
                <a:cs typeface="Palatino Linotype"/>
              </a:rPr>
              <a:t>of </a:t>
            </a:r>
            <a:r>
              <a:rPr sz="2400" i="1" kern="1200" dirty="0">
                <a:solidFill>
                  <a:srgbClr val="FF0000"/>
                </a:solidFill>
                <a:latin typeface="Palatino Linotype"/>
                <a:cs typeface="Palatino Linotype"/>
              </a:rPr>
              <a:t>int</a:t>
            </a:r>
            <a:r>
              <a:rPr sz="2400" i="1" kern="1200" spc="5" dirty="0">
                <a:solidFill>
                  <a:srgbClr val="FF0000"/>
                </a:solidFill>
                <a:latin typeface="Palatino Linotype"/>
                <a:cs typeface="Palatino Linotype"/>
              </a:rPr>
              <a:t> </a:t>
            </a:r>
            <a:r>
              <a:rPr sz="2400" kern="1200" spc="-5" dirty="0">
                <a:solidFill>
                  <a:prstClr val="black"/>
                </a:solidFill>
                <a:latin typeface="Palatino Linotype"/>
                <a:cs typeface="Palatino Linotype"/>
              </a:rPr>
              <a:t>ty</a:t>
            </a:r>
            <a:r>
              <a:rPr sz="2400" kern="1200" spc="-10" dirty="0">
                <a:solidFill>
                  <a:prstClr val="black"/>
                </a:solidFill>
                <a:latin typeface="Palatino Linotype"/>
                <a:cs typeface="Palatino Linotype"/>
              </a:rPr>
              <a:t>p</a:t>
            </a:r>
            <a:r>
              <a:rPr sz="2400" kern="1200" dirty="0">
                <a:solidFill>
                  <a:prstClr val="black"/>
                </a:solidFill>
                <a:latin typeface="Palatino Linotype"/>
                <a:cs typeface="Palatino Linotype"/>
              </a:rPr>
              <a:t>e and</a:t>
            </a:r>
            <a:r>
              <a:rPr sz="2400" kern="1200" spc="5" dirty="0">
                <a:solidFill>
                  <a:prstClr val="black"/>
                </a:solidFill>
                <a:latin typeface="Palatino Linotype"/>
                <a:cs typeface="Palatino Linotype"/>
              </a:rPr>
              <a:t> </a:t>
            </a:r>
            <a:r>
              <a:rPr sz="2400" kern="1200" dirty="0">
                <a:solidFill>
                  <a:prstClr val="black"/>
                </a:solidFill>
                <a:latin typeface="Consolas"/>
                <a:cs typeface="Consolas"/>
              </a:rPr>
              <a:t>b</a:t>
            </a:r>
            <a:r>
              <a:rPr sz="2400" kern="1200" spc="-720" dirty="0">
                <a:solidFill>
                  <a:prstClr val="black"/>
                </a:solidFill>
                <a:latin typeface="Consolas"/>
                <a:cs typeface="Consolas"/>
              </a:rPr>
              <a:t> </a:t>
            </a:r>
            <a:r>
              <a:rPr sz="2400" kern="1200" spc="-5" dirty="0">
                <a:solidFill>
                  <a:prstClr val="black"/>
                </a:solidFill>
                <a:latin typeface="Palatino Linotype"/>
                <a:cs typeface="Palatino Linotype"/>
              </a:rPr>
              <a:t>i</a:t>
            </a:r>
            <a:r>
              <a:rPr sz="2400" kern="1200" dirty="0">
                <a:solidFill>
                  <a:prstClr val="black"/>
                </a:solidFill>
                <a:latin typeface="Palatino Linotype"/>
                <a:cs typeface="Palatino Linotype"/>
              </a:rPr>
              <a:t>s</a:t>
            </a:r>
            <a:r>
              <a:rPr sz="2400" kern="1200" spc="-5" dirty="0">
                <a:solidFill>
                  <a:prstClr val="black"/>
                </a:solidFill>
                <a:latin typeface="Palatino Linotype"/>
                <a:cs typeface="Palatino Linotype"/>
              </a:rPr>
              <a:t> </a:t>
            </a:r>
            <a:r>
              <a:rPr sz="2400" kern="1200" dirty="0">
                <a:solidFill>
                  <a:prstClr val="black"/>
                </a:solidFill>
                <a:latin typeface="Palatino Linotype"/>
                <a:cs typeface="Palatino Linotype"/>
              </a:rPr>
              <a:t>of </a:t>
            </a:r>
            <a:r>
              <a:rPr sz="2400" i="1" kern="1200" dirty="0">
                <a:solidFill>
                  <a:srgbClr val="FF0000"/>
                </a:solidFill>
                <a:latin typeface="Palatino Linotype"/>
                <a:cs typeface="Palatino Linotype"/>
              </a:rPr>
              <a:t>f</a:t>
            </a:r>
            <a:r>
              <a:rPr sz="2400" i="1" kern="1200" spc="5" dirty="0">
                <a:solidFill>
                  <a:srgbClr val="FF0000"/>
                </a:solidFill>
                <a:latin typeface="Palatino Linotype"/>
                <a:cs typeface="Palatino Linotype"/>
              </a:rPr>
              <a:t>l</a:t>
            </a:r>
            <a:r>
              <a:rPr sz="2400" i="1" kern="1200" dirty="0">
                <a:solidFill>
                  <a:srgbClr val="FF0000"/>
                </a:solidFill>
                <a:latin typeface="Palatino Linotype"/>
                <a:cs typeface="Palatino Linotype"/>
              </a:rPr>
              <a:t>oat</a:t>
            </a:r>
            <a:r>
              <a:rPr sz="2400" i="1" kern="1200" spc="-25" dirty="0">
                <a:solidFill>
                  <a:srgbClr val="FF0000"/>
                </a:solidFill>
                <a:latin typeface="Palatino Linotype"/>
                <a:cs typeface="Palatino Linotype"/>
              </a:rPr>
              <a:t> </a:t>
            </a:r>
            <a:r>
              <a:rPr sz="2400" kern="1200" spc="-5" dirty="0">
                <a:solidFill>
                  <a:prstClr val="black"/>
                </a:solidFill>
                <a:latin typeface="Palatino Linotype"/>
                <a:cs typeface="Palatino Linotype"/>
              </a:rPr>
              <a:t>ty</a:t>
            </a:r>
            <a:r>
              <a:rPr sz="2400" kern="1200" spc="-10" dirty="0">
                <a:solidFill>
                  <a:prstClr val="black"/>
                </a:solidFill>
                <a:latin typeface="Palatino Linotype"/>
                <a:cs typeface="Palatino Linotype"/>
              </a:rPr>
              <a:t>p</a:t>
            </a:r>
            <a:r>
              <a:rPr sz="2400" kern="1200" dirty="0">
                <a:solidFill>
                  <a:prstClr val="black"/>
                </a:solidFill>
                <a:latin typeface="Palatino Linotype"/>
                <a:cs typeface="Palatino Linotype"/>
              </a:rPr>
              <a:t>e)</a:t>
            </a:r>
            <a:endParaRPr sz="2400" kern="1200">
              <a:solidFill>
                <a:prstClr val="black"/>
              </a:solidFill>
              <a:latin typeface="Palatino Linotype"/>
              <a:cs typeface="Palatino Linotype"/>
            </a:endParaRPr>
          </a:p>
        </p:txBody>
      </p:sp>
      <p:grpSp>
        <p:nvGrpSpPr>
          <p:cNvPr id="36" name="object 4">
            <a:extLst>
              <a:ext uri="{FF2B5EF4-FFF2-40B4-BE49-F238E27FC236}">
                <a16:creationId xmlns:a16="http://schemas.microsoft.com/office/drawing/2014/main" id="{31E9A3A7-988D-46AB-93B3-765D4C0641A2}"/>
              </a:ext>
            </a:extLst>
          </p:cNvPr>
          <p:cNvGrpSpPr/>
          <p:nvPr/>
        </p:nvGrpSpPr>
        <p:grpSpPr>
          <a:xfrm>
            <a:off x="220599" y="4623434"/>
            <a:ext cx="5015865" cy="1423670"/>
            <a:chOff x="220599" y="4623434"/>
            <a:chExt cx="5015865" cy="1423670"/>
          </a:xfrm>
        </p:grpSpPr>
        <p:pic>
          <p:nvPicPr>
            <p:cNvPr id="37" name="object 5">
              <a:extLst>
                <a:ext uri="{FF2B5EF4-FFF2-40B4-BE49-F238E27FC236}">
                  <a16:creationId xmlns:a16="http://schemas.microsoft.com/office/drawing/2014/main" id="{F9953A83-E8D7-35B6-3CD9-6558D9A65091}"/>
                </a:ext>
              </a:extLst>
            </p:cNvPr>
            <p:cNvPicPr/>
            <p:nvPr/>
          </p:nvPicPr>
          <p:blipFill>
            <a:blip r:embed="rId3" cstate="print"/>
            <a:stretch>
              <a:fillRect/>
            </a:stretch>
          </p:blipFill>
          <p:spPr>
            <a:xfrm>
              <a:off x="248796" y="4737332"/>
              <a:ext cx="4317025" cy="1079852"/>
            </a:xfrm>
            <a:prstGeom prst="rect">
              <a:avLst/>
            </a:prstGeom>
          </p:spPr>
        </p:pic>
        <p:sp>
          <p:nvSpPr>
            <p:cNvPr id="38" name="object 6">
              <a:extLst>
                <a:ext uri="{FF2B5EF4-FFF2-40B4-BE49-F238E27FC236}">
                  <a16:creationId xmlns:a16="http://schemas.microsoft.com/office/drawing/2014/main" id="{72492A9A-8915-23EE-39F1-12E605B9BE52}"/>
                </a:ext>
              </a:extLst>
            </p:cNvPr>
            <p:cNvSpPr/>
            <p:nvPr/>
          </p:nvSpPr>
          <p:spPr>
            <a:xfrm>
              <a:off x="225361" y="4628197"/>
              <a:ext cx="4378960" cy="1282065"/>
            </a:xfrm>
            <a:custGeom>
              <a:avLst/>
              <a:gdLst/>
              <a:ahLst/>
              <a:cxnLst/>
              <a:rect l="l" t="t" r="r" b="b"/>
              <a:pathLst>
                <a:path w="4378960" h="1282064">
                  <a:moveTo>
                    <a:pt x="0" y="1282064"/>
                  </a:moveTo>
                  <a:lnTo>
                    <a:pt x="4378833" y="1282064"/>
                  </a:lnTo>
                  <a:lnTo>
                    <a:pt x="4378833" y="0"/>
                  </a:lnTo>
                  <a:lnTo>
                    <a:pt x="0" y="0"/>
                  </a:lnTo>
                  <a:lnTo>
                    <a:pt x="0" y="1282064"/>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9" name="object 7">
              <a:extLst>
                <a:ext uri="{FF2B5EF4-FFF2-40B4-BE49-F238E27FC236}">
                  <a16:creationId xmlns:a16="http://schemas.microsoft.com/office/drawing/2014/main" id="{D736FBD1-9420-6682-6FC8-0C15A77E1E99}"/>
                </a:ext>
              </a:extLst>
            </p:cNvPr>
            <p:cNvSpPr/>
            <p:nvPr/>
          </p:nvSpPr>
          <p:spPr>
            <a:xfrm>
              <a:off x="3520439" y="4802123"/>
              <a:ext cx="1709420" cy="1238885"/>
            </a:xfrm>
            <a:custGeom>
              <a:avLst/>
              <a:gdLst/>
              <a:ahLst/>
              <a:cxnLst/>
              <a:rect l="l" t="t" r="r" b="b"/>
              <a:pathLst>
                <a:path w="1709420" h="1238885">
                  <a:moveTo>
                    <a:pt x="771144" y="0"/>
                  </a:moveTo>
                  <a:lnTo>
                    <a:pt x="1684274" y="0"/>
                  </a:lnTo>
                </a:path>
                <a:path w="1709420" h="1238885">
                  <a:moveTo>
                    <a:pt x="1078992" y="315468"/>
                  </a:moveTo>
                  <a:lnTo>
                    <a:pt x="1685036" y="315468"/>
                  </a:lnTo>
                </a:path>
                <a:path w="1709420" h="1238885">
                  <a:moveTo>
                    <a:pt x="1078992" y="467867"/>
                  </a:moveTo>
                  <a:lnTo>
                    <a:pt x="1709293" y="632206"/>
                  </a:lnTo>
                </a:path>
                <a:path w="1709420" h="1238885">
                  <a:moveTo>
                    <a:pt x="0" y="693419"/>
                  </a:moveTo>
                  <a:lnTo>
                    <a:pt x="1708531" y="948283"/>
                  </a:lnTo>
                </a:path>
                <a:path w="1709420" h="1238885">
                  <a:moveTo>
                    <a:pt x="254508" y="955547"/>
                  </a:moveTo>
                  <a:lnTo>
                    <a:pt x="1705864" y="1238300"/>
                  </a:lnTo>
                </a:path>
              </a:pathLst>
            </a:custGeom>
            <a:ln w="12700">
              <a:solidFill>
                <a:srgbClr val="FF0000"/>
              </a:solidFill>
              <a:prstDash val="sysDash"/>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pic>
        <p:nvPicPr>
          <p:cNvPr id="40" name="object 8">
            <a:extLst>
              <a:ext uri="{FF2B5EF4-FFF2-40B4-BE49-F238E27FC236}">
                <a16:creationId xmlns:a16="http://schemas.microsoft.com/office/drawing/2014/main" id="{0346D5A1-DE05-1794-0F40-CD3909056C5C}"/>
              </a:ext>
            </a:extLst>
          </p:cNvPr>
          <p:cNvPicPr/>
          <p:nvPr/>
        </p:nvPicPr>
        <p:blipFill>
          <a:blip r:embed="rId4" cstate="print"/>
          <a:stretch>
            <a:fillRect/>
          </a:stretch>
        </p:blipFill>
        <p:spPr>
          <a:xfrm>
            <a:off x="250472" y="2600051"/>
            <a:ext cx="3092259" cy="1689476"/>
          </a:xfrm>
          <a:prstGeom prst="rect">
            <a:avLst/>
          </a:prstGeom>
        </p:spPr>
      </p:pic>
      <p:sp>
        <p:nvSpPr>
          <p:cNvPr id="41" name="object 9">
            <a:extLst>
              <a:ext uri="{FF2B5EF4-FFF2-40B4-BE49-F238E27FC236}">
                <a16:creationId xmlns:a16="http://schemas.microsoft.com/office/drawing/2014/main" id="{A81188C3-8DD3-5AF9-7A7D-4BC5EF7CB7F8}"/>
              </a:ext>
            </a:extLst>
          </p:cNvPr>
          <p:cNvSpPr txBox="1"/>
          <p:nvPr/>
        </p:nvSpPr>
        <p:spPr>
          <a:xfrm>
            <a:off x="4030217" y="3785107"/>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a</a:t>
            </a:r>
            <a:endParaRPr kern="1200">
              <a:solidFill>
                <a:prstClr val="black"/>
              </a:solidFill>
              <a:latin typeface="Consolas"/>
              <a:cs typeface="Consolas"/>
            </a:endParaRPr>
          </a:p>
        </p:txBody>
      </p:sp>
      <p:sp>
        <p:nvSpPr>
          <p:cNvPr id="42" name="object 10">
            <a:extLst>
              <a:ext uri="{FF2B5EF4-FFF2-40B4-BE49-F238E27FC236}">
                <a16:creationId xmlns:a16="http://schemas.microsoft.com/office/drawing/2014/main" id="{AB72D0A1-11C2-74F3-E965-C61595E623F8}"/>
              </a:ext>
            </a:extLst>
          </p:cNvPr>
          <p:cNvSpPr txBox="1"/>
          <p:nvPr/>
        </p:nvSpPr>
        <p:spPr>
          <a:xfrm>
            <a:off x="5000371" y="3141345"/>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a:t>
            </a:r>
            <a:endParaRPr kern="1200">
              <a:solidFill>
                <a:prstClr val="black"/>
              </a:solidFill>
              <a:latin typeface="Consolas"/>
              <a:cs typeface="Consolas"/>
            </a:endParaRPr>
          </a:p>
        </p:txBody>
      </p:sp>
      <p:sp>
        <p:nvSpPr>
          <p:cNvPr id="43" name="object 11">
            <a:extLst>
              <a:ext uri="{FF2B5EF4-FFF2-40B4-BE49-F238E27FC236}">
                <a16:creationId xmlns:a16="http://schemas.microsoft.com/office/drawing/2014/main" id="{2EDF1891-EE60-EAAC-876F-C9B29FF8EA44}"/>
              </a:ext>
            </a:extLst>
          </p:cNvPr>
          <p:cNvSpPr txBox="1"/>
          <p:nvPr/>
        </p:nvSpPr>
        <p:spPr>
          <a:xfrm>
            <a:off x="5970523" y="3785107"/>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b</a:t>
            </a:r>
            <a:endParaRPr kern="1200">
              <a:solidFill>
                <a:prstClr val="black"/>
              </a:solidFill>
              <a:latin typeface="Consolas"/>
              <a:cs typeface="Consolas"/>
            </a:endParaRPr>
          </a:p>
        </p:txBody>
      </p:sp>
      <p:sp>
        <p:nvSpPr>
          <p:cNvPr id="44" name="object 12">
            <a:extLst>
              <a:ext uri="{FF2B5EF4-FFF2-40B4-BE49-F238E27FC236}">
                <a16:creationId xmlns:a16="http://schemas.microsoft.com/office/drawing/2014/main" id="{B227116E-F6D2-FD01-3198-E44AB5103A5F}"/>
              </a:ext>
            </a:extLst>
          </p:cNvPr>
          <p:cNvSpPr txBox="1"/>
          <p:nvPr/>
        </p:nvSpPr>
        <p:spPr>
          <a:xfrm>
            <a:off x="4030217" y="3141345"/>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E</a:t>
            </a:r>
            <a:endParaRPr kern="1200">
              <a:solidFill>
                <a:prstClr val="black"/>
              </a:solidFill>
              <a:latin typeface="Consolas"/>
              <a:cs typeface="Consolas"/>
            </a:endParaRPr>
          </a:p>
        </p:txBody>
      </p:sp>
      <p:sp>
        <p:nvSpPr>
          <p:cNvPr id="45" name="object 13">
            <a:extLst>
              <a:ext uri="{FF2B5EF4-FFF2-40B4-BE49-F238E27FC236}">
                <a16:creationId xmlns:a16="http://schemas.microsoft.com/office/drawing/2014/main" id="{0648123A-8DCD-0ABA-8D6F-5A9F19034DC6}"/>
              </a:ext>
            </a:extLst>
          </p:cNvPr>
          <p:cNvSpPr txBox="1"/>
          <p:nvPr/>
        </p:nvSpPr>
        <p:spPr>
          <a:xfrm>
            <a:off x="5970523" y="3141345"/>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E</a:t>
            </a:r>
            <a:endParaRPr kern="1200">
              <a:solidFill>
                <a:prstClr val="black"/>
              </a:solidFill>
              <a:latin typeface="Consolas"/>
              <a:cs typeface="Consolas"/>
            </a:endParaRPr>
          </a:p>
        </p:txBody>
      </p:sp>
      <p:sp>
        <p:nvSpPr>
          <p:cNvPr id="46" name="object 14">
            <a:extLst>
              <a:ext uri="{FF2B5EF4-FFF2-40B4-BE49-F238E27FC236}">
                <a16:creationId xmlns:a16="http://schemas.microsoft.com/office/drawing/2014/main" id="{F32BA652-6DF0-EB7E-07FD-6C6F76FE1418}"/>
              </a:ext>
            </a:extLst>
          </p:cNvPr>
          <p:cNvSpPr txBox="1"/>
          <p:nvPr/>
        </p:nvSpPr>
        <p:spPr>
          <a:xfrm>
            <a:off x="4997958" y="2506217"/>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E</a:t>
            </a:r>
            <a:endParaRPr kern="1200">
              <a:solidFill>
                <a:prstClr val="black"/>
              </a:solidFill>
              <a:latin typeface="Consolas"/>
              <a:cs typeface="Consolas"/>
            </a:endParaRPr>
          </a:p>
        </p:txBody>
      </p:sp>
      <p:sp>
        <p:nvSpPr>
          <p:cNvPr id="47" name="object 15">
            <a:extLst>
              <a:ext uri="{FF2B5EF4-FFF2-40B4-BE49-F238E27FC236}">
                <a16:creationId xmlns:a16="http://schemas.microsoft.com/office/drawing/2014/main" id="{5363300D-7554-ED16-E369-79649A80BF32}"/>
              </a:ext>
            </a:extLst>
          </p:cNvPr>
          <p:cNvSpPr/>
          <p:nvPr/>
        </p:nvSpPr>
        <p:spPr>
          <a:xfrm>
            <a:off x="4107179" y="2671572"/>
            <a:ext cx="812165" cy="450215"/>
          </a:xfrm>
          <a:custGeom>
            <a:avLst/>
            <a:gdLst/>
            <a:ahLst/>
            <a:cxnLst/>
            <a:rect l="l" t="t" r="r" b="b"/>
            <a:pathLst>
              <a:path w="812164" h="450214">
                <a:moveTo>
                  <a:pt x="811911" y="0"/>
                </a:moveTo>
                <a:lnTo>
                  <a:pt x="0" y="450214"/>
                </a:lnTo>
              </a:path>
            </a:pathLst>
          </a:custGeom>
          <a:ln w="12699">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8" name="object 16">
            <a:extLst>
              <a:ext uri="{FF2B5EF4-FFF2-40B4-BE49-F238E27FC236}">
                <a16:creationId xmlns:a16="http://schemas.microsoft.com/office/drawing/2014/main" id="{F750A453-14B5-6977-4F44-42A5C787558C}"/>
              </a:ext>
            </a:extLst>
          </p:cNvPr>
          <p:cNvSpPr/>
          <p:nvPr/>
        </p:nvSpPr>
        <p:spPr>
          <a:xfrm>
            <a:off x="4107179" y="3489959"/>
            <a:ext cx="0" cy="274320"/>
          </a:xfrm>
          <a:custGeom>
            <a:avLst/>
            <a:gdLst/>
            <a:ahLst/>
            <a:cxnLst/>
            <a:rect l="l" t="t" r="r" b="b"/>
            <a:pathLst>
              <a:path h="274320">
                <a:moveTo>
                  <a:pt x="0" y="274319"/>
                </a:moveTo>
                <a:lnTo>
                  <a:pt x="0" y="0"/>
                </a:lnTo>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9" name="object 17">
            <a:extLst>
              <a:ext uri="{FF2B5EF4-FFF2-40B4-BE49-F238E27FC236}">
                <a16:creationId xmlns:a16="http://schemas.microsoft.com/office/drawing/2014/main" id="{B03DA058-F793-AA06-ADF2-FC37A513DB72}"/>
              </a:ext>
            </a:extLst>
          </p:cNvPr>
          <p:cNvSpPr/>
          <p:nvPr/>
        </p:nvSpPr>
        <p:spPr>
          <a:xfrm>
            <a:off x="6045708" y="3489959"/>
            <a:ext cx="0" cy="274320"/>
          </a:xfrm>
          <a:custGeom>
            <a:avLst/>
            <a:gdLst/>
            <a:ahLst/>
            <a:cxnLst/>
            <a:rect l="l" t="t" r="r" b="b"/>
            <a:pathLst>
              <a:path h="274320">
                <a:moveTo>
                  <a:pt x="0" y="274319"/>
                </a:moveTo>
                <a:lnTo>
                  <a:pt x="0" y="0"/>
                </a:lnTo>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0" name="object 18">
            <a:extLst>
              <a:ext uri="{FF2B5EF4-FFF2-40B4-BE49-F238E27FC236}">
                <a16:creationId xmlns:a16="http://schemas.microsoft.com/office/drawing/2014/main" id="{354145E1-50FE-7125-2ACD-0FCB37EEC266}"/>
              </a:ext>
            </a:extLst>
          </p:cNvPr>
          <p:cNvSpPr/>
          <p:nvPr/>
        </p:nvSpPr>
        <p:spPr>
          <a:xfrm>
            <a:off x="5073396" y="2855976"/>
            <a:ext cx="2540" cy="266065"/>
          </a:xfrm>
          <a:custGeom>
            <a:avLst/>
            <a:gdLst/>
            <a:ahLst/>
            <a:cxnLst/>
            <a:rect l="l" t="t" r="r" b="b"/>
            <a:pathLst>
              <a:path w="2539" h="266064">
                <a:moveTo>
                  <a:pt x="2412" y="265557"/>
                </a:moveTo>
                <a:lnTo>
                  <a:pt x="0" y="0"/>
                </a:lnTo>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1" name="object 19">
            <a:extLst>
              <a:ext uri="{FF2B5EF4-FFF2-40B4-BE49-F238E27FC236}">
                <a16:creationId xmlns:a16="http://schemas.microsoft.com/office/drawing/2014/main" id="{3635E4F5-2D68-FF21-33FA-182674B0C904}"/>
              </a:ext>
            </a:extLst>
          </p:cNvPr>
          <p:cNvSpPr/>
          <p:nvPr/>
        </p:nvSpPr>
        <p:spPr>
          <a:xfrm>
            <a:off x="5230367" y="2671572"/>
            <a:ext cx="817244" cy="450215"/>
          </a:xfrm>
          <a:custGeom>
            <a:avLst/>
            <a:gdLst/>
            <a:ahLst/>
            <a:cxnLst/>
            <a:rect l="l" t="t" r="r" b="b"/>
            <a:pathLst>
              <a:path w="817245" h="450214">
                <a:moveTo>
                  <a:pt x="816737" y="450214"/>
                </a:moveTo>
                <a:lnTo>
                  <a:pt x="0" y="0"/>
                </a:lnTo>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2" name="object 20">
            <a:extLst>
              <a:ext uri="{FF2B5EF4-FFF2-40B4-BE49-F238E27FC236}">
                <a16:creationId xmlns:a16="http://schemas.microsoft.com/office/drawing/2014/main" id="{A40AD007-2948-4D09-A0E1-BC710812D0A0}"/>
              </a:ext>
            </a:extLst>
          </p:cNvPr>
          <p:cNvSpPr txBox="1"/>
          <p:nvPr/>
        </p:nvSpPr>
        <p:spPr>
          <a:xfrm>
            <a:off x="5246623" y="4582820"/>
            <a:ext cx="3418840" cy="1593215"/>
          </a:xfrm>
          <a:prstGeom prst="rect">
            <a:avLst/>
          </a:prstGeom>
        </p:spPr>
        <p:txBody>
          <a:bodyPr vert="horz" wrap="square" lIns="0" tIns="15240" rIns="0" bIns="0" rtlCol="0">
            <a:spAutoFit/>
          </a:bodyPr>
          <a:lstStyle/>
          <a:p>
            <a:pPr marL="50800" marR="30480" algn="just" rtl="0">
              <a:lnSpc>
                <a:spcPct val="128299"/>
              </a:lnSpc>
              <a:spcBef>
                <a:spcPts val="120"/>
              </a:spcBef>
            </a:pPr>
            <a:r>
              <a:rPr sz="1600" i="1" kern="1200" spc="-5" dirty="0">
                <a:solidFill>
                  <a:prstClr val="black"/>
                </a:solidFill>
                <a:latin typeface="Palatino Linotype"/>
                <a:cs typeface="Palatino Linotype"/>
              </a:rPr>
              <a:t>E.type </a:t>
            </a:r>
            <a:r>
              <a:rPr sz="1600" kern="1200" spc="-5" dirty="0">
                <a:solidFill>
                  <a:prstClr val="black"/>
                </a:solidFill>
                <a:latin typeface="Palatino Linotype"/>
                <a:cs typeface="Palatino Linotype"/>
              </a:rPr>
              <a:t>= </a:t>
            </a:r>
            <a:r>
              <a:rPr sz="1600" i="1" kern="1200" spc="-10" dirty="0">
                <a:solidFill>
                  <a:prstClr val="black"/>
                </a:solidFill>
                <a:latin typeface="Palatino Linotype"/>
                <a:cs typeface="Palatino Linotype"/>
              </a:rPr>
              <a:t>max</a:t>
            </a:r>
            <a:r>
              <a:rPr sz="1600" kern="1200" spc="-10" dirty="0">
                <a:solidFill>
                  <a:prstClr val="black"/>
                </a:solidFill>
                <a:latin typeface="Palatino Linotype"/>
                <a:cs typeface="Palatino Linotype"/>
              </a:rPr>
              <a:t>(</a:t>
            </a:r>
            <a:r>
              <a:rPr sz="1600" kern="1200" spc="-10" dirty="0">
                <a:solidFill>
                  <a:prstClr val="black"/>
                </a:solidFill>
                <a:latin typeface="Consolas"/>
                <a:cs typeface="Consolas"/>
              </a:rPr>
              <a:t>int</a:t>
            </a:r>
            <a:r>
              <a:rPr sz="1600" kern="1200" spc="-10" dirty="0">
                <a:solidFill>
                  <a:prstClr val="black"/>
                </a:solidFill>
                <a:latin typeface="Palatino Linotype"/>
                <a:cs typeface="Palatino Linotype"/>
              </a:rPr>
              <a:t>, </a:t>
            </a:r>
            <a:r>
              <a:rPr sz="1600" kern="1200" spc="-10" dirty="0">
                <a:solidFill>
                  <a:prstClr val="black"/>
                </a:solidFill>
                <a:latin typeface="Consolas"/>
                <a:cs typeface="Consolas"/>
              </a:rPr>
              <a:t>float</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 </a:t>
            </a:r>
            <a:r>
              <a:rPr sz="1600" kern="1200" spc="-10" dirty="0">
                <a:solidFill>
                  <a:prstClr val="black"/>
                </a:solidFill>
                <a:latin typeface="Consolas"/>
                <a:cs typeface="Consolas"/>
              </a:rPr>
              <a:t>float</a:t>
            </a:r>
            <a:r>
              <a:rPr sz="1600" kern="1200" spc="855" dirty="0">
                <a:solidFill>
                  <a:prstClr val="black"/>
                </a:solidFill>
                <a:latin typeface="Consolas"/>
                <a:cs typeface="Consolas"/>
              </a:rPr>
              <a:t> </a:t>
            </a:r>
            <a:r>
              <a:rPr sz="2400" kern="1200" spc="-7" baseline="8680" dirty="0">
                <a:solidFill>
                  <a:srgbClr val="FF0000"/>
                </a:solidFill>
                <a:latin typeface="Palatino Linotype"/>
                <a:cs typeface="Palatino Linotype"/>
              </a:rPr>
              <a:t>1 </a:t>
            </a:r>
            <a:r>
              <a:rPr sz="2400" kern="1200" baseline="8680" dirty="0">
                <a:solidFill>
                  <a:srgbClr val="FF0000"/>
                </a:solidFill>
                <a:latin typeface="Palatino Linotype"/>
                <a:cs typeface="Palatino Linotype"/>
              </a:rPr>
              <a:t> </a:t>
            </a:r>
            <a:r>
              <a:rPr sz="1600" i="1" kern="1200" dirty="0">
                <a:solidFill>
                  <a:prstClr val="black"/>
                </a:solidFill>
                <a:latin typeface="Palatino Linotype"/>
                <a:cs typeface="Palatino Linotype"/>
              </a:rPr>
              <a:t>a</a:t>
            </a:r>
            <a:r>
              <a:rPr sz="1575" kern="1200" baseline="-21164" dirty="0">
                <a:solidFill>
                  <a:prstClr val="black"/>
                </a:solidFill>
                <a:latin typeface="Palatino Linotype"/>
                <a:cs typeface="Palatino Linotype"/>
              </a:rPr>
              <a:t>1 </a:t>
            </a:r>
            <a:r>
              <a:rPr sz="1600" kern="1200" spc="-5" dirty="0">
                <a:solidFill>
                  <a:prstClr val="black"/>
                </a:solidFill>
                <a:latin typeface="Palatino Linotype"/>
                <a:cs typeface="Palatino Linotype"/>
              </a:rPr>
              <a:t>= </a:t>
            </a:r>
            <a:r>
              <a:rPr sz="1600" i="1" kern="1200" spc="-5" dirty="0">
                <a:solidFill>
                  <a:prstClr val="black"/>
                </a:solidFill>
                <a:latin typeface="Palatino Linotype"/>
                <a:cs typeface="Palatino Linotype"/>
              </a:rPr>
              <a:t>widen</a:t>
            </a:r>
            <a:r>
              <a:rPr sz="1600" kern="1200" spc="-5" dirty="0">
                <a:solidFill>
                  <a:prstClr val="black"/>
                </a:solidFill>
                <a:latin typeface="Palatino Linotype"/>
                <a:cs typeface="Palatino Linotype"/>
              </a:rPr>
              <a:t>(</a:t>
            </a:r>
            <a:r>
              <a:rPr sz="1600" kern="1200" spc="-5" dirty="0">
                <a:solidFill>
                  <a:prstClr val="black"/>
                </a:solidFill>
                <a:latin typeface="Consolas"/>
                <a:cs typeface="Consolas"/>
              </a:rPr>
              <a:t>a</a:t>
            </a:r>
            <a:r>
              <a:rPr sz="1600" kern="1200" spc="-5" dirty="0">
                <a:solidFill>
                  <a:prstClr val="black"/>
                </a:solidFill>
                <a:latin typeface="Palatino Linotype"/>
                <a:cs typeface="Palatino Linotype"/>
              </a:rPr>
              <a:t>, </a:t>
            </a:r>
            <a:r>
              <a:rPr sz="1600" kern="1200" spc="-10" dirty="0">
                <a:solidFill>
                  <a:prstClr val="black"/>
                </a:solidFill>
                <a:latin typeface="Consolas"/>
                <a:cs typeface="Consolas"/>
              </a:rPr>
              <a:t>int</a:t>
            </a:r>
            <a:r>
              <a:rPr sz="1600" kern="1200" spc="-10" dirty="0">
                <a:solidFill>
                  <a:prstClr val="black"/>
                </a:solidFill>
                <a:latin typeface="Palatino Linotype"/>
                <a:cs typeface="Palatino Linotype"/>
              </a:rPr>
              <a:t>, </a:t>
            </a:r>
            <a:r>
              <a:rPr sz="1600" kern="1200" spc="-10" dirty="0">
                <a:solidFill>
                  <a:prstClr val="black"/>
                </a:solidFill>
                <a:latin typeface="Consolas"/>
                <a:cs typeface="Consolas"/>
              </a:rPr>
              <a:t>float</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 </a:t>
            </a:r>
            <a:r>
              <a:rPr sz="1600" kern="1200" spc="-10" dirty="0">
                <a:solidFill>
                  <a:prstClr val="black"/>
                </a:solidFill>
                <a:latin typeface="Consolas"/>
                <a:cs typeface="Consolas"/>
              </a:rPr>
              <a:t>temp</a:t>
            </a:r>
            <a:r>
              <a:rPr sz="1600" kern="1200" spc="1725" dirty="0">
                <a:solidFill>
                  <a:prstClr val="black"/>
                </a:solidFill>
                <a:latin typeface="Consolas"/>
                <a:cs typeface="Consolas"/>
              </a:rPr>
              <a:t> </a:t>
            </a:r>
            <a:r>
              <a:rPr sz="1600" kern="1200" spc="-5" dirty="0">
                <a:solidFill>
                  <a:srgbClr val="FF0000"/>
                </a:solidFill>
                <a:latin typeface="Palatino Linotype"/>
                <a:cs typeface="Palatino Linotype"/>
              </a:rPr>
              <a:t>2 </a:t>
            </a:r>
            <a:r>
              <a:rPr sz="1600" kern="1200" dirty="0">
                <a:solidFill>
                  <a:srgbClr val="FF0000"/>
                </a:solidFill>
                <a:latin typeface="Palatino Linotype"/>
                <a:cs typeface="Palatino Linotype"/>
              </a:rPr>
              <a:t> </a:t>
            </a:r>
            <a:r>
              <a:rPr sz="1600" i="1" kern="1200" dirty="0">
                <a:solidFill>
                  <a:prstClr val="black"/>
                </a:solidFill>
                <a:latin typeface="Palatino Linotype"/>
                <a:cs typeface="Palatino Linotype"/>
              </a:rPr>
              <a:t>a</a:t>
            </a:r>
            <a:r>
              <a:rPr sz="1575" kern="1200" baseline="-21164" dirty="0">
                <a:solidFill>
                  <a:prstClr val="black"/>
                </a:solidFill>
                <a:latin typeface="Palatino Linotype"/>
                <a:cs typeface="Palatino Linotype"/>
              </a:rPr>
              <a:t>2 </a:t>
            </a:r>
            <a:r>
              <a:rPr sz="1600" kern="1200" spc="-5" dirty="0">
                <a:solidFill>
                  <a:prstClr val="black"/>
                </a:solidFill>
                <a:latin typeface="Palatino Linotype"/>
                <a:cs typeface="Palatino Linotype"/>
              </a:rPr>
              <a:t>= </a:t>
            </a:r>
            <a:r>
              <a:rPr sz="1600" i="1" kern="1200" spc="-5" dirty="0">
                <a:solidFill>
                  <a:prstClr val="black"/>
                </a:solidFill>
                <a:latin typeface="Palatino Linotype"/>
                <a:cs typeface="Palatino Linotype"/>
              </a:rPr>
              <a:t>widen</a:t>
            </a:r>
            <a:r>
              <a:rPr sz="1600" kern="1200" spc="-5" dirty="0">
                <a:solidFill>
                  <a:prstClr val="black"/>
                </a:solidFill>
                <a:latin typeface="Palatino Linotype"/>
                <a:cs typeface="Palatino Linotype"/>
              </a:rPr>
              <a:t>(</a:t>
            </a:r>
            <a:r>
              <a:rPr sz="1600" kern="1200" spc="-5" dirty="0">
                <a:solidFill>
                  <a:prstClr val="black"/>
                </a:solidFill>
                <a:latin typeface="Consolas"/>
                <a:cs typeface="Consolas"/>
              </a:rPr>
              <a:t>b</a:t>
            </a:r>
            <a:r>
              <a:rPr sz="1600" kern="1200" spc="-5" dirty="0">
                <a:solidFill>
                  <a:prstClr val="black"/>
                </a:solidFill>
                <a:latin typeface="Palatino Linotype"/>
                <a:cs typeface="Palatino Linotype"/>
              </a:rPr>
              <a:t>, </a:t>
            </a:r>
            <a:r>
              <a:rPr sz="1600" kern="1200" spc="-10" dirty="0">
                <a:solidFill>
                  <a:prstClr val="black"/>
                </a:solidFill>
                <a:latin typeface="Consolas"/>
                <a:cs typeface="Consolas"/>
              </a:rPr>
              <a:t>float</a:t>
            </a:r>
            <a:r>
              <a:rPr sz="1600" kern="1200" spc="-10" dirty="0">
                <a:solidFill>
                  <a:prstClr val="black"/>
                </a:solidFill>
                <a:latin typeface="Palatino Linotype"/>
                <a:cs typeface="Palatino Linotype"/>
              </a:rPr>
              <a:t>, </a:t>
            </a:r>
            <a:r>
              <a:rPr sz="1600" kern="1200" spc="-10" dirty="0">
                <a:solidFill>
                  <a:prstClr val="black"/>
                </a:solidFill>
                <a:latin typeface="Consolas"/>
                <a:cs typeface="Consolas"/>
              </a:rPr>
              <a:t>float</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 </a:t>
            </a:r>
            <a:r>
              <a:rPr sz="1600" kern="1200" spc="-5" dirty="0">
                <a:solidFill>
                  <a:prstClr val="black"/>
                </a:solidFill>
                <a:latin typeface="Consolas"/>
                <a:cs typeface="Consolas"/>
              </a:rPr>
              <a:t>b</a:t>
            </a:r>
            <a:r>
              <a:rPr sz="1600" kern="1200" dirty="0">
                <a:solidFill>
                  <a:prstClr val="black"/>
                </a:solidFill>
                <a:latin typeface="Consolas"/>
                <a:cs typeface="Consolas"/>
              </a:rPr>
              <a:t> </a:t>
            </a:r>
            <a:r>
              <a:rPr sz="1600" kern="1200" spc="-5" dirty="0">
                <a:solidFill>
                  <a:srgbClr val="FF0000"/>
                </a:solidFill>
                <a:latin typeface="Palatino Linotype"/>
                <a:cs typeface="Palatino Linotype"/>
              </a:rPr>
              <a:t>3 </a:t>
            </a:r>
            <a:r>
              <a:rPr sz="1600" kern="1200" dirty="0">
                <a:solidFill>
                  <a:srgbClr val="FF0000"/>
                </a:solidFill>
                <a:latin typeface="Palatino Linotype"/>
                <a:cs typeface="Palatino Linotype"/>
              </a:rPr>
              <a:t> </a:t>
            </a:r>
            <a:r>
              <a:rPr sz="1600" i="1" kern="1200" spc="-5" dirty="0">
                <a:solidFill>
                  <a:prstClr val="black"/>
                </a:solidFill>
                <a:latin typeface="Palatino Linotype"/>
                <a:cs typeface="Palatino Linotype"/>
              </a:rPr>
              <a:t>E</a:t>
            </a:r>
            <a:r>
              <a:rPr sz="1600" i="1" kern="1200" spc="-15" dirty="0">
                <a:solidFill>
                  <a:prstClr val="black"/>
                </a:solidFill>
                <a:latin typeface="Palatino Linotype"/>
                <a:cs typeface="Palatino Linotype"/>
              </a:rPr>
              <a:t>.</a:t>
            </a:r>
            <a:r>
              <a:rPr sz="1600" i="1" kern="1200" spc="-5" dirty="0">
                <a:solidFill>
                  <a:prstClr val="black"/>
                </a:solidFill>
                <a:latin typeface="Palatino Linotype"/>
                <a:cs typeface="Palatino Linotype"/>
              </a:rPr>
              <a:t>addr</a:t>
            </a:r>
            <a:r>
              <a:rPr sz="1600" i="1"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a:t>
            </a:r>
            <a:r>
              <a:rPr sz="1600" kern="1200" dirty="0">
                <a:solidFill>
                  <a:prstClr val="black"/>
                </a:solidFill>
                <a:latin typeface="Palatino Linotype"/>
                <a:cs typeface="Palatino Linotype"/>
              </a:rPr>
              <a:t> </a:t>
            </a:r>
            <a:r>
              <a:rPr sz="1600" kern="1200" spc="-10" dirty="0">
                <a:solidFill>
                  <a:prstClr val="black"/>
                </a:solidFill>
                <a:latin typeface="Consolas"/>
                <a:cs typeface="Consolas"/>
              </a:rPr>
              <a:t>ne</a:t>
            </a:r>
            <a:r>
              <a:rPr sz="1600" kern="1200" spc="-5" dirty="0">
                <a:solidFill>
                  <a:prstClr val="black"/>
                </a:solidFill>
                <a:latin typeface="Consolas"/>
                <a:cs typeface="Consolas"/>
              </a:rPr>
              <a:t>w</a:t>
            </a:r>
            <a:r>
              <a:rPr sz="1600" kern="1200" spc="-490" dirty="0">
                <a:solidFill>
                  <a:prstClr val="black"/>
                </a:solidFill>
                <a:latin typeface="Consolas"/>
                <a:cs typeface="Consolas"/>
              </a:rPr>
              <a:t> </a:t>
            </a:r>
            <a:r>
              <a:rPr sz="1600" i="1" kern="1200" spc="-170" dirty="0">
                <a:solidFill>
                  <a:prstClr val="black"/>
                </a:solidFill>
                <a:latin typeface="Palatino Linotype"/>
                <a:cs typeface="Palatino Linotype"/>
              </a:rPr>
              <a:t>T</a:t>
            </a:r>
            <a:r>
              <a:rPr sz="1600" i="1" kern="1200" spc="-10" dirty="0">
                <a:solidFill>
                  <a:prstClr val="black"/>
                </a:solidFill>
                <a:latin typeface="Palatino Linotype"/>
                <a:cs typeface="Palatino Linotype"/>
              </a:rPr>
              <a:t>em</a:t>
            </a:r>
            <a:r>
              <a:rPr sz="1600" i="1" kern="1200" spc="-5" dirty="0">
                <a:solidFill>
                  <a:prstClr val="black"/>
                </a:solidFill>
                <a:latin typeface="Palatino Linotype"/>
                <a:cs typeface="Palatino Linotype"/>
              </a:rPr>
              <a:t>p</a:t>
            </a:r>
            <a:r>
              <a:rPr sz="1600" kern="1200" spc="-5" dirty="0">
                <a:solidFill>
                  <a:prstClr val="black"/>
                </a:solidFill>
                <a:latin typeface="Palatino Linotype"/>
                <a:cs typeface="Palatino Linotype"/>
              </a:rPr>
              <a:t>()</a:t>
            </a:r>
            <a:r>
              <a:rPr sz="1600" kern="1200" spc="20" dirty="0">
                <a:solidFill>
                  <a:prstClr val="black"/>
                </a:solidFill>
                <a:latin typeface="Palatino Linotype"/>
                <a:cs typeface="Palatino Linotype"/>
              </a:rPr>
              <a:t> </a:t>
            </a:r>
            <a:r>
              <a:rPr sz="1600" kern="1200" spc="-5" dirty="0">
                <a:solidFill>
                  <a:prstClr val="black"/>
                </a:solidFill>
                <a:latin typeface="Palatino Linotype"/>
                <a:cs typeface="Palatino Linotype"/>
              </a:rPr>
              <a:t>=</a:t>
            </a:r>
            <a:r>
              <a:rPr sz="1600" kern="1200" dirty="0">
                <a:solidFill>
                  <a:prstClr val="black"/>
                </a:solidFill>
                <a:latin typeface="Palatino Linotype"/>
                <a:cs typeface="Palatino Linotype"/>
              </a:rPr>
              <a:t> </a:t>
            </a:r>
            <a:r>
              <a:rPr sz="1600" kern="1200" spc="-10" dirty="0">
                <a:solidFill>
                  <a:prstClr val="black"/>
                </a:solidFill>
                <a:latin typeface="Consolas"/>
                <a:cs typeface="Consolas"/>
              </a:rPr>
              <a:t>tem</a:t>
            </a:r>
            <a:r>
              <a:rPr sz="1600" kern="1200" spc="-5" dirty="0">
                <a:solidFill>
                  <a:prstClr val="black"/>
                </a:solidFill>
                <a:latin typeface="Consolas"/>
                <a:cs typeface="Consolas"/>
              </a:rPr>
              <a:t>p2</a:t>
            </a:r>
            <a:r>
              <a:rPr sz="1600" kern="1200" dirty="0">
                <a:solidFill>
                  <a:prstClr val="black"/>
                </a:solidFill>
                <a:latin typeface="Consolas"/>
                <a:cs typeface="Consolas"/>
              </a:rPr>
              <a:t>     </a:t>
            </a:r>
            <a:r>
              <a:rPr sz="1600" kern="1200" spc="430" dirty="0">
                <a:solidFill>
                  <a:prstClr val="black"/>
                </a:solidFill>
                <a:latin typeface="Consolas"/>
                <a:cs typeface="Consolas"/>
              </a:rPr>
              <a:t> </a:t>
            </a:r>
            <a:r>
              <a:rPr sz="2400" kern="1200" spc="-7" baseline="3472" dirty="0">
                <a:solidFill>
                  <a:srgbClr val="FF0000"/>
                </a:solidFill>
                <a:latin typeface="Palatino Linotype"/>
                <a:cs typeface="Palatino Linotype"/>
              </a:rPr>
              <a:t>4  </a:t>
            </a:r>
            <a:r>
              <a:rPr sz="1600" kern="1200" spc="-5" dirty="0">
                <a:solidFill>
                  <a:srgbClr val="FF0000"/>
                </a:solidFill>
                <a:latin typeface="Palatino Linotype"/>
                <a:cs typeface="Palatino Linotype"/>
              </a:rPr>
              <a:t>5</a:t>
            </a:r>
            <a:endParaRPr sz="1600" kern="1200">
              <a:solidFill>
                <a:prstClr val="black"/>
              </a:solidFill>
              <a:latin typeface="Palatino Linotype"/>
              <a:cs typeface="Palatino Linotype"/>
            </a:endParaRPr>
          </a:p>
        </p:txBody>
      </p:sp>
      <p:sp>
        <p:nvSpPr>
          <p:cNvPr id="53" name="object 21">
            <a:extLst>
              <a:ext uri="{FF2B5EF4-FFF2-40B4-BE49-F238E27FC236}">
                <a16:creationId xmlns:a16="http://schemas.microsoft.com/office/drawing/2014/main" id="{0942E6A1-0860-8FE9-3F40-A5177DD5274B}"/>
              </a:ext>
            </a:extLst>
          </p:cNvPr>
          <p:cNvSpPr txBox="1"/>
          <p:nvPr/>
        </p:nvSpPr>
        <p:spPr>
          <a:xfrm>
            <a:off x="6543293" y="2468626"/>
            <a:ext cx="1671955" cy="299720"/>
          </a:xfrm>
          <a:prstGeom prst="rect">
            <a:avLst/>
          </a:prstGeom>
        </p:spPr>
        <p:txBody>
          <a:bodyPr vert="horz" wrap="square" lIns="0" tIns="12700" rIns="0" bIns="0" rtlCol="0">
            <a:spAutoFit/>
          </a:bodyPr>
          <a:lstStyle/>
          <a:p>
            <a:pPr marL="12700" rtl="0">
              <a:spcBef>
                <a:spcPts val="100"/>
              </a:spcBef>
            </a:pPr>
            <a:r>
              <a:rPr kern="1200" spc="-5" dirty="0">
                <a:solidFill>
                  <a:prstClr val="black"/>
                </a:solidFill>
                <a:latin typeface="Palatino Linotype"/>
                <a:cs typeface="Palatino Linotype"/>
              </a:rPr>
              <a:t>Generated</a:t>
            </a:r>
            <a:r>
              <a:rPr kern="1200" spc="-50" dirty="0">
                <a:solidFill>
                  <a:prstClr val="black"/>
                </a:solidFill>
                <a:latin typeface="Palatino Linotype"/>
                <a:cs typeface="Palatino Linotype"/>
              </a:rPr>
              <a:t> </a:t>
            </a:r>
            <a:r>
              <a:rPr kern="1200" dirty="0">
                <a:solidFill>
                  <a:prstClr val="black"/>
                </a:solidFill>
                <a:latin typeface="Palatino Linotype"/>
                <a:cs typeface="Palatino Linotype"/>
              </a:rPr>
              <a:t>code:</a:t>
            </a:r>
            <a:endParaRPr kern="1200">
              <a:solidFill>
                <a:prstClr val="black"/>
              </a:solidFill>
              <a:latin typeface="Palatino Linotype"/>
              <a:cs typeface="Palatino Linotype"/>
            </a:endParaRPr>
          </a:p>
        </p:txBody>
      </p:sp>
      <p:grpSp>
        <p:nvGrpSpPr>
          <p:cNvPr id="54" name="object 22">
            <a:extLst>
              <a:ext uri="{FF2B5EF4-FFF2-40B4-BE49-F238E27FC236}">
                <a16:creationId xmlns:a16="http://schemas.microsoft.com/office/drawing/2014/main" id="{7D7D2124-F26F-5716-1D60-C774CFC5CD3C}"/>
              </a:ext>
            </a:extLst>
          </p:cNvPr>
          <p:cNvGrpSpPr/>
          <p:nvPr/>
        </p:nvGrpSpPr>
        <p:grpSpPr>
          <a:xfrm>
            <a:off x="6572821" y="2904553"/>
            <a:ext cx="2009139" cy="1129665"/>
            <a:chOff x="6572821" y="2904553"/>
            <a:chExt cx="2009139" cy="1129665"/>
          </a:xfrm>
        </p:grpSpPr>
        <p:sp>
          <p:nvSpPr>
            <p:cNvPr id="55" name="object 23">
              <a:extLst>
                <a:ext uri="{FF2B5EF4-FFF2-40B4-BE49-F238E27FC236}">
                  <a16:creationId xmlns:a16="http://schemas.microsoft.com/office/drawing/2014/main" id="{9E0B1628-0E41-B961-7BE2-23E42C02C19D}"/>
                </a:ext>
              </a:extLst>
            </p:cNvPr>
            <p:cNvSpPr/>
            <p:nvPr/>
          </p:nvSpPr>
          <p:spPr>
            <a:xfrm>
              <a:off x="6577583" y="2909316"/>
              <a:ext cx="1999614" cy="1120140"/>
            </a:xfrm>
            <a:custGeom>
              <a:avLst/>
              <a:gdLst/>
              <a:ahLst/>
              <a:cxnLst/>
              <a:rect l="l" t="t" r="r" b="b"/>
              <a:pathLst>
                <a:path w="1999615" h="1120139">
                  <a:moveTo>
                    <a:pt x="1999487" y="0"/>
                  </a:moveTo>
                  <a:lnTo>
                    <a:pt x="0" y="0"/>
                  </a:lnTo>
                  <a:lnTo>
                    <a:pt x="0" y="1120140"/>
                  </a:lnTo>
                  <a:lnTo>
                    <a:pt x="1999487" y="1120140"/>
                  </a:lnTo>
                  <a:lnTo>
                    <a:pt x="1999487" y="0"/>
                  </a:lnTo>
                  <a:close/>
                </a:path>
              </a:pathLst>
            </a:custGeom>
            <a:solidFill>
              <a:srgbClr val="FFF1CC"/>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6" name="object 24">
              <a:extLst>
                <a:ext uri="{FF2B5EF4-FFF2-40B4-BE49-F238E27FC236}">
                  <a16:creationId xmlns:a16="http://schemas.microsoft.com/office/drawing/2014/main" id="{F3400802-BB5A-827A-F0FA-E37F3A98ECD7}"/>
                </a:ext>
              </a:extLst>
            </p:cNvPr>
            <p:cNvSpPr/>
            <p:nvPr/>
          </p:nvSpPr>
          <p:spPr>
            <a:xfrm>
              <a:off x="6577583" y="2909316"/>
              <a:ext cx="1999614" cy="1120140"/>
            </a:xfrm>
            <a:custGeom>
              <a:avLst/>
              <a:gdLst/>
              <a:ahLst/>
              <a:cxnLst/>
              <a:rect l="l" t="t" r="r" b="b"/>
              <a:pathLst>
                <a:path w="1999615" h="1120139">
                  <a:moveTo>
                    <a:pt x="0" y="1120140"/>
                  </a:moveTo>
                  <a:lnTo>
                    <a:pt x="1999487" y="1120140"/>
                  </a:lnTo>
                  <a:lnTo>
                    <a:pt x="1999487" y="0"/>
                  </a:lnTo>
                  <a:lnTo>
                    <a:pt x="0" y="0"/>
                  </a:lnTo>
                  <a:lnTo>
                    <a:pt x="0" y="1120140"/>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57" name="object 25">
            <a:extLst>
              <a:ext uri="{FF2B5EF4-FFF2-40B4-BE49-F238E27FC236}">
                <a16:creationId xmlns:a16="http://schemas.microsoft.com/office/drawing/2014/main" id="{EA0DF498-D21D-1748-F4D7-72E80C777874}"/>
              </a:ext>
            </a:extLst>
          </p:cNvPr>
          <p:cNvSpPr txBox="1"/>
          <p:nvPr/>
        </p:nvSpPr>
        <p:spPr>
          <a:xfrm>
            <a:off x="229933" y="2489961"/>
            <a:ext cx="3159760" cy="1878330"/>
          </a:xfrm>
          <a:prstGeom prst="rect">
            <a:avLst/>
          </a:prstGeom>
          <a:ln w="9525">
            <a:solidFill>
              <a:srgbClr val="000000"/>
            </a:solidFill>
          </a:ln>
        </p:spPr>
        <p:txBody>
          <a:bodyPr vert="horz" wrap="square" lIns="0" tIns="0" rIns="0" bIns="0" rtlCol="0">
            <a:spAutoFit/>
          </a:bodyPr>
          <a:lstStyle/>
          <a:p>
            <a:pPr rtl="0"/>
            <a:endParaRPr sz="1850" kern="1200">
              <a:solidFill>
                <a:prstClr val="black"/>
              </a:solidFill>
              <a:latin typeface="Times New Roman"/>
              <a:cs typeface="Times New Roman"/>
            </a:endParaRPr>
          </a:p>
          <a:p>
            <a:pPr marR="852169" algn="r" rtl="0">
              <a:spcBef>
                <a:spcPts val="5"/>
              </a:spcBef>
            </a:pPr>
            <a:r>
              <a:rPr sz="1600" kern="1200" spc="-5" dirty="0">
                <a:solidFill>
                  <a:srgbClr val="FF0000"/>
                </a:solidFill>
                <a:latin typeface="Palatino Linotype"/>
                <a:cs typeface="Palatino Linotype"/>
              </a:rPr>
              <a:t>3</a:t>
            </a:r>
            <a:endParaRPr sz="1600" kern="1200">
              <a:solidFill>
                <a:prstClr val="black"/>
              </a:solidFill>
              <a:latin typeface="Palatino Linotype"/>
              <a:cs typeface="Palatino Linotype"/>
            </a:endParaRPr>
          </a:p>
          <a:p>
            <a:pPr rtl="0">
              <a:spcBef>
                <a:spcPts val="45"/>
              </a:spcBef>
            </a:pPr>
            <a:endParaRPr sz="1650" kern="1200">
              <a:solidFill>
                <a:prstClr val="black"/>
              </a:solidFill>
              <a:latin typeface="Palatino Linotype"/>
              <a:cs typeface="Palatino Linotype"/>
            </a:endParaRPr>
          </a:p>
          <a:p>
            <a:pPr marR="117475" algn="r" rtl="0"/>
            <a:r>
              <a:rPr sz="1600" kern="1200" spc="-5" dirty="0">
                <a:solidFill>
                  <a:srgbClr val="FF0000"/>
                </a:solidFill>
                <a:latin typeface="Palatino Linotype"/>
                <a:cs typeface="Palatino Linotype"/>
              </a:rPr>
              <a:t>2</a:t>
            </a:r>
            <a:endParaRPr sz="1600" kern="1200">
              <a:solidFill>
                <a:prstClr val="black"/>
              </a:solidFill>
              <a:latin typeface="Palatino Linotype"/>
              <a:cs typeface="Palatino Linotype"/>
            </a:endParaRPr>
          </a:p>
        </p:txBody>
      </p:sp>
      <p:sp>
        <p:nvSpPr>
          <p:cNvPr id="58" name="object 26">
            <a:extLst>
              <a:ext uri="{FF2B5EF4-FFF2-40B4-BE49-F238E27FC236}">
                <a16:creationId xmlns:a16="http://schemas.microsoft.com/office/drawing/2014/main" id="{52EED4BB-05E4-FD79-A2D8-C7A9F9D03AA4}"/>
              </a:ext>
            </a:extLst>
          </p:cNvPr>
          <p:cNvSpPr txBox="1"/>
          <p:nvPr/>
        </p:nvSpPr>
        <p:spPr>
          <a:xfrm>
            <a:off x="6676135" y="2981070"/>
            <a:ext cx="1804670" cy="269240"/>
          </a:xfrm>
          <a:prstGeom prst="rect">
            <a:avLst/>
          </a:prstGeom>
        </p:spPr>
        <p:txBody>
          <a:bodyPr vert="horz" wrap="square" lIns="0" tIns="12065" rIns="0" bIns="0" rtlCol="0">
            <a:spAutoFit/>
          </a:bodyPr>
          <a:lstStyle/>
          <a:p>
            <a:pPr marL="12700" rtl="0">
              <a:spcBef>
                <a:spcPts val="95"/>
              </a:spcBef>
            </a:pPr>
            <a:r>
              <a:rPr sz="1600" kern="1200" spc="-10" dirty="0">
                <a:solidFill>
                  <a:srgbClr val="0431FF"/>
                </a:solidFill>
                <a:latin typeface="Consolas"/>
                <a:cs typeface="Consolas"/>
              </a:rPr>
              <a:t>temp</a:t>
            </a:r>
            <a:r>
              <a:rPr sz="1600" kern="1200" spc="-25" dirty="0">
                <a:solidFill>
                  <a:srgbClr val="0431FF"/>
                </a:solidFill>
                <a:latin typeface="Consolas"/>
                <a:cs typeface="Consolas"/>
              </a:rPr>
              <a:t> </a:t>
            </a:r>
            <a:r>
              <a:rPr sz="1600" kern="1200" spc="-5" dirty="0">
                <a:solidFill>
                  <a:srgbClr val="0431FF"/>
                </a:solidFill>
                <a:latin typeface="Consolas"/>
                <a:cs typeface="Consolas"/>
              </a:rPr>
              <a:t>=</a:t>
            </a:r>
            <a:r>
              <a:rPr sz="1600" kern="1200" spc="-20" dirty="0">
                <a:solidFill>
                  <a:srgbClr val="0431FF"/>
                </a:solidFill>
                <a:latin typeface="Consolas"/>
                <a:cs typeface="Consolas"/>
              </a:rPr>
              <a:t> </a:t>
            </a:r>
            <a:r>
              <a:rPr sz="1600" kern="1200" spc="-10" dirty="0">
                <a:solidFill>
                  <a:srgbClr val="0431FF"/>
                </a:solidFill>
                <a:latin typeface="Consolas"/>
                <a:cs typeface="Consolas"/>
              </a:rPr>
              <a:t>(float)</a:t>
            </a:r>
            <a:r>
              <a:rPr sz="1600" kern="1200" spc="-40" dirty="0">
                <a:solidFill>
                  <a:srgbClr val="0431FF"/>
                </a:solidFill>
                <a:latin typeface="Consolas"/>
                <a:cs typeface="Consolas"/>
              </a:rPr>
              <a:t> </a:t>
            </a:r>
            <a:r>
              <a:rPr sz="1600" kern="1200" spc="-5" dirty="0">
                <a:solidFill>
                  <a:srgbClr val="0431FF"/>
                </a:solidFill>
                <a:latin typeface="Consolas"/>
                <a:cs typeface="Consolas"/>
              </a:rPr>
              <a:t>a</a:t>
            </a:r>
            <a:endParaRPr sz="1600" kern="1200">
              <a:solidFill>
                <a:prstClr val="black"/>
              </a:solidFill>
              <a:latin typeface="Consolas"/>
              <a:cs typeface="Consolas"/>
            </a:endParaRPr>
          </a:p>
        </p:txBody>
      </p:sp>
      <p:sp>
        <p:nvSpPr>
          <p:cNvPr id="59" name="object 27">
            <a:extLst>
              <a:ext uri="{FF2B5EF4-FFF2-40B4-BE49-F238E27FC236}">
                <a16:creationId xmlns:a16="http://schemas.microsoft.com/office/drawing/2014/main" id="{3587BC63-1812-C796-F9D0-8EFA9E777E69}"/>
              </a:ext>
            </a:extLst>
          </p:cNvPr>
          <p:cNvSpPr txBox="1"/>
          <p:nvPr/>
        </p:nvSpPr>
        <p:spPr>
          <a:xfrm>
            <a:off x="6676135" y="3420617"/>
            <a:ext cx="1804670" cy="269240"/>
          </a:xfrm>
          <a:prstGeom prst="rect">
            <a:avLst/>
          </a:prstGeom>
        </p:spPr>
        <p:txBody>
          <a:bodyPr vert="horz" wrap="square" lIns="0" tIns="12065" rIns="0" bIns="0" rtlCol="0">
            <a:spAutoFit/>
          </a:bodyPr>
          <a:lstStyle/>
          <a:p>
            <a:pPr marL="12700" rtl="0">
              <a:spcBef>
                <a:spcPts val="95"/>
              </a:spcBef>
            </a:pPr>
            <a:r>
              <a:rPr sz="1600" kern="1200" spc="-10" dirty="0">
                <a:solidFill>
                  <a:srgbClr val="0431FF"/>
                </a:solidFill>
                <a:latin typeface="Consolas"/>
                <a:cs typeface="Consolas"/>
              </a:rPr>
              <a:t>temp2</a:t>
            </a:r>
            <a:r>
              <a:rPr sz="1600" kern="1200" spc="-25" dirty="0">
                <a:solidFill>
                  <a:srgbClr val="0431FF"/>
                </a:solidFill>
                <a:latin typeface="Consolas"/>
                <a:cs typeface="Consolas"/>
              </a:rPr>
              <a:t> </a:t>
            </a:r>
            <a:r>
              <a:rPr sz="1600" kern="1200" spc="-5" dirty="0">
                <a:solidFill>
                  <a:srgbClr val="0431FF"/>
                </a:solidFill>
                <a:latin typeface="Consolas"/>
                <a:cs typeface="Consolas"/>
              </a:rPr>
              <a:t>=</a:t>
            </a:r>
            <a:r>
              <a:rPr sz="1600" kern="1200" spc="-25" dirty="0">
                <a:solidFill>
                  <a:srgbClr val="0431FF"/>
                </a:solidFill>
                <a:latin typeface="Consolas"/>
                <a:cs typeface="Consolas"/>
              </a:rPr>
              <a:t> </a:t>
            </a:r>
            <a:r>
              <a:rPr sz="1600" kern="1200" spc="-10" dirty="0">
                <a:solidFill>
                  <a:srgbClr val="0431FF"/>
                </a:solidFill>
                <a:latin typeface="Consolas"/>
                <a:cs typeface="Consolas"/>
              </a:rPr>
              <a:t>temp</a:t>
            </a:r>
            <a:r>
              <a:rPr sz="1600" kern="1200" spc="-20" dirty="0">
                <a:solidFill>
                  <a:srgbClr val="0431FF"/>
                </a:solidFill>
                <a:latin typeface="Consolas"/>
                <a:cs typeface="Consolas"/>
              </a:rPr>
              <a:t> </a:t>
            </a:r>
            <a:r>
              <a:rPr sz="1600" kern="1200" spc="-5" dirty="0">
                <a:solidFill>
                  <a:srgbClr val="0431FF"/>
                </a:solidFill>
                <a:latin typeface="Consolas"/>
                <a:cs typeface="Consolas"/>
              </a:rPr>
              <a:t>+</a:t>
            </a:r>
            <a:r>
              <a:rPr sz="1600" kern="1200" spc="-30" dirty="0">
                <a:solidFill>
                  <a:srgbClr val="0431FF"/>
                </a:solidFill>
                <a:latin typeface="Consolas"/>
                <a:cs typeface="Consolas"/>
              </a:rPr>
              <a:t> </a:t>
            </a:r>
            <a:r>
              <a:rPr sz="1600" kern="1200" spc="-5" dirty="0">
                <a:solidFill>
                  <a:srgbClr val="0431FF"/>
                </a:solidFill>
                <a:latin typeface="Consolas"/>
                <a:cs typeface="Consolas"/>
              </a:rPr>
              <a:t>b</a:t>
            </a:r>
            <a:endParaRPr sz="1600" kern="1200">
              <a:solidFill>
                <a:prstClr val="black"/>
              </a:solidFill>
              <a:latin typeface="Consolas"/>
              <a:cs typeface="Consolas"/>
            </a:endParaRPr>
          </a:p>
        </p:txBody>
      </p:sp>
      <p:sp>
        <p:nvSpPr>
          <p:cNvPr id="60" name="object 28">
            <a:extLst>
              <a:ext uri="{FF2B5EF4-FFF2-40B4-BE49-F238E27FC236}">
                <a16:creationId xmlns:a16="http://schemas.microsoft.com/office/drawing/2014/main" id="{4DBB3A9E-C0B4-0F26-E8C5-3C508A6A249F}"/>
              </a:ext>
            </a:extLst>
          </p:cNvPr>
          <p:cNvSpPr txBox="1"/>
          <p:nvPr/>
        </p:nvSpPr>
        <p:spPr>
          <a:xfrm>
            <a:off x="8828023" y="2979547"/>
            <a:ext cx="127000" cy="269240"/>
          </a:xfrm>
          <a:prstGeom prst="rect">
            <a:avLst/>
          </a:prstGeom>
        </p:spPr>
        <p:txBody>
          <a:bodyPr vert="horz" wrap="square" lIns="0" tIns="12065" rIns="0" bIns="0" rtlCol="0">
            <a:spAutoFit/>
          </a:bodyPr>
          <a:lstStyle/>
          <a:p>
            <a:pPr marL="12700" rtl="0">
              <a:spcBef>
                <a:spcPts val="95"/>
              </a:spcBef>
            </a:pPr>
            <a:r>
              <a:rPr sz="1600" kern="1200" spc="-5" dirty="0">
                <a:solidFill>
                  <a:srgbClr val="FF0000"/>
                </a:solidFill>
                <a:latin typeface="Palatino Linotype"/>
                <a:cs typeface="Palatino Linotype"/>
              </a:rPr>
              <a:t>2</a:t>
            </a:r>
            <a:endParaRPr sz="1600" kern="1200">
              <a:solidFill>
                <a:prstClr val="black"/>
              </a:solidFill>
              <a:latin typeface="Palatino Linotype"/>
              <a:cs typeface="Palatino Linotype"/>
            </a:endParaRPr>
          </a:p>
        </p:txBody>
      </p:sp>
      <p:sp>
        <p:nvSpPr>
          <p:cNvPr id="61" name="object 29">
            <a:extLst>
              <a:ext uri="{FF2B5EF4-FFF2-40B4-BE49-F238E27FC236}">
                <a16:creationId xmlns:a16="http://schemas.microsoft.com/office/drawing/2014/main" id="{41C1997E-62E9-1D3F-4317-BB14A5879259}"/>
              </a:ext>
            </a:extLst>
          </p:cNvPr>
          <p:cNvSpPr txBox="1"/>
          <p:nvPr/>
        </p:nvSpPr>
        <p:spPr>
          <a:xfrm>
            <a:off x="8831960" y="3419094"/>
            <a:ext cx="127000" cy="269240"/>
          </a:xfrm>
          <a:prstGeom prst="rect">
            <a:avLst/>
          </a:prstGeom>
        </p:spPr>
        <p:txBody>
          <a:bodyPr vert="horz" wrap="square" lIns="0" tIns="12065" rIns="0" bIns="0" rtlCol="0">
            <a:spAutoFit/>
          </a:bodyPr>
          <a:lstStyle/>
          <a:p>
            <a:pPr marL="12700" rtl="0">
              <a:spcBef>
                <a:spcPts val="95"/>
              </a:spcBef>
            </a:pPr>
            <a:r>
              <a:rPr sz="1600" kern="1200" spc="-5" dirty="0">
                <a:solidFill>
                  <a:srgbClr val="FF0000"/>
                </a:solidFill>
                <a:latin typeface="Palatino Linotype"/>
                <a:cs typeface="Palatino Linotype"/>
              </a:rPr>
              <a:t>5</a:t>
            </a:r>
            <a:endParaRPr sz="1600" kern="1200">
              <a:solidFill>
                <a:prstClr val="black"/>
              </a:solidFill>
              <a:latin typeface="Palatino Linotype"/>
              <a:cs typeface="Palatino Linotype"/>
            </a:endParaRPr>
          </a:p>
        </p:txBody>
      </p:sp>
      <p:sp>
        <p:nvSpPr>
          <p:cNvPr id="62" name="object 30">
            <a:extLst>
              <a:ext uri="{FF2B5EF4-FFF2-40B4-BE49-F238E27FC236}">
                <a16:creationId xmlns:a16="http://schemas.microsoft.com/office/drawing/2014/main" id="{22B392AD-AA8C-795F-D76B-39BA920948F4}"/>
              </a:ext>
            </a:extLst>
          </p:cNvPr>
          <p:cNvSpPr/>
          <p:nvPr/>
        </p:nvSpPr>
        <p:spPr>
          <a:xfrm>
            <a:off x="8514588" y="3127248"/>
            <a:ext cx="288290" cy="431800"/>
          </a:xfrm>
          <a:custGeom>
            <a:avLst/>
            <a:gdLst/>
            <a:ahLst/>
            <a:cxnLst/>
            <a:rect l="l" t="t" r="r" b="b"/>
            <a:pathLst>
              <a:path w="288290" h="431800">
                <a:moveTo>
                  <a:pt x="0" y="0"/>
                </a:moveTo>
                <a:lnTo>
                  <a:pt x="274319" y="0"/>
                </a:lnTo>
              </a:path>
              <a:path w="288290" h="431800">
                <a:moveTo>
                  <a:pt x="13715" y="431291"/>
                </a:moveTo>
                <a:lnTo>
                  <a:pt x="288035" y="431291"/>
                </a:lnTo>
              </a:path>
            </a:pathLst>
          </a:custGeom>
          <a:ln w="12700">
            <a:solidFill>
              <a:srgbClr val="FF0000"/>
            </a:solidFill>
            <a:prstDash val="sysDash"/>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280182896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78</a:t>
            </a:fld>
            <a:endParaRPr lang="en-US"/>
          </a:p>
        </p:txBody>
      </p:sp>
      <p:sp>
        <p:nvSpPr>
          <p:cNvPr id="7" name="object 2">
            <a:extLst>
              <a:ext uri="{FF2B5EF4-FFF2-40B4-BE49-F238E27FC236}">
                <a16:creationId xmlns:a16="http://schemas.microsoft.com/office/drawing/2014/main" id="{527AC305-19AA-6DDD-803E-74C8BE969D4E}"/>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O</a:t>
            </a:r>
            <a:r>
              <a:rPr kumimoji="0" lang="en-US" sz="4000" b="1" i="0" u="none" strike="noStrike" kern="0" cap="none" spc="-20" normalizeH="0" baseline="0" noProof="0">
                <a:ln>
                  <a:noFill/>
                </a:ln>
                <a:solidFill>
                  <a:sysClr val="windowText" lastClr="000000"/>
                </a:solidFill>
                <a:effectLst/>
                <a:uLnTx/>
                <a:uFillTx/>
                <a:latin typeface="Palatino Linotype"/>
                <a:ea typeface="+mj-ea"/>
              </a:rPr>
              <a:t>u</a:t>
            </a:r>
            <a:r>
              <a:rPr kumimoji="0" lang="en-US" sz="4000" b="1" i="0" u="none" strike="noStrike" kern="0" cap="none" spc="-5" normalizeH="0" baseline="0" noProof="0">
                <a:ln>
                  <a:noFill/>
                </a:ln>
                <a:solidFill>
                  <a:sysClr val="windowText" lastClr="000000"/>
                </a:solidFill>
                <a:effectLst/>
                <a:uLnTx/>
                <a:uFillTx/>
                <a:latin typeface="Palatino Linotype"/>
                <a:ea typeface="+mj-ea"/>
              </a:rPr>
              <a:t>tline</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FC78EC54-F69B-7EA7-2F1E-1C98134C553B}"/>
              </a:ext>
            </a:extLst>
          </p:cNvPr>
          <p:cNvSpPr txBox="1"/>
          <p:nvPr/>
        </p:nvSpPr>
        <p:spPr>
          <a:xfrm>
            <a:off x="707542" y="1658239"/>
            <a:ext cx="4103370" cy="4110990"/>
          </a:xfrm>
          <a:prstGeom prst="rect">
            <a:avLst/>
          </a:prstGeom>
        </p:spPr>
        <p:txBody>
          <a:bodyPr vert="horz" wrap="square" lIns="0" tIns="12700" rIns="0" bIns="0" rtlCol="0">
            <a:spAutoFit/>
          </a:bodyPr>
          <a:lstStyle/>
          <a:p>
            <a:pPr marL="242570" indent="-230504" rtl="0">
              <a:spcBef>
                <a:spcPts val="100"/>
              </a:spcBef>
              <a:buClr>
                <a:srgbClr val="000000"/>
              </a:buClr>
              <a:buFont typeface="Arial MT"/>
              <a:buChar char="•"/>
              <a:tabLst>
                <a:tab pos="243204" algn="l"/>
              </a:tabLst>
            </a:pPr>
            <a:r>
              <a:rPr sz="2400" kern="1200" spc="-5" dirty="0">
                <a:solidFill>
                  <a:srgbClr val="A6A6A6"/>
                </a:solidFill>
                <a:latin typeface="Palatino Linotype"/>
                <a:cs typeface="Palatino Linotype"/>
              </a:rPr>
              <a:t>Intermediate</a:t>
            </a:r>
            <a:r>
              <a:rPr sz="2400" kern="1200" spc="-30" dirty="0">
                <a:solidFill>
                  <a:srgbClr val="A6A6A6"/>
                </a:solidFill>
                <a:latin typeface="Palatino Linotype"/>
                <a:cs typeface="Palatino Linotype"/>
              </a:rPr>
              <a:t> </a:t>
            </a:r>
            <a:r>
              <a:rPr sz="2400" kern="1200" spc="-5" dirty="0">
                <a:solidFill>
                  <a:srgbClr val="A6A6A6"/>
                </a:solidFill>
                <a:latin typeface="Palatino Linotype"/>
                <a:cs typeface="Palatino Linotype"/>
              </a:rPr>
              <a:t>Representation</a:t>
            </a:r>
            <a:endParaRPr sz="2400" kern="1200" dirty="0">
              <a:solidFill>
                <a:prstClr val="black"/>
              </a:solidFill>
              <a:latin typeface="Palatino Linotype"/>
              <a:cs typeface="Palatino Linotype"/>
            </a:endParaRPr>
          </a:p>
          <a:p>
            <a:pPr rtl="0">
              <a:spcBef>
                <a:spcPts val="5"/>
              </a:spcBef>
              <a:buFont typeface="Arial MT"/>
              <a:buChar char="•"/>
            </a:pPr>
            <a:endParaRPr sz="2200" kern="1200" dirty="0">
              <a:solidFill>
                <a:prstClr val="black"/>
              </a:solidFill>
              <a:latin typeface="Palatino Linotype"/>
              <a:cs typeface="Palatino Linotype"/>
            </a:endParaRPr>
          </a:p>
          <a:p>
            <a:pPr marL="242570" indent="-230504" rtl="0">
              <a:buClr>
                <a:srgbClr val="000000"/>
              </a:buClr>
              <a:buFont typeface="Arial MT"/>
              <a:buChar char="•"/>
              <a:tabLst>
                <a:tab pos="243204" algn="l"/>
              </a:tabLst>
            </a:pPr>
            <a:r>
              <a:rPr sz="2400" kern="1200" spc="-45" dirty="0">
                <a:solidFill>
                  <a:srgbClr val="A6A6A6"/>
                </a:solidFill>
                <a:latin typeface="Palatino Linotype"/>
                <a:cs typeface="Palatino Linotype"/>
              </a:rPr>
              <a:t>Type</a:t>
            </a:r>
            <a:r>
              <a:rPr sz="2400" kern="1200" spc="-15" dirty="0">
                <a:solidFill>
                  <a:srgbClr val="A6A6A6"/>
                </a:solidFill>
                <a:latin typeface="Palatino Linotype"/>
                <a:cs typeface="Palatino Linotype"/>
              </a:rPr>
              <a:t> </a:t>
            </a:r>
            <a:r>
              <a:rPr sz="2400" kern="1200" spc="-5" dirty="0">
                <a:solidFill>
                  <a:srgbClr val="A6A6A6"/>
                </a:solidFill>
                <a:latin typeface="Palatino Linotype"/>
                <a:cs typeface="Palatino Linotype"/>
              </a:rPr>
              <a:t>and Declarations</a:t>
            </a:r>
            <a:endParaRPr sz="2400" kern="1200" dirty="0">
              <a:solidFill>
                <a:prstClr val="black"/>
              </a:solidFill>
              <a:latin typeface="Palatino Linotype"/>
              <a:cs typeface="Palatino Linotype"/>
            </a:endParaRPr>
          </a:p>
          <a:p>
            <a:pPr rtl="0">
              <a:spcBef>
                <a:spcPts val="10"/>
              </a:spcBef>
              <a:buFont typeface="Arial MT"/>
              <a:buChar char="•"/>
            </a:pPr>
            <a:endParaRPr sz="2200" kern="1200" dirty="0">
              <a:solidFill>
                <a:prstClr val="black"/>
              </a:solidFill>
              <a:latin typeface="Palatino Linotype"/>
              <a:cs typeface="Palatino Linotype"/>
            </a:endParaRPr>
          </a:p>
          <a:p>
            <a:pPr marL="242570" indent="-230504" rtl="0">
              <a:buClr>
                <a:srgbClr val="000000"/>
              </a:buClr>
              <a:buFont typeface="Arial MT"/>
              <a:buChar char="•"/>
              <a:tabLst>
                <a:tab pos="243204" algn="l"/>
              </a:tabLst>
            </a:pPr>
            <a:r>
              <a:rPr sz="2400" kern="1200" spc="-20" dirty="0">
                <a:solidFill>
                  <a:srgbClr val="A6A6A6"/>
                </a:solidFill>
                <a:latin typeface="Palatino Linotype"/>
                <a:cs typeface="Palatino Linotype"/>
              </a:rPr>
              <a:t>Translation</a:t>
            </a:r>
            <a:r>
              <a:rPr sz="2400" kern="1200" spc="-10" dirty="0">
                <a:solidFill>
                  <a:srgbClr val="A6A6A6"/>
                </a:solidFill>
                <a:latin typeface="Palatino Linotype"/>
                <a:cs typeface="Palatino Linotype"/>
              </a:rPr>
              <a:t> </a:t>
            </a:r>
            <a:r>
              <a:rPr sz="2400" kern="1200" dirty="0">
                <a:solidFill>
                  <a:srgbClr val="A6A6A6"/>
                </a:solidFill>
                <a:latin typeface="Palatino Linotype"/>
                <a:cs typeface="Palatino Linotype"/>
              </a:rPr>
              <a:t>of</a:t>
            </a:r>
            <a:r>
              <a:rPr sz="2400" kern="1200" spc="-15" dirty="0">
                <a:solidFill>
                  <a:srgbClr val="A6A6A6"/>
                </a:solidFill>
                <a:latin typeface="Palatino Linotype"/>
                <a:cs typeface="Palatino Linotype"/>
              </a:rPr>
              <a:t> </a:t>
            </a:r>
            <a:r>
              <a:rPr sz="2400" kern="1200" dirty="0">
                <a:solidFill>
                  <a:srgbClr val="A6A6A6"/>
                </a:solidFill>
                <a:latin typeface="Palatino Linotype"/>
                <a:cs typeface="Palatino Linotype"/>
              </a:rPr>
              <a:t>Expressions</a:t>
            </a:r>
            <a:endParaRPr sz="2400" kern="1200" dirty="0">
              <a:solidFill>
                <a:prstClr val="black"/>
              </a:solidFill>
              <a:latin typeface="Palatino Linotype"/>
              <a:cs typeface="Palatino Linotype"/>
            </a:endParaRPr>
          </a:p>
          <a:p>
            <a:pPr rtl="0">
              <a:spcBef>
                <a:spcPts val="10"/>
              </a:spcBef>
              <a:buFont typeface="Arial MT"/>
              <a:buChar char="•"/>
            </a:pPr>
            <a:endParaRPr sz="2200" kern="1200" dirty="0">
              <a:solidFill>
                <a:prstClr val="black"/>
              </a:solidFill>
              <a:latin typeface="Palatino Linotype"/>
              <a:cs typeface="Palatino Linotype"/>
            </a:endParaRPr>
          </a:p>
          <a:p>
            <a:pPr marL="242570" indent="-230504" rtl="0">
              <a:buClr>
                <a:srgbClr val="000000"/>
              </a:buClr>
              <a:buFont typeface="Arial MT"/>
              <a:buChar char="•"/>
              <a:tabLst>
                <a:tab pos="243204" algn="l"/>
              </a:tabLst>
            </a:pPr>
            <a:r>
              <a:rPr sz="2400" kern="1200" spc="-45" dirty="0">
                <a:solidFill>
                  <a:srgbClr val="A6A6A6"/>
                </a:solidFill>
                <a:latin typeface="Palatino Linotype"/>
                <a:cs typeface="Palatino Linotype"/>
              </a:rPr>
              <a:t>Type</a:t>
            </a:r>
            <a:r>
              <a:rPr sz="2400" kern="1200" spc="-30" dirty="0">
                <a:solidFill>
                  <a:srgbClr val="A6A6A6"/>
                </a:solidFill>
                <a:latin typeface="Palatino Linotype"/>
                <a:cs typeface="Palatino Linotype"/>
              </a:rPr>
              <a:t> </a:t>
            </a:r>
            <a:r>
              <a:rPr sz="2400" kern="1200" spc="-5" dirty="0">
                <a:solidFill>
                  <a:srgbClr val="A6A6A6"/>
                </a:solidFill>
                <a:latin typeface="Palatino Linotype"/>
                <a:cs typeface="Palatino Linotype"/>
              </a:rPr>
              <a:t>Checking</a:t>
            </a:r>
            <a:endParaRPr sz="2400" kern="1200" dirty="0">
              <a:solidFill>
                <a:prstClr val="black"/>
              </a:solidFill>
              <a:latin typeface="Palatino Linotype"/>
              <a:cs typeface="Palatino Linotype"/>
            </a:endParaRPr>
          </a:p>
          <a:p>
            <a:pPr rtl="0">
              <a:spcBef>
                <a:spcPts val="10"/>
              </a:spcBef>
              <a:buFont typeface="Arial MT"/>
              <a:buChar char="•"/>
            </a:pPr>
            <a:endParaRPr sz="2200" kern="1200" dirty="0">
              <a:solidFill>
                <a:prstClr val="black"/>
              </a:solidFill>
              <a:latin typeface="Palatino Linotype"/>
              <a:cs typeface="Palatino Linotype"/>
            </a:endParaRPr>
          </a:p>
          <a:p>
            <a:pPr marL="242570" indent="-230504" rtl="0">
              <a:buFont typeface="Arial MT"/>
              <a:buChar char="•"/>
              <a:tabLst>
                <a:tab pos="243204" algn="l"/>
              </a:tabLst>
            </a:pPr>
            <a:r>
              <a:rPr sz="2400" kern="1200" spc="-5" dirty="0">
                <a:solidFill>
                  <a:prstClr val="black"/>
                </a:solidFill>
                <a:latin typeface="Palatino Linotype"/>
                <a:cs typeface="Palatino Linotype"/>
              </a:rPr>
              <a:t>Control</a:t>
            </a:r>
            <a:r>
              <a:rPr sz="2400" kern="1200" spc="-25" dirty="0">
                <a:solidFill>
                  <a:prstClr val="black"/>
                </a:solidFill>
                <a:latin typeface="Palatino Linotype"/>
                <a:cs typeface="Palatino Linotype"/>
              </a:rPr>
              <a:t> </a:t>
            </a:r>
            <a:r>
              <a:rPr sz="2400" kern="1200" spc="-5" dirty="0">
                <a:solidFill>
                  <a:prstClr val="black"/>
                </a:solidFill>
                <a:latin typeface="Palatino Linotype"/>
                <a:cs typeface="Palatino Linotype"/>
              </a:rPr>
              <a:t>Flow</a:t>
            </a:r>
            <a:endParaRPr sz="2400" kern="1200" dirty="0">
              <a:solidFill>
                <a:prstClr val="black"/>
              </a:solidFill>
              <a:latin typeface="Palatino Linotype"/>
              <a:cs typeface="Palatino Linotype"/>
            </a:endParaRPr>
          </a:p>
          <a:p>
            <a:pPr rtl="0">
              <a:spcBef>
                <a:spcPts val="5"/>
              </a:spcBef>
              <a:buFont typeface="Arial MT"/>
              <a:buChar char="•"/>
            </a:pPr>
            <a:endParaRPr sz="2200" kern="1200" dirty="0">
              <a:solidFill>
                <a:prstClr val="black"/>
              </a:solidFill>
              <a:latin typeface="Palatino Linotype"/>
              <a:cs typeface="Palatino Linotype"/>
            </a:endParaRPr>
          </a:p>
          <a:p>
            <a:pPr marL="242570" indent="-230504" rtl="0">
              <a:spcBef>
                <a:spcPts val="5"/>
              </a:spcBef>
              <a:buClr>
                <a:srgbClr val="000000"/>
              </a:buClr>
              <a:buFont typeface="Arial MT"/>
              <a:buChar char="•"/>
              <a:tabLst>
                <a:tab pos="243204" algn="l"/>
              </a:tabLst>
            </a:pPr>
            <a:r>
              <a:rPr sz="2400" kern="1200" spc="-5" dirty="0">
                <a:solidFill>
                  <a:srgbClr val="A6A6A6"/>
                </a:solidFill>
                <a:latin typeface="Palatino Linotype"/>
                <a:cs typeface="Palatino Linotype"/>
              </a:rPr>
              <a:t>Backpatching</a:t>
            </a:r>
            <a:endParaRPr sz="2400" kern="1200" dirty="0">
              <a:solidFill>
                <a:prstClr val="black"/>
              </a:solidFill>
              <a:latin typeface="Palatino Linotype"/>
              <a:cs typeface="Palatino Linotype"/>
            </a:endParaRPr>
          </a:p>
        </p:txBody>
      </p:sp>
    </p:spTree>
    <p:extLst>
      <p:ext uri="{BB962C8B-B14F-4D97-AF65-F5344CB8AC3E}">
        <p14:creationId xmlns:p14="http://schemas.microsoft.com/office/powerpoint/2010/main" val="30195282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2" name="object 10">
            <a:extLst>
              <a:ext uri="{FF2B5EF4-FFF2-40B4-BE49-F238E27FC236}">
                <a16:creationId xmlns:a16="http://schemas.microsoft.com/office/drawing/2014/main" id="{585687C1-534E-5CE4-C5DD-801C48EE7B25}"/>
              </a:ext>
            </a:extLst>
          </p:cNvPr>
          <p:cNvSpPr txBox="1"/>
          <p:nvPr/>
        </p:nvSpPr>
        <p:spPr>
          <a:xfrm>
            <a:off x="644042" y="1593316"/>
            <a:ext cx="8004175" cy="4537710"/>
          </a:xfrm>
          <a:prstGeom prst="rect">
            <a:avLst/>
          </a:prstGeom>
        </p:spPr>
        <p:txBody>
          <a:bodyPr vert="horz" wrap="square" lIns="0" tIns="12700" rIns="0" bIns="0" rtlCol="0">
            <a:spAutoFit/>
          </a:bodyPr>
          <a:lstStyle/>
          <a:p>
            <a:pPr marL="306070" marR="468630" indent="-230504" rtl="0">
              <a:lnSpc>
                <a:spcPct val="120000"/>
              </a:lnSpc>
              <a:spcBef>
                <a:spcPts val="100"/>
              </a:spcBef>
              <a:buFont typeface="Arial MT"/>
              <a:buChar char="•"/>
              <a:tabLst>
                <a:tab pos="306070" algn="l"/>
                <a:tab pos="306705" algn="l"/>
              </a:tabLst>
            </a:pPr>
            <a:r>
              <a:rPr sz="2000" kern="1200" dirty="0">
                <a:solidFill>
                  <a:prstClr val="black"/>
                </a:solidFill>
                <a:latin typeface="Palatino Linotype"/>
                <a:cs typeface="Palatino Linotype"/>
              </a:rPr>
              <a:t>Boolean expressions are often </a:t>
            </a:r>
            <a:r>
              <a:rPr sz="2000" kern="1200" spc="-5" dirty="0">
                <a:solidFill>
                  <a:prstClr val="black"/>
                </a:solidFill>
                <a:latin typeface="Palatino Linotype"/>
                <a:cs typeface="Palatino Linotype"/>
              </a:rPr>
              <a:t>used to </a:t>
            </a:r>
            <a:r>
              <a:rPr sz="2000" kern="1200" dirty="0">
                <a:solidFill>
                  <a:srgbClr val="0431FF"/>
                </a:solidFill>
                <a:latin typeface="Palatino Linotype"/>
                <a:cs typeface="Palatino Linotype"/>
              </a:rPr>
              <a:t>alter </a:t>
            </a:r>
            <a:r>
              <a:rPr sz="2000" kern="1200" spc="-5" dirty="0">
                <a:solidFill>
                  <a:srgbClr val="0431FF"/>
                </a:solidFill>
                <a:latin typeface="Palatino Linotype"/>
                <a:cs typeface="Palatino Linotype"/>
              </a:rPr>
              <a:t>the </a:t>
            </a:r>
            <a:r>
              <a:rPr sz="2000" kern="1200" dirty="0">
                <a:solidFill>
                  <a:srgbClr val="0431FF"/>
                </a:solidFill>
                <a:latin typeface="Palatino Linotype"/>
                <a:cs typeface="Palatino Linotype"/>
              </a:rPr>
              <a:t>flow of </a:t>
            </a:r>
            <a:r>
              <a:rPr sz="2000" kern="1200" spc="-5" dirty="0">
                <a:solidFill>
                  <a:srgbClr val="0431FF"/>
                </a:solidFill>
                <a:latin typeface="Palatino Linotype"/>
                <a:cs typeface="Palatino Linotype"/>
              </a:rPr>
              <a:t>control </a:t>
            </a:r>
            <a:r>
              <a:rPr sz="2000" kern="1200" dirty="0">
                <a:solidFill>
                  <a:prstClr val="black"/>
                </a:solidFill>
                <a:latin typeface="Palatino Linotype"/>
                <a:cs typeface="Palatino Linotype"/>
              </a:rPr>
              <a:t>or </a:t>
            </a:r>
            <a:r>
              <a:rPr sz="2000" kern="1200" spc="-484" dirty="0">
                <a:solidFill>
                  <a:prstClr val="black"/>
                </a:solidFill>
                <a:latin typeface="Palatino Linotype"/>
                <a:cs typeface="Palatino Linotype"/>
              </a:rPr>
              <a:t> </a:t>
            </a:r>
            <a:r>
              <a:rPr sz="2000" kern="1200" spc="-5" dirty="0">
                <a:solidFill>
                  <a:srgbClr val="0431FF"/>
                </a:solidFill>
                <a:latin typeface="Palatino Linotype"/>
                <a:cs typeface="Palatino Linotype"/>
              </a:rPr>
              <a:t>compute</a:t>
            </a:r>
            <a:r>
              <a:rPr sz="2000" kern="1200" spc="-25" dirty="0">
                <a:solidFill>
                  <a:srgbClr val="0431FF"/>
                </a:solidFill>
                <a:latin typeface="Palatino Linotype"/>
                <a:cs typeface="Palatino Linotype"/>
              </a:rPr>
              <a:t> </a:t>
            </a:r>
            <a:r>
              <a:rPr sz="2000" kern="1200" dirty="0">
                <a:solidFill>
                  <a:srgbClr val="0431FF"/>
                </a:solidFill>
                <a:latin typeface="Palatino Linotype"/>
                <a:cs typeface="Palatino Linotype"/>
              </a:rPr>
              <a:t>logical </a:t>
            </a:r>
            <a:r>
              <a:rPr sz="2000" kern="1200" spc="-10" dirty="0">
                <a:solidFill>
                  <a:srgbClr val="0431FF"/>
                </a:solidFill>
                <a:latin typeface="Palatino Linotype"/>
                <a:cs typeface="Palatino Linotype"/>
              </a:rPr>
              <a:t>values</a:t>
            </a:r>
            <a:endParaRPr sz="2000" kern="1200" dirty="0">
              <a:solidFill>
                <a:prstClr val="black"/>
              </a:solidFill>
              <a:latin typeface="Palatino Linotype"/>
              <a:cs typeface="Palatino Linotype"/>
            </a:endParaRPr>
          </a:p>
          <a:p>
            <a:pPr rtl="0">
              <a:spcBef>
                <a:spcPts val="45"/>
              </a:spcBef>
              <a:buFont typeface="Arial MT"/>
              <a:buChar char="•"/>
            </a:pPr>
            <a:endParaRPr sz="2100" kern="1200" dirty="0">
              <a:solidFill>
                <a:prstClr val="black"/>
              </a:solidFill>
              <a:latin typeface="Palatino Linotype"/>
              <a:cs typeface="Palatino Linotype"/>
            </a:endParaRPr>
          </a:p>
          <a:p>
            <a:pPr marL="306070" indent="-230504" rtl="0">
              <a:buClr>
                <a:srgbClr val="000000"/>
              </a:buClr>
              <a:buFont typeface="Arial MT"/>
              <a:buChar char="•"/>
              <a:tabLst>
                <a:tab pos="306070" algn="l"/>
                <a:tab pos="306705" algn="l"/>
                <a:tab pos="2854325" algn="l"/>
                <a:tab pos="3854450" algn="l"/>
                <a:tab pos="4439920" algn="l"/>
                <a:tab pos="4910455" algn="l"/>
                <a:tab pos="5892165" algn="l"/>
                <a:tab pos="6595109" algn="l"/>
              </a:tabLst>
            </a:pPr>
            <a:r>
              <a:rPr sz="2000" kern="1200" dirty="0">
                <a:solidFill>
                  <a:srgbClr val="0431FF"/>
                </a:solidFill>
                <a:latin typeface="Palatino Linotype"/>
                <a:cs typeface="Palatino Linotype"/>
              </a:rPr>
              <a:t>Grammar</a:t>
            </a:r>
            <a:r>
              <a:rPr sz="2000" kern="1200" dirty="0">
                <a:solidFill>
                  <a:prstClr val="black"/>
                </a:solidFill>
                <a:latin typeface="Palatino Linotype"/>
                <a:cs typeface="Palatino Linotype"/>
              </a:rPr>
              <a:t>:</a:t>
            </a:r>
            <a:r>
              <a:rPr sz="2000" kern="1200" spc="-30" dirty="0">
                <a:solidFill>
                  <a:prstClr val="black"/>
                </a:solidFill>
                <a:latin typeface="Palatino Linotype"/>
                <a:cs typeface="Palatino Linotype"/>
              </a:rPr>
              <a:t> </a:t>
            </a:r>
            <a:r>
              <a:rPr sz="2000" kern="1200" dirty="0">
                <a:solidFill>
                  <a:prstClr val="black"/>
                </a:solidFill>
                <a:latin typeface="Cambria Math"/>
                <a:cs typeface="Cambria Math"/>
              </a:rPr>
              <a:t>𝐵</a:t>
            </a:r>
            <a:r>
              <a:rPr sz="2000" kern="1200" spc="165" dirty="0">
                <a:solidFill>
                  <a:prstClr val="black"/>
                </a:solidFill>
                <a:latin typeface="Cambria Math"/>
                <a:cs typeface="Cambria Math"/>
              </a:rPr>
              <a:t> </a:t>
            </a:r>
            <a:r>
              <a:rPr sz="2000" kern="1200" spc="5" dirty="0">
                <a:solidFill>
                  <a:prstClr val="black"/>
                </a:solidFill>
                <a:latin typeface="Cambria Math"/>
                <a:cs typeface="Cambria Math"/>
              </a:rPr>
              <a:t>→</a:t>
            </a:r>
            <a:r>
              <a:rPr sz="2000" kern="1200" spc="114" dirty="0">
                <a:solidFill>
                  <a:prstClr val="black"/>
                </a:solidFill>
                <a:latin typeface="Cambria Math"/>
                <a:cs typeface="Cambria Math"/>
              </a:rPr>
              <a:t> </a:t>
            </a:r>
            <a:r>
              <a:rPr sz="2000" kern="1200" dirty="0">
                <a:solidFill>
                  <a:prstClr val="black"/>
                </a:solidFill>
                <a:latin typeface="Cambria Math"/>
                <a:cs typeface="Cambria Math"/>
              </a:rPr>
              <a:t>𝐵</a:t>
            </a:r>
            <a:r>
              <a:rPr sz="2000" kern="1200" spc="160"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20" dirty="0">
                <a:solidFill>
                  <a:prstClr val="black"/>
                </a:solidFill>
                <a:latin typeface="Cambria Math"/>
                <a:cs typeface="Cambria Math"/>
              </a:rPr>
              <a:t> </a:t>
            </a:r>
            <a:r>
              <a:rPr sz="2000" kern="1200" dirty="0">
                <a:solidFill>
                  <a:prstClr val="black"/>
                </a:solidFill>
                <a:latin typeface="Cambria Math"/>
                <a:cs typeface="Cambria Math"/>
              </a:rPr>
              <a:t>𝐵</a:t>
            </a:r>
            <a:r>
              <a:rPr lang="zh-CN" altLang="en-US" sz="2000" kern="1200" dirty="0">
                <a:solidFill>
                  <a:prstClr val="black"/>
                </a:solidFill>
                <a:latin typeface="Cambria Math"/>
                <a:cs typeface="Cambria Math"/>
              </a:rPr>
              <a:t> </a:t>
            </a:r>
            <a:r>
              <a:rPr lang="en-US" altLang="zh-CN" sz="2000" kern="1200" dirty="0">
                <a:solidFill>
                  <a:prstClr val="black"/>
                </a:solidFill>
                <a:latin typeface="Cambria Math"/>
                <a:cs typeface="Cambria Math"/>
              </a:rPr>
              <a:t>|</a:t>
            </a:r>
            <a:r>
              <a:rPr sz="2000" kern="1200" dirty="0">
                <a:solidFill>
                  <a:prstClr val="black"/>
                </a:solidFill>
                <a:latin typeface="Cambria Math"/>
                <a:cs typeface="Cambria Math"/>
              </a:rPr>
              <a:t>	𝐵</a:t>
            </a:r>
            <a:r>
              <a:rPr sz="2000" kern="1200" spc="45" dirty="0">
                <a:solidFill>
                  <a:prstClr val="black"/>
                </a:solidFill>
                <a:latin typeface="Cambria Math"/>
                <a:cs typeface="Cambria Math"/>
              </a:rPr>
              <a:t> </a:t>
            </a:r>
            <a:r>
              <a:rPr sz="2000" kern="1200" dirty="0">
                <a:solidFill>
                  <a:prstClr val="black"/>
                </a:solidFill>
                <a:latin typeface="Cambria Math"/>
                <a:cs typeface="Cambria Math"/>
              </a:rPr>
              <a:t>&amp;&amp;</a:t>
            </a:r>
            <a:r>
              <a:rPr sz="2000" kern="1200" spc="-10" dirty="0">
                <a:solidFill>
                  <a:prstClr val="black"/>
                </a:solidFill>
                <a:latin typeface="Cambria Math"/>
                <a:cs typeface="Cambria Math"/>
              </a:rPr>
              <a:t> </a:t>
            </a:r>
            <a:r>
              <a:rPr sz="2000" kern="1200" dirty="0">
                <a:solidFill>
                  <a:prstClr val="black"/>
                </a:solidFill>
                <a:latin typeface="Cambria Math"/>
                <a:cs typeface="Cambria Math"/>
              </a:rPr>
              <a:t>𝐵</a:t>
            </a:r>
            <a:r>
              <a:rPr kumimoji="0" lang="en-US" altLang="zh-CN" sz="2000" b="0" i="0" u="none" strike="noStrike" kern="1200" cap="none" spc="0" normalizeH="0" baseline="0" noProof="0" dirty="0">
                <a:ln>
                  <a:noFill/>
                </a:ln>
                <a:solidFill>
                  <a:prstClr val="black"/>
                </a:solidFill>
                <a:effectLst/>
                <a:uLnTx/>
                <a:uFillTx/>
                <a:latin typeface="Cambria Math"/>
                <a:cs typeface="Cambria Math"/>
              </a:rPr>
              <a:t>|</a:t>
            </a:r>
            <a:r>
              <a:rPr sz="2000" kern="1200" dirty="0">
                <a:solidFill>
                  <a:prstClr val="black"/>
                </a:solidFill>
                <a:latin typeface="Cambria Math"/>
                <a:cs typeface="Cambria Math"/>
              </a:rPr>
              <a:t>!</a:t>
            </a:r>
            <a:r>
              <a:rPr sz="2000" kern="1200" spc="-125" dirty="0">
                <a:solidFill>
                  <a:prstClr val="black"/>
                </a:solidFill>
                <a:latin typeface="Cambria Math"/>
                <a:cs typeface="Cambria Math"/>
              </a:rPr>
              <a:t> </a:t>
            </a:r>
            <a:r>
              <a:rPr sz="2000" kern="1200" dirty="0">
                <a:solidFill>
                  <a:prstClr val="black"/>
                </a:solidFill>
                <a:latin typeface="Cambria Math"/>
                <a:cs typeface="Cambria Math"/>
              </a:rPr>
              <a:t>𝐵</a:t>
            </a:r>
            <a:r>
              <a:rPr lang="en-US" altLang="zh-CN" sz="2000" kern="1200" dirty="0">
                <a:solidFill>
                  <a:prstClr val="black"/>
                </a:solidFill>
                <a:latin typeface="Cambria Math"/>
                <a:cs typeface="Cambria Math"/>
              </a:rPr>
              <a:t>|(</a:t>
            </a:r>
            <a:r>
              <a:rPr sz="2000" kern="1200" dirty="0">
                <a:solidFill>
                  <a:prstClr val="black"/>
                </a:solidFill>
                <a:latin typeface="Cambria Math"/>
                <a:cs typeface="Cambria Math"/>
              </a:rPr>
              <a:t>𝐵</a:t>
            </a:r>
            <a:r>
              <a:rPr lang="en-US" sz="2000" kern="1200" dirty="0">
                <a:solidFill>
                  <a:prstClr val="black"/>
                </a:solidFill>
                <a:latin typeface="Cambria Math"/>
                <a:cs typeface="Cambria Math"/>
              </a:rPr>
              <a:t>)</a:t>
            </a:r>
            <a:r>
              <a:rPr lang="en-US" altLang="zh-CN" sz="2000" kern="1200" dirty="0">
                <a:solidFill>
                  <a:prstClr val="black"/>
                </a:solidFill>
                <a:latin typeface="Cambria Math"/>
                <a:cs typeface="Cambria Math"/>
              </a:rPr>
              <a:t> |</a:t>
            </a:r>
            <a:r>
              <a:rPr sz="2000" kern="1200" dirty="0">
                <a:solidFill>
                  <a:prstClr val="black"/>
                </a:solidFill>
                <a:latin typeface="Cambria Math"/>
                <a:cs typeface="Cambria Math"/>
              </a:rPr>
              <a:t>𝐸</a:t>
            </a:r>
            <a:r>
              <a:rPr sz="2000" kern="1200" spc="55" dirty="0">
                <a:solidFill>
                  <a:prstClr val="black"/>
                </a:solidFill>
                <a:latin typeface="Cambria Math"/>
                <a:cs typeface="Cambria Math"/>
              </a:rPr>
              <a:t> </a:t>
            </a:r>
            <a:r>
              <a:rPr sz="2000" kern="1200" spc="-5" dirty="0">
                <a:solidFill>
                  <a:prstClr val="black"/>
                </a:solidFill>
                <a:latin typeface="Cambria Math"/>
                <a:cs typeface="Cambria Math"/>
              </a:rPr>
              <a:t>𝐫𝐞𝐥</a:t>
            </a:r>
            <a:r>
              <a:rPr sz="2000" kern="1200" dirty="0">
                <a:solidFill>
                  <a:prstClr val="black"/>
                </a:solidFill>
                <a:latin typeface="Cambria Math"/>
                <a:cs typeface="Cambria Math"/>
              </a:rPr>
              <a:t> 𝐸</a:t>
            </a:r>
            <a:r>
              <a:rPr lang="en-US" altLang="zh-CN" sz="2000" kern="1200" dirty="0">
                <a:solidFill>
                  <a:prstClr val="black"/>
                </a:solidFill>
                <a:latin typeface="Cambria Math"/>
                <a:cs typeface="Cambria Math"/>
              </a:rPr>
              <a:t> |</a:t>
            </a:r>
            <a:r>
              <a:rPr sz="2000" kern="1200" spc="-5" dirty="0">
                <a:solidFill>
                  <a:prstClr val="black"/>
                </a:solidFill>
                <a:latin typeface="Cambria Math"/>
                <a:cs typeface="Cambria Math"/>
              </a:rPr>
              <a:t>𝐭𝐫𝐮𝐞</a:t>
            </a:r>
            <a:r>
              <a:rPr lang="en-US" altLang="zh-CN" sz="2000" kern="1200" dirty="0">
                <a:solidFill>
                  <a:prstClr val="black"/>
                </a:solidFill>
                <a:latin typeface="Cambria Math"/>
                <a:cs typeface="Cambria Math"/>
              </a:rPr>
              <a:t> |</a:t>
            </a:r>
            <a:r>
              <a:rPr sz="2000" kern="1200" dirty="0">
                <a:solidFill>
                  <a:prstClr val="black"/>
                </a:solidFill>
                <a:latin typeface="Cambria Math"/>
                <a:cs typeface="Cambria Math"/>
              </a:rPr>
              <a:t>𝐟𝐚𝐥𝐬𝐞</a:t>
            </a:r>
          </a:p>
          <a:p>
            <a:pPr rtl="0">
              <a:spcBef>
                <a:spcPts val="55"/>
              </a:spcBef>
              <a:buFont typeface="Arial MT"/>
              <a:buChar char="•"/>
            </a:pPr>
            <a:endParaRPr sz="2000" kern="1200" dirty="0">
              <a:solidFill>
                <a:prstClr val="black"/>
              </a:solidFill>
              <a:latin typeface="Cambria Math"/>
              <a:cs typeface="Cambria Math"/>
            </a:endParaRPr>
          </a:p>
          <a:p>
            <a:pPr marL="306070" marR="523240" indent="-230504" rtl="0">
              <a:lnSpc>
                <a:spcPct val="120000"/>
              </a:lnSpc>
              <a:buFont typeface="Arial MT"/>
              <a:buChar char="•"/>
              <a:tabLst>
                <a:tab pos="306070" algn="l"/>
                <a:tab pos="306705" algn="l"/>
              </a:tabLst>
            </a:pPr>
            <a:r>
              <a:rPr sz="2000" kern="1200" spc="-10" dirty="0">
                <a:solidFill>
                  <a:prstClr val="black"/>
                </a:solidFill>
                <a:latin typeface="Palatino Linotype"/>
                <a:cs typeface="Palatino Linotype"/>
              </a:rPr>
              <a:t>Given</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dirty="0">
                <a:solidFill>
                  <a:prstClr val="black"/>
                </a:solidFill>
                <a:latin typeface="Palatino Linotype"/>
                <a:cs typeface="Palatino Linotype"/>
              </a:rPr>
              <a:t> expression</a:t>
            </a:r>
            <a:r>
              <a:rPr sz="2000" kern="1200" spc="-10" dirty="0">
                <a:solidFill>
                  <a:prstClr val="black"/>
                </a:solidFill>
                <a:latin typeface="Palatino Linotype"/>
                <a:cs typeface="Palatino Linotype"/>
              </a:rPr>
              <a:t> </a:t>
            </a:r>
            <a:r>
              <a:rPr sz="2000" kern="1200" spc="-45" dirty="0">
                <a:solidFill>
                  <a:prstClr val="black"/>
                </a:solidFill>
                <a:latin typeface="Cambria Math"/>
                <a:cs typeface="Cambria Math"/>
              </a:rPr>
              <a:t>𝐵</a:t>
            </a:r>
            <a:r>
              <a:rPr sz="2175" kern="1200" spc="-67" baseline="-15325" dirty="0">
                <a:solidFill>
                  <a:prstClr val="black"/>
                </a:solidFill>
                <a:latin typeface="Cambria Math"/>
                <a:cs typeface="Cambria Math"/>
              </a:rPr>
              <a:t>1</a:t>
            </a:r>
            <a:r>
              <a:rPr sz="2175" kern="1200" spc="67" baseline="-15325"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25" dirty="0">
                <a:solidFill>
                  <a:prstClr val="black"/>
                </a:solidFill>
                <a:latin typeface="Cambria Math"/>
                <a:cs typeface="Cambria Math"/>
              </a:rPr>
              <a:t> </a:t>
            </a:r>
            <a:r>
              <a:rPr sz="2000" kern="1200" spc="5" dirty="0">
                <a:solidFill>
                  <a:prstClr val="black"/>
                </a:solidFill>
                <a:latin typeface="Cambria Math"/>
                <a:cs typeface="Cambria Math"/>
              </a:rPr>
              <a:t>𝐵</a:t>
            </a:r>
            <a:r>
              <a:rPr sz="2175" kern="1200" spc="7" baseline="-15325" dirty="0">
                <a:solidFill>
                  <a:prstClr val="black"/>
                </a:solidFill>
                <a:latin typeface="Cambria Math"/>
                <a:cs typeface="Cambria Math"/>
              </a:rPr>
              <a:t>2</a:t>
            </a:r>
            <a:r>
              <a:rPr sz="2000" kern="1200" spc="5" dirty="0">
                <a:solidFill>
                  <a:prstClr val="black"/>
                </a:solidFill>
                <a:latin typeface="Palatino Linotype"/>
                <a:cs typeface="Palatino Linotype"/>
              </a:rPr>
              <a:t>,</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if </a:t>
            </a:r>
            <a:r>
              <a:rPr sz="2000" kern="1200" spc="-45" dirty="0">
                <a:solidFill>
                  <a:prstClr val="black"/>
                </a:solidFill>
                <a:latin typeface="Cambria Math"/>
                <a:cs typeface="Cambria Math"/>
              </a:rPr>
              <a:t>𝐵</a:t>
            </a:r>
            <a:r>
              <a:rPr sz="2175" kern="1200" spc="-67" baseline="-15325" dirty="0">
                <a:solidFill>
                  <a:prstClr val="black"/>
                </a:solidFill>
                <a:latin typeface="Cambria Math"/>
                <a:cs typeface="Cambria Math"/>
              </a:rPr>
              <a:t>1</a:t>
            </a:r>
            <a:r>
              <a:rPr sz="2175" kern="1200" spc="-15" baseline="-15325" dirty="0">
                <a:solidFill>
                  <a:prstClr val="black"/>
                </a:solidFill>
                <a:latin typeface="Cambria Math"/>
                <a:cs typeface="Cambria Math"/>
              </a:rPr>
              <a:t> </a:t>
            </a:r>
            <a:r>
              <a:rPr sz="2000" kern="1200" dirty="0">
                <a:solidFill>
                  <a:prstClr val="black"/>
                </a:solidFill>
                <a:latin typeface="Palatino Linotype"/>
                <a:cs typeface="Palatino Linotype"/>
              </a:rPr>
              <a:t>is </a:t>
            </a:r>
            <a:r>
              <a:rPr sz="2000" kern="1200" spc="-5" dirty="0">
                <a:solidFill>
                  <a:prstClr val="black"/>
                </a:solidFill>
                <a:latin typeface="Palatino Linotype"/>
                <a:cs typeface="Palatino Linotype"/>
              </a:rPr>
              <a:t>true,</a:t>
            </a:r>
            <a:r>
              <a:rPr sz="2000" kern="1200" spc="-10" dirty="0">
                <a:solidFill>
                  <a:prstClr val="black"/>
                </a:solidFill>
                <a:latin typeface="Palatino Linotype"/>
                <a:cs typeface="Palatino Linotype"/>
              </a:rPr>
              <a:t> </a:t>
            </a:r>
            <a:r>
              <a:rPr sz="2000" kern="1200" spc="-5" dirty="0">
                <a:solidFill>
                  <a:prstClr val="black"/>
                </a:solidFill>
                <a:latin typeface="Palatino Linotype"/>
                <a:cs typeface="Palatino Linotype"/>
              </a:rPr>
              <a:t>then</a:t>
            </a:r>
            <a:r>
              <a:rPr sz="2000" kern="1200" spc="-15" dirty="0">
                <a:solidFill>
                  <a:prstClr val="black"/>
                </a:solidFill>
                <a:latin typeface="Palatino Linotype"/>
                <a:cs typeface="Palatino Linotype"/>
              </a:rPr>
              <a:t> </a:t>
            </a:r>
            <a:r>
              <a:rPr sz="2000" kern="1200" spc="-5" dirty="0">
                <a:solidFill>
                  <a:prstClr val="black"/>
                </a:solidFill>
                <a:latin typeface="Palatino Linotype"/>
                <a:cs typeface="Palatino Linotype"/>
              </a:rPr>
              <a:t>the</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expression </a:t>
            </a:r>
            <a:r>
              <a:rPr sz="2000" kern="1200" spc="-5" dirty="0">
                <a:solidFill>
                  <a:prstClr val="black"/>
                </a:solidFill>
                <a:latin typeface="Palatino Linotype"/>
                <a:cs typeface="Palatino Linotype"/>
              </a:rPr>
              <a:t>is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true </a:t>
            </a:r>
            <a:r>
              <a:rPr sz="2000" kern="1200" dirty="0">
                <a:solidFill>
                  <a:prstClr val="black"/>
                </a:solidFill>
                <a:latin typeface="Palatino Linotype"/>
                <a:cs typeface="Palatino Linotype"/>
              </a:rPr>
              <a:t>without </a:t>
            </a:r>
            <a:r>
              <a:rPr sz="2000" kern="1200" spc="-5" dirty="0">
                <a:solidFill>
                  <a:prstClr val="black"/>
                </a:solidFill>
                <a:latin typeface="Palatino Linotype"/>
                <a:cs typeface="Palatino Linotype"/>
              </a:rPr>
              <a:t>having to evaluate </a:t>
            </a:r>
            <a:r>
              <a:rPr sz="2000" kern="1200" spc="10" dirty="0">
                <a:solidFill>
                  <a:prstClr val="black"/>
                </a:solidFill>
                <a:latin typeface="Cambria Math"/>
                <a:cs typeface="Cambria Math"/>
              </a:rPr>
              <a:t>𝐵</a:t>
            </a:r>
            <a:r>
              <a:rPr sz="2175" kern="1200" spc="15" baseline="-15325" dirty="0">
                <a:solidFill>
                  <a:prstClr val="black"/>
                </a:solidFill>
                <a:latin typeface="Cambria Math"/>
                <a:cs typeface="Cambria Math"/>
              </a:rPr>
              <a:t>2</a:t>
            </a:r>
            <a:r>
              <a:rPr sz="2000" kern="1200" spc="10" dirty="0">
                <a:solidFill>
                  <a:prstClr val="black"/>
                </a:solidFill>
                <a:latin typeface="Palatino Linotype"/>
                <a:cs typeface="Palatino Linotype"/>
              </a:rPr>
              <a:t>. </a:t>
            </a:r>
            <a:r>
              <a:rPr sz="2000" kern="1200" dirty="0">
                <a:solidFill>
                  <a:prstClr val="black"/>
                </a:solidFill>
                <a:latin typeface="Palatino Linotype"/>
                <a:cs typeface="Palatino Linotype"/>
              </a:rPr>
              <a:t>Thus, </a:t>
            </a:r>
            <a:r>
              <a:rPr sz="2000" kern="1200" spc="-5" dirty="0">
                <a:solidFill>
                  <a:prstClr val="black"/>
                </a:solidFill>
                <a:latin typeface="Palatino Linotype"/>
                <a:cs typeface="Palatino Linotype"/>
              </a:rPr>
              <a:t>neither </a:t>
            </a:r>
            <a:r>
              <a:rPr sz="2000" kern="1200" spc="-45" dirty="0">
                <a:solidFill>
                  <a:prstClr val="black"/>
                </a:solidFill>
                <a:latin typeface="Cambria Math"/>
                <a:cs typeface="Cambria Math"/>
              </a:rPr>
              <a:t>𝐵</a:t>
            </a:r>
            <a:r>
              <a:rPr sz="2175" kern="1200" spc="-67" baseline="-15325" dirty="0">
                <a:solidFill>
                  <a:prstClr val="black"/>
                </a:solidFill>
                <a:latin typeface="Cambria Math"/>
                <a:cs typeface="Cambria Math"/>
              </a:rPr>
              <a:t>1</a:t>
            </a:r>
            <a:r>
              <a:rPr sz="2175" kern="1200" spc="-60" baseline="-15325" dirty="0">
                <a:solidFill>
                  <a:prstClr val="black"/>
                </a:solidFill>
                <a:latin typeface="Cambria Math"/>
                <a:cs typeface="Cambria Math"/>
              </a:rPr>
              <a:t> </a:t>
            </a:r>
            <a:r>
              <a:rPr sz="2000" kern="1200" spc="-5" dirty="0">
                <a:solidFill>
                  <a:prstClr val="black"/>
                </a:solidFill>
                <a:latin typeface="Palatino Linotype"/>
                <a:cs typeface="Palatino Linotype"/>
              </a:rPr>
              <a:t>nor </a:t>
            </a:r>
            <a:r>
              <a:rPr sz="2000" kern="1200" spc="-20" dirty="0">
                <a:solidFill>
                  <a:prstClr val="black"/>
                </a:solidFill>
                <a:latin typeface="Cambria Math"/>
                <a:cs typeface="Cambria Math"/>
              </a:rPr>
              <a:t>𝐵</a:t>
            </a:r>
            <a:r>
              <a:rPr sz="2175" kern="1200" spc="-30" baseline="-15325" dirty="0">
                <a:solidFill>
                  <a:prstClr val="black"/>
                </a:solidFill>
                <a:latin typeface="Cambria Math"/>
                <a:cs typeface="Cambria Math"/>
              </a:rPr>
              <a:t>2</a:t>
            </a:r>
            <a:r>
              <a:rPr sz="2175" kern="1200" spc="-22" baseline="-15325" dirty="0">
                <a:solidFill>
                  <a:prstClr val="black"/>
                </a:solidFill>
                <a:latin typeface="Cambria Math"/>
                <a:cs typeface="Cambria Math"/>
              </a:rPr>
              <a:t> </a:t>
            </a:r>
            <a:r>
              <a:rPr sz="2000" kern="1200" dirty="0">
                <a:solidFill>
                  <a:prstClr val="black"/>
                </a:solidFill>
                <a:latin typeface="Palatino Linotype"/>
                <a:cs typeface="Palatino Linotype"/>
              </a:rPr>
              <a:t>is </a:t>
            </a:r>
            <a:r>
              <a:rPr sz="2000" kern="1200" spc="5" dirty="0">
                <a:solidFill>
                  <a:prstClr val="black"/>
                </a:solidFill>
                <a:latin typeface="Palatino Linotype"/>
                <a:cs typeface="Palatino Linotype"/>
              </a:rPr>
              <a:t> </a:t>
            </a:r>
            <a:r>
              <a:rPr sz="2000" kern="1200" dirty="0">
                <a:solidFill>
                  <a:prstClr val="black"/>
                </a:solidFill>
                <a:latin typeface="Palatino Linotype"/>
                <a:cs typeface="Palatino Linotype"/>
              </a:rPr>
              <a:t>necessarily</a:t>
            </a:r>
            <a:r>
              <a:rPr sz="2000" kern="1200" spc="-30" dirty="0">
                <a:solidFill>
                  <a:prstClr val="black"/>
                </a:solidFill>
                <a:latin typeface="Palatino Linotype"/>
                <a:cs typeface="Palatino Linotype"/>
              </a:rPr>
              <a:t> </a:t>
            </a:r>
            <a:r>
              <a:rPr sz="2000" kern="1200" spc="-5" dirty="0">
                <a:solidFill>
                  <a:prstClr val="black"/>
                </a:solidFill>
                <a:latin typeface="Palatino Linotype"/>
                <a:cs typeface="Palatino Linotype"/>
              </a:rPr>
              <a:t>evaluated</a:t>
            </a:r>
            <a:r>
              <a:rPr sz="2000" kern="1200" spc="-35" dirty="0">
                <a:solidFill>
                  <a:prstClr val="black"/>
                </a:solidFill>
                <a:latin typeface="Palatino Linotype"/>
                <a:cs typeface="Palatino Linotype"/>
              </a:rPr>
              <a:t> </a:t>
            </a:r>
            <a:r>
              <a:rPr sz="2000" kern="1200" spc="-25" dirty="0">
                <a:solidFill>
                  <a:prstClr val="black"/>
                </a:solidFill>
                <a:latin typeface="Palatino Linotype"/>
                <a:cs typeface="Palatino Linotype"/>
              </a:rPr>
              <a:t>fully.</a:t>
            </a:r>
            <a:r>
              <a:rPr sz="1950" kern="1200" spc="-37" baseline="25641" dirty="0">
                <a:solidFill>
                  <a:prstClr val="black"/>
                </a:solidFill>
                <a:latin typeface="Palatino Linotype"/>
                <a:cs typeface="Palatino Linotype"/>
              </a:rPr>
              <a:t>*</a:t>
            </a:r>
            <a:endParaRPr sz="1950" kern="1200" baseline="25641" dirty="0">
              <a:solidFill>
                <a:prstClr val="black"/>
              </a:solidFill>
              <a:latin typeface="Palatino Linotype"/>
              <a:cs typeface="Palatino Linotype"/>
            </a:endParaRPr>
          </a:p>
          <a:p>
            <a:pPr rtl="0">
              <a:spcBef>
                <a:spcPts val="45"/>
              </a:spcBef>
              <a:buFont typeface="Arial MT"/>
              <a:buChar char="•"/>
            </a:pPr>
            <a:endParaRPr sz="1750" kern="1200" dirty="0">
              <a:solidFill>
                <a:prstClr val="black"/>
              </a:solidFill>
              <a:latin typeface="Palatino Linotype"/>
              <a:cs typeface="Palatino Linotype"/>
            </a:endParaRPr>
          </a:p>
          <a:p>
            <a:pPr marL="306070" marR="567055" indent="-230504" rtl="0">
              <a:lnSpc>
                <a:spcPct val="120000"/>
              </a:lnSpc>
              <a:buFont typeface="Arial MT"/>
              <a:buChar char="•"/>
              <a:tabLst>
                <a:tab pos="306070" algn="l"/>
                <a:tab pos="306705" algn="l"/>
              </a:tabLst>
            </a:pPr>
            <a:r>
              <a:rPr sz="2000" kern="1200" dirty="0">
                <a:solidFill>
                  <a:prstClr val="black"/>
                </a:solidFill>
                <a:latin typeface="Palatino Linotype"/>
                <a:cs typeface="Palatino Linotype"/>
              </a:rPr>
              <a:t>In </a:t>
            </a:r>
            <a:r>
              <a:rPr sz="2000" i="1" kern="1200" spc="-5" dirty="0">
                <a:solidFill>
                  <a:srgbClr val="FF0000"/>
                </a:solidFill>
                <a:latin typeface="Palatino Linotype"/>
                <a:cs typeface="Palatino Linotype"/>
              </a:rPr>
              <a:t>short-circuit </a:t>
            </a:r>
            <a:r>
              <a:rPr sz="2000" kern="1200" dirty="0">
                <a:solidFill>
                  <a:srgbClr val="FF0000"/>
                </a:solidFill>
                <a:latin typeface="Palatino Linotype"/>
                <a:cs typeface="Palatino Linotype"/>
              </a:rPr>
              <a:t>code</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the </a:t>
            </a:r>
            <a:r>
              <a:rPr sz="2000" kern="1200" dirty="0">
                <a:solidFill>
                  <a:prstClr val="black"/>
                </a:solidFill>
                <a:latin typeface="Palatino Linotype"/>
                <a:cs typeface="Palatino Linotype"/>
              </a:rPr>
              <a:t>boolean </a:t>
            </a:r>
            <a:r>
              <a:rPr sz="2000" kern="1200" spc="-5" dirty="0">
                <a:solidFill>
                  <a:prstClr val="black"/>
                </a:solidFill>
                <a:latin typeface="Palatino Linotype"/>
                <a:cs typeface="Palatino Linotype"/>
              </a:rPr>
              <a:t>operators </a:t>
            </a:r>
            <a:r>
              <a:rPr sz="2000" kern="1200" dirty="0">
                <a:solidFill>
                  <a:prstClr val="black"/>
                </a:solidFill>
                <a:latin typeface="Cambria Math"/>
                <a:cs typeface="Cambria Math"/>
              </a:rPr>
              <a:t>&amp;&amp;</a:t>
            </a:r>
            <a:r>
              <a:rPr sz="2000" kern="1200" dirty="0">
                <a:solidFill>
                  <a:prstClr val="black"/>
                </a:solidFill>
                <a:latin typeface="Palatino Linotype"/>
                <a:cs typeface="Palatino Linotype"/>
              </a:rPr>
              <a:t>, </a:t>
            </a:r>
            <a:r>
              <a:rPr sz="2000" kern="1200" spc="-5" dirty="0">
                <a:solidFill>
                  <a:prstClr val="black"/>
                </a:solidFill>
                <a:latin typeface="Cambria Math"/>
                <a:cs typeface="Cambria Math"/>
              </a:rPr>
              <a:t>∥</a:t>
            </a:r>
            <a:r>
              <a:rPr sz="2000" kern="1200" spc="-5" dirty="0">
                <a:solidFill>
                  <a:prstClr val="black"/>
                </a:solidFill>
                <a:latin typeface="Palatino Linotype"/>
                <a:cs typeface="Palatino Linotype"/>
              </a:rPr>
              <a:t>, </a:t>
            </a:r>
            <a:r>
              <a:rPr sz="2000" kern="1200" dirty="0">
                <a:solidFill>
                  <a:prstClr val="black"/>
                </a:solidFill>
                <a:latin typeface="Cambria Math"/>
                <a:cs typeface="Cambria Math"/>
              </a:rPr>
              <a:t>! </a:t>
            </a:r>
            <a:r>
              <a:rPr sz="2000" kern="1200" spc="-5" dirty="0">
                <a:solidFill>
                  <a:prstClr val="black"/>
                </a:solidFill>
                <a:latin typeface="Palatino Linotype"/>
                <a:cs typeface="Palatino Linotype"/>
              </a:rPr>
              <a:t>translate into </a:t>
            </a:r>
            <a:r>
              <a:rPr sz="2000" kern="1200" spc="-484" dirty="0">
                <a:solidFill>
                  <a:prstClr val="black"/>
                </a:solidFill>
                <a:latin typeface="Palatino Linotype"/>
                <a:cs typeface="Palatino Linotype"/>
              </a:rPr>
              <a:t> </a:t>
            </a:r>
            <a:r>
              <a:rPr sz="2000" kern="1200" dirty="0">
                <a:solidFill>
                  <a:prstClr val="black"/>
                </a:solidFill>
                <a:latin typeface="Palatino Linotype"/>
                <a:cs typeface="Palatino Linotype"/>
              </a:rPr>
              <a:t>jumps.</a:t>
            </a:r>
            <a:r>
              <a:rPr sz="2000" kern="1200" spc="-15" dirty="0">
                <a:solidFill>
                  <a:srgbClr val="0431FF"/>
                </a:solidFill>
                <a:latin typeface="Palatino Linotype"/>
                <a:cs typeface="Palatino Linotype"/>
              </a:rPr>
              <a:t> </a:t>
            </a:r>
            <a:r>
              <a:rPr sz="2000" u="sng" kern="1200" spc="-5" dirty="0">
                <a:solidFill>
                  <a:srgbClr val="0431FF"/>
                </a:solidFill>
                <a:uFill>
                  <a:solidFill>
                    <a:srgbClr val="0431FF"/>
                  </a:solidFill>
                </a:uFill>
                <a:latin typeface="Palatino Linotype"/>
                <a:cs typeface="Palatino Linotype"/>
              </a:rPr>
              <a:t>The</a:t>
            </a:r>
            <a:r>
              <a:rPr sz="2000" u="sng" kern="1200" spc="-10" dirty="0">
                <a:solidFill>
                  <a:srgbClr val="0431FF"/>
                </a:solidFill>
                <a:uFill>
                  <a:solidFill>
                    <a:srgbClr val="0431FF"/>
                  </a:solidFill>
                </a:uFill>
                <a:latin typeface="Palatino Linotype"/>
                <a:cs typeface="Palatino Linotype"/>
              </a:rPr>
              <a:t> </a:t>
            </a:r>
            <a:r>
              <a:rPr sz="2000" u="sng" kern="1200" spc="-5" dirty="0">
                <a:solidFill>
                  <a:srgbClr val="0431FF"/>
                </a:solidFill>
                <a:uFill>
                  <a:solidFill>
                    <a:srgbClr val="0431FF"/>
                  </a:solidFill>
                </a:uFill>
                <a:latin typeface="Palatino Linotype"/>
                <a:cs typeface="Palatino Linotype"/>
              </a:rPr>
              <a:t>operators</a:t>
            </a:r>
            <a:r>
              <a:rPr sz="2000" u="sng" kern="1200" spc="-20" dirty="0">
                <a:solidFill>
                  <a:srgbClr val="0431FF"/>
                </a:solidFill>
                <a:uFill>
                  <a:solidFill>
                    <a:srgbClr val="0431FF"/>
                  </a:solidFill>
                </a:uFill>
                <a:latin typeface="Palatino Linotype"/>
                <a:cs typeface="Palatino Linotype"/>
              </a:rPr>
              <a:t> </a:t>
            </a:r>
            <a:r>
              <a:rPr sz="2000" u="sng" kern="1200" dirty="0">
                <a:solidFill>
                  <a:srgbClr val="0431FF"/>
                </a:solidFill>
                <a:uFill>
                  <a:solidFill>
                    <a:srgbClr val="0431FF"/>
                  </a:solidFill>
                </a:uFill>
                <a:latin typeface="Palatino Linotype"/>
                <a:cs typeface="Palatino Linotype"/>
              </a:rPr>
              <a:t>do </a:t>
            </a:r>
            <a:r>
              <a:rPr sz="2000" u="sng" kern="1200" spc="-5" dirty="0">
                <a:solidFill>
                  <a:srgbClr val="0431FF"/>
                </a:solidFill>
                <a:uFill>
                  <a:solidFill>
                    <a:srgbClr val="0431FF"/>
                  </a:solidFill>
                </a:uFill>
                <a:latin typeface="Palatino Linotype"/>
                <a:cs typeface="Palatino Linotype"/>
              </a:rPr>
              <a:t>not</a:t>
            </a:r>
            <a:r>
              <a:rPr sz="2000" u="sng" kern="1200" spc="-20" dirty="0">
                <a:solidFill>
                  <a:srgbClr val="0431FF"/>
                </a:solidFill>
                <a:uFill>
                  <a:solidFill>
                    <a:srgbClr val="0431FF"/>
                  </a:solidFill>
                </a:uFill>
                <a:latin typeface="Palatino Linotype"/>
                <a:cs typeface="Palatino Linotype"/>
              </a:rPr>
              <a:t> </a:t>
            </a:r>
            <a:r>
              <a:rPr sz="2000" u="sng" kern="1200" dirty="0">
                <a:solidFill>
                  <a:srgbClr val="0431FF"/>
                </a:solidFill>
                <a:uFill>
                  <a:solidFill>
                    <a:srgbClr val="0431FF"/>
                  </a:solidFill>
                </a:uFill>
                <a:latin typeface="Palatino Linotype"/>
                <a:cs typeface="Palatino Linotype"/>
              </a:rPr>
              <a:t>appear</a:t>
            </a:r>
            <a:r>
              <a:rPr sz="2000" u="sng" kern="1200" spc="-20" dirty="0">
                <a:solidFill>
                  <a:srgbClr val="0431FF"/>
                </a:solidFill>
                <a:uFill>
                  <a:solidFill>
                    <a:srgbClr val="0431FF"/>
                  </a:solidFill>
                </a:uFill>
                <a:latin typeface="Palatino Linotype"/>
                <a:cs typeface="Palatino Linotype"/>
              </a:rPr>
              <a:t> </a:t>
            </a:r>
            <a:r>
              <a:rPr sz="2000" u="sng" kern="1200" spc="-5" dirty="0">
                <a:solidFill>
                  <a:srgbClr val="0431FF"/>
                </a:solidFill>
                <a:uFill>
                  <a:solidFill>
                    <a:srgbClr val="0431FF"/>
                  </a:solidFill>
                </a:uFill>
                <a:latin typeface="Palatino Linotype"/>
                <a:cs typeface="Palatino Linotype"/>
              </a:rPr>
              <a:t>in</a:t>
            </a:r>
            <a:r>
              <a:rPr sz="2000" u="sng" kern="1200" dirty="0">
                <a:solidFill>
                  <a:srgbClr val="0431FF"/>
                </a:solidFill>
                <a:uFill>
                  <a:solidFill>
                    <a:srgbClr val="0431FF"/>
                  </a:solidFill>
                </a:uFill>
                <a:latin typeface="Palatino Linotype"/>
                <a:cs typeface="Palatino Linotype"/>
              </a:rPr>
              <a:t> </a:t>
            </a:r>
            <a:r>
              <a:rPr sz="2000" u="sng" kern="1200" spc="-5" dirty="0">
                <a:solidFill>
                  <a:srgbClr val="0431FF"/>
                </a:solidFill>
                <a:uFill>
                  <a:solidFill>
                    <a:srgbClr val="0431FF"/>
                  </a:solidFill>
                </a:uFill>
                <a:latin typeface="Palatino Linotype"/>
                <a:cs typeface="Palatino Linotype"/>
              </a:rPr>
              <a:t>the</a:t>
            </a:r>
            <a:r>
              <a:rPr sz="2000" u="sng" kern="1200" spc="-15" dirty="0">
                <a:solidFill>
                  <a:srgbClr val="0431FF"/>
                </a:solidFill>
                <a:uFill>
                  <a:solidFill>
                    <a:srgbClr val="0431FF"/>
                  </a:solidFill>
                </a:uFill>
                <a:latin typeface="Palatino Linotype"/>
                <a:cs typeface="Palatino Linotype"/>
              </a:rPr>
              <a:t> </a:t>
            </a:r>
            <a:r>
              <a:rPr sz="2000" u="sng" kern="1200" dirty="0">
                <a:solidFill>
                  <a:srgbClr val="0431FF"/>
                </a:solidFill>
                <a:uFill>
                  <a:solidFill>
                    <a:srgbClr val="0431FF"/>
                  </a:solidFill>
                </a:uFill>
                <a:latin typeface="Palatino Linotype"/>
                <a:cs typeface="Palatino Linotype"/>
              </a:rPr>
              <a:t>code.</a:t>
            </a:r>
            <a:endParaRPr sz="2000" kern="1200" dirty="0">
              <a:solidFill>
                <a:prstClr val="black"/>
              </a:solidFill>
              <a:latin typeface="Palatino Linotype"/>
              <a:cs typeface="Palatino Linotype"/>
            </a:endParaRPr>
          </a:p>
          <a:p>
            <a:pPr rtl="0">
              <a:spcBef>
                <a:spcPts val="25"/>
              </a:spcBef>
            </a:pPr>
            <a:endParaRPr sz="2650" kern="1200" dirty="0">
              <a:solidFill>
                <a:prstClr val="black"/>
              </a:solidFill>
              <a:latin typeface="Palatino Linotype"/>
              <a:cs typeface="Palatino Linotype"/>
            </a:endParaRPr>
          </a:p>
          <a:p>
            <a:pPr marL="76200" rtl="0">
              <a:spcBef>
                <a:spcPts val="5"/>
              </a:spcBef>
            </a:pPr>
            <a:r>
              <a:rPr sz="1400" kern="1200" spc="-5" dirty="0">
                <a:solidFill>
                  <a:schemeClr val="bg2">
                    <a:lumMod val="50000"/>
                  </a:schemeClr>
                </a:solidFill>
                <a:latin typeface="Palatino Linotype"/>
                <a:cs typeface="Palatino Linotype"/>
              </a:rPr>
              <a:t>If</a:t>
            </a:r>
            <a:r>
              <a:rPr sz="1400" kern="1200" dirty="0">
                <a:solidFill>
                  <a:schemeClr val="bg2">
                    <a:lumMod val="50000"/>
                  </a:schemeClr>
                </a:solidFill>
                <a:latin typeface="Palatino Linotype"/>
                <a:cs typeface="Palatino Linotype"/>
              </a:rPr>
              <a:t> </a:t>
            </a:r>
            <a:r>
              <a:rPr sz="1400" kern="1200" spc="-30" dirty="0">
                <a:solidFill>
                  <a:schemeClr val="bg2">
                    <a:lumMod val="50000"/>
                  </a:schemeClr>
                </a:solidFill>
                <a:latin typeface="Cambria Math"/>
                <a:cs typeface="Cambria Math"/>
              </a:rPr>
              <a:t>𝐵</a:t>
            </a:r>
            <a:r>
              <a:rPr sz="1500" kern="1200" spc="-44" baseline="-16666" dirty="0">
                <a:solidFill>
                  <a:schemeClr val="bg2">
                    <a:lumMod val="50000"/>
                  </a:schemeClr>
                </a:solidFill>
                <a:latin typeface="Cambria Math"/>
                <a:cs typeface="Cambria Math"/>
              </a:rPr>
              <a:t>1</a:t>
            </a:r>
            <a:r>
              <a:rPr sz="1500" kern="1200" spc="7" baseline="-16666" dirty="0">
                <a:solidFill>
                  <a:schemeClr val="bg2">
                    <a:lumMod val="50000"/>
                  </a:schemeClr>
                </a:solidFill>
                <a:latin typeface="Cambria Math"/>
                <a:cs typeface="Cambria Math"/>
              </a:rPr>
              <a:t> </a:t>
            </a:r>
            <a:r>
              <a:rPr sz="1400" kern="1200" dirty="0">
                <a:solidFill>
                  <a:schemeClr val="bg2">
                    <a:lumMod val="50000"/>
                  </a:schemeClr>
                </a:solidFill>
                <a:latin typeface="Palatino Linotype"/>
                <a:cs typeface="Palatino Linotype"/>
              </a:rPr>
              <a:t>or </a:t>
            </a:r>
            <a:r>
              <a:rPr sz="1400" kern="1200" spc="-15" dirty="0">
                <a:solidFill>
                  <a:schemeClr val="bg2">
                    <a:lumMod val="50000"/>
                  </a:schemeClr>
                </a:solidFill>
                <a:latin typeface="Cambria Math"/>
                <a:cs typeface="Cambria Math"/>
              </a:rPr>
              <a:t>𝐵</a:t>
            </a:r>
            <a:r>
              <a:rPr sz="1500" kern="1200" spc="-22" baseline="-16666" dirty="0">
                <a:solidFill>
                  <a:schemeClr val="bg2">
                    <a:lumMod val="50000"/>
                  </a:schemeClr>
                </a:solidFill>
                <a:latin typeface="Cambria Math"/>
                <a:cs typeface="Cambria Math"/>
              </a:rPr>
              <a:t>2</a:t>
            </a:r>
            <a:r>
              <a:rPr sz="1500" kern="1200" spc="292" baseline="-16666" dirty="0">
                <a:solidFill>
                  <a:schemeClr val="bg2">
                    <a:lumMod val="50000"/>
                  </a:schemeClr>
                </a:solidFill>
                <a:latin typeface="Cambria Math"/>
                <a:cs typeface="Cambria Math"/>
              </a:rPr>
              <a:t> </a:t>
            </a:r>
            <a:r>
              <a:rPr sz="1400" kern="1200" dirty="0">
                <a:solidFill>
                  <a:schemeClr val="bg2">
                    <a:lumMod val="50000"/>
                  </a:schemeClr>
                </a:solidFill>
                <a:latin typeface="Palatino Linotype"/>
                <a:cs typeface="Palatino Linotype"/>
              </a:rPr>
              <a:t>has</a:t>
            </a:r>
            <a:r>
              <a:rPr sz="1400" kern="1200" spc="-20"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side</a:t>
            </a:r>
            <a:r>
              <a:rPr sz="1400" kern="1200" spc="5" dirty="0">
                <a:solidFill>
                  <a:schemeClr val="bg2">
                    <a:lumMod val="50000"/>
                  </a:schemeClr>
                </a:solidFill>
                <a:latin typeface="Palatino Linotype"/>
                <a:cs typeface="Palatino Linotype"/>
              </a:rPr>
              <a:t> </a:t>
            </a:r>
            <a:r>
              <a:rPr sz="1400" kern="1200" dirty="0">
                <a:solidFill>
                  <a:schemeClr val="bg2">
                    <a:lumMod val="50000"/>
                  </a:schemeClr>
                </a:solidFill>
                <a:latin typeface="Palatino Linotype"/>
                <a:cs typeface="Palatino Linotype"/>
              </a:rPr>
              <a:t>effect</a:t>
            </a:r>
            <a:r>
              <a:rPr sz="1400" kern="1200" spc="5"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(e.g., </a:t>
            </a:r>
            <a:r>
              <a:rPr sz="1400" kern="1200" dirty="0">
                <a:solidFill>
                  <a:schemeClr val="bg2">
                    <a:lumMod val="50000"/>
                  </a:schemeClr>
                </a:solidFill>
                <a:latin typeface="Palatino Linotype"/>
                <a:cs typeface="Palatino Linotype"/>
              </a:rPr>
              <a:t>changing</a:t>
            </a:r>
            <a:r>
              <a:rPr sz="1400" kern="1200" spc="-15"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the</a:t>
            </a:r>
            <a:r>
              <a:rPr sz="1400" kern="1200" dirty="0">
                <a:solidFill>
                  <a:schemeClr val="bg2">
                    <a:lumMod val="50000"/>
                  </a:schemeClr>
                </a:solidFill>
                <a:latin typeface="Palatino Linotype"/>
                <a:cs typeface="Palatino Linotype"/>
              </a:rPr>
              <a:t> </a:t>
            </a:r>
            <a:r>
              <a:rPr sz="1400" kern="1200" spc="-10" dirty="0">
                <a:solidFill>
                  <a:schemeClr val="bg2">
                    <a:lumMod val="50000"/>
                  </a:schemeClr>
                </a:solidFill>
                <a:latin typeface="Palatino Linotype"/>
                <a:cs typeface="Palatino Linotype"/>
              </a:rPr>
              <a:t>value</a:t>
            </a:r>
            <a:r>
              <a:rPr sz="1400" kern="1200" spc="5" dirty="0">
                <a:solidFill>
                  <a:schemeClr val="bg2">
                    <a:lumMod val="50000"/>
                  </a:schemeClr>
                </a:solidFill>
                <a:latin typeface="Palatino Linotype"/>
                <a:cs typeface="Palatino Linotype"/>
              </a:rPr>
              <a:t> </a:t>
            </a:r>
            <a:r>
              <a:rPr sz="1400" kern="1200" dirty="0">
                <a:solidFill>
                  <a:schemeClr val="bg2">
                    <a:lumMod val="50000"/>
                  </a:schemeClr>
                </a:solidFill>
                <a:latin typeface="Palatino Linotype"/>
                <a:cs typeface="Palatino Linotype"/>
              </a:rPr>
              <a:t>of</a:t>
            </a:r>
            <a:r>
              <a:rPr sz="1400" kern="1200" spc="-15" dirty="0">
                <a:solidFill>
                  <a:schemeClr val="bg2">
                    <a:lumMod val="50000"/>
                  </a:schemeClr>
                </a:solidFill>
                <a:latin typeface="Palatino Linotype"/>
                <a:cs typeface="Palatino Linotype"/>
              </a:rPr>
              <a:t> </a:t>
            </a:r>
            <a:r>
              <a:rPr sz="1400" kern="1200" dirty="0">
                <a:solidFill>
                  <a:schemeClr val="bg2">
                    <a:lumMod val="50000"/>
                  </a:schemeClr>
                </a:solidFill>
                <a:latin typeface="Palatino Linotype"/>
                <a:cs typeface="Palatino Linotype"/>
              </a:rPr>
              <a:t>a</a:t>
            </a:r>
            <a:r>
              <a:rPr sz="1400" kern="1200" spc="-10"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global variable),</a:t>
            </a:r>
            <a:r>
              <a:rPr sz="1400" kern="1200" spc="-15"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then</a:t>
            </a:r>
            <a:r>
              <a:rPr sz="1400" kern="1200"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the</a:t>
            </a:r>
            <a:r>
              <a:rPr sz="1400" kern="1200" spc="15" dirty="0">
                <a:solidFill>
                  <a:schemeClr val="bg2">
                    <a:lumMod val="50000"/>
                  </a:schemeClr>
                </a:solidFill>
                <a:latin typeface="Palatino Linotype"/>
                <a:cs typeface="Palatino Linotype"/>
              </a:rPr>
              <a:t> </a:t>
            </a:r>
            <a:r>
              <a:rPr sz="1400" kern="1200" dirty="0">
                <a:solidFill>
                  <a:schemeClr val="bg2">
                    <a:lumMod val="50000"/>
                  </a:schemeClr>
                </a:solidFill>
                <a:latin typeface="Palatino Linotype"/>
                <a:cs typeface="Palatino Linotype"/>
              </a:rPr>
              <a:t>effect</a:t>
            </a:r>
            <a:r>
              <a:rPr sz="1400" kern="1200" spc="5"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may</a:t>
            </a:r>
            <a:r>
              <a:rPr sz="1400" kern="1200" spc="5" dirty="0">
                <a:solidFill>
                  <a:schemeClr val="bg2">
                    <a:lumMod val="50000"/>
                  </a:schemeClr>
                </a:solidFill>
                <a:latin typeface="Palatino Linotype"/>
                <a:cs typeface="Palatino Linotype"/>
              </a:rPr>
              <a:t> </a:t>
            </a:r>
            <a:r>
              <a:rPr sz="1400" kern="1200" dirty="0">
                <a:solidFill>
                  <a:schemeClr val="bg2">
                    <a:lumMod val="50000"/>
                  </a:schemeClr>
                </a:solidFill>
                <a:latin typeface="Palatino Linotype"/>
                <a:cs typeface="Palatino Linotype"/>
              </a:rPr>
              <a:t>not</a:t>
            </a:r>
            <a:r>
              <a:rPr sz="1400" kern="1200" spc="-5" dirty="0">
                <a:solidFill>
                  <a:schemeClr val="bg2">
                    <a:lumMod val="50000"/>
                  </a:schemeClr>
                </a:solidFill>
                <a:latin typeface="Palatino Linotype"/>
                <a:cs typeface="Palatino Linotype"/>
              </a:rPr>
              <a:t> </a:t>
            </a:r>
            <a:r>
              <a:rPr sz="1400" kern="1200" dirty="0">
                <a:solidFill>
                  <a:schemeClr val="bg2">
                    <a:lumMod val="50000"/>
                  </a:schemeClr>
                </a:solidFill>
                <a:latin typeface="Palatino Linotype"/>
                <a:cs typeface="Palatino Linotype"/>
              </a:rPr>
              <a:t>occur</a:t>
            </a:r>
          </a:p>
        </p:txBody>
      </p:sp>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79</a:t>
            </a:fld>
            <a:endParaRPr lang="en-US" dirty="0"/>
          </a:p>
        </p:txBody>
      </p:sp>
      <p:sp>
        <p:nvSpPr>
          <p:cNvPr id="14" name="object 2">
            <a:extLst>
              <a:ext uri="{FF2B5EF4-FFF2-40B4-BE49-F238E27FC236}">
                <a16:creationId xmlns:a16="http://schemas.microsoft.com/office/drawing/2014/main" id="{5AC762AF-A910-5823-7EFB-24E776C9CAF2}"/>
              </a:ext>
            </a:extLst>
          </p:cNvPr>
          <p:cNvSpPr txBox="1">
            <a:spLocks/>
          </p:cNvSpPr>
          <p:nvPr/>
        </p:nvSpPr>
        <p:spPr>
          <a:xfrm>
            <a:off x="707542" y="520141"/>
            <a:ext cx="3090545"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Control</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Flow</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Tree>
    <p:extLst>
      <p:ext uri="{BB962C8B-B14F-4D97-AF65-F5344CB8AC3E}">
        <p14:creationId xmlns:p14="http://schemas.microsoft.com/office/powerpoint/2010/main" val="138095611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80</a:t>
            </a:fld>
            <a:endParaRPr lang="en-US"/>
          </a:p>
        </p:txBody>
      </p:sp>
      <p:sp>
        <p:nvSpPr>
          <p:cNvPr id="11" name="object 2">
            <a:extLst>
              <a:ext uri="{FF2B5EF4-FFF2-40B4-BE49-F238E27FC236}">
                <a16:creationId xmlns:a16="http://schemas.microsoft.com/office/drawing/2014/main" id="{265A7F15-01A3-6197-602C-F16375623CCB}"/>
              </a:ext>
            </a:extLst>
          </p:cNvPr>
          <p:cNvSpPr txBox="1">
            <a:spLocks/>
          </p:cNvSpPr>
          <p:nvPr/>
        </p:nvSpPr>
        <p:spPr>
          <a:xfrm>
            <a:off x="707542" y="520141"/>
            <a:ext cx="6541134"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Short-Circuit </a:t>
            </a:r>
            <a:r>
              <a:rPr kumimoji="0" lang="en-US" sz="4000" b="1" i="0" u="none" strike="noStrike" kern="0" cap="none" spc="-10" normalizeH="0" baseline="0" noProof="0">
                <a:ln>
                  <a:noFill/>
                </a:ln>
                <a:solidFill>
                  <a:sysClr val="windowText" lastClr="000000"/>
                </a:solidFill>
                <a:effectLst/>
                <a:uLnTx/>
                <a:uFillTx/>
                <a:latin typeface="Palatino Linotype"/>
                <a:ea typeface="+mj-ea"/>
              </a:rPr>
              <a:t>Code </a:t>
            </a:r>
            <a:r>
              <a:rPr kumimoji="0" lang="en-US" sz="4000" b="1" i="0" u="none" strike="noStrike" kern="0" cap="none" spc="-5"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12" name="object 3">
            <a:extLst>
              <a:ext uri="{FF2B5EF4-FFF2-40B4-BE49-F238E27FC236}">
                <a16:creationId xmlns:a16="http://schemas.microsoft.com/office/drawing/2014/main" id="{10FA4610-12A2-62C3-5497-62775C8F97BD}"/>
              </a:ext>
            </a:extLst>
          </p:cNvPr>
          <p:cNvSpPr txBox="1"/>
          <p:nvPr/>
        </p:nvSpPr>
        <p:spPr>
          <a:xfrm>
            <a:off x="707542" y="2017267"/>
            <a:ext cx="2103120" cy="360680"/>
          </a:xfrm>
          <a:prstGeom prst="rect">
            <a:avLst/>
          </a:prstGeom>
        </p:spPr>
        <p:txBody>
          <a:bodyPr vert="horz" wrap="square" lIns="0" tIns="12065" rIns="0" bIns="0" rtlCol="0">
            <a:spAutoFit/>
          </a:bodyPr>
          <a:lstStyle/>
          <a:p>
            <a:pPr marL="242570" indent="-230504" rtl="0">
              <a:spcBef>
                <a:spcPts val="95"/>
              </a:spcBef>
              <a:buClr>
                <a:srgbClr val="000000"/>
              </a:buClr>
              <a:buFont typeface="Arial MT"/>
              <a:buChar char="•"/>
              <a:tabLst>
                <a:tab pos="242570" algn="l"/>
                <a:tab pos="243204" algn="l"/>
              </a:tabLst>
            </a:pPr>
            <a:r>
              <a:rPr sz="2200" kern="1200" dirty="0">
                <a:solidFill>
                  <a:srgbClr val="0431FF"/>
                </a:solidFill>
                <a:latin typeface="Consolas"/>
                <a:cs typeface="Consolas"/>
              </a:rPr>
              <a:t>if</a:t>
            </a:r>
            <a:r>
              <a:rPr sz="2200" kern="1200" spc="-20" dirty="0">
                <a:solidFill>
                  <a:srgbClr val="0431FF"/>
                </a:solidFill>
                <a:latin typeface="Consolas"/>
                <a:cs typeface="Consolas"/>
              </a:rPr>
              <a:t> </a:t>
            </a:r>
            <a:r>
              <a:rPr sz="2200" kern="1200" spc="-5" dirty="0">
                <a:solidFill>
                  <a:srgbClr val="0431FF"/>
                </a:solidFill>
                <a:latin typeface="Consolas"/>
                <a:cs typeface="Consolas"/>
              </a:rPr>
              <a:t>(</a:t>
            </a:r>
            <a:r>
              <a:rPr sz="2200" kern="1200" spc="-15" dirty="0">
                <a:solidFill>
                  <a:srgbClr val="0431FF"/>
                </a:solidFill>
                <a:latin typeface="Consolas"/>
                <a:cs typeface="Consolas"/>
              </a:rPr>
              <a:t> </a:t>
            </a:r>
            <a:r>
              <a:rPr sz="2200" kern="1200" spc="-5" dirty="0">
                <a:solidFill>
                  <a:srgbClr val="0431FF"/>
                </a:solidFill>
                <a:latin typeface="Consolas"/>
                <a:cs typeface="Consolas"/>
              </a:rPr>
              <a:t>x</a:t>
            </a:r>
            <a:r>
              <a:rPr sz="2200" kern="1200" spc="-15" dirty="0">
                <a:solidFill>
                  <a:srgbClr val="0431FF"/>
                </a:solidFill>
                <a:latin typeface="Consolas"/>
                <a:cs typeface="Consolas"/>
              </a:rPr>
              <a:t> </a:t>
            </a:r>
            <a:r>
              <a:rPr sz="2200" kern="1200" spc="-5" dirty="0">
                <a:solidFill>
                  <a:srgbClr val="0431FF"/>
                </a:solidFill>
                <a:latin typeface="Consolas"/>
                <a:cs typeface="Consolas"/>
              </a:rPr>
              <a:t>&lt;</a:t>
            </a:r>
            <a:r>
              <a:rPr sz="2200" kern="1200" spc="-15" dirty="0">
                <a:solidFill>
                  <a:srgbClr val="0431FF"/>
                </a:solidFill>
                <a:latin typeface="Consolas"/>
                <a:cs typeface="Consolas"/>
              </a:rPr>
              <a:t> </a:t>
            </a:r>
            <a:r>
              <a:rPr sz="2200" kern="1200" dirty="0">
                <a:solidFill>
                  <a:srgbClr val="0431FF"/>
                </a:solidFill>
                <a:latin typeface="Consolas"/>
                <a:cs typeface="Consolas"/>
              </a:rPr>
              <a:t>100</a:t>
            </a:r>
            <a:endParaRPr sz="2200" kern="1200">
              <a:solidFill>
                <a:prstClr val="black"/>
              </a:solidFill>
              <a:latin typeface="Consolas"/>
              <a:cs typeface="Consolas"/>
            </a:endParaRPr>
          </a:p>
        </p:txBody>
      </p:sp>
      <p:sp>
        <p:nvSpPr>
          <p:cNvPr id="13" name="object 4">
            <a:extLst>
              <a:ext uri="{FF2B5EF4-FFF2-40B4-BE49-F238E27FC236}">
                <a16:creationId xmlns:a16="http://schemas.microsoft.com/office/drawing/2014/main" id="{0AFD8AF1-846E-727F-BBC4-F4DC5D05F667}"/>
              </a:ext>
            </a:extLst>
          </p:cNvPr>
          <p:cNvSpPr txBox="1"/>
          <p:nvPr/>
        </p:nvSpPr>
        <p:spPr>
          <a:xfrm>
            <a:off x="3092957" y="2017267"/>
            <a:ext cx="4490085" cy="360680"/>
          </a:xfrm>
          <a:prstGeom prst="rect">
            <a:avLst/>
          </a:prstGeom>
        </p:spPr>
        <p:txBody>
          <a:bodyPr vert="horz" wrap="square" lIns="0" tIns="12065" rIns="0" bIns="0" rtlCol="0">
            <a:spAutoFit/>
          </a:bodyPr>
          <a:lstStyle/>
          <a:p>
            <a:pPr marL="12700" rtl="0">
              <a:spcBef>
                <a:spcPts val="95"/>
              </a:spcBef>
            </a:pPr>
            <a:r>
              <a:rPr sz="2200" kern="1200" spc="-5" dirty="0">
                <a:solidFill>
                  <a:srgbClr val="FF0000"/>
                </a:solidFill>
                <a:latin typeface="Consolas"/>
                <a:cs typeface="Consolas"/>
              </a:rPr>
              <a:t>|| </a:t>
            </a:r>
            <a:r>
              <a:rPr sz="2200" kern="1200" spc="-5" dirty="0">
                <a:solidFill>
                  <a:srgbClr val="0431FF"/>
                </a:solidFill>
                <a:latin typeface="Consolas"/>
                <a:cs typeface="Consolas"/>
              </a:rPr>
              <a:t>x</a:t>
            </a:r>
            <a:r>
              <a:rPr sz="2200" kern="1200" dirty="0">
                <a:solidFill>
                  <a:srgbClr val="0431FF"/>
                </a:solidFill>
                <a:latin typeface="Consolas"/>
                <a:cs typeface="Consolas"/>
              </a:rPr>
              <a:t> </a:t>
            </a:r>
            <a:r>
              <a:rPr sz="2200" kern="1200" spc="-5" dirty="0">
                <a:solidFill>
                  <a:srgbClr val="0431FF"/>
                </a:solidFill>
                <a:latin typeface="Consolas"/>
                <a:cs typeface="Consolas"/>
              </a:rPr>
              <a:t>&gt;</a:t>
            </a:r>
            <a:r>
              <a:rPr sz="2200" kern="1200" dirty="0">
                <a:solidFill>
                  <a:srgbClr val="0431FF"/>
                </a:solidFill>
                <a:latin typeface="Consolas"/>
                <a:cs typeface="Consolas"/>
              </a:rPr>
              <a:t> 200 </a:t>
            </a:r>
            <a:r>
              <a:rPr sz="2200" kern="1200" spc="-5" dirty="0">
                <a:solidFill>
                  <a:srgbClr val="FF0000"/>
                </a:solidFill>
                <a:latin typeface="Consolas"/>
                <a:cs typeface="Consolas"/>
              </a:rPr>
              <a:t>&amp;&amp;</a:t>
            </a:r>
            <a:r>
              <a:rPr sz="2200" kern="1200" dirty="0">
                <a:solidFill>
                  <a:srgbClr val="FF0000"/>
                </a:solidFill>
                <a:latin typeface="Consolas"/>
                <a:cs typeface="Consolas"/>
              </a:rPr>
              <a:t> </a:t>
            </a:r>
            <a:r>
              <a:rPr sz="2200" kern="1200" spc="-5" dirty="0">
                <a:solidFill>
                  <a:srgbClr val="0431FF"/>
                </a:solidFill>
                <a:latin typeface="Consolas"/>
                <a:cs typeface="Consolas"/>
              </a:rPr>
              <a:t>x</a:t>
            </a:r>
            <a:r>
              <a:rPr sz="2200" kern="1200" dirty="0">
                <a:solidFill>
                  <a:srgbClr val="0431FF"/>
                </a:solidFill>
                <a:latin typeface="Consolas"/>
                <a:cs typeface="Consolas"/>
              </a:rPr>
              <a:t> != </a:t>
            </a:r>
            <a:r>
              <a:rPr sz="2200" kern="1200" spc="-5" dirty="0">
                <a:solidFill>
                  <a:srgbClr val="0431FF"/>
                </a:solidFill>
                <a:latin typeface="Consolas"/>
                <a:cs typeface="Consolas"/>
              </a:rPr>
              <a:t>y</a:t>
            </a:r>
            <a:r>
              <a:rPr sz="2200" kern="1200" dirty="0">
                <a:solidFill>
                  <a:srgbClr val="0431FF"/>
                </a:solidFill>
                <a:latin typeface="Consolas"/>
                <a:cs typeface="Consolas"/>
              </a:rPr>
              <a:t> </a:t>
            </a:r>
            <a:r>
              <a:rPr sz="2200" kern="1200" spc="-5" dirty="0">
                <a:solidFill>
                  <a:srgbClr val="0431FF"/>
                </a:solidFill>
                <a:latin typeface="Consolas"/>
                <a:cs typeface="Consolas"/>
              </a:rPr>
              <a:t>)</a:t>
            </a:r>
            <a:r>
              <a:rPr sz="2200" kern="1200" dirty="0">
                <a:solidFill>
                  <a:srgbClr val="0431FF"/>
                </a:solidFill>
                <a:latin typeface="Consolas"/>
                <a:cs typeface="Consolas"/>
              </a:rPr>
              <a:t> </a:t>
            </a:r>
            <a:r>
              <a:rPr sz="2200" kern="1200" spc="-5" dirty="0">
                <a:solidFill>
                  <a:srgbClr val="0431FF"/>
                </a:solidFill>
                <a:latin typeface="Consolas"/>
                <a:cs typeface="Consolas"/>
              </a:rPr>
              <a:t>x</a:t>
            </a:r>
            <a:r>
              <a:rPr sz="2200" kern="1200" dirty="0">
                <a:solidFill>
                  <a:srgbClr val="0431FF"/>
                </a:solidFill>
                <a:latin typeface="Consolas"/>
                <a:cs typeface="Consolas"/>
              </a:rPr>
              <a:t> </a:t>
            </a:r>
            <a:r>
              <a:rPr sz="2200" kern="1200" spc="-5" dirty="0">
                <a:solidFill>
                  <a:srgbClr val="0431FF"/>
                </a:solidFill>
                <a:latin typeface="Consolas"/>
                <a:cs typeface="Consolas"/>
              </a:rPr>
              <a:t>=</a:t>
            </a:r>
            <a:r>
              <a:rPr sz="2200" kern="1200" dirty="0">
                <a:solidFill>
                  <a:srgbClr val="0431FF"/>
                </a:solidFill>
                <a:latin typeface="Consolas"/>
                <a:cs typeface="Consolas"/>
              </a:rPr>
              <a:t> </a:t>
            </a:r>
            <a:r>
              <a:rPr sz="2200" kern="1200" spc="-5" dirty="0">
                <a:solidFill>
                  <a:srgbClr val="0431FF"/>
                </a:solidFill>
                <a:latin typeface="Consolas"/>
                <a:cs typeface="Consolas"/>
              </a:rPr>
              <a:t>0;</a:t>
            </a:r>
            <a:endParaRPr sz="2200" kern="1200">
              <a:solidFill>
                <a:prstClr val="black"/>
              </a:solidFill>
              <a:latin typeface="Consolas"/>
              <a:cs typeface="Consolas"/>
            </a:endParaRPr>
          </a:p>
        </p:txBody>
      </p:sp>
      <p:pic>
        <p:nvPicPr>
          <p:cNvPr id="15" name="object 6">
            <a:extLst>
              <a:ext uri="{FF2B5EF4-FFF2-40B4-BE49-F238E27FC236}">
                <a16:creationId xmlns:a16="http://schemas.microsoft.com/office/drawing/2014/main" id="{132315ED-E402-3303-B133-3C47CCB2D039}"/>
              </a:ext>
            </a:extLst>
          </p:cNvPr>
          <p:cNvPicPr/>
          <p:nvPr/>
        </p:nvPicPr>
        <p:blipFill>
          <a:blip r:embed="rId3" cstate="print"/>
          <a:stretch>
            <a:fillRect/>
          </a:stretch>
        </p:blipFill>
        <p:spPr>
          <a:xfrm>
            <a:off x="1331640" y="3157824"/>
            <a:ext cx="4394148" cy="1706459"/>
          </a:xfrm>
          <a:prstGeom prst="rect">
            <a:avLst/>
          </a:prstGeom>
        </p:spPr>
      </p:pic>
      <p:sp>
        <p:nvSpPr>
          <p:cNvPr id="2" name="矩形 1">
            <a:extLst>
              <a:ext uri="{FF2B5EF4-FFF2-40B4-BE49-F238E27FC236}">
                <a16:creationId xmlns:a16="http://schemas.microsoft.com/office/drawing/2014/main" id="{EA8D5B2E-D16B-4CAB-BF0D-AEC6C80565C2}"/>
              </a:ext>
            </a:extLst>
          </p:cNvPr>
          <p:cNvSpPr/>
          <p:nvPr/>
        </p:nvSpPr>
        <p:spPr>
          <a:xfrm>
            <a:off x="3779912" y="3088037"/>
            <a:ext cx="1184722" cy="3663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1171F47B-3461-4E2A-A733-E5391CA94998}"/>
              </a:ext>
            </a:extLst>
          </p:cNvPr>
          <p:cNvSpPr/>
          <p:nvPr/>
        </p:nvSpPr>
        <p:spPr bwMode="auto">
          <a:xfrm>
            <a:off x="4581525" y="3480503"/>
            <a:ext cx="1184722" cy="3663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A73A5C0C-E3F1-4B8F-BB2E-417845A7A625}"/>
              </a:ext>
            </a:extLst>
          </p:cNvPr>
          <p:cNvSpPr/>
          <p:nvPr/>
        </p:nvSpPr>
        <p:spPr bwMode="auto">
          <a:xfrm>
            <a:off x="4447035" y="3875142"/>
            <a:ext cx="1184722" cy="3663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15906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7" grpId="0" animBg="1"/>
      <p:bldP spid="18" grpId="0" animBg="1"/>
    </p:bld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81</a:t>
            </a:fld>
            <a:endParaRPr lang="en-US"/>
          </a:p>
        </p:txBody>
      </p:sp>
      <p:sp>
        <p:nvSpPr>
          <p:cNvPr id="23" name="object 2">
            <a:extLst>
              <a:ext uri="{FF2B5EF4-FFF2-40B4-BE49-F238E27FC236}">
                <a16:creationId xmlns:a16="http://schemas.microsoft.com/office/drawing/2014/main" id="{8BDF768D-41C5-2C7C-48D1-AF4D3690A76A}"/>
              </a:ext>
            </a:extLst>
          </p:cNvPr>
          <p:cNvSpPr txBox="1">
            <a:spLocks/>
          </p:cNvSpPr>
          <p:nvPr/>
        </p:nvSpPr>
        <p:spPr>
          <a:xfrm>
            <a:off x="707542" y="520141"/>
            <a:ext cx="647827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Flow-of-Control</a:t>
            </a:r>
            <a:r>
              <a:rPr kumimoji="0" lang="en-US" sz="4000" b="1" i="0" u="none" strike="noStrike" kern="0" cap="none" spc="1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Statements</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24" name="object 3">
            <a:extLst>
              <a:ext uri="{FF2B5EF4-FFF2-40B4-BE49-F238E27FC236}">
                <a16:creationId xmlns:a16="http://schemas.microsoft.com/office/drawing/2014/main" id="{79CCC758-E0D2-9A74-70D7-8AC7C762F818}"/>
              </a:ext>
            </a:extLst>
          </p:cNvPr>
          <p:cNvSpPr/>
          <p:nvPr/>
        </p:nvSpPr>
        <p:spPr>
          <a:xfrm>
            <a:off x="2090420" y="2200910"/>
            <a:ext cx="408305" cy="212090"/>
          </a:xfrm>
          <a:custGeom>
            <a:avLst/>
            <a:gdLst/>
            <a:ahLst/>
            <a:cxnLst/>
            <a:rect l="l" t="t" r="r" b="b"/>
            <a:pathLst>
              <a:path w="408305" h="212089">
                <a:moveTo>
                  <a:pt x="340741" y="0"/>
                </a:moveTo>
                <a:lnTo>
                  <a:pt x="337693" y="8636"/>
                </a:lnTo>
                <a:lnTo>
                  <a:pt x="349978" y="13946"/>
                </a:lnTo>
                <a:lnTo>
                  <a:pt x="360537" y="21304"/>
                </a:lnTo>
                <a:lnTo>
                  <a:pt x="381928" y="55429"/>
                </a:lnTo>
                <a:lnTo>
                  <a:pt x="389000" y="104775"/>
                </a:lnTo>
                <a:lnTo>
                  <a:pt x="388215" y="123444"/>
                </a:lnTo>
                <a:lnTo>
                  <a:pt x="376428" y="169163"/>
                </a:lnTo>
                <a:lnTo>
                  <a:pt x="350121" y="197792"/>
                </a:lnTo>
                <a:lnTo>
                  <a:pt x="338074" y="203200"/>
                </a:lnTo>
                <a:lnTo>
                  <a:pt x="340741" y="211709"/>
                </a:lnTo>
                <a:lnTo>
                  <a:pt x="381210" y="187705"/>
                </a:lnTo>
                <a:lnTo>
                  <a:pt x="403939" y="143335"/>
                </a:lnTo>
                <a:lnTo>
                  <a:pt x="408305" y="105917"/>
                </a:lnTo>
                <a:lnTo>
                  <a:pt x="407209" y="86536"/>
                </a:lnTo>
                <a:lnTo>
                  <a:pt x="390779" y="37084"/>
                </a:lnTo>
                <a:lnTo>
                  <a:pt x="356096" y="5544"/>
                </a:lnTo>
                <a:lnTo>
                  <a:pt x="340741" y="0"/>
                </a:lnTo>
                <a:close/>
              </a:path>
              <a:path w="408305" h="212089">
                <a:moveTo>
                  <a:pt x="67563" y="0"/>
                </a:moveTo>
                <a:lnTo>
                  <a:pt x="27166" y="24110"/>
                </a:lnTo>
                <a:lnTo>
                  <a:pt x="4381" y="68595"/>
                </a:lnTo>
                <a:lnTo>
                  <a:pt x="0" y="105917"/>
                </a:lnTo>
                <a:lnTo>
                  <a:pt x="1093" y="125370"/>
                </a:lnTo>
                <a:lnTo>
                  <a:pt x="17399" y="174751"/>
                </a:lnTo>
                <a:lnTo>
                  <a:pt x="52153" y="206184"/>
                </a:lnTo>
                <a:lnTo>
                  <a:pt x="67563" y="211709"/>
                </a:lnTo>
                <a:lnTo>
                  <a:pt x="70231" y="203200"/>
                </a:lnTo>
                <a:lnTo>
                  <a:pt x="58183" y="197792"/>
                </a:lnTo>
                <a:lnTo>
                  <a:pt x="47767" y="190325"/>
                </a:lnTo>
                <a:lnTo>
                  <a:pt x="26376" y="155638"/>
                </a:lnTo>
                <a:lnTo>
                  <a:pt x="19304" y="104775"/>
                </a:lnTo>
                <a:lnTo>
                  <a:pt x="20089" y="86723"/>
                </a:lnTo>
                <a:lnTo>
                  <a:pt x="31877" y="42163"/>
                </a:lnTo>
                <a:lnTo>
                  <a:pt x="58398" y="13946"/>
                </a:lnTo>
                <a:lnTo>
                  <a:pt x="70612" y="8636"/>
                </a:lnTo>
                <a:lnTo>
                  <a:pt x="67563"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5" name="object 4">
            <a:extLst>
              <a:ext uri="{FF2B5EF4-FFF2-40B4-BE49-F238E27FC236}">
                <a16:creationId xmlns:a16="http://schemas.microsoft.com/office/drawing/2014/main" id="{D7BFFB50-FEE6-7439-0987-9D5E7422F94D}"/>
              </a:ext>
            </a:extLst>
          </p:cNvPr>
          <p:cNvSpPr/>
          <p:nvPr/>
        </p:nvSpPr>
        <p:spPr>
          <a:xfrm>
            <a:off x="2090420" y="2606294"/>
            <a:ext cx="408305" cy="212090"/>
          </a:xfrm>
          <a:custGeom>
            <a:avLst/>
            <a:gdLst/>
            <a:ahLst/>
            <a:cxnLst/>
            <a:rect l="l" t="t" r="r" b="b"/>
            <a:pathLst>
              <a:path w="408305" h="212089">
                <a:moveTo>
                  <a:pt x="340741" y="0"/>
                </a:moveTo>
                <a:lnTo>
                  <a:pt x="337693" y="8635"/>
                </a:lnTo>
                <a:lnTo>
                  <a:pt x="349978" y="13946"/>
                </a:lnTo>
                <a:lnTo>
                  <a:pt x="360537" y="21304"/>
                </a:lnTo>
                <a:lnTo>
                  <a:pt x="381928" y="55429"/>
                </a:lnTo>
                <a:lnTo>
                  <a:pt x="389000" y="104775"/>
                </a:lnTo>
                <a:lnTo>
                  <a:pt x="388215" y="123444"/>
                </a:lnTo>
                <a:lnTo>
                  <a:pt x="376428" y="169163"/>
                </a:lnTo>
                <a:lnTo>
                  <a:pt x="350121" y="197792"/>
                </a:lnTo>
                <a:lnTo>
                  <a:pt x="338074" y="203200"/>
                </a:lnTo>
                <a:lnTo>
                  <a:pt x="340741" y="211708"/>
                </a:lnTo>
                <a:lnTo>
                  <a:pt x="381210" y="187705"/>
                </a:lnTo>
                <a:lnTo>
                  <a:pt x="403939" y="143335"/>
                </a:lnTo>
                <a:lnTo>
                  <a:pt x="408305" y="105917"/>
                </a:lnTo>
                <a:lnTo>
                  <a:pt x="407209" y="86536"/>
                </a:lnTo>
                <a:lnTo>
                  <a:pt x="390779" y="37083"/>
                </a:lnTo>
                <a:lnTo>
                  <a:pt x="356096" y="5544"/>
                </a:lnTo>
                <a:lnTo>
                  <a:pt x="340741" y="0"/>
                </a:lnTo>
                <a:close/>
              </a:path>
              <a:path w="408305" h="212089">
                <a:moveTo>
                  <a:pt x="67563" y="0"/>
                </a:moveTo>
                <a:lnTo>
                  <a:pt x="27166" y="24110"/>
                </a:lnTo>
                <a:lnTo>
                  <a:pt x="4381" y="68595"/>
                </a:lnTo>
                <a:lnTo>
                  <a:pt x="0" y="105917"/>
                </a:lnTo>
                <a:lnTo>
                  <a:pt x="1093" y="125370"/>
                </a:lnTo>
                <a:lnTo>
                  <a:pt x="17399" y="174751"/>
                </a:lnTo>
                <a:lnTo>
                  <a:pt x="52153" y="206184"/>
                </a:lnTo>
                <a:lnTo>
                  <a:pt x="67563" y="211708"/>
                </a:lnTo>
                <a:lnTo>
                  <a:pt x="70231" y="203200"/>
                </a:lnTo>
                <a:lnTo>
                  <a:pt x="58183" y="197792"/>
                </a:lnTo>
                <a:lnTo>
                  <a:pt x="47767" y="190325"/>
                </a:lnTo>
                <a:lnTo>
                  <a:pt x="26376" y="155638"/>
                </a:lnTo>
                <a:lnTo>
                  <a:pt x="19304" y="104775"/>
                </a:lnTo>
                <a:lnTo>
                  <a:pt x="20089" y="86723"/>
                </a:lnTo>
                <a:lnTo>
                  <a:pt x="31877" y="42163"/>
                </a:lnTo>
                <a:lnTo>
                  <a:pt x="58398" y="13946"/>
                </a:lnTo>
                <a:lnTo>
                  <a:pt x="70612" y="8635"/>
                </a:lnTo>
                <a:lnTo>
                  <a:pt x="67563"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6" name="object 5">
            <a:extLst>
              <a:ext uri="{FF2B5EF4-FFF2-40B4-BE49-F238E27FC236}">
                <a16:creationId xmlns:a16="http://schemas.microsoft.com/office/drawing/2014/main" id="{159BB18C-5968-CF6F-B083-D2A7E12EA059}"/>
              </a:ext>
            </a:extLst>
          </p:cNvPr>
          <p:cNvSpPr txBox="1"/>
          <p:nvPr/>
        </p:nvSpPr>
        <p:spPr>
          <a:xfrm>
            <a:off x="682142" y="1486777"/>
            <a:ext cx="2141855" cy="1349375"/>
          </a:xfrm>
          <a:prstGeom prst="rect">
            <a:avLst/>
          </a:prstGeom>
        </p:spPr>
        <p:txBody>
          <a:bodyPr vert="horz" wrap="square" lIns="0" tIns="182245" rIns="0" bIns="0" rtlCol="0">
            <a:spAutoFit/>
          </a:bodyPr>
          <a:lstStyle/>
          <a:p>
            <a:pPr marL="267970" indent="-230504" rtl="0">
              <a:spcBef>
                <a:spcPts val="1435"/>
              </a:spcBef>
              <a:buFont typeface="Arial MT"/>
              <a:buChar char="•"/>
              <a:tabLst>
                <a:tab pos="267970" algn="l"/>
                <a:tab pos="268605" algn="l"/>
              </a:tabLst>
            </a:pPr>
            <a:r>
              <a:rPr sz="2000" kern="1200" spc="-5" dirty="0">
                <a:solidFill>
                  <a:prstClr val="black"/>
                </a:solidFill>
                <a:latin typeface="Palatino Linotype"/>
                <a:cs typeface="Palatino Linotype"/>
              </a:rPr>
              <a:t>Grammar</a:t>
            </a:r>
            <a:r>
              <a:rPr sz="2200" kern="1200" spc="-5" dirty="0">
                <a:solidFill>
                  <a:prstClr val="black"/>
                </a:solidFill>
                <a:latin typeface="Palatino Linotype"/>
                <a:cs typeface="Palatino Linotype"/>
              </a:rPr>
              <a:t>:</a:t>
            </a:r>
            <a:endParaRPr sz="2200" kern="1200">
              <a:solidFill>
                <a:prstClr val="black"/>
              </a:solidFill>
              <a:latin typeface="Palatino Linotype"/>
              <a:cs typeface="Palatino Linotype"/>
            </a:endParaRPr>
          </a:p>
          <a:p>
            <a:pPr marL="723265" lvl="1" indent="-228600" rtl="0">
              <a:spcBef>
                <a:spcPts val="1095"/>
              </a:spcBef>
              <a:buFont typeface="Wingdings"/>
              <a:buChar char=""/>
              <a:tabLst>
                <a:tab pos="723900" algn="l"/>
                <a:tab pos="1534795" algn="l"/>
                <a:tab pos="1888489" algn="l"/>
              </a:tabLst>
            </a:pPr>
            <a:r>
              <a:rPr kern="1200" dirty="0">
                <a:solidFill>
                  <a:prstClr val="black"/>
                </a:solidFill>
                <a:latin typeface="Cambria Math"/>
                <a:cs typeface="Cambria Math"/>
              </a:rPr>
              <a:t>𝑆</a:t>
            </a:r>
            <a:r>
              <a:rPr kern="1200" spc="135" dirty="0">
                <a:solidFill>
                  <a:prstClr val="black"/>
                </a:solidFill>
                <a:latin typeface="Cambria Math"/>
                <a:cs typeface="Cambria Math"/>
              </a:rPr>
              <a:t> </a:t>
            </a:r>
            <a:r>
              <a:rPr kern="1200" dirty="0">
                <a:solidFill>
                  <a:prstClr val="black"/>
                </a:solidFill>
                <a:latin typeface="Cambria Math"/>
                <a:cs typeface="Cambria Math"/>
              </a:rPr>
              <a:t>→</a:t>
            </a:r>
            <a:r>
              <a:rPr kern="1200" spc="95" dirty="0">
                <a:solidFill>
                  <a:prstClr val="black"/>
                </a:solidFill>
                <a:latin typeface="Cambria Math"/>
                <a:cs typeface="Cambria Math"/>
              </a:rPr>
              <a:t> </a:t>
            </a:r>
            <a:r>
              <a:rPr kern="1200" spc="-5" dirty="0">
                <a:solidFill>
                  <a:prstClr val="black"/>
                </a:solidFill>
                <a:latin typeface="Cambria Math"/>
                <a:cs typeface="Cambria Math"/>
              </a:rPr>
              <a:t>𝐢𝐟	</a:t>
            </a:r>
            <a:r>
              <a:rPr kern="1200" dirty="0">
                <a:solidFill>
                  <a:prstClr val="black"/>
                </a:solidFill>
                <a:latin typeface="Cambria Math"/>
                <a:cs typeface="Cambria Math"/>
              </a:rPr>
              <a:t>𝐵	</a:t>
            </a:r>
            <a:r>
              <a:rPr kern="1200" spc="-45" dirty="0">
                <a:solidFill>
                  <a:prstClr val="black"/>
                </a:solidFill>
                <a:latin typeface="Cambria Math"/>
                <a:cs typeface="Cambria Math"/>
              </a:rPr>
              <a:t>𝑆</a:t>
            </a:r>
            <a:r>
              <a:rPr sz="1950" kern="1200" spc="-67" baseline="-14957" dirty="0">
                <a:solidFill>
                  <a:prstClr val="black"/>
                </a:solidFill>
                <a:latin typeface="Cambria Math"/>
                <a:cs typeface="Cambria Math"/>
              </a:rPr>
              <a:t>1</a:t>
            </a:r>
            <a:endParaRPr sz="1950" kern="1200" baseline="-14957">
              <a:solidFill>
                <a:prstClr val="black"/>
              </a:solidFill>
              <a:latin typeface="Cambria Math"/>
              <a:cs typeface="Cambria Math"/>
            </a:endParaRPr>
          </a:p>
          <a:p>
            <a:pPr marL="723265" lvl="1" indent="-228600" rtl="0">
              <a:spcBef>
                <a:spcPts val="1030"/>
              </a:spcBef>
              <a:buFont typeface="Wingdings"/>
              <a:buChar char=""/>
              <a:tabLst>
                <a:tab pos="723900" algn="l"/>
                <a:tab pos="1534795" algn="l"/>
              </a:tabLst>
            </a:pPr>
            <a:r>
              <a:rPr kern="1200" dirty="0">
                <a:solidFill>
                  <a:prstClr val="black"/>
                </a:solidFill>
                <a:latin typeface="Cambria Math"/>
                <a:cs typeface="Cambria Math"/>
              </a:rPr>
              <a:t>𝑆</a:t>
            </a:r>
            <a:r>
              <a:rPr kern="1200" spc="135" dirty="0">
                <a:solidFill>
                  <a:prstClr val="black"/>
                </a:solidFill>
                <a:latin typeface="Cambria Math"/>
                <a:cs typeface="Cambria Math"/>
              </a:rPr>
              <a:t> </a:t>
            </a:r>
            <a:r>
              <a:rPr kern="1200" dirty="0">
                <a:solidFill>
                  <a:prstClr val="black"/>
                </a:solidFill>
                <a:latin typeface="Cambria Math"/>
                <a:cs typeface="Cambria Math"/>
              </a:rPr>
              <a:t>→</a:t>
            </a:r>
            <a:r>
              <a:rPr kern="1200" spc="95" dirty="0">
                <a:solidFill>
                  <a:prstClr val="black"/>
                </a:solidFill>
                <a:latin typeface="Cambria Math"/>
                <a:cs typeface="Cambria Math"/>
              </a:rPr>
              <a:t> </a:t>
            </a:r>
            <a:r>
              <a:rPr kern="1200" spc="-5" dirty="0">
                <a:solidFill>
                  <a:prstClr val="black"/>
                </a:solidFill>
                <a:latin typeface="Cambria Math"/>
                <a:cs typeface="Cambria Math"/>
              </a:rPr>
              <a:t>𝐢𝐟	</a:t>
            </a:r>
            <a:r>
              <a:rPr kern="1200" dirty="0">
                <a:solidFill>
                  <a:prstClr val="black"/>
                </a:solidFill>
                <a:latin typeface="Cambria Math"/>
                <a:cs typeface="Cambria Math"/>
              </a:rPr>
              <a:t>𝐵</a:t>
            </a:r>
            <a:endParaRPr kern="1200">
              <a:solidFill>
                <a:prstClr val="black"/>
              </a:solidFill>
              <a:latin typeface="Cambria Math"/>
              <a:cs typeface="Cambria Math"/>
            </a:endParaRPr>
          </a:p>
        </p:txBody>
      </p:sp>
      <p:sp>
        <p:nvSpPr>
          <p:cNvPr id="27" name="object 6">
            <a:extLst>
              <a:ext uri="{FF2B5EF4-FFF2-40B4-BE49-F238E27FC236}">
                <a16:creationId xmlns:a16="http://schemas.microsoft.com/office/drawing/2014/main" id="{7CA172CE-235C-2A90-8200-97B93EBE6158}"/>
              </a:ext>
            </a:extLst>
          </p:cNvPr>
          <p:cNvSpPr txBox="1"/>
          <p:nvPr/>
        </p:nvSpPr>
        <p:spPr>
          <a:xfrm>
            <a:off x="1164742" y="2941141"/>
            <a:ext cx="1296035" cy="300355"/>
          </a:xfrm>
          <a:prstGeom prst="rect">
            <a:avLst/>
          </a:prstGeom>
        </p:spPr>
        <p:txBody>
          <a:bodyPr vert="horz" wrap="square" lIns="0" tIns="12700" rIns="0" bIns="0" rtlCol="0">
            <a:spAutoFit/>
          </a:bodyPr>
          <a:lstStyle/>
          <a:p>
            <a:pPr marL="240665" indent="-228600" rtl="0">
              <a:spcBef>
                <a:spcPts val="100"/>
              </a:spcBef>
              <a:buFont typeface="Wingdings"/>
              <a:buChar char=""/>
              <a:tabLst>
                <a:tab pos="241300" algn="l"/>
              </a:tabLst>
            </a:pPr>
            <a:r>
              <a:rPr kern="1200" dirty="0">
                <a:solidFill>
                  <a:prstClr val="black"/>
                </a:solidFill>
                <a:latin typeface="Cambria Math"/>
                <a:cs typeface="Cambria Math"/>
              </a:rPr>
              <a:t>𝑆</a:t>
            </a:r>
            <a:r>
              <a:rPr kern="1200" spc="90" dirty="0">
                <a:solidFill>
                  <a:prstClr val="black"/>
                </a:solidFill>
                <a:latin typeface="Cambria Math"/>
                <a:cs typeface="Cambria Math"/>
              </a:rPr>
              <a:t> </a:t>
            </a:r>
            <a:r>
              <a:rPr kern="1200" dirty="0">
                <a:solidFill>
                  <a:prstClr val="black"/>
                </a:solidFill>
                <a:latin typeface="Cambria Math"/>
                <a:cs typeface="Cambria Math"/>
              </a:rPr>
              <a:t>→</a:t>
            </a:r>
            <a:r>
              <a:rPr kern="1200" spc="55" dirty="0">
                <a:solidFill>
                  <a:prstClr val="black"/>
                </a:solidFill>
                <a:latin typeface="Cambria Math"/>
                <a:cs typeface="Cambria Math"/>
              </a:rPr>
              <a:t> </a:t>
            </a:r>
            <a:r>
              <a:rPr kern="1200" spc="-5" dirty="0">
                <a:solidFill>
                  <a:prstClr val="black"/>
                </a:solidFill>
                <a:latin typeface="Cambria Math"/>
                <a:cs typeface="Cambria Math"/>
              </a:rPr>
              <a:t>𝐰𝐡𝐢𝐥𝐞</a:t>
            </a:r>
            <a:endParaRPr kern="1200">
              <a:solidFill>
                <a:prstClr val="black"/>
              </a:solidFill>
              <a:latin typeface="Cambria Math"/>
              <a:cs typeface="Cambria Math"/>
            </a:endParaRPr>
          </a:p>
        </p:txBody>
      </p:sp>
      <p:sp>
        <p:nvSpPr>
          <p:cNvPr id="28" name="object 7">
            <a:extLst>
              <a:ext uri="{FF2B5EF4-FFF2-40B4-BE49-F238E27FC236}">
                <a16:creationId xmlns:a16="http://schemas.microsoft.com/office/drawing/2014/main" id="{64DE2DD6-712C-1C18-6004-B942D9DABA8C}"/>
              </a:ext>
            </a:extLst>
          </p:cNvPr>
          <p:cNvSpPr/>
          <p:nvPr/>
        </p:nvSpPr>
        <p:spPr>
          <a:xfrm>
            <a:off x="2517139" y="3011677"/>
            <a:ext cx="408305" cy="212090"/>
          </a:xfrm>
          <a:custGeom>
            <a:avLst/>
            <a:gdLst/>
            <a:ahLst/>
            <a:cxnLst/>
            <a:rect l="l" t="t" r="r" b="b"/>
            <a:pathLst>
              <a:path w="408305" h="212089">
                <a:moveTo>
                  <a:pt x="340741" y="0"/>
                </a:moveTo>
                <a:lnTo>
                  <a:pt x="337693" y="8636"/>
                </a:lnTo>
                <a:lnTo>
                  <a:pt x="349978" y="13946"/>
                </a:lnTo>
                <a:lnTo>
                  <a:pt x="360537" y="21304"/>
                </a:lnTo>
                <a:lnTo>
                  <a:pt x="381928" y="55429"/>
                </a:lnTo>
                <a:lnTo>
                  <a:pt x="389001" y="104775"/>
                </a:lnTo>
                <a:lnTo>
                  <a:pt x="388215" y="123444"/>
                </a:lnTo>
                <a:lnTo>
                  <a:pt x="376428" y="169163"/>
                </a:lnTo>
                <a:lnTo>
                  <a:pt x="350121" y="197792"/>
                </a:lnTo>
                <a:lnTo>
                  <a:pt x="338074" y="203200"/>
                </a:lnTo>
                <a:lnTo>
                  <a:pt x="340741" y="211709"/>
                </a:lnTo>
                <a:lnTo>
                  <a:pt x="381210" y="187705"/>
                </a:lnTo>
                <a:lnTo>
                  <a:pt x="403939" y="143335"/>
                </a:lnTo>
                <a:lnTo>
                  <a:pt x="408305" y="105918"/>
                </a:lnTo>
                <a:lnTo>
                  <a:pt x="407209" y="86536"/>
                </a:lnTo>
                <a:lnTo>
                  <a:pt x="390779" y="37084"/>
                </a:lnTo>
                <a:lnTo>
                  <a:pt x="356096" y="5544"/>
                </a:lnTo>
                <a:lnTo>
                  <a:pt x="340741" y="0"/>
                </a:lnTo>
                <a:close/>
              </a:path>
              <a:path w="408305" h="212089">
                <a:moveTo>
                  <a:pt x="67564" y="0"/>
                </a:moveTo>
                <a:lnTo>
                  <a:pt x="27166" y="24110"/>
                </a:lnTo>
                <a:lnTo>
                  <a:pt x="4381" y="68595"/>
                </a:lnTo>
                <a:lnTo>
                  <a:pt x="0" y="105918"/>
                </a:lnTo>
                <a:lnTo>
                  <a:pt x="1093" y="125370"/>
                </a:lnTo>
                <a:lnTo>
                  <a:pt x="17399" y="174751"/>
                </a:lnTo>
                <a:lnTo>
                  <a:pt x="52153" y="206184"/>
                </a:lnTo>
                <a:lnTo>
                  <a:pt x="67564" y="211709"/>
                </a:lnTo>
                <a:lnTo>
                  <a:pt x="70231" y="203200"/>
                </a:lnTo>
                <a:lnTo>
                  <a:pt x="58183" y="197792"/>
                </a:lnTo>
                <a:lnTo>
                  <a:pt x="47767" y="190325"/>
                </a:lnTo>
                <a:lnTo>
                  <a:pt x="26376" y="155638"/>
                </a:lnTo>
                <a:lnTo>
                  <a:pt x="19304" y="104775"/>
                </a:lnTo>
                <a:lnTo>
                  <a:pt x="20089" y="86723"/>
                </a:lnTo>
                <a:lnTo>
                  <a:pt x="31877" y="42163"/>
                </a:lnTo>
                <a:lnTo>
                  <a:pt x="58398" y="13946"/>
                </a:lnTo>
                <a:lnTo>
                  <a:pt x="70612" y="8636"/>
                </a:lnTo>
                <a:lnTo>
                  <a:pt x="6756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9" name="object 8">
            <a:extLst>
              <a:ext uri="{FF2B5EF4-FFF2-40B4-BE49-F238E27FC236}">
                <a16:creationId xmlns:a16="http://schemas.microsoft.com/office/drawing/2014/main" id="{AFB9D893-EC5E-37B3-33F6-EE7E07CA261A}"/>
              </a:ext>
            </a:extLst>
          </p:cNvPr>
          <p:cNvSpPr txBox="1"/>
          <p:nvPr/>
        </p:nvSpPr>
        <p:spPr>
          <a:xfrm>
            <a:off x="2519933" y="2405478"/>
            <a:ext cx="1054100" cy="836294"/>
          </a:xfrm>
          <a:prstGeom prst="rect">
            <a:avLst/>
          </a:prstGeom>
        </p:spPr>
        <p:txBody>
          <a:bodyPr vert="horz" wrap="square" lIns="0" tIns="142875" rIns="0" bIns="0" rtlCol="0">
            <a:spAutoFit/>
          </a:bodyPr>
          <a:lstStyle/>
          <a:p>
            <a:pPr marL="50800" rtl="0">
              <a:spcBef>
                <a:spcPts val="1125"/>
              </a:spcBef>
            </a:pPr>
            <a:r>
              <a:rPr kern="1200" spc="-45" dirty="0">
                <a:solidFill>
                  <a:prstClr val="black"/>
                </a:solidFill>
                <a:latin typeface="Cambria Math"/>
                <a:cs typeface="Cambria Math"/>
              </a:rPr>
              <a:t>𝑆</a:t>
            </a:r>
            <a:r>
              <a:rPr sz="1950" kern="1200" spc="-67" baseline="-14957" dirty="0">
                <a:solidFill>
                  <a:prstClr val="black"/>
                </a:solidFill>
                <a:latin typeface="Cambria Math"/>
                <a:cs typeface="Cambria Math"/>
              </a:rPr>
              <a:t>1</a:t>
            </a:r>
            <a:r>
              <a:rPr sz="1950" kern="1200" spc="225" baseline="-14957" dirty="0">
                <a:solidFill>
                  <a:prstClr val="black"/>
                </a:solidFill>
                <a:latin typeface="Cambria Math"/>
                <a:cs typeface="Cambria Math"/>
              </a:rPr>
              <a:t> </a:t>
            </a:r>
            <a:r>
              <a:rPr kern="1200" spc="-5" dirty="0">
                <a:solidFill>
                  <a:prstClr val="black"/>
                </a:solidFill>
                <a:latin typeface="Cambria Math"/>
                <a:cs typeface="Cambria Math"/>
              </a:rPr>
              <a:t>𝐞𝐥𝐬𝐞</a:t>
            </a:r>
            <a:r>
              <a:rPr kern="1200" spc="-15" dirty="0">
                <a:solidFill>
                  <a:prstClr val="black"/>
                </a:solidFill>
                <a:latin typeface="Cambria Math"/>
                <a:cs typeface="Cambria Math"/>
              </a:rPr>
              <a:t> </a:t>
            </a:r>
            <a:r>
              <a:rPr kern="1200" spc="-25" dirty="0">
                <a:solidFill>
                  <a:prstClr val="black"/>
                </a:solidFill>
                <a:latin typeface="Cambria Math"/>
                <a:cs typeface="Cambria Math"/>
              </a:rPr>
              <a:t>𝑆</a:t>
            </a:r>
            <a:r>
              <a:rPr sz="1950" kern="1200" spc="-37" baseline="-14957" dirty="0">
                <a:solidFill>
                  <a:prstClr val="black"/>
                </a:solidFill>
                <a:latin typeface="Cambria Math"/>
                <a:cs typeface="Cambria Math"/>
              </a:rPr>
              <a:t>2</a:t>
            </a:r>
            <a:endParaRPr sz="1950" kern="1200" baseline="-14957">
              <a:solidFill>
                <a:prstClr val="black"/>
              </a:solidFill>
              <a:latin typeface="Cambria Math"/>
              <a:cs typeface="Cambria Math"/>
            </a:endParaRPr>
          </a:p>
          <a:p>
            <a:pPr marL="123825" rtl="0">
              <a:spcBef>
                <a:spcPts val="1035"/>
              </a:spcBef>
              <a:tabLst>
                <a:tab pos="476884" algn="l"/>
              </a:tabLst>
            </a:pPr>
            <a:r>
              <a:rPr kern="1200" dirty="0">
                <a:solidFill>
                  <a:prstClr val="black"/>
                </a:solidFill>
                <a:latin typeface="Cambria Math"/>
                <a:cs typeface="Cambria Math"/>
              </a:rPr>
              <a:t>𝐵	</a:t>
            </a:r>
            <a:r>
              <a:rPr kern="1200" spc="-45" dirty="0">
                <a:solidFill>
                  <a:prstClr val="black"/>
                </a:solidFill>
                <a:latin typeface="Cambria Math"/>
                <a:cs typeface="Cambria Math"/>
              </a:rPr>
              <a:t>𝑆</a:t>
            </a:r>
            <a:r>
              <a:rPr sz="1950" kern="1200" spc="-67" baseline="-14957" dirty="0">
                <a:solidFill>
                  <a:prstClr val="black"/>
                </a:solidFill>
                <a:latin typeface="Cambria Math"/>
                <a:cs typeface="Cambria Math"/>
              </a:rPr>
              <a:t>1</a:t>
            </a:r>
            <a:endParaRPr sz="1950" kern="1200" baseline="-14957">
              <a:solidFill>
                <a:prstClr val="black"/>
              </a:solidFill>
              <a:latin typeface="Cambria Math"/>
              <a:cs typeface="Cambria Math"/>
            </a:endParaRPr>
          </a:p>
        </p:txBody>
      </p:sp>
      <p:pic>
        <p:nvPicPr>
          <p:cNvPr id="30" name="object 9">
            <a:extLst>
              <a:ext uri="{FF2B5EF4-FFF2-40B4-BE49-F238E27FC236}">
                <a16:creationId xmlns:a16="http://schemas.microsoft.com/office/drawing/2014/main" id="{3CCE8750-1594-6811-BDE9-CE721B6903BB}"/>
              </a:ext>
            </a:extLst>
          </p:cNvPr>
          <p:cNvPicPr/>
          <p:nvPr/>
        </p:nvPicPr>
        <p:blipFill>
          <a:blip r:embed="rId3" cstate="print"/>
          <a:stretch>
            <a:fillRect/>
          </a:stretch>
        </p:blipFill>
        <p:spPr>
          <a:xfrm>
            <a:off x="725477" y="4233074"/>
            <a:ext cx="2286247" cy="1540204"/>
          </a:xfrm>
          <a:prstGeom prst="rect">
            <a:avLst/>
          </a:prstGeom>
        </p:spPr>
      </p:pic>
      <p:grpSp>
        <p:nvGrpSpPr>
          <p:cNvPr id="31" name="object 10">
            <a:extLst>
              <a:ext uri="{FF2B5EF4-FFF2-40B4-BE49-F238E27FC236}">
                <a16:creationId xmlns:a16="http://schemas.microsoft.com/office/drawing/2014/main" id="{81FBE5BA-2C2D-E022-A925-DAB76BA99E1A}"/>
              </a:ext>
            </a:extLst>
          </p:cNvPr>
          <p:cNvGrpSpPr/>
          <p:nvPr/>
        </p:nvGrpSpPr>
        <p:grpSpPr>
          <a:xfrm>
            <a:off x="3519454" y="3937453"/>
            <a:ext cx="2177415" cy="2145665"/>
            <a:chOff x="3519454" y="3937453"/>
            <a:chExt cx="2177415" cy="2145665"/>
          </a:xfrm>
        </p:grpSpPr>
        <p:pic>
          <p:nvPicPr>
            <p:cNvPr id="32" name="object 11">
              <a:extLst>
                <a:ext uri="{FF2B5EF4-FFF2-40B4-BE49-F238E27FC236}">
                  <a16:creationId xmlns:a16="http://schemas.microsoft.com/office/drawing/2014/main" id="{0A2839FD-7862-F72A-300C-6CCD0C6BE4E0}"/>
                </a:ext>
              </a:extLst>
            </p:cNvPr>
            <p:cNvPicPr/>
            <p:nvPr/>
          </p:nvPicPr>
          <p:blipFill>
            <a:blip r:embed="rId4" cstate="print"/>
            <a:stretch>
              <a:fillRect/>
            </a:stretch>
          </p:blipFill>
          <p:spPr>
            <a:xfrm>
              <a:off x="3519454" y="3937453"/>
              <a:ext cx="2177402" cy="2145120"/>
            </a:xfrm>
            <a:prstGeom prst="rect">
              <a:avLst/>
            </a:prstGeom>
          </p:spPr>
        </p:pic>
        <p:sp>
          <p:nvSpPr>
            <p:cNvPr id="33" name="object 12">
              <a:extLst>
                <a:ext uri="{FF2B5EF4-FFF2-40B4-BE49-F238E27FC236}">
                  <a16:creationId xmlns:a16="http://schemas.microsoft.com/office/drawing/2014/main" id="{3DA3F93F-CDB2-8924-0395-892A4CA8203A}"/>
                </a:ext>
              </a:extLst>
            </p:cNvPr>
            <p:cNvSpPr/>
            <p:nvPr/>
          </p:nvSpPr>
          <p:spPr>
            <a:xfrm>
              <a:off x="4023359" y="4844796"/>
              <a:ext cx="1135380" cy="314325"/>
            </a:xfrm>
            <a:custGeom>
              <a:avLst/>
              <a:gdLst/>
              <a:ahLst/>
              <a:cxnLst/>
              <a:rect l="l" t="t" r="r" b="b"/>
              <a:pathLst>
                <a:path w="1135379" h="314325">
                  <a:moveTo>
                    <a:pt x="0" y="313943"/>
                  </a:moveTo>
                  <a:lnTo>
                    <a:pt x="1135380" y="313943"/>
                  </a:lnTo>
                  <a:lnTo>
                    <a:pt x="1135380" y="0"/>
                  </a:lnTo>
                  <a:lnTo>
                    <a:pt x="0" y="0"/>
                  </a:lnTo>
                  <a:lnTo>
                    <a:pt x="0" y="313943"/>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grpSp>
        <p:nvGrpSpPr>
          <p:cNvPr id="34" name="object 13">
            <a:extLst>
              <a:ext uri="{FF2B5EF4-FFF2-40B4-BE49-F238E27FC236}">
                <a16:creationId xmlns:a16="http://schemas.microsoft.com/office/drawing/2014/main" id="{EFE78DA2-0960-FD03-167B-57A8F6B91D16}"/>
              </a:ext>
            </a:extLst>
          </p:cNvPr>
          <p:cNvGrpSpPr/>
          <p:nvPr/>
        </p:nvGrpSpPr>
        <p:grpSpPr>
          <a:xfrm>
            <a:off x="6045669" y="4125507"/>
            <a:ext cx="2530475" cy="1514475"/>
            <a:chOff x="6045669" y="4125507"/>
            <a:chExt cx="2530475" cy="1514475"/>
          </a:xfrm>
        </p:grpSpPr>
        <p:pic>
          <p:nvPicPr>
            <p:cNvPr id="35" name="object 14">
              <a:extLst>
                <a:ext uri="{FF2B5EF4-FFF2-40B4-BE49-F238E27FC236}">
                  <a16:creationId xmlns:a16="http://schemas.microsoft.com/office/drawing/2014/main" id="{92F49CF5-A1E3-91F1-A7CD-42CF4759FDB4}"/>
                </a:ext>
              </a:extLst>
            </p:cNvPr>
            <p:cNvPicPr/>
            <p:nvPr/>
          </p:nvPicPr>
          <p:blipFill>
            <a:blip r:embed="rId5" cstate="print"/>
            <a:stretch>
              <a:fillRect/>
            </a:stretch>
          </p:blipFill>
          <p:spPr>
            <a:xfrm>
              <a:off x="6045669" y="4125507"/>
              <a:ext cx="2530229" cy="1513886"/>
            </a:xfrm>
            <a:prstGeom prst="rect">
              <a:avLst/>
            </a:prstGeom>
          </p:spPr>
        </p:pic>
        <p:sp>
          <p:nvSpPr>
            <p:cNvPr id="36" name="object 15">
              <a:extLst>
                <a:ext uri="{FF2B5EF4-FFF2-40B4-BE49-F238E27FC236}">
                  <a16:creationId xmlns:a16="http://schemas.microsoft.com/office/drawing/2014/main" id="{1F4EE332-7A93-85F1-A62B-4C12C305729B}"/>
                </a:ext>
              </a:extLst>
            </p:cNvPr>
            <p:cNvSpPr/>
            <p:nvPr/>
          </p:nvSpPr>
          <p:spPr>
            <a:xfrm>
              <a:off x="6638544" y="5100827"/>
              <a:ext cx="1135380" cy="314325"/>
            </a:xfrm>
            <a:custGeom>
              <a:avLst/>
              <a:gdLst/>
              <a:ahLst/>
              <a:cxnLst/>
              <a:rect l="l" t="t" r="r" b="b"/>
              <a:pathLst>
                <a:path w="1135379" h="314325">
                  <a:moveTo>
                    <a:pt x="0" y="313944"/>
                  </a:moveTo>
                  <a:lnTo>
                    <a:pt x="1135379" y="313944"/>
                  </a:lnTo>
                  <a:lnTo>
                    <a:pt x="1135379" y="0"/>
                  </a:lnTo>
                  <a:lnTo>
                    <a:pt x="0" y="0"/>
                  </a:lnTo>
                  <a:lnTo>
                    <a:pt x="0" y="313944"/>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37" name="object 16">
            <a:extLst>
              <a:ext uri="{FF2B5EF4-FFF2-40B4-BE49-F238E27FC236}">
                <a16:creationId xmlns:a16="http://schemas.microsoft.com/office/drawing/2014/main" id="{907B1443-DC12-6879-6C77-4603074D12CA}"/>
              </a:ext>
            </a:extLst>
          </p:cNvPr>
          <p:cNvSpPr txBox="1"/>
          <p:nvPr/>
        </p:nvSpPr>
        <p:spPr>
          <a:xfrm>
            <a:off x="4023359" y="1804416"/>
            <a:ext cx="4605655" cy="1431290"/>
          </a:xfrm>
          <a:prstGeom prst="rect">
            <a:avLst/>
          </a:prstGeom>
          <a:solidFill>
            <a:srgbClr val="FFF1CC"/>
          </a:solidFill>
          <a:ln w="9525">
            <a:solidFill>
              <a:srgbClr val="000000"/>
            </a:solidFill>
          </a:ln>
        </p:spPr>
        <p:txBody>
          <a:bodyPr vert="horz" wrap="square" lIns="0" tIns="33655" rIns="0" bIns="0" rtlCol="0">
            <a:spAutoFit/>
          </a:bodyPr>
          <a:lstStyle/>
          <a:p>
            <a:pPr marL="92075" rtl="0">
              <a:spcBef>
                <a:spcPts val="265"/>
              </a:spcBef>
            </a:pPr>
            <a:r>
              <a:rPr sz="1600" b="1" kern="1200" spc="-10" dirty="0">
                <a:solidFill>
                  <a:srgbClr val="FF0000"/>
                </a:solidFill>
                <a:latin typeface="Palatino Linotype"/>
                <a:cs typeface="Palatino Linotype"/>
              </a:rPr>
              <a:t>Inherited </a:t>
            </a:r>
            <a:r>
              <a:rPr sz="1600" b="1" kern="1200" spc="-5" dirty="0">
                <a:solidFill>
                  <a:srgbClr val="FF0000"/>
                </a:solidFill>
                <a:latin typeface="Palatino Linotype"/>
                <a:cs typeface="Palatino Linotype"/>
              </a:rPr>
              <a:t>attributes:</a:t>
            </a:r>
            <a:endParaRPr sz="1600" kern="1200" dirty="0">
              <a:solidFill>
                <a:prstClr val="black"/>
              </a:solidFill>
              <a:latin typeface="Palatino Linotype"/>
              <a:cs typeface="Palatino Linotype"/>
            </a:endParaRPr>
          </a:p>
          <a:p>
            <a:pPr marL="378460" indent="-287020" rtl="0">
              <a:spcBef>
                <a:spcPts val="605"/>
              </a:spcBef>
              <a:buFont typeface="Arial MT"/>
              <a:buChar char="•"/>
              <a:tabLst>
                <a:tab pos="378460" algn="l"/>
                <a:tab pos="379095" algn="l"/>
              </a:tabLst>
            </a:pPr>
            <a:r>
              <a:rPr sz="1400" kern="1200" spc="15" dirty="0">
                <a:solidFill>
                  <a:srgbClr val="FF0000"/>
                </a:solidFill>
                <a:latin typeface="Cambria Math"/>
                <a:cs typeface="Cambria Math"/>
              </a:rPr>
              <a:t>𝐵.</a:t>
            </a:r>
            <a:r>
              <a:rPr sz="1400" kern="1200" spc="-85" dirty="0">
                <a:solidFill>
                  <a:srgbClr val="FF0000"/>
                </a:solidFill>
                <a:latin typeface="Cambria Math"/>
                <a:cs typeface="Cambria Math"/>
              </a:rPr>
              <a:t> </a:t>
            </a:r>
            <a:r>
              <a:rPr sz="1400" kern="1200" spc="5" dirty="0">
                <a:solidFill>
                  <a:srgbClr val="FF0000"/>
                </a:solidFill>
                <a:latin typeface="Cambria Math"/>
                <a:cs typeface="Cambria Math"/>
              </a:rPr>
              <a:t>𝑡𝑟𝑢𝑒</a:t>
            </a:r>
            <a:r>
              <a:rPr sz="1400" kern="1200" spc="5" dirty="0">
                <a:solidFill>
                  <a:prstClr val="black"/>
                </a:solidFill>
                <a:latin typeface="Palatino Linotype"/>
                <a:cs typeface="Palatino Linotype"/>
              </a:rPr>
              <a:t>:</a:t>
            </a:r>
            <a:r>
              <a:rPr sz="1400" kern="1200" spc="-5" dirty="0">
                <a:solidFill>
                  <a:prstClr val="black"/>
                </a:solidFill>
                <a:latin typeface="Palatino Linotype"/>
                <a:cs typeface="Palatino Linotype"/>
              </a:rPr>
              <a:t> the</a:t>
            </a:r>
            <a:r>
              <a:rPr sz="1400" kern="1200" dirty="0">
                <a:solidFill>
                  <a:prstClr val="black"/>
                </a:solidFill>
                <a:latin typeface="Palatino Linotype"/>
                <a:cs typeface="Palatino Linotype"/>
              </a:rPr>
              <a:t> </a:t>
            </a:r>
            <a:r>
              <a:rPr sz="1400" kern="1200" spc="-5" dirty="0">
                <a:solidFill>
                  <a:prstClr val="black"/>
                </a:solidFill>
                <a:latin typeface="Palatino Linotype"/>
                <a:cs typeface="Palatino Linotype"/>
              </a:rPr>
              <a:t>label</a:t>
            </a:r>
            <a:r>
              <a:rPr sz="1400" kern="1200" spc="5" dirty="0">
                <a:solidFill>
                  <a:prstClr val="black"/>
                </a:solidFill>
                <a:latin typeface="Palatino Linotype"/>
                <a:cs typeface="Palatino Linotype"/>
              </a:rPr>
              <a:t> </a:t>
            </a:r>
            <a:r>
              <a:rPr sz="1400" kern="1200" spc="-5" dirty="0">
                <a:solidFill>
                  <a:prstClr val="black"/>
                </a:solidFill>
                <a:latin typeface="Palatino Linotype"/>
                <a:cs typeface="Palatino Linotype"/>
              </a:rPr>
              <a:t>to</a:t>
            </a:r>
            <a:r>
              <a:rPr sz="1400" kern="1200" dirty="0">
                <a:solidFill>
                  <a:prstClr val="black"/>
                </a:solidFill>
                <a:latin typeface="Palatino Linotype"/>
                <a:cs typeface="Palatino Linotype"/>
              </a:rPr>
              <a:t> which</a:t>
            </a:r>
            <a:r>
              <a:rPr sz="1400" kern="1200" spc="-15" dirty="0">
                <a:solidFill>
                  <a:prstClr val="black"/>
                </a:solidFill>
                <a:latin typeface="Palatino Linotype"/>
                <a:cs typeface="Palatino Linotype"/>
              </a:rPr>
              <a:t> </a:t>
            </a:r>
            <a:r>
              <a:rPr sz="1400" kern="1200" dirty="0">
                <a:solidFill>
                  <a:prstClr val="black"/>
                </a:solidFill>
                <a:latin typeface="Palatino Linotype"/>
                <a:cs typeface="Palatino Linotype"/>
              </a:rPr>
              <a:t>control flows</a:t>
            </a:r>
            <a:r>
              <a:rPr sz="1400" kern="1200" spc="-25" dirty="0">
                <a:solidFill>
                  <a:prstClr val="black"/>
                </a:solidFill>
                <a:latin typeface="Palatino Linotype"/>
                <a:cs typeface="Palatino Linotype"/>
              </a:rPr>
              <a:t> </a:t>
            </a:r>
            <a:r>
              <a:rPr sz="1400" kern="1200" dirty="0">
                <a:solidFill>
                  <a:prstClr val="black"/>
                </a:solidFill>
                <a:latin typeface="Palatino Linotype"/>
                <a:cs typeface="Palatino Linotype"/>
              </a:rPr>
              <a:t>if</a:t>
            </a:r>
            <a:r>
              <a:rPr sz="1400" kern="1200" spc="5" dirty="0">
                <a:solidFill>
                  <a:prstClr val="black"/>
                </a:solidFill>
                <a:latin typeface="Palatino Linotype"/>
                <a:cs typeface="Palatino Linotype"/>
              </a:rPr>
              <a:t> </a:t>
            </a:r>
            <a:r>
              <a:rPr sz="1400" kern="1200" dirty="0">
                <a:solidFill>
                  <a:prstClr val="black"/>
                </a:solidFill>
                <a:latin typeface="Cambria Math"/>
                <a:cs typeface="Cambria Math"/>
              </a:rPr>
              <a:t>𝐵</a:t>
            </a:r>
            <a:r>
              <a:rPr sz="1400" kern="1200" spc="75" dirty="0">
                <a:solidFill>
                  <a:prstClr val="black"/>
                </a:solidFill>
                <a:latin typeface="Cambria Math"/>
                <a:cs typeface="Cambria Math"/>
              </a:rPr>
              <a:t> </a:t>
            </a:r>
            <a:r>
              <a:rPr sz="1400" kern="1200" dirty="0">
                <a:solidFill>
                  <a:prstClr val="black"/>
                </a:solidFill>
                <a:latin typeface="Palatino Linotype"/>
                <a:cs typeface="Palatino Linotype"/>
              </a:rPr>
              <a:t>is</a:t>
            </a:r>
            <a:r>
              <a:rPr sz="1400" kern="1200" spc="-10" dirty="0">
                <a:solidFill>
                  <a:prstClr val="black"/>
                </a:solidFill>
                <a:latin typeface="Palatino Linotype"/>
                <a:cs typeface="Palatino Linotype"/>
              </a:rPr>
              <a:t> </a:t>
            </a:r>
            <a:r>
              <a:rPr sz="1400" kern="1200" spc="-5" dirty="0">
                <a:solidFill>
                  <a:prstClr val="black"/>
                </a:solidFill>
                <a:latin typeface="Palatino Linotype"/>
                <a:cs typeface="Palatino Linotype"/>
              </a:rPr>
              <a:t>true</a:t>
            </a:r>
            <a:endParaRPr sz="1400" kern="1200" dirty="0">
              <a:solidFill>
                <a:prstClr val="black"/>
              </a:solidFill>
              <a:latin typeface="Palatino Linotype"/>
              <a:cs typeface="Palatino Linotype"/>
            </a:endParaRPr>
          </a:p>
          <a:p>
            <a:pPr marL="378460" indent="-287020" rtl="0">
              <a:spcBef>
                <a:spcPts val="600"/>
              </a:spcBef>
              <a:buFont typeface="Arial MT"/>
              <a:buChar char="•"/>
              <a:tabLst>
                <a:tab pos="378460" algn="l"/>
                <a:tab pos="379095" algn="l"/>
              </a:tabLst>
            </a:pPr>
            <a:r>
              <a:rPr sz="1400" kern="1200" spc="15" dirty="0">
                <a:solidFill>
                  <a:srgbClr val="FF0000"/>
                </a:solidFill>
                <a:latin typeface="Cambria Math"/>
                <a:cs typeface="Cambria Math"/>
              </a:rPr>
              <a:t>𝐵.</a:t>
            </a:r>
            <a:r>
              <a:rPr sz="1400" kern="1200" spc="-85" dirty="0">
                <a:solidFill>
                  <a:srgbClr val="FF0000"/>
                </a:solidFill>
                <a:latin typeface="Cambria Math"/>
                <a:cs typeface="Cambria Math"/>
              </a:rPr>
              <a:t> </a:t>
            </a:r>
            <a:r>
              <a:rPr sz="1400" kern="1200" spc="5" dirty="0">
                <a:solidFill>
                  <a:srgbClr val="FF0000"/>
                </a:solidFill>
                <a:latin typeface="Cambria Math"/>
                <a:cs typeface="Cambria Math"/>
              </a:rPr>
              <a:t>𝑓𝑎𝑙𝑠𝑒</a:t>
            </a:r>
            <a:r>
              <a:rPr sz="1400" kern="1200" spc="5" dirty="0">
                <a:solidFill>
                  <a:prstClr val="black"/>
                </a:solidFill>
                <a:latin typeface="Palatino Linotype"/>
                <a:cs typeface="Palatino Linotype"/>
              </a:rPr>
              <a:t>:</a:t>
            </a:r>
            <a:r>
              <a:rPr sz="1400" kern="1200" spc="-5" dirty="0">
                <a:solidFill>
                  <a:prstClr val="black"/>
                </a:solidFill>
                <a:latin typeface="Palatino Linotype"/>
                <a:cs typeface="Palatino Linotype"/>
              </a:rPr>
              <a:t> the</a:t>
            </a:r>
            <a:r>
              <a:rPr sz="1400" kern="1200" dirty="0">
                <a:solidFill>
                  <a:prstClr val="black"/>
                </a:solidFill>
                <a:latin typeface="Palatino Linotype"/>
                <a:cs typeface="Palatino Linotype"/>
              </a:rPr>
              <a:t> </a:t>
            </a:r>
            <a:r>
              <a:rPr sz="1400" kern="1200" spc="-5" dirty="0">
                <a:solidFill>
                  <a:prstClr val="black"/>
                </a:solidFill>
                <a:latin typeface="Palatino Linotype"/>
                <a:cs typeface="Palatino Linotype"/>
              </a:rPr>
              <a:t>label</a:t>
            </a:r>
            <a:r>
              <a:rPr sz="1400" kern="1200" dirty="0">
                <a:solidFill>
                  <a:prstClr val="black"/>
                </a:solidFill>
                <a:latin typeface="Palatino Linotype"/>
                <a:cs typeface="Palatino Linotype"/>
              </a:rPr>
              <a:t> </a:t>
            </a:r>
            <a:r>
              <a:rPr sz="1400" kern="1200" spc="-5" dirty="0">
                <a:solidFill>
                  <a:prstClr val="black"/>
                </a:solidFill>
                <a:latin typeface="Palatino Linotype"/>
                <a:cs typeface="Palatino Linotype"/>
              </a:rPr>
              <a:t>to</a:t>
            </a:r>
            <a:r>
              <a:rPr sz="1400" kern="1200" spc="5" dirty="0">
                <a:solidFill>
                  <a:prstClr val="black"/>
                </a:solidFill>
                <a:latin typeface="Palatino Linotype"/>
                <a:cs typeface="Palatino Linotype"/>
              </a:rPr>
              <a:t> </a:t>
            </a:r>
            <a:r>
              <a:rPr sz="1400" kern="1200" dirty="0">
                <a:solidFill>
                  <a:prstClr val="black"/>
                </a:solidFill>
                <a:latin typeface="Palatino Linotype"/>
                <a:cs typeface="Palatino Linotype"/>
              </a:rPr>
              <a:t>which</a:t>
            </a:r>
            <a:r>
              <a:rPr sz="1400" kern="1200" spc="-15" dirty="0">
                <a:solidFill>
                  <a:prstClr val="black"/>
                </a:solidFill>
                <a:latin typeface="Palatino Linotype"/>
                <a:cs typeface="Palatino Linotype"/>
              </a:rPr>
              <a:t> </a:t>
            </a:r>
            <a:r>
              <a:rPr sz="1400" kern="1200" dirty="0">
                <a:solidFill>
                  <a:prstClr val="black"/>
                </a:solidFill>
                <a:latin typeface="Palatino Linotype"/>
                <a:cs typeface="Palatino Linotype"/>
              </a:rPr>
              <a:t>control</a:t>
            </a:r>
            <a:r>
              <a:rPr sz="1400" kern="1200" spc="-5" dirty="0">
                <a:solidFill>
                  <a:prstClr val="black"/>
                </a:solidFill>
                <a:latin typeface="Palatino Linotype"/>
                <a:cs typeface="Palatino Linotype"/>
              </a:rPr>
              <a:t> </a:t>
            </a:r>
            <a:r>
              <a:rPr sz="1400" kern="1200" dirty="0">
                <a:solidFill>
                  <a:prstClr val="black"/>
                </a:solidFill>
                <a:latin typeface="Palatino Linotype"/>
                <a:cs typeface="Palatino Linotype"/>
              </a:rPr>
              <a:t>flows</a:t>
            </a:r>
            <a:r>
              <a:rPr sz="1400" kern="1200" spc="-20" dirty="0">
                <a:solidFill>
                  <a:prstClr val="black"/>
                </a:solidFill>
                <a:latin typeface="Palatino Linotype"/>
                <a:cs typeface="Palatino Linotype"/>
              </a:rPr>
              <a:t> </a:t>
            </a:r>
            <a:r>
              <a:rPr sz="1400" kern="1200" dirty="0">
                <a:solidFill>
                  <a:prstClr val="black"/>
                </a:solidFill>
                <a:latin typeface="Palatino Linotype"/>
                <a:cs typeface="Palatino Linotype"/>
              </a:rPr>
              <a:t>if</a:t>
            </a:r>
            <a:r>
              <a:rPr sz="1400" kern="1200" spc="5" dirty="0">
                <a:solidFill>
                  <a:prstClr val="black"/>
                </a:solidFill>
                <a:latin typeface="Palatino Linotype"/>
                <a:cs typeface="Palatino Linotype"/>
              </a:rPr>
              <a:t> </a:t>
            </a:r>
            <a:r>
              <a:rPr sz="1400" kern="1200" dirty="0">
                <a:solidFill>
                  <a:prstClr val="black"/>
                </a:solidFill>
                <a:latin typeface="Cambria Math"/>
                <a:cs typeface="Cambria Math"/>
              </a:rPr>
              <a:t>𝐵</a:t>
            </a:r>
            <a:r>
              <a:rPr sz="1400" kern="1200" spc="75" dirty="0">
                <a:solidFill>
                  <a:prstClr val="black"/>
                </a:solidFill>
                <a:latin typeface="Cambria Math"/>
                <a:cs typeface="Cambria Math"/>
              </a:rPr>
              <a:t> </a:t>
            </a:r>
            <a:r>
              <a:rPr sz="1400" kern="1200" dirty="0">
                <a:solidFill>
                  <a:prstClr val="black"/>
                </a:solidFill>
                <a:latin typeface="Palatino Linotype"/>
                <a:cs typeface="Palatino Linotype"/>
              </a:rPr>
              <a:t>is</a:t>
            </a:r>
            <a:r>
              <a:rPr sz="1400" kern="1200" spc="-15" dirty="0">
                <a:solidFill>
                  <a:prstClr val="black"/>
                </a:solidFill>
                <a:latin typeface="Palatino Linotype"/>
                <a:cs typeface="Palatino Linotype"/>
              </a:rPr>
              <a:t> </a:t>
            </a:r>
            <a:r>
              <a:rPr sz="1400" kern="1200" dirty="0">
                <a:solidFill>
                  <a:prstClr val="black"/>
                </a:solidFill>
                <a:latin typeface="Palatino Linotype"/>
                <a:cs typeface="Palatino Linotype"/>
              </a:rPr>
              <a:t>false</a:t>
            </a:r>
          </a:p>
          <a:p>
            <a:pPr marL="378460" indent="-287020" rtl="0">
              <a:spcBef>
                <a:spcPts val="600"/>
              </a:spcBef>
              <a:buFont typeface="Arial MT"/>
              <a:buChar char="•"/>
              <a:tabLst>
                <a:tab pos="378460" algn="l"/>
                <a:tab pos="379095" algn="l"/>
              </a:tabLst>
            </a:pPr>
            <a:r>
              <a:rPr sz="1400" kern="1200" spc="5" dirty="0">
                <a:solidFill>
                  <a:srgbClr val="FF0000"/>
                </a:solidFill>
                <a:latin typeface="Cambria Math"/>
                <a:cs typeface="Cambria Math"/>
              </a:rPr>
              <a:t>𝑆.</a:t>
            </a:r>
            <a:r>
              <a:rPr sz="1400" kern="1200" spc="-70" dirty="0">
                <a:solidFill>
                  <a:srgbClr val="FF0000"/>
                </a:solidFill>
                <a:latin typeface="Cambria Math"/>
                <a:cs typeface="Cambria Math"/>
              </a:rPr>
              <a:t> </a:t>
            </a:r>
            <a:r>
              <a:rPr sz="1400" kern="1200" spc="5" dirty="0">
                <a:solidFill>
                  <a:srgbClr val="FF0000"/>
                </a:solidFill>
                <a:latin typeface="Cambria Math"/>
                <a:cs typeface="Cambria Math"/>
              </a:rPr>
              <a:t>𝑛𝑒𝑥𝑡</a:t>
            </a:r>
            <a:r>
              <a:rPr sz="1400" kern="1200" spc="5" dirty="0">
                <a:solidFill>
                  <a:prstClr val="black"/>
                </a:solidFill>
                <a:latin typeface="Palatino Linotype"/>
                <a:cs typeface="Palatino Linotype"/>
              </a:rPr>
              <a:t>:</a:t>
            </a:r>
            <a:r>
              <a:rPr sz="1400" kern="1200" spc="-10" dirty="0">
                <a:solidFill>
                  <a:prstClr val="black"/>
                </a:solidFill>
                <a:latin typeface="Palatino Linotype"/>
                <a:cs typeface="Palatino Linotype"/>
              </a:rPr>
              <a:t> </a:t>
            </a:r>
            <a:r>
              <a:rPr sz="1400" kern="1200" spc="-5" dirty="0">
                <a:solidFill>
                  <a:prstClr val="black"/>
                </a:solidFill>
                <a:latin typeface="Palatino Linotype"/>
                <a:cs typeface="Palatino Linotype"/>
              </a:rPr>
              <a:t>the</a:t>
            </a:r>
            <a:r>
              <a:rPr sz="1400" kern="1200" spc="5" dirty="0">
                <a:solidFill>
                  <a:prstClr val="black"/>
                </a:solidFill>
                <a:latin typeface="Palatino Linotype"/>
                <a:cs typeface="Palatino Linotype"/>
              </a:rPr>
              <a:t> </a:t>
            </a:r>
            <a:r>
              <a:rPr sz="1400" kern="1200" dirty="0">
                <a:solidFill>
                  <a:prstClr val="black"/>
                </a:solidFill>
                <a:latin typeface="Palatino Linotype"/>
                <a:cs typeface="Palatino Linotype"/>
              </a:rPr>
              <a:t>label</a:t>
            </a:r>
            <a:r>
              <a:rPr sz="1400" kern="1200" spc="-10" dirty="0">
                <a:solidFill>
                  <a:prstClr val="black"/>
                </a:solidFill>
                <a:latin typeface="Palatino Linotype"/>
                <a:cs typeface="Palatino Linotype"/>
              </a:rPr>
              <a:t> </a:t>
            </a:r>
            <a:r>
              <a:rPr sz="1400" kern="1200" dirty="0">
                <a:solidFill>
                  <a:prstClr val="black"/>
                </a:solidFill>
                <a:latin typeface="Palatino Linotype"/>
                <a:cs typeface="Palatino Linotype"/>
              </a:rPr>
              <a:t>for</a:t>
            </a:r>
            <a:r>
              <a:rPr sz="1400" kern="1200" spc="-20" dirty="0">
                <a:solidFill>
                  <a:prstClr val="black"/>
                </a:solidFill>
                <a:latin typeface="Palatino Linotype"/>
                <a:cs typeface="Palatino Linotype"/>
              </a:rPr>
              <a:t> </a:t>
            </a:r>
            <a:r>
              <a:rPr sz="1400" kern="1200" spc="-5" dirty="0">
                <a:solidFill>
                  <a:prstClr val="black"/>
                </a:solidFill>
                <a:latin typeface="Palatino Linotype"/>
                <a:cs typeface="Palatino Linotype"/>
              </a:rPr>
              <a:t>the</a:t>
            </a:r>
            <a:r>
              <a:rPr sz="1400" kern="1200" spc="5" dirty="0">
                <a:solidFill>
                  <a:prstClr val="black"/>
                </a:solidFill>
                <a:latin typeface="Palatino Linotype"/>
                <a:cs typeface="Palatino Linotype"/>
              </a:rPr>
              <a:t> </a:t>
            </a:r>
            <a:r>
              <a:rPr sz="1400" kern="1200" spc="-5" dirty="0">
                <a:solidFill>
                  <a:prstClr val="black"/>
                </a:solidFill>
                <a:latin typeface="Palatino Linotype"/>
                <a:cs typeface="Palatino Linotype"/>
              </a:rPr>
              <a:t>instruction </a:t>
            </a:r>
            <a:r>
              <a:rPr sz="1400" kern="1200" dirty="0">
                <a:solidFill>
                  <a:prstClr val="black"/>
                </a:solidFill>
                <a:latin typeface="Palatino Linotype"/>
                <a:cs typeface="Palatino Linotype"/>
              </a:rPr>
              <a:t>immediately</a:t>
            </a:r>
          </a:p>
          <a:p>
            <a:pPr marL="378460" rtl="0">
              <a:spcBef>
                <a:spcPts val="5"/>
              </a:spcBef>
            </a:pPr>
            <a:r>
              <a:rPr sz="1400" kern="1200" dirty="0">
                <a:solidFill>
                  <a:prstClr val="black"/>
                </a:solidFill>
                <a:latin typeface="Palatino Linotype"/>
                <a:cs typeface="Palatino Linotype"/>
              </a:rPr>
              <a:t>after</a:t>
            </a:r>
            <a:r>
              <a:rPr sz="1400" kern="1200" spc="-20" dirty="0">
                <a:solidFill>
                  <a:prstClr val="black"/>
                </a:solidFill>
                <a:latin typeface="Palatino Linotype"/>
                <a:cs typeface="Palatino Linotype"/>
              </a:rPr>
              <a:t> </a:t>
            </a:r>
            <a:r>
              <a:rPr sz="1400" kern="1200" spc="-5" dirty="0">
                <a:solidFill>
                  <a:prstClr val="black"/>
                </a:solidFill>
                <a:latin typeface="Palatino Linotype"/>
                <a:cs typeface="Palatino Linotype"/>
              </a:rPr>
              <a:t>the</a:t>
            </a:r>
            <a:r>
              <a:rPr sz="1400" kern="1200" spc="-15" dirty="0">
                <a:solidFill>
                  <a:prstClr val="black"/>
                </a:solidFill>
                <a:latin typeface="Palatino Linotype"/>
                <a:cs typeface="Palatino Linotype"/>
              </a:rPr>
              <a:t> </a:t>
            </a:r>
            <a:r>
              <a:rPr sz="1400" kern="1200" dirty="0">
                <a:solidFill>
                  <a:prstClr val="black"/>
                </a:solidFill>
                <a:latin typeface="Palatino Linotype"/>
                <a:cs typeface="Palatino Linotype"/>
              </a:rPr>
              <a:t>code</a:t>
            </a:r>
            <a:r>
              <a:rPr sz="1400" kern="1200" spc="-20" dirty="0">
                <a:solidFill>
                  <a:prstClr val="black"/>
                </a:solidFill>
                <a:latin typeface="Palatino Linotype"/>
                <a:cs typeface="Palatino Linotype"/>
              </a:rPr>
              <a:t> </a:t>
            </a:r>
            <a:r>
              <a:rPr sz="1400" kern="1200" dirty="0">
                <a:solidFill>
                  <a:prstClr val="black"/>
                </a:solidFill>
                <a:latin typeface="Palatino Linotype"/>
                <a:cs typeface="Palatino Linotype"/>
              </a:rPr>
              <a:t>for</a:t>
            </a:r>
            <a:r>
              <a:rPr sz="1400" kern="1200" spc="-30" dirty="0">
                <a:solidFill>
                  <a:prstClr val="black"/>
                </a:solidFill>
                <a:latin typeface="Palatino Linotype"/>
                <a:cs typeface="Palatino Linotype"/>
              </a:rPr>
              <a:t> </a:t>
            </a:r>
            <a:r>
              <a:rPr sz="1400" kern="1200" dirty="0">
                <a:solidFill>
                  <a:prstClr val="black"/>
                </a:solidFill>
                <a:latin typeface="Cambria Math"/>
                <a:cs typeface="Cambria Math"/>
              </a:rPr>
              <a:t>𝑆</a:t>
            </a:r>
          </a:p>
        </p:txBody>
      </p:sp>
      <p:sp>
        <p:nvSpPr>
          <p:cNvPr id="38" name="object 17">
            <a:extLst>
              <a:ext uri="{FF2B5EF4-FFF2-40B4-BE49-F238E27FC236}">
                <a16:creationId xmlns:a16="http://schemas.microsoft.com/office/drawing/2014/main" id="{9FF038D2-10E4-6E34-7FD2-B78B27AF29B8}"/>
              </a:ext>
            </a:extLst>
          </p:cNvPr>
          <p:cNvSpPr txBox="1"/>
          <p:nvPr/>
        </p:nvSpPr>
        <p:spPr>
          <a:xfrm>
            <a:off x="1040383" y="5981191"/>
            <a:ext cx="1645285" cy="228268"/>
          </a:xfrm>
          <a:prstGeom prst="rect">
            <a:avLst/>
          </a:prstGeom>
        </p:spPr>
        <p:txBody>
          <a:bodyPr vert="horz" wrap="square" lIns="0" tIns="12700" rIns="0" bIns="0" rtlCol="0">
            <a:spAutoFit/>
          </a:bodyPr>
          <a:lstStyle/>
          <a:p>
            <a:pPr marL="12700" rtl="0">
              <a:spcBef>
                <a:spcPts val="100"/>
              </a:spcBef>
            </a:pPr>
            <a:r>
              <a:rPr sz="1400" kern="1200" spc="20" dirty="0">
                <a:solidFill>
                  <a:schemeClr val="bg2">
                    <a:lumMod val="50000"/>
                  </a:schemeClr>
                </a:solidFill>
                <a:latin typeface="Cambria Math"/>
                <a:cs typeface="Cambria Math"/>
              </a:rPr>
              <a:t>𝑆</a:t>
            </a:r>
            <a:r>
              <a:rPr sz="1400" kern="1200" dirty="0">
                <a:solidFill>
                  <a:schemeClr val="bg2">
                    <a:lumMod val="50000"/>
                  </a:schemeClr>
                </a:solidFill>
                <a:latin typeface="Cambria Math"/>
                <a:cs typeface="Cambria Math"/>
              </a:rPr>
              <a:t>.</a:t>
            </a:r>
            <a:r>
              <a:rPr sz="1400" kern="1200" spc="-85" dirty="0">
                <a:solidFill>
                  <a:schemeClr val="bg2">
                    <a:lumMod val="50000"/>
                  </a:schemeClr>
                </a:solidFill>
                <a:latin typeface="Cambria Math"/>
                <a:cs typeface="Cambria Math"/>
              </a:rPr>
              <a:t> </a:t>
            </a:r>
            <a:r>
              <a:rPr sz="1400" kern="1200" dirty="0">
                <a:solidFill>
                  <a:schemeClr val="bg2">
                    <a:lumMod val="50000"/>
                  </a:schemeClr>
                </a:solidFill>
                <a:latin typeface="Cambria Math"/>
                <a:cs typeface="Cambria Math"/>
              </a:rPr>
              <a:t>𝑛𝑒</a:t>
            </a:r>
            <a:r>
              <a:rPr sz="1400" kern="1200" spc="-10" dirty="0">
                <a:solidFill>
                  <a:schemeClr val="bg2">
                    <a:lumMod val="50000"/>
                  </a:schemeClr>
                </a:solidFill>
                <a:latin typeface="Cambria Math"/>
                <a:cs typeface="Cambria Math"/>
              </a:rPr>
              <a:t>𝑥</a:t>
            </a:r>
            <a:r>
              <a:rPr sz="1400" kern="1200" dirty="0">
                <a:solidFill>
                  <a:schemeClr val="bg2">
                    <a:lumMod val="50000"/>
                  </a:schemeClr>
                </a:solidFill>
                <a:latin typeface="Cambria Math"/>
                <a:cs typeface="Cambria Math"/>
              </a:rPr>
              <a:t>𝑡</a:t>
            </a:r>
            <a:r>
              <a:rPr sz="1400" kern="1200" spc="75" dirty="0">
                <a:solidFill>
                  <a:schemeClr val="bg2">
                    <a:lumMod val="50000"/>
                  </a:schemeClr>
                </a:solidFill>
                <a:latin typeface="Cambria Math"/>
                <a:cs typeface="Cambria Math"/>
              </a:rPr>
              <a:t> </a:t>
            </a:r>
            <a:r>
              <a:rPr sz="1400" kern="1200" dirty="0">
                <a:solidFill>
                  <a:schemeClr val="bg2">
                    <a:lumMod val="50000"/>
                  </a:schemeClr>
                </a:solidFill>
                <a:latin typeface="Palatino Linotype"/>
                <a:cs typeface="Palatino Linotype"/>
              </a:rPr>
              <a:t>is </a:t>
            </a:r>
            <a:r>
              <a:rPr sz="1400" kern="1200" spc="-5" dirty="0">
                <a:solidFill>
                  <a:schemeClr val="bg2">
                    <a:lumMod val="50000"/>
                  </a:schemeClr>
                </a:solidFill>
                <a:latin typeface="Palatino Linotype"/>
                <a:cs typeface="Palatino Linotype"/>
              </a:rPr>
              <a:t>no</a:t>
            </a:r>
            <a:r>
              <a:rPr sz="1400" kern="1200" dirty="0">
                <a:solidFill>
                  <a:schemeClr val="bg2">
                    <a:lumMod val="50000"/>
                  </a:schemeClr>
                </a:solidFill>
                <a:latin typeface="Palatino Linotype"/>
                <a:cs typeface="Palatino Linotype"/>
              </a:rPr>
              <a:t>t </a:t>
            </a:r>
            <a:r>
              <a:rPr sz="1400" kern="1200" spc="-5" dirty="0">
                <a:solidFill>
                  <a:schemeClr val="bg2">
                    <a:lumMod val="50000"/>
                  </a:schemeClr>
                </a:solidFill>
                <a:latin typeface="Palatino Linotype"/>
                <a:cs typeface="Palatino Linotype"/>
              </a:rPr>
              <a:t>n</a:t>
            </a:r>
            <a:r>
              <a:rPr sz="1400" kern="1200" dirty="0">
                <a:solidFill>
                  <a:schemeClr val="bg2">
                    <a:lumMod val="50000"/>
                  </a:schemeClr>
                </a:solidFill>
                <a:latin typeface="Palatino Linotype"/>
                <a:cs typeface="Palatino Linotype"/>
              </a:rPr>
              <a:t>ee</a:t>
            </a:r>
            <a:r>
              <a:rPr sz="1400" kern="1200" spc="-10" dirty="0">
                <a:solidFill>
                  <a:schemeClr val="bg2">
                    <a:lumMod val="50000"/>
                  </a:schemeClr>
                </a:solidFill>
                <a:latin typeface="Palatino Linotype"/>
                <a:cs typeface="Palatino Linotype"/>
              </a:rPr>
              <a:t>d</a:t>
            </a:r>
            <a:r>
              <a:rPr sz="1400" kern="1200" dirty="0">
                <a:solidFill>
                  <a:schemeClr val="bg2">
                    <a:lumMod val="50000"/>
                  </a:schemeClr>
                </a:solidFill>
                <a:latin typeface="Palatino Linotype"/>
                <a:cs typeface="Palatino Linotype"/>
              </a:rPr>
              <a:t>ed</a:t>
            </a:r>
          </a:p>
        </p:txBody>
      </p:sp>
      <p:sp>
        <p:nvSpPr>
          <p:cNvPr id="39" name="object 18">
            <a:extLst>
              <a:ext uri="{FF2B5EF4-FFF2-40B4-BE49-F238E27FC236}">
                <a16:creationId xmlns:a16="http://schemas.microsoft.com/office/drawing/2014/main" id="{A6DD9B2A-4F20-E4B1-5560-3079F20A3D8D}"/>
              </a:ext>
            </a:extLst>
          </p:cNvPr>
          <p:cNvSpPr txBox="1"/>
          <p:nvPr/>
        </p:nvSpPr>
        <p:spPr>
          <a:xfrm>
            <a:off x="6485001" y="5981191"/>
            <a:ext cx="1645285" cy="228268"/>
          </a:xfrm>
          <a:prstGeom prst="rect">
            <a:avLst/>
          </a:prstGeom>
        </p:spPr>
        <p:txBody>
          <a:bodyPr vert="horz" wrap="square" lIns="0" tIns="12700" rIns="0" bIns="0" rtlCol="0">
            <a:spAutoFit/>
          </a:bodyPr>
          <a:lstStyle/>
          <a:p>
            <a:pPr marL="12700" rtl="0">
              <a:spcBef>
                <a:spcPts val="100"/>
              </a:spcBef>
            </a:pPr>
            <a:r>
              <a:rPr sz="1400" kern="1200" spc="20" dirty="0">
                <a:solidFill>
                  <a:schemeClr val="bg2">
                    <a:lumMod val="50000"/>
                  </a:schemeClr>
                </a:solidFill>
                <a:latin typeface="Cambria Math"/>
                <a:cs typeface="Cambria Math"/>
              </a:rPr>
              <a:t>𝑆</a:t>
            </a:r>
            <a:r>
              <a:rPr sz="1400" kern="1200" dirty="0">
                <a:solidFill>
                  <a:schemeClr val="bg2">
                    <a:lumMod val="50000"/>
                  </a:schemeClr>
                </a:solidFill>
                <a:latin typeface="Cambria Math"/>
                <a:cs typeface="Cambria Math"/>
              </a:rPr>
              <a:t>.</a:t>
            </a:r>
            <a:r>
              <a:rPr sz="1400" kern="1200" spc="-85" dirty="0">
                <a:solidFill>
                  <a:schemeClr val="bg2">
                    <a:lumMod val="50000"/>
                  </a:schemeClr>
                </a:solidFill>
                <a:latin typeface="Cambria Math"/>
                <a:cs typeface="Cambria Math"/>
              </a:rPr>
              <a:t> </a:t>
            </a:r>
            <a:r>
              <a:rPr sz="1400" kern="1200" dirty="0">
                <a:solidFill>
                  <a:schemeClr val="bg2">
                    <a:lumMod val="50000"/>
                  </a:schemeClr>
                </a:solidFill>
                <a:latin typeface="Cambria Math"/>
                <a:cs typeface="Cambria Math"/>
              </a:rPr>
              <a:t>𝑛𝑒</a:t>
            </a:r>
            <a:r>
              <a:rPr sz="1400" kern="1200" spc="-10" dirty="0">
                <a:solidFill>
                  <a:schemeClr val="bg2">
                    <a:lumMod val="50000"/>
                  </a:schemeClr>
                </a:solidFill>
                <a:latin typeface="Cambria Math"/>
                <a:cs typeface="Cambria Math"/>
              </a:rPr>
              <a:t>𝑥</a:t>
            </a:r>
            <a:r>
              <a:rPr sz="1400" kern="1200" dirty="0">
                <a:solidFill>
                  <a:schemeClr val="bg2">
                    <a:lumMod val="50000"/>
                  </a:schemeClr>
                </a:solidFill>
                <a:latin typeface="Cambria Math"/>
                <a:cs typeface="Cambria Math"/>
              </a:rPr>
              <a:t>𝑡</a:t>
            </a:r>
            <a:r>
              <a:rPr sz="1400" kern="1200" spc="75" dirty="0">
                <a:solidFill>
                  <a:schemeClr val="bg2">
                    <a:lumMod val="50000"/>
                  </a:schemeClr>
                </a:solidFill>
                <a:latin typeface="Cambria Math"/>
                <a:cs typeface="Cambria Math"/>
              </a:rPr>
              <a:t> </a:t>
            </a:r>
            <a:r>
              <a:rPr sz="1400" kern="1200" dirty="0">
                <a:solidFill>
                  <a:schemeClr val="bg2">
                    <a:lumMod val="50000"/>
                  </a:schemeClr>
                </a:solidFill>
                <a:latin typeface="Palatino Linotype"/>
                <a:cs typeface="Palatino Linotype"/>
              </a:rPr>
              <a:t>is </a:t>
            </a:r>
            <a:r>
              <a:rPr sz="1400" kern="1200" spc="-5" dirty="0">
                <a:solidFill>
                  <a:schemeClr val="bg2">
                    <a:lumMod val="50000"/>
                  </a:schemeClr>
                </a:solidFill>
                <a:latin typeface="Palatino Linotype"/>
                <a:cs typeface="Palatino Linotype"/>
              </a:rPr>
              <a:t>no</a:t>
            </a:r>
            <a:r>
              <a:rPr sz="1400" kern="1200" dirty="0">
                <a:solidFill>
                  <a:schemeClr val="bg2">
                    <a:lumMod val="50000"/>
                  </a:schemeClr>
                </a:solidFill>
                <a:latin typeface="Palatino Linotype"/>
                <a:cs typeface="Palatino Linotype"/>
              </a:rPr>
              <a:t>t </a:t>
            </a:r>
            <a:r>
              <a:rPr sz="1400" kern="1200" spc="-5" dirty="0">
                <a:solidFill>
                  <a:schemeClr val="bg2">
                    <a:lumMod val="50000"/>
                  </a:schemeClr>
                </a:solidFill>
                <a:latin typeface="Palatino Linotype"/>
                <a:cs typeface="Palatino Linotype"/>
              </a:rPr>
              <a:t>n</a:t>
            </a:r>
            <a:r>
              <a:rPr sz="1400" kern="1200" dirty="0">
                <a:solidFill>
                  <a:schemeClr val="bg2">
                    <a:lumMod val="50000"/>
                  </a:schemeClr>
                </a:solidFill>
                <a:latin typeface="Palatino Linotype"/>
                <a:cs typeface="Palatino Linotype"/>
              </a:rPr>
              <a:t>ee</a:t>
            </a:r>
            <a:r>
              <a:rPr sz="1400" kern="1200" spc="-10" dirty="0">
                <a:solidFill>
                  <a:schemeClr val="bg2">
                    <a:lumMod val="50000"/>
                  </a:schemeClr>
                </a:solidFill>
                <a:latin typeface="Palatino Linotype"/>
                <a:cs typeface="Palatino Linotype"/>
              </a:rPr>
              <a:t>d</a:t>
            </a:r>
            <a:r>
              <a:rPr sz="1400" kern="1200" dirty="0">
                <a:solidFill>
                  <a:schemeClr val="bg2">
                    <a:lumMod val="50000"/>
                  </a:schemeClr>
                </a:solidFill>
                <a:latin typeface="Palatino Linotype"/>
                <a:cs typeface="Palatino Linotype"/>
              </a:rPr>
              <a:t>ed</a:t>
            </a:r>
          </a:p>
        </p:txBody>
      </p:sp>
      <p:sp>
        <p:nvSpPr>
          <p:cNvPr id="40" name="object 19">
            <a:extLst>
              <a:ext uri="{FF2B5EF4-FFF2-40B4-BE49-F238E27FC236}">
                <a16:creationId xmlns:a16="http://schemas.microsoft.com/office/drawing/2014/main" id="{783AE5B8-C49E-B096-9BF2-4C1512A412F1}"/>
              </a:ext>
            </a:extLst>
          </p:cNvPr>
          <p:cNvSpPr/>
          <p:nvPr/>
        </p:nvSpPr>
        <p:spPr>
          <a:xfrm>
            <a:off x="321437" y="2274061"/>
            <a:ext cx="6983095" cy="2146935"/>
          </a:xfrm>
          <a:custGeom>
            <a:avLst/>
            <a:gdLst/>
            <a:ahLst/>
            <a:cxnLst/>
            <a:rect l="l" t="t" r="r" b="b"/>
            <a:pathLst>
              <a:path w="6983095" h="2146935">
                <a:moveTo>
                  <a:pt x="15760" y="673608"/>
                </a:moveTo>
                <a:lnTo>
                  <a:pt x="63" y="711962"/>
                </a:lnTo>
                <a:lnTo>
                  <a:pt x="0" y="723519"/>
                </a:lnTo>
                <a:lnTo>
                  <a:pt x="12700" y="723519"/>
                </a:lnTo>
                <a:lnTo>
                  <a:pt x="12750" y="712470"/>
                </a:lnTo>
                <a:lnTo>
                  <a:pt x="13500" y="696341"/>
                </a:lnTo>
                <a:lnTo>
                  <a:pt x="14909" y="680466"/>
                </a:lnTo>
                <a:lnTo>
                  <a:pt x="15760" y="673608"/>
                </a:lnTo>
                <a:close/>
              </a:path>
              <a:path w="6983095" h="2146935">
                <a:moveTo>
                  <a:pt x="21082" y="810768"/>
                </a:moveTo>
                <a:lnTo>
                  <a:pt x="18605" y="796798"/>
                </a:lnTo>
                <a:lnTo>
                  <a:pt x="18567" y="796620"/>
                </a:lnTo>
                <a:lnTo>
                  <a:pt x="16116" y="779145"/>
                </a:lnTo>
                <a:lnTo>
                  <a:pt x="14478" y="763270"/>
                </a:lnTo>
                <a:lnTo>
                  <a:pt x="14363" y="762254"/>
                </a:lnTo>
                <a:lnTo>
                  <a:pt x="14287" y="761111"/>
                </a:lnTo>
                <a:lnTo>
                  <a:pt x="1625" y="762000"/>
                </a:lnTo>
                <a:lnTo>
                  <a:pt x="1701" y="763270"/>
                </a:lnTo>
                <a:lnTo>
                  <a:pt x="3543" y="780796"/>
                </a:lnTo>
                <a:lnTo>
                  <a:pt x="6045" y="798703"/>
                </a:lnTo>
                <a:lnTo>
                  <a:pt x="8572" y="812927"/>
                </a:lnTo>
                <a:lnTo>
                  <a:pt x="21082" y="810768"/>
                </a:lnTo>
                <a:close/>
              </a:path>
              <a:path w="6983095" h="2146935">
                <a:moveTo>
                  <a:pt x="36296" y="588899"/>
                </a:moveTo>
                <a:lnTo>
                  <a:pt x="24460" y="584327"/>
                </a:lnTo>
                <a:lnTo>
                  <a:pt x="23876" y="585851"/>
                </a:lnTo>
                <a:lnTo>
                  <a:pt x="18745" y="600710"/>
                </a:lnTo>
                <a:lnTo>
                  <a:pt x="14287" y="615950"/>
                </a:lnTo>
                <a:lnTo>
                  <a:pt x="10325" y="631317"/>
                </a:lnTo>
                <a:lnTo>
                  <a:pt x="9766" y="633984"/>
                </a:lnTo>
                <a:lnTo>
                  <a:pt x="22186" y="636651"/>
                </a:lnTo>
                <a:lnTo>
                  <a:pt x="22656" y="634365"/>
                </a:lnTo>
                <a:lnTo>
                  <a:pt x="26530" y="619379"/>
                </a:lnTo>
                <a:lnTo>
                  <a:pt x="26568" y="619252"/>
                </a:lnTo>
                <a:lnTo>
                  <a:pt x="26504" y="619379"/>
                </a:lnTo>
                <a:lnTo>
                  <a:pt x="30810" y="604774"/>
                </a:lnTo>
                <a:lnTo>
                  <a:pt x="30886" y="604520"/>
                </a:lnTo>
                <a:lnTo>
                  <a:pt x="35763" y="590296"/>
                </a:lnTo>
                <a:lnTo>
                  <a:pt x="36296" y="588899"/>
                </a:lnTo>
                <a:close/>
              </a:path>
              <a:path w="6983095" h="2146935">
                <a:moveTo>
                  <a:pt x="42621" y="896112"/>
                </a:moveTo>
                <a:lnTo>
                  <a:pt x="39839" y="887349"/>
                </a:lnTo>
                <a:lnTo>
                  <a:pt x="39801" y="887222"/>
                </a:lnTo>
                <a:lnTo>
                  <a:pt x="34340" y="868680"/>
                </a:lnTo>
                <a:lnTo>
                  <a:pt x="34328" y="868553"/>
                </a:lnTo>
                <a:lnTo>
                  <a:pt x="29514" y="850265"/>
                </a:lnTo>
                <a:lnTo>
                  <a:pt x="28917" y="847725"/>
                </a:lnTo>
                <a:lnTo>
                  <a:pt x="16548" y="850519"/>
                </a:lnTo>
                <a:lnTo>
                  <a:pt x="17208" y="853440"/>
                </a:lnTo>
                <a:lnTo>
                  <a:pt x="22110" y="871982"/>
                </a:lnTo>
                <a:lnTo>
                  <a:pt x="27673" y="890905"/>
                </a:lnTo>
                <a:lnTo>
                  <a:pt x="30518" y="899922"/>
                </a:lnTo>
                <a:lnTo>
                  <a:pt x="42621" y="896112"/>
                </a:lnTo>
                <a:close/>
              </a:path>
              <a:path w="6983095" h="2146935">
                <a:moveTo>
                  <a:pt x="73266" y="978916"/>
                </a:moveTo>
                <a:lnTo>
                  <a:pt x="59359" y="944499"/>
                </a:lnTo>
                <a:lnTo>
                  <a:pt x="59258" y="944245"/>
                </a:lnTo>
                <a:lnTo>
                  <a:pt x="54914" y="931926"/>
                </a:lnTo>
                <a:lnTo>
                  <a:pt x="42938" y="936117"/>
                </a:lnTo>
                <a:lnTo>
                  <a:pt x="47434" y="948817"/>
                </a:lnTo>
                <a:lnTo>
                  <a:pt x="61493" y="983742"/>
                </a:lnTo>
                <a:lnTo>
                  <a:pt x="73266" y="978916"/>
                </a:lnTo>
                <a:close/>
              </a:path>
              <a:path w="6983095" h="2146935">
                <a:moveTo>
                  <a:pt x="75311" y="510667"/>
                </a:moveTo>
                <a:lnTo>
                  <a:pt x="64604" y="503809"/>
                </a:lnTo>
                <a:lnTo>
                  <a:pt x="57810" y="514477"/>
                </a:lnTo>
                <a:lnTo>
                  <a:pt x="42545" y="542290"/>
                </a:lnTo>
                <a:lnTo>
                  <a:pt x="39535" y="549021"/>
                </a:lnTo>
                <a:lnTo>
                  <a:pt x="51117" y="554228"/>
                </a:lnTo>
                <a:lnTo>
                  <a:pt x="53797" y="548259"/>
                </a:lnTo>
                <a:lnTo>
                  <a:pt x="54063" y="547751"/>
                </a:lnTo>
                <a:lnTo>
                  <a:pt x="68707" y="521081"/>
                </a:lnTo>
                <a:lnTo>
                  <a:pt x="68846" y="520827"/>
                </a:lnTo>
                <a:lnTo>
                  <a:pt x="68630" y="521081"/>
                </a:lnTo>
                <a:lnTo>
                  <a:pt x="75311" y="510667"/>
                </a:lnTo>
                <a:close/>
              </a:path>
              <a:path w="6983095" h="2146935">
                <a:moveTo>
                  <a:pt x="110236" y="1059307"/>
                </a:moveTo>
                <a:lnTo>
                  <a:pt x="92951" y="1023620"/>
                </a:lnTo>
                <a:lnTo>
                  <a:pt x="92925" y="1023493"/>
                </a:lnTo>
                <a:lnTo>
                  <a:pt x="88519" y="1013587"/>
                </a:lnTo>
                <a:lnTo>
                  <a:pt x="76911" y="1018794"/>
                </a:lnTo>
                <a:lnTo>
                  <a:pt x="81419" y="1028954"/>
                </a:lnTo>
                <a:lnTo>
                  <a:pt x="98806" y="1064895"/>
                </a:lnTo>
                <a:lnTo>
                  <a:pt x="110236" y="1059307"/>
                </a:lnTo>
                <a:close/>
              </a:path>
              <a:path w="6983095" h="2146935">
                <a:moveTo>
                  <a:pt x="128079" y="440690"/>
                </a:moveTo>
                <a:lnTo>
                  <a:pt x="118783" y="432054"/>
                </a:lnTo>
                <a:lnTo>
                  <a:pt x="115468" y="435610"/>
                </a:lnTo>
                <a:lnTo>
                  <a:pt x="94259" y="461137"/>
                </a:lnTo>
                <a:lnTo>
                  <a:pt x="86283" y="472059"/>
                </a:lnTo>
                <a:lnTo>
                  <a:pt x="96545" y="479552"/>
                </a:lnTo>
                <a:lnTo>
                  <a:pt x="104406" y="468757"/>
                </a:lnTo>
                <a:lnTo>
                  <a:pt x="104165" y="469138"/>
                </a:lnTo>
                <a:lnTo>
                  <a:pt x="104470" y="468757"/>
                </a:lnTo>
                <a:lnTo>
                  <a:pt x="124904" y="444119"/>
                </a:lnTo>
                <a:lnTo>
                  <a:pt x="125044" y="443953"/>
                </a:lnTo>
                <a:lnTo>
                  <a:pt x="128079" y="440690"/>
                </a:lnTo>
                <a:close/>
              </a:path>
              <a:path w="6983095" h="2146935">
                <a:moveTo>
                  <a:pt x="151904" y="1137412"/>
                </a:moveTo>
                <a:lnTo>
                  <a:pt x="134505" y="1106043"/>
                </a:lnTo>
                <a:lnTo>
                  <a:pt x="134366" y="1105789"/>
                </a:lnTo>
                <a:lnTo>
                  <a:pt x="134442" y="1106043"/>
                </a:lnTo>
                <a:lnTo>
                  <a:pt x="127647" y="1092962"/>
                </a:lnTo>
                <a:lnTo>
                  <a:pt x="116395" y="1098931"/>
                </a:lnTo>
                <a:lnTo>
                  <a:pt x="123215" y="1111885"/>
                </a:lnTo>
                <a:lnTo>
                  <a:pt x="140804" y="1143635"/>
                </a:lnTo>
                <a:lnTo>
                  <a:pt x="151904" y="1137412"/>
                </a:lnTo>
                <a:close/>
              </a:path>
              <a:path w="6983095" h="2146935">
                <a:moveTo>
                  <a:pt x="191058" y="378968"/>
                </a:moveTo>
                <a:lnTo>
                  <a:pt x="182638" y="369443"/>
                </a:lnTo>
                <a:lnTo>
                  <a:pt x="163055" y="386715"/>
                </a:lnTo>
                <a:lnTo>
                  <a:pt x="145237" y="404241"/>
                </a:lnTo>
                <a:lnTo>
                  <a:pt x="154127" y="413258"/>
                </a:lnTo>
                <a:lnTo>
                  <a:pt x="171691" y="396113"/>
                </a:lnTo>
                <a:lnTo>
                  <a:pt x="171831" y="395986"/>
                </a:lnTo>
                <a:lnTo>
                  <a:pt x="171602" y="396113"/>
                </a:lnTo>
                <a:lnTo>
                  <a:pt x="191058" y="378968"/>
                </a:lnTo>
                <a:close/>
              </a:path>
              <a:path w="6983095" h="2146935">
                <a:moveTo>
                  <a:pt x="197040" y="1213739"/>
                </a:moveTo>
                <a:lnTo>
                  <a:pt x="183146" y="1191133"/>
                </a:lnTo>
                <a:lnTo>
                  <a:pt x="183070" y="1191006"/>
                </a:lnTo>
                <a:lnTo>
                  <a:pt x="170878" y="1170305"/>
                </a:lnTo>
                <a:lnTo>
                  <a:pt x="159931" y="1176782"/>
                </a:lnTo>
                <a:lnTo>
                  <a:pt x="172237" y="1197610"/>
                </a:lnTo>
                <a:lnTo>
                  <a:pt x="186232" y="1220343"/>
                </a:lnTo>
                <a:lnTo>
                  <a:pt x="197040" y="1213739"/>
                </a:lnTo>
                <a:close/>
              </a:path>
              <a:path w="6983095" h="2146935">
                <a:moveTo>
                  <a:pt x="244843" y="1288415"/>
                </a:moveTo>
                <a:lnTo>
                  <a:pt x="238480" y="1278890"/>
                </a:lnTo>
                <a:lnTo>
                  <a:pt x="217195" y="1245870"/>
                </a:lnTo>
                <a:lnTo>
                  <a:pt x="206527" y="1252728"/>
                </a:lnTo>
                <a:lnTo>
                  <a:pt x="227901" y="1285875"/>
                </a:lnTo>
                <a:lnTo>
                  <a:pt x="234289" y="1295400"/>
                </a:lnTo>
                <a:lnTo>
                  <a:pt x="244843" y="1288415"/>
                </a:lnTo>
                <a:close/>
              </a:path>
              <a:path w="6983095" h="2146935">
                <a:moveTo>
                  <a:pt x="260299" y="324358"/>
                </a:moveTo>
                <a:lnTo>
                  <a:pt x="252996" y="313944"/>
                </a:lnTo>
                <a:lnTo>
                  <a:pt x="246608" y="318516"/>
                </a:lnTo>
                <a:lnTo>
                  <a:pt x="217271" y="340614"/>
                </a:lnTo>
                <a:lnTo>
                  <a:pt x="212090" y="344805"/>
                </a:lnTo>
                <a:lnTo>
                  <a:pt x="220129" y="354711"/>
                </a:lnTo>
                <a:lnTo>
                  <a:pt x="225056" y="350647"/>
                </a:lnTo>
                <a:lnTo>
                  <a:pt x="225221" y="350520"/>
                </a:lnTo>
                <a:lnTo>
                  <a:pt x="225031" y="350647"/>
                </a:lnTo>
                <a:lnTo>
                  <a:pt x="254000" y="328803"/>
                </a:lnTo>
                <a:lnTo>
                  <a:pt x="260299" y="324358"/>
                </a:lnTo>
                <a:close/>
              </a:path>
              <a:path w="6983095" h="2146935">
                <a:moveTo>
                  <a:pt x="294043" y="687578"/>
                </a:moveTo>
                <a:lnTo>
                  <a:pt x="293954" y="687959"/>
                </a:lnTo>
                <a:lnTo>
                  <a:pt x="294043" y="687578"/>
                </a:lnTo>
                <a:close/>
              </a:path>
              <a:path w="6983095" h="2146935">
                <a:moveTo>
                  <a:pt x="294805" y="1361821"/>
                </a:moveTo>
                <a:lnTo>
                  <a:pt x="268503" y="1323733"/>
                </a:lnTo>
                <a:lnTo>
                  <a:pt x="266026" y="1320038"/>
                </a:lnTo>
                <a:lnTo>
                  <a:pt x="255460" y="1327150"/>
                </a:lnTo>
                <a:lnTo>
                  <a:pt x="257962" y="1330845"/>
                </a:lnTo>
                <a:lnTo>
                  <a:pt x="284365" y="1368933"/>
                </a:lnTo>
                <a:lnTo>
                  <a:pt x="294805" y="1361821"/>
                </a:lnTo>
                <a:close/>
              </a:path>
              <a:path w="6983095" h="2146935">
                <a:moveTo>
                  <a:pt x="315849" y="646557"/>
                </a:moveTo>
                <a:lnTo>
                  <a:pt x="306184" y="638302"/>
                </a:lnTo>
                <a:lnTo>
                  <a:pt x="300596" y="644906"/>
                </a:lnTo>
                <a:lnTo>
                  <a:pt x="294995" y="652589"/>
                </a:lnTo>
                <a:lnTo>
                  <a:pt x="281432" y="686054"/>
                </a:lnTo>
                <a:lnTo>
                  <a:pt x="294017" y="687578"/>
                </a:lnTo>
                <a:lnTo>
                  <a:pt x="294055" y="687451"/>
                </a:lnTo>
                <a:lnTo>
                  <a:pt x="294043" y="687578"/>
                </a:lnTo>
                <a:lnTo>
                  <a:pt x="298234" y="673608"/>
                </a:lnTo>
                <a:lnTo>
                  <a:pt x="298373" y="673214"/>
                </a:lnTo>
                <a:lnTo>
                  <a:pt x="301485" y="666623"/>
                </a:lnTo>
                <a:lnTo>
                  <a:pt x="301637" y="666305"/>
                </a:lnTo>
                <a:lnTo>
                  <a:pt x="301739" y="666115"/>
                </a:lnTo>
                <a:lnTo>
                  <a:pt x="305523" y="659765"/>
                </a:lnTo>
                <a:lnTo>
                  <a:pt x="305650" y="659549"/>
                </a:lnTo>
                <a:lnTo>
                  <a:pt x="305854" y="659257"/>
                </a:lnTo>
                <a:lnTo>
                  <a:pt x="310464" y="652907"/>
                </a:lnTo>
                <a:lnTo>
                  <a:pt x="310667" y="652627"/>
                </a:lnTo>
                <a:lnTo>
                  <a:pt x="315849" y="646557"/>
                </a:lnTo>
                <a:close/>
              </a:path>
              <a:path w="6983095" h="2146935">
                <a:moveTo>
                  <a:pt x="321208" y="764032"/>
                </a:moveTo>
                <a:lnTo>
                  <a:pt x="318249" y="760514"/>
                </a:lnTo>
                <a:lnTo>
                  <a:pt x="318135" y="760349"/>
                </a:lnTo>
                <a:lnTo>
                  <a:pt x="311734" y="751586"/>
                </a:lnTo>
                <a:lnTo>
                  <a:pt x="311594" y="751395"/>
                </a:lnTo>
                <a:lnTo>
                  <a:pt x="311492" y="751205"/>
                </a:lnTo>
                <a:lnTo>
                  <a:pt x="306247" y="742823"/>
                </a:lnTo>
                <a:lnTo>
                  <a:pt x="306108" y="742607"/>
                </a:lnTo>
                <a:lnTo>
                  <a:pt x="306031" y="742442"/>
                </a:lnTo>
                <a:lnTo>
                  <a:pt x="301752" y="734441"/>
                </a:lnTo>
                <a:lnTo>
                  <a:pt x="301663" y="734288"/>
                </a:lnTo>
                <a:lnTo>
                  <a:pt x="301523" y="733933"/>
                </a:lnTo>
                <a:lnTo>
                  <a:pt x="298221" y="726059"/>
                </a:lnTo>
                <a:lnTo>
                  <a:pt x="298119" y="725830"/>
                </a:lnTo>
                <a:lnTo>
                  <a:pt x="298030" y="725551"/>
                </a:lnTo>
                <a:lnTo>
                  <a:pt x="297053" y="722503"/>
                </a:lnTo>
                <a:lnTo>
                  <a:pt x="284949" y="726313"/>
                </a:lnTo>
                <a:lnTo>
                  <a:pt x="286194" y="730250"/>
                </a:lnTo>
                <a:lnTo>
                  <a:pt x="290131" y="739648"/>
                </a:lnTo>
                <a:lnTo>
                  <a:pt x="295135" y="749046"/>
                </a:lnTo>
                <a:lnTo>
                  <a:pt x="301091" y="758571"/>
                </a:lnTo>
                <a:lnTo>
                  <a:pt x="308190" y="768223"/>
                </a:lnTo>
                <a:lnTo>
                  <a:pt x="311391" y="772160"/>
                </a:lnTo>
                <a:lnTo>
                  <a:pt x="321208" y="764032"/>
                </a:lnTo>
                <a:close/>
              </a:path>
              <a:path w="6983095" h="2146935">
                <a:moveTo>
                  <a:pt x="334060" y="275463"/>
                </a:moveTo>
                <a:lnTo>
                  <a:pt x="327393" y="264668"/>
                </a:lnTo>
                <a:lnTo>
                  <a:pt x="309422" y="275717"/>
                </a:lnTo>
                <a:lnTo>
                  <a:pt x="284467" y="292100"/>
                </a:lnTo>
                <a:lnTo>
                  <a:pt x="291439" y="302768"/>
                </a:lnTo>
                <a:lnTo>
                  <a:pt x="316318" y="286385"/>
                </a:lnTo>
                <a:lnTo>
                  <a:pt x="316166" y="286512"/>
                </a:lnTo>
                <a:lnTo>
                  <a:pt x="316369" y="286385"/>
                </a:lnTo>
                <a:lnTo>
                  <a:pt x="334060" y="275463"/>
                </a:lnTo>
                <a:close/>
              </a:path>
              <a:path w="6983095" h="2146935">
                <a:moveTo>
                  <a:pt x="346430" y="1433957"/>
                </a:moveTo>
                <a:lnTo>
                  <a:pt x="332524" y="1414907"/>
                </a:lnTo>
                <a:lnTo>
                  <a:pt x="332435" y="1414780"/>
                </a:lnTo>
                <a:lnTo>
                  <a:pt x="332486" y="1414907"/>
                </a:lnTo>
                <a:lnTo>
                  <a:pt x="316750" y="1392809"/>
                </a:lnTo>
                <a:lnTo>
                  <a:pt x="306412" y="1400175"/>
                </a:lnTo>
                <a:lnTo>
                  <a:pt x="322160" y="1422273"/>
                </a:lnTo>
                <a:lnTo>
                  <a:pt x="336181" y="1441450"/>
                </a:lnTo>
                <a:lnTo>
                  <a:pt x="346430" y="1433957"/>
                </a:lnTo>
                <a:close/>
              </a:path>
              <a:path w="6983095" h="2146935">
                <a:moveTo>
                  <a:pt x="385521" y="822706"/>
                </a:moveTo>
                <a:lnTo>
                  <a:pt x="381127" y="819531"/>
                </a:lnTo>
                <a:lnTo>
                  <a:pt x="380987" y="819429"/>
                </a:lnTo>
                <a:lnTo>
                  <a:pt x="367753" y="809117"/>
                </a:lnTo>
                <a:lnTo>
                  <a:pt x="355371" y="798830"/>
                </a:lnTo>
                <a:lnTo>
                  <a:pt x="355561" y="798957"/>
                </a:lnTo>
                <a:lnTo>
                  <a:pt x="355409" y="798830"/>
                </a:lnTo>
                <a:lnTo>
                  <a:pt x="346722" y="790956"/>
                </a:lnTo>
                <a:lnTo>
                  <a:pt x="338226" y="800481"/>
                </a:lnTo>
                <a:lnTo>
                  <a:pt x="347167" y="808482"/>
                </a:lnTo>
                <a:lnTo>
                  <a:pt x="359714" y="818896"/>
                </a:lnTo>
                <a:lnTo>
                  <a:pt x="373392" y="829564"/>
                </a:lnTo>
                <a:lnTo>
                  <a:pt x="378053" y="832993"/>
                </a:lnTo>
                <a:lnTo>
                  <a:pt x="385521" y="822706"/>
                </a:lnTo>
                <a:close/>
              </a:path>
              <a:path w="6983095" h="2146935">
                <a:moveTo>
                  <a:pt x="385635" y="596138"/>
                </a:moveTo>
                <a:lnTo>
                  <a:pt x="379628" y="584962"/>
                </a:lnTo>
                <a:lnTo>
                  <a:pt x="370408" y="589915"/>
                </a:lnTo>
                <a:lnTo>
                  <a:pt x="359384" y="596265"/>
                </a:lnTo>
                <a:lnTo>
                  <a:pt x="348996" y="602742"/>
                </a:lnTo>
                <a:lnTo>
                  <a:pt x="339153" y="609473"/>
                </a:lnTo>
                <a:lnTo>
                  <a:pt x="335622" y="612013"/>
                </a:lnTo>
                <a:lnTo>
                  <a:pt x="343192" y="622173"/>
                </a:lnTo>
                <a:lnTo>
                  <a:pt x="346621" y="619633"/>
                </a:lnTo>
                <a:lnTo>
                  <a:pt x="346417" y="619887"/>
                </a:lnTo>
                <a:lnTo>
                  <a:pt x="346786" y="619633"/>
                </a:lnTo>
                <a:lnTo>
                  <a:pt x="355854" y="613410"/>
                </a:lnTo>
                <a:lnTo>
                  <a:pt x="356044" y="613283"/>
                </a:lnTo>
                <a:lnTo>
                  <a:pt x="355790" y="613410"/>
                </a:lnTo>
                <a:lnTo>
                  <a:pt x="365975" y="607187"/>
                </a:lnTo>
                <a:lnTo>
                  <a:pt x="365836" y="607187"/>
                </a:lnTo>
                <a:lnTo>
                  <a:pt x="376694" y="600964"/>
                </a:lnTo>
                <a:lnTo>
                  <a:pt x="376516" y="601091"/>
                </a:lnTo>
                <a:lnTo>
                  <a:pt x="376745" y="600964"/>
                </a:lnTo>
                <a:lnTo>
                  <a:pt x="385635" y="596138"/>
                </a:lnTo>
                <a:close/>
              </a:path>
              <a:path w="6983095" h="2146935">
                <a:moveTo>
                  <a:pt x="399427" y="1505204"/>
                </a:moveTo>
                <a:lnTo>
                  <a:pt x="368947" y="1464564"/>
                </a:lnTo>
                <a:lnTo>
                  <a:pt x="358787" y="1472184"/>
                </a:lnTo>
                <a:lnTo>
                  <a:pt x="389267" y="1512824"/>
                </a:lnTo>
                <a:lnTo>
                  <a:pt x="399427" y="1505204"/>
                </a:lnTo>
                <a:close/>
              </a:path>
              <a:path w="6983095" h="2146935">
                <a:moveTo>
                  <a:pt x="410641" y="230886"/>
                </a:moveTo>
                <a:lnTo>
                  <a:pt x="404482" y="219837"/>
                </a:lnTo>
                <a:lnTo>
                  <a:pt x="377024" y="235077"/>
                </a:lnTo>
                <a:lnTo>
                  <a:pt x="360146" y="244983"/>
                </a:lnTo>
                <a:lnTo>
                  <a:pt x="366585" y="255905"/>
                </a:lnTo>
                <a:lnTo>
                  <a:pt x="383387" y="245999"/>
                </a:lnTo>
                <a:lnTo>
                  <a:pt x="383247" y="246126"/>
                </a:lnTo>
                <a:lnTo>
                  <a:pt x="383463" y="245999"/>
                </a:lnTo>
                <a:lnTo>
                  <a:pt x="410641" y="230886"/>
                </a:lnTo>
                <a:close/>
              </a:path>
              <a:path w="6983095" h="2146935">
                <a:moveTo>
                  <a:pt x="453567" y="1575562"/>
                </a:moveTo>
                <a:lnTo>
                  <a:pt x="437756" y="1555242"/>
                </a:lnTo>
                <a:lnTo>
                  <a:pt x="437667" y="1555115"/>
                </a:lnTo>
                <a:lnTo>
                  <a:pt x="437692" y="1555242"/>
                </a:lnTo>
                <a:lnTo>
                  <a:pt x="422529" y="1535430"/>
                </a:lnTo>
                <a:lnTo>
                  <a:pt x="412445" y="1543177"/>
                </a:lnTo>
                <a:lnTo>
                  <a:pt x="427634" y="1562989"/>
                </a:lnTo>
                <a:lnTo>
                  <a:pt x="443560" y="1583436"/>
                </a:lnTo>
                <a:lnTo>
                  <a:pt x="453567" y="1575562"/>
                </a:lnTo>
                <a:close/>
              </a:path>
              <a:path w="6983095" h="2146935">
                <a:moveTo>
                  <a:pt x="459498" y="870839"/>
                </a:moveTo>
                <a:lnTo>
                  <a:pt x="446849" y="863346"/>
                </a:lnTo>
                <a:lnTo>
                  <a:pt x="446646" y="863219"/>
                </a:lnTo>
                <a:lnTo>
                  <a:pt x="446747" y="863346"/>
                </a:lnTo>
                <a:lnTo>
                  <a:pt x="428574" y="852043"/>
                </a:lnTo>
                <a:lnTo>
                  <a:pt x="428371" y="851916"/>
                </a:lnTo>
                <a:lnTo>
                  <a:pt x="428523" y="852043"/>
                </a:lnTo>
                <a:lnTo>
                  <a:pt x="416572" y="844296"/>
                </a:lnTo>
                <a:lnTo>
                  <a:pt x="409613" y="854837"/>
                </a:lnTo>
                <a:lnTo>
                  <a:pt x="421627" y="862711"/>
                </a:lnTo>
                <a:lnTo>
                  <a:pt x="440143" y="874141"/>
                </a:lnTo>
                <a:lnTo>
                  <a:pt x="453059" y="881761"/>
                </a:lnTo>
                <a:lnTo>
                  <a:pt x="459498" y="870839"/>
                </a:lnTo>
                <a:close/>
              </a:path>
              <a:path w="6983095" h="2146935">
                <a:moveTo>
                  <a:pt x="466318" y="561086"/>
                </a:moveTo>
                <a:lnTo>
                  <a:pt x="461911" y="549148"/>
                </a:lnTo>
                <a:lnTo>
                  <a:pt x="448640" y="554101"/>
                </a:lnTo>
                <a:lnTo>
                  <a:pt x="420446" y="565658"/>
                </a:lnTo>
                <a:lnTo>
                  <a:pt x="414401" y="568325"/>
                </a:lnTo>
                <a:lnTo>
                  <a:pt x="419582" y="579882"/>
                </a:lnTo>
                <a:lnTo>
                  <a:pt x="425526" y="577215"/>
                </a:lnTo>
                <a:lnTo>
                  <a:pt x="425335" y="577342"/>
                </a:lnTo>
                <a:lnTo>
                  <a:pt x="425640" y="577215"/>
                </a:lnTo>
                <a:lnTo>
                  <a:pt x="453339" y="565912"/>
                </a:lnTo>
                <a:lnTo>
                  <a:pt x="453148" y="565912"/>
                </a:lnTo>
                <a:lnTo>
                  <a:pt x="466318" y="561086"/>
                </a:lnTo>
                <a:close/>
              </a:path>
              <a:path w="6983095" h="2146935">
                <a:moveTo>
                  <a:pt x="489204" y="189865"/>
                </a:moveTo>
                <a:lnTo>
                  <a:pt x="483438" y="178435"/>
                </a:lnTo>
                <a:lnTo>
                  <a:pt x="448970" y="196088"/>
                </a:lnTo>
                <a:lnTo>
                  <a:pt x="438175" y="201803"/>
                </a:lnTo>
                <a:lnTo>
                  <a:pt x="444119" y="212979"/>
                </a:lnTo>
                <a:lnTo>
                  <a:pt x="454875" y="207264"/>
                </a:lnTo>
                <a:lnTo>
                  <a:pt x="454774" y="207391"/>
                </a:lnTo>
                <a:lnTo>
                  <a:pt x="455015" y="207264"/>
                </a:lnTo>
                <a:lnTo>
                  <a:pt x="489204" y="189865"/>
                </a:lnTo>
                <a:close/>
              </a:path>
              <a:path w="6983095" h="2146935">
                <a:moveTo>
                  <a:pt x="508571" y="1645285"/>
                </a:moveTo>
                <a:lnTo>
                  <a:pt x="476999" y="1605534"/>
                </a:lnTo>
                <a:lnTo>
                  <a:pt x="467042" y="1613408"/>
                </a:lnTo>
                <a:lnTo>
                  <a:pt x="498627" y="1653286"/>
                </a:lnTo>
                <a:lnTo>
                  <a:pt x="508571" y="1645285"/>
                </a:lnTo>
                <a:close/>
              </a:path>
              <a:path w="6983095" h="2146935">
                <a:moveTo>
                  <a:pt x="537222" y="913003"/>
                </a:moveTo>
                <a:lnTo>
                  <a:pt x="533158" y="910971"/>
                </a:lnTo>
                <a:lnTo>
                  <a:pt x="532904" y="910844"/>
                </a:lnTo>
                <a:lnTo>
                  <a:pt x="533069" y="910971"/>
                </a:lnTo>
                <a:lnTo>
                  <a:pt x="492429" y="889381"/>
                </a:lnTo>
                <a:lnTo>
                  <a:pt x="486498" y="900557"/>
                </a:lnTo>
                <a:lnTo>
                  <a:pt x="527202" y="922147"/>
                </a:lnTo>
                <a:lnTo>
                  <a:pt x="531609" y="924306"/>
                </a:lnTo>
                <a:lnTo>
                  <a:pt x="537222" y="913003"/>
                </a:lnTo>
                <a:close/>
              </a:path>
              <a:path w="6983095" h="2146935">
                <a:moveTo>
                  <a:pt x="550214" y="533146"/>
                </a:moveTo>
                <a:lnTo>
                  <a:pt x="546658" y="520954"/>
                </a:lnTo>
                <a:lnTo>
                  <a:pt x="544258" y="521589"/>
                </a:lnTo>
                <a:lnTo>
                  <a:pt x="510692" y="532130"/>
                </a:lnTo>
                <a:lnTo>
                  <a:pt x="497992" y="536448"/>
                </a:lnTo>
                <a:lnTo>
                  <a:pt x="502069" y="548513"/>
                </a:lnTo>
                <a:lnTo>
                  <a:pt x="514705" y="544195"/>
                </a:lnTo>
                <a:lnTo>
                  <a:pt x="514565" y="544195"/>
                </a:lnTo>
                <a:lnTo>
                  <a:pt x="548005" y="533781"/>
                </a:lnTo>
                <a:lnTo>
                  <a:pt x="547878" y="533781"/>
                </a:lnTo>
                <a:lnTo>
                  <a:pt x="550214" y="533146"/>
                </a:lnTo>
                <a:close/>
              </a:path>
              <a:path w="6983095" h="2146935">
                <a:moveTo>
                  <a:pt x="564337" y="1714500"/>
                </a:moveTo>
                <a:lnTo>
                  <a:pt x="551688" y="1699006"/>
                </a:lnTo>
                <a:lnTo>
                  <a:pt x="532396" y="1675003"/>
                </a:lnTo>
                <a:lnTo>
                  <a:pt x="522503" y="1683004"/>
                </a:lnTo>
                <a:lnTo>
                  <a:pt x="541832" y="1707007"/>
                </a:lnTo>
                <a:lnTo>
                  <a:pt x="554507" y="1722501"/>
                </a:lnTo>
                <a:lnTo>
                  <a:pt x="564337" y="1714500"/>
                </a:lnTo>
                <a:close/>
              </a:path>
              <a:path w="6983095" h="2146935">
                <a:moveTo>
                  <a:pt x="569099" y="151384"/>
                </a:moveTo>
                <a:lnTo>
                  <a:pt x="563803" y="139827"/>
                </a:lnTo>
                <a:lnTo>
                  <a:pt x="563333" y="140081"/>
                </a:lnTo>
                <a:lnTo>
                  <a:pt x="524497" y="158369"/>
                </a:lnTo>
                <a:lnTo>
                  <a:pt x="517766" y="161671"/>
                </a:lnTo>
                <a:lnTo>
                  <a:pt x="523328" y="173101"/>
                </a:lnTo>
                <a:lnTo>
                  <a:pt x="530021" y="169799"/>
                </a:lnTo>
                <a:lnTo>
                  <a:pt x="529945" y="169926"/>
                </a:lnTo>
                <a:lnTo>
                  <a:pt x="530212" y="169799"/>
                </a:lnTo>
                <a:lnTo>
                  <a:pt x="568718" y="151638"/>
                </a:lnTo>
                <a:lnTo>
                  <a:pt x="569099" y="151384"/>
                </a:lnTo>
                <a:close/>
              </a:path>
              <a:path w="6983095" h="2146935">
                <a:moveTo>
                  <a:pt x="617169" y="951484"/>
                </a:moveTo>
                <a:lnTo>
                  <a:pt x="584009" y="935990"/>
                </a:lnTo>
                <a:lnTo>
                  <a:pt x="583742" y="935863"/>
                </a:lnTo>
                <a:lnTo>
                  <a:pt x="583869" y="935990"/>
                </a:lnTo>
                <a:lnTo>
                  <a:pt x="571398" y="929767"/>
                </a:lnTo>
                <a:lnTo>
                  <a:pt x="565772" y="941197"/>
                </a:lnTo>
                <a:lnTo>
                  <a:pt x="578307" y="947420"/>
                </a:lnTo>
                <a:lnTo>
                  <a:pt x="611797" y="963041"/>
                </a:lnTo>
                <a:lnTo>
                  <a:pt x="617169" y="951484"/>
                </a:lnTo>
                <a:close/>
              </a:path>
              <a:path w="6983095" h="2146935">
                <a:moveTo>
                  <a:pt x="620776" y="1783080"/>
                </a:moveTo>
                <a:lnTo>
                  <a:pt x="591375" y="1747520"/>
                </a:lnTo>
                <a:lnTo>
                  <a:pt x="588454" y="1743964"/>
                </a:lnTo>
                <a:lnTo>
                  <a:pt x="578624" y="1751965"/>
                </a:lnTo>
                <a:lnTo>
                  <a:pt x="581583" y="1755648"/>
                </a:lnTo>
                <a:lnTo>
                  <a:pt x="610984" y="1791208"/>
                </a:lnTo>
                <a:lnTo>
                  <a:pt x="620776" y="1783080"/>
                </a:lnTo>
                <a:close/>
              </a:path>
              <a:path w="6983095" h="2146935">
                <a:moveTo>
                  <a:pt x="635660" y="509270"/>
                </a:moveTo>
                <a:lnTo>
                  <a:pt x="632460" y="496951"/>
                </a:lnTo>
                <a:lnTo>
                  <a:pt x="615505" y="501396"/>
                </a:lnTo>
                <a:lnTo>
                  <a:pt x="583336" y="510286"/>
                </a:lnTo>
                <a:lnTo>
                  <a:pt x="586714" y="522478"/>
                </a:lnTo>
                <a:lnTo>
                  <a:pt x="618845" y="513588"/>
                </a:lnTo>
                <a:lnTo>
                  <a:pt x="618756" y="513715"/>
                </a:lnTo>
                <a:lnTo>
                  <a:pt x="619239" y="513588"/>
                </a:lnTo>
                <a:lnTo>
                  <a:pt x="635660" y="509270"/>
                </a:lnTo>
                <a:close/>
              </a:path>
              <a:path w="6983095" h="2146935">
                <a:moveTo>
                  <a:pt x="650011" y="114935"/>
                </a:moveTo>
                <a:lnTo>
                  <a:pt x="644982" y="103251"/>
                </a:lnTo>
                <a:lnTo>
                  <a:pt x="602919" y="121920"/>
                </a:lnTo>
                <a:lnTo>
                  <a:pt x="598449" y="124079"/>
                </a:lnTo>
                <a:lnTo>
                  <a:pt x="603732" y="135509"/>
                </a:lnTo>
                <a:lnTo>
                  <a:pt x="608177" y="133477"/>
                </a:lnTo>
                <a:lnTo>
                  <a:pt x="608114" y="133604"/>
                </a:lnTo>
                <a:lnTo>
                  <a:pt x="608393" y="133477"/>
                </a:lnTo>
                <a:lnTo>
                  <a:pt x="648119" y="115697"/>
                </a:lnTo>
                <a:lnTo>
                  <a:pt x="648055" y="115824"/>
                </a:lnTo>
                <a:lnTo>
                  <a:pt x="648322" y="115697"/>
                </a:lnTo>
                <a:lnTo>
                  <a:pt x="650011" y="114935"/>
                </a:lnTo>
                <a:close/>
              </a:path>
              <a:path w="6983095" h="2146935">
                <a:moveTo>
                  <a:pt x="677608" y="1851406"/>
                </a:moveTo>
                <a:lnTo>
                  <a:pt x="672490" y="1845310"/>
                </a:lnTo>
                <a:lnTo>
                  <a:pt x="645083" y="1812417"/>
                </a:lnTo>
                <a:lnTo>
                  <a:pt x="635330" y="1820545"/>
                </a:lnTo>
                <a:lnTo>
                  <a:pt x="667893" y="1859534"/>
                </a:lnTo>
                <a:lnTo>
                  <a:pt x="677608" y="1851406"/>
                </a:lnTo>
                <a:close/>
              </a:path>
              <a:path w="6983095" h="2146935">
                <a:moveTo>
                  <a:pt x="698119" y="987933"/>
                </a:moveTo>
                <a:lnTo>
                  <a:pt x="651687" y="967359"/>
                </a:lnTo>
                <a:lnTo>
                  <a:pt x="646531" y="978916"/>
                </a:lnTo>
                <a:lnTo>
                  <a:pt x="692962" y="999617"/>
                </a:lnTo>
                <a:lnTo>
                  <a:pt x="698119" y="987933"/>
                </a:lnTo>
                <a:close/>
              </a:path>
              <a:path w="6983095" h="2146935">
                <a:moveTo>
                  <a:pt x="721791" y="487680"/>
                </a:moveTo>
                <a:lnTo>
                  <a:pt x="718781" y="475361"/>
                </a:lnTo>
                <a:lnTo>
                  <a:pt x="691362" y="481965"/>
                </a:lnTo>
                <a:lnTo>
                  <a:pt x="669417" y="487553"/>
                </a:lnTo>
                <a:lnTo>
                  <a:pt x="672515" y="499872"/>
                </a:lnTo>
                <a:lnTo>
                  <a:pt x="694423" y="494284"/>
                </a:lnTo>
                <a:lnTo>
                  <a:pt x="694385" y="494411"/>
                </a:lnTo>
                <a:lnTo>
                  <a:pt x="694893" y="494284"/>
                </a:lnTo>
                <a:lnTo>
                  <a:pt x="721791" y="487680"/>
                </a:lnTo>
                <a:close/>
              </a:path>
              <a:path w="6983095" h="2146935">
                <a:moveTo>
                  <a:pt x="731583" y="79756"/>
                </a:moveTo>
                <a:lnTo>
                  <a:pt x="726694" y="68072"/>
                </a:lnTo>
                <a:lnTo>
                  <a:pt x="679970" y="88138"/>
                </a:lnTo>
                <a:lnTo>
                  <a:pt x="684987" y="99822"/>
                </a:lnTo>
                <a:lnTo>
                  <a:pt x="729589" y="80645"/>
                </a:lnTo>
                <a:lnTo>
                  <a:pt x="731583" y="79756"/>
                </a:lnTo>
                <a:close/>
              </a:path>
              <a:path w="6983095" h="2146935">
                <a:moveTo>
                  <a:pt x="734898" y="1919351"/>
                </a:moveTo>
                <a:lnTo>
                  <a:pt x="702157" y="1880489"/>
                </a:lnTo>
                <a:lnTo>
                  <a:pt x="692454" y="1888744"/>
                </a:lnTo>
                <a:lnTo>
                  <a:pt x="725182" y="1927606"/>
                </a:lnTo>
                <a:lnTo>
                  <a:pt x="734898" y="1919351"/>
                </a:lnTo>
                <a:close/>
              </a:path>
              <a:path w="6983095" h="2146935">
                <a:moveTo>
                  <a:pt x="779830" y="1022477"/>
                </a:moveTo>
                <a:lnTo>
                  <a:pt x="765606" y="1016635"/>
                </a:lnTo>
                <a:lnTo>
                  <a:pt x="765302" y="1016508"/>
                </a:lnTo>
                <a:lnTo>
                  <a:pt x="765365" y="1016635"/>
                </a:lnTo>
                <a:lnTo>
                  <a:pt x="733069" y="1002919"/>
                </a:lnTo>
                <a:lnTo>
                  <a:pt x="728103" y="1014603"/>
                </a:lnTo>
                <a:lnTo>
                  <a:pt x="760437" y="1028319"/>
                </a:lnTo>
                <a:lnTo>
                  <a:pt x="775017" y="1034288"/>
                </a:lnTo>
                <a:lnTo>
                  <a:pt x="779830" y="1022477"/>
                </a:lnTo>
                <a:close/>
              </a:path>
              <a:path w="6983095" h="2146935">
                <a:moveTo>
                  <a:pt x="792391" y="1987169"/>
                </a:moveTo>
                <a:lnTo>
                  <a:pt x="759447" y="1948434"/>
                </a:lnTo>
                <a:lnTo>
                  <a:pt x="749782" y="1956689"/>
                </a:lnTo>
                <a:lnTo>
                  <a:pt x="782726" y="1995297"/>
                </a:lnTo>
                <a:lnTo>
                  <a:pt x="792391" y="1987169"/>
                </a:lnTo>
                <a:close/>
              </a:path>
              <a:path w="6983095" h="2146935">
                <a:moveTo>
                  <a:pt x="808278" y="467487"/>
                </a:moveTo>
                <a:lnTo>
                  <a:pt x="805434" y="455168"/>
                </a:lnTo>
                <a:lnTo>
                  <a:pt x="755904" y="466598"/>
                </a:lnTo>
                <a:lnTo>
                  <a:pt x="758812" y="478917"/>
                </a:lnTo>
                <a:lnTo>
                  <a:pt x="773290" y="475488"/>
                </a:lnTo>
                <a:lnTo>
                  <a:pt x="808278" y="467487"/>
                </a:lnTo>
                <a:close/>
              </a:path>
              <a:path w="6983095" h="2146935">
                <a:moveTo>
                  <a:pt x="813587" y="45593"/>
                </a:moveTo>
                <a:lnTo>
                  <a:pt x="808761" y="33782"/>
                </a:lnTo>
                <a:lnTo>
                  <a:pt x="807415" y="34417"/>
                </a:lnTo>
                <a:lnTo>
                  <a:pt x="761847" y="53340"/>
                </a:lnTo>
                <a:lnTo>
                  <a:pt x="766737" y="65151"/>
                </a:lnTo>
                <a:lnTo>
                  <a:pt x="812292" y="46101"/>
                </a:lnTo>
                <a:lnTo>
                  <a:pt x="813587" y="45593"/>
                </a:lnTo>
                <a:close/>
              </a:path>
              <a:path w="6983095" h="2146935">
                <a:moveTo>
                  <a:pt x="850074" y="2054733"/>
                </a:moveTo>
                <a:lnTo>
                  <a:pt x="840117" y="2043176"/>
                </a:lnTo>
                <a:lnTo>
                  <a:pt x="817105" y="2016125"/>
                </a:lnTo>
                <a:lnTo>
                  <a:pt x="807440" y="2024380"/>
                </a:lnTo>
                <a:lnTo>
                  <a:pt x="840422" y="2062988"/>
                </a:lnTo>
                <a:lnTo>
                  <a:pt x="850074" y="2054733"/>
                </a:lnTo>
                <a:close/>
              </a:path>
              <a:path w="6983095" h="2146935">
                <a:moveTo>
                  <a:pt x="862152" y="1055878"/>
                </a:moveTo>
                <a:lnTo>
                  <a:pt x="834948" y="1045083"/>
                </a:lnTo>
                <a:lnTo>
                  <a:pt x="815086" y="1036955"/>
                </a:lnTo>
                <a:lnTo>
                  <a:pt x="810272" y="1048766"/>
                </a:lnTo>
                <a:lnTo>
                  <a:pt x="830237" y="1056894"/>
                </a:lnTo>
                <a:lnTo>
                  <a:pt x="857491" y="1067689"/>
                </a:lnTo>
                <a:lnTo>
                  <a:pt x="862152" y="1055878"/>
                </a:lnTo>
                <a:close/>
              </a:path>
              <a:path w="6983095" h="2146935">
                <a:moveTo>
                  <a:pt x="894969" y="447929"/>
                </a:moveTo>
                <a:lnTo>
                  <a:pt x="892175" y="435483"/>
                </a:lnTo>
                <a:lnTo>
                  <a:pt x="842619" y="446659"/>
                </a:lnTo>
                <a:lnTo>
                  <a:pt x="845413" y="459105"/>
                </a:lnTo>
                <a:lnTo>
                  <a:pt x="894969" y="447929"/>
                </a:lnTo>
                <a:close/>
              </a:path>
              <a:path w="6983095" h="2146935">
                <a:moveTo>
                  <a:pt x="895794" y="11684"/>
                </a:moveTo>
                <a:lnTo>
                  <a:pt x="890968" y="0"/>
                </a:lnTo>
                <a:lnTo>
                  <a:pt x="843991" y="19304"/>
                </a:lnTo>
                <a:lnTo>
                  <a:pt x="848817" y="30988"/>
                </a:lnTo>
                <a:lnTo>
                  <a:pt x="895794" y="11684"/>
                </a:lnTo>
                <a:close/>
              </a:path>
              <a:path w="6983095" h="2146935">
                <a:moveTo>
                  <a:pt x="920445" y="2146681"/>
                </a:moveTo>
                <a:lnTo>
                  <a:pt x="918908" y="2138299"/>
                </a:lnTo>
                <a:lnTo>
                  <a:pt x="904049" y="2056612"/>
                </a:lnTo>
                <a:lnTo>
                  <a:pt x="904049" y="2127605"/>
                </a:lnTo>
                <a:lnTo>
                  <a:pt x="902373" y="2127021"/>
                </a:lnTo>
                <a:lnTo>
                  <a:pt x="903732" y="2125853"/>
                </a:lnTo>
                <a:lnTo>
                  <a:pt x="904049" y="2127605"/>
                </a:lnTo>
                <a:lnTo>
                  <a:pt x="904049" y="2056612"/>
                </a:lnTo>
                <a:lnTo>
                  <a:pt x="902068" y="2045716"/>
                </a:lnTo>
                <a:lnTo>
                  <a:pt x="898766" y="2043430"/>
                </a:lnTo>
                <a:lnTo>
                  <a:pt x="891870" y="2044700"/>
                </a:lnTo>
                <a:lnTo>
                  <a:pt x="889584" y="2048002"/>
                </a:lnTo>
                <a:lnTo>
                  <a:pt x="901788" y="2115185"/>
                </a:lnTo>
                <a:lnTo>
                  <a:pt x="874852" y="2083689"/>
                </a:lnTo>
                <a:lnTo>
                  <a:pt x="865212" y="2091944"/>
                </a:lnTo>
                <a:lnTo>
                  <a:pt x="892162" y="2123465"/>
                </a:lnTo>
                <a:lnTo>
                  <a:pt x="827697" y="2100961"/>
                </a:lnTo>
                <a:lnTo>
                  <a:pt x="824077" y="2102739"/>
                </a:lnTo>
                <a:lnTo>
                  <a:pt x="821778" y="2109343"/>
                </a:lnTo>
                <a:lnTo>
                  <a:pt x="823531" y="2113026"/>
                </a:lnTo>
                <a:lnTo>
                  <a:pt x="920445" y="2146681"/>
                </a:lnTo>
                <a:close/>
              </a:path>
              <a:path w="6983095" h="2146935">
                <a:moveTo>
                  <a:pt x="944918" y="1088136"/>
                </a:moveTo>
                <a:lnTo>
                  <a:pt x="908888" y="1074293"/>
                </a:lnTo>
                <a:lnTo>
                  <a:pt x="897585" y="1069848"/>
                </a:lnTo>
                <a:lnTo>
                  <a:pt x="892924" y="1081659"/>
                </a:lnTo>
                <a:lnTo>
                  <a:pt x="904316" y="1086231"/>
                </a:lnTo>
                <a:lnTo>
                  <a:pt x="940371" y="1099947"/>
                </a:lnTo>
                <a:lnTo>
                  <a:pt x="944918" y="1088136"/>
                </a:lnTo>
                <a:close/>
              </a:path>
              <a:path w="6983095" h="2146935">
                <a:moveTo>
                  <a:pt x="1028065" y="1119632"/>
                </a:moveTo>
                <a:lnTo>
                  <a:pt x="986917" y="1104265"/>
                </a:lnTo>
                <a:lnTo>
                  <a:pt x="987044" y="1104265"/>
                </a:lnTo>
                <a:lnTo>
                  <a:pt x="980440" y="1101725"/>
                </a:lnTo>
                <a:lnTo>
                  <a:pt x="975995" y="1113663"/>
                </a:lnTo>
                <a:lnTo>
                  <a:pt x="1023620" y="1131443"/>
                </a:lnTo>
                <a:lnTo>
                  <a:pt x="1028065" y="1119632"/>
                </a:lnTo>
                <a:close/>
              </a:path>
              <a:path w="6983095" h="2146935">
                <a:moveTo>
                  <a:pt x="1111377" y="1150366"/>
                </a:moveTo>
                <a:lnTo>
                  <a:pt x="1063752" y="1132967"/>
                </a:lnTo>
                <a:lnTo>
                  <a:pt x="1059307" y="1144778"/>
                </a:lnTo>
                <a:lnTo>
                  <a:pt x="1064514" y="1146810"/>
                </a:lnTo>
                <a:lnTo>
                  <a:pt x="1107059" y="1162304"/>
                </a:lnTo>
                <a:lnTo>
                  <a:pt x="1111377" y="1150366"/>
                </a:lnTo>
                <a:close/>
              </a:path>
              <a:path w="6983095" h="2146935">
                <a:moveTo>
                  <a:pt x="1194943" y="1180592"/>
                </a:moveTo>
                <a:lnTo>
                  <a:pt x="1154684" y="1166241"/>
                </a:lnTo>
                <a:lnTo>
                  <a:pt x="1147191" y="1163447"/>
                </a:lnTo>
                <a:lnTo>
                  <a:pt x="1142746" y="1175385"/>
                </a:lnTo>
                <a:lnTo>
                  <a:pt x="1150366" y="1178179"/>
                </a:lnTo>
                <a:lnTo>
                  <a:pt x="1190625" y="1192530"/>
                </a:lnTo>
                <a:lnTo>
                  <a:pt x="1194943" y="1180592"/>
                </a:lnTo>
                <a:close/>
              </a:path>
              <a:path w="6983095" h="2146935">
                <a:moveTo>
                  <a:pt x="1278636" y="1210310"/>
                </a:moveTo>
                <a:lnTo>
                  <a:pt x="1244092" y="1198245"/>
                </a:lnTo>
                <a:lnTo>
                  <a:pt x="1230757" y="1193419"/>
                </a:lnTo>
                <a:lnTo>
                  <a:pt x="1226566" y="1205357"/>
                </a:lnTo>
                <a:lnTo>
                  <a:pt x="1239901" y="1210183"/>
                </a:lnTo>
                <a:lnTo>
                  <a:pt x="1274445" y="1222248"/>
                </a:lnTo>
                <a:lnTo>
                  <a:pt x="1278636" y="1210310"/>
                </a:lnTo>
                <a:close/>
              </a:path>
              <a:path w="6983095" h="2146935">
                <a:moveTo>
                  <a:pt x="1362583" y="1239520"/>
                </a:moveTo>
                <a:lnTo>
                  <a:pt x="1314577" y="1222883"/>
                </a:lnTo>
                <a:lnTo>
                  <a:pt x="1310386" y="1234821"/>
                </a:lnTo>
                <a:lnTo>
                  <a:pt x="1332738" y="1242695"/>
                </a:lnTo>
                <a:lnTo>
                  <a:pt x="1358392" y="1251458"/>
                </a:lnTo>
                <a:lnTo>
                  <a:pt x="1362583" y="1239520"/>
                </a:lnTo>
                <a:close/>
              </a:path>
              <a:path w="6983095" h="2146935">
                <a:moveTo>
                  <a:pt x="1446657" y="1268476"/>
                </a:moveTo>
                <a:lnTo>
                  <a:pt x="1398651" y="1251966"/>
                </a:lnTo>
                <a:lnTo>
                  <a:pt x="1394460" y="1263904"/>
                </a:lnTo>
                <a:lnTo>
                  <a:pt x="1428877" y="1275842"/>
                </a:lnTo>
                <a:lnTo>
                  <a:pt x="1442593" y="1280414"/>
                </a:lnTo>
                <a:lnTo>
                  <a:pt x="1446657" y="1268476"/>
                </a:lnTo>
                <a:close/>
              </a:path>
              <a:path w="6983095" h="2146935">
                <a:moveTo>
                  <a:pt x="1530858" y="1297051"/>
                </a:moveTo>
                <a:lnTo>
                  <a:pt x="1482725" y="1280668"/>
                </a:lnTo>
                <a:lnTo>
                  <a:pt x="1478661" y="1292745"/>
                </a:lnTo>
                <a:lnTo>
                  <a:pt x="1526794" y="1308989"/>
                </a:lnTo>
                <a:lnTo>
                  <a:pt x="1530858" y="1297051"/>
                </a:lnTo>
                <a:close/>
              </a:path>
              <a:path w="6983095" h="2146935">
                <a:moveTo>
                  <a:pt x="1615059" y="1325257"/>
                </a:moveTo>
                <a:lnTo>
                  <a:pt x="1566926" y="1309116"/>
                </a:lnTo>
                <a:lnTo>
                  <a:pt x="1562862" y="1321181"/>
                </a:lnTo>
                <a:lnTo>
                  <a:pt x="1611122" y="1337183"/>
                </a:lnTo>
                <a:lnTo>
                  <a:pt x="1615059" y="1325257"/>
                </a:lnTo>
                <a:close/>
              </a:path>
              <a:path w="6983095" h="2146935">
                <a:moveTo>
                  <a:pt x="1699514" y="1353185"/>
                </a:moveTo>
                <a:lnTo>
                  <a:pt x="1651254" y="1337183"/>
                </a:lnTo>
                <a:lnTo>
                  <a:pt x="1647190" y="1349248"/>
                </a:lnTo>
                <a:lnTo>
                  <a:pt x="1695450" y="1365123"/>
                </a:lnTo>
                <a:lnTo>
                  <a:pt x="1699514" y="1353185"/>
                </a:lnTo>
                <a:close/>
              </a:path>
              <a:path w="6983095" h="2146935">
                <a:moveTo>
                  <a:pt x="1783969" y="1380871"/>
                </a:moveTo>
                <a:lnTo>
                  <a:pt x="1735582" y="1365123"/>
                </a:lnTo>
                <a:lnTo>
                  <a:pt x="1731645" y="1377188"/>
                </a:lnTo>
                <a:lnTo>
                  <a:pt x="1779905" y="1392936"/>
                </a:lnTo>
                <a:lnTo>
                  <a:pt x="1783969" y="1380871"/>
                </a:lnTo>
                <a:close/>
              </a:path>
              <a:path w="6983095" h="2146935">
                <a:moveTo>
                  <a:pt x="1868424" y="1408303"/>
                </a:moveTo>
                <a:lnTo>
                  <a:pt x="1820164" y="1392682"/>
                </a:lnTo>
                <a:lnTo>
                  <a:pt x="1816227" y="1404747"/>
                </a:lnTo>
                <a:lnTo>
                  <a:pt x="1864487" y="1420495"/>
                </a:lnTo>
                <a:lnTo>
                  <a:pt x="1868424" y="1408303"/>
                </a:lnTo>
                <a:close/>
              </a:path>
              <a:path w="6983095" h="2146935">
                <a:moveTo>
                  <a:pt x="1953006" y="1435608"/>
                </a:moveTo>
                <a:lnTo>
                  <a:pt x="1904619" y="1420114"/>
                </a:lnTo>
                <a:lnTo>
                  <a:pt x="1900809" y="1432179"/>
                </a:lnTo>
                <a:lnTo>
                  <a:pt x="1949069" y="1447800"/>
                </a:lnTo>
                <a:lnTo>
                  <a:pt x="1953006" y="1435608"/>
                </a:lnTo>
                <a:close/>
              </a:path>
              <a:path w="6983095" h="2146935">
                <a:moveTo>
                  <a:pt x="2037715" y="1462786"/>
                </a:moveTo>
                <a:lnTo>
                  <a:pt x="1989328" y="1447292"/>
                </a:lnTo>
                <a:lnTo>
                  <a:pt x="1985391" y="1459357"/>
                </a:lnTo>
                <a:lnTo>
                  <a:pt x="2033778" y="1474851"/>
                </a:lnTo>
                <a:lnTo>
                  <a:pt x="2037715" y="1462786"/>
                </a:lnTo>
                <a:close/>
              </a:path>
              <a:path w="6983095" h="2146935">
                <a:moveTo>
                  <a:pt x="2122424" y="1489710"/>
                </a:moveTo>
                <a:lnTo>
                  <a:pt x="2073910" y="1474343"/>
                </a:lnTo>
                <a:lnTo>
                  <a:pt x="2070100" y="1486408"/>
                </a:lnTo>
                <a:lnTo>
                  <a:pt x="2118487" y="1501902"/>
                </a:lnTo>
                <a:lnTo>
                  <a:pt x="2122424" y="1489710"/>
                </a:lnTo>
                <a:close/>
              </a:path>
              <a:path w="6983095" h="2146935">
                <a:moveTo>
                  <a:pt x="2207133" y="1516634"/>
                </a:moveTo>
                <a:lnTo>
                  <a:pt x="2158619" y="1501267"/>
                </a:lnTo>
                <a:lnTo>
                  <a:pt x="2154809" y="1513332"/>
                </a:lnTo>
                <a:lnTo>
                  <a:pt x="2203323" y="1528699"/>
                </a:lnTo>
                <a:lnTo>
                  <a:pt x="2207133" y="1516634"/>
                </a:lnTo>
                <a:close/>
              </a:path>
              <a:path w="6983095" h="2146935">
                <a:moveTo>
                  <a:pt x="2291842" y="1543304"/>
                </a:moveTo>
                <a:lnTo>
                  <a:pt x="2243455" y="1528064"/>
                </a:lnTo>
                <a:lnTo>
                  <a:pt x="2239645" y="1540129"/>
                </a:lnTo>
                <a:lnTo>
                  <a:pt x="2288032" y="1555369"/>
                </a:lnTo>
                <a:lnTo>
                  <a:pt x="2291842" y="1543304"/>
                </a:lnTo>
                <a:close/>
              </a:path>
              <a:path w="6983095" h="2146935">
                <a:moveTo>
                  <a:pt x="2376678" y="1569847"/>
                </a:moveTo>
                <a:lnTo>
                  <a:pt x="2328291" y="1554607"/>
                </a:lnTo>
                <a:lnTo>
                  <a:pt x="2324481" y="1566799"/>
                </a:lnTo>
                <a:lnTo>
                  <a:pt x="2372995" y="1581912"/>
                </a:lnTo>
                <a:lnTo>
                  <a:pt x="2376678" y="1569847"/>
                </a:lnTo>
                <a:close/>
              </a:path>
              <a:path w="6983095" h="2146935">
                <a:moveTo>
                  <a:pt x="2461641" y="1596263"/>
                </a:moveTo>
                <a:lnTo>
                  <a:pt x="2413127" y="1581150"/>
                </a:lnTo>
                <a:lnTo>
                  <a:pt x="2409317" y="1593342"/>
                </a:lnTo>
                <a:lnTo>
                  <a:pt x="2415286" y="1595120"/>
                </a:lnTo>
                <a:lnTo>
                  <a:pt x="2457831" y="1608328"/>
                </a:lnTo>
                <a:lnTo>
                  <a:pt x="2461641" y="1596263"/>
                </a:lnTo>
                <a:close/>
              </a:path>
              <a:path w="6983095" h="2146935">
                <a:moveTo>
                  <a:pt x="2546477" y="1622679"/>
                </a:moveTo>
                <a:lnTo>
                  <a:pt x="2497963" y="1607566"/>
                </a:lnTo>
                <a:lnTo>
                  <a:pt x="2494153" y="1619758"/>
                </a:lnTo>
                <a:lnTo>
                  <a:pt x="2542794" y="1634744"/>
                </a:lnTo>
                <a:lnTo>
                  <a:pt x="2546477" y="1622679"/>
                </a:lnTo>
                <a:close/>
              </a:path>
              <a:path w="6983095" h="2146935">
                <a:moveTo>
                  <a:pt x="2631440" y="1648841"/>
                </a:moveTo>
                <a:lnTo>
                  <a:pt x="2582926" y="1633855"/>
                </a:lnTo>
                <a:lnTo>
                  <a:pt x="2579116" y="1646047"/>
                </a:lnTo>
                <a:lnTo>
                  <a:pt x="2627630" y="1661033"/>
                </a:lnTo>
                <a:lnTo>
                  <a:pt x="2631440" y="1648841"/>
                </a:lnTo>
                <a:close/>
              </a:path>
              <a:path w="6983095" h="2146935">
                <a:moveTo>
                  <a:pt x="2716403" y="1675003"/>
                </a:moveTo>
                <a:lnTo>
                  <a:pt x="2667762" y="1660144"/>
                </a:lnTo>
                <a:lnTo>
                  <a:pt x="2664079" y="1672209"/>
                </a:lnTo>
                <a:lnTo>
                  <a:pt x="2712593" y="1687195"/>
                </a:lnTo>
                <a:lnTo>
                  <a:pt x="2716403" y="1675003"/>
                </a:lnTo>
                <a:close/>
              </a:path>
              <a:path w="6983095" h="2146935">
                <a:moveTo>
                  <a:pt x="2801366" y="1701165"/>
                </a:moveTo>
                <a:lnTo>
                  <a:pt x="2752852" y="1686306"/>
                </a:lnTo>
                <a:lnTo>
                  <a:pt x="2749042" y="1698371"/>
                </a:lnTo>
                <a:lnTo>
                  <a:pt x="2797683" y="1713357"/>
                </a:lnTo>
                <a:lnTo>
                  <a:pt x="2801366" y="1701165"/>
                </a:lnTo>
                <a:close/>
              </a:path>
              <a:path w="6983095" h="2146935">
                <a:moveTo>
                  <a:pt x="2886329" y="1727327"/>
                </a:moveTo>
                <a:lnTo>
                  <a:pt x="2837815" y="1712341"/>
                </a:lnTo>
                <a:lnTo>
                  <a:pt x="2834005" y="1724533"/>
                </a:lnTo>
                <a:lnTo>
                  <a:pt x="2882646" y="1739392"/>
                </a:lnTo>
                <a:lnTo>
                  <a:pt x="2886329" y="1727327"/>
                </a:lnTo>
                <a:close/>
              </a:path>
              <a:path w="6983095" h="2146935">
                <a:moveTo>
                  <a:pt x="2961881" y="851535"/>
                </a:moveTo>
                <a:lnTo>
                  <a:pt x="2914904" y="832104"/>
                </a:lnTo>
                <a:lnTo>
                  <a:pt x="2910078" y="843788"/>
                </a:lnTo>
                <a:lnTo>
                  <a:pt x="2956941" y="863219"/>
                </a:lnTo>
                <a:lnTo>
                  <a:pt x="2961881" y="851535"/>
                </a:lnTo>
                <a:close/>
              </a:path>
              <a:path w="6983095" h="2146935">
                <a:moveTo>
                  <a:pt x="2971279" y="1753235"/>
                </a:moveTo>
                <a:lnTo>
                  <a:pt x="2922778" y="1738376"/>
                </a:lnTo>
                <a:lnTo>
                  <a:pt x="2919095" y="1750568"/>
                </a:lnTo>
                <a:lnTo>
                  <a:pt x="2967609" y="1765427"/>
                </a:lnTo>
                <a:lnTo>
                  <a:pt x="2971279" y="1753235"/>
                </a:lnTo>
                <a:close/>
              </a:path>
              <a:path w="6983095" h="2146935">
                <a:moveTo>
                  <a:pt x="3043936" y="885571"/>
                </a:moveTo>
                <a:lnTo>
                  <a:pt x="2997073" y="866140"/>
                </a:lnTo>
                <a:lnTo>
                  <a:pt x="2992247" y="877824"/>
                </a:lnTo>
                <a:lnTo>
                  <a:pt x="3039110" y="897255"/>
                </a:lnTo>
                <a:lnTo>
                  <a:pt x="3043936" y="885571"/>
                </a:lnTo>
                <a:close/>
              </a:path>
              <a:path w="6983095" h="2146935">
                <a:moveTo>
                  <a:pt x="3056382" y="1779143"/>
                </a:moveTo>
                <a:lnTo>
                  <a:pt x="3007741" y="1764411"/>
                </a:lnTo>
                <a:lnTo>
                  <a:pt x="3004058" y="1776476"/>
                </a:lnTo>
                <a:lnTo>
                  <a:pt x="3052699" y="1791335"/>
                </a:lnTo>
                <a:lnTo>
                  <a:pt x="3056382" y="1779143"/>
                </a:lnTo>
                <a:close/>
              </a:path>
              <a:path w="6983095" h="2146935">
                <a:moveTo>
                  <a:pt x="3126105" y="919480"/>
                </a:moveTo>
                <a:lnTo>
                  <a:pt x="3122295" y="917956"/>
                </a:lnTo>
                <a:lnTo>
                  <a:pt x="3079242" y="900176"/>
                </a:lnTo>
                <a:lnTo>
                  <a:pt x="3074289" y="911860"/>
                </a:lnTo>
                <a:lnTo>
                  <a:pt x="3117469" y="929767"/>
                </a:lnTo>
                <a:lnTo>
                  <a:pt x="3121279" y="931291"/>
                </a:lnTo>
                <a:lnTo>
                  <a:pt x="3126105" y="919480"/>
                </a:lnTo>
                <a:close/>
              </a:path>
              <a:path w="6983095" h="2146935">
                <a:moveTo>
                  <a:pt x="3141472" y="1805051"/>
                </a:moveTo>
                <a:lnTo>
                  <a:pt x="3092831" y="1790319"/>
                </a:lnTo>
                <a:lnTo>
                  <a:pt x="3089148" y="1802384"/>
                </a:lnTo>
                <a:lnTo>
                  <a:pt x="3137662" y="1817243"/>
                </a:lnTo>
                <a:lnTo>
                  <a:pt x="3141472" y="1805051"/>
                </a:lnTo>
                <a:close/>
              </a:path>
              <a:path w="6983095" h="2146935">
                <a:moveTo>
                  <a:pt x="3208401" y="953008"/>
                </a:moveTo>
                <a:lnTo>
                  <a:pt x="3161411" y="933831"/>
                </a:lnTo>
                <a:lnTo>
                  <a:pt x="3156585" y="945642"/>
                </a:lnTo>
                <a:lnTo>
                  <a:pt x="3203702" y="964692"/>
                </a:lnTo>
                <a:lnTo>
                  <a:pt x="3208401" y="953008"/>
                </a:lnTo>
                <a:close/>
              </a:path>
              <a:path w="6983095" h="2146935">
                <a:moveTo>
                  <a:pt x="3226435" y="1830959"/>
                </a:moveTo>
                <a:lnTo>
                  <a:pt x="3177794" y="1816227"/>
                </a:lnTo>
                <a:lnTo>
                  <a:pt x="3174111" y="1828292"/>
                </a:lnTo>
                <a:lnTo>
                  <a:pt x="3222752" y="1843151"/>
                </a:lnTo>
                <a:lnTo>
                  <a:pt x="3226435" y="1830959"/>
                </a:lnTo>
                <a:close/>
              </a:path>
              <a:path w="6983095" h="2146935">
                <a:moveTo>
                  <a:pt x="3290824" y="986409"/>
                </a:moveTo>
                <a:lnTo>
                  <a:pt x="3243707" y="967359"/>
                </a:lnTo>
                <a:lnTo>
                  <a:pt x="3239008" y="979043"/>
                </a:lnTo>
                <a:lnTo>
                  <a:pt x="3285998" y="998220"/>
                </a:lnTo>
                <a:lnTo>
                  <a:pt x="3290824" y="986409"/>
                </a:lnTo>
                <a:close/>
              </a:path>
              <a:path w="6983095" h="2146935">
                <a:moveTo>
                  <a:pt x="3311525" y="1856740"/>
                </a:moveTo>
                <a:lnTo>
                  <a:pt x="3262884" y="1842008"/>
                </a:lnTo>
                <a:lnTo>
                  <a:pt x="3259201" y="1854200"/>
                </a:lnTo>
                <a:lnTo>
                  <a:pt x="3307842" y="1868932"/>
                </a:lnTo>
                <a:lnTo>
                  <a:pt x="3311525" y="1856740"/>
                </a:lnTo>
                <a:close/>
              </a:path>
              <a:path w="6983095" h="2146935">
                <a:moveTo>
                  <a:pt x="3373374" y="1019302"/>
                </a:moveTo>
                <a:lnTo>
                  <a:pt x="3330257" y="1002411"/>
                </a:lnTo>
                <a:lnTo>
                  <a:pt x="3329940" y="1002284"/>
                </a:lnTo>
                <a:lnTo>
                  <a:pt x="3330067" y="1002411"/>
                </a:lnTo>
                <a:lnTo>
                  <a:pt x="3326130" y="1000760"/>
                </a:lnTo>
                <a:lnTo>
                  <a:pt x="3321304" y="1012571"/>
                </a:lnTo>
                <a:lnTo>
                  <a:pt x="3325368" y="1014095"/>
                </a:lnTo>
                <a:lnTo>
                  <a:pt x="3368675" y="1031113"/>
                </a:lnTo>
                <a:lnTo>
                  <a:pt x="3373374" y="1019302"/>
                </a:lnTo>
                <a:close/>
              </a:path>
              <a:path w="6983095" h="2146935">
                <a:moveTo>
                  <a:pt x="3396615" y="1882648"/>
                </a:moveTo>
                <a:lnTo>
                  <a:pt x="3347974" y="1867916"/>
                </a:lnTo>
                <a:lnTo>
                  <a:pt x="3344291" y="1879981"/>
                </a:lnTo>
                <a:lnTo>
                  <a:pt x="3392932" y="1894840"/>
                </a:lnTo>
                <a:lnTo>
                  <a:pt x="3396615" y="1882648"/>
                </a:lnTo>
                <a:close/>
              </a:path>
              <a:path w="6983095" h="2146935">
                <a:moveTo>
                  <a:pt x="3456178" y="1051560"/>
                </a:moveTo>
                <a:lnTo>
                  <a:pt x="3408807" y="1033145"/>
                </a:lnTo>
                <a:lnTo>
                  <a:pt x="3404235" y="1044956"/>
                </a:lnTo>
                <a:lnTo>
                  <a:pt x="3451606" y="1063371"/>
                </a:lnTo>
                <a:lnTo>
                  <a:pt x="3456178" y="1051560"/>
                </a:lnTo>
                <a:close/>
              </a:path>
              <a:path w="6983095" h="2146935">
                <a:moveTo>
                  <a:pt x="3481705" y="1908429"/>
                </a:moveTo>
                <a:lnTo>
                  <a:pt x="3433064" y="1893697"/>
                </a:lnTo>
                <a:lnTo>
                  <a:pt x="3429381" y="1905889"/>
                </a:lnTo>
                <a:lnTo>
                  <a:pt x="3478022" y="1920621"/>
                </a:lnTo>
                <a:lnTo>
                  <a:pt x="3481705" y="1908429"/>
                </a:lnTo>
                <a:close/>
              </a:path>
              <a:path w="6983095" h="2146935">
                <a:moveTo>
                  <a:pt x="3538855" y="1083818"/>
                </a:moveTo>
                <a:lnTo>
                  <a:pt x="3538347" y="1083691"/>
                </a:lnTo>
                <a:lnTo>
                  <a:pt x="3538474" y="1083691"/>
                </a:lnTo>
                <a:lnTo>
                  <a:pt x="3491611" y="1065403"/>
                </a:lnTo>
                <a:lnTo>
                  <a:pt x="3487039" y="1077214"/>
                </a:lnTo>
                <a:lnTo>
                  <a:pt x="3534537" y="1095756"/>
                </a:lnTo>
                <a:lnTo>
                  <a:pt x="3538855" y="1083818"/>
                </a:lnTo>
                <a:close/>
              </a:path>
              <a:path w="6983095" h="2146935">
                <a:moveTo>
                  <a:pt x="3566668" y="1934210"/>
                </a:moveTo>
                <a:lnTo>
                  <a:pt x="3518154" y="1919478"/>
                </a:lnTo>
                <a:lnTo>
                  <a:pt x="3514471" y="1931670"/>
                </a:lnTo>
                <a:lnTo>
                  <a:pt x="3562985" y="1946402"/>
                </a:lnTo>
                <a:lnTo>
                  <a:pt x="3566668" y="1934210"/>
                </a:lnTo>
                <a:close/>
              </a:path>
              <a:path w="6983095" h="2146935">
                <a:moveTo>
                  <a:pt x="3622294" y="1114425"/>
                </a:moveTo>
                <a:lnTo>
                  <a:pt x="3574669" y="1096899"/>
                </a:lnTo>
                <a:lnTo>
                  <a:pt x="3570224" y="1108837"/>
                </a:lnTo>
                <a:lnTo>
                  <a:pt x="3617976" y="1126363"/>
                </a:lnTo>
                <a:lnTo>
                  <a:pt x="3622294" y="1114425"/>
                </a:lnTo>
                <a:close/>
              </a:path>
              <a:path w="6983095" h="2146935">
                <a:moveTo>
                  <a:pt x="3663823" y="1970278"/>
                </a:moveTo>
                <a:lnTo>
                  <a:pt x="3596386" y="1897634"/>
                </a:lnTo>
                <a:lnTo>
                  <a:pt x="3593973" y="1895094"/>
                </a:lnTo>
                <a:lnTo>
                  <a:pt x="3590036" y="1894967"/>
                </a:lnTo>
                <a:lnTo>
                  <a:pt x="3587496" y="1897380"/>
                </a:lnTo>
                <a:lnTo>
                  <a:pt x="3584829" y="1899666"/>
                </a:lnTo>
                <a:lnTo>
                  <a:pt x="3584702" y="1903730"/>
                </a:lnTo>
                <a:lnTo>
                  <a:pt x="3587115" y="1906270"/>
                </a:lnTo>
                <a:lnTo>
                  <a:pt x="3631247" y="1953768"/>
                </a:lnTo>
                <a:lnTo>
                  <a:pt x="3603244" y="1945259"/>
                </a:lnTo>
                <a:lnTo>
                  <a:pt x="3599561" y="1957451"/>
                </a:lnTo>
                <a:lnTo>
                  <a:pt x="3627513" y="1965947"/>
                </a:lnTo>
                <a:lnTo>
                  <a:pt x="3564509" y="1980946"/>
                </a:lnTo>
                <a:lnTo>
                  <a:pt x="3561080" y="1981708"/>
                </a:lnTo>
                <a:lnTo>
                  <a:pt x="3558921" y="1985137"/>
                </a:lnTo>
                <a:lnTo>
                  <a:pt x="3559810" y="1988566"/>
                </a:lnTo>
                <a:lnTo>
                  <a:pt x="3560572" y="1991995"/>
                </a:lnTo>
                <a:lnTo>
                  <a:pt x="3564001" y="1994027"/>
                </a:lnTo>
                <a:lnTo>
                  <a:pt x="3567430" y="1993265"/>
                </a:lnTo>
                <a:lnTo>
                  <a:pt x="3655822" y="1972183"/>
                </a:lnTo>
                <a:lnTo>
                  <a:pt x="3663823" y="1970278"/>
                </a:lnTo>
                <a:close/>
              </a:path>
              <a:path w="6983095" h="2146935">
                <a:moveTo>
                  <a:pt x="3705860" y="1145032"/>
                </a:moveTo>
                <a:lnTo>
                  <a:pt x="3658108" y="1127506"/>
                </a:lnTo>
                <a:lnTo>
                  <a:pt x="3653790" y="1139444"/>
                </a:lnTo>
                <a:lnTo>
                  <a:pt x="3701415" y="1156843"/>
                </a:lnTo>
                <a:lnTo>
                  <a:pt x="3705860" y="1145032"/>
                </a:lnTo>
                <a:close/>
              </a:path>
              <a:path w="6983095" h="2146935">
                <a:moveTo>
                  <a:pt x="3789426" y="1174623"/>
                </a:moveTo>
                <a:lnTo>
                  <a:pt x="3748392" y="1160526"/>
                </a:lnTo>
                <a:lnTo>
                  <a:pt x="3748024" y="1160399"/>
                </a:lnTo>
                <a:lnTo>
                  <a:pt x="3748151" y="1160526"/>
                </a:lnTo>
                <a:lnTo>
                  <a:pt x="3741547" y="1158113"/>
                </a:lnTo>
                <a:lnTo>
                  <a:pt x="3737229" y="1170051"/>
                </a:lnTo>
                <a:lnTo>
                  <a:pt x="3743960" y="1172464"/>
                </a:lnTo>
                <a:lnTo>
                  <a:pt x="3785362" y="1186688"/>
                </a:lnTo>
                <a:lnTo>
                  <a:pt x="3789426" y="1174623"/>
                </a:lnTo>
                <a:close/>
              </a:path>
              <a:path w="6983095" h="2146935">
                <a:moveTo>
                  <a:pt x="3873500" y="1203198"/>
                </a:moveTo>
                <a:lnTo>
                  <a:pt x="3853434" y="1196594"/>
                </a:lnTo>
                <a:lnTo>
                  <a:pt x="3853561" y="1196594"/>
                </a:lnTo>
                <a:lnTo>
                  <a:pt x="3825494" y="1187069"/>
                </a:lnTo>
                <a:lnTo>
                  <a:pt x="3821430" y="1199007"/>
                </a:lnTo>
                <a:lnTo>
                  <a:pt x="3849497" y="1208659"/>
                </a:lnTo>
                <a:lnTo>
                  <a:pt x="3869690" y="1215263"/>
                </a:lnTo>
                <a:lnTo>
                  <a:pt x="3873500" y="1203198"/>
                </a:lnTo>
                <a:close/>
              </a:path>
              <a:path w="6983095" h="2146935">
                <a:moveTo>
                  <a:pt x="3958082" y="1230630"/>
                </a:moveTo>
                <a:lnTo>
                  <a:pt x="3909822" y="1215009"/>
                </a:lnTo>
                <a:lnTo>
                  <a:pt x="3905885" y="1227074"/>
                </a:lnTo>
                <a:lnTo>
                  <a:pt x="3954145" y="1242822"/>
                </a:lnTo>
                <a:lnTo>
                  <a:pt x="3958082" y="1230630"/>
                </a:lnTo>
                <a:close/>
              </a:path>
              <a:path w="6983095" h="2146935">
                <a:moveTo>
                  <a:pt x="4043045" y="1256665"/>
                </a:moveTo>
                <a:lnTo>
                  <a:pt x="3994404" y="1241806"/>
                </a:lnTo>
                <a:lnTo>
                  <a:pt x="3990721" y="1253998"/>
                </a:lnTo>
                <a:lnTo>
                  <a:pt x="4039235" y="1268869"/>
                </a:lnTo>
                <a:lnTo>
                  <a:pt x="4043045" y="1256665"/>
                </a:lnTo>
                <a:close/>
              </a:path>
              <a:path w="6983095" h="2146935">
                <a:moveTo>
                  <a:pt x="4128262" y="1281569"/>
                </a:moveTo>
                <a:lnTo>
                  <a:pt x="4079367" y="1267587"/>
                </a:lnTo>
                <a:lnTo>
                  <a:pt x="4075938" y="1279779"/>
                </a:lnTo>
                <a:lnTo>
                  <a:pt x="4124706" y="1293749"/>
                </a:lnTo>
                <a:lnTo>
                  <a:pt x="4128262" y="1281569"/>
                </a:lnTo>
                <a:close/>
              </a:path>
              <a:path w="6983095" h="2146935">
                <a:moveTo>
                  <a:pt x="4213860" y="1305052"/>
                </a:moveTo>
                <a:lnTo>
                  <a:pt x="4172331" y="1294130"/>
                </a:lnTo>
                <a:lnTo>
                  <a:pt x="4172458" y="1294130"/>
                </a:lnTo>
                <a:lnTo>
                  <a:pt x="4164838" y="1291983"/>
                </a:lnTo>
                <a:lnTo>
                  <a:pt x="4161409" y="1304163"/>
                </a:lnTo>
                <a:lnTo>
                  <a:pt x="4169029" y="1306449"/>
                </a:lnTo>
                <a:lnTo>
                  <a:pt x="4210558" y="1317244"/>
                </a:lnTo>
                <a:lnTo>
                  <a:pt x="4213860" y="1305052"/>
                </a:lnTo>
                <a:close/>
              </a:path>
              <a:path w="6983095" h="2146935">
                <a:moveTo>
                  <a:pt x="4299839" y="1327023"/>
                </a:moveTo>
                <a:lnTo>
                  <a:pt x="4279773" y="1322324"/>
                </a:lnTo>
                <a:lnTo>
                  <a:pt x="4279900" y="1322324"/>
                </a:lnTo>
                <a:lnTo>
                  <a:pt x="4250690" y="1314704"/>
                </a:lnTo>
                <a:lnTo>
                  <a:pt x="4247388" y="1327023"/>
                </a:lnTo>
                <a:lnTo>
                  <a:pt x="4276725" y="1334643"/>
                </a:lnTo>
                <a:lnTo>
                  <a:pt x="4296791" y="1339469"/>
                </a:lnTo>
                <a:lnTo>
                  <a:pt x="4299839" y="1327023"/>
                </a:lnTo>
                <a:close/>
              </a:path>
              <a:path w="6983095" h="2146935">
                <a:moveTo>
                  <a:pt x="4386199" y="1347724"/>
                </a:moveTo>
                <a:lnTo>
                  <a:pt x="4336796" y="1335913"/>
                </a:lnTo>
                <a:lnTo>
                  <a:pt x="4333875" y="1348232"/>
                </a:lnTo>
                <a:lnTo>
                  <a:pt x="4383278" y="1360043"/>
                </a:lnTo>
                <a:lnTo>
                  <a:pt x="4386199" y="1347724"/>
                </a:lnTo>
                <a:close/>
              </a:path>
              <a:path w="6983095" h="2146935">
                <a:moveTo>
                  <a:pt x="4473067" y="1366139"/>
                </a:moveTo>
                <a:lnTo>
                  <a:pt x="4423410" y="1355598"/>
                </a:lnTo>
                <a:lnTo>
                  <a:pt x="4420743" y="1368044"/>
                </a:lnTo>
                <a:lnTo>
                  <a:pt x="4470400" y="1378585"/>
                </a:lnTo>
                <a:lnTo>
                  <a:pt x="4473067" y="1366139"/>
                </a:lnTo>
                <a:close/>
              </a:path>
              <a:path w="6983095" h="2146935">
                <a:moveTo>
                  <a:pt x="4560189" y="1382903"/>
                </a:moveTo>
                <a:lnTo>
                  <a:pt x="4510278" y="1373632"/>
                </a:lnTo>
                <a:lnTo>
                  <a:pt x="4507992" y="1386078"/>
                </a:lnTo>
                <a:lnTo>
                  <a:pt x="4557903" y="1395349"/>
                </a:lnTo>
                <a:lnTo>
                  <a:pt x="4560189" y="1382903"/>
                </a:lnTo>
                <a:close/>
              </a:path>
              <a:path w="6983095" h="2146935">
                <a:moveTo>
                  <a:pt x="4647692" y="1397381"/>
                </a:moveTo>
                <a:lnTo>
                  <a:pt x="4606036" y="1391412"/>
                </a:lnTo>
                <a:lnTo>
                  <a:pt x="4606290" y="1391412"/>
                </a:lnTo>
                <a:lnTo>
                  <a:pt x="4597654" y="1389761"/>
                </a:lnTo>
                <a:lnTo>
                  <a:pt x="4595368" y="1402334"/>
                </a:lnTo>
                <a:lnTo>
                  <a:pt x="4604004" y="1403858"/>
                </a:lnTo>
                <a:lnTo>
                  <a:pt x="4645787" y="1409954"/>
                </a:lnTo>
                <a:lnTo>
                  <a:pt x="4647692" y="1397381"/>
                </a:lnTo>
                <a:close/>
              </a:path>
              <a:path w="6983095" h="2146935">
                <a:moveTo>
                  <a:pt x="4735449" y="1409319"/>
                </a:moveTo>
                <a:lnTo>
                  <a:pt x="4719764" y="1407668"/>
                </a:lnTo>
                <a:lnTo>
                  <a:pt x="4718558" y="1407541"/>
                </a:lnTo>
                <a:lnTo>
                  <a:pt x="4718812" y="1407668"/>
                </a:lnTo>
                <a:lnTo>
                  <a:pt x="4685284" y="1402842"/>
                </a:lnTo>
                <a:lnTo>
                  <a:pt x="4683506" y="1415415"/>
                </a:lnTo>
                <a:lnTo>
                  <a:pt x="4717161" y="1420241"/>
                </a:lnTo>
                <a:lnTo>
                  <a:pt x="4734179" y="1421892"/>
                </a:lnTo>
                <a:lnTo>
                  <a:pt x="4735449" y="1409319"/>
                </a:lnTo>
                <a:close/>
              </a:path>
              <a:path w="6983095" h="2146935">
                <a:moveTo>
                  <a:pt x="4823968" y="1417955"/>
                </a:moveTo>
                <a:lnTo>
                  <a:pt x="4773295" y="1413002"/>
                </a:lnTo>
                <a:lnTo>
                  <a:pt x="4772152" y="1425575"/>
                </a:lnTo>
                <a:lnTo>
                  <a:pt x="4822698" y="1430655"/>
                </a:lnTo>
                <a:lnTo>
                  <a:pt x="4823968" y="1417955"/>
                </a:lnTo>
                <a:close/>
              </a:path>
              <a:path w="6983095" h="2146935">
                <a:moveTo>
                  <a:pt x="4912360" y="1423924"/>
                </a:moveTo>
                <a:lnTo>
                  <a:pt x="4861687" y="1420749"/>
                </a:lnTo>
                <a:lnTo>
                  <a:pt x="4860925" y="1433449"/>
                </a:lnTo>
                <a:lnTo>
                  <a:pt x="4911598" y="1436624"/>
                </a:lnTo>
                <a:lnTo>
                  <a:pt x="4912360" y="1423924"/>
                </a:lnTo>
                <a:close/>
              </a:path>
              <a:path w="6983095" h="2146935">
                <a:moveTo>
                  <a:pt x="5001006" y="1428242"/>
                </a:moveTo>
                <a:lnTo>
                  <a:pt x="4958080" y="1426845"/>
                </a:lnTo>
                <a:lnTo>
                  <a:pt x="4958334" y="1426845"/>
                </a:lnTo>
                <a:lnTo>
                  <a:pt x="4950333" y="1426337"/>
                </a:lnTo>
                <a:lnTo>
                  <a:pt x="4949571" y="1439037"/>
                </a:lnTo>
                <a:lnTo>
                  <a:pt x="4957572" y="1439545"/>
                </a:lnTo>
                <a:lnTo>
                  <a:pt x="5000498" y="1440942"/>
                </a:lnTo>
                <a:lnTo>
                  <a:pt x="5001006" y="1428242"/>
                </a:lnTo>
                <a:close/>
              </a:path>
              <a:path w="6983095" h="2146935">
                <a:moveTo>
                  <a:pt x="5089652" y="1431036"/>
                </a:moveTo>
                <a:lnTo>
                  <a:pt x="5083048" y="1431036"/>
                </a:lnTo>
                <a:lnTo>
                  <a:pt x="5039106" y="1429512"/>
                </a:lnTo>
                <a:lnTo>
                  <a:pt x="5038598" y="1442212"/>
                </a:lnTo>
                <a:lnTo>
                  <a:pt x="5082667" y="1443736"/>
                </a:lnTo>
                <a:lnTo>
                  <a:pt x="5089525" y="1443736"/>
                </a:lnTo>
                <a:lnTo>
                  <a:pt x="5089652" y="1431036"/>
                </a:lnTo>
                <a:close/>
              </a:path>
              <a:path w="6983095" h="2146935">
                <a:moveTo>
                  <a:pt x="5178552" y="1432052"/>
                </a:moveTo>
                <a:lnTo>
                  <a:pt x="5127752" y="1431417"/>
                </a:lnTo>
                <a:lnTo>
                  <a:pt x="5127625" y="1444117"/>
                </a:lnTo>
                <a:lnTo>
                  <a:pt x="5178425" y="1444752"/>
                </a:lnTo>
                <a:lnTo>
                  <a:pt x="5178552" y="1432052"/>
                </a:lnTo>
                <a:close/>
              </a:path>
              <a:path w="6983095" h="2146935">
                <a:moveTo>
                  <a:pt x="5267452" y="1444625"/>
                </a:moveTo>
                <a:lnTo>
                  <a:pt x="5267325" y="1431925"/>
                </a:lnTo>
                <a:lnTo>
                  <a:pt x="5216525" y="1432306"/>
                </a:lnTo>
                <a:lnTo>
                  <a:pt x="5216652" y="1445006"/>
                </a:lnTo>
                <a:lnTo>
                  <a:pt x="5267452" y="1444625"/>
                </a:lnTo>
                <a:close/>
              </a:path>
              <a:path w="6983095" h="2146935">
                <a:moveTo>
                  <a:pt x="5356479" y="1443736"/>
                </a:moveTo>
                <a:lnTo>
                  <a:pt x="5356225" y="1431036"/>
                </a:lnTo>
                <a:lnTo>
                  <a:pt x="5337302" y="1431417"/>
                </a:lnTo>
                <a:lnTo>
                  <a:pt x="5305425" y="1431671"/>
                </a:lnTo>
                <a:lnTo>
                  <a:pt x="5305552" y="1444371"/>
                </a:lnTo>
                <a:lnTo>
                  <a:pt x="5337429" y="1444117"/>
                </a:lnTo>
                <a:lnTo>
                  <a:pt x="5356479" y="1443736"/>
                </a:lnTo>
                <a:close/>
              </a:path>
              <a:path w="6983095" h="2146935">
                <a:moveTo>
                  <a:pt x="5445252" y="1441958"/>
                </a:moveTo>
                <a:lnTo>
                  <a:pt x="5444998" y="1429258"/>
                </a:lnTo>
                <a:lnTo>
                  <a:pt x="5394325" y="1430274"/>
                </a:lnTo>
                <a:lnTo>
                  <a:pt x="5394579" y="1442974"/>
                </a:lnTo>
                <a:lnTo>
                  <a:pt x="5445252" y="1441958"/>
                </a:lnTo>
                <a:close/>
              </a:path>
              <a:path w="6983095" h="2146935">
                <a:moveTo>
                  <a:pt x="5534279" y="1439672"/>
                </a:moveTo>
                <a:lnTo>
                  <a:pt x="5533898" y="1426972"/>
                </a:lnTo>
                <a:lnTo>
                  <a:pt x="5483098" y="1428369"/>
                </a:lnTo>
                <a:lnTo>
                  <a:pt x="5483479" y="1441069"/>
                </a:lnTo>
                <a:lnTo>
                  <a:pt x="5534279" y="1439672"/>
                </a:lnTo>
                <a:close/>
              </a:path>
              <a:path w="6983095" h="2146935">
                <a:moveTo>
                  <a:pt x="5623052" y="1437132"/>
                </a:moveTo>
                <a:lnTo>
                  <a:pt x="5622671" y="1424432"/>
                </a:lnTo>
                <a:lnTo>
                  <a:pt x="5591175" y="1425448"/>
                </a:lnTo>
                <a:lnTo>
                  <a:pt x="5571998" y="1425956"/>
                </a:lnTo>
                <a:lnTo>
                  <a:pt x="5572252" y="1438656"/>
                </a:lnTo>
                <a:lnTo>
                  <a:pt x="5623052" y="1437132"/>
                </a:lnTo>
                <a:close/>
              </a:path>
              <a:path w="6983095" h="2146935">
                <a:moveTo>
                  <a:pt x="5711952" y="1434338"/>
                </a:moveTo>
                <a:lnTo>
                  <a:pt x="5711571" y="1421638"/>
                </a:lnTo>
                <a:lnTo>
                  <a:pt x="5660771" y="1423162"/>
                </a:lnTo>
                <a:lnTo>
                  <a:pt x="5661152" y="1435862"/>
                </a:lnTo>
                <a:lnTo>
                  <a:pt x="5711952" y="1434338"/>
                </a:lnTo>
                <a:close/>
              </a:path>
              <a:path w="6983095" h="2146935">
                <a:moveTo>
                  <a:pt x="5800852" y="1431544"/>
                </a:moveTo>
                <a:lnTo>
                  <a:pt x="5800471" y="1418844"/>
                </a:lnTo>
                <a:lnTo>
                  <a:pt x="5749671" y="1420368"/>
                </a:lnTo>
                <a:lnTo>
                  <a:pt x="5750052" y="1433068"/>
                </a:lnTo>
                <a:lnTo>
                  <a:pt x="5800852" y="1431544"/>
                </a:lnTo>
                <a:close/>
              </a:path>
              <a:path w="6983095" h="2146935">
                <a:moveTo>
                  <a:pt x="5889625" y="1429004"/>
                </a:moveTo>
                <a:lnTo>
                  <a:pt x="5889371" y="1416304"/>
                </a:lnTo>
                <a:lnTo>
                  <a:pt x="5838571" y="1417574"/>
                </a:lnTo>
                <a:lnTo>
                  <a:pt x="5838825" y="1430274"/>
                </a:lnTo>
                <a:lnTo>
                  <a:pt x="5889625" y="1429004"/>
                </a:lnTo>
                <a:close/>
              </a:path>
              <a:path w="6983095" h="2146935">
                <a:moveTo>
                  <a:pt x="5978525" y="1426972"/>
                </a:moveTo>
                <a:lnTo>
                  <a:pt x="5978271" y="1414272"/>
                </a:lnTo>
                <a:lnTo>
                  <a:pt x="5952490" y="1414653"/>
                </a:lnTo>
                <a:lnTo>
                  <a:pt x="5927471" y="1415415"/>
                </a:lnTo>
                <a:lnTo>
                  <a:pt x="5927725" y="1427988"/>
                </a:lnTo>
                <a:lnTo>
                  <a:pt x="5952871" y="1427353"/>
                </a:lnTo>
                <a:lnTo>
                  <a:pt x="5978525" y="1426972"/>
                </a:lnTo>
                <a:close/>
              </a:path>
              <a:path w="6983095" h="2146935">
                <a:moveTo>
                  <a:pt x="6067298" y="1413002"/>
                </a:moveTo>
                <a:lnTo>
                  <a:pt x="6063742" y="1413002"/>
                </a:lnTo>
                <a:lnTo>
                  <a:pt x="6016371" y="1413637"/>
                </a:lnTo>
                <a:lnTo>
                  <a:pt x="6016498" y="1426337"/>
                </a:lnTo>
                <a:lnTo>
                  <a:pt x="6063869" y="1425702"/>
                </a:lnTo>
                <a:lnTo>
                  <a:pt x="6067298" y="1425702"/>
                </a:lnTo>
                <a:lnTo>
                  <a:pt x="6067298" y="1413002"/>
                </a:lnTo>
                <a:close/>
              </a:path>
              <a:path w="6983095" h="2146935">
                <a:moveTo>
                  <a:pt x="6156198" y="1413256"/>
                </a:moveTo>
                <a:lnTo>
                  <a:pt x="6117082" y="1412875"/>
                </a:lnTo>
                <a:lnTo>
                  <a:pt x="6105398" y="1412875"/>
                </a:lnTo>
                <a:lnTo>
                  <a:pt x="6105398" y="1425575"/>
                </a:lnTo>
                <a:lnTo>
                  <a:pt x="6156071" y="1425956"/>
                </a:lnTo>
                <a:lnTo>
                  <a:pt x="6156198" y="1413256"/>
                </a:lnTo>
                <a:close/>
              </a:path>
              <a:path w="6983095" h="2146935">
                <a:moveTo>
                  <a:pt x="6245212" y="1415542"/>
                </a:moveTo>
                <a:lnTo>
                  <a:pt x="6218428" y="1414399"/>
                </a:lnTo>
                <a:lnTo>
                  <a:pt x="6194412" y="1413891"/>
                </a:lnTo>
                <a:lnTo>
                  <a:pt x="6194158" y="1426591"/>
                </a:lnTo>
                <a:lnTo>
                  <a:pt x="6217907" y="1427099"/>
                </a:lnTo>
                <a:lnTo>
                  <a:pt x="6244717" y="1428242"/>
                </a:lnTo>
                <a:lnTo>
                  <a:pt x="6245212" y="1415542"/>
                </a:lnTo>
                <a:close/>
              </a:path>
              <a:path w="6983095" h="2146935">
                <a:moveTo>
                  <a:pt x="6334252" y="1420749"/>
                </a:moveTo>
                <a:lnTo>
                  <a:pt x="6311887" y="1418971"/>
                </a:lnTo>
                <a:lnTo>
                  <a:pt x="6283452" y="1417320"/>
                </a:lnTo>
                <a:lnTo>
                  <a:pt x="6282690" y="1430020"/>
                </a:lnTo>
                <a:lnTo>
                  <a:pt x="6311011" y="1431544"/>
                </a:lnTo>
                <a:lnTo>
                  <a:pt x="6333236" y="1433322"/>
                </a:lnTo>
                <a:lnTo>
                  <a:pt x="6334252" y="1420749"/>
                </a:lnTo>
                <a:close/>
              </a:path>
              <a:path w="6983095" h="2146935">
                <a:moveTo>
                  <a:pt x="6423025" y="1430655"/>
                </a:moveTo>
                <a:lnTo>
                  <a:pt x="6396482" y="1426845"/>
                </a:lnTo>
                <a:lnTo>
                  <a:pt x="6372352" y="1424178"/>
                </a:lnTo>
                <a:lnTo>
                  <a:pt x="6370955" y="1436878"/>
                </a:lnTo>
                <a:lnTo>
                  <a:pt x="6394831" y="1439418"/>
                </a:lnTo>
                <a:lnTo>
                  <a:pt x="6421247" y="1443228"/>
                </a:lnTo>
                <a:lnTo>
                  <a:pt x="6423025" y="1430655"/>
                </a:lnTo>
                <a:close/>
              </a:path>
              <a:path w="6983095" h="2146935">
                <a:moveTo>
                  <a:pt x="6510909" y="1446276"/>
                </a:moveTo>
                <a:lnTo>
                  <a:pt x="6505956" y="1445133"/>
                </a:lnTo>
                <a:lnTo>
                  <a:pt x="6471412" y="1438529"/>
                </a:lnTo>
                <a:lnTo>
                  <a:pt x="6460744" y="1436751"/>
                </a:lnTo>
                <a:lnTo>
                  <a:pt x="6458585" y="1449197"/>
                </a:lnTo>
                <a:lnTo>
                  <a:pt x="6469253" y="1451102"/>
                </a:lnTo>
                <a:lnTo>
                  <a:pt x="6469126" y="1450975"/>
                </a:lnTo>
                <a:lnTo>
                  <a:pt x="6503416" y="1457579"/>
                </a:lnTo>
                <a:lnTo>
                  <a:pt x="6503289" y="1457579"/>
                </a:lnTo>
                <a:lnTo>
                  <a:pt x="6508242" y="1458595"/>
                </a:lnTo>
                <a:lnTo>
                  <a:pt x="6509880" y="1450975"/>
                </a:lnTo>
                <a:lnTo>
                  <a:pt x="6510909" y="1446276"/>
                </a:lnTo>
                <a:close/>
              </a:path>
              <a:path w="6983095" h="2146935">
                <a:moveTo>
                  <a:pt x="6597650" y="1467104"/>
                </a:moveTo>
                <a:lnTo>
                  <a:pt x="6569710" y="1459738"/>
                </a:lnTo>
                <a:lnTo>
                  <a:pt x="6548247" y="1454531"/>
                </a:lnTo>
                <a:lnTo>
                  <a:pt x="6545326" y="1466850"/>
                </a:lnTo>
                <a:lnTo>
                  <a:pt x="6566662" y="1472057"/>
                </a:lnTo>
                <a:lnTo>
                  <a:pt x="6566408" y="1471930"/>
                </a:lnTo>
                <a:lnTo>
                  <a:pt x="6594348" y="1479423"/>
                </a:lnTo>
                <a:lnTo>
                  <a:pt x="6596354" y="1471930"/>
                </a:lnTo>
                <a:lnTo>
                  <a:pt x="6597650" y="1467104"/>
                </a:lnTo>
                <a:close/>
              </a:path>
              <a:path w="6983095" h="2146935">
                <a:moveTo>
                  <a:pt x="6682740" y="1495171"/>
                </a:moveTo>
                <a:lnTo>
                  <a:pt x="6678041" y="1493266"/>
                </a:lnTo>
                <a:lnTo>
                  <a:pt x="6653149" y="1484376"/>
                </a:lnTo>
                <a:lnTo>
                  <a:pt x="6634480" y="1478280"/>
                </a:lnTo>
                <a:lnTo>
                  <a:pt x="6630543" y="1490345"/>
                </a:lnTo>
                <a:lnTo>
                  <a:pt x="6649212" y="1496441"/>
                </a:lnTo>
                <a:lnTo>
                  <a:pt x="6648958" y="1496441"/>
                </a:lnTo>
                <a:lnTo>
                  <a:pt x="6673723" y="1505204"/>
                </a:lnTo>
                <a:lnTo>
                  <a:pt x="6673469" y="1505204"/>
                </a:lnTo>
                <a:lnTo>
                  <a:pt x="6678041" y="1506982"/>
                </a:lnTo>
                <a:lnTo>
                  <a:pt x="6682740" y="1495171"/>
                </a:lnTo>
                <a:close/>
              </a:path>
              <a:path w="6983095" h="2146935">
                <a:moveTo>
                  <a:pt x="6764401" y="1532509"/>
                </a:moveTo>
                <a:lnTo>
                  <a:pt x="6764020" y="1532382"/>
                </a:lnTo>
                <a:lnTo>
                  <a:pt x="6747599" y="1523746"/>
                </a:lnTo>
                <a:lnTo>
                  <a:pt x="6744462" y="1522095"/>
                </a:lnTo>
                <a:lnTo>
                  <a:pt x="6723634" y="1512189"/>
                </a:lnTo>
                <a:lnTo>
                  <a:pt x="6718173" y="1509903"/>
                </a:lnTo>
                <a:lnTo>
                  <a:pt x="6713093" y="1521460"/>
                </a:lnTo>
                <a:lnTo>
                  <a:pt x="6718427" y="1523873"/>
                </a:lnTo>
                <a:lnTo>
                  <a:pt x="6718300" y="1523746"/>
                </a:lnTo>
                <a:lnTo>
                  <a:pt x="6738874" y="1533525"/>
                </a:lnTo>
                <a:lnTo>
                  <a:pt x="6738747" y="1533525"/>
                </a:lnTo>
                <a:lnTo>
                  <a:pt x="6758051" y="1543558"/>
                </a:lnTo>
                <a:lnTo>
                  <a:pt x="6764401" y="1532509"/>
                </a:lnTo>
                <a:close/>
              </a:path>
              <a:path w="6983095" h="2146935">
                <a:moveTo>
                  <a:pt x="6839077" y="1582293"/>
                </a:moveTo>
                <a:lnTo>
                  <a:pt x="6831203" y="1576070"/>
                </a:lnTo>
                <a:lnTo>
                  <a:pt x="6815963" y="1564767"/>
                </a:lnTo>
                <a:lnTo>
                  <a:pt x="6797294" y="1552067"/>
                </a:lnTo>
                <a:lnTo>
                  <a:pt x="6790563" y="1562989"/>
                </a:lnTo>
                <a:lnTo>
                  <a:pt x="6792976" y="1564386"/>
                </a:lnTo>
                <a:lnTo>
                  <a:pt x="6792722" y="1564259"/>
                </a:lnTo>
                <a:lnTo>
                  <a:pt x="6792900" y="1564386"/>
                </a:lnTo>
                <a:lnTo>
                  <a:pt x="6808724" y="1575181"/>
                </a:lnTo>
                <a:lnTo>
                  <a:pt x="6808470" y="1575054"/>
                </a:lnTo>
                <a:lnTo>
                  <a:pt x="6808635" y="1575181"/>
                </a:lnTo>
                <a:lnTo>
                  <a:pt x="6823583" y="1586230"/>
                </a:lnTo>
                <a:lnTo>
                  <a:pt x="6823329" y="1585976"/>
                </a:lnTo>
                <a:lnTo>
                  <a:pt x="6831076" y="1592199"/>
                </a:lnTo>
                <a:lnTo>
                  <a:pt x="6836092" y="1585976"/>
                </a:lnTo>
                <a:lnTo>
                  <a:pt x="6839077" y="1582293"/>
                </a:lnTo>
                <a:close/>
              </a:path>
              <a:path w="6983095" h="2146935">
                <a:moveTo>
                  <a:pt x="6902958" y="1645793"/>
                </a:moveTo>
                <a:lnTo>
                  <a:pt x="6901256" y="1643761"/>
                </a:lnTo>
                <a:lnTo>
                  <a:pt x="6894449" y="1635633"/>
                </a:lnTo>
                <a:lnTo>
                  <a:pt x="6883273" y="1623314"/>
                </a:lnTo>
                <a:lnTo>
                  <a:pt x="6880187" y="1620139"/>
                </a:lnTo>
                <a:lnTo>
                  <a:pt x="6871589" y="1611249"/>
                </a:lnTo>
                <a:lnTo>
                  <a:pt x="6868033" y="1607820"/>
                </a:lnTo>
                <a:lnTo>
                  <a:pt x="6859270" y="1617091"/>
                </a:lnTo>
                <a:lnTo>
                  <a:pt x="6862699" y="1620393"/>
                </a:lnTo>
                <a:lnTo>
                  <a:pt x="6862572" y="1620139"/>
                </a:lnTo>
                <a:lnTo>
                  <a:pt x="6874002" y="1631950"/>
                </a:lnTo>
                <a:lnTo>
                  <a:pt x="6874116" y="1632077"/>
                </a:lnTo>
                <a:lnTo>
                  <a:pt x="6884924" y="1644015"/>
                </a:lnTo>
                <a:lnTo>
                  <a:pt x="6884797" y="1643761"/>
                </a:lnTo>
                <a:lnTo>
                  <a:pt x="6893179" y="1653921"/>
                </a:lnTo>
                <a:lnTo>
                  <a:pt x="6902958" y="1645793"/>
                </a:lnTo>
                <a:close/>
              </a:path>
              <a:path w="6983095" h="2146935">
                <a:moveTo>
                  <a:pt x="6953758" y="1719707"/>
                </a:moveTo>
                <a:lnTo>
                  <a:pt x="6941058" y="1698879"/>
                </a:lnTo>
                <a:lnTo>
                  <a:pt x="6926199" y="1676654"/>
                </a:lnTo>
                <a:lnTo>
                  <a:pt x="6915658" y="1683766"/>
                </a:lnTo>
                <a:lnTo>
                  <a:pt x="6930517" y="1705737"/>
                </a:lnTo>
                <a:lnTo>
                  <a:pt x="6930263" y="1705483"/>
                </a:lnTo>
                <a:lnTo>
                  <a:pt x="6930415" y="1705737"/>
                </a:lnTo>
                <a:lnTo>
                  <a:pt x="6942963" y="1726311"/>
                </a:lnTo>
                <a:lnTo>
                  <a:pt x="6953758" y="1719707"/>
                </a:lnTo>
                <a:close/>
              </a:path>
              <a:path w="6983095" h="2146935">
                <a:moveTo>
                  <a:pt x="6982968" y="1677289"/>
                </a:moveTo>
                <a:lnTo>
                  <a:pt x="6980174" y="1674368"/>
                </a:lnTo>
                <a:lnTo>
                  <a:pt x="6973189" y="1674114"/>
                </a:lnTo>
                <a:lnTo>
                  <a:pt x="6970268" y="1676908"/>
                </a:lnTo>
                <a:lnTo>
                  <a:pt x="6970141" y="1680337"/>
                </a:lnTo>
                <a:lnTo>
                  <a:pt x="6968071" y="1755622"/>
                </a:lnTo>
                <a:lnTo>
                  <a:pt x="6966242" y="1756625"/>
                </a:lnTo>
                <a:lnTo>
                  <a:pt x="6901815" y="1717675"/>
                </a:lnTo>
                <a:lnTo>
                  <a:pt x="6898767" y="1715897"/>
                </a:lnTo>
                <a:lnTo>
                  <a:pt x="6894830" y="1716913"/>
                </a:lnTo>
                <a:lnTo>
                  <a:pt x="6893052" y="1719834"/>
                </a:lnTo>
                <a:lnTo>
                  <a:pt x="6891274" y="1722882"/>
                </a:lnTo>
                <a:lnTo>
                  <a:pt x="6892163" y="1726819"/>
                </a:lnTo>
                <a:lnTo>
                  <a:pt x="6895211" y="1728597"/>
                </a:lnTo>
                <a:lnTo>
                  <a:pt x="6980047" y="1779778"/>
                </a:lnTo>
                <a:lnTo>
                  <a:pt x="6980263" y="1771777"/>
                </a:lnTo>
                <a:lnTo>
                  <a:pt x="6980796" y="1753108"/>
                </a:lnTo>
                <a:lnTo>
                  <a:pt x="6982854" y="1680337"/>
                </a:lnTo>
                <a:lnTo>
                  <a:pt x="6982968" y="1677289"/>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33231118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82</a:t>
            </a:fld>
            <a:endParaRPr lang="en-US"/>
          </a:p>
        </p:txBody>
      </p:sp>
      <p:sp>
        <p:nvSpPr>
          <p:cNvPr id="15" name="object 2">
            <a:extLst>
              <a:ext uri="{FF2B5EF4-FFF2-40B4-BE49-F238E27FC236}">
                <a16:creationId xmlns:a16="http://schemas.microsoft.com/office/drawing/2014/main" id="{32AB76BF-2825-2049-D286-D43DE684D052}"/>
              </a:ext>
            </a:extLst>
          </p:cNvPr>
          <p:cNvSpPr txBox="1">
            <a:spLocks/>
          </p:cNvSpPr>
          <p:nvPr/>
        </p:nvSpPr>
        <p:spPr>
          <a:xfrm>
            <a:off x="707542" y="585342"/>
            <a:ext cx="7663180" cy="52832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300" b="1" i="0" u="none" strike="noStrike" kern="0" cap="none" spc="0" normalizeH="0" baseline="0" noProof="0">
                <a:ln>
                  <a:noFill/>
                </a:ln>
                <a:solidFill>
                  <a:sysClr val="windowText" lastClr="000000"/>
                </a:solidFill>
                <a:effectLst/>
                <a:uLnTx/>
                <a:uFillTx/>
                <a:latin typeface="Palatino Linotype"/>
                <a:ea typeface="+mj-ea"/>
              </a:rPr>
              <a:t>SDD</a:t>
            </a:r>
            <a:r>
              <a:rPr kumimoji="0" lang="en-US" sz="3300" b="1" i="0" u="none" strike="noStrike" kern="0" cap="none" spc="-15" normalizeH="0" baseline="0" noProof="0">
                <a:ln>
                  <a:noFill/>
                </a:ln>
                <a:solidFill>
                  <a:sysClr val="windowText" lastClr="000000"/>
                </a:solidFill>
                <a:effectLst/>
                <a:uLnTx/>
                <a:uFillTx/>
                <a:latin typeface="Palatino Linotype"/>
                <a:ea typeface="+mj-ea"/>
              </a:rPr>
              <a:t> </a:t>
            </a:r>
            <a:r>
              <a:rPr kumimoji="0" lang="en-US" sz="3300" b="1" i="0" u="none" strike="noStrike" kern="0" cap="none" spc="-5" normalizeH="0" baseline="0" noProof="0">
                <a:ln>
                  <a:noFill/>
                </a:ln>
                <a:solidFill>
                  <a:sysClr val="windowText" lastClr="000000"/>
                </a:solidFill>
                <a:effectLst/>
                <a:uLnTx/>
                <a:uFillTx/>
                <a:latin typeface="Palatino Linotype"/>
                <a:ea typeface="+mj-ea"/>
              </a:rPr>
              <a:t>for Flow-of-Control </a:t>
            </a:r>
            <a:r>
              <a:rPr kumimoji="0" lang="en-US" sz="3300" b="1" i="0" u="none" strike="noStrike" kern="0" cap="none" spc="0" normalizeH="0" baseline="0" noProof="0">
                <a:ln>
                  <a:noFill/>
                </a:ln>
                <a:solidFill>
                  <a:sysClr val="windowText" lastClr="000000"/>
                </a:solidFill>
                <a:effectLst/>
                <a:uLnTx/>
                <a:uFillTx/>
                <a:latin typeface="Palatino Linotype"/>
                <a:ea typeface="+mj-ea"/>
              </a:rPr>
              <a:t>Statements</a:t>
            </a:r>
            <a:r>
              <a:rPr kumimoji="0" lang="en-US" sz="3300" b="1" i="0" u="none" strike="noStrike" kern="0" cap="none" spc="-35" normalizeH="0" baseline="0" noProof="0">
                <a:ln>
                  <a:noFill/>
                </a:ln>
                <a:solidFill>
                  <a:sysClr val="windowText" lastClr="000000"/>
                </a:solidFill>
                <a:effectLst/>
                <a:uLnTx/>
                <a:uFillTx/>
                <a:latin typeface="Palatino Linotype"/>
                <a:ea typeface="+mj-ea"/>
              </a:rPr>
              <a:t> </a:t>
            </a:r>
            <a:r>
              <a:rPr kumimoji="0" lang="en-US" sz="3300" b="1" i="0" u="none" strike="noStrike" kern="0" cap="none" spc="0" normalizeH="0" baseline="0" noProof="0">
                <a:ln>
                  <a:noFill/>
                </a:ln>
                <a:solidFill>
                  <a:sysClr val="windowText" lastClr="000000"/>
                </a:solidFill>
                <a:effectLst/>
                <a:uLnTx/>
                <a:uFillTx/>
                <a:latin typeface="Palatino Linotype"/>
                <a:ea typeface="+mj-ea"/>
              </a:rPr>
              <a:t>(1)</a:t>
            </a:r>
          </a:p>
        </p:txBody>
      </p:sp>
      <p:pic>
        <p:nvPicPr>
          <p:cNvPr id="17" name="object 4">
            <a:extLst>
              <a:ext uri="{FF2B5EF4-FFF2-40B4-BE49-F238E27FC236}">
                <a16:creationId xmlns:a16="http://schemas.microsoft.com/office/drawing/2014/main" id="{AC04E28A-176B-9E66-2ED6-A1F10A4A6816}"/>
              </a:ext>
            </a:extLst>
          </p:cNvPr>
          <p:cNvPicPr/>
          <p:nvPr/>
        </p:nvPicPr>
        <p:blipFill>
          <a:blip r:embed="rId3" cstate="print"/>
          <a:stretch>
            <a:fillRect/>
          </a:stretch>
        </p:blipFill>
        <p:spPr>
          <a:xfrm>
            <a:off x="1318036" y="1677537"/>
            <a:ext cx="6586951" cy="4508378"/>
          </a:xfrm>
          <a:prstGeom prst="rect">
            <a:avLst/>
          </a:prstGeom>
        </p:spPr>
      </p:pic>
      <p:sp>
        <p:nvSpPr>
          <p:cNvPr id="23" name="object 10">
            <a:extLst>
              <a:ext uri="{FF2B5EF4-FFF2-40B4-BE49-F238E27FC236}">
                <a16:creationId xmlns:a16="http://schemas.microsoft.com/office/drawing/2014/main" id="{E06345A9-DBA4-4DA9-27FA-31AAFD85124E}"/>
              </a:ext>
            </a:extLst>
          </p:cNvPr>
          <p:cNvSpPr txBox="1"/>
          <p:nvPr/>
        </p:nvSpPr>
        <p:spPr>
          <a:xfrm>
            <a:off x="163068" y="5032247"/>
            <a:ext cx="3522345" cy="1153795"/>
          </a:xfrm>
          <a:prstGeom prst="rect">
            <a:avLst/>
          </a:prstGeom>
          <a:solidFill>
            <a:srgbClr val="FFF1CC"/>
          </a:solidFill>
          <a:ln w="9525">
            <a:solidFill>
              <a:srgbClr val="FF0000"/>
            </a:solidFill>
          </a:ln>
        </p:spPr>
        <p:txBody>
          <a:bodyPr vert="horz" wrap="square" lIns="0" tIns="34290" rIns="0" bIns="0" rtlCol="0">
            <a:spAutoFit/>
          </a:bodyPr>
          <a:lstStyle/>
          <a:p>
            <a:pPr marL="91440" marR="196215" rtl="0">
              <a:spcBef>
                <a:spcPts val="270"/>
              </a:spcBef>
            </a:pPr>
            <a:r>
              <a:rPr sz="1600" kern="1200" spc="-5" dirty="0">
                <a:solidFill>
                  <a:prstClr val="black"/>
                </a:solidFill>
                <a:latin typeface="Palatino Linotype"/>
                <a:cs typeface="Palatino Linotype"/>
              </a:rPr>
              <a:t>This</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SDD is</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neither</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S-attributed</a:t>
            </a:r>
            <a:r>
              <a:rPr sz="1600" kern="1200" spc="25" dirty="0">
                <a:solidFill>
                  <a:prstClr val="black"/>
                </a:solidFill>
                <a:latin typeface="Palatino Linotype"/>
                <a:cs typeface="Palatino Linotype"/>
              </a:rPr>
              <a:t> </a:t>
            </a:r>
            <a:r>
              <a:rPr sz="1600" kern="1200" spc="-5" dirty="0">
                <a:solidFill>
                  <a:prstClr val="black"/>
                </a:solidFill>
                <a:latin typeface="Palatino Linotype"/>
                <a:cs typeface="Palatino Linotype"/>
              </a:rPr>
              <a:t>nor </a:t>
            </a:r>
            <a:r>
              <a:rPr sz="1600" kern="1200" spc="-385" dirty="0">
                <a:solidFill>
                  <a:prstClr val="black"/>
                </a:solidFill>
                <a:latin typeface="Palatino Linotype"/>
                <a:cs typeface="Palatino Linotype"/>
              </a:rPr>
              <a:t> </a:t>
            </a:r>
            <a:r>
              <a:rPr sz="1600" kern="1200" spc="-5" dirty="0">
                <a:solidFill>
                  <a:prstClr val="black"/>
                </a:solidFill>
                <a:latin typeface="Palatino Linotype"/>
                <a:cs typeface="Palatino Linotype"/>
              </a:rPr>
              <a:t>L-attributed.</a:t>
            </a:r>
            <a:endParaRPr sz="1600" kern="1200" dirty="0">
              <a:solidFill>
                <a:prstClr val="black"/>
              </a:solidFill>
              <a:latin typeface="Palatino Linotype"/>
              <a:cs typeface="Palatino Linotype"/>
            </a:endParaRPr>
          </a:p>
          <a:p>
            <a:pPr marL="91440" marR="201930" rtl="0">
              <a:spcBef>
                <a:spcPts val="600"/>
              </a:spcBef>
            </a:pPr>
            <a:r>
              <a:rPr sz="1600" kern="1200" spc="-5" dirty="0">
                <a:solidFill>
                  <a:prstClr val="black"/>
                </a:solidFill>
                <a:latin typeface="Palatino Linotype"/>
                <a:cs typeface="Palatino Linotype"/>
              </a:rPr>
              <a:t>Computing</a:t>
            </a:r>
            <a:r>
              <a:rPr sz="1600" kern="1200" spc="30" dirty="0">
                <a:solidFill>
                  <a:prstClr val="black"/>
                </a:solidFill>
                <a:latin typeface="Palatino Linotype"/>
                <a:cs typeface="Palatino Linotype"/>
              </a:rPr>
              <a:t> </a:t>
            </a:r>
            <a:r>
              <a:rPr sz="1600" kern="1200" spc="-10" dirty="0">
                <a:solidFill>
                  <a:prstClr val="black"/>
                </a:solidFill>
                <a:latin typeface="Palatino Linotype"/>
                <a:cs typeface="Palatino Linotype"/>
              </a:rPr>
              <a:t>the</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attributes</a:t>
            </a:r>
            <a:r>
              <a:rPr sz="1600" kern="1200" spc="20" dirty="0">
                <a:solidFill>
                  <a:prstClr val="black"/>
                </a:solidFill>
                <a:latin typeface="Palatino Linotype"/>
                <a:cs typeface="Palatino Linotype"/>
              </a:rPr>
              <a:t> </a:t>
            </a:r>
            <a:r>
              <a:rPr sz="1600" kern="1200" spc="-5" dirty="0">
                <a:solidFill>
                  <a:prstClr val="black"/>
                </a:solidFill>
                <a:latin typeface="Palatino Linotype"/>
                <a:cs typeface="Palatino Linotype"/>
              </a:rPr>
              <a:t>requires</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a </a:t>
            </a:r>
            <a:r>
              <a:rPr sz="1600" kern="1200" spc="-385" dirty="0">
                <a:solidFill>
                  <a:prstClr val="black"/>
                </a:solidFill>
                <a:latin typeface="Palatino Linotype"/>
                <a:cs typeface="Palatino Linotype"/>
              </a:rPr>
              <a:t> </a:t>
            </a:r>
            <a:r>
              <a:rPr sz="1600" kern="1200" spc="-5" dirty="0">
                <a:solidFill>
                  <a:prstClr val="black"/>
                </a:solidFill>
                <a:latin typeface="Palatino Linotype"/>
                <a:cs typeface="Palatino Linotype"/>
              </a:rPr>
              <a:t>separate pass after</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parsing.</a:t>
            </a:r>
            <a:endParaRPr sz="1600" kern="1200" dirty="0">
              <a:solidFill>
                <a:prstClr val="black"/>
              </a:solidFill>
              <a:latin typeface="Palatino Linotype"/>
              <a:cs typeface="Palatino Linotype"/>
            </a:endParaRPr>
          </a:p>
        </p:txBody>
      </p:sp>
      <p:sp>
        <p:nvSpPr>
          <p:cNvPr id="24" name="object 11">
            <a:extLst>
              <a:ext uri="{FF2B5EF4-FFF2-40B4-BE49-F238E27FC236}">
                <a16:creationId xmlns:a16="http://schemas.microsoft.com/office/drawing/2014/main" id="{52507C36-B36E-6CC1-9061-9CEC5BD536F5}"/>
              </a:ext>
            </a:extLst>
          </p:cNvPr>
          <p:cNvSpPr/>
          <p:nvPr/>
        </p:nvSpPr>
        <p:spPr>
          <a:xfrm>
            <a:off x="569810" y="3698621"/>
            <a:ext cx="3284220" cy="1325880"/>
          </a:xfrm>
          <a:custGeom>
            <a:avLst/>
            <a:gdLst/>
            <a:ahLst/>
            <a:cxnLst/>
            <a:rect l="l" t="t" r="r" b="b"/>
            <a:pathLst>
              <a:path w="3284220" h="1325879">
                <a:moveTo>
                  <a:pt x="381685" y="1284985"/>
                </a:moveTo>
                <a:lnTo>
                  <a:pt x="378155" y="1286890"/>
                </a:lnTo>
                <a:lnTo>
                  <a:pt x="376212" y="1293621"/>
                </a:lnTo>
                <a:lnTo>
                  <a:pt x="378155" y="1297177"/>
                </a:lnTo>
                <a:lnTo>
                  <a:pt x="381520" y="1298066"/>
                </a:lnTo>
                <a:lnTo>
                  <a:pt x="476719" y="1325626"/>
                </a:lnTo>
                <a:lnTo>
                  <a:pt x="475604" y="1320927"/>
                </a:lnTo>
                <a:lnTo>
                  <a:pt x="463435" y="1320927"/>
                </a:lnTo>
                <a:lnTo>
                  <a:pt x="447158" y="1303837"/>
                </a:lnTo>
                <a:lnTo>
                  <a:pt x="385051" y="1285874"/>
                </a:lnTo>
                <a:lnTo>
                  <a:pt x="381685" y="1284985"/>
                </a:lnTo>
                <a:close/>
              </a:path>
              <a:path w="3284220" h="1325879">
                <a:moveTo>
                  <a:pt x="447158" y="1303837"/>
                </a:moveTo>
                <a:lnTo>
                  <a:pt x="463435" y="1320927"/>
                </a:lnTo>
                <a:lnTo>
                  <a:pt x="466500" y="1318005"/>
                </a:lnTo>
                <a:lnTo>
                  <a:pt x="461848" y="1318005"/>
                </a:lnTo>
                <a:lnTo>
                  <a:pt x="459321" y="1307355"/>
                </a:lnTo>
                <a:lnTo>
                  <a:pt x="447158" y="1303837"/>
                </a:lnTo>
                <a:close/>
              </a:path>
              <a:path w="3284220" h="1325879">
                <a:moveTo>
                  <a:pt x="449605" y="1223645"/>
                </a:moveTo>
                <a:lnTo>
                  <a:pt x="446189" y="1224533"/>
                </a:lnTo>
                <a:lnTo>
                  <a:pt x="442772" y="1225295"/>
                </a:lnTo>
                <a:lnTo>
                  <a:pt x="440664" y="1228724"/>
                </a:lnTo>
                <a:lnTo>
                  <a:pt x="456424" y="1295145"/>
                </a:lnTo>
                <a:lnTo>
                  <a:pt x="472630" y="1312164"/>
                </a:lnTo>
                <a:lnTo>
                  <a:pt x="463435" y="1320927"/>
                </a:lnTo>
                <a:lnTo>
                  <a:pt x="475604" y="1320927"/>
                </a:lnTo>
                <a:lnTo>
                  <a:pt x="453021" y="1225803"/>
                </a:lnTo>
                <a:lnTo>
                  <a:pt x="449605" y="1223645"/>
                </a:lnTo>
                <a:close/>
              </a:path>
              <a:path w="3284220" h="1325879">
                <a:moveTo>
                  <a:pt x="459321" y="1307355"/>
                </a:moveTo>
                <a:lnTo>
                  <a:pt x="461848" y="1318005"/>
                </a:lnTo>
                <a:lnTo>
                  <a:pt x="469798" y="1310385"/>
                </a:lnTo>
                <a:lnTo>
                  <a:pt x="459321" y="1307355"/>
                </a:lnTo>
                <a:close/>
              </a:path>
              <a:path w="3284220" h="1325879">
                <a:moveTo>
                  <a:pt x="456424" y="1295145"/>
                </a:moveTo>
                <a:lnTo>
                  <a:pt x="459321" y="1307355"/>
                </a:lnTo>
                <a:lnTo>
                  <a:pt x="469798" y="1310385"/>
                </a:lnTo>
                <a:lnTo>
                  <a:pt x="461848" y="1318005"/>
                </a:lnTo>
                <a:lnTo>
                  <a:pt x="466500" y="1318005"/>
                </a:lnTo>
                <a:lnTo>
                  <a:pt x="472630" y="1312164"/>
                </a:lnTo>
                <a:lnTo>
                  <a:pt x="456424" y="1295145"/>
                </a:lnTo>
                <a:close/>
              </a:path>
              <a:path w="3284220" h="1325879">
                <a:moveTo>
                  <a:pt x="2031403" y="202945"/>
                </a:moveTo>
                <a:lnTo>
                  <a:pt x="1979968" y="210184"/>
                </a:lnTo>
                <a:lnTo>
                  <a:pt x="1925358" y="216788"/>
                </a:lnTo>
                <a:lnTo>
                  <a:pt x="1867573" y="223138"/>
                </a:lnTo>
                <a:lnTo>
                  <a:pt x="1867700" y="223138"/>
                </a:lnTo>
                <a:lnTo>
                  <a:pt x="1744129" y="234949"/>
                </a:lnTo>
                <a:lnTo>
                  <a:pt x="1744256" y="234949"/>
                </a:lnTo>
                <a:lnTo>
                  <a:pt x="1542961" y="251205"/>
                </a:lnTo>
                <a:lnTo>
                  <a:pt x="1110145" y="283209"/>
                </a:lnTo>
                <a:lnTo>
                  <a:pt x="822744" y="308355"/>
                </a:lnTo>
                <a:lnTo>
                  <a:pt x="685977" y="323341"/>
                </a:lnTo>
                <a:lnTo>
                  <a:pt x="620268" y="331469"/>
                </a:lnTo>
                <a:lnTo>
                  <a:pt x="556653" y="340232"/>
                </a:lnTo>
                <a:lnTo>
                  <a:pt x="495503" y="349630"/>
                </a:lnTo>
                <a:lnTo>
                  <a:pt x="437083" y="359536"/>
                </a:lnTo>
                <a:lnTo>
                  <a:pt x="381508" y="370204"/>
                </a:lnTo>
                <a:lnTo>
                  <a:pt x="329222" y="381761"/>
                </a:lnTo>
                <a:lnTo>
                  <a:pt x="280441" y="394080"/>
                </a:lnTo>
                <a:lnTo>
                  <a:pt x="235419" y="407161"/>
                </a:lnTo>
                <a:lnTo>
                  <a:pt x="194424" y="421131"/>
                </a:lnTo>
                <a:lnTo>
                  <a:pt x="157657" y="436244"/>
                </a:lnTo>
                <a:lnTo>
                  <a:pt x="98082" y="469645"/>
                </a:lnTo>
                <a:lnTo>
                  <a:pt x="64617" y="497458"/>
                </a:lnTo>
                <a:lnTo>
                  <a:pt x="38392" y="527176"/>
                </a:lnTo>
                <a:lnTo>
                  <a:pt x="14376" y="569976"/>
                </a:lnTo>
                <a:lnTo>
                  <a:pt x="2070" y="615568"/>
                </a:lnTo>
                <a:lnTo>
                  <a:pt x="0" y="639444"/>
                </a:lnTo>
                <a:lnTo>
                  <a:pt x="0" y="651636"/>
                </a:lnTo>
                <a:lnTo>
                  <a:pt x="6146" y="701420"/>
                </a:lnTo>
                <a:lnTo>
                  <a:pt x="16802" y="740282"/>
                </a:lnTo>
                <a:lnTo>
                  <a:pt x="38417" y="793622"/>
                </a:lnTo>
                <a:lnTo>
                  <a:pt x="67640" y="848613"/>
                </a:lnTo>
                <a:lnTo>
                  <a:pt x="103593" y="905382"/>
                </a:lnTo>
                <a:lnTo>
                  <a:pt x="145313" y="963421"/>
                </a:lnTo>
                <a:lnTo>
                  <a:pt x="192138" y="1022603"/>
                </a:lnTo>
                <a:lnTo>
                  <a:pt x="217157" y="1052702"/>
                </a:lnTo>
                <a:lnTo>
                  <a:pt x="243116" y="1082928"/>
                </a:lnTo>
                <a:lnTo>
                  <a:pt x="269938" y="1113281"/>
                </a:lnTo>
                <a:lnTo>
                  <a:pt x="297497" y="1144015"/>
                </a:lnTo>
                <a:lnTo>
                  <a:pt x="325628" y="1174749"/>
                </a:lnTo>
                <a:lnTo>
                  <a:pt x="354330" y="1205610"/>
                </a:lnTo>
                <a:lnTo>
                  <a:pt x="412750" y="1267714"/>
                </a:lnTo>
                <a:lnTo>
                  <a:pt x="447158" y="1303837"/>
                </a:lnTo>
                <a:lnTo>
                  <a:pt x="459321" y="1307355"/>
                </a:lnTo>
                <a:lnTo>
                  <a:pt x="456424" y="1295145"/>
                </a:lnTo>
                <a:lnTo>
                  <a:pt x="421957" y="1258951"/>
                </a:lnTo>
                <a:lnTo>
                  <a:pt x="363601" y="1196974"/>
                </a:lnTo>
                <a:lnTo>
                  <a:pt x="335067" y="1166240"/>
                </a:lnTo>
                <a:lnTo>
                  <a:pt x="307011" y="1135506"/>
                </a:lnTo>
                <a:lnTo>
                  <a:pt x="279400" y="1104899"/>
                </a:lnTo>
                <a:lnTo>
                  <a:pt x="252679" y="1074546"/>
                </a:lnTo>
                <a:lnTo>
                  <a:pt x="226822" y="1044447"/>
                </a:lnTo>
                <a:lnTo>
                  <a:pt x="201917" y="1014602"/>
                </a:lnTo>
                <a:lnTo>
                  <a:pt x="178194" y="985011"/>
                </a:lnTo>
                <a:lnTo>
                  <a:pt x="155392" y="955674"/>
                </a:lnTo>
                <a:lnTo>
                  <a:pt x="134154" y="926845"/>
                </a:lnTo>
                <a:lnTo>
                  <a:pt x="114134" y="898270"/>
                </a:lnTo>
                <a:lnTo>
                  <a:pt x="95562" y="870076"/>
                </a:lnTo>
                <a:lnTo>
                  <a:pt x="95515" y="869949"/>
                </a:lnTo>
                <a:lnTo>
                  <a:pt x="78704" y="842390"/>
                </a:lnTo>
                <a:lnTo>
                  <a:pt x="63476" y="815085"/>
                </a:lnTo>
                <a:lnTo>
                  <a:pt x="49847" y="788034"/>
                </a:lnTo>
                <a:lnTo>
                  <a:pt x="38533" y="762126"/>
                </a:lnTo>
                <a:lnTo>
                  <a:pt x="28979" y="736472"/>
                </a:lnTo>
                <a:lnTo>
                  <a:pt x="21474" y="711199"/>
                </a:lnTo>
                <a:lnTo>
                  <a:pt x="21428" y="710945"/>
                </a:lnTo>
                <a:lnTo>
                  <a:pt x="18543" y="698626"/>
                </a:lnTo>
                <a:lnTo>
                  <a:pt x="16254" y="686815"/>
                </a:lnTo>
                <a:lnTo>
                  <a:pt x="14452" y="674496"/>
                </a:lnTo>
                <a:lnTo>
                  <a:pt x="13271" y="663066"/>
                </a:lnTo>
                <a:lnTo>
                  <a:pt x="12700" y="651382"/>
                </a:lnTo>
                <a:lnTo>
                  <a:pt x="12728" y="639444"/>
                </a:lnTo>
                <a:lnTo>
                  <a:pt x="13338" y="628649"/>
                </a:lnTo>
                <a:lnTo>
                  <a:pt x="14624" y="617601"/>
                </a:lnTo>
                <a:lnTo>
                  <a:pt x="16438" y="606678"/>
                </a:lnTo>
                <a:lnTo>
                  <a:pt x="19009" y="595883"/>
                </a:lnTo>
                <a:lnTo>
                  <a:pt x="22261" y="585215"/>
                </a:lnTo>
                <a:lnTo>
                  <a:pt x="26117" y="574801"/>
                </a:lnTo>
                <a:lnTo>
                  <a:pt x="30580" y="564514"/>
                </a:lnTo>
                <a:lnTo>
                  <a:pt x="35857" y="554481"/>
                </a:lnTo>
                <a:lnTo>
                  <a:pt x="41986" y="544194"/>
                </a:lnTo>
                <a:lnTo>
                  <a:pt x="48541" y="534796"/>
                </a:lnTo>
                <a:lnTo>
                  <a:pt x="56222" y="524890"/>
                </a:lnTo>
                <a:lnTo>
                  <a:pt x="64241" y="515873"/>
                </a:lnTo>
                <a:lnTo>
                  <a:pt x="73419" y="506602"/>
                </a:lnTo>
                <a:lnTo>
                  <a:pt x="83337" y="497458"/>
                </a:lnTo>
                <a:lnTo>
                  <a:pt x="94030" y="488568"/>
                </a:lnTo>
                <a:lnTo>
                  <a:pt x="105202" y="480186"/>
                </a:lnTo>
                <a:lnTo>
                  <a:pt x="131549" y="463549"/>
                </a:lnTo>
                <a:lnTo>
                  <a:pt x="131394" y="463549"/>
                </a:lnTo>
                <a:lnTo>
                  <a:pt x="162862" y="447928"/>
                </a:lnTo>
                <a:lnTo>
                  <a:pt x="162699" y="447928"/>
                </a:lnTo>
                <a:lnTo>
                  <a:pt x="199085" y="432942"/>
                </a:lnTo>
                <a:lnTo>
                  <a:pt x="199456" y="432942"/>
                </a:lnTo>
                <a:lnTo>
                  <a:pt x="239395" y="419226"/>
                </a:lnTo>
                <a:lnTo>
                  <a:pt x="239550" y="419226"/>
                </a:lnTo>
                <a:lnTo>
                  <a:pt x="283883" y="406272"/>
                </a:lnTo>
                <a:lnTo>
                  <a:pt x="283667" y="406272"/>
                </a:lnTo>
                <a:lnTo>
                  <a:pt x="332244" y="394080"/>
                </a:lnTo>
                <a:lnTo>
                  <a:pt x="332041" y="394080"/>
                </a:lnTo>
                <a:lnTo>
                  <a:pt x="384149" y="382650"/>
                </a:lnTo>
                <a:lnTo>
                  <a:pt x="383984" y="382650"/>
                </a:lnTo>
                <a:lnTo>
                  <a:pt x="439420" y="371982"/>
                </a:lnTo>
                <a:lnTo>
                  <a:pt x="440027" y="371982"/>
                </a:lnTo>
                <a:lnTo>
                  <a:pt x="497573" y="362203"/>
                </a:lnTo>
                <a:lnTo>
                  <a:pt x="558533" y="352805"/>
                </a:lnTo>
                <a:lnTo>
                  <a:pt x="621969" y="344042"/>
                </a:lnTo>
                <a:lnTo>
                  <a:pt x="687514" y="335914"/>
                </a:lnTo>
                <a:lnTo>
                  <a:pt x="824014" y="321055"/>
                </a:lnTo>
                <a:lnTo>
                  <a:pt x="1111161" y="295909"/>
                </a:lnTo>
                <a:lnTo>
                  <a:pt x="1745272" y="247649"/>
                </a:lnTo>
                <a:lnTo>
                  <a:pt x="1868970" y="235838"/>
                </a:lnTo>
                <a:lnTo>
                  <a:pt x="1981746" y="222757"/>
                </a:lnTo>
                <a:lnTo>
                  <a:pt x="2033308" y="215518"/>
                </a:lnTo>
                <a:lnTo>
                  <a:pt x="2109953" y="203072"/>
                </a:lnTo>
                <a:lnTo>
                  <a:pt x="2031276" y="203072"/>
                </a:lnTo>
                <a:close/>
              </a:path>
              <a:path w="3284220" h="1325879">
                <a:moveTo>
                  <a:pt x="334949" y="1166114"/>
                </a:moveTo>
                <a:close/>
              </a:path>
              <a:path w="3284220" h="1325879">
                <a:moveTo>
                  <a:pt x="306895" y="1135379"/>
                </a:moveTo>
                <a:close/>
              </a:path>
              <a:path w="3284220" h="1325879">
                <a:moveTo>
                  <a:pt x="178092" y="984884"/>
                </a:moveTo>
                <a:close/>
              </a:path>
              <a:path w="3284220" h="1325879">
                <a:moveTo>
                  <a:pt x="155397" y="955674"/>
                </a:moveTo>
                <a:lnTo>
                  <a:pt x="155486" y="955801"/>
                </a:lnTo>
                <a:lnTo>
                  <a:pt x="155397" y="955674"/>
                </a:lnTo>
                <a:close/>
              </a:path>
              <a:path w="3284220" h="1325879">
                <a:moveTo>
                  <a:pt x="134061" y="926718"/>
                </a:moveTo>
                <a:lnTo>
                  <a:pt x="134137" y="926845"/>
                </a:lnTo>
                <a:lnTo>
                  <a:pt x="134061" y="926718"/>
                </a:lnTo>
                <a:close/>
              </a:path>
              <a:path w="3284220" h="1325879">
                <a:moveTo>
                  <a:pt x="114063" y="898143"/>
                </a:moveTo>
                <a:lnTo>
                  <a:pt x="114147" y="898270"/>
                </a:lnTo>
                <a:lnTo>
                  <a:pt x="114063" y="898143"/>
                </a:lnTo>
                <a:close/>
              </a:path>
              <a:path w="3284220" h="1325879">
                <a:moveTo>
                  <a:pt x="95515" y="869949"/>
                </a:moveTo>
                <a:lnTo>
                  <a:pt x="95592" y="870076"/>
                </a:lnTo>
                <a:lnTo>
                  <a:pt x="95515" y="869949"/>
                </a:lnTo>
                <a:close/>
              </a:path>
              <a:path w="3284220" h="1325879">
                <a:moveTo>
                  <a:pt x="78549" y="842136"/>
                </a:moveTo>
                <a:lnTo>
                  <a:pt x="78676" y="842390"/>
                </a:lnTo>
                <a:lnTo>
                  <a:pt x="78549" y="842136"/>
                </a:lnTo>
                <a:close/>
              </a:path>
              <a:path w="3284220" h="1325879">
                <a:moveTo>
                  <a:pt x="63334" y="814831"/>
                </a:moveTo>
                <a:lnTo>
                  <a:pt x="63461" y="815085"/>
                </a:lnTo>
                <a:lnTo>
                  <a:pt x="63334" y="814831"/>
                </a:lnTo>
                <a:close/>
              </a:path>
              <a:path w="3284220" h="1325879">
                <a:moveTo>
                  <a:pt x="49875" y="788034"/>
                </a:moveTo>
                <a:lnTo>
                  <a:pt x="49987" y="788288"/>
                </a:lnTo>
                <a:lnTo>
                  <a:pt x="49875" y="788034"/>
                </a:lnTo>
                <a:close/>
              </a:path>
              <a:path w="3284220" h="1325879">
                <a:moveTo>
                  <a:pt x="38366" y="761745"/>
                </a:moveTo>
                <a:lnTo>
                  <a:pt x="38506" y="762126"/>
                </a:lnTo>
                <a:lnTo>
                  <a:pt x="38366" y="761745"/>
                </a:lnTo>
                <a:close/>
              </a:path>
              <a:path w="3284220" h="1325879">
                <a:moveTo>
                  <a:pt x="28790" y="735964"/>
                </a:moveTo>
                <a:lnTo>
                  <a:pt x="28930" y="736472"/>
                </a:lnTo>
                <a:lnTo>
                  <a:pt x="28790" y="735964"/>
                </a:lnTo>
                <a:close/>
              </a:path>
              <a:path w="3284220" h="1325879">
                <a:moveTo>
                  <a:pt x="21428" y="710945"/>
                </a:moveTo>
                <a:lnTo>
                  <a:pt x="21488" y="711199"/>
                </a:lnTo>
                <a:lnTo>
                  <a:pt x="21428" y="710945"/>
                </a:lnTo>
                <a:close/>
              </a:path>
              <a:path w="3284220" h="1325879">
                <a:moveTo>
                  <a:pt x="18551" y="698665"/>
                </a:moveTo>
                <a:lnTo>
                  <a:pt x="18592" y="698880"/>
                </a:lnTo>
                <a:lnTo>
                  <a:pt x="18551" y="698665"/>
                </a:lnTo>
                <a:close/>
              </a:path>
              <a:path w="3284220" h="1325879">
                <a:moveTo>
                  <a:pt x="18543" y="698626"/>
                </a:moveTo>
                <a:close/>
              </a:path>
              <a:path w="3284220" h="1325879">
                <a:moveTo>
                  <a:pt x="16218" y="686561"/>
                </a:moveTo>
                <a:lnTo>
                  <a:pt x="16256" y="686815"/>
                </a:lnTo>
                <a:lnTo>
                  <a:pt x="16218" y="686561"/>
                </a:lnTo>
                <a:close/>
              </a:path>
              <a:path w="3284220" h="1325879">
                <a:moveTo>
                  <a:pt x="14452" y="674496"/>
                </a:moveTo>
                <a:lnTo>
                  <a:pt x="14478" y="674751"/>
                </a:lnTo>
                <a:lnTo>
                  <a:pt x="14452" y="674496"/>
                </a:lnTo>
                <a:close/>
              </a:path>
              <a:path w="3284220" h="1325879">
                <a:moveTo>
                  <a:pt x="13259" y="662818"/>
                </a:moveTo>
                <a:lnTo>
                  <a:pt x="13271" y="663066"/>
                </a:lnTo>
                <a:lnTo>
                  <a:pt x="13259" y="662818"/>
                </a:lnTo>
                <a:close/>
              </a:path>
              <a:path w="3284220" h="1325879">
                <a:moveTo>
                  <a:pt x="13253" y="662685"/>
                </a:moveTo>
                <a:lnTo>
                  <a:pt x="13259" y="662818"/>
                </a:lnTo>
                <a:lnTo>
                  <a:pt x="13253" y="662685"/>
                </a:lnTo>
                <a:close/>
              </a:path>
              <a:path w="3284220" h="1325879">
                <a:moveTo>
                  <a:pt x="12721" y="639571"/>
                </a:moveTo>
                <a:lnTo>
                  <a:pt x="12700" y="639952"/>
                </a:lnTo>
                <a:lnTo>
                  <a:pt x="12721" y="639571"/>
                </a:lnTo>
                <a:close/>
              </a:path>
              <a:path w="3284220" h="1325879">
                <a:moveTo>
                  <a:pt x="13379" y="628268"/>
                </a:moveTo>
                <a:lnTo>
                  <a:pt x="13342" y="628585"/>
                </a:lnTo>
                <a:lnTo>
                  <a:pt x="13379" y="628268"/>
                </a:lnTo>
                <a:close/>
              </a:path>
              <a:path w="3284220" h="1325879">
                <a:moveTo>
                  <a:pt x="16555" y="606170"/>
                </a:moveTo>
                <a:lnTo>
                  <a:pt x="16447" y="606620"/>
                </a:lnTo>
                <a:lnTo>
                  <a:pt x="16555" y="606170"/>
                </a:lnTo>
                <a:close/>
              </a:path>
              <a:path w="3284220" h="1325879">
                <a:moveTo>
                  <a:pt x="19115" y="595502"/>
                </a:moveTo>
                <a:lnTo>
                  <a:pt x="19047" y="595725"/>
                </a:lnTo>
                <a:lnTo>
                  <a:pt x="19115" y="595502"/>
                </a:lnTo>
                <a:close/>
              </a:path>
              <a:path w="3284220" h="1325879">
                <a:moveTo>
                  <a:pt x="22339" y="584961"/>
                </a:moveTo>
                <a:lnTo>
                  <a:pt x="22212" y="585215"/>
                </a:lnTo>
                <a:lnTo>
                  <a:pt x="22339" y="584961"/>
                </a:lnTo>
                <a:close/>
              </a:path>
              <a:path w="3284220" h="1325879">
                <a:moveTo>
                  <a:pt x="26212" y="574547"/>
                </a:moveTo>
                <a:lnTo>
                  <a:pt x="26085" y="574801"/>
                </a:lnTo>
                <a:lnTo>
                  <a:pt x="26212" y="574547"/>
                </a:lnTo>
                <a:close/>
              </a:path>
              <a:path w="3284220" h="1325879">
                <a:moveTo>
                  <a:pt x="30695" y="564252"/>
                </a:moveTo>
                <a:lnTo>
                  <a:pt x="30556" y="564514"/>
                </a:lnTo>
                <a:lnTo>
                  <a:pt x="30695" y="564252"/>
                </a:lnTo>
                <a:close/>
              </a:path>
              <a:path w="3284220" h="1325879">
                <a:moveTo>
                  <a:pt x="35991" y="554227"/>
                </a:moveTo>
                <a:lnTo>
                  <a:pt x="35801" y="554481"/>
                </a:lnTo>
                <a:lnTo>
                  <a:pt x="35991" y="554227"/>
                </a:lnTo>
                <a:close/>
              </a:path>
              <a:path w="3284220" h="1325879">
                <a:moveTo>
                  <a:pt x="42034" y="544194"/>
                </a:moveTo>
                <a:lnTo>
                  <a:pt x="41770" y="544576"/>
                </a:lnTo>
                <a:lnTo>
                  <a:pt x="42034" y="544194"/>
                </a:lnTo>
                <a:close/>
              </a:path>
              <a:path w="3284220" h="1325879">
                <a:moveTo>
                  <a:pt x="48717" y="534542"/>
                </a:moveTo>
                <a:lnTo>
                  <a:pt x="48514" y="534796"/>
                </a:lnTo>
                <a:lnTo>
                  <a:pt x="48717" y="534542"/>
                </a:lnTo>
                <a:close/>
              </a:path>
              <a:path w="3284220" h="1325879">
                <a:moveTo>
                  <a:pt x="56316" y="524890"/>
                </a:moveTo>
                <a:lnTo>
                  <a:pt x="55981" y="525271"/>
                </a:lnTo>
                <a:lnTo>
                  <a:pt x="56316" y="524890"/>
                </a:lnTo>
                <a:close/>
              </a:path>
              <a:path w="3284220" h="1325879">
                <a:moveTo>
                  <a:pt x="64465" y="515619"/>
                </a:moveTo>
                <a:lnTo>
                  <a:pt x="64211" y="515873"/>
                </a:lnTo>
                <a:lnTo>
                  <a:pt x="64465" y="515619"/>
                </a:lnTo>
                <a:close/>
              </a:path>
              <a:path w="3284220" h="1325879">
                <a:moveTo>
                  <a:pt x="73545" y="506475"/>
                </a:moveTo>
                <a:lnTo>
                  <a:pt x="73342" y="506602"/>
                </a:lnTo>
                <a:lnTo>
                  <a:pt x="73545" y="506475"/>
                </a:lnTo>
                <a:close/>
              </a:path>
              <a:path w="3284220" h="1325879">
                <a:moveTo>
                  <a:pt x="83375" y="497458"/>
                </a:moveTo>
                <a:lnTo>
                  <a:pt x="83070" y="497712"/>
                </a:lnTo>
                <a:lnTo>
                  <a:pt x="83375" y="497458"/>
                </a:lnTo>
                <a:close/>
              </a:path>
              <a:path w="3284220" h="1325879">
                <a:moveTo>
                  <a:pt x="94149" y="488568"/>
                </a:moveTo>
                <a:lnTo>
                  <a:pt x="93814" y="488822"/>
                </a:lnTo>
                <a:lnTo>
                  <a:pt x="94149" y="488568"/>
                </a:lnTo>
                <a:close/>
              </a:path>
              <a:path w="3284220" h="1325879">
                <a:moveTo>
                  <a:pt x="105537" y="479932"/>
                </a:moveTo>
                <a:lnTo>
                  <a:pt x="105092" y="480186"/>
                </a:lnTo>
                <a:lnTo>
                  <a:pt x="105537" y="479932"/>
                </a:lnTo>
                <a:close/>
              </a:path>
              <a:path w="3284220" h="1325879">
                <a:moveTo>
                  <a:pt x="131953" y="463295"/>
                </a:moveTo>
                <a:lnTo>
                  <a:pt x="131394" y="463549"/>
                </a:lnTo>
                <a:lnTo>
                  <a:pt x="131549" y="463549"/>
                </a:lnTo>
                <a:lnTo>
                  <a:pt x="131953" y="463295"/>
                </a:lnTo>
                <a:close/>
              </a:path>
              <a:path w="3284220" h="1325879">
                <a:moveTo>
                  <a:pt x="163118" y="447801"/>
                </a:moveTo>
                <a:lnTo>
                  <a:pt x="162699" y="447928"/>
                </a:lnTo>
                <a:lnTo>
                  <a:pt x="162862" y="447928"/>
                </a:lnTo>
                <a:lnTo>
                  <a:pt x="163118" y="447801"/>
                </a:lnTo>
                <a:close/>
              </a:path>
              <a:path w="3284220" h="1325879">
                <a:moveTo>
                  <a:pt x="199456" y="432942"/>
                </a:moveTo>
                <a:lnTo>
                  <a:pt x="199085" y="432942"/>
                </a:lnTo>
                <a:lnTo>
                  <a:pt x="198716" y="433196"/>
                </a:lnTo>
                <a:lnTo>
                  <a:pt x="199456" y="432942"/>
                </a:lnTo>
                <a:close/>
              </a:path>
              <a:path w="3284220" h="1325879">
                <a:moveTo>
                  <a:pt x="239550" y="419226"/>
                </a:moveTo>
                <a:lnTo>
                  <a:pt x="239395" y="419226"/>
                </a:lnTo>
                <a:lnTo>
                  <a:pt x="239115" y="419353"/>
                </a:lnTo>
                <a:lnTo>
                  <a:pt x="239550" y="419226"/>
                </a:lnTo>
                <a:close/>
              </a:path>
              <a:path w="3284220" h="1325879">
                <a:moveTo>
                  <a:pt x="440027" y="371982"/>
                </a:moveTo>
                <a:lnTo>
                  <a:pt x="439420" y="371982"/>
                </a:lnTo>
                <a:lnTo>
                  <a:pt x="439280" y="372109"/>
                </a:lnTo>
                <a:lnTo>
                  <a:pt x="440027" y="371982"/>
                </a:lnTo>
                <a:close/>
              </a:path>
              <a:path w="3284220" h="1325879">
                <a:moveTo>
                  <a:pt x="3281845" y="0"/>
                </a:moveTo>
                <a:lnTo>
                  <a:pt x="2031276" y="203072"/>
                </a:lnTo>
                <a:lnTo>
                  <a:pt x="2109953" y="203072"/>
                </a:lnTo>
                <a:lnTo>
                  <a:pt x="3283877" y="12445"/>
                </a:lnTo>
                <a:lnTo>
                  <a:pt x="3281845" y="0"/>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97662769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83</a:t>
            </a:fld>
            <a:endParaRPr lang="en-US"/>
          </a:p>
        </p:txBody>
      </p:sp>
      <p:sp>
        <p:nvSpPr>
          <p:cNvPr id="15" name="object 2">
            <a:extLst>
              <a:ext uri="{FF2B5EF4-FFF2-40B4-BE49-F238E27FC236}">
                <a16:creationId xmlns:a16="http://schemas.microsoft.com/office/drawing/2014/main" id="{32AB76BF-2825-2049-D286-D43DE684D052}"/>
              </a:ext>
            </a:extLst>
          </p:cNvPr>
          <p:cNvSpPr txBox="1">
            <a:spLocks/>
          </p:cNvSpPr>
          <p:nvPr/>
        </p:nvSpPr>
        <p:spPr>
          <a:xfrm>
            <a:off x="707542" y="585342"/>
            <a:ext cx="7663180" cy="52832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300" b="1" i="0" u="none" strike="noStrike" kern="0" cap="none" spc="0" normalizeH="0" baseline="0" noProof="0">
                <a:ln>
                  <a:noFill/>
                </a:ln>
                <a:solidFill>
                  <a:sysClr val="windowText" lastClr="000000"/>
                </a:solidFill>
                <a:effectLst/>
                <a:uLnTx/>
                <a:uFillTx/>
                <a:latin typeface="Palatino Linotype"/>
                <a:ea typeface="+mj-ea"/>
              </a:rPr>
              <a:t>SDD</a:t>
            </a:r>
            <a:r>
              <a:rPr kumimoji="0" lang="en-US" sz="3300" b="1" i="0" u="none" strike="noStrike" kern="0" cap="none" spc="-15" normalizeH="0" baseline="0" noProof="0">
                <a:ln>
                  <a:noFill/>
                </a:ln>
                <a:solidFill>
                  <a:sysClr val="windowText" lastClr="000000"/>
                </a:solidFill>
                <a:effectLst/>
                <a:uLnTx/>
                <a:uFillTx/>
                <a:latin typeface="Palatino Linotype"/>
                <a:ea typeface="+mj-ea"/>
              </a:rPr>
              <a:t> </a:t>
            </a:r>
            <a:r>
              <a:rPr kumimoji="0" lang="en-US" sz="3300" b="1" i="0" u="none" strike="noStrike" kern="0" cap="none" spc="-5" normalizeH="0" baseline="0" noProof="0">
                <a:ln>
                  <a:noFill/>
                </a:ln>
                <a:solidFill>
                  <a:sysClr val="windowText" lastClr="000000"/>
                </a:solidFill>
                <a:effectLst/>
                <a:uLnTx/>
                <a:uFillTx/>
                <a:latin typeface="Palatino Linotype"/>
                <a:ea typeface="+mj-ea"/>
              </a:rPr>
              <a:t>for Flow-of-Control </a:t>
            </a:r>
            <a:r>
              <a:rPr kumimoji="0" lang="en-US" sz="3300" b="1" i="0" u="none" strike="noStrike" kern="0" cap="none" spc="0" normalizeH="0" baseline="0" noProof="0">
                <a:ln>
                  <a:noFill/>
                </a:ln>
                <a:solidFill>
                  <a:sysClr val="windowText" lastClr="000000"/>
                </a:solidFill>
                <a:effectLst/>
                <a:uLnTx/>
                <a:uFillTx/>
                <a:latin typeface="Palatino Linotype"/>
                <a:ea typeface="+mj-ea"/>
              </a:rPr>
              <a:t>Statements</a:t>
            </a:r>
            <a:r>
              <a:rPr kumimoji="0" lang="en-US" sz="3300" b="1" i="0" u="none" strike="noStrike" kern="0" cap="none" spc="-35" normalizeH="0" baseline="0" noProof="0">
                <a:ln>
                  <a:noFill/>
                </a:ln>
                <a:solidFill>
                  <a:sysClr val="windowText" lastClr="000000"/>
                </a:solidFill>
                <a:effectLst/>
                <a:uLnTx/>
                <a:uFillTx/>
                <a:latin typeface="Palatino Linotype"/>
                <a:ea typeface="+mj-ea"/>
              </a:rPr>
              <a:t> </a:t>
            </a:r>
            <a:r>
              <a:rPr kumimoji="0" lang="en-US" sz="3300" b="1" i="0" u="none" strike="noStrike" kern="0" cap="none" spc="0" normalizeH="0" baseline="0" noProof="0">
                <a:ln>
                  <a:noFill/>
                </a:ln>
                <a:solidFill>
                  <a:sysClr val="windowText" lastClr="000000"/>
                </a:solidFill>
                <a:effectLst/>
                <a:uLnTx/>
                <a:uFillTx/>
                <a:latin typeface="Palatino Linotype"/>
                <a:ea typeface="+mj-ea"/>
              </a:rPr>
              <a:t>(1)</a:t>
            </a:r>
          </a:p>
        </p:txBody>
      </p:sp>
      <p:grpSp>
        <p:nvGrpSpPr>
          <p:cNvPr id="16" name="object 3">
            <a:extLst>
              <a:ext uri="{FF2B5EF4-FFF2-40B4-BE49-F238E27FC236}">
                <a16:creationId xmlns:a16="http://schemas.microsoft.com/office/drawing/2014/main" id="{2C2B30A5-3DBB-BD15-B997-4AC1CAED02D9}"/>
              </a:ext>
            </a:extLst>
          </p:cNvPr>
          <p:cNvGrpSpPr/>
          <p:nvPr/>
        </p:nvGrpSpPr>
        <p:grpSpPr>
          <a:xfrm>
            <a:off x="1344755" y="1461777"/>
            <a:ext cx="6586951" cy="4508378"/>
            <a:chOff x="482108" y="3409286"/>
            <a:chExt cx="6586951" cy="4508378"/>
          </a:xfrm>
        </p:grpSpPr>
        <p:pic>
          <p:nvPicPr>
            <p:cNvPr id="17" name="object 4">
              <a:extLst>
                <a:ext uri="{FF2B5EF4-FFF2-40B4-BE49-F238E27FC236}">
                  <a16:creationId xmlns:a16="http://schemas.microsoft.com/office/drawing/2014/main" id="{AC04E28A-176B-9E66-2ED6-A1F10A4A6816}"/>
                </a:ext>
              </a:extLst>
            </p:cNvPr>
            <p:cNvPicPr/>
            <p:nvPr/>
          </p:nvPicPr>
          <p:blipFill>
            <a:blip r:embed="rId3" cstate="print"/>
            <a:stretch>
              <a:fillRect/>
            </a:stretch>
          </p:blipFill>
          <p:spPr>
            <a:xfrm>
              <a:off x="482108" y="3409286"/>
              <a:ext cx="6586951" cy="4508378"/>
            </a:xfrm>
            <a:prstGeom prst="rect">
              <a:avLst/>
            </a:prstGeom>
          </p:spPr>
        </p:pic>
        <p:sp>
          <p:nvSpPr>
            <p:cNvPr id="18" name="object 5">
              <a:extLst>
                <a:ext uri="{FF2B5EF4-FFF2-40B4-BE49-F238E27FC236}">
                  <a16:creationId xmlns:a16="http://schemas.microsoft.com/office/drawing/2014/main" id="{C0B350FC-FEA0-2FEF-5BD2-3DEB60FF475F}"/>
                </a:ext>
              </a:extLst>
            </p:cNvPr>
            <p:cNvSpPr/>
            <p:nvPr/>
          </p:nvSpPr>
          <p:spPr>
            <a:xfrm>
              <a:off x="3046804" y="4945685"/>
              <a:ext cx="3957954" cy="912819"/>
            </a:xfrm>
            <a:custGeom>
              <a:avLst/>
              <a:gdLst/>
              <a:ahLst/>
              <a:cxnLst/>
              <a:rect l="l" t="t" r="r" b="b"/>
              <a:pathLst>
                <a:path w="3957954" h="2931160">
                  <a:moveTo>
                    <a:pt x="0" y="2930652"/>
                  </a:moveTo>
                  <a:lnTo>
                    <a:pt x="3957828" y="2930652"/>
                  </a:lnTo>
                  <a:lnTo>
                    <a:pt x="3957828" y="0"/>
                  </a:lnTo>
                  <a:lnTo>
                    <a:pt x="0" y="0"/>
                  </a:lnTo>
                  <a:lnTo>
                    <a:pt x="0" y="2930652"/>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pic>
        <p:nvPicPr>
          <p:cNvPr id="2" name="图片 1">
            <a:extLst>
              <a:ext uri="{FF2B5EF4-FFF2-40B4-BE49-F238E27FC236}">
                <a16:creationId xmlns:a16="http://schemas.microsoft.com/office/drawing/2014/main" id="{61AEEB39-2F7A-4FF9-A133-B5ADF94DB061}"/>
              </a:ext>
            </a:extLst>
          </p:cNvPr>
          <p:cNvPicPr>
            <a:picLocks noChangeAspect="1"/>
          </p:cNvPicPr>
          <p:nvPr/>
        </p:nvPicPr>
        <p:blipFill>
          <a:blip r:embed="rId4"/>
          <a:stretch>
            <a:fillRect/>
          </a:stretch>
        </p:blipFill>
        <p:spPr>
          <a:xfrm>
            <a:off x="1276595" y="1552393"/>
            <a:ext cx="2536121" cy="1421066"/>
          </a:xfrm>
          <a:prstGeom prst="rect">
            <a:avLst/>
          </a:prstGeom>
        </p:spPr>
      </p:pic>
    </p:spTree>
    <p:extLst>
      <p:ext uri="{BB962C8B-B14F-4D97-AF65-F5344CB8AC3E}">
        <p14:creationId xmlns:p14="http://schemas.microsoft.com/office/powerpoint/2010/main" val="121188910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84</a:t>
            </a:fld>
            <a:endParaRPr lang="en-US"/>
          </a:p>
        </p:txBody>
      </p:sp>
      <p:sp>
        <p:nvSpPr>
          <p:cNvPr id="15" name="object 2">
            <a:extLst>
              <a:ext uri="{FF2B5EF4-FFF2-40B4-BE49-F238E27FC236}">
                <a16:creationId xmlns:a16="http://schemas.microsoft.com/office/drawing/2014/main" id="{32AB76BF-2825-2049-D286-D43DE684D052}"/>
              </a:ext>
            </a:extLst>
          </p:cNvPr>
          <p:cNvSpPr txBox="1">
            <a:spLocks/>
          </p:cNvSpPr>
          <p:nvPr/>
        </p:nvSpPr>
        <p:spPr>
          <a:xfrm>
            <a:off x="707542" y="585342"/>
            <a:ext cx="7663180" cy="52832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300" b="1" i="0" u="none" strike="noStrike" kern="0" cap="none" spc="0" normalizeH="0" baseline="0" noProof="0">
                <a:ln>
                  <a:noFill/>
                </a:ln>
                <a:solidFill>
                  <a:sysClr val="windowText" lastClr="000000"/>
                </a:solidFill>
                <a:effectLst/>
                <a:uLnTx/>
                <a:uFillTx/>
                <a:latin typeface="Palatino Linotype"/>
                <a:ea typeface="+mj-ea"/>
              </a:rPr>
              <a:t>SDD</a:t>
            </a:r>
            <a:r>
              <a:rPr kumimoji="0" lang="en-US" sz="3300" b="1" i="0" u="none" strike="noStrike" kern="0" cap="none" spc="-15" normalizeH="0" baseline="0" noProof="0">
                <a:ln>
                  <a:noFill/>
                </a:ln>
                <a:solidFill>
                  <a:sysClr val="windowText" lastClr="000000"/>
                </a:solidFill>
                <a:effectLst/>
                <a:uLnTx/>
                <a:uFillTx/>
                <a:latin typeface="Palatino Linotype"/>
                <a:ea typeface="+mj-ea"/>
              </a:rPr>
              <a:t> </a:t>
            </a:r>
            <a:r>
              <a:rPr kumimoji="0" lang="en-US" sz="3300" b="1" i="0" u="none" strike="noStrike" kern="0" cap="none" spc="-5" normalizeH="0" baseline="0" noProof="0">
                <a:ln>
                  <a:noFill/>
                </a:ln>
                <a:solidFill>
                  <a:sysClr val="windowText" lastClr="000000"/>
                </a:solidFill>
                <a:effectLst/>
                <a:uLnTx/>
                <a:uFillTx/>
                <a:latin typeface="Palatino Linotype"/>
                <a:ea typeface="+mj-ea"/>
              </a:rPr>
              <a:t>for Flow-of-Control </a:t>
            </a:r>
            <a:r>
              <a:rPr kumimoji="0" lang="en-US" sz="3300" b="1" i="0" u="none" strike="noStrike" kern="0" cap="none" spc="0" normalizeH="0" baseline="0" noProof="0">
                <a:ln>
                  <a:noFill/>
                </a:ln>
                <a:solidFill>
                  <a:sysClr val="windowText" lastClr="000000"/>
                </a:solidFill>
                <a:effectLst/>
                <a:uLnTx/>
                <a:uFillTx/>
                <a:latin typeface="Palatino Linotype"/>
                <a:ea typeface="+mj-ea"/>
              </a:rPr>
              <a:t>Statements</a:t>
            </a:r>
            <a:r>
              <a:rPr kumimoji="0" lang="en-US" sz="3300" b="1" i="0" u="none" strike="noStrike" kern="0" cap="none" spc="-35" normalizeH="0" baseline="0" noProof="0">
                <a:ln>
                  <a:noFill/>
                </a:ln>
                <a:solidFill>
                  <a:sysClr val="windowText" lastClr="000000"/>
                </a:solidFill>
                <a:effectLst/>
                <a:uLnTx/>
                <a:uFillTx/>
                <a:latin typeface="Palatino Linotype"/>
                <a:ea typeface="+mj-ea"/>
              </a:rPr>
              <a:t> </a:t>
            </a:r>
            <a:r>
              <a:rPr kumimoji="0" lang="en-US" sz="3300" b="1" i="0" u="none" strike="noStrike" kern="0" cap="none" spc="0" normalizeH="0" baseline="0" noProof="0">
                <a:ln>
                  <a:noFill/>
                </a:ln>
                <a:solidFill>
                  <a:sysClr val="windowText" lastClr="000000"/>
                </a:solidFill>
                <a:effectLst/>
                <a:uLnTx/>
                <a:uFillTx/>
                <a:latin typeface="Palatino Linotype"/>
                <a:ea typeface="+mj-ea"/>
              </a:rPr>
              <a:t>(1)</a:t>
            </a:r>
          </a:p>
        </p:txBody>
      </p:sp>
      <p:grpSp>
        <p:nvGrpSpPr>
          <p:cNvPr id="16" name="object 3">
            <a:extLst>
              <a:ext uri="{FF2B5EF4-FFF2-40B4-BE49-F238E27FC236}">
                <a16:creationId xmlns:a16="http://schemas.microsoft.com/office/drawing/2014/main" id="{2C2B30A5-3DBB-BD15-B997-4AC1CAED02D9}"/>
              </a:ext>
            </a:extLst>
          </p:cNvPr>
          <p:cNvGrpSpPr/>
          <p:nvPr/>
        </p:nvGrpSpPr>
        <p:grpSpPr>
          <a:xfrm>
            <a:off x="1318036" y="1677537"/>
            <a:ext cx="6587078" cy="4508885"/>
            <a:chOff x="1318036" y="1677537"/>
            <a:chExt cx="6587078" cy="4508885"/>
          </a:xfrm>
        </p:grpSpPr>
        <p:pic>
          <p:nvPicPr>
            <p:cNvPr id="17" name="object 4">
              <a:extLst>
                <a:ext uri="{FF2B5EF4-FFF2-40B4-BE49-F238E27FC236}">
                  <a16:creationId xmlns:a16="http://schemas.microsoft.com/office/drawing/2014/main" id="{AC04E28A-176B-9E66-2ED6-A1F10A4A6816}"/>
                </a:ext>
              </a:extLst>
            </p:cNvPr>
            <p:cNvPicPr/>
            <p:nvPr/>
          </p:nvPicPr>
          <p:blipFill>
            <a:blip r:embed="rId3" cstate="print"/>
            <a:stretch>
              <a:fillRect/>
            </a:stretch>
          </p:blipFill>
          <p:spPr>
            <a:xfrm>
              <a:off x="1318036" y="1677537"/>
              <a:ext cx="6586951" cy="4508378"/>
            </a:xfrm>
            <a:prstGeom prst="rect">
              <a:avLst/>
            </a:prstGeom>
          </p:spPr>
        </p:pic>
        <p:sp>
          <p:nvSpPr>
            <p:cNvPr id="18" name="object 5">
              <a:extLst>
                <a:ext uri="{FF2B5EF4-FFF2-40B4-BE49-F238E27FC236}">
                  <a16:creationId xmlns:a16="http://schemas.microsoft.com/office/drawing/2014/main" id="{C0B350FC-FEA0-2FEF-5BD2-3DEB60FF475F}"/>
                </a:ext>
              </a:extLst>
            </p:cNvPr>
            <p:cNvSpPr/>
            <p:nvPr/>
          </p:nvSpPr>
          <p:spPr>
            <a:xfrm>
              <a:off x="3794520" y="4293095"/>
              <a:ext cx="4110594" cy="1893327"/>
            </a:xfrm>
            <a:custGeom>
              <a:avLst/>
              <a:gdLst/>
              <a:ahLst/>
              <a:cxnLst/>
              <a:rect l="l" t="t" r="r" b="b"/>
              <a:pathLst>
                <a:path w="3957954" h="2931160">
                  <a:moveTo>
                    <a:pt x="0" y="2930652"/>
                  </a:moveTo>
                  <a:lnTo>
                    <a:pt x="3957828" y="2930652"/>
                  </a:lnTo>
                  <a:lnTo>
                    <a:pt x="3957828" y="0"/>
                  </a:lnTo>
                  <a:lnTo>
                    <a:pt x="0" y="0"/>
                  </a:lnTo>
                  <a:lnTo>
                    <a:pt x="0" y="2930652"/>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pic>
        <p:nvPicPr>
          <p:cNvPr id="6" name="图片 5">
            <a:extLst>
              <a:ext uri="{FF2B5EF4-FFF2-40B4-BE49-F238E27FC236}">
                <a16:creationId xmlns:a16="http://schemas.microsoft.com/office/drawing/2014/main" id="{09515D25-3E6F-41F4-B3B1-C9425ABD0B36}"/>
              </a:ext>
            </a:extLst>
          </p:cNvPr>
          <p:cNvPicPr>
            <a:picLocks noChangeAspect="1"/>
          </p:cNvPicPr>
          <p:nvPr/>
        </p:nvPicPr>
        <p:blipFill>
          <a:blip r:embed="rId4"/>
          <a:stretch>
            <a:fillRect/>
          </a:stretch>
        </p:blipFill>
        <p:spPr>
          <a:xfrm>
            <a:off x="1317909" y="1774078"/>
            <a:ext cx="2476611" cy="2356734"/>
          </a:xfrm>
          <a:prstGeom prst="rect">
            <a:avLst/>
          </a:prstGeom>
        </p:spPr>
      </p:pic>
    </p:spTree>
    <p:extLst>
      <p:ext uri="{BB962C8B-B14F-4D97-AF65-F5344CB8AC3E}">
        <p14:creationId xmlns:p14="http://schemas.microsoft.com/office/powerpoint/2010/main" val="126787619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85</a:t>
            </a:fld>
            <a:endParaRPr lang="en-US"/>
          </a:p>
        </p:txBody>
      </p:sp>
      <p:sp>
        <p:nvSpPr>
          <p:cNvPr id="11" name="object 2">
            <a:extLst>
              <a:ext uri="{FF2B5EF4-FFF2-40B4-BE49-F238E27FC236}">
                <a16:creationId xmlns:a16="http://schemas.microsoft.com/office/drawing/2014/main" id="{E3EE4905-A3E2-9E8B-8D68-95629C94CBDB}"/>
              </a:ext>
            </a:extLst>
          </p:cNvPr>
          <p:cNvSpPr txBox="1"/>
          <p:nvPr/>
        </p:nvSpPr>
        <p:spPr>
          <a:xfrm>
            <a:off x="707542" y="585342"/>
            <a:ext cx="7663180" cy="528320"/>
          </a:xfrm>
          <a:prstGeom prst="rect">
            <a:avLst/>
          </a:prstGeom>
        </p:spPr>
        <p:txBody>
          <a:bodyPr vert="horz" wrap="square" lIns="0" tIns="12700" rIns="0" bIns="0" rtlCol="0">
            <a:spAutoFit/>
          </a:bodyPr>
          <a:lstStyle/>
          <a:p>
            <a:pPr marL="12700" rtl="0">
              <a:spcBef>
                <a:spcPts val="100"/>
              </a:spcBef>
            </a:pPr>
            <a:r>
              <a:rPr sz="3300" b="1" kern="1200" dirty="0">
                <a:solidFill>
                  <a:prstClr val="black"/>
                </a:solidFill>
                <a:latin typeface="Palatino Linotype"/>
                <a:cs typeface="Palatino Linotype"/>
              </a:rPr>
              <a:t>SDD</a:t>
            </a:r>
            <a:r>
              <a:rPr sz="3300" b="1" kern="1200" spc="-15" dirty="0">
                <a:solidFill>
                  <a:prstClr val="black"/>
                </a:solidFill>
                <a:latin typeface="Palatino Linotype"/>
                <a:cs typeface="Palatino Linotype"/>
              </a:rPr>
              <a:t> </a:t>
            </a:r>
            <a:r>
              <a:rPr sz="3300" b="1" kern="1200" spc="-5" dirty="0">
                <a:solidFill>
                  <a:prstClr val="black"/>
                </a:solidFill>
                <a:latin typeface="Palatino Linotype"/>
                <a:cs typeface="Palatino Linotype"/>
              </a:rPr>
              <a:t>for Flow-of-Control </a:t>
            </a:r>
            <a:r>
              <a:rPr sz="3300" b="1" kern="1200" dirty="0">
                <a:solidFill>
                  <a:prstClr val="black"/>
                </a:solidFill>
                <a:latin typeface="Palatino Linotype"/>
                <a:cs typeface="Palatino Linotype"/>
              </a:rPr>
              <a:t>Statements</a:t>
            </a:r>
            <a:r>
              <a:rPr sz="3300" b="1" kern="1200" spc="-35" dirty="0">
                <a:solidFill>
                  <a:prstClr val="black"/>
                </a:solidFill>
                <a:latin typeface="Palatino Linotype"/>
                <a:cs typeface="Palatino Linotype"/>
              </a:rPr>
              <a:t> </a:t>
            </a:r>
            <a:r>
              <a:rPr sz="3300" b="1" kern="1200" dirty="0">
                <a:solidFill>
                  <a:prstClr val="black"/>
                </a:solidFill>
                <a:latin typeface="Palatino Linotype"/>
                <a:cs typeface="Palatino Linotype"/>
              </a:rPr>
              <a:t>(2)</a:t>
            </a:r>
            <a:endParaRPr sz="3300" kern="1200">
              <a:solidFill>
                <a:prstClr val="black"/>
              </a:solidFill>
              <a:latin typeface="Palatino Linotype"/>
              <a:cs typeface="Palatino Linotype"/>
            </a:endParaRPr>
          </a:p>
        </p:txBody>
      </p:sp>
      <p:grpSp>
        <p:nvGrpSpPr>
          <p:cNvPr id="12" name="object 3">
            <a:extLst>
              <a:ext uri="{FF2B5EF4-FFF2-40B4-BE49-F238E27FC236}">
                <a16:creationId xmlns:a16="http://schemas.microsoft.com/office/drawing/2014/main" id="{F00C32DE-1D8E-8303-38F4-E4EE2EB77B8B}"/>
              </a:ext>
            </a:extLst>
          </p:cNvPr>
          <p:cNvGrpSpPr/>
          <p:nvPr/>
        </p:nvGrpSpPr>
        <p:grpSpPr>
          <a:xfrm>
            <a:off x="1130280" y="2168651"/>
            <a:ext cx="6878509" cy="2930652"/>
            <a:chOff x="1130280" y="2168651"/>
            <a:chExt cx="6878509" cy="2930652"/>
          </a:xfrm>
        </p:grpSpPr>
        <p:pic>
          <p:nvPicPr>
            <p:cNvPr id="13" name="object 4">
              <a:extLst>
                <a:ext uri="{FF2B5EF4-FFF2-40B4-BE49-F238E27FC236}">
                  <a16:creationId xmlns:a16="http://schemas.microsoft.com/office/drawing/2014/main" id="{D4E08058-5B30-FF50-25BA-51A4AB62E20A}"/>
                </a:ext>
              </a:extLst>
            </p:cNvPr>
            <p:cNvPicPr/>
            <p:nvPr/>
          </p:nvPicPr>
          <p:blipFill>
            <a:blip r:embed="rId3" cstate="print"/>
            <a:stretch>
              <a:fillRect/>
            </a:stretch>
          </p:blipFill>
          <p:spPr>
            <a:xfrm>
              <a:off x="1130280" y="2202179"/>
              <a:ext cx="6878509" cy="2897124"/>
            </a:xfrm>
            <a:prstGeom prst="rect">
              <a:avLst/>
            </a:prstGeom>
          </p:spPr>
        </p:pic>
        <p:sp>
          <p:nvSpPr>
            <p:cNvPr id="14" name="object 5">
              <a:extLst>
                <a:ext uri="{FF2B5EF4-FFF2-40B4-BE49-F238E27FC236}">
                  <a16:creationId xmlns:a16="http://schemas.microsoft.com/office/drawing/2014/main" id="{35D80AB3-43F2-DC2E-02E0-9DB0B6F98FB6}"/>
                </a:ext>
              </a:extLst>
            </p:cNvPr>
            <p:cNvSpPr/>
            <p:nvPr/>
          </p:nvSpPr>
          <p:spPr>
            <a:xfrm>
              <a:off x="3727704" y="2168651"/>
              <a:ext cx="3957954" cy="2044064"/>
            </a:xfrm>
            <a:custGeom>
              <a:avLst/>
              <a:gdLst/>
              <a:ahLst/>
              <a:cxnLst/>
              <a:rect l="l" t="t" r="r" b="b"/>
              <a:pathLst>
                <a:path w="3957954" h="2044064">
                  <a:moveTo>
                    <a:pt x="0" y="2043684"/>
                  </a:moveTo>
                  <a:lnTo>
                    <a:pt x="3957828" y="2043684"/>
                  </a:lnTo>
                  <a:lnTo>
                    <a:pt x="3957828" y="0"/>
                  </a:lnTo>
                  <a:lnTo>
                    <a:pt x="0" y="0"/>
                  </a:lnTo>
                  <a:lnTo>
                    <a:pt x="0" y="2043684"/>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grpSp>
        <p:nvGrpSpPr>
          <p:cNvPr id="17" name="object 13">
            <a:extLst>
              <a:ext uri="{FF2B5EF4-FFF2-40B4-BE49-F238E27FC236}">
                <a16:creationId xmlns:a16="http://schemas.microsoft.com/office/drawing/2014/main" id="{2E9BAF12-CCC1-4A46-A7BD-4C04E798CB37}"/>
              </a:ext>
            </a:extLst>
          </p:cNvPr>
          <p:cNvGrpSpPr/>
          <p:nvPr/>
        </p:nvGrpSpPr>
        <p:grpSpPr>
          <a:xfrm>
            <a:off x="874098" y="2671762"/>
            <a:ext cx="2530475" cy="1514475"/>
            <a:chOff x="6045669" y="4125507"/>
            <a:chExt cx="2530475" cy="1514475"/>
          </a:xfrm>
        </p:grpSpPr>
        <p:pic>
          <p:nvPicPr>
            <p:cNvPr id="18" name="object 14">
              <a:extLst>
                <a:ext uri="{FF2B5EF4-FFF2-40B4-BE49-F238E27FC236}">
                  <a16:creationId xmlns:a16="http://schemas.microsoft.com/office/drawing/2014/main" id="{F6609DC8-45C8-4C3E-A8DC-FE1CE0EAA9A3}"/>
                </a:ext>
              </a:extLst>
            </p:cNvPr>
            <p:cNvPicPr/>
            <p:nvPr/>
          </p:nvPicPr>
          <p:blipFill>
            <a:blip r:embed="rId4" cstate="print"/>
            <a:stretch>
              <a:fillRect/>
            </a:stretch>
          </p:blipFill>
          <p:spPr>
            <a:xfrm>
              <a:off x="6045669" y="4125507"/>
              <a:ext cx="2530229" cy="1513886"/>
            </a:xfrm>
            <a:prstGeom prst="rect">
              <a:avLst/>
            </a:prstGeom>
          </p:spPr>
        </p:pic>
        <p:sp>
          <p:nvSpPr>
            <p:cNvPr id="19" name="object 15">
              <a:extLst>
                <a:ext uri="{FF2B5EF4-FFF2-40B4-BE49-F238E27FC236}">
                  <a16:creationId xmlns:a16="http://schemas.microsoft.com/office/drawing/2014/main" id="{E91D371F-A36F-43BB-A048-A907FC1CCEF2}"/>
                </a:ext>
              </a:extLst>
            </p:cNvPr>
            <p:cNvSpPr/>
            <p:nvPr/>
          </p:nvSpPr>
          <p:spPr>
            <a:xfrm>
              <a:off x="6638544" y="5100827"/>
              <a:ext cx="1135380" cy="314325"/>
            </a:xfrm>
            <a:custGeom>
              <a:avLst/>
              <a:gdLst/>
              <a:ahLst/>
              <a:cxnLst/>
              <a:rect l="l" t="t" r="r" b="b"/>
              <a:pathLst>
                <a:path w="1135379" h="314325">
                  <a:moveTo>
                    <a:pt x="0" y="313944"/>
                  </a:moveTo>
                  <a:lnTo>
                    <a:pt x="1135379" y="313944"/>
                  </a:lnTo>
                  <a:lnTo>
                    <a:pt x="1135379" y="0"/>
                  </a:lnTo>
                  <a:lnTo>
                    <a:pt x="0" y="0"/>
                  </a:lnTo>
                  <a:lnTo>
                    <a:pt x="0" y="313944"/>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Tree>
    <p:extLst>
      <p:ext uri="{BB962C8B-B14F-4D97-AF65-F5344CB8AC3E}">
        <p14:creationId xmlns:p14="http://schemas.microsoft.com/office/powerpoint/2010/main" val="223032493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86</a:t>
            </a:fld>
            <a:endParaRPr lang="en-US"/>
          </a:p>
        </p:txBody>
      </p:sp>
      <p:sp>
        <p:nvSpPr>
          <p:cNvPr id="10" name="object 2">
            <a:extLst>
              <a:ext uri="{FF2B5EF4-FFF2-40B4-BE49-F238E27FC236}">
                <a16:creationId xmlns:a16="http://schemas.microsoft.com/office/drawing/2014/main" id="{A4FBDA65-6324-2672-B228-998203945CF0}"/>
              </a:ext>
            </a:extLst>
          </p:cNvPr>
          <p:cNvSpPr txBox="1">
            <a:spLocks/>
          </p:cNvSpPr>
          <p:nvPr/>
        </p:nvSpPr>
        <p:spPr>
          <a:xfrm>
            <a:off x="791972" y="245821"/>
            <a:ext cx="7560055" cy="1130438"/>
          </a:xfrm>
          <a:prstGeom prst="rect">
            <a:avLst/>
          </a:prstGeom>
        </p:spPr>
        <p:txBody>
          <a:bodyPr vert="horz" wrap="square" lIns="0" tIns="78105" rIns="0" bIns="0" rtlCol="0">
            <a:spAutoFit/>
          </a:bodyPr>
          <a:lstStyle>
            <a:lvl1pPr>
              <a:defRPr sz="4000" b="1" i="0">
                <a:solidFill>
                  <a:schemeClr val="tx1"/>
                </a:solidFill>
                <a:latin typeface="Palatino Linotype"/>
                <a:ea typeface="+mj-ea"/>
                <a:cs typeface="Palatino Linotype"/>
              </a:defRPr>
            </a:lvl1pPr>
          </a:lstStyle>
          <a:p>
            <a:pPr marL="426720" marR="5080" lvl="0" indent="-234950" defTabSz="914400" eaLnBrk="1" fontAlgn="auto" latinLnBrk="0" hangingPunct="1">
              <a:lnSpc>
                <a:spcPts val="4110"/>
              </a:lnSpc>
              <a:spcBef>
                <a:spcPts val="615"/>
              </a:spcBef>
              <a:spcAft>
                <a:spcPts val="0"/>
              </a:spcAft>
              <a:buClrTx/>
              <a:buSzTx/>
              <a:buFontTx/>
              <a:buNone/>
              <a:tabLst/>
              <a:defRPr/>
            </a:pPr>
            <a:r>
              <a:rPr kumimoji="0" lang="en-US" sz="3800" b="1" i="0" u="none" strike="noStrike" kern="0" cap="none" spc="-25" normalizeH="0" baseline="0" noProof="0" dirty="0">
                <a:ln>
                  <a:noFill/>
                </a:ln>
                <a:solidFill>
                  <a:sysClr val="windowText" lastClr="000000"/>
                </a:solidFill>
                <a:effectLst/>
                <a:uLnTx/>
                <a:uFillTx/>
                <a:latin typeface="Palatino Linotype"/>
                <a:ea typeface="+mj-ea"/>
                <a:hlinkClick r:id="rId3" action="ppaction://hlinkpres?slideindex=5&amp;slidetitle=PowerPoint 演示文稿"/>
              </a:rPr>
              <a:t>Translating</a:t>
            </a:r>
            <a:r>
              <a:rPr kumimoji="0" lang="en-US" sz="3800" b="1" i="0" u="none" strike="noStrike" kern="0" cap="none" spc="-60" normalizeH="0" baseline="0" noProof="0" dirty="0">
                <a:ln>
                  <a:noFill/>
                </a:ln>
                <a:solidFill>
                  <a:sysClr val="windowText" lastClr="000000"/>
                </a:solidFill>
                <a:effectLst/>
                <a:uLnTx/>
                <a:uFillTx/>
                <a:latin typeface="Palatino Linotype"/>
                <a:ea typeface="+mj-ea"/>
                <a:hlinkClick r:id="rId3" action="ppaction://hlinkpres?slideindex=5&amp;slidetitle=PowerPoint 演示文稿"/>
              </a:rPr>
              <a:t> </a:t>
            </a:r>
            <a:r>
              <a:rPr kumimoji="0" lang="en-US" sz="3800" b="1" i="0" u="none" strike="noStrike" kern="0" cap="none" spc="0" normalizeH="0" baseline="0" noProof="0" dirty="0">
                <a:ln>
                  <a:noFill/>
                </a:ln>
                <a:solidFill>
                  <a:sysClr val="windowText" lastClr="000000"/>
                </a:solidFill>
                <a:effectLst/>
                <a:uLnTx/>
                <a:uFillTx/>
                <a:latin typeface="Palatino Linotype"/>
                <a:ea typeface="+mj-ea"/>
                <a:hlinkClick r:id="rId3" action="ppaction://hlinkpres?slideindex=5&amp;slidetitle=PowerPoint 演示文稿"/>
              </a:rPr>
              <a:t>Boolean</a:t>
            </a:r>
            <a:r>
              <a:rPr kumimoji="0" lang="en-US" sz="3800" b="1" i="0" u="none" strike="noStrike" kern="0" cap="none" spc="-45" normalizeH="0" baseline="0" noProof="0" dirty="0">
                <a:ln>
                  <a:noFill/>
                </a:ln>
                <a:solidFill>
                  <a:sysClr val="windowText" lastClr="000000"/>
                </a:solidFill>
                <a:effectLst/>
                <a:uLnTx/>
                <a:uFillTx/>
                <a:latin typeface="Palatino Linotype"/>
                <a:ea typeface="+mj-ea"/>
                <a:hlinkClick r:id="rId3" action="ppaction://hlinkpres?slideindex=5&amp;slidetitle=PowerPoint 演示文稿"/>
              </a:rPr>
              <a:t> </a:t>
            </a:r>
            <a:r>
              <a:rPr kumimoji="0" lang="en-US" sz="3800" b="1" i="0" u="none" strike="noStrike" kern="0" cap="none" spc="0" normalizeH="0" baseline="0" noProof="0" dirty="0">
                <a:ln>
                  <a:noFill/>
                </a:ln>
                <a:solidFill>
                  <a:sysClr val="windowText" lastClr="000000"/>
                </a:solidFill>
                <a:effectLst/>
                <a:uLnTx/>
                <a:uFillTx/>
                <a:latin typeface="Palatino Linotype"/>
                <a:ea typeface="+mj-ea"/>
                <a:hlinkClick r:id="rId3" action="ppaction://hlinkpres?slideindex=5&amp;slidetitle=PowerPoint 演示文稿"/>
              </a:rPr>
              <a:t>Expressions </a:t>
            </a:r>
            <a:r>
              <a:rPr kumimoji="0" lang="en-US" sz="3800" b="1" i="0" u="none" strike="noStrike" kern="0" cap="none" spc="-935" normalizeH="0" baseline="0" noProof="0" dirty="0">
                <a:ln>
                  <a:noFill/>
                </a:ln>
                <a:solidFill>
                  <a:sysClr val="windowText" lastClr="000000"/>
                </a:solidFill>
                <a:effectLst/>
                <a:uLnTx/>
                <a:uFillTx/>
                <a:latin typeface="Palatino Linotype"/>
                <a:ea typeface="+mj-ea"/>
                <a:hlinkClick r:id="rId3" action="ppaction://hlinkpres?slideindex=5&amp;slidetitle=PowerPoint 演示文稿"/>
              </a:rPr>
              <a:t> </a:t>
            </a:r>
            <a:r>
              <a:rPr kumimoji="0" lang="en-US" sz="3800" b="1" i="0" u="none" strike="noStrike" kern="0" cap="none" spc="0" normalizeH="0" baseline="0" noProof="0" dirty="0">
                <a:ln>
                  <a:noFill/>
                </a:ln>
                <a:solidFill>
                  <a:sysClr val="windowText" lastClr="000000"/>
                </a:solidFill>
                <a:effectLst/>
                <a:uLnTx/>
                <a:uFillTx/>
                <a:latin typeface="Palatino Linotype"/>
                <a:ea typeface="+mj-ea"/>
                <a:hlinkClick r:id="rId3" action="ppaction://hlinkpres?slideindex=5&amp;slidetitle=PowerPoint 演示文稿"/>
              </a:rPr>
              <a:t>in</a:t>
            </a:r>
            <a:r>
              <a:rPr kumimoji="0" lang="en-US" sz="3800" b="1" i="0" u="none" strike="noStrike" kern="0" cap="none" spc="-10" normalizeH="0" baseline="0" noProof="0" dirty="0">
                <a:ln>
                  <a:noFill/>
                </a:ln>
                <a:solidFill>
                  <a:sysClr val="windowText" lastClr="000000"/>
                </a:solidFill>
                <a:effectLst/>
                <a:uLnTx/>
                <a:uFillTx/>
                <a:latin typeface="Palatino Linotype"/>
                <a:ea typeface="+mj-ea"/>
                <a:hlinkClick r:id="rId3" action="ppaction://hlinkpres?slideindex=5&amp;slidetitle=PowerPoint 演示文稿"/>
              </a:rPr>
              <a:t> </a:t>
            </a:r>
            <a:r>
              <a:rPr kumimoji="0" lang="en-US" sz="3800" b="1" i="0" u="none" strike="noStrike" kern="0" cap="none" spc="-5" normalizeH="0" baseline="0" noProof="0" dirty="0">
                <a:ln>
                  <a:noFill/>
                </a:ln>
                <a:solidFill>
                  <a:sysClr val="windowText" lastClr="000000"/>
                </a:solidFill>
                <a:effectLst/>
                <a:uLnTx/>
                <a:uFillTx/>
                <a:latin typeface="Palatino Linotype"/>
                <a:ea typeface="+mj-ea"/>
                <a:hlinkClick r:id="rId3" action="ppaction://hlinkpres?slideindex=5&amp;slidetitle=PowerPoint 演示文稿"/>
              </a:rPr>
              <a:t>Flow-of-Control</a:t>
            </a:r>
            <a:r>
              <a:rPr kumimoji="0" lang="en-US" sz="3800" b="1" i="0" u="none" strike="noStrike" kern="0" cap="none" spc="-40" normalizeH="0" baseline="0" noProof="0" dirty="0">
                <a:ln>
                  <a:noFill/>
                </a:ln>
                <a:solidFill>
                  <a:sysClr val="windowText" lastClr="000000"/>
                </a:solidFill>
                <a:effectLst/>
                <a:uLnTx/>
                <a:uFillTx/>
                <a:latin typeface="Palatino Linotype"/>
                <a:ea typeface="+mj-ea"/>
                <a:hlinkClick r:id="rId3" action="ppaction://hlinkpres?slideindex=5&amp;slidetitle=PowerPoint 演示文稿"/>
              </a:rPr>
              <a:t> </a:t>
            </a:r>
            <a:r>
              <a:rPr kumimoji="0" lang="en-US" sz="3800" b="1" i="0" u="none" strike="noStrike" kern="0" cap="none" spc="0" normalizeH="0" baseline="0" noProof="0" dirty="0">
                <a:ln>
                  <a:noFill/>
                </a:ln>
                <a:solidFill>
                  <a:sysClr val="windowText" lastClr="000000"/>
                </a:solidFill>
                <a:effectLst/>
                <a:uLnTx/>
                <a:uFillTx/>
                <a:latin typeface="Palatino Linotype"/>
                <a:ea typeface="+mj-ea"/>
                <a:hlinkClick r:id="rId3" action="ppaction://hlinkpres?slideindex=5&amp;slidetitle=PowerPoint 演示文稿"/>
              </a:rPr>
              <a:t>Statements</a:t>
            </a:r>
            <a:endParaRPr kumimoji="0" lang="en-US" sz="38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11" name="object 3">
            <a:extLst>
              <a:ext uri="{FF2B5EF4-FFF2-40B4-BE49-F238E27FC236}">
                <a16:creationId xmlns:a16="http://schemas.microsoft.com/office/drawing/2014/main" id="{DA89BDF8-D0B6-6CFE-F2A7-BB9025477A31}"/>
              </a:ext>
            </a:extLst>
          </p:cNvPr>
          <p:cNvSpPr txBox="1"/>
          <p:nvPr/>
        </p:nvSpPr>
        <p:spPr>
          <a:xfrm>
            <a:off x="707542" y="1691792"/>
            <a:ext cx="7527925" cy="1736089"/>
          </a:xfrm>
          <a:prstGeom prst="rect">
            <a:avLst/>
          </a:prstGeom>
        </p:spPr>
        <p:txBody>
          <a:bodyPr vert="horz" wrap="square" lIns="0" tIns="12700" rIns="0" bIns="0" rtlCol="0">
            <a:spAutoFit/>
          </a:bodyPr>
          <a:lstStyle/>
          <a:p>
            <a:pPr marL="242570" marR="20955" indent="-230504" algn="just" rtl="0">
              <a:lnSpc>
                <a:spcPct val="120000"/>
              </a:lnSpc>
              <a:spcBef>
                <a:spcPts val="100"/>
              </a:spcBef>
              <a:buFont typeface="Arial MT"/>
              <a:buChar char="•"/>
              <a:tabLst>
                <a:tab pos="243204" algn="l"/>
              </a:tabLst>
            </a:pPr>
            <a:r>
              <a:rPr sz="1900" kern="1200" spc="-5" dirty="0">
                <a:solidFill>
                  <a:prstClr val="black"/>
                </a:solidFill>
                <a:latin typeface="Palatino Linotype"/>
                <a:cs typeface="Palatino Linotype"/>
              </a:rPr>
              <a:t>A boolean expression </a:t>
            </a:r>
            <a:r>
              <a:rPr sz="1900" kern="1200" spc="-5" dirty="0">
                <a:solidFill>
                  <a:prstClr val="black"/>
                </a:solidFill>
                <a:latin typeface="Cambria Math"/>
                <a:cs typeface="Cambria Math"/>
              </a:rPr>
              <a:t>𝐵 </a:t>
            </a:r>
            <a:r>
              <a:rPr sz="1900" kern="1200" spc="-5" dirty="0">
                <a:solidFill>
                  <a:prstClr val="black"/>
                </a:solidFill>
                <a:latin typeface="Palatino Linotype"/>
                <a:cs typeface="Palatino Linotype"/>
              </a:rPr>
              <a:t>is </a:t>
            </a:r>
            <a:r>
              <a:rPr sz="1900" kern="1200" spc="-10" dirty="0">
                <a:solidFill>
                  <a:prstClr val="black"/>
                </a:solidFill>
                <a:latin typeface="Palatino Linotype"/>
                <a:cs typeface="Palatino Linotype"/>
              </a:rPr>
              <a:t>translated </a:t>
            </a:r>
            <a:r>
              <a:rPr sz="1900" kern="1200" spc="-5" dirty="0">
                <a:solidFill>
                  <a:prstClr val="black"/>
                </a:solidFill>
                <a:latin typeface="Palatino Linotype"/>
                <a:cs typeface="Palatino Linotype"/>
              </a:rPr>
              <a:t>into three-address instructions </a:t>
            </a:r>
            <a:r>
              <a:rPr sz="1900" kern="1200" dirty="0">
                <a:solidFill>
                  <a:prstClr val="black"/>
                </a:solidFill>
                <a:latin typeface="Palatino Linotype"/>
                <a:cs typeface="Palatino Linotype"/>
              </a:rPr>
              <a:t> </a:t>
            </a:r>
            <a:r>
              <a:rPr sz="1900" kern="1200" spc="-5" dirty="0">
                <a:solidFill>
                  <a:prstClr val="black"/>
                </a:solidFill>
                <a:latin typeface="Palatino Linotype"/>
                <a:cs typeface="Palatino Linotype"/>
              </a:rPr>
              <a:t>that </a:t>
            </a:r>
            <a:r>
              <a:rPr sz="1900" kern="1200" spc="-10" dirty="0">
                <a:solidFill>
                  <a:prstClr val="black"/>
                </a:solidFill>
                <a:latin typeface="Palatino Linotype"/>
                <a:cs typeface="Palatino Linotype"/>
              </a:rPr>
              <a:t>evaluate </a:t>
            </a:r>
            <a:r>
              <a:rPr sz="1900" kern="1200" spc="-5" dirty="0">
                <a:solidFill>
                  <a:prstClr val="black"/>
                </a:solidFill>
                <a:latin typeface="Cambria Math"/>
                <a:cs typeface="Cambria Math"/>
              </a:rPr>
              <a:t>𝐵 </a:t>
            </a:r>
            <a:r>
              <a:rPr sz="1900" kern="1200" spc="-10" dirty="0">
                <a:solidFill>
                  <a:prstClr val="black"/>
                </a:solidFill>
                <a:latin typeface="Palatino Linotype"/>
                <a:cs typeface="Palatino Linotype"/>
              </a:rPr>
              <a:t>using </a:t>
            </a:r>
            <a:r>
              <a:rPr sz="1900" kern="1200" spc="-5" dirty="0">
                <a:solidFill>
                  <a:prstClr val="black"/>
                </a:solidFill>
                <a:latin typeface="Palatino Linotype"/>
                <a:cs typeface="Palatino Linotype"/>
              </a:rPr>
              <a:t>conditional and </a:t>
            </a:r>
            <a:r>
              <a:rPr sz="1900" kern="1200" spc="-10" dirty="0">
                <a:solidFill>
                  <a:prstClr val="black"/>
                </a:solidFill>
                <a:latin typeface="Palatino Linotype"/>
                <a:cs typeface="Palatino Linotype"/>
              </a:rPr>
              <a:t>unconditional </a:t>
            </a:r>
            <a:r>
              <a:rPr sz="1900" kern="1200" spc="-5" dirty="0">
                <a:solidFill>
                  <a:prstClr val="black"/>
                </a:solidFill>
                <a:latin typeface="Palatino Linotype"/>
                <a:cs typeface="Palatino Linotype"/>
              </a:rPr>
              <a:t>jumps to one of </a:t>
            </a:r>
            <a:r>
              <a:rPr sz="1900" kern="1200" spc="-459" dirty="0">
                <a:solidFill>
                  <a:prstClr val="black"/>
                </a:solidFill>
                <a:latin typeface="Palatino Linotype"/>
                <a:cs typeface="Palatino Linotype"/>
              </a:rPr>
              <a:t> </a:t>
            </a:r>
            <a:r>
              <a:rPr sz="1900" kern="1200" spc="-15" dirty="0">
                <a:solidFill>
                  <a:prstClr val="black"/>
                </a:solidFill>
                <a:latin typeface="Palatino Linotype"/>
                <a:cs typeface="Palatino Linotype"/>
              </a:rPr>
              <a:t>two</a:t>
            </a:r>
            <a:r>
              <a:rPr sz="1900" kern="1200" spc="5" dirty="0">
                <a:solidFill>
                  <a:prstClr val="black"/>
                </a:solidFill>
                <a:latin typeface="Palatino Linotype"/>
                <a:cs typeface="Palatino Linotype"/>
              </a:rPr>
              <a:t> </a:t>
            </a:r>
            <a:r>
              <a:rPr sz="1900" kern="1200" spc="-5" dirty="0">
                <a:solidFill>
                  <a:prstClr val="black"/>
                </a:solidFill>
                <a:latin typeface="Palatino Linotype"/>
                <a:cs typeface="Palatino Linotype"/>
              </a:rPr>
              <a:t>labels:</a:t>
            </a:r>
            <a:r>
              <a:rPr sz="1900" kern="1200" spc="5" dirty="0">
                <a:solidFill>
                  <a:prstClr val="black"/>
                </a:solidFill>
                <a:latin typeface="Palatino Linotype"/>
                <a:cs typeface="Palatino Linotype"/>
              </a:rPr>
              <a:t> </a:t>
            </a:r>
            <a:r>
              <a:rPr sz="1900" kern="1200" spc="25" dirty="0">
                <a:solidFill>
                  <a:srgbClr val="FF0000"/>
                </a:solidFill>
                <a:latin typeface="Cambria Math"/>
                <a:cs typeface="Cambria Math"/>
              </a:rPr>
              <a:t>𝐵.</a:t>
            </a:r>
            <a:r>
              <a:rPr sz="1900" kern="1200" spc="-114" dirty="0">
                <a:solidFill>
                  <a:srgbClr val="FF0000"/>
                </a:solidFill>
                <a:latin typeface="Cambria Math"/>
                <a:cs typeface="Cambria Math"/>
              </a:rPr>
              <a:t> </a:t>
            </a:r>
            <a:r>
              <a:rPr sz="1900" kern="1200" spc="-5" dirty="0">
                <a:solidFill>
                  <a:srgbClr val="FF0000"/>
                </a:solidFill>
                <a:latin typeface="Cambria Math"/>
                <a:cs typeface="Cambria Math"/>
              </a:rPr>
              <a:t>𝑡𝑟𝑢𝑒</a:t>
            </a:r>
            <a:r>
              <a:rPr sz="1900" kern="1200" spc="105" dirty="0">
                <a:solidFill>
                  <a:srgbClr val="FF0000"/>
                </a:solidFill>
                <a:latin typeface="Cambria Math"/>
                <a:cs typeface="Cambria Math"/>
              </a:rPr>
              <a:t> </a:t>
            </a:r>
            <a:r>
              <a:rPr sz="1900" kern="1200" spc="-5" dirty="0">
                <a:solidFill>
                  <a:prstClr val="black"/>
                </a:solidFill>
                <a:latin typeface="Palatino Linotype"/>
                <a:cs typeface="Palatino Linotype"/>
              </a:rPr>
              <a:t>and </a:t>
            </a:r>
            <a:r>
              <a:rPr sz="1900" kern="1200" spc="20" dirty="0">
                <a:solidFill>
                  <a:srgbClr val="FF0000"/>
                </a:solidFill>
                <a:latin typeface="Cambria Math"/>
                <a:cs typeface="Cambria Math"/>
              </a:rPr>
              <a:t>𝐵.</a:t>
            </a:r>
            <a:r>
              <a:rPr sz="1900" kern="1200" spc="-100" dirty="0">
                <a:solidFill>
                  <a:srgbClr val="FF0000"/>
                </a:solidFill>
                <a:latin typeface="Cambria Math"/>
                <a:cs typeface="Cambria Math"/>
              </a:rPr>
              <a:t> </a:t>
            </a:r>
            <a:r>
              <a:rPr sz="1900" kern="1200" spc="-5" dirty="0">
                <a:solidFill>
                  <a:srgbClr val="FF0000"/>
                </a:solidFill>
                <a:latin typeface="Cambria Math"/>
                <a:cs typeface="Cambria Math"/>
              </a:rPr>
              <a:t>𝑓𝑎𝑙𝑠𝑒</a:t>
            </a:r>
            <a:endParaRPr sz="1900" kern="1200" dirty="0">
              <a:solidFill>
                <a:prstClr val="black"/>
              </a:solidFill>
              <a:latin typeface="Cambria Math"/>
              <a:cs typeface="Cambria Math"/>
            </a:endParaRPr>
          </a:p>
          <a:p>
            <a:pPr marL="697865" lvl="1" indent="-228600" algn="just" rtl="0">
              <a:spcBef>
                <a:spcPts val="1030"/>
              </a:spcBef>
              <a:buFont typeface="Wingdings"/>
              <a:buChar char=""/>
              <a:tabLst>
                <a:tab pos="698500" algn="l"/>
              </a:tabLst>
            </a:pPr>
            <a:r>
              <a:rPr sz="1600" kern="1200" spc="15" dirty="0">
                <a:solidFill>
                  <a:prstClr val="black"/>
                </a:solidFill>
                <a:latin typeface="Cambria Math"/>
                <a:cs typeface="Cambria Math"/>
              </a:rPr>
              <a:t>𝐵.</a:t>
            </a:r>
            <a:r>
              <a:rPr sz="1600" kern="1200" spc="-95" dirty="0">
                <a:solidFill>
                  <a:prstClr val="black"/>
                </a:solidFill>
                <a:latin typeface="Cambria Math"/>
                <a:cs typeface="Cambria Math"/>
              </a:rPr>
              <a:t> </a:t>
            </a:r>
            <a:r>
              <a:rPr sz="1600" kern="1200" spc="-5" dirty="0">
                <a:solidFill>
                  <a:prstClr val="black"/>
                </a:solidFill>
                <a:latin typeface="Cambria Math"/>
                <a:cs typeface="Cambria Math"/>
              </a:rPr>
              <a:t>𝑡𝑟𝑢𝑒</a:t>
            </a:r>
            <a:r>
              <a:rPr sz="1600" kern="1200" spc="110" dirty="0">
                <a:solidFill>
                  <a:prstClr val="black"/>
                </a:solidFill>
                <a:latin typeface="Cambria Math"/>
                <a:cs typeface="Cambria Math"/>
              </a:rPr>
              <a:t> </a:t>
            </a:r>
            <a:r>
              <a:rPr sz="1600" kern="1200" spc="-5" dirty="0">
                <a:solidFill>
                  <a:prstClr val="black"/>
                </a:solidFill>
                <a:latin typeface="Palatino Linotype"/>
                <a:cs typeface="Palatino Linotype"/>
              </a:rPr>
              <a:t>and</a:t>
            </a:r>
            <a:r>
              <a:rPr sz="1600" kern="1200" spc="20" dirty="0">
                <a:solidFill>
                  <a:prstClr val="black"/>
                </a:solidFill>
                <a:latin typeface="Palatino Linotype"/>
                <a:cs typeface="Palatino Linotype"/>
              </a:rPr>
              <a:t> </a:t>
            </a:r>
            <a:r>
              <a:rPr sz="1600" kern="1200" spc="15" dirty="0">
                <a:solidFill>
                  <a:prstClr val="black"/>
                </a:solidFill>
                <a:latin typeface="Cambria Math"/>
                <a:cs typeface="Cambria Math"/>
              </a:rPr>
              <a:t>𝐵.</a:t>
            </a:r>
            <a:r>
              <a:rPr sz="1600" kern="1200" spc="-85" dirty="0">
                <a:solidFill>
                  <a:prstClr val="black"/>
                </a:solidFill>
                <a:latin typeface="Cambria Math"/>
                <a:cs typeface="Cambria Math"/>
              </a:rPr>
              <a:t> </a:t>
            </a:r>
            <a:r>
              <a:rPr sz="1600" kern="1200" spc="-5" dirty="0">
                <a:solidFill>
                  <a:prstClr val="black"/>
                </a:solidFill>
                <a:latin typeface="Cambria Math"/>
                <a:cs typeface="Cambria Math"/>
              </a:rPr>
              <a:t>𝑓𝑎𝑙𝑠𝑒</a:t>
            </a:r>
            <a:r>
              <a:rPr sz="1600" kern="1200" spc="80" dirty="0">
                <a:solidFill>
                  <a:prstClr val="black"/>
                </a:solidFill>
                <a:latin typeface="Cambria Math"/>
                <a:cs typeface="Cambria Math"/>
              </a:rPr>
              <a:t> </a:t>
            </a:r>
            <a:r>
              <a:rPr sz="1600" kern="1200" spc="-5" dirty="0">
                <a:solidFill>
                  <a:prstClr val="black"/>
                </a:solidFill>
                <a:latin typeface="Palatino Linotype"/>
                <a:cs typeface="Palatino Linotype"/>
              </a:rPr>
              <a:t>are</a:t>
            </a:r>
            <a:r>
              <a:rPr sz="1600" kern="1200" spc="5" dirty="0">
                <a:solidFill>
                  <a:prstClr val="black"/>
                </a:solidFill>
                <a:latin typeface="Palatino Linotype"/>
                <a:cs typeface="Palatino Linotype"/>
              </a:rPr>
              <a:t> </a:t>
            </a:r>
            <a:r>
              <a:rPr sz="1600" kern="1200" spc="-15" dirty="0">
                <a:solidFill>
                  <a:prstClr val="black"/>
                </a:solidFill>
                <a:latin typeface="Palatino Linotype"/>
                <a:cs typeface="Palatino Linotype"/>
              </a:rPr>
              <a:t>two</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inherited</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attributes.</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Their</a:t>
            </a:r>
            <a:r>
              <a:rPr sz="1600" kern="1200" spc="10" dirty="0">
                <a:solidFill>
                  <a:prstClr val="black"/>
                </a:solidFill>
                <a:latin typeface="Palatino Linotype"/>
                <a:cs typeface="Palatino Linotype"/>
              </a:rPr>
              <a:t> </a:t>
            </a:r>
            <a:r>
              <a:rPr sz="1600" kern="1200" spc="-15" dirty="0">
                <a:solidFill>
                  <a:prstClr val="black"/>
                </a:solidFill>
                <a:latin typeface="Palatino Linotype"/>
                <a:cs typeface="Palatino Linotype"/>
              </a:rPr>
              <a:t>value</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depends</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on</a:t>
            </a:r>
            <a:r>
              <a:rPr sz="1600" kern="1200" dirty="0">
                <a:solidFill>
                  <a:prstClr val="black"/>
                </a:solidFill>
                <a:latin typeface="Palatino Linotype"/>
                <a:cs typeface="Palatino Linotype"/>
              </a:rPr>
              <a:t> </a:t>
            </a:r>
            <a:r>
              <a:rPr sz="1600" kern="1200" spc="-10" dirty="0">
                <a:solidFill>
                  <a:prstClr val="black"/>
                </a:solidFill>
                <a:latin typeface="Palatino Linotype"/>
                <a:cs typeface="Palatino Linotype"/>
              </a:rPr>
              <a:t>the</a:t>
            </a:r>
            <a:endParaRPr sz="1600" kern="1200" dirty="0">
              <a:solidFill>
                <a:prstClr val="black"/>
              </a:solidFill>
              <a:latin typeface="Palatino Linotype"/>
              <a:cs typeface="Palatino Linotype"/>
            </a:endParaRPr>
          </a:p>
          <a:p>
            <a:pPr marL="697865" algn="just" rtl="0">
              <a:spcBef>
                <a:spcPts val="385"/>
              </a:spcBef>
            </a:pPr>
            <a:r>
              <a:rPr sz="1600" kern="1200" spc="-5" dirty="0">
                <a:solidFill>
                  <a:prstClr val="black"/>
                </a:solidFill>
                <a:latin typeface="Palatino Linotype"/>
                <a:cs typeface="Palatino Linotype"/>
              </a:rPr>
              <a:t>context</a:t>
            </a:r>
            <a:r>
              <a:rPr sz="1600" kern="1200" spc="35" dirty="0">
                <a:solidFill>
                  <a:prstClr val="black"/>
                </a:solidFill>
                <a:latin typeface="Palatino Linotype"/>
                <a:cs typeface="Palatino Linotype"/>
              </a:rPr>
              <a:t> </a:t>
            </a:r>
            <a:r>
              <a:rPr sz="1600" kern="1200" spc="-5" dirty="0">
                <a:solidFill>
                  <a:prstClr val="black"/>
                </a:solidFill>
                <a:latin typeface="Palatino Linotype"/>
                <a:cs typeface="Palatino Linotype"/>
              </a:rPr>
              <a:t>of</a:t>
            </a:r>
            <a:r>
              <a:rPr sz="1600" kern="1200" spc="20" dirty="0">
                <a:solidFill>
                  <a:prstClr val="black"/>
                </a:solidFill>
                <a:latin typeface="Palatino Linotype"/>
                <a:cs typeface="Palatino Linotype"/>
              </a:rPr>
              <a:t> </a:t>
            </a:r>
            <a:r>
              <a:rPr sz="1600" kern="1200" spc="-5" dirty="0">
                <a:solidFill>
                  <a:prstClr val="black"/>
                </a:solidFill>
                <a:latin typeface="Cambria Math"/>
                <a:cs typeface="Cambria Math"/>
              </a:rPr>
              <a:t>𝐵</a:t>
            </a:r>
            <a:r>
              <a:rPr sz="1600" kern="1200" spc="95" dirty="0">
                <a:solidFill>
                  <a:prstClr val="black"/>
                </a:solidFill>
                <a:latin typeface="Cambria Math"/>
                <a:cs typeface="Cambria Math"/>
              </a:rPr>
              <a:t> </a:t>
            </a:r>
            <a:r>
              <a:rPr sz="1600" kern="1200" spc="-5" dirty="0">
                <a:solidFill>
                  <a:prstClr val="black"/>
                </a:solidFill>
                <a:latin typeface="Palatino Linotype"/>
                <a:cs typeface="Palatino Linotype"/>
              </a:rPr>
              <a:t>(e.g.,</a:t>
            </a:r>
            <a:r>
              <a:rPr sz="1600" kern="1200" spc="25" dirty="0">
                <a:solidFill>
                  <a:prstClr val="black"/>
                </a:solidFill>
                <a:latin typeface="Palatino Linotype"/>
                <a:cs typeface="Palatino Linotype"/>
              </a:rPr>
              <a:t> </a:t>
            </a:r>
            <a:r>
              <a:rPr sz="1600" kern="1200" spc="-5" dirty="0">
                <a:solidFill>
                  <a:prstClr val="black"/>
                </a:solidFill>
                <a:latin typeface="Cambria Math"/>
                <a:cs typeface="Cambria Math"/>
              </a:rPr>
              <a:t>𝑖𝑓</a:t>
            </a:r>
            <a:r>
              <a:rPr sz="1600" kern="1200" spc="110" dirty="0">
                <a:solidFill>
                  <a:prstClr val="black"/>
                </a:solidFill>
                <a:latin typeface="Cambria Math"/>
                <a:cs typeface="Cambria Math"/>
              </a:rPr>
              <a:t> </a:t>
            </a:r>
            <a:r>
              <a:rPr sz="1600" kern="1200" spc="-10" dirty="0">
                <a:solidFill>
                  <a:prstClr val="black"/>
                </a:solidFill>
                <a:latin typeface="Palatino Linotype"/>
                <a:cs typeface="Palatino Linotype"/>
              </a:rPr>
              <a:t>statement,</a:t>
            </a:r>
            <a:r>
              <a:rPr sz="1600" kern="1200" spc="60" dirty="0">
                <a:solidFill>
                  <a:prstClr val="black"/>
                </a:solidFill>
                <a:latin typeface="Palatino Linotype"/>
                <a:cs typeface="Palatino Linotype"/>
              </a:rPr>
              <a:t> </a:t>
            </a:r>
            <a:r>
              <a:rPr sz="1600" kern="1200" dirty="0">
                <a:solidFill>
                  <a:prstClr val="black"/>
                </a:solidFill>
                <a:latin typeface="Cambria Math"/>
                <a:cs typeface="Cambria Math"/>
              </a:rPr>
              <a:t>𝑖𝑓</a:t>
            </a:r>
            <a:r>
              <a:rPr sz="1600" kern="1200" dirty="0">
                <a:solidFill>
                  <a:prstClr val="black"/>
                </a:solidFill>
                <a:latin typeface="Palatino Linotype"/>
                <a:cs typeface="Palatino Linotype"/>
              </a:rPr>
              <a:t>-</a:t>
            </a:r>
            <a:r>
              <a:rPr sz="1600" kern="1200" dirty="0">
                <a:solidFill>
                  <a:prstClr val="black"/>
                </a:solidFill>
                <a:latin typeface="Cambria Math"/>
                <a:cs typeface="Cambria Math"/>
              </a:rPr>
              <a:t>𝑒𝑙𝑠𝑒</a:t>
            </a:r>
            <a:r>
              <a:rPr sz="1600" kern="1200" spc="110" dirty="0">
                <a:solidFill>
                  <a:prstClr val="black"/>
                </a:solidFill>
                <a:latin typeface="Cambria Math"/>
                <a:cs typeface="Cambria Math"/>
              </a:rPr>
              <a:t> </a:t>
            </a:r>
            <a:r>
              <a:rPr sz="1600" kern="1200" spc="-10" dirty="0">
                <a:solidFill>
                  <a:prstClr val="black"/>
                </a:solidFill>
                <a:latin typeface="Palatino Linotype"/>
                <a:cs typeface="Palatino Linotype"/>
              </a:rPr>
              <a:t>statement,</a:t>
            </a:r>
            <a:r>
              <a:rPr sz="1600" kern="1200" spc="55" dirty="0">
                <a:solidFill>
                  <a:prstClr val="black"/>
                </a:solidFill>
                <a:latin typeface="Palatino Linotype"/>
                <a:cs typeface="Palatino Linotype"/>
              </a:rPr>
              <a:t> </a:t>
            </a:r>
            <a:r>
              <a:rPr sz="1600" kern="1200" spc="-5" dirty="0">
                <a:solidFill>
                  <a:prstClr val="black"/>
                </a:solidFill>
                <a:latin typeface="Cambria Math"/>
                <a:cs typeface="Cambria Math"/>
              </a:rPr>
              <a:t>𝑤ℎ𝑖𝑙𝑒</a:t>
            </a:r>
            <a:r>
              <a:rPr sz="1600" kern="1200" spc="100" dirty="0">
                <a:solidFill>
                  <a:prstClr val="black"/>
                </a:solidFill>
                <a:latin typeface="Cambria Math"/>
                <a:cs typeface="Cambria Math"/>
              </a:rPr>
              <a:t> </a:t>
            </a:r>
            <a:r>
              <a:rPr sz="1600" kern="1200" spc="-10" dirty="0">
                <a:solidFill>
                  <a:prstClr val="black"/>
                </a:solidFill>
                <a:latin typeface="Palatino Linotype"/>
                <a:cs typeface="Palatino Linotype"/>
              </a:rPr>
              <a:t>statement)</a:t>
            </a:r>
            <a:endParaRPr sz="1600" kern="1200" dirty="0">
              <a:solidFill>
                <a:prstClr val="black"/>
              </a:solidFill>
              <a:latin typeface="Palatino Linotype"/>
              <a:cs typeface="Palatino Linotype"/>
            </a:endParaRPr>
          </a:p>
        </p:txBody>
      </p:sp>
      <p:pic>
        <p:nvPicPr>
          <p:cNvPr id="12" name="object 4">
            <a:extLst>
              <a:ext uri="{FF2B5EF4-FFF2-40B4-BE49-F238E27FC236}">
                <a16:creationId xmlns:a16="http://schemas.microsoft.com/office/drawing/2014/main" id="{BC181C95-F7C3-5118-EA30-05B954F55A37}"/>
              </a:ext>
            </a:extLst>
          </p:cNvPr>
          <p:cNvPicPr/>
          <p:nvPr/>
        </p:nvPicPr>
        <p:blipFill>
          <a:blip r:embed="rId4" cstate="print"/>
          <a:stretch>
            <a:fillRect/>
          </a:stretch>
        </p:blipFill>
        <p:spPr>
          <a:xfrm>
            <a:off x="612701" y="4094320"/>
            <a:ext cx="2286247" cy="1538850"/>
          </a:xfrm>
          <a:prstGeom prst="rect">
            <a:avLst/>
          </a:prstGeom>
        </p:spPr>
      </p:pic>
      <p:pic>
        <p:nvPicPr>
          <p:cNvPr id="13" name="object 5">
            <a:extLst>
              <a:ext uri="{FF2B5EF4-FFF2-40B4-BE49-F238E27FC236}">
                <a16:creationId xmlns:a16="http://schemas.microsoft.com/office/drawing/2014/main" id="{A19B9231-09DD-10AB-665C-316AD6AE009D}"/>
              </a:ext>
            </a:extLst>
          </p:cNvPr>
          <p:cNvPicPr/>
          <p:nvPr/>
        </p:nvPicPr>
        <p:blipFill>
          <a:blip r:embed="rId5" cstate="print"/>
          <a:stretch>
            <a:fillRect/>
          </a:stretch>
        </p:blipFill>
        <p:spPr>
          <a:xfrm>
            <a:off x="3405237" y="3797277"/>
            <a:ext cx="2178806" cy="2146566"/>
          </a:xfrm>
          <a:prstGeom prst="rect">
            <a:avLst/>
          </a:prstGeom>
        </p:spPr>
      </p:pic>
      <p:pic>
        <p:nvPicPr>
          <p:cNvPr id="14" name="object 6">
            <a:extLst>
              <a:ext uri="{FF2B5EF4-FFF2-40B4-BE49-F238E27FC236}">
                <a16:creationId xmlns:a16="http://schemas.microsoft.com/office/drawing/2014/main" id="{77DD8A77-0D25-F5FD-5987-66FCF9E87E3B}"/>
              </a:ext>
            </a:extLst>
          </p:cNvPr>
          <p:cNvPicPr/>
          <p:nvPr/>
        </p:nvPicPr>
        <p:blipFill>
          <a:blip r:embed="rId6" cstate="print"/>
          <a:stretch>
            <a:fillRect/>
          </a:stretch>
        </p:blipFill>
        <p:spPr>
          <a:xfrm>
            <a:off x="5932893" y="3985374"/>
            <a:ext cx="2530229" cy="1515243"/>
          </a:xfrm>
          <a:prstGeom prst="rect">
            <a:avLst/>
          </a:prstGeom>
        </p:spPr>
      </p:pic>
    </p:spTree>
    <p:extLst>
      <p:ext uri="{BB962C8B-B14F-4D97-AF65-F5344CB8AC3E}">
        <p14:creationId xmlns:p14="http://schemas.microsoft.com/office/powerpoint/2010/main" val="428153020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87</a:t>
            </a:fld>
            <a:endParaRPr lang="en-US"/>
          </a:p>
        </p:txBody>
      </p:sp>
      <p:sp>
        <p:nvSpPr>
          <p:cNvPr id="9" name="object 2">
            <a:extLst>
              <a:ext uri="{FF2B5EF4-FFF2-40B4-BE49-F238E27FC236}">
                <a16:creationId xmlns:a16="http://schemas.microsoft.com/office/drawing/2014/main" id="{3895A28D-D464-9937-C381-042532CB5886}"/>
              </a:ext>
            </a:extLst>
          </p:cNvPr>
          <p:cNvSpPr txBox="1">
            <a:spLocks/>
          </p:cNvSpPr>
          <p:nvPr/>
        </p:nvSpPr>
        <p:spPr>
          <a:xfrm>
            <a:off x="791972" y="245821"/>
            <a:ext cx="7560055" cy="1183640"/>
          </a:xfrm>
          <a:prstGeom prst="rect">
            <a:avLst/>
          </a:prstGeom>
        </p:spPr>
        <p:txBody>
          <a:bodyPr vert="horz" wrap="square" lIns="0" tIns="81280" rIns="0" bIns="0" rtlCol="0">
            <a:spAutoFit/>
          </a:bodyPr>
          <a:lstStyle>
            <a:lvl1pPr>
              <a:defRPr sz="4000" b="1" i="0">
                <a:solidFill>
                  <a:schemeClr val="tx1"/>
                </a:solidFill>
                <a:latin typeface="Palatino Linotype"/>
                <a:ea typeface="+mj-ea"/>
                <a:cs typeface="Palatino Linotype"/>
              </a:defRPr>
            </a:lvl1pPr>
          </a:lstStyle>
          <a:p>
            <a:pPr marL="1960245" marR="5080" lvl="0" indent="-1948180" defTabSz="914400" eaLnBrk="1" fontAlgn="auto" latinLnBrk="0" hangingPunct="1">
              <a:lnSpc>
                <a:spcPts val="4320"/>
              </a:lnSpc>
              <a:spcBef>
                <a:spcPts val="640"/>
              </a:spcBef>
              <a:spcAft>
                <a:spcPts val="0"/>
              </a:spcAft>
              <a:buClrTx/>
              <a:buSzTx/>
              <a:buFontTx/>
              <a:buNone/>
              <a:tabLst/>
              <a:defRPr/>
            </a:pPr>
            <a:r>
              <a:rPr kumimoji="0" lang="en-US" sz="4000" b="1" i="0" u="none" strike="noStrike" kern="0" cap="none" spc="-10" normalizeH="0" baseline="0" noProof="0" dirty="0">
                <a:ln>
                  <a:noFill/>
                </a:ln>
                <a:solidFill>
                  <a:sysClr val="windowText" lastClr="000000"/>
                </a:solidFill>
                <a:effectLst/>
                <a:uLnTx/>
                <a:uFillTx/>
                <a:latin typeface="Palatino Linotype"/>
                <a:ea typeface="+mj-ea"/>
                <a:hlinkClick r:id="rId3" action="ppaction://hlinkpres?slideindex=12&amp;slidetitle=PowerPoint 演示文稿"/>
              </a:rPr>
              <a:t>Generating</a:t>
            </a:r>
            <a:r>
              <a:rPr kumimoji="0" lang="en-US" sz="4000" b="1" i="0" u="none" strike="noStrike" kern="0" cap="none" spc="0" normalizeH="0" baseline="0" noProof="0" dirty="0">
                <a:ln>
                  <a:noFill/>
                </a:ln>
                <a:solidFill>
                  <a:sysClr val="windowText" lastClr="000000"/>
                </a:solidFill>
                <a:effectLst/>
                <a:uLnTx/>
                <a:uFillTx/>
                <a:latin typeface="Palatino Linotype"/>
                <a:ea typeface="+mj-ea"/>
                <a:hlinkClick r:id="rId3" action="ppaction://hlinkpres?slideindex=12&amp;slidetitle=PowerPoint 演示文稿"/>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hlinkClick r:id="rId3" action="ppaction://hlinkpres?slideindex=12&amp;slidetitle=PowerPoint 演示文稿"/>
              </a:rPr>
              <a:t>Three-Address</a:t>
            </a:r>
            <a:r>
              <a:rPr kumimoji="0" lang="en-US" sz="4000" b="1" i="0" u="none" strike="noStrike" kern="0" cap="none" spc="5" normalizeH="0" baseline="0" noProof="0" dirty="0">
                <a:ln>
                  <a:noFill/>
                </a:ln>
                <a:solidFill>
                  <a:sysClr val="windowText" lastClr="000000"/>
                </a:solidFill>
                <a:effectLst/>
                <a:uLnTx/>
                <a:uFillTx/>
                <a:latin typeface="Palatino Linotype"/>
                <a:ea typeface="+mj-ea"/>
                <a:hlinkClick r:id="rId3" action="ppaction://hlinkpres?slideindex=12&amp;slidetitle=PowerPoint 演示文稿"/>
              </a:rPr>
              <a:t> </a:t>
            </a:r>
            <a:r>
              <a:rPr kumimoji="0" lang="en-US" sz="4000" b="1" i="0" u="none" strike="noStrike" kern="0" cap="none" spc="-10" normalizeH="0" baseline="0" noProof="0" dirty="0">
                <a:ln>
                  <a:noFill/>
                </a:ln>
                <a:solidFill>
                  <a:sysClr val="windowText" lastClr="000000"/>
                </a:solidFill>
                <a:effectLst/>
                <a:uLnTx/>
                <a:uFillTx/>
                <a:latin typeface="Palatino Linotype"/>
                <a:ea typeface="+mj-ea"/>
                <a:hlinkClick r:id="rId3" action="ppaction://hlinkpres?slideindex=12&amp;slidetitle=PowerPoint 演示文稿"/>
              </a:rPr>
              <a:t>Code </a:t>
            </a:r>
            <a:r>
              <a:rPr kumimoji="0" lang="en-US" sz="4000" b="1" i="0" u="none" strike="noStrike" kern="0" cap="none" spc="-985" normalizeH="0" baseline="0" noProof="0" dirty="0">
                <a:ln>
                  <a:noFill/>
                </a:ln>
                <a:solidFill>
                  <a:sysClr val="windowText" lastClr="000000"/>
                </a:solidFill>
                <a:effectLst/>
                <a:uLnTx/>
                <a:uFillTx/>
                <a:latin typeface="Palatino Linotype"/>
                <a:ea typeface="+mj-ea"/>
                <a:hlinkClick r:id="rId3" action="ppaction://hlinkpres?slideindex=12&amp;slidetitle=PowerPoint 演示文稿"/>
              </a:rPr>
              <a:t> </a:t>
            </a:r>
            <a:r>
              <a:rPr kumimoji="0" lang="en-US" sz="4000" b="1" i="0" u="none" strike="noStrike" kern="0" cap="none" spc="-10" normalizeH="0" baseline="0" noProof="0" dirty="0">
                <a:ln>
                  <a:noFill/>
                </a:ln>
                <a:solidFill>
                  <a:sysClr val="windowText" lastClr="000000"/>
                </a:solidFill>
                <a:effectLst/>
                <a:uLnTx/>
                <a:uFillTx/>
                <a:latin typeface="Palatino Linotype"/>
                <a:ea typeface="+mj-ea"/>
                <a:hlinkClick r:id="rId3" action="ppaction://hlinkpres?slideindex=12&amp;slidetitle=PowerPoint 演示文稿"/>
              </a:rPr>
              <a:t>for</a:t>
            </a:r>
            <a:r>
              <a:rPr kumimoji="0" lang="en-US" sz="4000" b="1" i="0" u="none" strike="noStrike" kern="0" cap="none" spc="5" normalizeH="0" baseline="0" noProof="0" dirty="0">
                <a:ln>
                  <a:noFill/>
                </a:ln>
                <a:solidFill>
                  <a:sysClr val="windowText" lastClr="000000"/>
                </a:solidFill>
                <a:effectLst/>
                <a:uLnTx/>
                <a:uFillTx/>
                <a:latin typeface="Palatino Linotype"/>
                <a:ea typeface="+mj-ea"/>
                <a:hlinkClick r:id="rId3" action="ppaction://hlinkpres?slideindex=12&amp;slidetitle=PowerPoint 演示文稿"/>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hlinkClick r:id="rId3" action="ppaction://hlinkpres?slideindex=12&amp;slidetitle=PowerPoint 演示文稿"/>
              </a:rPr>
              <a:t>Booleans</a:t>
            </a:r>
            <a:r>
              <a:rPr kumimoji="0" lang="en-US" sz="4000" b="1" i="0" u="none" strike="noStrike" kern="0" cap="none" spc="0" normalizeH="0" baseline="0" noProof="0" dirty="0">
                <a:ln>
                  <a:noFill/>
                </a:ln>
                <a:solidFill>
                  <a:sysClr val="windowText" lastClr="000000"/>
                </a:solidFill>
                <a:effectLst/>
                <a:uLnTx/>
                <a:uFillTx/>
                <a:latin typeface="Palatino Linotype"/>
                <a:ea typeface="+mj-ea"/>
                <a:hlinkClick r:id="rId3" action="ppaction://hlinkpres?slideindex=12&amp;slidetitle=PowerPoint 演示文稿"/>
              </a:rPr>
              <a:t> </a:t>
            </a:r>
            <a:r>
              <a:rPr kumimoji="0" lang="en-US" sz="4000" b="1" i="0" u="none" strike="noStrike" kern="0" cap="none" spc="-5" normalizeH="0" baseline="0" noProof="0" dirty="0">
                <a:ln>
                  <a:noFill/>
                </a:ln>
                <a:solidFill>
                  <a:sysClr val="windowText" lastClr="000000"/>
                </a:solidFill>
                <a:effectLst/>
                <a:uLnTx/>
                <a:uFillTx/>
                <a:latin typeface="Palatino Linotype"/>
                <a:ea typeface="+mj-ea"/>
                <a:hlinkClick r:id="rId3" action="ppaction://hlinkpres?slideindex=12&amp;slidetitle=PowerPoint 演示文稿"/>
              </a:rPr>
              <a:t>(1)</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pic>
        <p:nvPicPr>
          <p:cNvPr id="10" name="object 3">
            <a:extLst>
              <a:ext uri="{FF2B5EF4-FFF2-40B4-BE49-F238E27FC236}">
                <a16:creationId xmlns:a16="http://schemas.microsoft.com/office/drawing/2014/main" id="{B52C0951-68C9-DE97-64A7-B52454900387}"/>
              </a:ext>
            </a:extLst>
          </p:cNvPr>
          <p:cNvPicPr/>
          <p:nvPr/>
        </p:nvPicPr>
        <p:blipFill>
          <a:blip r:embed="rId4" cstate="print"/>
          <a:stretch>
            <a:fillRect/>
          </a:stretch>
        </p:blipFill>
        <p:spPr>
          <a:xfrm>
            <a:off x="1650824" y="1883988"/>
            <a:ext cx="5900595" cy="4085519"/>
          </a:xfrm>
          <a:prstGeom prst="rect">
            <a:avLst/>
          </a:prstGeom>
        </p:spPr>
      </p:pic>
      <p:sp>
        <p:nvSpPr>
          <p:cNvPr id="11" name="object 4">
            <a:extLst>
              <a:ext uri="{FF2B5EF4-FFF2-40B4-BE49-F238E27FC236}">
                <a16:creationId xmlns:a16="http://schemas.microsoft.com/office/drawing/2014/main" id="{C75DC70A-3E2B-165D-E740-6076FB76ED8B}"/>
              </a:ext>
            </a:extLst>
          </p:cNvPr>
          <p:cNvSpPr txBox="1"/>
          <p:nvPr/>
        </p:nvSpPr>
        <p:spPr>
          <a:xfrm>
            <a:off x="5172583" y="2250186"/>
            <a:ext cx="1590675" cy="269240"/>
          </a:xfrm>
          <a:prstGeom prst="rect">
            <a:avLst/>
          </a:prstGeom>
        </p:spPr>
        <p:txBody>
          <a:bodyPr vert="horz" wrap="square" lIns="0" tIns="12065" rIns="0" bIns="0" rtlCol="0">
            <a:spAutoFit/>
          </a:bodyPr>
          <a:lstStyle/>
          <a:p>
            <a:pPr marL="12700" rtl="0">
              <a:spcBef>
                <a:spcPts val="95"/>
              </a:spcBef>
            </a:pPr>
            <a:r>
              <a:rPr sz="1600" kern="1200" spc="-5" dirty="0">
                <a:solidFill>
                  <a:srgbClr val="FF0000"/>
                </a:solidFill>
                <a:latin typeface="Palatino Linotype"/>
                <a:cs typeface="Palatino Linotype"/>
              </a:rPr>
              <a:t>//</a:t>
            </a:r>
            <a:r>
              <a:rPr sz="1600" kern="1200" spc="-45" dirty="0">
                <a:solidFill>
                  <a:srgbClr val="FF0000"/>
                </a:solidFill>
                <a:latin typeface="Palatino Linotype"/>
                <a:cs typeface="Palatino Linotype"/>
              </a:rPr>
              <a:t> </a:t>
            </a:r>
            <a:r>
              <a:rPr sz="1600" kern="1200" spc="-5" dirty="0">
                <a:solidFill>
                  <a:srgbClr val="FF0000"/>
                </a:solidFill>
                <a:latin typeface="Palatino Linotype"/>
                <a:cs typeface="Palatino Linotype"/>
              </a:rPr>
              <a:t>short-circuiting</a:t>
            </a:r>
            <a:endParaRPr sz="1600" kern="1200">
              <a:solidFill>
                <a:prstClr val="black"/>
              </a:solidFill>
              <a:latin typeface="Palatino Linotype"/>
              <a:cs typeface="Palatino Linotype"/>
            </a:endParaRPr>
          </a:p>
        </p:txBody>
      </p:sp>
      <p:sp>
        <p:nvSpPr>
          <p:cNvPr id="12" name="object 5">
            <a:extLst>
              <a:ext uri="{FF2B5EF4-FFF2-40B4-BE49-F238E27FC236}">
                <a16:creationId xmlns:a16="http://schemas.microsoft.com/office/drawing/2014/main" id="{9959DC92-FF0A-291A-7A6D-D68AB2D2E379}"/>
              </a:ext>
            </a:extLst>
          </p:cNvPr>
          <p:cNvSpPr txBox="1"/>
          <p:nvPr/>
        </p:nvSpPr>
        <p:spPr>
          <a:xfrm>
            <a:off x="5172583" y="3961003"/>
            <a:ext cx="1590675" cy="269240"/>
          </a:xfrm>
          <a:prstGeom prst="rect">
            <a:avLst/>
          </a:prstGeom>
        </p:spPr>
        <p:txBody>
          <a:bodyPr vert="horz" wrap="square" lIns="0" tIns="12065" rIns="0" bIns="0" rtlCol="0">
            <a:spAutoFit/>
          </a:bodyPr>
          <a:lstStyle/>
          <a:p>
            <a:pPr marL="12700" rtl="0">
              <a:spcBef>
                <a:spcPts val="95"/>
              </a:spcBef>
            </a:pPr>
            <a:r>
              <a:rPr sz="1600" kern="1200" spc="-5" dirty="0">
                <a:solidFill>
                  <a:srgbClr val="FF0000"/>
                </a:solidFill>
                <a:latin typeface="Palatino Linotype"/>
                <a:cs typeface="Palatino Linotype"/>
              </a:rPr>
              <a:t>//</a:t>
            </a:r>
            <a:r>
              <a:rPr sz="1600" kern="1200" spc="-45" dirty="0">
                <a:solidFill>
                  <a:srgbClr val="FF0000"/>
                </a:solidFill>
                <a:latin typeface="Palatino Linotype"/>
                <a:cs typeface="Palatino Linotype"/>
              </a:rPr>
              <a:t> </a:t>
            </a:r>
            <a:r>
              <a:rPr sz="1600" kern="1200" spc="-5" dirty="0">
                <a:solidFill>
                  <a:srgbClr val="FF0000"/>
                </a:solidFill>
                <a:latin typeface="Palatino Linotype"/>
                <a:cs typeface="Palatino Linotype"/>
              </a:rPr>
              <a:t>short-circuiting</a:t>
            </a:r>
            <a:endParaRPr sz="1600" kern="1200">
              <a:solidFill>
                <a:prstClr val="black"/>
              </a:solidFill>
              <a:latin typeface="Palatino Linotype"/>
              <a:cs typeface="Palatino Linotype"/>
            </a:endParaRPr>
          </a:p>
        </p:txBody>
      </p:sp>
    </p:spTree>
    <p:extLst>
      <p:ext uri="{BB962C8B-B14F-4D97-AF65-F5344CB8AC3E}">
        <p14:creationId xmlns:p14="http://schemas.microsoft.com/office/powerpoint/2010/main" val="402721494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88</a:t>
            </a:fld>
            <a:endParaRPr lang="en-US"/>
          </a:p>
        </p:txBody>
      </p:sp>
      <p:sp>
        <p:nvSpPr>
          <p:cNvPr id="7" name="object 2">
            <a:extLst>
              <a:ext uri="{FF2B5EF4-FFF2-40B4-BE49-F238E27FC236}">
                <a16:creationId xmlns:a16="http://schemas.microsoft.com/office/drawing/2014/main" id="{1139AFB6-EB2C-BC35-B827-10C6CA8939A0}"/>
              </a:ext>
            </a:extLst>
          </p:cNvPr>
          <p:cNvSpPr txBox="1">
            <a:spLocks/>
          </p:cNvSpPr>
          <p:nvPr/>
        </p:nvSpPr>
        <p:spPr>
          <a:xfrm>
            <a:off x="791972" y="245821"/>
            <a:ext cx="7560055" cy="1183640"/>
          </a:xfrm>
          <a:prstGeom prst="rect">
            <a:avLst/>
          </a:prstGeom>
        </p:spPr>
        <p:txBody>
          <a:bodyPr vert="horz" wrap="square" lIns="0" tIns="81280" rIns="0" bIns="0" rtlCol="0">
            <a:spAutoFit/>
          </a:bodyPr>
          <a:lstStyle>
            <a:lvl1pPr>
              <a:defRPr sz="4000" b="1" i="0">
                <a:solidFill>
                  <a:schemeClr val="tx1"/>
                </a:solidFill>
                <a:latin typeface="Palatino Linotype"/>
                <a:ea typeface="+mj-ea"/>
                <a:cs typeface="Palatino Linotype"/>
              </a:defRPr>
            </a:lvl1pPr>
          </a:lstStyle>
          <a:p>
            <a:pPr marL="1960245" marR="5080" lvl="0" indent="-1948180" defTabSz="914400" eaLnBrk="1" fontAlgn="auto" latinLnBrk="0" hangingPunct="1">
              <a:lnSpc>
                <a:spcPts val="4320"/>
              </a:lnSpc>
              <a:spcBef>
                <a:spcPts val="640"/>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Generating</a:t>
            </a:r>
            <a:r>
              <a:rPr kumimoji="0" lang="en-US" sz="4000" b="1" i="0" u="none" strike="noStrike" kern="0" cap="none" spc="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Three-Address</a:t>
            </a:r>
            <a:r>
              <a:rPr kumimoji="0" lang="en-US" sz="4000" b="1" i="0" u="none" strike="noStrike" kern="0" cap="none" spc="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Code </a:t>
            </a:r>
            <a:r>
              <a:rPr kumimoji="0" lang="en-US" sz="4000" b="1" i="0" u="none" strike="noStrike" kern="0" cap="none" spc="-98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for</a:t>
            </a:r>
            <a:r>
              <a:rPr kumimoji="0" lang="en-US" sz="4000" b="1" i="0" u="none" strike="noStrike" kern="0" cap="none" spc="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Booleans</a:t>
            </a:r>
            <a:r>
              <a:rPr kumimoji="0" lang="en-US" sz="4000" b="1" i="0" u="none" strike="noStrike" kern="0" cap="none" spc="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(2)</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pic>
        <p:nvPicPr>
          <p:cNvPr id="8" name="object 3">
            <a:extLst>
              <a:ext uri="{FF2B5EF4-FFF2-40B4-BE49-F238E27FC236}">
                <a16:creationId xmlns:a16="http://schemas.microsoft.com/office/drawing/2014/main" id="{F67B70E7-919D-AD1D-C746-E4065C202B7D}"/>
              </a:ext>
            </a:extLst>
          </p:cNvPr>
          <p:cNvPicPr/>
          <p:nvPr/>
        </p:nvPicPr>
        <p:blipFill>
          <a:blip r:embed="rId3" cstate="print"/>
          <a:stretch>
            <a:fillRect/>
          </a:stretch>
        </p:blipFill>
        <p:spPr>
          <a:xfrm>
            <a:off x="976905" y="2572511"/>
            <a:ext cx="7266410" cy="1961388"/>
          </a:xfrm>
          <a:prstGeom prst="rect">
            <a:avLst/>
          </a:prstGeom>
        </p:spPr>
      </p:pic>
    </p:spTree>
    <p:extLst>
      <p:ext uri="{BB962C8B-B14F-4D97-AF65-F5344CB8AC3E}">
        <p14:creationId xmlns:p14="http://schemas.microsoft.com/office/powerpoint/2010/main" val="7874902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89</a:t>
            </a:fld>
            <a:endParaRPr lang="en-US"/>
          </a:p>
        </p:txBody>
      </p:sp>
      <p:sp>
        <p:nvSpPr>
          <p:cNvPr id="45" name="object 2">
            <a:extLst>
              <a:ext uri="{FF2B5EF4-FFF2-40B4-BE49-F238E27FC236}">
                <a16:creationId xmlns:a16="http://schemas.microsoft.com/office/drawing/2014/main" id="{9C2DEFBF-886A-0442-C4EC-755D031EF8C8}"/>
              </a:ext>
            </a:extLst>
          </p:cNvPr>
          <p:cNvSpPr txBox="1">
            <a:spLocks/>
          </p:cNvSpPr>
          <p:nvPr/>
        </p:nvSpPr>
        <p:spPr>
          <a:xfrm>
            <a:off x="707542" y="304037"/>
            <a:ext cx="202565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Ex</a:t>
            </a:r>
            <a:r>
              <a:rPr kumimoji="0" lang="en-US" sz="4000" b="1" i="0" u="none" strike="noStrike" kern="0" cap="none" spc="5" normalizeH="0" baseline="0" noProof="0">
                <a:ln>
                  <a:noFill/>
                </a:ln>
                <a:solidFill>
                  <a:sysClr val="windowText" lastClr="000000"/>
                </a:solidFill>
                <a:effectLst/>
                <a:uLnTx/>
                <a:uFillTx/>
                <a:latin typeface="Palatino Linotype"/>
                <a:ea typeface="+mj-ea"/>
              </a:rPr>
              <a:t>a</a:t>
            </a:r>
            <a:r>
              <a:rPr kumimoji="0" lang="en-US" sz="4000" b="1" i="0" u="none" strike="noStrike" kern="0" cap="none" spc="-10" normalizeH="0" baseline="0" noProof="0">
                <a:ln>
                  <a:noFill/>
                </a:ln>
                <a:solidFill>
                  <a:sysClr val="windowText" lastClr="000000"/>
                </a:solidFill>
                <a:effectLst/>
                <a:uLnTx/>
                <a:uFillTx/>
                <a:latin typeface="Palatino Linotype"/>
                <a:ea typeface="+mj-ea"/>
              </a:rPr>
              <a:t>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46" name="object 3">
            <a:extLst>
              <a:ext uri="{FF2B5EF4-FFF2-40B4-BE49-F238E27FC236}">
                <a16:creationId xmlns:a16="http://schemas.microsoft.com/office/drawing/2014/main" id="{40591F59-7224-CA19-ED81-D63C5EF1BCDE}"/>
              </a:ext>
            </a:extLst>
          </p:cNvPr>
          <p:cNvSpPr txBox="1"/>
          <p:nvPr/>
        </p:nvSpPr>
        <p:spPr>
          <a:xfrm>
            <a:off x="707542" y="1233297"/>
            <a:ext cx="2872740" cy="849630"/>
          </a:xfrm>
          <a:prstGeom prst="rect">
            <a:avLst/>
          </a:prstGeom>
        </p:spPr>
        <p:txBody>
          <a:bodyPr vert="horz" wrap="square" lIns="0" tIns="12065" rIns="0" bIns="0" rtlCol="0">
            <a:spAutoFit/>
          </a:bodyPr>
          <a:lstStyle/>
          <a:p>
            <a:pPr marL="242570" indent="-230504" rtl="0">
              <a:spcBef>
                <a:spcPts val="95"/>
              </a:spcBef>
              <a:buClr>
                <a:srgbClr val="000000"/>
              </a:buClr>
              <a:buFont typeface="Arial MT"/>
              <a:buChar char="•"/>
              <a:tabLst>
                <a:tab pos="242570" algn="l"/>
                <a:tab pos="243204" algn="l"/>
              </a:tabLst>
            </a:pPr>
            <a:r>
              <a:rPr sz="2200" kern="1200" dirty="0">
                <a:solidFill>
                  <a:srgbClr val="0431FF"/>
                </a:solidFill>
                <a:latin typeface="Consolas"/>
                <a:cs typeface="Consolas"/>
              </a:rPr>
              <a:t>if</a:t>
            </a:r>
            <a:r>
              <a:rPr sz="2200" kern="1200" spc="-10" dirty="0">
                <a:solidFill>
                  <a:srgbClr val="0431FF"/>
                </a:solidFill>
                <a:latin typeface="Consolas"/>
                <a:cs typeface="Consolas"/>
              </a:rPr>
              <a:t> </a:t>
            </a:r>
            <a:r>
              <a:rPr sz="2200" kern="1200" spc="-5" dirty="0">
                <a:solidFill>
                  <a:srgbClr val="0431FF"/>
                </a:solidFill>
                <a:latin typeface="Consolas"/>
                <a:cs typeface="Consolas"/>
              </a:rPr>
              <a:t>(</a:t>
            </a:r>
            <a:r>
              <a:rPr sz="2200" kern="1200" spc="-10" dirty="0">
                <a:solidFill>
                  <a:srgbClr val="0431FF"/>
                </a:solidFill>
                <a:latin typeface="Consolas"/>
                <a:cs typeface="Consolas"/>
              </a:rPr>
              <a:t> </a:t>
            </a:r>
            <a:r>
              <a:rPr sz="2200" kern="1200" spc="-5" dirty="0">
                <a:solidFill>
                  <a:srgbClr val="0431FF"/>
                </a:solidFill>
                <a:latin typeface="Consolas"/>
                <a:cs typeface="Consolas"/>
              </a:rPr>
              <a:t>x</a:t>
            </a:r>
            <a:r>
              <a:rPr sz="2200" kern="1200" spc="-10" dirty="0">
                <a:solidFill>
                  <a:srgbClr val="0431FF"/>
                </a:solidFill>
                <a:latin typeface="Consolas"/>
                <a:cs typeface="Consolas"/>
              </a:rPr>
              <a:t> </a:t>
            </a:r>
            <a:r>
              <a:rPr sz="2200" kern="1200" spc="-5" dirty="0">
                <a:solidFill>
                  <a:srgbClr val="0431FF"/>
                </a:solidFill>
                <a:latin typeface="Consolas"/>
                <a:cs typeface="Consolas"/>
              </a:rPr>
              <a:t>&lt;</a:t>
            </a:r>
            <a:r>
              <a:rPr sz="2200" kern="1200" spc="-10" dirty="0">
                <a:solidFill>
                  <a:srgbClr val="0431FF"/>
                </a:solidFill>
                <a:latin typeface="Consolas"/>
                <a:cs typeface="Consolas"/>
              </a:rPr>
              <a:t> </a:t>
            </a:r>
            <a:r>
              <a:rPr sz="2200" kern="1200" dirty="0">
                <a:solidFill>
                  <a:srgbClr val="0431FF"/>
                </a:solidFill>
                <a:latin typeface="Consolas"/>
                <a:cs typeface="Consolas"/>
              </a:rPr>
              <a:t>100</a:t>
            </a:r>
            <a:r>
              <a:rPr sz="2200" kern="1200" spc="-5" dirty="0">
                <a:solidFill>
                  <a:srgbClr val="0431FF"/>
                </a:solidFill>
                <a:latin typeface="Consolas"/>
                <a:cs typeface="Consolas"/>
              </a:rPr>
              <a:t> </a:t>
            </a:r>
            <a:r>
              <a:rPr sz="2200" kern="1200" dirty="0">
                <a:solidFill>
                  <a:srgbClr val="0431FF"/>
                </a:solidFill>
                <a:latin typeface="Consolas"/>
                <a:cs typeface="Consolas"/>
              </a:rPr>
              <a:t>||</a:t>
            </a:r>
            <a:r>
              <a:rPr sz="2200" kern="1200" spc="-10" dirty="0">
                <a:solidFill>
                  <a:srgbClr val="0431FF"/>
                </a:solidFill>
                <a:latin typeface="Consolas"/>
                <a:cs typeface="Consolas"/>
              </a:rPr>
              <a:t> </a:t>
            </a:r>
            <a:r>
              <a:rPr sz="2200" kern="1200" spc="-5" dirty="0">
                <a:solidFill>
                  <a:srgbClr val="0431FF"/>
                </a:solidFill>
                <a:latin typeface="Consolas"/>
                <a:cs typeface="Consolas"/>
              </a:rPr>
              <a:t>x</a:t>
            </a:r>
            <a:endParaRPr sz="2200" kern="1200">
              <a:solidFill>
                <a:prstClr val="black"/>
              </a:solidFill>
              <a:latin typeface="Consolas"/>
              <a:cs typeface="Consolas"/>
            </a:endParaRPr>
          </a:p>
          <a:p>
            <a:pPr marL="1801495" rtl="0">
              <a:spcBef>
                <a:spcPts val="1690"/>
              </a:spcBef>
            </a:pPr>
            <a:r>
              <a:rPr kern="1200" dirty="0">
                <a:solidFill>
                  <a:prstClr val="black"/>
                </a:solidFill>
                <a:latin typeface="Consolas"/>
                <a:cs typeface="Consolas"/>
              </a:rPr>
              <a:t>p</a:t>
            </a:r>
            <a:endParaRPr kern="1200">
              <a:solidFill>
                <a:prstClr val="black"/>
              </a:solidFill>
              <a:latin typeface="Consolas"/>
              <a:cs typeface="Consolas"/>
            </a:endParaRPr>
          </a:p>
        </p:txBody>
      </p:sp>
      <p:sp>
        <p:nvSpPr>
          <p:cNvPr id="47" name="object 4">
            <a:extLst>
              <a:ext uri="{FF2B5EF4-FFF2-40B4-BE49-F238E27FC236}">
                <a16:creationId xmlns:a16="http://schemas.microsoft.com/office/drawing/2014/main" id="{582201AE-9E0E-A1B9-9FFB-2E34DD610BC1}"/>
              </a:ext>
            </a:extLst>
          </p:cNvPr>
          <p:cNvSpPr txBox="1"/>
          <p:nvPr/>
        </p:nvSpPr>
        <p:spPr>
          <a:xfrm>
            <a:off x="3708897" y="1233297"/>
            <a:ext cx="3720465" cy="360680"/>
          </a:xfrm>
          <a:prstGeom prst="rect">
            <a:avLst/>
          </a:prstGeom>
        </p:spPr>
        <p:txBody>
          <a:bodyPr vert="horz" wrap="square" lIns="0" tIns="12065" rIns="0" bIns="0" rtlCol="0">
            <a:spAutoFit/>
          </a:bodyPr>
          <a:lstStyle/>
          <a:p>
            <a:pPr marL="12700" rtl="0">
              <a:spcBef>
                <a:spcPts val="95"/>
              </a:spcBef>
            </a:pPr>
            <a:r>
              <a:rPr sz="2200" kern="1200" spc="-5" dirty="0">
                <a:solidFill>
                  <a:srgbClr val="0431FF"/>
                </a:solidFill>
                <a:latin typeface="Consolas"/>
                <a:cs typeface="Consolas"/>
              </a:rPr>
              <a:t>&gt; </a:t>
            </a:r>
            <a:r>
              <a:rPr sz="2200" kern="1200" dirty="0">
                <a:solidFill>
                  <a:srgbClr val="0431FF"/>
                </a:solidFill>
                <a:latin typeface="Consolas"/>
                <a:cs typeface="Consolas"/>
              </a:rPr>
              <a:t>200</a:t>
            </a:r>
            <a:r>
              <a:rPr sz="2200" kern="1200" spc="-5" dirty="0">
                <a:solidFill>
                  <a:srgbClr val="0431FF"/>
                </a:solidFill>
                <a:latin typeface="Consolas"/>
                <a:cs typeface="Consolas"/>
              </a:rPr>
              <a:t> </a:t>
            </a:r>
            <a:r>
              <a:rPr sz="2200" kern="1200" dirty="0">
                <a:solidFill>
                  <a:srgbClr val="0431FF"/>
                </a:solidFill>
                <a:latin typeface="Consolas"/>
                <a:cs typeface="Consolas"/>
              </a:rPr>
              <a:t>&amp;&amp; </a:t>
            </a:r>
            <a:r>
              <a:rPr sz="2200" kern="1200" spc="-5" dirty="0">
                <a:solidFill>
                  <a:srgbClr val="0431FF"/>
                </a:solidFill>
                <a:latin typeface="Consolas"/>
                <a:cs typeface="Consolas"/>
              </a:rPr>
              <a:t>x </a:t>
            </a:r>
            <a:r>
              <a:rPr sz="2200" kern="1200" dirty="0">
                <a:solidFill>
                  <a:srgbClr val="0431FF"/>
                </a:solidFill>
                <a:latin typeface="Consolas"/>
                <a:cs typeface="Consolas"/>
              </a:rPr>
              <a:t>!=</a:t>
            </a:r>
            <a:r>
              <a:rPr sz="2200" kern="1200" spc="-5" dirty="0">
                <a:solidFill>
                  <a:srgbClr val="0431FF"/>
                </a:solidFill>
                <a:latin typeface="Consolas"/>
                <a:cs typeface="Consolas"/>
              </a:rPr>
              <a:t> y</a:t>
            </a:r>
            <a:r>
              <a:rPr sz="2200" kern="1200" dirty="0">
                <a:solidFill>
                  <a:srgbClr val="0431FF"/>
                </a:solidFill>
                <a:latin typeface="Consolas"/>
                <a:cs typeface="Consolas"/>
              </a:rPr>
              <a:t> </a:t>
            </a:r>
            <a:r>
              <a:rPr sz="2200" kern="1200" spc="-5" dirty="0">
                <a:solidFill>
                  <a:srgbClr val="0431FF"/>
                </a:solidFill>
                <a:latin typeface="Consolas"/>
                <a:cs typeface="Consolas"/>
              </a:rPr>
              <a:t>) x</a:t>
            </a:r>
            <a:r>
              <a:rPr sz="2200" kern="1200" dirty="0">
                <a:solidFill>
                  <a:srgbClr val="0431FF"/>
                </a:solidFill>
                <a:latin typeface="Consolas"/>
                <a:cs typeface="Consolas"/>
              </a:rPr>
              <a:t> </a:t>
            </a:r>
            <a:r>
              <a:rPr sz="2200" kern="1200" spc="-5" dirty="0">
                <a:solidFill>
                  <a:srgbClr val="0431FF"/>
                </a:solidFill>
                <a:latin typeface="Consolas"/>
                <a:cs typeface="Consolas"/>
              </a:rPr>
              <a:t>= 0;</a:t>
            </a:r>
            <a:endParaRPr sz="2200" kern="1200">
              <a:solidFill>
                <a:prstClr val="black"/>
              </a:solidFill>
              <a:latin typeface="Consolas"/>
              <a:cs typeface="Consolas"/>
            </a:endParaRPr>
          </a:p>
        </p:txBody>
      </p:sp>
      <p:sp>
        <p:nvSpPr>
          <p:cNvPr id="48" name="object 5">
            <a:extLst>
              <a:ext uri="{FF2B5EF4-FFF2-40B4-BE49-F238E27FC236}">
                <a16:creationId xmlns:a16="http://schemas.microsoft.com/office/drawing/2014/main" id="{FE4CF2C8-B242-08BC-6C7D-D0C550CE4C8E}"/>
              </a:ext>
            </a:extLst>
          </p:cNvPr>
          <p:cNvSpPr txBox="1"/>
          <p:nvPr/>
        </p:nvSpPr>
        <p:spPr>
          <a:xfrm>
            <a:off x="556971" y="5026914"/>
            <a:ext cx="885825" cy="299720"/>
          </a:xfrm>
          <a:prstGeom prst="rect">
            <a:avLst/>
          </a:prstGeom>
        </p:spPr>
        <p:txBody>
          <a:bodyPr vert="horz" wrap="square" lIns="0" tIns="12700" rIns="0" bIns="0" rtlCol="0">
            <a:spAutoFit/>
          </a:bodyPr>
          <a:lstStyle/>
          <a:p>
            <a:pPr marL="12700" rtl="0">
              <a:spcBef>
                <a:spcPts val="100"/>
              </a:spcBef>
              <a:tabLst>
                <a:tab pos="497205" algn="l"/>
              </a:tabLst>
            </a:pPr>
            <a:r>
              <a:rPr kern="1200" dirty="0">
                <a:solidFill>
                  <a:srgbClr val="0431FF"/>
                </a:solidFill>
                <a:latin typeface="Consolas"/>
                <a:cs typeface="Consolas"/>
              </a:rPr>
              <a:t>x	</a:t>
            </a:r>
            <a:r>
              <a:rPr kern="1200" spc="-10" dirty="0">
                <a:solidFill>
                  <a:srgbClr val="0431FF"/>
                </a:solidFill>
                <a:latin typeface="Consolas"/>
                <a:cs typeface="Consolas"/>
              </a:rPr>
              <a:t>100</a:t>
            </a:r>
            <a:endParaRPr kern="1200">
              <a:solidFill>
                <a:prstClr val="black"/>
              </a:solidFill>
              <a:latin typeface="Consolas"/>
              <a:cs typeface="Consolas"/>
            </a:endParaRPr>
          </a:p>
        </p:txBody>
      </p:sp>
      <p:sp>
        <p:nvSpPr>
          <p:cNvPr id="49" name="object 6">
            <a:extLst>
              <a:ext uri="{FF2B5EF4-FFF2-40B4-BE49-F238E27FC236}">
                <a16:creationId xmlns:a16="http://schemas.microsoft.com/office/drawing/2014/main" id="{88B5774F-B07B-99FE-4114-9407D9976645}"/>
              </a:ext>
            </a:extLst>
          </p:cNvPr>
          <p:cNvSpPr txBox="1"/>
          <p:nvPr/>
        </p:nvSpPr>
        <p:spPr>
          <a:xfrm>
            <a:off x="556971" y="4441063"/>
            <a:ext cx="763270" cy="299720"/>
          </a:xfrm>
          <a:prstGeom prst="rect">
            <a:avLst/>
          </a:prstGeom>
        </p:spPr>
        <p:txBody>
          <a:bodyPr vert="horz" wrap="square" lIns="0" tIns="12700" rIns="0" bIns="0" rtlCol="0">
            <a:spAutoFit/>
          </a:bodyPr>
          <a:lstStyle/>
          <a:p>
            <a:pPr marL="12700" rtl="0">
              <a:spcBef>
                <a:spcPts val="100"/>
              </a:spcBef>
              <a:tabLst>
                <a:tab pos="338455" algn="l"/>
              </a:tabLst>
            </a:pPr>
            <a:r>
              <a:rPr kern="1200" dirty="0">
                <a:solidFill>
                  <a:prstClr val="black"/>
                </a:solidFill>
                <a:latin typeface="Consolas"/>
                <a:cs typeface="Consolas"/>
              </a:rPr>
              <a:t>E	</a:t>
            </a:r>
            <a:r>
              <a:rPr kern="1200" dirty="0">
                <a:solidFill>
                  <a:srgbClr val="0431FF"/>
                </a:solidFill>
                <a:latin typeface="Consolas"/>
                <a:cs typeface="Consolas"/>
              </a:rPr>
              <a:t>&lt;</a:t>
            </a:r>
            <a:r>
              <a:rPr kern="1200" spc="170" dirty="0">
                <a:solidFill>
                  <a:srgbClr val="0431FF"/>
                </a:solidFill>
                <a:latin typeface="Consolas"/>
                <a:cs typeface="Consolas"/>
              </a:rPr>
              <a:t> </a:t>
            </a:r>
            <a:r>
              <a:rPr kern="1200" dirty="0">
                <a:solidFill>
                  <a:prstClr val="black"/>
                </a:solidFill>
                <a:latin typeface="Consolas"/>
                <a:cs typeface="Consolas"/>
              </a:rPr>
              <a:t>E</a:t>
            </a:r>
            <a:endParaRPr kern="1200">
              <a:solidFill>
                <a:prstClr val="black"/>
              </a:solidFill>
              <a:latin typeface="Consolas"/>
              <a:cs typeface="Consolas"/>
            </a:endParaRPr>
          </a:p>
        </p:txBody>
      </p:sp>
      <p:sp>
        <p:nvSpPr>
          <p:cNvPr id="50" name="object 7">
            <a:extLst>
              <a:ext uri="{FF2B5EF4-FFF2-40B4-BE49-F238E27FC236}">
                <a16:creationId xmlns:a16="http://schemas.microsoft.com/office/drawing/2014/main" id="{DB4104A3-0C95-E7D9-D74F-FB66156FE6BC}"/>
              </a:ext>
            </a:extLst>
          </p:cNvPr>
          <p:cNvSpPr/>
          <p:nvPr/>
        </p:nvSpPr>
        <p:spPr>
          <a:xfrm>
            <a:off x="633983" y="4789932"/>
            <a:ext cx="0" cy="216535"/>
          </a:xfrm>
          <a:custGeom>
            <a:avLst/>
            <a:gdLst/>
            <a:ahLst/>
            <a:cxnLst/>
            <a:rect l="l" t="t" r="r" b="b"/>
            <a:pathLst>
              <a:path h="216535">
                <a:moveTo>
                  <a:pt x="0" y="0"/>
                </a:moveTo>
                <a:lnTo>
                  <a:pt x="0" y="216408"/>
                </a:lnTo>
              </a:path>
            </a:pathLst>
          </a:custGeom>
          <a:ln w="12700">
            <a:solidFill>
              <a:srgbClr val="000000"/>
            </a:solidFill>
            <a:prstDash val="sysDash"/>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1" name="object 8">
            <a:extLst>
              <a:ext uri="{FF2B5EF4-FFF2-40B4-BE49-F238E27FC236}">
                <a16:creationId xmlns:a16="http://schemas.microsoft.com/office/drawing/2014/main" id="{59E7AD30-4BAA-F8B8-FFE0-9A89E669A2A8}"/>
              </a:ext>
            </a:extLst>
          </p:cNvPr>
          <p:cNvSpPr/>
          <p:nvPr/>
        </p:nvSpPr>
        <p:spPr>
          <a:xfrm>
            <a:off x="1245108" y="4789932"/>
            <a:ext cx="0" cy="216535"/>
          </a:xfrm>
          <a:custGeom>
            <a:avLst/>
            <a:gdLst/>
            <a:ahLst/>
            <a:cxnLst/>
            <a:rect l="l" t="t" r="r" b="b"/>
            <a:pathLst>
              <a:path h="216535">
                <a:moveTo>
                  <a:pt x="0" y="0"/>
                </a:moveTo>
                <a:lnTo>
                  <a:pt x="0" y="216408"/>
                </a:lnTo>
              </a:path>
            </a:pathLst>
          </a:custGeom>
          <a:ln w="12700">
            <a:solidFill>
              <a:srgbClr val="000000"/>
            </a:solidFill>
            <a:prstDash val="sysDash"/>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2" name="object 9">
            <a:extLst>
              <a:ext uri="{FF2B5EF4-FFF2-40B4-BE49-F238E27FC236}">
                <a16:creationId xmlns:a16="http://schemas.microsoft.com/office/drawing/2014/main" id="{D615AC09-5FC0-994B-AB44-C05CAE1C9564}"/>
              </a:ext>
            </a:extLst>
          </p:cNvPr>
          <p:cNvSpPr txBox="1"/>
          <p:nvPr/>
        </p:nvSpPr>
        <p:spPr>
          <a:xfrm>
            <a:off x="880973" y="3892042"/>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B</a:t>
            </a:r>
            <a:endParaRPr kern="1200">
              <a:solidFill>
                <a:prstClr val="black"/>
              </a:solidFill>
              <a:latin typeface="Consolas"/>
              <a:cs typeface="Consolas"/>
            </a:endParaRPr>
          </a:p>
        </p:txBody>
      </p:sp>
      <p:sp>
        <p:nvSpPr>
          <p:cNvPr id="53" name="object 10">
            <a:extLst>
              <a:ext uri="{FF2B5EF4-FFF2-40B4-BE49-F238E27FC236}">
                <a16:creationId xmlns:a16="http://schemas.microsoft.com/office/drawing/2014/main" id="{2558FD1C-44F3-A195-5A60-3BD46CE40BB4}"/>
              </a:ext>
            </a:extLst>
          </p:cNvPr>
          <p:cNvSpPr/>
          <p:nvPr/>
        </p:nvSpPr>
        <p:spPr>
          <a:xfrm>
            <a:off x="633983" y="4241291"/>
            <a:ext cx="610870" cy="179705"/>
          </a:xfrm>
          <a:custGeom>
            <a:avLst/>
            <a:gdLst/>
            <a:ahLst/>
            <a:cxnLst/>
            <a:rect l="l" t="t" r="r" b="b"/>
            <a:pathLst>
              <a:path w="610869" h="179704">
                <a:moveTo>
                  <a:pt x="323964" y="0"/>
                </a:moveTo>
                <a:lnTo>
                  <a:pt x="0" y="179450"/>
                </a:lnTo>
              </a:path>
              <a:path w="610869" h="179704">
                <a:moveTo>
                  <a:pt x="323088" y="0"/>
                </a:moveTo>
                <a:lnTo>
                  <a:pt x="610717" y="179450"/>
                </a:lnTo>
              </a:path>
              <a:path w="610869" h="179704">
                <a:moveTo>
                  <a:pt x="323088" y="0"/>
                </a:moveTo>
                <a:lnTo>
                  <a:pt x="325386" y="179450"/>
                </a:lnTo>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4" name="object 11">
            <a:extLst>
              <a:ext uri="{FF2B5EF4-FFF2-40B4-BE49-F238E27FC236}">
                <a16:creationId xmlns:a16="http://schemas.microsoft.com/office/drawing/2014/main" id="{7AE1E22B-429B-A6BA-0DDD-B915145E40C4}"/>
              </a:ext>
            </a:extLst>
          </p:cNvPr>
          <p:cNvSpPr txBox="1"/>
          <p:nvPr/>
        </p:nvSpPr>
        <p:spPr>
          <a:xfrm>
            <a:off x="3197479" y="3871341"/>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B</a:t>
            </a:r>
            <a:endParaRPr kern="1200">
              <a:solidFill>
                <a:prstClr val="black"/>
              </a:solidFill>
              <a:latin typeface="Consolas"/>
              <a:cs typeface="Consolas"/>
            </a:endParaRPr>
          </a:p>
        </p:txBody>
      </p:sp>
      <p:sp>
        <p:nvSpPr>
          <p:cNvPr id="55" name="object 12">
            <a:extLst>
              <a:ext uri="{FF2B5EF4-FFF2-40B4-BE49-F238E27FC236}">
                <a16:creationId xmlns:a16="http://schemas.microsoft.com/office/drawing/2014/main" id="{8E3AD780-70D8-6BEF-9D9C-EC1268E3D86D}"/>
              </a:ext>
            </a:extLst>
          </p:cNvPr>
          <p:cNvSpPr txBox="1"/>
          <p:nvPr/>
        </p:nvSpPr>
        <p:spPr>
          <a:xfrm>
            <a:off x="2074926" y="3866769"/>
            <a:ext cx="236220" cy="299720"/>
          </a:xfrm>
          <a:prstGeom prst="rect">
            <a:avLst/>
          </a:prstGeom>
        </p:spPr>
        <p:txBody>
          <a:bodyPr vert="horz" wrap="square" lIns="0" tIns="12700" rIns="0" bIns="0" rtlCol="0">
            <a:spAutoFit/>
          </a:bodyPr>
          <a:lstStyle/>
          <a:p>
            <a:pPr marL="12700" rtl="0">
              <a:spcBef>
                <a:spcPts val="100"/>
              </a:spcBef>
            </a:pPr>
            <a:r>
              <a:rPr kern="1200" spc="-5" dirty="0">
                <a:solidFill>
                  <a:prstClr val="black"/>
                </a:solidFill>
                <a:cs typeface="Calibri"/>
              </a:rPr>
              <a:t>||</a:t>
            </a:r>
            <a:endParaRPr kern="1200">
              <a:solidFill>
                <a:prstClr val="black"/>
              </a:solidFill>
              <a:cs typeface="Calibri"/>
            </a:endParaRPr>
          </a:p>
        </p:txBody>
      </p:sp>
      <p:sp>
        <p:nvSpPr>
          <p:cNvPr id="56" name="object 13">
            <a:extLst>
              <a:ext uri="{FF2B5EF4-FFF2-40B4-BE49-F238E27FC236}">
                <a16:creationId xmlns:a16="http://schemas.microsoft.com/office/drawing/2014/main" id="{A5C8CB34-CAF9-0553-DF06-8EF0253BDBF2}"/>
              </a:ext>
            </a:extLst>
          </p:cNvPr>
          <p:cNvSpPr txBox="1"/>
          <p:nvPr/>
        </p:nvSpPr>
        <p:spPr>
          <a:xfrm>
            <a:off x="2502789" y="3129534"/>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B</a:t>
            </a:r>
            <a:endParaRPr kern="1200">
              <a:solidFill>
                <a:prstClr val="black"/>
              </a:solidFill>
              <a:latin typeface="Consolas"/>
              <a:cs typeface="Consolas"/>
            </a:endParaRPr>
          </a:p>
        </p:txBody>
      </p:sp>
      <p:sp>
        <p:nvSpPr>
          <p:cNvPr id="57" name="object 14">
            <a:extLst>
              <a:ext uri="{FF2B5EF4-FFF2-40B4-BE49-F238E27FC236}">
                <a16:creationId xmlns:a16="http://schemas.microsoft.com/office/drawing/2014/main" id="{733A1D0B-4181-911A-F3E9-BFEEE505675E}"/>
              </a:ext>
            </a:extLst>
          </p:cNvPr>
          <p:cNvSpPr/>
          <p:nvPr/>
        </p:nvSpPr>
        <p:spPr>
          <a:xfrm>
            <a:off x="957072" y="3479291"/>
            <a:ext cx="2316480" cy="393065"/>
          </a:xfrm>
          <a:custGeom>
            <a:avLst/>
            <a:gdLst/>
            <a:ahLst/>
            <a:cxnLst/>
            <a:rect l="l" t="t" r="r" b="b"/>
            <a:pathLst>
              <a:path w="2316479" h="393064">
                <a:moveTo>
                  <a:pt x="0" y="393065"/>
                </a:moveTo>
                <a:lnTo>
                  <a:pt x="1621536" y="0"/>
                </a:lnTo>
              </a:path>
              <a:path w="2316479" h="393064">
                <a:moveTo>
                  <a:pt x="1312164" y="369316"/>
                </a:moveTo>
                <a:lnTo>
                  <a:pt x="1622171" y="0"/>
                </a:lnTo>
              </a:path>
              <a:path w="2316479" h="393064">
                <a:moveTo>
                  <a:pt x="2316099" y="372110"/>
                </a:moveTo>
                <a:lnTo>
                  <a:pt x="1621536" y="0"/>
                </a:lnTo>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58" name="object 15">
            <a:extLst>
              <a:ext uri="{FF2B5EF4-FFF2-40B4-BE49-F238E27FC236}">
                <a16:creationId xmlns:a16="http://schemas.microsoft.com/office/drawing/2014/main" id="{099D1E8D-A15A-A971-AF81-F1B57C5DC545}"/>
              </a:ext>
            </a:extLst>
          </p:cNvPr>
          <p:cNvSpPr txBox="1"/>
          <p:nvPr/>
        </p:nvSpPr>
        <p:spPr>
          <a:xfrm>
            <a:off x="659383" y="3128009"/>
            <a:ext cx="146685" cy="299720"/>
          </a:xfrm>
          <a:prstGeom prst="rect">
            <a:avLst/>
          </a:prstGeom>
        </p:spPr>
        <p:txBody>
          <a:bodyPr vert="horz" wrap="square" lIns="0" tIns="12700" rIns="0" bIns="0" rtlCol="0">
            <a:spAutoFit/>
          </a:bodyPr>
          <a:lstStyle/>
          <a:p>
            <a:pPr marL="12700" rtl="0">
              <a:spcBef>
                <a:spcPts val="100"/>
              </a:spcBef>
            </a:pPr>
            <a:r>
              <a:rPr kern="1200" spc="-10" dirty="0">
                <a:solidFill>
                  <a:srgbClr val="0431FF"/>
                </a:solidFill>
                <a:cs typeface="Calibri"/>
              </a:rPr>
              <a:t>if</a:t>
            </a:r>
            <a:endParaRPr kern="1200">
              <a:solidFill>
                <a:prstClr val="black"/>
              </a:solidFill>
              <a:cs typeface="Calibri"/>
            </a:endParaRPr>
          </a:p>
        </p:txBody>
      </p:sp>
      <p:sp>
        <p:nvSpPr>
          <p:cNvPr id="59" name="object 16">
            <a:extLst>
              <a:ext uri="{FF2B5EF4-FFF2-40B4-BE49-F238E27FC236}">
                <a16:creationId xmlns:a16="http://schemas.microsoft.com/office/drawing/2014/main" id="{53580E6A-248D-4EC8-BBF8-206FF5F7EF94}"/>
              </a:ext>
            </a:extLst>
          </p:cNvPr>
          <p:cNvSpPr txBox="1"/>
          <p:nvPr/>
        </p:nvSpPr>
        <p:spPr>
          <a:xfrm>
            <a:off x="1649348" y="3128009"/>
            <a:ext cx="95250" cy="299720"/>
          </a:xfrm>
          <a:prstGeom prst="rect">
            <a:avLst/>
          </a:prstGeom>
        </p:spPr>
        <p:txBody>
          <a:bodyPr vert="horz" wrap="square" lIns="0" tIns="12700" rIns="0" bIns="0" rtlCol="0">
            <a:spAutoFit/>
          </a:bodyPr>
          <a:lstStyle/>
          <a:p>
            <a:pPr marL="12700" rtl="0">
              <a:spcBef>
                <a:spcPts val="100"/>
              </a:spcBef>
            </a:pPr>
            <a:r>
              <a:rPr kern="1200" dirty="0">
                <a:solidFill>
                  <a:srgbClr val="0431FF"/>
                </a:solidFill>
                <a:cs typeface="Calibri"/>
              </a:rPr>
              <a:t>(</a:t>
            </a:r>
            <a:endParaRPr kern="1200">
              <a:solidFill>
                <a:prstClr val="black"/>
              </a:solidFill>
              <a:cs typeface="Calibri"/>
            </a:endParaRPr>
          </a:p>
        </p:txBody>
      </p:sp>
      <p:sp>
        <p:nvSpPr>
          <p:cNvPr id="60" name="object 17">
            <a:extLst>
              <a:ext uri="{FF2B5EF4-FFF2-40B4-BE49-F238E27FC236}">
                <a16:creationId xmlns:a16="http://schemas.microsoft.com/office/drawing/2014/main" id="{A17A9A70-26AE-2030-05B0-2786DDC39B0F}"/>
              </a:ext>
            </a:extLst>
          </p:cNvPr>
          <p:cNvSpPr txBox="1"/>
          <p:nvPr/>
        </p:nvSpPr>
        <p:spPr>
          <a:xfrm>
            <a:off x="3262629" y="3128009"/>
            <a:ext cx="95250" cy="299720"/>
          </a:xfrm>
          <a:prstGeom prst="rect">
            <a:avLst/>
          </a:prstGeom>
        </p:spPr>
        <p:txBody>
          <a:bodyPr vert="horz" wrap="square" lIns="0" tIns="12700" rIns="0" bIns="0" rtlCol="0">
            <a:spAutoFit/>
          </a:bodyPr>
          <a:lstStyle/>
          <a:p>
            <a:pPr marL="12700" rtl="0">
              <a:spcBef>
                <a:spcPts val="100"/>
              </a:spcBef>
            </a:pPr>
            <a:r>
              <a:rPr kern="1200" dirty="0">
                <a:solidFill>
                  <a:srgbClr val="0431FF"/>
                </a:solidFill>
                <a:cs typeface="Calibri"/>
              </a:rPr>
              <a:t>)</a:t>
            </a:r>
            <a:endParaRPr kern="1200">
              <a:solidFill>
                <a:prstClr val="black"/>
              </a:solidFill>
              <a:cs typeface="Calibri"/>
            </a:endParaRPr>
          </a:p>
        </p:txBody>
      </p:sp>
      <p:sp>
        <p:nvSpPr>
          <p:cNvPr id="61" name="object 18">
            <a:extLst>
              <a:ext uri="{FF2B5EF4-FFF2-40B4-BE49-F238E27FC236}">
                <a16:creationId xmlns:a16="http://schemas.microsoft.com/office/drawing/2014/main" id="{14AFA48F-5BFE-48D6-EC42-DA9C6E788629}"/>
              </a:ext>
            </a:extLst>
          </p:cNvPr>
          <p:cNvSpPr txBox="1"/>
          <p:nvPr/>
        </p:nvSpPr>
        <p:spPr>
          <a:xfrm>
            <a:off x="5234178" y="4417314"/>
            <a:ext cx="151130" cy="299720"/>
          </a:xfrm>
          <a:prstGeom prst="rect">
            <a:avLst/>
          </a:prstGeom>
        </p:spPr>
        <p:txBody>
          <a:bodyPr vert="horz" wrap="square" lIns="0" tIns="12700" rIns="0" bIns="0" rtlCol="0">
            <a:spAutoFit/>
          </a:bodyPr>
          <a:lstStyle/>
          <a:p>
            <a:pPr marL="12700" rtl="0">
              <a:spcBef>
                <a:spcPts val="100"/>
              </a:spcBef>
            </a:pPr>
            <a:r>
              <a:rPr kern="1200" dirty="0">
                <a:solidFill>
                  <a:srgbClr val="0431FF"/>
                </a:solidFill>
                <a:latin typeface="Consolas"/>
                <a:cs typeface="Consolas"/>
              </a:rPr>
              <a:t>0</a:t>
            </a:r>
            <a:endParaRPr kern="1200">
              <a:solidFill>
                <a:prstClr val="black"/>
              </a:solidFill>
              <a:latin typeface="Consolas"/>
              <a:cs typeface="Consolas"/>
            </a:endParaRPr>
          </a:p>
        </p:txBody>
      </p:sp>
      <p:sp>
        <p:nvSpPr>
          <p:cNvPr id="62" name="object 19">
            <a:extLst>
              <a:ext uri="{FF2B5EF4-FFF2-40B4-BE49-F238E27FC236}">
                <a16:creationId xmlns:a16="http://schemas.microsoft.com/office/drawing/2014/main" id="{98A600CC-FD1D-D3FD-40B6-A1AD8D0E403E}"/>
              </a:ext>
            </a:extLst>
          </p:cNvPr>
          <p:cNvSpPr/>
          <p:nvPr/>
        </p:nvSpPr>
        <p:spPr>
          <a:xfrm>
            <a:off x="4575047" y="4216908"/>
            <a:ext cx="735965" cy="186690"/>
          </a:xfrm>
          <a:custGeom>
            <a:avLst/>
            <a:gdLst/>
            <a:ahLst/>
            <a:cxnLst/>
            <a:rect l="l" t="t" r="r" b="b"/>
            <a:pathLst>
              <a:path w="735964" h="186689">
                <a:moveTo>
                  <a:pt x="165100" y="0"/>
                </a:moveTo>
                <a:lnTo>
                  <a:pt x="0" y="179451"/>
                </a:lnTo>
              </a:path>
              <a:path w="735964" h="186689">
                <a:moveTo>
                  <a:pt x="166115" y="0"/>
                </a:moveTo>
                <a:lnTo>
                  <a:pt x="735456" y="179451"/>
                </a:lnTo>
              </a:path>
              <a:path w="735964" h="186689">
                <a:moveTo>
                  <a:pt x="166115" y="0"/>
                </a:moveTo>
                <a:lnTo>
                  <a:pt x="398144" y="186436"/>
                </a:lnTo>
              </a:path>
            </a:pathLst>
          </a:custGeom>
          <a:ln w="12700">
            <a:solidFill>
              <a:srgbClr val="000000"/>
            </a:solidFill>
            <a:prstDash val="sysDash"/>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3" name="object 20">
            <a:extLst>
              <a:ext uri="{FF2B5EF4-FFF2-40B4-BE49-F238E27FC236}">
                <a16:creationId xmlns:a16="http://schemas.microsoft.com/office/drawing/2014/main" id="{03367FAC-14F6-EB9F-E55D-B011D7934E43}"/>
              </a:ext>
            </a:extLst>
          </p:cNvPr>
          <p:cNvSpPr txBox="1"/>
          <p:nvPr/>
        </p:nvSpPr>
        <p:spPr>
          <a:xfrm>
            <a:off x="3572636" y="3868292"/>
            <a:ext cx="1553210" cy="1507490"/>
          </a:xfrm>
          <a:prstGeom prst="rect">
            <a:avLst/>
          </a:prstGeom>
        </p:spPr>
        <p:txBody>
          <a:bodyPr vert="horz" wrap="square" lIns="0" tIns="12700" rIns="0" bIns="0" rtlCol="0">
            <a:spAutoFit/>
          </a:bodyPr>
          <a:lstStyle/>
          <a:p>
            <a:pPr marL="788035" rtl="0">
              <a:spcBef>
                <a:spcPts val="100"/>
              </a:spcBef>
            </a:pPr>
            <a:r>
              <a:rPr kern="1200" spc="-5" dirty="0">
                <a:solidFill>
                  <a:prstClr val="black"/>
                </a:solidFill>
                <a:latin typeface="Consolas"/>
                <a:cs typeface="Consolas"/>
              </a:rPr>
              <a:t>assi</a:t>
            </a:r>
            <a:r>
              <a:rPr kern="1200" dirty="0">
                <a:solidFill>
                  <a:prstClr val="black"/>
                </a:solidFill>
                <a:latin typeface="Consolas"/>
                <a:cs typeface="Consolas"/>
              </a:rPr>
              <a:t>gn</a:t>
            </a:r>
            <a:endParaRPr kern="1200">
              <a:solidFill>
                <a:prstClr val="black"/>
              </a:solidFill>
              <a:latin typeface="Consolas"/>
              <a:cs typeface="Consolas"/>
            </a:endParaRPr>
          </a:p>
          <a:p>
            <a:pPr rtl="0">
              <a:spcBef>
                <a:spcPts val="50"/>
              </a:spcBef>
            </a:pPr>
            <a:endParaRPr sz="1850" kern="1200">
              <a:solidFill>
                <a:prstClr val="black"/>
              </a:solidFill>
              <a:latin typeface="Consolas"/>
              <a:cs typeface="Consolas"/>
            </a:endParaRPr>
          </a:p>
          <a:p>
            <a:pPr marL="939165" rtl="0">
              <a:tabLst>
                <a:tab pos="1336675" algn="l"/>
              </a:tabLst>
            </a:pPr>
            <a:r>
              <a:rPr sz="2700" kern="1200" baseline="1543" dirty="0">
                <a:solidFill>
                  <a:srgbClr val="0431FF"/>
                </a:solidFill>
                <a:latin typeface="Consolas"/>
                <a:cs typeface="Consolas"/>
              </a:rPr>
              <a:t>x	</a:t>
            </a:r>
            <a:r>
              <a:rPr kern="1200" dirty="0">
                <a:solidFill>
                  <a:srgbClr val="0431FF"/>
                </a:solidFill>
                <a:latin typeface="Consolas"/>
                <a:cs typeface="Consolas"/>
              </a:rPr>
              <a:t>=</a:t>
            </a:r>
            <a:endParaRPr kern="1200">
              <a:solidFill>
                <a:prstClr val="black"/>
              </a:solidFill>
              <a:latin typeface="Consolas"/>
              <a:cs typeface="Consolas"/>
            </a:endParaRPr>
          </a:p>
          <a:p>
            <a:pPr rtl="0">
              <a:spcBef>
                <a:spcPts val="45"/>
              </a:spcBef>
            </a:pPr>
            <a:endParaRPr sz="2500" kern="1200">
              <a:solidFill>
                <a:prstClr val="black"/>
              </a:solidFill>
              <a:latin typeface="Consolas"/>
              <a:cs typeface="Consolas"/>
            </a:endParaRPr>
          </a:p>
          <a:p>
            <a:pPr marL="12700" rtl="0">
              <a:tabLst>
                <a:tab pos="368935" algn="l"/>
                <a:tab pos="883285" algn="l"/>
              </a:tabLst>
            </a:pPr>
            <a:r>
              <a:rPr sz="2700" kern="1200" baseline="1543" dirty="0">
                <a:solidFill>
                  <a:prstClr val="black"/>
                </a:solidFill>
                <a:latin typeface="Consolas"/>
                <a:cs typeface="Consolas"/>
              </a:rPr>
              <a:t>E	</a:t>
            </a:r>
            <a:r>
              <a:rPr kern="1200" spc="-5" dirty="0">
                <a:solidFill>
                  <a:srgbClr val="0431FF"/>
                </a:solidFill>
                <a:latin typeface="Consolas"/>
                <a:cs typeface="Consolas"/>
              </a:rPr>
              <a:t>!=	</a:t>
            </a:r>
            <a:r>
              <a:rPr sz="2700" kern="1200" baseline="1543" dirty="0">
                <a:solidFill>
                  <a:prstClr val="black"/>
                </a:solidFill>
                <a:latin typeface="Consolas"/>
                <a:cs typeface="Consolas"/>
              </a:rPr>
              <a:t>E</a:t>
            </a:r>
            <a:endParaRPr sz="2700" kern="1200" baseline="1543">
              <a:solidFill>
                <a:prstClr val="black"/>
              </a:solidFill>
              <a:latin typeface="Consolas"/>
              <a:cs typeface="Consolas"/>
            </a:endParaRPr>
          </a:p>
        </p:txBody>
      </p:sp>
      <p:sp>
        <p:nvSpPr>
          <p:cNvPr id="64" name="object 21">
            <a:extLst>
              <a:ext uri="{FF2B5EF4-FFF2-40B4-BE49-F238E27FC236}">
                <a16:creationId xmlns:a16="http://schemas.microsoft.com/office/drawing/2014/main" id="{C9E2B63A-E86D-E396-0A9B-32EE78616BCB}"/>
              </a:ext>
            </a:extLst>
          </p:cNvPr>
          <p:cNvSpPr txBox="1"/>
          <p:nvPr/>
        </p:nvSpPr>
        <p:spPr>
          <a:xfrm>
            <a:off x="4664455" y="3127628"/>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s</a:t>
            </a:r>
            <a:endParaRPr kern="1200">
              <a:solidFill>
                <a:prstClr val="black"/>
              </a:solidFill>
              <a:latin typeface="Consolas"/>
              <a:cs typeface="Consolas"/>
            </a:endParaRPr>
          </a:p>
        </p:txBody>
      </p:sp>
      <p:sp>
        <p:nvSpPr>
          <p:cNvPr id="65" name="object 22">
            <a:extLst>
              <a:ext uri="{FF2B5EF4-FFF2-40B4-BE49-F238E27FC236}">
                <a16:creationId xmlns:a16="http://schemas.microsoft.com/office/drawing/2014/main" id="{55230931-342F-683A-CF1A-6E812B928792}"/>
              </a:ext>
            </a:extLst>
          </p:cNvPr>
          <p:cNvSpPr/>
          <p:nvPr/>
        </p:nvSpPr>
        <p:spPr>
          <a:xfrm>
            <a:off x="4741164" y="3476244"/>
            <a:ext cx="0" cy="371475"/>
          </a:xfrm>
          <a:custGeom>
            <a:avLst/>
            <a:gdLst/>
            <a:ahLst/>
            <a:cxnLst/>
            <a:rect l="l" t="t" r="r" b="b"/>
            <a:pathLst>
              <a:path h="371475">
                <a:moveTo>
                  <a:pt x="0" y="0"/>
                </a:moveTo>
                <a:lnTo>
                  <a:pt x="0" y="371220"/>
                </a:lnTo>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6" name="object 23">
            <a:extLst>
              <a:ext uri="{FF2B5EF4-FFF2-40B4-BE49-F238E27FC236}">
                <a16:creationId xmlns:a16="http://schemas.microsoft.com/office/drawing/2014/main" id="{6F3B3FDB-52A6-DDFC-9656-2C72940B556C}"/>
              </a:ext>
            </a:extLst>
          </p:cNvPr>
          <p:cNvSpPr txBox="1"/>
          <p:nvPr/>
        </p:nvSpPr>
        <p:spPr>
          <a:xfrm>
            <a:off x="5982461" y="5162803"/>
            <a:ext cx="2055495" cy="666115"/>
          </a:xfrm>
          <a:prstGeom prst="rect">
            <a:avLst/>
          </a:prstGeom>
        </p:spPr>
        <p:txBody>
          <a:bodyPr vert="horz" wrap="square" lIns="0" tIns="12700" rIns="0" bIns="0" rtlCol="0">
            <a:spAutoFit/>
          </a:bodyPr>
          <a:lstStyle/>
          <a:p>
            <a:pPr marL="12700" marR="5080" rtl="0">
              <a:spcBef>
                <a:spcPts val="100"/>
              </a:spcBef>
            </a:pPr>
            <a:r>
              <a:rPr sz="1400" kern="1200" dirty="0">
                <a:solidFill>
                  <a:schemeClr val="bg2">
                    <a:lumMod val="50000"/>
                  </a:schemeClr>
                </a:solidFill>
                <a:latin typeface="Palatino Linotype"/>
                <a:cs typeface="Palatino Linotype"/>
              </a:rPr>
              <a:t>Dashed </a:t>
            </a:r>
            <a:r>
              <a:rPr sz="1400" kern="1200" spc="-5" dirty="0">
                <a:solidFill>
                  <a:schemeClr val="bg2">
                    <a:lumMod val="50000"/>
                  </a:schemeClr>
                </a:solidFill>
                <a:latin typeface="Palatino Linotype"/>
                <a:cs typeface="Palatino Linotype"/>
              </a:rPr>
              <a:t>lines </a:t>
            </a:r>
            <a:r>
              <a:rPr sz="1400" kern="1200" dirty="0">
                <a:solidFill>
                  <a:schemeClr val="bg2">
                    <a:lumMod val="50000"/>
                  </a:schemeClr>
                </a:solidFill>
                <a:latin typeface="Palatino Linotype"/>
                <a:cs typeface="Palatino Linotype"/>
              </a:rPr>
              <a:t>mean </a:t>
            </a:r>
            <a:r>
              <a:rPr sz="1400" kern="1200" spc="-5" dirty="0">
                <a:solidFill>
                  <a:schemeClr val="bg2">
                    <a:lumMod val="50000"/>
                  </a:schemeClr>
                </a:solidFill>
                <a:latin typeface="Palatino Linotype"/>
                <a:cs typeface="Palatino Linotype"/>
              </a:rPr>
              <a:t>that </a:t>
            </a:r>
            <a:r>
              <a:rPr sz="1400" kern="1200"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the</a:t>
            </a:r>
            <a:r>
              <a:rPr sz="1400" kern="1200" spc="-15" dirty="0">
                <a:solidFill>
                  <a:schemeClr val="bg2">
                    <a:lumMod val="50000"/>
                  </a:schemeClr>
                </a:solidFill>
                <a:latin typeface="Palatino Linotype"/>
                <a:cs typeface="Palatino Linotype"/>
              </a:rPr>
              <a:t> </a:t>
            </a:r>
            <a:r>
              <a:rPr sz="1400" kern="1200" dirty="0">
                <a:solidFill>
                  <a:schemeClr val="bg2">
                    <a:lumMod val="50000"/>
                  </a:schemeClr>
                </a:solidFill>
                <a:latin typeface="Palatino Linotype"/>
                <a:cs typeface="Palatino Linotype"/>
              </a:rPr>
              <a:t>reduction</a:t>
            </a:r>
            <a:r>
              <a:rPr sz="1400" kern="1200" spc="-25" dirty="0">
                <a:solidFill>
                  <a:schemeClr val="bg2">
                    <a:lumMod val="50000"/>
                  </a:schemeClr>
                </a:solidFill>
                <a:latin typeface="Palatino Linotype"/>
                <a:cs typeface="Palatino Linotype"/>
              </a:rPr>
              <a:t> </a:t>
            </a:r>
            <a:r>
              <a:rPr sz="1400" kern="1200" dirty="0">
                <a:solidFill>
                  <a:schemeClr val="bg2">
                    <a:lumMod val="50000"/>
                  </a:schemeClr>
                </a:solidFill>
                <a:latin typeface="Palatino Linotype"/>
                <a:cs typeface="Palatino Linotype"/>
              </a:rPr>
              <a:t>may</a:t>
            </a:r>
            <a:r>
              <a:rPr sz="1400" kern="1200" spc="-35" dirty="0">
                <a:solidFill>
                  <a:schemeClr val="bg2">
                    <a:lumMod val="50000"/>
                  </a:schemeClr>
                </a:solidFill>
                <a:latin typeface="Palatino Linotype"/>
                <a:cs typeface="Palatino Linotype"/>
              </a:rPr>
              <a:t> </a:t>
            </a:r>
            <a:r>
              <a:rPr sz="1400" kern="1200" dirty="0">
                <a:solidFill>
                  <a:schemeClr val="bg2">
                    <a:lumMod val="50000"/>
                  </a:schemeClr>
                </a:solidFill>
                <a:latin typeface="Palatino Linotype"/>
                <a:cs typeface="Palatino Linotype"/>
              </a:rPr>
              <a:t>consist </a:t>
            </a:r>
            <a:r>
              <a:rPr sz="1400" kern="1200" spc="-335" dirty="0">
                <a:solidFill>
                  <a:schemeClr val="bg2">
                    <a:lumMod val="50000"/>
                  </a:schemeClr>
                </a:solidFill>
                <a:latin typeface="Palatino Linotype"/>
                <a:cs typeface="Palatino Linotype"/>
              </a:rPr>
              <a:t> </a:t>
            </a:r>
            <a:r>
              <a:rPr sz="1400" kern="1200" dirty="0">
                <a:solidFill>
                  <a:schemeClr val="bg2">
                    <a:lumMod val="50000"/>
                  </a:schemeClr>
                </a:solidFill>
                <a:latin typeface="Palatino Linotype"/>
                <a:cs typeface="Palatino Linotype"/>
              </a:rPr>
              <a:t>of</a:t>
            </a:r>
            <a:r>
              <a:rPr sz="1400" kern="1200" spc="-20" dirty="0">
                <a:solidFill>
                  <a:schemeClr val="bg2">
                    <a:lumMod val="50000"/>
                  </a:schemeClr>
                </a:solidFill>
                <a:latin typeface="Palatino Linotype"/>
                <a:cs typeface="Palatino Linotype"/>
              </a:rPr>
              <a:t> </a:t>
            </a:r>
            <a:r>
              <a:rPr sz="1400" kern="1200" dirty="0">
                <a:solidFill>
                  <a:schemeClr val="bg2">
                    <a:lumMod val="50000"/>
                  </a:schemeClr>
                </a:solidFill>
                <a:latin typeface="Palatino Linotype"/>
                <a:cs typeface="Palatino Linotype"/>
              </a:rPr>
              <a:t>multiple</a:t>
            </a:r>
            <a:r>
              <a:rPr sz="1400" kern="1200" spc="10" dirty="0">
                <a:solidFill>
                  <a:schemeClr val="bg2">
                    <a:lumMod val="50000"/>
                  </a:schemeClr>
                </a:solidFill>
                <a:latin typeface="Palatino Linotype"/>
                <a:cs typeface="Palatino Linotype"/>
              </a:rPr>
              <a:t> </a:t>
            </a:r>
            <a:r>
              <a:rPr sz="1400" kern="1200" spc="-5" dirty="0">
                <a:solidFill>
                  <a:schemeClr val="bg2">
                    <a:lumMod val="50000"/>
                  </a:schemeClr>
                </a:solidFill>
                <a:latin typeface="Palatino Linotype"/>
                <a:cs typeface="Palatino Linotype"/>
              </a:rPr>
              <a:t>steps</a:t>
            </a:r>
            <a:endParaRPr sz="1400" kern="1200" dirty="0">
              <a:solidFill>
                <a:schemeClr val="bg2">
                  <a:lumMod val="50000"/>
                </a:schemeClr>
              </a:solidFill>
              <a:latin typeface="Palatino Linotype"/>
              <a:cs typeface="Palatino Linotype"/>
            </a:endParaRPr>
          </a:p>
        </p:txBody>
      </p:sp>
      <p:sp>
        <p:nvSpPr>
          <p:cNvPr id="67" name="object 24">
            <a:extLst>
              <a:ext uri="{FF2B5EF4-FFF2-40B4-BE49-F238E27FC236}">
                <a16:creationId xmlns:a16="http://schemas.microsoft.com/office/drawing/2014/main" id="{9CE39061-E5A1-17DD-12DC-4094D39AFB56}"/>
              </a:ext>
            </a:extLst>
          </p:cNvPr>
          <p:cNvSpPr txBox="1"/>
          <p:nvPr/>
        </p:nvSpPr>
        <p:spPr>
          <a:xfrm>
            <a:off x="2496439" y="2408682"/>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s</a:t>
            </a:r>
            <a:endParaRPr kern="1200">
              <a:solidFill>
                <a:prstClr val="black"/>
              </a:solidFill>
              <a:latin typeface="Consolas"/>
              <a:cs typeface="Consolas"/>
            </a:endParaRPr>
          </a:p>
        </p:txBody>
      </p:sp>
      <p:sp>
        <p:nvSpPr>
          <p:cNvPr id="68" name="object 25">
            <a:extLst>
              <a:ext uri="{FF2B5EF4-FFF2-40B4-BE49-F238E27FC236}">
                <a16:creationId xmlns:a16="http://schemas.microsoft.com/office/drawing/2014/main" id="{E3366948-8FAC-B5AE-84EA-454DABC54C36}"/>
              </a:ext>
            </a:extLst>
          </p:cNvPr>
          <p:cNvSpPr/>
          <p:nvPr/>
        </p:nvSpPr>
        <p:spPr>
          <a:xfrm>
            <a:off x="736091" y="2758439"/>
            <a:ext cx="4004310" cy="351790"/>
          </a:xfrm>
          <a:custGeom>
            <a:avLst/>
            <a:gdLst/>
            <a:ahLst/>
            <a:cxnLst/>
            <a:rect l="l" t="t" r="r" b="b"/>
            <a:pathLst>
              <a:path w="4004310" h="351789">
                <a:moveTo>
                  <a:pt x="0" y="351409"/>
                </a:moveTo>
                <a:lnTo>
                  <a:pt x="1836674" y="0"/>
                </a:lnTo>
              </a:path>
              <a:path w="4004310" h="351789">
                <a:moveTo>
                  <a:pt x="990600" y="351409"/>
                </a:moveTo>
                <a:lnTo>
                  <a:pt x="1837435" y="0"/>
                </a:lnTo>
              </a:path>
              <a:path w="4004310" h="351789">
                <a:moveTo>
                  <a:pt x="1842643" y="351409"/>
                </a:moveTo>
                <a:lnTo>
                  <a:pt x="1836420" y="0"/>
                </a:lnTo>
              </a:path>
              <a:path w="4004310" h="351789">
                <a:moveTo>
                  <a:pt x="2602610" y="351409"/>
                </a:moveTo>
                <a:lnTo>
                  <a:pt x="1836420" y="0"/>
                </a:lnTo>
              </a:path>
              <a:path w="4004310" h="351789">
                <a:moveTo>
                  <a:pt x="4004183" y="349504"/>
                </a:moveTo>
                <a:lnTo>
                  <a:pt x="1836420" y="0"/>
                </a:lnTo>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69" name="object 26">
            <a:extLst>
              <a:ext uri="{FF2B5EF4-FFF2-40B4-BE49-F238E27FC236}">
                <a16:creationId xmlns:a16="http://schemas.microsoft.com/office/drawing/2014/main" id="{66C92C44-537C-FF1A-5E4B-0FC93BDA2271}"/>
              </a:ext>
            </a:extLst>
          </p:cNvPr>
          <p:cNvSpPr/>
          <p:nvPr/>
        </p:nvSpPr>
        <p:spPr>
          <a:xfrm>
            <a:off x="2572511" y="2132076"/>
            <a:ext cx="0" cy="256540"/>
          </a:xfrm>
          <a:custGeom>
            <a:avLst/>
            <a:gdLst/>
            <a:ahLst/>
            <a:cxnLst/>
            <a:rect l="l" t="t" r="r" b="b"/>
            <a:pathLst>
              <a:path h="256539">
                <a:moveTo>
                  <a:pt x="0" y="0"/>
                </a:moveTo>
                <a:lnTo>
                  <a:pt x="0" y="256412"/>
                </a:lnTo>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70" name="object 27">
            <a:extLst>
              <a:ext uri="{FF2B5EF4-FFF2-40B4-BE49-F238E27FC236}">
                <a16:creationId xmlns:a16="http://schemas.microsoft.com/office/drawing/2014/main" id="{586AAE3D-4FD6-2B83-E71C-F9E4266564AC}"/>
              </a:ext>
            </a:extLst>
          </p:cNvPr>
          <p:cNvSpPr txBox="1"/>
          <p:nvPr/>
        </p:nvSpPr>
        <p:spPr>
          <a:xfrm>
            <a:off x="2023364" y="5652922"/>
            <a:ext cx="151130" cy="299720"/>
          </a:xfrm>
          <a:prstGeom prst="rect">
            <a:avLst/>
          </a:prstGeom>
        </p:spPr>
        <p:txBody>
          <a:bodyPr vert="horz" wrap="square" lIns="0" tIns="12700" rIns="0" bIns="0" rtlCol="0">
            <a:spAutoFit/>
          </a:bodyPr>
          <a:lstStyle/>
          <a:p>
            <a:pPr marL="12700" rtl="0">
              <a:spcBef>
                <a:spcPts val="100"/>
              </a:spcBef>
            </a:pPr>
            <a:r>
              <a:rPr kern="1200" dirty="0">
                <a:solidFill>
                  <a:srgbClr val="0431FF"/>
                </a:solidFill>
                <a:latin typeface="Consolas"/>
                <a:cs typeface="Consolas"/>
              </a:rPr>
              <a:t>x</a:t>
            </a:r>
            <a:endParaRPr kern="1200">
              <a:solidFill>
                <a:prstClr val="black"/>
              </a:solidFill>
              <a:latin typeface="Consolas"/>
              <a:cs typeface="Consolas"/>
            </a:endParaRPr>
          </a:p>
        </p:txBody>
      </p:sp>
      <p:sp>
        <p:nvSpPr>
          <p:cNvPr id="71" name="object 28">
            <a:extLst>
              <a:ext uri="{FF2B5EF4-FFF2-40B4-BE49-F238E27FC236}">
                <a16:creationId xmlns:a16="http://schemas.microsoft.com/office/drawing/2014/main" id="{33DF8F6D-9FB4-FDF2-90B4-A1B6709A5EB2}"/>
              </a:ext>
            </a:extLst>
          </p:cNvPr>
          <p:cNvSpPr txBox="1"/>
          <p:nvPr/>
        </p:nvSpPr>
        <p:spPr>
          <a:xfrm>
            <a:off x="2740532" y="5652922"/>
            <a:ext cx="400685" cy="299720"/>
          </a:xfrm>
          <a:prstGeom prst="rect">
            <a:avLst/>
          </a:prstGeom>
        </p:spPr>
        <p:txBody>
          <a:bodyPr vert="horz" wrap="square" lIns="0" tIns="12700" rIns="0" bIns="0" rtlCol="0">
            <a:spAutoFit/>
          </a:bodyPr>
          <a:lstStyle/>
          <a:p>
            <a:pPr marL="12700" rtl="0">
              <a:spcBef>
                <a:spcPts val="100"/>
              </a:spcBef>
            </a:pPr>
            <a:r>
              <a:rPr kern="1200" spc="-10" dirty="0">
                <a:solidFill>
                  <a:srgbClr val="0431FF"/>
                </a:solidFill>
                <a:latin typeface="Consolas"/>
                <a:cs typeface="Consolas"/>
              </a:rPr>
              <a:t>200</a:t>
            </a:r>
            <a:endParaRPr kern="1200">
              <a:solidFill>
                <a:prstClr val="black"/>
              </a:solidFill>
              <a:latin typeface="Consolas"/>
              <a:cs typeface="Consolas"/>
            </a:endParaRPr>
          </a:p>
        </p:txBody>
      </p:sp>
      <p:sp>
        <p:nvSpPr>
          <p:cNvPr id="72" name="object 29">
            <a:extLst>
              <a:ext uri="{FF2B5EF4-FFF2-40B4-BE49-F238E27FC236}">
                <a16:creationId xmlns:a16="http://schemas.microsoft.com/office/drawing/2014/main" id="{070D6B3B-59DF-C6F8-E218-639232D5A094}"/>
              </a:ext>
            </a:extLst>
          </p:cNvPr>
          <p:cNvSpPr txBox="1"/>
          <p:nvPr/>
        </p:nvSpPr>
        <p:spPr>
          <a:xfrm>
            <a:off x="2023364" y="5067046"/>
            <a:ext cx="995044" cy="299720"/>
          </a:xfrm>
          <a:prstGeom prst="rect">
            <a:avLst/>
          </a:prstGeom>
        </p:spPr>
        <p:txBody>
          <a:bodyPr vert="horz" wrap="square" lIns="0" tIns="12700" rIns="0" bIns="0" rtlCol="0">
            <a:spAutoFit/>
          </a:bodyPr>
          <a:lstStyle/>
          <a:p>
            <a:pPr marL="12700" rtl="0">
              <a:spcBef>
                <a:spcPts val="100"/>
              </a:spcBef>
              <a:tabLst>
                <a:tab pos="420370" algn="l"/>
                <a:tab pos="855980" algn="l"/>
              </a:tabLst>
            </a:pPr>
            <a:r>
              <a:rPr kern="1200" dirty="0">
                <a:solidFill>
                  <a:prstClr val="black"/>
                </a:solidFill>
                <a:latin typeface="Consolas"/>
                <a:cs typeface="Consolas"/>
              </a:rPr>
              <a:t>E	</a:t>
            </a:r>
            <a:r>
              <a:rPr kern="1200" dirty="0">
                <a:solidFill>
                  <a:srgbClr val="0431FF"/>
                </a:solidFill>
                <a:latin typeface="Consolas"/>
                <a:cs typeface="Consolas"/>
              </a:rPr>
              <a:t>&gt;	</a:t>
            </a:r>
            <a:r>
              <a:rPr kern="1200" dirty="0">
                <a:solidFill>
                  <a:prstClr val="black"/>
                </a:solidFill>
                <a:latin typeface="Consolas"/>
                <a:cs typeface="Consolas"/>
              </a:rPr>
              <a:t>E</a:t>
            </a:r>
            <a:endParaRPr kern="1200">
              <a:solidFill>
                <a:prstClr val="black"/>
              </a:solidFill>
              <a:latin typeface="Consolas"/>
              <a:cs typeface="Consolas"/>
            </a:endParaRPr>
          </a:p>
        </p:txBody>
      </p:sp>
      <p:sp>
        <p:nvSpPr>
          <p:cNvPr id="73" name="object 30">
            <a:extLst>
              <a:ext uri="{FF2B5EF4-FFF2-40B4-BE49-F238E27FC236}">
                <a16:creationId xmlns:a16="http://schemas.microsoft.com/office/drawing/2014/main" id="{91E13010-8AF1-4A97-5865-C8E6A8527BCC}"/>
              </a:ext>
            </a:extLst>
          </p:cNvPr>
          <p:cNvSpPr/>
          <p:nvPr/>
        </p:nvSpPr>
        <p:spPr>
          <a:xfrm>
            <a:off x="2100072" y="5416296"/>
            <a:ext cx="0" cy="216535"/>
          </a:xfrm>
          <a:custGeom>
            <a:avLst/>
            <a:gdLst/>
            <a:ahLst/>
            <a:cxnLst/>
            <a:rect l="l" t="t" r="r" b="b"/>
            <a:pathLst>
              <a:path h="216535">
                <a:moveTo>
                  <a:pt x="0" y="0"/>
                </a:moveTo>
                <a:lnTo>
                  <a:pt x="0" y="216407"/>
                </a:lnTo>
              </a:path>
            </a:pathLst>
          </a:custGeom>
          <a:ln w="12700">
            <a:solidFill>
              <a:srgbClr val="000000"/>
            </a:solidFill>
            <a:prstDash val="sysDash"/>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74" name="object 31">
            <a:extLst>
              <a:ext uri="{FF2B5EF4-FFF2-40B4-BE49-F238E27FC236}">
                <a16:creationId xmlns:a16="http://schemas.microsoft.com/office/drawing/2014/main" id="{E68F9F6F-A748-8D25-B16A-F0D43DD9E04B}"/>
              </a:ext>
            </a:extLst>
          </p:cNvPr>
          <p:cNvSpPr/>
          <p:nvPr/>
        </p:nvSpPr>
        <p:spPr>
          <a:xfrm>
            <a:off x="2942844" y="5416296"/>
            <a:ext cx="0" cy="216535"/>
          </a:xfrm>
          <a:custGeom>
            <a:avLst/>
            <a:gdLst/>
            <a:ahLst/>
            <a:cxnLst/>
            <a:rect l="l" t="t" r="r" b="b"/>
            <a:pathLst>
              <a:path h="216535">
                <a:moveTo>
                  <a:pt x="0" y="0"/>
                </a:moveTo>
                <a:lnTo>
                  <a:pt x="0" y="216407"/>
                </a:lnTo>
              </a:path>
            </a:pathLst>
          </a:custGeom>
          <a:ln w="12700">
            <a:solidFill>
              <a:srgbClr val="000000"/>
            </a:solidFill>
            <a:prstDash val="sysDash"/>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75" name="object 32">
            <a:extLst>
              <a:ext uri="{FF2B5EF4-FFF2-40B4-BE49-F238E27FC236}">
                <a16:creationId xmlns:a16="http://schemas.microsoft.com/office/drawing/2014/main" id="{C823F67F-5CDD-987A-4E18-932B110E1148}"/>
              </a:ext>
            </a:extLst>
          </p:cNvPr>
          <p:cNvSpPr txBox="1"/>
          <p:nvPr/>
        </p:nvSpPr>
        <p:spPr>
          <a:xfrm>
            <a:off x="2429382" y="4518152"/>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B</a:t>
            </a:r>
            <a:endParaRPr kern="1200">
              <a:solidFill>
                <a:prstClr val="black"/>
              </a:solidFill>
              <a:latin typeface="Consolas"/>
              <a:cs typeface="Consolas"/>
            </a:endParaRPr>
          </a:p>
        </p:txBody>
      </p:sp>
      <p:sp>
        <p:nvSpPr>
          <p:cNvPr id="76" name="object 33">
            <a:extLst>
              <a:ext uri="{FF2B5EF4-FFF2-40B4-BE49-F238E27FC236}">
                <a16:creationId xmlns:a16="http://schemas.microsoft.com/office/drawing/2014/main" id="{E94A7489-7AD0-74AF-2112-3ECC2C7EFE7B}"/>
              </a:ext>
            </a:extLst>
          </p:cNvPr>
          <p:cNvSpPr/>
          <p:nvPr/>
        </p:nvSpPr>
        <p:spPr>
          <a:xfrm>
            <a:off x="2100072" y="4867655"/>
            <a:ext cx="843280" cy="179705"/>
          </a:xfrm>
          <a:custGeom>
            <a:avLst/>
            <a:gdLst/>
            <a:ahLst/>
            <a:cxnLst/>
            <a:rect l="l" t="t" r="r" b="b"/>
            <a:pathLst>
              <a:path w="843280" h="179704">
                <a:moveTo>
                  <a:pt x="405891" y="0"/>
                </a:moveTo>
                <a:lnTo>
                  <a:pt x="0" y="179451"/>
                </a:lnTo>
              </a:path>
              <a:path w="843280" h="179704">
                <a:moveTo>
                  <a:pt x="405383" y="0"/>
                </a:moveTo>
                <a:lnTo>
                  <a:pt x="843152" y="179451"/>
                </a:lnTo>
              </a:path>
              <a:path w="843280" h="179704">
                <a:moveTo>
                  <a:pt x="405383" y="0"/>
                </a:moveTo>
                <a:lnTo>
                  <a:pt x="407669" y="179451"/>
                </a:lnTo>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77" name="object 34">
            <a:extLst>
              <a:ext uri="{FF2B5EF4-FFF2-40B4-BE49-F238E27FC236}">
                <a16:creationId xmlns:a16="http://schemas.microsoft.com/office/drawing/2014/main" id="{6731DCDB-CB64-9D5F-35F7-C5DB8AFF74AE}"/>
              </a:ext>
            </a:extLst>
          </p:cNvPr>
          <p:cNvSpPr txBox="1"/>
          <p:nvPr/>
        </p:nvSpPr>
        <p:spPr>
          <a:xfrm>
            <a:off x="3572636" y="5654750"/>
            <a:ext cx="151130" cy="299720"/>
          </a:xfrm>
          <a:prstGeom prst="rect">
            <a:avLst/>
          </a:prstGeom>
        </p:spPr>
        <p:txBody>
          <a:bodyPr vert="horz" wrap="square" lIns="0" tIns="12700" rIns="0" bIns="0" rtlCol="0">
            <a:spAutoFit/>
          </a:bodyPr>
          <a:lstStyle/>
          <a:p>
            <a:pPr marL="12700" rtl="0">
              <a:spcBef>
                <a:spcPts val="100"/>
              </a:spcBef>
            </a:pPr>
            <a:r>
              <a:rPr kern="1200" dirty="0">
                <a:solidFill>
                  <a:srgbClr val="0431FF"/>
                </a:solidFill>
                <a:latin typeface="Consolas"/>
                <a:cs typeface="Consolas"/>
              </a:rPr>
              <a:t>x</a:t>
            </a:r>
            <a:endParaRPr kern="1200">
              <a:solidFill>
                <a:prstClr val="black"/>
              </a:solidFill>
              <a:latin typeface="Consolas"/>
              <a:cs typeface="Consolas"/>
            </a:endParaRPr>
          </a:p>
        </p:txBody>
      </p:sp>
      <p:sp>
        <p:nvSpPr>
          <p:cNvPr id="78" name="object 35">
            <a:extLst>
              <a:ext uri="{FF2B5EF4-FFF2-40B4-BE49-F238E27FC236}">
                <a16:creationId xmlns:a16="http://schemas.microsoft.com/office/drawing/2014/main" id="{D936C0AC-2883-DBD2-4DB0-BF3696A55305}"/>
              </a:ext>
            </a:extLst>
          </p:cNvPr>
          <p:cNvSpPr txBox="1"/>
          <p:nvPr/>
        </p:nvSpPr>
        <p:spPr>
          <a:xfrm>
            <a:off x="4443729" y="5654750"/>
            <a:ext cx="151130" cy="299720"/>
          </a:xfrm>
          <a:prstGeom prst="rect">
            <a:avLst/>
          </a:prstGeom>
        </p:spPr>
        <p:txBody>
          <a:bodyPr vert="horz" wrap="square" lIns="0" tIns="12700" rIns="0" bIns="0" rtlCol="0">
            <a:spAutoFit/>
          </a:bodyPr>
          <a:lstStyle/>
          <a:p>
            <a:pPr marL="12700" rtl="0">
              <a:spcBef>
                <a:spcPts val="100"/>
              </a:spcBef>
            </a:pPr>
            <a:r>
              <a:rPr kern="1200" dirty="0">
                <a:solidFill>
                  <a:srgbClr val="0431FF"/>
                </a:solidFill>
                <a:latin typeface="Consolas"/>
                <a:cs typeface="Consolas"/>
              </a:rPr>
              <a:t>y</a:t>
            </a:r>
            <a:endParaRPr kern="1200">
              <a:solidFill>
                <a:prstClr val="black"/>
              </a:solidFill>
              <a:latin typeface="Consolas"/>
              <a:cs typeface="Consolas"/>
            </a:endParaRPr>
          </a:p>
        </p:txBody>
      </p:sp>
      <p:sp>
        <p:nvSpPr>
          <p:cNvPr id="79" name="object 36">
            <a:extLst>
              <a:ext uri="{FF2B5EF4-FFF2-40B4-BE49-F238E27FC236}">
                <a16:creationId xmlns:a16="http://schemas.microsoft.com/office/drawing/2014/main" id="{23047C89-327A-0E6A-BB2A-E0F97AA7249E}"/>
              </a:ext>
            </a:extLst>
          </p:cNvPr>
          <p:cNvSpPr/>
          <p:nvPr/>
        </p:nvSpPr>
        <p:spPr>
          <a:xfrm>
            <a:off x="3648455" y="5417820"/>
            <a:ext cx="0" cy="216535"/>
          </a:xfrm>
          <a:custGeom>
            <a:avLst/>
            <a:gdLst/>
            <a:ahLst/>
            <a:cxnLst/>
            <a:rect l="l" t="t" r="r" b="b"/>
            <a:pathLst>
              <a:path h="216535">
                <a:moveTo>
                  <a:pt x="0" y="0"/>
                </a:moveTo>
                <a:lnTo>
                  <a:pt x="0" y="216407"/>
                </a:lnTo>
              </a:path>
            </a:pathLst>
          </a:custGeom>
          <a:ln w="12700">
            <a:solidFill>
              <a:srgbClr val="000000"/>
            </a:solidFill>
            <a:prstDash val="sysDash"/>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80" name="object 37">
            <a:extLst>
              <a:ext uri="{FF2B5EF4-FFF2-40B4-BE49-F238E27FC236}">
                <a16:creationId xmlns:a16="http://schemas.microsoft.com/office/drawing/2014/main" id="{C9385A6E-1081-5F14-4CB3-5088FD532BD9}"/>
              </a:ext>
            </a:extLst>
          </p:cNvPr>
          <p:cNvSpPr/>
          <p:nvPr/>
        </p:nvSpPr>
        <p:spPr>
          <a:xfrm>
            <a:off x="4520184" y="5417820"/>
            <a:ext cx="0" cy="216535"/>
          </a:xfrm>
          <a:custGeom>
            <a:avLst/>
            <a:gdLst/>
            <a:ahLst/>
            <a:cxnLst/>
            <a:rect l="l" t="t" r="r" b="b"/>
            <a:pathLst>
              <a:path h="216535">
                <a:moveTo>
                  <a:pt x="0" y="0"/>
                </a:moveTo>
                <a:lnTo>
                  <a:pt x="0" y="216407"/>
                </a:lnTo>
              </a:path>
            </a:pathLst>
          </a:custGeom>
          <a:ln w="12700">
            <a:solidFill>
              <a:srgbClr val="000000"/>
            </a:solidFill>
            <a:prstDash val="sysDash"/>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81" name="object 38">
            <a:extLst>
              <a:ext uri="{FF2B5EF4-FFF2-40B4-BE49-F238E27FC236}">
                <a16:creationId xmlns:a16="http://schemas.microsoft.com/office/drawing/2014/main" id="{2716AF9D-0A8E-F2BD-873F-A92683E0356D}"/>
              </a:ext>
            </a:extLst>
          </p:cNvPr>
          <p:cNvSpPr/>
          <p:nvPr/>
        </p:nvSpPr>
        <p:spPr>
          <a:xfrm>
            <a:off x="3648455" y="4869179"/>
            <a:ext cx="872490" cy="186690"/>
          </a:xfrm>
          <a:custGeom>
            <a:avLst/>
            <a:gdLst/>
            <a:ahLst/>
            <a:cxnLst/>
            <a:rect l="l" t="t" r="r" b="b"/>
            <a:pathLst>
              <a:path w="872489" h="186689">
                <a:moveTo>
                  <a:pt x="419481" y="0"/>
                </a:moveTo>
                <a:lnTo>
                  <a:pt x="0" y="179451"/>
                </a:lnTo>
              </a:path>
              <a:path w="872489" h="186689">
                <a:moveTo>
                  <a:pt x="420624" y="0"/>
                </a:moveTo>
                <a:lnTo>
                  <a:pt x="871982" y="179451"/>
                </a:lnTo>
              </a:path>
              <a:path w="872489" h="186689">
                <a:moveTo>
                  <a:pt x="420624" y="0"/>
                </a:moveTo>
                <a:lnTo>
                  <a:pt x="420624" y="186436"/>
                </a:lnTo>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82" name="object 39">
            <a:extLst>
              <a:ext uri="{FF2B5EF4-FFF2-40B4-BE49-F238E27FC236}">
                <a16:creationId xmlns:a16="http://schemas.microsoft.com/office/drawing/2014/main" id="{66F7C658-615C-9EFE-2CC6-2BFB05F5B3CA}"/>
              </a:ext>
            </a:extLst>
          </p:cNvPr>
          <p:cNvSpPr txBox="1"/>
          <p:nvPr/>
        </p:nvSpPr>
        <p:spPr>
          <a:xfrm>
            <a:off x="3992117" y="4519929"/>
            <a:ext cx="151130" cy="299720"/>
          </a:xfrm>
          <a:prstGeom prst="rect">
            <a:avLst/>
          </a:prstGeom>
        </p:spPr>
        <p:txBody>
          <a:bodyPr vert="horz" wrap="square" lIns="0" tIns="12700" rIns="0" bIns="0" rtlCol="0">
            <a:spAutoFit/>
          </a:bodyPr>
          <a:lstStyle/>
          <a:p>
            <a:pPr marL="12700" rtl="0">
              <a:spcBef>
                <a:spcPts val="100"/>
              </a:spcBef>
            </a:pPr>
            <a:r>
              <a:rPr kern="1200" dirty="0">
                <a:solidFill>
                  <a:prstClr val="black"/>
                </a:solidFill>
                <a:latin typeface="Consolas"/>
                <a:cs typeface="Consolas"/>
              </a:rPr>
              <a:t>B</a:t>
            </a:r>
            <a:endParaRPr kern="1200">
              <a:solidFill>
                <a:prstClr val="black"/>
              </a:solidFill>
              <a:latin typeface="Consolas"/>
              <a:cs typeface="Consolas"/>
            </a:endParaRPr>
          </a:p>
        </p:txBody>
      </p:sp>
      <p:sp>
        <p:nvSpPr>
          <p:cNvPr id="83" name="object 40">
            <a:extLst>
              <a:ext uri="{FF2B5EF4-FFF2-40B4-BE49-F238E27FC236}">
                <a16:creationId xmlns:a16="http://schemas.microsoft.com/office/drawing/2014/main" id="{DDC310C1-9378-95CE-178A-593324D9CAF6}"/>
              </a:ext>
            </a:extLst>
          </p:cNvPr>
          <p:cNvSpPr txBox="1"/>
          <p:nvPr/>
        </p:nvSpPr>
        <p:spPr>
          <a:xfrm>
            <a:off x="3143250" y="4517517"/>
            <a:ext cx="336550" cy="299720"/>
          </a:xfrm>
          <a:prstGeom prst="rect">
            <a:avLst/>
          </a:prstGeom>
        </p:spPr>
        <p:txBody>
          <a:bodyPr vert="horz" wrap="square" lIns="0" tIns="12700" rIns="0" bIns="0" rtlCol="0">
            <a:spAutoFit/>
          </a:bodyPr>
          <a:lstStyle/>
          <a:p>
            <a:pPr marL="12700" rtl="0">
              <a:spcBef>
                <a:spcPts val="100"/>
              </a:spcBef>
            </a:pPr>
            <a:r>
              <a:rPr kern="1200" spc="-5" dirty="0">
                <a:solidFill>
                  <a:prstClr val="black"/>
                </a:solidFill>
                <a:cs typeface="Calibri"/>
              </a:rPr>
              <a:t>&amp;&amp;</a:t>
            </a:r>
            <a:endParaRPr kern="1200">
              <a:solidFill>
                <a:prstClr val="black"/>
              </a:solidFill>
              <a:cs typeface="Calibri"/>
            </a:endParaRPr>
          </a:p>
        </p:txBody>
      </p:sp>
      <p:sp>
        <p:nvSpPr>
          <p:cNvPr id="84" name="object 41">
            <a:extLst>
              <a:ext uri="{FF2B5EF4-FFF2-40B4-BE49-F238E27FC236}">
                <a16:creationId xmlns:a16="http://schemas.microsoft.com/office/drawing/2014/main" id="{EB283491-157B-DF59-FBD0-1181D76A19D7}"/>
              </a:ext>
            </a:extLst>
          </p:cNvPr>
          <p:cNvSpPr/>
          <p:nvPr/>
        </p:nvSpPr>
        <p:spPr>
          <a:xfrm>
            <a:off x="2505455" y="4219955"/>
            <a:ext cx="1562735" cy="279400"/>
          </a:xfrm>
          <a:custGeom>
            <a:avLst/>
            <a:gdLst/>
            <a:ahLst/>
            <a:cxnLst/>
            <a:rect l="l" t="t" r="r" b="b"/>
            <a:pathLst>
              <a:path w="1562735" h="279400">
                <a:moveTo>
                  <a:pt x="0" y="277495"/>
                </a:moveTo>
                <a:lnTo>
                  <a:pt x="768095" y="0"/>
                </a:lnTo>
              </a:path>
              <a:path w="1562735" h="279400">
                <a:moveTo>
                  <a:pt x="831595" y="278257"/>
                </a:moveTo>
                <a:lnTo>
                  <a:pt x="768095" y="0"/>
                </a:lnTo>
              </a:path>
              <a:path w="1562735" h="279400">
                <a:moveTo>
                  <a:pt x="1562734" y="279273"/>
                </a:moveTo>
                <a:lnTo>
                  <a:pt x="768095" y="0"/>
                </a:lnTo>
              </a:path>
            </a:pathLst>
          </a:custGeom>
          <a:ln w="12700">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171529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90</a:t>
            </a:fld>
            <a:endParaRPr lang="en-US"/>
          </a:p>
        </p:txBody>
      </p:sp>
      <p:grpSp>
        <p:nvGrpSpPr>
          <p:cNvPr id="15" name="object 2">
            <a:extLst>
              <a:ext uri="{FF2B5EF4-FFF2-40B4-BE49-F238E27FC236}">
                <a16:creationId xmlns:a16="http://schemas.microsoft.com/office/drawing/2014/main" id="{3AE5296E-76F1-90DC-71D3-30E2E756AD82}"/>
              </a:ext>
            </a:extLst>
          </p:cNvPr>
          <p:cNvGrpSpPr/>
          <p:nvPr/>
        </p:nvGrpSpPr>
        <p:grpSpPr>
          <a:xfrm>
            <a:off x="192023" y="4254"/>
            <a:ext cx="8810625" cy="5751195"/>
            <a:chOff x="192023" y="4254"/>
            <a:chExt cx="8810625" cy="5751195"/>
          </a:xfrm>
        </p:grpSpPr>
        <p:pic>
          <p:nvPicPr>
            <p:cNvPr id="16" name="object 3">
              <a:extLst>
                <a:ext uri="{FF2B5EF4-FFF2-40B4-BE49-F238E27FC236}">
                  <a16:creationId xmlns:a16="http://schemas.microsoft.com/office/drawing/2014/main" id="{16121D55-9891-BA14-0DD4-BB9035AC4FE8}"/>
                </a:ext>
              </a:extLst>
            </p:cNvPr>
            <p:cNvPicPr/>
            <p:nvPr/>
          </p:nvPicPr>
          <p:blipFill>
            <a:blip r:embed="rId3" cstate="print"/>
            <a:stretch>
              <a:fillRect/>
            </a:stretch>
          </p:blipFill>
          <p:spPr>
            <a:xfrm>
              <a:off x="3775066" y="21083"/>
              <a:ext cx="5218058" cy="1952496"/>
            </a:xfrm>
            <a:prstGeom prst="rect">
              <a:avLst/>
            </a:prstGeom>
          </p:spPr>
        </p:pic>
        <p:sp>
          <p:nvSpPr>
            <p:cNvPr id="17" name="object 4">
              <a:extLst>
                <a:ext uri="{FF2B5EF4-FFF2-40B4-BE49-F238E27FC236}">
                  <a16:creationId xmlns:a16="http://schemas.microsoft.com/office/drawing/2014/main" id="{0962FADF-A2A4-EF50-CF51-8966B9E9B689}"/>
                </a:ext>
              </a:extLst>
            </p:cNvPr>
            <p:cNvSpPr/>
            <p:nvPr/>
          </p:nvSpPr>
          <p:spPr>
            <a:xfrm>
              <a:off x="3707638" y="9017"/>
              <a:ext cx="5290185" cy="1969770"/>
            </a:xfrm>
            <a:custGeom>
              <a:avLst/>
              <a:gdLst/>
              <a:ahLst/>
              <a:cxnLst/>
              <a:rect l="l" t="t" r="r" b="b"/>
              <a:pathLst>
                <a:path w="5290184" h="1969770">
                  <a:moveTo>
                    <a:pt x="0" y="1969388"/>
                  </a:moveTo>
                  <a:lnTo>
                    <a:pt x="5290185" y="1969388"/>
                  </a:lnTo>
                  <a:lnTo>
                    <a:pt x="5290185" y="0"/>
                  </a:lnTo>
                  <a:lnTo>
                    <a:pt x="0" y="0"/>
                  </a:lnTo>
                  <a:lnTo>
                    <a:pt x="0" y="1969388"/>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18" name="object 5">
              <a:extLst>
                <a:ext uri="{FF2B5EF4-FFF2-40B4-BE49-F238E27FC236}">
                  <a16:creationId xmlns:a16="http://schemas.microsoft.com/office/drawing/2014/main" id="{40E171E0-951A-8F79-8031-9FF832410D5C}"/>
                </a:ext>
              </a:extLst>
            </p:cNvPr>
            <p:cNvPicPr/>
            <p:nvPr/>
          </p:nvPicPr>
          <p:blipFill>
            <a:blip r:embed="rId4" cstate="print"/>
            <a:stretch>
              <a:fillRect/>
            </a:stretch>
          </p:blipFill>
          <p:spPr>
            <a:xfrm>
              <a:off x="4067299" y="2036064"/>
              <a:ext cx="4552821" cy="2994660"/>
            </a:xfrm>
            <a:prstGeom prst="rect">
              <a:avLst/>
            </a:prstGeom>
          </p:spPr>
        </p:pic>
        <p:sp>
          <p:nvSpPr>
            <p:cNvPr id="19" name="object 6">
              <a:extLst>
                <a:ext uri="{FF2B5EF4-FFF2-40B4-BE49-F238E27FC236}">
                  <a16:creationId xmlns:a16="http://schemas.microsoft.com/office/drawing/2014/main" id="{48828A5C-5698-CE6D-966F-96411B51C6CC}"/>
                </a:ext>
              </a:extLst>
            </p:cNvPr>
            <p:cNvSpPr/>
            <p:nvPr/>
          </p:nvSpPr>
          <p:spPr>
            <a:xfrm>
              <a:off x="3931665" y="2031237"/>
              <a:ext cx="4842510" cy="3004185"/>
            </a:xfrm>
            <a:custGeom>
              <a:avLst/>
              <a:gdLst/>
              <a:ahLst/>
              <a:cxnLst/>
              <a:rect l="l" t="t" r="r" b="b"/>
              <a:pathLst>
                <a:path w="4842509" h="3004185">
                  <a:moveTo>
                    <a:pt x="0" y="3004185"/>
                  </a:moveTo>
                  <a:lnTo>
                    <a:pt x="4842128" y="3004185"/>
                  </a:lnTo>
                  <a:lnTo>
                    <a:pt x="4842128" y="0"/>
                  </a:lnTo>
                  <a:lnTo>
                    <a:pt x="0" y="0"/>
                  </a:lnTo>
                  <a:lnTo>
                    <a:pt x="0" y="3004185"/>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20" name="object 7">
              <a:extLst>
                <a:ext uri="{FF2B5EF4-FFF2-40B4-BE49-F238E27FC236}">
                  <a16:creationId xmlns:a16="http://schemas.microsoft.com/office/drawing/2014/main" id="{5AE2613E-63EC-1A07-61E6-E73CCA73F0EE}"/>
                </a:ext>
              </a:extLst>
            </p:cNvPr>
            <p:cNvPicPr/>
            <p:nvPr/>
          </p:nvPicPr>
          <p:blipFill>
            <a:blip r:embed="rId5" cstate="print"/>
            <a:stretch>
              <a:fillRect/>
            </a:stretch>
          </p:blipFill>
          <p:spPr>
            <a:xfrm>
              <a:off x="3993453" y="5093207"/>
              <a:ext cx="4737876" cy="652271"/>
            </a:xfrm>
            <a:prstGeom prst="rect">
              <a:avLst/>
            </a:prstGeom>
          </p:spPr>
        </p:pic>
        <p:sp>
          <p:nvSpPr>
            <p:cNvPr id="21" name="object 8">
              <a:extLst>
                <a:ext uri="{FF2B5EF4-FFF2-40B4-BE49-F238E27FC236}">
                  <a16:creationId xmlns:a16="http://schemas.microsoft.com/office/drawing/2014/main" id="{CA611963-F6D8-7508-A871-5FD94FF45B7F}"/>
                </a:ext>
              </a:extLst>
            </p:cNvPr>
            <p:cNvSpPr/>
            <p:nvPr/>
          </p:nvSpPr>
          <p:spPr>
            <a:xfrm>
              <a:off x="3931665" y="5088445"/>
              <a:ext cx="4851400" cy="662305"/>
            </a:xfrm>
            <a:custGeom>
              <a:avLst/>
              <a:gdLst/>
              <a:ahLst/>
              <a:cxnLst/>
              <a:rect l="l" t="t" r="r" b="b"/>
              <a:pathLst>
                <a:path w="4851400" h="662304">
                  <a:moveTo>
                    <a:pt x="0" y="661796"/>
                  </a:moveTo>
                  <a:lnTo>
                    <a:pt x="4851272" y="661796"/>
                  </a:lnTo>
                  <a:lnTo>
                    <a:pt x="4851272" y="0"/>
                  </a:lnTo>
                  <a:lnTo>
                    <a:pt x="0" y="0"/>
                  </a:lnTo>
                  <a:lnTo>
                    <a:pt x="0" y="661796"/>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22" name="object 9">
              <a:extLst>
                <a:ext uri="{FF2B5EF4-FFF2-40B4-BE49-F238E27FC236}">
                  <a16:creationId xmlns:a16="http://schemas.microsoft.com/office/drawing/2014/main" id="{8A92B066-F8C4-8FE1-6BD4-72FF1855A93E}"/>
                </a:ext>
              </a:extLst>
            </p:cNvPr>
            <p:cNvPicPr/>
            <p:nvPr/>
          </p:nvPicPr>
          <p:blipFill>
            <a:blip r:embed="rId6" cstate="print"/>
            <a:stretch>
              <a:fillRect/>
            </a:stretch>
          </p:blipFill>
          <p:spPr>
            <a:xfrm>
              <a:off x="192023" y="1804415"/>
              <a:ext cx="3601212" cy="3087624"/>
            </a:xfrm>
            <a:prstGeom prst="rect">
              <a:avLst/>
            </a:prstGeom>
          </p:spPr>
        </p:pic>
      </p:grpSp>
      <p:sp>
        <p:nvSpPr>
          <p:cNvPr id="23" name="object 10">
            <a:extLst>
              <a:ext uri="{FF2B5EF4-FFF2-40B4-BE49-F238E27FC236}">
                <a16:creationId xmlns:a16="http://schemas.microsoft.com/office/drawing/2014/main" id="{9E7003CD-AB7F-D4C8-818E-4A4504786ABD}"/>
              </a:ext>
            </a:extLst>
          </p:cNvPr>
          <p:cNvSpPr txBox="1">
            <a:spLocks/>
          </p:cNvSpPr>
          <p:nvPr/>
        </p:nvSpPr>
        <p:spPr>
          <a:xfrm>
            <a:off x="707542" y="304037"/>
            <a:ext cx="202565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Ex</a:t>
            </a:r>
            <a:r>
              <a:rPr kumimoji="0" lang="en-US" sz="4000" b="1" i="0" u="none" strike="noStrike" kern="0" cap="none" spc="5" normalizeH="0" baseline="0" noProof="0">
                <a:ln>
                  <a:noFill/>
                </a:ln>
                <a:solidFill>
                  <a:sysClr val="windowText" lastClr="000000"/>
                </a:solidFill>
                <a:effectLst/>
                <a:uLnTx/>
                <a:uFillTx/>
                <a:latin typeface="Palatino Linotype"/>
                <a:ea typeface="+mj-ea"/>
              </a:rPr>
              <a:t>a</a:t>
            </a:r>
            <a:r>
              <a:rPr kumimoji="0" lang="en-US" sz="4000" b="1" i="0" u="none" strike="noStrike" kern="0" cap="none" spc="-10" normalizeH="0" baseline="0" noProof="0">
                <a:ln>
                  <a:noFill/>
                </a:ln>
                <a:solidFill>
                  <a:sysClr val="windowText" lastClr="000000"/>
                </a:solidFill>
                <a:effectLst/>
                <a:uLnTx/>
                <a:uFillTx/>
                <a:latin typeface="Palatino Linotype"/>
                <a:ea typeface="+mj-ea"/>
              </a:rPr>
              <a:t>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24" name="object 11">
            <a:extLst>
              <a:ext uri="{FF2B5EF4-FFF2-40B4-BE49-F238E27FC236}">
                <a16:creationId xmlns:a16="http://schemas.microsoft.com/office/drawing/2014/main" id="{46C8343A-85F5-F5EF-0A95-9130043843CC}"/>
              </a:ext>
            </a:extLst>
          </p:cNvPr>
          <p:cNvSpPr txBox="1"/>
          <p:nvPr/>
        </p:nvSpPr>
        <p:spPr>
          <a:xfrm>
            <a:off x="318515" y="5873496"/>
            <a:ext cx="8507095" cy="338455"/>
          </a:xfrm>
          <a:prstGeom prst="rect">
            <a:avLst/>
          </a:prstGeom>
          <a:solidFill>
            <a:srgbClr val="FFF1CC"/>
          </a:solidFill>
          <a:ln w="9525">
            <a:solidFill>
              <a:srgbClr val="000000"/>
            </a:solidFill>
          </a:ln>
        </p:spPr>
        <p:txBody>
          <a:bodyPr vert="horz" wrap="square" lIns="0" tIns="34290" rIns="0" bIns="0" rtlCol="0">
            <a:spAutoFit/>
          </a:bodyPr>
          <a:lstStyle/>
          <a:p>
            <a:pPr marL="91440" rtl="0">
              <a:spcBef>
                <a:spcPts val="270"/>
              </a:spcBef>
            </a:pPr>
            <a:r>
              <a:rPr sz="1600" kern="1200" spc="-20" dirty="0">
                <a:solidFill>
                  <a:prstClr val="black"/>
                </a:solidFill>
                <a:latin typeface="Palatino Linotype"/>
                <a:cs typeface="Palatino Linotype"/>
              </a:rPr>
              <a:t>Traversing </a:t>
            </a:r>
            <a:r>
              <a:rPr sz="1600" kern="1200" spc="-10" dirty="0">
                <a:solidFill>
                  <a:prstClr val="black"/>
                </a:solidFill>
                <a:latin typeface="Palatino Linotype"/>
                <a:cs typeface="Palatino Linotype"/>
              </a:rPr>
              <a:t>the</a:t>
            </a:r>
            <a:r>
              <a:rPr sz="1600" kern="1200" spc="25" dirty="0">
                <a:solidFill>
                  <a:prstClr val="black"/>
                </a:solidFill>
                <a:latin typeface="Palatino Linotype"/>
                <a:cs typeface="Palatino Linotype"/>
              </a:rPr>
              <a:t> </a:t>
            </a:r>
            <a:r>
              <a:rPr sz="1600" kern="1200" spc="-5" dirty="0">
                <a:solidFill>
                  <a:prstClr val="black"/>
                </a:solidFill>
                <a:latin typeface="Palatino Linotype"/>
                <a:cs typeface="Palatino Linotype"/>
              </a:rPr>
              <a:t>parse tree</a:t>
            </a:r>
            <a:r>
              <a:rPr sz="1600" kern="1200" spc="5" dirty="0">
                <a:solidFill>
                  <a:prstClr val="black"/>
                </a:solidFill>
                <a:latin typeface="Palatino Linotype"/>
                <a:cs typeface="Palatino Linotype"/>
              </a:rPr>
              <a:t> </a:t>
            </a:r>
            <a:r>
              <a:rPr sz="1600" kern="1200" spc="-10" dirty="0">
                <a:solidFill>
                  <a:prstClr val="black"/>
                </a:solidFill>
                <a:latin typeface="Palatino Linotype"/>
                <a:cs typeface="Palatino Linotype"/>
              </a:rPr>
              <a:t>to</a:t>
            </a:r>
            <a:r>
              <a:rPr sz="1600" kern="1200" spc="10" dirty="0">
                <a:solidFill>
                  <a:prstClr val="black"/>
                </a:solidFill>
                <a:latin typeface="Palatino Linotype"/>
                <a:cs typeface="Palatino Linotype"/>
              </a:rPr>
              <a:t> </a:t>
            </a:r>
            <a:r>
              <a:rPr sz="1600" kern="1200" spc="-10" dirty="0">
                <a:solidFill>
                  <a:prstClr val="black"/>
                </a:solidFill>
                <a:latin typeface="Palatino Linotype"/>
                <a:cs typeface="Palatino Linotype"/>
              </a:rPr>
              <a:t>evaluate</a:t>
            </a:r>
            <a:r>
              <a:rPr sz="1600" kern="1200" dirty="0">
                <a:solidFill>
                  <a:prstClr val="black"/>
                </a:solidFill>
                <a:latin typeface="Palatino Linotype"/>
                <a:cs typeface="Palatino Linotype"/>
              </a:rPr>
              <a:t> </a:t>
            </a:r>
            <a:r>
              <a:rPr sz="1600" kern="1200" spc="-10" dirty="0">
                <a:solidFill>
                  <a:prstClr val="black"/>
                </a:solidFill>
                <a:latin typeface="Palatino Linotype"/>
                <a:cs typeface="Palatino Linotype"/>
              </a:rPr>
              <a:t>the</a:t>
            </a:r>
            <a:r>
              <a:rPr sz="1600" kern="1200" spc="20" dirty="0">
                <a:solidFill>
                  <a:prstClr val="black"/>
                </a:solidFill>
                <a:latin typeface="Palatino Linotype"/>
                <a:cs typeface="Palatino Linotype"/>
              </a:rPr>
              <a:t> </a:t>
            </a:r>
            <a:r>
              <a:rPr sz="1600" kern="1200" spc="-5" dirty="0">
                <a:solidFill>
                  <a:prstClr val="black"/>
                </a:solidFill>
                <a:latin typeface="Palatino Linotype"/>
                <a:cs typeface="Palatino Linotype"/>
              </a:rPr>
              <a:t>attributes</a:t>
            </a:r>
            <a:r>
              <a:rPr sz="1600" kern="1200" spc="20" dirty="0">
                <a:solidFill>
                  <a:prstClr val="black"/>
                </a:solidFill>
                <a:latin typeface="Palatino Linotype"/>
                <a:cs typeface="Palatino Linotype"/>
              </a:rPr>
              <a:t> </a:t>
            </a:r>
            <a:r>
              <a:rPr sz="1600" kern="1200" spc="-5" dirty="0">
                <a:solidFill>
                  <a:prstClr val="black"/>
                </a:solidFill>
                <a:latin typeface="Palatino Linotype"/>
                <a:cs typeface="Palatino Linotype"/>
              </a:rPr>
              <a:t>helps</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generate intermidate</a:t>
            </a:r>
            <a:r>
              <a:rPr sz="1600" kern="1200" spc="20" dirty="0">
                <a:solidFill>
                  <a:prstClr val="black"/>
                </a:solidFill>
                <a:latin typeface="Palatino Linotype"/>
                <a:cs typeface="Palatino Linotype"/>
              </a:rPr>
              <a:t> </a:t>
            </a:r>
            <a:r>
              <a:rPr sz="1600" kern="1200" spc="-5" dirty="0">
                <a:solidFill>
                  <a:prstClr val="black"/>
                </a:solidFill>
                <a:latin typeface="Palatino Linotype"/>
                <a:cs typeface="Palatino Linotype"/>
              </a:rPr>
              <a:t>code</a:t>
            </a:r>
            <a:endParaRPr sz="1600" kern="1200" dirty="0">
              <a:solidFill>
                <a:prstClr val="black"/>
              </a:solidFill>
              <a:latin typeface="Palatino Linotype"/>
              <a:cs typeface="Palatino Linotype"/>
            </a:endParaRPr>
          </a:p>
        </p:txBody>
      </p:sp>
    </p:spTree>
    <p:extLst>
      <p:ext uri="{BB962C8B-B14F-4D97-AF65-F5344CB8AC3E}">
        <p14:creationId xmlns:p14="http://schemas.microsoft.com/office/powerpoint/2010/main" val="317348404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91</a:t>
            </a:fld>
            <a:endParaRPr lang="en-US"/>
          </a:p>
        </p:txBody>
      </p:sp>
      <p:sp>
        <p:nvSpPr>
          <p:cNvPr id="12" name="object 2">
            <a:extLst>
              <a:ext uri="{FF2B5EF4-FFF2-40B4-BE49-F238E27FC236}">
                <a16:creationId xmlns:a16="http://schemas.microsoft.com/office/drawing/2014/main" id="{3B8E76B7-A527-4F91-48CE-90296E4634A5}"/>
              </a:ext>
            </a:extLst>
          </p:cNvPr>
          <p:cNvSpPr txBox="1">
            <a:spLocks/>
          </p:cNvSpPr>
          <p:nvPr/>
        </p:nvSpPr>
        <p:spPr>
          <a:xfrm>
            <a:off x="707542" y="304037"/>
            <a:ext cx="202565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Ex</a:t>
            </a:r>
            <a:r>
              <a:rPr kumimoji="0" lang="en-US" sz="4000" b="1" i="0" u="none" strike="noStrike" kern="0" cap="none" spc="5" normalizeH="0" baseline="0" noProof="0">
                <a:ln>
                  <a:noFill/>
                </a:ln>
                <a:solidFill>
                  <a:sysClr val="windowText" lastClr="000000"/>
                </a:solidFill>
                <a:effectLst/>
                <a:uLnTx/>
                <a:uFillTx/>
                <a:latin typeface="Palatino Linotype"/>
                <a:ea typeface="+mj-ea"/>
              </a:rPr>
              <a:t>a</a:t>
            </a:r>
            <a:r>
              <a:rPr kumimoji="0" lang="en-US" sz="4000" b="1" i="0" u="none" strike="noStrike" kern="0" cap="none" spc="-10" normalizeH="0" baseline="0" noProof="0">
                <a:ln>
                  <a:noFill/>
                </a:ln>
                <a:solidFill>
                  <a:sysClr val="windowText" lastClr="000000"/>
                </a:solidFill>
                <a:effectLst/>
                <a:uLnTx/>
                <a:uFillTx/>
                <a:latin typeface="Palatino Linotype"/>
                <a:ea typeface="+mj-ea"/>
              </a:rPr>
              <a:t>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3" name="object 3">
            <a:extLst>
              <a:ext uri="{FF2B5EF4-FFF2-40B4-BE49-F238E27FC236}">
                <a16:creationId xmlns:a16="http://schemas.microsoft.com/office/drawing/2014/main" id="{6408C8BA-FC15-B5AA-2624-433E3A2990B4}"/>
              </a:ext>
            </a:extLst>
          </p:cNvPr>
          <p:cNvSpPr txBox="1"/>
          <p:nvPr/>
        </p:nvSpPr>
        <p:spPr>
          <a:xfrm>
            <a:off x="707542" y="1247012"/>
            <a:ext cx="6722109" cy="360680"/>
          </a:xfrm>
          <a:prstGeom prst="rect">
            <a:avLst/>
          </a:prstGeom>
        </p:spPr>
        <p:txBody>
          <a:bodyPr vert="horz" wrap="square" lIns="0" tIns="12065" rIns="0" bIns="0" rtlCol="0">
            <a:spAutoFit/>
          </a:bodyPr>
          <a:lstStyle/>
          <a:p>
            <a:pPr marL="242570" indent="-230504" rtl="0">
              <a:spcBef>
                <a:spcPts val="95"/>
              </a:spcBef>
              <a:buClr>
                <a:srgbClr val="000000"/>
              </a:buClr>
              <a:buFont typeface="Arial MT"/>
              <a:buChar char="•"/>
              <a:tabLst>
                <a:tab pos="242570" algn="l"/>
                <a:tab pos="243204" algn="l"/>
              </a:tabLst>
            </a:pPr>
            <a:r>
              <a:rPr sz="2200" kern="1200" dirty="0">
                <a:solidFill>
                  <a:srgbClr val="0431FF"/>
                </a:solidFill>
                <a:latin typeface="Consolas"/>
                <a:cs typeface="Consolas"/>
              </a:rPr>
              <a:t>if </a:t>
            </a:r>
            <a:r>
              <a:rPr sz="2200" kern="1200" spc="-5" dirty="0">
                <a:solidFill>
                  <a:srgbClr val="0431FF"/>
                </a:solidFill>
                <a:latin typeface="Consolas"/>
                <a:cs typeface="Consolas"/>
              </a:rPr>
              <a:t>(</a:t>
            </a:r>
            <a:r>
              <a:rPr sz="2200" kern="1200" dirty="0">
                <a:solidFill>
                  <a:srgbClr val="0431FF"/>
                </a:solidFill>
                <a:latin typeface="Consolas"/>
                <a:cs typeface="Consolas"/>
              </a:rPr>
              <a:t> </a:t>
            </a:r>
            <a:r>
              <a:rPr sz="2200" kern="1200" spc="-5" dirty="0">
                <a:solidFill>
                  <a:srgbClr val="0431FF"/>
                </a:solidFill>
                <a:latin typeface="Consolas"/>
                <a:cs typeface="Consolas"/>
              </a:rPr>
              <a:t>x</a:t>
            </a:r>
            <a:r>
              <a:rPr sz="2200" kern="1200" dirty="0">
                <a:solidFill>
                  <a:srgbClr val="0431FF"/>
                </a:solidFill>
                <a:latin typeface="Consolas"/>
                <a:cs typeface="Consolas"/>
              </a:rPr>
              <a:t> </a:t>
            </a:r>
            <a:r>
              <a:rPr sz="2200" kern="1200" spc="-5" dirty="0">
                <a:solidFill>
                  <a:srgbClr val="0431FF"/>
                </a:solidFill>
                <a:latin typeface="Consolas"/>
                <a:cs typeface="Consolas"/>
              </a:rPr>
              <a:t>&lt;</a:t>
            </a:r>
            <a:r>
              <a:rPr sz="2200" kern="1200" spc="5" dirty="0">
                <a:solidFill>
                  <a:srgbClr val="0431FF"/>
                </a:solidFill>
                <a:latin typeface="Consolas"/>
                <a:cs typeface="Consolas"/>
              </a:rPr>
              <a:t> </a:t>
            </a:r>
            <a:r>
              <a:rPr sz="2200" kern="1200" dirty="0">
                <a:solidFill>
                  <a:srgbClr val="0431FF"/>
                </a:solidFill>
                <a:latin typeface="Consolas"/>
                <a:cs typeface="Consolas"/>
              </a:rPr>
              <a:t>100 || </a:t>
            </a:r>
            <a:r>
              <a:rPr sz="2200" kern="1200" spc="-5" dirty="0">
                <a:solidFill>
                  <a:srgbClr val="0431FF"/>
                </a:solidFill>
                <a:latin typeface="Consolas"/>
                <a:cs typeface="Consolas"/>
              </a:rPr>
              <a:t>x</a:t>
            </a:r>
            <a:r>
              <a:rPr sz="2200" kern="1200" spc="5" dirty="0">
                <a:solidFill>
                  <a:srgbClr val="0431FF"/>
                </a:solidFill>
                <a:latin typeface="Consolas"/>
                <a:cs typeface="Consolas"/>
              </a:rPr>
              <a:t> </a:t>
            </a:r>
            <a:r>
              <a:rPr sz="2200" kern="1200" spc="-5" dirty="0">
                <a:solidFill>
                  <a:srgbClr val="0431FF"/>
                </a:solidFill>
                <a:latin typeface="Consolas"/>
                <a:cs typeface="Consolas"/>
              </a:rPr>
              <a:t>&gt;</a:t>
            </a:r>
            <a:r>
              <a:rPr sz="2200" kern="1200" dirty="0">
                <a:solidFill>
                  <a:srgbClr val="0431FF"/>
                </a:solidFill>
                <a:latin typeface="Consolas"/>
                <a:cs typeface="Consolas"/>
              </a:rPr>
              <a:t> 200 &amp;&amp; </a:t>
            </a:r>
            <a:r>
              <a:rPr sz="2200" kern="1200" spc="-5" dirty="0">
                <a:solidFill>
                  <a:srgbClr val="0431FF"/>
                </a:solidFill>
                <a:latin typeface="Consolas"/>
                <a:cs typeface="Consolas"/>
              </a:rPr>
              <a:t>x</a:t>
            </a:r>
            <a:r>
              <a:rPr sz="2200" kern="1200" spc="5" dirty="0">
                <a:solidFill>
                  <a:srgbClr val="0431FF"/>
                </a:solidFill>
                <a:latin typeface="Consolas"/>
                <a:cs typeface="Consolas"/>
              </a:rPr>
              <a:t> </a:t>
            </a:r>
            <a:r>
              <a:rPr sz="2200" kern="1200" dirty="0">
                <a:solidFill>
                  <a:srgbClr val="0431FF"/>
                </a:solidFill>
                <a:latin typeface="Consolas"/>
                <a:cs typeface="Consolas"/>
              </a:rPr>
              <a:t>!= </a:t>
            </a:r>
            <a:r>
              <a:rPr sz="2200" kern="1200" spc="-5" dirty="0">
                <a:solidFill>
                  <a:srgbClr val="0431FF"/>
                </a:solidFill>
                <a:latin typeface="Consolas"/>
                <a:cs typeface="Consolas"/>
              </a:rPr>
              <a:t>y</a:t>
            </a:r>
            <a:r>
              <a:rPr sz="2200" kern="1200" dirty="0">
                <a:solidFill>
                  <a:srgbClr val="0431FF"/>
                </a:solidFill>
                <a:latin typeface="Consolas"/>
                <a:cs typeface="Consolas"/>
              </a:rPr>
              <a:t> </a:t>
            </a:r>
            <a:r>
              <a:rPr sz="2200" kern="1200" spc="-5" dirty="0">
                <a:solidFill>
                  <a:srgbClr val="0431FF"/>
                </a:solidFill>
                <a:latin typeface="Consolas"/>
                <a:cs typeface="Consolas"/>
              </a:rPr>
              <a:t>)</a:t>
            </a:r>
            <a:r>
              <a:rPr sz="2200" kern="1200" spc="5" dirty="0">
                <a:solidFill>
                  <a:srgbClr val="0431FF"/>
                </a:solidFill>
                <a:latin typeface="Consolas"/>
                <a:cs typeface="Consolas"/>
              </a:rPr>
              <a:t> </a:t>
            </a:r>
            <a:r>
              <a:rPr sz="2200" kern="1200" spc="-5" dirty="0">
                <a:solidFill>
                  <a:srgbClr val="0431FF"/>
                </a:solidFill>
                <a:latin typeface="Consolas"/>
                <a:cs typeface="Consolas"/>
              </a:rPr>
              <a:t>x</a:t>
            </a:r>
            <a:r>
              <a:rPr sz="2200" kern="1200" dirty="0">
                <a:solidFill>
                  <a:srgbClr val="0431FF"/>
                </a:solidFill>
                <a:latin typeface="Consolas"/>
                <a:cs typeface="Consolas"/>
              </a:rPr>
              <a:t> </a:t>
            </a:r>
            <a:r>
              <a:rPr sz="2200" kern="1200" spc="-5" dirty="0">
                <a:solidFill>
                  <a:srgbClr val="0431FF"/>
                </a:solidFill>
                <a:latin typeface="Consolas"/>
                <a:cs typeface="Consolas"/>
              </a:rPr>
              <a:t>=</a:t>
            </a:r>
            <a:r>
              <a:rPr sz="2200" kern="1200" dirty="0">
                <a:solidFill>
                  <a:srgbClr val="0431FF"/>
                </a:solidFill>
                <a:latin typeface="Consolas"/>
                <a:cs typeface="Consolas"/>
              </a:rPr>
              <a:t> </a:t>
            </a:r>
            <a:r>
              <a:rPr sz="2200" kern="1200" spc="-5" dirty="0">
                <a:solidFill>
                  <a:srgbClr val="0431FF"/>
                </a:solidFill>
                <a:latin typeface="Consolas"/>
                <a:cs typeface="Consolas"/>
              </a:rPr>
              <a:t>0;</a:t>
            </a:r>
            <a:endParaRPr sz="2200" kern="1200" dirty="0">
              <a:solidFill>
                <a:prstClr val="black"/>
              </a:solidFill>
              <a:latin typeface="Consolas"/>
              <a:cs typeface="Consolas"/>
            </a:endParaRPr>
          </a:p>
        </p:txBody>
      </p:sp>
      <p:pic>
        <p:nvPicPr>
          <p:cNvPr id="14" name="object 4">
            <a:extLst>
              <a:ext uri="{FF2B5EF4-FFF2-40B4-BE49-F238E27FC236}">
                <a16:creationId xmlns:a16="http://schemas.microsoft.com/office/drawing/2014/main" id="{A67CD9CA-7F90-2F52-4FD0-5413C8F140BD}"/>
              </a:ext>
            </a:extLst>
          </p:cNvPr>
          <p:cNvPicPr/>
          <p:nvPr/>
        </p:nvPicPr>
        <p:blipFill>
          <a:blip r:embed="rId3" cstate="print"/>
          <a:stretch>
            <a:fillRect/>
          </a:stretch>
        </p:blipFill>
        <p:spPr>
          <a:xfrm>
            <a:off x="472359" y="2481223"/>
            <a:ext cx="3391317" cy="2856167"/>
          </a:xfrm>
          <a:prstGeom prst="rect">
            <a:avLst/>
          </a:prstGeom>
        </p:spPr>
      </p:pic>
      <p:grpSp>
        <p:nvGrpSpPr>
          <p:cNvPr id="15" name="object 5">
            <a:extLst>
              <a:ext uri="{FF2B5EF4-FFF2-40B4-BE49-F238E27FC236}">
                <a16:creationId xmlns:a16="http://schemas.microsoft.com/office/drawing/2014/main" id="{E4B3D4E9-C5CE-5F7F-6594-E4FA1D714E24}"/>
              </a:ext>
            </a:extLst>
          </p:cNvPr>
          <p:cNvGrpSpPr/>
          <p:nvPr/>
        </p:nvGrpSpPr>
        <p:grpSpPr>
          <a:xfrm>
            <a:off x="4827587" y="3253295"/>
            <a:ext cx="2914650" cy="2223135"/>
            <a:chOff x="4827587" y="3253295"/>
            <a:chExt cx="2914650" cy="2223135"/>
          </a:xfrm>
        </p:grpSpPr>
        <p:pic>
          <p:nvPicPr>
            <p:cNvPr id="16" name="object 6">
              <a:extLst>
                <a:ext uri="{FF2B5EF4-FFF2-40B4-BE49-F238E27FC236}">
                  <a16:creationId xmlns:a16="http://schemas.microsoft.com/office/drawing/2014/main" id="{2297F58C-51E1-6922-1C29-22351B0C95D4}"/>
                </a:ext>
              </a:extLst>
            </p:cNvPr>
            <p:cNvPicPr/>
            <p:nvPr/>
          </p:nvPicPr>
          <p:blipFill>
            <a:blip r:embed="rId4" cstate="print"/>
            <a:stretch>
              <a:fillRect/>
            </a:stretch>
          </p:blipFill>
          <p:spPr>
            <a:xfrm>
              <a:off x="4913644" y="3324098"/>
              <a:ext cx="2676390" cy="2096579"/>
            </a:xfrm>
            <a:prstGeom prst="rect">
              <a:avLst/>
            </a:prstGeom>
          </p:spPr>
        </p:pic>
        <p:sp>
          <p:nvSpPr>
            <p:cNvPr id="17" name="object 7">
              <a:extLst>
                <a:ext uri="{FF2B5EF4-FFF2-40B4-BE49-F238E27FC236}">
                  <a16:creationId xmlns:a16="http://schemas.microsoft.com/office/drawing/2014/main" id="{0D9FC28D-B208-04BC-7A1A-1037EDFC04EE}"/>
                </a:ext>
              </a:extLst>
            </p:cNvPr>
            <p:cNvSpPr/>
            <p:nvPr/>
          </p:nvSpPr>
          <p:spPr>
            <a:xfrm>
              <a:off x="4832350" y="3258058"/>
              <a:ext cx="2905125" cy="2213610"/>
            </a:xfrm>
            <a:custGeom>
              <a:avLst/>
              <a:gdLst/>
              <a:ahLst/>
              <a:cxnLst/>
              <a:rect l="l" t="t" r="r" b="b"/>
              <a:pathLst>
                <a:path w="2905125" h="2213610">
                  <a:moveTo>
                    <a:pt x="0" y="2213229"/>
                  </a:moveTo>
                  <a:lnTo>
                    <a:pt x="2905125" y="2213229"/>
                  </a:lnTo>
                  <a:lnTo>
                    <a:pt x="2905125" y="0"/>
                  </a:lnTo>
                  <a:lnTo>
                    <a:pt x="0" y="0"/>
                  </a:lnTo>
                  <a:lnTo>
                    <a:pt x="0" y="2213229"/>
                  </a:lnTo>
                  <a:close/>
                </a:path>
              </a:pathLst>
            </a:custGeom>
            <a:ln w="9524">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18" name="object 8">
            <a:extLst>
              <a:ext uri="{FF2B5EF4-FFF2-40B4-BE49-F238E27FC236}">
                <a16:creationId xmlns:a16="http://schemas.microsoft.com/office/drawing/2014/main" id="{DC9DD2B3-AF9C-D4FB-346A-416BA2E417B8}"/>
              </a:ext>
            </a:extLst>
          </p:cNvPr>
          <p:cNvSpPr txBox="1"/>
          <p:nvPr/>
        </p:nvSpPr>
        <p:spPr>
          <a:xfrm>
            <a:off x="4820158" y="2696336"/>
            <a:ext cx="1671955" cy="299720"/>
          </a:xfrm>
          <a:prstGeom prst="rect">
            <a:avLst/>
          </a:prstGeom>
        </p:spPr>
        <p:txBody>
          <a:bodyPr vert="horz" wrap="square" lIns="0" tIns="12700" rIns="0" bIns="0" rtlCol="0">
            <a:spAutoFit/>
          </a:bodyPr>
          <a:lstStyle/>
          <a:p>
            <a:pPr marL="12700" rtl="0">
              <a:spcBef>
                <a:spcPts val="100"/>
              </a:spcBef>
            </a:pPr>
            <a:r>
              <a:rPr kern="1200" spc="-5" dirty="0">
                <a:solidFill>
                  <a:srgbClr val="FF0000"/>
                </a:solidFill>
                <a:latin typeface="Palatino Linotype"/>
                <a:cs typeface="Palatino Linotype"/>
              </a:rPr>
              <a:t>Generated</a:t>
            </a:r>
            <a:r>
              <a:rPr kern="1200" spc="-50" dirty="0">
                <a:solidFill>
                  <a:srgbClr val="FF0000"/>
                </a:solidFill>
                <a:latin typeface="Palatino Linotype"/>
                <a:cs typeface="Palatino Linotype"/>
              </a:rPr>
              <a:t> </a:t>
            </a:r>
            <a:r>
              <a:rPr kern="1200" dirty="0">
                <a:solidFill>
                  <a:srgbClr val="FF0000"/>
                </a:solidFill>
                <a:latin typeface="Palatino Linotype"/>
                <a:cs typeface="Palatino Linotype"/>
              </a:rPr>
              <a:t>code:</a:t>
            </a:r>
            <a:endParaRPr kern="1200">
              <a:solidFill>
                <a:prstClr val="black"/>
              </a:solidFill>
              <a:latin typeface="Palatino Linotype"/>
              <a:cs typeface="Palatino Linotype"/>
            </a:endParaRPr>
          </a:p>
        </p:txBody>
      </p:sp>
    </p:spTree>
    <p:extLst>
      <p:ext uri="{BB962C8B-B14F-4D97-AF65-F5344CB8AC3E}">
        <p14:creationId xmlns:p14="http://schemas.microsoft.com/office/powerpoint/2010/main" val="19182528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92</a:t>
            </a:fld>
            <a:endParaRPr lang="en-US"/>
          </a:p>
        </p:txBody>
      </p:sp>
      <p:sp>
        <p:nvSpPr>
          <p:cNvPr id="12" name="object 2">
            <a:extLst>
              <a:ext uri="{FF2B5EF4-FFF2-40B4-BE49-F238E27FC236}">
                <a16:creationId xmlns:a16="http://schemas.microsoft.com/office/drawing/2014/main" id="{25035A94-E488-FED4-9E4F-4EED236CE201}"/>
              </a:ext>
            </a:extLst>
          </p:cNvPr>
          <p:cNvSpPr txBox="1">
            <a:spLocks/>
          </p:cNvSpPr>
          <p:nvPr/>
        </p:nvSpPr>
        <p:spPr>
          <a:xfrm>
            <a:off x="707542" y="304037"/>
            <a:ext cx="5620385"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rgbClr val="A6A6A6"/>
                </a:solidFill>
                <a:effectLst/>
                <a:uLnTx/>
                <a:uFillTx/>
                <a:latin typeface="Palatino Linotype"/>
                <a:ea typeface="+mj-ea"/>
              </a:rPr>
              <a:t>Example</a:t>
            </a:r>
            <a:r>
              <a:rPr kumimoji="0" lang="en-US" sz="4000" b="1" i="0" u="none" strike="noStrike" kern="0" cap="none" spc="-35" normalizeH="0" baseline="0" noProof="0">
                <a:ln>
                  <a:noFill/>
                </a:ln>
                <a:solidFill>
                  <a:srgbClr val="A6A6A6"/>
                </a:solidFill>
                <a:effectLst/>
                <a:uLnTx/>
                <a:uFillTx/>
                <a:latin typeface="Palatino Linotype"/>
                <a:ea typeface="+mj-ea"/>
              </a:rPr>
              <a:t> </a:t>
            </a:r>
            <a:r>
              <a:rPr kumimoji="0" lang="en-US" sz="4000" b="1" i="0" u="none" strike="noStrike" kern="0" cap="none" spc="-5" normalizeH="0" baseline="0" noProof="0">
                <a:ln>
                  <a:noFill/>
                </a:ln>
                <a:solidFill>
                  <a:srgbClr val="A6A6A6"/>
                </a:solidFill>
                <a:effectLst/>
                <a:uLnTx/>
                <a:uFillTx/>
                <a:latin typeface="Palatino Linotype"/>
                <a:ea typeface="+mj-ea"/>
              </a:rPr>
              <a:t>(Optimization)</a:t>
            </a:r>
            <a:endParaRPr kumimoji="0" lang="en-US" sz="4000" b="1" i="0" u="none" strike="noStrike" kern="0" cap="none" spc="-5" normalizeH="0" baseline="0" noProof="0" dirty="0">
              <a:ln>
                <a:noFill/>
              </a:ln>
              <a:solidFill>
                <a:srgbClr val="A6A6A6"/>
              </a:solidFill>
              <a:effectLst/>
              <a:uLnTx/>
              <a:uFillTx/>
              <a:latin typeface="Palatino Linotype"/>
              <a:ea typeface="+mj-ea"/>
            </a:endParaRPr>
          </a:p>
        </p:txBody>
      </p:sp>
      <p:sp>
        <p:nvSpPr>
          <p:cNvPr id="13" name="object 3">
            <a:extLst>
              <a:ext uri="{FF2B5EF4-FFF2-40B4-BE49-F238E27FC236}">
                <a16:creationId xmlns:a16="http://schemas.microsoft.com/office/drawing/2014/main" id="{555A211D-4C69-DD0A-24F3-4B38802A9BA2}"/>
              </a:ext>
            </a:extLst>
          </p:cNvPr>
          <p:cNvSpPr txBox="1"/>
          <p:nvPr/>
        </p:nvSpPr>
        <p:spPr>
          <a:xfrm>
            <a:off x="707542" y="1247012"/>
            <a:ext cx="6722109" cy="360680"/>
          </a:xfrm>
          <a:prstGeom prst="rect">
            <a:avLst/>
          </a:prstGeom>
        </p:spPr>
        <p:txBody>
          <a:bodyPr vert="horz" wrap="square" lIns="0" tIns="12065" rIns="0" bIns="0" rtlCol="0">
            <a:spAutoFit/>
          </a:bodyPr>
          <a:lstStyle/>
          <a:p>
            <a:pPr marL="242570" indent="-230504" rtl="0">
              <a:spcBef>
                <a:spcPts val="95"/>
              </a:spcBef>
              <a:buClr>
                <a:srgbClr val="000000"/>
              </a:buClr>
              <a:buFont typeface="Arial MT"/>
              <a:buChar char="•"/>
              <a:tabLst>
                <a:tab pos="242570" algn="l"/>
                <a:tab pos="243204" algn="l"/>
              </a:tabLst>
            </a:pPr>
            <a:r>
              <a:rPr sz="2200" kern="1200" dirty="0">
                <a:solidFill>
                  <a:srgbClr val="0431FF"/>
                </a:solidFill>
                <a:latin typeface="Consolas"/>
                <a:cs typeface="Consolas"/>
              </a:rPr>
              <a:t>if </a:t>
            </a:r>
            <a:r>
              <a:rPr sz="2200" kern="1200" spc="-5" dirty="0">
                <a:solidFill>
                  <a:srgbClr val="0431FF"/>
                </a:solidFill>
                <a:latin typeface="Consolas"/>
                <a:cs typeface="Consolas"/>
              </a:rPr>
              <a:t>(</a:t>
            </a:r>
            <a:r>
              <a:rPr sz="2200" kern="1200" dirty="0">
                <a:solidFill>
                  <a:srgbClr val="0431FF"/>
                </a:solidFill>
                <a:latin typeface="Consolas"/>
                <a:cs typeface="Consolas"/>
              </a:rPr>
              <a:t> </a:t>
            </a:r>
            <a:r>
              <a:rPr sz="2200" kern="1200" spc="-5" dirty="0">
                <a:solidFill>
                  <a:srgbClr val="0431FF"/>
                </a:solidFill>
                <a:latin typeface="Consolas"/>
                <a:cs typeface="Consolas"/>
              </a:rPr>
              <a:t>x</a:t>
            </a:r>
            <a:r>
              <a:rPr sz="2200" kern="1200" dirty="0">
                <a:solidFill>
                  <a:srgbClr val="0431FF"/>
                </a:solidFill>
                <a:latin typeface="Consolas"/>
                <a:cs typeface="Consolas"/>
              </a:rPr>
              <a:t> </a:t>
            </a:r>
            <a:r>
              <a:rPr sz="2200" kern="1200" spc="-5" dirty="0">
                <a:solidFill>
                  <a:srgbClr val="0431FF"/>
                </a:solidFill>
                <a:latin typeface="Consolas"/>
                <a:cs typeface="Consolas"/>
              </a:rPr>
              <a:t>&lt;</a:t>
            </a:r>
            <a:r>
              <a:rPr sz="2200" kern="1200" spc="5" dirty="0">
                <a:solidFill>
                  <a:srgbClr val="0431FF"/>
                </a:solidFill>
                <a:latin typeface="Consolas"/>
                <a:cs typeface="Consolas"/>
              </a:rPr>
              <a:t> </a:t>
            </a:r>
            <a:r>
              <a:rPr sz="2200" kern="1200" dirty="0">
                <a:solidFill>
                  <a:srgbClr val="0431FF"/>
                </a:solidFill>
                <a:latin typeface="Consolas"/>
                <a:cs typeface="Consolas"/>
              </a:rPr>
              <a:t>100 || </a:t>
            </a:r>
            <a:r>
              <a:rPr sz="2200" kern="1200" spc="-5" dirty="0">
                <a:solidFill>
                  <a:srgbClr val="0431FF"/>
                </a:solidFill>
                <a:latin typeface="Consolas"/>
                <a:cs typeface="Consolas"/>
              </a:rPr>
              <a:t>x</a:t>
            </a:r>
            <a:r>
              <a:rPr sz="2200" kern="1200" spc="5" dirty="0">
                <a:solidFill>
                  <a:srgbClr val="0431FF"/>
                </a:solidFill>
                <a:latin typeface="Consolas"/>
                <a:cs typeface="Consolas"/>
              </a:rPr>
              <a:t> </a:t>
            </a:r>
            <a:r>
              <a:rPr sz="2200" kern="1200" spc="-5" dirty="0">
                <a:solidFill>
                  <a:srgbClr val="0431FF"/>
                </a:solidFill>
                <a:latin typeface="Consolas"/>
                <a:cs typeface="Consolas"/>
              </a:rPr>
              <a:t>&gt;</a:t>
            </a:r>
            <a:r>
              <a:rPr sz="2200" kern="1200" dirty="0">
                <a:solidFill>
                  <a:srgbClr val="0431FF"/>
                </a:solidFill>
                <a:latin typeface="Consolas"/>
                <a:cs typeface="Consolas"/>
              </a:rPr>
              <a:t> 200 &amp;&amp; </a:t>
            </a:r>
            <a:r>
              <a:rPr sz="2200" kern="1200" spc="-5" dirty="0">
                <a:solidFill>
                  <a:srgbClr val="0431FF"/>
                </a:solidFill>
                <a:latin typeface="Consolas"/>
                <a:cs typeface="Consolas"/>
              </a:rPr>
              <a:t>x</a:t>
            </a:r>
            <a:r>
              <a:rPr sz="2200" kern="1200" spc="5" dirty="0">
                <a:solidFill>
                  <a:srgbClr val="0431FF"/>
                </a:solidFill>
                <a:latin typeface="Consolas"/>
                <a:cs typeface="Consolas"/>
              </a:rPr>
              <a:t> </a:t>
            </a:r>
            <a:r>
              <a:rPr sz="2200" kern="1200" dirty="0">
                <a:solidFill>
                  <a:srgbClr val="0431FF"/>
                </a:solidFill>
                <a:latin typeface="Consolas"/>
                <a:cs typeface="Consolas"/>
              </a:rPr>
              <a:t>!= </a:t>
            </a:r>
            <a:r>
              <a:rPr sz="2200" kern="1200" spc="-5" dirty="0">
                <a:solidFill>
                  <a:srgbClr val="0431FF"/>
                </a:solidFill>
                <a:latin typeface="Consolas"/>
                <a:cs typeface="Consolas"/>
              </a:rPr>
              <a:t>y</a:t>
            </a:r>
            <a:r>
              <a:rPr sz="2200" kern="1200" dirty="0">
                <a:solidFill>
                  <a:srgbClr val="0431FF"/>
                </a:solidFill>
                <a:latin typeface="Consolas"/>
                <a:cs typeface="Consolas"/>
              </a:rPr>
              <a:t> </a:t>
            </a:r>
            <a:r>
              <a:rPr sz="2200" kern="1200" spc="-5" dirty="0">
                <a:solidFill>
                  <a:srgbClr val="0431FF"/>
                </a:solidFill>
                <a:latin typeface="Consolas"/>
                <a:cs typeface="Consolas"/>
              </a:rPr>
              <a:t>)</a:t>
            </a:r>
            <a:r>
              <a:rPr sz="2200" kern="1200" spc="5" dirty="0">
                <a:solidFill>
                  <a:srgbClr val="0431FF"/>
                </a:solidFill>
                <a:latin typeface="Consolas"/>
                <a:cs typeface="Consolas"/>
              </a:rPr>
              <a:t> </a:t>
            </a:r>
            <a:r>
              <a:rPr sz="2200" kern="1200" spc="-5" dirty="0">
                <a:solidFill>
                  <a:srgbClr val="0431FF"/>
                </a:solidFill>
                <a:latin typeface="Consolas"/>
                <a:cs typeface="Consolas"/>
              </a:rPr>
              <a:t>x</a:t>
            </a:r>
            <a:r>
              <a:rPr sz="2200" kern="1200" dirty="0">
                <a:solidFill>
                  <a:srgbClr val="0431FF"/>
                </a:solidFill>
                <a:latin typeface="Consolas"/>
                <a:cs typeface="Consolas"/>
              </a:rPr>
              <a:t> </a:t>
            </a:r>
            <a:r>
              <a:rPr sz="2200" kern="1200" spc="-5" dirty="0">
                <a:solidFill>
                  <a:srgbClr val="0431FF"/>
                </a:solidFill>
                <a:latin typeface="Consolas"/>
                <a:cs typeface="Consolas"/>
              </a:rPr>
              <a:t>=</a:t>
            </a:r>
            <a:r>
              <a:rPr sz="2200" kern="1200" dirty="0">
                <a:solidFill>
                  <a:srgbClr val="0431FF"/>
                </a:solidFill>
                <a:latin typeface="Consolas"/>
                <a:cs typeface="Consolas"/>
              </a:rPr>
              <a:t> </a:t>
            </a:r>
            <a:r>
              <a:rPr sz="2200" kern="1200" spc="-5" dirty="0">
                <a:solidFill>
                  <a:srgbClr val="0431FF"/>
                </a:solidFill>
                <a:latin typeface="Consolas"/>
                <a:cs typeface="Consolas"/>
              </a:rPr>
              <a:t>0;</a:t>
            </a:r>
            <a:endParaRPr sz="2200" kern="1200">
              <a:solidFill>
                <a:prstClr val="black"/>
              </a:solidFill>
              <a:latin typeface="Consolas"/>
              <a:cs typeface="Consolas"/>
            </a:endParaRPr>
          </a:p>
        </p:txBody>
      </p:sp>
      <p:sp>
        <p:nvSpPr>
          <p:cNvPr id="14" name="object 4">
            <a:extLst>
              <a:ext uri="{FF2B5EF4-FFF2-40B4-BE49-F238E27FC236}">
                <a16:creationId xmlns:a16="http://schemas.microsoft.com/office/drawing/2014/main" id="{0E63AE46-96A7-184F-BE90-C037DF573699}"/>
              </a:ext>
            </a:extLst>
          </p:cNvPr>
          <p:cNvSpPr txBox="1"/>
          <p:nvPr/>
        </p:nvSpPr>
        <p:spPr>
          <a:xfrm>
            <a:off x="4079240" y="2782950"/>
            <a:ext cx="4880610" cy="269240"/>
          </a:xfrm>
          <a:prstGeom prst="rect">
            <a:avLst/>
          </a:prstGeom>
        </p:spPr>
        <p:txBody>
          <a:bodyPr vert="horz" wrap="square" lIns="0" tIns="12065" rIns="0" bIns="0" rtlCol="0">
            <a:spAutoFit/>
          </a:bodyPr>
          <a:lstStyle/>
          <a:p>
            <a:pPr marL="12700" rtl="0">
              <a:spcBef>
                <a:spcPts val="95"/>
              </a:spcBef>
            </a:pPr>
            <a:r>
              <a:rPr sz="1600" kern="1200" spc="-5" dirty="0">
                <a:solidFill>
                  <a:srgbClr val="FF0000"/>
                </a:solidFill>
                <a:latin typeface="Palatino Linotype"/>
                <a:cs typeface="Palatino Linotype"/>
              </a:rPr>
              <a:t>Optimization:</a:t>
            </a:r>
            <a:r>
              <a:rPr sz="1600" kern="1200" spc="20" dirty="0">
                <a:solidFill>
                  <a:srgbClr val="FF0000"/>
                </a:solidFill>
                <a:latin typeface="Palatino Linotype"/>
                <a:cs typeface="Palatino Linotype"/>
              </a:rPr>
              <a:t> </a:t>
            </a:r>
            <a:r>
              <a:rPr sz="1600" kern="1200" spc="-10" dirty="0">
                <a:solidFill>
                  <a:prstClr val="black"/>
                </a:solidFill>
                <a:latin typeface="Palatino Linotype"/>
                <a:cs typeface="Palatino Linotype"/>
              </a:rPr>
              <a:t>Using</a:t>
            </a:r>
            <a:r>
              <a:rPr sz="1600" kern="1200" spc="30" dirty="0">
                <a:solidFill>
                  <a:prstClr val="black"/>
                </a:solidFill>
                <a:latin typeface="Palatino Linotype"/>
                <a:cs typeface="Palatino Linotype"/>
              </a:rPr>
              <a:t> </a:t>
            </a:r>
            <a:r>
              <a:rPr sz="1600" kern="1200" spc="-10" dirty="0">
                <a:solidFill>
                  <a:prstClr val="black"/>
                </a:solidFill>
                <a:latin typeface="Consolas"/>
                <a:cs typeface="Consolas"/>
              </a:rPr>
              <a:t>ifFalse</a:t>
            </a:r>
            <a:r>
              <a:rPr sz="1600" kern="1200" spc="-495" dirty="0">
                <a:solidFill>
                  <a:prstClr val="black"/>
                </a:solidFill>
                <a:latin typeface="Consolas"/>
                <a:cs typeface="Consolas"/>
              </a:rPr>
              <a:t> </a:t>
            </a:r>
            <a:r>
              <a:rPr sz="1600" kern="1200" spc="-10" dirty="0">
                <a:solidFill>
                  <a:prstClr val="black"/>
                </a:solidFill>
                <a:latin typeface="Palatino Linotype"/>
                <a:cs typeface="Palatino Linotype"/>
              </a:rPr>
              <a:t>avoids </a:t>
            </a:r>
            <a:r>
              <a:rPr sz="1600" kern="1200" spc="-5" dirty="0">
                <a:solidFill>
                  <a:prstClr val="black"/>
                </a:solidFill>
                <a:latin typeface="Palatino Linotype"/>
                <a:cs typeface="Palatino Linotype"/>
              </a:rPr>
              <a:t>redundant</a:t>
            </a:r>
            <a:r>
              <a:rPr sz="1600" kern="1200" spc="30" dirty="0">
                <a:solidFill>
                  <a:prstClr val="black"/>
                </a:solidFill>
                <a:latin typeface="Palatino Linotype"/>
                <a:cs typeface="Palatino Linotype"/>
              </a:rPr>
              <a:t> </a:t>
            </a:r>
            <a:r>
              <a:rPr sz="1600" kern="1200" spc="-10" dirty="0">
                <a:solidFill>
                  <a:prstClr val="black"/>
                </a:solidFill>
                <a:latin typeface="Palatino Linotype"/>
                <a:cs typeface="Palatino Linotype"/>
              </a:rPr>
              <a:t>gotos</a:t>
            </a:r>
            <a:endParaRPr sz="1600" kern="1200">
              <a:solidFill>
                <a:prstClr val="black"/>
              </a:solidFill>
              <a:latin typeface="Palatino Linotype"/>
              <a:cs typeface="Palatino Linotype"/>
            </a:endParaRPr>
          </a:p>
        </p:txBody>
      </p:sp>
      <p:grpSp>
        <p:nvGrpSpPr>
          <p:cNvPr id="15" name="object 5">
            <a:extLst>
              <a:ext uri="{FF2B5EF4-FFF2-40B4-BE49-F238E27FC236}">
                <a16:creationId xmlns:a16="http://schemas.microsoft.com/office/drawing/2014/main" id="{8F6A5BCA-ED0B-3C49-C1D0-9D754878F99B}"/>
              </a:ext>
            </a:extLst>
          </p:cNvPr>
          <p:cNvGrpSpPr/>
          <p:nvPr/>
        </p:nvGrpSpPr>
        <p:grpSpPr>
          <a:xfrm>
            <a:off x="4562411" y="3795839"/>
            <a:ext cx="3961765" cy="1678939"/>
            <a:chOff x="4562411" y="3795839"/>
            <a:chExt cx="3961765" cy="1678939"/>
          </a:xfrm>
        </p:grpSpPr>
        <p:pic>
          <p:nvPicPr>
            <p:cNvPr id="16" name="object 6">
              <a:extLst>
                <a:ext uri="{FF2B5EF4-FFF2-40B4-BE49-F238E27FC236}">
                  <a16:creationId xmlns:a16="http://schemas.microsoft.com/office/drawing/2014/main" id="{CAB68897-257C-15E2-0F3B-17E21066B59F}"/>
                </a:ext>
              </a:extLst>
            </p:cNvPr>
            <p:cNvPicPr/>
            <p:nvPr/>
          </p:nvPicPr>
          <p:blipFill>
            <a:blip r:embed="rId3" cstate="print"/>
            <a:stretch>
              <a:fillRect/>
            </a:stretch>
          </p:blipFill>
          <p:spPr>
            <a:xfrm>
              <a:off x="4687958" y="3909880"/>
              <a:ext cx="3710671" cy="1462336"/>
            </a:xfrm>
            <a:prstGeom prst="rect">
              <a:avLst/>
            </a:prstGeom>
          </p:spPr>
        </p:pic>
        <p:sp>
          <p:nvSpPr>
            <p:cNvPr id="17" name="object 7">
              <a:extLst>
                <a:ext uri="{FF2B5EF4-FFF2-40B4-BE49-F238E27FC236}">
                  <a16:creationId xmlns:a16="http://schemas.microsoft.com/office/drawing/2014/main" id="{12C2441B-EBCA-4753-4889-505C5662BB49}"/>
                </a:ext>
              </a:extLst>
            </p:cNvPr>
            <p:cNvSpPr/>
            <p:nvPr/>
          </p:nvSpPr>
          <p:spPr>
            <a:xfrm>
              <a:off x="4567173" y="3800602"/>
              <a:ext cx="3952240" cy="1669414"/>
            </a:xfrm>
            <a:custGeom>
              <a:avLst/>
              <a:gdLst/>
              <a:ahLst/>
              <a:cxnLst/>
              <a:rect l="l" t="t" r="r" b="b"/>
              <a:pathLst>
                <a:path w="3952240" h="1669414">
                  <a:moveTo>
                    <a:pt x="0" y="1669161"/>
                  </a:moveTo>
                  <a:lnTo>
                    <a:pt x="3952112" y="1669161"/>
                  </a:lnTo>
                  <a:lnTo>
                    <a:pt x="3952112" y="0"/>
                  </a:lnTo>
                  <a:lnTo>
                    <a:pt x="0" y="0"/>
                  </a:lnTo>
                  <a:lnTo>
                    <a:pt x="0" y="1669161"/>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pic>
        <p:nvPicPr>
          <p:cNvPr id="18" name="object 8">
            <a:extLst>
              <a:ext uri="{FF2B5EF4-FFF2-40B4-BE49-F238E27FC236}">
                <a16:creationId xmlns:a16="http://schemas.microsoft.com/office/drawing/2014/main" id="{7DECD77A-8480-3D56-FED7-35631C0EDD34}"/>
              </a:ext>
            </a:extLst>
          </p:cNvPr>
          <p:cNvPicPr/>
          <p:nvPr/>
        </p:nvPicPr>
        <p:blipFill>
          <a:blip r:embed="rId4" cstate="print"/>
          <a:stretch>
            <a:fillRect/>
          </a:stretch>
        </p:blipFill>
        <p:spPr>
          <a:xfrm>
            <a:off x="472440" y="2476500"/>
            <a:ext cx="3395472" cy="2865120"/>
          </a:xfrm>
          <a:prstGeom prst="rect">
            <a:avLst/>
          </a:prstGeom>
        </p:spPr>
      </p:pic>
    </p:spTree>
    <p:extLst>
      <p:ext uri="{BB962C8B-B14F-4D97-AF65-F5344CB8AC3E}">
        <p14:creationId xmlns:p14="http://schemas.microsoft.com/office/powerpoint/2010/main" val="108251447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93</a:t>
            </a:fld>
            <a:endParaRPr lang="en-US"/>
          </a:p>
        </p:txBody>
      </p:sp>
      <p:sp>
        <p:nvSpPr>
          <p:cNvPr id="19" name="object 2">
            <a:extLst>
              <a:ext uri="{FF2B5EF4-FFF2-40B4-BE49-F238E27FC236}">
                <a16:creationId xmlns:a16="http://schemas.microsoft.com/office/drawing/2014/main" id="{28441B71-F53F-1B60-D5B0-75F1B2FD2F56}"/>
              </a:ext>
            </a:extLst>
          </p:cNvPr>
          <p:cNvSpPr txBox="1">
            <a:spLocks/>
          </p:cNvSpPr>
          <p:nvPr/>
        </p:nvSpPr>
        <p:spPr>
          <a:xfrm>
            <a:off x="707542" y="538429"/>
            <a:ext cx="7689850" cy="605790"/>
          </a:xfrm>
          <a:prstGeom prst="rect">
            <a:avLst/>
          </a:prstGeom>
        </p:spPr>
        <p:txBody>
          <a:bodyPr vert="horz" wrap="square" lIns="0" tIns="1333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5"/>
              </a:spcBef>
              <a:spcAft>
                <a:spcPts val="0"/>
              </a:spcAft>
              <a:buClrTx/>
              <a:buSzTx/>
              <a:buFontTx/>
              <a:buNone/>
              <a:tabLst/>
              <a:defRPr/>
            </a:pPr>
            <a:r>
              <a:rPr kumimoji="0" lang="en-US" sz="3800" b="1" i="0" u="none" strike="noStrike" kern="0" cap="none" spc="-5" normalizeH="0" baseline="0" noProof="0">
                <a:ln>
                  <a:noFill/>
                </a:ln>
                <a:solidFill>
                  <a:srgbClr val="A6A6A6"/>
                </a:solidFill>
                <a:effectLst/>
                <a:uLnTx/>
                <a:uFillTx/>
                <a:latin typeface="Palatino Linotype"/>
                <a:ea typeface="+mj-ea"/>
              </a:rPr>
              <a:t>Boolean</a:t>
            </a:r>
            <a:r>
              <a:rPr kumimoji="0" lang="en-US" sz="3800" b="1" i="0" u="none" strike="noStrike" kern="0" cap="none" spc="-20" normalizeH="0" baseline="0" noProof="0">
                <a:ln>
                  <a:noFill/>
                </a:ln>
                <a:solidFill>
                  <a:srgbClr val="A6A6A6"/>
                </a:solidFill>
                <a:effectLst/>
                <a:uLnTx/>
                <a:uFillTx/>
                <a:latin typeface="Palatino Linotype"/>
                <a:ea typeface="+mj-ea"/>
              </a:rPr>
              <a:t> </a:t>
            </a:r>
            <a:r>
              <a:rPr kumimoji="0" lang="en-US" sz="3800" b="1" i="0" u="none" strike="noStrike" kern="0" cap="none" spc="-70" normalizeH="0" baseline="0" noProof="0">
                <a:ln>
                  <a:noFill/>
                </a:ln>
                <a:solidFill>
                  <a:srgbClr val="A6A6A6"/>
                </a:solidFill>
                <a:effectLst/>
                <a:uLnTx/>
                <a:uFillTx/>
                <a:latin typeface="Palatino Linotype"/>
                <a:ea typeface="+mj-ea"/>
              </a:rPr>
              <a:t>Values</a:t>
            </a:r>
            <a:r>
              <a:rPr kumimoji="0" lang="en-US" sz="3800" b="1" i="0" u="none" strike="noStrike" kern="0" cap="none" spc="-45" normalizeH="0" baseline="0" noProof="0">
                <a:ln>
                  <a:noFill/>
                </a:ln>
                <a:solidFill>
                  <a:srgbClr val="A6A6A6"/>
                </a:solidFill>
                <a:effectLst/>
                <a:uLnTx/>
                <a:uFillTx/>
                <a:latin typeface="Palatino Linotype"/>
                <a:ea typeface="+mj-ea"/>
              </a:rPr>
              <a:t> </a:t>
            </a:r>
            <a:r>
              <a:rPr kumimoji="0" lang="en-US" sz="3800" b="1" i="0" u="none" strike="noStrike" kern="0" cap="none" spc="0" normalizeH="0" baseline="0" noProof="0">
                <a:ln>
                  <a:noFill/>
                </a:ln>
                <a:solidFill>
                  <a:srgbClr val="A6A6A6"/>
                </a:solidFill>
                <a:effectLst/>
                <a:uLnTx/>
                <a:uFillTx/>
                <a:latin typeface="Palatino Linotype"/>
                <a:ea typeface="+mj-ea"/>
              </a:rPr>
              <a:t>and </a:t>
            </a:r>
            <a:r>
              <a:rPr kumimoji="0" lang="en-US" sz="3800" b="1" i="0" u="none" strike="noStrike" kern="0" cap="none" spc="-5" normalizeH="0" baseline="0" noProof="0">
                <a:ln>
                  <a:noFill/>
                </a:ln>
                <a:solidFill>
                  <a:srgbClr val="A6A6A6"/>
                </a:solidFill>
                <a:effectLst/>
                <a:uLnTx/>
                <a:uFillTx/>
                <a:latin typeface="Palatino Linotype"/>
                <a:ea typeface="+mj-ea"/>
              </a:rPr>
              <a:t>Jumping</a:t>
            </a:r>
            <a:r>
              <a:rPr kumimoji="0" lang="en-US" sz="3800" b="1" i="0" u="none" strike="noStrike" kern="0" cap="none" spc="-30" normalizeH="0" baseline="0" noProof="0">
                <a:ln>
                  <a:noFill/>
                </a:ln>
                <a:solidFill>
                  <a:srgbClr val="A6A6A6"/>
                </a:solidFill>
                <a:effectLst/>
                <a:uLnTx/>
                <a:uFillTx/>
                <a:latin typeface="Palatino Linotype"/>
                <a:ea typeface="+mj-ea"/>
              </a:rPr>
              <a:t> </a:t>
            </a:r>
            <a:r>
              <a:rPr kumimoji="0" lang="en-US" sz="3800" b="1" i="0" u="none" strike="noStrike" kern="0" cap="none" spc="-5" normalizeH="0" baseline="0" noProof="0">
                <a:ln>
                  <a:noFill/>
                </a:ln>
                <a:solidFill>
                  <a:srgbClr val="A6A6A6"/>
                </a:solidFill>
                <a:effectLst/>
                <a:uLnTx/>
                <a:uFillTx/>
                <a:latin typeface="Palatino Linotype"/>
                <a:ea typeface="+mj-ea"/>
              </a:rPr>
              <a:t>Code</a:t>
            </a:r>
            <a:endParaRPr kumimoji="0" lang="en-US" sz="3800" b="1" i="0" u="none" strike="noStrike" kern="0" cap="none" spc="0" normalizeH="0" baseline="0" noProof="0">
              <a:ln>
                <a:noFill/>
              </a:ln>
              <a:solidFill>
                <a:sysClr val="windowText" lastClr="000000"/>
              </a:solidFill>
              <a:effectLst/>
              <a:uLnTx/>
              <a:uFillTx/>
              <a:latin typeface="Palatino Linotype"/>
              <a:ea typeface="+mj-ea"/>
            </a:endParaRPr>
          </a:p>
        </p:txBody>
      </p:sp>
      <p:sp>
        <p:nvSpPr>
          <p:cNvPr id="20" name="object 3">
            <a:extLst>
              <a:ext uri="{FF2B5EF4-FFF2-40B4-BE49-F238E27FC236}">
                <a16:creationId xmlns:a16="http://schemas.microsoft.com/office/drawing/2014/main" id="{B31208B4-9058-1176-0A14-FBEFAE1B61CC}"/>
              </a:ext>
            </a:extLst>
          </p:cNvPr>
          <p:cNvSpPr/>
          <p:nvPr/>
        </p:nvSpPr>
        <p:spPr>
          <a:xfrm>
            <a:off x="3515105" y="3304285"/>
            <a:ext cx="15240" cy="184150"/>
          </a:xfrm>
          <a:custGeom>
            <a:avLst/>
            <a:gdLst/>
            <a:ahLst/>
            <a:cxnLst/>
            <a:rect l="l" t="t" r="r" b="b"/>
            <a:pathLst>
              <a:path w="15239" h="184150">
                <a:moveTo>
                  <a:pt x="15240" y="0"/>
                </a:moveTo>
                <a:lnTo>
                  <a:pt x="0" y="0"/>
                </a:lnTo>
                <a:lnTo>
                  <a:pt x="0" y="184150"/>
                </a:lnTo>
                <a:lnTo>
                  <a:pt x="15240" y="184150"/>
                </a:lnTo>
                <a:lnTo>
                  <a:pt x="15240"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1" name="object 4">
            <a:extLst>
              <a:ext uri="{FF2B5EF4-FFF2-40B4-BE49-F238E27FC236}">
                <a16:creationId xmlns:a16="http://schemas.microsoft.com/office/drawing/2014/main" id="{1BE22709-6ECD-9615-5304-69B0CE1C5C1C}"/>
              </a:ext>
            </a:extLst>
          </p:cNvPr>
          <p:cNvSpPr/>
          <p:nvPr/>
        </p:nvSpPr>
        <p:spPr>
          <a:xfrm>
            <a:off x="2617470" y="3304285"/>
            <a:ext cx="15240" cy="184150"/>
          </a:xfrm>
          <a:custGeom>
            <a:avLst/>
            <a:gdLst/>
            <a:ahLst/>
            <a:cxnLst/>
            <a:rect l="l" t="t" r="r" b="b"/>
            <a:pathLst>
              <a:path w="15239" h="184150">
                <a:moveTo>
                  <a:pt x="15240" y="0"/>
                </a:moveTo>
                <a:lnTo>
                  <a:pt x="0" y="0"/>
                </a:lnTo>
                <a:lnTo>
                  <a:pt x="0" y="184150"/>
                </a:lnTo>
                <a:lnTo>
                  <a:pt x="15240" y="184150"/>
                </a:lnTo>
                <a:lnTo>
                  <a:pt x="15240"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2" name="object 5">
            <a:extLst>
              <a:ext uri="{FF2B5EF4-FFF2-40B4-BE49-F238E27FC236}">
                <a16:creationId xmlns:a16="http://schemas.microsoft.com/office/drawing/2014/main" id="{C62EACEA-80C9-6C0B-F9FD-0E411B51FE6B}"/>
              </a:ext>
            </a:extLst>
          </p:cNvPr>
          <p:cNvSpPr/>
          <p:nvPr/>
        </p:nvSpPr>
        <p:spPr>
          <a:xfrm>
            <a:off x="2915666" y="3302889"/>
            <a:ext cx="356870" cy="187960"/>
          </a:xfrm>
          <a:custGeom>
            <a:avLst/>
            <a:gdLst/>
            <a:ahLst/>
            <a:cxnLst/>
            <a:rect l="l" t="t" r="r" b="b"/>
            <a:pathLst>
              <a:path w="356870" h="187960">
                <a:moveTo>
                  <a:pt x="296544" y="0"/>
                </a:moveTo>
                <a:lnTo>
                  <a:pt x="293877" y="7620"/>
                </a:lnTo>
                <a:lnTo>
                  <a:pt x="304736" y="12334"/>
                </a:lnTo>
                <a:lnTo>
                  <a:pt x="314070" y="18859"/>
                </a:lnTo>
                <a:lnTo>
                  <a:pt x="336454" y="62277"/>
                </a:lnTo>
                <a:lnTo>
                  <a:pt x="339217" y="92837"/>
                </a:lnTo>
                <a:lnTo>
                  <a:pt x="338526" y="109410"/>
                </a:lnTo>
                <a:lnTo>
                  <a:pt x="328167" y="149987"/>
                </a:lnTo>
                <a:lnTo>
                  <a:pt x="294131" y="180086"/>
                </a:lnTo>
                <a:lnTo>
                  <a:pt x="296544" y="187706"/>
                </a:lnTo>
                <a:lnTo>
                  <a:pt x="332424" y="166417"/>
                </a:lnTo>
                <a:lnTo>
                  <a:pt x="352536" y="127015"/>
                </a:lnTo>
                <a:lnTo>
                  <a:pt x="356361" y="93852"/>
                </a:lnTo>
                <a:lnTo>
                  <a:pt x="355387" y="76684"/>
                </a:lnTo>
                <a:lnTo>
                  <a:pt x="340868" y="32893"/>
                </a:lnTo>
                <a:lnTo>
                  <a:pt x="310114" y="4907"/>
                </a:lnTo>
                <a:lnTo>
                  <a:pt x="296544" y="0"/>
                </a:lnTo>
                <a:close/>
              </a:path>
              <a:path w="356870" h="187960">
                <a:moveTo>
                  <a:pt x="59943" y="0"/>
                </a:moveTo>
                <a:lnTo>
                  <a:pt x="24118" y="21341"/>
                </a:lnTo>
                <a:lnTo>
                  <a:pt x="3889" y="60801"/>
                </a:lnTo>
                <a:lnTo>
                  <a:pt x="0" y="93852"/>
                </a:lnTo>
                <a:lnTo>
                  <a:pt x="974" y="111095"/>
                </a:lnTo>
                <a:lnTo>
                  <a:pt x="15493" y="154939"/>
                </a:lnTo>
                <a:lnTo>
                  <a:pt x="46301" y="182800"/>
                </a:lnTo>
                <a:lnTo>
                  <a:pt x="59943" y="187706"/>
                </a:lnTo>
                <a:lnTo>
                  <a:pt x="62229" y="180086"/>
                </a:lnTo>
                <a:lnTo>
                  <a:pt x="51538" y="175347"/>
                </a:lnTo>
                <a:lnTo>
                  <a:pt x="42322" y="168751"/>
                </a:lnTo>
                <a:lnTo>
                  <a:pt x="19923" y="124460"/>
                </a:lnTo>
                <a:lnTo>
                  <a:pt x="17144" y="92837"/>
                </a:lnTo>
                <a:lnTo>
                  <a:pt x="17837" y="76860"/>
                </a:lnTo>
                <a:lnTo>
                  <a:pt x="28320" y="37337"/>
                </a:lnTo>
                <a:lnTo>
                  <a:pt x="62610" y="7620"/>
                </a:lnTo>
                <a:lnTo>
                  <a:pt x="59943"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3" name="object 6">
            <a:extLst>
              <a:ext uri="{FF2B5EF4-FFF2-40B4-BE49-F238E27FC236}">
                <a16:creationId xmlns:a16="http://schemas.microsoft.com/office/drawing/2014/main" id="{9B4D3921-8AA5-BD3C-5501-64E94DF2D61D}"/>
              </a:ext>
            </a:extLst>
          </p:cNvPr>
          <p:cNvSpPr/>
          <p:nvPr/>
        </p:nvSpPr>
        <p:spPr>
          <a:xfrm>
            <a:off x="4192778" y="3302889"/>
            <a:ext cx="356870" cy="187960"/>
          </a:xfrm>
          <a:custGeom>
            <a:avLst/>
            <a:gdLst/>
            <a:ahLst/>
            <a:cxnLst/>
            <a:rect l="l" t="t" r="r" b="b"/>
            <a:pathLst>
              <a:path w="356870" h="187960">
                <a:moveTo>
                  <a:pt x="296545" y="0"/>
                </a:moveTo>
                <a:lnTo>
                  <a:pt x="293877" y="7620"/>
                </a:lnTo>
                <a:lnTo>
                  <a:pt x="304736" y="12334"/>
                </a:lnTo>
                <a:lnTo>
                  <a:pt x="314071" y="18859"/>
                </a:lnTo>
                <a:lnTo>
                  <a:pt x="336454" y="62277"/>
                </a:lnTo>
                <a:lnTo>
                  <a:pt x="339217" y="92837"/>
                </a:lnTo>
                <a:lnTo>
                  <a:pt x="338526" y="109410"/>
                </a:lnTo>
                <a:lnTo>
                  <a:pt x="328168" y="149987"/>
                </a:lnTo>
                <a:lnTo>
                  <a:pt x="294132" y="180086"/>
                </a:lnTo>
                <a:lnTo>
                  <a:pt x="296545" y="187706"/>
                </a:lnTo>
                <a:lnTo>
                  <a:pt x="332424" y="166417"/>
                </a:lnTo>
                <a:lnTo>
                  <a:pt x="352536" y="127015"/>
                </a:lnTo>
                <a:lnTo>
                  <a:pt x="356362" y="93852"/>
                </a:lnTo>
                <a:lnTo>
                  <a:pt x="355387" y="76684"/>
                </a:lnTo>
                <a:lnTo>
                  <a:pt x="340868" y="32893"/>
                </a:lnTo>
                <a:lnTo>
                  <a:pt x="310114" y="4907"/>
                </a:lnTo>
                <a:lnTo>
                  <a:pt x="296545" y="0"/>
                </a:lnTo>
                <a:close/>
              </a:path>
              <a:path w="356870" h="187960">
                <a:moveTo>
                  <a:pt x="59944" y="0"/>
                </a:moveTo>
                <a:lnTo>
                  <a:pt x="24118" y="21341"/>
                </a:lnTo>
                <a:lnTo>
                  <a:pt x="3889" y="60801"/>
                </a:lnTo>
                <a:lnTo>
                  <a:pt x="0" y="93852"/>
                </a:lnTo>
                <a:lnTo>
                  <a:pt x="974" y="111095"/>
                </a:lnTo>
                <a:lnTo>
                  <a:pt x="15494" y="154939"/>
                </a:lnTo>
                <a:lnTo>
                  <a:pt x="46301" y="182800"/>
                </a:lnTo>
                <a:lnTo>
                  <a:pt x="59944" y="187706"/>
                </a:lnTo>
                <a:lnTo>
                  <a:pt x="62230" y="180086"/>
                </a:lnTo>
                <a:lnTo>
                  <a:pt x="51538" y="175347"/>
                </a:lnTo>
                <a:lnTo>
                  <a:pt x="42322" y="168751"/>
                </a:lnTo>
                <a:lnTo>
                  <a:pt x="19923" y="124460"/>
                </a:lnTo>
                <a:lnTo>
                  <a:pt x="17145" y="92837"/>
                </a:lnTo>
                <a:lnTo>
                  <a:pt x="17837" y="76860"/>
                </a:lnTo>
                <a:lnTo>
                  <a:pt x="28321" y="37337"/>
                </a:lnTo>
                <a:lnTo>
                  <a:pt x="62611" y="7620"/>
                </a:lnTo>
                <a:lnTo>
                  <a:pt x="59944"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4" name="object 7">
            <a:extLst>
              <a:ext uri="{FF2B5EF4-FFF2-40B4-BE49-F238E27FC236}">
                <a16:creationId xmlns:a16="http://schemas.microsoft.com/office/drawing/2014/main" id="{A403A1A7-5D0B-8CA5-33D8-D4C2EC41D309}"/>
              </a:ext>
            </a:extLst>
          </p:cNvPr>
          <p:cNvSpPr/>
          <p:nvPr/>
        </p:nvSpPr>
        <p:spPr>
          <a:xfrm>
            <a:off x="3274314" y="3673094"/>
            <a:ext cx="15240" cy="184150"/>
          </a:xfrm>
          <a:custGeom>
            <a:avLst/>
            <a:gdLst/>
            <a:ahLst/>
            <a:cxnLst/>
            <a:rect l="l" t="t" r="r" b="b"/>
            <a:pathLst>
              <a:path w="15239" h="184150">
                <a:moveTo>
                  <a:pt x="15239" y="0"/>
                </a:moveTo>
                <a:lnTo>
                  <a:pt x="0" y="0"/>
                </a:lnTo>
                <a:lnTo>
                  <a:pt x="0" y="184149"/>
                </a:lnTo>
                <a:lnTo>
                  <a:pt x="15239" y="184149"/>
                </a:lnTo>
                <a:lnTo>
                  <a:pt x="1523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5" name="object 8">
            <a:extLst>
              <a:ext uri="{FF2B5EF4-FFF2-40B4-BE49-F238E27FC236}">
                <a16:creationId xmlns:a16="http://schemas.microsoft.com/office/drawing/2014/main" id="{04D1CAC7-3299-079A-163D-547421243004}"/>
              </a:ext>
            </a:extLst>
          </p:cNvPr>
          <p:cNvSpPr/>
          <p:nvPr/>
        </p:nvSpPr>
        <p:spPr>
          <a:xfrm>
            <a:off x="2483357" y="3673094"/>
            <a:ext cx="15240" cy="184150"/>
          </a:xfrm>
          <a:custGeom>
            <a:avLst/>
            <a:gdLst/>
            <a:ahLst/>
            <a:cxnLst/>
            <a:rect l="l" t="t" r="r" b="b"/>
            <a:pathLst>
              <a:path w="15239" h="184150">
                <a:moveTo>
                  <a:pt x="15240" y="0"/>
                </a:moveTo>
                <a:lnTo>
                  <a:pt x="0" y="0"/>
                </a:lnTo>
                <a:lnTo>
                  <a:pt x="0" y="184149"/>
                </a:lnTo>
                <a:lnTo>
                  <a:pt x="15240" y="184149"/>
                </a:lnTo>
                <a:lnTo>
                  <a:pt x="15240"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6" name="object 9">
            <a:extLst>
              <a:ext uri="{FF2B5EF4-FFF2-40B4-BE49-F238E27FC236}">
                <a16:creationId xmlns:a16="http://schemas.microsoft.com/office/drawing/2014/main" id="{2BB2DBEE-67F8-225A-6C1B-71FC6EC0ECA1}"/>
              </a:ext>
            </a:extLst>
          </p:cNvPr>
          <p:cNvSpPr/>
          <p:nvPr/>
        </p:nvSpPr>
        <p:spPr>
          <a:xfrm>
            <a:off x="4725161" y="3673094"/>
            <a:ext cx="15240" cy="184150"/>
          </a:xfrm>
          <a:custGeom>
            <a:avLst/>
            <a:gdLst/>
            <a:ahLst/>
            <a:cxnLst/>
            <a:rect l="l" t="t" r="r" b="b"/>
            <a:pathLst>
              <a:path w="15239" h="184150">
                <a:moveTo>
                  <a:pt x="15239" y="0"/>
                </a:moveTo>
                <a:lnTo>
                  <a:pt x="0" y="0"/>
                </a:lnTo>
                <a:lnTo>
                  <a:pt x="0" y="184149"/>
                </a:lnTo>
                <a:lnTo>
                  <a:pt x="15239" y="184149"/>
                </a:lnTo>
                <a:lnTo>
                  <a:pt x="1523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7" name="object 10">
            <a:extLst>
              <a:ext uri="{FF2B5EF4-FFF2-40B4-BE49-F238E27FC236}">
                <a16:creationId xmlns:a16="http://schemas.microsoft.com/office/drawing/2014/main" id="{7BA6D2FC-1929-60E5-0C94-1B248F871E85}"/>
              </a:ext>
            </a:extLst>
          </p:cNvPr>
          <p:cNvSpPr/>
          <p:nvPr/>
        </p:nvSpPr>
        <p:spPr>
          <a:xfrm>
            <a:off x="4059173" y="3673094"/>
            <a:ext cx="15240" cy="184150"/>
          </a:xfrm>
          <a:custGeom>
            <a:avLst/>
            <a:gdLst/>
            <a:ahLst/>
            <a:cxnLst/>
            <a:rect l="l" t="t" r="r" b="b"/>
            <a:pathLst>
              <a:path w="15239" h="184150">
                <a:moveTo>
                  <a:pt x="15239" y="0"/>
                </a:moveTo>
                <a:lnTo>
                  <a:pt x="0" y="0"/>
                </a:lnTo>
                <a:lnTo>
                  <a:pt x="0" y="184149"/>
                </a:lnTo>
                <a:lnTo>
                  <a:pt x="15239" y="184149"/>
                </a:lnTo>
                <a:lnTo>
                  <a:pt x="1523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8" name="object 11">
            <a:extLst>
              <a:ext uri="{FF2B5EF4-FFF2-40B4-BE49-F238E27FC236}">
                <a16:creationId xmlns:a16="http://schemas.microsoft.com/office/drawing/2014/main" id="{F23BC1D2-8013-243E-1DEB-BBCEB44EA70E}"/>
              </a:ext>
            </a:extLst>
          </p:cNvPr>
          <p:cNvSpPr/>
          <p:nvPr/>
        </p:nvSpPr>
        <p:spPr>
          <a:xfrm>
            <a:off x="4828285" y="3671696"/>
            <a:ext cx="266700" cy="187960"/>
          </a:xfrm>
          <a:custGeom>
            <a:avLst/>
            <a:gdLst/>
            <a:ahLst/>
            <a:cxnLst/>
            <a:rect l="l" t="t" r="r" b="b"/>
            <a:pathLst>
              <a:path w="266700" h="187960">
                <a:moveTo>
                  <a:pt x="206628" y="0"/>
                </a:moveTo>
                <a:lnTo>
                  <a:pt x="203962" y="7619"/>
                </a:lnTo>
                <a:lnTo>
                  <a:pt x="214820" y="12334"/>
                </a:lnTo>
                <a:lnTo>
                  <a:pt x="224154" y="18859"/>
                </a:lnTo>
                <a:lnTo>
                  <a:pt x="246538" y="62277"/>
                </a:lnTo>
                <a:lnTo>
                  <a:pt x="249300" y="92836"/>
                </a:lnTo>
                <a:lnTo>
                  <a:pt x="248610" y="109410"/>
                </a:lnTo>
                <a:lnTo>
                  <a:pt x="238251" y="149986"/>
                </a:lnTo>
                <a:lnTo>
                  <a:pt x="204215" y="180085"/>
                </a:lnTo>
                <a:lnTo>
                  <a:pt x="206628" y="187705"/>
                </a:lnTo>
                <a:lnTo>
                  <a:pt x="242508" y="166417"/>
                </a:lnTo>
                <a:lnTo>
                  <a:pt x="262620" y="127015"/>
                </a:lnTo>
                <a:lnTo>
                  <a:pt x="266446" y="93852"/>
                </a:lnTo>
                <a:lnTo>
                  <a:pt x="265471" y="76684"/>
                </a:lnTo>
                <a:lnTo>
                  <a:pt x="250951" y="32892"/>
                </a:lnTo>
                <a:lnTo>
                  <a:pt x="220198" y="4907"/>
                </a:lnTo>
                <a:lnTo>
                  <a:pt x="206628" y="0"/>
                </a:lnTo>
                <a:close/>
              </a:path>
              <a:path w="266700" h="187960">
                <a:moveTo>
                  <a:pt x="59943" y="0"/>
                </a:moveTo>
                <a:lnTo>
                  <a:pt x="24118" y="21341"/>
                </a:lnTo>
                <a:lnTo>
                  <a:pt x="3889" y="60801"/>
                </a:lnTo>
                <a:lnTo>
                  <a:pt x="0" y="93852"/>
                </a:lnTo>
                <a:lnTo>
                  <a:pt x="974" y="111095"/>
                </a:lnTo>
                <a:lnTo>
                  <a:pt x="15493" y="154939"/>
                </a:lnTo>
                <a:lnTo>
                  <a:pt x="46301" y="182800"/>
                </a:lnTo>
                <a:lnTo>
                  <a:pt x="59943" y="187705"/>
                </a:lnTo>
                <a:lnTo>
                  <a:pt x="62229" y="180085"/>
                </a:lnTo>
                <a:lnTo>
                  <a:pt x="51538" y="175347"/>
                </a:lnTo>
                <a:lnTo>
                  <a:pt x="42322" y="168751"/>
                </a:lnTo>
                <a:lnTo>
                  <a:pt x="19923" y="124459"/>
                </a:lnTo>
                <a:lnTo>
                  <a:pt x="17144" y="92836"/>
                </a:lnTo>
                <a:lnTo>
                  <a:pt x="17837" y="76860"/>
                </a:lnTo>
                <a:lnTo>
                  <a:pt x="28321" y="37337"/>
                </a:lnTo>
                <a:lnTo>
                  <a:pt x="62611" y="7619"/>
                </a:lnTo>
                <a:lnTo>
                  <a:pt x="59943"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9" name="object 12">
            <a:extLst>
              <a:ext uri="{FF2B5EF4-FFF2-40B4-BE49-F238E27FC236}">
                <a16:creationId xmlns:a16="http://schemas.microsoft.com/office/drawing/2014/main" id="{BCCC210E-A989-C77F-177D-797B2D02934E}"/>
              </a:ext>
            </a:extLst>
          </p:cNvPr>
          <p:cNvSpPr/>
          <p:nvPr/>
        </p:nvSpPr>
        <p:spPr>
          <a:xfrm>
            <a:off x="5525261" y="3673094"/>
            <a:ext cx="15240" cy="184150"/>
          </a:xfrm>
          <a:custGeom>
            <a:avLst/>
            <a:gdLst/>
            <a:ahLst/>
            <a:cxnLst/>
            <a:rect l="l" t="t" r="r" b="b"/>
            <a:pathLst>
              <a:path w="15239" h="184150">
                <a:moveTo>
                  <a:pt x="15239" y="0"/>
                </a:moveTo>
                <a:lnTo>
                  <a:pt x="0" y="0"/>
                </a:lnTo>
                <a:lnTo>
                  <a:pt x="0" y="184149"/>
                </a:lnTo>
                <a:lnTo>
                  <a:pt x="15239" y="184149"/>
                </a:lnTo>
                <a:lnTo>
                  <a:pt x="1523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0" name="object 13">
            <a:extLst>
              <a:ext uri="{FF2B5EF4-FFF2-40B4-BE49-F238E27FC236}">
                <a16:creationId xmlns:a16="http://schemas.microsoft.com/office/drawing/2014/main" id="{E39452D2-6F8D-9801-FC18-A1692538D862}"/>
              </a:ext>
            </a:extLst>
          </p:cNvPr>
          <p:cNvSpPr/>
          <p:nvPr/>
        </p:nvSpPr>
        <p:spPr>
          <a:xfrm>
            <a:off x="5182361" y="3673094"/>
            <a:ext cx="15240" cy="184150"/>
          </a:xfrm>
          <a:custGeom>
            <a:avLst/>
            <a:gdLst/>
            <a:ahLst/>
            <a:cxnLst/>
            <a:rect l="l" t="t" r="r" b="b"/>
            <a:pathLst>
              <a:path w="15239" h="184150">
                <a:moveTo>
                  <a:pt x="15239" y="0"/>
                </a:moveTo>
                <a:lnTo>
                  <a:pt x="0" y="0"/>
                </a:lnTo>
                <a:lnTo>
                  <a:pt x="0" y="184149"/>
                </a:lnTo>
                <a:lnTo>
                  <a:pt x="15239" y="184149"/>
                </a:lnTo>
                <a:lnTo>
                  <a:pt x="1523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1" name="object 14">
            <a:extLst>
              <a:ext uri="{FF2B5EF4-FFF2-40B4-BE49-F238E27FC236}">
                <a16:creationId xmlns:a16="http://schemas.microsoft.com/office/drawing/2014/main" id="{3D5B5CAA-8139-DDA6-FCA2-EEC0B37571E9}"/>
              </a:ext>
            </a:extLst>
          </p:cNvPr>
          <p:cNvSpPr/>
          <p:nvPr/>
        </p:nvSpPr>
        <p:spPr>
          <a:xfrm>
            <a:off x="4336034" y="5256657"/>
            <a:ext cx="356870" cy="187960"/>
          </a:xfrm>
          <a:custGeom>
            <a:avLst/>
            <a:gdLst/>
            <a:ahLst/>
            <a:cxnLst/>
            <a:rect l="l" t="t" r="r" b="b"/>
            <a:pathLst>
              <a:path w="356870" h="187960">
                <a:moveTo>
                  <a:pt x="296544" y="0"/>
                </a:moveTo>
                <a:lnTo>
                  <a:pt x="293877" y="7620"/>
                </a:lnTo>
                <a:lnTo>
                  <a:pt x="304736" y="12334"/>
                </a:lnTo>
                <a:lnTo>
                  <a:pt x="314070" y="18859"/>
                </a:lnTo>
                <a:lnTo>
                  <a:pt x="336454" y="62277"/>
                </a:lnTo>
                <a:lnTo>
                  <a:pt x="339216" y="92837"/>
                </a:lnTo>
                <a:lnTo>
                  <a:pt x="338526" y="109410"/>
                </a:lnTo>
                <a:lnTo>
                  <a:pt x="328167" y="149987"/>
                </a:lnTo>
                <a:lnTo>
                  <a:pt x="294131" y="180086"/>
                </a:lnTo>
                <a:lnTo>
                  <a:pt x="296544" y="187706"/>
                </a:lnTo>
                <a:lnTo>
                  <a:pt x="332424" y="166417"/>
                </a:lnTo>
                <a:lnTo>
                  <a:pt x="352536" y="127015"/>
                </a:lnTo>
                <a:lnTo>
                  <a:pt x="356362" y="93853"/>
                </a:lnTo>
                <a:lnTo>
                  <a:pt x="355387" y="76684"/>
                </a:lnTo>
                <a:lnTo>
                  <a:pt x="340867" y="32893"/>
                </a:lnTo>
                <a:lnTo>
                  <a:pt x="310114" y="4907"/>
                </a:lnTo>
                <a:lnTo>
                  <a:pt x="296544" y="0"/>
                </a:lnTo>
                <a:close/>
              </a:path>
              <a:path w="356870" h="187960">
                <a:moveTo>
                  <a:pt x="59943" y="0"/>
                </a:moveTo>
                <a:lnTo>
                  <a:pt x="24118" y="21341"/>
                </a:lnTo>
                <a:lnTo>
                  <a:pt x="3889" y="60801"/>
                </a:lnTo>
                <a:lnTo>
                  <a:pt x="0" y="93853"/>
                </a:lnTo>
                <a:lnTo>
                  <a:pt x="974" y="111095"/>
                </a:lnTo>
                <a:lnTo>
                  <a:pt x="15493" y="154940"/>
                </a:lnTo>
                <a:lnTo>
                  <a:pt x="46301" y="182800"/>
                </a:lnTo>
                <a:lnTo>
                  <a:pt x="59943" y="187706"/>
                </a:lnTo>
                <a:lnTo>
                  <a:pt x="62229" y="180086"/>
                </a:lnTo>
                <a:lnTo>
                  <a:pt x="51538" y="175347"/>
                </a:lnTo>
                <a:lnTo>
                  <a:pt x="42322" y="168751"/>
                </a:lnTo>
                <a:lnTo>
                  <a:pt x="19923" y="124460"/>
                </a:lnTo>
                <a:lnTo>
                  <a:pt x="17144" y="92837"/>
                </a:lnTo>
                <a:lnTo>
                  <a:pt x="17837" y="76860"/>
                </a:lnTo>
                <a:lnTo>
                  <a:pt x="28320" y="37338"/>
                </a:lnTo>
                <a:lnTo>
                  <a:pt x="62611" y="7620"/>
                </a:lnTo>
                <a:lnTo>
                  <a:pt x="59943"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2" name="object 15">
            <a:extLst>
              <a:ext uri="{FF2B5EF4-FFF2-40B4-BE49-F238E27FC236}">
                <a16:creationId xmlns:a16="http://schemas.microsoft.com/office/drawing/2014/main" id="{B9AB6039-B307-0B00-A857-00EF37B1EE63}"/>
              </a:ext>
            </a:extLst>
          </p:cNvPr>
          <p:cNvSpPr txBox="1"/>
          <p:nvPr/>
        </p:nvSpPr>
        <p:spPr>
          <a:xfrm>
            <a:off x="669442" y="1524126"/>
            <a:ext cx="7360920" cy="4307205"/>
          </a:xfrm>
          <a:prstGeom prst="rect">
            <a:avLst/>
          </a:prstGeom>
        </p:spPr>
        <p:txBody>
          <a:bodyPr vert="horz" wrap="square" lIns="0" tIns="12700" rIns="0" bIns="0" rtlCol="0">
            <a:spAutoFit/>
          </a:bodyPr>
          <a:lstStyle/>
          <a:p>
            <a:pPr marL="280670" marR="66675" indent="-230504" rtl="0">
              <a:lnSpc>
                <a:spcPct val="120000"/>
              </a:lnSpc>
              <a:spcBef>
                <a:spcPts val="100"/>
              </a:spcBef>
              <a:buFont typeface="Arial MT"/>
              <a:buChar char="•"/>
              <a:tabLst>
                <a:tab pos="280670" algn="l"/>
                <a:tab pos="281305" algn="l"/>
              </a:tabLst>
            </a:pPr>
            <a:r>
              <a:rPr kern="1200" dirty="0">
                <a:solidFill>
                  <a:prstClr val="black"/>
                </a:solidFill>
                <a:latin typeface="Palatino Linotype"/>
                <a:cs typeface="Palatino Linotype"/>
              </a:rPr>
              <a:t>Besides </a:t>
            </a:r>
            <a:r>
              <a:rPr kern="1200" spc="-5" dirty="0">
                <a:solidFill>
                  <a:prstClr val="black"/>
                </a:solidFill>
                <a:latin typeface="Palatino Linotype"/>
                <a:cs typeface="Palatino Linotype"/>
              </a:rPr>
              <a:t>being </a:t>
            </a:r>
            <a:r>
              <a:rPr kern="1200" dirty="0">
                <a:solidFill>
                  <a:prstClr val="black"/>
                </a:solidFill>
                <a:latin typeface="Palatino Linotype"/>
                <a:cs typeface="Palatino Linotype"/>
              </a:rPr>
              <a:t>used </a:t>
            </a:r>
            <a:r>
              <a:rPr kern="1200" spc="-5" dirty="0">
                <a:solidFill>
                  <a:prstClr val="black"/>
                </a:solidFill>
                <a:latin typeface="Palatino Linotype"/>
                <a:cs typeface="Palatino Linotype"/>
              </a:rPr>
              <a:t>to </a:t>
            </a:r>
            <a:r>
              <a:rPr kern="1200" dirty="0">
                <a:solidFill>
                  <a:prstClr val="black"/>
                </a:solidFill>
                <a:latin typeface="Palatino Linotype"/>
                <a:cs typeface="Palatino Linotype"/>
              </a:rPr>
              <a:t>alter </a:t>
            </a:r>
            <a:r>
              <a:rPr kern="1200" spc="-5" dirty="0">
                <a:solidFill>
                  <a:prstClr val="black"/>
                </a:solidFill>
                <a:latin typeface="Palatino Linotype"/>
                <a:cs typeface="Palatino Linotype"/>
              </a:rPr>
              <a:t>the </a:t>
            </a:r>
            <a:r>
              <a:rPr kern="1200" dirty="0">
                <a:solidFill>
                  <a:prstClr val="black"/>
                </a:solidFill>
                <a:latin typeface="Palatino Linotype"/>
                <a:cs typeface="Palatino Linotype"/>
              </a:rPr>
              <a:t>flow of control </a:t>
            </a:r>
            <a:r>
              <a:rPr kern="1200" spc="-5" dirty="0">
                <a:solidFill>
                  <a:prstClr val="black"/>
                </a:solidFill>
                <a:latin typeface="Palatino Linotype"/>
                <a:cs typeface="Palatino Linotype"/>
              </a:rPr>
              <a:t>in </a:t>
            </a:r>
            <a:r>
              <a:rPr kern="1200" dirty="0">
                <a:solidFill>
                  <a:prstClr val="black"/>
                </a:solidFill>
                <a:latin typeface="Palatino Linotype"/>
                <a:cs typeface="Palatino Linotype"/>
              </a:rPr>
              <a:t>statement, a </a:t>
            </a:r>
            <a:r>
              <a:rPr kern="1200" spc="-5" dirty="0">
                <a:solidFill>
                  <a:prstClr val="black"/>
                </a:solidFill>
                <a:latin typeface="Palatino Linotype"/>
                <a:cs typeface="Palatino Linotype"/>
              </a:rPr>
              <a:t>boolean </a:t>
            </a:r>
            <a:r>
              <a:rPr kern="1200" spc="-434" dirty="0">
                <a:solidFill>
                  <a:prstClr val="black"/>
                </a:solidFill>
                <a:latin typeface="Palatino Linotype"/>
                <a:cs typeface="Palatino Linotype"/>
              </a:rPr>
              <a:t> </a:t>
            </a:r>
            <a:r>
              <a:rPr kern="1200" dirty="0">
                <a:solidFill>
                  <a:prstClr val="black"/>
                </a:solidFill>
                <a:latin typeface="Palatino Linotype"/>
                <a:cs typeface="Palatino Linotype"/>
              </a:rPr>
              <a:t>expression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may</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also </a:t>
            </a:r>
            <a:r>
              <a:rPr kern="1200" spc="-5" dirty="0">
                <a:solidFill>
                  <a:prstClr val="black"/>
                </a:solidFill>
                <a:latin typeface="Palatino Linotype"/>
                <a:cs typeface="Palatino Linotype"/>
              </a:rPr>
              <a:t>be</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evaluated</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for</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its</a:t>
            </a:r>
            <a:r>
              <a:rPr kern="1200" spc="-20" dirty="0">
                <a:solidFill>
                  <a:prstClr val="black"/>
                </a:solidFill>
                <a:latin typeface="Palatino Linotype"/>
                <a:cs typeface="Palatino Linotype"/>
              </a:rPr>
              <a:t> </a:t>
            </a:r>
            <a:r>
              <a:rPr kern="1200" spc="-10" dirty="0">
                <a:solidFill>
                  <a:prstClr val="black"/>
                </a:solidFill>
                <a:latin typeface="Palatino Linotype"/>
                <a:cs typeface="Palatino Linotype"/>
              </a:rPr>
              <a:t>value</a:t>
            </a:r>
            <a:endParaRPr kern="1200" dirty="0">
              <a:solidFill>
                <a:prstClr val="black"/>
              </a:solidFill>
              <a:latin typeface="Palatino Linotype"/>
              <a:cs typeface="Palatino Linotype"/>
            </a:endParaRPr>
          </a:p>
          <a:p>
            <a:pPr marL="735965" lvl="1" indent="-228600" rtl="0">
              <a:spcBef>
                <a:spcPts val="1015"/>
              </a:spcBef>
              <a:buFont typeface="Wingdings"/>
              <a:buChar char=""/>
              <a:tabLst>
                <a:tab pos="735965" algn="l"/>
                <a:tab pos="736600" algn="l"/>
              </a:tabLst>
            </a:pPr>
            <a:r>
              <a:rPr sz="1600" kern="1200" spc="-5" dirty="0">
                <a:solidFill>
                  <a:prstClr val="black"/>
                </a:solidFill>
                <a:latin typeface="Palatino Linotype"/>
                <a:cs typeface="Palatino Linotype"/>
              </a:rPr>
              <a:t>Example:</a:t>
            </a:r>
            <a:r>
              <a:rPr sz="1600" kern="1200" spc="-15" dirty="0">
                <a:solidFill>
                  <a:prstClr val="black"/>
                </a:solidFill>
                <a:latin typeface="Palatino Linotype"/>
                <a:cs typeface="Palatino Linotype"/>
              </a:rPr>
              <a:t> </a:t>
            </a:r>
            <a:r>
              <a:rPr sz="1600" kern="1200" spc="-5" dirty="0">
                <a:solidFill>
                  <a:prstClr val="black"/>
                </a:solidFill>
                <a:latin typeface="Cambria Math"/>
                <a:cs typeface="Cambria Math"/>
              </a:rPr>
              <a:t>𝑥</a:t>
            </a:r>
            <a:r>
              <a:rPr sz="1600" kern="1200" spc="130"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spc="445" dirty="0">
                <a:solidFill>
                  <a:prstClr val="black"/>
                </a:solidFill>
                <a:latin typeface="Cambria Math"/>
                <a:cs typeface="Cambria Math"/>
              </a:rPr>
              <a:t> </a:t>
            </a:r>
            <a:r>
              <a:rPr sz="1600" kern="1200" spc="-5" dirty="0">
                <a:solidFill>
                  <a:prstClr val="black"/>
                </a:solidFill>
                <a:latin typeface="Cambria Math"/>
                <a:cs typeface="Cambria Math"/>
              </a:rPr>
              <a:t>𝑎</a:t>
            </a:r>
            <a:r>
              <a:rPr sz="1600" kern="1200" spc="459" dirty="0">
                <a:solidFill>
                  <a:prstClr val="black"/>
                </a:solidFill>
                <a:latin typeface="Cambria Math"/>
                <a:cs typeface="Cambria Math"/>
              </a:rPr>
              <a:t> </a:t>
            </a:r>
            <a:r>
              <a:rPr sz="1600" kern="1200" spc="-5" dirty="0">
                <a:solidFill>
                  <a:prstClr val="black"/>
                </a:solidFill>
                <a:latin typeface="Cambria Math"/>
                <a:cs typeface="Cambria Math"/>
              </a:rPr>
              <a:t>&lt;</a:t>
            </a:r>
            <a:r>
              <a:rPr sz="1600" kern="1200" spc="430" dirty="0">
                <a:solidFill>
                  <a:prstClr val="black"/>
                </a:solidFill>
                <a:latin typeface="Cambria Math"/>
                <a:cs typeface="Cambria Math"/>
              </a:rPr>
              <a:t> </a:t>
            </a:r>
            <a:r>
              <a:rPr sz="1600" kern="1200" spc="-5" dirty="0">
                <a:solidFill>
                  <a:prstClr val="black"/>
                </a:solidFill>
                <a:latin typeface="Cambria Math"/>
                <a:cs typeface="Cambria Math"/>
              </a:rPr>
              <a:t>𝑏</a:t>
            </a:r>
            <a:endParaRPr sz="1600" kern="1200" dirty="0">
              <a:solidFill>
                <a:prstClr val="black"/>
              </a:solidFill>
              <a:latin typeface="Cambria Math"/>
              <a:cs typeface="Cambria Math"/>
            </a:endParaRPr>
          </a:p>
          <a:p>
            <a:pPr lvl="1" rtl="0">
              <a:spcBef>
                <a:spcPts val="30"/>
              </a:spcBef>
              <a:buFont typeface="Wingdings"/>
              <a:buChar char=""/>
            </a:pPr>
            <a:endParaRPr sz="1850" kern="1200" dirty="0">
              <a:solidFill>
                <a:prstClr val="black"/>
              </a:solidFill>
              <a:latin typeface="Cambria Math"/>
              <a:cs typeface="Cambria Math"/>
            </a:endParaRPr>
          </a:p>
          <a:p>
            <a:pPr marL="394970" indent="-343535" rtl="0">
              <a:spcBef>
                <a:spcPts val="5"/>
              </a:spcBef>
              <a:buFont typeface="Arial MT"/>
              <a:buChar char="•"/>
              <a:tabLst>
                <a:tab pos="394970" algn="l"/>
                <a:tab pos="395605" algn="l"/>
              </a:tabLst>
            </a:pPr>
            <a:r>
              <a:rPr kern="1200" spc="-5" dirty="0">
                <a:solidFill>
                  <a:prstClr val="black"/>
                </a:solidFill>
                <a:latin typeface="Palatino Linotype"/>
                <a:cs typeface="Palatino Linotype"/>
              </a:rPr>
              <a:t>Grammar:</a:t>
            </a:r>
            <a:endParaRPr kern="1200" dirty="0">
              <a:solidFill>
                <a:prstClr val="black"/>
              </a:solidFill>
              <a:latin typeface="Palatino Linotype"/>
              <a:cs typeface="Palatino Linotype"/>
            </a:endParaRPr>
          </a:p>
          <a:p>
            <a:pPr marL="850265" lvl="1" indent="-342900" rtl="0">
              <a:spcBef>
                <a:spcPts val="1015"/>
              </a:spcBef>
              <a:buFont typeface="Wingdings"/>
              <a:buChar char=""/>
              <a:tabLst>
                <a:tab pos="850265" algn="l"/>
                <a:tab pos="850900" algn="l"/>
                <a:tab pos="2033270" algn="l"/>
                <a:tab pos="2356485" algn="l"/>
                <a:tab pos="2664460" algn="l"/>
                <a:tab pos="2929890" algn="l"/>
                <a:tab pos="3634104" algn="l"/>
                <a:tab pos="3942079" algn="l"/>
              </a:tabLst>
            </a:pPr>
            <a:r>
              <a:rPr sz="1600" kern="1200" spc="-5" dirty="0">
                <a:solidFill>
                  <a:prstClr val="black"/>
                </a:solidFill>
                <a:latin typeface="Cambria Math"/>
                <a:cs typeface="Cambria Math"/>
              </a:rPr>
              <a:t>𝑆</a:t>
            </a:r>
            <a:r>
              <a:rPr sz="1600" kern="1200" spc="135"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spc="85" dirty="0">
                <a:solidFill>
                  <a:prstClr val="black"/>
                </a:solidFill>
                <a:latin typeface="Cambria Math"/>
                <a:cs typeface="Cambria Math"/>
              </a:rPr>
              <a:t> </a:t>
            </a:r>
            <a:r>
              <a:rPr sz="1600" kern="1200" spc="-5" dirty="0">
                <a:solidFill>
                  <a:prstClr val="black"/>
                </a:solidFill>
                <a:latin typeface="Cambria Math"/>
                <a:cs typeface="Cambria Math"/>
              </a:rPr>
              <a:t>𝐢𝐝</a:t>
            </a:r>
            <a:r>
              <a:rPr sz="1600" kern="1200" spc="90"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spc="100" dirty="0">
                <a:solidFill>
                  <a:prstClr val="black"/>
                </a:solidFill>
                <a:latin typeface="Cambria Math"/>
                <a:cs typeface="Cambria Math"/>
              </a:rPr>
              <a:t> </a:t>
            </a:r>
            <a:r>
              <a:rPr sz="1600" kern="1200" spc="30" dirty="0">
                <a:solidFill>
                  <a:prstClr val="black"/>
                </a:solidFill>
                <a:latin typeface="Cambria Math"/>
                <a:cs typeface="Cambria Math"/>
              </a:rPr>
              <a:t>𝐸;	</a:t>
            </a:r>
            <a:r>
              <a:rPr sz="1600" kern="1200" spc="-5" dirty="0">
                <a:solidFill>
                  <a:prstClr val="black"/>
                </a:solidFill>
                <a:latin typeface="Cambria Math"/>
                <a:cs typeface="Cambria Math"/>
              </a:rPr>
              <a:t>𝐢𝐟	𝐸	𝑆	</a:t>
            </a:r>
            <a:r>
              <a:rPr sz="1600" kern="1200" spc="-10" dirty="0">
                <a:solidFill>
                  <a:prstClr val="black"/>
                </a:solidFill>
                <a:latin typeface="Cambria Math"/>
                <a:cs typeface="Cambria Math"/>
              </a:rPr>
              <a:t>𝐰𝐡𝐢𝐥𝐞	</a:t>
            </a:r>
            <a:r>
              <a:rPr sz="1600" kern="1200" spc="-5" dirty="0">
                <a:solidFill>
                  <a:prstClr val="black"/>
                </a:solidFill>
                <a:latin typeface="Cambria Math"/>
                <a:cs typeface="Cambria Math"/>
              </a:rPr>
              <a:t>𝐸	𝑆</a:t>
            </a:r>
            <a:r>
              <a:rPr sz="1600" kern="1200" spc="15"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spc="-15" dirty="0">
                <a:solidFill>
                  <a:prstClr val="black"/>
                </a:solidFill>
                <a:latin typeface="Cambria Math"/>
                <a:cs typeface="Cambria Math"/>
              </a:rPr>
              <a:t> </a:t>
            </a:r>
            <a:r>
              <a:rPr sz="1600" kern="1200" spc="-5" dirty="0">
                <a:solidFill>
                  <a:prstClr val="black"/>
                </a:solidFill>
                <a:latin typeface="Cambria Math"/>
                <a:cs typeface="Cambria Math"/>
              </a:rPr>
              <a:t>𝑆</a:t>
            </a:r>
            <a:r>
              <a:rPr sz="1600" kern="1200" spc="5" dirty="0">
                <a:solidFill>
                  <a:prstClr val="black"/>
                </a:solidFill>
                <a:latin typeface="Cambria Math"/>
                <a:cs typeface="Cambria Math"/>
              </a:rPr>
              <a:t> </a:t>
            </a:r>
            <a:r>
              <a:rPr sz="1600" kern="1200" spc="-5" dirty="0">
                <a:solidFill>
                  <a:prstClr val="black"/>
                </a:solidFill>
                <a:latin typeface="Cambria Math"/>
                <a:cs typeface="Cambria Math"/>
              </a:rPr>
              <a:t>𝑆</a:t>
            </a:r>
            <a:endParaRPr sz="1600" kern="1200" dirty="0">
              <a:solidFill>
                <a:prstClr val="black"/>
              </a:solidFill>
              <a:latin typeface="Cambria Math"/>
              <a:cs typeface="Cambria Math"/>
            </a:endParaRPr>
          </a:p>
          <a:p>
            <a:pPr marL="850265" lvl="1" indent="-342900" rtl="0">
              <a:spcBef>
                <a:spcPts val="985"/>
              </a:spcBef>
              <a:buFont typeface="Wingdings"/>
              <a:buChar char=""/>
              <a:tabLst>
                <a:tab pos="850265" algn="l"/>
                <a:tab pos="850900" algn="l"/>
                <a:tab pos="1898014" algn="l"/>
                <a:tab pos="2690495" algn="l"/>
                <a:tab pos="3475354" algn="l"/>
                <a:tab pos="4225290" algn="l"/>
                <a:tab pos="4597400" algn="l"/>
                <a:tab pos="4941570" algn="l"/>
              </a:tabLst>
            </a:pPr>
            <a:r>
              <a:rPr sz="1600" kern="1200" spc="-5" dirty="0">
                <a:solidFill>
                  <a:prstClr val="black"/>
                </a:solidFill>
                <a:latin typeface="Cambria Math"/>
                <a:cs typeface="Cambria Math"/>
              </a:rPr>
              <a:t>𝐸</a:t>
            </a:r>
            <a:r>
              <a:rPr sz="1600" kern="1200" spc="160"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spc="-5" dirty="0">
                <a:solidFill>
                  <a:prstClr val="black"/>
                </a:solidFill>
                <a:latin typeface="Cambria Math"/>
                <a:cs typeface="Cambria Math"/>
              </a:rPr>
              <a:t>𝐸</a:t>
            </a:r>
            <a:r>
              <a:rPr sz="1600" kern="1200" spc="160"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spc="85" dirty="0">
                <a:solidFill>
                  <a:prstClr val="black"/>
                </a:solidFill>
                <a:latin typeface="Cambria Math"/>
                <a:cs typeface="Cambria Math"/>
              </a:rPr>
              <a:t> </a:t>
            </a:r>
            <a:r>
              <a:rPr sz="1600" kern="1200" spc="-5" dirty="0">
                <a:solidFill>
                  <a:prstClr val="black"/>
                </a:solidFill>
                <a:latin typeface="Cambria Math"/>
                <a:cs typeface="Cambria Math"/>
              </a:rPr>
              <a:t>𝐸	𝐸</a:t>
            </a:r>
            <a:r>
              <a:rPr sz="1600" kern="1200" spc="70" dirty="0">
                <a:solidFill>
                  <a:prstClr val="black"/>
                </a:solidFill>
                <a:latin typeface="Cambria Math"/>
                <a:cs typeface="Cambria Math"/>
              </a:rPr>
              <a:t> </a:t>
            </a:r>
            <a:r>
              <a:rPr sz="1600" kern="1200" spc="-5" dirty="0">
                <a:solidFill>
                  <a:prstClr val="black"/>
                </a:solidFill>
                <a:latin typeface="Cambria Math"/>
                <a:cs typeface="Cambria Math"/>
              </a:rPr>
              <a:t>&amp;&amp;</a:t>
            </a:r>
            <a:r>
              <a:rPr sz="1600" kern="1200" spc="-10" dirty="0">
                <a:solidFill>
                  <a:prstClr val="black"/>
                </a:solidFill>
                <a:latin typeface="Cambria Math"/>
                <a:cs typeface="Cambria Math"/>
              </a:rPr>
              <a:t> </a:t>
            </a:r>
            <a:r>
              <a:rPr sz="1600" kern="1200" spc="-5" dirty="0">
                <a:solidFill>
                  <a:prstClr val="black"/>
                </a:solidFill>
                <a:latin typeface="Cambria Math"/>
                <a:cs typeface="Cambria Math"/>
              </a:rPr>
              <a:t>𝐸	𝐸</a:t>
            </a:r>
            <a:r>
              <a:rPr sz="1600" kern="1200" spc="55" dirty="0">
                <a:solidFill>
                  <a:prstClr val="black"/>
                </a:solidFill>
                <a:latin typeface="Cambria Math"/>
                <a:cs typeface="Cambria Math"/>
              </a:rPr>
              <a:t> </a:t>
            </a:r>
            <a:r>
              <a:rPr sz="1600" kern="1200" spc="-10" dirty="0">
                <a:solidFill>
                  <a:prstClr val="black"/>
                </a:solidFill>
                <a:latin typeface="Cambria Math"/>
                <a:cs typeface="Cambria Math"/>
              </a:rPr>
              <a:t>𝐫𝐞𝐥</a:t>
            </a:r>
            <a:r>
              <a:rPr sz="1600" kern="1200" spc="15" dirty="0">
                <a:solidFill>
                  <a:prstClr val="black"/>
                </a:solidFill>
                <a:latin typeface="Cambria Math"/>
                <a:cs typeface="Cambria Math"/>
              </a:rPr>
              <a:t> </a:t>
            </a:r>
            <a:r>
              <a:rPr sz="1600" kern="1200" spc="-5" dirty="0">
                <a:solidFill>
                  <a:prstClr val="black"/>
                </a:solidFill>
                <a:latin typeface="Cambria Math"/>
                <a:cs typeface="Cambria Math"/>
              </a:rPr>
              <a:t>𝐸	𝐸</a:t>
            </a:r>
            <a:r>
              <a:rPr sz="1600" kern="1200" spc="65"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spc="5" dirty="0">
                <a:solidFill>
                  <a:prstClr val="black"/>
                </a:solidFill>
                <a:latin typeface="Cambria Math"/>
                <a:cs typeface="Cambria Math"/>
              </a:rPr>
              <a:t> </a:t>
            </a:r>
            <a:r>
              <a:rPr sz="1600" kern="1200" spc="-5" dirty="0">
                <a:solidFill>
                  <a:prstClr val="black"/>
                </a:solidFill>
                <a:latin typeface="Cambria Math"/>
                <a:cs typeface="Cambria Math"/>
              </a:rPr>
              <a:t>𝐸	𝐸	𝐢𝐝	</a:t>
            </a:r>
            <a:r>
              <a:rPr sz="1600" kern="1200" spc="-10" dirty="0">
                <a:solidFill>
                  <a:prstClr val="black"/>
                </a:solidFill>
                <a:latin typeface="Cambria Math"/>
                <a:cs typeface="Cambria Math"/>
              </a:rPr>
              <a:t>𝐭𝐫𝐮𝐞</a:t>
            </a:r>
            <a:r>
              <a:rPr sz="1600" kern="1200" spc="-5" dirty="0">
                <a:solidFill>
                  <a:prstClr val="black"/>
                </a:solidFill>
                <a:latin typeface="Cambria Math"/>
                <a:cs typeface="Cambria Math"/>
              </a:rPr>
              <a:t> |</a:t>
            </a:r>
            <a:r>
              <a:rPr sz="1600" kern="1200" spc="-15" dirty="0">
                <a:solidFill>
                  <a:prstClr val="black"/>
                </a:solidFill>
                <a:latin typeface="Cambria Math"/>
                <a:cs typeface="Cambria Math"/>
              </a:rPr>
              <a:t> </a:t>
            </a:r>
            <a:r>
              <a:rPr sz="1600" kern="1200" spc="-5" dirty="0">
                <a:solidFill>
                  <a:prstClr val="black"/>
                </a:solidFill>
                <a:latin typeface="Cambria Math"/>
                <a:cs typeface="Cambria Math"/>
              </a:rPr>
              <a:t>𝐟𝐚𝐥𝐬𝐞</a:t>
            </a:r>
            <a:endParaRPr sz="1600" kern="1200" dirty="0">
              <a:solidFill>
                <a:prstClr val="black"/>
              </a:solidFill>
              <a:latin typeface="Cambria Math"/>
              <a:cs typeface="Cambria Math"/>
            </a:endParaRPr>
          </a:p>
          <a:p>
            <a:pPr lvl="1" rtl="0">
              <a:spcBef>
                <a:spcPts val="10"/>
              </a:spcBef>
              <a:buFont typeface="Wingdings"/>
              <a:buChar char=""/>
            </a:pPr>
            <a:endParaRPr sz="1500" kern="1200" dirty="0">
              <a:solidFill>
                <a:prstClr val="black"/>
              </a:solidFill>
              <a:latin typeface="Cambria Math"/>
              <a:cs typeface="Cambria Math"/>
            </a:endParaRPr>
          </a:p>
          <a:p>
            <a:pPr marL="280670" marR="68580" indent="-230504" rtl="0">
              <a:lnSpc>
                <a:spcPct val="120000"/>
              </a:lnSpc>
              <a:buFont typeface="Arial MT"/>
              <a:buChar char="•"/>
              <a:tabLst>
                <a:tab pos="280670" algn="l"/>
                <a:tab pos="281305" algn="l"/>
              </a:tabLst>
            </a:pPr>
            <a:r>
              <a:rPr kern="1200" dirty="0">
                <a:solidFill>
                  <a:prstClr val="black"/>
                </a:solidFill>
                <a:latin typeface="Palatino Linotype"/>
                <a:cs typeface="Palatino Linotype"/>
              </a:rPr>
              <a:t>A </a:t>
            </a:r>
            <a:r>
              <a:rPr kern="1200" spc="-20" dirty="0">
                <a:solidFill>
                  <a:prstClr val="black"/>
                </a:solidFill>
                <a:latin typeface="Palatino Linotype"/>
                <a:cs typeface="Palatino Linotype"/>
              </a:rPr>
              <a:t>way </a:t>
            </a:r>
            <a:r>
              <a:rPr kern="1200" dirty="0">
                <a:solidFill>
                  <a:prstClr val="black"/>
                </a:solidFill>
                <a:latin typeface="Palatino Linotype"/>
                <a:cs typeface="Palatino Linotype"/>
              </a:rPr>
              <a:t>of </a:t>
            </a:r>
            <a:r>
              <a:rPr kern="1200" spc="-5" dirty="0">
                <a:solidFill>
                  <a:prstClr val="black"/>
                </a:solidFill>
                <a:latin typeface="Palatino Linotype"/>
                <a:cs typeface="Palatino Linotype"/>
              </a:rPr>
              <a:t>handling both </a:t>
            </a:r>
            <a:r>
              <a:rPr kern="1200" dirty="0">
                <a:solidFill>
                  <a:prstClr val="black"/>
                </a:solidFill>
                <a:latin typeface="Palatino Linotype"/>
                <a:cs typeface="Palatino Linotype"/>
              </a:rPr>
              <a:t>roles of </a:t>
            </a:r>
            <a:r>
              <a:rPr kern="1200" spc="-5" dirty="0">
                <a:solidFill>
                  <a:prstClr val="black"/>
                </a:solidFill>
                <a:latin typeface="Palatino Linotype"/>
                <a:cs typeface="Palatino Linotype"/>
              </a:rPr>
              <a:t>boolean </a:t>
            </a:r>
            <a:r>
              <a:rPr kern="1200" dirty="0">
                <a:solidFill>
                  <a:prstClr val="black"/>
                </a:solidFill>
                <a:latin typeface="Palatino Linotype"/>
                <a:cs typeface="Palatino Linotype"/>
              </a:rPr>
              <a:t>expressions is </a:t>
            </a:r>
            <a:r>
              <a:rPr kern="1200" spc="-5" dirty="0">
                <a:solidFill>
                  <a:prstClr val="black"/>
                </a:solidFill>
                <a:latin typeface="Palatino Linotype"/>
                <a:cs typeface="Palatino Linotype"/>
              </a:rPr>
              <a:t>to </a:t>
            </a:r>
            <a:r>
              <a:rPr kern="1200" dirty="0">
                <a:solidFill>
                  <a:prstClr val="black"/>
                </a:solidFill>
                <a:latin typeface="Palatino Linotype"/>
                <a:cs typeface="Palatino Linotype"/>
              </a:rPr>
              <a:t>first </a:t>
            </a:r>
            <a:r>
              <a:rPr kern="1200" spc="-5" dirty="0">
                <a:solidFill>
                  <a:prstClr val="black"/>
                </a:solidFill>
                <a:latin typeface="Palatino Linotype"/>
                <a:cs typeface="Palatino Linotype"/>
              </a:rPr>
              <a:t>build </a:t>
            </a:r>
            <a:r>
              <a:rPr kern="1200" dirty="0">
                <a:solidFill>
                  <a:prstClr val="black"/>
                </a:solidFill>
                <a:latin typeface="Palatino Linotype"/>
                <a:cs typeface="Palatino Linotype"/>
              </a:rPr>
              <a:t>a </a:t>
            </a:r>
            <a:r>
              <a:rPr kern="1200" spc="-434" dirty="0">
                <a:solidFill>
                  <a:prstClr val="black"/>
                </a:solidFill>
                <a:latin typeface="Palatino Linotype"/>
                <a:cs typeface="Palatino Linotype"/>
              </a:rPr>
              <a:t> </a:t>
            </a:r>
            <a:r>
              <a:rPr kern="1200" dirty="0">
                <a:solidFill>
                  <a:prstClr val="black"/>
                </a:solidFill>
                <a:latin typeface="Palatino Linotype"/>
                <a:cs typeface="Palatino Linotype"/>
              </a:rPr>
              <a:t>syntax </a:t>
            </a:r>
            <a:r>
              <a:rPr kern="1200" spc="-5" dirty="0">
                <a:solidFill>
                  <a:prstClr val="black"/>
                </a:solidFill>
                <a:latin typeface="Palatino Linotype"/>
                <a:cs typeface="Palatino Linotype"/>
              </a:rPr>
              <a:t>tree </a:t>
            </a:r>
            <a:r>
              <a:rPr kern="1200" dirty="0">
                <a:solidFill>
                  <a:prstClr val="black"/>
                </a:solidFill>
                <a:latin typeface="Palatino Linotype"/>
                <a:cs typeface="Palatino Linotype"/>
              </a:rPr>
              <a:t>for expressions, and </a:t>
            </a:r>
            <a:r>
              <a:rPr kern="1200" spc="-5" dirty="0">
                <a:solidFill>
                  <a:prstClr val="black"/>
                </a:solidFill>
                <a:latin typeface="Palatino Linotype"/>
                <a:cs typeface="Palatino Linotype"/>
              </a:rPr>
              <a:t>then use </a:t>
            </a:r>
            <a:r>
              <a:rPr kern="1200" dirty="0">
                <a:solidFill>
                  <a:prstClr val="black"/>
                </a:solidFill>
                <a:latin typeface="Palatino Linotype"/>
                <a:cs typeface="Palatino Linotype"/>
              </a:rPr>
              <a:t>separate code-generation </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functions</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depending</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on </a:t>
            </a:r>
            <a:r>
              <a:rPr kern="1200" spc="-5" dirty="0">
                <a:solidFill>
                  <a:prstClr val="black"/>
                </a:solidFill>
                <a:latin typeface="Palatino Linotype"/>
                <a:cs typeface="Palatino Linotype"/>
              </a:rPr>
              <a:t>the</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context</a:t>
            </a:r>
            <a:r>
              <a:rPr kern="1200" dirty="0">
                <a:solidFill>
                  <a:prstClr val="black"/>
                </a:solidFill>
                <a:latin typeface="Palatino Linotype"/>
                <a:cs typeface="Palatino Linotype"/>
              </a:rPr>
              <a:t> of</a:t>
            </a:r>
            <a:r>
              <a:rPr kern="1200" spc="15" dirty="0">
                <a:solidFill>
                  <a:prstClr val="black"/>
                </a:solidFill>
                <a:latin typeface="Palatino Linotype"/>
                <a:cs typeface="Palatino Linotype"/>
              </a:rPr>
              <a:t> </a:t>
            </a:r>
            <a:r>
              <a:rPr kern="1200" dirty="0">
                <a:solidFill>
                  <a:prstClr val="black"/>
                </a:solidFill>
                <a:latin typeface="Cambria Math"/>
                <a:cs typeface="Cambria Math"/>
              </a:rPr>
              <a:t>𝐸</a:t>
            </a:r>
          </a:p>
          <a:p>
            <a:pPr marL="735965" lvl="1" indent="-228600" rtl="0">
              <a:spcBef>
                <a:spcPts val="1020"/>
              </a:spcBef>
              <a:buFont typeface="Wingdings"/>
              <a:buChar char=""/>
              <a:tabLst>
                <a:tab pos="735965" algn="l"/>
                <a:tab pos="736600" algn="l"/>
                <a:tab pos="3778885" algn="l"/>
                <a:tab pos="4086860" algn="l"/>
              </a:tabLst>
            </a:pPr>
            <a:r>
              <a:rPr sz="1600" kern="1200" spc="-5" dirty="0">
                <a:solidFill>
                  <a:prstClr val="black"/>
                </a:solidFill>
                <a:latin typeface="Palatino Linotype"/>
                <a:cs typeface="Palatino Linotype"/>
              </a:rPr>
              <a:t>For</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example, for</a:t>
            </a:r>
            <a:r>
              <a:rPr sz="1600" kern="1200" spc="30" dirty="0">
                <a:solidFill>
                  <a:prstClr val="black"/>
                </a:solidFill>
                <a:latin typeface="Palatino Linotype"/>
                <a:cs typeface="Palatino Linotype"/>
              </a:rPr>
              <a:t> </a:t>
            </a:r>
            <a:r>
              <a:rPr sz="1600" kern="1200" spc="-5" dirty="0">
                <a:solidFill>
                  <a:prstClr val="black"/>
                </a:solidFill>
                <a:latin typeface="Cambria Math"/>
                <a:cs typeface="Cambria Math"/>
              </a:rPr>
              <a:t>𝐸</a:t>
            </a:r>
            <a:r>
              <a:rPr sz="1600" kern="1200" spc="120" dirty="0">
                <a:solidFill>
                  <a:prstClr val="black"/>
                </a:solidFill>
                <a:latin typeface="Cambria Math"/>
                <a:cs typeface="Cambria Math"/>
              </a:rPr>
              <a:t> </a:t>
            </a:r>
            <a:r>
              <a:rPr sz="1600" kern="1200" spc="-5" dirty="0">
                <a:solidFill>
                  <a:prstClr val="black"/>
                </a:solidFill>
                <a:latin typeface="Palatino Linotype"/>
                <a:cs typeface="Palatino Linotype"/>
              </a:rPr>
              <a:t>in</a:t>
            </a:r>
            <a:r>
              <a:rPr sz="1600" kern="1200" spc="10" dirty="0">
                <a:solidFill>
                  <a:prstClr val="black"/>
                </a:solidFill>
                <a:latin typeface="Palatino Linotype"/>
                <a:cs typeface="Palatino Linotype"/>
              </a:rPr>
              <a:t> </a:t>
            </a:r>
            <a:r>
              <a:rPr sz="1600" kern="1200" spc="-5" dirty="0">
                <a:solidFill>
                  <a:prstClr val="black"/>
                </a:solidFill>
                <a:latin typeface="Cambria Math"/>
                <a:cs typeface="Cambria Math"/>
              </a:rPr>
              <a:t>𝑆</a:t>
            </a:r>
            <a:r>
              <a:rPr sz="1600" kern="1200" spc="140"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spc="-10" dirty="0">
                <a:solidFill>
                  <a:prstClr val="black"/>
                </a:solidFill>
                <a:latin typeface="Cambria Math"/>
                <a:cs typeface="Cambria Math"/>
              </a:rPr>
              <a:t>𝐰𝐡𝐢𝐥𝐞	</a:t>
            </a:r>
            <a:r>
              <a:rPr sz="1600" kern="1200" spc="-5" dirty="0">
                <a:solidFill>
                  <a:prstClr val="black"/>
                </a:solidFill>
                <a:latin typeface="Cambria Math"/>
                <a:cs typeface="Cambria Math"/>
              </a:rPr>
              <a:t>𝐸	𝑆</a:t>
            </a:r>
            <a:r>
              <a:rPr sz="1725" kern="1200" spc="-7" baseline="-14492" dirty="0">
                <a:solidFill>
                  <a:prstClr val="black"/>
                </a:solidFill>
                <a:latin typeface="Cambria Math"/>
                <a:cs typeface="Cambria Math"/>
              </a:rPr>
              <a:t>1</a:t>
            </a:r>
            <a:r>
              <a:rPr sz="1600" kern="1200" spc="-5" dirty="0">
                <a:solidFill>
                  <a:prstClr val="black"/>
                </a:solidFill>
                <a:latin typeface="Palatino Linotype"/>
                <a:cs typeface="Palatino Linotype"/>
              </a:rPr>
              <a:t>,</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generate</a:t>
            </a:r>
            <a:r>
              <a:rPr sz="1600" kern="1200" spc="-15" dirty="0">
                <a:solidFill>
                  <a:prstClr val="black"/>
                </a:solidFill>
                <a:latin typeface="Palatino Linotype"/>
                <a:cs typeface="Palatino Linotype"/>
              </a:rPr>
              <a:t> </a:t>
            </a:r>
            <a:r>
              <a:rPr sz="1600" kern="1200" spc="-10" dirty="0">
                <a:solidFill>
                  <a:prstClr val="black"/>
                </a:solidFill>
                <a:latin typeface="Palatino Linotype"/>
                <a:cs typeface="Palatino Linotype"/>
              </a:rPr>
              <a:t>jumping</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code</a:t>
            </a:r>
            <a:endParaRPr sz="1600" kern="1200" dirty="0">
              <a:solidFill>
                <a:prstClr val="black"/>
              </a:solidFill>
              <a:latin typeface="Palatino Linotype"/>
              <a:cs typeface="Palatino Linotype"/>
            </a:endParaRPr>
          </a:p>
          <a:p>
            <a:pPr marL="735965" lvl="1" indent="-228600" rtl="0">
              <a:spcBef>
                <a:spcPts val="980"/>
              </a:spcBef>
              <a:buFont typeface="Wingdings"/>
              <a:buChar char=""/>
              <a:tabLst>
                <a:tab pos="735965" algn="l"/>
                <a:tab pos="736600" algn="l"/>
              </a:tabLst>
            </a:pPr>
            <a:r>
              <a:rPr sz="1600" kern="1200" spc="-5" dirty="0">
                <a:solidFill>
                  <a:prstClr val="black"/>
                </a:solidFill>
                <a:latin typeface="Palatino Linotype"/>
                <a:cs typeface="Palatino Linotype"/>
              </a:rPr>
              <a:t>For</a:t>
            </a:r>
            <a:r>
              <a:rPr sz="1600" kern="1200" dirty="0">
                <a:solidFill>
                  <a:prstClr val="black"/>
                </a:solidFill>
                <a:latin typeface="Palatino Linotype"/>
                <a:cs typeface="Palatino Linotype"/>
              </a:rPr>
              <a:t> </a:t>
            </a:r>
            <a:r>
              <a:rPr sz="1600" kern="1200" spc="-5" dirty="0">
                <a:solidFill>
                  <a:prstClr val="black"/>
                </a:solidFill>
                <a:latin typeface="Cambria Math"/>
                <a:cs typeface="Cambria Math"/>
              </a:rPr>
              <a:t>𝐸</a:t>
            </a:r>
            <a:r>
              <a:rPr sz="1600" kern="1200" spc="125" dirty="0">
                <a:solidFill>
                  <a:prstClr val="black"/>
                </a:solidFill>
                <a:latin typeface="Cambria Math"/>
                <a:cs typeface="Cambria Math"/>
              </a:rPr>
              <a:t> </a:t>
            </a:r>
            <a:r>
              <a:rPr sz="1600" kern="1200" spc="-5" dirty="0">
                <a:solidFill>
                  <a:prstClr val="black"/>
                </a:solidFill>
                <a:latin typeface="Palatino Linotype"/>
                <a:cs typeface="Palatino Linotype"/>
              </a:rPr>
              <a:t>in</a:t>
            </a:r>
            <a:r>
              <a:rPr sz="1600" kern="1200" spc="5" dirty="0">
                <a:solidFill>
                  <a:prstClr val="black"/>
                </a:solidFill>
                <a:latin typeface="Palatino Linotype"/>
                <a:cs typeface="Palatino Linotype"/>
              </a:rPr>
              <a:t> </a:t>
            </a:r>
            <a:r>
              <a:rPr sz="1600" kern="1200" spc="-5" dirty="0">
                <a:solidFill>
                  <a:prstClr val="black"/>
                </a:solidFill>
                <a:latin typeface="Cambria Math"/>
                <a:cs typeface="Cambria Math"/>
              </a:rPr>
              <a:t>𝑆</a:t>
            </a:r>
            <a:r>
              <a:rPr sz="1600" kern="1200" spc="130"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spc="-5" dirty="0">
                <a:solidFill>
                  <a:prstClr val="black"/>
                </a:solidFill>
                <a:latin typeface="Cambria Math"/>
                <a:cs typeface="Cambria Math"/>
              </a:rPr>
              <a:t>𝐢𝐝</a:t>
            </a:r>
            <a:r>
              <a:rPr sz="1600" kern="1200" spc="85"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spc="95" dirty="0">
                <a:solidFill>
                  <a:prstClr val="black"/>
                </a:solidFill>
                <a:latin typeface="Cambria Math"/>
                <a:cs typeface="Cambria Math"/>
              </a:rPr>
              <a:t> </a:t>
            </a:r>
            <a:r>
              <a:rPr sz="1600" kern="1200" spc="30" dirty="0">
                <a:solidFill>
                  <a:prstClr val="black"/>
                </a:solidFill>
                <a:latin typeface="Cambria Math"/>
                <a:cs typeface="Cambria Math"/>
              </a:rPr>
              <a:t>𝐸</a:t>
            </a:r>
            <a:r>
              <a:rPr sz="1600" kern="1200" spc="30" dirty="0">
                <a:solidFill>
                  <a:prstClr val="black"/>
                </a:solidFill>
                <a:latin typeface="Palatino Linotype"/>
                <a:cs typeface="Palatino Linotype"/>
              </a:rPr>
              <a:t>,</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generate</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code</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to</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compute</a:t>
            </a:r>
            <a:r>
              <a:rPr sz="1600" kern="1200" spc="30" dirty="0">
                <a:solidFill>
                  <a:prstClr val="black"/>
                </a:solidFill>
                <a:latin typeface="Palatino Linotype"/>
                <a:cs typeface="Palatino Linotype"/>
              </a:rPr>
              <a:t> </a:t>
            </a:r>
            <a:r>
              <a:rPr sz="1600" kern="1200" spc="-5" dirty="0">
                <a:solidFill>
                  <a:prstClr val="black"/>
                </a:solidFill>
                <a:latin typeface="Palatino Linotype"/>
                <a:cs typeface="Palatino Linotype"/>
              </a:rPr>
              <a:t>boolean</a:t>
            </a:r>
            <a:r>
              <a:rPr sz="1600" kern="1200" dirty="0">
                <a:solidFill>
                  <a:prstClr val="black"/>
                </a:solidFill>
                <a:latin typeface="Palatino Linotype"/>
                <a:cs typeface="Palatino Linotype"/>
              </a:rPr>
              <a:t> </a:t>
            </a:r>
            <a:r>
              <a:rPr sz="1600" kern="1200" spc="-15" dirty="0">
                <a:solidFill>
                  <a:prstClr val="black"/>
                </a:solidFill>
                <a:latin typeface="Palatino Linotype"/>
                <a:cs typeface="Palatino Linotype"/>
              </a:rPr>
              <a:t>values</a:t>
            </a:r>
            <a:endParaRPr sz="1600" kern="1200" dirty="0">
              <a:solidFill>
                <a:prstClr val="black"/>
              </a:solidFill>
              <a:latin typeface="Palatino Linotype"/>
              <a:cs typeface="Palatino Linotype"/>
            </a:endParaRPr>
          </a:p>
        </p:txBody>
      </p:sp>
    </p:spTree>
    <p:extLst>
      <p:ext uri="{BB962C8B-B14F-4D97-AF65-F5344CB8AC3E}">
        <p14:creationId xmlns:p14="http://schemas.microsoft.com/office/powerpoint/2010/main" val="361259866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94</a:t>
            </a:fld>
            <a:endParaRPr lang="en-US"/>
          </a:p>
        </p:txBody>
      </p:sp>
      <p:sp>
        <p:nvSpPr>
          <p:cNvPr id="7" name="object 2">
            <a:extLst>
              <a:ext uri="{FF2B5EF4-FFF2-40B4-BE49-F238E27FC236}">
                <a16:creationId xmlns:a16="http://schemas.microsoft.com/office/drawing/2014/main" id="{B97E9709-C9A6-5F28-A73B-9A28870F2C92}"/>
              </a:ext>
            </a:extLst>
          </p:cNvPr>
          <p:cNvSpPr txBox="1">
            <a:spLocks/>
          </p:cNvSpPr>
          <p:nvPr/>
        </p:nvSpPr>
        <p:spPr>
          <a:xfrm>
            <a:off x="707542" y="520141"/>
            <a:ext cx="182880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O</a:t>
            </a:r>
            <a:r>
              <a:rPr kumimoji="0" lang="en-US" sz="4000" b="1" i="0" u="none" strike="noStrike" kern="0" cap="none" spc="-20" normalizeH="0" baseline="0" noProof="0">
                <a:ln>
                  <a:noFill/>
                </a:ln>
                <a:solidFill>
                  <a:sysClr val="windowText" lastClr="000000"/>
                </a:solidFill>
                <a:effectLst/>
                <a:uLnTx/>
                <a:uFillTx/>
                <a:latin typeface="Palatino Linotype"/>
                <a:ea typeface="+mj-ea"/>
              </a:rPr>
              <a:t>u</a:t>
            </a:r>
            <a:r>
              <a:rPr kumimoji="0" lang="en-US" sz="4000" b="1" i="0" u="none" strike="noStrike" kern="0" cap="none" spc="-5" normalizeH="0" baseline="0" noProof="0">
                <a:ln>
                  <a:noFill/>
                </a:ln>
                <a:solidFill>
                  <a:sysClr val="windowText" lastClr="000000"/>
                </a:solidFill>
                <a:effectLst/>
                <a:uLnTx/>
                <a:uFillTx/>
                <a:latin typeface="Palatino Linotype"/>
                <a:ea typeface="+mj-ea"/>
              </a:rPr>
              <a:t>tline</a:t>
            </a:r>
            <a:endParaRPr kumimoji="0" lang="en-US" sz="4000" b="1" i="0" u="none" strike="noStrike" kern="0" cap="none" spc="-5"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B63A7712-4D8E-07CC-BC61-DA8B7AFA0733}"/>
              </a:ext>
            </a:extLst>
          </p:cNvPr>
          <p:cNvSpPr txBox="1"/>
          <p:nvPr/>
        </p:nvSpPr>
        <p:spPr>
          <a:xfrm>
            <a:off x="707542" y="1658239"/>
            <a:ext cx="4103370" cy="4110990"/>
          </a:xfrm>
          <a:prstGeom prst="rect">
            <a:avLst/>
          </a:prstGeom>
        </p:spPr>
        <p:txBody>
          <a:bodyPr vert="horz" wrap="square" lIns="0" tIns="12700" rIns="0" bIns="0" rtlCol="0">
            <a:spAutoFit/>
          </a:bodyPr>
          <a:lstStyle/>
          <a:p>
            <a:pPr marL="242570" indent="-230504" rtl="0">
              <a:spcBef>
                <a:spcPts val="100"/>
              </a:spcBef>
              <a:buClr>
                <a:srgbClr val="000000"/>
              </a:buClr>
              <a:buFont typeface="Arial MT"/>
              <a:buChar char="•"/>
              <a:tabLst>
                <a:tab pos="243204" algn="l"/>
              </a:tabLst>
            </a:pPr>
            <a:r>
              <a:rPr sz="2400" kern="1200" spc="-5" dirty="0">
                <a:solidFill>
                  <a:srgbClr val="A6A6A6"/>
                </a:solidFill>
                <a:latin typeface="Palatino Linotype"/>
                <a:cs typeface="Palatino Linotype"/>
              </a:rPr>
              <a:t>Intermediate</a:t>
            </a:r>
            <a:r>
              <a:rPr sz="2400" kern="1200" spc="-30" dirty="0">
                <a:solidFill>
                  <a:srgbClr val="A6A6A6"/>
                </a:solidFill>
                <a:latin typeface="Palatino Linotype"/>
                <a:cs typeface="Palatino Linotype"/>
              </a:rPr>
              <a:t> </a:t>
            </a:r>
            <a:r>
              <a:rPr sz="2400" kern="1200" spc="-5" dirty="0">
                <a:solidFill>
                  <a:srgbClr val="A6A6A6"/>
                </a:solidFill>
                <a:latin typeface="Palatino Linotype"/>
                <a:cs typeface="Palatino Linotype"/>
              </a:rPr>
              <a:t>Representation</a:t>
            </a:r>
            <a:endParaRPr sz="2400" kern="1200">
              <a:solidFill>
                <a:prstClr val="black"/>
              </a:solidFill>
              <a:latin typeface="Palatino Linotype"/>
              <a:cs typeface="Palatino Linotype"/>
            </a:endParaRPr>
          </a:p>
          <a:p>
            <a:pPr rtl="0">
              <a:spcBef>
                <a:spcPts val="5"/>
              </a:spcBef>
              <a:buFont typeface="Arial MT"/>
              <a:buChar char="•"/>
            </a:pPr>
            <a:endParaRPr sz="2200" kern="1200">
              <a:solidFill>
                <a:prstClr val="black"/>
              </a:solidFill>
              <a:latin typeface="Palatino Linotype"/>
              <a:cs typeface="Palatino Linotype"/>
            </a:endParaRPr>
          </a:p>
          <a:p>
            <a:pPr marL="242570" indent="-230504" rtl="0">
              <a:buClr>
                <a:srgbClr val="000000"/>
              </a:buClr>
              <a:buFont typeface="Arial MT"/>
              <a:buChar char="•"/>
              <a:tabLst>
                <a:tab pos="243204" algn="l"/>
              </a:tabLst>
            </a:pPr>
            <a:r>
              <a:rPr sz="2400" kern="1200" spc="-45" dirty="0">
                <a:solidFill>
                  <a:srgbClr val="A6A6A6"/>
                </a:solidFill>
                <a:latin typeface="Palatino Linotype"/>
                <a:cs typeface="Palatino Linotype"/>
              </a:rPr>
              <a:t>Type</a:t>
            </a:r>
            <a:r>
              <a:rPr sz="2400" kern="1200" spc="-15" dirty="0">
                <a:solidFill>
                  <a:srgbClr val="A6A6A6"/>
                </a:solidFill>
                <a:latin typeface="Palatino Linotype"/>
                <a:cs typeface="Palatino Linotype"/>
              </a:rPr>
              <a:t> </a:t>
            </a:r>
            <a:r>
              <a:rPr sz="2400" kern="1200" spc="-5" dirty="0">
                <a:solidFill>
                  <a:srgbClr val="A6A6A6"/>
                </a:solidFill>
                <a:latin typeface="Palatino Linotype"/>
                <a:cs typeface="Palatino Linotype"/>
              </a:rPr>
              <a:t>and Declarations</a:t>
            </a:r>
            <a:endParaRPr sz="2400" kern="1200">
              <a:solidFill>
                <a:prstClr val="black"/>
              </a:solidFill>
              <a:latin typeface="Palatino Linotype"/>
              <a:cs typeface="Palatino Linotype"/>
            </a:endParaRPr>
          </a:p>
          <a:p>
            <a:pPr rtl="0">
              <a:spcBef>
                <a:spcPts val="10"/>
              </a:spcBef>
              <a:buFont typeface="Arial MT"/>
              <a:buChar char="•"/>
            </a:pPr>
            <a:endParaRPr sz="2200" kern="1200">
              <a:solidFill>
                <a:prstClr val="black"/>
              </a:solidFill>
              <a:latin typeface="Palatino Linotype"/>
              <a:cs typeface="Palatino Linotype"/>
            </a:endParaRPr>
          </a:p>
          <a:p>
            <a:pPr marL="242570" indent="-230504" rtl="0">
              <a:buClr>
                <a:srgbClr val="000000"/>
              </a:buClr>
              <a:buFont typeface="Arial MT"/>
              <a:buChar char="•"/>
              <a:tabLst>
                <a:tab pos="243204" algn="l"/>
              </a:tabLst>
            </a:pPr>
            <a:r>
              <a:rPr sz="2400" kern="1200" spc="-20" dirty="0">
                <a:solidFill>
                  <a:srgbClr val="A6A6A6"/>
                </a:solidFill>
                <a:latin typeface="Palatino Linotype"/>
                <a:cs typeface="Palatino Linotype"/>
              </a:rPr>
              <a:t>Translation</a:t>
            </a:r>
            <a:r>
              <a:rPr sz="2400" kern="1200" spc="-10" dirty="0">
                <a:solidFill>
                  <a:srgbClr val="A6A6A6"/>
                </a:solidFill>
                <a:latin typeface="Palatino Linotype"/>
                <a:cs typeface="Palatino Linotype"/>
              </a:rPr>
              <a:t> </a:t>
            </a:r>
            <a:r>
              <a:rPr sz="2400" kern="1200" dirty="0">
                <a:solidFill>
                  <a:srgbClr val="A6A6A6"/>
                </a:solidFill>
                <a:latin typeface="Palatino Linotype"/>
                <a:cs typeface="Palatino Linotype"/>
              </a:rPr>
              <a:t>of</a:t>
            </a:r>
            <a:r>
              <a:rPr sz="2400" kern="1200" spc="-15" dirty="0">
                <a:solidFill>
                  <a:srgbClr val="A6A6A6"/>
                </a:solidFill>
                <a:latin typeface="Palatino Linotype"/>
                <a:cs typeface="Palatino Linotype"/>
              </a:rPr>
              <a:t> </a:t>
            </a:r>
            <a:r>
              <a:rPr sz="2400" kern="1200" dirty="0">
                <a:solidFill>
                  <a:srgbClr val="A6A6A6"/>
                </a:solidFill>
                <a:latin typeface="Palatino Linotype"/>
                <a:cs typeface="Palatino Linotype"/>
              </a:rPr>
              <a:t>Expressions</a:t>
            </a:r>
            <a:endParaRPr sz="2400" kern="1200">
              <a:solidFill>
                <a:prstClr val="black"/>
              </a:solidFill>
              <a:latin typeface="Palatino Linotype"/>
              <a:cs typeface="Palatino Linotype"/>
            </a:endParaRPr>
          </a:p>
          <a:p>
            <a:pPr rtl="0">
              <a:spcBef>
                <a:spcPts val="10"/>
              </a:spcBef>
              <a:buFont typeface="Arial MT"/>
              <a:buChar char="•"/>
            </a:pPr>
            <a:endParaRPr sz="2200" kern="1200">
              <a:solidFill>
                <a:prstClr val="black"/>
              </a:solidFill>
              <a:latin typeface="Palatino Linotype"/>
              <a:cs typeface="Palatino Linotype"/>
            </a:endParaRPr>
          </a:p>
          <a:p>
            <a:pPr marL="242570" indent="-230504" rtl="0">
              <a:buClr>
                <a:srgbClr val="000000"/>
              </a:buClr>
              <a:buFont typeface="Arial MT"/>
              <a:buChar char="•"/>
              <a:tabLst>
                <a:tab pos="243204" algn="l"/>
              </a:tabLst>
            </a:pPr>
            <a:r>
              <a:rPr sz="2400" kern="1200" spc="-45" dirty="0">
                <a:solidFill>
                  <a:srgbClr val="A6A6A6"/>
                </a:solidFill>
                <a:latin typeface="Palatino Linotype"/>
                <a:cs typeface="Palatino Linotype"/>
              </a:rPr>
              <a:t>Type</a:t>
            </a:r>
            <a:r>
              <a:rPr sz="2400" kern="1200" spc="-30" dirty="0">
                <a:solidFill>
                  <a:srgbClr val="A6A6A6"/>
                </a:solidFill>
                <a:latin typeface="Palatino Linotype"/>
                <a:cs typeface="Palatino Linotype"/>
              </a:rPr>
              <a:t> </a:t>
            </a:r>
            <a:r>
              <a:rPr sz="2400" kern="1200" spc="-5" dirty="0">
                <a:solidFill>
                  <a:srgbClr val="A6A6A6"/>
                </a:solidFill>
                <a:latin typeface="Palatino Linotype"/>
                <a:cs typeface="Palatino Linotype"/>
              </a:rPr>
              <a:t>Checking</a:t>
            </a:r>
            <a:endParaRPr sz="2400" kern="1200">
              <a:solidFill>
                <a:prstClr val="black"/>
              </a:solidFill>
              <a:latin typeface="Palatino Linotype"/>
              <a:cs typeface="Palatino Linotype"/>
            </a:endParaRPr>
          </a:p>
          <a:p>
            <a:pPr rtl="0">
              <a:spcBef>
                <a:spcPts val="10"/>
              </a:spcBef>
              <a:buFont typeface="Arial MT"/>
              <a:buChar char="•"/>
            </a:pPr>
            <a:endParaRPr sz="2200" kern="1200">
              <a:solidFill>
                <a:prstClr val="black"/>
              </a:solidFill>
              <a:latin typeface="Palatino Linotype"/>
              <a:cs typeface="Palatino Linotype"/>
            </a:endParaRPr>
          </a:p>
          <a:p>
            <a:pPr marL="242570" indent="-230504" rtl="0">
              <a:buClr>
                <a:srgbClr val="000000"/>
              </a:buClr>
              <a:buFont typeface="Arial MT"/>
              <a:buChar char="•"/>
              <a:tabLst>
                <a:tab pos="243204" algn="l"/>
              </a:tabLst>
            </a:pPr>
            <a:r>
              <a:rPr sz="2400" kern="1200" spc="-5" dirty="0">
                <a:solidFill>
                  <a:srgbClr val="A6A6A6"/>
                </a:solidFill>
                <a:latin typeface="Palatino Linotype"/>
                <a:cs typeface="Palatino Linotype"/>
              </a:rPr>
              <a:t>Control</a:t>
            </a:r>
            <a:r>
              <a:rPr sz="2400" kern="1200" spc="-25" dirty="0">
                <a:solidFill>
                  <a:srgbClr val="A6A6A6"/>
                </a:solidFill>
                <a:latin typeface="Palatino Linotype"/>
                <a:cs typeface="Palatino Linotype"/>
              </a:rPr>
              <a:t> </a:t>
            </a:r>
            <a:r>
              <a:rPr sz="2400" kern="1200" spc="-5" dirty="0">
                <a:solidFill>
                  <a:srgbClr val="A6A6A6"/>
                </a:solidFill>
                <a:latin typeface="Palatino Linotype"/>
                <a:cs typeface="Palatino Linotype"/>
              </a:rPr>
              <a:t>Flow</a:t>
            </a:r>
            <a:endParaRPr sz="2400" kern="1200">
              <a:solidFill>
                <a:prstClr val="black"/>
              </a:solidFill>
              <a:latin typeface="Palatino Linotype"/>
              <a:cs typeface="Palatino Linotype"/>
            </a:endParaRPr>
          </a:p>
          <a:p>
            <a:pPr rtl="0">
              <a:spcBef>
                <a:spcPts val="5"/>
              </a:spcBef>
              <a:buFont typeface="Arial MT"/>
              <a:buChar char="•"/>
            </a:pPr>
            <a:endParaRPr sz="2200" kern="1200">
              <a:solidFill>
                <a:prstClr val="black"/>
              </a:solidFill>
              <a:latin typeface="Palatino Linotype"/>
              <a:cs typeface="Palatino Linotype"/>
            </a:endParaRPr>
          </a:p>
          <a:p>
            <a:pPr marL="242570" indent="-230504" rtl="0">
              <a:spcBef>
                <a:spcPts val="5"/>
              </a:spcBef>
              <a:buFont typeface="Arial MT"/>
              <a:buChar char="•"/>
              <a:tabLst>
                <a:tab pos="243204" algn="l"/>
              </a:tabLst>
            </a:pPr>
            <a:r>
              <a:rPr sz="2400" kern="1200" spc="-5" dirty="0">
                <a:solidFill>
                  <a:prstClr val="black"/>
                </a:solidFill>
                <a:latin typeface="Palatino Linotype"/>
                <a:cs typeface="Palatino Linotype"/>
              </a:rPr>
              <a:t>Backpatching</a:t>
            </a:r>
            <a:endParaRPr sz="2400" kern="1200">
              <a:solidFill>
                <a:prstClr val="black"/>
              </a:solidFill>
              <a:latin typeface="Palatino Linotype"/>
              <a:cs typeface="Palatino Linotype"/>
            </a:endParaRPr>
          </a:p>
        </p:txBody>
      </p:sp>
    </p:spTree>
    <p:extLst>
      <p:ext uri="{BB962C8B-B14F-4D97-AF65-F5344CB8AC3E}">
        <p14:creationId xmlns:p14="http://schemas.microsoft.com/office/powerpoint/2010/main" val="124759931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95</a:t>
            </a:fld>
            <a:endParaRPr lang="en-US"/>
          </a:p>
        </p:txBody>
      </p:sp>
      <p:sp>
        <p:nvSpPr>
          <p:cNvPr id="10" name="object 2">
            <a:extLst>
              <a:ext uri="{FF2B5EF4-FFF2-40B4-BE49-F238E27FC236}">
                <a16:creationId xmlns:a16="http://schemas.microsoft.com/office/drawing/2014/main" id="{90EEDAB6-4670-17E1-5CCF-75F3C6C19B2B}"/>
              </a:ext>
            </a:extLst>
          </p:cNvPr>
          <p:cNvSpPr txBox="1">
            <a:spLocks/>
          </p:cNvSpPr>
          <p:nvPr/>
        </p:nvSpPr>
        <p:spPr>
          <a:xfrm>
            <a:off x="707542" y="530809"/>
            <a:ext cx="4889500" cy="6350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Backpatching</a:t>
            </a:r>
            <a:r>
              <a:rPr kumimoji="0" lang="en-US" sz="4000" b="1" i="0" u="none" strike="noStrike" kern="0" cap="none" spc="-5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a:t>
            </a:r>
            <a:r>
              <a:rPr kumimoji="0" lang="zh-CN" altLang="en-US" sz="4000" b="0"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rPr>
              <a:t>回填</a:t>
            </a:r>
            <a:r>
              <a:rPr kumimoji="0" lang="en-US" altLang="zh-CN" sz="4000" b="1" i="0" u="none" strike="noStrike" kern="0" cap="none" spc="-5" normalizeH="0" baseline="0" noProof="0">
                <a:ln>
                  <a:noFill/>
                </a:ln>
                <a:solidFill>
                  <a:sysClr val="windowText" lastClr="000000"/>
                </a:solidFill>
                <a:effectLst/>
                <a:uLnTx/>
                <a:uFillTx/>
                <a:latin typeface="Palatino Linotype"/>
                <a:ea typeface="宋体" panose="02010600030101010101" pitchFamily="2" charset="-122"/>
              </a:rPr>
              <a:t>)*</a:t>
            </a:r>
            <a:endParaRPr kumimoji="0" lang="en-US" altLang="zh-CN" sz="4000" b="1" i="0" u="none" strike="noStrike" kern="0" cap="none" spc="-5" normalizeH="0" baseline="0" noProof="0" dirty="0">
              <a:ln>
                <a:noFill/>
              </a:ln>
              <a:solidFill>
                <a:sysClr val="windowText" lastClr="000000"/>
              </a:solidFill>
              <a:effectLst/>
              <a:uLnTx/>
              <a:uFillTx/>
              <a:latin typeface="Palatino Linotype"/>
              <a:ea typeface="宋体" panose="02010600030101010101" pitchFamily="2" charset="-122"/>
            </a:endParaRPr>
          </a:p>
        </p:txBody>
      </p:sp>
      <p:sp>
        <p:nvSpPr>
          <p:cNvPr id="11" name="object 3">
            <a:extLst>
              <a:ext uri="{FF2B5EF4-FFF2-40B4-BE49-F238E27FC236}">
                <a16:creationId xmlns:a16="http://schemas.microsoft.com/office/drawing/2014/main" id="{BDF882AB-30AD-461A-7AD4-6B2102084164}"/>
              </a:ext>
            </a:extLst>
          </p:cNvPr>
          <p:cNvSpPr txBox="1"/>
          <p:nvPr/>
        </p:nvSpPr>
        <p:spPr>
          <a:xfrm>
            <a:off x="707542" y="1596199"/>
            <a:ext cx="7603490" cy="3231515"/>
          </a:xfrm>
          <a:prstGeom prst="rect">
            <a:avLst/>
          </a:prstGeom>
        </p:spPr>
        <p:txBody>
          <a:bodyPr vert="horz" wrap="square" lIns="0" tIns="67945" rIns="0" bIns="0" rtlCol="0">
            <a:spAutoFit/>
          </a:bodyPr>
          <a:lstStyle/>
          <a:p>
            <a:pPr marL="229870" marR="19050" indent="-229870" algn="r" rtl="0">
              <a:spcBef>
                <a:spcPts val="535"/>
              </a:spcBef>
              <a:buFont typeface="Arial MT"/>
              <a:buChar char="•"/>
              <a:tabLst>
                <a:tab pos="229870" algn="l"/>
                <a:tab pos="230504" algn="l"/>
              </a:tabLst>
            </a:pPr>
            <a:r>
              <a:rPr kern="1200" dirty="0">
                <a:solidFill>
                  <a:prstClr val="black"/>
                </a:solidFill>
                <a:latin typeface="Palatino Linotype"/>
                <a:cs typeface="Palatino Linotype"/>
              </a:rPr>
              <a:t>A</a:t>
            </a:r>
            <a:r>
              <a:rPr kern="1200" spc="-100" dirty="0">
                <a:solidFill>
                  <a:prstClr val="black"/>
                </a:solidFill>
                <a:latin typeface="Palatino Linotype"/>
                <a:cs typeface="Palatino Linotype"/>
              </a:rPr>
              <a:t> </a:t>
            </a:r>
            <a:r>
              <a:rPr b="1" kern="1200" dirty="0">
                <a:solidFill>
                  <a:srgbClr val="FF0000"/>
                </a:solidFill>
                <a:latin typeface="Palatino Linotype"/>
                <a:cs typeface="Palatino Linotype"/>
              </a:rPr>
              <a:t>key</a:t>
            </a:r>
            <a:r>
              <a:rPr b="1" kern="1200" spc="-5" dirty="0">
                <a:solidFill>
                  <a:srgbClr val="FF0000"/>
                </a:solidFill>
                <a:latin typeface="Palatino Linotype"/>
                <a:cs typeface="Palatino Linotype"/>
              </a:rPr>
              <a:t> problem</a:t>
            </a:r>
            <a:r>
              <a:rPr b="1" kern="1200" spc="5" dirty="0">
                <a:solidFill>
                  <a:srgbClr val="FF0000"/>
                </a:solidFill>
                <a:latin typeface="Palatino Linotype"/>
                <a:cs typeface="Palatino Linotype"/>
              </a:rPr>
              <a:t> </a:t>
            </a:r>
            <a:r>
              <a:rPr kern="1200" spc="-5" dirty="0">
                <a:solidFill>
                  <a:prstClr val="black"/>
                </a:solidFill>
                <a:latin typeface="Palatino Linotype"/>
                <a:cs typeface="Palatino Linotype"/>
              </a:rPr>
              <a:t>when</a:t>
            </a:r>
            <a:r>
              <a:rPr kern="1200" dirty="0">
                <a:solidFill>
                  <a:prstClr val="black"/>
                </a:solidFill>
                <a:latin typeface="Palatino Linotype"/>
                <a:cs typeface="Palatino Linotype"/>
              </a:rPr>
              <a:t> </a:t>
            </a:r>
            <a:r>
              <a:rPr kern="1200" spc="-5" dirty="0">
                <a:solidFill>
                  <a:prstClr val="black"/>
                </a:solidFill>
                <a:latin typeface="Palatino Linotype"/>
                <a:cs typeface="Palatino Linotype"/>
              </a:rPr>
              <a:t>generating</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code for</a:t>
            </a:r>
            <a:r>
              <a:rPr kern="1200" spc="20" dirty="0">
                <a:solidFill>
                  <a:prstClr val="black"/>
                </a:solidFill>
                <a:latin typeface="Palatino Linotype"/>
                <a:cs typeface="Palatino Linotype"/>
              </a:rPr>
              <a:t> </a:t>
            </a:r>
            <a:r>
              <a:rPr kern="1200" spc="-5" dirty="0">
                <a:solidFill>
                  <a:prstClr val="black"/>
                </a:solidFill>
                <a:latin typeface="Palatino Linotype"/>
                <a:cs typeface="Palatino Linotype"/>
              </a:rPr>
              <a:t>boolean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expressions</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and flow-</a:t>
            </a:r>
          </a:p>
          <a:p>
            <a:pPr marR="5080" algn="r" rtl="0">
              <a:spcBef>
                <a:spcPts val="434"/>
              </a:spcBef>
            </a:pPr>
            <a:r>
              <a:rPr kern="1200" spc="-5" dirty="0">
                <a:solidFill>
                  <a:prstClr val="black"/>
                </a:solidFill>
                <a:latin typeface="Palatino Linotype"/>
                <a:cs typeface="Palatino Linotype"/>
              </a:rPr>
              <a:t>of-control</a:t>
            </a:r>
            <a:r>
              <a:rPr kern="1200" spc="20" dirty="0">
                <a:solidFill>
                  <a:prstClr val="black"/>
                </a:solidFill>
                <a:latin typeface="Palatino Linotype"/>
                <a:cs typeface="Palatino Linotype"/>
              </a:rPr>
              <a:t> </a:t>
            </a:r>
            <a:r>
              <a:rPr kern="1200" dirty="0">
                <a:solidFill>
                  <a:prstClr val="black"/>
                </a:solidFill>
                <a:latin typeface="Palatino Linotype"/>
                <a:cs typeface="Palatino Linotype"/>
              </a:rPr>
              <a:t>statements </a:t>
            </a:r>
            <a:r>
              <a:rPr kern="1200" spc="-5" dirty="0">
                <a:solidFill>
                  <a:prstClr val="black"/>
                </a:solidFill>
                <a:latin typeface="Palatino Linotype"/>
                <a:cs typeface="Palatino Linotype"/>
              </a:rPr>
              <a:t>is</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to</a:t>
            </a:r>
            <a:r>
              <a:rPr kern="1200" spc="15" dirty="0">
                <a:solidFill>
                  <a:prstClr val="black"/>
                </a:solidFill>
                <a:latin typeface="Palatino Linotype"/>
                <a:cs typeface="Palatino Linotype"/>
              </a:rPr>
              <a:t> </a:t>
            </a:r>
            <a:r>
              <a:rPr kern="1200" spc="-5" dirty="0">
                <a:solidFill>
                  <a:srgbClr val="0431FF"/>
                </a:solidFill>
                <a:latin typeface="Palatino Linotype"/>
                <a:cs typeface="Palatino Linotype"/>
              </a:rPr>
              <a:t>match </a:t>
            </a:r>
            <a:r>
              <a:rPr kern="1200" dirty="0">
                <a:solidFill>
                  <a:srgbClr val="0431FF"/>
                </a:solidFill>
                <a:latin typeface="Palatino Linotype"/>
                <a:cs typeface="Palatino Linotype"/>
              </a:rPr>
              <a:t>a</a:t>
            </a:r>
            <a:r>
              <a:rPr kern="1200" spc="10" dirty="0">
                <a:solidFill>
                  <a:srgbClr val="0431FF"/>
                </a:solidFill>
                <a:latin typeface="Palatino Linotype"/>
                <a:cs typeface="Palatino Linotype"/>
              </a:rPr>
              <a:t> </a:t>
            </a:r>
            <a:r>
              <a:rPr kern="1200" spc="-5" dirty="0">
                <a:solidFill>
                  <a:srgbClr val="0431FF"/>
                </a:solidFill>
                <a:latin typeface="Palatino Linotype"/>
                <a:cs typeface="Palatino Linotype"/>
              </a:rPr>
              <a:t>jump</a:t>
            </a:r>
            <a:r>
              <a:rPr kern="1200" spc="10" dirty="0">
                <a:solidFill>
                  <a:srgbClr val="0431FF"/>
                </a:solidFill>
                <a:latin typeface="Palatino Linotype"/>
                <a:cs typeface="Palatino Linotype"/>
              </a:rPr>
              <a:t> </a:t>
            </a:r>
            <a:r>
              <a:rPr kern="1200" spc="-5" dirty="0">
                <a:solidFill>
                  <a:srgbClr val="0431FF"/>
                </a:solidFill>
                <a:latin typeface="Palatino Linotype"/>
                <a:cs typeface="Palatino Linotype"/>
              </a:rPr>
              <a:t>instruction</a:t>
            </a:r>
            <a:r>
              <a:rPr kern="1200" dirty="0">
                <a:solidFill>
                  <a:srgbClr val="0431FF"/>
                </a:solidFill>
                <a:latin typeface="Palatino Linotype"/>
                <a:cs typeface="Palatino Linotype"/>
              </a:rPr>
              <a:t> with</a:t>
            </a:r>
            <a:r>
              <a:rPr kern="1200" spc="-5" dirty="0">
                <a:solidFill>
                  <a:srgbClr val="0431FF"/>
                </a:solidFill>
                <a:latin typeface="Palatino Linotype"/>
                <a:cs typeface="Palatino Linotype"/>
              </a:rPr>
              <a:t> the</a:t>
            </a:r>
            <a:r>
              <a:rPr kern="1200" dirty="0">
                <a:solidFill>
                  <a:srgbClr val="0431FF"/>
                </a:solidFill>
                <a:latin typeface="Palatino Linotype"/>
                <a:cs typeface="Palatino Linotype"/>
              </a:rPr>
              <a:t> </a:t>
            </a:r>
            <a:r>
              <a:rPr kern="1200" spc="-5" dirty="0">
                <a:solidFill>
                  <a:srgbClr val="0431FF"/>
                </a:solidFill>
                <a:latin typeface="Palatino Linotype"/>
                <a:cs typeface="Palatino Linotype"/>
              </a:rPr>
              <a:t>jump</a:t>
            </a:r>
            <a:r>
              <a:rPr kern="1200" spc="15" dirty="0">
                <a:solidFill>
                  <a:srgbClr val="0431FF"/>
                </a:solidFill>
                <a:latin typeface="Palatino Linotype"/>
                <a:cs typeface="Palatino Linotype"/>
              </a:rPr>
              <a:t> </a:t>
            </a:r>
            <a:r>
              <a:rPr kern="1200" spc="-5" dirty="0">
                <a:solidFill>
                  <a:srgbClr val="0431FF"/>
                </a:solidFill>
                <a:latin typeface="Palatino Linotype"/>
                <a:cs typeface="Palatino Linotype"/>
              </a:rPr>
              <a:t>target</a:t>
            </a:r>
            <a:endParaRPr kern="1200" dirty="0">
              <a:solidFill>
                <a:prstClr val="black"/>
              </a:solidFill>
              <a:latin typeface="Palatino Linotype"/>
              <a:cs typeface="Palatino Linotype"/>
            </a:endParaRPr>
          </a:p>
          <a:p>
            <a:pPr rtl="0">
              <a:spcBef>
                <a:spcPts val="5"/>
              </a:spcBef>
            </a:pPr>
            <a:endParaRPr sz="1650" kern="1200" dirty="0">
              <a:solidFill>
                <a:prstClr val="black"/>
              </a:solidFill>
              <a:latin typeface="Palatino Linotype"/>
              <a:cs typeface="Palatino Linotype"/>
            </a:endParaRPr>
          </a:p>
          <a:p>
            <a:pPr marL="242570" indent="-230504" rtl="0">
              <a:buFont typeface="Arial MT"/>
              <a:buChar char="•"/>
              <a:tabLst>
                <a:tab pos="242570" algn="l"/>
                <a:tab pos="243204" algn="l"/>
              </a:tabLst>
            </a:pPr>
            <a:r>
              <a:rPr b="1" kern="1200" dirty="0">
                <a:solidFill>
                  <a:prstClr val="black"/>
                </a:solidFill>
                <a:latin typeface="Palatino Linotype"/>
                <a:cs typeface="Palatino Linotype"/>
              </a:rPr>
              <a:t>Example:</a:t>
            </a:r>
            <a:r>
              <a:rPr b="1" kern="1200" spc="-20" dirty="0">
                <a:solidFill>
                  <a:prstClr val="black"/>
                </a:solidFill>
                <a:latin typeface="Palatino Linotype"/>
                <a:cs typeface="Palatino Linotype"/>
              </a:rPr>
              <a:t> </a:t>
            </a:r>
            <a:r>
              <a:rPr kern="1200" spc="-5" dirty="0">
                <a:solidFill>
                  <a:srgbClr val="0431FF"/>
                </a:solidFill>
                <a:latin typeface="Cambria Math"/>
                <a:cs typeface="Cambria Math"/>
              </a:rPr>
              <a:t>𝐢𝐟</a:t>
            </a:r>
            <a:r>
              <a:rPr kern="1200" spc="-10" dirty="0">
                <a:solidFill>
                  <a:srgbClr val="0431FF"/>
                </a:solidFill>
                <a:latin typeface="Cambria Math"/>
                <a:cs typeface="Cambria Math"/>
              </a:rPr>
              <a:t> </a:t>
            </a:r>
            <a:r>
              <a:rPr kern="1200" dirty="0">
                <a:solidFill>
                  <a:srgbClr val="0431FF"/>
                </a:solidFill>
                <a:latin typeface="Cambria Math"/>
                <a:cs typeface="Cambria Math"/>
              </a:rPr>
              <a:t>(</a:t>
            </a:r>
            <a:r>
              <a:rPr kern="1200" spc="-10" dirty="0">
                <a:solidFill>
                  <a:srgbClr val="0431FF"/>
                </a:solidFill>
                <a:latin typeface="Cambria Math"/>
                <a:cs typeface="Cambria Math"/>
              </a:rPr>
              <a:t> </a:t>
            </a:r>
            <a:r>
              <a:rPr kern="1200" dirty="0">
                <a:solidFill>
                  <a:srgbClr val="0431FF"/>
                </a:solidFill>
                <a:latin typeface="Cambria Math"/>
                <a:cs typeface="Cambria Math"/>
              </a:rPr>
              <a:t>𝑩</a:t>
            </a:r>
            <a:r>
              <a:rPr kern="1200" spc="-20" dirty="0">
                <a:solidFill>
                  <a:srgbClr val="0431FF"/>
                </a:solidFill>
                <a:latin typeface="Cambria Math"/>
                <a:cs typeface="Cambria Math"/>
              </a:rPr>
              <a:t> </a:t>
            </a:r>
            <a:r>
              <a:rPr kern="1200" dirty="0">
                <a:solidFill>
                  <a:srgbClr val="0431FF"/>
                </a:solidFill>
                <a:latin typeface="Cambria Math"/>
                <a:cs typeface="Cambria Math"/>
              </a:rPr>
              <a:t>)</a:t>
            </a:r>
            <a:r>
              <a:rPr kern="1200" spc="-10" dirty="0">
                <a:solidFill>
                  <a:srgbClr val="0431FF"/>
                </a:solidFill>
                <a:latin typeface="Cambria Math"/>
                <a:cs typeface="Cambria Math"/>
              </a:rPr>
              <a:t> </a:t>
            </a:r>
            <a:r>
              <a:rPr kern="1200" dirty="0">
                <a:solidFill>
                  <a:srgbClr val="0431FF"/>
                </a:solidFill>
                <a:latin typeface="Cambria Math"/>
                <a:cs typeface="Cambria Math"/>
              </a:rPr>
              <a:t>𝑺</a:t>
            </a:r>
            <a:endParaRPr kern="1200" dirty="0">
              <a:solidFill>
                <a:prstClr val="black"/>
              </a:solidFill>
              <a:latin typeface="Cambria Math"/>
              <a:cs typeface="Cambria Math"/>
            </a:endParaRPr>
          </a:p>
          <a:p>
            <a:pPr marL="697865" lvl="1" indent="-228600" rtl="0">
              <a:spcBef>
                <a:spcPts val="1020"/>
              </a:spcBef>
              <a:buFont typeface="Wingdings"/>
              <a:buChar char=""/>
              <a:tabLst>
                <a:tab pos="697865" algn="l"/>
                <a:tab pos="698500" algn="l"/>
              </a:tabLst>
            </a:pPr>
            <a:r>
              <a:rPr sz="1600" kern="1200" spc="-5" dirty="0">
                <a:solidFill>
                  <a:prstClr val="black"/>
                </a:solidFill>
                <a:latin typeface="Palatino Linotype"/>
                <a:cs typeface="Palatino Linotype"/>
              </a:rPr>
              <a:t>According</a:t>
            </a:r>
            <a:r>
              <a:rPr sz="1600" kern="1200" spc="25" dirty="0">
                <a:solidFill>
                  <a:prstClr val="black"/>
                </a:solidFill>
                <a:latin typeface="Palatino Linotype"/>
                <a:cs typeface="Palatino Linotype"/>
              </a:rPr>
              <a:t> </a:t>
            </a:r>
            <a:r>
              <a:rPr sz="1600" kern="1200" spc="-10" dirty="0">
                <a:solidFill>
                  <a:prstClr val="black"/>
                </a:solidFill>
                <a:latin typeface="Palatino Linotype"/>
                <a:cs typeface="Palatino Linotype"/>
              </a:rPr>
              <a:t>to</a:t>
            </a:r>
            <a:r>
              <a:rPr sz="1600" kern="1200" spc="10" dirty="0">
                <a:solidFill>
                  <a:prstClr val="black"/>
                </a:solidFill>
                <a:latin typeface="Palatino Linotype"/>
                <a:cs typeface="Palatino Linotype"/>
              </a:rPr>
              <a:t> </a:t>
            </a:r>
            <a:r>
              <a:rPr sz="1600" kern="1200" spc="-10" dirty="0">
                <a:solidFill>
                  <a:prstClr val="black"/>
                </a:solidFill>
                <a:latin typeface="Palatino Linotype"/>
                <a:cs typeface="Palatino Linotype"/>
              </a:rPr>
              <a:t>the</a:t>
            </a:r>
            <a:r>
              <a:rPr sz="1600" kern="1200" spc="25" dirty="0">
                <a:solidFill>
                  <a:prstClr val="black"/>
                </a:solidFill>
                <a:latin typeface="Palatino Linotype"/>
                <a:cs typeface="Palatino Linotype"/>
              </a:rPr>
              <a:t> </a:t>
            </a:r>
            <a:r>
              <a:rPr sz="1600" kern="1200" spc="-5" dirty="0">
                <a:solidFill>
                  <a:prstClr val="black"/>
                </a:solidFill>
                <a:latin typeface="Palatino Linotype"/>
                <a:cs typeface="Palatino Linotype"/>
              </a:rPr>
              <a:t>short-circuit</a:t>
            </a:r>
            <a:r>
              <a:rPr sz="1600" kern="1200" spc="40" dirty="0">
                <a:solidFill>
                  <a:prstClr val="black"/>
                </a:solidFill>
                <a:latin typeface="Palatino Linotype"/>
                <a:cs typeface="Palatino Linotype"/>
              </a:rPr>
              <a:t> </a:t>
            </a:r>
            <a:r>
              <a:rPr sz="1600" kern="1200" spc="-5" dirty="0">
                <a:solidFill>
                  <a:prstClr val="black"/>
                </a:solidFill>
                <a:latin typeface="Palatino Linotype"/>
                <a:cs typeface="Palatino Linotype"/>
              </a:rPr>
              <a:t>translation,</a:t>
            </a:r>
            <a:r>
              <a:rPr sz="1600" kern="1200" spc="40" dirty="0">
                <a:solidFill>
                  <a:prstClr val="black"/>
                </a:solidFill>
                <a:latin typeface="Palatino Linotype"/>
                <a:cs typeface="Palatino Linotype"/>
              </a:rPr>
              <a:t> </a:t>
            </a:r>
            <a:r>
              <a:rPr sz="1600" kern="1200" spc="-45" dirty="0">
                <a:solidFill>
                  <a:prstClr val="black"/>
                </a:solidFill>
                <a:latin typeface="Cambria Math"/>
                <a:cs typeface="Cambria Math"/>
              </a:rPr>
              <a:t>𝐵</a:t>
            </a:r>
            <a:r>
              <a:rPr sz="1600" kern="1200" spc="-45" dirty="0">
                <a:solidFill>
                  <a:prstClr val="black"/>
                </a:solidFill>
                <a:latin typeface="Palatino Linotype"/>
                <a:cs typeface="Palatino Linotype"/>
              </a:rPr>
              <a:t>’s</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code</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contains</a:t>
            </a:r>
            <a:r>
              <a:rPr sz="1600" kern="1200" spc="35" dirty="0">
                <a:solidFill>
                  <a:prstClr val="black"/>
                </a:solidFill>
                <a:latin typeface="Palatino Linotype"/>
                <a:cs typeface="Palatino Linotype"/>
              </a:rPr>
              <a:t> </a:t>
            </a:r>
            <a:r>
              <a:rPr sz="1600" kern="1200" spc="-5" dirty="0">
                <a:solidFill>
                  <a:prstClr val="black"/>
                </a:solidFill>
                <a:latin typeface="Palatino Linotype"/>
                <a:cs typeface="Palatino Linotype"/>
              </a:rPr>
              <a:t>a</a:t>
            </a:r>
            <a:r>
              <a:rPr sz="1600" kern="1200" spc="5" dirty="0">
                <a:solidFill>
                  <a:prstClr val="black"/>
                </a:solidFill>
                <a:latin typeface="Palatino Linotype"/>
                <a:cs typeface="Palatino Linotype"/>
              </a:rPr>
              <a:t> </a:t>
            </a:r>
            <a:r>
              <a:rPr sz="1600" kern="1200" spc="-10" dirty="0">
                <a:solidFill>
                  <a:prstClr val="black"/>
                </a:solidFill>
                <a:latin typeface="Palatino Linotype"/>
                <a:cs typeface="Palatino Linotype"/>
              </a:rPr>
              <a:t>jump</a:t>
            </a:r>
            <a:r>
              <a:rPr sz="1600" kern="1200" spc="10" dirty="0">
                <a:solidFill>
                  <a:prstClr val="black"/>
                </a:solidFill>
                <a:latin typeface="Palatino Linotype"/>
                <a:cs typeface="Palatino Linotype"/>
              </a:rPr>
              <a:t> </a:t>
            </a:r>
            <a:r>
              <a:rPr sz="1600" kern="1200" spc="-10" dirty="0">
                <a:solidFill>
                  <a:prstClr val="black"/>
                </a:solidFill>
                <a:latin typeface="Palatino Linotype"/>
                <a:cs typeface="Palatino Linotype"/>
              </a:rPr>
              <a:t>to</a:t>
            </a:r>
            <a:r>
              <a:rPr sz="1600" kern="1200" spc="10" dirty="0">
                <a:solidFill>
                  <a:prstClr val="black"/>
                </a:solidFill>
                <a:latin typeface="Palatino Linotype"/>
                <a:cs typeface="Palatino Linotype"/>
              </a:rPr>
              <a:t> </a:t>
            </a:r>
            <a:r>
              <a:rPr sz="1600" kern="1200" spc="-10" dirty="0">
                <a:solidFill>
                  <a:prstClr val="black"/>
                </a:solidFill>
                <a:latin typeface="Palatino Linotype"/>
                <a:cs typeface="Palatino Linotype"/>
              </a:rPr>
              <a:t>the</a:t>
            </a:r>
            <a:endParaRPr sz="1600" kern="1200" dirty="0">
              <a:solidFill>
                <a:prstClr val="black"/>
              </a:solidFill>
              <a:latin typeface="Palatino Linotype"/>
              <a:cs typeface="Palatino Linotype"/>
            </a:endParaRPr>
          </a:p>
          <a:p>
            <a:pPr marL="697865" rtl="0">
              <a:spcBef>
                <a:spcPts val="385"/>
              </a:spcBef>
            </a:pPr>
            <a:r>
              <a:rPr sz="1600" kern="1200" spc="-5" dirty="0">
                <a:solidFill>
                  <a:prstClr val="black"/>
                </a:solidFill>
                <a:latin typeface="Palatino Linotype"/>
                <a:cs typeface="Palatino Linotype"/>
              </a:rPr>
              <a:t>instruction</a:t>
            </a:r>
            <a:r>
              <a:rPr sz="1600" kern="1200" spc="35" dirty="0">
                <a:solidFill>
                  <a:prstClr val="black"/>
                </a:solidFill>
                <a:latin typeface="Palatino Linotype"/>
                <a:cs typeface="Palatino Linotype"/>
              </a:rPr>
              <a:t> </a:t>
            </a:r>
            <a:r>
              <a:rPr sz="1600" kern="1200" spc="-5" dirty="0">
                <a:solidFill>
                  <a:prstClr val="black"/>
                </a:solidFill>
                <a:latin typeface="Palatino Linotype"/>
                <a:cs typeface="Palatino Linotype"/>
              </a:rPr>
              <a:t>following</a:t>
            </a:r>
            <a:r>
              <a:rPr sz="1600" kern="1200" spc="5" dirty="0">
                <a:solidFill>
                  <a:prstClr val="black"/>
                </a:solidFill>
                <a:latin typeface="Palatino Linotype"/>
                <a:cs typeface="Palatino Linotype"/>
              </a:rPr>
              <a:t> </a:t>
            </a:r>
            <a:r>
              <a:rPr sz="1600" kern="1200" spc="-10" dirty="0">
                <a:solidFill>
                  <a:prstClr val="black"/>
                </a:solidFill>
                <a:latin typeface="Palatino Linotype"/>
                <a:cs typeface="Palatino Linotype"/>
              </a:rPr>
              <a:t>the</a:t>
            </a:r>
            <a:r>
              <a:rPr sz="1600" kern="1200" spc="25" dirty="0">
                <a:solidFill>
                  <a:prstClr val="black"/>
                </a:solidFill>
                <a:latin typeface="Palatino Linotype"/>
                <a:cs typeface="Palatino Linotype"/>
              </a:rPr>
              <a:t> </a:t>
            </a:r>
            <a:r>
              <a:rPr sz="1600" kern="1200" spc="-5" dirty="0">
                <a:solidFill>
                  <a:prstClr val="black"/>
                </a:solidFill>
                <a:latin typeface="Palatino Linotype"/>
                <a:cs typeface="Palatino Linotype"/>
              </a:rPr>
              <a:t>code for</a:t>
            </a:r>
            <a:r>
              <a:rPr sz="1600" kern="1200" spc="45" dirty="0">
                <a:solidFill>
                  <a:prstClr val="black"/>
                </a:solidFill>
                <a:latin typeface="Palatino Linotype"/>
                <a:cs typeface="Palatino Linotype"/>
              </a:rPr>
              <a:t> </a:t>
            </a:r>
            <a:r>
              <a:rPr sz="1600" kern="1200" spc="-5" dirty="0">
                <a:solidFill>
                  <a:prstClr val="black"/>
                </a:solidFill>
                <a:latin typeface="Cambria Math"/>
                <a:cs typeface="Cambria Math"/>
              </a:rPr>
              <a:t>𝑆</a:t>
            </a:r>
            <a:r>
              <a:rPr sz="1600" kern="1200" spc="75" dirty="0">
                <a:solidFill>
                  <a:prstClr val="black"/>
                </a:solidFill>
                <a:latin typeface="Cambria Math"/>
                <a:cs typeface="Cambria Math"/>
              </a:rPr>
              <a:t> </a:t>
            </a:r>
            <a:r>
              <a:rPr sz="1600" kern="1200" spc="-5" dirty="0">
                <a:solidFill>
                  <a:prstClr val="black"/>
                </a:solidFill>
                <a:latin typeface="Palatino Linotype"/>
                <a:cs typeface="Palatino Linotype"/>
              </a:rPr>
              <a:t>(executed</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when</a:t>
            </a:r>
            <a:r>
              <a:rPr sz="1600" kern="1200" spc="30" dirty="0">
                <a:solidFill>
                  <a:prstClr val="black"/>
                </a:solidFill>
                <a:latin typeface="Palatino Linotype"/>
                <a:cs typeface="Palatino Linotype"/>
              </a:rPr>
              <a:t> </a:t>
            </a:r>
            <a:r>
              <a:rPr sz="1600" kern="1200" spc="-5" dirty="0">
                <a:solidFill>
                  <a:prstClr val="black"/>
                </a:solidFill>
                <a:latin typeface="Cambria Math"/>
                <a:cs typeface="Cambria Math"/>
              </a:rPr>
              <a:t>𝐵</a:t>
            </a:r>
            <a:r>
              <a:rPr sz="1600" kern="1200" spc="90" dirty="0">
                <a:solidFill>
                  <a:prstClr val="black"/>
                </a:solidFill>
                <a:latin typeface="Cambria Math"/>
                <a:cs typeface="Cambria Math"/>
              </a:rPr>
              <a:t> </a:t>
            </a:r>
            <a:r>
              <a:rPr sz="1600" kern="1200" spc="-5" dirty="0">
                <a:solidFill>
                  <a:prstClr val="black"/>
                </a:solidFill>
                <a:latin typeface="Palatino Linotype"/>
                <a:cs typeface="Palatino Linotype"/>
              </a:rPr>
              <a:t>is false)</a:t>
            </a:r>
            <a:endParaRPr sz="1600" kern="1200" dirty="0">
              <a:solidFill>
                <a:prstClr val="black"/>
              </a:solidFill>
              <a:latin typeface="Palatino Linotype"/>
              <a:cs typeface="Palatino Linotype"/>
            </a:endParaRPr>
          </a:p>
          <a:p>
            <a:pPr marL="697865" marR="121285" lvl="1" indent="-228600" rtl="0">
              <a:lnSpc>
                <a:spcPct val="120000"/>
              </a:lnSpc>
              <a:spcBef>
                <a:spcPts val="600"/>
              </a:spcBef>
              <a:buFont typeface="Wingdings"/>
              <a:buChar char=""/>
              <a:tabLst>
                <a:tab pos="697865" algn="l"/>
                <a:tab pos="698500" algn="l"/>
              </a:tabLst>
            </a:pPr>
            <a:r>
              <a:rPr sz="1600" kern="1200" spc="-15" dirty="0">
                <a:solidFill>
                  <a:prstClr val="black"/>
                </a:solidFill>
                <a:latin typeface="Palatino Linotype"/>
                <a:cs typeface="Palatino Linotype"/>
              </a:rPr>
              <a:t>However,</a:t>
            </a:r>
            <a:r>
              <a:rPr sz="1600" kern="1200" spc="-5" dirty="0">
                <a:solidFill>
                  <a:prstClr val="black"/>
                </a:solidFill>
                <a:latin typeface="Palatino Linotype"/>
                <a:cs typeface="Palatino Linotype"/>
              </a:rPr>
              <a:t> </a:t>
            </a:r>
            <a:r>
              <a:rPr sz="1600" kern="1200" spc="-5" dirty="0">
                <a:solidFill>
                  <a:prstClr val="black"/>
                </a:solidFill>
                <a:latin typeface="Cambria Math"/>
                <a:cs typeface="Cambria Math"/>
              </a:rPr>
              <a:t>𝐵</a:t>
            </a:r>
            <a:r>
              <a:rPr sz="1600" kern="1200" spc="85" dirty="0">
                <a:solidFill>
                  <a:prstClr val="black"/>
                </a:solidFill>
                <a:latin typeface="Cambria Math"/>
                <a:cs typeface="Cambria Math"/>
              </a:rPr>
              <a:t> </a:t>
            </a:r>
            <a:r>
              <a:rPr sz="1600" kern="1200" spc="-10" dirty="0">
                <a:solidFill>
                  <a:prstClr val="black"/>
                </a:solidFill>
                <a:latin typeface="Palatino Linotype"/>
                <a:cs typeface="Palatino Linotype"/>
              </a:rPr>
              <a:t>must</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be translated</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before</a:t>
            </a:r>
            <a:r>
              <a:rPr sz="1600" kern="1200" spc="30" dirty="0">
                <a:solidFill>
                  <a:prstClr val="black"/>
                </a:solidFill>
                <a:latin typeface="Palatino Linotype"/>
                <a:cs typeface="Palatino Linotype"/>
              </a:rPr>
              <a:t> </a:t>
            </a:r>
            <a:r>
              <a:rPr sz="1600" kern="1200" spc="10" dirty="0">
                <a:solidFill>
                  <a:prstClr val="black"/>
                </a:solidFill>
                <a:latin typeface="Cambria Math"/>
                <a:cs typeface="Cambria Math"/>
              </a:rPr>
              <a:t>𝑆</a:t>
            </a:r>
            <a:r>
              <a:rPr sz="1600" kern="1200" spc="10" dirty="0">
                <a:solidFill>
                  <a:prstClr val="black"/>
                </a:solidFill>
                <a:latin typeface="Palatino Linotype"/>
                <a:cs typeface="Palatino Linotype"/>
              </a:rPr>
              <a:t>.</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The</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jump</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target</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is</a:t>
            </a:r>
            <a:r>
              <a:rPr sz="1600" kern="1200" spc="5" dirty="0">
                <a:solidFill>
                  <a:prstClr val="black"/>
                </a:solidFill>
                <a:latin typeface="Palatino Linotype"/>
                <a:cs typeface="Palatino Linotype"/>
              </a:rPr>
              <a:t> </a:t>
            </a:r>
            <a:r>
              <a:rPr sz="1600" kern="1200" spc="-10" dirty="0">
                <a:solidFill>
                  <a:prstClr val="black"/>
                </a:solidFill>
                <a:latin typeface="Palatino Linotype"/>
                <a:cs typeface="Palatino Linotype"/>
              </a:rPr>
              <a:t>unknown</a:t>
            </a:r>
            <a:r>
              <a:rPr sz="1600" kern="1200" spc="50" dirty="0">
                <a:solidFill>
                  <a:prstClr val="black"/>
                </a:solidFill>
                <a:latin typeface="Palatino Linotype"/>
                <a:cs typeface="Palatino Linotype"/>
              </a:rPr>
              <a:t> </a:t>
            </a:r>
            <a:r>
              <a:rPr sz="1600" kern="1200" spc="-5" dirty="0">
                <a:solidFill>
                  <a:prstClr val="black"/>
                </a:solidFill>
                <a:latin typeface="Palatino Linotype"/>
                <a:cs typeface="Palatino Linotype"/>
              </a:rPr>
              <a:t>when </a:t>
            </a:r>
            <a:r>
              <a:rPr sz="1600" kern="1200" spc="-385" dirty="0">
                <a:solidFill>
                  <a:prstClr val="black"/>
                </a:solidFill>
                <a:latin typeface="Palatino Linotype"/>
                <a:cs typeface="Palatino Linotype"/>
              </a:rPr>
              <a:t> </a:t>
            </a:r>
            <a:r>
              <a:rPr sz="1600" kern="1200" spc="-5" dirty="0">
                <a:solidFill>
                  <a:prstClr val="black"/>
                </a:solidFill>
                <a:latin typeface="Palatino Linotype"/>
                <a:cs typeface="Palatino Linotype"/>
              </a:rPr>
              <a:t>translating</a:t>
            </a:r>
            <a:r>
              <a:rPr sz="1600" kern="1200" spc="30" dirty="0">
                <a:solidFill>
                  <a:prstClr val="black"/>
                </a:solidFill>
                <a:latin typeface="Palatino Linotype"/>
                <a:cs typeface="Palatino Linotype"/>
              </a:rPr>
              <a:t> </a:t>
            </a:r>
            <a:r>
              <a:rPr sz="1600" kern="1200" spc="-5" dirty="0">
                <a:solidFill>
                  <a:prstClr val="black"/>
                </a:solidFill>
                <a:latin typeface="Cambria Math"/>
                <a:cs typeface="Cambria Math"/>
              </a:rPr>
              <a:t>𝐵</a:t>
            </a:r>
            <a:endParaRPr sz="1600" kern="1200" dirty="0">
              <a:solidFill>
                <a:prstClr val="black"/>
              </a:solidFill>
              <a:latin typeface="Cambria Math"/>
              <a:cs typeface="Cambria Math"/>
            </a:endParaRPr>
          </a:p>
          <a:p>
            <a:pPr marL="697865" lvl="1" indent="-228600" rtl="0">
              <a:spcBef>
                <a:spcPts val="985"/>
              </a:spcBef>
              <a:buFont typeface="Wingdings"/>
              <a:buChar char=""/>
              <a:tabLst>
                <a:tab pos="697865" algn="l"/>
                <a:tab pos="698500" algn="l"/>
              </a:tabLst>
            </a:pPr>
            <a:r>
              <a:rPr sz="1600" kern="1200" spc="-10" dirty="0">
                <a:solidFill>
                  <a:prstClr val="black"/>
                </a:solidFill>
                <a:latin typeface="Palatino Linotype"/>
                <a:cs typeface="Palatino Linotype"/>
              </a:rPr>
              <a:t>Earlier,</a:t>
            </a:r>
            <a:r>
              <a:rPr sz="1600" kern="1200" spc="-20" dirty="0">
                <a:solidFill>
                  <a:prstClr val="black"/>
                </a:solidFill>
                <a:latin typeface="Palatino Linotype"/>
                <a:cs typeface="Palatino Linotype"/>
              </a:rPr>
              <a:t> we</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address</a:t>
            </a:r>
            <a:r>
              <a:rPr sz="1600" kern="1200" dirty="0">
                <a:solidFill>
                  <a:prstClr val="black"/>
                </a:solidFill>
                <a:latin typeface="Palatino Linotype"/>
                <a:cs typeface="Palatino Linotype"/>
              </a:rPr>
              <a:t> </a:t>
            </a:r>
            <a:r>
              <a:rPr sz="1600" kern="1200" spc="-10" dirty="0">
                <a:solidFill>
                  <a:prstClr val="black"/>
                </a:solidFill>
                <a:latin typeface="Palatino Linotype"/>
                <a:cs typeface="Palatino Linotype"/>
              </a:rPr>
              <a:t>the</a:t>
            </a:r>
            <a:r>
              <a:rPr sz="1600" kern="1200" spc="25" dirty="0">
                <a:solidFill>
                  <a:prstClr val="black"/>
                </a:solidFill>
                <a:latin typeface="Palatino Linotype"/>
                <a:cs typeface="Palatino Linotype"/>
              </a:rPr>
              <a:t> </a:t>
            </a:r>
            <a:r>
              <a:rPr sz="1600" kern="1200" spc="-5" dirty="0">
                <a:solidFill>
                  <a:prstClr val="black"/>
                </a:solidFill>
                <a:latin typeface="Palatino Linotype"/>
                <a:cs typeface="Palatino Linotype"/>
              </a:rPr>
              <a:t>problem</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by</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passing</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labels</a:t>
            </a:r>
            <a:r>
              <a:rPr sz="1600" kern="1200" spc="-30" dirty="0">
                <a:solidFill>
                  <a:prstClr val="black"/>
                </a:solidFill>
                <a:latin typeface="Palatino Linotype"/>
                <a:cs typeface="Palatino Linotype"/>
              </a:rPr>
              <a:t> </a:t>
            </a:r>
            <a:r>
              <a:rPr sz="1600" kern="1200" spc="-5" dirty="0">
                <a:solidFill>
                  <a:prstClr val="black"/>
                </a:solidFill>
                <a:latin typeface="Palatino Linotype"/>
                <a:cs typeface="Palatino Linotype"/>
              </a:rPr>
              <a:t>as inherited</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attributes</a:t>
            </a:r>
            <a:endParaRPr sz="1600" kern="1200" dirty="0">
              <a:solidFill>
                <a:prstClr val="black"/>
              </a:solidFill>
              <a:latin typeface="Palatino Linotype"/>
              <a:cs typeface="Palatino Linotype"/>
            </a:endParaRPr>
          </a:p>
          <a:p>
            <a:pPr marL="697865" rtl="0">
              <a:spcBef>
                <a:spcPts val="385"/>
              </a:spcBef>
            </a:pPr>
            <a:r>
              <a:rPr sz="1600" kern="1200" spc="5" dirty="0">
                <a:solidFill>
                  <a:prstClr val="black"/>
                </a:solidFill>
                <a:latin typeface="Palatino Linotype"/>
                <a:cs typeface="Palatino Linotype"/>
              </a:rPr>
              <a:t>(</a:t>
            </a:r>
            <a:r>
              <a:rPr sz="1600" kern="1200" spc="5" dirty="0">
                <a:solidFill>
                  <a:prstClr val="black"/>
                </a:solidFill>
                <a:latin typeface="Cambria Math"/>
                <a:cs typeface="Cambria Math"/>
              </a:rPr>
              <a:t>𝑆.</a:t>
            </a:r>
            <a:r>
              <a:rPr sz="1600" kern="1200" spc="-80" dirty="0">
                <a:solidFill>
                  <a:prstClr val="black"/>
                </a:solidFill>
                <a:latin typeface="Cambria Math"/>
                <a:cs typeface="Cambria Math"/>
              </a:rPr>
              <a:t> </a:t>
            </a:r>
            <a:r>
              <a:rPr sz="1600" kern="1200" spc="5" dirty="0">
                <a:solidFill>
                  <a:prstClr val="black"/>
                </a:solidFill>
                <a:latin typeface="Cambria Math"/>
                <a:cs typeface="Cambria Math"/>
              </a:rPr>
              <a:t>𝑛𝑒𝑥𝑡</a:t>
            </a:r>
            <a:r>
              <a:rPr sz="1600" kern="1200" spc="5" dirty="0">
                <a:solidFill>
                  <a:prstClr val="black"/>
                </a:solidFill>
                <a:latin typeface="Palatino Linotype"/>
                <a:cs typeface="Palatino Linotype"/>
              </a:rPr>
              <a:t>),</a:t>
            </a:r>
            <a:r>
              <a:rPr sz="1600" kern="1200" spc="20" dirty="0">
                <a:solidFill>
                  <a:prstClr val="black"/>
                </a:solidFill>
                <a:latin typeface="Palatino Linotype"/>
                <a:cs typeface="Palatino Linotype"/>
              </a:rPr>
              <a:t> </a:t>
            </a:r>
            <a:r>
              <a:rPr sz="1600" kern="1200" spc="-5" dirty="0">
                <a:solidFill>
                  <a:prstClr val="black"/>
                </a:solidFill>
                <a:latin typeface="Palatino Linotype"/>
                <a:cs typeface="Palatino Linotype"/>
              </a:rPr>
              <a:t>but</a:t>
            </a:r>
            <a:r>
              <a:rPr sz="1600" kern="1200" spc="5" dirty="0">
                <a:solidFill>
                  <a:prstClr val="black"/>
                </a:solidFill>
                <a:latin typeface="Palatino Linotype"/>
                <a:cs typeface="Palatino Linotype"/>
              </a:rPr>
              <a:t> </a:t>
            </a:r>
            <a:r>
              <a:rPr sz="1600" kern="1200" spc="-10" dirty="0">
                <a:solidFill>
                  <a:prstClr val="black"/>
                </a:solidFill>
                <a:latin typeface="Palatino Linotype"/>
                <a:cs typeface="Palatino Linotype"/>
              </a:rPr>
              <a:t>this</a:t>
            </a:r>
            <a:r>
              <a:rPr sz="1600" kern="1200" spc="25" dirty="0">
                <a:solidFill>
                  <a:prstClr val="black"/>
                </a:solidFill>
                <a:latin typeface="Palatino Linotype"/>
                <a:cs typeface="Palatino Linotype"/>
              </a:rPr>
              <a:t> </a:t>
            </a:r>
            <a:r>
              <a:rPr sz="1600" kern="1200" spc="-5" dirty="0">
                <a:solidFill>
                  <a:prstClr val="black"/>
                </a:solidFill>
                <a:latin typeface="Palatino Linotype"/>
                <a:cs typeface="Palatino Linotype"/>
              </a:rPr>
              <a:t>requires</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another</a:t>
            </a:r>
            <a:r>
              <a:rPr sz="1600" kern="1200" spc="40" dirty="0">
                <a:solidFill>
                  <a:prstClr val="black"/>
                </a:solidFill>
                <a:latin typeface="Palatino Linotype"/>
                <a:cs typeface="Palatino Linotype"/>
              </a:rPr>
              <a:t> </a:t>
            </a:r>
            <a:r>
              <a:rPr sz="1600" kern="1200" spc="-5" dirty="0">
                <a:solidFill>
                  <a:prstClr val="black"/>
                </a:solidFill>
                <a:latin typeface="Palatino Linotype"/>
                <a:cs typeface="Palatino Linotype"/>
              </a:rPr>
              <a:t>separate</a:t>
            </a:r>
            <a:r>
              <a:rPr sz="1600" kern="1200" spc="5" dirty="0">
                <a:solidFill>
                  <a:prstClr val="black"/>
                </a:solidFill>
                <a:latin typeface="Palatino Linotype"/>
                <a:cs typeface="Palatino Linotype"/>
              </a:rPr>
              <a:t> </a:t>
            </a:r>
            <a:r>
              <a:rPr sz="1600" kern="1200" spc="-10" dirty="0">
                <a:solidFill>
                  <a:prstClr val="black"/>
                </a:solidFill>
                <a:latin typeface="Palatino Linotype"/>
                <a:cs typeface="Palatino Linotype"/>
              </a:rPr>
              <a:t>pass</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to</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bind</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labels</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to</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addresses</a:t>
            </a:r>
            <a:endParaRPr sz="1600" kern="1200" dirty="0">
              <a:solidFill>
                <a:prstClr val="black"/>
              </a:solidFill>
              <a:latin typeface="Palatino Linotype"/>
              <a:cs typeface="Palatino Linotype"/>
            </a:endParaRPr>
          </a:p>
        </p:txBody>
      </p:sp>
      <p:pic>
        <p:nvPicPr>
          <p:cNvPr id="12" name="object 4">
            <a:extLst>
              <a:ext uri="{FF2B5EF4-FFF2-40B4-BE49-F238E27FC236}">
                <a16:creationId xmlns:a16="http://schemas.microsoft.com/office/drawing/2014/main" id="{D9F568B1-BA26-C470-F3C7-38040D691E02}"/>
              </a:ext>
            </a:extLst>
          </p:cNvPr>
          <p:cNvPicPr/>
          <p:nvPr/>
        </p:nvPicPr>
        <p:blipFill>
          <a:blip r:embed="rId3" cstate="print"/>
          <a:stretch>
            <a:fillRect/>
          </a:stretch>
        </p:blipFill>
        <p:spPr>
          <a:xfrm>
            <a:off x="7095553" y="5002434"/>
            <a:ext cx="745807" cy="1052417"/>
          </a:xfrm>
          <a:prstGeom prst="rect">
            <a:avLst/>
          </a:prstGeom>
        </p:spPr>
      </p:pic>
      <p:sp>
        <p:nvSpPr>
          <p:cNvPr id="13" name="object 5">
            <a:extLst>
              <a:ext uri="{FF2B5EF4-FFF2-40B4-BE49-F238E27FC236}">
                <a16:creationId xmlns:a16="http://schemas.microsoft.com/office/drawing/2014/main" id="{D0C110BB-BE59-F249-5131-B7034AC60AFA}"/>
              </a:ext>
            </a:extLst>
          </p:cNvPr>
          <p:cNvSpPr txBox="1"/>
          <p:nvPr/>
        </p:nvSpPr>
        <p:spPr>
          <a:xfrm>
            <a:off x="1200911" y="5251703"/>
            <a:ext cx="5494020" cy="547370"/>
          </a:xfrm>
          <a:prstGeom prst="rect">
            <a:avLst/>
          </a:prstGeom>
          <a:solidFill>
            <a:srgbClr val="FFF1CC"/>
          </a:solidFill>
          <a:ln w="9525">
            <a:solidFill>
              <a:srgbClr val="000000"/>
            </a:solidFill>
          </a:ln>
        </p:spPr>
        <p:txBody>
          <a:bodyPr vert="horz" wrap="square" lIns="0" tIns="121920" rIns="0" bIns="0" rtlCol="0">
            <a:spAutoFit/>
          </a:bodyPr>
          <a:lstStyle/>
          <a:p>
            <a:pPr algn="ctr" rtl="0">
              <a:spcBef>
                <a:spcPts val="960"/>
              </a:spcBef>
            </a:pPr>
            <a:r>
              <a:rPr kern="1200" spc="-5" dirty="0">
                <a:solidFill>
                  <a:srgbClr val="FF0000"/>
                </a:solidFill>
                <a:latin typeface="Palatino Linotype"/>
                <a:cs typeface="Palatino Linotype"/>
              </a:rPr>
              <a:t>How</a:t>
            </a:r>
            <a:r>
              <a:rPr kern="1200" dirty="0">
                <a:solidFill>
                  <a:srgbClr val="FF0000"/>
                </a:solidFill>
                <a:latin typeface="Palatino Linotype"/>
                <a:cs typeface="Palatino Linotype"/>
              </a:rPr>
              <a:t> </a:t>
            </a:r>
            <a:r>
              <a:rPr kern="1200" spc="-5" dirty="0">
                <a:solidFill>
                  <a:srgbClr val="FF0000"/>
                </a:solidFill>
                <a:latin typeface="Palatino Linotype"/>
                <a:cs typeface="Palatino Linotype"/>
              </a:rPr>
              <a:t>to</a:t>
            </a:r>
            <a:r>
              <a:rPr kern="1200" dirty="0">
                <a:solidFill>
                  <a:srgbClr val="FF0000"/>
                </a:solidFill>
                <a:latin typeface="Palatino Linotype"/>
                <a:cs typeface="Palatino Linotype"/>
              </a:rPr>
              <a:t> address</a:t>
            </a:r>
            <a:r>
              <a:rPr kern="1200" spc="-20" dirty="0">
                <a:solidFill>
                  <a:srgbClr val="FF0000"/>
                </a:solidFill>
                <a:latin typeface="Palatino Linotype"/>
                <a:cs typeface="Palatino Linotype"/>
              </a:rPr>
              <a:t> </a:t>
            </a:r>
            <a:r>
              <a:rPr kern="1200" spc="-5" dirty="0">
                <a:solidFill>
                  <a:srgbClr val="FF0000"/>
                </a:solidFill>
                <a:latin typeface="Palatino Linotype"/>
                <a:cs typeface="Palatino Linotype"/>
              </a:rPr>
              <a:t>the</a:t>
            </a:r>
            <a:r>
              <a:rPr kern="1200" spc="-10" dirty="0">
                <a:solidFill>
                  <a:srgbClr val="FF0000"/>
                </a:solidFill>
                <a:latin typeface="Palatino Linotype"/>
                <a:cs typeface="Palatino Linotype"/>
              </a:rPr>
              <a:t> </a:t>
            </a:r>
            <a:r>
              <a:rPr kern="1200" spc="-5" dirty="0">
                <a:solidFill>
                  <a:srgbClr val="FF0000"/>
                </a:solidFill>
                <a:latin typeface="Palatino Linotype"/>
                <a:cs typeface="Palatino Linotype"/>
              </a:rPr>
              <a:t>problem</a:t>
            </a:r>
            <a:r>
              <a:rPr kern="1200" spc="5" dirty="0">
                <a:solidFill>
                  <a:srgbClr val="FF0000"/>
                </a:solidFill>
                <a:latin typeface="Palatino Linotype"/>
                <a:cs typeface="Palatino Linotype"/>
              </a:rPr>
              <a:t> </a:t>
            </a:r>
            <a:r>
              <a:rPr kern="1200" spc="-5" dirty="0">
                <a:solidFill>
                  <a:srgbClr val="FF0000"/>
                </a:solidFill>
                <a:latin typeface="Palatino Linotype"/>
                <a:cs typeface="Palatino Linotype"/>
              </a:rPr>
              <a:t>in</a:t>
            </a:r>
            <a:r>
              <a:rPr kern="1200" spc="-15" dirty="0">
                <a:solidFill>
                  <a:srgbClr val="FF0000"/>
                </a:solidFill>
                <a:latin typeface="Palatino Linotype"/>
                <a:cs typeface="Palatino Linotype"/>
              </a:rPr>
              <a:t> </a:t>
            </a:r>
            <a:r>
              <a:rPr kern="1200" dirty="0">
                <a:solidFill>
                  <a:srgbClr val="FF0000"/>
                </a:solidFill>
                <a:latin typeface="Palatino Linotype"/>
                <a:cs typeface="Palatino Linotype"/>
              </a:rPr>
              <a:t>one</a:t>
            </a:r>
            <a:r>
              <a:rPr kern="1200" spc="10" dirty="0">
                <a:solidFill>
                  <a:srgbClr val="FF0000"/>
                </a:solidFill>
                <a:latin typeface="Palatino Linotype"/>
                <a:cs typeface="Palatino Linotype"/>
              </a:rPr>
              <a:t> </a:t>
            </a:r>
            <a:r>
              <a:rPr kern="1200" spc="-5" dirty="0">
                <a:solidFill>
                  <a:srgbClr val="FF0000"/>
                </a:solidFill>
                <a:latin typeface="Palatino Linotype"/>
                <a:cs typeface="Palatino Linotype"/>
              </a:rPr>
              <a:t>pass?</a:t>
            </a:r>
            <a:endParaRPr kern="1200">
              <a:solidFill>
                <a:prstClr val="black"/>
              </a:solidFill>
              <a:latin typeface="Palatino Linotype"/>
              <a:cs typeface="Palatino Linotype"/>
            </a:endParaRPr>
          </a:p>
        </p:txBody>
      </p:sp>
      <p:sp>
        <p:nvSpPr>
          <p:cNvPr id="14" name="object 6">
            <a:extLst>
              <a:ext uri="{FF2B5EF4-FFF2-40B4-BE49-F238E27FC236}">
                <a16:creationId xmlns:a16="http://schemas.microsoft.com/office/drawing/2014/main" id="{92B6ABF7-AD37-57FB-C128-3499726FC770}"/>
              </a:ext>
            </a:extLst>
          </p:cNvPr>
          <p:cNvSpPr txBox="1"/>
          <p:nvPr/>
        </p:nvSpPr>
        <p:spPr>
          <a:xfrm>
            <a:off x="707542" y="6053429"/>
            <a:ext cx="2677795" cy="239395"/>
          </a:xfrm>
          <a:prstGeom prst="rect">
            <a:avLst/>
          </a:prstGeom>
        </p:spPr>
        <p:txBody>
          <a:bodyPr vert="horz" wrap="square" lIns="0" tIns="12700" rIns="0" bIns="0" rtlCol="0">
            <a:spAutoFit/>
          </a:bodyPr>
          <a:lstStyle/>
          <a:p>
            <a:pPr marL="12700" rtl="0">
              <a:spcBef>
                <a:spcPts val="100"/>
              </a:spcBef>
            </a:pPr>
            <a:r>
              <a:rPr sz="1400" kern="1200" dirty="0">
                <a:solidFill>
                  <a:srgbClr val="7E7E7E"/>
                </a:solidFill>
                <a:latin typeface="Palatino Linotype"/>
                <a:cs typeface="Palatino Linotype"/>
              </a:rPr>
              <a:t>*</a:t>
            </a:r>
            <a:r>
              <a:rPr sz="1400" kern="1200" spc="-10" dirty="0">
                <a:solidFill>
                  <a:srgbClr val="7E7E7E"/>
                </a:solidFill>
                <a:latin typeface="Palatino Linotype"/>
                <a:cs typeface="Palatino Linotype"/>
              </a:rPr>
              <a:t> Will</a:t>
            </a:r>
            <a:r>
              <a:rPr sz="1400" kern="1200" spc="-5" dirty="0">
                <a:solidFill>
                  <a:srgbClr val="7E7E7E"/>
                </a:solidFill>
                <a:latin typeface="Palatino Linotype"/>
                <a:cs typeface="Palatino Linotype"/>
              </a:rPr>
              <a:t> be </a:t>
            </a:r>
            <a:r>
              <a:rPr sz="1400" kern="1200" dirty="0">
                <a:solidFill>
                  <a:srgbClr val="7E7E7E"/>
                </a:solidFill>
                <a:latin typeface="Palatino Linotype"/>
                <a:cs typeface="Palatino Linotype"/>
              </a:rPr>
              <a:t>discussed</a:t>
            </a:r>
            <a:r>
              <a:rPr sz="1400" kern="1200" spc="-60" dirty="0">
                <a:solidFill>
                  <a:srgbClr val="7E7E7E"/>
                </a:solidFill>
                <a:latin typeface="Palatino Linotype"/>
                <a:cs typeface="Palatino Linotype"/>
              </a:rPr>
              <a:t> </a:t>
            </a:r>
            <a:r>
              <a:rPr sz="1400" kern="1200" dirty="0">
                <a:solidFill>
                  <a:srgbClr val="7E7E7E"/>
                </a:solidFill>
                <a:latin typeface="Palatino Linotype"/>
                <a:cs typeface="Palatino Linotype"/>
              </a:rPr>
              <a:t>in lab</a:t>
            </a:r>
            <a:r>
              <a:rPr sz="1400" kern="1200" spc="-25" dirty="0">
                <a:solidFill>
                  <a:srgbClr val="7E7E7E"/>
                </a:solidFill>
                <a:latin typeface="Palatino Linotype"/>
                <a:cs typeface="Palatino Linotype"/>
              </a:rPr>
              <a:t> </a:t>
            </a:r>
            <a:r>
              <a:rPr sz="1400" kern="1200" dirty="0">
                <a:solidFill>
                  <a:srgbClr val="7E7E7E"/>
                </a:solidFill>
                <a:latin typeface="Palatino Linotype"/>
                <a:cs typeface="Palatino Linotype"/>
              </a:rPr>
              <a:t>sessions</a:t>
            </a:r>
            <a:endParaRPr sz="1400" kern="1200">
              <a:solidFill>
                <a:prstClr val="black"/>
              </a:solidFill>
              <a:latin typeface="Palatino Linotype"/>
              <a:cs typeface="Palatino Linotype"/>
            </a:endParaRPr>
          </a:p>
        </p:txBody>
      </p:sp>
    </p:spTree>
    <p:extLst>
      <p:ext uri="{BB962C8B-B14F-4D97-AF65-F5344CB8AC3E}">
        <p14:creationId xmlns:p14="http://schemas.microsoft.com/office/powerpoint/2010/main" val="350600681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96</a:t>
            </a:fld>
            <a:endParaRPr lang="en-US"/>
          </a:p>
        </p:txBody>
      </p:sp>
      <p:sp>
        <p:nvSpPr>
          <p:cNvPr id="7" name="object 2">
            <a:extLst>
              <a:ext uri="{FF2B5EF4-FFF2-40B4-BE49-F238E27FC236}">
                <a16:creationId xmlns:a16="http://schemas.microsoft.com/office/drawing/2014/main" id="{F62E9ABD-AA8E-93A3-8A3A-B70CC67D1B9D}"/>
              </a:ext>
            </a:extLst>
          </p:cNvPr>
          <p:cNvSpPr txBox="1">
            <a:spLocks/>
          </p:cNvSpPr>
          <p:nvPr/>
        </p:nvSpPr>
        <p:spPr>
          <a:xfrm>
            <a:off x="1427480" y="341122"/>
            <a:ext cx="6285230" cy="12446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451484" marR="5080" lvl="0" indent="-43942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One-Pass </a:t>
            </a:r>
            <a:r>
              <a:rPr kumimoji="0" lang="en-US" sz="4000" b="1" i="0" u="none" strike="noStrike" kern="0" cap="none" spc="-10" normalizeH="0" baseline="0" noProof="0">
                <a:ln>
                  <a:noFill/>
                </a:ln>
                <a:solidFill>
                  <a:sysClr val="windowText" lastClr="000000"/>
                </a:solidFill>
                <a:effectLst/>
                <a:uLnTx/>
                <a:uFillTx/>
                <a:latin typeface="Palatino Linotype"/>
                <a:ea typeface="+mj-ea"/>
              </a:rPr>
              <a:t>Code </a:t>
            </a:r>
            <a:r>
              <a:rPr kumimoji="0" lang="en-US" sz="4000" b="1" i="0" u="none" strike="noStrike" kern="0" cap="none" spc="-5" normalizeH="0" baseline="0" noProof="0">
                <a:ln>
                  <a:noFill/>
                </a:ln>
                <a:solidFill>
                  <a:sysClr val="windowText" lastClr="000000"/>
                </a:solidFill>
                <a:effectLst/>
                <a:uLnTx/>
                <a:uFillTx/>
                <a:latin typeface="Palatino Linotype"/>
                <a:ea typeface="+mj-ea"/>
              </a:rPr>
              <a:t>Generation </a:t>
            </a:r>
            <a:r>
              <a:rPr kumimoji="0" lang="en-US" sz="4000" b="1" i="0" u="none" strike="noStrike" kern="0" cap="none" spc="-98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Using Backpatching</a:t>
            </a:r>
            <a:r>
              <a:rPr kumimoji="0" lang="en-US" sz="4000" b="1" i="0" u="none" strike="noStrike" kern="0" cap="none" spc="-2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(1)</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11852AE1-5274-B1CA-EC89-A211D936668C}"/>
              </a:ext>
            </a:extLst>
          </p:cNvPr>
          <p:cNvSpPr txBox="1"/>
          <p:nvPr/>
        </p:nvSpPr>
        <p:spPr>
          <a:xfrm>
            <a:off x="707542" y="1795224"/>
            <a:ext cx="7474584" cy="4038600"/>
          </a:xfrm>
          <a:prstGeom prst="rect">
            <a:avLst/>
          </a:prstGeom>
        </p:spPr>
        <p:txBody>
          <a:bodyPr vert="horz" wrap="square" lIns="0" tIns="189230" rIns="0" bIns="0" rtlCol="0">
            <a:spAutoFit/>
          </a:bodyPr>
          <a:lstStyle/>
          <a:p>
            <a:pPr marL="242570" indent="-230504" rtl="0">
              <a:spcBef>
                <a:spcPts val="1490"/>
              </a:spcBef>
              <a:buClr>
                <a:srgbClr val="000000"/>
              </a:buClr>
              <a:buFont typeface="Arial MT"/>
              <a:buChar char="•"/>
              <a:tabLst>
                <a:tab pos="242570" algn="l"/>
                <a:tab pos="243204" algn="l"/>
              </a:tabLst>
            </a:pPr>
            <a:r>
              <a:rPr sz="2000" b="1" kern="1200" dirty="0">
                <a:solidFill>
                  <a:srgbClr val="FF0000"/>
                </a:solidFill>
                <a:latin typeface="Palatino Linotype"/>
                <a:cs typeface="Palatino Linotype"/>
              </a:rPr>
              <a:t>Basic</a:t>
            </a:r>
            <a:r>
              <a:rPr sz="2000" b="1" kern="1200" spc="-10" dirty="0">
                <a:solidFill>
                  <a:srgbClr val="FF0000"/>
                </a:solidFill>
                <a:latin typeface="Palatino Linotype"/>
                <a:cs typeface="Palatino Linotype"/>
              </a:rPr>
              <a:t> </a:t>
            </a:r>
            <a:r>
              <a:rPr sz="2000" b="1" kern="1200" dirty="0">
                <a:solidFill>
                  <a:srgbClr val="FF0000"/>
                </a:solidFill>
                <a:latin typeface="Palatino Linotype"/>
                <a:cs typeface="Palatino Linotype"/>
              </a:rPr>
              <a:t>idea</a:t>
            </a:r>
            <a:r>
              <a:rPr sz="2000" b="1" kern="1200" spc="-35" dirty="0">
                <a:solidFill>
                  <a:srgbClr val="FF0000"/>
                </a:solidFill>
                <a:latin typeface="Palatino Linotype"/>
                <a:cs typeface="Palatino Linotype"/>
              </a:rPr>
              <a:t> </a:t>
            </a:r>
            <a:r>
              <a:rPr sz="2000" b="1" kern="1200" spc="-5" dirty="0">
                <a:solidFill>
                  <a:srgbClr val="FF0000"/>
                </a:solidFill>
                <a:latin typeface="Palatino Linotype"/>
                <a:cs typeface="Palatino Linotype"/>
              </a:rPr>
              <a:t>of</a:t>
            </a:r>
            <a:r>
              <a:rPr sz="2000" b="1" kern="1200" spc="-10" dirty="0">
                <a:solidFill>
                  <a:srgbClr val="FF0000"/>
                </a:solidFill>
                <a:latin typeface="Palatino Linotype"/>
                <a:cs typeface="Palatino Linotype"/>
              </a:rPr>
              <a:t> </a:t>
            </a:r>
            <a:r>
              <a:rPr sz="2000" b="1" kern="1200" dirty="0">
                <a:solidFill>
                  <a:srgbClr val="FF0000"/>
                </a:solidFill>
                <a:latin typeface="Palatino Linotype"/>
                <a:cs typeface="Palatino Linotype"/>
              </a:rPr>
              <a:t>backpatching</a:t>
            </a:r>
            <a:r>
              <a:rPr sz="2000" b="1" kern="1200" spc="-40" dirty="0">
                <a:solidFill>
                  <a:srgbClr val="FF0000"/>
                </a:solidFill>
                <a:latin typeface="Palatino Linotype"/>
                <a:cs typeface="Palatino Linotype"/>
              </a:rPr>
              <a:t> </a:t>
            </a:r>
            <a:r>
              <a:rPr sz="2000" b="1" kern="1200" spc="5" dirty="0">
                <a:solidFill>
                  <a:srgbClr val="FF0000"/>
                </a:solidFill>
                <a:latin typeface="Palatino Linotype"/>
                <a:cs typeface="Palatino Linotype"/>
              </a:rPr>
              <a:t>(</a:t>
            </a:r>
            <a:r>
              <a:rPr sz="2000" kern="1200" spc="10" dirty="0">
                <a:solidFill>
                  <a:srgbClr val="FF0000"/>
                </a:solidFill>
                <a:latin typeface="SimSun"/>
                <a:cs typeface="SimSun"/>
              </a:rPr>
              <a:t>基本思想</a:t>
            </a:r>
            <a:r>
              <a:rPr sz="2000" b="1" kern="1200" dirty="0">
                <a:solidFill>
                  <a:srgbClr val="FF0000"/>
                </a:solidFill>
                <a:latin typeface="Palatino Linotype"/>
                <a:cs typeface="Palatino Linotype"/>
              </a:rPr>
              <a:t>):</a:t>
            </a:r>
            <a:endParaRPr sz="2000" kern="1200" dirty="0">
              <a:solidFill>
                <a:prstClr val="black"/>
              </a:solidFill>
              <a:latin typeface="Palatino Linotype"/>
              <a:cs typeface="Palatino Linotype"/>
            </a:endParaRPr>
          </a:p>
          <a:p>
            <a:pPr marL="697865" lvl="1" indent="-228600" rtl="0">
              <a:spcBef>
                <a:spcPts val="1040"/>
              </a:spcBef>
              <a:buFont typeface="Wingdings"/>
              <a:buChar char=""/>
              <a:tabLst>
                <a:tab pos="697865" algn="l"/>
                <a:tab pos="698500" algn="l"/>
              </a:tabLst>
            </a:pPr>
            <a:r>
              <a:rPr sz="1500" kern="1200" dirty="0">
                <a:solidFill>
                  <a:prstClr val="black"/>
                </a:solidFill>
                <a:latin typeface="Palatino Linotype"/>
                <a:cs typeface="Palatino Linotype"/>
              </a:rPr>
              <a:t>When</a:t>
            </a:r>
            <a:r>
              <a:rPr sz="1500" kern="1200" spc="-15" dirty="0">
                <a:solidFill>
                  <a:prstClr val="black"/>
                </a:solidFill>
                <a:latin typeface="Palatino Linotype"/>
                <a:cs typeface="Palatino Linotype"/>
              </a:rPr>
              <a:t> </a:t>
            </a:r>
            <a:r>
              <a:rPr sz="1500" kern="1200" dirty="0">
                <a:solidFill>
                  <a:prstClr val="black"/>
                </a:solidFill>
                <a:latin typeface="Palatino Linotype"/>
                <a:cs typeface="Palatino Linotype"/>
              </a:rPr>
              <a:t>a </a:t>
            </a:r>
            <a:r>
              <a:rPr sz="1500" kern="1200" spc="-5" dirty="0">
                <a:solidFill>
                  <a:prstClr val="black"/>
                </a:solidFill>
                <a:latin typeface="Palatino Linotype"/>
                <a:cs typeface="Palatino Linotype"/>
              </a:rPr>
              <a:t>jump</a:t>
            </a:r>
            <a:r>
              <a:rPr sz="1500" kern="1200" spc="5" dirty="0">
                <a:solidFill>
                  <a:prstClr val="black"/>
                </a:solidFill>
                <a:latin typeface="Palatino Linotype"/>
                <a:cs typeface="Palatino Linotype"/>
              </a:rPr>
              <a:t> </a:t>
            </a:r>
            <a:r>
              <a:rPr sz="1500" kern="1200" spc="-5" dirty="0">
                <a:solidFill>
                  <a:prstClr val="black"/>
                </a:solidFill>
                <a:latin typeface="Palatino Linotype"/>
                <a:cs typeface="Palatino Linotype"/>
              </a:rPr>
              <a:t>is</a:t>
            </a:r>
            <a:r>
              <a:rPr sz="1500" kern="1200" spc="5" dirty="0">
                <a:solidFill>
                  <a:prstClr val="black"/>
                </a:solidFill>
                <a:latin typeface="Palatino Linotype"/>
                <a:cs typeface="Palatino Linotype"/>
              </a:rPr>
              <a:t> </a:t>
            </a:r>
            <a:r>
              <a:rPr sz="1500" kern="1200" dirty="0">
                <a:solidFill>
                  <a:prstClr val="black"/>
                </a:solidFill>
                <a:latin typeface="Palatino Linotype"/>
                <a:cs typeface="Palatino Linotype"/>
              </a:rPr>
              <a:t>generated,</a:t>
            </a:r>
            <a:r>
              <a:rPr sz="1500" kern="1200" spc="-45" dirty="0">
                <a:solidFill>
                  <a:prstClr val="black"/>
                </a:solidFill>
                <a:latin typeface="Palatino Linotype"/>
                <a:cs typeface="Palatino Linotype"/>
              </a:rPr>
              <a:t> </a:t>
            </a:r>
            <a:r>
              <a:rPr sz="1500" kern="1200" spc="-5" dirty="0">
                <a:solidFill>
                  <a:prstClr val="black"/>
                </a:solidFill>
                <a:latin typeface="Palatino Linotype"/>
                <a:cs typeface="Palatino Linotype"/>
              </a:rPr>
              <a:t>its</a:t>
            </a:r>
            <a:r>
              <a:rPr sz="1500" kern="1200" spc="10" dirty="0">
                <a:solidFill>
                  <a:prstClr val="black"/>
                </a:solidFill>
                <a:latin typeface="Palatino Linotype"/>
                <a:cs typeface="Palatino Linotype"/>
              </a:rPr>
              <a:t> </a:t>
            </a:r>
            <a:r>
              <a:rPr sz="1500" kern="1200" spc="-5" dirty="0">
                <a:solidFill>
                  <a:prstClr val="black"/>
                </a:solidFill>
                <a:latin typeface="Palatino Linotype"/>
                <a:cs typeface="Palatino Linotype"/>
              </a:rPr>
              <a:t>target</a:t>
            </a:r>
            <a:r>
              <a:rPr sz="1500" kern="1200" spc="-25" dirty="0">
                <a:solidFill>
                  <a:prstClr val="black"/>
                </a:solidFill>
                <a:latin typeface="Palatino Linotype"/>
                <a:cs typeface="Palatino Linotype"/>
              </a:rPr>
              <a:t> </a:t>
            </a:r>
            <a:r>
              <a:rPr sz="1500" kern="1200" spc="-5" dirty="0">
                <a:solidFill>
                  <a:prstClr val="black"/>
                </a:solidFill>
                <a:latin typeface="Palatino Linotype"/>
                <a:cs typeface="Palatino Linotype"/>
              </a:rPr>
              <a:t>is</a:t>
            </a:r>
            <a:r>
              <a:rPr sz="1500" kern="1200" spc="30" dirty="0">
                <a:solidFill>
                  <a:prstClr val="black"/>
                </a:solidFill>
                <a:latin typeface="Palatino Linotype"/>
                <a:cs typeface="Palatino Linotype"/>
              </a:rPr>
              <a:t> </a:t>
            </a:r>
            <a:r>
              <a:rPr sz="1500" kern="1200" spc="-5" dirty="0">
                <a:solidFill>
                  <a:srgbClr val="0431FF"/>
                </a:solidFill>
                <a:latin typeface="Palatino Linotype"/>
                <a:cs typeface="Palatino Linotype"/>
              </a:rPr>
              <a:t>temporarily</a:t>
            </a:r>
            <a:r>
              <a:rPr sz="1500" kern="1200" dirty="0">
                <a:solidFill>
                  <a:srgbClr val="0431FF"/>
                </a:solidFill>
                <a:latin typeface="Palatino Linotype"/>
                <a:cs typeface="Palatino Linotype"/>
              </a:rPr>
              <a:t> </a:t>
            </a:r>
            <a:r>
              <a:rPr sz="1500" kern="1200" spc="-5" dirty="0">
                <a:solidFill>
                  <a:srgbClr val="0431FF"/>
                </a:solidFill>
                <a:latin typeface="Palatino Linotype"/>
                <a:cs typeface="Palatino Linotype"/>
              </a:rPr>
              <a:t>left unspecified</a:t>
            </a:r>
            <a:endParaRPr sz="1500" kern="1200" dirty="0">
              <a:solidFill>
                <a:prstClr val="black"/>
              </a:solidFill>
              <a:latin typeface="Palatino Linotype"/>
              <a:cs typeface="Palatino Linotype"/>
            </a:endParaRPr>
          </a:p>
          <a:p>
            <a:pPr marL="697865" lvl="1" indent="-228600" rtl="0">
              <a:spcBef>
                <a:spcPts val="960"/>
              </a:spcBef>
              <a:buClr>
                <a:srgbClr val="000000"/>
              </a:buClr>
              <a:buFont typeface="Wingdings"/>
              <a:buChar char=""/>
              <a:tabLst>
                <a:tab pos="697865" algn="l"/>
                <a:tab pos="698500" algn="l"/>
              </a:tabLst>
            </a:pPr>
            <a:r>
              <a:rPr sz="1500" kern="1200" spc="-5" dirty="0">
                <a:solidFill>
                  <a:srgbClr val="0431FF"/>
                </a:solidFill>
                <a:latin typeface="Palatino Linotype"/>
                <a:cs typeface="Palatino Linotype"/>
              </a:rPr>
              <a:t>Incomplete</a:t>
            </a:r>
            <a:r>
              <a:rPr sz="1500" kern="1200" dirty="0">
                <a:solidFill>
                  <a:srgbClr val="0431FF"/>
                </a:solidFill>
                <a:latin typeface="Palatino Linotype"/>
                <a:cs typeface="Palatino Linotype"/>
              </a:rPr>
              <a:t> </a:t>
            </a:r>
            <a:r>
              <a:rPr sz="1500" kern="1200" spc="-5" dirty="0">
                <a:solidFill>
                  <a:srgbClr val="0431FF"/>
                </a:solidFill>
                <a:latin typeface="Palatino Linotype"/>
                <a:cs typeface="Palatino Linotype"/>
              </a:rPr>
              <a:t>jumps</a:t>
            </a:r>
            <a:r>
              <a:rPr sz="1500" kern="1200" dirty="0">
                <a:solidFill>
                  <a:srgbClr val="0431FF"/>
                </a:solidFill>
                <a:latin typeface="Palatino Linotype"/>
                <a:cs typeface="Palatino Linotype"/>
              </a:rPr>
              <a:t> </a:t>
            </a:r>
            <a:r>
              <a:rPr sz="1500" kern="1200" spc="-5" dirty="0">
                <a:solidFill>
                  <a:srgbClr val="0431FF"/>
                </a:solidFill>
                <a:latin typeface="Palatino Linotype"/>
                <a:cs typeface="Palatino Linotype"/>
              </a:rPr>
              <a:t>are</a:t>
            </a:r>
            <a:r>
              <a:rPr sz="1500" kern="1200" spc="-15" dirty="0">
                <a:solidFill>
                  <a:srgbClr val="0431FF"/>
                </a:solidFill>
                <a:latin typeface="Palatino Linotype"/>
                <a:cs typeface="Palatino Linotype"/>
              </a:rPr>
              <a:t> </a:t>
            </a:r>
            <a:r>
              <a:rPr sz="1500" kern="1200" spc="-5" dirty="0">
                <a:solidFill>
                  <a:srgbClr val="0431FF"/>
                </a:solidFill>
                <a:latin typeface="Palatino Linotype"/>
                <a:cs typeface="Palatino Linotype"/>
              </a:rPr>
              <a:t>grouped</a:t>
            </a:r>
            <a:r>
              <a:rPr sz="1500" kern="1200" spc="-10" dirty="0">
                <a:solidFill>
                  <a:srgbClr val="0431FF"/>
                </a:solidFill>
                <a:latin typeface="Palatino Linotype"/>
                <a:cs typeface="Palatino Linotype"/>
              </a:rPr>
              <a:t> </a:t>
            </a:r>
            <a:r>
              <a:rPr sz="1500" kern="1200" spc="-5" dirty="0">
                <a:solidFill>
                  <a:srgbClr val="0431FF"/>
                </a:solidFill>
                <a:latin typeface="Palatino Linotype"/>
                <a:cs typeface="Palatino Linotype"/>
              </a:rPr>
              <a:t>into</a:t>
            </a:r>
            <a:r>
              <a:rPr sz="1500" kern="1200" spc="10" dirty="0">
                <a:solidFill>
                  <a:srgbClr val="0431FF"/>
                </a:solidFill>
                <a:latin typeface="Palatino Linotype"/>
                <a:cs typeface="Palatino Linotype"/>
              </a:rPr>
              <a:t> </a:t>
            </a:r>
            <a:r>
              <a:rPr sz="1500" kern="1200" dirty="0">
                <a:solidFill>
                  <a:srgbClr val="0431FF"/>
                </a:solidFill>
                <a:latin typeface="Palatino Linotype"/>
                <a:cs typeface="Palatino Linotype"/>
              </a:rPr>
              <a:t>lists</a:t>
            </a:r>
            <a:r>
              <a:rPr sz="1500" kern="1200" dirty="0">
                <a:solidFill>
                  <a:prstClr val="black"/>
                </a:solidFill>
                <a:latin typeface="Palatino Linotype"/>
                <a:cs typeface="Palatino Linotype"/>
              </a:rPr>
              <a:t>.</a:t>
            </a:r>
            <a:r>
              <a:rPr sz="1500" kern="1200" spc="-45" dirty="0">
                <a:solidFill>
                  <a:prstClr val="black"/>
                </a:solidFill>
                <a:latin typeface="Palatino Linotype"/>
                <a:cs typeface="Palatino Linotype"/>
              </a:rPr>
              <a:t> </a:t>
            </a:r>
            <a:r>
              <a:rPr sz="1500" kern="1200" spc="-5" dirty="0">
                <a:solidFill>
                  <a:prstClr val="black"/>
                </a:solidFill>
                <a:latin typeface="Palatino Linotype"/>
                <a:cs typeface="Palatino Linotype"/>
              </a:rPr>
              <a:t>All</a:t>
            </a:r>
            <a:r>
              <a:rPr sz="1500" kern="1200" dirty="0">
                <a:solidFill>
                  <a:prstClr val="black"/>
                </a:solidFill>
                <a:latin typeface="Palatino Linotype"/>
                <a:cs typeface="Palatino Linotype"/>
              </a:rPr>
              <a:t> </a:t>
            </a:r>
            <a:r>
              <a:rPr sz="1500" kern="1200" spc="-5" dirty="0">
                <a:solidFill>
                  <a:prstClr val="black"/>
                </a:solidFill>
                <a:latin typeface="Palatino Linotype"/>
                <a:cs typeface="Palatino Linotype"/>
              </a:rPr>
              <a:t>jumps</a:t>
            </a:r>
            <a:r>
              <a:rPr sz="1500" kern="1200" dirty="0">
                <a:solidFill>
                  <a:prstClr val="black"/>
                </a:solidFill>
                <a:latin typeface="Palatino Linotype"/>
                <a:cs typeface="Palatino Linotype"/>
              </a:rPr>
              <a:t> on</a:t>
            </a:r>
            <a:r>
              <a:rPr sz="1500" kern="1200" spc="10" dirty="0">
                <a:solidFill>
                  <a:prstClr val="black"/>
                </a:solidFill>
                <a:latin typeface="Palatino Linotype"/>
                <a:cs typeface="Palatino Linotype"/>
              </a:rPr>
              <a:t> </a:t>
            </a:r>
            <a:r>
              <a:rPr sz="1500" kern="1200" dirty="0">
                <a:solidFill>
                  <a:prstClr val="black"/>
                </a:solidFill>
                <a:latin typeface="Palatino Linotype"/>
                <a:cs typeface="Palatino Linotype"/>
              </a:rPr>
              <a:t>a </a:t>
            </a:r>
            <a:r>
              <a:rPr sz="1500" kern="1200" spc="-5" dirty="0">
                <a:solidFill>
                  <a:prstClr val="black"/>
                </a:solidFill>
                <a:latin typeface="Palatino Linotype"/>
                <a:cs typeface="Palatino Linotype"/>
              </a:rPr>
              <a:t>list</a:t>
            </a:r>
            <a:r>
              <a:rPr sz="1500" kern="1200" spc="5" dirty="0">
                <a:solidFill>
                  <a:prstClr val="black"/>
                </a:solidFill>
                <a:latin typeface="Palatino Linotype"/>
                <a:cs typeface="Palatino Linotype"/>
              </a:rPr>
              <a:t> </a:t>
            </a:r>
            <a:r>
              <a:rPr sz="1500" kern="1200" spc="-5" dirty="0">
                <a:solidFill>
                  <a:prstClr val="black"/>
                </a:solidFill>
                <a:latin typeface="Palatino Linotype"/>
                <a:cs typeface="Palatino Linotype"/>
              </a:rPr>
              <a:t>have</a:t>
            </a:r>
            <a:r>
              <a:rPr sz="1500" kern="1200" spc="-30" dirty="0">
                <a:solidFill>
                  <a:prstClr val="black"/>
                </a:solidFill>
                <a:latin typeface="Palatino Linotype"/>
                <a:cs typeface="Palatino Linotype"/>
              </a:rPr>
              <a:t> </a:t>
            </a:r>
            <a:r>
              <a:rPr sz="1500" kern="1200" spc="-5" dirty="0">
                <a:solidFill>
                  <a:prstClr val="black"/>
                </a:solidFill>
                <a:latin typeface="Palatino Linotype"/>
                <a:cs typeface="Palatino Linotype"/>
              </a:rPr>
              <a:t>the</a:t>
            </a:r>
            <a:r>
              <a:rPr sz="1500" kern="1200" spc="5" dirty="0">
                <a:solidFill>
                  <a:prstClr val="black"/>
                </a:solidFill>
                <a:latin typeface="Palatino Linotype"/>
                <a:cs typeface="Palatino Linotype"/>
              </a:rPr>
              <a:t> </a:t>
            </a:r>
            <a:r>
              <a:rPr sz="1500" kern="1200" dirty="0">
                <a:solidFill>
                  <a:prstClr val="black"/>
                </a:solidFill>
                <a:latin typeface="Palatino Linotype"/>
                <a:cs typeface="Palatino Linotype"/>
              </a:rPr>
              <a:t>same</a:t>
            </a:r>
            <a:r>
              <a:rPr sz="1500" kern="1200" spc="-20" dirty="0">
                <a:solidFill>
                  <a:prstClr val="black"/>
                </a:solidFill>
                <a:latin typeface="Palatino Linotype"/>
                <a:cs typeface="Palatino Linotype"/>
              </a:rPr>
              <a:t> </a:t>
            </a:r>
            <a:r>
              <a:rPr sz="1500" kern="1200" spc="-5" dirty="0">
                <a:solidFill>
                  <a:prstClr val="black"/>
                </a:solidFill>
                <a:latin typeface="Palatino Linotype"/>
                <a:cs typeface="Palatino Linotype"/>
              </a:rPr>
              <a:t>target</a:t>
            </a:r>
            <a:endParaRPr sz="1500" kern="1200" dirty="0">
              <a:solidFill>
                <a:prstClr val="black"/>
              </a:solidFill>
              <a:latin typeface="Palatino Linotype"/>
              <a:cs typeface="Palatino Linotype"/>
            </a:endParaRPr>
          </a:p>
          <a:p>
            <a:pPr marL="697865" lvl="1" indent="-228600" rtl="0">
              <a:spcBef>
                <a:spcPts val="965"/>
              </a:spcBef>
              <a:buClr>
                <a:srgbClr val="000000"/>
              </a:buClr>
              <a:buFont typeface="Wingdings"/>
              <a:buChar char=""/>
              <a:tabLst>
                <a:tab pos="697865" algn="l"/>
                <a:tab pos="698500" algn="l"/>
              </a:tabLst>
            </a:pPr>
            <a:r>
              <a:rPr sz="1500" kern="1200" spc="-5" dirty="0">
                <a:solidFill>
                  <a:srgbClr val="0431FF"/>
                </a:solidFill>
                <a:latin typeface="Palatino Linotype"/>
                <a:cs typeface="Palatino Linotype"/>
              </a:rPr>
              <a:t>Fill</a:t>
            </a:r>
            <a:r>
              <a:rPr sz="1500" kern="1200" dirty="0">
                <a:solidFill>
                  <a:srgbClr val="0431FF"/>
                </a:solidFill>
                <a:latin typeface="Palatino Linotype"/>
                <a:cs typeface="Palatino Linotype"/>
              </a:rPr>
              <a:t> </a:t>
            </a:r>
            <a:r>
              <a:rPr sz="1500" kern="1200" spc="-5" dirty="0">
                <a:solidFill>
                  <a:srgbClr val="0431FF"/>
                </a:solidFill>
                <a:latin typeface="Palatino Linotype"/>
                <a:cs typeface="Palatino Linotype"/>
              </a:rPr>
              <a:t>in</a:t>
            </a:r>
            <a:r>
              <a:rPr sz="1500" kern="1200" spc="10" dirty="0">
                <a:solidFill>
                  <a:srgbClr val="0431FF"/>
                </a:solidFill>
                <a:latin typeface="Palatino Linotype"/>
                <a:cs typeface="Palatino Linotype"/>
              </a:rPr>
              <a:t> </a:t>
            </a:r>
            <a:r>
              <a:rPr sz="1500" kern="1200" spc="-5" dirty="0">
                <a:solidFill>
                  <a:srgbClr val="0431FF"/>
                </a:solidFill>
                <a:latin typeface="Palatino Linotype"/>
                <a:cs typeface="Palatino Linotype"/>
              </a:rPr>
              <a:t>the</a:t>
            </a:r>
            <a:r>
              <a:rPr sz="1500" kern="1200" spc="-15" dirty="0">
                <a:solidFill>
                  <a:srgbClr val="0431FF"/>
                </a:solidFill>
                <a:latin typeface="Palatino Linotype"/>
                <a:cs typeface="Palatino Linotype"/>
              </a:rPr>
              <a:t> </a:t>
            </a:r>
            <a:r>
              <a:rPr sz="1500" kern="1200" spc="-5" dirty="0">
                <a:solidFill>
                  <a:srgbClr val="0431FF"/>
                </a:solidFill>
                <a:latin typeface="Palatino Linotype"/>
                <a:cs typeface="Palatino Linotype"/>
              </a:rPr>
              <a:t>labels</a:t>
            </a:r>
            <a:r>
              <a:rPr sz="1500" kern="1200" dirty="0">
                <a:solidFill>
                  <a:srgbClr val="0431FF"/>
                </a:solidFill>
                <a:latin typeface="Palatino Linotype"/>
                <a:cs typeface="Palatino Linotype"/>
              </a:rPr>
              <a:t> </a:t>
            </a:r>
            <a:r>
              <a:rPr sz="1500" kern="1200" dirty="0">
                <a:solidFill>
                  <a:prstClr val="black"/>
                </a:solidFill>
                <a:latin typeface="Palatino Linotype"/>
                <a:cs typeface="Palatino Linotype"/>
              </a:rPr>
              <a:t>for </a:t>
            </a:r>
            <a:r>
              <a:rPr sz="1500" kern="1200" spc="-5" dirty="0">
                <a:solidFill>
                  <a:prstClr val="black"/>
                </a:solidFill>
                <a:latin typeface="Palatino Linotype"/>
                <a:cs typeface="Palatino Linotype"/>
              </a:rPr>
              <a:t>incomplete</a:t>
            </a:r>
            <a:r>
              <a:rPr sz="1500" kern="1200" spc="5" dirty="0">
                <a:solidFill>
                  <a:prstClr val="black"/>
                </a:solidFill>
                <a:latin typeface="Palatino Linotype"/>
                <a:cs typeface="Palatino Linotype"/>
              </a:rPr>
              <a:t> </a:t>
            </a:r>
            <a:r>
              <a:rPr sz="1500" kern="1200" spc="-5" dirty="0">
                <a:solidFill>
                  <a:prstClr val="black"/>
                </a:solidFill>
                <a:latin typeface="Palatino Linotype"/>
                <a:cs typeface="Palatino Linotype"/>
              </a:rPr>
              <a:t>jumps</a:t>
            </a:r>
            <a:r>
              <a:rPr sz="1500" kern="1200" spc="15" dirty="0">
                <a:solidFill>
                  <a:prstClr val="black"/>
                </a:solidFill>
                <a:latin typeface="Palatino Linotype"/>
                <a:cs typeface="Palatino Linotype"/>
              </a:rPr>
              <a:t> </a:t>
            </a:r>
            <a:r>
              <a:rPr sz="1500" kern="1200" dirty="0">
                <a:solidFill>
                  <a:srgbClr val="0431FF"/>
                </a:solidFill>
                <a:latin typeface="Palatino Linotype"/>
                <a:cs typeface="Palatino Linotype"/>
              </a:rPr>
              <a:t>when</a:t>
            </a:r>
            <a:r>
              <a:rPr sz="1500" kern="1200" spc="-15" dirty="0">
                <a:solidFill>
                  <a:srgbClr val="0431FF"/>
                </a:solidFill>
                <a:latin typeface="Palatino Linotype"/>
                <a:cs typeface="Palatino Linotype"/>
              </a:rPr>
              <a:t> </a:t>
            </a:r>
            <a:r>
              <a:rPr sz="1500" kern="1200" spc="-5" dirty="0">
                <a:solidFill>
                  <a:srgbClr val="0431FF"/>
                </a:solidFill>
                <a:latin typeface="Palatino Linotype"/>
                <a:cs typeface="Palatino Linotype"/>
              </a:rPr>
              <a:t>the</a:t>
            </a:r>
            <a:r>
              <a:rPr sz="1500" kern="1200" spc="-15" dirty="0">
                <a:solidFill>
                  <a:srgbClr val="0431FF"/>
                </a:solidFill>
                <a:latin typeface="Palatino Linotype"/>
                <a:cs typeface="Palatino Linotype"/>
              </a:rPr>
              <a:t> </a:t>
            </a:r>
            <a:r>
              <a:rPr sz="1500" kern="1200" spc="-5" dirty="0">
                <a:solidFill>
                  <a:srgbClr val="0431FF"/>
                </a:solidFill>
                <a:latin typeface="Palatino Linotype"/>
                <a:cs typeface="Palatino Linotype"/>
              </a:rPr>
              <a:t>targets</a:t>
            </a:r>
            <a:r>
              <a:rPr sz="1500" kern="1200" spc="-15" dirty="0">
                <a:solidFill>
                  <a:srgbClr val="0431FF"/>
                </a:solidFill>
                <a:latin typeface="Palatino Linotype"/>
                <a:cs typeface="Palatino Linotype"/>
              </a:rPr>
              <a:t> </a:t>
            </a:r>
            <a:r>
              <a:rPr sz="1500" kern="1200" spc="-5" dirty="0">
                <a:solidFill>
                  <a:srgbClr val="0431FF"/>
                </a:solidFill>
                <a:latin typeface="Palatino Linotype"/>
                <a:cs typeface="Palatino Linotype"/>
              </a:rPr>
              <a:t>become</a:t>
            </a:r>
            <a:r>
              <a:rPr sz="1500" kern="1200" dirty="0">
                <a:solidFill>
                  <a:srgbClr val="0431FF"/>
                </a:solidFill>
                <a:latin typeface="Palatino Linotype"/>
                <a:cs typeface="Palatino Linotype"/>
              </a:rPr>
              <a:t> known</a:t>
            </a:r>
            <a:endParaRPr sz="1500" kern="1200" dirty="0">
              <a:solidFill>
                <a:prstClr val="black"/>
              </a:solidFill>
              <a:latin typeface="Palatino Linotype"/>
              <a:cs typeface="Palatino Linotype"/>
            </a:endParaRPr>
          </a:p>
          <a:p>
            <a:pPr lvl="1" rtl="0">
              <a:spcBef>
                <a:spcPts val="40"/>
              </a:spcBef>
              <a:buFont typeface="Wingdings"/>
              <a:buChar char=""/>
            </a:pPr>
            <a:endParaRPr sz="1600" kern="1200" dirty="0">
              <a:solidFill>
                <a:prstClr val="black"/>
              </a:solidFill>
              <a:latin typeface="Palatino Linotype"/>
              <a:cs typeface="Palatino Linotype"/>
            </a:endParaRPr>
          </a:p>
          <a:p>
            <a:pPr marL="242570" indent="-230504" rtl="0">
              <a:buClr>
                <a:srgbClr val="000000"/>
              </a:buClr>
              <a:buFont typeface="Arial MT"/>
              <a:buChar char="•"/>
              <a:tabLst>
                <a:tab pos="242570" algn="l"/>
                <a:tab pos="243204" algn="l"/>
              </a:tabLst>
            </a:pPr>
            <a:r>
              <a:rPr sz="2000" b="1" kern="1200" dirty="0">
                <a:solidFill>
                  <a:srgbClr val="FF0000"/>
                </a:solidFill>
                <a:latin typeface="Palatino Linotype"/>
                <a:cs typeface="Palatino Linotype"/>
              </a:rPr>
              <a:t>The</a:t>
            </a:r>
            <a:r>
              <a:rPr sz="2000" b="1" kern="1200" spc="-15" dirty="0">
                <a:solidFill>
                  <a:srgbClr val="FF0000"/>
                </a:solidFill>
                <a:latin typeface="Palatino Linotype"/>
                <a:cs typeface="Palatino Linotype"/>
              </a:rPr>
              <a:t> </a:t>
            </a:r>
            <a:r>
              <a:rPr sz="2000" b="1" kern="1200" dirty="0">
                <a:solidFill>
                  <a:srgbClr val="FF0000"/>
                </a:solidFill>
                <a:latin typeface="Palatino Linotype"/>
                <a:cs typeface="Palatino Linotype"/>
              </a:rPr>
              <a:t>technique</a:t>
            </a:r>
            <a:r>
              <a:rPr sz="2000" b="1" kern="1200" spc="-45" dirty="0">
                <a:solidFill>
                  <a:srgbClr val="FF0000"/>
                </a:solidFill>
                <a:latin typeface="Palatino Linotype"/>
                <a:cs typeface="Palatino Linotype"/>
              </a:rPr>
              <a:t> </a:t>
            </a:r>
            <a:r>
              <a:rPr sz="2000" b="1" kern="1200" spc="10" dirty="0">
                <a:solidFill>
                  <a:srgbClr val="FF0000"/>
                </a:solidFill>
                <a:latin typeface="Palatino Linotype"/>
                <a:cs typeface="Palatino Linotype"/>
              </a:rPr>
              <a:t>(</a:t>
            </a:r>
            <a:r>
              <a:rPr sz="2000" kern="1200" spc="10" dirty="0">
                <a:solidFill>
                  <a:srgbClr val="FF0000"/>
                </a:solidFill>
                <a:latin typeface="SimSun"/>
                <a:cs typeface="SimSun"/>
              </a:rPr>
              <a:t>技术细节</a:t>
            </a:r>
            <a:r>
              <a:rPr sz="2000" b="1" kern="1200" dirty="0">
                <a:solidFill>
                  <a:srgbClr val="FF0000"/>
                </a:solidFill>
                <a:latin typeface="Palatino Linotype"/>
                <a:cs typeface="Palatino Linotype"/>
              </a:rPr>
              <a:t>):</a:t>
            </a:r>
            <a:endParaRPr sz="2000" kern="1200" dirty="0">
              <a:solidFill>
                <a:prstClr val="black"/>
              </a:solidFill>
              <a:latin typeface="Palatino Linotype"/>
              <a:cs typeface="Palatino Linotype"/>
            </a:endParaRPr>
          </a:p>
          <a:p>
            <a:pPr marL="697865" lvl="1" indent="-228600" rtl="0">
              <a:spcBef>
                <a:spcPts val="1040"/>
              </a:spcBef>
              <a:buFont typeface="Wingdings"/>
              <a:buChar char=""/>
              <a:tabLst>
                <a:tab pos="697865" algn="l"/>
                <a:tab pos="698500" algn="l"/>
              </a:tabLst>
            </a:pPr>
            <a:r>
              <a:rPr sz="1500" kern="1200" dirty="0">
                <a:solidFill>
                  <a:prstClr val="black"/>
                </a:solidFill>
                <a:latin typeface="Palatino Linotype"/>
                <a:cs typeface="Palatino Linotype"/>
              </a:rPr>
              <a:t>For</a:t>
            </a:r>
            <a:r>
              <a:rPr sz="1500" kern="1200" spc="5" dirty="0">
                <a:solidFill>
                  <a:prstClr val="black"/>
                </a:solidFill>
                <a:latin typeface="Palatino Linotype"/>
                <a:cs typeface="Palatino Linotype"/>
              </a:rPr>
              <a:t> </a:t>
            </a:r>
            <a:r>
              <a:rPr sz="1500" kern="1200" dirty="0">
                <a:solidFill>
                  <a:prstClr val="black"/>
                </a:solidFill>
                <a:latin typeface="Palatino Linotype"/>
                <a:cs typeface="Palatino Linotype"/>
              </a:rPr>
              <a:t>a</a:t>
            </a:r>
            <a:r>
              <a:rPr sz="1500" kern="1200" spc="-10" dirty="0">
                <a:solidFill>
                  <a:prstClr val="black"/>
                </a:solidFill>
                <a:latin typeface="Palatino Linotype"/>
                <a:cs typeface="Palatino Linotype"/>
              </a:rPr>
              <a:t> </a:t>
            </a:r>
            <a:r>
              <a:rPr sz="1500" kern="1200" spc="-5" dirty="0">
                <a:solidFill>
                  <a:prstClr val="black"/>
                </a:solidFill>
                <a:latin typeface="Palatino Linotype"/>
                <a:cs typeface="Palatino Linotype"/>
              </a:rPr>
              <a:t>nonterminal</a:t>
            </a:r>
            <a:r>
              <a:rPr sz="1500" kern="1200" spc="25" dirty="0">
                <a:solidFill>
                  <a:prstClr val="black"/>
                </a:solidFill>
                <a:latin typeface="Palatino Linotype"/>
                <a:cs typeface="Palatino Linotype"/>
              </a:rPr>
              <a:t> </a:t>
            </a:r>
            <a:r>
              <a:rPr sz="1500" kern="1200" dirty="0">
                <a:solidFill>
                  <a:prstClr val="black"/>
                </a:solidFill>
                <a:latin typeface="Cambria Math"/>
                <a:cs typeface="Cambria Math"/>
              </a:rPr>
              <a:t>𝐵</a:t>
            </a:r>
            <a:r>
              <a:rPr sz="1500" kern="1200" spc="95" dirty="0">
                <a:solidFill>
                  <a:prstClr val="black"/>
                </a:solidFill>
                <a:latin typeface="Cambria Math"/>
                <a:cs typeface="Cambria Math"/>
              </a:rPr>
              <a:t> </a:t>
            </a:r>
            <a:r>
              <a:rPr sz="1500" kern="1200" spc="-5" dirty="0">
                <a:solidFill>
                  <a:prstClr val="black"/>
                </a:solidFill>
                <a:latin typeface="Palatino Linotype"/>
                <a:cs typeface="Palatino Linotype"/>
              </a:rPr>
              <a:t>that represents</a:t>
            </a:r>
            <a:r>
              <a:rPr sz="1500" kern="1200" spc="-15" dirty="0">
                <a:solidFill>
                  <a:prstClr val="black"/>
                </a:solidFill>
                <a:latin typeface="Palatino Linotype"/>
                <a:cs typeface="Palatino Linotype"/>
              </a:rPr>
              <a:t> </a:t>
            </a:r>
            <a:r>
              <a:rPr sz="1500" kern="1200" dirty="0">
                <a:solidFill>
                  <a:prstClr val="black"/>
                </a:solidFill>
                <a:latin typeface="Palatino Linotype"/>
                <a:cs typeface="Palatino Linotype"/>
              </a:rPr>
              <a:t>a</a:t>
            </a:r>
            <a:r>
              <a:rPr sz="1500" kern="1200" spc="15" dirty="0">
                <a:solidFill>
                  <a:prstClr val="black"/>
                </a:solidFill>
                <a:latin typeface="Palatino Linotype"/>
                <a:cs typeface="Palatino Linotype"/>
              </a:rPr>
              <a:t> </a:t>
            </a:r>
            <a:r>
              <a:rPr sz="1500" kern="1200" spc="-5" dirty="0">
                <a:solidFill>
                  <a:prstClr val="black"/>
                </a:solidFill>
                <a:latin typeface="Palatino Linotype"/>
                <a:cs typeface="Palatino Linotype"/>
              </a:rPr>
              <a:t>boolean</a:t>
            </a:r>
            <a:r>
              <a:rPr sz="1500" kern="1200" spc="20" dirty="0">
                <a:solidFill>
                  <a:prstClr val="black"/>
                </a:solidFill>
                <a:latin typeface="Palatino Linotype"/>
                <a:cs typeface="Palatino Linotype"/>
              </a:rPr>
              <a:t> </a:t>
            </a:r>
            <a:r>
              <a:rPr sz="1500" kern="1200" spc="-5" dirty="0">
                <a:solidFill>
                  <a:prstClr val="black"/>
                </a:solidFill>
                <a:latin typeface="Palatino Linotype"/>
                <a:cs typeface="Palatino Linotype"/>
              </a:rPr>
              <a:t>expression,</a:t>
            </a:r>
            <a:r>
              <a:rPr sz="1500" kern="1200" dirty="0">
                <a:solidFill>
                  <a:prstClr val="black"/>
                </a:solidFill>
                <a:latin typeface="Palatino Linotype"/>
                <a:cs typeface="Palatino Linotype"/>
              </a:rPr>
              <a:t> </a:t>
            </a:r>
            <a:r>
              <a:rPr sz="1500" kern="1200" spc="-20" dirty="0">
                <a:solidFill>
                  <a:prstClr val="black"/>
                </a:solidFill>
                <a:latin typeface="Palatino Linotype"/>
                <a:cs typeface="Palatino Linotype"/>
              </a:rPr>
              <a:t>we</a:t>
            </a:r>
            <a:r>
              <a:rPr sz="1500" kern="1200" spc="10" dirty="0">
                <a:solidFill>
                  <a:prstClr val="black"/>
                </a:solidFill>
                <a:latin typeface="Palatino Linotype"/>
                <a:cs typeface="Palatino Linotype"/>
              </a:rPr>
              <a:t> </a:t>
            </a:r>
            <a:r>
              <a:rPr sz="1500" kern="1200" spc="-5" dirty="0">
                <a:solidFill>
                  <a:prstClr val="black"/>
                </a:solidFill>
                <a:latin typeface="Palatino Linotype"/>
                <a:cs typeface="Palatino Linotype"/>
              </a:rPr>
              <a:t>define </a:t>
            </a:r>
            <a:r>
              <a:rPr sz="1500" kern="1200" spc="-15" dirty="0">
                <a:solidFill>
                  <a:prstClr val="black"/>
                </a:solidFill>
                <a:latin typeface="Palatino Linotype"/>
                <a:cs typeface="Palatino Linotype"/>
              </a:rPr>
              <a:t>two</a:t>
            </a:r>
            <a:endParaRPr sz="1500" kern="1200" dirty="0">
              <a:solidFill>
                <a:prstClr val="black"/>
              </a:solidFill>
              <a:latin typeface="Palatino Linotype"/>
              <a:cs typeface="Palatino Linotype"/>
            </a:endParaRPr>
          </a:p>
          <a:p>
            <a:pPr marL="697865" rtl="0">
              <a:spcBef>
                <a:spcPts val="360"/>
              </a:spcBef>
            </a:pPr>
            <a:r>
              <a:rPr sz="1500" kern="1200" spc="-5" dirty="0">
                <a:solidFill>
                  <a:srgbClr val="FF0000"/>
                </a:solidFill>
                <a:latin typeface="Palatino Linotype"/>
                <a:cs typeface="Palatino Linotype"/>
              </a:rPr>
              <a:t>synthesized</a:t>
            </a:r>
            <a:r>
              <a:rPr sz="1500" kern="1200" spc="-25" dirty="0">
                <a:solidFill>
                  <a:srgbClr val="FF0000"/>
                </a:solidFill>
                <a:latin typeface="Palatino Linotype"/>
                <a:cs typeface="Palatino Linotype"/>
              </a:rPr>
              <a:t> </a:t>
            </a:r>
            <a:r>
              <a:rPr sz="1500" kern="1200" spc="-5" dirty="0">
                <a:solidFill>
                  <a:srgbClr val="FF0000"/>
                </a:solidFill>
                <a:latin typeface="Palatino Linotype"/>
                <a:cs typeface="Palatino Linotype"/>
              </a:rPr>
              <a:t>attributes</a:t>
            </a:r>
            <a:r>
              <a:rPr sz="1500" kern="1200" spc="-5" dirty="0">
                <a:solidFill>
                  <a:prstClr val="black"/>
                </a:solidFill>
                <a:latin typeface="Palatino Linotype"/>
                <a:cs typeface="Palatino Linotype"/>
              </a:rPr>
              <a:t>:</a:t>
            </a:r>
            <a:r>
              <a:rPr sz="1500" kern="1200" spc="-10" dirty="0">
                <a:solidFill>
                  <a:prstClr val="black"/>
                </a:solidFill>
                <a:latin typeface="Palatino Linotype"/>
                <a:cs typeface="Palatino Linotype"/>
              </a:rPr>
              <a:t> </a:t>
            </a:r>
            <a:r>
              <a:rPr sz="1500" kern="1200" spc="-5" dirty="0">
                <a:solidFill>
                  <a:srgbClr val="0431FF"/>
                </a:solidFill>
                <a:latin typeface="Cambria Math"/>
                <a:cs typeface="Cambria Math"/>
              </a:rPr>
              <a:t>𝑡𝑟𝑢𝑒𝑙𝑖𝑠𝑡</a:t>
            </a:r>
            <a:r>
              <a:rPr sz="1500" kern="1200" spc="90" dirty="0">
                <a:solidFill>
                  <a:srgbClr val="0431FF"/>
                </a:solidFill>
                <a:latin typeface="Cambria Math"/>
                <a:cs typeface="Cambria Math"/>
              </a:rPr>
              <a:t> </a:t>
            </a:r>
            <a:r>
              <a:rPr sz="1500" kern="1200" spc="-5" dirty="0">
                <a:solidFill>
                  <a:prstClr val="black"/>
                </a:solidFill>
                <a:latin typeface="Palatino Linotype"/>
                <a:cs typeface="Palatino Linotype"/>
              </a:rPr>
              <a:t>and</a:t>
            </a:r>
            <a:r>
              <a:rPr sz="1500" kern="1200" spc="5" dirty="0">
                <a:solidFill>
                  <a:prstClr val="black"/>
                </a:solidFill>
                <a:latin typeface="Palatino Linotype"/>
                <a:cs typeface="Palatino Linotype"/>
              </a:rPr>
              <a:t> </a:t>
            </a:r>
            <a:r>
              <a:rPr sz="1500" kern="1200" spc="-5" dirty="0">
                <a:solidFill>
                  <a:srgbClr val="0431FF"/>
                </a:solidFill>
                <a:latin typeface="Cambria Math"/>
                <a:cs typeface="Cambria Math"/>
              </a:rPr>
              <a:t>𝑓𝑎𝑙𝑠𝑒𝑙𝑖𝑠𝑡</a:t>
            </a:r>
            <a:endParaRPr sz="1500" kern="1200" dirty="0">
              <a:solidFill>
                <a:prstClr val="black"/>
              </a:solidFill>
              <a:latin typeface="Cambria Math"/>
              <a:cs typeface="Cambria Math"/>
            </a:endParaRPr>
          </a:p>
          <a:p>
            <a:pPr marL="697865" marR="210185" lvl="1" indent="-228600" rtl="0">
              <a:lnSpc>
                <a:spcPct val="120000"/>
              </a:lnSpc>
              <a:spcBef>
                <a:spcPts val="600"/>
              </a:spcBef>
              <a:buClr>
                <a:srgbClr val="000000"/>
              </a:buClr>
              <a:buFont typeface="Wingdings"/>
              <a:buChar char=""/>
              <a:tabLst>
                <a:tab pos="697865" algn="l"/>
                <a:tab pos="698500" algn="l"/>
              </a:tabLst>
            </a:pPr>
            <a:r>
              <a:rPr sz="1500" kern="1200" dirty="0">
                <a:solidFill>
                  <a:srgbClr val="0431FF"/>
                </a:solidFill>
                <a:latin typeface="Cambria Math"/>
                <a:cs typeface="Cambria Math"/>
              </a:rPr>
              <a:t>𝑡𝑟𝑢𝑒𝑙𝑖𝑠𝑡</a:t>
            </a:r>
            <a:r>
              <a:rPr sz="1500" kern="1200" dirty="0">
                <a:solidFill>
                  <a:prstClr val="black"/>
                </a:solidFill>
                <a:latin typeface="Palatino Linotype"/>
                <a:cs typeface="Palatino Linotype"/>
              </a:rPr>
              <a:t>:</a:t>
            </a:r>
            <a:r>
              <a:rPr sz="1500" kern="1200" spc="-10" dirty="0">
                <a:solidFill>
                  <a:prstClr val="black"/>
                </a:solidFill>
                <a:latin typeface="Palatino Linotype"/>
                <a:cs typeface="Palatino Linotype"/>
              </a:rPr>
              <a:t> </a:t>
            </a:r>
            <a:r>
              <a:rPr sz="1500" kern="1200" dirty="0">
                <a:solidFill>
                  <a:srgbClr val="FF0000"/>
                </a:solidFill>
                <a:latin typeface="Palatino Linotype"/>
                <a:cs typeface="Palatino Linotype"/>
              </a:rPr>
              <a:t>a </a:t>
            </a:r>
            <a:r>
              <a:rPr sz="1500" kern="1200" spc="-5" dirty="0">
                <a:solidFill>
                  <a:srgbClr val="FF0000"/>
                </a:solidFill>
                <a:latin typeface="Palatino Linotype"/>
                <a:cs typeface="Palatino Linotype"/>
              </a:rPr>
              <a:t>list</a:t>
            </a:r>
            <a:r>
              <a:rPr sz="1500" kern="1200" spc="10" dirty="0">
                <a:solidFill>
                  <a:srgbClr val="FF0000"/>
                </a:solidFill>
                <a:latin typeface="Palatino Linotype"/>
                <a:cs typeface="Palatino Linotype"/>
              </a:rPr>
              <a:t> </a:t>
            </a:r>
            <a:r>
              <a:rPr sz="1500" kern="1200" dirty="0">
                <a:solidFill>
                  <a:srgbClr val="FF0000"/>
                </a:solidFill>
                <a:latin typeface="Palatino Linotype"/>
                <a:cs typeface="Palatino Linotype"/>
              </a:rPr>
              <a:t>of</a:t>
            </a:r>
            <a:r>
              <a:rPr sz="1500" kern="1200" spc="10" dirty="0">
                <a:solidFill>
                  <a:srgbClr val="FF0000"/>
                </a:solidFill>
                <a:latin typeface="Palatino Linotype"/>
                <a:cs typeface="Palatino Linotype"/>
              </a:rPr>
              <a:t> </a:t>
            </a:r>
            <a:r>
              <a:rPr sz="1500" kern="1200" spc="-5" dirty="0">
                <a:solidFill>
                  <a:srgbClr val="FF0000"/>
                </a:solidFill>
                <a:latin typeface="Palatino Linotype"/>
                <a:cs typeface="Palatino Linotype"/>
              </a:rPr>
              <a:t>jump</a:t>
            </a:r>
            <a:r>
              <a:rPr sz="1500" kern="1200" dirty="0">
                <a:solidFill>
                  <a:srgbClr val="FF0000"/>
                </a:solidFill>
                <a:latin typeface="Palatino Linotype"/>
                <a:cs typeface="Palatino Linotype"/>
              </a:rPr>
              <a:t> </a:t>
            </a:r>
            <a:r>
              <a:rPr sz="1500" kern="1200" spc="-5" dirty="0">
                <a:solidFill>
                  <a:srgbClr val="FF0000"/>
                </a:solidFill>
                <a:latin typeface="Palatino Linotype"/>
                <a:cs typeface="Palatino Linotype"/>
              </a:rPr>
              <a:t>instructions</a:t>
            </a:r>
            <a:r>
              <a:rPr sz="1500" kern="1200" spc="20" dirty="0">
                <a:solidFill>
                  <a:srgbClr val="FF0000"/>
                </a:solidFill>
                <a:latin typeface="Palatino Linotype"/>
                <a:cs typeface="Palatino Linotype"/>
              </a:rPr>
              <a:t> </a:t>
            </a:r>
            <a:r>
              <a:rPr sz="1500" kern="1200" dirty="0">
                <a:solidFill>
                  <a:prstClr val="black"/>
                </a:solidFill>
                <a:latin typeface="Palatino Linotype"/>
                <a:cs typeface="Palatino Linotype"/>
              </a:rPr>
              <a:t>for</a:t>
            </a:r>
            <a:r>
              <a:rPr sz="1500" kern="1200" spc="5" dirty="0">
                <a:solidFill>
                  <a:prstClr val="black"/>
                </a:solidFill>
                <a:latin typeface="Palatino Linotype"/>
                <a:cs typeface="Palatino Linotype"/>
              </a:rPr>
              <a:t> </a:t>
            </a:r>
            <a:r>
              <a:rPr sz="1500" kern="1200" spc="-5" dirty="0">
                <a:solidFill>
                  <a:prstClr val="black"/>
                </a:solidFill>
                <a:latin typeface="Palatino Linotype"/>
                <a:cs typeface="Palatino Linotype"/>
              </a:rPr>
              <a:t>which</a:t>
            </a:r>
            <a:r>
              <a:rPr sz="1500" kern="1200" spc="10" dirty="0">
                <a:solidFill>
                  <a:prstClr val="black"/>
                </a:solidFill>
                <a:latin typeface="Palatino Linotype"/>
                <a:cs typeface="Palatino Linotype"/>
              </a:rPr>
              <a:t> </a:t>
            </a:r>
            <a:r>
              <a:rPr sz="1500" kern="1200" spc="-15" dirty="0">
                <a:solidFill>
                  <a:prstClr val="black"/>
                </a:solidFill>
                <a:latin typeface="Palatino Linotype"/>
                <a:cs typeface="Palatino Linotype"/>
              </a:rPr>
              <a:t>we </a:t>
            </a:r>
            <a:r>
              <a:rPr sz="1500" kern="1200" spc="-5" dirty="0">
                <a:solidFill>
                  <a:prstClr val="black"/>
                </a:solidFill>
                <a:latin typeface="Palatino Linotype"/>
                <a:cs typeface="Palatino Linotype"/>
              </a:rPr>
              <a:t>must</a:t>
            </a:r>
            <a:r>
              <a:rPr sz="1500" kern="1200" spc="15" dirty="0">
                <a:solidFill>
                  <a:prstClr val="black"/>
                </a:solidFill>
                <a:latin typeface="Palatino Linotype"/>
                <a:cs typeface="Palatino Linotype"/>
              </a:rPr>
              <a:t> </a:t>
            </a:r>
            <a:r>
              <a:rPr sz="1500" kern="1200" spc="-5" dirty="0">
                <a:solidFill>
                  <a:prstClr val="black"/>
                </a:solidFill>
                <a:latin typeface="Palatino Linotype"/>
                <a:cs typeface="Palatino Linotype"/>
              </a:rPr>
              <a:t>fill</a:t>
            </a:r>
            <a:r>
              <a:rPr sz="1500" kern="1200" dirty="0">
                <a:solidFill>
                  <a:prstClr val="black"/>
                </a:solidFill>
                <a:latin typeface="Palatino Linotype"/>
                <a:cs typeface="Palatino Linotype"/>
              </a:rPr>
              <a:t> </a:t>
            </a:r>
            <a:r>
              <a:rPr sz="1500" kern="1200" spc="-5" dirty="0">
                <a:solidFill>
                  <a:prstClr val="black"/>
                </a:solidFill>
                <a:latin typeface="Palatino Linotype"/>
                <a:cs typeface="Palatino Linotype"/>
              </a:rPr>
              <a:t>in</a:t>
            </a:r>
            <a:r>
              <a:rPr sz="1500" kern="1200" spc="15" dirty="0">
                <a:solidFill>
                  <a:prstClr val="black"/>
                </a:solidFill>
                <a:latin typeface="Palatino Linotype"/>
                <a:cs typeface="Palatino Linotype"/>
              </a:rPr>
              <a:t> </a:t>
            </a:r>
            <a:r>
              <a:rPr sz="1500" u="sng" kern="1200" spc="-5" dirty="0">
                <a:solidFill>
                  <a:prstClr val="black"/>
                </a:solidFill>
                <a:uFill>
                  <a:solidFill>
                    <a:srgbClr val="000000"/>
                  </a:solidFill>
                </a:uFill>
                <a:latin typeface="Palatino Linotype"/>
                <a:cs typeface="Palatino Linotype"/>
              </a:rPr>
              <a:t>the</a:t>
            </a:r>
            <a:r>
              <a:rPr sz="1500" u="sng" kern="1200" spc="-10" dirty="0">
                <a:solidFill>
                  <a:prstClr val="black"/>
                </a:solidFill>
                <a:uFill>
                  <a:solidFill>
                    <a:srgbClr val="000000"/>
                  </a:solidFill>
                </a:uFill>
                <a:latin typeface="Palatino Linotype"/>
                <a:cs typeface="Palatino Linotype"/>
              </a:rPr>
              <a:t> </a:t>
            </a:r>
            <a:r>
              <a:rPr sz="1500" u="sng" kern="1200" spc="-5" dirty="0">
                <a:solidFill>
                  <a:prstClr val="black"/>
                </a:solidFill>
                <a:uFill>
                  <a:solidFill>
                    <a:srgbClr val="000000"/>
                  </a:solidFill>
                </a:uFill>
                <a:latin typeface="Palatino Linotype"/>
                <a:cs typeface="Palatino Linotype"/>
              </a:rPr>
              <a:t>label</a:t>
            </a:r>
            <a:r>
              <a:rPr sz="1500" u="sng" kern="1200" spc="-10" dirty="0">
                <a:solidFill>
                  <a:prstClr val="black"/>
                </a:solidFill>
                <a:uFill>
                  <a:solidFill>
                    <a:srgbClr val="000000"/>
                  </a:solidFill>
                </a:uFill>
                <a:latin typeface="Palatino Linotype"/>
                <a:cs typeface="Palatino Linotype"/>
              </a:rPr>
              <a:t> </a:t>
            </a:r>
            <a:r>
              <a:rPr sz="1500" u="sng" kern="1200" spc="-5" dirty="0">
                <a:solidFill>
                  <a:prstClr val="black"/>
                </a:solidFill>
                <a:uFill>
                  <a:solidFill>
                    <a:srgbClr val="000000"/>
                  </a:solidFill>
                </a:uFill>
                <a:latin typeface="Palatino Linotype"/>
                <a:cs typeface="Palatino Linotype"/>
              </a:rPr>
              <a:t>to which </a:t>
            </a:r>
            <a:r>
              <a:rPr sz="1500" kern="1200" spc="-360" dirty="0">
                <a:solidFill>
                  <a:prstClr val="black"/>
                </a:solidFill>
                <a:latin typeface="Palatino Linotype"/>
                <a:cs typeface="Palatino Linotype"/>
              </a:rPr>
              <a:t> </a:t>
            </a:r>
            <a:r>
              <a:rPr sz="1500" u="sng" kern="1200" spc="-5" dirty="0">
                <a:solidFill>
                  <a:prstClr val="black"/>
                </a:solidFill>
                <a:uFill>
                  <a:solidFill>
                    <a:srgbClr val="000000"/>
                  </a:solidFill>
                </a:uFill>
                <a:latin typeface="Palatino Linotype"/>
                <a:cs typeface="Palatino Linotype"/>
              </a:rPr>
              <a:t>control</a:t>
            </a:r>
            <a:r>
              <a:rPr sz="1500" u="sng" kern="1200" spc="10" dirty="0">
                <a:solidFill>
                  <a:prstClr val="black"/>
                </a:solidFill>
                <a:uFill>
                  <a:solidFill>
                    <a:srgbClr val="000000"/>
                  </a:solidFill>
                </a:uFill>
                <a:latin typeface="Palatino Linotype"/>
                <a:cs typeface="Palatino Linotype"/>
              </a:rPr>
              <a:t> </a:t>
            </a:r>
            <a:r>
              <a:rPr sz="1500" u="sng" kern="1200" dirty="0">
                <a:solidFill>
                  <a:prstClr val="black"/>
                </a:solidFill>
                <a:uFill>
                  <a:solidFill>
                    <a:srgbClr val="000000"/>
                  </a:solidFill>
                </a:uFill>
                <a:latin typeface="Palatino Linotype"/>
                <a:cs typeface="Palatino Linotype"/>
              </a:rPr>
              <a:t>goes</a:t>
            </a:r>
            <a:r>
              <a:rPr sz="1500" u="sng" kern="1200" spc="-5" dirty="0">
                <a:solidFill>
                  <a:prstClr val="black"/>
                </a:solidFill>
                <a:uFill>
                  <a:solidFill>
                    <a:srgbClr val="000000"/>
                  </a:solidFill>
                </a:uFill>
                <a:latin typeface="Palatino Linotype"/>
                <a:cs typeface="Palatino Linotype"/>
              </a:rPr>
              <a:t> if</a:t>
            </a:r>
            <a:r>
              <a:rPr sz="1500" u="sng" kern="1200" spc="15" dirty="0">
                <a:solidFill>
                  <a:prstClr val="black"/>
                </a:solidFill>
                <a:uFill>
                  <a:solidFill>
                    <a:srgbClr val="000000"/>
                  </a:solidFill>
                </a:uFill>
                <a:latin typeface="Palatino Linotype"/>
                <a:cs typeface="Palatino Linotype"/>
              </a:rPr>
              <a:t> </a:t>
            </a:r>
            <a:r>
              <a:rPr sz="1500" u="sng" kern="1200" dirty="0">
                <a:solidFill>
                  <a:prstClr val="black"/>
                </a:solidFill>
                <a:uFill>
                  <a:solidFill>
                    <a:srgbClr val="000000"/>
                  </a:solidFill>
                </a:uFill>
                <a:latin typeface="Cambria Math"/>
                <a:cs typeface="Cambria Math"/>
              </a:rPr>
              <a:t>𝐵</a:t>
            </a:r>
            <a:r>
              <a:rPr sz="1500" u="sng" kern="1200" spc="85" dirty="0">
                <a:solidFill>
                  <a:prstClr val="black"/>
                </a:solidFill>
                <a:uFill>
                  <a:solidFill>
                    <a:srgbClr val="000000"/>
                  </a:solidFill>
                </a:uFill>
                <a:latin typeface="Cambria Math"/>
                <a:cs typeface="Cambria Math"/>
              </a:rPr>
              <a:t> </a:t>
            </a:r>
            <a:r>
              <a:rPr sz="1500" u="sng" kern="1200" spc="-5" dirty="0">
                <a:solidFill>
                  <a:prstClr val="black"/>
                </a:solidFill>
                <a:uFill>
                  <a:solidFill>
                    <a:srgbClr val="000000"/>
                  </a:solidFill>
                </a:uFill>
                <a:latin typeface="Palatino Linotype"/>
                <a:cs typeface="Palatino Linotype"/>
              </a:rPr>
              <a:t>is</a:t>
            </a:r>
            <a:r>
              <a:rPr sz="1500" u="sng" kern="1200" spc="5" dirty="0">
                <a:solidFill>
                  <a:prstClr val="black"/>
                </a:solidFill>
                <a:uFill>
                  <a:solidFill>
                    <a:srgbClr val="000000"/>
                  </a:solidFill>
                </a:uFill>
                <a:latin typeface="Palatino Linotype"/>
                <a:cs typeface="Palatino Linotype"/>
              </a:rPr>
              <a:t> </a:t>
            </a:r>
            <a:r>
              <a:rPr sz="1500" u="sng" kern="1200" spc="-5" dirty="0">
                <a:solidFill>
                  <a:prstClr val="black"/>
                </a:solidFill>
                <a:uFill>
                  <a:solidFill>
                    <a:srgbClr val="000000"/>
                  </a:solidFill>
                </a:uFill>
                <a:latin typeface="Palatino Linotype"/>
                <a:cs typeface="Palatino Linotype"/>
              </a:rPr>
              <a:t>true</a:t>
            </a:r>
            <a:endParaRPr sz="1500" kern="1200" dirty="0">
              <a:solidFill>
                <a:prstClr val="black"/>
              </a:solidFill>
              <a:latin typeface="Palatino Linotype"/>
              <a:cs typeface="Palatino Linotype"/>
            </a:endParaRPr>
          </a:p>
          <a:p>
            <a:pPr marL="697865" lvl="1" indent="-228600" rtl="0">
              <a:spcBef>
                <a:spcPts val="960"/>
              </a:spcBef>
              <a:buClr>
                <a:srgbClr val="000000"/>
              </a:buClr>
              <a:buFont typeface="Wingdings"/>
              <a:buChar char=""/>
              <a:tabLst>
                <a:tab pos="697865" algn="l"/>
                <a:tab pos="698500" algn="l"/>
              </a:tabLst>
            </a:pPr>
            <a:r>
              <a:rPr sz="1500" kern="1200" dirty="0">
                <a:solidFill>
                  <a:srgbClr val="0431FF"/>
                </a:solidFill>
                <a:latin typeface="Cambria Math"/>
                <a:cs typeface="Cambria Math"/>
              </a:rPr>
              <a:t>𝑓𝑎𝑙𝑠𝑒𝑙𝑖𝑠𝑡</a:t>
            </a:r>
            <a:r>
              <a:rPr sz="1500" kern="1200" dirty="0">
                <a:solidFill>
                  <a:prstClr val="black"/>
                </a:solidFill>
                <a:latin typeface="Palatino Linotype"/>
                <a:cs typeface="Palatino Linotype"/>
              </a:rPr>
              <a:t>:</a:t>
            </a:r>
            <a:r>
              <a:rPr sz="1500" kern="1200" spc="-10" dirty="0">
                <a:solidFill>
                  <a:prstClr val="black"/>
                </a:solidFill>
                <a:latin typeface="Palatino Linotype"/>
                <a:cs typeface="Palatino Linotype"/>
              </a:rPr>
              <a:t> </a:t>
            </a:r>
            <a:r>
              <a:rPr sz="1500" kern="1200" dirty="0">
                <a:solidFill>
                  <a:srgbClr val="FF0000"/>
                </a:solidFill>
                <a:latin typeface="Palatino Linotype"/>
                <a:cs typeface="Palatino Linotype"/>
              </a:rPr>
              <a:t>a </a:t>
            </a:r>
            <a:r>
              <a:rPr sz="1500" kern="1200" spc="-5" dirty="0">
                <a:solidFill>
                  <a:srgbClr val="FF0000"/>
                </a:solidFill>
                <a:latin typeface="Palatino Linotype"/>
                <a:cs typeface="Palatino Linotype"/>
              </a:rPr>
              <a:t>list</a:t>
            </a:r>
            <a:r>
              <a:rPr sz="1500" kern="1200" spc="5" dirty="0">
                <a:solidFill>
                  <a:srgbClr val="FF0000"/>
                </a:solidFill>
                <a:latin typeface="Palatino Linotype"/>
                <a:cs typeface="Palatino Linotype"/>
              </a:rPr>
              <a:t> </a:t>
            </a:r>
            <a:r>
              <a:rPr sz="1500" kern="1200" dirty="0">
                <a:solidFill>
                  <a:srgbClr val="FF0000"/>
                </a:solidFill>
                <a:latin typeface="Palatino Linotype"/>
                <a:cs typeface="Palatino Linotype"/>
              </a:rPr>
              <a:t>of</a:t>
            </a:r>
            <a:r>
              <a:rPr sz="1500" kern="1200" spc="10" dirty="0">
                <a:solidFill>
                  <a:srgbClr val="FF0000"/>
                </a:solidFill>
                <a:latin typeface="Palatino Linotype"/>
                <a:cs typeface="Palatino Linotype"/>
              </a:rPr>
              <a:t> </a:t>
            </a:r>
            <a:r>
              <a:rPr sz="1500" kern="1200" spc="-5" dirty="0">
                <a:solidFill>
                  <a:srgbClr val="FF0000"/>
                </a:solidFill>
                <a:latin typeface="Palatino Linotype"/>
                <a:cs typeface="Palatino Linotype"/>
              </a:rPr>
              <a:t>jump</a:t>
            </a:r>
            <a:r>
              <a:rPr sz="1500" kern="1200" dirty="0">
                <a:solidFill>
                  <a:srgbClr val="FF0000"/>
                </a:solidFill>
                <a:latin typeface="Palatino Linotype"/>
                <a:cs typeface="Palatino Linotype"/>
              </a:rPr>
              <a:t> </a:t>
            </a:r>
            <a:r>
              <a:rPr sz="1500" kern="1200" spc="-5" dirty="0">
                <a:solidFill>
                  <a:srgbClr val="FF0000"/>
                </a:solidFill>
                <a:latin typeface="Palatino Linotype"/>
                <a:cs typeface="Palatino Linotype"/>
              </a:rPr>
              <a:t>instructions</a:t>
            </a:r>
            <a:r>
              <a:rPr sz="1500" kern="1200" spc="15" dirty="0">
                <a:solidFill>
                  <a:srgbClr val="FF0000"/>
                </a:solidFill>
                <a:latin typeface="Palatino Linotype"/>
                <a:cs typeface="Palatino Linotype"/>
              </a:rPr>
              <a:t> </a:t>
            </a:r>
            <a:r>
              <a:rPr sz="1500" kern="1200" dirty="0">
                <a:solidFill>
                  <a:prstClr val="black"/>
                </a:solidFill>
                <a:latin typeface="Palatino Linotype"/>
                <a:cs typeface="Palatino Linotype"/>
              </a:rPr>
              <a:t>for</a:t>
            </a:r>
            <a:r>
              <a:rPr sz="1500" kern="1200" spc="5" dirty="0">
                <a:solidFill>
                  <a:prstClr val="black"/>
                </a:solidFill>
                <a:latin typeface="Palatino Linotype"/>
                <a:cs typeface="Palatino Linotype"/>
              </a:rPr>
              <a:t> </a:t>
            </a:r>
            <a:r>
              <a:rPr sz="1500" kern="1200" spc="-5" dirty="0">
                <a:solidFill>
                  <a:prstClr val="black"/>
                </a:solidFill>
                <a:latin typeface="Palatino Linotype"/>
                <a:cs typeface="Palatino Linotype"/>
              </a:rPr>
              <a:t>which</a:t>
            </a:r>
            <a:r>
              <a:rPr sz="1500" kern="1200" spc="5" dirty="0">
                <a:solidFill>
                  <a:prstClr val="black"/>
                </a:solidFill>
                <a:latin typeface="Palatino Linotype"/>
                <a:cs typeface="Palatino Linotype"/>
              </a:rPr>
              <a:t> </a:t>
            </a:r>
            <a:r>
              <a:rPr sz="1500" kern="1200" spc="-15" dirty="0">
                <a:solidFill>
                  <a:prstClr val="black"/>
                </a:solidFill>
                <a:latin typeface="Palatino Linotype"/>
                <a:cs typeface="Palatino Linotype"/>
              </a:rPr>
              <a:t>we </a:t>
            </a:r>
            <a:r>
              <a:rPr sz="1500" kern="1200" spc="-5" dirty="0">
                <a:solidFill>
                  <a:prstClr val="black"/>
                </a:solidFill>
                <a:latin typeface="Palatino Linotype"/>
                <a:cs typeface="Palatino Linotype"/>
              </a:rPr>
              <a:t>must</a:t>
            </a:r>
            <a:r>
              <a:rPr sz="1500" kern="1200" spc="10" dirty="0">
                <a:solidFill>
                  <a:prstClr val="black"/>
                </a:solidFill>
                <a:latin typeface="Palatino Linotype"/>
                <a:cs typeface="Palatino Linotype"/>
              </a:rPr>
              <a:t> </a:t>
            </a:r>
            <a:r>
              <a:rPr sz="1500" kern="1200" spc="-5" dirty="0">
                <a:solidFill>
                  <a:prstClr val="black"/>
                </a:solidFill>
                <a:latin typeface="Palatino Linotype"/>
                <a:cs typeface="Palatino Linotype"/>
              </a:rPr>
              <a:t>fill</a:t>
            </a:r>
            <a:r>
              <a:rPr sz="1500" kern="1200" dirty="0">
                <a:solidFill>
                  <a:prstClr val="black"/>
                </a:solidFill>
                <a:latin typeface="Palatino Linotype"/>
                <a:cs typeface="Palatino Linotype"/>
              </a:rPr>
              <a:t> </a:t>
            </a:r>
            <a:r>
              <a:rPr sz="1500" kern="1200" spc="-5" dirty="0">
                <a:solidFill>
                  <a:prstClr val="black"/>
                </a:solidFill>
                <a:latin typeface="Palatino Linotype"/>
                <a:cs typeface="Palatino Linotype"/>
              </a:rPr>
              <a:t>in</a:t>
            </a:r>
            <a:r>
              <a:rPr sz="1500" kern="1200" spc="10" dirty="0">
                <a:solidFill>
                  <a:prstClr val="black"/>
                </a:solidFill>
                <a:latin typeface="Palatino Linotype"/>
                <a:cs typeface="Palatino Linotype"/>
              </a:rPr>
              <a:t> </a:t>
            </a:r>
            <a:r>
              <a:rPr sz="1500" u="sng" kern="1200" spc="-5" dirty="0">
                <a:solidFill>
                  <a:prstClr val="black"/>
                </a:solidFill>
                <a:uFill>
                  <a:solidFill>
                    <a:srgbClr val="000000"/>
                  </a:solidFill>
                </a:uFill>
                <a:latin typeface="Palatino Linotype"/>
                <a:cs typeface="Palatino Linotype"/>
              </a:rPr>
              <a:t>the</a:t>
            </a:r>
            <a:r>
              <a:rPr sz="1500" u="sng" kern="1200" spc="-15" dirty="0">
                <a:solidFill>
                  <a:prstClr val="black"/>
                </a:solidFill>
                <a:uFill>
                  <a:solidFill>
                    <a:srgbClr val="000000"/>
                  </a:solidFill>
                </a:uFill>
                <a:latin typeface="Palatino Linotype"/>
                <a:cs typeface="Palatino Linotype"/>
              </a:rPr>
              <a:t> </a:t>
            </a:r>
            <a:r>
              <a:rPr sz="1500" u="sng" kern="1200" spc="-5" dirty="0">
                <a:solidFill>
                  <a:prstClr val="black"/>
                </a:solidFill>
                <a:uFill>
                  <a:solidFill>
                    <a:srgbClr val="000000"/>
                  </a:solidFill>
                </a:uFill>
                <a:latin typeface="Palatino Linotype"/>
                <a:cs typeface="Palatino Linotype"/>
              </a:rPr>
              <a:t>label to</a:t>
            </a:r>
            <a:r>
              <a:rPr sz="1500" u="sng" kern="1200" spc="-10" dirty="0">
                <a:solidFill>
                  <a:prstClr val="black"/>
                </a:solidFill>
                <a:uFill>
                  <a:solidFill>
                    <a:srgbClr val="000000"/>
                  </a:solidFill>
                </a:uFill>
                <a:latin typeface="Palatino Linotype"/>
                <a:cs typeface="Palatino Linotype"/>
              </a:rPr>
              <a:t> </a:t>
            </a:r>
            <a:r>
              <a:rPr sz="1500" u="sng" kern="1200" spc="-5" dirty="0">
                <a:solidFill>
                  <a:prstClr val="black"/>
                </a:solidFill>
                <a:uFill>
                  <a:solidFill>
                    <a:srgbClr val="000000"/>
                  </a:solidFill>
                </a:uFill>
                <a:latin typeface="Palatino Linotype"/>
                <a:cs typeface="Palatino Linotype"/>
              </a:rPr>
              <a:t>which</a:t>
            </a:r>
            <a:endParaRPr sz="1500" kern="1200" dirty="0">
              <a:solidFill>
                <a:prstClr val="black"/>
              </a:solidFill>
              <a:latin typeface="Palatino Linotype"/>
              <a:cs typeface="Palatino Linotype"/>
            </a:endParaRPr>
          </a:p>
          <a:p>
            <a:pPr marL="697865" rtl="0">
              <a:spcBef>
                <a:spcPts val="365"/>
              </a:spcBef>
            </a:pPr>
            <a:r>
              <a:rPr sz="1500" u="sng" kern="1200" spc="-5" dirty="0">
                <a:solidFill>
                  <a:prstClr val="black"/>
                </a:solidFill>
                <a:uFill>
                  <a:solidFill>
                    <a:srgbClr val="000000"/>
                  </a:solidFill>
                </a:uFill>
                <a:latin typeface="Palatino Linotype"/>
                <a:cs typeface="Palatino Linotype"/>
              </a:rPr>
              <a:t>control</a:t>
            </a:r>
            <a:r>
              <a:rPr sz="1500" u="sng" kern="1200" dirty="0">
                <a:solidFill>
                  <a:prstClr val="black"/>
                </a:solidFill>
                <a:uFill>
                  <a:solidFill>
                    <a:srgbClr val="000000"/>
                  </a:solidFill>
                </a:uFill>
                <a:latin typeface="Palatino Linotype"/>
                <a:cs typeface="Palatino Linotype"/>
              </a:rPr>
              <a:t> goes</a:t>
            </a:r>
            <a:r>
              <a:rPr sz="1500" u="sng" kern="1200" spc="-15" dirty="0">
                <a:solidFill>
                  <a:prstClr val="black"/>
                </a:solidFill>
                <a:uFill>
                  <a:solidFill>
                    <a:srgbClr val="000000"/>
                  </a:solidFill>
                </a:uFill>
                <a:latin typeface="Palatino Linotype"/>
                <a:cs typeface="Palatino Linotype"/>
              </a:rPr>
              <a:t> </a:t>
            </a:r>
            <a:r>
              <a:rPr sz="1500" u="sng" kern="1200" spc="-5" dirty="0">
                <a:solidFill>
                  <a:prstClr val="black"/>
                </a:solidFill>
                <a:uFill>
                  <a:solidFill>
                    <a:srgbClr val="000000"/>
                  </a:solidFill>
                </a:uFill>
                <a:latin typeface="Palatino Linotype"/>
                <a:cs typeface="Palatino Linotype"/>
              </a:rPr>
              <a:t>if</a:t>
            </a:r>
            <a:r>
              <a:rPr sz="1500" u="sng" kern="1200" spc="5" dirty="0">
                <a:solidFill>
                  <a:prstClr val="black"/>
                </a:solidFill>
                <a:uFill>
                  <a:solidFill>
                    <a:srgbClr val="000000"/>
                  </a:solidFill>
                </a:uFill>
                <a:latin typeface="Palatino Linotype"/>
                <a:cs typeface="Palatino Linotype"/>
              </a:rPr>
              <a:t> </a:t>
            </a:r>
            <a:r>
              <a:rPr sz="1500" u="sng" kern="1200" dirty="0">
                <a:solidFill>
                  <a:prstClr val="black"/>
                </a:solidFill>
                <a:uFill>
                  <a:solidFill>
                    <a:srgbClr val="000000"/>
                  </a:solidFill>
                </a:uFill>
                <a:latin typeface="Cambria Math"/>
                <a:cs typeface="Cambria Math"/>
              </a:rPr>
              <a:t>𝐵</a:t>
            </a:r>
            <a:r>
              <a:rPr sz="1500" u="sng" kern="1200" spc="75" dirty="0">
                <a:solidFill>
                  <a:prstClr val="black"/>
                </a:solidFill>
                <a:uFill>
                  <a:solidFill>
                    <a:srgbClr val="000000"/>
                  </a:solidFill>
                </a:uFill>
                <a:latin typeface="Cambria Math"/>
                <a:cs typeface="Cambria Math"/>
              </a:rPr>
              <a:t> </a:t>
            </a:r>
            <a:r>
              <a:rPr sz="1500" u="sng" kern="1200" spc="-5" dirty="0">
                <a:solidFill>
                  <a:prstClr val="black"/>
                </a:solidFill>
                <a:uFill>
                  <a:solidFill>
                    <a:srgbClr val="000000"/>
                  </a:solidFill>
                </a:uFill>
                <a:latin typeface="Palatino Linotype"/>
                <a:cs typeface="Palatino Linotype"/>
              </a:rPr>
              <a:t>is</a:t>
            </a:r>
            <a:r>
              <a:rPr sz="1500" u="sng" kern="1200" spc="-10" dirty="0">
                <a:solidFill>
                  <a:prstClr val="black"/>
                </a:solidFill>
                <a:uFill>
                  <a:solidFill>
                    <a:srgbClr val="000000"/>
                  </a:solidFill>
                </a:uFill>
                <a:latin typeface="Palatino Linotype"/>
                <a:cs typeface="Palatino Linotype"/>
              </a:rPr>
              <a:t> </a:t>
            </a:r>
            <a:r>
              <a:rPr sz="1500" u="sng" kern="1200" dirty="0">
                <a:solidFill>
                  <a:prstClr val="black"/>
                </a:solidFill>
                <a:uFill>
                  <a:solidFill>
                    <a:srgbClr val="000000"/>
                  </a:solidFill>
                </a:uFill>
                <a:latin typeface="Palatino Linotype"/>
                <a:cs typeface="Palatino Linotype"/>
              </a:rPr>
              <a:t>false</a:t>
            </a:r>
            <a:endParaRPr sz="1500" kern="1200" dirty="0">
              <a:solidFill>
                <a:prstClr val="black"/>
              </a:solidFill>
              <a:latin typeface="Palatino Linotype"/>
              <a:cs typeface="Palatino Linotype"/>
            </a:endParaRPr>
          </a:p>
        </p:txBody>
      </p:sp>
    </p:spTree>
    <p:extLst>
      <p:ext uri="{BB962C8B-B14F-4D97-AF65-F5344CB8AC3E}">
        <p14:creationId xmlns:p14="http://schemas.microsoft.com/office/powerpoint/2010/main" val="89367427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 name="object 4">
            <a:extLst>
              <a:ext uri="{FF2B5EF4-FFF2-40B4-BE49-F238E27FC236}">
                <a16:creationId xmlns:a16="http://schemas.microsoft.com/office/drawing/2014/main" id="{117BB0EE-32BA-9B21-7CEF-4AE96C6210D3}"/>
              </a:ext>
            </a:extLst>
          </p:cNvPr>
          <p:cNvSpPr txBox="1"/>
          <p:nvPr/>
        </p:nvSpPr>
        <p:spPr>
          <a:xfrm>
            <a:off x="694842" y="1971548"/>
            <a:ext cx="7714615" cy="2781300"/>
          </a:xfrm>
          <a:prstGeom prst="rect">
            <a:avLst/>
          </a:prstGeom>
        </p:spPr>
        <p:txBody>
          <a:bodyPr vert="horz" wrap="square" lIns="0" tIns="13335" rIns="0" bIns="0" rtlCol="0">
            <a:spAutoFit/>
          </a:bodyPr>
          <a:lstStyle/>
          <a:p>
            <a:pPr marL="255270" indent="-230504" rtl="0">
              <a:spcBef>
                <a:spcPts val="105"/>
              </a:spcBef>
              <a:buClr>
                <a:srgbClr val="000000"/>
              </a:buClr>
              <a:buFont typeface="Arial MT"/>
              <a:buChar char="•"/>
              <a:tabLst>
                <a:tab pos="255270" algn="l"/>
                <a:tab pos="255904" algn="l"/>
              </a:tabLst>
            </a:pPr>
            <a:r>
              <a:rPr sz="2000" b="1" kern="1200" dirty="0">
                <a:solidFill>
                  <a:srgbClr val="FF0000"/>
                </a:solidFill>
                <a:latin typeface="Palatino Linotype"/>
                <a:cs typeface="Palatino Linotype"/>
              </a:rPr>
              <a:t>The</a:t>
            </a:r>
            <a:r>
              <a:rPr sz="2000" b="1" kern="1200" spc="-10" dirty="0">
                <a:solidFill>
                  <a:srgbClr val="FF0000"/>
                </a:solidFill>
                <a:latin typeface="Palatino Linotype"/>
                <a:cs typeface="Palatino Linotype"/>
              </a:rPr>
              <a:t> </a:t>
            </a:r>
            <a:r>
              <a:rPr sz="2000" b="1" kern="1200" dirty="0">
                <a:solidFill>
                  <a:srgbClr val="FF0000"/>
                </a:solidFill>
                <a:latin typeface="Palatino Linotype"/>
                <a:cs typeface="Palatino Linotype"/>
              </a:rPr>
              <a:t>technique</a:t>
            </a:r>
            <a:r>
              <a:rPr sz="2000" b="1" kern="1200" spc="-35" dirty="0">
                <a:solidFill>
                  <a:srgbClr val="FF0000"/>
                </a:solidFill>
                <a:latin typeface="Palatino Linotype"/>
                <a:cs typeface="Palatino Linotype"/>
              </a:rPr>
              <a:t> </a:t>
            </a:r>
            <a:r>
              <a:rPr sz="2000" b="1" kern="1200" spc="10" dirty="0">
                <a:solidFill>
                  <a:srgbClr val="FF0000"/>
                </a:solidFill>
                <a:latin typeface="Palatino Linotype"/>
                <a:cs typeface="Palatino Linotype"/>
              </a:rPr>
              <a:t>(</a:t>
            </a:r>
            <a:r>
              <a:rPr sz="2000" kern="1200" spc="10" dirty="0">
                <a:solidFill>
                  <a:srgbClr val="FF0000"/>
                </a:solidFill>
                <a:latin typeface="SimSun"/>
                <a:cs typeface="SimSun"/>
              </a:rPr>
              <a:t>技术细节</a:t>
            </a:r>
            <a:r>
              <a:rPr sz="2000" b="1" kern="1200" dirty="0">
                <a:solidFill>
                  <a:srgbClr val="FF0000"/>
                </a:solidFill>
                <a:latin typeface="Palatino Linotype"/>
                <a:cs typeface="Palatino Linotype"/>
              </a:rPr>
              <a:t>)</a:t>
            </a:r>
            <a:r>
              <a:rPr sz="2000" b="1" kern="1200" spc="-40" dirty="0">
                <a:solidFill>
                  <a:srgbClr val="FF0000"/>
                </a:solidFill>
                <a:latin typeface="Palatino Linotype"/>
                <a:cs typeface="Palatino Linotype"/>
              </a:rPr>
              <a:t> </a:t>
            </a:r>
            <a:r>
              <a:rPr sz="2000" b="1" kern="1200" dirty="0">
                <a:solidFill>
                  <a:srgbClr val="FF0000"/>
                </a:solidFill>
                <a:latin typeface="Palatino Linotype"/>
                <a:cs typeface="Palatino Linotype"/>
              </a:rPr>
              <a:t>Cont.:</a:t>
            </a:r>
            <a:endParaRPr sz="2000" kern="1200" dirty="0">
              <a:solidFill>
                <a:prstClr val="black"/>
              </a:solidFill>
              <a:latin typeface="Palatino Linotype"/>
              <a:cs typeface="Palatino Linotype"/>
            </a:endParaRPr>
          </a:p>
          <a:p>
            <a:pPr marL="710565" marR="981710" lvl="1" indent="-228600" rtl="0">
              <a:lnSpc>
                <a:spcPct val="120100"/>
              </a:lnSpc>
              <a:spcBef>
                <a:spcPts val="1860"/>
              </a:spcBef>
              <a:buClr>
                <a:srgbClr val="000000"/>
              </a:buClr>
              <a:buFont typeface="Wingdings"/>
              <a:buChar char=""/>
              <a:tabLst>
                <a:tab pos="710565" algn="l"/>
                <a:tab pos="711200" algn="l"/>
              </a:tabLst>
            </a:pPr>
            <a:r>
              <a:rPr sz="1600" kern="1200" spc="5" dirty="0">
                <a:solidFill>
                  <a:srgbClr val="0431FF"/>
                </a:solidFill>
                <a:latin typeface="Cambria Math"/>
                <a:cs typeface="Cambria Math"/>
              </a:rPr>
              <a:t>𝑚𝑎𝑘𝑒𝑙𝑖𝑠𝑡(𝑖)</a:t>
            </a:r>
            <a:r>
              <a:rPr sz="1600" kern="1200" spc="5" dirty="0">
                <a:solidFill>
                  <a:prstClr val="black"/>
                </a:solidFill>
                <a:latin typeface="Palatino Linotype"/>
                <a:cs typeface="Palatino Linotype"/>
              </a:rPr>
              <a:t>:</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create</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a</a:t>
            </a:r>
            <a:r>
              <a:rPr sz="1600" kern="1200" dirty="0">
                <a:solidFill>
                  <a:prstClr val="black"/>
                </a:solidFill>
                <a:latin typeface="Palatino Linotype"/>
                <a:cs typeface="Palatino Linotype"/>
              </a:rPr>
              <a:t> </a:t>
            </a:r>
            <a:r>
              <a:rPr sz="1600" kern="1200" spc="-10" dirty="0">
                <a:solidFill>
                  <a:prstClr val="black"/>
                </a:solidFill>
                <a:latin typeface="Palatino Linotype"/>
                <a:cs typeface="Palatino Linotype"/>
              </a:rPr>
              <a:t>new</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list</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containing</a:t>
            </a:r>
            <a:r>
              <a:rPr sz="1600" kern="1200" spc="30" dirty="0">
                <a:solidFill>
                  <a:prstClr val="black"/>
                </a:solidFill>
                <a:latin typeface="Palatino Linotype"/>
                <a:cs typeface="Palatino Linotype"/>
              </a:rPr>
              <a:t> </a:t>
            </a:r>
            <a:r>
              <a:rPr sz="1600" kern="1200" spc="-5" dirty="0">
                <a:solidFill>
                  <a:prstClr val="black"/>
                </a:solidFill>
                <a:latin typeface="Palatino Linotype"/>
                <a:cs typeface="Palatino Linotype"/>
              </a:rPr>
              <a:t>only</a:t>
            </a:r>
            <a:r>
              <a:rPr sz="1600" kern="1200" spc="30" dirty="0">
                <a:solidFill>
                  <a:prstClr val="black"/>
                </a:solidFill>
                <a:latin typeface="Palatino Linotype"/>
                <a:cs typeface="Palatino Linotype"/>
              </a:rPr>
              <a:t> </a:t>
            </a:r>
            <a:r>
              <a:rPr sz="1600" kern="1200" spc="25" dirty="0">
                <a:solidFill>
                  <a:prstClr val="black"/>
                </a:solidFill>
                <a:latin typeface="Cambria Math"/>
                <a:cs typeface="Cambria Math"/>
              </a:rPr>
              <a:t>𝑖</a:t>
            </a:r>
            <a:r>
              <a:rPr sz="1600" kern="1200" spc="25" dirty="0">
                <a:solidFill>
                  <a:prstClr val="black"/>
                </a:solidFill>
                <a:latin typeface="Palatino Linotype"/>
                <a:cs typeface="Palatino Linotype"/>
              </a:rPr>
              <a:t>,</a:t>
            </a:r>
            <a:r>
              <a:rPr sz="1600" kern="1200" dirty="0">
                <a:solidFill>
                  <a:prstClr val="black"/>
                </a:solidFill>
                <a:latin typeface="Palatino Linotype"/>
                <a:cs typeface="Palatino Linotype"/>
              </a:rPr>
              <a:t> </a:t>
            </a:r>
            <a:r>
              <a:rPr sz="1600" kern="1200" spc="-10" dirty="0">
                <a:solidFill>
                  <a:prstClr val="black"/>
                </a:solidFill>
                <a:latin typeface="Palatino Linotype"/>
                <a:cs typeface="Palatino Linotype"/>
              </a:rPr>
              <a:t>the</a:t>
            </a:r>
            <a:r>
              <a:rPr sz="1600" kern="1200" spc="25" dirty="0">
                <a:solidFill>
                  <a:prstClr val="black"/>
                </a:solidFill>
                <a:latin typeface="Palatino Linotype"/>
                <a:cs typeface="Palatino Linotype"/>
              </a:rPr>
              <a:t> </a:t>
            </a:r>
            <a:r>
              <a:rPr sz="1600" kern="1200" spc="-5" dirty="0">
                <a:solidFill>
                  <a:prstClr val="black"/>
                </a:solidFill>
                <a:latin typeface="Palatino Linotype"/>
                <a:cs typeface="Palatino Linotype"/>
              </a:rPr>
              <a:t>index</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of</a:t>
            </a:r>
            <a:r>
              <a:rPr sz="1600" kern="1200" dirty="0">
                <a:solidFill>
                  <a:prstClr val="black"/>
                </a:solidFill>
                <a:latin typeface="Palatino Linotype"/>
                <a:cs typeface="Palatino Linotype"/>
              </a:rPr>
              <a:t> </a:t>
            </a:r>
            <a:r>
              <a:rPr sz="1600" kern="1200" spc="-5" dirty="0">
                <a:solidFill>
                  <a:prstClr val="black"/>
                </a:solidFill>
                <a:latin typeface="Palatino Linotype"/>
                <a:cs typeface="Palatino Linotype"/>
              </a:rPr>
              <a:t>a</a:t>
            </a:r>
            <a:r>
              <a:rPr sz="1600" kern="1200" spc="5" dirty="0">
                <a:solidFill>
                  <a:prstClr val="black"/>
                </a:solidFill>
                <a:latin typeface="Palatino Linotype"/>
                <a:cs typeface="Palatino Linotype"/>
              </a:rPr>
              <a:t> </a:t>
            </a:r>
            <a:r>
              <a:rPr sz="1600" kern="1200" spc="-10" dirty="0">
                <a:solidFill>
                  <a:prstClr val="black"/>
                </a:solidFill>
                <a:latin typeface="Palatino Linotype"/>
                <a:cs typeface="Palatino Linotype"/>
              </a:rPr>
              <a:t>jump </a:t>
            </a:r>
            <a:r>
              <a:rPr sz="1600" kern="1200" spc="-385" dirty="0">
                <a:solidFill>
                  <a:prstClr val="black"/>
                </a:solidFill>
                <a:latin typeface="Palatino Linotype"/>
                <a:cs typeface="Palatino Linotype"/>
              </a:rPr>
              <a:t> </a:t>
            </a:r>
            <a:r>
              <a:rPr sz="1600" kern="1200" spc="-5" dirty="0">
                <a:solidFill>
                  <a:prstClr val="black"/>
                </a:solidFill>
                <a:latin typeface="Palatino Linotype"/>
                <a:cs typeface="Palatino Linotype"/>
              </a:rPr>
              <a:t>instruction,</a:t>
            </a:r>
            <a:r>
              <a:rPr sz="1600" kern="1200" spc="30" dirty="0">
                <a:solidFill>
                  <a:prstClr val="black"/>
                </a:solidFill>
                <a:latin typeface="Palatino Linotype"/>
                <a:cs typeface="Palatino Linotype"/>
              </a:rPr>
              <a:t> </a:t>
            </a:r>
            <a:r>
              <a:rPr sz="1600" kern="1200" spc="-5" dirty="0">
                <a:solidFill>
                  <a:prstClr val="black"/>
                </a:solidFill>
                <a:latin typeface="Palatino Linotype"/>
                <a:cs typeface="Palatino Linotype"/>
              </a:rPr>
              <a:t>and</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return</a:t>
            </a:r>
            <a:r>
              <a:rPr sz="1600" kern="1200" spc="15" dirty="0">
                <a:solidFill>
                  <a:prstClr val="black"/>
                </a:solidFill>
                <a:latin typeface="Palatino Linotype"/>
                <a:cs typeface="Palatino Linotype"/>
              </a:rPr>
              <a:t> </a:t>
            </a:r>
            <a:r>
              <a:rPr sz="1600" kern="1200" spc="-10" dirty="0">
                <a:solidFill>
                  <a:prstClr val="black"/>
                </a:solidFill>
                <a:latin typeface="Palatino Linotype"/>
                <a:cs typeface="Palatino Linotype"/>
              </a:rPr>
              <a:t>the</a:t>
            </a:r>
            <a:r>
              <a:rPr sz="1600" kern="1200" spc="20" dirty="0">
                <a:solidFill>
                  <a:prstClr val="black"/>
                </a:solidFill>
                <a:latin typeface="Palatino Linotype"/>
                <a:cs typeface="Palatino Linotype"/>
              </a:rPr>
              <a:t> </a:t>
            </a:r>
            <a:r>
              <a:rPr sz="1600" kern="1200" spc="-5" dirty="0">
                <a:solidFill>
                  <a:prstClr val="black"/>
                </a:solidFill>
                <a:latin typeface="Palatino Linotype"/>
                <a:cs typeface="Palatino Linotype"/>
              </a:rPr>
              <a:t>pointer</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to</a:t>
            </a:r>
            <a:r>
              <a:rPr sz="1600" kern="1200" spc="5" dirty="0">
                <a:solidFill>
                  <a:prstClr val="black"/>
                </a:solidFill>
                <a:latin typeface="Palatino Linotype"/>
                <a:cs typeface="Palatino Linotype"/>
              </a:rPr>
              <a:t> </a:t>
            </a:r>
            <a:r>
              <a:rPr sz="1600" kern="1200" spc="-10" dirty="0">
                <a:solidFill>
                  <a:prstClr val="black"/>
                </a:solidFill>
                <a:latin typeface="Palatino Linotype"/>
                <a:cs typeface="Palatino Linotype"/>
              </a:rPr>
              <a:t>the</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list</a:t>
            </a:r>
            <a:endParaRPr sz="1600" kern="1200" dirty="0">
              <a:solidFill>
                <a:prstClr val="black"/>
              </a:solidFill>
              <a:latin typeface="Palatino Linotype"/>
              <a:cs typeface="Palatino Linotype"/>
            </a:endParaRPr>
          </a:p>
          <a:p>
            <a:pPr lvl="1" rtl="0">
              <a:spcBef>
                <a:spcPts val="45"/>
              </a:spcBef>
              <a:buFont typeface="Wingdings"/>
              <a:buChar char=""/>
            </a:pPr>
            <a:endParaRPr sz="1300" kern="1200" dirty="0">
              <a:solidFill>
                <a:prstClr val="black"/>
              </a:solidFill>
              <a:latin typeface="Palatino Linotype"/>
              <a:cs typeface="Palatino Linotype"/>
            </a:endParaRPr>
          </a:p>
          <a:p>
            <a:pPr marL="710565" marR="17780" lvl="1" indent="-228600" rtl="0">
              <a:lnSpc>
                <a:spcPct val="120000"/>
              </a:lnSpc>
              <a:buClr>
                <a:srgbClr val="000000"/>
              </a:buClr>
              <a:buFont typeface="Wingdings"/>
              <a:buChar char=""/>
              <a:tabLst>
                <a:tab pos="710565" algn="l"/>
                <a:tab pos="711200" algn="l"/>
              </a:tabLst>
            </a:pPr>
            <a:r>
              <a:rPr sz="1600" kern="1200" dirty="0">
                <a:solidFill>
                  <a:srgbClr val="0431FF"/>
                </a:solidFill>
                <a:latin typeface="Cambria Math"/>
                <a:cs typeface="Cambria Math"/>
              </a:rPr>
              <a:t>𝑚𝑒𝑟𝑔𝑒(𝑝</a:t>
            </a:r>
            <a:r>
              <a:rPr sz="1725" kern="1200" baseline="-14492" dirty="0">
                <a:solidFill>
                  <a:srgbClr val="0431FF"/>
                </a:solidFill>
                <a:latin typeface="Cambria Math"/>
                <a:cs typeface="Cambria Math"/>
              </a:rPr>
              <a:t>1</a:t>
            </a:r>
            <a:r>
              <a:rPr sz="1600" kern="1200" dirty="0">
                <a:solidFill>
                  <a:srgbClr val="0431FF"/>
                </a:solidFill>
                <a:latin typeface="Cambria Math"/>
                <a:cs typeface="Cambria Math"/>
              </a:rPr>
              <a:t>,</a:t>
            </a:r>
            <a:r>
              <a:rPr sz="1600" kern="1200" spc="-105" dirty="0">
                <a:solidFill>
                  <a:srgbClr val="0431FF"/>
                </a:solidFill>
                <a:latin typeface="Cambria Math"/>
                <a:cs typeface="Cambria Math"/>
              </a:rPr>
              <a:t> </a:t>
            </a:r>
            <a:r>
              <a:rPr sz="1600" kern="1200" spc="10" dirty="0">
                <a:solidFill>
                  <a:srgbClr val="0431FF"/>
                </a:solidFill>
                <a:latin typeface="Cambria Math"/>
                <a:cs typeface="Cambria Math"/>
              </a:rPr>
              <a:t>𝑝</a:t>
            </a:r>
            <a:r>
              <a:rPr sz="1725" kern="1200" spc="15" baseline="-14492" dirty="0">
                <a:solidFill>
                  <a:srgbClr val="0431FF"/>
                </a:solidFill>
                <a:latin typeface="Cambria Math"/>
                <a:cs typeface="Cambria Math"/>
              </a:rPr>
              <a:t>2</a:t>
            </a:r>
            <a:r>
              <a:rPr sz="1600" kern="1200" spc="10" dirty="0">
                <a:solidFill>
                  <a:srgbClr val="0431FF"/>
                </a:solidFill>
                <a:latin typeface="Cambria Math"/>
                <a:cs typeface="Cambria Math"/>
              </a:rPr>
              <a:t>)</a:t>
            </a:r>
            <a:r>
              <a:rPr sz="1600" kern="1200" spc="10" dirty="0">
                <a:solidFill>
                  <a:prstClr val="black"/>
                </a:solidFill>
                <a:latin typeface="Palatino Linotype"/>
                <a:cs typeface="Palatino Linotype"/>
              </a:rPr>
              <a:t>:</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concatenate</a:t>
            </a:r>
            <a:r>
              <a:rPr sz="1600" kern="1200" spc="30" dirty="0">
                <a:solidFill>
                  <a:prstClr val="black"/>
                </a:solidFill>
                <a:latin typeface="Palatino Linotype"/>
                <a:cs typeface="Palatino Linotype"/>
              </a:rPr>
              <a:t> </a:t>
            </a:r>
            <a:r>
              <a:rPr sz="1600" kern="1200" spc="-10" dirty="0">
                <a:solidFill>
                  <a:prstClr val="black"/>
                </a:solidFill>
                <a:latin typeface="Palatino Linotype"/>
                <a:cs typeface="Palatino Linotype"/>
              </a:rPr>
              <a:t>the</a:t>
            </a:r>
            <a:r>
              <a:rPr sz="1600" kern="1200" spc="30" dirty="0">
                <a:solidFill>
                  <a:prstClr val="black"/>
                </a:solidFill>
                <a:latin typeface="Palatino Linotype"/>
                <a:cs typeface="Palatino Linotype"/>
              </a:rPr>
              <a:t> </a:t>
            </a:r>
            <a:r>
              <a:rPr sz="1600" kern="1200" spc="-5" dirty="0">
                <a:solidFill>
                  <a:prstClr val="black"/>
                </a:solidFill>
                <a:latin typeface="Palatino Linotype"/>
                <a:cs typeface="Palatino Linotype"/>
              </a:rPr>
              <a:t>lists pointed</a:t>
            </a:r>
            <a:r>
              <a:rPr sz="1600" kern="1200" spc="20" dirty="0">
                <a:solidFill>
                  <a:prstClr val="black"/>
                </a:solidFill>
                <a:latin typeface="Palatino Linotype"/>
                <a:cs typeface="Palatino Linotype"/>
              </a:rPr>
              <a:t> </a:t>
            </a:r>
            <a:r>
              <a:rPr sz="1600" kern="1200" spc="-5" dirty="0">
                <a:solidFill>
                  <a:prstClr val="black"/>
                </a:solidFill>
                <a:latin typeface="Palatino Linotype"/>
                <a:cs typeface="Palatino Linotype"/>
              </a:rPr>
              <a:t>by</a:t>
            </a:r>
            <a:r>
              <a:rPr sz="1600" kern="1200" spc="15" dirty="0">
                <a:solidFill>
                  <a:prstClr val="black"/>
                </a:solidFill>
                <a:latin typeface="Palatino Linotype"/>
                <a:cs typeface="Palatino Linotype"/>
              </a:rPr>
              <a:t> </a:t>
            </a:r>
            <a:r>
              <a:rPr sz="1600" kern="1200" spc="-30" dirty="0">
                <a:solidFill>
                  <a:prstClr val="black"/>
                </a:solidFill>
                <a:latin typeface="Cambria Math"/>
                <a:cs typeface="Cambria Math"/>
              </a:rPr>
              <a:t>𝑝</a:t>
            </a:r>
            <a:r>
              <a:rPr sz="1725" kern="1200" spc="-44" baseline="-14492" dirty="0">
                <a:solidFill>
                  <a:prstClr val="black"/>
                </a:solidFill>
                <a:latin typeface="Cambria Math"/>
                <a:cs typeface="Cambria Math"/>
              </a:rPr>
              <a:t>1</a:t>
            </a:r>
            <a:r>
              <a:rPr sz="1725" kern="1200" baseline="-14492" dirty="0">
                <a:solidFill>
                  <a:prstClr val="black"/>
                </a:solidFill>
                <a:latin typeface="Cambria Math"/>
                <a:cs typeface="Cambria Math"/>
              </a:rPr>
              <a:t> </a:t>
            </a:r>
            <a:r>
              <a:rPr sz="1600" kern="1200" spc="-5" dirty="0">
                <a:solidFill>
                  <a:prstClr val="black"/>
                </a:solidFill>
                <a:latin typeface="Palatino Linotype"/>
                <a:cs typeface="Palatino Linotype"/>
              </a:rPr>
              <a:t>and</a:t>
            </a:r>
            <a:r>
              <a:rPr sz="1600" kern="1200" spc="10" dirty="0">
                <a:solidFill>
                  <a:prstClr val="black"/>
                </a:solidFill>
                <a:latin typeface="Palatino Linotype"/>
                <a:cs typeface="Palatino Linotype"/>
              </a:rPr>
              <a:t> </a:t>
            </a:r>
            <a:r>
              <a:rPr sz="1600" kern="1200" spc="15" dirty="0">
                <a:solidFill>
                  <a:prstClr val="black"/>
                </a:solidFill>
                <a:latin typeface="Cambria Math"/>
                <a:cs typeface="Cambria Math"/>
              </a:rPr>
              <a:t>𝑝</a:t>
            </a:r>
            <a:r>
              <a:rPr sz="1725" kern="1200" spc="22" baseline="-14492" dirty="0">
                <a:solidFill>
                  <a:prstClr val="black"/>
                </a:solidFill>
                <a:latin typeface="Cambria Math"/>
                <a:cs typeface="Cambria Math"/>
              </a:rPr>
              <a:t>2</a:t>
            </a:r>
            <a:r>
              <a:rPr sz="1600" kern="1200" spc="15" dirty="0">
                <a:solidFill>
                  <a:prstClr val="black"/>
                </a:solidFill>
                <a:latin typeface="Palatino Linotype"/>
                <a:cs typeface="Palatino Linotype"/>
              </a:rPr>
              <a:t>,</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and</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return</a:t>
            </a:r>
            <a:r>
              <a:rPr sz="1600" kern="1200" spc="20" dirty="0">
                <a:solidFill>
                  <a:prstClr val="black"/>
                </a:solidFill>
                <a:latin typeface="Palatino Linotype"/>
                <a:cs typeface="Palatino Linotype"/>
              </a:rPr>
              <a:t> </a:t>
            </a:r>
            <a:r>
              <a:rPr sz="1600" kern="1200" spc="-5" dirty="0">
                <a:solidFill>
                  <a:prstClr val="black"/>
                </a:solidFill>
                <a:latin typeface="Palatino Linotype"/>
                <a:cs typeface="Palatino Linotype"/>
              </a:rPr>
              <a:t>a</a:t>
            </a:r>
            <a:r>
              <a:rPr sz="1600" kern="1200" spc="10" dirty="0">
                <a:solidFill>
                  <a:prstClr val="black"/>
                </a:solidFill>
                <a:latin typeface="Palatino Linotype"/>
                <a:cs typeface="Palatino Linotype"/>
              </a:rPr>
              <a:t> </a:t>
            </a:r>
            <a:r>
              <a:rPr sz="1600" kern="1200" spc="-10" dirty="0">
                <a:solidFill>
                  <a:prstClr val="black"/>
                </a:solidFill>
                <a:latin typeface="Palatino Linotype"/>
                <a:cs typeface="Palatino Linotype"/>
              </a:rPr>
              <a:t>pointer </a:t>
            </a:r>
            <a:r>
              <a:rPr sz="1600" kern="1200" spc="-385" dirty="0">
                <a:solidFill>
                  <a:prstClr val="black"/>
                </a:solidFill>
                <a:latin typeface="Palatino Linotype"/>
                <a:cs typeface="Palatino Linotype"/>
              </a:rPr>
              <a:t> </a:t>
            </a:r>
            <a:r>
              <a:rPr sz="1600" kern="1200" spc="-5" dirty="0">
                <a:solidFill>
                  <a:prstClr val="black"/>
                </a:solidFill>
                <a:latin typeface="Palatino Linotype"/>
                <a:cs typeface="Palatino Linotype"/>
              </a:rPr>
              <a:t>to</a:t>
            </a:r>
            <a:r>
              <a:rPr sz="1600" kern="1200" dirty="0">
                <a:solidFill>
                  <a:prstClr val="black"/>
                </a:solidFill>
                <a:latin typeface="Palatino Linotype"/>
                <a:cs typeface="Palatino Linotype"/>
              </a:rPr>
              <a:t> </a:t>
            </a:r>
            <a:r>
              <a:rPr sz="1600" kern="1200" spc="-10" dirty="0">
                <a:solidFill>
                  <a:prstClr val="black"/>
                </a:solidFill>
                <a:latin typeface="Palatino Linotype"/>
                <a:cs typeface="Palatino Linotype"/>
              </a:rPr>
              <a:t>the</a:t>
            </a:r>
            <a:r>
              <a:rPr sz="1600" kern="1200" spc="20" dirty="0">
                <a:solidFill>
                  <a:prstClr val="black"/>
                </a:solidFill>
                <a:latin typeface="Palatino Linotype"/>
                <a:cs typeface="Palatino Linotype"/>
              </a:rPr>
              <a:t> </a:t>
            </a:r>
            <a:r>
              <a:rPr sz="1600" kern="1200" spc="-5" dirty="0">
                <a:solidFill>
                  <a:prstClr val="black"/>
                </a:solidFill>
                <a:latin typeface="Palatino Linotype"/>
                <a:cs typeface="Palatino Linotype"/>
              </a:rPr>
              <a:t>concatenated</a:t>
            </a:r>
            <a:r>
              <a:rPr sz="1600" kern="1200" spc="25" dirty="0">
                <a:solidFill>
                  <a:prstClr val="black"/>
                </a:solidFill>
                <a:latin typeface="Palatino Linotype"/>
                <a:cs typeface="Palatino Linotype"/>
              </a:rPr>
              <a:t> </a:t>
            </a:r>
            <a:r>
              <a:rPr sz="1600" kern="1200" spc="-5" dirty="0">
                <a:solidFill>
                  <a:prstClr val="black"/>
                </a:solidFill>
                <a:latin typeface="Palatino Linotype"/>
                <a:cs typeface="Palatino Linotype"/>
              </a:rPr>
              <a:t>list</a:t>
            </a:r>
            <a:endParaRPr sz="1600" kern="1200" dirty="0">
              <a:solidFill>
                <a:prstClr val="black"/>
              </a:solidFill>
              <a:latin typeface="Palatino Linotype"/>
              <a:cs typeface="Palatino Linotype"/>
            </a:endParaRPr>
          </a:p>
          <a:p>
            <a:pPr lvl="1" rtl="0">
              <a:spcBef>
                <a:spcPts val="50"/>
              </a:spcBef>
              <a:buFont typeface="Wingdings"/>
              <a:buChar char=""/>
            </a:pPr>
            <a:endParaRPr sz="1300" kern="1200" dirty="0">
              <a:solidFill>
                <a:prstClr val="black"/>
              </a:solidFill>
              <a:latin typeface="Palatino Linotype"/>
              <a:cs typeface="Palatino Linotype"/>
            </a:endParaRPr>
          </a:p>
          <a:p>
            <a:pPr marL="710565" marR="201930" lvl="1" indent="-228600" rtl="0">
              <a:lnSpc>
                <a:spcPct val="120000"/>
              </a:lnSpc>
              <a:buClr>
                <a:srgbClr val="000000"/>
              </a:buClr>
              <a:buFont typeface="Wingdings"/>
              <a:buChar char=""/>
              <a:tabLst>
                <a:tab pos="710565" algn="l"/>
                <a:tab pos="711200" algn="l"/>
              </a:tabLst>
            </a:pPr>
            <a:r>
              <a:rPr sz="1600" kern="1200" spc="-10" dirty="0">
                <a:solidFill>
                  <a:srgbClr val="0431FF"/>
                </a:solidFill>
                <a:latin typeface="Cambria Math"/>
                <a:cs typeface="Cambria Math"/>
              </a:rPr>
              <a:t>𝑏𝑎𝑐𝑘𝑝𝑎𝑡𝑐ℎ</a:t>
            </a:r>
            <a:r>
              <a:rPr lang="zh-CN" altLang="en-US" sz="1600" kern="1200" dirty="0">
                <a:solidFill>
                  <a:srgbClr val="0431FF"/>
                </a:solidFill>
                <a:latin typeface="Cambria Math"/>
                <a:cs typeface="Cambria Math"/>
              </a:rPr>
              <a:t> </a:t>
            </a:r>
            <a:r>
              <a:rPr lang="en-US" altLang="zh-CN" sz="1600" kern="1200" dirty="0">
                <a:solidFill>
                  <a:srgbClr val="0431FF"/>
                </a:solidFill>
                <a:latin typeface="Cambria Math"/>
                <a:cs typeface="Cambria Math"/>
              </a:rPr>
              <a:t>(</a:t>
            </a:r>
            <a:r>
              <a:rPr sz="1600" kern="1200" spc="30" dirty="0">
                <a:solidFill>
                  <a:srgbClr val="0431FF"/>
                </a:solidFill>
                <a:latin typeface="Cambria Math"/>
                <a:cs typeface="Cambria Math"/>
              </a:rPr>
              <a:t> </a:t>
            </a:r>
            <a:r>
              <a:rPr sz="1600" kern="1200" spc="5" dirty="0">
                <a:solidFill>
                  <a:srgbClr val="0431FF"/>
                </a:solidFill>
                <a:latin typeface="Cambria Math"/>
                <a:cs typeface="Cambria Math"/>
              </a:rPr>
              <a:t>𝑝,</a:t>
            </a:r>
            <a:r>
              <a:rPr sz="1600" kern="1200" spc="-95" dirty="0">
                <a:solidFill>
                  <a:srgbClr val="0431FF"/>
                </a:solidFill>
                <a:latin typeface="Cambria Math"/>
                <a:cs typeface="Cambria Math"/>
              </a:rPr>
              <a:t> </a:t>
            </a:r>
            <a:r>
              <a:rPr sz="1600" kern="1200" spc="-5" dirty="0">
                <a:solidFill>
                  <a:srgbClr val="0431FF"/>
                </a:solidFill>
                <a:latin typeface="Cambria Math"/>
                <a:cs typeface="Cambria Math"/>
              </a:rPr>
              <a:t>𝑖</a:t>
            </a:r>
            <a:r>
              <a:rPr sz="1600" kern="1200" spc="45" dirty="0">
                <a:solidFill>
                  <a:srgbClr val="0431FF"/>
                </a:solidFill>
                <a:latin typeface="Cambria Math"/>
                <a:cs typeface="Cambria Math"/>
              </a:rPr>
              <a:t> </a:t>
            </a:r>
            <a:r>
              <a:rPr lang="en-US" altLang="zh-CN" sz="1600" kern="1200" spc="10" dirty="0">
                <a:solidFill>
                  <a:srgbClr val="0431FF"/>
                </a:solidFill>
                <a:latin typeface="Cambria Math"/>
                <a:cs typeface="Cambria Math"/>
              </a:rPr>
              <a:t>)</a:t>
            </a:r>
            <a:r>
              <a:rPr sz="1600" kern="1200" spc="-5" dirty="0">
                <a:solidFill>
                  <a:prstClr val="black"/>
                </a:solidFill>
                <a:latin typeface="Palatino Linotype"/>
                <a:cs typeface="Palatino Linotype"/>
              </a:rPr>
              <a:t>:</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insert</a:t>
            </a:r>
            <a:r>
              <a:rPr sz="1600" kern="1200" spc="10" dirty="0">
                <a:solidFill>
                  <a:prstClr val="black"/>
                </a:solidFill>
                <a:latin typeface="Palatino Linotype"/>
                <a:cs typeface="Palatino Linotype"/>
              </a:rPr>
              <a:t> </a:t>
            </a:r>
            <a:r>
              <a:rPr sz="1600" kern="1200" spc="-5" dirty="0">
                <a:solidFill>
                  <a:prstClr val="black"/>
                </a:solidFill>
                <a:latin typeface="Cambria Math"/>
                <a:cs typeface="Cambria Math"/>
              </a:rPr>
              <a:t>𝑖</a:t>
            </a:r>
            <a:r>
              <a:rPr sz="1600" kern="1200" spc="120" dirty="0">
                <a:solidFill>
                  <a:prstClr val="black"/>
                </a:solidFill>
                <a:latin typeface="Cambria Math"/>
                <a:cs typeface="Cambria Math"/>
              </a:rPr>
              <a:t> </a:t>
            </a:r>
            <a:r>
              <a:rPr sz="1600" kern="1200" spc="-5" dirty="0">
                <a:solidFill>
                  <a:prstClr val="black"/>
                </a:solidFill>
                <a:latin typeface="Palatino Linotype"/>
                <a:cs typeface="Palatino Linotype"/>
              </a:rPr>
              <a:t>as</a:t>
            </a:r>
            <a:r>
              <a:rPr sz="1600" kern="1200" dirty="0">
                <a:solidFill>
                  <a:prstClr val="black"/>
                </a:solidFill>
                <a:latin typeface="Palatino Linotype"/>
                <a:cs typeface="Palatino Linotype"/>
              </a:rPr>
              <a:t> </a:t>
            </a:r>
            <a:r>
              <a:rPr sz="1600" kern="1200" spc="-10" dirty="0">
                <a:solidFill>
                  <a:prstClr val="black"/>
                </a:solidFill>
                <a:latin typeface="Palatino Linotype"/>
                <a:cs typeface="Palatino Linotype"/>
              </a:rPr>
              <a:t>the</a:t>
            </a:r>
            <a:r>
              <a:rPr sz="1600" kern="1200" spc="25" dirty="0">
                <a:solidFill>
                  <a:prstClr val="black"/>
                </a:solidFill>
                <a:latin typeface="Palatino Linotype"/>
                <a:cs typeface="Palatino Linotype"/>
              </a:rPr>
              <a:t> </a:t>
            </a:r>
            <a:r>
              <a:rPr sz="1600" kern="1200" spc="-5" dirty="0">
                <a:solidFill>
                  <a:prstClr val="black"/>
                </a:solidFill>
                <a:latin typeface="Palatino Linotype"/>
                <a:cs typeface="Palatino Linotype"/>
              </a:rPr>
              <a:t>target</a:t>
            </a:r>
            <a:r>
              <a:rPr sz="1600" kern="1200" spc="15" dirty="0">
                <a:solidFill>
                  <a:prstClr val="black"/>
                </a:solidFill>
                <a:latin typeface="Palatino Linotype"/>
                <a:cs typeface="Palatino Linotype"/>
              </a:rPr>
              <a:t> </a:t>
            </a:r>
            <a:r>
              <a:rPr sz="1600" kern="1200" spc="-5" dirty="0">
                <a:solidFill>
                  <a:prstClr val="black"/>
                </a:solidFill>
                <a:latin typeface="Palatino Linotype"/>
                <a:cs typeface="Palatino Linotype"/>
              </a:rPr>
              <a:t>label</a:t>
            </a:r>
            <a:r>
              <a:rPr sz="1600" kern="1200" spc="-20" dirty="0">
                <a:solidFill>
                  <a:prstClr val="black"/>
                </a:solidFill>
                <a:latin typeface="Palatino Linotype"/>
                <a:cs typeface="Palatino Linotype"/>
              </a:rPr>
              <a:t> </a:t>
            </a:r>
            <a:r>
              <a:rPr sz="1600" kern="1200" spc="-5" dirty="0">
                <a:solidFill>
                  <a:prstClr val="black"/>
                </a:solidFill>
                <a:latin typeface="Palatino Linotype"/>
                <a:cs typeface="Palatino Linotype"/>
              </a:rPr>
              <a:t>for</a:t>
            </a:r>
            <a:r>
              <a:rPr sz="1600" kern="1200" spc="30" dirty="0">
                <a:solidFill>
                  <a:prstClr val="black"/>
                </a:solidFill>
                <a:latin typeface="Palatino Linotype"/>
                <a:cs typeface="Palatino Linotype"/>
              </a:rPr>
              <a:t> </a:t>
            </a:r>
            <a:r>
              <a:rPr sz="1600" kern="1200" spc="-5" dirty="0">
                <a:solidFill>
                  <a:prstClr val="black"/>
                </a:solidFill>
                <a:latin typeface="Palatino Linotype"/>
                <a:cs typeface="Palatino Linotype"/>
              </a:rPr>
              <a:t>each</a:t>
            </a:r>
            <a:r>
              <a:rPr sz="1600" kern="1200" spc="5" dirty="0">
                <a:solidFill>
                  <a:prstClr val="black"/>
                </a:solidFill>
                <a:latin typeface="Palatino Linotype"/>
                <a:cs typeface="Palatino Linotype"/>
              </a:rPr>
              <a:t> </a:t>
            </a:r>
            <a:r>
              <a:rPr sz="1600" kern="1200" spc="-5" dirty="0">
                <a:solidFill>
                  <a:prstClr val="black"/>
                </a:solidFill>
                <a:latin typeface="Palatino Linotype"/>
                <a:cs typeface="Palatino Linotype"/>
              </a:rPr>
              <a:t>of</a:t>
            </a:r>
            <a:r>
              <a:rPr sz="1600" kern="1200" spc="15" dirty="0">
                <a:solidFill>
                  <a:prstClr val="black"/>
                </a:solidFill>
                <a:latin typeface="Palatino Linotype"/>
                <a:cs typeface="Palatino Linotype"/>
              </a:rPr>
              <a:t> </a:t>
            </a:r>
            <a:r>
              <a:rPr sz="1600" kern="1200" spc="-10" dirty="0">
                <a:solidFill>
                  <a:prstClr val="black"/>
                </a:solidFill>
                <a:latin typeface="Palatino Linotype"/>
                <a:cs typeface="Palatino Linotype"/>
              </a:rPr>
              <a:t>the</a:t>
            </a:r>
            <a:r>
              <a:rPr sz="1600" kern="1200" spc="15" dirty="0">
                <a:solidFill>
                  <a:prstClr val="black"/>
                </a:solidFill>
                <a:latin typeface="Palatino Linotype"/>
                <a:cs typeface="Palatino Linotype"/>
              </a:rPr>
              <a:t> </a:t>
            </a:r>
            <a:r>
              <a:rPr sz="1600" kern="1200" spc="-10" dirty="0">
                <a:solidFill>
                  <a:prstClr val="black"/>
                </a:solidFill>
                <a:latin typeface="Palatino Linotype"/>
                <a:cs typeface="Palatino Linotype"/>
              </a:rPr>
              <a:t>instructions</a:t>
            </a:r>
            <a:r>
              <a:rPr sz="1600" kern="1200" spc="60" dirty="0">
                <a:solidFill>
                  <a:prstClr val="black"/>
                </a:solidFill>
                <a:latin typeface="Palatino Linotype"/>
                <a:cs typeface="Palatino Linotype"/>
              </a:rPr>
              <a:t> </a:t>
            </a:r>
            <a:r>
              <a:rPr sz="1600" kern="1200" spc="-5" dirty="0">
                <a:solidFill>
                  <a:prstClr val="black"/>
                </a:solidFill>
                <a:latin typeface="Palatino Linotype"/>
                <a:cs typeface="Palatino Linotype"/>
              </a:rPr>
              <a:t>on</a:t>
            </a:r>
            <a:r>
              <a:rPr sz="1600" kern="1200" spc="10" dirty="0">
                <a:solidFill>
                  <a:prstClr val="black"/>
                </a:solidFill>
                <a:latin typeface="Palatino Linotype"/>
                <a:cs typeface="Palatino Linotype"/>
              </a:rPr>
              <a:t> </a:t>
            </a:r>
            <a:r>
              <a:rPr sz="1600" kern="1200" spc="-10" dirty="0">
                <a:solidFill>
                  <a:prstClr val="black"/>
                </a:solidFill>
                <a:latin typeface="Palatino Linotype"/>
                <a:cs typeface="Palatino Linotype"/>
              </a:rPr>
              <a:t>the </a:t>
            </a:r>
            <a:r>
              <a:rPr sz="1600" kern="1200" spc="-385" dirty="0">
                <a:solidFill>
                  <a:prstClr val="black"/>
                </a:solidFill>
                <a:latin typeface="Palatino Linotype"/>
                <a:cs typeface="Palatino Linotype"/>
              </a:rPr>
              <a:t> </a:t>
            </a:r>
            <a:r>
              <a:rPr sz="1600" kern="1200" spc="-5" dirty="0">
                <a:solidFill>
                  <a:prstClr val="black"/>
                </a:solidFill>
                <a:latin typeface="Palatino Linotype"/>
                <a:cs typeface="Palatino Linotype"/>
              </a:rPr>
              <a:t>list</a:t>
            </a:r>
            <a:r>
              <a:rPr sz="1600" kern="1200" spc="-20" dirty="0">
                <a:solidFill>
                  <a:prstClr val="black"/>
                </a:solidFill>
                <a:latin typeface="Palatino Linotype"/>
                <a:cs typeface="Palatino Linotype"/>
              </a:rPr>
              <a:t> </a:t>
            </a:r>
            <a:r>
              <a:rPr sz="1600" kern="1200" spc="-10" dirty="0">
                <a:solidFill>
                  <a:prstClr val="black"/>
                </a:solidFill>
                <a:latin typeface="Palatino Linotype"/>
                <a:cs typeface="Palatino Linotype"/>
              </a:rPr>
              <a:t>pointed</a:t>
            </a:r>
            <a:r>
              <a:rPr sz="1600" kern="1200" spc="10" dirty="0">
                <a:solidFill>
                  <a:prstClr val="black"/>
                </a:solidFill>
                <a:latin typeface="Palatino Linotype"/>
                <a:cs typeface="Palatino Linotype"/>
              </a:rPr>
              <a:t> </a:t>
            </a:r>
            <a:r>
              <a:rPr sz="1600" kern="1200" spc="-5" dirty="0">
                <a:solidFill>
                  <a:prstClr val="black"/>
                </a:solidFill>
                <a:latin typeface="Palatino Linotype"/>
                <a:cs typeface="Palatino Linotype"/>
              </a:rPr>
              <a:t>by</a:t>
            </a:r>
            <a:r>
              <a:rPr sz="1600" kern="1200" spc="5" dirty="0">
                <a:solidFill>
                  <a:prstClr val="black"/>
                </a:solidFill>
                <a:latin typeface="Palatino Linotype"/>
                <a:cs typeface="Palatino Linotype"/>
              </a:rPr>
              <a:t> </a:t>
            </a:r>
            <a:r>
              <a:rPr sz="1600" kern="1200" spc="-5" dirty="0">
                <a:solidFill>
                  <a:prstClr val="black"/>
                </a:solidFill>
                <a:latin typeface="Cambria Math"/>
                <a:cs typeface="Cambria Math"/>
              </a:rPr>
              <a:t>𝑝</a:t>
            </a:r>
            <a:endParaRPr sz="1600" kern="1200" dirty="0">
              <a:solidFill>
                <a:prstClr val="black"/>
              </a:solidFill>
              <a:latin typeface="Cambria Math"/>
              <a:cs typeface="Cambria Math"/>
            </a:endParaRPr>
          </a:p>
        </p:txBody>
      </p:sp>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97</a:t>
            </a:fld>
            <a:endParaRPr lang="en-US"/>
          </a:p>
        </p:txBody>
      </p:sp>
      <p:sp>
        <p:nvSpPr>
          <p:cNvPr id="8" name="object 2">
            <a:extLst>
              <a:ext uri="{FF2B5EF4-FFF2-40B4-BE49-F238E27FC236}">
                <a16:creationId xmlns:a16="http://schemas.microsoft.com/office/drawing/2014/main" id="{EE776726-6BC0-14D1-4DC0-93B09346784B}"/>
              </a:ext>
            </a:extLst>
          </p:cNvPr>
          <p:cNvSpPr txBox="1">
            <a:spLocks/>
          </p:cNvSpPr>
          <p:nvPr/>
        </p:nvSpPr>
        <p:spPr>
          <a:xfrm>
            <a:off x="1427480" y="341122"/>
            <a:ext cx="6285230" cy="1244600"/>
          </a:xfrm>
          <a:prstGeom prst="rect">
            <a:avLst/>
          </a:prstGeom>
        </p:spPr>
        <p:txBody>
          <a:bodyPr vert="horz" wrap="square" lIns="0" tIns="12065" rIns="0" bIns="0" rtlCol="0">
            <a:spAutoFit/>
          </a:bodyPr>
          <a:lstStyle>
            <a:lvl1pPr>
              <a:defRPr sz="4000" b="1" i="0">
                <a:solidFill>
                  <a:schemeClr val="tx1"/>
                </a:solidFill>
                <a:latin typeface="Palatino Linotype"/>
                <a:ea typeface="+mj-ea"/>
                <a:cs typeface="Palatino Linotype"/>
              </a:defRPr>
            </a:lvl1pPr>
          </a:lstStyle>
          <a:p>
            <a:pPr marL="451484" marR="5080" lvl="0" indent="-439420" defTabSz="914400" eaLnBrk="1" fontAlgn="auto" latinLnBrk="0" hangingPunct="1">
              <a:lnSpc>
                <a:spcPct val="100000"/>
              </a:lnSpc>
              <a:spcBef>
                <a:spcPts val="9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One-Pass </a:t>
            </a:r>
            <a:r>
              <a:rPr kumimoji="0" lang="en-US" sz="4000" b="1" i="0" u="none" strike="noStrike" kern="0" cap="none" spc="-10" normalizeH="0" baseline="0" noProof="0">
                <a:ln>
                  <a:noFill/>
                </a:ln>
                <a:solidFill>
                  <a:sysClr val="windowText" lastClr="000000"/>
                </a:solidFill>
                <a:effectLst/>
                <a:uLnTx/>
                <a:uFillTx/>
                <a:latin typeface="Palatino Linotype"/>
                <a:ea typeface="+mj-ea"/>
              </a:rPr>
              <a:t>Code </a:t>
            </a:r>
            <a:r>
              <a:rPr kumimoji="0" lang="en-US" sz="4000" b="1" i="0" u="none" strike="noStrike" kern="0" cap="none" spc="-5" normalizeH="0" baseline="0" noProof="0">
                <a:ln>
                  <a:noFill/>
                </a:ln>
                <a:solidFill>
                  <a:sysClr val="windowText" lastClr="000000"/>
                </a:solidFill>
                <a:effectLst/>
                <a:uLnTx/>
                <a:uFillTx/>
                <a:latin typeface="Palatino Linotype"/>
                <a:ea typeface="+mj-ea"/>
              </a:rPr>
              <a:t>Generation </a:t>
            </a:r>
            <a:r>
              <a:rPr kumimoji="0" lang="en-US" sz="4000" b="1" i="0" u="none" strike="noStrike" kern="0" cap="none" spc="-985"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Using Backpatching</a:t>
            </a:r>
            <a:r>
              <a:rPr kumimoji="0" lang="en-US" sz="4000" b="1" i="0" u="none" strike="noStrike" kern="0" cap="none" spc="-2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(2)</a:t>
            </a:r>
            <a:endParaRPr kumimoji="0" lang="en-US" sz="4000" b="1" i="0" u="none" strike="noStrike" kern="0" cap="none" spc="0" normalizeH="0" baseline="0" noProof="0" dirty="0">
              <a:ln>
                <a:noFill/>
              </a:ln>
              <a:solidFill>
                <a:sysClr val="windowText" lastClr="000000"/>
              </a:solidFill>
              <a:effectLst/>
              <a:uLnTx/>
              <a:uFillTx/>
              <a:latin typeface="Palatino Linotype"/>
              <a:ea typeface="+mj-ea"/>
            </a:endParaRPr>
          </a:p>
        </p:txBody>
      </p:sp>
    </p:spTree>
    <p:extLst>
      <p:ext uri="{BB962C8B-B14F-4D97-AF65-F5344CB8AC3E}">
        <p14:creationId xmlns:p14="http://schemas.microsoft.com/office/powerpoint/2010/main" val="103270085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98</a:t>
            </a:fld>
            <a:endParaRPr lang="en-US"/>
          </a:p>
        </p:txBody>
      </p:sp>
      <p:sp>
        <p:nvSpPr>
          <p:cNvPr id="19" name="object 2">
            <a:extLst>
              <a:ext uri="{FF2B5EF4-FFF2-40B4-BE49-F238E27FC236}">
                <a16:creationId xmlns:a16="http://schemas.microsoft.com/office/drawing/2014/main" id="{430F150C-AFA8-85B8-9D01-B8B91A791987}"/>
              </a:ext>
            </a:extLst>
          </p:cNvPr>
          <p:cNvSpPr txBox="1">
            <a:spLocks/>
          </p:cNvSpPr>
          <p:nvPr/>
        </p:nvSpPr>
        <p:spPr>
          <a:xfrm>
            <a:off x="909319" y="327152"/>
            <a:ext cx="7326630" cy="1254760"/>
          </a:xfrm>
          <a:prstGeom prst="rect">
            <a:avLst/>
          </a:prstGeom>
        </p:spPr>
        <p:txBody>
          <a:bodyPr vert="horz" wrap="square" lIns="0" tIns="1905" rIns="0" bIns="0" rtlCol="0">
            <a:spAutoFit/>
          </a:bodyPr>
          <a:lstStyle>
            <a:lvl1pPr>
              <a:defRPr sz="4000" b="1" i="0">
                <a:solidFill>
                  <a:schemeClr val="tx1"/>
                </a:solidFill>
                <a:latin typeface="Palatino Linotype"/>
                <a:ea typeface="+mj-ea"/>
                <a:cs typeface="Palatino Linotype"/>
              </a:defRPr>
            </a:lvl1pPr>
          </a:lstStyle>
          <a:p>
            <a:pPr marL="12700" marR="5080" lvl="0" indent="662940" defTabSz="914400" eaLnBrk="1" fontAlgn="auto" latinLnBrk="0" hangingPunct="1">
              <a:lnSpc>
                <a:spcPct val="101699"/>
              </a:lnSpc>
              <a:spcBef>
                <a:spcPts val="15"/>
              </a:spcBef>
              <a:spcAft>
                <a:spcPts val="0"/>
              </a:spcAft>
              <a:buClrTx/>
              <a:buSzTx/>
              <a:buFontTx/>
              <a:buNone/>
              <a:tabLst/>
              <a:defRPr/>
            </a:pPr>
            <a:r>
              <a:rPr kumimoji="0" lang="en-US" sz="4000" b="1" i="0" u="none" strike="noStrike" kern="0" cap="none" spc="-5" normalizeH="0" baseline="0" noProof="0">
                <a:ln>
                  <a:noFill/>
                </a:ln>
                <a:solidFill>
                  <a:sysClr val="windowText" lastClr="000000"/>
                </a:solidFill>
                <a:effectLst/>
                <a:uLnTx/>
                <a:uFillTx/>
                <a:latin typeface="Palatino Linotype"/>
                <a:ea typeface="+mj-ea"/>
              </a:rPr>
              <a:t>Backpatching for Boolean </a:t>
            </a:r>
            <a:r>
              <a:rPr kumimoji="0" lang="en-US" sz="4000" b="1" i="0" u="none" strike="noStrike" kern="0" cap="none" spc="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Expressions</a:t>
            </a:r>
            <a:r>
              <a:rPr kumimoji="0" lang="en-US" sz="4000" b="1" i="0" u="none" strike="noStrike" kern="0" cap="none" spc="-20" normalizeH="0" baseline="0" noProof="0">
                <a:ln>
                  <a:noFill/>
                </a:ln>
                <a:solidFill>
                  <a:sysClr val="windowText" lastClr="000000"/>
                </a:solidFill>
                <a:effectLst/>
                <a:uLnTx/>
                <a:uFillTx/>
                <a:latin typeface="Palatino Linotype"/>
                <a:ea typeface="+mj-ea"/>
              </a:rPr>
              <a:t> </a:t>
            </a:r>
            <a:r>
              <a:rPr kumimoji="0" lang="en-US" sz="4000" b="1" i="0" u="none" strike="noStrike" kern="0" cap="none" spc="5" normalizeH="0" baseline="0" noProof="0">
                <a:ln>
                  <a:noFill/>
                </a:ln>
                <a:solidFill>
                  <a:sysClr val="windowText" lastClr="000000"/>
                </a:solidFill>
                <a:effectLst/>
                <a:uLnTx/>
                <a:uFillTx/>
                <a:latin typeface="Palatino Linotype"/>
                <a:ea typeface="+mj-ea"/>
              </a:rPr>
              <a:t>(</a:t>
            </a:r>
            <a:r>
              <a:rPr kumimoji="0" lang="zh-CN" altLang="en-US" sz="4000" b="0"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rPr>
              <a:t>布尔表达式的回</a:t>
            </a:r>
            <a:r>
              <a:rPr kumimoji="0" lang="zh-CN" altLang="en-US" sz="4000" b="0" i="0" u="none" strike="noStrike" kern="0" cap="none" spc="5" normalizeH="0" baseline="0" noProof="0">
                <a:ln>
                  <a:noFill/>
                </a:ln>
                <a:solidFill>
                  <a:sysClr val="windowText" lastClr="000000"/>
                </a:solidFill>
                <a:effectLst/>
                <a:uLnTx/>
                <a:uFillTx/>
                <a:latin typeface="SimSun"/>
                <a:ea typeface="宋体" panose="02010600030101010101" pitchFamily="2" charset="-122"/>
                <a:cs typeface="SimSun"/>
              </a:rPr>
              <a:t>填</a:t>
            </a:r>
            <a:r>
              <a:rPr kumimoji="0" lang="en-US" altLang="zh-CN" sz="4000" b="1" i="0" u="none" strike="noStrike" kern="0" cap="none" spc="-5" normalizeH="0" baseline="0" noProof="0">
                <a:ln>
                  <a:noFill/>
                </a:ln>
                <a:solidFill>
                  <a:sysClr val="windowText" lastClr="000000"/>
                </a:solidFill>
                <a:effectLst/>
                <a:uLnTx/>
                <a:uFillTx/>
                <a:latin typeface="Palatino Linotype"/>
                <a:ea typeface="宋体" panose="02010600030101010101" pitchFamily="2" charset="-122"/>
              </a:rPr>
              <a:t>)</a:t>
            </a:r>
            <a:endParaRPr kumimoji="0" lang="en-US" altLang="zh-CN" sz="4000" b="1" i="0" u="none" strike="noStrike" kern="0" cap="none" spc="-5" normalizeH="0" baseline="0" noProof="0" dirty="0">
              <a:ln>
                <a:noFill/>
              </a:ln>
              <a:solidFill>
                <a:sysClr val="windowText" lastClr="000000"/>
              </a:solidFill>
              <a:effectLst/>
              <a:uLnTx/>
              <a:uFillTx/>
              <a:latin typeface="Palatino Linotype"/>
              <a:ea typeface="宋体" panose="02010600030101010101" pitchFamily="2" charset="-122"/>
            </a:endParaRPr>
          </a:p>
        </p:txBody>
      </p:sp>
      <p:sp>
        <p:nvSpPr>
          <p:cNvPr id="20" name="object 3">
            <a:extLst>
              <a:ext uri="{FF2B5EF4-FFF2-40B4-BE49-F238E27FC236}">
                <a16:creationId xmlns:a16="http://schemas.microsoft.com/office/drawing/2014/main" id="{4220D80B-EED0-CE63-6FB7-68781904875C}"/>
              </a:ext>
            </a:extLst>
          </p:cNvPr>
          <p:cNvSpPr txBox="1"/>
          <p:nvPr/>
        </p:nvSpPr>
        <p:spPr>
          <a:xfrm>
            <a:off x="707542" y="1999335"/>
            <a:ext cx="7059930" cy="756920"/>
          </a:xfrm>
          <a:prstGeom prst="rect">
            <a:avLst/>
          </a:prstGeom>
        </p:spPr>
        <p:txBody>
          <a:bodyPr vert="horz" wrap="square" lIns="0" tIns="12700" rIns="0" bIns="0" rtlCol="0">
            <a:spAutoFit/>
          </a:bodyPr>
          <a:lstStyle/>
          <a:p>
            <a:pPr marL="242570" marR="5080" indent="-230504" rtl="0">
              <a:lnSpc>
                <a:spcPct val="120000"/>
              </a:lnSpc>
              <a:spcBef>
                <a:spcPts val="100"/>
              </a:spcBef>
              <a:buFont typeface="Arial MT"/>
              <a:buChar char="•"/>
              <a:tabLst>
                <a:tab pos="242570" algn="l"/>
                <a:tab pos="243204" algn="l"/>
              </a:tabLst>
            </a:pPr>
            <a:r>
              <a:rPr sz="2000" kern="1200" dirty="0">
                <a:solidFill>
                  <a:prstClr val="black"/>
                </a:solidFill>
                <a:latin typeface="Palatino Linotype"/>
                <a:cs typeface="Palatino Linotype"/>
              </a:rPr>
              <a:t>An SDT </a:t>
            </a:r>
            <a:r>
              <a:rPr sz="2000" kern="1200" spc="-5" dirty="0">
                <a:solidFill>
                  <a:prstClr val="black"/>
                </a:solidFill>
                <a:latin typeface="Palatino Linotype"/>
                <a:cs typeface="Palatino Linotype"/>
              </a:rPr>
              <a:t>suitable </a:t>
            </a:r>
            <a:r>
              <a:rPr sz="2000" kern="1200" dirty="0">
                <a:solidFill>
                  <a:prstClr val="black"/>
                </a:solidFill>
                <a:latin typeface="Palatino Linotype"/>
                <a:cs typeface="Palatino Linotype"/>
              </a:rPr>
              <a:t>for </a:t>
            </a:r>
            <a:r>
              <a:rPr sz="2000" kern="1200" spc="-5" dirty="0">
                <a:solidFill>
                  <a:prstClr val="black"/>
                </a:solidFill>
                <a:latin typeface="Palatino Linotype"/>
                <a:cs typeface="Palatino Linotype"/>
              </a:rPr>
              <a:t>generating </a:t>
            </a:r>
            <a:r>
              <a:rPr sz="2000" kern="1200" dirty="0">
                <a:solidFill>
                  <a:prstClr val="black"/>
                </a:solidFill>
                <a:latin typeface="Palatino Linotype"/>
                <a:cs typeface="Palatino Linotype"/>
              </a:rPr>
              <a:t>code for boolean expressions </a:t>
            </a:r>
            <a:r>
              <a:rPr sz="2000" kern="1200" spc="-484" dirty="0">
                <a:solidFill>
                  <a:prstClr val="black"/>
                </a:solidFill>
                <a:latin typeface="Palatino Linotype"/>
                <a:cs typeface="Palatino Linotype"/>
              </a:rPr>
              <a:t> </a:t>
            </a:r>
            <a:r>
              <a:rPr sz="2000" kern="1200" dirty="0">
                <a:solidFill>
                  <a:srgbClr val="FF0000"/>
                </a:solidFill>
                <a:latin typeface="Palatino Linotype"/>
                <a:cs typeface="Palatino Linotype"/>
              </a:rPr>
              <a:t>during</a:t>
            </a:r>
            <a:r>
              <a:rPr sz="2000" kern="1200" spc="-30" dirty="0">
                <a:solidFill>
                  <a:srgbClr val="FF0000"/>
                </a:solidFill>
                <a:latin typeface="Palatino Linotype"/>
                <a:cs typeface="Palatino Linotype"/>
              </a:rPr>
              <a:t> </a:t>
            </a:r>
            <a:r>
              <a:rPr sz="2000" kern="1200" spc="-5" dirty="0">
                <a:solidFill>
                  <a:srgbClr val="FF0000"/>
                </a:solidFill>
                <a:latin typeface="Palatino Linotype"/>
                <a:cs typeface="Palatino Linotype"/>
              </a:rPr>
              <a:t>bottom-up</a:t>
            </a:r>
            <a:r>
              <a:rPr sz="2000" kern="1200" spc="-25" dirty="0">
                <a:solidFill>
                  <a:srgbClr val="FF0000"/>
                </a:solidFill>
                <a:latin typeface="Palatino Linotype"/>
                <a:cs typeface="Palatino Linotype"/>
              </a:rPr>
              <a:t> </a:t>
            </a:r>
            <a:r>
              <a:rPr sz="2000" kern="1200" spc="-5" dirty="0">
                <a:solidFill>
                  <a:srgbClr val="FF0000"/>
                </a:solidFill>
                <a:latin typeface="Palatino Linotype"/>
                <a:cs typeface="Palatino Linotype"/>
              </a:rPr>
              <a:t>parsing</a:t>
            </a:r>
            <a:endParaRPr sz="2000" kern="1200">
              <a:solidFill>
                <a:prstClr val="black"/>
              </a:solidFill>
              <a:latin typeface="Palatino Linotype"/>
              <a:cs typeface="Palatino Linotype"/>
            </a:endParaRPr>
          </a:p>
        </p:txBody>
      </p:sp>
      <p:sp>
        <p:nvSpPr>
          <p:cNvPr id="21" name="object 4">
            <a:extLst>
              <a:ext uri="{FF2B5EF4-FFF2-40B4-BE49-F238E27FC236}">
                <a16:creationId xmlns:a16="http://schemas.microsoft.com/office/drawing/2014/main" id="{1DA3CC94-4273-8257-0CD4-C895FD60B4CB}"/>
              </a:ext>
            </a:extLst>
          </p:cNvPr>
          <p:cNvSpPr txBox="1"/>
          <p:nvPr/>
        </p:nvSpPr>
        <p:spPr>
          <a:xfrm>
            <a:off x="682142" y="2776228"/>
            <a:ext cx="1986914" cy="1244600"/>
          </a:xfrm>
          <a:prstGeom prst="rect">
            <a:avLst/>
          </a:prstGeom>
        </p:spPr>
        <p:txBody>
          <a:bodyPr vert="horz" wrap="square" lIns="0" tIns="180340" rIns="0" bIns="0" rtlCol="0">
            <a:spAutoFit/>
          </a:bodyPr>
          <a:lstStyle/>
          <a:p>
            <a:pPr marL="267970" indent="-230504" rtl="0">
              <a:spcBef>
                <a:spcPts val="1420"/>
              </a:spcBef>
              <a:buFont typeface="Arial MT"/>
              <a:buChar char="•"/>
              <a:tabLst>
                <a:tab pos="267970" algn="l"/>
                <a:tab pos="268605" algn="l"/>
              </a:tabLst>
            </a:pPr>
            <a:r>
              <a:rPr sz="2000" kern="1200" spc="-5" dirty="0">
                <a:solidFill>
                  <a:prstClr val="black"/>
                </a:solidFill>
                <a:latin typeface="Palatino Linotype"/>
                <a:cs typeface="Palatino Linotype"/>
              </a:rPr>
              <a:t>Grammar:</a:t>
            </a:r>
            <a:endParaRPr sz="2000" kern="1200">
              <a:solidFill>
                <a:prstClr val="black"/>
              </a:solidFill>
              <a:latin typeface="Palatino Linotype"/>
              <a:cs typeface="Palatino Linotype"/>
            </a:endParaRPr>
          </a:p>
          <a:p>
            <a:pPr marL="723265" lvl="1" indent="-228600" rtl="0">
              <a:spcBef>
                <a:spcPts val="1050"/>
              </a:spcBef>
              <a:buFont typeface="Wingdings"/>
              <a:buChar char=""/>
              <a:tabLst>
                <a:tab pos="723265" algn="l"/>
                <a:tab pos="723900" algn="l"/>
              </a:tabLst>
            </a:pPr>
            <a:r>
              <a:rPr sz="1600" kern="1200" spc="-5" dirty="0">
                <a:solidFill>
                  <a:prstClr val="black"/>
                </a:solidFill>
                <a:latin typeface="Cambria Math"/>
                <a:cs typeface="Cambria Math"/>
              </a:rPr>
              <a:t>𝐵</a:t>
            </a:r>
            <a:r>
              <a:rPr sz="1600" kern="1200" spc="114"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spc="80" dirty="0">
                <a:solidFill>
                  <a:prstClr val="black"/>
                </a:solidFill>
                <a:latin typeface="Cambria Math"/>
                <a:cs typeface="Cambria Math"/>
              </a:rPr>
              <a:t> </a:t>
            </a:r>
            <a:r>
              <a:rPr sz="1600" kern="1200" spc="-40" dirty="0">
                <a:solidFill>
                  <a:prstClr val="black"/>
                </a:solidFill>
                <a:latin typeface="Cambria Math"/>
                <a:cs typeface="Cambria Math"/>
              </a:rPr>
              <a:t>𝐵</a:t>
            </a:r>
            <a:r>
              <a:rPr sz="1725" kern="1200" spc="-60" baseline="-14492" dirty="0">
                <a:solidFill>
                  <a:prstClr val="black"/>
                </a:solidFill>
                <a:latin typeface="Cambria Math"/>
                <a:cs typeface="Cambria Math"/>
              </a:rPr>
              <a:t>1</a:t>
            </a:r>
            <a:r>
              <a:rPr sz="1725" kern="1200" spc="44" baseline="-14492" dirty="0">
                <a:solidFill>
                  <a:prstClr val="black"/>
                </a:solidFill>
                <a:latin typeface="Cambria Math"/>
                <a:cs typeface="Cambria Math"/>
              </a:rPr>
              <a:t> </a:t>
            </a:r>
            <a:r>
              <a:rPr sz="1600" kern="1200" spc="-5" dirty="0">
                <a:solidFill>
                  <a:prstClr val="black"/>
                </a:solidFill>
                <a:latin typeface="Cambria Math"/>
                <a:cs typeface="Cambria Math"/>
              </a:rPr>
              <a:t>∥</a:t>
            </a:r>
            <a:r>
              <a:rPr sz="1600" kern="1200" spc="75" dirty="0">
                <a:solidFill>
                  <a:prstClr val="black"/>
                </a:solidFill>
                <a:latin typeface="Cambria Math"/>
                <a:cs typeface="Cambria Math"/>
              </a:rPr>
              <a:t> </a:t>
            </a:r>
            <a:r>
              <a:rPr sz="1600" kern="1200" spc="-20" dirty="0">
                <a:solidFill>
                  <a:srgbClr val="FF0000"/>
                </a:solidFill>
                <a:latin typeface="Cambria Math"/>
                <a:cs typeface="Cambria Math"/>
              </a:rPr>
              <a:t>𝑀</a:t>
            </a:r>
            <a:r>
              <a:rPr sz="1600" kern="1200" spc="-20" dirty="0">
                <a:solidFill>
                  <a:prstClr val="black"/>
                </a:solidFill>
                <a:latin typeface="Cambria Math"/>
                <a:cs typeface="Cambria Math"/>
              </a:rPr>
              <a:t>𝐵</a:t>
            </a:r>
            <a:r>
              <a:rPr sz="1725" kern="1200" spc="-30" baseline="-14492" dirty="0">
                <a:solidFill>
                  <a:prstClr val="black"/>
                </a:solidFill>
                <a:latin typeface="Cambria Math"/>
                <a:cs typeface="Cambria Math"/>
              </a:rPr>
              <a:t>2</a:t>
            </a:r>
            <a:endParaRPr sz="1725" kern="1200" baseline="-14492">
              <a:solidFill>
                <a:prstClr val="black"/>
              </a:solidFill>
              <a:latin typeface="Cambria Math"/>
              <a:cs typeface="Cambria Math"/>
            </a:endParaRPr>
          </a:p>
          <a:p>
            <a:pPr marL="723265" lvl="1" indent="-228600" rtl="0">
              <a:spcBef>
                <a:spcPts val="985"/>
              </a:spcBef>
              <a:buClr>
                <a:srgbClr val="000000"/>
              </a:buClr>
              <a:buFont typeface="Wingdings"/>
              <a:buChar char=""/>
              <a:tabLst>
                <a:tab pos="723265" algn="l"/>
                <a:tab pos="723900" algn="l"/>
              </a:tabLst>
            </a:pPr>
            <a:r>
              <a:rPr sz="1600" kern="1200" spc="-5" dirty="0">
                <a:solidFill>
                  <a:srgbClr val="FF0000"/>
                </a:solidFill>
                <a:latin typeface="Cambria Math"/>
                <a:cs typeface="Cambria Math"/>
              </a:rPr>
              <a:t>𝑀</a:t>
            </a:r>
            <a:r>
              <a:rPr sz="1600" kern="1200" spc="100" dirty="0">
                <a:solidFill>
                  <a:srgbClr val="FF0000"/>
                </a:solidFill>
                <a:latin typeface="Cambria Math"/>
                <a:cs typeface="Cambria Math"/>
              </a:rPr>
              <a:t> </a:t>
            </a:r>
            <a:r>
              <a:rPr sz="1600" kern="1200" spc="-5" dirty="0">
                <a:solidFill>
                  <a:srgbClr val="FF0000"/>
                </a:solidFill>
                <a:latin typeface="Cambria Math"/>
                <a:cs typeface="Cambria Math"/>
              </a:rPr>
              <a:t>→</a:t>
            </a:r>
            <a:r>
              <a:rPr sz="1600" kern="1200" spc="60" dirty="0">
                <a:solidFill>
                  <a:srgbClr val="FF0000"/>
                </a:solidFill>
                <a:latin typeface="Cambria Math"/>
                <a:cs typeface="Cambria Math"/>
              </a:rPr>
              <a:t> </a:t>
            </a:r>
            <a:r>
              <a:rPr sz="1600" kern="1200" spc="-5" dirty="0">
                <a:solidFill>
                  <a:srgbClr val="FF0000"/>
                </a:solidFill>
                <a:latin typeface="Cambria Math"/>
                <a:cs typeface="Cambria Math"/>
              </a:rPr>
              <a:t>𝜖</a:t>
            </a:r>
            <a:endParaRPr sz="1600" kern="1200">
              <a:solidFill>
                <a:prstClr val="black"/>
              </a:solidFill>
              <a:latin typeface="Cambria Math"/>
              <a:cs typeface="Cambria Math"/>
            </a:endParaRPr>
          </a:p>
        </p:txBody>
      </p:sp>
      <p:sp>
        <p:nvSpPr>
          <p:cNvPr id="22" name="object 5">
            <a:extLst>
              <a:ext uri="{FF2B5EF4-FFF2-40B4-BE49-F238E27FC236}">
                <a16:creationId xmlns:a16="http://schemas.microsoft.com/office/drawing/2014/main" id="{0121C967-4EDF-0AED-9A97-2E5BE94E3723}"/>
              </a:ext>
            </a:extLst>
          </p:cNvPr>
          <p:cNvSpPr/>
          <p:nvPr/>
        </p:nvSpPr>
        <p:spPr>
          <a:xfrm>
            <a:off x="3835146" y="3448050"/>
            <a:ext cx="15240" cy="184150"/>
          </a:xfrm>
          <a:custGeom>
            <a:avLst/>
            <a:gdLst/>
            <a:ahLst/>
            <a:cxnLst/>
            <a:rect l="l" t="t" r="r" b="b"/>
            <a:pathLst>
              <a:path w="15239" h="184150">
                <a:moveTo>
                  <a:pt x="15239" y="0"/>
                </a:moveTo>
                <a:lnTo>
                  <a:pt x="0" y="0"/>
                </a:lnTo>
                <a:lnTo>
                  <a:pt x="0" y="184150"/>
                </a:lnTo>
                <a:lnTo>
                  <a:pt x="15239" y="184150"/>
                </a:lnTo>
                <a:lnTo>
                  <a:pt x="1523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3" name="object 6">
            <a:extLst>
              <a:ext uri="{FF2B5EF4-FFF2-40B4-BE49-F238E27FC236}">
                <a16:creationId xmlns:a16="http://schemas.microsoft.com/office/drawing/2014/main" id="{DA33CD83-F727-D102-9CA8-F8ED8F544D55}"/>
              </a:ext>
            </a:extLst>
          </p:cNvPr>
          <p:cNvSpPr/>
          <p:nvPr/>
        </p:nvSpPr>
        <p:spPr>
          <a:xfrm>
            <a:off x="2708910" y="3448050"/>
            <a:ext cx="15240" cy="184150"/>
          </a:xfrm>
          <a:custGeom>
            <a:avLst/>
            <a:gdLst/>
            <a:ahLst/>
            <a:cxnLst/>
            <a:rect l="l" t="t" r="r" b="b"/>
            <a:pathLst>
              <a:path w="15239" h="184150">
                <a:moveTo>
                  <a:pt x="15239" y="0"/>
                </a:moveTo>
                <a:lnTo>
                  <a:pt x="0" y="0"/>
                </a:lnTo>
                <a:lnTo>
                  <a:pt x="0" y="184150"/>
                </a:lnTo>
                <a:lnTo>
                  <a:pt x="15239" y="184150"/>
                </a:lnTo>
                <a:lnTo>
                  <a:pt x="1523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4" name="object 7">
            <a:extLst>
              <a:ext uri="{FF2B5EF4-FFF2-40B4-BE49-F238E27FC236}">
                <a16:creationId xmlns:a16="http://schemas.microsoft.com/office/drawing/2014/main" id="{09F7E316-2F1F-AF32-0FBE-66E8DB5B68A2}"/>
              </a:ext>
            </a:extLst>
          </p:cNvPr>
          <p:cNvSpPr txBox="1"/>
          <p:nvPr/>
        </p:nvSpPr>
        <p:spPr>
          <a:xfrm>
            <a:off x="2755138" y="3382772"/>
            <a:ext cx="1040130" cy="269240"/>
          </a:xfrm>
          <a:prstGeom prst="rect">
            <a:avLst/>
          </a:prstGeom>
        </p:spPr>
        <p:txBody>
          <a:bodyPr vert="horz" wrap="square" lIns="0" tIns="12065" rIns="0" bIns="0" rtlCol="0">
            <a:spAutoFit/>
          </a:bodyPr>
          <a:lstStyle/>
          <a:p>
            <a:pPr marL="38100" rtl="0">
              <a:spcBef>
                <a:spcPts val="95"/>
              </a:spcBef>
            </a:pPr>
            <a:r>
              <a:rPr sz="1600" kern="1200" spc="-45" dirty="0">
                <a:solidFill>
                  <a:prstClr val="black"/>
                </a:solidFill>
                <a:latin typeface="Cambria Math"/>
                <a:cs typeface="Cambria Math"/>
              </a:rPr>
              <a:t>𝐵</a:t>
            </a:r>
            <a:r>
              <a:rPr sz="1725" kern="1200" spc="-67" baseline="-14492" dirty="0">
                <a:solidFill>
                  <a:prstClr val="black"/>
                </a:solidFill>
                <a:latin typeface="Cambria Math"/>
                <a:cs typeface="Cambria Math"/>
              </a:rPr>
              <a:t>1</a:t>
            </a:r>
            <a:r>
              <a:rPr sz="1725" kern="1200" spc="209" baseline="-14492" dirty="0">
                <a:solidFill>
                  <a:prstClr val="black"/>
                </a:solidFill>
                <a:latin typeface="Cambria Math"/>
                <a:cs typeface="Cambria Math"/>
              </a:rPr>
              <a:t> </a:t>
            </a:r>
            <a:r>
              <a:rPr sz="1600" kern="1200" spc="-10" dirty="0">
                <a:solidFill>
                  <a:prstClr val="black"/>
                </a:solidFill>
                <a:latin typeface="Cambria Math"/>
                <a:cs typeface="Cambria Math"/>
              </a:rPr>
              <a:t>&amp;&amp;</a:t>
            </a:r>
            <a:r>
              <a:rPr sz="1600" kern="1200" spc="-25" dirty="0">
                <a:solidFill>
                  <a:prstClr val="black"/>
                </a:solidFill>
                <a:latin typeface="Cambria Math"/>
                <a:cs typeface="Cambria Math"/>
              </a:rPr>
              <a:t> </a:t>
            </a:r>
            <a:r>
              <a:rPr sz="1600" kern="1200" spc="-20" dirty="0">
                <a:solidFill>
                  <a:srgbClr val="FF0000"/>
                </a:solidFill>
                <a:latin typeface="Cambria Math"/>
                <a:cs typeface="Cambria Math"/>
              </a:rPr>
              <a:t>𝑀</a:t>
            </a:r>
            <a:r>
              <a:rPr sz="1600" kern="1200" spc="-20" dirty="0">
                <a:solidFill>
                  <a:prstClr val="black"/>
                </a:solidFill>
                <a:latin typeface="Cambria Math"/>
                <a:cs typeface="Cambria Math"/>
              </a:rPr>
              <a:t>𝐵</a:t>
            </a:r>
            <a:r>
              <a:rPr sz="1725" kern="1200" spc="-30" baseline="-14492" dirty="0">
                <a:solidFill>
                  <a:prstClr val="black"/>
                </a:solidFill>
                <a:latin typeface="Cambria Math"/>
                <a:cs typeface="Cambria Math"/>
              </a:rPr>
              <a:t>2</a:t>
            </a:r>
            <a:endParaRPr sz="1725" kern="1200" baseline="-14492">
              <a:solidFill>
                <a:prstClr val="black"/>
              </a:solidFill>
              <a:latin typeface="Cambria Math"/>
              <a:cs typeface="Cambria Math"/>
            </a:endParaRPr>
          </a:p>
        </p:txBody>
      </p:sp>
      <p:sp>
        <p:nvSpPr>
          <p:cNvPr id="25" name="object 8">
            <a:extLst>
              <a:ext uri="{FF2B5EF4-FFF2-40B4-BE49-F238E27FC236}">
                <a16:creationId xmlns:a16="http://schemas.microsoft.com/office/drawing/2014/main" id="{3003B159-F4C5-FC04-AD85-CCF8F4312B63}"/>
              </a:ext>
            </a:extLst>
          </p:cNvPr>
          <p:cNvSpPr/>
          <p:nvPr/>
        </p:nvSpPr>
        <p:spPr>
          <a:xfrm>
            <a:off x="4830317" y="3448050"/>
            <a:ext cx="15240" cy="184150"/>
          </a:xfrm>
          <a:custGeom>
            <a:avLst/>
            <a:gdLst/>
            <a:ahLst/>
            <a:cxnLst/>
            <a:rect l="l" t="t" r="r" b="b"/>
            <a:pathLst>
              <a:path w="15239" h="184150">
                <a:moveTo>
                  <a:pt x="15240" y="0"/>
                </a:moveTo>
                <a:lnTo>
                  <a:pt x="0" y="0"/>
                </a:lnTo>
                <a:lnTo>
                  <a:pt x="0" y="184150"/>
                </a:lnTo>
                <a:lnTo>
                  <a:pt x="15240" y="184150"/>
                </a:lnTo>
                <a:lnTo>
                  <a:pt x="15240"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6" name="object 9">
            <a:extLst>
              <a:ext uri="{FF2B5EF4-FFF2-40B4-BE49-F238E27FC236}">
                <a16:creationId xmlns:a16="http://schemas.microsoft.com/office/drawing/2014/main" id="{E1D6B536-A0DD-3A7F-31C7-270FD56A7A93}"/>
              </a:ext>
            </a:extLst>
          </p:cNvPr>
          <p:cNvSpPr/>
          <p:nvPr/>
        </p:nvSpPr>
        <p:spPr>
          <a:xfrm>
            <a:off x="4295394" y="3448050"/>
            <a:ext cx="15240" cy="184150"/>
          </a:xfrm>
          <a:custGeom>
            <a:avLst/>
            <a:gdLst/>
            <a:ahLst/>
            <a:cxnLst/>
            <a:rect l="l" t="t" r="r" b="b"/>
            <a:pathLst>
              <a:path w="15239" h="184150">
                <a:moveTo>
                  <a:pt x="15239" y="0"/>
                </a:moveTo>
                <a:lnTo>
                  <a:pt x="0" y="0"/>
                </a:lnTo>
                <a:lnTo>
                  <a:pt x="0" y="184150"/>
                </a:lnTo>
                <a:lnTo>
                  <a:pt x="15239" y="184150"/>
                </a:lnTo>
                <a:lnTo>
                  <a:pt x="1523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7" name="object 10">
            <a:extLst>
              <a:ext uri="{FF2B5EF4-FFF2-40B4-BE49-F238E27FC236}">
                <a16:creationId xmlns:a16="http://schemas.microsoft.com/office/drawing/2014/main" id="{BE85A648-3813-EAB9-49AC-3FBB788133E4}"/>
              </a:ext>
            </a:extLst>
          </p:cNvPr>
          <p:cNvSpPr/>
          <p:nvPr/>
        </p:nvSpPr>
        <p:spPr>
          <a:xfrm>
            <a:off x="4396994" y="3446653"/>
            <a:ext cx="347345" cy="187960"/>
          </a:xfrm>
          <a:custGeom>
            <a:avLst/>
            <a:gdLst/>
            <a:ahLst/>
            <a:cxnLst/>
            <a:rect l="l" t="t" r="r" b="b"/>
            <a:pathLst>
              <a:path w="347345" h="187960">
                <a:moveTo>
                  <a:pt x="287400" y="0"/>
                </a:moveTo>
                <a:lnTo>
                  <a:pt x="284733" y="7620"/>
                </a:lnTo>
                <a:lnTo>
                  <a:pt x="295592" y="12334"/>
                </a:lnTo>
                <a:lnTo>
                  <a:pt x="304926" y="18859"/>
                </a:lnTo>
                <a:lnTo>
                  <a:pt x="327310" y="62293"/>
                </a:lnTo>
                <a:lnTo>
                  <a:pt x="330072" y="92963"/>
                </a:lnTo>
                <a:lnTo>
                  <a:pt x="329382" y="109517"/>
                </a:lnTo>
                <a:lnTo>
                  <a:pt x="319023" y="149987"/>
                </a:lnTo>
                <a:lnTo>
                  <a:pt x="284988" y="180086"/>
                </a:lnTo>
                <a:lnTo>
                  <a:pt x="287400" y="187706"/>
                </a:lnTo>
                <a:lnTo>
                  <a:pt x="323280" y="166417"/>
                </a:lnTo>
                <a:lnTo>
                  <a:pt x="343392" y="127111"/>
                </a:lnTo>
                <a:lnTo>
                  <a:pt x="347217" y="93852"/>
                </a:lnTo>
                <a:lnTo>
                  <a:pt x="346243" y="76684"/>
                </a:lnTo>
                <a:lnTo>
                  <a:pt x="331723" y="32893"/>
                </a:lnTo>
                <a:lnTo>
                  <a:pt x="300970" y="4907"/>
                </a:lnTo>
                <a:lnTo>
                  <a:pt x="287400" y="0"/>
                </a:lnTo>
                <a:close/>
              </a:path>
              <a:path w="347345" h="187960">
                <a:moveTo>
                  <a:pt x="59943" y="0"/>
                </a:moveTo>
                <a:lnTo>
                  <a:pt x="24118" y="21341"/>
                </a:lnTo>
                <a:lnTo>
                  <a:pt x="3889" y="60801"/>
                </a:lnTo>
                <a:lnTo>
                  <a:pt x="0" y="93852"/>
                </a:lnTo>
                <a:lnTo>
                  <a:pt x="974" y="111166"/>
                </a:lnTo>
                <a:lnTo>
                  <a:pt x="15493" y="154939"/>
                </a:lnTo>
                <a:lnTo>
                  <a:pt x="46301" y="182800"/>
                </a:lnTo>
                <a:lnTo>
                  <a:pt x="59943" y="187706"/>
                </a:lnTo>
                <a:lnTo>
                  <a:pt x="62229" y="180086"/>
                </a:lnTo>
                <a:lnTo>
                  <a:pt x="51538" y="175347"/>
                </a:lnTo>
                <a:lnTo>
                  <a:pt x="42322" y="168751"/>
                </a:lnTo>
                <a:lnTo>
                  <a:pt x="19923" y="124523"/>
                </a:lnTo>
                <a:lnTo>
                  <a:pt x="17144" y="92963"/>
                </a:lnTo>
                <a:lnTo>
                  <a:pt x="17837" y="76914"/>
                </a:lnTo>
                <a:lnTo>
                  <a:pt x="28320" y="37337"/>
                </a:lnTo>
                <a:lnTo>
                  <a:pt x="62610" y="7620"/>
                </a:lnTo>
                <a:lnTo>
                  <a:pt x="59943"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8" name="object 11">
            <a:extLst>
              <a:ext uri="{FF2B5EF4-FFF2-40B4-BE49-F238E27FC236}">
                <a16:creationId xmlns:a16="http://schemas.microsoft.com/office/drawing/2014/main" id="{D34C5261-07DE-20C2-0357-9C046DF8CC46}"/>
              </a:ext>
            </a:extLst>
          </p:cNvPr>
          <p:cNvSpPr txBox="1"/>
          <p:nvPr/>
        </p:nvSpPr>
        <p:spPr>
          <a:xfrm>
            <a:off x="3870452" y="3382772"/>
            <a:ext cx="1878330" cy="269240"/>
          </a:xfrm>
          <a:prstGeom prst="rect">
            <a:avLst/>
          </a:prstGeom>
        </p:spPr>
        <p:txBody>
          <a:bodyPr vert="horz" wrap="square" lIns="0" tIns="12065" rIns="0" bIns="0" rtlCol="0">
            <a:spAutoFit/>
          </a:bodyPr>
          <a:lstStyle/>
          <a:p>
            <a:pPr marL="50800" rtl="0">
              <a:spcBef>
                <a:spcPts val="95"/>
              </a:spcBef>
              <a:tabLst>
                <a:tab pos="593090" algn="l"/>
                <a:tab pos="1045844" algn="l"/>
              </a:tabLst>
            </a:pPr>
            <a:r>
              <a:rPr sz="1600" kern="1200" spc="-5" dirty="0">
                <a:solidFill>
                  <a:prstClr val="black"/>
                </a:solidFill>
                <a:latin typeface="Cambria Math"/>
                <a:cs typeface="Cambria Math"/>
              </a:rPr>
              <a:t>!</a:t>
            </a:r>
            <a:r>
              <a:rPr sz="1600" kern="1200" spc="-90" dirty="0">
                <a:solidFill>
                  <a:prstClr val="black"/>
                </a:solidFill>
                <a:latin typeface="Cambria Math"/>
                <a:cs typeface="Cambria Math"/>
              </a:rPr>
              <a:t> </a:t>
            </a:r>
            <a:r>
              <a:rPr sz="1600" kern="1200" spc="-45" dirty="0">
                <a:solidFill>
                  <a:prstClr val="black"/>
                </a:solidFill>
                <a:latin typeface="Cambria Math"/>
                <a:cs typeface="Cambria Math"/>
              </a:rPr>
              <a:t>𝐵</a:t>
            </a:r>
            <a:r>
              <a:rPr sz="1725" kern="1200" spc="-67" baseline="-14492" dirty="0">
                <a:solidFill>
                  <a:prstClr val="black"/>
                </a:solidFill>
                <a:latin typeface="Cambria Math"/>
                <a:cs typeface="Cambria Math"/>
              </a:rPr>
              <a:t>1	</a:t>
            </a:r>
            <a:r>
              <a:rPr sz="1600" kern="1200" spc="-45" dirty="0">
                <a:solidFill>
                  <a:prstClr val="black"/>
                </a:solidFill>
                <a:latin typeface="Cambria Math"/>
                <a:cs typeface="Cambria Math"/>
              </a:rPr>
              <a:t>𝐵</a:t>
            </a:r>
            <a:r>
              <a:rPr sz="1725" kern="1200" spc="-67" baseline="-14492" dirty="0">
                <a:solidFill>
                  <a:prstClr val="black"/>
                </a:solidFill>
                <a:latin typeface="Cambria Math"/>
                <a:cs typeface="Cambria Math"/>
              </a:rPr>
              <a:t>1	</a:t>
            </a:r>
            <a:r>
              <a:rPr sz="1600" kern="1200" spc="-50" dirty="0">
                <a:solidFill>
                  <a:prstClr val="black"/>
                </a:solidFill>
                <a:latin typeface="Cambria Math"/>
                <a:cs typeface="Cambria Math"/>
              </a:rPr>
              <a:t>𝐸</a:t>
            </a:r>
            <a:r>
              <a:rPr sz="1725" kern="1200" spc="-75" baseline="-14492" dirty="0">
                <a:solidFill>
                  <a:prstClr val="black"/>
                </a:solidFill>
                <a:latin typeface="Cambria Math"/>
                <a:cs typeface="Cambria Math"/>
              </a:rPr>
              <a:t>1</a:t>
            </a:r>
            <a:r>
              <a:rPr sz="1725" kern="1200" spc="209" baseline="-14492" dirty="0">
                <a:solidFill>
                  <a:prstClr val="black"/>
                </a:solidFill>
                <a:latin typeface="Cambria Math"/>
                <a:cs typeface="Cambria Math"/>
              </a:rPr>
              <a:t> </a:t>
            </a:r>
            <a:r>
              <a:rPr sz="1600" kern="1200" spc="-10" dirty="0">
                <a:solidFill>
                  <a:prstClr val="black"/>
                </a:solidFill>
                <a:latin typeface="Cambria Math"/>
                <a:cs typeface="Cambria Math"/>
              </a:rPr>
              <a:t>𝐫𝐞𝐥</a:t>
            </a:r>
            <a:r>
              <a:rPr sz="1600" kern="1200" spc="-20" dirty="0">
                <a:solidFill>
                  <a:prstClr val="black"/>
                </a:solidFill>
                <a:latin typeface="Cambria Math"/>
                <a:cs typeface="Cambria Math"/>
              </a:rPr>
              <a:t> </a:t>
            </a:r>
            <a:r>
              <a:rPr sz="1600" kern="1200" spc="-30" dirty="0">
                <a:solidFill>
                  <a:prstClr val="black"/>
                </a:solidFill>
                <a:latin typeface="Cambria Math"/>
                <a:cs typeface="Cambria Math"/>
              </a:rPr>
              <a:t>𝐸</a:t>
            </a:r>
            <a:r>
              <a:rPr sz="1725" kern="1200" spc="-44" baseline="-14492" dirty="0">
                <a:solidFill>
                  <a:prstClr val="black"/>
                </a:solidFill>
                <a:latin typeface="Cambria Math"/>
                <a:cs typeface="Cambria Math"/>
              </a:rPr>
              <a:t>2</a:t>
            </a:r>
            <a:endParaRPr sz="1725" kern="1200" baseline="-14492">
              <a:solidFill>
                <a:prstClr val="black"/>
              </a:solidFill>
              <a:latin typeface="Cambria Math"/>
              <a:cs typeface="Cambria Math"/>
            </a:endParaRPr>
          </a:p>
        </p:txBody>
      </p:sp>
      <p:sp>
        <p:nvSpPr>
          <p:cNvPr id="29" name="object 12">
            <a:extLst>
              <a:ext uri="{FF2B5EF4-FFF2-40B4-BE49-F238E27FC236}">
                <a16:creationId xmlns:a16="http://schemas.microsoft.com/office/drawing/2014/main" id="{6A94C9E0-A646-1490-FA5D-A86FA03E3FF6}"/>
              </a:ext>
            </a:extLst>
          </p:cNvPr>
          <p:cNvSpPr/>
          <p:nvPr/>
        </p:nvSpPr>
        <p:spPr>
          <a:xfrm>
            <a:off x="6323838" y="3448050"/>
            <a:ext cx="15240" cy="184150"/>
          </a:xfrm>
          <a:custGeom>
            <a:avLst/>
            <a:gdLst/>
            <a:ahLst/>
            <a:cxnLst/>
            <a:rect l="l" t="t" r="r" b="b"/>
            <a:pathLst>
              <a:path w="15239" h="184150">
                <a:moveTo>
                  <a:pt x="15239" y="0"/>
                </a:moveTo>
                <a:lnTo>
                  <a:pt x="0" y="0"/>
                </a:lnTo>
                <a:lnTo>
                  <a:pt x="0" y="184150"/>
                </a:lnTo>
                <a:lnTo>
                  <a:pt x="15239" y="184150"/>
                </a:lnTo>
                <a:lnTo>
                  <a:pt x="1523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0" name="object 13">
            <a:extLst>
              <a:ext uri="{FF2B5EF4-FFF2-40B4-BE49-F238E27FC236}">
                <a16:creationId xmlns:a16="http://schemas.microsoft.com/office/drawing/2014/main" id="{77457A0F-515B-1618-EC80-918D7156D946}"/>
              </a:ext>
            </a:extLst>
          </p:cNvPr>
          <p:cNvSpPr/>
          <p:nvPr/>
        </p:nvSpPr>
        <p:spPr>
          <a:xfrm>
            <a:off x="5761482" y="3448050"/>
            <a:ext cx="15240" cy="184150"/>
          </a:xfrm>
          <a:custGeom>
            <a:avLst/>
            <a:gdLst/>
            <a:ahLst/>
            <a:cxnLst/>
            <a:rect l="l" t="t" r="r" b="b"/>
            <a:pathLst>
              <a:path w="15239" h="184150">
                <a:moveTo>
                  <a:pt x="15239" y="0"/>
                </a:moveTo>
                <a:lnTo>
                  <a:pt x="0" y="0"/>
                </a:lnTo>
                <a:lnTo>
                  <a:pt x="0" y="184150"/>
                </a:lnTo>
                <a:lnTo>
                  <a:pt x="15239" y="184150"/>
                </a:lnTo>
                <a:lnTo>
                  <a:pt x="15239" y="0"/>
                </a:lnTo>
                <a:close/>
              </a:path>
            </a:pathLst>
          </a:custGeom>
          <a:solidFill>
            <a:srgbClr val="00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31" name="object 14">
            <a:extLst>
              <a:ext uri="{FF2B5EF4-FFF2-40B4-BE49-F238E27FC236}">
                <a16:creationId xmlns:a16="http://schemas.microsoft.com/office/drawing/2014/main" id="{917A8521-8805-E07D-091B-FA566A3317B5}"/>
              </a:ext>
            </a:extLst>
          </p:cNvPr>
          <p:cNvSpPr txBox="1"/>
          <p:nvPr/>
        </p:nvSpPr>
        <p:spPr>
          <a:xfrm>
            <a:off x="5834888" y="3382772"/>
            <a:ext cx="433070" cy="269240"/>
          </a:xfrm>
          <a:prstGeom prst="rect">
            <a:avLst/>
          </a:prstGeom>
        </p:spPr>
        <p:txBody>
          <a:bodyPr vert="horz" wrap="square" lIns="0" tIns="12065" rIns="0" bIns="0" rtlCol="0">
            <a:spAutoFit/>
          </a:bodyPr>
          <a:lstStyle/>
          <a:p>
            <a:pPr marL="12700" rtl="0">
              <a:spcBef>
                <a:spcPts val="95"/>
              </a:spcBef>
            </a:pPr>
            <a:r>
              <a:rPr sz="1600" kern="1200" spc="-5" dirty="0">
                <a:solidFill>
                  <a:prstClr val="black"/>
                </a:solidFill>
                <a:latin typeface="Cambria Math"/>
                <a:cs typeface="Cambria Math"/>
              </a:rPr>
              <a:t>𝐭</a:t>
            </a:r>
            <a:r>
              <a:rPr sz="1600" kern="1200" spc="-10" dirty="0">
                <a:solidFill>
                  <a:prstClr val="black"/>
                </a:solidFill>
                <a:latin typeface="Cambria Math"/>
                <a:cs typeface="Cambria Math"/>
              </a:rPr>
              <a:t>𝐫</a:t>
            </a:r>
            <a:r>
              <a:rPr sz="1600" kern="1200" spc="-15" dirty="0">
                <a:solidFill>
                  <a:prstClr val="black"/>
                </a:solidFill>
                <a:latin typeface="Cambria Math"/>
                <a:cs typeface="Cambria Math"/>
              </a:rPr>
              <a:t>𝐮</a:t>
            </a:r>
            <a:r>
              <a:rPr sz="1600" kern="1200" spc="-5" dirty="0">
                <a:solidFill>
                  <a:prstClr val="black"/>
                </a:solidFill>
                <a:latin typeface="Cambria Math"/>
                <a:cs typeface="Cambria Math"/>
              </a:rPr>
              <a:t>𝐞</a:t>
            </a:r>
            <a:endParaRPr sz="1600" kern="1200">
              <a:solidFill>
                <a:prstClr val="black"/>
              </a:solidFill>
              <a:latin typeface="Cambria Math"/>
              <a:cs typeface="Cambria Math"/>
            </a:endParaRPr>
          </a:p>
        </p:txBody>
      </p:sp>
      <p:sp>
        <p:nvSpPr>
          <p:cNvPr id="32" name="object 15">
            <a:extLst>
              <a:ext uri="{FF2B5EF4-FFF2-40B4-BE49-F238E27FC236}">
                <a16:creationId xmlns:a16="http://schemas.microsoft.com/office/drawing/2014/main" id="{C4274C55-2A28-CDE5-9088-F8896D2097C6}"/>
              </a:ext>
            </a:extLst>
          </p:cNvPr>
          <p:cNvSpPr txBox="1"/>
          <p:nvPr/>
        </p:nvSpPr>
        <p:spPr>
          <a:xfrm>
            <a:off x="6397497" y="3382772"/>
            <a:ext cx="493395" cy="269240"/>
          </a:xfrm>
          <a:prstGeom prst="rect">
            <a:avLst/>
          </a:prstGeom>
        </p:spPr>
        <p:txBody>
          <a:bodyPr vert="horz" wrap="square" lIns="0" tIns="12065" rIns="0" bIns="0" rtlCol="0">
            <a:spAutoFit/>
          </a:bodyPr>
          <a:lstStyle/>
          <a:p>
            <a:pPr marL="12700" rtl="0">
              <a:spcBef>
                <a:spcPts val="95"/>
              </a:spcBef>
            </a:pPr>
            <a:r>
              <a:rPr sz="1600" kern="1200" spc="-10" dirty="0">
                <a:solidFill>
                  <a:prstClr val="black"/>
                </a:solidFill>
                <a:latin typeface="Cambria Math"/>
                <a:cs typeface="Cambria Math"/>
              </a:rPr>
              <a:t>𝐟</a:t>
            </a:r>
            <a:r>
              <a:rPr sz="1600" kern="1200" spc="-5" dirty="0">
                <a:solidFill>
                  <a:prstClr val="black"/>
                </a:solidFill>
                <a:latin typeface="Cambria Math"/>
                <a:cs typeface="Cambria Math"/>
              </a:rPr>
              <a:t>𝐚𝐥𝐬𝐞</a:t>
            </a:r>
            <a:endParaRPr sz="1600" kern="1200">
              <a:solidFill>
                <a:prstClr val="black"/>
              </a:solidFill>
              <a:latin typeface="Cambria Math"/>
              <a:cs typeface="Cambria Math"/>
            </a:endParaRPr>
          </a:p>
        </p:txBody>
      </p:sp>
    </p:spTree>
    <p:extLst>
      <p:ext uri="{BB962C8B-B14F-4D97-AF65-F5344CB8AC3E}">
        <p14:creationId xmlns:p14="http://schemas.microsoft.com/office/powerpoint/2010/main" val="54239439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99</a:t>
            </a:fld>
            <a:endParaRPr lang="en-US"/>
          </a:p>
        </p:txBody>
      </p:sp>
      <p:grpSp>
        <p:nvGrpSpPr>
          <p:cNvPr id="11" name="object 2">
            <a:extLst>
              <a:ext uri="{FF2B5EF4-FFF2-40B4-BE49-F238E27FC236}">
                <a16:creationId xmlns:a16="http://schemas.microsoft.com/office/drawing/2014/main" id="{544208EA-7AC9-5DE6-B39C-CC992AB9A2CD}"/>
              </a:ext>
            </a:extLst>
          </p:cNvPr>
          <p:cNvGrpSpPr/>
          <p:nvPr/>
        </p:nvGrpSpPr>
        <p:grpSpPr>
          <a:xfrm>
            <a:off x="1279936" y="254508"/>
            <a:ext cx="7518400" cy="5744845"/>
            <a:chOff x="1279936" y="254508"/>
            <a:chExt cx="7518400" cy="5744845"/>
          </a:xfrm>
        </p:grpSpPr>
        <p:pic>
          <p:nvPicPr>
            <p:cNvPr id="12" name="object 3">
              <a:extLst>
                <a:ext uri="{FF2B5EF4-FFF2-40B4-BE49-F238E27FC236}">
                  <a16:creationId xmlns:a16="http://schemas.microsoft.com/office/drawing/2014/main" id="{3D698121-E992-3DBD-9106-3562C60A46DD}"/>
                </a:ext>
              </a:extLst>
            </p:cNvPr>
            <p:cNvPicPr/>
            <p:nvPr/>
          </p:nvPicPr>
          <p:blipFill>
            <a:blip r:embed="rId3" cstate="print"/>
            <a:stretch>
              <a:fillRect/>
            </a:stretch>
          </p:blipFill>
          <p:spPr>
            <a:xfrm>
              <a:off x="1279936" y="567747"/>
              <a:ext cx="6661738" cy="5431159"/>
            </a:xfrm>
            <a:prstGeom prst="rect">
              <a:avLst/>
            </a:prstGeom>
          </p:spPr>
        </p:pic>
        <p:sp>
          <p:nvSpPr>
            <p:cNvPr id="13" name="object 4">
              <a:extLst>
                <a:ext uri="{FF2B5EF4-FFF2-40B4-BE49-F238E27FC236}">
                  <a16:creationId xmlns:a16="http://schemas.microsoft.com/office/drawing/2014/main" id="{3FFE5308-5AD5-6440-A11A-EFD1592BC4F8}"/>
                </a:ext>
              </a:extLst>
            </p:cNvPr>
            <p:cNvSpPr/>
            <p:nvPr/>
          </p:nvSpPr>
          <p:spPr>
            <a:xfrm>
              <a:off x="5373624" y="254507"/>
              <a:ext cx="3424554" cy="5610225"/>
            </a:xfrm>
            <a:custGeom>
              <a:avLst/>
              <a:gdLst/>
              <a:ahLst/>
              <a:cxnLst/>
              <a:rect l="l" t="t" r="r" b="b"/>
              <a:pathLst>
                <a:path w="3424554" h="5610225">
                  <a:moveTo>
                    <a:pt x="98425" y="4002659"/>
                  </a:moveTo>
                  <a:lnTo>
                    <a:pt x="96774" y="3999484"/>
                  </a:lnTo>
                  <a:lnTo>
                    <a:pt x="95250" y="3996436"/>
                  </a:lnTo>
                  <a:lnTo>
                    <a:pt x="91440" y="3995166"/>
                  </a:lnTo>
                  <a:lnTo>
                    <a:pt x="88265" y="3996690"/>
                  </a:lnTo>
                  <a:lnTo>
                    <a:pt x="0" y="4041775"/>
                  </a:lnTo>
                  <a:lnTo>
                    <a:pt x="82550" y="4096512"/>
                  </a:lnTo>
                  <a:lnTo>
                    <a:pt x="85471" y="4098417"/>
                  </a:lnTo>
                  <a:lnTo>
                    <a:pt x="89408" y="4097655"/>
                  </a:lnTo>
                  <a:lnTo>
                    <a:pt x="91440" y="4094734"/>
                  </a:lnTo>
                  <a:lnTo>
                    <a:pt x="93345" y="4091686"/>
                  </a:lnTo>
                  <a:lnTo>
                    <a:pt x="92583" y="4087749"/>
                  </a:lnTo>
                  <a:lnTo>
                    <a:pt x="35039" y="4049776"/>
                  </a:lnTo>
                  <a:lnTo>
                    <a:pt x="29641" y="4046220"/>
                  </a:lnTo>
                  <a:lnTo>
                    <a:pt x="29908" y="4040784"/>
                  </a:lnTo>
                  <a:lnTo>
                    <a:pt x="39154" y="4036060"/>
                  </a:lnTo>
                  <a:lnTo>
                    <a:pt x="93980" y="4008120"/>
                  </a:lnTo>
                  <a:lnTo>
                    <a:pt x="97155" y="4006469"/>
                  </a:lnTo>
                  <a:lnTo>
                    <a:pt x="98425" y="4002659"/>
                  </a:lnTo>
                  <a:close/>
                </a:path>
                <a:path w="3424554" h="5610225">
                  <a:moveTo>
                    <a:pt x="118872" y="4042156"/>
                  </a:moveTo>
                  <a:lnTo>
                    <a:pt x="68199" y="4039235"/>
                  </a:lnTo>
                  <a:lnTo>
                    <a:pt x="67437" y="4051935"/>
                  </a:lnTo>
                  <a:lnTo>
                    <a:pt x="118110" y="4054856"/>
                  </a:lnTo>
                  <a:lnTo>
                    <a:pt x="118872" y="4042156"/>
                  </a:lnTo>
                  <a:close/>
                </a:path>
                <a:path w="3424554" h="5610225">
                  <a:moveTo>
                    <a:pt x="207645" y="4047236"/>
                  </a:moveTo>
                  <a:lnTo>
                    <a:pt x="156972" y="4044315"/>
                  </a:lnTo>
                  <a:lnTo>
                    <a:pt x="156210" y="4057015"/>
                  </a:lnTo>
                  <a:lnTo>
                    <a:pt x="206883" y="4059936"/>
                  </a:lnTo>
                  <a:lnTo>
                    <a:pt x="207645" y="4047236"/>
                  </a:lnTo>
                  <a:close/>
                </a:path>
                <a:path w="3424554" h="5610225">
                  <a:moveTo>
                    <a:pt x="296418" y="4052316"/>
                  </a:moveTo>
                  <a:lnTo>
                    <a:pt x="245618" y="4049395"/>
                  </a:lnTo>
                  <a:lnTo>
                    <a:pt x="244983" y="4062095"/>
                  </a:lnTo>
                  <a:lnTo>
                    <a:pt x="295656" y="4064889"/>
                  </a:lnTo>
                  <a:lnTo>
                    <a:pt x="296418" y="4052316"/>
                  </a:lnTo>
                  <a:close/>
                </a:path>
                <a:path w="3424554" h="5610225">
                  <a:moveTo>
                    <a:pt x="336042" y="5599989"/>
                  </a:moveTo>
                  <a:lnTo>
                    <a:pt x="333502" y="5587543"/>
                  </a:lnTo>
                  <a:lnTo>
                    <a:pt x="283718" y="5597525"/>
                  </a:lnTo>
                  <a:lnTo>
                    <a:pt x="286258" y="5609971"/>
                  </a:lnTo>
                  <a:lnTo>
                    <a:pt x="336042" y="5599989"/>
                  </a:lnTo>
                  <a:close/>
                </a:path>
                <a:path w="3424554" h="5610225">
                  <a:moveTo>
                    <a:pt x="385191" y="4057269"/>
                  </a:moveTo>
                  <a:lnTo>
                    <a:pt x="383540" y="4057269"/>
                  </a:lnTo>
                  <a:lnTo>
                    <a:pt x="334391" y="4054475"/>
                  </a:lnTo>
                  <a:lnTo>
                    <a:pt x="333756" y="4067048"/>
                  </a:lnTo>
                  <a:lnTo>
                    <a:pt x="382905" y="4069842"/>
                  </a:lnTo>
                  <a:lnTo>
                    <a:pt x="384429" y="4069969"/>
                  </a:lnTo>
                  <a:lnTo>
                    <a:pt x="385191" y="4057269"/>
                  </a:lnTo>
                  <a:close/>
                </a:path>
                <a:path w="3424554" h="5610225">
                  <a:moveTo>
                    <a:pt x="423164" y="5582526"/>
                  </a:moveTo>
                  <a:lnTo>
                    <a:pt x="420751" y="5570067"/>
                  </a:lnTo>
                  <a:lnTo>
                    <a:pt x="370967" y="5580050"/>
                  </a:lnTo>
                  <a:lnTo>
                    <a:pt x="373380" y="5592508"/>
                  </a:lnTo>
                  <a:lnTo>
                    <a:pt x="423164" y="5582526"/>
                  </a:lnTo>
                  <a:close/>
                </a:path>
                <a:path w="3424554" h="5610225">
                  <a:moveTo>
                    <a:pt x="473964" y="4062222"/>
                  </a:moveTo>
                  <a:lnTo>
                    <a:pt x="423164" y="4059428"/>
                  </a:lnTo>
                  <a:lnTo>
                    <a:pt x="422529" y="4072128"/>
                  </a:lnTo>
                  <a:lnTo>
                    <a:pt x="473202" y="4074795"/>
                  </a:lnTo>
                  <a:lnTo>
                    <a:pt x="473964" y="4062222"/>
                  </a:lnTo>
                  <a:close/>
                </a:path>
                <a:path w="3424554" h="5610225">
                  <a:moveTo>
                    <a:pt x="510413" y="5565051"/>
                  </a:moveTo>
                  <a:lnTo>
                    <a:pt x="507873" y="5552605"/>
                  </a:lnTo>
                  <a:lnTo>
                    <a:pt x="458089" y="5562587"/>
                  </a:lnTo>
                  <a:lnTo>
                    <a:pt x="460629" y="5575033"/>
                  </a:lnTo>
                  <a:lnTo>
                    <a:pt x="510413" y="5565051"/>
                  </a:lnTo>
                  <a:close/>
                </a:path>
                <a:path w="3424554" h="5610225">
                  <a:moveTo>
                    <a:pt x="562737" y="4067048"/>
                  </a:moveTo>
                  <a:lnTo>
                    <a:pt x="511937" y="4064254"/>
                  </a:lnTo>
                  <a:lnTo>
                    <a:pt x="511302" y="4076954"/>
                  </a:lnTo>
                  <a:lnTo>
                    <a:pt x="561975" y="4079748"/>
                  </a:lnTo>
                  <a:lnTo>
                    <a:pt x="562737" y="4067048"/>
                  </a:lnTo>
                  <a:close/>
                </a:path>
                <a:path w="3424554" h="5610225">
                  <a:moveTo>
                    <a:pt x="597535" y="5547284"/>
                  </a:moveTo>
                  <a:lnTo>
                    <a:pt x="594995" y="5534850"/>
                  </a:lnTo>
                  <a:lnTo>
                    <a:pt x="545211" y="5545048"/>
                  </a:lnTo>
                  <a:lnTo>
                    <a:pt x="547751" y="5557494"/>
                  </a:lnTo>
                  <a:lnTo>
                    <a:pt x="597535" y="5547284"/>
                  </a:lnTo>
                  <a:close/>
                </a:path>
                <a:path w="3424554" h="5610225">
                  <a:moveTo>
                    <a:pt x="651383" y="4071747"/>
                  </a:moveTo>
                  <a:lnTo>
                    <a:pt x="600710" y="4069080"/>
                  </a:lnTo>
                  <a:lnTo>
                    <a:pt x="600075" y="4081780"/>
                  </a:lnTo>
                  <a:lnTo>
                    <a:pt x="650748" y="4084320"/>
                  </a:lnTo>
                  <a:lnTo>
                    <a:pt x="651383" y="4071747"/>
                  </a:lnTo>
                  <a:close/>
                </a:path>
                <a:path w="3424554" h="5610225">
                  <a:moveTo>
                    <a:pt x="684657" y="5529440"/>
                  </a:moveTo>
                  <a:lnTo>
                    <a:pt x="681990" y="5516994"/>
                  </a:lnTo>
                  <a:lnTo>
                    <a:pt x="632333" y="5527205"/>
                  </a:lnTo>
                  <a:lnTo>
                    <a:pt x="634873" y="5539638"/>
                  </a:lnTo>
                  <a:lnTo>
                    <a:pt x="684657" y="5529440"/>
                  </a:lnTo>
                  <a:close/>
                </a:path>
                <a:path w="3424554" h="5610225">
                  <a:moveTo>
                    <a:pt x="740156" y="4076319"/>
                  </a:moveTo>
                  <a:lnTo>
                    <a:pt x="689483" y="4073652"/>
                  </a:lnTo>
                  <a:lnTo>
                    <a:pt x="688848" y="4086352"/>
                  </a:lnTo>
                  <a:lnTo>
                    <a:pt x="739521" y="4089019"/>
                  </a:lnTo>
                  <a:lnTo>
                    <a:pt x="740156" y="4076319"/>
                  </a:lnTo>
                  <a:close/>
                </a:path>
                <a:path w="3424554" h="5610225">
                  <a:moveTo>
                    <a:pt x="771652" y="5511597"/>
                  </a:moveTo>
                  <a:lnTo>
                    <a:pt x="769112" y="5499151"/>
                  </a:lnTo>
                  <a:lnTo>
                    <a:pt x="719328" y="5509349"/>
                  </a:lnTo>
                  <a:lnTo>
                    <a:pt x="721868" y="5521795"/>
                  </a:lnTo>
                  <a:lnTo>
                    <a:pt x="771652" y="5511597"/>
                  </a:lnTo>
                  <a:close/>
                </a:path>
                <a:path w="3424554" h="5610225">
                  <a:moveTo>
                    <a:pt x="828929" y="4080764"/>
                  </a:moveTo>
                  <a:lnTo>
                    <a:pt x="778256" y="4078224"/>
                  </a:lnTo>
                  <a:lnTo>
                    <a:pt x="777621" y="4090924"/>
                  </a:lnTo>
                  <a:lnTo>
                    <a:pt x="828421" y="4093464"/>
                  </a:lnTo>
                  <a:lnTo>
                    <a:pt x="828929" y="4080764"/>
                  </a:lnTo>
                  <a:close/>
                </a:path>
                <a:path w="3424554" h="5610225">
                  <a:moveTo>
                    <a:pt x="858647" y="5492928"/>
                  </a:moveTo>
                  <a:lnTo>
                    <a:pt x="855980" y="5480507"/>
                  </a:lnTo>
                  <a:lnTo>
                    <a:pt x="806323" y="5491188"/>
                  </a:lnTo>
                  <a:lnTo>
                    <a:pt x="808990" y="5503596"/>
                  </a:lnTo>
                  <a:lnTo>
                    <a:pt x="858647" y="5492928"/>
                  </a:lnTo>
                  <a:close/>
                </a:path>
                <a:path w="3424554" h="5610225">
                  <a:moveTo>
                    <a:pt x="917829" y="4085082"/>
                  </a:moveTo>
                  <a:lnTo>
                    <a:pt x="867029" y="4082669"/>
                  </a:lnTo>
                  <a:lnTo>
                    <a:pt x="866394" y="4095369"/>
                  </a:lnTo>
                  <a:lnTo>
                    <a:pt x="917194" y="4097782"/>
                  </a:lnTo>
                  <a:lnTo>
                    <a:pt x="917829" y="4085082"/>
                  </a:lnTo>
                  <a:close/>
                </a:path>
                <a:path w="3424554" h="5610225">
                  <a:moveTo>
                    <a:pt x="945642" y="5474259"/>
                  </a:moveTo>
                  <a:lnTo>
                    <a:pt x="942975" y="5461838"/>
                  </a:lnTo>
                  <a:lnTo>
                    <a:pt x="893318" y="5472506"/>
                  </a:lnTo>
                  <a:lnTo>
                    <a:pt x="895985" y="5484927"/>
                  </a:lnTo>
                  <a:lnTo>
                    <a:pt x="945642" y="5474259"/>
                  </a:lnTo>
                  <a:close/>
                </a:path>
                <a:path w="3424554" h="5610225">
                  <a:moveTo>
                    <a:pt x="967740" y="257048"/>
                  </a:moveTo>
                  <a:lnTo>
                    <a:pt x="963295" y="245237"/>
                  </a:lnTo>
                  <a:lnTo>
                    <a:pt x="915670" y="263144"/>
                  </a:lnTo>
                  <a:lnTo>
                    <a:pt x="920242" y="274955"/>
                  </a:lnTo>
                  <a:lnTo>
                    <a:pt x="967740" y="257048"/>
                  </a:lnTo>
                  <a:close/>
                </a:path>
                <a:path w="3424554" h="5610225">
                  <a:moveTo>
                    <a:pt x="970026" y="297180"/>
                  </a:moveTo>
                  <a:lnTo>
                    <a:pt x="967613" y="293878"/>
                  </a:lnTo>
                  <a:lnTo>
                    <a:pt x="964184" y="293243"/>
                  </a:lnTo>
                  <a:lnTo>
                    <a:pt x="949807" y="290830"/>
                  </a:lnTo>
                  <a:lnTo>
                    <a:pt x="887907" y="280441"/>
                  </a:lnTo>
                  <a:lnTo>
                    <a:pt x="891032" y="276606"/>
                  </a:lnTo>
                  <a:lnTo>
                    <a:pt x="938911" y="217678"/>
                  </a:lnTo>
                  <a:lnTo>
                    <a:pt x="938530" y="213614"/>
                  </a:lnTo>
                  <a:lnTo>
                    <a:pt x="935736" y="211455"/>
                  </a:lnTo>
                  <a:lnTo>
                    <a:pt x="933069" y="209169"/>
                  </a:lnTo>
                  <a:lnTo>
                    <a:pt x="929005" y="209677"/>
                  </a:lnTo>
                  <a:lnTo>
                    <a:pt x="864362" y="289306"/>
                  </a:lnTo>
                  <a:lnTo>
                    <a:pt x="965581" y="306451"/>
                  </a:lnTo>
                  <a:lnTo>
                    <a:pt x="968756" y="304038"/>
                  </a:lnTo>
                  <a:lnTo>
                    <a:pt x="970026" y="297180"/>
                  </a:lnTo>
                  <a:close/>
                </a:path>
                <a:path w="3424554" h="5610225">
                  <a:moveTo>
                    <a:pt x="1006602" y="4089146"/>
                  </a:moveTo>
                  <a:lnTo>
                    <a:pt x="955802" y="4086987"/>
                  </a:lnTo>
                  <a:lnTo>
                    <a:pt x="955294" y="4099560"/>
                  </a:lnTo>
                  <a:lnTo>
                    <a:pt x="1005967" y="4101846"/>
                  </a:lnTo>
                  <a:lnTo>
                    <a:pt x="1006602" y="4089146"/>
                  </a:lnTo>
                  <a:close/>
                </a:path>
                <a:path w="3424554" h="5610225">
                  <a:moveTo>
                    <a:pt x="1032510" y="5455310"/>
                  </a:moveTo>
                  <a:lnTo>
                    <a:pt x="1029716" y="5442928"/>
                  </a:lnTo>
                  <a:lnTo>
                    <a:pt x="1011301" y="5447157"/>
                  </a:lnTo>
                  <a:lnTo>
                    <a:pt x="1011174" y="5447157"/>
                  </a:lnTo>
                  <a:lnTo>
                    <a:pt x="980186" y="5453837"/>
                  </a:lnTo>
                  <a:lnTo>
                    <a:pt x="982853" y="5466258"/>
                  </a:lnTo>
                  <a:lnTo>
                    <a:pt x="1014095" y="5459539"/>
                  </a:lnTo>
                  <a:lnTo>
                    <a:pt x="1032510" y="5455310"/>
                  </a:lnTo>
                  <a:close/>
                </a:path>
                <a:path w="3424554" h="5610225">
                  <a:moveTo>
                    <a:pt x="1051052" y="226187"/>
                  </a:moveTo>
                  <a:lnTo>
                    <a:pt x="1046607" y="214249"/>
                  </a:lnTo>
                  <a:lnTo>
                    <a:pt x="998982" y="231775"/>
                  </a:lnTo>
                  <a:lnTo>
                    <a:pt x="1003300" y="243713"/>
                  </a:lnTo>
                  <a:lnTo>
                    <a:pt x="1051052" y="226187"/>
                  </a:lnTo>
                  <a:close/>
                </a:path>
                <a:path w="3424554" h="5610225">
                  <a:moveTo>
                    <a:pt x="1095375" y="4093083"/>
                  </a:moveTo>
                  <a:lnTo>
                    <a:pt x="1044575" y="4090797"/>
                  </a:lnTo>
                  <a:lnTo>
                    <a:pt x="1044067" y="4103497"/>
                  </a:lnTo>
                  <a:lnTo>
                    <a:pt x="1094867" y="4105783"/>
                  </a:lnTo>
                  <a:lnTo>
                    <a:pt x="1095375" y="4093083"/>
                  </a:lnTo>
                  <a:close/>
                </a:path>
                <a:path w="3424554" h="5610225">
                  <a:moveTo>
                    <a:pt x="1119124" y="5435447"/>
                  </a:moveTo>
                  <a:lnTo>
                    <a:pt x="1116330" y="5423065"/>
                  </a:lnTo>
                  <a:lnTo>
                    <a:pt x="1066800" y="5434419"/>
                  </a:lnTo>
                  <a:lnTo>
                    <a:pt x="1069721" y="5446801"/>
                  </a:lnTo>
                  <a:lnTo>
                    <a:pt x="1119124" y="5435447"/>
                  </a:lnTo>
                  <a:close/>
                </a:path>
                <a:path w="3424554" h="5610225">
                  <a:moveTo>
                    <a:pt x="1134491" y="195707"/>
                  </a:moveTo>
                  <a:lnTo>
                    <a:pt x="1130300" y="183769"/>
                  </a:lnTo>
                  <a:lnTo>
                    <a:pt x="1123569" y="186055"/>
                  </a:lnTo>
                  <a:lnTo>
                    <a:pt x="1082421" y="201168"/>
                  </a:lnTo>
                  <a:lnTo>
                    <a:pt x="1086866" y="213106"/>
                  </a:lnTo>
                  <a:lnTo>
                    <a:pt x="1127887" y="197993"/>
                  </a:lnTo>
                  <a:lnTo>
                    <a:pt x="1134491" y="195707"/>
                  </a:lnTo>
                  <a:close/>
                </a:path>
                <a:path w="3424554" h="5610225">
                  <a:moveTo>
                    <a:pt x="1184148" y="4096766"/>
                  </a:moveTo>
                  <a:lnTo>
                    <a:pt x="1133348" y="4094734"/>
                  </a:lnTo>
                  <a:lnTo>
                    <a:pt x="1132967" y="4107434"/>
                  </a:lnTo>
                  <a:lnTo>
                    <a:pt x="1183640" y="4109466"/>
                  </a:lnTo>
                  <a:lnTo>
                    <a:pt x="1184148" y="4096766"/>
                  </a:lnTo>
                  <a:close/>
                </a:path>
                <a:path w="3424554" h="5610225">
                  <a:moveTo>
                    <a:pt x="1205865" y="5415585"/>
                  </a:moveTo>
                  <a:lnTo>
                    <a:pt x="1202944" y="5403202"/>
                  </a:lnTo>
                  <a:lnTo>
                    <a:pt x="1153541" y="5414556"/>
                  </a:lnTo>
                  <a:lnTo>
                    <a:pt x="1156322" y="5426938"/>
                  </a:lnTo>
                  <a:lnTo>
                    <a:pt x="1205865" y="5415585"/>
                  </a:lnTo>
                  <a:close/>
                </a:path>
                <a:path w="3424554" h="5610225">
                  <a:moveTo>
                    <a:pt x="1218425" y="166370"/>
                  </a:moveTo>
                  <a:lnTo>
                    <a:pt x="1214247" y="154432"/>
                  </a:lnTo>
                  <a:lnTo>
                    <a:pt x="1166241" y="171196"/>
                  </a:lnTo>
                  <a:lnTo>
                    <a:pt x="1170432" y="183134"/>
                  </a:lnTo>
                  <a:lnTo>
                    <a:pt x="1218425" y="166370"/>
                  </a:lnTo>
                  <a:close/>
                </a:path>
                <a:path w="3424554" h="5610225">
                  <a:moveTo>
                    <a:pt x="1273048" y="4100195"/>
                  </a:moveTo>
                  <a:lnTo>
                    <a:pt x="1222248" y="4098163"/>
                  </a:lnTo>
                  <a:lnTo>
                    <a:pt x="1221740" y="4110863"/>
                  </a:lnTo>
                  <a:lnTo>
                    <a:pt x="1272540" y="4112895"/>
                  </a:lnTo>
                  <a:lnTo>
                    <a:pt x="1273048" y="4100195"/>
                  </a:lnTo>
                  <a:close/>
                </a:path>
                <a:path w="3424554" h="5610225">
                  <a:moveTo>
                    <a:pt x="1292479" y="5395099"/>
                  </a:moveTo>
                  <a:lnTo>
                    <a:pt x="1289431" y="5382768"/>
                  </a:lnTo>
                  <a:lnTo>
                    <a:pt x="1247648" y="5392979"/>
                  </a:lnTo>
                  <a:lnTo>
                    <a:pt x="1240155" y="5394693"/>
                  </a:lnTo>
                  <a:lnTo>
                    <a:pt x="1242949" y="5407063"/>
                  </a:lnTo>
                  <a:lnTo>
                    <a:pt x="1250569" y="5405323"/>
                  </a:lnTo>
                  <a:lnTo>
                    <a:pt x="1292479" y="5395099"/>
                  </a:lnTo>
                  <a:close/>
                </a:path>
                <a:path w="3424554" h="5610225">
                  <a:moveTo>
                    <a:pt x="1302512" y="138303"/>
                  </a:moveTo>
                  <a:lnTo>
                    <a:pt x="1298702" y="126238"/>
                  </a:lnTo>
                  <a:lnTo>
                    <a:pt x="1253350" y="140716"/>
                  </a:lnTo>
                  <a:lnTo>
                    <a:pt x="1250175" y="141859"/>
                  </a:lnTo>
                  <a:lnTo>
                    <a:pt x="1254379" y="153924"/>
                  </a:lnTo>
                  <a:lnTo>
                    <a:pt x="1257427" y="152781"/>
                  </a:lnTo>
                  <a:lnTo>
                    <a:pt x="1257300" y="152781"/>
                  </a:lnTo>
                  <a:lnTo>
                    <a:pt x="1302512" y="138303"/>
                  </a:lnTo>
                  <a:close/>
                </a:path>
                <a:path w="3424554" h="5610225">
                  <a:moveTo>
                    <a:pt x="1361821" y="4103243"/>
                  </a:moveTo>
                  <a:lnTo>
                    <a:pt x="1311021" y="4101592"/>
                  </a:lnTo>
                  <a:lnTo>
                    <a:pt x="1310640" y="4114292"/>
                  </a:lnTo>
                  <a:lnTo>
                    <a:pt x="1361440" y="4115943"/>
                  </a:lnTo>
                  <a:lnTo>
                    <a:pt x="1361821" y="4103243"/>
                  </a:lnTo>
                  <a:close/>
                </a:path>
                <a:path w="3424554" h="5610225">
                  <a:moveTo>
                    <a:pt x="1376438" y="5364594"/>
                  </a:moveTo>
                  <a:lnTo>
                    <a:pt x="1375664" y="5361546"/>
                  </a:lnTo>
                  <a:lnTo>
                    <a:pt x="1363726" y="5364607"/>
                  </a:lnTo>
                  <a:lnTo>
                    <a:pt x="1363853" y="5364594"/>
                  </a:lnTo>
                  <a:lnTo>
                    <a:pt x="1376438" y="5364594"/>
                  </a:lnTo>
                  <a:close/>
                </a:path>
                <a:path w="3424554" h="5610225">
                  <a:moveTo>
                    <a:pt x="1378839" y="5373852"/>
                  </a:moveTo>
                  <a:lnTo>
                    <a:pt x="1376438" y="5364594"/>
                  </a:lnTo>
                  <a:lnTo>
                    <a:pt x="1363789" y="5364607"/>
                  </a:lnTo>
                  <a:lnTo>
                    <a:pt x="1326388" y="5373725"/>
                  </a:lnTo>
                  <a:lnTo>
                    <a:pt x="1329436" y="5386057"/>
                  </a:lnTo>
                  <a:lnTo>
                    <a:pt x="1366901" y="5376926"/>
                  </a:lnTo>
                  <a:lnTo>
                    <a:pt x="1378839" y="5373852"/>
                  </a:lnTo>
                  <a:close/>
                </a:path>
                <a:path w="3424554" h="5610225">
                  <a:moveTo>
                    <a:pt x="1386967" y="111125"/>
                  </a:moveTo>
                  <a:lnTo>
                    <a:pt x="1383411" y="98945"/>
                  </a:lnTo>
                  <a:lnTo>
                    <a:pt x="1381887" y="99441"/>
                  </a:lnTo>
                  <a:lnTo>
                    <a:pt x="1334897" y="114554"/>
                  </a:lnTo>
                  <a:lnTo>
                    <a:pt x="1338834" y="126619"/>
                  </a:lnTo>
                  <a:lnTo>
                    <a:pt x="1385697" y="111633"/>
                  </a:lnTo>
                  <a:lnTo>
                    <a:pt x="1385443" y="111633"/>
                  </a:lnTo>
                  <a:lnTo>
                    <a:pt x="1386967" y="111125"/>
                  </a:lnTo>
                  <a:close/>
                </a:path>
                <a:path w="3424554" h="5610225">
                  <a:moveTo>
                    <a:pt x="1450594" y="4106037"/>
                  </a:moveTo>
                  <a:lnTo>
                    <a:pt x="1399921" y="4104386"/>
                  </a:lnTo>
                  <a:lnTo>
                    <a:pt x="1399413" y="4117086"/>
                  </a:lnTo>
                  <a:lnTo>
                    <a:pt x="1450213" y="4118737"/>
                  </a:lnTo>
                  <a:lnTo>
                    <a:pt x="1450594" y="4106037"/>
                  </a:lnTo>
                  <a:close/>
                </a:path>
                <a:path w="3424554" h="5610225">
                  <a:moveTo>
                    <a:pt x="1459357" y="3242183"/>
                  </a:moveTo>
                  <a:lnTo>
                    <a:pt x="1409192" y="3233801"/>
                  </a:lnTo>
                  <a:lnTo>
                    <a:pt x="1407160" y="3246247"/>
                  </a:lnTo>
                  <a:lnTo>
                    <a:pt x="1457198" y="3254756"/>
                  </a:lnTo>
                  <a:lnTo>
                    <a:pt x="1459357" y="3242183"/>
                  </a:lnTo>
                  <a:close/>
                </a:path>
                <a:path w="3424554" h="5610225">
                  <a:moveTo>
                    <a:pt x="1464945" y="5351767"/>
                  </a:moveTo>
                  <a:lnTo>
                    <a:pt x="1461770" y="5339473"/>
                  </a:lnTo>
                  <a:lnTo>
                    <a:pt x="1412621" y="5352085"/>
                  </a:lnTo>
                  <a:lnTo>
                    <a:pt x="1415796" y="5364391"/>
                  </a:lnTo>
                  <a:lnTo>
                    <a:pt x="1464945" y="5351767"/>
                  </a:lnTo>
                  <a:close/>
                </a:path>
                <a:path w="3424554" h="5610225">
                  <a:moveTo>
                    <a:pt x="1472311" y="86614"/>
                  </a:moveTo>
                  <a:lnTo>
                    <a:pt x="1469009" y="74422"/>
                  </a:lnTo>
                  <a:lnTo>
                    <a:pt x="1445514" y="80772"/>
                  </a:lnTo>
                  <a:lnTo>
                    <a:pt x="1419987" y="88265"/>
                  </a:lnTo>
                  <a:lnTo>
                    <a:pt x="1423543" y="100469"/>
                  </a:lnTo>
                  <a:lnTo>
                    <a:pt x="1449070" y="92964"/>
                  </a:lnTo>
                  <a:lnTo>
                    <a:pt x="1448943" y="92964"/>
                  </a:lnTo>
                  <a:lnTo>
                    <a:pt x="1472311" y="86614"/>
                  </a:lnTo>
                  <a:close/>
                </a:path>
                <a:path w="3424554" h="5610225">
                  <a:moveTo>
                    <a:pt x="1539494" y="4108450"/>
                  </a:moveTo>
                  <a:lnTo>
                    <a:pt x="1488694" y="4107180"/>
                  </a:lnTo>
                  <a:lnTo>
                    <a:pt x="1488313" y="4119880"/>
                  </a:lnTo>
                  <a:lnTo>
                    <a:pt x="1539113" y="4121150"/>
                  </a:lnTo>
                  <a:lnTo>
                    <a:pt x="1539494" y="4108450"/>
                  </a:lnTo>
                  <a:close/>
                </a:path>
                <a:path w="3424554" h="5610225">
                  <a:moveTo>
                    <a:pt x="1546987" y="3257042"/>
                  </a:moveTo>
                  <a:lnTo>
                    <a:pt x="1496949" y="3248533"/>
                  </a:lnTo>
                  <a:lnTo>
                    <a:pt x="1494790" y="3260979"/>
                  </a:lnTo>
                  <a:lnTo>
                    <a:pt x="1544828" y="3269615"/>
                  </a:lnTo>
                  <a:lnTo>
                    <a:pt x="1546987" y="3257042"/>
                  </a:lnTo>
                  <a:close/>
                </a:path>
                <a:path w="3424554" h="5610225">
                  <a:moveTo>
                    <a:pt x="1550924" y="5328793"/>
                  </a:moveTo>
                  <a:lnTo>
                    <a:pt x="1547622" y="5316601"/>
                  </a:lnTo>
                  <a:lnTo>
                    <a:pt x="1498600" y="5329809"/>
                  </a:lnTo>
                  <a:lnTo>
                    <a:pt x="1501902" y="5342039"/>
                  </a:lnTo>
                  <a:lnTo>
                    <a:pt x="1550924" y="5328793"/>
                  </a:lnTo>
                  <a:close/>
                </a:path>
                <a:path w="3424554" h="5610225">
                  <a:moveTo>
                    <a:pt x="1558290" y="64389"/>
                  </a:moveTo>
                  <a:lnTo>
                    <a:pt x="1555242" y="52070"/>
                  </a:lnTo>
                  <a:lnTo>
                    <a:pt x="1508633" y="63627"/>
                  </a:lnTo>
                  <a:lnTo>
                    <a:pt x="1505712" y="64389"/>
                  </a:lnTo>
                  <a:lnTo>
                    <a:pt x="1509141" y="76593"/>
                  </a:lnTo>
                  <a:lnTo>
                    <a:pt x="1511935" y="75819"/>
                  </a:lnTo>
                  <a:lnTo>
                    <a:pt x="1511808" y="75946"/>
                  </a:lnTo>
                  <a:lnTo>
                    <a:pt x="1512316" y="75819"/>
                  </a:lnTo>
                  <a:lnTo>
                    <a:pt x="1558290" y="64389"/>
                  </a:lnTo>
                  <a:close/>
                </a:path>
                <a:path w="3424554" h="5610225">
                  <a:moveTo>
                    <a:pt x="1571752" y="3531108"/>
                  </a:moveTo>
                  <a:lnTo>
                    <a:pt x="1571498" y="3518408"/>
                  </a:lnTo>
                  <a:lnTo>
                    <a:pt x="1520698" y="3519678"/>
                  </a:lnTo>
                  <a:lnTo>
                    <a:pt x="1520952" y="3532251"/>
                  </a:lnTo>
                  <a:lnTo>
                    <a:pt x="1571752" y="3531108"/>
                  </a:lnTo>
                  <a:close/>
                </a:path>
                <a:path w="3424554" h="5610225">
                  <a:moveTo>
                    <a:pt x="1628267" y="4110482"/>
                  </a:moveTo>
                  <a:lnTo>
                    <a:pt x="1577594" y="4109339"/>
                  </a:lnTo>
                  <a:lnTo>
                    <a:pt x="1577213" y="4122039"/>
                  </a:lnTo>
                  <a:lnTo>
                    <a:pt x="1628013" y="4123182"/>
                  </a:lnTo>
                  <a:lnTo>
                    <a:pt x="1628267" y="4110482"/>
                  </a:lnTo>
                  <a:close/>
                </a:path>
                <a:path w="3424554" h="5610225">
                  <a:moveTo>
                    <a:pt x="1634617" y="3272028"/>
                  </a:moveTo>
                  <a:lnTo>
                    <a:pt x="1584579" y="3263519"/>
                  </a:lnTo>
                  <a:lnTo>
                    <a:pt x="1582420" y="3275965"/>
                  </a:lnTo>
                  <a:lnTo>
                    <a:pt x="1632458" y="3284486"/>
                  </a:lnTo>
                  <a:lnTo>
                    <a:pt x="1634617" y="3272028"/>
                  </a:lnTo>
                  <a:close/>
                </a:path>
                <a:path w="3424554" h="5610225">
                  <a:moveTo>
                    <a:pt x="1636649" y="5305044"/>
                  </a:moveTo>
                  <a:lnTo>
                    <a:pt x="1636572" y="5304790"/>
                  </a:lnTo>
                  <a:lnTo>
                    <a:pt x="1633220" y="5292852"/>
                  </a:lnTo>
                  <a:lnTo>
                    <a:pt x="1591564" y="5304790"/>
                  </a:lnTo>
                  <a:lnTo>
                    <a:pt x="1591564" y="5304663"/>
                  </a:lnTo>
                  <a:lnTo>
                    <a:pt x="1584452" y="5306695"/>
                  </a:lnTo>
                  <a:lnTo>
                    <a:pt x="1587754" y="5318887"/>
                  </a:lnTo>
                  <a:lnTo>
                    <a:pt x="1594993" y="5316982"/>
                  </a:lnTo>
                  <a:lnTo>
                    <a:pt x="1636649" y="5305044"/>
                  </a:lnTo>
                  <a:close/>
                </a:path>
                <a:path w="3424554" h="5610225">
                  <a:moveTo>
                    <a:pt x="1644650" y="45212"/>
                  </a:moveTo>
                  <a:lnTo>
                    <a:pt x="1642364" y="32639"/>
                  </a:lnTo>
                  <a:lnTo>
                    <a:pt x="1633474" y="34417"/>
                  </a:lnTo>
                  <a:lnTo>
                    <a:pt x="1592453" y="43446"/>
                  </a:lnTo>
                  <a:lnTo>
                    <a:pt x="1595247" y="55892"/>
                  </a:lnTo>
                  <a:lnTo>
                    <a:pt x="1636141" y="46736"/>
                  </a:lnTo>
                  <a:lnTo>
                    <a:pt x="1635887" y="46863"/>
                  </a:lnTo>
                  <a:lnTo>
                    <a:pt x="1636560" y="46736"/>
                  </a:lnTo>
                  <a:lnTo>
                    <a:pt x="1644650" y="45212"/>
                  </a:lnTo>
                  <a:close/>
                </a:path>
                <a:path w="3424554" h="5610225">
                  <a:moveTo>
                    <a:pt x="1660652" y="3528949"/>
                  </a:moveTo>
                  <a:lnTo>
                    <a:pt x="1660398" y="3516249"/>
                  </a:lnTo>
                  <a:lnTo>
                    <a:pt x="1609598" y="3517519"/>
                  </a:lnTo>
                  <a:lnTo>
                    <a:pt x="1609852" y="3530092"/>
                  </a:lnTo>
                  <a:lnTo>
                    <a:pt x="1660652" y="3528949"/>
                  </a:lnTo>
                  <a:close/>
                </a:path>
                <a:path w="3424554" h="5610225">
                  <a:moveTo>
                    <a:pt x="1717167" y="4112006"/>
                  </a:moveTo>
                  <a:lnTo>
                    <a:pt x="1666367" y="4111117"/>
                  </a:lnTo>
                  <a:lnTo>
                    <a:pt x="1666240" y="4123817"/>
                  </a:lnTo>
                  <a:lnTo>
                    <a:pt x="1716913" y="4124706"/>
                  </a:lnTo>
                  <a:lnTo>
                    <a:pt x="1717167" y="4112006"/>
                  </a:lnTo>
                  <a:close/>
                </a:path>
                <a:path w="3424554" h="5610225">
                  <a:moveTo>
                    <a:pt x="1722247" y="5280406"/>
                  </a:moveTo>
                  <a:lnTo>
                    <a:pt x="1718564" y="5268214"/>
                  </a:lnTo>
                  <a:lnTo>
                    <a:pt x="1702689" y="5273040"/>
                  </a:lnTo>
                  <a:lnTo>
                    <a:pt x="1702816" y="5273040"/>
                  </a:lnTo>
                  <a:lnTo>
                    <a:pt x="1669796" y="5282438"/>
                  </a:lnTo>
                  <a:lnTo>
                    <a:pt x="1673352" y="5294630"/>
                  </a:lnTo>
                  <a:lnTo>
                    <a:pt x="1706245" y="5285232"/>
                  </a:lnTo>
                  <a:lnTo>
                    <a:pt x="1722247" y="5280406"/>
                  </a:lnTo>
                  <a:close/>
                </a:path>
                <a:path w="3424554" h="5610225">
                  <a:moveTo>
                    <a:pt x="1722247" y="3287268"/>
                  </a:moveTo>
                  <a:lnTo>
                    <a:pt x="1672209" y="3278505"/>
                  </a:lnTo>
                  <a:lnTo>
                    <a:pt x="1670050" y="3291078"/>
                  </a:lnTo>
                  <a:lnTo>
                    <a:pt x="1719961" y="3299841"/>
                  </a:lnTo>
                  <a:lnTo>
                    <a:pt x="1722247" y="3287268"/>
                  </a:lnTo>
                  <a:close/>
                </a:path>
                <a:path w="3424554" h="5610225">
                  <a:moveTo>
                    <a:pt x="1732026" y="29845"/>
                  </a:moveTo>
                  <a:lnTo>
                    <a:pt x="1730121" y="17272"/>
                  </a:lnTo>
                  <a:lnTo>
                    <a:pt x="1694942" y="22745"/>
                  </a:lnTo>
                  <a:lnTo>
                    <a:pt x="1679829" y="25654"/>
                  </a:lnTo>
                  <a:lnTo>
                    <a:pt x="1682115" y="38100"/>
                  </a:lnTo>
                  <a:lnTo>
                    <a:pt x="1697228" y="35318"/>
                  </a:lnTo>
                  <a:lnTo>
                    <a:pt x="1696974" y="35318"/>
                  </a:lnTo>
                  <a:lnTo>
                    <a:pt x="1732026" y="29845"/>
                  </a:lnTo>
                  <a:close/>
                </a:path>
                <a:path w="3424554" h="5610225">
                  <a:moveTo>
                    <a:pt x="1749552" y="3526917"/>
                  </a:moveTo>
                  <a:lnTo>
                    <a:pt x="1749298" y="3514217"/>
                  </a:lnTo>
                  <a:lnTo>
                    <a:pt x="1698498" y="3515360"/>
                  </a:lnTo>
                  <a:lnTo>
                    <a:pt x="1698752" y="3528060"/>
                  </a:lnTo>
                  <a:lnTo>
                    <a:pt x="1749552" y="3526917"/>
                  </a:lnTo>
                  <a:close/>
                </a:path>
                <a:path w="3424554" h="5610225">
                  <a:moveTo>
                    <a:pt x="1805940" y="4112768"/>
                  </a:moveTo>
                  <a:lnTo>
                    <a:pt x="1796034" y="4112768"/>
                  </a:lnTo>
                  <a:lnTo>
                    <a:pt x="1755267" y="4112387"/>
                  </a:lnTo>
                  <a:lnTo>
                    <a:pt x="1755140" y="4125087"/>
                  </a:lnTo>
                  <a:lnTo>
                    <a:pt x="1795907" y="4125468"/>
                  </a:lnTo>
                  <a:lnTo>
                    <a:pt x="1805940" y="4125468"/>
                  </a:lnTo>
                  <a:lnTo>
                    <a:pt x="1805940" y="4112768"/>
                  </a:lnTo>
                  <a:close/>
                </a:path>
                <a:path w="3424554" h="5610225">
                  <a:moveTo>
                    <a:pt x="1807337" y="5254752"/>
                  </a:moveTo>
                  <a:lnTo>
                    <a:pt x="1803654" y="5242560"/>
                  </a:lnTo>
                  <a:lnTo>
                    <a:pt x="1755013" y="5257292"/>
                  </a:lnTo>
                  <a:lnTo>
                    <a:pt x="1758696" y="5269357"/>
                  </a:lnTo>
                  <a:lnTo>
                    <a:pt x="1807337" y="5254752"/>
                  </a:lnTo>
                  <a:close/>
                </a:path>
                <a:path w="3424554" h="5610225">
                  <a:moveTo>
                    <a:pt x="1809750" y="3303016"/>
                  </a:moveTo>
                  <a:lnTo>
                    <a:pt x="1759712" y="3294011"/>
                  </a:lnTo>
                  <a:lnTo>
                    <a:pt x="1757553" y="3306445"/>
                  </a:lnTo>
                  <a:lnTo>
                    <a:pt x="1807464" y="3315474"/>
                  </a:lnTo>
                  <a:lnTo>
                    <a:pt x="1809750" y="3303016"/>
                  </a:lnTo>
                  <a:close/>
                </a:path>
                <a:path w="3424554" h="5610225">
                  <a:moveTo>
                    <a:pt x="1819656" y="18669"/>
                  </a:moveTo>
                  <a:lnTo>
                    <a:pt x="1818767" y="5969"/>
                  </a:lnTo>
                  <a:lnTo>
                    <a:pt x="1815846" y="6223"/>
                  </a:lnTo>
                  <a:lnTo>
                    <a:pt x="1767967" y="11938"/>
                  </a:lnTo>
                  <a:lnTo>
                    <a:pt x="1769491" y="24511"/>
                  </a:lnTo>
                  <a:lnTo>
                    <a:pt x="1817116" y="18923"/>
                  </a:lnTo>
                  <a:lnTo>
                    <a:pt x="1816862" y="18923"/>
                  </a:lnTo>
                  <a:lnTo>
                    <a:pt x="1819656" y="18669"/>
                  </a:lnTo>
                  <a:close/>
                </a:path>
                <a:path w="3424554" h="5610225">
                  <a:moveTo>
                    <a:pt x="1838452" y="3525012"/>
                  </a:moveTo>
                  <a:lnTo>
                    <a:pt x="1838198" y="3512312"/>
                  </a:lnTo>
                  <a:lnTo>
                    <a:pt x="1787398" y="3513328"/>
                  </a:lnTo>
                  <a:lnTo>
                    <a:pt x="1787652" y="3526028"/>
                  </a:lnTo>
                  <a:lnTo>
                    <a:pt x="1838452" y="3525012"/>
                  </a:lnTo>
                  <a:close/>
                </a:path>
                <a:path w="3424554" h="5610225">
                  <a:moveTo>
                    <a:pt x="1892046" y="5227447"/>
                  </a:moveTo>
                  <a:lnTo>
                    <a:pt x="1888109" y="5215382"/>
                  </a:lnTo>
                  <a:lnTo>
                    <a:pt x="1839849" y="5231003"/>
                  </a:lnTo>
                  <a:lnTo>
                    <a:pt x="1843659" y="5243068"/>
                  </a:lnTo>
                  <a:lnTo>
                    <a:pt x="1892046" y="5227447"/>
                  </a:lnTo>
                  <a:close/>
                </a:path>
                <a:path w="3424554" h="5610225">
                  <a:moveTo>
                    <a:pt x="1894840" y="4113022"/>
                  </a:moveTo>
                  <a:lnTo>
                    <a:pt x="1872361" y="4113022"/>
                  </a:lnTo>
                  <a:lnTo>
                    <a:pt x="1844040" y="4112895"/>
                  </a:lnTo>
                  <a:lnTo>
                    <a:pt x="1844040" y="4125595"/>
                  </a:lnTo>
                  <a:lnTo>
                    <a:pt x="1872361" y="4125722"/>
                  </a:lnTo>
                  <a:lnTo>
                    <a:pt x="1894840" y="4125722"/>
                  </a:lnTo>
                  <a:lnTo>
                    <a:pt x="1894840" y="4113022"/>
                  </a:lnTo>
                  <a:close/>
                </a:path>
                <a:path w="3424554" h="5610225">
                  <a:moveTo>
                    <a:pt x="1897253" y="3319272"/>
                  </a:moveTo>
                  <a:lnTo>
                    <a:pt x="1847215" y="3309886"/>
                  </a:lnTo>
                  <a:lnTo>
                    <a:pt x="1844929" y="3322320"/>
                  </a:lnTo>
                  <a:lnTo>
                    <a:pt x="1862455" y="3325622"/>
                  </a:lnTo>
                  <a:lnTo>
                    <a:pt x="1862328" y="3325622"/>
                  </a:lnTo>
                  <a:lnTo>
                    <a:pt x="1894840" y="3331718"/>
                  </a:lnTo>
                  <a:lnTo>
                    <a:pt x="1897253" y="3319272"/>
                  </a:lnTo>
                  <a:close/>
                </a:path>
                <a:path w="3424554" h="5610225">
                  <a:moveTo>
                    <a:pt x="1908175" y="13347"/>
                  </a:moveTo>
                  <a:lnTo>
                    <a:pt x="1907794" y="647"/>
                  </a:lnTo>
                  <a:lnTo>
                    <a:pt x="1875155" y="1651"/>
                  </a:lnTo>
                  <a:lnTo>
                    <a:pt x="1856740" y="3048"/>
                  </a:lnTo>
                  <a:lnTo>
                    <a:pt x="1857756" y="15748"/>
                  </a:lnTo>
                  <a:lnTo>
                    <a:pt x="1875917" y="14351"/>
                  </a:lnTo>
                  <a:lnTo>
                    <a:pt x="1908175" y="13347"/>
                  </a:lnTo>
                  <a:close/>
                </a:path>
                <a:path w="3424554" h="5610225">
                  <a:moveTo>
                    <a:pt x="1927225" y="3523234"/>
                  </a:moveTo>
                  <a:lnTo>
                    <a:pt x="1927098" y="3510534"/>
                  </a:lnTo>
                  <a:lnTo>
                    <a:pt x="1876171" y="3511550"/>
                  </a:lnTo>
                  <a:lnTo>
                    <a:pt x="1876552" y="3524250"/>
                  </a:lnTo>
                  <a:lnTo>
                    <a:pt x="1927225" y="3523234"/>
                  </a:lnTo>
                  <a:close/>
                </a:path>
                <a:path w="3424554" h="5610225">
                  <a:moveTo>
                    <a:pt x="1976374" y="5199126"/>
                  </a:moveTo>
                  <a:lnTo>
                    <a:pt x="1972310" y="5187188"/>
                  </a:lnTo>
                  <a:lnTo>
                    <a:pt x="1924304" y="5203698"/>
                  </a:lnTo>
                  <a:lnTo>
                    <a:pt x="1928368" y="5215636"/>
                  </a:lnTo>
                  <a:lnTo>
                    <a:pt x="1976374" y="5199126"/>
                  </a:lnTo>
                  <a:close/>
                </a:path>
                <a:path w="3424554" h="5610225">
                  <a:moveTo>
                    <a:pt x="1983867" y="4125214"/>
                  </a:moveTo>
                  <a:lnTo>
                    <a:pt x="1983740" y="4112514"/>
                  </a:lnTo>
                  <a:lnTo>
                    <a:pt x="1932940" y="4112895"/>
                  </a:lnTo>
                  <a:lnTo>
                    <a:pt x="1932940" y="4125595"/>
                  </a:lnTo>
                  <a:lnTo>
                    <a:pt x="1983867" y="4125214"/>
                  </a:lnTo>
                  <a:close/>
                </a:path>
                <a:path w="3424554" h="5610225">
                  <a:moveTo>
                    <a:pt x="1984502" y="3336417"/>
                  </a:moveTo>
                  <a:lnTo>
                    <a:pt x="1934845" y="3326523"/>
                  </a:lnTo>
                  <a:lnTo>
                    <a:pt x="1934591" y="3326384"/>
                  </a:lnTo>
                  <a:lnTo>
                    <a:pt x="1932305" y="3338957"/>
                  </a:lnTo>
                  <a:lnTo>
                    <a:pt x="1981962" y="3348875"/>
                  </a:lnTo>
                  <a:lnTo>
                    <a:pt x="1984502" y="3336417"/>
                  </a:lnTo>
                  <a:close/>
                </a:path>
                <a:path w="3424554" h="5610225">
                  <a:moveTo>
                    <a:pt x="1997329" y="1270"/>
                  </a:moveTo>
                  <a:lnTo>
                    <a:pt x="1991106" y="762"/>
                  </a:lnTo>
                  <a:lnTo>
                    <a:pt x="1946148" y="0"/>
                  </a:lnTo>
                  <a:lnTo>
                    <a:pt x="1945894" y="12700"/>
                  </a:lnTo>
                  <a:lnTo>
                    <a:pt x="1990344" y="13462"/>
                  </a:lnTo>
                  <a:lnTo>
                    <a:pt x="1996313" y="13970"/>
                  </a:lnTo>
                  <a:lnTo>
                    <a:pt x="1997329" y="1270"/>
                  </a:lnTo>
                  <a:close/>
                </a:path>
                <a:path w="3424554" h="5610225">
                  <a:moveTo>
                    <a:pt x="2016125" y="3521710"/>
                  </a:moveTo>
                  <a:lnTo>
                    <a:pt x="2015871" y="3509010"/>
                  </a:lnTo>
                  <a:lnTo>
                    <a:pt x="1969262" y="3509772"/>
                  </a:lnTo>
                  <a:lnTo>
                    <a:pt x="1965071" y="3509899"/>
                  </a:lnTo>
                  <a:lnTo>
                    <a:pt x="1965325" y="3522599"/>
                  </a:lnTo>
                  <a:lnTo>
                    <a:pt x="1969516" y="3522472"/>
                  </a:lnTo>
                  <a:lnTo>
                    <a:pt x="2016125" y="3521710"/>
                  </a:lnTo>
                  <a:close/>
                </a:path>
                <a:path w="3424554" h="5610225">
                  <a:moveTo>
                    <a:pt x="2060448" y="5169535"/>
                  </a:moveTo>
                  <a:lnTo>
                    <a:pt x="2056003" y="5157597"/>
                  </a:lnTo>
                  <a:lnTo>
                    <a:pt x="2023618" y="5169535"/>
                  </a:lnTo>
                  <a:lnTo>
                    <a:pt x="2023745" y="5169535"/>
                  </a:lnTo>
                  <a:lnTo>
                    <a:pt x="2008378" y="5174742"/>
                  </a:lnTo>
                  <a:lnTo>
                    <a:pt x="2012442" y="5186807"/>
                  </a:lnTo>
                  <a:lnTo>
                    <a:pt x="2027936" y="5181473"/>
                  </a:lnTo>
                  <a:lnTo>
                    <a:pt x="2060448" y="5169535"/>
                  </a:lnTo>
                  <a:close/>
                </a:path>
                <a:path w="3424554" h="5610225">
                  <a:moveTo>
                    <a:pt x="2071624" y="3354578"/>
                  </a:moveTo>
                  <a:lnTo>
                    <a:pt x="2021840" y="3344049"/>
                  </a:lnTo>
                  <a:lnTo>
                    <a:pt x="2019300" y="3356483"/>
                  </a:lnTo>
                  <a:lnTo>
                    <a:pt x="2063750" y="3365881"/>
                  </a:lnTo>
                  <a:lnTo>
                    <a:pt x="2063623" y="3365881"/>
                  </a:lnTo>
                  <a:lnTo>
                    <a:pt x="2068957" y="3367024"/>
                  </a:lnTo>
                  <a:lnTo>
                    <a:pt x="2071624" y="3354578"/>
                  </a:lnTo>
                  <a:close/>
                </a:path>
                <a:path w="3424554" h="5610225">
                  <a:moveTo>
                    <a:pt x="2072767" y="4123817"/>
                  </a:moveTo>
                  <a:lnTo>
                    <a:pt x="2072513" y="4111117"/>
                  </a:lnTo>
                  <a:lnTo>
                    <a:pt x="2021713" y="4112133"/>
                  </a:lnTo>
                  <a:lnTo>
                    <a:pt x="2021967" y="4124833"/>
                  </a:lnTo>
                  <a:lnTo>
                    <a:pt x="2072767" y="4123817"/>
                  </a:lnTo>
                  <a:close/>
                </a:path>
                <a:path w="3424554" h="5610225">
                  <a:moveTo>
                    <a:pt x="2086102" y="9918"/>
                  </a:moveTo>
                  <a:lnTo>
                    <a:pt x="2047748" y="4953"/>
                  </a:lnTo>
                  <a:lnTo>
                    <a:pt x="2035302" y="4064"/>
                  </a:lnTo>
                  <a:lnTo>
                    <a:pt x="2034286" y="16637"/>
                  </a:lnTo>
                  <a:lnTo>
                    <a:pt x="2046605" y="17526"/>
                  </a:lnTo>
                  <a:lnTo>
                    <a:pt x="2046224" y="17526"/>
                  </a:lnTo>
                  <a:lnTo>
                    <a:pt x="2084451" y="22479"/>
                  </a:lnTo>
                  <a:lnTo>
                    <a:pt x="2086102" y="9918"/>
                  </a:lnTo>
                  <a:close/>
                </a:path>
                <a:path w="3424554" h="5610225">
                  <a:moveTo>
                    <a:pt x="2105025" y="3520440"/>
                  </a:moveTo>
                  <a:lnTo>
                    <a:pt x="2104898" y="3507740"/>
                  </a:lnTo>
                  <a:lnTo>
                    <a:pt x="2054098" y="3508502"/>
                  </a:lnTo>
                  <a:lnTo>
                    <a:pt x="2054225" y="3521202"/>
                  </a:lnTo>
                  <a:lnTo>
                    <a:pt x="2105025" y="3520440"/>
                  </a:lnTo>
                  <a:close/>
                </a:path>
                <a:path w="3424554" h="5610225">
                  <a:moveTo>
                    <a:pt x="2143760" y="5138420"/>
                  </a:moveTo>
                  <a:lnTo>
                    <a:pt x="2139188" y="5126609"/>
                  </a:lnTo>
                  <a:lnTo>
                    <a:pt x="2125726" y="5131816"/>
                  </a:lnTo>
                  <a:lnTo>
                    <a:pt x="2125853" y="5131816"/>
                  </a:lnTo>
                  <a:lnTo>
                    <a:pt x="2091690" y="5144389"/>
                  </a:lnTo>
                  <a:lnTo>
                    <a:pt x="2096135" y="5156327"/>
                  </a:lnTo>
                  <a:lnTo>
                    <a:pt x="2130298" y="5143754"/>
                  </a:lnTo>
                  <a:lnTo>
                    <a:pt x="2143760" y="5138420"/>
                  </a:lnTo>
                  <a:close/>
                </a:path>
                <a:path w="3424554" h="5610225">
                  <a:moveTo>
                    <a:pt x="2158492" y="3374517"/>
                  </a:moveTo>
                  <a:lnTo>
                    <a:pt x="2156079" y="3374009"/>
                  </a:lnTo>
                  <a:lnTo>
                    <a:pt x="2108835" y="3362960"/>
                  </a:lnTo>
                  <a:lnTo>
                    <a:pt x="2106041" y="3375406"/>
                  </a:lnTo>
                  <a:lnTo>
                    <a:pt x="2124329" y="3379470"/>
                  </a:lnTo>
                  <a:lnTo>
                    <a:pt x="2124202" y="3379470"/>
                  </a:lnTo>
                  <a:lnTo>
                    <a:pt x="2153158" y="3386328"/>
                  </a:lnTo>
                  <a:lnTo>
                    <a:pt x="2155444" y="3386836"/>
                  </a:lnTo>
                  <a:lnTo>
                    <a:pt x="2158492" y="3374517"/>
                  </a:lnTo>
                  <a:close/>
                </a:path>
                <a:path w="3424554" h="5610225">
                  <a:moveTo>
                    <a:pt x="2161794" y="4121404"/>
                  </a:moveTo>
                  <a:lnTo>
                    <a:pt x="2161286" y="4108704"/>
                  </a:lnTo>
                  <a:lnTo>
                    <a:pt x="2156968" y="4108958"/>
                  </a:lnTo>
                  <a:lnTo>
                    <a:pt x="2110613" y="4110228"/>
                  </a:lnTo>
                  <a:lnTo>
                    <a:pt x="2110867" y="4122928"/>
                  </a:lnTo>
                  <a:lnTo>
                    <a:pt x="2157349" y="4121658"/>
                  </a:lnTo>
                  <a:lnTo>
                    <a:pt x="2161794" y="4121404"/>
                  </a:lnTo>
                  <a:close/>
                </a:path>
                <a:path w="3424554" h="5610225">
                  <a:moveTo>
                    <a:pt x="2174113" y="27178"/>
                  </a:moveTo>
                  <a:lnTo>
                    <a:pt x="2157984" y="22872"/>
                  </a:lnTo>
                  <a:lnTo>
                    <a:pt x="2124075" y="16268"/>
                  </a:lnTo>
                  <a:lnTo>
                    <a:pt x="2121662" y="28702"/>
                  </a:lnTo>
                  <a:lnTo>
                    <a:pt x="2155317" y="35318"/>
                  </a:lnTo>
                  <a:lnTo>
                    <a:pt x="2154936" y="35179"/>
                  </a:lnTo>
                  <a:lnTo>
                    <a:pt x="2170811" y="39370"/>
                  </a:lnTo>
                  <a:lnTo>
                    <a:pt x="2171941" y="35179"/>
                  </a:lnTo>
                  <a:lnTo>
                    <a:pt x="2174113" y="27178"/>
                  </a:lnTo>
                  <a:close/>
                </a:path>
                <a:path w="3424554" h="5610225">
                  <a:moveTo>
                    <a:pt x="2193925" y="3519551"/>
                  </a:moveTo>
                  <a:lnTo>
                    <a:pt x="2193798" y="3506851"/>
                  </a:lnTo>
                  <a:lnTo>
                    <a:pt x="2142998" y="3507359"/>
                  </a:lnTo>
                  <a:lnTo>
                    <a:pt x="2143125" y="3520059"/>
                  </a:lnTo>
                  <a:lnTo>
                    <a:pt x="2193925" y="3519551"/>
                  </a:lnTo>
                  <a:close/>
                </a:path>
                <a:path w="3424554" h="5610225">
                  <a:moveTo>
                    <a:pt x="2226437" y="5105654"/>
                  </a:moveTo>
                  <a:lnTo>
                    <a:pt x="2221865" y="5093843"/>
                  </a:lnTo>
                  <a:lnTo>
                    <a:pt x="2174621" y="5112512"/>
                  </a:lnTo>
                  <a:lnTo>
                    <a:pt x="2179193" y="5124323"/>
                  </a:lnTo>
                  <a:lnTo>
                    <a:pt x="2226437" y="5105654"/>
                  </a:lnTo>
                  <a:close/>
                </a:path>
                <a:path w="3424554" h="5610225">
                  <a:moveTo>
                    <a:pt x="2244725" y="3396996"/>
                  </a:moveTo>
                  <a:lnTo>
                    <a:pt x="2236724" y="3394710"/>
                  </a:lnTo>
                  <a:lnTo>
                    <a:pt x="2210943" y="3387725"/>
                  </a:lnTo>
                  <a:lnTo>
                    <a:pt x="2195449" y="3383788"/>
                  </a:lnTo>
                  <a:lnTo>
                    <a:pt x="2192274" y="3396107"/>
                  </a:lnTo>
                  <a:lnTo>
                    <a:pt x="2207768" y="3400044"/>
                  </a:lnTo>
                  <a:lnTo>
                    <a:pt x="2207641" y="3400044"/>
                  </a:lnTo>
                  <a:lnTo>
                    <a:pt x="2233422" y="3406902"/>
                  </a:lnTo>
                  <a:lnTo>
                    <a:pt x="2233295" y="3406902"/>
                  </a:lnTo>
                  <a:lnTo>
                    <a:pt x="2241296" y="3409188"/>
                  </a:lnTo>
                  <a:lnTo>
                    <a:pt x="2244725" y="3396996"/>
                  </a:lnTo>
                  <a:close/>
                </a:path>
                <a:path w="3424554" h="5610225">
                  <a:moveTo>
                    <a:pt x="2250694" y="4117721"/>
                  </a:moveTo>
                  <a:lnTo>
                    <a:pt x="2250059" y="4105021"/>
                  </a:lnTo>
                  <a:lnTo>
                    <a:pt x="2222500" y="4106418"/>
                  </a:lnTo>
                  <a:lnTo>
                    <a:pt x="2199386" y="4107307"/>
                  </a:lnTo>
                  <a:lnTo>
                    <a:pt x="2199894" y="4120007"/>
                  </a:lnTo>
                  <a:lnTo>
                    <a:pt x="2250694" y="4117721"/>
                  </a:lnTo>
                  <a:close/>
                </a:path>
                <a:path w="3424554" h="5610225">
                  <a:moveTo>
                    <a:pt x="2259330" y="53594"/>
                  </a:moveTo>
                  <a:lnTo>
                    <a:pt x="2247074" y="49403"/>
                  </a:lnTo>
                  <a:lnTo>
                    <a:pt x="2211451" y="37211"/>
                  </a:lnTo>
                  <a:lnTo>
                    <a:pt x="2210816" y="36969"/>
                  </a:lnTo>
                  <a:lnTo>
                    <a:pt x="2207641" y="49276"/>
                  </a:lnTo>
                  <a:lnTo>
                    <a:pt x="2208022" y="49403"/>
                  </a:lnTo>
                  <a:lnTo>
                    <a:pt x="2207514" y="49276"/>
                  </a:lnTo>
                  <a:lnTo>
                    <a:pt x="2255266" y="65671"/>
                  </a:lnTo>
                  <a:lnTo>
                    <a:pt x="2259330" y="53594"/>
                  </a:lnTo>
                  <a:close/>
                </a:path>
                <a:path w="3424554" h="5610225">
                  <a:moveTo>
                    <a:pt x="2282698" y="3506597"/>
                  </a:moveTo>
                  <a:lnTo>
                    <a:pt x="2271649" y="3506597"/>
                  </a:lnTo>
                  <a:lnTo>
                    <a:pt x="2231898" y="3506724"/>
                  </a:lnTo>
                  <a:lnTo>
                    <a:pt x="2231898" y="3519424"/>
                  </a:lnTo>
                  <a:lnTo>
                    <a:pt x="2282698" y="3519297"/>
                  </a:lnTo>
                  <a:lnTo>
                    <a:pt x="2282698" y="3506597"/>
                  </a:lnTo>
                  <a:close/>
                </a:path>
                <a:path w="3424554" h="5610225">
                  <a:moveTo>
                    <a:pt x="2308479" y="5070856"/>
                  </a:moveTo>
                  <a:lnTo>
                    <a:pt x="2303399" y="5059172"/>
                  </a:lnTo>
                  <a:lnTo>
                    <a:pt x="2256790" y="5079111"/>
                  </a:lnTo>
                  <a:lnTo>
                    <a:pt x="2261743" y="5090795"/>
                  </a:lnTo>
                  <a:lnTo>
                    <a:pt x="2308479" y="5070856"/>
                  </a:lnTo>
                  <a:close/>
                </a:path>
                <a:path w="3424554" h="5610225">
                  <a:moveTo>
                    <a:pt x="2329942" y="3423539"/>
                  </a:moveTo>
                  <a:lnTo>
                    <a:pt x="2327910" y="3422777"/>
                  </a:lnTo>
                  <a:lnTo>
                    <a:pt x="2307082" y="3415665"/>
                  </a:lnTo>
                  <a:lnTo>
                    <a:pt x="2284857" y="3408680"/>
                  </a:lnTo>
                  <a:lnTo>
                    <a:pt x="2281428" y="3407664"/>
                  </a:lnTo>
                  <a:lnTo>
                    <a:pt x="2277745" y="3419729"/>
                  </a:lnTo>
                  <a:lnTo>
                    <a:pt x="2281174" y="3420745"/>
                  </a:lnTo>
                  <a:lnTo>
                    <a:pt x="2281047" y="3420745"/>
                  </a:lnTo>
                  <a:lnTo>
                    <a:pt x="2303145" y="3427857"/>
                  </a:lnTo>
                  <a:lnTo>
                    <a:pt x="2303018" y="3427730"/>
                  </a:lnTo>
                  <a:lnTo>
                    <a:pt x="2323719" y="3434842"/>
                  </a:lnTo>
                  <a:lnTo>
                    <a:pt x="2323592" y="3434715"/>
                  </a:lnTo>
                  <a:lnTo>
                    <a:pt x="2325624" y="3435477"/>
                  </a:lnTo>
                  <a:lnTo>
                    <a:pt x="2325890" y="3434715"/>
                  </a:lnTo>
                  <a:lnTo>
                    <a:pt x="2328418" y="3427730"/>
                  </a:lnTo>
                  <a:lnTo>
                    <a:pt x="2329942" y="3423539"/>
                  </a:lnTo>
                  <a:close/>
                </a:path>
                <a:path w="3424554" h="5610225">
                  <a:moveTo>
                    <a:pt x="2339467" y="4112514"/>
                  </a:moveTo>
                  <a:lnTo>
                    <a:pt x="2338705" y="4099814"/>
                  </a:lnTo>
                  <a:lnTo>
                    <a:pt x="2288032" y="4103116"/>
                  </a:lnTo>
                  <a:lnTo>
                    <a:pt x="2288794" y="4115689"/>
                  </a:lnTo>
                  <a:lnTo>
                    <a:pt x="2339467" y="4112514"/>
                  </a:lnTo>
                  <a:close/>
                </a:path>
                <a:path w="3424554" h="5610225">
                  <a:moveTo>
                    <a:pt x="2341118" y="90817"/>
                  </a:moveTo>
                  <a:lnTo>
                    <a:pt x="2336469" y="88392"/>
                  </a:lnTo>
                  <a:lnTo>
                    <a:pt x="2314702" y="77089"/>
                  </a:lnTo>
                  <a:lnTo>
                    <a:pt x="2294890" y="68592"/>
                  </a:lnTo>
                  <a:lnTo>
                    <a:pt x="2289937" y="80137"/>
                  </a:lnTo>
                  <a:lnTo>
                    <a:pt x="2309495" y="88646"/>
                  </a:lnTo>
                  <a:lnTo>
                    <a:pt x="2309114" y="88392"/>
                  </a:lnTo>
                  <a:lnTo>
                    <a:pt x="2335149" y="101981"/>
                  </a:lnTo>
                  <a:lnTo>
                    <a:pt x="2341118" y="90817"/>
                  </a:lnTo>
                  <a:close/>
                </a:path>
                <a:path w="3424554" h="5610225">
                  <a:moveTo>
                    <a:pt x="2371598" y="3506724"/>
                  </a:moveTo>
                  <a:lnTo>
                    <a:pt x="2329180" y="3506597"/>
                  </a:lnTo>
                  <a:lnTo>
                    <a:pt x="2320798" y="3506597"/>
                  </a:lnTo>
                  <a:lnTo>
                    <a:pt x="2320798" y="3519297"/>
                  </a:lnTo>
                  <a:lnTo>
                    <a:pt x="2371598" y="3519424"/>
                  </a:lnTo>
                  <a:lnTo>
                    <a:pt x="2371598" y="3506724"/>
                  </a:lnTo>
                  <a:close/>
                </a:path>
                <a:path w="3424554" h="5610225">
                  <a:moveTo>
                    <a:pt x="2389505" y="5034026"/>
                  </a:moveTo>
                  <a:lnTo>
                    <a:pt x="2384171" y="5022469"/>
                  </a:lnTo>
                  <a:lnTo>
                    <a:pt x="2338070" y="5043805"/>
                  </a:lnTo>
                  <a:lnTo>
                    <a:pt x="2343404" y="5055235"/>
                  </a:lnTo>
                  <a:lnTo>
                    <a:pt x="2389505" y="5034026"/>
                  </a:lnTo>
                  <a:close/>
                </a:path>
                <a:path w="3424554" h="5610225">
                  <a:moveTo>
                    <a:pt x="2412111" y="3639058"/>
                  </a:moveTo>
                  <a:lnTo>
                    <a:pt x="2403602" y="3629660"/>
                  </a:lnTo>
                  <a:lnTo>
                    <a:pt x="2398395" y="3634486"/>
                  </a:lnTo>
                  <a:lnTo>
                    <a:pt x="2398649" y="3634232"/>
                  </a:lnTo>
                  <a:lnTo>
                    <a:pt x="2398331" y="3634486"/>
                  </a:lnTo>
                  <a:lnTo>
                    <a:pt x="2379853" y="3649853"/>
                  </a:lnTo>
                  <a:lnTo>
                    <a:pt x="2379980" y="3649726"/>
                  </a:lnTo>
                  <a:lnTo>
                    <a:pt x="2379815" y="3649853"/>
                  </a:lnTo>
                  <a:lnTo>
                    <a:pt x="2364740" y="3661791"/>
                  </a:lnTo>
                  <a:lnTo>
                    <a:pt x="2372614" y="3671697"/>
                  </a:lnTo>
                  <a:lnTo>
                    <a:pt x="2387854" y="3659632"/>
                  </a:lnTo>
                  <a:lnTo>
                    <a:pt x="2406904" y="3643884"/>
                  </a:lnTo>
                  <a:lnTo>
                    <a:pt x="2412111" y="3639058"/>
                  </a:lnTo>
                  <a:close/>
                </a:path>
                <a:path w="3424554" h="5610225">
                  <a:moveTo>
                    <a:pt x="2412492" y="3459607"/>
                  </a:moveTo>
                  <a:lnTo>
                    <a:pt x="2411476" y="3459099"/>
                  </a:lnTo>
                  <a:lnTo>
                    <a:pt x="2397760" y="3451733"/>
                  </a:lnTo>
                  <a:lnTo>
                    <a:pt x="2382393" y="3444367"/>
                  </a:lnTo>
                  <a:lnTo>
                    <a:pt x="2365883" y="3437255"/>
                  </a:lnTo>
                  <a:lnTo>
                    <a:pt x="2360930" y="3448939"/>
                  </a:lnTo>
                  <a:lnTo>
                    <a:pt x="2377313" y="3455924"/>
                  </a:lnTo>
                  <a:lnTo>
                    <a:pt x="2377059" y="3455924"/>
                  </a:lnTo>
                  <a:lnTo>
                    <a:pt x="2392007" y="3463086"/>
                  </a:lnTo>
                  <a:lnTo>
                    <a:pt x="2392146" y="3463163"/>
                  </a:lnTo>
                  <a:lnTo>
                    <a:pt x="2405380" y="3470275"/>
                  </a:lnTo>
                  <a:lnTo>
                    <a:pt x="2405126" y="3470021"/>
                  </a:lnTo>
                  <a:lnTo>
                    <a:pt x="2405888" y="3470529"/>
                  </a:lnTo>
                  <a:lnTo>
                    <a:pt x="2406192" y="3470021"/>
                  </a:lnTo>
                  <a:lnTo>
                    <a:pt x="2410409" y="3463036"/>
                  </a:lnTo>
                  <a:lnTo>
                    <a:pt x="2412492" y="3459607"/>
                  </a:lnTo>
                  <a:close/>
                </a:path>
                <a:path w="3424554" h="5610225">
                  <a:moveTo>
                    <a:pt x="2418080" y="137033"/>
                  </a:moveTo>
                  <a:lnTo>
                    <a:pt x="2412873" y="133223"/>
                  </a:lnTo>
                  <a:lnTo>
                    <a:pt x="2374773" y="109474"/>
                  </a:lnTo>
                  <a:lnTo>
                    <a:pt x="2368042" y="120142"/>
                  </a:lnTo>
                  <a:lnTo>
                    <a:pt x="2405773" y="143751"/>
                  </a:lnTo>
                  <a:lnTo>
                    <a:pt x="2405634" y="143637"/>
                  </a:lnTo>
                  <a:lnTo>
                    <a:pt x="2406015" y="143891"/>
                  </a:lnTo>
                  <a:lnTo>
                    <a:pt x="2405773" y="143751"/>
                  </a:lnTo>
                  <a:lnTo>
                    <a:pt x="2405977" y="143891"/>
                  </a:lnTo>
                  <a:lnTo>
                    <a:pt x="2410460" y="147193"/>
                  </a:lnTo>
                  <a:lnTo>
                    <a:pt x="2413127" y="143637"/>
                  </a:lnTo>
                  <a:lnTo>
                    <a:pt x="2418080" y="137033"/>
                  </a:lnTo>
                  <a:close/>
                </a:path>
                <a:path w="3424554" h="5610225">
                  <a:moveTo>
                    <a:pt x="2426970" y="3687064"/>
                  </a:moveTo>
                  <a:lnTo>
                    <a:pt x="2426462" y="3683635"/>
                  </a:lnTo>
                  <a:lnTo>
                    <a:pt x="2426081" y="3680079"/>
                  </a:lnTo>
                  <a:lnTo>
                    <a:pt x="2423033" y="3677539"/>
                  </a:lnTo>
                  <a:lnTo>
                    <a:pt x="2419477" y="3678047"/>
                  </a:lnTo>
                  <a:lnTo>
                    <a:pt x="2342680" y="3686733"/>
                  </a:lnTo>
                  <a:lnTo>
                    <a:pt x="2343505" y="3684778"/>
                  </a:lnTo>
                  <a:lnTo>
                    <a:pt x="2374265" y="3612261"/>
                  </a:lnTo>
                  <a:lnTo>
                    <a:pt x="2372741" y="3608578"/>
                  </a:lnTo>
                  <a:lnTo>
                    <a:pt x="2369566" y="3607181"/>
                  </a:lnTo>
                  <a:lnTo>
                    <a:pt x="2366264" y="3605911"/>
                  </a:lnTo>
                  <a:lnTo>
                    <a:pt x="2362581" y="3607308"/>
                  </a:lnTo>
                  <a:lnTo>
                    <a:pt x="2322449" y="3701796"/>
                  </a:lnTo>
                  <a:lnTo>
                    <a:pt x="2343696" y="3699383"/>
                  </a:lnTo>
                  <a:lnTo>
                    <a:pt x="2424430" y="3690239"/>
                  </a:lnTo>
                  <a:lnTo>
                    <a:pt x="2426970" y="3687064"/>
                  </a:lnTo>
                  <a:close/>
                </a:path>
                <a:path w="3424554" h="5610225">
                  <a:moveTo>
                    <a:pt x="2428367" y="4105402"/>
                  </a:moveTo>
                  <a:lnTo>
                    <a:pt x="2427097" y="4092702"/>
                  </a:lnTo>
                  <a:lnTo>
                    <a:pt x="2403983" y="4094988"/>
                  </a:lnTo>
                  <a:lnTo>
                    <a:pt x="2376551" y="4097020"/>
                  </a:lnTo>
                  <a:lnTo>
                    <a:pt x="2377567" y="4109720"/>
                  </a:lnTo>
                  <a:lnTo>
                    <a:pt x="2404999" y="4107561"/>
                  </a:lnTo>
                  <a:lnTo>
                    <a:pt x="2428367" y="4105402"/>
                  </a:lnTo>
                  <a:close/>
                </a:path>
                <a:path w="3424554" h="5610225">
                  <a:moveTo>
                    <a:pt x="2469261" y="3568192"/>
                  </a:moveTo>
                  <a:lnTo>
                    <a:pt x="2465108" y="3566541"/>
                  </a:lnTo>
                  <a:lnTo>
                    <a:pt x="2457450" y="3563493"/>
                  </a:lnTo>
                  <a:lnTo>
                    <a:pt x="2456078" y="3566985"/>
                  </a:lnTo>
                  <a:lnTo>
                    <a:pt x="2452624" y="3573653"/>
                  </a:lnTo>
                  <a:lnTo>
                    <a:pt x="2452306" y="3574161"/>
                  </a:lnTo>
                  <a:lnTo>
                    <a:pt x="2447899" y="3581222"/>
                  </a:lnTo>
                  <a:lnTo>
                    <a:pt x="2442591" y="3588766"/>
                  </a:lnTo>
                  <a:lnTo>
                    <a:pt x="2442845" y="3588512"/>
                  </a:lnTo>
                  <a:lnTo>
                    <a:pt x="2436749" y="3596259"/>
                  </a:lnTo>
                  <a:lnTo>
                    <a:pt x="2436876" y="3596005"/>
                  </a:lnTo>
                  <a:lnTo>
                    <a:pt x="2436647" y="3596259"/>
                  </a:lnTo>
                  <a:lnTo>
                    <a:pt x="2430272" y="3603625"/>
                  </a:lnTo>
                  <a:lnTo>
                    <a:pt x="2439924" y="3612007"/>
                  </a:lnTo>
                  <a:lnTo>
                    <a:pt x="2446655" y="3604260"/>
                  </a:lnTo>
                  <a:lnTo>
                    <a:pt x="2452878" y="3596259"/>
                  </a:lnTo>
                  <a:lnTo>
                    <a:pt x="2458402" y="3588512"/>
                  </a:lnTo>
                  <a:lnTo>
                    <a:pt x="2458593" y="3588258"/>
                  </a:lnTo>
                  <a:lnTo>
                    <a:pt x="2463000" y="3581019"/>
                  </a:lnTo>
                  <a:lnTo>
                    <a:pt x="2463546" y="3580130"/>
                  </a:lnTo>
                  <a:lnTo>
                    <a:pt x="2467737" y="3572002"/>
                  </a:lnTo>
                  <a:lnTo>
                    <a:pt x="2469261" y="3568192"/>
                  </a:lnTo>
                  <a:close/>
                </a:path>
                <a:path w="3424554" h="5610225">
                  <a:moveTo>
                    <a:pt x="2469642" y="4995037"/>
                  </a:moveTo>
                  <a:lnTo>
                    <a:pt x="2464054" y="4983734"/>
                  </a:lnTo>
                  <a:lnTo>
                    <a:pt x="2418588" y="5006467"/>
                  </a:lnTo>
                  <a:lnTo>
                    <a:pt x="2424303" y="5017770"/>
                  </a:lnTo>
                  <a:lnTo>
                    <a:pt x="2469642" y="4995037"/>
                  </a:lnTo>
                  <a:close/>
                </a:path>
                <a:path w="3424554" h="5610225">
                  <a:moveTo>
                    <a:pt x="2473833" y="3527171"/>
                  </a:moveTo>
                  <a:lnTo>
                    <a:pt x="2473325" y="3525139"/>
                  </a:lnTo>
                  <a:lnTo>
                    <a:pt x="2472563" y="3521964"/>
                  </a:lnTo>
                  <a:lnTo>
                    <a:pt x="2471255" y="3518535"/>
                  </a:lnTo>
                  <a:lnTo>
                    <a:pt x="2469388" y="3513582"/>
                  </a:lnTo>
                  <a:lnTo>
                    <a:pt x="2468435" y="3511804"/>
                  </a:lnTo>
                  <a:lnTo>
                    <a:pt x="2465057" y="3505454"/>
                  </a:lnTo>
                  <a:lnTo>
                    <a:pt x="2464790" y="3505073"/>
                  </a:lnTo>
                  <a:lnTo>
                    <a:pt x="2459799" y="3498088"/>
                  </a:lnTo>
                  <a:lnTo>
                    <a:pt x="2459355" y="3497453"/>
                  </a:lnTo>
                  <a:lnTo>
                    <a:pt x="2452497" y="3489579"/>
                  </a:lnTo>
                  <a:lnTo>
                    <a:pt x="2444750" y="3482213"/>
                  </a:lnTo>
                  <a:lnTo>
                    <a:pt x="2435987" y="3491357"/>
                  </a:lnTo>
                  <a:lnTo>
                    <a:pt x="2443213" y="3498240"/>
                  </a:lnTo>
                  <a:lnTo>
                    <a:pt x="2443530" y="3498596"/>
                  </a:lnTo>
                  <a:lnTo>
                    <a:pt x="2449449" y="3505454"/>
                  </a:lnTo>
                  <a:lnTo>
                    <a:pt x="2449550" y="3505581"/>
                  </a:lnTo>
                  <a:lnTo>
                    <a:pt x="2450896" y="3507498"/>
                  </a:lnTo>
                  <a:lnTo>
                    <a:pt x="2409825" y="3506978"/>
                  </a:lnTo>
                  <a:lnTo>
                    <a:pt x="2409698" y="3519678"/>
                  </a:lnTo>
                  <a:lnTo>
                    <a:pt x="2458351" y="3520300"/>
                  </a:lnTo>
                  <a:lnTo>
                    <a:pt x="2461387" y="3530092"/>
                  </a:lnTo>
                  <a:lnTo>
                    <a:pt x="2473833" y="3527171"/>
                  </a:lnTo>
                  <a:close/>
                </a:path>
                <a:path w="3424554" h="5610225">
                  <a:moveTo>
                    <a:pt x="2488184" y="192278"/>
                  </a:moveTo>
                  <a:lnTo>
                    <a:pt x="2471153" y="177546"/>
                  </a:lnTo>
                  <a:lnTo>
                    <a:pt x="2459863" y="167767"/>
                  </a:lnTo>
                  <a:lnTo>
                    <a:pt x="2448687" y="159639"/>
                  </a:lnTo>
                  <a:lnTo>
                    <a:pt x="2441194" y="169799"/>
                  </a:lnTo>
                  <a:lnTo>
                    <a:pt x="2452116" y="177927"/>
                  </a:lnTo>
                  <a:lnTo>
                    <a:pt x="2451735" y="177546"/>
                  </a:lnTo>
                  <a:lnTo>
                    <a:pt x="2479929" y="201930"/>
                  </a:lnTo>
                  <a:lnTo>
                    <a:pt x="2488184" y="192278"/>
                  </a:lnTo>
                  <a:close/>
                </a:path>
                <a:path w="3424554" h="5610225">
                  <a:moveTo>
                    <a:pt x="2516886" y="4095750"/>
                  </a:moveTo>
                  <a:lnTo>
                    <a:pt x="2515235" y="4083177"/>
                  </a:lnTo>
                  <a:lnTo>
                    <a:pt x="2511425" y="4083685"/>
                  </a:lnTo>
                  <a:lnTo>
                    <a:pt x="2511552" y="4083685"/>
                  </a:lnTo>
                  <a:lnTo>
                    <a:pt x="2464943" y="4089019"/>
                  </a:lnTo>
                  <a:lnTo>
                    <a:pt x="2466340" y="4101719"/>
                  </a:lnTo>
                  <a:lnTo>
                    <a:pt x="2513076" y="4096385"/>
                  </a:lnTo>
                  <a:lnTo>
                    <a:pt x="2516886" y="4095750"/>
                  </a:lnTo>
                  <a:close/>
                </a:path>
                <a:path w="3424554" h="5610225">
                  <a:moveTo>
                    <a:pt x="2548636" y="4953901"/>
                  </a:moveTo>
                  <a:lnTo>
                    <a:pt x="2542540" y="4942713"/>
                  </a:lnTo>
                  <a:lnTo>
                    <a:pt x="2506091" y="4962664"/>
                  </a:lnTo>
                  <a:lnTo>
                    <a:pt x="2506218" y="4962525"/>
                  </a:lnTo>
                  <a:lnTo>
                    <a:pt x="2505964" y="4962664"/>
                  </a:lnTo>
                  <a:lnTo>
                    <a:pt x="2498090" y="4966601"/>
                  </a:lnTo>
                  <a:lnTo>
                    <a:pt x="2503805" y="4978019"/>
                  </a:lnTo>
                  <a:lnTo>
                    <a:pt x="2512060" y="4973828"/>
                  </a:lnTo>
                  <a:lnTo>
                    <a:pt x="2548636" y="4953901"/>
                  </a:lnTo>
                  <a:close/>
                </a:path>
                <a:path w="3424554" h="5610225">
                  <a:moveTo>
                    <a:pt x="2549652" y="3509391"/>
                  </a:moveTo>
                  <a:lnTo>
                    <a:pt x="2545842" y="3509391"/>
                  </a:lnTo>
                  <a:lnTo>
                    <a:pt x="2498725" y="3508248"/>
                  </a:lnTo>
                  <a:lnTo>
                    <a:pt x="2498471" y="3520948"/>
                  </a:lnTo>
                  <a:lnTo>
                    <a:pt x="2545461" y="3521964"/>
                  </a:lnTo>
                  <a:lnTo>
                    <a:pt x="2549271" y="3522091"/>
                  </a:lnTo>
                  <a:lnTo>
                    <a:pt x="2549652" y="3509391"/>
                  </a:lnTo>
                  <a:close/>
                </a:path>
                <a:path w="3424554" h="5610225">
                  <a:moveTo>
                    <a:pt x="2552573" y="254762"/>
                  </a:moveTo>
                  <a:lnTo>
                    <a:pt x="2549271" y="250952"/>
                  </a:lnTo>
                  <a:lnTo>
                    <a:pt x="2516632" y="218313"/>
                  </a:lnTo>
                  <a:lnTo>
                    <a:pt x="2507615" y="227330"/>
                  </a:lnTo>
                  <a:lnTo>
                    <a:pt x="2540127" y="259715"/>
                  </a:lnTo>
                  <a:lnTo>
                    <a:pt x="2539746" y="259461"/>
                  </a:lnTo>
                  <a:lnTo>
                    <a:pt x="2543048" y="263144"/>
                  </a:lnTo>
                  <a:lnTo>
                    <a:pt x="2546934" y="259715"/>
                  </a:lnTo>
                  <a:lnTo>
                    <a:pt x="2552573" y="254762"/>
                  </a:lnTo>
                  <a:close/>
                </a:path>
                <a:path w="3424554" h="5610225">
                  <a:moveTo>
                    <a:pt x="2605024" y="4082415"/>
                  </a:moveTo>
                  <a:lnTo>
                    <a:pt x="2602865" y="4069969"/>
                  </a:lnTo>
                  <a:lnTo>
                    <a:pt x="2560828" y="4076954"/>
                  </a:lnTo>
                  <a:lnTo>
                    <a:pt x="2560955" y="4076954"/>
                  </a:lnTo>
                  <a:lnTo>
                    <a:pt x="2552954" y="4078097"/>
                  </a:lnTo>
                  <a:lnTo>
                    <a:pt x="2554732" y="4090670"/>
                  </a:lnTo>
                  <a:lnTo>
                    <a:pt x="2562860" y="4089527"/>
                  </a:lnTo>
                  <a:lnTo>
                    <a:pt x="2605024" y="4082415"/>
                  </a:lnTo>
                  <a:close/>
                </a:path>
                <a:path w="3424554" h="5610225">
                  <a:moveTo>
                    <a:pt x="2609596" y="323469"/>
                  </a:moveTo>
                  <a:lnTo>
                    <a:pt x="2597620" y="307594"/>
                  </a:lnTo>
                  <a:lnTo>
                    <a:pt x="2591689" y="299720"/>
                  </a:lnTo>
                  <a:lnTo>
                    <a:pt x="2577592" y="283591"/>
                  </a:lnTo>
                  <a:lnTo>
                    <a:pt x="2567940" y="291846"/>
                  </a:lnTo>
                  <a:lnTo>
                    <a:pt x="2581910" y="307975"/>
                  </a:lnTo>
                  <a:lnTo>
                    <a:pt x="2581656" y="307594"/>
                  </a:lnTo>
                  <a:lnTo>
                    <a:pt x="2599436" y="331216"/>
                  </a:lnTo>
                  <a:lnTo>
                    <a:pt x="2609596" y="323469"/>
                  </a:lnTo>
                  <a:close/>
                </a:path>
                <a:path w="3424554" h="5610225">
                  <a:moveTo>
                    <a:pt x="2626360" y="4910074"/>
                  </a:moveTo>
                  <a:lnTo>
                    <a:pt x="2619883" y="4899152"/>
                  </a:lnTo>
                  <a:lnTo>
                    <a:pt x="2593213" y="4915027"/>
                  </a:lnTo>
                  <a:lnTo>
                    <a:pt x="2593340" y="4914900"/>
                  </a:lnTo>
                  <a:lnTo>
                    <a:pt x="2593098" y="4915027"/>
                  </a:lnTo>
                  <a:lnTo>
                    <a:pt x="2576068" y="4924425"/>
                  </a:lnTo>
                  <a:lnTo>
                    <a:pt x="2582164" y="4935601"/>
                  </a:lnTo>
                  <a:lnTo>
                    <a:pt x="2599563" y="4926076"/>
                  </a:lnTo>
                  <a:lnTo>
                    <a:pt x="2626360" y="4910074"/>
                  </a:lnTo>
                  <a:close/>
                </a:path>
                <a:path w="3424554" h="5610225">
                  <a:moveTo>
                    <a:pt x="2638425" y="3512439"/>
                  </a:moveTo>
                  <a:lnTo>
                    <a:pt x="2587625" y="3510534"/>
                  </a:lnTo>
                  <a:lnTo>
                    <a:pt x="2587244" y="3523234"/>
                  </a:lnTo>
                  <a:lnTo>
                    <a:pt x="2638044" y="3525139"/>
                  </a:lnTo>
                  <a:lnTo>
                    <a:pt x="2638425" y="3512439"/>
                  </a:lnTo>
                  <a:close/>
                </a:path>
                <a:path w="3424554" h="5610225">
                  <a:moveTo>
                    <a:pt x="2660777" y="396621"/>
                  </a:moveTo>
                  <a:lnTo>
                    <a:pt x="2632710" y="354330"/>
                  </a:lnTo>
                  <a:lnTo>
                    <a:pt x="2622169" y="361315"/>
                  </a:lnTo>
                  <a:lnTo>
                    <a:pt x="2650109" y="403733"/>
                  </a:lnTo>
                  <a:lnTo>
                    <a:pt x="2660777" y="396621"/>
                  </a:lnTo>
                  <a:close/>
                </a:path>
                <a:path w="3424554" h="5610225">
                  <a:moveTo>
                    <a:pt x="2692273" y="4063238"/>
                  </a:moveTo>
                  <a:lnTo>
                    <a:pt x="2689225" y="4050919"/>
                  </a:lnTo>
                  <a:lnTo>
                    <a:pt x="2652522" y="4059936"/>
                  </a:lnTo>
                  <a:lnTo>
                    <a:pt x="2652776" y="4059936"/>
                  </a:lnTo>
                  <a:lnTo>
                    <a:pt x="2640076" y="4062476"/>
                  </a:lnTo>
                  <a:lnTo>
                    <a:pt x="2642616" y="4074922"/>
                  </a:lnTo>
                  <a:lnTo>
                    <a:pt x="2655443" y="4072382"/>
                  </a:lnTo>
                  <a:lnTo>
                    <a:pt x="2692273" y="4063238"/>
                  </a:lnTo>
                  <a:close/>
                </a:path>
                <a:path w="3424554" h="5610225">
                  <a:moveTo>
                    <a:pt x="2702433" y="4863592"/>
                  </a:moveTo>
                  <a:lnTo>
                    <a:pt x="2695448" y="4853051"/>
                  </a:lnTo>
                  <a:lnTo>
                    <a:pt x="2676906" y="4865243"/>
                  </a:lnTo>
                  <a:lnTo>
                    <a:pt x="2677033" y="4865116"/>
                  </a:lnTo>
                  <a:lnTo>
                    <a:pt x="2676817" y="4865243"/>
                  </a:lnTo>
                  <a:lnTo>
                    <a:pt x="2652522" y="4879721"/>
                  </a:lnTo>
                  <a:lnTo>
                    <a:pt x="2659126" y="4890516"/>
                  </a:lnTo>
                  <a:lnTo>
                    <a:pt x="2683637" y="4875911"/>
                  </a:lnTo>
                  <a:lnTo>
                    <a:pt x="2702433" y="4863592"/>
                  </a:lnTo>
                  <a:close/>
                </a:path>
                <a:path w="3424554" h="5610225">
                  <a:moveTo>
                    <a:pt x="2706624" y="473329"/>
                  </a:moveTo>
                  <a:lnTo>
                    <a:pt x="2690495" y="444627"/>
                  </a:lnTo>
                  <a:lnTo>
                    <a:pt x="2681224" y="429133"/>
                  </a:lnTo>
                  <a:lnTo>
                    <a:pt x="2670302" y="435737"/>
                  </a:lnTo>
                  <a:lnTo>
                    <a:pt x="2679573" y="451104"/>
                  </a:lnTo>
                  <a:lnTo>
                    <a:pt x="2679446" y="450977"/>
                  </a:lnTo>
                  <a:lnTo>
                    <a:pt x="2679509" y="451104"/>
                  </a:lnTo>
                  <a:lnTo>
                    <a:pt x="2695575" y="479552"/>
                  </a:lnTo>
                  <a:lnTo>
                    <a:pt x="2706624" y="473329"/>
                  </a:lnTo>
                  <a:close/>
                </a:path>
                <a:path w="3424554" h="5610225">
                  <a:moveTo>
                    <a:pt x="2727452" y="3517138"/>
                  </a:moveTo>
                  <a:lnTo>
                    <a:pt x="2691765" y="3514979"/>
                  </a:lnTo>
                  <a:lnTo>
                    <a:pt x="2676652" y="3514217"/>
                  </a:lnTo>
                  <a:lnTo>
                    <a:pt x="2676017" y="3526917"/>
                  </a:lnTo>
                  <a:lnTo>
                    <a:pt x="2691003" y="3527679"/>
                  </a:lnTo>
                  <a:lnTo>
                    <a:pt x="2726690" y="3529711"/>
                  </a:lnTo>
                  <a:lnTo>
                    <a:pt x="2727452" y="3517138"/>
                  </a:lnTo>
                  <a:close/>
                </a:path>
                <a:path w="3424554" h="5610225">
                  <a:moveTo>
                    <a:pt x="2748407" y="552069"/>
                  </a:moveTo>
                  <a:lnTo>
                    <a:pt x="2732608" y="521335"/>
                  </a:lnTo>
                  <a:lnTo>
                    <a:pt x="2729611" y="515493"/>
                  </a:lnTo>
                  <a:lnTo>
                    <a:pt x="2724912" y="506857"/>
                  </a:lnTo>
                  <a:lnTo>
                    <a:pt x="2713736" y="512826"/>
                  </a:lnTo>
                  <a:lnTo>
                    <a:pt x="2718308" y="521462"/>
                  </a:lnTo>
                  <a:lnTo>
                    <a:pt x="2718308" y="521335"/>
                  </a:lnTo>
                  <a:lnTo>
                    <a:pt x="2737104" y="557911"/>
                  </a:lnTo>
                  <a:lnTo>
                    <a:pt x="2748407" y="552069"/>
                  </a:lnTo>
                  <a:close/>
                </a:path>
                <a:path w="3424554" h="5610225">
                  <a:moveTo>
                    <a:pt x="2776728" y="4814316"/>
                  </a:moveTo>
                  <a:lnTo>
                    <a:pt x="2775610" y="4812792"/>
                  </a:lnTo>
                  <a:lnTo>
                    <a:pt x="2769235" y="4804029"/>
                  </a:lnTo>
                  <a:lnTo>
                    <a:pt x="2756789" y="4812919"/>
                  </a:lnTo>
                  <a:lnTo>
                    <a:pt x="2757043" y="4812792"/>
                  </a:lnTo>
                  <a:lnTo>
                    <a:pt x="2727452" y="4832223"/>
                  </a:lnTo>
                  <a:lnTo>
                    <a:pt x="2734310" y="4842764"/>
                  </a:lnTo>
                  <a:lnTo>
                    <a:pt x="2764155" y="4823333"/>
                  </a:lnTo>
                  <a:lnTo>
                    <a:pt x="2776728" y="4814316"/>
                  </a:lnTo>
                  <a:close/>
                </a:path>
                <a:path w="3424554" h="5610225">
                  <a:moveTo>
                    <a:pt x="2777871" y="4037584"/>
                  </a:moveTo>
                  <a:lnTo>
                    <a:pt x="2773934" y="4025519"/>
                  </a:lnTo>
                  <a:lnTo>
                    <a:pt x="2736342" y="4037838"/>
                  </a:lnTo>
                  <a:lnTo>
                    <a:pt x="2736596" y="4037711"/>
                  </a:lnTo>
                  <a:lnTo>
                    <a:pt x="2725801" y="4040759"/>
                  </a:lnTo>
                  <a:lnTo>
                    <a:pt x="2729230" y="4053078"/>
                  </a:lnTo>
                  <a:lnTo>
                    <a:pt x="2740152" y="4049903"/>
                  </a:lnTo>
                  <a:lnTo>
                    <a:pt x="2777083" y="4037838"/>
                  </a:lnTo>
                  <a:lnTo>
                    <a:pt x="2777871" y="4037584"/>
                  </a:lnTo>
                  <a:close/>
                </a:path>
                <a:path w="3424554" h="5610225">
                  <a:moveTo>
                    <a:pt x="2787269" y="632206"/>
                  </a:moveTo>
                  <a:lnTo>
                    <a:pt x="2769743" y="594995"/>
                  </a:lnTo>
                  <a:lnTo>
                    <a:pt x="2765298" y="586232"/>
                  </a:lnTo>
                  <a:lnTo>
                    <a:pt x="2753995" y="591947"/>
                  </a:lnTo>
                  <a:lnTo>
                    <a:pt x="2758313" y="600583"/>
                  </a:lnTo>
                  <a:lnTo>
                    <a:pt x="2758186" y="600456"/>
                  </a:lnTo>
                  <a:lnTo>
                    <a:pt x="2758236" y="600583"/>
                  </a:lnTo>
                  <a:lnTo>
                    <a:pt x="2775712" y="637667"/>
                  </a:lnTo>
                  <a:lnTo>
                    <a:pt x="2787269" y="632206"/>
                  </a:lnTo>
                  <a:close/>
                </a:path>
                <a:path w="3424554" h="5610225">
                  <a:moveTo>
                    <a:pt x="2816225" y="3523869"/>
                  </a:moveTo>
                  <a:lnTo>
                    <a:pt x="2779649" y="3520694"/>
                  </a:lnTo>
                  <a:lnTo>
                    <a:pt x="2765425" y="3519678"/>
                  </a:lnTo>
                  <a:lnTo>
                    <a:pt x="2764536" y="3532378"/>
                  </a:lnTo>
                  <a:lnTo>
                    <a:pt x="2778633" y="3533394"/>
                  </a:lnTo>
                  <a:lnTo>
                    <a:pt x="2815082" y="3536442"/>
                  </a:lnTo>
                  <a:lnTo>
                    <a:pt x="2816225" y="3523869"/>
                  </a:lnTo>
                  <a:close/>
                </a:path>
                <a:path w="3424554" h="5610225">
                  <a:moveTo>
                    <a:pt x="2823845" y="713359"/>
                  </a:moveTo>
                  <a:lnTo>
                    <a:pt x="2812605" y="687832"/>
                  </a:lnTo>
                  <a:lnTo>
                    <a:pt x="2810383" y="682752"/>
                  </a:lnTo>
                  <a:lnTo>
                    <a:pt x="2803144" y="667004"/>
                  </a:lnTo>
                  <a:lnTo>
                    <a:pt x="2791587" y="672211"/>
                  </a:lnTo>
                  <a:lnTo>
                    <a:pt x="2798699" y="687959"/>
                  </a:lnTo>
                  <a:lnTo>
                    <a:pt x="2798699" y="687832"/>
                  </a:lnTo>
                  <a:lnTo>
                    <a:pt x="2812288" y="718566"/>
                  </a:lnTo>
                  <a:lnTo>
                    <a:pt x="2823845" y="713359"/>
                  </a:lnTo>
                  <a:close/>
                </a:path>
                <a:path w="3424554" h="5610225">
                  <a:moveTo>
                    <a:pt x="2848864" y="4761865"/>
                  </a:moveTo>
                  <a:lnTo>
                    <a:pt x="2845816" y="4758055"/>
                  </a:lnTo>
                  <a:lnTo>
                    <a:pt x="2840863" y="4751832"/>
                  </a:lnTo>
                  <a:lnTo>
                    <a:pt x="2832989" y="4758182"/>
                  </a:lnTo>
                  <a:lnTo>
                    <a:pt x="2833243" y="4758055"/>
                  </a:lnTo>
                  <a:lnTo>
                    <a:pt x="2800223" y="4781804"/>
                  </a:lnTo>
                  <a:lnTo>
                    <a:pt x="2807589" y="4792091"/>
                  </a:lnTo>
                  <a:lnTo>
                    <a:pt x="2840736" y="4768215"/>
                  </a:lnTo>
                  <a:lnTo>
                    <a:pt x="2848864" y="4761865"/>
                  </a:lnTo>
                  <a:close/>
                </a:path>
                <a:path w="3424554" h="5610225">
                  <a:moveTo>
                    <a:pt x="2858770" y="795401"/>
                  </a:moveTo>
                  <a:lnTo>
                    <a:pt x="2851531" y="777875"/>
                  </a:lnTo>
                  <a:lnTo>
                    <a:pt x="2839085" y="748411"/>
                  </a:lnTo>
                  <a:lnTo>
                    <a:pt x="2827401" y="753491"/>
                  </a:lnTo>
                  <a:lnTo>
                    <a:pt x="2839847" y="782828"/>
                  </a:lnTo>
                  <a:lnTo>
                    <a:pt x="2846959" y="800227"/>
                  </a:lnTo>
                  <a:lnTo>
                    <a:pt x="2858770" y="795401"/>
                  </a:lnTo>
                  <a:close/>
                </a:path>
                <a:path w="3424554" h="5610225">
                  <a:moveTo>
                    <a:pt x="2860929" y="4003929"/>
                  </a:moveTo>
                  <a:lnTo>
                    <a:pt x="2855595" y="3992499"/>
                  </a:lnTo>
                  <a:lnTo>
                    <a:pt x="2847213" y="3996436"/>
                  </a:lnTo>
                  <a:lnTo>
                    <a:pt x="2847467" y="3996309"/>
                  </a:lnTo>
                  <a:lnTo>
                    <a:pt x="2847162" y="3996436"/>
                  </a:lnTo>
                  <a:lnTo>
                    <a:pt x="2812415" y="4011168"/>
                  </a:lnTo>
                  <a:lnTo>
                    <a:pt x="2812542" y="4011041"/>
                  </a:lnTo>
                  <a:lnTo>
                    <a:pt x="2809367" y="4012311"/>
                  </a:lnTo>
                  <a:lnTo>
                    <a:pt x="2813812" y="4024122"/>
                  </a:lnTo>
                  <a:lnTo>
                    <a:pt x="2817241" y="4022852"/>
                  </a:lnTo>
                  <a:lnTo>
                    <a:pt x="2844762" y="4011168"/>
                  </a:lnTo>
                  <a:lnTo>
                    <a:pt x="2852547" y="4007866"/>
                  </a:lnTo>
                  <a:lnTo>
                    <a:pt x="2860929" y="4003929"/>
                  </a:lnTo>
                  <a:close/>
                </a:path>
                <a:path w="3424554" h="5610225">
                  <a:moveTo>
                    <a:pt x="2892044" y="877824"/>
                  </a:moveTo>
                  <a:lnTo>
                    <a:pt x="2873248" y="830707"/>
                  </a:lnTo>
                  <a:lnTo>
                    <a:pt x="2861437" y="835406"/>
                  </a:lnTo>
                  <a:lnTo>
                    <a:pt x="2880233" y="882523"/>
                  </a:lnTo>
                  <a:lnTo>
                    <a:pt x="2892044" y="877824"/>
                  </a:lnTo>
                  <a:close/>
                </a:path>
                <a:path w="3424554" h="5610225">
                  <a:moveTo>
                    <a:pt x="2904871" y="3533902"/>
                  </a:moveTo>
                  <a:lnTo>
                    <a:pt x="2895854" y="3532632"/>
                  </a:lnTo>
                  <a:lnTo>
                    <a:pt x="2877820" y="3530346"/>
                  </a:lnTo>
                  <a:lnTo>
                    <a:pt x="2859278" y="3528187"/>
                  </a:lnTo>
                  <a:lnTo>
                    <a:pt x="2854198" y="3527679"/>
                  </a:lnTo>
                  <a:lnTo>
                    <a:pt x="2852928" y="3540379"/>
                  </a:lnTo>
                  <a:lnTo>
                    <a:pt x="2857881" y="3540887"/>
                  </a:lnTo>
                  <a:lnTo>
                    <a:pt x="2876296" y="3542919"/>
                  </a:lnTo>
                  <a:lnTo>
                    <a:pt x="2894203" y="3545205"/>
                  </a:lnTo>
                  <a:lnTo>
                    <a:pt x="2894076" y="3545205"/>
                  </a:lnTo>
                  <a:lnTo>
                    <a:pt x="2903093" y="3546475"/>
                  </a:lnTo>
                  <a:lnTo>
                    <a:pt x="2904871" y="3533902"/>
                  </a:lnTo>
                  <a:close/>
                </a:path>
                <a:path w="3424554" h="5610225">
                  <a:moveTo>
                    <a:pt x="2918460" y="4705985"/>
                  </a:moveTo>
                  <a:lnTo>
                    <a:pt x="2909951" y="4696460"/>
                  </a:lnTo>
                  <a:lnTo>
                    <a:pt x="2905125" y="4700778"/>
                  </a:lnTo>
                  <a:lnTo>
                    <a:pt x="2905379" y="4700524"/>
                  </a:lnTo>
                  <a:lnTo>
                    <a:pt x="2905048" y="4700778"/>
                  </a:lnTo>
                  <a:lnTo>
                    <a:pt x="2870708" y="4728083"/>
                  </a:lnTo>
                  <a:lnTo>
                    <a:pt x="2878582" y="4738116"/>
                  </a:lnTo>
                  <a:lnTo>
                    <a:pt x="2913380" y="4710430"/>
                  </a:lnTo>
                  <a:lnTo>
                    <a:pt x="2918460" y="4705985"/>
                  </a:lnTo>
                  <a:close/>
                </a:path>
                <a:path w="3424554" h="5610225">
                  <a:moveTo>
                    <a:pt x="2923921" y="961009"/>
                  </a:moveTo>
                  <a:lnTo>
                    <a:pt x="2913634" y="933704"/>
                  </a:lnTo>
                  <a:lnTo>
                    <a:pt x="2905760" y="913511"/>
                  </a:lnTo>
                  <a:lnTo>
                    <a:pt x="2893949" y="918083"/>
                  </a:lnTo>
                  <a:lnTo>
                    <a:pt x="2901823" y="938276"/>
                  </a:lnTo>
                  <a:lnTo>
                    <a:pt x="2901696" y="938276"/>
                  </a:lnTo>
                  <a:lnTo>
                    <a:pt x="2911983" y="965454"/>
                  </a:lnTo>
                  <a:lnTo>
                    <a:pt x="2923921" y="961009"/>
                  </a:lnTo>
                  <a:close/>
                </a:path>
                <a:path w="3424554" h="5610225">
                  <a:moveTo>
                    <a:pt x="2940050" y="3962273"/>
                  </a:moveTo>
                  <a:lnTo>
                    <a:pt x="2933700" y="3951351"/>
                  </a:lnTo>
                  <a:lnTo>
                    <a:pt x="2911221" y="3964432"/>
                  </a:lnTo>
                  <a:lnTo>
                    <a:pt x="2889504" y="3975862"/>
                  </a:lnTo>
                  <a:lnTo>
                    <a:pt x="2895473" y="3987165"/>
                  </a:lnTo>
                  <a:lnTo>
                    <a:pt x="2917571" y="3975481"/>
                  </a:lnTo>
                  <a:lnTo>
                    <a:pt x="2936583" y="3964305"/>
                  </a:lnTo>
                  <a:lnTo>
                    <a:pt x="2940050" y="3962273"/>
                  </a:lnTo>
                  <a:close/>
                </a:path>
                <a:path w="3424554" h="5610225">
                  <a:moveTo>
                    <a:pt x="2954528" y="1044448"/>
                  </a:moveTo>
                  <a:lnTo>
                    <a:pt x="2937256" y="996823"/>
                  </a:lnTo>
                  <a:lnTo>
                    <a:pt x="2925318" y="1001141"/>
                  </a:lnTo>
                  <a:lnTo>
                    <a:pt x="2942590" y="1048893"/>
                  </a:lnTo>
                  <a:lnTo>
                    <a:pt x="2954528" y="1044448"/>
                  </a:lnTo>
                  <a:close/>
                </a:path>
                <a:path w="3424554" h="5610225">
                  <a:moveTo>
                    <a:pt x="2983992" y="1128522"/>
                  </a:moveTo>
                  <a:lnTo>
                    <a:pt x="2967228" y="1080516"/>
                  </a:lnTo>
                  <a:lnTo>
                    <a:pt x="2955163" y="1084707"/>
                  </a:lnTo>
                  <a:lnTo>
                    <a:pt x="2971927" y="1132713"/>
                  </a:lnTo>
                  <a:lnTo>
                    <a:pt x="2983992" y="1128522"/>
                  </a:lnTo>
                  <a:close/>
                </a:path>
                <a:path w="3424554" h="5610225">
                  <a:moveTo>
                    <a:pt x="2985135" y="4646676"/>
                  </a:moveTo>
                  <a:lnTo>
                    <a:pt x="2978912" y="4640453"/>
                  </a:lnTo>
                  <a:lnTo>
                    <a:pt x="2976118" y="4637659"/>
                  </a:lnTo>
                  <a:lnTo>
                    <a:pt x="2973197" y="4640580"/>
                  </a:lnTo>
                  <a:lnTo>
                    <a:pt x="2973451" y="4640453"/>
                  </a:lnTo>
                  <a:lnTo>
                    <a:pt x="2938526" y="4671187"/>
                  </a:lnTo>
                  <a:lnTo>
                    <a:pt x="2946908" y="4680712"/>
                  </a:lnTo>
                  <a:lnTo>
                    <a:pt x="2981960" y="4649851"/>
                  </a:lnTo>
                  <a:lnTo>
                    <a:pt x="2985135" y="4646676"/>
                  </a:lnTo>
                  <a:close/>
                </a:path>
                <a:path w="3424554" h="5610225">
                  <a:moveTo>
                    <a:pt x="2993009" y="3549650"/>
                  </a:moveTo>
                  <a:lnTo>
                    <a:pt x="2990977" y="3549142"/>
                  </a:lnTo>
                  <a:lnTo>
                    <a:pt x="2976626" y="3546094"/>
                  </a:lnTo>
                  <a:lnTo>
                    <a:pt x="2946146" y="3540252"/>
                  </a:lnTo>
                  <a:lnTo>
                    <a:pt x="2942717" y="3539744"/>
                  </a:lnTo>
                  <a:lnTo>
                    <a:pt x="2940558" y="3552190"/>
                  </a:lnTo>
                  <a:lnTo>
                    <a:pt x="2943987" y="3552825"/>
                  </a:lnTo>
                  <a:lnTo>
                    <a:pt x="2943860" y="3552825"/>
                  </a:lnTo>
                  <a:lnTo>
                    <a:pt x="2959354" y="3555619"/>
                  </a:lnTo>
                  <a:lnTo>
                    <a:pt x="2959227" y="3555619"/>
                  </a:lnTo>
                  <a:lnTo>
                    <a:pt x="2974086" y="3558540"/>
                  </a:lnTo>
                  <a:lnTo>
                    <a:pt x="2973959" y="3558540"/>
                  </a:lnTo>
                  <a:lnTo>
                    <a:pt x="2988183" y="3561588"/>
                  </a:lnTo>
                  <a:lnTo>
                    <a:pt x="2988056" y="3561588"/>
                  </a:lnTo>
                  <a:lnTo>
                    <a:pt x="2989961" y="3562096"/>
                  </a:lnTo>
                  <a:lnTo>
                    <a:pt x="2993009" y="3549650"/>
                  </a:lnTo>
                  <a:close/>
                </a:path>
                <a:path w="3424554" h="5610225">
                  <a:moveTo>
                    <a:pt x="3012440" y="1212850"/>
                  </a:moveTo>
                  <a:lnTo>
                    <a:pt x="2996565" y="1164590"/>
                  </a:lnTo>
                  <a:lnTo>
                    <a:pt x="2984500" y="1168527"/>
                  </a:lnTo>
                  <a:lnTo>
                    <a:pt x="3000375" y="1216787"/>
                  </a:lnTo>
                  <a:lnTo>
                    <a:pt x="3012440" y="1212850"/>
                  </a:lnTo>
                  <a:close/>
                </a:path>
                <a:path w="3424554" h="5610225">
                  <a:moveTo>
                    <a:pt x="3013710" y="3910965"/>
                  </a:moveTo>
                  <a:lnTo>
                    <a:pt x="3005709" y="3901059"/>
                  </a:lnTo>
                  <a:lnTo>
                    <a:pt x="2992247" y="3911854"/>
                  </a:lnTo>
                  <a:lnTo>
                    <a:pt x="2992501" y="3911600"/>
                  </a:lnTo>
                  <a:lnTo>
                    <a:pt x="2992145" y="3911854"/>
                  </a:lnTo>
                  <a:lnTo>
                    <a:pt x="2967355" y="3929761"/>
                  </a:lnTo>
                  <a:lnTo>
                    <a:pt x="2967609" y="3929634"/>
                  </a:lnTo>
                  <a:lnTo>
                    <a:pt x="2965577" y="3931031"/>
                  </a:lnTo>
                  <a:lnTo>
                    <a:pt x="2972435" y="3941572"/>
                  </a:lnTo>
                  <a:lnTo>
                    <a:pt x="2974594" y="3940175"/>
                  </a:lnTo>
                  <a:lnTo>
                    <a:pt x="2989300" y="3929634"/>
                  </a:lnTo>
                  <a:lnTo>
                    <a:pt x="3000121" y="3921887"/>
                  </a:lnTo>
                  <a:lnTo>
                    <a:pt x="3013710" y="3910965"/>
                  </a:lnTo>
                  <a:close/>
                </a:path>
                <a:path w="3424554" h="5610225">
                  <a:moveTo>
                    <a:pt x="3040126" y="1297432"/>
                  </a:moveTo>
                  <a:lnTo>
                    <a:pt x="3036316" y="1285113"/>
                  </a:lnTo>
                  <a:lnTo>
                    <a:pt x="3024378" y="1249045"/>
                  </a:lnTo>
                  <a:lnTo>
                    <a:pt x="3012313" y="1252982"/>
                  </a:lnTo>
                  <a:lnTo>
                    <a:pt x="3024251" y="1289050"/>
                  </a:lnTo>
                  <a:lnTo>
                    <a:pt x="3028061" y="1301242"/>
                  </a:lnTo>
                  <a:lnTo>
                    <a:pt x="3040126" y="1297432"/>
                  </a:lnTo>
                  <a:close/>
                </a:path>
                <a:path w="3424554" h="5610225">
                  <a:moveTo>
                    <a:pt x="3048381" y="4583684"/>
                  </a:moveTo>
                  <a:lnTo>
                    <a:pt x="3041688" y="4577715"/>
                  </a:lnTo>
                  <a:lnTo>
                    <a:pt x="3038983" y="4575302"/>
                  </a:lnTo>
                  <a:lnTo>
                    <a:pt x="3036824" y="4577715"/>
                  </a:lnTo>
                  <a:lnTo>
                    <a:pt x="3037078" y="4577334"/>
                  </a:lnTo>
                  <a:lnTo>
                    <a:pt x="3003296" y="4610862"/>
                  </a:lnTo>
                  <a:lnTo>
                    <a:pt x="3012186" y="4619879"/>
                  </a:lnTo>
                  <a:lnTo>
                    <a:pt x="3046095" y="4586224"/>
                  </a:lnTo>
                  <a:lnTo>
                    <a:pt x="3048381" y="4583684"/>
                  </a:lnTo>
                  <a:close/>
                </a:path>
                <a:path w="3424554" h="5610225">
                  <a:moveTo>
                    <a:pt x="3066669" y="1382268"/>
                  </a:moveTo>
                  <a:lnTo>
                    <a:pt x="3051556" y="1333754"/>
                  </a:lnTo>
                  <a:lnTo>
                    <a:pt x="3039364" y="1337564"/>
                  </a:lnTo>
                  <a:lnTo>
                    <a:pt x="3054477" y="1386078"/>
                  </a:lnTo>
                  <a:lnTo>
                    <a:pt x="3066669" y="1382268"/>
                  </a:lnTo>
                  <a:close/>
                </a:path>
                <a:path w="3424554" h="5610225">
                  <a:moveTo>
                    <a:pt x="3078353" y="3578479"/>
                  </a:moveTo>
                  <a:lnTo>
                    <a:pt x="3072003" y="3575304"/>
                  </a:lnTo>
                  <a:lnTo>
                    <a:pt x="3071418" y="3575050"/>
                  </a:lnTo>
                  <a:lnTo>
                    <a:pt x="3062478" y="3571113"/>
                  </a:lnTo>
                  <a:lnTo>
                    <a:pt x="3052191" y="3566922"/>
                  </a:lnTo>
                  <a:lnTo>
                    <a:pt x="3041396" y="3563112"/>
                  </a:lnTo>
                  <a:lnTo>
                    <a:pt x="3030220" y="3559556"/>
                  </a:lnTo>
                  <a:lnTo>
                    <a:pt x="3026410" y="3571621"/>
                  </a:lnTo>
                  <a:lnTo>
                    <a:pt x="3037459" y="3575177"/>
                  </a:lnTo>
                  <a:lnTo>
                    <a:pt x="3037205" y="3575050"/>
                  </a:lnTo>
                  <a:lnTo>
                    <a:pt x="3047873" y="3578860"/>
                  </a:lnTo>
                  <a:lnTo>
                    <a:pt x="3047619" y="3578860"/>
                  </a:lnTo>
                  <a:lnTo>
                    <a:pt x="3057652" y="3582797"/>
                  </a:lnTo>
                  <a:lnTo>
                    <a:pt x="3057398" y="3582797"/>
                  </a:lnTo>
                  <a:lnTo>
                    <a:pt x="3066796" y="3586861"/>
                  </a:lnTo>
                  <a:lnTo>
                    <a:pt x="3066415" y="3586734"/>
                  </a:lnTo>
                  <a:lnTo>
                    <a:pt x="3066669" y="3586861"/>
                  </a:lnTo>
                  <a:lnTo>
                    <a:pt x="3072638" y="3589782"/>
                  </a:lnTo>
                  <a:lnTo>
                    <a:pt x="3078353" y="3578479"/>
                  </a:lnTo>
                  <a:close/>
                </a:path>
                <a:path w="3424554" h="5610225">
                  <a:moveTo>
                    <a:pt x="3078480" y="3848735"/>
                  </a:moveTo>
                  <a:lnTo>
                    <a:pt x="3068955" y="3840226"/>
                  </a:lnTo>
                  <a:lnTo>
                    <a:pt x="3055239" y="3855720"/>
                  </a:lnTo>
                  <a:lnTo>
                    <a:pt x="3036570" y="3874389"/>
                  </a:lnTo>
                  <a:lnTo>
                    <a:pt x="3036278" y="3874643"/>
                  </a:lnTo>
                  <a:lnTo>
                    <a:pt x="3034284" y="3876421"/>
                  </a:lnTo>
                  <a:lnTo>
                    <a:pt x="3042793" y="3885819"/>
                  </a:lnTo>
                  <a:lnTo>
                    <a:pt x="3045079" y="3883787"/>
                  </a:lnTo>
                  <a:lnTo>
                    <a:pt x="3064637" y="3864229"/>
                  </a:lnTo>
                  <a:lnTo>
                    <a:pt x="3072460" y="3855466"/>
                  </a:lnTo>
                  <a:lnTo>
                    <a:pt x="3078480" y="3848735"/>
                  </a:lnTo>
                  <a:close/>
                </a:path>
                <a:path w="3424554" h="5610225">
                  <a:moveTo>
                    <a:pt x="3092323" y="1467485"/>
                  </a:moveTo>
                  <a:lnTo>
                    <a:pt x="3077972" y="1418717"/>
                  </a:lnTo>
                  <a:lnTo>
                    <a:pt x="3065780" y="1422400"/>
                  </a:lnTo>
                  <a:lnTo>
                    <a:pt x="3080131" y="1471041"/>
                  </a:lnTo>
                  <a:lnTo>
                    <a:pt x="3092323" y="1467485"/>
                  </a:lnTo>
                  <a:close/>
                </a:path>
                <a:path w="3424554" h="5610225">
                  <a:moveTo>
                    <a:pt x="3107817" y="4517136"/>
                  </a:moveTo>
                  <a:lnTo>
                    <a:pt x="3100616" y="4511421"/>
                  </a:lnTo>
                  <a:lnTo>
                    <a:pt x="3097911" y="4509262"/>
                  </a:lnTo>
                  <a:lnTo>
                    <a:pt x="3096006" y="4511675"/>
                  </a:lnTo>
                  <a:lnTo>
                    <a:pt x="3096260" y="4511421"/>
                  </a:lnTo>
                  <a:lnTo>
                    <a:pt x="3064383" y="4546854"/>
                  </a:lnTo>
                  <a:lnTo>
                    <a:pt x="3073908" y="4555363"/>
                  </a:lnTo>
                  <a:lnTo>
                    <a:pt x="3105785" y="4519676"/>
                  </a:lnTo>
                  <a:lnTo>
                    <a:pt x="3107817" y="4517136"/>
                  </a:lnTo>
                  <a:close/>
                </a:path>
                <a:path w="3424554" h="5610225">
                  <a:moveTo>
                    <a:pt x="3117342" y="1552956"/>
                  </a:moveTo>
                  <a:lnTo>
                    <a:pt x="3115513" y="1546479"/>
                  </a:lnTo>
                  <a:lnTo>
                    <a:pt x="3114548" y="1543050"/>
                  </a:lnTo>
                  <a:lnTo>
                    <a:pt x="3103118" y="1504061"/>
                  </a:lnTo>
                  <a:lnTo>
                    <a:pt x="3090926" y="1507617"/>
                  </a:lnTo>
                  <a:lnTo>
                    <a:pt x="3102356" y="1546606"/>
                  </a:lnTo>
                  <a:lnTo>
                    <a:pt x="3102356" y="1546479"/>
                  </a:lnTo>
                  <a:lnTo>
                    <a:pt x="3105150" y="1556258"/>
                  </a:lnTo>
                  <a:lnTo>
                    <a:pt x="3117342" y="1552956"/>
                  </a:lnTo>
                  <a:close/>
                </a:path>
                <a:path w="3424554" h="5610225">
                  <a:moveTo>
                    <a:pt x="3128391" y="3773424"/>
                  </a:moveTo>
                  <a:lnTo>
                    <a:pt x="3116961" y="3767836"/>
                  </a:lnTo>
                  <a:lnTo>
                    <a:pt x="3111119" y="3779774"/>
                  </a:lnTo>
                  <a:lnTo>
                    <a:pt x="3111373" y="3779393"/>
                  </a:lnTo>
                  <a:lnTo>
                    <a:pt x="3100222" y="3798519"/>
                  </a:lnTo>
                  <a:lnTo>
                    <a:pt x="3091815" y="3810889"/>
                  </a:lnTo>
                  <a:lnTo>
                    <a:pt x="3102356" y="3818001"/>
                  </a:lnTo>
                  <a:lnTo>
                    <a:pt x="3111119" y="3805174"/>
                  </a:lnTo>
                  <a:lnTo>
                    <a:pt x="3115145" y="3798189"/>
                  </a:lnTo>
                  <a:lnTo>
                    <a:pt x="3122422" y="3785616"/>
                  </a:lnTo>
                  <a:lnTo>
                    <a:pt x="3125457" y="3779393"/>
                  </a:lnTo>
                  <a:lnTo>
                    <a:pt x="3128391" y="3773424"/>
                  </a:lnTo>
                  <a:close/>
                </a:path>
                <a:path w="3424554" h="5610225">
                  <a:moveTo>
                    <a:pt x="3140710" y="3645662"/>
                  </a:moveTo>
                  <a:lnTo>
                    <a:pt x="3139440" y="3641852"/>
                  </a:lnTo>
                  <a:lnTo>
                    <a:pt x="3135020" y="3633089"/>
                  </a:lnTo>
                  <a:lnTo>
                    <a:pt x="3131947" y="3626993"/>
                  </a:lnTo>
                  <a:lnTo>
                    <a:pt x="3127654" y="3620770"/>
                  </a:lnTo>
                  <a:lnTo>
                    <a:pt x="3122422" y="3613150"/>
                  </a:lnTo>
                  <a:lnTo>
                    <a:pt x="3111373" y="3601466"/>
                  </a:lnTo>
                  <a:lnTo>
                    <a:pt x="3102102" y="3610229"/>
                  </a:lnTo>
                  <a:lnTo>
                    <a:pt x="3112770" y="3621532"/>
                  </a:lnTo>
                  <a:lnTo>
                    <a:pt x="3120809" y="3633190"/>
                  </a:lnTo>
                  <a:lnTo>
                    <a:pt x="3121279" y="3633851"/>
                  </a:lnTo>
                  <a:lnTo>
                    <a:pt x="3120809" y="3633190"/>
                  </a:lnTo>
                  <a:lnTo>
                    <a:pt x="3121152" y="3633851"/>
                  </a:lnTo>
                  <a:lnTo>
                    <a:pt x="3127514" y="3646347"/>
                  </a:lnTo>
                  <a:lnTo>
                    <a:pt x="3127756" y="3647059"/>
                  </a:lnTo>
                  <a:lnTo>
                    <a:pt x="3128645" y="3649726"/>
                  </a:lnTo>
                  <a:lnTo>
                    <a:pt x="3138817" y="3646297"/>
                  </a:lnTo>
                  <a:lnTo>
                    <a:pt x="3140710" y="3645662"/>
                  </a:lnTo>
                  <a:close/>
                </a:path>
                <a:path w="3424554" h="5610225">
                  <a:moveTo>
                    <a:pt x="3141218" y="1638554"/>
                  </a:moveTo>
                  <a:lnTo>
                    <a:pt x="3127502" y="1589659"/>
                  </a:lnTo>
                  <a:lnTo>
                    <a:pt x="3115310" y="1592961"/>
                  </a:lnTo>
                  <a:lnTo>
                    <a:pt x="3128899" y="1641983"/>
                  </a:lnTo>
                  <a:lnTo>
                    <a:pt x="3141218" y="1638554"/>
                  </a:lnTo>
                  <a:close/>
                </a:path>
                <a:path w="3424554" h="5610225">
                  <a:moveTo>
                    <a:pt x="3148927" y="3691128"/>
                  </a:moveTo>
                  <a:lnTo>
                    <a:pt x="3148457" y="3684397"/>
                  </a:lnTo>
                  <a:lnTo>
                    <a:pt x="3135757" y="3685286"/>
                  </a:lnTo>
                  <a:lnTo>
                    <a:pt x="3136227" y="3691610"/>
                  </a:lnTo>
                  <a:lnTo>
                    <a:pt x="3136265" y="3691128"/>
                  </a:lnTo>
                  <a:lnTo>
                    <a:pt x="3136265" y="3692017"/>
                  </a:lnTo>
                  <a:lnTo>
                    <a:pt x="3136227" y="3691610"/>
                  </a:lnTo>
                  <a:lnTo>
                    <a:pt x="3136201" y="3692017"/>
                  </a:lnTo>
                  <a:lnTo>
                    <a:pt x="3135122" y="3708400"/>
                  </a:lnTo>
                  <a:lnTo>
                    <a:pt x="3135122" y="3707765"/>
                  </a:lnTo>
                  <a:lnTo>
                    <a:pt x="3135007" y="3708400"/>
                  </a:lnTo>
                  <a:lnTo>
                    <a:pt x="3132074" y="3725545"/>
                  </a:lnTo>
                  <a:lnTo>
                    <a:pt x="3132328" y="3724910"/>
                  </a:lnTo>
                  <a:lnTo>
                    <a:pt x="3129915" y="3733292"/>
                  </a:lnTo>
                  <a:lnTo>
                    <a:pt x="3142107" y="3736721"/>
                  </a:lnTo>
                  <a:lnTo>
                    <a:pt x="3144647" y="3728085"/>
                  </a:lnTo>
                  <a:lnTo>
                    <a:pt x="3145167" y="3724910"/>
                  </a:lnTo>
                  <a:lnTo>
                    <a:pt x="3147695" y="3709543"/>
                  </a:lnTo>
                  <a:lnTo>
                    <a:pt x="3148927" y="3692017"/>
                  </a:lnTo>
                  <a:lnTo>
                    <a:pt x="3148927" y="3691128"/>
                  </a:lnTo>
                  <a:close/>
                </a:path>
                <a:path w="3424554" h="5610225">
                  <a:moveTo>
                    <a:pt x="3163062" y="4446905"/>
                  </a:moveTo>
                  <a:lnTo>
                    <a:pt x="3152521" y="4439666"/>
                  </a:lnTo>
                  <a:lnTo>
                    <a:pt x="3150692" y="4442409"/>
                  </a:lnTo>
                  <a:lnTo>
                    <a:pt x="3150438" y="4442714"/>
                  </a:lnTo>
                  <a:lnTo>
                    <a:pt x="3121533" y="4479290"/>
                  </a:lnTo>
                  <a:lnTo>
                    <a:pt x="3131439" y="4487164"/>
                  </a:lnTo>
                  <a:lnTo>
                    <a:pt x="3160776" y="4450080"/>
                  </a:lnTo>
                  <a:lnTo>
                    <a:pt x="3163062" y="4446905"/>
                  </a:lnTo>
                  <a:close/>
                </a:path>
                <a:path w="3424554" h="5610225">
                  <a:moveTo>
                    <a:pt x="3164332" y="1724406"/>
                  </a:moveTo>
                  <a:lnTo>
                    <a:pt x="3152749" y="1680591"/>
                  </a:lnTo>
                  <a:lnTo>
                    <a:pt x="3151886" y="1677289"/>
                  </a:lnTo>
                  <a:lnTo>
                    <a:pt x="3151378" y="1675257"/>
                  </a:lnTo>
                  <a:lnTo>
                    <a:pt x="3139186" y="1678686"/>
                  </a:lnTo>
                  <a:lnTo>
                    <a:pt x="3139694" y="1680718"/>
                  </a:lnTo>
                  <a:lnTo>
                    <a:pt x="3139694" y="1680591"/>
                  </a:lnTo>
                  <a:lnTo>
                    <a:pt x="3152013" y="1727708"/>
                  </a:lnTo>
                  <a:lnTo>
                    <a:pt x="3164332" y="1724406"/>
                  </a:lnTo>
                  <a:close/>
                </a:path>
                <a:path w="3424554" h="5610225">
                  <a:moveTo>
                    <a:pt x="3186938" y="1810385"/>
                  </a:moveTo>
                  <a:lnTo>
                    <a:pt x="3173984" y="1761363"/>
                  </a:lnTo>
                  <a:lnTo>
                    <a:pt x="3161792" y="1764538"/>
                  </a:lnTo>
                  <a:lnTo>
                    <a:pt x="3174619" y="1813687"/>
                  </a:lnTo>
                  <a:lnTo>
                    <a:pt x="3186938" y="1810385"/>
                  </a:lnTo>
                  <a:close/>
                </a:path>
                <a:path w="3424554" h="5610225">
                  <a:moveTo>
                    <a:pt x="3208147" y="1896872"/>
                  </a:moveTo>
                  <a:lnTo>
                    <a:pt x="3196082" y="1847469"/>
                  </a:lnTo>
                  <a:lnTo>
                    <a:pt x="3183763" y="1850517"/>
                  </a:lnTo>
                  <a:lnTo>
                    <a:pt x="3195828" y="1899920"/>
                  </a:lnTo>
                  <a:lnTo>
                    <a:pt x="3208147" y="1896872"/>
                  </a:lnTo>
                  <a:close/>
                </a:path>
                <a:path w="3424554" h="5610225">
                  <a:moveTo>
                    <a:pt x="3213481" y="4373118"/>
                  </a:moveTo>
                  <a:lnTo>
                    <a:pt x="3208337" y="4370070"/>
                  </a:lnTo>
                  <a:lnTo>
                    <a:pt x="3202559" y="4366641"/>
                  </a:lnTo>
                  <a:lnTo>
                    <a:pt x="3200323" y="4370362"/>
                  </a:lnTo>
                  <a:lnTo>
                    <a:pt x="3174238" y="4408297"/>
                  </a:lnTo>
                  <a:lnTo>
                    <a:pt x="3184652" y="4415536"/>
                  </a:lnTo>
                  <a:lnTo>
                    <a:pt x="3211068" y="4377055"/>
                  </a:lnTo>
                  <a:lnTo>
                    <a:pt x="3213481" y="4373118"/>
                  </a:lnTo>
                  <a:close/>
                </a:path>
                <a:path w="3424554" h="5610225">
                  <a:moveTo>
                    <a:pt x="3228975" y="1983359"/>
                  </a:moveTo>
                  <a:lnTo>
                    <a:pt x="3222904" y="1956689"/>
                  </a:lnTo>
                  <a:lnTo>
                    <a:pt x="3222244" y="1953768"/>
                  </a:lnTo>
                  <a:lnTo>
                    <a:pt x="3217291" y="1933829"/>
                  </a:lnTo>
                  <a:lnTo>
                    <a:pt x="3204972" y="1936877"/>
                  </a:lnTo>
                  <a:lnTo>
                    <a:pt x="3209798" y="1956816"/>
                  </a:lnTo>
                  <a:lnTo>
                    <a:pt x="3209798" y="1956689"/>
                  </a:lnTo>
                  <a:lnTo>
                    <a:pt x="3216656" y="1986280"/>
                  </a:lnTo>
                  <a:lnTo>
                    <a:pt x="3228975" y="1983359"/>
                  </a:lnTo>
                  <a:close/>
                </a:path>
                <a:path w="3424554" h="5610225">
                  <a:moveTo>
                    <a:pt x="3248914" y="2070100"/>
                  </a:moveTo>
                  <a:lnTo>
                    <a:pt x="3237484" y="2020570"/>
                  </a:lnTo>
                  <a:lnTo>
                    <a:pt x="3225165" y="2023364"/>
                  </a:lnTo>
                  <a:lnTo>
                    <a:pt x="3236468" y="2072894"/>
                  </a:lnTo>
                  <a:lnTo>
                    <a:pt x="3248914" y="2070100"/>
                  </a:lnTo>
                  <a:close/>
                </a:path>
                <a:path w="3424554" h="5610225">
                  <a:moveTo>
                    <a:pt x="3258693" y="4296156"/>
                  </a:moveTo>
                  <a:lnTo>
                    <a:pt x="3255670" y="4294632"/>
                  </a:lnTo>
                  <a:lnTo>
                    <a:pt x="3247390" y="4290441"/>
                  </a:lnTo>
                  <a:lnTo>
                    <a:pt x="3244977" y="4295013"/>
                  </a:lnTo>
                  <a:lnTo>
                    <a:pt x="3245231" y="4294632"/>
                  </a:lnTo>
                  <a:lnTo>
                    <a:pt x="3221990" y="4333875"/>
                  </a:lnTo>
                  <a:lnTo>
                    <a:pt x="3232912" y="4340352"/>
                  </a:lnTo>
                  <a:lnTo>
                    <a:pt x="3256280" y="4300855"/>
                  </a:lnTo>
                  <a:lnTo>
                    <a:pt x="3258693" y="4296156"/>
                  </a:lnTo>
                  <a:close/>
                </a:path>
                <a:path w="3424554" h="5610225">
                  <a:moveTo>
                    <a:pt x="3267837" y="2156968"/>
                  </a:moveTo>
                  <a:lnTo>
                    <a:pt x="3257169" y="2107311"/>
                  </a:lnTo>
                  <a:lnTo>
                    <a:pt x="3244850" y="2109978"/>
                  </a:lnTo>
                  <a:lnTo>
                    <a:pt x="3255391" y="2159635"/>
                  </a:lnTo>
                  <a:lnTo>
                    <a:pt x="3267837" y="2156968"/>
                  </a:lnTo>
                  <a:close/>
                </a:path>
                <a:path w="3424554" h="5610225">
                  <a:moveTo>
                    <a:pt x="3286252" y="2244090"/>
                  </a:moveTo>
                  <a:lnTo>
                    <a:pt x="3284855" y="2237359"/>
                  </a:lnTo>
                  <a:lnTo>
                    <a:pt x="3275711" y="2194306"/>
                  </a:lnTo>
                  <a:lnTo>
                    <a:pt x="3263265" y="2196973"/>
                  </a:lnTo>
                  <a:lnTo>
                    <a:pt x="3272536" y="2240026"/>
                  </a:lnTo>
                  <a:lnTo>
                    <a:pt x="3272409" y="2239899"/>
                  </a:lnTo>
                  <a:lnTo>
                    <a:pt x="3272434" y="2240026"/>
                  </a:lnTo>
                  <a:lnTo>
                    <a:pt x="3273806" y="2246503"/>
                  </a:lnTo>
                  <a:lnTo>
                    <a:pt x="3286252" y="2244090"/>
                  </a:lnTo>
                  <a:close/>
                </a:path>
                <a:path w="3424554" h="5610225">
                  <a:moveTo>
                    <a:pt x="3298444" y="4216146"/>
                  </a:moveTo>
                  <a:lnTo>
                    <a:pt x="3286760" y="4211193"/>
                  </a:lnTo>
                  <a:lnTo>
                    <a:pt x="3284728" y="4216019"/>
                  </a:lnTo>
                  <a:lnTo>
                    <a:pt x="3284855" y="4215638"/>
                  </a:lnTo>
                  <a:lnTo>
                    <a:pt x="3284651" y="4216019"/>
                  </a:lnTo>
                  <a:lnTo>
                    <a:pt x="3264408" y="4256405"/>
                  </a:lnTo>
                  <a:lnTo>
                    <a:pt x="3275711" y="4261993"/>
                  </a:lnTo>
                  <a:lnTo>
                    <a:pt x="3296285" y="4221226"/>
                  </a:lnTo>
                  <a:lnTo>
                    <a:pt x="3298444" y="4216146"/>
                  </a:lnTo>
                  <a:close/>
                </a:path>
                <a:path w="3424554" h="5610225">
                  <a:moveTo>
                    <a:pt x="3303270" y="2331339"/>
                  </a:moveTo>
                  <a:lnTo>
                    <a:pt x="3293491" y="2281428"/>
                  </a:lnTo>
                  <a:lnTo>
                    <a:pt x="3281045" y="2283968"/>
                  </a:lnTo>
                  <a:lnTo>
                    <a:pt x="3290697" y="2333752"/>
                  </a:lnTo>
                  <a:lnTo>
                    <a:pt x="3303270" y="2331339"/>
                  </a:lnTo>
                  <a:close/>
                </a:path>
                <a:path w="3424554" h="5610225">
                  <a:moveTo>
                    <a:pt x="3319526" y="2418842"/>
                  </a:moveTo>
                  <a:lnTo>
                    <a:pt x="3313188" y="2382520"/>
                  </a:lnTo>
                  <a:lnTo>
                    <a:pt x="3312795" y="2380234"/>
                  </a:lnTo>
                  <a:lnTo>
                    <a:pt x="3310509" y="2368804"/>
                  </a:lnTo>
                  <a:lnTo>
                    <a:pt x="3298063" y="2371217"/>
                  </a:lnTo>
                  <a:lnTo>
                    <a:pt x="3300222" y="2382647"/>
                  </a:lnTo>
                  <a:lnTo>
                    <a:pt x="3300222" y="2382520"/>
                  </a:lnTo>
                  <a:lnTo>
                    <a:pt x="3307080" y="2421001"/>
                  </a:lnTo>
                  <a:lnTo>
                    <a:pt x="3319526" y="2418842"/>
                  </a:lnTo>
                  <a:close/>
                </a:path>
                <a:path w="3424554" h="5610225">
                  <a:moveTo>
                    <a:pt x="3331591" y="4133088"/>
                  </a:moveTo>
                  <a:lnTo>
                    <a:pt x="3325749" y="4131183"/>
                  </a:lnTo>
                  <a:lnTo>
                    <a:pt x="3319526" y="4129151"/>
                  </a:lnTo>
                  <a:lnTo>
                    <a:pt x="3318764" y="4131437"/>
                  </a:lnTo>
                  <a:lnTo>
                    <a:pt x="3318891" y="4131183"/>
                  </a:lnTo>
                  <a:lnTo>
                    <a:pt x="3302508" y="4174744"/>
                  </a:lnTo>
                  <a:lnTo>
                    <a:pt x="3301873" y="4176141"/>
                  </a:lnTo>
                  <a:lnTo>
                    <a:pt x="3313557" y="4181221"/>
                  </a:lnTo>
                  <a:lnTo>
                    <a:pt x="3314319" y="4179316"/>
                  </a:lnTo>
                  <a:lnTo>
                    <a:pt x="3316135" y="4174490"/>
                  </a:lnTo>
                  <a:lnTo>
                    <a:pt x="3330829" y="4135501"/>
                  </a:lnTo>
                  <a:lnTo>
                    <a:pt x="3331591" y="4133088"/>
                  </a:lnTo>
                  <a:close/>
                </a:path>
                <a:path w="3424554" h="5610225">
                  <a:moveTo>
                    <a:pt x="3335147" y="2506345"/>
                  </a:moveTo>
                  <a:lnTo>
                    <a:pt x="3326257" y="2456307"/>
                  </a:lnTo>
                  <a:lnTo>
                    <a:pt x="3313684" y="2458593"/>
                  </a:lnTo>
                  <a:lnTo>
                    <a:pt x="3322574" y="2508631"/>
                  </a:lnTo>
                  <a:lnTo>
                    <a:pt x="3335147" y="2506345"/>
                  </a:lnTo>
                  <a:close/>
                </a:path>
                <a:path w="3424554" h="5610225">
                  <a:moveTo>
                    <a:pt x="3349371" y="2594229"/>
                  </a:moveTo>
                  <a:lnTo>
                    <a:pt x="3341370" y="2544064"/>
                  </a:lnTo>
                  <a:lnTo>
                    <a:pt x="3328797" y="2546096"/>
                  </a:lnTo>
                  <a:lnTo>
                    <a:pt x="3336798" y="2596261"/>
                  </a:lnTo>
                  <a:lnTo>
                    <a:pt x="3349371" y="2594229"/>
                  </a:lnTo>
                  <a:close/>
                </a:path>
                <a:path w="3424554" h="5610225">
                  <a:moveTo>
                    <a:pt x="3357880" y="4047998"/>
                  </a:moveTo>
                  <a:lnTo>
                    <a:pt x="3345688" y="4044442"/>
                  </a:lnTo>
                  <a:lnTo>
                    <a:pt x="3333623" y="4086225"/>
                  </a:lnTo>
                  <a:lnTo>
                    <a:pt x="3333750" y="4085971"/>
                  </a:lnTo>
                  <a:lnTo>
                    <a:pt x="3331464" y="4092956"/>
                  </a:lnTo>
                  <a:lnTo>
                    <a:pt x="3343529" y="4096893"/>
                  </a:lnTo>
                  <a:lnTo>
                    <a:pt x="3345815" y="4089781"/>
                  </a:lnTo>
                  <a:lnTo>
                    <a:pt x="3346907" y="4085971"/>
                  </a:lnTo>
                  <a:lnTo>
                    <a:pt x="3357880" y="4047998"/>
                  </a:lnTo>
                  <a:close/>
                </a:path>
                <a:path w="3424554" h="5610225">
                  <a:moveTo>
                    <a:pt x="3362960" y="2682240"/>
                  </a:moveTo>
                  <a:lnTo>
                    <a:pt x="3360915" y="2667635"/>
                  </a:lnTo>
                  <a:lnTo>
                    <a:pt x="3360674" y="2665857"/>
                  </a:lnTo>
                  <a:lnTo>
                    <a:pt x="3355340" y="2631821"/>
                  </a:lnTo>
                  <a:lnTo>
                    <a:pt x="3342767" y="2633853"/>
                  </a:lnTo>
                  <a:lnTo>
                    <a:pt x="3348101" y="2667762"/>
                  </a:lnTo>
                  <a:lnTo>
                    <a:pt x="3348101" y="2667635"/>
                  </a:lnTo>
                  <a:lnTo>
                    <a:pt x="3350387" y="2683891"/>
                  </a:lnTo>
                  <a:lnTo>
                    <a:pt x="3362960" y="2682240"/>
                  </a:lnTo>
                  <a:close/>
                </a:path>
                <a:path w="3424554" h="5610225">
                  <a:moveTo>
                    <a:pt x="3375025" y="2770251"/>
                  </a:moveTo>
                  <a:lnTo>
                    <a:pt x="3368167" y="2719959"/>
                  </a:lnTo>
                  <a:lnTo>
                    <a:pt x="3355594" y="2721737"/>
                  </a:lnTo>
                  <a:lnTo>
                    <a:pt x="3362452" y="2772029"/>
                  </a:lnTo>
                  <a:lnTo>
                    <a:pt x="3375025" y="2770251"/>
                  </a:lnTo>
                  <a:close/>
                </a:path>
                <a:path w="3424554" h="5610225">
                  <a:moveTo>
                    <a:pt x="3378581" y="3961003"/>
                  </a:moveTo>
                  <a:lnTo>
                    <a:pt x="3366135" y="3958336"/>
                  </a:lnTo>
                  <a:lnTo>
                    <a:pt x="3359404" y="3990086"/>
                  </a:lnTo>
                  <a:lnTo>
                    <a:pt x="3359404" y="3989832"/>
                  </a:lnTo>
                  <a:lnTo>
                    <a:pt x="3359340" y="3990086"/>
                  </a:lnTo>
                  <a:lnTo>
                    <a:pt x="3354959" y="4007739"/>
                  </a:lnTo>
                  <a:lnTo>
                    <a:pt x="3367278" y="4010787"/>
                  </a:lnTo>
                  <a:lnTo>
                    <a:pt x="3371723" y="3992753"/>
                  </a:lnTo>
                  <a:lnTo>
                    <a:pt x="3378581" y="3961003"/>
                  </a:lnTo>
                  <a:close/>
                </a:path>
                <a:path w="3424554" h="5610225">
                  <a:moveTo>
                    <a:pt x="3386074" y="2858643"/>
                  </a:moveTo>
                  <a:lnTo>
                    <a:pt x="3380232" y="2808224"/>
                  </a:lnTo>
                  <a:lnTo>
                    <a:pt x="3367659" y="2809621"/>
                  </a:lnTo>
                  <a:lnTo>
                    <a:pt x="3373501" y="2860040"/>
                  </a:lnTo>
                  <a:lnTo>
                    <a:pt x="3386074" y="2858643"/>
                  </a:lnTo>
                  <a:close/>
                </a:path>
                <a:path w="3424554" h="5610225">
                  <a:moveTo>
                    <a:pt x="3387852" y="3832860"/>
                  </a:moveTo>
                  <a:lnTo>
                    <a:pt x="3387801" y="3833114"/>
                  </a:lnTo>
                  <a:lnTo>
                    <a:pt x="3387852" y="3832860"/>
                  </a:lnTo>
                  <a:close/>
                </a:path>
                <a:path w="3424554" h="5610225">
                  <a:moveTo>
                    <a:pt x="3394583" y="3873246"/>
                  </a:moveTo>
                  <a:lnTo>
                    <a:pt x="3382010" y="3871341"/>
                  </a:lnTo>
                  <a:lnTo>
                    <a:pt x="3379724" y="3886962"/>
                  </a:lnTo>
                  <a:lnTo>
                    <a:pt x="3379724" y="3886835"/>
                  </a:lnTo>
                  <a:lnTo>
                    <a:pt x="3379698" y="3886962"/>
                  </a:lnTo>
                  <a:lnTo>
                    <a:pt x="3373501" y="3921252"/>
                  </a:lnTo>
                  <a:lnTo>
                    <a:pt x="3385947" y="3923538"/>
                  </a:lnTo>
                  <a:lnTo>
                    <a:pt x="3392170" y="3888994"/>
                  </a:lnTo>
                  <a:lnTo>
                    <a:pt x="3394583" y="3873246"/>
                  </a:lnTo>
                  <a:close/>
                </a:path>
                <a:path w="3424554" h="5610225">
                  <a:moveTo>
                    <a:pt x="3396488" y="2946908"/>
                  </a:moveTo>
                  <a:lnTo>
                    <a:pt x="3390519" y="2896489"/>
                  </a:lnTo>
                  <a:lnTo>
                    <a:pt x="3377946" y="2897886"/>
                  </a:lnTo>
                  <a:lnTo>
                    <a:pt x="3383788" y="2948432"/>
                  </a:lnTo>
                  <a:lnTo>
                    <a:pt x="3396488" y="2946908"/>
                  </a:lnTo>
                  <a:close/>
                </a:path>
                <a:path w="3424554" h="5610225">
                  <a:moveTo>
                    <a:pt x="3404616" y="3035554"/>
                  </a:moveTo>
                  <a:lnTo>
                    <a:pt x="3399917" y="2985008"/>
                  </a:lnTo>
                  <a:lnTo>
                    <a:pt x="3387344" y="2986151"/>
                  </a:lnTo>
                  <a:lnTo>
                    <a:pt x="3392043" y="3036824"/>
                  </a:lnTo>
                  <a:lnTo>
                    <a:pt x="3404616" y="3035554"/>
                  </a:lnTo>
                  <a:close/>
                </a:path>
                <a:path w="3424554" h="5610225">
                  <a:moveTo>
                    <a:pt x="3406013" y="3784854"/>
                  </a:moveTo>
                  <a:lnTo>
                    <a:pt x="3393440" y="3783457"/>
                  </a:lnTo>
                  <a:lnTo>
                    <a:pt x="3387852" y="3833114"/>
                  </a:lnTo>
                  <a:lnTo>
                    <a:pt x="3387725" y="3833622"/>
                  </a:lnTo>
                  <a:lnTo>
                    <a:pt x="3400298" y="3835527"/>
                  </a:lnTo>
                  <a:lnTo>
                    <a:pt x="3400425" y="3834638"/>
                  </a:lnTo>
                  <a:lnTo>
                    <a:pt x="3406013" y="3784854"/>
                  </a:lnTo>
                  <a:close/>
                </a:path>
                <a:path w="3424554" h="5610225">
                  <a:moveTo>
                    <a:pt x="3411855" y="3124327"/>
                  </a:moveTo>
                  <a:lnTo>
                    <a:pt x="3409238" y="3085846"/>
                  </a:lnTo>
                  <a:lnTo>
                    <a:pt x="3409188" y="3084957"/>
                  </a:lnTo>
                  <a:lnTo>
                    <a:pt x="3408172" y="3073527"/>
                  </a:lnTo>
                  <a:lnTo>
                    <a:pt x="3395472" y="3074670"/>
                  </a:lnTo>
                  <a:lnTo>
                    <a:pt x="3396615" y="3085973"/>
                  </a:lnTo>
                  <a:lnTo>
                    <a:pt x="3399282" y="3125216"/>
                  </a:lnTo>
                  <a:lnTo>
                    <a:pt x="3411855" y="3124327"/>
                  </a:lnTo>
                  <a:close/>
                </a:path>
                <a:path w="3424554" h="5610225">
                  <a:moveTo>
                    <a:pt x="3414903" y="3696081"/>
                  </a:moveTo>
                  <a:lnTo>
                    <a:pt x="3402330" y="3695319"/>
                  </a:lnTo>
                  <a:lnTo>
                    <a:pt x="3400552" y="3720465"/>
                  </a:lnTo>
                  <a:lnTo>
                    <a:pt x="3400552" y="3720211"/>
                  </a:lnTo>
                  <a:lnTo>
                    <a:pt x="3400514" y="3720465"/>
                  </a:lnTo>
                  <a:lnTo>
                    <a:pt x="3397758" y="3745611"/>
                  </a:lnTo>
                  <a:lnTo>
                    <a:pt x="3410331" y="3747008"/>
                  </a:lnTo>
                  <a:lnTo>
                    <a:pt x="3413252" y="3721481"/>
                  </a:lnTo>
                  <a:lnTo>
                    <a:pt x="3414903" y="3696081"/>
                  </a:lnTo>
                  <a:close/>
                </a:path>
                <a:path w="3424554" h="5610225">
                  <a:moveTo>
                    <a:pt x="3417951" y="3213100"/>
                  </a:moveTo>
                  <a:lnTo>
                    <a:pt x="3414522" y="3162300"/>
                  </a:lnTo>
                  <a:lnTo>
                    <a:pt x="3401822" y="3163189"/>
                  </a:lnTo>
                  <a:lnTo>
                    <a:pt x="3405251" y="3213862"/>
                  </a:lnTo>
                  <a:lnTo>
                    <a:pt x="3417951" y="3213100"/>
                  </a:lnTo>
                  <a:close/>
                </a:path>
                <a:path w="3424554" h="5610225">
                  <a:moveTo>
                    <a:pt x="3420999" y="3607435"/>
                  </a:moveTo>
                  <a:lnTo>
                    <a:pt x="3408299" y="3606546"/>
                  </a:lnTo>
                  <a:lnTo>
                    <a:pt x="3404870" y="3657219"/>
                  </a:lnTo>
                  <a:lnTo>
                    <a:pt x="3417570" y="3658108"/>
                  </a:lnTo>
                  <a:lnTo>
                    <a:pt x="3420999" y="3607435"/>
                  </a:lnTo>
                  <a:close/>
                </a:path>
                <a:path w="3424554" h="5610225">
                  <a:moveTo>
                    <a:pt x="3421634" y="3302012"/>
                  </a:moveTo>
                  <a:lnTo>
                    <a:pt x="3419602" y="3251327"/>
                  </a:lnTo>
                  <a:lnTo>
                    <a:pt x="3406902" y="3251835"/>
                  </a:lnTo>
                  <a:lnTo>
                    <a:pt x="3408934" y="3302508"/>
                  </a:lnTo>
                  <a:lnTo>
                    <a:pt x="3421634" y="3302012"/>
                  </a:lnTo>
                  <a:close/>
                </a:path>
                <a:path w="3424554" h="5610225">
                  <a:moveTo>
                    <a:pt x="3423539" y="3518281"/>
                  </a:moveTo>
                  <a:lnTo>
                    <a:pt x="3410839" y="3518027"/>
                  </a:lnTo>
                  <a:lnTo>
                    <a:pt x="3409442" y="3568700"/>
                  </a:lnTo>
                  <a:lnTo>
                    <a:pt x="3422142" y="3569081"/>
                  </a:lnTo>
                  <a:lnTo>
                    <a:pt x="3423539" y="3518281"/>
                  </a:lnTo>
                  <a:close/>
                </a:path>
                <a:path w="3424554" h="5610225">
                  <a:moveTo>
                    <a:pt x="3423920" y="3391154"/>
                  </a:moveTo>
                  <a:lnTo>
                    <a:pt x="3423539" y="3351784"/>
                  </a:lnTo>
                  <a:lnTo>
                    <a:pt x="3423031" y="3340112"/>
                  </a:lnTo>
                  <a:lnTo>
                    <a:pt x="3410458" y="3340608"/>
                  </a:lnTo>
                  <a:lnTo>
                    <a:pt x="3410839" y="3352050"/>
                  </a:lnTo>
                  <a:lnTo>
                    <a:pt x="3411220" y="3391154"/>
                  </a:lnTo>
                  <a:lnTo>
                    <a:pt x="3423920" y="3391154"/>
                  </a:lnTo>
                  <a:close/>
                </a:path>
                <a:path w="3424554" h="5610225">
                  <a:moveTo>
                    <a:pt x="3424555" y="3480181"/>
                  </a:moveTo>
                  <a:lnTo>
                    <a:pt x="3424542" y="3479165"/>
                  </a:lnTo>
                  <a:lnTo>
                    <a:pt x="3424174" y="3429254"/>
                  </a:lnTo>
                  <a:lnTo>
                    <a:pt x="3411474" y="3429254"/>
                  </a:lnTo>
                  <a:lnTo>
                    <a:pt x="3411855" y="3479419"/>
                  </a:lnTo>
                  <a:lnTo>
                    <a:pt x="3411855" y="3479927"/>
                  </a:lnTo>
                  <a:lnTo>
                    <a:pt x="3424555" y="3480181"/>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14" name="object 5">
            <a:extLst>
              <a:ext uri="{FF2B5EF4-FFF2-40B4-BE49-F238E27FC236}">
                <a16:creationId xmlns:a16="http://schemas.microsoft.com/office/drawing/2014/main" id="{E9884F32-40F6-8AB9-FC94-E40F0227B0F8}"/>
              </a:ext>
            </a:extLst>
          </p:cNvPr>
          <p:cNvSpPr txBox="1"/>
          <p:nvPr/>
        </p:nvSpPr>
        <p:spPr>
          <a:xfrm>
            <a:off x="3779520" y="3860291"/>
            <a:ext cx="492759" cy="530860"/>
          </a:xfrm>
          <a:prstGeom prst="rect">
            <a:avLst/>
          </a:prstGeom>
          <a:solidFill>
            <a:srgbClr val="FFFFFF"/>
          </a:solidFill>
        </p:spPr>
        <p:txBody>
          <a:bodyPr vert="horz" wrap="square" lIns="0" tIns="10795" rIns="0" bIns="0" rtlCol="0">
            <a:spAutoFit/>
          </a:bodyPr>
          <a:lstStyle/>
          <a:p>
            <a:pPr marL="146685" rtl="0">
              <a:lnSpc>
                <a:spcPts val="2000"/>
              </a:lnSpc>
              <a:spcBef>
                <a:spcPts val="85"/>
              </a:spcBef>
            </a:pPr>
            <a:r>
              <a:rPr i="1" kern="1200" spc="-5" dirty="0">
                <a:solidFill>
                  <a:srgbClr val="0431FF"/>
                </a:solidFill>
                <a:cs typeface="Calibri"/>
              </a:rPr>
              <a:t>gen  gen</a:t>
            </a:r>
            <a:endParaRPr kern="1200">
              <a:solidFill>
                <a:prstClr val="black"/>
              </a:solidFill>
              <a:cs typeface="Calibri"/>
            </a:endParaRPr>
          </a:p>
        </p:txBody>
      </p:sp>
      <p:sp>
        <p:nvSpPr>
          <p:cNvPr id="15" name="object 6">
            <a:extLst>
              <a:ext uri="{FF2B5EF4-FFF2-40B4-BE49-F238E27FC236}">
                <a16:creationId xmlns:a16="http://schemas.microsoft.com/office/drawing/2014/main" id="{D212117F-2643-410A-021A-B0EC3F55C66A}"/>
              </a:ext>
            </a:extLst>
          </p:cNvPr>
          <p:cNvSpPr txBox="1"/>
          <p:nvPr/>
        </p:nvSpPr>
        <p:spPr>
          <a:xfrm>
            <a:off x="3779520" y="4732020"/>
            <a:ext cx="492759" cy="276225"/>
          </a:xfrm>
          <a:prstGeom prst="rect">
            <a:avLst/>
          </a:prstGeom>
          <a:solidFill>
            <a:srgbClr val="FFFFFF"/>
          </a:solidFill>
        </p:spPr>
        <p:txBody>
          <a:bodyPr vert="horz" wrap="square" lIns="0" tIns="0" rIns="0" bIns="0" rtlCol="0">
            <a:spAutoFit/>
          </a:bodyPr>
          <a:lstStyle/>
          <a:p>
            <a:pPr marL="146685" rtl="0">
              <a:lnSpc>
                <a:spcPts val="2045"/>
              </a:lnSpc>
            </a:pPr>
            <a:r>
              <a:rPr i="1" kern="1200" spc="-5" dirty="0">
                <a:solidFill>
                  <a:srgbClr val="0431FF"/>
                </a:solidFill>
                <a:cs typeface="Calibri"/>
              </a:rPr>
              <a:t>gen</a:t>
            </a:r>
            <a:endParaRPr kern="1200">
              <a:solidFill>
                <a:prstClr val="black"/>
              </a:solidFill>
              <a:cs typeface="Calibri"/>
            </a:endParaRPr>
          </a:p>
        </p:txBody>
      </p:sp>
      <p:sp>
        <p:nvSpPr>
          <p:cNvPr id="16" name="object 7">
            <a:extLst>
              <a:ext uri="{FF2B5EF4-FFF2-40B4-BE49-F238E27FC236}">
                <a16:creationId xmlns:a16="http://schemas.microsoft.com/office/drawing/2014/main" id="{8B2F5F19-F501-A2D8-A05E-3410DE72DBEE}"/>
              </a:ext>
            </a:extLst>
          </p:cNvPr>
          <p:cNvSpPr txBox="1"/>
          <p:nvPr/>
        </p:nvSpPr>
        <p:spPr>
          <a:xfrm>
            <a:off x="3779520" y="5349240"/>
            <a:ext cx="492759" cy="277495"/>
          </a:xfrm>
          <a:prstGeom prst="rect">
            <a:avLst/>
          </a:prstGeom>
          <a:solidFill>
            <a:srgbClr val="FFFFFF"/>
          </a:solidFill>
        </p:spPr>
        <p:txBody>
          <a:bodyPr vert="horz" wrap="square" lIns="0" tIns="0" rIns="0" bIns="0" rtlCol="0">
            <a:spAutoFit/>
          </a:bodyPr>
          <a:lstStyle/>
          <a:p>
            <a:pPr marL="146685" rtl="0">
              <a:lnSpc>
                <a:spcPts val="2045"/>
              </a:lnSpc>
            </a:pPr>
            <a:r>
              <a:rPr i="1" kern="1200" spc="-5" dirty="0">
                <a:solidFill>
                  <a:srgbClr val="0431FF"/>
                </a:solidFill>
                <a:cs typeface="Calibri"/>
              </a:rPr>
              <a:t>gen</a:t>
            </a:r>
            <a:endParaRPr kern="1200">
              <a:solidFill>
                <a:prstClr val="black"/>
              </a:solidFill>
              <a:cs typeface="Calibri"/>
            </a:endParaRPr>
          </a:p>
        </p:txBody>
      </p:sp>
    </p:spTree>
    <p:extLst>
      <p:ext uri="{BB962C8B-B14F-4D97-AF65-F5344CB8AC3E}">
        <p14:creationId xmlns:p14="http://schemas.microsoft.com/office/powerpoint/2010/main" val="411237250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100</a:t>
            </a:fld>
            <a:endParaRPr lang="en-US"/>
          </a:p>
        </p:txBody>
      </p:sp>
      <p:sp>
        <p:nvSpPr>
          <p:cNvPr id="16" name="object 2">
            <a:extLst>
              <a:ext uri="{FF2B5EF4-FFF2-40B4-BE49-F238E27FC236}">
                <a16:creationId xmlns:a16="http://schemas.microsoft.com/office/drawing/2014/main" id="{1733B3B8-85F6-9FA4-DFA9-C86DC388A57B}"/>
              </a:ext>
            </a:extLst>
          </p:cNvPr>
          <p:cNvSpPr txBox="1">
            <a:spLocks/>
          </p:cNvSpPr>
          <p:nvPr/>
        </p:nvSpPr>
        <p:spPr>
          <a:xfrm>
            <a:off x="547522" y="570738"/>
            <a:ext cx="7992745" cy="559435"/>
          </a:xfrm>
          <a:prstGeom prst="rect">
            <a:avLst/>
          </a:prstGeom>
        </p:spPr>
        <p:txBody>
          <a:bodyPr vert="horz" wrap="square" lIns="0" tIns="1333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5"/>
              </a:spcBef>
              <a:spcAft>
                <a:spcPts val="0"/>
              </a:spcAft>
              <a:buClrTx/>
              <a:buSzTx/>
              <a:buFontTx/>
              <a:buNone/>
              <a:tabLst/>
              <a:defRPr/>
            </a:pPr>
            <a:r>
              <a:rPr kumimoji="0" lang="en-US" sz="3500" b="1" i="0" u="none" strike="noStrike" kern="0" cap="none" spc="0" normalizeH="0" baseline="0" noProof="0">
                <a:ln>
                  <a:noFill/>
                </a:ln>
                <a:solidFill>
                  <a:sysClr val="windowText" lastClr="000000"/>
                </a:solidFill>
                <a:effectLst/>
                <a:uLnTx/>
                <a:uFillTx/>
                <a:latin typeface="Palatino Linotype"/>
                <a:ea typeface="+mj-ea"/>
              </a:rPr>
              <a:t>Backpatching</a:t>
            </a:r>
            <a:r>
              <a:rPr kumimoji="0" lang="en-US" sz="3500" b="1" i="0" u="none" strike="noStrike" kern="0" cap="none" spc="-65" normalizeH="0" baseline="0" noProof="0">
                <a:ln>
                  <a:noFill/>
                </a:ln>
                <a:solidFill>
                  <a:sysClr val="windowText" lastClr="000000"/>
                </a:solidFill>
                <a:effectLst/>
                <a:uLnTx/>
                <a:uFillTx/>
                <a:latin typeface="Palatino Linotype"/>
                <a:ea typeface="+mj-ea"/>
              </a:rPr>
              <a:t> </a:t>
            </a:r>
            <a:r>
              <a:rPr kumimoji="0" lang="en-US" sz="3500" b="1" i="0" u="none" strike="noStrike" kern="0" cap="none" spc="0" normalizeH="0" baseline="0" noProof="0">
                <a:ln>
                  <a:noFill/>
                </a:ln>
                <a:solidFill>
                  <a:srgbClr val="FF0000"/>
                </a:solidFill>
                <a:effectLst/>
                <a:uLnTx/>
                <a:uFillTx/>
                <a:latin typeface="Palatino Linotype"/>
                <a:ea typeface="+mj-ea"/>
              </a:rPr>
              <a:t>vs.</a:t>
            </a:r>
            <a:r>
              <a:rPr kumimoji="0" lang="en-US" sz="3500" b="1" i="0" u="none" strike="noStrike" kern="0" cap="none" spc="-20" normalizeH="0" baseline="0" noProof="0">
                <a:ln>
                  <a:noFill/>
                </a:ln>
                <a:solidFill>
                  <a:srgbClr val="FF0000"/>
                </a:solidFill>
                <a:effectLst/>
                <a:uLnTx/>
                <a:uFillTx/>
                <a:latin typeface="Palatino Linotype"/>
                <a:ea typeface="+mj-ea"/>
              </a:rPr>
              <a:t> </a:t>
            </a:r>
            <a:r>
              <a:rPr kumimoji="0" lang="en-US" sz="3500" b="1" i="0" u="none" strike="noStrike" kern="0" cap="none" spc="0" normalizeH="0" baseline="0" noProof="0">
                <a:ln>
                  <a:noFill/>
                </a:ln>
                <a:solidFill>
                  <a:sysClr val="windowText" lastClr="000000"/>
                </a:solidFill>
                <a:effectLst/>
                <a:uLnTx/>
                <a:uFillTx/>
                <a:latin typeface="Palatino Linotype"/>
                <a:ea typeface="+mj-ea"/>
              </a:rPr>
              <a:t>Non-Backpatching</a:t>
            </a:r>
            <a:r>
              <a:rPr kumimoji="0" lang="en-US" sz="3500" b="1" i="0" u="none" strike="noStrike" kern="0" cap="none" spc="-50" normalizeH="0" baseline="0" noProof="0">
                <a:ln>
                  <a:noFill/>
                </a:ln>
                <a:solidFill>
                  <a:sysClr val="windowText" lastClr="000000"/>
                </a:solidFill>
                <a:effectLst/>
                <a:uLnTx/>
                <a:uFillTx/>
                <a:latin typeface="Palatino Linotype"/>
                <a:ea typeface="+mj-ea"/>
              </a:rPr>
              <a:t> </a:t>
            </a:r>
            <a:r>
              <a:rPr kumimoji="0" lang="en-US" sz="3500" b="1" i="0" u="none" strike="noStrike" kern="0" cap="none" spc="0" normalizeH="0" baseline="0" noProof="0">
                <a:ln>
                  <a:noFill/>
                </a:ln>
                <a:solidFill>
                  <a:sysClr val="windowText" lastClr="000000"/>
                </a:solidFill>
                <a:effectLst/>
                <a:uLnTx/>
                <a:uFillTx/>
                <a:latin typeface="Palatino Linotype"/>
                <a:ea typeface="+mj-ea"/>
              </a:rPr>
              <a:t>(1)</a:t>
            </a:r>
          </a:p>
        </p:txBody>
      </p:sp>
      <p:sp>
        <p:nvSpPr>
          <p:cNvPr id="17" name="object 3">
            <a:extLst>
              <a:ext uri="{FF2B5EF4-FFF2-40B4-BE49-F238E27FC236}">
                <a16:creationId xmlns:a16="http://schemas.microsoft.com/office/drawing/2014/main" id="{E8EE4D47-7B67-E7BD-636F-3B85B76B4EEE}"/>
              </a:ext>
            </a:extLst>
          </p:cNvPr>
          <p:cNvSpPr txBox="1"/>
          <p:nvPr/>
        </p:nvSpPr>
        <p:spPr>
          <a:xfrm>
            <a:off x="965708" y="4187697"/>
            <a:ext cx="7506970" cy="1744980"/>
          </a:xfrm>
          <a:prstGeom prst="rect">
            <a:avLst/>
          </a:prstGeom>
        </p:spPr>
        <p:txBody>
          <a:bodyPr vert="horz" wrap="square" lIns="0" tIns="12700" rIns="0" bIns="0" rtlCol="0">
            <a:spAutoFit/>
          </a:bodyPr>
          <a:lstStyle/>
          <a:p>
            <a:pPr marL="12700" rtl="0">
              <a:spcBef>
                <a:spcPts val="100"/>
              </a:spcBef>
            </a:pPr>
            <a:r>
              <a:rPr b="1" kern="1200" spc="-10" dirty="0">
                <a:solidFill>
                  <a:srgbClr val="FF0000"/>
                </a:solidFill>
                <a:latin typeface="Palatino Linotype"/>
                <a:cs typeface="Palatino Linotype"/>
              </a:rPr>
              <a:t>Comparison:</a:t>
            </a:r>
            <a:endParaRPr kern="1200" dirty="0">
              <a:solidFill>
                <a:prstClr val="black"/>
              </a:solidFill>
              <a:latin typeface="Palatino Linotype"/>
              <a:cs typeface="Palatino Linotype"/>
            </a:endParaRPr>
          </a:p>
          <a:p>
            <a:pPr rtl="0">
              <a:spcBef>
                <a:spcPts val="10"/>
              </a:spcBef>
            </a:pPr>
            <a:endParaRPr sz="1200" kern="1200" dirty="0">
              <a:solidFill>
                <a:prstClr val="black"/>
              </a:solidFill>
              <a:latin typeface="Palatino Linotype"/>
              <a:cs typeface="Palatino Linotype"/>
            </a:endParaRPr>
          </a:p>
          <a:p>
            <a:pPr marL="242570" indent="-230504" rtl="0">
              <a:buFont typeface="Arial MT"/>
              <a:buChar char="•"/>
              <a:tabLst>
                <a:tab pos="242570" algn="l"/>
                <a:tab pos="243204" algn="l"/>
              </a:tabLst>
            </a:pPr>
            <a:r>
              <a:rPr kern="1200" dirty="0">
                <a:solidFill>
                  <a:prstClr val="black"/>
                </a:solidFill>
                <a:latin typeface="Palatino Linotype"/>
                <a:cs typeface="Palatino Linotype"/>
              </a:rPr>
              <a:t>In (2), </a:t>
            </a:r>
            <a:r>
              <a:rPr kern="1200" spc="-5" dirty="0">
                <a:solidFill>
                  <a:prstClr val="black"/>
                </a:solidFill>
                <a:latin typeface="Palatino Linotype"/>
                <a:cs typeface="Palatino Linotype"/>
              </a:rPr>
              <a:t>incomplete</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instructions</a:t>
            </a:r>
            <a:r>
              <a:rPr kern="1200" spc="5" dirty="0">
                <a:solidFill>
                  <a:prstClr val="black"/>
                </a:solidFill>
                <a:latin typeface="Palatino Linotype"/>
                <a:cs typeface="Palatino Linotype"/>
              </a:rPr>
              <a:t> </a:t>
            </a:r>
            <a:r>
              <a:rPr kern="1200" spc="15" dirty="0">
                <a:solidFill>
                  <a:prstClr val="black"/>
                </a:solidFill>
                <a:latin typeface="Palatino Linotype"/>
                <a:cs typeface="Palatino Linotype"/>
              </a:rPr>
              <a:t>(</a:t>
            </a:r>
            <a:r>
              <a:rPr kern="1200" dirty="0">
                <a:solidFill>
                  <a:prstClr val="black"/>
                </a:solidFill>
                <a:latin typeface="SimSun"/>
                <a:cs typeface="SimSun"/>
              </a:rPr>
              <a:t>指令坯</a:t>
            </a:r>
            <a:r>
              <a:rPr kern="1200" dirty="0">
                <a:solidFill>
                  <a:prstClr val="black"/>
                </a:solidFill>
                <a:latin typeface="Palatino Linotype"/>
                <a:cs typeface="Palatino Linotype"/>
              </a:rPr>
              <a:t>) are</a:t>
            </a:r>
            <a:r>
              <a:rPr kern="1200" spc="-10" dirty="0">
                <a:solidFill>
                  <a:prstClr val="black"/>
                </a:solidFill>
                <a:latin typeface="Palatino Linotype"/>
                <a:cs typeface="Palatino Linotype"/>
              </a:rPr>
              <a:t> </a:t>
            </a:r>
            <a:r>
              <a:rPr kern="1200" dirty="0">
                <a:solidFill>
                  <a:prstClr val="black"/>
                </a:solidFill>
                <a:latin typeface="Palatino Linotype"/>
                <a:cs typeface="Palatino Linotype"/>
              </a:rPr>
              <a:t>added</a:t>
            </a:r>
            <a:r>
              <a:rPr kern="1200" spc="-5" dirty="0">
                <a:solidFill>
                  <a:prstClr val="black"/>
                </a:solidFill>
                <a:latin typeface="Palatino Linotype"/>
                <a:cs typeface="Palatino Linotype"/>
              </a:rPr>
              <a:t> to </a:t>
            </a:r>
            <a:r>
              <a:rPr kern="1200" dirty="0">
                <a:solidFill>
                  <a:prstClr val="black"/>
                </a:solidFill>
                <a:latin typeface="Palatino Linotype"/>
                <a:cs typeface="Palatino Linotype"/>
              </a:rPr>
              <a:t>corresponding</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lists</a:t>
            </a:r>
          </a:p>
          <a:p>
            <a:pPr marL="242570" indent="-230504" rtl="0">
              <a:spcBef>
                <a:spcPts val="1635"/>
              </a:spcBef>
              <a:buFont typeface="Arial MT"/>
              <a:buChar char="•"/>
              <a:tabLst>
                <a:tab pos="242570" algn="l"/>
                <a:tab pos="243204" algn="l"/>
              </a:tabLst>
            </a:pPr>
            <a:r>
              <a:rPr kern="1200" dirty="0">
                <a:solidFill>
                  <a:prstClr val="black"/>
                </a:solidFill>
                <a:latin typeface="Palatino Linotype"/>
                <a:cs typeface="Palatino Linotype"/>
              </a:rPr>
              <a:t>The </a:t>
            </a:r>
            <a:r>
              <a:rPr kern="1200" spc="-5" dirty="0">
                <a:solidFill>
                  <a:prstClr val="black"/>
                </a:solidFill>
                <a:latin typeface="Palatino Linotype"/>
                <a:cs typeface="Palatino Linotype"/>
              </a:rPr>
              <a:t>instruction jumping</a:t>
            </a:r>
            <a:r>
              <a:rPr kern="1200" spc="20" dirty="0">
                <a:solidFill>
                  <a:prstClr val="black"/>
                </a:solidFill>
                <a:latin typeface="Palatino Linotype"/>
                <a:cs typeface="Palatino Linotype"/>
              </a:rPr>
              <a:t> </a:t>
            </a:r>
            <a:r>
              <a:rPr kern="1200" spc="-5" dirty="0">
                <a:solidFill>
                  <a:prstClr val="black"/>
                </a:solidFill>
                <a:latin typeface="Palatino Linotype"/>
                <a:cs typeface="Palatino Linotype"/>
              </a:rPr>
              <a:t>to</a:t>
            </a:r>
            <a:r>
              <a:rPr kern="1200" spc="10" dirty="0">
                <a:solidFill>
                  <a:prstClr val="black"/>
                </a:solidFill>
                <a:latin typeface="Palatino Linotype"/>
                <a:cs typeface="Palatino Linotype"/>
              </a:rPr>
              <a:t> </a:t>
            </a:r>
            <a:r>
              <a:rPr kern="1200" spc="25" dirty="0">
                <a:solidFill>
                  <a:prstClr val="black"/>
                </a:solidFill>
                <a:latin typeface="Cambria Math"/>
                <a:cs typeface="Cambria Math"/>
              </a:rPr>
              <a:t>𝐵.</a:t>
            </a:r>
            <a:r>
              <a:rPr kern="1200" spc="-95" dirty="0">
                <a:solidFill>
                  <a:prstClr val="black"/>
                </a:solidFill>
                <a:latin typeface="Cambria Math"/>
                <a:cs typeface="Cambria Math"/>
              </a:rPr>
              <a:t> </a:t>
            </a:r>
            <a:r>
              <a:rPr kern="1200" spc="-5" dirty="0">
                <a:solidFill>
                  <a:prstClr val="black"/>
                </a:solidFill>
                <a:latin typeface="Cambria Math"/>
                <a:cs typeface="Cambria Math"/>
              </a:rPr>
              <a:t>𝑡𝑟𝑢𝑒</a:t>
            </a:r>
            <a:r>
              <a:rPr kern="1200" spc="90" dirty="0">
                <a:solidFill>
                  <a:prstClr val="black"/>
                </a:solidFill>
                <a:latin typeface="Cambria Math"/>
                <a:cs typeface="Cambria Math"/>
              </a:rPr>
              <a:t> </a:t>
            </a:r>
            <a:r>
              <a:rPr kern="1200" spc="-5" dirty="0">
                <a:solidFill>
                  <a:prstClr val="black"/>
                </a:solidFill>
                <a:latin typeface="Palatino Linotype"/>
                <a:cs typeface="Palatino Linotype"/>
              </a:rPr>
              <a:t>in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(1)</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is</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added</a:t>
            </a:r>
            <a:r>
              <a:rPr kern="1200" spc="-5" dirty="0">
                <a:solidFill>
                  <a:prstClr val="black"/>
                </a:solidFill>
                <a:latin typeface="Palatino Linotype"/>
                <a:cs typeface="Palatino Linotype"/>
              </a:rPr>
              <a:t> to</a:t>
            </a:r>
            <a:r>
              <a:rPr kern="1200" spc="5" dirty="0">
                <a:solidFill>
                  <a:prstClr val="black"/>
                </a:solidFill>
                <a:latin typeface="Palatino Linotype"/>
                <a:cs typeface="Palatino Linotype"/>
              </a:rPr>
              <a:t> </a:t>
            </a:r>
            <a:r>
              <a:rPr kern="1200" spc="25" dirty="0">
                <a:solidFill>
                  <a:prstClr val="black"/>
                </a:solidFill>
                <a:latin typeface="Cambria Math"/>
                <a:cs typeface="Cambria Math"/>
              </a:rPr>
              <a:t>𝐵.</a:t>
            </a:r>
            <a:r>
              <a:rPr kern="1200" spc="-95" dirty="0">
                <a:solidFill>
                  <a:prstClr val="black"/>
                </a:solidFill>
                <a:latin typeface="Cambria Math"/>
                <a:cs typeface="Cambria Math"/>
              </a:rPr>
              <a:t> </a:t>
            </a:r>
            <a:r>
              <a:rPr kern="1200" spc="-5" dirty="0">
                <a:solidFill>
                  <a:prstClr val="black"/>
                </a:solidFill>
                <a:latin typeface="Cambria Math"/>
                <a:cs typeface="Cambria Math"/>
              </a:rPr>
              <a:t>𝑡𝑟𝑢𝑒𝑙𝑖𝑠𝑡</a:t>
            </a:r>
            <a:r>
              <a:rPr kern="1200" spc="120" dirty="0">
                <a:solidFill>
                  <a:prstClr val="black"/>
                </a:solidFill>
                <a:latin typeface="Cambria Math"/>
                <a:cs typeface="Cambria Math"/>
              </a:rPr>
              <a:t> </a:t>
            </a:r>
            <a:r>
              <a:rPr kern="1200" spc="-5" dirty="0">
                <a:solidFill>
                  <a:prstClr val="black"/>
                </a:solidFill>
                <a:latin typeface="Palatino Linotype"/>
                <a:cs typeface="Palatino Linotype"/>
              </a:rPr>
              <a:t>in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(2)</a:t>
            </a:r>
          </a:p>
          <a:p>
            <a:pPr marL="242570" indent="-230504" rtl="0">
              <a:spcBef>
                <a:spcPts val="1635"/>
              </a:spcBef>
              <a:buFont typeface="Arial MT"/>
              <a:buChar char="•"/>
              <a:tabLst>
                <a:tab pos="242570" algn="l"/>
                <a:tab pos="243204" algn="l"/>
              </a:tabLst>
            </a:pP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instruction jumping</a:t>
            </a:r>
            <a:r>
              <a:rPr kern="1200" spc="20" dirty="0">
                <a:solidFill>
                  <a:prstClr val="black"/>
                </a:solidFill>
                <a:latin typeface="Palatino Linotype"/>
                <a:cs typeface="Palatino Linotype"/>
              </a:rPr>
              <a:t> </a:t>
            </a:r>
            <a:r>
              <a:rPr kern="1200" spc="-5" dirty="0">
                <a:solidFill>
                  <a:prstClr val="black"/>
                </a:solidFill>
                <a:latin typeface="Palatino Linotype"/>
                <a:cs typeface="Palatino Linotype"/>
              </a:rPr>
              <a:t>to</a:t>
            </a:r>
            <a:r>
              <a:rPr kern="1200" spc="10" dirty="0">
                <a:solidFill>
                  <a:prstClr val="black"/>
                </a:solidFill>
                <a:latin typeface="Palatino Linotype"/>
                <a:cs typeface="Palatino Linotype"/>
              </a:rPr>
              <a:t> </a:t>
            </a:r>
            <a:r>
              <a:rPr kern="1200" spc="25" dirty="0">
                <a:solidFill>
                  <a:prstClr val="black"/>
                </a:solidFill>
                <a:latin typeface="Cambria Math"/>
                <a:cs typeface="Cambria Math"/>
              </a:rPr>
              <a:t>𝐵.</a:t>
            </a:r>
            <a:r>
              <a:rPr kern="1200" spc="-95" dirty="0">
                <a:solidFill>
                  <a:prstClr val="black"/>
                </a:solidFill>
                <a:latin typeface="Cambria Math"/>
                <a:cs typeface="Cambria Math"/>
              </a:rPr>
              <a:t> </a:t>
            </a:r>
            <a:r>
              <a:rPr kern="1200" spc="-5" dirty="0">
                <a:solidFill>
                  <a:prstClr val="black"/>
                </a:solidFill>
                <a:latin typeface="Cambria Math"/>
                <a:cs typeface="Cambria Math"/>
              </a:rPr>
              <a:t>𝑓𝑎𝑙𝑠𝑒</a:t>
            </a:r>
            <a:r>
              <a:rPr kern="1200" spc="95" dirty="0">
                <a:solidFill>
                  <a:prstClr val="black"/>
                </a:solidFill>
                <a:latin typeface="Cambria Math"/>
                <a:cs typeface="Cambria Math"/>
              </a:rPr>
              <a:t> </a:t>
            </a:r>
            <a:r>
              <a:rPr kern="1200" spc="-5" dirty="0">
                <a:solidFill>
                  <a:prstClr val="black"/>
                </a:solidFill>
                <a:latin typeface="Palatino Linotype"/>
                <a:cs typeface="Palatino Linotype"/>
              </a:rPr>
              <a:t>in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(1)</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is</a:t>
            </a:r>
            <a:r>
              <a:rPr kern="1200" spc="-15" dirty="0">
                <a:solidFill>
                  <a:prstClr val="black"/>
                </a:solidFill>
                <a:latin typeface="Palatino Linotype"/>
                <a:cs typeface="Palatino Linotype"/>
              </a:rPr>
              <a:t> </a:t>
            </a:r>
            <a:r>
              <a:rPr kern="1200" dirty="0">
                <a:solidFill>
                  <a:prstClr val="black"/>
                </a:solidFill>
                <a:latin typeface="Palatino Linotype"/>
                <a:cs typeface="Palatino Linotype"/>
              </a:rPr>
              <a:t>added</a:t>
            </a:r>
            <a:r>
              <a:rPr kern="1200" spc="-5" dirty="0">
                <a:solidFill>
                  <a:prstClr val="black"/>
                </a:solidFill>
                <a:latin typeface="Palatino Linotype"/>
                <a:cs typeface="Palatino Linotype"/>
              </a:rPr>
              <a:t> to</a:t>
            </a:r>
            <a:r>
              <a:rPr kern="1200" spc="5" dirty="0">
                <a:solidFill>
                  <a:prstClr val="black"/>
                </a:solidFill>
                <a:latin typeface="Palatino Linotype"/>
                <a:cs typeface="Palatino Linotype"/>
              </a:rPr>
              <a:t> </a:t>
            </a:r>
            <a:r>
              <a:rPr kern="1200" spc="25" dirty="0">
                <a:solidFill>
                  <a:prstClr val="black"/>
                </a:solidFill>
                <a:latin typeface="Cambria Math"/>
                <a:cs typeface="Cambria Math"/>
              </a:rPr>
              <a:t>𝐵.</a:t>
            </a:r>
            <a:r>
              <a:rPr kern="1200" spc="-85" dirty="0">
                <a:solidFill>
                  <a:prstClr val="black"/>
                </a:solidFill>
                <a:latin typeface="Cambria Math"/>
                <a:cs typeface="Cambria Math"/>
              </a:rPr>
              <a:t> </a:t>
            </a:r>
            <a:r>
              <a:rPr kern="1200" spc="-5" dirty="0">
                <a:solidFill>
                  <a:prstClr val="black"/>
                </a:solidFill>
                <a:latin typeface="Cambria Math"/>
                <a:cs typeface="Cambria Math"/>
              </a:rPr>
              <a:t>𝑓𝑎𝑙𝑠𝑒𝑙𝑖𝑠𝑡</a:t>
            </a:r>
            <a:r>
              <a:rPr kern="1200" spc="105" dirty="0">
                <a:solidFill>
                  <a:prstClr val="black"/>
                </a:solidFill>
                <a:latin typeface="Cambria Math"/>
                <a:cs typeface="Cambria Math"/>
              </a:rPr>
              <a:t> </a:t>
            </a:r>
            <a:r>
              <a:rPr kern="1200" spc="-5" dirty="0">
                <a:solidFill>
                  <a:prstClr val="black"/>
                </a:solidFill>
                <a:latin typeface="Palatino Linotype"/>
                <a:cs typeface="Palatino Linotype"/>
              </a:rPr>
              <a:t>in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(2)</a:t>
            </a:r>
          </a:p>
        </p:txBody>
      </p:sp>
      <p:grpSp>
        <p:nvGrpSpPr>
          <p:cNvPr id="18" name="object 4">
            <a:extLst>
              <a:ext uri="{FF2B5EF4-FFF2-40B4-BE49-F238E27FC236}">
                <a16:creationId xmlns:a16="http://schemas.microsoft.com/office/drawing/2014/main" id="{525AF85E-05FD-7BBF-A312-14F3263DB27A}"/>
              </a:ext>
            </a:extLst>
          </p:cNvPr>
          <p:cNvGrpSpPr/>
          <p:nvPr/>
        </p:nvGrpSpPr>
        <p:grpSpPr>
          <a:xfrm>
            <a:off x="3917759" y="1866455"/>
            <a:ext cx="4072890" cy="584835"/>
            <a:chOff x="3917759" y="1866455"/>
            <a:chExt cx="4072890" cy="584835"/>
          </a:xfrm>
        </p:grpSpPr>
        <p:pic>
          <p:nvPicPr>
            <p:cNvPr id="19" name="object 5">
              <a:extLst>
                <a:ext uri="{FF2B5EF4-FFF2-40B4-BE49-F238E27FC236}">
                  <a16:creationId xmlns:a16="http://schemas.microsoft.com/office/drawing/2014/main" id="{A23EEB63-DD6D-0236-AB47-E7A2BCE4AE57}"/>
                </a:ext>
              </a:extLst>
            </p:cNvPr>
            <p:cNvPicPr/>
            <p:nvPr/>
          </p:nvPicPr>
          <p:blipFill>
            <a:blip r:embed="rId3" cstate="print"/>
            <a:stretch>
              <a:fillRect/>
            </a:stretch>
          </p:blipFill>
          <p:spPr>
            <a:xfrm>
              <a:off x="3973102" y="1876043"/>
              <a:ext cx="3971482" cy="565403"/>
            </a:xfrm>
            <a:prstGeom prst="rect">
              <a:avLst/>
            </a:prstGeom>
          </p:spPr>
        </p:pic>
        <p:sp>
          <p:nvSpPr>
            <p:cNvPr id="20" name="object 6">
              <a:extLst>
                <a:ext uri="{FF2B5EF4-FFF2-40B4-BE49-F238E27FC236}">
                  <a16:creationId xmlns:a16="http://schemas.microsoft.com/office/drawing/2014/main" id="{EB50421C-0664-5653-3156-4197922313B4}"/>
                </a:ext>
              </a:extLst>
            </p:cNvPr>
            <p:cNvSpPr/>
            <p:nvPr/>
          </p:nvSpPr>
          <p:spPr>
            <a:xfrm>
              <a:off x="3922521" y="1871217"/>
              <a:ext cx="4063365" cy="575310"/>
            </a:xfrm>
            <a:custGeom>
              <a:avLst/>
              <a:gdLst/>
              <a:ahLst/>
              <a:cxnLst/>
              <a:rect l="l" t="t" r="r" b="b"/>
              <a:pathLst>
                <a:path w="4063365" h="575310">
                  <a:moveTo>
                    <a:pt x="0" y="574928"/>
                  </a:moveTo>
                  <a:lnTo>
                    <a:pt x="4063364" y="574928"/>
                  </a:lnTo>
                  <a:lnTo>
                    <a:pt x="4063364" y="0"/>
                  </a:lnTo>
                  <a:lnTo>
                    <a:pt x="0" y="0"/>
                  </a:lnTo>
                  <a:lnTo>
                    <a:pt x="0" y="574928"/>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grpSp>
        <p:nvGrpSpPr>
          <p:cNvPr id="21" name="object 7">
            <a:extLst>
              <a:ext uri="{FF2B5EF4-FFF2-40B4-BE49-F238E27FC236}">
                <a16:creationId xmlns:a16="http://schemas.microsoft.com/office/drawing/2014/main" id="{AB5A25FE-0088-8992-BBDE-BABA4E2624F9}"/>
              </a:ext>
            </a:extLst>
          </p:cNvPr>
          <p:cNvGrpSpPr/>
          <p:nvPr/>
        </p:nvGrpSpPr>
        <p:grpSpPr>
          <a:xfrm>
            <a:off x="3497135" y="2942399"/>
            <a:ext cx="4714875" cy="814705"/>
            <a:chOff x="3497135" y="2942399"/>
            <a:chExt cx="4714875" cy="814705"/>
          </a:xfrm>
        </p:grpSpPr>
        <p:pic>
          <p:nvPicPr>
            <p:cNvPr id="22" name="object 8">
              <a:extLst>
                <a:ext uri="{FF2B5EF4-FFF2-40B4-BE49-F238E27FC236}">
                  <a16:creationId xmlns:a16="http://schemas.microsoft.com/office/drawing/2014/main" id="{BE31954D-4EA8-9D40-1FD3-9203A17B1082}"/>
                </a:ext>
              </a:extLst>
            </p:cNvPr>
            <p:cNvPicPr/>
            <p:nvPr/>
          </p:nvPicPr>
          <p:blipFill>
            <a:blip r:embed="rId4" cstate="print"/>
            <a:stretch>
              <a:fillRect/>
            </a:stretch>
          </p:blipFill>
          <p:spPr>
            <a:xfrm>
              <a:off x="3543335" y="2988775"/>
              <a:ext cx="4466621" cy="758740"/>
            </a:xfrm>
            <a:prstGeom prst="rect">
              <a:avLst/>
            </a:prstGeom>
          </p:spPr>
        </p:pic>
        <p:sp>
          <p:nvSpPr>
            <p:cNvPr id="23" name="object 9">
              <a:extLst>
                <a:ext uri="{FF2B5EF4-FFF2-40B4-BE49-F238E27FC236}">
                  <a16:creationId xmlns:a16="http://schemas.microsoft.com/office/drawing/2014/main" id="{67D8B5F7-853D-D523-E607-5AAA9089DE15}"/>
                </a:ext>
              </a:extLst>
            </p:cNvPr>
            <p:cNvSpPr/>
            <p:nvPr/>
          </p:nvSpPr>
          <p:spPr>
            <a:xfrm>
              <a:off x="3501897" y="2947161"/>
              <a:ext cx="4705350" cy="805180"/>
            </a:xfrm>
            <a:custGeom>
              <a:avLst/>
              <a:gdLst/>
              <a:ahLst/>
              <a:cxnLst/>
              <a:rect l="l" t="t" r="r" b="b"/>
              <a:pathLst>
                <a:path w="4705350" h="805179">
                  <a:moveTo>
                    <a:pt x="0" y="805052"/>
                  </a:moveTo>
                  <a:lnTo>
                    <a:pt x="4704969" y="805052"/>
                  </a:lnTo>
                  <a:lnTo>
                    <a:pt x="4704969" y="0"/>
                  </a:lnTo>
                  <a:lnTo>
                    <a:pt x="0" y="0"/>
                  </a:lnTo>
                  <a:lnTo>
                    <a:pt x="0" y="805052"/>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4" name="object 10">
            <a:extLst>
              <a:ext uri="{FF2B5EF4-FFF2-40B4-BE49-F238E27FC236}">
                <a16:creationId xmlns:a16="http://schemas.microsoft.com/office/drawing/2014/main" id="{776CC64B-CF13-B129-986C-14842678F22D}"/>
              </a:ext>
            </a:extLst>
          </p:cNvPr>
          <p:cNvSpPr txBox="1"/>
          <p:nvPr/>
        </p:nvSpPr>
        <p:spPr>
          <a:xfrm>
            <a:off x="965708" y="2010867"/>
            <a:ext cx="2512060" cy="269240"/>
          </a:xfrm>
          <a:prstGeom prst="rect">
            <a:avLst/>
          </a:prstGeom>
        </p:spPr>
        <p:txBody>
          <a:bodyPr vert="horz" wrap="square" lIns="0" tIns="12065" rIns="0" bIns="0" rtlCol="0">
            <a:spAutoFit/>
          </a:bodyPr>
          <a:lstStyle/>
          <a:p>
            <a:pPr marL="12700" rtl="0">
              <a:spcBef>
                <a:spcPts val="95"/>
              </a:spcBef>
            </a:pPr>
            <a:r>
              <a:rPr sz="1600" kern="1200" spc="-5" dirty="0">
                <a:solidFill>
                  <a:srgbClr val="0431FF"/>
                </a:solidFill>
                <a:latin typeface="Palatino Linotype"/>
                <a:cs typeface="Palatino Linotype"/>
              </a:rPr>
              <a:t>(1) Non-backpatching</a:t>
            </a:r>
            <a:r>
              <a:rPr sz="1600" kern="1200" spc="20" dirty="0">
                <a:solidFill>
                  <a:srgbClr val="0431FF"/>
                </a:solidFill>
                <a:latin typeface="Palatino Linotype"/>
                <a:cs typeface="Palatino Linotype"/>
              </a:rPr>
              <a:t> </a:t>
            </a:r>
            <a:r>
              <a:rPr sz="1600" kern="1200" spc="-5" dirty="0">
                <a:solidFill>
                  <a:srgbClr val="0431FF"/>
                </a:solidFill>
                <a:latin typeface="Palatino Linotype"/>
                <a:cs typeface="Palatino Linotype"/>
              </a:rPr>
              <a:t>SDD:</a:t>
            </a:r>
            <a:endParaRPr sz="1600" kern="1200">
              <a:solidFill>
                <a:prstClr val="black"/>
              </a:solidFill>
              <a:latin typeface="Palatino Linotype"/>
              <a:cs typeface="Palatino Linotype"/>
            </a:endParaRPr>
          </a:p>
        </p:txBody>
      </p:sp>
      <p:sp>
        <p:nvSpPr>
          <p:cNvPr id="25" name="object 11">
            <a:extLst>
              <a:ext uri="{FF2B5EF4-FFF2-40B4-BE49-F238E27FC236}">
                <a16:creationId xmlns:a16="http://schemas.microsoft.com/office/drawing/2014/main" id="{7DE4489D-AF56-0AD5-661D-830C44592F02}"/>
              </a:ext>
            </a:extLst>
          </p:cNvPr>
          <p:cNvSpPr txBox="1"/>
          <p:nvPr/>
        </p:nvSpPr>
        <p:spPr>
          <a:xfrm>
            <a:off x="965708" y="3202050"/>
            <a:ext cx="2300605" cy="269240"/>
          </a:xfrm>
          <a:prstGeom prst="rect">
            <a:avLst/>
          </a:prstGeom>
        </p:spPr>
        <p:txBody>
          <a:bodyPr vert="horz" wrap="square" lIns="0" tIns="12065" rIns="0" bIns="0" rtlCol="0">
            <a:spAutoFit/>
          </a:bodyPr>
          <a:lstStyle/>
          <a:p>
            <a:pPr marL="12700" rtl="0">
              <a:spcBef>
                <a:spcPts val="95"/>
              </a:spcBef>
            </a:pPr>
            <a:r>
              <a:rPr sz="1600" kern="1200" spc="-5" dirty="0">
                <a:solidFill>
                  <a:srgbClr val="0431FF"/>
                </a:solidFill>
                <a:latin typeface="Palatino Linotype"/>
                <a:cs typeface="Palatino Linotype"/>
              </a:rPr>
              <a:t>(2)</a:t>
            </a:r>
            <a:r>
              <a:rPr sz="1600" kern="1200" spc="-10" dirty="0">
                <a:solidFill>
                  <a:srgbClr val="0431FF"/>
                </a:solidFill>
                <a:latin typeface="Palatino Linotype"/>
                <a:cs typeface="Palatino Linotype"/>
              </a:rPr>
              <a:t> </a:t>
            </a:r>
            <a:r>
              <a:rPr sz="1600" kern="1200" spc="-5" dirty="0">
                <a:solidFill>
                  <a:srgbClr val="0431FF"/>
                </a:solidFill>
                <a:latin typeface="Palatino Linotype"/>
                <a:cs typeface="Palatino Linotype"/>
              </a:rPr>
              <a:t>Backpatching scheme:</a:t>
            </a:r>
            <a:endParaRPr sz="1600" kern="1200">
              <a:solidFill>
                <a:prstClr val="black"/>
              </a:solidFill>
              <a:latin typeface="Palatino Linotype"/>
              <a:cs typeface="Palatino Linotype"/>
            </a:endParaRPr>
          </a:p>
        </p:txBody>
      </p:sp>
      <p:sp>
        <p:nvSpPr>
          <p:cNvPr id="26" name="object 12">
            <a:extLst>
              <a:ext uri="{FF2B5EF4-FFF2-40B4-BE49-F238E27FC236}">
                <a16:creationId xmlns:a16="http://schemas.microsoft.com/office/drawing/2014/main" id="{A4151827-2C08-2414-8829-B776F1164091}"/>
              </a:ext>
            </a:extLst>
          </p:cNvPr>
          <p:cNvSpPr txBox="1"/>
          <p:nvPr/>
        </p:nvSpPr>
        <p:spPr>
          <a:xfrm>
            <a:off x="4956047" y="3323844"/>
            <a:ext cx="505459" cy="402590"/>
          </a:xfrm>
          <a:prstGeom prst="rect">
            <a:avLst/>
          </a:prstGeom>
          <a:solidFill>
            <a:srgbClr val="FFFFFF"/>
          </a:solidFill>
        </p:spPr>
        <p:txBody>
          <a:bodyPr vert="horz" wrap="square" lIns="0" tIns="0" rIns="0" bIns="0" rtlCol="0">
            <a:spAutoFit/>
          </a:bodyPr>
          <a:lstStyle/>
          <a:p>
            <a:pPr marL="223520" rtl="0">
              <a:lnSpc>
                <a:spcPts val="1495"/>
              </a:lnSpc>
            </a:pPr>
            <a:r>
              <a:rPr sz="1400" i="1" kern="1200" spc="-5" dirty="0">
                <a:solidFill>
                  <a:srgbClr val="585858"/>
                </a:solidFill>
                <a:cs typeface="Calibri"/>
              </a:rPr>
              <a:t>gen</a:t>
            </a:r>
            <a:endParaRPr sz="1400" kern="1200">
              <a:solidFill>
                <a:prstClr val="black"/>
              </a:solidFill>
              <a:cs typeface="Calibri"/>
            </a:endParaRPr>
          </a:p>
          <a:p>
            <a:pPr marL="223520" marR="3175" rtl="0">
              <a:lnSpc>
                <a:spcPts val="1575"/>
              </a:lnSpc>
            </a:pPr>
            <a:r>
              <a:rPr sz="1400" i="1" kern="1200" spc="-5" dirty="0">
                <a:solidFill>
                  <a:srgbClr val="585858"/>
                </a:solidFill>
                <a:cs typeface="Calibri"/>
              </a:rPr>
              <a:t>gen</a:t>
            </a:r>
            <a:endParaRPr sz="1400" kern="1200">
              <a:solidFill>
                <a:prstClr val="black"/>
              </a:solidFill>
              <a:cs typeface="Calibri"/>
            </a:endParaRPr>
          </a:p>
        </p:txBody>
      </p:sp>
    </p:spTree>
    <p:extLst>
      <p:ext uri="{BB962C8B-B14F-4D97-AF65-F5344CB8AC3E}">
        <p14:creationId xmlns:p14="http://schemas.microsoft.com/office/powerpoint/2010/main" val="418448797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101</a:t>
            </a:fld>
            <a:endParaRPr lang="en-US"/>
          </a:p>
        </p:txBody>
      </p:sp>
      <p:sp>
        <p:nvSpPr>
          <p:cNvPr id="15" name="object 2">
            <a:extLst>
              <a:ext uri="{FF2B5EF4-FFF2-40B4-BE49-F238E27FC236}">
                <a16:creationId xmlns:a16="http://schemas.microsoft.com/office/drawing/2014/main" id="{E5D27F11-E94E-88FB-63FB-8F3FE0255168}"/>
              </a:ext>
            </a:extLst>
          </p:cNvPr>
          <p:cNvSpPr txBox="1">
            <a:spLocks/>
          </p:cNvSpPr>
          <p:nvPr/>
        </p:nvSpPr>
        <p:spPr>
          <a:xfrm>
            <a:off x="547522" y="570738"/>
            <a:ext cx="7992745" cy="559435"/>
          </a:xfrm>
          <a:prstGeom prst="rect">
            <a:avLst/>
          </a:prstGeom>
        </p:spPr>
        <p:txBody>
          <a:bodyPr vert="horz" wrap="square" lIns="0" tIns="1333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5"/>
              </a:spcBef>
              <a:spcAft>
                <a:spcPts val="0"/>
              </a:spcAft>
              <a:buClrTx/>
              <a:buSzTx/>
              <a:buFontTx/>
              <a:buNone/>
              <a:tabLst/>
              <a:defRPr/>
            </a:pPr>
            <a:r>
              <a:rPr kumimoji="0" lang="en-US" sz="3500" b="1" i="0" u="none" strike="noStrike" kern="0" cap="none" spc="0" normalizeH="0" baseline="0" noProof="0">
                <a:ln>
                  <a:noFill/>
                </a:ln>
                <a:solidFill>
                  <a:sysClr val="windowText" lastClr="000000"/>
                </a:solidFill>
                <a:effectLst/>
                <a:uLnTx/>
                <a:uFillTx/>
                <a:latin typeface="Palatino Linotype"/>
                <a:ea typeface="+mj-ea"/>
              </a:rPr>
              <a:t>Backpatching</a:t>
            </a:r>
            <a:r>
              <a:rPr kumimoji="0" lang="en-US" sz="3500" b="1" i="0" u="none" strike="noStrike" kern="0" cap="none" spc="-65" normalizeH="0" baseline="0" noProof="0">
                <a:ln>
                  <a:noFill/>
                </a:ln>
                <a:solidFill>
                  <a:sysClr val="windowText" lastClr="000000"/>
                </a:solidFill>
                <a:effectLst/>
                <a:uLnTx/>
                <a:uFillTx/>
                <a:latin typeface="Palatino Linotype"/>
                <a:ea typeface="+mj-ea"/>
              </a:rPr>
              <a:t> </a:t>
            </a:r>
            <a:r>
              <a:rPr kumimoji="0" lang="en-US" sz="3500" b="1" i="0" u="none" strike="noStrike" kern="0" cap="none" spc="0" normalizeH="0" baseline="0" noProof="0">
                <a:ln>
                  <a:noFill/>
                </a:ln>
                <a:solidFill>
                  <a:srgbClr val="FF0000"/>
                </a:solidFill>
                <a:effectLst/>
                <a:uLnTx/>
                <a:uFillTx/>
                <a:latin typeface="Palatino Linotype"/>
                <a:ea typeface="+mj-ea"/>
              </a:rPr>
              <a:t>vs.</a:t>
            </a:r>
            <a:r>
              <a:rPr kumimoji="0" lang="en-US" sz="3500" b="1" i="0" u="none" strike="noStrike" kern="0" cap="none" spc="-20" normalizeH="0" baseline="0" noProof="0">
                <a:ln>
                  <a:noFill/>
                </a:ln>
                <a:solidFill>
                  <a:srgbClr val="FF0000"/>
                </a:solidFill>
                <a:effectLst/>
                <a:uLnTx/>
                <a:uFillTx/>
                <a:latin typeface="Palatino Linotype"/>
                <a:ea typeface="+mj-ea"/>
              </a:rPr>
              <a:t> </a:t>
            </a:r>
            <a:r>
              <a:rPr kumimoji="0" lang="en-US" sz="3500" b="1" i="0" u="none" strike="noStrike" kern="0" cap="none" spc="0" normalizeH="0" baseline="0" noProof="0">
                <a:ln>
                  <a:noFill/>
                </a:ln>
                <a:solidFill>
                  <a:sysClr val="windowText" lastClr="000000"/>
                </a:solidFill>
                <a:effectLst/>
                <a:uLnTx/>
                <a:uFillTx/>
                <a:latin typeface="Palatino Linotype"/>
                <a:ea typeface="+mj-ea"/>
              </a:rPr>
              <a:t>Non-Backpatching</a:t>
            </a:r>
            <a:r>
              <a:rPr kumimoji="0" lang="en-US" sz="3500" b="1" i="0" u="none" strike="noStrike" kern="0" cap="none" spc="-50" normalizeH="0" baseline="0" noProof="0">
                <a:ln>
                  <a:noFill/>
                </a:ln>
                <a:solidFill>
                  <a:sysClr val="windowText" lastClr="000000"/>
                </a:solidFill>
                <a:effectLst/>
                <a:uLnTx/>
                <a:uFillTx/>
                <a:latin typeface="Palatino Linotype"/>
                <a:ea typeface="+mj-ea"/>
              </a:rPr>
              <a:t> </a:t>
            </a:r>
            <a:r>
              <a:rPr kumimoji="0" lang="en-US" sz="3500" b="1" i="0" u="none" strike="noStrike" kern="0" cap="none" spc="0" normalizeH="0" baseline="0" noProof="0">
                <a:ln>
                  <a:noFill/>
                </a:ln>
                <a:solidFill>
                  <a:sysClr val="windowText" lastClr="000000"/>
                </a:solidFill>
                <a:effectLst/>
                <a:uLnTx/>
                <a:uFillTx/>
                <a:latin typeface="Palatino Linotype"/>
                <a:ea typeface="+mj-ea"/>
              </a:rPr>
              <a:t>(2)</a:t>
            </a:r>
          </a:p>
        </p:txBody>
      </p:sp>
      <p:sp>
        <p:nvSpPr>
          <p:cNvPr id="16" name="object 3">
            <a:extLst>
              <a:ext uri="{FF2B5EF4-FFF2-40B4-BE49-F238E27FC236}">
                <a16:creationId xmlns:a16="http://schemas.microsoft.com/office/drawing/2014/main" id="{F66D1121-2318-DC8A-694C-CFFE4369D2C6}"/>
              </a:ext>
            </a:extLst>
          </p:cNvPr>
          <p:cNvSpPr txBox="1"/>
          <p:nvPr/>
        </p:nvSpPr>
        <p:spPr>
          <a:xfrm>
            <a:off x="965708" y="4413630"/>
            <a:ext cx="6775450" cy="1089660"/>
          </a:xfrm>
          <a:prstGeom prst="rect">
            <a:avLst/>
          </a:prstGeom>
        </p:spPr>
        <p:txBody>
          <a:bodyPr vert="horz" wrap="square" lIns="0" tIns="12700" rIns="0" bIns="0" rtlCol="0">
            <a:spAutoFit/>
          </a:bodyPr>
          <a:lstStyle/>
          <a:p>
            <a:pPr marL="12700" rtl="0">
              <a:spcBef>
                <a:spcPts val="100"/>
              </a:spcBef>
            </a:pPr>
            <a:r>
              <a:rPr b="1" kern="1200" spc="-10" dirty="0">
                <a:solidFill>
                  <a:srgbClr val="FF0000"/>
                </a:solidFill>
                <a:latin typeface="Palatino Linotype"/>
                <a:cs typeface="Palatino Linotype"/>
              </a:rPr>
              <a:t>Comparison:</a:t>
            </a:r>
            <a:endParaRPr kern="1200" dirty="0">
              <a:solidFill>
                <a:prstClr val="black"/>
              </a:solidFill>
              <a:latin typeface="Palatino Linotype"/>
              <a:cs typeface="Palatino Linotype"/>
            </a:endParaRPr>
          </a:p>
          <a:p>
            <a:pPr marL="242570" marR="5080" indent="-230504" rtl="0">
              <a:lnSpc>
                <a:spcPct val="120000"/>
              </a:lnSpc>
              <a:spcBef>
                <a:spcPts val="1030"/>
              </a:spcBef>
              <a:buFont typeface="Arial MT"/>
              <a:buChar char="•"/>
              <a:tabLst>
                <a:tab pos="242570" algn="l"/>
                <a:tab pos="243204" algn="l"/>
              </a:tabLst>
            </a:pPr>
            <a:r>
              <a:rPr kern="1200" dirty="0">
                <a:solidFill>
                  <a:prstClr val="black"/>
                </a:solidFill>
                <a:latin typeface="Palatino Linotype"/>
                <a:cs typeface="Palatino Linotype"/>
              </a:rPr>
              <a:t>The</a:t>
            </a:r>
            <a:r>
              <a:rPr kern="1200" spc="-5" dirty="0">
                <a:solidFill>
                  <a:prstClr val="black"/>
                </a:solidFill>
                <a:latin typeface="Palatino Linotype"/>
                <a:cs typeface="Palatino Linotype"/>
              </a:rPr>
              <a:t> assignments to</a:t>
            </a:r>
            <a:r>
              <a:rPr kern="1200" spc="5" dirty="0">
                <a:solidFill>
                  <a:prstClr val="black"/>
                </a:solidFill>
                <a:latin typeface="Palatino Linotype"/>
                <a:cs typeface="Palatino Linotype"/>
              </a:rPr>
              <a:t> </a:t>
            </a:r>
            <a:r>
              <a:rPr kern="1200" dirty="0">
                <a:solidFill>
                  <a:prstClr val="black"/>
                </a:solidFill>
                <a:latin typeface="Cambria Math"/>
                <a:cs typeface="Cambria Math"/>
              </a:rPr>
              <a:t>𝑡𝑟𝑢𝑒</a:t>
            </a:r>
            <a:r>
              <a:rPr kern="1200" dirty="0">
                <a:solidFill>
                  <a:prstClr val="black"/>
                </a:solidFill>
                <a:latin typeface="Palatino Linotype"/>
                <a:cs typeface="Palatino Linotype"/>
              </a:rPr>
              <a:t>/</a:t>
            </a:r>
            <a:r>
              <a:rPr kern="1200" dirty="0">
                <a:solidFill>
                  <a:prstClr val="black"/>
                </a:solidFill>
                <a:latin typeface="Cambria Math"/>
                <a:cs typeface="Cambria Math"/>
              </a:rPr>
              <a:t>𝑓𝑎𝑙𝑠𝑒</a:t>
            </a:r>
            <a:r>
              <a:rPr kern="1200" spc="85" dirty="0">
                <a:solidFill>
                  <a:prstClr val="black"/>
                </a:solidFill>
                <a:latin typeface="Cambria Math"/>
                <a:cs typeface="Cambria Math"/>
              </a:rPr>
              <a:t> </a:t>
            </a:r>
            <a:r>
              <a:rPr kern="1200" dirty="0">
                <a:solidFill>
                  <a:prstClr val="black"/>
                </a:solidFill>
                <a:latin typeface="Palatino Linotype"/>
                <a:cs typeface="Palatino Linotype"/>
              </a:rPr>
              <a:t>attributes</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in</a:t>
            </a:r>
            <a:r>
              <a:rPr kern="1200" dirty="0">
                <a:solidFill>
                  <a:prstClr val="black"/>
                </a:solidFill>
                <a:latin typeface="Palatino Linotype"/>
                <a:cs typeface="Palatino Linotype"/>
              </a:rPr>
              <a:t> (1)</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correspond</a:t>
            </a:r>
            <a:r>
              <a:rPr kern="1200" spc="10" dirty="0">
                <a:solidFill>
                  <a:prstClr val="black"/>
                </a:solidFill>
                <a:latin typeface="Palatino Linotype"/>
                <a:cs typeface="Palatino Linotype"/>
              </a:rPr>
              <a:t> </a:t>
            </a:r>
            <a:r>
              <a:rPr kern="1200" spc="-5" dirty="0">
                <a:solidFill>
                  <a:prstClr val="black"/>
                </a:solidFill>
                <a:latin typeface="Palatino Linotype"/>
                <a:cs typeface="Palatino Linotype"/>
              </a:rPr>
              <a:t>to</a:t>
            </a:r>
            <a:r>
              <a:rPr kern="1200" spc="5" dirty="0">
                <a:solidFill>
                  <a:prstClr val="black"/>
                </a:solidFill>
                <a:latin typeface="Palatino Linotype"/>
                <a:cs typeface="Palatino Linotype"/>
              </a:rPr>
              <a:t> </a:t>
            </a:r>
            <a:r>
              <a:rPr kern="1200" spc="-5" dirty="0">
                <a:solidFill>
                  <a:prstClr val="black"/>
                </a:solidFill>
                <a:latin typeface="Palatino Linotype"/>
                <a:cs typeface="Palatino Linotype"/>
              </a:rPr>
              <a:t>the </a:t>
            </a:r>
            <a:r>
              <a:rPr kern="1200" spc="-434" dirty="0">
                <a:solidFill>
                  <a:prstClr val="black"/>
                </a:solidFill>
                <a:latin typeface="Palatino Linotype"/>
                <a:cs typeface="Palatino Linotype"/>
              </a:rPr>
              <a:t> </a:t>
            </a:r>
            <a:r>
              <a:rPr kern="1200" spc="-5" dirty="0">
                <a:solidFill>
                  <a:prstClr val="black"/>
                </a:solidFill>
                <a:latin typeface="Palatino Linotype"/>
                <a:cs typeface="Palatino Linotype"/>
              </a:rPr>
              <a:t>assignments to</a:t>
            </a:r>
            <a:r>
              <a:rPr kern="1200" spc="10" dirty="0">
                <a:solidFill>
                  <a:prstClr val="black"/>
                </a:solidFill>
                <a:latin typeface="Palatino Linotype"/>
                <a:cs typeface="Palatino Linotype"/>
              </a:rPr>
              <a:t> </a:t>
            </a:r>
            <a:r>
              <a:rPr kern="1200" dirty="0">
                <a:solidFill>
                  <a:prstClr val="black"/>
                </a:solidFill>
                <a:latin typeface="Cambria Math"/>
                <a:cs typeface="Cambria Math"/>
              </a:rPr>
              <a:t>𝑡𝑟𝑢𝑒𝑙𝑖𝑠𝑡</a:t>
            </a:r>
            <a:r>
              <a:rPr kern="1200" dirty="0">
                <a:solidFill>
                  <a:prstClr val="black"/>
                </a:solidFill>
                <a:latin typeface="Palatino Linotype"/>
                <a:cs typeface="Palatino Linotype"/>
              </a:rPr>
              <a:t>/</a:t>
            </a:r>
            <a:r>
              <a:rPr kern="1200" dirty="0">
                <a:solidFill>
                  <a:prstClr val="black"/>
                </a:solidFill>
                <a:latin typeface="Cambria Math"/>
                <a:cs typeface="Cambria Math"/>
              </a:rPr>
              <a:t>𝑓𝑎𝑙𝑠𝑒𝑙𝑖𝑠𝑡</a:t>
            </a:r>
            <a:r>
              <a:rPr kern="1200" spc="120" dirty="0">
                <a:solidFill>
                  <a:prstClr val="black"/>
                </a:solidFill>
                <a:latin typeface="Cambria Math"/>
                <a:cs typeface="Cambria Math"/>
              </a:rPr>
              <a:t> </a:t>
            </a:r>
            <a:r>
              <a:rPr kern="1200" dirty="0">
                <a:solidFill>
                  <a:prstClr val="black"/>
                </a:solidFill>
                <a:latin typeface="Palatino Linotype"/>
                <a:cs typeface="Palatino Linotype"/>
              </a:rPr>
              <a:t>or</a:t>
            </a:r>
            <a:r>
              <a:rPr kern="1200" spc="5" dirty="0">
                <a:solidFill>
                  <a:prstClr val="black"/>
                </a:solidFill>
                <a:latin typeface="Palatino Linotype"/>
                <a:cs typeface="Palatino Linotype"/>
              </a:rPr>
              <a:t> </a:t>
            </a:r>
            <a:r>
              <a:rPr kern="1200" spc="-5" dirty="0">
                <a:solidFill>
                  <a:prstClr val="black"/>
                </a:solidFill>
                <a:latin typeface="Cambria Math"/>
                <a:cs typeface="Cambria Math"/>
              </a:rPr>
              <a:t>𝑚𝑒𝑟𝑔𝑒</a:t>
            </a:r>
            <a:r>
              <a:rPr kern="1200" spc="75" dirty="0">
                <a:solidFill>
                  <a:prstClr val="black"/>
                </a:solidFill>
                <a:latin typeface="Cambria Math"/>
                <a:cs typeface="Cambria Math"/>
              </a:rPr>
              <a:t> </a:t>
            </a:r>
            <a:r>
              <a:rPr kern="1200" spc="-5" dirty="0">
                <a:solidFill>
                  <a:prstClr val="black"/>
                </a:solidFill>
                <a:latin typeface="Palatino Linotype"/>
                <a:cs typeface="Palatino Linotype"/>
              </a:rPr>
              <a:t>in</a:t>
            </a:r>
            <a:r>
              <a:rPr kern="1200" spc="5" dirty="0">
                <a:solidFill>
                  <a:prstClr val="black"/>
                </a:solidFill>
                <a:latin typeface="Palatino Linotype"/>
                <a:cs typeface="Palatino Linotype"/>
              </a:rPr>
              <a:t> </a:t>
            </a:r>
            <a:r>
              <a:rPr kern="1200" dirty="0">
                <a:solidFill>
                  <a:prstClr val="black"/>
                </a:solidFill>
                <a:latin typeface="Palatino Linotype"/>
                <a:cs typeface="Palatino Linotype"/>
              </a:rPr>
              <a:t>(2)</a:t>
            </a:r>
          </a:p>
        </p:txBody>
      </p:sp>
      <p:grpSp>
        <p:nvGrpSpPr>
          <p:cNvPr id="17" name="object 4">
            <a:extLst>
              <a:ext uri="{FF2B5EF4-FFF2-40B4-BE49-F238E27FC236}">
                <a16:creationId xmlns:a16="http://schemas.microsoft.com/office/drawing/2014/main" id="{BDFF0F71-D7E9-0A83-306E-9D303BD3EE4A}"/>
              </a:ext>
            </a:extLst>
          </p:cNvPr>
          <p:cNvGrpSpPr/>
          <p:nvPr/>
        </p:nvGrpSpPr>
        <p:grpSpPr>
          <a:xfrm>
            <a:off x="3497135" y="3364547"/>
            <a:ext cx="4714875" cy="738505"/>
            <a:chOff x="3497135" y="3364547"/>
            <a:chExt cx="4714875" cy="738505"/>
          </a:xfrm>
        </p:grpSpPr>
        <p:pic>
          <p:nvPicPr>
            <p:cNvPr id="18" name="object 5">
              <a:extLst>
                <a:ext uri="{FF2B5EF4-FFF2-40B4-BE49-F238E27FC236}">
                  <a16:creationId xmlns:a16="http://schemas.microsoft.com/office/drawing/2014/main" id="{95345322-9E51-8EB7-2E73-4A5FBDFF8418}"/>
                </a:ext>
              </a:extLst>
            </p:cNvPr>
            <p:cNvPicPr/>
            <p:nvPr/>
          </p:nvPicPr>
          <p:blipFill>
            <a:blip r:embed="rId3" cstate="print"/>
            <a:stretch>
              <a:fillRect/>
            </a:stretch>
          </p:blipFill>
          <p:spPr>
            <a:xfrm>
              <a:off x="3557064" y="3477669"/>
              <a:ext cx="4384244" cy="523884"/>
            </a:xfrm>
            <a:prstGeom prst="rect">
              <a:avLst/>
            </a:prstGeom>
          </p:spPr>
        </p:pic>
        <p:sp>
          <p:nvSpPr>
            <p:cNvPr id="19" name="object 6">
              <a:extLst>
                <a:ext uri="{FF2B5EF4-FFF2-40B4-BE49-F238E27FC236}">
                  <a16:creationId xmlns:a16="http://schemas.microsoft.com/office/drawing/2014/main" id="{961A3E2D-9EE3-9C28-E5D7-A9DC02CD6EAF}"/>
                </a:ext>
              </a:extLst>
            </p:cNvPr>
            <p:cNvSpPr/>
            <p:nvPr/>
          </p:nvSpPr>
          <p:spPr>
            <a:xfrm>
              <a:off x="3501897" y="3369309"/>
              <a:ext cx="4705350" cy="728980"/>
            </a:xfrm>
            <a:custGeom>
              <a:avLst/>
              <a:gdLst/>
              <a:ahLst/>
              <a:cxnLst/>
              <a:rect l="l" t="t" r="r" b="b"/>
              <a:pathLst>
                <a:path w="4705350" h="728979">
                  <a:moveTo>
                    <a:pt x="0" y="728852"/>
                  </a:moveTo>
                  <a:lnTo>
                    <a:pt x="4704969" y="728852"/>
                  </a:lnTo>
                  <a:lnTo>
                    <a:pt x="4704969" y="0"/>
                  </a:lnTo>
                  <a:lnTo>
                    <a:pt x="0" y="0"/>
                  </a:lnTo>
                  <a:lnTo>
                    <a:pt x="0" y="728852"/>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0" name="object 7">
            <a:extLst>
              <a:ext uri="{FF2B5EF4-FFF2-40B4-BE49-F238E27FC236}">
                <a16:creationId xmlns:a16="http://schemas.microsoft.com/office/drawing/2014/main" id="{E433BF86-43FA-C072-04CA-0B225EF4DFB2}"/>
              </a:ext>
            </a:extLst>
          </p:cNvPr>
          <p:cNvSpPr txBox="1"/>
          <p:nvPr/>
        </p:nvSpPr>
        <p:spPr>
          <a:xfrm>
            <a:off x="965708" y="2088642"/>
            <a:ext cx="2510790" cy="269240"/>
          </a:xfrm>
          <a:prstGeom prst="rect">
            <a:avLst/>
          </a:prstGeom>
        </p:spPr>
        <p:txBody>
          <a:bodyPr vert="horz" wrap="square" lIns="0" tIns="12065" rIns="0" bIns="0" rtlCol="0">
            <a:spAutoFit/>
          </a:bodyPr>
          <a:lstStyle/>
          <a:p>
            <a:pPr marL="12700" rtl="0">
              <a:spcBef>
                <a:spcPts val="95"/>
              </a:spcBef>
            </a:pPr>
            <a:r>
              <a:rPr sz="1600" kern="1200" spc="-5" dirty="0">
                <a:solidFill>
                  <a:srgbClr val="0431FF"/>
                </a:solidFill>
                <a:latin typeface="Palatino Linotype"/>
                <a:cs typeface="Palatino Linotype"/>
              </a:rPr>
              <a:t>(1)</a:t>
            </a:r>
            <a:r>
              <a:rPr sz="1600" kern="1200" spc="-10" dirty="0">
                <a:solidFill>
                  <a:srgbClr val="0431FF"/>
                </a:solidFill>
                <a:latin typeface="Palatino Linotype"/>
                <a:cs typeface="Palatino Linotype"/>
              </a:rPr>
              <a:t> </a:t>
            </a:r>
            <a:r>
              <a:rPr sz="1600" kern="1200" spc="-5" dirty="0">
                <a:solidFill>
                  <a:srgbClr val="0431FF"/>
                </a:solidFill>
                <a:latin typeface="Palatino Linotype"/>
                <a:cs typeface="Palatino Linotype"/>
              </a:rPr>
              <a:t>Non-backpatching</a:t>
            </a:r>
            <a:r>
              <a:rPr sz="1600" kern="1200" spc="20" dirty="0">
                <a:solidFill>
                  <a:srgbClr val="0431FF"/>
                </a:solidFill>
                <a:latin typeface="Palatino Linotype"/>
                <a:cs typeface="Palatino Linotype"/>
              </a:rPr>
              <a:t> </a:t>
            </a:r>
            <a:r>
              <a:rPr sz="1600" kern="1200" spc="-5" dirty="0">
                <a:solidFill>
                  <a:srgbClr val="0431FF"/>
                </a:solidFill>
                <a:latin typeface="Palatino Linotype"/>
                <a:cs typeface="Palatino Linotype"/>
              </a:rPr>
              <a:t>SDD:</a:t>
            </a:r>
            <a:endParaRPr sz="1600" kern="1200">
              <a:solidFill>
                <a:prstClr val="black"/>
              </a:solidFill>
              <a:latin typeface="Palatino Linotype"/>
              <a:cs typeface="Palatino Linotype"/>
            </a:endParaRPr>
          </a:p>
        </p:txBody>
      </p:sp>
      <p:sp>
        <p:nvSpPr>
          <p:cNvPr id="21" name="object 8">
            <a:extLst>
              <a:ext uri="{FF2B5EF4-FFF2-40B4-BE49-F238E27FC236}">
                <a16:creationId xmlns:a16="http://schemas.microsoft.com/office/drawing/2014/main" id="{BBC2B8ED-4C52-22C7-8984-E95F5F7C4F15}"/>
              </a:ext>
            </a:extLst>
          </p:cNvPr>
          <p:cNvSpPr txBox="1"/>
          <p:nvPr/>
        </p:nvSpPr>
        <p:spPr>
          <a:xfrm>
            <a:off x="965708" y="3547998"/>
            <a:ext cx="2300605" cy="269240"/>
          </a:xfrm>
          <a:prstGeom prst="rect">
            <a:avLst/>
          </a:prstGeom>
        </p:spPr>
        <p:txBody>
          <a:bodyPr vert="horz" wrap="square" lIns="0" tIns="12065" rIns="0" bIns="0" rtlCol="0">
            <a:spAutoFit/>
          </a:bodyPr>
          <a:lstStyle/>
          <a:p>
            <a:pPr marL="12700" rtl="0">
              <a:spcBef>
                <a:spcPts val="95"/>
              </a:spcBef>
            </a:pPr>
            <a:r>
              <a:rPr sz="1600" kern="1200" spc="-5" dirty="0">
                <a:solidFill>
                  <a:srgbClr val="0431FF"/>
                </a:solidFill>
                <a:latin typeface="Palatino Linotype"/>
                <a:cs typeface="Palatino Linotype"/>
              </a:rPr>
              <a:t>(2)</a:t>
            </a:r>
            <a:r>
              <a:rPr sz="1600" kern="1200" spc="-10" dirty="0">
                <a:solidFill>
                  <a:srgbClr val="0431FF"/>
                </a:solidFill>
                <a:latin typeface="Palatino Linotype"/>
                <a:cs typeface="Palatino Linotype"/>
              </a:rPr>
              <a:t> </a:t>
            </a:r>
            <a:r>
              <a:rPr sz="1600" kern="1200" spc="-5" dirty="0">
                <a:solidFill>
                  <a:srgbClr val="0431FF"/>
                </a:solidFill>
                <a:latin typeface="Palatino Linotype"/>
                <a:cs typeface="Palatino Linotype"/>
              </a:rPr>
              <a:t>Backpatching scheme:</a:t>
            </a:r>
            <a:endParaRPr sz="1600" kern="1200">
              <a:solidFill>
                <a:prstClr val="black"/>
              </a:solidFill>
              <a:latin typeface="Palatino Linotype"/>
              <a:cs typeface="Palatino Linotype"/>
            </a:endParaRPr>
          </a:p>
        </p:txBody>
      </p:sp>
      <p:grpSp>
        <p:nvGrpSpPr>
          <p:cNvPr id="22" name="object 9">
            <a:extLst>
              <a:ext uri="{FF2B5EF4-FFF2-40B4-BE49-F238E27FC236}">
                <a16:creationId xmlns:a16="http://schemas.microsoft.com/office/drawing/2014/main" id="{E1B1D8B1-B37B-366B-A0C9-98A76A9D23D8}"/>
              </a:ext>
            </a:extLst>
          </p:cNvPr>
          <p:cNvGrpSpPr/>
          <p:nvPr/>
        </p:nvGrpSpPr>
        <p:grpSpPr>
          <a:xfrm>
            <a:off x="3971099" y="1785683"/>
            <a:ext cx="4072890" cy="901700"/>
            <a:chOff x="3971099" y="1785683"/>
            <a:chExt cx="4072890" cy="901700"/>
          </a:xfrm>
        </p:grpSpPr>
        <p:pic>
          <p:nvPicPr>
            <p:cNvPr id="23" name="object 10">
              <a:extLst>
                <a:ext uri="{FF2B5EF4-FFF2-40B4-BE49-F238E27FC236}">
                  <a16:creationId xmlns:a16="http://schemas.microsoft.com/office/drawing/2014/main" id="{FD38CD74-DD79-98CF-7D91-F8241E1875AD}"/>
                </a:ext>
              </a:extLst>
            </p:cNvPr>
            <p:cNvPicPr/>
            <p:nvPr/>
          </p:nvPicPr>
          <p:blipFill>
            <a:blip r:embed="rId4" cstate="print"/>
            <a:stretch>
              <a:fillRect/>
            </a:stretch>
          </p:blipFill>
          <p:spPr>
            <a:xfrm>
              <a:off x="4105038" y="1795271"/>
              <a:ext cx="3805138" cy="882396"/>
            </a:xfrm>
            <a:prstGeom prst="rect">
              <a:avLst/>
            </a:prstGeom>
          </p:spPr>
        </p:pic>
        <p:sp>
          <p:nvSpPr>
            <p:cNvPr id="24" name="object 11">
              <a:extLst>
                <a:ext uri="{FF2B5EF4-FFF2-40B4-BE49-F238E27FC236}">
                  <a16:creationId xmlns:a16="http://schemas.microsoft.com/office/drawing/2014/main" id="{0B8AA5A9-F268-1D8A-1A4F-A91359B1463C}"/>
                </a:ext>
              </a:extLst>
            </p:cNvPr>
            <p:cNvSpPr/>
            <p:nvPr/>
          </p:nvSpPr>
          <p:spPr>
            <a:xfrm>
              <a:off x="3975861" y="1790445"/>
              <a:ext cx="4063365" cy="892175"/>
            </a:xfrm>
            <a:custGeom>
              <a:avLst/>
              <a:gdLst/>
              <a:ahLst/>
              <a:cxnLst/>
              <a:rect l="l" t="t" r="r" b="b"/>
              <a:pathLst>
                <a:path w="4063365" h="892175">
                  <a:moveTo>
                    <a:pt x="0" y="891921"/>
                  </a:moveTo>
                  <a:lnTo>
                    <a:pt x="4063365" y="891921"/>
                  </a:lnTo>
                  <a:lnTo>
                    <a:pt x="4063365" y="0"/>
                  </a:lnTo>
                  <a:lnTo>
                    <a:pt x="0" y="0"/>
                  </a:lnTo>
                  <a:lnTo>
                    <a:pt x="0" y="891921"/>
                  </a:lnTo>
                  <a:close/>
                </a:path>
              </a:pathLst>
            </a:custGeom>
            <a:ln w="9524">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Tree>
    <p:extLst>
      <p:ext uri="{BB962C8B-B14F-4D97-AF65-F5344CB8AC3E}">
        <p14:creationId xmlns:p14="http://schemas.microsoft.com/office/powerpoint/2010/main" val="133271033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102</a:t>
            </a:fld>
            <a:endParaRPr lang="en-US"/>
          </a:p>
        </p:txBody>
      </p:sp>
      <p:sp>
        <p:nvSpPr>
          <p:cNvPr id="16" name="object 2">
            <a:extLst>
              <a:ext uri="{FF2B5EF4-FFF2-40B4-BE49-F238E27FC236}">
                <a16:creationId xmlns:a16="http://schemas.microsoft.com/office/drawing/2014/main" id="{CDFE47BD-F038-FA81-793E-5F11D40E1204}"/>
              </a:ext>
            </a:extLst>
          </p:cNvPr>
          <p:cNvSpPr txBox="1">
            <a:spLocks/>
          </p:cNvSpPr>
          <p:nvPr/>
        </p:nvSpPr>
        <p:spPr>
          <a:xfrm>
            <a:off x="707542" y="538429"/>
            <a:ext cx="7632065" cy="605790"/>
          </a:xfrm>
          <a:prstGeom prst="rect">
            <a:avLst/>
          </a:prstGeom>
        </p:spPr>
        <p:txBody>
          <a:bodyPr vert="horz" wrap="square" lIns="0" tIns="1333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5"/>
              </a:spcBef>
              <a:spcAft>
                <a:spcPts val="0"/>
              </a:spcAft>
              <a:buClrTx/>
              <a:buSzTx/>
              <a:buFontTx/>
              <a:buNone/>
              <a:tabLst/>
              <a:defRPr/>
            </a:pPr>
            <a:r>
              <a:rPr kumimoji="0" lang="en-US" sz="3800" b="1" i="0" u="none" strike="noStrike" kern="0" cap="none" spc="5" normalizeH="0" baseline="0" noProof="0">
                <a:ln>
                  <a:noFill/>
                </a:ln>
                <a:solidFill>
                  <a:sysClr val="windowText" lastClr="000000"/>
                </a:solidFill>
                <a:effectLst/>
                <a:uLnTx/>
                <a:uFillTx/>
                <a:latin typeface="Palatino Linotype"/>
                <a:ea typeface="+mj-ea"/>
              </a:rPr>
              <a:t>Example</a:t>
            </a:r>
            <a:r>
              <a:rPr kumimoji="0" lang="en-US" sz="3800" b="1" i="0" u="none" strike="noStrike" kern="0" cap="none" spc="-55"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a:t>
            </a:r>
            <a:r>
              <a:rPr kumimoji="0" lang="en-US" sz="3800" b="1" i="0" u="none" strike="noStrike" kern="0" cap="none" spc="-5" normalizeH="0" baseline="0" noProof="0">
                <a:ln>
                  <a:noFill/>
                </a:ln>
                <a:solidFill>
                  <a:sysClr val="windowText" lastClr="000000"/>
                </a:solidFill>
                <a:effectLst/>
                <a:uLnTx/>
                <a:uFillTx/>
                <a:latin typeface="Palatino Linotype"/>
                <a:ea typeface="+mj-ea"/>
              </a:rPr>
              <a:t> Boolean</a:t>
            </a:r>
            <a:r>
              <a:rPr kumimoji="0" lang="en-US" sz="3800" b="1" i="0" u="none" strike="noStrike" kern="0" cap="none" spc="-30"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Expressions</a:t>
            </a:r>
            <a:r>
              <a:rPr kumimoji="0" lang="en-US" sz="3800" b="1" i="0" u="none" strike="noStrike" kern="0" cap="none" spc="-45"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(1)</a:t>
            </a:r>
          </a:p>
        </p:txBody>
      </p:sp>
      <p:sp>
        <p:nvSpPr>
          <p:cNvPr id="17" name="object 3">
            <a:extLst>
              <a:ext uri="{FF2B5EF4-FFF2-40B4-BE49-F238E27FC236}">
                <a16:creationId xmlns:a16="http://schemas.microsoft.com/office/drawing/2014/main" id="{444B6E5F-7C78-F1F6-F371-1EA0D9C8962A}"/>
              </a:ext>
            </a:extLst>
          </p:cNvPr>
          <p:cNvSpPr txBox="1"/>
          <p:nvPr/>
        </p:nvSpPr>
        <p:spPr>
          <a:xfrm>
            <a:off x="707542" y="1593316"/>
            <a:ext cx="7063740" cy="1946275"/>
          </a:xfrm>
          <a:prstGeom prst="rect">
            <a:avLst/>
          </a:prstGeom>
        </p:spPr>
        <p:txBody>
          <a:bodyPr vert="horz" wrap="square" lIns="0" tIns="12700" rIns="0" bIns="0" rtlCol="0">
            <a:spAutoFit/>
          </a:bodyPr>
          <a:lstStyle/>
          <a:p>
            <a:pPr marL="242570" marR="5080" indent="-230504" rtl="0">
              <a:lnSpc>
                <a:spcPct val="120000"/>
              </a:lnSpc>
              <a:spcBef>
                <a:spcPts val="100"/>
              </a:spcBef>
              <a:buFont typeface="Arial MT"/>
              <a:buChar char="•"/>
              <a:tabLst>
                <a:tab pos="242570" algn="l"/>
                <a:tab pos="243204" algn="l"/>
              </a:tabLst>
            </a:pPr>
            <a:r>
              <a:rPr sz="2000" kern="1200" spc="-5" dirty="0">
                <a:solidFill>
                  <a:prstClr val="black"/>
                </a:solidFill>
                <a:latin typeface="Palatino Linotype"/>
                <a:cs typeface="Palatino Linotype"/>
              </a:rPr>
              <a:t>The </a:t>
            </a:r>
            <a:r>
              <a:rPr sz="2000" kern="1200" dirty="0">
                <a:solidFill>
                  <a:prstClr val="black"/>
                </a:solidFill>
                <a:latin typeface="Palatino Linotype"/>
                <a:cs typeface="Palatino Linotype"/>
              </a:rPr>
              <a:t>earlier SDT is a </a:t>
            </a:r>
            <a:r>
              <a:rPr sz="2000" kern="1200" spc="-5" dirty="0">
                <a:solidFill>
                  <a:srgbClr val="FF0000"/>
                </a:solidFill>
                <a:latin typeface="Palatino Linotype"/>
                <a:cs typeface="Palatino Linotype"/>
              </a:rPr>
              <a:t>postfix </a:t>
            </a:r>
            <a:r>
              <a:rPr sz="2000" kern="1200" spc="-35" dirty="0">
                <a:solidFill>
                  <a:srgbClr val="FF0000"/>
                </a:solidFill>
                <a:latin typeface="Palatino Linotype"/>
                <a:cs typeface="Palatino Linotype"/>
              </a:rPr>
              <a:t>SDT</a:t>
            </a:r>
            <a:r>
              <a:rPr sz="2000" kern="1200" spc="-35" dirty="0">
                <a:solidFill>
                  <a:prstClr val="black"/>
                </a:solidFill>
                <a:latin typeface="Palatino Linotype"/>
                <a:cs typeface="Palatino Linotype"/>
              </a:rPr>
              <a:t>. </a:t>
            </a:r>
            <a:r>
              <a:rPr sz="2000" kern="1200" spc="-5" dirty="0">
                <a:solidFill>
                  <a:prstClr val="black"/>
                </a:solidFill>
                <a:latin typeface="Palatino Linotype"/>
                <a:cs typeface="Palatino Linotype"/>
              </a:rPr>
              <a:t>The </a:t>
            </a:r>
            <a:r>
              <a:rPr sz="2000" kern="1200" dirty="0">
                <a:solidFill>
                  <a:prstClr val="black"/>
                </a:solidFill>
                <a:latin typeface="Palatino Linotype"/>
                <a:cs typeface="Palatino Linotype"/>
              </a:rPr>
              <a:t>semantic actions can </a:t>
            </a:r>
            <a:r>
              <a:rPr sz="2000" kern="1200" spc="-5" dirty="0">
                <a:solidFill>
                  <a:prstClr val="black"/>
                </a:solidFill>
                <a:latin typeface="Palatino Linotype"/>
                <a:cs typeface="Palatino Linotype"/>
              </a:rPr>
              <a:t>be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performed</a:t>
            </a:r>
            <a:r>
              <a:rPr sz="2000" kern="1200" spc="-30" dirty="0">
                <a:solidFill>
                  <a:prstClr val="black"/>
                </a:solidFill>
                <a:latin typeface="Palatino Linotype"/>
                <a:cs typeface="Palatino Linotype"/>
              </a:rPr>
              <a:t> </a:t>
            </a:r>
            <a:r>
              <a:rPr sz="2000" kern="1200" dirty="0">
                <a:solidFill>
                  <a:prstClr val="black"/>
                </a:solidFill>
                <a:latin typeface="Palatino Linotype"/>
                <a:cs typeface="Palatino Linotype"/>
              </a:rPr>
              <a:t>during</a:t>
            </a:r>
            <a:r>
              <a:rPr sz="2000" kern="1200" spc="-25" dirty="0">
                <a:solidFill>
                  <a:prstClr val="black"/>
                </a:solidFill>
                <a:latin typeface="Palatino Linotype"/>
                <a:cs typeface="Palatino Linotype"/>
              </a:rPr>
              <a:t> </a:t>
            </a: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bottom-up</a:t>
            </a:r>
            <a:r>
              <a:rPr sz="2000" kern="1200" spc="-25" dirty="0">
                <a:solidFill>
                  <a:prstClr val="black"/>
                </a:solidFill>
                <a:latin typeface="Palatino Linotype"/>
                <a:cs typeface="Palatino Linotype"/>
              </a:rPr>
              <a:t> </a:t>
            </a:r>
            <a:r>
              <a:rPr sz="2000" kern="1200" spc="-5" dirty="0">
                <a:solidFill>
                  <a:prstClr val="black"/>
                </a:solidFill>
                <a:latin typeface="Palatino Linotype"/>
                <a:cs typeface="Palatino Linotype"/>
              </a:rPr>
              <a:t>parse.</a:t>
            </a:r>
            <a:endParaRPr sz="2000" kern="1200">
              <a:solidFill>
                <a:prstClr val="black"/>
              </a:solidFill>
              <a:latin typeface="Palatino Linotype"/>
              <a:cs typeface="Palatino Linotype"/>
            </a:endParaRPr>
          </a:p>
          <a:p>
            <a:pPr rtl="0">
              <a:spcBef>
                <a:spcPts val="50"/>
              </a:spcBef>
              <a:buFont typeface="Arial MT"/>
              <a:buChar char="•"/>
            </a:pPr>
            <a:endParaRPr sz="1650" kern="1200">
              <a:solidFill>
                <a:prstClr val="black"/>
              </a:solidFill>
              <a:latin typeface="Palatino Linotype"/>
              <a:cs typeface="Palatino Linotype"/>
            </a:endParaRPr>
          </a:p>
          <a:p>
            <a:pPr marL="242570" indent="-230504" rtl="0">
              <a:buFont typeface="Arial MT"/>
              <a:buChar char="•"/>
              <a:tabLst>
                <a:tab pos="242570" algn="l"/>
                <a:tab pos="243204" algn="l"/>
                <a:tab pos="2809240" algn="l"/>
              </a:tabLst>
            </a:pPr>
            <a:r>
              <a:rPr sz="2000" kern="1200" dirty="0">
                <a:solidFill>
                  <a:prstClr val="black"/>
                </a:solidFill>
                <a:latin typeface="Palatino Linotype"/>
                <a:cs typeface="Palatino Linotype"/>
              </a:rPr>
              <a:t>Boolean</a:t>
            </a:r>
            <a:r>
              <a:rPr sz="2000" kern="1200" spc="-20" dirty="0">
                <a:solidFill>
                  <a:prstClr val="black"/>
                </a:solidFill>
                <a:latin typeface="Palatino Linotype"/>
                <a:cs typeface="Palatino Linotype"/>
              </a:rPr>
              <a:t> </a:t>
            </a:r>
            <a:r>
              <a:rPr sz="2000" kern="1200" dirty="0">
                <a:solidFill>
                  <a:prstClr val="black"/>
                </a:solidFill>
                <a:latin typeface="Palatino Linotype"/>
                <a:cs typeface="Palatino Linotype"/>
              </a:rPr>
              <a:t>expression:</a:t>
            </a:r>
            <a:r>
              <a:rPr sz="2000" kern="1200" spc="5" dirty="0">
                <a:solidFill>
                  <a:prstClr val="black"/>
                </a:solidFill>
                <a:latin typeface="Palatino Linotype"/>
                <a:cs typeface="Palatino Linotype"/>
              </a:rPr>
              <a:t> </a:t>
            </a:r>
            <a:r>
              <a:rPr sz="2000" kern="1200" dirty="0">
                <a:solidFill>
                  <a:srgbClr val="FF0000"/>
                </a:solidFill>
                <a:latin typeface="Cambria Math"/>
                <a:cs typeface="Cambria Math"/>
              </a:rPr>
              <a:t>𝑥	&lt;</a:t>
            </a:r>
            <a:r>
              <a:rPr sz="2000" kern="1200" spc="105" dirty="0">
                <a:solidFill>
                  <a:srgbClr val="FF0000"/>
                </a:solidFill>
                <a:latin typeface="Cambria Math"/>
                <a:cs typeface="Cambria Math"/>
              </a:rPr>
              <a:t> </a:t>
            </a:r>
            <a:r>
              <a:rPr sz="2000" kern="1200" spc="-5" dirty="0">
                <a:solidFill>
                  <a:srgbClr val="FF0000"/>
                </a:solidFill>
                <a:latin typeface="Cambria Math"/>
                <a:cs typeface="Cambria Math"/>
              </a:rPr>
              <a:t>100</a:t>
            </a:r>
            <a:r>
              <a:rPr sz="2000" kern="1200" spc="114" dirty="0">
                <a:solidFill>
                  <a:srgbClr val="FF0000"/>
                </a:solidFill>
                <a:latin typeface="Cambria Math"/>
                <a:cs typeface="Cambria Math"/>
              </a:rPr>
              <a:t> </a:t>
            </a:r>
            <a:r>
              <a:rPr sz="2000" kern="1200" dirty="0">
                <a:solidFill>
                  <a:srgbClr val="FF0000"/>
                </a:solidFill>
                <a:latin typeface="Cambria Math"/>
                <a:cs typeface="Cambria Math"/>
              </a:rPr>
              <a:t>∥</a:t>
            </a:r>
            <a:r>
              <a:rPr sz="2000" kern="1200" spc="100" dirty="0">
                <a:solidFill>
                  <a:srgbClr val="FF0000"/>
                </a:solidFill>
                <a:latin typeface="Cambria Math"/>
                <a:cs typeface="Cambria Math"/>
              </a:rPr>
              <a:t> </a:t>
            </a:r>
            <a:r>
              <a:rPr sz="2000" kern="1200" dirty="0">
                <a:solidFill>
                  <a:srgbClr val="FF0000"/>
                </a:solidFill>
                <a:latin typeface="Cambria Math"/>
                <a:cs typeface="Cambria Math"/>
              </a:rPr>
              <a:t>𝑥</a:t>
            </a:r>
            <a:r>
              <a:rPr sz="2000" kern="1200" spc="165" dirty="0">
                <a:solidFill>
                  <a:srgbClr val="FF0000"/>
                </a:solidFill>
                <a:latin typeface="Cambria Math"/>
                <a:cs typeface="Cambria Math"/>
              </a:rPr>
              <a:t> </a:t>
            </a:r>
            <a:r>
              <a:rPr sz="2000" kern="1200" dirty="0">
                <a:solidFill>
                  <a:srgbClr val="FF0000"/>
                </a:solidFill>
                <a:latin typeface="Cambria Math"/>
                <a:cs typeface="Cambria Math"/>
              </a:rPr>
              <a:t>&gt;</a:t>
            </a:r>
            <a:r>
              <a:rPr sz="2000" kern="1200" spc="114" dirty="0">
                <a:solidFill>
                  <a:srgbClr val="FF0000"/>
                </a:solidFill>
                <a:latin typeface="Cambria Math"/>
                <a:cs typeface="Cambria Math"/>
              </a:rPr>
              <a:t> </a:t>
            </a:r>
            <a:r>
              <a:rPr sz="2000" kern="1200" spc="-5" dirty="0">
                <a:solidFill>
                  <a:srgbClr val="FF0000"/>
                </a:solidFill>
                <a:latin typeface="Cambria Math"/>
                <a:cs typeface="Cambria Math"/>
              </a:rPr>
              <a:t>200</a:t>
            </a:r>
            <a:r>
              <a:rPr sz="2000" kern="1200" spc="15" dirty="0">
                <a:solidFill>
                  <a:srgbClr val="FF0000"/>
                </a:solidFill>
                <a:latin typeface="Cambria Math"/>
                <a:cs typeface="Cambria Math"/>
              </a:rPr>
              <a:t> </a:t>
            </a:r>
            <a:r>
              <a:rPr sz="2000" kern="1200" dirty="0">
                <a:solidFill>
                  <a:srgbClr val="FF0000"/>
                </a:solidFill>
                <a:latin typeface="Cambria Math"/>
                <a:cs typeface="Cambria Math"/>
              </a:rPr>
              <a:t>&amp;&amp;</a:t>
            </a:r>
            <a:r>
              <a:rPr sz="2000" kern="1200" spc="-10" dirty="0">
                <a:solidFill>
                  <a:srgbClr val="FF0000"/>
                </a:solidFill>
                <a:latin typeface="Cambria Math"/>
                <a:cs typeface="Cambria Math"/>
              </a:rPr>
              <a:t> </a:t>
            </a:r>
            <a:r>
              <a:rPr sz="2000" kern="1200" dirty="0">
                <a:solidFill>
                  <a:srgbClr val="FF0000"/>
                </a:solidFill>
                <a:latin typeface="Cambria Math"/>
                <a:cs typeface="Cambria Math"/>
              </a:rPr>
              <a:t>𝑥</a:t>
            </a:r>
            <a:r>
              <a:rPr sz="2000" kern="1200" spc="35" dirty="0">
                <a:solidFill>
                  <a:srgbClr val="FF0000"/>
                </a:solidFill>
                <a:latin typeface="Cambria Math"/>
                <a:cs typeface="Cambria Math"/>
              </a:rPr>
              <a:t> </a:t>
            </a:r>
            <a:r>
              <a:rPr sz="2000" kern="1200" dirty="0">
                <a:solidFill>
                  <a:srgbClr val="FF0000"/>
                </a:solidFill>
                <a:latin typeface="Cambria Math"/>
                <a:cs typeface="Cambria Math"/>
              </a:rPr>
              <a:t>!</a:t>
            </a:r>
            <a:r>
              <a:rPr sz="2000" kern="1200" spc="110" dirty="0">
                <a:solidFill>
                  <a:srgbClr val="FF0000"/>
                </a:solidFill>
                <a:latin typeface="Cambria Math"/>
                <a:cs typeface="Cambria Math"/>
              </a:rPr>
              <a:t> </a:t>
            </a:r>
            <a:r>
              <a:rPr sz="2000" kern="1200" dirty="0">
                <a:solidFill>
                  <a:srgbClr val="FF0000"/>
                </a:solidFill>
                <a:latin typeface="Cambria Math"/>
                <a:cs typeface="Cambria Math"/>
              </a:rPr>
              <a:t>=</a:t>
            </a:r>
            <a:r>
              <a:rPr sz="2000" kern="1200" spc="105" dirty="0">
                <a:solidFill>
                  <a:srgbClr val="FF0000"/>
                </a:solidFill>
                <a:latin typeface="Cambria Math"/>
                <a:cs typeface="Cambria Math"/>
              </a:rPr>
              <a:t> </a:t>
            </a:r>
            <a:r>
              <a:rPr sz="2000" kern="1200" dirty="0">
                <a:solidFill>
                  <a:srgbClr val="FF0000"/>
                </a:solidFill>
                <a:latin typeface="Cambria Math"/>
                <a:cs typeface="Cambria Math"/>
              </a:rPr>
              <a:t>𝑦</a:t>
            </a:r>
            <a:endParaRPr sz="2000" kern="1200">
              <a:solidFill>
                <a:prstClr val="black"/>
              </a:solidFill>
              <a:latin typeface="Cambria Math"/>
              <a:cs typeface="Cambria Math"/>
            </a:endParaRPr>
          </a:p>
          <a:p>
            <a:pPr rtl="0">
              <a:spcBef>
                <a:spcPts val="55"/>
              </a:spcBef>
              <a:buFont typeface="Arial MT"/>
              <a:buChar char="•"/>
            </a:pPr>
            <a:endParaRPr sz="1900" kern="1200">
              <a:solidFill>
                <a:prstClr val="black"/>
              </a:solidFill>
              <a:latin typeface="Cambria Math"/>
              <a:cs typeface="Cambria Math"/>
            </a:endParaRPr>
          </a:p>
          <a:p>
            <a:pPr marL="242570" indent="-230504" rtl="0">
              <a:buClr>
                <a:srgbClr val="000000"/>
              </a:buClr>
              <a:buFont typeface="Arial MT"/>
              <a:buChar char="•"/>
              <a:tabLst>
                <a:tab pos="242570" algn="l"/>
                <a:tab pos="243204" algn="l"/>
                <a:tab pos="2179955" algn="l"/>
                <a:tab pos="2498090" algn="l"/>
              </a:tabLst>
            </a:pPr>
            <a:r>
              <a:rPr sz="2000" b="1" kern="1200" dirty="0">
                <a:solidFill>
                  <a:srgbClr val="0431FF"/>
                </a:solidFill>
                <a:latin typeface="Palatino Linotype"/>
                <a:cs typeface="Palatino Linotype"/>
              </a:rPr>
              <a:t>Step</a:t>
            </a:r>
            <a:r>
              <a:rPr sz="2000" b="1" kern="1200" spc="-15" dirty="0">
                <a:solidFill>
                  <a:srgbClr val="0431FF"/>
                </a:solidFill>
                <a:latin typeface="Palatino Linotype"/>
                <a:cs typeface="Palatino Linotype"/>
              </a:rPr>
              <a:t> </a:t>
            </a:r>
            <a:r>
              <a:rPr sz="2000" b="1" kern="1200" dirty="0">
                <a:solidFill>
                  <a:srgbClr val="0431FF"/>
                </a:solidFill>
                <a:latin typeface="Palatino Linotype"/>
                <a:cs typeface="Palatino Linotype"/>
              </a:rPr>
              <a:t>1:</a:t>
            </a:r>
            <a:r>
              <a:rPr sz="2000" b="1" kern="1200" spc="10" dirty="0">
                <a:solidFill>
                  <a:srgbClr val="0431FF"/>
                </a:solidFill>
                <a:latin typeface="Palatino Linotype"/>
                <a:cs typeface="Palatino Linotype"/>
              </a:rPr>
              <a:t> </a:t>
            </a:r>
            <a:r>
              <a:rPr sz="2000" kern="1200" dirty="0">
                <a:solidFill>
                  <a:prstClr val="black"/>
                </a:solidFill>
                <a:latin typeface="Palatino Linotype"/>
                <a:cs typeface="Palatino Linotype"/>
              </a:rPr>
              <a:t>reduce </a:t>
            </a:r>
            <a:r>
              <a:rPr sz="2000" kern="1200" dirty="0">
                <a:solidFill>
                  <a:prstClr val="black"/>
                </a:solidFill>
                <a:latin typeface="Cambria Math"/>
                <a:cs typeface="Cambria Math"/>
              </a:rPr>
              <a:t>𝑥	&lt;	</a:t>
            </a:r>
            <a:r>
              <a:rPr sz="2000" kern="1200" spc="-5" dirty="0">
                <a:solidFill>
                  <a:prstClr val="black"/>
                </a:solidFill>
                <a:latin typeface="Cambria Math"/>
                <a:cs typeface="Cambria Math"/>
              </a:rPr>
              <a:t>100</a:t>
            </a:r>
            <a:r>
              <a:rPr sz="2000" kern="1200" spc="55" dirty="0">
                <a:solidFill>
                  <a:prstClr val="black"/>
                </a:solidFill>
                <a:latin typeface="Cambria Math"/>
                <a:cs typeface="Cambria Math"/>
              </a:rPr>
              <a:t> </a:t>
            </a:r>
            <a:r>
              <a:rPr sz="2000" kern="1200" spc="-5" dirty="0">
                <a:solidFill>
                  <a:prstClr val="black"/>
                </a:solidFill>
                <a:latin typeface="Palatino Linotype"/>
                <a:cs typeface="Palatino Linotype"/>
              </a:rPr>
              <a:t>to</a:t>
            </a:r>
            <a:r>
              <a:rPr sz="2000" kern="1200" spc="-20" dirty="0">
                <a:solidFill>
                  <a:prstClr val="black"/>
                </a:solidFill>
                <a:latin typeface="Palatino Linotype"/>
                <a:cs typeface="Palatino Linotype"/>
              </a:rPr>
              <a:t> </a:t>
            </a:r>
            <a:r>
              <a:rPr sz="2000" kern="1200" dirty="0">
                <a:solidFill>
                  <a:prstClr val="black"/>
                </a:solidFill>
                <a:latin typeface="Cambria Math"/>
                <a:cs typeface="Cambria Math"/>
              </a:rPr>
              <a:t>𝐵</a:t>
            </a:r>
            <a:r>
              <a:rPr sz="2000" kern="1200" spc="105" dirty="0">
                <a:solidFill>
                  <a:prstClr val="black"/>
                </a:solidFill>
                <a:latin typeface="Cambria Math"/>
                <a:cs typeface="Cambria Math"/>
              </a:rPr>
              <a:t> </a:t>
            </a:r>
            <a:r>
              <a:rPr sz="2000" kern="1200" spc="-5" dirty="0">
                <a:solidFill>
                  <a:prstClr val="black"/>
                </a:solidFill>
                <a:latin typeface="Palatino Linotype"/>
                <a:cs typeface="Palatino Linotype"/>
              </a:rPr>
              <a:t>by production</a:t>
            </a:r>
            <a:r>
              <a:rPr sz="2000" kern="1200" spc="-50" dirty="0">
                <a:solidFill>
                  <a:prstClr val="black"/>
                </a:solidFill>
                <a:latin typeface="Palatino Linotype"/>
                <a:cs typeface="Palatino Linotype"/>
              </a:rPr>
              <a:t> </a:t>
            </a:r>
            <a:r>
              <a:rPr sz="2000" kern="1200" dirty="0">
                <a:solidFill>
                  <a:prstClr val="black"/>
                </a:solidFill>
                <a:latin typeface="Palatino Linotype"/>
                <a:cs typeface="Palatino Linotype"/>
              </a:rPr>
              <a:t>(5)</a:t>
            </a:r>
            <a:endParaRPr sz="2000" kern="1200">
              <a:solidFill>
                <a:prstClr val="black"/>
              </a:solidFill>
              <a:latin typeface="Palatino Linotype"/>
              <a:cs typeface="Palatino Linotype"/>
            </a:endParaRPr>
          </a:p>
        </p:txBody>
      </p:sp>
      <p:grpSp>
        <p:nvGrpSpPr>
          <p:cNvPr id="18" name="object 4">
            <a:extLst>
              <a:ext uri="{FF2B5EF4-FFF2-40B4-BE49-F238E27FC236}">
                <a16:creationId xmlns:a16="http://schemas.microsoft.com/office/drawing/2014/main" id="{756A3CA7-386B-C8FA-A5FD-C7CB3F9FB77B}"/>
              </a:ext>
            </a:extLst>
          </p:cNvPr>
          <p:cNvGrpSpPr/>
          <p:nvPr/>
        </p:nvGrpSpPr>
        <p:grpSpPr>
          <a:xfrm>
            <a:off x="891286" y="3900995"/>
            <a:ext cx="7717155" cy="1980564"/>
            <a:chOff x="891286" y="3900995"/>
            <a:chExt cx="7717155" cy="1980564"/>
          </a:xfrm>
        </p:grpSpPr>
        <p:pic>
          <p:nvPicPr>
            <p:cNvPr id="19" name="object 5">
              <a:extLst>
                <a:ext uri="{FF2B5EF4-FFF2-40B4-BE49-F238E27FC236}">
                  <a16:creationId xmlns:a16="http://schemas.microsoft.com/office/drawing/2014/main" id="{A635D7CB-BEE0-61C6-EFF7-102E5876046F}"/>
                </a:ext>
              </a:extLst>
            </p:cNvPr>
            <p:cNvPicPr/>
            <p:nvPr/>
          </p:nvPicPr>
          <p:blipFill>
            <a:blip r:embed="rId3" cstate="print"/>
            <a:stretch>
              <a:fillRect/>
            </a:stretch>
          </p:blipFill>
          <p:spPr>
            <a:xfrm>
              <a:off x="1048689" y="3989846"/>
              <a:ext cx="3648175" cy="1891184"/>
            </a:xfrm>
            <a:prstGeom prst="rect">
              <a:avLst/>
            </a:prstGeom>
          </p:spPr>
        </p:pic>
        <p:pic>
          <p:nvPicPr>
            <p:cNvPr id="20" name="object 6">
              <a:extLst>
                <a:ext uri="{FF2B5EF4-FFF2-40B4-BE49-F238E27FC236}">
                  <a16:creationId xmlns:a16="http://schemas.microsoft.com/office/drawing/2014/main" id="{331A6D59-B932-3D83-F19C-212FB5ABE2D7}"/>
                </a:ext>
              </a:extLst>
            </p:cNvPr>
            <p:cNvPicPr/>
            <p:nvPr/>
          </p:nvPicPr>
          <p:blipFill>
            <a:blip r:embed="rId4" cstate="print"/>
            <a:stretch>
              <a:fillRect/>
            </a:stretch>
          </p:blipFill>
          <p:spPr>
            <a:xfrm>
              <a:off x="3901440" y="3910584"/>
              <a:ext cx="4696968" cy="743712"/>
            </a:xfrm>
            <a:prstGeom prst="rect">
              <a:avLst/>
            </a:prstGeom>
          </p:spPr>
        </p:pic>
        <p:sp>
          <p:nvSpPr>
            <p:cNvPr id="21" name="object 7">
              <a:extLst>
                <a:ext uri="{FF2B5EF4-FFF2-40B4-BE49-F238E27FC236}">
                  <a16:creationId xmlns:a16="http://schemas.microsoft.com/office/drawing/2014/main" id="{4C02D25A-9D41-C865-2F80-0A8BB38E3A2E}"/>
                </a:ext>
              </a:extLst>
            </p:cNvPr>
            <p:cNvSpPr/>
            <p:nvPr/>
          </p:nvSpPr>
          <p:spPr>
            <a:xfrm>
              <a:off x="3896613" y="3905758"/>
              <a:ext cx="4706620" cy="753745"/>
            </a:xfrm>
            <a:custGeom>
              <a:avLst/>
              <a:gdLst/>
              <a:ahLst/>
              <a:cxnLst/>
              <a:rect l="l" t="t" r="r" b="b"/>
              <a:pathLst>
                <a:path w="4706620" h="753745">
                  <a:moveTo>
                    <a:pt x="0" y="753237"/>
                  </a:moveTo>
                  <a:lnTo>
                    <a:pt x="4706493" y="753237"/>
                  </a:lnTo>
                  <a:lnTo>
                    <a:pt x="4706493" y="0"/>
                  </a:lnTo>
                  <a:lnTo>
                    <a:pt x="0" y="0"/>
                  </a:lnTo>
                  <a:lnTo>
                    <a:pt x="0" y="753237"/>
                  </a:lnTo>
                  <a:close/>
                </a:path>
              </a:pathLst>
            </a:custGeom>
            <a:ln w="9524">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22" name="object 8">
              <a:extLst>
                <a:ext uri="{FF2B5EF4-FFF2-40B4-BE49-F238E27FC236}">
                  <a16:creationId xmlns:a16="http://schemas.microsoft.com/office/drawing/2014/main" id="{82957DDA-6308-EE80-A8CD-25EECF125C5A}"/>
                </a:ext>
              </a:extLst>
            </p:cNvPr>
            <p:cNvPicPr/>
            <p:nvPr/>
          </p:nvPicPr>
          <p:blipFill>
            <a:blip r:embed="rId5" cstate="print"/>
            <a:stretch>
              <a:fillRect/>
            </a:stretch>
          </p:blipFill>
          <p:spPr>
            <a:xfrm>
              <a:off x="6163284" y="5297952"/>
              <a:ext cx="1608783" cy="299201"/>
            </a:xfrm>
            <a:prstGeom prst="rect">
              <a:avLst/>
            </a:prstGeom>
          </p:spPr>
        </p:pic>
        <p:sp>
          <p:nvSpPr>
            <p:cNvPr id="23" name="object 9">
              <a:extLst>
                <a:ext uri="{FF2B5EF4-FFF2-40B4-BE49-F238E27FC236}">
                  <a16:creationId xmlns:a16="http://schemas.microsoft.com/office/drawing/2014/main" id="{7001ABBF-743C-27D1-8556-5BC297E0FF60}"/>
                </a:ext>
              </a:extLst>
            </p:cNvPr>
            <p:cNvSpPr/>
            <p:nvPr/>
          </p:nvSpPr>
          <p:spPr>
            <a:xfrm>
              <a:off x="6066789" y="5214937"/>
              <a:ext cx="1843405" cy="461009"/>
            </a:xfrm>
            <a:custGeom>
              <a:avLst/>
              <a:gdLst/>
              <a:ahLst/>
              <a:cxnLst/>
              <a:rect l="l" t="t" r="r" b="b"/>
              <a:pathLst>
                <a:path w="1843404" h="461010">
                  <a:moveTo>
                    <a:pt x="0" y="460628"/>
                  </a:moveTo>
                  <a:lnTo>
                    <a:pt x="1842896" y="460628"/>
                  </a:lnTo>
                  <a:lnTo>
                    <a:pt x="1842896" y="0"/>
                  </a:lnTo>
                  <a:lnTo>
                    <a:pt x="0" y="0"/>
                  </a:lnTo>
                  <a:lnTo>
                    <a:pt x="0" y="460628"/>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4" name="object 10">
              <a:extLst>
                <a:ext uri="{FF2B5EF4-FFF2-40B4-BE49-F238E27FC236}">
                  <a16:creationId xmlns:a16="http://schemas.microsoft.com/office/drawing/2014/main" id="{7C445D23-C0F0-BF78-91EE-9AE350FFAE27}"/>
                </a:ext>
              </a:extLst>
            </p:cNvPr>
            <p:cNvSpPr/>
            <p:nvPr/>
          </p:nvSpPr>
          <p:spPr>
            <a:xfrm>
              <a:off x="897636" y="4619244"/>
              <a:ext cx="916305" cy="664845"/>
            </a:xfrm>
            <a:custGeom>
              <a:avLst/>
              <a:gdLst/>
              <a:ahLst/>
              <a:cxnLst/>
              <a:rect l="l" t="t" r="r" b="b"/>
              <a:pathLst>
                <a:path w="916305" h="664845">
                  <a:moveTo>
                    <a:pt x="0" y="664463"/>
                  </a:moveTo>
                  <a:lnTo>
                    <a:pt x="915924" y="664463"/>
                  </a:lnTo>
                  <a:lnTo>
                    <a:pt x="915924" y="0"/>
                  </a:lnTo>
                  <a:lnTo>
                    <a:pt x="0" y="0"/>
                  </a:lnTo>
                  <a:lnTo>
                    <a:pt x="0" y="664463"/>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5" name="object 11">
            <a:extLst>
              <a:ext uri="{FF2B5EF4-FFF2-40B4-BE49-F238E27FC236}">
                <a16:creationId xmlns:a16="http://schemas.microsoft.com/office/drawing/2014/main" id="{D3F334A3-FA56-6614-39A7-5C505651A0C6}"/>
              </a:ext>
            </a:extLst>
          </p:cNvPr>
          <p:cNvSpPr txBox="1"/>
          <p:nvPr/>
        </p:nvSpPr>
        <p:spPr>
          <a:xfrm>
            <a:off x="6068059" y="4905502"/>
            <a:ext cx="1486535" cy="269240"/>
          </a:xfrm>
          <a:prstGeom prst="rect">
            <a:avLst/>
          </a:prstGeom>
        </p:spPr>
        <p:txBody>
          <a:bodyPr vert="horz" wrap="square" lIns="0" tIns="12065" rIns="0" bIns="0" rtlCol="0">
            <a:spAutoFit/>
          </a:bodyPr>
          <a:lstStyle/>
          <a:p>
            <a:pPr marL="12700" rtl="0">
              <a:spcBef>
                <a:spcPts val="95"/>
              </a:spcBef>
            </a:pPr>
            <a:r>
              <a:rPr sz="1600" kern="1200" spc="-5" dirty="0">
                <a:solidFill>
                  <a:srgbClr val="FF0000"/>
                </a:solidFill>
                <a:latin typeface="Palatino Linotype"/>
                <a:cs typeface="Palatino Linotype"/>
              </a:rPr>
              <a:t>Generated</a:t>
            </a:r>
            <a:r>
              <a:rPr sz="1600" kern="1200" spc="-50" dirty="0">
                <a:solidFill>
                  <a:srgbClr val="FF0000"/>
                </a:solidFill>
                <a:latin typeface="Palatino Linotype"/>
                <a:cs typeface="Palatino Linotype"/>
              </a:rPr>
              <a:t> </a:t>
            </a:r>
            <a:r>
              <a:rPr sz="1600" kern="1200" spc="-5" dirty="0">
                <a:solidFill>
                  <a:srgbClr val="FF0000"/>
                </a:solidFill>
                <a:latin typeface="Palatino Linotype"/>
                <a:cs typeface="Palatino Linotype"/>
              </a:rPr>
              <a:t>code:</a:t>
            </a:r>
            <a:endParaRPr sz="1600" kern="1200">
              <a:solidFill>
                <a:prstClr val="black"/>
              </a:solidFill>
              <a:latin typeface="Palatino Linotype"/>
              <a:cs typeface="Palatino Linotype"/>
            </a:endParaRPr>
          </a:p>
        </p:txBody>
      </p:sp>
      <p:sp>
        <p:nvSpPr>
          <p:cNvPr id="26" name="object 12">
            <a:extLst>
              <a:ext uri="{FF2B5EF4-FFF2-40B4-BE49-F238E27FC236}">
                <a16:creationId xmlns:a16="http://schemas.microsoft.com/office/drawing/2014/main" id="{38637854-700F-3351-8D75-83E46BA7A1B7}"/>
              </a:ext>
            </a:extLst>
          </p:cNvPr>
          <p:cNvSpPr txBox="1"/>
          <p:nvPr/>
        </p:nvSpPr>
        <p:spPr>
          <a:xfrm>
            <a:off x="5608320" y="4255008"/>
            <a:ext cx="505459" cy="386080"/>
          </a:xfrm>
          <a:prstGeom prst="rect">
            <a:avLst/>
          </a:prstGeom>
          <a:solidFill>
            <a:srgbClr val="FFFFFF"/>
          </a:solidFill>
        </p:spPr>
        <p:txBody>
          <a:bodyPr vert="horz" wrap="square" lIns="0" tIns="0" rIns="0" bIns="0" rtlCol="0">
            <a:spAutoFit/>
          </a:bodyPr>
          <a:lstStyle/>
          <a:p>
            <a:pPr marL="222885" marR="3175" rtl="0">
              <a:lnSpc>
                <a:spcPts val="1430"/>
              </a:lnSpc>
            </a:pPr>
            <a:r>
              <a:rPr sz="1400" i="1" kern="1200" spc="-5" dirty="0">
                <a:solidFill>
                  <a:srgbClr val="585858"/>
                </a:solidFill>
                <a:cs typeface="Calibri"/>
              </a:rPr>
              <a:t>gen</a:t>
            </a:r>
            <a:endParaRPr sz="1400" kern="1200">
              <a:solidFill>
                <a:prstClr val="black"/>
              </a:solidFill>
              <a:cs typeface="Calibri"/>
            </a:endParaRPr>
          </a:p>
          <a:p>
            <a:pPr marL="222885" rtl="0">
              <a:lnSpc>
                <a:spcPts val="1505"/>
              </a:lnSpc>
            </a:pPr>
            <a:r>
              <a:rPr sz="1400" i="1" kern="1200" spc="-5" dirty="0">
                <a:solidFill>
                  <a:srgbClr val="585858"/>
                </a:solidFill>
                <a:cs typeface="Calibri"/>
              </a:rPr>
              <a:t>gen</a:t>
            </a:r>
            <a:endParaRPr sz="1400" kern="1200">
              <a:solidFill>
                <a:prstClr val="black"/>
              </a:solidFill>
              <a:cs typeface="Calibri"/>
            </a:endParaRPr>
          </a:p>
        </p:txBody>
      </p:sp>
    </p:spTree>
    <p:extLst>
      <p:ext uri="{BB962C8B-B14F-4D97-AF65-F5344CB8AC3E}">
        <p14:creationId xmlns:p14="http://schemas.microsoft.com/office/powerpoint/2010/main" val="4576499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103</a:t>
            </a:fld>
            <a:endParaRPr lang="en-US"/>
          </a:p>
        </p:txBody>
      </p:sp>
      <p:sp>
        <p:nvSpPr>
          <p:cNvPr id="13" name="object 2">
            <a:extLst>
              <a:ext uri="{FF2B5EF4-FFF2-40B4-BE49-F238E27FC236}">
                <a16:creationId xmlns:a16="http://schemas.microsoft.com/office/drawing/2014/main" id="{E30B732B-9722-9D7D-24E6-6F84F88311B6}"/>
              </a:ext>
            </a:extLst>
          </p:cNvPr>
          <p:cNvSpPr txBox="1">
            <a:spLocks/>
          </p:cNvSpPr>
          <p:nvPr/>
        </p:nvSpPr>
        <p:spPr>
          <a:xfrm>
            <a:off x="707542" y="538429"/>
            <a:ext cx="7632065" cy="605790"/>
          </a:xfrm>
          <a:prstGeom prst="rect">
            <a:avLst/>
          </a:prstGeom>
        </p:spPr>
        <p:txBody>
          <a:bodyPr vert="horz" wrap="square" lIns="0" tIns="1333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5"/>
              </a:spcBef>
              <a:spcAft>
                <a:spcPts val="0"/>
              </a:spcAft>
              <a:buClrTx/>
              <a:buSzTx/>
              <a:buFontTx/>
              <a:buNone/>
              <a:tabLst/>
              <a:defRPr/>
            </a:pPr>
            <a:r>
              <a:rPr kumimoji="0" lang="en-US" sz="3800" b="1" i="0" u="none" strike="noStrike" kern="0" cap="none" spc="5" normalizeH="0" baseline="0" noProof="0">
                <a:ln>
                  <a:noFill/>
                </a:ln>
                <a:solidFill>
                  <a:sysClr val="windowText" lastClr="000000"/>
                </a:solidFill>
                <a:effectLst/>
                <a:uLnTx/>
                <a:uFillTx/>
                <a:latin typeface="Palatino Linotype"/>
                <a:ea typeface="+mj-ea"/>
              </a:rPr>
              <a:t>Example</a:t>
            </a:r>
            <a:r>
              <a:rPr kumimoji="0" lang="en-US" sz="3800" b="1" i="0" u="none" strike="noStrike" kern="0" cap="none" spc="-55"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a:t>
            </a:r>
            <a:r>
              <a:rPr kumimoji="0" lang="en-US" sz="3800" b="1" i="0" u="none" strike="noStrike" kern="0" cap="none" spc="-5" normalizeH="0" baseline="0" noProof="0">
                <a:ln>
                  <a:noFill/>
                </a:ln>
                <a:solidFill>
                  <a:sysClr val="windowText" lastClr="000000"/>
                </a:solidFill>
                <a:effectLst/>
                <a:uLnTx/>
                <a:uFillTx/>
                <a:latin typeface="Palatino Linotype"/>
                <a:ea typeface="+mj-ea"/>
              </a:rPr>
              <a:t> Boolean</a:t>
            </a:r>
            <a:r>
              <a:rPr kumimoji="0" lang="en-US" sz="3800" b="1" i="0" u="none" strike="noStrike" kern="0" cap="none" spc="-30"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Expressions</a:t>
            </a:r>
            <a:r>
              <a:rPr kumimoji="0" lang="en-US" sz="3800" b="1" i="0" u="none" strike="noStrike" kern="0" cap="none" spc="-45"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(1)</a:t>
            </a:r>
          </a:p>
        </p:txBody>
      </p:sp>
      <p:sp>
        <p:nvSpPr>
          <p:cNvPr id="14" name="object 3">
            <a:extLst>
              <a:ext uri="{FF2B5EF4-FFF2-40B4-BE49-F238E27FC236}">
                <a16:creationId xmlns:a16="http://schemas.microsoft.com/office/drawing/2014/main" id="{D7495A67-FEAA-2BA8-6832-58E8192DFD33}"/>
              </a:ext>
            </a:extLst>
          </p:cNvPr>
          <p:cNvSpPr txBox="1"/>
          <p:nvPr/>
        </p:nvSpPr>
        <p:spPr>
          <a:xfrm>
            <a:off x="707542" y="1593316"/>
            <a:ext cx="7063740" cy="1946275"/>
          </a:xfrm>
          <a:prstGeom prst="rect">
            <a:avLst/>
          </a:prstGeom>
        </p:spPr>
        <p:txBody>
          <a:bodyPr vert="horz" wrap="square" lIns="0" tIns="12700" rIns="0" bIns="0" rtlCol="0">
            <a:spAutoFit/>
          </a:bodyPr>
          <a:lstStyle/>
          <a:p>
            <a:pPr marL="242570" marR="5080" indent="-230504" rtl="0">
              <a:lnSpc>
                <a:spcPct val="120000"/>
              </a:lnSpc>
              <a:spcBef>
                <a:spcPts val="100"/>
              </a:spcBef>
              <a:buFont typeface="Arial MT"/>
              <a:buChar char="•"/>
              <a:tabLst>
                <a:tab pos="242570" algn="l"/>
                <a:tab pos="243204" algn="l"/>
              </a:tabLst>
            </a:pPr>
            <a:r>
              <a:rPr sz="2000" kern="1200" spc="-5" dirty="0">
                <a:solidFill>
                  <a:prstClr val="black"/>
                </a:solidFill>
                <a:latin typeface="Palatino Linotype"/>
                <a:cs typeface="Palatino Linotype"/>
              </a:rPr>
              <a:t>The </a:t>
            </a:r>
            <a:r>
              <a:rPr sz="2000" kern="1200" dirty="0">
                <a:solidFill>
                  <a:prstClr val="black"/>
                </a:solidFill>
                <a:latin typeface="Palatino Linotype"/>
                <a:cs typeface="Palatino Linotype"/>
              </a:rPr>
              <a:t>earlier SDT is a </a:t>
            </a:r>
            <a:r>
              <a:rPr sz="2000" kern="1200" spc="-5" dirty="0">
                <a:solidFill>
                  <a:srgbClr val="FF0000"/>
                </a:solidFill>
                <a:latin typeface="Palatino Linotype"/>
                <a:cs typeface="Palatino Linotype"/>
              </a:rPr>
              <a:t>postfix </a:t>
            </a:r>
            <a:r>
              <a:rPr sz="2000" kern="1200" spc="-35" dirty="0">
                <a:solidFill>
                  <a:srgbClr val="FF0000"/>
                </a:solidFill>
                <a:latin typeface="Palatino Linotype"/>
                <a:cs typeface="Palatino Linotype"/>
              </a:rPr>
              <a:t>SDT</a:t>
            </a:r>
            <a:r>
              <a:rPr sz="2000" kern="1200" spc="-35" dirty="0">
                <a:solidFill>
                  <a:prstClr val="black"/>
                </a:solidFill>
                <a:latin typeface="Palatino Linotype"/>
                <a:cs typeface="Palatino Linotype"/>
              </a:rPr>
              <a:t>. </a:t>
            </a:r>
            <a:r>
              <a:rPr sz="2000" kern="1200" spc="-5" dirty="0">
                <a:solidFill>
                  <a:prstClr val="black"/>
                </a:solidFill>
                <a:latin typeface="Palatino Linotype"/>
                <a:cs typeface="Palatino Linotype"/>
              </a:rPr>
              <a:t>The </a:t>
            </a:r>
            <a:r>
              <a:rPr sz="2000" kern="1200" dirty="0">
                <a:solidFill>
                  <a:prstClr val="black"/>
                </a:solidFill>
                <a:latin typeface="Palatino Linotype"/>
                <a:cs typeface="Palatino Linotype"/>
              </a:rPr>
              <a:t>semantic actions can </a:t>
            </a:r>
            <a:r>
              <a:rPr sz="2000" kern="1200" spc="-5" dirty="0">
                <a:solidFill>
                  <a:prstClr val="black"/>
                </a:solidFill>
                <a:latin typeface="Palatino Linotype"/>
                <a:cs typeface="Palatino Linotype"/>
              </a:rPr>
              <a:t>be </a:t>
            </a:r>
            <a:r>
              <a:rPr sz="2000" kern="1200" spc="-484" dirty="0">
                <a:solidFill>
                  <a:prstClr val="black"/>
                </a:solidFill>
                <a:latin typeface="Palatino Linotype"/>
                <a:cs typeface="Palatino Linotype"/>
              </a:rPr>
              <a:t> </a:t>
            </a:r>
            <a:r>
              <a:rPr sz="2000" kern="1200" spc="-5" dirty="0">
                <a:solidFill>
                  <a:prstClr val="black"/>
                </a:solidFill>
                <a:latin typeface="Palatino Linotype"/>
                <a:cs typeface="Palatino Linotype"/>
              </a:rPr>
              <a:t>performed</a:t>
            </a:r>
            <a:r>
              <a:rPr sz="2000" kern="1200" spc="-30" dirty="0">
                <a:solidFill>
                  <a:prstClr val="black"/>
                </a:solidFill>
                <a:latin typeface="Palatino Linotype"/>
                <a:cs typeface="Palatino Linotype"/>
              </a:rPr>
              <a:t> </a:t>
            </a:r>
            <a:r>
              <a:rPr sz="2000" kern="1200" dirty="0">
                <a:solidFill>
                  <a:prstClr val="black"/>
                </a:solidFill>
                <a:latin typeface="Palatino Linotype"/>
                <a:cs typeface="Palatino Linotype"/>
              </a:rPr>
              <a:t>during</a:t>
            </a:r>
            <a:r>
              <a:rPr sz="2000" kern="1200" spc="-25" dirty="0">
                <a:solidFill>
                  <a:prstClr val="black"/>
                </a:solidFill>
                <a:latin typeface="Palatino Linotype"/>
                <a:cs typeface="Palatino Linotype"/>
              </a:rPr>
              <a:t> </a:t>
            </a:r>
            <a:r>
              <a:rPr sz="2000" kern="1200" dirty="0">
                <a:solidFill>
                  <a:prstClr val="black"/>
                </a:solidFill>
                <a:latin typeface="Palatino Linotype"/>
                <a:cs typeface="Palatino Linotype"/>
              </a:rPr>
              <a:t>a </a:t>
            </a:r>
            <a:r>
              <a:rPr sz="2000" kern="1200" spc="-5" dirty="0">
                <a:solidFill>
                  <a:prstClr val="black"/>
                </a:solidFill>
                <a:latin typeface="Palatino Linotype"/>
                <a:cs typeface="Palatino Linotype"/>
              </a:rPr>
              <a:t>bottom-up</a:t>
            </a:r>
            <a:r>
              <a:rPr sz="2000" kern="1200" spc="-25" dirty="0">
                <a:solidFill>
                  <a:prstClr val="black"/>
                </a:solidFill>
                <a:latin typeface="Palatino Linotype"/>
                <a:cs typeface="Palatino Linotype"/>
              </a:rPr>
              <a:t> </a:t>
            </a:r>
            <a:r>
              <a:rPr sz="2000" kern="1200" spc="-5" dirty="0">
                <a:solidFill>
                  <a:prstClr val="black"/>
                </a:solidFill>
                <a:latin typeface="Palatino Linotype"/>
                <a:cs typeface="Palatino Linotype"/>
              </a:rPr>
              <a:t>parse.</a:t>
            </a:r>
            <a:endParaRPr sz="2000" kern="1200" dirty="0">
              <a:solidFill>
                <a:prstClr val="black"/>
              </a:solidFill>
              <a:latin typeface="Palatino Linotype"/>
              <a:cs typeface="Palatino Linotype"/>
            </a:endParaRPr>
          </a:p>
          <a:p>
            <a:pPr rtl="0">
              <a:spcBef>
                <a:spcPts val="50"/>
              </a:spcBef>
              <a:buFont typeface="Arial MT"/>
              <a:buChar char="•"/>
            </a:pPr>
            <a:endParaRPr sz="1650" kern="1200" dirty="0">
              <a:solidFill>
                <a:prstClr val="black"/>
              </a:solidFill>
              <a:latin typeface="Palatino Linotype"/>
              <a:cs typeface="Palatino Linotype"/>
            </a:endParaRPr>
          </a:p>
          <a:p>
            <a:pPr marL="242570" indent="-230504" rtl="0">
              <a:buFont typeface="Arial MT"/>
              <a:buChar char="•"/>
              <a:tabLst>
                <a:tab pos="242570" algn="l"/>
                <a:tab pos="243204" algn="l"/>
                <a:tab pos="2809240" algn="l"/>
              </a:tabLst>
            </a:pPr>
            <a:r>
              <a:rPr sz="2000" kern="1200" dirty="0">
                <a:solidFill>
                  <a:prstClr val="black"/>
                </a:solidFill>
                <a:latin typeface="Palatino Linotype"/>
                <a:cs typeface="Palatino Linotype"/>
              </a:rPr>
              <a:t>Boolean</a:t>
            </a:r>
            <a:r>
              <a:rPr sz="2000" kern="1200" spc="-20" dirty="0">
                <a:solidFill>
                  <a:prstClr val="black"/>
                </a:solidFill>
                <a:latin typeface="Palatino Linotype"/>
                <a:cs typeface="Palatino Linotype"/>
              </a:rPr>
              <a:t> </a:t>
            </a:r>
            <a:r>
              <a:rPr sz="2000" kern="1200" dirty="0">
                <a:solidFill>
                  <a:prstClr val="black"/>
                </a:solidFill>
                <a:latin typeface="Palatino Linotype"/>
                <a:cs typeface="Palatino Linotype"/>
              </a:rPr>
              <a:t>expression:</a:t>
            </a:r>
            <a:r>
              <a:rPr sz="2000" kern="1200" spc="5" dirty="0">
                <a:solidFill>
                  <a:prstClr val="black"/>
                </a:solidFill>
                <a:latin typeface="Palatino Linotype"/>
                <a:cs typeface="Palatino Linotype"/>
              </a:rPr>
              <a:t> </a:t>
            </a:r>
            <a:r>
              <a:rPr sz="2000" kern="1200" dirty="0">
                <a:solidFill>
                  <a:schemeClr val="bg2">
                    <a:lumMod val="50000"/>
                  </a:schemeClr>
                </a:solidFill>
                <a:latin typeface="Cambria Math"/>
                <a:cs typeface="Cambria Math"/>
              </a:rPr>
              <a:t>𝑥	&lt;</a:t>
            </a:r>
            <a:r>
              <a:rPr sz="2000" kern="1200" spc="105" dirty="0">
                <a:solidFill>
                  <a:schemeClr val="bg2">
                    <a:lumMod val="50000"/>
                  </a:schemeClr>
                </a:solidFill>
                <a:latin typeface="Cambria Math"/>
                <a:cs typeface="Cambria Math"/>
              </a:rPr>
              <a:t> </a:t>
            </a:r>
            <a:r>
              <a:rPr sz="2000" kern="1200" spc="-5" dirty="0">
                <a:solidFill>
                  <a:schemeClr val="bg2">
                    <a:lumMod val="50000"/>
                  </a:schemeClr>
                </a:solidFill>
                <a:latin typeface="Cambria Math"/>
                <a:cs typeface="Cambria Math"/>
              </a:rPr>
              <a:t>100</a:t>
            </a:r>
            <a:r>
              <a:rPr sz="2000" kern="1200" spc="114"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a:t>
            </a:r>
            <a:r>
              <a:rPr sz="2000" kern="1200" spc="100" dirty="0">
                <a:solidFill>
                  <a:schemeClr val="bg2">
                    <a:lumMod val="50000"/>
                  </a:schemeClr>
                </a:solidFill>
                <a:latin typeface="Cambria Math"/>
                <a:cs typeface="Cambria Math"/>
              </a:rPr>
              <a:t> </a:t>
            </a:r>
            <a:r>
              <a:rPr sz="2000" kern="1200" dirty="0">
                <a:solidFill>
                  <a:srgbClr val="FF0000"/>
                </a:solidFill>
                <a:latin typeface="Cambria Math"/>
                <a:cs typeface="Cambria Math"/>
              </a:rPr>
              <a:t>𝑥</a:t>
            </a:r>
            <a:r>
              <a:rPr sz="2000" kern="1200" spc="165" dirty="0">
                <a:solidFill>
                  <a:srgbClr val="FF0000"/>
                </a:solidFill>
                <a:latin typeface="Cambria Math"/>
                <a:cs typeface="Cambria Math"/>
              </a:rPr>
              <a:t> </a:t>
            </a:r>
            <a:r>
              <a:rPr sz="2000" kern="1200" dirty="0">
                <a:solidFill>
                  <a:srgbClr val="FF0000"/>
                </a:solidFill>
                <a:latin typeface="Cambria Math"/>
                <a:cs typeface="Cambria Math"/>
              </a:rPr>
              <a:t>&gt;</a:t>
            </a:r>
            <a:r>
              <a:rPr sz="2000" kern="1200" spc="114" dirty="0">
                <a:solidFill>
                  <a:srgbClr val="FF0000"/>
                </a:solidFill>
                <a:latin typeface="Cambria Math"/>
                <a:cs typeface="Cambria Math"/>
              </a:rPr>
              <a:t> </a:t>
            </a:r>
            <a:r>
              <a:rPr sz="2000" kern="1200" spc="-5" dirty="0">
                <a:solidFill>
                  <a:srgbClr val="FF0000"/>
                </a:solidFill>
                <a:latin typeface="Cambria Math"/>
                <a:cs typeface="Cambria Math"/>
              </a:rPr>
              <a:t>200</a:t>
            </a:r>
            <a:r>
              <a:rPr sz="2000" kern="1200" spc="15" dirty="0">
                <a:solidFill>
                  <a:srgbClr val="FF0000"/>
                </a:solidFill>
                <a:latin typeface="Cambria Math"/>
                <a:cs typeface="Cambria Math"/>
              </a:rPr>
              <a:t> </a:t>
            </a:r>
            <a:r>
              <a:rPr sz="2000" kern="1200" dirty="0">
                <a:solidFill>
                  <a:srgbClr val="FF0000"/>
                </a:solidFill>
                <a:latin typeface="Cambria Math"/>
                <a:cs typeface="Cambria Math"/>
              </a:rPr>
              <a:t>&amp;&amp;</a:t>
            </a:r>
            <a:r>
              <a:rPr sz="2000" kern="1200" spc="-10" dirty="0">
                <a:solidFill>
                  <a:srgbClr val="FF0000"/>
                </a:solidFill>
                <a:latin typeface="Cambria Math"/>
                <a:cs typeface="Cambria Math"/>
              </a:rPr>
              <a:t> </a:t>
            </a:r>
            <a:r>
              <a:rPr sz="2000" kern="1200" dirty="0">
                <a:solidFill>
                  <a:srgbClr val="FF0000"/>
                </a:solidFill>
                <a:latin typeface="Cambria Math"/>
                <a:cs typeface="Cambria Math"/>
              </a:rPr>
              <a:t>𝑥</a:t>
            </a:r>
            <a:r>
              <a:rPr sz="2000" kern="1200" spc="35" dirty="0">
                <a:solidFill>
                  <a:srgbClr val="FF0000"/>
                </a:solidFill>
                <a:latin typeface="Cambria Math"/>
                <a:cs typeface="Cambria Math"/>
              </a:rPr>
              <a:t> </a:t>
            </a:r>
            <a:r>
              <a:rPr sz="2000" kern="1200" dirty="0">
                <a:solidFill>
                  <a:srgbClr val="FF0000"/>
                </a:solidFill>
                <a:latin typeface="Cambria Math"/>
                <a:cs typeface="Cambria Math"/>
              </a:rPr>
              <a:t>!</a:t>
            </a:r>
            <a:r>
              <a:rPr sz="2000" kern="1200" spc="110" dirty="0">
                <a:solidFill>
                  <a:srgbClr val="FF0000"/>
                </a:solidFill>
                <a:latin typeface="Cambria Math"/>
                <a:cs typeface="Cambria Math"/>
              </a:rPr>
              <a:t> </a:t>
            </a:r>
            <a:r>
              <a:rPr sz="2000" kern="1200" dirty="0">
                <a:solidFill>
                  <a:srgbClr val="FF0000"/>
                </a:solidFill>
                <a:latin typeface="Cambria Math"/>
                <a:cs typeface="Cambria Math"/>
              </a:rPr>
              <a:t>=</a:t>
            </a:r>
            <a:r>
              <a:rPr sz="2000" kern="1200" spc="105" dirty="0">
                <a:solidFill>
                  <a:srgbClr val="FF0000"/>
                </a:solidFill>
                <a:latin typeface="Cambria Math"/>
                <a:cs typeface="Cambria Math"/>
              </a:rPr>
              <a:t> </a:t>
            </a:r>
            <a:r>
              <a:rPr sz="2000" kern="1200" dirty="0">
                <a:solidFill>
                  <a:srgbClr val="FF0000"/>
                </a:solidFill>
                <a:latin typeface="Cambria Math"/>
                <a:cs typeface="Cambria Math"/>
              </a:rPr>
              <a:t>𝑦</a:t>
            </a:r>
            <a:endParaRPr sz="2000" kern="1200" dirty="0">
              <a:solidFill>
                <a:prstClr val="black"/>
              </a:solidFill>
              <a:latin typeface="Cambria Math"/>
              <a:cs typeface="Cambria Math"/>
            </a:endParaRPr>
          </a:p>
          <a:p>
            <a:pPr rtl="0">
              <a:spcBef>
                <a:spcPts val="55"/>
              </a:spcBef>
              <a:buFont typeface="Arial MT"/>
              <a:buChar char="•"/>
            </a:pPr>
            <a:endParaRPr sz="1900" kern="1200" dirty="0">
              <a:solidFill>
                <a:prstClr val="black"/>
              </a:solidFill>
              <a:latin typeface="Cambria Math"/>
              <a:cs typeface="Cambria Math"/>
            </a:endParaRPr>
          </a:p>
          <a:p>
            <a:pPr marL="242570" indent="-230504" rtl="0">
              <a:buClr>
                <a:srgbClr val="000000"/>
              </a:buClr>
              <a:buFont typeface="Arial MT"/>
              <a:buChar char="•"/>
              <a:tabLst>
                <a:tab pos="242570" algn="l"/>
                <a:tab pos="243204" algn="l"/>
              </a:tabLst>
            </a:pPr>
            <a:r>
              <a:rPr sz="2000" b="1" kern="1200" dirty="0">
                <a:solidFill>
                  <a:srgbClr val="0431FF"/>
                </a:solidFill>
                <a:latin typeface="Palatino Linotype"/>
                <a:cs typeface="Palatino Linotype"/>
              </a:rPr>
              <a:t>Step</a:t>
            </a:r>
            <a:r>
              <a:rPr sz="2000" b="1" kern="1200" spc="-30" dirty="0">
                <a:solidFill>
                  <a:srgbClr val="0431FF"/>
                </a:solidFill>
                <a:latin typeface="Palatino Linotype"/>
                <a:cs typeface="Palatino Linotype"/>
              </a:rPr>
              <a:t> </a:t>
            </a:r>
            <a:r>
              <a:rPr sz="2000" b="1" kern="1200" dirty="0">
                <a:solidFill>
                  <a:srgbClr val="0431FF"/>
                </a:solidFill>
                <a:latin typeface="Palatino Linotype"/>
                <a:cs typeface="Palatino Linotype"/>
              </a:rPr>
              <a:t>2: </a:t>
            </a:r>
            <a:r>
              <a:rPr sz="2000" kern="1200" dirty="0">
                <a:solidFill>
                  <a:prstClr val="black"/>
                </a:solidFill>
                <a:latin typeface="Palatino Linotype"/>
                <a:cs typeface="Palatino Linotype"/>
              </a:rPr>
              <a:t>reduce</a:t>
            </a:r>
            <a:r>
              <a:rPr sz="2000" kern="1200" spc="-60" dirty="0">
                <a:solidFill>
                  <a:prstClr val="black"/>
                </a:solidFill>
                <a:latin typeface="Palatino Linotype"/>
                <a:cs typeface="Palatino Linotype"/>
              </a:rPr>
              <a:t> </a:t>
            </a:r>
            <a:r>
              <a:rPr sz="2000" kern="1200" dirty="0">
                <a:solidFill>
                  <a:prstClr val="black"/>
                </a:solidFill>
                <a:latin typeface="Cambria Math"/>
                <a:cs typeface="Cambria Math"/>
              </a:rPr>
              <a:t>𝜖</a:t>
            </a:r>
            <a:r>
              <a:rPr sz="2000" kern="1200" spc="95" dirty="0">
                <a:solidFill>
                  <a:prstClr val="black"/>
                </a:solidFill>
                <a:latin typeface="Cambria Math"/>
                <a:cs typeface="Cambria Math"/>
              </a:rPr>
              <a:t> </a:t>
            </a:r>
            <a:r>
              <a:rPr sz="2000" kern="1200" spc="-5" dirty="0">
                <a:solidFill>
                  <a:prstClr val="black"/>
                </a:solidFill>
                <a:latin typeface="Palatino Linotype"/>
                <a:cs typeface="Palatino Linotype"/>
              </a:rPr>
              <a:t>to</a:t>
            </a:r>
            <a:r>
              <a:rPr sz="2000" kern="1200" spc="-20" dirty="0">
                <a:solidFill>
                  <a:prstClr val="black"/>
                </a:solidFill>
                <a:latin typeface="Palatino Linotype"/>
                <a:cs typeface="Palatino Linotype"/>
              </a:rPr>
              <a:t> </a:t>
            </a:r>
            <a:r>
              <a:rPr sz="2000" kern="1200" dirty="0">
                <a:solidFill>
                  <a:prstClr val="black"/>
                </a:solidFill>
                <a:latin typeface="Cambria Math"/>
                <a:cs typeface="Cambria Math"/>
              </a:rPr>
              <a:t>𝑀</a:t>
            </a:r>
            <a:r>
              <a:rPr sz="2000" kern="1200" spc="110" dirty="0">
                <a:solidFill>
                  <a:prstClr val="black"/>
                </a:solidFill>
                <a:latin typeface="Cambria Math"/>
                <a:cs typeface="Cambria Math"/>
              </a:rPr>
              <a:t> </a:t>
            </a:r>
            <a:r>
              <a:rPr sz="2000" kern="1200" spc="-5" dirty="0">
                <a:solidFill>
                  <a:prstClr val="black"/>
                </a:solidFill>
                <a:latin typeface="Palatino Linotype"/>
                <a:cs typeface="Palatino Linotype"/>
              </a:rPr>
              <a:t>by production</a:t>
            </a:r>
            <a:r>
              <a:rPr sz="2000" kern="1200" spc="-25" dirty="0">
                <a:solidFill>
                  <a:prstClr val="black"/>
                </a:solidFill>
                <a:latin typeface="Palatino Linotype"/>
                <a:cs typeface="Palatino Linotype"/>
              </a:rPr>
              <a:t> </a:t>
            </a:r>
            <a:r>
              <a:rPr sz="2000" kern="1200" dirty="0">
                <a:solidFill>
                  <a:prstClr val="black"/>
                </a:solidFill>
                <a:latin typeface="Palatino Linotype"/>
                <a:cs typeface="Palatino Linotype"/>
              </a:rPr>
              <a:t>(8)</a:t>
            </a:r>
          </a:p>
        </p:txBody>
      </p:sp>
      <p:pic>
        <p:nvPicPr>
          <p:cNvPr id="15" name="object 4">
            <a:extLst>
              <a:ext uri="{FF2B5EF4-FFF2-40B4-BE49-F238E27FC236}">
                <a16:creationId xmlns:a16="http://schemas.microsoft.com/office/drawing/2014/main" id="{A7104C57-707B-C10A-92B5-DE1746A45105}"/>
              </a:ext>
            </a:extLst>
          </p:cNvPr>
          <p:cNvPicPr/>
          <p:nvPr/>
        </p:nvPicPr>
        <p:blipFill>
          <a:blip r:embed="rId3" cstate="print"/>
          <a:stretch>
            <a:fillRect/>
          </a:stretch>
        </p:blipFill>
        <p:spPr>
          <a:xfrm>
            <a:off x="1048689" y="3989846"/>
            <a:ext cx="3648175" cy="1891184"/>
          </a:xfrm>
          <a:prstGeom prst="rect">
            <a:avLst/>
          </a:prstGeom>
        </p:spPr>
      </p:pic>
      <p:sp>
        <p:nvSpPr>
          <p:cNvPr id="16" name="object 5">
            <a:extLst>
              <a:ext uri="{FF2B5EF4-FFF2-40B4-BE49-F238E27FC236}">
                <a16:creationId xmlns:a16="http://schemas.microsoft.com/office/drawing/2014/main" id="{A0AAB7DB-12D4-AFB6-1E33-68074A3D7DC1}"/>
              </a:ext>
            </a:extLst>
          </p:cNvPr>
          <p:cNvSpPr txBox="1"/>
          <p:nvPr/>
        </p:nvSpPr>
        <p:spPr>
          <a:xfrm>
            <a:off x="3027045" y="6023254"/>
            <a:ext cx="4705350" cy="239395"/>
          </a:xfrm>
          <a:prstGeom prst="rect">
            <a:avLst/>
          </a:prstGeom>
        </p:spPr>
        <p:txBody>
          <a:bodyPr vert="horz" wrap="square" lIns="0" tIns="12700" rIns="0" bIns="0" rtlCol="0">
            <a:spAutoFit/>
          </a:bodyPr>
          <a:lstStyle/>
          <a:p>
            <a:pPr marL="12700" rtl="0">
              <a:spcBef>
                <a:spcPts val="100"/>
              </a:spcBef>
            </a:pPr>
            <a:r>
              <a:rPr sz="1400" kern="1200" dirty="0">
                <a:solidFill>
                  <a:srgbClr val="FF0000"/>
                </a:solidFill>
                <a:latin typeface="Palatino Linotype"/>
                <a:cs typeface="Palatino Linotype"/>
              </a:rPr>
              <a:t>The</a:t>
            </a:r>
            <a:r>
              <a:rPr sz="1400" kern="1200" spc="-5" dirty="0">
                <a:solidFill>
                  <a:srgbClr val="FF0000"/>
                </a:solidFill>
                <a:latin typeface="Palatino Linotype"/>
                <a:cs typeface="Palatino Linotype"/>
              </a:rPr>
              <a:t> </a:t>
            </a:r>
            <a:r>
              <a:rPr sz="1400" kern="1200" dirty="0">
                <a:solidFill>
                  <a:srgbClr val="FF0000"/>
                </a:solidFill>
                <a:latin typeface="Palatino Linotype"/>
                <a:cs typeface="Palatino Linotype"/>
              </a:rPr>
              <a:t>marker</a:t>
            </a:r>
            <a:r>
              <a:rPr sz="1400" kern="1200" spc="-25" dirty="0">
                <a:solidFill>
                  <a:srgbClr val="FF0000"/>
                </a:solidFill>
                <a:latin typeface="Palatino Linotype"/>
                <a:cs typeface="Palatino Linotype"/>
              </a:rPr>
              <a:t> </a:t>
            </a:r>
            <a:r>
              <a:rPr sz="1400" kern="1200" dirty="0">
                <a:solidFill>
                  <a:srgbClr val="FF0000"/>
                </a:solidFill>
                <a:latin typeface="Palatino Linotype"/>
                <a:cs typeface="Palatino Linotype"/>
              </a:rPr>
              <a:t>nonterminal </a:t>
            </a:r>
            <a:r>
              <a:rPr sz="1400" kern="1200" spc="-5" dirty="0">
                <a:solidFill>
                  <a:srgbClr val="FF0000"/>
                </a:solidFill>
                <a:latin typeface="Palatino Linotype"/>
                <a:cs typeface="Palatino Linotype"/>
              </a:rPr>
              <a:t>records</a:t>
            </a:r>
            <a:r>
              <a:rPr sz="1400" kern="1200" spc="-25" dirty="0">
                <a:solidFill>
                  <a:srgbClr val="FF0000"/>
                </a:solidFill>
                <a:latin typeface="Palatino Linotype"/>
                <a:cs typeface="Palatino Linotype"/>
              </a:rPr>
              <a:t> </a:t>
            </a:r>
            <a:r>
              <a:rPr sz="1400" kern="1200" spc="-5" dirty="0">
                <a:solidFill>
                  <a:srgbClr val="FF0000"/>
                </a:solidFill>
                <a:latin typeface="Palatino Linotype"/>
                <a:cs typeface="Palatino Linotype"/>
              </a:rPr>
              <a:t>the</a:t>
            </a:r>
            <a:r>
              <a:rPr sz="1400" kern="1200" dirty="0">
                <a:solidFill>
                  <a:srgbClr val="FF0000"/>
                </a:solidFill>
                <a:latin typeface="Palatino Linotype"/>
                <a:cs typeface="Palatino Linotype"/>
              </a:rPr>
              <a:t> </a:t>
            </a:r>
            <a:r>
              <a:rPr sz="1400" kern="1200" spc="-10" dirty="0">
                <a:solidFill>
                  <a:srgbClr val="FF0000"/>
                </a:solidFill>
                <a:latin typeface="Palatino Linotype"/>
                <a:cs typeface="Palatino Linotype"/>
              </a:rPr>
              <a:t>value</a:t>
            </a:r>
            <a:r>
              <a:rPr sz="1400" kern="1200" spc="-15" dirty="0">
                <a:solidFill>
                  <a:srgbClr val="FF0000"/>
                </a:solidFill>
                <a:latin typeface="Palatino Linotype"/>
                <a:cs typeface="Palatino Linotype"/>
              </a:rPr>
              <a:t> </a:t>
            </a:r>
            <a:r>
              <a:rPr sz="1400" kern="1200" dirty="0">
                <a:solidFill>
                  <a:srgbClr val="FF0000"/>
                </a:solidFill>
                <a:latin typeface="Palatino Linotype"/>
                <a:cs typeface="Palatino Linotype"/>
              </a:rPr>
              <a:t>of</a:t>
            </a:r>
            <a:r>
              <a:rPr sz="1400" kern="1200" spc="15" dirty="0">
                <a:solidFill>
                  <a:srgbClr val="FF0000"/>
                </a:solidFill>
                <a:latin typeface="Palatino Linotype"/>
                <a:cs typeface="Palatino Linotype"/>
              </a:rPr>
              <a:t> </a:t>
            </a:r>
            <a:r>
              <a:rPr sz="1400" kern="1200" dirty="0">
                <a:solidFill>
                  <a:srgbClr val="FF0000"/>
                </a:solidFill>
                <a:latin typeface="Cambria Math"/>
                <a:cs typeface="Cambria Math"/>
              </a:rPr>
              <a:t>𝑛𝑒𝑥𝑡𝑖𝑛𝑠𝑡𝑟</a:t>
            </a:r>
            <a:r>
              <a:rPr sz="1400" kern="1200" dirty="0">
                <a:solidFill>
                  <a:srgbClr val="FF0000"/>
                </a:solidFill>
                <a:latin typeface="Palatino Linotype"/>
                <a:cs typeface="Palatino Linotype"/>
              </a:rPr>
              <a:t>,</a:t>
            </a:r>
            <a:r>
              <a:rPr sz="1400" kern="1200" spc="-5" dirty="0">
                <a:solidFill>
                  <a:srgbClr val="FF0000"/>
                </a:solidFill>
                <a:latin typeface="Palatino Linotype"/>
                <a:cs typeface="Palatino Linotype"/>
              </a:rPr>
              <a:t> </a:t>
            </a:r>
            <a:r>
              <a:rPr sz="1400" kern="1200" dirty="0">
                <a:solidFill>
                  <a:srgbClr val="FF0000"/>
                </a:solidFill>
                <a:latin typeface="Palatino Linotype"/>
                <a:cs typeface="Palatino Linotype"/>
              </a:rPr>
              <a:t>102</a:t>
            </a:r>
            <a:endParaRPr sz="1400" kern="1200" dirty="0">
              <a:solidFill>
                <a:prstClr val="black"/>
              </a:solidFill>
              <a:latin typeface="Palatino Linotype"/>
              <a:cs typeface="Palatino Linotype"/>
            </a:endParaRPr>
          </a:p>
        </p:txBody>
      </p:sp>
      <p:sp>
        <p:nvSpPr>
          <p:cNvPr id="17" name="object 6">
            <a:extLst>
              <a:ext uri="{FF2B5EF4-FFF2-40B4-BE49-F238E27FC236}">
                <a16:creationId xmlns:a16="http://schemas.microsoft.com/office/drawing/2014/main" id="{1C564F83-3E62-5355-F55B-C7BDE722CBFE}"/>
              </a:ext>
            </a:extLst>
          </p:cNvPr>
          <p:cNvSpPr/>
          <p:nvPr/>
        </p:nvSpPr>
        <p:spPr>
          <a:xfrm>
            <a:off x="1813309" y="4579239"/>
            <a:ext cx="1189355" cy="1656080"/>
          </a:xfrm>
          <a:custGeom>
            <a:avLst/>
            <a:gdLst/>
            <a:ahLst/>
            <a:cxnLst/>
            <a:rect l="l" t="t" r="r" b="b"/>
            <a:pathLst>
              <a:path w="1189355" h="1656079">
                <a:moveTo>
                  <a:pt x="835783" y="0"/>
                </a:moveTo>
                <a:lnTo>
                  <a:pt x="823718" y="3810"/>
                </a:lnTo>
                <a:lnTo>
                  <a:pt x="839212" y="52197"/>
                </a:lnTo>
                <a:lnTo>
                  <a:pt x="851277" y="48387"/>
                </a:lnTo>
                <a:lnTo>
                  <a:pt x="835783" y="0"/>
                </a:lnTo>
                <a:close/>
              </a:path>
              <a:path w="1189355" h="1656079">
                <a:moveTo>
                  <a:pt x="869133" y="106934"/>
                </a:moveTo>
                <a:lnTo>
                  <a:pt x="855976" y="106934"/>
                </a:lnTo>
                <a:lnTo>
                  <a:pt x="864485" y="137160"/>
                </a:lnTo>
                <a:lnTo>
                  <a:pt x="876677" y="133731"/>
                </a:lnTo>
                <a:lnTo>
                  <a:pt x="869133" y="106934"/>
                </a:lnTo>
                <a:close/>
              </a:path>
              <a:path w="1189355" h="1656079">
                <a:moveTo>
                  <a:pt x="862580" y="84836"/>
                </a:moveTo>
                <a:lnTo>
                  <a:pt x="850388" y="88518"/>
                </a:lnTo>
                <a:lnTo>
                  <a:pt x="855976" y="107061"/>
                </a:lnTo>
                <a:lnTo>
                  <a:pt x="869133" y="106934"/>
                </a:lnTo>
                <a:lnTo>
                  <a:pt x="868168" y="103505"/>
                </a:lnTo>
                <a:lnTo>
                  <a:pt x="862580" y="84836"/>
                </a:lnTo>
                <a:close/>
              </a:path>
              <a:path w="1189355" h="1656079">
                <a:moveTo>
                  <a:pt x="886329" y="170815"/>
                </a:moveTo>
                <a:lnTo>
                  <a:pt x="874137" y="173990"/>
                </a:lnTo>
                <a:lnTo>
                  <a:pt x="874264" y="174498"/>
                </a:lnTo>
                <a:lnTo>
                  <a:pt x="881630" y="207391"/>
                </a:lnTo>
                <a:lnTo>
                  <a:pt x="884424" y="223138"/>
                </a:lnTo>
                <a:lnTo>
                  <a:pt x="896997" y="220980"/>
                </a:lnTo>
                <a:lnTo>
                  <a:pt x="894076" y="204724"/>
                </a:lnTo>
                <a:lnTo>
                  <a:pt x="886583" y="171450"/>
                </a:lnTo>
                <a:lnTo>
                  <a:pt x="886329" y="170815"/>
                </a:lnTo>
                <a:close/>
              </a:path>
              <a:path w="1189355" h="1656079">
                <a:moveTo>
                  <a:pt x="881503" y="207137"/>
                </a:moveTo>
                <a:lnTo>
                  <a:pt x="881549" y="207391"/>
                </a:lnTo>
                <a:lnTo>
                  <a:pt x="881503" y="207137"/>
                </a:lnTo>
                <a:close/>
              </a:path>
              <a:path w="1189355" h="1656079">
                <a:moveTo>
                  <a:pt x="874137" y="174244"/>
                </a:moveTo>
                <a:lnTo>
                  <a:pt x="874194" y="174498"/>
                </a:lnTo>
                <a:lnTo>
                  <a:pt x="874137" y="174244"/>
                </a:lnTo>
                <a:close/>
              </a:path>
              <a:path w="1189355" h="1656079">
                <a:moveTo>
                  <a:pt x="906279" y="301498"/>
                </a:moveTo>
                <a:lnTo>
                  <a:pt x="893695" y="301498"/>
                </a:lnTo>
                <a:lnTo>
                  <a:pt x="893822" y="310515"/>
                </a:lnTo>
                <a:lnTo>
                  <a:pt x="906522" y="310261"/>
                </a:lnTo>
                <a:lnTo>
                  <a:pt x="906279" y="301498"/>
                </a:lnTo>
                <a:close/>
              </a:path>
              <a:path w="1189355" h="1656079">
                <a:moveTo>
                  <a:pt x="902712" y="258953"/>
                </a:moveTo>
                <a:lnTo>
                  <a:pt x="890139" y="260477"/>
                </a:lnTo>
                <a:lnTo>
                  <a:pt x="891536" y="271144"/>
                </a:lnTo>
                <a:lnTo>
                  <a:pt x="893695" y="301879"/>
                </a:lnTo>
                <a:lnTo>
                  <a:pt x="893695" y="301498"/>
                </a:lnTo>
                <a:lnTo>
                  <a:pt x="906279" y="301498"/>
                </a:lnTo>
                <a:lnTo>
                  <a:pt x="906268" y="301117"/>
                </a:lnTo>
                <a:lnTo>
                  <a:pt x="904109" y="269748"/>
                </a:lnTo>
                <a:lnTo>
                  <a:pt x="902712" y="258953"/>
                </a:lnTo>
                <a:close/>
              </a:path>
              <a:path w="1189355" h="1656079">
                <a:moveTo>
                  <a:pt x="891409" y="270763"/>
                </a:moveTo>
                <a:lnTo>
                  <a:pt x="891437" y="271144"/>
                </a:lnTo>
                <a:lnTo>
                  <a:pt x="891409" y="270763"/>
                </a:lnTo>
                <a:close/>
              </a:path>
              <a:path w="1189355" h="1656079">
                <a:moveTo>
                  <a:pt x="899046" y="387096"/>
                </a:moveTo>
                <a:lnTo>
                  <a:pt x="886075" y="387096"/>
                </a:lnTo>
                <a:lnTo>
                  <a:pt x="883408" y="396621"/>
                </a:lnTo>
                <a:lnTo>
                  <a:pt x="895727" y="399923"/>
                </a:lnTo>
                <a:lnTo>
                  <a:pt x="898394" y="390271"/>
                </a:lnTo>
                <a:lnTo>
                  <a:pt x="899046" y="387096"/>
                </a:lnTo>
                <a:close/>
              </a:path>
              <a:path w="1189355" h="1656079">
                <a:moveTo>
                  <a:pt x="892425" y="347725"/>
                </a:moveTo>
                <a:lnTo>
                  <a:pt x="891155" y="360044"/>
                </a:lnTo>
                <a:lnTo>
                  <a:pt x="888869" y="373888"/>
                </a:lnTo>
                <a:lnTo>
                  <a:pt x="885948" y="387477"/>
                </a:lnTo>
                <a:lnTo>
                  <a:pt x="886075" y="387096"/>
                </a:lnTo>
                <a:lnTo>
                  <a:pt x="899046" y="387096"/>
                </a:lnTo>
                <a:lnTo>
                  <a:pt x="901315" y="376047"/>
                </a:lnTo>
                <a:lnTo>
                  <a:pt x="903728" y="361569"/>
                </a:lnTo>
                <a:lnTo>
                  <a:pt x="905125" y="349123"/>
                </a:lnTo>
                <a:lnTo>
                  <a:pt x="892425" y="347725"/>
                </a:lnTo>
                <a:close/>
              </a:path>
              <a:path w="1189355" h="1656079">
                <a:moveTo>
                  <a:pt x="888869" y="373634"/>
                </a:moveTo>
                <a:lnTo>
                  <a:pt x="888815" y="373888"/>
                </a:lnTo>
                <a:lnTo>
                  <a:pt x="888869" y="373634"/>
                </a:lnTo>
                <a:close/>
              </a:path>
              <a:path w="1189355" h="1656079">
                <a:moveTo>
                  <a:pt x="891155" y="359663"/>
                </a:moveTo>
                <a:lnTo>
                  <a:pt x="891094" y="360044"/>
                </a:lnTo>
                <a:lnTo>
                  <a:pt x="891155" y="359663"/>
                </a:lnTo>
                <a:close/>
              </a:path>
              <a:path w="1189355" h="1656079">
                <a:moveTo>
                  <a:pt x="867683" y="461772"/>
                </a:moveTo>
                <a:lnTo>
                  <a:pt x="852420" y="461772"/>
                </a:lnTo>
                <a:lnTo>
                  <a:pt x="852166" y="462153"/>
                </a:lnTo>
                <a:lnTo>
                  <a:pt x="844038" y="472821"/>
                </a:lnTo>
                <a:lnTo>
                  <a:pt x="854071" y="480568"/>
                </a:lnTo>
                <a:lnTo>
                  <a:pt x="862707" y="469392"/>
                </a:lnTo>
                <a:lnTo>
                  <a:pt x="867683" y="461772"/>
                </a:lnTo>
                <a:close/>
              </a:path>
              <a:path w="1189355" h="1656079">
                <a:moveTo>
                  <a:pt x="852399" y="461799"/>
                </a:moveTo>
                <a:lnTo>
                  <a:pt x="852131" y="462153"/>
                </a:lnTo>
                <a:lnTo>
                  <a:pt x="852399" y="461799"/>
                </a:lnTo>
                <a:close/>
              </a:path>
              <a:path w="1189355" h="1656079">
                <a:moveTo>
                  <a:pt x="870327" y="431038"/>
                </a:moveTo>
                <a:lnTo>
                  <a:pt x="866771" y="438658"/>
                </a:lnTo>
                <a:lnTo>
                  <a:pt x="859913" y="450469"/>
                </a:lnTo>
                <a:lnTo>
                  <a:pt x="852399" y="461799"/>
                </a:lnTo>
                <a:lnTo>
                  <a:pt x="867683" y="461772"/>
                </a:lnTo>
                <a:lnTo>
                  <a:pt x="870835" y="456946"/>
                </a:lnTo>
                <a:lnTo>
                  <a:pt x="878074" y="444373"/>
                </a:lnTo>
                <a:lnTo>
                  <a:pt x="881757" y="436625"/>
                </a:lnTo>
                <a:lnTo>
                  <a:pt x="870327" y="431038"/>
                </a:lnTo>
                <a:close/>
              </a:path>
              <a:path w="1189355" h="1656079">
                <a:moveTo>
                  <a:pt x="860040" y="450215"/>
                </a:moveTo>
                <a:lnTo>
                  <a:pt x="859872" y="450469"/>
                </a:lnTo>
                <a:lnTo>
                  <a:pt x="860040" y="450215"/>
                </a:lnTo>
                <a:close/>
              </a:path>
              <a:path w="1189355" h="1656079">
                <a:moveTo>
                  <a:pt x="866898" y="438277"/>
                </a:moveTo>
                <a:lnTo>
                  <a:pt x="866680" y="438658"/>
                </a:lnTo>
                <a:lnTo>
                  <a:pt x="866898" y="438277"/>
                </a:lnTo>
                <a:close/>
              </a:path>
              <a:path w="1189355" h="1656079">
                <a:moveTo>
                  <a:pt x="809639" y="518668"/>
                </a:moveTo>
                <a:lnTo>
                  <a:pt x="781427" y="518668"/>
                </a:lnTo>
                <a:lnTo>
                  <a:pt x="774823" y="521208"/>
                </a:lnTo>
                <a:lnTo>
                  <a:pt x="779522" y="533019"/>
                </a:lnTo>
                <a:lnTo>
                  <a:pt x="786126" y="530352"/>
                </a:lnTo>
                <a:lnTo>
                  <a:pt x="802890" y="522605"/>
                </a:lnTo>
                <a:lnTo>
                  <a:pt x="809639" y="518668"/>
                </a:lnTo>
                <a:close/>
              </a:path>
              <a:path w="1189355" h="1656079">
                <a:moveTo>
                  <a:pt x="821556" y="511175"/>
                </a:moveTo>
                <a:lnTo>
                  <a:pt x="797302" y="511175"/>
                </a:lnTo>
                <a:lnTo>
                  <a:pt x="796794" y="511429"/>
                </a:lnTo>
                <a:lnTo>
                  <a:pt x="781046" y="518794"/>
                </a:lnTo>
                <a:lnTo>
                  <a:pt x="781427" y="518668"/>
                </a:lnTo>
                <a:lnTo>
                  <a:pt x="809639" y="518668"/>
                </a:lnTo>
                <a:lnTo>
                  <a:pt x="818130" y="513715"/>
                </a:lnTo>
                <a:lnTo>
                  <a:pt x="821556" y="511175"/>
                </a:lnTo>
                <a:close/>
              </a:path>
              <a:path w="1189355" h="1656079">
                <a:moveTo>
                  <a:pt x="796933" y="511347"/>
                </a:moveTo>
                <a:lnTo>
                  <a:pt x="796760" y="511429"/>
                </a:lnTo>
                <a:lnTo>
                  <a:pt x="796933" y="511347"/>
                </a:lnTo>
                <a:close/>
              </a:path>
              <a:path w="1189355" h="1656079">
                <a:moveTo>
                  <a:pt x="821611" y="502919"/>
                </a:moveTo>
                <a:lnTo>
                  <a:pt x="811399" y="502919"/>
                </a:lnTo>
                <a:lnTo>
                  <a:pt x="796933" y="511347"/>
                </a:lnTo>
                <a:lnTo>
                  <a:pt x="797302" y="511175"/>
                </a:lnTo>
                <a:lnTo>
                  <a:pt x="821556" y="511175"/>
                </a:lnTo>
                <a:lnTo>
                  <a:pt x="825496" y="508254"/>
                </a:lnTo>
                <a:lnTo>
                  <a:pt x="821611" y="502919"/>
                </a:lnTo>
                <a:close/>
              </a:path>
              <a:path w="1189355" h="1656079">
                <a:moveTo>
                  <a:pt x="818003" y="497967"/>
                </a:moveTo>
                <a:lnTo>
                  <a:pt x="810891" y="503174"/>
                </a:lnTo>
                <a:lnTo>
                  <a:pt x="811399" y="502919"/>
                </a:lnTo>
                <a:lnTo>
                  <a:pt x="821611" y="502919"/>
                </a:lnTo>
                <a:lnTo>
                  <a:pt x="818003" y="497967"/>
                </a:lnTo>
                <a:close/>
              </a:path>
              <a:path w="1189355" h="1656079">
                <a:moveTo>
                  <a:pt x="704465" y="541782"/>
                </a:moveTo>
                <a:lnTo>
                  <a:pt x="690368" y="544703"/>
                </a:lnTo>
                <a:lnTo>
                  <a:pt x="692908" y="557149"/>
                </a:lnTo>
                <a:lnTo>
                  <a:pt x="707005" y="554228"/>
                </a:lnTo>
                <a:lnTo>
                  <a:pt x="728468" y="549275"/>
                </a:lnTo>
                <a:lnTo>
                  <a:pt x="742819" y="545338"/>
                </a:lnTo>
                <a:lnTo>
                  <a:pt x="741855" y="541909"/>
                </a:lnTo>
                <a:lnTo>
                  <a:pt x="704211" y="541909"/>
                </a:lnTo>
                <a:lnTo>
                  <a:pt x="704465" y="541782"/>
                </a:lnTo>
                <a:close/>
              </a:path>
              <a:path w="1189355" h="1656079">
                <a:moveTo>
                  <a:pt x="739390" y="533146"/>
                </a:moveTo>
                <a:lnTo>
                  <a:pt x="725293" y="536956"/>
                </a:lnTo>
                <a:lnTo>
                  <a:pt x="725420" y="536956"/>
                </a:lnTo>
                <a:lnTo>
                  <a:pt x="704211" y="541909"/>
                </a:lnTo>
                <a:lnTo>
                  <a:pt x="741855" y="541909"/>
                </a:lnTo>
                <a:lnTo>
                  <a:pt x="739390" y="533146"/>
                </a:lnTo>
                <a:close/>
              </a:path>
              <a:path w="1189355" h="1656079">
                <a:moveTo>
                  <a:pt x="653157" y="551307"/>
                </a:moveTo>
                <a:lnTo>
                  <a:pt x="635504" y="554228"/>
                </a:lnTo>
                <a:lnTo>
                  <a:pt x="635631" y="554228"/>
                </a:lnTo>
                <a:lnTo>
                  <a:pt x="611120" y="557657"/>
                </a:lnTo>
                <a:lnTo>
                  <a:pt x="603119" y="558800"/>
                </a:lnTo>
                <a:lnTo>
                  <a:pt x="604770" y="571373"/>
                </a:lnTo>
                <a:lnTo>
                  <a:pt x="637536" y="566674"/>
                </a:lnTo>
                <a:lnTo>
                  <a:pt x="655189" y="563880"/>
                </a:lnTo>
                <a:lnTo>
                  <a:pt x="653157" y="551307"/>
                </a:lnTo>
                <a:close/>
              </a:path>
              <a:path w="1189355" h="1656079">
                <a:moveTo>
                  <a:pt x="565273" y="563880"/>
                </a:moveTo>
                <a:lnTo>
                  <a:pt x="560955" y="564388"/>
                </a:lnTo>
                <a:lnTo>
                  <a:pt x="514981" y="570484"/>
                </a:lnTo>
                <a:lnTo>
                  <a:pt x="516632" y="583057"/>
                </a:lnTo>
                <a:lnTo>
                  <a:pt x="562606" y="577088"/>
                </a:lnTo>
                <a:lnTo>
                  <a:pt x="567051" y="576453"/>
                </a:lnTo>
                <a:lnTo>
                  <a:pt x="565273" y="563880"/>
                </a:lnTo>
                <a:close/>
              </a:path>
              <a:path w="1189355" h="1656079">
                <a:moveTo>
                  <a:pt x="477135" y="575818"/>
                </a:moveTo>
                <a:lnTo>
                  <a:pt x="457704" y="578612"/>
                </a:lnTo>
                <a:lnTo>
                  <a:pt x="426843" y="583819"/>
                </a:lnTo>
                <a:lnTo>
                  <a:pt x="429002" y="596265"/>
                </a:lnTo>
                <a:lnTo>
                  <a:pt x="459736" y="591058"/>
                </a:lnTo>
                <a:lnTo>
                  <a:pt x="478913" y="588391"/>
                </a:lnTo>
                <a:lnTo>
                  <a:pt x="477135" y="575818"/>
                </a:lnTo>
                <a:close/>
              </a:path>
              <a:path w="1189355" h="1656079">
                <a:moveTo>
                  <a:pt x="389124" y="590677"/>
                </a:moveTo>
                <a:lnTo>
                  <a:pt x="381758" y="592201"/>
                </a:lnTo>
                <a:lnTo>
                  <a:pt x="357120" y="597662"/>
                </a:lnTo>
                <a:lnTo>
                  <a:pt x="339340" y="602361"/>
                </a:lnTo>
                <a:lnTo>
                  <a:pt x="342642" y="614680"/>
                </a:lnTo>
                <a:lnTo>
                  <a:pt x="360295" y="609981"/>
                </a:lnTo>
                <a:lnTo>
                  <a:pt x="360595" y="609981"/>
                </a:lnTo>
                <a:lnTo>
                  <a:pt x="384425" y="604519"/>
                </a:lnTo>
                <a:lnTo>
                  <a:pt x="384912" y="604519"/>
                </a:lnTo>
                <a:lnTo>
                  <a:pt x="391664" y="603123"/>
                </a:lnTo>
                <a:lnTo>
                  <a:pt x="389124" y="590677"/>
                </a:lnTo>
                <a:close/>
              </a:path>
              <a:path w="1189355" h="1656079">
                <a:moveTo>
                  <a:pt x="360595" y="609981"/>
                </a:moveTo>
                <a:lnTo>
                  <a:pt x="360295" y="609981"/>
                </a:lnTo>
                <a:lnTo>
                  <a:pt x="360041" y="610108"/>
                </a:lnTo>
                <a:lnTo>
                  <a:pt x="360595" y="609981"/>
                </a:lnTo>
                <a:close/>
              </a:path>
              <a:path w="1189355" h="1656079">
                <a:moveTo>
                  <a:pt x="384912" y="604519"/>
                </a:moveTo>
                <a:lnTo>
                  <a:pt x="384425" y="604519"/>
                </a:lnTo>
                <a:lnTo>
                  <a:pt x="384298" y="604647"/>
                </a:lnTo>
                <a:lnTo>
                  <a:pt x="384912" y="604519"/>
                </a:lnTo>
                <a:close/>
              </a:path>
              <a:path w="1189355" h="1656079">
                <a:moveTo>
                  <a:pt x="302510" y="613537"/>
                </a:moveTo>
                <a:lnTo>
                  <a:pt x="287905" y="618617"/>
                </a:lnTo>
                <a:lnTo>
                  <a:pt x="266442" y="627253"/>
                </a:lnTo>
                <a:lnTo>
                  <a:pt x="254758" y="632841"/>
                </a:lnTo>
                <a:lnTo>
                  <a:pt x="260219" y="644398"/>
                </a:lnTo>
                <a:lnTo>
                  <a:pt x="271776" y="638810"/>
                </a:lnTo>
                <a:lnTo>
                  <a:pt x="272015" y="638810"/>
                </a:lnTo>
                <a:lnTo>
                  <a:pt x="292477" y="630428"/>
                </a:lnTo>
                <a:lnTo>
                  <a:pt x="306574" y="625602"/>
                </a:lnTo>
                <a:lnTo>
                  <a:pt x="302510" y="613537"/>
                </a:lnTo>
                <a:close/>
              </a:path>
              <a:path w="1189355" h="1656079">
                <a:moveTo>
                  <a:pt x="272015" y="638810"/>
                </a:moveTo>
                <a:lnTo>
                  <a:pt x="271776" y="638810"/>
                </a:lnTo>
                <a:lnTo>
                  <a:pt x="271395" y="639063"/>
                </a:lnTo>
                <a:lnTo>
                  <a:pt x="272015" y="638810"/>
                </a:lnTo>
                <a:close/>
              </a:path>
              <a:path w="1189355" h="1656079">
                <a:moveTo>
                  <a:pt x="292591" y="630428"/>
                </a:moveTo>
                <a:lnTo>
                  <a:pt x="292223" y="630555"/>
                </a:lnTo>
                <a:lnTo>
                  <a:pt x="292591" y="630428"/>
                </a:lnTo>
                <a:close/>
              </a:path>
              <a:path w="1189355" h="1656079">
                <a:moveTo>
                  <a:pt x="220722" y="651891"/>
                </a:moveTo>
                <a:lnTo>
                  <a:pt x="209419" y="659511"/>
                </a:lnTo>
                <a:lnTo>
                  <a:pt x="193163" y="672719"/>
                </a:lnTo>
                <a:lnTo>
                  <a:pt x="180717" y="684784"/>
                </a:lnTo>
                <a:lnTo>
                  <a:pt x="189480" y="693928"/>
                </a:lnTo>
                <a:lnTo>
                  <a:pt x="201406" y="682371"/>
                </a:lnTo>
                <a:lnTo>
                  <a:pt x="216694" y="669925"/>
                </a:lnTo>
                <a:lnTo>
                  <a:pt x="217166" y="669544"/>
                </a:lnTo>
                <a:lnTo>
                  <a:pt x="227834" y="662432"/>
                </a:lnTo>
                <a:lnTo>
                  <a:pt x="220722" y="651891"/>
                </a:lnTo>
                <a:close/>
              </a:path>
              <a:path w="1189355" h="1656079">
                <a:moveTo>
                  <a:pt x="201799" y="681990"/>
                </a:moveTo>
                <a:lnTo>
                  <a:pt x="201291" y="682371"/>
                </a:lnTo>
                <a:lnTo>
                  <a:pt x="201799" y="681990"/>
                </a:lnTo>
                <a:close/>
              </a:path>
              <a:path w="1189355" h="1656079">
                <a:moveTo>
                  <a:pt x="217166" y="669544"/>
                </a:moveTo>
                <a:lnTo>
                  <a:pt x="216658" y="669925"/>
                </a:lnTo>
                <a:lnTo>
                  <a:pt x="216872" y="669781"/>
                </a:lnTo>
                <a:lnTo>
                  <a:pt x="217166" y="669544"/>
                </a:lnTo>
                <a:close/>
              </a:path>
              <a:path w="1189355" h="1656079">
                <a:moveTo>
                  <a:pt x="216872" y="669781"/>
                </a:moveTo>
                <a:lnTo>
                  <a:pt x="216658" y="669925"/>
                </a:lnTo>
                <a:lnTo>
                  <a:pt x="216872" y="669781"/>
                </a:lnTo>
                <a:close/>
              </a:path>
              <a:path w="1189355" h="1656079">
                <a:moveTo>
                  <a:pt x="217226" y="669544"/>
                </a:moveTo>
                <a:lnTo>
                  <a:pt x="216872" y="669781"/>
                </a:lnTo>
                <a:lnTo>
                  <a:pt x="217226" y="669544"/>
                </a:lnTo>
                <a:close/>
              </a:path>
              <a:path w="1189355" h="1656079">
                <a:moveTo>
                  <a:pt x="156460" y="715645"/>
                </a:moveTo>
                <a:lnTo>
                  <a:pt x="153285" y="720217"/>
                </a:lnTo>
                <a:lnTo>
                  <a:pt x="141474" y="739267"/>
                </a:lnTo>
                <a:lnTo>
                  <a:pt x="129790" y="759714"/>
                </a:lnTo>
                <a:lnTo>
                  <a:pt x="129790" y="759841"/>
                </a:lnTo>
                <a:lnTo>
                  <a:pt x="140966" y="765683"/>
                </a:lnTo>
                <a:lnTo>
                  <a:pt x="140966" y="765937"/>
                </a:lnTo>
                <a:lnTo>
                  <a:pt x="152396" y="745617"/>
                </a:lnTo>
                <a:lnTo>
                  <a:pt x="163920" y="727329"/>
                </a:lnTo>
                <a:lnTo>
                  <a:pt x="166874" y="722884"/>
                </a:lnTo>
                <a:lnTo>
                  <a:pt x="156460" y="715645"/>
                </a:lnTo>
                <a:close/>
              </a:path>
              <a:path w="1189355" h="1656079">
                <a:moveTo>
                  <a:pt x="152429" y="745617"/>
                </a:moveTo>
                <a:lnTo>
                  <a:pt x="152269" y="745871"/>
                </a:lnTo>
                <a:lnTo>
                  <a:pt x="152429" y="745617"/>
                </a:lnTo>
                <a:close/>
              </a:path>
              <a:path w="1189355" h="1656079">
                <a:moveTo>
                  <a:pt x="164080" y="727075"/>
                </a:moveTo>
                <a:lnTo>
                  <a:pt x="163826" y="727329"/>
                </a:lnTo>
                <a:lnTo>
                  <a:pt x="164080" y="727075"/>
                </a:lnTo>
                <a:close/>
              </a:path>
              <a:path w="1189355" h="1656079">
                <a:moveTo>
                  <a:pt x="112391" y="794004"/>
                </a:moveTo>
                <a:lnTo>
                  <a:pt x="106930" y="805180"/>
                </a:lnTo>
                <a:lnTo>
                  <a:pt x="96008" y="829818"/>
                </a:lnTo>
                <a:lnTo>
                  <a:pt x="91436" y="840613"/>
                </a:lnTo>
                <a:lnTo>
                  <a:pt x="103247" y="845439"/>
                </a:lnTo>
                <a:lnTo>
                  <a:pt x="107639" y="834898"/>
                </a:lnTo>
                <a:lnTo>
                  <a:pt x="118487" y="810387"/>
                </a:lnTo>
                <a:lnTo>
                  <a:pt x="123821" y="799465"/>
                </a:lnTo>
                <a:lnTo>
                  <a:pt x="112391" y="794004"/>
                </a:lnTo>
                <a:close/>
              </a:path>
              <a:path w="1189355" h="1656079">
                <a:moveTo>
                  <a:pt x="107692" y="834771"/>
                </a:moveTo>
                <a:lnTo>
                  <a:pt x="107565" y="834898"/>
                </a:lnTo>
                <a:lnTo>
                  <a:pt x="107692" y="834771"/>
                </a:lnTo>
                <a:close/>
              </a:path>
              <a:path w="1189355" h="1656079">
                <a:moveTo>
                  <a:pt x="118608" y="810387"/>
                </a:moveTo>
                <a:lnTo>
                  <a:pt x="118487" y="810641"/>
                </a:lnTo>
                <a:lnTo>
                  <a:pt x="118608" y="810387"/>
                </a:lnTo>
                <a:close/>
              </a:path>
              <a:path w="1189355" h="1656079">
                <a:moveTo>
                  <a:pt x="77339" y="876173"/>
                </a:moveTo>
                <a:lnTo>
                  <a:pt x="74926" y="882396"/>
                </a:lnTo>
                <a:lnTo>
                  <a:pt x="65147" y="910082"/>
                </a:lnTo>
                <a:lnTo>
                  <a:pt x="60321" y="924433"/>
                </a:lnTo>
                <a:lnTo>
                  <a:pt x="72386" y="928370"/>
                </a:lnTo>
                <a:lnTo>
                  <a:pt x="77043" y="914273"/>
                </a:lnTo>
                <a:lnTo>
                  <a:pt x="77130" y="914146"/>
                </a:lnTo>
                <a:lnTo>
                  <a:pt x="86819" y="886841"/>
                </a:lnTo>
                <a:lnTo>
                  <a:pt x="86912" y="886714"/>
                </a:lnTo>
                <a:lnTo>
                  <a:pt x="89150" y="880745"/>
                </a:lnTo>
                <a:lnTo>
                  <a:pt x="77339" y="876173"/>
                </a:lnTo>
                <a:close/>
              </a:path>
              <a:path w="1189355" h="1656079">
                <a:moveTo>
                  <a:pt x="77130" y="914146"/>
                </a:moveTo>
                <a:lnTo>
                  <a:pt x="77085" y="914273"/>
                </a:lnTo>
                <a:lnTo>
                  <a:pt x="77130" y="914146"/>
                </a:lnTo>
                <a:close/>
              </a:path>
              <a:path w="1189355" h="1656079">
                <a:moveTo>
                  <a:pt x="86912" y="886714"/>
                </a:moveTo>
                <a:lnTo>
                  <a:pt x="86864" y="886841"/>
                </a:lnTo>
                <a:lnTo>
                  <a:pt x="86912" y="886714"/>
                </a:lnTo>
                <a:close/>
              </a:path>
              <a:path w="1189355" h="1656079">
                <a:moveTo>
                  <a:pt x="48891" y="960882"/>
                </a:moveTo>
                <a:lnTo>
                  <a:pt x="46859" y="967740"/>
                </a:lnTo>
                <a:lnTo>
                  <a:pt x="38604" y="997331"/>
                </a:lnTo>
                <a:lnTo>
                  <a:pt x="35429" y="1010145"/>
                </a:lnTo>
                <a:lnTo>
                  <a:pt x="47748" y="1013244"/>
                </a:lnTo>
                <a:lnTo>
                  <a:pt x="50891" y="1000633"/>
                </a:lnTo>
                <a:lnTo>
                  <a:pt x="59015" y="971296"/>
                </a:lnTo>
                <a:lnTo>
                  <a:pt x="61083" y="964565"/>
                </a:lnTo>
                <a:lnTo>
                  <a:pt x="48891" y="960882"/>
                </a:lnTo>
                <a:close/>
              </a:path>
              <a:path w="1189355" h="1656079">
                <a:moveTo>
                  <a:pt x="50923" y="1000506"/>
                </a:moveTo>
                <a:lnTo>
                  <a:pt x="50796" y="1000633"/>
                </a:lnTo>
                <a:lnTo>
                  <a:pt x="50923" y="1000506"/>
                </a:lnTo>
                <a:close/>
              </a:path>
              <a:path w="1189355" h="1656079">
                <a:moveTo>
                  <a:pt x="59089" y="971169"/>
                </a:moveTo>
                <a:close/>
              </a:path>
              <a:path w="1189355" h="1656079">
                <a:moveTo>
                  <a:pt x="26412" y="1047318"/>
                </a:moveTo>
                <a:lnTo>
                  <a:pt x="23999" y="1057744"/>
                </a:lnTo>
                <a:lnTo>
                  <a:pt x="17903" y="1088301"/>
                </a:lnTo>
                <a:lnTo>
                  <a:pt x="16379" y="1097457"/>
                </a:lnTo>
                <a:lnTo>
                  <a:pt x="28825" y="1099616"/>
                </a:lnTo>
                <a:lnTo>
                  <a:pt x="30446" y="1090714"/>
                </a:lnTo>
                <a:lnTo>
                  <a:pt x="36409" y="1060513"/>
                </a:lnTo>
                <a:lnTo>
                  <a:pt x="36486" y="1060335"/>
                </a:lnTo>
                <a:lnTo>
                  <a:pt x="38858" y="1050175"/>
                </a:lnTo>
                <a:lnTo>
                  <a:pt x="26412" y="1047318"/>
                </a:lnTo>
                <a:close/>
              </a:path>
              <a:path w="1189355" h="1656079">
                <a:moveTo>
                  <a:pt x="30476" y="1090549"/>
                </a:moveTo>
                <a:lnTo>
                  <a:pt x="30349" y="1090714"/>
                </a:lnTo>
                <a:lnTo>
                  <a:pt x="30476" y="1090549"/>
                </a:lnTo>
                <a:close/>
              </a:path>
              <a:path w="1189355" h="1656079">
                <a:moveTo>
                  <a:pt x="36486" y="1060335"/>
                </a:moveTo>
                <a:lnTo>
                  <a:pt x="36445" y="1060513"/>
                </a:lnTo>
                <a:lnTo>
                  <a:pt x="36486" y="1060335"/>
                </a:lnTo>
                <a:close/>
              </a:path>
              <a:path w="1189355" h="1656079">
                <a:moveTo>
                  <a:pt x="10283" y="1135227"/>
                </a:moveTo>
                <a:lnTo>
                  <a:pt x="8124" y="1149502"/>
                </a:lnTo>
                <a:lnTo>
                  <a:pt x="4568" y="1179880"/>
                </a:lnTo>
                <a:lnTo>
                  <a:pt x="4060" y="1186027"/>
                </a:lnTo>
                <a:lnTo>
                  <a:pt x="16760" y="1187107"/>
                </a:lnTo>
                <a:lnTo>
                  <a:pt x="17252" y="1181265"/>
                </a:lnTo>
                <a:lnTo>
                  <a:pt x="17290" y="1181074"/>
                </a:lnTo>
                <a:lnTo>
                  <a:pt x="20675" y="1151255"/>
                </a:lnTo>
                <a:lnTo>
                  <a:pt x="20726" y="1151064"/>
                </a:lnTo>
                <a:lnTo>
                  <a:pt x="22856" y="1137069"/>
                </a:lnTo>
                <a:lnTo>
                  <a:pt x="10283" y="1135227"/>
                </a:lnTo>
                <a:close/>
              </a:path>
              <a:path w="1189355" h="1656079">
                <a:moveTo>
                  <a:pt x="17290" y="1181074"/>
                </a:moveTo>
                <a:lnTo>
                  <a:pt x="17268" y="1181265"/>
                </a:lnTo>
                <a:lnTo>
                  <a:pt x="17290" y="1181074"/>
                </a:lnTo>
                <a:close/>
              </a:path>
              <a:path w="1189355" h="1656079">
                <a:moveTo>
                  <a:pt x="20726" y="1151064"/>
                </a:moveTo>
                <a:lnTo>
                  <a:pt x="20697" y="1151255"/>
                </a:lnTo>
                <a:lnTo>
                  <a:pt x="20726" y="1151064"/>
                </a:lnTo>
                <a:close/>
              </a:path>
              <a:path w="1189355" h="1656079">
                <a:moveTo>
                  <a:pt x="1266" y="1224229"/>
                </a:moveTo>
                <a:lnTo>
                  <a:pt x="504" y="1239647"/>
                </a:lnTo>
                <a:lnTo>
                  <a:pt x="0" y="1268653"/>
                </a:lnTo>
                <a:lnTo>
                  <a:pt x="123" y="1275499"/>
                </a:lnTo>
                <a:lnTo>
                  <a:pt x="12823" y="1275156"/>
                </a:lnTo>
                <a:lnTo>
                  <a:pt x="12701" y="1268653"/>
                </a:lnTo>
                <a:lnTo>
                  <a:pt x="13231" y="1239647"/>
                </a:lnTo>
                <a:lnTo>
                  <a:pt x="13966" y="1224889"/>
                </a:lnTo>
                <a:lnTo>
                  <a:pt x="1266" y="1224229"/>
                </a:lnTo>
                <a:close/>
              </a:path>
              <a:path w="1189355" h="1656079">
                <a:moveTo>
                  <a:pt x="13215" y="1239977"/>
                </a:moveTo>
                <a:lnTo>
                  <a:pt x="13204" y="1240193"/>
                </a:lnTo>
                <a:lnTo>
                  <a:pt x="13215" y="1239977"/>
                </a:lnTo>
                <a:close/>
              </a:path>
              <a:path w="1189355" h="1656079">
                <a:moveTo>
                  <a:pt x="14601" y="1312951"/>
                </a:moveTo>
                <a:lnTo>
                  <a:pt x="1901" y="1313827"/>
                </a:lnTo>
                <a:lnTo>
                  <a:pt x="2663" y="1325130"/>
                </a:lnTo>
                <a:lnTo>
                  <a:pt x="5711" y="1351940"/>
                </a:lnTo>
                <a:lnTo>
                  <a:pt x="7997" y="1364881"/>
                </a:lnTo>
                <a:lnTo>
                  <a:pt x="20570" y="1362697"/>
                </a:lnTo>
                <a:lnTo>
                  <a:pt x="18352" y="1350302"/>
                </a:lnTo>
                <a:lnTo>
                  <a:pt x="18367" y="1349921"/>
                </a:lnTo>
                <a:lnTo>
                  <a:pt x="15395" y="1324102"/>
                </a:lnTo>
                <a:lnTo>
                  <a:pt x="14601" y="1312951"/>
                </a:lnTo>
                <a:close/>
              </a:path>
              <a:path w="1189355" h="1656079">
                <a:moveTo>
                  <a:pt x="18367" y="1349921"/>
                </a:moveTo>
                <a:lnTo>
                  <a:pt x="18411" y="1350302"/>
                </a:lnTo>
                <a:lnTo>
                  <a:pt x="18367" y="1349921"/>
                </a:lnTo>
                <a:close/>
              </a:path>
              <a:path w="1189355" h="1656079">
                <a:moveTo>
                  <a:pt x="15363" y="1323822"/>
                </a:moveTo>
                <a:lnTo>
                  <a:pt x="15363" y="1324102"/>
                </a:lnTo>
                <a:lnTo>
                  <a:pt x="15363" y="1323822"/>
                </a:lnTo>
                <a:close/>
              </a:path>
              <a:path w="1189355" h="1656079">
                <a:moveTo>
                  <a:pt x="28444" y="1399133"/>
                </a:moveTo>
                <a:lnTo>
                  <a:pt x="16252" y="1402892"/>
                </a:lnTo>
                <a:lnTo>
                  <a:pt x="23491" y="1426108"/>
                </a:lnTo>
                <a:lnTo>
                  <a:pt x="32381" y="1448320"/>
                </a:lnTo>
                <a:lnTo>
                  <a:pt x="34032" y="1451559"/>
                </a:lnTo>
                <a:lnTo>
                  <a:pt x="45335" y="1445844"/>
                </a:lnTo>
                <a:lnTo>
                  <a:pt x="43811" y="1442847"/>
                </a:lnTo>
                <a:lnTo>
                  <a:pt x="35616" y="1422107"/>
                </a:lnTo>
                <a:lnTo>
                  <a:pt x="28444" y="1399133"/>
                </a:lnTo>
                <a:close/>
              </a:path>
              <a:path w="1189355" h="1656079">
                <a:moveTo>
                  <a:pt x="44050" y="1443316"/>
                </a:moveTo>
                <a:close/>
              </a:path>
              <a:path w="1189355" h="1656079">
                <a:moveTo>
                  <a:pt x="43863" y="1442847"/>
                </a:moveTo>
                <a:lnTo>
                  <a:pt x="44050" y="1443316"/>
                </a:lnTo>
                <a:lnTo>
                  <a:pt x="43863" y="1442847"/>
                </a:lnTo>
                <a:close/>
              </a:path>
              <a:path w="1189355" h="1656079">
                <a:moveTo>
                  <a:pt x="35429" y="1421638"/>
                </a:moveTo>
                <a:lnTo>
                  <a:pt x="35556" y="1422107"/>
                </a:lnTo>
                <a:lnTo>
                  <a:pt x="35429" y="1421638"/>
                </a:lnTo>
                <a:close/>
              </a:path>
              <a:path w="1189355" h="1656079">
                <a:moveTo>
                  <a:pt x="63750" y="1478407"/>
                </a:moveTo>
                <a:lnTo>
                  <a:pt x="53082" y="1485214"/>
                </a:lnTo>
                <a:lnTo>
                  <a:pt x="54860" y="1488071"/>
                </a:lnTo>
                <a:lnTo>
                  <a:pt x="68703" y="1505394"/>
                </a:lnTo>
                <a:lnTo>
                  <a:pt x="84324" y="1520837"/>
                </a:lnTo>
                <a:lnTo>
                  <a:pt x="88515" y="1524215"/>
                </a:lnTo>
                <a:lnTo>
                  <a:pt x="96516" y="1514309"/>
                </a:lnTo>
                <a:lnTo>
                  <a:pt x="93146" y="1511592"/>
                </a:lnTo>
                <a:lnTo>
                  <a:pt x="92960" y="1511592"/>
                </a:lnTo>
                <a:lnTo>
                  <a:pt x="78508" y="1497164"/>
                </a:lnTo>
                <a:lnTo>
                  <a:pt x="77974" y="1496631"/>
                </a:lnTo>
                <a:lnTo>
                  <a:pt x="65479" y="1480972"/>
                </a:lnTo>
                <a:lnTo>
                  <a:pt x="63750" y="1478407"/>
                </a:lnTo>
                <a:close/>
              </a:path>
              <a:path w="1189355" h="1656079">
                <a:moveTo>
                  <a:pt x="92579" y="1511134"/>
                </a:moveTo>
                <a:lnTo>
                  <a:pt x="92960" y="1511592"/>
                </a:lnTo>
                <a:lnTo>
                  <a:pt x="93146" y="1511592"/>
                </a:lnTo>
                <a:lnTo>
                  <a:pt x="92579" y="1511134"/>
                </a:lnTo>
                <a:close/>
              </a:path>
              <a:path w="1189355" h="1656079">
                <a:moveTo>
                  <a:pt x="77974" y="1496631"/>
                </a:moveTo>
                <a:lnTo>
                  <a:pt x="78482" y="1497164"/>
                </a:lnTo>
                <a:lnTo>
                  <a:pt x="78376" y="1497032"/>
                </a:lnTo>
                <a:lnTo>
                  <a:pt x="77974" y="1496631"/>
                </a:lnTo>
                <a:close/>
              </a:path>
              <a:path w="1189355" h="1656079">
                <a:moveTo>
                  <a:pt x="78376" y="1497032"/>
                </a:moveTo>
                <a:lnTo>
                  <a:pt x="78482" y="1497164"/>
                </a:lnTo>
                <a:lnTo>
                  <a:pt x="78376" y="1497032"/>
                </a:lnTo>
                <a:close/>
              </a:path>
              <a:path w="1189355" h="1656079">
                <a:moveTo>
                  <a:pt x="78054" y="1496631"/>
                </a:moveTo>
                <a:lnTo>
                  <a:pt x="78376" y="1497032"/>
                </a:lnTo>
                <a:lnTo>
                  <a:pt x="78054" y="1496631"/>
                </a:lnTo>
                <a:close/>
              </a:path>
              <a:path w="1189355" h="1656079">
                <a:moveTo>
                  <a:pt x="65086" y="1480483"/>
                </a:moveTo>
                <a:lnTo>
                  <a:pt x="65401" y="1480972"/>
                </a:lnTo>
                <a:lnTo>
                  <a:pt x="65086" y="1480483"/>
                </a:lnTo>
                <a:close/>
              </a:path>
              <a:path w="1189355" h="1656079">
                <a:moveTo>
                  <a:pt x="65033" y="1480400"/>
                </a:moveTo>
                <a:close/>
              </a:path>
              <a:path w="1189355" h="1656079">
                <a:moveTo>
                  <a:pt x="126869" y="1536319"/>
                </a:moveTo>
                <a:lnTo>
                  <a:pt x="119757" y="1546872"/>
                </a:lnTo>
                <a:lnTo>
                  <a:pt x="120392" y="1547317"/>
                </a:lnTo>
                <a:lnTo>
                  <a:pt x="140839" y="1558874"/>
                </a:lnTo>
                <a:lnTo>
                  <a:pt x="162937" y="1569427"/>
                </a:lnTo>
                <a:lnTo>
                  <a:pt x="165985" y="1570710"/>
                </a:lnTo>
                <a:lnTo>
                  <a:pt x="170811" y="1558963"/>
                </a:lnTo>
                <a:lnTo>
                  <a:pt x="167890" y="1557756"/>
                </a:lnTo>
                <a:lnTo>
                  <a:pt x="146979" y="1547710"/>
                </a:lnTo>
                <a:lnTo>
                  <a:pt x="126869" y="1536382"/>
                </a:lnTo>
                <a:close/>
              </a:path>
              <a:path w="1189355" h="1656079">
                <a:moveTo>
                  <a:pt x="167979" y="1557756"/>
                </a:moveTo>
                <a:lnTo>
                  <a:pt x="168271" y="1557896"/>
                </a:lnTo>
                <a:lnTo>
                  <a:pt x="167979" y="1557756"/>
                </a:lnTo>
                <a:close/>
              </a:path>
              <a:path w="1189355" h="1656079">
                <a:moveTo>
                  <a:pt x="146692" y="1547573"/>
                </a:moveTo>
                <a:lnTo>
                  <a:pt x="146935" y="1547710"/>
                </a:lnTo>
                <a:lnTo>
                  <a:pt x="146692" y="1547573"/>
                </a:lnTo>
                <a:close/>
              </a:path>
              <a:path w="1189355" h="1656079">
                <a:moveTo>
                  <a:pt x="146575" y="1547507"/>
                </a:moveTo>
                <a:close/>
              </a:path>
              <a:path w="1189355" h="1656079">
                <a:moveTo>
                  <a:pt x="126971" y="1536382"/>
                </a:moveTo>
                <a:lnTo>
                  <a:pt x="127377" y="1536636"/>
                </a:lnTo>
                <a:lnTo>
                  <a:pt x="126971" y="1536382"/>
                </a:lnTo>
                <a:close/>
              </a:path>
              <a:path w="1189355" h="1656079">
                <a:moveTo>
                  <a:pt x="206117" y="1572501"/>
                </a:moveTo>
                <a:lnTo>
                  <a:pt x="201926" y="1584490"/>
                </a:lnTo>
                <a:lnTo>
                  <a:pt x="211324" y="1587766"/>
                </a:lnTo>
                <a:lnTo>
                  <a:pt x="237613" y="1595564"/>
                </a:lnTo>
                <a:lnTo>
                  <a:pt x="251202" y="1598955"/>
                </a:lnTo>
                <a:lnTo>
                  <a:pt x="254250" y="1586636"/>
                </a:lnTo>
                <a:lnTo>
                  <a:pt x="241217" y="1583347"/>
                </a:lnTo>
                <a:lnTo>
                  <a:pt x="215351" y="1575727"/>
                </a:lnTo>
                <a:lnTo>
                  <a:pt x="206117" y="1572501"/>
                </a:lnTo>
                <a:close/>
              </a:path>
              <a:path w="1189355" h="1656079">
                <a:moveTo>
                  <a:pt x="240915" y="1583270"/>
                </a:moveTo>
                <a:lnTo>
                  <a:pt x="241169" y="1583347"/>
                </a:lnTo>
                <a:lnTo>
                  <a:pt x="240915" y="1583270"/>
                </a:lnTo>
                <a:close/>
              </a:path>
              <a:path w="1189355" h="1656079">
                <a:moveTo>
                  <a:pt x="215007" y="1575625"/>
                </a:moveTo>
                <a:lnTo>
                  <a:pt x="215261" y="1575727"/>
                </a:lnTo>
                <a:lnTo>
                  <a:pt x="215007" y="1575625"/>
                </a:lnTo>
                <a:close/>
              </a:path>
              <a:path w="1189355" h="1656079">
                <a:moveTo>
                  <a:pt x="291207" y="1594942"/>
                </a:moveTo>
                <a:lnTo>
                  <a:pt x="288540" y="1607375"/>
                </a:lnTo>
                <a:lnTo>
                  <a:pt x="294128" y="1608531"/>
                </a:lnTo>
                <a:lnTo>
                  <a:pt x="324227" y="1613890"/>
                </a:lnTo>
                <a:lnTo>
                  <a:pt x="338959" y="1616062"/>
                </a:lnTo>
                <a:lnTo>
                  <a:pt x="340864" y="1603502"/>
                </a:lnTo>
                <a:lnTo>
                  <a:pt x="326132" y="1601343"/>
                </a:lnTo>
                <a:lnTo>
                  <a:pt x="296414" y="1596047"/>
                </a:lnTo>
                <a:lnTo>
                  <a:pt x="296545" y="1596047"/>
                </a:lnTo>
                <a:lnTo>
                  <a:pt x="291207" y="1594942"/>
                </a:lnTo>
                <a:close/>
              </a:path>
              <a:path w="1189355" h="1656079">
                <a:moveTo>
                  <a:pt x="326358" y="1601376"/>
                </a:moveTo>
                <a:close/>
              </a:path>
              <a:path w="1189355" h="1656079">
                <a:moveTo>
                  <a:pt x="326172" y="1601343"/>
                </a:moveTo>
                <a:lnTo>
                  <a:pt x="326358" y="1601376"/>
                </a:lnTo>
                <a:lnTo>
                  <a:pt x="326172" y="1601343"/>
                </a:lnTo>
                <a:close/>
              </a:path>
              <a:path w="1189355" h="1656079">
                <a:moveTo>
                  <a:pt x="296545" y="1596047"/>
                </a:moveTo>
                <a:lnTo>
                  <a:pt x="296414" y="1596047"/>
                </a:lnTo>
                <a:lnTo>
                  <a:pt x="296668" y="1596072"/>
                </a:lnTo>
                <a:close/>
              </a:path>
              <a:path w="1189355" h="1656079">
                <a:moveTo>
                  <a:pt x="378456" y="1608480"/>
                </a:moveTo>
                <a:lnTo>
                  <a:pt x="376932" y="1621091"/>
                </a:lnTo>
                <a:lnTo>
                  <a:pt x="387854" y="1622412"/>
                </a:lnTo>
                <a:lnTo>
                  <a:pt x="421382" y="1625676"/>
                </a:lnTo>
                <a:lnTo>
                  <a:pt x="427732" y="1626146"/>
                </a:lnTo>
                <a:lnTo>
                  <a:pt x="428748" y="1613484"/>
                </a:lnTo>
                <a:lnTo>
                  <a:pt x="422570" y="1613027"/>
                </a:lnTo>
                <a:lnTo>
                  <a:pt x="389273" y="1609788"/>
                </a:lnTo>
                <a:lnTo>
                  <a:pt x="378456" y="1608480"/>
                </a:lnTo>
                <a:close/>
              </a:path>
              <a:path w="1189355" h="1656079">
                <a:moveTo>
                  <a:pt x="422398" y="1613014"/>
                </a:moveTo>
                <a:lnTo>
                  <a:pt x="422525" y="1613027"/>
                </a:lnTo>
                <a:lnTo>
                  <a:pt x="422398" y="1613014"/>
                </a:lnTo>
                <a:close/>
              </a:path>
              <a:path w="1189355" h="1656079">
                <a:moveTo>
                  <a:pt x="389364" y="1609799"/>
                </a:moveTo>
                <a:close/>
              </a:path>
              <a:path w="1189355" h="1656079">
                <a:moveTo>
                  <a:pt x="389273" y="1609788"/>
                </a:moveTo>
                <a:close/>
              </a:path>
              <a:path w="1189355" h="1656079">
                <a:moveTo>
                  <a:pt x="466594" y="1616113"/>
                </a:moveTo>
                <a:lnTo>
                  <a:pt x="465959" y="1628787"/>
                </a:lnTo>
                <a:lnTo>
                  <a:pt x="491359" y="1630159"/>
                </a:lnTo>
                <a:lnTo>
                  <a:pt x="516759" y="1631162"/>
                </a:lnTo>
                <a:lnTo>
                  <a:pt x="517267" y="1618475"/>
                </a:lnTo>
                <a:lnTo>
                  <a:pt x="492188" y="1617484"/>
                </a:lnTo>
                <a:lnTo>
                  <a:pt x="466594" y="1616113"/>
                </a:lnTo>
                <a:close/>
              </a:path>
              <a:path w="1189355" h="1656079">
                <a:moveTo>
                  <a:pt x="491867" y="1617472"/>
                </a:moveTo>
                <a:lnTo>
                  <a:pt x="491994" y="1617484"/>
                </a:lnTo>
                <a:lnTo>
                  <a:pt x="492188" y="1617484"/>
                </a:lnTo>
                <a:lnTo>
                  <a:pt x="491867" y="1617472"/>
                </a:lnTo>
                <a:close/>
              </a:path>
              <a:path w="1189355" h="1656079">
                <a:moveTo>
                  <a:pt x="555240" y="1619529"/>
                </a:moveTo>
                <a:lnTo>
                  <a:pt x="554986" y="1632229"/>
                </a:lnTo>
                <a:lnTo>
                  <a:pt x="565019" y="1632458"/>
                </a:lnTo>
                <a:lnTo>
                  <a:pt x="602992" y="1632839"/>
                </a:lnTo>
                <a:lnTo>
                  <a:pt x="605913" y="1632826"/>
                </a:lnTo>
                <a:lnTo>
                  <a:pt x="605913" y="1620139"/>
                </a:lnTo>
                <a:lnTo>
                  <a:pt x="602992" y="1620139"/>
                </a:lnTo>
                <a:lnTo>
                  <a:pt x="565146" y="1619758"/>
                </a:lnTo>
                <a:lnTo>
                  <a:pt x="555240" y="1619529"/>
                </a:lnTo>
                <a:close/>
              </a:path>
              <a:path w="1189355" h="1656079">
                <a:moveTo>
                  <a:pt x="605913" y="1620126"/>
                </a:moveTo>
                <a:lnTo>
                  <a:pt x="602992" y="1620139"/>
                </a:lnTo>
                <a:lnTo>
                  <a:pt x="605913" y="1620139"/>
                </a:lnTo>
                <a:close/>
              </a:path>
              <a:path w="1189355" h="1656079">
                <a:moveTo>
                  <a:pt x="694686" y="1619237"/>
                </a:moveTo>
                <a:lnTo>
                  <a:pt x="680970" y="1619567"/>
                </a:lnTo>
                <a:lnTo>
                  <a:pt x="643886" y="1620012"/>
                </a:lnTo>
                <a:lnTo>
                  <a:pt x="644013" y="1632712"/>
                </a:lnTo>
                <a:lnTo>
                  <a:pt x="681224" y="1632267"/>
                </a:lnTo>
                <a:lnTo>
                  <a:pt x="694940" y="1631937"/>
                </a:lnTo>
                <a:lnTo>
                  <a:pt x="694686" y="1619237"/>
                </a:lnTo>
                <a:close/>
              </a:path>
              <a:path w="1189355" h="1656079">
                <a:moveTo>
                  <a:pt x="783332" y="1616456"/>
                </a:moveTo>
                <a:lnTo>
                  <a:pt x="761488" y="1617383"/>
                </a:lnTo>
                <a:lnTo>
                  <a:pt x="732659" y="1618259"/>
                </a:lnTo>
                <a:lnTo>
                  <a:pt x="733040" y="1630946"/>
                </a:lnTo>
                <a:lnTo>
                  <a:pt x="761996" y="1630070"/>
                </a:lnTo>
                <a:lnTo>
                  <a:pt x="783840" y="1629143"/>
                </a:lnTo>
                <a:lnTo>
                  <a:pt x="783332" y="1616456"/>
                </a:lnTo>
                <a:close/>
              </a:path>
              <a:path w="1189355" h="1656079">
                <a:moveTo>
                  <a:pt x="844292" y="1613852"/>
                </a:moveTo>
                <a:lnTo>
                  <a:pt x="821432" y="1614830"/>
                </a:lnTo>
                <a:lnTo>
                  <a:pt x="821940" y="1627517"/>
                </a:lnTo>
                <a:lnTo>
                  <a:pt x="844800" y="1626539"/>
                </a:lnTo>
                <a:lnTo>
                  <a:pt x="872740" y="1625003"/>
                </a:lnTo>
                <a:lnTo>
                  <a:pt x="872183" y="1613865"/>
                </a:lnTo>
                <a:lnTo>
                  <a:pt x="844165" y="1613865"/>
                </a:lnTo>
                <a:close/>
              </a:path>
              <a:path w="1189355" h="1656079">
                <a:moveTo>
                  <a:pt x="872105" y="1612315"/>
                </a:moveTo>
                <a:lnTo>
                  <a:pt x="844165" y="1613865"/>
                </a:lnTo>
                <a:lnTo>
                  <a:pt x="872183" y="1613865"/>
                </a:lnTo>
                <a:lnTo>
                  <a:pt x="872105" y="1612315"/>
                </a:lnTo>
                <a:close/>
              </a:path>
              <a:path w="1189355" h="1656079">
                <a:moveTo>
                  <a:pt x="960751" y="1607210"/>
                </a:moveTo>
                <a:lnTo>
                  <a:pt x="910078" y="1610220"/>
                </a:lnTo>
                <a:lnTo>
                  <a:pt x="910840" y="1622907"/>
                </a:lnTo>
                <a:lnTo>
                  <a:pt x="961640" y="1619885"/>
                </a:lnTo>
                <a:lnTo>
                  <a:pt x="960751" y="1607210"/>
                </a:lnTo>
                <a:close/>
              </a:path>
              <a:path w="1189355" h="1656079">
                <a:moveTo>
                  <a:pt x="1014599" y="1603857"/>
                </a:moveTo>
                <a:lnTo>
                  <a:pt x="998851" y="1604848"/>
                </a:lnTo>
                <a:lnTo>
                  <a:pt x="999613" y="1617522"/>
                </a:lnTo>
                <a:lnTo>
                  <a:pt x="1050286" y="1614119"/>
                </a:lnTo>
                <a:lnTo>
                  <a:pt x="1049566" y="1603870"/>
                </a:lnTo>
                <a:lnTo>
                  <a:pt x="1014599" y="1603870"/>
                </a:lnTo>
                <a:close/>
              </a:path>
              <a:path w="1189355" h="1656079">
                <a:moveTo>
                  <a:pt x="1049397" y="1601457"/>
                </a:moveTo>
                <a:lnTo>
                  <a:pt x="1014599" y="1603870"/>
                </a:lnTo>
                <a:lnTo>
                  <a:pt x="1049566" y="1603870"/>
                </a:lnTo>
                <a:lnTo>
                  <a:pt x="1049397" y="1601457"/>
                </a:lnTo>
                <a:close/>
              </a:path>
              <a:path w="1189355" h="1656079">
                <a:moveTo>
                  <a:pt x="1163848" y="1599794"/>
                </a:moveTo>
                <a:lnTo>
                  <a:pt x="1099943" y="1643392"/>
                </a:lnTo>
                <a:lnTo>
                  <a:pt x="1097149" y="1645373"/>
                </a:lnTo>
                <a:lnTo>
                  <a:pt x="1096387" y="1649323"/>
                </a:lnTo>
                <a:lnTo>
                  <a:pt x="1098292" y="1652219"/>
                </a:lnTo>
                <a:lnTo>
                  <a:pt x="1100324" y="1655114"/>
                </a:lnTo>
                <a:lnTo>
                  <a:pt x="1104261" y="1655864"/>
                </a:lnTo>
                <a:lnTo>
                  <a:pt x="1179320" y="1604594"/>
                </a:lnTo>
                <a:lnTo>
                  <a:pt x="1173603" y="1604594"/>
                </a:lnTo>
                <a:lnTo>
                  <a:pt x="1163848" y="1599794"/>
                </a:lnTo>
                <a:close/>
              </a:path>
              <a:path w="1189355" h="1656079">
                <a:moveTo>
                  <a:pt x="1138170" y="1595247"/>
                </a:moveTo>
                <a:lnTo>
                  <a:pt x="1087497" y="1598828"/>
                </a:lnTo>
                <a:lnTo>
                  <a:pt x="1088386" y="1611490"/>
                </a:lnTo>
                <a:lnTo>
                  <a:pt x="1139059" y="1607921"/>
                </a:lnTo>
                <a:lnTo>
                  <a:pt x="1138170" y="1595247"/>
                </a:lnTo>
                <a:close/>
              </a:path>
              <a:path w="1189355" h="1656079">
                <a:moveTo>
                  <a:pt x="1172841" y="1593659"/>
                </a:moveTo>
                <a:lnTo>
                  <a:pt x="1163848" y="1599794"/>
                </a:lnTo>
                <a:lnTo>
                  <a:pt x="1173603" y="1604594"/>
                </a:lnTo>
                <a:lnTo>
                  <a:pt x="1172841" y="1593659"/>
                </a:lnTo>
                <a:close/>
              </a:path>
              <a:path w="1189355" h="1656079">
                <a:moveTo>
                  <a:pt x="1180142" y="1593659"/>
                </a:moveTo>
                <a:lnTo>
                  <a:pt x="1172841" y="1593659"/>
                </a:lnTo>
                <a:lnTo>
                  <a:pt x="1173603" y="1604594"/>
                </a:lnTo>
                <a:lnTo>
                  <a:pt x="1179320" y="1604594"/>
                </a:lnTo>
                <a:lnTo>
                  <a:pt x="1188970" y="1598002"/>
                </a:lnTo>
                <a:lnTo>
                  <a:pt x="1180142" y="1593659"/>
                </a:lnTo>
                <a:close/>
              </a:path>
              <a:path w="1189355" h="1656079">
                <a:moveTo>
                  <a:pt x="1096895" y="1552714"/>
                </a:moveTo>
                <a:lnTo>
                  <a:pt x="1093085" y="1554010"/>
                </a:lnTo>
                <a:lnTo>
                  <a:pt x="1090037" y="1560309"/>
                </a:lnTo>
                <a:lnTo>
                  <a:pt x="1091307" y="1564106"/>
                </a:lnTo>
                <a:lnTo>
                  <a:pt x="1163848" y="1599794"/>
                </a:lnTo>
                <a:lnTo>
                  <a:pt x="1172841" y="1593659"/>
                </a:lnTo>
                <a:lnTo>
                  <a:pt x="1180142" y="1593659"/>
                </a:lnTo>
                <a:lnTo>
                  <a:pt x="1096895" y="1552714"/>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nvGrpSpPr>
          <p:cNvPr id="18" name="object 7">
            <a:extLst>
              <a:ext uri="{FF2B5EF4-FFF2-40B4-BE49-F238E27FC236}">
                <a16:creationId xmlns:a16="http://schemas.microsoft.com/office/drawing/2014/main" id="{46C5E92D-90FC-7EA3-7E62-534D1EDDA7DA}"/>
              </a:ext>
            </a:extLst>
          </p:cNvPr>
          <p:cNvGrpSpPr/>
          <p:nvPr/>
        </p:nvGrpSpPr>
        <p:grpSpPr>
          <a:xfrm>
            <a:off x="4774247" y="4528883"/>
            <a:ext cx="3596004" cy="247650"/>
            <a:chOff x="4774247" y="4528883"/>
            <a:chExt cx="3596004" cy="247650"/>
          </a:xfrm>
        </p:grpSpPr>
        <p:pic>
          <p:nvPicPr>
            <p:cNvPr id="19" name="object 8">
              <a:extLst>
                <a:ext uri="{FF2B5EF4-FFF2-40B4-BE49-F238E27FC236}">
                  <a16:creationId xmlns:a16="http://schemas.microsoft.com/office/drawing/2014/main" id="{A2C6DAEE-548C-2290-B66F-2C94C170F921}"/>
                </a:ext>
              </a:extLst>
            </p:cNvPr>
            <p:cNvPicPr/>
            <p:nvPr/>
          </p:nvPicPr>
          <p:blipFill>
            <a:blip r:embed="rId4" cstate="print"/>
            <a:stretch>
              <a:fillRect/>
            </a:stretch>
          </p:blipFill>
          <p:spPr>
            <a:xfrm>
              <a:off x="4866166" y="4561332"/>
              <a:ext cx="3425887" cy="187451"/>
            </a:xfrm>
            <a:prstGeom prst="rect">
              <a:avLst/>
            </a:prstGeom>
          </p:spPr>
        </p:pic>
        <p:sp>
          <p:nvSpPr>
            <p:cNvPr id="20" name="object 9">
              <a:extLst>
                <a:ext uri="{FF2B5EF4-FFF2-40B4-BE49-F238E27FC236}">
                  <a16:creationId xmlns:a16="http://schemas.microsoft.com/office/drawing/2014/main" id="{E2C9713C-6CF7-F4AC-4A1F-3FCC94EC4DDA}"/>
                </a:ext>
              </a:extLst>
            </p:cNvPr>
            <p:cNvSpPr/>
            <p:nvPr/>
          </p:nvSpPr>
          <p:spPr>
            <a:xfrm>
              <a:off x="4779009" y="4533646"/>
              <a:ext cx="3586479" cy="238125"/>
            </a:xfrm>
            <a:custGeom>
              <a:avLst/>
              <a:gdLst/>
              <a:ahLst/>
              <a:cxnLst/>
              <a:rect l="l" t="t" r="r" b="b"/>
              <a:pathLst>
                <a:path w="3586479" h="238125">
                  <a:moveTo>
                    <a:pt x="0" y="238124"/>
                  </a:moveTo>
                  <a:lnTo>
                    <a:pt x="3586353" y="238124"/>
                  </a:lnTo>
                  <a:lnTo>
                    <a:pt x="3586353" y="0"/>
                  </a:lnTo>
                  <a:lnTo>
                    <a:pt x="0" y="0"/>
                  </a:lnTo>
                  <a:lnTo>
                    <a:pt x="0" y="238124"/>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pic>
        <p:nvPicPr>
          <p:cNvPr id="2" name="图片 1">
            <a:extLst>
              <a:ext uri="{FF2B5EF4-FFF2-40B4-BE49-F238E27FC236}">
                <a16:creationId xmlns:a16="http://schemas.microsoft.com/office/drawing/2014/main" id="{ADF4698A-EFE7-4BEC-A4F3-5997CCF4C78F}"/>
              </a:ext>
            </a:extLst>
          </p:cNvPr>
          <p:cNvPicPr>
            <a:picLocks noChangeAspect="1"/>
          </p:cNvPicPr>
          <p:nvPr/>
        </p:nvPicPr>
        <p:blipFill>
          <a:blip r:embed="rId5"/>
          <a:stretch>
            <a:fillRect/>
          </a:stretch>
        </p:blipFill>
        <p:spPr>
          <a:xfrm>
            <a:off x="4510088" y="3758839"/>
            <a:ext cx="4447136" cy="567030"/>
          </a:xfrm>
          <a:prstGeom prst="rect">
            <a:avLst/>
          </a:prstGeom>
          <a:ln>
            <a:solidFill>
              <a:schemeClr val="tx1"/>
            </a:solidFill>
          </a:ln>
        </p:spPr>
      </p:pic>
    </p:spTree>
    <p:extLst>
      <p:ext uri="{BB962C8B-B14F-4D97-AF65-F5344CB8AC3E}">
        <p14:creationId xmlns:p14="http://schemas.microsoft.com/office/powerpoint/2010/main" val="230731945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104</a:t>
            </a:fld>
            <a:endParaRPr lang="en-US"/>
          </a:p>
        </p:txBody>
      </p:sp>
      <p:sp>
        <p:nvSpPr>
          <p:cNvPr id="16" name="object 2">
            <a:extLst>
              <a:ext uri="{FF2B5EF4-FFF2-40B4-BE49-F238E27FC236}">
                <a16:creationId xmlns:a16="http://schemas.microsoft.com/office/drawing/2014/main" id="{51877CD7-6B65-6353-D834-A5C3F8FED8B6}"/>
              </a:ext>
            </a:extLst>
          </p:cNvPr>
          <p:cNvSpPr txBox="1">
            <a:spLocks/>
          </p:cNvSpPr>
          <p:nvPr/>
        </p:nvSpPr>
        <p:spPr>
          <a:xfrm>
            <a:off x="707542" y="538429"/>
            <a:ext cx="7632065" cy="605790"/>
          </a:xfrm>
          <a:prstGeom prst="rect">
            <a:avLst/>
          </a:prstGeom>
        </p:spPr>
        <p:txBody>
          <a:bodyPr vert="horz" wrap="square" lIns="0" tIns="1333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5"/>
              </a:spcBef>
              <a:spcAft>
                <a:spcPts val="0"/>
              </a:spcAft>
              <a:buClrTx/>
              <a:buSzTx/>
              <a:buFontTx/>
              <a:buNone/>
              <a:tabLst/>
              <a:defRPr/>
            </a:pPr>
            <a:r>
              <a:rPr kumimoji="0" lang="en-US" sz="3800" b="1" i="0" u="none" strike="noStrike" kern="0" cap="none" spc="5" normalizeH="0" baseline="0" noProof="0">
                <a:ln>
                  <a:noFill/>
                </a:ln>
                <a:solidFill>
                  <a:sysClr val="windowText" lastClr="000000"/>
                </a:solidFill>
                <a:effectLst/>
                <a:uLnTx/>
                <a:uFillTx/>
                <a:latin typeface="Palatino Linotype"/>
                <a:ea typeface="+mj-ea"/>
              </a:rPr>
              <a:t>Example</a:t>
            </a:r>
            <a:r>
              <a:rPr kumimoji="0" lang="en-US" sz="3800" b="1" i="0" u="none" strike="noStrike" kern="0" cap="none" spc="-55"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a:t>
            </a:r>
            <a:r>
              <a:rPr kumimoji="0" lang="en-US" sz="3800" b="1" i="0" u="none" strike="noStrike" kern="0" cap="none" spc="-5" normalizeH="0" baseline="0" noProof="0">
                <a:ln>
                  <a:noFill/>
                </a:ln>
                <a:solidFill>
                  <a:sysClr val="windowText" lastClr="000000"/>
                </a:solidFill>
                <a:effectLst/>
                <a:uLnTx/>
                <a:uFillTx/>
                <a:latin typeface="Palatino Linotype"/>
                <a:ea typeface="+mj-ea"/>
              </a:rPr>
              <a:t> Boolean</a:t>
            </a:r>
            <a:r>
              <a:rPr kumimoji="0" lang="en-US" sz="3800" b="1" i="0" u="none" strike="noStrike" kern="0" cap="none" spc="-30"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Expressions</a:t>
            </a:r>
            <a:r>
              <a:rPr kumimoji="0" lang="en-US" sz="3800" b="1" i="0" u="none" strike="noStrike" kern="0" cap="none" spc="-45"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(2)</a:t>
            </a:r>
          </a:p>
        </p:txBody>
      </p:sp>
      <p:sp>
        <p:nvSpPr>
          <p:cNvPr id="17" name="object 3">
            <a:extLst>
              <a:ext uri="{FF2B5EF4-FFF2-40B4-BE49-F238E27FC236}">
                <a16:creationId xmlns:a16="http://schemas.microsoft.com/office/drawing/2014/main" id="{AA46D08C-49EF-B855-B532-617F900E0181}"/>
              </a:ext>
            </a:extLst>
          </p:cNvPr>
          <p:cNvSpPr txBox="1"/>
          <p:nvPr/>
        </p:nvSpPr>
        <p:spPr>
          <a:xfrm>
            <a:off x="707542" y="1653667"/>
            <a:ext cx="5925185" cy="934230"/>
          </a:xfrm>
          <a:prstGeom prst="rect">
            <a:avLst/>
          </a:prstGeom>
        </p:spPr>
        <p:txBody>
          <a:bodyPr vert="horz" wrap="square" lIns="0" tIns="13335" rIns="0" bIns="0" rtlCol="0">
            <a:spAutoFit/>
          </a:bodyPr>
          <a:lstStyle/>
          <a:p>
            <a:pPr marL="242570" indent="-230504" rtl="0">
              <a:spcBef>
                <a:spcPts val="105"/>
              </a:spcBef>
              <a:buFont typeface="Arial MT"/>
              <a:buChar char="•"/>
              <a:tabLst>
                <a:tab pos="242570" algn="l"/>
                <a:tab pos="243204" algn="l"/>
                <a:tab pos="2809240" algn="l"/>
              </a:tabLst>
            </a:pPr>
            <a:r>
              <a:rPr sz="2000" kern="1200" dirty="0">
                <a:solidFill>
                  <a:prstClr val="black"/>
                </a:solidFill>
                <a:latin typeface="Palatino Linotype"/>
                <a:cs typeface="Palatino Linotype"/>
              </a:rPr>
              <a:t>Boolean</a:t>
            </a:r>
            <a:r>
              <a:rPr sz="2000" kern="1200" spc="-20" dirty="0">
                <a:solidFill>
                  <a:prstClr val="black"/>
                </a:solidFill>
                <a:latin typeface="Palatino Linotype"/>
                <a:cs typeface="Palatino Linotype"/>
              </a:rPr>
              <a:t> </a:t>
            </a:r>
            <a:r>
              <a:rPr sz="2000" kern="1200" dirty="0">
                <a:solidFill>
                  <a:prstClr val="black"/>
                </a:solidFill>
                <a:latin typeface="Palatino Linotype"/>
                <a:cs typeface="Palatino Linotype"/>
              </a:rPr>
              <a:t>expression:</a:t>
            </a:r>
            <a:r>
              <a:rPr sz="2000" kern="1200" spc="5" dirty="0">
                <a:solidFill>
                  <a:prstClr val="black"/>
                </a:solidFill>
                <a:latin typeface="Palatino Linotype"/>
                <a:cs typeface="Palatino Linotype"/>
              </a:rPr>
              <a:t> </a:t>
            </a:r>
            <a:r>
              <a:rPr sz="2000" kern="1200" dirty="0">
                <a:solidFill>
                  <a:schemeClr val="bg2">
                    <a:lumMod val="50000"/>
                  </a:schemeClr>
                </a:solidFill>
                <a:latin typeface="Cambria Math"/>
                <a:cs typeface="Cambria Math"/>
              </a:rPr>
              <a:t>𝑥	&lt;</a:t>
            </a:r>
            <a:r>
              <a:rPr sz="2000" kern="1200" spc="535" dirty="0">
                <a:solidFill>
                  <a:schemeClr val="bg2">
                    <a:lumMod val="50000"/>
                  </a:schemeClr>
                </a:solidFill>
                <a:latin typeface="Cambria Math"/>
                <a:cs typeface="Cambria Math"/>
              </a:rPr>
              <a:t> </a:t>
            </a:r>
            <a:r>
              <a:rPr sz="2000" kern="1200" spc="-5" dirty="0">
                <a:solidFill>
                  <a:schemeClr val="bg2">
                    <a:lumMod val="50000"/>
                  </a:schemeClr>
                </a:solidFill>
                <a:latin typeface="Cambria Math"/>
                <a:cs typeface="Cambria Math"/>
              </a:rPr>
              <a:t>100</a:t>
            </a:r>
            <a:r>
              <a:rPr sz="2000" kern="1200" spc="120"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a:t>
            </a:r>
            <a:r>
              <a:rPr sz="2000" kern="1200" spc="100" dirty="0">
                <a:solidFill>
                  <a:schemeClr val="bg2">
                    <a:lumMod val="50000"/>
                  </a:schemeClr>
                </a:solidFill>
                <a:latin typeface="Cambria Math"/>
                <a:cs typeface="Cambria Math"/>
              </a:rPr>
              <a:t> </a:t>
            </a:r>
            <a:r>
              <a:rPr sz="2000" kern="1200" dirty="0">
                <a:solidFill>
                  <a:srgbClr val="FF0000"/>
                </a:solidFill>
                <a:latin typeface="Cambria Math"/>
                <a:cs typeface="Cambria Math"/>
              </a:rPr>
              <a:t>𝑥</a:t>
            </a:r>
            <a:r>
              <a:rPr sz="2000" kern="1200" spc="165" dirty="0">
                <a:solidFill>
                  <a:srgbClr val="FF0000"/>
                </a:solidFill>
                <a:latin typeface="Cambria Math"/>
                <a:cs typeface="Cambria Math"/>
              </a:rPr>
              <a:t> </a:t>
            </a:r>
            <a:r>
              <a:rPr sz="2000" kern="1200" dirty="0">
                <a:solidFill>
                  <a:srgbClr val="FF0000"/>
                </a:solidFill>
                <a:latin typeface="Cambria Math"/>
                <a:cs typeface="Cambria Math"/>
              </a:rPr>
              <a:t>&gt;</a:t>
            </a:r>
            <a:r>
              <a:rPr sz="2000" kern="1200" spc="114" dirty="0">
                <a:solidFill>
                  <a:srgbClr val="FF0000"/>
                </a:solidFill>
                <a:latin typeface="Cambria Math"/>
                <a:cs typeface="Cambria Math"/>
              </a:rPr>
              <a:t> </a:t>
            </a:r>
            <a:r>
              <a:rPr sz="2000" kern="1200" spc="-5" dirty="0">
                <a:solidFill>
                  <a:srgbClr val="FF0000"/>
                </a:solidFill>
                <a:latin typeface="Cambria Math"/>
                <a:cs typeface="Cambria Math"/>
              </a:rPr>
              <a:t>200</a:t>
            </a:r>
            <a:r>
              <a:rPr sz="2000" kern="1200" spc="15" dirty="0">
                <a:solidFill>
                  <a:srgbClr val="FF0000"/>
                </a:solidFill>
                <a:latin typeface="Cambria Math"/>
                <a:cs typeface="Cambria Math"/>
              </a:rPr>
              <a:t> </a:t>
            </a:r>
            <a:r>
              <a:rPr sz="2000" kern="1200" dirty="0">
                <a:solidFill>
                  <a:srgbClr val="FF0000"/>
                </a:solidFill>
                <a:latin typeface="Cambria Math"/>
                <a:cs typeface="Cambria Math"/>
              </a:rPr>
              <a:t>&amp;&amp;</a:t>
            </a:r>
            <a:r>
              <a:rPr sz="2000" kern="1200" spc="-10" dirty="0">
                <a:solidFill>
                  <a:srgbClr val="FF0000"/>
                </a:solidFill>
                <a:latin typeface="Cambria Math"/>
                <a:cs typeface="Cambria Math"/>
              </a:rPr>
              <a:t> </a:t>
            </a:r>
            <a:r>
              <a:rPr sz="2000" kern="1200" dirty="0">
                <a:solidFill>
                  <a:srgbClr val="FF0000"/>
                </a:solidFill>
                <a:latin typeface="Cambria Math"/>
                <a:cs typeface="Cambria Math"/>
              </a:rPr>
              <a:t>𝑥</a:t>
            </a:r>
            <a:r>
              <a:rPr sz="2000" kern="1200" spc="35" dirty="0">
                <a:solidFill>
                  <a:srgbClr val="FF0000"/>
                </a:solidFill>
                <a:latin typeface="Cambria Math"/>
                <a:cs typeface="Cambria Math"/>
              </a:rPr>
              <a:t> </a:t>
            </a:r>
            <a:r>
              <a:rPr sz="2000" kern="1200" dirty="0">
                <a:solidFill>
                  <a:srgbClr val="FF0000"/>
                </a:solidFill>
                <a:latin typeface="Cambria Math"/>
                <a:cs typeface="Cambria Math"/>
              </a:rPr>
              <a:t>!</a:t>
            </a:r>
            <a:r>
              <a:rPr sz="2000" kern="1200" spc="110" dirty="0">
                <a:solidFill>
                  <a:srgbClr val="FF0000"/>
                </a:solidFill>
                <a:latin typeface="Cambria Math"/>
                <a:cs typeface="Cambria Math"/>
              </a:rPr>
              <a:t> </a:t>
            </a:r>
            <a:r>
              <a:rPr sz="2000" kern="1200" dirty="0">
                <a:solidFill>
                  <a:srgbClr val="FF0000"/>
                </a:solidFill>
                <a:latin typeface="Cambria Math"/>
                <a:cs typeface="Cambria Math"/>
              </a:rPr>
              <a:t>=</a:t>
            </a:r>
            <a:r>
              <a:rPr sz="2000" kern="1200" spc="100" dirty="0">
                <a:solidFill>
                  <a:srgbClr val="FF0000"/>
                </a:solidFill>
                <a:latin typeface="Cambria Math"/>
                <a:cs typeface="Cambria Math"/>
              </a:rPr>
              <a:t> </a:t>
            </a:r>
            <a:r>
              <a:rPr sz="2000" kern="1200" dirty="0">
                <a:solidFill>
                  <a:srgbClr val="FF0000"/>
                </a:solidFill>
                <a:latin typeface="Cambria Math"/>
                <a:cs typeface="Cambria Math"/>
              </a:rPr>
              <a:t>𝑦</a:t>
            </a:r>
            <a:endParaRPr sz="2000" kern="1200" dirty="0">
              <a:solidFill>
                <a:prstClr val="black"/>
              </a:solidFill>
              <a:latin typeface="Cambria Math"/>
              <a:cs typeface="Cambria Math"/>
            </a:endParaRPr>
          </a:p>
          <a:p>
            <a:pPr rtl="0">
              <a:spcBef>
                <a:spcPts val="50"/>
              </a:spcBef>
              <a:buFont typeface="Arial MT"/>
              <a:buChar char="•"/>
            </a:pPr>
            <a:endParaRPr sz="1900" kern="1200" dirty="0">
              <a:solidFill>
                <a:prstClr val="black"/>
              </a:solidFill>
              <a:latin typeface="Cambria Math"/>
              <a:cs typeface="Cambria Math"/>
            </a:endParaRPr>
          </a:p>
          <a:p>
            <a:pPr marL="242570" indent="-230504" rtl="0">
              <a:buClr>
                <a:srgbClr val="000000"/>
              </a:buClr>
              <a:buFont typeface="Arial MT"/>
              <a:buChar char="•"/>
              <a:tabLst>
                <a:tab pos="242570" algn="l"/>
                <a:tab pos="243204" algn="l"/>
              </a:tabLst>
            </a:pPr>
            <a:r>
              <a:rPr sz="2000" b="1" kern="1200" dirty="0">
                <a:solidFill>
                  <a:srgbClr val="0431FF"/>
                </a:solidFill>
                <a:latin typeface="Palatino Linotype"/>
                <a:cs typeface="Palatino Linotype"/>
              </a:rPr>
              <a:t>Step</a:t>
            </a:r>
            <a:r>
              <a:rPr sz="2000" b="1" kern="1200" spc="-30" dirty="0">
                <a:solidFill>
                  <a:srgbClr val="0431FF"/>
                </a:solidFill>
                <a:latin typeface="Palatino Linotype"/>
                <a:cs typeface="Palatino Linotype"/>
              </a:rPr>
              <a:t> </a:t>
            </a:r>
            <a:r>
              <a:rPr sz="2000" b="1" kern="1200" dirty="0">
                <a:solidFill>
                  <a:srgbClr val="0431FF"/>
                </a:solidFill>
                <a:latin typeface="Palatino Linotype"/>
                <a:cs typeface="Palatino Linotype"/>
              </a:rPr>
              <a:t>3: </a:t>
            </a:r>
            <a:r>
              <a:rPr sz="2000" kern="1200" dirty="0">
                <a:solidFill>
                  <a:prstClr val="black"/>
                </a:solidFill>
                <a:latin typeface="Palatino Linotype"/>
                <a:cs typeface="Palatino Linotype"/>
              </a:rPr>
              <a:t>reduce</a:t>
            </a:r>
            <a:r>
              <a:rPr sz="2000" kern="1200" spc="-10" dirty="0">
                <a:solidFill>
                  <a:prstClr val="black"/>
                </a:solidFill>
                <a:latin typeface="Palatino Linotype"/>
                <a:cs typeface="Palatino Linotype"/>
              </a:rPr>
              <a:t> </a:t>
            </a:r>
            <a:r>
              <a:rPr sz="2000" kern="1200" dirty="0">
                <a:solidFill>
                  <a:prstClr val="black"/>
                </a:solidFill>
                <a:latin typeface="Cambria Math"/>
                <a:cs typeface="Cambria Math"/>
              </a:rPr>
              <a:t>𝑥</a:t>
            </a:r>
            <a:r>
              <a:rPr sz="2000" kern="1200" spc="170" dirty="0">
                <a:solidFill>
                  <a:prstClr val="black"/>
                </a:solidFill>
                <a:latin typeface="Cambria Math"/>
                <a:cs typeface="Cambria Math"/>
              </a:rPr>
              <a:t> </a:t>
            </a:r>
            <a:r>
              <a:rPr sz="2000" kern="1200" dirty="0">
                <a:solidFill>
                  <a:prstClr val="black"/>
                </a:solidFill>
                <a:latin typeface="Cambria Math"/>
                <a:cs typeface="Cambria Math"/>
              </a:rPr>
              <a:t>&gt;</a:t>
            </a:r>
            <a:r>
              <a:rPr sz="2000" kern="1200" spc="110" dirty="0">
                <a:solidFill>
                  <a:prstClr val="black"/>
                </a:solidFill>
                <a:latin typeface="Cambria Math"/>
                <a:cs typeface="Cambria Math"/>
              </a:rPr>
              <a:t> </a:t>
            </a:r>
            <a:r>
              <a:rPr sz="2000" kern="1200" dirty="0">
                <a:solidFill>
                  <a:prstClr val="black"/>
                </a:solidFill>
                <a:latin typeface="Cambria Math"/>
                <a:cs typeface="Cambria Math"/>
              </a:rPr>
              <a:t>200</a:t>
            </a:r>
            <a:r>
              <a:rPr sz="2000" kern="1200" spc="60" dirty="0">
                <a:solidFill>
                  <a:prstClr val="black"/>
                </a:solidFill>
                <a:latin typeface="Cambria Math"/>
                <a:cs typeface="Cambria Math"/>
              </a:rPr>
              <a:t> </a:t>
            </a:r>
            <a:r>
              <a:rPr sz="2000" kern="1200" spc="-5" dirty="0">
                <a:solidFill>
                  <a:prstClr val="black"/>
                </a:solidFill>
                <a:latin typeface="Palatino Linotype"/>
                <a:cs typeface="Palatino Linotype"/>
              </a:rPr>
              <a:t>to</a:t>
            </a:r>
            <a:r>
              <a:rPr sz="2000" kern="1200" spc="-20" dirty="0">
                <a:solidFill>
                  <a:prstClr val="black"/>
                </a:solidFill>
                <a:latin typeface="Palatino Linotype"/>
                <a:cs typeface="Palatino Linotype"/>
              </a:rPr>
              <a:t> </a:t>
            </a:r>
            <a:r>
              <a:rPr sz="2000" kern="1200" dirty="0">
                <a:solidFill>
                  <a:prstClr val="black"/>
                </a:solidFill>
                <a:latin typeface="Cambria Math"/>
                <a:cs typeface="Cambria Math"/>
              </a:rPr>
              <a:t>𝐵</a:t>
            </a:r>
            <a:r>
              <a:rPr sz="2000" kern="1200" spc="114" dirty="0">
                <a:solidFill>
                  <a:prstClr val="black"/>
                </a:solidFill>
                <a:latin typeface="Cambria Math"/>
                <a:cs typeface="Cambria Math"/>
              </a:rPr>
              <a:t> </a:t>
            </a:r>
            <a:r>
              <a:rPr sz="2000" kern="1200" spc="-5" dirty="0">
                <a:solidFill>
                  <a:prstClr val="black"/>
                </a:solidFill>
                <a:latin typeface="Palatino Linotype"/>
                <a:cs typeface="Palatino Linotype"/>
              </a:rPr>
              <a:t>by</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production</a:t>
            </a:r>
            <a:r>
              <a:rPr sz="2000" kern="1200" spc="-40" dirty="0">
                <a:solidFill>
                  <a:prstClr val="black"/>
                </a:solidFill>
                <a:latin typeface="Palatino Linotype"/>
                <a:cs typeface="Palatino Linotype"/>
              </a:rPr>
              <a:t> </a:t>
            </a:r>
            <a:r>
              <a:rPr sz="2000" kern="1200" dirty="0">
                <a:solidFill>
                  <a:prstClr val="black"/>
                </a:solidFill>
                <a:latin typeface="Palatino Linotype"/>
                <a:cs typeface="Palatino Linotype"/>
              </a:rPr>
              <a:t>(5)</a:t>
            </a:r>
          </a:p>
        </p:txBody>
      </p:sp>
      <p:grpSp>
        <p:nvGrpSpPr>
          <p:cNvPr id="18" name="object 4">
            <a:extLst>
              <a:ext uri="{FF2B5EF4-FFF2-40B4-BE49-F238E27FC236}">
                <a16:creationId xmlns:a16="http://schemas.microsoft.com/office/drawing/2014/main" id="{79E5DE6C-C61A-AD9E-2A82-6D54F3EA9E91}"/>
              </a:ext>
            </a:extLst>
          </p:cNvPr>
          <p:cNvGrpSpPr/>
          <p:nvPr/>
        </p:nvGrpSpPr>
        <p:grpSpPr>
          <a:xfrm>
            <a:off x="1048689" y="3142043"/>
            <a:ext cx="7559675" cy="2078355"/>
            <a:chOff x="1048689" y="3142043"/>
            <a:chExt cx="7559675" cy="2078355"/>
          </a:xfrm>
        </p:grpSpPr>
        <p:pic>
          <p:nvPicPr>
            <p:cNvPr id="19" name="object 5">
              <a:extLst>
                <a:ext uri="{FF2B5EF4-FFF2-40B4-BE49-F238E27FC236}">
                  <a16:creationId xmlns:a16="http://schemas.microsoft.com/office/drawing/2014/main" id="{73D56207-1CCA-1F6C-6C03-69085FD60ED8}"/>
                </a:ext>
              </a:extLst>
            </p:cNvPr>
            <p:cNvPicPr/>
            <p:nvPr/>
          </p:nvPicPr>
          <p:blipFill>
            <a:blip r:embed="rId3" cstate="print"/>
            <a:stretch>
              <a:fillRect/>
            </a:stretch>
          </p:blipFill>
          <p:spPr>
            <a:xfrm>
              <a:off x="1048689" y="3229370"/>
              <a:ext cx="3648175" cy="1891184"/>
            </a:xfrm>
            <a:prstGeom prst="rect">
              <a:avLst/>
            </a:prstGeom>
          </p:spPr>
        </p:pic>
        <p:pic>
          <p:nvPicPr>
            <p:cNvPr id="20" name="object 6">
              <a:extLst>
                <a:ext uri="{FF2B5EF4-FFF2-40B4-BE49-F238E27FC236}">
                  <a16:creationId xmlns:a16="http://schemas.microsoft.com/office/drawing/2014/main" id="{ADE77F3E-C98F-EF20-B85D-459DB3148405}"/>
                </a:ext>
              </a:extLst>
            </p:cNvPr>
            <p:cNvPicPr/>
            <p:nvPr/>
          </p:nvPicPr>
          <p:blipFill>
            <a:blip r:embed="rId4" cstate="print"/>
            <a:stretch>
              <a:fillRect/>
            </a:stretch>
          </p:blipFill>
          <p:spPr>
            <a:xfrm>
              <a:off x="3901439" y="3151631"/>
              <a:ext cx="4696968" cy="742188"/>
            </a:xfrm>
            <a:prstGeom prst="rect">
              <a:avLst/>
            </a:prstGeom>
          </p:spPr>
        </p:pic>
        <p:sp>
          <p:nvSpPr>
            <p:cNvPr id="21" name="object 7">
              <a:extLst>
                <a:ext uri="{FF2B5EF4-FFF2-40B4-BE49-F238E27FC236}">
                  <a16:creationId xmlns:a16="http://schemas.microsoft.com/office/drawing/2014/main" id="{C019133C-E9D2-4EC9-5C8B-8CFF80784525}"/>
                </a:ext>
              </a:extLst>
            </p:cNvPr>
            <p:cNvSpPr/>
            <p:nvPr/>
          </p:nvSpPr>
          <p:spPr>
            <a:xfrm>
              <a:off x="3896613" y="3146805"/>
              <a:ext cx="4706620" cy="751840"/>
            </a:xfrm>
            <a:custGeom>
              <a:avLst/>
              <a:gdLst/>
              <a:ahLst/>
              <a:cxnLst/>
              <a:rect l="l" t="t" r="r" b="b"/>
              <a:pathLst>
                <a:path w="4706620" h="751839">
                  <a:moveTo>
                    <a:pt x="0" y="751713"/>
                  </a:moveTo>
                  <a:lnTo>
                    <a:pt x="4706493" y="751713"/>
                  </a:lnTo>
                  <a:lnTo>
                    <a:pt x="4706493" y="0"/>
                  </a:lnTo>
                  <a:lnTo>
                    <a:pt x="0" y="0"/>
                  </a:lnTo>
                  <a:lnTo>
                    <a:pt x="0" y="751713"/>
                  </a:lnTo>
                  <a:close/>
                </a:path>
              </a:pathLst>
            </a:custGeom>
            <a:ln w="9524">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22" name="object 8">
              <a:extLst>
                <a:ext uri="{FF2B5EF4-FFF2-40B4-BE49-F238E27FC236}">
                  <a16:creationId xmlns:a16="http://schemas.microsoft.com/office/drawing/2014/main" id="{98F29964-4BBF-9031-A392-BE9B30794F11}"/>
                </a:ext>
              </a:extLst>
            </p:cNvPr>
            <p:cNvPicPr/>
            <p:nvPr/>
          </p:nvPicPr>
          <p:blipFill>
            <a:blip r:embed="rId5" cstate="print"/>
            <a:stretch>
              <a:fillRect/>
            </a:stretch>
          </p:blipFill>
          <p:spPr>
            <a:xfrm>
              <a:off x="5986489" y="4716972"/>
              <a:ext cx="1663785" cy="307497"/>
            </a:xfrm>
            <a:prstGeom prst="rect">
              <a:avLst/>
            </a:prstGeom>
          </p:spPr>
        </p:pic>
        <p:sp>
          <p:nvSpPr>
            <p:cNvPr id="23" name="object 9">
              <a:extLst>
                <a:ext uri="{FF2B5EF4-FFF2-40B4-BE49-F238E27FC236}">
                  <a16:creationId xmlns:a16="http://schemas.microsoft.com/office/drawing/2014/main" id="{7D80FECE-CB75-BD6C-7394-3FF6AD698335}"/>
                </a:ext>
              </a:extLst>
            </p:cNvPr>
            <p:cNvSpPr/>
            <p:nvPr/>
          </p:nvSpPr>
          <p:spPr>
            <a:xfrm>
              <a:off x="5894577" y="4661661"/>
              <a:ext cx="1843405" cy="408940"/>
            </a:xfrm>
            <a:custGeom>
              <a:avLst/>
              <a:gdLst/>
              <a:ahLst/>
              <a:cxnLst/>
              <a:rect l="l" t="t" r="r" b="b"/>
              <a:pathLst>
                <a:path w="1843404" h="408939">
                  <a:moveTo>
                    <a:pt x="0" y="408813"/>
                  </a:moveTo>
                  <a:lnTo>
                    <a:pt x="1842897" y="408813"/>
                  </a:lnTo>
                  <a:lnTo>
                    <a:pt x="1842897" y="0"/>
                  </a:lnTo>
                  <a:lnTo>
                    <a:pt x="0" y="0"/>
                  </a:lnTo>
                  <a:lnTo>
                    <a:pt x="0" y="408813"/>
                  </a:lnTo>
                  <a:close/>
                </a:path>
              </a:pathLst>
            </a:custGeom>
            <a:ln w="9524">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4" name="object 10">
              <a:extLst>
                <a:ext uri="{FF2B5EF4-FFF2-40B4-BE49-F238E27FC236}">
                  <a16:creationId xmlns:a16="http://schemas.microsoft.com/office/drawing/2014/main" id="{2FD6BD15-0801-688A-71F3-7A17C47DC8C7}"/>
                </a:ext>
              </a:extLst>
            </p:cNvPr>
            <p:cNvSpPr/>
            <p:nvPr/>
          </p:nvSpPr>
          <p:spPr>
            <a:xfrm>
              <a:off x="1869947" y="4549139"/>
              <a:ext cx="916305" cy="664845"/>
            </a:xfrm>
            <a:custGeom>
              <a:avLst/>
              <a:gdLst/>
              <a:ahLst/>
              <a:cxnLst/>
              <a:rect l="l" t="t" r="r" b="b"/>
              <a:pathLst>
                <a:path w="916305" h="664845">
                  <a:moveTo>
                    <a:pt x="0" y="664463"/>
                  </a:moveTo>
                  <a:lnTo>
                    <a:pt x="915924" y="664463"/>
                  </a:lnTo>
                  <a:lnTo>
                    <a:pt x="915924" y="0"/>
                  </a:lnTo>
                  <a:lnTo>
                    <a:pt x="0" y="0"/>
                  </a:lnTo>
                  <a:lnTo>
                    <a:pt x="0" y="664463"/>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5" name="object 11">
            <a:extLst>
              <a:ext uri="{FF2B5EF4-FFF2-40B4-BE49-F238E27FC236}">
                <a16:creationId xmlns:a16="http://schemas.microsoft.com/office/drawing/2014/main" id="{FDF458FA-2E6A-3EDF-8483-D7351072FC3F}"/>
              </a:ext>
            </a:extLst>
          </p:cNvPr>
          <p:cNvSpPr txBox="1"/>
          <p:nvPr/>
        </p:nvSpPr>
        <p:spPr>
          <a:xfrm>
            <a:off x="5886703" y="4330700"/>
            <a:ext cx="1486535" cy="269240"/>
          </a:xfrm>
          <a:prstGeom prst="rect">
            <a:avLst/>
          </a:prstGeom>
        </p:spPr>
        <p:txBody>
          <a:bodyPr vert="horz" wrap="square" lIns="0" tIns="12065" rIns="0" bIns="0" rtlCol="0">
            <a:spAutoFit/>
          </a:bodyPr>
          <a:lstStyle/>
          <a:p>
            <a:pPr marL="12700" rtl="0">
              <a:spcBef>
                <a:spcPts val="95"/>
              </a:spcBef>
            </a:pPr>
            <a:r>
              <a:rPr sz="1600" kern="1200" spc="-5" dirty="0">
                <a:solidFill>
                  <a:srgbClr val="FF0000"/>
                </a:solidFill>
                <a:latin typeface="Palatino Linotype"/>
                <a:cs typeface="Palatino Linotype"/>
              </a:rPr>
              <a:t>Generated</a:t>
            </a:r>
            <a:r>
              <a:rPr sz="1600" kern="1200" spc="-50" dirty="0">
                <a:solidFill>
                  <a:srgbClr val="FF0000"/>
                </a:solidFill>
                <a:latin typeface="Palatino Linotype"/>
                <a:cs typeface="Palatino Linotype"/>
              </a:rPr>
              <a:t> </a:t>
            </a:r>
            <a:r>
              <a:rPr sz="1600" kern="1200" spc="-5" dirty="0">
                <a:solidFill>
                  <a:srgbClr val="FF0000"/>
                </a:solidFill>
                <a:latin typeface="Palatino Linotype"/>
                <a:cs typeface="Palatino Linotype"/>
              </a:rPr>
              <a:t>code:</a:t>
            </a:r>
            <a:endParaRPr sz="1600" kern="1200">
              <a:solidFill>
                <a:prstClr val="black"/>
              </a:solidFill>
              <a:latin typeface="Palatino Linotype"/>
              <a:cs typeface="Palatino Linotype"/>
            </a:endParaRPr>
          </a:p>
        </p:txBody>
      </p:sp>
      <p:sp>
        <p:nvSpPr>
          <p:cNvPr id="26" name="object 12">
            <a:extLst>
              <a:ext uri="{FF2B5EF4-FFF2-40B4-BE49-F238E27FC236}">
                <a16:creationId xmlns:a16="http://schemas.microsoft.com/office/drawing/2014/main" id="{F89044C0-DF55-A5F2-E9BD-AFE58826649F}"/>
              </a:ext>
            </a:extLst>
          </p:cNvPr>
          <p:cNvSpPr txBox="1"/>
          <p:nvPr/>
        </p:nvSpPr>
        <p:spPr>
          <a:xfrm>
            <a:off x="5614415" y="3488435"/>
            <a:ext cx="492759" cy="394970"/>
          </a:xfrm>
          <a:prstGeom prst="rect">
            <a:avLst/>
          </a:prstGeom>
          <a:solidFill>
            <a:srgbClr val="FFFFFF"/>
          </a:solidFill>
        </p:spPr>
        <p:txBody>
          <a:bodyPr vert="horz" wrap="square" lIns="0" tIns="24130" rIns="0" bIns="0" rtlCol="0">
            <a:spAutoFit/>
          </a:bodyPr>
          <a:lstStyle/>
          <a:p>
            <a:pPr marL="223520" rtl="0">
              <a:lnSpc>
                <a:spcPts val="1410"/>
              </a:lnSpc>
              <a:spcBef>
                <a:spcPts val="190"/>
              </a:spcBef>
            </a:pPr>
            <a:r>
              <a:rPr sz="1400" i="1" kern="1200" spc="-5" dirty="0">
                <a:solidFill>
                  <a:srgbClr val="585858"/>
                </a:solidFill>
                <a:cs typeface="Calibri"/>
              </a:rPr>
              <a:t>gen  gen</a:t>
            </a:r>
            <a:endParaRPr sz="1400" kern="1200">
              <a:solidFill>
                <a:prstClr val="black"/>
              </a:solidFill>
              <a:cs typeface="Calibri"/>
            </a:endParaRPr>
          </a:p>
        </p:txBody>
      </p:sp>
    </p:spTree>
    <p:extLst>
      <p:ext uri="{BB962C8B-B14F-4D97-AF65-F5344CB8AC3E}">
        <p14:creationId xmlns:p14="http://schemas.microsoft.com/office/powerpoint/2010/main" val="398852678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105</a:t>
            </a:fld>
            <a:endParaRPr lang="en-US"/>
          </a:p>
        </p:txBody>
      </p:sp>
      <p:sp>
        <p:nvSpPr>
          <p:cNvPr id="13" name="object 2">
            <a:extLst>
              <a:ext uri="{FF2B5EF4-FFF2-40B4-BE49-F238E27FC236}">
                <a16:creationId xmlns:a16="http://schemas.microsoft.com/office/drawing/2014/main" id="{703E8993-B663-51D8-D989-86ADD2B928A2}"/>
              </a:ext>
            </a:extLst>
          </p:cNvPr>
          <p:cNvSpPr txBox="1">
            <a:spLocks/>
          </p:cNvSpPr>
          <p:nvPr/>
        </p:nvSpPr>
        <p:spPr>
          <a:xfrm>
            <a:off x="707542" y="538429"/>
            <a:ext cx="7632065" cy="605790"/>
          </a:xfrm>
          <a:prstGeom prst="rect">
            <a:avLst/>
          </a:prstGeom>
        </p:spPr>
        <p:txBody>
          <a:bodyPr vert="horz" wrap="square" lIns="0" tIns="1333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5"/>
              </a:spcBef>
              <a:spcAft>
                <a:spcPts val="0"/>
              </a:spcAft>
              <a:buClrTx/>
              <a:buSzTx/>
              <a:buFontTx/>
              <a:buNone/>
              <a:tabLst/>
              <a:defRPr/>
            </a:pPr>
            <a:r>
              <a:rPr kumimoji="0" lang="en-US" sz="3800" b="1" i="0" u="none" strike="noStrike" kern="0" cap="none" spc="5" normalizeH="0" baseline="0" noProof="0">
                <a:ln>
                  <a:noFill/>
                </a:ln>
                <a:solidFill>
                  <a:sysClr val="windowText" lastClr="000000"/>
                </a:solidFill>
                <a:effectLst/>
                <a:uLnTx/>
                <a:uFillTx/>
                <a:latin typeface="Palatino Linotype"/>
                <a:ea typeface="+mj-ea"/>
              </a:rPr>
              <a:t>Example</a:t>
            </a:r>
            <a:r>
              <a:rPr kumimoji="0" lang="en-US" sz="3800" b="1" i="0" u="none" strike="noStrike" kern="0" cap="none" spc="-55"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a:t>
            </a:r>
            <a:r>
              <a:rPr kumimoji="0" lang="en-US" sz="3800" b="1" i="0" u="none" strike="noStrike" kern="0" cap="none" spc="-5" normalizeH="0" baseline="0" noProof="0">
                <a:ln>
                  <a:noFill/>
                </a:ln>
                <a:solidFill>
                  <a:sysClr val="windowText" lastClr="000000"/>
                </a:solidFill>
                <a:effectLst/>
                <a:uLnTx/>
                <a:uFillTx/>
                <a:latin typeface="Palatino Linotype"/>
                <a:ea typeface="+mj-ea"/>
              </a:rPr>
              <a:t> Boolean</a:t>
            </a:r>
            <a:r>
              <a:rPr kumimoji="0" lang="en-US" sz="3800" b="1" i="0" u="none" strike="noStrike" kern="0" cap="none" spc="-30"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Expressions</a:t>
            </a:r>
            <a:r>
              <a:rPr kumimoji="0" lang="en-US" sz="3800" b="1" i="0" u="none" strike="noStrike" kern="0" cap="none" spc="-45"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(2)</a:t>
            </a:r>
          </a:p>
        </p:txBody>
      </p:sp>
      <p:sp>
        <p:nvSpPr>
          <p:cNvPr id="14" name="object 3">
            <a:extLst>
              <a:ext uri="{FF2B5EF4-FFF2-40B4-BE49-F238E27FC236}">
                <a16:creationId xmlns:a16="http://schemas.microsoft.com/office/drawing/2014/main" id="{7E6FA45D-EB15-729D-69E9-9EB6F44EDA09}"/>
              </a:ext>
            </a:extLst>
          </p:cNvPr>
          <p:cNvSpPr txBox="1"/>
          <p:nvPr/>
        </p:nvSpPr>
        <p:spPr>
          <a:xfrm>
            <a:off x="707542" y="1653667"/>
            <a:ext cx="5925185" cy="934230"/>
          </a:xfrm>
          <a:prstGeom prst="rect">
            <a:avLst/>
          </a:prstGeom>
        </p:spPr>
        <p:txBody>
          <a:bodyPr vert="horz" wrap="square" lIns="0" tIns="13335" rIns="0" bIns="0" rtlCol="0">
            <a:spAutoFit/>
          </a:bodyPr>
          <a:lstStyle/>
          <a:p>
            <a:pPr marL="242570" indent="-230504" rtl="0">
              <a:spcBef>
                <a:spcPts val="105"/>
              </a:spcBef>
              <a:buFont typeface="Arial MT"/>
              <a:buChar char="•"/>
              <a:tabLst>
                <a:tab pos="242570" algn="l"/>
                <a:tab pos="243204" algn="l"/>
                <a:tab pos="2809240" algn="l"/>
              </a:tabLst>
            </a:pPr>
            <a:r>
              <a:rPr sz="2000" kern="1200" dirty="0">
                <a:solidFill>
                  <a:prstClr val="black"/>
                </a:solidFill>
                <a:latin typeface="Palatino Linotype"/>
                <a:cs typeface="Palatino Linotype"/>
              </a:rPr>
              <a:t>Boolean</a:t>
            </a:r>
            <a:r>
              <a:rPr sz="2000" kern="1200" spc="-20" dirty="0">
                <a:solidFill>
                  <a:prstClr val="black"/>
                </a:solidFill>
                <a:latin typeface="Palatino Linotype"/>
                <a:cs typeface="Palatino Linotype"/>
              </a:rPr>
              <a:t> </a:t>
            </a:r>
            <a:r>
              <a:rPr sz="2000" kern="1200" dirty="0">
                <a:solidFill>
                  <a:prstClr val="black"/>
                </a:solidFill>
                <a:latin typeface="Palatino Linotype"/>
                <a:cs typeface="Palatino Linotype"/>
              </a:rPr>
              <a:t>expression:</a:t>
            </a:r>
            <a:r>
              <a:rPr sz="2000" kern="1200" spc="5" dirty="0">
                <a:solidFill>
                  <a:prstClr val="black"/>
                </a:solidFill>
                <a:latin typeface="Palatino Linotype"/>
                <a:cs typeface="Palatino Linotype"/>
              </a:rPr>
              <a:t> </a:t>
            </a:r>
            <a:r>
              <a:rPr sz="2000" kern="1200" dirty="0">
                <a:solidFill>
                  <a:schemeClr val="bg2">
                    <a:lumMod val="50000"/>
                  </a:schemeClr>
                </a:solidFill>
                <a:latin typeface="Cambria Math"/>
                <a:cs typeface="Cambria Math"/>
              </a:rPr>
              <a:t>𝑥	&lt;</a:t>
            </a:r>
            <a:r>
              <a:rPr sz="2000" kern="1200" spc="535" dirty="0">
                <a:solidFill>
                  <a:schemeClr val="bg2">
                    <a:lumMod val="50000"/>
                  </a:schemeClr>
                </a:solidFill>
                <a:latin typeface="Cambria Math"/>
                <a:cs typeface="Cambria Math"/>
              </a:rPr>
              <a:t> </a:t>
            </a:r>
            <a:r>
              <a:rPr sz="2000" kern="1200" spc="-5" dirty="0">
                <a:solidFill>
                  <a:schemeClr val="bg2">
                    <a:lumMod val="50000"/>
                  </a:schemeClr>
                </a:solidFill>
                <a:latin typeface="Cambria Math"/>
                <a:cs typeface="Cambria Math"/>
              </a:rPr>
              <a:t>100</a:t>
            </a:r>
            <a:r>
              <a:rPr sz="2000" kern="1200" spc="120"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a:t>
            </a:r>
            <a:r>
              <a:rPr sz="2000" kern="1200" spc="100"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𝑥</a:t>
            </a:r>
            <a:r>
              <a:rPr sz="2000" kern="1200" spc="165"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&gt;</a:t>
            </a:r>
            <a:r>
              <a:rPr sz="2000" kern="1200" spc="114" dirty="0">
                <a:solidFill>
                  <a:schemeClr val="bg2">
                    <a:lumMod val="50000"/>
                  </a:schemeClr>
                </a:solidFill>
                <a:latin typeface="Cambria Math"/>
                <a:cs typeface="Cambria Math"/>
              </a:rPr>
              <a:t> </a:t>
            </a:r>
            <a:r>
              <a:rPr sz="2000" kern="1200" spc="-5" dirty="0">
                <a:solidFill>
                  <a:schemeClr val="bg2">
                    <a:lumMod val="50000"/>
                  </a:schemeClr>
                </a:solidFill>
                <a:latin typeface="Cambria Math"/>
                <a:cs typeface="Cambria Math"/>
              </a:rPr>
              <a:t>200</a:t>
            </a:r>
            <a:r>
              <a:rPr sz="2000" kern="1200" spc="15"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&amp;&amp;</a:t>
            </a:r>
            <a:r>
              <a:rPr sz="2000" kern="1200" spc="-10" dirty="0">
                <a:solidFill>
                  <a:schemeClr val="bg2">
                    <a:lumMod val="50000"/>
                  </a:schemeClr>
                </a:solidFill>
                <a:latin typeface="Cambria Math"/>
                <a:cs typeface="Cambria Math"/>
              </a:rPr>
              <a:t> </a:t>
            </a:r>
            <a:r>
              <a:rPr sz="2000" kern="1200" dirty="0">
                <a:solidFill>
                  <a:srgbClr val="FF0000"/>
                </a:solidFill>
                <a:latin typeface="Cambria Math"/>
                <a:cs typeface="Cambria Math"/>
              </a:rPr>
              <a:t>𝑥</a:t>
            </a:r>
            <a:r>
              <a:rPr sz="2000" kern="1200" spc="35" dirty="0">
                <a:solidFill>
                  <a:srgbClr val="FF0000"/>
                </a:solidFill>
                <a:latin typeface="Cambria Math"/>
                <a:cs typeface="Cambria Math"/>
              </a:rPr>
              <a:t> </a:t>
            </a:r>
            <a:r>
              <a:rPr sz="2000" kern="1200" dirty="0">
                <a:solidFill>
                  <a:srgbClr val="FF0000"/>
                </a:solidFill>
                <a:latin typeface="Cambria Math"/>
                <a:cs typeface="Cambria Math"/>
              </a:rPr>
              <a:t>!</a:t>
            </a:r>
            <a:r>
              <a:rPr sz="2000" kern="1200" spc="110" dirty="0">
                <a:solidFill>
                  <a:srgbClr val="FF0000"/>
                </a:solidFill>
                <a:latin typeface="Cambria Math"/>
                <a:cs typeface="Cambria Math"/>
              </a:rPr>
              <a:t> </a:t>
            </a:r>
            <a:r>
              <a:rPr sz="2000" kern="1200" dirty="0">
                <a:solidFill>
                  <a:srgbClr val="FF0000"/>
                </a:solidFill>
                <a:latin typeface="Cambria Math"/>
                <a:cs typeface="Cambria Math"/>
              </a:rPr>
              <a:t>=</a:t>
            </a:r>
            <a:r>
              <a:rPr sz="2000" kern="1200" spc="100" dirty="0">
                <a:solidFill>
                  <a:srgbClr val="FF0000"/>
                </a:solidFill>
                <a:latin typeface="Cambria Math"/>
                <a:cs typeface="Cambria Math"/>
              </a:rPr>
              <a:t> </a:t>
            </a:r>
            <a:r>
              <a:rPr sz="2000" kern="1200" dirty="0">
                <a:solidFill>
                  <a:srgbClr val="FF0000"/>
                </a:solidFill>
                <a:latin typeface="Cambria Math"/>
                <a:cs typeface="Cambria Math"/>
              </a:rPr>
              <a:t>𝑦</a:t>
            </a:r>
            <a:endParaRPr sz="2000" kern="1200" dirty="0">
              <a:solidFill>
                <a:prstClr val="black"/>
              </a:solidFill>
              <a:latin typeface="Cambria Math"/>
              <a:cs typeface="Cambria Math"/>
            </a:endParaRPr>
          </a:p>
          <a:p>
            <a:pPr rtl="0">
              <a:spcBef>
                <a:spcPts val="50"/>
              </a:spcBef>
              <a:buFont typeface="Arial MT"/>
              <a:buChar char="•"/>
            </a:pPr>
            <a:endParaRPr sz="1900" kern="1200" dirty="0">
              <a:solidFill>
                <a:prstClr val="black"/>
              </a:solidFill>
              <a:latin typeface="Cambria Math"/>
              <a:cs typeface="Cambria Math"/>
            </a:endParaRPr>
          </a:p>
          <a:p>
            <a:pPr marL="242570" indent="-230504" rtl="0">
              <a:buClr>
                <a:srgbClr val="000000"/>
              </a:buClr>
              <a:buFont typeface="Arial MT"/>
              <a:buChar char="•"/>
              <a:tabLst>
                <a:tab pos="242570" algn="l"/>
                <a:tab pos="243204" algn="l"/>
              </a:tabLst>
            </a:pPr>
            <a:r>
              <a:rPr sz="2000" b="1" kern="1200" dirty="0">
                <a:solidFill>
                  <a:srgbClr val="0431FF"/>
                </a:solidFill>
                <a:latin typeface="Palatino Linotype"/>
                <a:cs typeface="Palatino Linotype"/>
              </a:rPr>
              <a:t>Step</a:t>
            </a:r>
            <a:r>
              <a:rPr sz="2000" b="1" kern="1200" spc="-30" dirty="0">
                <a:solidFill>
                  <a:srgbClr val="0431FF"/>
                </a:solidFill>
                <a:latin typeface="Palatino Linotype"/>
                <a:cs typeface="Palatino Linotype"/>
              </a:rPr>
              <a:t> </a:t>
            </a:r>
            <a:r>
              <a:rPr sz="2000" b="1" kern="1200" dirty="0">
                <a:solidFill>
                  <a:srgbClr val="0431FF"/>
                </a:solidFill>
                <a:latin typeface="Palatino Linotype"/>
                <a:cs typeface="Palatino Linotype"/>
              </a:rPr>
              <a:t>4: </a:t>
            </a:r>
            <a:r>
              <a:rPr sz="2000" kern="1200" dirty="0">
                <a:solidFill>
                  <a:prstClr val="black"/>
                </a:solidFill>
                <a:latin typeface="Palatino Linotype"/>
                <a:cs typeface="Palatino Linotype"/>
              </a:rPr>
              <a:t>reduce</a:t>
            </a:r>
            <a:r>
              <a:rPr sz="2000" kern="1200" spc="430" dirty="0">
                <a:solidFill>
                  <a:prstClr val="black"/>
                </a:solidFill>
                <a:latin typeface="Palatino Linotype"/>
                <a:cs typeface="Palatino Linotype"/>
              </a:rPr>
              <a:t> </a:t>
            </a:r>
            <a:r>
              <a:rPr sz="2000" kern="1200" dirty="0">
                <a:solidFill>
                  <a:prstClr val="black"/>
                </a:solidFill>
                <a:latin typeface="Cambria Math"/>
                <a:cs typeface="Cambria Math"/>
              </a:rPr>
              <a:t>𝜖</a:t>
            </a:r>
            <a:r>
              <a:rPr sz="2000" kern="1200" spc="114" dirty="0">
                <a:solidFill>
                  <a:prstClr val="black"/>
                </a:solidFill>
                <a:latin typeface="Cambria Math"/>
                <a:cs typeface="Cambria Math"/>
              </a:rPr>
              <a:t> </a:t>
            </a:r>
            <a:r>
              <a:rPr sz="2000" kern="1200" spc="-5" dirty="0">
                <a:solidFill>
                  <a:prstClr val="black"/>
                </a:solidFill>
                <a:latin typeface="Palatino Linotype"/>
                <a:cs typeface="Palatino Linotype"/>
              </a:rPr>
              <a:t>to</a:t>
            </a:r>
            <a:r>
              <a:rPr sz="2000" kern="1200" spc="-20" dirty="0">
                <a:solidFill>
                  <a:prstClr val="black"/>
                </a:solidFill>
                <a:latin typeface="Palatino Linotype"/>
                <a:cs typeface="Palatino Linotype"/>
              </a:rPr>
              <a:t> </a:t>
            </a:r>
            <a:r>
              <a:rPr sz="2000" kern="1200" dirty="0">
                <a:solidFill>
                  <a:prstClr val="black"/>
                </a:solidFill>
                <a:latin typeface="Cambria Math"/>
                <a:cs typeface="Cambria Math"/>
              </a:rPr>
              <a:t>𝑀</a:t>
            </a:r>
            <a:r>
              <a:rPr sz="2000" kern="1200" spc="110" dirty="0">
                <a:solidFill>
                  <a:prstClr val="black"/>
                </a:solidFill>
                <a:latin typeface="Cambria Math"/>
                <a:cs typeface="Cambria Math"/>
              </a:rPr>
              <a:t> </a:t>
            </a:r>
            <a:r>
              <a:rPr sz="2000" kern="1200" spc="-5" dirty="0">
                <a:solidFill>
                  <a:prstClr val="black"/>
                </a:solidFill>
                <a:latin typeface="Palatino Linotype"/>
                <a:cs typeface="Palatino Linotype"/>
              </a:rPr>
              <a:t>by production</a:t>
            </a:r>
            <a:r>
              <a:rPr sz="2000" kern="1200" spc="-40" dirty="0">
                <a:solidFill>
                  <a:prstClr val="black"/>
                </a:solidFill>
                <a:latin typeface="Palatino Linotype"/>
                <a:cs typeface="Palatino Linotype"/>
              </a:rPr>
              <a:t> </a:t>
            </a:r>
            <a:r>
              <a:rPr sz="2000" kern="1200" dirty="0">
                <a:solidFill>
                  <a:prstClr val="black"/>
                </a:solidFill>
                <a:latin typeface="Palatino Linotype"/>
                <a:cs typeface="Palatino Linotype"/>
              </a:rPr>
              <a:t>(8)</a:t>
            </a:r>
          </a:p>
        </p:txBody>
      </p:sp>
      <p:pic>
        <p:nvPicPr>
          <p:cNvPr id="15" name="object 4">
            <a:extLst>
              <a:ext uri="{FF2B5EF4-FFF2-40B4-BE49-F238E27FC236}">
                <a16:creationId xmlns:a16="http://schemas.microsoft.com/office/drawing/2014/main" id="{9E1A6B44-236D-B579-9962-E2091ECB1B24}"/>
              </a:ext>
            </a:extLst>
          </p:cNvPr>
          <p:cNvPicPr/>
          <p:nvPr/>
        </p:nvPicPr>
        <p:blipFill>
          <a:blip r:embed="rId3" cstate="print"/>
          <a:stretch>
            <a:fillRect/>
          </a:stretch>
        </p:blipFill>
        <p:spPr>
          <a:xfrm>
            <a:off x="1048689" y="3229370"/>
            <a:ext cx="3648175" cy="1891184"/>
          </a:xfrm>
          <a:prstGeom prst="rect">
            <a:avLst/>
          </a:prstGeom>
        </p:spPr>
      </p:pic>
      <p:sp>
        <p:nvSpPr>
          <p:cNvPr id="16" name="object 5">
            <a:extLst>
              <a:ext uri="{FF2B5EF4-FFF2-40B4-BE49-F238E27FC236}">
                <a16:creationId xmlns:a16="http://schemas.microsoft.com/office/drawing/2014/main" id="{0CEBEC3C-1E52-8659-E8A6-F21C6A977956}"/>
              </a:ext>
            </a:extLst>
          </p:cNvPr>
          <p:cNvSpPr txBox="1"/>
          <p:nvPr/>
        </p:nvSpPr>
        <p:spPr>
          <a:xfrm>
            <a:off x="3418078" y="5648350"/>
            <a:ext cx="4705985" cy="239395"/>
          </a:xfrm>
          <a:prstGeom prst="rect">
            <a:avLst/>
          </a:prstGeom>
        </p:spPr>
        <p:txBody>
          <a:bodyPr vert="horz" wrap="square" lIns="0" tIns="12700" rIns="0" bIns="0" rtlCol="0">
            <a:spAutoFit/>
          </a:bodyPr>
          <a:lstStyle/>
          <a:p>
            <a:pPr marL="12700" rtl="0">
              <a:spcBef>
                <a:spcPts val="100"/>
              </a:spcBef>
            </a:pPr>
            <a:r>
              <a:rPr sz="1400" kern="1200" dirty="0">
                <a:solidFill>
                  <a:srgbClr val="FF0000"/>
                </a:solidFill>
                <a:latin typeface="Palatino Linotype"/>
                <a:cs typeface="Palatino Linotype"/>
              </a:rPr>
              <a:t>The marker</a:t>
            </a:r>
            <a:r>
              <a:rPr sz="1400" kern="1200" spc="-25" dirty="0">
                <a:solidFill>
                  <a:srgbClr val="FF0000"/>
                </a:solidFill>
                <a:latin typeface="Palatino Linotype"/>
                <a:cs typeface="Palatino Linotype"/>
              </a:rPr>
              <a:t> </a:t>
            </a:r>
            <a:r>
              <a:rPr sz="1400" kern="1200" dirty="0">
                <a:solidFill>
                  <a:srgbClr val="FF0000"/>
                </a:solidFill>
                <a:latin typeface="Palatino Linotype"/>
                <a:cs typeface="Palatino Linotype"/>
              </a:rPr>
              <a:t>nonterminal </a:t>
            </a:r>
            <a:r>
              <a:rPr sz="1400" kern="1200" spc="-5" dirty="0">
                <a:solidFill>
                  <a:srgbClr val="FF0000"/>
                </a:solidFill>
                <a:latin typeface="Palatino Linotype"/>
                <a:cs typeface="Palatino Linotype"/>
              </a:rPr>
              <a:t>records</a:t>
            </a:r>
            <a:r>
              <a:rPr sz="1400" kern="1200" spc="-25" dirty="0">
                <a:solidFill>
                  <a:srgbClr val="FF0000"/>
                </a:solidFill>
                <a:latin typeface="Palatino Linotype"/>
                <a:cs typeface="Palatino Linotype"/>
              </a:rPr>
              <a:t> </a:t>
            </a:r>
            <a:r>
              <a:rPr sz="1400" kern="1200" spc="-5" dirty="0">
                <a:solidFill>
                  <a:srgbClr val="FF0000"/>
                </a:solidFill>
                <a:latin typeface="Palatino Linotype"/>
                <a:cs typeface="Palatino Linotype"/>
              </a:rPr>
              <a:t>the</a:t>
            </a:r>
            <a:r>
              <a:rPr sz="1400" kern="1200" dirty="0">
                <a:solidFill>
                  <a:srgbClr val="FF0000"/>
                </a:solidFill>
                <a:latin typeface="Palatino Linotype"/>
                <a:cs typeface="Palatino Linotype"/>
              </a:rPr>
              <a:t> </a:t>
            </a:r>
            <a:r>
              <a:rPr sz="1400" kern="1200" spc="-10" dirty="0">
                <a:solidFill>
                  <a:srgbClr val="FF0000"/>
                </a:solidFill>
                <a:latin typeface="Palatino Linotype"/>
                <a:cs typeface="Palatino Linotype"/>
              </a:rPr>
              <a:t>value</a:t>
            </a:r>
            <a:r>
              <a:rPr sz="1400" kern="1200" spc="-15" dirty="0">
                <a:solidFill>
                  <a:srgbClr val="FF0000"/>
                </a:solidFill>
                <a:latin typeface="Palatino Linotype"/>
                <a:cs typeface="Palatino Linotype"/>
              </a:rPr>
              <a:t> </a:t>
            </a:r>
            <a:r>
              <a:rPr sz="1400" kern="1200" dirty="0">
                <a:solidFill>
                  <a:srgbClr val="FF0000"/>
                </a:solidFill>
                <a:latin typeface="Palatino Linotype"/>
                <a:cs typeface="Palatino Linotype"/>
              </a:rPr>
              <a:t>of</a:t>
            </a:r>
            <a:r>
              <a:rPr sz="1400" kern="1200" spc="15" dirty="0">
                <a:solidFill>
                  <a:srgbClr val="FF0000"/>
                </a:solidFill>
                <a:latin typeface="Palatino Linotype"/>
                <a:cs typeface="Palatino Linotype"/>
              </a:rPr>
              <a:t> </a:t>
            </a:r>
            <a:r>
              <a:rPr sz="1400" kern="1200" dirty="0">
                <a:solidFill>
                  <a:srgbClr val="FF0000"/>
                </a:solidFill>
                <a:latin typeface="Cambria Math"/>
                <a:cs typeface="Cambria Math"/>
              </a:rPr>
              <a:t>𝑛𝑒𝑥𝑡𝑖𝑛𝑠𝑡𝑟</a:t>
            </a:r>
            <a:r>
              <a:rPr sz="1400" kern="1200" dirty="0">
                <a:solidFill>
                  <a:srgbClr val="FF0000"/>
                </a:solidFill>
                <a:latin typeface="Palatino Linotype"/>
                <a:cs typeface="Palatino Linotype"/>
              </a:rPr>
              <a:t>,</a:t>
            </a:r>
            <a:r>
              <a:rPr sz="1400" kern="1200" spc="-5" dirty="0">
                <a:solidFill>
                  <a:srgbClr val="FF0000"/>
                </a:solidFill>
                <a:latin typeface="Palatino Linotype"/>
                <a:cs typeface="Palatino Linotype"/>
              </a:rPr>
              <a:t> </a:t>
            </a:r>
            <a:r>
              <a:rPr sz="1400" kern="1200" dirty="0">
                <a:solidFill>
                  <a:srgbClr val="FF0000"/>
                </a:solidFill>
                <a:latin typeface="Palatino Linotype"/>
                <a:cs typeface="Palatino Linotype"/>
              </a:rPr>
              <a:t>104</a:t>
            </a:r>
            <a:endParaRPr sz="1400" kern="1200" dirty="0">
              <a:solidFill>
                <a:prstClr val="black"/>
              </a:solidFill>
              <a:latin typeface="Palatino Linotype"/>
              <a:cs typeface="Palatino Linotype"/>
            </a:endParaRPr>
          </a:p>
        </p:txBody>
      </p:sp>
      <p:grpSp>
        <p:nvGrpSpPr>
          <p:cNvPr id="17" name="object 6">
            <a:extLst>
              <a:ext uri="{FF2B5EF4-FFF2-40B4-BE49-F238E27FC236}">
                <a16:creationId xmlns:a16="http://schemas.microsoft.com/office/drawing/2014/main" id="{D586A6B4-A92F-ACD4-5E4E-B3985B1907E8}"/>
              </a:ext>
            </a:extLst>
          </p:cNvPr>
          <p:cNvGrpSpPr/>
          <p:nvPr/>
        </p:nvGrpSpPr>
        <p:grpSpPr>
          <a:xfrm>
            <a:off x="3842385" y="4307617"/>
            <a:ext cx="4545330" cy="2131060"/>
            <a:chOff x="3710813" y="3536759"/>
            <a:chExt cx="4545330" cy="2131060"/>
          </a:xfrm>
        </p:grpSpPr>
        <p:sp>
          <p:nvSpPr>
            <p:cNvPr id="18" name="object 7">
              <a:extLst>
                <a:ext uri="{FF2B5EF4-FFF2-40B4-BE49-F238E27FC236}">
                  <a16:creationId xmlns:a16="http://schemas.microsoft.com/office/drawing/2014/main" id="{7A051D26-DB63-307E-A45D-32F295CE92AA}"/>
                </a:ext>
              </a:extLst>
            </p:cNvPr>
            <p:cNvSpPr/>
            <p:nvPr/>
          </p:nvSpPr>
          <p:spPr>
            <a:xfrm>
              <a:off x="3710813" y="4533899"/>
              <a:ext cx="308610" cy="1134110"/>
            </a:xfrm>
            <a:custGeom>
              <a:avLst/>
              <a:gdLst/>
              <a:ahLst/>
              <a:cxnLst/>
              <a:rect l="l" t="t" r="r" b="b"/>
              <a:pathLst>
                <a:path w="308610" h="1134110">
                  <a:moveTo>
                    <a:pt x="12446" y="0"/>
                  </a:moveTo>
                  <a:lnTo>
                    <a:pt x="0" y="3048"/>
                  </a:lnTo>
                  <a:lnTo>
                    <a:pt x="11937" y="52450"/>
                  </a:lnTo>
                  <a:lnTo>
                    <a:pt x="24257" y="49402"/>
                  </a:lnTo>
                  <a:lnTo>
                    <a:pt x="12446" y="0"/>
                  </a:lnTo>
                  <a:close/>
                </a:path>
                <a:path w="308610" h="1134110">
                  <a:moveTo>
                    <a:pt x="33274" y="86487"/>
                  </a:moveTo>
                  <a:lnTo>
                    <a:pt x="20827" y="89407"/>
                  </a:lnTo>
                  <a:lnTo>
                    <a:pt x="32765" y="138811"/>
                  </a:lnTo>
                  <a:lnTo>
                    <a:pt x="45085" y="135889"/>
                  </a:lnTo>
                  <a:lnTo>
                    <a:pt x="33274" y="86487"/>
                  </a:lnTo>
                  <a:close/>
                </a:path>
                <a:path w="308610" h="1134110">
                  <a:moveTo>
                    <a:pt x="53975" y="172847"/>
                  </a:moveTo>
                  <a:lnTo>
                    <a:pt x="41656" y="175894"/>
                  </a:lnTo>
                  <a:lnTo>
                    <a:pt x="53594" y="225298"/>
                  </a:lnTo>
                  <a:lnTo>
                    <a:pt x="65912" y="222250"/>
                  </a:lnTo>
                  <a:lnTo>
                    <a:pt x="53975" y="172847"/>
                  </a:lnTo>
                  <a:close/>
                </a:path>
                <a:path w="308610" h="1134110">
                  <a:moveTo>
                    <a:pt x="74802" y="259333"/>
                  </a:moveTo>
                  <a:lnTo>
                    <a:pt x="62484" y="262255"/>
                  </a:lnTo>
                  <a:lnTo>
                    <a:pt x="74422" y="311657"/>
                  </a:lnTo>
                  <a:lnTo>
                    <a:pt x="86740" y="308737"/>
                  </a:lnTo>
                  <a:lnTo>
                    <a:pt x="74802" y="259333"/>
                  </a:lnTo>
                  <a:close/>
                </a:path>
                <a:path w="308610" h="1134110">
                  <a:moveTo>
                    <a:pt x="95631" y="345694"/>
                  </a:moveTo>
                  <a:lnTo>
                    <a:pt x="83312" y="348742"/>
                  </a:lnTo>
                  <a:lnTo>
                    <a:pt x="95250" y="398144"/>
                  </a:lnTo>
                  <a:lnTo>
                    <a:pt x="107569" y="395097"/>
                  </a:lnTo>
                  <a:lnTo>
                    <a:pt x="95631" y="345694"/>
                  </a:lnTo>
                  <a:close/>
                </a:path>
                <a:path w="308610" h="1134110">
                  <a:moveTo>
                    <a:pt x="116459" y="432181"/>
                  </a:moveTo>
                  <a:lnTo>
                    <a:pt x="104139" y="435101"/>
                  </a:lnTo>
                  <a:lnTo>
                    <a:pt x="116077" y="484505"/>
                  </a:lnTo>
                  <a:lnTo>
                    <a:pt x="128397" y="481583"/>
                  </a:lnTo>
                  <a:lnTo>
                    <a:pt x="116459" y="432181"/>
                  </a:lnTo>
                  <a:close/>
                </a:path>
                <a:path w="308610" h="1134110">
                  <a:moveTo>
                    <a:pt x="137287" y="518541"/>
                  </a:moveTo>
                  <a:lnTo>
                    <a:pt x="124967" y="521588"/>
                  </a:lnTo>
                  <a:lnTo>
                    <a:pt x="136906" y="570992"/>
                  </a:lnTo>
                  <a:lnTo>
                    <a:pt x="149225" y="567944"/>
                  </a:lnTo>
                  <a:lnTo>
                    <a:pt x="137287" y="518541"/>
                  </a:lnTo>
                  <a:close/>
                </a:path>
                <a:path w="308610" h="1134110">
                  <a:moveTo>
                    <a:pt x="158114" y="605027"/>
                  </a:moveTo>
                  <a:lnTo>
                    <a:pt x="145796" y="607949"/>
                  </a:lnTo>
                  <a:lnTo>
                    <a:pt x="157734" y="657351"/>
                  </a:lnTo>
                  <a:lnTo>
                    <a:pt x="170052" y="654431"/>
                  </a:lnTo>
                  <a:lnTo>
                    <a:pt x="158114" y="605027"/>
                  </a:lnTo>
                  <a:close/>
                </a:path>
                <a:path w="308610" h="1134110">
                  <a:moveTo>
                    <a:pt x="178942" y="691514"/>
                  </a:moveTo>
                  <a:lnTo>
                    <a:pt x="166624" y="694436"/>
                  </a:lnTo>
                  <a:lnTo>
                    <a:pt x="178562" y="743838"/>
                  </a:lnTo>
                  <a:lnTo>
                    <a:pt x="190881" y="740791"/>
                  </a:lnTo>
                  <a:lnTo>
                    <a:pt x="178942" y="691514"/>
                  </a:lnTo>
                  <a:close/>
                </a:path>
                <a:path w="308610" h="1134110">
                  <a:moveTo>
                    <a:pt x="199771" y="777875"/>
                  </a:moveTo>
                  <a:lnTo>
                    <a:pt x="187451" y="780796"/>
                  </a:lnTo>
                  <a:lnTo>
                    <a:pt x="199389" y="830199"/>
                  </a:lnTo>
                  <a:lnTo>
                    <a:pt x="211709" y="827278"/>
                  </a:lnTo>
                  <a:lnTo>
                    <a:pt x="199771" y="777875"/>
                  </a:lnTo>
                  <a:close/>
                </a:path>
                <a:path w="308610" h="1134110">
                  <a:moveTo>
                    <a:pt x="220599" y="864362"/>
                  </a:moveTo>
                  <a:lnTo>
                    <a:pt x="208279" y="867283"/>
                  </a:lnTo>
                  <a:lnTo>
                    <a:pt x="220217" y="916686"/>
                  </a:lnTo>
                  <a:lnTo>
                    <a:pt x="232537" y="913638"/>
                  </a:lnTo>
                  <a:lnTo>
                    <a:pt x="220599" y="864362"/>
                  </a:lnTo>
                  <a:close/>
                </a:path>
                <a:path w="308610" h="1134110">
                  <a:moveTo>
                    <a:pt x="241426" y="950722"/>
                  </a:moveTo>
                  <a:lnTo>
                    <a:pt x="229108" y="953769"/>
                  </a:lnTo>
                  <a:lnTo>
                    <a:pt x="241046" y="1003046"/>
                  </a:lnTo>
                  <a:lnTo>
                    <a:pt x="253364" y="1000125"/>
                  </a:lnTo>
                  <a:lnTo>
                    <a:pt x="241426" y="950722"/>
                  </a:lnTo>
                  <a:close/>
                </a:path>
                <a:path w="308610" h="1134110">
                  <a:moveTo>
                    <a:pt x="213106" y="1050925"/>
                  </a:moveTo>
                  <a:lnTo>
                    <a:pt x="210565" y="1053338"/>
                  </a:lnTo>
                  <a:lnTo>
                    <a:pt x="208025" y="1055801"/>
                  </a:lnTo>
                  <a:lnTo>
                    <a:pt x="208025" y="1059827"/>
                  </a:lnTo>
                  <a:lnTo>
                    <a:pt x="279019" y="1133881"/>
                  </a:lnTo>
                  <a:lnTo>
                    <a:pt x="283237" y="1119809"/>
                  </a:lnTo>
                  <a:lnTo>
                    <a:pt x="270001" y="1119809"/>
                  </a:lnTo>
                  <a:lnTo>
                    <a:pt x="273136" y="1109382"/>
                  </a:lnTo>
                  <a:lnTo>
                    <a:pt x="219583" y="1053592"/>
                  </a:lnTo>
                  <a:lnTo>
                    <a:pt x="217170" y="1051052"/>
                  </a:lnTo>
                  <a:lnTo>
                    <a:pt x="213106" y="1050925"/>
                  </a:lnTo>
                  <a:close/>
                </a:path>
                <a:path w="308610" h="1134110">
                  <a:moveTo>
                    <a:pt x="273136" y="1109382"/>
                  </a:moveTo>
                  <a:lnTo>
                    <a:pt x="270001" y="1119809"/>
                  </a:lnTo>
                  <a:lnTo>
                    <a:pt x="280670" y="1117231"/>
                  </a:lnTo>
                  <a:lnTo>
                    <a:pt x="273136" y="1109382"/>
                  </a:lnTo>
                  <a:close/>
                </a:path>
                <a:path w="308610" h="1134110">
                  <a:moveTo>
                    <a:pt x="299847" y="1030097"/>
                  </a:moveTo>
                  <a:lnTo>
                    <a:pt x="296417" y="1032002"/>
                  </a:lnTo>
                  <a:lnTo>
                    <a:pt x="295325" y="1035558"/>
                  </a:lnTo>
                  <a:lnTo>
                    <a:pt x="273136" y="1109382"/>
                  </a:lnTo>
                  <a:lnTo>
                    <a:pt x="280670" y="1117231"/>
                  </a:lnTo>
                  <a:lnTo>
                    <a:pt x="270001" y="1119809"/>
                  </a:lnTo>
                  <a:lnTo>
                    <a:pt x="283237" y="1119809"/>
                  </a:lnTo>
                  <a:lnTo>
                    <a:pt x="308483" y="1035558"/>
                  </a:lnTo>
                  <a:lnTo>
                    <a:pt x="306577" y="1032129"/>
                  </a:lnTo>
                  <a:lnTo>
                    <a:pt x="303275" y="1031113"/>
                  </a:lnTo>
                  <a:lnTo>
                    <a:pt x="299847" y="1030097"/>
                  </a:lnTo>
                  <a:close/>
                </a:path>
                <a:path w="308610" h="1134110">
                  <a:moveTo>
                    <a:pt x="262254" y="1037209"/>
                  </a:moveTo>
                  <a:lnTo>
                    <a:pt x="249936" y="1040130"/>
                  </a:lnTo>
                  <a:lnTo>
                    <a:pt x="261747" y="1089520"/>
                  </a:lnTo>
                  <a:lnTo>
                    <a:pt x="274192" y="1086548"/>
                  </a:lnTo>
                  <a:lnTo>
                    <a:pt x="262254" y="1037209"/>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19" name="object 8">
              <a:extLst>
                <a:ext uri="{FF2B5EF4-FFF2-40B4-BE49-F238E27FC236}">
                  <a16:creationId xmlns:a16="http://schemas.microsoft.com/office/drawing/2014/main" id="{37719136-E4A1-391F-6431-E2D58D3D994F}"/>
                </a:ext>
              </a:extLst>
            </p:cNvPr>
            <p:cNvPicPr/>
            <p:nvPr/>
          </p:nvPicPr>
          <p:blipFill>
            <a:blip r:embed="rId4" cstate="print"/>
            <a:stretch>
              <a:fillRect/>
            </a:stretch>
          </p:blipFill>
          <p:spPr>
            <a:xfrm>
              <a:off x="4669536" y="3546347"/>
              <a:ext cx="3576827" cy="228600"/>
            </a:xfrm>
            <a:prstGeom prst="rect">
              <a:avLst/>
            </a:prstGeom>
          </p:spPr>
        </p:pic>
        <p:sp>
          <p:nvSpPr>
            <p:cNvPr id="20" name="object 9">
              <a:extLst>
                <a:ext uri="{FF2B5EF4-FFF2-40B4-BE49-F238E27FC236}">
                  <a16:creationId xmlns:a16="http://schemas.microsoft.com/office/drawing/2014/main" id="{D6133780-9C7D-15C6-2BC0-F639E08419C4}"/>
                </a:ext>
              </a:extLst>
            </p:cNvPr>
            <p:cNvSpPr/>
            <p:nvPr/>
          </p:nvSpPr>
          <p:spPr>
            <a:xfrm>
              <a:off x="4664710" y="3541521"/>
              <a:ext cx="3586479" cy="238125"/>
            </a:xfrm>
            <a:custGeom>
              <a:avLst/>
              <a:gdLst/>
              <a:ahLst/>
              <a:cxnLst/>
              <a:rect l="l" t="t" r="r" b="b"/>
              <a:pathLst>
                <a:path w="3586479" h="238125">
                  <a:moveTo>
                    <a:pt x="0" y="238125"/>
                  </a:moveTo>
                  <a:lnTo>
                    <a:pt x="3586353" y="238125"/>
                  </a:lnTo>
                  <a:lnTo>
                    <a:pt x="3586353" y="0"/>
                  </a:lnTo>
                  <a:lnTo>
                    <a:pt x="0" y="0"/>
                  </a:lnTo>
                  <a:lnTo>
                    <a:pt x="0" y="238125"/>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pic>
        <p:nvPicPr>
          <p:cNvPr id="2" name="图片 1">
            <a:extLst>
              <a:ext uri="{FF2B5EF4-FFF2-40B4-BE49-F238E27FC236}">
                <a16:creationId xmlns:a16="http://schemas.microsoft.com/office/drawing/2014/main" id="{8A43B2A5-6136-44AF-BB8C-6124DEB49F41}"/>
              </a:ext>
            </a:extLst>
          </p:cNvPr>
          <p:cNvPicPr>
            <a:picLocks noChangeAspect="1"/>
          </p:cNvPicPr>
          <p:nvPr/>
        </p:nvPicPr>
        <p:blipFill>
          <a:blip r:embed="rId5"/>
          <a:stretch>
            <a:fillRect/>
          </a:stretch>
        </p:blipFill>
        <p:spPr>
          <a:xfrm>
            <a:off x="4236528" y="3077599"/>
            <a:ext cx="4705986" cy="570931"/>
          </a:xfrm>
          <a:prstGeom prst="rect">
            <a:avLst/>
          </a:prstGeom>
          <a:ln>
            <a:solidFill>
              <a:schemeClr val="tx1"/>
            </a:solidFill>
          </a:ln>
        </p:spPr>
      </p:pic>
    </p:spTree>
    <p:extLst>
      <p:ext uri="{BB962C8B-B14F-4D97-AF65-F5344CB8AC3E}">
        <p14:creationId xmlns:p14="http://schemas.microsoft.com/office/powerpoint/2010/main" val="367028429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106</a:t>
            </a:fld>
            <a:endParaRPr lang="en-US"/>
          </a:p>
        </p:txBody>
      </p:sp>
      <p:sp>
        <p:nvSpPr>
          <p:cNvPr id="16" name="object 2">
            <a:extLst>
              <a:ext uri="{FF2B5EF4-FFF2-40B4-BE49-F238E27FC236}">
                <a16:creationId xmlns:a16="http://schemas.microsoft.com/office/drawing/2014/main" id="{5E58B1D9-06C3-D8D1-9EDA-FFBCF37BD1C2}"/>
              </a:ext>
            </a:extLst>
          </p:cNvPr>
          <p:cNvSpPr txBox="1">
            <a:spLocks/>
          </p:cNvSpPr>
          <p:nvPr/>
        </p:nvSpPr>
        <p:spPr>
          <a:xfrm>
            <a:off x="707542" y="538429"/>
            <a:ext cx="7632065" cy="605790"/>
          </a:xfrm>
          <a:prstGeom prst="rect">
            <a:avLst/>
          </a:prstGeom>
        </p:spPr>
        <p:txBody>
          <a:bodyPr vert="horz" wrap="square" lIns="0" tIns="1333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5"/>
              </a:spcBef>
              <a:spcAft>
                <a:spcPts val="0"/>
              </a:spcAft>
              <a:buClrTx/>
              <a:buSzTx/>
              <a:buFontTx/>
              <a:buNone/>
              <a:tabLst/>
              <a:defRPr/>
            </a:pPr>
            <a:r>
              <a:rPr kumimoji="0" lang="en-US" sz="3800" b="1" i="0" u="none" strike="noStrike" kern="0" cap="none" spc="5" normalizeH="0" baseline="0" noProof="0">
                <a:ln>
                  <a:noFill/>
                </a:ln>
                <a:solidFill>
                  <a:sysClr val="windowText" lastClr="000000"/>
                </a:solidFill>
                <a:effectLst/>
                <a:uLnTx/>
                <a:uFillTx/>
                <a:latin typeface="Palatino Linotype"/>
                <a:ea typeface="+mj-ea"/>
              </a:rPr>
              <a:t>Example</a:t>
            </a:r>
            <a:r>
              <a:rPr kumimoji="0" lang="en-US" sz="3800" b="1" i="0" u="none" strike="noStrike" kern="0" cap="none" spc="-55"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a:t>
            </a:r>
            <a:r>
              <a:rPr kumimoji="0" lang="en-US" sz="3800" b="1" i="0" u="none" strike="noStrike" kern="0" cap="none" spc="-5" normalizeH="0" baseline="0" noProof="0">
                <a:ln>
                  <a:noFill/>
                </a:ln>
                <a:solidFill>
                  <a:sysClr val="windowText" lastClr="000000"/>
                </a:solidFill>
                <a:effectLst/>
                <a:uLnTx/>
                <a:uFillTx/>
                <a:latin typeface="Palatino Linotype"/>
                <a:ea typeface="+mj-ea"/>
              </a:rPr>
              <a:t> Boolean</a:t>
            </a:r>
            <a:r>
              <a:rPr kumimoji="0" lang="en-US" sz="3800" b="1" i="0" u="none" strike="noStrike" kern="0" cap="none" spc="-30"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Expressions</a:t>
            </a:r>
            <a:r>
              <a:rPr kumimoji="0" lang="en-US" sz="3800" b="1" i="0" u="none" strike="noStrike" kern="0" cap="none" spc="-45"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(3)</a:t>
            </a:r>
          </a:p>
        </p:txBody>
      </p:sp>
      <p:sp>
        <p:nvSpPr>
          <p:cNvPr id="17" name="object 3">
            <a:extLst>
              <a:ext uri="{FF2B5EF4-FFF2-40B4-BE49-F238E27FC236}">
                <a16:creationId xmlns:a16="http://schemas.microsoft.com/office/drawing/2014/main" id="{4CA6DB35-EA86-4123-DEF0-3B35C2A96D10}"/>
              </a:ext>
            </a:extLst>
          </p:cNvPr>
          <p:cNvSpPr txBox="1"/>
          <p:nvPr/>
        </p:nvSpPr>
        <p:spPr>
          <a:xfrm>
            <a:off x="707542" y="1653667"/>
            <a:ext cx="5925185" cy="934230"/>
          </a:xfrm>
          <a:prstGeom prst="rect">
            <a:avLst/>
          </a:prstGeom>
        </p:spPr>
        <p:txBody>
          <a:bodyPr vert="horz" wrap="square" lIns="0" tIns="13335" rIns="0" bIns="0" rtlCol="0">
            <a:spAutoFit/>
          </a:bodyPr>
          <a:lstStyle/>
          <a:p>
            <a:pPr marL="242570" indent="-230504" rtl="0">
              <a:spcBef>
                <a:spcPts val="105"/>
              </a:spcBef>
              <a:buFont typeface="Arial MT"/>
              <a:buChar char="•"/>
              <a:tabLst>
                <a:tab pos="242570" algn="l"/>
                <a:tab pos="243204" algn="l"/>
                <a:tab pos="2809240" algn="l"/>
              </a:tabLst>
            </a:pPr>
            <a:r>
              <a:rPr sz="2000" kern="1200" dirty="0">
                <a:solidFill>
                  <a:prstClr val="black"/>
                </a:solidFill>
                <a:latin typeface="Palatino Linotype"/>
                <a:cs typeface="Palatino Linotype"/>
              </a:rPr>
              <a:t>Boolean</a:t>
            </a:r>
            <a:r>
              <a:rPr sz="2000" kern="1200" spc="-20" dirty="0">
                <a:solidFill>
                  <a:prstClr val="black"/>
                </a:solidFill>
                <a:latin typeface="Palatino Linotype"/>
                <a:cs typeface="Palatino Linotype"/>
              </a:rPr>
              <a:t> </a:t>
            </a:r>
            <a:r>
              <a:rPr sz="2000" kern="1200" dirty="0">
                <a:solidFill>
                  <a:prstClr val="black"/>
                </a:solidFill>
                <a:latin typeface="Palatino Linotype"/>
                <a:cs typeface="Palatino Linotype"/>
              </a:rPr>
              <a:t>expression:</a:t>
            </a:r>
            <a:r>
              <a:rPr sz="2000" kern="1200" spc="5" dirty="0">
                <a:solidFill>
                  <a:prstClr val="black"/>
                </a:solidFill>
                <a:latin typeface="Palatino Linotype"/>
                <a:cs typeface="Palatino Linotype"/>
              </a:rPr>
              <a:t> </a:t>
            </a:r>
            <a:r>
              <a:rPr sz="2000" kern="1200" dirty="0">
                <a:solidFill>
                  <a:schemeClr val="bg2">
                    <a:lumMod val="50000"/>
                  </a:schemeClr>
                </a:solidFill>
                <a:latin typeface="Cambria Math"/>
                <a:cs typeface="Cambria Math"/>
              </a:rPr>
              <a:t>𝑥	&lt;</a:t>
            </a:r>
            <a:r>
              <a:rPr sz="2000" kern="1200" spc="535" dirty="0">
                <a:solidFill>
                  <a:schemeClr val="bg2">
                    <a:lumMod val="50000"/>
                  </a:schemeClr>
                </a:solidFill>
                <a:latin typeface="Cambria Math"/>
                <a:cs typeface="Cambria Math"/>
              </a:rPr>
              <a:t> </a:t>
            </a:r>
            <a:r>
              <a:rPr sz="2000" kern="1200" spc="-5" dirty="0">
                <a:solidFill>
                  <a:schemeClr val="bg2">
                    <a:lumMod val="50000"/>
                  </a:schemeClr>
                </a:solidFill>
                <a:latin typeface="Cambria Math"/>
                <a:cs typeface="Cambria Math"/>
              </a:rPr>
              <a:t>100</a:t>
            </a:r>
            <a:r>
              <a:rPr sz="2000" kern="1200" spc="120"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a:t>
            </a:r>
            <a:r>
              <a:rPr sz="2000" kern="1200" spc="100"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𝑥</a:t>
            </a:r>
            <a:r>
              <a:rPr sz="2000" kern="1200" spc="165"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&gt;</a:t>
            </a:r>
            <a:r>
              <a:rPr sz="2000" kern="1200" spc="114" dirty="0">
                <a:solidFill>
                  <a:schemeClr val="bg2">
                    <a:lumMod val="50000"/>
                  </a:schemeClr>
                </a:solidFill>
                <a:latin typeface="Cambria Math"/>
                <a:cs typeface="Cambria Math"/>
              </a:rPr>
              <a:t> </a:t>
            </a:r>
            <a:r>
              <a:rPr sz="2000" kern="1200" spc="-5" dirty="0">
                <a:solidFill>
                  <a:schemeClr val="bg2">
                    <a:lumMod val="50000"/>
                  </a:schemeClr>
                </a:solidFill>
                <a:latin typeface="Cambria Math"/>
                <a:cs typeface="Cambria Math"/>
              </a:rPr>
              <a:t>200</a:t>
            </a:r>
            <a:r>
              <a:rPr sz="2000" kern="1200" spc="15"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&amp;&amp;</a:t>
            </a:r>
            <a:r>
              <a:rPr sz="2000" kern="1200" spc="-10" dirty="0">
                <a:solidFill>
                  <a:schemeClr val="bg2">
                    <a:lumMod val="50000"/>
                  </a:schemeClr>
                </a:solidFill>
                <a:latin typeface="Cambria Math"/>
                <a:cs typeface="Cambria Math"/>
              </a:rPr>
              <a:t> </a:t>
            </a:r>
            <a:r>
              <a:rPr sz="2000" kern="1200" dirty="0">
                <a:solidFill>
                  <a:srgbClr val="FF0000"/>
                </a:solidFill>
                <a:latin typeface="Cambria Math"/>
                <a:cs typeface="Cambria Math"/>
              </a:rPr>
              <a:t>𝑥</a:t>
            </a:r>
            <a:r>
              <a:rPr sz="2000" kern="1200" spc="35" dirty="0">
                <a:solidFill>
                  <a:srgbClr val="FF0000"/>
                </a:solidFill>
                <a:latin typeface="Cambria Math"/>
                <a:cs typeface="Cambria Math"/>
              </a:rPr>
              <a:t> </a:t>
            </a:r>
            <a:r>
              <a:rPr sz="2000" kern="1200" dirty="0">
                <a:solidFill>
                  <a:srgbClr val="FF0000"/>
                </a:solidFill>
                <a:latin typeface="Cambria Math"/>
                <a:cs typeface="Cambria Math"/>
              </a:rPr>
              <a:t>!</a:t>
            </a:r>
            <a:r>
              <a:rPr sz="2000" kern="1200" spc="110" dirty="0">
                <a:solidFill>
                  <a:srgbClr val="FF0000"/>
                </a:solidFill>
                <a:latin typeface="Cambria Math"/>
                <a:cs typeface="Cambria Math"/>
              </a:rPr>
              <a:t> </a:t>
            </a:r>
            <a:r>
              <a:rPr sz="2000" kern="1200" dirty="0">
                <a:solidFill>
                  <a:srgbClr val="FF0000"/>
                </a:solidFill>
                <a:latin typeface="Cambria Math"/>
                <a:cs typeface="Cambria Math"/>
              </a:rPr>
              <a:t>=</a:t>
            </a:r>
            <a:r>
              <a:rPr sz="2000" kern="1200" spc="100" dirty="0">
                <a:solidFill>
                  <a:srgbClr val="FF0000"/>
                </a:solidFill>
                <a:latin typeface="Cambria Math"/>
                <a:cs typeface="Cambria Math"/>
              </a:rPr>
              <a:t> </a:t>
            </a:r>
            <a:r>
              <a:rPr sz="2000" kern="1200" dirty="0">
                <a:solidFill>
                  <a:srgbClr val="FF0000"/>
                </a:solidFill>
                <a:latin typeface="Cambria Math"/>
                <a:cs typeface="Cambria Math"/>
              </a:rPr>
              <a:t>𝑦</a:t>
            </a:r>
            <a:endParaRPr sz="2000" kern="1200" dirty="0">
              <a:solidFill>
                <a:prstClr val="black"/>
              </a:solidFill>
              <a:latin typeface="Cambria Math"/>
              <a:cs typeface="Cambria Math"/>
            </a:endParaRPr>
          </a:p>
          <a:p>
            <a:pPr rtl="0">
              <a:spcBef>
                <a:spcPts val="50"/>
              </a:spcBef>
              <a:buFont typeface="Arial MT"/>
              <a:buChar char="•"/>
            </a:pPr>
            <a:endParaRPr sz="1900" kern="1200" dirty="0">
              <a:solidFill>
                <a:prstClr val="black"/>
              </a:solidFill>
              <a:latin typeface="Cambria Math"/>
              <a:cs typeface="Cambria Math"/>
            </a:endParaRPr>
          </a:p>
          <a:p>
            <a:pPr marL="242570" indent="-230504" rtl="0">
              <a:buClr>
                <a:srgbClr val="000000"/>
              </a:buClr>
              <a:buFont typeface="Arial MT"/>
              <a:buChar char="•"/>
              <a:tabLst>
                <a:tab pos="242570" algn="l"/>
                <a:tab pos="243204" algn="l"/>
              </a:tabLst>
            </a:pPr>
            <a:r>
              <a:rPr sz="2000" b="1" kern="1200" dirty="0">
                <a:solidFill>
                  <a:srgbClr val="0431FF"/>
                </a:solidFill>
                <a:latin typeface="Palatino Linotype"/>
                <a:cs typeface="Palatino Linotype"/>
              </a:rPr>
              <a:t>Step</a:t>
            </a:r>
            <a:r>
              <a:rPr sz="2000" b="1" kern="1200" spc="-30" dirty="0">
                <a:solidFill>
                  <a:srgbClr val="0431FF"/>
                </a:solidFill>
                <a:latin typeface="Palatino Linotype"/>
                <a:cs typeface="Palatino Linotype"/>
              </a:rPr>
              <a:t> </a:t>
            </a:r>
            <a:r>
              <a:rPr sz="2000" b="1" kern="1200" dirty="0">
                <a:solidFill>
                  <a:srgbClr val="0431FF"/>
                </a:solidFill>
                <a:latin typeface="Palatino Linotype"/>
                <a:cs typeface="Palatino Linotype"/>
              </a:rPr>
              <a:t>5: </a:t>
            </a:r>
            <a:r>
              <a:rPr sz="2000" kern="1200" dirty="0">
                <a:solidFill>
                  <a:prstClr val="black"/>
                </a:solidFill>
                <a:latin typeface="Palatino Linotype"/>
                <a:cs typeface="Palatino Linotype"/>
              </a:rPr>
              <a:t>reduce</a:t>
            </a:r>
            <a:r>
              <a:rPr sz="2000" kern="1200" spc="-10" dirty="0">
                <a:solidFill>
                  <a:prstClr val="black"/>
                </a:solidFill>
                <a:latin typeface="Palatino Linotype"/>
                <a:cs typeface="Palatino Linotype"/>
              </a:rPr>
              <a:t> </a:t>
            </a:r>
            <a:r>
              <a:rPr sz="2000" kern="1200" spc="30" dirty="0">
                <a:solidFill>
                  <a:prstClr val="black"/>
                </a:solidFill>
                <a:latin typeface="Cambria Math"/>
                <a:cs typeface="Cambria Math"/>
              </a:rPr>
              <a:t>𝑥!</a:t>
            </a:r>
            <a:r>
              <a:rPr sz="2000" kern="1200" spc="114" dirty="0">
                <a:solidFill>
                  <a:prstClr val="black"/>
                </a:solidFill>
                <a:latin typeface="Cambria Math"/>
                <a:cs typeface="Cambria Math"/>
              </a:rPr>
              <a:t> </a:t>
            </a:r>
            <a:r>
              <a:rPr sz="2000" kern="1200" dirty="0">
                <a:solidFill>
                  <a:prstClr val="black"/>
                </a:solidFill>
                <a:latin typeface="Cambria Math"/>
                <a:cs typeface="Cambria Math"/>
              </a:rPr>
              <a:t>=</a:t>
            </a:r>
            <a:r>
              <a:rPr sz="2000" kern="1200" spc="110" dirty="0">
                <a:solidFill>
                  <a:prstClr val="black"/>
                </a:solidFill>
                <a:latin typeface="Cambria Math"/>
                <a:cs typeface="Cambria Math"/>
              </a:rPr>
              <a:t> </a:t>
            </a:r>
            <a:r>
              <a:rPr sz="2000" kern="1200" dirty="0">
                <a:solidFill>
                  <a:prstClr val="black"/>
                </a:solidFill>
                <a:latin typeface="Cambria Math"/>
                <a:cs typeface="Cambria Math"/>
              </a:rPr>
              <a:t>𝑦</a:t>
            </a:r>
            <a:r>
              <a:rPr sz="2000" kern="1200" spc="105" dirty="0">
                <a:solidFill>
                  <a:prstClr val="black"/>
                </a:solidFill>
                <a:latin typeface="Cambria Math"/>
                <a:cs typeface="Cambria Math"/>
              </a:rPr>
              <a:t> </a:t>
            </a:r>
            <a:r>
              <a:rPr sz="2000" kern="1200" spc="-5" dirty="0">
                <a:solidFill>
                  <a:prstClr val="black"/>
                </a:solidFill>
                <a:latin typeface="Palatino Linotype"/>
                <a:cs typeface="Palatino Linotype"/>
              </a:rPr>
              <a:t>to</a:t>
            </a:r>
            <a:r>
              <a:rPr sz="2000" kern="1200" spc="-25" dirty="0">
                <a:solidFill>
                  <a:prstClr val="black"/>
                </a:solidFill>
                <a:latin typeface="Palatino Linotype"/>
                <a:cs typeface="Palatino Linotype"/>
              </a:rPr>
              <a:t> </a:t>
            </a:r>
            <a:r>
              <a:rPr sz="2000" kern="1200" dirty="0">
                <a:solidFill>
                  <a:prstClr val="black"/>
                </a:solidFill>
                <a:latin typeface="Cambria Math"/>
                <a:cs typeface="Cambria Math"/>
              </a:rPr>
              <a:t>𝐵</a:t>
            </a:r>
            <a:r>
              <a:rPr sz="2000" kern="1200" spc="114" dirty="0">
                <a:solidFill>
                  <a:prstClr val="black"/>
                </a:solidFill>
                <a:latin typeface="Cambria Math"/>
                <a:cs typeface="Cambria Math"/>
              </a:rPr>
              <a:t> </a:t>
            </a:r>
            <a:r>
              <a:rPr sz="2000" kern="1200" spc="-5" dirty="0">
                <a:solidFill>
                  <a:prstClr val="black"/>
                </a:solidFill>
                <a:latin typeface="Palatino Linotype"/>
                <a:cs typeface="Palatino Linotype"/>
              </a:rPr>
              <a:t>by</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production</a:t>
            </a:r>
            <a:r>
              <a:rPr sz="2000" kern="1200" spc="-40" dirty="0">
                <a:solidFill>
                  <a:prstClr val="black"/>
                </a:solidFill>
                <a:latin typeface="Palatino Linotype"/>
                <a:cs typeface="Palatino Linotype"/>
              </a:rPr>
              <a:t> </a:t>
            </a:r>
            <a:r>
              <a:rPr sz="2000" kern="1200" dirty="0">
                <a:solidFill>
                  <a:prstClr val="black"/>
                </a:solidFill>
                <a:latin typeface="Palatino Linotype"/>
                <a:cs typeface="Palatino Linotype"/>
              </a:rPr>
              <a:t>(5)</a:t>
            </a:r>
          </a:p>
        </p:txBody>
      </p:sp>
      <p:grpSp>
        <p:nvGrpSpPr>
          <p:cNvPr id="18" name="object 4">
            <a:extLst>
              <a:ext uri="{FF2B5EF4-FFF2-40B4-BE49-F238E27FC236}">
                <a16:creationId xmlns:a16="http://schemas.microsoft.com/office/drawing/2014/main" id="{906D4B87-072B-471B-18A1-7C1C84D2E5F2}"/>
              </a:ext>
            </a:extLst>
          </p:cNvPr>
          <p:cNvGrpSpPr/>
          <p:nvPr/>
        </p:nvGrpSpPr>
        <p:grpSpPr>
          <a:xfrm>
            <a:off x="1048689" y="3142043"/>
            <a:ext cx="7559675" cy="2061210"/>
            <a:chOff x="1048689" y="3142043"/>
            <a:chExt cx="7559675" cy="2061210"/>
          </a:xfrm>
        </p:grpSpPr>
        <p:pic>
          <p:nvPicPr>
            <p:cNvPr id="19" name="object 5">
              <a:extLst>
                <a:ext uri="{FF2B5EF4-FFF2-40B4-BE49-F238E27FC236}">
                  <a16:creationId xmlns:a16="http://schemas.microsoft.com/office/drawing/2014/main" id="{4623443D-1E8B-DBA4-21AD-E65DF2D1A2C9}"/>
                </a:ext>
              </a:extLst>
            </p:cNvPr>
            <p:cNvPicPr/>
            <p:nvPr/>
          </p:nvPicPr>
          <p:blipFill>
            <a:blip r:embed="rId3" cstate="print"/>
            <a:stretch>
              <a:fillRect/>
            </a:stretch>
          </p:blipFill>
          <p:spPr>
            <a:xfrm>
              <a:off x="1048689" y="3229370"/>
              <a:ext cx="3648175" cy="1891184"/>
            </a:xfrm>
            <a:prstGeom prst="rect">
              <a:avLst/>
            </a:prstGeom>
          </p:spPr>
        </p:pic>
        <p:pic>
          <p:nvPicPr>
            <p:cNvPr id="20" name="object 6">
              <a:extLst>
                <a:ext uri="{FF2B5EF4-FFF2-40B4-BE49-F238E27FC236}">
                  <a16:creationId xmlns:a16="http://schemas.microsoft.com/office/drawing/2014/main" id="{D33FD3F9-69A2-1696-066E-BB2AA2B720FC}"/>
                </a:ext>
              </a:extLst>
            </p:cNvPr>
            <p:cNvPicPr/>
            <p:nvPr/>
          </p:nvPicPr>
          <p:blipFill>
            <a:blip r:embed="rId4" cstate="print"/>
            <a:stretch>
              <a:fillRect/>
            </a:stretch>
          </p:blipFill>
          <p:spPr>
            <a:xfrm>
              <a:off x="3901439" y="3151631"/>
              <a:ext cx="4696968" cy="742188"/>
            </a:xfrm>
            <a:prstGeom prst="rect">
              <a:avLst/>
            </a:prstGeom>
          </p:spPr>
        </p:pic>
        <p:sp>
          <p:nvSpPr>
            <p:cNvPr id="21" name="object 7">
              <a:extLst>
                <a:ext uri="{FF2B5EF4-FFF2-40B4-BE49-F238E27FC236}">
                  <a16:creationId xmlns:a16="http://schemas.microsoft.com/office/drawing/2014/main" id="{ED5732D3-8B34-1484-E5BB-FBBC7B6394D8}"/>
                </a:ext>
              </a:extLst>
            </p:cNvPr>
            <p:cNvSpPr/>
            <p:nvPr/>
          </p:nvSpPr>
          <p:spPr>
            <a:xfrm>
              <a:off x="3896613" y="3146805"/>
              <a:ext cx="4706620" cy="751840"/>
            </a:xfrm>
            <a:custGeom>
              <a:avLst/>
              <a:gdLst/>
              <a:ahLst/>
              <a:cxnLst/>
              <a:rect l="l" t="t" r="r" b="b"/>
              <a:pathLst>
                <a:path w="4706620" h="751839">
                  <a:moveTo>
                    <a:pt x="0" y="751713"/>
                  </a:moveTo>
                  <a:lnTo>
                    <a:pt x="4706493" y="751713"/>
                  </a:lnTo>
                  <a:lnTo>
                    <a:pt x="4706493" y="0"/>
                  </a:lnTo>
                  <a:lnTo>
                    <a:pt x="0" y="0"/>
                  </a:lnTo>
                  <a:lnTo>
                    <a:pt x="0" y="751713"/>
                  </a:lnTo>
                  <a:close/>
                </a:path>
              </a:pathLst>
            </a:custGeom>
            <a:ln w="9524">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22" name="object 8">
              <a:extLst>
                <a:ext uri="{FF2B5EF4-FFF2-40B4-BE49-F238E27FC236}">
                  <a16:creationId xmlns:a16="http://schemas.microsoft.com/office/drawing/2014/main" id="{6C87AD84-A81A-F060-383E-261EE6D6D265}"/>
                </a:ext>
              </a:extLst>
            </p:cNvPr>
            <p:cNvPicPr/>
            <p:nvPr/>
          </p:nvPicPr>
          <p:blipFill>
            <a:blip r:embed="rId5" cstate="print"/>
            <a:stretch>
              <a:fillRect/>
            </a:stretch>
          </p:blipFill>
          <p:spPr>
            <a:xfrm>
              <a:off x="6341616" y="4849963"/>
              <a:ext cx="1503758" cy="294850"/>
            </a:xfrm>
            <a:prstGeom prst="rect">
              <a:avLst/>
            </a:prstGeom>
          </p:spPr>
        </p:pic>
        <p:sp>
          <p:nvSpPr>
            <p:cNvPr id="23" name="object 9">
              <a:extLst>
                <a:ext uri="{FF2B5EF4-FFF2-40B4-BE49-F238E27FC236}">
                  <a16:creationId xmlns:a16="http://schemas.microsoft.com/office/drawing/2014/main" id="{FCACD37D-7543-7A02-1B37-225FC34CAA4A}"/>
                </a:ext>
              </a:extLst>
            </p:cNvPr>
            <p:cNvSpPr/>
            <p:nvPr/>
          </p:nvSpPr>
          <p:spPr>
            <a:xfrm>
              <a:off x="6245098" y="4766817"/>
              <a:ext cx="1669414" cy="410845"/>
            </a:xfrm>
            <a:custGeom>
              <a:avLst/>
              <a:gdLst/>
              <a:ahLst/>
              <a:cxnLst/>
              <a:rect l="l" t="t" r="r" b="b"/>
              <a:pathLst>
                <a:path w="1669415" h="410845">
                  <a:moveTo>
                    <a:pt x="0" y="410336"/>
                  </a:moveTo>
                  <a:lnTo>
                    <a:pt x="1669161" y="410336"/>
                  </a:lnTo>
                  <a:lnTo>
                    <a:pt x="1669161" y="0"/>
                  </a:lnTo>
                  <a:lnTo>
                    <a:pt x="0" y="0"/>
                  </a:lnTo>
                  <a:lnTo>
                    <a:pt x="0" y="410336"/>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24" name="object 10">
              <a:extLst>
                <a:ext uri="{FF2B5EF4-FFF2-40B4-BE49-F238E27FC236}">
                  <a16:creationId xmlns:a16="http://schemas.microsoft.com/office/drawing/2014/main" id="{8B092069-C5D9-35AC-3534-B04857D4E898}"/>
                </a:ext>
              </a:extLst>
            </p:cNvPr>
            <p:cNvSpPr/>
            <p:nvPr/>
          </p:nvSpPr>
          <p:spPr>
            <a:xfrm>
              <a:off x="3931919" y="4532375"/>
              <a:ext cx="916305" cy="664845"/>
            </a:xfrm>
            <a:custGeom>
              <a:avLst/>
              <a:gdLst/>
              <a:ahLst/>
              <a:cxnLst/>
              <a:rect l="l" t="t" r="r" b="b"/>
              <a:pathLst>
                <a:path w="916304" h="664845">
                  <a:moveTo>
                    <a:pt x="0" y="664463"/>
                  </a:moveTo>
                  <a:lnTo>
                    <a:pt x="915924" y="664463"/>
                  </a:lnTo>
                  <a:lnTo>
                    <a:pt x="915924" y="0"/>
                  </a:lnTo>
                  <a:lnTo>
                    <a:pt x="0" y="0"/>
                  </a:lnTo>
                  <a:lnTo>
                    <a:pt x="0" y="664463"/>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25" name="object 11">
            <a:extLst>
              <a:ext uri="{FF2B5EF4-FFF2-40B4-BE49-F238E27FC236}">
                <a16:creationId xmlns:a16="http://schemas.microsoft.com/office/drawing/2014/main" id="{87B1B3E5-CD8C-6138-0CDB-E287204D6ABD}"/>
              </a:ext>
            </a:extLst>
          </p:cNvPr>
          <p:cNvSpPr txBox="1"/>
          <p:nvPr/>
        </p:nvSpPr>
        <p:spPr>
          <a:xfrm>
            <a:off x="6249161" y="4385309"/>
            <a:ext cx="1486535" cy="269240"/>
          </a:xfrm>
          <a:prstGeom prst="rect">
            <a:avLst/>
          </a:prstGeom>
        </p:spPr>
        <p:txBody>
          <a:bodyPr vert="horz" wrap="square" lIns="0" tIns="12065" rIns="0" bIns="0" rtlCol="0">
            <a:spAutoFit/>
          </a:bodyPr>
          <a:lstStyle/>
          <a:p>
            <a:pPr marL="12700" rtl="0">
              <a:spcBef>
                <a:spcPts val="95"/>
              </a:spcBef>
            </a:pPr>
            <a:r>
              <a:rPr sz="1600" kern="1200" spc="-5" dirty="0">
                <a:solidFill>
                  <a:srgbClr val="FF0000"/>
                </a:solidFill>
                <a:latin typeface="Palatino Linotype"/>
                <a:cs typeface="Palatino Linotype"/>
              </a:rPr>
              <a:t>Generated</a:t>
            </a:r>
            <a:r>
              <a:rPr sz="1600" kern="1200" spc="-50" dirty="0">
                <a:solidFill>
                  <a:srgbClr val="FF0000"/>
                </a:solidFill>
                <a:latin typeface="Palatino Linotype"/>
                <a:cs typeface="Palatino Linotype"/>
              </a:rPr>
              <a:t> </a:t>
            </a:r>
            <a:r>
              <a:rPr sz="1600" kern="1200" spc="-5" dirty="0">
                <a:solidFill>
                  <a:srgbClr val="FF0000"/>
                </a:solidFill>
                <a:latin typeface="Palatino Linotype"/>
                <a:cs typeface="Palatino Linotype"/>
              </a:rPr>
              <a:t>code:</a:t>
            </a:r>
            <a:endParaRPr sz="1600" kern="1200">
              <a:solidFill>
                <a:prstClr val="black"/>
              </a:solidFill>
              <a:latin typeface="Palatino Linotype"/>
              <a:cs typeface="Palatino Linotype"/>
            </a:endParaRPr>
          </a:p>
        </p:txBody>
      </p:sp>
      <p:sp>
        <p:nvSpPr>
          <p:cNvPr id="26" name="object 12">
            <a:extLst>
              <a:ext uri="{FF2B5EF4-FFF2-40B4-BE49-F238E27FC236}">
                <a16:creationId xmlns:a16="http://schemas.microsoft.com/office/drawing/2014/main" id="{6EBEFCFA-4B24-3F14-2645-3B54EC677584}"/>
              </a:ext>
            </a:extLst>
          </p:cNvPr>
          <p:cNvSpPr txBox="1"/>
          <p:nvPr/>
        </p:nvSpPr>
        <p:spPr>
          <a:xfrm>
            <a:off x="5614415" y="3488435"/>
            <a:ext cx="492759" cy="394970"/>
          </a:xfrm>
          <a:prstGeom prst="rect">
            <a:avLst/>
          </a:prstGeom>
          <a:solidFill>
            <a:srgbClr val="FFFFFF"/>
          </a:solidFill>
        </p:spPr>
        <p:txBody>
          <a:bodyPr vert="horz" wrap="square" lIns="0" tIns="21590" rIns="0" bIns="0" rtlCol="0">
            <a:spAutoFit/>
          </a:bodyPr>
          <a:lstStyle/>
          <a:p>
            <a:pPr marL="223520" rtl="0">
              <a:lnSpc>
                <a:spcPts val="1420"/>
              </a:lnSpc>
              <a:spcBef>
                <a:spcPts val="170"/>
              </a:spcBef>
            </a:pPr>
            <a:r>
              <a:rPr sz="1400" i="1" kern="1200" spc="-5" dirty="0">
                <a:solidFill>
                  <a:srgbClr val="585858"/>
                </a:solidFill>
                <a:cs typeface="Calibri"/>
              </a:rPr>
              <a:t>gen  gen</a:t>
            </a:r>
            <a:endParaRPr sz="1400" kern="1200">
              <a:solidFill>
                <a:prstClr val="black"/>
              </a:solidFill>
              <a:cs typeface="Calibri"/>
            </a:endParaRPr>
          </a:p>
        </p:txBody>
      </p:sp>
    </p:spTree>
    <p:extLst>
      <p:ext uri="{BB962C8B-B14F-4D97-AF65-F5344CB8AC3E}">
        <p14:creationId xmlns:p14="http://schemas.microsoft.com/office/powerpoint/2010/main" val="232501270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107</a:t>
            </a:fld>
            <a:endParaRPr lang="en-US"/>
          </a:p>
        </p:txBody>
      </p:sp>
      <p:sp>
        <p:nvSpPr>
          <p:cNvPr id="35" name="object 2">
            <a:extLst>
              <a:ext uri="{FF2B5EF4-FFF2-40B4-BE49-F238E27FC236}">
                <a16:creationId xmlns:a16="http://schemas.microsoft.com/office/drawing/2014/main" id="{D1B9BE5B-46FA-0D1A-21A8-F975184AA67C}"/>
              </a:ext>
            </a:extLst>
          </p:cNvPr>
          <p:cNvSpPr txBox="1">
            <a:spLocks/>
          </p:cNvSpPr>
          <p:nvPr/>
        </p:nvSpPr>
        <p:spPr>
          <a:xfrm>
            <a:off x="707542" y="538429"/>
            <a:ext cx="7632065" cy="605790"/>
          </a:xfrm>
          <a:prstGeom prst="rect">
            <a:avLst/>
          </a:prstGeom>
        </p:spPr>
        <p:txBody>
          <a:bodyPr vert="horz" wrap="square" lIns="0" tIns="1333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5"/>
              </a:spcBef>
              <a:spcAft>
                <a:spcPts val="0"/>
              </a:spcAft>
              <a:buClrTx/>
              <a:buSzTx/>
              <a:buFontTx/>
              <a:buNone/>
              <a:tabLst/>
              <a:defRPr/>
            </a:pPr>
            <a:r>
              <a:rPr kumimoji="0" lang="en-US" sz="3800" b="1" i="0" u="none" strike="noStrike" kern="0" cap="none" spc="5" normalizeH="0" baseline="0" noProof="0">
                <a:ln>
                  <a:noFill/>
                </a:ln>
                <a:solidFill>
                  <a:sysClr val="windowText" lastClr="000000"/>
                </a:solidFill>
                <a:effectLst/>
                <a:uLnTx/>
                <a:uFillTx/>
                <a:latin typeface="Palatino Linotype"/>
                <a:ea typeface="+mj-ea"/>
              </a:rPr>
              <a:t>Example</a:t>
            </a:r>
            <a:r>
              <a:rPr kumimoji="0" lang="en-US" sz="3800" b="1" i="0" u="none" strike="noStrike" kern="0" cap="none" spc="-55"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a:t>
            </a:r>
            <a:r>
              <a:rPr kumimoji="0" lang="en-US" sz="3800" b="1" i="0" u="none" strike="noStrike" kern="0" cap="none" spc="-5" normalizeH="0" baseline="0" noProof="0">
                <a:ln>
                  <a:noFill/>
                </a:ln>
                <a:solidFill>
                  <a:sysClr val="windowText" lastClr="000000"/>
                </a:solidFill>
                <a:effectLst/>
                <a:uLnTx/>
                <a:uFillTx/>
                <a:latin typeface="Palatino Linotype"/>
                <a:ea typeface="+mj-ea"/>
              </a:rPr>
              <a:t> Boolean</a:t>
            </a:r>
            <a:r>
              <a:rPr kumimoji="0" lang="en-US" sz="3800" b="1" i="0" u="none" strike="noStrike" kern="0" cap="none" spc="-30"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Expressions</a:t>
            </a:r>
            <a:r>
              <a:rPr kumimoji="0" lang="en-US" sz="3800" b="1" i="0" u="none" strike="noStrike" kern="0" cap="none" spc="-45"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(4)</a:t>
            </a:r>
          </a:p>
        </p:txBody>
      </p:sp>
      <p:sp>
        <p:nvSpPr>
          <p:cNvPr id="36" name="object 3">
            <a:extLst>
              <a:ext uri="{FF2B5EF4-FFF2-40B4-BE49-F238E27FC236}">
                <a16:creationId xmlns:a16="http://schemas.microsoft.com/office/drawing/2014/main" id="{66C1F498-A19D-C00B-5795-0AEF86BC8C70}"/>
              </a:ext>
            </a:extLst>
          </p:cNvPr>
          <p:cNvSpPr txBox="1"/>
          <p:nvPr/>
        </p:nvSpPr>
        <p:spPr>
          <a:xfrm>
            <a:off x="669442" y="1653667"/>
            <a:ext cx="5975985" cy="934230"/>
          </a:xfrm>
          <a:prstGeom prst="rect">
            <a:avLst/>
          </a:prstGeom>
        </p:spPr>
        <p:txBody>
          <a:bodyPr vert="horz" wrap="square" lIns="0" tIns="13335" rIns="0" bIns="0" rtlCol="0">
            <a:spAutoFit/>
          </a:bodyPr>
          <a:lstStyle/>
          <a:p>
            <a:pPr marL="280670" indent="-230504" rtl="0">
              <a:spcBef>
                <a:spcPts val="105"/>
              </a:spcBef>
              <a:buFont typeface="Arial MT"/>
              <a:buChar char="•"/>
              <a:tabLst>
                <a:tab pos="280670" algn="l"/>
                <a:tab pos="281305" algn="l"/>
                <a:tab pos="2847340" algn="l"/>
              </a:tabLst>
            </a:pPr>
            <a:r>
              <a:rPr sz="2000" kern="1200" dirty="0">
                <a:solidFill>
                  <a:prstClr val="black"/>
                </a:solidFill>
                <a:latin typeface="Palatino Linotype"/>
                <a:cs typeface="Palatino Linotype"/>
              </a:rPr>
              <a:t>Boolean</a:t>
            </a:r>
            <a:r>
              <a:rPr sz="2000" kern="1200" spc="-20" dirty="0">
                <a:solidFill>
                  <a:prstClr val="black"/>
                </a:solidFill>
                <a:latin typeface="Palatino Linotype"/>
                <a:cs typeface="Palatino Linotype"/>
              </a:rPr>
              <a:t> </a:t>
            </a:r>
            <a:r>
              <a:rPr sz="2000" kern="1200" dirty="0">
                <a:solidFill>
                  <a:prstClr val="black"/>
                </a:solidFill>
                <a:latin typeface="Palatino Linotype"/>
                <a:cs typeface="Palatino Linotype"/>
              </a:rPr>
              <a:t>expression:</a:t>
            </a:r>
            <a:r>
              <a:rPr sz="2000" kern="1200" spc="5" dirty="0">
                <a:solidFill>
                  <a:prstClr val="black"/>
                </a:solidFill>
                <a:latin typeface="Palatino Linotype"/>
                <a:cs typeface="Palatino Linotype"/>
              </a:rPr>
              <a:t> </a:t>
            </a:r>
            <a:r>
              <a:rPr sz="2000" kern="1200" dirty="0">
                <a:solidFill>
                  <a:schemeClr val="bg2">
                    <a:lumMod val="50000"/>
                  </a:schemeClr>
                </a:solidFill>
                <a:latin typeface="Cambria Math"/>
                <a:cs typeface="Cambria Math"/>
              </a:rPr>
              <a:t>𝑥	&lt;</a:t>
            </a:r>
            <a:r>
              <a:rPr sz="2000" kern="1200" spc="540" dirty="0">
                <a:solidFill>
                  <a:schemeClr val="bg2">
                    <a:lumMod val="50000"/>
                  </a:schemeClr>
                </a:solidFill>
                <a:latin typeface="Cambria Math"/>
                <a:cs typeface="Cambria Math"/>
              </a:rPr>
              <a:t> </a:t>
            </a:r>
            <a:r>
              <a:rPr sz="2000" kern="1200" spc="-5" dirty="0">
                <a:solidFill>
                  <a:schemeClr val="bg2">
                    <a:lumMod val="50000"/>
                  </a:schemeClr>
                </a:solidFill>
                <a:latin typeface="Cambria Math"/>
                <a:cs typeface="Cambria Math"/>
              </a:rPr>
              <a:t>100</a:t>
            </a:r>
            <a:r>
              <a:rPr sz="2000" kern="1200" spc="114"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a:t>
            </a:r>
            <a:r>
              <a:rPr sz="2000" kern="1200" spc="100"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𝑥</a:t>
            </a:r>
            <a:r>
              <a:rPr sz="2000" kern="1200" spc="165"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&gt;</a:t>
            </a:r>
            <a:r>
              <a:rPr sz="2000" kern="1200" spc="114" dirty="0">
                <a:solidFill>
                  <a:schemeClr val="bg2">
                    <a:lumMod val="50000"/>
                  </a:schemeClr>
                </a:solidFill>
                <a:latin typeface="Cambria Math"/>
                <a:cs typeface="Cambria Math"/>
              </a:rPr>
              <a:t> </a:t>
            </a:r>
            <a:r>
              <a:rPr sz="2000" kern="1200" spc="-5" dirty="0">
                <a:solidFill>
                  <a:schemeClr val="bg2">
                    <a:lumMod val="50000"/>
                  </a:schemeClr>
                </a:solidFill>
                <a:latin typeface="Cambria Math"/>
                <a:cs typeface="Cambria Math"/>
              </a:rPr>
              <a:t>200</a:t>
            </a:r>
            <a:r>
              <a:rPr sz="2000" kern="1200" spc="15"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&amp;&amp;</a:t>
            </a:r>
            <a:r>
              <a:rPr sz="2000" kern="1200" spc="-10"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𝑥</a:t>
            </a:r>
            <a:r>
              <a:rPr sz="2000" kern="1200" spc="35"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a:t>
            </a:r>
            <a:r>
              <a:rPr sz="2000" kern="1200" spc="110"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a:t>
            </a:r>
            <a:r>
              <a:rPr sz="2000" kern="1200" spc="105"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𝑦</a:t>
            </a:r>
          </a:p>
          <a:p>
            <a:pPr rtl="0">
              <a:spcBef>
                <a:spcPts val="50"/>
              </a:spcBef>
              <a:buFont typeface="Arial MT"/>
              <a:buChar char="•"/>
            </a:pPr>
            <a:endParaRPr sz="1900" kern="1200" dirty="0">
              <a:solidFill>
                <a:schemeClr val="bg2">
                  <a:lumMod val="50000"/>
                </a:schemeClr>
              </a:solidFill>
              <a:latin typeface="Cambria Math"/>
              <a:cs typeface="Cambria Math"/>
            </a:endParaRPr>
          </a:p>
          <a:p>
            <a:pPr marL="280670" indent="-230504" rtl="0">
              <a:buClr>
                <a:srgbClr val="000000"/>
              </a:buClr>
              <a:buFont typeface="Arial MT"/>
              <a:buChar char="•"/>
              <a:tabLst>
                <a:tab pos="280670" algn="l"/>
                <a:tab pos="281305" algn="l"/>
              </a:tabLst>
            </a:pPr>
            <a:r>
              <a:rPr sz="2000" b="1" kern="1200" dirty="0">
                <a:solidFill>
                  <a:srgbClr val="0431FF"/>
                </a:solidFill>
                <a:latin typeface="Palatino Linotype"/>
                <a:cs typeface="Palatino Linotype"/>
              </a:rPr>
              <a:t>Step</a:t>
            </a:r>
            <a:r>
              <a:rPr sz="2000" b="1" kern="1200" spc="-30" dirty="0">
                <a:solidFill>
                  <a:srgbClr val="0431FF"/>
                </a:solidFill>
                <a:latin typeface="Palatino Linotype"/>
                <a:cs typeface="Palatino Linotype"/>
              </a:rPr>
              <a:t> </a:t>
            </a:r>
            <a:r>
              <a:rPr sz="2000" b="1" kern="1200" dirty="0">
                <a:solidFill>
                  <a:srgbClr val="0431FF"/>
                </a:solidFill>
                <a:latin typeface="Palatino Linotype"/>
                <a:cs typeface="Palatino Linotype"/>
              </a:rPr>
              <a:t>6: </a:t>
            </a:r>
            <a:r>
              <a:rPr sz="2000" kern="1200" dirty="0">
                <a:solidFill>
                  <a:prstClr val="black"/>
                </a:solidFill>
                <a:latin typeface="Palatino Linotype"/>
                <a:cs typeface="Palatino Linotype"/>
              </a:rPr>
              <a:t>reduce</a:t>
            </a:r>
            <a:r>
              <a:rPr sz="2000" kern="1200" spc="-10" dirty="0">
                <a:solidFill>
                  <a:prstClr val="black"/>
                </a:solidFill>
                <a:latin typeface="Palatino Linotype"/>
                <a:cs typeface="Palatino Linotype"/>
              </a:rPr>
              <a:t> </a:t>
            </a:r>
            <a:r>
              <a:rPr sz="2000" kern="1200" spc="-45" dirty="0">
                <a:solidFill>
                  <a:prstClr val="black"/>
                </a:solidFill>
                <a:latin typeface="Cambria Math"/>
                <a:cs typeface="Cambria Math"/>
              </a:rPr>
              <a:t>𝐵</a:t>
            </a:r>
            <a:r>
              <a:rPr sz="2175" kern="1200" spc="-67" baseline="-15325" dirty="0">
                <a:solidFill>
                  <a:prstClr val="black"/>
                </a:solidFill>
                <a:latin typeface="Cambria Math"/>
                <a:cs typeface="Cambria Math"/>
              </a:rPr>
              <a:t>1</a:t>
            </a:r>
            <a:r>
              <a:rPr sz="2175" kern="1200" spc="300" baseline="-15325" dirty="0">
                <a:solidFill>
                  <a:prstClr val="black"/>
                </a:solidFill>
                <a:latin typeface="Cambria Math"/>
                <a:cs typeface="Cambria Math"/>
              </a:rPr>
              <a:t> </a:t>
            </a:r>
            <a:r>
              <a:rPr sz="2000" kern="1200" dirty="0">
                <a:solidFill>
                  <a:prstClr val="black"/>
                </a:solidFill>
                <a:latin typeface="Cambria Math"/>
                <a:cs typeface="Cambria Math"/>
              </a:rPr>
              <a:t>&amp;&amp;</a:t>
            </a:r>
            <a:r>
              <a:rPr sz="2000" kern="1200" spc="-10" dirty="0">
                <a:solidFill>
                  <a:prstClr val="black"/>
                </a:solidFill>
                <a:latin typeface="Cambria Math"/>
                <a:cs typeface="Cambria Math"/>
              </a:rPr>
              <a:t> </a:t>
            </a:r>
            <a:r>
              <a:rPr sz="2000" kern="1200" dirty="0">
                <a:solidFill>
                  <a:prstClr val="black"/>
                </a:solidFill>
                <a:latin typeface="Cambria Math"/>
                <a:cs typeface="Cambria Math"/>
              </a:rPr>
              <a:t>𝑀𝐵</a:t>
            </a:r>
            <a:r>
              <a:rPr sz="2175" kern="1200" baseline="-15325" dirty="0">
                <a:solidFill>
                  <a:prstClr val="black"/>
                </a:solidFill>
                <a:latin typeface="Cambria Math"/>
                <a:cs typeface="Cambria Math"/>
              </a:rPr>
              <a:t>2</a:t>
            </a:r>
            <a:r>
              <a:rPr sz="2175" kern="1200" spc="390" baseline="-15325" dirty="0">
                <a:solidFill>
                  <a:prstClr val="black"/>
                </a:solidFill>
                <a:latin typeface="Cambria Math"/>
                <a:cs typeface="Cambria Math"/>
              </a:rPr>
              <a:t> </a:t>
            </a:r>
            <a:r>
              <a:rPr sz="2000" kern="1200" spc="-5" dirty="0">
                <a:solidFill>
                  <a:prstClr val="black"/>
                </a:solidFill>
                <a:latin typeface="Palatino Linotype"/>
                <a:cs typeface="Palatino Linotype"/>
              </a:rPr>
              <a:t>to</a:t>
            </a:r>
            <a:r>
              <a:rPr sz="2000" kern="1200" spc="-20" dirty="0">
                <a:solidFill>
                  <a:prstClr val="black"/>
                </a:solidFill>
                <a:latin typeface="Palatino Linotype"/>
                <a:cs typeface="Palatino Linotype"/>
              </a:rPr>
              <a:t> </a:t>
            </a:r>
            <a:r>
              <a:rPr sz="2000" kern="1200" dirty="0">
                <a:solidFill>
                  <a:prstClr val="black"/>
                </a:solidFill>
                <a:latin typeface="Cambria Math"/>
                <a:cs typeface="Cambria Math"/>
              </a:rPr>
              <a:t>𝐵</a:t>
            </a:r>
            <a:r>
              <a:rPr sz="2000" kern="1200" spc="114" dirty="0">
                <a:solidFill>
                  <a:prstClr val="black"/>
                </a:solidFill>
                <a:latin typeface="Cambria Math"/>
                <a:cs typeface="Cambria Math"/>
              </a:rPr>
              <a:t> </a:t>
            </a:r>
            <a:r>
              <a:rPr sz="2000" kern="1200" spc="-5" dirty="0">
                <a:solidFill>
                  <a:prstClr val="black"/>
                </a:solidFill>
                <a:latin typeface="Palatino Linotype"/>
                <a:cs typeface="Palatino Linotype"/>
              </a:rPr>
              <a:t>by</a:t>
            </a:r>
            <a:r>
              <a:rPr sz="2000" kern="1200" dirty="0">
                <a:solidFill>
                  <a:prstClr val="black"/>
                </a:solidFill>
                <a:latin typeface="Palatino Linotype"/>
                <a:cs typeface="Palatino Linotype"/>
              </a:rPr>
              <a:t> </a:t>
            </a:r>
            <a:r>
              <a:rPr sz="2000" kern="1200" spc="-5" dirty="0">
                <a:solidFill>
                  <a:prstClr val="black"/>
                </a:solidFill>
                <a:latin typeface="Palatino Linotype"/>
                <a:cs typeface="Palatino Linotype"/>
              </a:rPr>
              <a:t>production</a:t>
            </a:r>
            <a:r>
              <a:rPr sz="2000" kern="1200" spc="-45" dirty="0">
                <a:solidFill>
                  <a:prstClr val="black"/>
                </a:solidFill>
                <a:latin typeface="Palatino Linotype"/>
                <a:cs typeface="Palatino Linotype"/>
              </a:rPr>
              <a:t> </a:t>
            </a:r>
            <a:r>
              <a:rPr sz="2000" kern="1200" dirty="0">
                <a:solidFill>
                  <a:prstClr val="black"/>
                </a:solidFill>
                <a:latin typeface="Palatino Linotype"/>
                <a:cs typeface="Palatino Linotype"/>
              </a:rPr>
              <a:t>(2)</a:t>
            </a:r>
          </a:p>
        </p:txBody>
      </p:sp>
      <p:grpSp>
        <p:nvGrpSpPr>
          <p:cNvPr id="37" name="object 4">
            <a:extLst>
              <a:ext uri="{FF2B5EF4-FFF2-40B4-BE49-F238E27FC236}">
                <a16:creationId xmlns:a16="http://schemas.microsoft.com/office/drawing/2014/main" id="{FE554831-5107-E9D9-899B-6E190DA8ED16}"/>
              </a:ext>
            </a:extLst>
          </p:cNvPr>
          <p:cNvGrpSpPr/>
          <p:nvPr/>
        </p:nvGrpSpPr>
        <p:grpSpPr>
          <a:xfrm>
            <a:off x="1048689" y="3229370"/>
            <a:ext cx="7550150" cy="1974214"/>
            <a:chOff x="1048689" y="3229370"/>
            <a:chExt cx="7550150" cy="1974214"/>
          </a:xfrm>
        </p:grpSpPr>
        <p:pic>
          <p:nvPicPr>
            <p:cNvPr id="38" name="object 5">
              <a:extLst>
                <a:ext uri="{FF2B5EF4-FFF2-40B4-BE49-F238E27FC236}">
                  <a16:creationId xmlns:a16="http://schemas.microsoft.com/office/drawing/2014/main" id="{CD3177C9-F568-8E80-4339-F9B9D3D64F9B}"/>
                </a:ext>
              </a:extLst>
            </p:cNvPr>
            <p:cNvPicPr/>
            <p:nvPr/>
          </p:nvPicPr>
          <p:blipFill>
            <a:blip r:embed="rId3" cstate="print"/>
            <a:stretch>
              <a:fillRect/>
            </a:stretch>
          </p:blipFill>
          <p:spPr>
            <a:xfrm>
              <a:off x="1048689" y="3229370"/>
              <a:ext cx="3648175" cy="1891184"/>
            </a:xfrm>
            <a:prstGeom prst="rect">
              <a:avLst/>
            </a:prstGeom>
          </p:spPr>
        </p:pic>
        <p:pic>
          <p:nvPicPr>
            <p:cNvPr id="39" name="object 6">
              <a:extLst>
                <a:ext uri="{FF2B5EF4-FFF2-40B4-BE49-F238E27FC236}">
                  <a16:creationId xmlns:a16="http://schemas.microsoft.com/office/drawing/2014/main" id="{67D3BB0C-CE36-6095-7621-1CBD7BA485F2}"/>
                </a:ext>
              </a:extLst>
            </p:cNvPr>
            <p:cNvPicPr/>
            <p:nvPr/>
          </p:nvPicPr>
          <p:blipFill>
            <a:blip r:embed="rId4" cstate="print"/>
            <a:stretch>
              <a:fillRect/>
            </a:stretch>
          </p:blipFill>
          <p:spPr>
            <a:xfrm>
              <a:off x="3901439" y="3357372"/>
              <a:ext cx="4696968" cy="536447"/>
            </a:xfrm>
            <a:prstGeom prst="rect">
              <a:avLst/>
            </a:prstGeom>
          </p:spPr>
        </p:pic>
        <p:sp>
          <p:nvSpPr>
            <p:cNvPr id="40" name="object 7">
              <a:extLst>
                <a:ext uri="{FF2B5EF4-FFF2-40B4-BE49-F238E27FC236}">
                  <a16:creationId xmlns:a16="http://schemas.microsoft.com/office/drawing/2014/main" id="{AF918D7B-7B80-0F0C-F8EB-A6D8FC608160}"/>
                </a:ext>
              </a:extLst>
            </p:cNvPr>
            <p:cNvSpPr/>
            <p:nvPr/>
          </p:nvSpPr>
          <p:spPr>
            <a:xfrm>
              <a:off x="1892807" y="4532376"/>
              <a:ext cx="916305" cy="664845"/>
            </a:xfrm>
            <a:custGeom>
              <a:avLst/>
              <a:gdLst/>
              <a:ahLst/>
              <a:cxnLst/>
              <a:rect l="l" t="t" r="r" b="b"/>
              <a:pathLst>
                <a:path w="916305" h="664845">
                  <a:moveTo>
                    <a:pt x="0" y="664463"/>
                  </a:moveTo>
                  <a:lnTo>
                    <a:pt x="915924" y="664463"/>
                  </a:lnTo>
                  <a:lnTo>
                    <a:pt x="915924" y="0"/>
                  </a:lnTo>
                  <a:lnTo>
                    <a:pt x="0" y="0"/>
                  </a:lnTo>
                  <a:lnTo>
                    <a:pt x="0" y="664463"/>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41" name="object 8">
            <a:extLst>
              <a:ext uri="{FF2B5EF4-FFF2-40B4-BE49-F238E27FC236}">
                <a16:creationId xmlns:a16="http://schemas.microsoft.com/office/drawing/2014/main" id="{64F5219E-5D04-AC55-7B59-2AB8EAEE07BC}"/>
              </a:ext>
            </a:extLst>
          </p:cNvPr>
          <p:cNvSpPr txBox="1"/>
          <p:nvPr/>
        </p:nvSpPr>
        <p:spPr>
          <a:xfrm>
            <a:off x="2205863" y="5229605"/>
            <a:ext cx="280670" cy="269240"/>
          </a:xfrm>
          <a:prstGeom prst="rect">
            <a:avLst/>
          </a:prstGeom>
        </p:spPr>
        <p:txBody>
          <a:bodyPr vert="horz" wrap="square" lIns="0" tIns="12065" rIns="0" bIns="0" rtlCol="0">
            <a:spAutoFit/>
          </a:bodyPr>
          <a:lstStyle/>
          <a:p>
            <a:pPr marL="38100" rtl="0">
              <a:spcBef>
                <a:spcPts val="95"/>
              </a:spcBef>
            </a:pPr>
            <a:r>
              <a:rPr sz="1600" kern="1200" spc="-45" dirty="0">
                <a:solidFill>
                  <a:srgbClr val="FF0000"/>
                </a:solidFill>
                <a:latin typeface="Cambria Math"/>
                <a:cs typeface="Cambria Math"/>
              </a:rPr>
              <a:t>𝐵</a:t>
            </a:r>
            <a:r>
              <a:rPr sz="1725" kern="1200" spc="-67" baseline="-14492" dirty="0">
                <a:solidFill>
                  <a:srgbClr val="FF0000"/>
                </a:solidFill>
                <a:latin typeface="Cambria Math"/>
                <a:cs typeface="Cambria Math"/>
              </a:rPr>
              <a:t>1</a:t>
            </a:r>
            <a:endParaRPr sz="1725" kern="1200" baseline="-14492">
              <a:solidFill>
                <a:prstClr val="black"/>
              </a:solidFill>
              <a:latin typeface="Cambria Math"/>
              <a:cs typeface="Cambria Math"/>
            </a:endParaRPr>
          </a:p>
        </p:txBody>
      </p:sp>
      <p:sp>
        <p:nvSpPr>
          <p:cNvPr id="42" name="object 9">
            <a:extLst>
              <a:ext uri="{FF2B5EF4-FFF2-40B4-BE49-F238E27FC236}">
                <a16:creationId xmlns:a16="http://schemas.microsoft.com/office/drawing/2014/main" id="{613E881C-1F1A-C384-ABF1-C494596D7376}"/>
              </a:ext>
            </a:extLst>
          </p:cNvPr>
          <p:cNvSpPr/>
          <p:nvPr/>
        </p:nvSpPr>
        <p:spPr>
          <a:xfrm>
            <a:off x="3936491" y="4536947"/>
            <a:ext cx="916305" cy="666115"/>
          </a:xfrm>
          <a:custGeom>
            <a:avLst/>
            <a:gdLst/>
            <a:ahLst/>
            <a:cxnLst/>
            <a:rect l="l" t="t" r="r" b="b"/>
            <a:pathLst>
              <a:path w="916304" h="666114">
                <a:moveTo>
                  <a:pt x="0" y="665988"/>
                </a:moveTo>
                <a:lnTo>
                  <a:pt x="915924" y="665988"/>
                </a:lnTo>
                <a:lnTo>
                  <a:pt x="915924" y="0"/>
                </a:lnTo>
                <a:lnTo>
                  <a:pt x="0" y="0"/>
                </a:lnTo>
                <a:lnTo>
                  <a:pt x="0" y="665988"/>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3" name="object 10">
            <a:extLst>
              <a:ext uri="{FF2B5EF4-FFF2-40B4-BE49-F238E27FC236}">
                <a16:creationId xmlns:a16="http://schemas.microsoft.com/office/drawing/2014/main" id="{F6649FF9-EAD9-9FF9-4A34-E68B173135E6}"/>
              </a:ext>
            </a:extLst>
          </p:cNvPr>
          <p:cNvSpPr txBox="1"/>
          <p:nvPr/>
        </p:nvSpPr>
        <p:spPr>
          <a:xfrm>
            <a:off x="4248911" y="5229605"/>
            <a:ext cx="285750" cy="269240"/>
          </a:xfrm>
          <a:prstGeom prst="rect">
            <a:avLst/>
          </a:prstGeom>
        </p:spPr>
        <p:txBody>
          <a:bodyPr vert="horz" wrap="square" lIns="0" tIns="12065" rIns="0" bIns="0" rtlCol="0">
            <a:spAutoFit/>
          </a:bodyPr>
          <a:lstStyle/>
          <a:p>
            <a:pPr marL="38100" rtl="0">
              <a:spcBef>
                <a:spcPts val="95"/>
              </a:spcBef>
            </a:pPr>
            <a:r>
              <a:rPr sz="1600" kern="1200" spc="-25" dirty="0">
                <a:solidFill>
                  <a:srgbClr val="FF0000"/>
                </a:solidFill>
                <a:latin typeface="Cambria Math"/>
                <a:cs typeface="Cambria Math"/>
              </a:rPr>
              <a:t>𝐵</a:t>
            </a:r>
            <a:r>
              <a:rPr sz="1725" kern="1200" spc="-37" baseline="-14492" dirty="0">
                <a:solidFill>
                  <a:srgbClr val="FF0000"/>
                </a:solidFill>
                <a:latin typeface="Cambria Math"/>
                <a:cs typeface="Cambria Math"/>
              </a:rPr>
              <a:t>2</a:t>
            </a:r>
            <a:endParaRPr sz="1725" kern="1200" baseline="-14492">
              <a:solidFill>
                <a:prstClr val="black"/>
              </a:solidFill>
              <a:latin typeface="Cambria Math"/>
              <a:cs typeface="Cambria Math"/>
            </a:endParaRPr>
          </a:p>
        </p:txBody>
      </p:sp>
      <p:grpSp>
        <p:nvGrpSpPr>
          <p:cNvPr id="44" name="object 11">
            <a:extLst>
              <a:ext uri="{FF2B5EF4-FFF2-40B4-BE49-F238E27FC236}">
                <a16:creationId xmlns:a16="http://schemas.microsoft.com/office/drawing/2014/main" id="{758044C3-17F0-0BA1-09BD-8325669BEB33}"/>
              </a:ext>
            </a:extLst>
          </p:cNvPr>
          <p:cNvGrpSpPr/>
          <p:nvPr/>
        </p:nvGrpSpPr>
        <p:grpSpPr>
          <a:xfrm>
            <a:off x="1528444" y="3361690"/>
            <a:ext cx="6599555" cy="2299335"/>
            <a:chOff x="1528444" y="3361690"/>
            <a:chExt cx="6599555" cy="2299335"/>
          </a:xfrm>
        </p:grpSpPr>
        <p:sp>
          <p:nvSpPr>
            <p:cNvPr id="45" name="object 12">
              <a:extLst>
                <a:ext uri="{FF2B5EF4-FFF2-40B4-BE49-F238E27FC236}">
                  <a16:creationId xmlns:a16="http://schemas.microsoft.com/office/drawing/2014/main" id="{0F10FDCB-73D3-4B32-FFD9-B65D424883BF}"/>
                </a:ext>
              </a:extLst>
            </p:cNvPr>
            <p:cNvSpPr/>
            <p:nvPr/>
          </p:nvSpPr>
          <p:spPr>
            <a:xfrm>
              <a:off x="1528445" y="3940683"/>
              <a:ext cx="3339465" cy="866140"/>
            </a:xfrm>
            <a:custGeom>
              <a:avLst/>
              <a:gdLst/>
              <a:ahLst/>
              <a:cxnLst/>
              <a:rect l="l" t="t" r="r" b="b"/>
              <a:pathLst>
                <a:path w="3339465" h="866139">
                  <a:moveTo>
                    <a:pt x="12700" y="650367"/>
                  </a:moveTo>
                  <a:lnTo>
                    <a:pt x="12573" y="651256"/>
                  </a:lnTo>
                  <a:lnTo>
                    <a:pt x="12700" y="651256"/>
                  </a:lnTo>
                  <a:lnTo>
                    <a:pt x="12700" y="650367"/>
                  </a:lnTo>
                  <a:close/>
                </a:path>
                <a:path w="3339465" h="866139">
                  <a:moveTo>
                    <a:pt x="25908" y="622554"/>
                  </a:moveTo>
                  <a:lnTo>
                    <a:pt x="16129" y="614299"/>
                  </a:lnTo>
                  <a:lnTo>
                    <a:pt x="13462" y="617601"/>
                  </a:lnTo>
                  <a:lnTo>
                    <a:pt x="9525" y="622935"/>
                  </a:lnTo>
                  <a:lnTo>
                    <a:pt x="0" y="650240"/>
                  </a:lnTo>
                  <a:lnTo>
                    <a:pt x="127" y="655701"/>
                  </a:lnTo>
                  <a:lnTo>
                    <a:pt x="889" y="661416"/>
                  </a:lnTo>
                  <a:lnTo>
                    <a:pt x="2794" y="667004"/>
                  </a:lnTo>
                  <a:lnTo>
                    <a:pt x="14859" y="662940"/>
                  </a:lnTo>
                  <a:lnTo>
                    <a:pt x="13474" y="659003"/>
                  </a:lnTo>
                  <a:lnTo>
                    <a:pt x="13233" y="658329"/>
                  </a:lnTo>
                  <a:lnTo>
                    <a:pt x="13169" y="657860"/>
                  </a:lnTo>
                  <a:lnTo>
                    <a:pt x="12801" y="655066"/>
                  </a:lnTo>
                  <a:lnTo>
                    <a:pt x="12700" y="654304"/>
                  </a:lnTo>
                  <a:lnTo>
                    <a:pt x="12700" y="655066"/>
                  </a:lnTo>
                  <a:lnTo>
                    <a:pt x="12573" y="651256"/>
                  </a:lnTo>
                  <a:lnTo>
                    <a:pt x="13004" y="647192"/>
                  </a:lnTo>
                  <a:lnTo>
                    <a:pt x="13055" y="646772"/>
                  </a:lnTo>
                  <a:lnTo>
                    <a:pt x="12954" y="647192"/>
                  </a:lnTo>
                  <a:lnTo>
                    <a:pt x="13081" y="646557"/>
                  </a:lnTo>
                  <a:lnTo>
                    <a:pt x="13055" y="646772"/>
                  </a:lnTo>
                  <a:lnTo>
                    <a:pt x="13106" y="646557"/>
                  </a:lnTo>
                  <a:lnTo>
                    <a:pt x="13906" y="643255"/>
                  </a:lnTo>
                  <a:lnTo>
                    <a:pt x="14046" y="642632"/>
                  </a:lnTo>
                  <a:lnTo>
                    <a:pt x="15316" y="638937"/>
                  </a:lnTo>
                  <a:lnTo>
                    <a:pt x="15494" y="638429"/>
                  </a:lnTo>
                  <a:lnTo>
                    <a:pt x="15240" y="638937"/>
                  </a:lnTo>
                  <a:lnTo>
                    <a:pt x="17284" y="634619"/>
                  </a:lnTo>
                  <a:lnTo>
                    <a:pt x="17526" y="634111"/>
                  </a:lnTo>
                  <a:lnTo>
                    <a:pt x="17335" y="634504"/>
                  </a:lnTo>
                  <a:lnTo>
                    <a:pt x="17564" y="634111"/>
                  </a:lnTo>
                  <a:lnTo>
                    <a:pt x="20193" y="629666"/>
                  </a:lnTo>
                  <a:lnTo>
                    <a:pt x="19939" y="630174"/>
                  </a:lnTo>
                  <a:lnTo>
                    <a:pt x="20294" y="629666"/>
                  </a:lnTo>
                  <a:lnTo>
                    <a:pt x="23495" y="625221"/>
                  </a:lnTo>
                  <a:lnTo>
                    <a:pt x="23241" y="625602"/>
                  </a:lnTo>
                  <a:lnTo>
                    <a:pt x="23571" y="625221"/>
                  </a:lnTo>
                  <a:lnTo>
                    <a:pt x="25908" y="622554"/>
                  </a:lnTo>
                  <a:close/>
                </a:path>
                <a:path w="3339465" h="866139">
                  <a:moveTo>
                    <a:pt x="36322" y="690499"/>
                  </a:moveTo>
                  <a:lnTo>
                    <a:pt x="36068" y="690118"/>
                  </a:lnTo>
                  <a:lnTo>
                    <a:pt x="36322" y="690499"/>
                  </a:lnTo>
                  <a:close/>
                </a:path>
                <a:path w="3339465" h="866139">
                  <a:moveTo>
                    <a:pt x="77597" y="715899"/>
                  </a:moveTo>
                  <a:lnTo>
                    <a:pt x="73926" y="714197"/>
                  </a:lnTo>
                  <a:lnTo>
                    <a:pt x="73799" y="714133"/>
                  </a:lnTo>
                  <a:lnTo>
                    <a:pt x="59766" y="706374"/>
                  </a:lnTo>
                  <a:lnTo>
                    <a:pt x="59309" y="706120"/>
                  </a:lnTo>
                  <a:lnTo>
                    <a:pt x="59563" y="706374"/>
                  </a:lnTo>
                  <a:lnTo>
                    <a:pt x="47205" y="698500"/>
                  </a:lnTo>
                  <a:lnTo>
                    <a:pt x="46609" y="698119"/>
                  </a:lnTo>
                  <a:lnTo>
                    <a:pt x="46990" y="698500"/>
                  </a:lnTo>
                  <a:lnTo>
                    <a:pt x="35953" y="690232"/>
                  </a:lnTo>
                  <a:lnTo>
                    <a:pt x="27432" y="699516"/>
                  </a:lnTo>
                  <a:lnTo>
                    <a:pt x="27940" y="700024"/>
                  </a:lnTo>
                  <a:lnTo>
                    <a:pt x="39624" y="708787"/>
                  </a:lnTo>
                  <a:lnTo>
                    <a:pt x="52959" y="717169"/>
                  </a:lnTo>
                  <a:lnTo>
                    <a:pt x="68072" y="725424"/>
                  </a:lnTo>
                  <a:lnTo>
                    <a:pt x="72009" y="727329"/>
                  </a:lnTo>
                  <a:lnTo>
                    <a:pt x="77597" y="715899"/>
                  </a:lnTo>
                  <a:close/>
                </a:path>
                <a:path w="3339465" h="866139">
                  <a:moveTo>
                    <a:pt x="96393" y="573532"/>
                  </a:moveTo>
                  <a:lnTo>
                    <a:pt x="90678" y="562229"/>
                  </a:lnTo>
                  <a:lnTo>
                    <a:pt x="89281" y="562864"/>
                  </a:lnTo>
                  <a:lnTo>
                    <a:pt x="78613" y="568452"/>
                  </a:lnTo>
                  <a:lnTo>
                    <a:pt x="68707" y="574040"/>
                  </a:lnTo>
                  <a:lnTo>
                    <a:pt x="59309" y="579628"/>
                  </a:lnTo>
                  <a:lnTo>
                    <a:pt x="50673" y="585216"/>
                  </a:lnTo>
                  <a:lnTo>
                    <a:pt x="46101" y="588391"/>
                  </a:lnTo>
                  <a:lnTo>
                    <a:pt x="53340" y="598805"/>
                  </a:lnTo>
                  <a:lnTo>
                    <a:pt x="57785" y="595630"/>
                  </a:lnTo>
                  <a:lnTo>
                    <a:pt x="57658" y="595757"/>
                  </a:lnTo>
                  <a:lnTo>
                    <a:pt x="57848" y="595630"/>
                  </a:lnTo>
                  <a:lnTo>
                    <a:pt x="66167" y="590423"/>
                  </a:lnTo>
                  <a:lnTo>
                    <a:pt x="65913" y="590423"/>
                  </a:lnTo>
                  <a:lnTo>
                    <a:pt x="75057" y="585089"/>
                  </a:lnTo>
                  <a:lnTo>
                    <a:pt x="74930" y="585089"/>
                  </a:lnTo>
                  <a:lnTo>
                    <a:pt x="84594" y="579755"/>
                  </a:lnTo>
                  <a:lnTo>
                    <a:pt x="95123" y="574167"/>
                  </a:lnTo>
                  <a:lnTo>
                    <a:pt x="96393" y="573532"/>
                  </a:lnTo>
                  <a:close/>
                </a:path>
                <a:path w="3339465" h="866139">
                  <a:moveTo>
                    <a:pt x="159131" y="748919"/>
                  </a:moveTo>
                  <a:lnTo>
                    <a:pt x="147447" y="744855"/>
                  </a:lnTo>
                  <a:lnTo>
                    <a:pt x="147574" y="744855"/>
                  </a:lnTo>
                  <a:lnTo>
                    <a:pt x="127088" y="737489"/>
                  </a:lnTo>
                  <a:lnTo>
                    <a:pt x="126746" y="737362"/>
                  </a:lnTo>
                  <a:lnTo>
                    <a:pt x="127000" y="737489"/>
                  </a:lnTo>
                  <a:lnTo>
                    <a:pt x="111887" y="731393"/>
                  </a:lnTo>
                  <a:lnTo>
                    <a:pt x="107061" y="743204"/>
                  </a:lnTo>
                  <a:lnTo>
                    <a:pt x="122288" y="749300"/>
                  </a:lnTo>
                  <a:lnTo>
                    <a:pt x="143256" y="756793"/>
                  </a:lnTo>
                  <a:lnTo>
                    <a:pt x="155067" y="760857"/>
                  </a:lnTo>
                  <a:lnTo>
                    <a:pt x="159131" y="748919"/>
                  </a:lnTo>
                  <a:close/>
                </a:path>
                <a:path w="3339465" h="866139">
                  <a:moveTo>
                    <a:pt x="177038" y="537718"/>
                  </a:moveTo>
                  <a:lnTo>
                    <a:pt x="172339" y="525907"/>
                  </a:lnTo>
                  <a:lnTo>
                    <a:pt x="166878" y="528066"/>
                  </a:lnTo>
                  <a:lnTo>
                    <a:pt x="138430" y="539877"/>
                  </a:lnTo>
                  <a:lnTo>
                    <a:pt x="125349" y="545719"/>
                  </a:lnTo>
                  <a:lnTo>
                    <a:pt x="130429" y="557276"/>
                  </a:lnTo>
                  <a:lnTo>
                    <a:pt x="143510" y="551434"/>
                  </a:lnTo>
                  <a:lnTo>
                    <a:pt x="143510" y="551561"/>
                  </a:lnTo>
                  <a:lnTo>
                    <a:pt x="143802" y="551434"/>
                  </a:lnTo>
                  <a:lnTo>
                    <a:pt x="157353" y="545719"/>
                  </a:lnTo>
                  <a:lnTo>
                    <a:pt x="177038" y="537718"/>
                  </a:lnTo>
                  <a:close/>
                </a:path>
                <a:path w="3339465" h="866139">
                  <a:moveTo>
                    <a:pt x="243840" y="774700"/>
                  </a:moveTo>
                  <a:lnTo>
                    <a:pt x="241554" y="774065"/>
                  </a:lnTo>
                  <a:lnTo>
                    <a:pt x="241681" y="774065"/>
                  </a:lnTo>
                  <a:lnTo>
                    <a:pt x="195199" y="760476"/>
                  </a:lnTo>
                  <a:lnTo>
                    <a:pt x="191516" y="772668"/>
                  </a:lnTo>
                  <a:lnTo>
                    <a:pt x="212979" y="779018"/>
                  </a:lnTo>
                  <a:lnTo>
                    <a:pt x="240538" y="786892"/>
                  </a:lnTo>
                  <a:lnTo>
                    <a:pt x="243840" y="774700"/>
                  </a:lnTo>
                  <a:close/>
                </a:path>
                <a:path w="3339465" h="866139">
                  <a:moveTo>
                    <a:pt x="260223" y="507111"/>
                  </a:moveTo>
                  <a:lnTo>
                    <a:pt x="256032" y="495046"/>
                  </a:lnTo>
                  <a:lnTo>
                    <a:pt x="208026" y="512191"/>
                  </a:lnTo>
                  <a:lnTo>
                    <a:pt x="212471" y="524129"/>
                  </a:lnTo>
                  <a:lnTo>
                    <a:pt x="235204" y="515874"/>
                  </a:lnTo>
                  <a:lnTo>
                    <a:pt x="260223" y="507111"/>
                  </a:lnTo>
                  <a:close/>
                </a:path>
                <a:path w="3339465" h="866139">
                  <a:moveTo>
                    <a:pt x="329692" y="796925"/>
                  </a:moveTo>
                  <a:lnTo>
                    <a:pt x="322326" y="795147"/>
                  </a:lnTo>
                  <a:lnTo>
                    <a:pt x="322453" y="795147"/>
                  </a:lnTo>
                  <a:lnTo>
                    <a:pt x="294640" y="788162"/>
                  </a:lnTo>
                  <a:lnTo>
                    <a:pt x="294767" y="788162"/>
                  </a:lnTo>
                  <a:lnTo>
                    <a:pt x="280543" y="784479"/>
                  </a:lnTo>
                  <a:lnTo>
                    <a:pt x="277368" y="796671"/>
                  </a:lnTo>
                  <a:lnTo>
                    <a:pt x="291592" y="800481"/>
                  </a:lnTo>
                  <a:lnTo>
                    <a:pt x="319278" y="807466"/>
                  </a:lnTo>
                  <a:lnTo>
                    <a:pt x="326644" y="809244"/>
                  </a:lnTo>
                  <a:lnTo>
                    <a:pt x="329692" y="796925"/>
                  </a:lnTo>
                  <a:close/>
                </a:path>
                <a:path w="3339465" h="866139">
                  <a:moveTo>
                    <a:pt x="344551" y="479298"/>
                  </a:moveTo>
                  <a:lnTo>
                    <a:pt x="340614" y="467233"/>
                  </a:lnTo>
                  <a:lnTo>
                    <a:pt x="304038" y="478917"/>
                  </a:lnTo>
                  <a:lnTo>
                    <a:pt x="292227" y="482854"/>
                  </a:lnTo>
                  <a:lnTo>
                    <a:pt x="296291" y="494919"/>
                  </a:lnTo>
                  <a:lnTo>
                    <a:pt x="307975" y="490982"/>
                  </a:lnTo>
                  <a:lnTo>
                    <a:pt x="307975" y="491109"/>
                  </a:lnTo>
                  <a:lnTo>
                    <a:pt x="308356" y="490982"/>
                  </a:lnTo>
                  <a:lnTo>
                    <a:pt x="344551" y="479298"/>
                  </a:lnTo>
                  <a:close/>
                </a:path>
                <a:path w="3339465" h="866139">
                  <a:moveTo>
                    <a:pt x="416179" y="817372"/>
                  </a:moveTo>
                  <a:lnTo>
                    <a:pt x="408686" y="815721"/>
                  </a:lnTo>
                  <a:lnTo>
                    <a:pt x="408813" y="815721"/>
                  </a:lnTo>
                  <a:lnTo>
                    <a:pt x="366649" y="805815"/>
                  </a:lnTo>
                  <a:lnTo>
                    <a:pt x="363855" y="818134"/>
                  </a:lnTo>
                  <a:lnTo>
                    <a:pt x="413258" y="829818"/>
                  </a:lnTo>
                  <a:lnTo>
                    <a:pt x="416179" y="817372"/>
                  </a:lnTo>
                  <a:close/>
                </a:path>
                <a:path w="3339465" h="866139">
                  <a:moveTo>
                    <a:pt x="429387" y="453390"/>
                  </a:moveTo>
                  <a:lnTo>
                    <a:pt x="425704" y="441198"/>
                  </a:lnTo>
                  <a:lnTo>
                    <a:pt x="377063" y="455803"/>
                  </a:lnTo>
                  <a:lnTo>
                    <a:pt x="380873" y="467995"/>
                  </a:lnTo>
                  <a:lnTo>
                    <a:pt x="389001" y="465455"/>
                  </a:lnTo>
                  <a:lnTo>
                    <a:pt x="429387" y="453390"/>
                  </a:lnTo>
                  <a:close/>
                </a:path>
                <a:path w="3339465" h="866139">
                  <a:moveTo>
                    <a:pt x="502793" y="837057"/>
                  </a:moveTo>
                  <a:lnTo>
                    <a:pt x="453263" y="825881"/>
                  </a:lnTo>
                  <a:lnTo>
                    <a:pt x="450469" y="838327"/>
                  </a:lnTo>
                  <a:lnTo>
                    <a:pt x="499999" y="849376"/>
                  </a:lnTo>
                  <a:lnTo>
                    <a:pt x="502793" y="837057"/>
                  </a:lnTo>
                  <a:close/>
                </a:path>
                <a:path w="3339465" h="866139">
                  <a:moveTo>
                    <a:pt x="514731" y="428752"/>
                  </a:moveTo>
                  <a:lnTo>
                    <a:pt x="511302" y="416560"/>
                  </a:lnTo>
                  <a:lnTo>
                    <a:pt x="462407" y="430530"/>
                  </a:lnTo>
                  <a:lnTo>
                    <a:pt x="465963" y="442722"/>
                  </a:lnTo>
                  <a:lnTo>
                    <a:pt x="514731" y="428752"/>
                  </a:lnTo>
                  <a:close/>
                </a:path>
                <a:path w="3339465" h="866139">
                  <a:moveTo>
                    <a:pt x="600329" y="405130"/>
                  </a:moveTo>
                  <a:lnTo>
                    <a:pt x="597027" y="392938"/>
                  </a:lnTo>
                  <a:lnTo>
                    <a:pt x="548005" y="406273"/>
                  </a:lnTo>
                  <a:lnTo>
                    <a:pt x="551434" y="418592"/>
                  </a:lnTo>
                  <a:lnTo>
                    <a:pt x="600329" y="405130"/>
                  </a:lnTo>
                  <a:close/>
                </a:path>
                <a:path w="3339465" h="866139">
                  <a:moveTo>
                    <a:pt x="686181" y="382270"/>
                  </a:moveTo>
                  <a:lnTo>
                    <a:pt x="683006" y="369951"/>
                  </a:lnTo>
                  <a:lnTo>
                    <a:pt x="633857" y="383032"/>
                  </a:lnTo>
                  <a:lnTo>
                    <a:pt x="637159" y="395224"/>
                  </a:lnTo>
                  <a:lnTo>
                    <a:pt x="686181" y="382270"/>
                  </a:lnTo>
                  <a:close/>
                </a:path>
                <a:path w="3339465" h="866139">
                  <a:moveTo>
                    <a:pt x="772287" y="359918"/>
                  </a:moveTo>
                  <a:lnTo>
                    <a:pt x="769112" y="347599"/>
                  </a:lnTo>
                  <a:lnTo>
                    <a:pt x="719836" y="360299"/>
                  </a:lnTo>
                  <a:lnTo>
                    <a:pt x="723011" y="372618"/>
                  </a:lnTo>
                  <a:lnTo>
                    <a:pt x="772287" y="359918"/>
                  </a:lnTo>
                  <a:close/>
                </a:path>
                <a:path w="3339465" h="866139">
                  <a:moveTo>
                    <a:pt x="858393" y="338201"/>
                  </a:moveTo>
                  <a:lnTo>
                    <a:pt x="855345" y="325882"/>
                  </a:lnTo>
                  <a:lnTo>
                    <a:pt x="806069" y="338328"/>
                  </a:lnTo>
                  <a:lnTo>
                    <a:pt x="809117" y="350647"/>
                  </a:lnTo>
                  <a:lnTo>
                    <a:pt x="858393" y="338201"/>
                  </a:lnTo>
                  <a:close/>
                </a:path>
                <a:path w="3339465" h="866139">
                  <a:moveTo>
                    <a:pt x="944626" y="316738"/>
                  </a:moveTo>
                  <a:lnTo>
                    <a:pt x="941578" y="304419"/>
                  </a:lnTo>
                  <a:lnTo>
                    <a:pt x="892302" y="316611"/>
                  </a:lnTo>
                  <a:lnTo>
                    <a:pt x="895350" y="328930"/>
                  </a:lnTo>
                  <a:lnTo>
                    <a:pt x="944626" y="316738"/>
                  </a:lnTo>
                  <a:close/>
                </a:path>
                <a:path w="3339465" h="866139">
                  <a:moveTo>
                    <a:pt x="1030986" y="295529"/>
                  </a:moveTo>
                  <a:lnTo>
                    <a:pt x="1027938" y="283210"/>
                  </a:lnTo>
                  <a:lnTo>
                    <a:pt x="978535" y="295275"/>
                  </a:lnTo>
                  <a:lnTo>
                    <a:pt x="981583" y="307594"/>
                  </a:lnTo>
                  <a:lnTo>
                    <a:pt x="1030986" y="295529"/>
                  </a:lnTo>
                  <a:close/>
                </a:path>
                <a:path w="3339465" h="866139">
                  <a:moveTo>
                    <a:pt x="1117346" y="274701"/>
                  </a:moveTo>
                  <a:lnTo>
                    <a:pt x="1114425" y="262382"/>
                  </a:lnTo>
                  <a:lnTo>
                    <a:pt x="1066546" y="273812"/>
                  </a:lnTo>
                  <a:lnTo>
                    <a:pt x="1065022" y="274193"/>
                  </a:lnTo>
                  <a:lnTo>
                    <a:pt x="1067943" y="286639"/>
                  </a:lnTo>
                  <a:lnTo>
                    <a:pt x="1069594" y="286258"/>
                  </a:lnTo>
                  <a:lnTo>
                    <a:pt x="1117346" y="274701"/>
                  </a:lnTo>
                  <a:close/>
                </a:path>
                <a:path w="3339465" h="866139">
                  <a:moveTo>
                    <a:pt x="1203833" y="254127"/>
                  </a:moveTo>
                  <a:lnTo>
                    <a:pt x="1200912" y="241808"/>
                  </a:lnTo>
                  <a:lnTo>
                    <a:pt x="1151509" y="253492"/>
                  </a:lnTo>
                  <a:lnTo>
                    <a:pt x="1154430" y="265938"/>
                  </a:lnTo>
                  <a:lnTo>
                    <a:pt x="1203833" y="254127"/>
                  </a:lnTo>
                  <a:close/>
                </a:path>
                <a:path w="3339465" h="866139">
                  <a:moveTo>
                    <a:pt x="1290320" y="233553"/>
                  </a:moveTo>
                  <a:lnTo>
                    <a:pt x="1287399" y="221234"/>
                  </a:lnTo>
                  <a:lnTo>
                    <a:pt x="1237996" y="232918"/>
                  </a:lnTo>
                  <a:lnTo>
                    <a:pt x="1240917" y="245364"/>
                  </a:lnTo>
                  <a:lnTo>
                    <a:pt x="1290320" y="233553"/>
                  </a:lnTo>
                  <a:close/>
                </a:path>
                <a:path w="3339465" h="866139">
                  <a:moveTo>
                    <a:pt x="1376807" y="213233"/>
                  </a:moveTo>
                  <a:lnTo>
                    <a:pt x="1373886" y="200787"/>
                  </a:lnTo>
                  <a:lnTo>
                    <a:pt x="1324483" y="212471"/>
                  </a:lnTo>
                  <a:lnTo>
                    <a:pt x="1327404" y="224790"/>
                  </a:lnTo>
                  <a:lnTo>
                    <a:pt x="1376807" y="213233"/>
                  </a:lnTo>
                  <a:close/>
                </a:path>
                <a:path w="3339465" h="866139">
                  <a:moveTo>
                    <a:pt x="1463421" y="192786"/>
                  </a:moveTo>
                  <a:lnTo>
                    <a:pt x="1460500" y="180467"/>
                  </a:lnTo>
                  <a:lnTo>
                    <a:pt x="1410970" y="192024"/>
                  </a:lnTo>
                  <a:lnTo>
                    <a:pt x="1413891" y="204470"/>
                  </a:lnTo>
                  <a:lnTo>
                    <a:pt x="1463421" y="192786"/>
                  </a:lnTo>
                  <a:close/>
                </a:path>
                <a:path w="3339465" h="866139">
                  <a:moveTo>
                    <a:pt x="1560703" y="163449"/>
                  </a:moveTo>
                  <a:lnTo>
                    <a:pt x="1549946" y="160147"/>
                  </a:lnTo>
                  <a:lnTo>
                    <a:pt x="1462659" y="133350"/>
                  </a:lnTo>
                  <a:lnTo>
                    <a:pt x="1459103" y="135255"/>
                  </a:lnTo>
                  <a:lnTo>
                    <a:pt x="1458087" y="138557"/>
                  </a:lnTo>
                  <a:lnTo>
                    <a:pt x="1457071" y="141986"/>
                  </a:lnTo>
                  <a:lnTo>
                    <a:pt x="1458849" y="145542"/>
                  </a:lnTo>
                  <a:lnTo>
                    <a:pt x="1524177" y="165493"/>
                  </a:lnTo>
                  <a:lnTo>
                    <a:pt x="1497584" y="171704"/>
                  </a:lnTo>
                  <a:lnTo>
                    <a:pt x="1500505" y="184150"/>
                  </a:lnTo>
                  <a:lnTo>
                    <a:pt x="1526959" y="177901"/>
                  </a:lnTo>
                  <a:lnTo>
                    <a:pt x="1477518" y="224790"/>
                  </a:lnTo>
                  <a:lnTo>
                    <a:pt x="1477391" y="228854"/>
                  </a:lnTo>
                  <a:lnTo>
                    <a:pt x="1482217" y="233934"/>
                  </a:lnTo>
                  <a:lnTo>
                    <a:pt x="1486281" y="234061"/>
                  </a:lnTo>
                  <a:lnTo>
                    <a:pt x="1560703" y="163449"/>
                  </a:lnTo>
                  <a:close/>
                </a:path>
                <a:path w="3339465" h="866139">
                  <a:moveTo>
                    <a:pt x="2247265" y="8763"/>
                  </a:moveTo>
                  <a:lnTo>
                    <a:pt x="2246376" y="5334"/>
                  </a:lnTo>
                  <a:lnTo>
                    <a:pt x="2245487" y="2032"/>
                  </a:lnTo>
                  <a:lnTo>
                    <a:pt x="2242058" y="0"/>
                  </a:lnTo>
                  <a:lnTo>
                    <a:pt x="2142871" y="26289"/>
                  </a:lnTo>
                  <a:lnTo>
                    <a:pt x="2212086" y="97155"/>
                  </a:lnTo>
                  <a:lnTo>
                    <a:pt x="2214499" y="99695"/>
                  </a:lnTo>
                  <a:lnTo>
                    <a:pt x="2218563" y="99695"/>
                  </a:lnTo>
                  <a:lnTo>
                    <a:pt x="2223643" y="94869"/>
                  </a:lnTo>
                  <a:lnTo>
                    <a:pt x="2223643" y="90805"/>
                  </a:lnTo>
                  <a:lnTo>
                    <a:pt x="2221230" y="88265"/>
                  </a:lnTo>
                  <a:lnTo>
                    <a:pt x="2176043" y="42075"/>
                  </a:lnTo>
                  <a:lnTo>
                    <a:pt x="2202307" y="49276"/>
                  </a:lnTo>
                  <a:lnTo>
                    <a:pt x="2205609" y="36957"/>
                  </a:lnTo>
                  <a:lnTo>
                    <a:pt x="2179447" y="29768"/>
                  </a:lnTo>
                  <a:lnTo>
                    <a:pt x="2203094" y="23495"/>
                  </a:lnTo>
                  <a:lnTo>
                    <a:pt x="2245233" y="12319"/>
                  </a:lnTo>
                  <a:lnTo>
                    <a:pt x="2247265" y="8763"/>
                  </a:lnTo>
                  <a:close/>
                </a:path>
                <a:path w="3339465" h="866139">
                  <a:moveTo>
                    <a:pt x="2291334" y="60706"/>
                  </a:moveTo>
                  <a:lnTo>
                    <a:pt x="2242439" y="47117"/>
                  </a:lnTo>
                  <a:lnTo>
                    <a:pt x="2239010" y="59436"/>
                  </a:lnTo>
                  <a:lnTo>
                    <a:pt x="2287905" y="72898"/>
                  </a:lnTo>
                  <a:lnTo>
                    <a:pt x="2291334" y="60706"/>
                  </a:lnTo>
                  <a:close/>
                </a:path>
                <a:path w="3339465" h="866139">
                  <a:moveTo>
                    <a:pt x="2295144" y="386715"/>
                  </a:moveTo>
                  <a:lnTo>
                    <a:pt x="2292845" y="358775"/>
                  </a:lnTo>
                  <a:lnTo>
                    <a:pt x="2291588" y="336169"/>
                  </a:lnTo>
                  <a:lnTo>
                    <a:pt x="2278888" y="336804"/>
                  </a:lnTo>
                  <a:lnTo>
                    <a:pt x="2280158" y="359664"/>
                  </a:lnTo>
                  <a:lnTo>
                    <a:pt x="2282444" y="387731"/>
                  </a:lnTo>
                  <a:lnTo>
                    <a:pt x="2295144" y="386715"/>
                  </a:lnTo>
                  <a:close/>
                </a:path>
                <a:path w="3339465" h="866139">
                  <a:moveTo>
                    <a:pt x="2305177" y="474599"/>
                  </a:moveTo>
                  <a:lnTo>
                    <a:pt x="2300490" y="439039"/>
                  </a:lnTo>
                  <a:lnTo>
                    <a:pt x="2298827" y="424434"/>
                  </a:lnTo>
                  <a:lnTo>
                    <a:pt x="2286254" y="425831"/>
                  </a:lnTo>
                  <a:lnTo>
                    <a:pt x="2287778" y="440563"/>
                  </a:lnTo>
                  <a:lnTo>
                    <a:pt x="2292604" y="476377"/>
                  </a:lnTo>
                  <a:lnTo>
                    <a:pt x="2305177" y="474599"/>
                  </a:lnTo>
                  <a:close/>
                </a:path>
                <a:path w="3339465" h="866139">
                  <a:moveTo>
                    <a:pt x="2320417" y="561721"/>
                  </a:moveTo>
                  <a:lnTo>
                    <a:pt x="2318410" y="552196"/>
                  </a:lnTo>
                  <a:lnTo>
                    <a:pt x="2318486" y="552069"/>
                  </a:lnTo>
                  <a:lnTo>
                    <a:pt x="2311666" y="515747"/>
                  </a:lnTo>
                  <a:lnTo>
                    <a:pt x="2311755" y="515620"/>
                  </a:lnTo>
                  <a:lnTo>
                    <a:pt x="2311146" y="512064"/>
                  </a:lnTo>
                  <a:lnTo>
                    <a:pt x="2298573" y="514096"/>
                  </a:lnTo>
                  <a:lnTo>
                    <a:pt x="2299208" y="517779"/>
                  </a:lnTo>
                  <a:lnTo>
                    <a:pt x="2305939" y="554609"/>
                  </a:lnTo>
                  <a:lnTo>
                    <a:pt x="2307971" y="564388"/>
                  </a:lnTo>
                  <a:lnTo>
                    <a:pt x="2320417" y="561721"/>
                  </a:lnTo>
                  <a:close/>
                </a:path>
                <a:path w="3339465" h="866139">
                  <a:moveTo>
                    <a:pt x="2334514" y="323977"/>
                  </a:moveTo>
                  <a:lnTo>
                    <a:pt x="2332863" y="320929"/>
                  </a:lnTo>
                  <a:lnTo>
                    <a:pt x="2290686" y="247650"/>
                  </a:lnTo>
                  <a:lnTo>
                    <a:pt x="2283460" y="235077"/>
                  </a:lnTo>
                  <a:lnTo>
                    <a:pt x="2232914" y="320294"/>
                  </a:lnTo>
                  <a:lnTo>
                    <a:pt x="2231136" y="323342"/>
                  </a:lnTo>
                  <a:lnTo>
                    <a:pt x="2232152" y="327279"/>
                  </a:lnTo>
                  <a:lnTo>
                    <a:pt x="2235200" y="329057"/>
                  </a:lnTo>
                  <a:lnTo>
                    <a:pt x="2238121" y="330835"/>
                  </a:lnTo>
                  <a:lnTo>
                    <a:pt x="2242058" y="329819"/>
                  </a:lnTo>
                  <a:lnTo>
                    <a:pt x="2243836" y="326771"/>
                  </a:lnTo>
                  <a:lnTo>
                    <a:pt x="2276868" y="270954"/>
                  </a:lnTo>
                  <a:lnTo>
                    <a:pt x="2276856" y="276733"/>
                  </a:lnTo>
                  <a:lnTo>
                    <a:pt x="2277364" y="298577"/>
                  </a:lnTo>
                  <a:lnTo>
                    <a:pt x="2290064" y="298323"/>
                  </a:lnTo>
                  <a:lnTo>
                    <a:pt x="2289556" y="276479"/>
                  </a:lnTo>
                  <a:lnTo>
                    <a:pt x="2289568" y="271208"/>
                  </a:lnTo>
                  <a:lnTo>
                    <a:pt x="2321814" y="327279"/>
                  </a:lnTo>
                  <a:lnTo>
                    <a:pt x="2323592" y="330327"/>
                  </a:lnTo>
                  <a:lnTo>
                    <a:pt x="2327402" y="331343"/>
                  </a:lnTo>
                  <a:lnTo>
                    <a:pt x="2330450" y="329692"/>
                  </a:lnTo>
                  <a:lnTo>
                    <a:pt x="2333498" y="327914"/>
                  </a:lnTo>
                  <a:lnTo>
                    <a:pt x="2334514" y="323977"/>
                  </a:lnTo>
                  <a:close/>
                </a:path>
                <a:path w="3339465" h="866139">
                  <a:moveTo>
                    <a:pt x="2340483" y="648081"/>
                  </a:moveTo>
                  <a:lnTo>
                    <a:pt x="2333523" y="620903"/>
                  </a:lnTo>
                  <a:lnTo>
                    <a:pt x="2333498" y="620776"/>
                  </a:lnTo>
                  <a:lnTo>
                    <a:pt x="2333498" y="620903"/>
                  </a:lnTo>
                  <a:lnTo>
                    <a:pt x="2328418" y="598805"/>
                  </a:lnTo>
                  <a:lnTo>
                    <a:pt x="2316099" y="601726"/>
                  </a:lnTo>
                  <a:lnTo>
                    <a:pt x="2321179" y="623824"/>
                  </a:lnTo>
                  <a:lnTo>
                    <a:pt x="2328164" y="651256"/>
                  </a:lnTo>
                  <a:lnTo>
                    <a:pt x="2340483" y="648081"/>
                  </a:lnTo>
                  <a:close/>
                </a:path>
                <a:path w="3339465" h="866139">
                  <a:moveTo>
                    <a:pt x="2366645" y="732409"/>
                  </a:moveTo>
                  <a:lnTo>
                    <a:pt x="2363343" y="723138"/>
                  </a:lnTo>
                  <a:lnTo>
                    <a:pt x="2358936" y="710311"/>
                  </a:lnTo>
                  <a:lnTo>
                    <a:pt x="2358898" y="710184"/>
                  </a:lnTo>
                  <a:lnTo>
                    <a:pt x="2358898" y="710311"/>
                  </a:lnTo>
                  <a:lnTo>
                    <a:pt x="2354580" y="696595"/>
                  </a:lnTo>
                  <a:lnTo>
                    <a:pt x="2350770" y="684403"/>
                  </a:lnTo>
                  <a:lnTo>
                    <a:pt x="2338705" y="688086"/>
                  </a:lnTo>
                  <a:lnTo>
                    <a:pt x="2342515" y="700405"/>
                  </a:lnTo>
                  <a:lnTo>
                    <a:pt x="2346833" y="714121"/>
                  </a:lnTo>
                  <a:lnTo>
                    <a:pt x="2351405" y="727329"/>
                  </a:lnTo>
                  <a:lnTo>
                    <a:pt x="2354580" y="736600"/>
                  </a:lnTo>
                  <a:lnTo>
                    <a:pt x="2366645" y="732409"/>
                  </a:lnTo>
                  <a:close/>
                </a:path>
                <a:path w="3339465" h="866139">
                  <a:moveTo>
                    <a:pt x="2377059" y="84582"/>
                  </a:moveTo>
                  <a:lnTo>
                    <a:pt x="2328037" y="70866"/>
                  </a:lnTo>
                  <a:lnTo>
                    <a:pt x="2324608" y="83185"/>
                  </a:lnTo>
                  <a:lnTo>
                    <a:pt x="2373630" y="96774"/>
                  </a:lnTo>
                  <a:lnTo>
                    <a:pt x="2377059" y="84582"/>
                  </a:lnTo>
                  <a:close/>
                </a:path>
                <a:path w="3339465" h="866139">
                  <a:moveTo>
                    <a:pt x="2402840" y="811784"/>
                  </a:moveTo>
                  <a:lnTo>
                    <a:pt x="2402103" y="810641"/>
                  </a:lnTo>
                  <a:lnTo>
                    <a:pt x="2401951" y="810387"/>
                  </a:lnTo>
                  <a:lnTo>
                    <a:pt x="2402078" y="810641"/>
                  </a:lnTo>
                  <a:lnTo>
                    <a:pt x="2397912" y="803783"/>
                  </a:lnTo>
                  <a:lnTo>
                    <a:pt x="2397760" y="803529"/>
                  </a:lnTo>
                  <a:lnTo>
                    <a:pt x="2397887" y="803783"/>
                  </a:lnTo>
                  <a:lnTo>
                    <a:pt x="2393759" y="796036"/>
                  </a:lnTo>
                  <a:lnTo>
                    <a:pt x="2393746" y="795909"/>
                  </a:lnTo>
                  <a:lnTo>
                    <a:pt x="2389441" y="787654"/>
                  </a:lnTo>
                  <a:lnTo>
                    <a:pt x="2389441" y="787527"/>
                  </a:lnTo>
                  <a:lnTo>
                    <a:pt x="2385237" y="778637"/>
                  </a:lnTo>
                  <a:lnTo>
                    <a:pt x="2385250" y="778510"/>
                  </a:lnTo>
                  <a:lnTo>
                    <a:pt x="2380919" y="768858"/>
                  </a:lnTo>
                  <a:lnTo>
                    <a:pt x="2380932" y="768731"/>
                  </a:lnTo>
                  <a:lnTo>
                    <a:pt x="2380361" y="767588"/>
                  </a:lnTo>
                  <a:lnTo>
                    <a:pt x="2368677" y="772414"/>
                  </a:lnTo>
                  <a:lnTo>
                    <a:pt x="2369312" y="773811"/>
                  </a:lnTo>
                  <a:lnTo>
                    <a:pt x="2373630" y="783844"/>
                  </a:lnTo>
                  <a:lnTo>
                    <a:pt x="2378075" y="793115"/>
                  </a:lnTo>
                  <a:lnTo>
                    <a:pt x="2382520" y="801878"/>
                  </a:lnTo>
                  <a:lnTo>
                    <a:pt x="2386838" y="809879"/>
                  </a:lnTo>
                  <a:lnTo>
                    <a:pt x="2391283" y="817245"/>
                  </a:lnTo>
                  <a:lnTo>
                    <a:pt x="2392172" y="818769"/>
                  </a:lnTo>
                  <a:lnTo>
                    <a:pt x="2402840" y="811784"/>
                  </a:lnTo>
                  <a:close/>
                </a:path>
                <a:path w="3339465" h="866139">
                  <a:moveTo>
                    <a:pt x="2462657" y="108585"/>
                  </a:moveTo>
                  <a:lnTo>
                    <a:pt x="2413762" y="94869"/>
                  </a:lnTo>
                  <a:lnTo>
                    <a:pt x="2410206" y="107061"/>
                  </a:lnTo>
                  <a:lnTo>
                    <a:pt x="2459101" y="120904"/>
                  </a:lnTo>
                  <a:lnTo>
                    <a:pt x="2462657" y="108585"/>
                  </a:lnTo>
                  <a:close/>
                </a:path>
                <a:path w="3339465" h="866139">
                  <a:moveTo>
                    <a:pt x="2469261" y="853440"/>
                  </a:moveTo>
                  <a:lnTo>
                    <a:pt x="2463038" y="853440"/>
                  </a:lnTo>
                  <a:lnTo>
                    <a:pt x="2453335" y="852170"/>
                  </a:lnTo>
                  <a:lnTo>
                    <a:pt x="2453182" y="852157"/>
                  </a:lnTo>
                  <a:lnTo>
                    <a:pt x="2452789" y="852043"/>
                  </a:lnTo>
                  <a:lnTo>
                    <a:pt x="2444013" y="849630"/>
                  </a:lnTo>
                  <a:lnTo>
                    <a:pt x="2443848" y="849591"/>
                  </a:lnTo>
                  <a:lnTo>
                    <a:pt x="2443416" y="849376"/>
                  </a:lnTo>
                  <a:lnTo>
                    <a:pt x="2435580" y="845820"/>
                  </a:lnTo>
                  <a:lnTo>
                    <a:pt x="2435263" y="845680"/>
                  </a:lnTo>
                  <a:lnTo>
                    <a:pt x="2434729" y="845312"/>
                  </a:lnTo>
                  <a:lnTo>
                    <a:pt x="2427262" y="840232"/>
                  </a:lnTo>
                  <a:lnTo>
                    <a:pt x="2426373" y="839647"/>
                  </a:lnTo>
                  <a:lnTo>
                    <a:pt x="2426208" y="839470"/>
                  </a:lnTo>
                  <a:lnTo>
                    <a:pt x="2417699" y="848868"/>
                  </a:lnTo>
                  <a:lnTo>
                    <a:pt x="2461641" y="866013"/>
                  </a:lnTo>
                  <a:lnTo>
                    <a:pt x="2469007" y="866140"/>
                  </a:lnTo>
                  <a:lnTo>
                    <a:pt x="2469261" y="853440"/>
                  </a:lnTo>
                  <a:close/>
                </a:path>
                <a:path w="3339465" h="866139">
                  <a:moveTo>
                    <a:pt x="2548128" y="133096"/>
                  </a:moveTo>
                  <a:lnTo>
                    <a:pt x="2499233" y="118999"/>
                  </a:lnTo>
                  <a:lnTo>
                    <a:pt x="2495804" y="131191"/>
                  </a:lnTo>
                  <a:lnTo>
                    <a:pt x="2544572" y="145288"/>
                  </a:lnTo>
                  <a:lnTo>
                    <a:pt x="2548128" y="133096"/>
                  </a:lnTo>
                  <a:close/>
                </a:path>
                <a:path w="3339465" h="866139">
                  <a:moveTo>
                    <a:pt x="2558034" y="852170"/>
                  </a:moveTo>
                  <a:lnTo>
                    <a:pt x="2555621" y="839724"/>
                  </a:lnTo>
                  <a:lnTo>
                    <a:pt x="2511552" y="848614"/>
                  </a:lnTo>
                  <a:lnTo>
                    <a:pt x="2511806" y="848614"/>
                  </a:lnTo>
                  <a:lnTo>
                    <a:pt x="2505964" y="849630"/>
                  </a:lnTo>
                  <a:lnTo>
                    <a:pt x="2507996" y="862076"/>
                  </a:lnTo>
                  <a:lnTo>
                    <a:pt x="2513965" y="861060"/>
                  </a:lnTo>
                  <a:lnTo>
                    <a:pt x="2545588" y="854710"/>
                  </a:lnTo>
                  <a:lnTo>
                    <a:pt x="2545461" y="854710"/>
                  </a:lnTo>
                  <a:lnTo>
                    <a:pt x="2558034" y="852170"/>
                  </a:lnTo>
                  <a:close/>
                </a:path>
                <a:path w="3339465" h="866139">
                  <a:moveTo>
                    <a:pt x="2633472" y="157861"/>
                  </a:moveTo>
                  <a:lnTo>
                    <a:pt x="2584704" y="143637"/>
                  </a:lnTo>
                  <a:lnTo>
                    <a:pt x="2581148" y="155829"/>
                  </a:lnTo>
                  <a:lnTo>
                    <a:pt x="2629916" y="170053"/>
                  </a:lnTo>
                  <a:lnTo>
                    <a:pt x="2633472" y="157861"/>
                  </a:lnTo>
                  <a:close/>
                </a:path>
                <a:path w="3339465" h="866139">
                  <a:moveTo>
                    <a:pt x="2718689" y="183388"/>
                  </a:moveTo>
                  <a:lnTo>
                    <a:pt x="2670048" y="168656"/>
                  </a:lnTo>
                  <a:lnTo>
                    <a:pt x="2666492" y="180848"/>
                  </a:lnTo>
                  <a:lnTo>
                    <a:pt x="2715006" y="195580"/>
                  </a:lnTo>
                  <a:lnTo>
                    <a:pt x="2718689" y="183388"/>
                  </a:lnTo>
                  <a:close/>
                </a:path>
                <a:path w="3339465" h="866139">
                  <a:moveTo>
                    <a:pt x="2803652" y="209677"/>
                  </a:moveTo>
                  <a:lnTo>
                    <a:pt x="2755138" y="194564"/>
                  </a:lnTo>
                  <a:lnTo>
                    <a:pt x="2751455" y="206756"/>
                  </a:lnTo>
                  <a:lnTo>
                    <a:pt x="2766822" y="211455"/>
                  </a:lnTo>
                  <a:lnTo>
                    <a:pt x="2766695" y="211455"/>
                  </a:lnTo>
                  <a:lnTo>
                    <a:pt x="2799842" y="221869"/>
                  </a:lnTo>
                  <a:lnTo>
                    <a:pt x="2803652" y="209677"/>
                  </a:lnTo>
                  <a:close/>
                </a:path>
                <a:path w="3339465" h="866139">
                  <a:moveTo>
                    <a:pt x="2888361" y="237109"/>
                  </a:moveTo>
                  <a:lnTo>
                    <a:pt x="2879852" y="234188"/>
                  </a:lnTo>
                  <a:lnTo>
                    <a:pt x="2844292" y="222631"/>
                  </a:lnTo>
                  <a:lnTo>
                    <a:pt x="2839974" y="221361"/>
                  </a:lnTo>
                  <a:lnTo>
                    <a:pt x="2836164" y="233426"/>
                  </a:lnTo>
                  <a:lnTo>
                    <a:pt x="2840355" y="234696"/>
                  </a:lnTo>
                  <a:lnTo>
                    <a:pt x="2875915" y="246253"/>
                  </a:lnTo>
                  <a:lnTo>
                    <a:pt x="2875788" y="246253"/>
                  </a:lnTo>
                  <a:lnTo>
                    <a:pt x="2884424" y="249047"/>
                  </a:lnTo>
                  <a:lnTo>
                    <a:pt x="2888361" y="237109"/>
                  </a:lnTo>
                  <a:close/>
                </a:path>
                <a:path w="3339465" h="866139">
                  <a:moveTo>
                    <a:pt x="2972562" y="265938"/>
                  </a:moveTo>
                  <a:lnTo>
                    <a:pt x="2924556" y="249301"/>
                  </a:lnTo>
                  <a:lnTo>
                    <a:pt x="2920492" y="261239"/>
                  </a:lnTo>
                  <a:lnTo>
                    <a:pt x="2968371" y="277876"/>
                  </a:lnTo>
                  <a:lnTo>
                    <a:pt x="2972562" y="265938"/>
                  </a:lnTo>
                  <a:close/>
                </a:path>
                <a:path w="3339465" h="866139">
                  <a:moveTo>
                    <a:pt x="3056128" y="296799"/>
                  </a:moveTo>
                  <a:lnTo>
                    <a:pt x="3041777" y="291211"/>
                  </a:lnTo>
                  <a:lnTo>
                    <a:pt x="3011678" y="280035"/>
                  </a:lnTo>
                  <a:lnTo>
                    <a:pt x="3008503" y="278892"/>
                  </a:lnTo>
                  <a:lnTo>
                    <a:pt x="3004185" y="290830"/>
                  </a:lnTo>
                  <a:lnTo>
                    <a:pt x="3007233" y="291846"/>
                  </a:lnTo>
                  <a:lnTo>
                    <a:pt x="3037332" y="303149"/>
                  </a:lnTo>
                  <a:lnTo>
                    <a:pt x="3037205" y="303149"/>
                  </a:lnTo>
                  <a:lnTo>
                    <a:pt x="3051556" y="308610"/>
                  </a:lnTo>
                  <a:lnTo>
                    <a:pt x="3056128" y="296799"/>
                  </a:lnTo>
                  <a:close/>
                </a:path>
                <a:path w="3339465" h="866139">
                  <a:moveTo>
                    <a:pt x="3138551" y="330962"/>
                  </a:moveTo>
                  <a:lnTo>
                    <a:pt x="3126117" y="325374"/>
                  </a:lnTo>
                  <a:lnTo>
                    <a:pt x="3124708" y="324739"/>
                  </a:lnTo>
                  <a:lnTo>
                    <a:pt x="3098419" y="313690"/>
                  </a:lnTo>
                  <a:lnTo>
                    <a:pt x="3091688" y="311023"/>
                  </a:lnTo>
                  <a:lnTo>
                    <a:pt x="3086862" y="322707"/>
                  </a:lnTo>
                  <a:lnTo>
                    <a:pt x="3093593" y="325501"/>
                  </a:lnTo>
                  <a:lnTo>
                    <a:pt x="3093466" y="325374"/>
                  </a:lnTo>
                  <a:lnTo>
                    <a:pt x="3119628" y="336423"/>
                  </a:lnTo>
                  <a:lnTo>
                    <a:pt x="3133471" y="342519"/>
                  </a:lnTo>
                  <a:lnTo>
                    <a:pt x="3138551" y="330962"/>
                  </a:lnTo>
                  <a:close/>
                </a:path>
                <a:path w="3339465" h="866139">
                  <a:moveTo>
                    <a:pt x="3213608" y="673608"/>
                  </a:moveTo>
                  <a:lnTo>
                    <a:pt x="3205734" y="663575"/>
                  </a:lnTo>
                  <a:lnTo>
                    <a:pt x="3194177" y="672592"/>
                  </a:lnTo>
                  <a:lnTo>
                    <a:pt x="3194304" y="672592"/>
                  </a:lnTo>
                  <a:lnTo>
                    <a:pt x="3171444" y="690245"/>
                  </a:lnTo>
                  <a:lnTo>
                    <a:pt x="3179191" y="700405"/>
                  </a:lnTo>
                  <a:lnTo>
                    <a:pt x="3213608" y="673608"/>
                  </a:lnTo>
                  <a:close/>
                </a:path>
                <a:path w="3339465" h="866139">
                  <a:moveTo>
                    <a:pt x="3218942" y="370332"/>
                  </a:moveTo>
                  <a:lnTo>
                    <a:pt x="3216364" y="368808"/>
                  </a:lnTo>
                  <a:lnTo>
                    <a:pt x="3215513" y="368300"/>
                  </a:lnTo>
                  <a:lnTo>
                    <a:pt x="3195066" y="357505"/>
                  </a:lnTo>
                  <a:lnTo>
                    <a:pt x="3173476" y="346837"/>
                  </a:lnTo>
                  <a:lnTo>
                    <a:pt x="3167888" y="358267"/>
                  </a:lnTo>
                  <a:lnTo>
                    <a:pt x="3189351" y="368935"/>
                  </a:lnTo>
                  <a:lnTo>
                    <a:pt x="3189224" y="368808"/>
                  </a:lnTo>
                  <a:lnTo>
                    <a:pt x="3209417" y="379476"/>
                  </a:lnTo>
                  <a:lnTo>
                    <a:pt x="3209290" y="379349"/>
                  </a:lnTo>
                  <a:lnTo>
                    <a:pt x="3212719" y="381254"/>
                  </a:lnTo>
                  <a:lnTo>
                    <a:pt x="3213798" y="379349"/>
                  </a:lnTo>
                  <a:lnTo>
                    <a:pt x="3218942" y="370332"/>
                  </a:lnTo>
                  <a:close/>
                </a:path>
                <a:path w="3339465" h="866139">
                  <a:moveTo>
                    <a:pt x="3281172" y="614934"/>
                  </a:moveTo>
                  <a:lnTo>
                    <a:pt x="3272409" y="605917"/>
                  </a:lnTo>
                  <a:lnTo>
                    <a:pt x="3258312" y="619506"/>
                  </a:lnTo>
                  <a:lnTo>
                    <a:pt x="3258020" y="619760"/>
                  </a:lnTo>
                  <a:lnTo>
                    <a:pt x="3238119" y="637286"/>
                  </a:lnTo>
                  <a:lnTo>
                    <a:pt x="3238246" y="637159"/>
                  </a:lnTo>
                  <a:lnTo>
                    <a:pt x="3238093" y="637286"/>
                  </a:lnTo>
                  <a:lnTo>
                    <a:pt x="3235198" y="639699"/>
                  </a:lnTo>
                  <a:lnTo>
                    <a:pt x="3243199" y="649478"/>
                  </a:lnTo>
                  <a:lnTo>
                    <a:pt x="3246374" y="646938"/>
                  </a:lnTo>
                  <a:lnTo>
                    <a:pt x="3266821" y="628904"/>
                  </a:lnTo>
                  <a:lnTo>
                    <a:pt x="3281172" y="614934"/>
                  </a:lnTo>
                  <a:close/>
                </a:path>
                <a:path w="3339465" h="866139">
                  <a:moveTo>
                    <a:pt x="3293364" y="421386"/>
                  </a:moveTo>
                  <a:lnTo>
                    <a:pt x="3292335" y="420497"/>
                  </a:lnTo>
                  <a:lnTo>
                    <a:pt x="3280918" y="410718"/>
                  </a:lnTo>
                  <a:lnTo>
                    <a:pt x="3266948" y="400177"/>
                  </a:lnTo>
                  <a:lnTo>
                    <a:pt x="3252089" y="390017"/>
                  </a:lnTo>
                  <a:lnTo>
                    <a:pt x="3244977" y="400558"/>
                  </a:lnTo>
                  <a:lnTo>
                    <a:pt x="3259709" y="410591"/>
                  </a:lnTo>
                  <a:lnTo>
                    <a:pt x="3259455" y="410464"/>
                  </a:lnTo>
                  <a:lnTo>
                    <a:pt x="3259620" y="410591"/>
                  </a:lnTo>
                  <a:lnTo>
                    <a:pt x="3273044" y="420751"/>
                  </a:lnTo>
                  <a:lnTo>
                    <a:pt x="3272790" y="420497"/>
                  </a:lnTo>
                  <a:lnTo>
                    <a:pt x="3284728" y="430784"/>
                  </a:lnTo>
                  <a:lnTo>
                    <a:pt x="3284601" y="430530"/>
                  </a:lnTo>
                  <a:lnTo>
                    <a:pt x="3293364" y="421386"/>
                  </a:lnTo>
                  <a:close/>
                </a:path>
                <a:path w="3339465" h="866139">
                  <a:moveTo>
                    <a:pt x="3333623" y="540512"/>
                  </a:moveTo>
                  <a:lnTo>
                    <a:pt x="3321685" y="536321"/>
                  </a:lnTo>
                  <a:lnTo>
                    <a:pt x="3320288" y="540258"/>
                  </a:lnTo>
                  <a:lnTo>
                    <a:pt x="3320415" y="539750"/>
                  </a:lnTo>
                  <a:lnTo>
                    <a:pt x="3320173" y="540258"/>
                  </a:lnTo>
                  <a:lnTo>
                    <a:pt x="3316224" y="549021"/>
                  </a:lnTo>
                  <a:lnTo>
                    <a:pt x="3316478" y="548640"/>
                  </a:lnTo>
                  <a:lnTo>
                    <a:pt x="3311525" y="557784"/>
                  </a:lnTo>
                  <a:lnTo>
                    <a:pt x="3305937" y="566547"/>
                  </a:lnTo>
                  <a:lnTo>
                    <a:pt x="3306191" y="566293"/>
                  </a:lnTo>
                  <a:lnTo>
                    <a:pt x="3299587" y="575437"/>
                  </a:lnTo>
                  <a:lnTo>
                    <a:pt x="3299714" y="575183"/>
                  </a:lnTo>
                  <a:lnTo>
                    <a:pt x="3299510" y="575437"/>
                  </a:lnTo>
                  <a:lnTo>
                    <a:pt x="3297301" y="578231"/>
                  </a:lnTo>
                  <a:lnTo>
                    <a:pt x="3307334" y="586105"/>
                  </a:lnTo>
                  <a:lnTo>
                    <a:pt x="3309747" y="582930"/>
                  </a:lnTo>
                  <a:lnTo>
                    <a:pt x="3316605" y="573532"/>
                  </a:lnTo>
                  <a:lnTo>
                    <a:pt x="3321139" y="566293"/>
                  </a:lnTo>
                  <a:lnTo>
                    <a:pt x="3322574" y="564007"/>
                  </a:lnTo>
                  <a:lnTo>
                    <a:pt x="3326130" y="557403"/>
                  </a:lnTo>
                  <a:lnTo>
                    <a:pt x="3327781" y="554355"/>
                  </a:lnTo>
                  <a:lnTo>
                    <a:pt x="3330333" y="548640"/>
                  </a:lnTo>
                  <a:lnTo>
                    <a:pt x="3332099" y="544703"/>
                  </a:lnTo>
                  <a:lnTo>
                    <a:pt x="3333623" y="540512"/>
                  </a:lnTo>
                  <a:close/>
                </a:path>
                <a:path w="3339465" h="866139">
                  <a:moveTo>
                    <a:pt x="3339084" y="500253"/>
                  </a:moveTo>
                  <a:lnTo>
                    <a:pt x="3338538" y="495808"/>
                  </a:lnTo>
                  <a:lnTo>
                    <a:pt x="3338322" y="494030"/>
                  </a:lnTo>
                  <a:lnTo>
                    <a:pt x="3336721" y="486791"/>
                  </a:lnTo>
                  <a:lnTo>
                    <a:pt x="3336036" y="483616"/>
                  </a:lnTo>
                  <a:lnTo>
                    <a:pt x="3333966" y="477774"/>
                  </a:lnTo>
                  <a:lnTo>
                    <a:pt x="3332353" y="473202"/>
                  </a:lnTo>
                  <a:lnTo>
                    <a:pt x="3330206" y="468757"/>
                  </a:lnTo>
                  <a:lnTo>
                    <a:pt x="3327400" y="462915"/>
                  </a:lnTo>
                  <a:lnTo>
                    <a:pt x="3325228" y="459359"/>
                  </a:lnTo>
                  <a:lnTo>
                    <a:pt x="3321050" y="452501"/>
                  </a:lnTo>
                  <a:lnTo>
                    <a:pt x="3319526" y="450469"/>
                  </a:lnTo>
                  <a:lnTo>
                    <a:pt x="3309366" y="458089"/>
                  </a:lnTo>
                  <a:lnTo>
                    <a:pt x="3310432" y="459460"/>
                  </a:lnTo>
                  <a:lnTo>
                    <a:pt x="3310763" y="459867"/>
                  </a:lnTo>
                  <a:lnTo>
                    <a:pt x="3310432" y="459460"/>
                  </a:lnTo>
                  <a:lnTo>
                    <a:pt x="3310686" y="459867"/>
                  </a:lnTo>
                  <a:lnTo>
                    <a:pt x="3316313" y="469214"/>
                  </a:lnTo>
                  <a:lnTo>
                    <a:pt x="3320681" y="478180"/>
                  </a:lnTo>
                  <a:lnTo>
                    <a:pt x="3320758" y="478409"/>
                  </a:lnTo>
                  <a:lnTo>
                    <a:pt x="3323729" y="486905"/>
                  </a:lnTo>
                  <a:lnTo>
                    <a:pt x="3323971" y="487553"/>
                  </a:lnTo>
                  <a:lnTo>
                    <a:pt x="3323729" y="486905"/>
                  </a:lnTo>
                  <a:lnTo>
                    <a:pt x="3323882" y="487553"/>
                  </a:lnTo>
                  <a:lnTo>
                    <a:pt x="3325761" y="495947"/>
                  </a:lnTo>
                  <a:lnTo>
                    <a:pt x="3325749" y="495808"/>
                  </a:lnTo>
                  <a:lnTo>
                    <a:pt x="3325876" y="496443"/>
                  </a:lnTo>
                  <a:lnTo>
                    <a:pt x="3325761" y="495947"/>
                  </a:lnTo>
                  <a:lnTo>
                    <a:pt x="3325812" y="496443"/>
                  </a:lnTo>
                  <a:lnTo>
                    <a:pt x="3326384" y="501650"/>
                  </a:lnTo>
                  <a:lnTo>
                    <a:pt x="3339084" y="500253"/>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46" name="object 13">
              <a:extLst>
                <a:ext uri="{FF2B5EF4-FFF2-40B4-BE49-F238E27FC236}">
                  <a16:creationId xmlns:a16="http://schemas.microsoft.com/office/drawing/2014/main" id="{B3084DD9-4250-8B1A-AFB4-01295B4FD562}"/>
                </a:ext>
              </a:extLst>
            </p:cNvPr>
            <p:cNvPicPr/>
            <p:nvPr/>
          </p:nvPicPr>
          <p:blipFill>
            <a:blip r:embed="rId5" cstate="print"/>
            <a:stretch>
              <a:fillRect/>
            </a:stretch>
          </p:blipFill>
          <p:spPr>
            <a:xfrm>
              <a:off x="6138776" y="4718477"/>
              <a:ext cx="1589274" cy="872796"/>
            </a:xfrm>
            <a:prstGeom prst="rect">
              <a:avLst/>
            </a:prstGeom>
          </p:spPr>
        </p:pic>
        <p:sp>
          <p:nvSpPr>
            <p:cNvPr id="47" name="object 14">
              <a:extLst>
                <a:ext uri="{FF2B5EF4-FFF2-40B4-BE49-F238E27FC236}">
                  <a16:creationId xmlns:a16="http://schemas.microsoft.com/office/drawing/2014/main" id="{0B0AA7CD-4B90-7066-4D8E-39BE9BD0A64A}"/>
                </a:ext>
              </a:extLst>
            </p:cNvPr>
            <p:cNvSpPr/>
            <p:nvPr/>
          </p:nvSpPr>
          <p:spPr>
            <a:xfrm>
              <a:off x="6074410" y="4676965"/>
              <a:ext cx="1745614" cy="979169"/>
            </a:xfrm>
            <a:custGeom>
              <a:avLst/>
              <a:gdLst/>
              <a:ahLst/>
              <a:cxnLst/>
              <a:rect l="l" t="t" r="r" b="b"/>
              <a:pathLst>
                <a:path w="1745615" h="979170">
                  <a:moveTo>
                    <a:pt x="0" y="978789"/>
                  </a:moveTo>
                  <a:lnTo>
                    <a:pt x="1745361" y="978789"/>
                  </a:lnTo>
                  <a:lnTo>
                    <a:pt x="1745361" y="0"/>
                  </a:lnTo>
                  <a:lnTo>
                    <a:pt x="0" y="0"/>
                  </a:lnTo>
                  <a:lnTo>
                    <a:pt x="0" y="978789"/>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8" name="object 15">
              <a:extLst>
                <a:ext uri="{FF2B5EF4-FFF2-40B4-BE49-F238E27FC236}">
                  <a16:creationId xmlns:a16="http://schemas.microsoft.com/office/drawing/2014/main" id="{420E53B4-5770-B140-618D-7DC85C94323E}"/>
                </a:ext>
              </a:extLst>
            </p:cNvPr>
            <p:cNvSpPr/>
            <p:nvPr/>
          </p:nvSpPr>
          <p:spPr>
            <a:xfrm>
              <a:off x="7487411" y="4968240"/>
              <a:ext cx="283845" cy="207645"/>
            </a:xfrm>
            <a:custGeom>
              <a:avLst/>
              <a:gdLst/>
              <a:ahLst/>
              <a:cxnLst/>
              <a:rect l="l" t="t" r="r" b="b"/>
              <a:pathLst>
                <a:path w="283845" h="207645">
                  <a:moveTo>
                    <a:pt x="0" y="207263"/>
                  </a:moveTo>
                  <a:lnTo>
                    <a:pt x="283464" y="207263"/>
                  </a:lnTo>
                  <a:lnTo>
                    <a:pt x="283464" y="0"/>
                  </a:lnTo>
                  <a:lnTo>
                    <a:pt x="0" y="0"/>
                  </a:lnTo>
                  <a:lnTo>
                    <a:pt x="0" y="207263"/>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49" name="object 16">
              <a:extLst>
                <a:ext uri="{FF2B5EF4-FFF2-40B4-BE49-F238E27FC236}">
                  <a16:creationId xmlns:a16="http://schemas.microsoft.com/office/drawing/2014/main" id="{E2372C2C-1B62-8104-3CFE-E9F4231ED6E2}"/>
                </a:ext>
              </a:extLst>
            </p:cNvPr>
            <p:cNvPicPr/>
            <p:nvPr/>
          </p:nvPicPr>
          <p:blipFill>
            <a:blip r:embed="rId6" cstate="print"/>
            <a:stretch>
              <a:fillRect/>
            </a:stretch>
          </p:blipFill>
          <p:spPr>
            <a:xfrm>
              <a:off x="7808722" y="3361690"/>
              <a:ext cx="192531" cy="192532"/>
            </a:xfrm>
            <a:prstGeom prst="rect">
              <a:avLst/>
            </a:prstGeom>
          </p:spPr>
        </p:pic>
        <p:pic>
          <p:nvPicPr>
            <p:cNvPr id="50" name="object 17">
              <a:extLst>
                <a:ext uri="{FF2B5EF4-FFF2-40B4-BE49-F238E27FC236}">
                  <a16:creationId xmlns:a16="http://schemas.microsoft.com/office/drawing/2014/main" id="{BE401272-31CA-EAB4-5D12-6C60AE5E78B5}"/>
                </a:ext>
              </a:extLst>
            </p:cNvPr>
            <p:cNvPicPr/>
            <p:nvPr/>
          </p:nvPicPr>
          <p:blipFill>
            <a:blip r:embed="rId7" cstate="print"/>
            <a:stretch>
              <a:fillRect/>
            </a:stretch>
          </p:blipFill>
          <p:spPr>
            <a:xfrm>
              <a:off x="7935213" y="4285234"/>
              <a:ext cx="192531" cy="192532"/>
            </a:xfrm>
            <a:prstGeom prst="rect">
              <a:avLst/>
            </a:prstGeom>
          </p:spPr>
        </p:pic>
      </p:grpSp>
      <p:sp>
        <p:nvSpPr>
          <p:cNvPr id="51" name="object 18">
            <a:extLst>
              <a:ext uri="{FF2B5EF4-FFF2-40B4-BE49-F238E27FC236}">
                <a16:creationId xmlns:a16="http://schemas.microsoft.com/office/drawing/2014/main" id="{4926610D-49EA-2B90-163C-CB2E16A215B4}"/>
              </a:ext>
            </a:extLst>
          </p:cNvPr>
          <p:cNvSpPr txBox="1"/>
          <p:nvPr/>
        </p:nvSpPr>
        <p:spPr>
          <a:xfrm>
            <a:off x="5417311" y="4229861"/>
            <a:ext cx="2391410" cy="269240"/>
          </a:xfrm>
          <a:prstGeom prst="rect">
            <a:avLst/>
          </a:prstGeom>
        </p:spPr>
        <p:txBody>
          <a:bodyPr vert="horz" wrap="square" lIns="0" tIns="12065" rIns="0" bIns="0" rtlCol="0">
            <a:spAutoFit/>
          </a:bodyPr>
          <a:lstStyle/>
          <a:p>
            <a:pPr marL="12700" rtl="0">
              <a:spcBef>
                <a:spcPts val="95"/>
              </a:spcBef>
            </a:pPr>
            <a:r>
              <a:rPr sz="1600" kern="1200" spc="-5" dirty="0">
                <a:solidFill>
                  <a:srgbClr val="FF0000"/>
                </a:solidFill>
                <a:latin typeface="Palatino Linotype"/>
                <a:cs typeface="Palatino Linotype"/>
              </a:rPr>
              <a:t>Backpatch instruction</a:t>
            </a:r>
            <a:r>
              <a:rPr sz="1600" kern="1200" spc="5" dirty="0">
                <a:solidFill>
                  <a:srgbClr val="FF0000"/>
                </a:solidFill>
                <a:latin typeface="Palatino Linotype"/>
                <a:cs typeface="Palatino Linotype"/>
              </a:rPr>
              <a:t> </a:t>
            </a:r>
            <a:r>
              <a:rPr sz="1600" kern="1200" spc="-5" dirty="0">
                <a:solidFill>
                  <a:srgbClr val="FF0000"/>
                </a:solidFill>
                <a:latin typeface="Palatino Linotype"/>
                <a:cs typeface="Palatino Linotype"/>
              </a:rPr>
              <a:t>102:</a:t>
            </a:r>
            <a:endParaRPr sz="1600" kern="1200">
              <a:solidFill>
                <a:prstClr val="black"/>
              </a:solidFill>
              <a:latin typeface="Palatino Linotype"/>
              <a:cs typeface="Palatino Linotype"/>
            </a:endParaRPr>
          </a:p>
        </p:txBody>
      </p:sp>
      <p:sp>
        <p:nvSpPr>
          <p:cNvPr id="52" name="object 19">
            <a:extLst>
              <a:ext uri="{FF2B5EF4-FFF2-40B4-BE49-F238E27FC236}">
                <a16:creationId xmlns:a16="http://schemas.microsoft.com/office/drawing/2014/main" id="{FFBE35C7-8EAA-DEB9-B5E6-4B8F62AEC4A3}"/>
              </a:ext>
            </a:extLst>
          </p:cNvPr>
          <p:cNvSpPr txBox="1"/>
          <p:nvPr/>
        </p:nvSpPr>
        <p:spPr>
          <a:xfrm>
            <a:off x="7985506" y="4276725"/>
            <a:ext cx="95885" cy="193675"/>
          </a:xfrm>
          <a:prstGeom prst="rect">
            <a:avLst/>
          </a:prstGeom>
        </p:spPr>
        <p:txBody>
          <a:bodyPr vert="horz" wrap="square" lIns="0" tIns="12700" rIns="0" bIns="0" rtlCol="0">
            <a:spAutoFit/>
          </a:bodyPr>
          <a:lstStyle/>
          <a:p>
            <a:pPr marL="12700" rtl="0">
              <a:spcBef>
                <a:spcPts val="100"/>
              </a:spcBef>
            </a:pPr>
            <a:r>
              <a:rPr sz="1100" kern="1200" dirty="0">
                <a:solidFill>
                  <a:srgbClr val="0431FF"/>
                </a:solidFill>
                <a:latin typeface="Palatino Linotype"/>
                <a:cs typeface="Palatino Linotype"/>
              </a:rPr>
              <a:t>1</a:t>
            </a:r>
            <a:endParaRPr sz="1100" kern="1200">
              <a:solidFill>
                <a:prstClr val="black"/>
              </a:solidFill>
              <a:latin typeface="Palatino Linotype"/>
              <a:cs typeface="Palatino Linotype"/>
            </a:endParaRPr>
          </a:p>
        </p:txBody>
      </p:sp>
      <p:pic>
        <p:nvPicPr>
          <p:cNvPr id="53" name="object 20">
            <a:extLst>
              <a:ext uri="{FF2B5EF4-FFF2-40B4-BE49-F238E27FC236}">
                <a16:creationId xmlns:a16="http://schemas.microsoft.com/office/drawing/2014/main" id="{4542DF4E-F230-8364-D06C-FAD15FA8823E}"/>
              </a:ext>
            </a:extLst>
          </p:cNvPr>
          <p:cNvPicPr/>
          <p:nvPr/>
        </p:nvPicPr>
        <p:blipFill>
          <a:blip r:embed="rId8" cstate="print"/>
          <a:stretch>
            <a:fillRect/>
          </a:stretch>
        </p:blipFill>
        <p:spPr>
          <a:xfrm>
            <a:off x="7389621" y="3546094"/>
            <a:ext cx="194055" cy="192531"/>
          </a:xfrm>
          <a:prstGeom prst="rect">
            <a:avLst/>
          </a:prstGeom>
        </p:spPr>
      </p:pic>
      <p:sp>
        <p:nvSpPr>
          <p:cNvPr id="54" name="object 21">
            <a:extLst>
              <a:ext uri="{FF2B5EF4-FFF2-40B4-BE49-F238E27FC236}">
                <a16:creationId xmlns:a16="http://schemas.microsoft.com/office/drawing/2014/main" id="{B63BC161-53D0-612B-6AE7-6CBAA7687F5E}"/>
              </a:ext>
            </a:extLst>
          </p:cNvPr>
          <p:cNvSpPr txBox="1"/>
          <p:nvPr/>
        </p:nvSpPr>
        <p:spPr>
          <a:xfrm>
            <a:off x="3896614" y="3352546"/>
            <a:ext cx="4706620" cy="546100"/>
          </a:xfrm>
          <a:prstGeom prst="rect">
            <a:avLst/>
          </a:prstGeom>
          <a:ln w="9525">
            <a:solidFill>
              <a:srgbClr val="000000"/>
            </a:solidFill>
          </a:ln>
        </p:spPr>
        <p:txBody>
          <a:bodyPr vert="horz" wrap="square" lIns="0" tIns="12700" rIns="0" bIns="0" rtlCol="0">
            <a:spAutoFit/>
          </a:bodyPr>
          <a:lstStyle/>
          <a:p>
            <a:pPr marL="3974465" rtl="0">
              <a:spcBef>
                <a:spcPts val="100"/>
              </a:spcBef>
            </a:pPr>
            <a:r>
              <a:rPr sz="1100" kern="1200" dirty="0">
                <a:solidFill>
                  <a:srgbClr val="0431FF"/>
                </a:solidFill>
                <a:latin typeface="Palatino Linotype"/>
                <a:cs typeface="Palatino Linotype"/>
              </a:rPr>
              <a:t>1</a:t>
            </a:r>
            <a:endParaRPr sz="1100" kern="1200">
              <a:solidFill>
                <a:prstClr val="black"/>
              </a:solidFill>
              <a:latin typeface="Palatino Linotype"/>
              <a:cs typeface="Palatino Linotype"/>
            </a:endParaRPr>
          </a:p>
          <a:p>
            <a:pPr marL="3556000" rtl="0">
              <a:spcBef>
                <a:spcPts val="145"/>
              </a:spcBef>
            </a:pPr>
            <a:r>
              <a:rPr sz="1100" kern="1200" dirty="0">
                <a:solidFill>
                  <a:srgbClr val="0431FF"/>
                </a:solidFill>
                <a:latin typeface="Palatino Linotype"/>
                <a:cs typeface="Palatino Linotype"/>
              </a:rPr>
              <a:t>2</a:t>
            </a:r>
            <a:endParaRPr sz="1100" kern="1200">
              <a:solidFill>
                <a:prstClr val="black"/>
              </a:solidFill>
              <a:latin typeface="Palatino Linotype"/>
              <a:cs typeface="Palatino Linotype"/>
            </a:endParaRPr>
          </a:p>
        </p:txBody>
      </p:sp>
      <p:pic>
        <p:nvPicPr>
          <p:cNvPr id="55" name="object 22">
            <a:extLst>
              <a:ext uri="{FF2B5EF4-FFF2-40B4-BE49-F238E27FC236}">
                <a16:creationId xmlns:a16="http://schemas.microsoft.com/office/drawing/2014/main" id="{8F0CDD9E-FB90-CEAD-FC60-AC8F2892C650}"/>
              </a:ext>
            </a:extLst>
          </p:cNvPr>
          <p:cNvPicPr/>
          <p:nvPr/>
        </p:nvPicPr>
        <p:blipFill>
          <a:blip r:embed="rId9" cstate="print"/>
          <a:stretch>
            <a:fillRect/>
          </a:stretch>
        </p:blipFill>
        <p:spPr>
          <a:xfrm>
            <a:off x="4507738" y="4021582"/>
            <a:ext cx="192532" cy="192531"/>
          </a:xfrm>
          <a:prstGeom prst="rect">
            <a:avLst/>
          </a:prstGeom>
        </p:spPr>
      </p:pic>
      <p:sp>
        <p:nvSpPr>
          <p:cNvPr id="56" name="object 23">
            <a:extLst>
              <a:ext uri="{FF2B5EF4-FFF2-40B4-BE49-F238E27FC236}">
                <a16:creationId xmlns:a16="http://schemas.microsoft.com/office/drawing/2014/main" id="{BCB55536-FD41-39FD-0392-7DE06CB2652C}"/>
              </a:ext>
            </a:extLst>
          </p:cNvPr>
          <p:cNvSpPr txBox="1"/>
          <p:nvPr/>
        </p:nvSpPr>
        <p:spPr>
          <a:xfrm>
            <a:off x="4557140" y="4013453"/>
            <a:ext cx="95885" cy="193675"/>
          </a:xfrm>
          <a:prstGeom prst="rect">
            <a:avLst/>
          </a:prstGeom>
        </p:spPr>
        <p:txBody>
          <a:bodyPr vert="horz" wrap="square" lIns="0" tIns="12700" rIns="0" bIns="0" rtlCol="0">
            <a:spAutoFit/>
          </a:bodyPr>
          <a:lstStyle/>
          <a:p>
            <a:pPr marL="12700" rtl="0">
              <a:spcBef>
                <a:spcPts val="100"/>
              </a:spcBef>
            </a:pPr>
            <a:r>
              <a:rPr sz="1100" kern="1200" dirty="0">
                <a:solidFill>
                  <a:srgbClr val="0431FF"/>
                </a:solidFill>
                <a:latin typeface="Palatino Linotype"/>
                <a:cs typeface="Palatino Linotype"/>
              </a:rPr>
              <a:t>2</a:t>
            </a:r>
            <a:endParaRPr sz="1100" kern="1200">
              <a:solidFill>
                <a:prstClr val="black"/>
              </a:solidFill>
              <a:latin typeface="Palatino Linotype"/>
              <a:cs typeface="Palatino Linotype"/>
            </a:endParaRPr>
          </a:p>
        </p:txBody>
      </p:sp>
      <p:pic>
        <p:nvPicPr>
          <p:cNvPr id="57" name="object 24">
            <a:extLst>
              <a:ext uri="{FF2B5EF4-FFF2-40B4-BE49-F238E27FC236}">
                <a16:creationId xmlns:a16="http://schemas.microsoft.com/office/drawing/2014/main" id="{A035962B-CE87-870A-35DF-0FAACE0C8555}"/>
              </a:ext>
            </a:extLst>
          </p:cNvPr>
          <p:cNvPicPr/>
          <p:nvPr/>
        </p:nvPicPr>
        <p:blipFill>
          <a:blip r:embed="rId9" cstate="print"/>
          <a:stretch>
            <a:fillRect/>
          </a:stretch>
        </p:blipFill>
        <p:spPr>
          <a:xfrm>
            <a:off x="8622538" y="3725926"/>
            <a:ext cx="192531" cy="192531"/>
          </a:xfrm>
          <a:prstGeom prst="rect">
            <a:avLst/>
          </a:prstGeom>
        </p:spPr>
      </p:pic>
      <p:sp>
        <p:nvSpPr>
          <p:cNvPr id="58" name="object 25">
            <a:extLst>
              <a:ext uri="{FF2B5EF4-FFF2-40B4-BE49-F238E27FC236}">
                <a16:creationId xmlns:a16="http://schemas.microsoft.com/office/drawing/2014/main" id="{166ABDCD-F79A-BA5F-CB63-01077BB7CFF1}"/>
              </a:ext>
            </a:extLst>
          </p:cNvPr>
          <p:cNvSpPr txBox="1"/>
          <p:nvPr/>
        </p:nvSpPr>
        <p:spPr>
          <a:xfrm>
            <a:off x="8671941" y="3716782"/>
            <a:ext cx="95885" cy="193675"/>
          </a:xfrm>
          <a:prstGeom prst="rect">
            <a:avLst/>
          </a:prstGeom>
        </p:spPr>
        <p:txBody>
          <a:bodyPr vert="horz" wrap="square" lIns="0" tIns="12700" rIns="0" bIns="0" rtlCol="0">
            <a:spAutoFit/>
          </a:bodyPr>
          <a:lstStyle/>
          <a:p>
            <a:pPr marL="12700" rtl="0">
              <a:spcBef>
                <a:spcPts val="100"/>
              </a:spcBef>
            </a:pPr>
            <a:r>
              <a:rPr sz="1100" kern="1200" dirty="0">
                <a:solidFill>
                  <a:srgbClr val="0431FF"/>
                </a:solidFill>
                <a:latin typeface="Palatino Linotype"/>
                <a:cs typeface="Palatino Linotype"/>
              </a:rPr>
              <a:t>3</a:t>
            </a:r>
            <a:endParaRPr sz="1100" kern="1200">
              <a:solidFill>
                <a:prstClr val="black"/>
              </a:solidFill>
              <a:latin typeface="Palatino Linotype"/>
              <a:cs typeface="Palatino Linotype"/>
            </a:endParaRPr>
          </a:p>
        </p:txBody>
      </p:sp>
      <p:pic>
        <p:nvPicPr>
          <p:cNvPr id="59" name="object 26">
            <a:extLst>
              <a:ext uri="{FF2B5EF4-FFF2-40B4-BE49-F238E27FC236}">
                <a16:creationId xmlns:a16="http://schemas.microsoft.com/office/drawing/2014/main" id="{6CD4628A-FA2D-9B12-81D7-77AA7C829872}"/>
              </a:ext>
            </a:extLst>
          </p:cNvPr>
          <p:cNvPicPr/>
          <p:nvPr/>
        </p:nvPicPr>
        <p:blipFill>
          <a:blip r:embed="rId10" cstate="print"/>
          <a:stretch>
            <a:fillRect/>
          </a:stretch>
        </p:blipFill>
        <p:spPr>
          <a:xfrm>
            <a:off x="1906270" y="4131309"/>
            <a:ext cx="192531" cy="192531"/>
          </a:xfrm>
          <a:prstGeom prst="rect">
            <a:avLst/>
          </a:prstGeom>
        </p:spPr>
      </p:pic>
      <p:sp>
        <p:nvSpPr>
          <p:cNvPr id="60" name="object 27">
            <a:extLst>
              <a:ext uri="{FF2B5EF4-FFF2-40B4-BE49-F238E27FC236}">
                <a16:creationId xmlns:a16="http://schemas.microsoft.com/office/drawing/2014/main" id="{AC66E5A1-792C-7637-529B-55505D520BC7}"/>
              </a:ext>
            </a:extLst>
          </p:cNvPr>
          <p:cNvSpPr txBox="1"/>
          <p:nvPr/>
        </p:nvSpPr>
        <p:spPr>
          <a:xfrm>
            <a:off x="1955673" y="4123435"/>
            <a:ext cx="95885" cy="193675"/>
          </a:xfrm>
          <a:prstGeom prst="rect">
            <a:avLst/>
          </a:prstGeom>
        </p:spPr>
        <p:txBody>
          <a:bodyPr vert="horz" wrap="square" lIns="0" tIns="12700" rIns="0" bIns="0" rtlCol="0">
            <a:spAutoFit/>
          </a:bodyPr>
          <a:lstStyle/>
          <a:p>
            <a:pPr marL="12700" rtl="0">
              <a:spcBef>
                <a:spcPts val="100"/>
              </a:spcBef>
            </a:pPr>
            <a:r>
              <a:rPr sz="1100" kern="1200" dirty="0">
                <a:solidFill>
                  <a:srgbClr val="0431FF"/>
                </a:solidFill>
                <a:latin typeface="Palatino Linotype"/>
                <a:cs typeface="Palatino Linotype"/>
              </a:rPr>
              <a:t>3</a:t>
            </a:r>
            <a:endParaRPr sz="1100" kern="1200">
              <a:solidFill>
                <a:prstClr val="black"/>
              </a:solidFill>
              <a:latin typeface="Palatino Linotype"/>
              <a:cs typeface="Palatino Linotype"/>
            </a:endParaRPr>
          </a:p>
        </p:txBody>
      </p:sp>
      <p:grpSp>
        <p:nvGrpSpPr>
          <p:cNvPr id="61" name="object 28">
            <a:extLst>
              <a:ext uri="{FF2B5EF4-FFF2-40B4-BE49-F238E27FC236}">
                <a16:creationId xmlns:a16="http://schemas.microsoft.com/office/drawing/2014/main" id="{60589A52-6ECE-9597-05D3-454F8537D84C}"/>
              </a:ext>
            </a:extLst>
          </p:cNvPr>
          <p:cNvGrpSpPr/>
          <p:nvPr/>
        </p:nvGrpSpPr>
        <p:grpSpPr>
          <a:xfrm>
            <a:off x="3253485" y="4311141"/>
            <a:ext cx="666750" cy="605790"/>
            <a:chOff x="3253485" y="4311141"/>
            <a:chExt cx="666750" cy="605790"/>
          </a:xfrm>
        </p:grpSpPr>
        <p:sp>
          <p:nvSpPr>
            <p:cNvPr id="62" name="object 29">
              <a:extLst>
                <a:ext uri="{FF2B5EF4-FFF2-40B4-BE49-F238E27FC236}">
                  <a16:creationId xmlns:a16="http://schemas.microsoft.com/office/drawing/2014/main" id="{EE8A440E-7257-0FD8-72F1-8A31F090EB14}"/>
                </a:ext>
              </a:extLst>
            </p:cNvPr>
            <p:cNvSpPr/>
            <p:nvPr/>
          </p:nvSpPr>
          <p:spPr>
            <a:xfrm>
              <a:off x="3259835" y="4317491"/>
              <a:ext cx="541020" cy="318770"/>
            </a:xfrm>
            <a:custGeom>
              <a:avLst/>
              <a:gdLst/>
              <a:ahLst/>
              <a:cxnLst/>
              <a:rect l="l" t="t" r="r" b="b"/>
              <a:pathLst>
                <a:path w="541020" h="318770">
                  <a:moveTo>
                    <a:pt x="0" y="159257"/>
                  </a:moveTo>
                  <a:lnTo>
                    <a:pt x="27503" y="89196"/>
                  </a:lnTo>
                  <a:lnTo>
                    <a:pt x="59442" y="59627"/>
                  </a:lnTo>
                  <a:lnTo>
                    <a:pt x="101339" y="34969"/>
                  </a:lnTo>
                  <a:lnTo>
                    <a:pt x="151566" y="16177"/>
                  </a:lnTo>
                  <a:lnTo>
                    <a:pt x="208499" y="4203"/>
                  </a:lnTo>
                  <a:lnTo>
                    <a:pt x="270510" y="0"/>
                  </a:lnTo>
                  <a:lnTo>
                    <a:pt x="332520" y="4203"/>
                  </a:lnTo>
                  <a:lnTo>
                    <a:pt x="389453" y="16177"/>
                  </a:lnTo>
                  <a:lnTo>
                    <a:pt x="439680" y="34969"/>
                  </a:lnTo>
                  <a:lnTo>
                    <a:pt x="481577" y="59627"/>
                  </a:lnTo>
                  <a:lnTo>
                    <a:pt x="513516" y="89196"/>
                  </a:lnTo>
                  <a:lnTo>
                    <a:pt x="533873" y="122724"/>
                  </a:lnTo>
                  <a:lnTo>
                    <a:pt x="541019" y="159257"/>
                  </a:lnTo>
                  <a:lnTo>
                    <a:pt x="533873" y="195791"/>
                  </a:lnTo>
                  <a:lnTo>
                    <a:pt x="513516" y="229319"/>
                  </a:lnTo>
                  <a:lnTo>
                    <a:pt x="481577" y="258888"/>
                  </a:lnTo>
                  <a:lnTo>
                    <a:pt x="439680" y="283546"/>
                  </a:lnTo>
                  <a:lnTo>
                    <a:pt x="389453" y="302338"/>
                  </a:lnTo>
                  <a:lnTo>
                    <a:pt x="332520" y="314312"/>
                  </a:lnTo>
                  <a:lnTo>
                    <a:pt x="270510" y="318515"/>
                  </a:lnTo>
                  <a:lnTo>
                    <a:pt x="208499" y="314312"/>
                  </a:lnTo>
                  <a:lnTo>
                    <a:pt x="151566" y="302338"/>
                  </a:lnTo>
                  <a:lnTo>
                    <a:pt x="101339" y="283546"/>
                  </a:lnTo>
                  <a:lnTo>
                    <a:pt x="59442" y="258888"/>
                  </a:lnTo>
                  <a:lnTo>
                    <a:pt x="27503" y="229319"/>
                  </a:lnTo>
                  <a:lnTo>
                    <a:pt x="7146" y="195791"/>
                  </a:lnTo>
                  <a:lnTo>
                    <a:pt x="0" y="159257"/>
                  </a:lnTo>
                  <a:close/>
                </a:path>
              </a:pathLst>
            </a:custGeom>
            <a:ln w="12699">
              <a:solidFill>
                <a:srgbClr val="0431FF"/>
              </a:solidFill>
              <a:prstDash val="sysDash"/>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63" name="object 30">
              <a:extLst>
                <a:ext uri="{FF2B5EF4-FFF2-40B4-BE49-F238E27FC236}">
                  <a16:creationId xmlns:a16="http://schemas.microsoft.com/office/drawing/2014/main" id="{6C25F2B8-A3A1-C4D9-4B50-6765BA652ABD}"/>
                </a:ext>
              </a:extLst>
            </p:cNvPr>
            <p:cNvPicPr/>
            <p:nvPr/>
          </p:nvPicPr>
          <p:blipFill>
            <a:blip r:embed="rId6" cstate="print"/>
            <a:stretch>
              <a:fillRect/>
            </a:stretch>
          </p:blipFill>
          <p:spPr>
            <a:xfrm>
              <a:off x="3727449" y="4724145"/>
              <a:ext cx="192532" cy="192531"/>
            </a:xfrm>
            <a:prstGeom prst="rect">
              <a:avLst/>
            </a:prstGeom>
          </p:spPr>
        </p:pic>
      </p:grpSp>
      <p:sp>
        <p:nvSpPr>
          <p:cNvPr id="64" name="object 31">
            <a:extLst>
              <a:ext uri="{FF2B5EF4-FFF2-40B4-BE49-F238E27FC236}">
                <a16:creationId xmlns:a16="http://schemas.microsoft.com/office/drawing/2014/main" id="{B3923A66-9387-C55A-5912-FA29D6E138D6}"/>
              </a:ext>
            </a:extLst>
          </p:cNvPr>
          <p:cNvSpPr txBox="1"/>
          <p:nvPr/>
        </p:nvSpPr>
        <p:spPr>
          <a:xfrm>
            <a:off x="3776598" y="4715383"/>
            <a:ext cx="95885" cy="193675"/>
          </a:xfrm>
          <a:prstGeom prst="rect">
            <a:avLst/>
          </a:prstGeom>
        </p:spPr>
        <p:txBody>
          <a:bodyPr vert="horz" wrap="square" lIns="0" tIns="12700" rIns="0" bIns="0" rtlCol="0">
            <a:spAutoFit/>
          </a:bodyPr>
          <a:lstStyle/>
          <a:p>
            <a:pPr marL="12700" rtl="0">
              <a:spcBef>
                <a:spcPts val="100"/>
              </a:spcBef>
            </a:pPr>
            <a:r>
              <a:rPr sz="1100" kern="1200" dirty="0">
                <a:solidFill>
                  <a:srgbClr val="0431FF"/>
                </a:solidFill>
                <a:latin typeface="Palatino Linotype"/>
                <a:cs typeface="Palatino Linotype"/>
              </a:rPr>
              <a:t>3</a:t>
            </a:r>
            <a:endParaRPr sz="1100" kern="1200">
              <a:solidFill>
                <a:prstClr val="black"/>
              </a:solidFill>
              <a:latin typeface="Palatino Linotype"/>
              <a:cs typeface="Palatino Linotype"/>
            </a:endParaRPr>
          </a:p>
        </p:txBody>
      </p:sp>
    </p:spTree>
    <p:extLst>
      <p:ext uri="{BB962C8B-B14F-4D97-AF65-F5344CB8AC3E}">
        <p14:creationId xmlns:p14="http://schemas.microsoft.com/office/powerpoint/2010/main" val="216657411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lang="en-US"/>
          </a:p>
        </p:txBody>
      </p:sp>
      <p:sp>
        <p:nvSpPr>
          <p:cNvPr id="4" name="页脚占位符 3"/>
          <p:cNvSpPr>
            <a:spLocks noGrp="1"/>
          </p:cNvSpPr>
          <p:nvPr>
            <p:ph type="ftr" sz="quarter" idx="11"/>
          </p:nvPr>
        </p:nvSpPr>
        <p:spPr bwMode="auto"/>
        <p:txBody>
          <a:bodyPr/>
          <a:lstStyle/>
          <a:p>
            <a:pPr>
              <a:defRPr/>
            </a:pPr>
            <a:r>
              <a:rPr lang="en-US"/>
              <a:t>BUPT Compilers</a:t>
            </a: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108</a:t>
            </a:fld>
            <a:endParaRPr lang="en-US"/>
          </a:p>
        </p:txBody>
      </p:sp>
      <p:sp>
        <p:nvSpPr>
          <p:cNvPr id="34" name="object 2">
            <a:extLst>
              <a:ext uri="{FF2B5EF4-FFF2-40B4-BE49-F238E27FC236}">
                <a16:creationId xmlns:a16="http://schemas.microsoft.com/office/drawing/2014/main" id="{79E9F1BC-111A-1EED-04F1-377C73FC57A3}"/>
              </a:ext>
            </a:extLst>
          </p:cNvPr>
          <p:cNvSpPr txBox="1">
            <a:spLocks/>
          </p:cNvSpPr>
          <p:nvPr/>
        </p:nvSpPr>
        <p:spPr>
          <a:xfrm>
            <a:off x="707542" y="538429"/>
            <a:ext cx="7632065" cy="605790"/>
          </a:xfrm>
          <a:prstGeom prst="rect">
            <a:avLst/>
          </a:prstGeom>
        </p:spPr>
        <p:txBody>
          <a:bodyPr vert="horz" wrap="square" lIns="0" tIns="13335"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5"/>
              </a:spcBef>
              <a:spcAft>
                <a:spcPts val="0"/>
              </a:spcAft>
              <a:buClrTx/>
              <a:buSzTx/>
              <a:buFontTx/>
              <a:buNone/>
              <a:tabLst/>
              <a:defRPr/>
            </a:pPr>
            <a:r>
              <a:rPr kumimoji="0" lang="en-US" sz="3800" b="1" i="0" u="none" strike="noStrike" kern="0" cap="none" spc="5" normalizeH="0" baseline="0" noProof="0">
                <a:ln>
                  <a:noFill/>
                </a:ln>
                <a:solidFill>
                  <a:sysClr val="windowText" lastClr="000000"/>
                </a:solidFill>
                <a:effectLst/>
                <a:uLnTx/>
                <a:uFillTx/>
                <a:latin typeface="Palatino Linotype"/>
                <a:ea typeface="+mj-ea"/>
              </a:rPr>
              <a:t>Example</a:t>
            </a:r>
            <a:r>
              <a:rPr kumimoji="0" lang="en-US" sz="3800" b="1" i="0" u="none" strike="noStrike" kern="0" cap="none" spc="-55"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a:t>
            </a:r>
            <a:r>
              <a:rPr kumimoji="0" lang="en-US" sz="3800" b="1" i="0" u="none" strike="noStrike" kern="0" cap="none" spc="-5" normalizeH="0" baseline="0" noProof="0">
                <a:ln>
                  <a:noFill/>
                </a:ln>
                <a:solidFill>
                  <a:sysClr val="windowText" lastClr="000000"/>
                </a:solidFill>
                <a:effectLst/>
                <a:uLnTx/>
                <a:uFillTx/>
                <a:latin typeface="Palatino Linotype"/>
                <a:ea typeface="+mj-ea"/>
              </a:rPr>
              <a:t> Boolean</a:t>
            </a:r>
            <a:r>
              <a:rPr kumimoji="0" lang="en-US" sz="3800" b="1" i="0" u="none" strike="noStrike" kern="0" cap="none" spc="-30"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Expressions</a:t>
            </a:r>
            <a:r>
              <a:rPr kumimoji="0" lang="en-US" sz="3800" b="1" i="0" u="none" strike="noStrike" kern="0" cap="none" spc="-45" normalizeH="0" baseline="0" noProof="0">
                <a:ln>
                  <a:noFill/>
                </a:ln>
                <a:solidFill>
                  <a:sysClr val="windowText" lastClr="000000"/>
                </a:solidFill>
                <a:effectLst/>
                <a:uLnTx/>
                <a:uFillTx/>
                <a:latin typeface="Palatino Linotype"/>
                <a:ea typeface="+mj-ea"/>
              </a:rPr>
              <a:t> </a:t>
            </a:r>
            <a:r>
              <a:rPr kumimoji="0" lang="en-US" sz="3800" b="1" i="0" u="none" strike="noStrike" kern="0" cap="none" spc="0" normalizeH="0" baseline="0" noProof="0">
                <a:ln>
                  <a:noFill/>
                </a:ln>
                <a:solidFill>
                  <a:sysClr val="windowText" lastClr="000000"/>
                </a:solidFill>
                <a:effectLst/>
                <a:uLnTx/>
                <a:uFillTx/>
                <a:latin typeface="Palatino Linotype"/>
                <a:ea typeface="+mj-ea"/>
              </a:rPr>
              <a:t>(5)</a:t>
            </a:r>
          </a:p>
        </p:txBody>
      </p:sp>
      <p:sp>
        <p:nvSpPr>
          <p:cNvPr id="35" name="object 3">
            <a:extLst>
              <a:ext uri="{FF2B5EF4-FFF2-40B4-BE49-F238E27FC236}">
                <a16:creationId xmlns:a16="http://schemas.microsoft.com/office/drawing/2014/main" id="{635EF6AE-40E8-1E1E-DD25-C796C8A4373A}"/>
              </a:ext>
            </a:extLst>
          </p:cNvPr>
          <p:cNvSpPr txBox="1"/>
          <p:nvPr/>
        </p:nvSpPr>
        <p:spPr>
          <a:xfrm>
            <a:off x="656742" y="1653667"/>
            <a:ext cx="6001385" cy="934230"/>
          </a:xfrm>
          <a:prstGeom prst="rect">
            <a:avLst/>
          </a:prstGeom>
        </p:spPr>
        <p:txBody>
          <a:bodyPr vert="horz" wrap="square" lIns="0" tIns="13335" rIns="0" bIns="0" rtlCol="0">
            <a:spAutoFit/>
          </a:bodyPr>
          <a:lstStyle/>
          <a:p>
            <a:pPr marL="293370" indent="-230504" rtl="0">
              <a:spcBef>
                <a:spcPts val="105"/>
              </a:spcBef>
              <a:buFont typeface="Arial MT"/>
              <a:buChar char="•"/>
              <a:tabLst>
                <a:tab pos="293370" algn="l"/>
                <a:tab pos="294005" algn="l"/>
                <a:tab pos="2860040" algn="l"/>
              </a:tabLst>
            </a:pPr>
            <a:r>
              <a:rPr sz="2000" kern="1200" dirty="0">
                <a:solidFill>
                  <a:prstClr val="black"/>
                </a:solidFill>
                <a:latin typeface="Palatino Linotype"/>
                <a:cs typeface="Palatino Linotype"/>
              </a:rPr>
              <a:t>Boolean</a:t>
            </a:r>
            <a:r>
              <a:rPr sz="2000" kern="1200" spc="-20" dirty="0">
                <a:solidFill>
                  <a:prstClr val="black"/>
                </a:solidFill>
                <a:latin typeface="Palatino Linotype"/>
                <a:cs typeface="Palatino Linotype"/>
              </a:rPr>
              <a:t> </a:t>
            </a:r>
            <a:r>
              <a:rPr sz="2000" kern="1200" dirty="0">
                <a:solidFill>
                  <a:prstClr val="black"/>
                </a:solidFill>
                <a:latin typeface="Palatino Linotype"/>
                <a:cs typeface="Palatino Linotype"/>
              </a:rPr>
              <a:t>expression:</a:t>
            </a:r>
            <a:r>
              <a:rPr sz="2000" kern="1200" spc="5" dirty="0">
                <a:solidFill>
                  <a:prstClr val="black"/>
                </a:solidFill>
                <a:latin typeface="Palatino Linotype"/>
                <a:cs typeface="Palatino Linotype"/>
              </a:rPr>
              <a:t> </a:t>
            </a:r>
            <a:r>
              <a:rPr sz="2000" kern="1200" dirty="0">
                <a:solidFill>
                  <a:schemeClr val="bg2">
                    <a:lumMod val="50000"/>
                  </a:schemeClr>
                </a:solidFill>
                <a:latin typeface="Cambria Math"/>
                <a:cs typeface="Cambria Math"/>
              </a:rPr>
              <a:t>𝑥	&lt;</a:t>
            </a:r>
            <a:r>
              <a:rPr sz="2000" kern="1200" spc="540" dirty="0">
                <a:solidFill>
                  <a:schemeClr val="bg2">
                    <a:lumMod val="50000"/>
                  </a:schemeClr>
                </a:solidFill>
                <a:latin typeface="Cambria Math"/>
                <a:cs typeface="Cambria Math"/>
              </a:rPr>
              <a:t> </a:t>
            </a:r>
            <a:r>
              <a:rPr sz="2000" kern="1200" spc="-5" dirty="0">
                <a:solidFill>
                  <a:schemeClr val="bg2">
                    <a:lumMod val="50000"/>
                  </a:schemeClr>
                </a:solidFill>
                <a:latin typeface="Cambria Math"/>
                <a:cs typeface="Cambria Math"/>
              </a:rPr>
              <a:t>100</a:t>
            </a:r>
            <a:r>
              <a:rPr sz="2000" kern="1200" spc="114"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a:t>
            </a:r>
            <a:r>
              <a:rPr sz="2000" kern="1200" spc="100"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𝑥</a:t>
            </a:r>
            <a:r>
              <a:rPr sz="2000" kern="1200" spc="165"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&gt;</a:t>
            </a:r>
            <a:r>
              <a:rPr sz="2000" kern="1200" spc="114" dirty="0">
                <a:solidFill>
                  <a:schemeClr val="bg2">
                    <a:lumMod val="50000"/>
                  </a:schemeClr>
                </a:solidFill>
                <a:latin typeface="Cambria Math"/>
                <a:cs typeface="Cambria Math"/>
              </a:rPr>
              <a:t> </a:t>
            </a:r>
            <a:r>
              <a:rPr sz="2000" kern="1200" spc="-5" dirty="0">
                <a:solidFill>
                  <a:schemeClr val="bg2">
                    <a:lumMod val="50000"/>
                  </a:schemeClr>
                </a:solidFill>
                <a:latin typeface="Cambria Math"/>
                <a:cs typeface="Cambria Math"/>
              </a:rPr>
              <a:t>200</a:t>
            </a:r>
            <a:r>
              <a:rPr sz="2000" kern="1200" spc="15"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&amp;&amp;</a:t>
            </a:r>
            <a:r>
              <a:rPr sz="2000" kern="1200" spc="-10"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𝑥</a:t>
            </a:r>
            <a:r>
              <a:rPr sz="2000" kern="1200" spc="35"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a:t>
            </a:r>
            <a:r>
              <a:rPr sz="2000" kern="1200" spc="110"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a:t>
            </a:r>
            <a:r>
              <a:rPr sz="2000" kern="1200" spc="105" dirty="0">
                <a:solidFill>
                  <a:schemeClr val="bg2">
                    <a:lumMod val="50000"/>
                  </a:schemeClr>
                </a:solidFill>
                <a:latin typeface="Cambria Math"/>
                <a:cs typeface="Cambria Math"/>
              </a:rPr>
              <a:t> </a:t>
            </a:r>
            <a:r>
              <a:rPr sz="2000" kern="1200" dirty="0">
                <a:solidFill>
                  <a:schemeClr val="bg2">
                    <a:lumMod val="50000"/>
                  </a:schemeClr>
                </a:solidFill>
                <a:latin typeface="Cambria Math"/>
                <a:cs typeface="Cambria Math"/>
              </a:rPr>
              <a:t>𝑦</a:t>
            </a:r>
          </a:p>
          <a:p>
            <a:pPr rtl="0">
              <a:spcBef>
                <a:spcPts val="50"/>
              </a:spcBef>
              <a:buFont typeface="Arial MT"/>
              <a:buChar char="•"/>
            </a:pPr>
            <a:endParaRPr sz="1900" kern="1200" dirty="0">
              <a:solidFill>
                <a:prstClr val="black"/>
              </a:solidFill>
              <a:latin typeface="Cambria Math"/>
              <a:cs typeface="Cambria Math"/>
            </a:endParaRPr>
          </a:p>
          <a:p>
            <a:pPr marL="293370" indent="-230504" rtl="0">
              <a:buClr>
                <a:srgbClr val="000000"/>
              </a:buClr>
              <a:buFont typeface="Arial MT"/>
              <a:buChar char="•"/>
              <a:tabLst>
                <a:tab pos="293370" algn="l"/>
                <a:tab pos="294005" algn="l"/>
                <a:tab pos="2357120" algn="l"/>
              </a:tabLst>
            </a:pPr>
            <a:r>
              <a:rPr sz="2000" b="1" kern="1200" dirty="0">
                <a:solidFill>
                  <a:srgbClr val="0431FF"/>
                </a:solidFill>
                <a:latin typeface="Palatino Linotype"/>
                <a:cs typeface="Palatino Linotype"/>
              </a:rPr>
              <a:t>Step</a:t>
            </a:r>
            <a:r>
              <a:rPr sz="2000" b="1" kern="1200" spc="-15" dirty="0">
                <a:solidFill>
                  <a:srgbClr val="0431FF"/>
                </a:solidFill>
                <a:latin typeface="Palatino Linotype"/>
                <a:cs typeface="Palatino Linotype"/>
              </a:rPr>
              <a:t> </a:t>
            </a:r>
            <a:r>
              <a:rPr sz="2000" b="1" kern="1200" dirty="0">
                <a:solidFill>
                  <a:srgbClr val="0431FF"/>
                </a:solidFill>
                <a:latin typeface="Palatino Linotype"/>
                <a:cs typeface="Palatino Linotype"/>
              </a:rPr>
              <a:t>7:</a:t>
            </a:r>
            <a:r>
              <a:rPr sz="2000" b="1" kern="1200" spc="15" dirty="0">
                <a:solidFill>
                  <a:srgbClr val="0431FF"/>
                </a:solidFill>
                <a:latin typeface="Palatino Linotype"/>
                <a:cs typeface="Palatino Linotype"/>
              </a:rPr>
              <a:t> </a:t>
            </a:r>
            <a:r>
              <a:rPr sz="2000" kern="1200" dirty="0">
                <a:solidFill>
                  <a:prstClr val="black"/>
                </a:solidFill>
                <a:latin typeface="Palatino Linotype"/>
                <a:cs typeface="Palatino Linotype"/>
              </a:rPr>
              <a:t>reduce</a:t>
            </a:r>
            <a:r>
              <a:rPr sz="2000" kern="1200" spc="5" dirty="0">
                <a:solidFill>
                  <a:prstClr val="black"/>
                </a:solidFill>
                <a:latin typeface="Palatino Linotype"/>
                <a:cs typeface="Palatino Linotype"/>
              </a:rPr>
              <a:t> </a:t>
            </a:r>
            <a:r>
              <a:rPr sz="2000" kern="1200" spc="-45" dirty="0">
                <a:solidFill>
                  <a:prstClr val="black"/>
                </a:solidFill>
                <a:latin typeface="Cambria Math"/>
                <a:cs typeface="Cambria Math"/>
              </a:rPr>
              <a:t>𝐵</a:t>
            </a:r>
            <a:r>
              <a:rPr sz="2175" kern="1200" spc="-67" baseline="-15325" dirty="0">
                <a:solidFill>
                  <a:prstClr val="black"/>
                </a:solidFill>
                <a:latin typeface="Cambria Math"/>
                <a:cs typeface="Cambria Math"/>
              </a:rPr>
              <a:t>1	</a:t>
            </a:r>
            <a:r>
              <a:rPr sz="2000" kern="1200" dirty="0">
                <a:solidFill>
                  <a:prstClr val="black"/>
                </a:solidFill>
                <a:latin typeface="Cambria Math"/>
                <a:cs typeface="Cambria Math"/>
              </a:rPr>
              <a:t>∥</a:t>
            </a:r>
            <a:r>
              <a:rPr sz="2000" kern="1200" spc="100" dirty="0">
                <a:solidFill>
                  <a:prstClr val="black"/>
                </a:solidFill>
                <a:latin typeface="Cambria Math"/>
                <a:cs typeface="Cambria Math"/>
              </a:rPr>
              <a:t> </a:t>
            </a:r>
            <a:r>
              <a:rPr sz="2000" kern="1200" dirty="0">
                <a:solidFill>
                  <a:prstClr val="black"/>
                </a:solidFill>
                <a:latin typeface="Cambria Math"/>
                <a:cs typeface="Cambria Math"/>
              </a:rPr>
              <a:t>𝑀𝐵</a:t>
            </a:r>
            <a:r>
              <a:rPr sz="2175" kern="1200" baseline="-15325" dirty="0">
                <a:solidFill>
                  <a:prstClr val="black"/>
                </a:solidFill>
                <a:latin typeface="Cambria Math"/>
                <a:cs typeface="Cambria Math"/>
              </a:rPr>
              <a:t>2</a:t>
            </a:r>
            <a:r>
              <a:rPr sz="2175" kern="1200" spc="375" baseline="-15325" dirty="0">
                <a:solidFill>
                  <a:prstClr val="black"/>
                </a:solidFill>
                <a:latin typeface="Cambria Math"/>
                <a:cs typeface="Cambria Math"/>
              </a:rPr>
              <a:t> </a:t>
            </a:r>
            <a:r>
              <a:rPr sz="2000" kern="1200" spc="-5" dirty="0">
                <a:solidFill>
                  <a:prstClr val="black"/>
                </a:solidFill>
                <a:latin typeface="Palatino Linotype"/>
                <a:cs typeface="Palatino Linotype"/>
              </a:rPr>
              <a:t>to</a:t>
            </a:r>
            <a:r>
              <a:rPr sz="2000" kern="1200" spc="-20" dirty="0">
                <a:solidFill>
                  <a:prstClr val="black"/>
                </a:solidFill>
                <a:latin typeface="Palatino Linotype"/>
                <a:cs typeface="Palatino Linotype"/>
              </a:rPr>
              <a:t> </a:t>
            </a:r>
            <a:r>
              <a:rPr sz="2000" kern="1200" dirty="0">
                <a:solidFill>
                  <a:prstClr val="black"/>
                </a:solidFill>
                <a:latin typeface="Cambria Math"/>
                <a:cs typeface="Cambria Math"/>
              </a:rPr>
              <a:t>𝐵</a:t>
            </a:r>
            <a:r>
              <a:rPr sz="2000" kern="1200" spc="110" dirty="0">
                <a:solidFill>
                  <a:prstClr val="black"/>
                </a:solidFill>
                <a:latin typeface="Cambria Math"/>
                <a:cs typeface="Cambria Math"/>
              </a:rPr>
              <a:t> </a:t>
            </a:r>
            <a:r>
              <a:rPr sz="2000" kern="1200" spc="-5" dirty="0">
                <a:solidFill>
                  <a:prstClr val="black"/>
                </a:solidFill>
                <a:latin typeface="Palatino Linotype"/>
                <a:cs typeface="Palatino Linotype"/>
              </a:rPr>
              <a:t>by production</a:t>
            </a:r>
            <a:r>
              <a:rPr sz="2000" kern="1200" spc="-45" dirty="0">
                <a:solidFill>
                  <a:prstClr val="black"/>
                </a:solidFill>
                <a:latin typeface="Palatino Linotype"/>
                <a:cs typeface="Palatino Linotype"/>
              </a:rPr>
              <a:t> </a:t>
            </a:r>
            <a:r>
              <a:rPr sz="2000" kern="1200" dirty="0">
                <a:solidFill>
                  <a:prstClr val="black"/>
                </a:solidFill>
                <a:latin typeface="Palatino Linotype"/>
                <a:cs typeface="Palatino Linotype"/>
              </a:rPr>
              <a:t>(1)</a:t>
            </a:r>
          </a:p>
        </p:txBody>
      </p:sp>
      <p:grpSp>
        <p:nvGrpSpPr>
          <p:cNvPr id="36" name="object 4">
            <a:extLst>
              <a:ext uri="{FF2B5EF4-FFF2-40B4-BE49-F238E27FC236}">
                <a16:creationId xmlns:a16="http://schemas.microsoft.com/office/drawing/2014/main" id="{085C96D3-1D77-38FC-0E8A-483EED94A77B}"/>
              </a:ext>
            </a:extLst>
          </p:cNvPr>
          <p:cNvGrpSpPr/>
          <p:nvPr/>
        </p:nvGrpSpPr>
        <p:grpSpPr>
          <a:xfrm>
            <a:off x="891286" y="3229370"/>
            <a:ext cx="7707630" cy="1891664"/>
            <a:chOff x="891286" y="3229370"/>
            <a:chExt cx="7707630" cy="1891664"/>
          </a:xfrm>
        </p:grpSpPr>
        <p:pic>
          <p:nvPicPr>
            <p:cNvPr id="37" name="object 5">
              <a:extLst>
                <a:ext uri="{FF2B5EF4-FFF2-40B4-BE49-F238E27FC236}">
                  <a16:creationId xmlns:a16="http://schemas.microsoft.com/office/drawing/2014/main" id="{D36A3578-D653-6994-5A46-21E73EA680D6}"/>
                </a:ext>
              </a:extLst>
            </p:cNvPr>
            <p:cNvPicPr/>
            <p:nvPr/>
          </p:nvPicPr>
          <p:blipFill>
            <a:blip r:embed="rId3" cstate="print"/>
            <a:stretch>
              <a:fillRect/>
            </a:stretch>
          </p:blipFill>
          <p:spPr>
            <a:xfrm>
              <a:off x="1048689" y="3229370"/>
              <a:ext cx="3648175" cy="1891184"/>
            </a:xfrm>
            <a:prstGeom prst="rect">
              <a:avLst/>
            </a:prstGeom>
          </p:spPr>
        </p:pic>
        <p:pic>
          <p:nvPicPr>
            <p:cNvPr id="38" name="object 6">
              <a:extLst>
                <a:ext uri="{FF2B5EF4-FFF2-40B4-BE49-F238E27FC236}">
                  <a16:creationId xmlns:a16="http://schemas.microsoft.com/office/drawing/2014/main" id="{09817D82-67EE-95C5-A157-B4464D96C0D4}"/>
                </a:ext>
              </a:extLst>
            </p:cNvPr>
            <p:cNvPicPr/>
            <p:nvPr/>
          </p:nvPicPr>
          <p:blipFill>
            <a:blip r:embed="rId4" cstate="print"/>
            <a:stretch>
              <a:fillRect/>
            </a:stretch>
          </p:blipFill>
          <p:spPr>
            <a:xfrm>
              <a:off x="4058412" y="3270504"/>
              <a:ext cx="4539995" cy="605028"/>
            </a:xfrm>
            <a:prstGeom prst="rect">
              <a:avLst/>
            </a:prstGeom>
          </p:spPr>
        </p:pic>
        <p:sp>
          <p:nvSpPr>
            <p:cNvPr id="39" name="object 7">
              <a:extLst>
                <a:ext uri="{FF2B5EF4-FFF2-40B4-BE49-F238E27FC236}">
                  <a16:creationId xmlns:a16="http://schemas.microsoft.com/office/drawing/2014/main" id="{E7E88E13-3C83-A508-69DE-B1908B86937C}"/>
                </a:ext>
              </a:extLst>
            </p:cNvPr>
            <p:cNvSpPr/>
            <p:nvPr/>
          </p:nvSpPr>
          <p:spPr>
            <a:xfrm>
              <a:off x="897636" y="3872484"/>
              <a:ext cx="916305" cy="666115"/>
            </a:xfrm>
            <a:custGeom>
              <a:avLst/>
              <a:gdLst/>
              <a:ahLst/>
              <a:cxnLst/>
              <a:rect l="l" t="t" r="r" b="b"/>
              <a:pathLst>
                <a:path w="916305" h="666114">
                  <a:moveTo>
                    <a:pt x="0" y="665988"/>
                  </a:moveTo>
                  <a:lnTo>
                    <a:pt x="915924" y="665988"/>
                  </a:lnTo>
                  <a:lnTo>
                    <a:pt x="915924" y="0"/>
                  </a:lnTo>
                  <a:lnTo>
                    <a:pt x="0" y="0"/>
                  </a:lnTo>
                  <a:lnTo>
                    <a:pt x="0" y="665988"/>
                  </a:lnTo>
                  <a:close/>
                </a:path>
              </a:pathLst>
            </a:custGeom>
            <a:ln w="12700">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grpSp>
      <p:sp>
        <p:nvSpPr>
          <p:cNvPr id="40" name="object 8">
            <a:extLst>
              <a:ext uri="{FF2B5EF4-FFF2-40B4-BE49-F238E27FC236}">
                <a16:creationId xmlns:a16="http://schemas.microsoft.com/office/drawing/2014/main" id="{68051BAA-D8B9-9018-2752-AEBE7AA99156}"/>
              </a:ext>
            </a:extLst>
          </p:cNvPr>
          <p:cNvSpPr txBox="1"/>
          <p:nvPr/>
        </p:nvSpPr>
        <p:spPr>
          <a:xfrm>
            <a:off x="1209446" y="4569409"/>
            <a:ext cx="280670" cy="269240"/>
          </a:xfrm>
          <a:prstGeom prst="rect">
            <a:avLst/>
          </a:prstGeom>
        </p:spPr>
        <p:txBody>
          <a:bodyPr vert="horz" wrap="square" lIns="0" tIns="12065" rIns="0" bIns="0" rtlCol="0">
            <a:spAutoFit/>
          </a:bodyPr>
          <a:lstStyle/>
          <a:p>
            <a:pPr marL="38100" rtl="0">
              <a:spcBef>
                <a:spcPts val="95"/>
              </a:spcBef>
            </a:pPr>
            <a:r>
              <a:rPr sz="1600" kern="1200" spc="-40" dirty="0">
                <a:solidFill>
                  <a:srgbClr val="FF0000"/>
                </a:solidFill>
                <a:latin typeface="Cambria Math"/>
                <a:cs typeface="Cambria Math"/>
              </a:rPr>
              <a:t>𝐵</a:t>
            </a:r>
            <a:r>
              <a:rPr sz="1725" kern="1200" spc="-60" baseline="-16908" dirty="0">
                <a:solidFill>
                  <a:srgbClr val="FF0000"/>
                </a:solidFill>
                <a:latin typeface="Cambria Math"/>
                <a:cs typeface="Cambria Math"/>
              </a:rPr>
              <a:t>1</a:t>
            </a:r>
            <a:endParaRPr sz="1725" kern="1200" baseline="-16908">
              <a:solidFill>
                <a:prstClr val="black"/>
              </a:solidFill>
              <a:latin typeface="Cambria Math"/>
              <a:cs typeface="Cambria Math"/>
            </a:endParaRPr>
          </a:p>
        </p:txBody>
      </p:sp>
      <p:sp>
        <p:nvSpPr>
          <p:cNvPr id="41" name="object 9">
            <a:extLst>
              <a:ext uri="{FF2B5EF4-FFF2-40B4-BE49-F238E27FC236}">
                <a16:creationId xmlns:a16="http://schemas.microsoft.com/office/drawing/2014/main" id="{C5B61A94-E4D0-F6A4-AE8D-D2453525171D}"/>
              </a:ext>
            </a:extLst>
          </p:cNvPr>
          <p:cNvSpPr/>
          <p:nvPr/>
        </p:nvSpPr>
        <p:spPr>
          <a:xfrm>
            <a:off x="3011423" y="3857244"/>
            <a:ext cx="916305" cy="338455"/>
          </a:xfrm>
          <a:custGeom>
            <a:avLst/>
            <a:gdLst/>
            <a:ahLst/>
            <a:cxnLst/>
            <a:rect l="l" t="t" r="r" b="b"/>
            <a:pathLst>
              <a:path w="916304" h="338454">
                <a:moveTo>
                  <a:pt x="0" y="338327"/>
                </a:moveTo>
                <a:lnTo>
                  <a:pt x="915924" y="338327"/>
                </a:lnTo>
                <a:lnTo>
                  <a:pt x="915924" y="0"/>
                </a:lnTo>
                <a:lnTo>
                  <a:pt x="0" y="0"/>
                </a:lnTo>
                <a:lnTo>
                  <a:pt x="0" y="338327"/>
                </a:lnTo>
                <a:close/>
              </a:path>
            </a:pathLst>
          </a:custGeom>
          <a:ln w="12699">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2" name="object 10">
            <a:extLst>
              <a:ext uri="{FF2B5EF4-FFF2-40B4-BE49-F238E27FC236}">
                <a16:creationId xmlns:a16="http://schemas.microsoft.com/office/drawing/2014/main" id="{25409AE1-65F7-DABD-B819-CB81DA82E3DB}"/>
              </a:ext>
            </a:extLst>
          </p:cNvPr>
          <p:cNvSpPr txBox="1"/>
          <p:nvPr/>
        </p:nvSpPr>
        <p:spPr>
          <a:xfrm>
            <a:off x="3943477" y="3947922"/>
            <a:ext cx="285750" cy="269240"/>
          </a:xfrm>
          <a:prstGeom prst="rect">
            <a:avLst/>
          </a:prstGeom>
        </p:spPr>
        <p:txBody>
          <a:bodyPr vert="horz" wrap="square" lIns="0" tIns="12065" rIns="0" bIns="0" rtlCol="0">
            <a:spAutoFit/>
          </a:bodyPr>
          <a:lstStyle/>
          <a:p>
            <a:pPr marL="38100" rtl="0">
              <a:spcBef>
                <a:spcPts val="95"/>
              </a:spcBef>
            </a:pPr>
            <a:r>
              <a:rPr sz="1600" kern="1200" spc="-25" dirty="0">
                <a:solidFill>
                  <a:srgbClr val="FF0000"/>
                </a:solidFill>
                <a:latin typeface="Cambria Math"/>
                <a:cs typeface="Cambria Math"/>
              </a:rPr>
              <a:t>𝐵</a:t>
            </a:r>
            <a:r>
              <a:rPr sz="1725" kern="1200" spc="-37" baseline="-14492" dirty="0">
                <a:solidFill>
                  <a:srgbClr val="FF0000"/>
                </a:solidFill>
                <a:latin typeface="Cambria Math"/>
                <a:cs typeface="Cambria Math"/>
              </a:rPr>
              <a:t>2</a:t>
            </a:r>
            <a:endParaRPr sz="1725" kern="1200" baseline="-14492">
              <a:solidFill>
                <a:prstClr val="black"/>
              </a:solidFill>
              <a:latin typeface="Cambria Math"/>
              <a:cs typeface="Cambria Math"/>
            </a:endParaRPr>
          </a:p>
        </p:txBody>
      </p:sp>
      <p:grpSp>
        <p:nvGrpSpPr>
          <p:cNvPr id="43" name="object 11">
            <a:extLst>
              <a:ext uri="{FF2B5EF4-FFF2-40B4-BE49-F238E27FC236}">
                <a16:creationId xmlns:a16="http://schemas.microsoft.com/office/drawing/2014/main" id="{786C0FBB-B9E5-687D-F940-CC290F5FC236}"/>
              </a:ext>
            </a:extLst>
          </p:cNvPr>
          <p:cNvGrpSpPr/>
          <p:nvPr/>
        </p:nvGrpSpPr>
        <p:grpSpPr>
          <a:xfrm>
            <a:off x="1124521" y="3222244"/>
            <a:ext cx="7009765" cy="2446020"/>
            <a:chOff x="1124521" y="3222244"/>
            <a:chExt cx="7009765" cy="2446020"/>
          </a:xfrm>
        </p:grpSpPr>
        <p:pic>
          <p:nvPicPr>
            <p:cNvPr id="44" name="object 12">
              <a:extLst>
                <a:ext uri="{FF2B5EF4-FFF2-40B4-BE49-F238E27FC236}">
                  <a16:creationId xmlns:a16="http://schemas.microsoft.com/office/drawing/2014/main" id="{230F0B0A-1683-D935-8AFC-68ADD990B050}"/>
                </a:ext>
              </a:extLst>
            </p:cNvPr>
            <p:cNvPicPr/>
            <p:nvPr/>
          </p:nvPicPr>
          <p:blipFill>
            <a:blip r:embed="rId5" cstate="print"/>
            <a:stretch>
              <a:fillRect/>
            </a:stretch>
          </p:blipFill>
          <p:spPr>
            <a:xfrm>
              <a:off x="6463517" y="4739878"/>
              <a:ext cx="1567827" cy="859015"/>
            </a:xfrm>
            <a:prstGeom prst="rect">
              <a:avLst/>
            </a:prstGeom>
          </p:spPr>
        </p:pic>
        <p:sp>
          <p:nvSpPr>
            <p:cNvPr id="45" name="object 13">
              <a:extLst>
                <a:ext uri="{FF2B5EF4-FFF2-40B4-BE49-F238E27FC236}">
                  <a16:creationId xmlns:a16="http://schemas.microsoft.com/office/drawing/2014/main" id="{1CC75297-E994-A864-FFA3-212C0B97D19A}"/>
                </a:ext>
              </a:extLst>
            </p:cNvPr>
            <p:cNvSpPr/>
            <p:nvPr/>
          </p:nvSpPr>
          <p:spPr>
            <a:xfrm>
              <a:off x="6371589" y="4684585"/>
              <a:ext cx="1715135" cy="979169"/>
            </a:xfrm>
            <a:custGeom>
              <a:avLst/>
              <a:gdLst/>
              <a:ahLst/>
              <a:cxnLst/>
              <a:rect l="l" t="t" r="r" b="b"/>
              <a:pathLst>
                <a:path w="1715134" h="979170">
                  <a:moveTo>
                    <a:pt x="0" y="978788"/>
                  </a:moveTo>
                  <a:lnTo>
                    <a:pt x="1714881" y="978788"/>
                  </a:lnTo>
                  <a:lnTo>
                    <a:pt x="1714881" y="0"/>
                  </a:lnTo>
                  <a:lnTo>
                    <a:pt x="0" y="0"/>
                  </a:lnTo>
                  <a:lnTo>
                    <a:pt x="0" y="978788"/>
                  </a:lnTo>
                  <a:close/>
                </a:path>
              </a:pathLst>
            </a:custGeom>
            <a:ln w="9525">
              <a:solidFill>
                <a:srgbClr val="00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6" name="object 14">
              <a:extLst>
                <a:ext uri="{FF2B5EF4-FFF2-40B4-BE49-F238E27FC236}">
                  <a16:creationId xmlns:a16="http://schemas.microsoft.com/office/drawing/2014/main" id="{7AC5B5AC-96F8-8772-5AF4-2D06A2C1DC5D}"/>
                </a:ext>
              </a:extLst>
            </p:cNvPr>
            <p:cNvSpPr/>
            <p:nvPr/>
          </p:nvSpPr>
          <p:spPr>
            <a:xfrm>
              <a:off x="7106412" y="4872227"/>
              <a:ext cx="268605" cy="132715"/>
            </a:xfrm>
            <a:custGeom>
              <a:avLst/>
              <a:gdLst/>
              <a:ahLst/>
              <a:cxnLst/>
              <a:rect l="l" t="t" r="r" b="b"/>
              <a:pathLst>
                <a:path w="268604" h="132714">
                  <a:moveTo>
                    <a:pt x="0" y="132588"/>
                  </a:moveTo>
                  <a:lnTo>
                    <a:pt x="268224" y="132588"/>
                  </a:lnTo>
                  <a:lnTo>
                    <a:pt x="268224" y="0"/>
                  </a:lnTo>
                  <a:lnTo>
                    <a:pt x="0" y="0"/>
                  </a:lnTo>
                  <a:lnTo>
                    <a:pt x="0" y="132588"/>
                  </a:lnTo>
                  <a:close/>
                </a:path>
              </a:pathLst>
            </a:custGeom>
            <a:ln w="12699">
              <a:solidFill>
                <a:srgbClr val="FF0000"/>
              </a:solidFill>
            </a:ln>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sp>
          <p:nvSpPr>
            <p:cNvPr id="47" name="object 15">
              <a:extLst>
                <a:ext uri="{FF2B5EF4-FFF2-40B4-BE49-F238E27FC236}">
                  <a16:creationId xmlns:a16="http://schemas.microsoft.com/office/drawing/2014/main" id="{492D5945-31F9-561B-BC59-2E5AD8743D3E}"/>
                </a:ext>
              </a:extLst>
            </p:cNvPr>
            <p:cNvSpPr/>
            <p:nvPr/>
          </p:nvSpPr>
          <p:spPr>
            <a:xfrm>
              <a:off x="1124521" y="3222243"/>
              <a:ext cx="2161540" cy="878840"/>
            </a:xfrm>
            <a:custGeom>
              <a:avLst/>
              <a:gdLst/>
              <a:ahLst/>
              <a:cxnLst/>
              <a:rect l="l" t="t" r="r" b="b"/>
              <a:pathLst>
                <a:path w="2161540" h="878839">
                  <a:moveTo>
                    <a:pt x="19799" y="663321"/>
                  </a:moveTo>
                  <a:lnTo>
                    <a:pt x="7226" y="661543"/>
                  </a:lnTo>
                  <a:lnTo>
                    <a:pt x="0" y="711835"/>
                  </a:lnTo>
                  <a:lnTo>
                    <a:pt x="12573" y="713613"/>
                  </a:lnTo>
                  <a:lnTo>
                    <a:pt x="19799" y="663321"/>
                  </a:lnTo>
                  <a:close/>
                </a:path>
                <a:path w="2161540" h="878839">
                  <a:moveTo>
                    <a:pt x="33223" y="575691"/>
                  </a:moveTo>
                  <a:lnTo>
                    <a:pt x="20701" y="573532"/>
                  </a:lnTo>
                  <a:lnTo>
                    <a:pt x="19075" y="583057"/>
                  </a:lnTo>
                  <a:lnTo>
                    <a:pt x="12687" y="623697"/>
                  </a:lnTo>
                  <a:lnTo>
                    <a:pt x="25234" y="625729"/>
                  </a:lnTo>
                  <a:lnTo>
                    <a:pt x="31610" y="584962"/>
                  </a:lnTo>
                  <a:lnTo>
                    <a:pt x="33223" y="575691"/>
                  </a:lnTo>
                  <a:close/>
                </a:path>
                <a:path w="2161540" h="878839">
                  <a:moveTo>
                    <a:pt x="49707" y="488569"/>
                  </a:moveTo>
                  <a:lnTo>
                    <a:pt x="37299" y="485902"/>
                  </a:lnTo>
                  <a:lnTo>
                    <a:pt x="34353" y="499364"/>
                  </a:lnTo>
                  <a:lnTo>
                    <a:pt x="27292" y="535813"/>
                  </a:lnTo>
                  <a:lnTo>
                    <a:pt x="39763" y="538226"/>
                  </a:lnTo>
                  <a:lnTo>
                    <a:pt x="46786" y="501904"/>
                  </a:lnTo>
                  <a:lnTo>
                    <a:pt x="46812" y="501777"/>
                  </a:lnTo>
                  <a:lnTo>
                    <a:pt x="46774" y="501904"/>
                  </a:lnTo>
                  <a:lnTo>
                    <a:pt x="49707" y="488569"/>
                  </a:lnTo>
                  <a:close/>
                </a:path>
                <a:path w="2161540" h="878839">
                  <a:moveTo>
                    <a:pt x="71310" y="402844"/>
                  </a:moveTo>
                  <a:lnTo>
                    <a:pt x="59118" y="399288"/>
                  </a:lnTo>
                  <a:lnTo>
                    <a:pt x="53314" y="418973"/>
                  </a:lnTo>
                  <a:lnTo>
                    <a:pt x="45821" y="448564"/>
                  </a:lnTo>
                  <a:lnTo>
                    <a:pt x="58127" y="451612"/>
                  </a:lnTo>
                  <a:lnTo>
                    <a:pt x="65595" y="422275"/>
                  </a:lnTo>
                  <a:lnTo>
                    <a:pt x="71310" y="402844"/>
                  </a:lnTo>
                  <a:close/>
                </a:path>
                <a:path w="2161540" h="878839">
                  <a:moveTo>
                    <a:pt x="100952" y="319786"/>
                  </a:moveTo>
                  <a:lnTo>
                    <a:pt x="89204" y="314960"/>
                  </a:lnTo>
                  <a:lnTo>
                    <a:pt x="77495" y="343535"/>
                  </a:lnTo>
                  <a:lnTo>
                    <a:pt x="70827" y="362712"/>
                  </a:lnTo>
                  <a:lnTo>
                    <a:pt x="82829" y="366903"/>
                  </a:lnTo>
                  <a:lnTo>
                    <a:pt x="89344" y="348107"/>
                  </a:lnTo>
                  <a:lnTo>
                    <a:pt x="89433" y="347853"/>
                  </a:lnTo>
                  <a:lnTo>
                    <a:pt x="89306" y="348107"/>
                  </a:lnTo>
                  <a:lnTo>
                    <a:pt x="100952" y="319786"/>
                  </a:lnTo>
                  <a:close/>
                </a:path>
                <a:path w="2161540" h="878839">
                  <a:moveTo>
                    <a:pt x="142138" y="242570"/>
                  </a:moveTo>
                  <a:lnTo>
                    <a:pt x="131546" y="235585"/>
                  </a:lnTo>
                  <a:lnTo>
                    <a:pt x="127101" y="242316"/>
                  </a:lnTo>
                  <a:lnTo>
                    <a:pt x="108508" y="274066"/>
                  </a:lnTo>
                  <a:lnTo>
                    <a:pt x="105549" y="280162"/>
                  </a:lnTo>
                  <a:lnTo>
                    <a:pt x="116979" y="285623"/>
                  </a:lnTo>
                  <a:lnTo>
                    <a:pt x="119824" y="279781"/>
                  </a:lnTo>
                  <a:lnTo>
                    <a:pt x="119595" y="280289"/>
                  </a:lnTo>
                  <a:lnTo>
                    <a:pt x="119888" y="279781"/>
                  </a:lnTo>
                  <a:lnTo>
                    <a:pt x="137972" y="248793"/>
                  </a:lnTo>
                  <a:lnTo>
                    <a:pt x="137782" y="249174"/>
                  </a:lnTo>
                  <a:lnTo>
                    <a:pt x="138023" y="248793"/>
                  </a:lnTo>
                  <a:lnTo>
                    <a:pt x="142138" y="242570"/>
                  </a:lnTo>
                  <a:close/>
                </a:path>
                <a:path w="2161540" h="878839">
                  <a:moveTo>
                    <a:pt x="198310" y="176022"/>
                  </a:moveTo>
                  <a:lnTo>
                    <a:pt x="189674" y="166624"/>
                  </a:lnTo>
                  <a:lnTo>
                    <a:pt x="183959" y="171958"/>
                  </a:lnTo>
                  <a:lnTo>
                    <a:pt x="171259" y="184785"/>
                  </a:lnTo>
                  <a:lnTo>
                    <a:pt x="159194" y="198247"/>
                  </a:lnTo>
                  <a:lnTo>
                    <a:pt x="154368" y="204343"/>
                  </a:lnTo>
                  <a:lnTo>
                    <a:pt x="164274" y="212344"/>
                  </a:lnTo>
                  <a:lnTo>
                    <a:pt x="168884" y="206629"/>
                  </a:lnTo>
                  <a:lnTo>
                    <a:pt x="169100" y="206375"/>
                  </a:lnTo>
                  <a:lnTo>
                    <a:pt x="168846" y="206629"/>
                  </a:lnTo>
                  <a:lnTo>
                    <a:pt x="180301" y="193548"/>
                  </a:lnTo>
                  <a:lnTo>
                    <a:pt x="180441" y="193382"/>
                  </a:lnTo>
                  <a:lnTo>
                    <a:pt x="192595" y="181229"/>
                  </a:lnTo>
                  <a:lnTo>
                    <a:pt x="192862" y="180975"/>
                  </a:lnTo>
                  <a:lnTo>
                    <a:pt x="198310" y="176022"/>
                  </a:lnTo>
                  <a:close/>
                </a:path>
                <a:path w="2161540" h="878839">
                  <a:moveTo>
                    <a:pt x="269557" y="126111"/>
                  </a:moveTo>
                  <a:lnTo>
                    <a:pt x="263715" y="114808"/>
                  </a:lnTo>
                  <a:lnTo>
                    <a:pt x="257746" y="117983"/>
                  </a:lnTo>
                  <a:lnTo>
                    <a:pt x="241617" y="127381"/>
                  </a:lnTo>
                  <a:lnTo>
                    <a:pt x="225996" y="137414"/>
                  </a:lnTo>
                  <a:lnTo>
                    <a:pt x="219773" y="142113"/>
                  </a:lnTo>
                  <a:lnTo>
                    <a:pt x="227266" y="152273"/>
                  </a:lnTo>
                  <a:lnTo>
                    <a:pt x="233362" y="147701"/>
                  </a:lnTo>
                  <a:lnTo>
                    <a:pt x="233108" y="147955"/>
                  </a:lnTo>
                  <a:lnTo>
                    <a:pt x="233489" y="147701"/>
                  </a:lnTo>
                  <a:lnTo>
                    <a:pt x="248145" y="138176"/>
                  </a:lnTo>
                  <a:lnTo>
                    <a:pt x="248348" y="138049"/>
                  </a:lnTo>
                  <a:lnTo>
                    <a:pt x="248094" y="138176"/>
                  </a:lnTo>
                  <a:lnTo>
                    <a:pt x="263740" y="129159"/>
                  </a:lnTo>
                  <a:lnTo>
                    <a:pt x="263969" y="129032"/>
                  </a:lnTo>
                  <a:lnTo>
                    <a:pt x="269557" y="126111"/>
                  </a:lnTo>
                  <a:close/>
                </a:path>
                <a:path w="2161540" h="878839">
                  <a:moveTo>
                    <a:pt x="350837" y="93218"/>
                  </a:moveTo>
                  <a:lnTo>
                    <a:pt x="347027" y="81153"/>
                  </a:lnTo>
                  <a:lnTo>
                    <a:pt x="329247" y="86868"/>
                  </a:lnTo>
                  <a:lnTo>
                    <a:pt x="310451" y="93726"/>
                  </a:lnTo>
                  <a:lnTo>
                    <a:pt x="298767" y="98425"/>
                  </a:lnTo>
                  <a:lnTo>
                    <a:pt x="303466" y="110236"/>
                  </a:lnTo>
                  <a:lnTo>
                    <a:pt x="315150" y="105537"/>
                  </a:lnTo>
                  <a:lnTo>
                    <a:pt x="314896" y="105537"/>
                  </a:lnTo>
                  <a:lnTo>
                    <a:pt x="333438" y="98933"/>
                  </a:lnTo>
                  <a:lnTo>
                    <a:pt x="333184" y="98933"/>
                  </a:lnTo>
                  <a:lnTo>
                    <a:pt x="350837" y="93218"/>
                  </a:lnTo>
                  <a:close/>
                </a:path>
                <a:path w="2161540" h="878839">
                  <a:moveTo>
                    <a:pt x="436562" y="73406"/>
                  </a:moveTo>
                  <a:lnTo>
                    <a:pt x="434403" y="60960"/>
                  </a:lnTo>
                  <a:lnTo>
                    <a:pt x="410019" y="65278"/>
                  </a:lnTo>
                  <a:lnTo>
                    <a:pt x="384365" y="71247"/>
                  </a:lnTo>
                  <a:lnTo>
                    <a:pt x="387159" y="83693"/>
                  </a:lnTo>
                  <a:lnTo>
                    <a:pt x="412686" y="77724"/>
                  </a:lnTo>
                  <a:lnTo>
                    <a:pt x="412432" y="77724"/>
                  </a:lnTo>
                  <a:lnTo>
                    <a:pt x="436562" y="73406"/>
                  </a:lnTo>
                  <a:close/>
                </a:path>
                <a:path w="2161540" h="878839">
                  <a:moveTo>
                    <a:pt x="524192" y="61976"/>
                  </a:moveTo>
                  <a:lnTo>
                    <a:pt x="523036" y="49403"/>
                  </a:lnTo>
                  <a:lnTo>
                    <a:pt x="498792" y="51562"/>
                  </a:lnTo>
                  <a:lnTo>
                    <a:pt x="472249" y="54991"/>
                  </a:lnTo>
                  <a:lnTo>
                    <a:pt x="473900" y="67691"/>
                  </a:lnTo>
                  <a:lnTo>
                    <a:pt x="500316" y="64135"/>
                  </a:lnTo>
                  <a:lnTo>
                    <a:pt x="500062" y="64262"/>
                  </a:lnTo>
                  <a:lnTo>
                    <a:pt x="501396" y="64135"/>
                  </a:lnTo>
                  <a:lnTo>
                    <a:pt x="524192" y="61976"/>
                  </a:lnTo>
                  <a:close/>
                </a:path>
                <a:path w="2161540" h="878839">
                  <a:moveTo>
                    <a:pt x="612457" y="56388"/>
                  </a:moveTo>
                  <a:lnTo>
                    <a:pt x="612076" y="43688"/>
                  </a:lnTo>
                  <a:lnTo>
                    <a:pt x="594042" y="44323"/>
                  </a:lnTo>
                  <a:lnTo>
                    <a:pt x="561149" y="46355"/>
                  </a:lnTo>
                  <a:lnTo>
                    <a:pt x="561911" y="58928"/>
                  </a:lnTo>
                  <a:lnTo>
                    <a:pt x="594804" y="57023"/>
                  </a:lnTo>
                  <a:lnTo>
                    <a:pt x="612457" y="56388"/>
                  </a:lnTo>
                  <a:close/>
                </a:path>
                <a:path w="2161540" h="878839">
                  <a:moveTo>
                    <a:pt x="701230" y="42037"/>
                  </a:moveTo>
                  <a:lnTo>
                    <a:pt x="694372" y="42037"/>
                  </a:lnTo>
                  <a:lnTo>
                    <a:pt x="650303" y="42545"/>
                  </a:lnTo>
                  <a:lnTo>
                    <a:pt x="650430" y="55245"/>
                  </a:lnTo>
                  <a:lnTo>
                    <a:pt x="694499" y="54737"/>
                  </a:lnTo>
                  <a:lnTo>
                    <a:pt x="701103" y="54737"/>
                  </a:lnTo>
                  <a:lnTo>
                    <a:pt x="701230" y="42037"/>
                  </a:lnTo>
                  <a:close/>
                </a:path>
                <a:path w="2161540" h="878839">
                  <a:moveTo>
                    <a:pt x="790130" y="43053"/>
                  </a:moveTo>
                  <a:lnTo>
                    <a:pt x="745934" y="42291"/>
                  </a:lnTo>
                  <a:lnTo>
                    <a:pt x="739330" y="42291"/>
                  </a:lnTo>
                  <a:lnTo>
                    <a:pt x="739203" y="54991"/>
                  </a:lnTo>
                  <a:lnTo>
                    <a:pt x="745680" y="54991"/>
                  </a:lnTo>
                  <a:lnTo>
                    <a:pt x="790003" y="55753"/>
                  </a:lnTo>
                  <a:lnTo>
                    <a:pt x="790130" y="43053"/>
                  </a:lnTo>
                  <a:close/>
                </a:path>
                <a:path w="2161540" h="878839">
                  <a:moveTo>
                    <a:pt x="879157" y="45720"/>
                  </a:moveTo>
                  <a:lnTo>
                    <a:pt x="828357" y="44069"/>
                  </a:lnTo>
                  <a:lnTo>
                    <a:pt x="827976" y="56769"/>
                  </a:lnTo>
                  <a:lnTo>
                    <a:pt x="878649" y="58420"/>
                  </a:lnTo>
                  <a:lnTo>
                    <a:pt x="879157" y="45720"/>
                  </a:lnTo>
                  <a:close/>
                </a:path>
                <a:path w="2161540" h="878839">
                  <a:moveTo>
                    <a:pt x="957262" y="54991"/>
                  </a:moveTo>
                  <a:lnTo>
                    <a:pt x="873569" y="1905"/>
                  </a:lnTo>
                  <a:lnTo>
                    <a:pt x="870648" y="0"/>
                  </a:lnTo>
                  <a:lnTo>
                    <a:pt x="866711" y="889"/>
                  </a:lnTo>
                  <a:lnTo>
                    <a:pt x="864806" y="3810"/>
                  </a:lnTo>
                  <a:lnTo>
                    <a:pt x="862901" y="6858"/>
                  </a:lnTo>
                  <a:lnTo>
                    <a:pt x="863790" y="10795"/>
                  </a:lnTo>
                  <a:lnTo>
                    <a:pt x="866838" y="12573"/>
                  </a:lnTo>
                  <a:lnTo>
                    <a:pt x="921499" y="47282"/>
                  </a:lnTo>
                  <a:lnTo>
                    <a:pt x="917257" y="47117"/>
                  </a:lnTo>
                  <a:lnTo>
                    <a:pt x="916749" y="59817"/>
                  </a:lnTo>
                  <a:lnTo>
                    <a:pt x="920965" y="59982"/>
                  </a:lnTo>
                  <a:lnTo>
                    <a:pt x="860869" y="92202"/>
                  </a:lnTo>
                  <a:lnTo>
                    <a:pt x="859726" y="96012"/>
                  </a:lnTo>
                  <a:lnTo>
                    <a:pt x="861377" y="99060"/>
                  </a:lnTo>
                  <a:lnTo>
                    <a:pt x="863028" y="102235"/>
                  </a:lnTo>
                  <a:lnTo>
                    <a:pt x="866838" y="103378"/>
                  </a:lnTo>
                  <a:lnTo>
                    <a:pt x="946340" y="60833"/>
                  </a:lnTo>
                  <a:lnTo>
                    <a:pt x="957262" y="54991"/>
                  </a:lnTo>
                  <a:close/>
                </a:path>
                <a:path w="2161540" h="878839">
                  <a:moveTo>
                    <a:pt x="1687004" y="448691"/>
                  </a:moveTo>
                  <a:lnTo>
                    <a:pt x="1686648" y="447167"/>
                  </a:lnTo>
                  <a:lnTo>
                    <a:pt x="1686623" y="447040"/>
                  </a:lnTo>
                  <a:lnTo>
                    <a:pt x="1686623" y="447167"/>
                  </a:lnTo>
                  <a:lnTo>
                    <a:pt x="1679638" y="415925"/>
                  </a:lnTo>
                  <a:lnTo>
                    <a:pt x="1675955" y="399161"/>
                  </a:lnTo>
                  <a:lnTo>
                    <a:pt x="1663636" y="401828"/>
                  </a:lnTo>
                  <a:lnTo>
                    <a:pt x="1667192" y="418592"/>
                  </a:lnTo>
                  <a:lnTo>
                    <a:pt x="1674177" y="449961"/>
                  </a:lnTo>
                  <a:lnTo>
                    <a:pt x="1674558" y="451485"/>
                  </a:lnTo>
                  <a:lnTo>
                    <a:pt x="1687004" y="448691"/>
                  </a:lnTo>
                  <a:close/>
                </a:path>
                <a:path w="2161540" h="878839">
                  <a:moveTo>
                    <a:pt x="1707705" y="534924"/>
                  </a:moveTo>
                  <a:lnTo>
                    <a:pt x="1700847" y="507746"/>
                  </a:lnTo>
                  <a:lnTo>
                    <a:pt x="1695513" y="485775"/>
                  </a:lnTo>
                  <a:lnTo>
                    <a:pt x="1683194" y="488696"/>
                  </a:lnTo>
                  <a:lnTo>
                    <a:pt x="1688528" y="510794"/>
                  </a:lnTo>
                  <a:lnTo>
                    <a:pt x="1695386" y="538099"/>
                  </a:lnTo>
                  <a:lnTo>
                    <a:pt x="1707705" y="534924"/>
                  </a:lnTo>
                  <a:close/>
                </a:path>
                <a:path w="2161540" h="878839">
                  <a:moveTo>
                    <a:pt x="1714817" y="365137"/>
                  </a:moveTo>
                  <a:lnTo>
                    <a:pt x="1667090" y="312293"/>
                  </a:lnTo>
                  <a:lnTo>
                    <a:pt x="1659064" y="303403"/>
                  </a:lnTo>
                  <a:lnTo>
                    <a:pt x="1646110" y="289052"/>
                  </a:lnTo>
                  <a:lnTo>
                    <a:pt x="1614741" y="383032"/>
                  </a:lnTo>
                  <a:lnTo>
                    <a:pt x="1613725" y="386334"/>
                  </a:lnTo>
                  <a:lnTo>
                    <a:pt x="1615503" y="390017"/>
                  </a:lnTo>
                  <a:lnTo>
                    <a:pt x="1618805" y="391033"/>
                  </a:lnTo>
                  <a:lnTo>
                    <a:pt x="1622107" y="392176"/>
                  </a:lnTo>
                  <a:lnTo>
                    <a:pt x="1625663" y="390398"/>
                  </a:lnTo>
                  <a:lnTo>
                    <a:pt x="1626806" y="387096"/>
                  </a:lnTo>
                  <a:lnTo>
                    <a:pt x="1647278" y="325767"/>
                  </a:lnTo>
                  <a:lnTo>
                    <a:pt x="1655508" y="364617"/>
                  </a:lnTo>
                  <a:lnTo>
                    <a:pt x="1667954" y="361962"/>
                  </a:lnTo>
                  <a:lnTo>
                    <a:pt x="1665795" y="352298"/>
                  </a:lnTo>
                  <a:lnTo>
                    <a:pt x="1659636" y="322948"/>
                  </a:lnTo>
                  <a:lnTo>
                    <a:pt x="1705419" y="373634"/>
                  </a:lnTo>
                  <a:lnTo>
                    <a:pt x="1709483" y="373900"/>
                  </a:lnTo>
                  <a:lnTo>
                    <a:pt x="1714690" y="369201"/>
                  </a:lnTo>
                  <a:lnTo>
                    <a:pt x="1714817" y="365137"/>
                  </a:lnTo>
                  <a:close/>
                </a:path>
                <a:path w="2161540" h="878839">
                  <a:moveTo>
                    <a:pt x="1731835" y="620014"/>
                  </a:moveTo>
                  <a:lnTo>
                    <a:pt x="1731365" y="618617"/>
                  </a:lnTo>
                  <a:lnTo>
                    <a:pt x="1731327" y="618490"/>
                  </a:lnTo>
                  <a:lnTo>
                    <a:pt x="1731327" y="618617"/>
                  </a:lnTo>
                  <a:lnTo>
                    <a:pt x="1723453" y="592455"/>
                  </a:lnTo>
                  <a:lnTo>
                    <a:pt x="1717484" y="571627"/>
                  </a:lnTo>
                  <a:lnTo>
                    <a:pt x="1705292" y="575056"/>
                  </a:lnTo>
                  <a:lnTo>
                    <a:pt x="1711261" y="596011"/>
                  </a:lnTo>
                  <a:lnTo>
                    <a:pt x="1719770" y="623951"/>
                  </a:lnTo>
                  <a:lnTo>
                    <a:pt x="1731835" y="620014"/>
                  </a:lnTo>
                  <a:close/>
                </a:path>
                <a:path w="2161540" h="878839">
                  <a:moveTo>
                    <a:pt x="1762442" y="702818"/>
                  </a:moveTo>
                  <a:lnTo>
                    <a:pt x="1756575" y="689229"/>
                  </a:lnTo>
                  <a:lnTo>
                    <a:pt x="1756473" y="688975"/>
                  </a:lnTo>
                  <a:lnTo>
                    <a:pt x="1756473" y="689229"/>
                  </a:lnTo>
                  <a:lnTo>
                    <a:pt x="1747875" y="667131"/>
                  </a:lnTo>
                  <a:lnTo>
                    <a:pt x="1747913" y="667004"/>
                  </a:lnTo>
                  <a:lnTo>
                    <a:pt x="1743900" y="655955"/>
                  </a:lnTo>
                  <a:lnTo>
                    <a:pt x="1731962" y="660273"/>
                  </a:lnTo>
                  <a:lnTo>
                    <a:pt x="1736026" y="671449"/>
                  </a:lnTo>
                  <a:lnTo>
                    <a:pt x="1744789" y="694055"/>
                  </a:lnTo>
                  <a:lnTo>
                    <a:pt x="1750758" y="707898"/>
                  </a:lnTo>
                  <a:lnTo>
                    <a:pt x="1762442" y="702818"/>
                  </a:lnTo>
                  <a:close/>
                </a:path>
                <a:path w="2161540" h="878839">
                  <a:moveTo>
                    <a:pt x="1806384" y="777748"/>
                  </a:moveTo>
                  <a:lnTo>
                    <a:pt x="1803844" y="774700"/>
                  </a:lnTo>
                  <a:lnTo>
                    <a:pt x="1804098" y="774954"/>
                  </a:lnTo>
                  <a:lnTo>
                    <a:pt x="1803908" y="774700"/>
                  </a:lnTo>
                  <a:lnTo>
                    <a:pt x="1793811" y="760857"/>
                  </a:lnTo>
                  <a:lnTo>
                    <a:pt x="1794065" y="761111"/>
                  </a:lnTo>
                  <a:lnTo>
                    <a:pt x="1793900" y="760857"/>
                  </a:lnTo>
                  <a:lnTo>
                    <a:pt x="1784032" y="745363"/>
                  </a:lnTo>
                  <a:lnTo>
                    <a:pt x="1784286" y="745744"/>
                  </a:lnTo>
                  <a:lnTo>
                    <a:pt x="1784070" y="745363"/>
                  </a:lnTo>
                  <a:lnTo>
                    <a:pt x="1779079" y="736473"/>
                  </a:lnTo>
                  <a:lnTo>
                    <a:pt x="1767903" y="742569"/>
                  </a:lnTo>
                  <a:lnTo>
                    <a:pt x="1773237" y="752094"/>
                  </a:lnTo>
                  <a:lnTo>
                    <a:pt x="1783397" y="768096"/>
                  </a:lnTo>
                  <a:lnTo>
                    <a:pt x="1793938" y="782574"/>
                  </a:lnTo>
                  <a:lnTo>
                    <a:pt x="1796605" y="785876"/>
                  </a:lnTo>
                  <a:lnTo>
                    <a:pt x="1806384" y="777748"/>
                  </a:lnTo>
                  <a:close/>
                </a:path>
                <a:path w="2161540" h="878839">
                  <a:moveTo>
                    <a:pt x="1869757" y="37592"/>
                  </a:moveTo>
                  <a:lnTo>
                    <a:pt x="1868868" y="34163"/>
                  </a:lnTo>
                  <a:lnTo>
                    <a:pt x="1868106" y="30734"/>
                  </a:lnTo>
                  <a:lnTo>
                    <a:pt x="1864677" y="28575"/>
                  </a:lnTo>
                  <a:lnTo>
                    <a:pt x="1861248" y="29464"/>
                  </a:lnTo>
                  <a:lnTo>
                    <a:pt x="1764982" y="52832"/>
                  </a:lnTo>
                  <a:lnTo>
                    <a:pt x="1832673" y="125095"/>
                  </a:lnTo>
                  <a:lnTo>
                    <a:pt x="1835086" y="127762"/>
                  </a:lnTo>
                  <a:lnTo>
                    <a:pt x="1839150" y="127889"/>
                  </a:lnTo>
                  <a:lnTo>
                    <a:pt x="1844230" y="123063"/>
                  </a:lnTo>
                  <a:lnTo>
                    <a:pt x="1844357" y="118999"/>
                  </a:lnTo>
                  <a:lnTo>
                    <a:pt x="1841944" y="116459"/>
                  </a:lnTo>
                  <a:lnTo>
                    <a:pt x="1797646" y="69189"/>
                  </a:lnTo>
                  <a:lnTo>
                    <a:pt x="1820608" y="76073"/>
                  </a:lnTo>
                  <a:lnTo>
                    <a:pt x="1820481" y="76073"/>
                  </a:lnTo>
                  <a:lnTo>
                    <a:pt x="1824672" y="77343"/>
                  </a:lnTo>
                  <a:lnTo>
                    <a:pt x="1828482" y="65278"/>
                  </a:lnTo>
                  <a:lnTo>
                    <a:pt x="1824291" y="63881"/>
                  </a:lnTo>
                  <a:lnTo>
                    <a:pt x="1801329" y="57086"/>
                  </a:lnTo>
                  <a:lnTo>
                    <a:pt x="1827695" y="50673"/>
                  </a:lnTo>
                  <a:lnTo>
                    <a:pt x="1864296" y="41783"/>
                  </a:lnTo>
                  <a:lnTo>
                    <a:pt x="1867725" y="41021"/>
                  </a:lnTo>
                  <a:lnTo>
                    <a:pt x="1869757" y="37592"/>
                  </a:lnTo>
                  <a:close/>
                </a:path>
                <a:path w="2161540" h="878839">
                  <a:moveTo>
                    <a:pt x="1871789" y="833501"/>
                  </a:moveTo>
                  <a:lnTo>
                    <a:pt x="1869567" y="832231"/>
                  </a:lnTo>
                  <a:lnTo>
                    <a:pt x="1869122" y="831977"/>
                  </a:lnTo>
                  <a:lnTo>
                    <a:pt x="1869503" y="832231"/>
                  </a:lnTo>
                  <a:lnTo>
                    <a:pt x="1857819" y="824992"/>
                  </a:lnTo>
                  <a:lnTo>
                    <a:pt x="1858073" y="825119"/>
                  </a:lnTo>
                  <a:lnTo>
                    <a:pt x="1857883" y="824992"/>
                  </a:lnTo>
                  <a:lnTo>
                    <a:pt x="1846516" y="816991"/>
                  </a:lnTo>
                  <a:lnTo>
                    <a:pt x="1846897" y="817245"/>
                  </a:lnTo>
                  <a:lnTo>
                    <a:pt x="1846580" y="816991"/>
                  </a:lnTo>
                  <a:lnTo>
                    <a:pt x="1835937" y="808482"/>
                  </a:lnTo>
                  <a:lnTo>
                    <a:pt x="1835467" y="808101"/>
                  </a:lnTo>
                  <a:lnTo>
                    <a:pt x="1835848" y="808482"/>
                  </a:lnTo>
                  <a:lnTo>
                    <a:pt x="1831911" y="804799"/>
                  </a:lnTo>
                  <a:lnTo>
                    <a:pt x="1823275" y="814197"/>
                  </a:lnTo>
                  <a:lnTo>
                    <a:pt x="1827466" y="817880"/>
                  </a:lnTo>
                  <a:lnTo>
                    <a:pt x="1839023" y="827278"/>
                  </a:lnTo>
                  <a:lnTo>
                    <a:pt x="1850961" y="835660"/>
                  </a:lnTo>
                  <a:lnTo>
                    <a:pt x="1862899" y="843153"/>
                  </a:lnTo>
                  <a:lnTo>
                    <a:pt x="1865820" y="844677"/>
                  </a:lnTo>
                  <a:lnTo>
                    <a:pt x="1871789" y="833501"/>
                  </a:lnTo>
                  <a:close/>
                </a:path>
                <a:path w="2161540" h="878839">
                  <a:moveTo>
                    <a:pt x="1913191" y="93218"/>
                  </a:moveTo>
                  <a:lnTo>
                    <a:pt x="1908111" y="91313"/>
                  </a:lnTo>
                  <a:lnTo>
                    <a:pt x="1880552" y="81915"/>
                  </a:lnTo>
                  <a:lnTo>
                    <a:pt x="1864804" y="76835"/>
                  </a:lnTo>
                  <a:lnTo>
                    <a:pt x="1860994" y="88900"/>
                  </a:lnTo>
                  <a:lnTo>
                    <a:pt x="1876742" y="93980"/>
                  </a:lnTo>
                  <a:lnTo>
                    <a:pt x="1876488" y="93853"/>
                  </a:lnTo>
                  <a:lnTo>
                    <a:pt x="1903920" y="103378"/>
                  </a:lnTo>
                  <a:lnTo>
                    <a:pt x="1903793" y="103251"/>
                  </a:lnTo>
                  <a:lnTo>
                    <a:pt x="1908873" y="105156"/>
                  </a:lnTo>
                  <a:lnTo>
                    <a:pt x="1909559" y="103251"/>
                  </a:lnTo>
                  <a:lnTo>
                    <a:pt x="1912950" y="93853"/>
                  </a:lnTo>
                  <a:lnTo>
                    <a:pt x="1913191" y="93218"/>
                  </a:lnTo>
                  <a:close/>
                </a:path>
                <a:path w="2161540" h="878839">
                  <a:moveTo>
                    <a:pt x="1952942" y="866775"/>
                  </a:moveTo>
                  <a:lnTo>
                    <a:pt x="1928431" y="858393"/>
                  </a:lnTo>
                  <a:lnTo>
                    <a:pt x="1928558" y="858393"/>
                  </a:lnTo>
                  <a:lnTo>
                    <a:pt x="1905444" y="849503"/>
                  </a:lnTo>
                  <a:lnTo>
                    <a:pt x="1900872" y="861441"/>
                  </a:lnTo>
                  <a:lnTo>
                    <a:pt x="1924113" y="870331"/>
                  </a:lnTo>
                  <a:lnTo>
                    <a:pt x="1948878" y="878713"/>
                  </a:lnTo>
                  <a:lnTo>
                    <a:pt x="1952942" y="866775"/>
                  </a:lnTo>
                  <a:close/>
                </a:path>
                <a:path w="2161540" h="878839">
                  <a:moveTo>
                    <a:pt x="1995868" y="127762"/>
                  </a:moveTo>
                  <a:lnTo>
                    <a:pt x="1986864" y="123317"/>
                  </a:lnTo>
                  <a:lnTo>
                    <a:pt x="1985835" y="122809"/>
                  </a:lnTo>
                  <a:lnTo>
                    <a:pt x="1960816" y="111633"/>
                  </a:lnTo>
                  <a:lnTo>
                    <a:pt x="1949005" y="106934"/>
                  </a:lnTo>
                  <a:lnTo>
                    <a:pt x="1944179" y="118618"/>
                  </a:lnTo>
                  <a:lnTo>
                    <a:pt x="1955990" y="123444"/>
                  </a:lnTo>
                  <a:lnTo>
                    <a:pt x="1980501" y="134366"/>
                  </a:lnTo>
                  <a:lnTo>
                    <a:pt x="1990153" y="139065"/>
                  </a:lnTo>
                  <a:lnTo>
                    <a:pt x="1992591" y="134239"/>
                  </a:lnTo>
                  <a:lnTo>
                    <a:pt x="1995868" y="127762"/>
                  </a:lnTo>
                  <a:close/>
                </a:path>
                <a:path w="2161540" h="878839">
                  <a:moveTo>
                    <a:pt x="2072449" y="174625"/>
                  </a:moveTo>
                  <a:lnTo>
                    <a:pt x="2067458" y="170942"/>
                  </a:lnTo>
                  <a:lnTo>
                    <a:pt x="2053526" y="160655"/>
                  </a:lnTo>
                  <a:lnTo>
                    <a:pt x="2049322" y="157988"/>
                  </a:lnTo>
                  <a:lnTo>
                    <a:pt x="2032317" y="147193"/>
                  </a:lnTo>
                  <a:lnTo>
                    <a:pt x="2029777" y="145796"/>
                  </a:lnTo>
                  <a:lnTo>
                    <a:pt x="2023554" y="156845"/>
                  </a:lnTo>
                  <a:lnTo>
                    <a:pt x="2025967" y="158242"/>
                  </a:lnTo>
                  <a:lnTo>
                    <a:pt x="2025713" y="157988"/>
                  </a:lnTo>
                  <a:lnTo>
                    <a:pt x="2046274" y="171043"/>
                  </a:lnTo>
                  <a:lnTo>
                    <a:pt x="2046541" y="171196"/>
                  </a:lnTo>
                  <a:lnTo>
                    <a:pt x="2046274" y="171043"/>
                  </a:lnTo>
                  <a:lnTo>
                    <a:pt x="2046503" y="171196"/>
                  </a:lnTo>
                  <a:lnTo>
                    <a:pt x="2064956" y="184785"/>
                  </a:lnTo>
                  <a:lnTo>
                    <a:pt x="2072449" y="174625"/>
                  </a:lnTo>
                  <a:close/>
                </a:path>
                <a:path w="2161540" h="878839">
                  <a:moveTo>
                    <a:pt x="2119439" y="632968"/>
                  </a:moveTo>
                  <a:lnTo>
                    <a:pt x="2107120" y="629920"/>
                  </a:lnTo>
                  <a:lnTo>
                    <a:pt x="2094674" y="679196"/>
                  </a:lnTo>
                  <a:lnTo>
                    <a:pt x="2106993" y="682244"/>
                  </a:lnTo>
                  <a:lnTo>
                    <a:pt x="2119439" y="632968"/>
                  </a:lnTo>
                  <a:close/>
                </a:path>
                <a:path w="2161540" h="878839">
                  <a:moveTo>
                    <a:pt x="2132139" y="242951"/>
                  </a:moveTo>
                  <a:lnTo>
                    <a:pt x="2125916" y="232791"/>
                  </a:lnTo>
                  <a:lnTo>
                    <a:pt x="2121725" y="225933"/>
                  </a:lnTo>
                  <a:lnTo>
                    <a:pt x="2107501" y="207772"/>
                  </a:lnTo>
                  <a:lnTo>
                    <a:pt x="2101151" y="201168"/>
                  </a:lnTo>
                  <a:lnTo>
                    <a:pt x="2092007" y="209931"/>
                  </a:lnTo>
                  <a:lnTo>
                    <a:pt x="2097722" y="215773"/>
                  </a:lnTo>
                  <a:lnTo>
                    <a:pt x="2098116" y="216281"/>
                  </a:lnTo>
                  <a:lnTo>
                    <a:pt x="2111438" y="233426"/>
                  </a:lnTo>
                  <a:lnTo>
                    <a:pt x="2121344" y="249555"/>
                  </a:lnTo>
                  <a:lnTo>
                    <a:pt x="2132139" y="242951"/>
                  </a:lnTo>
                  <a:close/>
                </a:path>
                <a:path w="2161540" h="878839">
                  <a:moveTo>
                    <a:pt x="2139619" y="546227"/>
                  </a:moveTo>
                  <a:lnTo>
                    <a:pt x="2127313" y="543560"/>
                  </a:lnTo>
                  <a:lnTo>
                    <a:pt x="2124392" y="557530"/>
                  </a:lnTo>
                  <a:lnTo>
                    <a:pt x="2124392" y="557403"/>
                  </a:lnTo>
                  <a:lnTo>
                    <a:pt x="2124354" y="557530"/>
                  </a:lnTo>
                  <a:lnTo>
                    <a:pt x="2117407" y="587629"/>
                  </a:lnTo>
                  <a:lnTo>
                    <a:pt x="2117407" y="587502"/>
                  </a:lnTo>
                  <a:lnTo>
                    <a:pt x="2117369" y="587629"/>
                  </a:lnTo>
                  <a:lnTo>
                    <a:pt x="2116137" y="592963"/>
                  </a:lnTo>
                  <a:lnTo>
                    <a:pt x="2128456" y="595884"/>
                  </a:lnTo>
                  <a:lnTo>
                    <a:pt x="2136711" y="560197"/>
                  </a:lnTo>
                  <a:lnTo>
                    <a:pt x="2139619" y="546227"/>
                  </a:lnTo>
                  <a:close/>
                </a:path>
                <a:path w="2161540" h="878839">
                  <a:moveTo>
                    <a:pt x="2155380" y="458216"/>
                  </a:moveTo>
                  <a:lnTo>
                    <a:pt x="2142794" y="456565"/>
                  </a:lnTo>
                  <a:lnTo>
                    <a:pt x="2141029" y="469900"/>
                  </a:lnTo>
                  <a:lnTo>
                    <a:pt x="2141029" y="469646"/>
                  </a:lnTo>
                  <a:lnTo>
                    <a:pt x="2140978" y="469900"/>
                  </a:lnTo>
                  <a:lnTo>
                    <a:pt x="2136330" y="498602"/>
                  </a:lnTo>
                  <a:lnTo>
                    <a:pt x="2136330" y="498475"/>
                  </a:lnTo>
                  <a:lnTo>
                    <a:pt x="2136305" y="498602"/>
                  </a:lnTo>
                  <a:lnTo>
                    <a:pt x="2134806" y="506349"/>
                  </a:lnTo>
                  <a:lnTo>
                    <a:pt x="2147252" y="508762"/>
                  </a:lnTo>
                  <a:lnTo>
                    <a:pt x="2148776" y="500761"/>
                  </a:lnTo>
                  <a:lnTo>
                    <a:pt x="2153602" y="471678"/>
                  </a:lnTo>
                  <a:lnTo>
                    <a:pt x="2155380" y="458216"/>
                  </a:lnTo>
                  <a:close/>
                </a:path>
                <a:path w="2161540" h="878839">
                  <a:moveTo>
                    <a:pt x="2158669" y="329946"/>
                  </a:moveTo>
                  <a:lnTo>
                    <a:pt x="2156142" y="312051"/>
                  </a:lnTo>
                  <a:lnTo>
                    <a:pt x="2151532" y="291846"/>
                  </a:lnTo>
                  <a:lnTo>
                    <a:pt x="2150795" y="288671"/>
                  </a:lnTo>
                  <a:lnTo>
                    <a:pt x="2147620" y="279273"/>
                  </a:lnTo>
                  <a:lnTo>
                    <a:pt x="2135568" y="283337"/>
                  </a:lnTo>
                  <a:lnTo>
                    <a:pt x="2138578" y="292252"/>
                  </a:lnTo>
                  <a:lnTo>
                    <a:pt x="2143556" y="314198"/>
                  </a:lnTo>
                  <a:lnTo>
                    <a:pt x="2143633" y="314706"/>
                  </a:lnTo>
                  <a:lnTo>
                    <a:pt x="2146096" y="331724"/>
                  </a:lnTo>
                  <a:lnTo>
                    <a:pt x="2158669" y="329946"/>
                  </a:lnTo>
                  <a:close/>
                </a:path>
                <a:path w="2161540" h="878839">
                  <a:moveTo>
                    <a:pt x="2161349" y="368808"/>
                  </a:moveTo>
                  <a:lnTo>
                    <a:pt x="2148649" y="368808"/>
                  </a:lnTo>
                  <a:lnTo>
                    <a:pt x="2148649" y="387858"/>
                  </a:lnTo>
                  <a:lnTo>
                    <a:pt x="2148636" y="388112"/>
                  </a:lnTo>
                  <a:lnTo>
                    <a:pt x="2147379" y="414274"/>
                  </a:lnTo>
                  <a:lnTo>
                    <a:pt x="2147341" y="414528"/>
                  </a:lnTo>
                  <a:lnTo>
                    <a:pt x="2147265" y="415290"/>
                  </a:lnTo>
                  <a:lnTo>
                    <a:pt x="2146858" y="418973"/>
                  </a:lnTo>
                  <a:lnTo>
                    <a:pt x="2159558" y="420116"/>
                  </a:lnTo>
                  <a:lnTo>
                    <a:pt x="2160079" y="415290"/>
                  </a:lnTo>
                  <a:lnTo>
                    <a:pt x="2161349" y="388239"/>
                  </a:lnTo>
                  <a:lnTo>
                    <a:pt x="2161349" y="368808"/>
                  </a:lnTo>
                  <a:close/>
                </a:path>
              </a:pathLst>
            </a:custGeom>
            <a:solidFill>
              <a:srgbClr val="FF0000"/>
            </a:solidFill>
          </p:spPr>
          <p:txBody>
            <a:bodyPr wrap="square" lIns="0" tIns="0" rIns="0" bIns="0" rtlCol="0"/>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endParaRPr>
            </a:p>
          </p:txBody>
        </p:sp>
        <p:pic>
          <p:nvPicPr>
            <p:cNvPr id="48" name="object 16">
              <a:extLst>
                <a:ext uri="{FF2B5EF4-FFF2-40B4-BE49-F238E27FC236}">
                  <a16:creationId xmlns:a16="http://schemas.microsoft.com/office/drawing/2014/main" id="{BC0F3C16-3E05-511A-35E5-447AD732C543}"/>
                </a:ext>
              </a:extLst>
            </p:cNvPr>
            <p:cNvPicPr/>
            <p:nvPr/>
          </p:nvPicPr>
          <p:blipFill>
            <a:blip r:embed="rId6" cstate="print"/>
            <a:stretch>
              <a:fillRect/>
            </a:stretch>
          </p:blipFill>
          <p:spPr>
            <a:xfrm>
              <a:off x="7865110" y="3306826"/>
              <a:ext cx="192532" cy="192532"/>
            </a:xfrm>
            <a:prstGeom prst="rect">
              <a:avLst/>
            </a:prstGeom>
          </p:spPr>
        </p:pic>
        <p:pic>
          <p:nvPicPr>
            <p:cNvPr id="49" name="object 17">
              <a:extLst>
                <a:ext uri="{FF2B5EF4-FFF2-40B4-BE49-F238E27FC236}">
                  <a16:creationId xmlns:a16="http://schemas.microsoft.com/office/drawing/2014/main" id="{E69CFA2E-F94F-35E7-13D1-14EF0407F08E}"/>
                </a:ext>
              </a:extLst>
            </p:cNvPr>
            <p:cNvPicPr/>
            <p:nvPr/>
          </p:nvPicPr>
          <p:blipFill>
            <a:blip r:embed="rId7" cstate="print"/>
            <a:stretch>
              <a:fillRect/>
            </a:stretch>
          </p:blipFill>
          <p:spPr>
            <a:xfrm>
              <a:off x="7941310" y="4262374"/>
              <a:ext cx="192532" cy="192531"/>
            </a:xfrm>
            <a:prstGeom prst="rect">
              <a:avLst/>
            </a:prstGeom>
          </p:spPr>
        </p:pic>
      </p:grpSp>
      <p:sp>
        <p:nvSpPr>
          <p:cNvPr id="50" name="object 18">
            <a:extLst>
              <a:ext uri="{FF2B5EF4-FFF2-40B4-BE49-F238E27FC236}">
                <a16:creationId xmlns:a16="http://schemas.microsoft.com/office/drawing/2014/main" id="{F2F0F5C3-2A14-59E1-149E-8393038A2206}"/>
              </a:ext>
            </a:extLst>
          </p:cNvPr>
          <p:cNvSpPr txBox="1"/>
          <p:nvPr/>
        </p:nvSpPr>
        <p:spPr>
          <a:xfrm>
            <a:off x="5417311" y="4229861"/>
            <a:ext cx="2391410" cy="269240"/>
          </a:xfrm>
          <a:prstGeom prst="rect">
            <a:avLst/>
          </a:prstGeom>
        </p:spPr>
        <p:txBody>
          <a:bodyPr vert="horz" wrap="square" lIns="0" tIns="12065" rIns="0" bIns="0" rtlCol="0">
            <a:spAutoFit/>
          </a:bodyPr>
          <a:lstStyle/>
          <a:p>
            <a:pPr marL="12700" rtl="0">
              <a:spcBef>
                <a:spcPts val="95"/>
              </a:spcBef>
            </a:pPr>
            <a:r>
              <a:rPr sz="1600" kern="1200" spc="-5" dirty="0">
                <a:solidFill>
                  <a:srgbClr val="FF0000"/>
                </a:solidFill>
                <a:latin typeface="Palatino Linotype"/>
                <a:cs typeface="Palatino Linotype"/>
              </a:rPr>
              <a:t>Backpatch instruction</a:t>
            </a:r>
            <a:r>
              <a:rPr sz="1600" kern="1200" spc="5" dirty="0">
                <a:solidFill>
                  <a:srgbClr val="FF0000"/>
                </a:solidFill>
                <a:latin typeface="Palatino Linotype"/>
                <a:cs typeface="Palatino Linotype"/>
              </a:rPr>
              <a:t> </a:t>
            </a:r>
            <a:r>
              <a:rPr sz="1600" kern="1200" spc="-5" dirty="0">
                <a:solidFill>
                  <a:srgbClr val="FF0000"/>
                </a:solidFill>
                <a:latin typeface="Palatino Linotype"/>
                <a:cs typeface="Palatino Linotype"/>
              </a:rPr>
              <a:t>101:</a:t>
            </a:r>
            <a:endParaRPr sz="1600" kern="1200">
              <a:solidFill>
                <a:prstClr val="black"/>
              </a:solidFill>
              <a:latin typeface="Palatino Linotype"/>
              <a:cs typeface="Palatino Linotype"/>
            </a:endParaRPr>
          </a:p>
        </p:txBody>
      </p:sp>
      <p:sp>
        <p:nvSpPr>
          <p:cNvPr id="51" name="object 19">
            <a:extLst>
              <a:ext uri="{FF2B5EF4-FFF2-40B4-BE49-F238E27FC236}">
                <a16:creationId xmlns:a16="http://schemas.microsoft.com/office/drawing/2014/main" id="{98BE9B81-4F05-98FC-8ABD-56514883BE34}"/>
              </a:ext>
            </a:extLst>
          </p:cNvPr>
          <p:cNvSpPr txBox="1"/>
          <p:nvPr/>
        </p:nvSpPr>
        <p:spPr>
          <a:xfrm>
            <a:off x="1113840" y="5533135"/>
            <a:ext cx="4931410" cy="239395"/>
          </a:xfrm>
          <a:prstGeom prst="rect">
            <a:avLst/>
          </a:prstGeom>
        </p:spPr>
        <p:txBody>
          <a:bodyPr vert="horz" wrap="square" lIns="0" tIns="12700" rIns="0" bIns="0" rtlCol="0">
            <a:spAutoFit/>
          </a:bodyPr>
          <a:lstStyle/>
          <a:p>
            <a:pPr marL="12700" rtl="0">
              <a:spcBef>
                <a:spcPts val="100"/>
              </a:spcBef>
            </a:pPr>
            <a:r>
              <a:rPr sz="1400" kern="1200" dirty="0">
                <a:solidFill>
                  <a:srgbClr val="FF0000"/>
                </a:solidFill>
                <a:latin typeface="Palatino Linotype"/>
                <a:cs typeface="Palatino Linotype"/>
              </a:rPr>
              <a:t>The remaining</a:t>
            </a:r>
            <a:r>
              <a:rPr sz="1400" kern="1200" spc="-15" dirty="0">
                <a:solidFill>
                  <a:srgbClr val="FF0000"/>
                </a:solidFill>
                <a:latin typeface="Palatino Linotype"/>
                <a:cs typeface="Palatino Linotype"/>
              </a:rPr>
              <a:t> </a:t>
            </a:r>
            <a:r>
              <a:rPr sz="1400" kern="1200" dirty="0">
                <a:solidFill>
                  <a:srgbClr val="FF0000"/>
                </a:solidFill>
                <a:latin typeface="Palatino Linotype"/>
                <a:cs typeface="Palatino Linotype"/>
              </a:rPr>
              <a:t>jump</a:t>
            </a:r>
            <a:r>
              <a:rPr sz="1400" kern="1200" spc="-5" dirty="0">
                <a:solidFill>
                  <a:srgbClr val="FF0000"/>
                </a:solidFill>
                <a:latin typeface="Palatino Linotype"/>
                <a:cs typeface="Palatino Linotype"/>
              </a:rPr>
              <a:t> targets</a:t>
            </a:r>
            <a:r>
              <a:rPr sz="1400" kern="1200" spc="5" dirty="0">
                <a:solidFill>
                  <a:srgbClr val="FF0000"/>
                </a:solidFill>
                <a:latin typeface="Palatino Linotype"/>
                <a:cs typeface="Palatino Linotype"/>
              </a:rPr>
              <a:t> </a:t>
            </a:r>
            <a:r>
              <a:rPr sz="1400" kern="1200" dirty="0">
                <a:solidFill>
                  <a:srgbClr val="FF0000"/>
                </a:solidFill>
                <a:latin typeface="Palatino Linotype"/>
                <a:cs typeface="Palatino Linotype"/>
              </a:rPr>
              <a:t>will</a:t>
            </a:r>
            <a:r>
              <a:rPr sz="1400" kern="1200" spc="5" dirty="0">
                <a:solidFill>
                  <a:srgbClr val="FF0000"/>
                </a:solidFill>
                <a:latin typeface="Palatino Linotype"/>
                <a:cs typeface="Palatino Linotype"/>
              </a:rPr>
              <a:t> </a:t>
            </a:r>
            <a:r>
              <a:rPr sz="1400" kern="1200" spc="-5" dirty="0">
                <a:solidFill>
                  <a:srgbClr val="FF0000"/>
                </a:solidFill>
                <a:latin typeface="Palatino Linotype"/>
                <a:cs typeface="Palatino Linotype"/>
              </a:rPr>
              <a:t>be</a:t>
            </a:r>
            <a:r>
              <a:rPr sz="1400" kern="1200" spc="5" dirty="0">
                <a:solidFill>
                  <a:srgbClr val="FF0000"/>
                </a:solidFill>
                <a:latin typeface="Palatino Linotype"/>
                <a:cs typeface="Palatino Linotype"/>
              </a:rPr>
              <a:t> </a:t>
            </a:r>
            <a:r>
              <a:rPr sz="1400" kern="1200" dirty="0">
                <a:solidFill>
                  <a:srgbClr val="FF0000"/>
                </a:solidFill>
                <a:latin typeface="Palatino Linotype"/>
                <a:cs typeface="Palatino Linotype"/>
              </a:rPr>
              <a:t>filled</a:t>
            </a:r>
            <a:r>
              <a:rPr sz="1400" kern="1200" spc="5" dirty="0">
                <a:solidFill>
                  <a:srgbClr val="FF0000"/>
                </a:solidFill>
                <a:latin typeface="Palatino Linotype"/>
                <a:cs typeface="Palatino Linotype"/>
              </a:rPr>
              <a:t> </a:t>
            </a:r>
            <a:r>
              <a:rPr sz="1400" kern="1200" dirty="0">
                <a:solidFill>
                  <a:srgbClr val="FF0000"/>
                </a:solidFill>
                <a:latin typeface="Palatino Linotype"/>
                <a:cs typeface="Palatino Linotype"/>
              </a:rPr>
              <a:t>in </a:t>
            </a:r>
            <a:r>
              <a:rPr sz="1400" kern="1200" spc="-5" dirty="0">
                <a:solidFill>
                  <a:srgbClr val="FF0000"/>
                </a:solidFill>
                <a:latin typeface="Palatino Linotype"/>
                <a:cs typeface="Palatino Linotype"/>
              </a:rPr>
              <a:t>later</a:t>
            </a:r>
            <a:r>
              <a:rPr sz="1400" kern="1200" spc="5" dirty="0">
                <a:solidFill>
                  <a:srgbClr val="FF0000"/>
                </a:solidFill>
                <a:latin typeface="Palatino Linotype"/>
                <a:cs typeface="Palatino Linotype"/>
              </a:rPr>
              <a:t> </a:t>
            </a:r>
            <a:r>
              <a:rPr sz="1400" kern="1200" spc="-5" dirty="0">
                <a:solidFill>
                  <a:srgbClr val="FF0000"/>
                </a:solidFill>
                <a:latin typeface="Palatino Linotype"/>
                <a:cs typeface="Palatino Linotype"/>
              </a:rPr>
              <a:t>parsing</a:t>
            </a:r>
            <a:r>
              <a:rPr sz="1400" kern="1200" spc="-35" dirty="0">
                <a:solidFill>
                  <a:srgbClr val="FF0000"/>
                </a:solidFill>
                <a:latin typeface="Palatino Linotype"/>
                <a:cs typeface="Palatino Linotype"/>
              </a:rPr>
              <a:t> </a:t>
            </a:r>
            <a:r>
              <a:rPr sz="1400" kern="1200" spc="-5" dirty="0">
                <a:solidFill>
                  <a:srgbClr val="FF0000"/>
                </a:solidFill>
                <a:latin typeface="Palatino Linotype"/>
                <a:cs typeface="Palatino Linotype"/>
              </a:rPr>
              <a:t>steps</a:t>
            </a:r>
            <a:endParaRPr sz="1400" kern="1200">
              <a:solidFill>
                <a:prstClr val="black"/>
              </a:solidFill>
              <a:latin typeface="Palatino Linotype"/>
              <a:cs typeface="Palatino Linotype"/>
            </a:endParaRPr>
          </a:p>
        </p:txBody>
      </p:sp>
      <p:sp>
        <p:nvSpPr>
          <p:cNvPr id="52" name="object 20">
            <a:extLst>
              <a:ext uri="{FF2B5EF4-FFF2-40B4-BE49-F238E27FC236}">
                <a16:creationId xmlns:a16="http://schemas.microsoft.com/office/drawing/2014/main" id="{6D45AE25-C199-0EA2-AC99-290C7D0FB971}"/>
              </a:ext>
            </a:extLst>
          </p:cNvPr>
          <p:cNvSpPr txBox="1"/>
          <p:nvPr/>
        </p:nvSpPr>
        <p:spPr>
          <a:xfrm>
            <a:off x="7991347" y="4253610"/>
            <a:ext cx="95885" cy="193675"/>
          </a:xfrm>
          <a:prstGeom prst="rect">
            <a:avLst/>
          </a:prstGeom>
        </p:spPr>
        <p:txBody>
          <a:bodyPr vert="horz" wrap="square" lIns="0" tIns="12700" rIns="0" bIns="0" rtlCol="0">
            <a:spAutoFit/>
          </a:bodyPr>
          <a:lstStyle/>
          <a:p>
            <a:pPr marL="12700" rtl="0">
              <a:spcBef>
                <a:spcPts val="100"/>
              </a:spcBef>
            </a:pPr>
            <a:r>
              <a:rPr sz="1100" kern="1200" dirty="0">
                <a:solidFill>
                  <a:srgbClr val="0431FF"/>
                </a:solidFill>
                <a:latin typeface="Palatino Linotype"/>
                <a:cs typeface="Palatino Linotype"/>
              </a:rPr>
              <a:t>1</a:t>
            </a:r>
            <a:endParaRPr sz="1100" kern="1200">
              <a:solidFill>
                <a:prstClr val="black"/>
              </a:solidFill>
              <a:latin typeface="Palatino Linotype"/>
              <a:cs typeface="Palatino Linotype"/>
            </a:endParaRPr>
          </a:p>
        </p:txBody>
      </p:sp>
      <p:pic>
        <p:nvPicPr>
          <p:cNvPr id="53" name="object 21">
            <a:extLst>
              <a:ext uri="{FF2B5EF4-FFF2-40B4-BE49-F238E27FC236}">
                <a16:creationId xmlns:a16="http://schemas.microsoft.com/office/drawing/2014/main" id="{3591A835-1F94-DC78-DE81-BA377F38F4D6}"/>
              </a:ext>
            </a:extLst>
          </p:cNvPr>
          <p:cNvPicPr/>
          <p:nvPr/>
        </p:nvPicPr>
        <p:blipFill>
          <a:blip r:embed="rId8" cstate="print"/>
          <a:stretch>
            <a:fillRect/>
          </a:stretch>
        </p:blipFill>
        <p:spPr>
          <a:xfrm>
            <a:off x="1247902" y="3149854"/>
            <a:ext cx="194056" cy="192532"/>
          </a:xfrm>
          <a:prstGeom prst="rect">
            <a:avLst/>
          </a:prstGeom>
        </p:spPr>
      </p:pic>
      <p:sp>
        <p:nvSpPr>
          <p:cNvPr id="54" name="object 22">
            <a:extLst>
              <a:ext uri="{FF2B5EF4-FFF2-40B4-BE49-F238E27FC236}">
                <a16:creationId xmlns:a16="http://schemas.microsoft.com/office/drawing/2014/main" id="{86FC4296-E20B-A5E8-934B-88654210DE64}"/>
              </a:ext>
            </a:extLst>
          </p:cNvPr>
          <p:cNvSpPr txBox="1"/>
          <p:nvPr/>
        </p:nvSpPr>
        <p:spPr>
          <a:xfrm>
            <a:off x="1297686" y="3140710"/>
            <a:ext cx="95885" cy="193675"/>
          </a:xfrm>
          <a:prstGeom prst="rect">
            <a:avLst/>
          </a:prstGeom>
        </p:spPr>
        <p:txBody>
          <a:bodyPr vert="horz" wrap="square" lIns="0" tIns="13335" rIns="0" bIns="0" rtlCol="0">
            <a:spAutoFit/>
          </a:bodyPr>
          <a:lstStyle/>
          <a:p>
            <a:pPr marL="12700" rtl="0">
              <a:spcBef>
                <a:spcPts val="105"/>
              </a:spcBef>
            </a:pPr>
            <a:r>
              <a:rPr sz="1100" kern="1200" dirty="0">
                <a:solidFill>
                  <a:srgbClr val="0431FF"/>
                </a:solidFill>
                <a:latin typeface="Palatino Linotype"/>
                <a:cs typeface="Palatino Linotype"/>
              </a:rPr>
              <a:t>2</a:t>
            </a:r>
            <a:endParaRPr sz="1100" kern="1200">
              <a:solidFill>
                <a:prstClr val="black"/>
              </a:solidFill>
              <a:latin typeface="Palatino Linotype"/>
              <a:cs typeface="Palatino Linotype"/>
            </a:endParaRPr>
          </a:p>
        </p:txBody>
      </p:sp>
      <p:pic>
        <p:nvPicPr>
          <p:cNvPr id="55" name="object 23">
            <a:extLst>
              <a:ext uri="{FF2B5EF4-FFF2-40B4-BE49-F238E27FC236}">
                <a16:creationId xmlns:a16="http://schemas.microsoft.com/office/drawing/2014/main" id="{CFFA67E0-6F1F-642A-101D-F8F8FB22E62E}"/>
              </a:ext>
            </a:extLst>
          </p:cNvPr>
          <p:cNvPicPr/>
          <p:nvPr/>
        </p:nvPicPr>
        <p:blipFill>
          <a:blip r:embed="rId6" cstate="print"/>
          <a:stretch>
            <a:fillRect/>
          </a:stretch>
        </p:blipFill>
        <p:spPr>
          <a:xfrm>
            <a:off x="3273297" y="3277870"/>
            <a:ext cx="192531" cy="192531"/>
          </a:xfrm>
          <a:prstGeom prst="rect">
            <a:avLst/>
          </a:prstGeom>
        </p:spPr>
      </p:pic>
      <p:sp>
        <p:nvSpPr>
          <p:cNvPr id="56" name="object 24">
            <a:extLst>
              <a:ext uri="{FF2B5EF4-FFF2-40B4-BE49-F238E27FC236}">
                <a16:creationId xmlns:a16="http://schemas.microsoft.com/office/drawing/2014/main" id="{343DFC73-969C-426B-89A0-412635352FFA}"/>
              </a:ext>
            </a:extLst>
          </p:cNvPr>
          <p:cNvSpPr txBox="1"/>
          <p:nvPr/>
        </p:nvSpPr>
        <p:spPr>
          <a:xfrm>
            <a:off x="3322701" y="3269995"/>
            <a:ext cx="95885" cy="193675"/>
          </a:xfrm>
          <a:prstGeom prst="rect">
            <a:avLst/>
          </a:prstGeom>
        </p:spPr>
        <p:txBody>
          <a:bodyPr vert="horz" wrap="square" lIns="0" tIns="13335" rIns="0" bIns="0" rtlCol="0">
            <a:spAutoFit/>
          </a:bodyPr>
          <a:lstStyle/>
          <a:p>
            <a:pPr marL="12700" rtl="0">
              <a:spcBef>
                <a:spcPts val="105"/>
              </a:spcBef>
            </a:pPr>
            <a:r>
              <a:rPr sz="1100" kern="1200" dirty="0">
                <a:solidFill>
                  <a:srgbClr val="0431FF"/>
                </a:solidFill>
                <a:latin typeface="Palatino Linotype"/>
                <a:cs typeface="Palatino Linotype"/>
              </a:rPr>
              <a:t>2</a:t>
            </a:r>
            <a:endParaRPr sz="1100" kern="1200">
              <a:solidFill>
                <a:prstClr val="black"/>
              </a:solidFill>
              <a:latin typeface="Palatino Linotype"/>
              <a:cs typeface="Palatino Linotype"/>
            </a:endParaRPr>
          </a:p>
        </p:txBody>
      </p:sp>
      <p:pic>
        <p:nvPicPr>
          <p:cNvPr id="57" name="object 25">
            <a:extLst>
              <a:ext uri="{FF2B5EF4-FFF2-40B4-BE49-F238E27FC236}">
                <a16:creationId xmlns:a16="http://schemas.microsoft.com/office/drawing/2014/main" id="{C680A234-004E-EDFB-AF8B-F48B9A636B79}"/>
              </a:ext>
            </a:extLst>
          </p:cNvPr>
          <p:cNvPicPr/>
          <p:nvPr/>
        </p:nvPicPr>
        <p:blipFill>
          <a:blip r:embed="rId6" cstate="print"/>
          <a:stretch>
            <a:fillRect/>
          </a:stretch>
        </p:blipFill>
        <p:spPr>
          <a:xfrm>
            <a:off x="8627109" y="3492753"/>
            <a:ext cx="192532" cy="192532"/>
          </a:xfrm>
          <a:prstGeom prst="rect">
            <a:avLst/>
          </a:prstGeom>
        </p:spPr>
      </p:pic>
      <p:sp>
        <p:nvSpPr>
          <p:cNvPr id="58" name="object 26">
            <a:extLst>
              <a:ext uri="{FF2B5EF4-FFF2-40B4-BE49-F238E27FC236}">
                <a16:creationId xmlns:a16="http://schemas.microsoft.com/office/drawing/2014/main" id="{92B69D37-C7BC-A228-63DE-96162E833635}"/>
              </a:ext>
            </a:extLst>
          </p:cNvPr>
          <p:cNvSpPr txBox="1"/>
          <p:nvPr/>
        </p:nvSpPr>
        <p:spPr>
          <a:xfrm>
            <a:off x="8677402" y="3484626"/>
            <a:ext cx="95885" cy="193675"/>
          </a:xfrm>
          <a:prstGeom prst="rect">
            <a:avLst/>
          </a:prstGeom>
        </p:spPr>
        <p:txBody>
          <a:bodyPr vert="horz" wrap="square" lIns="0" tIns="13335" rIns="0" bIns="0" rtlCol="0">
            <a:spAutoFit/>
          </a:bodyPr>
          <a:lstStyle/>
          <a:p>
            <a:pPr marL="12700" rtl="0">
              <a:spcBef>
                <a:spcPts val="105"/>
              </a:spcBef>
            </a:pPr>
            <a:r>
              <a:rPr sz="1100" kern="1200" dirty="0">
                <a:solidFill>
                  <a:srgbClr val="0431FF"/>
                </a:solidFill>
                <a:latin typeface="Palatino Linotype"/>
                <a:cs typeface="Palatino Linotype"/>
              </a:rPr>
              <a:t>2</a:t>
            </a:r>
            <a:endParaRPr sz="1100" kern="1200">
              <a:solidFill>
                <a:prstClr val="black"/>
              </a:solidFill>
              <a:latin typeface="Palatino Linotype"/>
              <a:cs typeface="Palatino Linotype"/>
            </a:endParaRPr>
          </a:p>
        </p:txBody>
      </p:sp>
      <p:pic>
        <p:nvPicPr>
          <p:cNvPr id="59" name="object 27">
            <a:extLst>
              <a:ext uri="{FF2B5EF4-FFF2-40B4-BE49-F238E27FC236}">
                <a16:creationId xmlns:a16="http://schemas.microsoft.com/office/drawing/2014/main" id="{67503C8D-153F-6B72-5CDD-F927522696C3}"/>
              </a:ext>
            </a:extLst>
          </p:cNvPr>
          <p:cNvPicPr/>
          <p:nvPr/>
        </p:nvPicPr>
        <p:blipFill>
          <a:blip r:embed="rId9" cstate="print"/>
          <a:stretch>
            <a:fillRect/>
          </a:stretch>
        </p:blipFill>
        <p:spPr>
          <a:xfrm>
            <a:off x="7599933" y="3664965"/>
            <a:ext cx="192532" cy="192531"/>
          </a:xfrm>
          <a:prstGeom prst="rect">
            <a:avLst/>
          </a:prstGeom>
        </p:spPr>
      </p:pic>
      <p:sp>
        <p:nvSpPr>
          <p:cNvPr id="60" name="object 28">
            <a:extLst>
              <a:ext uri="{FF2B5EF4-FFF2-40B4-BE49-F238E27FC236}">
                <a16:creationId xmlns:a16="http://schemas.microsoft.com/office/drawing/2014/main" id="{72EC7296-BD31-DADF-9B17-59E0B38E8945}"/>
              </a:ext>
            </a:extLst>
          </p:cNvPr>
          <p:cNvSpPr txBox="1"/>
          <p:nvPr/>
        </p:nvSpPr>
        <p:spPr>
          <a:xfrm>
            <a:off x="4053585" y="3265678"/>
            <a:ext cx="4549775" cy="614680"/>
          </a:xfrm>
          <a:prstGeom prst="rect">
            <a:avLst/>
          </a:prstGeom>
          <a:ln w="9525">
            <a:solidFill>
              <a:srgbClr val="000000"/>
            </a:solidFill>
          </a:ln>
        </p:spPr>
        <p:txBody>
          <a:bodyPr vert="horz" wrap="square" lIns="0" tIns="45085" rIns="0" bIns="0" rtlCol="0">
            <a:spAutoFit/>
          </a:bodyPr>
          <a:lstStyle/>
          <a:p>
            <a:pPr marR="597535" algn="r" rtl="0">
              <a:spcBef>
                <a:spcPts val="355"/>
              </a:spcBef>
            </a:pPr>
            <a:r>
              <a:rPr sz="1100" kern="1200" dirty="0">
                <a:solidFill>
                  <a:srgbClr val="0431FF"/>
                </a:solidFill>
                <a:latin typeface="Palatino Linotype"/>
                <a:cs typeface="Palatino Linotype"/>
              </a:rPr>
              <a:t>1</a:t>
            </a:r>
            <a:endParaRPr sz="1100" kern="1200">
              <a:solidFill>
                <a:prstClr val="black"/>
              </a:solidFill>
              <a:latin typeface="Palatino Linotype"/>
              <a:cs typeface="Palatino Linotype"/>
            </a:endParaRPr>
          </a:p>
          <a:p>
            <a:pPr rtl="0">
              <a:spcBef>
                <a:spcPts val="20"/>
              </a:spcBef>
            </a:pPr>
            <a:endParaRPr sz="1100" kern="1200">
              <a:solidFill>
                <a:prstClr val="black"/>
              </a:solidFill>
              <a:latin typeface="Palatino Linotype"/>
              <a:cs typeface="Palatino Linotype"/>
            </a:endParaRPr>
          </a:p>
          <a:p>
            <a:pPr marR="862330" algn="r" rtl="0"/>
            <a:r>
              <a:rPr sz="1100" kern="1200" dirty="0">
                <a:solidFill>
                  <a:srgbClr val="0431FF"/>
                </a:solidFill>
                <a:latin typeface="Palatino Linotype"/>
                <a:cs typeface="Palatino Linotype"/>
              </a:rPr>
              <a:t>3</a:t>
            </a:r>
            <a:endParaRPr sz="1100" kern="1200">
              <a:solidFill>
                <a:prstClr val="black"/>
              </a:solidFill>
              <a:latin typeface="Palatino Linotype"/>
              <a:cs typeface="Palatino Linotype"/>
            </a:endParaRPr>
          </a:p>
        </p:txBody>
      </p:sp>
      <p:pic>
        <p:nvPicPr>
          <p:cNvPr id="61" name="object 29">
            <a:extLst>
              <a:ext uri="{FF2B5EF4-FFF2-40B4-BE49-F238E27FC236}">
                <a16:creationId xmlns:a16="http://schemas.microsoft.com/office/drawing/2014/main" id="{5FB2ADF9-705F-DA97-10F5-C878057B6009}"/>
              </a:ext>
            </a:extLst>
          </p:cNvPr>
          <p:cNvPicPr/>
          <p:nvPr/>
        </p:nvPicPr>
        <p:blipFill>
          <a:blip r:embed="rId9" cstate="print"/>
          <a:stretch>
            <a:fillRect/>
          </a:stretch>
        </p:blipFill>
        <p:spPr>
          <a:xfrm>
            <a:off x="2662173" y="3861561"/>
            <a:ext cx="192531" cy="192531"/>
          </a:xfrm>
          <a:prstGeom prst="rect">
            <a:avLst/>
          </a:prstGeom>
        </p:spPr>
      </p:pic>
      <p:sp>
        <p:nvSpPr>
          <p:cNvPr id="62" name="object 30">
            <a:extLst>
              <a:ext uri="{FF2B5EF4-FFF2-40B4-BE49-F238E27FC236}">
                <a16:creationId xmlns:a16="http://schemas.microsoft.com/office/drawing/2014/main" id="{8F45D625-CF7F-44CA-002E-A75A91C94B85}"/>
              </a:ext>
            </a:extLst>
          </p:cNvPr>
          <p:cNvSpPr txBox="1"/>
          <p:nvPr/>
        </p:nvSpPr>
        <p:spPr>
          <a:xfrm>
            <a:off x="2711576" y="3853052"/>
            <a:ext cx="95885" cy="193675"/>
          </a:xfrm>
          <a:prstGeom prst="rect">
            <a:avLst/>
          </a:prstGeom>
        </p:spPr>
        <p:txBody>
          <a:bodyPr vert="horz" wrap="square" lIns="0" tIns="12700" rIns="0" bIns="0" rtlCol="0">
            <a:spAutoFit/>
          </a:bodyPr>
          <a:lstStyle/>
          <a:p>
            <a:pPr marL="12700" rtl="0">
              <a:spcBef>
                <a:spcPts val="100"/>
              </a:spcBef>
            </a:pPr>
            <a:r>
              <a:rPr sz="1100" kern="1200" dirty="0">
                <a:solidFill>
                  <a:srgbClr val="0431FF"/>
                </a:solidFill>
                <a:latin typeface="Palatino Linotype"/>
                <a:cs typeface="Palatino Linotype"/>
              </a:rPr>
              <a:t>3</a:t>
            </a:r>
            <a:endParaRPr sz="1100" kern="1200">
              <a:solidFill>
                <a:prstClr val="black"/>
              </a:solidFill>
              <a:latin typeface="Palatino Linotype"/>
              <a:cs typeface="Palatino Linotype"/>
            </a:endParaRPr>
          </a:p>
        </p:txBody>
      </p:sp>
    </p:spTree>
    <p:extLst>
      <p:ext uri="{BB962C8B-B14F-4D97-AF65-F5344CB8AC3E}">
        <p14:creationId xmlns:p14="http://schemas.microsoft.com/office/powerpoint/2010/main" val="2881171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DI2ZDE5ZTZkMzU3MWNlNjhiMjAwNGZhYWU5NWUyODY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6246</TotalTime>
  <Words>20827</Words>
  <Application>Microsoft Office PowerPoint</Application>
  <PresentationFormat>全屏显示(4:3)</PresentationFormat>
  <Paragraphs>1953</Paragraphs>
  <Slides>108</Slides>
  <Notes>105</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108</vt:i4>
      </vt:variant>
    </vt:vector>
  </HeadingPairs>
  <TitlesOfParts>
    <vt:vector size="127" baseType="lpstr">
      <vt:lpstr>Arial MT</vt:lpstr>
      <vt:lpstr>Ubuntu Mono derivative Powerlin</vt:lpstr>
      <vt:lpstr>等线</vt:lpstr>
      <vt:lpstr>黑体</vt:lpstr>
      <vt:lpstr>华文楷体</vt:lpstr>
      <vt:lpstr>楷体</vt:lpstr>
      <vt:lpstr>楷体_GB2312</vt:lpstr>
      <vt:lpstr>宋体</vt:lpstr>
      <vt:lpstr>宋体</vt:lpstr>
      <vt:lpstr>微软雅黑</vt:lpstr>
      <vt:lpstr>Arial</vt:lpstr>
      <vt:lpstr>Calibri</vt:lpstr>
      <vt:lpstr>Cambria Math</vt:lpstr>
      <vt:lpstr>Consolas</vt:lpstr>
      <vt:lpstr>Courier New</vt:lpstr>
      <vt:lpstr>Palatino Linotype</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 xxx </dc:title>
  <dc:creator>胡 玉斌</dc:creator>
  <cp:lastModifiedBy>羽喆 林</cp:lastModifiedBy>
  <cp:revision>531</cp:revision>
  <dcterms:created xsi:type="dcterms:W3CDTF">2023-06-02T10:23:00Z</dcterms:created>
  <dcterms:modified xsi:type="dcterms:W3CDTF">2024-11-15T09:35:02Z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73E74BF1E92A4534AB65F6ABE4C88A7A_13</vt:lpwstr>
  </property>
  <property fmtid="{D5CDD505-2E9C-101B-9397-08002B2CF9AE}" pid="3" name="KSOProductBuildVer">
    <vt:lpwstr>2052-12.1.0.15712</vt:lpwstr>
  </property>
</Properties>
</file>