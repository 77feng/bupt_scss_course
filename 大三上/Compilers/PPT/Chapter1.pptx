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media/image17.jpg" ContentType="image/jpeg"/>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media/image18.jpg" ContentType="image/jpeg"/>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57"/>
  </p:notesMasterIdLst>
  <p:sldIdLst>
    <p:sldId id="256" r:id="rId3"/>
    <p:sldId id="265" r:id="rId4"/>
    <p:sldId id="266" r:id="rId5"/>
    <p:sldId id="267" r:id="rId6"/>
    <p:sldId id="268" r:id="rId7"/>
    <p:sldId id="269" r:id="rId8"/>
    <p:sldId id="306" r:id="rId9"/>
    <p:sldId id="270" r:id="rId10"/>
    <p:sldId id="271" r:id="rId11"/>
    <p:sldId id="272" r:id="rId12"/>
    <p:sldId id="273" r:id="rId13"/>
    <p:sldId id="274" r:id="rId14"/>
    <p:sldId id="275" r:id="rId15"/>
    <p:sldId id="276" r:id="rId16"/>
    <p:sldId id="277" r:id="rId17"/>
    <p:sldId id="278" r:id="rId18"/>
    <p:sldId id="313"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14" r:id="rId45"/>
    <p:sldId id="309" r:id="rId46"/>
    <p:sldId id="310" r:id="rId47"/>
    <p:sldId id="316" r:id="rId48"/>
    <p:sldId id="317" r:id="rId49"/>
    <p:sldId id="318" r:id="rId50"/>
    <p:sldId id="319" r:id="rId51"/>
    <p:sldId id="320" r:id="rId52"/>
    <p:sldId id="321" r:id="rId53"/>
    <p:sldId id="322" r:id="rId54"/>
    <p:sldId id="311" r:id="rId55"/>
    <p:sldId id="307" r:id="rId56"/>
  </p:sldIdLst>
  <p:sldSz cx="9144000" cy="6858000" type="screen4x3"/>
  <p:notesSz cx="12192000" cy="6858000"/>
  <p:defaultText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75412" autoAdjust="0"/>
  </p:normalViewPr>
  <p:slideViewPr>
    <p:cSldViewPr>
      <p:cViewPr varScale="1">
        <p:scale>
          <a:sx n="72" d="100"/>
          <a:sy n="72" d="100"/>
        </p:scale>
        <p:origin x="1336"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5618065-1B94-460E-8A19-03FBEC694BAC}" type="datetimeFigureOut">
              <a:rPr lang="zh-CN" altLang="en-US" smtClean="0"/>
              <a:t>2024/12/10</a:t>
            </a:fld>
            <a:endParaRPr lang="zh-CN" altLang="en-US"/>
          </a:p>
        </p:txBody>
      </p:sp>
      <p:sp>
        <p:nvSpPr>
          <p:cNvPr id="4" name="幻灯片图像占位符 3"/>
          <p:cNvSpPr>
            <a:spLocks noGrp="1" noRot="1" noChangeAspect="1"/>
          </p:cNvSpPr>
          <p:nvPr>
            <p:ph type="sldImg" idx="2"/>
          </p:nvPr>
        </p:nvSpPr>
        <p:spPr>
          <a:xfrm>
            <a:off x="4552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7F4D71F-C241-4371-B1C7-6C52E22124B5}" type="slidenum">
              <a:rPr lang="zh-CN" altLang="en-US" smtClean="0"/>
              <a:t>‹#›</a:t>
            </a:fld>
            <a:endParaRPr lang="zh-CN" altLang="en-US"/>
          </a:p>
        </p:txBody>
      </p:sp>
    </p:spTree>
    <p:extLst>
      <p:ext uri="{BB962C8B-B14F-4D97-AF65-F5344CB8AC3E}">
        <p14:creationId xmlns:p14="http://schemas.microsoft.com/office/powerpoint/2010/main" val="2725345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课程信息</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为什么要学习编译器？</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程序设计语言的演变</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编译器结构和阶段</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如何学习这门课程？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a:t>
            </a:fld>
            <a:endParaRPr lang="zh-CN" altLang="en-US"/>
          </a:p>
        </p:txBody>
      </p:sp>
    </p:spTree>
    <p:extLst>
      <p:ext uri="{BB962C8B-B14F-4D97-AF65-F5344CB8AC3E}">
        <p14:creationId xmlns:p14="http://schemas.microsoft.com/office/powerpoint/2010/main" val="2824477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评分标准</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a:t>
            </a:fld>
            <a:endParaRPr lang="zh-CN" altLang="en-US"/>
          </a:p>
        </p:txBody>
      </p:sp>
    </p:spTree>
    <p:extLst>
      <p:ext uri="{BB962C8B-B14F-4D97-AF65-F5344CB8AC3E}">
        <p14:creationId xmlns:p14="http://schemas.microsoft.com/office/powerpoint/2010/main" val="1830302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课程信息</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为什么要学习编译器？</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程序设计语言的演变</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编译器结构和阶段</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如何学习这门课程？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a:t>
            </a:fld>
            <a:endParaRPr lang="zh-CN" altLang="en-US"/>
          </a:p>
        </p:txBody>
      </p:sp>
    </p:spTree>
    <p:extLst>
      <p:ext uri="{BB962C8B-B14F-4D97-AF65-F5344CB8AC3E}">
        <p14:creationId xmlns:p14="http://schemas.microsoft.com/office/powerpoint/2010/main" val="2608842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为什么要学习这门“难”的课程？</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计算机科学基础课程</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学习编译和程序分析技术</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学习如何构建程序设计语言</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课程涵盖理论和实践两个方面</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 理论：讲座和书面作业</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 实践：实验室和编程任务</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如果你想成为一名硬核程序员</a:t>
            </a:r>
            <a:endParaRPr lang="zh-CN" altLang="en-US" sz="1800"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a:t>
            </a:fld>
            <a:endParaRPr lang="zh-CN" altLang="en-US"/>
          </a:p>
        </p:txBody>
      </p:sp>
    </p:spTree>
    <p:extLst>
      <p:ext uri="{BB962C8B-B14F-4D97-AF65-F5344CB8AC3E}">
        <p14:creationId xmlns:p14="http://schemas.microsoft.com/office/powerpoint/2010/main" val="3750131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课程信息</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为什么要学习编译器？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程序设计语言的演变</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编译器结构和阶段</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如何学习这门课程？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a:t>
            </a:fld>
            <a:endParaRPr lang="zh-CN" altLang="en-US"/>
          </a:p>
        </p:txBody>
      </p:sp>
    </p:spTree>
    <p:extLst>
      <p:ext uri="{BB962C8B-B14F-4D97-AF65-F5344CB8AC3E}">
        <p14:creationId xmlns:p14="http://schemas.microsoft.com/office/powerpoint/2010/main" val="1337431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编程语言</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描述计算的符号</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所有软件都是用某种编程语言编写的</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如今，有</a:t>
            </a:r>
            <a:r>
              <a:rPr lang="en-US" altLang="zh-CN" sz="1800" dirty="0">
                <a:latin typeface="黑体" panose="02010609060101010101" pitchFamily="49" charset="-122"/>
                <a:ea typeface="黑体" panose="02010609060101010101" pitchFamily="49" charset="-122"/>
              </a:rPr>
              <a:t>700</a:t>
            </a:r>
            <a:r>
              <a:rPr lang="zh-CN" altLang="en-US" sz="1800" dirty="0">
                <a:latin typeface="黑体" panose="02010609060101010101" pitchFamily="49" charset="-122"/>
                <a:ea typeface="黑体" panose="02010609060101010101" pitchFamily="49" charset="-122"/>
              </a:rPr>
              <a:t>多种编程语言（约</a:t>
            </a:r>
            <a:r>
              <a:rPr lang="en-US" altLang="zh-CN" sz="1800" dirty="0">
                <a:latin typeface="黑体" panose="02010609060101010101" pitchFamily="49" charset="-122"/>
                <a:ea typeface="黑体" panose="02010609060101010101" pitchFamily="49" charset="-122"/>
              </a:rPr>
              <a:t>250</a:t>
            </a:r>
            <a:r>
              <a:rPr lang="zh-CN" altLang="en-US" sz="1800" dirty="0">
                <a:latin typeface="黑体" panose="02010609060101010101" pitchFamily="49" charset="-122"/>
                <a:ea typeface="黑体" panose="02010609060101010101" pitchFamily="49" charset="-122"/>
              </a:rPr>
              <a:t>种流行语言）</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 低级语言</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计算机可直接理解</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 高级语言</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人类可以理解，需要翻译才能被计算机理解</a:t>
            </a:r>
            <a:endParaRPr lang="zh-CN" altLang="en-US" sz="1800"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a:t>
            </a:fld>
            <a:endParaRPr lang="zh-CN" altLang="en-US"/>
          </a:p>
        </p:txBody>
      </p:sp>
    </p:spTree>
    <p:extLst>
      <p:ext uri="{BB962C8B-B14F-4D97-AF65-F5344CB8AC3E}">
        <p14:creationId xmlns:p14="http://schemas.microsoft.com/office/powerpoint/2010/main" val="1610299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第一台电子计算机</a:t>
            </a:r>
            <a:r>
              <a:rPr lang="en-US" altLang="zh-CN" sz="1200" dirty="0">
                <a:latin typeface="黑体" panose="02010609060101010101" pitchFamily="49" charset="-122"/>
                <a:ea typeface="黑体" panose="02010609060101010101" pitchFamily="49" charset="-122"/>
              </a:rPr>
              <a:t>ENIAC</a:t>
            </a:r>
            <a:r>
              <a:rPr lang="zh-CN" altLang="en-US" sz="1200" dirty="0">
                <a:latin typeface="黑体" panose="02010609060101010101" pitchFamily="49" charset="-122"/>
                <a:ea typeface="黑体" panose="02010609060101010101" pitchFamily="49" charset="-122"/>
              </a:rPr>
              <a:t>出现在</a:t>
            </a:r>
            <a:r>
              <a:rPr lang="en-US" altLang="zh-CN" sz="1200" dirty="0">
                <a:latin typeface="黑体" panose="02010609060101010101" pitchFamily="49" charset="-122"/>
                <a:ea typeface="黑体" panose="02010609060101010101" pitchFamily="49" charset="-122"/>
              </a:rPr>
              <a:t>1946</a:t>
            </a:r>
            <a:r>
              <a:rPr lang="zh-CN" altLang="en-US" sz="1200" dirty="0">
                <a:latin typeface="黑体" panose="02010609060101010101" pitchFamily="49" charset="-122"/>
                <a:ea typeface="黑体" panose="02010609060101010101" pitchFamily="49" charset="-122"/>
              </a:rPr>
              <a:t>年。它是用机器语言（</a:t>
            </a:r>
            <a:r>
              <a:rPr lang="en-US" altLang="zh-CN" sz="1200" dirty="0">
                <a:latin typeface="黑体" panose="02010609060101010101" pitchFamily="49" charset="-122"/>
                <a:ea typeface="黑体" panose="02010609060101010101" pitchFamily="49" charset="-122"/>
              </a:rPr>
              <a:t>0</a:t>
            </a:r>
            <a:r>
              <a:rPr lang="zh-CN" altLang="en-US" sz="1200" dirty="0">
                <a:latin typeface="黑体" panose="02010609060101010101" pitchFamily="49" charset="-122"/>
                <a:ea typeface="黑体" panose="02010609060101010101" pitchFamily="49" charset="-122"/>
              </a:rPr>
              <a:t>和</a:t>
            </a:r>
            <a:r>
              <a:rPr lang="en-US" altLang="zh-CN" sz="1200" dirty="0">
                <a:latin typeface="黑体" panose="02010609060101010101" pitchFamily="49" charset="-122"/>
                <a:ea typeface="黑体" panose="02010609060101010101" pitchFamily="49" charset="-122"/>
              </a:rPr>
              <a:t>1</a:t>
            </a:r>
            <a:r>
              <a:rPr lang="zh-CN" altLang="en-US" sz="1200" dirty="0">
                <a:latin typeface="黑体" panose="02010609060101010101" pitchFamily="49" charset="-122"/>
                <a:ea typeface="黑体" panose="02010609060101010101" pitchFamily="49" charset="-122"/>
              </a:rPr>
              <a:t>的序列）通过设置开关和电缆进行编程的。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11</a:t>
            </a:fld>
            <a:endParaRPr lang="zh-CN" altLang="en-US"/>
          </a:p>
        </p:txBody>
      </p:sp>
    </p:spTree>
    <p:extLst>
      <p:ext uri="{BB962C8B-B14F-4D97-AF65-F5344CB8AC3E}">
        <p14:creationId xmlns:p14="http://schemas.microsoft.com/office/powerpoint/2010/main" val="3174050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汇编语言</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迈向人类友好语言的第一步</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助记符用于机器指令</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宏指令用于频繁使用的机器指令序列</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对内存地址和内容的显式操作</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仍然是低级的且依赖于机器</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13</a:t>
            </a:fld>
            <a:endParaRPr lang="zh-CN" altLang="en-US"/>
          </a:p>
        </p:txBody>
      </p:sp>
    </p:spTree>
    <p:extLst>
      <p:ext uri="{BB962C8B-B14F-4D97-AF65-F5344CB8AC3E}">
        <p14:creationId xmlns:p14="http://schemas.microsoft.com/office/powerpoint/2010/main" val="3254334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迈向高级语言</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汇编语言的缺点</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编程既乏味又缓慢</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人类无法理解程序</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程序容易出错且难以调试</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高级编程语言出现在</a:t>
            </a:r>
            <a:r>
              <a:rPr lang="en-US" altLang="zh-CN" sz="1200" dirty="0">
                <a:latin typeface="黑体" panose="02010609060101010101" pitchFamily="49" charset="-122"/>
                <a:ea typeface="黑体" panose="02010609060101010101" pitchFamily="49" charset="-122"/>
              </a:rPr>
              <a:t>20</a:t>
            </a:r>
            <a:r>
              <a:rPr lang="zh-CN" altLang="en-US" sz="1200" dirty="0">
                <a:latin typeface="黑体" panose="02010609060101010101" pitchFamily="49" charset="-122"/>
                <a:ea typeface="黑体" panose="02010609060101010101" pitchFamily="49" charset="-122"/>
              </a:rPr>
              <a:t>世纪</a:t>
            </a:r>
            <a:r>
              <a:rPr lang="en-US" altLang="zh-CN" sz="1200" dirty="0">
                <a:latin typeface="黑体" panose="02010609060101010101" pitchFamily="49" charset="-122"/>
                <a:ea typeface="黑体" panose="02010609060101010101" pitchFamily="49" charset="-122"/>
              </a:rPr>
              <a:t>50</a:t>
            </a:r>
            <a:r>
              <a:rPr lang="zh-CN" altLang="en-US" sz="1200" dirty="0">
                <a:latin typeface="黑体" panose="02010609060101010101" pitchFamily="49" charset="-122"/>
                <a:ea typeface="黑体" panose="02010609060101010101" pitchFamily="49" charset="-122"/>
              </a:rPr>
              <a:t>年代后半叶</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Fortran</a:t>
            </a:r>
            <a:r>
              <a:rPr lang="zh-CN" altLang="en-US" sz="1200" dirty="0">
                <a:latin typeface="黑体" panose="02010609060101010101" pitchFamily="49" charset="-122"/>
                <a:ea typeface="黑体" panose="02010609060101010101" pitchFamily="49" charset="-122"/>
              </a:rPr>
              <a:t>：用于科学计算</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Cobol</a:t>
            </a:r>
            <a:r>
              <a:rPr lang="zh-CN" altLang="en-US" sz="1200" dirty="0">
                <a:latin typeface="黑体" panose="02010609060101010101" pitchFamily="49" charset="-122"/>
                <a:ea typeface="黑体" panose="02010609060101010101" pitchFamily="49" charset="-122"/>
              </a:rPr>
              <a:t>：用于业务数据处理</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Lisp</a:t>
            </a:r>
            <a:r>
              <a:rPr lang="zh-CN" altLang="en-US" sz="1200" dirty="0">
                <a:latin typeface="黑体" panose="02010609060101010101" pitchFamily="49" charset="-122"/>
                <a:ea typeface="黑体" panose="02010609060101010101" pitchFamily="49" charset="-122"/>
              </a:rPr>
              <a:t>：用于符号计算</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14</a:t>
            </a:fld>
            <a:endParaRPr lang="zh-CN" altLang="en-US"/>
          </a:p>
        </p:txBody>
      </p:sp>
    </p:spTree>
    <p:extLst>
      <p:ext uri="{BB962C8B-B14F-4D97-AF65-F5344CB8AC3E}">
        <p14:creationId xmlns:p14="http://schemas.microsoft.com/office/powerpoint/2010/main" val="1459122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1953</a:t>
            </a:r>
            <a:r>
              <a:rPr lang="zh-CN" altLang="en-US" sz="1200" dirty="0">
                <a:latin typeface="黑体" panose="02010609060101010101" pitchFamily="49" charset="-122"/>
                <a:ea typeface="黑体" panose="02010609060101010101" pitchFamily="49" charset="-122"/>
              </a:rPr>
              <a:t>年，</a:t>
            </a:r>
            <a:r>
              <a:rPr lang="en-US" altLang="zh-CN" sz="1200" dirty="0">
                <a:latin typeface="黑体" panose="02010609060101010101" pitchFamily="49" charset="-122"/>
                <a:ea typeface="黑体" panose="02010609060101010101" pitchFamily="49" charset="-122"/>
              </a:rPr>
              <a:t>John Backus</a:t>
            </a:r>
            <a:r>
              <a:rPr lang="zh-CN" altLang="en-US" sz="1200" dirty="0">
                <a:latin typeface="黑体" panose="02010609060101010101" pitchFamily="49" charset="-122"/>
                <a:ea typeface="黑体" panose="02010609060101010101" pitchFamily="49" charset="-122"/>
              </a:rPr>
              <a:t>提出开发一种更实用的替代汇编语言的方法，用于在</a:t>
            </a:r>
            <a:r>
              <a:rPr lang="en-US" altLang="zh-CN" sz="1200" dirty="0">
                <a:latin typeface="黑体" panose="02010609060101010101" pitchFamily="49" charset="-122"/>
                <a:ea typeface="黑体" panose="02010609060101010101" pitchFamily="49" charset="-122"/>
              </a:rPr>
              <a:t>IBM 704</a:t>
            </a:r>
            <a:r>
              <a:rPr lang="zh-CN" altLang="en-US" sz="1200" dirty="0">
                <a:latin typeface="黑体" panose="02010609060101010101" pitchFamily="49" charset="-122"/>
                <a:ea typeface="黑体" panose="02010609060101010101" pitchFamily="49" charset="-122"/>
              </a:rPr>
              <a:t>大型计算机上编程</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15</a:t>
            </a:fld>
            <a:endParaRPr lang="zh-CN" altLang="en-US"/>
          </a:p>
        </p:txBody>
      </p:sp>
    </p:spTree>
    <p:extLst>
      <p:ext uri="{BB962C8B-B14F-4D97-AF65-F5344CB8AC3E}">
        <p14:creationId xmlns:p14="http://schemas.microsoft.com/office/powerpoint/2010/main" val="2460486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黑体" panose="02010609060101010101" pitchFamily="49" charset="-122"/>
                <a:ea typeface="黑体" panose="02010609060101010101" pitchFamily="49" charset="-122"/>
              </a:rPr>
              <a:t>Fortran</a:t>
            </a:r>
            <a:r>
              <a:rPr lang="zh-CN" altLang="en-US" sz="1200" dirty="0">
                <a:latin typeface="黑体" panose="02010609060101010101" pitchFamily="49" charset="-122"/>
                <a:ea typeface="黑体" panose="02010609060101010101" pitchFamily="49" charset="-122"/>
              </a:rPr>
              <a:t>：第一代高级语言</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第一个</a:t>
            </a:r>
            <a:r>
              <a:rPr lang="en-US" altLang="zh-CN" sz="1200" dirty="0">
                <a:latin typeface="黑体" panose="02010609060101010101" pitchFamily="49" charset="-122"/>
                <a:ea typeface="黑体" panose="02010609060101010101" pitchFamily="49" charset="-122"/>
              </a:rPr>
              <a:t>Fortran</a:t>
            </a: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Formula Translation</a:t>
            </a:r>
            <a:r>
              <a:rPr lang="zh-CN" altLang="en-US" sz="1200" dirty="0">
                <a:latin typeface="黑体" panose="02010609060101010101" pitchFamily="49" charset="-122"/>
                <a:ea typeface="黑体" panose="02010609060101010101" pitchFamily="49" charset="-122"/>
              </a:rPr>
              <a:t>）编译器于</a:t>
            </a:r>
            <a:r>
              <a:rPr lang="en-US" altLang="zh-CN" sz="1200" dirty="0">
                <a:latin typeface="黑体" panose="02010609060101010101" pitchFamily="49" charset="-122"/>
                <a:ea typeface="黑体" panose="02010609060101010101" pitchFamily="49" charset="-122"/>
              </a:rPr>
              <a:t>1957</a:t>
            </a:r>
            <a:r>
              <a:rPr lang="zh-CN" altLang="en-US" sz="1200" dirty="0">
                <a:latin typeface="黑体" panose="02010609060101010101" pitchFamily="49" charset="-122"/>
                <a:ea typeface="黑体" panose="02010609060101010101" pitchFamily="49" charset="-122"/>
              </a:rPr>
              <a:t>年推出</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编码变得更快，</a:t>
            </a:r>
            <a:r>
              <a:rPr lang="en-US" altLang="zh-CN" sz="1200" dirty="0">
                <a:latin typeface="黑体" panose="02010609060101010101" pitchFamily="49" charset="-122"/>
                <a:ea typeface="黑体" panose="02010609060101010101" pitchFamily="49" charset="-122"/>
              </a:rPr>
              <a:t>1958</a:t>
            </a:r>
            <a:r>
              <a:rPr lang="zh-CN" altLang="en-US" sz="1200" dirty="0">
                <a:latin typeface="黑体" panose="02010609060101010101" pitchFamily="49" charset="-122"/>
                <a:ea typeface="黑体" panose="02010609060101010101" pitchFamily="49" charset="-122"/>
              </a:rPr>
              <a:t>年有</a:t>
            </a:r>
            <a:r>
              <a:rPr lang="en-US" altLang="zh-CN" sz="1200" dirty="0">
                <a:latin typeface="黑体" panose="02010609060101010101" pitchFamily="49" charset="-122"/>
                <a:ea typeface="黑体" panose="02010609060101010101" pitchFamily="49" charset="-122"/>
              </a:rPr>
              <a:t>50%</a:t>
            </a:r>
            <a:r>
              <a:rPr lang="zh-CN" altLang="en-US" sz="1200" dirty="0">
                <a:latin typeface="黑体" panose="02010609060101010101" pitchFamily="49" charset="-122"/>
                <a:ea typeface="黑体" panose="02010609060101010101" pitchFamily="49" charset="-122"/>
              </a:rPr>
              <a:t>以上的软件使用</a:t>
            </a:r>
            <a:r>
              <a:rPr lang="en-US" altLang="zh-CN" sz="1200" dirty="0">
                <a:latin typeface="黑体" panose="02010609060101010101" pitchFamily="49" charset="-122"/>
                <a:ea typeface="黑体" panose="02010609060101010101" pitchFamily="49" charset="-122"/>
              </a:rPr>
              <a:t>Fortran</a:t>
            </a:r>
          </a:p>
          <a:p>
            <a:r>
              <a:rPr lang="zh-CN" altLang="en-US" sz="1200" dirty="0">
                <a:latin typeface="黑体" panose="02010609060101010101" pitchFamily="49" charset="-122"/>
                <a:ea typeface="黑体" panose="02010609060101010101" pitchFamily="49" charset="-122"/>
              </a:rPr>
              <a:t>影响巨大，现代编译器保留了</a:t>
            </a:r>
            <a:r>
              <a:rPr lang="en-US" altLang="zh-CN" sz="1200" dirty="0">
                <a:latin typeface="黑体" panose="02010609060101010101" pitchFamily="49" charset="-122"/>
                <a:ea typeface="黑体" panose="02010609060101010101" pitchFamily="49" charset="-122"/>
              </a:rPr>
              <a:t>Fortran I</a:t>
            </a:r>
            <a:r>
              <a:rPr lang="zh-CN" altLang="en-US" sz="1200" dirty="0">
                <a:latin typeface="黑体" panose="02010609060101010101" pitchFamily="49" charset="-122"/>
                <a:ea typeface="黑体" panose="02010609060101010101" pitchFamily="49" charset="-122"/>
              </a:rPr>
              <a:t>的大纲</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Fortran</a:t>
            </a:r>
            <a:r>
              <a:rPr lang="zh-CN" altLang="en-US" sz="1200" dirty="0">
                <a:latin typeface="黑体" panose="02010609060101010101" pitchFamily="49" charset="-122"/>
                <a:ea typeface="黑体" panose="02010609060101010101" pitchFamily="49" charset="-122"/>
              </a:rPr>
              <a:t>至今仍在广泛使用）</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16</a:t>
            </a:fld>
            <a:endParaRPr lang="zh-CN" altLang="en-US"/>
          </a:p>
        </p:txBody>
      </p:sp>
    </p:spTree>
    <p:extLst>
      <p:ext uri="{BB962C8B-B14F-4D97-AF65-F5344CB8AC3E}">
        <p14:creationId xmlns:p14="http://schemas.microsoft.com/office/powerpoint/2010/main" val="1403247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课程信息</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为什么要学习编译器？</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程序设计语言的演变</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编译器结构和阶段</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如何学习这门课程？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17</a:t>
            </a:fld>
            <a:endParaRPr lang="zh-CN" altLang="en-US"/>
          </a:p>
        </p:txBody>
      </p:sp>
    </p:spTree>
    <p:extLst>
      <p:ext uri="{BB962C8B-B14F-4D97-AF65-F5344CB8AC3E}">
        <p14:creationId xmlns:p14="http://schemas.microsoft.com/office/powerpoint/2010/main" val="3846093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编译器的结构</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输入：源代码</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前端</a:t>
            </a:r>
            <a:r>
              <a:rPr lang="zh-CN" altLang="en-US" sz="1200" dirty="0">
                <a:latin typeface="黑体" panose="02010609060101010101" pitchFamily="49" charset="-122"/>
                <a:ea typeface="黑体" panose="02010609060101010101" pitchFamily="49" charset="-122"/>
                <a:sym typeface="Wingdings" panose="05000000000000000000" pitchFamily="2" charset="2"/>
              </a:rPr>
              <a:t>：（分析部分）</a:t>
            </a:r>
            <a:endParaRPr lang="en-US" altLang="zh-CN" sz="1200" dirty="0">
              <a:latin typeface="黑体" panose="02010609060101010101" pitchFamily="49" charset="-122"/>
              <a:ea typeface="黑体" panose="02010609060101010101" pitchFamily="49"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词法分析器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语法分析器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语义分析器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中间代码生成器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后端</a:t>
            </a:r>
            <a:r>
              <a:rPr lang="zh-CN" altLang="en-US" sz="1200" dirty="0">
                <a:latin typeface="黑体" panose="02010609060101010101" pitchFamily="49" charset="-122"/>
                <a:ea typeface="黑体" panose="02010609060101010101" pitchFamily="49" charset="-122"/>
                <a:sym typeface="Wingdings" panose="05000000000000000000" pitchFamily="2" charset="2"/>
              </a:rPr>
              <a:t>：（合成部分）</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机器无关代码优化器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代码生成器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机器相关代码优化器</a:t>
            </a:r>
          </a:p>
          <a:p>
            <a:r>
              <a:rPr lang="zh-CN" altLang="en-US" dirty="0"/>
              <a:t>输出：机器码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18</a:t>
            </a:fld>
            <a:endParaRPr lang="zh-CN" altLang="en-US"/>
          </a:p>
        </p:txBody>
      </p:sp>
    </p:spTree>
    <p:extLst>
      <p:ext uri="{BB962C8B-B14F-4D97-AF65-F5344CB8AC3E}">
        <p14:creationId xmlns:p14="http://schemas.microsoft.com/office/powerpoint/2010/main" val="464043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编译器的前端</a:t>
            </a:r>
            <a:endParaRPr lang="en-US" altLang="zh-CN" sz="1200" dirty="0">
              <a:latin typeface="黑体" panose="02010609060101010101" pitchFamily="49" charset="-122"/>
              <a:ea typeface="黑体" panose="02010609060101010101" pitchFamily="49" charset="-122"/>
            </a:endParaRPr>
          </a:p>
          <a:p>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词法分析器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语法分析器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语义分析器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中间代码生成器</a:t>
            </a:r>
            <a:endParaRPr lang="en-US" altLang="zh-CN" sz="1200" dirty="0">
              <a:latin typeface="黑体" panose="02010609060101010101" pitchFamily="49" charset="-122"/>
              <a:ea typeface="黑体" panose="02010609060101010101" pitchFamily="49" charset="-122"/>
            </a:endParaRPr>
          </a:p>
          <a:p>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将源程序分解为多个组成部分，并在其上强加语法结构</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使用语法结构创建源程序的中间表示（</a:t>
            </a:r>
            <a:r>
              <a:rPr lang="en-US" altLang="zh-CN" sz="1200" dirty="0">
                <a:latin typeface="黑体" panose="02010609060101010101" pitchFamily="49" charset="-122"/>
                <a:ea typeface="黑体" panose="02010609060101010101" pitchFamily="49" charset="-122"/>
              </a:rPr>
              <a:t>IR</a:t>
            </a:r>
            <a:r>
              <a:rPr lang="zh-CN" altLang="en-US" sz="1200" dirty="0">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收集有关源程序的信息，并将其存储在称为符号表的数据结构中（将与</a:t>
            </a:r>
            <a:r>
              <a:rPr lang="en-US" altLang="zh-CN" sz="1200" dirty="0">
                <a:latin typeface="黑体" panose="02010609060101010101" pitchFamily="49" charset="-122"/>
                <a:ea typeface="黑体" panose="02010609060101010101" pitchFamily="49" charset="-122"/>
              </a:rPr>
              <a:t>IR</a:t>
            </a:r>
            <a:r>
              <a:rPr lang="zh-CN" altLang="en-US" sz="1200" dirty="0">
                <a:latin typeface="黑体" panose="02010609060101010101" pitchFamily="49" charset="-122"/>
                <a:ea typeface="黑体" panose="02010609060101010101" pitchFamily="49" charset="-122"/>
              </a:rPr>
              <a:t>一起传给后端）</a:t>
            </a:r>
            <a:endParaRPr lang="en-US" altLang="zh-CN" sz="1200" dirty="0">
              <a:latin typeface="黑体" panose="02010609060101010101" pitchFamily="49" charset="-122"/>
              <a:ea typeface="黑体" panose="02010609060101010101" pitchFamily="49" charset="-122"/>
            </a:endParaRPr>
          </a:p>
          <a:p>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19</a:t>
            </a:fld>
            <a:endParaRPr lang="zh-CN" altLang="en-US"/>
          </a:p>
        </p:txBody>
      </p:sp>
    </p:spTree>
    <p:extLst>
      <p:ext uri="{BB962C8B-B14F-4D97-AF65-F5344CB8AC3E}">
        <p14:creationId xmlns:p14="http://schemas.microsoft.com/office/powerpoint/2010/main" val="286420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编译器的后端</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机器无关代码优化器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代码生成器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机器相关代码优化器</a:t>
            </a:r>
            <a:endParaRPr lang="en-US" altLang="zh-CN" sz="1200" dirty="0">
              <a:latin typeface="黑体" panose="02010609060101010101" pitchFamily="49" charset="-122"/>
              <a:ea typeface="黑体" panose="02010609060101010101" pitchFamily="49" charset="-122"/>
            </a:endParaRPr>
          </a:p>
          <a:p>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根据</a:t>
            </a:r>
            <a:r>
              <a:rPr lang="en-US" altLang="zh-CN" sz="1200" dirty="0">
                <a:latin typeface="黑体" panose="02010609060101010101" pitchFamily="49" charset="-122"/>
                <a:ea typeface="黑体" panose="02010609060101010101" pitchFamily="49" charset="-122"/>
              </a:rPr>
              <a:t>IR</a:t>
            </a:r>
            <a:r>
              <a:rPr lang="zh-CN" altLang="en-US" sz="1200" dirty="0">
                <a:latin typeface="黑体" panose="02010609060101010101" pitchFamily="49" charset="-122"/>
                <a:ea typeface="黑体" panose="02010609060101010101" pitchFamily="49" charset="-122"/>
              </a:rPr>
              <a:t>和符号表中的信息构建目标程序（通常使用机器语言）</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在此过程中执行代码优化</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20</a:t>
            </a:fld>
            <a:endParaRPr lang="zh-CN" altLang="en-US"/>
          </a:p>
        </p:txBody>
      </p:sp>
    </p:spTree>
    <p:extLst>
      <p:ext uri="{BB962C8B-B14F-4D97-AF65-F5344CB8AC3E}">
        <p14:creationId xmlns:p14="http://schemas.microsoft.com/office/powerpoint/2010/main" val="2923251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字符流 </a:t>
            </a:r>
            <a:r>
              <a:rPr lang="en-US" altLang="zh-CN" dirty="0">
                <a:sym typeface="Wingdings" panose="05000000000000000000" pitchFamily="2" charset="2"/>
              </a:rPr>
              <a:t> </a:t>
            </a:r>
            <a:r>
              <a:rPr lang="zh-CN" altLang="en-US" dirty="0">
                <a:sym typeface="Wingdings" panose="05000000000000000000" pitchFamily="2" charset="2"/>
              </a:rPr>
              <a:t>词法分析 </a:t>
            </a:r>
            <a:r>
              <a:rPr lang="en-US" altLang="zh-CN" dirty="0">
                <a:sym typeface="Wingdings" panose="05000000000000000000" pitchFamily="2" charset="2"/>
              </a:rPr>
              <a:t>  token</a:t>
            </a:r>
            <a:r>
              <a:rPr lang="zh-CN" altLang="en-US" dirty="0">
                <a:sym typeface="Wingdings" panose="05000000000000000000" pitchFamily="2" charset="2"/>
              </a:rPr>
              <a:t>流</a:t>
            </a:r>
            <a:endParaRPr lang="en-US" altLang="zh-CN" dirty="0">
              <a:sym typeface="Wingdings" panose="05000000000000000000" pitchFamily="2" charset="2"/>
            </a:endParaRPr>
          </a:p>
          <a:p>
            <a:r>
              <a:rPr lang="zh-CN" altLang="en-US" sz="1200" dirty="0">
                <a:latin typeface="黑体" panose="02010609060101010101" pitchFamily="49" charset="-122"/>
                <a:ea typeface="黑体" panose="02010609060101010101" pitchFamily="49" charset="-122"/>
              </a:rPr>
              <a:t>词法分析器将源代码分解为一系列 词素</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或“</a:t>
            </a:r>
            <a:r>
              <a:rPr lang="en-US" altLang="zh-CN" sz="1200" dirty="0">
                <a:latin typeface="黑体" panose="02010609060101010101" pitchFamily="49" charset="-122"/>
                <a:ea typeface="黑体" panose="02010609060101010101" pitchFamily="49" charset="-122"/>
              </a:rPr>
              <a:t>words</a:t>
            </a:r>
            <a:r>
              <a:rPr lang="zh-CN" altLang="en-US" sz="1200" dirty="0">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对于每个词素</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，生成一个形式上为</a:t>
            </a:r>
            <a:r>
              <a:rPr lang="en-US" altLang="zh-CN" sz="1200" dirty="0">
                <a:latin typeface="黑体" panose="02010609060101010101" pitchFamily="49" charset="-122"/>
                <a:ea typeface="黑体" panose="02010609060101010101" pitchFamily="49" charset="-122"/>
              </a:rPr>
              <a:t>&lt;token</a:t>
            </a:r>
            <a:r>
              <a:rPr lang="zh-CN" altLang="en-US" sz="1200" dirty="0">
                <a:latin typeface="黑体" panose="02010609060101010101" pitchFamily="49" charset="-122"/>
                <a:ea typeface="黑体" panose="02010609060101010101" pitchFamily="49" charset="-122"/>
              </a:rPr>
              <a:t>名， 属性值</a:t>
            </a:r>
            <a:r>
              <a:rPr lang="en-US" altLang="zh-CN" sz="1200" dirty="0">
                <a:latin typeface="黑体" panose="02010609060101010101" pitchFamily="49" charset="-122"/>
                <a:ea typeface="黑体" panose="02010609060101010101" pitchFamily="49" charset="-122"/>
              </a:rPr>
              <a:t>&gt;</a:t>
            </a:r>
            <a:r>
              <a:rPr lang="zh-CN" altLang="en-US" sz="1200" dirty="0">
                <a:latin typeface="黑体" panose="02010609060101010101" pitchFamily="49" charset="-122"/>
                <a:ea typeface="黑体" panose="02010609060101010101" pitchFamily="49" charset="-122"/>
              </a:rPr>
              <a:t>的</a:t>
            </a:r>
            <a:r>
              <a:rPr lang="zh-CN" altLang="en-US" sz="1000" dirty="0">
                <a:latin typeface="黑体" panose="02010609060101010101" pitchFamily="49" charset="-122"/>
                <a:ea typeface="黑体" panose="02010609060101010101" pitchFamily="49" charset="-122"/>
              </a:rPr>
              <a:t>词法单元</a:t>
            </a:r>
            <a:endParaRPr lang="en-US" altLang="zh-CN" sz="1000" dirty="0">
              <a:latin typeface="黑体" panose="02010609060101010101" pitchFamily="49" charset="-122"/>
              <a:ea typeface="黑体" panose="02010609060101010101" pitchFamily="49" charset="-122"/>
            </a:endParaRPr>
          </a:p>
          <a:p>
            <a:r>
              <a:rPr lang="zh-CN" altLang="en-US" sz="1000" dirty="0">
                <a:latin typeface="黑体" panose="02010609060101010101" pitchFamily="49" charset="-122"/>
                <a:ea typeface="黑体" panose="02010609060101010101" pitchFamily="49" charset="-122"/>
              </a:rPr>
              <a:t>词法单元中单元名称：</a:t>
            </a:r>
            <a:r>
              <a:rPr lang="zh-CN" altLang="en-US" sz="1200" dirty="0">
                <a:latin typeface="黑体" panose="02010609060101010101" pitchFamily="49" charset="-122"/>
                <a:ea typeface="黑体" panose="02010609060101010101" pitchFamily="49" charset="-122"/>
              </a:rPr>
              <a:t>语法分析过程中使用的抽象符号</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属性值：指向符号表中的一个条目。表条目中的信息用于语义分析和代码生成。</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21</a:t>
            </a:fld>
            <a:endParaRPr lang="zh-CN" altLang="en-US"/>
          </a:p>
        </p:txBody>
      </p:sp>
    </p:spTree>
    <p:extLst>
      <p:ext uri="{BB962C8B-B14F-4D97-AF65-F5344CB8AC3E}">
        <p14:creationId xmlns:p14="http://schemas.microsoft.com/office/powerpoint/2010/main" val="2990758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词素 </a:t>
            </a:r>
            <a:r>
              <a:rPr lang="en-US" altLang="zh-CN" sz="1200" dirty="0">
                <a:latin typeface="黑体" panose="02010609060101010101" pitchFamily="49" charset="-122"/>
                <a:ea typeface="黑体" panose="02010609060101010101" pitchFamily="49" charset="-122"/>
              </a:rPr>
              <a:t>vs token</a:t>
            </a:r>
          </a:p>
          <a:p>
            <a:r>
              <a:rPr lang="zh-CN" altLang="en-US" sz="1200" dirty="0">
                <a:latin typeface="黑体" panose="02010609060101010101" pitchFamily="49" charset="-122"/>
                <a:ea typeface="黑体" panose="02010609060101010101" pitchFamily="49" charset="-122"/>
              </a:rPr>
              <a:t>词素是一个字符串，是程序设计语言中最低级别的句法单元</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“单词”和程序设计语言的标点符号记号</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token</a:t>
            </a:r>
            <a:r>
              <a:rPr lang="zh-CN" altLang="en-US" sz="1200" dirty="0">
                <a:latin typeface="黑体" panose="02010609060101010101" pitchFamily="49" charset="-122"/>
                <a:ea typeface="黑体" panose="02010609060101010101" pitchFamily="49" charset="-122"/>
              </a:rPr>
              <a:t>是一种语法类别，代表一类词汇</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英语：名词，动词，形容词</a:t>
            </a:r>
            <a:r>
              <a:rPr lang="en-US" altLang="zh-CN" sz="1200" dirty="0">
                <a:latin typeface="黑体" panose="02010609060101010101" pitchFamily="49" charset="-122"/>
                <a:ea typeface="黑体" panose="02010609060101010101" pitchFamily="49" charset="-122"/>
              </a:rPr>
              <a:t>…</a:t>
            </a:r>
          </a:p>
          <a:p>
            <a:r>
              <a:rPr lang="zh-CN" altLang="en-US" sz="1200" dirty="0">
                <a:latin typeface="黑体" panose="02010609060101010101" pitchFamily="49" charset="-122"/>
                <a:ea typeface="黑体" panose="02010609060101010101" pitchFamily="49" charset="-122"/>
              </a:rPr>
              <a:t>▪ 在编程语言中：标识符，关键字，空白</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（模式）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22</a:t>
            </a:fld>
            <a:endParaRPr lang="zh-CN" altLang="en-US"/>
          </a:p>
        </p:txBody>
      </p:sp>
    </p:spTree>
    <p:extLst>
      <p:ext uri="{BB962C8B-B14F-4D97-AF65-F5344CB8AC3E}">
        <p14:creationId xmlns:p14="http://schemas.microsoft.com/office/powerpoint/2010/main" val="3494801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注意</a:t>
            </a:r>
            <a:r>
              <a:rPr lang="en-US" altLang="zh-CN" sz="1800" dirty="0">
                <a:latin typeface="黑体" panose="02010609060101010101" pitchFamily="49" charset="-122"/>
                <a:ea typeface="黑体" panose="02010609060101010101" pitchFamily="49" charset="-122"/>
              </a:rPr>
              <a:t>: &lt;=&gt;, &lt;+&gt;, &lt;*&gt;, &lt;60&gt;</a:t>
            </a:r>
            <a:r>
              <a:rPr lang="zh-CN" altLang="en-US" sz="1800" dirty="0">
                <a:latin typeface="黑体" panose="02010609060101010101" pitchFamily="49" charset="-122"/>
                <a:ea typeface="黑体" panose="02010609060101010101" pitchFamily="49" charset="-122"/>
              </a:rPr>
              <a:t>不是定义的形式。这是为了便于注释。</a:t>
            </a:r>
            <a:r>
              <a:rPr lang="en-US" altLang="zh-CN" sz="1800" dirty="0">
                <a:latin typeface="黑体" panose="02010609060101010101" pitchFamily="49" charset="-122"/>
                <a:ea typeface="黑体" panose="02010609060101010101" pitchFamily="49" charset="-122"/>
              </a:rPr>
              <a:t>: &lt;=&gt;</a:t>
            </a:r>
            <a:r>
              <a:rPr lang="zh-CN" altLang="en-US" sz="1800" dirty="0">
                <a:latin typeface="黑体" panose="02010609060101010101" pitchFamily="49" charset="-122"/>
                <a:ea typeface="黑体" panose="02010609060101010101" pitchFamily="49" charset="-122"/>
              </a:rPr>
              <a:t>可能是</a:t>
            </a:r>
            <a:r>
              <a:rPr lang="en-US" altLang="zh-CN" sz="1800" kern="1200" spc="-5" dirty="0">
                <a:solidFill>
                  <a:prstClr val="black"/>
                </a:solidFill>
                <a:latin typeface="Palatino Linotype"/>
                <a:cs typeface="Palatino Linotype"/>
              </a:rPr>
              <a:t>&lt;assign, -&gt; and </a:t>
            </a:r>
            <a:r>
              <a:rPr lang="en-US" altLang="zh-CN" sz="1800" kern="1200" dirty="0">
                <a:solidFill>
                  <a:prstClr val="black"/>
                </a:solidFill>
                <a:latin typeface="Palatino Linotype"/>
                <a:cs typeface="Palatino Linotype"/>
              </a:rPr>
              <a:t>&lt;60&gt;</a:t>
            </a:r>
            <a:r>
              <a:rPr lang="zh-CN" altLang="en-US" sz="1800" kern="1200" dirty="0">
                <a:solidFill>
                  <a:prstClr val="black"/>
                </a:solidFill>
                <a:latin typeface="Palatino Linotype"/>
                <a:cs typeface="Palatino Linotype"/>
              </a:rPr>
              <a:t>可能是</a:t>
            </a:r>
            <a:r>
              <a:rPr lang="en-US" altLang="zh-CN" sz="1800" kern="1200" spc="-15" dirty="0">
                <a:solidFill>
                  <a:prstClr val="black"/>
                </a:solidFill>
                <a:latin typeface="Palatino Linotype"/>
                <a:cs typeface="Palatino Linotype"/>
              </a:rPr>
              <a:t>&lt;number,</a:t>
            </a:r>
            <a:r>
              <a:rPr lang="en-US" altLang="zh-CN" sz="1800" kern="1200" spc="75" dirty="0">
                <a:solidFill>
                  <a:prstClr val="black"/>
                </a:solidFill>
                <a:latin typeface="Palatino Linotype"/>
                <a:cs typeface="Palatino Linotype"/>
              </a:rPr>
              <a:t> </a:t>
            </a:r>
            <a:r>
              <a:rPr lang="en-US" altLang="zh-CN" sz="1800" kern="1200" dirty="0">
                <a:solidFill>
                  <a:prstClr val="black"/>
                </a:solidFill>
                <a:latin typeface="Palatino Linotype"/>
                <a:cs typeface="Palatino Linotype"/>
              </a:rPr>
              <a:t>4&gt;.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23</a:t>
            </a:fld>
            <a:endParaRPr lang="zh-CN" altLang="en-US"/>
          </a:p>
        </p:txBody>
      </p:sp>
    </p:spTree>
    <p:extLst>
      <p:ext uri="{BB962C8B-B14F-4D97-AF65-F5344CB8AC3E}">
        <p14:creationId xmlns:p14="http://schemas.microsoft.com/office/powerpoint/2010/main" val="3953102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7F4D71F-C241-4371-B1C7-6C52E22124B5}" type="slidenum">
              <a:rPr lang="zh-CN" altLang="en-US" smtClean="0"/>
              <a:t>24</a:t>
            </a:fld>
            <a:endParaRPr lang="zh-CN" altLang="en-US"/>
          </a:p>
        </p:txBody>
      </p:sp>
    </p:spTree>
    <p:extLst>
      <p:ext uri="{BB962C8B-B14F-4D97-AF65-F5344CB8AC3E}">
        <p14:creationId xmlns:p14="http://schemas.microsoft.com/office/powerpoint/2010/main" val="3847817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语法分析器（解析器）使用</a:t>
            </a:r>
            <a:r>
              <a:rPr lang="en-US" altLang="zh-CN" sz="1200" dirty="0" err="1">
                <a:latin typeface="黑体" panose="02010609060101010101" pitchFamily="49" charset="-122"/>
                <a:ea typeface="黑体" panose="02010609060101010101" pitchFamily="49" charset="-122"/>
              </a:rPr>
              <a:t>lexer</a:t>
            </a:r>
            <a:r>
              <a:rPr lang="zh-CN" altLang="en-US" sz="1200" dirty="0">
                <a:latin typeface="黑体" panose="02010609060101010101" pitchFamily="49" charset="-122"/>
                <a:ea typeface="黑体" panose="02010609060101010101" pitchFamily="49" charset="-122"/>
              </a:rPr>
              <a:t>生成的</a:t>
            </a:r>
            <a:r>
              <a:rPr lang="en-US" altLang="zh-CN" sz="1200" dirty="0">
                <a:latin typeface="黑体" panose="02010609060101010101" pitchFamily="49" charset="-122"/>
                <a:ea typeface="黑体" panose="02010609060101010101" pitchFamily="49" charset="-122"/>
              </a:rPr>
              <a:t>token</a:t>
            </a:r>
            <a:r>
              <a:rPr lang="zh-CN" altLang="en-US" sz="1200" dirty="0">
                <a:latin typeface="黑体" panose="02010609060101010101" pitchFamily="49" charset="-122"/>
                <a:ea typeface="黑体" panose="02010609060101010101" pitchFamily="49" charset="-122"/>
              </a:rPr>
              <a:t>的名称来创建一个中间表示，</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该中间表示描述</a:t>
            </a:r>
            <a:r>
              <a:rPr lang="en-US" altLang="zh-CN" sz="1200" dirty="0">
                <a:latin typeface="黑体" panose="02010609060101010101" pitchFamily="49" charset="-122"/>
                <a:ea typeface="黑体" panose="02010609060101010101" pitchFamily="49" charset="-122"/>
              </a:rPr>
              <a:t>token</a:t>
            </a:r>
            <a:r>
              <a:rPr lang="zh-CN" altLang="en-US" sz="1200" dirty="0">
                <a:latin typeface="黑体" panose="02010609060101010101" pitchFamily="49" charset="-122"/>
                <a:ea typeface="黑体" panose="02010609060101010101" pitchFamily="49" charset="-122"/>
              </a:rPr>
              <a:t>流的语法结构，通常用语法树来表示</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每个内部节点表示一个操作，内部节点的子节点表示该操作的参数</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25</a:t>
            </a:fld>
            <a:endParaRPr lang="zh-CN" altLang="en-US"/>
          </a:p>
        </p:txBody>
      </p:sp>
    </p:spTree>
    <p:extLst>
      <p:ext uri="{BB962C8B-B14F-4D97-AF65-F5344CB8AC3E}">
        <p14:creationId xmlns:p14="http://schemas.microsoft.com/office/powerpoint/2010/main" val="3472408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7F4D71F-C241-4371-B1C7-6C52E22124B5}" type="slidenum">
              <a:rPr lang="zh-CN" altLang="en-US" smtClean="0"/>
              <a:t>26</a:t>
            </a:fld>
            <a:endParaRPr lang="zh-CN" altLang="en-US"/>
          </a:p>
        </p:txBody>
      </p:sp>
    </p:spTree>
    <p:extLst>
      <p:ext uri="{BB962C8B-B14F-4D97-AF65-F5344CB8AC3E}">
        <p14:creationId xmlns:p14="http://schemas.microsoft.com/office/powerpoint/2010/main" val="3730522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BUPT</a:t>
            </a:r>
            <a:r>
              <a:rPr lang="zh-CN" altLang="en-US" dirty="0"/>
              <a:t>为名词，</a:t>
            </a:r>
            <a:r>
              <a:rPr lang="en-US" altLang="zh-CN" dirty="0"/>
              <a:t>is</a:t>
            </a:r>
            <a:r>
              <a:rPr lang="zh-CN" altLang="en-US" dirty="0"/>
              <a:t>为动词，</a:t>
            </a:r>
            <a:r>
              <a:rPr lang="en-US" altLang="zh-CN" dirty="0"/>
              <a:t>a</a:t>
            </a:r>
            <a:r>
              <a:rPr lang="zh-CN" altLang="en-US" dirty="0"/>
              <a:t>为冠词，</a:t>
            </a:r>
            <a:r>
              <a:rPr lang="en-US" altLang="zh-CN" dirty="0"/>
              <a:t>good</a:t>
            </a:r>
            <a:r>
              <a:rPr lang="zh-CN" altLang="en-US" dirty="0"/>
              <a:t>为形容词，</a:t>
            </a:r>
            <a:r>
              <a:rPr lang="en-US" altLang="zh-CN" dirty="0"/>
              <a:t>university</a:t>
            </a:r>
            <a:r>
              <a:rPr lang="zh-CN" altLang="en-US" dirty="0"/>
              <a:t>为名词</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27</a:t>
            </a:fld>
            <a:endParaRPr lang="zh-CN" altLang="en-US"/>
          </a:p>
        </p:txBody>
      </p:sp>
    </p:spTree>
    <p:extLst>
      <p:ext uri="{BB962C8B-B14F-4D97-AF65-F5344CB8AC3E}">
        <p14:creationId xmlns:p14="http://schemas.microsoft.com/office/powerpoint/2010/main" val="2357117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语义分析器使用语法树和符号表中的信息来检查源程序与语言定义的语义一致性</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还收集用于类型检查、类型转换和中间代码生成的类型信息</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28</a:t>
            </a:fld>
            <a:endParaRPr lang="zh-CN" altLang="en-US"/>
          </a:p>
        </p:txBody>
      </p:sp>
    </p:spTree>
    <p:extLst>
      <p:ext uri="{BB962C8B-B14F-4D97-AF65-F5344CB8AC3E}">
        <p14:creationId xmlns:p14="http://schemas.microsoft.com/office/powerpoint/2010/main" val="20822572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什么是语义？</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编程语言的语法描述程序的正确形式</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编程语言的语义描述程序的含义，即每个程序在执行时做什么</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29</a:t>
            </a:fld>
            <a:endParaRPr lang="zh-CN" altLang="en-US"/>
          </a:p>
        </p:txBody>
      </p:sp>
    </p:spTree>
    <p:extLst>
      <p:ext uri="{BB962C8B-B14F-4D97-AF65-F5344CB8AC3E}">
        <p14:creationId xmlns:p14="http://schemas.microsoft.com/office/powerpoint/2010/main" val="4275863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英语中的语义分析</a:t>
            </a:r>
          </a:p>
          <a:p>
            <a:r>
              <a:rPr lang="zh-CN" altLang="en-US" sz="1800" dirty="0">
                <a:latin typeface="黑体" panose="02010609060101010101" pitchFamily="49" charset="-122"/>
                <a:ea typeface="黑体" panose="02010609060101010101" pitchFamily="49" charset="-122"/>
              </a:rPr>
              <a:t>杰克说杰瑞把他的作业落在家里了。“他的”指的是什么？杰克的还是杰瑞的？</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杰克说杰克把他的作业落在家里了。有多少个杰克？哪一个把作业落在家里了？</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30</a:t>
            </a:fld>
            <a:endParaRPr lang="zh-CN" altLang="en-US"/>
          </a:p>
        </p:txBody>
      </p:sp>
    </p:spTree>
    <p:extLst>
      <p:ext uri="{BB962C8B-B14F-4D97-AF65-F5344CB8AC3E}">
        <p14:creationId xmlns:p14="http://schemas.microsoft.com/office/powerpoint/2010/main" val="11871052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程序中的语义分析</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理解程序的含义是非常困难的。</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编译器只执行非常有限的分析来捕捉语义不一致。</a:t>
            </a:r>
          </a:p>
          <a:p>
            <a:r>
              <a:rPr lang="zh-CN" altLang="en-US" sz="1200" dirty="0">
                <a:latin typeface="黑体" panose="02010609060101010101" pitchFamily="49" charset="-122"/>
                <a:ea typeface="黑体" panose="02010609060101010101" pitchFamily="49" charset="-122"/>
              </a:rPr>
              <a:t>编程语言定义了严格的规则来避免歧义。</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编译器将把第</a:t>
            </a:r>
            <a:r>
              <a:rPr lang="en-US" altLang="zh-CN" sz="1200" dirty="0">
                <a:latin typeface="黑体" panose="02010609060101010101" pitchFamily="49" charset="-122"/>
                <a:ea typeface="黑体" panose="02010609060101010101" pitchFamily="49" charset="-122"/>
              </a:rPr>
              <a:t>5</a:t>
            </a:r>
            <a:r>
              <a:rPr lang="zh-CN" altLang="en-US" sz="1200" dirty="0">
                <a:latin typeface="黑体" panose="02010609060101010101" pitchFamily="49" charset="-122"/>
                <a:ea typeface="黑体" panose="02010609060101010101" pitchFamily="49" charset="-122"/>
              </a:rPr>
              <a:t>行的</a:t>
            </a:r>
            <a:r>
              <a:rPr lang="en-US" altLang="zh-CN" sz="1200" dirty="0">
                <a:latin typeface="黑体" panose="02010609060101010101" pitchFamily="49" charset="-122"/>
                <a:ea typeface="黑体" panose="02010609060101010101" pitchFamily="49" charset="-122"/>
              </a:rPr>
              <a:t>Jack</a:t>
            </a:r>
            <a:r>
              <a:rPr lang="zh-CN" altLang="en-US" sz="1200" dirty="0">
                <a:latin typeface="黑体" panose="02010609060101010101" pitchFamily="49" charset="-122"/>
                <a:ea typeface="黑体" panose="02010609060101010101" pitchFamily="49" charset="-122"/>
              </a:rPr>
              <a:t>绑定到第</a:t>
            </a:r>
            <a:r>
              <a:rPr lang="en-US" altLang="zh-CN" sz="1200" dirty="0">
                <a:latin typeface="黑体" panose="02010609060101010101" pitchFamily="49" charset="-122"/>
                <a:ea typeface="黑体" panose="02010609060101010101" pitchFamily="49" charset="-122"/>
              </a:rPr>
              <a:t>4</a:t>
            </a:r>
            <a:r>
              <a:rPr lang="zh-CN" altLang="en-US" sz="1200" dirty="0">
                <a:latin typeface="黑体" panose="02010609060101010101" pitchFamily="49" charset="-122"/>
                <a:ea typeface="黑体" panose="02010609060101010101" pitchFamily="49" charset="-122"/>
              </a:rPr>
              <a:t>行的内部定义。</a:t>
            </a:r>
          </a:p>
          <a:p>
            <a:endParaRPr lang="zh-CN" altLang="en-US" sz="12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31</a:t>
            </a:fld>
            <a:endParaRPr lang="zh-CN" altLang="en-US"/>
          </a:p>
        </p:txBody>
      </p:sp>
    </p:spTree>
    <p:extLst>
      <p:ext uri="{BB962C8B-B14F-4D97-AF65-F5344CB8AC3E}">
        <p14:creationId xmlns:p14="http://schemas.microsoft.com/office/powerpoint/2010/main" val="901015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类型检查是语义分析的一个重要部分</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编译器检查每个运算符是否具有匹配的操作数（正确类型</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示例：许多语言定义要求数组索引为整数。如果数组元素访问操作的参数是浮点数，则编译器应报告错误。</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32</a:t>
            </a:fld>
            <a:endParaRPr lang="zh-CN" altLang="en-US"/>
          </a:p>
        </p:txBody>
      </p:sp>
    </p:spTree>
    <p:extLst>
      <p:ext uri="{BB962C8B-B14F-4D97-AF65-F5344CB8AC3E}">
        <p14:creationId xmlns:p14="http://schemas.microsoft.com/office/powerpoint/2010/main" val="6576717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7F4D71F-C241-4371-B1C7-6C52E22124B5}" type="slidenum">
              <a:rPr lang="zh-CN" altLang="en-US" smtClean="0"/>
              <a:t>33</a:t>
            </a:fld>
            <a:endParaRPr lang="zh-CN" altLang="en-US"/>
          </a:p>
        </p:txBody>
      </p:sp>
    </p:spTree>
    <p:extLst>
      <p:ext uri="{BB962C8B-B14F-4D97-AF65-F5344CB8AC3E}">
        <p14:creationId xmlns:p14="http://schemas.microsoft.com/office/powerpoint/2010/main" val="35657448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语义分析后，编译器生成一个中间表示，通常为三地址码</a:t>
            </a:r>
            <a:r>
              <a:rPr lang="en-US" altLang="zh-CN" sz="1200" dirty="0">
                <a:latin typeface="黑体" panose="02010609060101010101" pitchFamily="49" charset="-122"/>
                <a:ea typeface="黑体" panose="02010609060101010101" pitchFamily="49" charset="-122"/>
              </a:rPr>
              <a:t> </a:t>
            </a:r>
          </a:p>
          <a:p>
            <a:r>
              <a:rPr lang="zh-CN" altLang="en-US" sz="1200" dirty="0">
                <a:latin typeface="黑体" panose="02010609060101010101" pitchFamily="49" charset="-122"/>
                <a:ea typeface="黑体" panose="02010609060101010101" pitchFamily="49" charset="-122"/>
              </a:rPr>
              <a:t>▪ 每个指令有三个操作数的类汇编指令</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每个操作数的作用就像一个寄存器</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每个赋值指令在</a:t>
            </a:r>
            <a:r>
              <a:rPr lang="en-US" altLang="zh-CN" sz="1200" dirty="0">
                <a:latin typeface="黑体" panose="02010609060101010101" pitchFamily="49" charset="-122"/>
                <a:ea typeface="黑体" panose="02010609060101010101" pitchFamily="49" charset="-122"/>
              </a:rPr>
              <a:t>RHS</a:t>
            </a:r>
            <a:r>
              <a:rPr lang="zh-CN" altLang="en-US" sz="1200" dirty="0">
                <a:latin typeface="黑体" panose="02010609060101010101" pitchFamily="49" charset="-122"/>
                <a:ea typeface="黑体" panose="02010609060101010101" pitchFamily="49" charset="-122"/>
              </a:rPr>
              <a:t>上最多有一个运算符</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易于翻译成目标机器的机器指令</a:t>
            </a:r>
          </a:p>
          <a:p>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34</a:t>
            </a:fld>
            <a:endParaRPr lang="zh-CN" altLang="en-US"/>
          </a:p>
        </p:txBody>
      </p:sp>
    </p:spTree>
    <p:extLst>
      <p:ext uri="{BB962C8B-B14F-4D97-AF65-F5344CB8AC3E}">
        <p14:creationId xmlns:p14="http://schemas.microsoft.com/office/powerpoint/2010/main" val="3974996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7F4D71F-C241-4371-B1C7-6C52E22124B5}" type="slidenum">
              <a:rPr lang="zh-CN" altLang="en-US" smtClean="0"/>
              <a:t>35</a:t>
            </a:fld>
            <a:endParaRPr lang="zh-CN" altLang="en-US"/>
          </a:p>
        </p:txBody>
      </p:sp>
    </p:spTree>
    <p:extLst>
      <p:ext uri="{BB962C8B-B14F-4D97-AF65-F5344CB8AC3E}">
        <p14:creationId xmlns:p14="http://schemas.microsoft.com/office/powerpoint/2010/main" val="7934520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使用英语编辑</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修改文章改进中间代码</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以获得更好的目标代码</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跑得更快</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使用更少的内存</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较短代码</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耗电更少</a:t>
            </a:r>
            <a:r>
              <a:rPr lang="en-US" altLang="zh-CN" sz="1200" dirty="0">
                <a:latin typeface="黑体" panose="02010609060101010101" pitchFamily="49" charset="-122"/>
                <a:ea typeface="黑体" panose="02010609060101010101" pitchFamily="49" charset="-122"/>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36</a:t>
            </a:fld>
            <a:endParaRPr lang="zh-CN" altLang="en-US"/>
          </a:p>
        </p:txBody>
      </p:sp>
    </p:spTree>
    <p:extLst>
      <p:ext uri="{BB962C8B-B14F-4D97-AF65-F5344CB8AC3E}">
        <p14:creationId xmlns:p14="http://schemas.microsoft.com/office/powerpoint/2010/main" val="28346700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60</a:t>
            </a:r>
            <a:r>
              <a:rPr lang="zh-CN" altLang="en-US" sz="1200" dirty="0">
                <a:latin typeface="黑体" panose="02010609060101010101" pitchFamily="49" charset="-122"/>
                <a:ea typeface="黑体" panose="02010609060101010101" pitchFamily="49" charset="-122"/>
              </a:rPr>
              <a:t>是一个恒定的整数值。它到浮点的转换可以在编译时一次性完成。</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t3</a:t>
            </a:r>
            <a:r>
              <a:rPr lang="zh-CN" altLang="en-US" sz="1200" dirty="0">
                <a:latin typeface="黑体" panose="02010609060101010101" pitchFamily="49" charset="-122"/>
                <a:ea typeface="黑体" panose="02010609060101010101" pitchFamily="49" charset="-122"/>
              </a:rPr>
              <a:t>仅用于值传输</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37</a:t>
            </a:fld>
            <a:endParaRPr lang="zh-CN" altLang="en-US"/>
          </a:p>
        </p:txBody>
      </p:sp>
    </p:spTree>
    <p:extLst>
      <p:ext uri="{BB962C8B-B14F-4D97-AF65-F5344CB8AC3E}">
        <p14:creationId xmlns:p14="http://schemas.microsoft.com/office/powerpoint/2010/main" val="8047421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将</a:t>
            </a:r>
            <a:r>
              <a:rPr lang="en-US" altLang="zh-CN" sz="1200" dirty="0">
                <a:latin typeface="黑体" panose="02010609060101010101" pitchFamily="49" charset="-122"/>
                <a:ea typeface="黑体" panose="02010609060101010101" pitchFamily="49" charset="-122"/>
              </a:rPr>
              <a:t>IR</a:t>
            </a:r>
            <a:r>
              <a:rPr lang="zh-CN" altLang="en-US" sz="1200" dirty="0">
                <a:latin typeface="黑体" panose="02010609060101010101" pitchFamily="49" charset="-122"/>
                <a:ea typeface="黑体" panose="02010609060101010101" pitchFamily="49" charset="-122"/>
              </a:rPr>
              <a:t>映射到目标语言，类似于人工翻译</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分配寄存器和内存以保存值至关重要</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38</a:t>
            </a:fld>
            <a:endParaRPr lang="zh-CN" altLang="en-US"/>
          </a:p>
        </p:txBody>
      </p:sp>
    </p:spTree>
    <p:extLst>
      <p:ext uri="{BB962C8B-B14F-4D97-AF65-F5344CB8AC3E}">
        <p14:creationId xmlns:p14="http://schemas.microsoft.com/office/powerpoint/2010/main" val="41630909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符号表管理</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由前端执行，符号表与中间代码一起传递到后端</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记录变量名称和各种属性</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 分配的存储、类型、范围</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记录过程名称和各种属性</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参数的数量和类型</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传递参数的方式（通过值或引用）</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返回类型</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39</a:t>
            </a:fld>
            <a:endParaRPr lang="zh-CN" altLang="en-US"/>
          </a:p>
        </p:txBody>
      </p:sp>
    </p:spTree>
    <p:extLst>
      <p:ext uri="{BB962C8B-B14F-4D97-AF65-F5344CB8AC3E}">
        <p14:creationId xmlns:p14="http://schemas.microsoft.com/office/powerpoint/2010/main" val="3740222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中间语言（</a:t>
            </a:r>
            <a:r>
              <a:rPr lang="en-US" altLang="zh-CN" sz="1200" dirty="0">
                <a:latin typeface="黑体" panose="02010609060101010101" pitchFamily="49" charset="-122"/>
                <a:ea typeface="黑体" panose="02010609060101010101" pitchFamily="49" charset="-122"/>
              </a:rPr>
              <a:t>IL</a:t>
            </a:r>
            <a:r>
              <a:rPr lang="zh-CN" altLang="en-US" sz="1200" dirty="0">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中间代码在</a:t>
            </a:r>
            <a:r>
              <a:rPr lang="en-US" altLang="zh-CN" sz="1200" dirty="0">
                <a:latin typeface="黑体" panose="02010609060101010101" pitchFamily="49" charset="-122"/>
                <a:ea typeface="黑体" panose="02010609060101010101" pitchFamily="49" charset="-122"/>
              </a:rPr>
              <a:t>IL</a:t>
            </a:r>
            <a:r>
              <a:rPr lang="zh-CN" altLang="en-US" sz="1200" dirty="0">
                <a:latin typeface="黑体" panose="02010609060101010101" pitchFamily="49" charset="-122"/>
                <a:ea typeface="黑体" panose="02010609060101010101" pitchFamily="49" charset="-122"/>
              </a:rPr>
              <a:t>中（例如，三个地址代码）</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一个好的</a:t>
            </a:r>
            <a:r>
              <a:rPr lang="en-US" altLang="zh-CN" sz="1200" dirty="0">
                <a:latin typeface="黑体" panose="02010609060101010101" pitchFamily="49" charset="-122"/>
                <a:ea typeface="黑体" panose="02010609060101010101" pitchFamily="49" charset="-122"/>
              </a:rPr>
              <a:t>IL</a:t>
            </a:r>
            <a:r>
              <a:rPr lang="zh-CN" altLang="en-US" sz="1200" dirty="0">
                <a:latin typeface="黑体" panose="02010609060101010101" pitchFamily="49" charset="-122"/>
                <a:ea typeface="黑体" panose="02010609060101010101" pitchFamily="49" charset="-122"/>
              </a:rPr>
              <a:t>简化了编译器的实现</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40</a:t>
            </a:fld>
            <a:endParaRPr lang="zh-CN" altLang="en-US"/>
          </a:p>
        </p:txBody>
      </p:sp>
    </p:spTree>
    <p:extLst>
      <p:ext uri="{BB962C8B-B14F-4D97-AF65-F5344CB8AC3E}">
        <p14:creationId xmlns:p14="http://schemas.microsoft.com/office/powerpoint/2010/main" val="33616675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编译器将用高级语言编写的源程序翻译成可以直接在目标计算机上运行的机器代码。</a:t>
            </a:r>
          </a:p>
          <a:p>
            <a:r>
              <a:rPr lang="zh-CN" altLang="en-US" sz="1200" dirty="0">
                <a:latin typeface="黑体" panose="02010609060101010101" pitchFamily="49" charset="-122"/>
                <a:ea typeface="黑体" panose="02010609060101010101" pitchFamily="49" charset="-122"/>
              </a:rPr>
              <a:t>解释器直接执行源代码中的每个语句，而不需要将程序编译成机器代码。</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41</a:t>
            </a:fld>
            <a:endParaRPr lang="zh-CN" altLang="en-US"/>
          </a:p>
        </p:txBody>
      </p:sp>
    </p:spTree>
    <p:extLst>
      <p:ext uri="{BB962C8B-B14F-4D97-AF65-F5344CB8AC3E}">
        <p14:creationId xmlns:p14="http://schemas.microsoft.com/office/powerpoint/2010/main" val="791703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解释器通常花更少的时间来分析源代码：他们只需解析每个语句并执行它（例如</a:t>
            </a:r>
            <a:r>
              <a:rPr lang="en-US" altLang="zh-CN" sz="1200" dirty="0">
                <a:latin typeface="黑体" panose="02010609060101010101" pitchFamily="49" charset="-122"/>
                <a:ea typeface="黑体" panose="02010609060101010101" pitchFamily="49" charset="-122"/>
              </a:rPr>
              <a:t>Python</a:t>
            </a:r>
            <a:r>
              <a:rPr lang="zh-CN" altLang="en-US" sz="1200" dirty="0">
                <a:latin typeface="黑体" panose="02010609060101010101" pitchFamily="49" charset="-122"/>
                <a:ea typeface="黑体" panose="02010609060101010101" pitchFamily="49" charset="-122"/>
              </a:rPr>
              <a:t>代码）。</a:t>
            </a:r>
          </a:p>
          <a:p>
            <a:r>
              <a:rPr lang="zh-CN" altLang="en-US" sz="1200" dirty="0">
                <a:latin typeface="黑体" panose="02010609060101010101" pitchFamily="49" charset="-122"/>
                <a:ea typeface="黑体" panose="02010609060101010101" pitchFamily="49" charset="-122"/>
              </a:rPr>
              <a:t>相比之下，编译器通常会分析语句（例如，控制流和数据流）之间的关系，以实现优化。</a:t>
            </a:r>
          </a:p>
          <a:p>
            <a:r>
              <a:rPr lang="zh-CN" altLang="en-US" sz="1200" dirty="0">
                <a:latin typeface="黑体" panose="02010609060101010101" pitchFamily="49" charset="-122"/>
                <a:ea typeface="黑体" panose="02010609060101010101" pitchFamily="49" charset="-122"/>
              </a:rPr>
              <a:t>解释器持续执行程序，直到遇到第一个错误才停止。</a:t>
            </a:r>
          </a:p>
          <a:p>
            <a:r>
              <a:rPr lang="zh-CN" altLang="en-US" sz="1200" dirty="0">
                <a:latin typeface="黑体" panose="02010609060101010101" pitchFamily="49" charset="-122"/>
                <a:ea typeface="黑体" panose="02010609060101010101" pitchFamily="49" charset="-122"/>
              </a:rPr>
              <a:t>对于编译语言，程序只有在成功编译后才能执行。</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42</a:t>
            </a:fld>
            <a:endParaRPr lang="zh-CN" altLang="en-US"/>
          </a:p>
        </p:txBody>
      </p:sp>
    </p:spTree>
    <p:extLst>
      <p:ext uri="{BB962C8B-B14F-4D97-AF65-F5344CB8AC3E}">
        <p14:creationId xmlns:p14="http://schemas.microsoft.com/office/powerpoint/2010/main" val="10781811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课程信息</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为什么要学习编译器？</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程序设计语言的演变</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编译器结构和阶段</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如何学习这门课程？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43</a:t>
            </a:fld>
            <a:endParaRPr lang="zh-CN" altLang="en-US"/>
          </a:p>
        </p:txBody>
      </p:sp>
    </p:spTree>
    <p:extLst>
      <p:ext uri="{BB962C8B-B14F-4D97-AF65-F5344CB8AC3E}">
        <p14:creationId xmlns:p14="http://schemas.microsoft.com/office/powerpoint/2010/main" val="20184934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课程</a:t>
            </a:r>
            <a:r>
              <a:rPr lang="en-US" altLang="zh-CN" dirty="0"/>
              <a:t>QQ</a:t>
            </a:r>
            <a:r>
              <a:rPr lang="zh-CN" altLang="en-US" dirty="0"/>
              <a:t>群</a:t>
            </a:r>
            <a:endParaRPr lang="en-US" altLang="zh-CN" dirty="0"/>
          </a:p>
          <a:p>
            <a:r>
              <a:rPr lang="zh-CN" altLang="en-US" dirty="0"/>
              <a:t>作用：答疑、课件分享、发送相关通知</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44</a:t>
            </a:fld>
            <a:endParaRPr lang="zh-CN" altLang="en-US"/>
          </a:p>
        </p:txBody>
      </p:sp>
    </p:spTree>
    <p:extLst>
      <p:ext uri="{BB962C8B-B14F-4D97-AF65-F5344CB8AC3E}">
        <p14:creationId xmlns:p14="http://schemas.microsoft.com/office/powerpoint/2010/main" val="36186049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关于作业：书面作业、实验、课程项目三种</a:t>
            </a:r>
            <a:endParaRPr lang="en-US" altLang="zh-CN" dirty="0"/>
          </a:p>
          <a:p>
            <a:r>
              <a:rPr lang="zh-CN" altLang="en-US" dirty="0"/>
              <a:t>如何查看：</a:t>
            </a:r>
            <a:r>
              <a:rPr lang="en-US" altLang="zh-CN" dirty="0"/>
              <a:t>QQ</a:t>
            </a:r>
            <a:r>
              <a:rPr lang="zh-CN" altLang="en-US" dirty="0"/>
              <a:t>群文件</a:t>
            </a:r>
            <a:endParaRPr lang="en-US" altLang="zh-CN" dirty="0"/>
          </a:p>
          <a:p>
            <a:r>
              <a:rPr lang="zh-CN" altLang="en-US" dirty="0"/>
              <a:t>提交：教学云平台</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45</a:t>
            </a:fld>
            <a:endParaRPr lang="zh-CN" altLang="en-US"/>
          </a:p>
        </p:txBody>
      </p:sp>
    </p:spTree>
    <p:extLst>
      <p:ext uri="{BB962C8B-B14F-4D97-AF65-F5344CB8AC3E}">
        <p14:creationId xmlns:p14="http://schemas.microsoft.com/office/powerpoint/2010/main" val="21332584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43541"/>
                </a:solidFill>
                <a:effectLst/>
                <a:latin typeface="Söhne"/>
              </a:rPr>
              <a:t>关于实验和项目</a:t>
            </a:r>
            <a:endParaRPr lang="en-US" altLang="zh-CN" b="0" i="0" dirty="0">
              <a:solidFill>
                <a:srgbClr val="343541"/>
              </a:solidFill>
              <a:effectLst/>
              <a:latin typeface="Söhne"/>
            </a:endParaRPr>
          </a:p>
          <a:p>
            <a:r>
              <a:rPr lang="zh-CN" altLang="en-US" b="0" i="0" dirty="0">
                <a:solidFill>
                  <a:srgbClr val="343541"/>
                </a:solidFill>
                <a:effectLst/>
                <a:latin typeface="Söhne"/>
              </a:rPr>
              <a:t>实验和项目是编程实践，它们是相辅相成的，最终目标是构建一个编译器。</a:t>
            </a:r>
            <a:endParaRPr lang="en-US" altLang="zh-CN" b="0" i="0" dirty="0">
              <a:solidFill>
                <a:srgbClr val="374151"/>
              </a:solidFill>
              <a:effectLst/>
              <a:latin typeface="Söhne"/>
            </a:endParaRPr>
          </a:p>
          <a:p>
            <a:r>
              <a:rPr lang="zh-CN" altLang="en-US" b="0" i="0" dirty="0">
                <a:solidFill>
                  <a:srgbClr val="343541"/>
                </a:solidFill>
                <a:effectLst/>
                <a:latin typeface="Söhne"/>
              </a:rPr>
              <a:t>实验通常是独立的练习，涉及不同的概念实现，为项目的基础。</a:t>
            </a:r>
            <a:endParaRPr lang="en-US" altLang="zh-CN" b="0" i="0" dirty="0">
              <a:solidFill>
                <a:srgbClr val="343541"/>
              </a:solidFill>
              <a:effectLst/>
              <a:latin typeface="Söhne"/>
            </a:endParaRPr>
          </a:p>
          <a:p>
            <a:r>
              <a:rPr lang="zh-CN" altLang="en-US" b="0" i="0" dirty="0">
                <a:solidFill>
                  <a:srgbClr val="343541"/>
                </a:solidFill>
                <a:effectLst/>
                <a:latin typeface="Söhne"/>
              </a:rPr>
              <a:t>项目是更综合性的任务，要求将实验中的知识应用到一个实际的编译器开发任务中。</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46</a:t>
            </a:fld>
            <a:endParaRPr lang="zh-CN" altLang="en-US"/>
          </a:p>
        </p:txBody>
      </p:sp>
    </p:spTree>
    <p:extLst>
      <p:ext uri="{BB962C8B-B14F-4D97-AF65-F5344CB8AC3E}">
        <p14:creationId xmlns:p14="http://schemas.microsoft.com/office/powerpoint/2010/main" val="3511007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项目概览</a:t>
            </a:r>
            <a:endParaRPr lang="en-US" altLang="zh-CN" dirty="0"/>
          </a:p>
          <a:p>
            <a:r>
              <a:rPr lang="zh-CN" altLang="en-US" dirty="0"/>
              <a:t>设计并实现</a:t>
            </a:r>
            <a:r>
              <a:rPr lang="en-US" altLang="zh-CN" dirty="0"/>
              <a:t>BUPT</a:t>
            </a:r>
            <a:r>
              <a:rPr lang="zh-CN" altLang="en-US" dirty="0"/>
              <a:t>程序设计语言（</a:t>
            </a:r>
            <a:r>
              <a:rPr lang="en-US" altLang="zh-CN" dirty="0"/>
              <a:t>BPL</a:t>
            </a:r>
            <a:r>
              <a:rPr lang="zh-CN" altLang="en-US" dirty="0"/>
              <a:t>）的编译器。</a:t>
            </a:r>
          </a:p>
          <a:p>
            <a:r>
              <a:rPr lang="en-US" altLang="zh-CN" dirty="0"/>
              <a:t>BPL</a:t>
            </a:r>
            <a:r>
              <a:rPr lang="zh-CN" altLang="en-US" dirty="0"/>
              <a:t>是一种类似</a:t>
            </a:r>
            <a:r>
              <a:rPr lang="en-US" altLang="zh-CN" dirty="0"/>
              <a:t>C</a:t>
            </a:r>
            <a:r>
              <a:rPr lang="zh-CN" altLang="en-US" dirty="0"/>
              <a:t>的编程语言，但它删除了大多数高级功能，同时保留了通用编程语言的功能。</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47</a:t>
            </a:fld>
            <a:endParaRPr lang="zh-CN" altLang="en-US"/>
          </a:p>
        </p:txBody>
      </p:sp>
    </p:spTree>
    <p:extLst>
      <p:ext uri="{BB962C8B-B14F-4D97-AF65-F5344CB8AC3E}">
        <p14:creationId xmlns:p14="http://schemas.microsoft.com/office/powerpoint/2010/main" val="22358396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编译器读取</a:t>
            </a:r>
            <a:r>
              <a:rPr lang="en-US" altLang="zh-CN" dirty="0"/>
              <a:t>BPL</a:t>
            </a:r>
            <a:r>
              <a:rPr lang="zh-CN" altLang="en-US" dirty="0"/>
              <a:t>源代码，将其转换为特定的中间表示（</a:t>
            </a:r>
            <a:r>
              <a:rPr lang="en-US" altLang="zh-CN" dirty="0"/>
              <a:t>IR</a:t>
            </a:r>
            <a:r>
              <a:rPr lang="zh-CN" altLang="en-US" dirty="0"/>
              <a:t>）。</a:t>
            </a:r>
          </a:p>
          <a:p>
            <a:r>
              <a:rPr lang="zh-CN" altLang="en-US" dirty="0"/>
              <a:t>在这学期里，你将学习如何从头开始构建自己的编译器。您需要通过词法和语法分析、语义检查、中间代码生成和目标代码生成（可选）来实现它。</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48</a:t>
            </a:fld>
            <a:endParaRPr lang="zh-CN" altLang="en-US"/>
          </a:p>
        </p:txBody>
      </p:sp>
    </p:spTree>
    <p:extLst>
      <p:ext uri="{BB962C8B-B14F-4D97-AF65-F5344CB8AC3E}">
        <p14:creationId xmlns:p14="http://schemas.microsoft.com/office/powerpoint/2010/main" val="4081097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43541"/>
                </a:solidFill>
                <a:effectLst/>
                <a:latin typeface="Söhne"/>
              </a:rPr>
              <a:t>项目阶段（每个阶段约</a:t>
            </a:r>
            <a:r>
              <a:rPr lang="en-US" altLang="zh-CN" b="0" i="0" dirty="0">
                <a:solidFill>
                  <a:srgbClr val="343541"/>
                </a:solidFill>
                <a:effectLst/>
                <a:latin typeface="Söhne"/>
              </a:rPr>
              <a:t>3</a:t>
            </a:r>
            <a:r>
              <a:rPr lang="zh-CN" altLang="en-US" b="0" i="0" dirty="0">
                <a:solidFill>
                  <a:srgbClr val="343541"/>
                </a:solidFill>
                <a:effectLst/>
                <a:latin typeface="Söhne"/>
              </a:rPr>
              <a:t>周）：</a:t>
            </a:r>
          </a:p>
          <a:p>
            <a:r>
              <a:rPr lang="zh-CN" altLang="en-US" b="0" i="0" dirty="0">
                <a:solidFill>
                  <a:srgbClr val="343541"/>
                </a:solidFill>
                <a:effectLst/>
                <a:latin typeface="Söhne"/>
              </a:rPr>
              <a:t>词汇分析与句法分析</a:t>
            </a:r>
          </a:p>
          <a:p>
            <a:r>
              <a:rPr lang="zh-CN" altLang="en-US" b="0" i="0" dirty="0">
                <a:solidFill>
                  <a:srgbClr val="343541"/>
                </a:solidFill>
                <a:effectLst/>
                <a:latin typeface="Söhne"/>
              </a:rPr>
              <a:t>语义分析</a:t>
            </a:r>
          </a:p>
          <a:p>
            <a:r>
              <a:rPr lang="zh-CN" altLang="en-US" b="0" i="0" dirty="0">
                <a:solidFill>
                  <a:srgbClr val="343541"/>
                </a:solidFill>
                <a:effectLst/>
                <a:latin typeface="Söhne"/>
              </a:rPr>
              <a:t>中间代码生成</a:t>
            </a:r>
          </a:p>
          <a:p>
            <a:r>
              <a:rPr lang="zh-CN" altLang="en-US" b="0" i="0" dirty="0">
                <a:solidFill>
                  <a:srgbClr val="343541"/>
                </a:solidFill>
                <a:effectLst/>
                <a:latin typeface="Söhne"/>
              </a:rPr>
              <a:t>目标代码生成（可选）</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49</a:t>
            </a:fld>
            <a:endParaRPr lang="zh-CN" altLang="en-US"/>
          </a:p>
        </p:txBody>
      </p:sp>
    </p:spTree>
    <p:extLst>
      <p:ext uri="{BB962C8B-B14F-4D97-AF65-F5344CB8AC3E}">
        <p14:creationId xmlns:p14="http://schemas.microsoft.com/office/powerpoint/2010/main" val="18044084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43541"/>
                </a:solidFill>
                <a:effectLst/>
                <a:latin typeface="Söhne"/>
              </a:rPr>
              <a:t>BPL</a:t>
            </a:r>
            <a:r>
              <a:rPr lang="zh-CN" altLang="en-US" b="0" i="0" dirty="0">
                <a:solidFill>
                  <a:srgbClr val="343541"/>
                </a:solidFill>
                <a:effectLst/>
                <a:latin typeface="Söhne"/>
              </a:rPr>
              <a:t>规范</a:t>
            </a:r>
            <a:endParaRPr lang="en-US" altLang="zh-CN" b="0" i="0" dirty="0">
              <a:solidFill>
                <a:srgbClr val="343541"/>
              </a:solidFill>
              <a:effectLst/>
              <a:latin typeface="Söhne"/>
            </a:endParaRPr>
          </a:p>
          <a:p>
            <a:r>
              <a:rPr lang="en-US" altLang="zh-CN" b="0" i="0" dirty="0">
                <a:solidFill>
                  <a:srgbClr val="343541"/>
                </a:solidFill>
                <a:effectLst/>
                <a:latin typeface="Söhne"/>
              </a:rPr>
              <a:t>token.txt</a:t>
            </a:r>
          </a:p>
          <a:p>
            <a:r>
              <a:rPr lang="zh-CN" altLang="en-US" b="0" i="0" dirty="0">
                <a:solidFill>
                  <a:srgbClr val="343541"/>
                </a:solidFill>
                <a:effectLst/>
                <a:latin typeface="Söhne"/>
              </a:rPr>
              <a:t>词汇规范，定义了</a:t>
            </a:r>
            <a:r>
              <a:rPr lang="en-US" altLang="zh-CN" b="0" i="0" dirty="0">
                <a:solidFill>
                  <a:srgbClr val="343541"/>
                </a:solidFill>
                <a:effectLst/>
                <a:latin typeface="Söhne"/>
              </a:rPr>
              <a:t>BPL</a:t>
            </a:r>
            <a:r>
              <a:rPr lang="zh-CN" altLang="en-US" b="0" i="0" dirty="0">
                <a:solidFill>
                  <a:srgbClr val="343541"/>
                </a:solidFill>
                <a:effectLst/>
                <a:latin typeface="Söhne"/>
              </a:rPr>
              <a:t>中的有效标记。</a:t>
            </a:r>
          </a:p>
          <a:p>
            <a:r>
              <a:rPr lang="en-US" altLang="zh-CN" b="0" i="0" dirty="0">
                <a:solidFill>
                  <a:srgbClr val="343541"/>
                </a:solidFill>
                <a:effectLst/>
                <a:latin typeface="Söhne"/>
              </a:rPr>
              <a:t>syntax.txt</a:t>
            </a:r>
          </a:p>
          <a:p>
            <a:r>
              <a:rPr lang="zh-CN" altLang="en-US" b="0" i="0" dirty="0">
                <a:solidFill>
                  <a:srgbClr val="343541"/>
                </a:solidFill>
                <a:effectLst/>
                <a:latin typeface="Söhne"/>
              </a:rPr>
              <a:t>语法规则，规定语法结构。</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50</a:t>
            </a:fld>
            <a:endParaRPr lang="zh-CN" altLang="en-US"/>
          </a:p>
        </p:txBody>
      </p:sp>
    </p:spTree>
    <p:extLst>
      <p:ext uri="{BB962C8B-B14F-4D97-AF65-F5344CB8AC3E}">
        <p14:creationId xmlns:p14="http://schemas.microsoft.com/office/powerpoint/2010/main" val="39953694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43541"/>
                </a:solidFill>
                <a:effectLst/>
                <a:latin typeface="Söhne"/>
              </a:rPr>
              <a:t>词汇规范（摘录）</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51</a:t>
            </a:fld>
            <a:endParaRPr lang="zh-CN" altLang="en-US"/>
          </a:p>
        </p:txBody>
      </p:sp>
    </p:spTree>
    <p:extLst>
      <p:ext uri="{BB962C8B-B14F-4D97-AF65-F5344CB8AC3E}">
        <p14:creationId xmlns:p14="http://schemas.microsoft.com/office/powerpoint/2010/main" val="13723730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43541"/>
                </a:solidFill>
                <a:effectLst/>
                <a:latin typeface="Söhne"/>
              </a:rPr>
              <a:t>语法规则（单个产生式）</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52</a:t>
            </a:fld>
            <a:endParaRPr lang="zh-CN" altLang="en-US"/>
          </a:p>
        </p:txBody>
      </p:sp>
    </p:spTree>
    <p:extLst>
      <p:ext uri="{BB962C8B-B14F-4D97-AF65-F5344CB8AC3E}">
        <p14:creationId xmlns:p14="http://schemas.microsoft.com/office/powerpoint/2010/main" val="26124823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开发环境</a:t>
            </a:r>
            <a:endParaRPr lang="en-US" altLang="zh-CN" dirty="0"/>
          </a:p>
          <a:p>
            <a:r>
              <a:rPr lang="zh-CN" altLang="en-US" dirty="0"/>
              <a:t>列出了一些必要依赖</a:t>
            </a:r>
            <a:endParaRPr lang="en-US" altLang="zh-CN" dirty="0"/>
          </a:p>
          <a:p>
            <a:r>
              <a:rPr lang="zh-CN" altLang="en-US" dirty="0"/>
              <a:t>为了减轻负担，我们选择</a:t>
            </a:r>
            <a:r>
              <a:rPr lang="en-US" altLang="zh-CN" dirty="0"/>
              <a:t>Docker</a:t>
            </a:r>
            <a:r>
              <a:rPr lang="zh-CN" altLang="en-US" dirty="0"/>
              <a:t>进行环境配置。首先扫描二维码进入课程群聊，获取共享空间</a:t>
            </a:r>
            <a:r>
              <a:rPr lang="en-US" altLang="zh-CN" dirty="0"/>
              <a:t>Docker</a:t>
            </a:r>
            <a:r>
              <a:rPr lang="zh-CN" altLang="en-US" dirty="0"/>
              <a:t>环境配置教程。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53</a:t>
            </a:fld>
            <a:endParaRPr lang="zh-CN" altLang="en-US"/>
          </a:p>
        </p:txBody>
      </p:sp>
    </p:spTree>
    <p:extLst>
      <p:ext uri="{BB962C8B-B14F-4D97-AF65-F5344CB8AC3E}">
        <p14:creationId xmlns:p14="http://schemas.microsoft.com/office/powerpoint/2010/main" val="12008973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Lab 1</a:t>
            </a:r>
          </a:p>
          <a:p>
            <a:r>
              <a:rPr lang="zh-CN" altLang="en-US" dirty="0"/>
              <a:t>注：</a:t>
            </a:r>
          </a:p>
          <a:p>
            <a:r>
              <a:rPr lang="en-US" altLang="zh-CN" dirty="0"/>
              <a:t>Lab 1</a:t>
            </a:r>
            <a:r>
              <a:rPr lang="zh-CN" altLang="en-US" dirty="0"/>
              <a:t>已经发布在教学云平台上。</a:t>
            </a:r>
          </a:p>
          <a:p>
            <a:r>
              <a:rPr lang="zh-CN" altLang="en-US" dirty="0"/>
              <a:t>在进行</a:t>
            </a:r>
            <a:r>
              <a:rPr lang="en-US" altLang="zh-CN" dirty="0"/>
              <a:t>lab 1</a:t>
            </a:r>
            <a:r>
              <a:rPr lang="zh-CN" altLang="en-US" dirty="0"/>
              <a:t>之前，需部署</a:t>
            </a:r>
            <a:r>
              <a:rPr lang="en-US" altLang="zh-CN" dirty="0"/>
              <a:t>docker</a:t>
            </a:r>
            <a:r>
              <a:rPr lang="zh-CN" altLang="en-US" dirty="0"/>
              <a:t>实验环境。</a:t>
            </a:r>
          </a:p>
          <a:p>
            <a:r>
              <a:rPr lang="zh-CN" altLang="en-US" dirty="0"/>
              <a:t>通过教学云平台提交。</a:t>
            </a:r>
          </a:p>
          <a:p>
            <a:r>
              <a:rPr lang="en-US" altLang="zh-CN" dirty="0" err="1"/>
              <a:t>Dealine</a:t>
            </a:r>
            <a:r>
              <a:rPr lang="zh-CN" altLang="en-US" dirty="0"/>
              <a:t>：</a:t>
            </a:r>
          </a:p>
          <a:p>
            <a:r>
              <a:rPr lang="en-US" altLang="zh-CN" dirty="0"/>
              <a:t>2024</a:t>
            </a:r>
            <a:r>
              <a:rPr lang="zh-CN" altLang="en-US" dirty="0"/>
              <a:t>年</a:t>
            </a:r>
            <a:r>
              <a:rPr lang="en-US" altLang="zh-CN" dirty="0"/>
              <a:t>9</a:t>
            </a:r>
            <a:r>
              <a:rPr lang="zh-CN" altLang="en-US" dirty="0"/>
              <a:t>月</a:t>
            </a:r>
            <a:r>
              <a:rPr lang="en-US" altLang="zh-CN" dirty="0"/>
              <a:t>15</a:t>
            </a:r>
            <a:r>
              <a:rPr lang="zh-CN" altLang="en-US" dirty="0"/>
              <a:t>日</a:t>
            </a:r>
            <a:r>
              <a:rPr lang="en-US" altLang="zh-CN" dirty="0"/>
              <a:t>24:00</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54</a:t>
            </a:fld>
            <a:endParaRPr lang="zh-CN" altLang="en-US"/>
          </a:p>
        </p:txBody>
      </p:sp>
    </p:spTree>
    <p:extLst>
      <p:ext uri="{BB962C8B-B14F-4D97-AF65-F5344CB8AC3E}">
        <p14:creationId xmlns:p14="http://schemas.microsoft.com/office/powerpoint/2010/main" val="3952686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hasCustomPrompt="1"/>
          </p:nvPr>
        </p:nvSpPr>
        <p:spPr bwMode="auto">
          <a:xfrm>
            <a:off x="1143000" y="1122363"/>
            <a:ext cx="6858000" cy="2387600"/>
          </a:xfrm>
        </p:spPr>
        <p:txBody>
          <a:bodyPr anchor="b"/>
          <a:lstStyle>
            <a:lvl1pPr algn="ctr">
              <a:defRPr sz="6000" b="0" i="0">
                <a:latin typeface="Ubuntu Mono derivative Powerlin"/>
                <a:cs typeface="Courier New"/>
              </a:defRPr>
            </a:lvl1pPr>
          </a:lstStyle>
          <a:p>
            <a:pPr>
              <a:defRPr/>
            </a:pPr>
            <a:r>
              <a:rPr lang="en-US"/>
              <a:t>Chapter</a:t>
            </a:r>
            <a:r>
              <a:rPr lang="zh-CN"/>
              <a:t> </a:t>
            </a:r>
            <a:r>
              <a:rPr lang="en-US"/>
              <a:t>1: Introduction</a:t>
            </a:r>
            <a:endParaRPr/>
          </a:p>
        </p:txBody>
      </p:sp>
      <p:sp>
        <p:nvSpPr>
          <p:cNvPr id="3" name="Subtitle 2"/>
          <p:cNvSpPr>
            <a:spLocks noGrp="1"/>
          </p:cNvSpPr>
          <p:nvPr>
            <p:ph type="subTitle" idx="1"/>
          </p:nvPr>
        </p:nvSpPr>
        <p:spPr bwMode="auto">
          <a:xfrm>
            <a:off x="1143000" y="3602038"/>
            <a:ext cx="6858000" cy="1655762"/>
          </a:xfrm>
        </p:spPr>
        <p:txBody>
          <a:bodyPr/>
          <a:lstStyle>
            <a:lvl1pPr marL="0" indent="0" algn="ctr">
              <a:buNone/>
              <a:defRPr sz="2400">
                <a:latin typeface="Ubuntu Mono derivative Powerli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lang="en-US"/>
          </a:p>
          <a:p>
            <a:pPr>
              <a:defRPr/>
            </a:pPr>
            <a:r>
              <a:rPr lang="en-US"/>
              <a:t>Yanhui Guo</a:t>
            </a:r>
            <a:endParaRP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dirty="0"/>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pic>
        <p:nvPicPr>
          <p:cNvPr id="7" name="Picture 7" descr="A picture containing text, font, logo, symbol&#10;&#10;Description automatically generated">
            <a:extLst>
              <a:ext uri="{FF2B5EF4-FFF2-40B4-BE49-F238E27FC236}">
                <a16:creationId xmlns:a16="http://schemas.microsoft.com/office/drawing/2014/main" id="{782B8BB1-B0D2-C76F-8E59-FA264C6B0E54}"/>
              </a:ext>
            </a:extLst>
          </p:cNvPr>
          <p:cNvPicPr>
            <a:picLocks noChangeAspect="1"/>
          </p:cNvPicPr>
          <p:nvPr userDrawn="1"/>
        </p:nvPicPr>
        <p:blipFill>
          <a:blip r:embed="rId2"/>
          <a:stretch/>
        </p:blipFill>
        <p:spPr bwMode="auto">
          <a:xfrm>
            <a:off x="0" y="0"/>
            <a:ext cx="3543024" cy="1235110"/>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Outline</a:t>
            </a:r>
            <a:endParaRPr/>
          </a:p>
        </p:txBody>
      </p:sp>
      <p:sp>
        <p:nvSpPr>
          <p:cNvPr id="3" name="Content Placeholder 2"/>
          <p:cNvSpPr>
            <a:spLocks noGrp="1"/>
          </p:cNvSpPr>
          <p:nvPr>
            <p:ph idx="1" hasCustomPrompt="1"/>
          </p:nvPr>
        </p:nvSpPr>
        <p:spPr bwMode="auto"/>
        <p:txBody>
          <a:bodyPr/>
          <a:lstStyle>
            <a:lvl1pPr>
              <a:lnSpc>
                <a:spcPct val="150000"/>
              </a:lnSpc>
              <a:defRPr>
                <a:latin typeface="Ubuntu Mono derivative Powerlin"/>
              </a:defRPr>
            </a:lvl1pPr>
          </a:lstStyle>
          <a:p>
            <a:pPr lvl="0">
              <a:defRPr/>
            </a:pPr>
            <a:r>
              <a:rPr lang="en-US"/>
              <a:t>One</a:t>
            </a:r>
            <a:endParaRPr/>
          </a:p>
          <a:p>
            <a:pPr lvl="0">
              <a:defRPr/>
            </a:pPr>
            <a:r>
              <a:t>Two</a:t>
            </a:r>
          </a:p>
          <a:p>
            <a:pPr lvl="0">
              <a:defRPr/>
            </a:pPr>
            <a:r>
              <a:t>Three</a:t>
            </a:r>
          </a:p>
          <a:p>
            <a:pPr lvl="0">
              <a:defRPr/>
            </a:pPr>
            <a:r>
              <a:t>Four</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dirty="0"/>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Title</a:t>
            </a:r>
            <a:endParaRPr/>
          </a:p>
        </p:txBody>
      </p:sp>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dirty="0"/>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Title Only">
    <p:spTree>
      <p:nvGrpSpPr>
        <p:cNvPr id="1" name=""/>
        <p:cNvGrpSpPr/>
        <p:nvPr/>
      </p:nvGrpSpPr>
      <p:grpSpPr bwMode="auto">
        <a:xfrm>
          <a:off x="0" y="0"/>
          <a:ext cx="0" cy="0"/>
          <a:chOff x="0" y="0"/>
          <a:chExt cx="0" cy="0"/>
        </a:xfrm>
      </p:grpSpPr>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dirty="0"/>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85D331A-B163-8C07-21E8-DA4B26C66BFF}"/>
              </a:ext>
            </a:extLst>
          </p:cNvPr>
          <p:cNvSpPr>
            <a:spLocks noGrp="1"/>
          </p:cNvSpPr>
          <p:nvPr>
            <p:ph type="ctrTitle" hasCustomPrompt="1"/>
          </p:nvPr>
        </p:nvSpPr>
        <p:spPr bwMode="auto">
          <a:xfrm>
            <a:off x="1143000" y="1122363"/>
            <a:ext cx="6858000" cy="2387600"/>
          </a:xfrm>
        </p:spPr>
        <p:txBody>
          <a:bodyPr anchor="b"/>
          <a:lstStyle>
            <a:lvl1pPr algn="ctr">
              <a:defRPr sz="6000" b="0" i="0">
                <a:latin typeface="Ubuntu Mono derivative Powerlin"/>
                <a:cs typeface="Courier New"/>
              </a:defRPr>
            </a:lvl1pPr>
          </a:lstStyle>
          <a:p>
            <a:pPr>
              <a:defRPr/>
            </a:pPr>
            <a:r>
              <a:rPr lang="en-US"/>
              <a:t>Chapter</a:t>
            </a:r>
            <a:r>
              <a:rPr lang="zh-CN"/>
              <a:t> </a:t>
            </a:r>
            <a:r>
              <a:rPr lang="en-US"/>
              <a:t>1: Introduction</a:t>
            </a:r>
            <a:endParaRPr/>
          </a:p>
        </p:txBody>
      </p:sp>
      <p:sp>
        <p:nvSpPr>
          <p:cNvPr id="7" name="Subtitle 2">
            <a:extLst>
              <a:ext uri="{FF2B5EF4-FFF2-40B4-BE49-F238E27FC236}">
                <a16:creationId xmlns:a16="http://schemas.microsoft.com/office/drawing/2014/main" id="{894366AA-4EC4-80B2-4A99-C647A2850EEC}"/>
              </a:ext>
            </a:extLst>
          </p:cNvPr>
          <p:cNvSpPr>
            <a:spLocks noGrp="1"/>
          </p:cNvSpPr>
          <p:nvPr>
            <p:ph type="subTitle" idx="1"/>
          </p:nvPr>
        </p:nvSpPr>
        <p:spPr bwMode="auto">
          <a:xfrm>
            <a:off x="1143000" y="3645024"/>
            <a:ext cx="6858000" cy="1655762"/>
          </a:xfrm>
        </p:spPr>
        <p:txBody>
          <a:bodyPr/>
          <a:lstStyle>
            <a:lvl1pPr marL="0" indent="0" algn="ctr">
              <a:buNone/>
              <a:defRPr sz="2400">
                <a:latin typeface="Ubuntu Mono derivative Powerli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lang="en-US"/>
          </a:p>
          <a:p>
            <a:pPr>
              <a:defRPr/>
            </a:pPr>
            <a:r>
              <a:rPr lang="en-US"/>
              <a:t>Yanhui Guo</a:t>
            </a:r>
            <a:endParaRPr/>
          </a:p>
        </p:txBody>
      </p:sp>
      <p:pic>
        <p:nvPicPr>
          <p:cNvPr id="11" name="Picture 7" descr="A picture containing text, font, logo, symbol&#10;&#10;Description automatically generated">
            <a:extLst>
              <a:ext uri="{FF2B5EF4-FFF2-40B4-BE49-F238E27FC236}">
                <a16:creationId xmlns:a16="http://schemas.microsoft.com/office/drawing/2014/main" id="{FEF41002-9EA4-A602-02CC-0D04DF9FC567}"/>
              </a:ext>
            </a:extLst>
          </p:cNvPr>
          <p:cNvPicPr>
            <a:picLocks noChangeAspect="1"/>
          </p:cNvPicPr>
          <p:nvPr userDrawn="1"/>
        </p:nvPicPr>
        <p:blipFill>
          <a:blip r:embed="rId2"/>
          <a:stretch/>
        </p:blipFill>
        <p:spPr bwMode="auto">
          <a:xfrm>
            <a:off x="0" y="0"/>
            <a:ext cx="3543024" cy="1235110"/>
          </a:xfrm>
          <a:prstGeom prst="rect">
            <a:avLst/>
          </a:prstGeom>
        </p:spPr>
      </p:pic>
      <p:sp>
        <p:nvSpPr>
          <p:cNvPr id="12" name="日期占位符 11">
            <a:extLst>
              <a:ext uri="{FF2B5EF4-FFF2-40B4-BE49-F238E27FC236}">
                <a16:creationId xmlns:a16="http://schemas.microsoft.com/office/drawing/2014/main" id="{96B95A84-C19C-6EC2-F1B0-B0DD71FF76F8}"/>
              </a:ext>
            </a:extLst>
          </p:cNvPr>
          <p:cNvSpPr>
            <a:spLocks noGrp="1"/>
          </p:cNvSpPr>
          <p:nvPr>
            <p:ph type="dt" sz="half" idx="10"/>
          </p:nvPr>
        </p:nvSpPr>
        <p:spPr/>
        <p:txBody>
          <a:bodyPr/>
          <a:lstStyle>
            <a:lvl1pPr>
              <a:defRPr>
                <a:latin typeface="Ubuntu Mono derivative Powerlin"/>
              </a:defRPr>
            </a:lvl1pPr>
          </a:lstStyle>
          <a:p>
            <a:r>
              <a:rPr lang="en-US" altLang="zh-CN"/>
              <a:t>Fall 2024</a:t>
            </a:r>
            <a:endParaRPr lang="zh-CN" altLang="en-US" dirty="0"/>
          </a:p>
        </p:txBody>
      </p:sp>
      <p:sp>
        <p:nvSpPr>
          <p:cNvPr id="13" name="页脚占位符 12">
            <a:extLst>
              <a:ext uri="{FF2B5EF4-FFF2-40B4-BE49-F238E27FC236}">
                <a16:creationId xmlns:a16="http://schemas.microsoft.com/office/drawing/2014/main" id="{4FB9A444-4125-266F-402C-935260E26534}"/>
              </a:ext>
            </a:extLst>
          </p:cNvPr>
          <p:cNvSpPr>
            <a:spLocks noGrp="1"/>
          </p:cNvSpPr>
          <p:nvPr>
            <p:ph type="ftr" sz="quarter" idx="11"/>
          </p:nvPr>
        </p:nvSpPr>
        <p:spPr/>
        <p:txBody>
          <a:bodyPr/>
          <a:lstStyle>
            <a:lvl1pPr>
              <a:defRPr>
                <a:latin typeface="Ubuntu Mono derivative Powerlin"/>
              </a:defRPr>
            </a:lvl1pPr>
          </a:lstStyle>
          <a:p>
            <a:r>
              <a:rPr lang="en-US" altLang="zh-CN" dirty="0"/>
              <a:t>BUPT Compilers</a:t>
            </a:r>
          </a:p>
        </p:txBody>
      </p:sp>
      <p:sp>
        <p:nvSpPr>
          <p:cNvPr id="14" name="灯片编号占位符 13">
            <a:extLst>
              <a:ext uri="{FF2B5EF4-FFF2-40B4-BE49-F238E27FC236}">
                <a16:creationId xmlns:a16="http://schemas.microsoft.com/office/drawing/2014/main" id="{9EF4245E-A1E7-1E42-941C-88DC6AF9F319}"/>
              </a:ext>
            </a:extLst>
          </p:cNvPr>
          <p:cNvSpPr>
            <a:spLocks noGrp="1"/>
          </p:cNvSpPr>
          <p:nvPr>
            <p:ph type="sldNum" sz="quarter" idx="12"/>
          </p:nvPr>
        </p:nvSpPr>
        <p:spPr/>
        <p:txBody>
          <a:bodyPr/>
          <a:lstStyle>
            <a:lvl1pPr>
              <a:defRPr>
                <a:latin typeface="Ubuntu Mono derivative Powerlin"/>
              </a:defRPr>
            </a:lvl1pPr>
          </a:lstStyle>
          <a:p>
            <a:fld id="{32E80495-B074-4C5E-8F06-F651DE564A8B}" type="slidenum">
              <a:rPr lang="zh-CN" altLang="en-US" smtClean="0"/>
              <a:pPr/>
              <a:t>‹#›</a:t>
            </a:fld>
            <a:endParaRPr lang="zh-CN" altLang="en-US"/>
          </a:p>
        </p:txBody>
      </p:sp>
    </p:spTree>
    <p:extLst>
      <p:ext uri="{BB962C8B-B14F-4D97-AF65-F5344CB8AC3E}">
        <p14:creationId xmlns:p14="http://schemas.microsoft.com/office/powerpoint/2010/main" val="1954748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12969A5-0C17-C047-B149-8B89099A0232}"/>
              </a:ext>
            </a:extLst>
          </p:cNvPr>
          <p:cNvSpPr>
            <a:spLocks noGrp="1"/>
          </p:cNvSpPr>
          <p:nvPr>
            <p:ph type="title" hasCustomPrompt="1"/>
          </p:nvPr>
        </p:nvSpPr>
        <p:spPr bwMode="auto">
          <a:xfrm>
            <a:off x="628650" y="365126"/>
            <a:ext cx="7886700" cy="1325563"/>
          </a:xfrm>
        </p:spPr>
        <p:txBody>
          <a:bodyPr/>
          <a:lstStyle>
            <a:lvl1pPr>
              <a:defRPr>
                <a:latin typeface="Ubuntu Mono derivative Powerlin"/>
              </a:defRPr>
            </a:lvl1pPr>
          </a:lstStyle>
          <a:p>
            <a:pPr>
              <a:defRPr/>
            </a:pPr>
            <a:r>
              <a:rPr lang="en-US"/>
              <a:t>Outline</a:t>
            </a:r>
            <a:endParaRPr/>
          </a:p>
        </p:txBody>
      </p:sp>
      <p:sp>
        <p:nvSpPr>
          <p:cNvPr id="12" name="Content Placeholder 2">
            <a:extLst>
              <a:ext uri="{FF2B5EF4-FFF2-40B4-BE49-F238E27FC236}">
                <a16:creationId xmlns:a16="http://schemas.microsoft.com/office/drawing/2014/main" id="{24E044B4-3547-885A-DEFB-4D463A2FA361}"/>
              </a:ext>
            </a:extLst>
          </p:cNvPr>
          <p:cNvSpPr>
            <a:spLocks noGrp="1"/>
          </p:cNvSpPr>
          <p:nvPr>
            <p:ph idx="1" hasCustomPrompt="1"/>
          </p:nvPr>
        </p:nvSpPr>
        <p:spPr bwMode="auto">
          <a:xfrm>
            <a:off x="628650" y="1825625"/>
            <a:ext cx="7886700" cy="4351338"/>
          </a:xfrm>
        </p:spPr>
        <p:txBody>
          <a:bodyPr/>
          <a:lstStyle>
            <a:lvl1pPr>
              <a:lnSpc>
                <a:spcPct val="150000"/>
              </a:lnSpc>
              <a:defRPr>
                <a:latin typeface="Ubuntu Mono derivative Powerlin"/>
              </a:defRPr>
            </a:lvl1pPr>
          </a:lstStyle>
          <a:p>
            <a:pPr lvl="0">
              <a:defRPr/>
            </a:pPr>
            <a:r>
              <a:rPr lang="en-US" dirty="0"/>
              <a:t>One</a:t>
            </a:r>
            <a:endParaRPr dirty="0"/>
          </a:p>
          <a:p>
            <a:pPr lvl="0">
              <a:defRPr/>
            </a:pPr>
            <a:r>
              <a:rPr dirty="0"/>
              <a:t>Two</a:t>
            </a:r>
          </a:p>
          <a:p>
            <a:pPr lvl="0">
              <a:defRPr/>
            </a:pPr>
            <a:r>
              <a:rPr dirty="0"/>
              <a:t>Three</a:t>
            </a:r>
          </a:p>
          <a:p>
            <a:pPr lvl="0">
              <a:defRPr/>
            </a:pPr>
            <a:r>
              <a:rPr dirty="0"/>
              <a:t>Four</a:t>
            </a:r>
          </a:p>
        </p:txBody>
      </p:sp>
      <p:sp>
        <p:nvSpPr>
          <p:cNvPr id="16" name="日期占位符 15">
            <a:extLst>
              <a:ext uri="{FF2B5EF4-FFF2-40B4-BE49-F238E27FC236}">
                <a16:creationId xmlns:a16="http://schemas.microsoft.com/office/drawing/2014/main" id="{01968B36-3DE9-9093-50AB-7F96C6D12F6E}"/>
              </a:ext>
            </a:extLst>
          </p:cNvPr>
          <p:cNvSpPr>
            <a:spLocks noGrp="1"/>
          </p:cNvSpPr>
          <p:nvPr>
            <p:ph type="dt" sz="half" idx="10"/>
          </p:nvPr>
        </p:nvSpPr>
        <p:spPr/>
        <p:txBody>
          <a:bodyPr/>
          <a:lstStyle>
            <a:lvl1pPr>
              <a:defRPr>
                <a:latin typeface="Ubuntu Mono derivative Powerlin"/>
              </a:defRPr>
            </a:lvl1pPr>
          </a:lstStyle>
          <a:p>
            <a:r>
              <a:rPr lang="en-US" altLang="zh-CN"/>
              <a:t>Fall 2024</a:t>
            </a:r>
            <a:endParaRPr lang="zh-CN" altLang="en-US" dirty="0"/>
          </a:p>
        </p:txBody>
      </p:sp>
      <p:sp>
        <p:nvSpPr>
          <p:cNvPr id="17" name="页脚占位符 16">
            <a:extLst>
              <a:ext uri="{FF2B5EF4-FFF2-40B4-BE49-F238E27FC236}">
                <a16:creationId xmlns:a16="http://schemas.microsoft.com/office/drawing/2014/main" id="{69BC2A8B-8372-917A-B9EC-D4DB12CE3FCE}"/>
              </a:ext>
            </a:extLst>
          </p:cNvPr>
          <p:cNvSpPr>
            <a:spLocks noGrp="1"/>
          </p:cNvSpPr>
          <p:nvPr>
            <p:ph type="ftr" sz="quarter" idx="11"/>
          </p:nvPr>
        </p:nvSpPr>
        <p:spPr/>
        <p:txBody>
          <a:bodyPr/>
          <a:lstStyle>
            <a:lvl1pPr>
              <a:defRPr>
                <a:latin typeface="Ubuntu Mono derivative Powerlin"/>
              </a:defRPr>
            </a:lvl1pPr>
          </a:lstStyle>
          <a:p>
            <a:r>
              <a:rPr lang="en-US" altLang="zh-CN" dirty="0"/>
              <a:t>BUPT Compilers</a:t>
            </a:r>
          </a:p>
        </p:txBody>
      </p:sp>
      <p:sp>
        <p:nvSpPr>
          <p:cNvPr id="18" name="灯片编号占位符 17">
            <a:extLst>
              <a:ext uri="{FF2B5EF4-FFF2-40B4-BE49-F238E27FC236}">
                <a16:creationId xmlns:a16="http://schemas.microsoft.com/office/drawing/2014/main" id="{62F77EFD-ACD9-8057-65C8-7468B153D8D7}"/>
              </a:ext>
            </a:extLst>
          </p:cNvPr>
          <p:cNvSpPr>
            <a:spLocks noGrp="1"/>
          </p:cNvSpPr>
          <p:nvPr>
            <p:ph type="sldNum" sz="quarter" idx="12"/>
          </p:nvPr>
        </p:nvSpPr>
        <p:spPr/>
        <p:txBody>
          <a:bodyPr/>
          <a:lstStyle>
            <a:lvl1pPr>
              <a:defRPr>
                <a:latin typeface="Ubuntu Mono derivative Powerlin"/>
              </a:defRPr>
            </a:lvl1pPr>
          </a:lstStyle>
          <a:p>
            <a:fld id="{32E80495-B074-4C5E-8F06-F651DE564A8B}" type="slidenum">
              <a:rPr lang="zh-CN" altLang="en-US" smtClean="0"/>
              <a:pPr/>
              <a:t>‹#›</a:t>
            </a:fld>
            <a:endParaRPr lang="zh-CN" altLang="en-US" dirty="0"/>
          </a:p>
        </p:txBody>
      </p:sp>
    </p:spTree>
    <p:extLst>
      <p:ext uri="{BB962C8B-B14F-4D97-AF65-F5344CB8AC3E}">
        <p14:creationId xmlns:p14="http://schemas.microsoft.com/office/powerpoint/2010/main" val="1289652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58ADBC1-6D5E-2284-2FE5-F5230F62C142}"/>
              </a:ext>
            </a:extLst>
          </p:cNvPr>
          <p:cNvSpPr>
            <a:spLocks noGrp="1"/>
          </p:cNvSpPr>
          <p:nvPr>
            <p:ph type="title" hasCustomPrompt="1"/>
          </p:nvPr>
        </p:nvSpPr>
        <p:spPr bwMode="auto">
          <a:xfrm>
            <a:off x="628650" y="365126"/>
            <a:ext cx="7886700" cy="1325563"/>
          </a:xfrm>
        </p:spPr>
        <p:txBody>
          <a:bodyPr/>
          <a:lstStyle>
            <a:lvl1pPr>
              <a:defRPr>
                <a:latin typeface="Ubuntu Mono derivative Powerlin"/>
              </a:defRPr>
            </a:lvl1pPr>
          </a:lstStyle>
          <a:p>
            <a:pPr>
              <a:defRPr/>
            </a:pPr>
            <a:r>
              <a:rPr lang="en-US"/>
              <a:t>Title</a:t>
            </a:r>
            <a:endParaRPr/>
          </a:p>
        </p:txBody>
      </p:sp>
      <p:sp>
        <p:nvSpPr>
          <p:cNvPr id="15" name="日期占位符 14">
            <a:extLst>
              <a:ext uri="{FF2B5EF4-FFF2-40B4-BE49-F238E27FC236}">
                <a16:creationId xmlns:a16="http://schemas.microsoft.com/office/drawing/2014/main" id="{DF464F64-D286-6BD3-87B2-BEFA80DDE139}"/>
              </a:ext>
            </a:extLst>
          </p:cNvPr>
          <p:cNvSpPr>
            <a:spLocks noGrp="1"/>
          </p:cNvSpPr>
          <p:nvPr>
            <p:ph type="dt" sz="half" idx="10"/>
          </p:nvPr>
        </p:nvSpPr>
        <p:spPr/>
        <p:txBody>
          <a:bodyPr/>
          <a:lstStyle>
            <a:lvl1pPr>
              <a:defRPr>
                <a:latin typeface="Ubuntu Mono derivative Powerlin"/>
              </a:defRPr>
            </a:lvl1pPr>
          </a:lstStyle>
          <a:p>
            <a:r>
              <a:rPr lang="en-US" altLang="zh-CN"/>
              <a:t>Fall 2024</a:t>
            </a:r>
            <a:endParaRPr lang="zh-CN" altLang="en-US" dirty="0"/>
          </a:p>
        </p:txBody>
      </p:sp>
      <p:sp>
        <p:nvSpPr>
          <p:cNvPr id="16" name="页脚占位符 15">
            <a:extLst>
              <a:ext uri="{FF2B5EF4-FFF2-40B4-BE49-F238E27FC236}">
                <a16:creationId xmlns:a16="http://schemas.microsoft.com/office/drawing/2014/main" id="{D08AC7AA-D2EC-06D1-2F60-52772FE30AA9}"/>
              </a:ext>
            </a:extLst>
          </p:cNvPr>
          <p:cNvSpPr>
            <a:spLocks noGrp="1"/>
          </p:cNvSpPr>
          <p:nvPr>
            <p:ph type="ftr" sz="quarter" idx="11"/>
          </p:nvPr>
        </p:nvSpPr>
        <p:spPr/>
        <p:txBody>
          <a:bodyPr/>
          <a:lstStyle>
            <a:lvl1pPr>
              <a:defRPr sz="1200">
                <a:latin typeface="Ubuntu Mono derivative Powerlin"/>
              </a:defRPr>
            </a:lvl1pPr>
          </a:lstStyle>
          <a:p>
            <a:r>
              <a:rPr lang="en-US" altLang="zh-CN" dirty="0">
                <a:solidFill>
                  <a:srgbClr val="898989"/>
                </a:solidFill>
              </a:rPr>
              <a:t>BUPT Compilers</a:t>
            </a:r>
            <a:endParaRPr lang="zh-CN" altLang="zh-CN" dirty="0"/>
          </a:p>
        </p:txBody>
      </p:sp>
      <p:sp>
        <p:nvSpPr>
          <p:cNvPr id="17" name="灯片编号占位符 16">
            <a:extLst>
              <a:ext uri="{FF2B5EF4-FFF2-40B4-BE49-F238E27FC236}">
                <a16:creationId xmlns:a16="http://schemas.microsoft.com/office/drawing/2014/main" id="{007DC929-C057-3070-41CE-BB3FE07F189D}"/>
              </a:ext>
            </a:extLst>
          </p:cNvPr>
          <p:cNvSpPr>
            <a:spLocks noGrp="1"/>
          </p:cNvSpPr>
          <p:nvPr>
            <p:ph type="sldNum" sz="quarter" idx="12"/>
          </p:nvPr>
        </p:nvSpPr>
        <p:spPr/>
        <p:txBody>
          <a:bodyPr/>
          <a:lstStyle>
            <a:lvl1pPr>
              <a:defRPr>
                <a:latin typeface="Ubuntu Mono derivative Powerlin"/>
              </a:defRPr>
            </a:lvl1pPr>
          </a:lstStyle>
          <a:p>
            <a:fld id="{32E80495-B074-4C5E-8F06-F651DE564A8B}" type="slidenum">
              <a:rPr lang="zh-CN" altLang="en-US" smtClean="0"/>
              <a:pPr/>
              <a:t>‹#›</a:t>
            </a:fld>
            <a:endParaRPr lang="zh-CN" altLang="en-US"/>
          </a:p>
        </p:txBody>
      </p:sp>
    </p:spTree>
    <p:extLst>
      <p:ext uri="{BB962C8B-B14F-4D97-AF65-F5344CB8AC3E}">
        <p14:creationId xmlns:p14="http://schemas.microsoft.com/office/powerpoint/2010/main" val="3740678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9" name="日期占位符 8">
            <a:extLst>
              <a:ext uri="{FF2B5EF4-FFF2-40B4-BE49-F238E27FC236}">
                <a16:creationId xmlns:a16="http://schemas.microsoft.com/office/drawing/2014/main" id="{2EB84379-05EA-4D23-13C3-8454F7B3B06D}"/>
              </a:ext>
            </a:extLst>
          </p:cNvPr>
          <p:cNvSpPr>
            <a:spLocks noGrp="1"/>
          </p:cNvSpPr>
          <p:nvPr>
            <p:ph type="dt" sz="half" idx="10"/>
          </p:nvPr>
        </p:nvSpPr>
        <p:spPr/>
        <p:txBody>
          <a:bodyPr/>
          <a:lstStyle>
            <a:lvl1pPr>
              <a:defRPr sz="1200">
                <a:latin typeface="Ubuntu Mono derivative Powerlin"/>
              </a:defRPr>
            </a:lvl1pPr>
          </a:lstStyle>
          <a:p>
            <a:r>
              <a:rPr lang="en-US" altLang="zh-CN">
                <a:solidFill>
                  <a:srgbClr val="898989"/>
                </a:solidFill>
              </a:rPr>
              <a:t>Fall 2024</a:t>
            </a:r>
            <a:endParaRPr lang="zh-CN" altLang="zh-CN" dirty="0"/>
          </a:p>
        </p:txBody>
      </p:sp>
      <p:sp>
        <p:nvSpPr>
          <p:cNvPr id="10" name="页脚占位符 9">
            <a:extLst>
              <a:ext uri="{FF2B5EF4-FFF2-40B4-BE49-F238E27FC236}">
                <a16:creationId xmlns:a16="http://schemas.microsoft.com/office/drawing/2014/main" id="{A8D886B2-E235-5090-F317-638107193CAA}"/>
              </a:ext>
            </a:extLst>
          </p:cNvPr>
          <p:cNvSpPr>
            <a:spLocks noGrp="1"/>
          </p:cNvSpPr>
          <p:nvPr>
            <p:ph type="ftr" sz="quarter" idx="11"/>
          </p:nvPr>
        </p:nvSpPr>
        <p:spPr/>
        <p:txBody>
          <a:bodyPr/>
          <a:lstStyle>
            <a:lvl1pPr>
              <a:defRPr sz="1200">
                <a:latin typeface="Ubuntu Mono derivative Powerlin"/>
              </a:defRPr>
            </a:lvl1pPr>
          </a:lstStyle>
          <a:p>
            <a:r>
              <a:rPr lang="en-US" altLang="zh-CN" dirty="0">
                <a:solidFill>
                  <a:srgbClr val="898989"/>
                </a:solidFill>
              </a:rPr>
              <a:t>BUPT Compilers</a:t>
            </a:r>
            <a:endParaRPr lang="zh-CN" altLang="zh-CN" dirty="0"/>
          </a:p>
        </p:txBody>
      </p:sp>
      <p:sp>
        <p:nvSpPr>
          <p:cNvPr id="11" name="灯片编号占位符 10">
            <a:extLst>
              <a:ext uri="{FF2B5EF4-FFF2-40B4-BE49-F238E27FC236}">
                <a16:creationId xmlns:a16="http://schemas.microsoft.com/office/drawing/2014/main" id="{8468B541-D14D-F6C0-741E-5F5A56E4FB86}"/>
              </a:ext>
            </a:extLst>
          </p:cNvPr>
          <p:cNvSpPr>
            <a:spLocks noGrp="1"/>
          </p:cNvSpPr>
          <p:nvPr>
            <p:ph type="sldNum" sz="quarter" idx="12"/>
          </p:nvPr>
        </p:nvSpPr>
        <p:spPr/>
        <p:txBody>
          <a:bodyPr/>
          <a:lstStyle>
            <a:lvl1pPr>
              <a:defRPr>
                <a:latin typeface="Ubuntu Mono derivative Powerlin"/>
              </a:defRPr>
            </a:lvl1pPr>
          </a:lstStyle>
          <a:p>
            <a:fld id="{32E80495-B074-4C5E-8F06-F651DE564A8B}" type="slidenum">
              <a:rPr lang="zh-CN" altLang="en-US" smtClean="0"/>
              <a:pPr/>
              <a:t>‹#›</a:t>
            </a:fld>
            <a:endParaRPr lang="zh-CN" altLang="en-US" dirty="0"/>
          </a:p>
        </p:txBody>
      </p:sp>
    </p:spTree>
    <p:extLst>
      <p:ext uri="{BB962C8B-B14F-4D97-AF65-F5344CB8AC3E}">
        <p14:creationId xmlns:p14="http://schemas.microsoft.com/office/powerpoint/2010/main" val="25810348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3"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Ubuntu Mono derivative Powerlin"/>
              </a:defRPr>
            </a:lvl1pPr>
          </a:lstStyle>
          <a:p>
            <a:pPr>
              <a:defRPr/>
            </a:pPr>
            <a:r>
              <a:rPr lang="en-US" altLang="zh-CN"/>
              <a:t>Fall 2024</a:t>
            </a:r>
            <a:endParaRPr dirty="0"/>
          </a:p>
        </p:txBody>
      </p:sp>
      <p:sp>
        <p:nvSpPr>
          <p:cNvPr id="5"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Ubuntu Mono derivative Powerlin"/>
              </a:defRPr>
            </a:lvl1pPr>
          </a:lstStyle>
          <a:p>
            <a:pPr>
              <a:defRPr/>
            </a:pPr>
            <a:r>
              <a:t>BUPT Compilers</a:t>
            </a:r>
          </a:p>
        </p:txBody>
      </p:sp>
      <p:sp>
        <p:nvSpPr>
          <p:cNvPr id="6"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FBC720A-3716-234A-B2DF-CBC7E48049F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914400">
        <a:lnSpc>
          <a:spcPct val="90000"/>
        </a:lnSpc>
        <a:spcBef>
          <a:spcPts val="0"/>
        </a:spcBef>
        <a:buNone/>
        <a:defRPr sz="4400">
          <a:solidFill>
            <a:schemeClr val="tx1"/>
          </a:solidFill>
          <a:latin typeface="Ubuntu Mono derivative Powerlin"/>
          <a:ea typeface="+mj-ea"/>
          <a:cs typeface="+mj-cs"/>
        </a:defRPr>
      </a:lvl1pPr>
    </p:titleStyle>
    <p:bodyStyle>
      <a:lvl1pPr marL="228600" indent="-228600" algn="l" defTabSz="914400">
        <a:lnSpc>
          <a:spcPct val="150000"/>
        </a:lnSpc>
        <a:spcBef>
          <a:spcPts val="1000"/>
        </a:spcBef>
        <a:buFont typeface="Arial"/>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525B0B5-3A59-557C-16C5-760317E118C2}"/>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775AA14-629D-0547-7EBE-DFD401392BE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BC6A0F8-3482-887B-8804-1A669E4E9E65}"/>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Fall 2024</a:t>
            </a:r>
            <a:endParaRPr lang="zh-CN" altLang="en-US"/>
          </a:p>
        </p:txBody>
      </p:sp>
      <p:sp>
        <p:nvSpPr>
          <p:cNvPr id="5" name="页脚占位符 4">
            <a:extLst>
              <a:ext uri="{FF2B5EF4-FFF2-40B4-BE49-F238E27FC236}">
                <a16:creationId xmlns:a16="http://schemas.microsoft.com/office/drawing/2014/main" id="{8712E2BF-0EBA-28FC-5501-3E3B400F2AB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BUPT Compilers</a:t>
            </a:r>
            <a:endParaRPr lang="zh-CN" altLang="en-US"/>
          </a:p>
        </p:txBody>
      </p:sp>
      <p:sp>
        <p:nvSpPr>
          <p:cNvPr id="6" name="灯片编号占位符 5">
            <a:extLst>
              <a:ext uri="{FF2B5EF4-FFF2-40B4-BE49-F238E27FC236}">
                <a16:creationId xmlns:a16="http://schemas.microsoft.com/office/drawing/2014/main" id="{B9CBB48B-55DF-3B61-F90B-D81A0CE488D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E80495-B074-4C5E-8F06-F651DE564A8B}" type="slidenum">
              <a:rPr lang="zh-CN" altLang="en-US" smtClean="0"/>
              <a:t>‹#›</a:t>
            </a:fld>
            <a:endParaRPr lang="zh-CN" altLang="en-US"/>
          </a:p>
        </p:txBody>
      </p:sp>
    </p:spTree>
    <p:extLst>
      <p:ext uri="{BB962C8B-B14F-4D97-AF65-F5344CB8AC3E}">
        <p14:creationId xmlns:p14="http://schemas.microsoft.com/office/powerpoint/2010/main" val="4150814491"/>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8.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www.herongyang.com/Computer-History/FORTRAN-Program-Store-on-Punch-Card.html" TargetMode="External"/><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Subtitle 2"/>
          <p:cNvSpPr>
            <a:spLocks noGrp="1"/>
          </p:cNvSpPr>
          <p:nvPr>
            <p:ph type="subTitle" idx="1"/>
          </p:nvPr>
        </p:nvSpPr>
        <p:spPr bwMode="auto"/>
        <p:txBody>
          <a:bodyPr/>
          <a:lstStyle/>
          <a:p>
            <a:pPr>
              <a:defRPr/>
            </a:pPr>
            <a:r>
              <a:rPr lang="en-US" altLang="zh-CN" sz="3200" dirty="0" err="1">
                <a:solidFill>
                  <a:srgbClr val="000000"/>
                </a:solidFill>
                <a:latin typeface="Palatino Linotype"/>
                <a:ea typeface="Palatino Linotype"/>
                <a:cs typeface="Palatino Linotype"/>
              </a:rPr>
              <a:t>Yanhui</a:t>
            </a:r>
            <a:r>
              <a:rPr lang="en-US" altLang="zh-CN" sz="3200" dirty="0">
                <a:solidFill>
                  <a:srgbClr val="000000"/>
                </a:solidFill>
                <a:latin typeface="Palatino Linotype"/>
                <a:ea typeface="Palatino Linotype"/>
                <a:cs typeface="Palatino Linotype"/>
              </a:rPr>
              <a:t> Guo</a:t>
            </a:r>
          </a:p>
          <a:p>
            <a:pPr>
              <a:defRPr/>
            </a:pPr>
            <a:r>
              <a:rPr lang="en-US" sz="3200" spc="4" dirty="0">
                <a:solidFill>
                  <a:srgbClr val="000000"/>
                </a:solidFill>
                <a:latin typeface="Palatino Linotype"/>
                <a:ea typeface="Palatino Linotype"/>
                <a:cs typeface="Palatino Linotype"/>
              </a:rPr>
              <a:t> </a:t>
            </a:r>
            <a:r>
              <a:rPr lang="en-US" sz="3200" spc="-4" dirty="0">
                <a:solidFill>
                  <a:srgbClr val="000000"/>
                </a:solidFill>
                <a:latin typeface="Palatino Linotype"/>
                <a:ea typeface="Palatino Linotype"/>
                <a:cs typeface="Palatino Linotype"/>
              </a:rPr>
              <a:t>yhguo@bupt.edu.cn</a:t>
            </a:r>
            <a:endParaRPr lang="en-US" dirty="0"/>
          </a:p>
        </p:txBody>
      </p:sp>
      <p:sp>
        <p:nvSpPr>
          <p:cNvPr id="1341913610" name="Footer Placeholder 4"/>
          <p:cNvSpPr>
            <a:spLocks noGrp="1"/>
          </p:cNvSpPr>
          <p:nvPr>
            <p:ph type="ftr" sz="quarter" idx="11"/>
          </p:nvPr>
        </p:nvSpPr>
        <p:spPr bwMode="auto"/>
        <p:txBody>
          <a:bodyPr/>
          <a:lstStyle>
            <a:lvl1pPr>
              <a:defRPr>
                <a:latin typeface="Ubuntu Mono derivative Powerlin"/>
              </a:defRPr>
            </a:lvl1pPr>
          </a:lstStyle>
          <a:p>
            <a:pPr>
              <a:defRPr/>
            </a:pPr>
            <a:r>
              <a:rPr lang="en-US"/>
              <a:t>BUPT Compilers</a:t>
            </a:r>
          </a:p>
        </p:txBody>
      </p:sp>
      <p:sp>
        <p:nvSpPr>
          <p:cNvPr id="683812125"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8" name="object 2">
            <a:extLst>
              <a:ext uri="{FF2B5EF4-FFF2-40B4-BE49-F238E27FC236}">
                <a16:creationId xmlns:a16="http://schemas.microsoft.com/office/drawing/2014/main" id="{C7517EB6-2384-4B0F-E333-0EE2A8963860}"/>
              </a:ext>
            </a:extLst>
          </p:cNvPr>
          <p:cNvSpPr txBox="1"/>
          <p:nvPr/>
        </p:nvSpPr>
        <p:spPr>
          <a:xfrm>
            <a:off x="892251" y="2052015"/>
            <a:ext cx="7359015" cy="848994"/>
          </a:xfrm>
          <a:prstGeom prst="rect">
            <a:avLst/>
          </a:prstGeom>
        </p:spPr>
        <p:txBody>
          <a:bodyPr vert="horz" wrap="square" lIns="0" tIns="12700" rIns="0" bIns="0" rtlCol="0">
            <a:spAutoFit/>
          </a:bodyPr>
          <a:lstStyle/>
          <a:p>
            <a:pPr marL="12700">
              <a:lnSpc>
                <a:spcPct val="100000"/>
              </a:lnSpc>
              <a:spcBef>
                <a:spcPts val="100"/>
              </a:spcBef>
            </a:pPr>
            <a:r>
              <a:rPr sz="5400" b="1" spc="-5" dirty="0">
                <a:solidFill>
                  <a:srgbClr val="252525"/>
                </a:solidFill>
                <a:latin typeface="Palatino Linotype"/>
                <a:cs typeface="Palatino Linotype"/>
              </a:rPr>
              <a:t>Chapter </a:t>
            </a:r>
            <a:r>
              <a:rPr sz="5400" b="1" dirty="0">
                <a:solidFill>
                  <a:srgbClr val="252525"/>
                </a:solidFill>
                <a:latin typeface="Palatino Linotype"/>
                <a:cs typeface="Palatino Linotype"/>
              </a:rPr>
              <a:t>1:</a:t>
            </a:r>
            <a:r>
              <a:rPr sz="5400" b="1" spc="-70" dirty="0">
                <a:solidFill>
                  <a:srgbClr val="252525"/>
                </a:solidFill>
                <a:latin typeface="Palatino Linotype"/>
                <a:cs typeface="Palatino Linotype"/>
              </a:rPr>
              <a:t> </a:t>
            </a:r>
            <a:r>
              <a:rPr sz="5400" b="1" spc="-5" dirty="0">
                <a:solidFill>
                  <a:srgbClr val="252525"/>
                </a:solidFill>
                <a:latin typeface="Palatino Linotype"/>
                <a:cs typeface="Palatino Linotype"/>
              </a:rPr>
              <a:t>Introduction</a:t>
            </a:r>
            <a:endParaRPr sz="5400">
              <a:latin typeface="Palatino Linotype"/>
              <a:cs typeface="Palatino Linotype"/>
            </a:endParaRPr>
          </a:p>
        </p:txBody>
      </p:sp>
      <p:sp>
        <p:nvSpPr>
          <p:cNvPr id="13" name="灯片编号占位符 12">
            <a:extLst>
              <a:ext uri="{FF2B5EF4-FFF2-40B4-BE49-F238E27FC236}">
                <a16:creationId xmlns:a16="http://schemas.microsoft.com/office/drawing/2014/main" id="{0F44112E-E5E7-E6ED-ACBD-398F07E9808D}"/>
              </a:ext>
            </a:extLst>
          </p:cNvPr>
          <p:cNvSpPr>
            <a:spLocks noGrp="1"/>
          </p:cNvSpPr>
          <p:nvPr>
            <p:ph type="sldNum" sz="quarter" idx="12"/>
          </p:nvPr>
        </p:nvSpPr>
        <p:spPr/>
        <p:txBody>
          <a:bodyPr/>
          <a:lstStyle/>
          <a:p>
            <a:pPr>
              <a:defRPr/>
            </a:pPr>
            <a:fld id="{2FBC720A-3716-234A-B2DF-CBC7E48049F5}" type="slidenum">
              <a:rPr lang="en-US" altLang="zh-CN"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897507"/>
            <a:ext cx="6507480" cy="3683701"/>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Course</a:t>
            </a:r>
            <a:r>
              <a:rPr lang="en-US" altLang="zh-CN" sz="2600" kern="1200" spc="-30" dirty="0">
                <a:latin typeface="Palatino Linotype"/>
                <a:cs typeface="Palatino Linotype"/>
              </a:rPr>
              <a:t> </a:t>
            </a:r>
            <a:r>
              <a:rPr lang="en-US" altLang="zh-CN" sz="2600" kern="1200" spc="-5" dirty="0">
                <a:latin typeface="Palatino Linotype"/>
                <a:cs typeface="Palatino Linotype"/>
              </a:rPr>
              <a:t>Information</a:t>
            </a:r>
            <a:endParaRPr lang="en-US" altLang="zh-CN" sz="2600" kern="1200" dirty="0">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Why Study</a:t>
            </a:r>
            <a:r>
              <a:rPr lang="en-US" altLang="zh-CN" sz="2600" kern="1200" spc="-30" dirty="0">
                <a:solidFill>
                  <a:srgbClr val="A6A6A6"/>
                </a:solidFill>
                <a:latin typeface="Palatino Linotype"/>
                <a:cs typeface="Palatino Linotype"/>
              </a:rPr>
              <a:t> </a:t>
            </a:r>
            <a:r>
              <a:rPr lang="en-US" altLang="zh-CN" sz="2600" kern="1200" dirty="0">
                <a:solidFill>
                  <a:srgbClr val="A6A6A6"/>
                </a:solidFill>
                <a:latin typeface="Palatino Linotype"/>
                <a:cs typeface="Palatino Linotype"/>
              </a:rPr>
              <a:t>Compilers?</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The </a:t>
            </a:r>
            <a:r>
              <a:rPr lang="en-US" altLang="zh-CN" sz="2600" kern="1200" spc="-5" dirty="0">
                <a:solidFill>
                  <a:srgbClr val="A6A6A6"/>
                </a:solidFill>
                <a:latin typeface="Palatino Linotype"/>
                <a:cs typeface="Palatino Linotype"/>
              </a:rPr>
              <a:t>Evolution </a:t>
            </a:r>
            <a:r>
              <a:rPr lang="en-US" altLang="zh-CN" sz="2600" kern="1200" dirty="0">
                <a:solidFill>
                  <a:srgbClr val="A6A6A6"/>
                </a:solidFill>
                <a:latin typeface="Palatino Linotype"/>
                <a:cs typeface="Palatino Linotype"/>
              </a:rPr>
              <a:t>of Programming</a:t>
            </a:r>
            <a:r>
              <a:rPr lang="en-US" altLang="zh-CN" sz="2600" kern="1200" spc="-25"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Languages</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Compiler Structure and</a:t>
            </a:r>
            <a:r>
              <a:rPr lang="en-US" altLang="zh-CN" sz="2600" kern="1200" spc="-35"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Phases</a:t>
            </a:r>
          </a:p>
          <a:p>
            <a:pPr marL="242570" indent="-230504" rtl="0">
              <a:buClr>
                <a:srgbClr val="000000"/>
              </a:buClr>
              <a:buFont typeface="Arial"/>
              <a:buChar char="•"/>
              <a:tabLst>
                <a:tab pos="243204" algn="l"/>
              </a:tabLst>
            </a:pPr>
            <a:endParaRPr lang="en-US" altLang="zh-CN" sz="2600" kern="1200" spc="-5" dirty="0">
              <a:solidFill>
                <a:srgbClr val="A6A6A6"/>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chemeClr val="bg1">
                    <a:lumMod val="65000"/>
                  </a:schemeClr>
                </a:solidFill>
                <a:latin typeface="Palatino Linotype"/>
                <a:cs typeface="Palatino Linotype"/>
              </a:rPr>
              <a:t>How to Learn Compilers?</a:t>
            </a:r>
          </a:p>
        </p:txBody>
      </p:sp>
      <p:sp>
        <p:nvSpPr>
          <p:cNvPr id="9" name="灯片编号占位符 8">
            <a:extLst>
              <a:ext uri="{FF2B5EF4-FFF2-40B4-BE49-F238E27FC236}">
                <a16:creationId xmlns:a16="http://schemas.microsoft.com/office/drawing/2014/main" id="{9483F420-5C7B-5B47-6AD8-A87E1EB7EA12}"/>
              </a:ext>
            </a:extLst>
          </p:cNvPr>
          <p:cNvSpPr>
            <a:spLocks noGrp="1"/>
          </p:cNvSpPr>
          <p:nvPr>
            <p:ph type="sldNum" sz="quarter" idx="12"/>
          </p:nvPr>
        </p:nvSpPr>
        <p:spPr/>
        <p:txBody>
          <a:bodyPr/>
          <a:lstStyle/>
          <a:p>
            <a:pPr>
              <a:defRPr/>
            </a:pPr>
            <a:fld id="{2FBC720A-3716-234A-B2DF-CBC7E48049F5}" type="slidenum">
              <a:rPr lang="en-US" altLang="zh-CN" smtClean="0"/>
              <a:t>2</a:t>
            </a:fld>
            <a:endParaRPr lang="en-US" altLang="zh-CN"/>
          </a:p>
        </p:txBody>
      </p:sp>
    </p:spTree>
    <p:extLst>
      <p:ext uri="{BB962C8B-B14F-4D97-AF65-F5344CB8AC3E}">
        <p14:creationId xmlns:p14="http://schemas.microsoft.com/office/powerpoint/2010/main" val="46969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8" name="object 2">
            <a:extLst>
              <a:ext uri="{FF2B5EF4-FFF2-40B4-BE49-F238E27FC236}">
                <a16:creationId xmlns:a16="http://schemas.microsoft.com/office/drawing/2014/main" id="{A9C778B9-3DF4-EF90-FE83-88C743B45828}"/>
              </a:ext>
            </a:extLst>
          </p:cNvPr>
          <p:cNvSpPr txBox="1">
            <a:spLocks/>
          </p:cNvSpPr>
          <p:nvPr/>
        </p:nvSpPr>
        <p:spPr>
          <a:xfrm>
            <a:off x="1043432" y="520141"/>
            <a:ext cx="7054850" cy="904735"/>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45" normalizeH="0" baseline="0" noProof="0" dirty="0">
                <a:ln>
                  <a:noFill/>
                </a:ln>
                <a:solidFill>
                  <a:sysClr val="windowText" lastClr="000000"/>
                </a:solidFill>
                <a:effectLst/>
                <a:uLnTx/>
                <a:uFillTx/>
                <a:latin typeface="Palatino Linotype"/>
                <a:ea typeface="+mj-ea"/>
              </a:rPr>
              <a:t>Textbook: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The “Dragon</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Book”</a:t>
            </a:r>
            <a:r>
              <a:rPr lang="en-US" altLang="zh-CN" sz="1800" kern="100" dirty="0">
                <a:effectLst/>
                <a:latin typeface="Times New Roman" panose="02020603050405020304" pitchFamily="18" charset="0"/>
                <a:ea typeface="宋体" panose="02010600030101010101" pitchFamily="2" charset="-122"/>
              </a:rPr>
              <a:t> (Second Edition)</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C4683154-4F79-92A3-7BD7-6846CE9F22D7}"/>
              </a:ext>
            </a:extLst>
          </p:cNvPr>
          <p:cNvSpPr/>
          <p:nvPr/>
        </p:nvSpPr>
        <p:spPr>
          <a:xfrm>
            <a:off x="1350263" y="1743455"/>
            <a:ext cx="2671572" cy="4072128"/>
          </a:xfrm>
          <a:prstGeom prst="rect">
            <a:avLst/>
          </a:prstGeom>
          <a:blipFill>
            <a:blip r:embed="rId2"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0" name="object 4">
            <a:extLst>
              <a:ext uri="{FF2B5EF4-FFF2-40B4-BE49-F238E27FC236}">
                <a16:creationId xmlns:a16="http://schemas.microsoft.com/office/drawing/2014/main" id="{093B71C1-B699-CA8A-578E-D60349339B64}"/>
              </a:ext>
            </a:extLst>
          </p:cNvPr>
          <p:cNvSpPr/>
          <p:nvPr/>
        </p:nvSpPr>
        <p:spPr>
          <a:xfrm>
            <a:off x="5122164" y="1746504"/>
            <a:ext cx="2843784" cy="4072128"/>
          </a:xfrm>
          <a:prstGeom prst="rect">
            <a:avLst/>
          </a:prstGeom>
          <a:blipFill>
            <a:blip r:embed="rId3"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08618347-B9D7-C128-E2BF-B9F852DF986C}"/>
              </a:ext>
            </a:extLst>
          </p:cNvPr>
          <p:cNvSpPr>
            <a:spLocks noGrp="1"/>
          </p:cNvSpPr>
          <p:nvPr>
            <p:ph type="sldNum" sz="quarter" idx="12"/>
          </p:nvPr>
        </p:nvSpPr>
        <p:spPr/>
        <p:txBody>
          <a:bodyPr/>
          <a:lstStyle/>
          <a:p>
            <a:pPr>
              <a:defRPr/>
            </a:pPr>
            <a:fld id="{2FBC720A-3716-234A-B2DF-CBC7E48049F5}" type="slidenum">
              <a:rPr lang="en-US" altLang="zh-CN" smtClean="0"/>
              <a:t>3</a:t>
            </a:fld>
            <a:endParaRPr lang="en-US" altLang="zh-CN"/>
          </a:p>
        </p:txBody>
      </p:sp>
    </p:spTree>
    <p:extLst>
      <p:ext uri="{BB962C8B-B14F-4D97-AF65-F5344CB8AC3E}">
        <p14:creationId xmlns:p14="http://schemas.microsoft.com/office/powerpoint/2010/main" val="1936981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C890E8E8-310E-DC4B-9DCB-E01DC1323E0B}"/>
              </a:ext>
            </a:extLst>
          </p:cNvPr>
          <p:cNvSpPr txBox="1">
            <a:spLocks/>
          </p:cNvSpPr>
          <p:nvPr/>
        </p:nvSpPr>
        <p:spPr>
          <a:xfrm>
            <a:off x="1720342" y="520141"/>
            <a:ext cx="570103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Reference </a:t>
            </a:r>
            <a:r>
              <a:rPr kumimoji="0" lang="en-US" sz="4000" b="1" i="0" u="none" strike="noStrike" kern="0" cap="none" spc="-10" normalizeH="0" baseline="0" noProof="0">
                <a:ln>
                  <a:noFill/>
                </a:ln>
                <a:solidFill>
                  <a:sysClr val="windowText" lastClr="000000"/>
                </a:solidFill>
                <a:effectLst/>
                <a:uLnTx/>
                <a:uFillTx/>
                <a:latin typeface="Palatino Linotype"/>
                <a:ea typeface="+mj-ea"/>
              </a:rPr>
              <a:t>Book </a:t>
            </a:r>
            <a:r>
              <a:rPr kumimoji="0" lang="en-US" sz="4000" b="1" i="0" u="none" strike="noStrike" kern="0" cap="none" spc="-5" normalizeH="0" baseline="0" noProof="0">
                <a:ln>
                  <a:noFill/>
                </a:ln>
                <a:solidFill>
                  <a:sysClr val="windowText" lastClr="000000"/>
                </a:solidFill>
                <a:effectLst/>
                <a:uLnTx/>
                <a:uFillTx/>
                <a:latin typeface="Palatino Linotype"/>
                <a:ea typeface="+mj-ea"/>
              </a:rPr>
              <a:t>for</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Labs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4" name="文本框 13">
            <a:extLst>
              <a:ext uri="{FF2B5EF4-FFF2-40B4-BE49-F238E27FC236}">
                <a16:creationId xmlns:a16="http://schemas.microsoft.com/office/drawing/2014/main" id="{F1E8504C-2F53-66CC-2B1A-C70B01EEC980}"/>
              </a:ext>
            </a:extLst>
          </p:cNvPr>
          <p:cNvSpPr txBox="1"/>
          <p:nvPr/>
        </p:nvSpPr>
        <p:spPr>
          <a:xfrm>
            <a:off x="628650" y="1988840"/>
            <a:ext cx="8335838" cy="2259593"/>
          </a:xfrm>
          <a:prstGeom prst="rect">
            <a:avLst/>
          </a:prstGeom>
          <a:noFill/>
        </p:spPr>
        <p:txBody>
          <a:bodyPr wrap="square">
            <a:spAutoFit/>
          </a:bodyPr>
          <a:lstStyle/>
          <a:p>
            <a:pPr marL="242570" marR="0" lvl="0" indent="-230504" algn="l" defTabSz="914400" rtl="0" eaLnBrk="1" fontAlgn="auto" latinLnBrk="0" hangingPunct="1">
              <a:lnSpc>
                <a:spcPct val="100000"/>
              </a:lnSpc>
              <a:spcBef>
                <a:spcPts val="105"/>
              </a:spcBef>
              <a:spcAft>
                <a:spcPts val="0"/>
              </a:spcAft>
              <a:buClrTx/>
              <a:buSzTx/>
              <a:buFont typeface="Arial"/>
              <a:buChar char="•"/>
              <a:tabLst>
                <a:tab pos="243204" algn="l"/>
              </a:tabLst>
              <a:defRPr/>
            </a:pP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程序设计语言编译原理</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，陈火旺等编著、国防工业出版社，</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2012.7</a:t>
            </a:r>
          </a:p>
          <a:p>
            <a:pPr marL="242570" marR="0" lvl="0" indent="-230504" algn="l" defTabSz="914400" rtl="0" eaLnBrk="1" fontAlgn="auto" latinLnBrk="0" hangingPunct="1">
              <a:lnSpc>
                <a:spcPct val="100000"/>
              </a:lnSpc>
              <a:spcBef>
                <a:spcPts val="105"/>
              </a:spcBef>
              <a:spcAft>
                <a:spcPts val="0"/>
              </a:spcAft>
              <a:buClrTx/>
              <a:buSzTx/>
              <a:buFont typeface="Arial"/>
              <a:buChar char="•"/>
              <a:tabLst>
                <a:tab pos="243204" algn="l"/>
              </a:tabLst>
              <a:defRPr/>
            </a:pPr>
            <a:endPar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endParaRPr>
          </a:p>
          <a:p>
            <a:pPr marL="242570" marR="0" lvl="0" indent="-230504" algn="l" defTabSz="914400" rtl="0" eaLnBrk="1" fontAlgn="auto" latinLnBrk="0" hangingPunct="1">
              <a:lnSpc>
                <a:spcPct val="100000"/>
              </a:lnSpc>
              <a:spcBef>
                <a:spcPts val="0"/>
              </a:spcBef>
              <a:spcAft>
                <a:spcPts val="0"/>
              </a:spcAft>
              <a:buClrTx/>
              <a:buSzTx/>
              <a:buFont typeface="Arial"/>
              <a:buChar char="•"/>
              <a:tabLst>
                <a:tab pos="243204" algn="l"/>
              </a:tabLst>
              <a:defRPr/>
            </a:pP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编译原理</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（第</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3</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版）， 王生原等编著， 清华大学出版社，</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2015.12</a:t>
            </a:r>
          </a:p>
          <a:p>
            <a:pPr marL="242570" marR="0" lvl="0" indent="-230504" algn="l" defTabSz="914400" rtl="0" eaLnBrk="1" fontAlgn="auto" latinLnBrk="0" hangingPunct="1">
              <a:lnSpc>
                <a:spcPct val="100000"/>
              </a:lnSpc>
              <a:spcBef>
                <a:spcPts val="0"/>
              </a:spcBef>
              <a:spcAft>
                <a:spcPts val="0"/>
              </a:spcAft>
              <a:buClrTx/>
              <a:buSzTx/>
              <a:buFont typeface="Arial"/>
              <a:buChar char="•"/>
              <a:tabLst>
                <a:tab pos="243204" algn="l"/>
              </a:tabLst>
              <a:defRPr/>
            </a:pPr>
            <a:endPar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endParaRPr>
          </a:p>
          <a:p>
            <a:pPr marL="242570" marR="0" lvl="0" indent="-230504" algn="l" defTabSz="914400" rtl="0" eaLnBrk="1" fontAlgn="auto" latinLnBrk="0" hangingPunct="1">
              <a:lnSpc>
                <a:spcPct val="100000"/>
              </a:lnSpc>
              <a:spcBef>
                <a:spcPts val="0"/>
              </a:spcBef>
              <a:spcAft>
                <a:spcPts val="0"/>
              </a:spcAft>
              <a:buClrTx/>
              <a:buSzTx/>
              <a:buFont typeface="Arial"/>
              <a:buChar char="•"/>
              <a:tabLst>
                <a:tab pos="243204" algn="l"/>
              </a:tabLst>
              <a:defRPr/>
            </a:pP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编译原理</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，蒋宗礼著，高等教育出版社，</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2010.2</a:t>
            </a:r>
          </a:p>
          <a:p>
            <a:pPr marL="242570" marR="0" lvl="0" indent="-230504" algn="l" defTabSz="914400" rtl="0" eaLnBrk="1" fontAlgn="auto" latinLnBrk="0" hangingPunct="1">
              <a:lnSpc>
                <a:spcPct val="100000"/>
              </a:lnSpc>
              <a:spcBef>
                <a:spcPts val="0"/>
              </a:spcBef>
              <a:spcAft>
                <a:spcPts val="0"/>
              </a:spcAft>
              <a:buClrTx/>
              <a:buSzTx/>
              <a:buFont typeface="Arial"/>
              <a:buChar char="•"/>
              <a:tabLst>
                <a:tab pos="243204" algn="l"/>
              </a:tabLst>
              <a:defRPr/>
            </a:pPr>
            <a:endPar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endParaRPr>
          </a:p>
          <a:p>
            <a:pPr marL="242570" marR="0" lvl="0" indent="-230504" algn="l" defTabSz="914400" rtl="0" eaLnBrk="1" fontAlgn="auto" latinLnBrk="0" hangingPunct="1">
              <a:lnSpc>
                <a:spcPct val="100000"/>
              </a:lnSpc>
              <a:spcBef>
                <a:spcPts val="0"/>
              </a:spcBef>
              <a:spcAft>
                <a:spcPts val="0"/>
              </a:spcAft>
              <a:buClrTx/>
              <a:buSzTx/>
              <a:buFont typeface="Arial"/>
              <a:buChar char="•"/>
              <a:tabLst>
                <a:tab pos="243204" algn="l"/>
              </a:tabLst>
              <a:defRPr/>
            </a:pP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编译原理与技术</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，李文生编著，清华大学出版社，</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Palatino Linotype"/>
              </a:rPr>
              <a:t>2018.6</a:t>
            </a:r>
          </a:p>
        </p:txBody>
      </p:sp>
      <p:sp>
        <p:nvSpPr>
          <p:cNvPr id="2" name="灯片编号占位符 1">
            <a:extLst>
              <a:ext uri="{FF2B5EF4-FFF2-40B4-BE49-F238E27FC236}">
                <a16:creationId xmlns:a16="http://schemas.microsoft.com/office/drawing/2014/main" id="{CF5A11DF-B516-865A-5ED7-EC2A2445B601}"/>
              </a:ext>
            </a:extLst>
          </p:cNvPr>
          <p:cNvSpPr>
            <a:spLocks noGrp="1"/>
          </p:cNvSpPr>
          <p:nvPr>
            <p:ph type="sldNum" sz="quarter" idx="12"/>
          </p:nvPr>
        </p:nvSpPr>
        <p:spPr/>
        <p:txBody>
          <a:bodyPr/>
          <a:lstStyle/>
          <a:p>
            <a:pPr>
              <a:defRPr/>
            </a:pPr>
            <a:fld id="{2FBC720A-3716-234A-B2DF-CBC7E48049F5}" type="slidenum">
              <a:rPr lang="en-US" altLang="zh-CN" smtClean="0"/>
              <a:t>4</a:t>
            </a:fld>
            <a:endParaRPr lang="en-US" altLang="zh-CN"/>
          </a:p>
        </p:txBody>
      </p:sp>
    </p:spTree>
    <p:extLst>
      <p:ext uri="{BB962C8B-B14F-4D97-AF65-F5344CB8AC3E}">
        <p14:creationId xmlns:p14="http://schemas.microsoft.com/office/powerpoint/2010/main" val="1776154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0" name="object 2">
            <a:extLst>
              <a:ext uri="{FF2B5EF4-FFF2-40B4-BE49-F238E27FC236}">
                <a16:creationId xmlns:a16="http://schemas.microsoft.com/office/drawing/2014/main" id="{202294BC-43B4-8845-8B65-2A769AAABA77}"/>
              </a:ext>
            </a:extLst>
          </p:cNvPr>
          <p:cNvSpPr txBox="1">
            <a:spLocks/>
          </p:cNvSpPr>
          <p:nvPr/>
        </p:nvSpPr>
        <p:spPr>
          <a:xfrm>
            <a:off x="707542" y="520141"/>
            <a:ext cx="398907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Marking</a:t>
            </a:r>
            <a:r>
              <a:rPr kumimoji="0" lang="en-US" sz="4000" b="1" i="0" u="none" strike="noStrike" kern="0" cap="none" spc="-5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Scheme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3" name="object 5">
            <a:extLst>
              <a:ext uri="{FF2B5EF4-FFF2-40B4-BE49-F238E27FC236}">
                <a16:creationId xmlns:a16="http://schemas.microsoft.com/office/drawing/2014/main" id="{8FC34590-5BED-0613-B3EC-57B4240F7844}"/>
              </a:ext>
            </a:extLst>
          </p:cNvPr>
          <p:cNvSpPr/>
          <p:nvPr/>
        </p:nvSpPr>
        <p:spPr>
          <a:xfrm>
            <a:off x="4634991" y="2227452"/>
            <a:ext cx="1885950" cy="3410585"/>
          </a:xfrm>
          <a:custGeom>
            <a:avLst/>
            <a:gdLst/>
            <a:ahLst/>
            <a:cxnLst/>
            <a:rect l="l" t="t" r="r" b="b"/>
            <a:pathLst>
              <a:path w="1885950" h="3410585">
                <a:moveTo>
                  <a:pt x="1108202" y="0"/>
                </a:moveTo>
                <a:lnTo>
                  <a:pt x="1147208" y="29099"/>
                </a:lnTo>
                <a:lnTo>
                  <a:pt x="1185250" y="59009"/>
                </a:lnTo>
                <a:lnTo>
                  <a:pt x="1222326" y="89708"/>
                </a:lnTo>
                <a:lnTo>
                  <a:pt x="1258431" y="121175"/>
                </a:lnTo>
                <a:lnTo>
                  <a:pt x="1293562" y="153390"/>
                </a:lnTo>
                <a:lnTo>
                  <a:pt x="1327717" y="186332"/>
                </a:lnTo>
                <a:lnTo>
                  <a:pt x="1360892" y="219980"/>
                </a:lnTo>
                <a:lnTo>
                  <a:pt x="1393083" y="254315"/>
                </a:lnTo>
                <a:lnTo>
                  <a:pt x="1424287" y="289314"/>
                </a:lnTo>
                <a:lnTo>
                  <a:pt x="1454502" y="324957"/>
                </a:lnTo>
                <a:lnTo>
                  <a:pt x="1483723" y="361224"/>
                </a:lnTo>
                <a:lnTo>
                  <a:pt x="1511948" y="398094"/>
                </a:lnTo>
                <a:lnTo>
                  <a:pt x="1539173" y="435547"/>
                </a:lnTo>
                <a:lnTo>
                  <a:pt x="1565395" y="473561"/>
                </a:lnTo>
                <a:lnTo>
                  <a:pt x="1590610" y="512116"/>
                </a:lnTo>
                <a:lnTo>
                  <a:pt x="1614816" y="551191"/>
                </a:lnTo>
                <a:lnTo>
                  <a:pt x="1638010" y="590766"/>
                </a:lnTo>
                <a:lnTo>
                  <a:pt x="1660187" y="630820"/>
                </a:lnTo>
                <a:lnTo>
                  <a:pt x="1681344" y="671332"/>
                </a:lnTo>
                <a:lnTo>
                  <a:pt x="1701479" y="712282"/>
                </a:lnTo>
                <a:lnTo>
                  <a:pt x="1720588" y="753648"/>
                </a:lnTo>
                <a:lnTo>
                  <a:pt x="1738668" y="795411"/>
                </a:lnTo>
                <a:lnTo>
                  <a:pt x="1755715" y="837549"/>
                </a:lnTo>
                <a:lnTo>
                  <a:pt x="1771726" y="880043"/>
                </a:lnTo>
                <a:lnTo>
                  <a:pt x="1786699" y="922870"/>
                </a:lnTo>
                <a:lnTo>
                  <a:pt x="1800629" y="966011"/>
                </a:lnTo>
                <a:lnTo>
                  <a:pt x="1813513" y="1009444"/>
                </a:lnTo>
                <a:lnTo>
                  <a:pt x="1825349" y="1053150"/>
                </a:lnTo>
                <a:lnTo>
                  <a:pt x="1836132" y="1097107"/>
                </a:lnTo>
                <a:lnTo>
                  <a:pt x="1845860" y="1141295"/>
                </a:lnTo>
                <a:lnTo>
                  <a:pt x="1854530" y="1185693"/>
                </a:lnTo>
                <a:lnTo>
                  <a:pt x="1862137" y="1230280"/>
                </a:lnTo>
                <a:lnTo>
                  <a:pt x="1868679" y="1275036"/>
                </a:lnTo>
                <a:lnTo>
                  <a:pt x="1874153" y="1319941"/>
                </a:lnTo>
                <a:lnTo>
                  <a:pt x="1878555" y="1364972"/>
                </a:lnTo>
                <a:lnTo>
                  <a:pt x="1881881" y="1410110"/>
                </a:lnTo>
                <a:lnTo>
                  <a:pt x="1884130" y="1455335"/>
                </a:lnTo>
                <a:lnTo>
                  <a:pt x="1885297" y="1500624"/>
                </a:lnTo>
                <a:lnTo>
                  <a:pt x="1885379" y="1545959"/>
                </a:lnTo>
                <a:lnTo>
                  <a:pt x="1884372" y="1591317"/>
                </a:lnTo>
                <a:lnTo>
                  <a:pt x="1882275" y="1636679"/>
                </a:lnTo>
                <a:lnTo>
                  <a:pt x="1879083" y="1682023"/>
                </a:lnTo>
                <a:lnTo>
                  <a:pt x="1874792" y="1727329"/>
                </a:lnTo>
                <a:lnTo>
                  <a:pt x="1869401" y="1772576"/>
                </a:lnTo>
                <a:lnTo>
                  <a:pt x="1862905" y="1817744"/>
                </a:lnTo>
                <a:lnTo>
                  <a:pt x="1855301" y="1862812"/>
                </a:lnTo>
                <a:lnTo>
                  <a:pt x="1846586" y="1907759"/>
                </a:lnTo>
                <a:lnTo>
                  <a:pt x="1836757" y="1952565"/>
                </a:lnTo>
                <a:lnTo>
                  <a:pt x="1825810" y="1997209"/>
                </a:lnTo>
                <a:lnTo>
                  <a:pt x="1813742" y="2041669"/>
                </a:lnTo>
                <a:lnTo>
                  <a:pt x="1800551" y="2085927"/>
                </a:lnTo>
                <a:lnTo>
                  <a:pt x="1786231" y="2129960"/>
                </a:lnTo>
                <a:lnTo>
                  <a:pt x="1770781" y="2173748"/>
                </a:lnTo>
                <a:lnTo>
                  <a:pt x="1754197" y="2217271"/>
                </a:lnTo>
                <a:lnTo>
                  <a:pt x="1736476" y="2260507"/>
                </a:lnTo>
                <a:lnTo>
                  <a:pt x="1717614" y="2303437"/>
                </a:lnTo>
                <a:lnTo>
                  <a:pt x="1697609" y="2346039"/>
                </a:lnTo>
                <a:lnTo>
                  <a:pt x="1676456" y="2388293"/>
                </a:lnTo>
                <a:lnTo>
                  <a:pt x="1654154" y="2430178"/>
                </a:lnTo>
                <a:lnTo>
                  <a:pt x="1630697" y="2471673"/>
                </a:lnTo>
                <a:lnTo>
                  <a:pt x="1606084" y="2512758"/>
                </a:lnTo>
                <a:lnTo>
                  <a:pt x="1580310" y="2553412"/>
                </a:lnTo>
                <a:lnTo>
                  <a:pt x="1553373" y="2593614"/>
                </a:lnTo>
                <a:lnTo>
                  <a:pt x="1525270" y="2633345"/>
                </a:lnTo>
                <a:lnTo>
                  <a:pt x="1495222" y="2673574"/>
                </a:lnTo>
                <a:lnTo>
                  <a:pt x="1464215" y="2712868"/>
                </a:lnTo>
                <a:lnTo>
                  <a:pt x="1432270" y="2751216"/>
                </a:lnTo>
                <a:lnTo>
                  <a:pt x="1399409" y="2788607"/>
                </a:lnTo>
                <a:lnTo>
                  <a:pt x="1365656" y="2825028"/>
                </a:lnTo>
                <a:lnTo>
                  <a:pt x="1331033" y="2860468"/>
                </a:lnTo>
                <a:lnTo>
                  <a:pt x="1295563" y="2894916"/>
                </a:lnTo>
                <a:lnTo>
                  <a:pt x="1259267" y="2928360"/>
                </a:lnTo>
                <a:lnTo>
                  <a:pt x="1222170" y="2960788"/>
                </a:lnTo>
                <a:lnTo>
                  <a:pt x="1184293" y="2992190"/>
                </a:lnTo>
                <a:lnTo>
                  <a:pt x="1145660" y="3022553"/>
                </a:lnTo>
                <a:lnTo>
                  <a:pt x="1106292" y="3051867"/>
                </a:lnTo>
                <a:lnTo>
                  <a:pt x="1066212" y="3080119"/>
                </a:lnTo>
                <a:lnTo>
                  <a:pt x="1025444" y="3107298"/>
                </a:lnTo>
                <a:lnTo>
                  <a:pt x="984009" y="3133393"/>
                </a:lnTo>
                <a:lnTo>
                  <a:pt x="941930" y="3158393"/>
                </a:lnTo>
                <a:lnTo>
                  <a:pt x="899230" y="3182284"/>
                </a:lnTo>
                <a:lnTo>
                  <a:pt x="855932" y="3205057"/>
                </a:lnTo>
                <a:lnTo>
                  <a:pt x="812058" y="3226700"/>
                </a:lnTo>
                <a:lnTo>
                  <a:pt x="767630" y="3247200"/>
                </a:lnTo>
                <a:lnTo>
                  <a:pt x="722672" y="3266548"/>
                </a:lnTo>
                <a:lnTo>
                  <a:pt x="677205" y="3284730"/>
                </a:lnTo>
                <a:lnTo>
                  <a:pt x="631254" y="3301736"/>
                </a:lnTo>
                <a:lnTo>
                  <a:pt x="584839" y="3317555"/>
                </a:lnTo>
                <a:lnTo>
                  <a:pt x="537984" y="3332174"/>
                </a:lnTo>
                <a:lnTo>
                  <a:pt x="490712" y="3345582"/>
                </a:lnTo>
                <a:lnTo>
                  <a:pt x="443045" y="3357767"/>
                </a:lnTo>
                <a:lnTo>
                  <a:pt x="395005" y="3368719"/>
                </a:lnTo>
                <a:lnTo>
                  <a:pt x="346616" y="3378425"/>
                </a:lnTo>
                <a:lnTo>
                  <a:pt x="297900" y="3386875"/>
                </a:lnTo>
                <a:lnTo>
                  <a:pt x="248879" y="3394056"/>
                </a:lnTo>
                <a:lnTo>
                  <a:pt x="199576" y="3399957"/>
                </a:lnTo>
                <a:lnTo>
                  <a:pt x="150014" y="3404567"/>
                </a:lnTo>
                <a:lnTo>
                  <a:pt x="100216" y="3407874"/>
                </a:lnTo>
                <a:lnTo>
                  <a:pt x="50203" y="3409867"/>
                </a:lnTo>
                <a:lnTo>
                  <a:pt x="0" y="3410534"/>
                </a:lnTo>
                <a:lnTo>
                  <a:pt x="0" y="1525270"/>
                </a:lnTo>
                <a:lnTo>
                  <a:pt x="1108202" y="0"/>
                </a:lnTo>
                <a:close/>
              </a:path>
            </a:pathLst>
          </a:custGeom>
          <a:ln w="1905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7">
            <a:extLst>
              <a:ext uri="{FF2B5EF4-FFF2-40B4-BE49-F238E27FC236}">
                <a16:creationId xmlns:a16="http://schemas.microsoft.com/office/drawing/2014/main" id="{7BBDF74A-E6D1-04C3-8AB4-94EABB542E40}"/>
              </a:ext>
            </a:extLst>
          </p:cNvPr>
          <p:cNvSpPr/>
          <p:nvPr/>
        </p:nvSpPr>
        <p:spPr>
          <a:xfrm>
            <a:off x="2842005" y="3752722"/>
            <a:ext cx="1793239" cy="1885314"/>
          </a:xfrm>
          <a:custGeom>
            <a:avLst/>
            <a:gdLst/>
            <a:ahLst/>
            <a:cxnLst/>
            <a:rect l="l" t="t" r="r" b="b"/>
            <a:pathLst>
              <a:path w="1793239" h="1885314">
                <a:moveTo>
                  <a:pt x="1792985" y="1885264"/>
                </a:moveTo>
                <a:lnTo>
                  <a:pt x="1744096" y="1884635"/>
                </a:lnTo>
                <a:lnTo>
                  <a:pt x="1695447" y="1882757"/>
                </a:lnTo>
                <a:lnTo>
                  <a:pt x="1647057" y="1879643"/>
                </a:lnTo>
                <a:lnTo>
                  <a:pt x="1598945" y="1875306"/>
                </a:lnTo>
                <a:lnTo>
                  <a:pt x="1551128" y="1869759"/>
                </a:lnTo>
                <a:lnTo>
                  <a:pt x="1503625" y="1863017"/>
                </a:lnTo>
                <a:lnTo>
                  <a:pt x="1456454" y="1855091"/>
                </a:lnTo>
                <a:lnTo>
                  <a:pt x="1409633" y="1845996"/>
                </a:lnTo>
                <a:lnTo>
                  <a:pt x="1363180" y="1835743"/>
                </a:lnTo>
                <a:lnTo>
                  <a:pt x="1317113" y="1824348"/>
                </a:lnTo>
                <a:lnTo>
                  <a:pt x="1271452" y="1811822"/>
                </a:lnTo>
                <a:lnTo>
                  <a:pt x="1226212" y="1798179"/>
                </a:lnTo>
                <a:lnTo>
                  <a:pt x="1181414" y="1783432"/>
                </a:lnTo>
                <a:lnTo>
                  <a:pt x="1137075" y="1767594"/>
                </a:lnTo>
                <a:lnTo>
                  <a:pt x="1093213" y="1750680"/>
                </a:lnTo>
                <a:lnTo>
                  <a:pt x="1049847" y="1732701"/>
                </a:lnTo>
                <a:lnTo>
                  <a:pt x="1006995" y="1713671"/>
                </a:lnTo>
                <a:lnTo>
                  <a:pt x="964674" y="1693603"/>
                </a:lnTo>
                <a:lnTo>
                  <a:pt x="922903" y="1672510"/>
                </a:lnTo>
                <a:lnTo>
                  <a:pt x="881701" y="1650407"/>
                </a:lnTo>
                <a:lnTo>
                  <a:pt x="841084" y="1627305"/>
                </a:lnTo>
                <a:lnTo>
                  <a:pt x="801073" y="1603218"/>
                </a:lnTo>
                <a:lnTo>
                  <a:pt x="761684" y="1578160"/>
                </a:lnTo>
                <a:lnTo>
                  <a:pt x="722936" y="1552143"/>
                </a:lnTo>
                <a:lnTo>
                  <a:pt x="684847" y="1525181"/>
                </a:lnTo>
                <a:lnTo>
                  <a:pt x="647435" y="1497286"/>
                </a:lnTo>
                <a:lnTo>
                  <a:pt x="610719" y="1468473"/>
                </a:lnTo>
                <a:lnTo>
                  <a:pt x="574717" y="1438754"/>
                </a:lnTo>
                <a:lnTo>
                  <a:pt x="539446" y="1408143"/>
                </a:lnTo>
                <a:lnTo>
                  <a:pt x="504925" y="1376652"/>
                </a:lnTo>
                <a:lnTo>
                  <a:pt x="471172" y="1344296"/>
                </a:lnTo>
                <a:lnTo>
                  <a:pt x="438206" y="1311087"/>
                </a:lnTo>
                <a:lnTo>
                  <a:pt x="406044" y="1277038"/>
                </a:lnTo>
                <a:lnTo>
                  <a:pt x="374705" y="1242162"/>
                </a:lnTo>
                <a:lnTo>
                  <a:pt x="344207" y="1206474"/>
                </a:lnTo>
                <a:lnTo>
                  <a:pt x="314568" y="1169985"/>
                </a:lnTo>
                <a:lnTo>
                  <a:pt x="285806" y="1132710"/>
                </a:lnTo>
                <a:lnTo>
                  <a:pt x="257939" y="1094661"/>
                </a:lnTo>
                <a:lnTo>
                  <a:pt x="230986" y="1055852"/>
                </a:lnTo>
                <a:lnTo>
                  <a:pt x="204965" y="1016296"/>
                </a:lnTo>
                <a:lnTo>
                  <a:pt x="179894" y="976006"/>
                </a:lnTo>
                <a:lnTo>
                  <a:pt x="155791" y="934995"/>
                </a:lnTo>
                <a:lnTo>
                  <a:pt x="132674" y="893277"/>
                </a:lnTo>
                <a:lnTo>
                  <a:pt x="110562" y="850864"/>
                </a:lnTo>
                <a:lnTo>
                  <a:pt x="89472" y="807770"/>
                </a:lnTo>
                <a:lnTo>
                  <a:pt x="69423" y="764009"/>
                </a:lnTo>
                <a:lnTo>
                  <a:pt x="50433" y="719593"/>
                </a:lnTo>
                <a:lnTo>
                  <a:pt x="32521" y="674535"/>
                </a:lnTo>
                <a:lnTo>
                  <a:pt x="15703" y="628849"/>
                </a:lnTo>
                <a:lnTo>
                  <a:pt x="0" y="582549"/>
                </a:lnTo>
                <a:lnTo>
                  <a:pt x="1792985" y="0"/>
                </a:lnTo>
                <a:lnTo>
                  <a:pt x="1792985" y="1885264"/>
                </a:lnTo>
                <a:close/>
              </a:path>
            </a:pathLst>
          </a:custGeom>
          <a:ln w="1905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9">
            <a:extLst>
              <a:ext uri="{FF2B5EF4-FFF2-40B4-BE49-F238E27FC236}">
                <a16:creationId xmlns:a16="http://schemas.microsoft.com/office/drawing/2014/main" id="{4BB585A3-F083-6E50-5680-2628B1B8C187}"/>
              </a:ext>
            </a:extLst>
          </p:cNvPr>
          <p:cNvSpPr/>
          <p:nvPr/>
        </p:nvSpPr>
        <p:spPr>
          <a:xfrm>
            <a:off x="2749390" y="1867407"/>
            <a:ext cx="1885950" cy="2468245"/>
          </a:xfrm>
          <a:custGeom>
            <a:avLst/>
            <a:gdLst/>
            <a:ahLst/>
            <a:cxnLst/>
            <a:rect l="l" t="t" r="r" b="b"/>
            <a:pathLst>
              <a:path w="1885950" h="2468245">
                <a:moveTo>
                  <a:pt x="92615" y="2467864"/>
                </a:moveTo>
                <a:lnTo>
                  <a:pt x="78166" y="2421396"/>
                </a:lnTo>
                <a:lnTo>
                  <a:pt x="64974" y="2374840"/>
                </a:lnTo>
                <a:lnTo>
                  <a:pt x="53027" y="2328214"/>
                </a:lnTo>
                <a:lnTo>
                  <a:pt x="42317" y="2281536"/>
                </a:lnTo>
                <a:lnTo>
                  <a:pt x="32833" y="2234826"/>
                </a:lnTo>
                <a:lnTo>
                  <a:pt x="24568" y="2188101"/>
                </a:lnTo>
                <a:lnTo>
                  <a:pt x="17510" y="2141380"/>
                </a:lnTo>
                <a:lnTo>
                  <a:pt x="11651" y="2094683"/>
                </a:lnTo>
                <a:lnTo>
                  <a:pt x="6980" y="2048027"/>
                </a:lnTo>
                <a:lnTo>
                  <a:pt x="3490" y="2001432"/>
                </a:lnTo>
                <a:lnTo>
                  <a:pt x="1169" y="1954915"/>
                </a:lnTo>
                <a:lnTo>
                  <a:pt x="9" y="1908497"/>
                </a:lnTo>
                <a:lnTo>
                  <a:pt x="0" y="1862195"/>
                </a:lnTo>
                <a:lnTo>
                  <a:pt x="1132" y="1816028"/>
                </a:lnTo>
                <a:lnTo>
                  <a:pt x="3396" y="1770014"/>
                </a:lnTo>
                <a:lnTo>
                  <a:pt x="6782" y="1724173"/>
                </a:lnTo>
                <a:lnTo>
                  <a:pt x="11282" y="1678523"/>
                </a:lnTo>
                <a:lnTo>
                  <a:pt x="16885" y="1633083"/>
                </a:lnTo>
                <a:lnTo>
                  <a:pt x="23582" y="1587871"/>
                </a:lnTo>
                <a:lnTo>
                  <a:pt x="31364" y="1542906"/>
                </a:lnTo>
                <a:lnTo>
                  <a:pt x="40220" y="1498206"/>
                </a:lnTo>
                <a:lnTo>
                  <a:pt x="50142" y="1453791"/>
                </a:lnTo>
                <a:lnTo>
                  <a:pt x="61119" y="1409679"/>
                </a:lnTo>
                <a:lnTo>
                  <a:pt x="73143" y="1365889"/>
                </a:lnTo>
                <a:lnTo>
                  <a:pt x="86205" y="1322438"/>
                </a:lnTo>
                <a:lnTo>
                  <a:pt x="100293" y="1279347"/>
                </a:lnTo>
                <a:lnTo>
                  <a:pt x="115399" y="1236634"/>
                </a:lnTo>
                <a:lnTo>
                  <a:pt x="131514" y="1194316"/>
                </a:lnTo>
                <a:lnTo>
                  <a:pt x="148628" y="1152414"/>
                </a:lnTo>
                <a:lnTo>
                  <a:pt x="166731" y="1110945"/>
                </a:lnTo>
                <a:lnTo>
                  <a:pt x="185814" y="1069928"/>
                </a:lnTo>
                <a:lnTo>
                  <a:pt x="205867" y="1029382"/>
                </a:lnTo>
                <a:lnTo>
                  <a:pt x="226881" y="989326"/>
                </a:lnTo>
                <a:lnTo>
                  <a:pt x="248847" y="949778"/>
                </a:lnTo>
                <a:lnTo>
                  <a:pt x="271754" y="910757"/>
                </a:lnTo>
                <a:lnTo>
                  <a:pt x="295594" y="872281"/>
                </a:lnTo>
                <a:lnTo>
                  <a:pt x="320356" y="834370"/>
                </a:lnTo>
                <a:lnTo>
                  <a:pt x="346032" y="797041"/>
                </a:lnTo>
                <a:lnTo>
                  <a:pt x="372612" y="760314"/>
                </a:lnTo>
                <a:lnTo>
                  <a:pt x="400086" y="724207"/>
                </a:lnTo>
                <a:lnTo>
                  <a:pt x="428445" y="688739"/>
                </a:lnTo>
                <a:lnTo>
                  <a:pt x="457679" y="653928"/>
                </a:lnTo>
                <a:lnTo>
                  <a:pt x="487779" y="619794"/>
                </a:lnTo>
                <a:lnTo>
                  <a:pt x="518736" y="586354"/>
                </a:lnTo>
                <a:lnTo>
                  <a:pt x="550539" y="553628"/>
                </a:lnTo>
                <a:lnTo>
                  <a:pt x="583180" y="521633"/>
                </a:lnTo>
                <a:lnTo>
                  <a:pt x="616648" y="490390"/>
                </a:lnTo>
                <a:lnTo>
                  <a:pt x="650934" y="459916"/>
                </a:lnTo>
                <a:lnTo>
                  <a:pt x="686030" y="430230"/>
                </a:lnTo>
                <a:lnTo>
                  <a:pt x="721924" y="401351"/>
                </a:lnTo>
                <a:lnTo>
                  <a:pt x="758609" y="373297"/>
                </a:lnTo>
                <a:lnTo>
                  <a:pt x="796074" y="346088"/>
                </a:lnTo>
                <a:lnTo>
                  <a:pt x="834309" y="319741"/>
                </a:lnTo>
                <a:lnTo>
                  <a:pt x="873306" y="294275"/>
                </a:lnTo>
                <a:lnTo>
                  <a:pt x="913054" y="269710"/>
                </a:lnTo>
                <a:lnTo>
                  <a:pt x="953545" y="246063"/>
                </a:lnTo>
                <a:lnTo>
                  <a:pt x="994769" y="223354"/>
                </a:lnTo>
                <a:lnTo>
                  <a:pt x="1036715" y="201600"/>
                </a:lnTo>
                <a:lnTo>
                  <a:pt x="1079376" y="180822"/>
                </a:lnTo>
                <a:lnTo>
                  <a:pt x="1122741" y="161036"/>
                </a:lnTo>
                <a:lnTo>
                  <a:pt x="1166800" y="142263"/>
                </a:lnTo>
                <a:lnTo>
                  <a:pt x="1211545" y="124520"/>
                </a:lnTo>
                <a:lnTo>
                  <a:pt x="1256965" y="107827"/>
                </a:lnTo>
                <a:lnTo>
                  <a:pt x="1303052" y="92201"/>
                </a:lnTo>
                <a:lnTo>
                  <a:pt x="1350276" y="77555"/>
                </a:lnTo>
                <a:lnTo>
                  <a:pt x="1397824" y="64161"/>
                </a:lnTo>
                <a:lnTo>
                  <a:pt x="1445671" y="52024"/>
                </a:lnTo>
                <a:lnTo>
                  <a:pt x="1493792" y="41147"/>
                </a:lnTo>
                <a:lnTo>
                  <a:pt x="1542161" y="31536"/>
                </a:lnTo>
                <a:lnTo>
                  <a:pt x="1590754" y="23193"/>
                </a:lnTo>
                <a:lnTo>
                  <a:pt x="1639546" y="16123"/>
                </a:lnTo>
                <a:lnTo>
                  <a:pt x="1688511" y="10329"/>
                </a:lnTo>
                <a:lnTo>
                  <a:pt x="1737624" y="5816"/>
                </a:lnTo>
                <a:lnTo>
                  <a:pt x="1786860" y="2587"/>
                </a:lnTo>
                <a:lnTo>
                  <a:pt x="1836194" y="647"/>
                </a:lnTo>
                <a:lnTo>
                  <a:pt x="1885601" y="0"/>
                </a:lnTo>
                <a:lnTo>
                  <a:pt x="1885601" y="1885314"/>
                </a:lnTo>
                <a:lnTo>
                  <a:pt x="92615" y="2467864"/>
                </a:lnTo>
                <a:close/>
              </a:path>
            </a:pathLst>
          </a:custGeom>
          <a:ln w="1905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7" name="图片 6">
            <a:extLst>
              <a:ext uri="{FF2B5EF4-FFF2-40B4-BE49-F238E27FC236}">
                <a16:creationId xmlns:a16="http://schemas.microsoft.com/office/drawing/2014/main" id="{4DDE9C84-B5A9-8A11-99E4-11514F4AE387}"/>
              </a:ext>
            </a:extLst>
          </p:cNvPr>
          <p:cNvPicPr>
            <a:picLocks noChangeAspect="1"/>
          </p:cNvPicPr>
          <p:nvPr/>
        </p:nvPicPr>
        <p:blipFill>
          <a:blip r:embed="rId3"/>
          <a:stretch>
            <a:fillRect/>
          </a:stretch>
        </p:blipFill>
        <p:spPr>
          <a:xfrm>
            <a:off x="2857351" y="1714351"/>
            <a:ext cx="3429297" cy="3429297"/>
          </a:xfrm>
          <a:prstGeom prst="rect">
            <a:avLst/>
          </a:prstGeom>
        </p:spPr>
      </p:pic>
      <p:sp>
        <p:nvSpPr>
          <p:cNvPr id="8" name="object 12">
            <a:extLst>
              <a:ext uri="{FF2B5EF4-FFF2-40B4-BE49-F238E27FC236}">
                <a16:creationId xmlns:a16="http://schemas.microsoft.com/office/drawing/2014/main" id="{8B53A0DA-50D3-A168-ACC7-5FC8EF950478}"/>
              </a:ext>
            </a:extLst>
          </p:cNvPr>
          <p:cNvSpPr/>
          <p:nvPr/>
        </p:nvSpPr>
        <p:spPr bwMode="auto">
          <a:xfrm>
            <a:off x="2465832" y="2179320"/>
            <a:ext cx="645160" cy="464820"/>
          </a:xfrm>
          <a:custGeom>
            <a:avLst/>
            <a:gdLst/>
            <a:ahLst/>
            <a:cxnLst/>
            <a:rect l="l" t="t" r="r" b="b"/>
            <a:pathLst>
              <a:path w="645160" h="464819">
                <a:moveTo>
                  <a:pt x="644651" y="464819"/>
                </a:moveTo>
                <a:lnTo>
                  <a:pt x="56387" y="0"/>
                </a:lnTo>
                <a:lnTo>
                  <a:pt x="0" y="0"/>
                </a:lnTo>
              </a:path>
            </a:pathLst>
          </a:custGeom>
          <a:ln w="9525">
            <a:solidFill>
              <a:srgbClr val="A6A6A6"/>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9" name="object 16">
            <a:extLst>
              <a:ext uri="{FF2B5EF4-FFF2-40B4-BE49-F238E27FC236}">
                <a16:creationId xmlns:a16="http://schemas.microsoft.com/office/drawing/2014/main" id="{2365433D-C3D6-11E9-8F83-A152C2E155A9}"/>
              </a:ext>
            </a:extLst>
          </p:cNvPr>
          <p:cNvSpPr txBox="1"/>
          <p:nvPr/>
        </p:nvSpPr>
        <p:spPr bwMode="auto">
          <a:xfrm>
            <a:off x="1325372" y="1901825"/>
            <a:ext cx="1134110" cy="645160"/>
          </a:xfrm>
          <a:prstGeom prst="rect">
            <a:avLst/>
          </a:prstGeom>
        </p:spPr>
        <p:txBody>
          <a:bodyPr vert="horz" wrap="square" lIns="0" tIns="47625" rIns="0" bIns="0" rtlCol="0">
            <a:spAutoFit/>
          </a:bodyPr>
          <a:lstStyle/>
          <a:p>
            <a:pPr algn="ctr" rtl="0">
              <a:spcBef>
                <a:spcPts val="375"/>
              </a:spcBef>
            </a:pPr>
            <a:r>
              <a:rPr lang="en-US" kern="1200" spc="-5" dirty="0">
                <a:solidFill>
                  <a:srgbClr val="404040"/>
                </a:solidFill>
                <a:latin typeface="Palatino Linotype"/>
                <a:cs typeface="Palatino Linotype"/>
              </a:rPr>
              <a:t>Final</a:t>
            </a:r>
            <a:r>
              <a:rPr lang="en-US" kern="1200" spc="-80" dirty="0">
                <a:solidFill>
                  <a:srgbClr val="404040"/>
                </a:solidFill>
                <a:latin typeface="Palatino Linotype"/>
                <a:cs typeface="Palatino Linotype"/>
              </a:rPr>
              <a:t> </a:t>
            </a:r>
            <a:r>
              <a:rPr lang="en-US" kern="1200" dirty="0">
                <a:solidFill>
                  <a:srgbClr val="404040"/>
                </a:solidFill>
                <a:latin typeface="Palatino Linotype"/>
                <a:cs typeface="Palatino Linotype"/>
              </a:rPr>
              <a:t>exam</a:t>
            </a:r>
            <a:endParaRPr kern="1200" dirty="0">
              <a:solidFill>
                <a:prstClr val="black"/>
              </a:solidFill>
              <a:latin typeface="Palatino Linotype"/>
              <a:cs typeface="Palatino Linotype"/>
            </a:endParaRPr>
          </a:p>
          <a:p>
            <a:pPr algn="ctr" rtl="0">
              <a:spcBef>
                <a:spcPts val="280"/>
              </a:spcBef>
            </a:pPr>
            <a:r>
              <a:rPr lang="en-US" altLang="zh-CN" b="1" kern="1200" dirty="0">
                <a:solidFill>
                  <a:srgbClr val="FF0000"/>
                </a:solidFill>
                <a:latin typeface="Palatino Linotype"/>
                <a:cs typeface="Palatino Linotype"/>
              </a:rPr>
              <a:t>5</a:t>
            </a:r>
            <a:r>
              <a:rPr b="1" kern="1200" dirty="0">
                <a:solidFill>
                  <a:srgbClr val="FF0000"/>
                </a:solidFill>
                <a:latin typeface="Palatino Linotype"/>
                <a:cs typeface="Palatino Linotype"/>
              </a:rPr>
              <a:t>0%</a:t>
            </a:r>
            <a:endParaRPr kern="1200" dirty="0">
              <a:solidFill>
                <a:prstClr val="black"/>
              </a:solidFill>
              <a:latin typeface="Palatino Linotype"/>
              <a:cs typeface="Palatino Linotype"/>
            </a:endParaRPr>
          </a:p>
        </p:txBody>
      </p:sp>
      <p:sp>
        <p:nvSpPr>
          <p:cNvPr id="12" name="object 11">
            <a:extLst>
              <a:ext uri="{FF2B5EF4-FFF2-40B4-BE49-F238E27FC236}">
                <a16:creationId xmlns:a16="http://schemas.microsoft.com/office/drawing/2014/main" id="{DAD95365-BE3B-9FC7-4549-F63C3DE117AD}"/>
              </a:ext>
            </a:extLst>
          </p:cNvPr>
          <p:cNvSpPr/>
          <p:nvPr/>
        </p:nvSpPr>
        <p:spPr bwMode="auto">
          <a:xfrm>
            <a:off x="5586747" y="2083942"/>
            <a:ext cx="962025" cy="143510"/>
          </a:xfrm>
          <a:custGeom>
            <a:avLst/>
            <a:gdLst/>
            <a:ahLst/>
            <a:cxnLst/>
            <a:rect l="l" t="t" r="r" b="b"/>
            <a:pathLst>
              <a:path w="962025" h="143510">
                <a:moveTo>
                  <a:pt x="961644" y="0"/>
                </a:moveTo>
                <a:lnTo>
                  <a:pt x="57912" y="143256"/>
                </a:lnTo>
                <a:lnTo>
                  <a:pt x="0" y="143256"/>
                </a:lnTo>
              </a:path>
            </a:pathLst>
          </a:custGeom>
          <a:ln w="9525">
            <a:solidFill>
              <a:srgbClr val="A6A6A6"/>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3" name="object 15">
            <a:extLst>
              <a:ext uri="{FF2B5EF4-FFF2-40B4-BE49-F238E27FC236}">
                <a16:creationId xmlns:a16="http://schemas.microsoft.com/office/drawing/2014/main" id="{F670BA35-CEC4-2DA5-AEBC-C66D9D398973}"/>
              </a:ext>
            </a:extLst>
          </p:cNvPr>
          <p:cNvSpPr txBox="1"/>
          <p:nvPr/>
        </p:nvSpPr>
        <p:spPr bwMode="auto">
          <a:xfrm>
            <a:off x="5986674" y="1653411"/>
            <a:ext cx="2092960" cy="641329"/>
          </a:xfrm>
          <a:prstGeom prst="rect">
            <a:avLst/>
          </a:prstGeom>
        </p:spPr>
        <p:txBody>
          <a:bodyPr vert="horz" wrap="square" lIns="0" tIns="12700" rIns="0" bIns="0" rtlCol="0">
            <a:spAutoFit/>
          </a:bodyPr>
          <a:lstStyle/>
          <a:p>
            <a:pPr marL="835660" marR="5080" indent="-823594" algn="ctr" rtl="0">
              <a:lnSpc>
                <a:spcPct val="112799"/>
              </a:lnSpc>
              <a:spcBef>
                <a:spcPts val="100"/>
              </a:spcBef>
            </a:pPr>
            <a:r>
              <a:rPr lang="en-US" kern="1200" spc="-20" dirty="0">
                <a:solidFill>
                  <a:srgbClr val="404040"/>
                </a:solidFill>
                <a:latin typeface="Palatino Linotype"/>
                <a:cs typeface="Palatino Linotype"/>
              </a:rPr>
              <a:t>P</a:t>
            </a:r>
            <a:r>
              <a:rPr lang="en-US" altLang="zh-CN" kern="1200" spc="-20" dirty="0">
                <a:solidFill>
                  <a:srgbClr val="404040"/>
                </a:solidFill>
                <a:latin typeface="Palatino Linotype"/>
                <a:cs typeface="Palatino Linotype"/>
              </a:rPr>
              <a:t>rojects</a:t>
            </a:r>
          </a:p>
          <a:p>
            <a:pPr algn="ctr" rtl="0">
              <a:spcBef>
                <a:spcPts val="280"/>
              </a:spcBef>
            </a:pPr>
            <a:r>
              <a:rPr lang="en-US" altLang="zh-CN" b="1" kern="1200" dirty="0">
                <a:solidFill>
                  <a:srgbClr val="FF0000"/>
                </a:solidFill>
                <a:latin typeface="Palatino Linotype"/>
                <a:cs typeface="Palatino Linotype"/>
              </a:rPr>
              <a:t>20%</a:t>
            </a:r>
            <a:endParaRPr lang="en-US" altLang="zh-CN" kern="1200" dirty="0">
              <a:solidFill>
                <a:prstClr val="black"/>
              </a:solidFill>
              <a:latin typeface="Palatino Linotype"/>
              <a:cs typeface="Palatino Linotype"/>
            </a:endParaRPr>
          </a:p>
        </p:txBody>
      </p:sp>
      <p:sp>
        <p:nvSpPr>
          <p:cNvPr id="14" name="object 12">
            <a:extLst>
              <a:ext uri="{FF2B5EF4-FFF2-40B4-BE49-F238E27FC236}">
                <a16:creationId xmlns:a16="http://schemas.microsoft.com/office/drawing/2014/main" id="{A4924445-94DB-1308-792F-4D2B23D15082}"/>
              </a:ext>
            </a:extLst>
          </p:cNvPr>
          <p:cNvSpPr/>
          <p:nvPr/>
        </p:nvSpPr>
        <p:spPr bwMode="auto">
          <a:xfrm rot="11190529">
            <a:off x="5893409" y="4319015"/>
            <a:ext cx="426299" cy="288301"/>
          </a:xfrm>
          <a:custGeom>
            <a:avLst/>
            <a:gdLst/>
            <a:ahLst/>
            <a:cxnLst/>
            <a:rect l="l" t="t" r="r" b="b"/>
            <a:pathLst>
              <a:path w="645160" h="464819">
                <a:moveTo>
                  <a:pt x="644651" y="464819"/>
                </a:moveTo>
                <a:lnTo>
                  <a:pt x="56387" y="0"/>
                </a:lnTo>
                <a:lnTo>
                  <a:pt x="0" y="0"/>
                </a:lnTo>
              </a:path>
            </a:pathLst>
          </a:custGeom>
          <a:ln w="9525">
            <a:solidFill>
              <a:srgbClr val="A6A6A6"/>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15">
            <a:extLst>
              <a:ext uri="{FF2B5EF4-FFF2-40B4-BE49-F238E27FC236}">
                <a16:creationId xmlns:a16="http://schemas.microsoft.com/office/drawing/2014/main" id="{5BA379BD-AE7E-95E2-0B21-CB37A54ACAE6}"/>
              </a:ext>
            </a:extLst>
          </p:cNvPr>
          <p:cNvSpPr txBox="1"/>
          <p:nvPr/>
        </p:nvSpPr>
        <p:spPr bwMode="auto">
          <a:xfrm>
            <a:off x="6289429" y="4514093"/>
            <a:ext cx="2225921" cy="954364"/>
          </a:xfrm>
          <a:prstGeom prst="rect">
            <a:avLst/>
          </a:prstGeom>
        </p:spPr>
        <p:txBody>
          <a:bodyPr vert="horz" wrap="square" lIns="0" tIns="12700" rIns="0" bIns="0" rtlCol="0">
            <a:spAutoFit/>
          </a:bodyPr>
          <a:lstStyle/>
          <a:p>
            <a:pPr marL="835660" marR="5080" indent="-823594" rtl="0">
              <a:lnSpc>
                <a:spcPct val="112799"/>
              </a:lnSpc>
              <a:spcBef>
                <a:spcPts val="100"/>
              </a:spcBef>
            </a:pPr>
            <a:r>
              <a:rPr kern="1200" spc="-20" dirty="0">
                <a:solidFill>
                  <a:srgbClr val="404040"/>
                </a:solidFill>
                <a:latin typeface="Palatino Linotype"/>
                <a:cs typeface="Palatino Linotype"/>
              </a:rPr>
              <a:t>Written</a:t>
            </a:r>
            <a:r>
              <a:rPr kern="1200" spc="-55" dirty="0">
                <a:solidFill>
                  <a:srgbClr val="404040"/>
                </a:solidFill>
                <a:latin typeface="Palatino Linotype"/>
                <a:cs typeface="Palatino Linotype"/>
              </a:rPr>
              <a:t> </a:t>
            </a:r>
            <a:r>
              <a:rPr kern="1200" spc="-5" dirty="0">
                <a:solidFill>
                  <a:srgbClr val="404040"/>
                </a:solidFill>
                <a:latin typeface="Palatino Linotype"/>
                <a:cs typeface="Palatino Linotype"/>
              </a:rPr>
              <a:t>assignments</a:t>
            </a:r>
            <a:r>
              <a:rPr lang="en-US" kern="1200" spc="-5" dirty="0">
                <a:solidFill>
                  <a:srgbClr val="404040"/>
                </a:solidFill>
                <a:latin typeface="Palatino Linotype"/>
                <a:cs typeface="Palatino Linotype"/>
              </a:rPr>
              <a:t> &amp; Labs</a:t>
            </a:r>
          </a:p>
          <a:p>
            <a:pPr algn="ctr" rtl="0">
              <a:spcBef>
                <a:spcPts val="280"/>
              </a:spcBef>
            </a:pPr>
            <a:r>
              <a:rPr lang="en-US" altLang="zh-CN" b="1" kern="1200" dirty="0">
                <a:solidFill>
                  <a:srgbClr val="FF0000"/>
                </a:solidFill>
                <a:latin typeface="Palatino Linotype"/>
                <a:cs typeface="Palatino Linotype"/>
              </a:rPr>
              <a:t>30%</a:t>
            </a:r>
            <a:endParaRPr lang="en-US" altLang="zh-CN"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541E53B4-6F5A-CF37-1555-CA993287EBBE}"/>
              </a:ext>
            </a:extLst>
          </p:cNvPr>
          <p:cNvSpPr>
            <a:spLocks noGrp="1"/>
          </p:cNvSpPr>
          <p:nvPr>
            <p:ph type="sldNum" sz="quarter" idx="12"/>
          </p:nvPr>
        </p:nvSpPr>
        <p:spPr/>
        <p:txBody>
          <a:bodyPr/>
          <a:lstStyle/>
          <a:p>
            <a:pPr>
              <a:defRPr/>
            </a:pPr>
            <a:fld id="{2FBC720A-3716-234A-B2DF-CBC7E48049F5}" type="slidenum">
              <a:rPr lang="en-US" altLang="zh-CN" smtClean="0"/>
              <a:t>5</a:t>
            </a:fld>
            <a:endParaRPr lang="en-US" altLang="zh-CN"/>
          </a:p>
        </p:txBody>
      </p:sp>
    </p:spTree>
    <p:extLst>
      <p:ext uri="{BB962C8B-B14F-4D97-AF65-F5344CB8AC3E}">
        <p14:creationId xmlns:p14="http://schemas.microsoft.com/office/powerpoint/2010/main" val="734475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graphicFrame>
        <p:nvGraphicFramePr>
          <p:cNvPr id="50" name="object 2">
            <a:extLst>
              <a:ext uri="{FF2B5EF4-FFF2-40B4-BE49-F238E27FC236}">
                <a16:creationId xmlns:a16="http://schemas.microsoft.com/office/drawing/2014/main" id="{6C8DB902-BC28-B25C-F8B5-81C38DFA6E6B}"/>
              </a:ext>
            </a:extLst>
          </p:cNvPr>
          <p:cNvGraphicFramePr>
            <a:graphicFrameLocks noGrp="1"/>
          </p:cNvGraphicFramePr>
          <p:nvPr/>
        </p:nvGraphicFramePr>
        <p:xfrm>
          <a:off x="622300" y="1446402"/>
          <a:ext cx="8026400" cy="4248060"/>
        </p:xfrm>
        <a:graphic>
          <a:graphicData uri="http://schemas.openxmlformats.org/drawingml/2006/table">
            <a:tbl>
              <a:tblPr firstRow="1" bandRow="1"/>
              <a:tblGrid>
                <a:gridCol w="6371590">
                  <a:extLst>
                    <a:ext uri="{9D8B030D-6E8A-4147-A177-3AD203B41FA5}">
                      <a16:colId xmlns:a16="http://schemas.microsoft.com/office/drawing/2014/main" val="20000"/>
                    </a:ext>
                  </a:extLst>
                </a:gridCol>
                <a:gridCol w="1654810">
                  <a:extLst>
                    <a:ext uri="{9D8B030D-6E8A-4147-A177-3AD203B41FA5}">
                      <a16:colId xmlns:a16="http://schemas.microsoft.com/office/drawing/2014/main" val="20001"/>
                    </a:ext>
                  </a:extLst>
                </a:gridCol>
              </a:tblGrid>
              <a:tr h="53111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700"/>
                        </a:spcBef>
                      </a:pPr>
                      <a:r>
                        <a:rPr sz="2000" spc="-5" dirty="0">
                          <a:latin typeface="Palatino Linotype"/>
                          <a:cs typeface="Palatino Linotype"/>
                        </a:rPr>
                        <a:t>Introduction</a:t>
                      </a:r>
                      <a:r>
                        <a:rPr sz="2000" spc="-35" dirty="0">
                          <a:latin typeface="Palatino Linotype"/>
                          <a:cs typeface="Palatino Linotype"/>
                        </a:rPr>
                        <a:t> </a:t>
                      </a:r>
                      <a:r>
                        <a:rPr sz="2000" spc="-5" dirty="0">
                          <a:latin typeface="Palatino Linotype"/>
                          <a:cs typeface="Palatino Linotype"/>
                        </a:rPr>
                        <a:t>to</a:t>
                      </a:r>
                      <a:r>
                        <a:rPr sz="2000" spc="-20" dirty="0">
                          <a:latin typeface="Palatino Linotype"/>
                          <a:cs typeface="Palatino Linotype"/>
                        </a:rPr>
                        <a:t> </a:t>
                      </a:r>
                      <a:r>
                        <a:rPr sz="2000" dirty="0">
                          <a:latin typeface="Palatino Linotype"/>
                          <a:cs typeface="Palatino Linotype"/>
                        </a:rPr>
                        <a:t>Compilers</a:t>
                      </a:r>
                      <a:r>
                        <a:rPr sz="2000" spc="-5" dirty="0">
                          <a:latin typeface="Palatino Linotype"/>
                          <a:cs typeface="Palatino Linotype"/>
                        </a:rPr>
                        <a:t> </a:t>
                      </a:r>
                      <a:r>
                        <a:rPr sz="2000" spc="10" dirty="0">
                          <a:latin typeface="Palatino Linotype"/>
                          <a:cs typeface="Palatino Linotype"/>
                        </a:rPr>
                        <a:t>(</a:t>
                      </a:r>
                      <a:r>
                        <a:rPr sz="2000" dirty="0">
                          <a:latin typeface="宋体"/>
                          <a:cs typeface="宋体"/>
                        </a:rPr>
                        <a:t>引论</a:t>
                      </a:r>
                      <a:r>
                        <a:rPr sz="2000" dirty="0">
                          <a:latin typeface="Palatino Linotype"/>
                          <a:cs typeface="Palatino Linotype"/>
                        </a:rPr>
                        <a:t>)</a:t>
                      </a:r>
                      <a:endParaRPr sz="2000">
                        <a:latin typeface="Palatino Linotype"/>
                        <a:cs typeface="Palatino Linotype"/>
                      </a:endParaRPr>
                    </a:p>
                  </a:txBody>
                  <a:tcPr marL="0" marR="0" marT="88900" marB="0">
                    <a:lnL>
                      <a:noFill/>
                    </a:lnL>
                    <a:lnR w="9525">
                      <a:solidFill>
                        <a:srgbClr val="7E7E7E"/>
                      </a:solidFill>
                      <a:prstDash val="solid"/>
                    </a:lnR>
                    <a:lnT w="12700">
                      <a:solidFill>
                        <a:srgbClr val="A4A4A4"/>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12700">
                      <a:solidFill>
                        <a:srgbClr val="A4A4A4"/>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3098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700"/>
                        </a:spcBef>
                      </a:pPr>
                      <a:r>
                        <a:rPr sz="2000" dirty="0">
                          <a:solidFill>
                            <a:srgbClr val="FF0000"/>
                          </a:solidFill>
                          <a:latin typeface="Palatino Linotype"/>
                          <a:cs typeface="Palatino Linotype"/>
                        </a:rPr>
                        <a:t>Lexical</a:t>
                      </a:r>
                      <a:r>
                        <a:rPr sz="2000" spc="-70" dirty="0">
                          <a:solidFill>
                            <a:srgbClr val="FF0000"/>
                          </a:solidFill>
                          <a:latin typeface="Palatino Linotype"/>
                          <a:cs typeface="Palatino Linotype"/>
                        </a:rPr>
                        <a:t> </a:t>
                      </a:r>
                      <a:r>
                        <a:rPr sz="2000" dirty="0">
                          <a:solidFill>
                            <a:srgbClr val="FF0000"/>
                          </a:solidFill>
                          <a:latin typeface="Palatino Linotype"/>
                          <a:cs typeface="Palatino Linotype"/>
                        </a:rPr>
                        <a:t>Analysis</a:t>
                      </a:r>
                      <a:r>
                        <a:rPr sz="2000" spc="-30" dirty="0">
                          <a:solidFill>
                            <a:srgbClr val="FF0000"/>
                          </a:solidFill>
                          <a:latin typeface="Palatino Linotype"/>
                          <a:cs typeface="Palatino Linotype"/>
                        </a:rPr>
                        <a:t> </a:t>
                      </a:r>
                      <a:r>
                        <a:rPr sz="2000" spc="5" dirty="0">
                          <a:solidFill>
                            <a:srgbClr val="FF0000"/>
                          </a:solidFill>
                          <a:latin typeface="Palatino Linotype"/>
                          <a:cs typeface="Palatino Linotype"/>
                        </a:rPr>
                        <a:t>(</a:t>
                      </a:r>
                      <a:r>
                        <a:rPr sz="2000" dirty="0">
                          <a:solidFill>
                            <a:srgbClr val="FF0000"/>
                          </a:solidFill>
                          <a:latin typeface="宋体"/>
                          <a:cs typeface="宋体"/>
                        </a:rPr>
                        <a:t>词法分析</a:t>
                      </a:r>
                      <a:r>
                        <a:rPr sz="2000" dirty="0">
                          <a:solidFill>
                            <a:srgbClr val="FF0000"/>
                          </a:solidFill>
                          <a:latin typeface="Palatino Linotype"/>
                          <a:cs typeface="Palatino Linotype"/>
                        </a:rPr>
                        <a:t>)</a:t>
                      </a:r>
                      <a:endParaRPr sz="2000">
                        <a:latin typeface="Palatino Linotype"/>
                        <a:cs typeface="Palatino Linotype"/>
                      </a:endParaRPr>
                    </a:p>
                  </a:txBody>
                  <a:tcPr marL="0" marR="0" marT="88900" marB="0">
                    <a:lnL>
                      <a:noFill/>
                    </a:lnL>
                    <a:lnR w="9525">
                      <a:solidFill>
                        <a:srgbClr val="7E7E7E"/>
                      </a:solidFill>
                      <a:prstDash val="solid"/>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3098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705"/>
                        </a:spcBef>
                      </a:pPr>
                      <a:r>
                        <a:rPr sz="2000" dirty="0">
                          <a:solidFill>
                            <a:srgbClr val="FF0000"/>
                          </a:solidFill>
                          <a:latin typeface="Palatino Linotype"/>
                          <a:cs typeface="Palatino Linotype"/>
                        </a:rPr>
                        <a:t>Syntax</a:t>
                      </a:r>
                      <a:r>
                        <a:rPr sz="2000" spc="-85" dirty="0">
                          <a:solidFill>
                            <a:srgbClr val="FF0000"/>
                          </a:solidFill>
                          <a:latin typeface="Palatino Linotype"/>
                          <a:cs typeface="Palatino Linotype"/>
                        </a:rPr>
                        <a:t> </a:t>
                      </a:r>
                      <a:r>
                        <a:rPr sz="2000" dirty="0">
                          <a:solidFill>
                            <a:srgbClr val="FF0000"/>
                          </a:solidFill>
                          <a:latin typeface="Palatino Linotype"/>
                          <a:cs typeface="Palatino Linotype"/>
                        </a:rPr>
                        <a:t>Analysis</a:t>
                      </a:r>
                      <a:r>
                        <a:rPr sz="2000" spc="-30" dirty="0">
                          <a:solidFill>
                            <a:srgbClr val="FF0000"/>
                          </a:solidFill>
                          <a:latin typeface="Palatino Linotype"/>
                          <a:cs typeface="Palatino Linotype"/>
                        </a:rPr>
                        <a:t> </a:t>
                      </a:r>
                      <a:r>
                        <a:rPr sz="2000" spc="5" dirty="0">
                          <a:solidFill>
                            <a:srgbClr val="FF0000"/>
                          </a:solidFill>
                          <a:latin typeface="Palatino Linotype"/>
                          <a:cs typeface="Palatino Linotype"/>
                        </a:rPr>
                        <a:t>(</a:t>
                      </a:r>
                      <a:r>
                        <a:rPr sz="2000" dirty="0">
                          <a:solidFill>
                            <a:srgbClr val="FF0000"/>
                          </a:solidFill>
                          <a:latin typeface="宋体"/>
                          <a:cs typeface="宋体"/>
                        </a:rPr>
                        <a:t>语法分析</a:t>
                      </a:r>
                      <a:r>
                        <a:rPr sz="2000" dirty="0">
                          <a:solidFill>
                            <a:srgbClr val="FF0000"/>
                          </a:solidFill>
                          <a:latin typeface="Palatino Linotype"/>
                          <a:cs typeface="Palatino Linotype"/>
                        </a:rPr>
                        <a:t>)</a:t>
                      </a:r>
                      <a:endParaRPr sz="2000">
                        <a:latin typeface="Palatino Linotype"/>
                        <a:cs typeface="Palatino Linotype"/>
                      </a:endParaRPr>
                    </a:p>
                  </a:txBody>
                  <a:tcPr marL="0" marR="0" marT="89535" marB="0">
                    <a:lnL>
                      <a:noFill/>
                    </a:lnL>
                    <a:lnR w="9525">
                      <a:solidFill>
                        <a:srgbClr val="7E7E7E"/>
                      </a:solidFill>
                      <a:prstDash val="solid"/>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3098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705"/>
                        </a:spcBef>
                      </a:pPr>
                      <a:r>
                        <a:rPr sz="2000" dirty="0">
                          <a:latin typeface="Palatino Linotype"/>
                          <a:cs typeface="Palatino Linotype"/>
                        </a:rPr>
                        <a:t>Syntax-Directed</a:t>
                      </a:r>
                      <a:r>
                        <a:rPr sz="2000" spc="-30" dirty="0">
                          <a:latin typeface="Palatino Linotype"/>
                          <a:cs typeface="Palatino Linotype"/>
                        </a:rPr>
                        <a:t> </a:t>
                      </a:r>
                      <a:r>
                        <a:rPr sz="2000" spc="-15" dirty="0">
                          <a:latin typeface="Palatino Linotype"/>
                          <a:cs typeface="Palatino Linotype"/>
                        </a:rPr>
                        <a:t>Translation</a:t>
                      </a:r>
                      <a:r>
                        <a:rPr sz="2000" spc="-30" dirty="0">
                          <a:latin typeface="Palatino Linotype"/>
                          <a:cs typeface="Palatino Linotype"/>
                        </a:rPr>
                        <a:t> </a:t>
                      </a:r>
                      <a:r>
                        <a:rPr sz="2000" spc="15" dirty="0">
                          <a:latin typeface="Palatino Linotype"/>
                          <a:cs typeface="Palatino Linotype"/>
                        </a:rPr>
                        <a:t>(</a:t>
                      </a:r>
                      <a:r>
                        <a:rPr sz="2000" dirty="0">
                          <a:latin typeface="宋体"/>
                          <a:cs typeface="宋体"/>
                        </a:rPr>
                        <a:t>语法制导的翻译</a:t>
                      </a:r>
                      <a:r>
                        <a:rPr sz="2000" dirty="0">
                          <a:latin typeface="Palatino Linotype"/>
                          <a:cs typeface="Palatino Linotype"/>
                        </a:rPr>
                        <a:t>)</a:t>
                      </a:r>
                      <a:endParaRPr sz="2000">
                        <a:latin typeface="Palatino Linotype"/>
                        <a:cs typeface="Palatino Linotype"/>
                      </a:endParaRPr>
                    </a:p>
                  </a:txBody>
                  <a:tcPr marL="0" marR="0" marT="89535" marB="0">
                    <a:lnL>
                      <a:noFill/>
                    </a:lnL>
                    <a:lnR w="9525">
                      <a:solidFill>
                        <a:srgbClr val="7E7E7E"/>
                      </a:solidFill>
                      <a:prstDash val="solid"/>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3098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705"/>
                        </a:spcBef>
                      </a:pPr>
                      <a:r>
                        <a:rPr sz="2000" dirty="0">
                          <a:solidFill>
                            <a:srgbClr val="FF0000"/>
                          </a:solidFill>
                          <a:latin typeface="Palatino Linotype"/>
                          <a:cs typeface="Palatino Linotype"/>
                        </a:rPr>
                        <a:t>Intermediate-Code</a:t>
                      </a:r>
                      <a:r>
                        <a:rPr sz="2000" spc="-30" dirty="0">
                          <a:solidFill>
                            <a:srgbClr val="FF0000"/>
                          </a:solidFill>
                          <a:latin typeface="Palatino Linotype"/>
                          <a:cs typeface="Palatino Linotype"/>
                        </a:rPr>
                        <a:t> </a:t>
                      </a:r>
                      <a:r>
                        <a:rPr sz="2000" spc="-5" dirty="0">
                          <a:solidFill>
                            <a:srgbClr val="FF0000"/>
                          </a:solidFill>
                          <a:latin typeface="Palatino Linotype"/>
                          <a:cs typeface="Palatino Linotype"/>
                        </a:rPr>
                        <a:t>Generation</a:t>
                      </a:r>
                      <a:r>
                        <a:rPr sz="2000" spc="-15" dirty="0">
                          <a:solidFill>
                            <a:srgbClr val="FF0000"/>
                          </a:solidFill>
                          <a:latin typeface="Palatino Linotype"/>
                          <a:cs typeface="Palatino Linotype"/>
                        </a:rPr>
                        <a:t> </a:t>
                      </a:r>
                      <a:r>
                        <a:rPr sz="2000" spc="10" dirty="0">
                          <a:solidFill>
                            <a:srgbClr val="FF0000"/>
                          </a:solidFill>
                          <a:latin typeface="Palatino Linotype"/>
                          <a:cs typeface="Palatino Linotype"/>
                        </a:rPr>
                        <a:t>(</a:t>
                      </a:r>
                      <a:r>
                        <a:rPr sz="2000" dirty="0">
                          <a:solidFill>
                            <a:srgbClr val="FF0000"/>
                          </a:solidFill>
                          <a:latin typeface="宋体"/>
                          <a:cs typeface="宋体"/>
                        </a:rPr>
                        <a:t>中间代码生成</a:t>
                      </a:r>
                      <a:r>
                        <a:rPr sz="2000" dirty="0">
                          <a:solidFill>
                            <a:srgbClr val="FF0000"/>
                          </a:solidFill>
                          <a:latin typeface="Palatino Linotype"/>
                          <a:cs typeface="Palatino Linotype"/>
                        </a:rPr>
                        <a:t>)</a:t>
                      </a:r>
                      <a:endParaRPr sz="2000">
                        <a:latin typeface="Palatino Linotype"/>
                        <a:cs typeface="Palatino Linotype"/>
                      </a:endParaRPr>
                    </a:p>
                  </a:txBody>
                  <a:tcPr marL="0" marR="0" marT="89535" marB="0">
                    <a:lnL>
                      <a:noFill/>
                    </a:lnL>
                    <a:lnR w="9525">
                      <a:solidFill>
                        <a:srgbClr val="7E7E7E"/>
                      </a:solidFill>
                      <a:prstDash val="solid"/>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3098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705"/>
                        </a:spcBef>
                      </a:pPr>
                      <a:r>
                        <a:rPr sz="2000" dirty="0">
                          <a:latin typeface="Palatino Linotype"/>
                          <a:cs typeface="Palatino Linotype"/>
                        </a:rPr>
                        <a:t>Run-Time</a:t>
                      </a:r>
                      <a:r>
                        <a:rPr sz="2000" spc="-45" dirty="0">
                          <a:latin typeface="Palatino Linotype"/>
                          <a:cs typeface="Palatino Linotype"/>
                        </a:rPr>
                        <a:t> </a:t>
                      </a:r>
                      <a:r>
                        <a:rPr sz="2000" dirty="0">
                          <a:latin typeface="Palatino Linotype"/>
                          <a:cs typeface="Palatino Linotype"/>
                        </a:rPr>
                        <a:t>Environments</a:t>
                      </a:r>
                      <a:r>
                        <a:rPr sz="2000" spc="-15" dirty="0">
                          <a:latin typeface="Palatino Linotype"/>
                          <a:cs typeface="Palatino Linotype"/>
                        </a:rPr>
                        <a:t> </a:t>
                      </a:r>
                      <a:r>
                        <a:rPr sz="2000" spc="10" dirty="0">
                          <a:latin typeface="Palatino Linotype"/>
                          <a:cs typeface="Palatino Linotype"/>
                        </a:rPr>
                        <a:t>(</a:t>
                      </a:r>
                      <a:r>
                        <a:rPr sz="2000" dirty="0">
                          <a:latin typeface="宋体"/>
                          <a:cs typeface="宋体"/>
                        </a:rPr>
                        <a:t>运行时刻环境</a:t>
                      </a:r>
                      <a:r>
                        <a:rPr sz="2000" dirty="0">
                          <a:latin typeface="Palatino Linotype"/>
                          <a:cs typeface="Palatino Linotype"/>
                        </a:rPr>
                        <a:t>)</a:t>
                      </a:r>
                      <a:endParaRPr sz="2000">
                        <a:latin typeface="Palatino Linotype"/>
                        <a:cs typeface="Palatino Linotype"/>
                      </a:endParaRPr>
                    </a:p>
                  </a:txBody>
                  <a:tcPr marL="0" marR="0" marT="89535" marB="0">
                    <a:lnL>
                      <a:noFill/>
                    </a:lnL>
                    <a:lnR w="9525">
                      <a:solidFill>
                        <a:srgbClr val="7E7E7E"/>
                      </a:solidFill>
                      <a:prstDash val="solid"/>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3098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710"/>
                        </a:spcBef>
                      </a:pPr>
                      <a:r>
                        <a:rPr sz="2000" spc="-5" dirty="0">
                          <a:latin typeface="Palatino Linotype"/>
                          <a:cs typeface="Palatino Linotype"/>
                        </a:rPr>
                        <a:t>Code</a:t>
                      </a:r>
                      <a:r>
                        <a:rPr sz="2000" spc="-15" dirty="0">
                          <a:latin typeface="Palatino Linotype"/>
                          <a:cs typeface="Palatino Linotype"/>
                        </a:rPr>
                        <a:t> </a:t>
                      </a:r>
                      <a:r>
                        <a:rPr sz="2000" spc="-5" dirty="0">
                          <a:latin typeface="Palatino Linotype"/>
                          <a:cs typeface="Palatino Linotype"/>
                        </a:rPr>
                        <a:t>Generation</a:t>
                      </a:r>
                      <a:r>
                        <a:rPr sz="2000" spc="-15" dirty="0">
                          <a:latin typeface="Palatino Linotype"/>
                          <a:cs typeface="Palatino Linotype"/>
                        </a:rPr>
                        <a:t> </a:t>
                      </a:r>
                      <a:r>
                        <a:rPr sz="2000" spc="10" dirty="0">
                          <a:latin typeface="Palatino Linotype"/>
                          <a:cs typeface="Palatino Linotype"/>
                        </a:rPr>
                        <a:t>(</a:t>
                      </a:r>
                      <a:r>
                        <a:rPr sz="2000" dirty="0">
                          <a:latin typeface="宋体"/>
                          <a:cs typeface="宋体"/>
                        </a:rPr>
                        <a:t>代码生成</a:t>
                      </a:r>
                      <a:r>
                        <a:rPr sz="2000" dirty="0">
                          <a:latin typeface="Palatino Linotype"/>
                          <a:cs typeface="Palatino Linotype"/>
                        </a:rPr>
                        <a:t>)</a:t>
                      </a:r>
                      <a:endParaRPr sz="2000">
                        <a:latin typeface="Palatino Linotype"/>
                        <a:cs typeface="Palatino Linotype"/>
                      </a:endParaRPr>
                    </a:p>
                  </a:txBody>
                  <a:tcPr marL="0" marR="0" marT="90170" marB="0">
                    <a:lnL>
                      <a:noFill/>
                    </a:lnL>
                    <a:lnR w="9525">
                      <a:solidFill>
                        <a:srgbClr val="7E7E7E"/>
                      </a:solidFill>
                      <a:prstDash val="solid"/>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531025">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810"/>
                        </a:spcBef>
                      </a:pPr>
                      <a:r>
                        <a:rPr sz="2000" dirty="0">
                          <a:latin typeface="Palatino Linotype"/>
                          <a:cs typeface="Palatino Linotype"/>
                        </a:rPr>
                        <a:t>Machine-Independent</a:t>
                      </a:r>
                      <a:r>
                        <a:rPr sz="2000" spc="-30" dirty="0">
                          <a:latin typeface="Palatino Linotype"/>
                          <a:cs typeface="Palatino Linotype"/>
                        </a:rPr>
                        <a:t> </a:t>
                      </a:r>
                      <a:r>
                        <a:rPr sz="2000" spc="-5" dirty="0">
                          <a:latin typeface="Palatino Linotype"/>
                          <a:cs typeface="Palatino Linotype"/>
                        </a:rPr>
                        <a:t>Optimizations</a:t>
                      </a:r>
                      <a:r>
                        <a:rPr sz="2000" spc="-20" dirty="0">
                          <a:latin typeface="Palatino Linotype"/>
                          <a:cs typeface="Palatino Linotype"/>
                        </a:rPr>
                        <a:t> (</a:t>
                      </a:r>
                      <a:r>
                        <a:rPr sz="2000" dirty="0">
                          <a:latin typeface="宋体"/>
                          <a:cs typeface="宋体"/>
                        </a:rPr>
                        <a:t>机器无关优化</a:t>
                      </a:r>
                      <a:r>
                        <a:rPr sz="2000" dirty="0">
                          <a:latin typeface="Palatino Linotype"/>
                          <a:cs typeface="Palatino Linotype"/>
                        </a:rPr>
                        <a:t>)</a:t>
                      </a:r>
                      <a:endParaRPr sz="2000">
                        <a:latin typeface="Palatino Linotype"/>
                        <a:cs typeface="Palatino Linotype"/>
                      </a:endParaRPr>
                    </a:p>
                  </a:txBody>
                  <a:tcPr marL="0" marR="0" marT="102870" marB="0">
                    <a:lnL>
                      <a:noFill/>
                    </a:lnL>
                    <a:lnR w="9525">
                      <a:solidFill>
                        <a:srgbClr val="7E7E7E"/>
                      </a:solidFill>
                      <a:prstDash val="solid"/>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9525">
                      <a:solidFill>
                        <a:srgbClr val="7E7E7E"/>
                      </a:solidFill>
                      <a:prstDash val="solid"/>
                    </a:lnL>
                    <a:lnR>
                      <a:noFill/>
                    </a:lnR>
                    <a:lnT w="9525">
                      <a:solidFill>
                        <a:srgbClr val="7E7E7E"/>
                      </a:solidFill>
                      <a:prstDash val="solid"/>
                    </a:lnT>
                    <a:lnB w="9525">
                      <a:solidFill>
                        <a:srgbClr val="7E7E7E"/>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51" name="object 3">
            <a:extLst>
              <a:ext uri="{FF2B5EF4-FFF2-40B4-BE49-F238E27FC236}">
                <a16:creationId xmlns:a16="http://schemas.microsoft.com/office/drawing/2014/main" id="{C8738321-4032-F935-0AB6-A268FB5755E5}"/>
              </a:ext>
            </a:extLst>
          </p:cNvPr>
          <p:cNvSpPr txBox="1">
            <a:spLocks/>
          </p:cNvSpPr>
          <p:nvPr/>
        </p:nvSpPr>
        <p:spPr>
          <a:xfrm>
            <a:off x="707542" y="304037"/>
            <a:ext cx="3646804"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Course</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Content</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52" name="object 4">
            <a:extLst>
              <a:ext uri="{FF2B5EF4-FFF2-40B4-BE49-F238E27FC236}">
                <a16:creationId xmlns:a16="http://schemas.microsoft.com/office/drawing/2014/main" id="{D5E94EBC-8772-C861-1607-25F8D313AB65}"/>
              </a:ext>
            </a:extLst>
          </p:cNvPr>
          <p:cNvSpPr/>
          <p:nvPr/>
        </p:nvSpPr>
        <p:spPr>
          <a:xfrm>
            <a:off x="7194804" y="2087879"/>
            <a:ext cx="274320" cy="274320"/>
          </a:xfrm>
          <a:custGeom>
            <a:avLst/>
            <a:gdLst/>
            <a:ahLst/>
            <a:cxnLst/>
            <a:rect l="l" t="t" r="r" b="b"/>
            <a:pathLst>
              <a:path w="274320" h="274319">
                <a:moveTo>
                  <a:pt x="274320" y="104775"/>
                </a:moveTo>
                <a:lnTo>
                  <a:pt x="0" y="104775"/>
                </a:lnTo>
                <a:lnTo>
                  <a:pt x="84709" y="169545"/>
                </a:lnTo>
                <a:lnTo>
                  <a:pt x="52450" y="274320"/>
                </a:lnTo>
                <a:lnTo>
                  <a:pt x="137160" y="209550"/>
                </a:lnTo>
                <a:lnTo>
                  <a:pt x="201927" y="209550"/>
                </a:lnTo>
                <a:lnTo>
                  <a:pt x="189611" y="169545"/>
                </a:lnTo>
                <a:lnTo>
                  <a:pt x="274320" y="104775"/>
                </a:lnTo>
                <a:close/>
              </a:path>
              <a:path w="274320" h="274319">
                <a:moveTo>
                  <a:pt x="201927" y="209550"/>
                </a:moveTo>
                <a:lnTo>
                  <a:pt x="137160" y="209550"/>
                </a:lnTo>
                <a:lnTo>
                  <a:pt x="221869" y="274320"/>
                </a:lnTo>
                <a:lnTo>
                  <a:pt x="201927" y="209550"/>
                </a:lnTo>
                <a:close/>
              </a:path>
              <a:path w="274320" h="274319">
                <a:moveTo>
                  <a:pt x="137160" y="0"/>
                </a:moveTo>
                <a:lnTo>
                  <a:pt x="104775" y="104775"/>
                </a:lnTo>
                <a:lnTo>
                  <a:pt x="169545" y="104775"/>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3" name="object 5">
            <a:extLst>
              <a:ext uri="{FF2B5EF4-FFF2-40B4-BE49-F238E27FC236}">
                <a16:creationId xmlns:a16="http://schemas.microsoft.com/office/drawing/2014/main" id="{8A507F4F-CFF1-F7D4-D36A-A7A0042C0072}"/>
              </a:ext>
            </a:extLst>
          </p:cNvPr>
          <p:cNvSpPr/>
          <p:nvPr/>
        </p:nvSpPr>
        <p:spPr>
          <a:xfrm>
            <a:off x="7194804" y="2087879"/>
            <a:ext cx="274320" cy="274320"/>
          </a:xfrm>
          <a:custGeom>
            <a:avLst/>
            <a:gdLst/>
            <a:ahLst/>
            <a:cxnLst/>
            <a:rect l="l" t="t" r="r" b="b"/>
            <a:pathLst>
              <a:path w="274320" h="274319">
                <a:moveTo>
                  <a:pt x="0" y="104775"/>
                </a:moveTo>
                <a:lnTo>
                  <a:pt x="104775" y="104775"/>
                </a:lnTo>
                <a:lnTo>
                  <a:pt x="137160" y="0"/>
                </a:lnTo>
                <a:lnTo>
                  <a:pt x="169545" y="104775"/>
                </a:lnTo>
                <a:lnTo>
                  <a:pt x="274320" y="104775"/>
                </a:lnTo>
                <a:lnTo>
                  <a:pt x="189611" y="169545"/>
                </a:lnTo>
                <a:lnTo>
                  <a:pt x="221869" y="274320"/>
                </a:lnTo>
                <a:lnTo>
                  <a:pt x="137160" y="209550"/>
                </a:lnTo>
                <a:lnTo>
                  <a:pt x="52450" y="274320"/>
                </a:lnTo>
                <a:lnTo>
                  <a:pt x="84709"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4" name="object 6">
            <a:extLst>
              <a:ext uri="{FF2B5EF4-FFF2-40B4-BE49-F238E27FC236}">
                <a16:creationId xmlns:a16="http://schemas.microsoft.com/office/drawing/2014/main" id="{8A500100-3433-DF7C-D41F-4666C59D79C2}"/>
              </a:ext>
            </a:extLst>
          </p:cNvPr>
          <p:cNvSpPr/>
          <p:nvPr/>
        </p:nvSpPr>
        <p:spPr>
          <a:xfrm>
            <a:off x="7583423" y="2087879"/>
            <a:ext cx="274320" cy="274320"/>
          </a:xfrm>
          <a:custGeom>
            <a:avLst/>
            <a:gdLst/>
            <a:ahLst/>
            <a:cxnLst/>
            <a:rect l="l" t="t" r="r" b="b"/>
            <a:pathLst>
              <a:path w="274320" h="274319">
                <a:moveTo>
                  <a:pt x="274320" y="104775"/>
                </a:moveTo>
                <a:lnTo>
                  <a:pt x="0" y="104775"/>
                </a:lnTo>
                <a:lnTo>
                  <a:pt x="84708" y="169545"/>
                </a:lnTo>
                <a:lnTo>
                  <a:pt x="52450" y="274320"/>
                </a:lnTo>
                <a:lnTo>
                  <a:pt x="137159" y="209550"/>
                </a:lnTo>
                <a:lnTo>
                  <a:pt x="201927" y="209550"/>
                </a:lnTo>
                <a:lnTo>
                  <a:pt x="189610" y="169545"/>
                </a:lnTo>
                <a:lnTo>
                  <a:pt x="274320" y="104775"/>
                </a:lnTo>
                <a:close/>
              </a:path>
              <a:path w="274320" h="274319">
                <a:moveTo>
                  <a:pt x="201927" y="209550"/>
                </a:moveTo>
                <a:lnTo>
                  <a:pt x="137159" y="209550"/>
                </a:lnTo>
                <a:lnTo>
                  <a:pt x="221869" y="274320"/>
                </a:lnTo>
                <a:lnTo>
                  <a:pt x="201927" y="209550"/>
                </a:lnTo>
                <a:close/>
              </a:path>
              <a:path w="274320" h="274319">
                <a:moveTo>
                  <a:pt x="137159" y="0"/>
                </a:moveTo>
                <a:lnTo>
                  <a:pt x="104775" y="104775"/>
                </a:lnTo>
                <a:lnTo>
                  <a:pt x="169545" y="104775"/>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5" name="object 7">
            <a:extLst>
              <a:ext uri="{FF2B5EF4-FFF2-40B4-BE49-F238E27FC236}">
                <a16:creationId xmlns:a16="http://schemas.microsoft.com/office/drawing/2014/main" id="{14BF661B-3EEC-F2D7-D394-9A77EDE905D8}"/>
              </a:ext>
            </a:extLst>
          </p:cNvPr>
          <p:cNvSpPr/>
          <p:nvPr/>
        </p:nvSpPr>
        <p:spPr>
          <a:xfrm>
            <a:off x="7583423" y="2087879"/>
            <a:ext cx="274320" cy="274320"/>
          </a:xfrm>
          <a:custGeom>
            <a:avLst/>
            <a:gdLst/>
            <a:ahLst/>
            <a:cxnLst/>
            <a:rect l="l" t="t" r="r" b="b"/>
            <a:pathLst>
              <a:path w="274320" h="274319">
                <a:moveTo>
                  <a:pt x="0" y="104775"/>
                </a:moveTo>
                <a:lnTo>
                  <a:pt x="104775" y="104775"/>
                </a:lnTo>
                <a:lnTo>
                  <a:pt x="137159" y="0"/>
                </a:lnTo>
                <a:lnTo>
                  <a:pt x="169545" y="104775"/>
                </a:lnTo>
                <a:lnTo>
                  <a:pt x="274320" y="104775"/>
                </a:lnTo>
                <a:lnTo>
                  <a:pt x="189610" y="169545"/>
                </a:lnTo>
                <a:lnTo>
                  <a:pt x="221869" y="274320"/>
                </a:lnTo>
                <a:lnTo>
                  <a:pt x="137159" y="209550"/>
                </a:lnTo>
                <a:lnTo>
                  <a:pt x="52450" y="274320"/>
                </a:lnTo>
                <a:lnTo>
                  <a:pt x="84708"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6" name="object 8">
            <a:extLst>
              <a:ext uri="{FF2B5EF4-FFF2-40B4-BE49-F238E27FC236}">
                <a16:creationId xmlns:a16="http://schemas.microsoft.com/office/drawing/2014/main" id="{87FA8A72-B319-64F1-DD8C-AD6A2C4679A4}"/>
              </a:ext>
            </a:extLst>
          </p:cNvPr>
          <p:cNvSpPr/>
          <p:nvPr/>
        </p:nvSpPr>
        <p:spPr>
          <a:xfrm>
            <a:off x="7973568" y="2087879"/>
            <a:ext cx="274320" cy="274320"/>
          </a:xfrm>
          <a:custGeom>
            <a:avLst/>
            <a:gdLst/>
            <a:ahLst/>
            <a:cxnLst/>
            <a:rect l="l" t="t" r="r" b="b"/>
            <a:pathLst>
              <a:path w="274320" h="274319">
                <a:moveTo>
                  <a:pt x="274320" y="104775"/>
                </a:moveTo>
                <a:lnTo>
                  <a:pt x="0" y="104775"/>
                </a:lnTo>
                <a:lnTo>
                  <a:pt x="84708" y="169545"/>
                </a:lnTo>
                <a:lnTo>
                  <a:pt x="52450" y="274320"/>
                </a:lnTo>
                <a:lnTo>
                  <a:pt x="137159" y="209550"/>
                </a:lnTo>
                <a:lnTo>
                  <a:pt x="201927" y="209550"/>
                </a:lnTo>
                <a:lnTo>
                  <a:pt x="189610" y="169545"/>
                </a:lnTo>
                <a:lnTo>
                  <a:pt x="274320" y="104775"/>
                </a:lnTo>
                <a:close/>
              </a:path>
              <a:path w="274320" h="274319">
                <a:moveTo>
                  <a:pt x="201927" y="209550"/>
                </a:moveTo>
                <a:lnTo>
                  <a:pt x="137159" y="209550"/>
                </a:lnTo>
                <a:lnTo>
                  <a:pt x="221868" y="274320"/>
                </a:lnTo>
                <a:lnTo>
                  <a:pt x="201927" y="209550"/>
                </a:lnTo>
                <a:close/>
              </a:path>
              <a:path w="274320" h="274319">
                <a:moveTo>
                  <a:pt x="137159" y="0"/>
                </a:moveTo>
                <a:lnTo>
                  <a:pt x="104775" y="104775"/>
                </a:lnTo>
                <a:lnTo>
                  <a:pt x="169545" y="104775"/>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7" name="object 9">
            <a:extLst>
              <a:ext uri="{FF2B5EF4-FFF2-40B4-BE49-F238E27FC236}">
                <a16:creationId xmlns:a16="http://schemas.microsoft.com/office/drawing/2014/main" id="{F776A094-6A4C-F99F-4E3F-2895E6A691FF}"/>
              </a:ext>
            </a:extLst>
          </p:cNvPr>
          <p:cNvSpPr/>
          <p:nvPr/>
        </p:nvSpPr>
        <p:spPr>
          <a:xfrm>
            <a:off x="7973568" y="2087879"/>
            <a:ext cx="274320" cy="274320"/>
          </a:xfrm>
          <a:custGeom>
            <a:avLst/>
            <a:gdLst/>
            <a:ahLst/>
            <a:cxnLst/>
            <a:rect l="l" t="t" r="r" b="b"/>
            <a:pathLst>
              <a:path w="274320" h="274319">
                <a:moveTo>
                  <a:pt x="0" y="104775"/>
                </a:moveTo>
                <a:lnTo>
                  <a:pt x="104775" y="104775"/>
                </a:lnTo>
                <a:lnTo>
                  <a:pt x="137159" y="0"/>
                </a:lnTo>
                <a:lnTo>
                  <a:pt x="169545" y="104775"/>
                </a:lnTo>
                <a:lnTo>
                  <a:pt x="274320" y="104775"/>
                </a:lnTo>
                <a:lnTo>
                  <a:pt x="189610" y="169545"/>
                </a:lnTo>
                <a:lnTo>
                  <a:pt x="221868" y="274320"/>
                </a:lnTo>
                <a:lnTo>
                  <a:pt x="137159" y="209550"/>
                </a:lnTo>
                <a:lnTo>
                  <a:pt x="52450" y="274320"/>
                </a:lnTo>
                <a:lnTo>
                  <a:pt x="84708"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8" name="object 10">
            <a:extLst>
              <a:ext uri="{FF2B5EF4-FFF2-40B4-BE49-F238E27FC236}">
                <a16:creationId xmlns:a16="http://schemas.microsoft.com/office/drawing/2014/main" id="{33FB1FC6-8F5B-861F-6C97-82377FD13D2C}"/>
              </a:ext>
            </a:extLst>
          </p:cNvPr>
          <p:cNvSpPr/>
          <p:nvPr/>
        </p:nvSpPr>
        <p:spPr>
          <a:xfrm>
            <a:off x="7194804" y="2641092"/>
            <a:ext cx="274320" cy="274320"/>
          </a:xfrm>
          <a:custGeom>
            <a:avLst/>
            <a:gdLst/>
            <a:ahLst/>
            <a:cxnLst/>
            <a:rect l="l" t="t" r="r" b="b"/>
            <a:pathLst>
              <a:path w="274320" h="274319">
                <a:moveTo>
                  <a:pt x="274320" y="104775"/>
                </a:moveTo>
                <a:lnTo>
                  <a:pt x="0" y="104775"/>
                </a:lnTo>
                <a:lnTo>
                  <a:pt x="84709" y="169545"/>
                </a:lnTo>
                <a:lnTo>
                  <a:pt x="52450" y="274320"/>
                </a:lnTo>
                <a:lnTo>
                  <a:pt x="137160" y="209550"/>
                </a:lnTo>
                <a:lnTo>
                  <a:pt x="201927" y="209550"/>
                </a:lnTo>
                <a:lnTo>
                  <a:pt x="189611" y="169545"/>
                </a:lnTo>
                <a:lnTo>
                  <a:pt x="274320" y="104775"/>
                </a:lnTo>
                <a:close/>
              </a:path>
              <a:path w="274320" h="274319">
                <a:moveTo>
                  <a:pt x="201927" y="209550"/>
                </a:moveTo>
                <a:lnTo>
                  <a:pt x="137160" y="209550"/>
                </a:lnTo>
                <a:lnTo>
                  <a:pt x="221869" y="274320"/>
                </a:lnTo>
                <a:lnTo>
                  <a:pt x="201927" y="209550"/>
                </a:lnTo>
                <a:close/>
              </a:path>
              <a:path w="274320" h="274319">
                <a:moveTo>
                  <a:pt x="137160" y="0"/>
                </a:moveTo>
                <a:lnTo>
                  <a:pt x="104775" y="104775"/>
                </a:lnTo>
                <a:lnTo>
                  <a:pt x="169545" y="104775"/>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9" name="object 11">
            <a:extLst>
              <a:ext uri="{FF2B5EF4-FFF2-40B4-BE49-F238E27FC236}">
                <a16:creationId xmlns:a16="http://schemas.microsoft.com/office/drawing/2014/main" id="{D490058B-05C6-AAE7-DD00-C8D1FF5DB1F2}"/>
              </a:ext>
            </a:extLst>
          </p:cNvPr>
          <p:cNvSpPr/>
          <p:nvPr/>
        </p:nvSpPr>
        <p:spPr>
          <a:xfrm>
            <a:off x="7194804" y="2641092"/>
            <a:ext cx="274320" cy="274320"/>
          </a:xfrm>
          <a:custGeom>
            <a:avLst/>
            <a:gdLst/>
            <a:ahLst/>
            <a:cxnLst/>
            <a:rect l="l" t="t" r="r" b="b"/>
            <a:pathLst>
              <a:path w="274320" h="274319">
                <a:moveTo>
                  <a:pt x="0" y="104775"/>
                </a:moveTo>
                <a:lnTo>
                  <a:pt x="104775" y="104775"/>
                </a:lnTo>
                <a:lnTo>
                  <a:pt x="137160" y="0"/>
                </a:lnTo>
                <a:lnTo>
                  <a:pt x="169545" y="104775"/>
                </a:lnTo>
                <a:lnTo>
                  <a:pt x="274320" y="104775"/>
                </a:lnTo>
                <a:lnTo>
                  <a:pt x="189611" y="169545"/>
                </a:lnTo>
                <a:lnTo>
                  <a:pt x="221869" y="274320"/>
                </a:lnTo>
                <a:lnTo>
                  <a:pt x="137160" y="209550"/>
                </a:lnTo>
                <a:lnTo>
                  <a:pt x="52450" y="274320"/>
                </a:lnTo>
                <a:lnTo>
                  <a:pt x="84709"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0" name="object 12">
            <a:extLst>
              <a:ext uri="{FF2B5EF4-FFF2-40B4-BE49-F238E27FC236}">
                <a16:creationId xmlns:a16="http://schemas.microsoft.com/office/drawing/2014/main" id="{C9E826EF-484A-AFAF-BF75-F834F55BF2FD}"/>
              </a:ext>
            </a:extLst>
          </p:cNvPr>
          <p:cNvSpPr/>
          <p:nvPr/>
        </p:nvSpPr>
        <p:spPr>
          <a:xfrm>
            <a:off x="7583423" y="2641092"/>
            <a:ext cx="274320" cy="274320"/>
          </a:xfrm>
          <a:custGeom>
            <a:avLst/>
            <a:gdLst/>
            <a:ahLst/>
            <a:cxnLst/>
            <a:rect l="l" t="t" r="r" b="b"/>
            <a:pathLst>
              <a:path w="274320" h="274319">
                <a:moveTo>
                  <a:pt x="274320" y="104775"/>
                </a:moveTo>
                <a:lnTo>
                  <a:pt x="0" y="104775"/>
                </a:lnTo>
                <a:lnTo>
                  <a:pt x="84708" y="169545"/>
                </a:lnTo>
                <a:lnTo>
                  <a:pt x="52450" y="274320"/>
                </a:lnTo>
                <a:lnTo>
                  <a:pt x="137159" y="209550"/>
                </a:lnTo>
                <a:lnTo>
                  <a:pt x="201927" y="209550"/>
                </a:lnTo>
                <a:lnTo>
                  <a:pt x="189610" y="169545"/>
                </a:lnTo>
                <a:lnTo>
                  <a:pt x="274320" y="104775"/>
                </a:lnTo>
                <a:close/>
              </a:path>
              <a:path w="274320" h="274319">
                <a:moveTo>
                  <a:pt x="201927" y="209550"/>
                </a:moveTo>
                <a:lnTo>
                  <a:pt x="137159" y="209550"/>
                </a:lnTo>
                <a:lnTo>
                  <a:pt x="221869" y="274320"/>
                </a:lnTo>
                <a:lnTo>
                  <a:pt x="201927" y="209550"/>
                </a:lnTo>
                <a:close/>
              </a:path>
              <a:path w="274320" h="274319">
                <a:moveTo>
                  <a:pt x="137159" y="0"/>
                </a:moveTo>
                <a:lnTo>
                  <a:pt x="104775" y="104775"/>
                </a:lnTo>
                <a:lnTo>
                  <a:pt x="169545" y="104775"/>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1" name="object 13">
            <a:extLst>
              <a:ext uri="{FF2B5EF4-FFF2-40B4-BE49-F238E27FC236}">
                <a16:creationId xmlns:a16="http://schemas.microsoft.com/office/drawing/2014/main" id="{C26F4C3A-B0A5-5846-19B0-D30629444F70}"/>
              </a:ext>
            </a:extLst>
          </p:cNvPr>
          <p:cNvSpPr/>
          <p:nvPr/>
        </p:nvSpPr>
        <p:spPr>
          <a:xfrm>
            <a:off x="7583423" y="2641092"/>
            <a:ext cx="274320" cy="274320"/>
          </a:xfrm>
          <a:custGeom>
            <a:avLst/>
            <a:gdLst/>
            <a:ahLst/>
            <a:cxnLst/>
            <a:rect l="l" t="t" r="r" b="b"/>
            <a:pathLst>
              <a:path w="274320" h="274319">
                <a:moveTo>
                  <a:pt x="0" y="104775"/>
                </a:moveTo>
                <a:lnTo>
                  <a:pt x="104775" y="104775"/>
                </a:lnTo>
                <a:lnTo>
                  <a:pt x="137159" y="0"/>
                </a:lnTo>
                <a:lnTo>
                  <a:pt x="169545" y="104775"/>
                </a:lnTo>
                <a:lnTo>
                  <a:pt x="274320" y="104775"/>
                </a:lnTo>
                <a:lnTo>
                  <a:pt x="189610" y="169545"/>
                </a:lnTo>
                <a:lnTo>
                  <a:pt x="221869" y="274320"/>
                </a:lnTo>
                <a:lnTo>
                  <a:pt x="137159" y="209550"/>
                </a:lnTo>
                <a:lnTo>
                  <a:pt x="52450" y="274320"/>
                </a:lnTo>
                <a:lnTo>
                  <a:pt x="84708"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2" name="object 14">
            <a:extLst>
              <a:ext uri="{FF2B5EF4-FFF2-40B4-BE49-F238E27FC236}">
                <a16:creationId xmlns:a16="http://schemas.microsoft.com/office/drawing/2014/main" id="{2291BA4A-8B14-2989-ADA3-E3FCF83E1339}"/>
              </a:ext>
            </a:extLst>
          </p:cNvPr>
          <p:cNvSpPr/>
          <p:nvPr/>
        </p:nvSpPr>
        <p:spPr>
          <a:xfrm>
            <a:off x="7973568" y="2641092"/>
            <a:ext cx="274320" cy="274320"/>
          </a:xfrm>
          <a:custGeom>
            <a:avLst/>
            <a:gdLst/>
            <a:ahLst/>
            <a:cxnLst/>
            <a:rect l="l" t="t" r="r" b="b"/>
            <a:pathLst>
              <a:path w="274320" h="274319">
                <a:moveTo>
                  <a:pt x="274320" y="104775"/>
                </a:moveTo>
                <a:lnTo>
                  <a:pt x="0" y="104775"/>
                </a:lnTo>
                <a:lnTo>
                  <a:pt x="84708" y="169545"/>
                </a:lnTo>
                <a:lnTo>
                  <a:pt x="52450" y="274320"/>
                </a:lnTo>
                <a:lnTo>
                  <a:pt x="137159" y="209550"/>
                </a:lnTo>
                <a:lnTo>
                  <a:pt x="201927" y="209550"/>
                </a:lnTo>
                <a:lnTo>
                  <a:pt x="189610" y="169545"/>
                </a:lnTo>
                <a:lnTo>
                  <a:pt x="274320" y="104775"/>
                </a:lnTo>
                <a:close/>
              </a:path>
              <a:path w="274320" h="274319">
                <a:moveTo>
                  <a:pt x="201927" y="209550"/>
                </a:moveTo>
                <a:lnTo>
                  <a:pt x="137159" y="209550"/>
                </a:lnTo>
                <a:lnTo>
                  <a:pt x="221868" y="274320"/>
                </a:lnTo>
                <a:lnTo>
                  <a:pt x="201927" y="209550"/>
                </a:lnTo>
                <a:close/>
              </a:path>
              <a:path w="274320" h="274319">
                <a:moveTo>
                  <a:pt x="137159" y="0"/>
                </a:moveTo>
                <a:lnTo>
                  <a:pt x="104775" y="104775"/>
                </a:lnTo>
                <a:lnTo>
                  <a:pt x="169545" y="104775"/>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3" name="object 15">
            <a:extLst>
              <a:ext uri="{FF2B5EF4-FFF2-40B4-BE49-F238E27FC236}">
                <a16:creationId xmlns:a16="http://schemas.microsoft.com/office/drawing/2014/main" id="{B1AA4844-9BD9-146A-82E6-F521A1BB33A6}"/>
              </a:ext>
            </a:extLst>
          </p:cNvPr>
          <p:cNvSpPr/>
          <p:nvPr/>
        </p:nvSpPr>
        <p:spPr>
          <a:xfrm>
            <a:off x="7973568" y="2641092"/>
            <a:ext cx="274320" cy="274320"/>
          </a:xfrm>
          <a:custGeom>
            <a:avLst/>
            <a:gdLst/>
            <a:ahLst/>
            <a:cxnLst/>
            <a:rect l="l" t="t" r="r" b="b"/>
            <a:pathLst>
              <a:path w="274320" h="274319">
                <a:moveTo>
                  <a:pt x="0" y="104775"/>
                </a:moveTo>
                <a:lnTo>
                  <a:pt x="104775" y="104775"/>
                </a:lnTo>
                <a:lnTo>
                  <a:pt x="137159" y="0"/>
                </a:lnTo>
                <a:lnTo>
                  <a:pt x="169545" y="104775"/>
                </a:lnTo>
                <a:lnTo>
                  <a:pt x="274320" y="104775"/>
                </a:lnTo>
                <a:lnTo>
                  <a:pt x="189610" y="169545"/>
                </a:lnTo>
                <a:lnTo>
                  <a:pt x="221868" y="274320"/>
                </a:lnTo>
                <a:lnTo>
                  <a:pt x="137159" y="209550"/>
                </a:lnTo>
                <a:lnTo>
                  <a:pt x="52450" y="274320"/>
                </a:lnTo>
                <a:lnTo>
                  <a:pt x="84708"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4" name="object 16">
            <a:extLst>
              <a:ext uri="{FF2B5EF4-FFF2-40B4-BE49-F238E27FC236}">
                <a16:creationId xmlns:a16="http://schemas.microsoft.com/office/drawing/2014/main" id="{FFE73E75-AFBB-C9FA-5AA7-700F37D3FE25}"/>
              </a:ext>
            </a:extLst>
          </p:cNvPr>
          <p:cNvSpPr/>
          <p:nvPr/>
        </p:nvSpPr>
        <p:spPr>
          <a:xfrm>
            <a:off x="7194804" y="1588008"/>
            <a:ext cx="274320" cy="274320"/>
          </a:xfrm>
          <a:custGeom>
            <a:avLst/>
            <a:gdLst/>
            <a:ahLst/>
            <a:cxnLst/>
            <a:rect l="l" t="t" r="r" b="b"/>
            <a:pathLst>
              <a:path w="274320" h="274319">
                <a:moveTo>
                  <a:pt x="274320" y="104775"/>
                </a:moveTo>
                <a:lnTo>
                  <a:pt x="0" y="104775"/>
                </a:lnTo>
                <a:lnTo>
                  <a:pt x="84709" y="169544"/>
                </a:lnTo>
                <a:lnTo>
                  <a:pt x="52450" y="274319"/>
                </a:lnTo>
                <a:lnTo>
                  <a:pt x="137160" y="209550"/>
                </a:lnTo>
                <a:lnTo>
                  <a:pt x="201927" y="209550"/>
                </a:lnTo>
                <a:lnTo>
                  <a:pt x="189611" y="169544"/>
                </a:lnTo>
                <a:lnTo>
                  <a:pt x="274320" y="104775"/>
                </a:lnTo>
                <a:close/>
              </a:path>
              <a:path w="274320" h="274319">
                <a:moveTo>
                  <a:pt x="201927" y="209550"/>
                </a:moveTo>
                <a:lnTo>
                  <a:pt x="137160" y="209550"/>
                </a:lnTo>
                <a:lnTo>
                  <a:pt x="221869" y="274319"/>
                </a:lnTo>
                <a:lnTo>
                  <a:pt x="201927" y="209550"/>
                </a:lnTo>
                <a:close/>
              </a:path>
              <a:path w="274320" h="274319">
                <a:moveTo>
                  <a:pt x="137160" y="0"/>
                </a:moveTo>
                <a:lnTo>
                  <a:pt x="104775" y="104775"/>
                </a:lnTo>
                <a:lnTo>
                  <a:pt x="169545" y="104775"/>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5" name="object 17">
            <a:extLst>
              <a:ext uri="{FF2B5EF4-FFF2-40B4-BE49-F238E27FC236}">
                <a16:creationId xmlns:a16="http://schemas.microsoft.com/office/drawing/2014/main" id="{1A15E44A-8851-E4CD-E97A-B9FEC6979D86}"/>
              </a:ext>
            </a:extLst>
          </p:cNvPr>
          <p:cNvSpPr/>
          <p:nvPr/>
        </p:nvSpPr>
        <p:spPr>
          <a:xfrm>
            <a:off x="7194804" y="1588008"/>
            <a:ext cx="274320" cy="274320"/>
          </a:xfrm>
          <a:custGeom>
            <a:avLst/>
            <a:gdLst/>
            <a:ahLst/>
            <a:cxnLst/>
            <a:rect l="l" t="t" r="r" b="b"/>
            <a:pathLst>
              <a:path w="274320" h="274319">
                <a:moveTo>
                  <a:pt x="0" y="104775"/>
                </a:moveTo>
                <a:lnTo>
                  <a:pt x="104775" y="104775"/>
                </a:lnTo>
                <a:lnTo>
                  <a:pt x="137160" y="0"/>
                </a:lnTo>
                <a:lnTo>
                  <a:pt x="169545" y="104775"/>
                </a:lnTo>
                <a:lnTo>
                  <a:pt x="274320" y="104775"/>
                </a:lnTo>
                <a:lnTo>
                  <a:pt x="189611" y="169544"/>
                </a:lnTo>
                <a:lnTo>
                  <a:pt x="221869" y="274319"/>
                </a:lnTo>
                <a:lnTo>
                  <a:pt x="137160" y="209550"/>
                </a:lnTo>
                <a:lnTo>
                  <a:pt x="52450" y="274319"/>
                </a:lnTo>
                <a:lnTo>
                  <a:pt x="84709" y="169544"/>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6" name="object 18">
            <a:extLst>
              <a:ext uri="{FF2B5EF4-FFF2-40B4-BE49-F238E27FC236}">
                <a16:creationId xmlns:a16="http://schemas.microsoft.com/office/drawing/2014/main" id="{A50283DF-3D65-97D5-DDF5-BCE3BD19F4AA}"/>
              </a:ext>
            </a:extLst>
          </p:cNvPr>
          <p:cNvSpPr/>
          <p:nvPr/>
        </p:nvSpPr>
        <p:spPr>
          <a:xfrm>
            <a:off x="7584947" y="1584960"/>
            <a:ext cx="274320" cy="274320"/>
          </a:xfrm>
          <a:custGeom>
            <a:avLst/>
            <a:gdLst/>
            <a:ahLst/>
            <a:cxnLst/>
            <a:rect l="l" t="t" r="r" b="b"/>
            <a:pathLst>
              <a:path w="274320" h="274319">
                <a:moveTo>
                  <a:pt x="0" y="104775"/>
                </a:moveTo>
                <a:lnTo>
                  <a:pt x="104775" y="104775"/>
                </a:lnTo>
                <a:lnTo>
                  <a:pt x="137159" y="0"/>
                </a:lnTo>
                <a:lnTo>
                  <a:pt x="169545" y="104775"/>
                </a:lnTo>
                <a:lnTo>
                  <a:pt x="274320" y="104775"/>
                </a:lnTo>
                <a:lnTo>
                  <a:pt x="189610" y="169544"/>
                </a:lnTo>
                <a:lnTo>
                  <a:pt x="221869" y="274319"/>
                </a:lnTo>
                <a:lnTo>
                  <a:pt x="137159" y="209550"/>
                </a:lnTo>
                <a:lnTo>
                  <a:pt x="52450" y="274319"/>
                </a:lnTo>
                <a:lnTo>
                  <a:pt x="84708" y="169544"/>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7" name="object 19">
            <a:extLst>
              <a:ext uri="{FF2B5EF4-FFF2-40B4-BE49-F238E27FC236}">
                <a16:creationId xmlns:a16="http://schemas.microsoft.com/office/drawing/2014/main" id="{B48C7B1D-0F04-724F-5E15-5D73207E48A9}"/>
              </a:ext>
            </a:extLst>
          </p:cNvPr>
          <p:cNvSpPr/>
          <p:nvPr/>
        </p:nvSpPr>
        <p:spPr>
          <a:xfrm>
            <a:off x="7973568" y="1584960"/>
            <a:ext cx="274320" cy="274320"/>
          </a:xfrm>
          <a:custGeom>
            <a:avLst/>
            <a:gdLst/>
            <a:ahLst/>
            <a:cxnLst/>
            <a:rect l="l" t="t" r="r" b="b"/>
            <a:pathLst>
              <a:path w="274320" h="274319">
                <a:moveTo>
                  <a:pt x="0" y="104775"/>
                </a:moveTo>
                <a:lnTo>
                  <a:pt x="104775" y="104775"/>
                </a:lnTo>
                <a:lnTo>
                  <a:pt x="137159" y="0"/>
                </a:lnTo>
                <a:lnTo>
                  <a:pt x="169545" y="104775"/>
                </a:lnTo>
                <a:lnTo>
                  <a:pt x="274320" y="104775"/>
                </a:lnTo>
                <a:lnTo>
                  <a:pt x="189610" y="169544"/>
                </a:lnTo>
                <a:lnTo>
                  <a:pt x="221868" y="274319"/>
                </a:lnTo>
                <a:lnTo>
                  <a:pt x="137159" y="209550"/>
                </a:lnTo>
                <a:lnTo>
                  <a:pt x="52450" y="274319"/>
                </a:lnTo>
                <a:lnTo>
                  <a:pt x="84708" y="169544"/>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8" name="object 20">
            <a:extLst>
              <a:ext uri="{FF2B5EF4-FFF2-40B4-BE49-F238E27FC236}">
                <a16:creationId xmlns:a16="http://schemas.microsoft.com/office/drawing/2014/main" id="{7E519010-BB7A-AE55-CCE9-041A78121E6A}"/>
              </a:ext>
            </a:extLst>
          </p:cNvPr>
          <p:cNvSpPr/>
          <p:nvPr/>
        </p:nvSpPr>
        <p:spPr>
          <a:xfrm>
            <a:off x="7194804" y="3165348"/>
            <a:ext cx="274320" cy="274320"/>
          </a:xfrm>
          <a:custGeom>
            <a:avLst/>
            <a:gdLst/>
            <a:ahLst/>
            <a:cxnLst/>
            <a:rect l="l" t="t" r="r" b="b"/>
            <a:pathLst>
              <a:path w="274320" h="274320">
                <a:moveTo>
                  <a:pt x="274320" y="104775"/>
                </a:moveTo>
                <a:lnTo>
                  <a:pt x="0" y="104775"/>
                </a:lnTo>
                <a:lnTo>
                  <a:pt x="84709" y="169544"/>
                </a:lnTo>
                <a:lnTo>
                  <a:pt x="52450" y="274319"/>
                </a:lnTo>
                <a:lnTo>
                  <a:pt x="137160" y="209550"/>
                </a:lnTo>
                <a:lnTo>
                  <a:pt x="201927" y="209550"/>
                </a:lnTo>
                <a:lnTo>
                  <a:pt x="189611" y="169544"/>
                </a:lnTo>
                <a:lnTo>
                  <a:pt x="274320" y="104775"/>
                </a:lnTo>
                <a:close/>
              </a:path>
              <a:path w="274320" h="274320">
                <a:moveTo>
                  <a:pt x="201927" y="209550"/>
                </a:moveTo>
                <a:lnTo>
                  <a:pt x="137160" y="209550"/>
                </a:lnTo>
                <a:lnTo>
                  <a:pt x="221869" y="274319"/>
                </a:lnTo>
                <a:lnTo>
                  <a:pt x="201927" y="209550"/>
                </a:lnTo>
                <a:close/>
              </a:path>
              <a:path w="274320" h="274320">
                <a:moveTo>
                  <a:pt x="137160" y="0"/>
                </a:moveTo>
                <a:lnTo>
                  <a:pt x="104775" y="104775"/>
                </a:lnTo>
                <a:lnTo>
                  <a:pt x="169545" y="104775"/>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9" name="object 21">
            <a:extLst>
              <a:ext uri="{FF2B5EF4-FFF2-40B4-BE49-F238E27FC236}">
                <a16:creationId xmlns:a16="http://schemas.microsoft.com/office/drawing/2014/main" id="{3812575A-0B3C-3972-3FBB-C7D11F445683}"/>
              </a:ext>
            </a:extLst>
          </p:cNvPr>
          <p:cNvSpPr/>
          <p:nvPr/>
        </p:nvSpPr>
        <p:spPr>
          <a:xfrm>
            <a:off x="7194804" y="3165348"/>
            <a:ext cx="274320" cy="274320"/>
          </a:xfrm>
          <a:custGeom>
            <a:avLst/>
            <a:gdLst/>
            <a:ahLst/>
            <a:cxnLst/>
            <a:rect l="l" t="t" r="r" b="b"/>
            <a:pathLst>
              <a:path w="274320" h="274320">
                <a:moveTo>
                  <a:pt x="0" y="104775"/>
                </a:moveTo>
                <a:lnTo>
                  <a:pt x="104775" y="104775"/>
                </a:lnTo>
                <a:lnTo>
                  <a:pt x="137160" y="0"/>
                </a:lnTo>
                <a:lnTo>
                  <a:pt x="169545" y="104775"/>
                </a:lnTo>
                <a:lnTo>
                  <a:pt x="274320" y="104775"/>
                </a:lnTo>
                <a:lnTo>
                  <a:pt x="189611" y="169544"/>
                </a:lnTo>
                <a:lnTo>
                  <a:pt x="221869" y="274319"/>
                </a:lnTo>
                <a:lnTo>
                  <a:pt x="137160" y="209550"/>
                </a:lnTo>
                <a:lnTo>
                  <a:pt x="52450" y="274319"/>
                </a:lnTo>
                <a:lnTo>
                  <a:pt x="84709" y="169544"/>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0" name="object 22">
            <a:extLst>
              <a:ext uri="{FF2B5EF4-FFF2-40B4-BE49-F238E27FC236}">
                <a16:creationId xmlns:a16="http://schemas.microsoft.com/office/drawing/2014/main" id="{77AAFA6B-ADDE-0713-FE77-2E34ACFCF757}"/>
              </a:ext>
            </a:extLst>
          </p:cNvPr>
          <p:cNvSpPr/>
          <p:nvPr/>
        </p:nvSpPr>
        <p:spPr>
          <a:xfrm>
            <a:off x="7583423" y="3165348"/>
            <a:ext cx="274320" cy="274320"/>
          </a:xfrm>
          <a:custGeom>
            <a:avLst/>
            <a:gdLst/>
            <a:ahLst/>
            <a:cxnLst/>
            <a:rect l="l" t="t" r="r" b="b"/>
            <a:pathLst>
              <a:path w="274320" h="274320">
                <a:moveTo>
                  <a:pt x="274320" y="104775"/>
                </a:moveTo>
                <a:lnTo>
                  <a:pt x="0" y="104775"/>
                </a:lnTo>
                <a:lnTo>
                  <a:pt x="84708" y="169544"/>
                </a:lnTo>
                <a:lnTo>
                  <a:pt x="52450" y="274319"/>
                </a:lnTo>
                <a:lnTo>
                  <a:pt x="137159" y="209550"/>
                </a:lnTo>
                <a:lnTo>
                  <a:pt x="201927" y="209550"/>
                </a:lnTo>
                <a:lnTo>
                  <a:pt x="189610" y="169544"/>
                </a:lnTo>
                <a:lnTo>
                  <a:pt x="274320" y="104775"/>
                </a:lnTo>
                <a:close/>
              </a:path>
              <a:path w="274320" h="274320">
                <a:moveTo>
                  <a:pt x="201927" y="209550"/>
                </a:moveTo>
                <a:lnTo>
                  <a:pt x="137159" y="209550"/>
                </a:lnTo>
                <a:lnTo>
                  <a:pt x="221869" y="274319"/>
                </a:lnTo>
                <a:lnTo>
                  <a:pt x="201927" y="209550"/>
                </a:lnTo>
                <a:close/>
              </a:path>
              <a:path w="274320" h="274320">
                <a:moveTo>
                  <a:pt x="137159" y="0"/>
                </a:moveTo>
                <a:lnTo>
                  <a:pt x="104775" y="104775"/>
                </a:lnTo>
                <a:lnTo>
                  <a:pt x="169545" y="104775"/>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1" name="object 23">
            <a:extLst>
              <a:ext uri="{FF2B5EF4-FFF2-40B4-BE49-F238E27FC236}">
                <a16:creationId xmlns:a16="http://schemas.microsoft.com/office/drawing/2014/main" id="{9BF7C28D-29DC-54C1-BDE0-BF3B77D2E69E}"/>
              </a:ext>
            </a:extLst>
          </p:cNvPr>
          <p:cNvSpPr/>
          <p:nvPr/>
        </p:nvSpPr>
        <p:spPr>
          <a:xfrm>
            <a:off x="7583423" y="3165348"/>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4"/>
                </a:lnTo>
                <a:lnTo>
                  <a:pt x="221869" y="274319"/>
                </a:lnTo>
                <a:lnTo>
                  <a:pt x="137159" y="209550"/>
                </a:lnTo>
                <a:lnTo>
                  <a:pt x="52450" y="274319"/>
                </a:lnTo>
                <a:lnTo>
                  <a:pt x="84708" y="169544"/>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2" name="object 24">
            <a:extLst>
              <a:ext uri="{FF2B5EF4-FFF2-40B4-BE49-F238E27FC236}">
                <a16:creationId xmlns:a16="http://schemas.microsoft.com/office/drawing/2014/main" id="{802943B5-D7CB-CBAD-B788-91C3B75701F3}"/>
              </a:ext>
            </a:extLst>
          </p:cNvPr>
          <p:cNvSpPr/>
          <p:nvPr/>
        </p:nvSpPr>
        <p:spPr>
          <a:xfrm>
            <a:off x="7973568" y="3165348"/>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4"/>
                </a:lnTo>
                <a:lnTo>
                  <a:pt x="221868" y="274319"/>
                </a:lnTo>
                <a:lnTo>
                  <a:pt x="137159" y="209550"/>
                </a:lnTo>
                <a:lnTo>
                  <a:pt x="52450" y="274319"/>
                </a:lnTo>
                <a:lnTo>
                  <a:pt x="84708" y="169544"/>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3" name="object 25">
            <a:extLst>
              <a:ext uri="{FF2B5EF4-FFF2-40B4-BE49-F238E27FC236}">
                <a16:creationId xmlns:a16="http://schemas.microsoft.com/office/drawing/2014/main" id="{6CD8209C-9B8B-FC99-091D-60CA9B4034A3}"/>
              </a:ext>
            </a:extLst>
          </p:cNvPr>
          <p:cNvSpPr/>
          <p:nvPr/>
        </p:nvSpPr>
        <p:spPr>
          <a:xfrm>
            <a:off x="7194804" y="3707891"/>
            <a:ext cx="274320" cy="274320"/>
          </a:xfrm>
          <a:custGeom>
            <a:avLst/>
            <a:gdLst/>
            <a:ahLst/>
            <a:cxnLst/>
            <a:rect l="l" t="t" r="r" b="b"/>
            <a:pathLst>
              <a:path w="274320" h="274320">
                <a:moveTo>
                  <a:pt x="274320" y="104774"/>
                </a:moveTo>
                <a:lnTo>
                  <a:pt x="0" y="104774"/>
                </a:lnTo>
                <a:lnTo>
                  <a:pt x="84709" y="169544"/>
                </a:lnTo>
                <a:lnTo>
                  <a:pt x="52450" y="274319"/>
                </a:lnTo>
                <a:lnTo>
                  <a:pt x="137160" y="209549"/>
                </a:lnTo>
                <a:lnTo>
                  <a:pt x="201927" y="209549"/>
                </a:lnTo>
                <a:lnTo>
                  <a:pt x="189611" y="169544"/>
                </a:lnTo>
                <a:lnTo>
                  <a:pt x="274320" y="104774"/>
                </a:lnTo>
                <a:close/>
              </a:path>
              <a:path w="274320" h="274320">
                <a:moveTo>
                  <a:pt x="201927" y="209549"/>
                </a:moveTo>
                <a:lnTo>
                  <a:pt x="137160" y="209549"/>
                </a:lnTo>
                <a:lnTo>
                  <a:pt x="221869" y="274319"/>
                </a:lnTo>
                <a:lnTo>
                  <a:pt x="201927" y="209549"/>
                </a:lnTo>
                <a:close/>
              </a:path>
              <a:path w="274320" h="274320">
                <a:moveTo>
                  <a:pt x="137160" y="0"/>
                </a:moveTo>
                <a:lnTo>
                  <a:pt x="104775" y="104774"/>
                </a:lnTo>
                <a:lnTo>
                  <a:pt x="169545" y="104774"/>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4" name="object 26">
            <a:extLst>
              <a:ext uri="{FF2B5EF4-FFF2-40B4-BE49-F238E27FC236}">
                <a16:creationId xmlns:a16="http://schemas.microsoft.com/office/drawing/2014/main" id="{B3740B3D-BA03-070D-5D05-9CF02F090262}"/>
              </a:ext>
            </a:extLst>
          </p:cNvPr>
          <p:cNvSpPr/>
          <p:nvPr/>
        </p:nvSpPr>
        <p:spPr>
          <a:xfrm>
            <a:off x="7194804" y="3707891"/>
            <a:ext cx="274320" cy="274320"/>
          </a:xfrm>
          <a:custGeom>
            <a:avLst/>
            <a:gdLst/>
            <a:ahLst/>
            <a:cxnLst/>
            <a:rect l="l" t="t" r="r" b="b"/>
            <a:pathLst>
              <a:path w="274320" h="274320">
                <a:moveTo>
                  <a:pt x="0" y="104774"/>
                </a:moveTo>
                <a:lnTo>
                  <a:pt x="104775" y="104774"/>
                </a:lnTo>
                <a:lnTo>
                  <a:pt x="137160" y="0"/>
                </a:lnTo>
                <a:lnTo>
                  <a:pt x="169545" y="104774"/>
                </a:lnTo>
                <a:lnTo>
                  <a:pt x="274320" y="104774"/>
                </a:lnTo>
                <a:lnTo>
                  <a:pt x="189611" y="169544"/>
                </a:lnTo>
                <a:lnTo>
                  <a:pt x="221869" y="274319"/>
                </a:lnTo>
                <a:lnTo>
                  <a:pt x="137160" y="209549"/>
                </a:lnTo>
                <a:lnTo>
                  <a:pt x="52450" y="274319"/>
                </a:lnTo>
                <a:lnTo>
                  <a:pt x="84709" y="169544"/>
                </a:lnTo>
                <a:lnTo>
                  <a:pt x="0" y="104774"/>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5" name="object 27">
            <a:extLst>
              <a:ext uri="{FF2B5EF4-FFF2-40B4-BE49-F238E27FC236}">
                <a16:creationId xmlns:a16="http://schemas.microsoft.com/office/drawing/2014/main" id="{C2DC5737-B5AB-7DCB-1209-1FEC33B7521F}"/>
              </a:ext>
            </a:extLst>
          </p:cNvPr>
          <p:cNvSpPr/>
          <p:nvPr/>
        </p:nvSpPr>
        <p:spPr>
          <a:xfrm>
            <a:off x="7583423" y="3707891"/>
            <a:ext cx="274320" cy="274320"/>
          </a:xfrm>
          <a:custGeom>
            <a:avLst/>
            <a:gdLst/>
            <a:ahLst/>
            <a:cxnLst/>
            <a:rect l="l" t="t" r="r" b="b"/>
            <a:pathLst>
              <a:path w="274320" h="274320">
                <a:moveTo>
                  <a:pt x="274320" y="104774"/>
                </a:moveTo>
                <a:lnTo>
                  <a:pt x="0" y="104774"/>
                </a:lnTo>
                <a:lnTo>
                  <a:pt x="84708" y="169544"/>
                </a:lnTo>
                <a:lnTo>
                  <a:pt x="52450" y="274319"/>
                </a:lnTo>
                <a:lnTo>
                  <a:pt x="137159" y="209549"/>
                </a:lnTo>
                <a:lnTo>
                  <a:pt x="201927" y="209549"/>
                </a:lnTo>
                <a:lnTo>
                  <a:pt x="189610" y="169544"/>
                </a:lnTo>
                <a:lnTo>
                  <a:pt x="274320" y="104774"/>
                </a:lnTo>
                <a:close/>
              </a:path>
              <a:path w="274320" h="274320">
                <a:moveTo>
                  <a:pt x="201927" y="209549"/>
                </a:moveTo>
                <a:lnTo>
                  <a:pt x="137159" y="209549"/>
                </a:lnTo>
                <a:lnTo>
                  <a:pt x="221869" y="274319"/>
                </a:lnTo>
                <a:lnTo>
                  <a:pt x="201927" y="209549"/>
                </a:lnTo>
                <a:close/>
              </a:path>
              <a:path w="274320" h="274320">
                <a:moveTo>
                  <a:pt x="137159" y="0"/>
                </a:moveTo>
                <a:lnTo>
                  <a:pt x="104775" y="104774"/>
                </a:lnTo>
                <a:lnTo>
                  <a:pt x="169545" y="104774"/>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6" name="object 28">
            <a:extLst>
              <a:ext uri="{FF2B5EF4-FFF2-40B4-BE49-F238E27FC236}">
                <a16:creationId xmlns:a16="http://schemas.microsoft.com/office/drawing/2014/main" id="{EFA25515-B880-E56A-F57F-B827AC23EB6E}"/>
              </a:ext>
            </a:extLst>
          </p:cNvPr>
          <p:cNvSpPr/>
          <p:nvPr/>
        </p:nvSpPr>
        <p:spPr>
          <a:xfrm>
            <a:off x="7583423" y="3707891"/>
            <a:ext cx="274320" cy="274320"/>
          </a:xfrm>
          <a:custGeom>
            <a:avLst/>
            <a:gdLst/>
            <a:ahLst/>
            <a:cxnLst/>
            <a:rect l="l" t="t" r="r" b="b"/>
            <a:pathLst>
              <a:path w="274320" h="274320">
                <a:moveTo>
                  <a:pt x="0" y="104774"/>
                </a:moveTo>
                <a:lnTo>
                  <a:pt x="104775" y="104774"/>
                </a:lnTo>
                <a:lnTo>
                  <a:pt x="137159" y="0"/>
                </a:lnTo>
                <a:lnTo>
                  <a:pt x="169545" y="104774"/>
                </a:lnTo>
                <a:lnTo>
                  <a:pt x="274320" y="104774"/>
                </a:lnTo>
                <a:lnTo>
                  <a:pt x="189610" y="169544"/>
                </a:lnTo>
                <a:lnTo>
                  <a:pt x="221869" y="274319"/>
                </a:lnTo>
                <a:lnTo>
                  <a:pt x="137159" y="209549"/>
                </a:lnTo>
                <a:lnTo>
                  <a:pt x="52450" y="274319"/>
                </a:lnTo>
                <a:lnTo>
                  <a:pt x="84708" y="169544"/>
                </a:lnTo>
                <a:lnTo>
                  <a:pt x="0" y="104774"/>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7" name="object 29">
            <a:extLst>
              <a:ext uri="{FF2B5EF4-FFF2-40B4-BE49-F238E27FC236}">
                <a16:creationId xmlns:a16="http://schemas.microsoft.com/office/drawing/2014/main" id="{23291CD9-63FA-79A7-E6CF-5BF14A07EEDA}"/>
              </a:ext>
            </a:extLst>
          </p:cNvPr>
          <p:cNvSpPr/>
          <p:nvPr/>
        </p:nvSpPr>
        <p:spPr>
          <a:xfrm>
            <a:off x="7973568" y="3707891"/>
            <a:ext cx="274320" cy="274320"/>
          </a:xfrm>
          <a:custGeom>
            <a:avLst/>
            <a:gdLst/>
            <a:ahLst/>
            <a:cxnLst/>
            <a:rect l="l" t="t" r="r" b="b"/>
            <a:pathLst>
              <a:path w="274320" h="274320">
                <a:moveTo>
                  <a:pt x="274320" y="104774"/>
                </a:moveTo>
                <a:lnTo>
                  <a:pt x="0" y="104774"/>
                </a:lnTo>
                <a:lnTo>
                  <a:pt x="84708" y="169544"/>
                </a:lnTo>
                <a:lnTo>
                  <a:pt x="52450" y="274319"/>
                </a:lnTo>
                <a:lnTo>
                  <a:pt x="137159" y="209549"/>
                </a:lnTo>
                <a:lnTo>
                  <a:pt x="201927" y="209549"/>
                </a:lnTo>
                <a:lnTo>
                  <a:pt x="189610" y="169544"/>
                </a:lnTo>
                <a:lnTo>
                  <a:pt x="274320" y="104774"/>
                </a:lnTo>
                <a:close/>
              </a:path>
              <a:path w="274320" h="274320">
                <a:moveTo>
                  <a:pt x="201927" y="209549"/>
                </a:moveTo>
                <a:lnTo>
                  <a:pt x="137159" y="209549"/>
                </a:lnTo>
                <a:lnTo>
                  <a:pt x="221868" y="274319"/>
                </a:lnTo>
                <a:lnTo>
                  <a:pt x="201927" y="209549"/>
                </a:lnTo>
                <a:close/>
              </a:path>
              <a:path w="274320" h="274320">
                <a:moveTo>
                  <a:pt x="137159" y="0"/>
                </a:moveTo>
                <a:lnTo>
                  <a:pt x="104775" y="104774"/>
                </a:lnTo>
                <a:lnTo>
                  <a:pt x="169545" y="104774"/>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8" name="object 30">
            <a:extLst>
              <a:ext uri="{FF2B5EF4-FFF2-40B4-BE49-F238E27FC236}">
                <a16:creationId xmlns:a16="http://schemas.microsoft.com/office/drawing/2014/main" id="{7A96F929-3EB2-06CF-6802-0D93FD0605DC}"/>
              </a:ext>
            </a:extLst>
          </p:cNvPr>
          <p:cNvSpPr/>
          <p:nvPr/>
        </p:nvSpPr>
        <p:spPr>
          <a:xfrm>
            <a:off x="7973568" y="3707891"/>
            <a:ext cx="274320" cy="274320"/>
          </a:xfrm>
          <a:custGeom>
            <a:avLst/>
            <a:gdLst/>
            <a:ahLst/>
            <a:cxnLst/>
            <a:rect l="l" t="t" r="r" b="b"/>
            <a:pathLst>
              <a:path w="274320" h="274320">
                <a:moveTo>
                  <a:pt x="0" y="104774"/>
                </a:moveTo>
                <a:lnTo>
                  <a:pt x="104775" y="104774"/>
                </a:lnTo>
                <a:lnTo>
                  <a:pt x="137159" y="0"/>
                </a:lnTo>
                <a:lnTo>
                  <a:pt x="169545" y="104774"/>
                </a:lnTo>
                <a:lnTo>
                  <a:pt x="274320" y="104774"/>
                </a:lnTo>
                <a:lnTo>
                  <a:pt x="189610" y="169544"/>
                </a:lnTo>
                <a:lnTo>
                  <a:pt x="221868" y="274319"/>
                </a:lnTo>
                <a:lnTo>
                  <a:pt x="137159" y="209549"/>
                </a:lnTo>
                <a:lnTo>
                  <a:pt x="52450" y="274319"/>
                </a:lnTo>
                <a:lnTo>
                  <a:pt x="84708" y="169544"/>
                </a:lnTo>
                <a:lnTo>
                  <a:pt x="0" y="104774"/>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9" name="object 31">
            <a:extLst>
              <a:ext uri="{FF2B5EF4-FFF2-40B4-BE49-F238E27FC236}">
                <a16:creationId xmlns:a16="http://schemas.microsoft.com/office/drawing/2014/main" id="{01DD5122-B1A2-11FB-B43F-1DCCD4BB04E9}"/>
              </a:ext>
            </a:extLst>
          </p:cNvPr>
          <p:cNvSpPr/>
          <p:nvPr/>
        </p:nvSpPr>
        <p:spPr>
          <a:xfrm>
            <a:off x="7190231" y="4224528"/>
            <a:ext cx="274320" cy="274320"/>
          </a:xfrm>
          <a:custGeom>
            <a:avLst/>
            <a:gdLst/>
            <a:ahLst/>
            <a:cxnLst/>
            <a:rect l="l" t="t" r="r" b="b"/>
            <a:pathLst>
              <a:path w="274320" h="274320">
                <a:moveTo>
                  <a:pt x="274320" y="104775"/>
                </a:moveTo>
                <a:lnTo>
                  <a:pt x="0" y="104775"/>
                </a:lnTo>
                <a:lnTo>
                  <a:pt x="84709" y="169545"/>
                </a:lnTo>
                <a:lnTo>
                  <a:pt x="52450" y="274320"/>
                </a:lnTo>
                <a:lnTo>
                  <a:pt x="137160" y="209550"/>
                </a:lnTo>
                <a:lnTo>
                  <a:pt x="201927" y="209550"/>
                </a:lnTo>
                <a:lnTo>
                  <a:pt x="189611" y="169545"/>
                </a:lnTo>
                <a:lnTo>
                  <a:pt x="274320" y="104775"/>
                </a:lnTo>
                <a:close/>
              </a:path>
              <a:path w="274320" h="274320">
                <a:moveTo>
                  <a:pt x="201927" y="209550"/>
                </a:moveTo>
                <a:lnTo>
                  <a:pt x="137160" y="209550"/>
                </a:lnTo>
                <a:lnTo>
                  <a:pt x="221869" y="274320"/>
                </a:lnTo>
                <a:lnTo>
                  <a:pt x="201927" y="209550"/>
                </a:lnTo>
                <a:close/>
              </a:path>
              <a:path w="274320" h="274320">
                <a:moveTo>
                  <a:pt x="137160" y="0"/>
                </a:moveTo>
                <a:lnTo>
                  <a:pt x="104775" y="104775"/>
                </a:lnTo>
                <a:lnTo>
                  <a:pt x="169545" y="104775"/>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0" name="object 32">
            <a:extLst>
              <a:ext uri="{FF2B5EF4-FFF2-40B4-BE49-F238E27FC236}">
                <a16:creationId xmlns:a16="http://schemas.microsoft.com/office/drawing/2014/main" id="{F170ABD6-D7F7-AEBA-1151-E13A63131A00}"/>
              </a:ext>
            </a:extLst>
          </p:cNvPr>
          <p:cNvSpPr/>
          <p:nvPr/>
        </p:nvSpPr>
        <p:spPr>
          <a:xfrm>
            <a:off x="7190231" y="4224528"/>
            <a:ext cx="274320" cy="274320"/>
          </a:xfrm>
          <a:custGeom>
            <a:avLst/>
            <a:gdLst/>
            <a:ahLst/>
            <a:cxnLst/>
            <a:rect l="l" t="t" r="r" b="b"/>
            <a:pathLst>
              <a:path w="274320" h="274320">
                <a:moveTo>
                  <a:pt x="0" y="104775"/>
                </a:moveTo>
                <a:lnTo>
                  <a:pt x="104775" y="104775"/>
                </a:lnTo>
                <a:lnTo>
                  <a:pt x="137160" y="0"/>
                </a:lnTo>
                <a:lnTo>
                  <a:pt x="169545" y="104775"/>
                </a:lnTo>
                <a:lnTo>
                  <a:pt x="274320" y="104775"/>
                </a:lnTo>
                <a:lnTo>
                  <a:pt x="189611" y="169545"/>
                </a:lnTo>
                <a:lnTo>
                  <a:pt x="221869" y="274320"/>
                </a:lnTo>
                <a:lnTo>
                  <a:pt x="137160" y="209550"/>
                </a:lnTo>
                <a:lnTo>
                  <a:pt x="52450" y="274320"/>
                </a:lnTo>
                <a:lnTo>
                  <a:pt x="84709"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1" name="object 33">
            <a:extLst>
              <a:ext uri="{FF2B5EF4-FFF2-40B4-BE49-F238E27FC236}">
                <a16:creationId xmlns:a16="http://schemas.microsoft.com/office/drawing/2014/main" id="{5F3E5359-C178-E734-B671-197EA9191E91}"/>
              </a:ext>
            </a:extLst>
          </p:cNvPr>
          <p:cNvSpPr/>
          <p:nvPr/>
        </p:nvSpPr>
        <p:spPr>
          <a:xfrm>
            <a:off x="7580376" y="4224528"/>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5"/>
                </a:lnTo>
                <a:lnTo>
                  <a:pt x="221869" y="274320"/>
                </a:lnTo>
                <a:lnTo>
                  <a:pt x="137159" y="209550"/>
                </a:lnTo>
                <a:lnTo>
                  <a:pt x="52450" y="274320"/>
                </a:lnTo>
                <a:lnTo>
                  <a:pt x="84708"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2" name="object 34">
            <a:extLst>
              <a:ext uri="{FF2B5EF4-FFF2-40B4-BE49-F238E27FC236}">
                <a16:creationId xmlns:a16="http://schemas.microsoft.com/office/drawing/2014/main" id="{F7182175-6B7E-0898-A986-3CEC367A9EDB}"/>
              </a:ext>
            </a:extLst>
          </p:cNvPr>
          <p:cNvSpPr/>
          <p:nvPr/>
        </p:nvSpPr>
        <p:spPr>
          <a:xfrm>
            <a:off x="7970519" y="4224528"/>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5"/>
                </a:lnTo>
                <a:lnTo>
                  <a:pt x="221869" y="274320"/>
                </a:lnTo>
                <a:lnTo>
                  <a:pt x="137159" y="209550"/>
                </a:lnTo>
                <a:lnTo>
                  <a:pt x="52450" y="274320"/>
                </a:lnTo>
                <a:lnTo>
                  <a:pt x="84708" y="169545"/>
                </a:lnTo>
                <a:lnTo>
                  <a:pt x="0" y="104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3" name="object 35">
            <a:extLst>
              <a:ext uri="{FF2B5EF4-FFF2-40B4-BE49-F238E27FC236}">
                <a16:creationId xmlns:a16="http://schemas.microsoft.com/office/drawing/2014/main" id="{A7884B65-1FE5-9CDF-D347-6E6D31012673}"/>
              </a:ext>
            </a:extLst>
          </p:cNvPr>
          <p:cNvSpPr/>
          <p:nvPr/>
        </p:nvSpPr>
        <p:spPr>
          <a:xfrm>
            <a:off x="7190231" y="4751832"/>
            <a:ext cx="274320" cy="274320"/>
          </a:xfrm>
          <a:custGeom>
            <a:avLst/>
            <a:gdLst/>
            <a:ahLst/>
            <a:cxnLst/>
            <a:rect l="l" t="t" r="r" b="b"/>
            <a:pathLst>
              <a:path w="274320" h="274320">
                <a:moveTo>
                  <a:pt x="274320" y="104775"/>
                </a:moveTo>
                <a:lnTo>
                  <a:pt x="0" y="104775"/>
                </a:lnTo>
                <a:lnTo>
                  <a:pt x="84709" y="169545"/>
                </a:lnTo>
                <a:lnTo>
                  <a:pt x="52450" y="274320"/>
                </a:lnTo>
                <a:lnTo>
                  <a:pt x="137160" y="209550"/>
                </a:lnTo>
                <a:lnTo>
                  <a:pt x="201927" y="209550"/>
                </a:lnTo>
                <a:lnTo>
                  <a:pt x="189611" y="169545"/>
                </a:lnTo>
                <a:lnTo>
                  <a:pt x="274320" y="104775"/>
                </a:lnTo>
                <a:close/>
              </a:path>
              <a:path w="274320" h="274320">
                <a:moveTo>
                  <a:pt x="201927" y="209550"/>
                </a:moveTo>
                <a:lnTo>
                  <a:pt x="137160" y="209550"/>
                </a:lnTo>
                <a:lnTo>
                  <a:pt x="221869" y="274320"/>
                </a:lnTo>
                <a:lnTo>
                  <a:pt x="201927" y="209550"/>
                </a:lnTo>
                <a:close/>
              </a:path>
              <a:path w="274320" h="274320">
                <a:moveTo>
                  <a:pt x="137160" y="0"/>
                </a:moveTo>
                <a:lnTo>
                  <a:pt x="104775" y="104775"/>
                </a:lnTo>
                <a:lnTo>
                  <a:pt x="169545" y="104775"/>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4" name="object 36">
            <a:extLst>
              <a:ext uri="{FF2B5EF4-FFF2-40B4-BE49-F238E27FC236}">
                <a16:creationId xmlns:a16="http://schemas.microsoft.com/office/drawing/2014/main" id="{3A0B92C7-7FB6-561E-BA21-44BB0E2AF07E}"/>
              </a:ext>
            </a:extLst>
          </p:cNvPr>
          <p:cNvSpPr/>
          <p:nvPr/>
        </p:nvSpPr>
        <p:spPr>
          <a:xfrm>
            <a:off x="7190231" y="4751832"/>
            <a:ext cx="274320" cy="274320"/>
          </a:xfrm>
          <a:custGeom>
            <a:avLst/>
            <a:gdLst/>
            <a:ahLst/>
            <a:cxnLst/>
            <a:rect l="l" t="t" r="r" b="b"/>
            <a:pathLst>
              <a:path w="274320" h="274320">
                <a:moveTo>
                  <a:pt x="0" y="104775"/>
                </a:moveTo>
                <a:lnTo>
                  <a:pt x="104775" y="104775"/>
                </a:lnTo>
                <a:lnTo>
                  <a:pt x="137160" y="0"/>
                </a:lnTo>
                <a:lnTo>
                  <a:pt x="169545" y="104775"/>
                </a:lnTo>
                <a:lnTo>
                  <a:pt x="274320" y="104775"/>
                </a:lnTo>
                <a:lnTo>
                  <a:pt x="189611" y="169545"/>
                </a:lnTo>
                <a:lnTo>
                  <a:pt x="221869" y="274320"/>
                </a:lnTo>
                <a:lnTo>
                  <a:pt x="137160" y="209550"/>
                </a:lnTo>
                <a:lnTo>
                  <a:pt x="52450" y="274320"/>
                </a:lnTo>
                <a:lnTo>
                  <a:pt x="84709" y="169545"/>
                </a:lnTo>
                <a:lnTo>
                  <a:pt x="0" y="104775"/>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5" name="object 37">
            <a:extLst>
              <a:ext uri="{FF2B5EF4-FFF2-40B4-BE49-F238E27FC236}">
                <a16:creationId xmlns:a16="http://schemas.microsoft.com/office/drawing/2014/main" id="{3D3353BC-3D35-2012-989B-4FAE9653071D}"/>
              </a:ext>
            </a:extLst>
          </p:cNvPr>
          <p:cNvSpPr/>
          <p:nvPr/>
        </p:nvSpPr>
        <p:spPr>
          <a:xfrm>
            <a:off x="7580376" y="4751832"/>
            <a:ext cx="274320" cy="274320"/>
          </a:xfrm>
          <a:custGeom>
            <a:avLst/>
            <a:gdLst/>
            <a:ahLst/>
            <a:cxnLst/>
            <a:rect l="l" t="t" r="r" b="b"/>
            <a:pathLst>
              <a:path w="274320" h="274320">
                <a:moveTo>
                  <a:pt x="274320" y="104775"/>
                </a:moveTo>
                <a:lnTo>
                  <a:pt x="0" y="104775"/>
                </a:lnTo>
                <a:lnTo>
                  <a:pt x="84708" y="169545"/>
                </a:lnTo>
                <a:lnTo>
                  <a:pt x="52450" y="274320"/>
                </a:lnTo>
                <a:lnTo>
                  <a:pt x="137159" y="209550"/>
                </a:lnTo>
                <a:lnTo>
                  <a:pt x="201927" y="209550"/>
                </a:lnTo>
                <a:lnTo>
                  <a:pt x="189610" y="169545"/>
                </a:lnTo>
                <a:lnTo>
                  <a:pt x="274320" y="104775"/>
                </a:lnTo>
                <a:close/>
              </a:path>
              <a:path w="274320" h="274320">
                <a:moveTo>
                  <a:pt x="201927" y="209550"/>
                </a:moveTo>
                <a:lnTo>
                  <a:pt x="137159" y="209550"/>
                </a:lnTo>
                <a:lnTo>
                  <a:pt x="221869" y="274320"/>
                </a:lnTo>
                <a:lnTo>
                  <a:pt x="201927" y="209550"/>
                </a:lnTo>
                <a:close/>
              </a:path>
              <a:path w="274320" h="274320">
                <a:moveTo>
                  <a:pt x="137159" y="0"/>
                </a:moveTo>
                <a:lnTo>
                  <a:pt x="104775" y="104775"/>
                </a:lnTo>
                <a:lnTo>
                  <a:pt x="169545" y="104775"/>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6" name="object 38">
            <a:extLst>
              <a:ext uri="{FF2B5EF4-FFF2-40B4-BE49-F238E27FC236}">
                <a16:creationId xmlns:a16="http://schemas.microsoft.com/office/drawing/2014/main" id="{4C9833F3-AC4C-D279-8A8C-1F15A02E380C}"/>
              </a:ext>
            </a:extLst>
          </p:cNvPr>
          <p:cNvSpPr/>
          <p:nvPr/>
        </p:nvSpPr>
        <p:spPr>
          <a:xfrm>
            <a:off x="7580376" y="4751832"/>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5"/>
                </a:lnTo>
                <a:lnTo>
                  <a:pt x="221869" y="274320"/>
                </a:lnTo>
                <a:lnTo>
                  <a:pt x="137159" y="209550"/>
                </a:lnTo>
                <a:lnTo>
                  <a:pt x="52450" y="274320"/>
                </a:lnTo>
                <a:lnTo>
                  <a:pt x="84708" y="169545"/>
                </a:lnTo>
                <a:lnTo>
                  <a:pt x="0" y="104775"/>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7" name="object 39">
            <a:extLst>
              <a:ext uri="{FF2B5EF4-FFF2-40B4-BE49-F238E27FC236}">
                <a16:creationId xmlns:a16="http://schemas.microsoft.com/office/drawing/2014/main" id="{2DFA958E-D764-66C2-E548-6174EA3BEBA4}"/>
              </a:ext>
            </a:extLst>
          </p:cNvPr>
          <p:cNvSpPr/>
          <p:nvPr/>
        </p:nvSpPr>
        <p:spPr>
          <a:xfrm>
            <a:off x="7970519" y="4751832"/>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5"/>
                </a:lnTo>
                <a:lnTo>
                  <a:pt x="221869" y="274320"/>
                </a:lnTo>
                <a:lnTo>
                  <a:pt x="137159" y="209550"/>
                </a:lnTo>
                <a:lnTo>
                  <a:pt x="52450" y="274320"/>
                </a:lnTo>
                <a:lnTo>
                  <a:pt x="84708" y="169545"/>
                </a:lnTo>
                <a:lnTo>
                  <a:pt x="0" y="104775"/>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8" name="object 40">
            <a:extLst>
              <a:ext uri="{FF2B5EF4-FFF2-40B4-BE49-F238E27FC236}">
                <a16:creationId xmlns:a16="http://schemas.microsoft.com/office/drawing/2014/main" id="{596F85DC-3DFA-C6DB-CC4D-57FA8DFB94B0}"/>
              </a:ext>
            </a:extLst>
          </p:cNvPr>
          <p:cNvSpPr/>
          <p:nvPr/>
        </p:nvSpPr>
        <p:spPr>
          <a:xfrm>
            <a:off x="7194804" y="5279135"/>
            <a:ext cx="274320" cy="274320"/>
          </a:xfrm>
          <a:custGeom>
            <a:avLst/>
            <a:gdLst/>
            <a:ahLst/>
            <a:cxnLst/>
            <a:rect l="l" t="t" r="r" b="b"/>
            <a:pathLst>
              <a:path w="274320" h="274320">
                <a:moveTo>
                  <a:pt x="274320" y="104775"/>
                </a:moveTo>
                <a:lnTo>
                  <a:pt x="0" y="104775"/>
                </a:lnTo>
                <a:lnTo>
                  <a:pt x="84709" y="169544"/>
                </a:lnTo>
                <a:lnTo>
                  <a:pt x="52450" y="274319"/>
                </a:lnTo>
                <a:lnTo>
                  <a:pt x="137160" y="209550"/>
                </a:lnTo>
                <a:lnTo>
                  <a:pt x="201927" y="209550"/>
                </a:lnTo>
                <a:lnTo>
                  <a:pt x="189611" y="169544"/>
                </a:lnTo>
                <a:lnTo>
                  <a:pt x="274320" y="104775"/>
                </a:lnTo>
                <a:close/>
              </a:path>
              <a:path w="274320" h="274320">
                <a:moveTo>
                  <a:pt x="201927" y="209550"/>
                </a:moveTo>
                <a:lnTo>
                  <a:pt x="137160" y="209550"/>
                </a:lnTo>
                <a:lnTo>
                  <a:pt x="221869" y="274319"/>
                </a:lnTo>
                <a:lnTo>
                  <a:pt x="201927" y="209550"/>
                </a:lnTo>
                <a:close/>
              </a:path>
              <a:path w="274320" h="274320">
                <a:moveTo>
                  <a:pt x="137160" y="0"/>
                </a:moveTo>
                <a:lnTo>
                  <a:pt x="104775" y="104775"/>
                </a:lnTo>
                <a:lnTo>
                  <a:pt x="169545" y="104775"/>
                </a:lnTo>
                <a:lnTo>
                  <a:pt x="137160"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9" name="object 41">
            <a:extLst>
              <a:ext uri="{FF2B5EF4-FFF2-40B4-BE49-F238E27FC236}">
                <a16:creationId xmlns:a16="http://schemas.microsoft.com/office/drawing/2014/main" id="{ABB95ABA-D35D-A6A0-22F5-C25D04F20ECC}"/>
              </a:ext>
            </a:extLst>
          </p:cNvPr>
          <p:cNvSpPr/>
          <p:nvPr/>
        </p:nvSpPr>
        <p:spPr>
          <a:xfrm>
            <a:off x="7194804" y="5279135"/>
            <a:ext cx="274320" cy="274320"/>
          </a:xfrm>
          <a:custGeom>
            <a:avLst/>
            <a:gdLst/>
            <a:ahLst/>
            <a:cxnLst/>
            <a:rect l="l" t="t" r="r" b="b"/>
            <a:pathLst>
              <a:path w="274320" h="274320">
                <a:moveTo>
                  <a:pt x="0" y="104775"/>
                </a:moveTo>
                <a:lnTo>
                  <a:pt x="104775" y="104775"/>
                </a:lnTo>
                <a:lnTo>
                  <a:pt x="137160" y="0"/>
                </a:lnTo>
                <a:lnTo>
                  <a:pt x="169545" y="104775"/>
                </a:lnTo>
                <a:lnTo>
                  <a:pt x="274320" y="104775"/>
                </a:lnTo>
                <a:lnTo>
                  <a:pt x="189611" y="169544"/>
                </a:lnTo>
                <a:lnTo>
                  <a:pt x="221869" y="274319"/>
                </a:lnTo>
                <a:lnTo>
                  <a:pt x="137160" y="209550"/>
                </a:lnTo>
                <a:lnTo>
                  <a:pt x="52450" y="274319"/>
                </a:lnTo>
                <a:lnTo>
                  <a:pt x="84709" y="169544"/>
                </a:lnTo>
                <a:lnTo>
                  <a:pt x="0" y="104775"/>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90" name="object 42">
            <a:extLst>
              <a:ext uri="{FF2B5EF4-FFF2-40B4-BE49-F238E27FC236}">
                <a16:creationId xmlns:a16="http://schemas.microsoft.com/office/drawing/2014/main" id="{D2C43906-1F3E-2D93-FED2-17DD3BC329E1}"/>
              </a:ext>
            </a:extLst>
          </p:cNvPr>
          <p:cNvSpPr/>
          <p:nvPr/>
        </p:nvSpPr>
        <p:spPr>
          <a:xfrm>
            <a:off x="7583423" y="5279135"/>
            <a:ext cx="274320" cy="274320"/>
          </a:xfrm>
          <a:custGeom>
            <a:avLst/>
            <a:gdLst/>
            <a:ahLst/>
            <a:cxnLst/>
            <a:rect l="l" t="t" r="r" b="b"/>
            <a:pathLst>
              <a:path w="274320" h="274320">
                <a:moveTo>
                  <a:pt x="274320" y="104775"/>
                </a:moveTo>
                <a:lnTo>
                  <a:pt x="0" y="104775"/>
                </a:lnTo>
                <a:lnTo>
                  <a:pt x="84708" y="169544"/>
                </a:lnTo>
                <a:lnTo>
                  <a:pt x="52450" y="274319"/>
                </a:lnTo>
                <a:lnTo>
                  <a:pt x="137159" y="209550"/>
                </a:lnTo>
                <a:lnTo>
                  <a:pt x="201927" y="209550"/>
                </a:lnTo>
                <a:lnTo>
                  <a:pt x="189610" y="169544"/>
                </a:lnTo>
                <a:lnTo>
                  <a:pt x="274320" y="104775"/>
                </a:lnTo>
                <a:close/>
              </a:path>
              <a:path w="274320" h="274320">
                <a:moveTo>
                  <a:pt x="201927" y="209550"/>
                </a:moveTo>
                <a:lnTo>
                  <a:pt x="137159" y="209550"/>
                </a:lnTo>
                <a:lnTo>
                  <a:pt x="221869" y="274319"/>
                </a:lnTo>
                <a:lnTo>
                  <a:pt x="201927" y="209550"/>
                </a:lnTo>
                <a:close/>
              </a:path>
              <a:path w="274320" h="274320">
                <a:moveTo>
                  <a:pt x="137159" y="0"/>
                </a:moveTo>
                <a:lnTo>
                  <a:pt x="104775" y="104775"/>
                </a:lnTo>
                <a:lnTo>
                  <a:pt x="169545" y="104775"/>
                </a:lnTo>
                <a:lnTo>
                  <a:pt x="137159" y="0"/>
                </a:lnTo>
                <a:close/>
              </a:path>
            </a:pathLst>
          </a:custGeom>
          <a:solidFill>
            <a:srgbClr val="8FAAD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91" name="object 43">
            <a:extLst>
              <a:ext uri="{FF2B5EF4-FFF2-40B4-BE49-F238E27FC236}">
                <a16:creationId xmlns:a16="http://schemas.microsoft.com/office/drawing/2014/main" id="{709D879F-8BD7-9E64-0C93-F5CDDC6DADA5}"/>
              </a:ext>
            </a:extLst>
          </p:cNvPr>
          <p:cNvSpPr/>
          <p:nvPr/>
        </p:nvSpPr>
        <p:spPr>
          <a:xfrm>
            <a:off x="7583423" y="5279135"/>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4"/>
                </a:lnTo>
                <a:lnTo>
                  <a:pt x="221869" y="274319"/>
                </a:lnTo>
                <a:lnTo>
                  <a:pt x="137159" y="209550"/>
                </a:lnTo>
                <a:lnTo>
                  <a:pt x="52450" y="274319"/>
                </a:lnTo>
                <a:lnTo>
                  <a:pt x="84708" y="169544"/>
                </a:lnTo>
                <a:lnTo>
                  <a:pt x="0" y="104775"/>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92" name="object 44">
            <a:extLst>
              <a:ext uri="{FF2B5EF4-FFF2-40B4-BE49-F238E27FC236}">
                <a16:creationId xmlns:a16="http://schemas.microsoft.com/office/drawing/2014/main" id="{45186C30-AACA-1922-2B65-0AAB3B0ABF19}"/>
              </a:ext>
            </a:extLst>
          </p:cNvPr>
          <p:cNvSpPr/>
          <p:nvPr/>
        </p:nvSpPr>
        <p:spPr>
          <a:xfrm>
            <a:off x="7973568" y="5279135"/>
            <a:ext cx="274320" cy="274320"/>
          </a:xfrm>
          <a:custGeom>
            <a:avLst/>
            <a:gdLst/>
            <a:ahLst/>
            <a:cxnLst/>
            <a:rect l="l" t="t" r="r" b="b"/>
            <a:pathLst>
              <a:path w="274320" h="274320">
                <a:moveTo>
                  <a:pt x="0" y="104775"/>
                </a:moveTo>
                <a:lnTo>
                  <a:pt x="104775" y="104775"/>
                </a:lnTo>
                <a:lnTo>
                  <a:pt x="137159" y="0"/>
                </a:lnTo>
                <a:lnTo>
                  <a:pt x="169545" y="104775"/>
                </a:lnTo>
                <a:lnTo>
                  <a:pt x="274320" y="104775"/>
                </a:lnTo>
                <a:lnTo>
                  <a:pt x="189610" y="169544"/>
                </a:lnTo>
                <a:lnTo>
                  <a:pt x="221868" y="274319"/>
                </a:lnTo>
                <a:lnTo>
                  <a:pt x="137159" y="209550"/>
                </a:lnTo>
                <a:lnTo>
                  <a:pt x="52450" y="274319"/>
                </a:lnTo>
                <a:lnTo>
                  <a:pt x="84708" y="169544"/>
                </a:lnTo>
                <a:lnTo>
                  <a:pt x="0" y="104775"/>
                </a:lnTo>
                <a:close/>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93" name="object 45">
            <a:extLst>
              <a:ext uri="{FF2B5EF4-FFF2-40B4-BE49-F238E27FC236}">
                <a16:creationId xmlns:a16="http://schemas.microsoft.com/office/drawing/2014/main" id="{2B520C13-F541-02C4-B08A-3EA5B8DE86DA}"/>
              </a:ext>
            </a:extLst>
          </p:cNvPr>
          <p:cNvSpPr/>
          <p:nvPr/>
        </p:nvSpPr>
        <p:spPr>
          <a:xfrm>
            <a:off x="705358" y="5829046"/>
            <a:ext cx="198628" cy="200151"/>
          </a:xfrm>
          <a:prstGeom prst="rect">
            <a:avLst/>
          </a:prstGeom>
          <a:blipFill>
            <a:blip r:embed="rId2"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94" name="object 46">
            <a:extLst>
              <a:ext uri="{FF2B5EF4-FFF2-40B4-BE49-F238E27FC236}">
                <a16:creationId xmlns:a16="http://schemas.microsoft.com/office/drawing/2014/main" id="{FFFADAD3-E240-48A2-DD45-8665C82BBEF4}"/>
              </a:ext>
            </a:extLst>
          </p:cNvPr>
          <p:cNvSpPr txBox="1"/>
          <p:nvPr/>
        </p:nvSpPr>
        <p:spPr>
          <a:xfrm>
            <a:off x="1075131" y="5801969"/>
            <a:ext cx="3571875" cy="240029"/>
          </a:xfrm>
          <a:prstGeom prst="rect">
            <a:avLst/>
          </a:prstGeom>
        </p:spPr>
        <p:txBody>
          <a:bodyPr vert="horz" wrap="square" lIns="0" tIns="13335" rIns="0" bIns="0" rtlCol="0">
            <a:spAutoFit/>
          </a:bodyPr>
          <a:lstStyle/>
          <a:p>
            <a:pPr marL="12700" rtl="0">
              <a:spcBef>
                <a:spcPts val="105"/>
              </a:spcBef>
            </a:pPr>
            <a:r>
              <a:rPr sz="1400" kern="1200" dirty="0">
                <a:solidFill>
                  <a:prstClr val="black"/>
                </a:solidFill>
                <a:latin typeface="Palatino Linotype"/>
                <a:cs typeface="Palatino Linotype"/>
              </a:rPr>
              <a:t>indicates difficulty </a:t>
            </a:r>
            <a:r>
              <a:rPr sz="1400" kern="1200" spc="-5" dirty="0">
                <a:solidFill>
                  <a:prstClr val="black"/>
                </a:solidFill>
                <a:latin typeface="Palatino Linotype"/>
                <a:cs typeface="Palatino Linotype"/>
              </a:rPr>
              <a:t>level, the </a:t>
            </a:r>
            <a:r>
              <a:rPr sz="1400" kern="1200" dirty="0">
                <a:solidFill>
                  <a:prstClr val="black"/>
                </a:solidFill>
                <a:latin typeface="Palatino Linotype"/>
                <a:cs typeface="Palatino Linotype"/>
              </a:rPr>
              <a:t>more </a:t>
            </a:r>
            <a:r>
              <a:rPr sz="1400" kern="1200" spc="-5" dirty="0">
                <a:solidFill>
                  <a:prstClr val="black"/>
                </a:solidFill>
                <a:latin typeface="Palatino Linotype"/>
                <a:cs typeface="Palatino Linotype"/>
              </a:rPr>
              <a:t>the</a:t>
            </a:r>
            <a:r>
              <a:rPr sz="1400" kern="1200" spc="-40" dirty="0">
                <a:solidFill>
                  <a:prstClr val="black"/>
                </a:solidFill>
                <a:latin typeface="Palatino Linotype"/>
                <a:cs typeface="Palatino Linotype"/>
              </a:rPr>
              <a:t> </a:t>
            </a:r>
            <a:r>
              <a:rPr sz="1400" kern="1200" dirty="0">
                <a:solidFill>
                  <a:prstClr val="black"/>
                </a:solidFill>
                <a:latin typeface="Palatino Linotype"/>
                <a:cs typeface="Palatino Linotype"/>
              </a:rPr>
              <a:t>harder</a:t>
            </a:r>
            <a:endParaRPr sz="1400"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3733FFD5-465E-5A08-8E7C-A0A84B8319F8}"/>
              </a:ext>
            </a:extLst>
          </p:cNvPr>
          <p:cNvSpPr>
            <a:spLocks noGrp="1"/>
          </p:cNvSpPr>
          <p:nvPr>
            <p:ph type="sldNum" sz="quarter" idx="12"/>
          </p:nvPr>
        </p:nvSpPr>
        <p:spPr/>
        <p:txBody>
          <a:bodyPr/>
          <a:lstStyle/>
          <a:p>
            <a:pPr>
              <a:defRPr/>
            </a:pPr>
            <a:fld id="{2FBC720A-3716-234A-B2DF-CBC7E48049F5}" type="slidenum">
              <a:rPr lang="en-US" altLang="zh-CN" smtClean="0"/>
              <a:t>6</a:t>
            </a:fld>
            <a:endParaRPr lang="en-US" altLang="zh-CN"/>
          </a:p>
        </p:txBody>
      </p:sp>
    </p:spTree>
    <p:extLst>
      <p:ext uri="{BB962C8B-B14F-4D97-AF65-F5344CB8AC3E}">
        <p14:creationId xmlns:p14="http://schemas.microsoft.com/office/powerpoint/2010/main" val="3170440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897507"/>
            <a:ext cx="6507480" cy="4083810"/>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rgbClr val="A6A6A6"/>
                </a:solidFill>
                <a:latin typeface="Palatino Linotype"/>
                <a:cs typeface="Palatino Linotype"/>
              </a:rPr>
              <a:t>Course</a:t>
            </a:r>
            <a:r>
              <a:rPr lang="en-US" altLang="zh-CN" sz="2600" kern="1200" spc="-30"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Information</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latin typeface="Palatino Linotype"/>
                <a:cs typeface="Palatino Linotype"/>
              </a:rPr>
              <a:t>Why Study</a:t>
            </a:r>
            <a:r>
              <a:rPr lang="en-US" altLang="zh-CN" sz="2600" kern="1200" spc="-30" dirty="0">
                <a:latin typeface="Palatino Linotype"/>
                <a:cs typeface="Palatino Linotype"/>
              </a:rPr>
              <a:t> </a:t>
            </a:r>
            <a:r>
              <a:rPr lang="en-US" altLang="zh-CN" sz="2600" kern="1200" dirty="0">
                <a:latin typeface="Palatino Linotype"/>
                <a:cs typeface="Palatino Linotype"/>
              </a:rPr>
              <a:t>Compilers?</a:t>
            </a: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The </a:t>
            </a:r>
            <a:r>
              <a:rPr lang="en-US" altLang="zh-CN" sz="2600" kern="1200" spc="-5" dirty="0">
                <a:solidFill>
                  <a:srgbClr val="A6A6A6"/>
                </a:solidFill>
                <a:latin typeface="Palatino Linotype"/>
                <a:cs typeface="Palatino Linotype"/>
              </a:rPr>
              <a:t>Evolution </a:t>
            </a:r>
            <a:r>
              <a:rPr lang="en-US" altLang="zh-CN" sz="2600" kern="1200" dirty="0">
                <a:solidFill>
                  <a:srgbClr val="A6A6A6"/>
                </a:solidFill>
                <a:latin typeface="Palatino Linotype"/>
                <a:cs typeface="Palatino Linotype"/>
              </a:rPr>
              <a:t>of Programming</a:t>
            </a:r>
            <a:r>
              <a:rPr lang="en-US" altLang="zh-CN" sz="2600" kern="1200" spc="-25"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Languages</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Compiler Structure and</a:t>
            </a:r>
            <a:r>
              <a:rPr lang="en-US" altLang="zh-CN" sz="2600" kern="1200" spc="-35"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Phases</a:t>
            </a:r>
          </a:p>
          <a:p>
            <a:pPr marL="242570" indent="-230504" rtl="0">
              <a:buClr>
                <a:srgbClr val="000000"/>
              </a:buClr>
              <a:buFont typeface="Arial"/>
              <a:buChar char="•"/>
              <a:tabLst>
                <a:tab pos="243204" algn="l"/>
              </a:tabLst>
            </a:pPr>
            <a:endParaRPr lang="en-US" altLang="zh-CN" sz="2600" kern="1200" spc="-5" dirty="0">
              <a:solidFill>
                <a:srgbClr val="A6A6A6"/>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chemeClr val="bg1">
                    <a:lumMod val="65000"/>
                  </a:schemeClr>
                </a:solidFill>
                <a:latin typeface="Palatino Linotype"/>
                <a:cs typeface="Palatino Linotype"/>
              </a:rPr>
              <a:t>How to Learn Compilers?</a:t>
            </a:r>
          </a:p>
          <a:p>
            <a:pPr marL="242570" indent="-230504" rtl="0">
              <a:buClr>
                <a:srgbClr val="000000"/>
              </a:buClr>
              <a:buFont typeface="Arial"/>
              <a:buChar char="•"/>
              <a:tabLst>
                <a:tab pos="243204" algn="l"/>
              </a:tabLst>
            </a:pPr>
            <a:endParaRPr lang="en-US" altLang="zh-CN" sz="2600"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F2E76706-D176-3E6E-04F3-5DFB34336A92}"/>
              </a:ext>
            </a:extLst>
          </p:cNvPr>
          <p:cNvSpPr>
            <a:spLocks noGrp="1"/>
          </p:cNvSpPr>
          <p:nvPr>
            <p:ph type="sldNum" sz="quarter" idx="12"/>
          </p:nvPr>
        </p:nvSpPr>
        <p:spPr/>
        <p:txBody>
          <a:bodyPr/>
          <a:lstStyle/>
          <a:p>
            <a:pPr>
              <a:defRPr/>
            </a:pPr>
            <a:fld id="{2FBC720A-3716-234A-B2DF-CBC7E48049F5}" type="slidenum">
              <a:rPr lang="en-US" altLang="zh-CN" smtClean="0"/>
              <a:t>7</a:t>
            </a:fld>
            <a:endParaRPr lang="en-US" altLang="zh-CN"/>
          </a:p>
        </p:txBody>
      </p:sp>
    </p:spTree>
    <p:extLst>
      <p:ext uri="{BB962C8B-B14F-4D97-AF65-F5344CB8AC3E}">
        <p14:creationId xmlns:p14="http://schemas.microsoft.com/office/powerpoint/2010/main" val="4240405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05FB350C-5347-5BEA-758A-12A37DF22462}"/>
              </a:ext>
            </a:extLst>
          </p:cNvPr>
          <p:cNvSpPr txBox="1">
            <a:spLocks/>
          </p:cNvSpPr>
          <p:nvPr/>
        </p:nvSpPr>
        <p:spPr>
          <a:xfrm>
            <a:off x="707542" y="556717"/>
            <a:ext cx="7619365" cy="574675"/>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Why </a:t>
            </a:r>
            <a:r>
              <a:rPr kumimoji="0" lang="en-US" sz="3600" b="1" i="0" u="none" strike="noStrike" kern="0" cap="none" spc="-5" normalizeH="0" baseline="0" noProof="0">
                <a:ln>
                  <a:noFill/>
                </a:ln>
                <a:solidFill>
                  <a:sysClr val="windowText" lastClr="000000"/>
                </a:solidFill>
                <a:effectLst/>
                <a:uLnTx/>
                <a:uFillTx/>
                <a:latin typeface="Palatino Linotype"/>
                <a:ea typeface="+mj-ea"/>
              </a:rPr>
              <a:t>Study </a:t>
            </a:r>
            <a:r>
              <a:rPr kumimoji="0" lang="en-US" sz="3600" b="1" i="0" u="none" strike="noStrike" kern="0" cap="none" spc="0" normalizeH="0" baseline="0" noProof="0">
                <a:ln>
                  <a:noFill/>
                </a:ln>
                <a:solidFill>
                  <a:sysClr val="windowText" lastClr="000000"/>
                </a:solidFill>
                <a:effectLst/>
                <a:uLnTx/>
                <a:uFillTx/>
                <a:latin typeface="Palatino Linotype"/>
                <a:ea typeface="+mj-ea"/>
              </a:rPr>
              <a:t>This </a:t>
            </a:r>
            <a:r>
              <a:rPr kumimoji="0" lang="en-US" sz="3600" b="1" i="0" u="none" strike="noStrike" kern="0" cap="none" spc="-5" normalizeH="0" baseline="0" noProof="0">
                <a:ln>
                  <a:noFill/>
                </a:ln>
                <a:solidFill>
                  <a:sysClr val="windowText" lastClr="000000"/>
                </a:solidFill>
                <a:effectLst/>
                <a:uLnTx/>
                <a:uFillTx/>
                <a:latin typeface="Palatino Linotype"/>
                <a:ea typeface="+mj-ea"/>
              </a:rPr>
              <a:t>“Difficult”</a:t>
            </a:r>
            <a:r>
              <a:rPr kumimoji="0" lang="en-US" sz="3600" b="1" i="0" u="none" strike="noStrike" kern="0" cap="none" spc="-60"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Course?</a:t>
            </a:r>
            <a:endParaRPr kumimoji="0" lang="en-US" sz="36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1096D1D5-D2F2-7286-CB97-6FA204B78728}"/>
              </a:ext>
            </a:extLst>
          </p:cNvPr>
          <p:cNvSpPr txBox="1"/>
          <p:nvPr/>
        </p:nvSpPr>
        <p:spPr>
          <a:xfrm>
            <a:off x="707542" y="1658239"/>
            <a:ext cx="7274559" cy="4251325"/>
          </a:xfrm>
          <a:prstGeom prst="rect">
            <a:avLst/>
          </a:prstGeom>
        </p:spPr>
        <p:txBody>
          <a:bodyPr vert="horz" wrap="square" lIns="0" tIns="12700" rIns="0" bIns="0" rtlCol="0">
            <a:spAutoFit/>
          </a:bodyPr>
          <a:lstStyle/>
          <a:p>
            <a:pPr marL="242570" indent="-230504" rtl="0">
              <a:spcBef>
                <a:spcPts val="100"/>
              </a:spcBef>
              <a:buFont typeface="Arial"/>
              <a:buChar char="•"/>
              <a:tabLst>
                <a:tab pos="243204" algn="l"/>
              </a:tabLst>
            </a:pPr>
            <a:r>
              <a:rPr sz="2400" kern="1200" dirty="0">
                <a:solidFill>
                  <a:prstClr val="black"/>
                </a:solidFill>
                <a:latin typeface="Palatino Linotype"/>
                <a:cs typeface="Palatino Linotype"/>
              </a:rPr>
              <a:t>A </a:t>
            </a:r>
            <a:r>
              <a:rPr sz="2400" kern="1200" spc="-5" dirty="0">
                <a:solidFill>
                  <a:prstClr val="black"/>
                </a:solidFill>
                <a:latin typeface="Palatino Linotype"/>
                <a:cs typeface="Palatino Linotype"/>
              </a:rPr>
              <a:t>fundamental computer </a:t>
            </a:r>
            <a:r>
              <a:rPr sz="2400" kern="1200" dirty="0">
                <a:solidFill>
                  <a:prstClr val="black"/>
                </a:solidFill>
                <a:latin typeface="Palatino Linotype"/>
                <a:cs typeface="Palatino Linotype"/>
              </a:rPr>
              <a:t>science</a:t>
            </a:r>
            <a:r>
              <a:rPr sz="2400" kern="1200" spc="-135" dirty="0">
                <a:solidFill>
                  <a:prstClr val="black"/>
                </a:solidFill>
                <a:latin typeface="Palatino Linotype"/>
                <a:cs typeface="Palatino Linotype"/>
              </a:rPr>
              <a:t> </a:t>
            </a:r>
            <a:r>
              <a:rPr sz="2400" kern="1200" dirty="0">
                <a:solidFill>
                  <a:prstClr val="black"/>
                </a:solidFill>
                <a:latin typeface="Palatino Linotype"/>
                <a:cs typeface="Palatino Linotype"/>
              </a:rPr>
              <a:t>course</a:t>
            </a:r>
          </a:p>
          <a:p>
            <a:pPr rtl="0">
              <a:spcBef>
                <a:spcPts val="5"/>
              </a:spcBef>
              <a:buFont typeface="Arial"/>
              <a:buChar char="•"/>
            </a:pPr>
            <a:endParaRPr sz="2200" kern="1200" dirty="0">
              <a:solidFill>
                <a:prstClr val="black"/>
              </a:solidFill>
              <a:latin typeface="Palatino Linotype"/>
              <a:cs typeface="Palatino Linotype"/>
            </a:endParaRPr>
          </a:p>
          <a:p>
            <a:pPr marL="242570" indent="-230504" rtl="0">
              <a:buFont typeface="Arial"/>
              <a:buChar char="•"/>
              <a:tabLst>
                <a:tab pos="243204" algn="l"/>
              </a:tabLst>
            </a:pPr>
            <a:r>
              <a:rPr sz="2400" kern="1200" dirty="0">
                <a:solidFill>
                  <a:prstClr val="black"/>
                </a:solidFill>
                <a:latin typeface="Palatino Linotype"/>
                <a:cs typeface="Palatino Linotype"/>
              </a:rPr>
              <a:t>Learn </a:t>
            </a:r>
            <a:r>
              <a:rPr sz="2400" kern="1200" spc="-5" dirty="0">
                <a:solidFill>
                  <a:prstClr val="black"/>
                </a:solidFill>
                <a:latin typeface="Palatino Linotype"/>
                <a:cs typeface="Palatino Linotype"/>
              </a:rPr>
              <a:t>compilation </a:t>
            </a:r>
            <a:r>
              <a:rPr sz="2400" kern="1200" dirty="0">
                <a:solidFill>
                  <a:prstClr val="black"/>
                </a:solidFill>
                <a:latin typeface="Palatino Linotype"/>
                <a:cs typeface="Palatino Linotype"/>
              </a:rPr>
              <a:t>and </a:t>
            </a:r>
            <a:r>
              <a:rPr sz="2400" kern="1200" spc="-5" dirty="0">
                <a:solidFill>
                  <a:prstClr val="black"/>
                </a:solidFill>
                <a:latin typeface="Palatino Linotype"/>
                <a:cs typeface="Palatino Linotype"/>
              </a:rPr>
              <a:t>program analysis</a:t>
            </a:r>
            <a:r>
              <a:rPr sz="2400" kern="1200" spc="15" dirty="0">
                <a:solidFill>
                  <a:prstClr val="black"/>
                </a:solidFill>
                <a:latin typeface="Palatino Linotype"/>
                <a:cs typeface="Palatino Linotype"/>
              </a:rPr>
              <a:t> </a:t>
            </a:r>
            <a:r>
              <a:rPr sz="2400" kern="1200" spc="-5" dirty="0">
                <a:solidFill>
                  <a:prstClr val="black"/>
                </a:solidFill>
                <a:latin typeface="Palatino Linotype"/>
                <a:cs typeface="Palatino Linotype"/>
              </a:rPr>
              <a:t>techniques</a:t>
            </a:r>
            <a:endParaRPr sz="2400" kern="1200" dirty="0">
              <a:solidFill>
                <a:prstClr val="black"/>
              </a:solidFill>
              <a:latin typeface="Palatino Linotype"/>
              <a:cs typeface="Palatino Linotype"/>
            </a:endParaRPr>
          </a:p>
          <a:p>
            <a:pPr rtl="0">
              <a:spcBef>
                <a:spcPts val="10"/>
              </a:spcBef>
              <a:buFont typeface="Arial"/>
              <a:buChar char="•"/>
            </a:pPr>
            <a:endParaRPr sz="2200" kern="1200" dirty="0">
              <a:solidFill>
                <a:prstClr val="black"/>
              </a:solidFill>
              <a:latin typeface="Palatino Linotype"/>
              <a:cs typeface="Palatino Linotype"/>
            </a:endParaRPr>
          </a:p>
          <a:p>
            <a:pPr marL="242570" indent="-230504" rtl="0">
              <a:buFont typeface="Arial"/>
              <a:buChar char="•"/>
              <a:tabLst>
                <a:tab pos="243204" algn="l"/>
              </a:tabLst>
            </a:pPr>
            <a:r>
              <a:rPr sz="2400" kern="1200" dirty="0">
                <a:solidFill>
                  <a:prstClr val="black"/>
                </a:solidFill>
                <a:latin typeface="Palatino Linotype"/>
                <a:cs typeface="Palatino Linotype"/>
              </a:rPr>
              <a:t>Learn </a:t>
            </a:r>
            <a:r>
              <a:rPr sz="2400" kern="1200" spc="-5" dirty="0">
                <a:solidFill>
                  <a:prstClr val="black"/>
                </a:solidFill>
                <a:latin typeface="Palatino Linotype"/>
                <a:cs typeface="Palatino Linotype"/>
              </a:rPr>
              <a:t>how to </a:t>
            </a:r>
            <a:r>
              <a:rPr sz="2400" kern="1200" dirty="0">
                <a:solidFill>
                  <a:prstClr val="black"/>
                </a:solidFill>
                <a:latin typeface="Palatino Linotype"/>
                <a:cs typeface="Palatino Linotype"/>
              </a:rPr>
              <a:t>build </a:t>
            </a:r>
            <a:r>
              <a:rPr sz="2400" kern="1200" spc="-5" dirty="0">
                <a:solidFill>
                  <a:prstClr val="black"/>
                </a:solidFill>
                <a:latin typeface="Palatino Linotype"/>
                <a:cs typeface="Palatino Linotype"/>
              </a:rPr>
              <a:t>programming</a:t>
            </a:r>
            <a:r>
              <a:rPr sz="2400" kern="1200" spc="20" dirty="0">
                <a:solidFill>
                  <a:prstClr val="black"/>
                </a:solidFill>
                <a:latin typeface="Palatino Linotype"/>
                <a:cs typeface="Palatino Linotype"/>
              </a:rPr>
              <a:t> </a:t>
            </a:r>
            <a:r>
              <a:rPr sz="2400" kern="1200" spc="-5" dirty="0">
                <a:solidFill>
                  <a:prstClr val="black"/>
                </a:solidFill>
                <a:latin typeface="Palatino Linotype"/>
                <a:cs typeface="Palatino Linotype"/>
              </a:rPr>
              <a:t>languages</a:t>
            </a:r>
            <a:endParaRPr sz="2400" kern="1200" dirty="0">
              <a:solidFill>
                <a:prstClr val="black"/>
              </a:solidFill>
              <a:latin typeface="Palatino Linotype"/>
              <a:cs typeface="Palatino Linotype"/>
            </a:endParaRPr>
          </a:p>
          <a:p>
            <a:pPr rtl="0">
              <a:spcBef>
                <a:spcPts val="10"/>
              </a:spcBef>
              <a:buFont typeface="Arial"/>
              <a:buChar char="•"/>
            </a:pPr>
            <a:endParaRPr sz="2200" kern="1200" dirty="0">
              <a:solidFill>
                <a:prstClr val="black"/>
              </a:solidFill>
              <a:latin typeface="Palatino Linotype"/>
              <a:cs typeface="Palatino Linotype"/>
            </a:endParaRPr>
          </a:p>
          <a:p>
            <a:pPr marL="242570" indent="-230504" rtl="0">
              <a:buFont typeface="Arial"/>
              <a:buChar char="•"/>
              <a:tabLst>
                <a:tab pos="243204" algn="l"/>
              </a:tabLst>
            </a:pPr>
            <a:r>
              <a:rPr sz="2400" kern="1200" dirty="0">
                <a:solidFill>
                  <a:prstClr val="black"/>
                </a:solidFill>
                <a:latin typeface="Palatino Linotype"/>
                <a:cs typeface="Palatino Linotype"/>
              </a:rPr>
              <a:t>Course </a:t>
            </a:r>
            <a:r>
              <a:rPr sz="2400" kern="1200" spc="-10" dirty="0">
                <a:solidFill>
                  <a:prstClr val="black"/>
                </a:solidFill>
                <a:latin typeface="Palatino Linotype"/>
                <a:cs typeface="Palatino Linotype"/>
              </a:rPr>
              <a:t>covers </a:t>
            </a:r>
            <a:r>
              <a:rPr sz="2400" kern="1200" spc="-5" dirty="0">
                <a:solidFill>
                  <a:prstClr val="black"/>
                </a:solidFill>
                <a:latin typeface="Palatino Linotype"/>
                <a:cs typeface="Palatino Linotype"/>
              </a:rPr>
              <a:t>both theoretical and practical</a:t>
            </a:r>
            <a:r>
              <a:rPr sz="2400" kern="1200" spc="50" dirty="0">
                <a:solidFill>
                  <a:prstClr val="black"/>
                </a:solidFill>
                <a:latin typeface="Palatino Linotype"/>
                <a:cs typeface="Palatino Linotype"/>
              </a:rPr>
              <a:t> </a:t>
            </a:r>
            <a:r>
              <a:rPr sz="2400" kern="1200" spc="-5" dirty="0">
                <a:solidFill>
                  <a:prstClr val="black"/>
                </a:solidFill>
                <a:latin typeface="Palatino Linotype"/>
                <a:cs typeface="Palatino Linotype"/>
              </a:rPr>
              <a:t>aspects</a:t>
            </a:r>
            <a:endParaRPr sz="2400" kern="1200" dirty="0">
              <a:solidFill>
                <a:prstClr val="black"/>
              </a:solidFill>
              <a:latin typeface="Palatino Linotype"/>
              <a:cs typeface="Palatino Linotype"/>
            </a:endParaRPr>
          </a:p>
          <a:p>
            <a:pPr marL="697865" lvl="1" indent="-228600" rtl="0">
              <a:spcBef>
                <a:spcPts val="1145"/>
              </a:spcBef>
              <a:buFont typeface="Wingdings"/>
              <a:buChar char=""/>
              <a:tabLst>
                <a:tab pos="698500" algn="l"/>
              </a:tabLst>
            </a:pPr>
            <a:r>
              <a:rPr sz="2000" b="1" kern="1200" dirty="0">
                <a:solidFill>
                  <a:prstClr val="black"/>
                </a:solidFill>
                <a:latin typeface="Palatino Linotype"/>
                <a:cs typeface="Palatino Linotype"/>
              </a:rPr>
              <a:t>Theory: </a:t>
            </a:r>
            <a:r>
              <a:rPr sz="2000" kern="1200" spc="-5" dirty="0">
                <a:solidFill>
                  <a:prstClr val="black"/>
                </a:solidFill>
                <a:latin typeface="Palatino Linotype"/>
                <a:cs typeface="Palatino Linotype"/>
              </a:rPr>
              <a:t>Lectures </a:t>
            </a:r>
            <a:r>
              <a:rPr sz="2000" kern="1200" dirty="0">
                <a:solidFill>
                  <a:prstClr val="black"/>
                </a:solidFill>
                <a:latin typeface="Palatino Linotype"/>
                <a:cs typeface="Palatino Linotype"/>
              </a:rPr>
              <a:t>and written</a:t>
            </a:r>
            <a:r>
              <a:rPr sz="2000" kern="1200" spc="-40" dirty="0">
                <a:solidFill>
                  <a:prstClr val="black"/>
                </a:solidFill>
                <a:latin typeface="Palatino Linotype"/>
                <a:cs typeface="Palatino Linotype"/>
              </a:rPr>
              <a:t> </a:t>
            </a:r>
            <a:r>
              <a:rPr sz="2000" kern="1200" dirty="0">
                <a:solidFill>
                  <a:prstClr val="black"/>
                </a:solidFill>
                <a:latin typeface="Palatino Linotype"/>
                <a:cs typeface="Palatino Linotype"/>
              </a:rPr>
              <a:t>assignments</a:t>
            </a:r>
          </a:p>
          <a:p>
            <a:pPr marL="697865" lvl="1" indent="-228600" rtl="0">
              <a:spcBef>
                <a:spcPts val="1080"/>
              </a:spcBef>
              <a:buFont typeface="Wingdings"/>
              <a:buChar char=""/>
              <a:tabLst>
                <a:tab pos="698500" algn="l"/>
              </a:tabLst>
            </a:pPr>
            <a:r>
              <a:rPr sz="2000" b="1" kern="1200" dirty="0">
                <a:solidFill>
                  <a:prstClr val="black"/>
                </a:solidFill>
                <a:latin typeface="Palatino Linotype"/>
                <a:cs typeface="Palatino Linotype"/>
              </a:rPr>
              <a:t>Practice: </a:t>
            </a:r>
            <a:r>
              <a:rPr sz="2000" kern="1200" dirty="0">
                <a:solidFill>
                  <a:prstClr val="black"/>
                </a:solidFill>
                <a:latin typeface="Palatino Linotype"/>
                <a:cs typeface="Palatino Linotype"/>
              </a:rPr>
              <a:t>Labs and </a:t>
            </a:r>
            <a:r>
              <a:rPr sz="2000" kern="1200" spc="-5" dirty="0">
                <a:solidFill>
                  <a:prstClr val="black"/>
                </a:solidFill>
                <a:latin typeface="Palatino Linotype"/>
                <a:cs typeface="Palatino Linotype"/>
              </a:rPr>
              <a:t>programming</a:t>
            </a:r>
            <a:r>
              <a:rPr sz="2000" kern="1200" spc="-75" dirty="0">
                <a:solidFill>
                  <a:prstClr val="black"/>
                </a:solidFill>
                <a:latin typeface="Palatino Linotype"/>
                <a:cs typeface="Palatino Linotype"/>
              </a:rPr>
              <a:t> </a:t>
            </a:r>
            <a:r>
              <a:rPr sz="2000" kern="1200" dirty="0">
                <a:solidFill>
                  <a:prstClr val="black"/>
                </a:solidFill>
                <a:latin typeface="Palatino Linotype"/>
                <a:cs typeface="Palatino Linotype"/>
              </a:rPr>
              <a:t>assignments</a:t>
            </a:r>
          </a:p>
          <a:p>
            <a:pPr lvl="1" rtl="0">
              <a:spcBef>
                <a:spcPts val="15"/>
              </a:spcBef>
              <a:buFont typeface="Wingdings"/>
              <a:buChar char=""/>
            </a:pPr>
            <a:endParaRPr sz="2150" kern="1200" dirty="0">
              <a:solidFill>
                <a:prstClr val="black"/>
              </a:solidFill>
              <a:latin typeface="Palatino Linotype"/>
              <a:cs typeface="Palatino Linotype"/>
            </a:endParaRPr>
          </a:p>
          <a:p>
            <a:pPr marL="242570" indent="-230504" rtl="0">
              <a:buFont typeface="Arial"/>
              <a:buChar char="•"/>
              <a:tabLst>
                <a:tab pos="243204" algn="l"/>
              </a:tabLst>
            </a:pPr>
            <a:r>
              <a:rPr sz="2400" kern="1200" dirty="0">
                <a:solidFill>
                  <a:prstClr val="black"/>
                </a:solidFill>
                <a:latin typeface="Palatino Linotype"/>
                <a:cs typeface="Palatino Linotype"/>
              </a:rPr>
              <a:t>If </a:t>
            </a:r>
            <a:r>
              <a:rPr sz="2400" kern="1200" spc="-15" dirty="0">
                <a:solidFill>
                  <a:prstClr val="black"/>
                </a:solidFill>
                <a:latin typeface="Palatino Linotype"/>
                <a:cs typeface="Palatino Linotype"/>
              </a:rPr>
              <a:t>you want </a:t>
            </a:r>
            <a:r>
              <a:rPr sz="2400" kern="1200" spc="-5" dirty="0">
                <a:solidFill>
                  <a:prstClr val="black"/>
                </a:solidFill>
                <a:latin typeface="Palatino Linotype"/>
                <a:cs typeface="Palatino Linotype"/>
              </a:rPr>
              <a:t>to become </a:t>
            </a:r>
            <a:r>
              <a:rPr sz="2400" kern="1200" dirty="0">
                <a:solidFill>
                  <a:prstClr val="black"/>
                </a:solidFill>
                <a:latin typeface="Palatino Linotype"/>
                <a:cs typeface="Palatino Linotype"/>
              </a:rPr>
              <a:t>a </a:t>
            </a:r>
            <a:r>
              <a:rPr sz="2400" kern="1200" spc="-5" dirty="0">
                <a:solidFill>
                  <a:prstClr val="black"/>
                </a:solidFill>
                <a:latin typeface="Palatino Linotype"/>
                <a:cs typeface="Palatino Linotype"/>
              </a:rPr>
              <a:t>hardcore</a:t>
            </a:r>
            <a:r>
              <a:rPr sz="2400" kern="1200" spc="30" dirty="0">
                <a:solidFill>
                  <a:prstClr val="black"/>
                </a:solidFill>
                <a:latin typeface="Palatino Linotype"/>
                <a:cs typeface="Palatino Linotype"/>
              </a:rPr>
              <a:t> </a:t>
            </a:r>
            <a:r>
              <a:rPr sz="2400" kern="1200" spc="-5" dirty="0">
                <a:solidFill>
                  <a:prstClr val="black"/>
                </a:solidFill>
                <a:latin typeface="Palatino Linotype"/>
                <a:cs typeface="Palatino Linotype"/>
              </a:rPr>
              <a:t>programmer</a:t>
            </a:r>
            <a:endParaRPr sz="2400"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3C95320E-7564-8A06-EB18-E9DCEC9B6638}"/>
              </a:ext>
            </a:extLst>
          </p:cNvPr>
          <p:cNvSpPr>
            <a:spLocks noGrp="1"/>
          </p:cNvSpPr>
          <p:nvPr>
            <p:ph type="sldNum" sz="quarter" idx="12"/>
          </p:nvPr>
        </p:nvSpPr>
        <p:spPr/>
        <p:txBody>
          <a:bodyPr/>
          <a:lstStyle/>
          <a:p>
            <a:pPr>
              <a:defRPr/>
            </a:pPr>
            <a:fld id="{2FBC720A-3716-234A-B2DF-CBC7E48049F5}" type="slidenum">
              <a:rPr lang="en-US" altLang="zh-CN" smtClean="0"/>
              <a:t>8</a:t>
            </a:fld>
            <a:endParaRPr lang="en-US" altLang="zh-CN"/>
          </a:p>
        </p:txBody>
      </p:sp>
    </p:spTree>
    <p:extLst>
      <p:ext uri="{BB962C8B-B14F-4D97-AF65-F5344CB8AC3E}">
        <p14:creationId xmlns:p14="http://schemas.microsoft.com/office/powerpoint/2010/main" val="3405700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E4460665-94D3-1451-3F89-8554EDFAD64A}"/>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O</a:t>
            </a:r>
            <a:r>
              <a:rPr kumimoji="0" lang="en-US" sz="4000" b="1" i="0" u="none" strike="noStrike" kern="0" cap="none" spc="-20" normalizeH="0" baseline="0" noProof="0">
                <a:ln>
                  <a:noFill/>
                </a:ln>
                <a:solidFill>
                  <a:sysClr val="windowText" lastClr="000000"/>
                </a:solidFill>
                <a:effectLst/>
                <a:uLnTx/>
                <a:uFillTx/>
                <a:latin typeface="Palatino Linotype"/>
                <a:ea typeface="+mj-ea"/>
              </a:rPr>
              <a:t>u</a:t>
            </a:r>
            <a:r>
              <a:rPr kumimoji="0" lang="en-US" sz="4000" b="1" i="0" u="none" strike="noStrike" kern="0" cap="none" spc="-5" normalizeH="0" baseline="0" noProof="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767E18E4-24C6-6926-0312-01D9D76D6610}"/>
              </a:ext>
            </a:extLst>
          </p:cNvPr>
          <p:cNvSpPr txBox="1"/>
          <p:nvPr/>
        </p:nvSpPr>
        <p:spPr>
          <a:xfrm>
            <a:off x="707542" y="1897507"/>
            <a:ext cx="6507480" cy="4083810"/>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sz="2600" kern="1200" dirty="0">
                <a:solidFill>
                  <a:srgbClr val="A6A6A6"/>
                </a:solidFill>
                <a:latin typeface="Palatino Linotype"/>
                <a:cs typeface="Palatino Linotype"/>
              </a:rPr>
              <a:t>Course</a:t>
            </a:r>
            <a:r>
              <a:rPr sz="2600" kern="1200" spc="-30" dirty="0">
                <a:solidFill>
                  <a:srgbClr val="A6A6A6"/>
                </a:solidFill>
                <a:latin typeface="Palatino Linotype"/>
                <a:cs typeface="Palatino Linotype"/>
              </a:rPr>
              <a:t> </a:t>
            </a:r>
            <a:r>
              <a:rPr sz="2600" kern="1200" spc="-5" dirty="0">
                <a:solidFill>
                  <a:srgbClr val="A6A6A6"/>
                </a:solidFill>
                <a:latin typeface="Palatino Linotype"/>
                <a:cs typeface="Palatino Linotype"/>
              </a:rPr>
              <a:t>Information</a:t>
            </a:r>
            <a:endParaRPr sz="2600" kern="1200" dirty="0">
              <a:solidFill>
                <a:prstClr val="black"/>
              </a:solidFill>
              <a:latin typeface="Palatino Linotype"/>
              <a:cs typeface="Palatino Linotype"/>
            </a:endParaRPr>
          </a:p>
          <a:p>
            <a:pPr rtl="0">
              <a:spcBef>
                <a:spcPts val="10"/>
              </a:spcBef>
              <a:buFont typeface="Arial"/>
              <a:buChar char="•"/>
            </a:pPr>
            <a:endParaRPr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sz="2600" kern="1200" dirty="0">
                <a:solidFill>
                  <a:srgbClr val="A6A6A6"/>
                </a:solidFill>
                <a:latin typeface="Palatino Linotype"/>
                <a:cs typeface="Palatino Linotype"/>
              </a:rPr>
              <a:t>Why Study</a:t>
            </a:r>
            <a:r>
              <a:rPr sz="2600" kern="1200" spc="-30" dirty="0">
                <a:solidFill>
                  <a:srgbClr val="A6A6A6"/>
                </a:solidFill>
                <a:latin typeface="Palatino Linotype"/>
                <a:cs typeface="Palatino Linotype"/>
              </a:rPr>
              <a:t> </a:t>
            </a:r>
            <a:r>
              <a:rPr sz="2600" kern="1200" dirty="0">
                <a:solidFill>
                  <a:srgbClr val="A6A6A6"/>
                </a:solidFill>
                <a:latin typeface="Palatino Linotype"/>
                <a:cs typeface="Palatino Linotype"/>
              </a:rPr>
              <a:t>Compilers?</a:t>
            </a:r>
            <a:endParaRPr sz="2600" kern="1200" dirty="0">
              <a:solidFill>
                <a:prstClr val="black"/>
              </a:solidFill>
              <a:latin typeface="Palatino Linotype"/>
              <a:cs typeface="Palatino Linotype"/>
            </a:endParaRPr>
          </a:p>
          <a:p>
            <a:pPr rtl="0">
              <a:spcBef>
                <a:spcPts val="10"/>
              </a:spcBef>
              <a:buFont typeface="Arial"/>
              <a:buChar char="•"/>
            </a:pPr>
            <a:endParaRPr sz="2750" kern="1200" dirty="0">
              <a:solidFill>
                <a:prstClr val="black"/>
              </a:solidFill>
              <a:latin typeface="Palatino Linotype"/>
              <a:cs typeface="Palatino Linotype"/>
            </a:endParaRPr>
          </a:p>
          <a:p>
            <a:pPr marL="242570" indent="-230504" rtl="0">
              <a:buFont typeface="Arial"/>
              <a:buChar char="•"/>
              <a:tabLst>
                <a:tab pos="243204" algn="l"/>
              </a:tabLst>
            </a:pPr>
            <a:r>
              <a:rPr sz="2600" kern="1200" dirty="0">
                <a:solidFill>
                  <a:prstClr val="black"/>
                </a:solidFill>
                <a:latin typeface="Palatino Linotype"/>
                <a:cs typeface="Palatino Linotype"/>
              </a:rPr>
              <a:t>The </a:t>
            </a:r>
            <a:r>
              <a:rPr sz="2600" kern="1200" spc="-5" dirty="0">
                <a:solidFill>
                  <a:prstClr val="black"/>
                </a:solidFill>
                <a:latin typeface="Palatino Linotype"/>
                <a:cs typeface="Palatino Linotype"/>
              </a:rPr>
              <a:t>Evolution </a:t>
            </a:r>
            <a:r>
              <a:rPr sz="2600" kern="1200" dirty="0">
                <a:solidFill>
                  <a:prstClr val="black"/>
                </a:solidFill>
                <a:latin typeface="Palatino Linotype"/>
                <a:cs typeface="Palatino Linotype"/>
              </a:rPr>
              <a:t>of Programming</a:t>
            </a:r>
            <a:r>
              <a:rPr sz="2600" kern="1200" spc="-25" dirty="0">
                <a:solidFill>
                  <a:prstClr val="black"/>
                </a:solidFill>
                <a:latin typeface="Palatino Linotype"/>
                <a:cs typeface="Palatino Linotype"/>
              </a:rPr>
              <a:t> </a:t>
            </a:r>
            <a:r>
              <a:rPr sz="2600" kern="1200" spc="-5" dirty="0">
                <a:solidFill>
                  <a:prstClr val="black"/>
                </a:solidFill>
                <a:latin typeface="Palatino Linotype"/>
                <a:cs typeface="Palatino Linotype"/>
              </a:rPr>
              <a:t>Languages</a:t>
            </a:r>
            <a:endParaRPr sz="2600" kern="1200" dirty="0">
              <a:solidFill>
                <a:prstClr val="black"/>
              </a:solidFill>
              <a:latin typeface="Palatino Linotype"/>
              <a:cs typeface="Palatino Linotype"/>
            </a:endParaRPr>
          </a:p>
          <a:p>
            <a:pPr rtl="0">
              <a:spcBef>
                <a:spcPts val="10"/>
              </a:spcBef>
              <a:buFont typeface="Arial"/>
              <a:buChar char="•"/>
            </a:pPr>
            <a:endParaRPr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sz="2600" kern="1200" dirty="0">
                <a:solidFill>
                  <a:srgbClr val="A6A6A6"/>
                </a:solidFill>
                <a:latin typeface="Palatino Linotype"/>
                <a:cs typeface="Palatino Linotype"/>
              </a:rPr>
              <a:t>Compiler Structure and</a:t>
            </a:r>
            <a:r>
              <a:rPr sz="2600" kern="1200" spc="-35" dirty="0">
                <a:solidFill>
                  <a:srgbClr val="A6A6A6"/>
                </a:solidFill>
                <a:latin typeface="Palatino Linotype"/>
                <a:cs typeface="Palatino Linotype"/>
              </a:rPr>
              <a:t> </a:t>
            </a:r>
            <a:r>
              <a:rPr sz="2600" kern="1200" spc="-5" dirty="0">
                <a:solidFill>
                  <a:srgbClr val="A6A6A6"/>
                </a:solidFill>
                <a:latin typeface="Palatino Linotype"/>
                <a:cs typeface="Palatino Linotype"/>
              </a:rPr>
              <a:t>Phases</a:t>
            </a:r>
            <a:endParaRPr lang="en-US" sz="2600" kern="1200" spc="-5" dirty="0">
              <a:solidFill>
                <a:srgbClr val="A6A6A6"/>
              </a:solidFill>
              <a:latin typeface="Palatino Linotype"/>
              <a:cs typeface="Palatino Linotype"/>
            </a:endParaRPr>
          </a:p>
          <a:p>
            <a:pPr marL="242570" indent="-230504" rtl="0">
              <a:buClr>
                <a:srgbClr val="000000"/>
              </a:buClr>
              <a:buFont typeface="Arial"/>
              <a:buChar char="•"/>
              <a:tabLst>
                <a:tab pos="243204" algn="l"/>
              </a:tabLst>
            </a:pPr>
            <a:endParaRPr lang="en-US" sz="2600" kern="1200" spc="-5" dirty="0">
              <a:solidFill>
                <a:srgbClr val="A6A6A6"/>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chemeClr val="bg1">
                    <a:lumMod val="65000"/>
                  </a:schemeClr>
                </a:solidFill>
                <a:latin typeface="Palatino Linotype"/>
                <a:cs typeface="Palatino Linotype"/>
              </a:rPr>
              <a:t>How to Learn Compilers?</a:t>
            </a:r>
          </a:p>
          <a:p>
            <a:pPr marL="242570" indent="-230504" rtl="0">
              <a:buClr>
                <a:srgbClr val="000000"/>
              </a:buClr>
              <a:buFont typeface="Arial"/>
              <a:buChar char="•"/>
              <a:tabLst>
                <a:tab pos="243204" algn="l"/>
              </a:tabLst>
            </a:pPr>
            <a:endParaRPr sz="2600"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CB35ADCB-DB39-D766-C320-A9F61B2D6B1F}"/>
              </a:ext>
            </a:extLst>
          </p:cNvPr>
          <p:cNvSpPr>
            <a:spLocks noGrp="1"/>
          </p:cNvSpPr>
          <p:nvPr>
            <p:ph type="sldNum" sz="quarter" idx="12"/>
          </p:nvPr>
        </p:nvSpPr>
        <p:spPr/>
        <p:txBody>
          <a:bodyPr/>
          <a:lstStyle/>
          <a:p>
            <a:pPr>
              <a:defRPr/>
            </a:pPr>
            <a:fld id="{2FBC720A-3716-234A-B2DF-CBC7E48049F5}" type="slidenum">
              <a:rPr lang="en-US" altLang="zh-CN" smtClean="0"/>
              <a:t>9</a:t>
            </a:fld>
            <a:endParaRPr lang="en-US" altLang="zh-CN"/>
          </a:p>
        </p:txBody>
      </p:sp>
    </p:spTree>
    <p:extLst>
      <p:ext uri="{BB962C8B-B14F-4D97-AF65-F5344CB8AC3E}">
        <p14:creationId xmlns:p14="http://schemas.microsoft.com/office/powerpoint/2010/main" val="4039431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8" name="object 2">
            <a:extLst>
              <a:ext uri="{FF2B5EF4-FFF2-40B4-BE49-F238E27FC236}">
                <a16:creationId xmlns:a16="http://schemas.microsoft.com/office/drawing/2014/main" id="{EF11C86B-98B4-E23A-A8BF-2FA936C133FA}"/>
              </a:ext>
            </a:extLst>
          </p:cNvPr>
          <p:cNvSpPr txBox="1">
            <a:spLocks/>
          </p:cNvSpPr>
          <p:nvPr/>
        </p:nvSpPr>
        <p:spPr>
          <a:xfrm>
            <a:off x="707542" y="520141"/>
            <a:ext cx="582041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Programming</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Languages</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E3554141-B537-21EC-E57F-EAB5E7259591}"/>
              </a:ext>
            </a:extLst>
          </p:cNvPr>
          <p:cNvSpPr txBox="1"/>
          <p:nvPr/>
        </p:nvSpPr>
        <p:spPr>
          <a:xfrm>
            <a:off x="669442" y="1698116"/>
            <a:ext cx="7797165" cy="3576320"/>
          </a:xfrm>
          <a:prstGeom prst="rect">
            <a:avLst/>
          </a:prstGeom>
        </p:spPr>
        <p:txBody>
          <a:bodyPr vert="horz" wrap="square" lIns="0" tIns="12700" rIns="0" bIns="0" rtlCol="0">
            <a:spAutoFit/>
          </a:bodyPr>
          <a:lstStyle/>
          <a:p>
            <a:pPr marL="280670" indent="-230504" rtl="0">
              <a:spcBef>
                <a:spcPts val="100"/>
              </a:spcBef>
              <a:buFont typeface="Arial"/>
              <a:buChar char="•"/>
              <a:tabLst>
                <a:tab pos="281305" algn="l"/>
              </a:tabLst>
            </a:pPr>
            <a:r>
              <a:rPr sz="2400" kern="1200" spc="-10" dirty="0">
                <a:solidFill>
                  <a:prstClr val="black"/>
                </a:solidFill>
                <a:latin typeface="Palatino Linotype"/>
                <a:cs typeface="Palatino Linotype"/>
              </a:rPr>
              <a:t>Notations </a:t>
            </a:r>
            <a:r>
              <a:rPr sz="2400" kern="1200" dirty="0">
                <a:solidFill>
                  <a:prstClr val="black"/>
                </a:solidFill>
                <a:latin typeface="Palatino Linotype"/>
                <a:cs typeface="Palatino Linotype"/>
              </a:rPr>
              <a:t>for </a:t>
            </a:r>
            <a:r>
              <a:rPr sz="2400" kern="1200" spc="-5" dirty="0">
                <a:solidFill>
                  <a:prstClr val="black"/>
                </a:solidFill>
                <a:latin typeface="Palatino Linotype"/>
                <a:cs typeface="Palatino Linotype"/>
              </a:rPr>
              <a:t>describing</a:t>
            </a:r>
            <a:r>
              <a:rPr sz="2400" kern="1200" spc="40" dirty="0">
                <a:solidFill>
                  <a:prstClr val="black"/>
                </a:solidFill>
                <a:latin typeface="Palatino Linotype"/>
                <a:cs typeface="Palatino Linotype"/>
              </a:rPr>
              <a:t> </a:t>
            </a:r>
            <a:r>
              <a:rPr sz="2400" kern="1200" spc="-5" dirty="0">
                <a:solidFill>
                  <a:prstClr val="black"/>
                </a:solidFill>
                <a:latin typeface="Palatino Linotype"/>
                <a:cs typeface="Palatino Linotype"/>
              </a:rPr>
              <a:t>computations</a:t>
            </a:r>
            <a:endParaRPr sz="2400" kern="1200">
              <a:solidFill>
                <a:prstClr val="black"/>
              </a:solidFill>
              <a:latin typeface="Palatino Linotype"/>
              <a:cs typeface="Palatino Linotype"/>
            </a:endParaRPr>
          </a:p>
          <a:p>
            <a:pPr marL="280670" indent="-230504" rtl="0">
              <a:spcBef>
                <a:spcPts val="2375"/>
              </a:spcBef>
              <a:buFont typeface="Arial"/>
              <a:buChar char="•"/>
              <a:tabLst>
                <a:tab pos="281305" algn="l"/>
              </a:tabLst>
            </a:pPr>
            <a:r>
              <a:rPr sz="2400" kern="1200" dirty="0">
                <a:solidFill>
                  <a:prstClr val="black"/>
                </a:solidFill>
                <a:latin typeface="Palatino Linotype"/>
                <a:cs typeface="Palatino Linotype"/>
              </a:rPr>
              <a:t>All </a:t>
            </a:r>
            <a:r>
              <a:rPr sz="2400" kern="1200" spc="-10" dirty="0">
                <a:solidFill>
                  <a:prstClr val="black"/>
                </a:solidFill>
                <a:latin typeface="Palatino Linotype"/>
                <a:cs typeface="Palatino Linotype"/>
              </a:rPr>
              <a:t>software </a:t>
            </a:r>
            <a:r>
              <a:rPr sz="2400" kern="1200" spc="-5" dirty="0">
                <a:solidFill>
                  <a:prstClr val="black"/>
                </a:solidFill>
                <a:latin typeface="Palatino Linotype"/>
                <a:cs typeface="Palatino Linotype"/>
              </a:rPr>
              <a:t>is </a:t>
            </a:r>
            <a:r>
              <a:rPr sz="2400" kern="1200" dirty="0">
                <a:solidFill>
                  <a:prstClr val="black"/>
                </a:solidFill>
                <a:latin typeface="Palatino Linotype"/>
                <a:cs typeface="Palatino Linotype"/>
              </a:rPr>
              <a:t>written in some </a:t>
            </a:r>
            <a:r>
              <a:rPr sz="2400" kern="1200" spc="-5" dirty="0">
                <a:solidFill>
                  <a:prstClr val="black"/>
                </a:solidFill>
                <a:latin typeface="Palatino Linotype"/>
                <a:cs typeface="Palatino Linotype"/>
              </a:rPr>
              <a:t>programming language</a:t>
            </a:r>
            <a:endParaRPr sz="2400" kern="1200">
              <a:solidFill>
                <a:prstClr val="black"/>
              </a:solidFill>
              <a:latin typeface="Palatino Linotype"/>
              <a:cs typeface="Palatino Linotype"/>
            </a:endParaRPr>
          </a:p>
          <a:p>
            <a:pPr marL="280670" marR="96520" indent="-230504" rtl="0">
              <a:lnSpc>
                <a:spcPct val="120000"/>
              </a:lnSpc>
              <a:spcBef>
                <a:spcPts val="1800"/>
              </a:spcBef>
              <a:buFont typeface="Arial"/>
              <a:buChar char="•"/>
              <a:tabLst>
                <a:tab pos="281305" algn="l"/>
              </a:tabLst>
            </a:pPr>
            <a:r>
              <a:rPr sz="2400" kern="1200" spc="-10" dirty="0">
                <a:solidFill>
                  <a:prstClr val="black"/>
                </a:solidFill>
                <a:latin typeface="Palatino Linotype"/>
                <a:cs typeface="Palatino Linotype"/>
              </a:rPr>
              <a:t>Nowadays, </a:t>
            </a:r>
            <a:r>
              <a:rPr sz="2400" kern="1200" spc="-5" dirty="0">
                <a:solidFill>
                  <a:prstClr val="black"/>
                </a:solidFill>
                <a:latin typeface="Palatino Linotype"/>
                <a:cs typeface="Palatino Linotype"/>
              </a:rPr>
              <a:t>there </a:t>
            </a:r>
            <a:r>
              <a:rPr sz="2400" kern="1200" dirty="0">
                <a:solidFill>
                  <a:prstClr val="black"/>
                </a:solidFill>
                <a:latin typeface="Palatino Linotype"/>
                <a:cs typeface="Palatino Linotype"/>
              </a:rPr>
              <a:t>are </a:t>
            </a:r>
            <a:r>
              <a:rPr sz="2400" kern="1200" spc="-10" dirty="0">
                <a:solidFill>
                  <a:prstClr val="black"/>
                </a:solidFill>
                <a:latin typeface="Palatino Linotype"/>
                <a:cs typeface="Palatino Linotype"/>
              </a:rPr>
              <a:t>over </a:t>
            </a:r>
            <a:r>
              <a:rPr sz="2400" kern="1200" dirty="0">
                <a:solidFill>
                  <a:srgbClr val="FF0000"/>
                </a:solidFill>
                <a:latin typeface="Palatino Linotype"/>
                <a:cs typeface="Palatino Linotype"/>
              </a:rPr>
              <a:t>700 </a:t>
            </a:r>
            <a:r>
              <a:rPr sz="2400" kern="1200" spc="-5" dirty="0">
                <a:solidFill>
                  <a:prstClr val="black"/>
                </a:solidFill>
                <a:latin typeface="Palatino Linotype"/>
                <a:cs typeface="Palatino Linotype"/>
              </a:rPr>
              <a:t>programming languages  </a:t>
            </a:r>
            <a:r>
              <a:rPr sz="2400" kern="1200" dirty="0">
                <a:solidFill>
                  <a:prstClr val="black"/>
                </a:solidFill>
                <a:latin typeface="Palatino Linotype"/>
                <a:cs typeface="Palatino Linotype"/>
              </a:rPr>
              <a:t>(~250 </a:t>
            </a:r>
            <a:r>
              <a:rPr sz="2400" kern="1200" spc="-5" dirty="0">
                <a:solidFill>
                  <a:prstClr val="black"/>
                </a:solidFill>
                <a:latin typeface="Palatino Linotype"/>
                <a:cs typeface="Palatino Linotype"/>
              </a:rPr>
              <a:t>popular</a:t>
            </a:r>
            <a:r>
              <a:rPr sz="2400" kern="1200" spc="-10" dirty="0">
                <a:solidFill>
                  <a:prstClr val="black"/>
                </a:solidFill>
                <a:latin typeface="Palatino Linotype"/>
                <a:cs typeface="Palatino Linotype"/>
              </a:rPr>
              <a:t> </a:t>
            </a:r>
            <a:r>
              <a:rPr sz="2400" kern="1200" spc="-5" dirty="0">
                <a:solidFill>
                  <a:prstClr val="black"/>
                </a:solidFill>
                <a:latin typeface="Palatino Linotype"/>
                <a:cs typeface="Palatino Linotype"/>
              </a:rPr>
              <a:t>ones)</a:t>
            </a:r>
            <a:r>
              <a:rPr sz="2400" kern="1200" spc="-7" baseline="24305" dirty="0">
                <a:solidFill>
                  <a:prstClr val="black"/>
                </a:solidFill>
                <a:latin typeface="Palatino Linotype"/>
                <a:cs typeface="Palatino Linotype"/>
              </a:rPr>
              <a:t>1</a:t>
            </a:r>
            <a:endParaRPr sz="2400" kern="1200" baseline="24305">
              <a:solidFill>
                <a:prstClr val="black"/>
              </a:solidFill>
              <a:latin typeface="Palatino Linotype"/>
              <a:cs typeface="Palatino Linotype"/>
            </a:endParaRPr>
          </a:p>
          <a:p>
            <a:pPr marL="735965" lvl="1" indent="-228600" rtl="0">
              <a:spcBef>
                <a:spcPts val="1745"/>
              </a:spcBef>
              <a:buFont typeface="Wingdings"/>
              <a:buChar char=""/>
              <a:tabLst>
                <a:tab pos="736600" algn="l"/>
              </a:tabLst>
            </a:pPr>
            <a:r>
              <a:rPr sz="2000" kern="1200" spc="-5" dirty="0">
                <a:solidFill>
                  <a:srgbClr val="FF0000"/>
                </a:solidFill>
                <a:latin typeface="Palatino Linotype"/>
                <a:cs typeface="Palatino Linotype"/>
              </a:rPr>
              <a:t>Low-level</a:t>
            </a:r>
            <a:r>
              <a:rPr sz="2000" kern="1200" spc="-25" dirty="0">
                <a:solidFill>
                  <a:srgbClr val="FF0000"/>
                </a:solidFill>
                <a:latin typeface="Palatino Linotype"/>
                <a:cs typeface="Palatino Linotype"/>
              </a:rPr>
              <a:t> </a:t>
            </a:r>
            <a:r>
              <a:rPr sz="2000" kern="1200" dirty="0">
                <a:solidFill>
                  <a:srgbClr val="FF0000"/>
                </a:solidFill>
                <a:latin typeface="Palatino Linotype"/>
                <a:cs typeface="Palatino Linotype"/>
              </a:rPr>
              <a:t>(</a:t>
            </a:r>
            <a:r>
              <a:rPr sz="2000" kern="1200" dirty="0">
                <a:solidFill>
                  <a:srgbClr val="FF0000"/>
                </a:solidFill>
                <a:latin typeface="宋体"/>
                <a:cs typeface="宋体"/>
              </a:rPr>
              <a:t>低级语言</a:t>
            </a:r>
            <a:r>
              <a:rPr sz="2000" kern="1200" dirty="0">
                <a:solidFill>
                  <a:srgbClr val="FF0000"/>
                </a:solidFill>
                <a:latin typeface="Palatino Linotype"/>
                <a:cs typeface="Palatino Linotype"/>
              </a:rPr>
              <a:t>):</a:t>
            </a:r>
            <a:r>
              <a:rPr sz="2000" kern="1200" spc="-30" dirty="0">
                <a:solidFill>
                  <a:srgbClr val="FF0000"/>
                </a:solidFill>
                <a:latin typeface="Palatino Linotype"/>
                <a:cs typeface="Palatino Linotype"/>
              </a:rPr>
              <a:t> </a:t>
            </a:r>
            <a:r>
              <a:rPr sz="2000" kern="1200" dirty="0">
                <a:solidFill>
                  <a:prstClr val="black"/>
                </a:solidFill>
                <a:latin typeface="Palatino Linotype"/>
                <a:cs typeface="Palatino Linotype"/>
              </a:rPr>
              <a:t>directly understandable</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by</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computer</a:t>
            </a:r>
            <a:endParaRPr sz="2000" kern="1200">
              <a:solidFill>
                <a:prstClr val="black"/>
              </a:solidFill>
              <a:latin typeface="Palatino Linotype"/>
              <a:cs typeface="Palatino Linotype"/>
            </a:endParaRPr>
          </a:p>
          <a:p>
            <a:pPr marL="735965" marR="43180" lvl="1" indent="-228600" rtl="0">
              <a:lnSpc>
                <a:spcPct val="120000"/>
              </a:lnSpc>
              <a:spcBef>
                <a:spcPts val="1205"/>
              </a:spcBef>
              <a:buFont typeface="Wingdings"/>
              <a:buChar char=""/>
              <a:tabLst>
                <a:tab pos="736600" algn="l"/>
                <a:tab pos="4460240" algn="l"/>
              </a:tabLst>
            </a:pPr>
            <a:r>
              <a:rPr sz="2000" kern="1200" spc="-5" dirty="0">
                <a:solidFill>
                  <a:srgbClr val="FF0000"/>
                </a:solidFill>
                <a:latin typeface="Palatino Linotype"/>
                <a:cs typeface="Palatino Linotype"/>
              </a:rPr>
              <a:t>High-level</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a:t>
            </a:r>
            <a:r>
              <a:rPr sz="2000" kern="1200" dirty="0">
                <a:solidFill>
                  <a:srgbClr val="FF0000"/>
                </a:solidFill>
                <a:latin typeface="宋体"/>
                <a:cs typeface="宋体"/>
              </a:rPr>
              <a:t>高级语言</a:t>
            </a:r>
            <a:r>
              <a:rPr sz="2000" kern="1200" dirty="0">
                <a:solidFill>
                  <a:srgbClr val="FF0000"/>
                </a:solidFill>
                <a:latin typeface="Palatino Linotype"/>
                <a:cs typeface="Palatino Linotype"/>
              </a:rPr>
              <a:t>):</a:t>
            </a:r>
            <a:r>
              <a:rPr sz="2000" kern="1200" spc="-25" dirty="0">
                <a:solidFill>
                  <a:srgbClr val="FF0000"/>
                </a:solidFill>
                <a:latin typeface="Palatino Linotype"/>
                <a:cs typeface="Palatino Linotype"/>
              </a:rPr>
              <a:t> </a:t>
            </a:r>
            <a:r>
              <a:rPr sz="2000" kern="1200" spc="-5" dirty="0">
                <a:solidFill>
                  <a:prstClr val="black"/>
                </a:solidFill>
                <a:latin typeface="Palatino Linotype"/>
                <a:cs typeface="Palatino Linotype"/>
              </a:rPr>
              <a:t>understandable</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by</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human</a:t>
            </a:r>
            <a:r>
              <a:rPr sz="2000" kern="1200" spc="-25" dirty="0">
                <a:solidFill>
                  <a:prstClr val="black"/>
                </a:solidFill>
                <a:latin typeface="Palatino Linotype"/>
                <a:cs typeface="Palatino Linotype"/>
              </a:rPr>
              <a:t> </a:t>
            </a:r>
            <a:r>
              <a:rPr sz="2000" kern="1200" spc="-5" dirty="0">
                <a:solidFill>
                  <a:prstClr val="black"/>
                </a:solidFill>
                <a:latin typeface="Palatino Linotype"/>
                <a:cs typeface="Palatino Linotype"/>
              </a:rPr>
              <a:t>beings,</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need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translator to be</a:t>
            </a:r>
            <a:r>
              <a:rPr sz="2000" kern="1200" spc="25" dirty="0">
                <a:solidFill>
                  <a:prstClr val="black"/>
                </a:solidFill>
                <a:latin typeface="Palatino Linotype"/>
                <a:cs typeface="Palatino Linotype"/>
              </a:rPr>
              <a:t> </a:t>
            </a:r>
            <a:r>
              <a:rPr sz="2000" kern="1200" spc="-5" dirty="0">
                <a:solidFill>
                  <a:prstClr val="black"/>
                </a:solidFill>
                <a:latin typeface="Palatino Linotype"/>
                <a:cs typeface="Palatino Linotype"/>
              </a:rPr>
              <a:t>understood</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by	</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 computer</a:t>
            </a:r>
            <a:endParaRPr sz="2000" kern="1200">
              <a:solidFill>
                <a:prstClr val="black"/>
              </a:solidFill>
              <a:latin typeface="Palatino Linotype"/>
              <a:cs typeface="Palatino Linotype"/>
            </a:endParaRPr>
          </a:p>
        </p:txBody>
      </p:sp>
      <p:sp>
        <p:nvSpPr>
          <p:cNvPr id="10" name="object 4">
            <a:extLst>
              <a:ext uri="{FF2B5EF4-FFF2-40B4-BE49-F238E27FC236}">
                <a16:creationId xmlns:a16="http://schemas.microsoft.com/office/drawing/2014/main" id="{24824204-C64E-51AA-5ADD-2975DD5A20E3}"/>
              </a:ext>
            </a:extLst>
          </p:cNvPr>
          <p:cNvSpPr txBox="1"/>
          <p:nvPr/>
        </p:nvSpPr>
        <p:spPr>
          <a:xfrm>
            <a:off x="682142" y="5658713"/>
            <a:ext cx="4410710" cy="208279"/>
          </a:xfrm>
          <a:prstGeom prst="rect">
            <a:avLst/>
          </a:prstGeom>
        </p:spPr>
        <p:txBody>
          <a:bodyPr vert="horz" wrap="square" lIns="0" tIns="12700" rIns="0" bIns="0" rtlCol="0">
            <a:spAutoFit/>
          </a:bodyPr>
          <a:lstStyle/>
          <a:p>
            <a:pPr marL="38100" rtl="0">
              <a:spcBef>
                <a:spcPts val="100"/>
              </a:spcBef>
            </a:pPr>
            <a:r>
              <a:rPr sz="1200" kern="1200" baseline="24305" dirty="0">
                <a:solidFill>
                  <a:prstClr val="black"/>
                </a:solidFill>
                <a:latin typeface="Palatino Linotype"/>
                <a:cs typeface="Palatino Linotype"/>
              </a:rPr>
              <a:t>1</a:t>
            </a:r>
            <a:r>
              <a:rPr sz="1200" kern="1200" spc="7" baseline="24305" dirty="0">
                <a:solidFill>
                  <a:prstClr val="black"/>
                </a:solidFill>
                <a:latin typeface="Palatino Linotype"/>
                <a:cs typeface="Palatino Linotype"/>
              </a:rPr>
              <a:t> </a:t>
            </a:r>
            <a:r>
              <a:rPr sz="1200" kern="1200" spc="-5" dirty="0">
                <a:solidFill>
                  <a:prstClr val="black"/>
                </a:solidFill>
                <a:latin typeface="Palatino Linotype"/>
                <a:cs typeface="Palatino Linotype"/>
              </a:rPr>
              <a:t>https://en.wikipedia.org/wiki/List_of_programming_languages</a:t>
            </a:r>
            <a:endParaRPr sz="1200"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70729947-B3D9-0971-7CF5-E77ED3F9FD19}"/>
              </a:ext>
            </a:extLst>
          </p:cNvPr>
          <p:cNvSpPr>
            <a:spLocks noGrp="1"/>
          </p:cNvSpPr>
          <p:nvPr>
            <p:ph type="sldNum" sz="quarter" idx="12"/>
          </p:nvPr>
        </p:nvSpPr>
        <p:spPr/>
        <p:txBody>
          <a:bodyPr/>
          <a:lstStyle/>
          <a:p>
            <a:pPr>
              <a:defRPr/>
            </a:pPr>
            <a:fld id="{2FBC720A-3716-234A-B2DF-CBC7E48049F5}" type="slidenum">
              <a:rPr lang="en-US" altLang="zh-CN" smtClean="0"/>
              <a:t>10</a:t>
            </a:fld>
            <a:endParaRPr lang="en-US" altLang="zh-CN"/>
          </a:p>
        </p:txBody>
      </p:sp>
    </p:spTree>
    <p:extLst>
      <p:ext uri="{BB962C8B-B14F-4D97-AF65-F5344CB8AC3E}">
        <p14:creationId xmlns:p14="http://schemas.microsoft.com/office/powerpoint/2010/main" val="3369701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3" name="object 2">
            <a:extLst>
              <a:ext uri="{FF2B5EF4-FFF2-40B4-BE49-F238E27FC236}">
                <a16:creationId xmlns:a16="http://schemas.microsoft.com/office/drawing/2014/main" id="{0D96D7F7-2C6C-D6FA-4951-4E1C21F8E664}"/>
              </a:ext>
            </a:extLst>
          </p:cNvPr>
          <p:cNvSpPr txBox="1">
            <a:spLocks/>
          </p:cNvSpPr>
          <p:nvPr/>
        </p:nvSpPr>
        <p:spPr>
          <a:xfrm>
            <a:off x="707542" y="520141"/>
            <a:ext cx="518985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When It All Started</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4" name="object 3">
            <a:extLst>
              <a:ext uri="{FF2B5EF4-FFF2-40B4-BE49-F238E27FC236}">
                <a16:creationId xmlns:a16="http://schemas.microsoft.com/office/drawing/2014/main" id="{D899F219-850F-495B-BA43-26F09FBF5D6F}"/>
              </a:ext>
            </a:extLst>
          </p:cNvPr>
          <p:cNvSpPr txBox="1"/>
          <p:nvPr/>
        </p:nvSpPr>
        <p:spPr>
          <a:xfrm>
            <a:off x="409448" y="4715916"/>
            <a:ext cx="8322945" cy="720725"/>
          </a:xfrm>
          <a:prstGeom prst="rect">
            <a:avLst/>
          </a:prstGeom>
        </p:spPr>
        <p:txBody>
          <a:bodyPr vert="horz" wrap="square" lIns="0" tIns="12700" rIns="0" bIns="0" rtlCol="0">
            <a:spAutoFit/>
          </a:bodyPr>
          <a:lstStyle/>
          <a:p>
            <a:pPr marL="181610" marR="5080" indent="-169545" rtl="0">
              <a:lnSpc>
                <a:spcPct val="120000"/>
              </a:lnSpc>
              <a:spcBef>
                <a:spcPts val="100"/>
              </a:spcBef>
            </a:pPr>
            <a:r>
              <a:rPr sz="1900" kern="1200" spc="-5" dirty="0">
                <a:solidFill>
                  <a:prstClr val="black"/>
                </a:solidFill>
                <a:latin typeface="Palatino Linotype"/>
                <a:cs typeface="Palatino Linotype"/>
              </a:rPr>
              <a:t>The first electronic computer ENIAC appeared in 1946. It </a:t>
            </a:r>
            <a:r>
              <a:rPr sz="1900" kern="1200" spc="-20" dirty="0">
                <a:solidFill>
                  <a:prstClr val="black"/>
                </a:solidFill>
                <a:latin typeface="Palatino Linotype"/>
                <a:cs typeface="Palatino Linotype"/>
              </a:rPr>
              <a:t>was </a:t>
            </a:r>
            <a:r>
              <a:rPr sz="1900" kern="1200" spc="-10" dirty="0">
                <a:solidFill>
                  <a:prstClr val="black"/>
                </a:solidFill>
                <a:latin typeface="Palatino Linotype"/>
                <a:cs typeface="Palatino Linotype"/>
              </a:rPr>
              <a:t>programmed in  </a:t>
            </a:r>
            <a:r>
              <a:rPr sz="1900" kern="1200" spc="-5" dirty="0">
                <a:solidFill>
                  <a:srgbClr val="FF0000"/>
                </a:solidFill>
                <a:latin typeface="Palatino Linotype"/>
                <a:cs typeface="Palatino Linotype"/>
              </a:rPr>
              <a:t>machine language </a:t>
            </a:r>
            <a:r>
              <a:rPr sz="1900" kern="1200" spc="-5" dirty="0">
                <a:solidFill>
                  <a:prstClr val="black"/>
                </a:solidFill>
                <a:latin typeface="Palatino Linotype"/>
                <a:cs typeface="Palatino Linotype"/>
              </a:rPr>
              <a:t>(sequences of </a:t>
            </a:r>
            <a:r>
              <a:rPr sz="1900" kern="1200" spc="-70" dirty="0">
                <a:solidFill>
                  <a:prstClr val="black"/>
                </a:solidFill>
                <a:latin typeface="Palatino Linotype"/>
                <a:cs typeface="Palatino Linotype"/>
              </a:rPr>
              <a:t>0’s </a:t>
            </a:r>
            <a:r>
              <a:rPr sz="1900" kern="1200" spc="-5" dirty="0">
                <a:solidFill>
                  <a:prstClr val="black"/>
                </a:solidFill>
                <a:latin typeface="Palatino Linotype"/>
                <a:cs typeface="Palatino Linotype"/>
              </a:rPr>
              <a:t>and </a:t>
            </a:r>
            <a:r>
              <a:rPr sz="1900" kern="1200" spc="-55" dirty="0">
                <a:solidFill>
                  <a:prstClr val="black"/>
                </a:solidFill>
                <a:latin typeface="Palatino Linotype"/>
                <a:cs typeface="Palatino Linotype"/>
              </a:rPr>
              <a:t>1’s) </a:t>
            </a:r>
            <a:r>
              <a:rPr sz="1900" kern="1200" spc="-5" dirty="0">
                <a:solidFill>
                  <a:prstClr val="black"/>
                </a:solidFill>
                <a:latin typeface="Palatino Linotype"/>
                <a:cs typeface="Palatino Linotype"/>
              </a:rPr>
              <a:t>by setting switches and</a:t>
            </a:r>
            <a:r>
              <a:rPr sz="1900" kern="1200" spc="195" dirty="0">
                <a:solidFill>
                  <a:prstClr val="black"/>
                </a:solidFill>
                <a:latin typeface="Palatino Linotype"/>
                <a:cs typeface="Palatino Linotype"/>
              </a:rPr>
              <a:t> </a:t>
            </a:r>
            <a:r>
              <a:rPr sz="1900" kern="1200" spc="-5" dirty="0">
                <a:solidFill>
                  <a:prstClr val="black"/>
                </a:solidFill>
                <a:latin typeface="Palatino Linotype"/>
                <a:cs typeface="Palatino Linotype"/>
              </a:rPr>
              <a:t>cables.</a:t>
            </a:r>
            <a:endParaRPr sz="1900" kern="1200">
              <a:solidFill>
                <a:prstClr val="black"/>
              </a:solidFill>
              <a:latin typeface="Palatino Linotype"/>
              <a:cs typeface="Palatino Linotype"/>
            </a:endParaRPr>
          </a:p>
        </p:txBody>
      </p:sp>
      <p:sp>
        <p:nvSpPr>
          <p:cNvPr id="15" name="object 4">
            <a:extLst>
              <a:ext uri="{FF2B5EF4-FFF2-40B4-BE49-F238E27FC236}">
                <a16:creationId xmlns:a16="http://schemas.microsoft.com/office/drawing/2014/main" id="{6CD698DC-73C4-D24D-E6F1-10A2F8D1584D}"/>
              </a:ext>
            </a:extLst>
          </p:cNvPr>
          <p:cNvSpPr txBox="1"/>
          <p:nvPr/>
        </p:nvSpPr>
        <p:spPr>
          <a:xfrm>
            <a:off x="457911" y="5733999"/>
            <a:ext cx="2540635" cy="208279"/>
          </a:xfrm>
          <a:prstGeom prst="rect">
            <a:avLst/>
          </a:prstGeom>
        </p:spPr>
        <p:txBody>
          <a:bodyPr vert="horz" wrap="square" lIns="0" tIns="12700" rIns="0" bIns="0" rtlCol="0">
            <a:spAutoFit/>
          </a:bodyPr>
          <a:lstStyle/>
          <a:p>
            <a:pPr marL="12700" rtl="0">
              <a:spcBef>
                <a:spcPts val="100"/>
              </a:spcBef>
            </a:pPr>
            <a:r>
              <a:rPr sz="1200" kern="1200" spc="-5" dirty="0">
                <a:solidFill>
                  <a:prstClr val="black"/>
                </a:solidFill>
                <a:latin typeface="Palatino Linotype"/>
                <a:cs typeface="Palatino Linotype"/>
              </a:rPr>
              <a:t>https://en.wikipedia.org/wiki/ENIAC</a:t>
            </a:r>
            <a:endParaRPr sz="1200" kern="1200">
              <a:solidFill>
                <a:prstClr val="black"/>
              </a:solidFill>
              <a:latin typeface="Palatino Linotype"/>
              <a:cs typeface="Palatino Linotype"/>
            </a:endParaRPr>
          </a:p>
        </p:txBody>
      </p:sp>
      <p:sp>
        <p:nvSpPr>
          <p:cNvPr id="16" name="object 5">
            <a:extLst>
              <a:ext uri="{FF2B5EF4-FFF2-40B4-BE49-F238E27FC236}">
                <a16:creationId xmlns:a16="http://schemas.microsoft.com/office/drawing/2014/main" id="{FF4C3B5A-41DB-E981-BBC9-B4FA401E4154}"/>
              </a:ext>
            </a:extLst>
          </p:cNvPr>
          <p:cNvSpPr/>
          <p:nvPr/>
        </p:nvSpPr>
        <p:spPr>
          <a:xfrm>
            <a:off x="379475" y="1871472"/>
            <a:ext cx="3259836" cy="2491740"/>
          </a:xfrm>
          <a:prstGeom prst="rect">
            <a:avLst/>
          </a:prstGeom>
          <a:blipFill>
            <a:blip r:embed="rId3"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6">
            <a:extLst>
              <a:ext uri="{FF2B5EF4-FFF2-40B4-BE49-F238E27FC236}">
                <a16:creationId xmlns:a16="http://schemas.microsoft.com/office/drawing/2014/main" id="{0DB31E17-26F9-9251-A561-ADECC78CF907}"/>
              </a:ext>
            </a:extLst>
          </p:cNvPr>
          <p:cNvSpPr/>
          <p:nvPr/>
        </p:nvSpPr>
        <p:spPr>
          <a:xfrm>
            <a:off x="3966971" y="1885188"/>
            <a:ext cx="2686812" cy="2491740"/>
          </a:xfrm>
          <a:prstGeom prst="rect">
            <a:avLst/>
          </a:prstGeom>
          <a:blipFill>
            <a:blip r:embed="rId4"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7">
            <a:extLst>
              <a:ext uri="{FF2B5EF4-FFF2-40B4-BE49-F238E27FC236}">
                <a16:creationId xmlns:a16="http://schemas.microsoft.com/office/drawing/2014/main" id="{91775A55-22A6-AAF5-4C6A-6DBDBBFDC981}"/>
              </a:ext>
            </a:extLst>
          </p:cNvPr>
          <p:cNvSpPr/>
          <p:nvPr/>
        </p:nvSpPr>
        <p:spPr>
          <a:xfrm>
            <a:off x="6981443" y="1885188"/>
            <a:ext cx="1857755" cy="2493264"/>
          </a:xfrm>
          <a:prstGeom prst="rect">
            <a:avLst/>
          </a:prstGeom>
          <a:blipFill>
            <a:blip r:embed="rId5"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29A23816-7947-3C64-0AAB-26BE445EEB27}"/>
              </a:ext>
            </a:extLst>
          </p:cNvPr>
          <p:cNvSpPr>
            <a:spLocks noGrp="1"/>
          </p:cNvSpPr>
          <p:nvPr>
            <p:ph type="sldNum" sz="quarter" idx="12"/>
          </p:nvPr>
        </p:nvSpPr>
        <p:spPr/>
        <p:txBody>
          <a:bodyPr/>
          <a:lstStyle/>
          <a:p>
            <a:pPr>
              <a:defRPr/>
            </a:pPr>
            <a:fld id="{2FBC720A-3716-234A-B2DF-CBC7E48049F5}" type="slidenum">
              <a:rPr lang="en-US" altLang="zh-CN" smtClean="0"/>
              <a:t>11</a:t>
            </a:fld>
            <a:endParaRPr lang="en-US" altLang="zh-CN"/>
          </a:p>
        </p:txBody>
      </p:sp>
    </p:spTree>
    <p:extLst>
      <p:ext uri="{BB962C8B-B14F-4D97-AF65-F5344CB8AC3E}">
        <p14:creationId xmlns:p14="http://schemas.microsoft.com/office/powerpoint/2010/main" val="893993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8" name="object 2">
            <a:extLst>
              <a:ext uri="{FF2B5EF4-FFF2-40B4-BE49-F238E27FC236}">
                <a16:creationId xmlns:a16="http://schemas.microsoft.com/office/drawing/2014/main" id="{722CEF62-26A8-2BF5-1BD6-D3DD6A04FEBF}"/>
              </a:ext>
            </a:extLst>
          </p:cNvPr>
          <p:cNvSpPr txBox="1">
            <a:spLocks/>
          </p:cNvSpPr>
          <p:nvPr/>
        </p:nvSpPr>
        <p:spPr>
          <a:xfrm>
            <a:off x="707542" y="538429"/>
            <a:ext cx="5932170" cy="605790"/>
          </a:xfrm>
          <a:prstGeom prst="rect">
            <a:avLst/>
          </a:prstGeom>
        </p:spPr>
        <p:txBody>
          <a:bodyPr vert="horz" wrap="square" lIns="0" tIns="1333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0" normalizeH="0" baseline="0" noProof="0">
                <a:ln>
                  <a:noFill/>
                </a:ln>
                <a:solidFill>
                  <a:sysClr val="windowText" lastClr="000000"/>
                </a:solidFill>
                <a:effectLst/>
                <a:uLnTx/>
                <a:uFillTx/>
                <a:latin typeface="Palatino Linotype"/>
                <a:ea typeface="+mj-ea"/>
              </a:rPr>
              <a:t>Can </a:t>
            </a:r>
            <a:r>
              <a:rPr kumimoji="0" lang="en-US" sz="3800" b="1" i="0" u="none" strike="noStrike" kern="0" cap="none" spc="-100" normalizeH="0" baseline="0" noProof="0">
                <a:ln>
                  <a:noFill/>
                </a:ln>
                <a:solidFill>
                  <a:sysClr val="windowText" lastClr="000000"/>
                </a:solidFill>
                <a:effectLst/>
                <a:uLnTx/>
                <a:uFillTx/>
                <a:latin typeface="Palatino Linotype"/>
                <a:ea typeface="+mj-ea"/>
              </a:rPr>
              <a:t>You </a:t>
            </a:r>
            <a:r>
              <a:rPr kumimoji="0" lang="en-US" sz="3800" b="1" i="0" u="none" strike="noStrike" kern="0" cap="none" spc="0" normalizeH="0" baseline="0" noProof="0">
                <a:ln>
                  <a:noFill/>
                </a:ln>
                <a:solidFill>
                  <a:sysClr val="windowText" lastClr="000000"/>
                </a:solidFill>
                <a:effectLst/>
                <a:uLnTx/>
                <a:uFillTx/>
                <a:latin typeface="Palatino Linotype"/>
                <a:ea typeface="+mj-ea"/>
              </a:rPr>
              <a:t>Understand</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This?</a:t>
            </a:r>
          </a:p>
        </p:txBody>
      </p:sp>
      <p:sp>
        <p:nvSpPr>
          <p:cNvPr id="9" name="object 3">
            <a:extLst>
              <a:ext uri="{FF2B5EF4-FFF2-40B4-BE49-F238E27FC236}">
                <a16:creationId xmlns:a16="http://schemas.microsoft.com/office/drawing/2014/main" id="{120D0AAF-A6B4-D826-8268-44C81DCE4C78}"/>
              </a:ext>
            </a:extLst>
          </p:cNvPr>
          <p:cNvSpPr txBox="1"/>
          <p:nvPr/>
        </p:nvSpPr>
        <p:spPr>
          <a:xfrm>
            <a:off x="817270" y="1570101"/>
            <a:ext cx="7534275" cy="4305935"/>
          </a:xfrm>
          <a:prstGeom prst="rect">
            <a:avLst/>
          </a:prstGeom>
        </p:spPr>
        <p:txBody>
          <a:bodyPr vert="horz" wrap="square" lIns="0" tIns="67310" rIns="0" bIns="0" rtlCol="0">
            <a:spAutoFit/>
          </a:bodyPr>
          <a:lstStyle/>
          <a:p>
            <a:pPr marL="12700" rtl="0">
              <a:spcBef>
                <a:spcPts val="530"/>
              </a:spcBef>
            </a:pPr>
            <a:r>
              <a:rPr kern="1200" spc="-10" dirty="0">
                <a:solidFill>
                  <a:prstClr val="black"/>
                </a:solidFill>
                <a:latin typeface="Courier New"/>
                <a:cs typeface="Courier New"/>
              </a:rPr>
              <a:t>0000100100101110011001100110100101101100011001010000100</a:t>
            </a:r>
            <a:endParaRPr kern="1200">
              <a:solidFill>
                <a:prstClr val="black"/>
              </a:solidFill>
              <a:latin typeface="Courier New"/>
              <a:cs typeface="Courier New"/>
            </a:endParaRPr>
          </a:p>
          <a:p>
            <a:pPr marL="12700" rtl="0">
              <a:spcBef>
                <a:spcPts val="430"/>
              </a:spcBef>
            </a:pPr>
            <a:r>
              <a:rPr kern="1200" spc="-10" dirty="0">
                <a:solidFill>
                  <a:prstClr val="black"/>
                </a:solidFill>
                <a:latin typeface="Courier New"/>
                <a:cs typeface="Courier New"/>
              </a:rPr>
              <a:t>1001000100110110001100101011000110111010001110101011100</a:t>
            </a:r>
            <a:endParaRPr kern="1200">
              <a:solidFill>
                <a:prstClr val="black"/>
              </a:solidFill>
              <a:latin typeface="Courier New"/>
              <a:cs typeface="Courier New"/>
            </a:endParaRPr>
          </a:p>
          <a:p>
            <a:pPr marL="12700" rtl="0">
              <a:spcBef>
                <a:spcPts val="434"/>
              </a:spcBef>
            </a:pPr>
            <a:r>
              <a:rPr kern="1200" spc="-10" dirty="0">
                <a:solidFill>
                  <a:prstClr val="black"/>
                </a:solidFill>
                <a:latin typeface="Courier New"/>
                <a:cs typeface="Courier New"/>
              </a:rPr>
              <a:t>1001100101001100010010111001100011001000100000101001100</a:t>
            </a:r>
            <a:endParaRPr kern="1200">
              <a:solidFill>
                <a:prstClr val="black"/>
              </a:solidFill>
              <a:latin typeface="Courier New"/>
              <a:cs typeface="Courier New"/>
            </a:endParaRPr>
          </a:p>
          <a:p>
            <a:pPr marL="12700" rtl="0">
              <a:spcBef>
                <a:spcPts val="434"/>
              </a:spcBef>
            </a:pPr>
            <a:r>
              <a:rPr kern="1200" spc="-10" dirty="0">
                <a:solidFill>
                  <a:prstClr val="black"/>
                </a:solidFill>
                <a:latin typeface="Courier New"/>
                <a:cs typeface="Courier New"/>
              </a:rPr>
              <a:t>1110110001101100011001100100101111101100011011011110110</a:t>
            </a:r>
            <a:endParaRPr kern="1200">
              <a:solidFill>
                <a:prstClr val="black"/>
              </a:solidFill>
              <a:latin typeface="Courier New"/>
              <a:cs typeface="Courier New"/>
            </a:endParaRPr>
          </a:p>
          <a:p>
            <a:pPr marL="12700" rtl="0">
              <a:spcBef>
                <a:spcPts val="430"/>
              </a:spcBef>
            </a:pPr>
            <a:r>
              <a:rPr kern="1200" spc="-10" dirty="0">
                <a:solidFill>
                  <a:prstClr val="black"/>
                </a:solidFill>
                <a:latin typeface="Courier New"/>
                <a:cs typeface="Courier New"/>
              </a:rPr>
              <a:t>1101011100000110100101101100011001010110010000101110001</a:t>
            </a:r>
            <a:endParaRPr kern="1200">
              <a:solidFill>
                <a:prstClr val="black"/>
              </a:solidFill>
              <a:latin typeface="Courier New"/>
              <a:cs typeface="Courier New"/>
            </a:endParaRPr>
          </a:p>
          <a:p>
            <a:pPr marL="12700" rtl="0">
              <a:spcBef>
                <a:spcPts val="434"/>
              </a:spcBef>
            </a:pPr>
            <a:r>
              <a:rPr kern="1200" spc="-10" dirty="0">
                <a:solidFill>
                  <a:prstClr val="black"/>
                </a:solidFill>
                <a:latin typeface="Courier New"/>
                <a:cs typeface="Courier New"/>
              </a:rPr>
              <a:t>1101000001010001011100111001101100101011000110111010001</a:t>
            </a:r>
            <a:endParaRPr kern="1200">
              <a:solidFill>
                <a:prstClr val="black"/>
              </a:solidFill>
              <a:latin typeface="Courier New"/>
              <a:cs typeface="Courier New"/>
            </a:endParaRPr>
          </a:p>
          <a:p>
            <a:pPr marL="12700" rtl="0">
              <a:spcBef>
                <a:spcPts val="430"/>
              </a:spcBef>
            </a:pPr>
            <a:r>
              <a:rPr kern="1200" spc="-10" dirty="0">
                <a:solidFill>
                  <a:prstClr val="black"/>
                </a:solidFill>
                <a:latin typeface="Courier New"/>
                <a:cs typeface="Courier New"/>
              </a:rPr>
              <a:t>1010010110111101101110000010010010001000101110011101000</a:t>
            </a:r>
            <a:endParaRPr kern="1200">
              <a:solidFill>
                <a:prstClr val="black"/>
              </a:solidFill>
              <a:latin typeface="Courier New"/>
              <a:cs typeface="Courier New"/>
            </a:endParaRPr>
          </a:p>
          <a:p>
            <a:pPr marL="12700" rtl="0">
              <a:spcBef>
                <a:spcPts val="434"/>
              </a:spcBef>
            </a:pPr>
            <a:r>
              <a:rPr kern="1200" spc="-10" dirty="0">
                <a:solidFill>
                  <a:prstClr val="black"/>
                </a:solidFill>
                <a:latin typeface="Courier New"/>
                <a:cs typeface="Courier New"/>
              </a:rPr>
              <a:t>1100101011110000111010000100010000010100000100100101110</a:t>
            </a:r>
            <a:endParaRPr kern="1200">
              <a:solidFill>
                <a:prstClr val="black"/>
              </a:solidFill>
              <a:latin typeface="Courier New"/>
              <a:cs typeface="Courier New"/>
            </a:endParaRPr>
          </a:p>
          <a:p>
            <a:pPr marL="12700" rtl="0">
              <a:spcBef>
                <a:spcPts val="430"/>
              </a:spcBef>
            </a:pPr>
            <a:r>
              <a:rPr kern="1200" spc="-10" dirty="0">
                <a:solidFill>
                  <a:prstClr val="black"/>
                </a:solidFill>
                <a:latin typeface="Courier New"/>
                <a:cs typeface="Courier New"/>
              </a:rPr>
              <a:t>0110000101101100011010010110011101101110001000000011010</a:t>
            </a:r>
            <a:endParaRPr kern="1200">
              <a:solidFill>
                <a:prstClr val="black"/>
              </a:solidFill>
              <a:latin typeface="Courier New"/>
              <a:cs typeface="Courier New"/>
            </a:endParaRPr>
          </a:p>
          <a:p>
            <a:pPr marL="12700" rtl="0">
              <a:spcBef>
                <a:spcPts val="434"/>
              </a:spcBef>
            </a:pPr>
            <a:r>
              <a:rPr kern="1200" spc="-10" dirty="0">
                <a:solidFill>
                  <a:prstClr val="black"/>
                </a:solidFill>
                <a:latin typeface="Courier New"/>
                <a:cs typeface="Courier New"/>
              </a:rPr>
              <a:t>0000010100000100100101110011001110110110001101111011000</a:t>
            </a:r>
            <a:endParaRPr kern="1200">
              <a:solidFill>
                <a:prstClr val="black"/>
              </a:solidFill>
              <a:latin typeface="Courier New"/>
              <a:cs typeface="Courier New"/>
            </a:endParaRPr>
          </a:p>
          <a:p>
            <a:pPr marL="12700" rtl="0">
              <a:spcBef>
                <a:spcPts val="430"/>
              </a:spcBef>
            </a:pPr>
            <a:r>
              <a:rPr kern="1200" spc="-10" dirty="0">
                <a:solidFill>
                  <a:prstClr val="black"/>
                </a:solidFill>
                <a:latin typeface="Courier New"/>
                <a:cs typeface="Courier New"/>
              </a:rPr>
              <a:t>1001100001011011000010000001101101011000010110100101101</a:t>
            </a:r>
            <a:endParaRPr kern="1200">
              <a:solidFill>
                <a:prstClr val="black"/>
              </a:solidFill>
              <a:latin typeface="Courier New"/>
              <a:cs typeface="Courier New"/>
            </a:endParaRPr>
          </a:p>
          <a:p>
            <a:pPr marL="12700" rtl="0">
              <a:spcBef>
                <a:spcPts val="434"/>
              </a:spcBef>
            </a:pPr>
            <a:r>
              <a:rPr kern="1200" spc="-10" dirty="0">
                <a:solidFill>
                  <a:prstClr val="black"/>
                </a:solidFill>
                <a:latin typeface="Courier New"/>
                <a:cs typeface="Courier New"/>
              </a:rPr>
              <a:t>1100000101000001001001011100111010001111001011100000110</a:t>
            </a:r>
            <a:endParaRPr kern="1200">
              <a:solidFill>
                <a:prstClr val="black"/>
              </a:solidFill>
              <a:latin typeface="Courier New"/>
              <a:cs typeface="Courier New"/>
            </a:endParaRPr>
          </a:p>
          <a:p>
            <a:pPr marL="12700" rtl="0">
              <a:spcBef>
                <a:spcPts val="430"/>
              </a:spcBef>
            </a:pPr>
            <a:r>
              <a:rPr kern="1200" spc="-10" dirty="0">
                <a:solidFill>
                  <a:prstClr val="black"/>
                </a:solidFill>
                <a:latin typeface="Courier New"/>
                <a:cs typeface="Courier New"/>
              </a:rPr>
              <a:t>0101000010010010000001101101011000010110100101101110...</a:t>
            </a:r>
            <a:endParaRPr kern="1200">
              <a:solidFill>
                <a:prstClr val="black"/>
              </a:solidFill>
              <a:latin typeface="Courier New"/>
              <a:cs typeface="Courier New"/>
            </a:endParaRPr>
          </a:p>
        </p:txBody>
      </p:sp>
      <p:sp>
        <p:nvSpPr>
          <p:cNvPr id="2" name="灯片编号占位符 1">
            <a:extLst>
              <a:ext uri="{FF2B5EF4-FFF2-40B4-BE49-F238E27FC236}">
                <a16:creationId xmlns:a16="http://schemas.microsoft.com/office/drawing/2014/main" id="{A7EAAD8F-83CE-6AAF-FC58-91DF8DBC57A5}"/>
              </a:ext>
            </a:extLst>
          </p:cNvPr>
          <p:cNvSpPr>
            <a:spLocks noGrp="1"/>
          </p:cNvSpPr>
          <p:nvPr>
            <p:ph type="sldNum" sz="quarter" idx="12"/>
          </p:nvPr>
        </p:nvSpPr>
        <p:spPr/>
        <p:txBody>
          <a:bodyPr/>
          <a:lstStyle/>
          <a:p>
            <a:pPr>
              <a:defRPr/>
            </a:pPr>
            <a:fld id="{2FBC720A-3716-234A-B2DF-CBC7E48049F5}" type="slidenum">
              <a:rPr lang="en-US" altLang="zh-CN" smtClean="0"/>
              <a:t>12</a:t>
            </a:fld>
            <a:endParaRPr lang="en-US" altLang="zh-CN"/>
          </a:p>
        </p:txBody>
      </p:sp>
    </p:spTree>
    <p:extLst>
      <p:ext uri="{BB962C8B-B14F-4D97-AF65-F5344CB8AC3E}">
        <p14:creationId xmlns:p14="http://schemas.microsoft.com/office/powerpoint/2010/main" val="1232382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2" name="object 2">
            <a:extLst>
              <a:ext uri="{FF2B5EF4-FFF2-40B4-BE49-F238E27FC236}">
                <a16:creationId xmlns:a16="http://schemas.microsoft.com/office/drawing/2014/main" id="{A90B6A17-0333-AC65-809D-F09EEDF18CBC}"/>
              </a:ext>
            </a:extLst>
          </p:cNvPr>
          <p:cNvSpPr txBox="1">
            <a:spLocks/>
          </p:cNvSpPr>
          <p:nvPr/>
        </p:nvSpPr>
        <p:spPr>
          <a:xfrm>
            <a:off x="707542" y="520141"/>
            <a:ext cx="7766684"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Assembly Language </a:t>
            </a:r>
            <a:r>
              <a:rPr kumimoji="0" lang="en-US" sz="4000" b="1" i="0" u="none" strike="noStrike" kern="0" cap="none" spc="0" normalizeH="0" baseline="0" noProof="0">
                <a:ln>
                  <a:noFill/>
                </a:ln>
                <a:solidFill>
                  <a:sysClr val="windowText" lastClr="000000"/>
                </a:solidFill>
                <a:effectLst/>
                <a:uLnTx/>
                <a:uFillTx/>
                <a:latin typeface="Palatino Linotype"/>
                <a:ea typeface="+mj-ea"/>
              </a:rPr>
              <a:t>(Early</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1950s)</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B61B94DA-48DC-E840-88F0-12C183B8C809}"/>
              </a:ext>
            </a:extLst>
          </p:cNvPr>
          <p:cNvSpPr txBox="1"/>
          <p:nvPr/>
        </p:nvSpPr>
        <p:spPr>
          <a:xfrm>
            <a:off x="3415284" y="1811782"/>
            <a:ext cx="5123180" cy="330835"/>
          </a:xfrm>
          <a:prstGeom prst="rect">
            <a:avLst/>
          </a:prstGeom>
        </p:spPr>
        <p:txBody>
          <a:bodyPr vert="horz" wrap="square" lIns="0" tIns="13335" rIns="0" bIns="0" rtlCol="0">
            <a:spAutoFit/>
          </a:bodyPr>
          <a:lstStyle/>
          <a:p>
            <a:pPr marL="267970" indent="-230504" rtl="0">
              <a:spcBef>
                <a:spcPts val="105"/>
              </a:spcBef>
              <a:buFont typeface="Arial"/>
              <a:buChar char="•"/>
              <a:tabLst>
                <a:tab pos="267970" algn="l"/>
                <a:tab pos="268605" algn="l"/>
              </a:tabLst>
            </a:pPr>
            <a:r>
              <a:rPr sz="2000" kern="1200" spc="5" dirty="0">
                <a:solidFill>
                  <a:prstClr val="black"/>
                </a:solidFill>
                <a:latin typeface="Palatino Linotype"/>
                <a:cs typeface="Palatino Linotype"/>
              </a:rPr>
              <a:t>1</a:t>
            </a:r>
            <a:r>
              <a:rPr sz="1950" kern="1200" spc="7" baseline="25641" dirty="0">
                <a:solidFill>
                  <a:prstClr val="black"/>
                </a:solidFill>
                <a:latin typeface="Palatino Linotype"/>
                <a:cs typeface="Palatino Linotype"/>
              </a:rPr>
              <a:t>st </a:t>
            </a:r>
            <a:r>
              <a:rPr sz="2000" kern="1200" dirty="0">
                <a:solidFill>
                  <a:prstClr val="black"/>
                </a:solidFill>
                <a:latin typeface="Palatino Linotype"/>
                <a:cs typeface="Palatino Linotype"/>
              </a:rPr>
              <a:t>step </a:t>
            </a:r>
            <a:r>
              <a:rPr sz="2000" kern="1200" spc="-10" dirty="0">
                <a:solidFill>
                  <a:prstClr val="black"/>
                </a:solidFill>
                <a:latin typeface="Palatino Linotype"/>
                <a:cs typeface="Palatino Linotype"/>
              </a:rPr>
              <a:t>towards </a:t>
            </a:r>
            <a:r>
              <a:rPr sz="2000" kern="1200" dirty="0">
                <a:solidFill>
                  <a:prstClr val="black"/>
                </a:solidFill>
                <a:latin typeface="Palatino Linotype"/>
                <a:cs typeface="Palatino Linotype"/>
              </a:rPr>
              <a:t>human-friendly</a:t>
            </a:r>
            <a:r>
              <a:rPr sz="2000" kern="1200" spc="-260" dirty="0">
                <a:solidFill>
                  <a:prstClr val="black"/>
                </a:solidFill>
                <a:latin typeface="Palatino Linotype"/>
                <a:cs typeface="Palatino Linotype"/>
              </a:rPr>
              <a:t> </a:t>
            </a:r>
            <a:r>
              <a:rPr sz="2000" kern="1200" spc="-5" dirty="0">
                <a:solidFill>
                  <a:prstClr val="black"/>
                </a:solidFill>
                <a:latin typeface="Palatino Linotype"/>
                <a:cs typeface="Palatino Linotype"/>
              </a:rPr>
              <a:t>languages</a:t>
            </a:r>
            <a:endParaRPr sz="2000" kern="1200">
              <a:solidFill>
                <a:prstClr val="black"/>
              </a:solidFill>
              <a:latin typeface="Palatino Linotype"/>
              <a:cs typeface="Palatino Linotype"/>
            </a:endParaRPr>
          </a:p>
        </p:txBody>
      </p:sp>
      <p:sp>
        <p:nvSpPr>
          <p:cNvPr id="14" name="object 4">
            <a:extLst>
              <a:ext uri="{FF2B5EF4-FFF2-40B4-BE49-F238E27FC236}">
                <a16:creationId xmlns:a16="http://schemas.microsoft.com/office/drawing/2014/main" id="{FDD3F5A7-96E7-EAF6-47F2-C5F11BD15657}"/>
              </a:ext>
            </a:extLst>
          </p:cNvPr>
          <p:cNvSpPr txBox="1"/>
          <p:nvPr/>
        </p:nvSpPr>
        <p:spPr>
          <a:xfrm>
            <a:off x="3440684" y="2269210"/>
            <a:ext cx="4655820" cy="880110"/>
          </a:xfrm>
          <a:prstGeom prst="rect">
            <a:avLst/>
          </a:prstGeom>
        </p:spPr>
        <p:txBody>
          <a:bodyPr vert="horz" wrap="square" lIns="0" tIns="12700" rIns="0" bIns="0" rtlCol="0">
            <a:spAutoFit/>
          </a:bodyPr>
          <a:lstStyle/>
          <a:p>
            <a:pPr marL="242570" marR="5080" indent="-230504" rtl="0">
              <a:lnSpc>
                <a:spcPct val="140100"/>
              </a:lnSpc>
              <a:spcBef>
                <a:spcPts val="100"/>
              </a:spcBef>
              <a:buClr>
                <a:srgbClr val="000000"/>
              </a:buClr>
              <a:buFont typeface="Arial"/>
              <a:buChar char="•"/>
              <a:tabLst>
                <a:tab pos="242570" algn="l"/>
                <a:tab pos="243204" algn="l"/>
              </a:tabLst>
            </a:pPr>
            <a:r>
              <a:rPr sz="2000" kern="1200" dirty="0">
                <a:solidFill>
                  <a:srgbClr val="002CEA"/>
                </a:solidFill>
                <a:latin typeface="Palatino Linotype"/>
                <a:cs typeface="Palatino Linotype"/>
              </a:rPr>
              <a:t>Mnemonic</a:t>
            </a:r>
            <a:r>
              <a:rPr sz="2000" kern="1200" spc="-40" dirty="0">
                <a:solidFill>
                  <a:srgbClr val="002CEA"/>
                </a:solidFill>
                <a:latin typeface="Palatino Linotype"/>
                <a:cs typeface="Palatino Linotype"/>
              </a:rPr>
              <a:t> </a:t>
            </a:r>
            <a:r>
              <a:rPr sz="2000" kern="1200" spc="-5" dirty="0">
                <a:solidFill>
                  <a:srgbClr val="002CEA"/>
                </a:solidFill>
                <a:latin typeface="Palatino Linotype"/>
                <a:cs typeface="Palatino Linotype"/>
              </a:rPr>
              <a:t>names</a:t>
            </a:r>
            <a:r>
              <a:rPr sz="2000" kern="1200" spc="-20" dirty="0">
                <a:solidFill>
                  <a:srgbClr val="002CEA"/>
                </a:solidFill>
                <a:latin typeface="Palatino Linotype"/>
                <a:cs typeface="Palatino Linotype"/>
              </a:rPr>
              <a:t> </a:t>
            </a:r>
            <a:r>
              <a:rPr sz="2000" kern="1200" dirty="0">
                <a:solidFill>
                  <a:prstClr val="black"/>
                </a:solidFill>
                <a:latin typeface="Palatino Linotype"/>
                <a:cs typeface="Palatino Linotype"/>
              </a:rPr>
              <a:t>(</a:t>
            </a:r>
            <a:r>
              <a:rPr sz="2000" kern="1200" dirty="0">
                <a:solidFill>
                  <a:prstClr val="black"/>
                </a:solidFill>
                <a:latin typeface="宋体"/>
                <a:cs typeface="宋体"/>
              </a:rPr>
              <a:t>助记符</a:t>
            </a:r>
            <a:r>
              <a:rPr sz="2000" kern="1200" dirty="0">
                <a:solidFill>
                  <a:prstClr val="black"/>
                </a:solidFill>
                <a:latin typeface="Palatino Linotype"/>
                <a:cs typeface="Palatino Linotype"/>
              </a:rPr>
              <a:t>)</a:t>
            </a:r>
            <a:r>
              <a:rPr sz="2000" kern="1200" spc="-40" dirty="0">
                <a:solidFill>
                  <a:prstClr val="black"/>
                </a:solidFill>
                <a:latin typeface="Palatino Linotype"/>
                <a:cs typeface="Palatino Linotype"/>
              </a:rPr>
              <a:t> </a:t>
            </a:r>
            <a:r>
              <a:rPr sz="2000" kern="1200" dirty="0">
                <a:solidFill>
                  <a:prstClr val="black"/>
                </a:solidFill>
                <a:latin typeface="Palatino Linotype"/>
                <a:cs typeface="Palatino Linotype"/>
              </a:rPr>
              <a:t>for</a:t>
            </a:r>
            <a:r>
              <a:rPr sz="2000" kern="1200" spc="-30" dirty="0">
                <a:solidFill>
                  <a:prstClr val="black"/>
                </a:solidFill>
                <a:latin typeface="Palatino Linotype"/>
                <a:cs typeface="Palatino Linotype"/>
              </a:rPr>
              <a:t> </a:t>
            </a:r>
            <a:r>
              <a:rPr sz="2000" kern="1200" dirty="0">
                <a:solidFill>
                  <a:prstClr val="black"/>
                </a:solidFill>
                <a:latin typeface="Palatino Linotype"/>
                <a:cs typeface="Palatino Linotype"/>
              </a:rPr>
              <a:t>machine  instructions</a:t>
            </a:r>
            <a:endParaRPr sz="2000" kern="1200">
              <a:solidFill>
                <a:prstClr val="black"/>
              </a:solidFill>
              <a:latin typeface="Palatino Linotype"/>
              <a:cs typeface="Palatino Linotype"/>
            </a:endParaRPr>
          </a:p>
        </p:txBody>
      </p:sp>
      <p:sp>
        <p:nvSpPr>
          <p:cNvPr id="15" name="object 5">
            <a:extLst>
              <a:ext uri="{FF2B5EF4-FFF2-40B4-BE49-F238E27FC236}">
                <a16:creationId xmlns:a16="http://schemas.microsoft.com/office/drawing/2014/main" id="{A1449936-2B1E-FCAE-6DE7-C290543E4D56}"/>
              </a:ext>
            </a:extLst>
          </p:cNvPr>
          <p:cNvSpPr txBox="1"/>
          <p:nvPr/>
        </p:nvSpPr>
        <p:spPr>
          <a:xfrm>
            <a:off x="3440684" y="3276262"/>
            <a:ext cx="4587875" cy="878840"/>
          </a:xfrm>
          <a:prstGeom prst="rect">
            <a:avLst/>
          </a:prstGeom>
        </p:spPr>
        <p:txBody>
          <a:bodyPr vert="horz" wrap="square" lIns="0" tIns="133985" rIns="0" bIns="0" rtlCol="0">
            <a:spAutoFit/>
          </a:bodyPr>
          <a:lstStyle/>
          <a:p>
            <a:pPr marL="242570" indent="-230504" rtl="0">
              <a:spcBef>
                <a:spcPts val="1055"/>
              </a:spcBef>
              <a:buClr>
                <a:srgbClr val="000000"/>
              </a:buClr>
              <a:buFont typeface="Arial"/>
              <a:buChar char="•"/>
              <a:tabLst>
                <a:tab pos="242570" algn="l"/>
                <a:tab pos="243204" algn="l"/>
              </a:tabLst>
            </a:pPr>
            <a:r>
              <a:rPr sz="2000" kern="1200" dirty="0">
                <a:solidFill>
                  <a:srgbClr val="002CEA"/>
                </a:solidFill>
                <a:latin typeface="Palatino Linotype"/>
                <a:cs typeface="Palatino Linotype"/>
              </a:rPr>
              <a:t>Macro instructions </a:t>
            </a:r>
            <a:r>
              <a:rPr sz="2000" kern="1200" dirty="0">
                <a:solidFill>
                  <a:prstClr val="black"/>
                </a:solidFill>
                <a:latin typeface="Palatino Linotype"/>
                <a:cs typeface="Palatino Linotype"/>
              </a:rPr>
              <a:t>for </a:t>
            </a:r>
            <a:r>
              <a:rPr sz="2000" kern="1200" spc="-5" dirty="0">
                <a:solidFill>
                  <a:prstClr val="black"/>
                </a:solidFill>
                <a:latin typeface="Palatino Linotype"/>
                <a:cs typeface="Palatino Linotype"/>
              </a:rPr>
              <a:t>frequently</a:t>
            </a:r>
            <a:r>
              <a:rPr sz="2000" kern="1200" spc="-105" dirty="0">
                <a:solidFill>
                  <a:prstClr val="black"/>
                </a:solidFill>
                <a:latin typeface="Palatino Linotype"/>
                <a:cs typeface="Palatino Linotype"/>
              </a:rPr>
              <a:t> </a:t>
            </a:r>
            <a:r>
              <a:rPr sz="2000" kern="1200" spc="-5" dirty="0">
                <a:solidFill>
                  <a:prstClr val="black"/>
                </a:solidFill>
                <a:latin typeface="Palatino Linotype"/>
                <a:cs typeface="Palatino Linotype"/>
              </a:rPr>
              <a:t>used</a:t>
            </a:r>
            <a:endParaRPr sz="2000" kern="1200">
              <a:solidFill>
                <a:prstClr val="black"/>
              </a:solidFill>
              <a:latin typeface="Palatino Linotype"/>
              <a:cs typeface="Palatino Linotype"/>
            </a:endParaRPr>
          </a:p>
          <a:p>
            <a:pPr marL="242570" rtl="0">
              <a:spcBef>
                <a:spcPts val="960"/>
              </a:spcBef>
            </a:pPr>
            <a:r>
              <a:rPr sz="2000" kern="1200" dirty="0">
                <a:solidFill>
                  <a:prstClr val="black"/>
                </a:solidFill>
                <a:latin typeface="Palatino Linotype"/>
                <a:cs typeface="Palatino Linotype"/>
              </a:rPr>
              <a:t>sequences of machine</a:t>
            </a:r>
            <a:r>
              <a:rPr sz="2000" kern="1200" spc="-65" dirty="0">
                <a:solidFill>
                  <a:prstClr val="black"/>
                </a:solidFill>
                <a:latin typeface="Palatino Linotype"/>
                <a:cs typeface="Palatino Linotype"/>
              </a:rPr>
              <a:t> </a:t>
            </a:r>
            <a:r>
              <a:rPr sz="2000" kern="1200" dirty="0">
                <a:solidFill>
                  <a:prstClr val="black"/>
                </a:solidFill>
                <a:latin typeface="Palatino Linotype"/>
                <a:cs typeface="Palatino Linotype"/>
              </a:rPr>
              <a:t>instructions</a:t>
            </a:r>
            <a:endParaRPr sz="2000" kern="1200">
              <a:solidFill>
                <a:prstClr val="black"/>
              </a:solidFill>
              <a:latin typeface="Palatino Linotype"/>
              <a:cs typeface="Palatino Linotype"/>
            </a:endParaRPr>
          </a:p>
        </p:txBody>
      </p:sp>
      <p:sp>
        <p:nvSpPr>
          <p:cNvPr id="16" name="object 6">
            <a:extLst>
              <a:ext uri="{FF2B5EF4-FFF2-40B4-BE49-F238E27FC236}">
                <a16:creationId xmlns:a16="http://schemas.microsoft.com/office/drawing/2014/main" id="{80AE369A-4EA2-0E58-A180-8AED37F85C1A}"/>
              </a:ext>
            </a:extLst>
          </p:cNvPr>
          <p:cNvSpPr txBox="1"/>
          <p:nvPr/>
        </p:nvSpPr>
        <p:spPr>
          <a:xfrm>
            <a:off x="3440684" y="4281906"/>
            <a:ext cx="4001135" cy="878840"/>
          </a:xfrm>
          <a:prstGeom prst="rect">
            <a:avLst/>
          </a:prstGeom>
        </p:spPr>
        <p:txBody>
          <a:bodyPr vert="horz" wrap="square" lIns="0" tIns="12700" rIns="0" bIns="0" rtlCol="0">
            <a:spAutoFit/>
          </a:bodyPr>
          <a:lstStyle/>
          <a:p>
            <a:pPr marL="242570" marR="5080" indent="-230504" rtl="0">
              <a:lnSpc>
                <a:spcPct val="140000"/>
              </a:lnSpc>
              <a:spcBef>
                <a:spcPts val="100"/>
              </a:spcBef>
              <a:buFont typeface="Arial"/>
              <a:buChar char="•"/>
              <a:tabLst>
                <a:tab pos="242570" algn="l"/>
                <a:tab pos="243204" algn="l"/>
              </a:tabLst>
            </a:pPr>
            <a:r>
              <a:rPr sz="2000" kern="1200" dirty="0">
                <a:solidFill>
                  <a:prstClr val="black"/>
                </a:solidFill>
                <a:latin typeface="Palatino Linotype"/>
                <a:cs typeface="Palatino Linotype"/>
              </a:rPr>
              <a:t>Explicit manipulation of</a:t>
            </a:r>
            <a:r>
              <a:rPr sz="2000" kern="1200" spc="-110" dirty="0">
                <a:solidFill>
                  <a:prstClr val="black"/>
                </a:solidFill>
                <a:latin typeface="Palatino Linotype"/>
                <a:cs typeface="Palatino Linotype"/>
              </a:rPr>
              <a:t> </a:t>
            </a:r>
            <a:r>
              <a:rPr sz="2000" kern="1200" dirty="0">
                <a:solidFill>
                  <a:prstClr val="black"/>
                </a:solidFill>
                <a:latin typeface="Palatino Linotype"/>
                <a:cs typeface="Palatino Linotype"/>
              </a:rPr>
              <a:t>memory  addresses and</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content</a:t>
            </a:r>
            <a:endParaRPr sz="2000" kern="1200">
              <a:solidFill>
                <a:prstClr val="black"/>
              </a:solidFill>
              <a:latin typeface="Palatino Linotype"/>
              <a:cs typeface="Palatino Linotype"/>
            </a:endParaRPr>
          </a:p>
        </p:txBody>
      </p:sp>
      <p:sp>
        <p:nvSpPr>
          <p:cNvPr id="17" name="object 7">
            <a:extLst>
              <a:ext uri="{FF2B5EF4-FFF2-40B4-BE49-F238E27FC236}">
                <a16:creationId xmlns:a16="http://schemas.microsoft.com/office/drawing/2014/main" id="{3D338821-C63C-5965-9C06-B3CE130D8A1A}"/>
              </a:ext>
            </a:extLst>
          </p:cNvPr>
          <p:cNvSpPr txBox="1"/>
          <p:nvPr/>
        </p:nvSpPr>
        <p:spPr>
          <a:xfrm>
            <a:off x="3440684" y="5409387"/>
            <a:ext cx="4584700" cy="330835"/>
          </a:xfrm>
          <a:prstGeom prst="rect">
            <a:avLst/>
          </a:prstGeom>
        </p:spPr>
        <p:txBody>
          <a:bodyPr vert="horz" wrap="square" lIns="0" tIns="12700" rIns="0" bIns="0" rtlCol="0">
            <a:spAutoFit/>
          </a:bodyPr>
          <a:lstStyle/>
          <a:p>
            <a:pPr marL="242570" indent="-230504" rtl="0">
              <a:spcBef>
                <a:spcPts val="100"/>
              </a:spcBef>
              <a:buFont typeface="Arial"/>
              <a:buChar char="•"/>
              <a:tabLst>
                <a:tab pos="242570" algn="l"/>
                <a:tab pos="243204" algn="l"/>
              </a:tabLst>
            </a:pPr>
            <a:r>
              <a:rPr sz="2000" kern="1200" dirty="0">
                <a:solidFill>
                  <a:prstClr val="black"/>
                </a:solidFill>
                <a:latin typeface="Palatino Linotype"/>
                <a:cs typeface="Palatino Linotype"/>
              </a:rPr>
              <a:t>Still </a:t>
            </a:r>
            <a:r>
              <a:rPr sz="2000" kern="1200" spc="-5" dirty="0">
                <a:solidFill>
                  <a:srgbClr val="FF0000"/>
                </a:solidFill>
                <a:latin typeface="Palatino Linotype"/>
                <a:cs typeface="Palatino Linotype"/>
              </a:rPr>
              <a:t>low-level </a:t>
            </a:r>
            <a:r>
              <a:rPr sz="2000" kern="1200" dirty="0">
                <a:solidFill>
                  <a:prstClr val="black"/>
                </a:solidFill>
                <a:latin typeface="Palatino Linotype"/>
                <a:cs typeface="Palatino Linotype"/>
              </a:rPr>
              <a:t>and </a:t>
            </a:r>
            <a:r>
              <a:rPr sz="2000" kern="1200" dirty="0">
                <a:solidFill>
                  <a:srgbClr val="FF0000"/>
                </a:solidFill>
                <a:latin typeface="Palatino Linotype"/>
                <a:cs typeface="Palatino Linotype"/>
              </a:rPr>
              <a:t>machine</a:t>
            </a:r>
            <a:r>
              <a:rPr sz="2000" kern="1200" spc="-70" dirty="0">
                <a:solidFill>
                  <a:srgbClr val="FF0000"/>
                </a:solidFill>
                <a:latin typeface="Palatino Linotype"/>
                <a:cs typeface="Palatino Linotype"/>
              </a:rPr>
              <a:t> </a:t>
            </a:r>
            <a:r>
              <a:rPr sz="2000" kern="1200" dirty="0">
                <a:solidFill>
                  <a:srgbClr val="FF0000"/>
                </a:solidFill>
                <a:latin typeface="Palatino Linotype"/>
                <a:cs typeface="Palatino Linotype"/>
              </a:rPr>
              <a:t>dependent</a:t>
            </a:r>
            <a:endParaRPr sz="2000" kern="1200">
              <a:solidFill>
                <a:prstClr val="black"/>
              </a:solidFill>
              <a:latin typeface="Palatino Linotype"/>
              <a:cs typeface="Palatino Linotype"/>
            </a:endParaRPr>
          </a:p>
        </p:txBody>
      </p:sp>
      <p:sp>
        <p:nvSpPr>
          <p:cNvPr id="18" name="object 8">
            <a:extLst>
              <a:ext uri="{FF2B5EF4-FFF2-40B4-BE49-F238E27FC236}">
                <a16:creationId xmlns:a16="http://schemas.microsoft.com/office/drawing/2014/main" id="{64BE3079-8B29-A899-FDE0-8A08FC2B2C70}"/>
              </a:ext>
            </a:extLst>
          </p:cNvPr>
          <p:cNvSpPr txBox="1"/>
          <p:nvPr/>
        </p:nvSpPr>
        <p:spPr>
          <a:xfrm>
            <a:off x="629412" y="1825751"/>
            <a:ext cx="2659380" cy="4044950"/>
          </a:xfrm>
          <a:prstGeom prst="rect">
            <a:avLst/>
          </a:prstGeom>
          <a:solidFill>
            <a:srgbClr val="000000"/>
          </a:solidFill>
        </p:spPr>
        <p:txBody>
          <a:bodyPr vert="horz" wrap="square" lIns="0" tIns="18415" rIns="0" bIns="0" rtlCol="0">
            <a:spAutoFit/>
          </a:bodyPr>
          <a:lstStyle/>
          <a:p>
            <a:pPr marL="200025" algn="just" rtl="0">
              <a:spcBef>
                <a:spcPts val="145"/>
              </a:spcBef>
            </a:pPr>
            <a:r>
              <a:rPr kern="1200" spc="-10" dirty="0">
                <a:solidFill>
                  <a:srgbClr val="FFFFFF"/>
                </a:solidFill>
                <a:latin typeface="Courier New"/>
                <a:cs typeface="Courier New"/>
              </a:rPr>
              <a:t>save</a:t>
            </a:r>
            <a:r>
              <a:rPr kern="1200" spc="-50" dirty="0">
                <a:solidFill>
                  <a:srgbClr val="FFFFFF"/>
                </a:solidFill>
                <a:latin typeface="Courier New"/>
                <a:cs typeface="Courier New"/>
              </a:rPr>
              <a:t> </a:t>
            </a:r>
            <a:r>
              <a:rPr kern="1200" spc="-10" dirty="0">
                <a:solidFill>
                  <a:srgbClr val="FFFFFF"/>
                </a:solidFill>
                <a:latin typeface="Courier New"/>
                <a:cs typeface="Courier New"/>
              </a:rPr>
              <a:t>%sp,-128,%sp</a:t>
            </a:r>
            <a:endParaRPr kern="1200">
              <a:solidFill>
                <a:prstClr val="black"/>
              </a:solidFill>
              <a:latin typeface="Courier New"/>
              <a:cs typeface="Courier New"/>
            </a:endParaRPr>
          </a:p>
          <a:p>
            <a:pPr marL="200025" algn="just" rtl="0">
              <a:spcBef>
                <a:spcPts val="605"/>
              </a:spcBef>
            </a:pPr>
            <a:r>
              <a:rPr kern="1200" spc="-5" dirty="0">
                <a:solidFill>
                  <a:srgbClr val="FFFFFF"/>
                </a:solidFill>
                <a:latin typeface="Courier New"/>
                <a:cs typeface="Courier New"/>
              </a:rPr>
              <a:t>mov</a:t>
            </a:r>
            <a:r>
              <a:rPr kern="1200" spc="-100" dirty="0">
                <a:solidFill>
                  <a:srgbClr val="FFFFFF"/>
                </a:solidFill>
                <a:latin typeface="Courier New"/>
                <a:cs typeface="Courier New"/>
              </a:rPr>
              <a:t> </a:t>
            </a:r>
            <a:r>
              <a:rPr kern="1200" spc="-10" dirty="0">
                <a:solidFill>
                  <a:srgbClr val="FFFFFF"/>
                </a:solidFill>
                <a:latin typeface="Courier New"/>
                <a:cs typeface="Courier New"/>
              </a:rPr>
              <a:t>1,%o0</a:t>
            </a:r>
            <a:endParaRPr kern="1200">
              <a:solidFill>
                <a:prstClr val="black"/>
              </a:solidFill>
              <a:latin typeface="Courier New"/>
              <a:cs typeface="Courier New"/>
            </a:endParaRPr>
          </a:p>
          <a:p>
            <a:pPr marL="200025" marR="402590" algn="just" rtl="0">
              <a:lnSpc>
                <a:spcPct val="127800"/>
              </a:lnSpc>
            </a:pPr>
            <a:r>
              <a:rPr kern="1200" spc="-5" dirty="0">
                <a:solidFill>
                  <a:srgbClr val="FFFFFF"/>
                </a:solidFill>
                <a:latin typeface="Courier New"/>
                <a:cs typeface="Courier New"/>
              </a:rPr>
              <a:t>st</a:t>
            </a:r>
            <a:r>
              <a:rPr kern="1200" spc="-90" dirty="0">
                <a:solidFill>
                  <a:srgbClr val="FFFFFF"/>
                </a:solidFill>
                <a:latin typeface="Courier New"/>
                <a:cs typeface="Courier New"/>
              </a:rPr>
              <a:t> </a:t>
            </a:r>
            <a:r>
              <a:rPr kern="1200" spc="-10" dirty="0">
                <a:solidFill>
                  <a:srgbClr val="FFFFFF"/>
                </a:solidFill>
                <a:latin typeface="Courier New"/>
                <a:cs typeface="Courier New"/>
              </a:rPr>
              <a:t>%o0,[%fp-20]  </a:t>
            </a:r>
            <a:r>
              <a:rPr kern="1200" spc="-5" dirty="0">
                <a:solidFill>
                  <a:srgbClr val="FFFFFF"/>
                </a:solidFill>
                <a:latin typeface="Courier New"/>
                <a:cs typeface="Courier New"/>
              </a:rPr>
              <a:t>mov</a:t>
            </a:r>
            <a:r>
              <a:rPr kern="1200" spc="-30" dirty="0">
                <a:solidFill>
                  <a:srgbClr val="FFFFFF"/>
                </a:solidFill>
                <a:latin typeface="Courier New"/>
                <a:cs typeface="Courier New"/>
              </a:rPr>
              <a:t> </a:t>
            </a:r>
            <a:r>
              <a:rPr kern="1200" spc="-10" dirty="0">
                <a:solidFill>
                  <a:srgbClr val="FFFFFF"/>
                </a:solidFill>
                <a:latin typeface="Courier New"/>
                <a:cs typeface="Courier New"/>
              </a:rPr>
              <a:t>2,%o0</a:t>
            </a:r>
            <a:endParaRPr kern="1200">
              <a:solidFill>
                <a:prstClr val="black"/>
              </a:solidFill>
              <a:latin typeface="Courier New"/>
              <a:cs typeface="Courier New"/>
            </a:endParaRPr>
          </a:p>
          <a:p>
            <a:pPr marL="200025" marR="401955" algn="just" rtl="0">
              <a:lnSpc>
                <a:spcPct val="127800"/>
              </a:lnSpc>
            </a:pPr>
            <a:r>
              <a:rPr kern="1200" spc="-5" dirty="0">
                <a:solidFill>
                  <a:srgbClr val="FFFFFF"/>
                </a:solidFill>
                <a:latin typeface="Courier New"/>
                <a:cs typeface="Courier New"/>
              </a:rPr>
              <a:t>st</a:t>
            </a:r>
            <a:r>
              <a:rPr kern="1200" spc="-80" dirty="0">
                <a:solidFill>
                  <a:srgbClr val="FFFFFF"/>
                </a:solidFill>
                <a:latin typeface="Courier New"/>
                <a:cs typeface="Courier New"/>
              </a:rPr>
              <a:t> </a:t>
            </a:r>
            <a:r>
              <a:rPr kern="1200" spc="-10" dirty="0">
                <a:solidFill>
                  <a:srgbClr val="FFFFFF"/>
                </a:solidFill>
                <a:latin typeface="Courier New"/>
                <a:cs typeface="Courier New"/>
              </a:rPr>
              <a:t>%o0,[%fp-24]  </a:t>
            </a:r>
            <a:r>
              <a:rPr kern="1200" spc="-5" dirty="0">
                <a:solidFill>
                  <a:srgbClr val="FFFFFF"/>
                </a:solidFill>
                <a:latin typeface="Courier New"/>
                <a:cs typeface="Courier New"/>
              </a:rPr>
              <a:t>ld</a:t>
            </a:r>
            <a:r>
              <a:rPr kern="1200" spc="-85" dirty="0">
                <a:solidFill>
                  <a:srgbClr val="FFFFFF"/>
                </a:solidFill>
                <a:latin typeface="Courier New"/>
                <a:cs typeface="Courier New"/>
              </a:rPr>
              <a:t> </a:t>
            </a:r>
            <a:r>
              <a:rPr kern="1200" spc="-10" dirty="0">
                <a:solidFill>
                  <a:srgbClr val="FFFFFF"/>
                </a:solidFill>
                <a:latin typeface="Courier New"/>
                <a:cs typeface="Courier New"/>
              </a:rPr>
              <a:t>[%fp-20],%o0  </a:t>
            </a:r>
            <a:r>
              <a:rPr kern="1200" spc="-5" dirty="0">
                <a:solidFill>
                  <a:srgbClr val="FFFFFF"/>
                </a:solidFill>
                <a:latin typeface="Courier New"/>
                <a:cs typeface="Courier New"/>
              </a:rPr>
              <a:t>ld</a:t>
            </a:r>
            <a:r>
              <a:rPr kern="1200" spc="-85" dirty="0">
                <a:solidFill>
                  <a:srgbClr val="FFFFFF"/>
                </a:solidFill>
                <a:latin typeface="Courier New"/>
                <a:cs typeface="Courier New"/>
              </a:rPr>
              <a:t> </a:t>
            </a:r>
            <a:r>
              <a:rPr kern="1200" spc="-10" dirty="0">
                <a:solidFill>
                  <a:srgbClr val="FFFFFF"/>
                </a:solidFill>
                <a:latin typeface="Courier New"/>
                <a:cs typeface="Courier New"/>
              </a:rPr>
              <a:t>[%fp-24],%o1  </a:t>
            </a:r>
            <a:r>
              <a:rPr kern="1200" spc="-5" dirty="0">
                <a:solidFill>
                  <a:srgbClr val="FFFFFF"/>
                </a:solidFill>
                <a:latin typeface="Courier New"/>
                <a:cs typeface="Courier New"/>
              </a:rPr>
              <a:t>add</a:t>
            </a:r>
            <a:r>
              <a:rPr kern="1200" spc="-95" dirty="0">
                <a:solidFill>
                  <a:srgbClr val="FFFFFF"/>
                </a:solidFill>
                <a:latin typeface="Courier New"/>
                <a:cs typeface="Courier New"/>
              </a:rPr>
              <a:t> </a:t>
            </a:r>
            <a:r>
              <a:rPr kern="1200" spc="-10" dirty="0">
                <a:solidFill>
                  <a:srgbClr val="FFFFFF"/>
                </a:solidFill>
                <a:latin typeface="Courier New"/>
                <a:cs typeface="Courier New"/>
              </a:rPr>
              <a:t>%o0,%o1,%o0  </a:t>
            </a:r>
            <a:r>
              <a:rPr kern="1200" spc="-5" dirty="0">
                <a:solidFill>
                  <a:srgbClr val="FFFFFF"/>
                </a:solidFill>
                <a:latin typeface="Courier New"/>
                <a:cs typeface="Courier New"/>
              </a:rPr>
              <a:t>st</a:t>
            </a:r>
            <a:r>
              <a:rPr kern="1200" spc="-90" dirty="0">
                <a:solidFill>
                  <a:srgbClr val="FFFFFF"/>
                </a:solidFill>
                <a:latin typeface="Courier New"/>
                <a:cs typeface="Courier New"/>
              </a:rPr>
              <a:t> </a:t>
            </a:r>
            <a:r>
              <a:rPr kern="1200" spc="-10" dirty="0">
                <a:solidFill>
                  <a:srgbClr val="FFFFFF"/>
                </a:solidFill>
                <a:latin typeface="Courier New"/>
                <a:cs typeface="Courier New"/>
              </a:rPr>
              <a:t>%o0,[%fp-28]  </a:t>
            </a:r>
            <a:r>
              <a:rPr kern="1200" spc="-5" dirty="0">
                <a:solidFill>
                  <a:srgbClr val="FFFFFF"/>
                </a:solidFill>
                <a:latin typeface="Courier New"/>
                <a:cs typeface="Courier New"/>
              </a:rPr>
              <a:t>mov</a:t>
            </a:r>
            <a:r>
              <a:rPr kern="1200" spc="-30" dirty="0">
                <a:solidFill>
                  <a:srgbClr val="FFFFFF"/>
                </a:solidFill>
                <a:latin typeface="Courier New"/>
                <a:cs typeface="Courier New"/>
              </a:rPr>
              <a:t> </a:t>
            </a:r>
            <a:r>
              <a:rPr kern="1200" spc="-10" dirty="0">
                <a:solidFill>
                  <a:srgbClr val="FFFFFF"/>
                </a:solidFill>
                <a:latin typeface="Courier New"/>
                <a:cs typeface="Courier New"/>
              </a:rPr>
              <a:t>0,%i0</a:t>
            </a:r>
            <a:endParaRPr kern="1200">
              <a:solidFill>
                <a:prstClr val="black"/>
              </a:solidFill>
              <a:latin typeface="Courier New"/>
              <a:cs typeface="Courier New"/>
            </a:endParaRPr>
          </a:p>
          <a:p>
            <a:pPr marL="200025" rtl="0">
              <a:spcBef>
                <a:spcPts val="595"/>
              </a:spcBef>
            </a:pPr>
            <a:r>
              <a:rPr kern="1200" spc="-5" dirty="0">
                <a:solidFill>
                  <a:srgbClr val="FFFFFF"/>
                </a:solidFill>
                <a:latin typeface="Courier New"/>
                <a:cs typeface="Courier New"/>
              </a:rPr>
              <a:t>nop</a:t>
            </a:r>
            <a:endParaRPr kern="1200">
              <a:solidFill>
                <a:prstClr val="black"/>
              </a:solidFill>
              <a:latin typeface="Courier New"/>
              <a:cs typeface="Courier New"/>
            </a:endParaRPr>
          </a:p>
        </p:txBody>
      </p:sp>
      <p:sp>
        <p:nvSpPr>
          <p:cNvPr id="2" name="灯片编号占位符 1">
            <a:extLst>
              <a:ext uri="{FF2B5EF4-FFF2-40B4-BE49-F238E27FC236}">
                <a16:creationId xmlns:a16="http://schemas.microsoft.com/office/drawing/2014/main" id="{E9BE8BCC-CE4F-3B85-F033-2C75D7C7B8BF}"/>
              </a:ext>
            </a:extLst>
          </p:cNvPr>
          <p:cNvSpPr>
            <a:spLocks noGrp="1"/>
          </p:cNvSpPr>
          <p:nvPr>
            <p:ph type="sldNum" sz="quarter" idx="12"/>
          </p:nvPr>
        </p:nvSpPr>
        <p:spPr/>
        <p:txBody>
          <a:bodyPr/>
          <a:lstStyle/>
          <a:p>
            <a:pPr>
              <a:defRPr/>
            </a:pPr>
            <a:fld id="{2FBC720A-3716-234A-B2DF-CBC7E48049F5}" type="slidenum">
              <a:rPr lang="en-US" altLang="zh-CN" smtClean="0"/>
              <a:t>13</a:t>
            </a:fld>
            <a:endParaRPr lang="en-US" altLang="zh-CN"/>
          </a:p>
        </p:txBody>
      </p:sp>
    </p:spTree>
    <p:extLst>
      <p:ext uri="{BB962C8B-B14F-4D97-AF65-F5344CB8AC3E}">
        <p14:creationId xmlns:p14="http://schemas.microsoft.com/office/powerpoint/2010/main" val="1652645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9FE4B33B-1E77-9292-60E7-C589B5352269}"/>
              </a:ext>
            </a:extLst>
          </p:cNvPr>
          <p:cNvSpPr txBox="1">
            <a:spLocks/>
          </p:cNvSpPr>
          <p:nvPr/>
        </p:nvSpPr>
        <p:spPr>
          <a:xfrm>
            <a:off x="707542" y="556717"/>
            <a:ext cx="7489825" cy="574675"/>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The </a:t>
            </a:r>
            <a:r>
              <a:rPr kumimoji="0" lang="en-US" sz="3600" b="1" i="0" u="none" strike="noStrike" kern="0" cap="none" spc="-5" normalizeH="0" baseline="0" noProof="0">
                <a:ln>
                  <a:noFill/>
                </a:ln>
                <a:solidFill>
                  <a:sysClr val="windowText" lastClr="000000"/>
                </a:solidFill>
                <a:effectLst/>
                <a:uLnTx/>
                <a:uFillTx/>
                <a:latin typeface="Palatino Linotype"/>
                <a:ea typeface="+mj-ea"/>
              </a:rPr>
              <a:t>Move to High-Level</a:t>
            </a:r>
            <a:r>
              <a:rPr kumimoji="0" lang="en-US" sz="3600" b="1" i="0" u="none" strike="noStrike" kern="0" cap="none" spc="5"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Languages</a:t>
            </a:r>
            <a:endParaRPr kumimoji="0" lang="en-US" sz="3600" b="1" i="0" u="none" strike="noStrike" kern="0" cap="none" spc="0" normalizeH="0" baseline="0" noProof="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39C042D-CA60-1434-3FF3-1684B160BD00}"/>
              </a:ext>
            </a:extLst>
          </p:cNvPr>
          <p:cNvSpPr txBox="1"/>
          <p:nvPr/>
        </p:nvSpPr>
        <p:spPr>
          <a:xfrm>
            <a:off x="707542" y="1467133"/>
            <a:ext cx="7289165" cy="4407535"/>
          </a:xfrm>
          <a:prstGeom prst="rect">
            <a:avLst/>
          </a:prstGeom>
        </p:spPr>
        <p:txBody>
          <a:bodyPr vert="horz" wrap="square" lIns="0" tIns="185420" rIns="0" bIns="0" rtlCol="0">
            <a:spAutoFit/>
          </a:bodyPr>
          <a:lstStyle/>
          <a:p>
            <a:pPr marL="242570" indent="-230504" rtl="0">
              <a:spcBef>
                <a:spcPts val="1460"/>
              </a:spcBef>
              <a:buFont typeface="Arial"/>
              <a:buChar char="•"/>
              <a:tabLst>
                <a:tab pos="243204" algn="l"/>
              </a:tabLst>
            </a:pPr>
            <a:r>
              <a:rPr sz="2400" kern="1200" spc="-10" dirty="0">
                <a:solidFill>
                  <a:prstClr val="black"/>
                </a:solidFill>
                <a:latin typeface="Palatino Linotype"/>
                <a:cs typeface="Palatino Linotype"/>
              </a:rPr>
              <a:t>Disadvantages </a:t>
            </a:r>
            <a:r>
              <a:rPr sz="2400" kern="1200" dirty="0">
                <a:solidFill>
                  <a:prstClr val="black"/>
                </a:solidFill>
                <a:latin typeface="Palatino Linotype"/>
                <a:cs typeface="Palatino Linotype"/>
              </a:rPr>
              <a:t>of </a:t>
            </a:r>
            <a:r>
              <a:rPr sz="2400" kern="1200" spc="-5" dirty="0">
                <a:solidFill>
                  <a:prstClr val="black"/>
                </a:solidFill>
                <a:latin typeface="Palatino Linotype"/>
                <a:cs typeface="Palatino Linotype"/>
              </a:rPr>
              <a:t>assembly language</a:t>
            </a:r>
            <a:endParaRPr sz="2400" kern="1200">
              <a:solidFill>
                <a:prstClr val="black"/>
              </a:solidFill>
              <a:latin typeface="Palatino Linotype"/>
              <a:cs typeface="Palatino Linotype"/>
            </a:endParaRPr>
          </a:p>
          <a:p>
            <a:pPr marL="697865" lvl="1" indent="-228600" rtl="0">
              <a:spcBef>
                <a:spcPts val="1145"/>
              </a:spcBef>
              <a:buFont typeface="Wingdings"/>
              <a:buChar char=""/>
              <a:tabLst>
                <a:tab pos="698500" algn="l"/>
              </a:tabLst>
            </a:pPr>
            <a:r>
              <a:rPr sz="2000" kern="1200" dirty="0">
                <a:solidFill>
                  <a:prstClr val="black"/>
                </a:solidFill>
                <a:latin typeface="Palatino Linotype"/>
                <a:cs typeface="Palatino Linotype"/>
              </a:rPr>
              <a:t>Programming </a:t>
            </a:r>
            <a:r>
              <a:rPr sz="2000" kern="1200" spc="-5" dirty="0">
                <a:solidFill>
                  <a:prstClr val="black"/>
                </a:solidFill>
                <a:latin typeface="Palatino Linotype"/>
                <a:cs typeface="Palatino Linotype"/>
              </a:rPr>
              <a:t>is </a:t>
            </a:r>
            <a:r>
              <a:rPr sz="2000" kern="1200" dirty="0">
                <a:solidFill>
                  <a:srgbClr val="FF0000"/>
                </a:solidFill>
                <a:latin typeface="Palatino Linotype"/>
                <a:cs typeface="Palatino Linotype"/>
              </a:rPr>
              <a:t>tedious </a:t>
            </a:r>
            <a:r>
              <a:rPr sz="2000" kern="1200" dirty="0">
                <a:solidFill>
                  <a:prstClr val="black"/>
                </a:solidFill>
                <a:latin typeface="Palatino Linotype"/>
                <a:cs typeface="Palatino Linotype"/>
              </a:rPr>
              <a:t>and</a:t>
            </a:r>
            <a:r>
              <a:rPr sz="2000" kern="1200" spc="-55" dirty="0">
                <a:solidFill>
                  <a:prstClr val="black"/>
                </a:solidFill>
                <a:latin typeface="Palatino Linotype"/>
                <a:cs typeface="Palatino Linotype"/>
              </a:rPr>
              <a:t> </a:t>
            </a:r>
            <a:r>
              <a:rPr sz="2000" kern="1200" dirty="0">
                <a:solidFill>
                  <a:srgbClr val="FF0000"/>
                </a:solidFill>
                <a:latin typeface="Palatino Linotype"/>
                <a:cs typeface="Palatino Linotype"/>
              </a:rPr>
              <a:t>slow</a:t>
            </a:r>
            <a:endParaRPr sz="2000" kern="1200">
              <a:solidFill>
                <a:prstClr val="black"/>
              </a:solidFill>
              <a:latin typeface="Palatino Linotype"/>
              <a:cs typeface="Palatino Linotype"/>
            </a:endParaRPr>
          </a:p>
          <a:p>
            <a:pPr marL="697865" lvl="1" indent="-228600" rtl="0">
              <a:spcBef>
                <a:spcPts val="1080"/>
              </a:spcBef>
              <a:buFont typeface="Wingdings"/>
              <a:buChar char=""/>
              <a:tabLst>
                <a:tab pos="698500" algn="l"/>
              </a:tabLst>
            </a:pPr>
            <a:r>
              <a:rPr sz="2000" kern="1200" dirty="0">
                <a:solidFill>
                  <a:prstClr val="black"/>
                </a:solidFill>
                <a:latin typeface="Palatino Linotype"/>
                <a:cs typeface="Palatino Linotype"/>
              </a:rPr>
              <a:t>Programs are </a:t>
            </a:r>
            <a:r>
              <a:rPr sz="2000" kern="1200" spc="-5" dirty="0">
                <a:solidFill>
                  <a:srgbClr val="FF0000"/>
                </a:solidFill>
                <a:latin typeface="Palatino Linotype"/>
                <a:cs typeface="Palatino Linotype"/>
              </a:rPr>
              <a:t>not understandable </a:t>
            </a:r>
            <a:r>
              <a:rPr sz="2000" kern="1200" spc="-5" dirty="0">
                <a:solidFill>
                  <a:prstClr val="black"/>
                </a:solidFill>
                <a:latin typeface="Palatino Linotype"/>
                <a:cs typeface="Palatino Linotype"/>
              </a:rPr>
              <a:t>by human</a:t>
            </a:r>
            <a:r>
              <a:rPr sz="2000" kern="1200" spc="-85" dirty="0">
                <a:solidFill>
                  <a:prstClr val="black"/>
                </a:solidFill>
                <a:latin typeface="Palatino Linotype"/>
                <a:cs typeface="Palatino Linotype"/>
              </a:rPr>
              <a:t> </a:t>
            </a:r>
            <a:r>
              <a:rPr sz="2000" kern="1200" spc="-5" dirty="0">
                <a:solidFill>
                  <a:prstClr val="black"/>
                </a:solidFill>
                <a:latin typeface="Palatino Linotype"/>
                <a:cs typeface="Palatino Linotype"/>
              </a:rPr>
              <a:t>beings</a:t>
            </a:r>
            <a:endParaRPr sz="2000" kern="1200">
              <a:solidFill>
                <a:prstClr val="black"/>
              </a:solidFill>
              <a:latin typeface="Palatino Linotype"/>
              <a:cs typeface="Palatino Linotype"/>
            </a:endParaRPr>
          </a:p>
          <a:p>
            <a:pPr marL="697865" lvl="1" indent="-228600" rtl="0">
              <a:spcBef>
                <a:spcPts val="1080"/>
              </a:spcBef>
              <a:buFont typeface="Wingdings"/>
              <a:buChar char=""/>
              <a:tabLst>
                <a:tab pos="698500" algn="l"/>
              </a:tabLst>
            </a:pPr>
            <a:r>
              <a:rPr sz="2000" kern="1200" dirty="0">
                <a:solidFill>
                  <a:prstClr val="black"/>
                </a:solidFill>
                <a:latin typeface="Palatino Linotype"/>
                <a:cs typeface="Palatino Linotype"/>
              </a:rPr>
              <a:t>Programs are </a:t>
            </a:r>
            <a:r>
              <a:rPr sz="2000" kern="1200" spc="-5" dirty="0">
                <a:solidFill>
                  <a:srgbClr val="FF0000"/>
                </a:solidFill>
                <a:latin typeface="Palatino Linotype"/>
                <a:cs typeface="Palatino Linotype"/>
              </a:rPr>
              <a:t>error-prone </a:t>
            </a:r>
            <a:r>
              <a:rPr sz="2000" kern="1200" dirty="0">
                <a:solidFill>
                  <a:prstClr val="black"/>
                </a:solidFill>
                <a:latin typeface="Palatino Linotype"/>
                <a:cs typeface="Palatino Linotype"/>
              </a:rPr>
              <a:t>and </a:t>
            </a:r>
            <a:r>
              <a:rPr sz="2000" kern="1200" spc="-5" dirty="0">
                <a:solidFill>
                  <a:srgbClr val="FF0000"/>
                </a:solidFill>
                <a:latin typeface="Palatino Linotype"/>
                <a:cs typeface="Palatino Linotype"/>
              </a:rPr>
              <a:t>hard </a:t>
            </a:r>
            <a:r>
              <a:rPr sz="2000" kern="1200" spc="-10" dirty="0">
                <a:solidFill>
                  <a:srgbClr val="FF0000"/>
                </a:solidFill>
                <a:latin typeface="Palatino Linotype"/>
                <a:cs typeface="Palatino Linotype"/>
              </a:rPr>
              <a:t>to</a:t>
            </a:r>
            <a:r>
              <a:rPr sz="2000" kern="1200" spc="-90" dirty="0">
                <a:solidFill>
                  <a:srgbClr val="FF0000"/>
                </a:solidFill>
                <a:latin typeface="Palatino Linotype"/>
                <a:cs typeface="Palatino Linotype"/>
              </a:rPr>
              <a:t> </a:t>
            </a:r>
            <a:r>
              <a:rPr sz="2000" kern="1200" dirty="0">
                <a:solidFill>
                  <a:srgbClr val="FF0000"/>
                </a:solidFill>
                <a:latin typeface="Palatino Linotype"/>
                <a:cs typeface="Palatino Linotype"/>
              </a:rPr>
              <a:t>debug</a:t>
            </a:r>
            <a:endParaRPr sz="2000" kern="1200">
              <a:solidFill>
                <a:prstClr val="black"/>
              </a:solidFill>
              <a:latin typeface="Palatino Linotype"/>
              <a:cs typeface="Palatino Linotype"/>
            </a:endParaRPr>
          </a:p>
          <a:p>
            <a:pPr lvl="1" rtl="0">
              <a:spcBef>
                <a:spcPts val="45"/>
              </a:spcBef>
              <a:buFontTx/>
              <a:buChar char=""/>
            </a:pPr>
            <a:endParaRPr sz="1700" kern="1200">
              <a:solidFill>
                <a:prstClr val="black"/>
              </a:solidFill>
              <a:latin typeface="Palatino Linotype"/>
              <a:cs typeface="Palatino Linotype"/>
            </a:endParaRPr>
          </a:p>
          <a:p>
            <a:pPr marL="242570" marR="5080" indent="-230504" rtl="0">
              <a:lnSpc>
                <a:spcPct val="120000"/>
              </a:lnSpc>
              <a:buFont typeface="Arial"/>
              <a:buChar char="•"/>
              <a:tabLst>
                <a:tab pos="243204" algn="l"/>
              </a:tabLst>
            </a:pPr>
            <a:r>
              <a:rPr sz="2400" kern="1200" spc="-10" dirty="0">
                <a:solidFill>
                  <a:prstClr val="black"/>
                </a:solidFill>
                <a:latin typeface="Palatino Linotype"/>
                <a:cs typeface="Palatino Linotype"/>
              </a:rPr>
              <a:t>High-level </a:t>
            </a:r>
            <a:r>
              <a:rPr sz="2400" kern="1200" spc="-5" dirty="0">
                <a:solidFill>
                  <a:prstClr val="black"/>
                </a:solidFill>
                <a:latin typeface="Palatino Linotype"/>
                <a:cs typeface="Palatino Linotype"/>
              </a:rPr>
              <a:t>programming </a:t>
            </a:r>
            <a:r>
              <a:rPr sz="2400" kern="1200" dirty="0">
                <a:solidFill>
                  <a:prstClr val="black"/>
                </a:solidFill>
                <a:latin typeface="Palatino Linotype"/>
                <a:cs typeface="Palatino Linotype"/>
              </a:rPr>
              <a:t>languages appeared </a:t>
            </a:r>
            <a:r>
              <a:rPr sz="2400" kern="1200" spc="-5" dirty="0">
                <a:solidFill>
                  <a:prstClr val="black"/>
                </a:solidFill>
                <a:latin typeface="Palatino Linotype"/>
                <a:cs typeface="Palatino Linotype"/>
              </a:rPr>
              <a:t>in the  </a:t>
            </a:r>
            <a:r>
              <a:rPr sz="2400" kern="1200" dirty="0">
                <a:solidFill>
                  <a:prstClr val="black"/>
                </a:solidFill>
                <a:latin typeface="Palatino Linotype"/>
                <a:cs typeface="Palatino Linotype"/>
              </a:rPr>
              <a:t>second </a:t>
            </a:r>
            <a:r>
              <a:rPr sz="2400" kern="1200" spc="-5" dirty="0">
                <a:solidFill>
                  <a:prstClr val="black"/>
                </a:solidFill>
                <a:latin typeface="Palatino Linotype"/>
                <a:cs typeface="Palatino Linotype"/>
              </a:rPr>
              <a:t>half </a:t>
            </a:r>
            <a:r>
              <a:rPr sz="2400" kern="1200" dirty="0">
                <a:solidFill>
                  <a:prstClr val="black"/>
                </a:solidFill>
                <a:latin typeface="Palatino Linotype"/>
                <a:cs typeface="Palatino Linotype"/>
              </a:rPr>
              <a:t>of </a:t>
            </a:r>
            <a:r>
              <a:rPr sz="2400" kern="1200" spc="-5" dirty="0">
                <a:solidFill>
                  <a:prstClr val="black"/>
                </a:solidFill>
                <a:latin typeface="Palatino Linotype"/>
                <a:cs typeface="Palatino Linotype"/>
              </a:rPr>
              <a:t>the</a:t>
            </a:r>
            <a:r>
              <a:rPr sz="2400" kern="1200" spc="15" dirty="0">
                <a:solidFill>
                  <a:prstClr val="black"/>
                </a:solidFill>
                <a:latin typeface="Palatino Linotype"/>
                <a:cs typeface="Palatino Linotype"/>
              </a:rPr>
              <a:t> </a:t>
            </a:r>
            <a:r>
              <a:rPr sz="2400" kern="1200" dirty="0">
                <a:solidFill>
                  <a:prstClr val="black"/>
                </a:solidFill>
                <a:latin typeface="Palatino Linotype"/>
                <a:cs typeface="Palatino Linotype"/>
              </a:rPr>
              <a:t>1950s</a:t>
            </a:r>
            <a:endParaRPr sz="2400" kern="1200">
              <a:solidFill>
                <a:prstClr val="black"/>
              </a:solidFill>
              <a:latin typeface="Palatino Linotype"/>
              <a:cs typeface="Palatino Linotype"/>
            </a:endParaRPr>
          </a:p>
          <a:p>
            <a:pPr marL="697865" lvl="1" indent="-228600" rtl="0">
              <a:spcBef>
                <a:spcPts val="1145"/>
              </a:spcBef>
              <a:buFont typeface="Wingdings"/>
              <a:buChar char=""/>
              <a:tabLst>
                <a:tab pos="698500" algn="l"/>
              </a:tabLst>
            </a:pPr>
            <a:r>
              <a:rPr sz="2000" kern="1200" spc="-5" dirty="0">
                <a:solidFill>
                  <a:srgbClr val="FF0000"/>
                </a:solidFill>
                <a:latin typeface="Palatino Linotype"/>
                <a:cs typeface="Palatino Linotype"/>
              </a:rPr>
              <a:t>Fortran: </a:t>
            </a:r>
            <a:r>
              <a:rPr sz="2000" kern="1200" dirty="0">
                <a:solidFill>
                  <a:prstClr val="black"/>
                </a:solidFill>
                <a:latin typeface="Palatino Linotype"/>
                <a:cs typeface="Palatino Linotype"/>
              </a:rPr>
              <a:t>for scientific</a:t>
            </a:r>
            <a:r>
              <a:rPr sz="2000" kern="1200" spc="-55" dirty="0">
                <a:solidFill>
                  <a:prstClr val="black"/>
                </a:solidFill>
                <a:latin typeface="Palatino Linotype"/>
                <a:cs typeface="Palatino Linotype"/>
              </a:rPr>
              <a:t> </a:t>
            </a:r>
            <a:r>
              <a:rPr sz="2000" kern="1200" spc="-5" dirty="0">
                <a:solidFill>
                  <a:prstClr val="black"/>
                </a:solidFill>
                <a:latin typeface="Palatino Linotype"/>
                <a:cs typeface="Palatino Linotype"/>
              </a:rPr>
              <a:t>computation</a:t>
            </a:r>
            <a:endParaRPr sz="2000" kern="1200">
              <a:solidFill>
                <a:prstClr val="black"/>
              </a:solidFill>
              <a:latin typeface="Palatino Linotype"/>
              <a:cs typeface="Palatino Linotype"/>
            </a:endParaRPr>
          </a:p>
          <a:p>
            <a:pPr marL="697865" lvl="1" indent="-228600" rtl="0">
              <a:spcBef>
                <a:spcPts val="1080"/>
              </a:spcBef>
              <a:buFont typeface="Wingdings"/>
              <a:buChar char=""/>
              <a:tabLst>
                <a:tab pos="698500" algn="l"/>
              </a:tabLst>
            </a:pPr>
            <a:r>
              <a:rPr sz="2000" kern="1200" spc="-5" dirty="0">
                <a:solidFill>
                  <a:srgbClr val="FF0000"/>
                </a:solidFill>
                <a:latin typeface="Palatino Linotype"/>
                <a:cs typeface="Palatino Linotype"/>
              </a:rPr>
              <a:t>Cobol: </a:t>
            </a:r>
            <a:r>
              <a:rPr sz="2000" kern="1200" dirty="0">
                <a:solidFill>
                  <a:prstClr val="black"/>
                </a:solidFill>
                <a:latin typeface="Palatino Linotype"/>
                <a:cs typeface="Palatino Linotype"/>
              </a:rPr>
              <a:t>for </a:t>
            </a:r>
            <a:r>
              <a:rPr sz="2000" kern="1200" spc="-5" dirty="0">
                <a:solidFill>
                  <a:prstClr val="black"/>
                </a:solidFill>
                <a:latin typeface="Palatino Linotype"/>
                <a:cs typeface="Palatino Linotype"/>
              </a:rPr>
              <a:t>business </a:t>
            </a:r>
            <a:r>
              <a:rPr sz="2000" kern="1200" dirty="0">
                <a:solidFill>
                  <a:prstClr val="black"/>
                </a:solidFill>
                <a:latin typeface="Palatino Linotype"/>
                <a:cs typeface="Palatino Linotype"/>
              </a:rPr>
              <a:t>data</a:t>
            </a:r>
            <a:r>
              <a:rPr sz="2000" kern="1200" spc="-30" dirty="0">
                <a:solidFill>
                  <a:prstClr val="black"/>
                </a:solidFill>
                <a:latin typeface="Palatino Linotype"/>
                <a:cs typeface="Palatino Linotype"/>
              </a:rPr>
              <a:t> </a:t>
            </a:r>
            <a:r>
              <a:rPr sz="2000" kern="1200" spc="-5" dirty="0">
                <a:solidFill>
                  <a:prstClr val="black"/>
                </a:solidFill>
                <a:latin typeface="Palatino Linotype"/>
                <a:cs typeface="Palatino Linotype"/>
              </a:rPr>
              <a:t>processing</a:t>
            </a:r>
            <a:endParaRPr sz="2000" kern="1200">
              <a:solidFill>
                <a:prstClr val="black"/>
              </a:solidFill>
              <a:latin typeface="Palatino Linotype"/>
              <a:cs typeface="Palatino Linotype"/>
            </a:endParaRPr>
          </a:p>
          <a:p>
            <a:pPr marL="697865" lvl="1" indent="-228600" rtl="0">
              <a:spcBef>
                <a:spcPts val="1080"/>
              </a:spcBef>
              <a:buFont typeface="Wingdings"/>
              <a:buChar char=""/>
              <a:tabLst>
                <a:tab pos="698500" algn="l"/>
              </a:tabLst>
            </a:pPr>
            <a:r>
              <a:rPr sz="2000" kern="1200" dirty="0">
                <a:solidFill>
                  <a:srgbClr val="FF0000"/>
                </a:solidFill>
                <a:latin typeface="Palatino Linotype"/>
                <a:cs typeface="Palatino Linotype"/>
              </a:rPr>
              <a:t>Lisp: </a:t>
            </a:r>
            <a:r>
              <a:rPr sz="2000" kern="1200" dirty="0">
                <a:solidFill>
                  <a:prstClr val="black"/>
                </a:solidFill>
                <a:latin typeface="Palatino Linotype"/>
                <a:cs typeface="Palatino Linotype"/>
              </a:rPr>
              <a:t>for symbolic</a:t>
            </a:r>
            <a:r>
              <a:rPr sz="2000" kern="1200" spc="-30" dirty="0">
                <a:solidFill>
                  <a:prstClr val="black"/>
                </a:solidFill>
                <a:latin typeface="Palatino Linotype"/>
                <a:cs typeface="Palatino Linotype"/>
              </a:rPr>
              <a:t> </a:t>
            </a:r>
            <a:r>
              <a:rPr sz="2000" kern="1200" spc="-5" dirty="0">
                <a:solidFill>
                  <a:prstClr val="black"/>
                </a:solidFill>
                <a:latin typeface="Palatino Linotype"/>
                <a:cs typeface="Palatino Linotype"/>
              </a:rPr>
              <a:t>computation</a:t>
            </a:r>
            <a:endParaRPr sz="2000"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8A595364-DFA0-8A5B-77CC-459EC19D8F54}"/>
              </a:ext>
            </a:extLst>
          </p:cNvPr>
          <p:cNvSpPr>
            <a:spLocks noGrp="1"/>
          </p:cNvSpPr>
          <p:nvPr>
            <p:ph type="sldNum" sz="quarter" idx="12"/>
          </p:nvPr>
        </p:nvSpPr>
        <p:spPr/>
        <p:txBody>
          <a:bodyPr/>
          <a:lstStyle/>
          <a:p>
            <a:pPr>
              <a:defRPr/>
            </a:pPr>
            <a:fld id="{2FBC720A-3716-234A-B2DF-CBC7E48049F5}" type="slidenum">
              <a:rPr lang="en-US" altLang="zh-CN" smtClean="0"/>
              <a:t>14</a:t>
            </a:fld>
            <a:endParaRPr lang="en-US" altLang="zh-CN"/>
          </a:p>
        </p:txBody>
      </p:sp>
    </p:spTree>
    <p:extLst>
      <p:ext uri="{BB962C8B-B14F-4D97-AF65-F5344CB8AC3E}">
        <p14:creationId xmlns:p14="http://schemas.microsoft.com/office/powerpoint/2010/main" val="358520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2" name="object 2">
            <a:extLst>
              <a:ext uri="{FF2B5EF4-FFF2-40B4-BE49-F238E27FC236}">
                <a16:creationId xmlns:a16="http://schemas.microsoft.com/office/drawing/2014/main" id="{54ADC1CC-6D31-58E3-DB62-A9DBB3852763}"/>
              </a:ext>
            </a:extLst>
          </p:cNvPr>
          <p:cNvSpPr txBox="1">
            <a:spLocks/>
          </p:cNvSpPr>
          <p:nvPr/>
        </p:nvSpPr>
        <p:spPr>
          <a:xfrm>
            <a:off x="459943" y="556717"/>
            <a:ext cx="7843520" cy="574675"/>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381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Fortran: </a:t>
            </a:r>
            <a:r>
              <a:rPr kumimoji="0" lang="en-US" sz="3600" b="1" i="0" u="none" strike="noStrike" kern="0" cap="none" spc="-5" normalizeH="0" baseline="0" noProof="0">
                <a:ln>
                  <a:noFill/>
                </a:ln>
                <a:solidFill>
                  <a:sysClr val="windowText" lastClr="000000"/>
                </a:solidFill>
                <a:effectLst/>
                <a:uLnTx/>
                <a:uFillTx/>
                <a:latin typeface="Palatino Linotype"/>
                <a:ea typeface="+mj-ea"/>
              </a:rPr>
              <a:t>The </a:t>
            </a:r>
            <a:r>
              <a:rPr kumimoji="0" lang="en-US" sz="3600" b="1" i="0" u="none" strike="noStrike" kern="0" cap="none" spc="-10" normalizeH="0" baseline="0" noProof="0">
                <a:ln>
                  <a:noFill/>
                </a:ln>
                <a:solidFill>
                  <a:sysClr val="windowText" lastClr="000000"/>
                </a:solidFill>
                <a:effectLst/>
                <a:uLnTx/>
                <a:uFillTx/>
                <a:latin typeface="Palatino Linotype"/>
                <a:ea typeface="+mj-ea"/>
              </a:rPr>
              <a:t>1</a:t>
            </a:r>
            <a:r>
              <a:rPr kumimoji="0" lang="en-US" sz="3600" b="1" i="0" u="none" strike="noStrike" kern="0" cap="none" spc="-15" normalizeH="0" baseline="25462" noProof="0">
                <a:ln>
                  <a:noFill/>
                </a:ln>
                <a:solidFill>
                  <a:sysClr val="windowText" lastClr="000000"/>
                </a:solidFill>
                <a:effectLst/>
                <a:uLnTx/>
                <a:uFillTx/>
                <a:latin typeface="Palatino Linotype"/>
                <a:ea typeface="+mj-ea"/>
              </a:rPr>
              <a:t>st </a:t>
            </a:r>
            <a:r>
              <a:rPr kumimoji="0" lang="en-US" sz="3600" b="1" i="0" u="none" strike="noStrike" kern="0" cap="none" spc="0" normalizeH="0" baseline="0" noProof="0">
                <a:ln>
                  <a:noFill/>
                </a:ln>
                <a:solidFill>
                  <a:sysClr val="windowText" lastClr="000000"/>
                </a:solidFill>
                <a:effectLst/>
                <a:uLnTx/>
                <a:uFillTx/>
                <a:latin typeface="Palatino Linotype"/>
                <a:ea typeface="+mj-ea"/>
              </a:rPr>
              <a:t>High-Level</a:t>
            </a:r>
            <a:r>
              <a:rPr kumimoji="0" lang="en-US" sz="3600" b="1" i="0" u="none" strike="noStrike" kern="0" cap="none" spc="-310"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Language</a:t>
            </a:r>
            <a:endParaRPr kumimoji="0" lang="en-US" sz="36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23EB4C4D-7F47-22D6-EDF0-2E7D0004436A}"/>
              </a:ext>
            </a:extLst>
          </p:cNvPr>
          <p:cNvSpPr txBox="1"/>
          <p:nvPr/>
        </p:nvSpPr>
        <p:spPr>
          <a:xfrm>
            <a:off x="485343" y="1481621"/>
            <a:ext cx="7847965" cy="1288415"/>
          </a:xfrm>
          <a:prstGeom prst="rect">
            <a:avLst/>
          </a:prstGeom>
        </p:spPr>
        <p:txBody>
          <a:bodyPr vert="horz" wrap="square" lIns="0" tIns="12700" rIns="0" bIns="0" rtlCol="0">
            <a:spAutoFit/>
          </a:bodyPr>
          <a:lstStyle/>
          <a:p>
            <a:pPr marL="242570" marR="5080" indent="-230504" algn="just" rtl="0">
              <a:lnSpc>
                <a:spcPct val="120100"/>
              </a:lnSpc>
              <a:spcBef>
                <a:spcPts val="100"/>
              </a:spcBef>
              <a:buFont typeface="Arial"/>
              <a:buChar char="•"/>
              <a:tabLst>
                <a:tab pos="243204" algn="l"/>
              </a:tabLst>
            </a:pPr>
            <a:r>
              <a:rPr sz="2300" kern="1200" dirty="0">
                <a:solidFill>
                  <a:prstClr val="black"/>
                </a:solidFill>
                <a:latin typeface="Palatino Linotype"/>
                <a:cs typeface="Palatino Linotype"/>
              </a:rPr>
              <a:t>In 1953, John </a:t>
            </a:r>
            <a:r>
              <a:rPr sz="2300" kern="1200" spc="-5" dirty="0">
                <a:solidFill>
                  <a:prstClr val="black"/>
                </a:solidFill>
                <a:latin typeface="Palatino Linotype"/>
                <a:cs typeface="Palatino Linotype"/>
              </a:rPr>
              <a:t>Backus proposed </a:t>
            </a:r>
            <a:r>
              <a:rPr sz="2300" kern="1200" dirty="0">
                <a:solidFill>
                  <a:prstClr val="black"/>
                </a:solidFill>
                <a:latin typeface="Palatino Linotype"/>
                <a:cs typeface="Palatino Linotype"/>
              </a:rPr>
              <a:t>to </a:t>
            </a:r>
            <a:r>
              <a:rPr sz="2300" kern="1200" spc="-5" dirty="0">
                <a:solidFill>
                  <a:prstClr val="black"/>
                </a:solidFill>
                <a:latin typeface="Palatino Linotype"/>
                <a:cs typeface="Palatino Linotype"/>
              </a:rPr>
              <a:t>develop </a:t>
            </a:r>
            <a:r>
              <a:rPr sz="2300" kern="1200" dirty="0">
                <a:solidFill>
                  <a:prstClr val="black"/>
                </a:solidFill>
                <a:latin typeface="Palatino Linotype"/>
                <a:cs typeface="Palatino Linotype"/>
              </a:rPr>
              <a:t>a more </a:t>
            </a:r>
            <a:r>
              <a:rPr sz="2300" kern="1200" spc="-5" dirty="0">
                <a:solidFill>
                  <a:prstClr val="black"/>
                </a:solidFill>
                <a:latin typeface="Palatino Linotype"/>
                <a:cs typeface="Palatino Linotype"/>
              </a:rPr>
              <a:t>practical  alternative to </a:t>
            </a:r>
            <a:r>
              <a:rPr sz="2300" kern="1200" dirty="0">
                <a:solidFill>
                  <a:prstClr val="black"/>
                </a:solidFill>
                <a:latin typeface="Palatino Linotype"/>
                <a:cs typeface="Palatino Linotype"/>
              </a:rPr>
              <a:t>assembly language for programming on</a:t>
            </a:r>
            <a:r>
              <a:rPr sz="2300" kern="1200" spc="-185" dirty="0">
                <a:solidFill>
                  <a:prstClr val="black"/>
                </a:solidFill>
                <a:latin typeface="Palatino Linotype"/>
                <a:cs typeface="Palatino Linotype"/>
              </a:rPr>
              <a:t> </a:t>
            </a:r>
            <a:r>
              <a:rPr sz="2300" kern="1200" dirty="0">
                <a:solidFill>
                  <a:prstClr val="black"/>
                </a:solidFill>
                <a:latin typeface="Palatino Linotype"/>
                <a:cs typeface="Palatino Linotype"/>
              </a:rPr>
              <a:t>IBM  704 mainframe</a:t>
            </a:r>
            <a:r>
              <a:rPr sz="2300" kern="1200" spc="-70" dirty="0">
                <a:solidFill>
                  <a:prstClr val="black"/>
                </a:solidFill>
                <a:latin typeface="Palatino Linotype"/>
                <a:cs typeface="Palatino Linotype"/>
              </a:rPr>
              <a:t> </a:t>
            </a:r>
            <a:r>
              <a:rPr sz="2300" kern="1200" dirty="0">
                <a:solidFill>
                  <a:prstClr val="black"/>
                </a:solidFill>
                <a:latin typeface="Palatino Linotype"/>
                <a:cs typeface="Palatino Linotype"/>
              </a:rPr>
              <a:t>computer</a:t>
            </a:r>
            <a:endParaRPr sz="2300" kern="1200">
              <a:solidFill>
                <a:prstClr val="black"/>
              </a:solidFill>
              <a:latin typeface="Palatino Linotype"/>
              <a:cs typeface="Palatino Linotype"/>
            </a:endParaRPr>
          </a:p>
        </p:txBody>
      </p:sp>
      <p:sp>
        <p:nvSpPr>
          <p:cNvPr id="14" name="object 4">
            <a:extLst>
              <a:ext uri="{FF2B5EF4-FFF2-40B4-BE49-F238E27FC236}">
                <a16:creationId xmlns:a16="http://schemas.microsoft.com/office/drawing/2014/main" id="{E2E3B676-AD2C-5909-87C5-DE3E6C8B47F0}"/>
              </a:ext>
            </a:extLst>
          </p:cNvPr>
          <p:cNvSpPr/>
          <p:nvPr/>
        </p:nvSpPr>
        <p:spPr>
          <a:xfrm>
            <a:off x="1327403" y="3044951"/>
            <a:ext cx="1443228" cy="2113788"/>
          </a:xfrm>
          <a:prstGeom prst="rect">
            <a:avLst/>
          </a:prstGeom>
          <a:blipFill>
            <a:blip r:embed="rId3"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5">
            <a:extLst>
              <a:ext uri="{FF2B5EF4-FFF2-40B4-BE49-F238E27FC236}">
                <a16:creationId xmlns:a16="http://schemas.microsoft.com/office/drawing/2014/main" id="{DEDAEDBE-7099-0779-6013-A939CE28D5DB}"/>
              </a:ext>
            </a:extLst>
          </p:cNvPr>
          <p:cNvSpPr/>
          <p:nvPr/>
        </p:nvSpPr>
        <p:spPr>
          <a:xfrm>
            <a:off x="3896867" y="3044951"/>
            <a:ext cx="3989832" cy="2456688"/>
          </a:xfrm>
          <a:prstGeom prst="rect">
            <a:avLst/>
          </a:prstGeom>
          <a:blipFill>
            <a:blip r:embed="rId4"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6">
            <a:extLst>
              <a:ext uri="{FF2B5EF4-FFF2-40B4-BE49-F238E27FC236}">
                <a16:creationId xmlns:a16="http://schemas.microsoft.com/office/drawing/2014/main" id="{9238A3B6-3B84-13B9-6A54-E94FA0969627}"/>
              </a:ext>
            </a:extLst>
          </p:cNvPr>
          <p:cNvSpPr txBox="1"/>
          <p:nvPr/>
        </p:nvSpPr>
        <p:spPr>
          <a:xfrm>
            <a:off x="881583" y="5287136"/>
            <a:ext cx="2336165" cy="269240"/>
          </a:xfrm>
          <a:prstGeom prst="rect">
            <a:avLst/>
          </a:prstGeom>
        </p:spPr>
        <p:txBody>
          <a:bodyPr vert="horz" wrap="square" lIns="0" tIns="12065" rIns="0" bIns="0" rtlCol="0">
            <a:spAutoFit/>
          </a:bodyPr>
          <a:lstStyle/>
          <a:p>
            <a:pPr marL="12700" rtl="0">
              <a:spcBef>
                <a:spcPts val="95"/>
              </a:spcBef>
            </a:pPr>
            <a:r>
              <a:rPr sz="1600" kern="1200" spc="-5" dirty="0">
                <a:solidFill>
                  <a:prstClr val="black"/>
                </a:solidFill>
                <a:latin typeface="Palatino Linotype"/>
                <a:cs typeface="Palatino Linotype"/>
              </a:rPr>
              <a:t>John Backus (1924 –</a:t>
            </a:r>
            <a:r>
              <a:rPr sz="1600" kern="1200" dirty="0">
                <a:solidFill>
                  <a:prstClr val="black"/>
                </a:solidFill>
                <a:latin typeface="Palatino Linotype"/>
                <a:cs typeface="Palatino Linotype"/>
              </a:rPr>
              <a:t> 2007)</a:t>
            </a:r>
            <a:endParaRPr sz="1600" kern="1200">
              <a:solidFill>
                <a:prstClr val="black"/>
              </a:solidFill>
              <a:latin typeface="Palatino Linotype"/>
              <a:cs typeface="Palatino Linotype"/>
            </a:endParaRPr>
          </a:p>
        </p:txBody>
      </p:sp>
      <p:sp>
        <p:nvSpPr>
          <p:cNvPr id="17" name="object 7">
            <a:extLst>
              <a:ext uri="{FF2B5EF4-FFF2-40B4-BE49-F238E27FC236}">
                <a16:creationId xmlns:a16="http://schemas.microsoft.com/office/drawing/2014/main" id="{F4F20B4F-CB73-E707-0205-04FC4B00FF6C}"/>
              </a:ext>
            </a:extLst>
          </p:cNvPr>
          <p:cNvSpPr txBox="1"/>
          <p:nvPr/>
        </p:nvSpPr>
        <p:spPr>
          <a:xfrm>
            <a:off x="707847" y="5530697"/>
            <a:ext cx="2682875" cy="610870"/>
          </a:xfrm>
          <a:prstGeom prst="rect">
            <a:avLst/>
          </a:prstGeom>
        </p:spPr>
        <p:txBody>
          <a:bodyPr vert="horz" wrap="square" lIns="0" tIns="12700" rIns="0" bIns="0" rtlCol="0">
            <a:spAutoFit/>
          </a:bodyPr>
          <a:lstStyle/>
          <a:p>
            <a:pPr marL="140335" marR="5080" indent="-128270" rtl="0">
              <a:lnSpc>
                <a:spcPct val="120000"/>
              </a:lnSpc>
              <a:spcBef>
                <a:spcPts val="100"/>
              </a:spcBef>
            </a:pPr>
            <a:r>
              <a:rPr sz="1600" kern="1200" spc="-5" dirty="0">
                <a:solidFill>
                  <a:prstClr val="black"/>
                </a:solidFill>
                <a:latin typeface="Palatino Linotype"/>
                <a:cs typeface="Palatino Linotype"/>
              </a:rPr>
              <a:t>American Computer Scientist  </a:t>
            </a:r>
            <a:r>
              <a:rPr sz="1600" kern="1200" spc="-10" dirty="0">
                <a:solidFill>
                  <a:prstClr val="black"/>
                </a:solidFill>
                <a:latin typeface="Palatino Linotype"/>
                <a:cs typeface="Palatino Linotype"/>
              </a:rPr>
              <a:t>ACM </a:t>
            </a:r>
            <a:r>
              <a:rPr sz="1600" kern="1200" spc="-25" dirty="0">
                <a:solidFill>
                  <a:prstClr val="black"/>
                </a:solidFill>
                <a:latin typeface="Palatino Linotype"/>
                <a:cs typeface="Palatino Linotype"/>
              </a:rPr>
              <a:t>Turing </a:t>
            </a:r>
            <a:r>
              <a:rPr sz="1600" kern="1200" spc="-40" dirty="0">
                <a:solidFill>
                  <a:prstClr val="black"/>
                </a:solidFill>
                <a:latin typeface="Palatino Linotype"/>
                <a:cs typeface="Palatino Linotype"/>
              </a:rPr>
              <a:t>Award</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(1997)</a:t>
            </a:r>
            <a:endParaRPr sz="1600" kern="1200">
              <a:solidFill>
                <a:prstClr val="black"/>
              </a:solidFill>
              <a:latin typeface="Palatino Linotype"/>
              <a:cs typeface="Palatino Linotype"/>
            </a:endParaRPr>
          </a:p>
        </p:txBody>
      </p:sp>
      <p:sp>
        <p:nvSpPr>
          <p:cNvPr id="18" name="object 8">
            <a:extLst>
              <a:ext uri="{FF2B5EF4-FFF2-40B4-BE49-F238E27FC236}">
                <a16:creationId xmlns:a16="http://schemas.microsoft.com/office/drawing/2014/main" id="{769CE7FA-CB54-2691-9C57-F42C1E5D2C37}"/>
              </a:ext>
            </a:extLst>
          </p:cNvPr>
          <p:cNvSpPr txBox="1"/>
          <p:nvPr/>
        </p:nvSpPr>
        <p:spPr>
          <a:xfrm>
            <a:off x="4872354" y="5700776"/>
            <a:ext cx="2021839"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Palatino Linotype"/>
                <a:cs typeface="Palatino Linotype"/>
              </a:rPr>
              <a:t>IBM 704</a:t>
            </a:r>
            <a:r>
              <a:rPr kern="1200" spc="-80" dirty="0">
                <a:solidFill>
                  <a:prstClr val="black"/>
                </a:solidFill>
                <a:latin typeface="Palatino Linotype"/>
                <a:cs typeface="Palatino Linotype"/>
              </a:rPr>
              <a:t> </a:t>
            </a:r>
            <a:r>
              <a:rPr kern="1200" spc="-5" dirty="0">
                <a:solidFill>
                  <a:prstClr val="black"/>
                </a:solidFill>
                <a:latin typeface="Palatino Linotype"/>
                <a:cs typeface="Palatino Linotype"/>
              </a:rPr>
              <a:t>mainframe</a:t>
            </a:r>
            <a:endParaRPr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7D700514-A7C3-38F3-9F20-08FB7BDEAC4C}"/>
              </a:ext>
            </a:extLst>
          </p:cNvPr>
          <p:cNvSpPr>
            <a:spLocks noGrp="1"/>
          </p:cNvSpPr>
          <p:nvPr>
            <p:ph type="sldNum" sz="quarter" idx="12"/>
          </p:nvPr>
        </p:nvSpPr>
        <p:spPr/>
        <p:txBody>
          <a:bodyPr/>
          <a:lstStyle/>
          <a:p>
            <a:pPr>
              <a:defRPr/>
            </a:pPr>
            <a:fld id="{2FBC720A-3716-234A-B2DF-CBC7E48049F5}" type="slidenum">
              <a:rPr lang="en-US" altLang="zh-CN" smtClean="0"/>
              <a:t>15</a:t>
            </a:fld>
            <a:endParaRPr lang="en-US" altLang="zh-CN"/>
          </a:p>
        </p:txBody>
      </p:sp>
    </p:spTree>
    <p:extLst>
      <p:ext uri="{BB962C8B-B14F-4D97-AF65-F5344CB8AC3E}">
        <p14:creationId xmlns:p14="http://schemas.microsoft.com/office/powerpoint/2010/main" val="1602162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1" name="object 2">
            <a:extLst>
              <a:ext uri="{FF2B5EF4-FFF2-40B4-BE49-F238E27FC236}">
                <a16:creationId xmlns:a16="http://schemas.microsoft.com/office/drawing/2014/main" id="{76B2EF0D-F57A-17E6-BDAE-FE5DB25D9078}"/>
              </a:ext>
            </a:extLst>
          </p:cNvPr>
          <p:cNvSpPr txBox="1"/>
          <p:nvPr/>
        </p:nvSpPr>
        <p:spPr>
          <a:xfrm>
            <a:off x="472643" y="1329283"/>
            <a:ext cx="8016875" cy="1896110"/>
          </a:xfrm>
          <a:prstGeom prst="rect">
            <a:avLst/>
          </a:prstGeom>
        </p:spPr>
        <p:txBody>
          <a:bodyPr vert="horz" wrap="square" lIns="0" tIns="175260" rIns="0" bIns="0" rtlCol="0">
            <a:spAutoFit/>
          </a:bodyPr>
          <a:lstStyle/>
          <a:p>
            <a:pPr marL="255270" indent="-230504" rtl="0">
              <a:spcBef>
                <a:spcPts val="1380"/>
              </a:spcBef>
              <a:buFont typeface="Arial"/>
              <a:buChar char="•"/>
              <a:tabLst>
                <a:tab pos="255270" algn="l"/>
                <a:tab pos="255904" algn="l"/>
              </a:tabLst>
            </a:pPr>
            <a:r>
              <a:rPr sz="2000" kern="1200" spc="-5" dirty="0">
                <a:solidFill>
                  <a:prstClr val="black"/>
                </a:solidFill>
                <a:latin typeface="Palatino Linotype"/>
                <a:cs typeface="Palatino Linotype"/>
              </a:rPr>
              <a:t>The </a:t>
            </a:r>
            <a:r>
              <a:rPr sz="2000" kern="1200" spc="5" dirty="0">
                <a:solidFill>
                  <a:prstClr val="black"/>
                </a:solidFill>
                <a:latin typeface="Palatino Linotype"/>
                <a:cs typeface="Palatino Linotype"/>
              </a:rPr>
              <a:t>1</a:t>
            </a:r>
            <a:r>
              <a:rPr sz="1950" kern="1200" spc="7" baseline="25641" dirty="0">
                <a:solidFill>
                  <a:prstClr val="black"/>
                </a:solidFill>
                <a:latin typeface="Palatino Linotype"/>
                <a:cs typeface="Palatino Linotype"/>
              </a:rPr>
              <a:t>st </a:t>
            </a:r>
            <a:r>
              <a:rPr sz="2000" kern="1200" spc="-5" dirty="0">
                <a:solidFill>
                  <a:prstClr val="black"/>
                </a:solidFill>
                <a:latin typeface="Palatino Linotype"/>
                <a:cs typeface="Palatino Linotype"/>
              </a:rPr>
              <a:t>Fortran </a:t>
            </a:r>
            <a:r>
              <a:rPr sz="2000" kern="1200" dirty="0">
                <a:solidFill>
                  <a:prstClr val="black"/>
                </a:solidFill>
                <a:latin typeface="Palatino Linotype"/>
                <a:cs typeface="Palatino Linotype"/>
              </a:rPr>
              <a:t>(</a:t>
            </a:r>
            <a:r>
              <a:rPr sz="2000" b="1" u="heavy" kern="1200" dirty="0">
                <a:solidFill>
                  <a:srgbClr val="FF0000"/>
                </a:solidFill>
                <a:uFill>
                  <a:solidFill>
                    <a:srgbClr val="FF0000"/>
                  </a:solidFill>
                </a:uFill>
                <a:latin typeface="Palatino Linotype"/>
                <a:cs typeface="Palatino Linotype"/>
              </a:rPr>
              <a:t>For</a:t>
            </a:r>
            <a:r>
              <a:rPr sz="2000" kern="1200" dirty="0">
                <a:solidFill>
                  <a:prstClr val="black"/>
                </a:solidFill>
                <a:latin typeface="Palatino Linotype"/>
                <a:cs typeface="Palatino Linotype"/>
              </a:rPr>
              <a:t>mula</a:t>
            </a:r>
            <a:r>
              <a:rPr sz="2000" kern="1200" dirty="0">
                <a:solidFill>
                  <a:srgbClr val="FF0000"/>
                </a:solidFill>
                <a:latin typeface="Palatino Linotype"/>
                <a:cs typeface="Palatino Linotype"/>
              </a:rPr>
              <a:t> </a:t>
            </a:r>
            <a:r>
              <a:rPr sz="2000" b="1" u="heavy" kern="1200" spc="-15" dirty="0">
                <a:solidFill>
                  <a:srgbClr val="FF0000"/>
                </a:solidFill>
                <a:uFill>
                  <a:solidFill>
                    <a:srgbClr val="FF0000"/>
                  </a:solidFill>
                </a:uFill>
                <a:latin typeface="Palatino Linotype"/>
                <a:cs typeface="Palatino Linotype"/>
              </a:rPr>
              <a:t>Tran</a:t>
            </a:r>
            <a:r>
              <a:rPr sz="2000" kern="1200" spc="-15" dirty="0">
                <a:solidFill>
                  <a:prstClr val="black"/>
                </a:solidFill>
                <a:latin typeface="Palatino Linotype"/>
                <a:cs typeface="Palatino Linotype"/>
              </a:rPr>
              <a:t>slation) </a:t>
            </a:r>
            <a:r>
              <a:rPr sz="2000" kern="1200" spc="-5" dirty="0">
                <a:solidFill>
                  <a:prstClr val="black"/>
                </a:solidFill>
                <a:latin typeface="Palatino Linotype"/>
                <a:cs typeface="Palatino Linotype"/>
              </a:rPr>
              <a:t>compiler </a:t>
            </a:r>
            <a:r>
              <a:rPr sz="2000" kern="1200" spc="-20" dirty="0">
                <a:solidFill>
                  <a:prstClr val="black"/>
                </a:solidFill>
                <a:latin typeface="Palatino Linotype"/>
                <a:cs typeface="Palatino Linotype"/>
              </a:rPr>
              <a:t>was </a:t>
            </a:r>
            <a:r>
              <a:rPr sz="2000" kern="1200" spc="-5" dirty="0">
                <a:solidFill>
                  <a:prstClr val="black"/>
                </a:solidFill>
                <a:latin typeface="Palatino Linotype"/>
                <a:cs typeface="Palatino Linotype"/>
              </a:rPr>
              <a:t>delivered </a:t>
            </a:r>
            <a:r>
              <a:rPr sz="2000" kern="1200" dirty="0">
                <a:solidFill>
                  <a:prstClr val="black"/>
                </a:solidFill>
                <a:latin typeface="Palatino Linotype"/>
                <a:cs typeface="Palatino Linotype"/>
              </a:rPr>
              <a:t>in</a:t>
            </a:r>
            <a:r>
              <a:rPr sz="2000" kern="1200" spc="-155" dirty="0">
                <a:solidFill>
                  <a:prstClr val="black"/>
                </a:solidFill>
                <a:latin typeface="Palatino Linotype"/>
                <a:cs typeface="Palatino Linotype"/>
              </a:rPr>
              <a:t> </a:t>
            </a:r>
            <a:r>
              <a:rPr sz="2000" kern="1200" dirty="0">
                <a:solidFill>
                  <a:prstClr val="black"/>
                </a:solidFill>
                <a:latin typeface="Palatino Linotype"/>
                <a:cs typeface="Palatino Linotype"/>
              </a:rPr>
              <a:t>1957</a:t>
            </a:r>
            <a:endParaRPr sz="2000" kern="1200">
              <a:solidFill>
                <a:prstClr val="black"/>
              </a:solidFill>
              <a:latin typeface="Palatino Linotype"/>
              <a:cs typeface="Palatino Linotype"/>
            </a:endParaRPr>
          </a:p>
          <a:p>
            <a:pPr marL="255270" indent="-230504" rtl="0">
              <a:spcBef>
                <a:spcPts val="1285"/>
              </a:spcBef>
              <a:buFont typeface="Arial"/>
              <a:buChar char="•"/>
              <a:tabLst>
                <a:tab pos="255270" algn="l"/>
                <a:tab pos="255904" algn="l"/>
              </a:tabLst>
            </a:pPr>
            <a:r>
              <a:rPr sz="2000" kern="1200" dirty="0">
                <a:solidFill>
                  <a:prstClr val="black"/>
                </a:solidFill>
                <a:latin typeface="Palatino Linotype"/>
                <a:cs typeface="Palatino Linotype"/>
              </a:rPr>
              <a:t>Coding </a:t>
            </a:r>
            <a:r>
              <a:rPr sz="2000" kern="1200" spc="-5" dirty="0">
                <a:solidFill>
                  <a:prstClr val="black"/>
                </a:solidFill>
                <a:latin typeface="Palatino Linotype"/>
                <a:cs typeface="Palatino Linotype"/>
              </a:rPr>
              <a:t>became </a:t>
            </a:r>
            <a:r>
              <a:rPr sz="2000" kern="1200" dirty="0">
                <a:solidFill>
                  <a:prstClr val="black"/>
                </a:solidFill>
                <a:latin typeface="Palatino Linotype"/>
                <a:cs typeface="Palatino Linotype"/>
              </a:rPr>
              <a:t>much </a:t>
            </a:r>
            <a:r>
              <a:rPr sz="2000" kern="1200" spc="-10" dirty="0">
                <a:solidFill>
                  <a:prstClr val="black"/>
                </a:solidFill>
                <a:latin typeface="Palatino Linotype"/>
                <a:cs typeface="Palatino Linotype"/>
              </a:rPr>
              <a:t>faster, </a:t>
            </a:r>
            <a:r>
              <a:rPr sz="2000" kern="1200" dirty="0">
                <a:solidFill>
                  <a:prstClr val="black"/>
                </a:solidFill>
                <a:latin typeface="Palatino Linotype"/>
                <a:cs typeface="Palatino Linotype"/>
              </a:rPr>
              <a:t>50%+ </a:t>
            </a:r>
            <a:r>
              <a:rPr sz="2000" kern="1200" spc="-5" dirty="0">
                <a:solidFill>
                  <a:prstClr val="black"/>
                </a:solidFill>
                <a:latin typeface="Palatino Linotype"/>
                <a:cs typeface="Palatino Linotype"/>
              </a:rPr>
              <a:t>software </a:t>
            </a:r>
            <a:r>
              <a:rPr sz="2000" kern="1200" spc="-20" dirty="0">
                <a:solidFill>
                  <a:prstClr val="black"/>
                </a:solidFill>
                <a:latin typeface="Palatino Linotype"/>
                <a:cs typeface="Palatino Linotype"/>
              </a:rPr>
              <a:t>was </a:t>
            </a:r>
            <a:r>
              <a:rPr sz="2000" kern="1200" spc="-5" dirty="0">
                <a:solidFill>
                  <a:prstClr val="black"/>
                </a:solidFill>
                <a:latin typeface="Palatino Linotype"/>
                <a:cs typeface="Palatino Linotype"/>
              </a:rPr>
              <a:t>in </a:t>
            </a:r>
            <a:r>
              <a:rPr sz="2000" kern="1200" dirty="0">
                <a:solidFill>
                  <a:prstClr val="black"/>
                </a:solidFill>
                <a:latin typeface="Palatino Linotype"/>
                <a:cs typeface="Palatino Linotype"/>
              </a:rPr>
              <a:t>Fortran </a:t>
            </a:r>
            <a:r>
              <a:rPr sz="2000" kern="1200" spc="-5" dirty="0">
                <a:solidFill>
                  <a:prstClr val="black"/>
                </a:solidFill>
                <a:latin typeface="Palatino Linotype"/>
                <a:cs typeface="Palatino Linotype"/>
              </a:rPr>
              <a:t>in</a:t>
            </a:r>
            <a:r>
              <a:rPr sz="2000" kern="1200" spc="-120" dirty="0">
                <a:solidFill>
                  <a:prstClr val="black"/>
                </a:solidFill>
                <a:latin typeface="Palatino Linotype"/>
                <a:cs typeface="Palatino Linotype"/>
              </a:rPr>
              <a:t> </a:t>
            </a:r>
            <a:r>
              <a:rPr sz="2000" kern="1200" spc="5" dirty="0">
                <a:solidFill>
                  <a:prstClr val="black"/>
                </a:solidFill>
                <a:latin typeface="Palatino Linotype"/>
                <a:cs typeface="Palatino Linotype"/>
              </a:rPr>
              <a:t>1958</a:t>
            </a:r>
            <a:endParaRPr sz="2000" kern="1200">
              <a:solidFill>
                <a:prstClr val="black"/>
              </a:solidFill>
              <a:latin typeface="Palatino Linotype"/>
              <a:cs typeface="Palatino Linotype"/>
            </a:endParaRPr>
          </a:p>
          <a:p>
            <a:pPr marL="255270" indent="-230504" rtl="0">
              <a:spcBef>
                <a:spcPts val="1275"/>
              </a:spcBef>
              <a:buClr>
                <a:srgbClr val="000000"/>
              </a:buClr>
              <a:buFont typeface="Arial"/>
              <a:buChar char="•"/>
              <a:tabLst>
                <a:tab pos="255270" algn="l"/>
                <a:tab pos="255904" algn="l"/>
              </a:tabLst>
            </a:pPr>
            <a:r>
              <a:rPr sz="2000" b="1" kern="1200" dirty="0">
                <a:solidFill>
                  <a:srgbClr val="FF0000"/>
                </a:solidFill>
                <a:latin typeface="Palatino Linotype"/>
                <a:cs typeface="Palatino Linotype"/>
              </a:rPr>
              <a:t>Huge impact</a:t>
            </a:r>
            <a:r>
              <a:rPr sz="2000" kern="1200" dirty="0">
                <a:solidFill>
                  <a:prstClr val="black"/>
                </a:solidFill>
                <a:latin typeface="Palatino Linotype"/>
                <a:cs typeface="Palatino Linotype"/>
              </a:rPr>
              <a:t>, modern </a:t>
            </a:r>
            <a:r>
              <a:rPr sz="2000" kern="1200" spc="-5" dirty="0">
                <a:solidFill>
                  <a:prstClr val="black"/>
                </a:solidFill>
                <a:latin typeface="Palatino Linotype"/>
                <a:cs typeface="Palatino Linotype"/>
              </a:rPr>
              <a:t>compilers </a:t>
            </a:r>
            <a:r>
              <a:rPr sz="2000" kern="1200" spc="-10" dirty="0">
                <a:solidFill>
                  <a:prstClr val="black"/>
                </a:solidFill>
                <a:latin typeface="Palatino Linotype"/>
                <a:cs typeface="Palatino Linotype"/>
              </a:rPr>
              <a:t>preserve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outline of </a:t>
            </a:r>
            <a:r>
              <a:rPr sz="2000" kern="1200" spc="-5" dirty="0">
                <a:solidFill>
                  <a:prstClr val="black"/>
                </a:solidFill>
                <a:latin typeface="Palatino Linotype"/>
                <a:cs typeface="Palatino Linotype"/>
              </a:rPr>
              <a:t>Fortran</a:t>
            </a:r>
            <a:r>
              <a:rPr sz="2000" kern="1200" spc="-105" dirty="0">
                <a:solidFill>
                  <a:prstClr val="black"/>
                </a:solidFill>
                <a:latin typeface="Palatino Linotype"/>
                <a:cs typeface="Palatino Linotype"/>
              </a:rPr>
              <a:t> </a:t>
            </a:r>
            <a:r>
              <a:rPr sz="2000" kern="1200" dirty="0">
                <a:solidFill>
                  <a:prstClr val="black"/>
                </a:solidFill>
                <a:latin typeface="Palatino Linotype"/>
                <a:cs typeface="Palatino Linotype"/>
              </a:rPr>
              <a:t>I</a:t>
            </a:r>
            <a:endParaRPr sz="2000" kern="1200">
              <a:solidFill>
                <a:prstClr val="black"/>
              </a:solidFill>
              <a:latin typeface="Palatino Linotype"/>
              <a:cs typeface="Palatino Linotype"/>
            </a:endParaRPr>
          </a:p>
          <a:p>
            <a:pPr marL="255270" indent="-230504" rtl="0">
              <a:spcBef>
                <a:spcPts val="1285"/>
              </a:spcBef>
              <a:buFont typeface="Arial"/>
              <a:buChar char="•"/>
              <a:tabLst>
                <a:tab pos="255270" algn="l"/>
                <a:tab pos="255904" algn="l"/>
              </a:tabLst>
            </a:pPr>
            <a:r>
              <a:rPr sz="2000" kern="1200" spc="-5" dirty="0">
                <a:solidFill>
                  <a:prstClr val="black"/>
                </a:solidFill>
                <a:latin typeface="Palatino Linotype"/>
                <a:cs typeface="Palatino Linotype"/>
              </a:rPr>
              <a:t>Fortran </a:t>
            </a:r>
            <a:r>
              <a:rPr sz="2000" kern="1200" dirty="0">
                <a:solidFill>
                  <a:prstClr val="black"/>
                </a:solidFill>
                <a:latin typeface="Palatino Linotype"/>
                <a:cs typeface="Palatino Linotype"/>
              </a:rPr>
              <a:t>is still widely </a:t>
            </a:r>
            <a:r>
              <a:rPr sz="2000" kern="1200" spc="-5" dirty="0">
                <a:solidFill>
                  <a:prstClr val="black"/>
                </a:solidFill>
                <a:latin typeface="Palatino Linotype"/>
                <a:cs typeface="Palatino Linotype"/>
              </a:rPr>
              <a:t>used </a:t>
            </a:r>
            <a:r>
              <a:rPr sz="2000" kern="1200" dirty="0">
                <a:solidFill>
                  <a:prstClr val="black"/>
                </a:solidFill>
                <a:latin typeface="Palatino Linotype"/>
                <a:cs typeface="Palatino Linotype"/>
              </a:rPr>
              <a:t>today (No. </a:t>
            </a:r>
            <a:r>
              <a:rPr sz="2000" kern="1200" spc="5" dirty="0">
                <a:solidFill>
                  <a:prstClr val="black"/>
                </a:solidFill>
                <a:latin typeface="Palatino Linotype"/>
                <a:cs typeface="Palatino Linotype"/>
              </a:rPr>
              <a:t>31, </a:t>
            </a:r>
            <a:r>
              <a:rPr sz="2000" kern="1200" spc="-5" dirty="0">
                <a:solidFill>
                  <a:prstClr val="black"/>
                </a:solidFill>
                <a:latin typeface="Palatino Linotype"/>
                <a:cs typeface="Palatino Linotype"/>
              </a:rPr>
              <a:t>TIOBE </a:t>
            </a:r>
            <a:r>
              <a:rPr sz="2000" kern="1200" dirty="0">
                <a:solidFill>
                  <a:prstClr val="black"/>
                </a:solidFill>
                <a:latin typeface="Palatino Linotype"/>
                <a:cs typeface="Palatino Linotype"/>
              </a:rPr>
              <a:t>Index</a:t>
            </a:r>
            <a:r>
              <a:rPr sz="2000" kern="1200" spc="-70" dirty="0">
                <a:solidFill>
                  <a:prstClr val="black"/>
                </a:solidFill>
                <a:latin typeface="Palatino Linotype"/>
                <a:cs typeface="Palatino Linotype"/>
              </a:rPr>
              <a:t> </a:t>
            </a:r>
            <a:r>
              <a:rPr sz="2000" kern="1200" spc="5" dirty="0">
                <a:solidFill>
                  <a:prstClr val="black"/>
                </a:solidFill>
                <a:latin typeface="Palatino Linotype"/>
                <a:cs typeface="Palatino Linotype"/>
              </a:rPr>
              <a:t>2020)</a:t>
            </a:r>
            <a:endParaRPr sz="2000" kern="1200">
              <a:solidFill>
                <a:prstClr val="black"/>
              </a:solidFill>
              <a:latin typeface="Palatino Linotype"/>
              <a:cs typeface="Palatino Linotype"/>
            </a:endParaRPr>
          </a:p>
        </p:txBody>
      </p:sp>
      <p:sp>
        <p:nvSpPr>
          <p:cNvPr id="12" name="object 3">
            <a:extLst>
              <a:ext uri="{FF2B5EF4-FFF2-40B4-BE49-F238E27FC236}">
                <a16:creationId xmlns:a16="http://schemas.microsoft.com/office/drawing/2014/main" id="{BEE02602-4629-0511-E645-7917E580C846}"/>
              </a:ext>
            </a:extLst>
          </p:cNvPr>
          <p:cNvSpPr/>
          <p:nvPr/>
        </p:nvSpPr>
        <p:spPr>
          <a:xfrm>
            <a:off x="5210555" y="3529584"/>
            <a:ext cx="3346704" cy="1987295"/>
          </a:xfrm>
          <a:prstGeom prst="rect">
            <a:avLst/>
          </a:prstGeom>
          <a:blipFill>
            <a:blip r:embed="rId3"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3" name="object 4">
            <a:extLst>
              <a:ext uri="{FF2B5EF4-FFF2-40B4-BE49-F238E27FC236}">
                <a16:creationId xmlns:a16="http://schemas.microsoft.com/office/drawing/2014/main" id="{188384C0-4CAC-53C5-DAB5-D945E98C3F1D}"/>
              </a:ext>
            </a:extLst>
          </p:cNvPr>
          <p:cNvSpPr/>
          <p:nvPr/>
        </p:nvSpPr>
        <p:spPr>
          <a:xfrm>
            <a:off x="484631" y="3529584"/>
            <a:ext cx="4575048" cy="1987295"/>
          </a:xfrm>
          <a:prstGeom prst="rect">
            <a:avLst/>
          </a:prstGeom>
          <a:blipFill>
            <a:blip r:embed="rId4"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4" name="object 5">
            <a:extLst>
              <a:ext uri="{FF2B5EF4-FFF2-40B4-BE49-F238E27FC236}">
                <a16:creationId xmlns:a16="http://schemas.microsoft.com/office/drawing/2014/main" id="{70BB292F-12E9-40A3-6244-AA974CB378F0}"/>
              </a:ext>
            </a:extLst>
          </p:cNvPr>
          <p:cNvSpPr/>
          <p:nvPr/>
        </p:nvSpPr>
        <p:spPr>
          <a:xfrm>
            <a:off x="481456" y="3526409"/>
            <a:ext cx="4581525" cy="1993900"/>
          </a:xfrm>
          <a:custGeom>
            <a:avLst/>
            <a:gdLst/>
            <a:ahLst/>
            <a:cxnLst/>
            <a:rect l="l" t="t" r="r" b="b"/>
            <a:pathLst>
              <a:path w="4581525" h="1993900">
                <a:moveTo>
                  <a:pt x="0" y="1993645"/>
                </a:moveTo>
                <a:lnTo>
                  <a:pt x="4581398" y="1993645"/>
                </a:lnTo>
                <a:lnTo>
                  <a:pt x="4581398" y="0"/>
                </a:lnTo>
                <a:lnTo>
                  <a:pt x="0" y="0"/>
                </a:lnTo>
                <a:lnTo>
                  <a:pt x="0" y="1993645"/>
                </a:lnTo>
                <a:close/>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6">
            <a:extLst>
              <a:ext uri="{FF2B5EF4-FFF2-40B4-BE49-F238E27FC236}">
                <a16:creationId xmlns:a16="http://schemas.microsoft.com/office/drawing/2014/main" id="{5C1D1A4B-40E2-92C0-9F8F-72226244B986}"/>
              </a:ext>
            </a:extLst>
          </p:cNvPr>
          <p:cNvSpPr txBox="1">
            <a:spLocks/>
          </p:cNvSpPr>
          <p:nvPr/>
        </p:nvSpPr>
        <p:spPr>
          <a:xfrm>
            <a:off x="472643" y="556717"/>
            <a:ext cx="7818120" cy="574675"/>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254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Fortran: </a:t>
            </a:r>
            <a:r>
              <a:rPr kumimoji="0" lang="en-US" sz="3600" b="1" i="0" u="none" strike="noStrike" kern="0" cap="none" spc="-5" normalizeH="0" baseline="0" noProof="0">
                <a:ln>
                  <a:noFill/>
                </a:ln>
                <a:solidFill>
                  <a:sysClr val="windowText" lastClr="000000"/>
                </a:solidFill>
                <a:effectLst/>
                <a:uLnTx/>
                <a:uFillTx/>
                <a:latin typeface="Palatino Linotype"/>
                <a:ea typeface="+mj-ea"/>
              </a:rPr>
              <a:t>The </a:t>
            </a:r>
            <a:r>
              <a:rPr kumimoji="0" lang="en-US" sz="3600" b="1" i="0" u="none" strike="noStrike" kern="0" cap="none" spc="-10" normalizeH="0" baseline="0" noProof="0">
                <a:ln>
                  <a:noFill/>
                </a:ln>
                <a:solidFill>
                  <a:sysClr val="windowText" lastClr="000000"/>
                </a:solidFill>
                <a:effectLst/>
                <a:uLnTx/>
                <a:uFillTx/>
                <a:latin typeface="Palatino Linotype"/>
                <a:ea typeface="+mj-ea"/>
              </a:rPr>
              <a:t>1</a:t>
            </a:r>
            <a:r>
              <a:rPr kumimoji="0" lang="en-US" sz="3600" b="1" i="0" u="none" strike="noStrike" kern="0" cap="none" spc="-15" normalizeH="0" baseline="25462" noProof="0">
                <a:ln>
                  <a:noFill/>
                </a:ln>
                <a:solidFill>
                  <a:sysClr val="windowText" lastClr="000000"/>
                </a:solidFill>
                <a:effectLst/>
                <a:uLnTx/>
                <a:uFillTx/>
                <a:latin typeface="Palatino Linotype"/>
                <a:ea typeface="+mj-ea"/>
              </a:rPr>
              <a:t>st </a:t>
            </a:r>
            <a:r>
              <a:rPr kumimoji="0" lang="en-US" sz="3600" b="1" i="0" u="none" strike="noStrike" kern="0" cap="none" spc="0" normalizeH="0" baseline="0" noProof="0">
                <a:ln>
                  <a:noFill/>
                </a:ln>
                <a:solidFill>
                  <a:sysClr val="windowText" lastClr="000000"/>
                </a:solidFill>
                <a:effectLst/>
                <a:uLnTx/>
                <a:uFillTx/>
                <a:latin typeface="Palatino Linotype"/>
                <a:ea typeface="+mj-ea"/>
              </a:rPr>
              <a:t>High-Level</a:t>
            </a:r>
            <a:r>
              <a:rPr kumimoji="0" lang="en-US" sz="3600" b="1" i="0" u="none" strike="noStrike" kern="0" cap="none" spc="-315"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Language</a:t>
            </a:r>
            <a:endParaRPr kumimoji="0" lang="en-US" sz="36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6" name="object 7">
            <a:extLst>
              <a:ext uri="{FF2B5EF4-FFF2-40B4-BE49-F238E27FC236}">
                <a16:creationId xmlns:a16="http://schemas.microsoft.com/office/drawing/2014/main" id="{47995E9D-6749-F12D-5F89-DFA819980C35}"/>
              </a:ext>
            </a:extLst>
          </p:cNvPr>
          <p:cNvSpPr txBox="1"/>
          <p:nvPr/>
        </p:nvSpPr>
        <p:spPr>
          <a:xfrm>
            <a:off x="485343" y="5574283"/>
            <a:ext cx="7900670" cy="668655"/>
          </a:xfrm>
          <a:prstGeom prst="rect">
            <a:avLst/>
          </a:prstGeom>
        </p:spPr>
        <p:txBody>
          <a:bodyPr vert="horz" wrap="square" lIns="0" tIns="12700" rIns="0" bIns="0" rtlCol="0">
            <a:spAutoFit/>
          </a:bodyPr>
          <a:lstStyle/>
          <a:p>
            <a:pPr marL="1098550" rtl="0">
              <a:spcBef>
                <a:spcPts val="100"/>
              </a:spcBef>
              <a:tabLst>
                <a:tab pos="4907280" algn="l"/>
              </a:tabLst>
            </a:pPr>
            <a:r>
              <a:rPr kern="1200" spc="-5" dirty="0">
                <a:solidFill>
                  <a:prstClr val="black"/>
                </a:solidFill>
                <a:latin typeface="Palatino Linotype"/>
                <a:cs typeface="Palatino Linotype"/>
              </a:rPr>
              <a:t>Fortran</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code </a:t>
            </a:r>
            <a:r>
              <a:rPr kern="1200" spc="-5" dirty="0">
                <a:solidFill>
                  <a:prstClr val="black"/>
                </a:solidFill>
                <a:latin typeface="Palatino Linotype"/>
                <a:cs typeface="Palatino Linotype"/>
              </a:rPr>
              <a:t>example	Fortran </a:t>
            </a:r>
            <a:r>
              <a:rPr kern="1200" dirty="0">
                <a:solidFill>
                  <a:prstClr val="black"/>
                </a:solidFill>
                <a:latin typeface="Palatino Linotype"/>
                <a:cs typeface="Palatino Linotype"/>
              </a:rPr>
              <a:t>code on a </a:t>
            </a:r>
            <a:r>
              <a:rPr kern="1200" spc="-5" dirty="0">
                <a:solidFill>
                  <a:prstClr val="black"/>
                </a:solidFill>
                <a:latin typeface="Palatino Linotype"/>
                <a:cs typeface="Palatino Linotype"/>
              </a:rPr>
              <a:t>punch</a:t>
            </a:r>
            <a:r>
              <a:rPr kern="1200" spc="-60" dirty="0">
                <a:solidFill>
                  <a:prstClr val="black"/>
                </a:solidFill>
                <a:latin typeface="Palatino Linotype"/>
                <a:cs typeface="Palatino Linotype"/>
              </a:rPr>
              <a:t> </a:t>
            </a:r>
            <a:r>
              <a:rPr kern="1200" dirty="0">
                <a:solidFill>
                  <a:prstClr val="black"/>
                </a:solidFill>
                <a:latin typeface="Palatino Linotype"/>
                <a:cs typeface="Palatino Linotype"/>
              </a:rPr>
              <a:t>card</a:t>
            </a:r>
            <a:endParaRPr kern="1200">
              <a:solidFill>
                <a:prstClr val="black"/>
              </a:solidFill>
              <a:latin typeface="Palatino Linotype"/>
              <a:cs typeface="Palatino Linotype"/>
            </a:endParaRPr>
          </a:p>
          <a:p>
            <a:pPr marL="12700" rtl="0">
              <a:spcBef>
                <a:spcPts val="1465"/>
              </a:spcBef>
            </a:pPr>
            <a:r>
              <a:rPr sz="1200" kern="1200" spc="-5" dirty="0">
                <a:solidFill>
                  <a:prstClr val="black"/>
                </a:solidFill>
                <a:latin typeface="Palatino Linotype"/>
                <a:cs typeface="Palatino Linotype"/>
                <a:hlinkClick r:id="rId5"/>
              </a:rPr>
              <a:t>http://www.herongyang.com/Computer-History/FORTRAN-Program-Store-on-Punch-Card.html</a:t>
            </a:r>
            <a:endParaRPr sz="1200"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5D4FF0EF-E4CA-63E2-05F8-553C2B0A6013}"/>
              </a:ext>
            </a:extLst>
          </p:cNvPr>
          <p:cNvSpPr>
            <a:spLocks noGrp="1"/>
          </p:cNvSpPr>
          <p:nvPr>
            <p:ph type="sldNum" sz="quarter" idx="12"/>
          </p:nvPr>
        </p:nvSpPr>
        <p:spPr/>
        <p:txBody>
          <a:bodyPr/>
          <a:lstStyle/>
          <a:p>
            <a:pPr>
              <a:defRPr/>
            </a:pPr>
            <a:fld id="{2FBC720A-3716-234A-B2DF-CBC7E48049F5}" type="slidenum">
              <a:rPr lang="en-US" altLang="zh-CN" smtClean="0"/>
              <a:t>16</a:t>
            </a:fld>
            <a:endParaRPr lang="en-US" altLang="zh-CN"/>
          </a:p>
        </p:txBody>
      </p:sp>
    </p:spTree>
    <p:extLst>
      <p:ext uri="{BB962C8B-B14F-4D97-AF65-F5344CB8AC3E}">
        <p14:creationId xmlns:p14="http://schemas.microsoft.com/office/powerpoint/2010/main" val="650857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897507"/>
            <a:ext cx="6507480" cy="3683701"/>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rgbClr val="A6A6A6"/>
                </a:solidFill>
                <a:latin typeface="Palatino Linotype"/>
                <a:cs typeface="Palatino Linotype"/>
              </a:rPr>
              <a:t>Course</a:t>
            </a:r>
            <a:r>
              <a:rPr lang="en-US" altLang="zh-CN" sz="2600" kern="1200" spc="-30"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Information</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Why Study</a:t>
            </a:r>
            <a:r>
              <a:rPr lang="en-US" altLang="zh-CN" sz="2600" kern="1200" spc="-30" dirty="0">
                <a:solidFill>
                  <a:srgbClr val="A6A6A6"/>
                </a:solidFill>
                <a:latin typeface="Palatino Linotype"/>
                <a:cs typeface="Palatino Linotype"/>
              </a:rPr>
              <a:t> </a:t>
            </a:r>
            <a:r>
              <a:rPr lang="en-US" altLang="zh-CN" sz="2600" kern="1200" dirty="0">
                <a:solidFill>
                  <a:srgbClr val="A6A6A6"/>
                </a:solidFill>
                <a:latin typeface="Palatino Linotype"/>
                <a:cs typeface="Palatino Linotype"/>
              </a:rPr>
              <a:t>Compilers?</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The </a:t>
            </a:r>
            <a:r>
              <a:rPr lang="en-US" altLang="zh-CN" sz="2600" kern="1200" spc="-5" dirty="0">
                <a:solidFill>
                  <a:srgbClr val="A6A6A6"/>
                </a:solidFill>
                <a:latin typeface="Palatino Linotype"/>
                <a:cs typeface="Palatino Linotype"/>
              </a:rPr>
              <a:t>Evolution </a:t>
            </a:r>
            <a:r>
              <a:rPr lang="en-US" altLang="zh-CN" sz="2600" kern="1200" dirty="0">
                <a:solidFill>
                  <a:srgbClr val="A6A6A6"/>
                </a:solidFill>
                <a:latin typeface="Palatino Linotype"/>
                <a:cs typeface="Palatino Linotype"/>
              </a:rPr>
              <a:t>of Programming</a:t>
            </a:r>
            <a:r>
              <a:rPr lang="en-US" altLang="zh-CN" sz="2600" kern="1200" spc="-25"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Languages</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latin typeface="Palatino Linotype"/>
                <a:cs typeface="Palatino Linotype"/>
              </a:rPr>
              <a:t>Compiler Structure and</a:t>
            </a:r>
            <a:r>
              <a:rPr lang="en-US" altLang="zh-CN" sz="2600" kern="1200" spc="-35" dirty="0">
                <a:latin typeface="Palatino Linotype"/>
                <a:cs typeface="Palatino Linotype"/>
              </a:rPr>
              <a:t> </a:t>
            </a:r>
            <a:r>
              <a:rPr lang="en-US" altLang="zh-CN" sz="2600" kern="1200" spc="-5" dirty="0">
                <a:latin typeface="Palatino Linotype"/>
                <a:cs typeface="Palatino Linotype"/>
              </a:rPr>
              <a:t>Phases</a:t>
            </a:r>
          </a:p>
          <a:p>
            <a:pPr marL="242570" indent="-230504" rtl="0">
              <a:buClr>
                <a:srgbClr val="000000"/>
              </a:buClr>
              <a:buFont typeface="Arial"/>
              <a:buChar char="•"/>
              <a:tabLst>
                <a:tab pos="243204" algn="l"/>
              </a:tabLst>
            </a:pPr>
            <a:endParaRPr lang="en-US" altLang="zh-CN" sz="2600" kern="1200" spc="-5" dirty="0">
              <a:solidFill>
                <a:srgbClr val="A6A6A6"/>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chemeClr val="bg1">
                    <a:lumMod val="65000"/>
                  </a:schemeClr>
                </a:solidFill>
                <a:latin typeface="Palatino Linotype"/>
                <a:cs typeface="Palatino Linotype"/>
              </a:rPr>
              <a:t>How to Learn Compilers?</a:t>
            </a:r>
          </a:p>
        </p:txBody>
      </p:sp>
      <p:sp>
        <p:nvSpPr>
          <p:cNvPr id="2" name="灯片编号占位符 1">
            <a:extLst>
              <a:ext uri="{FF2B5EF4-FFF2-40B4-BE49-F238E27FC236}">
                <a16:creationId xmlns:a16="http://schemas.microsoft.com/office/drawing/2014/main" id="{BDD03C6D-5E52-4C1A-82F9-69C83E6D2915}"/>
              </a:ext>
            </a:extLst>
          </p:cNvPr>
          <p:cNvSpPr>
            <a:spLocks noGrp="1"/>
          </p:cNvSpPr>
          <p:nvPr>
            <p:ph type="sldNum" sz="quarter" idx="12"/>
          </p:nvPr>
        </p:nvSpPr>
        <p:spPr/>
        <p:txBody>
          <a:bodyPr/>
          <a:lstStyle/>
          <a:p>
            <a:pPr>
              <a:defRPr/>
            </a:pPr>
            <a:fld id="{2FBC720A-3716-234A-B2DF-CBC7E48049F5}" type="slidenum">
              <a:rPr lang="en-US" altLang="zh-CN" smtClean="0"/>
              <a:t>17</a:t>
            </a:fld>
            <a:endParaRPr lang="en-US" altLang="zh-CN"/>
          </a:p>
        </p:txBody>
      </p:sp>
    </p:spTree>
    <p:extLst>
      <p:ext uri="{BB962C8B-B14F-4D97-AF65-F5344CB8AC3E}">
        <p14:creationId xmlns:p14="http://schemas.microsoft.com/office/powerpoint/2010/main" val="3233829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3" name="object 2">
            <a:extLst>
              <a:ext uri="{FF2B5EF4-FFF2-40B4-BE49-F238E27FC236}">
                <a16:creationId xmlns:a16="http://schemas.microsoft.com/office/drawing/2014/main" id="{9E5F0F1F-CA74-32F0-8731-BD52E893490A}"/>
              </a:ext>
            </a:extLst>
          </p:cNvPr>
          <p:cNvSpPr txBox="1">
            <a:spLocks/>
          </p:cNvSpPr>
          <p:nvPr/>
        </p:nvSpPr>
        <p:spPr>
          <a:xfrm>
            <a:off x="1314703" y="520141"/>
            <a:ext cx="6512559"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The </a:t>
            </a:r>
            <a:r>
              <a:rPr kumimoji="0" lang="en-US" sz="4000" b="1" i="0" u="none" strike="noStrike" kern="0" cap="none" spc="-10" normalizeH="0" baseline="0" noProof="0">
                <a:ln>
                  <a:noFill/>
                </a:ln>
                <a:solidFill>
                  <a:sysClr val="windowText" lastClr="000000"/>
                </a:solidFill>
                <a:effectLst/>
                <a:uLnTx/>
                <a:uFillTx/>
                <a:latin typeface="Palatino Linotype"/>
                <a:ea typeface="+mj-ea"/>
              </a:rPr>
              <a:t>Structure </a:t>
            </a:r>
            <a:r>
              <a:rPr kumimoji="0" lang="en-US" sz="4000" b="1" i="0" u="none" strike="noStrike" kern="0" cap="none" spc="-5" normalizeH="0" baseline="0" noProof="0">
                <a:ln>
                  <a:noFill/>
                </a:ln>
                <a:solidFill>
                  <a:sysClr val="windowText" lastClr="000000"/>
                </a:solidFill>
                <a:effectLst/>
                <a:uLnTx/>
                <a:uFillTx/>
                <a:latin typeface="Palatino Linotype"/>
                <a:ea typeface="+mj-ea"/>
              </a:rPr>
              <a:t>of a</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Compiler</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24" name="object 3">
            <a:extLst>
              <a:ext uri="{FF2B5EF4-FFF2-40B4-BE49-F238E27FC236}">
                <a16:creationId xmlns:a16="http://schemas.microsoft.com/office/drawing/2014/main" id="{D3FB77DE-F64E-DCC9-18A2-65912E3651EC}"/>
              </a:ext>
            </a:extLst>
          </p:cNvPr>
          <p:cNvSpPr/>
          <p:nvPr/>
        </p:nvSpPr>
        <p:spPr>
          <a:xfrm>
            <a:off x="490347" y="1551432"/>
            <a:ext cx="1338580" cy="1335405"/>
          </a:xfrm>
          <a:custGeom>
            <a:avLst/>
            <a:gdLst/>
            <a:ahLst/>
            <a:cxnLst/>
            <a:rect l="l" t="t" r="r" b="b"/>
            <a:pathLst>
              <a:path w="1338580" h="1335405">
                <a:moveTo>
                  <a:pt x="1255014" y="0"/>
                </a:moveTo>
                <a:lnTo>
                  <a:pt x="166878" y="0"/>
                </a:lnTo>
                <a:lnTo>
                  <a:pt x="134402" y="6554"/>
                </a:lnTo>
                <a:lnTo>
                  <a:pt x="107880" y="24431"/>
                </a:lnTo>
                <a:lnTo>
                  <a:pt x="89996" y="50952"/>
                </a:lnTo>
                <a:lnTo>
                  <a:pt x="83439" y="83438"/>
                </a:lnTo>
                <a:lnTo>
                  <a:pt x="83439" y="1168145"/>
                </a:lnTo>
                <a:lnTo>
                  <a:pt x="0" y="1168145"/>
                </a:lnTo>
                <a:lnTo>
                  <a:pt x="16237" y="1171424"/>
                </a:lnTo>
                <a:lnTo>
                  <a:pt x="29498" y="1180369"/>
                </a:lnTo>
                <a:lnTo>
                  <a:pt x="38440" y="1193649"/>
                </a:lnTo>
                <a:lnTo>
                  <a:pt x="41719" y="1209928"/>
                </a:lnTo>
                <a:lnTo>
                  <a:pt x="38440" y="1226135"/>
                </a:lnTo>
                <a:lnTo>
                  <a:pt x="29498" y="1239377"/>
                </a:lnTo>
                <a:lnTo>
                  <a:pt x="16237" y="1248308"/>
                </a:lnTo>
                <a:lnTo>
                  <a:pt x="0" y="1251584"/>
                </a:lnTo>
                <a:lnTo>
                  <a:pt x="83439" y="1251584"/>
                </a:lnTo>
                <a:lnTo>
                  <a:pt x="76882" y="1284071"/>
                </a:lnTo>
                <a:lnTo>
                  <a:pt x="59002" y="1310592"/>
                </a:lnTo>
                <a:lnTo>
                  <a:pt x="32480" y="1328469"/>
                </a:lnTo>
                <a:lnTo>
                  <a:pt x="0" y="1335023"/>
                </a:lnTo>
                <a:lnTo>
                  <a:pt x="1088136" y="1335023"/>
                </a:lnTo>
                <a:lnTo>
                  <a:pt x="1120622" y="1328469"/>
                </a:lnTo>
                <a:lnTo>
                  <a:pt x="1147143" y="1310592"/>
                </a:lnTo>
                <a:lnTo>
                  <a:pt x="1165020" y="1284071"/>
                </a:lnTo>
                <a:lnTo>
                  <a:pt x="1171575" y="1251584"/>
                </a:lnTo>
                <a:lnTo>
                  <a:pt x="1171575" y="166877"/>
                </a:lnTo>
                <a:lnTo>
                  <a:pt x="166878" y="166877"/>
                </a:lnTo>
                <a:lnTo>
                  <a:pt x="150640" y="163601"/>
                </a:lnTo>
                <a:lnTo>
                  <a:pt x="137379" y="154670"/>
                </a:lnTo>
                <a:lnTo>
                  <a:pt x="128437" y="141428"/>
                </a:lnTo>
                <a:lnTo>
                  <a:pt x="125158" y="125221"/>
                </a:lnTo>
                <a:lnTo>
                  <a:pt x="128437" y="108942"/>
                </a:lnTo>
                <a:lnTo>
                  <a:pt x="137379" y="95662"/>
                </a:lnTo>
                <a:lnTo>
                  <a:pt x="150640" y="86717"/>
                </a:lnTo>
                <a:lnTo>
                  <a:pt x="166878" y="83438"/>
                </a:lnTo>
                <a:lnTo>
                  <a:pt x="1338453" y="83438"/>
                </a:lnTo>
                <a:lnTo>
                  <a:pt x="1331898" y="50952"/>
                </a:lnTo>
                <a:lnTo>
                  <a:pt x="1314021" y="24431"/>
                </a:lnTo>
                <a:lnTo>
                  <a:pt x="1287500" y="6554"/>
                </a:lnTo>
                <a:lnTo>
                  <a:pt x="1255014" y="0"/>
                </a:lnTo>
                <a:close/>
              </a:path>
              <a:path w="1338580" h="1335405">
                <a:moveTo>
                  <a:pt x="1338453" y="83438"/>
                </a:moveTo>
                <a:lnTo>
                  <a:pt x="250317" y="83438"/>
                </a:lnTo>
                <a:lnTo>
                  <a:pt x="243759" y="115925"/>
                </a:lnTo>
                <a:lnTo>
                  <a:pt x="225875" y="142446"/>
                </a:lnTo>
                <a:lnTo>
                  <a:pt x="199353" y="160323"/>
                </a:lnTo>
                <a:lnTo>
                  <a:pt x="166878" y="166877"/>
                </a:lnTo>
                <a:lnTo>
                  <a:pt x="1255014" y="166877"/>
                </a:lnTo>
                <a:lnTo>
                  <a:pt x="1287500" y="160323"/>
                </a:lnTo>
                <a:lnTo>
                  <a:pt x="1314021" y="142446"/>
                </a:lnTo>
                <a:lnTo>
                  <a:pt x="1331898" y="115925"/>
                </a:lnTo>
                <a:lnTo>
                  <a:pt x="1338453" y="83438"/>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4">
            <a:extLst>
              <a:ext uri="{FF2B5EF4-FFF2-40B4-BE49-F238E27FC236}">
                <a16:creationId xmlns:a16="http://schemas.microsoft.com/office/drawing/2014/main" id="{A40B0A0F-B027-5EC1-CBCA-FED58D175E5E}"/>
              </a:ext>
            </a:extLst>
          </p:cNvPr>
          <p:cNvSpPr/>
          <p:nvPr/>
        </p:nvSpPr>
        <p:spPr>
          <a:xfrm>
            <a:off x="406908" y="1634870"/>
            <a:ext cx="334010" cy="1251585"/>
          </a:xfrm>
          <a:custGeom>
            <a:avLst/>
            <a:gdLst/>
            <a:ahLst/>
            <a:cxnLst/>
            <a:rect l="l" t="t" r="r" b="b"/>
            <a:pathLst>
              <a:path w="334009" h="1251585">
                <a:moveTo>
                  <a:pt x="333756" y="0"/>
                </a:moveTo>
                <a:lnTo>
                  <a:pt x="250317" y="0"/>
                </a:lnTo>
                <a:lnTo>
                  <a:pt x="234079" y="3278"/>
                </a:lnTo>
                <a:lnTo>
                  <a:pt x="220818" y="12223"/>
                </a:lnTo>
                <a:lnTo>
                  <a:pt x="211876" y="25503"/>
                </a:lnTo>
                <a:lnTo>
                  <a:pt x="208597" y="41782"/>
                </a:lnTo>
                <a:lnTo>
                  <a:pt x="211876" y="57989"/>
                </a:lnTo>
                <a:lnTo>
                  <a:pt x="220818" y="71231"/>
                </a:lnTo>
                <a:lnTo>
                  <a:pt x="234079" y="80162"/>
                </a:lnTo>
                <a:lnTo>
                  <a:pt x="250317" y="83438"/>
                </a:lnTo>
                <a:lnTo>
                  <a:pt x="282792" y="76884"/>
                </a:lnTo>
                <a:lnTo>
                  <a:pt x="309314" y="59007"/>
                </a:lnTo>
                <a:lnTo>
                  <a:pt x="327198" y="32486"/>
                </a:lnTo>
                <a:lnTo>
                  <a:pt x="333756" y="0"/>
                </a:lnTo>
                <a:close/>
              </a:path>
              <a:path w="334009" h="1251585">
                <a:moveTo>
                  <a:pt x="83439" y="1084706"/>
                </a:moveTo>
                <a:lnTo>
                  <a:pt x="50958" y="1091261"/>
                </a:lnTo>
                <a:lnTo>
                  <a:pt x="24436" y="1109138"/>
                </a:lnTo>
                <a:lnTo>
                  <a:pt x="6556" y="1135659"/>
                </a:lnTo>
                <a:lnTo>
                  <a:pt x="0" y="1168145"/>
                </a:lnTo>
                <a:lnTo>
                  <a:pt x="6556" y="1200632"/>
                </a:lnTo>
                <a:lnTo>
                  <a:pt x="24436" y="1227153"/>
                </a:lnTo>
                <a:lnTo>
                  <a:pt x="50958" y="1245030"/>
                </a:lnTo>
                <a:lnTo>
                  <a:pt x="83439" y="1251584"/>
                </a:lnTo>
                <a:lnTo>
                  <a:pt x="115914" y="1245030"/>
                </a:lnTo>
                <a:lnTo>
                  <a:pt x="142436" y="1227153"/>
                </a:lnTo>
                <a:lnTo>
                  <a:pt x="160320" y="1200632"/>
                </a:lnTo>
                <a:lnTo>
                  <a:pt x="166878" y="1168145"/>
                </a:lnTo>
                <a:lnTo>
                  <a:pt x="83439" y="1168145"/>
                </a:lnTo>
                <a:lnTo>
                  <a:pt x="99676" y="1164867"/>
                </a:lnTo>
                <a:lnTo>
                  <a:pt x="112937" y="1155922"/>
                </a:lnTo>
                <a:lnTo>
                  <a:pt x="121879" y="1142642"/>
                </a:lnTo>
                <a:lnTo>
                  <a:pt x="125158" y="1126363"/>
                </a:lnTo>
                <a:lnTo>
                  <a:pt x="121879" y="1110156"/>
                </a:lnTo>
                <a:lnTo>
                  <a:pt x="112937" y="1096914"/>
                </a:lnTo>
                <a:lnTo>
                  <a:pt x="99676" y="1087983"/>
                </a:lnTo>
                <a:lnTo>
                  <a:pt x="83439" y="1084706"/>
                </a:lnTo>
                <a:close/>
              </a:path>
            </a:pathLst>
          </a:custGeom>
          <a:solidFill>
            <a:srgbClr val="CDC3A3"/>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5">
            <a:extLst>
              <a:ext uri="{FF2B5EF4-FFF2-40B4-BE49-F238E27FC236}">
                <a16:creationId xmlns:a16="http://schemas.microsoft.com/office/drawing/2014/main" id="{58F2BF74-5C04-FB6B-F66E-C95CD9C3A22D}"/>
              </a:ext>
            </a:extLst>
          </p:cNvPr>
          <p:cNvSpPr/>
          <p:nvPr/>
        </p:nvSpPr>
        <p:spPr>
          <a:xfrm>
            <a:off x="406908" y="1551432"/>
            <a:ext cx="1422400" cy="1335405"/>
          </a:xfrm>
          <a:custGeom>
            <a:avLst/>
            <a:gdLst/>
            <a:ahLst/>
            <a:cxnLst/>
            <a:rect l="l" t="t" r="r" b="b"/>
            <a:pathLst>
              <a:path w="1422400" h="1335405">
                <a:moveTo>
                  <a:pt x="166878" y="1168145"/>
                </a:moveTo>
                <a:lnTo>
                  <a:pt x="166878" y="83438"/>
                </a:lnTo>
                <a:lnTo>
                  <a:pt x="173435" y="50952"/>
                </a:lnTo>
                <a:lnTo>
                  <a:pt x="191319" y="24431"/>
                </a:lnTo>
                <a:lnTo>
                  <a:pt x="217841" y="6554"/>
                </a:lnTo>
                <a:lnTo>
                  <a:pt x="250317" y="0"/>
                </a:lnTo>
                <a:lnTo>
                  <a:pt x="1338453" y="0"/>
                </a:lnTo>
                <a:lnTo>
                  <a:pt x="1370939" y="6554"/>
                </a:lnTo>
                <a:lnTo>
                  <a:pt x="1397460" y="24431"/>
                </a:lnTo>
                <a:lnTo>
                  <a:pt x="1415337" y="50952"/>
                </a:lnTo>
                <a:lnTo>
                  <a:pt x="1421892" y="83438"/>
                </a:lnTo>
                <a:lnTo>
                  <a:pt x="1415337" y="115925"/>
                </a:lnTo>
                <a:lnTo>
                  <a:pt x="1397460" y="142446"/>
                </a:lnTo>
                <a:lnTo>
                  <a:pt x="1370939" y="160323"/>
                </a:lnTo>
                <a:lnTo>
                  <a:pt x="1338453" y="166877"/>
                </a:lnTo>
                <a:lnTo>
                  <a:pt x="1255014" y="166877"/>
                </a:lnTo>
                <a:lnTo>
                  <a:pt x="1255014" y="1251584"/>
                </a:lnTo>
                <a:lnTo>
                  <a:pt x="1248459" y="1284071"/>
                </a:lnTo>
                <a:lnTo>
                  <a:pt x="1230582" y="1310592"/>
                </a:lnTo>
                <a:lnTo>
                  <a:pt x="1204061" y="1328469"/>
                </a:lnTo>
                <a:lnTo>
                  <a:pt x="1171575" y="1335023"/>
                </a:lnTo>
                <a:lnTo>
                  <a:pt x="83439" y="1335023"/>
                </a:lnTo>
                <a:lnTo>
                  <a:pt x="50963" y="1328469"/>
                </a:lnTo>
                <a:lnTo>
                  <a:pt x="24441" y="1310592"/>
                </a:lnTo>
                <a:lnTo>
                  <a:pt x="6557" y="1284071"/>
                </a:lnTo>
                <a:lnTo>
                  <a:pt x="0" y="1251584"/>
                </a:lnTo>
                <a:lnTo>
                  <a:pt x="6557" y="1219098"/>
                </a:lnTo>
                <a:lnTo>
                  <a:pt x="24441" y="1192577"/>
                </a:lnTo>
                <a:lnTo>
                  <a:pt x="50963" y="1174700"/>
                </a:lnTo>
                <a:lnTo>
                  <a:pt x="83439" y="1168145"/>
                </a:lnTo>
                <a:lnTo>
                  <a:pt x="166878" y="1168145"/>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6">
            <a:extLst>
              <a:ext uri="{FF2B5EF4-FFF2-40B4-BE49-F238E27FC236}">
                <a16:creationId xmlns:a16="http://schemas.microsoft.com/office/drawing/2014/main" id="{BC0D45D1-6B5E-7EB6-CEF5-D97B2B2A9F40}"/>
              </a:ext>
            </a:extLst>
          </p:cNvPr>
          <p:cNvSpPr/>
          <p:nvPr/>
        </p:nvSpPr>
        <p:spPr>
          <a:xfrm>
            <a:off x="609155" y="1545082"/>
            <a:ext cx="137858" cy="179577"/>
          </a:xfrm>
          <a:prstGeom prst="rect">
            <a:avLst/>
          </a:prstGeom>
          <a:blipFill>
            <a:blip r:embed="rId3"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7">
            <a:extLst>
              <a:ext uri="{FF2B5EF4-FFF2-40B4-BE49-F238E27FC236}">
                <a16:creationId xmlns:a16="http://schemas.microsoft.com/office/drawing/2014/main" id="{D48D8774-507C-C33E-8C6D-6CA4570D95C5}"/>
              </a:ext>
            </a:extLst>
          </p:cNvPr>
          <p:cNvSpPr/>
          <p:nvPr/>
        </p:nvSpPr>
        <p:spPr>
          <a:xfrm>
            <a:off x="657225" y="1718310"/>
            <a:ext cx="1005205" cy="0"/>
          </a:xfrm>
          <a:custGeom>
            <a:avLst/>
            <a:gdLst/>
            <a:ahLst/>
            <a:cxnLst/>
            <a:rect l="l" t="t" r="r" b="b"/>
            <a:pathLst>
              <a:path w="1005205">
                <a:moveTo>
                  <a:pt x="1004697" y="0"/>
                </a:moveTo>
                <a:lnTo>
                  <a:pt x="0" y="0"/>
                </a:lnTo>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8">
            <a:extLst>
              <a:ext uri="{FF2B5EF4-FFF2-40B4-BE49-F238E27FC236}">
                <a16:creationId xmlns:a16="http://schemas.microsoft.com/office/drawing/2014/main" id="{EA028E54-4D52-909A-E1A0-2C2DAFD1C498}"/>
              </a:ext>
            </a:extLst>
          </p:cNvPr>
          <p:cNvSpPr/>
          <p:nvPr/>
        </p:nvSpPr>
        <p:spPr>
          <a:xfrm>
            <a:off x="483997" y="2713227"/>
            <a:ext cx="96139" cy="179577"/>
          </a:xfrm>
          <a:prstGeom prst="rect">
            <a:avLst/>
          </a:prstGeom>
          <a:blipFill>
            <a:blip r:embed="rId4"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9">
            <a:extLst>
              <a:ext uri="{FF2B5EF4-FFF2-40B4-BE49-F238E27FC236}">
                <a16:creationId xmlns:a16="http://schemas.microsoft.com/office/drawing/2014/main" id="{3A8A7882-E11E-CEB4-589C-2169624A01E2}"/>
              </a:ext>
            </a:extLst>
          </p:cNvPr>
          <p:cNvSpPr txBox="1"/>
          <p:nvPr/>
        </p:nvSpPr>
        <p:spPr>
          <a:xfrm>
            <a:off x="745642" y="1943226"/>
            <a:ext cx="744220" cy="604520"/>
          </a:xfrm>
          <a:prstGeom prst="rect">
            <a:avLst/>
          </a:prstGeom>
        </p:spPr>
        <p:txBody>
          <a:bodyPr vert="horz" wrap="square" lIns="0" tIns="12065" rIns="0" bIns="0" rtlCol="0">
            <a:spAutoFit/>
          </a:bodyPr>
          <a:lstStyle/>
          <a:p>
            <a:pPr marL="88900" marR="5080" indent="-76200" rtl="0">
              <a:spcBef>
                <a:spcPts val="95"/>
              </a:spcBef>
            </a:pPr>
            <a:r>
              <a:rPr sz="1900" kern="1200" spc="-5" dirty="0">
                <a:solidFill>
                  <a:prstClr val="black"/>
                </a:solidFill>
                <a:latin typeface="Palatino Linotype"/>
                <a:cs typeface="Palatino Linotype"/>
              </a:rPr>
              <a:t>So</a:t>
            </a:r>
            <a:r>
              <a:rPr sz="1900" kern="1200" spc="-15" dirty="0">
                <a:solidFill>
                  <a:prstClr val="black"/>
                </a:solidFill>
                <a:latin typeface="Palatino Linotype"/>
                <a:cs typeface="Palatino Linotype"/>
              </a:rPr>
              <a:t>u</a:t>
            </a:r>
            <a:r>
              <a:rPr sz="1900" kern="1200" spc="-5" dirty="0">
                <a:solidFill>
                  <a:prstClr val="black"/>
                </a:solidFill>
                <a:latin typeface="Palatino Linotype"/>
                <a:cs typeface="Palatino Linotype"/>
              </a:rPr>
              <a:t>r</a:t>
            </a:r>
            <a:r>
              <a:rPr sz="1900" kern="1200" spc="-15" dirty="0">
                <a:solidFill>
                  <a:prstClr val="black"/>
                </a:solidFill>
                <a:latin typeface="Palatino Linotype"/>
                <a:cs typeface="Palatino Linotype"/>
              </a:rPr>
              <a:t>c</a:t>
            </a:r>
            <a:r>
              <a:rPr sz="1900" kern="1200" spc="-5" dirty="0">
                <a:solidFill>
                  <a:prstClr val="black"/>
                </a:solidFill>
                <a:latin typeface="Palatino Linotype"/>
                <a:cs typeface="Palatino Linotype"/>
              </a:rPr>
              <a:t>e  Code</a:t>
            </a:r>
            <a:endParaRPr sz="1900" kern="1200" dirty="0">
              <a:solidFill>
                <a:prstClr val="black"/>
              </a:solidFill>
              <a:latin typeface="Palatino Linotype"/>
              <a:cs typeface="Palatino Linotype"/>
            </a:endParaRPr>
          </a:p>
        </p:txBody>
      </p:sp>
      <p:graphicFrame>
        <p:nvGraphicFramePr>
          <p:cNvPr id="31" name="object 10">
            <a:extLst>
              <a:ext uri="{FF2B5EF4-FFF2-40B4-BE49-F238E27FC236}">
                <a16:creationId xmlns:a16="http://schemas.microsoft.com/office/drawing/2014/main" id="{AA8778E5-051C-862E-487C-22FC8275C920}"/>
              </a:ext>
            </a:extLst>
          </p:cNvPr>
          <p:cNvGraphicFramePr>
            <a:graphicFrameLocks noGrp="1"/>
          </p:cNvGraphicFramePr>
          <p:nvPr/>
        </p:nvGraphicFramePr>
        <p:xfrm>
          <a:off x="2650617" y="1721104"/>
          <a:ext cx="3569970" cy="4248008"/>
        </p:xfrm>
        <a:graphic>
          <a:graphicData uri="http://schemas.openxmlformats.org/drawingml/2006/table">
            <a:tbl>
              <a:tblPr firstRow="1" bandRow="1"/>
              <a:tblGrid>
                <a:gridCol w="3569970">
                  <a:extLst>
                    <a:ext uri="{9D8B030D-6E8A-4147-A177-3AD203B41FA5}">
                      <a16:colId xmlns:a16="http://schemas.microsoft.com/office/drawing/2014/main" val="20000"/>
                    </a:ext>
                  </a:extLst>
                </a:gridCol>
              </a:tblGrid>
              <a:tr h="555498">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270" algn="ctr">
                        <a:lnSpc>
                          <a:spcPct val="100000"/>
                        </a:lnSpc>
                        <a:spcBef>
                          <a:spcPts val="925"/>
                        </a:spcBef>
                      </a:pPr>
                      <a:r>
                        <a:rPr sz="1900" spc="-5" dirty="0">
                          <a:latin typeface="Palatino Linotype"/>
                          <a:cs typeface="Palatino Linotype"/>
                        </a:rPr>
                        <a:t>Lexical</a:t>
                      </a:r>
                      <a:r>
                        <a:rPr sz="1900" spc="-90" dirty="0">
                          <a:latin typeface="Palatino Linotype"/>
                          <a:cs typeface="Palatino Linotype"/>
                        </a:rPr>
                        <a:t> </a:t>
                      </a:r>
                      <a:r>
                        <a:rPr sz="1900" spc="-5" dirty="0">
                          <a:latin typeface="Palatino Linotype"/>
                          <a:cs typeface="Palatino Linotype"/>
                        </a:rPr>
                        <a:t>Analyzer</a:t>
                      </a:r>
                      <a:endParaRPr sz="1900">
                        <a:latin typeface="Palatino Linotype"/>
                        <a:cs typeface="Palatino Linotype"/>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555498">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35" algn="ctr">
                        <a:lnSpc>
                          <a:spcPct val="100000"/>
                        </a:lnSpc>
                        <a:spcBef>
                          <a:spcPts val="925"/>
                        </a:spcBef>
                      </a:pPr>
                      <a:r>
                        <a:rPr sz="1900" spc="-5" dirty="0">
                          <a:latin typeface="Palatino Linotype"/>
                          <a:cs typeface="Palatino Linotype"/>
                        </a:rPr>
                        <a:t>Syntax</a:t>
                      </a:r>
                      <a:r>
                        <a:rPr sz="1900" spc="-70" dirty="0">
                          <a:latin typeface="Palatino Linotype"/>
                          <a:cs typeface="Palatino Linotype"/>
                        </a:rPr>
                        <a:t> </a:t>
                      </a:r>
                      <a:r>
                        <a:rPr sz="1900" spc="-5" dirty="0">
                          <a:latin typeface="Palatino Linotype"/>
                          <a:cs typeface="Palatino Linotype"/>
                        </a:rPr>
                        <a:t>Analyzer</a:t>
                      </a:r>
                      <a:endParaRPr sz="1900">
                        <a:latin typeface="Palatino Linotype"/>
                        <a:cs typeface="Palatino Linotype"/>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555498">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540" algn="ctr">
                        <a:lnSpc>
                          <a:spcPct val="100000"/>
                        </a:lnSpc>
                        <a:spcBef>
                          <a:spcPts val="925"/>
                        </a:spcBef>
                      </a:pPr>
                      <a:r>
                        <a:rPr sz="1900" spc="-5" dirty="0">
                          <a:latin typeface="Palatino Linotype"/>
                          <a:cs typeface="Palatino Linotype"/>
                        </a:rPr>
                        <a:t>Semantic</a:t>
                      </a:r>
                      <a:r>
                        <a:rPr sz="1900" spc="-75" dirty="0">
                          <a:latin typeface="Palatino Linotype"/>
                          <a:cs typeface="Palatino Linotype"/>
                        </a:rPr>
                        <a:t> </a:t>
                      </a:r>
                      <a:r>
                        <a:rPr sz="1900" spc="-5" dirty="0">
                          <a:latin typeface="Palatino Linotype"/>
                          <a:cs typeface="Palatino Linotype"/>
                        </a:rPr>
                        <a:t>Analyzer</a:t>
                      </a:r>
                      <a:endParaRPr sz="1900">
                        <a:latin typeface="Palatino Linotype"/>
                        <a:cs typeface="Palatino Linotype"/>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55549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930"/>
                        </a:spcBef>
                      </a:pPr>
                      <a:r>
                        <a:rPr sz="1900" spc="-5" dirty="0">
                          <a:latin typeface="Palatino Linotype"/>
                          <a:cs typeface="Palatino Linotype"/>
                        </a:rPr>
                        <a:t>Intermediate Code</a:t>
                      </a:r>
                      <a:r>
                        <a:rPr sz="1900" spc="15" dirty="0">
                          <a:latin typeface="Palatino Linotype"/>
                          <a:cs typeface="Palatino Linotype"/>
                        </a:rPr>
                        <a:t> </a:t>
                      </a:r>
                      <a:r>
                        <a:rPr sz="1900" spc="-10" dirty="0">
                          <a:latin typeface="Palatino Linotype"/>
                          <a:cs typeface="Palatino Linotype"/>
                        </a:rPr>
                        <a:t>Generator</a:t>
                      </a:r>
                      <a:endParaRPr sz="1900" dirty="0">
                        <a:latin typeface="Palatino Linotype"/>
                        <a:cs typeface="Palatino Linotype"/>
                      </a:endParaRPr>
                    </a:p>
                  </a:txBody>
                  <a:tcPr marL="0" marR="0" marT="1181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r h="73520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3925" marR="593725" indent="-325120">
                        <a:lnSpc>
                          <a:spcPct val="100000"/>
                        </a:lnSpc>
                        <a:spcBef>
                          <a:spcPts val="500"/>
                        </a:spcBef>
                      </a:pPr>
                      <a:r>
                        <a:rPr sz="1900" dirty="0">
                          <a:latin typeface="Palatino Linotype"/>
                          <a:cs typeface="Palatino Linotype"/>
                        </a:rPr>
                        <a:t>Ma</a:t>
                      </a:r>
                      <a:r>
                        <a:rPr sz="1900" spc="-10" dirty="0">
                          <a:latin typeface="Palatino Linotype"/>
                          <a:cs typeface="Palatino Linotype"/>
                        </a:rPr>
                        <a:t>c</a:t>
                      </a:r>
                      <a:r>
                        <a:rPr sz="1900" spc="-5" dirty="0">
                          <a:latin typeface="Palatino Linotype"/>
                          <a:cs typeface="Palatino Linotype"/>
                        </a:rPr>
                        <a:t>hin</a:t>
                      </a:r>
                      <a:r>
                        <a:rPr sz="1900" spc="5" dirty="0">
                          <a:latin typeface="Palatino Linotype"/>
                          <a:cs typeface="Palatino Linotype"/>
                        </a:rPr>
                        <a:t>e</a:t>
                      </a:r>
                      <a:r>
                        <a:rPr sz="1900" dirty="0">
                          <a:latin typeface="Palatino Linotype"/>
                          <a:cs typeface="Palatino Linotype"/>
                        </a:rPr>
                        <a:t>-Ind</a:t>
                      </a:r>
                      <a:r>
                        <a:rPr sz="1900" spc="5" dirty="0">
                          <a:latin typeface="Palatino Linotype"/>
                          <a:cs typeface="Palatino Linotype"/>
                        </a:rPr>
                        <a:t>e</a:t>
                      </a:r>
                      <a:r>
                        <a:rPr sz="1900" spc="-5" dirty="0">
                          <a:latin typeface="Palatino Linotype"/>
                          <a:cs typeface="Palatino Linotype"/>
                        </a:rPr>
                        <a:t>pen</a:t>
                      </a:r>
                      <a:r>
                        <a:rPr sz="1900" spc="5" dirty="0">
                          <a:latin typeface="Palatino Linotype"/>
                          <a:cs typeface="Palatino Linotype"/>
                        </a:rPr>
                        <a:t>d</a:t>
                      </a:r>
                      <a:r>
                        <a:rPr sz="1900" dirty="0">
                          <a:latin typeface="Palatino Linotype"/>
                          <a:cs typeface="Palatino Linotype"/>
                        </a:rPr>
                        <a:t>ent  </a:t>
                      </a:r>
                      <a:r>
                        <a:rPr sz="1900" spc="-5" dirty="0">
                          <a:latin typeface="Palatino Linotype"/>
                          <a:cs typeface="Palatino Linotype"/>
                        </a:rPr>
                        <a:t>Code </a:t>
                      </a:r>
                      <a:r>
                        <a:rPr sz="1900" spc="-10" dirty="0">
                          <a:latin typeface="Palatino Linotype"/>
                          <a:cs typeface="Palatino Linotype"/>
                        </a:rPr>
                        <a:t>Optimizer</a:t>
                      </a:r>
                      <a:endParaRPr sz="1900">
                        <a:latin typeface="Palatino Linotype"/>
                        <a:cs typeface="Palatino Linotype"/>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10004"/>
                  </a:ext>
                </a:extLst>
              </a:tr>
              <a:tr h="55549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930"/>
                        </a:spcBef>
                      </a:pPr>
                      <a:r>
                        <a:rPr sz="1900" spc="-5" dirty="0">
                          <a:latin typeface="Palatino Linotype"/>
                          <a:cs typeface="Palatino Linotype"/>
                        </a:rPr>
                        <a:t>Code</a:t>
                      </a:r>
                      <a:r>
                        <a:rPr sz="1900" dirty="0">
                          <a:latin typeface="Palatino Linotype"/>
                          <a:cs typeface="Palatino Linotype"/>
                        </a:rPr>
                        <a:t> </a:t>
                      </a:r>
                      <a:r>
                        <a:rPr sz="1900" spc="-10" dirty="0">
                          <a:latin typeface="Palatino Linotype"/>
                          <a:cs typeface="Palatino Linotype"/>
                        </a:rPr>
                        <a:t>Generator</a:t>
                      </a:r>
                      <a:endParaRPr sz="1900">
                        <a:latin typeface="Palatino Linotype"/>
                        <a:cs typeface="Palatino Linotype"/>
                      </a:endParaRPr>
                    </a:p>
                  </a:txBody>
                  <a:tcPr marL="0" marR="0" marT="1181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10005"/>
                  </a:ext>
                </a:extLst>
              </a:tr>
              <a:tr h="73531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3925" marR="684530" indent="-233679">
                        <a:lnSpc>
                          <a:spcPct val="100000"/>
                        </a:lnSpc>
                        <a:spcBef>
                          <a:spcPts val="500"/>
                        </a:spcBef>
                      </a:pPr>
                      <a:r>
                        <a:rPr sz="1900" dirty="0">
                          <a:latin typeface="Palatino Linotype"/>
                          <a:cs typeface="Palatino Linotype"/>
                        </a:rPr>
                        <a:t>Ma</a:t>
                      </a:r>
                      <a:r>
                        <a:rPr sz="1900" spc="-10" dirty="0">
                          <a:latin typeface="Palatino Linotype"/>
                          <a:cs typeface="Palatino Linotype"/>
                        </a:rPr>
                        <a:t>c</a:t>
                      </a:r>
                      <a:r>
                        <a:rPr sz="1900" spc="-5" dirty="0">
                          <a:latin typeface="Palatino Linotype"/>
                          <a:cs typeface="Palatino Linotype"/>
                        </a:rPr>
                        <a:t>hin</a:t>
                      </a:r>
                      <a:r>
                        <a:rPr sz="1900" spc="5" dirty="0">
                          <a:latin typeface="Palatino Linotype"/>
                          <a:cs typeface="Palatino Linotype"/>
                        </a:rPr>
                        <a:t>e</a:t>
                      </a:r>
                      <a:r>
                        <a:rPr sz="1900" dirty="0">
                          <a:latin typeface="Palatino Linotype"/>
                          <a:cs typeface="Palatino Linotype"/>
                        </a:rPr>
                        <a:t>-Depen</a:t>
                      </a:r>
                      <a:r>
                        <a:rPr sz="1900" spc="5" dirty="0">
                          <a:latin typeface="Palatino Linotype"/>
                          <a:cs typeface="Palatino Linotype"/>
                        </a:rPr>
                        <a:t>d</a:t>
                      </a:r>
                      <a:r>
                        <a:rPr sz="1900" dirty="0">
                          <a:latin typeface="Palatino Linotype"/>
                          <a:cs typeface="Palatino Linotype"/>
                        </a:rPr>
                        <a:t>ent  </a:t>
                      </a:r>
                      <a:r>
                        <a:rPr sz="1900" spc="-5" dirty="0">
                          <a:latin typeface="Palatino Linotype"/>
                          <a:cs typeface="Palatino Linotype"/>
                        </a:rPr>
                        <a:t>Code</a:t>
                      </a:r>
                      <a:r>
                        <a:rPr sz="1900" spc="-10" dirty="0">
                          <a:latin typeface="Palatino Linotype"/>
                          <a:cs typeface="Palatino Linotype"/>
                        </a:rPr>
                        <a:t> Optimizer</a:t>
                      </a:r>
                      <a:endParaRPr sz="1900" dirty="0">
                        <a:latin typeface="Palatino Linotype"/>
                        <a:cs typeface="Palatino Linotype"/>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10006"/>
                  </a:ext>
                </a:extLst>
              </a:tr>
            </a:tbl>
          </a:graphicData>
        </a:graphic>
      </p:graphicFrame>
      <p:sp>
        <p:nvSpPr>
          <p:cNvPr id="32" name="object 11">
            <a:extLst>
              <a:ext uri="{FF2B5EF4-FFF2-40B4-BE49-F238E27FC236}">
                <a16:creationId xmlns:a16="http://schemas.microsoft.com/office/drawing/2014/main" id="{5B3749CD-1219-8DD5-5C2E-B980D5376207}"/>
              </a:ext>
            </a:extLst>
          </p:cNvPr>
          <p:cNvSpPr/>
          <p:nvPr/>
        </p:nvSpPr>
        <p:spPr>
          <a:xfrm>
            <a:off x="1828800" y="1819655"/>
            <a:ext cx="711835" cy="269875"/>
          </a:xfrm>
          <a:custGeom>
            <a:avLst/>
            <a:gdLst/>
            <a:ahLst/>
            <a:cxnLst/>
            <a:rect l="l" t="t" r="r" b="b"/>
            <a:pathLst>
              <a:path w="711835" h="269875">
                <a:moveTo>
                  <a:pt x="576833" y="0"/>
                </a:moveTo>
                <a:lnTo>
                  <a:pt x="576833" y="67437"/>
                </a:lnTo>
                <a:lnTo>
                  <a:pt x="0" y="67437"/>
                </a:lnTo>
                <a:lnTo>
                  <a:pt x="0" y="202311"/>
                </a:lnTo>
                <a:lnTo>
                  <a:pt x="576833" y="202311"/>
                </a:lnTo>
                <a:lnTo>
                  <a:pt x="576833" y="269748"/>
                </a:lnTo>
                <a:lnTo>
                  <a:pt x="711707" y="134874"/>
                </a:lnTo>
                <a:lnTo>
                  <a:pt x="576833" y="0"/>
                </a:lnTo>
                <a:close/>
              </a:path>
            </a:pathLst>
          </a:custGeom>
          <a:solidFill>
            <a:srgbClr val="9DC3E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12">
            <a:extLst>
              <a:ext uri="{FF2B5EF4-FFF2-40B4-BE49-F238E27FC236}">
                <a16:creationId xmlns:a16="http://schemas.microsoft.com/office/drawing/2014/main" id="{725044EC-6C14-9C47-7F8A-FA2F77E51C6F}"/>
              </a:ext>
            </a:extLst>
          </p:cNvPr>
          <p:cNvSpPr/>
          <p:nvPr/>
        </p:nvSpPr>
        <p:spPr>
          <a:xfrm>
            <a:off x="1828800" y="1819655"/>
            <a:ext cx="711835" cy="269875"/>
          </a:xfrm>
          <a:custGeom>
            <a:avLst/>
            <a:gdLst/>
            <a:ahLst/>
            <a:cxnLst/>
            <a:rect l="l" t="t" r="r" b="b"/>
            <a:pathLst>
              <a:path w="711835" h="269875">
                <a:moveTo>
                  <a:pt x="0" y="67437"/>
                </a:moveTo>
                <a:lnTo>
                  <a:pt x="576833" y="67437"/>
                </a:lnTo>
                <a:lnTo>
                  <a:pt x="576833" y="0"/>
                </a:lnTo>
                <a:lnTo>
                  <a:pt x="711707" y="134874"/>
                </a:lnTo>
                <a:lnTo>
                  <a:pt x="576833" y="269748"/>
                </a:lnTo>
                <a:lnTo>
                  <a:pt x="576833" y="202311"/>
                </a:lnTo>
                <a:lnTo>
                  <a:pt x="0" y="202311"/>
                </a:lnTo>
                <a:lnTo>
                  <a:pt x="0" y="67437"/>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13">
            <a:extLst>
              <a:ext uri="{FF2B5EF4-FFF2-40B4-BE49-F238E27FC236}">
                <a16:creationId xmlns:a16="http://schemas.microsoft.com/office/drawing/2014/main" id="{4A61A8C6-F817-AB05-2978-BFDE3FAA10D5}"/>
              </a:ext>
            </a:extLst>
          </p:cNvPr>
          <p:cNvSpPr txBox="1"/>
          <p:nvPr/>
        </p:nvSpPr>
        <p:spPr>
          <a:xfrm>
            <a:off x="7223759" y="5166359"/>
            <a:ext cx="1412875" cy="914400"/>
          </a:xfrm>
          <a:prstGeom prst="rect">
            <a:avLst/>
          </a:prstGeom>
          <a:solidFill>
            <a:srgbClr val="000000"/>
          </a:solidFill>
          <a:ln w="12700">
            <a:solidFill>
              <a:srgbClr val="2E528F"/>
            </a:solidFill>
          </a:ln>
        </p:spPr>
        <p:txBody>
          <a:bodyPr vert="horz" wrap="square" lIns="0" tIns="153670" rIns="0" bIns="0" rtlCol="0">
            <a:spAutoFit/>
          </a:bodyPr>
          <a:lstStyle/>
          <a:p>
            <a:pPr marL="423545" marR="238125" indent="-177165" rtl="0">
              <a:spcBef>
                <a:spcPts val="1210"/>
              </a:spcBef>
            </a:pPr>
            <a:r>
              <a:rPr sz="1900" kern="1200" spc="-5" dirty="0">
                <a:solidFill>
                  <a:srgbClr val="00AF50"/>
                </a:solidFill>
                <a:latin typeface="Palatino Linotype"/>
                <a:cs typeface="Palatino Linotype"/>
              </a:rPr>
              <a:t>Ma</a:t>
            </a:r>
            <a:r>
              <a:rPr sz="1900" kern="1200" spc="-15" dirty="0">
                <a:solidFill>
                  <a:srgbClr val="00AF50"/>
                </a:solidFill>
                <a:latin typeface="Palatino Linotype"/>
                <a:cs typeface="Palatino Linotype"/>
              </a:rPr>
              <a:t>c</a:t>
            </a:r>
            <a:r>
              <a:rPr sz="1900" kern="1200" spc="-10" dirty="0">
                <a:solidFill>
                  <a:srgbClr val="00AF50"/>
                </a:solidFill>
                <a:latin typeface="Palatino Linotype"/>
                <a:cs typeface="Palatino Linotype"/>
              </a:rPr>
              <a:t>hine  </a:t>
            </a:r>
            <a:r>
              <a:rPr sz="1900" kern="1200" spc="-5" dirty="0">
                <a:solidFill>
                  <a:srgbClr val="00AF50"/>
                </a:solidFill>
                <a:latin typeface="Palatino Linotype"/>
                <a:cs typeface="Palatino Linotype"/>
              </a:rPr>
              <a:t>Code</a:t>
            </a:r>
            <a:endParaRPr sz="1900" kern="1200">
              <a:solidFill>
                <a:prstClr val="black"/>
              </a:solidFill>
              <a:latin typeface="Palatino Linotype"/>
              <a:cs typeface="Palatino Linotype"/>
            </a:endParaRPr>
          </a:p>
        </p:txBody>
      </p:sp>
      <p:sp>
        <p:nvSpPr>
          <p:cNvPr id="35" name="object 14">
            <a:extLst>
              <a:ext uri="{FF2B5EF4-FFF2-40B4-BE49-F238E27FC236}">
                <a16:creationId xmlns:a16="http://schemas.microsoft.com/office/drawing/2014/main" id="{94E7D914-DE8E-AE9E-DA6D-074D2E174AEF}"/>
              </a:ext>
            </a:extLst>
          </p:cNvPr>
          <p:cNvSpPr/>
          <p:nvPr/>
        </p:nvSpPr>
        <p:spPr>
          <a:xfrm>
            <a:off x="6342888" y="5489447"/>
            <a:ext cx="711835" cy="269875"/>
          </a:xfrm>
          <a:custGeom>
            <a:avLst/>
            <a:gdLst/>
            <a:ahLst/>
            <a:cxnLst/>
            <a:rect l="l" t="t" r="r" b="b"/>
            <a:pathLst>
              <a:path w="711834" h="269875">
                <a:moveTo>
                  <a:pt x="576834" y="0"/>
                </a:moveTo>
                <a:lnTo>
                  <a:pt x="576834" y="67436"/>
                </a:lnTo>
                <a:lnTo>
                  <a:pt x="0" y="67436"/>
                </a:lnTo>
                <a:lnTo>
                  <a:pt x="0" y="202310"/>
                </a:lnTo>
                <a:lnTo>
                  <a:pt x="576834" y="202310"/>
                </a:lnTo>
                <a:lnTo>
                  <a:pt x="576834" y="269747"/>
                </a:lnTo>
                <a:lnTo>
                  <a:pt x="711708" y="134873"/>
                </a:lnTo>
                <a:lnTo>
                  <a:pt x="576834" y="0"/>
                </a:lnTo>
                <a:close/>
              </a:path>
            </a:pathLst>
          </a:custGeom>
          <a:solidFill>
            <a:srgbClr val="9DC3E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6" name="object 15">
            <a:extLst>
              <a:ext uri="{FF2B5EF4-FFF2-40B4-BE49-F238E27FC236}">
                <a16:creationId xmlns:a16="http://schemas.microsoft.com/office/drawing/2014/main" id="{940F2C70-FF13-F92E-519D-17874D60B175}"/>
              </a:ext>
            </a:extLst>
          </p:cNvPr>
          <p:cNvSpPr/>
          <p:nvPr/>
        </p:nvSpPr>
        <p:spPr>
          <a:xfrm>
            <a:off x="6342888" y="5489447"/>
            <a:ext cx="711835" cy="269875"/>
          </a:xfrm>
          <a:custGeom>
            <a:avLst/>
            <a:gdLst/>
            <a:ahLst/>
            <a:cxnLst/>
            <a:rect l="l" t="t" r="r" b="b"/>
            <a:pathLst>
              <a:path w="711834" h="269875">
                <a:moveTo>
                  <a:pt x="0" y="67436"/>
                </a:moveTo>
                <a:lnTo>
                  <a:pt x="576834" y="67436"/>
                </a:lnTo>
                <a:lnTo>
                  <a:pt x="576834" y="0"/>
                </a:lnTo>
                <a:lnTo>
                  <a:pt x="711708" y="134873"/>
                </a:lnTo>
                <a:lnTo>
                  <a:pt x="576834" y="269747"/>
                </a:lnTo>
                <a:lnTo>
                  <a:pt x="576834" y="202310"/>
                </a:lnTo>
                <a:lnTo>
                  <a:pt x="0" y="202310"/>
                </a:lnTo>
                <a:lnTo>
                  <a:pt x="0" y="67436"/>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6">
            <a:extLst>
              <a:ext uri="{FF2B5EF4-FFF2-40B4-BE49-F238E27FC236}">
                <a16:creationId xmlns:a16="http://schemas.microsoft.com/office/drawing/2014/main" id="{89A1D6F0-DB77-6192-7091-53CE81BF94A3}"/>
              </a:ext>
            </a:extLst>
          </p:cNvPr>
          <p:cNvSpPr/>
          <p:nvPr/>
        </p:nvSpPr>
        <p:spPr>
          <a:xfrm>
            <a:off x="6437376" y="1728216"/>
            <a:ext cx="262255" cy="2190115"/>
          </a:xfrm>
          <a:custGeom>
            <a:avLst/>
            <a:gdLst/>
            <a:ahLst/>
            <a:cxnLst/>
            <a:rect l="l" t="t" r="r" b="b"/>
            <a:pathLst>
              <a:path w="262254" h="2190115">
                <a:moveTo>
                  <a:pt x="0" y="0"/>
                </a:moveTo>
                <a:lnTo>
                  <a:pt x="51018" y="1716"/>
                </a:lnTo>
                <a:lnTo>
                  <a:pt x="92678" y="6397"/>
                </a:lnTo>
                <a:lnTo>
                  <a:pt x="120765" y="13340"/>
                </a:lnTo>
                <a:lnTo>
                  <a:pt x="131064" y="21844"/>
                </a:lnTo>
                <a:lnTo>
                  <a:pt x="131064" y="1073150"/>
                </a:lnTo>
                <a:lnTo>
                  <a:pt x="141362" y="1081653"/>
                </a:lnTo>
                <a:lnTo>
                  <a:pt x="169449" y="1088596"/>
                </a:lnTo>
                <a:lnTo>
                  <a:pt x="211109" y="1093277"/>
                </a:lnTo>
                <a:lnTo>
                  <a:pt x="262127" y="1094994"/>
                </a:lnTo>
                <a:lnTo>
                  <a:pt x="211109" y="1096710"/>
                </a:lnTo>
                <a:lnTo>
                  <a:pt x="169449" y="1101391"/>
                </a:lnTo>
                <a:lnTo>
                  <a:pt x="141362" y="1108334"/>
                </a:lnTo>
                <a:lnTo>
                  <a:pt x="131064" y="1116838"/>
                </a:lnTo>
                <a:lnTo>
                  <a:pt x="131064" y="2168144"/>
                </a:lnTo>
                <a:lnTo>
                  <a:pt x="120765" y="2176647"/>
                </a:lnTo>
                <a:lnTo>
                  <a:pt x="92678" y="2183590"/>
                </a:lnTo>
                <a:lnTo>
                  <a:pt x="51018" y="2188271"/>
                </a:lnTo>
                <a:lnTo>
                  <a:pt x="0" y="2189988"/>
                </a:lnTo>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8" name="object 17">
            <a:extLst>
              <a:ext uri="{FF2B5EF4-FFF2-40B4-BE49-F238E27FC236}">
                <a16:creationId xmlns:a16="http://schemas.microsoft.com/office/drawing/2014/main" id="{A0235207-C16A-8320-153D-EF36D07F1F59}"/>
              </a:ext>
            </a:extLst>
          </p:cNvPr>
          <p:cNvSpPr txBox="1"/>
          <p:nvPr/>
        </p:nvSpPr>
        <p:spPr>
          <a:xfrm>
            <a:off x="6918197" y="2512567"/>
            <a:ext cx="1776095" cy="574040"/>
          </a:xfrm>
          <a:prstGeom prst="rect">
            <a:avLst/>
          </a:prstGeom>
        </p:spPr>
        <p:txBody>
          <a:bodyPr vert="horz" wrap="square" lIns="0" tIns="12700" rIns="0" bIns="0" rtlCol="0">
            <a:spAutoFit/>
          </a:bodyPr>
          <a:lstStyle/>
          <a:p>
            <a:pPr marL="12700" marR="5080" indent="408305" rtl="0">
              <a:spcBef>
                <a:spcPts val="100"/>
              </a:spcBef>
            </a:pPr>
            <a:r>
              <a:rPr kern="1200" spc="-5" dirty="0">
                <a:solidFill>
                  <a:prstClr val="black"/>
                </a:solidFill>
                <a:latin typeface="Palatino Linotype"/>
                <a:cs typeface="Palatino Linotype"/>
              </a:rPr>
              <a:t>Frontend  </a:t>
            </a:r>
            <a:r>
              <a:rPr kern="1200" dirty="0">
                <a:solidFill>
                  <a:prstClr val="black"/>
                </a:solidFill>
                <a:latin typeface="Palatino Linotype"/>
                <a:cs typeface="Palatino Linotype"/>
              </a:rPr>
              <a:t>(the </a:t>
            </a:r>
            <a:r>
              <a:rPr i="1" kern="1200" dirty="0">
                <a:solidFill>
                  <a:srgbClr val="FF0000"/>
                </a:solidFill>
                <a:latin typeface="Palatino Linotype"/>
                <a:cs typeface="Palatino Linotype"/>
              </a:rPr>
              <a:t>analysis</a:t>
            </a:r>
            <a:r>
              <a:rPr i="1" kern="1200" spc="-100" dirty="0">
                <a:solidFill>
                  <a:srgbClr val="FF0000"/>
                </a:solidFill>
                <a:latin typeface="Palatino Linotype"/>
                <a:cs typeface="Palatino Linotype"/>
              </a:rPr>
              <a:t> </a:t>
            </a:r>
            <a:r>
              <a:rPr kern="1200" spc="-5" dirty="0">
                <a:solidFill>
                  <a:prstClr val="black"/>
                </a:solidFill>
                <a:latin typeface="Palatino Linotype"/>
                <a:cs typeface="Palatino Linotype"/>
              </a:rPr>
              <a:t>part)</a:t>
            </a:r>
            <a:endParaRPr kern="1200">
              <a:solidFill>
                <a:prstClr val="black"/>
              </a:solidFill>
              <a:latin typeface="Palatino Linotype"/>
              <a:cs typeface="Palatino Linotype"/>
            </a:endParaRPr>
          </a:p>
        </p:txBody>
      </p:sp>
      <p:sp>
        <p:nvSpPr>
          <p:cNvPr id="39" name="object 18">
            <a:extLst>
              <a:ext uri="{FF2B5EF4-FFF2-40B4-BE49-F238E27FC236}">
                <a16:creationId xmlns:a16="http://schemas.microsoft.com/office/drawing/2014/main" id="{1E3D18E2-CC84-26AB-04A2-E5FADF97D8BE}"/>
              </a:ext>
            </a:extLst>
          </p:cNvPr>
          <p:cNvSpPr txBox="1"/>
          <p:nvPr/>
        </p:nvSpPr>
        <p:spPr>
          <a:xfrm>
            <a:off x="2131567" y="4670805"/>
            <a:ext cx="218440" cy="299720"/>
          </a:xfrm>
          <a:prstGeom prst="rect">
            <a:avLst/>
          </a:prstGeom>
        </p:spPr>
        <p:txBody>
          <a:bodyPr vert="horz" wrap="square" lIns="0" tIns="12700" rIns="0" bIns="0" rtlCol="0">
            <a:spAutoFit/>
          </a:bodyPr>
          <a:lstStyle/>
          <a:p>
            <a:pPr marL="12700" rtl="0">
              <a:spcBef>
                <a:spcPts val="100"/>
              </a:spcBef>
              <a:tabLst>
                <a:tab pos="205104" algn="l"/>
              </a:tabLst>
            </a:pPr>
            <a:r>
              <a:rPr u="heavy" kern="1200" dirty="0">
                <a:solidFill>
                  <a:prstClr val="black"/>
                </a:solidFill>
                <a:uFill>
                  <a:solidFill>
                    <a:srgbClr val="000000"/>
                  </a:solidFill>
                </a:uFill>
                <a:latin typeface="Palatino Linotype"/>
                <a:cs typeface="Palatino Linotype"/>
              </a:rPr>
              <a:t> 	</a:t>
            </a:r>
            <a:endParaRPr kern="1200">
              <a:solidFill>
                <a:prstClr val="black"/>
              </a:solidFill>
              <a:latin typeface="Palatino Linotype"/>
              <a:cs typeface="Palatino Linotype"/>
            </a:endParaRPr>
          </a:p>
        </p:txBody>
      </p:sp>
      <p:sp>
        <p:nvSpPr>
          <p:cNvPr id="40" name="object 19">
            <a:extLst>
              <a:ext uri="{FF2B5EF4-FFF2-40B4-BE49-F238E27FC236}">
                <a16:creationId xmlns:a16="http://schemas.microsoft.com/office/drawing/2014/main" id="{08BC8F67-EB83-AA51-5A49-23BB502999C3}"/>
              </a:ext>
            </a:extLst>
          </p:cNvPr>
          <p:cNvSpPr txBox="1"/>
          <p:nvPr/>
        </p:nvSpPr>
        <p:spPr>
          <a:xfrm>
            <a:off x="178104" y="4670805"/>
            <a:ext cx="1878330" cy="574040"/>
          </a:xfrm>
          <a:prstGeom prst="rect">
            <a:avLst/>
          </a:prstGeom>
        </p:spPr>
        <p:txBody>
          <a:bodyPr vert="horz" wrap="square" lIns="0" tIns="12700" rIns="0" bIns="0" rtlCol="0">
            <a:spAutoFit/>
          </a:bodyPr>
          <a:lstStyle/>
          <a:p>
            <a:pPr algn="ctr" rtl="0">
              <a:spcBef>
                <a:spcPts val="100"/>
              </a:spcBef>
            </a:pPr>
            <a:r>
              <a:rPr kern="1200" spc="-5" dirty="0">
                <a:solidFill>
                  <a:prstClr val="black"/>
                </a:solidFill>
                <a:latin typeface="Palatino Linotype"/>
                <a:cs typeface="Palatino Linotype"/>
              </a:rPr>
              <a:t>Backend</a:t>
            </a:r>
            <a:endParaRPr kern="1200">
              <a:solidFill>
                <a:prstClr val="black"/>
              </a:solidFill>
              <a:latin typeface="Palatino Linotype"/>
              <a:cs typeface="Palatino Linotype"/>
            </a:endParaRPr>
          </a:p>
          <a:p>
            <a:pPr algn="ctr" rtl="0"/>
            <a:r>
              <a:rPr kern="1200" dirty="0">
                <a:solidFill>
                  <a:prstClr val="black"/>
                </a:solidFill>
                <a:latin typeface="Palatino Linotype"/>
                <a:cs typeface="Palatino Linotype"/>
              </a:rPr>
              <a:t>(the </a:t>
            </a:r>
            <a:r>
              <a:rPr i="1" kern="1200" spc="-5" dirty="0">
                <a:solidFill>
                  <a:srgbClr val="FF0000"/>
                </a:solidFill>
                <a:latin typeface="Palatino Linotype"/>
                <a:cs typeface="Palatino Linotype"/>
              </a:rPr>
              <a:t>synthesis</a:t>
            </a:r>
            <a:r>
              <a:rPr i="1" kern="1200" spc="-55" dirty="0">
                <a:solidFill>
                  <a:srgbClr val="FF0000"/>
                </a:solidFill>
                <a:latin typeface="Palatino Linotype"/>
                <a:cs typeface="Palatino Linotype"/>
              </a:rPr>
              <a:t> </a:t>
            </a:r>
            <a:r>
              <a:rPr kern="1200" spc="-5" dirty="0">
                <a:solidFill>
                  <a:prstClr val="black"/>
                </a:solidFill>
                <a:latin typeface="Palatino Linotype"/>
                <a:cs typeface="Palatino Linotype"/>
              </a:rPr>
              <a:t>part)</a:t>
            </a:r>
            <a:endParaRPr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BA7DCD7B-52B4-2525-5BDA-8DFC59B9BA31}"/>
              </a:ext>
            </a:extLst>
          </p:cNvPr>
          <p:cNvSpPr>
            <a:spLocks noGrp="1"/>
          </p:cNvSpPr>
          <p:nvPr>
            <p:ph type="sldNum" sz="quarter" idx="12"/>
          </p:nvPr>
        </p:nvSpPr>
        <p:spPr/>
        <p:txBody>
          <a:bodyPr/>
          <a:lstStyle/>
          <a:p>
            <a:pPr>
              <a:defRPr/>
            </a:pPr>
            <a:fld id="{2FBC720A-3716-234A-B2DF-CBC7E48049F5}" type="slidenum">
              <a:rPr lang="en-US" altLang="zh-CN" smtClean="0"/>
              <a:t>18</a:t>
            </a:fld>
            <a:endParaRPr lang="en-US" altLang="zh-CN"/>
          </a:p>
        </p:txBody>
      </p:sp>
    </p:spTree>
    <p:extLst>
      <p:ext uri="{BB962C8B-B14F-4D97-AF65-F5344CB8AC3E}">
        <p14:creationId xmlns:p14="http://schemas.microsoft.com/office/powerpoint/2010/main" val="3244898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40" name="object 2">
            <a:extLst>
              <a:ext uri="{FF2B5EF4-FFF2-40B4-BE49-F238E27FC236}">
                <a16:creationId xmlns:a16="http://schemas.microsoft.com/office/drawing/2014/main" id="{B144224C-EB25-07EB-2E9E-1E0402340140}"/>
              </a:ext>
            </a:extLst>
          </p:cNvPr>
          <p:cNvSpPr txBox="1">
            <a:spLocks/>
          </p:cNvSpPr>
          <p:nvPr/>
        </p:nvSpPr>
        <p:spPr>
          <a:xfrm>
            <a:off x="707542" y="565861"/>
            <a:ext cx="7502524" cy="566822"/>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dirty="0">
                <a:ln>
                  <a:noFill/>
                </a:ln>
                <a:solidFill>
                  <a:sysClr val="windowText" lastClr="000000"/>
                </a:solidFill>
                <a:effectLst/>
                <a:uLnTx/>
                <a:uFillTx/>
                <a:latin typeface="Palatino Linotype"/>
                <a:ea typeface="+mj-ea"/>
              </a:rPr>
              <a:t>The</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Frontend</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1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rPr>
              <a:t>(</a:t>
            </a:r>
            <a:r>
              <a:rPr kumimoji="0" lang="en-US" sz="3600" b="1" i="0" u="none" strike="noStrike" kern="0" cap="none" spc="-10" normalizeH="0" baseline="0" noProof="0" dirty="0" err="1">
                <a:ln>
                  <a:noFill/>
                </a:ln>
                <a:solidFill>
                  <a:sysClr val="windowText" lastClr="000000"/>
                </a:solidFill>
                <a:effectLst/>
                <a:uLnTx/>
                <a:uFillTx/>
                <a:latin typeface="宋体" panose="02010600030101010101" pitchFamily="2" charset="-122"/>
                <a:ea typeface="宋体" panose="02010600030101010101" pitchFamily="2" charset="-122"/>
                <a:cs typeface="宋体"/>
              </a:rPr>
              <a:t>前端</a:t>
            </a:r>
            <a:r>
              <a:rPr kumimoji="0" lang="en-US" sz="3600" b="1"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rPr>
              <a:t>)</a:t>
            </a:r>
            <a:r>
              <a:rPr kumimoji="0" lang="en-US" sz="3600" b="1" i="0" u="none" strike="noStrike" kern="0" cap="none" spc="-1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of</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a</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Compiler</a:t>
            </a:r>
            <a:endParaRPr kumimoji="0" lang="en-US" sz="3600" b="1" i="0" u="none" strike="noStrike" kern="0" cap="none" spc="0" normalizeH="0" baseline="0" noProof="0" dirty="0">
              <a:ln>
                <a:noFill/>
              </a:ln>
              <a:solidFill>
                <a:sysClr val="windowText" lastClr="000000"/>
              </a:solidFill>
              <a:effectLst/>
              <a:uLnTx/>
              <a:uFillTx/>
              <a:latin typeface="宋体"/>
              <a:ea typeface="+mj-ea"/>
              <a:cs typeface="宋体"/>
            </a:endParaRPr>
          </a:p>
        </p:txBody>
      </p:sp>
      <p:sp>
        <p:nvSpPr>
          <p:cNvPr id="41" name="object 3">
            <a:extLst>
              <a:ext uri="{FF2B5EF4-FFF2-40B4-BE49-F238E27FC236}">
                <a16:creationId xmlns:a16="http://schemas.microsoft.com/office/drawing/2014/main" id="{EAAD79E8-2384-B420-E4AB-33F78CE30E85}"/>
              </a:ext>
            </a:extLst>
          </p:cNvPr>
          <p:cNvSpPr txBox="1"/>
          <p:nvPr/>
        </p:nvSpPr>
        <p:spPr>
          <a:xfrm>
            <a:off x="707542" y="3540660"/>
            <a:ext cx="7502525" cy="2471420"/>
          </a:xfrm>
          <a:prstGeom prst="rect">
            <a:avLst/>
          </a:prstGeom>
        </p:spPr>
        <p:txBody>
          <a:bodyPr vert="horz" wrap="square" lIns="0" tIns="95250" rIns="0" bIns="0" rtlCol="0">
            <a:spAutoFit/>
          </a:bodyPr>
          <a:lstStyle/>
          <a:p>
            <a:pPr marL="242570" indent="-230504" rtl="0">
              <a:spcBef>
                <a:spcPts val="750"/>
              </a:spcBef>
              <a:buFont typeface="Arial"/>
              <a:buChar char="•"/>
              <a:tabLst>
                <a:tab pos="242570" algn="l"/>
                <a:tab pos="243204" algn="l"/>
              </a:tabLst>
            </a:pPr>
            <a:r>
              <a:rPr kern="1200" spc="-5" dirty="0">
                <a:solidFill>
                  <a:prstClr val="black"/>
                </a:solidFill>
                <a:latin typeface="Palatino Linotype"/>
                <a:cs typeface="Palatino Linotype"/>
              </a:rPr>
              <a:t>Breaks up the source program into </a:t>
            </a:r>
            <a:r>
              <a:rPr kern="1200" dirty="0">
                <a:solidFill>
                  <a:srgbClr val="FF0000"/>
                </a:solidFill>
                <a:latin typeface="Palatino Linotype"/>
                <a:cs typeface="Palatino Linotype"/>
              </a:rPr>
              <a:t>constituent </a:t>
            </a:r>
            <a:r>
              <a:rPr kern="1200" spc="-5" dirty="0">
                <a:solidFill>
                  <a:srgbClr val="FF0000"/>
                </a:solidFill>
                <a:latin typeface="Palatino Linotype"/>
                <a:cs typeface="Palatino Linotype"/>
              </a:rPr>
              <a:t>pieces </a:t>
            </a:r>
            <a:r>
              <a:rPr kern="1200" spc="-5" dirty="0">
                <a:solidFill>
                  <a:prstClr val="black"/>
                </a:solidFill>
                <a:latin typeface="Palatino Linotype"/>
                <a:cs typeface="Palatino Linotype"/>
              </a:rPr>
              <a:t>and imposes</a:t>
            </a:r>
            <a:r>
              <a:rPr kern="1200" spc="105" dirty="0">
                <a:solidFill>
                  <a:prstClr val="black"/>
                </a:solidFill>
                <a:latin typeface="Palatino Linotype"/>
                <a:cs typeface="Palatino Linotype"/>
              </a:rPr>
              <a:t> </a:t>
            </a:r>
            <a:r>
              <a:rPr kern="1200" dirty="0">
                <a:solidFill>
                  <a:prstClr val="black"/>
                </a:solidFill>
                <a:latin typeface="Palatino Linotype"/>
                <a:cs typeface="Palatino Linotype"/>
              </a:rPr>
              <a:t>a</a:t>
            </a:r>
            <a:endParaRPr kern="1200">
              <a:solidFill>
                <a:prstClr val="black"/>
              </a:solidFill>
              <a:latin typeface="Palatino Linotype"/>
              <a:cs typeface="Palatino Linotype"/>
            </a:endParaRPr>
          </a:p>
          <a:p>
            <a:pPr marL="242570" rtl="0">
              <a:spcBef>
                <a:spcPts val="650"/>
              </a:spcBef>
            </a:pPr>
            <a:r>
              <a:rPr kern="1200" spc="-5" dirty="0">
                <a:solidFill>
                  <a:srgbClr val="FF0000"/>
                </a:solidFill>
                <a:latin typeface="Palatino Linotype"/>
                <a:cs typeface="Palatino Linotype"/>
              </a:rPr>
              <a:t>grammatical structure </a:t>
            </a:r>
            <a:r>
              <a:rPr kern="1200" dirty="0">
                <a:solidFill>
                  <a:prstClr val="black"/>
                </a:solidFill>
                <a:latin typeface="Palatino Linotype"/>
                <a:cs typeface="Palatino Linotype"/>
              </a:rPr>
              <a:t>on</a:t>
            </a:r>
            <a:r>
              <a:rPr kern="1200" spc="45" dirty="0">
                <a:solidFill>
                  <a:prstClr val="black"/>
                </a:solidFill>
                <a:latin typeface="Palatino Linotype"/>
                <a:cs typeface="Palatino Linotype"/>
              </a:rPr>
              <a:t> </a:t>
            </a:r>
            <a:r>
              <a:rPr kern="1200" spc="-5" dirty="0">
                <a:solidFill>
                  <a:prstClr val="black"/>
                </a:solidFill>
                <a:latin typeface="Palatino Linotype"/>
                <a:cs typeface="Palatino Linotype"/>
              </a:rPr>
              <a:t>them</a:t>
            </a:r>
            <a:endParaRPr kern="1200">
              <a:solidFill>
                <a:prstClr val="black"/>
              </a:solidFill>
              <a:latin typeface="Palatino Linotype"/>
              <a:cs typeface="Palatino Linotype"/>
            </a:endParaRPr>
          </a:p>
          <a:p>
            <a:pPr rtl="0">
              <a:spcBef>
                <a:spcPts val="25"/>
              </a:spcBef>
            </a:pPr>
            <a:endParaRPr sz="1350" kern="1200">
              <a:solidFill>
                <a:prstClr val="black"/>
              </a:solidFill>
              <a:latin typeface="Palatino Linotype"/>
              <a:cs typeface="Palatino Linotype"/>
            </a:endParaRPr>
          </a:p>
          <a:p>
            <a:pPr marL="242570" indent="-230504" rtl="0">
              <a:spcBef>
                <a:spcPts val="5"/>
              </a:spcBef>
              <a:buFont typeface="Arial"/>
              <a:buChar char="•"/>
              <a:tabLst>
                <a:tab pos="242570" algn="l"/>
                <a:tab pos="243204" algn="l"/>
              </a:tabLst>
            </a:pPr>
            <a:r>
              <a:rPr kern="1200" dirty="0">
                <a:solidFill>
                  <a:prstClr val="black"/>
                </a:solidFill>
                <a:latin typeface="Palatino Linotype"/>
                <a:cs typeface="Palatino Linotype"/>
              </a:rPr>
              <a:t>Uses </a:t>
            </a:r>
            <a:r>
              <a:rPr kern="1200" spc="-5" dirty="0">
                <a:solidFill>
                  <a:prstClr val="black"/>
                </a:solidFill>
                <a:latin typeface="Palatino Linotype"/>
                <a:cs typeface="Palatino Linotype"/>
              </a:rPr>
              <a:t>the grammatical structure to </a:t>
            </a:r>
            <a:r>
              <a:rPr kern="1200" dirty="0">
                <a:solidFill>
                  <a:prstClr val="black"/>
                </a:solidFill>
                <a:latin typeface="Palatino Linotype"/>
                <a:cs typeface="Palatino Linotype"/>
              </a:rPr>
              <a:t>create an </a:t>
            </a:r>
            <a:r>
              <a:rPr kern="1200" dirty="0">
                <a:solidFill>
                  <a:srgbClr val="FF0000"/>
                </a:solidFill>
                <a:latin typeface="Palatino Linotype"/>
                <a:cs typeface="Palatino Linotype"/>
              </a:rPr>
              <a:t>intermediate</a:t>
            </a:r>
            <a:r>
              <a:rPr kern="1200" spc="70" dirty="0">
                <a:solidFill>
                  <a:srgbClr val="FF0000"/>
                </a:solidFill>
                <a:latin typeface="Palatino Linotype"/>
                <a:cs typeface="Palatino Linotype"/>
              </a:rPr>
              <a:t> </a:t>
            </a:r>
            <a:r>
              <a:rPr kern="1200" spc="-5" dirty="0">
                <a:solidFill>
                  <a:srgbClr val="FF0000"/>
                </a:solidFill>
                <a:latin typeface="Palatino Linotype"/>
                <a:cs typeface="Palatino Linotype"/>
              </a:rPr>
              <a:t>representation</a:t>
            </a:r>
            <a:endParaRPr kern="1200">
              <a:solidFill>
                <a:prstClr val="black"/>
              </a:solidFill>
              <a:latin typeface="Palatino Linotype"/>
              <a:cs typeface="Palatino Linotype"/>
            </a:endParaRPr>
          </a:p>
          <a:p>
            <a:pPr marL="242570" rtl="0">
              <a:spcBef>
                <a:spcPts val="645"/>
              </a:spcBef>
            </a:pPr>
            <a:r>
              <a:rPr kern="1200" dirty="0">
                <a:solidFill>
                  <a:srgbClr val="FF0000"/>
                </a:solidFill>
                <a:latin typeface="Palatino Linotype"/>
                <a:cs typeface="Palatino Linotype"/>
              </a:rPr>
              <a:t>(IR) </a:t>
            </a:r>
            <a:r>
              <a:rPr kern="1200" dirty="0">
                <a:solidFill>
                  <a:prstClr val="black"/>
                </a:solidFill>
                <a:latin typeface="Palatino Linotype"/>
                <a:cs typeface="Palatino Linotype"/>
              </a:rPr>
              <a:t>of </a:t>
            </a:r>
            <a:r>
              <a:rPr kern="1200" spc="-5" dirty="0">
                <a:solidFill>
                  <a:prstClr val="black"/>
                </a:solidFill>
                <a:latin typeface="Palatino Linotype"/>
                <a:cs typeface="Palatino Linotype"/>
              </a:rPr>
              <a:t>the source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program</a:t>
            </a:r>
            <a:endParaRPr kern="1200">
              <a:solidFill>
                <a:prstClr val="black"/>
              </a:solidFill>
              <a:latin typeface="Palatino Linotype"/>
              <a:cs typeface="Palatino Linotype"/>
            </a:endParaRPr>
          </a:p>
          <a:p>
            <a:pPr marL="242570" marR="9525" indent="-230504" rtl="0">
              <a:lnSpc>
                <a:spcPct val="130000"/>
              </a:lnSpc>
              <a:spcBef>
                <a:spcPts val="1205"/>
              </a:spcBef>
              <a:buFont typeface="Arial"/>
              <a:buChar char="•"/>
              <a:tabLst>
                <a:tab pos="242570" algn="l"/>
                <a:tab pos="243204" algn="l"/>
              </a:tabLst>
            </a:pPr>
            <a:r>
              <a:rPr kern="1200" dirty="0">
                <a:solidFill>
                  <a:prstClr val="black"/>
                </a:solidFill>
                <a:latin typeface="Palatino Linotype"/>
                <a:cs typeface="Palatino Linotype"/>
              </a:rPr>
              <a:t>Collect </a:t>
            </a:r>
            <a:r>
              <a:rPr kern="1200" spc="-5" dirty="0">
                <a:solidFill>
                  <a:prstClr val="black"/>
                </a:solidFill>
                <a:latin typeface="Palatino Linotype"/>
                <a:cs typeface="Palatino Linotype"/>
              </a:rPr>
              <a:t>the information </a:t>
            </a:r>
            <a:r>
              <a:rPr kern="1200" dirty="0">
                <a:solidFill>
                  <a:prstClr val="black"/>
                </a:solidFill>
                <a:latin typeface="Palatino Linotype"/>
                <a:cs typeface="Palatino Linotype"/>
              </a:rPr>
              <a:t>about </a:t>
            </a:r>
            <a:r>
              <a:rPr kern="1200" spc="-5" dirty="0">
                <a:solidFill>
                  <a:prstClr val="black"/>
                </a:solidFill>
                <a:latin typeface="Palatino Linotype"/>
                <a:cs typeface="Palatino Linotype"/>
              </a:rPr>
              <a:t>the source program </a:t>
            </a:r>
            <a:r>
              <a:rPr kern="1200" dirty="0">
                <a:solidFill>
                  <a:prstClr val="black"/>
                </a:solidFill>
                <a:latin typeface="Palatino Linotype"/>
                <a:cs typeface="Palatino Linotype"/>
              </a:rPr>
              <a:t>and stores </a:t>
            </a:r>
            <a:r>
              <a:rPr kern="1200" spc="-5" dirty="0">
                <a:solidFill>
                  <a:prstClr val="black"/>
                </a:solidFill>
                <a:latin typeface="Palatino Linotype"/>
                <a:cs typeface="Palatino Linotype"/>
              </a:rPr>
              <a:t>it in </a:t>
            </a:r>
            <a:r>
              <a:rPr kern="1200" dirty="0">
                <a:solidFill>
                  <a:prstClr val="black"/>
                </a:solidFill>
                <a:latin typeface="Palatino Linotype"/>
                <a:cs typeface="Palatino Linotype"/>
              </a:rPr>
              <a:t>a data  </a:t>
            </a:r>
            <a:r>
              <a:rPr kern="1200" spc="-5" dirty="0">
                <a:solidFill>
                  <a:prstClr val="black"/>
                </a:solidFill>
                <a:latin typeface="Palatino Linotype"/>
                <a:cs typeface="Palatino Linotype"/>
              </a:rPr>
              <a:t>structure </a:t>
            </a:r>
            <a:r>
              <a:rPr kern="1200" dirty="0">
                <a:solidFill>
                  <a:prstClr val="black"/>
                </a:solidFill>
                <a:latin typeface="Palatino Linotype"/>
                <a:cs typeface="Palatino Linotype"/>
              </a:rPr>
              <a:t>called </a:t>
            </a:r>
            <a:r>
              <a:rPr i="1" kern="1200" spc="-5" dirty="0">
                <a:solidFill>
                  <a:srgbClr val="FF0000"/>
                </a:solidFill>
                <a:latin typeface="Palatino Linotype"/>
                <a:cs typeface="Palatino Linotype"/>
              </a:rPr>
              <a:t>symbol </a:t>
            </a:r>
            <a:r>
              <a:rPr i="1" kern="1200" dirty="0">
                <a:solidFill>
                  <a:srgbClr val="FF0000"/>
                </a:solidFill>
                <a:latin typeface="Palatino Linotype"/>
                <a:cs typeface="Palatino Linotype"/>
              </a:rPr>
              <a:t>table </a:t>
            </a:r>
            <a:r>
              <a:rPr kern="1200" dirty="0">
                <a:solidFill>
                  <a:prstClr val="black"/>
                </a:solidFill>
                <a:latin typeface="Palatino Linotype"/>
                <a:cs typeface="Palatino Linotype"/>
              </a:rPr>
              <a:t>(will </a:t>
            </a:r>
            <a:r>
              <a:rPr kern="1200" spc="-5" dirty="0">
                <a:solidFill>
                  <a:prstClr val="black"/>
                </a:solidFill>
                <a:latin typeface="Palatino Linotype"/>
                <a:cs typeface="Palatino Linotype"/>
              </a:rPr>
              <a:t>be passed to backend </a:t>
            </a:r>
            <a:r>
              <a:rPr kern="1200" dirty="0">
                <a:solidFill>
                  <a:prstClr val="black"/>
                </a:solidFill>
                <a:latin typeface="Palatino Linotype"/>
                <a:cs typeface="Palatino Linotype"/>
              </a:rPr>
              <a:t>with</a:t>
            </a:r>
            <a:r>
              <a:rPr kern="1200" spc="30" dirty="0">
                <a:solidFill>
                  <a:prstClr val="black"/>
                </a:solidFill>
                <a:latin typeface="Palatino Linotype"/>
                <a:cs typeface="Palatino Linotype"/>
              </a:rPr>
              <a:t> </a:t>
            </a:r>
            <a:r>
              <a:rPr kern="1200" dirty="0">
                <a:solidFill>
                  <a:prstClr val="black"/>
                </a:solidFill>
                <a:latin typeface="Palatino Linotype"/>
                <a:cs typeface="Palatino Linotype"/>
              </a:rPr>
              <a:t>IR)</a:t>
            </a:r>
            <a:endParaRPr kern="1200">
              <a:solidFill>
                <a:prstClr val="black"/>
              </a:solidFill>
              <a:latin typeface="Palatino Linotype"/>
              <a:cs typeface="Palatino Linotype"/>
            </a:endParaRPr>
          </a:p>
        </p:txBody>
      </p:sp>
      <p:graphicFrame>
        <p:nvGraphicFramePr>
          <p:cNvPr id="42" name="object 4">
            <a:extLst>
              <a:ext uri="{FF2B5EF4-FFF2-40B4-BE49-F238E27FC236}">
                <a16:creationId xmlns:a16="http://schemas.microsoft.com/office/drawing/2014/main" id="{66A99431-88F9-0943-E8A7-57592FE6B26B}"/>
              </a:ext>
            </a:extLst>
          </p:cNvPr>
          <p:cNvGraphicFramePr>
            <a:graphicFrameLocks noGrp="1"/>
          </p:cNvGraphicFramePr>
          <p:nvPr/>
        </p:nvGraphicFramePr>
        <p:xfrm>
          <a:off x="2966339" y="1741297"/>
          <a:ext cx="2982595" cy="1391154"/>
        </p:xfrm>
        <a:graphic>
          <a:graphicData uri="http://schemas.openxmlformats.org/drawingml/2006/table">
            <a:tbl>
              <a:tblPr firstRow="1" bandRow="1"/>
              <a:tblGrid>
                <a:gridCol w="2982595">
                  <a:extLst>
                    <a:ext uri="{9D8B030D-6E8A-4147-A177-3AD203B41FA5}">
                      <a16:colId xmlns:a16="http://schemas.microsoft.com/office/drawing/2014/main" val="20000"/>
                    </a:ext>
                  </a:extLst>
                </a:gridCol>
              </a:tblGrid>
              <a:tr h="347852">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310"/>
                        </a:spcBef>
                      </a:pPr>
                      <a:r>
                        <a:rPr sz="1600" spc="-5" dirty="0">
                          <a:latin typeface="Palatino Linotype"/>
                          <a:cs typeface="Palatino Linotype"/>
                        </a:rPr>
                        <a:t>Lexical</a:t>
                      </a:r>
                      <a:r>
                        <a:rPr sz="1600" spc="-80" dirty="0">
                          <a:latin typeface="Palatino Linotype"/>
                          <a:cs typeface="Palatino Linotype"/>
                        </a:rPr>
                        <a:t> </a:t>
                      </a:r>
                      <a:r>
                        <a:rPr sz="1600" spc="-5" dirty="0">
                          <a:latin typeface="Palatino Linotype"/>
                          <a:cs typeface="Palatino Linotype"/>
                        </a:rPr>
                        <a:t>Analyzer</a:t>
                      </a:r>
                      <a:endParaRPr sz="1600">
                        <a:latin typeface="Palatino Linotype"/>
                        <a:cs typeface="Palatino Linotype"/>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47725">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310"/>
                        </a:spcBef>
                      </a:pPr>
                      <a:r>
                        <a:rPr sz="1600" spc="-5" dirty="0">
                          <a:latin typeface="Palatino Linotype"/>
                          <a:cs typeface="Palatino Linotype"/>
                        </a:rPr>
                        <a:t>Syntax</a:t>
                      </a:r>
                      <a:r>
                        <a:rPr sz="1600" spc="-45" dirty="0">
                          <a:latin typeface="Palatino Linotype"/>
                          <a:cs typeface="Palatino Linotype"/>
                        </a:rPr>
                        <a:t> </a:t>
                      </a:r>
                      <a:r>
                        <a:rPr sz="1600" spc="-5" dirty="0">
                          <a:latin typeface="Palatino Linotype"/>
                          <a:cs typeface="Palatino Linotype"/>
                        </a:rPr>
                        <a:t>Analyzer</a:t>
                      </a:r>
                      <a:endParaRPr sz="1600">
                        <a:latin typeface="Palatino Linotype"/>
                        <a:cs typeface="Palatino Linotype"/>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47852">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315"/>
                        </a:spcBef>
                      </a:pPr>
                      <a:r>
                        <a:rPr sz="1600" spc="-5" dirty="0">
                          <a:latin typeface="Palatino Linotype"/>
                          <a:cs typeface="Palatino Linotype"/>
                        </a:rPr>
                        <a:t>Semantic</a:t>
                      </a:r>
                      <a:r>
                        <a:rPr sz="1600" spc="-55" dirty="0">
                          <a:latin typeface="Palatino Linotype"/>
                          <a:cs typeface="Palatino Linotype"/>
                        </a:rPr>
                        <a:t> </a:t>
                      </a:r>
                      <a:r>
                        <a:rPr sz="1600" spc="-5" dirty="0">
                          <a:latin typeface="Palatino Linotype"/>
                          <a:cs typeface="Palatino Linotype"/>
                        </a:rPr>
                        <a:t>Analyzer</a:t>
                      </a:r>
                      <a:endParaRPr sz="1600">
                        <a:latin typeface="Palatino Linotype"/>
                        <a:cs typeface="Palatino Linotype"/>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347725">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315"/>
                        </a:spcBef>
                      </a:pPr>
                      <a:r>
                        <a:rPr sz="1600" spc="-5" dirty="0">
                          <a:latin typeface="Palatino Linotype"/>
                          <a:cs typeface="Palatino Linotype"/>
                        </a:rPr>
                        <a:t>Intermediate Code</a:t>
                      </a:r>
                      <a:r>
                        <a:rPr sz="1600" spc="5" dirty="0">
                          <a:latin typeface="Palatino Linotype"/>
                          <a:cs typeface="Palatino Linotype"/>
                        </a:rPr>
                        <a:t> </a:t>
                      </a:r>
                      <a:r>
                        <a:rPr sz="1600" spc="-5" dirty="0">
                          <a:latin typeface="Palatino Linotype"/>
                          <a:cs typeface="Palatino Linotype"/>
                        </a:rPr>
                        <a:t>Generator</a:t>
                      </a:r>
                      <a:endParaRPr sz="1600">
                        <a:latin typeface="Palatino Linotype"/>
                        <a:cs typeface="Palatino Linotype"/>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bl>
          </a:graphicData>
        </a:graphic>
      </p:graphicFrame>
      <p:sp>
        <p:nvSpPr>
          <p:cNvPr id="43" name="object 5">
            <a:extLst>
              <a:ext uri="{FF2B5EF4-FFF2-40B4-BE49-F238E27FC236}">
                <a16:creationId xmlns:a16="http://schemas.microsoft.com/office/drawing/2014/main" id="{63C93A1B-C412-0CE0-2E42-E22EEE9DEFF9}"/>
              </a:ext>
            </a:extLst>
          </p:cNvPr>
          <p:cNvSpPr/>
          <p:nvPr/>
        </p:nvSpPr>
        <p:spPr>
          <a:xfrm>
            <a:off x="814958" y="1860804"/>
            <a:ext cx="1175385" cy="1164590"/>
          </a:xfrm>
          <a:custGeom>
            <a:avLst/>
            <a:gdLst/>
            <a:ahLst/>
            <a:cxnLst/>
            <a:rect l="l" t="t" r="r" b="b"/>
            <a:pathLst>
              <a:path w="1175385" h="1164589">
                <a:moveTo>
                  <a:pt x="1102614" y="0"/>
                </a:moveTo>
                <a:lnTo>
                  <a:pt x="145541" y="0"/>
                </a:lnTo>
                <a:lnTo>
                  <a:pt x="117214" y="5726"/>
                </a:lnTo>
                <a:lnTo>
                  <a:pt x="94083" y="21336"/>
                </a:lnTo>
                <a:lnTo>
                  <a:pt x="78488" y="44469"/>
                </a:lnTo>
                <a:lnTo>
                  <a:pt x="72771" y="72771"/>
                </a:lnTo>
                <a:lnTo>
                  <a:pt x="72771" y="1018794"/>
                </a:lnTo>
                <a:lnTo>
                  <a:pt x="0" y="1018794"/>
                </a:lnTo>
                <a:lnTo>
                  <a:pt x="14161" y="1021647"/>
                </a:lnTo>
                <a:lnTo>
                  <a:pt x="25727" y="1029430"/>
                </a:lnTo>
                <a:lnTo>
                  <a:pt x="33525" y="1040975"/>
                </a:lnTo>
                <a:lnTo>
                  <a:pt x="36385" y="1055116"/>
                </a:lnTo>
                <a:lnTo>
                  <a:pt x="33525" y="1069330"/>
                </a:lnTo>
                <a:lnTo>
                  <a:pt x="25727" y="1080912"/>
                </a:lnTo>
                <a:lnTo>
                  <a:pt x="14161" y="1088709"/>
                </a:lnTo>
                <a:lnTo>
                  <a:pt x="0" y="1091565"/>
                </a:lnTo>
                <a:lnTo>
                  <a:pt x="72771" y="1091565"/>
                </a:lnTo>
                <a:lnTo>
                  <a:pt x="67053" y="1119866"/>
                </a:lnTo>
                <a:lnTo>
                  <a:pt x="51458" y="1143000"/>
                </a:lnTo>
                <a:lnTo>
                  <a:pt x="28327" y="1158609"/>
                </a:lnTo>
                <a:lnTo>
                  <a:pt x="0" y="1164336"/>
                </a:lnTo>
                <a:lnTo>
                  <a:pt x="957072" y="1164336"/>
                </a:lnTo>
                <a:lnTo>
                  <a:pt x="985373" y="1158609"/>
                </a:lnTo>
                <a:lnTo>
                  <a:pt x="1008506" y="1143000"/>
                </a:lnTo>
                <a:lnTo>
                  <a:pt x="1024116" y="1119866"/>
                </a:lnTo>
                <a:lnTo>
                  <a:pt x="1029842" y="1091565"/>
                </a:lnTo>
                <a:lnTo>
                  <a:pt x="1029842" y="145542"/>
                </a:lnTo>
                <a:lnTo>
                  <a:pt x="145541" y="145542"/>
                </a:lnTo>
                <a:lnTo>
                  <a:pt x="131380" y="142686"/>
                </a:lnTo>
                <a:lnTo>
                  <a:pt x="119814" y="134889"/>
                </a:lnTo>
                <a:lnTo>
                  <a:pt x="112016" y="123307"/>
                </a:lnTo>
                <a:lnTo>
                  <a:pt x="109156" y="109093"/>
                </a:lnTo>
                <a:lnTo>
                  <a:pt x="112016" y="94952"/>
                </a:lnTo>
                <a:lnTo>
                  <a:pt x="119814" y="83407"/>
                </a:lnTo>
                <a:lnTo>
                  <a:pt x="131380" y="75624"/>
                </a:lnTo>
                <a:lnTo>
                  <a:pt x="145541" y="72771"/>
                </a:lnTo>
                <a:lnTo>
                  <a:pt x="1175385" y="72771"/>
                </a:lnTo>
                <a:lnTo>
                  <a:pt x="1169658" y="44469"/>
                </a:lnTo>
                <a:lnTo>
                  <a:pt x="1154048" y="21336"/>
                </a:lnTo>
                <a:lnTo>
                  <a:pt x="1130915" y="5726"/>
                </a:lnTo>
                <a:lnTo>
                  <a:pt x="1102614" y="0"/>
                </a:lnTo>
                <a:close/>
              </a:path>
              <a:path w="1175385" h="1164589">
                <a:moveTo>
                  <a:pt x="1175385" y="72771"/>
                </a:moveTo>
                <a:lnTo>
                  <a:pt x="218312" y="72771"/>
                </a:lnTo>
                <a:lnTo>
                  <a:pt x="212595" y="101072"/>
                </a:lnTo>
                <a:lnTo>
                  <a:pt x="197000" y="124206"/>
                </a:lnTo>
                <a:lnTo>
                  <a:pt x="173869" y="139815"/>
                </a:lnTo>
                <a:lnTo>
                  <a:pt x="145541" y="145542"/>
                </a:lnTo>
                <a:lnTo>
                  <a:pt x="1102614" y="145542"/>
                </a:lnTo>
                <a:lnTo>
                  <a:pt x="1130915" y="139815"/>
                </a:lnTo>
                <a:lnTo>
                  <a:pt x="1154048" y="124206"/>
                </a:lnTo>
                <a:lnTo>
                  <a:pt x="1169658" y="101072"/>
                </a:lnTo>
                <a:lnTo>
                  <a:pt x="1175385" y="72771"/>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4" name="object 6">
            <a:extLst>
              <a:ext uri="{FF2B5EF4-FFF2-40B4-BE49-F238E27FC236}">
                <a16:creationId xmlns:a16="http://schemas.microsoft.com/office/drawing/2014/main" id="{4A643B38-05A2-8859-A7DC-592A98588EE9}"/>
              </a:ext>
            </a:extLst>
          </p:cNvPr>
          <p:cNvSpPr/>
          <p:nvPr/>
        </p:nvSpPr>
        <p:spPr>
          <a:xfrm>
            <a:off x="742187" y="1933575"/>
            <a:ext cx="291465" cy="1091565"/>
          </a:xfrm>
          <a:custGeom>
            <a:avLst/>
            <a:gdLst/>
            <a:ahLst/>
            <a:cxnLst/>
            <a:rect l="l" t="t" r="r" b="b"/>
            <a:pathLst>
              <a:path w="291465" h="1091564">
                <a:moveTo>
                  <a:pt x="291084" y="0"/>
                </a:moveTo>
                <a:lnTo>
                  <a:pt x="218312" y="0"/>
                </a:lnTo>
                <a:lnTo>
                  <a:pt x="204151" y="2853"/>
                </a:lnTo>
                <a:lnTo>
                  <a:pt x="192585" y="10636"/>
                </a:lnTo>
                <a:lnTo>
                  <a:pt x="184787" y="22181"/>
                </a:lnTo>
                <a:lnTo>
                  <a:pt x="181927" y="36322"/>
                </a:lnTo>
                <a:lnTo>
                  <a:pt x="184787" y="50536"/>
                </a:lnTo>
                <a:lnTo>
                  <a:pt x="192585" y="62118"/>
                </a:lnTo>
                <a:lnTo>
                  <a:pt x="204151" y="69915"/>
                </a:lnTo>
                <a:lnTo>
                  <a:pt x="218312" y="72771"/>
                </a:lnTo>
                <a:lnTo>
                  <a:pt x="246640" y="67044"/>
                </a:lnTo>
                <a:lnTo>
                  <a:pt x="269771" y="51435"/>
                </a:lnTo>
                <a:lnTo>
                  <a:pt x="285366" y="28301"/>
                </a:lnTo>
                <a:lnTo>
                  <a:pt x="291084" y="0"/>
                </a:lnTo>
                <a:close/>
              </a:path>
              <a:path w="291465" h="1091564">
                <a:moveTo>
                  <a:pt x="72771" y="946023"/>
                </a:moveTo>
                <a:lnTo>
                  <a:pt x="44443" y="951749"/>
                </a:lnTo>
                <a:lnTo>
                  <a:pt x="21312" y="967358"/>
                </a:lnTo>
                <a:lnTo>
                  <a:pt x="5717" y="990492"/>
                </a:lnTo>
                <a:lnTo>
                  <a:pt x="0" y="1018794"/>
                </a:lnTo>
                <a:lnTo>
                  <a:pt x="5717" y="1047095"/>
                </a:lnTo>
                <a:lnTo>
                  <a:pt x="21312" y="1070228"/>
                </a:lnTo>
                <a:lnTo>
                  <a:pt x="44443" y="1085838"/>
                </a:lnTo>
                <a:lnTo>
                  <a:pt x="72771" y="1091564"/>
                </a:lnTo>
                <a:lnTo>
                  <a:pt x="101098" y="1085838"/>
                </a:lnTo>
                <a:lnTo>
                  <a:pt x="124229" y="1070228"/>
                </a:lnTo>
                <a:lnTo>
                  <a:pt x="139824" y="1047095"/>
                </a:lnTo>
                <a:lnTo>
                  <a:pt x="145542" y="1018794"/>
                </a:lnTo>
                <a:lnTo>
                  <a:pt x="72771" y="1018794"/>
                </a:lnTo>
                <a:lnTo>
                  <a:pt x="86932" y="1015938"/>
                </a:lnTo>
                <a:lnTo>
                  <a:pt x="98498" y="1008141"/>
                </a:lnTo>
                <a:lnTo>
                  <a:pt x="106296" y="996559"/>
                </a:lnTo>
                <a:lnTo>
                  <a:pt x="109156" y="982345"/>
                </a:lnTo>
                <a:lnTo>
                  <a:pt x="106296" y="968204"/>
                </a:lnTo>
                <a:lnTo>
                  <a:pt x="98498" y="956659"/>
                </a:lnTo>
                <a:lnTo>
                  <a:pt x="86932" y="948876"/>
                </a:lnTo>
                <a:lnTo>
                  <a:pt x="72771" y="946023"/>
                </a:lnTo>
                <a:close/>
              </a:path>
            </a:pathLst>
          </a:custGeom>
          <a:solidFill>
            <a:srgbClr val="CDC3A3"/>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5" name="object 7">
            <a:extLst>
              <a:ext uri="{FF2B5EF4-FFF2-40B4-BE49-F238E27FC236}">
                <a16:creationId xmlns:a16="http://schemas.microsoft.com/office/drawing/2014/main" id="{0A21E983-55E1-D171-D562-BC35170170F3}"/>
              </a:ext>
            </a:extLst>
          </p:cNvPr>
          <p:cNvSpPr/>
          <p:nvPr/>
        </p:nvSpPr>
        <p:spPr>
          <a:xfrm>
            <a:off x="742187" y="1860804"/>
            <a:ext cx="1248410" cy="1164590"/>
          </a:xfrm>
          <a:custGeom>
            <a:avLst/>
            <a:gdLst/>
            <a:ahLst/>
            <a:cxnLst/>
            <a:rect l="l" t="t" r="r" b="b"/>
            <a:pathLst>
              <a:path w="1248410" h="1164589">
                <a:moveTo>
                  <a:pt x="145542" y="1018794"/>
                </a:moveTo>
                <a:lnTo>
                  <a:pt x="145542" y="72771"/>
                </a:lnTo>
                <a:lnTo>
                  <a:pt x="151259" y="44469"/>
                </a:lnTo>
                <a:lnTo>
                  <a:pt x="166854" y="21335"/>
                </a:lnTo>
                <a:lnTo>
                  <a:pt x="189985" y="5726"/>
                </a:lnTo>
                <a:lnTo>
                  <a:pt x="218312" y="0"/>
                </a:lnTo>
                <a:lnTo>
                  <a:pt x="1175385" y="0"/>
                </a:lnTo>
                <a:lnTo>
                  <a:pt x="1203686" y="5726"/>
                </a:lnTo>
                <a:lnTo>
                  <a:pt x="1226820" y="21336"/>
                </a:lnTo>
                <a:lnTo>
                  <a:pt x="1242429" y="44469"/>
                </a:lnTo>
                <a:lnTo>
                  <a:pt x="1248156" y="72771"/>
                </a:lnTo>
                <a:lnTo>
                  <a:pt x="1242429" y="101072"/>
                </a:lnTo>
                <a:lnTo>
                  <a:pt x="1226820" y="124206"/>
                </a:lnTo>
                <a:lnTo>
                  <a:pt x="1203686" y="139815"/>
                </a:lnTo>
                <a:lnTo>
                  <a:pt x="1175385" y="145542"/>
                </a:lnTo>
                <a:lnTo>
                  <a:pt x="1102614" y="145542"/>
                </a:lnTo>
                <a:lnTo>
                  <a:pt x="1102614" y="1091565"/>
                </a:lnTo>
                <a:lnTo>
                  <a:pt x="1096887" y="1119866"/>
                </a:lnTo>
                <a:lnTo>
                  <a:pt x="1081277" y="1143000"/>
                </a:lnTo>
                <a:lnTo>
                  <a:pt x="1058144" y="1158609"/>
                </a:lnTo>
                <a:lnTo>
                  <a:pt x="1029843" y="1164336"/>
                </a:lnTo>
                <a:lnTo>
                  <a:pt x="72771" y="1164336"/>
                </a:lnTo>
                <a:lnTo>
                  <a:pt x="44443" y="1158609"/>
                </a:lnTo>
                <a:lnTo>
                  <a:pt x="21312" y="1143000"/>
                </a:lnTo>
                <a:lnTo>
                  <a:pt x="5717" y="1119866"/>
                </a:lnTo>
                <a:lnTo>
                  <a:pt x="0" y="1091565"/>
                </a:lnTo>
                <a:lnTo>
                  <a:pt x="5717" y="1063263"/>
                </a:lnTo>
                <a:lnTo>
                  <a:pt x="21312" y="1040129"/>
                </a:lnTo>
                <a:lnTo>
                  <a:pt x="44443" y="1024520"/>
                </a:lnTo>
                <a:lnTo>
                  <a:pt x="72771" y="1018794"/>
                </a:lnTo>
                <a:lnTo>
                  <a:pt x="145542" y="1018794"/>
                </a:lnTo>
                <a:close/>
              </a:path>
            </a:pathLst>
          </a:custGeom>
          <a:ln w="12699">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6" name="object 8">
            <a:extLst>
              <a:ext uri="{FF2B5EF4-FFF2-40B4-BE49-F238E27FC236}">
                <a16:creationId xmlns:a16="http://schemas.microsoft.com/office/drawing/2014/main" id="{8406D18E-1732-F5A4-5EFE-2AFA74A3A5BE}"/>
              </a:ext>
            </a:extLst>
          </p:cNvPr>
          <p:cNvSpPr/>
          <p:nvPr/>
        </p:nvSpPr>
        <p:spPr>
          <a:xfrm>
            <a:off x="917765" y="1854454"/>
            <a:ext cx="121856" cy="158242"/>
          </a:xfrm>
          <a:prstGeom prst="rect">
            <a:avLst/>
          </a:prstGeom>
          <a:blipFill>
            <a:blip r:embed="rId3"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7" name="object 9">
            <a:extLst>
              <a:ext uri="{FF2B5EF4-FFF2-40B4-BE49-F238E27FC236}">
                <a16:creationId xmlns:a16="http://schemas.microsoft.com/office/drawing/2014/main" id="{E5513244-D737-0DB9-E5FD-C1DC92722AE7}"/>
              </a:ext>
            </a:extLst>
          </p:cNvPr>
          <p:cNvSpPr/>
          <p:nvPr/>
        </p:nvSpPr>
        <p:spPr>
          <a:xfrm>
            <a:off x="960500" y="2006345"/>
            <a:ext cx="884555" cy="0"/>
          </a:xfrm>
          <a:custGeom>
            <a:avLst/>
            <a:gdLst/>
            <a:ahLst/>
            <a:cxnLst/>
            <a:rect l="l" t="t" r="r" b="b"/>
            <a:pathLst>
              <a:path w="884555">
                <a:moveTo>
                  <a:pt x="884301" y="0"/>
                </a:moveTo>
                <a:lnTo>
                  <a:pt x="0" y="0"/>
                </a:lnTo>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10">
            <a:extLst>
              <a:ext uri="{FF2B5EF4-FFF2-40B4-BE49-F238E27FC236}">
                <a16:creationId xmlns:a16="http://schemas.microsoft.com/office/drawing/2014/main" id="{6F5D7E2D-3F71-47B1-1997-E898D736D494}"/>
              </a:ext>
            </a:extLst>
          </p:cNvPr>
          <p:cNvSpPr/>
          <p:nvPr/>
        </p:nvSpPr>
        <p:spPr>
          <a:xfrm>
            <a:off x="808608" y="2873248"/>
            <a:ext cx="85471" cy="158241"/>
          </a:xfrm>
          <a:prstGeom prst="rect">
            <a:avLst/>
          </a:prstGeom>
          <a:blipFill>
            <a:blip r:embed="rId4" cstate="print"/>
            <a:stretch>
              <a:fillRect/>
            </a:stretch>
          </a:blip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9" name="object 11">
            <a:extLst>
              <a:ext uri="{FF2B5EF4-FFF2-40B4-BE49-F238E27FC236}">
                <a16:creationId xmlns:a16="http://schemas.microsoft.com/office/drawing/2014/main" id="{2D0A9B4A-D7DC-2D9D-07A6-A26D000399E9}"/>
              </a:ext>
            </a:extLst>
          </p:cNvPr>
          <p:cNvSpPr txBox="1"/>
          <p:nvPr/>
        </p:nvSpPr>
        <p:spPr>
          <a:xfrm>
            <a:off x="1049527" y="2211450"/>
            <a:ext cx="632460" cy="513080"/>
          </a:xfrm>
          <a:prstGeom prst="rect">
            <a:avLst/>
          </a:prstGeom>
        </p:spPr>
        <p:txBody>
          <a:bodyPr vert="horz" wrap="square" lIns="0" tIns="12065" rIns="0" bIns="0" rtlCol="0">
            <a:spAutoFit/>
          </a:bodyPr>
          <a:lstStyle/>
          <a:p>
            <a:pPr marL="12700" rtl="0">
              <a:spcBef>
                <a:spcPts val="95"/>
              </a:spcBef>
            </a:pPr>
            <a:r>
              <a:rPr sz="1600" kern="1200" spc="-5" dirty="0">
                <a:solidFill>
                  <a:prstClr val="black"/>
                </a:solidFill>
                <a:latin typeface="Palatino Linotype"/>
                <a:cs typeface="Palatino Linotype"/>
              </a:rPr>
              <a:t>Source</a:t>
            </a:r>
            <a:endParaRPr sz="1600" kern="1200">
              <a:solidFill>
                <a:prstClr val="black"/>
              </a:solidFill>
              <a:latin typeface="Palatino Linotype"/>
              <a:cs typeface="Palatino Linotype"/>
            </a:endParaRPr>
          </a:p>
          <a:p>
            <a:pPr marL="78105" rtl="0"/>
            <a:r>
              <a:rPr sz="1600" kern="1200" spc="-5" dirty="0">
                <a:solidFill>
                  <a:prstClr val="black"/>
                </a:solidFill>
                <a:latin typeface="Palatino Linotype"/>
                <a:cs typeface="Palatino Linotype"/>
              </a:rPr>
              <a:t>Code</a:t>
            </a:r>
            <a:endParaRPr sz="1600" kern="1200">
              <a:solidFill>
                <a:prstClr val="black"/>
              </a:solidFill>
              <a:latin typeface="Palatino Linotype"/>
              <a:cs typeface="Palatino Linotype"/>
            </a:endParaRPr>
          </a:p>
        </p:txBody>
      </p:sp>
      <p:sp>
        <p:nvSpPr>
          <p:cNvPr id="50" name="object 12">
            <a:extLst>
              <a:ext uri="{FF2B5EF4-FFF2-40B4-BE49-F238E27FC236}">
                <a16:creationId xmlns:a16="http://schemas.microsoft.com/office/drawing/2014/main" id="{4C50C870-C0C7-BDC9-E830-3EACFC159403}"/>
              </a:ext>
            </a:extLst>
          </p:cNvPr>
          <p:cNvSpPr/>
          <p:nvPr/>
        </p:nvSpPr>
        <p:spPr>
          <a:xfrm>
            <a:off x="6937247" y="2005583"/>
            <a:ext cx="1132840" cy="863600"/>
          </a:xfrm>
          <a:custGeom>
            <a:avLst/>
            <a:gdLst/>
            <a:ahLst/>
            <a:cxnLst/>
            <a:rect l="l" t="t" r="r" b="b"/>
            <a:pathLst>
              <a:path w="1132840" h="863600">
                <a:moveTo>
                  <a:pt x="1132331" y="0"/>
                </a:moveTo>
                <a:lnTo>
                  <a:pt x="0" y="0"/>
                </a:lnTo>
                <a:lnTo>
                  <a:pt x="0" y="816990"/>
                </a:lnTo>
                <a:lnTo>
                  <a:pt x="58545" y="831679"/>
                </a:lnTo>
                <a:lnTo>
                  <a:pt x="113068" y="843349"/>
                </a:lnTo>
                <a:lnTo>
                  <a:pt x="163876" y="852187"/>
                </a:lnTo>
                <a:lnTo>
                  <a:pt x="211280" y="858382"/>
                </a:lnTo>
                <a:lnTo>
                  <a:pt x="255589" y="862120"/>
                </a:lnTo>
                <a:lnTo>
                  <a:pt x="297113" y="863590"/>
                </a:lnTo>
                <a:lnTo>
                  <a:pt x="336161" y="862978"/>
                </a:lnTo>
                <a:lnTo>
                  <a:pt x="408066" y="856262"/>
                </a:lnTo>
                <a:lnTo>
                  <a:pt x="473782" y="843472"/>
                </a:lnTo>
                <a:lnTo>
                  <a:pt x="535784" y="826109"/>
                </a:lnTo>
                <a:lnTo>
                  <a:pt x="690788" y="772537"/>
                </a:lnTo>
                <a:lnTo>
                  <a:pt x="724265" y="761581"/>
                </a:lnTo>
                <a:lnTo>
                  <a:pt x="796170" y="740927"/>
                </a:lnTo>
                <a:lnTo>
                  <a:pt x="835218" y="731605"/>
                </a:lnTo>
                <a:lnTo>
                  <a:pt x="876742" y="723202"/>
                </a:lnTo>
                <a:lnTo>
                  <a:pt x="921051" y="715907"/>
                </a:lnTo>
                <a:lnTo>
                  <a:pt x="968455" y="709906"/>
                </a:lnTo>
                <a:lnTo>
                  <a:pt x="1019263" y="705387"/>
                </a:lnTo>
                <a:lnTo>
                  <a:pt x="1073786" y="702539"/>
                </a:lnTo>
                <a:lnTo>
                  <a:pt x="1132331" y="701548"/>
                </a:lnTo>
                <a:lnTo>
                  <a:pt x="1132331" y="0"/>
                </a:lnTo>
                <a:close/>
              </a:path>
            </a:pathLst>
          </a:custGeom>
          <a:solidFill>
            <a:srgbClr val="A9D18E"/>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1" name="object 13">
            <a:extLst>
              <a:ext uri="{FF2B5EF4-FFF2-40B4-BE49-F238E27FC236}">
                <a16:creationId xmlns:a16="http://schemas.microsoft.com/office/drawing/2014/main" id="{026D4071-229D-DA44-655F-5036718A80AC}"/>
              </a:ext>
            </a:extLst>
          </p:cNvPr>
          <p:cNvSpPr/>
          <p:nvPr/>
        </p:nvSpPr>
        <p:spPr>
          <a:xfrm>
            <a:off x="6937247" y="2005583"/>
            <a:ext cx="1132840" cy="863600"/>
          </a:xfrm>
          <a:custGeom>
            <a:avLst/>
            <a:gdLst/>
            <a:ahLst/>
            <a:cxnLst/>
            <a:rect l="l" t="t" r="r" b="b"/>
            <a:pathLst>
              <a:path w="1132840" h="863600">
                <a:moveTo>
                  <a:pt x="0" y="0"/>
                </a:moveTo>
                <a:lnTo>
                  <a:pt x="1132331" y="0"/>
                </a:lnTo>
                <a:lnTo>
                  <a:pt x="1132331" y="701548"/>
                </a:lnTo>
                <a:lnTo>
                  <a:pt x="1073786" y="702539"/>
                </a:lnTo>
                <a:lnTo>
                  <a:pt x="1019263" y="705387"/>
                </a:lnTo>
                <a:lnTo>
                  <a:pt x="968455" y="709906"/>
                </a:lnTo>
                <a:lnTo>
                  <a:pt x="921051" y="715907"/>
                </a:lnTo>
                <a:lnTo>
                  <a:pt x="876742" y="723202"/>
                </a:lnTo>
                <a:lnTo>
                  <a:pt x="835218" y="731605"/>
                </a:lnTo>
                <a:lnTo>
                  <a:pt x="796170" y="740927"/>
                </a:lnTo>
                <a:lnTo>
                  <a:pt x="759289" y="750982"/>
                </a:lnTo>
                <a:lnTo>
                  <a:pt x="690788" y="772537"/>
                </a:lnTo>
                <a:lnTo>
                  <a:pt x="627239" y="794770"/>
                </a:lnTo>
                <a:lnTo>
                  <a:pt x="596547" y="805672"/>
                </a:lnTo>
                <a:lnTo>
                  <a:pt x="566166" y="816181"/>
                </a:lnTo>
                <a:lnTo>
                  <a:pt x="505092" y="835269"/>
                </a:lnTo>
                <a:lnTo>
                  <a:pt x="441543" y="850533"/>
                </a:lnTo>
                <a:lnTo>
                  <a:pt x="373042" y="860473"/>
                </a:lnTo>
                <a:lnTo>
                  <a:pt x="297113" y="863590"/>
                </a:lnTo>
                <a:lnTo>
                  <a:pt x="255589" y="862120"/>
                </a:lnTo>
                <a:lnTo>
                  <a:pt x="211280" y="858382"/>
                </a:lnTo>
                <a:lnTo>
                  <a:pt x="163876" y="852187"/>
                </a:lnTo>
                <a:lnTo>
                  <a:pt x="113068" y="843349"/>
                </a:lnTo>
                <a:lnTo>
                  <a:pt x="58545" y="831679"/>
                </a:lnTo>
                <a:lnTo>
                  <a:pt x="0" y="816990"/>
                </a:lnTo>
                <a:lnTo>
                  <a:pt x="0" y="0"/>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14">
            <a:extLst>
              <a:ext uri="{FF2B5EF4-FFF2-40B4-BE49-F238E27FC236}">
                <a16:creationId xmlns:a16="http://schemas.microsoft.com/office/drawing/2014/main" id="{7B493AAF-394B-A951-0278-3EEB8BE18260}"/>
              </a:ext>
            </a:extLst>
          </p:cNvPr>
          <p:cNvSpPr txBox="1"/>
          <p:nvPr/>
        </p:nvSpPr>
        <p:spPr>
          <a:xfrm>
            <a:off x="7376541" y="2192273"/>
            <a:ext cx="25654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IR</a:t>
            </a:r>
            <a:endParaRPr kern="1200">
              <a:solidFill>
                <a:prstClr val="black"/>
              </a:solidFill>
              <a:latin typeface="Palatino Linotype"/>
              <a:cs typeface="Palatino Linotype"/>
            </a:endParaRPr>
          </a:p>
        </p:txBody>
      </p:sp>
      <p:sp>
        <p:nvSpPr>
          <p:cNvPr id="53" name="object 15">
            <a:extLst>
              <a:ext uri="{FF2B5EF4-FFF2-40B4-BE49-F238E27FC236}">
                <a16:creationId xmlns:a16="http://schemas.microsoft.com/office/drawing/2014/main" id="{6A6F1DD3-DB35-4138-0F60-AC496C992313}"/>
              </a:ext>
            </a:extLst>
          </p:cNvPr>
          <p:cNvSpPr/>
          <p:nvPr/>
        </p:nvSpPr>
        <p:spPr>
          <a:xfrm>
            <a:off x="2087879" y="2307335"/>
            <a:ext cx="711835" cy="271780"/>
          </a:xfrm>
          <a:custGeom>
            <a:avLst/>
            <a:gdLst/>
            <a:ahLst/>
            <a:cxnLst/>
            <a:rect l="l" t="t" r="r" b="b"/>
            <a:pathLst>
              <a:path w="711835" h="271780">
                <a:moveTo>
                  <a:pt x="576071" y="0"/>
                </a:moveTo>
                <a:lnTo>
                  <a:pt x="576071" y="67817"/>
                </a:lnTo>
                <a:lnTo>
                  <a:pt x="0" y="67817"/>
                </a:lnTo>
                <a:lnTo>
                  <a:pt x="0" y="203453"/>
                </a:lnTo>
                <a:lnTo>
                  <a:pt x="576071" y="203453"/>
                </a:lnTo>
                <a:lnTo>
                  <a:pt x="576071" y="271272"/>
                </a:lnTo>
                <a:lnTo>
                  <a:pt x="711707" y="135636"/>
                </a:lnTo>
                <a:lnTo>
                  <a:pt x="576071" y="0"/>
                </a:lnTo>
                <a:close/>
              </a:path>
            </a:pathLst>
          </a:custGeom>
          <a:solidFill>
            <a:srgbClr val="9DC3E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4" name="object 16">
            <a:extLst>
              <a:ext uri="{FF2B5EF4-FFF2-40B4-BE49-F238E27FC236}">
                <a16:creationId xmlns:a16="http://schemas.microsoft.com/office/drawing/2014/main" id="{11680555-9920-05D5-B2FA-48939D3044E6}"/>
              </a:ext>
            </a:extLst>
          </p:cNvPr>
          <p:cNvSpPr/>
          <p:nvPr/>
        </p:nvSpPr>
        <p:spPr>
          <a:xfrm>
            <a:off x="2087879" y="2307335"/>
            <a:ext cx="711835" cy="271780"/>
          </a:xfrm>
          <a:custGeom>
            <a:avLst/>
            <a:gdLst/>
            <a:ahLst/>
            <a:cxnLst/>
            <a:rect l="l" t="t" r="r" b="b"/>
            <a:pathLst>
              <a:path w="711835" h="271780">
                <a:moveTo>
                  <a:pt x="0" y="67817"/>
                </a:moveTo>
                <a:lnTo>
                  <a:pt x="576071" y="67817"/>
                </a:lnTo>
                <a:lnTo>
                  <a:pt x="576071" y="0"/>
                </a:lnTo>
                <a:lnTo>
                  <a:pt x="711707" y="135636"/>
                </a:lnTo>
                <a:lnTo>
                  <a:pt x="576071" y="271272"/>
                </a:lnTo>
                <a:lnTo>
                  <a:pt x="576071" y="203453"/>
                </a:lnTo>
                <a:lnTo>
                  <a:pt x="0" y="203453"/>
                </a:lnTo>
                <a:lnTo>
                  <a:pt x="0" y="67817"/>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5" name="object 17">
            <a:extLst>
              <a:ext uri="{FF2B5EF4-FFF2-40B4-BE49-F238E27FC236}">
                <a16:creationId xmlns:a16="http://schemas.microsoft.com/office/drawing/2014/main" id="{5CF16E19-F656-B68B-9F37-97B7B1B13CF2}"/>
              </a:ext>
            </a:extLst>
          </p:cNvPr>
          <p:cNvSpPr/>
          <p:nvPr/>
        </p:nvSpPr>
        <p:spPr>
          <a:xfrm>
            <a:off x="6128003" y="2307335"/>
            <a:ext cx="711835" cy="271780"/>
          </a:xfrm>
          <a:custGeom>
            <a:avLst/>
            <a:gdLst/>
            <a:ahLst/>
            <a:cxnLst/>
            <a:rect l="l" t="t" r="r" b="b"/>
            <a:pathLst>
              <a:path w="711834" h="271780">
                <a:moveTo>
                  <a:pt x="576072" y="0"/>
                </a:moveTo>
                <a:lnTo>
                  <a:pt x="576072" y="67817"/>
                </a:lnTo>
                <a:lnTo>
                  <a:pt x="0" y="67817"/>
                </a:lnTo>
                <a:lnTo>
                  <a:pt x="0" y="203453"/>
                </a:lnTo>
                <a:lnTo>
                  <a:pt x="576072" y="203453"/>
                </a:lnTo>
                <a:lnTo>
                  <a:pt x="576072" y="271272"/>
                </a:lnTo>
                <a:lnTo>
                  <a:pt x="711707" y="135636"/>
                </a:lnTo>
                <a:lnTo>
                  <a:pt x="576072" y="0"/>
                </a:lnTo>
                <a:close/>
              </a:path>
            </a:pathLst>
          </a:custGeom>
          <a:solidFill>
            <a:srgbClr val="9DC3E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6" name="object 18">
            <a:extLst>
              <a:ext uri="{FF2B5EF4-FFF2-40B4-BE49-F238E27FC236}">
                <a16:creationId xmlns:a16="http://schemas.microsoft.com/office/drawing/2014/main" id="{9373BE28-2888-51A6-25A0-1BE68625BB6D}"/>
              </a:ext>
            </a:extLst>
          </p:cNvPr>
          <p:cNvSpPr/>
          <p:nvPr/>
        </p:nvSpPr>
        <p:spPr>
          <a:xfrm>
            <a:off x="6128003" y="2307335"/>
            <a:ext cx="711835" cy="271780"/>
          </a:xfrm>
          <a:custGeom>
            <a:avLst/>
            <a:gdLst/>
            <a:ahLst/>
            <a:cxnLst/>
            <a:rect l="l" t="t" r="r" b="b"/>
            <a:pathLst>
              <a:path w="711834" h="271780">
                <a:moveTo>
                  <a:pt x="0" y="67817"/>
                </a:moveTo>
                <a:lnTo>
                  <a:pt x="576072" y="67817"/>
                </a:lnTo>
                <a:lnTo>
                  <a:pt x="576072" y="0"/>
                </a:lnTo>
                <a:lnTo>
                  <a:pt x="711707" y="135636"/>
                </a:lnTo>
                <a:lnTo>
                  <a:pt x="576072" y="271272"/>
                </a:lnTo>
                <a:lnTo>
                  <a:pt x="576072" y="203453"/>
                </a:lnTo>
                <a:lnTo>
                  <a:pt x="0" y="203453"/>
                </a:lnTo>
                <a:lnTo>
                  <a:pt x="0" y="67817"/>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F70435C0-AA81-365D-A289-668C9EC0698A}"/>
              </a:ext>
            </a:extLst>
          </p:cNvPr>
          <p:cNvSpPr>
            <a:spLocks noGrp="1"/>
          </p:cNvSpPr>
          <p:nvPr>
            <p:ph type="sldNum" sz="quarter" idx="12"/>
          </p:nvPr>
        </p:nvSpPr>
        <p:spPr/>
        <p:txBody>
          <a:bodyPr/>
          <a:lstStyle/>
          <a:p>
            <a:pPr>
              <a:defRPr/>
            </a:pPr>
            <a:fld id="{2FBC720A-3716-234A-B2DF-CBC7E48049F5}" type="slidenum">
              <a:rPr lang="en-US" altLang="zh-CN" smtClean="0"/>
              <a:t>19</a:t>
            </a:fld>
            <a:endParaRPr lang="en-US" altLang="zh-CN"/>
          </a:p>
        </p:txBody>
      </p:sp>
    </p:spTree>
    <p:extLst>
      <p:ext uri="{BB962C8B-B14F-4D97-AF65-F5344CB8AC3E}">
        <p14:creationId xmlns:p14="http://schemas.microsoft.com/office/powerpoint/2010/main" val="465412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6" name="object 2">
            <a:extLst>
              <a:ext uri="{FF2B5EF4-FFF2-40B4-BE49-F238E27FC236}">
                <a16:creationId xmlns:a16="http://schemas.microsoft.com/office/drawing/2014/main" id="{02D612C5-9A33-6DF1-45B6-C8FECC9B5612}"/>
              </a:ext>
            </a:extLst>
          </p:cNvPr>
          <p:cNvSpPr txBox="1">
            <a:spLocks/>
          </p:cNvSpPr>
          <p:nvPr/>
        </p:nvSpPr>
        <p:spPr>
          <a:xfrm>
            <a:off x="707542" y="565861"/>
            <a:ext cx="7807808" cy="566822"/>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dirty="0">
                <a:ln>
                  <a:noFill/>
                </a:ln>
                <a:solidFill>
                  <a:sysClr val="windowText" lastClr="000000"/>
                </a:solidFill>
                <a:effectLst/>
                <a:uLnTx/>
                <a:uFillTx/>
                <a:latin typeface="Palatino Linotype"/>
                <a:ea typeface="+mj-ea"/>
              </a:rPr>
              <a:t>The</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Backend</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rPr>
              <a:t>(</a:t>
            </a:r>
            <a:r>
              <a:rPr kumimoji="0" lang="en-US" sz="3600" b="1" i="0" u="none" strike="noStrike" kern="0" cap="none" spc="-10" normalizeH="0" baseline="0" noProof="0" dirty="0" err="1">
                <a:ln>
                  <a:noFill/>
                </a:ln>
                <a:solidFill>
                  <a:sysClr val="windowText" lastClr="000000"/>
                </a:solidFill>
                <a:effectLst/>
                <a:uLnTx/>
                <a:uFillTx/>
                <a:latin typeface="宋体" panose="02010600030101010101" pitchFamily="2" charset="-122"/>
                <a:ea typeface="宋体" panose="02010600030101010101" pitchFamily="2" charset="-122"/>
                <a:cs typeface="宋体"/>
              </a:rPr>
              <a:t>后端</a:t>
            </a:r>
            <a:r>
              <a:rPr kumimoji="0" lang="en-US" sz="3600" b="1"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rPr>
              <a:t>)</a:t>
            </a:r>
            <a:r>
              <a:rPr kumimoji="0" lang="en-US" sz="3600" b="1" i="0" u="none" strike="noStrike" kern="0" cap="none" spc="-1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of</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a</a:t>
            </a:r>
            <a:r>
              <a:rPr kumimoji="0" lang="en-US" sz="3600" b="1" i="0" u="none" strike="noStrike" kern="0" cap="none" spc="-2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Compiler</a:t>
            </a:r>
            <a:endParaRPr kumimoji="0" lang="en-US" sz="3600" b="1" i="0" u="none" strike="noStrike" kern="0" cap="none" spc="0" normalizeH="0" baseline="0" noProof="0" dirty="0">
              <a:ln>
                <a:noFill/>
              </a:ln>
              <a:solidFill>
                <a:sysClr val="windowText" lastClr="000000"/>
              </a:solidFill>
              <a:effectLst/>
              <a:uLnTx/>
              <a:uFillTx/>
              <a:latin typeface="宋体"/>
              <a:ea typeface="+mj-ea"/>
              <a:cs typeface="宋体"/>
            </a:endParaRPr>
          </a:p>
        </p:txBody>
      </p:sp>
      <p:sp>
        <p:nvSpPr>
          <p:cNvPr id="17" name="object 3">
            <a:extLst>
              <a:ext uri="{FF2B5EF4-FFF2-40B4-BE49-F238E27FC236}">
                <a16:creationId xmlns:a16="http://schemas.microsoft.com/office/drawing/2014/main" id="{84F958D4-28B2-052D-ABE4-FF41680573B3}"/>
              </a:ext>
            </a:extLst>
          </p:cNvPr>
          <p:cNvSpPr txBox="1"/>
          <p:nvPr/>
        </p:nvSpPr>
        <p:spPr>
          <a:xfrm>
            <a:off x="707542" y="4128515"/>
            <a:ext cx="7813675" cy="1248410"/>
          </a:xfrm>
          <a:prstGeom prst="rect">
            <a:avLst/>
          </a:prstGeom>
        </p:spPr>
        <p:txBody>
          <a:bodyPr vert="horz" wrap="square" lIns="0" tIns="12700" rIns="0" bIns="0" rtlCol="0">
            <a:spAutoFit/>
          </a:bodyPr>
          <a:lstStyle/>
          <a:p>
            <a:pPr marL="242570" marR="5080" indent="-230504" rtl="0">
              <a:lnSpc>
                <a:spcPct val="130100"/>
              </a:lnSpc>
              <a:spcBef>
                <a:spcPts val="100"/>
              </a:spcBef>
              <a:buFont typeface="Arial"/>
              <a:buChar char="•"/>
              <a:tabLst>
                <a:tab pos="242570" algn="l"/>
                <a:tab pos="243204" algn="l"/>
              </a:tabLst>
            </a:pPr>
            <a:r>
              <a:rPr kern="1200" spc="-5" dirty="0">
                <a:solidFill>
                  <a:prstClr val="black"/>
                </a:solidFill>
                <a:latin typeface="Palatino Linotype"/>
                <a:cs typeface="Palatino Linotype"/>
              </a:rPr>
              <a:t>Constructs the target program </a:t>
            </a:r>
            <a:r>
              <a:rPr kern="1200" spc="-20" dirty="0">
                <a:solidFill>
                  <a:prstClr val="black"/>
                </a:solidFill>
                <a:latin typeface="Palatino Linotype"/>
                <a:cs typeface="Palatino Linotype"/>
              </a:rPr>
              <a:t>(typically, </a:t>
            </a:r>
            <a:r>
              <a:rPr kern="1200" spc="-5" dirty="0">
                <a:solidFill>
                  <a:prstClr val="black"/>
                </a:solidFill>
                <a:latin typeface="Palatino Linotype"/>
                <a:cs typeface="Palatino Linotype"/>
              </a:rPr>
              <a:t>in machine language) </a:t>
            </a:r>
            <a:r>
              <a:rPr kern="1200" dirty="0">
                <a:solidFill>
                  <a:prstClr val="black"/>
                </a:solidFill>
                <a:latin typeface="Palatino Linotype"/>
                <a:cs typeface="Palatino Linotype"/>
              </a:rPr>
              <a:t>from </a:t>
            </a:r>
            <a:r>
              <a:rPr kern="1200" spc="-5" dirty="0">
                <a:solidFill>
                  <a:prstClr val="black"/>
                </a:solidFill>
                <a:latin typeface="Palatino Linotype"/>
                <a:cs typeface="Palatino Linotype"/>
              </a:rPr>
              <a:t>the </a:t>
            </a:r>
            <a:r>
              <a:rPr kern="1200" dirty="0">
                <a:solidFill>
                  <a:prstClr val="black"/>
                </a:solidFill>
                <a:latin typeface="Palatino Linotype"/>
                <a:cs typeface="Palatino Linotype"/>
              </a:rPr>
              <a:t>IR  and </a:t>
            </a:r>
            <a:r>
              <a:rPr kern="1200" spc="-5" dirty="0">
                <a:solidFill>
                  <a:prstClr val="black"/>
                </a:solidFill>
                <a:latin typeface="Palatino Linotype"/>
                <a:cs typeface="Palatino Linotype"/>
              </a:rPr>
              <a:t>the information in the symbol</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table</a:t>
            </a:r>
            <a:endParaRPr kern="1200" dirty="0">
              <a:solidFill>
                <a:prstClr val="black"/>
              </a:solidFill>
              <a:latin typeface="Palatino Linotype"/>
              <a:cs typeface="Palatino Linotype"/>
            </a:endParaRPr>
          </a:p>
          <a:p>
            <a:pPr rtl="0">
              <a:spcBef>
                <a:spcPts val="25"/>
              </a:spcBef>
              <a:buFont typeface="Arial"/>
              <a:buChar char="•"/>
            </a:pPr>
            <a:endParaRPr sz="1350" kern="1200" dirty="0">
              <a:solidFill>
                <a:prstClr val="black"/>
              </a:solidFill>
              <a:latin typeface="Palatino Linotype"/>
              <a:cs typeface="Palatino Linotype"/>
            </a:endParaRPr>
          </a:p>
          <a:p>
            <a:pPr marL="242570" indent="-230504" rtl="0">
              <a:buFont typeface="Arial"/>
              <a:buChar char="•"/>
              <a:tabLst>
                <a:tab pos="242570" algn="l"/>
                <a:tab pos="243204" algn="l"/>
              </a:tabLst>
            </a:pPr>
            <a:r>
              <a:rPr kern="1200" spc="-10" dirty="0">
                <a:solidFill>
                  <a:prstClr val="black"/>
                </a:solidFill>
                <a:latin typeface="Palatino Linotype"/>
                <a:cs typeface="Palatino Linotype"/>
              </a:rPr>
              <a:t>Performs </a:t>
            </a:r>
            <a:r>
              <a:rPr kern="1200" dirty="0">
                <a:solidFill>
                  <a:prstClr val="black"/>
                </a:solidFill>
                <a:latin typeface="Palatino Linotype"/>
                <a:cs typeface="Palatino Linotype"/>
              </a:rPr>
              <a:t>code optimizations during </a:t>
            </a:r>
            <a:r>
              <a:rPr kern="1200" spc="-5"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process</a:t>
            </a:r>
            <a:endParaRPr kern="1200" dirty="0">
              <a:solidFill>
                <a:prstClr val="black"/>
              </a:solidFill>
              <a:latin typeface="Palatino Linotype"/>
              <a:cs typeface="Palatino Linotype"/>
            </a:endParaRPr>
          </a:p>
        </p:txBody>
      </p:sp>
      <p:graphicFrame>
        <p:nvGraphicFramePr>
          <p:cNvPr id="18" name="object 4">
            <a:extLst>
              <a:ext uri="{FF2B5EF4-FFF2-40B4-BE49-F238E27FC236}">
                <a16:creationId xmlns:a16="http://schemas.microsoft.com/office/drawing/2014/main" id="{6136546F-5056-CA98-32E0-EF6240573EDA}"/>
              </a:ext>
            </a:extLst>
          </p:cNvPr>
          <p:cNvGraphicFramePr>
            <a:graphicFrameLocks noGrp="1"/>
          </p:cNvGraphicFramePr>
          <p:nvPr/>
        </p:nvGraphicFramePr>
        <p:xfrm>
          <a:off x="2966339" y="1930019"/>
          <a:ext cx="2982595" cy="1506091"/>
        </p:xfrm>
        <a:graphic>
          <a:graphicData uri="http://schemas.openxmlformats.org/drawingml/2006/table">
            <a:tbl>
              <a:tblPr firstRow="1" bandRow="1"/>
              <a:tblGrid>
                <a:gridCol w="2982595">
                  <a:extLst>
                    <a:ext uri="{9D8B030D-6E8A-4147-A177-3AD203B41FA5}">
                      <a16:colId xmlns:a16="http://schemas.microsoft.com/office/drawing/2014/main" val="20000"/>
                    </a:ext>
                  </a:extLst>
                </a:gridCol>
              </a:tblGrid>
              <a:tr h="579119">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764540" marR="487045" indent="-268605">
                        <a:lnSpc>
                          <a:spcPct val="100000"/>
                        </a:lnSpc>
                        <a:spcBef>
                          <a:spcPts val="265"/>
                        </a:spcBef>
                      </a:pPr>
                      <a:r>
                        <a:rPr sz="1600" dirty="0">
                          <a:latin typeface="Palatino Linotype"/>
                          <a:cs typeface="Palatino Linotype"/>
                        </a:rPr>
                        <a:t>M</a:t>
                      </a:r>
                      <a:r>
                        <a:rPr sz="1600" spc="5" dirty="0">
                          <a:latin typeface="Palatino Linotype"/>
                          <a:cs typeface="Palatino Linotype"/>
                        </a:rPr>
                        <a:t>a</a:t>
                      </a:r>
                      <a:r>
                        <a:rPr sz="1600" dirty="0">
                          <a:latin typeface="Palatino Linotype"/>
                          <a:cs typeface="Palatino Linotype"/>
                        </a:rPr>
                        <a:t>c</a:t>
                      </a:r>
                      <a:r>
                        <a:rPr sz="1600" spc="-5" dirty="0">
                          <a:latin typeface="Palatino Linotype"/>
                          <a:cs typeface="Palatino Linotype"/>
                        </a:rPr>
                        <a:t>h</a:t>
                      </a:r>
                      <a:r>
                        <a:rPr sz="1600" dirty="0">
                          <a:latin typeface="Palatino Linotype"/>
                          <a:cs typeface="Palatino Linotype"/>
                        </a:rPr>
                        <a:t>ine</a:t>
                      </a:r>
                      <a:r>
                        <a:rPr sz="1600" spc="-5" dirty="0">
                          <a:latin typeface="Palatino Linotype"/>
                          <a:cs typeface="Palatino Linotype"/>
                        </a:rPr>
                        <a:t>-</a:t>
                      </a:r>
                      <a:r>
                        <a:rPr sz="1600" dirty="0">
                          <a:latin typeface="Palatino Linotype"/>
                          <a:cs typeface="Palatino Linotype"/>
                        </a:rPr>
                        <a:t>In</a:t>
                      </a:r>
                      <a:r>
                        <a:rPr sz="1600" spc="-10" dirty="0">
                          <a:latin typeface="Palatino Linotype"/>
                          <a:cs typeface="Palatino Linotype"/>
                        </a:rPr>
                        <a:t>d</a:t>
                      </a:r>
                      <a:r>
                        <a:rPr sz="1600" dirty="0">
                          <a:latin typeface="Palatino Linotype"/>
                          <a:cs typeface="Palatino Linotype"/>
                        </a:rPr>
                        <a:t>ep</a:t>
                      </a:r>
                      <a:r>
                        <a:rPr sz="1600" spc="5" dirty="0">
                          <a:latin typeface="Palatino Linotype"/>
                          <a:cs typeface="Palatino Linotype"/>
                        </a:rPr>
                        <a:t>e</a:t>
                      </a:r>
                      <a:r>
                        <a:rPr sz="1600" spc="-5" dirty="0">
                          <a:latin typeface="Palatino Linotype"/>
                          <a:cs typeface="Palatino Linotype"/>
                        </a:rPr>
                        <a:t>n</a:t>
                      </a:r>
                      <a:r>
                        <a:rPr sz="1600" dirty="0">
                          <a:latin typeface="Palatino Linotype"/>
                          <a:cs typeface="Palatino Linotype"/>
                        </a:rPr>
                        <a:t>dent  </a:t>
                      </a:r>
                      <a:r>
                        <a:rPr sz="1600" spc="-5" dirty="0">
                          <a:latin typeface="Palatino Linotype"/>
                          <a:cs typeface="Palatino Linotype"/>
                        </a:rPr>
                        <a:t>Code</a:t>
                      </a:r>
                      <a:r>
                        <a:rPr sz="1600" spc="-10" dirty="0">
                          <a:latin typeface="Palatino Linotype"/>
                          <a:cs typeface="Palatino Linotype"/>
                        </a:rPr>
                        <a:t> </a:t>
                      </a:r>
                      <a:r>
                        <a:rPr sz="1600" spc="-5" dirty="0">
                          <a:latin typeface="Palatino Linotype"/>
                          <a:cs typeface="Palatino Linotype"/>
                        </a:rPr>
                        <a:t>Optimizer</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10000"/>
                  </a:ext>
                </a:extLst>
              </a:tr>
              <a:tr h="347852">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773430">
                        <a:lnSpc>
                          <a:spcPct val="100000"/>
                        </a:lnSpc>
                        <a:spcBef>
                          <a:spcPts val="315"/>
                        </a:spcBef>
                      </a:pPr>
                      <a:r>
                        <a:rPr sz="1600" spc="-5" dirty="0">
                          <a:latin typeface="Palatino Linotype"/>
                          <a:cs typeface="Palatino Linotype"/>
                        </a:rPr>
                        <a:t>Code</a:t>
                      </a:r>
                      <a:r>
                        <a:rPr sz="1600" dirty="0">
                          <a:latin typeface="Palatino Linotype"/>
                          <a:cs typeface="Palatino Linotype"/>
                        </a:rPr>
                        <a:t> </a:t>
                      </a:r>
                      <a:r>
                        <a:rPr sz="1600" spc="-5" dirty="0">
                          <a:latin typeface="Palatino Linotype"/>
                          <a:cs typeface="Palatino Linotype"/>
                        </a:rPr>
                        <a:t>Generator</a:t>
                      </a:r>
                      <a:endParaRPr sz="1600">
                        <a:latin typeface="Palatino Linotype"/>
                        <a:cs typeface="Palatino Linotype"/>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10001"/>
                  </a:ext>
                </a:extLst>
              </a:tr>
              <a:tr h="57912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764540" marR="563880" indent="-192405">
                        <a:lnSpc>
                          <a:spcPct val="100000"/>
                        </a:lnSpc>
                        <a:spcBef>
                          <a:spcPts val="265"/>
                        </a:spcBef>
                      </a:pPr>
                      <a:r>
                        <a:rPr sz="1600" dirty="0">
                          <a:latin typeface="Palatino Linotype"/>
                          <a:cs typeface="Palatino Linotype"/>
                        </a:rPr>
                        <a:t>M</a:t>
                      </a:r>
                      <a:r>
                        <a:rPr sz="1600" spc="5" dirty="0">
                          <a:latin typeface="Palatino Linotype"/>
                          <a:cs typeface="Palatino Linotype"/>
                        </a:rPr>
                        <a:t>a</a:t>
                      </a:r>
                      <a:r>
                        <a:rPr sz="1600" dirty="0">
                          <a:latin typeface="Palatino Linotype"/>
                          <a:cs typeface="Palatino Linotype"/>
                        </a:rPr>
                        <a:t>c</a:t>
                      </a:r>
                      <a:r>
                        <a:rPr sz="1600" spc="-5" dirty="0">
                          <a:latin typeface="Palatino Linotype"/>
                          <a:cs typeface="Palatino Linotype"/>
                        </a:rPr>
                        <a:t>h</a:t>
                      </a:r>
                      <a:r>
                        <a:rPr sz="1600" dirty="0">
                          <a:latin typeface="Palatino Linotype"/>
                          <a:cs typeface="Palatino Linotype"/>
                        </a:rPr>
                        <a:t>ine</a:t>
                      </a:r>
                      <a:r>
                        <a:rPr sz="1600" spc="-5" dirty="0">
                          <a:latin typeface="Palatino Linotype"/>
                          <a:cs typeface="Palatino Linotype"/>
                        </a:rPr>
                        <a:t>-</a:t>
                      </a:r>
                      <a:r>
                        <a:rPr sz="1600" dirty="0">
                          <a:latin typeface="Palatino Linotype"/>
                          <a:cs typeface="Palatino Linotype"/>
                        </a:rPr>
                        <a:t>Depende</a:t>
                      </a:r>
                      <a:r>
                        <a:rPr sz="1600" spc="-10" dirty="0">
                          <a:latin typeface="Palatino Linotype"/>
                          <a:cs typeface="Palatino Linotype"/>
                        </a:rPr>
                        <a:t>n</a:t>
                      </a:r>
                      <a:r>
                        <a:rPr sz="1600" dirty="0">
                          <a:latin typeface="Palatino Linotype"/>
                          <a:cs typeface="Palatino Linotype"/>
                        </a:rPr>
                        <a:t>t  </a:t>
                      </a:r>
                      <a:r>
                        <a:rPr sz="1600" spc="-5" dirty="0">
                          <a:latin typeface="Palatino Linotype"/>
                          <a:cs typeface="Palatino Linotype"/>
                        </a:rPr>
                        <a:t>Code</a:t>
                      </a:r>
                      <a:r>
                        <a:rPr sz="1600" spc="-15" dirty="0">
                          <a:latin typeface="Palatino Linotype"/>
                          <a:cs typeface="Palatino Linotype"/>
                        </a:rPr>
                        <a:t> </a:t>
                      </a:r>
                      <a:r>
                        <a:rPr sz="1600" spc="-5" dirty="0">
                          <a:latin typeface="Palatino Linotype"/>
                          <a:cs typeface="Palatino Linotype"/>
                        </a:rPr>
                        <a:t>Optimizer</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10002"/>
                  </a:ext>
                </a:extLst>
              </a:tr>
            </a:tbl>
          </a:graphicData>
        </a:graphic>
      </p:graphicFrame>
      <p:sp>
        <p:nvSpPr>
          <p:cNvPr id="19" name="object 5">
            <a:extLst>
              <a:ext uri="{FF2B5EF4-FFF2-40B4-BE49-F238E27FC236}">
                <a16:creationId xmlns:a16="http://schemas.microsoft.com/office/drawing/2014/main" id="{E824F02B-D1F2-C7D7-5789-87776816ED8C}"/>
              </a:ext>
            </a:extLst>
          </p:cNvPr>
          <p:cNvSpPr/>
          <p:nvPr/>
        </p:nvSpPr>
        <p:spPr>
          <a:xfrm>
            <a:off x="783336" y="2252472"/>
            <a:ext cx="1132840" cy="862330"/>
          </a:xfrm>
          <a:custGeom>
            <a:avLst/>
            <a:gdLst/>
            <a:ahLst/>
            <a:cxnLst/>
            <a:rect l="l" t="t" r="r" b="b"/>
            <a:pathLst>
              <a:path w="1132839" h="862330">
                <a:moveTo>
                  <a:pt x="1132332" y="0"/>
                </a:moveTo>
                <a:lnTo>
                  <a:pt x="0" y="0"/>
                </a:lnTo>
                <a:lnTo>
                  <a:pt x="0" y="815466"/>
                </a:lnTo>
                <a:lnTo>
                  <a:pt x="58545" y="830143"/>
                </a:lnTo>
                <a:lnTo>
                  <a:pt x="113068" y="841805"/>
                </a:lnTo>
                <a:lnTo>
                  <a:pt x="163876" y="850639"/>
                </a:lnTo>
                <a:lnTo>
                  <a:pt x="211280" y="856832"/>
                </a:lnTo>
                <a:lnTo>
                  <a:pt x="255589" y="860572"/>
                </a:lnTo>
                <a:lnTo>
                  <a:pt x="297113" y="862045"/>
                </a:lnTo>
                <a:lnTo>
                  <a:pt x="336161" y="861440"/>
                </a:lnTo>
                <a:lnTo>
                  <a:pt x="408066" y="854744"/>
                </a:lnTo>
                <a:lnTo>
                  <a:pt x="473782" y="841980"/>
                </a:lnTo>
                <a:lnTo>
                  <a:pt x="535784" y="824647"/>
                </a:lnTo>
                <a:lnTo>
                  <a:pt x="690788" y="771162"/>
                </a:lnTo>
                <a:lnTo>
                  <a:pt x="724265" y="760223"/>
                </a:lnTo>
                <a:lnTo>
                  <a:pt x="796170" y="739600"/>
                </a:lnTo>
                <a:lnTo>
                  <a:pt x="835218" y="730291"/>
                </a:lnTo>
                <a:lnTo>
                  <a:pt x="876742" y="721901"/>
                </a:lnTo>
                <a:lnTo>
                  <a:pt x="921051" y="714616"/>
                </a:lnTo>
                <a:lnTo>
                  <a:pt x="968455" y="708624"/>
                </a:lnTo>
                <a:lnTo>
                  <a:pt x="1019263" y="704112"/>
                </a:lnTo>
                <a:lnTo>
                  <a:pt x="1073786" y="701267"/>
                </a:lnTo>
                <a:lnTo>
                  <a:pt x="1132332" y="700277"/>
                </a:lnTo>
                <a:lnTo>
                  <a:pt x="1132332" y="0"/>
                </a:lnTo>
                <a:close/>
              </a:path>
            </a:pathLst>
          </a:custGeom>
          <a:solidFill>
            <a:srgbClr val="A9D18E"/>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6">
            <a:extLst>
              <a:ext uri="{FF2B5EF4-FFF2-40B4-BE49-F238E27FC236}">
                <a16:creationId xmlns:a16="http://schemas.microsoft.com/office/drawing/2014/main" id="{26475164-F1EA-6A8A-87B8-7C0ED7B8C9D9}"/>
              </a:ext>
            </a:extLst>
          </p:cNvPr>
          <p:cNvSpPr/>
          <p:nvPr/>
        </p:nvSpPr>
        <p:spPr>
          <a:xfrm>
            <a:off x="783336" y="2252472"/>
            <a:ext cx="1132840" cy="862330"/>
          </a:xfrm>
          <a:custGeom>
            <a:avLst/>
            <a:gdLst/>
            <a:ahLst/>
            <a:cxnLst/>
            <a:rect l="l" t="t" r="r" b="b"/>
            <a:pathLst>
              <a:path w="1132839" h="862330">
                <a:moveTo>
                  <a:pt x="0" y="0"/>
                </a:moveTo>
                <a:lnTo>
                  <a:pt x="1132332" y="0"/>
                </a:lnTo>
                <a:lnTo>
                  <a:pt x="1132332" y="700277"/>
                </a:lnTo>
                <a:lnTo>
                  <a:pt x="1073786" y="701267"/>
                </a:lnTo>
                <a:lnTo>
                  <a:pt x="1019263" y="704112"/>
                </a:lnTo>
                <a:lnTo>
                  <a:pt x="968455" y="708624"/>
                </a:lnTo>
                <a:lnTo>
                  <a:pt x="921051" y="714616"/>
                </a:lnTo>
                <a:lnTo>
                  <a:pt x="876742" y="721901"/>
                </a:lnTo>
                <a:lnTo>
                  <a:pt x="835218" y="730291"/>
                </a:lnTo>
                <a:lnTo>
                  <a:pt x="796170" y="739600"/>
                </a:lnTo>
                <a:lnTo>
                  <a:pt x="759289" y="749639"/>
                </a:lnTo>
                <a:lnTo>
                  <a:pt x="690788" y="771162"/>
                </a:lnTo>
                <a:lnTo>
                  <a:pt x="627239" y="793360"/>
                </a:lnTo>
                <a:lnTo>
                  <a:pt x="596547" y="804245"/>
                </a:lnTo>
                <a:lnTo>
                  <a:pt x="566166" y="814736"/>
                </a:lnTo>
                <a:lnTo>
                  <a:pt x="505092" y="833791"/>
                </a:lnTo>
                <a:lnTo>
                  <a:pt x="441543" y="849027"/>
                </a:lnTo>
                <a:lnTo>
                  <a:pt x="373042" y="858944"/>
                </a:lnTo>
                <a:lnTo>
                  <a:pt x="297113" y="862045"/>
                </a:lnTo>
                <a:lnTo>
                  <a:pt x="255589" y="860572"/>
                </a:lnTo>
                <a:lnTo>
                  <a:pt x="211280" y="856832"/>
                </a:lnTo>
                <a:lnTo>
                  <a:pt x="163876" y="850639"/>
                </a:lnTo>
                <a:lnTo>
                  <a:pt x="113068" y="841805"/>
                </a:lnTo>
                <a:lnTo>
                  <a:pt x="58545" y="830143"/>
                </a:lnTo>
                <a:lnTo>
                  <a:pt x="0" y="815466"/>
                </a:lnTo>
                <a:lnTo>
                  <a:pt x="0" y="0"/>
                </a:lnTo>
                <a:close/>
              </a:path>
            </a:pathLst>
          </a:custGeom>
          <a:ln w="12699">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7">
            <a:extLst>
              <a:ext uri="{FF2B5EF4-FFF2-40B4-BE49-F238E27FC236}">
                <a16:creationId xmlns:a16="http://schemas.microsoft.com/office/drawing/2014/main" id="{8D1A76C1-2E65-57C8-C5B6-1FFA69CC050F}"/>
              </a:ext>
            </a:extLst>
          </p:cNvPr>
          <p:cNvSpPr txBox="1"/>
          <p:nvPr/>
        </p:nvSpPr>
        <p:spPr>
          <a:xfrm>
            <a:off x="1220825" y="2438527"/>
            <a:ext cx="25654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IR</a:t>
            </a:r>
            <a:endParaRPr kern="1200">
              <a:solidFill>
                <a:prstClr val="black"/>
              </a:solidFill>
              <a:latin typeface="Palatino Linotype"/>
              <a:cs typeface="Palatino Linotype"/>
            </a:endParaRPr>
          </a:p>
        </p:txBody>
      </p:sp>
      <p:sp>
        <p:nvSpPr>
          <p:cNvPr id="22" name="object 8">
            <a:extLst>
              <a:ext uri="{FF2B5EF4-FFF2-40B4-BE49-F238E27FC236}">
                <a16:creationId xmlns:a16="http://schemas.microsoft.com/office/drawing/2014/main" id="{E6F9BCE2-F162-2FBB-949D-8F6015A31A9D}"/>
              </a:ext>
            </a:extLst>
          </p:cNvPr>
          <p:cNvSpPr/>
          <p:nvPr/>
        </p:nvSpPr>
        <p:spPr>
          <a:xfrm>
            <a:off x="2087879" y="2496311"/>
            <a:ext cx="711835" cy="271780"/>
          </a:xfrm>
          <a:custGeom>
            <a:avLst/>
            <a:gdLst/>
            <a:ahLst/>
            <a:cxnLst/>
            <a:rect l="l" t="t" r="r" b="b"/>
            <a:pathLst>
              <a:path w="711835" h="271780">
                <a:moveTo>
                  <a:pt x="576071" y="0"/>
                </a:moveTo>
                <a:lnTo>
                  <a:pt x="576071" y="67817"/>
                </a:lnTo>
                <a:lnTo>
                  <a:pt x="0" y="67817"/>
                </a:lnTo>
                <a:lnTo>
                  <a:pt x="0" y="203453"/>
                </a:lnTo>
                <a:lnTo>
                  <a:pt x="576071" y="203453"/>
                </a:lnTo>
                <a:lnTo>
                  <a:pt x="576071" y="271272"/>
                </a:lnTo>
                <a:lnTo>
                  <a:pt x="711707" y="135636"/>
                </a:lnTo>
                <a:lnTo>
                  <a:pt x="576071" y="0"/>
                </a:lnTo>
                <a:close/>
              </a:path>
            </a:pathLst>
          </a:custGeom>
          <a:solidFill>
            <a:srgbClr val="9DC3E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9">
            <a:extLst>
              <a:ext uri="{FF2B5EF4-FFF2-40B4-BE49-F238E27FC236}">
                <a16:creationId xmlns:a16="http://schemas.microsoft.com/office/drawing/2014/main" id="{483EBFCF-9F26-301C-CE9B-5497F04A334F}"/>
              </a:ext>
            </a:extLst>
          </p:cNvPr>
          <p:cNvSpPr/>
          <p:nvPr/>
        </p:nvSpPr>
        <p:spPr>
          <a:xfrm>
            <a:off x="2087879" y="2496311"/>
            <a:ext cx="711835" cy="271780"/>
          </a:xfrm>
          <a:custGeom>
            <a:avLst/>
            <a:gdLst/>
            <a:ahLst/>
            <a:cxnLst/>
            <a:rect l="l" t="t" r="r" b="b"/>
            <a:pathLst>
              <a:path w="711835" h="271780">
                <a:moveTo>
                  <a:pt x="0" y="67817"/>
                </a:moveTo>
                <a:lnTo>
                  <a:pt x="576071" y="67817"/>
                </a:lnTo>
                <a:lnTo>
                  <a:pt x="576071" y="0"/>
                </a:lnTo>
                <a:lnTo>
                  <a:pt x="711707" y="135636"/>
                </a:lnTo>
                <a:lnTo>
                  <a:pt x="576071" y="271272"/>
                </a:lnTo>
                <a:lnTo>
                  <a:pt x="576071" y="203453"/>
                </a:lnTo>
                <a:lnTo>
                  <a:pt x="0" y="203453"/>
                </a:lnTo>
                <a:lnTo>
                  <a:pt x="0" y="67817"/>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10">
            <a:extLst>
              <a:ext uri="{FF2B5EF4-FFF2-40B4-BE49-F238E27FC236}">
                <a16:creationId xmlns:a16="http://schemas.microsoft.com/office/drawing/2014/main" id="{EB25C2DF-7834-C858-BC67-0E21AEB1E5D9}"/>
              </a:ext>
            </a:extLst>
          </p:cNvPr>
          <p:cNvSpPr/>
          <p:nvPr/>
        </p:nvSpPr>
        <p:spPr>
          <a:xfrm>
            <a:off x="6128003" y="2496311"/>
            <a:ext cx="711835" cy="271780"/>
          </a:xfrm>
          <a:custGeom>
            <a:avLst/>
            <a:gdLst/>
            <a:ahLst/>
            <a:cxnLst/>
            <a:rect l="l" t="t" r="r" b="b"/>
            <a:pathLst>
              <a:path w="711834" h="271780">
                <a:moveTo>
                  <a:pt x="576072" y="0"/>
                </a:moveTo>
                <a:lnTo>
                  <a:pt x="576072" y="67817"/>
                </a:lnTo>
                <a:lnTo>
                  <a:pt x="0" y="67817"/>
                </a:lnTo>
                <a:lnTo>
                  <a:pt x="0" y="203453"/>
                </a:lnTo>
                <a:lnTo>
                  <a:pt x="576072" y="203453"/>
                </a:lnTo>
                <a:lnTo>
                  <a:pt x="576072" y="271272"/>
                </a:lnTo>
                <a:lnTo>
                  <a:pt x="711707" y="135636"/>
                </a:lnTo>
                <a:lnTo>
                  <a:pt x="576072" y="0"/>
                </a:lnTo>
                <a:close/>
              </a:path>
            </a:pathLst>
          </a:custGeom>
          <a:solidFill>
            <a:srgbClr val="9DC3E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1">
            <a:extLst>
              <a:ext uri="{FF2B5EF4-FFF2-40B4-BE49-F238E27FC236}">
                <a16:creationId xmlns:a16="http://schemas.microsoft.com/office/drawing/2014/main" id="{13E6A4A0-574E-F4A8-F8D1-E9A644015971}"/>
              </a:ext>
            </a:extLst>
          </p:cNvPr>
          <p:cNvSpPr/>
          <p:nvPr/>
        </p:nvSpPr>
        <p:spPr>
          <a:xfrm>
            <a:off x="6128003" y="2496311"/>
            <a:ext cx="711835" cy="271780"/>
          </a:xfrm>
          <a:custGeom>
            <a:avLst/>
            <a:gdLst/>
            <a:ahLst/>
            <a:cxnLst/>
            <a:rect l="l" t="t" r="r" b="b"/>
            <a:pathLst>
              <a:path w="711834" h="271780">
                <a:moveTo>
                  <a:pt x="0" y="67817"/>
                </a:moveTo>
                <a:lnTo>
                  <a:pt x="576072" y="67817"/>
                </a:lnTo>
                <a:lnTo>
                  <a:pt x="576072" y="0"/>
                </a:lnTo>
                <a:lnTo>
                  <a:pt x="711707" y="135636"/>
                </a:lnTo>
                <a:lnTo>
                  <a:pt x="576072" y="271272"/>
                </a:lnTo>
                <a:lnTo>
                  <a:pt x="576072" y="203453"/>
                </a:lnTo>
                <a:lnTo>
                  <a:pt x="0" y="203453"/>
                </a:lnTo>
                <a:lnTo>
                  <a:pt x="0" y="67817"/>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12">
            <a:extLst>
              <a:ext uri="{FF2B5EF4-FFF2-40B4-BE49-F238E27FC236}">
                <a16:creationId xmlns:a16="http://schemas.microsoft.com/office/drawing/2014/main" id="{1AF79BF6-3E26-2EDA-88FB-A95A4BE7D2E8}"/>
              </a:ext>
            </a:extLst>
          </p:cNvPr>
          <p:cNvSpPr txBox="1"/>
          <p:nvPr/>
        </p:nvSpPr>
        <p:spPr>
          <a:xfrm>
            <a:off x="7013447" y="2194560"/>
            <a:ext cx="1257300" cy="875030"/>
          </a:xfrm>
          <a:prstGeom prst="rect">
            <a:avLst/>
          </a:prstGeom>
          <a:solidFill>
            <a:srgbClr val="000000"/>
          </a:solidFill>
          <a:ln w="12700">
            <a:solidFill>
              <a:srgbClr val="2E528F"/>
            </a:solidFill>
          </a:ln>
        </p:spPr>
        <p:txBody>
          <a:bodyPr vert="horz" wrap="square" lIns="0" tIns="147955" rIns="0" bIns="0" rtlCol="0">
            <a:spAutoFit/>
          </a:bodyPr>
          <a:lstStyle/>
          <a:p>
            <a:pPr marL="360680" marR="182880" indent="-169545" rtl="0">
              <a:spcBef>
                <a:spcPts val="1165"/>
              </a:spcBef>
            </a:pPr>
            <a:r>
              <a:rPr kern="1200" dirty="0">
                <a:solidFill>
                  <a:srgbClr val="00AF50"/>
                </a:solidFill>
                <a:latin typeface="Palatino Linotype"/>
                <a:cs typeface="Palatino Linotype"/>
              </a:rPr>
              <a:t>Mac</a:t>
            </a:r>
            <a:r>
              <a:rPr kern="1200" spc="-5" dirty="0">
                <a:solidFill>
                  <a:srgbClr val="00AF50"/>
                </a:solidFill>
                <a:latin typeface="Palatino Linotype"/>
                <a:cs typeface="Palatino Linotype"/>
              </a:rPr>
              <a:t>hine  </a:t>
            </a:r>
            <a:r>
              <a:rPr kern="1200" dirty="0">
                <a:solidFill>
                  <a:srgbClr val="00AF50"/>
                </a:solidFill>
                <a:latin typeface="Palatino Linotype"/>
                <a:cs typeface="Palatino Linotype"/>
              </a:rPr>
              <a:t>Code</a:t>
            </a:r>
            <a:endParaRPr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43D09708-791A-741F-1FE1-8D2BDFCEA6C4}"/>
              </a:ext>
            </a:extLst>
          </p:cNvPr>
          <p:cNvSpPr>
            <a:spLocks noGrp="1"/>
          </p:cNvSpPr>
          <p:nvPr>
            <p:ph type="sldNum" sz="quarter" idx="12"/>
          </p:nvPr>
        </p:nvSpPr>
        <p:spPr/>
        <p:txBody>
          <a:bodyPr/>
          <a:lstStyle/>
          <a:p>
            <a:pPr>
              <a:defRPr/>
            </a:pPr>
            <a:fld id="{2FBC720A-3716-234A-B2DF-CBC7E48049F5}" type="slidenum">
              <a:rPr lang="en-US" altLang="zh-CN" smtClean="0"/>
              <a:t>20</a:t>
            </a:fld>
            <a:endParaRPr lang="en-US" altLang="zh-CN"/>
          </a:p>
        </p:txBody>
      </p:sp>
    </p:spTree>
    <p:extLst>
      <p:ext uri="{BB962C8B-B14F-4D97-AF65-F5344CB8AC3E}">
        <p14:creationId xmlns:p14="http://schemas.microsoft.com/office/powerpoint/2010/main" val="1152964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3" name="object 2">
            <a:extLst>
              <a:ext uri="{FF2B5EF4-FFF2-40B4-BE49-F238E27FC236}">
                <a16:creationId xmlns:a16="http://schemas.microsoft.com/office/drawing/2014/main" id="{91E82721-DF43-0EE6-1E7C-5C3C04FA4297}"/>
              </a:ext>
            </a:extLst>
          </p:cNvPr>
          <p:cNvSpPr txBox="1">
            <a:spLocks/>
          </p:cNvSpPr>
          <p:nvPr/>
        </p:nvSpPr>
        <p:spPr>
          <a:xfrm>
            <a:off x="707542" y="574675"/>
            <a:ext cx="7659370" cy="559435"/>
          </a:xfrm>
          <a:prstGeom prst="rect">
            <a:avLst/>
          </a:prstGeom>
        </p:spPr>
        <p:txBody>
          <a:bodyPr vert="horz" wrap="square" lIns="0" tIns="1333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Lexical</a:t>
            </a:r>
            <a:r>
              <a:rPr kumimoji="0" lang="en-US" sz="3500" b="1" i="0" u="none" strike="noStrike" kern="0" cap="none" spc="-4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Analysis</a:t>
            </a:r>
            <a:r>
              <a:rPr kumimoji="0" lang="en-US" sz="3500" b="1" i="0" u="none" strike="noStrike" kern="0" cap="none" spc="-15" normalizeH="0" baseline="0" noProof="0">
                <a:ln>
                  <a:noFill/>
                </a:ln>
                <a:solidFill>
                  <a:sysClr val="windowText" lastClr="000000"/>
                </a:solidFill>
                <a:effectLst/>
                <a:uLnTx/>
                <a:uFillTx/>
                <a:latin typeface="Palatino Linotype"/>
                <a:ea typeface="+mj-ea"/>
              </a:rPr>
              <a:t> </a:t>
            </a:r>
            <a:r>
              <a:rPr kumimoji="0" lang="en-US" sz="3500" b="1" i="0" u="none" strike="noStrike" kern="0" cap="none" spc="-5" normalizeH="0" baseline="0" noProof="0">
                <a:ln>
                  <a:noFill/>
                </a:ln>
                <a:solidFill>
                  <a:sysClr val="windowText" lastClr="000000"/>
                </a:solidFill>
                <a:effectLst/>
                <a:uLnTx/>
                <a:uFillTx/>
                <a:latin typeface="Palatino Linotype"/>
                <a:ea typeface="+mj-ea"/>
              </a:rPr>
              <a:t>(Scanning,</a:t>
            </a:r>
            <a:r>
              <a:rPr kumimoji="0" lang="en-US" sz="3500" b="1" i="0" u="none" strike="noStrike" kern="0" cap="none" spc="-20" normalizeH="0" baseline="0" noProof="0">
                <a:ln>
                  <a:noFill/>
                </a:ln>
                <a:solidFill>
                  <a:sysClr val="windowText" lastClr="000000"/>
                </a:solidFill>
                <a:effectLst/>
                <a:uLnTx/>
                <a:uFillTx/>
                <a:latin typeface="Palatino Linotype"/>
                <a:ea typeface="+mj-ea"/>
              </a:rPr>
              <a:t> </a:t>
            </a:r>
            <a:r>
              <a:rPr kumimoji="0" lang="zh-CN" altLang="en-US" sz="3500" b="1" i="0" u="none" strike="noStrike" kern="0" cap="none" spc="0" normalizeH="0" baseline="0" noProof="0">
                <a:ln>
                  <a:noFill/>
                </a:ln>
                <a:solidFill>
                  <a:sysClr val="windowText" lastClr="000000"/>
                </a:solidFill>
                <a:effectLst/>
                <a:uLnTx/>
                <a:uFillTx/>
                <a:latin typeface="宋体"/>
                <a:ea typeface="宋体" panose="02010600030101010101" pitchFamily="2" charset="-122"/>
                <a:cs typeface="宋体"/>
              </a:rPr>
              <a:t>词法分</a:t>
            </a:r>
            <a:r>
              <a:rPr kumimoji="0" lang="zh-CN" altLang="en-US" sz="3500" b="1" i="0" u="none" strike="noStrike" kern="0" cap="none" spc="5" normalizeH="0" baseline="0" noProof="0">
                <a:ln>
                  <a:noFill/>
                </a:ln>
                <a:solidFill>
                  <a:sysClr val="windowText" lastClr="000000"/>
                </a:solidFill>
                <a:effectLst/>
                <a:uLnTx/>
                <a:uFillTx/>
                <a:latin typeface="宋体"/>
                <a:ea typeface="宋体" panose="02010600030101010101" pitchFamily="2" charset="-122"/>
                <a:cs typeface="宋体"/>
              </a:rPr>
              <a:t>析</a:t>
            </a:r>
            <a:r>
              <a:rPr kumimoji="0" lang="en-US" altLang="zh-CN" sz="35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3500" b="1" i="0" u="none" strike="noStrike" kern="0" cap="none" spc="0" normalizeH="0" baseline="0" noProof="0">
              <a:ln>
                <a:noFill/>
              </a:ln>
              <a:solidFill>
                <a:sysClr val="windowText" lastClr="000000"/>
              </a:solidFill>
              <a:effectLst/>
              <a:uLnTx/>
              <a:uFillTx/>
              <a:latin typeface="宋体"/>
              <a:ea typeface="宋体" panose="02010600030101010101" pitchFamily="2" charset="-122"/>
              <a:cs typeface="宋体"/>
            </a:endParaRPr>
          </a:p>
        </p:txBody>
      </p:sp>
      <p:sp>
        <p:nvSpPr>
          <p:cNvPr id="14" name="object 3">
            <a:extLst>
              <a:ext uri="{FF2B5EF4-FFF2-40B4-BE49-F238E27FC236}">
                <a16:creationId xmlns:a16="http://schemas.microsoft.com/office/drawing/2014/main" id="{F9B4DB12-4C10-AADB-989B-FA8EDB27FA11}"/>
              </a:ext>
            </a:extLst>
          </p:cNvPr>
          <p:cNvSpPr txBox="1"/>
          <p:nvPr/>
        </p:nvSpPr>
        <p:spPr>
          <a:xfrm>
            <a:off x="707542" y="1660347"/>
            <a:ext cx="7687945" cy="2477135"/>
          </a:xfrm>
          <a:prstGeom prst="rect">
            <a:avLst/>
          </a:prstGeom>
        </p:spPr>
        <p:txBody>
          <a:bodyPr vert="horz" wrap="square" lIns="0" tIns="12700" rIns="0" bIns="0" rtlCol="0">
            <a:spAutoFit/>
          </a:bodyPr>
          <a:lstStyle/>
          <a:p>
            <a:pPr marL="60325" rtl="0">
              <a:spcBef>
                <a:spcPts val="100"/>
              </a:spcBef>
              <a:tabLst>
                <a:tab pos="2994660" algn="l"/>
                <a:tab pos="5842635" algn="l"/>
              </a:tabLst>
            </a:pPr>
            <a:r>
              <a:rPr kern="1200" spc="-5" dirty="0">
                <a:solidFill>
                  <a:prstClr val="black"/>
                </a:solidFill>
                <a:latin typeface="Palatino Linotype"/>
                <a:cs typeface="Palatino Linotype"/>
              </a:rPr>
              <a:t>Character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stream		</a:t>
            </a:r>
            <a:r>
              <a:rPr sz="2700" kern="1200" spc="-44" baseline="1543" dirty="0">
                <a:solidFill>
                  <a:prstClr val="black"/>
                </a:solidFill>
                <a:latin typeface="Palatino Linotype"/>
                <a:cs typeface="Palatino Linotype"/>
              </a:rPr>
              <a:t>Token</a:t>
            </a:r>
            <a:r>
              <a:rPr sz="2700" kern="1200" baseline="1543" dirty="0">
                <a:solidFill>
                  <a:prstClr val="black"/>
                </a:solidFill>
                <a:latin typeface="Palatino Linotype"/>
                <a:cs typeface="Palatino Linotype"/>
              </a:rPr>
              <a:t> stream</a:t>
            </a:r>
          </a:p>
          <a:p>
            <a:pPr rtl="0">
              <a:spcBef>
                <a:spcPts val="15"/>
              </a:spcBef>
            </a:pPr>
            <a:endParaRPr sz="2800" kern="1200" dirty="0">
              <a:solidFill>
                <a:prstClr val="black"/>
              </a:solidFill>
              <a:latin typeface="Palatino Linotype"/>
              <a:cs typeface="Palatino Linotype"/>
            </a:endParaRPr>
          </a:p>
          <a:p>
            <a:pPr marL="242570" marR="5080" indent="-230504" rtl="0">
              <a:lnSpc>
                <a:spcPct val="120000"/>
              </a:lnSpc>
              <a:buFont typeface="Arial"/>
              <a:buChar char="•"/>
              <a:tabLst>
                <a:tab pos="242570" algn="l"/>
                <a:tab pos="243204" algn="l"/>
              </a:tabLst>
            </a:pPr>
            <a:r>
              <a:rPr lang="en-US" sz="1900" kern="1200" spc="-5" dirty="0">
                <a:solidFill>
                  <a:prstClr val="black"/>
                </a:solidFill>
                <a:latin typeface="Palatino Linotype"/>
                <a:cs typeface="Palatino Linotype"/>
              </a:rPr>
              <a:t>The lexical analyzer (</a:t>
            </a:r>
            <a:r>
              <a:rPr lang="en-US" sz="1900" kern="1200" spc="-5" dirty="0" err="1">
                <a:solidFill>
                  <a:prstClr val="black"/>
                </a:solidFill>
                <a:latin typeface="Palatino Linotype"/>
                <a:cs typeface="Palatino Linotype"/>
              </a:rPr>
              <a:t>lexer</a:t>
            </a:r>
            <a:r>
              <a:rPr lang="en-US" sz="1900" kern="1200" spc="-5" dirty="0">
                <a:solidFill>
                  <a:prstClr val="black"/>
                </a:solidFill>
                <a:latin typeface="Palatino Linotype"/>
                <a:cs typeface="Palatino Linotype"/>
              </a:rPr>
              <a:t>/tokenizer/scanner) breaks down the </a:t>
            </a:r>
            <a:r>
              <a:rPr lang="en-US" sz="1900" kern="1200" spc="-10" dirty="0">
                <a:solidFill>
                  <a:prstClr val="black"/>
                </a:solidFill>
                <a:latin typeface="Palatino Linotype"/>
                <a:cs typeface="Palatino Linotype"/>
              </a:rPr>
              <a:t>source  </a:t>
            </a:r>
            <a:r>
              <a:rPr lang="en-US" sz="1900" kern="1200" spc="-5" dirty="0">
                <a:solidFill>
                  <a:prstClr val="black"/>
                </a:solidFill>
                <a:latin typeface="Palatino Linotype"/>
                <a:cs typeface="Palatino Linotype"/>
              </a:rPr>
              <a:t>code</a:t>
            </a:r>
            <a:r>
              <a:rPr lang="en-US" sz="1900" kern="1200" spc="5" dirty="0">
                <a:solidFill>
                  <a:prstClr val="black"/>
                </a:solidFill>
                <a:latin typeface="Palatino Linotype"/>
                <a:cs typeface="Palatino Linotype"/>
              </a:rPr>
              <a:t> </a:t>
            </a:r>
            <a:r>
              <a:rPr lang="en-US" sz="1900" kern="1200" spc="-5" dirty="0">
                <a:solidFill>
                  <a:prstClr val="black"/>
                </a:solidFill>
                <a:latin typeface="Palatino Linotype"/>
                <a:cs typeface="Palatino Linotype"/>
              </a:rPr>
              <a:t>into</a:t>
            </a:r>
            <a:r>
              <a:rPr lang="en-US" sz="1900" kern="1200" spc="-15" dirty="0">
                <a:solidFill>
                  <a:prstClr val="black"/>
                </a:solidFill>
                <a:latin typeface="Palatino Linotype"/>
                <a:cs typeface="Palatino Linotype"/>
              </a:rPr>
              <a:t> </a:t>
            </a:r>
            <a:r>
              <a:rPr lang="en-US" sz="1900" kern="1200" spc="-5" dirty="0">
                <a:solidFill>
                  <a:prstClr val="black"/>
                </a:solidFill>
                <a:latin typeface="Palatino Linotype"/>
                <a:cs typeface="Palatino Linotype"/>
              </a:rPr>
              <a:t>a</a:t>
            </a:r>
            <a:r>
              <a:rPr lang="en-US" sz="1900" kern="1200" dirty="0">
                <a:solidFill>
                  <a:prstClr val="black"/>
                </a:solidFill>
                <a:latin typeface="Palatino Linotype"/>
                <a:cs typeface="Palatino Linotype"/>
              </a:rPr>
              <a:t> </a:t>
            </a:r>
            <a:r>
              <a:rPr lang="en-US" sz="1900" kern="1200" spc="-5" dirty="0">
                <a:solidFill>
                  <a:prstClr val="black"/>
                </a:solidFill>
                <a:latin typeface="Palatino Linotype"/>
                <a:cs typeface="Palatino Linotype"/>
              </a:rPr>
              <a:t>sequence</a:t>
            </a:r>
            <a:r>
              <a:rPr lang="en-US" sz="1900" kern="1200" spc="5" dirty="0">
                <a:solidFill>
                  <a:prstClr val="black"/>
                </a:solidFill>
                <a:latin typeface="Palatino Linotype"/>
                <a:cs typeface="Palatino Linotype"/>
              </a:rPr>
              <a:t> </a:t>
            </a:r>
            <a:r>
              <a:rPr lang="en-US" sz="1900" kern="1200" spc="-5" dirty="0">
                <a:solidFill>
                  <a:prstClr val="black"/>
                </a:solidFill>
                <a:latin typeface="Palatino Linotype"/>
                <a:cs typeface="Palatino Linotype"/>
              </a:rPr>
              <a:t>of</a:t>
            </a:r>
            <a:r>
              <a:rPr lang="en-US" sz="1900" kern="1200" spc="20" dirty="0">
                <a:solidFill>
                  <a:prstClr val="black"/>
                </a:solidFill>
                <a:latin typeface="Palatino Linotype"/>
                <a:cs typeface="Palatino Linotype"/>
              </a:rPr>
              <a:t> </a:t>
            </a:r>
            <a:r>
              <a:rPr lang="en-US" sz="1900" kern="1200" spc="-5" dirty="0">
                <a:solidFill>
                  <a:srgbClr val="FF0000"/>
                </a:solidFill>
                <a:latin typeface="Palatino Linotype"/>
                <a:cs typeface="Palatino Linotype"/>
              </a:rPr>
              <a:t>“lexemes” </a:t>
            </a:r>
            <a:r>
              <a:rPr lang="en-US" sz="1900" kern="1200" spc="-5" dirty="0">
                <a:solidFill>
                  <a:prstClr val="black"/>
                </a:solidFill>
                <a:latin typeface="宋体" panose="02010600030101010101" pitchFamily="2" charset="-122"/>
                <a:ea typeface="宋体" panose="02010600030101010101" pitchFamily="2" charset="-122"/>
                <a:cs typeface="Palatino Linotype"/>
              </a:rPr>
              <a:t>(</a:t>
            </a:r>
            <a:r>
              <a:rPr lang="zh-CN" altLang="en-US" sz="1900" kern="1200" spc="-5" dirty="0">
                <a:solidFill>
                  <a:prstClr val="black"/>
                </a:solidFill>
                <a:latin typeface="宋体" panose="02010600030101010101" pitchFamily="2" charset="-122"/>
                <a:ea typeface="宋体" panose="02010600030101010101" pitchFamily="2" charset="-122"/>
                <a:cs typeface="宋体"/>
              </a:rPr>
              <a:t>词素</a:t>
            </a:r>
            <a:r>
              <a:rPr lang="en-US" altLang="zh-CN" sz="1900" kern="1200" spc="-5" dirty="0">
                <a:solidFill>
                  <a:prstClr val="black"/>
                </a:solidFill>
                <a:latin typeface="宋体" panose="02010600030101010101" pitchFamily="2" charset="-122"/>
                <a:ea typeface="宋体" panose="02010600030101010101" pitchFamily="2" charset="-122"/>
                <a:cs typeface="Palatino Linotype"/>
              </a:rPr>
              <a:t>)</a:t>
            </a:r>
            <a:r>
              <a:rPr lang="zh-CN" altLang="en-US" sz="1900" kern="1200" spc="5" dirty="0">
                <a:solidFill>
                  <a:prstClr val="black"/>
                </a:solidFill>
                <a:latin typeface="宋体" panose="02010600030101010101" pitchFamily="2" charset="-122"/>
                <a:ea typeface="宋体" panose="02010600030101010101" pitchFamily="2" charset="-122"/>
                <a:cs typeface="Palatino Linotype"/>
              </a:rPr>
              <a:t> </a:t>
            </a:r>
            <a:r>
              <a:rPr lang="en-US" sz="1900" kern="1200" spc="-5" dirty="0">
                <a:solidFill>
                  <a:prstClr val="black"/>
                </a:solidFill>
                <a:latin typeface="Palatino Linotype"/>
                <a:cs typeface="Palatino Linotype"/>
              </a:rPr>
              <a:t>or</a:t>
            </a:r>
            <a:r>
              <a:rPr lang="en-US" sz="1900" kern="1200" spc="10" dirty="0">
                <a:solidFill>
                  <a:prstClr val="black"/>
                </a:solidFill>
                <a:latin typeface="Palatino Linotype"/>
                <a:cs typeface="Palatino Linotype"/>
              </a:rPr>
              <a:t> </a:t>
            </a:r>
            <a:r>
              <a:rPr lang="en-US" sz="1900" kern="1200" spc="-10" dirty="0">
                <a:solidFill>
                  <a:prstClr val="black"/>
                </a:solidFill>
                <a:latin typeface="Palatino Linotype"/>
                <a:cs typeface="Palatino Linotype"/>
              </a:rPr>
              <a:t>“words”</a:t>
            </a:r>
            <a:endParaRPr lang="en-US" sz="1900" kern="1200" dirty="0">
              <a:solidFill>
                <a:prstClr val="black"/>
              </a:solidFill>
              <a:latin typeface="Palatino Linotype"/>
              <a:cs typeface="Palatino Linotype"/>
            </a:endParaRPr>
          </a:p>
          <a:p>
            <a:pPr marL="242570" indent="-230504" rtl="0">
              <a:spcBef>
                <a:spcPts val="1655"/>
              </a:spcBef>
              <a:buFont typeface="Arial"/>
              <a:buChar char="•"/>
              <a:tabLst>
                <a:tab pos="242570" algn="l"/>
                <a:tab pos="243204" algn="l"/>
              </a:tabLst>
            </a:pPr>
            <a:r>
              <a:rPr sz="1900" kern="1200" spc="-5" dirty="0">
                <a:solidFill>
                  <a:prstClr val="black"/>
                </a:solidFill>
                <a:latin typeface="Palatino Linotype"/>
                <a:cs typeface="Palatino Linotype"/>
              </a:rPr>
              <a:t>For</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each</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lexeme,</a:t>
            </a:r>
            <a:r>
              <a:rPr sz="1900" kern="1200" dirty="0">
                <a:solidFill>
                  <a:prstClr val="black"/>
                </a:solidFill>
                <a:latin typeface="Palatino Linotype"/>
                <a:cs typeface="Palatino Linotype"/>
              </a:rPr>
              <a:t> </a:t>
            </a:r>
            <a:r>
              <a:rPr sz="1900" kern="1200" spc="-10" dirty="0">
                <a:solidFill>
                  <a:prstClr val="black"/>
                </a:solidFill>
                <a:latin typeface="Palatino Linotype"/>
                <a:cs typeface="Palatino Linotype"/>
              </a:rPr>
              <a:t>produce</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a</a:t>
            </a:r>
            <a:r>
              <a:rPr sz="1900" kern="1200" spc="10" dirty="0">
                <a:solidFill>
                  <a:prstClr val="black"/>
                </a:solidFill>
                <a:latin typeface="Palatino Linotype"/>
                <a:cs typeface="Palatino Linotype"/>
              </a:rPr>
              <a:t> </a:t>
            </a:r>
            <a:r>
              <a:rPr sz="1900" kern="1200" spc="-5" dirty="0">
                <a:solidFill>
                  <a:srgbClr val="FF0000"/>
                </a:solidFill>
                <a:latin typeface="Palatino Linotype"/>
                <a:cs typeface="Palatino Linotype"/>
              </a:rPr>
              <a:t>“token”</a:t>
            </a:r>
            <a:r>
              <a:rPr sz="1900" kern="1200" spc="20" dirty="0">
                <a:solidFill>
                  <a:srgbClr val="FF0000"/>
                </a:solidFill>
                <a:latin typeface="Palatino Linotype"/>
                <a:cs typeface="Palatino Linotype"/>
              </a:rPr>
              <a:t> </a:t>
            </a:r>
            <a:r>
              <a:rPr sz="1900" kern="1200" spc="-5" dirty="0">
                <a:solidFill>
                  <a:prstClr val="black"/>
                </a:solidFill>
                <a:latin typeface="宋体" panose="02010600030101010101" pitchFamily="2" charset="-122"/>
                <a:ea typeface="宋体" panose="02010600030101010101" pitchFamily="2" charset="-122"/>
                <a:cs typeface="Palatino Linotype"/>
              </a:rPr>
              <a:t>(</a:t>
            </a:r>
            <a:r>
              <a:rPr sz="1900" kern="1200" spc="-10" dirty="0">
                <a:solidFill>
                  <a:prstClr val="black"/>
                </a:solidFill>
                <a:latin typeface="宋体" panose="02010600030101010101" pitchFamily="2" charset="-122"/>
                <a:ea typeface="宋体" panose="02010600030101010101" pitchFamily="2" charset="-122"/>
                <a:cs typeface="宋体"/>
              </a:rPr>
              <a:t>词法单元</a:t>
            </a:r>
            <a:r>
              <a:rPr sz="1900" kern="1200" spc="-5" dirty="0">
                <a:solidFill>
                  <a:prstClr val="black"/>
                </a:solidFill>
                <a:latin typeface="宋体" panose="02010600030101010101" pitchFamily="2" charset="-122"/>
                <a:ea typeface="宋体" panose="02010600030101010101" pitchFamily="2" charset="-122"/>
                <a:cs typeface="Palatino Linotype"/>
              </a:rPr>
              <a:t>)</a:t>
            </a:r>
            <a:r>
              <a:rPr sz="1900" kern="1200" spc="15" dirty="0">
                <a:solidFill>
                  <a:prstClr val="black"/>
                </a:solidFill>
                <a:latin typeface="宋体" panose="02010600030101010101" pitchFamily="2" charset="-122"/>
                <a:ea typeface="宋体" panose="02010600030101010101" pitchFamily="2" charset="-122"/>
                <a:cs typeface="Palatino Linotype"/>
              </a:rPr>
              <a:t> </a:t>
            </a:r>
            <a:r>
              <a:rPr sz="1900" kern="1200" spc="-5" dirty="0">
                <a:solidFill>
                  <a:prstClr val="black"/>
                </a:solidFill>
                <a:latin typeface="Palatino Linotype"/>
                <a:cs typeface="Palatino Linotype"/>
              </a:rPr>
              <a:t>in</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the</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form:</a:t>
            </a:r>
            <a:endParaRPr sz="1900" kern="1200" dirty="0">
              <a:solidFill>
                <a:prstClr val="black"/>
              </a:solidFill>
              <a:latin typeface="Palatino Linotype"/>
              <a:cs typeface="Palatino Linotype"/>
            </a:endParaRPr>
          </a:p>
          <a:p>
            <a:pPr marL="39370" algn="ctr" rtl="0">
              <a:spcBef>
                <a:spcPts val="1660"/>
              </a:spcBef>
            </a:pPr>
            <a:r>
              <a:rPr sz="1900" kern="1200" dirty="0">
                <a:solidFill>
                  <a:prstClr val="black"/>
                </a:solidFill>
                <a:latin typeface="Consolas"/>
                <a:cs typeface="Consolas"/>
              </a:rPr>
              <a:t>&lt;</a:t>
            </a:r>
            <a:r>
              <a:rPr sz="1900" kern="1200" dirty="0">
                <a:solidFill>
                  <a:srgbClr val="0431FF"/>
                </a:solidFill>
                <a:latin typeface="Consolas"/>
                <a:cs typeface="Consolas"/>
              </a:rPr>
              <a:t>token-name</a:t>
            </a:r>
            <a:r>
              <a:rPr sz="1900" kern="1200" dirty="0">
                <a:solidFill>
                  <a:prstClr val="black"/>
                </a:solidFill>
                <a:latin typeface="Consolas"/>
                <a:cs typeface="Consolas"/>
              </a:rPr>
              <a:t>,</a:t>
            </a:r>
            <a:r>
              <a:rPr sz="1900" kern="1200" spc="-5" dirty="0">
                <a:solidFill>
                  <a:prstClr val="black"/>
                </a:solidFill>
                <a:latin typeface="Consolas"/>
                <a:cs typeface="Consolas"/>
              </a:rPr>
              <a:t> </a:t>
            </a:r>
            <a:r>
              <a:rPr sz="1900" kern="1200" dirty="0">
                <a:solidFill>
                  <a:srgbClr val="FD5B71"/>
                </a:solidFill>
                <a:latin typeface="Consolas"/>
                <a:cs typeface="Consolas"/>
              </a:rPr>
              <a:t>attribute-value</a:t>
            </a:r>
            <a:r>
              <a:rPr sz="1900" kern="1200" dirty="0">
                <a:solidFill>
                  <a:prstClr val="black"/>
                </a:solidFill>
                <a:latin typeface="Consolas"/>
                <a:cs typeface="Consolas"/>
              </a:rPr>
              <a:t>&gt;</a:t>
            </a:r>
          </a:p>
        </p:txBody>
      </p:sp>
      <p:sp>
        <p:nvSpPr>
          <p:cNvPr id="15" name="object 4">
            <a:extLst>
              <a:ext uri="{FF2B5EF4-FFF2-40B4-BE49-F238E27FC236}">
                <a16:creationId xmlns:a16="http://schemas.microsoft.com/office/drawing/2014/main" id="{69C109A3-E990-99BF-3360-010D25BFFD29}"/>
              </a:ext>
            </a:extLst>
          </p:cNvPr>
          <p:cNvSpPr/>
          <p:nvPr/>
        </p:nvSpPr>
        <p:spPr>
          <a:xfrm>
            <a:off x="2644139" y="1773173"/>
            <a:ext cx="842644" cy="103505"/>
          </a:xfrm>
          <a:custGeom>
            <a:avLst/>
            <a:gdLst/>
            <a:ahLst/>
            <a:cxnLst/>
            <a:rect l="l" t="t" r="r" b="b"/>
            <a:pathLst>
              <a:path w="842645" h="103505">
                <a:moveTo>
                  <a:pt x="826294" y="44830"/>
                </a:moveTo>
                <a:lnTo>
                  <a:pt x="824992" y="44830"/>
                </a:lnTo>
                <a:lnTo>
                  <a:pt x="824992" y="57530"/>
                </a:lnTo>
                <a:lnTo>
                  <a:pt x="790983" y="57667"/>
                </a:lnTo>
                <a:lnTo>
                  <a:pt x="705231" y="91439"/>
                </a:lnTo>
                <a:lnTo>
                  <a:pt x="703580" y="95123"/>
                </a:lnTo>
                <a:lnTo>
                  <a:pt x="704976" y="98425"/>
                </a:lnTo>
                <a:lnTo>
                  <a:pt x="706247" y="101600"/>
                </a:lnTo>
                <a:lnTo>
                  <a:pt x="709930" y="103250"/>
                </a:lnTo>
                <a:lnTo>
                  <a:pt x="842518" y="51053"/>
                </a:lnTo>
                <a:lnTo>
                  <a:pt x="826294" y="44830"/>
                </a:lnTo>
                <a:close/>
              </a:path>
              <a:path w="842645" h="103505">
                <a:moveTo>
                  <a:pt x="791274" y="44965"/>
                </a:moveTo>
                <a:lnTo>
                  <a:pt x="0" y="48133"/>
                </a:lnTo>
                <a:lnTo>
                  <a:pt x="0" y="60833"/>
                </a:lnTo>
                <a:lnTo>
                  <a:pt x="790983" y="57667"/>
                </a:lnTo>
                <a:lnTo>
                  <a:pt x="807456" y="51173"/>
                </a:lnTo>
                <a:lnTo>
                  <a:pt x="791274" y="44965"/>
                </a:lnTo>
                <a:close/>
              </a:path>
              <a:path w="842645" h="103505">
                <a:moveTo>
                  <a:pt x="807456" y="51173"/>
                </a:moveTo>
                <a:lnTo>
                  <a:pt x="790983" y="57667"/>
                </a:lnTo>
                <a:lnTo>
                  <a:pt x="824992" y="57530"/>
                </a:lnTo>
                <a:lnTo>
                  <a:pt x="824992" y="57023"/>
                </a:lnTo>
                <a:lnTo>
                  <a:pt x="822706" y="57023"/>
                </a:lnTo>
                <a:lnTo>
                  <a:pt x="807456" y="51173"/>
                </a:lnTo>
                <a:close/>
              </a:path>
              <a:path w="842645" h="103505">
                <a:moveTo>
                  <a:pt x="822579" y="45212"/>
                </a:moveTo>
                <a:lnTo>
                  <a:pt x="807456" y="51173"/>
                </a:lnTo>
                <a:lnTo>
                  <a:pt x="822706" y="57023"/>
                </a:lnTo>
                <a:lnTo>
                  <a:pt x="822579" y="45212"/>
                </a:lnTo>
                <a:close/>
              </a:path>
              <a:path w="842645" h="103505">
                <a:moveTo>
                  <a:pt x="824992" y="45212"/>
                </a:moveTo>
                <a:lnTo>
                  <a:pt x="822579" y="45212"/>
                </a:lnTo>
                <a:lnTo>
                  <a:pt x="822706" y="57023"/>
                </a:lnTo>
                <a:lnTo>
                  <a:pt x="824992" y="57023"/>
                </a:lnTo>
                <a:lnTo>
                  <a:pt x="824992" y="45212"/>
                </a:lnTo>
                <a:close/>
              </a:path>
              <a:path w="842645" h="103505">
                <a:moveTo>
                  <a:pt x="824992" y="44830"/>
                </a:moveTo>
                <a:lnTo>
                  <a:pt x="791274" y="44965"/>
                </a:lnTo>
                <a:lnTo>
                  <a:pt x="807456" y="51173"/>
                </a:lnTo>
                <a:lnTo>
                  <a:pt x="822579" y="45212"/>
                </a:lnTo>
                <a:lnTo>
                  <a:pt x="824992" y="45212"/>
                </a:lnTo>
                <a:lnTo>
                  <a:pt x="824992" y="44830"/>
                </a:lnTo>
                <a:close/>
              </a:path>
              <a:path w="842645" h="103505">
                <a:moveTo>
                  <a:pt x="709422" y="0"/>
                </a:moveTo>
                <a:lnTo>
                  <a:pt x="705865" y="1524"/>
                </a:lnTo>
                <a:lnTo>
                  <a:pt x="703326" y="8127"/>
                </a:lnTo>
                <a:lnTo>
                  <a:pt x="704976" y="11811"/>
                </a:lnTo>
                <a:lnTo>
                  <a:pt x="708151" y="13080"/>
                </a:lnTo>
                <a:lnTo>
                  <a:pt x="791274" y="44965"/>
                </a:lnTo>
                <a:lnTo>
                  <a:pt x="826294" y="44830"/>
                </a:lnTo>
                <a:lnTo>
                  <a:pt x="7094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5">
            <a:extLst>
              <a:ext uri="{FF2B5EF4-FFF2-40B4-BE49-F238E27FC236}">
                <a16:creationId xmlns:a16="http://schemas.microsoft.com/office/drawing/2014/main" id="{2B414A18-B2BF-B93C-33C7-4E2959E4C8B2}"/>
              </a:ext>
            </a:extLst>
          </p:cNvPr>
          <p:cNvSpPr/>
          <p:nvPr/>
        </p:nvSpPr>
        <p:spPr>
          <a:xfrm>
            <a:off x="5615940" y="1768729"/>
            <a:ext cx="842644" cy="103505"/>
          </a:xfrm>
          <a:custGeom>
            <a:avLst/>
            <a:gdLst/>
            <a:ahLst/>
            <a:cxnLst/>
            <a:rect l="l" t="t" r="r" b="b"/>
            <a:pathLst>
              <a:path w="842645" h="103505">
                <a:moveTo>
                  <a:pt x="826254" y="44704"/>
                </a:moveTo>
                <a:lnTo>
                  <a:pt x="824864" y="44704"/>
                </a:lnTo>
                <a:lnTo>
                  <a:pt x="824992" y="57404"/>
                </a:lnTo>
                <a:lnTo>
                  <a:pt x="790966" y="57582"/>
                </a:lnTo>
                <a:lnTo>
                  <a:pt x="708533" y="90170"/>
                </a:lnTo>
                <a:lnTo>
                  <a:pt x="705231" y="91440"/>
                </a:lnTo>
                <a:lnTo>
                  <a:pt x="703707" y="95123"/>
                </a:lnTo>
                <a:lnTo>
                  <a:pt x="704976" y="98425"/>
                </a:lnTo>
                <a:lnTo>
                  <a:pt x="706247" y="101600"/>
                </a:lnTo>
                <a:lnTo>
                  <a:pt x="709930" y="103250"/>
                </a:lnTo>
                <a:lnTo>
                  <a:pt x="713232" y="101981"/>
                </a:lnTo>
                <a:lnTo>
                  <a:pt x="842518" y="50926"/>
                </a:lnTo>
                <a:lnTo>
                  <a:pt x="826254" y="44704"/>
                </a:lnTo>
                <a:close/>
              </a:path>
              <a:path w="842645" h="103505">
                <a:moveTo>
                  <a:pt x="791294" y="44879"/>
                </a:moveTo>
                <a:lnTo>
                  <a:pt x="0" y="49022"/>
                </a:lnTo>
                <a:lnTo>
                  <a:pt x="0" y="61722"/>
                </a:lnTo>
                <a:lnTo>
                  <a:pt x="790966" y="57582"/>
                </a:lnTo>
                <a:lnTo>
                  <a:pt x="807457" y="51062"/>
                </a:lnTo>
                <a:lnTo>
                  <a:pt x="791294" y="44879"/>
                </a:lnTo>
                <a:close/>
              </a:path>
              <a:path w="842645" h="103505">
                <a:moveTo>
                  <a:pt x="807457" y="51062"/>
                </a:moveTo>
                <a:lnTo>
                  <a:pt x="790966" y="57582"/>
                </a:lnTo>
                <a:lnTo>
                  <a:pt x="824992" y="57404"/>
                </a:lnTo>
                <a:lnTo>
                  <a:pt x="824986" y="56896"/>
                </a:lnTo>
                <a:lnTo>
                  <a:pt x="822706" y="56896"/>
                </a:lnTo>
                <a:lnTo>
                  <a:pt x="807457" y="51062"/>
                </a:lnTo>
                <a:close/>
              </a:path>
              <a:path w="842645" h="103505">
                <a:moveTo>
                  <a:pt x="822579" y="45085"/>
                </a:moveTo>
                <a:lnTo>
                  <a:pt x="807457" y="51062"/>
                </a:lnTo>
                <a:lnTo>
                  <a:pt x="822706" y="56896"/>
                </a:lnTo>
                <a:lnTo>
                  <a:pt x="822579" y="45085"/>
                </a:lnTo>
                <a:close/>
              </a:path>
              <a:path w="842645" h="103505">
                <a:moveTo>
                  <a:pt x="824868" y="45085"/>
                </a:moveTo>
                <a:lnTo>
                  <a:pt x="822579" y="45085"/>
                </a:lnTo>
                <a:lnTo>
                  <a:pt x="822706" y="56896"/>
                </a:lnTo>
                <a:lnTo>
                  <a:pt x="824986" y="56896"/>
                </a:lnTo>
                <a:lnTo>
                  <a:pt x="824868" y="45085"/>
                </a:lnTo>
                <a:close/>
              </a:path>
              <a:path w="842645" h="103505">
                <a:moveTo>
                  <a:pt x="824864" y="44704"/>
                </a:moveTo>
                <a:lnTo>
                  <a:pt x="791294" y="44879"/>
                </a:lnTo>
                <a:lnTo>
                  <a:pt x="807457" y="51062"/>
                </a:lnTo>
                <a:lnTo>
                  <a:pt x="822579" y="45085"/>
                </a:lnTo>
                <a:lnTo>
                  <a:pt x="824868" y="45085"/>
                </a:lnTo>
                <a:lnTo>
                  <a:pt x="824864" y="44704"/>
                </a:lnTo>
                <a:close/>
              </a:path>
              <a:path w="842645" h="103505">
                <a:moveTo>
                  <a:pt x="709422" y="0"/>
                </a:moveTo>
                <a:lnTo>
                  <a:pt x="705738" y="1650"/>
                </a:lnTo>
                <a:lnTo>
                  <a:pt x="704469" y="4953"/>
                </a:lnTo>
                <a:lnTo>
                  <a:pt x="703199" y="8128"/>
                </a:lnTo>
                <a:lnTo>
                  <a:pt x="704850" y="11811"/>
                </a:lnTo>
                <a:lnTo>
                  <a:pt x="791294" y="44879"/>
                </a:lnTo>
                <a:lnTo>
                  <a:pt x="826254" y="44704"/>
                </a:lnTo>
                <a:lnTo>
                  <a:pt x="7094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6">
            <a:extLst>
              <a:ext uri="{FF2B5EF4-FFF2-40B4-BE49-F238E27FC236}">
                <a16:creationId xmlns:a16="http://schemas.microsoft.com/office/drawing/2014/main" id="{FE92C799-CE0C-ACB8-9146-FA64A8A554BB}"/>
              </a:ext>
            </a:extLst>
          </p:cNvPr>
          <p:cNvSpPr txBox="1"/>
          <p:nvPr/>
        </p:nvSpPr>
        <p:spPr>
          <a:xfrm>
            <a:off x="697230" y="4645914"/>
            <a:ext cx="3411220" cy="1285240"/>
          </a:xfrm>
          <a:prstGeom prst="rect">
            <a:avLst/>
          </a:prstGeom>
          <a:solidFill>
            <a:srgbClr val="FFF1CC"/>
          </a:solidFill>
          <a:ln w="19050">
            <a:solidFill>
              <a:srgbClr val="0431FF"/>
            </a:solidFill>
          </a:ln>
        </p:spPr>
        <p:txBody>
          <a:bodyPr vert="horz" wrap="square" lIns="0" tIns="2540" rIns="0" bIns="0" rtlCol="0">
            <a:spAutoFit/>
          </a:bodyPr>
          <a:lstStyle/>
          <a:p>
            <a:pPr rtl="0">
              <a:spcBef>
                <a:spcPts val="20"/>
              </a:spcBef>
            </a:pPr>
            <a:endParaRPr sz="2400" kern="1200">
              <a:solidFill>
                <a:prstClr val="black"/>
              </a:solidFill>
              <a:latin typeface="Times New Roman"/>
              <a:cs typeface="Times New Roman"/>
            </a:endParaRPr>
          </a:p>
          <a:p>
            <a:pPr marL="90805" marR="132080" rtl="0"/>
            <a:r>
              <a:rPr kern="1200" dirty="0">
                <a:solidFill>
                  <a:prstClr val="black"/>
                </a:solidFill>
                <a:latin typeface="Palatino Linotype"/>
                <a:cs typeface="Palatino Linotype"/>
              </a:rPr>
              <a:t>An </a:t>
            </a:r>
            <a:r>
              <a:rPr kern="1200" spc="-5" dirty="0">
                <a:solidFill>
                  <a:srgbClr val="FF0000"/>
                </a:solidFill>
                <a:latin typeface="Palatino Linotype"/>
                <a:cs typeface="Palatino Linotype"/>
              </a:rPr>
              <a:t>abstract symbol </a:t>
            </a:r>
            <a:r>
              <a:rPr kern="1200" spc="-5" dirty="0">
                <a:solidFill>
                  <a:prstClr val="black"/>
                </a:solidFill>
                <a:latin typeface="Palatino Linotype"/>
                <a:cs typeface="Palatino Linotype"/>
              </a:rPr>
              <a:t>that </a:t>
            </a:r>
            <a:r>
              <a:rPr kern="1200" dirty="0">
                <a:solidFill>
                  <a:prstClr val="black"/>
                </a:solidFill>
                <a:latin typeface="Palatino Linotype"/>
                <a:cs typeface="Palatino Linotype"/>
              </a:rPr>
              <a:t>is </a:t>
            </a:r>
            <a:r>
              <a:rPr kern="1200" spc="-5" dirty="0">
                <a:solidFill>
                  <a:prstClr val="black"/>
                </a:solidFill>
                <a:latin typeface="Palatino Linotype"/>
                <a:cs typeface="Palatino Linotype"/>
              </a:rPr>
              <a:t>used  </a:t>
            </a:r>
            <a:r>
              <a:rPr kern="1200" dirty="0">
                <a:solidFill>
                  <a:prstClr val="black"/>
                </a:solidFill>
                <a:latin typeface="Palatino Linotype"/>
                <a:cs typeface="Palatino Linotype"/>
              </a:rPr>
              <a:t>during syntax</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analysis</a:t>
            </a:r>
            <a:endParaRPr kern="1200">
              <a:solidFill>
                <a:prstClr val="black"/>
              </a:solidFill>
              <a:latin typeface="Palatino Linotype"/>
              <a:cs typeface="Palatino Linotype"/>
            </a:endParaRPr>
          </a:p>
        </p:txBody>
      </p:sp>
      <p:sp>
        <p:nvSpPr>
          <p:cNvPr id="18" name="object 7">
            <a:extLst>
              <a:ext uri="{FF2B5EF4-FFF2-40B4-BE49-F238E27FC236}">
                <a16:creationId xmlns:a16="http://schemas.microsoft.com/office/drawing/2014/main" id="{32177753-F603-1448-67A9-DB23B894282B}"/>
              </a:ext>
            </a:extLst>
          </p:cNvPr>
          <p:cNvSpPr txBox="1"/>
          <p:nvPr/>
        </p:nvSpPr>
        <p:spPr>
          <a:xfrm>
            <a:off x="4427982" y="4659629"/>
            <a:ext cx="4017645" cy="1271270"/>
          </a:xfrm>
          <a:prstGeom prst="rect">
            <a:avLst/>
          </a:prstGeom>
          <a:solidFill>
            <a:srgbClr val="FFF1CC"/>
          </a:solidFill>
          <a:ln w="19050">
            <a:solidFill>
              <a:srgbClr val="FD5B71"/>
            </a:solidFill>
          </a:ln>
        </p:spPr>
        <p:txBody>
          <a:bodyPr vert="horz" wrap="square" lIns="0" tIns="4445" rIns="0" bIns="0" rtlCol="0">
            <a:spAutoFit/>
          </a:bodyPr>
          <a:lstStyle/>
          <a:p>
            <a:pPr rtl="0">
              <a:spcBef>
                <a:spcPts val="35"/>
              </a:spcBef>
            </a:pPr>
            <a:endParaRPr sz="1400" kern="1200">
              <a:solidFill>
                <a:prstClr val="black"/>
              </a:solidFill>
              <a:latin typeface="Times New Roman"/>
              <a:cs typeface="Times New Roman"/>
            </a:endParaRPr>
          </a:p>
          <a:p>
            <a:pPr marL="90805" marR="99695" rtl="0"/>
            <a:r>
              <a:rPr kern="1200" spc="-15" dirty="0">
                <a:solidFill>
                  <a:srgbClr val="FF0000"/>
                </a:solidFill>
                <a:latin typeface="Palatino Linotype"/>
                <a:cs typeface="Palatino Linotype"/>
              </a:rPr>
              <a:t>Points </a:t>
            </a:r>
            <a:r>
              <a:rPr kern="1200" spc="-5" dirty="0">
                <a:solidFill>
                  <a:srgbClr val="FF0000"/>
                </a:solidFill>
                <a:latin typeface="Palatino Linotype"/>
                <a:cs typeface="Palatino Linotype"/>
              </a:rPr>
              <a:t>to </a:t>
            </a:r>
            <a:r>
              <a:rPr kern="1200" dirty="0">
                <a:solidFill>
                  <a:srgbClr val="FF0000"/>
                </a:solidFill>
                <a:latin typeface="Palatino Linotype"/>
                <a:cs typeface="Palatino Linotype"/>
              </a:rPr>
              <a:t>an entry </a:t>
            </a:r>
            <a:r>
              <a:rPr kern="1200" spc="-5" dirty="0">
                <a:solidFill>
                  <a:srgbClr val="FF0000"/>
                </a:solidFill>
                <a:latin typeface="Palatino Linotype"/>
                <a:cs typeface="Palatino Linotype"/>
              </a:rPr>
              <a:t>in the symbol table.  </a:t>
            </a:r>
            <a:r>
              <a:rPr kern="1200" dirty="0">
                <a:solidFill>
                  <a:prstClr val="black"/>
                </a:solidFill>
                <a:latin typeface="Palatino Linotype"/>
                <a:cs typeface="Palatino Linotype"/>
              </a:rPr>
              <a:t>Info </a:t>
            </a:r>
            <a:r>
              <a:rPr kern="1200" spc="-5" dirty="0">
                <a:solidFill>
                  <a:prstClr val="black"/>
                </a:solidFill>
                <a:latin typeface="Palatino Linotype"/>
                <a:cs typeface="Palatino Linotype"/>
              </a:rPr>
              <a:t>in the </a:t>
            </a:r>
            <a:r>
              <a:rPr kern="1200" dirty="0">
                <a:solidFill>
                  <a:prstClr val="black"/>
                </a:solidFill>
                <a:latin typeface="Palatino Linotype"/>
                <a:cs typeface="Palatino Linotype"/>
              </a:rPr>
              <a:t>table entry is for </a:t>
            </a:r>
            <a:r>
              <a:rPr kern="1200" spc="-5" dirty="0">
                <a:solidFill>
                  <a:prstClr val="black"/>
                </a:solidFill>
                <a:latin typeface="Palatino Linotype"/>
                <a:cs typeface="Palatino Linotype"/>
              </a:rPr>
              <a:t>semantic  </a:t>
            </a:r>
            <a:r>
              <a:rPr kern="1200" dirty="0">
                <a:solidFill>
                  <a:prstClr val="black"/>
                </a:solidFill>
                <a:latin typeface="Palatino Linotype"/>
                <a:cs typeface="Palatino Linotype"/>
              </a:rPr>
              <a:t>analysis and code</a:t>
            </a:r>
            <a:r>
              <a:rPr kern="1200" spc="-15" dirty="0">
                <a:solidFill>
                  <a:prstClr val="black"/>
                </a:solidFill>
                <a:latin typeface="Palatino Linotype"/>
                <a:cs typeface="Palatino Linotype"/>
              </a:rPr>
              <a:t> </a:t>
            </a:r>
            <a:r>
              <a:rPr kern="1200" spc="-5" dirty="0">
                <a:solidFill>
                  <a:prstClr val="black"/>
                </a:solidFill>
                <a:latin typeface="Palatino Linotype"/>
                <a:cs typeface="Palatino Linotype"/>
              </a:rPr>
              <a:t>generation.</a:t>
            </a:r>
            <a:endParaRPr kern="1200">
              <a:solidFill>
                <a:prstClr val="black"/>
              </a:solidFill>
              <a:latin typeface="Palatino Linotype"/>
              <a:cs typeface="Palatino Linotype"/>
            </a:endParaRPr>
          </a:p>
        </p:txBody>
      </p:sp>
      <p:sp>
        <p:nvSpPr>
          <p:cNvPr id="19" name="object 8">
            <a:extLst>
              <a:ext uri="{FF2B5EF4-FFF2-40B4-BE49-F238E27FC236}">
                <a16:creationId xmlns:a16="http://schemas.microsoft.com/office/drawing/2014/main" id="{E6F95BCB-CE26-B928-DB0B-30F2420A1B17}"/>
              </a:ext>
            </a:extLst>
          </p:cNvPr>
          <p:cNvSpPr/>
          <p:nvPr/>
        </p:nvSpPr>
        <p:spPr>
          <a:xfrm>
            <a:off x="2401823" y="4129023"/>
            <a:ext cx="1056005" cy="517525"/>
          </a:xfrm>
          <a:custGeom>
            <a:avLst/>
            <a:gdLst/>
            <a:ahLst/>
            <a:cxnLst/>
            <a:rect l="l" t="t" r="r" b="b"/>
            <a:pathLst>
              <a:path w="1056004" h="517525">
                <a:moveTo>
                  <a:pt x="86740" y="402717"/>
                </a:moveTo>
                <a:lnTo>
                  <a:pt x="0" y="515112"/>
                </a:lnTo>
                <a:lnTo>
                  <a:pt x="141986" y="517144"/>
                </a:lnTo>
                <a:lnTo>
                  <a:pt x="120464" y="472567"/>
                </a:lnTo>
                <a:lnTo>
                  <a:pt x="106425" y="472567"/>
                </a:lnTo>
                <a:lnTo>
                  <a:pt x="99440" y="458215"/>
                </a:lnTo>
                <a:lnTo>
                  <a:pt x="110872" y="452699"/>
                </a:lnTo>
                <a:lnTo>
                  <a:pt x="86740" y="402717"/>
                </a:lnTo>
                <a:close/>
              </a:path>
              <a:path w="1056004" h="517525">
                <a:moveTo>
                  <a:pt x="110872" y="452699"/>
                </a:moveTo>
                <a:lnTo>
                  <a:pt x="99440" y="458215"/>
                </a:lnTo>
                <a:lnTo>
                  <a:pt x="106425" y="472567"/>
                </a:lnTo>
                <a:lnTo>
                  <a:pt x="117810" y="467070"/>
                </a:lnTo>
                <a:lnTo>
                  <a:pt x="110872" y="452699"/>
                </a:lnTo>
                <a:close/>
              </a:path>
              <a:path w="1056004" h="517525">
                <a:moveTo>
                  <a:pt x="117810" y="467070"/>
                </a:moveTo>
                <a:lnTo>
                  <a:pt x="106425" y="472567"/>
                </a:lnTo>
                <a:lnTo>
                  <a:pt x="120464" y="472567"/>
                </a:lnTo>
                <a:lnTo>
                  <a:pt x="117810" y="467070"/>
                </a:lnTo>
                <a:close/>
              </a:path>
              <a:path w="1056004" h="517525">
                <a:moveTo>
                  <a:pt x="1048892" y="0"/>
                </a:moveTo>
                <a:lnTo>
                  <a:pt x="110872" y="452699"/>
                </a:lnTo>
                <a:lnTo>
                  <a:pt x="117810" y="467070"/>
                </a:lnTo>
                <a:lnTo>
                  <a:pt x="1055751" y="14224"/>
                </a:lnTo>
                <a:lnTo>
                  <a:pt x="1048892" y="0"/>
                </a:lnTo>
                <a:close/>
              </a:path>
            </a:pathLst>
          </a:custGeom>
          <a:solidFill>
            <a:srgbClr val="0431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9">
            <a:extLst>
              <a:ext uri="{FF2B5EF4-FFF2-40B4-BE49-F238E27FC236}">
                <a16:creationId xmlns:a16="http://schemas.microsoft.com/office/drawing/2014/main" id="{5DD85B10-DC36-22F6-F7BB-FF5963F69466}"/>
              </a:ext>
            </a:extLst>
          </p:cNvPr>
          <p:cNvSpPr/>
          <p:nvPr/>
        </p:nvSpPr>
        <p:spPr>
          <a:xfrm>
            <a:off x="5683122" y="4143247"/>
            <a:ext cx="753745" cy="514984"/>
          </a:xfrm>
          <a:custGeom>
            <a:avLst/>
            <a:gdLst/>
            <a:ahLst/>
            <a:cxnLst/>
            <a:rect l="l" t="t" r="r" b="b"/>
            <a:pathLst>
              <a:path w="753745" h="514985">
                <a:moveTo>
                  <a:pt x="643702" y="449841"/>
                </a:moveTo>
                <a:lnTo>
                  <a:pt x="612521" y="495807"/>
                </a:lnTo>
                <a:lnTo>
                  <a:pt x="753237" y="514603"/>
                </a:lnTo>
                <a:lnTo>
                  <a:pt x="720889" y="456945"/>
                </a:lnTo>
                <a:lnTo>
                  <a:pt x="654176" y="456945"/>
                </a:lnTo>
                <a:lnTo>
                  <a:pt x="643702" y="449841"/>
                </a:lnTo>
                <a:close/>
              </a:path>
              <a:path w="753745" h="514985">
                <a:moveTo>
                  <a:pt x="652582" y="436751"/>
                </a:moveTo>
                <a:lnTo>
                  <a:pt x="643702" y="449841"/>
                </a:lnTo>
                <a:lnTo>
                  <a:pt x="654176" y="456945"/>
                </a:lnTo>
                <a:lnTo>
                  <a:pt x="663066" y="443864"/>
                </a:lnTo>
                <a:lnTo>
                  <a:pt x="652582" y="436751"/>
                </a:lnTo>
                <a:close/>
              </a:path>
              <a:path w="753745" h="514985">
                <a:moveTo>
                  <a:pt x="683767" y="390778"/>
                </a:moveTo>
                <a:lnTo>
                  <a:pt x="652582" y="436751"/>
                </a:lnTo>
                <a:lnTo>
                  <a:pt x="663066" y="443864"/>
                </a:lnTo>
                <a:lnTo>
                  <a:pt x="654176" y="456945"/>
                </a:lnTo>
                <a:lnTo>
                  <a:pt x="720889" y="456945"/>
                </a:lnTo>
                <a:lnTo>
                  <a:pt x="683767" y="390778"/>
                </a:lnTo>
                <a:close/>
              </a:path>
              <a:path w="753745" h="514985">
                <a:moveTo>
                  <a:pt x="8889" y="0"/>
                </a:moveTo>
                <a:lnTo>
                  <a:pt x="0" y="13207"/>
                </a:lnTo>
                <a:lnTo>
                  <a:pt x="643702" y="449841"/>
                </a:lnTo>
                <a:lnTo>
                  <a:pt x="652582" y="436751"/>
                </a:lnTo>
                <a:lnTo>
                  <a:pt x="8889" y="0"/>
                </a:lnTo>
                <a:close/>
              </a:path>
            </a:pathLst>
          </a:custGeom>
          <a:solidFill>
            <a:srgbClr val="FD5B71"/>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object 8">
            <a:extLst>
              <a:ext uri="{FF2B5EF4-FFF2-40B4-BE49-F238E27FC236}">
                <a16:creationId xmlns:a16="http://schemas.microsoft.com/office/drawing/2014/main" id="{08E938F0-401A-BE1E-318C-A48EBB6E332C}"/>
              </a:ext>
            </a:extLst>
          </p:cNvPr>
          <p:cNvSpPr txBox="1"/>
          <p:nvPr/>
        </p:nvSpPr>
        <p:spPr bwMode="auto">
          <a:xfrm>
            <a:off x="3508776" y="1642542"/>
            <a:ext cx="2085171" cy="343043"/>
          </a:xfrm>
          <a:prstGeom prst="rect">
            <a:avLst/>
          </a:prstGeom>
          <a:solidFill>
            <a:srgbClr val="FFC000"/>
          </a:solidFill>
          <a:ln w="12700">
            <a:solidFill>
              <a:srgbClr val="000000"/>
            </a:solidFill>
          </a:ln>
        </p:spPr>
        <p:txBody>
          <a:bodyPr vert="horz" wrap="square" lIns="0" tIns="65405" rIns="0" bIns="0" rtlCol="0">
            <a:spAutoFit/>
          </a:bodyPr>
          <a:lstStyle/>
          <a:p>
            <a:pPr marL="215265" rtl="0">
              <a:spcBef>
                <a:spcPts val="515"/>
              </a:spcBef>
            </a:pPr>
            <a:r>
              <a:rPr kern="1200" spc="-5" dirty="0">
                <a:solidFill>
                  <a:prstClr val="black"/>
                </a:solidFill>
                <a:latin typeface="Palatino Linotype"/>
                <a:cs typeface="Palatino Linotype"/>
              </a:rPr>
              <a:t>Lexical</a:t>
            </a:r>
            <a:r>
              <a:rPr kern="1200" spc="-95" dirty="0">
                <a:solidFill>
                  <a:prstClr val="black"/>
                </a:solidFill>
                <a:latin typeface="Palatino Linotype"/>
                <a:cs typeface="Palatino Linotype"/>
              </a:rPr>
              <a:t> </a:t>
            </a:r>
            <a:r>
              <a:rPr kern="1200" dirty="0">
                <a:solidFill>
                  <a:prstClr val="black"/>
                </a:solidFill>
                <a:latin typeface="Palatino Linotype"/>
                <a:cs typeface="Palatino Linotype"/>
              </a:rPr>
              <a:t>Analyzer</a:t>
            </a:r>
          </a:p>
        </p:txBody>
      </p:sp>
      <p:sp>
        <p:nvSpPr>
          <p:cNvPr id="6" name="灯片编号占位符 5">
            <a:extLst>
              <a:ext uri="{FF2B5EF4-FFF2-40B4-BE49-F238E27FC236}">
                <a16:creationId xmlns:a16="http://schemas.microsoft.com/office/drawing/2014/main" id="{9B8182BB-B54C-FF5B-D167-1D5C0809B317}"/>
              </a:ext>
            </a:extLst>
          </p:cNvPr>
          <p:cNvSpPr>
            <a:spLocks noGrp="1"/>
          </p:cNvSpPr>
          <p:nvPr>
            <p:ph type="sldNum" sz="quarter" idx="12"/>
          </p:nvPr>
        </p:nvSpPr>
        <p:spPr/>
        <p:txBody>
          <a:bodyPr/>
          <a:lstStyle/>
          <a:p>
            <a:pPr>
              <a:defRPr/>
            </a:pPr>
            <a:fld id="{2FBC720A-3716-234A-B2DF-CBC7E48049F5}" type="slidenum">
              <a:rPr lang="en-US" altLang="zh-CN" smtClean="0"/>
              <a:t>21</a:t>
            </a:fld>
            <a:endParaRPr lang="en-US" altLang="zh-CN"/>
          </a:p>
        </p:txBody>
      </p:sp>
    </p:spTree>
    <p:extLst>
      <p:ext uri="{BB962C8B-B14F-4D97-AF65-F5344CB8AC3E}">
        <p14:creationId xmlns:p14="http://schemas.microsoft.com/office/powerpoint/2010/main" val="2156124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8" name="object 2">
            <a:extLst>
              <a:ext uri="{FF2B5EF4-FFF2-40B4-BE49-F238E27FC236}">
                <a16:creationId xmlns:a16="http://schemas.microsoft.com/office/drawing/2014/main" id="{CCAC0170-9D14-4091-F5CD-F85402EDB1C7}"/>
              </a:ext>
            </a:extLst>
          </p:cNvPr>
          <p:cNvSpPr txBox="1">
            <a:spLocks/>
          </p:cNvSpPr>
          <p:nvPr/>
        </p:nvSpPr>
        <p:spPr>
          <a:xfrm>
            <a:off x="707542" y="520141"/>
            <a:ext cx="458787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Lexemes vs.</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70" normalizeH="0" baseline="0" noProof="0">
                <a:ln>
                  <a:noFill/>
                </a:ln>
                <a:solidFill>
                  <a:sysClr val="windowText" lastClr="000000"/>
                </a:solidFill>
                <a:effectLst/>
                <a:uLnTx/>
                <a:uFillTx/>
                <a:latin typeface="Palatino Linotype"/>
                <a:ea typeface="+mj-ea"/>
              </a:rPr>
              <a:t>Tokens</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E5A42CB3-F0CB-CE73-3BF6-349D3C21ADC8}"/>
              </a:ext>
            </a:extLst>
          </p:cNvPr>
          <p:cNvSpPr txBox="1"/>
          <p:nvPr/>
        </p:nvSpPr>
        <p:spPr>
          <a:xfrm>
            <a:off x="707542" y="1589049"/>
            <a:ext cx="7896859" cy="3090545"/>
          </a:xfrm>
          <a:prstGeom prst="rect">
            <a:avLst/>
          </a:prstGeom>
        </p:spPr>
        <p:txBody>
          <a:bodyPr vert="horz" wrap="square" lIns="0" tIns="12700" rIns="0" bIns="0" rtlCol="0">
            <a:spAutoFit/>
          </a:bodyPr>
          <a:lstStyle/>
          <a:p>
            <a:pPr marL="242570" marR="981710" indent="-230504" rtl="0">
              <a:lnSpc>
                <a:spcPct val="120000"/>
              </a:lnSpc>
              <a:spcBef>
                <a:spcPts val="100"/>
              </a:spcBef>
              <a:buFont typeface="Arial"/>
              <a:buChar char="•"/>
              <a:tabLst>
                <a:tab pos="242570" algn="l"/>
                <a:tab pos="243204" algn="l"/>
              </a:tabLst>
            </a:pPr>
            <a:r>
              <a:rPr sz="2200" kern="1200" spc="-5" dirty="0">
                <a:solidFill>
                  <a:prstClr val="black"/>
                </a:solidFill>
                <a:latin typeface="Palatino Linotype"/>
                <a:cs typeface="Palatino Linotype"/>
              </a:rPr>
              <a:t>A </a:t>
            </a:r>
            <a:r>
              <a:rPr sz="2200" b="1" kern="1200" spc="-5" dirty="0">
                <a:solidFill>
                  <a:srgbClr val="FF0000"/>
                </a:solidFill>
                <a:latin typeface="Palatino Linotype"/>
                <a:cs typeface="Palatino Linotype"/>
              </a:rPr>
              <a:t>lexeme </a:t>
            </a:r>
            <a:r>
              <a:rPr sz="2200" kern="1200" spc="-5" dirty="0">
                <a:solidFill>
                  <a:prstClr val="black"/>
                </a:solidFill>
                <a:latin typeface="Palatino Linotype"/>
                <a:cs typeface="Palatino Linotype"/>
              </a:rPr>
              <a:t>is a string of characters that is a </a:t>
            </a:r>
            <a:r>
              <a:rPr sz="2200" kern="1200" spc="-10" dirty="0">
                <a:solidFill>
                  <a:prstClr val="black"/>
                </a:solidFill>
                <a:latin typeface="Palatino Linotype"/>
                <a:cs typeface="Palatino Linotype"/>
              </a:rPr>
              <a:t>lowest-level  </a:t>
            </a:r>
            <a:r>
              <a:rPr sz="2200" kern="1200" spc="-5" dirty="0">
                <a:solidFill>
                  <a:prstClr val="black"/>
                </a:solidFill>
                <a:latin typeface="Palatino Linotype"/>
                <a:cs typeface="Palatino Linotype"/>
              </a:rPr>
              <a:t>syntactic </a:t>
            </a:r>
            <a:r>
              <a:rPr sz="2200" kern="1200" spc="-10" dirty="0">
                <a:solidFill>
                  <a:prstClr val="black"/>
                </a:solidFill>
                <a:latin typeface="Palatino Linotype"/>
                <a:cs typeface="Palatino Linotype"/>
              </a:rPr>
              <a:t>unit in </a:t>
            </a:r>
            <a:r>
              <a:rPr sz="2200" kern="1200" spc="-5" dirty="0">
                <a:solidFill>
                  <a:prstClr val="black"/>
                </a:solidFill>
                <a:latin typeface="Palatino Linotype"/>
                <a:cs typeface="Palatino Linotype"/>
              </a:rPr>
              <a:t>the programming</a:t>
            </a:r>
            <a:r>
              <a:rPr sz="2200" kern="1200" spc="-30" dirty="0">
                <a:solidFill>
                  <a:prstClr val="black"/>
                </a:solidFill>
                <a:latin typeface="Palatino Linotype"/>
                <a:cs typeface="Palatino Linotype"/>
              </a:rPr>
              <a:t> </a:t>
            </a:r>
            <a:r>
              <a:rPr sz="2200" kern="1200" spc="-5" dirty="0">
                <a:solidFill>
                  <a:prstClr val="black"/>
                </a:solidFill>
                <a:latin typeface="Palatino Linotype"/>
                <a:cs typeface="Palatino Linotype"/>
              </a:rPr>
              <a:t>language</a:t>
            </a:r>
            <a:endParaRPr sz="2200" kern="1200">
              <a:solidFill>
                <a:prstClr val="black"/>
              </a:solidFill>
              <a:latin typeface="Palatino Linotype"/>
              <a:cs typeface="Palatino Linotype"/>
            </a:endParaRPr>
          </a:p>
          <a:p>
            <a:pPr marL="697865" lvl="1" indent="-228600" rtl="0">
              <a:spcBef>
                <a:spcPts val="1685"/>
              </a:spcBef>
              <a:buFont typeface="Wingdings"/>
              <a:buChar char=""/>
              <a:tabLst>
                <a:tab pos="697865" algn="l"/>
                <a:tab pos="698500" algn="l"/>
              </a:tabLst>
            </a:pPr>
            <a:r>
              <a:rPr sz="1700" kern="1200" spc="-10" dirty="0">
                <a:solidFill>
                  <a:prstClr val="black"/>
                </a:solidFill>
                <a:latin typeface="Palatino Linotype"/>
                <a:cs typeface="Palatino Linotype"/>
              </a:rPr>
              <a:t>"words" </a:t>
            </a:r>
            <a:r>
              <a:rPr sz="1700" kern="1200" dirty="0">
                <a:solidFill>
                  <a:prstClr val="black"/>
                </a:solidFill>
                <a:latin typeface="Palatino Linotype"/>
                <a:cs typeface="Palatino Linotype"/>
              </a:rPr>
              <a:t>and </a:t>
            </a:r>
            <a:r>
              <a:rPr sz="1700" kern="1200" spc="-5" dirty="0">
                <a:solidFill>
                  <a:prstClr val="black"/>
                </a:solidFill>
                <a:latin typeface="Palatino Linotype"/>
                <a:cs typeface="Palatino Linotype"/>
              </a:rPr>
              <a:t>punctuation </a:t>
            </a:r>
            <a:r>
              <a:rPr sz="1700" kern="1200" dirty="0">
                <a:solidFill>
                  <a:prstClr val="black"/>
                </a:solidFill>
                <a:latin typeface="Palatino Linotype"/>
                <a:cs typeface="Palatino Linotype"/>
              </a:rPr>
              <a:t>of </a:t>
            </a:r>
            <a:r>
              <a:rPr sz="1700" kern="1200" spc="-5" dirty="0">
                <a:solidFill>
                  <a:prstClr val="black"/>
                </a:solidFill>
                <a:latin typeface="Palatino Linotype"/>
                <a:cs typeface="Palatino Linotype"/>
              </a:rPr>
              <a:t>the programming language</a:t>
            </a:r>
            <a:r>
              <a:rPr sz="1700" kern="1200" spc="-85" dirty="0">
                <a:solidFill>
                  <a:prstClr val="black"/>
                </a:solidFill>
                <a:latin typeface="Palatino Linotype"/>
                <a:cs typeface="Palatino Linotype"/>
              </a:rPr>
              <a:t> </a:t>
            </a:r>
            <a:r>
              <a:rPr sz="1700" kern="1200" dirty="0">
                <a:solidFill>
                  <a:prstClr val="black"/>
                </a:solidFill>
                <a:latin typeface="Palatino Linotype"/>
                <a:cs typeface="Palatino Linotype"/>
              </a:rPr>
              <a:t>(</a:t>
            </a:r>
            <a:r>
              <a:rPr sz="1700" b="1" kern="1200" dirty="0">
                <a:solidFill>
                  <a:srgbClr val="FF0000"/>
                </a:solidFill>
                <a:latin typeface="Palatino Linotype"/>
                <a:cs typeface="Palatino Linotype"/>
              </a:rPr>
              <a:t>instance</a:t>
            </a:r>
            <a:r>
              <a:rPr sz="1700" kern="1200" dirty="0">
                <a:solidFill>
                  <a:prstClr val="black"/>
                </a:solidFill>
                <a:latin typeface="Palatino Linotype"/>
                <a:cs typeface="Palatino Linotype"/>
              </a:rPr>
              <a:t>)</a:t>
            </a:r>
            <a:endParaRPr sz="1700" kern="1200">
              <a:solidFill>
                <a:prstClr val="black"/>
              </a:solidFill>
              <a:latin typeface="Palatino Linotype"/>
              <a:cs typeface="Palatino Linotype"/>
            </a:endParaRPr>
          </a:p>
          <a:p>
            <a:pPr lvl="1" rtl="0">
              <a:buFontTx/>
              <a:buChar char=""/>
            </a:pPr>
            <a:endParaRPr sz="2000" kern="1200">
              <a:solidFill>
                <a:prstClr val="black"/>
              </a:solidFill>
              <a:latin typeface="Palatino Linotype"/>
              <a:cs typeface="Palatino Linotype"/>
            </a:endParaRPr>
          </a:p>
          <a:p>
            <a:pPr marL="242570" indent="-230504" rtl="0">
              <a:spcBef>
                <a:spcPts val="1355"/>
              </a:spcBef>
              <a:buFont typeface="Arial"/>
              <a:buChar char="•"/>
              <a:tabLst>
                <a:tab pos="242570" algn="l"/>
                <a:tab pos="243204" algn="l"/>
              </a:tabLst>
            </a:pPr>
            <a:r>
              <a:rPr sz="2200" kern="1200" spc="-5" dirty="0">
                <a:solidFill>
                  <a:prstClr val="black"/>
                </a:solidFill>
                <a:latin typeface="Palatino Linotype"/>
                <a:cs typeface="Palatino Linotype"/>
              </a:rPr>
              <a:t>A </a:t>
            </a:r>
            <a:r>
              <a:rPr sz="2200" b="1" kern="1200" spc="-5" dirty="0">
                <a:solidFill>
                  <a:srgbClr val="FF0000"/>
                </a:solidFill>
                <a:latin typeface="Palatino Linotype"/>
                <a:cs typeface="Palatino Linotype"/>
              </a:rPr>
              <a:t>token </a:t>
            </a:r>
            <a:r>
              <a:rPr sz="2200" kern="1200" spc="-5" dirty="0">
                <a:solidFill>
                  <a:prstClr val="black"/>
                </a:solidFill>
                <a:latin typeface="Palatino Linotype"/>
                <a:cs typeface="Palatino Linotype"/>
              </a:rPr>
              <a:t>is a syntactic category </a:t>
            </a:r>
            <a:r>
              <a:rPr sz="2200" kern="1200" dirty="0">
                <a:solidFill>
                  <a:prstClr val="black"/>
                </a:solidFill>
                <a:latin typeface="Palatino Linotype"/>
                <a:cs typeface="Palatino Linotype"/>
              </a:rPr>
              <a:t>representing </a:t>
            </a:r>
            <a:r>
              <a:rPr sz="2200" kern="1200" spc="-5" dirty="0">
                <a:solidFill>
                  <a:prstClr val="black"/>
                </a:solidFill>
                <a:latin typeface="Palatino Linotype"/>
                <a:cs typeface="Palatino Linotype"/>
              </a:rPr>
              <a:t>a class of</a:t>
            </a:r>
            <a:r>
              <a:rPr sz="2200" kern="1200" spc="-65" dirty="0">
                <a:solidFill>
                  <a:prstClr val="black"/>
                </a:solidFill>
                <a:latin typeface="Palatino Linotype"/>
                <a:cs typeface="Palatino Linotype"/>
              </a:rPr>
              <a:t> </a:t>
            </a:r>
            <a:r>
              <a:rPr sz="2200" kern="1200" spc="-5" dirty="0">
                <a:solidFill>
                  <a:prstClr val="black"/>
                </a:solidFill>
                <a:latin typeface="Palatino Linotype"/>
                <a:cs typeface="Palatino Linotype"/>
              </a:rPr>
              <a:t>lexemes</a:t>
            </a:r>
            <a:endParaRPr sz="2200" kern="1200">
              <a:solidFill>
                <a:prstClr val="black"/>
              </a:solidFill>
              <a:latin typeface="Palatino Linotype"/>
              <a:cs typeface="Palatino Linotype"/>
            </a:endParaRPr>
          </a:p>
          <a:p>
            <a:pPr marL="697865" lvl="1" indent="-228600" rtl="0">
              <a:spcBef>
                <a:spcPts val="1685"/>
              </a:spcBef>
              <a:buFont typeface="Wingdings"/>
              <a:buChar char=""/>
              <a:tabLst>
                <a:tab pos="697865" algn="l"/>
                <a:tab pos="698500" algn="l"/>
              </a:tabLst>
            </a:pPr>
            <a:r>
              <a:rPr sz="1700" b="1" kern="1200" dirty="0">
                <a:solidFill>
                  <a:srgbClr val="0431FF"/>
                </a:solidFill>
                <a:latin typeface="Palatino Linotype"/>
                <a:cs typeface="Palatino Linotype"/>
              </a:rPr>
              <a:t>In English: </a:t>
            </a:r>
            <a:r>
              <a:rPr sz="1700" kern="1200" dirty="0">
                <a:solidFill>
                  <a:prstClr val="black"/>
                </a:solidFill>
                <a:latin typeface="Palatino Linotype"/>
                <a:cs typeface="Palatino Linotype"/>
              </a:rPr>
              <a:t>Noun, </a:t>
            </a:r>
            <a:r>
              <a:rPr sz="1700" kern="1200" spc="-25" dirty="0">
                <a:solidFill>
                  <a:prstClr val="black"/>
                </a:solidFill>
                <a:latin typeface="Palatino Linotype"/>
                <a:cs typeface="Palatino Linotype"/>
              </a:rPr>
              <a:t>Verb,</a:t>
            </a:r>
            <a:r>
              <a:rPr sz="1700" kern="1200" spc="-155" dirty="0">
                <a:solidFill>
                  <a:prstClr val="black"/>
                </a:solidFill>
                <a:latin typeface="Palatino Linotype"/>
                <a:cs typeface="Palatino Linotype"/>
              </a:rPr>
              <a:t> </a:t>
            </a:r>
            <a:r>
              <a:rPr sz="1700" kern="1200" spc="-5" dirty="0">
                <a:solidFill>
                  <a:prstClr val="black"/>
                </a:solidFill>
                <a:latin typeface="Palatino Linotype"/>
                <a:cs typeface="Palatino Linotype"/>
              </a:rPr>
              <a:t>Adjective…</a:t>
            </a:r>
            <a:endParaRPr sz="1700" kern="1200">
              <a:solidFill>
                <a:prstClr val="black"/>
              </a:solidFill>
              <a:latin typeface="Palatino Linotype"/>
              <a:cs typeface="Palatino Linotype"/>
            </a:endParaRPr>
          </a:p>
          <a:p>
            <a:pPr marL="697865" lvl="1" indent="-228600" rtl="0">
              <a:spcBef>
                <a:spcPts val="1615"/>
              </a:spcBef>
              <a:buFont typeface="Wingdings"/>
              <a:buChar char=""/>
              <a:tabLst>
                <a:tab pos="697865" algn="l"/>
                <a:tab pos="698500" algn="l"/>
              </a:tabLst>
            </a:pPr>
            <a:r>
              <a:rPr sz="1700" b="1" kern="1200" spc="-5" dirty="0">
                <a:solidFill>
                  <a:srgbClr val="0431FF"/>
                </a:solidFill>
                <a:latin typeface="Palatino Linotype"/>
                <a:cs typeface="Palatino Linotype"/>
              </a:rPr>
              <a:t>In </a:t>
            </a:r>
            <a:r>
              <a:rPr sz="1700" b="1" kern="1200" dirty="0">
                <a:solidFill>
                  <a:srgbClr val="0431FF"/>
                </a:solidFill>
                <a:latin typeface="Palatino Linotype"/>
                <a:cs typeface="Palatino Linotype"/>
              </a:rPr>
              <a:t>programming language</a:t>
            </a:r>
            <a:r>
              <a:rPr sz="1700" kern="1200" dirty="0">
                <a:solidFill>
                  <a:prstClr val="black"/>
                </a:solidFill>
                <a:latin typeface="Palatino Linotype"/>
                <a:cs typeface="Palatino Linotype"/>
              </a:rPr>
              <a:t>: </a:t>
            </a:r>
            <a:r>
              <a:rPr sz="1700" kern="1200" spc="-10" dirty="0">
                <a:solidFill>
                  <a:prstClr val="black"/>
                </a:solidFill>
                <a:latin typeface="Palatino Linotype"/>
                <a:cs typeface="Palatino Linotype"/>
              </a:rPr>
              <a:t>Identifier, </a:t>
            </a:r>
            <a:r>
              <a:rPr sz="1700" kern="1200" spc="-5" dirty="0">
                <a:solidFill>
                  <a:prstClr val="black"/>
                </a:solidFill>
                <a:latin typeface="Palatino Linotype"/>
                <a:cs typeface="Palatino Linotype"/>
              </a:rPr>
              <a:t>Keyword, Whitespace…</a:t>
            </a:r>
            <a:r>
              <a:rPr sz="1700" kern="1200" spc="-55" dirty="0">
                <a:solidFill>
                  <a:prstClr val="black"/>
                </a:solidFill>
                <a:latin typeface="Palatino Linotype"/>
                <a:cs typeface="Palatino Linotype"/>
              </a:rPr>
              <a:t> </a:t>
            </a:r>
            <a:r>
              <a:rPr sz="1700" kern="1200" dirty="0">
                <a:solidFill>
                  <a:prstClr val="black"/>
                </a:solidFill>
                <a:latin typeface="Palatino Linotype"/>
                <a:cs typeface="Palatino Linotype"/>
              </a:rPr>
              <a:t>(</a:t>
            </a:r>
            <a:r>
              <a:rPr sz="1700" b="1" kern="1200" dirty="0">
                <a:solidFill>
                  <a:srgbClr val="FF0000"/>
                </a:solidFill>
                <a:latin typeface="Palatino Linotype"/>
                <a:cs typeface="Palatino Linotype"/>
              </a:rPr>
              <a:t>pattern</a:t>
            </a:r>
            <a:r>
              <a:rPr sz="1700" kern="1200" dirty="0">
                <a:solidFill>
                  <a:prstClr val="black"/>
                </a:solidFill>
                <a:latin typeface="Palatino Linotype"/>
                <a:cs typeface="Palatino Linotype"/>
              </a:rPr>
              <a:t>)</a:t>
            </a:r>
            <a:endParaRPr sz="1700" kern="1200">
              <a:solidFill>
                <a:prstClr val="black"/>
              </a:solidFill>
              <a:latin typeface="Palatino Linotype"/>
              <a:cs typeface="Palatino Linotype"/>
            </a:endParaRPr>
          </a:p>
        </p:txBody>
      </p:sp>
      <p:sp>
        <p:nvSpPr>
          <p:cNvPr id="10" name="object 4">
            <a:extLst>
              <a:ext uri="{FF2B5EF4-FFF2-40B4-BE49-F238E27FC236}">
                <a16:creationId xmlns:a16="http://schemas.microsoft.com/office/drawing/2014/main" id="{DBC1FA56-67CD-1E9D-8824-C243166DC5EE}"/>
              </a:ext>
            </a:extLst>
          </p:cNvPr>
          <p:cNvSpPr txBox="1"/>
          <p:nvPr/>
        </p:nvSpPr>
        <p:spPr>
          <a:xfrm>
            <a:off x="925169" y="5284978"/>
            <a:ext cx="4338955" cy="208279"/>
          </a:xfrm>
          <a:prstGeom prst="rect">
            <a:avLst/>
          </a:prstGeom>
        </p:spPr>
        <p:txBody>
          <a:bodyPr vert="horz" wrap="square" lIns="0" tIns="12700" rIns="0" bIns="0" rtlCol="0">
            <a:spAutoFit/>
          </a:bodyPr>
          <a:lstStyle/>
          <a:p>
            <a:pPr marL="12700" rtl="0">
              <a:spcBef>
                <a:spcPts val="100"/>
              </a:spcBef>
            </a:pPr>
            <a:r>
              <a:rPr sz="1200" kern="1200" spc="-5" dirty="0">
                <a:solidFill>
                  <a:prstClr val="black"/>
                </a:solidFill>
                <a:latin typeface="Palatino Linotype"/>
                <a:cs typeface="Palatino Linotype"/>
              </a:rPr>
              <a:t>https://courses.cs.vt.edu/~cs1104/Compilers/Compilers.070.html</a:t>
            </a:r>
            <a:endParaRPr sz="1200"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7578A9DA-6584-A7A3-E8D3-2CAEF3B80FE6}"/>
              </a:ext>
            </a:extLst>
          </p:cNvPr>
          <p:cNvSpPr>
            <a:spLocks noGrp="1"/>
          </p:cNvSpPr>
          <p:nvPr>
            <p:ph type="sldNum" sz="quarter" idx="12"/>
          </p:nvPr>
        </p:nvSpPr>
        <p:spPr/>
        <p:txBody>
          <a:bodyPr/>
          <a:lstStyle/>
          <a:p>
            <a:pPr>
              <a:defRPr/>
            </a:pPr>
            <a:fld id="{2FBC720A-3716-234A-B2DF-CBC7E48049F5}" type="slidenum">
              <a:rPr lang="en-US" altLang="zh-CN" smtClean="0"/>
              <a:t>22</a:t>
            </a:fld>
            <a:endParaRPr lang="en-US" altLang="zh-CN"/>
          </a:p>
        </p:txBody>
      </p:sp>
    </p:spTree>
    <p:extLst>
      <p:ext uri="{BB962C8B-B14F-4D97-AF65-F5344CB8AC3E}">
        <p14:creationId xmlns:p14="http://schemas.microsoft.com/office/powerpoint/2010/main" val="3400932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9" name="object 2">
            <a:extLst>
              <a:ext uri="{FF2B5EF4-FFF2-40B4-BE49-F238E27FC236}">
                <a16:creationId xmlns:a16="http://schemas.microsoft.com/office/drawing/2014/main" id="{08AB86D1-30B3-1D25-0AFA-5E0C2D9E7829}"/>
              </a:ext>
            </a:extLst>
          </p:cNvPr>
          <p:cNvSpPr txBox="1">
            <a:spLocks/>
          </p:cNvSpPr>
          <p:nvPr/>
        </p:nvSpPr>
        <p:spPr>
          <a:xfrm>
            <a:off x="707542" y="520141"/>
            <a:ext cx="628396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Lexical </a:t>
            </a:r>
            <a:r>
              <a:rPr kumimoji="0" lang="en-US" sz="4000" b="1" i="0" u="none" strike="noStrike" kern="0" cap="none" spc="-5" normalizeH="0" baseline="0" noProof="0">
                <a:ln>
                  <a:noFill/>
                </a:ln>
                <a:solidFill>
                  <a:sysClr val="windowText" lastClr="000000"/>
                </a:solidFill>
                <a:effectLst/>
                <a:uLnTx/>
                <a:uFillTx/>
                <a:latin typeface="Palatino Linotype"/>
                <a:ea typeface="+mj-ea"/>
              </a:rPr>
              <a:t>Analysis</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20" name="object 3">
            <a:extLst>
              <a:ext uri="{FF2B5EF4-FFF2-40B4-BE49-F238E27FC236}">
                <a16:creationId xmlns:a16="http://schemas.microsoft.com/office/drawing/2014/main" id="{13B54617-19DA-C89B-76A0-9B5ABEC8A04A}"/>
              </a:ext>
            </a:extLst>
          </p:cNvPr>
          <p:cNvSpPr/>
          <p:nvPr/>
        </p:nvSpPr>
        <p:spPr>
          <a:xfrm>
            <a:off x="1621536" y="2454275"/>
            <a:ext cx="2129155" cy="434340"/>
          </a:xfrm>
          <a:custGeom>
            <a:avLst/>
            <a:gdLst/>
            <a:ahLst/>
            <a:cxnLst/>
            <a:rect l="l" t="t" r="r" b="b"/>
            <a:pathLst>
              <a:path w="2129154" h="434339">
                <a:moveTo>
                  <a:pt x="0" y="434213"/>
                </a:moveTo>
                <a:lnTo>
                  <a:pt x="2129028" y="434213"/>
                </a:lnTo>
                <a:lnTo>
                  <a:pt x="2129028" y="0"/>
                </a:lnTo>
                <a:lnTo>
                  <a:pt x="0" y="0"/>
                </a:lnTo>
                <a:lnTo>
                  <a:pt x="0" y="434213"/>
                </a:lnTo>
                <a:close/>
              </a:path>
            </a:pathLst>
          </a:custGeom>
          <a:solidFill>
            <a:srgbClr val="FFC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4">
            <a:extLst>
              <a:ext uri="{FF2B5EF4-FFF2-40B4-BE49-F238E27FC236}">
                <a16:creationId xmlns:a16="http://schemas.microsoft.com/office/drawing/2014/main" id="{1970F0A0-D08E-50C2-AE34-7C566E4431AB}"/>
              </a:ext>
            </a:extLst>
          </p:cNvPr>
          <p:cNvSpPr/>
          <p:nvPr/>
        </p:nvSpPr>
        <p:spPr>
          <a:xfrm>
            <a:off x="1621536" y="2447925"/>
            <a:ext cx="0" cy="447040"/>
          </a:xfrm>
          <a:custGeom>
            <a:avLst/>
            <a:gdLst/>
            <a:ahLst/>
            <a:cxnLst/>
            <a:rect l="l" t="t" r="r" b="b"/>
            <a:pathLst>
              <a:path h="447039">
                <a:moveTo>
                  <a:pt x="0" y="0"/>
                </a:moveTo>
                <a:lnTo>
                  <a:pt x="0" y="446913"/>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5">
            <a:extLst>
              <a:ext uri="{FF2B5EF4-FFF2-40B4-BE49-F238E27FC236}">
                <a16:creationId xmlns:a16="http://schemas.microsoft.com/office/drawing/2014/main" id="{24D9F44D-8E3F-5921-E516-D0D25FDF0F7C}"/>
              </a:ext>
            </a:extLst>
          </p:cNvPr>
          <p:cNvSpPr/>
          <p:nvPr/>
        </p:nvSpPr>
        <p:spPr>
          <a:xfrm>
            <a:off x="3750564" y="2447925"/>
            <a:ext cx="0" cy="447040"/>
          </a:xfrm>
          <a:custGeom>
            <a:avLst/>
            <a:gdLst/>
            <a:ahLst/>
            <a:cxnLst/>
            <a:rect l="l" t="t" r="r" b="b"/>
            <a:pathLst>
              <a:path h="447039">
                <a:moveTo>
                  <a:pt x="0" y="0"/>
                </a:moveTo>
                <a:lnTo>
                  <a:pt x="0" y="446913"/>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6">
            <a:extLst>
              <a:ext uri="{FF2B5EF4-FFF2-40B4-BE49-F238E27FC236}">
                <a16:creationId xmlns:a16="http://schemas.microsoft.com/office/drawing/2014/main" id="{7BA21347-59C7-75B4-E584-79852BB18A44}"/>
              </a:ext>
            </a:extLst>
          </p:cNvPr>
          <p:cNvSpPr/>
          <p:nvPr/>
        </p:nvSpPr>
        <p:spPr>
          <a:xfrm>
            <a:off x="1615186" y="2447925"/>
            <a:ext cx="2141855" cy="12700"/>
          </a:xfrm>
          <a:custGeom>
            <a:avLst/>
            <a:gdLst/>
            <a:ahLst/>
            <a:cxnLst/>
            <a:rect l="l" t="t" r="r" b="b"/>
            <a:pathLst>
              <a:path w="2141854" h="12700">
                <a:moveTo>
                  <a:pt x="0" y="12700"/>
                </a:moveTo>
                <a:lnTo>
                  <a:pt x="2141728" y="12700"/>
                </a:lnTo>
                <a:lnTo>
                  <a:pt x="2141728" y="0"/>
                </a:lnTo>
                <a:lnTo>
                  <a:pt x="0" y="0"/>
                </a:lnTo>
                <a:lnTo>
                  <a:pt x="0" y="1270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7">
            <a:extLst>
              <a:ext uri="{FF2B5EF4-FFF2-40B4-BE49-F238E27FC236}">
                <a16:creationId xmlns:a16="http://schemas.microsoft.com/office/drawing/2014/main" id="{06E68C26-B289-F79B-1F8E-75E9BC950399}"/>
              </a:ext>
            </a:extLst>
          </p:cNvPr>
          <p:cNvSpPr/>
          <p:nvPr/>
        </p:nvSpPr>
        <p:spPr>
          <a:xfrm>
            <a:off x="1615186" y="2888488"/>
            <a:ext cx="2141855" cy="0"/>
          </a:xfrm>
          <a:custGeom>
            <a:avLst/>
            <a:gdLst/>
            <a:ahLst/>
            <a:cxnLst/>
            <a:rect l="l" t="t" r="r" b="b"/>
            <a:pathLst>
              <a:path w="2141854">
                <a:moveTo>
                  <a:pt x="0" y="0"/>
                </a:moveTo>
                <a:lnTo>
                  <a:pt x="2141728"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8">
            <a:extLst>
              <a:ext uri="{FF2B5EF4-FFF2-40B4-BE49-F238E27FC236}">
                <a16:creationId xmlns:a16="http://schemas.microsoft.com/office/drawing/2014/main" id="{ED1277B4-3336-0692-F78E-A10B4CC82E5A}"/>
              </a:ext>
            </a:extLst>
          </p:cNvPr>
          <p:cNvSpPr/>
          <p:nvPr/>
        </p:nvSpPr>
        <p:spPr>
          <a:xfrm>
            <a:off x="2635123" y="2125979"/>
            <a:ext cx="103505" cy="328930"/>
          </a:xfrm>
          <a:custGeom>
            <a:avLst/>
            <a:gdLst/>
            <a:ahLst/>
            <a:cxnLst/>
            <a:rect l="l" t="t" r="r" b="b"/>
            <a:pathLst>
              <a:path w="103505" h="328930">
                <a:moveTo>
                  <a:pt x="8254" y="189737"/>
                </a:moveTo>
                <a:lnTo>
                  <a:pt x="1650" y="192278"/>
                </a:lnTo>
                <a:lnTo>
                  <a:pt x="0" y="195961"/>
                </a:lnTo>
                <a:lnTo>
                  <a:pt x="1269" y="199262"/>
                </a:lnTo>
                <a:lnTo>
                  <a:pt x="51688" y="328675"/>
                </a:lnTo>
                <a:lnTo>
                  <a:pt x="58467" y="311277"/>
                </a:lnTo>
                <a:lnTo>
                  <a:pt x="45338" y="311277"/>
                </a:lnTo>
                <a:lnTo>
                  <a:pt x="45338" y="277186"/>
                </a:lnTo>
                <a:lnTo>
                  <a:pt x="13207" y="194564"/>
                </a:lnTo>
                <a:lnTo>
                  <a:pt x="11937" y="191389"/>
                </a:lnTo>
                <a:lnTo>
                  <a:pt x="8254" y="189737"/>
                </a:lnTo>
                <a:close/>
              </a:path>
              <a:path w="103505" h="328930">
                <a:moveTo>
                  <a:pt x="45338" y="277186"/>
                </a:moveTo>
                <a:lnTo>
                  <a:pt x="45338" y="311277"/>
                </a:lnTo>
                <a:lnTo>
                  <a:pt x="58038" y="311277"/>
                </a:lnTo>
                <a:lnTo>
                  <a:pt x="58038" y="308864"/>
                </a:lnTo>
                <a:lnTo>
                  <a:pt x="45719" y="308864"/>
                </a:lnTo>
                <a:lnTo>
                  <a:pt x="51688" y="293515"/>
                </a:lnTo>
                <a:lnTo>
                  <a:pt x="45338" y="277186"/>
                </a:lnTo>
                <a:close/>
              </a:path>
              <a:path w="103505" h="328930">
                <a:moveTo>
                  <a:pt x="95122" y="189737"/>
                </a:moveTo>
                <a:lnTo>
                  <a:pt x="91439" y="191389"/>
                </a:lnTo>
                <a:lnTo>
                  <a:pt x="90169" y="194564"/>
                </a:lnTo>
                <a:lnTo>
                  <a:pt x="58038" y="277186"/>
                </a:lnTo>
                <a:lnTo>
                  <a:pt x="58038" y="311277"/>
                </a:lnTo>
                <a:lnTo>
                  <a:pt x="58467" y="311277"/>
                </a:lnTo>
                <a:lnTo>
                  <a:pt x="102107" y="199262"/>
                </a:lnTo>
                <a:lnTo>
                  <a:pt x="103377" y="195961"/>
                </a:lnTo>
                <a:lnTo>
                  <a:pt x="101726" y="192278"/>
                </a:lnTo>
                <a:lnTo>
                  <a:pt x="95122" y="189737"/>
                </a:lnTo>
                <a:close/>
              </a:path>
              <a:path w="103505" h="328930">
                <a:moveTo>
                  <a:pt x="51688" y="293515"/>
                </a:moveTo>
                <a:lnTo>
                  <a:pt x="45719" y="308864"/>
                </a:lnTo>
                <a:lnTo>
                  <a:pt x="57657" y="308864"/>
                </a:lnTo>
                <a:lnTo>
                  <a:pt x="51688" y="293515"/>
                </a:lnTo>
                <a:close/>
              </a:path>
              <a:path w="103505" h="328930">
                <a:moveTo>
                  <a:pt x="58038" y="277186"/>
                </a:moveTo>
                <a:lnTo>
                  <a:pt x="51688" y="293515"/>
                </a:lnTo>
                <a:lnTo>
                  <a:pt x="57657" y="308864"/>
                </a:lnTo>
                <a:lnTo>
                  <a:pt x="58038" y="308864"/>
                </a:lnTo>
                <a:lnTo>
                  <a:pt x="58038" y="277186"/>
                </a:lnTo>
                <a:close/>
              </a:path>
              <a:path w="103505" h="328930">
                <a:moveTo>
                  <a:pt x="58038" y="0"/>
                </a:moveTo>
                <a:lnTo>
                  <a:pt x="45338" y="0"/>
                </a:lnTo>
                <a:lnTo>
                  <a:pt x="45338" y="277186"/>
                </a:lnTo>
                <a:lnTo>
                  <a:pt x="51688" y="293515"/>
                </a:lnTo>
                <a:lnTo>
                  <a:pt x="58038" y="277186"/>
                </a:lnTo>
                <a:lnTo>
                  <a:pt x="5803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9">
            <a:extLst>
              <a:ext uri="{FF2B5EF4-FFF2-40B4-BE49-F238E27FC236}">
                <a16:creationId xmlns:a16="http://schemas.microsoft.com/office/drawing/2014/main" id="{83CCBD0D-565E-89AF-05DC-1F70932A6511}"/>
              </a:ext>
            </a:extLst>
          </p:cNvPr>
          <p:cNvSpPr txBox="1"/>
          <p:nvPr/>
        </p:nvSpPr>
        <p:spPr>
          <a:xfrm>
            <a:off x="2229739" y="5009769"/>
            <a:ext cx="90233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3&gt;</a:t>
            </a:r>
            <a:endParaRPr kern="1200">
              <a:solidFill>
                <a:prstClr val="black"/>
              </a:solidFill>
              <a:latin typeface="Consolas"/>
              <a:cs typeface="Consolas"/>
            </a:endParaRPr>
          </a:p>
        </p:txBody>
      </p:sp>
      <p:sp>
        <p:nvSpPr>
          <p:cNvPr id="27" name="object 10">
            <a:extLst>
              <a:ext uri="{FF2B5EF4-FFF2-40B4-BE49-F238E27FC236}">
                <a16:creationId xmlns:a16="http://schemas.microsoft.com/office/drawing/2014/main" id="{93163153-B612-E054-52CB-D154E67EA411}"/>
              </a:ext>
            </a:extLst>
          </p:cNvPr>
          <p:cNvSpPr txBox="1"/>
          <p:nvPr/>
        </p:nvSpPr>
        <p:spPr>
          <a:xfrm>
            <a:off x="2482976" y="5458155"/>
            <a:ext cx="40068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&lt;*&gt;</a:t>
            </a:r>
            <a:endParaRPr kern="1200">
              <a:solidFill>
                <a:prstClr val="black"/>
              </a:solidFill>
              <a:latin typeface="Consolas"/>
              <a:cs typeface="Consolas"/>
            </a:endParaRPr>
          </a:p>
        </p:txBody>
      </p:sp>
      <p:sp>
        <p:nvSpPr>
          <p:cNvPr id="28" name="object 11">
            <a:extLst>
              <a:ext uri="{FF2B5EF4-FFF2-40B4-BE49-F238E27FC236}">
                <a16:creationId xmlns:a16="http://schemas.microsoft.com/office/drawing/2014/main" id="{0E59DD3F-B794-7657-91FD-05FD09EBA1EC}"/>
              </a:ext>
            </a:extLst>
          </p:cNvPr>
          <p:cNvSpPr txBox="1"/>
          <p:nvPr/>
        </p:nvSpPr>
        <p:spPr>
          <a:xfrm>
            <a:off x="2419604" y="5906211"/>
            <a:ext cx="525780"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&lt;60&gt;</a:t>
            </a:r>
            <a:endParaRPr kern="1200">
              <a:solidFill>
                <a:prstClr val="black"/>
              </a:solidFill>
              <a:latin typeface="Consolas"/>
              <a:cs typeface="Consolas"/>
            </a:endParaRPr>
          </a:p>
        </p:txBody>
      </p:sp>
      <p:graphicFrame>
        <p:nvGraphicFramePr>
          <p:cNvPr id="29" name="object 12">
            <a:extLst>
              <a:ext uri="{FF2B5EF4-FFF2-40B4-BE49-F238E27FC236}">
                <a16:creationId xmlns:a16="http://schemas.microsoft.com/office/drawing/2014/main" id="{A8601328-0377-BB95-834C-E156C2DB428E}"/>
              </a:ext>
            </a:extLst>
          </p:cNvPr>
          <p:cNvGraphicFramePr>
            <a:graphicFrameLocks noGrp="1"/>
          </p:cNvGraphicFramePr>
          <p:nvPr/>
        </p:nvGraphicFramePr>
        <p:xfrm>
          <a:off x="4703953" y="2609723"/>
          <a:ext cx="3466465" cy="1760599"/>
        </p:xfrm>
        <a:graphic>
          <a:graphicData uri="http://schemas.openxmlformats.org/drawingml/2006/table">
            <a:tbl>
              <a:tblPr firstRow="1" bandRow="1"/>
              <a:tblGrid>
                <a:gridCol w="320675">
                  <a:extLst>
                    <a:ext uri="{9D8B030D-6E8A-4147-A177-3AD203B41FA5}">
                      <a16:colId xmlns:a16="http://schemas.microsoft.com/office/drawing/2014/main" val="20000"/>
                    </a:ext>
                  </a:extLst>
                </a:gridCol>
                <a:gridCol w="1572895">
                  <a:extLst>
                    <a:ext uri="{9D8B030D-6E8A-4147-A177-3AD203B41FA5}">
                      <a16:colId xmlns:a16="http://schemas.microsoft.com/office/drawing/2014/main" val="20001"/>
                    </a:ext>
                  </a:extLst>
                </a:gridCol>
                <a:gridCol w="1572895">
                  <a:extLst>
                    <a:ext uri="{9D8B030D-6E8A-4147-A177-3AD203B41FA5}">
                      <a16:colId xmlns:a16="http://schemas.microsoft.com/office/drawing/2014/main" val="20002"/>
                    </a:ext>
                  </a:extLst>
                </a:gridCol>
              </a:tblGrid>
              <a:tr h="370839">
                <a:tc rowSpan="4">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5875">
                        <a:lnSpc>
                          <a:spcPct val="100000"/>
                        </a:lnSpc>
                        <a:spcBef>
                          <a:spcPts val="275"/>
                        </a:spcBef>
                      </a:pPr>
                      <a:r>
                        <a:rPr sz="1800" dirty="0">
                          <a:latin typeface="Consolas"/>
                          <a:cs typeface="Consolas"/>
                        </a:rPr>
                        <a:t>1</a:t>
                      </a:r>
                      <a:endParaRPr sz="1800">
                        <a:latin typeface="Consolas"/>
                        <a:cs typeface="Consolas"/>
                      </a:endParaRPr>
                    </a:p>
                    <a:p>
                      <a:pPr marL="15875">
                        <a:lnSpc>
                          <a:spcPct val="100000"/>
                        </a:lnSpc>
                        <a:spcBef>
                          <a:spcPts val="765"/>
                        </a:spcBef>
                      </a:pPr>
                      <a:r>
                        <a:rPr sz="1800" dirty="0">
                          <a:latin typeface="Consolas"/>
                          <a:cs typeface="Consolas"/>
                        </a:rPr>
                        <a:t>2</a:t>
                      </a:r>
                      <a:endParaRPr sz="1800">
                        <a:latin typeface="Consolas"/>
                        <a:cs typeface="Consolas"/>
                      </a:endParaRPr>
                    </a:p>
                    <a:p>
                      <a:pPr marL="15875">
                        <a:lnSpc>
                          <a:spcPct val="100000"/>
                        </a:lnSpc>
                        <a:spcBef>
                          <a:spcPts val="760"/>
                        </a:spcBef>
                      </a:pPr>
                      <a:r>
                        <a:rPr sz="1800" dirty="0">
                          <a:latin typeface="Consolas"/>
                          <a:cs typeface="Consolas"/>
                        </a:rPr>
                        <a:t>3</a:t>
                      </a:r>
                      <a:endParaRPr sz="1800">
                        <a:latin typeface="Consolas"/>
                        <a:cs typeface="Consolas"/>
                      </a:endParaRPr>
                    </a:p>
                  </a:txBody>
                  <a:tcPr marL="0" marR="0" marT="34925" marB="0">
                    <a:lnL>
                      <a:noFill/>
                    </a:lnL>
                    <a:lnR w="12700">
                      <a:solidFill>
                        <a:srgbClr val="000000"/>
                      </a:solidFill>
                      <a:prstDash val="solid"/>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075">
                        <a:lnSpc>
                          <a:spcPct val="100000"/>
                        </a:lnSpc>
                        <a:spcBef>
                          <a:spcPts val="275"/>
                        </a:spcBef>
                      </a:pPr>
                      <a:r>
                        <a:rPr sz="1800" spc="-5" dirty="0">
                          <a:latin typeface="Consolas"/>
                          <a:cs typeface="Consolas"/>
                        </a:rPr>
                        <a:t>position</a:t>
                      </a:r>
                      <a:endParaRPr sz="1800">
                        <a:latin typeface="Consolas"/>
                        <a:cs typeface="Consolas"/>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710">
                        <a:lnSpc>
                          <a:spcPct val="100000"/>
                        </a:lnSpc>
                        <a:spcBef>
                          <a:spcPts val="275"/>
                        </a:spcBef>
                      </a:pPr>
                      <a:r>
                        <a:rPr sz="1800" spc="-10" dirty="0">
                          <a:latin typeface="Consolas"/>
                          <a:cs typeface="Consolas"/>
                        </a:rPr>
                        <a:t>...</a:t>
                      </a:r>
                      <a:endParaRPr sz="1800">
                        <a:latin typeface="Consolas"/>
                        <a:cs typeface="Consolas"/>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39">
                <a:tc vMerge="1">
                  <a:txBody>
                    <a:bodyPr/>
                    <a:lstStyle/>
                    <a:p>
                      <a:endParaRPr/>
                    </a:p>
                  </a:txBody>
                  <a:tcPr marL="0" marR="0" marT="34925" marB="0">
                    <a:lnR w="12700">
                      <a:solidFill>
                        <a:srgbClr val="000000"/>
                      </a:solidFill>
                      <a:prstDash val="solid"/>
                    </a:lnR>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075">
                        <a:lnSpc>
                          <a:spcPct val="100000"/>
                        </a:lnSpc>
                        <a:spcBef>
                          <a:spcPts val="280"/>
                        </a:spcBef>
                      </a:pPr>
                      <a:r>
                        <a:rPr sz="1800" spc="-5" dirty="0">
                          <a:latin typeface="Consolas"/>
                          <a:cs typeface="Consolas"/>
                        </a:rPr>
                        <a:t>initial</a:t>
                      </a:r>
                      <a:endParaRPr sz="1800">
                        <a:latin typeface="Consolas"/>
                        <a:cs typeface="Consolas"/>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710">
                        <a:lnSpc>
                          <a:spcPct val="100000"/>
                        </a:lnSpc>
                        <a:spcBef>
                          <a:spcPts val="280"/>
                        </a:spcBef>
                      </a:pPr>
                      <a:r>
                        <a:rPr sz="1800" spc="-10" dirty="0">
                          <a:latin typeface="Consolas"/>
                          <a:cs typeface="Consolas"/>
                        </a:rPr>
                        <a:t>...</a:t>
                      </a:r>
                      <a:endParaRPr sz="1800">
                        <a:latin typeface="Consolas"/>
                        <a:cs typeface="Consolas"/>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vMerge="1">
                  <a:txBody>
                    <a:bodyPr/>
                    <a:lstStyle/>
                    <a:p>
                      <a:endParaRPr/>
                    </a:p>
                  </a:txBody>
                  <a:tcPr marL="0" marR="0" marT="34925" marB="0">
                    <a:lnR w="12700">
                      <a:solidFill>
                        <a:srgbClr val="000000"/>
                      </a:solidFill>
                      <a:prstDash val="solid"/>
                    </a:lnR>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075">
                        <a:lnSpc>
                          <a:spcPct val="100000"/>
                        </a:lnSpc>
                        <a:spcBef>
                          <a:spcPts val="280"/>
                        </a:spcBef>
                      </a:pPr>
                      <a:r>
                        <a:rPr sz="1800" spc="-10" dirty="0">
                          <a:latin typeface="Consolas"/>
                          <a:cs typeface="Consolas"/>
                        </a:rPr>
                        <a:t>rate</a:t>
                      </a:r>
                      <a:endParaRPr sz="1800">
                        <a:latin typeface="Consolas"/>
                        <a:cs typeface="Consolas"/>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710">
                        <a:lnSpc>
                          <a:spcPct val="100000"/>
                        </a:lnSpc>
                        <a:spcBef>
                          <a:spcPts val="280"/>
                        </a:spcBef>
                      </a:pPr>
                      <a:r>
                        <a:rPr sz="1800" spc="-10" dirty="0">
                          <a:latin typeface="Consolas"/>
                          <a:cs typeface="Consolas"/>
                        </a:rPr>
                        <a:t>...</a:t>
                      </a:r>
                      <a:endParaRPr sz="1800">
                        <a:latin typeface="Consolas"/>
                        <a:cs typeface="Consolas"/>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48081">
                <a:tc vMerge="1">
                  <a:txBody>
                    <a:bodyPr/>
                    <a:lstStyle/>
                    <a:p>
                      <a:endParaRPr/>
                    </a:p>
                  </a:txBody>
                  <a:tcPr marL="0" marR="0" marT="34925" marB="0">
                    <a:lnR w="12700">
                      <a:solidFill>
                        <a:srgbClr val="000000"/>
                      </a:solidFill>
                      <a:prstDash val="solid"/>
                    </a:lnR>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0" name="object 13">
            <a:extLst>
              <a:ext uri="{FF2B5EF4-FFF2-40B4-BE49-F238E27FC236}">
                <a16:creationId xmlns:a16="http://schemas.microsoft.com/office/drawing/2014/main" id="{42A3EFFC-E9B2-C2FA-B912-45C1465C133A}"/>
              </a:ext>
            </a:extLst>
          </p:cNvPr>
          <p:cNvSpPr txBox="1"/>
          <p:nvPr/>
        </p:nvSpPr>
        <p:spPr>
          <a:xfrm>
            <a:off x="773074" y="1648586"/>
            <a:ext cx="6604634" cy="3208020"/>
          </a:xfrm>
          <a:prstGeom prst="rect">
            <a:avLst/>
          </a:prstGeom>
        </p:spPr>
        <p:txBody>
          <a:bodyPr vert="horz" wrap="square" lIns="0" tIns="140335" rIns="0" bIns="0" rtlCol="0">
            <a:spAutoFit/>
          </a:bodyPr>
          <a:lstStyle/>
          <a:p>
            <a:pPr marR="2811145" algn="ctr" rtl="0">
              <a:spcBef>
                <a:spcPts val="1105"/>
              </a:spcBef>
            </a:pPr>
            <a:r>
              <a:rPr kern="1200" spc="-5" dirty="0">
                <a:solidFill>
                  <a:prstClr val="black"/>
                </a:solidFill>
                <a:latin typeface="Consolas"/>
                <a:cs typeface="Consolas"/>
              </a:rPr>
              <a:t>position </a:t>
            </a:r>
            <a:r>
              <a:rPr kern="1200" dirty="0">
                <a:solidFill>
                  <a:prstClr val="black"/>
                </a:solidFill>
                <a:latin typeface="Consolas"/>
                <a:cs typeface="Consolas"/>
              </a:rPr>
              <a:t>= </a:t>
            </a:r>
            <a:r>
              <a:rPr kern="1200" spc="-5" dirty="0">
                <a:solidFill>
                  <a:prstClr val="black"/>
                </a:solidFill>
                <a:latin typeface="Consolas"/>
                <a:cs typeface="Consolas"/>
              </a:rPr>
              <a:t>initial </a:t>
            </a:r>
            <a:r>
              <a:rPr kern="1200" dirty="0">
                <a:solidFill>
                  <a:prstClr val="black"/>
                </a:solidFill>
                <a:latin typeface="Consolas"/>
                <a:cs typeface="Consolas"/>
              </a:rPr>
              <a:t>+ </a:t>
            </a:r>
            <a:r>
              <a:rPr kern="1200" spc="-5" dirty="0">
                <a:solidFill>
                  <a:prstClr val="black"/>
                </a:solidFill>
                <a:latin typeface="Consolas"/>
                <a:cs typeface="Consolas"/>
              </a:rPr>
              <a:t>rate </a:t>
            </a:r>
            <a:r>
              <a:rPr kern="1200" dirty="0">
                <a:solidFill>
                  <a:prstClr val="black"/>
                </a:solidFill>
                <a:latin typeface="Consolas"/>
                <a:cs typeface="Consolas"/>
              </a:rPr>
              <a:t>*</a:t>
            </a:r>
            <a:r>
              <a:rPr kern="1200" spc="-120" dirty="0">
                <a:solidFill>
                  <a:prstClr val="black"/>
                </a:solidFill>
                <a:latin typeface="Consolas"/>
                <a:cs typeface="Consolas"/>
              </a:rPr>
              <a:t> </a:t>
            </a:r>
            <a:r>
              <a:rPr kern="1200" dirty="0">
                <a:solidFill>
                  <a:prstClr val="black"/>
                </a:solidFill>
                <a:latin typeface="Consolas"/>
                <a:cs typeface="Consolas"/>
              </a:rPr>
              <a:t>60</a:t>
            </a:r>
          </a:p>
          <a:p>
            <a:pPr marR="5080" algn="r" rtl="0">
              <a:spcBef>
                <a:spcPts val="1005"/>
              </a:spcBef>
            </a:pPr>
            <a:r>
              <a:rPr kern="1200" spc="-5" dirty="0">
                <a:solidFill>
                  <a:prstClr val="black"/>
                </a:solidFill>
                <a:latin typeface="Consolas"/>
                <a:cs typeface="Consolas"/>
              </a:rPr>
              <a:t>SYMBOL</a:t>
            </a:r>
            <a:r>
              <a:rPr kern="1200" spc="-95" dirty="0">
                <a:solidFill>
                  <a:prstClr val="black"/>
                </a:solidFill>
                <a:latin typeface="Consolas"/>
                <a:cs typeface="Consolas"/>
              </a:rPr>
              <a:t> </a:t>
            </a:r>
            <a:r>
              <a:rPr kern="1200" spc="-5" dirty="0">
                <a:solidFill>
                  <a:prstClr val="black"/>
                </a:solidFill>
                <a:latin typeface="Consolas"/>
                <a:cs typeface="Consolas"/>
              </a:rPr>
              <a:t>TABLE</a:t>
            </a:r>
            <a:endParaRPr kern="1200" dirty="0">
              <a:solidFill>
                <a:prstClr val="black"/>
              </a:solidFill>
              <a:latin typeface="Consolas"/>
              <a:cs typeface="Consolas"/>
            </a:endParaRPr>
          </a:p>
          <a:p>
            <a:pPr marR="2769870" algn="ctr" rtl="0">
              <a:spcBef>
                <a:spcPts val="430"/>
              </a:spcBef>
            </a:pPr>
            <a:r>
              <a:rPr kern="1200" spc="-5" dirty="0">
                <a:solidFill>
                  <a:prstClr val="black"/>
                </a:solidFill>
                <a:latin typeface="Palatino Linotype"/>
                <a:cs typeface="Palatino Linotype"/>
              </a:rPr>
              <a:t>Lexical</a:t>
            </a:r>
            <a:r>
              <a:rPr kern="1200" spc="-80" dirty="0">
                <a:solidFill>
                  <a:prstClr val="black"/>
                </a:solidFill>
                <a:latin typeface="Palatino Linotype"/>
                <a:cs typeface="Palatino Linotype"/>
              </a:rPr>
              <a:t> </a:t>
            </a:r>
            <a:r>
              <a:rPr kern="1200" dirty="0">
                <a:solidFill>
                  <a:prstClr val="black"/>
                </a:solidFill>
                <a:latin typeface="Palatino Linotype"/>
                <a:cs typeface="Palatino Linotype"/>
              </a:rPr>
              <a:t>Analyzer</a:t>
            </a:r>
          </a:p>
          <a:p>
            <a:pPr rtl="0">
              <a:spcBef>
                <a:spcPts val="35"/>
              </a:spcBef>
            </a:pPr>
            <a:endParaRPr sz="2450" kern="1200" dirty="0">
              <a:solidFill>
                <a:prstClr val="black"/>
              </a:solidFill>
              <a:latin typeface="Palatino Linotype"/>
              <a:cs typeface="Palatino Linotype"/>
            </a:endParaRPr>
          </a:p>
          <a:p>
            <a:pPr marR="2780030" algn="ctr" rtl="0">
              <a:spcBef>
                <a:spcPts val="5"/>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20" dirty="0">
                <a:solidFill>
                  <a:prstClr val="black"/>
                </a:solidFill>
                <a:latin typeface="Consolas"/>
                <a:cs typeface="Consolas"/>
              </a:rPr>
              <a:t> </a:t>
            </a:r>
            <a:r>
              <a:rPr kern="1200" dirty="0">
                <a:solidFill>
                  <a:prstClr val="black"/>
                </a:solidFill>
                <a:latin typeface="Consolas"/>
                <a:cs typeface="Consolas"/>
              </a:rPr>
              <a:t>1&gt;</a:t>
            </a:r>
          </a:p>
          <a:p>
            <a:pPr marR="2771775" algn="ctr" rtl="0">
              <a:spcBef>
                <a:spcPts val="1370"/>
              </a:spcBef>
            </a:pPr>
            <a:r>
              <a:rPr kern="1200" spc="-10" dirty="0">
                <a:solidFill>
                  <a:prstClr val="black"/>
                </a:solidFill>
                <a:latin typeface="Consolas"/>
                <a:cs typeface="Consolas"/>
              </a:rPr>
              <a:t>&lt;=&gt;</a:t>
            </a:r>
            <a:endParaRPr kern="1200" dirty="0">
              <a:solidFill>
                <a:prstClr val="black"/>
              </a:solidFill>
              <a:latin typeface="Consolas"/>
              <a:cs typeface="Consolas"/>
            </a:endParaRPr>
          </a:p>
          <a:p>
            <a:pPr marR="2780030" algn="ctr" rtl="0">
              <a:spcBef>
                <a:spcPts val="141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20" dirty="0">
                <a:solidFill>
                  <a:prstClr val="black"/>
                </a:solidFill>
                <a:latin typeface="Consolas"/>
                <a:cs typeface="Consolas"/>
              </a:rPr>
              <a:t> </a:t>
            </a:r>
            <a:r>
              <a:rPr kern="1200" dirty="0">
                <a:solidFill>
                  <a:prstClr val="black"/>
                </a:solidFill>
                <a:latin typeface="Consolas"/>
                <a:cs typeface="Consolas"/>
              </a:rPr>
              <a:t>2&gt;</a:t>
            </a:r>
          </a:p>
          <a:p>
            <a:pPr marR="2776220" algn="ctr" rtl="0">
              <a:spcBef>
                <a:spcPts val="1375"/>
              </a:spcBef>
            </a:pPr>
            <a:r>
              <a:rPr kern="1200" spc="-10" dirty="0">
                <a:solidFill>
                  <a:prstClr val="black"/>
                </a:solidFill>
                <a:latin typeface="Consolas"/>
                <a:cs typeface="Consolas"/>
              </a:rPr>
              <a:t>&lt;+&gt;</a:t>
            </a:r>
            <a:endParaRPr kern="1200" dirty="0">
              <a:solidFill>
                <a:prstClr val="black"/>
              </a:solidFill>
              <a:latin typeface="Consolas"/>
              <a:cs typeface="Consolas"/>
            </a:endParaRPr>
          </a:p>
        </p:txBody>
      </p:sp>
      <p:sp>
        <p:nvSpPr>
          <p:cNvPr id="31" name="object 14">
            <a:extLst>
              <a:ext uri="{FF2B5EF4-FFF2-40B4-BE49-F238E27FC236}">
                <a16:creationId xmlns:a16="http://schemas.microsoft.com/office/drawing/2014/main" id="{20D50EC6-8CEC-3D8E-7EA2-3490259BDC6E}"/>
              </a:ext>
            </a:extLst>
          </p:cNvPr>
          <p:cNvSpPr/>
          <p:nvPr/>
        </p:nvSpPr>
        <p:spPr>
          <a:xfrm>
            <a:off x="2630170" y="2887852"/>
            <a:ext cx="103505" cy="328930"/>
          </a:xfrm>
          <a:custGeom>
            <a:avLst/>
            <a:gdLst/>
            <a:ahLst/>
            <a:cxnLst/>
            <a:rect l="l" t="t" r="r" b="b"/>
            <a:pathLst>
              <a:path w="103505" h="328930">
                <a:moveTo>
                  <a:pt x="8255" y="189102"/>
                </a:moveTo>
                <a:lnTo>
                  <a:pt x="4953" y="190246"/>
                </a:lnTo>
                <a:lnTo>
                  <a:pt x="1650" y="191516"/>
                </a:lnTo>
                <a:lnTo>
                  <a:pt x="0" y="195072"/>
                </a:lnTo>
                <a:lnTo>
                  <a:pt x="1143" y="198374"/>
                </a:lnTo>
                <a:lnTo>
                  <a:pt x="49022" y="328802"/>
                </a:lnTo>
                <a:lnTo>
                  <a:pt x="56128" y="311531"/>
                </a:lnTo>
                <a:lnTo>
                  <a:pt x="43053" y="311276"/>
                </a:lnTo>
                <a:lnTo>
                  <a:pt x="43703" y="277370"/>
                </a:lnTo>
                <a:lnTo>
                  <a:pt x="13081" y="194056"/>
                </a:lnTo>
                <a:lnTo>
                  <a:pt x="11937" y="190754"/>
                </a:lnTo>
                <a:lnTo>
                  <a:pt x="8255" y="189102"/>
                </a:lnTo>
                <a:close/>
              </a:path>
              <a:path w="103505" h="328930">
                <a:moveTo>
                  <a:pt x="43703" y="277370"/>
                </a:moveTo>
                <a:lnTo>
                  <a:pt x="43053" y="311276"/>
                </a:lnTo>
                <a:lnTo>
                  <a:pt x="55753" y="311531"/>
                </a:lnTo>
                <a:lnTo>
                  <a:pt x="55799" y="309118"/>
                </a:lnTo>
                <a:lnTo>
                  <a:pt x="43434" y="308991"/>
                </a:lnTo>
                <a:lnTo>
                  <a:pt x="49716" y="293729"/>
                </a:lnTo>
                <a:lnTo>
                  <a:pt x="43703" y="277370"/>
                </a:lnTo>
                <a:close/>
              </a:path>
              <a:path w="103505" h="328930">
                <a:moveTo>
                  <a:pt x="95123" y="190754"/>
                </a:moveTo>
                <a:lnTo>
                  <a:pt x="91440" y="192277"/>
                </a:lnTo>
                <a:lnTo>
                  <a:pt x="90169" y="195452"/>
                </a:lnTo>
                <a:lnTo>
                  <a:pt x="56406" y="277477"/>
                </a:lnTo>
                <a:lnTo>
                  <a:pt x="55753" y="311531"/>
                </a:lnTo>
                <a:lnTo>
                  <a:pt x="56128" y="311531"/>
                </a:lnTo>
                <a:lnTo>
                  <a:pt x="101854" y="200406"/>
                </a:lnTo>
                <a:lnTo>
                  <a:pt x="103250" y="197104"/>
                </a:lnTo>
                <a:lnTo>
                  <a:pt x="101727" y="193421"/>
                </a:lnTo>
                <a:lnTo>
                  <a:pt x="98425" y="192024"/>
                </a:lnTo>
                <a:lnTo>
                  <a:pt x="95123" y="190754"/>
                </a:lnTo>
                <a:close/>
              </a:path>
              <a:path w="103505" h="328930">
                <a:moveTo>
                  <a:pt x="49716" y="293729"/>
                </a:moveTo>
                <a:lnTo>
                  <a:pt x="43434" y="308991"/>
                </a:lnTo>
                <a:lnTo>
                  <a:pt x="55372" y="309118"/>
                </a:lnTo>
                <a:lnTo>
                  <a:pt x="49716" y="293729"/>
                </a:lnTo>
                <a:close/>
              </a:path>
              <a:path w="103505" h="328930">
                <a:moveTo>
                  <a:pt x="56406" y="277477"/>
                </a:moveTo>
                <a:lnTo>
                  <a:pt x="49716" y="293729"/>
                </a:lnTo>
                <a:lnTo>
                  <a:pt x="55372" y="309118"/>
                </a:lnTo>
                <a:lnTo>
                  <a:pt x="55799" y="309118"/>
                </a:lnTo>
                <a:lnTo>
                  <a:pt x="56406" y="277477"/>
                </a:lnTo>
                <a:close/>
              </a:path>
              <a:path w="103505" h="328930">
                <a:moveTo>
                  <a:pt x="49022" y="0"/>
                </a:moveTo>
                <a:lnTo>
                  <a:pt x="43703" y="277370"/>
                </a:lnTo>
                <a:lnTo>
                  <a:pt x="49716" y="293729"/>
                </a:lnTo>
                <a:lnTo>
                  <a:pt x="56406" y="277477"/>
                </a:lnTo>
                <a:lnTo>
                  <a:pt x="61722" y="254"/>
                </a:lnTo>
                <a:lnTo>
                  <a:pt x="490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5">
            <a:extLst>
              <a:ext uri="{FF2B5EF4-FFF2-40B4-BE49-F238E27FC236}">
                <a16:creationId xmlns:a16="http://schemas.microsoft.com/office/drawing/2014/main" id="{264B35E2-4973-71B7-47F6-54F4687A7146}"/>
              </a:ext>
            </a:extLst>
          </p:cNvPr>
          <p:cNvSpPr txBox="1"/>
          <p:nvPr/>
        </p:nvSpPr>
        <p:spPr>
          <a:xfrm>
            <a:off x="3829939" y="4822088"/>
            <a:ext cx="4963795" cy="903605"/>
          </a:xfrm>
          <a:prstGeom prst="rect">
            <a:avLst/>
          </a:prstGeom>
        </p:spPr>
        <p:txBody>
          <a:bodyPr vert="horz" wrap="square" lIns="0" tIns="12700" rIns="0" bIns="0" rtlCol="0">
            <a:spAutoFit/>
          </a:bodyPr>
          <a:lstStyle/>
          <a:p>
            <a:pPr marL="12700" marR="5080" rtl="0">
              <a:lnSpc>
                <a:spcPct val="120000"/>
              </a:lnSpc>
              <a:spcBef>
                <a:spcPts val="100"/>
              </a:spcBef>
            </a:pPr>
            <a:r>
              <a:rPr sz="1600" kern="1200" spc="-5" dirty="0">
                <a:solidFill>
                  <a:prstClr val="black"/>
                </a:solidFill>
                <a:latin typeface="Palatino Linotype"/>
                <a:cs typeface="Palatino Linotype"/>
              </a:rPr>
              <a:t>Note: </a:t>
            </a:r>
            <a:r>
              <a:rPr sz="1600" kern="1200" dirty="0">
                <a:solidFill>
                  <a:prstClr val="black"/>
                </a:solidFill>
                <a:latin typeface="Palatino Linotype"/>
                <a:cs typeface="Palatino Linotype"/>
              </a:rPr>
              <a:t>&lt;=&gt;, &lt;+&gt;, </a:t>
            </a:r>
            <a:r>
              <a:rPr sz="1600" kern="1200" spc="-5" dirty="0">
                <a:solidFill>
                  <a:prstClr val="black"/>
                </a:solidFill>
                <a:latin typeface="Palatino Linotype"/>
                <a:cs typeface="Palatino Linotype"/>
              </a:rPr>
              <a:t>&lt;*&gt;, </a:t>
            </a:r>
            <a:r>
              <a:rPr sz="1600" kern="1200" dirty="0">
                <a:solidFill>
                  <a:prstClr val="black"/>
                </a:solidFill>
                <a:latin typeface="Palatino Linotype"/>
                <a:cs typeface="Palatino Linotype"/>
              </a:rPr>
              <a:t>&lt;60&gt; </a:t>
            </a:r>
            <a:r>
              <a:rPr sz="1600" kern="1200" spc="-5" dirty="0">
                <a:solidFill>
                  <a:prstClr val="black"/>
                </a:solidFill>
                <a:latin typeface="Palatino Linotype"/>
                <a:cs typeface="Palatino Linotype"/>
              </a:rPr>
              <a:t>are not in </a:t>
            </a:r>
            <a:r>
              <a:rPr sz="1600" kern="1200" spc="-10" dirty="0">
                <a:solidFill>
                  <a:prstClr val="black"/>
                </a:solidFill>
                <a:latin typeface="Palatino Linotype"/>
                <a:cs typeface="Palatino Linotype"/>
              </a:rPr>
              <a:t>the </a:t>
            </a:r>
            <a:r>
              <a:rPr sz="1600" kern="1200" spc="-5" dirty="0">
                <a:solidFill>
                  <a:prstClr val="black"/>
                </a:solidFill>
                <a:latin typeface="Palatino Linotype"/>
                <a:cs typeface="Palatino Linotype"/>
              </a:rPr>
              <a:t>defined form.  This is for notational convenience. </a:t>
            </a:r>
            <a:r>
              <a:rPr sz="1600" kern="1200" dirty="0">
                <a:solidFill>
                  <a:prstClr val="black"/>
                </a:solidFill>
                <a:latin typeface="Palatino Linotype"/>
                <a:cs typeface="Palatino Linotype"/>
              </a:rPr>
              <a:t>&lt;=&gt; </a:t>
            </a:r>
            <a:r>
              <a:rPr sz="1600" kern="1200" spc="-5" dirty="0">
                <a:solidFill>
                  <a:prstClr val="black"/>
                </a:solidFill>
                <a:latin typeface="Palatino Linotype"/>
                <a:cs typeface="Palatino Linotype"/>
              </a:rPr>
              <a:t>could </a:t>
            </a:r>
            <a:r>
              <a:rPr sz="1600" kern="1200" spc="-15" dirty="0">
                <a:solidFill>
                  <a:prstClr val="black"/>
                </a:solidFill>
                <a:latin typeface="Palatino Linotype"/>
                <a:cs typeface="Palatino Linotype"/>
              </a:rPr>
              <a:t>have</a:t>
            </a:r>
            <a:r>
              <a:rPr sz="1600" kern="1200" spc="75" dirty="0">
                <a:solidFill>
                  <a:prstClr val="black"/>
                </a:solidFill>
                <a:latin typeface="Palatino Linotype"/>
                <a:cs typeface="Palatino Linotype"/>
              </a:rPr>
              <a:t> </a:t>
            </a:r>
            <a:r>
              <a:rPr sz="1600" kern="1200" spc="-5" dirty="0">
                <a:solidFill>
                  <a:prstClr val="black"/>
                </a:solidFill>
                <a:latin typeface="Palatino Linotype"/>
                <a:cs typeface="Palatino Linotype"/>
              </a:rPr>
              <a:t>been</a:t>
            </a:r>
            <a:endParaRPr sz="1600" kern="1200" dirty="0">
              <a:solidFill>
                <a:prstClr val="black"/>
              </a:solidFill>
              <a:latin typeface="Palatino Linotype"/>
              <a:cs typeface="Palatino Linotype"/>
            </a:endParaRPr>
          </a:p>
          <a:p>
            <a:pPr marL="12700" rtl="0">
              <a:spcBef>
                <a:spcPts val="385"/>
              </a:spcBef>
            </a:pPr>
            <a:r>
              <a:rPr sz="1600" kern="1200" spc="-5" dirty="0">
                <a:solidFill>
                  <a:prstClr val="black"/>
                </a:solidFill>
                <a:latin typeface="Palatino Linotype"/>
                <a:cs typeface="Palatino Linotype"/>
              </a:rPr>
              <a:t>&lt;assign, -&gt; and </a:t>
            </a:r>
            <a:r>
              <a:rPr sz="1600" kern="1200" dirty="0">
                <a:solidFill>
                  <a:prstClr val="black"/>
                </a:solidFill>
                <a:latin typeface="Palatino Linotype"/>
                <a:cs typeface="Palatino Linotype"/>
              </a:rPr>
              <a:t>&lt;60&gt; </a:t>
            </a:r>
            <a:r>
              <a:rPr sz="1600" kern="1200" spc="-5" dirty="0">
                <a:solidFill>
                  <a:prstClr val="black"/>
                </a:solidFill>
                <a:latin typeface="Palatino Linotype"/>
                <a:cs typeface="Palatino Linotype"/>
              </a:rPr>
              <a:t>could </a:t>
            </a:r>
            <a:r>
              <a:rPr sz="1600" kern="1200" spc="-15" dirty="0">
                <a:solidFill>
                  <a:prstClr val="black"/>
                </a:solidFill>
                <a:latin typeface="Palatino Linotype"/>
                <a:cs typeface="Palatino Linotype"/>
              </a:rPr>
              <a:t>have </a:t>
            </a:r>
            <a:r>
              <a:rPr sz="1600" kern="1200" spc="-5" dirty="0">
                <a:solidFill>
                  <a:prstClr val="black"/>
                </a:solidFill>
                <a:latin typeface="Palatino Linotype"/>
                <a:cs typeface="Palatino Linotype"/>
              </a:rPr>
              <a:t>been </a:t>
            </a:r>
            <a:r>
              <a:rPr sz="1600" kern="1200" spc="-15" dirty="0">
                <a:solidFill>
                  <a:prstClr val="black"/>
                </a:solidFill>
                <a:latin typeface="Palatino Linotype"/>
                <a:cs typeface="Palatino Linotype"/>
              </a:rPr>
              <a:t>&lt;number,</a:t>
            </a:r>
            <a:r>
              <a:rPr sz="1600" kern="1200" spc="75" dirty="0">
                <a:solidFill>
                  <a:prstClr val="black"/>
                </a:solidFill>
                <a:latin typeface="Palatino Linotype"/>
                <a:cs typeface="Palatino Linotype"/>
              </a:rPr>
              <a:t> </a:t>
            </a:r>
            <a:r>
              <a:rPr sz="1600" kern="1200" dirty="0">
                <a:solidFill>
                  <a:prstClr val="black"/>
                </a:solidFill>
                <a:latin typeface="Palatino Linotype"/>
                <a:cs typeface="Palatino Linotype"/>
              </a:rPr>
              <a:t>4&gt;.</a:t>
            </a:r>
          </a:p>
        </p:txBody>
      </p:sp>
      <p:sp>
        <p:nvSpPr>
          <p:cNvPr id="2" name="灯片编号占位符 1">
            <a:extLst>
              <a:ext uri="{FF2B5EF4-FFF2-40B4-BE49-F238E27FC236}">
                <a16:creationId xmlns:a16="http://schemas.microsoft.com/office/drawing/2014/main" id="{AA8246E9-9C1D-A2C2-4B2B-D6F3F9B12433}"/>
              </a:ext>
            </a:extLst>
          </p:cNvPr>
          <p:cNvSpPr>
            <a:spLocks noGrp="1"/>
          </p:cNvSpPr>
          <p:nvPr>
            <p:ph type="sldNum" sz="quarter" idx="12"/>
          </p:nvPr>
        </p:nvSpPr>
        <p:spPr/>
        <p:txBody>
          <a:bodyPr/>
          <a:lstStyle/>
          <a:p>
            <a:pPr>
              <a:defRPr/>
            </a:pPr>
            <a:fld id="{2FBC720A-3716-234A-B2DF-CBC7E48049F5}" type="slidenum">
              <a:rPr lang="en-US" altLang="zh-CN" smtClean="0"/>
              <a:t>23</a:t>
            </a:fld>
            <a:endParaRPr lang="en-US" altLang="zh-CN"/>
          </a:p>
        </p:txBody>
      </p:sp>
    </p:spTree>
    <p:extLst>
      <p:ext uri="{BB962C8B-B14F-4D97-AF65-F5344CB8AC3E}">
        <p14:creationId xmlns:p14="http://schemas.microsoft.com/office/powerpoint/2010/main" val="2203468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7" name="object 2">
            <a:extLst>
              <a:ext uri="{FF2B5EF4-FFF2-40B4-BE49-F238E27FC236}">
                <a16:creationId xmlns:a16="http://schemas.microsoft.com/office/drawing/2014/main" id="{45B38E03-8A48-A2F2-097A-02A17FD1FE28}"/>
              </a:ext>
            </a:extLst>
          </p:cNvPr>
          <p:cNvSpPr txBox="1">
            <a:spLocks/>
          </p:cNvSpPr>
          <p:nvPr/>
        </p:nvSpPr>
        <p:spPr>
          <a:xfrm>
            <a:off x="707542" y="520141"/>
            <a:ext cx="625792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Lexical </a:t>
            </a:r>
            <a:r>
              <a:rPr kumimoji="0" lang="en-US" sz="4000" b="1" i="0" u="none" strike="noStrike" kern="0" cap="none" spc="-5" normalizeH="0" baseline="0" noProof="0">
                <a:ln>
                  <a:noFill/>
                </a:ln>
                <a:solidFill>
                  <a:sysClr val="windowText" lastClr="000000"/>
                </a:solidFill>
                <a:effectLst/>
                <a:uLnTx/>
                <a:uFillTx/>
                <a:latin typeface="Palatino Linotype"/>
                <a:ea typeface="+mj-ea"/>
              </a:rPr>
              <a:t>Analysis</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(Analogy)</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8" name="object 3">
            <a:extLst>
              <a:ext uri="{FF2B5EF4-FFF2-40B4-BE49-F238E27FC236}">
                <a16:creationId xmlns:a16="http://schemas.microsoft.com/office/drawing/2014/main" id="{144BE0DA-040D-E08E-46D1-DBC2A8F2AF7A}"/>
              </a:ext>
            </a:extLst>
          </p:cNvPr>
          <p:cNvSpPr txBox="1"/>
          <p:nvPr/>
        </p:nvSpPr>
        <p:spPr>
          <a:xfrm>
            <a:off x="4936997" y="1774697"/>
            <a:ext cx="3540760" cy="299720"/>
          </a:xfrm>
          <a:prstGeom prst="rect">
            <a:avLst/>
          </a:prstGeom>
        </p:spPr>
        <p:txBody>
          <a:bodyPr vert="horz" wrap="square" lIns="0" tIns="12700" rIns="0" bIns="0" rtlCol="0">
            <a:spAutoFit/>
          </a:bodyPr>
          <a:lstStyle/>
          <a:p>
            <a:pPr marL="12700" rtl="0">
              <a:spcBef>
                <a:spcPts val="100"/>
              </a:spcBef>
            </a:pPr>
            <a:r>
              <a:rPr lang="en-US" kern="1200" spc="-5" dirty="0">
                <a:solidFill>
                  <a:prstClr val="black"/>
                </a:solidFill>
                <a:latin typeface="Consolas"/>
                <a:cs typeface="Consolas"/>
              </a:rPr>
              <a:t>BUPT</a:t>
            </a:r>
            <a:r>
              <a:rPr kern="1200" spc="-5" dirty="0">
                <a:solidFill>
                  <a:prstClr val="black"/>
                </a:solidFill>
                <a:latin typeface="Consolas"/>
                <a:cs typeface="Consolas"/>
              </a:rPr>
              <a:t> </a:t>
            </a:r>
            <a:r>
              <a:rPr kern="1200" dirty="0">
                <a:solidFill>
                  <a:prstClr val="black"/>
                </a:solidFill>
                <a:latin typeface="Consolas"/>
                <a:cs typeface="Consolas"/>
              </a:rPr>
              <a:t>is a </a:t>
            </a:r>
            <a:r>
              <a:rPr kern="1200" spc="-5" dirty="0">
                <a:solidFill>
                  <a:prstClr val="black"/>
                </a:solidFill>
                <a:latin typeface="Consolas"/>
                <a:cs typeface="Consolas"/>
              </a:rPr>
              <a:t>good</a:t>
            </a:r>
            <a:r>
              <a:rPr kern="1200" spc="-45" dirty="0">
                <a:solidFill>
                  <a:prstClr val="black"/>
                </a:solidFill>
                <a:latin typeface="Consolas"/>
                <a:cs typeface="Consolas"/>
              </a:rPr>
              <a:t> </a:t>
            </a:r>
            <a:r>
              <a:rPr kern="1200" spc="-5" dirty="0">
                <a:solidFill>
                  <a:prstClr val="black"/>
                </a:solidFill>
                <a:latin typeface="Consolas"/>
                <a:cs typeface="Consolas"/>
              </a:rPr>
              <a:t>university</a:t>
            </a:r>
            <a:endParaRPr kern="1200" dirty="0">
              <a:solidFill>
                <a:prstClr val="black"/>
              </a:solidFill>
              <a:latin typeface="Consolas"/>
              <a:cs typeface="Consolas"/>
            </a:endParaRPr>
          </a:p>
        </p:txBody>
      </p:sp>
      <p:sp>
        <p:nvSpPr>
          <p:cNvPr id="19" name="object 4">
            <a:extLst>
              <a:ext uri="{FF2B5EF4-FFF2-40B4-BE49-F238E27FC236}">
                <a16:creationId xmlns:a16="http://schemas.microsoft.com/office/drawing/2014/main" id="{621A0BF6-CFBB-20DB-9A19-10EF8BB6012F}"/>
              </a:ext>
            </a:extLst>
          </p:cNvPr>
          <p:cNvSpPr txBox="1"/>
          <p:nvPr/>
        </p:nvSpPr>
        <p:spPr>
          <a:xfrm>
            <a:off x="5999988" y="2453639"/>
            <a:ext cx="1577340" cy="434340"/>
          </a:xfrm>
          <a:prstGeom prst="rect">
            <a:avLst/>
          </a:prstGeom>
          <a:solidFill>
            <a:srgbClr val="A9D18E"/>
          </a:solidFill>
          <a:ln w="9525">
            <a:solidFill>
              <a:srgbClr val="000000"/>
            </a:solidFill>
          </a:ln>
        </p:spPr>
        <p:txBody>
          <a:bodyPr vert="horz" wrap="square" lIns="0" tIns="66040" rIns="0" bIns="0" rtlCol="0">
            <a:spAutoFit/>
          </a:bodyPr>
          <a:lstStyle/>
          <a:p>
            <a:pPr marL="92075" rtl="0">
              <a:spcBef>
                <a:spcPts val="520"/>
              </a:spcBef>
            </a:pPr>
            <a:r>
              <a:rPr kern="1200" spc="-5" dirty="0">
                <a:solidFill>
                  <a:prstClr val="black"/>
                </a:solidFill>
                <a:latin typeface="Palatino Linotype"/>
                <a:cs typeface="Palatino Linotype"/>
              </a:rPr>
              <a:t>Human</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brain</a:t>
            </a:r>
            <a:endParaRPr kern="1200">
              <a:solidFill>
                <a:prstClr val="black"/>
              </a:solidFill>
              <a:latin typeface="Palatino Linotype"/>
              <a:cs typeface="Palatino Linotype"/>
            </a:endParaRPr>
          </a:p>
        </p:txBody>
      </p:sp>
      <p:sp>
        <p:nvSpPr>
          <p:cNvPr id="20" name="object 5">
            <a:extLst>
              <a:ext uri="{FF2B5EF4-FFF2-40B4-BE49-F238E27FC236}">
                <a16:creationId xmlns:a16="http://schemas.microsoft.com/office/drawing/2014/main" id="{83D0FFAC-9524-AFA7-9047-C454DC360ED5}"/>
              </a:ext>
            </a:extLst>
          </p:cNvPr>
          <p:cNvSpPr txBox="1"/>
          <p:nvPr/>
        </p:nvSpPr>
        <p:spPr>
          <a:xfrm>
            <a:off x="5509640" y="3295650"/>
            <a:ext cx="2531745" cy="2444259"/>
          </a:xfrm>
          <a:prstGeom prst="rect">
            <a:avLst/>
          </a:prstGeom>
        </p:spPr>
        <p:txBody>
          <a:bodyPr vert="horz" wrap="square" lIns="0" tIns="12700" rIns="0" bIns="0" rtlCol="0">
            <a:spAutoFit/>
          </a:bodyPr>
          <a:lstStyle/>
          <a:p>
            <a:pPr marL="29209" algn="ctr"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noun</a:t>
            </a:r>
            <a:r>
              <a:rPr kern="1200" spc="-10" dirty="0">
                <a:solidFill>
                  <a:prstClr val="black"/>
                </a:solidFill>
                <a:latin typeface="Consolas"/>
                <a:cs typeface="Consolas"/>
              </a:rPr>
              <a:t>,</a:t>
            </a:r>
            <a:r>
              <a:rPr kern="1200" spc="-45" dirty="0">
                <a:solidFill>
                  <a:prstClr val="black"/>
                </a:solidFill>
                <a:latin typeface="Consolas"/>
                <a:cs typeface="Consolas"/>
              </a:rPr>
              <a:t> </a:t>
            </a:r>
            <a:r>
              <a:rPr kern="1200" spc="-5" dirty="0">
                <a:solidFill>
                  <a:prstClr val="black"/>
                </a:solidFill>
                <a:latin typeface="Consolas"/>
                <a:cs typeface="Consolas"/>
              </a:rPr>
              <a:t>“</a:t>
            </a:r>
            <a:r>
              <a:rPr lang="en-US" altLang="zh-CN" kern="1200" spc="-5" dirty="0">
                <a:solidFill>
                  <a:prstClr val="black"/>
                </a:solidFill>
                <a:latin typeface="Consolas"/>
                <a:cs typeface="Consolas"/>
              </a:rPr>
              <a:t>BUPT</a:t>
            </a:r>
            <a:r>
              <a:rPr kern="1200" spc="-5" dirty="0">
                <a:solidFill>
                  <a:prstClr val="black"/>
                </a:solidFill>
                <a:latin typeface="Consolas"/>
                <a:cs typeface="Consolas"/>
              </a:rPr>
              <a:t>”&gt;</a:t>
            </a:r>
            <a:endParaRPr kern="1200" dirty="0">
              <a:solidFill>
                <a:prstClr val="black"/>
              </a:solidFill>
              <a:latin typeface="Consolas"/>
              <a:cs typeface="Consolas"/>
            </a:endParaRPr>
          </a:p>
          <a:p>
            <a:pPr rtl="0">
              <a:spcBef>
                <a:spcPts val="20"/>
              </a:spcBef>
            </a:pPr>
            <a:endParaRPr sz="1700" kern="1200" dirty="0">
              <a:solidFill>
                <a:prstClr val="black"/>
              </a:solidFill>
              <a:latin typeface="Consolas"/>
              <a:cs typeface="Consolas"/>
            </a:endParaRPr>
          </a:p>
          <a:p>
            <a:pPr algn="ctr" rtl="0"/>
            <a:r>
              <a:rPr kern="1200" spc="-10" dirty="0">
                <a:solidFill>
                  <a:prstClr val="black"/>
                </a:solidFill>
                <a:latin typeface="Consolas"/>
                <a:cs typeface="Consolas"/>
              </a:rPr>
              <a:t>&lt;</a:t>
            </a:r>
            <a:r>
              <a:rPr b="1" kern="1200" spc="-10" dirty="0">
                <a:solidFill>
                  <a:prstClr val="black"/>
                </a:solidFill>
                <a:latin typeface="Consolas"/>
                <a:cs typeface="Consolas"/>
              </a:rPr>
              <a:t>verb</a:t>
            </a:r>
            <a:r>
              <a:rPr kern="1200" spc="-10" dirty="0">
                <a:solidFill>
                  <a:prstClr val="black"/>
                </a:solidFill>
                <a:latin typeface="Consolas"/>
                <a:cs typeface="Consolas"/>
              </a:rPr>
              <a:t>,</a:t>
            </a:r>
            <a:r>
              <a:rPr kern="1200" spc="-30" dirty="0">
                <a:solidFill>
                  <a:prstClr val="black"/>
                </a:solidFill>
                <a:latin typeface="Consolas"/>
                <a:cs typeface="Consolas"/>
              </a:rPr>
              <a:t> </a:t>
            </a:r>
            <a:r>
              <a:rPr kern="1200" spc="-5" dirty="0">
                <a:solidFill>
                  <a:prstClr val="black"/>
                </a:solidFill>
                <a:latin typeface="Consolas"/>
                <a:cs typeface="Consolas"/>
              </a:rPr>
              <a:t>“is”&gt;</a:t>
            </a:r>
            <a:endParaRPr kern="1200" dirty="0">
              <a:solidFill>
                <a:prstClr val="black"/>
              </a:solidFill>
              <a:latin typeface="Consolas"/>
              <a:cs typeface="Consolas"/>
            </a:endParaRPr>
          </a:p>
          <a:p>
            <a:pPr rtl="0">
              <a:spcBef>
                <a:spcPts val="15"/>
              </a:spcBef>
            </a:pPr>
            <a:endParaRPr sz="1700" kern="1200" dirty="0">
              <a:solidFill>
                <a:prstClr val="black"/>
              </a:solidFill>
              <a:latin typeface="Consolas"/>
              <a:cs typeface="Consolas"/>
            </a:endParaRPr>
          </a:p>
          <a:p>
            <a:pPr algn="ctr" rtl="0"/>
            <a:r>
              <a:rPr kern="1200" spc="-5" dirty="0">
                <a:solidFill>
                  <a:prstClr val="black"/>
                </a:solidFill>
                <a:latin typeface="Consolas"/>
                <a:cs typeface="Consolas"/>
              </a:rPr>
              <a:t>&lt;</a:t>
            </a:r>
            <a:r>
              <a:rPr b="1" kern="1200" spc="-5" dirty="0">
                <a:solidFill>
                  <a:prstClr val="black"/>
                </a:solidFill>
                <a:latin typeface="Consolas"/>
                <a:cs typeface="Consolas"/>
              </a:rPr>
              <a:t>article</a:t>
            </a:r>
            <a:r>
              <a:rPr kern="1200" spc="-5" dirty="0">
                <a:solidFill>
                  <a:prstClr val="black"/>
                </a:solidFill>
                <a:latin typeface="Consolas"/>
                <a:cs typeface="Consolas"/>
              </a:rPr>
              <a:t>,</a:t>
            </a:r>
            <a:r>
              <a:rPr kern="1200" spc="-35" dirty="0">
                <a:solidFill>
                  <a:prstClr val="black"/>
                </a:solidFill>
                <a:latin typeface="Consolas"/>
                <a:cs typeface="Consolas"/>
              </a:rPr>
              <a:t> </a:t>
            </a:r>
            <a:r>
              <a:rPr kern="1200" spc="-5" dirty="0">
                <a:solidFill>
                  <a:prstClr val="black"/>
                </a:solidFill>
                <a:latin typeface="Consolas"/>
                <a:cs typeface="Consolas"/>
              </a:rPr>
              <a:t>“a”&gt;</a:t>
            </a:r>
            <a:endParaRPr kern="1200" dirty="0">
              <a:solidFill>
                <a:prstClr val="black"/>
              </a:solidFill>
              <a:latin typeface="Consolas"/>
              <a:cs typeface="Consolas"/>
            </a:endParaRPr>
          </a:p>
          <a:p>
            <a:pPr rtl="0">
              <a:spcBef>
                <a:spcPts val="20"/>
              </a:spcBef>
            </a:pPr>
            <a:endParaRPr sz="1700" kern="1200" dirty="0">
              <a:solidFill>
                <a:prstClr val="black"/>
              </a:solidFill>
              <a:latin typeface="Consolas"/>
              <a:cs typeface="Consolas"/>
            </a:endParaRPr>
          </a:p>
          <a:p>
            <a:pPr algn="ctr" rtl="0">
              <a:spcBef>
                <a:spcPts val="5"/>
              </a:spcBef>
            </a:pPr>
            <a:r>
              <a:rPr kern="1200" spc="-5" dirty="0">
                <a:solidFill>
                  <a:prstClr val="black"/>
                </a:solidFill>
                <a:latin typeface="Consolas"/>
                <a:cs typeface="Consolas"/>
              </a:rPr>
              <a:t>&lt;</a:t>
            </a:r>
            <a:r>
              <a:rPr b="1" kern="1200" spc="-5" dirty="0">
                <a:solidFill>
                  <a:prstClr val="black"/>
                </a:solidFill>
                <a:latin typeface="Consolas"/>
                <a:cs typeface="Consolas"/>
              </a:rPr>
              <a:t>adjective</a:t>
            </a:r>
            <a:r>
              <a:rPr kern="1200" spc="-5" dirty="0">
                <a:solidFill>
                  <a:prstClr val="black"/>
                </a:solidFill>
                <a:latin typeface="Consolas"/>
                <a:cs typeface="Consolas"/>
              </a:rPr>
              <a:t>,</a:t>
            </a:r>
            <a:r>
              <a:rPr kern="1200" spc="-55" dirty="0">
                <a:solidFill>
                  <a:prstClr val="black"/>
                </a:solidFill>
                <a:latin typeface="Consolas"/>
                <a:cs typeface="Consolas"/>
              </a:rPr>
              <a:t> </a:t>
            </a:r>
            <a:r>
              <a:rPr kern="1200" spc="-5" dirty="0">
                <a:solidFill>
                  <a:prstClr val="black"/>
                </a:solidFill>
                <a:latin typeface="Consolas"/>
                <a:cs typeface="Consolas"/>
              </a:rPr>
              <a:t>“good”&gt;</a:t>
            </a:r>
            <a:endParaRPr kern="1200" dirty="0">
              <a:solidFill>
                <a:prstClr val="black"/>
              </a:solidFill>
              <a:latin typeface="Consolas"/>
              <a:cs typeface="Consolas"/>
            </a:endParaRPr>
          </a:p>
          <a:p>
            <a:pPr rtl="0">
              <a:spcBef>
                <a:spcPts val="15"/>
              </a:spcBef>
            </a:pPr>
            <a:endParaRPr sz="1700" kern="1200" dirty="0">
              <a:solidFill>
                <a:prstClr val="black"/>
              </a:solidFill>
              <a:latin typeface="Consolas"/>
              <a:cs typeface="Consolas"/>
            </a:endParaRPr>
          </a:p>
          <a:p>
            <a:pPr algn="ctr" rtl="0">
              <a:spcBef>
                <a:spcPts val="5"/>
              </a:spcBef>
            </a:pPr>
            <a:r>
              <a:rPr kern="1200" spc="-10" dirty="0">
                <a:solidFill>
                  <a:prstClr val="black"/>
                </a:solidFill>
                <a:latin typeface="Consolas"/>
                <a:cs typeface="Consolas"/>
              </a:rPr>
              <a:t>&lt;</a:t>
            </a:r>
            <a:r>
              <a:rPr b="1" kern="1200" spc="-10" dirty="0">
                <a:solidFill>
                  <a:prstClr val="black"/>
                </a:solidFill>
                <a:latin typeface="Consolas"/>
                <a:cs typeface="Consolas"/>
              </a:rPr>
              <a:t>noun</a:t>
            </a:r>
            <a:r>
              <a:rPr kern="1200" spc="-10" dirty="0">
                <a:solidFill>
                  <a:prstClr val="black"/>
                </a:solidFill>
                <a:latin typeface="Consolas"/>
                <a:cs typeface="Consolas"/>
              </a:rPr>
              <a:t>,</a:t>
            </a:r>
            <a:r>
              <a:rPr kern="1200" spc="-65" dirty="0">
                <a:solidFill>
                  <a:prstClr val="black"/>
                </a:solidFill>
                <a:latin typeface="Consolas"/>
                <a:cs typeface="Consolas"/>
              </a:rPr>
              <a:t> </a:t>
            </a:r>
            <a:r>
              <a:rPr kern="1200" spc="-5" dirty="0">
                <a:solidFill>
                  <a:prstClr val="black"/>
                </a:solidFill>
                <a:latin typeface="Consolas"/>
                <a:cs typeface="Consolas"/>
              </a:rPr>
              <a:t>“university”&gt;</a:t>
            </a:r>
            <a:endParaRPr kern="1200" dirty="0">
              <a:solidFill>
                <a:prstClr val="black"/>
              </a:solidFill>
              <a:latin typeface="Consolas"/>
              <a:cs typeface="Consolas"/>
            </a:endParaRPr>
          </a:p>
        </p:txBody>
      </p:sp>
      <p:sp>
        <p:nvSpPr>
          <p:cNvPr id="21" name="object 6">
            <a:extLst>
              <a:ext uri="{FF2B5EF4-FFF2-40B4-BE49-F238E27FC236}">
                <a16:creationId xmlns:a16="http://schemas.microsoft.com/office/drawing/2014/main" id="{96008C38-4EE6-F300-631D-7694E36694DD}"/>
              </a:ext>
            </a:extLst>
          </p:cNvPr>
          <p:cNvSpPr/>
          <p:nvPr/>
        </p:nvSpPr>
        <p:spPr>
          <a:xfrm>
            <a:off x="6736333" y="2124455"/>
            <a:ext cx="103505" cy="330200"/>
          </a:xfrm>
          <a:custGeom>
            <a:avLst/>
            <a:gdLst/>
            <a:ahLst/>
            <a:cxnLst/>
            <a:rect l="l" t="t" r="r" b="b"/>
            <a:pathLst>
              <a:path w="103504" h="330200">
                <a:moveTo>
                  <a:pt x="8127" y="191516"/>
                </a:moveTo>
                <a:lnTo>
                  <a:pt x="4825" y="192913"/>
                </a:lnTo>
                <a:lnTo>
                  <a:pt x="1650" y="194183"/>
                </a:lnTo>
                <a:lnTo>
                  <a:pt x="0" y="197866"/>
                </a:lnTo>
                <a:lnTo>
                  <a:pt x="52705" y="330200"/>
                </a:lnTo>
                <a:lnTo>
                  <a:pt x="59369" y="312674"/>
                </a:lnTo>
                <a:lnTo>
                  <a:pt x="46227" y="312674"/>
                </a:lnTo>
                <a:lnTo>
                  <a:pt x="45952" y="278799"/>
                </a:lnTo>
                <a:lnTo>
                  <a:pt x="11811" y="193167"/>
                </a:lnTo>
                <a:lnTo>
                  <a:pt x="8127" y="191516"/>
                </a:lnTo>
                <a:close/>
              </a:path>
              <a:path w="103504" h="330200">
                <a:moveTo>
                  <a:pt x="45952" y="278799"/>
                </a:moveTo>
                <a:lnTo>
                  <a:pt x="46227" y="312674"/>
                </a:lnTo>
                <a:lnTo>
                  <a:pt x="58927" y="312674"/>
                </a:lnTo>
                <a:lnTo>
                  <a:pt x="58909" y="310388"/>
                </a:lnTo>
                <a:lnTo>
                  <a:pt x="46609" y="310388"/>
                </a:lnTo>
                <a:lnTo>
                  <a:pt x="52433" y="295054"/>
                </a:lnTo>
                <a:lnTo>
                  <a:pt x="45952" y="278799"/>
                </a:lnTo>
                <a:close/>
              </a:path>
              <a:path w="103504" h="330200">
                <a:moveTo>
                  <a:pt x="95123" y="190881"/>
                </a:moveTo>
                <a:lnTo>
                  <a:pt x="91440" y="192532"/>
                </a:lnTo>
                <a:lnTo>
                  <a:pt x="90170" y="195707"/>
                </a:lnTo>
                <a:lnTo>
                  <a:pt x="58651" y="278683"/>
                </a:lnTo>
                <a:lnTo>
                  <a:pt x="58927" y="312674"/>
                </a:lnTo>
                <a:lnTo>
                  <a:pt x="59369" y="312674"/>
                </a:lnTo>
                <a:lnTo>
                  <a:pt x="102108" y="200279"/>
                </a:lnTo>
                <a:lnTo>
                  <a:pt x="103250" y="196977"/>
                </a:lnTo>
                <a:lnTo>
                  <a:pt x="101600" y="193294"/>
                </a:lnTo>
                <a:lnTo>
                  <a:pt x="98425" y="192024"/>
                </a:lnTo>
                <a:lnTo>
                  <a:pt x="95123" y="190881"/>
                </a:lnTo>
                <a:close/>
              </a:path>
              <a:path w="103504" h="330200">
                <a:moveTo>
                  <a:pt x="52433" y="295054"/>
                </a:moveTo>
                <a:lnTo>
                  <a:pt x="46609" y="310388"/>
                </a:lnTo>
                <a:lnTo>
                  <a:pt x="58547" y="310388"/>
                </a:lnTo>
                <a:lnTo>
                  <a:pt x="52433" y="295054"/>
                </a:lnTo>
                <a:close/>
              </a:path>
              <a:path w="103504" h="330200">
                <a:moveTo>
                  <a:pt x="58651" y="278683"/>
                </a:moveTo>
                <a:lnTo>
                  <a:pt x="52433" y="295054"/>
                </a:lnTo>
                <a:lnTo>
                  <a:pt x="58547" y="310388"/>
                </a:lnTo>
                <a:lnTo>
                  <a:pt x="58909" y="310388"/>
                </a:lnTo>
                <a:lnTo>
                  <a:pt x="58651" y="278683"/>
                </a:lnTo>
                <a:close/>
              </a:path>
              <a:path w="103504" h="330200">
                <a:moveTo>
                  <a:pt x="56388" y="0"/>
                </a:moveTo>
                <a:lnTo>
                  <a:pt x="43688" y="0"/>
                </a:lnTo>
                <a:lnTo>
                  <a:pt x="45952" y="278799"/>
                </a:lnTo>
                <a:lnTo>
                  <a:pt x="52433" y="295054"/>
                </a:lnTo>
                <a:lnTo>
                  <a:pt x="58651" y="278683"/>
                </a:lnTo>
                <a:lnTo>
                  <a:pt x="5638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7">
            <a:extLst>
              <a:ext uri="{FF2B5EF4-FFF2-40B4-BE49-F238E27FC236}">
                <a16:creationId xmlns:a16="http://schemas.microsoft.com/office/drawing/2014/main" id="{65AA937C-60E6-9C7E-39D1-C18D6759D725}"/>
              </a:ext>
            </a:extLst>
          </p:cNvPr>
          <p:cNvSpPr/>
          <p:nvPr/>
        </p:nvSpPr>
        <p:spPr>
          <a:xfrm>
            <a:off x="6735826" y="2887979"/>
            <a:ext cx="103505" cy="321945"/>
          </a:xfrm>
          <a:custGeom>
            <a:avLst/>
            <a:gdLst/>
            <a:ahLst/>
            <a:cxnLst/>
            <a:rect l="l" t="t" r="r" b="b"/>
            <a:pathLst>
              <a:path w="103504" h="321944">
                <a:moveTo>
                  <a:pt x="8254" y="182625"/>
                </a:moveTo>
                <a:lnTo>
                  <a:pt x="1650" y="185166"/>
                </a:lnTo>
                <a:lnTo>
                  <a:pt x="0" y="188722"/>
                </a:lnTo>
                <a:lnTo>
                  <a:pt x="1270" y="192024"/>
                </a:lnTo>
                <a:lnTo>
                  <a:pt x="50546" y="321945"/>
                </a:lnTo>
                <a:lnTo>
                  <a:pt x="57481" y="304546"/>
                </a:lnTo>
                <a:lnTo>
                  <a:pt x="44323" y="304419"/>
                </a:lnTo>
                <a:lnTo>
                  <a:pt x="44605" y="270571"/>
                </a:lnTo>
                <a:lnTo>
                  <a:pt x="13080" y="187579"/>
                </a:lnTo>
                <a:lnTo>
                  <a:pt x="11938" y="184277"/>
                </a:lnTo>
                <a:lnTo>
                  <a:pt x="8254" y="182625"/>
                </a:lnTo>
                <a:close/>
              </a:path>
              <a:path w="103504" h="321944">
                <a:moveTo>
                  <a:pt x="44605" y="270571"/>
                </a:moveTo>
                <a:lnTo>
                  <a:pt x="44323" y="304419"/>
                </a:lnTo>
                <a:lnTo>
                  <a:pt x="57023" y="304546"/>
                </a:lnTo>
                <a:lnTo>
                  <a:pt x="57042" y="302260"/>
                </a:lnTo>
                <a:lnTo>
                  <a:pt x="44830" y="302133"/>
                </a:lnTo>
                <a:lnTo>
                  <a:pt x="50849" y="287010"/>
                </a:lnTo>
                <a:lnTo>
                  <a:pt x="44605" y="270571"/>
                </a:lnTo>
                <a:close/>
              </a:path>
              <a:path w="103504" h="321944">
                <a:moveTo>
                  <a:pt x="95250" y="183387"/>
                </a:moveTo>
                <a:lnTo>
                  <a:pt x="91440" y="184912"/>
                </a:lnTo>
                <a:lnTo>
                  <a:pt x="90170" y="188214"/>
                </a:lnTo>
                <a:lnTo>
                  <a:pt x="57304" y="270791"/>
                </a:lnTo>
                <a:lnTo>
                  <a:pt x="57023" y="304546"/>
                </a:lnTo>
                <a:lnTo>
                  <a:pt x="57481" y="304546"/>
                </a:lnTo>
                <a:lnTo>
                  <a:pt x="101980" y="192912"/>
                </a:lnTo>
                <a:lnTo>
                  <a:pt x="103250" y="189611"/>
                </a:lnTo>
                <a:lnTo>
                  <a:pt x="101726" y="185928"/>
                </a:lnTo>
                <a:lnTo>
                  <a:pt x="98425" y="184658"/>
                </a:lnTo>
                <a:lnTo>
                  <a:pt x="95250" y="183387"/>
                </a:lnTo>
                <a:close/>
              </a:path>
              <a:path w="103504" h="321944">
                <a:moveTo>
                  <a:pt x="50849" y="287010"/>
                </a:moveTo>
                <a:lnTo>
                  <a:pt x="44830" y="302133"/>
                </a:lnTo>
                <a:lnTo>
                  <a:pt x="56642" y="302260"/>
                </a:lnTo>
                <a:lnTo>
                  <a:pt x="50849" y="287010"/>
                </a:lnTo>
                <a:close/>
              </a:path>
              <a:path w="103504" h="321944">
                <a:moveTo>
                  <a:pt x="57304" y="270791"/>
                </a:moveTo>
                <a:lnTo>
                  <a:pt x="50849" y="287010"/>
                </a:lnTo>
                <a:lnTo>
                  <a:pt x="56642" y="302260"/>
                </a:lnTo>
                <a:lnTo>
                  <a:pt x="57042" y="302260"/>
                </a:lnTo>
                <a:lnTo>
                  <a:pt x="57304" y="270791"/>
                </a:lnTo>
                <a:close/>
              </a:path>
              <a:path w="103504" h="321944">
                <a:moveTo>
                  <a:pt x="59563" y="0"/>
                </a:moveTo>
                <a:lnTo>
                  <a:pt x="46863" y="0"/>
                </a:lnTo>
                <a:lnTo>
                  <a:pt x="44605" y="270571"/>
                </a:lnTo>
                <a:lnTo>
                  <a:pt x="50849" y="287010"/>
                </a:lnTo>
                <a:lnTo>
                  <a:pt x="57304" y="270791"/>
                </a:lnTo>
                <a:lnTo>
                  <a:pt x="5956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8">
            <a:extLst>
              <a:ext uri="{FF2B5EF4-FFF2-40B4-BE49-F238E27FC236}">
                <a16:creationId xmlns:a16="http://schemas.microsoft.com/office/drawing/2014/main" id="{4F70D235-34ED-171B-2D45-928D7758D4FD}"/>
              </a:ext>
            </a:extLst>
          </p:cNvPr>
          <p:cNvSpPr txBox="1"/>
          <p:nvPr/>
        </p:nvSpPr>
        <p:spPr>
          <a:xfrm>
            <a:off x="1621536" y="2454275"/>
            <a:ext cx="2129155" cy="434340"/>
          </a:xfrm>
          <a:prstGeom prst="rect">
            <a:avLst/>
          </a:prstGeom>
          <a:solidFill>
            <a:srgbClr val="FFC000"/>
          </a:solidFill>
          <a:ln w="12700">
            <a:solidFill>
              <a:srgbClr val="000000"/>
            </a:solidFill>
          </a:ln>
        </p:spPr>
        <p:txBody>
          <a:bodyPr vert="horz" wrap="square" lIns="0" tIns="65405" rIns="0" bIns="0" rtlCol="0">
            <a:spAutoFit/>
          </a:bodyPr>
          <a:lstStyle/>
          <a:p>
            <a:pPr marL="215265" rtl="0">
              <a:spcBef>
                <a:spcPts val="515"/>
              </a:spcBef>
            </a:pPr>
            <a:r>
              <a:rPr kern="1200" spc="-5" dirty="0">
                <a:solidFill>
                  <a:prstClr val="black"/>
                </a:solidFill>
                <a:latin typeface="Palatino Linotype"/>
                <a:cs typeface="Palatino Linotype"/>
              </a:rPr>
              <a:t>Lexical</a:t>
            </a:r>
            <a:r>
              <a:rPr kern="1200" spc="-95" dirty="0">
                <a:solidFill>
                  <a:prstClr val="black"/>
                </a:solidFill>
                <a:latin typeface="Palatino Linotype"/>
                <a:cs typeface="Palatino Linotype"/>
              </a:rPr>
              <a:t> </a:t>
            </a:r>
            <a:r>
              <a:rPr kern="1200" dirty="0">
                <a:solidFill>
                  <a:prstClr val="black"/>
                </a:solidFill>
                <a:latin typeface="Palatino Linotype"/>
                <a:cs typeface="Palatino Linotype"/>
              </a:rPr>
              <a:t>Analyzer</a:t>
            </a:r>
            <a:endParaRPr kern="1200">
              <a:solidFill>
                <a:prstClr val="black"/>
              </a:solidFill>
              <a:latin typeface="Palatino Linotype"/>
              <a:cs typeface="Palatino Linotype"/>
            </a:endParaRPr>
          </a:p>
        </p:txBody>
      </p:sp>
      <p:sp>
        <p:nvSpPr>
          <p:cNvPr id="24" name="object 9">
            <a:extLst>
              <a:ext uri="{FF2B5EF4-FFF2-40B4-BE49-F238E27FC236}">
                <a16:creationId xmlns:a16="http://schemas.microsoft.com/office/drawing/2014/main" id="{15572A4E-C56F-9A4E-DDFC-C57004003193}"/>
              </a:ext>
            </a:extLst>
          </p:cNvPr>
          <p:cNvSpPr/>
          <p:nvPr/>
        </p:nvSpPr>
        <p:spPr>
          <a:xfrm>
            <a:off x="2635123" y="2125979"/>
            <a:ext cx="103505" cy="328930"/>
          </a:xfrm>
          <a:custGeom>
            <a:avLst/>
            <a:gdLst/>
            <a:ahLst/>
            <a:cxnLst/>
            <a:rect l="l" t="t" r="r" b="b"/>
            <a:pathLst>
              <a:path w="103505" h="328930">
                <a:moveTo>
                  <a:pt x="8254" y="189737"/>
                </a:moveTo>
                <a:lnTo>
                  <a:pt x="1650" y="192278"/>
                </a:lnTo>
                <a:lnTo>
                  <a:pt x="0" y="195961"/>
                </a:lnTo>
                <a:lnTo>
                  <a:pt x="1269" y="199262"/>
                </a:lnTo>
                <a:lnTo>
                  <a:pt x="51688" y="328675"/>
                </a:lnTo>
                <a:lnTo>
                  <a:pt x="58467" y="311277"/>
                </a:lnTo>
                <a:lnTo>
                  <a:pt x="45338" y="311277"/>
                </a:lnTo>
                <a:lnTo>
                  <a:pt x="45338" y="277186"/>
                </a:lnTo>
                <a:lnTo>
                  <a:pt x="13207" y="194564"/>
                </a:lnTo>
                <a:lnTo>
                  <a:pt x="11937" y="191389"/>
                </a:lnTo>
                <a:lnTo>
                  <a:pt x="8254" y="189737"/>
                </a:lnTo>
                <a:close/>
              </a:path>
              <a:path w="103505" h="328930">
                <a:moveTo>
                  <a:pt x="45338" y="277186"/>
                </a:moveTo>
                <a:lnTo>
                  <a:pt x="45338" y="311277"/>
                </a:lnTo>
                <a:lnTo>
                  <a:pt x="58038" y="311277"/>
                </a:lnTo>
                <a:lnTo>
                  <a:pt x="58038" y="308864"/>
                </a:lnTo>
                <a:lnTo>
                  <a:pt x="45719" y="308864"/>
                </a:lnTo>
                <a:lnTo>
                  <a:pt x="51688" y="293515"/>
                </a:lnTo>
                <a:lnTo>
                  <a:pt x="45338" y="277186"/>
                </a:lnTo>
                <a:close/>
              </a:path>
              <a:path w="103505" h="328930">
                <a:moveTo>
                  <a:pt x="95122" y="189737"/>
                </a:moveTo>
                <a:lnTo>
                  <a:pt x="91439" y="191389"/>
                </a:lnTo>
                <a:lnTo>
                  <a:pt x="90169" y="194564"/>
                </a:lnTo>
                <a:lnTo>
                  <a:pt x="58038" y="277186"/>
                </a:lnTo>
                <a:lnTo>
                  <a:pt x="58038" y="311277"/>
                </a:lnTo>
                <a:lnTo>
                  <a:pt x="58467" y="311277"/>
                </a:lnTo>
                <a:lnTo>
                  <a:pt x="102107" y="199262"/>
                </a:lnTo>
                <a:lnTo>
                  <a:pt x="103377" y="195961"/>
                </a:lnTo>
                <a:lnTo>
                  <a:pt x="101726" y="192278"/>
                </a:lnTo>
                <a:lnTo>
                  <a:pt x="95122" y="189737"/>
                </a:lnTo>
                <a:close/>
              </a:path>
              <a:path w="103505" h="328930">
                <a:moveTo>
                  <a:pt x="51688" y="293515"/>
                </a:moveTo>
                <a:lnTo>
                  <a:pt x="45719" y="308864"/>
                </a:lnTo>
                <a:lnTo>
                  <a:pt x="57657" y="308864"/>
                </a:lnTo>
                <a:lnTo>
                  <a:pt x="51688" y="293515"/>
                </a:lnTo>
                <a:close/>
              </a:path>
              <a:path w="103505" h="328930">
                <a:moveTo>
                  <a:pt x="58038" y="277186"/>
                </a:moveTo>
                <a:lnTo>
                  <a:pt x="51688" y="293515"/>
                </a:lnTo>
                <a:lnTo>
                  <a:pt x="57657" y="308864"/>
                </a:lnTo>
                <a:lnTo>
                  <a:pt x="58038" y="308864"/>
                </a:lnTo>
                <a:lnTo>
                  <a:pt x="58038" y="277186"/>
                </a:lnTo>
                <a:close/>
              </a:path>
              <a:path w="103505" h="328930">
                <a:moveTo>
                  <a:pt x="58038" y="0"/>
                </a:moveTo>
                <a:lnTo>
                  <a:pt x="45338" y="0"/>
                </a:lnTo>
                <a:lnTo>
                  <a:pt x="45338" y="277186"/>
                </a:lnTo>
                <a:lnTo>
                  <a:pt x="51688" y="293515"/>
                </a:lnTo>
                <a:lnTo>
                  <a:pt x="58038" y="277186"/>
                </a:lnTo>
                <a:lnTo>
                  <a:pt x="5803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0">
            <a:extLst>
              <a:ext uri="{FF2B5EF4-FFF2-40B4-BE49-F238E27FC236}">
                <a16:creationId xmlns:a16="http://schemas.microsoft.com/office/drawing/2014/main" id="{ADDBFD20-BC22-B84B-092F-CED131350B86}"/>
              </a:ext>
            </a:extLst>
          </p:cNvPr>
          <p:cNvSpPr txBox="1"/>
          <p:nvPr/>
        </p:nvSpPr>
        <p:spPr>
          <a:xfrm>
            <a:off x="773074" y="1776221"/>
            <a:ext cx="378587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position </a:t>
            </a:r>
            <a:r>
              <a:rPr kern="1200" dirty="0">
                <a:solidFill>
                  <a:prstClr val="black"/>
                </a:solidFill>
                <a:latin typeface="Consolas"/>
                <a:cs typeface="Consolas"/>
              </a:rPr>
              <a:t>= </a:t>
            </a:r>
            <a:r>
              <a:rPr kern="1200" spc="-5" dirty="0">
                <a:solidFill>
                  <a:prstClr val="black"/>
                </a:solidFill>
                <a:latin typeface="Consolas"/>
                <a:cs typeface="Consolas"/>
              </a:rPr>
              <a:t>initial </a:t>
            </a:r>
            <a:r>
              <a:rPr kern="1200" dirty="0">
                <a:solidFill>
                  <a:prstClr val="black"/>
                </a:solidFill>
                <a:latin typeface="Consolas"/>
                <a:cs typeface="Consolas"/>
              </a:rPr>
              <a:t>+ </a:t>
            </a:r>
            <a:r>
              <a:rPr kern="1200" spc="-5" dirty="0">
                <a:solidFill>
                  <a:prstClr val="black"/>
                </a:solidFill>
                <a:latin typeface="Consolas"/>
                <a:cs typeface="Consolas"/>
              </a:rPr>
              <a:t>rate </a:t>
            </a:r>
            <a:r>
              <a:rPr kern="1200" dirty="0">
                <a:solidFill>
                  <a:prstClr val="black"/>
                </a:solidFill>
                <a:latin typeface="Consolas"/>
                <a:cs typeface="Consolas"/>
              </a:rPr>
              <a:t>*</a:t>
            </a:r>
            <a:r>
              <a:rPr kern="1200" spc="-120" dirty="0">
                <a:solidFill>
                  <a:prstClr val="black"/>
                </a:solidFill>
                <a:latin typeface="Consolas"/>
                <a:cs typeface="Consolas"/>
              </a:rPr>
              <a:t> </a:t>
            </a:r>
            <a:r>
              <a:rPr kern="1200" dirty="0">
                <a:solidFill>
                  <a:prstClr val="black"/>
                </a:solidFill>
                <a:latin typeface="Consolas"/>
                <a:cs typeface="Consolas"/>
              </a:rPr>
              <a:t>60</a:t>
            </a:r>
            <a:endParaRPr kern="1200">
              <a:solidFill>
                <a:prstClr val="black"/>
              </a:solidFill>
              <a:latin typeface="Consolas"/>
              <a:cs typeface="Consolas"/>
            </a:endParaRPr>
          </a:p>
        </p:txBody>
      </p:sp>
      <p:sp>
        <p:nvSpPr>
          <p:cNvPr id="26" name="object 11">
            <a:extLst>
              <a:ext uri="{FF2B5EF4-FFF2-40B4-BE49-F238E27FC236}">
                <a16:creationId xmlns:a16="http://schemas.microsoft.com/office/drawing/2014/main" id="{84F8038B-0862-943F-6EF7-F30B9FA22AF8}"/>
              </a:ext>
            </a:extLst>
          </p:cNvPr>
          <p:cNvSpPr txBox="1"/>
          <p:nvPr/>
        </p:nvSpPr>
        <p:spPr>
          <a:xfrm>
            <a:off x="2229739" y="3205937"/>
            <a:ext cx="903605" cy="3000375"/>
          </a:xfrm>
          <a:prstGeom prst="rect">
            <a:avLst/>
          </a:prstGeom>
        </p:spPr>
        <p:txBody>
          <a:bodyPr vert="horz" wrap="square" lIns="0" tIns="12700" rIns="0" bIns="0" rtlCol="0">
            <a:spAutoFit/>
          </a:bodyPr>
          <a:lstStyle/>
          <a:p>
            <a:pPr algn="ctr"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dirty="0">
                <a:solidFill>
                  <a:prstClr val="black"/>
                </a:solidFill>
                <a:latin typeface="Consolas"/>
                <a:cs typeface="Consolas"/>
              </a:rPr>
              <a:t>1&gt;</a:t>
            </a:r>
            <a:endParaRPr kern="1200">
              <a:solidFill>
                <a:prstClr val="black"/>
              </a:solidFill>
              <a:latin typeface="Consolas"/>
              <a:cs typeface="Consolas"/>
            </a:endParaRPr>
          </a:p>
          <a:p>
            <a:pPr marL="7620" algn="ctr" rtl="0">
              <a:spcBef>
                <a:spcPts val="1370"/>
              </a:spcBef>
            </a:pPr>
            <a:r>
              <a:rPr kern="1200" spc="-10" dirty="0">
                <a:solidFill>
                  <a:prstClr val="black"/>
                </a:solidFill>
                <a:latin typeface="Consolas"/>
                <a:cs typeface="Consolas"/>
              </a:rPr>
              <a:t>&lt;=&gt;</a:t>
            </a:r>
            <a:endParaRPr kern="1200">
              <a:solidFill>
                <a:prstClr val="black"/>
              </a:solidFill>
              <a:latin typeface="Consolas"/>
              <a:cs typeface="Consolas"/>
            </a:endParaRPr>
          </a:p>
          <a:p>
            <a:pPr algn="ctr" rtl="0">
              <a:spcBef>
                <a:spcPts val="1415"/>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dirty="0">
                <a:solidFill>
                  <a:prstClr val="black"/>
                </a:solidFill>
                <a:latin typeface="Consolas"/>
                <a:cs typeface="Consolas"/>
              </a:rPr>
              <a:t>2&gt;</a:t>
            </a:r>
            <a:endParaRPr kern="1200">
              <a:solidFill>
                <a:prstClr val="black"/>
              </a:solidFill>
              <a:latin typeface="Consolas"/>
              <a:cs typeface="Consolas"/>
            </a:endParaRPr>
          </a:p>
          <a:p>
            <a:pPr marL="3175" algn="ctr" rtl="0">
              <a:spcBef>
                <a:spcPts val="1370"/>
              </a:spcBef>
            </a:pPr>
            <a:r>
              <a:rPr kern="1200" spc="-10" dirty="0">
                <a:solidFill>
                  <a:prstClr val="black"/>
                </a:solidFill>
                <a:latin typeface="Consolas"/>
                <a:cs typeface="Consolas"/>
              </a:rPr>
              <a:t>&lt;+&gt;</a:t>
            </a:r>
            <a:endParaRPr kern="1200">
              <a:solidFill>
                <a:prstClr val="black"/>
              </a:solidFill>
              <a:latin typeface="Consolas"/>
              <a:cs typeface="Consolas"/>
            </a:endParaRPr>
          </a:p>
          <a:p>
            <a:pPr algn="ctr" rtl="0">
              <a:spcBef>
                <a:spcPts val="1405"/>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3&gt;</a:t>
            </a:r>
            <a:endParaRPr kern="1200">
              <a:solidFill>
                <a:prstClr val="black"/>
              </a:solidFill>
              <a:latin typeface="Consolas"/>
              <a:cs typeface="Consolas"/>
            </a:endParaRPr>
          </a:p>
          <a:p>
            <a:pPr marL="3175" algn="ctr" rtl="0">
              <a:spcBef>
                <a:spcPts val="1375"/>
              </a:spcBef>
            </a:pPr>
            <a:r>
              <a:rPr kern="1200" spc="-10" dirty="0">
                <a:solidFill>
                  <a:prstClr val="black"/>
                </a:solidFill>
                <a:latin typeface="Consolas"/>
                <a:cs typeface="Consolas"/>
              </a:rPr>
              <a:t>&lt;*&gt;</a:t>
            </a:r>
            <a:endParaRPr kern="1200">
              <a:solidFill>
                <a:prstClr val="black"/>
              </a:solidFill>
              <a:latin typeface="Consolas"/>
              <a:cs typeface="Consolas"/>
            </a:endParaRPr>
          </a:p>
          <a:p>
            <a:pPr marL="1905" algn="ctr" rtl="0">
              <a:spcBef>
                <a:spcPts val="1365"/>
              </a:spcBef>
            </a:pPr>
            <a:r>
              <a:rPr kern="1200" spc="-10" dirty="0">
                <a:solidFill>
                  <a:prstClr val="black"/>
                </a:solidFill>
                <a:latin typeface="Consolas"/>
                <a:cs typeface="Consolas"/>
              </a:rPr>
              <a:t>&lt;60&gt;</a:t>
            </a:r>
            <a:endParaRPr kern="1200">
              <a:solidFill>
                <a:prstClr val="black"/>
              </a:solidFill>
              <a:latin typeface="Consolas"/>
              <a:cs typeface="Consolas"/>
            </a:endParaRPr>
          </a:p>
        </p:txBody>
      </p:sp>
      <p:sp>
        <p:nvSpPr>
          <p:cNvPr id="27" name="object 12">
            <a:extLst>
              <a:ext uri="{FF2B5EF4-FFF2-40B4-BE49-F238E27FC236}">
                <a16:creationId xmlns:a16="http://schemas.microsoft.com/office/drawing/2014/main" id="{8B778ABC-8BC8-EC01-46AE-15ED7D817492}"/>
              </a:ext>
            </a:extLst>
          </p:cNvPr>
          <p:cNvSpPr/>
          <p:nvPr/>
        </p:nvSpPr>
        <p:spPr>
          <a:xfrm>
            <a:off x="2630170" y="2887852"/>
            <a:ext cx="103505" cy="328930"/>
          </a:xfrm>
          <a:custGeom>
            <a:avLst/>
            <a:gdLst/>
            <a:ahLst/>
            <a:cxnLst/>
            <a:rect l="l" t="t" r="r" b="b"/>
            <a:pathLst>
              <a:path w="103505" h="328930">
                <a:moveTo>
                  <a:pt x="8255" y="189102"/>
                </a:moveTo>
                <a:lnTo>
                  <a:pt x="4953" y="190246"/>
                </a:lnTo>
                <a:lnTo>
                  <a:pt x="1650" y="191516"/>
                </a:lnTo>
                <a:lnTo>
                  <a:pt x="0" y="195072"/>
                </a:lnTo>
                <a:lnTo>
                  <a:pt x="1143" y="198374"/>
                </a:lnTo>
                <a:lnTo>
                  <a:pt x="49022" y="328802"/>
                </a:lnTo>
                <a:lnTo>
                  <a:pt x="56128" y="311531"/>
                </a:lnTo>
                <a:lnTo>
                  <a:pt x="43053" y="311276"/>
                </a:lnTo>
                <a:lnTo>
                  <a:pt x="43703" y="277370"/>
                </a:lnTo>
                <a:lnTo>
                  <a:pt x="13081" y="194056"/>
                </a:lnTo>
                <a:lnTo>
                  <a:pt x="11937" y="190754"/>
                </a:lnTo>
                <a:lnTo>
                  <a:pt x="8255" y="189102"/>
                </a:lnTo>
                <a:close/>
              </a:path>
              <a:path w="103505" h="328930">
                <a:moveTo>
                  <a:pt x="43703" y="277370"/>
                </a:moveTo>
                <a:lnTo>
                  <a:pt x="43053" y="311276"/>
                </a:lnTo>
                <a:lnTo>
                  <a:pt x="55753" y="311531"/>
                </a:lnTo>
                <a:lnTo>
                  <a:pt x="55799" y="309118"/>
                </a:lnTo>
                <a:lnTo>
                  <a:pt x="43434" y="308991"/>
                </a:lnTo>
                <a:lnTo>
                  <a:pt x="49716" y="293729"/>
                </a:lnTo>
                <a:lnTo>
                  <a:pt x="43703" y="277370"/>
                </a:lnTo>
                <a:close/>
              </a:path>
              <a:path w="103505" h="328930">
                <a:moveTo>
                  <a:pt x="95123" y="190754"/>
                </a:moveTo>
                <a:lnTo>
                  <a:pt x="91440" y="192277"/>
                </a:lnTo>
                <a:lnTo>
                  <a:pt x="90169" y="195452"/>
                </a:lnTo>
                <a:lnTo>
                  <a:pt x="56406" y="277477"/>
                </a:lnTo>
                <a:lnTo>
                  <a:pt x="55753" y="311531"/>
                </a:lnTo>
                <a:lnTo>
                  <a:pt x="56128" y="311531"/>
                </a:lnTo>
                <a:lnTo>
                  <a:pt x="101854" y="200406"/>
                </a:lnTo>
                <a:lnTo>
                  <a:pt x="103250" y="197104"/>
                </a:lnTo>
                <a:lnTo>
                  <a:pt x="101727" y="193421"/>
                </a:lnTo>
                <a:lnTo>
                  <a:pt x="98425" y="192024"/>
                </a:lnTo>
                <a:lnTo>
                  <a:pt x="95123" y="190754"/>
                </a:lnTo>
                <a:close/>
              </a:path>
              <a:path w="103505" h="328930">
                <a:moveTo>
                  <a:pt x="49716" y="293729"/>
                </a:moveTo>
                <a:lnTo>
                  <a:pt x="43434" y="308991"/>
                </a:lnTo>
                <a:lnTo>
                  <a:pt x="55372" y="309118"/>
                </a:lnTo>
                <a:lnTo>
                  <a:pt x="49716" y="293729"/>
                </a:lnTo>
                <a:close/>
              </a:path>
              <a:path w="103505" h="328930">
                <a:moveTo>
                  <a:pt x="56406" y="277477"/>
                </a:moveTo>
                <a:lnTo>
                  <a:pt x="49716" y="293729"/>
                </a:lnTo>
                <a:lnTo>
                  <a:pt x="55372" y="309118"/>
                </a:lnTo>
                <a:lnTo>
                  <a:pt x="55799" y="309118"/>
                </a:lnTo>
                <a:lnTo>
                  <a:pt x="56406" y="277477"/>
                </a:lnTo>
                <a:close/>
              </a:path>
              <a:path w="103505" h="328930">
                <a:moveTo>
                  <a:pt x="49022" y="0"/>
                </a:moveTo>
                <a:lnTo>
                  <a:pt x="43703" y="277370"/>
                </a:lnTo>
                <a:lnTo>
                  <a:pt x="49716" y="293729"/>
                </a:lnTo>
                <a:lnTo>
                  <a:pt x="56406" y="277477"/>
                </a:lnTo>
                <a:lnTo>
                  <a:pt x="61722" y="254"/>
                </a:lnTo>
                <a:lnTo>
                  <a:pt x="490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0AC681CE-F2EA-89F9-8559-B69F6FF743DB}"/>
              </a:ext>
            </a:extLst>
          </p:cNvPr>
          <p:cNvSpPr>
            <a:spLocks noGrp="1"/>
          </p:cNvSpPr>
          <p:nvPr>
            <p:ph type="sldNum" sz="quarter" idx="12"/>
          </p:nvPr>
        </p:nvSpPr>
        <p:spPr/>
        <p:txBody>
          <a:bodyPr/>
          <a:lstStyle/>
          <a:p>
            <a:pPr>
              <a:defRPr/>
            </a:pPr>
            <a:fld id="{2FBC720A-3716-234A-B2DF-CBC7E48049F5}" type="slidenum">
              <a:rPr lang="en-US" altLang="zh-CN" smtClean="0"/>
              <a:t>24</a:t>
            </a:fld>
            <a:endParaRPr lang="en-US" altLang="zh-CN"/>
          </a:p>
        </p:txBody>
      </p:sp>
    </p:spTree>
    <p:extLst>
      <p:ext uri="{BB962C8B-B14F-4D97-AF65-F5344CB8AC3E}">
        <p14:creationId xmlns:p14="http://schemas.microsoft.com/office/powerpoint/2010/main" val="1283036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9" name="object 2">
            <a:extLst>
              <a:ext uri="{FF2B5EF4-FFF2-40B4-BE49-F238E27FC236}">
                <a16:creationId xmlns:a16="http://schemas.microsoft.com/office/drawing/2014/main" id="{06487A31-1F26-42EE-9623-B445E4CE868B}"/>
              </a:ext>
            </a:extLst>
          </p:cNvPr>
          <p:cNvSpPr txBox="1">
            <a:spLocks/>
          </p:cNvSpPr>
          <p:nvPr/>
        </p:nvSpPr>
        <p:spPr>
          <a:xfrm>
            <a:off x="707542" y="565861"/>
            <a:ext cx="7450455" cy="574675"/>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Syntax</a:t>
            </a:r>
            <a:r>
              <a:rPr kumimoji="0" lang="en-US" sz="3600" b="1" i="0" u="none" strike="noStrike" kern="0" cap="none" spc="-25"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Analysis</a:t>
            </a:r>
            <a:r>
              <a:rPr kumimoji="0" lang="en-US" sz="3600" b="1" i="0" u="none" strike="noStrike" kern="0" cap="none" spc="-10"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3600" b="1" i="0" u="none" strike="noStrike" kern="0" cap="none" spc="0" normalizeH="0" baseline="0" noProof="0">
                <a:ln>
                  <a:noFill/>
                </a:ln>
                <a:solidFill>
                  <a:sysClr val="windowText" lastClr="000000"/>
                </a:solidFill>
                <a:effectLst/>
                <a:uLnTx/>
                <a:uFillTx/>
                <a:latin typeface="Palatino Linotype"/>
                <a:ea typeface="+mj-ea"/>
              </a:rPr>
              <a:t> </a:t>
            </a:r>
            <a:r>
              <a:rPr kumimoji="0" lang="zh-CN" altLang="en-US" sz="3600" b="1" i="0" u="none" strike="noStrike" kern="0" cap="none" spc="-10" normalizeH="0" baseline="0" noProof="0">
                <a:ln>
                  <a:noFill/>
                </a:ln>
                <a:solidFill>
                  <a:sysClr val="windowText" lastClr="000000"/>
                </a:solidFill>
                <a:effectLst/>
                <a:uLnTx/>
                <a:uFillTx/>
                <a:latin typeface="宋体"/>
                <a:ea typeface="宋体" panose="02010600030101010101" pitchFamily="2" charset="-122"/>
                <a:cs typeface="宋体"/>
              </a:rPr>
              <a:t>语法分</a:t>
            </a:r>
            <a:r>
              <a:rPr kumimoji="0" lang="zh-CN" altLang="en-US" sz="3600" b="1" i="0" u="none" strike="noStrike" kern="0" cap="none" spc="-5" normalizeH="0" baseline="0" noProof="0">
                <a:ln>
                  <a:noFill/>
                </a:ln>
                <a:solidFill>
                  <a:sysClr val="windowText" lastClr="000000"/>
                </a:solidFill>
                <a:effectLst/>
                <a:uLnTx/>
                <a:uFillTx/>
                <a:latin typeface="宋体"/>
                <a:ea typeface="宋体" panose="02010600030101010101" pitchFamily="2" charset="-122"/>
                <a:cs typeface="宋体"/>
              </a:rPr>
              <a:t>析</a:t>
            </a:r>
            <a:r>
              <a:rPr kumimoji="0" lang="en-US" altLang="zh-CN" sz="36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3600" b="1" i="0" u="none" strike="noStrike" kern="0" cap="none" spc="0" normalizeH="0" baseline="0" noProof="0">
              <a:ln>
                <a:noFill/>
              </a:ln>
              <a:solidFill>
                <a:sysClr val="windowText" lastClr="000000"/>
              </a:solidFill>
              <a:effectLst/>
              <a:uLnTx/>
              <a:uFillTx/>
              <a:latin typeface="宋体"/>
              <a:ea typeface="宋体" panose="02010600030101010101" pitchFamily="2" charset="-122"/>
              <a:cs typeface="宋体"/>
            </a:endParaRPr>
          </a:p>
        </p:txBody>
      </p:sp>
      <p:sp>
        <p:nvSpPr>
          <p:cNvPr id="10" name="object 3">
            <a:extLst>
              <a:ext uri="{FF2B5EF4-FFF2-40B4-BE49-F238E27FC236}">
                <a16:creationId xmlns:a16="http://schemas.microsoft.com/office/drawing/2014/main" id="{EC191CE3-F0D6-60B2-3E90-FB5F850071C0}"/>
              </a:ext>
            </a:extLst>
          </p:cNvPr>
          <p:cNvSpPr txBox="1"/>
          <p:nvPr/>
        </p:nvSpPr>
        <p:spPr>
          <a:xfrm>
            <a:off x="707542" y="1911858"/>
            <a:ext cx="7652384" cy="3486150"/>
          </a:xfrm>
          <a:prstGeom prst="rect">
            <a:avLst/>
          </a:prstGeom>
        </p:spPr>
        <p:txBody>
          <a:bodyPr vert="horz" wrap="square" lIns="0" tIns="12700" rIns="0" bIns="0" rtlCol="0">
            <a:spAutoFit/>
          </a:bodyPr>
          <a:lstStyle/>
          <a:p>
            <a:pPr marL="270510" rtl="0">
              <a:spcBef>
                <a:spcPts val="100"/>
              </a:spcBef>
              <a:tabLst>
                <a:tab pos="3029585" algn="l"/>
                <a:tab pos="6052185" algn="l"/>
              </a:tabLst>
            </a:pPr>
            <a:r>
              <a:rPr kern="1200" spc="-30" dirty="0">
                <a:solidFill>
                  <a:prstClr val="black"/>
                </a:solidFill>
                <a:latin typeface="Palatino Linotype"/>
                <a:cs typeface="Palatino Linotype"/>
              </a:rPr>
              <a:t>Token</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stream	</a:t>
            </a:r>
            <a:r>
              <a:rPr kern="1200" spc="-5" dirty="0">
                <a:solidFill>
                  <a:prstClr val="black"/>
                </a:solidFill>
                <a:latin typeface="Palatino Linotype"/>
                <a:cs typeface="Palatino Linotype"/>
              </a:rPr>
              <a:t>Syntax</a:t>
            </a:r>
            <a:r>
              <a:rPr kern="1200" spc="-55" dirty="0">
                <a:solidFill>
                  <a:prstClr val="black"/>
                </a:solidFill>
                <a:latin typeface="Palatino Linotype"/>
                <a:cs typeface="Palatino Linotype"/>
              </a:rPr>
              <a:t> </a:t>
            </a:r>
            <a:r>
              <a:rPr kern="1200" dirty="0">
                <a:solidFill>
                  <a:prstClr val="black"/>
                </a:solidFill>
                <a:latin typeface="Palatino Linotype"/>
                <a:cs typeface="Palatino Linotype"/>
              </a:rPr>
              <a:t>Analyzer	</a:t>
            </a:r>
            <a:r>
              <a:rPr sz="2700" kern="1200" spc="-7" baseline="1543" dirty="0">
                <a:solidFill>
                  <a:prstClr val="black"/>
                </a:solidFill>
                <a:latin typeface="Palatino Linotype"/>
                <a:cs typeface="Palatino Linotype"/>
              </a:rPr>
              <a:t>Syntax</a:t>
            </a:r>
            <a:r>
              <a:rPr sz="2700" kern="1200" baseline="1543" dirty="0">
                <a:solidFill>
                  <a:prstClr val="black"/>
                </a:solidFill>
                <a:latin typeface="Palatino Linotype"/>
                <a:cs typeface="Palatino Linotype"/>
              </a:rPr>
              <a:t> </a:t>
            </a:r>
            <a:r>
              <a:rPr sz="2700" kern="1200" spc="-7" baseline="1543" dirty="0">
                <a:solidFill>
                  <a:prstClr val="black"/>
                </a:solidFill>
                <a:latin typeface="Palatino Linotype"/>
                <a:cs typeface="Palatino Linotype"/>
              </a:rPr>
              <a:t>tree</a:t>
            </a:r>
            <a:endParaRPr sz="2700" kern="1200" baseline="1543">
              <a:solidFill>
                <a:prstClr val="black"/>
              </a:solidFill>
              <a:latin typeface="Palatino Linotype"/>
              <a:cs typeface="Palatino Linotype"/>
            </a:endParaRPr>
          </a:p>
          <a:p>
            <a:pPr rtl="0"/>
            <a:endParaRPr sz="1900" kern="1200">
              <a:solidFill>
                <a:prstClr val="black"/>
              </a:solidFill>
              <a:latin typeface="Palatino Linotype"/>
              <a:cs typeface="Palatino Linotype"/>
            </a:endParaRPr>
          </a:p>
          <a:p>
            <a:pPr rtl="0">
              <a:spcBef>
                <a:spcPts val="20"/>
              </a:spcBef>
            </a:pPr>
            <a:endParaRPr sz="2000" kern="1200">
              <a:solidFill>
                <a:prstClr val="black"/>
              </a:solidFill>
              <a:latin typeface="Palatino Linotype"/>
              <a:cs typeface="Palatino Linotype"/>
            </a:endParaRPr>
          </a:p>
          <a:p>
            <a:pPr marL="242570" marR="102870" indent="-230504" rtl="0">
              <a:lnSpc>
                <a:spcPct val="150000"/>
              </a:lnSpc>
              <a:buFont typeface="Arial"/>
              <a:buChar char="•"/>
              <a:tabLst>
                <a:tab pos="242570" algn="l"/>
                <a:tab pos="243204" algn="l"/>
              </a:tabLst>
            </a:pP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syntax analyzer (parser) </a:t>
            </a:r>
            <a:r>
              <a:rPr sz="2000" kern="1200" spc="-5" dirty="0">
                <a:solidFill>
                  <a:prstClr val="black"/>
                </a:solidFill>
                <a:latin typeface="Palatino Linotype"/>
                <a:cs typeface="Palatino Linotype"/>
              </a:rPr>
              <a:t>uses the </a:t>
            </a:r>
            <a:r>
              <a:rPr sz="2000" kern="1200" spc="-5" dirty="0">
                <a:solidFill>
                  <a:srgbClr val="FF0000"/>
                </a:solidFill>
                <a:latin typeface="Palatino Linotype"/>
                <a:cs typeface="Palatino Linotype"/>
              </a:rPr>
              <a:t>token names </a:t>
            </a:r>
            <a:r>
              <a:rPr sz="2000" kern="1200" spc="-5" dirty="0">
                <a:solidFill>
                  <a:prstClr val="black"/>
                </a:solidFill>
                <a:latin typeface="Palatino Linotype"/>
                <a:cs typeface="Palatino Linotype"/>
              </a:rPr>
              <a:t>produced by  the </a:t>
            </a:r>
            <a:r>
              <a:rPr sz="2000" kern="1200" dirty="0">
                <a:solidFill>
                  <a:prstClr val="black"/>
                </a:solidFill>
                <a:latin typeface="Palatino Linotype"/>
                <a:cs typeface="Palatino Linotype"/>
              </a:rPr>
              <a:t>lexer </a:t>
            </a:r>
            <a:r>
              <a:rPr sz="2000" kern="1200" spc="-5" dirty="0">
                <a:solidFill>
                  <a:prstClr val="black"/>
                </a:solidFill>
                <a:latin typeface="Palatino Linotype"/>
                <a:cs typeface="Palatino Linotype"/>
              </a:rPr>
              <a:t>to </a:t>
            </a:r>
            <a:r>
              <a:rPr sz="2000" kern="1200" dirty="0">
                <a:solidFill>
                  <a:prstClr val="black"/>
                </a:solidFill>
                <a:latin typeface="Palatino Linotype"/>
                <a:cs typeface="Palatino Linotype"/>
              </a:rPr>
              <a:t>create an intermediate representation </a:t>
            </a:r>
            <a:r>
              <a:rPr sz="2000" kern="1200" spc="-5" dirty="0">
                <a:solidFill>
                  <a:prstClr val="black"/>
                </a:solidFill>
                <a:latin typeface="Palatino Linotype"/>
                <a:cs typeface="Palatino Linotype"/>
              </a:rPr>
              <a:t>that </a:t>
            </a:r>
            <a:r>
              <a:rPr sz="2000" kern="1200" dirty="0">
                <a:solidFill>
                  <a:prstClr val="black"/>
                </a:solidFill>
                <a:latin typeface="Palatino Linotype"/>
                <a:cs typeface="Palatino Linotype"/>
              </a:rPr>
              <a:t>depicts </a:t>
            </a:r>
            <a:r>
              <a:rPr sz="2000" kern="1200" spc="-5" dirty="0">
                <a:solidFill>
                  <a:prstClr val="black"/>
                </a:solidFill>
                <a:latin typeface="Palatino Linotype"/>
                <a:cs typeface="Palatino Linotype"/>
              </a:rPr>
              <a:t>the  grammar structure </a:t>
            </a:r>
            <a:r>
              <a:rPr sz="2000" kern="1200" dirty="0">
                <a:solidFill>
                  <a:prstClr val="black"/>
                </a:solidFill>
                <a:latin typeface="Palatino Linotype"/>
                <a:cs typeface="Palatino Linotype"/>
              </a:rPr>
              <a:t>of </a:t>
            </a:r>
            <a:r>
              <a:rPr sz="2000" kern="1200" spc="-5" dirty="0">
                <a:solidFill>
                  <a:prstClr val="black"/>
                </a:solidFill>
                <a:latin typeface="Palatino Linotype"/>
                <a:cs typeface="Palatino Linotype"/>
              </a:rPr>
              <a:t>the token </a:t>
            </a:r>
            <a:r>
              <a:rPr sz="2000" kern="1200" dirty="0">
                <a:solidFill>
                  <a:prstClr val="black"/>
                </a:solidFill>
                <a:latin typeface="Palatino Linotype"/>
                <a:cs typeface="Palatino Linotype"/>
              </a:rPr>
              <a:t>stream, typically a </a:t>
            </a:r>
            <a:r>
              <a:rPr sz="2000" i="1" kern="1200" dirty="0">
                <a:solidFill>
                  <a:srgbClr val="FF0000"/>
                </a:solidFill>
                <a:latin typeface="Palatino Linotype"/>
                <a:cs typeface="Palatino Linotype"/>
              </a:rPr>
              <a:t>syntax</a:t>
            </a:r>
            <a:r>
              <a:rPr sz="2000" i="1" kern="1200" spc="-105" dirty="0">
                <a:solidFill>
                  <a:srgbClr val="FF0000"/>
                </a:solidFill>
                <a:latin typeface="Palatino Linotype"/>
                <a:cs typeface="Palatino Linotype"/>
              </a:rPr>
              <a:t> </a:t>
            </a:r>
            <a:r>
              <a:rPr sz="2000" i="1" kern="1200" spc="-10" dirty="0">
                <a:solidFill>
                  <a:srgbClr val="FF0000"/>
                </a:solidFill>
                <a:latin typeface="Palatino Linotype"/>
                <a:cs typeface="Palatino Linotype"/>
              </a:rPr>
              <a:t>tree</a:t>
            </a:r>
            <a:endParaRPr sz="2000" kern="1200">
              <a:solidFill>
                <a:prstClr val="black"/>
              </a:solidFill>
              <a:latin typeface="Palatino Linotype"/>
              <a:cs typeface="Palatino Linotype"/>
            </a:endParaRPr>
          </a:p>
          <a:p>
            <a:pPr rtl="0">
              <a:spcBef>
                <a:spcPts val="50"/>
              </a:spcBef>
              <a:buFont typeface="Arial"/>
              <a:buChar char="•"/>
            </a:pPr>
            <a:endParaRPr sz="1300" kern="1200">
              <a:solidFill>
                <a:prstClr val="black"/>
              </a:solidFill>
              <a:latin typeface="Palatino Linotype"/>
              <a:cs typeface="Palatino Linotype"/>
            </a:endParaRPr>
          </a:p>
          <a:p>
            <a:pPr marL="242570" marR="5080" indent="-230504" rtl="0">
              <a:lnSpc>
                <a:spcPct val="150000"/>
              </a:lnSpc>
              <a:buFont typeface="Arial"/>
              <a:buChar char="•"/>
              <a:tabLst>
                <a:tab pos="242570" algn="l"/>
                <a:tab pos="243204" algn="l"/>
              </a:tabLst>
            </a:pPr>
            <a:r>
              <a:rPr sz="2000" kern="1200" dirty="0">
                <a:solidFill>
                  <a:prstClr val="black"/>
                </a:solidFill>
                <a:latin typeface="Palatino Linotype"/>
                <a:cs typeface="Palatino Linotype"/>
              </a:rPr>
              <a:t>Each </a:t>
            </a:r>
            <a:r>
              <a:rPr sz="2000" kern="1200" spc="-5" dirty="0">
                <a:solidFill>
                  <a:prstClr val="black"/>
                </a:solidFill>
                <a:latin typeface="Palatino Linotype"/>
                <a:cs typeface="Palatino Linotype"/>
              </a:rPr>
              <a:t>interior node </a:t>
            </a:r>
            <a:r>
              <a:rPr sz="2000" kern="1200" dirty="0">
                <a:solidFill>
                  <a:prstClr val="black"/>
                </a:solidFill>
                <a:latin typeface="Palatino Linotype"/>
                <a:cs typeface="Palatino Linotype"/>
              </a:rPr>
              <a:t>represents an </a:t>
            </a:r>
            <a:r>
              <a:rPr sz="2000" kern="1200" spc="-5" dirty="0">
                <a:solidFill>
                  <a:srgbClr val="FF0000"/>
                </a:solidFill>
                <a:latin typeface="Palatino Linotype"/>
                <a:cs typeface="Palatino Linotype"/>
              </a:rPr>
              <a:t>operation </a:t>
            </a:r>
            <a:r>
              <a:rPr sz="2000" kern="1200" dirty="0">
                <a:solidFill>
                  <a:prstClr val="black"/>
                </a:solidFill>
                <a:latin typeface="Palatino Linotype"/>
                <a:cs typeface="Palatino Linotype"/>
              </a:rPr>
              <a:t>and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children of </a:t>
            </a:r>
            <a:r>
              <a:rPr sz="2000" kern="1200" spc="-5" dirty="0">
                <a:solidFill>
                  <a:prstClr val="black"/>
                </a:solidFill>
                <a:latin typeface="Palatino Linotype"/>
                <a:cs typeface="Palatino Linotype"/>
              </a:rPr>
              <a:t>the  node </a:t>
            </a:r>
            <a:r>
              <a:rPr sz="2000" kern="1200" dirty="0">
                <a:solidFill>
                  <a:prstClr val="black"/>
                </a:solidFill>
                <a:latin typeface="Palatino Linotype"/>
                <a:cs typeface="Palatino Linotype"/>
              </a:rPr>
              <a:t>represent </a:t>
            </a:r>
            <a:r>
              <a:rPr sz="2000" kern="1200" spc="-5" dirty="0">
                <a:solidFill>
                  <a:prstClr val="black"/>
                </a:solidFill>
                <a:latin typeface="Palatino Linotype"/>
                <a:cs typeface="Palatino Linotype"/>
              </a:rPr>
              <a:t>the </a:t>
            </a:r>
            <a:r>
              <a:rPr sz="2000" kern="1200" spc="-5" dirty="0">
                <a:solidFill>
                  <a:srgbClr val="FF0000"/>
                </a:solidFill>
                <a:latin typeface="Palatino Linotype"/>
                <a:cs typeface="Palatino Linotype"/>
              </a:rPr>
              <a:t>arguments </a:t>
            </a:r>
            <a:r>
              <a:rPr sz="2000" kern="1200" dirty="0">
                <a:solidFill>
                  <a:prstClr val="black"/>
                </a:solidFill>
                <a:latin typeface="Palatino Linotype"/>
                <a:cs typeface="Palatino Linotype"/>
              </a:rPr>
              <a:t>of </a:t>
            </a:r>
            <a:r>
              <a:rPr sz="2000" kern="1200" spc="-5" dirty="0">
                <a:solidFill>
                  <a:prstClr val="black"/>
                </a:solidFill>
                <a:latin typeface="Palatino Linotype"/>
                <a:cs typeface="Palatino Linotype"/>
              </a:rPr>
              <a:t>the</a:t>
            </a:r>
            <a:r>
              <a:rPr sz="2000" kern="1200" spc="-45" dirty="0">
                <a:solidFill>
                  <a:prstClr val="black"/>
                </a:solidFill>
                <a:latin typeface="Palatino Linotype"/>
                <a:cs typeface="Palatino Linotype"/>
              </a:rPr>
              <a:t> </a:t>
            </a:r>
            <a:r>
              <a:rPr sz="2000" kern="1200" dirty="0">
                <a:solidFill>
                  <a:prstClr val="black"/>
                </a:solidFill>
                <a:latin typeface="Palatino Linotype"/>
                <a:cs typeface="Palatino Linotype"/>
              </a:rPr>
              <a:t>operation</a:t>
            </a:r>
            <a:endParaRPr sz="2000" kern="1200">
              <a:solidFill>
                <a:prstClr val="black"/>
              </a:solidFill>
              <a:latin typeface="Palatino Linotype"/>
              <a:cs typeface="Palatino Linotype"/>
            </a:endParaRPr>
          </a:p>
        </p:txBody>
      </p:sp>
      <p:sp>
        <p:nvSpPr>
          <p:cNvPr id="11" name="object 4">
            <a:extLst>
              <a:ext uri="{FF2B5EF4-FFF2-40B4-BE49-F238E27FC236}">
                <a16:creationId xmlns:a16="http://schemas.microsoft.com/office/drawing/2014/main" id="{2333EFC6-BD2F-1832-C24F-F9B719CABAEE}"/>
              </a:ext>
            </a:extLst>
          </p:cNvPr>
          <p:cNvSpPr/>
          <p:nvPr/>
        </p:nvSpPr>
        <p:spPr>
          <a:xfrm>
            <a:off x="2456688" y="2022982"/>
            <a:ext cx="1051560" cy="103505"/>
          </a:xfrm>
          <a:custGeom>
            <a:avLst/>
            <a:gdLst/>
            <a:ahLst/>
            <a:cxnLst/>
            <a:rect l="l" t="t" r="r" b="b"/>
            <a:pathLst>
              <a:path w="1051560" h="103505">
                <a:moveTo>
                  <a:pt x="1034808" y="44830"/>
                </a:moveTo>
                <a:lnTo>
                  <a:pt x="1033779" y="44830"/>
                </a:lnTo>
                <a:lnTo>
                  <a:pt x="1033779" y="57530"/>
                </a:lnTo>
                <a:lnTo>
                  <a:pt x="1000160" y="57642"/>
                </a:lnTo>
                <a:lnTo>
                  <a:pt x="914019" y="91439"/>
                </a:lnTo>
                <a:lnTo>
                  <a:pt x="912367" y="95122"/>
                </a:lnTo>
                <a:lnTo>
                  <a:pt x="913638" y="98425"/>
                </a:lnTo>
                <a:lnTo>
                  <a:pt x="914908" y="101600"/>
                </a:lnTo>
                <a:lnTo>
                  <a:pt x="918590" y="103250"/>
                </a:lnTo>
                <a:lnTo>
                  <a:pt x="1051306" y="51180"/>
                </a:lnTo>
                <a:lnTo>
                  <a:pt x="1034808" y="44830"/>
                </a:lnTo>
                <a:close/>
              </a:path>
              <a:path w="1051560" h="103505">
                <a:moveTo>
                  <a:pt x="999798" y="44943"/>
                </a:moveTo>
                <a:lnTo>
                  <a:pt x="0" y="48259"/>
                </a:lnTo>
                <a:lnTo>
                  <a:pt x="0" y="60959"/>
                </a:lnTo>
                <a:lnTo>
                  <a:pt x="1000160" y="57642"/>
                </a:lnTo>
                <a:lnTo>
                  <a:pt x="1016308" y="51301"/>
                </a:lnTo>
                <a:lnTo>
                  <a:pt x="999798" y="44943"/>
                </a:lnTo>
                <a:close/>
              </a:path>
              <a:path w="1051560" h="103505">
                <a:moveTo>
                  <a:pt x="1016308" y="51301"/>
                </a:moveTo>
                <a:lnTo>
                  <a:pt x="1000160" y="57642"/>
                </a:lnTo>
                <a:lnTo>
                  <a:pt x="1033779" y="57530"/>
                </a:lnTo>
                <a:lnTo>
                  <a:pt x="1033779" y="57150"/>
                </a:lnTo>
                <a:lnTo>
                  <a:pt x="1031494" y="57150"/>
                </a:lnTo>
                <a:lnTo>
                  <a:pt x="1016308" y="51301"/>
                </a:lnTo>
                <a:close/>
              </a:path>
              <a:path w="1051560" h="103505">
                <a:moveTo>
                  <a:pt x="1031494" y="45338"/>
                </a:moveTo>
                <a:lnTo>
                  <a:pt x="1016308" y="51301"/>
                </a:lnTo>
                <a:lnTo>
                  <a:pt x="1031494" y="57150"/>
                </a:lnTo>
                <a:lnTo>
                  <a:pt x="1031494" y="45338"/>
                </a:lnTo>
                <a:close/>
              </a:path>
              <a:path w="1051560" h="103505">
                <a:moveTo>
                  <a:pt x="1033779" y="45338"/>
                </a:moveTo>
                <a:lnTo>
                  <a:pt x="1031494" y="45338"/>
                </a:lnTo>
                <a:lnTo>
                  <a:pt x="1031494" y="57150"/>
                </a:lnTo>
                <a:lnTo>
                  <a:pt x="1033779" y="57150"/>
                </a:lnTo>
                <a:lnTo>
                  <a:pt x="1033779" y="45338"/>
                </a:lnTo>
                <a:close/>
              </a:path>
              <a:path w="1051560" h="103505">
                <a:moveTo>
                  <a:pt x="1033779" y="44830"/>
                </a:moveTo>
                <a:lnTo>
                  <a:pt x="999798" y="44943"/>
                </a:lnTo>
                <a:lnTo>
                  <a:pt x="1016308" y="51301"/>
                </a:lnTo>
                <a:lnTo>
                  <a:pt x="1031494" y="45338"/>
                </a:lnTo>
                <a:lnTo>
                  <a:pt x="1033779" y="45338"/>
                </a:lnTo>
                <a:lnTo>
                  <a:pt x="1033779" y="44830"/>
                </a:lnTo>
                <a:close/>
              </a:path>
              <a:path w="1051560" h="103505">
                <a:moveTo>
                  <a:pt x="918337" y="0"/>
                </a:moveTo>
                <a:lnTo>
                  <a:pt x="914653" y="1650"/>
                </a:lnTo>
                <a:lnTo>
                  <a:pt x="913384" y="4825"/>
                </a:lnTo>
                <a:lnTo>
                  <a:pt x="912113" y="8127"/>
                </a:lnTo>
                <a:lnTo>
                  <a:pt x="913764" y="11811"/>
                </a:lnTo>
                <a:lnTo>
                  <a:pt x="999798" y="44943"/>
                </a:lnTo>
                <a:lnTo>
                  <a:pt x="1034808" y="44830"/>
                </a:lnTo>
                <a:lnTo>
                  <a:pt x="91833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2" name="object 5">
            <a:extLst>
              <a:ext uri="{FF2B5EF4-FFF2-40B4-BE49-F238E27FC236}">
                <a16:creationId xmlns:a16="http://schemas.microsoft.com/office/drawing/2014/main" id="{C6D0B757-F58A-7A95-26D0-8CC06C5E3475}"/>
              </a:ext>
            </a:extLst>
          </p:cNvPr>
          <p:cNvSpPr/>
          <p:nvPr/>
        </p:nvSpPr>
        <p:spPr>
          <a:xfrm>
            <a:off x="5637276" y="2018538"/>
            <a:ext cx="1031240" cy="103505"/>
          </a:xfrm>
          <a:custGeom>
            <a:avLst/>
            <a:gdLst/>
            <a:ahLst/>
            <a:cxnLst/>
            <a:rect l="l" t="t" r="r" b="b"/>
            <a:pathLst>
              <a:path w="1031240" h="103505">
                <a:moveTo>
                  <a:pt x="1014905" y="44831"/>
                </a:moveTo>
                <a:lnTo>
                  <a:pt x="1013587" y="44831"/>
                </a:lnTo>
                <a:lnTo>
                  <a:pt x="1013714" y="57531"/>
                </a:lnTo>
                <a:lnTo>
                  <a:pt x="979683" y="57675"/>
                </a:lnTo>
                <a:lnTo>
                  <a:pt x="893952" y="91439"/>
                </a:lnTo>
                <a:lnTo>
                  <a:pt x="892301" y="95123"/>
                </a:lnTo>
                <a:lnTo>
                  <a:pt x="893572" y="98425"/>
                </a:lnTo>
                <a:lnTo>
                  <a:pt x="894969" y="101600"/>
                </a:lnTo>
                <a:lnTo>
                  <a:pt x="898651" y="103250"/>
                </a:lnTo>
                <a:lnTo>
                  <a:pt x="1031113" y="51053"/>
                </a:lnTo>
                <a:lnTo>
                  <a:pt x="1014905" y="44831"/>
                </a:lnTo>
                <a:close/>
              </a:path>
              <a:path w="1031240" h="103505">
                <a:moveTo>
                  <a:pt x="979927" y="44974"/>
                </a:moveTo>
                <a:lnTo>
                  <a:pt x="0" y="49149"/>
                </a:lnTo>
                <a:lnTo>
                  <a:pt x="0" y="61849"/>
                </a:lnTo>
                <a:lnTo>
                  <a:pt x="979683" y="57675"/>
                </a:lnTo>
                <a:lnTo>
                  <a:pt x="996124" y="51194"/>
                </a:lnTo>
                <a:lnTo>
                  <a:pt x="979927" y="44974"/>
                </a:lnTo>
                <a:close/>
              </a:path>
              <a:path w="1031240" h="103505">
                <a:moveTo>
                  <a:pt x="996124" y="51194"/>
                </a:moveTo>
                <a:lnTo>
                  <a:pt x="979683" y="57675"/>
                </a:lnTo>
                <a:lnTo>
                  <a:pt x="1013714" y="57531"/>
                </a:lnTo>
                <a:lnTo>
                  <a:pt x="1013708" y="57023"/>
                </a:lnTo>
                <a:lnTo>
                  <a:pt x="1011301" y="57023"/>
                </a:lnTo>
                <a:lnTo>
                  <a:pt x="996124" y="51194"/>
                </a:lnTo>
                <a:close/>
              </a:path>
              <a:path w="1031240" h="103505">
                <a:moveTo>
                  <a:pt x="1011301" y="45212"/>
                </a:moveTo>
                <a:lnTo>
                  <a:pt x="996124" y="51194"/>
                </a:lnTo>
                <a:lnTo>
                  <a:pt x="1011301" y="57023"/>
                </a:lnTo>
                <a:lnTo>
                  <a:pt x="1011301" y="45212"/>
                </a:lnTo>
                <a:close/>
              </a:path>
              <a:path w="1031240" h="103505">
                <a:moveTo>
                  <a:pt x="1013590" y="45212"/>
                </a:moveTo>
                <a:lnTo>
                  <a:pt x="1011301" y="45212"/>
                </a:lnTo>
                <a:lnTo>
                  <a:pt x="1011301" y="57023"/>
                </a:lnTo>
                <a:lnTo>
                  <a:pt x="1013708" y="57023"/>
                </a:lnTo>
                <a:lnTo>
                  <a:pt x="1013590" y="45212"/>
                </a:lnTo>
                <a:close/>
              </a:path>
              <a:path w="1031240" h="103505">
                <a:moveTo>
                  <a:pt x="1013587" y="44831"/>
                </a:moveTo>
                <a:lnTo>
                  <a:pt x="979927" y="44974"/>
                </a:lnTo>
                <a:lnTo>
                  <a:pt x="996124" y="51194"/>
                </a:lnTo>
                <a:lnTo>
                  <a:pt x="1011301" y="45212"/>
                </a:lnTo>
                <a:lnTo>
                  <a:pt x="1013590" y="45212"/>
                </a:lnTo>
                <a:lnTo>
                  <a:pt x="1013587" y="44831"/>
                </a:lnTo>
                <a:close/>
              </a:path>
              <a:path w="1031240" h="103505">
                <a:moveTo>
                  <a:pt x="898144" y="0"/>
                </a:moveTo>
                <a:lnTo>
                  <a:pt x="894460" y="1650"/>
                </a:lnTo>
                <a:lnTo>
                  <a:pt x="893191" y="4952"/>
                </a:lnTo>
                <a:lnTo>
                  <a:pt x="891921" y="8127"/>
                </a:lnTo>
                <a:lnTo>
                  <a:pt x="893572" y="11811"/>
                </a:lnTo>
                <a:lnTo>
                  <a:pt x="979927" y="44974"/>
                </a:lnTo>
                <a:lnTo>
                  <a:pt x="1014905" y="44831"/>
                </a:lnTo>
                <a:lnTo>
                  <a:pt x="89814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3" name="object 4">
            <a:extLst>
              <a:ext uri="{FF2B5EF4-FFF2-40B4-BE49-F238E27FC236}">
                <a16:creationId xmlns:a16="http://schemas.microsoft.com/office/drawing/2014/main" id="{8AC584E8-CD89-A800-5FDF-62F33B566F99}"/>
              </a:ext>
            </a:extLst>
          </p:cNvPr>
          <p:cNvSpPr txBox="1"/>
          <p:nvPr/>
        </p:nvSpPr>
        <p:spPr>
          <a:xfrm>
            <a:off x="3507485" y="1857629"/>
            <a:ext cx="2129155" cy="434340"/>
          </a:xfrm>
          <a:prstGeom prst="rect">
            <a:avLst/>
          </a:prstGeom>
          <a:solidFill>
            <a:srgbClr val="FFC000"/>
          </a:solidFill>
          <a:ln w="12700">
            <a:solidFill>
              <a:srgbClr val="000000"/>
            </a:solidFill>
          </a:ln>
        </p:spPr>
        <p:txBody>
          <a:bodyPr vert="horz" wrap="square" lIns="0" tIns="65405" rIns="0" bIns="0" rtlCol="0">
            <a:spAutoFit/>
          </a:bodyPr>
          <a:lstStyle/>
          <a:p>
            <a:pPr marL="229870">
              <a:lnSpc>
                <a:spcPct val="100000"/>
              </a:lnSpc>
              <a:spcBef>
                <a:spcPts val="515"/>
              </a:spcBef>
            </a:pPr>
            <a:r>
              <a:rPr sz="1800" spc="-5" dirty="0">
                <a:latin typeface="Palatino Linotype"/>
                <a:cs typeface="Palatino Linotype"/>
              </a:rPr>
              <a:t>Syntax</a:t>
            </a:r>
            <a:r>
              <a:rPr sz="1800" spc="-100" dirty="0">
                <a:latin typeface="Palatino Linotype"/>
                <a:cs typeface="Palatino Linotype"/>
              </a:rPr>
              <a:t> </a:t>
            </a:r>
            <a:r>
              <a:rPr sz="1800" dirty="0">
                <a:latin typeface="Palatino Linotype"/>
                <a:cs typeface="Palatino Linotype"/>
              </a:rPr>
              <a:t>Analyzer</a:t>
            </a:r>
            <a:endParaRPr sz="1800">
              <a:latin typeface="Palatino Linotype"/>
              <a:cs typeface="Palatino Linotype"/>
            </a:endParaRPr>
          </a:p>
        </p:txBody>
      </p:sp>
      <p:sp>
        <p:nvSpPr>
          <p:cNvPr id="2" name="灯片编号占位符 1">
            <a:extLst>
              <a:ext uri="{FF2B5EF4-FFF2-40B4-BE49-F238E27FC236}">
                <a16:creationId xmlns:a16="http://schemas.microsoft.com/office/drawing/2014/main" id="{3961D72A-5757-B383-F2D2-6051DCC437AF}"/>
              </a:ext>
            </a:extLst>
          </p:cNvPr>
          <p:cNvSpPr>
            <a:spLocks noGrp="1"/>
          </p:cNvSpPr>
          <p:nvPr>
            <p:ph type="sldNum" sz="quarter" idx="12"/>
          </p:nvPr>
        </p:nvSpPr>
        <p:spPr/>
        <p:txBody>
          <a:bodyPr/>
          <a:lstStyle/>
          <a:p>
            <a:pPr>
              <a:defRPr/>
            </a:pPr>
            <a:fld id="{2FBC720A-3716-234A-B2DF-CBC7E48049F5}" type="slidenum">
              <a:rPr lang="en-US" altLang="zh-CN" smtClean="0"/>
              <a:t>25</a:t>
            </a:fld>
            <a:endParaRPr lang="en-US" altLang="zh-CN"/>
          </a:p>
        </p:txBody>
      </p:sp>
    </p:spTree>
    <p:extLst>
      <p:ext uri="{BB962C8B-B14F-4D97-AF65-F5344CB8AC3E}">
        <p14:creationId xmlns:p14="http://schemas.microsoft.com/office/powerpoint/2010/main" val="1841153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9" name="object 2">
            <a:extLst>
              <a:ext uri="{FF2B5EF4-FFF2-40B4-BE49-F238E27FC236}">
                <a16:creationId xmlns:a16="http://schemas.microsoft.com/office/drawing/2014/main" id="{F7262902-6D0C-D1E3-1DC5-B67B255C7061}"/>
              </a:ext>
            </a:extLst>
          </p:cNvPr>
          <p:cNvSpPr txBox="1">
            <a:spLocks/>
          </p:cNvSpPr>
          <p:nvPr/>
        </p:nvSpPr>
        <p:spPr>
          <a:xfrm>
            <a:off x="707542" y="520141"/>
            <a:ext cx="622998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Syntax </a:t>
            </a:r>
            <a:r>
              <a:rPr kumimoji="0" lang="en-US" sz="4000" b="1" i="0" u="none" strike="noStrike" kern="0" cap="none" spc="-5" normalizeH="0" baseline="0" noProof="0">
                <a:ln>
                  <a:noFill/>
                </a:ln>
                <a:solidFill>
                  <a:sysClr val="windowText" lastClr="000000"/>
                </a:solidFill>
                <a:effectLst/>
                <a:uLnTx/>
                <a:uFillTx/>
                <a:latin typeface="Palatino Linotype"/>
                <a:ea typeface="+mj-ea"/>
              </a:rPr>
              <a:t>Analysis</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30" name="object 3">
            <a:extLst>
              <a:ext uri="{FF2B5EF4-FFF2-40B4-BE49-F238E27FC236}">
                <a16:creationId xmlns:a16="http://schemas.microsoft.com/office/drawing/2014/main" id="{1A1B1467-47DD-F720-D156-785FB72AE00D}"/>
              </a:ext>
            </a:extLst>
          </p:cNvPr>
          <p:cNvSpPr txBox="1"/>
          <p:nvPr/>
        </p:nvSpPr>
        <p:spPr>
          <a:xfrm>
            <a:off x="1851786" y="1822830"/>
            <a:ext cx="5433695" cy="299720"/>
          </a:xfrm>
          <a:prstGeom prst="rect">
            <a:avLst/>
          </a:prstGeom>
        </p:spPr>
        <p:txBody>
          <a:bodyPr vert="horz" wrap="square" lIns="0" tIns="12700" rIns="0" bIns="0" rtlCol="0">
            <a:spAutoFit/>
          </a:bodyPr>
          <a:lstStyle/>
          <a:p>
            <a:pPr marL="12700" rtl="0">
              <a:spcBef>
                <a:spcPts val="100"/>
              </a:spcBef>
              <a:tabLst>
                <a:tab pos="1083945" algn="l"/>
                <a:tab pos="1648460" algn="l"/>
                <a:tab pos="2719705" algn="l"/>
                <a:tab pos="3284220" algn="l"/>
                <a:tab pos="4355465" algn="l"/>
                <a:tab pos="4920615" algn="l"/>
              </a:tabLst>
            </a:pPr>
            <a:r>
              <a:rPr kern="1200" spc="-10" dirty="0">
                <a:solidFill>
                  <a:prstClr val="black"/>
                </a:solidFill>
                <a:latin typeface="Consolas"/>
                <a:cs typeface="Consolas"/>
              </a:rPr>
              <a:t>&lt;</a:t>
            </a:r>
            <a:r>
              <a:rPr b="1" kern="1200" spc="-5" dirty="0">
                <a:solidFill>
                  <a:prstClr val="black"/>
                </a:solidFill>
                <a:latin typeface="Consolas"/>
                <a:cs typeface="Consolas"/>
              </a:rPr>
              <a:t>i</a:t>
            </a:r>
            <a:r>
              <a:rPr b="1" kern="1200" spc="-10" dirty="0">
                <a:solidFill>
                  <a:prstClr val="black"/>
                </a:solidFill>
                <a:latin typeface="Consolas"/>
                <a:cs typeface="Consolas"/>
              </a:rPr>
              <a:t>d</a:t>
            </a:r>
            <a:r>
              <a:rPr kern="1200" dirty="0">
                <a:solidFill>
                  <a:prstClr val="black"/>
                </a:solidFill>
                <a:latin typeface="Consolas"/>
                <a:cs typeface="Consolas"/>
              </a:rPr>
              <a:t>,</a:t>
            </a:r>
            <a:r>
              <a:rPr kern="1200" spc="-5" dirty="0">
                <a:solidFill>
                  <a:prstClr val="black"/>
                </a:solidFill>
                <a:latin typeface="Consolas"/>
                <a:cs typeface="Consolas"/>
              </a:rPr>
              <a:t> 1</a:t>
            </a:r>
            <a:r>
              <a:rPr kern="1200" dirty="0">
                <a:solidFill>
                  <a:prstClr val="black"/>
                </a:solidFill>
                <a:latin typeface="Consolas"/>
                <a:cs typeface="Consolas"/>
              </a:rPr>
              <a:t>&gt;	</a:t>
            </a:r>
            <a:r>
              <a:rPr kern="1200" spc="-10" dirty="0">
                <a:solidFill>
                  <a:prstClr val="black"/>
                </a:solidFill>
                <a:latin typeface="Consolas"/>
                <a:cs typeface="Consolas"/>
              </a:rPr>
              <a:t>&lt;=</a:t>
            </a:r>
            <a:r>
              <a:rPr kern="1200" dirty="0">
                <a:solidFill>
                  <a:prstClr val="black"/>
                </a:solidFill>
                <a:latin typeface="Consolas"/>
                <a:cs typeface="Consolas"/>
              </a:rPr>
              <a:t>&gt;	</a:t>
            </a: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dirty="0">
                <a:solidFill>
                  <a:prstClr val="black"/>
                </a:solidFill>
                <a:latin typeface="Consolas"/>
                <a:cs typeface="Consolas"/>
              </a:rPr>
              <a:t>,</a:t>
            </a:r>
            <a:r>
              <a:rPr kern="1200" spc="-5" dirty="0">
                <a:solidFill>
                  <a:prstClr val="black"/>
                </a:solidFill>
                <a:latin typeface="Consolas"/>
                <a:cs typeface="Consolas"/>
              </a:rPr>
              <a:t> 2</a:t>
            </a:r>
            <a:r>
              <a:rPr kern="1200" dirty="0">
                <a:solidFill>
                  <a:prstClr val="black"/>
                </a:solidFill>
                <a:latin typeface="Consolas"/>
                <a:cs typeface="Consolas"/>
              </a:rPr>
              <a:t>&gt;	</a:t>
            </a:r>
            <a:r>
              <a:rPr kern="1200" spc="-10" dirty="0">
                <a:solidFill>
                  <a:prstClr val="black"/>
                </a:solidFill>
                <a:latin typeface="Consolas"/>
                <a:cs typeface="Consolas"/>
              </a:rPr>
              <a:t>&lt;+</a:t>
            </a:r>
            <a:r>
              <a:rPr kern="1200" dirty="0">
                <a:solidFill>
                  <a:prstClr val="black"/>
                </a:solidFill>
                <a:latin typeface="Consolas"/>
                <a:cs typeface="Consolas"/>
              </a:rPr>
              <a:t>&gt;	</a:t>
            </a: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dirty="0">
                <a:solidFill>
                  <a:prstClr val="black"/>
                </a:solidFill>
                <a:latin typeface="Consolas"/>
                <a:cs typeface="Consolas"/>
              </a:rPr>
              <a:t>,</a:t>
            </a:r>
            <a:r>
              <a:rPr kern="1200" spc="-5" dirty="0">
                <a:solidFill>
                  <a:prstClr val="black"/>
                </a:solidFill>
                <a:latin typeface="Consolas"/>
                <a:cs typeface="Consolas"/>
              </a:rPr>
              <a:t> 3</a:t>
            </a:r>
            <a:r>
              <a:rPr kern="1200" dirty="0">
                <a:solidFill>
                  <a:prstClr val="black"/>
                </a:solidFill>
                <a:latin typeface="Consolas"/>
                <a:cs typeface="Consolas"/>
              </a:rPr>
              <a:t>&gt;	</a:t>
            </a:r>
            <a:r>
              <a:rPr kern="1200" spc="-10" dirty="0">
                <a:solidFill>
                  <a:prstClr val="black"/>
                </a:solidFill>
                <a:latin typeface="Consolas"/>
                <a:cs typeface="Consolas"/>
              </a:rPr>
              <a:t>&lt;*</a:t>
            </a:r>
            <a:r>
              <a:rPr kern="1200" dirty="0">
                <a:solidFill>
                  <a:prstClr val="black"/>
                </a:solidFill>
                <a:latin typeface="Consolas"/>
                <a:cs typeface="Consolas"/>
              </a:rPr>
              <a:t>&gt;	</a:t>
            </a:r>
            <a:r>
              <a:rPr kern="1200" spc="-10" dirty="0">
                <a:solidFill>
                  <a:prstClr val="black"/>
                </a:solidFill>
                <a:latin typeface="Consolas"/>
                <a:cs typeface="Consolas"/>
              </a:rPr>
              <a:t>&lt;60&gt;</a:t>
            </a:r>
            <a:endParaRPr kern="1200">
              <a:solidFill>
                <a:prstClr val="black"/>
              </a:solidFill>
              <a:latin typeface="Consolas"/>
              <a:cs typeface="Consolas"/>
            </a:endParaRPr>
          </a:p>
        </p:txBody>
      </p:sp>
      <p:sp>
        <p:nvSpPr>
          <p:cNvPr id="31" name="object 4">
            <a:extLst>
              <a:ext uri="{FF2B5EF4-FFF2-40B4-BE49-F238E27FC236}">
                <a16:creationId xmlns:a16="http://schemas.microsoft.com/office/drawing/2014/main" id="{AB771D0E-43CB-641D-0368-C2CEBD1C03AF}"/>
              </a:ext>
            </a:extLst>
          </p:cNvPr>
          <p:cNvSpPr txBox="1"/>
          <p:nvPr/>
        </p:nvSpPr>
        <p:spPr>
          <a:xfrm>
            <a:off x="3507485" y="2752979"/>
            <a:ext cx="2129155" cy="434340"/>
          </a:xfrm>
          <a:prstGeom prst="rect">
            <a:avLst/>
          </a:prstGeom>
          <a:solidFill>
            <a:srgbClr val="FFC000"/>
          </a:solidFill>
          <a:ln w="12700">
            <a:solidFill>
              <a:srgbClr val="000000"/>
            </a:solidFill>
          </a:ln>
        </p:spPr>
        <p:txBody>
          <a:bodyPr vert="horz" wrap="square" lIns="0" tIns="65405" rIns="0" bIns="0" rtlCol="0">
            <a:spAutoFit/>
          </a:bodyPr>
          <a:lstStyle/>
          <a:p>
            <a:pPr marL="229870" rtl="0">
              <a:spcBef>
                <a:spcPts val="515"/>
              </a:spcBef>
            </a:pPr>
            <a:r>
              <a:rPr kern="1200" spc="-5" dirty="0">
                <a:solidFill>
                  <a:prstClr val="black"/>
                </a:solidFill>
                <a:latin typeface="Palatino Linotype"/>
                <a:cs typeface="Palatino Linotype"/>
              </a:rPr>
              <a:t>Syntax</a:t>
            </a:r>
            <a:r>
              <a:rPr kern="1200" spc="-80" dirty="0">
                <a:solidFill>
                  <a:prstClr val="black"/>
                </a:solidFill>
                <a:latin typeface="Palatino Linotype"/>
                <a:cs typeface="Palatino Linotype"/>
              </a:rPr>
              <a:t> </a:t>
            </a:r>
            <a:r>
              <a:rPr kern="1200" dirty="0">
                <a:solidFill>
                  <a:prstClr val="black"/>
                </a:solidFill>
                <a:latin typeface="Palatino Linotype"/>
                <a:cs typeface="Palatino Linotype"/>
              </a:rPr>
              <a:t>Analyzer</a:t>
            </a:r>
            <a:endParaRPr kern="1200">
              <a:solidFill>
                <a:prstClr val="black"/>
              </a:solidFill>
              <a:latin typeface="Palatino Linotype"/>
              <a:cs typeface="Palatino Linotype"/>
            </a:endParaRPr>
          </a:p>
        </p:txBody>
      </p:sp>
      <p:sp>
        <p:nvSpPr>
          <p:cNvPr id="32" name="object 5">
            <a:extLst>
              <a:ext uri="{FF2B5EF4-FFF2-40B4-BE49-F238E27FC236}">
                <a16:creationId xmlns:a16="http://schemas.microsoft.com/office/drawing/2014/main" id="{770AE42B-461B-3E20-F3E1-8C7C06BA6999}"/>
              </a:ext>
            </a:extLst>
          </p:cNvPr>
          <p:cNvSpPr txBox="1"/>
          <p:nvPr/>
        </p:nvSpPr>
        <p:spPr>
          <a:xfrm>
            <a:off x="3672332" y="3653154"/>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33" name="object 6">
            <a:extLst>
              <a:ext uri="{FF2B5EF4-FFF2-40B4-BE49-F238E27FC236}">
                <a16:creationId xmlns:a16="http://schemas.microsoft.com/office/drawing/2014/main" id="{29D3392F-509D-6A8D-F8CD-9E78A45CB2D3}"/>
              </a:ext>
            </a:extLst>
          </p:cNvPr>
          <p:cNvSpPr txBox="1"/>
          <p:nvPr/>
        </p:nvSpPr>
        <p:spPr>
          <a:xfrm>
            <a:off x="1945004" y="4303903"/>
            <a:ext cx="902969"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0" dirty="0">
                <a:solidFill>
                  <a:prstClr val="black"/>
                </a:solidFill>
                <a:latin typeface="Consolas"/>
                <a:cs typeface="Consolas"/>
              </a:rPr>
              <a:t> </a:t>
            </a:r>
            <a:r>
              <a:rPr kern="1200" spc="-5" dirty="0">
                <a:solidFill>
                  <a:prstClr val="black"/>
                </a:solidFill>
                <a:latin typeface="Consolas"/>
                <a:cs typeface="Consolas"/>
              </a:rPr>
              <a:t>1&gt;</a:t>
            </a:r>
            <a:endParaRPr kern="1200">
              <a:solidFill>
                <a:prstClr val="black"/>
              </a:solidFill>
              <a:latin typeface="Consolas"/>
              <a:cs typeface="Consolas"/>
            </a:endParaRPr>
          </a:p>
        </p:txBody>
      </p:sp>
      <p:sp>
        <p:nvSpPr>
          <p:cNvPr id="34" name="object 7">
            <a:extLst>
              <a:ext uri="{FF2B5EF4-FFF2-40B4-BE49-F238E27FC236}">
                <a16:creationId xmlns:a16="http://schemas.microsoft.com/office/drawing/2014/main" id="{C8E35804-EC4D-9541-3D64-9EF545F35D7F}"/>
              </a:ext>
            </a:extLst>
          </p:cNvPr>
          <p:cNvSpPr txBox="1"/>
          <p:nvPr/>
        </p:nvSpPr>
        <p:spPr>
          <a:xfrm>
            <a:off x="4869941" y="4303903"/>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p>
        </p:txBody>
      </p:sp>
      <p:sp>
        <p:nvSpPr>
          <p:cNvPr id="35" name="object 8">
            <a:extLst>
              <a:ext uri="{FF2B5EF4-FFF2-40B4-BE49-F238E27FC236}">
                <a16:creationId xmlns:a16="http://schemas.microsoft.com/office/drawing/2014/main" id="{230EDA14-57E2-D1CF-9708-6ABA95D55BB5}"/>
              </a:ext>
            </a:extLst>
          </p:cNvPr>
          <p:cNvSpPr txBox="1"/>
          <p:nvPr/>
        </p:nvSpPr>
        <p:spPr>
          <a:xfrm>
            <a:off x="3294634" y="4991861"/>
            <a:ext cx="90233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2&gt;</a:t>
            </a:r>
            <a:endParaRPr kern="1200">
              <a:solidFill>
                <a:prstClr val="black"/>
              </a:solidFill>
              <a:latin typeface="Consolas"/>
              <a:cs typeface="Consolas"/>
            </a:endParaRPr>
          </a:p>
        </p:txBody>
      </p:sp>
      <p:sp>
        <p:nvSpPr>
          <p:cNvPr id="36" name="object 9">
            <a:extLst>
              <a:ext uri="{FF2B5EF4-FFF2-40B4-BE49-F238E27FC236}">
                <a16:creationId xmlns:a16="http://schemas.microsoft.com/office/drawing/2014/main" id="{05165269-7C95-7D3A-0915-70E99AD74734}"/>
              </a:ext>
            </a:extLst>
          </p:cNvPr>
          <p:cNvSpPr txBox="1"/>
          <p:nvPr/>
        </p:nvSpPr>
        <p:spPr>
          <a:xfrm>
            <a:off x="6020815" y="4991480"/>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37" name="object 10">
            <a:extLst>
              <a:ext uri="{FF2B5EF4-FFF2-40B4-BE49-F238E27FC236}">
                <a16:creationId xmlns:a16="http://schemas.microsoft.com/office/drawing/2014/main" id="{BA073EEB-DE93-4A53-FD9F-F2215E0F8794}"/>
              </a:ext>
            </a:extLst>
          </p:cNvPr>
          <p:cNvSpPr txBox="1"/>
          <p:nvPr/>
        </p:nvSpPr>
        <p:spPr>
          <a:xfrm>
            <a:off x="4489830" y="5637072"/>
            <a:ext cx="902969"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0" dirty="0">
                <a:solidFill>
                  <a:prstClr val="black"/>
                </a:solidFill>
                <a:latin typeface="Consolas"/>
                <a:cs typeface="Consolas"/>
              </a:rPr>
              <a:t> </a:t>
            </a:r>
            <a:r>
              <a:rPr kern="1200" spc="-5" dirty="0">
                <a:solidFill>
                  <a:prstClr val="black"/>
                </a:solidFill>
                <a:latin typeface="Consolas"/>
                <a:cs typeface="Consolas"/>
              </a:rPr>
              <a:t>3&gt;</a:t>
            </a:r>
            <a:endParaRPr kern="1200">
              <a:solidFill>
                <a:prstClr val="black"/>
              </a:solidFill>
              <a:latin typeface="Consolas"/>
              <a:cs typeface="Consolas"/>
            </a:endParaRPr>
          </a:p>
        </p:txBody>
      </p:sp>
      <p:sp>
        <p:nvSpPr>
          <p:cNvPr id="38" name="object 11">
            <a:extLst>
              <a:ext uri="{FF2B5EF4-FFF2-40B4-BE49-F238E27FC236}">
                <a16:creationId xmlns:a16="http://schemas.microsoft.com/office/drawing/2014/main" id="{D958425E-58FF-C5E9-B8D6-828AB7947FBD}"/>
              </a:ext>
            </a:extLst>
          </p:cNvPr>
          <p:cNvSpPr txBox="1"/>
          <p:nvPr/>
        </p:nvSpPr>
        <p:spPr>
          <a:xfrm>
            <a:off x="7104633" y="5637072"/>
            <a:ext cx="275590"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60</a:t>
            </a:r>
            <a:endParaRPr kern="1200">
              <a:solidFill>
                <a:prstClr val="black"/>
              </a:solidFill>
              <a:latin typeface="Consolas"/>
              <a:cs typeface="Consolas"/>
            </a:endParaRPr>
          </a:p>
        </p:txBody>
      </p:sp>
      <p:sp>
        <p:nvSpPr>
          <p:cNvPr id="39" name="object 12">
            <a:extLst>
              <a:ext uri="{FF2B5EF4-FFF2-40B4-BE49-F238E27FC236}">
                <a16:creationId xmlns:a16="http://schemas.microsoft.com/office/drawing/2014/main" id="{F8C94C3B-79EF-8EE5-1DD5-092CF2E29C63}"/>
              </a:ext>
            </a:extLst>
          </p:cNvPr>
          <p:cNvSpPr/>
          <p:nvPr/>
        </p:nvSpPr>
        <p:spPr>
          <a:xfrm>
            <a:off x="2810255" y="4002023"/>
            <a:ext cx="938530" cy="360680"/>
          </a:xfrm>
          <a:custGeom>
            <a:avLst/>
            <a:gdLst/>
            <a:ahLst/>
            <a:cxnLst/>
            <a:rect l="l" t="t" r="r" b="b"/>
            <a:pathLst>
              <a:path w="938529" h="360679">
                <a:moveTo>
                  <a:pt x="938021" y="0"/>
                </a:moveTo>
                <a:lnTo>
                  <a:pt x="0" y="360552"/>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3">
            <a:extLst>
              <a:ext uri="{FF2B5EF4-FFF2-40B4-BE49-F238E27FC236}">
                <a16:creationId xmlns:a16="http://schemas.microsoft.com/office/drawing/2014/main" id="{1D482D6C-84F7-41FA-8A50-EB1C45708043}"/>
              </a:ext>
            </a:extLst>
          </p:cNvPr>
          <p:cNvSpPr/>
          <p:nvPr/>
        </p:nvSpPr>
        <p:spPr>
          <a:xfrm>
            <a:off x="3749040" y="4002023"/>
            <a:ext cx="1035685" cy="360680"/>
          </a:xfrm>
          <a:custGeom>
            <a:avLst/>
            <a:gdLst/>
            <a:ahLst/>
            <a:cxnLst/>
            <a:rect l="l" t="t" r="r" b="b"/>
            <a:pathLst>
              <a:path w="1035685" h="360679">
                <a:moveTo>
                  <a:pt x="0" y="0"/>
                </a:moveTo>
                <a:lnTo>
                  <a:pt x="1035558" y="360552"/>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1" name="object 14">
            <a:extLst>
              <a:ext uri="{FF2B5EF4-FFF2-40B4-BE49-F238E27FC236}">
                <a16:creationId xmlns:a16="http://schemas.microsoft.com/office/drawing/2014/main" id="{28EEB462-DE29-BB74-E831-E04B55B8B668}"/>
              </a:ext>
            </a:extLst>
          </p:cNvPr>
          <p:cNvSpPr/>
          <p:nvPr/>
        </p:nvSpPr>
        <p:spPr>
          <a:xfrm>
            <a:off x="4027932" y="4652771"/>
            <a:ext cx="918210" cy="356870"/>
          </a:xfrm>
          <a:custGeom>
            <a:avLst/>
            <a:gdLst/>
            <a:ahLst/>
            <a:cxnLst/>
            <a:rect l="l" t="t" r="r" b="b"/>
            <a:pathLst>
              <a:path w="918210" h="356870">
                <a:moveTo>
                  <a:pt x="918209" y="0"/>
                </a:moveTo>
                <a:lnTo>
                  <a:pt x="0" y="356869"/>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15">
            <a:extLst>
              <a:ext uri="{FF2B5EF4-FFF2-40B4-BE49-F238E27FC236}">
                <a16:creationId xmlns:a16="http://schemas.microsoft.com/office/drawing/2014/main" id="{FA8BDC57-6B56-95A7-0DBF-702C48EBD320}"/>
              </a:ext>
            </a:extLst>
          </p:cNvPr>
          <p:cNvSpPr/>
          <p:nvPr/>
        </p:nvSpPr>
        <p:spPr>
          <a:xfrm>
            <a:off x="4945379" y="4652771"/>
            <a:ext cx="1061720" cy="370205"/>
          </a:xfrm>
          <a:custGeom>
            <a:avLst/>
            <a:gdLst/>
            <a:ahLst/>
            <a:cxnLst/>
            <a:rect l="l" t="t" r="r" b="b"/>
            <a:pathLst>
              <a:path w="1061720" h="370204">
                <a:moveTo>
                  <a:pt x="0" y="0"/>
                </a:moveTo>
                <a:lnTo>
                  <a:pt x="1061593" y="369950"/>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3" name="object 16">
            <a:extLst>
              <a:ext uri="{FF2B5EF4-FFF2-40B4-BE49-F238E27FC236}">
                <a16:creationId xmlns:a16="http://schemas.microsoft.com/office/drawing/2014/main" id="{4C8DC622-FF2E-B7A6-16D4-13076FE0C80E}"/>
              </a:ext>
            </a:extLst>
          </p:cNvPr>
          <p:cNvSpPr/>
          <p:nvPr/>
        </p:nvSpPr>
        <p:spPr>
          <a:xfrm>
            <a:off x="5181600" y="5283708"/>
            <a:ext cx="933450" cy="349250"/>
          </a:xfrm>
          <a:custGeom>
            <a:avLst/>
            <a:gdLst/>
            <a:ahLst/>
            <a:cxnLst/>
            <a:rect l="l" t="t" r="r" b="b"/>
            <a:pathLst>
              <a:path w="933450" h="349250">
                <a:moveTo>
                  <a:pt x="933196" y="0"/>
                </a:moveTo>
                <a:lnTo>
                  <a:pt x="0" y="348691"/>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4" name="object 17">
            <a:extLst>
              <a:ext uri="{FF2B5EF4-FFF2-40B4-BE49-F238E27FC236}">
                <a16:creationId xmlns:a16="http://schemas.microsoft.com/office/drawing/2014/main" id="{C4B165A0-D43C-658E-B4B5-B345BF634B10}"/>
              </a:ext>
            </a:extLst>
          </p:cNvPr>
          <p:cNvSpPr/>
          <p:nvPr/>
        </p:nvSpPr>
        <p:spPr>
          <a:xfrm>
            <a:off x="6115811" y="5283708"/>
            <a:ext cx="1021715" cy="349250"/>
          </a:xfrm>
          <a:custGeom>
            <a:avLst/>
            <a:gdLst/>
            <a:ahLst/>
            <a:cxnLst/>
            <a:rect l="l" t="t" r="r" b="b"/>
            <a:pathLst>
              <a:path w="1021715" h="349250">
                <a:moveTo>
                  <a:pt x="0" y="0"/>
                </a:moveTo>
                <a:lnTo>
                  <a:pt x="1021207" y="348691"/>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5" name="object 18">
            <a:extLst>
              <a:ext uri="{FF2B5EF4-FFF2-40B4-BE49-F238E27FC236}">
                <a16:creationId xmlns:a16="http://schemas.microsoft.com/office/drawing/2014/main" id="{A6B5C9C6-06CE-121A-02BB-CA91EA9303B6}"/>
              </a:ext>
            </a:extLst>
          </p:cNvPr>
          <p:cNvSpPr/>
          <p:nvPr/>
        </p:nvSpPr>
        <p:spPr>
          <a:xfrm>
            <a:off x="4535551" y="2284476"/>
            <a:ext cx="103505" cy="328930"/>
          </a:xfrm>
          <a:custGeom>
            <a:avLst/>
            <a:gdLst/>
            <a:ahLst/>
            <a:cxnLst/>
            <a:rect l="l" t="t" r="r" b="b"/>
            <a:pathLst>
              <a:path w="103504" h="328930">
                <a:moveTo>
                  <a:pt x="8254" y="189737"/>
                </a:moveTo>
                <a:lnTo>
                  <a:pt x="1650" y="192277"/>
                </a:lnTo>
                <a:lnTo>
                  <a:pt x="0" y="195961"/>
                </a:lnTo>
                <a:lnTo>
                  <a:pt x="1270" y="199262"/>
                </a:lnTo>
                <a:lnTo>
                  <a:pt x="51688" y="328675"/>
                </a:lnTo>
                <a:lnTo>
                  <a:pt x="58467" y="311276"/>
                </a:lnTo>
                <a:lnTo>
                  <a:pt x="45338" y="311276"/>
                </a:lnTo>
                <a:lnTo>
                  <a:pt x="45338" y="277186"/>
                </a:lnTo>
                <a:lnTo>
                  <a:pt x="13208" y="194563"/>
                </a:lnTo>
                <a:lnTo>
                  <a:pt x="11937" y="191388"/>
                </a:lnTo>
                <a:lnTo>
                  <a:pt x="8254" y="189737"/>
                </a:lnTo>
                <a:close/>
              </a:path>
              <a:path w="103504" h="328930">
                <a:moveTo>
                  <a:pt x="45339" y="277186"/>
                </a:moveTo>
                <a:lnTo>
                  <a:pt x="45338" y="311276"/>
                </a:lnTo>
                <a:lnTo>
                  <a:pt x="58038" y="311276"/>
                </a:lnTo>
                <a:lnTo>
                  <a:pt x="58038" y="308863"/>
                </a:lnTo>
                <a:lnTo>
                  <a:pt x="45720" y="308863"/>
                </a:lnTo>
                <a:lnTo>
                  <a:pt x="51689" y="293515"/>
                </a:lnTo>
                <a:lnTo>
                  <a:pt x="45339" y="277186"/>
                </a:lnTo>
                <a:close/>
              </a:path>
              <a:path w="103504" h="328930">
                <a:moveTo>
                  <a:pt x="95123" y="189737"/>
                </a:moveTo>
                <a:lnTo>
                  <a:pt x="91439" y="191388"/>
                </a:lnTo>
                <a:lnTo>
                  <a:pt x="90170" y="194563"/>
                </a:lnTo>
                <a:lnTo>
                  <a:pt x="58038" y="277186"/>
                </a:lnTo>
                <a:lnTo>
                  <a:pt x="58038" y="311276"/>
                </a:lnTo>
                <a:lnTo>
                  <a:pt x="58467" y="311276"/>
                </a:lnTo>
                <a:lnTo>
                  <a:pt x="102108" y="199262"/>
                </a:lnTo>
                <a:lnTo>
                  <a:pt x="103377" y="195961"/>
                </a:lnTo>
                <a:lnTo>
                  <a:pt x="101726" y="192277"/>
                </a:lnTo>
                <a:lnTo>
                  <a:pt x="95123" y="189737"/>
                </a:lnTo>
                <a:close/>
              </a:path>
              <a:path w="103504" h="328930">
                <a:moveTo>
                  <a:pt x="51689" y="293515"/>
                </a:moveTo>
                <a:lnTo>
                  <a:pt x="45720" y="308863"/>
                </a:lnTo>
                <a:lnTo>
                  <a:pt x="57658" y="308863"/>
                </a:lnTo>
                <a:lnTo>
                  <a:pt x="51689" y="293515"/>
                </a:lnTo>
                <a:close/>
              </a:path>
              <a:path w="103504" h="328930">
                <a:moveTo>
                  <a:pt x="58038" y="277186"/>
                </a:moveTo>
                <a:lnTo>
                  <a:pt x="51689" y="293515"/>
                </a:lnTo>
                <a:lnTo>
                  <a:pt x="57658" y="308863"/>
                </a:lnTo>
                <a:lnTo>
                  <a:pt x="58038" y="308863"/>
                </a:lnTo>
                <a:lnTo>
                  <a:pt x="58038" y="277186"/>
                </a:lnTo>
                <a:close/>
              </a:path>
              <a:path w="103504" h="328930">
                <a:moveTo>
                  <a:pt x="58038" y="0"/>
                </a:moveTo>
                <a:lnTo>
                  <a:pt x="45338" y="0"/>
                </a:lnTo>
                <a:lnTo>
                  <a:pt x="45339" y="277186"/>
                </a:lnTo>
                <a:lnTo>
                  <a:pt x="51689" y="293515"/>
                </a:lnTo>
                <a:lnTo>
                  <a:pt x="58038" y="277186"/>
                </a:lnTo>
                <a:lnTo>
                  <a:pt x="5803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6" name="object 19">
            <a:extLst>
              <a:ext uri="{FF2B5EF4-FFF2-40B4-BE49-F238E27FC236}">
                <a16:creationId xmlns:a16="http://schemas.microsoft.com/office/drawing/2014/main" id="{0F41A984-E2CE-4371-C3E1-12C8EACFB14C}"/>
              </a:ext>
            </a:extLst>
          </p:cNvPr>
          <p:cNvSpPr/>
          <p:nvPr/>
        </p:nvSpPr>
        <p:spPr>
          <a:xfrm>
            <a:off x="4535551" y="3304032"/>
            <a:ext cx="103505" cy="513715"/>
          </a:xfrm>
          <a:custGeom>
            <a:avLst/>
            <a:gdLst/>
            <a:ahLst/>
            <a:cxnLst/>
            <a:rect l="l" t="t" r="r" b="b"/>
            <a:pathLst>
              <a:path w="103504" h="513714">
                <a:moveTo>
                  <a:pt x="8254" y="374141"/>
                </a:moveTo>
                <a:lnTo>
                  <a:pt x="1650" y="376681"/>
                </a:lnTo>
                <a:lnTo>
                  <a:pt x="0" y="380364"/>
                </a:lnTo>
                <a:lnTo>
                  <a:pt x="1270" y="383666"/>
                </a:lnTo>
                <a:lnTo>
                  <a:pt x="51688" y="513206"/>
                </a:lnTo>
                <a:lnTo>
                  <a:pt x="58510" y="495680"/>
                </a:lnTo>
                <a:lnTo>
                  <a:pt x="45338" y="495680"/>
                </a:lnTo>
                <a:lnTo>
                  <a:pt x="45338" y="461717"/>
                </a:lnTo>
                <a:lnTo>
                  <a:pt x="11937" y="375792"/>
                </a:lnTo>
                <a:lnTo>
                  <a:pt x="8254" y="374141"/>
                </a:lnTo>
                <a:close/>
              </a:path>
              <a:path w="103504" h="513714">
                <a:moveTo>
                  <a:pt x="45339" y="461717"/>
                </a:moveTo>
                <a:lnTo>
                  <a:pt x="45338" y="495680"/>
                </a:lnTo>
                <a:lnTo>
                  <a:pt x="58038" y="495680"/>
                </a:lnTo>
                <a:lnTo>
                  <a:pt x="58038" y="493394"/>
                </a:lnTo>
                <a:lnTo>
                  <a:pt x="45720" y="493394"/>
                </a:lnTo>
                <a:lnTo>
                  <a:pt x="51689" y="478046"/>
                </a:lnTo>
                <a:lnTo>
                  <a:pt x="45339" y="461717"/>
                </a:lnTo>
                <a:close/>
              </a:path>
              <a:path w="103504" h="513714">
                <a:moveTo>
                  <a:pt x="95123" y="374141"/>
                </a:moveTo>
                <a:lnTo>
                  <a:pt x="91439" y="375792"/>
                </a:lnTo>
                <a:lnTo>
                  <a:pt x="58038" y="461717"/>
                </a:lnTo>
                <a:lnTo>
                  <a:pt x="58038" y="495680"/>
                </a:lnTo>
                <a:lnTo>
                  <a:pt x="58510" y="495680"/>
                </a:lnTo>
                <a:lnTo>
                  <a:pt x="102108" y="383666"/>
                </a:lnTo>
                <a:lnTo>
                  <a:pt x="103377" y="380364"/>
                </a:lnTo>
                <a:lnTo>
                  <a:pt x="101726" y="376681"/>
                </a:lnTo>
                <a:lnTo>
                  <a:pt x="95123" y="374141"/>
                </a:lnTo>
                <a:close/>
              </a:path>
              <a:path w="103504" h="513714">
                <a:moveTo>
                  <a:pt x="51689" y="478046"/>
                </a:moveTo>
                <a:lnTo>
                  <a:pt x="45720" y="493394"/>
                </a:lnTo>
                <a:lnTo>
                  <a:pt x="57658" y="493394"/>
                </a:lnTo>
                <a:lnTo>
                  <a:pt x="51689" y="478046"/>
                </a:lnTo>
                <a:close/>
              </a:path>
              <a:path w="103504" h="513714">
                <a:moveTo>
                  <a:pt x="58038" y="461717"/>
                </a:moveTo>
                <a:lnTo>
                  <a:pt x="51689" y="478046"/>
                </a:lnTo>
                <a:lnTo>
                  <a:pt x="57658" y="493394"/>
                </a:lnTo>
                <a:lnTo>
                  <a:pt x="58038" y="493394"/>
                </a:lnTo>
                <a:lnTo>
                  <a:pt x="58038" y="461717"/>
                </a:lnTo>
                <a:close/>
              </a:path>
              <a:path w="103504" h="513714">
                <a:moveTo>
                  <a:pt x="58038" y="0"/>
                </a:moveTo>
                <a:lnTo>
                  <a:pt x="45338" y="0"/>
                </a:lnTo>
                <a:lnTo>
                  <a:pt x="45339" y="461717"/>
                </a:lnTo>
                <a:lnTo>
                  <a:pt x="51689" y="478046"/>
                </a:lnTo>
                <a:lnTo>
                  <a:pt x="58038" y="461717"/>
                </a:lnTo>
                <a:lnTo>
                  <a:pt x="5803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7" name="object 20">
            <a:extLst>
              <a:ext uri="{FF2B5EF4-FFF2-40B4-BE49-F238E27FC236}">
                <a16:creationId xmlns:a16="http://schemas.microsoft.com/office/drawing/2014/main" id="{590123B4-422F-6EE0-7D2F-C21BAB57E54A}"/>
              </a:ext>
            </a:extLst>
          </p:cNvPr>
          <p:cNvSpPr/>
          <p:nvPr/>
        </p:nvSpPr>
        <p:spPr>
          <a:xfrm>
            <a:off x="4759452" y="4291584"/>
            <a:ext cx="373380" cy="361315"/>
          </a:xfrm>
          <a:custGeom>
            <a:avLst/>
            <a:gdLst/>
            <a:ahLst/>
            <a:cxnLst/>
            <a:rect l="l" t="t" r="r" b="b"/>
            <a:pathLst>
              <a:path w="373379" h="361314">
                <a:moveTo>
                  <a:pt x="0" y="180594"/>
                </a:moveTo>
                <a:lnTo>
                  <a:pt x="6667" y="132600"/>
                </a:lnTo>
                <a:lnTo>
                  <a:pt x="25484" y="89464"/>
                </a:lnTo>
                <a:lnTo>
                  <a:pt x="54673" y="52911"/>
                </a:lnTo>
                <a:lnTo>
                  <a:pt x="92456" y="24666"/>
                </a:lnTo>
                <a:lnTo>
                  <a:pt x="137054" y="6454"/>
                </a:lnTo>
                <a:lnTo>
                  <a:pt x="186689" y="0"/>
                </a:lnTo>
                <a:lnTo>
                  <a:pt x="236325" y="6454"/>
                </a:lnTo>
                <a:lnTo>
                  <a:pt x="280924" y="24666"/>
                </a:lnTo>
                <a:lnTo>
                  <a:pt x="318706" y="52911"/>
                </a:lnTo>
                <a:lnTo>
                  <a:pt x="347895" y="89464"/>
                </a:lnTo>
                <a:lnTo>
                  <a:pt x="366712" y="132600"/>
                </a:lnTo>
                <a:lnTo>
                  <a:pt x="373380" y="180594"/>
                </a:lnTo>
                <a:lnTo>
                  <a:pt x="366712" y="228587"/>
                </a:lnTo>
                <a:lnTo>
                  <a:pt x="347895" y="271723"/>
                </a:lnTo>
                <a:lnTo>
                  <a:pt x="318706" y="308276"/>
                </a:lnTo>
                <a:lnTo>
                  <a:pt x="280924" y="336521"/>
                </a:lnTo>
                <a:lnTo>
                  <a:pt x="236325" y="354733"/>
                </a:lnTo>
                <a:lnTo>
                  <a:pt x="186689" y="361188"/>
                </a:lnTo>
                <a:lnTo>
                  <a:pt x="137054" y="354733"/>
                </a:lnTo>
                <a:lnTo>
                  <a:pt x="92455" y="336521"/>
                </a:lnTo>
                <a:lnTo>
                  <a:pt x="54673" y="308276"/>
                </a:lnTo>
                <a:lnTo>
                  <a:pt x="25484" y="271723"/>
                </a:lnTo>
                <a:lnTo>
                  <a:pt x="6667" y="228587"/>
                </a:lnTo>
                <a:lnTo>
                  <a:pt x="0" y="180594"/>
                </a:lnTo>
                <a:close/>
              </a:path>
            </a:pathLst>
          </a:custGeom>
          <a:ln w="12699">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21">
            <a:extLst>
              <a:ext uri="{FF2B5EF4-FFF2-40B4-BE49-F238E27FC236}">
                <a16:creationId xmlns:a16="http://schemas.microsoft.com/office/drawing/2014/main" id="{13C374C0-CEB0-D2CD-53F0-0905E0F50893}"/>
              </a:ext>
            </a:extLst>
          </p:cNvPr>
          <p:cNvSpPr txBox="1"/>
          <p:nvPr/>
        </p:nvSpPr>
        <p:spPr>
          <a:xfrm>
            <a:off x="5775452" y="3937761"/>
            <a:ext cx="2543175"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Interior </a:t>
            </a:r>
            <a:r>
              <a:rPr kern="1200" spc="-5" dirty="0">
                <a:solidFill>
                  <a:srgbClr val="FF0000"/>
                </a:solidFill>
                <a:latin typeface="Palatino Linotype"/>
                <a:cs typeface="Palatino Linotype"/>
              </a:rPr>
              <a:t>node</a:t>
            </a:r>
            <a:r>
              <a:rPr kern="1200" spc="-80" dirty="0">
                <a:solidFill>
                  <a:srgbClr val="FF0000"/>
                </a:solidFill>
                <a:latin typeface="Palatino Linotype"/>
                <a:cs typeface="Palatino Linotype"/>
              </a:rPr>
              <a:t> </a:t>
            </a:r>
            <a:r>
              <a:rPr kern="1200" dirty="0">
                <a:solidFill>
                  <a:srgbClr val="FF0000"/>
                </a:solidFill>
                <a:latin typeface="Palatino Linotype"/>
                <a:cs typeface="Palatino Linotype"/>
              </a:rPr>
              <a:t>(operation)</a:t>
            </a:r>
            <a:endParaRPr kern="1200" dirty="0">
              <a:solidFill>
                <a:prstClr val="black"/>
              </a:solidFill>
              <a:latin typeface="Palatino Linotype"/>
              <a:cs typeface="Palatino Linotype"/>
            </a:endParaRPr>
          </a:p>
        </p:txBody>
      </p:sp>
      <p:sp>
        <p:nvSpPr>
          <p:cNvPr id="49" name="object 22">
            <a:extLst>
              <a:ext uri="{FF2B5EF4-FFF2-40B4-BE49-F238E27FC236}">
                <a16:creationId xmlns:a16="http://schemas.microsoft.com/office/drawing/2014/main" id="{34FF285D-4800-0060-1BB0-0A50246D5BA7}"/>
              </a:ext>
            </a:extLst>
          </p:cNvPr>
          <p:cNvSpPr/>
          <p:nvPr/>
        </p:nvSpPr>
        <p:spPr>
          <a:xfrm>
            <a:off x="5075682" y="4104132"/>
            <a:ext cx="620395" cy="247650"/>
          </a:xfrm>
          <a:custGeom>
            <a:avLst/>
            <a:gdLst/>
            <a:ahLst/>
            <a:cxnLst/>
            <a:rect l="l" t="t" r="r" b="b"/>
            <a:pathLst>
              <a:path w="620395" h="247650">
                <a:moveTo>
                  <a:pt x="587392" y="12732"/>
                </a:moveTo>
                <a:lnTo>
                  <a:pt x="570086" y="12767"/>
                </a:lnTo>
                <a:lnTo>
                  <a:pt x="0" y="235458"/>
                </a:lnTo>
                <a:lnTo>
                  <a:pt x="4571" y="247269"/>
                </a:lnTo>
                <a:lnTo>
                  <a:pt x="574406" y="24677"/>
                </a:lnTo>
                <a:lnTo>
                  <a:pt x="587392" y="12732"/>
                </a:lnTo>
                <a:close/>
              </a:path>
              <a:path w="620395" h="247650">
                <a:moveTo>
                  <a:pt x="619588" y="508"/>
                </a:moveTo>
                <a:lnTo>
                  <a:pt x="601471" y="508"/>
                </a:lnTo>
                <a:lnTo>
                  <a:pt x="606043" y="12319"/>
                </a:lnTo>
                <a:lnTo>
                  <a:pt x="574406" y="24677"/>
                </a:lnTo>
                <a:lnTo>
                  <a:pt x="509142" y="84709"/>
                </a:lnTo>
                <a:lnTo>
                  <a:pt x="506602" y="87122"/>
                </a:lnTo>
                <a:lnTo>
                  <a:pt x="506475" y="91059"/>
                </a:lnTo>
                <a:lnTo>
                  <a:pt x="508762" y="93726"/>
                </a:lnTo>
                <a:lnTo>
                  <a:pt x="511175" y="96266"/>
                </a:lnTo>
                <a:lnTo>
                  <a:pt x="515238" y="96393"/>
                </a:lnTo>
                <a:lnTo>
                  <a:pt x="517778" y="94107"/>
                </a:lnTo>
                <a:lnTo>
                  <a:pt x="619588" y="508"/>
                </a:lnTo>
                <a:close/>
              </a:path>
              <a:path w="620395" h="247650">
                <a:moveTo>
                  <a:pt x="601914" y="1651"/>
                </a:moveTo>
                <a:lnTo>
                  <a:pt x="599439" y="1651"/>
                </a:lnTo>
                <a:lnTo>
                  <a:pt x="603757" y="12700"/>
                </a:lnTo>
                <a:lnTo>
                  <a:pt x="587392" y="12732"/>
                </a:lnTo>
                <a:lnTo>
                  <a:pt x="574406" y="24677"/>
                </a:lnTo>
                <a:lnTo>
                  <a:pt x="606043" y="12319"/>
                </a:lnTo>
                <a:lnTo>
                  <a:pt x="601914" y="1651"/>
                </a:lnTo>
                <a:close/>
              </a:path>
              <a:path w="620395" h="247650">
                <a:moveTo>
                  <a:pt x="620140" y="0"/>
                </a:moveTo>
                <a:lnTo>
                  <a:pt x="481075" y="254"/>
                </a:lnTo>
                <a:lnTo>
                  <a:pt x="477646" y="254"/>
                </a:lnTo>
                <a:lnTo>
                  <a:pt x="474725" y="3048"/>
                </a:lnTo>
                <a:lnTo>
                  <a:pt x="474725" y="10033"/>
                </a:lnTo>
                <a:lnTo>
                  <a:pt x="477646" y="12954"/>
                </a:lnTo>
                <a:lnTo>
                  <a:pt x="570086" y="12767"/>
                </a:lnTo>
                <a:lnTo>
                  <a:pt x="601471" y="508"/>
                </a:lnTo>
                <a:lnTo>
                  <a:pt x="619588" y="508"/>
                </a:lnTo>
                <a:lnTo>
                  <a:pt x="620140" y="0"/>
                </a:lnTo>
                <a:close/>
              </a:path>
              <a:path w="620395" h="247650">
                <a:moveTo>
                  <a:pt x="601471" y="508"/>
                </a:moveTo>
                <a:lnTo>
                  <a:pt x="570086" y="12767"/>
                </a:lnTo>
                <a:lnTo>
                  <a:pt x="587392" y="12732"/>
                </a:lnTo>
                <a:lnTo>
                  <a:pt x="599439" y="1651"/>
                </a:lnTo>
                <a:lnTo>
                  <a:pt x="601914" y="1651"/>
                </a:lnTo>
                <a:lnTo>
                  <a:pt x="601471" y="508"/>
                </a:lnTo>
                <a:close/>
              </a:path>
              <a:path w="620395" h="247650">
                <a:moveTo>
                  <a:pt x="599439" y="1651"/>
                </a:moveTo>
                <a:lnTo>
                  <a:pt x="587392" y="12732"/>
                </a:lnTo>
                <a:lnTo>
                  <a:pt x="603757" y="12700"/>
                </a:lnTo>
                <a:lnTo>
                  <a:pt x="599439" y="1651"/>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0" name="object 23">
            <a:extLst>
              <a:ext uri="{FF2B5EF4-FFF2-40B4-BE49-F238E27FC236}">
                <a16:creationId xmlns:a16="http://schemas.microsoft.com/office/drawing/2014/main" id="{2124CC46-5788-0F61-D721-CAF4509F1927}"/>
              </a:ext>
            </a:extLst>
          </p:cNvPr>
          <p:cNvSpPr txBox="1"/>
          <p:nvPr/>
        </p:nvSpPr>
        <p:spPr>
          <a:xfrm>
            <a:off x="823671" y="5634938"/>
            <a:ext cx="2626995"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children </a:t>
            </a:r>
            <a:r>
              <a:rPr kern="1200" spc="-5" dirty="0">
                <a:solidFill>
                  <a:srgbClr val="FF0000"/>
                </a:solidFill>
                <a:latin typeface="Palatino Linotype"/>
                <a:cs typeface="Palatino Linotype"/>
              </a:rPr>
              <a:t>node</a:t>
            </a:r>
            <a:r>
              <a:rPr kern="1200" spc="-65" dirty="0">
                <a:solidFill>
                  <a:srgbClr val="FF0000"/>
                </a:solidFill>
                <a:latin typeface="Palatino Linotype"/>
                <a:cs typeface="Palatino Linotype"/>
              </a:rPr>
              <a:t> </a:t>
            </a:r>
            <a:r>
              <a:rPr kern="1200" spc="-5" dirty="0">
                <a:solidFill>
                  <a:srgbClr val="FF0000"/>
                </a:solidFill>
                <a:latin typeface="Palatino Linotype"/>
                <a:cs typeface="Palatino Linotype"/>
              </a:rPr>
              <a:t>(argument)</a:t>
            </a:r>
            <a:endParaRPr kern="1200">
              <a:solidFill>
                <a:prstClr val="black"/>
              </a:solidFill>
              <a:latin typeface="Palatino Linotype"/>
              <a:cs typeface="Palatino Linotype"/>
            </a:endParaRPr>
          </a:p>
        </p:txBody>
      </p:sp>
      <p:sp>
        <p:nvSpPr>
          <p:cNvPr id="51" name="object 24">
            <a:extLst>
              <a:ext uri="{FF2B5EF4-FFF2-40B4-BE49-F238E27FC236}">
                <a16:creationId xmlns:a16="http://schemas.microsoft.com/office/drawing/2014/main" id="{6ED9B936-CC32-AF19-7452-57AE21381682}"/>
              </a:ext>
            </a:extLst>
          </p:cNvPr>
          <p:cNvSpPr/>
          <p:nvPr/>
        </p:nvSpPr>
        <p:spPr>
          <a:xfrm>
            <a:off x="2980944" y="4977384"/>
            <a:ext cx="1536700" cy="360045"/>
          </a:xfrm>
          <a:custGeom>
            <a:avLst/>
            <a:gdLst/>
            <a:ahLst/>
            <a:cxnLst/>
            <a:rect l="l" t="t" r="r" b="b"/>
            <a:pathLst>
              <a:path w="1536700" h="360045">
                <a:moveTo>
                  <a:pt x="0" y="179832"/>
                </a:moveTo>
                <a:lnTo>
                  <a:pt x="30681" y="129349"/>
                </a:lnTo>
                <a:lnTo>
                  <a:pt x="82543" y="98650"/>
                </a:lnTo>
                <a:lnTo>
                  <a:pt x="156526" y="71019"/>
                </a:lnTo>
                <a:lnTo>
                  <a:pt x="201007" y="58543"/>
                </a:lnTo>
                <a:lnTo>
                  <a:pt x="250053" y="47060"/>
                </a:lnTo>
                <a:lnTo>
                  <a:pt x="303342" y="36646"/>
                </a:lnTo>
                <a:lnTo>
                  <a:pt x="360550" y="27376"/>
                </a:lnTo>
                <a:lnTo>
                  <a:pt x="421357" y="19325"/>
                </a:lnTo>
                <a:lnTo>
                  <a:pt x="485440" y="12569"/>
                </a:lnTo>
                <a:lnTo>
                  <a:pt x="552477" y="7183"/>
                </a:lnTo>
                <a:lnTo>
                  <a:pt x="622147" y="3242"/>
                </a:lnTo>
                <a:lnTo>
                  <a:pt x="694127" y="823"/>
                </a:lnTo>
                <a:lnTo>
                  <a:pt x="768095" y="0"/>
                </a:lnTo>
                <a:lnTo>
                  <a:pt x="842064" y="823"/>
                </a:lnTo>
                <a:lnTo>
                  <a:pt x="914044" y="3242"/>
                </a:lnTo>
                <a:lnTo>
                  <a:pt x="983714" y="7183"/>
                </a:lnTo>
                <a:lnTo>
                  <a:pt x="1050751" y="12569"/>
                </a:lnTo>
                <a:lnTo>
                  <a:pt x="1114834" y="19325"/>
                </a:lnTo>
                <a:lnTo>
                  <a:pt x="1175641" y="27376"/>
                </a:lnTo>
                <a:lnTo>
                  <a:pt x="1232849" y="36646"/>
                </a:lnTo>
                <a:lnTo>
                  <a:pt x="1286138" y="47060"/>
                </a:lnTo>
                <a:lnTo>
                  <a:pt x="1335184" y="58543"/>
                </a:lnTo>
                <a:lnTo>
                  <a:pt x="1379665" y="71019"/>
                </a:lnTo>
                <a:lnTo>
                  <a:pt x="1419261" y="84413"/>
                </a:lnTo>
                <a:lnTo>
                  <a:pt x="1482505" y="113653"/>
                </a:lnTo>
                <a:lnTo>
                  <a:pt x="1522341" y="145660"/>
                </a:lnTo>
                <a:lnTo>
                  <a:pt x="1536192" y="179832"/>
                </a:lnTo>
                <a:lnTo>
                  <a:pt x="1532675" y="197150"/>
                </a:lnTo>
                <a:lnTo>
                  <a:pt x="1505510" y="230314"/>
                </a:lnTo>
                <a:lnTo>
                  <a:pt x="1453648" y="261013"/>
                </a:lnTo>
                <a:lnTo>
                  <a:pt x="1379665" y="288644"/>
                </a:lnTo>
                <a:lnTo>
                  <a:pt x="1335184" y="301120"/>
                </a:lnTo>
                <a:lnTo>
                  <a:pt x="1286138" y="312603"/>
                </a:lnTo>
                <a:lnTo>
                  <a:pt x="1232849" y="323017"/>
                </a:lnTo>
                <a:lnTo>
                  <a:pt x="1175641" y="332287"/>
                </a:lnTo>
                <a:lnTo>
                  <a:pt x="1114834" y="340338"/>
                </a:lnTo>
                <a:lnTo>
                  <a:pt x="1050751" y="347094"/>
                </a:lnTo>
                <a:lnTo>
                  <a:pt x="983714" y="352480"/>
                </a:lnTo>
                <a:lnTo>
                  <a:pt x="914044" y="356421"/>
                </a:lnTo>
                <a:lnTo>
                  <a:pt x="842064" y="358840"/>
                </a:lnTo>
                <a:lnTo>
                  <a:pt x="768095" y="359664"/>
                </a:lnTo>
                <a:lnTo>
                  <a:pt x="694127" y="358840"/>
                </a:lnTo>
                <a:lnTo>
                  <a:pt x="622147" y="356421"/>
                </a:lnTo>
                <a:lnTo>
                  <a:pt x="552477" y="352480"/>
                </a:lnTo>
                <a:lnTo>
                  <a:pt x="485440" y="347094"/>
                </a:lnTo>
                <a:lnTo>
                  <a:pt x="421357" y="340338"/>
                </a:lnTo>
                <a:lnTo>
                  <a:pt x="360550" y="332287"/>
                </a:lnTo>
                <a:lnTo>
                  <a:pt x="303342" y="323017"/>
                </a:lnTo>
                <a:lnTo>
                  <a:pt x="250053" y="312603"/>
                </a:lnTo>
                <a:lnTo>
                  <a:pt x="201007" y="301120"/>
                </a:lnTo>
                <a:lnTo>
                  <a:pt x="156526" y="288644"/>
                </a:lnTo>
                <a:lnTo>
                  <a:pt x="116930" y="275250"/>
                </a:lnTo>
                <a:lnTo>
                  <a:pt x="53686" y="246010"/>
                </a:lnTo>
                <a:lnTo>
                  <a:pt x="13850" y="214003"/>
                </a:lnTo>
                <a:lnTo>
                  <a:pt x="0" y="179832"/>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25">
            <a:extLst>
              <a:ext uri="{FF2B5EF4-FFF2-40B4-BE49-F238E27FC236}">
                <a16:creationId xmlns:a16="http://schemas.microsoft.com/office/drawing/2014/main" id="{D1FE2E3B-062F-F2AC-BD9B-E195389AEC0D}"/>
              </a:ext>
            </a:extLst>
          </p:cNvPr>
          <p:cNvSpPr/>
          <p:nvPr/>
        </p:nvSpPr>
        <p:spPr>
          <a:xfrm>
            <a:off x="2151888" y="5277611"/>
            <a:ext cx="1055370" cy="347345"/>
          </a:xfrm>
          <a:custGeom>
            <a:avLst/>
            <a:gdLst/>
            <a:ahLst/>
            <a:cxnLst/>
            <a:rect l="l" t="t" r="r" b="b"/>
            <a:pathLst>
              <a:path w="1055370" h="347345">
                <a:moveTo>
                  <a:pt x="111125" y="248284"/>
                </a:moveTo>
                <a:lnTo>
                  <a:pt x="108457" y="250571"/>
                </a:lnTo>
                <a:lnTo>
                  <a:pt x="0" y="337438"/>
                </a:lnTo>
                <a:lnTo>
                  <a:pt x="142112" y="346849"/>
                </a:lnTo>
                <a:lnTo>
                  <a:pt x="145161" y="344208"/>
                </a:lnTo>
                <a:lnTo>
                  <a:pt x="145594" y="338239"/>
                </a:lnTo>
                <a:lnTo>
                  <a:pt x="18668" y="338239"/>
                </a:lnTo>
                <a:lnTo>
                  <a:pt x="14859" y="326123"/>
                </a:lnTo>
                <a:lnTo>
                  <a:pt x="47085" y="315984"/>
                </a:lnTo>
                <a:lnTo>
                  <a:pt x="116331" y="260476"/>
                </a:lnTo>
                <a:lnTo>
                  <a:pt x="119125" y="258190"/>
                </a:lnTo>
                <a:lnTo>
                  <a:pt x="119506" y="254253"/>
                </a:lnTo>
                <a:lnTo>
                  <a:pt x="117348" y="251459"/>
                </a:lnTo>
                <a:lnTo>
                  <a:pt x="115188" y="248793"/>
                </a:lnTo>
                <a:lnTo>
                  <a:pt x="111125" y="248284"/>
                </a:lnTo>
                <a:close/>
              </a:path>
              <a:path w="1055370" h="347345">
                <a:moveTo>
                  <a:pt x="47085" y="315984"/>
                </a:moveTo>
                <a:lnTo>
                  <a:pt x="14859" y="326123"/>
                </a:lnTo>
                <a:lnTo>
                  <a:pt x="18668" y="338239"/>
                </a:lnTo>
                <a:lnTo>
                  <a:pt x="22181" y="337134"/>
                </a:lnTo>
                <a:lnTo>
                  <a:pt x="20700" y="337134"/>
                </a:lnTo>
                <a:lnTo>
                  <a:pt x="17144" y="325843"/>
                </a:lnTo>
                <a:lnTo>
                  <a:pt x="34785" y="325843"/>
                </a:lnTo>
                <a:lnTo>
                  <a:pt x="47085" y="315984"/>
                </a:lnTo>
                <a:close/>
              </a:path>
              <a:path w="1055370" h="347345">
                <a:moveTo>
                  <a:pt x="50950" y="328085"/>
                </a:moveTo>
                <a:lnTo>
                  <a:pt x="18668" y="338239"/>
                </a:lnTo>
                <a:lnTo>
                  <a:pt x="145594" y="338239"/>
                </a:lnTo>
                <a:lnTo>
                  <a:pt x="145601" y="337134"/>
                </a:lnTo>
                <a:lnTo>
                  <a:pt x="143001" y="334187"/>
                </a:lnTo>
                <a:lnTo>
                  <a:pt x="50950" y="328085"/>
                </a:lnTo>
                <a:close/>
              </a:path>
              <a:path w="1055370" h="347345">
                <a:moveTo>
                  <a:pt x="17144" y="325843"/>
                </a:moveTo>
                <a:lnTo>
                  <a:pt x="20700" y="337134"/>
                </a:lnTo>
                <a:lnTo>
                  <a:pt x="33438" y="326924"/>
                </a:lnTo>
                <a:lnTo>
                  <a:pt x="17144" y="325843"/>
                </a:lnTo>
                <a:close/>
              </a:path>
              <a:path w="1055370" h="347345">
                <a:moveTo>
                  <a:pt x="33438" y="326924"/>
                </a:moveTo>
                <a:lnTo>
                  <a:pt x="20700" y="337134"/>
                </a:lnTo>
                <a:lnTo>
                  <a:pt x="22181" y="337134"/>
                </a:lnTo>
                <a:lnTo>
                  <a:pt x="50950" y="328085"/>
                </a:lnTo>
                <a:lnTo>
                  <a:pt x="33438" y="326924"/>
                </a:lnTo>
                <a:close/>
              </a:path>
              <a:path w="1055370" h="347345">
                <a:moveTo>
                  <a:pt x="1051433" y="0"/>
                </a:moveTo>
                <a:lnTo>
                  <a:pt x="47085" y="315984"/>
                </a:lnTo>
                <a:lnTo>
                  <a:pt x="33438" y="326924"/>
                </a:lnTo>
                <a:lnTo>
                  <a:pt x="50950" y="328085"/>
                </a:lnTo>
                <a:lnTo>
                  <a:pt x="1055243" y="12191"/>
                </a:lnTo>
                <a:lnTo>
                  <a:pt x="1051433" y="0"/>
                </a:lnTo>
                <a:close/>
              </a:path>
              <a:path w="1055370" h="347345">
                <a:moveTo>
                  <a:pt x="34785" y="325843"/>
                </a:moveTo>
                <a:lnTo>
                  <a:pt x="17144" y="325843"/>
                </a:lnTo>
                <a:lnTo>
                  <a:pt x="33438" y="326924"/>
                </a:lnTo>
                <a:lnTo>
                  <a:pt x="34785" y="325843"/>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05EA8D69-0CAE-B8E4-2860-0DDD627C1612}"/>
              </a:ext>
            </a:extLst>
          </p:cNvPr>
          <p:cNvSpPr>
            <a:spLocks noGrp="1"/>
          </p:cNvSpPr>
          <p:nvPr>
            <p:ph type="sldNum" sz="quarter" idx="12"/>
          </p:nvPr>
        </p:nvSpPr>
        <p:spPr/>
        <p:txBody>
          <a:bodyPr/>
          <a:lstStyle/>
          <a:p>
            <a:pPr>
              <a:defRPr/>
            </a:pPr>
            <a:fld id="{2FBC720A-3716-234A-B2DF-CBC7E48049F5}" type="slidenum">
              <a:rPr lang="en-US" altLang="zh-CN" smtClean="0"/>
              <a:t>26</a:t>
            </a:fld>
            <a:endParaRPr lang="en-US" altLang="zh-CN"/>
          </a:p>
        </p:txBody>
      </p:sp>
    </p:spTree>
    <p:extLst>
      <p:ext uri="{BB962C8B-B14F-4D97-AF65-F5344CB8AC3E}">
        <p14:creationId xmlns:p14="http://schemas.microsoft.com/office/powerpoint/2010/main" val="45441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p:bldP spid="49" grpId="0" animBg="1"/>
      <p:bldP spid="50" grpId="0"/>
      <p:bldP spid="51" grpId="0" animBg="1"/>
      <p:bldP spid="5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31" name="object 2">
            <a:extLst>
              <a:ext uri="{FF2B5EF4-FFF2-40B4-BE49-F238E27FC236}">
                <a16:creationId xmlns:a16="http://schemas.microsoft.com/office/drawing/2014/main" id="{0AACA911-25D7-7989-A9F7-7218EA7B2737}"/>
              </a:ext>
            </a:extLst>
          </p:cNvPr>
          <p:cNvSpPr txBox="1">
            <a:spLocks/>
          </p:cNvSpPr>
          <p:nvPr/>
        </p:nvSpPr>
        <p:spPr>
          <a:xfrm>
            <a:off x="707542" y="520141"/>
            <a:ext cx="627126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Syntax </a:t>
            </a:r>
            <a:r>
              <a:rPr kumimoji="0" lang="en-US" sz="4000" b="1" i="0" u="none" strike="noStrike" kern="0" cap="none" spc="-5" normalizeH="0" baseline="0" noProof="0">
                <a:ln>
                  <a:noFill/>
                </a:ln>
                <a:solidFill>
                  <a:sysClr val="windowText" lastClr="000000"/>
                </a:solidFill>
                <a:effectLst/>
                <a:uLnTx/>
                <a:uFillTx/>
                <a:latin typeface="Palatino Linotype"/>
                <a:ea typeface="+mj-ea"/>
              </a:rPr>
              <a:t>Analysis in</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English</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32" name="object 3">
            <a:extLst>
              <a:ext uri="{FF2B5EF4-FFF2-40B4-BE49-F238E27FC236}">
                <a16:creationId xmlns:a16="http://schemas.microsoft.com/office/drawing/2014/main" id="{4C935F5E-B4D1-F71F-EF17-91BD78A64F12}"/>
              </a:ext>
            </a:extLst>
          </p:cNvPr>
          <p:cNvSpPr txBox="1"/>
          <p:nvPr/>
        </p:nvSpPr>
        <p:spPr>
          <a:xfrm>
            <a:off x="1113536" y="1655190"/>
            <a:ext cx="6183630" cy="817244"/>
          </a:xfrm>
          <a:prstGeom prst="rect">
            <a:avLst/>
          </a:prstGeom>
        </p:spPr>
        <p:txBody>
          <a:bodyPr vert="horz" wrap="square" lIns="0" tIns="12700" rIns="0" bIns="0" rtlCol="0">
            <a:spAutoFit/>
          </a:bodyPr>
          <a:lstStyle/>
          <a:p>
            <a:pPr marL="12700" rtl="0">
              <a:spcBef>
                <a:spcPts val="100"/>
              </a:spcBef>
              <a:tabLst>
                <a:tab pos="2708910" algn="l"/>
                <a:tab pos="4415155" algn="l"/>
              </a:tabLst>
            </a:pPr>
            <a:r>
              <a:rPr kern="1200" spc="-5" dirty="0">
                <a:solidFill>
                  <a:prstClr val="black"/>
                </a:solidFill>
                <a:latin typeface="Consolas"/>
                <a:cs typeface="Consolas"/>
              </a:rPr>
              <a:t>&lt;</a:t>
            </a:r>
            <a:r>
              <a:rPr lang="en-US" altLang="zh-CN" b="1" kern="1200" spc="-5" dirty="0">
                <a:solidFill>
                  <a:prstClr val="black"/>
                </a:solidFill>
                <a:latin typeface="Consolas"/>
                <a:cs typeface="Consolas"/>
              </a:rPr>
              <a:t>noun</a:t>
            </a:r>
            <a:r>
              <a:rPr kern="1200" spc="-5" dirty="0">
                <a:solidFill>
                  <a:prstClr val="black"/>
                </a:solidFill>
                <a:latin typeface="Consolas"/>
                <a:cs typeface="Consolas"/>
              </a:rPr>
              <a:t>,</a:t>
            </a:r>
            <a:r>
              <a:rPr kern="1200" spc="-10" dirty="0">
                <a:solidFill>
                  <a:prstClr val="black"/>
                </a:solidFill>
                <a:latin typeface="Consolas"/>
                <a:cs typeface="Consolas"/>
              </a:rPr>
              <a:t> </a:t>
            </a:r>
            <a:r>
              <a:rPr kern="1200" spc="-5" dirty="0">
                <a:solidFill>
                  <a:prstClr val="black"/>
                </a:solidFill>
                <a:latin typeface="Consolas"/>
                <a:cs typeface="Consolas"/>
              </a:rPr>
              <a:t>“</a:t>
            </a:r>
            <a:r>
              <a:rPr lang="en-US" kern="1200" spc="-5" dirty="0">
                <a:solidFill>
                  <a:prstClr val="black"/>
                </a:solidFill>
                <a:latin typeface="Consolas"/>
                <a:cs typeface="Consolas"/>
              </a:rPr>
              <a:t>BUPT</a:t>
            </a:r>
            <a:r>
              <a:rPr kern="1200" spc="-5" dirty="0">
                <a:solidFill>
                  <a:prstClr val="black"/>
                </a:solidFill>
                <a:latin typeface="Consolas"/>
                <a:cs typeface="Consolas"/>
              </a:rPr>
              <a:t>”&gt;	</a:t>
            </a:r>
            <a:r>
              <a:rPr kern="1200" spc="-10" dirty="0">
                <a:solidFill>
                  <a:prstClr val="black"/>
                </a:solidFill>
                <a:latin typeface="Consolas"/>
                <a:cs typeface="Consolas"/>
              </a:rPr>
              <a:t>&lt;</a:t>
            </a:r>
            <a:r>
              <a:rPr b="1" kern="1200" spc="-10" dirty="0">
                <a:solidFill>
                  <a:prstClr val="black"/>
                </a:solidFill>
                <a:latin typeface="Consolas"/>
                <a:cs typeface="Consolas"/>
              </a:rPr>
              <a:t>verb</a:t>
            </a:r>
            <a:r>
              <a:rPr kern="1200" spc="-10" dirty="0">
                <a:solidFill>
                  <a:prstClr val="black"/>
                </a:solidFill>
                <a:latin typeface="Consolas"/>
                <a:cs typeface="Consolas"/>
              </a:rPr>
              <a:t>,</a:t>
            </a:r>
            <a:r>
              <a:rPr kern="1200" spc="5" dirty="0">
                <a:solidFill>
                  <a:prstClr val="black"/>
                </a:solidFill>
                <a:latin typeface="Consolas"/>
                <a:cs typeface="Consolas"/>
              </a:rPr>
              <a:t> </a:t>
            </a:r>
            <a:r>
              <a:rPr kern="1200" spc="-5" dirty="0">
                <a:solidFill>
                  <a:prstClr val="black"/>
                </a:solidFill>
                <a:latin typeface="Consolas"/>
                <a:cs typeface="Consolas"/>
              </a:rPr>
              <a:t>“is”&gt;	&lt;</a:t>
            </a:r>
            <a:r>
              <a:rPr b="1" kern="1200" spc="-5" dirty="0">
                <a:solidFill>
                  <a:prstClr val="black"/>
                </a:solidFill>
                <a:latin typeface="Consolas"/>
                <a:cs typeface="Consolas"/>
              </a:rPr>
              <a:t>article</a:t>
            </a:r>
            <a:r>
              <a:rPr kern="1200" spc="-5"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“a”&gt;</a:t>
            </a:r>
            <a:endParaRPr kern="1200" dirty="0">
              <a:solidFill>
                <a:prstClr val="black"/>
              </a:solidFill>
              <a:latin typeface="Consolas"/>
              <a:cs typeface="Consolas"/>
            </a:endParaRPr>
          </a:p>
          <a:p>
            <a:pPr rtl="0">
              <a:spcBef>
                <a:spcPts val="40"/>
              </a:spcBef>
            </a:pPr>
            <a:endParaRPr sz="1600" kern="1200" dirty="0">
              <a:solidFill>
                <a:prstClr val="black"/>
              </a:solidFill>
              <a:latin typeface="Consolas"/>
              <a:cs typeface="Consolas"/>
            </a:endParaRPr>
          </a:p>
          <a:p>
            <a:pPr marL="388620" rtl="0">
              <a:tabLst>
                <a:tab pos="3058160" algn="l"/>
              </a:tabLst>
            </a:pPr>
            <a:r>
              <a:rPr kern="1200" spc="-5" dirty="0">
                <a:solidFill>
                  <a:prstClr val="black"/>
                </a:solidFill>
                <a:latin typeface="Consolas"/>
                <a:cs typeface="Consolas"/>
              </a:rPr>
              <a:t>&lt;</a:t>
            </a:r>
            <a:r>
              <a:rPr b="1" kern="1200" spc="-5" dirty="0">
                <a:solidFill>
                  <a:prstClr val="black"/>
                </a:solidFill>
                <a:latin typeface="Consolas"/>
                <a:cs typeface="Consolas"/>
              </a:rPr>
              <a:t>adjective</a:t>
            </a:r>
            <a:r>
              <a:rPr kern="1200" spc="-5" dirty="0">
                <a:solidFill>
                  <a:prstClr val="black"/>
                </a:solidFill>
                <a:latin typeface="Consolas"/>
                <a:cs typeface="Consolas"/>
              </a:rPr>
              <a:t>,</a:t>
            </a:r>
            <a:r>
              <a:rPr kern="1200" dirty="0">
                <a:solidFill>
                  <a:prstClr val="black"/>
                </a:solidFill>
                <a:latin typeface="Consolas"/>
                <a:cs typeface="Consolas"/>
              </a:rPr>
              <a:t> </a:t>
            </a:r>
            <a:r>
              <a:rPr kern="1200" spc="-5" dirty="0">
                <a:solidFill>
                  <a:prstClr val="black"/>
                </a:solidFill>
                <a:latin typeface="Consolas"/>
                <a:cs typeface="Consolas"/>
              </a:rPr>
              <a:t>“good”&gt;	</a:t>
            </a:r>
            <a:r>
              <a:rPr kern="1200" spc="-10" dirty="0">
                <a:solidFill>
                  <a:prstClr val="black"/>
                </a:solidFill>
                <a:latin typeface="Consolas"/>
                <a:cs typeface="Consolas"/>
              </a:rPr>
              <a:t>&lt;</a:t>
            </a:r>
            <a:r>
              <a:rPr b="1" kern="1200" spc="-10" dirty="0">
                <a:solidFill>
                  <a:prstClr val="black"/>
                </a:solidFill>
                <a:latin typeface="Consolas"/>
                <a:cs typeface="Consolas"/>
              </a:rPr>
              <a:t>noun</a:t>
            </a:r>
            <a:r>
              <a:rPr kern="1200" spc="-10" dirty="0">
                <a:solidFill>
                  <a:prstClr val="black"/>
                </a:solidFill>
                <a:latin typeface="Consolas"/>
                <a:cs typeface="Consolas"/>
              </a:rPr>
              <a:t>,</a:t>
            </a:r>
            <a:r>
              <a:rPr kern="1200" spc="-20" dirty="0">
                <a:solidFill>
                  <a:prstClr val="black"/>
                </a:solidFill>
                <a:latin typeface="Consolas"/>
                <a:cs typeface="Consolas"/>
              </a:rPr>
              <a:t> </a:t>
            </a:r>
            <a:r>
              <a:rPr kern="1200" spc="-5" dirty="0">
                <a:solidFill>
                  <a:prstClr val="black"/>
                </a:solidFill>
                <a:latin typeface="Consolas"/>
                <a:cs typeface="Consolas"/>
              </a:rPr>
              <a:t>“university”&gt;</a:t>
            </a:r>
            <a:endParaRPr kern="1200" dirty="0">
              <a:solidFill>
                <a:prstClr val="black"/>
              </a:solidFill>
              <a:latin typeface="Consolas"/>
              <a:cs typeface="Consolas"/>
            </a:endParaRPr>
          </a:p>
        </p:txBody>
      </p:sp>
      <p:sp>
        <p:nvSpPr>
          <p:cNvPr id="33" name="object 4">
            <a:extLst>
              <a:ext uri="{FF2B5EF4-FFF2-40B4-BE49-F238E27FC236}">
                <a16:creationId xmlns:a16="http://schemas.microsoft.com/office/drawing/2014/main" id="{C1E89449-C9B2-926F-2F67-94FA898E7B08}"/>
              </a:ext>
            </a:extLst>
          </p:cNvPr>
          <p:cNvSpPr txBox="1"/>
          <p:nvPr/>
        </p:nvSpPr>
        <p:spPr>
          <a:xfrm>
            <a:off x="3276600" y="2951988"/>
            <a:ext cx="1577340" cy="433070"/>
          </a:xfrm>
          <a:prstGeom prst="rect">
            <a:avLst/>
          </a:prstGeom>
          <a:solidFill>
            <a:srgbClr val="A9D18E"/>
          </a:solidFill>
          <a:ln w="9525">
            <a:solidFill>
              <a:srgbClr val="000000"/>
            </a:solidFill>
          </a:ln>
        </p:spPr>
        <p:txBody>
          <a:bodyPr vert="horz" wrap="square" lIns="0" tIns="64135" rIns="0" bIns="0" rtlCol="0">
            <a:spAutoFit/>
          </a:bodyPr>
          <a:lstStyle/>
          <a:p>
            <a:pPr marL="92075" rtl="0">
              <a:spcBef>
                <a:spcPts val="505"/>
              </a:spcBef>
            </a:pPr>
            <a:r>
              <a:rPr kern="1200" spc="-5" dirty="0">
                <a:solidFill>
                  <a:prstClr val="black"/>
                </a:solidFill>
                <a:latin typeface="Palatino Linotype"/>
                <a:cs typeface="Palatino Linotype"/>
              </a:rPr>
              <a:t>Human</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brain</a:t>
            </a:r>
            <a:endParaRPr kern="1200">
              <a:solidFill>
                <a:prstClr val="black"/>
              </a:solidFill>
              <a:latin typeface="Palatino Linotype"/>
              <a:cs typeface="Palatino Linotype"/>
            </a:endParaRPr>
          </a:p>
        </p:txBody>
      </p:sp>
      <p:sp>
        <p:nvSpPr>
          <p:cNvPr id="34" name="object 5">
            <a:extLst>
              <a:ext uri="{FF2B5EF4-FFF2-40B4-BE49-F238E27FC236}">
                <a16:creationId xmlns:a16="http://schemas.microsoft.com/office/drawing/2014/main" id="{CEEABE24-EC6A-5619-8A51-98A0C3000ED4}"/>
              </a:ext>
            </a:extLst>
          </p:cNvPr>
          <p:cNvSpPr txBox="1"/>
          <p:nvPr/>
        </p:nvSpPr>
        <p:spPr>
          <a:xfrm>
            <a:off x="3513582" y="3834765"/>
            <a:ext cx="1028065" cy="299720"/>
          </a:xfrm>
          <a:prstGeom prst="rect">
            <a:avLst/>
          </a:prstGeom>
        </p:spPr>
        <p:txBody>
          <a:bodyPr vert="horz" wrap="square" lIns="0" tIns="12700" rIns="0" bIns="0" rtlCol="0">
            <a:spAutoFit/>
          </a:bodyPr>
          <a:lstStyle/>
          <a:p>
            <a:pPr marL="12700" rtl="0">
              <a:spcBef>
                <a:spcPts val="100"/>
              </a:spcBef>
            </a:pPr>
            <a:r>
              <a:rPr kern="1200" spc="-5" dirty="0">
                <a:solidFill>
                  <a:srgbClr val="FF0000"/>
                </a:solidFill>
                <a:latin typeface="Consolas"/>
                <a:cs typeface="Consolas"/>
              </a:rPr>
              <a:t>sent</a:t>
            </a:r>
            <a:r>
              <a:rPr kern="1200" dirty="0">
                <a:solidFill>
                  <a:srgbClr val="FF0000"/>
                </a:solidFill>
                <a:latin typeface="Consolas"/>
                <a:cs typeface="Consolas"/>
              </a:rPr>
              <a:t>e</a:t>
            </a:r>
            <a:r>
              <a:rPr kern="1200" spc="-5" dirty="0">
                <a:solidFill>
                  <a:srgbClr val="FF0000"/>
                </a:solidFill>
                <a:latin typeface="Consolas"/>
                <a:cs typeface="Consolas"/>
              </a:rPr>
              <a:t>nc</a:t>
            </a:r>
            <a:r>
              <a:rPr kern="1200" dirty="0">
                <a:solidFill>
                  <a:srgbClr val="FF0000"/>
                </a:solidFill>
                <a:latin typeface="Consolas"/>
                <a:cs typeface="Consolas"/>
              </a:rPr>
              <a:t>e</a:t>
            </a:r>
            <a:endParaRPr kern="1200">
              <a:solidFill>
                <a:prstClr val="black"/>
              </a:solidFill>
              <a:latin typeface="Consolas"/>
              <a:cs typeface="Consolas"/>
            </a:endParaRPr>
          </a:p>
        </p:txBody>
      </p:sp>
      <p:sp>
        <p:nvSpPr>
          <p:cNvPr id="35" name="object 6">
            <a:extLst>
              <a:ext uri="{FF2B5EF4-FFF2-40B4-BE49-F238E27FC236}">
                <a16:creationId xmlns:a16="http://schemas.microsoft.com/office/drawing/2014/main" id="{0A25FC15-B92B-8A53-BF6F-4B63E63C2B60}"/>
              </a:ext>
            </a:extLst>
          </p:cNvPr>
          <p:cNvSpPr txBox="1"/>
          <p:nvPr/>
        </p:nvSpPr>
        <p:spPr>
          <a:xfrm>
            <a:off x="5011928" y="4534280"/>
            <a:ext cx="777875" cy="299720"/>
          </a:xfrm>
          <a:prstGeom prst="rect">
            <a:avLst/>
          </a:prstGeom>
        </p:spPr>
        <p:txBody>
          <a:bodyPr vert="horz" wrap="square" lIns="0" tIns="12700" rIns="0" bIns="0" rtlCol="0">
            <a:spAutoFit/>
          </a:bodyPr>
          <a:lstStyle/>
          <a:p>
            <a:pPr marL="12700" rtl="0">
              <a:spcBef>
                <a:spcPts val="100"/>
              </a:spcBef>
            </a:pPr>
            <a:r>
              <a:rPr kern="1200" spc="-5" dirty="0">
                <a:solidFill>
                  <a:srgbClr val="FF0000"/>
                </a:solidFill>
                <a:latin typeface="Consolas"/>
                <a:cs typeface="Consolas"/>
              </a:rPr>
              <a:t>obje</a:t>
            </a:r>
            <a:r>
              <a:rPr kern="1200" dirty="0">
                <a:solidFill>
                  <a:srgbClr val="FF0000"/>
                </a:solidFill>
                <a:latin typeface="Consolas"/>
                <a:cs typeface="Consolas"/>
              </a:rPr>
              <a:t>ct</a:t>
            </a:r>
            <a:endParaRPr kern="1200" dirty="0">
              <a:solidFill>
                <a:prstClr val="black"/>
              </a:solidFill>
              <a:latin typeface="Consolas"/>
              <a:cs typeface="Consolas"/>
            </a:endParaRPr>
          </a:p>
        </p:txBody>
      </p:sp>
      <p:sp>
        <p:nvSpPr>
          <p:cNvPr id="36" name="object 7">
            <a:extLst>
              <a:ext uri="{FF2B5EF4-FFF2-40B4-BE49-F238E27FC236}">
                <a16:creationId xmlns:a16="http://schemas.microsoft.com/office/drawing/2014/main" id="{C36DB447-1329-FC85-1105-855687B719D5}"/>
              </a:ext>
            </a:extLst>
          </p:cNvPr>
          <p:cNvSpPr txBox="1"/>
          <p:nvPr/>
        </p:nvSpPr>
        <p:spPr>
          <a:xfrm>
            <a:off x="3892422" y="5171313"/>
            <a:ext cx="902969"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arti</a:t>
            </a:r>
            <a:r>
              <a:rPr kern="1200" dirty="0">
                <a:solidFill>
                  <a:prstClr val="black"/>
                </a:solidFill>
                <a:latin typeface="Consolas"/>
                <a:cs typeface="Consolas"/>
              </a:rPr>
              <a:t>c</a:t>
            </a:r>
            <a:r>
              <a:rPr kern="1200" spc="-5" dirty="0">
                <a:solidFill>
                  <a:prstClr val="black"/>
                </a:solidFill>
                <a:latin typeface="Consolas"/>
                <a:cs typeface="Consolas"/>
              </a:rPr>
              <a:t>l</a:t>
            </a:r>
            <a:r>
              <a:rPr kern="1200" dirty="0">
                <a:solidFill>
                  <a:prstClr val="black"/>
                </a:solidFill>
                <a:latin typeface="Consolas"/>
                <a:cs typeface="Consolas"/>
              </a:rPr>
              <a:t>e</a:t>
            </a:r>
            <a:endParaRPr kern="1200">
              <a:solidFill>
                <a:prstClr val="black"/>
              </a:solidFill>
              <a:latin typeface="Consolas"/>
              <a:cs typeface="Consolas"/>
            </a:endParaRPr>
          </a:p>
        </p:txBody>
      </p:sp>
      <p:sp>
        <p:nvSpPr>
          <p:cNvPr id="37" name="object 8">
            <a:extLst>
              <a:ext uri="{FF2B5EF4-FFF2-40B4-BE49-F238E27FC236}">
                <a16:creationId xmlns:a16="http://schemas.microsoft.com/office/drawing/2014/main" id="{32E27AC2-1C6D-761B-6C50-377CFEB0FEE2}"/>
              </a:ext>
            </a:extLst>
          </p:cNvPr>
          <p:cNvSpPr txBox="1"/>
          <p:nvPr/>
        </p:nvSpPr>
        <p:spPr>
          <a:xfrm>
            <a:off x="5143627" y="5176266"/>
            <a:ext cx="1153795"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adje</a:t>
            </a:r>
            <a:r>
              <a:rPr kern="1200" dirty="0">
                <a:solidFill>
                  <a:prstClr val="black"/>
                </a:solidFill>
                <a:latin typeface="Consolas"/>
                <a:cs typeface="Consolas"/>
              </a:rPr>
              <a:t>c</a:t>
            </a:r>
            <a:r>
              <a:rPr kern="1200" spc="-5" dirty="0">
                <a:solidFill>
                  <a:prstClr val="black"/>
                </a:solidFill>
                <a:latin typeface="Consolas"/>
                <a:cs typeface="Consolas"/>
              </a:rPr>
              <a:t>ti</a:t>
            </a:r>
            <a:r>
              <a:rPr kern="1200" dirty="0">
                <a:solidFill>
                  <a:prstClr val="black"/>
                </a:solidFill>
                <a:latin typeface="Consolas"/>
                <a:cs typeface="Consolas"/>
              </a:rPr>
              <a:t>ve</a:t>
            </a:r>
            <a:endParaRPr kern="1200">
              <a:solidFill>
                <a:prstClr val="black"/>
              </a:solidFill>
              <a:latin typeface="Consolas"/>
              <a:cs typeface="Consolas"/>
            </a:endParaRPr>
          </a:p>
        </p:txBody>
      </p:sp>
      <p:sp>
        <p:nvSpPr>
          <p:cNvPr id="38" name="object 9">
            <a:extLst>
              <a:ext uri="{FF2B5EF4-FFF2-40B4-BE49-F238E27FC236}">
                <a16:creationId xmlns:a16="http://schemas.microsoft.com/office/drawing/2014/main" id="{8A8B0E53-3812-B9D8-1F6C-D96DCA259812}"/>
              </a:ext>
            </a:extLst>
          </p:cNvPr>
          <p:cNvSpPr txBox="1"/>
          <p:nvPr/>
        </p:nvSpPr>
        <p:spPr>
          <a:xfrm>
            <a:off x="4272153" y="5743143"/>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a:t>
            </a:r>
            <a:endParaRPr kern="1200">
              <a:solidFill>
                <a:prstClr val="black"/>
              </a:solidFill>
              <a:latin typeface="Consolas"/>
              <a:cs typeface="Consolas"/>
            </a:endParaRPr>
          </a:p>
        </p:txBody>
      </p:sp>
      <p:sp>
        <p:nvSpPr>
          <p:cNvPr id="39" name="object 10">
            <a:extLst>
              <a:ext uri="{FF2B5EF4-FFF2-40B4-BE49-F238E27FC236}">
                <a16:creationId xmlns:a16="http://schemas.microsoft.com/office/drawing/2014/main" id="{3F9EBB5D-3940-F68A-F534-74F271A15A0E}"/>
              </a:ext>
            </a:extLst>
          </p:cNvPr>
          <p:cNvSpPr/>
          <p:nvPr/>
        </p:nvSpPr>
        <p:spPr>
          <a:xfrm>
            <a:off x="3019044" y="4183379"/>
            <a:ext cx="1014730" cy="368935"/>
          </a:xfrm>
          <a:custGeom>
            <a:avLst/>
            <a:gdLst/>
            <a:ahLst/>
            <a:cxnLst/>
            <a:rect l="l" t="t" r="r" b="b"/>
            <a:pathLst>
              <a:path w="1014729" h="368935">
                <a:moveTo>
                  <a:pt x="1014603" y="0"/>
                </a:moveTo>
                <a:lnTo>
                  <a:pt x="0" y="368808"/>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1">
            <a:extLst>
              <a:ext uri="{FF2B5EF4-FFF2-40B4-BE49-F238E27FC236}">
                <a16:creationId xmlns:a16="http://schemas.microsoft.com/office/drawing/2014/main" id="{E06605F9-AA98-4F6E-80B7-71BEBDEDC1B6}"/>
              </a:ext>
            </a:extLst>
          </p:cNvPr>
          <p:cNvSpPr/>
          <p:nvPr/>
        </p:nvSpPr>
        <p:spPr>
          <a:xfrm>
            <a:off x="4032503" y="4183379"/>
            <a:ext cx="1299845" cy="330200"/>
          </a:xfrm>
          <a:custGeom>
            <a:avLst/>
            <a:gdLst/>
            <a:ahLst/>
            <a:cxnLst/>
            <a:rect l="l" t="t" r="r" b="b"/>
            <a:pathLst>
              <a:path w="1299845" h="330200">
                <a:moveTo>
                  <a:pt x="0" y="0"/>
                </a:moveTo>
                <a:lnTo>
                  <a:pt x="1299464" y="329946"/>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1" name="object 12">
            <a:extLst>
              <a:ext uri="{FF2B5EF4-FFF2-40B4-BE49-F238E27FC236}">
                <a16:creationId xmlns:a16="http://schemas.microsoft.com/office/drawing/2014/main" id="{402725ED-DB4B-1882-8FEC-31A889EF27DC}"/>
              </a:ext>
            </a:extLst>
          </p:cNvPr>
          <p:cNvSpPr/>
          <p:nvPr/>
        </p:nvSpPr>
        <p:spPr>
          <a:xfrm>
            <a:off x="4347971" y="4882896"/>
            <a:ext cx="1056640" cy="267970"/>
          </a:xfrm>
          <a:custGeom>
            <a:avLst/>
            <a:gdLst/>
            <a:ahLst/>
            <a:cxnLst/>
            <a:rect l="l" t="t" r="r" b="b"/>
            <a:pathLst>
              <a:path w="1056639" h="267970">
                <a:moveTo>
                  <a:pt x="1056131" y="0"/>
                </a:moveTo>
                <a:lnTo>
                  <a:pt x="0" y="267588"/>
                </a:lnTo>
              </a:path>
            </a:pathLst>
          </a:custGeom>
          <a:ln w="634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13">
            <a:extLst>
              <a:ext uri="{FF2B5EF4-FFF2-40B4-BE49-F238E27FC236}">
                <a16:creationId xmlns:a16="http://schemas.microsoft.com/office/drawing/2014/main" id="{8F8AE151-178D-5D0B-C126-E3E0C0253CEF}"/>
              </a:ext>
            </a:extLst>
          </p:cNvPr>
          <p:cNvSpPr/>
          <p:nvPr/>
        </p:nvSpPr>
        <p:spPr>
          <a:xfrm>
            <a:off x="5404103" y="4882896"/>
            <a:ext cx="1449070" cy="267970"/>
          </a:xfrm>
          <a:custGeom>
            <a:avLst/>
            <a:gdLst/>
            <a:ahLst/>
            <a:cxnLst/>
            <a:rect l="l" t="t" r="r" b="b"/>
            <a:pathLst>
              <a:path w="1449070" h="267970">
                <a:moveTo>
                  <a:pt x="0" y="0"/>
                </a:moveTo>
                <a:lnTo>
                  <a:pt x="1448562" y="267588"/>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3" name="object 14">
            <a:extLst>
              <a:ext uri="{FF2B5EF4-FFF2-40B4-BE49-F238E27FC236}">
                <a16:creationId xmlns:a16="http://schemas.microsoft.com/office/drawing/2014/main" id="{436F4538-CC12-6F4A-34CF-0EE6466E39A1}"/>
              </a:ext>
            </a:extLst>
          </p:cNvPr>
          <p:cNvSpPr/>
          <p:nvPr/>
        </p:nvSpPr>
        <p:spPr>
          <a:xfrm>
            <a:off x="5725667" y="5524500"/>
            <a:ext cx="0" cy="197485"/>
          </a:xfrm>
          <a:custGeom>
            <a:avLst/>
            <a:gdLst/>
            <a:ahLst/>
            <a:cxnLst/>
            <a:rect l="l" t="t" r="r" b="b"/>
            <a:pathLst>
              <a:path h="197485">
                <a:moveTo>
                  <a:pt x="0" y="0"/>
                </a:moveTo>
                <a:lnTo>
                  <a:pt x="0" y="197383"/>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4" name="object 15">
            <a:extLst>
              <a:ext uri="{FF2B5EF4-FFF2-40B4-BE49-F238E27FC236}">
                <a16:creationId xmlns:a16="http://schemas.microsoft.com/office/drawing/2014/main" id="{1953794B-0F65-25E1-8C62-C22951CBFDB2}"/>
              </a:ext>
            </a:extLst>
          </p:cNvPr>
          <p:cNvSpPr/>
          <p:nvPr/>
        </p:nvSpPr>
        <p:spPr>
          <a:xfrm>
            <a:off x="6853428" y="5519928"/>
            <a:ext cx="226695" cy="202565"/>
          </a:xfrm>
          <a:custGeom>
            <a:avLst/>
            <a:gdLst/>
            <a:ahLst/>
            <a:cxnLst/>
            <a:rect l="l" t="t" r="r" b="b"/>
            <a:pathLst>
              <a:path w="226695" h="202564">
                <a:moveTo>
                  <a:pt x="0" y="0"/>
                </a:moveTo>
                <a:lnTo>
                  <a:pt x="226314" y="202285"/>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5" name="object 16">
            <a:extLst>
              <a:ext uri="{FF2B5EF4-FFF2-40B4-BE49-F238E27FC236}">
                <a16:creationId xmlns:a16="http://schemas.microsoft.com/office/drawing/2014/main" id="{C948B27E-0C5A-7B54-8544-440B9AF5E9DA}"/>
              </a:ext>
            </a:extLst>
          </p:cNvPr>
          <p:cNvSpPr txBox="1"/>
          <p:nvPr/>
        </p:nvSpPr>
        <p:spPr>
          <a:xfrm>
            <a:off x="6587490" y="5171313"/>
            <a:ext cx="525780"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noun</a:t>
            </a:r>
            <a:endParaRPr kern="1200">
              <a:solidFill>
                <a:prstClr val="black"/>
              </a:solidFill>
              <a:latin typeface="Consolas"/>
              <a:cs typeface="Consolas"/>
            </a:endParaRPr>
          </a:p>
        </p:txBody>
      </p:sp>
      <p:sp>
        <p:nvSpPr>
          <p:cNvPr id="46" name="object 17">
            <a:extLst>
              <a:ext uri="{FF2B5EF4-FFF2-40B4-BE49-F238E27FC236}">
                <a16:creationId xmlns:a16="http://schemas.microsoft.com/office/drawing/2014/main" id="{7083FCA1-FB36-20E6-10AD-8A99508AA90B}"/>
              </a:ext>
            </a:extLst>
          </p:cNvPr>
          <p:cNvSpPr/>
          <p:nvPr/>
        </p:nvSpPr>
        <p:spPr>
          <a:xfrm>
            <a:off x="3363467" y="4183379"/>
            <a:ext cx="669290" cy="972185"/>
          </a:xfrm>
          <a:custGeom>
            <a:avLst/>
            <a:gdLst/>
            <a:ahLst/>
            <a:cxnLst/>
            <a:rect l="l" t="t" r="r" b="b"/>
            <a:pathLst>
              <a:path w="669289" h="972185">
                <a:moveTo>
                  <a:pt x="669036" y="0"/>
                </a:moveTo>
                <a:lnTo>
                  <a:pt x="0" y="971804"/>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7" name="object 18">
            <a:extLst>
              <a:ext uri="{FF2B5EF4-FFF2-40B4-BE49-F238E27FC236}">
                <a16:creationId xmlns:a16="http://schemas.microsoft.com/office/drawing/2014/main" id="{76BFF564-441B-45A1-7D74-70EC966C20C3}"/>
              </a:ext>
            </a:extLst>
          </p:cNvPr>
          <p:cNvSpPr/>
          <p:nvPr/>
        </p:nvSpPr>
        <p:spPr>
          <a:xfrm>
            <a:off x="2183892" y="4882896"/>
            <a:ext cx="580390" cy="273050"/>
          </a:xfrm>
          <a:custGeom>
            <a:avLst/>
            <a:gdLst/>
            <a:ahLst/>
            <a:cxnLst/>
            <a:rect l="l" t="t" r="r" b="b"/>
            <a:pathLst>
              <a:path w="580389" h="273050">
                <a:moveTo>
                  <a:pt x="580008" y="0"/>
                </a:moveTo>
                <a:lnTo>
                  <a:pt x="0" y="272668"/>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19">
            <a:extLst>
              <a:ext uri="{FF2B5EF4-FFF2-40B4-BE49-F238E27FC236}">
                <a16:creationId xmlns:a16="http://schemas.microsoft.com/office/drawing/2014/main" id="{9D2D0470-82A4-657E-1400-C07F0E31D633}"/>
              </a:ext>
            </a:extLst>
          </p:cNvPr>
          <p:cNvSpPr txBox="1"/>
          <p:nvPr/>
        </p:nvSpPr>
        <p:spPr>
          <a:xfrm>
            <a:off x="1229969" y="4534280"/>
            <a:ext cx="2393315" cy="1429559"/>
          </a:xfrm>
          <a:prstGeom prst="rect">
            <a:avLst/>
          </a:prstGeom>
        </p:spPr>
        <p:txBody>
          <a:bodyPr vert="horz" wrap="square" lIns="0" tIns="12700" rIns="0" bIns="0" rtlCol="0">
            <a:spAutoFit/>
          </a:bodyPr>
          <a:lstStyle/>
          <a:p>
            <a:pPr marL="1090295" rtl="0">
              <a:spcBef>
                <a:spcPts val="100"/>
              </a:spcBef>
            </a:pPr>
            <a:r>
              <a:rPr kern="1200" spc="-5" dirty="0">
                <a:solidFill>
                  <a:srgbClr val="FF0000"/>
                </a:solidFill>
                <a:latin typeface="Consolas"/>
                <a:cs typeface="Consolas"/>
              </a:rPr>
              <a:t>subject</a:t>
            </a:r>
            <a:endParaRPr kern="1200" dirty="0">
              <a:solidFill>
                <a:prstClr val="black"/>
              </a:solidFill>
              <a:latin typeface="Consolas"/>
              <a:cs typeface="Consolas"/>
            </a:endParaRPr>
          </a:p>
          <a:p>
            <a:pPr marL="12700" marR="5080" indent="687070" rtl="0">
              <a:lnSpc>
                <a:spcPct val="206700"/>
              </a:lnSpc>
              <a:spcBef>
                <a:spcPts val="590"/>
              </a:spcBef>
              <a:tabLst>
                <a:tab pos="1880235" algn="l"/>
                <a:tab pos="2006600" algn="l"/>
              </a:tabLst>
            </a:pPr>
            <a:r>
              <a:rPr kern="1200" spc="-10" dirty="0">
                <a:solidFill>
                  <a:prstClr val="black"/>
                </a:solidFill>
                <a:latin typeface="Consolas"/>
                <a:cs typeface="Consolas"/>
              </a:rPr>
              <a:t>nou</a:t>
            </a:r>
            <a:r>
              <a:rPr kern="1200" dirty="0">
                <a:solidFill>
                  <a:prstClr val="black"/>
                </a:solidFill>
                <a:latin typeface="Consolas"/>
                <a:cs typeface="Consolas"/>
              </a:rPr>
              <a:t>n	</a:t>
            </a:r>
            <a:r>
              <a:rPr kern="1200" spc="-10" dirty="0">
                <a:solidFill>
                  <a:srgbClr val="FF0000"/>
                </a:solidFill>
                <a:latin typeface="Consolas"/>
                <a:cs typeface="Consolas"/>
              </a:rPr>
              <a:t>verb  </a:t>
            </a:r>
            <a:r>
              <a:rPr lang="en-US" kern="1200" spc="-5" dirty="0">
                <a:solidFill>
                  <a:prstClr val="black"/>
                </a:solidFill>
                <a:latin typeface="Consolas"/>
                <a:cs typeface="Consolas"/>
              </a:rPr>
              <a:t>BUPT</a:t>
            </a:r>
            <a:r>
              <a:rPr kern="1200" spc="-5" dirty="0">
                <a:solidFill>
                  <a:prstClr val="black"/>
                </a:solidFill>
                <a:latin typeface="Consolas"/>
                <a:cs typeface="Consolas"/>
              </a:rPr>
              <a:t>		</a:t>
            </a:r>
            <a:r>
              <a:rPr kern="1200" spc="-10" dirty="0">
                <a:solidFill>
                  <a:prstClr val="black"/>
                </a:solidFill>
                <a:latin typeface="Consolas"/>
                <a:cs typeface="Consolas"/>
              </a:rPr>
              <a:t>is</a:t>
            </a:r>
            <a:endParaRPr kern="1200" dirty="0">
              <a:solidFill>
                <a:prstClr val="black"/>
              </a:solidFill>
              <a:latin typeface="Consolas"/>
              <a:cs typeface="Consolas"/>
            </a:endParaRPr>
          </a:p>
        </p:txBody>
      </p:sp>
      <p:sp>
        <p:nvSpPr>
          <p:cNvPr id="49" name="object 20">
            <a:extLst>
              <a:ext uri="{FF2B5EF4-FFF2-40B4-BE49-F238E27FC236}">
                <a16:creationId xmlns:a16="http://schemas.microsoft.com/office/drawing/2014/main" id="{898B71BF-3B8A-9819-BC44-A0A312665BC2}"/>
              </a:ext>
            </a:extLst>
          </p:cNvPr>
          <p:cNvSpPr txBox="1"/>
          <p:nvPr/>
        </p:nvSpPr>
        <p:spPr>
          <a:xfrm>
            <a:off x="5460238" y="5743143"/>
            <a:ext cx="525780"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good</a:t>
            </a:r>
            <a:endParaRPr kern="1200">
              <a:solidFill>
                <a:prstClr val="black"/>
              </a:solidFill>
              <a:latin typeface="Consolas"/>
              <a:cs typeface="Consolas"/>
            </a:endParaRPr>
          </a:p>
        </p:txBody>
      </p:sp>
      <p:sp>
        <p:nvSpPr>
          <p:cNvPr id="50" name="object 21">
            <a:extLst>
              <a:ext uri="{FF2B5EF4-FFF2-40B4-BE49-F238E27FC236}">
                <a16:creationId xmlns:a16="http://schemas.microsoft.com/office/drawing/2014/main" id="{2700661E-445D-7833-642C-BD758038C948}"/>
              </a:ext>
            </a:extLst>
          </p:cNvPr>
          <p:cNvSpPr txBox="1"/>
          <p:nvPr/>
        </p:nvSpPr>
        <p:spPr>
          <a:xfrm>
            <a:off x="6622542" y="5743143"/>
            <a:ext cx="127889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Univ</a:t>
            </a:r>
            <a:r>
              <a:rPr kern="1200" dirty="0">
                <a:solidFill>
                  <a:prstClr val="black"/>
                </a:solidFill>
                <a:latin typeface="Consolas"/>
                <a:cs typeface="Consolas"/>
              </a:rPr>
              <a:t>e</a:t>
            </a:r>
            <a:r>
              <a:rPr kern="1200" spc="-5" dirty="0">
                <a:solidFill>
                  <a:prstClr val="black"/>
                </a:solidFill>
                <a:latin typeface="Consolas"/>
                <a:cs typeface="Consolas"/>
              </a:rPr>
              <a:t>rs</a:t>
            </a:r>
            <a:r>
              <a:rPr kern="1200" dirty="0">
                <a:solidFill>
                  <a:prstClr val="black"/>
                </a:solidFill>
                <a:latin typeface="Consolas"/>
                <a:cs typeface="Consolas"/>
              </a:rPr>
              <a:t>i</a:t>
            </a:r>
            <a:r>
              <a:rPr kern="1200" spc="-5" dirty="0">
                <a:solidFill>
                  <a:prstClr val="black"/>
                </a:solidFill>
                <a:latin typeface="Consolas"/>
                <a:cs typeface="Consolas"/>
              </a:rPr>
              <a:t>t</a:t>
            </a:r>
            <a:r>
              <a:rPr kern="1200" dirty="0">
                <a:solidFill>
                  <a:prstClr val="black"/>
                </a:solidFill>
                <a:latin typeface="Consolas"/>
                <a:cs typeface="Consolas"/>
              </a:rPr>
              <a:t>y</a:t>
            </a:r>
            <a:endParaRPr kern="1200">
              <a:solidFill>
                <a:prstClr val="black"/>
              </a:solidFill>
              <a:latin typeface="Consolas"/>
              <a:cs typeface="Consolas"/>
            </a:endParaRPr>
          </a:p>
        </p:txBody>
      </p:sp>
      <p:sp>
        <p:nvSpPr>
          <p:cNvPr id="51" name="object 22">
            <a:extLst>
              <a:ext uri="{FF2B5EF4-FFF2-40B4-BE49-F238E27FC236}">
                <a16:creationId xmlns:a16="http://schemas.microsoft.com/office/drawing/2014/main" id="{728D9AE4-D359-E539-AB14-15A5BECEBB9E}"/>
              </a:ext>
            </a:extLst>
          </p:cNvPr>
          <p:cNvSpPr/>
          <p:nvPr/>
        </p:nvSpPr>
        <p:spPr>
          <a:xfrm>
            <a:off x="1687067" y="5524500"/>
            <a:ext cx="497840" cy="197485"/>
          </a:xfrm>
          <a:custGeom>
            <a:avLst/>
            <a:gdLst/>
            <a:ahLst/>
            <a:cxnLst/>
            <a:rect l="l" t="t" r="r" b="b"/>
            <a:pathLst>
              <a:path w="497839" h="197485">
                <a:moveTo>
                  <a:pt x="497458" y="0"/>
                </a:moveTo>
                <a:lnTo>
                  <a:pt x="0" y="197446"/>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23">
            <a:extLst>
              <a:ext uri="{FF2B5EF4-FFF2-40B4-BE49-F238E27FC236}">
                <a16:creationId xmlns:a16="http://schemas.microsoft.com/office/drawing/2014/main" id="{12D6CABA-A28B-45D1-6394-3481CA65657D}"/>
              </a:ext>
            </a:extLst>
          </p:cNvPr>
          <p:cNvSpPr/>
          <p:nvPr/>
        </p:nvSpPr>
        <p:spPr>
          <a:xfrm>
            <a:off x="3363467" y="5524500"/>
            <a:ext cx="0" cy="198120"/>
          </a:xfrm>
          <a:custGeom>
            <a:avLst/>
            <a:gdLst/>
            <a:ahLst/>
            <a:cxnLst/>
            <a:rect l="l" t="t" r="r" b="b"/>
            <a:pathLst>
              <a:path h="198120">
                <a:moveTo>
                  <a:pt x="0" y="0"/>
                </a:moveTo>
                <a:lnTo>
                  <a:pt x="0" y="197535"/>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3" name="object 24">
            <a:extLst>
              <a:ext uri="{FF2B5EF4-FFF2-40B4-BE49-F238E27FC236}">
                <a16:creationId xmlns:a16="http://schemas.microsoft.com/office/drawing/2014/main" id="{05CA34EA-8894-50D6-A3E2-A7827A53B113}"/>
              </a:ext>
            </a:extLst>
          </p:cNvPr>
          <p:cNvSpPr/>
          <p:nvPr/>
        </p:nvSpPr>
        <p:spPr>
          <a:xfrm>
            <a:off x="4347971" y="5519928"/>
            <a:ext cx="0" cy="202565"/>
          </a:xfrm>
          <a:custGeom>
            <a:avLst/>
            <a:gdLst/>
            <a:ahLst/>
            <a:cxnLst/>
            <a:rect l="l" t="t" r="r" b="b"/>
            <a:pathLst>
              <a:path h="202564">
                <a:moveTo>
                  <a:pt x="0" y="0"/>
                </a:moveTo>
                <a:lnTo>
                  <a:pt x="0" y="202285"/>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4" name="object 25">
            <a:extLst>
              <a:ext uri="{FF2B5EF4-FFF2-40B4-BE49-F238E27FC236}">
                <a16:creationId xmlns:a16="http://schemas.microsoft.com/office/drawing/2014/main" id="{76B4F041-3DAE-C86F-FA2F-3F036A504019}"/>
              </a:ext>
            </a:extLst>
          </p:cNvPr>
          <p:cNvSpPr/>
          <p:nvPr/>
        </p:nvSpPr>
        <p:spPr>
          <a:xfrm>
            <a:off x="5404103" y="4882896"/>
            <a:ext cx="321945" cy="272415"/>
          </a:xfrm>
          <a:custGeom>
            <a:avLst/>
            <a:gdLst/>
            <a:ahLst/>
            <a:cxnLst/>
            <a:rect l="l" t="t" r="r" b="b"/>
            <a:pathLst>
              <a:path w="321945" h="272414">
                <a:moveTo>
                  <a:pt x="0" y="0"/>
                </a:moveTo>
                <a:lnTo>
                  <a:pt x="321437" y="272414"/>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5" name="object 26">
            <a:extLst>
              <a:ext uri="{FF2B5EF4-FFF2-40B4-BE49-F238E27FC236}">
                <a16:creationId xmlns:a16="http://schemas.microsoft.com/office/drawing/2014/main" id="{C67B26EA-33E3-7393-0901-FC9F2A0B87BD}"/>
              </a:ext>
            </a:extLst>
          </p:cNvPr>
          <p:cNvSpPr/>
          <p:nvPr/>
        </p:nvSpPr>
        <p:spPr>
          <a:xfrm>
            <a:off x="4014342" y="2522220"/>
            <a:ext cx="103505" cy="429259"/>
          </a:xfrm>
          <a:custGeom>
            <a:avLst/>
            <a:gdLst/>
            <a:ahLst/>
            <a:cxnLst/>
            <a:rect l="l" t="t" r="r" b="b"/>
            <a:pathLst>
              <a:path w="103504" h="429260">
                <a:moveTo>
                  <a:pt x="8255" y="290067"/>
                </a:moveTo>
                <a:lnTo>
                  <a:pt x="1651" y="292607"/>
                </a:lnTo>
                <a:lnTo>
                  <a:pt x="0" y="296290"/>
                </a:lnTo>
                <a:lnTo>
                  <a:pt x="1270" y="299592"/>
                </a:lnTo>
                <a:lnTo>
                  <a:pt x="51689" y="429005"/>
                </a:lnTo>
                <a:lnTo>
                  <a:pt x="58517" y="411479"/>
                </a:lnTo>
                <a:lnTo>
                  <a:pt x="45339" y="411479"/>
                </a:lnTo>
                <a:lnTo>
                  <a:pt x="45339" y="377516"/>
                </a:lnTo>
                <a:lnTo>
                  <a:pt x="13208" y="294893"/>
                </a:lnTo>
                <a:lnTo>
                  <a:pt x="11937" y="291718"/>
                </a:lnTo>
                <a:lnTo>
                  <a:pt x="8255" y="290067"/>
                </a:lnTo>
                <a:close/>
              </a:path>
              <a:path w="103504" h="429260">
                <a:moveTo>
                  <a:pt x="45339" y="377516"/>
                </a:moveTo>
                <a:lnTo>
                  <a:pt x="45339" y="411479"/>
                </a:lnTo>
                <a:lnTo>
                  <a:pt x="58039" y="411479"/>
                </a:lnTo>
                <a:lnTo>
                  <a:pt x="58039" y="409193"/>
                </a:lnTo>
                <a:lnTo>
                  <a:pt x="45720" y="409193"/>
                </a:lnTo>
                <a:lnTo>
                  <a:pt x="51688" y="393845"/>
                </a:lnTo>
                <a:lnTo>
                  <a:pt x="45339" y="377516"/>
                </a:lnTo>
                <a:close/>
              </a:path>
              <a:path w="103504" h="429260">
                <a:moveTo>
                  <a:pt x="95123" y="290067"/>
                </a:moveTo>
                <a:lnTo>
                  <a:pt x="91440" y="291718"/>
                </a:lnTo>
                <a:lnTo>
                  <a:pt x="90170" y="294893"/>
                </a:lnTo>
                <a:lnTo>
                  <a:pt x="58039" y="377516"/>
                </a:lnTo>
                <a:lnTo>
                  <a:pt x="58039" y="411479"/>
                </a:lnTo>
                <a:lnTo>
                  <a:pt x="58517" y="411479"/>
                </a:lnTo>
                <a:lnTo>
                  <a:pt x="102108" y="299592"/>
                </a:lnTo>
                <a:lnTo>
                  <a:pt x="103378" y="296290"/>
                </a:lnTo>
                <a:lnTo>
                  <a:pt x="101727" y="292607"/>
                </a:lnTo>
                <a:lnTo>
                  <a:pt x="95123" y="290067"/>
                </a:lnTo>
                <a:close/>
              </a:path>
              <a:path w="103504" h="429260">
                <a:moveTo>
                  <a:pt x="51688" y="393845"/>
                </a:moveTo>
                <a:lnTo>
                  <a:pt x="45720" y="409193"/>
                </a:lnTo>
                <a:lnTo>
                  <a:pt x="57658" y="409193"/>
                </a:lnTo>
                <a:lnTo>
                  <a:pt x="51688" y="393845"/>
                </a:lnTo>
                <a:close/>
              </a:path>
              <a:path w="103504" h="429260">
                <a:moveTo>
                  <a:pt x="58039" y="377516"/>
                </a:moveTo>
                <a:lnTo>
                  <a:pt x="51688" y="393845"/>
                </a:lnTo>
                <a:lnTo>
                  <a:pt x="57658" y="409193"/>
                </a:lnTo>
                <a:lnTo>
                  <a:pt x="58039" y="409193"/>
                </a:lnTo>
                <a:lnTo>
                  <a:pt x="58039" y="377516"/>
                </a:lnTo>
                <a:close/>
              </a:path>
              <a:path w="103504" h="429260">
                <a:moveTo>
                  <a:pt x="58039" y="0"/>
                </a:moveTo>
                <a:lnTo>
                  <a:pt x="45339" y="0"/>
                </a:lnTo>
                <a:lnTo>
                  <a:pt x="45339" y="377516"/>
                </a:lnTo>
                <a:lnTo>
                  <a:pt x="51688" y="393845"/>
                </a:lnTo>
                <a:lnTo>
                  <a:pt x="58038" y="377516"/>
                </a:lnTo>
                <a:lnTo>
                  <a:pt x="580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6" name="object 27">
            <a:extLst>
              <a:ext uri="{FF2B5EF4-FFF2-40B4-BE49-F238E27FC236}">
                <a16:creationId xmlns:a16="http://schemas.microsoft.com/office/drawing/2014/main" id="{2BA3A01E-E523-B964-9D8C-914BB049A07F}"/>
              </a:ext>
            </a:extLst>
          </p:cNvPr>
          <p:cNvSpPr/>
          <p:nvPr/>
        </p:nvSpPr>
        <p:spPr>
          <a:xfrm>
            <a:off x="4023486" y="3429000"/>
            <a:ext cx="103505" cy="429259"/>
          </a:xfrm>
          <a:custGeom>
            <a:avLst/>
            <a:gdLst/>
            <a:ahLst/>
            <a:cxnLst/>
            <a:rect l="l" t="t" r="r" b="b"/>
            <a:pathLst>
              <a:path w="103504" h="429260">
                <a:moveTo>
                  <a:pt x="8254" y="290068"/>
                </a:moveTo>
                <a:lnTo>
                  <a:pt x="1650" y="292607"/>
                </a:lnTo>
                <a:lnTo>
                  <a:pt x="0" y="296291"/>
                </a:lnTo>
                <a:lnTo>
                  <a:pt x="1270" y="299593"/>
                </a:lnTo>
                <a:lnTo>
                  <a:pt x="51688" y="429006"/>
                </a:lnTo>
                <a:lnTo>
                  <a:pt x="58517" y="411480"/>
                </a:lnTo>
                <a:lnTo>
                  <a:pt x="45338" y="411480"/>
                </a:lnTo>
                <a:lnTo>
                  <a:pt x="45338" y="377516"/>
                </a:lnTo>
                <a:lnTo>
                  <a:pt x="13208" y="294894"/>
                </a:lnTo>
                <a:lnTo>
                  <a:pt x="11937" y="291719"/>
                </a:lnTo>
                <a:lnTo>
                  <a:pt x="8254" y="290068"/>
                </a:lnTo>
                <a:close/>
              </a:path>
              <a:path w="103504" h="429260">
                <a:moveTo>
                  <a:pt x="45339" y="377516"/>
                </a:moveTo>
                <a:lnTo>
                  <a:pt x="45338" y="411480"/>
                </a:lnTo>
                <a:lnTo>
                  <a:pt x="58038" y="411480"/>
                </a:lnTo>
                <a:lnTo>
                  <a:pt x="58038" y="409194"/>
                </a:lnTo>
                <a:lnTo>
                  <a:pt x="45720" y="409194"/>
                </a:lnTo>
                <a:lnTo>
                  <a:pt x="51688" y="393845"/>
                </a:lnTo>
                <a:lnTo>
                  <a:pt x="45339" y="377516"/>
                </a:lnTo>
                <a:close/>
              </a:path>
              <a:path w="103504" h="429260">
                <a:moveTo>
                  <a:pt x="95123" y="290068"/>
                </a:moveTo>
                <a:lnTo>
                  <a:pt x="91439" y="291719"/>
                </a:lnTo>
                <a:lnTo>
                  <a:pt x="90170" y="294894"/>
                </a:lnTo>
                <a:lnTo>
                  <a:pt x="58038" y="377516"/>
                </a:lnTo>
                <a:lnTo>
                  <a:pt x="58038" y="411480"/>
                </a:lnTo>
                <a:lnTo>
                  <a:pt x="58517" y="411480"/>
                </a:lnTo>
                <a:lnTo>
                  <a:pt x="102108" y="299593"/>
                </a:lnTo>
                <a:lnTo>
                  <a:pt x="103377" y="296291"/>
                </a:lnTo>
                <a:lnTo>
                  <a:pt x="101726" y="292607"/>
                </a:lnTo>
                <a:lnTo>
                  <a:pt x="95123" y="290068"/>
                </a:lnTo>
                <a:close/>
              </a:path>
              <a:path w="103504" h="429260">
                <a:moveTo>
                  <a:pt x="51688" y="393845"/>
                </a:moveTo>
                <a:lnTo>
                  <a:pt x="45720" y="409194"/>
                </a:lnTo>
                <a:lnTo>
                  <a:pt x="57658" y="409194"/>
                </a:lnTo>
                <a:lnTo>
                  <a:pt x="51688" y="393845"/>
                </a:lnTo>
                <a:close/>
              </a:path>
              <a:path w="103504" h="429260">
                <a:moveTo>
                  <a:pt x="58038" y="377516"/>
                </a:moveTo>
                <a:lnTo>
                  <a:pt x="51688" y="393845"/>
                </a:lnTo>
                <a:lnTo>
                  <a:pt x="57658" y="409194"/>
                </a:lnTo>
                <a:lnTo>
                  <a:pt x="58038" y="409194"/>
                </a:lnTo>
                <a:lnTo>
                  <a:pt x="58038" y="377516"/>
                </a:lnTo>
                <a:close/>
              </a:path>
              <a:path w="103504" h="429260">
                <a:moveTo>
                  <a:pt x="58038" y="0"/>
                </a:moveTo>
                <a:lnTo>
                  <a:pt x="45338" y="0"/>
                </a:lnTo>
                <a:lnTo>
                  <a:pt x="45339" y="377516"/>
                </a:lnTo>
                <a:lnTo>
                  <a:pt x="51688" y="393845"/>
                </a:lnTo>
                <a:lnTo>
                  <a:pt x="58038" y="377516"/>
                </a:lnTo>
                <a:lnTo>
                  <a:pt x="5803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3E6813B5-464F-94D3-900E-BB7D184B7FFA}"/>
              </a:ext>
            </a:extLst>
          </p:cNvPr>
          <p:cNvSpPr>
            <a:spLocks noGrp="1"/>
          </p:cNvSpPr>
          <p:nvPr>
            <p:ph type="sldNum" sz="quarter" idx="12"/>
          </p:nvPr>
        </p:nvSpPr>
        <p:spPr/>
        <p:txBody>
          <a:bodyPr/>
          <a:lstStyle/>
          <a:p>
            <a:pPr>
              <a:defRPr/>
            </a:pPr>
            <a:fld id="{2FBC720A-3716-234A-B2DF-CBC7E48049F5}" type="slidenum">
              <a:rPr lang="en-US" altLang="zh-CN" smtClean="0"/>
              <a:t>27</a:t>
            </a:fld>
            <a:endParaRPr lang="en-US" altLang="zh-CN"/>
          </a:p>
        </p:txBody>
      </p:sp>
    </p:spTree>
    <p:extLst>
      <p:ext uri="{BB962C8B-B14F-4D97-AF65-F5344CB8AC3E}">
        <p14:creationId xmlns:p14="http://schemas.microsoft.com/office/powerpoint/2010/main" val="977219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2" name="object 2">
            <a:extLst>
              <a:ext uri="{FF2B5EF4-FFF2-40B4-BE49-F238E27FC236}">
                <a16:creationId xmlns:a16="http://schemas.microsoft.com/office/drawing/2014/main" id="{21F7C769-AD14-D074-AEDB-8959461DA5A3}"/>
              </a:ext>
            </a:extLst>
          </p:cNvPr>
          <p:cNvSpPr txBox="1">
            <a:spLocks/>
          </p:cNvSpPr>
          <p:nvPr/>
        </p:nvSpPr>
        <p:spPr>
          <a:xfrm>
            <a:off x="707542" y="530809"/>
            <a:ext cx="683133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Semantic</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Analysis </a:t>
            </a:r>
            <a:r>
              <a:rPr kumimoji="0" lang="en-US" sz="4000" b="1" i="0" u="none" strike="noStrike" kern="0" cap="none" spc="-10" normalizeH="0" baseline="0" noProof="0">
                <a:ln>
                  <a:noFill/>
                </a:ln>
                <a:solidFill>
                  <a:sysClr val="windowText" lastClr="000000"/>
                </a:solidFill>
                <a:effectLst/>
                <a:uLnTx/>
                <a:uFillTx/>
                <a:latin typeface="Palatino Linotype"/>
                <a:ea typeface="+mj-ea"/>
              </a:rPr>
              <a:t>(</a:t>
            </a:r>
            <a:r>
              <a:rPr kumimoji="0" lang="zh-CN" altLang="en-US" sz="4000" b="1" i="0" u="none" strike="noStrike" kern="0" cap="none" spc="-10" normalizeH="0" baseline="0" noProof="0">
                <a:ln>
                  <a:noFill/>
                </a:ln>
                <a:solidFill>
                  <a:sysClr val="windowText" lastClr="000000"/>
                </a:solidFill>
                <a:effectLst/>
                <a:uLnTx/>
                <a:uFillTx/>
                <a:latin typeface="宋体"/>
                <a:ea typeface="宋体" panose="02010600030101010101" pitchFamily="2" charset="-122"/>
                <a:cs typeface="宋体"/>
              </a:rPr>
              <a:t>语义分</a:t>
            </a:r>
            <a:r>
              <a:rPr kumimoji="0" lang="zh-CN" altLang="en-US" sz="4000" b="1" i="0" u="none" strike="noStrike" kern="0" cap="none" spc="-20" normalizeH="0" baseline="0" noProof="0">
                <a:ln>
                  <a:noFill/>
                </a:ln>
                <a:solidFill>
                  <a:sysClr val="windowText" lastClr="000000"/>
                </a:solidFill>
                <a:effectLst/>
                <a:uLnTx/>
                <a:uFillTx/>
                <a:latin typeface="宋体"/>
                <a:ea typeface="宋体" panose="02010600030101010101" pitchFamily="2" charset="-122"/>
                <a:cs typeface="宋体"/>
              </a:rPr>
              <a:t>析</a:t>
            </a:r>
            <a:r>
              <a:rPr kumimoji="0" lang="en-US" altLang="zh-CN" sz="4000" b="1" i="0" u="none" strike="noStrike" kern="0" cap="none" spc="-5"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宋体"/>
              <a:ea typeface="宋体" panose="02010600030101010101" pitchFamily="2" charset="-122"/>
              <a:cs typeface="宋体"/>
            </a:endParaRPr>
          </a:p>
        </p:txBody>
      </p:sp>
      <p:sp>
        <p:nvSpPr>
          <p:cNvPr id="13" name="object 3">
            <a:extLst>
              <a:ext uri="{FF2B5EF4-FFF2-40B4-BE49-F238E27FC236}">
                <a16:creationId xmlns:a16="http://schemas.microsoft.com/office/drawing/2014/main" id="{6DC1E976-C2A9-18F5-ACA6-630932540B08}"/>
              </a:ext>
            </a:extLst>
          </p:cNvPr>
          <p:cNvSpPr txBox="1"/>
          <p:nvPr/>
        </p:nvSpPr>
        <p:spPr>
          <a:xfrm>
            <a:off x="707542" y="2990189"/>
            <a:ext cx="7635875" cy="2235835"/>
          </a:xfrm>
          <a:prstGeom prst="rect">
            <a:avLst/>
          </a:prstGeom>
        </p:spPr>
        <p:txBody>
          <a:bodyPr vert="horz" wrap="square" lIns="0" tIns="12700" rIns="0" bIns="0" rtlCol="0">
            <a:spAutoFit/>
          </a:bodyPr>
          <a:lstStyle/>
          <a:p>
            <a:pPr marL="242570" marR="5080" indent="-230504" rtl="0">
              <a:lnSpc>
                <a:spcPct val="130000"/>
              </a:lnSpc>
              <a:spcBef>
                <a:spcPts val="100"/>
              </a:spcBef>
              <a:buFont typeface="Arial"/>
              <a:buChar char="•"/>
              <a:tabLst>
                <a:tab pos="242570" algn="l"/>
                <a:tab pos="243204" algn="l"/>
              </a:tabLst>
            </a:pP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semantic analyzer </a:t>
            </a:r>
            <a:r>
              <a:rPr sz="2000" kern="1200" spc="-5" dirty="0">
                <a:solidFill>
                  <a:prstClr val="black"/>
                </a:solidFill>
                <a:latin typeface="Palatino Linotype"/>
                <a:cs typeface="Palatino Linotype"/>
              </a:rPr>
              <a:t>uses the </a:t>
            </a:r>
            <a:r>
              <a:rPr sz="2000" kern="1200" dirty="0">
                <a:solidFill>
                  <a:prstClr val="black"/>
                </a:solidFill>
                <a:latin typeface="Palatino Linotype"/>
                <a:cs typeface="Palatino Linotype"/>
              </a:rPr>
              <a:t>syntax </a:t>
            </a:r>
            <a:r>
              <a:rPr sz="2000" kern="1200" spc="-5" dirty="0">
                <a:solidFill>
                  <a:prstClr val="black"/>
                </a:solidFill>
                <a:latin typeface="Palatino Linotype"/>
                <a:cs typeface="Palatino Linotype"/>
              </a:rPr>
              <a:t>tree </a:t>
            </a:r>
            <a:r>
              <a:rPr sz="2000" kern="1200" dirty="0">
                <a:solidFill>
                  <a:prstClr val="black"/>
                </a:solidFill>
                <a:latin typeface="Palatino Linotype"/>
                <a:cs typeface="Palatino Linotype"/>
              </a:rPr>
              <a:t>and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information in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symbol </a:t>
            </a:r>
            <a:r>
              <a:rPr sz="2000" kern="1200" spc="-5" dirty="0">
                <a:solidFill>
                  <a:prstClr val="black"/>
                </a:solidFill>
                <a:latin typeface="Palatino Linotype"/>
                <a:cs typeface="Palatino Linotype"/>
              </a:rPr>
              <a:t>table to </a:t>
            </a:r>
            <a:r>
              <a:rPr sz="2000" kern="1200" dirty="0">
                <a:solidFill>
                  <a:prstClr val="black"/>
                </a:solidFill>
                <a:latin typeface="Palatino Linotype"/>
                <a:cs typeface="Palatino Linotype"/>
              </a:rPr>
              <a:t>check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source </a:t>
            </a:r>
            <a:r>
              <a:rPr sz="2000" kern="1200" spc="-5" dirty="0">
                <a:solidFill>
                  <a:prstClr val="black"/>
                </a:solidFill>
                <a:latin typeface="Palatino Linotype"/>
                <a:cs typeface="Palatino Linotype"/>
              </a:rPr>
              <a:t>program </a:t>
            </a:r>
            <a:r>
              <a:rPr sz="2000" kern="1200" dirty="0">
                <a:solidFill>
                  <a:prstClr val="black"/>
                </a:solidFill>
                <a:latin typeface="Palatino Linotype"/>
                <a:cs typeface="Palatino Linotype"/>
              </a:rPr>
              <a:t>for </a:t>
            </a:r>
            <a:r>
              <a:rPr sz="2000" kern="1200" dirty="0">
                <a:solidFill>
                  <a:srgbClr val="FF0000"/>
                </a:solidFill>
                <a:latin typeface="Palatino Linotype"/>
                <a:cs typeface="Palatino Linotype"/>
              </a:rPr>
              <a:t>semantic  consistency </a:t>
            </a:r>
            <a:r>
              <a:rPr sz="2000" kern="1200" dirty="0">
                <a:solidFill>
                  <a:prstClr val="black"/>
                </a:solidFill>
                <a:latin typeface="Palatino Linotype"/>
                <a:cs typeface="Palatino Linotype"/>
              </a:rPr>
              <a:t>with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language</a:t>
            </a:r>
            <a:r>
              <a:rPr sz="2000" kern="1200" spc="-45" dirty="0">
                <a:solidFill>
                  <a:prstClr val="black"/>
                </a:solidFill>
                <a:latin typeface="Palatino Linotype"/>
                <a:cs typeface="Palatino Linotype"/>
              </a:rPr>
              <a:t> </a:t>
            </a:r>
            <a:r>
              <a:rPr sz="2000" kern="1200" spc="-5" dirty="0">
                <a:solidFill>
                  <a:prstClr val="black"/>
                </a:solidFill>
                <a:latin typeface="Palatino Linotype"/>
                <a:cs typeface="Palatino Linotype"/>
              </a:rPr>
              <a:t>definition</a:t>
            </a:r>
            <a:endParaRPr sz="2000" kern="1200">
              <a:solidFill>
                <a:prstClr val="black"/>
              </a:solidFill>
              <a:latin typeface="Palatino Linotype"/>
              <a:cs typeface="Palatino Linotype"/>
            </a:endParaRPr>
          </a:p>
          <a:p>
            <a:pPr rtl="0">
              <a:spcBef>
                <a:spcPts val="20"/>
              </a:spcBef>
              <a:buFont typeface="Arial"/>
              <a:buChar char="•"/>
            </a:pPr>
            <a:endParaRPr sz="1850" kern="1200">
              <a:solidFill>
                <a:prstClr val="black"/>
              </a:solidFill>
              <a:latin typeface="Palatino Linotype"/>
              <a:cs typeface="Palatino Linotype"/>
            </a:endParaRPr>
          </a:p>
          <a:p>
            <a:pPr marL="242570" indent="-230504" rtl="0">
              <a:buFont typeface="Arial"/>
              <a:buChar char="•"/>
              <a:tabLst>
                <a:tab pos="242570" algn="l"/>
                <a:tab pos="243204" algn="l"/>
              </a:tabLst>
            </a:pPr>
            <a:r>
              <a:rPr sz="2000" kern="1200" dirty="0">
                <a:solidFill>
                  <a:prstClr val="black"/>
                </a:solidFill>
                <a:latin typeface="Palatino Linotype"/>
                <a:cs typeface="Palatino Linotype"/>
              </a:rPr>
              <a:t>Also </a:t>
            </a:r>
            <a:r>
              <a:rPr sz="2000" kern="1200" spc="-5" dirty="0">
                <a:solidFill>
                  <a:prstClr val="black"/>
                </a:solidFill>
                <a:latin typeface="Palatino Linotype"/>
                <a:cs typeface="Palatino Linotype"/>
              </a:rPr>
              <a:t>gathers </a:t>
            </a:r>
            <a:r>
              <a:rPr sz="2000" kern="1200" spc="-5" dirty="0">
                <a:solidFill>
                  <a:srgbClr val="FF0000"/>
                </a:solidFill>
                <a:latin typeface="Palatino Linotype"/>
                <a:cs typeface="Palatino Linotype"/>
              </a:rPr>
              <a:t>type </a:t>
            </a:r>
            <a:r>
              <a:rPr sz="2000" kern="1200" dirty="0">
                <a:solidFill>
                  <a:srgbClr val="FF0000"/>
                </a:solidFill>
                <a:latin typeface="Palatino Linotype"/>
                <a:cs typeface="Palatino Linotype"/>
              </a:rPr>
              <a:t>information </a:t>
            </a:r>
            <a:r>
              <a:rPr sz="2000" kern="1200" dirty="0">
                <a:solidFill>
                  <a:prstClr val="black"/>
                </a:solidFill>
                <a:latin typeface="Palatino Linotype"/>
                <a:cs typeface="Palatino Linotype"/>
              </a:rPr>
              <a:t>for </a:t>
            </a:r>
            <a:r>
              <a:rPr sz="2000" kern="1200" spc="-5" dirty="0">
                <a:solidFill>
                  <a:prstClr val="black"/>
                </a:solidFill>
                <a:latin typeface="Palatino Linotype"/>
                <a:cs typeface="Palatino Linotype"/>
              </a:rPr>
              <a:t>type </a:t>
            </a:r>
            <a:r>
              <a:rPr sz="2000" kern="1200" dirty="0">
                <a:solidFill>
                  <a:prstClr val="black"/>
                </a:solidFill>
                <a:latin typeface="Palatino Linotype"/>
                <a:cs typeface="Palatino Linotype"/>
              </a:rPr>
              <a:t>checking, </a:t>
            </a:r>
            <a:r>
              <a:rPr sz="2000" kern="1200" spc="-5" dirty="0">
                <a:solidFill>
                  <a:prstClr val="black"/>
                </a:solidFill>
                <a:latin typeface="Palatino Linotype"/>
                <a:cs typeface="Palatino Linotype"/>
              </a:rPr>
              <a:t>type</a:t>
            </a:r>
            <a:r>
              <a:rPr sz="2000" kern="1200" spc="-50" dirty="0">
                <a:solidFill>
                  <a:prstClr val="black"/>
                </a:solidFill>
                <a:latin typeface="Palatino Linotype"/>
                <a:cs typeface="Palatino Linotype"/>
              </a:rPr>
              <a:t> </a:t>
            </a:r>
            <a:r>
              <a:rPr sz="2000" kern="1200" spc="-5" dirty="0">
                <a:solidFill>
                  <a:prstClr val="black"/>
                </a:solidFill>
                <a:latin typeface="Palatino Linotype"/>
                <a:cs typeface="Palatino Linotype"/>
              </a:rPr>
              <a:t>conversion,</a:t>
            </a:r>
            <a:endParaRPr sz="2000" kern="1200">
              <a:solidFill>
                <a:prstClr val="black"/>
              </a:solidFill>
              <a:latin typeface="Palatino Linotype"/>
              <a:cs typeface="Palatino Linotype"/>
            </a:endParaRPr>
          </a:p>
          <a:p>
            <a:pPr marL="242570" rtl="0">
              <a:spcBef>
                <a:spcPts val="720"/>
              </a:spcBef>
            </a:pPr>
            <a:r>
              <a:rPr sz="2000" kern="1200" dirty="0">
                <a:solidFill>
                  <a:prstClr val="black"/>
                </a:solidFill>
                <a:latin typeface="Palatino Linotype"/>
                <a:cs typeface="Palatino Linotype"/>
              </a:rPr>
              <a:t>and intermediate code</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generation</a:t>
            </a:r>
            <a:endParaRPr sz="2000" kern="1200">
              <a:solidFill>
                <a:prstClr val="black"/>
              </a:solidFill>
              <a:latin typeface="Palatino Linotype"/>
              <a:cs typeface="Palatino Linotype"/>
            </a:endParaRPr>
          </a:p>
        </p:txBody>
      </p:sp>
      <p:sp>
        <p:nvSpPr>
          <p:cNvPr id="14" name="object 4">
            <a:extLst>
              <a:ext uri="{FF2B5EF4-FFF2-40B4-BE49-F238E27FC236}">
                <a16:creationId xmlns:a16="http://schemas.microsoft.com/office/drawing/2014/main" id="{6E0CC72F-EFD7-41AB-BCEB-28F06B946DD1}"/>
              </a:ext>
            </a:extLst>
          </p:cNvPr>
          <p:cNvSpPr txBox="1"/>
          <p:nvPr/>
        </p:nvSpPr>
        <p:spPr>
          <a:xfrm>
            <a:off x="3347846" y="1857629"/>
            <a:ext cx="2129155" cy="434340"/>
          </a:xfrm>
          <a:prstGeom prst="rect">
            <a:avLst/>
          </a:prstGeom>
          <a:solidFill>
            <a:srgbClr val="FFC000"/>
          </a:solidFill>
          <a:ln w="12700">
            <a:solidFill>
              <a:srgbClr val="000000"/>
            </a:solidFill>
          </a:ln>
        </p:spPr>
        <p:txBody>
          <a:bodyPr vert="horz" wrap="square" lIns="0" tIns="65405" rIns="0" bIns="0" rtlCol="0">
            <a:spAutoFit/>
          </a:bodyPr>
          <a:lstStyle/>
          <a:p>
            <a:pPr marL="112395" rtl="0">
              <a:spcBef>
                <a:spcPts val="515"/>
              </a:spcBef>
            </a:pPr>
            <a:r>
              <a:rPr kern="1200" dirty="0">
                <a:solidFill>
                  <a:prstClr val="black"/>
                </a:solidFill>
                <a:latin typeface="Palatino Linotype"/>
                <a:cs typeface="Palatino Linotype"/>
              </a:rPr>
              <a:t>Semantic</a:t>
            </a:r>
            <a:r>
              <a:rPr kern="1200" spc="-100" dirty="0">
                <a:solidFill>
                  <a:prstClr val="black"/>
                </a:solidFill>
                <a:latin typeface="Palatino Linotype"/>
                <a:cs typeface="Palatino Linotype"/>
              </a:rPr>
              <a:t> </a:t>
            </a:r>
            <a:r>
              <a:rPr kern="1200" dirty="0">
                <a:solidFill>
                  <a:prstClr val="black"/>
                </a:solidFill>
                <a:latin typeface="Palatino Linotype"/>
                <a:cs typeface="Palatino Linotype"/>
              </a:rPr>
              <a:t>Analyzer</a:t>
            </a:r>
            <a:endParaRPr kern="1200">
              <a:solidFill>
                <a:prstClr val="black"/>
              </a:solidFill>
              <a:latin typeface="Palatino Linotype"/>
              <a:cs typeface="Palatino Linotype"/>
            </a:endParaRPr>
          </a:p>
        </p:txBody>
      </p:sp>
      <p:sp>
        <p:nvSpPr>
          <p:cNvPr id="15" name="object 5">
            <a:extLst>
              <a:ext uri="{FF2B5EF4-FFF2-40B4-BE49-F238E27FC236}">
                <a16:creationId xmlns:a16="http://schemas.microsoft.com/office/drawing/2014/main" id="{BF0080DB-CD87-784C-30A1-814C1EAC58C1}"/>
              </a:ext>
            </a:extLst>
          </p:cNvPr>
          <p:cNvSpPr txBox="1"/>
          <p:nvPr/>
        </p:nvSpPr>
        <p:spPr>
          <a:xfrm>
            <a:off x="805687" y="1911858"/>
            <a:ext cx="115443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Syntax</a:t>
            </a:r>
            <a:r>
              <a:rPr kern="1200" spc="-60" dirty="0">
                <a:solidFill>
                  <a:prstClr val="black"/>
                </a:solidFill>
                <a:latin typeface="Palatino Linotype"/>
                <a:cs typeface="Palatino Linotype"/>
              </a:rPr>
              <a:t> </a:t>
            </a:r>
            <a:r>
              <a:rPr kern="1200" spc="-5" dirty="0">
                <a:solidFill>
                  <a:prstClr val="black"/>
                </a:solidFill>
                <a:latin typeface="Palatino Linotype"/>
                <a:cs typeface="Palatino Linotype"/>
              </a:rPr>
              <a:t>tree</a:t>
            </a:r>
            <a:endParaRPr kern="1200">
              <a:solidFill>
                <a:prstClr val="black"/>
              </a:solidFill>
              <a:latin typeface="Palatino Linotype"/>
              <a:cs typeface="Palatino Linotype"/>
            </a:endParaRPr>
          </a:p>
        </p:txBody>
      </p:sp>
      <p:sp>
        <p:nvSpPr>
          <p:cNvPr id="16" name="object 6">
            <a:extLst>
              <a:ext uri="{FF2B5EF4-FFF2-40B4-BE49-F238E27FC236}">
                <a16:creationId xmlns:a16="http://schemas.microsoft.com/office/drawing/2014/main" id="{41F78E21-9E39-BCE6-86C2-C275DFDA6899}"/>
              </a:ext>
            </a:extLst>
          </p:cNvPr>
          <p:cNvSpPr txBox="1"/>
          <p:nvPr/>
        </p:nvSpPr>
        <p:spPr>
          <a:xfrm>
            <a:off x="6587743" y="1903857"/>
            <a:ext cx="1155065"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Syntax</a:t>
            </a:r>
            <a:r>
              <a:rPr kern="1200" spc="-60" dirty="0">
                <a:solidFill>
                  <a:prstClr val="black"/>
                </a:solidFill>
                <a:latin typeface="Palatino Linotype"/>
                <a:cs typeface="Palatino Linotype"/>
              </a:rPr>
              <a:t> </a:t>
            </a:r>
            <a:r>
              <a:rPr kern="1200" spc="-5" dirty="0">
                <a:solidFill>
                  <a:prstClr val="black"/>
                </a:solidFill>
                <a:latin typeface="Palatino Linotype"/>
                <a:cs typeface="Palatino Linotype"/>
              </a:rPr>
              <a:t>tree</a:t>
            </a:r>
            <a:endParaRPr kern="1200">
              <a:solidFill>
                <a:prstClr val="black"/>
              </a:solidFill>
              <a:latin typeface="Palatino Linotype"/>
              <a:cs typeface="Palatino Linotype"/>
            </a:endParaRPr>
          </a:p>
        </p:txBody>
      </p:sp>
      <p:sp>
        <p:nvSpPr>
          <p:cNvPr id="17" name="object 7">
            <a:extLst>
              <a:ext uri="{FF2B5EF4-FFF2-40B4-BE49-F238E27FC236}">
                <a16:creationId xmlns:a16="http://schemas.microsoft.com/office/drawing/2014/main" id="{67BC2570-AE15-626B-3FE0-A21D543619E4}"/>
              </a:ext>
            </a:extLst>
          </p:cNvPr>
          <p:cNvSpPr/>
          <p:nvPr/>
        </p:nvSpPr>
        <p:spPr>
          <a:xfrm>
            <a:off x="2078735" y="2022855"/>
            <a:ext cx="1269365" cy="103505"/>
          </a:xfrm>
          <a:custGeom>
            <a:avLst/>
            <a:gdLst/>
            <a:ahLst/>
            <a:cxnLst/>
            <a:rect l="l" t="t" r="r" b="b"/>
            <a:pathLst>
              <a:path w="1269364" h="103505">
                <a:moveTo>
                  <a:pt x="1252908" y="44958"/>
                </a:moveTo>
                <a:lnTo>
                  <a:pt x="1251839" y="44958"/>
                </a:lnTo>
                <a:lnTo>
                  <a:pt x="1251839" y="57658"/>
                </a:lnTo>
                <a:lnTo>
                  <a:pt x="1218179" y="57750"/>
                </a:lnTo>
                <a:lnTo>
                  <a:pt x="1132077" y="91440"/>
                </a:lnTo>
                <a:lnTo>
                  <a:pt x="1130427" y="95123"/>
                </a:lnTo>
                <a:lnTo>
                  <a:pt x="1132966" y="101727"/>
                </a:lnTo>
                <a:lnTo>
                  <a:pt x="1136650" y="103251"/>
                </a:lnTo>
                <a:lnTo>
                  <a:pt x="1269364" y="51308"/>
                </a:lnTo>
                <a:lnTo>
                  <a:pt x="1252908" y="44958"/>
                </a:lnTo>
                <a:close/>
              </a:path>
              <a:path w="1269364" h="103505">
                <a:moveTo>
                  <a:pt x="1217898" y="45050"/>
                </a:moveTo>
                <a:lnTo>
                  <a:pt x="0" y="48387"/>
                </a:lnTo>
                <a:lnTo>
                  <a:pt x="0" y="61087"/>
                </a:lnTo>
                <a:lnTo>
                  <a:pt x="1218179" y="57750"/>
                </a:lnTo>
                <a:lnTo>
                  <a:pt x="1234367" y="51411"/>
                </a:lnTo>
                <a:lnTo>
                  <a:pt x="1217898" y="45050"/>
                </a:lnTo>
                <a:close/>
              </a:path>
              <a:path w="1269364" h="103505">
                <a:moveTo>
                  <a:pt x="1234367" y="51411"/>
                </a:moveTo>
                <a:lnTo>
                  <a:pt x="1218179" y="57750"/>
                </a:lnTo>
                <a:lnTo>
                  <a:pt x="1251839" y="57658"/>
                </a:lnTo>
                <a:lnTo>
                  <a:pt x="1251839" y="57277"/>
                </a:lnTo>
                <a:lnTo>
                  <a:pt x="1249552" y="57277"/>
                </a:lnTo>
                <a:lnTo>
                  <a:pt x="1234367" y="51411"/>
                </a:lnTo>
                <a:close/>
              </a:path>
              <a:path w="1269364" h="103505">
                <a:moveTo>
                  <a:pt x="1249552" y="45466"/>
                </a:moveTo>
                <a:lnTo>
                  <a:pt x="1234367" y="51411"/>
                </a:lnTo>
                <a:lnTo>
                  <a:pt x="1249552" y="57277"/>
                </a:lnTo>
                <a:lnTo>
                  <a:pt x="1249552" y="45466"/>
                </a:lnTo>
                <a:close/>
              </a:path>
              <a:path w="1269364" h="103505">
                <a:moveTo>
                  <a:pt x="1251839" y="45466"/>
                </a:moveTo>
                <a:lnTo>
                  <a:pt x="1249552" y="45466"/>
                </a:lnTo>
                <a:lnTo>
                  <a:pt x="1249552" y="57277"/>
                </a:lnTo>
                <a:lnTo>
                  <a:pt x="1251839" y="57277"/>
                </a:lnTo>
                <a:lnTo>
                  <a:pt x="1251839" y="45466"/>
                </a:lnTo>
                <a:close/>
              </a:path>
              <a:path w="1269364" h="103505">
                <a:moveTo>
                  <a:pt x="1251839" y="44958"/>
                </a:moveTo>
                <a:lnTo>
                  <a:pt x="1217898" y="45050"/>
                </a:lnTo>
                <a:lnTo>
                  <a:pt x="1234367" y="51411"/>
                </a:lnTo>
                <a:lnTo>
                  <a:pt x="1249552" y="45466"/>
                </a:lnTo>
                <a:lnTo>
                  <a:pt x="1251839" y="45466"/>
                </a:lnTo>
                <a:lnTo>
                  <a:pt x="1251839" y="44958"/>
                </a:lnTo>
                <a:close/>
              </a:path>
              <a:path w="1269364" h="103505">
                <a:moveTo>
                  <a:pt x="1136395" y="0"/>
                </a:moveTo>
                <a:lnTo>
                  <a:pt x="1132713" y="1651"/>
                </a:lnTo>
                <a:lnTo>
                  <a:pt x="1130172" y="8255"/>
                </a:lnTo>
                <a:lnTo>
                  <a:pt x="1131824" y="11938"/>
                </a:lnTo>
                <a:lnTo>
                  <a:pt x="1135126" y="13081"/>
                </a:lnTo>
                <a:lnTo>
                  <a:pt x="1217898" y="45050"/>
                </a:lnTo>
                <a:lnTo>
                  <a:pt x="1252908" y="44958"/>
                </a:lnTo>
                <a:lnTo>
                  <a:pt x="1136395"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8">
            <a:extLst>
              <a:ext uri="{FF2B5EF4-FFF2-40B4-BE49-F238E27FC236}">
                <a16:creationId xmlns:a16="http://schemas.microsoft.com/office/drawing/2014/main" id="{29628F45-83DC-F5CD-8747-7F3101BC5F14}"/>
              </a:ext>
            </a:extLst>
          </p:cNvPr>
          <p:cNvSpPr/>
          <p:nvPr/>
        </p:nvSpPr>
        <p:spPr>
          <a:xfrm>
            <a:off x="5477255" y="2018538"/>
            <a:ext cx="1031240" cy="103505"/>
          </a:xfrm>
          <a:custGeom>
            <a:avLst/>
            <a:gdLst/>
            <a:ahLst/>
            <a:cxnLst/>
            <a:rect l="l" t="t" r="r" b="b"/>
            <a:pathLst>
              <a:path w="1031240" h="103505">
                <a:moveTo>
                  <a:pt x="1014905" y="44831"/>
                </a:moveTo>
                <a:lnTo>
                  <a:pt x="1013587" y="44831"/>
                </a:lnTo>
                <a:lnTo>
                  <a:pt x="1013714" y="57531"/>
                </a:lnTo>
                <a:lnTo>
                  <a:pt x="979683" y="57675"/>
                </a:lnTo>
                <a:lnTo>
                  <a:pt x="893953" y="91439"/>
                </a:lnTo>
                <a:lnTo>
                  <a:pt x="892302" y="95123"/>
                </a:lnTo>
                <a:lnTo>
                  <a:pt x="893572" y="98425"/>
                </a:lnTo>
                <a:lnTo>
                  <a:pt x="894969" y="101600"/>
                </a:lnTo>
                <a:lnTo>
                  <a:pt x="898652" y="103250"/>
                </a:lnTo>
                <a:lnTo>
                  <a:pt x="1031113" y="51053"/>
                </a:lnTo>
                <a:lnTo>
                  <a:pt x="1014905" y="44831"/>
                </a:lnTo>
                <a:close/>
              </a:path>
              <a:path w="1031240" h="103505">
                <a:moveTo>
                  <a:pt x="979927" y="44974"/>
                </a:moveTo>
                <a:lnTo>
                  <a:pt x="0" y="49149"/>
                </a:lnTo>
                <a:lnTo>
                  <a:pt x="0" y="61849"/>
                </a:lnTo>
                <a:lnTo>
                  <a:pt x="979683" y="57675"/>
                </a:lnTo>
                <a:lnTo>
                  <a:pt x="996124" y="51194"/>
                </a:lnTo>
                <a:lnTo>
                  <a:pt x="979927" y="44974"/>
                </a:lnTo>
                <a:close/>
              </a:path>
              <a:path w="1031240" h="103505">
                <a:moveTo>
                  <a:pt x="996124" y="51194"/>
                </a:moveTo>
                <a:lnTo>
                  <a:pt x="979683" y="57675"/>
                </a:lnTo>
                <a:lnTo>
                  <a:pt x="1013714" y="57531"/>
                </a:lnTo>
                <a:lnTo>
                  <a:pt x="1013708" y="57023"/>
                </a:lnTo>
                <a:lnTo>
                  <a:pt x="1011301" y="57023"/>
                </a:lnTo>
                <a:lnTo>
                  <a:pt x="996124" y="51194"/>
                </a:lnTo>
                <a:close/>
              </a:path>
              <a:path w="1031240" h="103505">
                <a:moveTo>
                  <a:pt x="1011301" y="45212"/>
                </a:moveTo>
                <a:lnTo>
                  <a:pt x="996124" y="51194"/>
                </a:lnTo>
                <a:lnTo>
                  <a:pt x="1011301" y="57023"/>
                </a:lnTo>
                <a:lnTo>
                  <a:pt x="1011301" y="45212"/>
                </a:lnTo>
                <a:close/>
              </a:path>
              <a:path w="1031240" h="103505">
                <a:moveTo>
                  <a:pt x="1013590" y="45212"/>
                </a:moveTo>
                <a:lnTo>
                  <a:pt x="1011301" y="45212"/>
                </a:lnTo>
                <a:lnTo>
                  <a:pt x="1011301" y="57023"/>
                </a:lnTo>
                <a:lnTo>
                  <a:pt x="1013708" y="57023"/>
                </a:lnTo>
                <a:lnTo>
                  <a:pt x="1013590" y="45212"/>
                </a:lnTo>
                <a:close/>
              </a:path>
              <a:path w="1031240" h="103505">
                <a:moveTo>
                  <a:pt x="1013587" y="44831"/>
                </a:moveTo>
                <a:lnTo>
                  <a:pt x="979927" y="44974"/>
                </a:lnTo>
                <a:lnTo>
                  <a:pt x="996124" y="51194"/>
                </a:lnTo>
                <a:lnTo>
                  <a:pt x="1011301" y="45212"/>
                </a:lnTo>
                <a:lnTo>
                  <a:pt x="1013590" y="45212"/>
                </a:lnTo>
                <a:lnTo>
                  <a:pt x="1013587" y="44831"/>
                </a:lnTo>
                <a:close/>
              </a:path>
              <a:path w="1031240" h="103505">
                <a:moveTo>
                  <a:pt x="898144" y="0"/>
                </a:moveTo>
                <a:lnTo>
                  <a:pt x="894461" y="1650"/>
                </a:lnTo>
                <a:lnTo>
                  <a:pt x="893191" y="4952"/>
                </a:lnTo>
                <a:lnTo>
                  <a:pt x="891921" y="8127"/>
                </a:lnTo>
                <a:lnTo>
                  <a:pt x="893572" y="11811"/>
                </a:lnTo>
                <a:lnTo>
                  <a:pt x="979927" y="44974"/>
                </a:lnTo>
                <a:lnTo>
                  <a:pt x="1014905" y="44831"/>
                </a:lnTo>
                <a:lnTo>
                  <a:pt x="89814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244491A4-3946-8A7A-BF25-0B4DB0D3CE23}"/>
              </a:ext>
            </a:extLst>
          </p:cNvPr>
          <p:cNvSpPr>
            <a:spLocks noGrp="1"/>
          </p:cNvSpPr>
          <p:nvPr>
            <p:ph type="sldNum" sz="quarter" idx="12"/>
          </p:nvPr>
        </p:nvSpPr>
        <p:spPr/>
        <p:txBody>
          <a:bodyPr/>
          <a:lstStyle/>
          <a:p>
            <a:pPr>
              <a:defRPr/>
            </a:pPr>
            <a:fld id="{2FBC720A-3716-234A-B2DF-CBC7E48049F5}" type="slidenum">
              <a:rPr lang="en-US" altLang="zh-CN" smtClean="0"/>
              <a:t>28</a:t>
            </a:fld>
            <a:endParaRPr lang="en-US" altLang="zh-CN"/>
          </a:p>
        </p:txBody>
      </p:sp>
    </p:spTree>
    <p:extLst>
      <p:ext uri="{BB962C8B-B14F-4D97-AF65-F5344CB8AC3E}">
        <p14:creationId xmlns:p14="http://schemas.microsoft.com/office/powerpoint/2010/main" val="250069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340E4BEF-74DC-6A4B-6893-056DE6EFCC9F}"/>
              </a:ext>
            </a:extLst>
          </p:cNvPr>
          <p:cNvSpPr txBox="1">
            <a:spLocks/>
          </p:cNvSpPr>
          <p:nvPr/>
        </p:nvSpPr>
        <p:spPr>
          <a:xfrm>
            <a:off x="707542" y="520141"/>
            <a:ext cx="451104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What is</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Semantics?</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F6D18A4-EC3D-7A2C-23AA-57A9DA0A1D09}"/>
              </a:ext>
            </a:extLst>
          </p:cNvPr>
          <p:cNvSpPr txBox="1"/>
          <p:nvPr/>
        </p:nvSpPr>
        <p:spPr>
          <a:xfrm>
            <a:off x="707542" y="1871028"/>
            <a:ext cx="7407909" cy="2965450"/>
          </a:xfrm>
          <a:prstGeom prst="rect">
            <a:avLst/>
          </a:prstGeom>
        </p:spPr>
        <p:txBody>
          <a:bodyPr vert="horz" wrap="square" lIns="0" tIns="86360" rIns="0" bIns="0" rtlCol="0">
            <a:spAutoFit/>
          </a:bodyPr>
          <a:lstStyle/>
          <a:p>
            <a:pPr marL="242570" indent="-230504" rtl="0">
              <a:spcBef>
                <a:spcPts val="680"/>
              </a:spcBef>
              <a:buFont typeface="Arial"/>
              <a:buChar char="•"/>
              <a:tabLst>
                <a:tab pos="243204" algn="l"/>
              </a:tabLst>
            </a:pPr>
            <a:r>
              <a:rPr sz="2400" kern="1200" dirty="0">
                <a:solidFill>
                  <a:prstClr val="black"/>
                </a:solidFill>
                <a:latin typeface="Palatino Linotype"/>
                <a:cs typeface="Palatino Linotype"/>
              </a:rPr>
              <a:t>The </a:t>
            </a:r>
            <a:r>
              <a:rPr sz="2400" kern="1200" spc="-5" dirty="0">
                <a:solidFill>
                  <a:srgbClr val="FF0000"/>
                </a:solidFill>
                <a:latin typeface="Palatino Linotype"/>
                <a:cs typeface="Palatino Linotype"/>
              </a:rPr>
              <a:t>syntax </a:t>
            </a:r>
            <a:r>
              <a:rPr sz="2400" kern="1200" dirty="0">
                <a:solidFill>
                  <a:prstClr val="black"/>
                </a:solidFill>
                <a:latin typeface="Palatino Linotype"/>
                <a:cs typeface="Palatino Linotype"/>
              </a:rPr>
              <a:t>of a </a:t>
            </a:r>
            <a:r>
              <a:rPr sz="2400" kern="1200" spc="-5" dirty="0">
                <a:solidFill>
                  <a:prstClr val="black"/>
                </a:solidFill>
                <a:latin typeface="Palatino Linotype"/>
                <a:cs typeface="Palatino Linotype"/>
              </a:rPr>
              <a:t>programming language </a:t>
            </a:r>
            <a:r>
              <a:rPr sz="2400" kern="1200" dirty="0">
                <a:solidFill>
                  <a:prstClr val="black"/>
                </a:solidFill>
                <a:latin typeface="Palatino Linotype"/>
                <a:cs typeface="Palatino Linotype"/>
              </a:rPr>
              <a:t>describes</a:t>
            </a:r>
            <a:r>
              <a:rPr sz="2400" kern="1200" spc="-5" dirty="0">
                <a:solidFill>
                  <a:prstClr val="black"/>
                </a:solidFill>
                <a:latin typeface="Palatino Linotype"/>
                <a:cs typeface="Palatino Linotype"/>
              </a:rPr>
              <a:t> the</a:t>
            </a:r>
            <a:endParaRPr sz="2400" kern="1200" dirty="0">
              <a:solidFill>
                <a:prstClr val="black"/>
              </a:solidFill>
              <a:latin typeface="Palatino Linotype"/>
              <a:cs typeface="Palatino Linotype"/>
            </a:endParaRPr>
          </a:p>
          <a:p>
            <a:pPr marL="242570" rtl="0">
              <a:spcBef>
                <a:spcPts val="575"/>
              </a:spcBef>
            </a:pPr>
            <a:r>
              <a:rPr sz="2400" kern="1200" spc="-5" dirty="0">
                <a:solidFill>
                  <a:srgbClr val="0431FF"/>
                </a:solidFill>
                <a:latin typeface="Palatino Linotype"/>
                <a:cs typeface="Palatino Linotype"/>
              </a:rPr>
              <a:t>proper </a:t>
            </a:r>
            <a:r>
              <a:rPr sz="2400" kern="1200" dirty="0">
                <a:solidFill>
                  <a:srgbClr val="0431FF"/>
                </a:solidFill>
                <a:latin typeface="Palatino Linotype"/>
                <a:cs typeface="Palatino Linotype"/>
              </a:rPr>
              <a:t>form </a:t>
            </a:r>
            <a:r>
              <a:rPr sz="2400" kern="1200" dirty="0">
                <a:solidFill>
                  <a:prstClr val="black"/>
                </a:solidFill>
                <a:latin typeface="Palatino Linotype"/>
                <a:cs typeface="Palatino Linotype"/>
              </a:rPr>
              <a:t>of </a:t>
            </a:r>
            <a:r>
              <a:rPr sz="2400" kern="1200" spc="-5" dirty="0">
                <a:solidFill>
                  <a:prstClr val="black"/>
                </a:solidFill>
                <a:latin typeface="Palatino Linotype"/>
                <a:cs typeface="Palatino Linotype"/>
              </a:rPr>
              <a:t>its</a:t>
            </a:r>
            <a:r>
              <a:rPr sz="2400" kern="1200" spc="5" dirty="0">
                <a:solidFill>
                  <a:prstClr val="black"/>
                </a:solidFill>
                <a:latin typeface="Palatino Linotype"/>
                <a:cs typeface="Palatino Linotype"/>
              </a:rPr>
              <a:t> </a:t>
            </a:r>
            <a:r>
              <a:rPr sz="2400" kern="1200" spc="-5" dirty="0">
                <a:solidFill>
                  <a:prstClr val="black"/>
                </a:solidFill>
                <a:latin typeface="Palatino Linotype"/>
                <a:cs typeface="Palatino Linotype"/>
              </a:rPr>
              <a:t>programs</a:t>
            </a:r>
            <a:endParaRPr sz="2400" kern="1200" dirty="0">
              <a:solidFill>
                <a:prstClr val="black"/>
              </a:solidFill>
              <a:latin typeface="Palatino Linotype"/>
              <a:cs typeface="Palatino Linotype"/>
            </a:endParaRPr>
          </a:p>
          <a:p>
            <a:pPr rtl="0"/>
            <a:endParaRPr sz="2400" kern="1200" dirty="0">
              <a:solidFill>
                <a:prstClr val="black"/>
              </a:solidFill>
              <a:latin typeface="Palatino Linotype"/>
              <a:cs typeface="Palatino Linotype"/>
            </a:endParaRPr>
          </a:p>
          <a:p>
            <a:pPr rtl="0">
              <a:spcBef>
                <a:spcPts val="60"/>
              </a:spcBef>
            </a:pPr>
            <a:endParaRPr sz="1900" kern="1200" dirty="0">
              <a:solidFill>
                <a:prstClr val="black"/>
              </a:solidFill>
              <a:latin typeface="Palatino Linotype"/>
              <a:cs typeface="Palatino Linotype"/>
            </a:endParaRPr>
          </a:p>
          <a:p>
            <a:pPr marL="242570" marR="28575" indent="-230504" algn="just" rtl="0">
              <a:lnSpc>
                <a:spcPct val="120000"/>
              </a:lnSpc>
              <a:buFont typeface="Arial"/>
              <a:buChar char="•"/>
              <a:tabLst>
                <a:tab pos="243204" algn="l"/>
              </a:tabLst>
            </a:pPr>
            <a:r>
              <a:rPr sz="2400" kern="1200" dirty="0">
                <a:solidFill>
                  <a:prstClr val="black"/>
                </a:solidFill>
                <a:latin typeface="Palatino Linotype"/>
                <a:cs typeface="Palatino Linotype"/>
              </a:rPr>
              <a:t>The </a:t>
            </a:r>
            <a:r>
              <a:rPr sz="2400" kern="1200" spc="-5" dirty="0">
                <a:solidFill>
                  <a:srgbClr val="FF0000"/>
                </a:solidFill>
                <a:latin typeface="Palatino Linotype"/>
                <a:cs typeface="Palatino Linotype"/>
              </a:rPr>
              <a:t>semantics </a:t>
            </a:r>
            <a:r>
              <a:rPr sz="2400" kern="1200" dirty="0">
                <a:solidFill>
                  <a:prstClr val="black"/>
                </a:solidFill>
                <a:latin typeface="Palatino Linotype"/>
                <a:cs typeface="Palatino Linotype"/>
              </a:rPr>
              <a:t>of a </a:t>
            </a:r>
            <a:r>
              <a:rPr sz="2400" kern="1200" spc="-5" dirty="0">
                <a:solidFill>
                  <a:prstClr val="black"/>
                </a:solidFill>
                <a:latin typeface="Palatino Linotype"/>
                <a:cs typeface="Palatino Linotype"/>
              </a:rPr>
              <a:t>programming language </a:t>
            </a:r>
            <a:r>
              <a:rPr sz="2400" kern="1200" dirty="0">
                <a:solidFill>
                  <a:prstClr val="black"/>
                </a:solidFill>
                <a:latin typeface="Palatino Linotype"/>
                <a:cs typeface="Palatino Linotype"/>
              </a:rPr>
              <a:t>describes  </a:t>
            </a:r>
            <a:r>
              <a:rPr sz="2400" kern="1200" spc="-5" dirty="0">
                <a:solidFill>
                  <a:prstClr val="black"/>
                </a:solidFill>
                <a:latin typeface="Palatino Linotype"/>
                <a:cs typeface="Palatino Linotype"/>
              </a:rPr>
              <a:t>the </a:t>
            </a:r>
            <a:r>
              <a:rPr sz="2400" kern="1200" spc="-5" dirty="0">
                <a:solidFill>
                  <a:srgbClr val="0431FF"/>
                </a:solidFill>
                <a:latin typeface="Palatino Linotype"/>
                <a:cs typeface="Palatino Linotype"/>
              </a:rPr>
              <a:t>meaning </a:t>
            </a:r>
            <a:r>
              <a:rPr sz="2400" kern="1200" dirty="0">
                <a:solidFill>
                  <a:prstClr val="black"/>
                </a:solidFill>
                <a:latin typeface="Palatino Linotype"/>
                <a:cs typeface="Palatino Linotype"/>
              </a:rPr>
              <a:t>of </a:t>
            </a:r>
            <a:r>
              <a:rPr sz="2400" kern="1200" spc="-5" dirty="0">
                <a:solidFill>
                  <a:prstClr val="black"/>
                </a:solidFill>
                <a:latin typeface="Palatino Linotype"/>
                <a:cs typeface="Palatino Linotype"/>
              </a:rPr>
              <a:t>its programs, i.e., </a:t>
            </a:r>
            <a:r>
              <a:rPr sz="2400" kern="1200" dirty="0">
                <a:solidFill>
                  <a:prstClr val="black"/>
                </a:solidFill>
                <a:latin typeface="Palatino Linotype"/>
                <a:cs typeface="Palatino Linotype"/>
              </a:rPr>
              <a:t>what each </a:t>
            </a:r>
            <a:r>
              <a:rPr sz="2400" kern="1200" spc="-10" dirty="0">
                <a:solidFill>
                  <a:prstClr val="black"/>
                </a:solidFill>
                <a:latin typeface="Palatino Linotype"/>
                <a:cs typeface="Palatino Linotype"/>
              </a:rPr>
              <a:t>program  </a:t>
            </a:r>
            <a:r>
              <a:rPr sz="2400" kern="1200" spc="-5" dirty="0">
                <a:solidFill>
                  <a:prstClr val="black"/>
                </a:solidFill>
                <a:latin typeface="Palatino Linotype"/>
                <a:cs typeface="Palatino Linotype"/>
              </a:rPr>
              <a:t>does </a:t>
            </a:r>
            <a:r>
              <a:rPr sz="2400" kern="1200" dirty="0">
                <a:solidFill>
                  <a:prstClr val="black"/>
                </a:solidFill>
                <a:latin typeface="Palatino Linotype"/>
                <a:cs typeface="Palatino Linotype"/>
              </a:rPr>
              <a:t>when </a:t>
            </a:r>
            <a:r>
              <a:rPr sz="2400" kern="1200" spc="-5" dirty="0">
                <a:solidFill>
                  <a:prstClr val="black"/>
                </a:solidFill>
                <a:latin typeface="Palatino Linotype"/>
                <a:cs typeface="Palatino Linotype"/>
              </a:rPr>
              <a:t>it</a:t>
            </a:r>
            <a:r>
              <a:rPr sz="2400" kern="1200" spc="-10" dirty="0">
                <a:solidFill>
                  <a:prstClr val="black"/>
                </a:solidFill>
                <a:latin typeface="Palatino Linotype"/>
                <a:cs typeface="Palatino Linotype"/>
              </a:rPr>
              <a:t> </a:t>
            </a:r>
            <a:r>
              <a:rPr sz="2400" kern="1200" spc="-5" dirty="0">
                <a:solidFill>
                  <a:prstClr val="black"/>
                </a:solidFill>
                <a:latin typeface="Palatino Linotype"/>
                <a:cs typeface="Palatino Linotype"/>
              </a:rPr>
              <a:t>executes</a:t>
            </a:r>
            <a:endParaRPr sz="2400"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B9BAE8BF-7946-DD6D-0D87-5EE0B26D2BDE}"/>
              </a:ext>
            </a:extLst>
          </p:cNvPr>
          <p:cNvSpPr>
            <a:spLocks noGrp="1"/>
          </p:cNvSpPr>
          <p:nvPr>
            <p:ph type="sldNum" sz="quarter" idx="12"/>
          </p:nvPr>
        </p:nvSpPr>
        <p:spPr/>
        <p:txBody>
          <a:bodyPr/>
          <a:lstStyle/>
          <a:p>
            <a:pPr>
              <a:defRPr/>
            </a:pPr>
            <a:fld id="{2FBC720A-3716-234A-B2DF-CBC7E48049F5}" type="slidenum">
              <a:rPr lang="en-US" altLang="zh-CN" smtClean="0"/>
              <a:t>29</a:t>
            </a:fld>
            <a:endParaRPr lang="en-US" altLang="zh-CN"/>
          </a:p>
        </p:txBody>
      </p:sp>
    </p:spTree>
    <p:extLst>
      <p:ext uri="{BB962C8B-B14F-4D97-AF65-F5344CB8AC3E}">
        <p14:creationId xmlns:p14="http://schemas.microsoft.com/office/powerpoint/2010/main" val="3217147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8" name="object 2">
            <a:extLst>
              <a:ext uri="{FF2B5EF4-FFF2-40B4-BE49-F238E27FC236}">
                <a16:creationId xmlns:a16="http://schemas.microsoft.com/office/drawing/2014/main" id="{0ABABDB0-8A30-8F90-D0AD-09E26AF4E375}"/>
              </a:ext>
            </a:extLst>
          </p:cNvPr>
          <p:cNvSpPr txBox="1">
            <a:spLocks/>
          </p:cNvSpPr>
          <p:nvPr/>
        </p:nvSpPr>
        <p:spPr>
          <a:xfrm>
            <a:off x="1154683" y="520141"/>
            <a:ext cx="683768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Semantic Analysis in</a:t>
            </a:r>
            <a:r>
              <a:rPr kumimoji="0" lang="en-US" sz="4000" b="1" i="0" u="none" strike="noStrike" kern="0" cap="none" spc="1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English</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66ECEC7F-DC8E-3332-42AF-2ED8D76B5626}"/>
              </a:ext>
            </a:extLst>
          </p:cNvPr>
          <p:cNvSpPr txBox="1"/>
          <p:nvPr/>
        </p:nvSpPr>
        <p:spPr>
          <a:xfrm>
            <a:off x="1137919" y="1861261"/>
            <a:ext cx="6799580" cy="3092450"/>
          </a:xfrm>
          <a:prstGeom prst="rect">
            <a:avLst/>
          </a:prstGeom>
        </p:spPr>
        <p:txBody>
          <a:bodyPr vert="horz" wrap="square" lIns="0" tIns="12065" rIns="0" bIns="0" rtlCol="0">
            <a:spAutoFit/>
          </a:bodyPr>
          <a:lstStyle/>
          <a:p>
            <a:pPr algn="ctr" rtl="0">
              <a:spcBef>
                <a:spcPts val="95"/>
              </a:spcBef>
            </a:pPr>
            <a:r>
              <a:rPr sz="2200" kern="1200" spc="-5" dirty="0">
                <a:solidFill>
                  <a:srgbClr val="0431FF"/>
                </a:solidFill>
                <a:latin typeface="Consolas"/>
                <a:cs typeface="Consolas"/>
              </a:rPr>
              <a:t>Jack said Jerry left </a:t>
            </a:r>
            <a:r>
              <a:rPr sz="2200" kern="1200" spc="-5" dirty="0">
                <a:solidFill>
                  <a:srgbClr val="FF0000"/>
                </a:solidFill>
                <a:latin typeface="Consolas"/>
                <a:cs typeface="Consolas"/>
              </a:rPr>
              <a:t>his </a:t>
            </a:r>
            <a:r>
              <a:rPr sz="2200" kern="1200" spc="-5" dirty="0">
                <a:solidFill>
                  <a:srgbClr val="0431FF"/>
                </a:solidFill>
                <a:latin typeface="Consolas"/>
                <a:cs typeface="Consolas"/>
              </a:rPr>
              <a:t>assignment at</a:t>
            </a:r>
            <a:r>
              <a:rPr sz="2200" kern="1200" spc="110" dirty="0">
                <a:solidFill>
                  <a:srgbClr val="0431FF"/>
                </a:solidFill>
                <a:latin typeface="Consolas"/>
                <a:cs typeface="Consolas"/>
              </a:rPr>
              <a:t> </a:t>
            </a:r>
            <a:r>
              <a:rPr sz="2200" kern="1200" spc="-5" dirty="0">
                <a:solidFill>
                  <a:srgbClr val="0431FF"/>
                </a:solidFill>
                <a:latin typeface="Consolas"/>
                <a:cs typeface="Consolas"/>
              </a:rPr>
              <a:t>home.</a:t>
            </a:r>
            <a:endParaRPr sz="2200" kern="1200" dirty="0">
              <a:solidFill>
                <a:prstClr val="black"/>
              </a:solidFill>
              <a:latin typeface="Consolas"/>
              <a:cs typeface="Consolas"/>
            </a:endParaRPr>
          </a:p>
          <a:p>
            <a:pPr rtl="0"/>
            <a:endParaRPr sz="2200" kern="1200" dirty="0">
              <a:solidFill>
                <a:prstClr val="black"/>
              </a:solidFill>
              <a:latin typeface="Consolas"/>
              <a:cs typeface="Consolas"/>
            </a:endParaRPr>
          </a:p>
          <a:p>
            <a:pPr marL="19050" algn="ctr" rtl="0">
              <a:spcBef>
                <a:spcPts val="1585"/>
              </a:spcBef>
            </a:pPr>
            <a:r>
              <a:rPr sz="2200" i="1" kern="1200" spc="-5" dirty="0">
                <a:solidFill>
                  <a:prstClr val="black"/>
                </a:solidFill>
                <a:latin typeface="Palatino Linotype"/>
                <a:cs typeface="Palatino Linotype"/>
              </a:rPr>
              <a:t>What does “his” </a:t>
            </a:r>
            <a:r>
              <a:rPr sz="2200" i="1" kern="1200" spc="-15" dirty="0">
                <a:solidFill>
                  <a:prstClr val="black"/>
                </a:solidFill>
                <a:latin typeface="Palatino Linotype"/>
                <a:cs typeface="Palatino Linotype"/>
              </a:rPr>
              <a:t>refer </a:t>
            </a:r>
            <a:r>
              <a:rPr sz="2200" i="1" kern="1200" spc="-5" dirty="0">
                <a:solidFill>
                  <a:prstClr val="black"/>
                </a:solidFill>
                <a:latin typeface="Palatino Linotype"/>
                <a:cs typeface="Palatino Linotype"/>
              </a:rPr>
              <a:t>to? Jack’s or</a:t>
            </a:r>
            <a:r>
              <a:rPr sz="2200" i="1" kern="1200" dirty="0">
                <a:solidFill>
                  <a:prstClr val="black"/>
                </a:solidFill>
                <a:latin typeface="Palatino Linotype"/>
                <a:cs typeface="Palatino Linotype"/>
              </a:rPr>
              <a:t> </a:t>
            </a:r>
            <a:r>
              <a:rPr sz="2200" i="1" kern="1200" spc="-5" dirty="0">
                <a:solidFill>
                  <a:prstClr val="black"/>
                </a:solidFill>
                <a:latin typeface="Palatino Linotype"/>
                <a:cs typeface="Palatino Linotype"/>
              </a:rPr>
              <a:t>Jerry’s?</a:t>
            </a:r>
            <a:endParaRPr sz="2200" kern="1200" dirty="0">
              <a:solidFill>
                <a:prstClr val="black"/>
              </a:solidFill>
              <a:latin typeface="Palatino Linotype"/>
              <a:cs typeface="Palatino Linotype"/>
            </a:endParaRPr>
          </a:p>
          <a:p>
            <a:pPr rtl="0"/>
            <a:endParaRPr sz="2200" kern="1200" dirty="0">
              <a:solidFill>
                <a:prstClr val="black"/>
              </a:solidFill>
              <a:latin typeface="Palatino Linotype"/>
              <a:cs typeface="Palatino Linotype"/>
            </a:endParaRPr>
          </a:p>
          <a:p>
            <a:pPr rtl="0">
              <a:spcBef>
                <a:spcPts val="65"/>
              </a:spcBef>
            </a:pPr>
            <a:endParaRPr sz="2050" kern="1200" dirty="0">
              <a:solidFill>
                <a:prstClr val="black"/>
              </a:solidFill>
              <a:latin typeface="Palatino Linotype"/>
              <a:cs typeface="Palatino Linotype"/>
            </a:endParaRPr>
          </a:p>
          <a:p>
            <a:pPr marL="1270" algn="ctr" rtl="0"/>
            <a:r>
              <a:rPr sz="2200" kern="1200" spc="-5" dirty="0">
                <a:solidFill>
                  <a:srgbClr val="FF0000"/>
                </a:solidFill>
                <a:latin typeface="Consolas"/>
                <a:cs typeface="Consolas"/>
              </a:rPr>
              <a:t>Jack </a:t>
            </a:r>
            <a:r>
              <a:rPr sz="2200" kern="1200" spc="-5" dirty="0">
                <a:solidFill>
                  <a:srgbClr val="0431FF"/>
                </a:solidFill>
                <a:latin typeface="Consolas"/>
                <a:cs typeface="Consolas"/>
              </a:rPr>
              <a:t>said </a:t>
            </a:r>
            <a:r>
              <a:rPr sz="2200" kern="1200" spc="-5" dirty="0">
                <a:solidFill>
                  <a:srgbClr val="FF0000"/>
                </a:solidFill>
                <a:latin typeface="Consolas"/>
                <a:cs typeface="Consolas"/>
              </a:rPr>
              <a:t>Jack </a:t>
            </a:r>
            <a:r>
              <a:rPr sz="2200" kern="1200" spc="-5" dirty="0">
                <a:solidFill>
                  <a:srgbClr val="0431FF"/>
                </a:solidFill>
                <a:latin typeface="Consolas"/>
                <a:cs typeface="Consolas"/>
              </a:rPr>
              <a:t>left </a:t>
            </a:r>
            <a:r>
              <a:rPr sz="2200" kern="1200" spc="-5" dirty="0">
                <a:solidFill>
                  <a:srgbClr val="FF0000"/>
                </a:solidFill>
                <a:latin typeface="Consolas"/>
                <a:cs typeface="Consolas"/>
              </a:rPr>
              <a:t>his </a:t>
            </a:r>
            <a:r>
              <a:rPr sz="2200" kern="1200" spc="-5" dirty="0">
                <a:solidFill>
                  <a:srgbClr val="0431FF"/>
                </a:solidFill>
                <a:latin typeface="Consolas"/>
                <a:cs typeface="Consolas"/>
              </a:rPr>
              <a:t>assignment at</a:t>
            </a:r>
            <a:r>
              <a:rPr sz="2200" kern="1200" spc="100" dirty="0">
                <a:solidFill>
                  <a:srgbClr val="0431FF"/>
                </a:solidFill>
                <a:latin typeface="Consolas"/>
                <a:cs typeface="Consolas"/>
              </a:rPr>
              <a:t> </a:t>
            </a:r>
            <a:r>
              <a:rPr sz="2200" kern="1200" spc="-5" dirty="0">
                <a:solidFill>
                  <a:srgbClr val="0431FF"/>
                </a:solidFill>
                <a:latin typeface="Consolas"/>
                <a:cs typeface="Consolas"/>
              </a:rPr>
              <a:t>home.</a:t>
            </a:r>
            <a:endParaRPr sz="2200" kern="1200" dirty="0">
              <a:solidFill>
                <a:prstClr val="black"/>
              </a:solidFill>
              <a:latin typeface="Consolas"/>
              <a:cs typeface="Consolas"/>
            </a:endParaRPr>
          </a:p>
          <a:p>
            <a:pPr rtl="0"/>
            <a:endParaRPr sz="3100" kern="1200" dirty="0">
              <a:solidFill>
                <a:prstClr val="black"/>
              </a:solidFill>
              <a:latin typeface="Consolas"/>
              <a:cs typeface="Consolas"/>
            </a:endParaRPr>
          </a:p>
          <a:p>
            <a:pPr marL="8890" algn="ctr" rtl="0">
              <a:spcBef>
                <a:spcPts val="5"/>
              </a:spcBef>
            </a:pPr>
            <a:r>
              <a:rPr sz="2200" i="1" kern="1200" spc="-10" dirty="0">
                <a:solidFill>
                  <a:prstClr val="black"/>
                </a:solidFill>
                <a:latin typeface="Palatino Linotype"/>
                <a:cs typeface="Palatino Linotype"/>
              </a:rPr>
              <a:t>How many </a:t>
            </a:r>
            <a:r>
              <a:rPr sz="2200" i="1" kern="1200" spc="-5" dirty="0">
                <a:solidFill>
                  <a:prstClr val="black"/>
                </a:solidFill>
                <a:latin typeface="Palatino Linotype"/>
                <a:cs typeface="Palatino Linotype"/>
              </a:rPr>
              <a:t>Jacks? Which one left </a:t>
            </a:r>
            <a:r>
              <a:rPr sz="2200" i="1" kern="1200" dirty="0">
                <a:solidFill>
                  <a:prstClr val="black"/>
                </a:solidFill>
                <a:latin typeface="Palatino Linotype"/>
                <a:cs typeface="Palatino Linotype"/>
              </a:rPr>
              <a:t>the</a:t>
            </a:r>
            <a:r>
              <a:rPr sz="2200" i="1" kern="1200" spc="55" dirty="0">
                <a:solidFill>
                  <a:prstClr val="black"/>
                </a:solidFill>
                <a:latin typeface="Palatino Linotype"/>
                <a:cs typeface="Palatino Linotype"/>
              </a:rPr>
              <a:t> </a:t>
            </a:r>
            <a:r>
              <a:rPr sz="2200" i="1" kern="1200" spc="-10" dirty="0">
                <a:solidFill>
                  <a:prstClr val="black"/>
                </a:solidFill>
                <a:latin typeface="Palatino Linotype"/>
                <a:cs typeface="Palatino Linotype"/>
              </a:rPr>
              <a:t>assignment?</a:t>
            </a:r>
            <a:endParaRPr sz="2200" kern="1200" dirty="0">
              <a:solidFill>
                <a:prstClr val="black"/>
              </a:solidFill>
              <a:latin typeface="Palatino Linotype"/>
              <a:cs typeface="Palatino Linotype"/>
            </a:endParaRPr>
          </a:p>
        </p:txBody>
      </p:sp>
      <p:sp>
        <p:nvSpPr>
          <p:cNvPr id="10" name="object 4">
            <a:extLst>
              <a:ext uri="{FF2B5EF4-FFF2-40B4-BE49-F238E27FC236}">
                <a16:creationId xmlns:a16="http://schemas.microsoft.com/office/drawing/2014/main" id="{A82E79AD-A5F5-3990-FC8E-DD54DF14DEFB}"/>
              </a:ext>
            </a:extLst>
          </p:cNvPr>
          <p:cNvSpPr txBox="1"/>
          <p:nvPr/>
        </p:nvSpPr>
        <p:spPr>
          <a:xfrm>
            <a:off x="2823717" y="5831840"/>
            <a:ext cx="3404235" cy="208279"/>
          </a:xfrm>
          <a:prstGeom prst="rect">
            <a:avLst/>
          </a:prstGeom>
        </p:spPr>
        <p:txBody>
          <a:bodyPr vert="horz" wrap="square" lIns="0" tIns="12700" rIns="0" bIns="0" rtlCol="0">
            <a:spAutoFit/>
          </a:bodyPr>
          <a:lstStyle/>
          <a:p>
            <a:pPr marL="12700" rtl="0">
              <a:spcBef>
                <a:spcPts val="100"/>
              </a:spcBef>
            </a:pPr>
            <a:r>
              <a:rPr sz="1200" kern="1200" spc="-5" dirty="0">
                <a:solidFill>
                  <a:srgbClr val="BEBEBE"/>
                </a:solidFill>
                <a:latin typeface="Palatino Linotype"/>
                <a:cs typeface="Palatino Linotype"/>
              </a:rPr>
              <a:t>Examples </a:t>
            </a:r>
            <a:r>
              <a:rPr sz="1200" kern="1200" dirty="0">
                <a:solidFill>
                  <a:srgbClr val="BEBEBE"/>
                </a:solidFill>
                <a:latin typeface="Palatino Linotype"/>
                <a:cs typeface="Palatino Linotype"/>
              </a:rPr>
              <a:t>are from </a:t>
            </a:r>
            <a:r>
              <a:rPr sz="1200" kern="1200" spc="-25" dirty="0">
                <a:solidFill>
                  <a:srgbClr val="BEBEBE"/>
                </a:solidFill>
                <a:latin typeface="Palatino Linotype"/>
                <a:cs typeface="Palatino Linotype"/>
              </a:rPr>
              <a:t>Aiken’s </a:t>
            </a:r>
            <a:r>
              <a:rPr sz="1200" kern="1200" dirty="0">
                <a:solidFill>
                  <a:srgbClr val="BEBEBE"/>
                </a:solidFill>
                <a:latin typeface="Palatino Linotype"/>
                <a:cs typeface="Palatino Linotype"/>
              </a:rPr>
              <a:t>notes </a:t>
            </a:r>
            <a:r>
              <a:rPr sz="1200" kern="1200" spc="-5" dirty="0">
                <a:solidFill>
                  <a:srgbClr val="BEBEBE"/>
                </a:solidFill>
                <a:latin typeface="Palatino Linotype"/>
                <a:cs typeface="Palatino Linotype"/>
              </a:rPr>
              <a:t>(Stanford</a:t>
            </a:r>
            <a:r>
              <a:rPr sz="1200" kern="1200" spc="-35" dirty="0">
                <a:solidFill>
                  <a:srgbClr val="BEBEBE"/>
                </a:solidFill>
                <a:latin typeface="Palatino Linotype"/>
                <a:cs typeface="Palatino Linotype"/>
              </a:rPr>
              <a:t> </a:t>
            </a:r>
            <a:r>
              <a:rPr sz="1200" kern="1200" dirty="0">
                <a:solidFill>
                  <a:srgbClr val="BEBEBE"/>
                </a:solidFill>
                <a:latin typeface="Palatino Linotype"/>
                <a:cs typeface="Palatino Linotype"/>
              </a:rPr>
              <a:t>CS143)</a:t>
            </a:r>
            <a:endParaRPr sz="1200"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E08C49C6-7A35-2275-B761-B5BD6B0DE0EF}"/>
              </a:ext>
            </a:extLst>
          </p:cNvPr>
          <p:cNvSpPr>
            <a:spLocks noGrp="1"/>
          </p:cNvSpPr>
          <p:nvPr>
            <p:ph type="sldNum" sz="quarter" idx="12"/>
          </p:nvPr>
        </p:nvSpPr>
        <p:spPr/>
        <p:txBody>
          <a:bodyPr/>
          <a:lstStyle/>
          <a:p>
            <a:pPr>
              <a:defRPr/>
            </a:pPr>
            <a:fld id="{2FBC720A-3716-234A-B2DF-CBC7E48049F5}" type="slidenum">
              <a:rPr lang="en-US" altLang="zh-CN" smtClean="0"/>
              <a:t>30</a:t>
            </a:fld>
            <a:endParaRPr lang="en-US" altLang="zh-CN"/>
          </a:p>
        </p:txBody>
      </p:sp>
    </p:spTree>
    <p:extLst>
      <p:ext uri="{BB962C8B-B14F-4D97-AF65-F5344CB8AC3E}">
        <p14:creationId xmlns:p14="http://schemas.microsoft.com/office/powerpoint/2010/main" val="3760991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0" name="object 2">
            <a:extLst>
              <a:ext uri="{FF2B5EF4-FFF2-40B4-BE49-F238E27FC236}">
                <a16:creationId xmlns:a16="http://schemas.microsoft.com/office/drawing/2014/main" id="{2331DA70-5366-CB0C-5DDB-48D084421B5E}"/>
              </a:ext>
            </a:extLst>
          </p:cNvPr>
          <p:cNvSpPr txBox="1">
            <a:spLocks/>
          </p:cNvSpPr>
          <p:nvPr/>
        </p:nvSpPr>
        <p:spPr>
          <a:xfrm>
            <a:off x="707542" y="556717"/>
            <a:ext cx="7432040" cy="574675"/>
          </a:xfrm>
          <a:prstGeom prst="rect">
            <a:avLst/>
          </a:prstGeom>
        </p:spPr>
        <p:txBody>
          <a:bodyPr vert="horz" wrap="square" lIns="0" tIns="12700"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5" normalizeH="0" baseline="0" noProof="0">
                <a:ln>
                  <a:noFill/>
                </a:ln>
                <a:solidFill>
                  <a:sysClr val="windowText" lastClr="000000"/>
                </a:solidFill>
                <a:effectLst/>
                <a:uLnTx/>
                <a:uFillTx/>
                <a:latin typeface="Palatino Linotype"/>
                <a:ea typeface="+mj-ea"/>
              </a:rPr>
              <a:t>Semantic </a:t>
            </a:r>
            <a:r>
              <a:rPr kumimoji="0" lang="en-US" sz="3600" b="1" i="0" u="none" strike="noStrike" kern="0" cap="none" spc="0" normalizeH="0" baseline="0" noProof="0">
                <a:ln>
                  <a:noFill/>
                </a:ln>
                <a:solidFill>
                  <a:sysClr val="windowText" lastClr="000000"/>
                </a:solidFill>
                <a:effectLst/>
                <a:uLnTx/>
                <a:uFillTx/>
                <a:latin typeface="Palatino Linotype"/>
                <a:ea typeface="+mj-ea"/>
              </a:rPr>
              <a:t>Analysis </a:t>
            </a:r>
            <a:r>
              <a:rPr kumimoji="0" lang="en-US" sz="3600" b="1" i="0" u="none" strike="noStrike" kern="0" cap="none" spc="-5" normalizeH="0" baseline="0" noProof="0">
                <a:ln>
                  <a:noFill/>
                </a:ln>
                <a:solidFill>
                  <a:sysClr val="windowText" lastClr="000000"/>
                </a:solidFill>
                <a:effectLst/>
                <a:uLnTx/>
                <a:uFillTx/>
                <a:latin typeface="Palatino Linotype"/>
                <a:ea typeface="+mj-ea"/>
              </a:rPr>
              <a:t>in</a:t>
            </a:r>
            <a:r>
              <a:rPr kumimoji="0" lang="en-US" sz="3600" b="1" i="0" u="none" strike="noStrike" kern="0" cap="none" spc="-40"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Programming</a:t>
            </a:r>
            <a:endParaRPr kumimoji="0" lang="en-US" sz="36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54A06BC3-FCA6-AA38-4D50-732B5A199EFB}"/>
              </a:ext>
            </a:extLst>
          </p:cNvPr>
          <p:cNvSpPr txBox="1"/>
          <p:nvPr/>
        </p:nvSpPr>
        <p:spPr>
          <a:xfrm>
            <a:off x="707542" y="1656714"/>
            <a:ext cx="7587615" cy="1446530"/>
          </a:xfrm>
          <a:prstGeom prst="rect">
            <a:avLst/>
          </a:prstGeom>
        </p:spPr>
        <p:txBody>
          <a:bodyPr vert="horz" wrap="square" lIns="0" tIns="13335" rIns="0" bIns="0" rtlCol="0">
            <a:spAutoFit/>
          </a:bodyPr>
          <a:lstStyle/>
          <a:p>
            <a:pPr marL="242570" indent="-230504" rtl="0">
              <a:spcBef>
                <a:spcPts val="105"/>
              </a:spcBef>
              <a:buFont typeface="Arial"/>
              <a:buChar char="•"/>
              <a:tabLst>
                <a:tab pos="242570" algn="l"/>
                <a:tab pos="243204" algn="l"/>
              </a:tabLst>
            </a:pPr>
            <a:r>
              <a:rPr sz="2300" kern="1200" dirty="0">
                <a:solidFill>
                  <a:prstClr val="black"/>
                </a:solidFill>
                <a:latin typeface="Palatino Linotype"/>
                <a:cs typeface="Palatino Linotype"/>
              </a:rPr>
              <a:t>Understanding the meaning of a </a:t>
            </a:r>
            <a:r>
              <a:rPr sz="2300" kern="1200" spc="-5" dirty="0">
                <a:solidFill>
                  <a:prstClr val="black"/>
                </a:solidFill>
                <a:latin typeface="Palatino Linotype"/>
                <a:cs typeface="Palatino Linotype"/>
              </a:rPr>
              <a:t>program </a:t>
            </a:r>
            <a:r>
              <a:rPr sz="2300" kern="1200" dirty="0">
                <a:solidFill>
                  <a:prstClr val="black"/>
                </a:solidFill>
                <a:latin typeface="Palatino Linotype"/>
                <a:cs typeface="Palatino Linotype"/>
              </a:rPr>
              <a:t>is </a:t>
            </a:r>
            <a:r>
              <a:rPr sz="2300" kern="1200" spc="-10" dirty="0">
                <a:solidFill>
                  <a:prstClr val="black"/>
                </a:solidFill>
                <a:latin typeface="Palatino Linotype"/>
                <a:cs typeface="Palatino Linotype"/>
              </a:rPr>
              <a:t>very </a:t>
            </a:r>
            <a:r>
              <a:rPr sz="2300" kern="1200" spc="-5" dirty="0">
                <a:solidFill>
                  <a:prstClr val="black"/>
                </a:solidFill>
                <a:latin typeface="Palatino Linotype"/>
                <a:cs typeface="Palatino Linotype"/>
              </a:rPr>
              <a:t>hard</a:t>
            </a:r>
            <a:r>
              <a:rPr sz="2300" kern="1200" spc="-150" dirty="0">
                <a:solidFill>
                  <a:prstClr val="black"/>
                </a:solidFill>
                <a:latin typeface="Palatino Linotype"/>
                <a:cs typeface="Palatino Linotype"/>
              </a:rPr>
              <a:t> </a:t>
            </a:r>
            <a:r>
              <a:rPr sz="2300" kern="1200" dirty="0">
                <a:solidFill>
                  <a:srgbClr val="FF0000"/>
                </a:solidFill>
                <a:latin typeface="Wingdings"/>
                <a:cs typeface="Wingdings"/>
              </a:rPr>
              <a:t></a:t>
            </a:r>
            <a:endParaRPr sz="2300" kern="1200">
              <a:solidFill>
                <a:prstClr val="black"/>
              </a:solidFill>
              <a:latin typeface="Wingdings"/>
              <a:cs typeface="Wingdings"/>
            </a:endParaRPr>
          </a:p>
          <a:p>
            <a:pPr marL="242570" indent="-230504" rtl="0">
              <a:spcBef>
                <a:spcPts val="2350"/>
              </a:spcBef>
              <a:buFont typeface="Arial"/>
              <a:buChar char="•"/>
              <a:tabLst>
                <a:tab pos="242570" algn="l"/>
                <a:tab pos="243204" algn="l"/>
              </a:tabLst>
            </a:pPr>
            <a:r>
              <a:rPr sz="2300" kern="1200" dirty="0">
                <a:solidFill>
                  <a:prstClr val="black"/>
                </a:solidFill>
                <a:latin typeface="Palatino Linotype"/>
                <a:cs typeface="Palatino Linotype"/>
              </a:rPr>
              <a:t>Compilers </a:t>
            </a:r>
            <a:r>
              <a:rPr sz="2300" kern="1200" spc="-5" dirty="0">
                <a:solidFill>
                  <a:prstClr val="black"/>
                </a:solidFill>
                <a:latin typeface="Palatino Linotype"/>
                <a:cs typeface="Palatino Linotype"/>
              </a:rPr>
              <a:t>perform </a:t>
            </a:r>
            <a:r>
              <a:rPr sz="2300" kern="1200" dirty="0">
                <a:solidFill>
                  <a:prstClr val="black"/>
                </a:solidFill>
                <a:latin typeface="Palatino Linotype"/>
                <a:cs typeface="Palatino Linotype"/>
              </a:rPr>
              <a:t>only </a:t>
            </a:r>
            <a:r>
              <a:rPr sz="2300" kern="1200" spc="-10" dirty="0">
                <a:solidFill>
                  <a:prstClr val="black"/>
                </a:solidFill>
                <a:latin typeface="Palatino Linotype"/>
                <a:cs typeface="Palatino Linotype"/>
              </a:rPr>
              <a:t>very </a:t>
            </a:r>
            <a:r>
              <a:rPr sz="2300" kern="1200" dirty="0">
                <a:solidFill>
                  <a:prstClr val="black"/>
                </a:solidFill>
                <a:latin typeface="Palatino Linotype"/>
                <a:cs typeface="Palatino Linotype"/>
              </a:rPr>
              <a:t>limited analysis </a:t>
            </a:r>
            <a:r>
              <a:rPr sz="2300" kern="1200" spc="-5" dirty="0">
                <a:solidFill>
                  <a:prstClr val="black"/>
                </a:solidFill>
                <a:latin typeface="Palatino Linotype"/>
                <a:cs typeface="Palatino Linotype"/>
              </a:rPr>
              <a:t>to</a:t>
            </a:r>
            <a:r>
              <a:rPr sz="2300" kern="1200" spc="-105" dirty="0">
                <a:solidFill>
                  <a:prstClr val="black"/>
                </a:solidFill>
                <a:latin typeface="Palatino Linotype"/>
                <a:cs typeface="Palatino Linotype"/>
              </a:rPr>
              <a:t> </a:t>
            </a:r>
            <a:r>
              <a:rPr sz="2300" kern="1200" dirty="0">
                <a:solidFill>
                  <a:prstClr val="black"/>
                </a:solidFill>
                <a:latin typeface="Palatino Linotype"/>
                <a:cs typeface="Palatino Linotype"/>
              </a:rPr>
              <a:t>catch</a:t>
            </a:r>
            <a:endParaRPr sz="2300" kern="1200">
              <a:solidFill>
                <a:prstClr val="black"/>
              </a:solidFill>
              <a:latin typeface="Palatino Linotype"/>
              <a:cs typeface="Palatino Linotype"/>
            </a:endParaRPr>
          </a:p>
          <a:p>
            <a:pPr marL="242570" rtl="0">
              <a:spcBef>
                <a:spcPts val="550"/>
              </a:spcBef>
            </a:pPr>
            <a:r>
              <a:rPr sz="2300" kern="1200" dirty="0">
                <a:solidFill>
                  <a:prstClr val="black"/>
                </a:solidFill>
                <a:latin typeface="Palatino Linotype"/>
                <a:cs typeface="Palatino Linotype"/>
              </a:rPr>
              <a:t>semantic</a:t>
            </a:r>
            <a:r>
              <a:rPr sz="2300" kern="1200" spc="-25" dirty="0">
                <a:solidFill>
                  <a:prstClr val="black"/>
                </a:solidFill>
                <a:latin typeface="Palatino Linotype"/>
                <a:cs typeface="Palatino Linotype"/>
              </a:rPr>
              <a:t> </a:t>
            </a:r>
            <a:r>
              <a:rPr sz="2300" kern="1200" spc="-5" dirty="0">
                <a:solidFill>
                  <a:prstClr val="black"/>
                </a:solidFill>
                <a:latin typeface="Palatino Linotype"/>
                <a:cs typeface="Palatino Linotype"/>
              </a:rPr>
              <a:t>inconsistencies.</a:t>
            </a:r>
            <a:endParaRPr sz="2300" kern="1200">
              <a:solidFill>
                <a:prstClr val="black"/>
              </a:solidFill>
              <a:latin typeface="Palatino Linotype"/>
              <a:cs typeface="Palatino Linotype"/>
            </a:endParaRPr>
          </a:p>
        </p:txBody>
      </p:sp>
      <p:sp>
        <p:nvSpPr>
          <p:cNvPr id="12" name="object 4">
            <a:extLst>
              <a:ext uri="{FF2B5EF4-FFF2-40B4-BE49-F238E27FC236}">
                <a16:creationId xmlns:a16="http://schemas.microsoft.com/office/drawing/2014/main" id="{02F9DD31-119B-0817-6307-889FC5FDBC7C}"/>
              </a:ext>
            </a:extLst>
          </p:cNvPr>
          <p:cNvSpPr txBox="1"/>
          <p:nvPr/>
        </p:nvSpPr>
        <p:spPr>
          <a:xfrm>
            <a:off x="843483" y="3373090"/>
            <a:ext cx="2820670" cy="2612895"/>
          </a:xfrm>
          <a:prstGeom prst="rect">
            <a:avLst/>
          </a:prstGeom>
        </p:spPr>
        <p:txBody>
          <a:bodyPr vert="horz" wrap="square" lIns="0" tIns="73025" rIns="0" bIns="0" rtlCol="0">
            <a:spAutoFit/>
          </a:bodyPr>
          <a:lstStyle/>
          <a:p>
            <a:pPr marL="12700" rtl="0">
              <a:spcBef>
                <a:spcPts val="575"/>
              </a:spcBef>
            </a:pPr>
            <a:r>
              <a:rPr sz="2000" kern="1200" dirty="0">
                <a:solidFill>
                  <a:prstClr val="black"/>
                </a:solidFill>
                <a:latin typeface="Consolas"/>
                <a:cs typeface="Consolas"/>
              </a:rPr>
              <a:t>1.</a:t>
            </a:r>
            <a:r>
              <a:rPr sz="2000" kern="1200" spc="-5" dirty="0">
                <a:solidFill>
                  <a:prstClr val="black"/>
                </a:solidFill>
                <a:latin typeface="Consolas"/>
                <a:cs typeface="Consolas"/>
              </a:rPr>
              <a:t> </a:t>
            </a:r>
            <a:r>
              <a:rPr sz="2000" kern="1200" dirty="0">
                <a:solidFill>
                  <a:srgbClr val="9A00CD"/>
                </a:solidFill>
                <a:latin typeface="Consolas"/>
                <a:cs typeface="Consolas"/>
              </a:rPr>
              <a:t>{</a:t>
            </a:r>
            <a:endParaRPr sz="2000" kern="1200" dirty="0">
              <a:solidFill>
                <a:prstClr val="black"/>
              </a:solidFill>
              <a:latin typeface="Consolas"/>
              <a:cs typeface="Consolas"/>
            </a:endParaRPr>
          </a:p>
          <a:p>
            <a:pPr marL="12700" rtl="0">
              <a:spcBef>
                <a:spcPts val="480"/>
              </a:spcBef>
              <a:tabLst>
                <a:tab pos="711835" algn="l"/>
              </a:tabLst>
            </a:pPr>
            <a:r>
              <a:rPr sz="2000" kern="1200" dirty="0">
                <a:solidFill>
                  <a:prstClr val="black"/>
                </a:solidFill>
                <a:latin typeface="Consolas"/>
                <a:cs typeface="Consolas"/>
              </a:rPr>
              <a:t>2.	</a:t>
            </a:r>
            <a:r>
              <a:rPr sz="2000" kern="1200" spc="-5" dirty="0">
                <a:solidFill>
                  <a:srgbClr val="9A00CD"/>
                </a:solidFill>
                <a:latin typeface="Consolas"/>
                <a:cs typeface="Consolas"/>
              </a:rPr>
              <a:t>int Jack </a:t>
            </a:r>
            <a:r>
              <a:rPr sz="2000" kern="1200" dirty="0">
                <a:solidFill>
                  <a:srgbClr val="9A00CD"/>
                </a:solidFill>
                <a:latin typeface="Consolas"/>
                <a:cs typeface="Consolas"/>
              </a:rPr>
              <a:t>=</a:t>
            </a:r>
            <a:r>
              <a:rPr sz="2000" kern="1200" spc="-45" dirty="0">
                <a:solidFill>
                  <a:srgbClr val="9A00CD"/>
                </a:solidFill>
                <a:latin typeface="Consolas"/>
                <a:cs typeface="Consolas"/>
              </a:rPr>
              <a:t> </a:t>
            </a:r>
            <a:r>
              <a:rPr sz="2000" kern="1200" dirty="0">
                <a:solidFill>
                  <a:srgbClr val="9A00CD"/>
                </a:solidFill>
                <a:latin typeface="Consolas"/>
                <a:cs typeface="Consolas"/>
              </a:rPr>
              <a:t>3;</a:t>
            </a:r>
            <a:endParaRPr sz="2000" kern="1200" dirty="0">
              <a:solidFill>
                <a:prstClr val="black"/>
              </a:solidFill>
              <a:latin typeface="Consolas"/>
              <a:cs typeface="Consolas"/>
            </a:endParaRPr>
          </a:p>
          <a:p>
            <a:pPr marL="12700" rtl="0">
              <a:spcBef>
                <a:spcPts val="480"/>
              </a:spcBef>
              <a:tabLst>
                <a:tab pos="711835" algn="l"/>
              </a:tabLst>
            </a:pPr>
            <a:r>
              <a:rPr sz="2000" kern="1200" dirty="0">
                <a:solidFill>
                  <a:prstClr val="black"/>
                </a:solidFill>
                <a:latin typeface="Consolas"/>
                <a:cs typeface="Consolas"/>
              </a:rPr>
              <a:t>3.	</a:t>
            </a:r>
            <a:r>
              <a:rPr sz="2000" kern="1200" dirty="0">
                <a:solidFill>
                  <a:srgbClr val="9A00CD"/>
                </a:solidFill>
                <a:latin typeface="Consolas"/>
                <a:cs typeface="Consolas"/>
              </a:rPr>
              <a:t>{</a:t>
            </a:r>
            <a:endParaRPr sz="2000" kern="1200" dirty="0">
              <a:solidFill>
                <a:prstClr val="black"/>
              </a:solidFill>
              <a:latin typeface="Consolas"/>
              <a:cs typeface="Consolas"/>
            </a:endParaRPr>
          </a:p>
          <a:p>
            <a:pPr marL="990600" indent="-978535" rtl="0">
              <a:spcBef>
                <a:spcPts val="480"/>
              </a:spcBef>
              <a:buClr>
                <a:srgbClr val="000000"/>
              </a:buClr>
              <a:buFontTx/>
              <a:buAutoNum type="arabicPeriod" startAt="4"/>
              <a:tabLst>
                <a:tab pos="990600" algn="l"/>
                <a:tab pos="991235" algn="l"/>
              </a:tabLst>
            </a:pPr>
            <a:r>
              <a:rPr sz="2000" kern="1200" dirty="0">
                <a:solidFill>
                  <a:srgbClr val="9A00CD"/>
                </a:solidFill>
                <a:latin typeface="Consolas"/>
                <a:cs typeface="Consolas"/>
              </a:rPr>
              <a:t>int Jack =</a:t>
            </a:r>
            <a:r>
              <a:rPr sz="2000" kern="1200" spc="-105" dirty="0">
                <a:solidFill>
                  <a:srgbClr val="9A00CD"/>
                </a:solidFill>
                <a:latin typeface="Consolas"/>
                <a:cs typeface="Consolas"/>
              </a:rPr>
              <a:t> </a:t>
            </a:r>
            <a:r>
              <a:rPr sz="2000" kern="1200" dirty="0">
                <a:solidFill>
                  <a:srgbClr val="9A00CD"/>
                </a:solidFill>
                <a:latin typeface="Consolas"/>
                <a:cs typeface="Consolas"/>
              </a:rPr>
              <a:t>4;</a:t>
            </a:r>
            <a:endParaRPr sz="2000" kern="1200" dirty="0">
              <a:solidFill>
                <a:prstClr val="black"/>
              </a:solidFill>
              <a:latin typeface="Consolas"/>
              <a:cs typeface="Consolas"/>
            </a:endParaRPr>
          </a:p>
          <a:p>
            <a:pPr marL="12700" marR="283210" rtl="0">
              <a:lnSpc>
                <a:spcPts val="2880"/>
              </a:lnSpc>
              <a:spcBef>
                <a:spcPts val="180"/>
              </a:spcBef>
              <a:buClr>
                <a:srgbClr val="000000"/>
              </a:buClr>
              <a:buFontTx/>
              <a:buAutoNum type="arabicPeriod" startAt="4"/>
              <a:tabLst>
                <a:tab pos="711835" algn="l"/>
                <a:tab pos="990600" algn="l"/>
                <a:tab pos="991235" algn="l"/>
              </a:tabLst>
            </a:pPr>
            <a:r>
              <a:rPr lang="en-US" sz="2000" kern="1200" spc="-5" dirty="0">
                <a:solidFill>
                  <a:srgbClr val="9A00CD"/>
                </a:solidFill>
                <a:latin typeface="Consolas"/>
                <a:cs typeface="Consolas"/>
              </a:rPr>
              <a:t>     </a:t>
            </a:r>
            <a:r>
              <a:rPr sz="2000" kern="1200" spc="-5" dirty="0">
                <a:solidFill>
                  <a:srgbClr val="9A00CD"/>
                </a:solidFill>
                <a:latin typeface="Consolas"/>
                <a:cs typeface="Consolas"/>
              </a:rPr>
              <a:t>print</a:t>
            </a:r>
            <a:r>
              <a:rPr sz="2000" kern="1200" spc="-80" dirty="0">
                <a:solidFill>
                  <a:srgbClr val="9A00CD"/>
                </a:solidFill>
                <a:latin typeface="Consolas"/>
                <a:cs typeface="Consolas"/>
              </a:rPr>
              <a:t> </a:t>
            </a:r>
            <a:r>
              <a:rPr sz="2000" kern="1200" dirty="0">
                <a:solidFill>
                  <a:srgbClr val="FF0000"/>
                </a:solidFill>
                <a:latin typeface="Consolas"/>
                <a:cs typeface="Consolas"/>
              </a:rPr>
              <a:t>Jack</a:t>
            </a:r>
            <a:r>
              <a:rPr sz="2000" kern="1200" dirty="0">
                <a:solidFill>
                  <a:srgbClr val="9A00CD"/>
                </a:solidFill>
                <a:latin typeface="Consolas"/>
                <a:cs typeface="Consolas"/>
              </a:rPr>
              <a:t>; </a:t>
            </a:r>
            <a:r>
              <a:rPr sz="2000" kern="1200" dirty="0">
                <a:solidFill>
                  <a:prstClr val="black"/>
                </a:solidFill>
                <a:latin typeface="Consolas"/>
                <a:cs typeface="Consolas"/>
              </a:rPr>
              <a:t> 6.	</a:t>
            </a:r>
            <a:r>
              <a:rPr sz="2000" kern="1200" dirty="0">
                <a:solidFill>
                  <a:srgbClr val="9A00CD"/>
                </a:solidFill>
                <a:latin typeface="Consolas"/>
                <a:cs typeface="Consolas"/>
              </a:rPr>
              <a:t>}</a:t>
            </a:r>
            <a:endParaRPr sz="2000" kern="1200" dirty="0">
              <a:solidFill>
                <a:prstClr val="black"/>
              </a:solidFill>
              <a:latin typeface="Consolas"/>
              <a:cs typeface="Consolas"/>
            </a:endParaRPr>
          </a:p>
          <a:p>
            <a:pPr marL="12700" rtl="0">
              <a:spcBef>
                <a:spcPts val="305"/>
              </a:spcBef>
            </a:pPr>
            <a:r>
              <a:rPr sz="2000" kern="1200" dirty="0">
                <a:solidFill>
                  <a:prstClr val="black"/>
                </a:solidFill>
                <a:latin typeface="Consolas"/>
                <a:cs typeface="Consolas"/>
              </a:rPr>
              <a:t>7.</a:t>
            </a:r>
            <a:r>
              <a:rPr sz="2000" kern="1200" spc="-5" dirty="0">
                <a:solidFill>
                  <a:prstClr val="black"/>
                </a:solidFill>
                <a:latin typeface="Consolas"/>
                <a:cs typeface="Consolas"/>
              </a:rPr>
              <a:t> </a:t>
            </a:r>
            <a:r>
              <a:rPr sz="2000" kern="1200" dirty="0">
                <a:solidFill>
                  <a:srgbClr val="9A00CD"/>
                </a:solidFill>
                <a:latin typeface="Consolas"/>
                <a:cs typeface="Consolas"/>
              </a:rPr>
              <a:t>}</a:t>
            </a:r>
            <a:endParaRPr sz="2000" kern="1200" dirty="0">
              <a:solidFill>
                <a:prstClr val="black"/>
              </a:solidFill>
              <a:latin typeface="Consolas"/>
              <a:cs typeface="Consolas"/>
            </a:endParaRPr>
          </a:p>
        </p:txBody>
      </p:sp>
      <p:sp>
        <p:nvSpPr>
          <p:cNvPr id="13" name="object 5">
            <a:extLst>
              <a:ext uri="{FF2B5EF4-FFF2-40B4-BE49-F238E27FC236}">
                <a16:creationId xmlns:a16="http://schemas.microsoft.com/office/drawing/2014/main" id="{0BE84BAA-9B63-FF9D-836C-54F9C970EE48}"/>
              </a:ext>
            </a:extLst>
          </p:cNvPr>
          <p:cNvSpPr txBox="1"/>
          <p:nvPr/>
        </p:nvSpPr>
        <p:spPr>
          <a:xfrm>
            <a:off x="4252721" y="4120108"/>
            <a:ext cx="3932554" cy="1854835"/>
          </a:xfrm>
          <a:prstGeom prst="rect">
            <a:avLst/>
          </a:prstGeom>
        </p:spPr>
        <p:txBody>
          <a:bodyPr vert="horz" wrap="square" lIns="0" tIns="12700" rIns="0" bIns="0" rtlCol="0">
            <a:spAutoFit/>
          </a:bodyPr>
          <a:lstStyle/>
          <a:p>
            <a:pPr marL="12700" marR="5080" rtl="0">
              <a:lnSpc>
                <a:spcPct val="150000"/>
              </a:lnSpc>
              <a:spcBef>
                <a:spcPts val="100"/>
              </a:spcBef>
            </a:pPr>
            <a:r>
              <a:rPr sz="2000" b="1" kern="1200" spc="-5" dirty="0">
                <a:solidFill>
                  <a:srgbClr val="0431FF"/>
                </a:solidFill>
                <a:latin typeface="Palatino Linotype"/>
                <a:cs typeface="Palatino Linotype"/>
              </a:rPr>
              <a:t>Programming </a:t>
            </a:r>
            <a:r>
              <a:rPr sz="2000" b="1" kern="1200" dirty="0">
                <a:solidFill>
                  <a:srgbClr val="0431FF"/>
                </a:solidFill>
                <a:latin typeface="Palatino Linotype"/>
                <a:cs typeface="Palatino Linotype"/>
              </a:rPr>
              <a:t>languages define  strict </a:t>
            </a:r>
            <a:r>
              <a:rPr sz="2000" b="1" kern="1200" spc="-5" dirty="0">
                <a:solidFill>
                  <a:srgbClr val="0431FF"/>
                </a:solidFill>
                <a:latin typeface="Palatino Linotype"/>
                <a:cs typeface="Palatino Linotype"/>
              </a:rPr>
              <a:t>rules </a:t>
            </a:r>
            <a:r>
              <a:rPr sz="2000" b="1" kern="1200" dirty="0">
                <a:solidFill>
                  <a:srgbClr val="0431FF"/>
                </a:solidFill>
                <a:latin typeface="Palatino Linotype"/>
                <a:cs typeface="Palatino Linotype"/>
              </a:rPr>
              <a:t>to avoid ambiguities.  </a:t>
            </a:r>
            <a:r>
              <a:rPr sz="2000" kern="1200" dirty="0">
                <a:solidFill>
                  <a:prstClr val="black"/>
                </a:solidFill>
                <a:latin typeface="Palatino Linotype"/>
                <a:cs typeface="Palatino Linotype"/>
              </a:rPr>
              <a:t>Compiler will </a:t>
            </a:r>
            <a:r>
              <a:rPr sz="2000" kern="1200" spc="-5" dirty="0">
                <a:solidFill>
                  <a:prstClr val="black"/>
                </a:solidFill>
                <a:latin typeface="Palatino Linotype"/>
                <a:cs typeface="Palatino Linotype"/>
              </a:rPr>
              <a:t>bind </a:t>
            </a:r>
            <a:r>
              <a:rPr sz="2000" kern="1200" dirty="0">
                <a:solidFill>
                  <a:prstClr val="black"/>
                </a:solidFill>
                <a:latin typeface="Palatino Linotype"/>
                <a:cs typeface="Palatino Linotype"/>
              </a:rPr>
              <a:t>Jack at line 5</a:t>
            </a:r>
            <a:r>
              <a:rPr sz="2000" kern="1200" spc="-75" dirty="0">
                <a:solidFill>
                  <a:prstClr val="black"/>
                </a:solidFill>
                <a:latin typeface="Palatino Linotype"/>
                <a:cs typeface="Palatino Linotype"/>
              </a:rPr>
              <a:t> </a:t>
            </a:r>
            <a:r>
              <a:rPr sz="2000" kern="1200" spc="-5" dirty="0">
                <a:solidFill>
                  <a:prstClr val="black"/>
                </a:solidFill>
                <a:latin typeface="Palatino Linotype"/>
                <a:cs typeface="Palatino Linotype"/>
              </a:rPr>
              <a:t>to  its inner definition </a:t>
            </a:r>
            <a:r>
              <a:rPr sz="2000" kern="1200" dirty="0">
                <a:solidFill>
                  <a:prstClr val="black"/>
                </a:solidFill>
                <a:latin typeface="Palatino Linotype"/>
                <a:cs typeface="Palatino Linotype"/>
              </a:rPr>
              <a:t>at line</a:t>
            </a:r>
            <a:r>
              <a:rPr sz="2000" kern="1200" spc="-40" dirty="0">
                <a:solidFill>
                  <a:prstClr val="black"/>
                </a:solidFill>
                <a:latin typeface="Palatino Linotype"/>
                <a:cs typeface="Palatino Linotype"/>
              </a:rPr>
              <a:t> </a:t>
            </a:r>
            <a:r>
              <a:rPr sz="2000" kern="1200" dirty="0">
                <a:solidFill>
                  <a:prstClr val="black"/>
                </a:solidFill>
                <a:latin typeface="Palatino Linotype"/>
                <a:cs typeface="Palatino Linotype"/>
              </a:rPr>
              <a:t>4.</a:t>
            </a:r>
          </a:p>
        </p:txBody>
      </p:sp>
      <p:sp>
        <p:nvSpPr>
          <p:cNvPr id="14" name="object 6">
            <a:extLst>
              <a:ext uri="{FF2B5EF4-FFF2-40B4-BE49-F238E27FC236}">
                <a16:creationId xmlns:a16="http://schemas.microsoft.com/office/drawing/2014/main" id="{3642E41C-2FCB-61E0-8935-2497E610293B}"/>
              </a:ext>
            </a:extLst>
          </p:cNvPr>
          <p:cNvSpPr txBox="1"/>
          <p:nvPr/>
        </p:nvSpPr>
        <p:spPr>
          <a:xfrm>
            <a:off x="4252721" y="3508628"/>
            <a:ext cx="3277235" cy="360680"/>
          </a:xfrm>
          <a:prstGeom prst="rect">
            <a:avLst/>
          </a:prstGeom>
        </p:spPr>
        <p:txBody>
          <a:bodyPr vert="horz" wrap="square" lIns="0" tIns="12065" rIns="0" bIns="0" rtlCol="0">
            <a:spAutoFit/>
          </a:bodyPr>
          <a:lstStyle/>
          <a:p>
            <a:pPr marL="12700" rtl="0">
              <a:spcBef>
                <a:spcPts val="95"/>
              </a:spcBef>
            </a:pPr>
            <a:r>
              <a:rPr sz="2200" i="1" kern="1200" spc="-5" dirty="0">
                <a:solidFill>
                  <a:srgbClr val="FF0000"/>
                </a:solidFill>
                <a:latin typeface="Palatino Linotype"/>
                <a:cs typeface="Palatino Linotype"/>
              </a:rPr>
              <a:t>Which value </a:t>
            </a:r>
            <a:r>
              <a:rPr sz="2200" i="1" kern="1200" spc="-10" dirty="0">
                <a:solidFill>
                  <a:srgbClr val="FF0000"/>
                </a:solidFill>
                <a:latin typeface="Palatino Linotype"/>
                <a:cs typeface="Palatino Linotype"/>
              </a:rPr>
              <a:t>will </a:t>
            </a:r>
            <a:r>
              <a:rPr sz="2200" i="1" kern="1200" spc="-5" dirty="0">
                <a:solidFill>
                  <a:srgbClr val="FF0000"/>
                </a:solidFill>
                <a:latin typeface="Palatino Linotype"/>
                <a:cs typeface="Palatino Linotype"/>
              </a:rPr>
              <a:t>be printed?</a:t>
            </a:r>
            <a:endParaRPr sz="2200"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EDA899C2-84D2-580F-C424-3CEC2B057B99}"/>
              </a:ext>
            </a:extLst>
          </p:cNvPr>
          <p:cNvSpPr>
            <a:spLocks noGrp="1"/>
          </p:cNvSpPr>
          <p:nvPr>
            <p:ph type="sldNum" sz="quarter" idx="12"/>
          </p:nvPr>
        </p:nvSpPr>
        <p:spPr/>
        <p:txBody>
          <a:bodyPr/>
          <a:lstStyle/>
          <a:p>
            <a:pPr>
              <a:defRPr/>
            </a:pPr>
            <a:fld id="{2FBC720A-3716-234A-B2DF-CBC7E48049F5}" type="slidenum">
              <a:rPr lang="en-US" altLang="zh-CN" smtClean="0"/>
              <a:t>31</a:t>
            </a:fld>
            <a:endParaRPr lang="en-US" altLang="zh-CN"/>
          </a:p>
        </p:txBody>
      </p:sp>
    </p:spTree>
    <p:extLst>
      <p:ext uri="{BB962C8B-B14F-4D97-AF65-F5344CB8AC3E}">
        <p14:creationId xmlns:p14="http://schemas.microsoft.com/office/powerpoint/2010/main" val="1337093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D7583EA5-9512-AA13-3AC5-6645F0E3E7C1}"/>
              </a:ext>
            </a:extLst>
          </p:cNvPr>
          <p:cNvSpPr txBox="1">
            <a:spLocks/>
          </p:cNvSpPr>
          <p:nvPr/>
        </p:nvSpPr>
        <p:spPr>
          <a:xfrm>
            <a:off x="707542" y="530809"/>
            <a:ext cx="602043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0" normalizeH="0" baseline="0" noProof="0" dirty="0">
                <a:ln>
                  <a:noFill/>
                </a:ln>
                <a:solidFill>
                  <a:sysClr val="windowText" lastClr="000000"/>
                </a:solidFill>
                <a:effectLst/>
                <a:uLnTx/>
                <a:uFillTx/>
                <a:latin typeface="Palatino Linotype"/>
                <a:ea typeface="+mj-ea"/>
              </a:rPr>
              <a:t>Type</a:t>
            </a:r>
            <a:r>
              <a:rPr kumimoji="0" lang="en-US" sz="4000" b="1" i="0" u="none" strike="noStrike" kern="0" cap="none" spc="-2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Checking</a:t>
            </a:r>
            <a:r>
              <a:rPr kumimoji="0" lang="en-US" sz="4000" b="1" i="0" u="none" strike="noStrike" kern="0" cap="none" spc="-3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a:t>
            </a:r>
            <a:r>
              <a:rPr kumimoji="0" lang="zh-CN" altLang="en-US" sz="4000" b="1" i="0" u="none" strike="noStrike" kern="0" cap="none" spc="-15" normalizeH="0" baseline="0" noProof="0" dirty="0">
                <a:ln>
                  <a:noFill/>
                </a:ln>
                <a:solidFill>
                  <a:sysClr val="windowText" lastClr="000000"/>
                </a:solidFill>
                <a:effectLst/>
                <a:uLnTx/>
                <a:uFillTx/>
                <a:latin typeface="宋体"/>
                <a:ea typeface="宋体" panose="02010600030101010101" pitchFamily="2" charset="-122"/>
                <a:cs typeface="宋体"/>
              </a:rPr>
              <a:t>类型检</a:t>
            </a:r>
            <a:r>
              <a:rPr kumimoji="0" lang="zh-CN" altLang="en-US" sz="4000" b="1" i="0" u="none" strike="noStrike" kern="0" cap="none" spc="-10" normalizeH="0" baseline="0" noProof="0" dirty="0">
                <a:ln>
                  <a:noFill/>
                </a:ln>
                <a:solidFill>
                  <a:sysClr val="windowText" lastClr="000000"/>
                </a:solidFill>
                <a:effectLst/>
                <a:uLnTx/>
                <a:uFillTx/>
                <a:latin typeface="宋体"/>
                <a:ea typeface="宋体" panose="02010600030101010101" pitchFamily="2" charset="-122"/>
                <a:cs typeface="宋体"/>
              </a:rPr>
              <a:t>查</a:t>
            </a:r>
            <a:r>
              <a:rPr kumimoji="0" lang="en-US" altLang="zh-CN" sz="4000" b="1" i="0" u="none" strike="noStrike" kern="0" cap="none" spc="-5" normalizeH="0" baseline="0" noProof="0" dirty="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dirty="0">
              <a:ln>
                <a:noFill/>
              </a:ln>
              <a:solidFill>
                <a:sysClr val="windowText" lastClr="000000"/>
              </a:solidFill>
              <a:effectLst/>
              <a:uLnTx/>
              <a:uFillTx/>
              <a:latin typeface="宋体"/>
              <a:ea typeface="宋体" panose="02010600030101010101" pitchFamily="2" charset="-122"/>
              <a:cs typeface="宋体"/>
            </a:endParaRPr>
          </a:p>
        </p:txBody>
      </p:sp>
      <p:sp>
        <p:nvSpPr>
          <p:cNvPr id="8" name="object 3">
            <a:extLst>
              <a:ext uri="{FF2B5EF4-FFF2-40B4-BE49-F238E27FC236}">
                <a16:creationId xmlns:a16="http://schemas.microsoft.com/office/drawing/2014/main" id="{B492F01B-FB54-CE0B-7032-3EFB8C7C9D23}"/>
              </a:ext>
            </a:extLst>
          </p:cNvPr>
          <p:cNvSpPr txBox="1">
            <a:spLocks/>
          </p:cNvSpPr>
          <p:nvPr/>
        </p:nvSpPr>
        <p:spPr>
          <a:xfrm>
            <a:off x="672312" y="1770634"/>
            <a:ext cx="7799374" cy="3533140"/>
          </a:xfrm>
          <a:prstGeom prst="rect">
            <a:avLst/>
          </a:prstGeom>
        </p:spPr>
        <p:txBody>
          <a:bodyPr vert="horz" wrap="square" lIns="0" tIns="12700" rIns="0" bIns="0" rtlCol="0">
            <a:spAutoFit/>
          </a:bodyPr>
          <a:lstStyle>
            <a:lvl1pPr marL="0">
              <a:defRPr sz="2400" b="0" i="0">
                <a:solidFill>
                  <a:schemeClr val="tx1"/>
                </a:solidFill>
                <a:latin typeface="Palatino Linotype"/>
                <a:ea typeface="+mn-ea"/>
                <a:cs typeface="Palatino Linotype"/>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77495" marR="0" lvl="0" indent="-230504" defTabSz="914400" eaLnBrk="1" fontAlgn="auto" latinLnBrk="0" hangingPunct="1">
              <a:lnSpc>
                <a:spcPct val="100000"/>
              </a:lnSpc>
              <a:spcBef>
                <a:spcPts val="100"/>
              </a:spcBef>
              <a:spcAft>
                <a:spcPts val="0"/>
              </a:spcAft>
              <a:buClrTx/>
              <a:buSzTx/>
              <a:buFont typeface="Arial"/>
              <a:buChar char="•"/>
              <a:tabLst>
                <a:tab pos="278130" algn="l"/>
              </a:tabLst>
              <a:defRPr/>
            </a:pPr>
            <a:r>
              <a:rPr kumimoji="0" lang="en-US" sz="2400" b="0" i="0" u="none" strike="noStrike" kern="0" cap="none" spc="0" normalizeH="0" baseline="0" noProof="0">
                <a:ln>
                  <a:noFill/>
                </a:ln>
                <a:solidFill>
                  <a:sysClr val="windowText" lastClr="000000"/>
                </a:solidFill>
                <a:effectLst/>
                <a:uLnTx/>
                <a:uFillTx/>
                <a:latin typeface="Palatino Linotype"/>
                <a:ea typeface="+mn-ea"/>
              </a:rPr>
              <a:t>An </a:t>
            </a:r>
            <a:r>
              <a:rPr kumimoji="0" lang="en-US" sz="2400" b="0" i="0" u="none" strike="noStrike" kern="0" cap="none" spc="-5" normalizeH="0" baseline="0" noProof="0">
                <a:ln>
                  <a:noFill/>
                </a:ln>
                <a:solidFill>
                  <a:sysClr val="windowText" lastClr="000000"/>
                </a:solidFill>
                <a:effectLst/>
                <a:uLnTx/>
                <a:uFillTx/>
                <a:latin typeface="Palatino Linotype"/>
                <a:ea typeface="+mn-ea"/>
              </a:rPr>
              <a:t>important part </a:t>
            </a:r>
            <a:r>
              <a:rPr kumimoji="0" lang="en-US" sz="2400" b="0" i="0" u="none" strike="noStrike" kern="0" cap="none" spc="0" normalizeH="0" baseline="0" noProof="0">
                <a:ln>
                  <a:noFill/>
                </a:ln>
                <a:solidFill>
                  <a:sysClr val="windowText" lastClr="000000"/>
                </a:solidFill>
                <a:effectLst/>
                <a:uLnTx/>
                <a:uFillTx/>
                <a:latin typeface="Palatino Linotype"/>
                <a:ea typeface="+mn-ea"/>
              </a:rPr>
              <a:t>of semantic </a:t>
            </a:r>
            <a:r>
              <a:rPr kumimoji="0" lang="en-US" sz="2400" b="0" i="0" u="none" strike="noStrike" kern="0" cap="none" spc="-5" normalizeH="0" baseline="0" noProof="0">
                <a:ln>
                  <a:noFill/>
                </a:ln>
                <a:solidFill>
                  <a:sysClr val="windowText" lastClr="000000"/>
                </a:solidFill>
                <a:effectLst/>
                <a:uLnTx/>
                <a:uFillTx/>
                <a:latin typeface="Palatino Linotype"/>
                <a:ea typeface="+mn-ea"/>
              </a:rPr>
              <a:t>analysis is type</a:t>
            </a:r>
            <a:r>
              <a:rPr kumimoji="0" lang="en-US" sz="2400" b="0" i="0" u="none" strike="noStrike" kern="0" cap="none" spc="50" normalizeH="0" baseline="0" noProof="0">
                <a:ln>
                  <a:noFill/>
                </a:ln>
                <a:solidFill>
                  <a:sysClr val="windowText" lastClr="000000"/>
                </a:solidFill>
                <a:effectLst/>
                <a:uLnTx/>
                <a:uFillTx/>
                <a:latin typeface="Palatino Linotype"/>
                <a:ea typeface="+mn-ea"/>
              </a:rPr>
              <a:t> </a:t>
            </a:r>
            <a:r>
              <a:rPr kumimoji="0" lang="en-US" sz="2400" b="0" i="0" u="none" strike="noStrike" kern="0" cap="none" spc="-5" normalizeH="0" baseline="0" noProof="0">
                <a:ln>
                  <a:noFill/>
                </a:ln>
                <a:solidFill>
                  <a:sysClr val="windowText" lastClr="000000"/>
                </a:solidFill>
                <a:effectLst/>
                <a:uLnTx/>
                <a:uFillTx/>
                <a:latin typeface="Palatino Linotype"/>
                <a:ea typeface="+mn-ea"/>
              </a:rPr>
              <a:t>checking</a:t>
            </a:r>
          </a:p>
          <a:p>
            <a:pPr marL="277495" marR="859790" lvl="0" indent="-230504" defTabSz="914400" eaLnBrk="1" fontAlgn="auto" latinLnBrk="0" hangingPunct="1">
              <a:lnSpc>
                <a:spcPct val="120100"/>
              </a:lnSpc>
              <a:spcBef>
                <a:spcPts val="1795"/>
              </a:spcBef>
              <a:spcAft>
                <a:spcPts val="0"/>
              </a:spcAft>
              <a:buClrTx/>
              <a:buSzTx/>
              <a:buFont typeface="Arial"/>
              <a:buChar char="•"/>
              <a:tabLst>
                <a:tab pos="278130" algn="l"/>
              </a:tabLst>
              <a:defRPr/>
            </a:pPr>
            <a:r>
              <a:rPr kumimoji="0" lang="en-US" sz="2400" b="0" i="0" u="none" strike="noStrike" kern="0" cap="none" spc="0" normalizeH="0" baseline="0" noProof="0">
                <a:ln>
                  <a:noFill/>
                </a:ln>
                <a:solidFill>
                  <a:sysClr val="windowText" lastClr="000000"/>
                </a:solidFill>
                <a:effectLst/>
                <a:uLnTx/>
                <a:uFillTx/>
                <a:latin typeface="Palatino Linotype"/>
                <a:ea typeface="+mn-ea"/>
              </a:rPr>
              <a:t>Compilers check </a:t>
            </a:r>
            <a:r>
              <a:rPr kumimoji="0" lang="en-US" sz="2400" b="0" i="0" u="none" strike="noStrike" kern="0" cap="none" spc="-5" normalizeH="0" baseline="0" noProof="0">
                <a:ln>
                  <a:noFill/>
                </a:ln>
                <a:solidFill>
                  <a:sysClr val="windowText" lastClr="000000"/>
                </a:solidFill>
                <a:effectLst/>
                <a:uLnTx/>
                <a:uFillTx/>
                <a:latin typeface="Palatino Linotype"/>
                <a:ea typeface="+mn-ea"/>
              </a:rPr>
              <a:t>that </a:t>
            </a:r>
            <a:r>
              <a:rPr kumimoji="0" lang="en-US" sz="2400" b="0" i="0" u="none" strike="noStrike" kern="0" cap="none" spc="0" normalizeH="0" baseline="0" noProof="0">
                <a:ln>
                  <a:noFill/>
                </a:ln>
                <a:solidFill>
                  <a:sysClr val="windowText" lastClr="000000"/>
                </a:solidFill>
                <a:effectLst/>
                <a:uLnTx/>
                <a:uFillTx/>
                <a:latin typeface="Palatino Linotype"/>
                <a:ea typeface="+mn-ea"/>
              </a:rPr>
              <a:t>each </a:t>
            </a:r>
            <a:r>
              <a:rPr kumimoji="0" lang="en-US" sz="2400" b="0" i="0" u="none" strike="noStrike" kern="0" cap="none" spc="-5" normalizeH="0" baseline="0" noProof="0">
                <a:ln>
                  <a:noFill/>
                </a:ln>
                <a:solidFill>
                  <a:sysClr val="windowText" lastClr="000000"/>
                </a:solidFill>
                <a:effectLst/>
                <a:uLnTx/>
                <a:uFillTx/>
                <a:latin typeface="Palatino Linotype"/>
                <a:ea typeface="+mn-ea"/>
              </a:rPr>
              <a:t>operator has matching  operands </a:t>
            </a:r>
            <a:r>
              <a:rPr kumimoji="0" lang="en-US" sz="2400" b="0" i="0" u="none" strike="noStrike" kern="0" cap="none" spc="0" normalizeH="0" baseline="0" noProof="0">
                <a:ln>
                  <a:noFill/>
                </a:ln>
                <a:solidFill>
                  <a:sysClr val="windowText" lastClr="000000"/>
                </a:solidFill>
                <a:effectLst/>
                <a:uLnTx/>
                <a:uFillTx/>
                <a:latin typeface="Palatino Linotype"/>
                <a:ea typeface="+mn-ea"/>
              </a:rPr>
              <a:t>(of correct </a:t>
            </a:r>
            <a:r>
              <a:rPr kumimoji="0" lang="en-US" sz="2400" b="0" i="0" u="none" strike="noStrike" kern="0" cap="none" spc="-5" normalizeH="0" baseline="0" noProof="0">
                <a:ln>
                  <a:noFill/>
                </a:ln>
                <a:solidFill>
                  <a:sysClr val="windowText" lastClr="000000"/>
                </a:solidFill>
                <a:effectLst/>
                <a:uLnTx/>
                <a:uFillTx/>
                <a:latin typeface="Palatino Linotype"/>
                <a:ea typeface="+mn-ea"/>
              </a:rPr>
              <a:t>types)</a:t>
            </a:r>
          </a:p>
          <a:p>
            <a:pPr marL="34925" marR="0" lvl="0" indent="0" defTabSz="914400" eaLnBrk="1" fontAlgn="auto" latinLnBrk="0" hangingPunct="1">
              <a:lnSpc>
                <a:spcPct val="100000"/>
              </a:lnSpc>
              <a:spcBef>
                <a:spcPts val="65"/>
              </a:spcBef>
              <a:spcAft>
                <a:spcPts val="0"/>
              </a:spcAft>
              <a:buClrTx/>
              <a:buSzTx/>
              <a:buFontTx/>
              <a:buNone/>
              <a:tabLst/>
              <a:defRPr/>
            </a:pPr>
            <a:endParaRPr kumimoji="0" lang="en-US" sz="3250" b="0" i="0" u="none" strike="noStrike" kern="0" cap="none" spc="0" normalizeH="0" baseline="0" noProof="0">
              <a:ln>
                <a:noFill/>
              </a:ln>
              <a:solidFill>
                <a:sysClr val="windowText" lastClr="000000"/>
              </a:solidFill>
              <a:effectLst/>
              <a:uLnTx/>
              <a:uFillTx/>
              <a:latin typeface="Palatino Linotype"/>
              <a:ea typeface="+mn-ea"/>
            </a:endParaRPr>
          </a:p>
          <a:p>
            <a:pPr marL="236220" marR="409575" lvl="0" indent="0" defTabSz="914400" eaLnBrk="1" fontAlgn="auto" latinLnBrk="0" hangingPunct="1">
              <a:lnSpc>
                <a:spcPct val="120100"/>
              </a:lnSpc>
              <a:spcBef>
                <a:spcPts val="0"/>
              </a:spcBef>
              <a:spcAft>
                <a:spcPts val="0"/>
              </a:spcAft>
              <a:buClrTx/>
              <a:buSzTx/>
              <a:buFontTx/>
              <a:buNone/>
              <a:tabLst/>
              <a:defRPr/>
            </a:pPr>
            <a:r>
              <a:rPr kumimoji="0" lang="en-US" sz="1800" b="0" i="0" u="none" strike="noStrike" kern="0" cap="none" spc="-5" normalizeH="0" baseline="0" noProof="0">
                <a:ln>
                  <a:noFill/>
                </a:ln>
                <a:solidFill>
                  <a:srgbClr val="FF0000"/>
                </a:solidFill>
                <a:effectLst/>
                <a:uLnTx/>
                <a:uFillTx/>
                <a:latin typeface="Consolas"/>
                <a:ea typeface="+mn-ea"/>
                <a:cs typeface="Consolas"/>
              </a:rPr>
              <a:t>Example: </a:t>
            </a:r>
            <a:r>
              <a:rPr kumimoji="0" lang="en-US" sz="1800" b="0" i="0" u="none" strike="noStrike" kern="0" cap="none" spc="-5" normalizeH="0" baseline="0" noProof="0">
                <a:ln>
                  <a:noFill/>
                </a:ln>
                <a:solidFill>
                  <a:srgbClr val="0431FF"/>
                </a:solidFill>
                <a:effectLst/>
                <a:uLnTx/>
                <a:uFillTx/>
                <a:latin typeface="Consolas"/>
                <a:ea typeface="+mn-ea"/>
                <a:cs typeface="Consolas"/>
              </a:rPr>
              <a:t>Many language definitions require </a:t>
            </a:r>
            <a:r>
              <a:rPr kumimoji="0" lang="en-US" sz="1800" b="0" i="0" u="none" strike="noStrike" kern="0" cap="none" spc="0" normalizeH="0" baseline="0" noProof="0">
                <a:ln>
                  <a:noFill/>
                </a:ln>
                <a:solidFill>
                  <a:srgbClr val="0431FF"/>
                </a:solidFill>
                <a:effectLst/>
                <a:uLnTx/>
                <a:uFillTx/>
                <a:latin typeface="Consolas"/>
                <a:ea typeface="+mn-ea"/>
                <a:cs typeface="Consolas"/>
              </a:rPr>
              <a:t>an </a:t>
            </a:r>
            <a:r>
              <a:rPr kumimoji="0" lang="en-US" sz="1800" b="0" i="0" u="none" strike="noStrike" kern="0" cap="none" spc="-5" normalizeH="0" baseline="0" noProof="0">
                <a:ln>
                  <a:noFill/>
                </a:ln>
                <a:solidFill>
                  <a:srgbClr val="0431FF"/>
                </a:solidFill>
                <a:effectLst/>
                <a:uLnTx/>
                <a:uFillTx/>
                <a:latin typeface="Consolas"/>
                <a:ea typeface="+mn-ea"/>
                <a:cs typeface="Consolas"/>
              </a:rPr>
              <a:t>array index  to be an</a:t>
            </a:r>
            <a:r>
              <a:rPr kumimoji="0" lang="en-US" sz="1800" b="0" i="0" u="none" strike="noStrike" kern="0" cap="none" spc="-25" normalizeH="0" baseline="0" noProof="0">
                <a:ln>
                  <a:noFill/>
                </a:ln>
                <a:solidFill>
                  <a:srgbClr val="0431FF"/>
                </a:solidFill>
                <a:effectLst/>
                <a:uLnTx/>
                <a:uFillTx/>
                <a:latin typeface="Consolas"/>
                <a:ea typeface="+mn-ea"/>
                <a:cs typeface="Consolas"/>
              </a:rPr>
              <a:t> </a:t>
            </a:r>
            <a:r>
              <a:rPr kumimoji="0" lang="en-US" sz="1800" b="0" i="0" u="none" strike="noStrike" kern="0" cap="none" spc="-5" normalizeH="0" baseline="0" noProof="0">
                <a:ln>
                  <a:noFill/>
                </a:ln>
                <a:solidFill>
                  <a:srgbClr val="0431FF"/>
                </a:solidFill>
                <a:effectLst/>
                <a:uLnTx/>
                <a:uFillTx/>
                <a:latin typeface="Consolas"/>
                <a:ea typeface="+mn-ea"/>
                <a:cs typeface="Consolas"/>
              </a:rPr>
              <a:t>integer.</a:t>
            </a:r>
            <a:endParaRPr kumimoji="0" lang="en-US" sz="1800" b="0" i="0" u="none" strike="noStrike" kern="0" cap="none" spc="0" normalizeH="0" baseline="0" noProof="0">
              <a:ln>
                <a:noFill/>
              </a:ln>
              <a:solidFill>
                <a:sysClr val="windowText" lastClr="000000"/>
              </a:solidFill>
              <a:effectLst/>
              <a:uLnTx/>
              <a:uFillTx/>
              <a:latin typeface="Consolas"/>
              <a:ea typeface="+mn-ea"/>
              <a:cs typeface="Consolas"/>
            </a:endParaRPr>
          </a:p>
          <a:p>
            <a:pPr marL="236220" marR="279400" lvl="0" indent="0" defTabSz="914400" eaLnBrk="1" fontAlgn="auto" latinLnBrk="0" hangingPunct="1">
              <a:lnSpc>
                <a:spcPct val="120000"/>
              </a:lnSpc>
              <a:spcBef>
                <a:spcPts val="1200"/>
              </a:spcBef>
              <a:spcAft>
                <a:spcPts val="0"/>
              </a:spcAft>
              <a:buClrTx/>
              <a:buSzTx/>
              <a:buFontTx/>
              <a:buNone/>
              <a:tabLst/>
              <a:defRPr/>
            </a:pPr>
            <a:r>
              <a:rPr kumimoji="0" lang="en-US" sz="1800" b="0" i="0" u="none" strike="noStrike" kern="0" cap="none" spc="-5" normalizeH="0" baseline="0" noProof="0">
                <a:ln>
                  <a:noFill/>
                </a:ln>
                <a:solidFill>
                  <a:srgbClr val="0431FF"/>
                </a:solidFill>
                <a:effectLst/>
                <a:uLnTx/>
                <a:uFillTx/>
                <a:latin typeface="Consolas"/>
                <a:ea typeface="+mn-ea"/>
                <a:cs typeface="Consolas"/>
              </a:rPr>
              <a:t>Compilers should report an error if the argument of </a:t>
            </a:r>
            <a:r>
              <a:rPr kumimoji="0" lang="en-US" sz="1800" b="0" i="0" u="none" strike="noStrike" kern="0" cap="none" spc="0" normalizeH="0" baseline="0" noProof="0">
                <a:ln>
                  <a:noFill/>
                </a:ln>
                <a:solidFill>
                  <a:srgbClr val="0431FF"/>
                </a:solidFill>
                <a:effectLst/>
                <a:uLnTx/>
                <a:uFillTx/>
                <a:latin typeface="Consolas"/>
                <a:ea typeface="+mn-ea"/>
                <a:cs typeface="Consolas"/>
              </a:rPr>
              <a:t>an  </a:t>
            </a:r>
            <a:r>
              <a:rPr kumimoji="0" lang="en-US" sz="1800" b="0" i="0" u="none" strike="noStrike" kern="0" cap="none" spc="-5" normalizeH="0" baseline="0" noProof="0">
                <a:ln>
                  <a:noFill/>
                </a:ln>
                <a:solidFill>
                  <a:srgbClr val="0431FF"/>
                </a:solidFill>
                <a:effectLst/>
                <a:uLnTx/>
                <a:uFillTx/>
                <a:latin typeface="Consolas"/>
                <a:ea typeface="+mn-ea"/>
                <a:cs typeface="Consolas"/>
              </a:rPr>
              <a:t>array element access operation </a:t>
            </a:r>
            <a:r>
              <a:rPr kumimoji="0" lang="en-US" sz="1800" b="0" i="0" u="none" strike="noStrike" kern="0" cap="none" spc="0" normalizeH="0" baseline="0" noProof="0">
                <a:ln>
                  <a:noFill/>
                </a:ln>
                <a:solidFill>
                  <a:srgbClr val="0431FF"/>
                </a:solidFill>
                <a:effectLst/>
                <a:uLnTx/>
                <a:uFillTx/>
                <a:latin typeface="Consolas"/>
                <a:ea typeface="+mn-ea"/>
                <a:cs typeface="Consolas"/>
              </a:rPr>
              <a:t>is a </a:t>
            </a:r>
            <a:r>
              <a:rPr kumimoji="0" lang="en-US" sz="1800" b="0" i="0" u="none" strike="noStrike" kern="0" cap="none" spc="-5" normalizeH="0" baseline="0" noProof="0">
                <a:ln>
                  <a:noFill/>
                </a:ln>
                <a:solidFill>
                  <a:srgbClr val="0431FF"/>
                </a:solidFill>
                <a:effectLst/>
                <a:uLnTx/>
                <a:uFillTx/>
                <a:latin typeface="Consolas"/>
                <a:ea typeface="+mn-ea"/>
                <a:cs typeface="Consolas"/>
              </a:rPr>
              <a:t>floating-point</a:t>
            </a:r>
            <a:r>
              <a:rPr kumimoji="0" lang="en-US" sz="1800" b="0" i="0" u="none" strike="noStrike" kern="0" cap="none" spc="-45" normalizeH="0" baseline="0" noProof="0">
                <a:ln>
                  <a:noFill/>
                </a:ln>
                <a:solidFill>
                  <a:srgbClr val="0431FF"/>
                </a:solidFill>
                <a:effectLst/>
                <a:uLnTx/>
                <a:uFillTx/>
                <a:latin typeface="Consolas"/>
                <a:ea typeface="+mn-ea"/>
                <a:cs typeface="Consolas"/>
              </a:rPr>
              <a:t> </a:t>
            </a:r>
            <a:r>
              <a:rPr kumimoji="0" lang="en-US" sz="1800" b="0" i="0" u="none" strike="noStrike" kern="0" cap="none" spc="-5" normalizeH="0" baseline="0" noProof="0">
                <a:ln>
                  <a:noFill/>
                </a:ln>
                <a:solidFill>
                  <a:srgbClr val="0431FF"/>
                </a:solidFill>
                <a:effectLst/>
                <a:uLnTx/>
                <a:uFillTx/>
                <a:latin typeface="Consolas"/>
                <a:ea typeface="+mn-ea"/>
                <a:cs typeface="Consolas"/>
              </a:rPr>
              <a:t>number.</a:t>
            </a:r>
            <a:endParaRPr kumimoji="0" lang="en-US" sz="1800" b="0" i="0" u="none" strike="noStrike" kern="0" cap="none" spc="0" normalizeH="0" baseline="0" noProof="0">
              <a:ln>
                <a:noFill/>
              </a:ln>
              <a:solidFill>
                <a:sysClr val="windowText" lastClr="000000"/>
              </a:solidFill>
              <a:effectLst/>
              <a:uLnTx/>
              <a:uFillTx/>
              <a:latin typeface="Consolas"/>
              <a:ea typeface="+mn-ea"/>
              <a:cs typeface="Consolas"/>
            </a:endParaRPr>
          </a:p>
        </p:txBody>
      </p:sp>
      <p:sp>
        <p:nvSpPr>
          <p:cNvPr id="2" name="灯片编号占位符 1">
            <a:extLst>
              <a:ext uri="{FF2B5EF4-FFF2-40B4-BE49-F238E27FC236}">
                <a16:creationId xmlns:a16="http://schemas.microsoft.com/office/drawing/2014/main" id="{FBE1C270-CC45-5E10-855A-D481CD22FE5E}"/>
              </a:ext>
            </a:extLst>
          </p:cNvPr>
          <p:cNvSpPr>
            <a:spLocks noGrp="1"/>
          </p:cNvSpPr>
          <p:nvPr>
            <p:ph type="sldNum" sz="quarter" idx="12"/>
          </p:nvPr>
        </p:nvSpPr>
        <p:spPr/>
        <p:txBody>
          <a:bodyPr/>
          <a:lstStyle/>
          <a:p>
            <a:pPr>
              <a:defRPr/>
            </a:pPr>
            <a:fld id="{2FBC720A-3716-234A-B2DF-CBC7E48049F5}" type="slidenum">
              <a:rPr lang="en-US" altLang="zh-CN" smtClean="0"/>
              <a:t>32</a:t>
            </a:fld>
            <a:endParaRPr lang="en-US" altLang="zh-CN"/>
          </a:p>
        </p:txBody>
      </p:sp>
    </p:spTree>
    <p:extLst>
      <p:ext uri="{BB962C8B-B14F-4D97-AF65-F5344CB8AC3E}">
        <p14:creationId xmlns:p14="http://schemas.microsoft.com/office/powerpoint/2010/main" val="4196110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38" name="object 2">
            <a:extLst>
              <a:ext uri="{FF2B5EF4-FFF2-40B4-BE49-F238E27FC236}">
                <a16:creationId xmlns:a16="http://schemas.microsoft.com/office/drawing/2014/main" id="{F2E6044E-2961-63C1-2F79-B06E6EB296C3}"/>
              </a:ext>
            </a:extLst>
          </p:cNvPr>
          <p:cNvSpPr/>
          <p:nvPr/>
        </p:nvSpPr>
        <p:spPr>
          <a:xfrm>
            <a:off x="6733031" y="3973067"/>
            <a:ext cx="1783080" cy="1337945"/>
          </a:xfrm>
          <a:custGeom>
            <a:avLst/>
            <a:gdLst/>
            <a:ahLst/>
            <a:cxnLst/>
            <a:rect l="l" t="t" r="r" b="b"/>
            <a:pathLst>
              <a:path w="1783079" h="1337945">
                <a:moveTo>
                  <a:pt x="742950" y="829055"/>
                </a:moveTo>
                <a:lnTo>
                  <a:pt x="297179" y="829055"/>
                </a:lnTo>
                <a:lnTo>
                  <a:pt x="246634" y="1337817"/>
                </a:lnTo>
                <a:lnTo>
                  <a:pt x="742950" y="829055"/>
                </a:lnTo>
                <a:close/>
              </a:path>
              <a:path w="1783079" h="1337945">
                <a:moveTo>
                  <a:pt x="1783079" y="0"/>
                </a:moveTo>
                <a:lnTo>
                  <a:pt x="0" y="0"/>
                </a:lnTo>
                <a:lnTo>
                  <a:pt x="0" y="829055"/>
                </a:lnTo>
                <a:lnTo>
                  <a:pt x="1783079" y="829055"/>
                </a:lnTo>
                <a:lnTo>
                  <a:pt x="1783079" y="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3">
            <a:extLst>
              <a:ext uri="{FF2B5EF4-FFF2-40B4-BE49-F238E27FC236}">
                <a16:creationId xmlns:a16="http://schemas.microsoft.com/office/drawing/2014/main" id="{2DD0CE97-5290-9951-6689-1BE4E02A7FF2}"/>
              </a:ext>
            </a:extLst>
          </p:cNvPr>
          <p:cNvSpPr/>
          <p:nvPr/>
        </p:nvSpPr>
        <p:spPr>
          <a:xfrm>
            <a:off x="6733031" y="3973067"/>
            <a:ext cx="1783080" cy="1337945"/>
          </a:xfrm>
          <a:custGeom>
            <a:avLst/>
            <a:gdLst/>
            <a:ahLst/>
            <a:cxnLst/>
            <a:rect l="l" t="t" r="r" b="b"/>
            <a:pathLst>
              <a:path w="1783079" h="1337945">
                <a:moveTo>
                  <a:pt x="0" y="0"/>
                </a:moveTo>
                <a:lnTo>
                  <a:pt x="297179" y="0"/>
                </a:lnTo>
                <a:lnTo>
                  <a:pt x="742950" y="0"/>
                </a:lnTo>
                <a:lnTo>
                  <a:pt x="1783079" y="0"/>
                </a:lnTo>
                <a:lnTo>
                  <a:pt x="1783079" y="483615"/>
                </a:lnTo>
                <a:lnTo>
                  <a:pt x="1783079" y="690879"/>
                </a:lnTo>
                <a:lnTo>
                  <a:pt x="1783079" y="829055"/>
                </a:lnTo>
                <a:lnTo>
                  <a:pt x="742950" y="829055"/>
                </a:lnTo>
                <a:lnTo>
                  <a:pt x="246634" y="1337817"/>
                </a:lnTo>
                <a:lnTo>
                  <a:pt x="297179" y="829055"/>
                </a:lnTo>
                <a:lnTo>
                  <a:pt x="0" y="829055"/>
                </a:lnTo>
                <a:lnTo>
                  <a:pt x="0" y="690879"/>
                </a:lnTo>
                <a:lnTo>
                  <a:pt x="0" y="483615"/>
                </a:lnTo>
                <a:lnTo>
                  <a:pt x="0" y="0"/>
                </a:lnTo>
                <a:close/>
              </a:path>
            </a:pathLst>
          </a:custGeom>
          <a:ln w="12699">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4">
            <a:extLst>
              <a:ext uri="{FF2B5EF4-FFF2-40B4-BE49-F238E27FC236}">
                <a16:creationId xmlns:a16="http://schemas.microsoft.com/office/drawing/2014/main" id="{77D7025C-E7F4-D02C-AA49-40031CD934EC}"/>
              </a:ext>
            </a:extLst>
          </p:cNvPr>
          <p:cNvSpPr txBox="1"/>
          <p:nvPr/>
        </p:nvSpPr>
        <p:spPr>
          <a:xfrm>
            <a:off x="7142733" y="4048759"/>
            <a:ext cx="964565" cy="299720"/>
          </a:xfrm>
          <a:prstGeom prst="rect">
            <a:avLst/>
          </a:prstGeom>
        </p:spPr>
        <p:txBody>
          <a:bodyPr vert="horz" wrap="square" lIns="0" tIns="12700" rIns="0" bIns="0" rtlCol="0">
            <a:spAutoFit/>
          </a:bodyPr>
          <a:lstStyle/>
          <a:p>
            <a:pPr marL="12700" rtl="0">
              <a:spcBef>
                <a:spcPts val="100"/>
              </a:spcBef>
            </a:pPr>
            <a:r>
              <a:rPr b="1" kern="1200" spc="-5" dirty="0">
                <a:solidFill>
                  <a:srgbClr val="0431FF"/>
                </a:solidFill>
                <a:latin typeface="Palatino Linotype"/>
                <a:cs typeface="Palatino Linotype"/>
              </a:rPr>
              <a:t>C</a:t>
            </a:r>
            <a:r>
              <a:rPr b="1" kern="1200" spc="-10" dirty="0">
                <a:solidFill>
                  <a:srgbClr val="0431FF"/>
                </a:solidFill>
                <a:latin typeface="Palatino Linotype"/>
                <a:cs typeface="Palatino Linotype"/>
              </a:rPr>
              <a:t>o</a:t>
            </a:r>
            <a:r>
              <a:rPr b="1" kern="1200" dirty="0">
                <a:solidFill>
                  <a:srgbClr val="0431FF"/>
                </a:solidFill>
                <a:latin typeface="Palatino Linotype"/>
                <a:cs typeface="Palatino Linotype"/>
              </a:rPr>
              <a:t>ercion</a:t>
            </a:r>
            <a:endParaRPr kern="1200">
              <a:solidFill>
                <a:prstClr val="black"/>
              </a:solidFill>
              <a:latin typeface="Palatino Linotype"/>
              <a:cs typeface="Palatino Linotype"/>
            </a:endParaRPr>
          </a:p>
        </p:txBody>
      </p:sp>
      <p:sp>
        <p:nvSpPr>
          <p:cNvPr id="41" name="object 5">
            <a:extLst>
              <a:ext uri="{FF2B5EF4-FFF2-40B4-BE49-F238E27FC236}">
                <a16:creationId xmlns:a16="http://schemas.microsoft.com/office/drawing/2014/main" id="{77B19EEE-49D2-E60E-E872-EF409C1B422A}"/>
              </a:ext>
            </a:extLst>
          </p:cNvPr>
          <p:cNvSpPr txBox="1"/>
          <p:nvPr/>
        </p:nvSpPr>
        <p:spPr>
          <a:xfrm>
            <a:off x="7075678" y="4403852"/>
            <a:ext cx="1378712" cy="289823"/>
          </a:xfrm>
          <a:prstGeom prst="rect">
            <a:avLst/>
          </a:prstGeom>
        </p:spPr>
        <p:txBody>
          <a:bodyPr vert="horz" wrap="square" lIns="0" tIns="12700" rIns="0" bIns="0" rtlCol="0">
            <a:spAutoFit/>
          </a:bodyPr>
          <a:lstStyle/>
          <a:p>
            <a:pPr marL="12700" rtl="0">
              <a:spcBef>
                <a:spcPts val="100"/>
              </a:spcBef>
            </a:pPr>
            <a:r>
              <a:rPr b="1" kern="1200" dirty="0">
                <a:solidFill>
                  <a:srgbClr val="0431FF"/>
                </a:solidFill>
                <a:latin typeface="宋体" panose="02010600030101010101" pitchFamily="2" charset="-122"/>
                <a:ea typeface="宋体" panose="02010600030101010101" pitchFamily="2" charset="-122"/>
                <a:cs typeface="Palatino Linotype"/>
              </a:rPr>
              <a:t>(</a:t>
            </a:r>
            <a:r>
              <a:rPr b="1" kern="1200" dirty="0">
                <a:solidFill>
                  <a:srgbClr val="0431FF"/>
                </a:solidFill>
                <a:latin typeface="宋体" panose="02010600030101010101" pitchFamily="2" charset="-122"/>
                <a:ea typeface="宋体" panose="02010600030101010101" pitchFamily="2" charset="-122"/>
                <a:cs typeface="宋体"/>
              </a:rPr>
              <a:t>强制转换</a:t>
            </a:r>
            <a:r>
              <a:rPr b="1" kern="1200" dirty="0">
                <a:solidFill>
                  <a:srgbClr val="0431FF"/>
                </a:solidFill>
                <a:latin typeface="宋体" panose="02010600030101010101" pitchFamily="2" charset="-122"/>
                <a:ea typeface="宋体" panose="02010600030101010101" pitchFamily="2" charset="-122"/>
                <a:cs typeface="Palatino Linotype"/>
              </a:rPr>
              <a:t>)</a:t>
            </a:r>
            <a:endParaRPr kern="1200" dirty="0">
              <a:solidFill>
                <a:prstClr val="black"/>
              </a:solidFill>
              <a:latin typeface="宋体" panose="02010600030101010101" pitchFamily="2" charset="-122"/>
              <a:ea typeface="宋体" panose="02010600030101010101" pitchFamily="2" charset="-122"/>
              <a:cs typeface="Palatino Linotype"/>
            </a:endParaRPr>
          </a:p>
        </p:txBody>
      </p:sp>
      <p:sp>
        <p:nvSpPr>
          <p:cNvPr id="42" name="object 6">
            <a:extLst>
              <a:ext uri="{FF2B5EF4-FFF2-40B4-BE49-F238E27FC236}">
                <a16:creationId xmlns:a16="http://schemas.microsoft.com/office/drawing/2014/main" id="{D74FD7BA-7608-3E53-5A51-2369FA4581C8}"/>
              </a:ext>
            </a:extLst>
          </p:cNvPr>
          <p:cNvSpPr txBox="1">
            <a:spLocks/>
          </p:cNvSpPr>
          <p:nvPr/>
        </p:nvSpPr>
        <p:spPr>
          <a:xfrm>
            <a:off x="707542" y="520141"/>
            <a:ext cx="679640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Semantic Analysis</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43" name="object 7">
            <a:extLst>
              <a:ext uri="{FF2B5EF4-FFF2-40B4-BE49-F238E27FC236}">
                <a16:creationId xmlns:a16="http://schemas.microsoft.com/office/drawing/2014/main" id="{CEA71B2C-9111-7F0D-B251-201A246486A9}"/>
              </a:ext>
            </a:extLst>
          </p:cNvPr>
          <p:cNvSpPr txBox="1"/>
          <p:nvPr/>
        </p:nvSpPr>
        <p:spPr>
          <a:xfrm>
            <a:off x="1871598" y="1343279"/>
            <a:ext cx="4201795" cy="1271905"/>
          </a:xfrm>
          <a:prstGeom prst="rect">
            <a:avLst/>
          </a:prstGeom>
        </p:spPr>
        <p:txBody>
          <a:bodyPr vert="horz" wrap="square" lIns="0" tIns="127635" rIns="0" bIns="0" rtlCol="0">
            <a:spAutoFit/>
          </a:bodyPr>
          <a:lstStyle/>
          <a:p>
            <a:pPr marR="588010" algn="ctr" rtl="0">
              <a:spcBef>
                <a:spcPts val="1005"/>
              </a:spcBef>
            </a:pPr>
            <a:r>
              <a:rPr kern="1200" dirty="0">
                <a:solidFill>
                  <a:prstClr val="black"/>
                </a:solidFill>
                <a:latin typeface="Consolas"/>
                <a:cs typeface="Consolas"/>
              </a:rPr>
              <a:t>=</a:t>
            </a:r>
            <a:endParaRPr kern="1200">
              <a:solidFill>
                <a:prstClr val="black"/>
              </a:solidFill>
              <a:latin typeface="Consolas"/>
              <a:cs typeface="Consolas"/>
            </a:endParaRPr>
          </a:p>
          <a:p>
            <a:pPr marR="1117600" algn="ctr" rtl="0">
              <a:spcBef>
                <a:spcPts val="905"/>
              </a:spcBef>
              <a:tabLst>
                <a:tab pos="2924175" algn="l"/>
              </a:tabLst>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dirty="0">
                <a:solidFill>
                  <a:prstClr val="black"/>
                </a:solidFill>
                <a:latin typeface="Consolas"/>
                <a:cs typeface="Consolas"/>
              </a:rPr>
              <a:t>, 1&gt;	+</a:t>
            </a:r>
            <a:endParaRPr kern="1200">
              <a:solidFill>
                <a:prstClr val="black"/>
              </a:solidFill>
              <a:latin typeface="Consolas"/>
              <a:cs typeface="Consolas"/>
            </a:endParaRPr>
          </a:p>
          <a:p>
            <a:pPr marL="1359535" rtl="0">
              <a:spcBef>
                <a:spcPts val="1520"/>
              </a:spcBef>
              <a:tabLst>
                <a:tab pos="4062729" algn="l"/>
              </a:tabLst>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dirty="0">
                <a:solidFill>
                  <a:prstClr val="black"/>
                </a:solidFill>
                <a:latin typeface="Consolas"/>
                <a:cs typeface="Consolas"/>
              </a:rPr>
              <a:t>,</a:t>
            </a:r>
            <a:r>
              <a:rPr kern="1200" spc="-5" dirty="0">
                <a:solidFill>
                  <a:prstClr val="black"/>
                </a:solidFill>
                <a:latin typeface="Consolas"/>
                <a:cs typeface="Consolas"/>
              </a:rPr>
              <a:t> 2</a:t>
            </a:r>
            <a:r>
              <a:rPr kern="1200" dirty="0">
                <a:solidFill>
                  <a:prstClr val="black"/>
                </a:solidFill>
                <a:latin typeface="Consolas"/>
                <a:cs typeface="Consolas"/>
              </a:rPr>
              <a:t>&gt;	*</a:t>
            </a:r>
            <a:endParaRPr kern="1200">
              <a:solidFill>
                <a:prstClr val="black"/>
              </a:solidFill>
              <a:latin typeface="Consolas"/>
              <a:cs typeface="Consolas"/>
            </a:endParaRPr>
          </a:p>
        </p:txBody>
      </p:sp>
      <p:sp>
        <p:nvSpPr>
          <p:cNvPr id="44" name="object 8">
            <a:extLst>
              <a:ext uri="{FF2B5EF4-FFF2-40B4-BE49-F238E27FC236}">
                <a16:creationId xmlns:a16="http://schemas.microsoft.com/office/drawing/2014/main" id="{4A6CAD74-3975-DB6A-9883-8568C76C0F04}"/>
              </a:ext>
            </a:extLst>
          </p:cNvPr>
          <p:cNvSpPr txBox="1"/>
          <p:nvPr/>
        </p:nvSpPr>
        <p:spPr>
          <a:xfrm>
            <a:off x="4416297" y="2779521"/>
            <a:ext cx="90360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dirty="0">
                <a:solidFill>
                  <a:prstClr val="black"/>
                </a:solidFill>
                <a:latin typeface="Consolas"/>
                <a:cs typeface="Consolas"/>
              </a:rPr>
              <a:t>3&gt;</a:t>
            </a:r>
            <a:endParaRPr kern="1200">
              <a:solidFill>
                <a:prstClr val="black"/>
              </a:solidFill>
              <a:latin typeface="Consolas"/>
              <a:cs typeface="Consolas"/>
            </a:endParaRPr>
          </a:p>
        </p:txBody>
      </p:sp>
      <p:sp>
        <p:nvSpPr>
          <p:cNvPr id="45" name="object 9">
            <a:extLst>
              <a:ext uri="{FF2B5EF4-FFF2-40B4-BE49-F238E27FC236}">
                <a16:creationId xmlns:a16="http://schemas.microsoft.com/office/drawing/2014/main" id="{1019EEA7-3313-55A0-B793-97DBD7FE2718}"/>
              </a:ext>
            </a:extLst>
          </p:cNvPr>
          <p:cNvSpPr txBox="1"/>
          <p:nvPr/>
        </p:nvSpPr>
        <p:spPr>
          <a:xfrm>
            <a:off x="6740143" y="2808859"/>
            <a:ext cx="275590"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60</a:t>
            </a:r>
            <a:endParaRPr kern="1200">
              <a:solidFill>
                <a:prstClr val="black"/>
              </a:solidFill>
              <a:latin typeface="Consolas"/>
              <a:cs typeface="Consolas"/>
            </a:endParaRPr>
          </a:p>
        </p:txBody>
      </p:sp>
      <p:sp>
        <p:nvSpPr>
          <p:cNvPr id="46" name="object 10">
            <a:extLst>
              <a:ext uri="{FF2B5EF4-FFF2-40B4-BE49-F238E27FC236}">
                <a16:creationId xmlns:a16="http://schemas.microsoft.com/office/drawing/2014/main" id="{A818EC04-D87F-316B-50C8-851F2D543CE6}"/>
              </a:ext>
            </a:extLst>
          </p:cNvPr>
          <p:cNvSpPr/>
          <p:nvPr/>
        </p:nvSpPr>
        <p:spPr>
          <a:xfrm>
            <a:off x="2863595" y="1807464"/>
            <a:ext cx="811530" cy="205104"/>
          </a:xfrm>
          <a:custGeom>
            <a:avLst/>
            <a:gdLst/>
            <a:ahLst/>
            <a:cxnLst/>
            <a:rect l="l" t="t" r="r" b="b"/>
            <a:pathLst>
              <a:path w="811529" h="205105">
                <a:moveTo>
                  <a:pt x="811403" y="0"/>
                </a:moveTo>
                <a:lnTo>
                  <a:pt x="0" y="204724"/>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7" name="object 11">
            <a:extLst>
              <a:ext uri="{FF2B5EF4-FFF2-40B4-BE49-F238E27FC236}">
                <a16:creationId xmlns:a16="http://schemas.microsoft.com/office/drawing/2014/main" id="{82BA5192-8A8A-DC5C-6AC4-E5D167042B36}"/>
              </a:ext>
            </a:extLst>
          </p:cNvPr>
          <p:cNvSpPr/>
          <p:nvPr/>
        </p:nvSpPr>
        <p:spPr>
          <a:xfrm>
            <a:off x="3674364" y="1807464"/>
            <a:ext cx="1042035" cy="205104"/>
          </a:xfrm>
          <a:custGeom>
            <a:avLst/>
            <a:gdLst/>
            <a:ahLst/>
            <a:cxnLst/>
            <a:rect l="l" t="t" r="r" b="b"/>
            <a:pathLst>
              <a:path w="1042035" h="205105">
                <a:moveTo>
                  <a:pt x="0" y="0"/>
                </a:moveTo>
                <a:lnTo>
                  <a:pt x="1041781" y="204724"/>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12">
            <a:extLst>
              <a:ext uri="{FF2B5EF4-FFF2-40B4-BE49-F238E27FC236}">
                <a16:creationId xmlns:a16="http://schemas.microsoft.com/office/drawing/2014/main" id="{1C780B3B-6398-C726-71AC-15339693A019}"/>
              </a:ext>
            </a:extLst>
          </p:cNvPr>
          <p:cNvSpPr/>
          <p:nvPr/>
        </p:nvSpPr>
        <p:spPr>
          <a:xfrm>
            <a:off x="4210811" y="2197607"/>
            <a:ext cx="662305" cy="280670"/>
          </a:xfrm>
          <a:custGeom>
            <a:avLst/>
            <a:gdLst/>
            <a:ahLst/>
            <a:cxnLst/>
            <a:rect l="l" t="t" r="r" b="b"/>
            <a:pathLst>
              <a:path w="662304" h="280669">
                <a:moveTo>
                  <a:pt x="661924" y="0"/>
                </a:moveTo>
                <a:lnTo>
                  <a:pt x="0" y="280542"/>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9" name="object 13">
            <a:extLst>
              <a:ext uri="{FF2B5EF4-FFF2-40B4-BE49-F238E27FC236}">
                <a16:creationId xmlns:a16="http://schemas.microsoft.com/office/drawing/2014/main" id="{A7FBF280-4A02-6B23-85DA-ADAD13FD777F}"/>
              </a:ext>
            </a:extLst>
          </p:cNvPr>
          <p:cNvSpPr/>
          <p:nvPr/>
        </p:nvSpPr>
        <p:spPr>
          <a:xfrm>
            <a:off x="4872228" y="2197607"/>
            <a:ext cx="970280" cy="283210"/>
          </a:xfrm>
          <a:custGeom>
            <a:avLst/>
            <a:gdLst/>
            <a:ahLst/>
            <a:cxnLst/>
            <a:rect l="l" t="t" r="r" b="b"/>
            <a:pathLst>
              <a:path w="970279" h="283210">
                <a:moveTo>
                  <a:pt x="0" y="0"/>
                </a:moveTo>
                <a:lnTo>
                  <a:pt x="969899" y="282701"/>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0" name="object 14">
            <a:extLst>
              <a:ext uri="{FF2B5EF4-FFF2-40B4-BE49-F238E27FC236}">
                <a16:creationId xmlns:a16="http://schemas.microsoft.com/office/drawing/2014/main" id="{5D43A0F3-9183-CC08-BF3C-8C30ACEB72C6}"/>
              </a:ext>
            </a:extLst>
          </p:cNvPr>
          <p:cNvSpPr/>
          <p:nvPr/>
        </p:nvSpPr>
        <p:spPr>
          <a:xfrm>
            <a:off x="5408676" y="2663951"/>
            <a:ext cx="590550" cy="280035"/>
          </a:xfrm>
          <a:custGeom>
            <a:avLst/>
            <a:gdLst/>
            <a:ahLst/>
            <a:cxnLst/>
            <a:rect l="l" t="t" r="r" b="b"/>
            <a:pathLst>
              <a:path w="590550" h="280035">
                <a:moveTo>
                  <a:pt x="590041" y="0"/>
                </a:moveTo>
                <a:lnTo>
                  <a:pt x="0" y="279781"/>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1" name="object 15">
            <a:extLst>
              <a:ext uri="{FF2B5EF4-FFF2-40B4-BE49-F238E27FC236}">
                <a16:creationId xmlns:a16="http://schemas.microsoft.com/office/drawing/2014/main" id="{9566DCDC-CDDE-3F54-695F-11C7560767B3}"/>
              </a:ext>
            </a:extLst>
          </p:cNvPr>
          <p:cNvSpPr/>
          <p:nvPr/>
        </p:nvSpPr>
        <p:spPr>
          <a:xfrm>
            <a:off x="5998464" y="2663951"/>
            <a:ext cx="662305" cy="309245"/>
          </a:xfrm>
          <a:custGeom>
            <a:avLst/>
            <a:gdLst/>
            <a:ahLst/>
            <a:cxnLst/>
            <a:rect l="l" t="t" r="r" b="b"/>
            <a:pathLst>
              <a:path w="662304" h="309244">
                <a:moveTo>
                  <a:pt x="0" y="0"/>
                </a:moveTo>
                <a:lnTo>
                  <a:pt x="662051" y="308863"/>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16">
            <a:extLst>
              <a:ext uri="{FF2B5EF4-FFF2-40B4-BE49-F238E27FC236}">
                <a16:creationId xmlns:a16="http://schemas.microsoft.com/office/drawing/2014/main" id="{0C5F4E75-DB0C-F092-2C96-7D9C7ACC17EB}"/>
              </a:ext>
            </a:extLst>
          </p:cNvPr>
          <p:cNvSpPr txBox="1"/>
          <p:nvPr/>
        </p:nvSpPr>
        <p:spPr>
          <a:xfrm>
            <a:off x="3598926" y="4094226"/>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53" name="object 17">
            <a:extLst>
              <a:ext uri="{FF2B5EF4-FFF2-40B4-BE49-F238E27FC236}">
                <a16:creationId xmlns:a16="http://schemas.microsoft.com/office/drawing/2014/main" id="{338FD7CC-C960-4417-92C6-2E37A7D34F33}"/>
              </a:ext>
            </a:extLst>
          </p:cNvPr>
          <p:cNvSpPr txBox="1"/>
          <p:nvPr/>
        </p:nvSpPr>
        <p:spPr>
          <a:xfrm>
            <a:off x="1871598" y="4483049"/>
            <a:ext cx="904240" cy="300355"/>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75" dirty="0">
                <a:solidFill>
                  <a:prstClr val="black"/>
                </a:solidFill>
                <a:latin typeface="Consolas"/>
                <a:cs typeface="Consolas"/>
              </a:rPr>
              <a:t> </a:t>
            </a:r>
            <a:r>
              <a:rPr kern="1200" dirty="0">
                <a:solidFill>
                  <a:prstClr val="black"/>
                </a:solidFill>
                <a:latin typeface="Consolas"/>
                <a:cs typeface="Consolas"/>
              </a:rPr>
              <a:t>1&gt;</a:t>
            </a:r>
            <a:endParaRPr kern="1200">
              <a:solidFill>
                <a:prstClr val="black"/>
              </a:solidFill>
              <a:latin typeface="Consolas"/>
              <a:cs typeface="Consolas"/>
            </a:endParaRPr>
          </a:p>
        </p:txBody>
      </p:sp>
      <p:sp>
        <p:nvSpPr>
          <p:cNvPr id="54" name="object 18">
            <a:extLst>
              <a:ext uri="{FF2B5EF4-FFF2-40B4-BE49-F238E27FC236}">
                <a16:creationId xmlns:a16="http://schemas.microsoft.com/office/drawing/2014/main" id="{97AC768A-E1A4-C2FB-7B6B-34F04717A119}"/>
              </a:ext>
            </a:extLst>
          </p:cNvPr>
          <p:cNvSpPr txBox="1"/>
          <p:nvPr/>
        </p:nvSpPr>
        <p:spPr>
          <a:xfrm>
            <a:off x="4796409" y="4483049"/>
            <a:ext cx="151765" cy="300355"/>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55" name="object 19">
            <a:extLst>
              <a:ext uri="{FF2B5EF4-FFF2-40B4-BE49-F238E27FC236}">
                <a16:creationId xmlns:a16="http://schemas.microsoft.com/office/drawing/2014/main" id="{26E196CE-E9AE-257C-B9BF-231C44273047}"/>
              </a:ext>
            </a:extLst>
          </p:cNvPr>
          <p:cNvSpPr txBox="1"/>
          <p:nvPr/>
        </p:nvSpPr>
        <p:spPr>
          <a:xfrm>
            <a:off x="3218814" y="4948808"/>
            <a:ext cx="90233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2&gt;</a:t>
            </a:r>
            <a:endParaRPr kern="1200">
              <a:solidFill>
                <a:prstClr val="black"/>
              </a:solidFill>
              <a:latin typeface="Consolas"/>
              <a:cs typeface="Consolas"/>
            </a:endParaRPr>
          </a:p>
        </p:txBody>
      </p:sp>
      <p:sp>
        <p:nvSpPr>
          <p:cNvPr id="56" name="object 20">
            <a:extLst>
              <a:ext uri="{FF2B5EF4-FFF2-40B4-BE49-F238E27FC236}">
                <a16:creationId xmlns:a16="http://schemas.microsoft.com/office/drawing/2014/main" id="{DCA8DB34-863B-5FC5-83DA-A162E598E53E}"/>
              </a:ext>
            </a:extLst>
          </p:cNvPr>
          <p:cNvSpPr txBox="1"/>
          <p:nvPr/>
        </p:nvSpPr>
        <p:spPr>
          <a:xfrm>
            <a:off x="5922009" y="4950967"/>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57" name="object 21">
            <a:extLst>
              <a:ext uri="{FF2B5EF4-FFF2-40B4-BE49-F238E27FC236}">
                <a16:creationId xmlns:a16="http://schemas.microsoft.com/office/drawing/2014/main" id="{813FF51B-0633-C33A-BF30-9E217081E5ED}"/>
              </a:ext>
            </a:extLst>
          </p:cNvPr>
          <p:cNvSpPr txBox="1"/>
          <p:nvPr/>
        </p:nvSpPr>
        <p:spPr>
          <a:xfrm>
            <a:off x="4416297" y="5415483"/>
            <a:ext cx="90360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dirty="0">
                <a:solidFill>
                  <a:prstClr val="black"/>
                </a:solidFill>
                <a:latin typeface="Consolas"/>
                <a:cs typeface="Consolas"/>
              </a:rPr>
              <a:t>3&gt;</a:t>
            </a:r>
            <a:endParaRPr kern="1200">
              <a:solidFill>
                <a:prstClr val="black"/>
              </a:solidFill>
              <a:latin typeface="Consolas"/>
              <a:cs typeface="Consolas"/>
            </a:endParaRPr>
          </a:p>
        </p:txBody>
      </p:sp>
      <p:sp>
        <p:nvSpPr>
          <p:cNvPr id="58" name="object 22">
            <a:extLst>
              <a:ext uri="{FF2B5EF4-FFF2-40B4-BE49-F238E27FC236}">
                <a16:creationId xmlns:a16="http://schemas.microsoft.com/office/drawing/2014/main" id="{5ABEDFFD-F291-C709-D71A-D1EE6A7C343F}"/>
              </a:ext>
            </a:extLst>
          </p:cNvPr>
          <p:cNvSpPr txBox="1"/>
          <p:nvPr/>
        </p:nvSpPr>
        <p:spPr>
          <a:xfrm>
            <a:off x="6740143" y="5415483"/>
            <a:ext cx="1278890" cy="299720"/>
          </a:xfrm>
          <a:prstGeom prst="rect">
            <a:avLst/>
          </a:prstGeom>
        </p:spPr>
        <p:txBody>
          <a:bodyPr vert="horz" wrap="square" lIns="0" tIns="12700" rIns="0" bIns="0" rtlCol="0">
            <a:spAutoFit/>
          </a:bodyPr>
          <a:lstStyle/>
          <a:p>
            <a:pPr marL="12700" rtl="0">
              <a:spcBef>
                <a:spcPts val="100"/>
              </a:spcBef>
            </a:pPr>
            <a:r>
              <a:rPr b="1" kern="1200" spc="-5" dirty="0">
                <a:solidFill>
                  <a:srgbClr val="FF0000"/>
                </a:solidFill>
                <a:latin typeface="Consolas"/>
                <a:cs typeface="Consolas"/>
              </a:rPr>
              <a:t>intt</a:t>
            </a:r>
            <a:r>
              <a:rPr b="1" kern="1200" dirty="0">
                <a:solidFill>
                  <a:srgbClr val="FF0000"/>
                </a:solidFill>
                <a:latin typeface="Consolas"/>
                <a:cs typeface="Consolas"/>
              </a:rPr>
              <a:t>o</a:t>
            </a:r>
            <a:r>
              <a:rPr b="1" kern="1200" spc="-5" dirty="0">
                <a:solidFill>
                  <a:srgbClr val="FF0000"/>
                </a:solidFill>
                <a:latin typeface="Consolas"/>
                <a:cs typeface="Consolas"/>
              </a:rPr>
              <a:t>fl</a:t>
            </a:r>
            <a:r>
              <a:rPr b="1" kern="1200" dirty="0">
                <a:solidFill>
                  <a:srgbClr val="FF0000"/>
                </a:solidFill>
                <a:latin typeface="Consolas"/>
                <a:cs typeface="Consolas"/>
              </a:rPr>
              <a:t>o</a:t>
            </a:r>
            <a:r>
              <a:rPr b="1" kern="1200" spc="-5" dirty="0">
                <a:solidFill>
                  <a:srgbClr val="FF0000"/>
                </a:solidFill>
                <a:latin typeface="Consolas"/>
                <a:cs typeface="Consolas"/>
              </a:rPr>
              <a:t>a</a:t>
            </a:r>
            <a:r>
              <a:rPr b="1" kern="1200" dirty="0">
                <a:solidFill>
                  <a:srgbClr val="FF0000"/>
                </a:solidFill>
                <a:latin typeface="Consolas"/>
                <a:cs typeface="Consolas"/>
              </a:rPr>
              <a:t>t</a:t>
            </a:r>
            <a:endParaRPr kern="1200">
              <a:solidFill>
                <a:prstClr val="black"/>
              </a:solidFill>
              <a:latin typeface="Consolas"/>
              <a:cs typeface="Consolas"/>
            </a:endParaRPr>
          </a:p>
        </p:txBody>
      </p:sp>
      <p:sp>
        <p:nvSpPr>
          <p:cNvPr id="59" name="object 23">
            <a:extLst>
              <a:ext uri="{FF2B5EF4-FFF2-40B4-BE49-F238E27FC236}">
                <a16:creationId xmlns:a16="http://schemas.microsoft.com/office/drawing/2014/main" id="{E8B30CE6-4979-536E-CCB9-4EC648CEEFF1}"/>
              </a:ext>
            </a:extLst>
          </p:cNvPr>
          <p:cNvSpPr/>
          <p:nvPr/>
        </p:nvSpPr>
        <p:spPr>
          <a:xfrm>
            <a:off x="2863595" y="4442459"/>
            <a:ext cx="811530" cy="205104"/>
          </a:xfrm>
          <a:custGeom>
            <a:avLst/>
            <a:gdLst/>
            <a:ahLst/>
            <a:cxnLst/>
            <a:rect l="l" t="t" r="r" b="b"/>
            <a:pathLst>
              <a:path w="811529" h="205104">
                <a:moveTo>
                  <a:pt x="811403" y="0"/>
                </a:moveTo>
                <a:lnTo>
                  <a:pt x="0" y="204723"/>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0" name="object 24">
            <a:extLst>
              <a:ext uri="{FF2B5EF4-FFF2-40B4-BE49-F238E27FC236}">
                <a16:creationId xmlns:a16="http://schemas.microsoft.com/office/drawing/2014/main" id="{2B782067-AAC3-594B-9247-8E3C2F90E89C}"/>
              </a:ext>
            </a:extLst>
          </p:cNvPr>
          <p:cNvSpPr/>
          <p:nvPr/>
        </p:nvSpPr>
        <p:spPr>
          <a:xfrm>
            <a:off x="3674364" y="4442459"/>
            <a:ext cx="1042035" cy="205104"/>
          </a:xfrm>
          <a:custGeom>
            <a:avLst/>
            <a:gdLst/>
            <a:ahLst/>
            <a:cxnLst/>
            <a:rect l="l" t="t" r="r" b="b"/>
            <a:pathLst>
              <a:path w="1042035" h="205104">
                <a:moveTo>
                  <a:pt x="0" y="0"/>
                </a:moveTo>
                <a:lnTo>
                  <a:pt x="1041781" y="204723"/>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1" name="object 25">
            <a:extLst>
              <a:ext uri="{FF2B5EF4-FFF2-40B4-BE49-F238E27FC236}">
                <a16:creationId xmlns:a16="http://schemas.microsoft.com/office/drawing/2014/main" id="{8A3DF3B0-F94F-C9BC-34BB-33A149EC9F74}"/>
              </a:ext>
            </a:extLst>
          </p:cNvPr>
          <p:cNvSpPr/>
          <p:nvPr/>
        </p:nvSpPr>
        <p:spPr>
          <a:xfrm>
            <a:off x="4210811" y="4832603"/>
            <a:ext cx="662305" cy="280670"/>
          </a:xfrm>
          <a:custGeom>
            <a:avLst/>
            <a:gdLst/>
            <a:ahLst/>
            <a:cxnLst/>
            <a:rect l="l" t="t" r="r" b="b"/>
            <a:pathLst>
              <a:path w="662304" h="280670">
                <a:moveTo>
                  <a:pt x="661924" y="0"/>
                </a:moveTo>
                <a:lnTo>
                  <a:pt x="0" y="280543"/>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2" name="object 26">
            <a:extLst>
              <a:ext uri="{FF2B5EF4-FFF2-40B4-BE49-F238E27FC236}">
                <a16:creationId xmlns:a16="http://schemas.microsoft.com/office/drawing/2014/main" id="{B3718781-941E-F460-C90F-13FD21DCCAC6}"/>
              </a:ext>
            </a:extLst>
          </p:cNvPr>
          <p:cNvSpPr/>
          <p:nvPr/>
        </p:nvSpPr>
        <p:spPr>
          <a:xfrm>
            <a:off x="4872228" y="4832603"/>
            <a:ext cx="970280" cy="283210"/>
          </a:xfrm>
          <a:custGeom>
            <a:avLst/>
            <a:gdLst/>
            <a:ahLst/>
            <a:cxnLst/>
            <a:rect l="l" t="t" r="r" b="b"/>
            <a:pathLst>
              <a:path w="970279" h="283210">
                <a:moveTo>
                  <a:pt x="0" y="0"/>
                </a:moveTo>
                <a:lnTo>
                  <a:pt x="969899" y="282702"/>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3" name="object 27">
            <a:extLst>
              <a:ext uri="{FF2B5EF4-FFF2-40B4-BE49-F238E27FC236}">
                <a16:creationId xmlns:a16="http://schemas.microsoft.com/office/drawing/2014/main" id="{ACCFF659-EB68-5EBF-B7E9-1A31CC34A86F}"/>
              </a:ext>
            </a:extLst>
          </p:cNvPr>
          <p:cNvSpPr/>
          <p:nvPr/>
        </p:nvSpPr>
        <p:spPr>
          <a:xfrm>
            <a:off x="5408676" y="5300471"/>
            <a:ext cx="590550" cy="280035"/>
          </a:xfrm>
          <a:custGeom>
            <a:avLst/>
            <a:gdLst/>
            <a:ahLst/>
            <a:cxnLst/>
            <a:rect l="l" t="t" r="r" b="b"/>
            <a:pathLst>
              <a:path w="590550" h="280035">
                <a:moveTo>
                  <a:pt x="590041" y="0"/>
                </a:moveTo>
                <a:lnTo>
                  <a:pt x="0" y="279780"/>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4" name="object 28">
            <a:extLst>
              <a:ext uri="{FF2B5EF4-FFF2-40B4-BE49-F238E27FC236}">
                <a16:creationId xmlns:a16="http://schemas.microsoft.com/office/drawing/2014/main" id="{B7F246EA-283C-A2D5-60DB-C24F7B7998F0}"/>
              </a:ext>
            </a:extLst>
          </p:cNvPr>
          <p:cNvSpPr/>
          <p:nvPr/>
        </p:nvSpPr>
        <p:spPr>
          <a:xfrm>
            <a:off x="5998464" y="5300471"/>
            <a:ext cx="662305" cy="280035"/>
          </a:xfrm>
          <a:custGeom>
            <a:avLst/>
            <a:gdLst/>
            <a:ahLst/>
            <a:cxnLst/>
            <a:rect l="l" t="t" r="r" b="b"/>
            <a:pathLst>
              <a:path w="662304" h="280035">
                <a:moveTo>
                  <a:pt x="0" y="0"/>
                </a:moveTo>
                <a:lnTo>
                  <a:pt x="662051" y="279780"/>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5" name="object 29">
            <a:extLst>
              <a:ext uri="{FF2B5EF4-FFF2-40B4-BE49-F238E27FC236}">
                <a16:creationId xmlns:a16="http://schemas.microsoft.com/office/drawing/2014/main" id="{EBA1D405-6BE2-AE41-5960-26AC83D44167}"/>
              </a:ext>
            </a:extLst>
          </p:cNvPr>
          <p:cNvSpPr txBox="1"/>
          <p:nvPr/>
        </p:nvSpPr>
        <p:spPr>
          <a:xfrm>
            <a:off x="7246746" y="6019901"/>
            <a:ext cx="275590"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60</a:t>
            </a:r>
            <a:endParaRPr kern="1200">
              <a:solidFill>
                <a:prstClr val="black"/>
              </a:solidFill>
              <a:latin typeface="Consolas"/>
              <a:cs typeface="Consolas"/>
            </a:endParaRPr>
          </a:p>
        </p:txBody>
      </p:sp>
      <p:sp>
        <p:nvSpPr>
          <p:cNvPr id="66" name="object 30">
            <a:extLst>
              <a:ext uri="{FF2B5EF4-FFF2-40B4-BE49-F238E27FC236}">
                <a16:creationId xmlns:a16="http://schemas.microsoft.com/office/drawing/2014/main" id="{78453221-395E-25B7-9B01-47CFCBF9F636}"/>
              </a:ext>
            </a:extLst>
          </p:cNvPr>
          <p:cNvSpPr/>
          <p:nvPr/>
        </p:nvSpPr>
        <p:spPr>
          <a:xfrm>
            <a:off x="7385304" y="5763767"/>
            <a:ext cx="0" cy="234950"/>
          </a:xfrm>
          <a:custGeom>
            <a:avLst/>
            <a:gdLst/>
            <a:ahLst/>
            <a:cxnLst/>
            <a:rect l="l" t="t" r="r" b="b"/>
            <a:pathLst>
              <a:path h="234950">
                <a:moveTo>
                  <a:pt x="0" y="0"/>
                </a:moveTo>
                <a:lnTo>
                  <a:pt x="0" y="234772"/>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7" name="object 31">
            <a:extLst>
              <a:ext uri="{FF2B5EF4-FFF2-40B4-BE49-F238E27FC236}">
                <a16:creationId xmlns:a16="http://schemas.microsoft.com/office/drawing/2014/main" id="{E8F285DE-1177-DD01-271C-57B24B72CA0B}"/>
              </a:ext>
            </a:extLst>
          </p:cNvPr>
          <p:cNvSpPr txBox="1"/>
          <p:nvPr/>
        </p:nvSpPr>
        <p:spPr>
          <a:xfrm>
            <a:off x="734669" y="3228339"/>
            <a:ext cx="2129155" cy="434340"/>
          </a:xfrm>
          <a:prstGeom prst="rect">
            <a:avLst/>
          </a:prstGeom>
          <a:solidFill>
            <a:srgbClr val="FFC000"/>
          </a:solidFill>
          <a:ln w="12700">
            <a:solidFill>
              <a:srgbClr val="000000"/>
            </a:solidFill>
          </a:ln>
        </p:spPr>
        <p:txBody>
          <a:bodyPr vert="horz" wrap="square" lIns="0" tIns="65405" rIns="0" bIns="0" rtlCol="0">
            <a:spAutoFit/>
          </a:bodyPr>
          <a:lstStyle/>
          <a:p>
            <a:pPr marL="111760" rtl="0">
              <a:spcBef>
                <a:spcPts val="515"/>
              </a:spcBef>
            </a:pPr>
            <a:r>
              <a:rPr kern="1200" dirty="0">
                <a:solidFill>
                  <a:prstClr val="black"/>
                </a:solidFill>
                <a:latin typeface="Palatino Linotype"/>
                <a:cs typeface="Palatino Linotype"/>
              </a:rPr>
              <a:t>Semantic</a:t>
            </a:r>
            <a:r>
              <a:rPr kern="1200" spc="-95" dirty="0">
                <a:solidFill>
                  <a:prstClr val="black"/>
                </a:solidFill>
                <a:latin typeface="Palatino Linotype"/>
                <a:cs typeface="Palatino Linotype"/>
              </a:rPr>
              <a:t> </a:t>
            </a:r>
            <a:r>
              <a:rPr kern="1200" dirty="0">
                <a:solidFill>
                  <a:prstClr val="black"/>
                </a:solidFill>
                <a:latin typeface="Palatino Linotype"/>
                <a:cs typeface="Palatino Linotype"/>
              </a:rPr>
              <a:t>Analyzer</a:t>
            </a:r>
            <a:endParaRPr kern="1200">
              <a:solidFill>
                <a:prstClr val="black"/>
              </a:solidFill>
              <a:latin typeface="Palatino Linotype"/>
              <a:cs typeface="Palatino Linotype"/>
            </a:endParaRPr>
          </a:p>
        </p:txBody>
      </p:sp>
      <p:sp>
        <p:nvSpPr>
          <p:cNvPr id="68" name="object 32">
            <a:extLst>
              <a:ext uri="{FF2B5EF4-FFF2-40B4-BE49-F238E27FC236}">
                <a16:creationId xmlns:a16="http://schemas.microsoft.com/office/drawing/2014/main" id="{EB885358-F608-6846-F286-B166192C0A4A}"/>
              </a:ext>
            </a:extLst>
          </p:cNvPr>
          <p:cNvSpPr/>
          <p:nvPr/>
        </p:nvSpPr>
        <p:spPr>
          <a:xfrm>
            <a:off x="1729358" y="2470150"/>
            <a:ext cx="874394" cy="758825"/>
          </a:xfrm>
          <a:custGeom>
            <a:avLst/>
            <a:gdLst/>
            <a:ahLst/>
            <a:cxnLst/>
            <a:rect l="l" t="t" r="r" b="b"/>
            <a:pathLst>
              <a:path w="874394" h="758825">
                <a:moveTo>
                  <a:pt x="9271" y="617854"/>
                </a:moveTo>
                <a:lnTo>
                  <a:pt x="5334" y="619887"/>
                </a:lnTo>
                <a:lnTo>
                  <a:pt x="1524" y="621919"/>
                </a:lnTo>
                <a:lnTo>
                  <a:pt x="0" y="626745"/>
                </a:lnTo>
                <a:lnTo>
                  <a:pt x="2159" y="630554"/>
                </a:lnTo>
                <a:lnTo>
                  <a:pt x="70485" y="758571"/>
                </a:lnTo>
                <a:lnTo>
                  <a:pt x="79860" y="742314"/>
                </a:lnTo>
                <a:lnTo>
                  <a:pt x="78740" y="742314"/>
                </a:lnTo>
                <a:lnTo>
                  <a:pt x="62865" y="742061"/>
                </a:lnTo>
                <a:lnTo>
                  <a:pt x="62984" y="738251"/>
                </a:lnTo>
                <a:lnTo>
                  <a:pt x="63754" y="722757"/>
                </a:lnTo>
                <a:lnTo>
                  <a:pt x="64603" y="713942"/>
                </a:lnTo>
                <a:lnTo>
                  <a:pt x="16129" y="623188"/>
                </a:lnTo>
                <a:lnTo>
                  <a:pt x="14097" y="619251"/>
                </a:lnTo>
                <a:lnTo>
                  <a:pt x="9271" y="617854"/>
                </a:lnTo>
                <a:close/>
              </a:path>
              <a:path w="874394" h="758825">
                <a:moveTo>
                  <a:pt x="64603" y="713942"/>
                </a:moveTo>
                <a:lnTo>
                  <a:pt x="63754" y="722757"/>
                </a:lnTo>
                <a:lnTo>
                  <a:pt x="62984" y="738251"/>
                </a:lnTo>
                <a:lnTo>
                  <a:pt x="62865" y="742061"/>
                </a:lnTo>
                <a:lnTo>
                  <a:pt x="78740" y="742314"/>
                </a:lnTo>
                <a:lnTo>
                  <a:pt x="78751" y="741045"/>
                </a:lnTo>
                <a:lnTo>
                  <a:pt x="78861" y="738504"/>
                </a:lnTo>
                <a:lnTo>
                  <a:pt x="77724" y="738504"/>
                </a:lnTo>
                <a:lnTo>
                  <a:pt x="63881" y="738251"/>
                </a:lnTo>
                <a:lnTo>
                  <a:pt x="70994" y="725906"/>
                </a:lnTo>
                <a:lnTo>
                  <a:pt x="64603" y="713942"/>
                </a:lnTo>
                <a:close/>
              </a:path>
              <a:path w="874394" h="758825">
                <a:moveTo>
                  <a:pt x="136271" y="619887"/>
                </a:moveTo>
                <a:lnTo>
                  <a:pt x="81028" y="708493"/>
                </a:lnTo>
                <a:lnTo>
                  <a:pt x="78740" y="742314"/>
                </a:lnTo>
                <a:lnTo>
                  <a:pt x="79860" y="742314"/>
                </a:lnTo>
                <a:lnTo>
                  <a:pt x="143002" y="632840"/>
                </a:lnTo>
                <a:lnTo>
                  <a:pt x="145161" y="629158"/>
                </a:lnTo>
                <a:lnTo>
                  <a:pt x="143891" y="624204"/>
                </a:lnTo>
                <a:lnTo>
                  <a:pt x="136271" y="619887"/>
                </a:lnTo>
                <a:close/>
              </a:path>
              <a:path w="874394" h="758825">
                <a:moveTo>
                  <a:pt x="78751" y="741045"/>
                </a:moveTo>
                <a:lnTo>
                  <a:pt x="78740" y="741299"/>
                </a:lnTo>
                <a:lnTo>
                  <a:pt x="78751" y="741045"/>
                </a:lnTo>
                <a:close/>
              </a:path>
              <a:path w="874394" h="758825">
                <a:moveTo>
                  <a:pt x="70994" y="725906"/>
                </a:moveTo>
                <a:lnTo>
                  <a:pt x="63881" y="738251"/>
                </a:lnTo>
                <a:lnTo>
                  <a:pt x="77724" y="738504"/>
                </a:lnTo>
                <a:lnTo>
                  <a:pt x="70994" y="725906"/>
                </a:lnTo>
                <a:close/>
              </a:path>
              <a:path w="874394" h="758825">
                <a:moveTo>
                  <a:pt x="81028" y="708493"/>
                </a:moveTo>
                <a:lnTo>
                  <a:pt x="70994" y="725906"/>
                </a:lnTo>
                <a:lnTo>
                  <a:pt x="77724" y="738504"/>
                </a:lnTo>
                <a:lnTo>
                  <a:pt x="78861" y="738504"/>
                </a:lnTo>
                <a:lnTo>
                  <a:pt x="79502" y="723773"/>
                </a:lnTo>
                <a:lnTo>
                  <a:pt x="81028" y="708493"/>
                </a:lnTo>
                <a:close/>
              </a:path>
              <a:path w="874394" h="758825">
                <a:moveTo>
                  <a:pt x="873506" y="0"/>
                </a:moveTo>
                <a:lnTo>
                  <a:pt x="797687" y="4317"/>
                </a:lnTo>
                <a:lnTo>
                  <a:pt x="759841" y="9651"/>
                </a:lnTo>
                <a:lnTo>
                  <a:pt x="722122" y="17017"/>
                </a:lnTo>
                <a:lnTo>
                  <a:pt x="684911" y="26288"/>
                </a:lnTo>
                <a:lnTo>
                  <a:pt x="647954" y="37464"/>
                </a:lnTo>
                <a:lnTo>
                  <a:pt x="611505" y="50419"/>
                </a:lnTo>
                <a:lnTo>
                  <a:pt x="575691" y="65024"/>
                </a:lnTo>
                <a:lnTo>
                  <a:pt x="540258" y="81534"/>
                </a:lnTo>
                <a:lnTo>
                  <a:pt x="505714" y="99440"/>
                </a:lnTo>
                <a:lnTo>
                  <a:pt x="471805" y="118872"/>
                </a:lnTo>
                <a:lnTo>
                  <a:pt x="438658" y="139826"/>
                </a:lnTo>
                <a:lnTo>
                  <a:pt x="406527" y="162178"/>
                </a:lnTo>
                <a:lnTo>
                  <a:pt x="375285" y="185800"/>
                </a:lnTo>
                <a:lnTo>
                  <a:pt x="345186" y="210692"/>
                </a:lnTo>
                <a:lnTo>
                  <a:pt x="316103" y="236727"/>
                </a:lnTo>
                <a:lnTo>
                  <a:pt x="288163" y="263905"/>
                </a:lnTo>
                <a:lnTo>
                  <a:pt x="261620" y="291973"/>
                </a:lnTo>
                <a:lnTo>
                  <a:pt x="236347" y="321183"/>
                </a:lnTo>
                <a:lnTo>
                  <a:pt x="212471" y="351282"/>
                </a:lnTo>
                <a:lnTo>
                  <a:pt x="190119" y="382270"/>
                </a:lnTo>
                <a:lnTo>
                  <a:pt x="149987" y="446277"/>
                </a:lnTo>
                <a:lnTo>
                  <a:pt x="116586" y="512952"/>
                </a:lnTo>
                <a:lnTo>
                  <a:pt x="90805" y="581660"/>
                </a:lnTo>
                <a:lnTo>
                  <a:pt x="73025" y="651763"/>
                </a:lnTo>
                <a:lnTo>
                  <a:pt x="64603" y="713942"/>
                </a:lnTo>
                <a:lnTo>
                  <a:pt x="70994" y="725906"/>
                </a:lnTo>
                <a:lnTo>
                  <a:pt x="81028" y="708493"/>
                </a:lnTo>
                <a:lnTo>
                  <a:pt x="82931" y="688975"/>
                </a:lnTo>
                <a:lnTo>
                  <a:pt x="88562" y="655065"/>
                </a:lnTo>
                <a:lnTo>
                  <a:pt x="96068" y="621157"/>
                </a:lnTo>
                <a:lnTo>
                  <a:pt x="96139" y="620776"/>
                </a:lnTo>
                <a:lnTo>
                  <a:pt x="96266" y="620267"/>
                </a:lnTo>
                <a:lnTo>
                  <a:pt x="105935" y="586613"/>
                </a:lnTo>
                <a:lnTo>
                  <a:pt x="117729" y="552576"/>
                </a:lnTo>
                <a:lnTo>
                  <a:pt x="131112" y="519557"/>
                </a:lnTo>
                <a:lnTo>
                  <a:pt x="146685" y="486283"/>
                </a:lnTo>
                <a:lnTo>
                  <a:pt x="163830" y="453898"/>
                </a:lnTo>
                <a:lnTo>
                  <a:pt x="182527" y="422528"/>
                </a:lnTo>
                <a:lnTo>
                  <a:pt x="203200" y="391160"/>
                </a:lnTo>
                <a:lnTo>
                  <a:pt x="225171" y="360807"/>
                </a:lnTo>
                <a:lnTo>
                  <a:pt x="248464" y="331470"/>
                </a:lnTo>
                <a:lnTo>
                  <a:pt x="273211" y="302767"/>
                </a:lnTo>
                <a:lnTo>
                  <a:pt x="299352" y="275082"/>
                </a:lnTo>
                <a:lnTo>
                  <a:pt x="327152" y="248158"/>
                </a:lnTo>
                <a:lnTo>
                  <a:pt x="355458" y="222758"/>
                </a:lnTo>
                <a:lnTo>
                  <a:pt x="385318" y="198120"/>
                </a:lnTo>
                <a:lnTo>
                  <a:pt x="415925" y="174878"/>
                </a:lnTo>
                <a:lnTo>
                  <a:pt x="447491" y="153162"/>
                </a:lnTo>
                <a:lnTo>
                  <a:pt x="447294" y="153162"/>
                </a:lnTo>
                <a:lnTo>
                  <a:pt x="479858" y="132587"/>
                </a:lnTo>
                <a:lnTo>
                  <a:pt x="513239" y="113411"/>
                </a:lnTo>
                <a:lnTo>
                  <a:pt x="513080" y="113411"/>
                </a:lnTo>
                <a:lnTo>
                  <a:pt x="547123" y="95885"/>
                </a:lnTo>
                <a:lnTo>
                  <a:pt x="582168" y="79501"/>
                </a:lnTo>
                <a:lnTo>
                  <a:pt x="582405" y="79501"/>
                </a:lnTo>
                <a:lnTo>
                  <a:pt x="617037" y="65277"/>
                </a:lnTo>
                <a:lnTo>
                  <a:pt x="652802" y="52577"/>
                </a:lnTo>
                <a:lnTo>
                  <a:pt x="689356" y="41528"/>
                </a:lnTo>
                <a:lnTo>
                  <a:pt x="725805" y="32385"/>
                </a:lnTo>
                <a:lnTo>
                  <a:pt x="726076" y="32385"/>
                </a:lnTo>
                <a:lnTo>
                  <a:pt x="762635" y="25273"/>
                </a:lnTo>
                <a:lnTo>
                  <a:pt x="763146" y="25273"/>
                </a:lnTo>
                <a:lnTo>
                  <a:pt x="799719" y="20065"/>
                </a:lnTo>
                <a:lnTo>
                  <a:pt x="799211" y="20065"/>
                </a:lnTo>
                <a:lnTo>
                  <a:pt x="836803" y="16890"/>
                </a:lnTo>
                <a:lnTo>
                  <a:pt x="836295" y="16890"/>
                </a:lnTo>
                <a:lnTo>
                  <a:pt x="873887" y="15748"/>
                </a:lnTo>
                <a:lnTo>
                  <a:pt x="873506" y="0"/>
                </a:lnTo>
                <a:close/>
              </a:path>
              <a:path w="874394" h="758825">
                <a:moveTo>
                  <a:pt x="79502" y="723773"/>
                </a:moveTo>
                <a:lnTo>
                  <a:pt x="79485" y="724153"/>
                </a:lnTo>
                <a:lnTo>
                  <a:pt x="79502" y="723773"/>
                </a:lnTo>
                <a:close/>
              </a:path>
              <a:path w="874394" h="758825">
                <a:moveTo>
                  <a:pt x="79539" y="723773"/>
                </a:moveTo>
                <a:lnTo>
                  <a:pt x="79502" y="724153"/>
                </a:lnTo>
                <a:lnTo>
                  <a:pt x="79539" y="723773"/>
                </a:lnTo>
                <a:close/>
              </a:path>
              <a:path w="874394" h="758825">
                <a:moveTo>
                  <a:pt x="83014" y="688975"/>
                </a:moveTo>
                <a:lnTo>
                  <a:pt x="82931" y="689483"/>
                </a:lnTo>
                <a:lnTo>
                  <a:pt x="83014" y="688975"/>
                </a:lnTo>
                <a:close/>
              </a:path>
              <a:path w="874394" h="758825">
                <a:moveTo>
                  <a:pt x="88646" y="654558"/>
                </a:moveTo>
                <a:lnTo>
                  <a:pt x="88518" y="655065"/>
                </a:lnTo>
                <a:lnTo>
                  <a:pt x="88646" y="654558"/>
                </a:lnTo>
                <a:close/>
              </a:path>
              <a:path w="874394" h="758825">
                <a:moveTo>
                  <a:pt x="96201" y="620559"/>
                </a:moveTo>
                <a:lnTo>
                  <a:pt x="96139" y="620776"/>
                </a:lnTo>
                <a:lnTo>
                  <a:pt x="96201" y="620559"/>
                </a:lnTo>
                <a:close/>
              </a:path>
              <a:path w="874394" h="758825">
                <a:moveTo>
                  <a:pt x="96284" y="620267"/>
                </a:moveTo>
                <a:lnTo>
                  <a:pt x="96201" y="620559"/>
                </a:lnTo>
                <a:lnTo>
                  <a:pt x="96284" y="620267"/>
                </a:lnTo>
                <a:close/>
              </a:path>
              <a:path w="874394" h="758825">
                <a:moveTo>
                  <a:pt x="106020" y="586318"/>
                </a:moveTo>
                <a:lnTo>
                  <a:pt x="105918" y="586613"/>
                </a:lnTo>
                <a:lnTo>
                  <a:pt x="106020" y="586318"/>
                </a:lnTo>
                <a:close/>
              </a:path>
              <a:path w="874394" h="758825">
                <a:moveTo>
                  <a:pt x="117756" y="552576"/>
                </a:moveTo>
                <a:lnTo>
                  <a:pt x="117602" y="552958"/>
                </a:lnTo>
                <a:lnTo>
                  <a:pt x="117756" y="552576"/>
                </a:lnTo>
                <a:close/>
              </a:path>
              <a:path w="874394" h="758825">
                <a:moveTo>
                  <a:pt x="131318" y="519049"/>
                </a:moveTo>
                <a:lnTo>
                  <a:pt x="131064" y="519557"/>
                </a:lnTo>
                <a:lnTo>
                  <a:pt x="131318" y="519049"/>
                </a:lnTo>
                <a:close/>
              </a:path>
              <a:path w="874394" h="758825">
                <a:moveTo>
                  <a:pt x="146758" y="486283"/>
                </a:moveTo>
                <a:lnTo>
                  <a:pt x="146558" y="486663"/>
                </a:lnTo>
                <a:lnTo>
                  <a:pt x="146758" y="486283"/>
                </a:lnTo>
                <a:close/>
              </a:path>
              <a:path w="874394" h="758825">
                <a:moveTo>
                  <a:pt x="163928" y="453898"/>
                </a:moveTo>
                <a:lnTo>
                  <a:pt x="163703" y="454278"/>
                </a:lnTo>
                <a:lnTo>
                  <a:pt x="163928" y="453898"/>
                </a:lnTo>
                <a:close/>
              </a:path>
              <a:path w="874394" h="758825">
                <a:moveTo>
                  <a:pt x="182753" y="422148"/>
                </a:moveTo>
                <a:lnTo>
                  <a:pt x="182499" y="422528"/>
                </a:lnTo>
                <a:lnTo>
                  <a:pt x="182753" y="422148"/>
                </a:lnTo>
                <a:close/>
              </a:path>
              <a:path w="874394" h="758825">
                <a:moveTo>
                  <a:pt x="203256" y="391160"/>
                </a:moveTo>
                <a:lnTo>
                  <a:pt x="203073" y="391413"/>
                </a:lnTo>
                <a:lnTo>
                  <a:pt x="203256" y="391160"/>
                </a:lnTo>
                <a:close/>
              </a:path>
              <a:path w="874394" h="758825">
                <a:moveTo>
                  <a:pt x="225245" y="360807"/>
                </a:moveTo>
                <a:lnTo>
                  <a:pt x="225044" y="361061"/>
                </a:lnTo>
                <a:lnTo>
                  <a:pt x="225245" y="360807"/>
                </a:lnTo>
                <a:close/>
              </a:path>
              <a:path w="874394" h="758825">
                <a:moveTo>
                  <a:pt x="248666" y="331215"/>
                </a:moveTo>
                <a:lnTo>
                  <a:pt x="248412" y="331470"/>
                </a:lnTo>
                <a:lnTo>
                  <a:pt x="248666" y="331215"/>
                </a:lnTo>
                <a:close/>
              </a:path>
              <a:path w="874394" h="758825">
                <a:moveTo>
                  <a:pt x="273431" y="302513"/>
                </a:moveTo>
                <a:lnTo>
                  <a:pt x="273177" y="302767"/>
                </a:lnTo>
                <a:lnTo>
                  <a:pt x="273431" y="302513"/>
                </a:lnTo>
                <a:close/>
              </a:path>
              <a:path w="874394" h="758825">
                <a:moveTo>
                  <a:pt x="327180" y="248158"/>
                </a:moveTo>
                <a:lnTo>
                  <a:pt x="326898" y="248412"/>
                </a:lnTo>
                <a:lnTo>
                  <a:pt x="327180" y="248158"/>
                </a:lnTo>
                <a:close/>
              </a:path>
              <a:path w="874394" h="758825">
                <a:moveTo>
                  <a:pt x="355600" y="222630"/>
                </a:moveTo>
                <a:lnTo>
                  <a:pt x="355346" y="222758"/>
                </a:lnTo>
                <a:lnTo>
                  <a:pt x="355600" y="222630"/>
                </a:lnTo>
                <a:close/>
              </a:path>
              <a:path w="874394" h="758825">
                <a:moveTo>
                  <a:pt x="385397" y="198120"/>
                </a:moveTo>
                <a:lnTo>
                  <a:pt x="385064" y="198374"/>
                </a:lnTo>
                <a:lnTo>
                  <a:pt x="385397" y="198120"/>
                </a:lnTo>
                <a:close/>
              </a:path>
              <a:path w="874394" h="758825">
                <a:moveTo>
                  <a:pt x="416038" y="174878"/>
                </a:moveTo>
                <a:lnTo>
                  <a:pt x="415671" y="175133"/>
                </a:lnTo>
                <a:lnTo>
                  <a:pt x="416038" y="174878"/>
                </a:lnTo>
                <a:close/>
              </a:path>
              <a:path w="874394" h="758825">
                <a:moveTo>
                  <a:pt x="447675" y="153035"/>
                </a:moveTo>
                <a:lnTo>
                  <a:pt x="447294" y="153162"/>
                </a:lnTo>
                <a:lnTo>
                  <a:pt x="447491" y="153162"/>
                </a:lnTo>
                <a:lnTo>
                  <a:pt x="447675" y="153035"/>
                </a:lnTo>
                <a:close/>
              </a:path>
              <a:path w="874394" h="758825">
                <a:moveTo>
                  <a:pt x="480060" y="132461"/>
                </a:moveTo>
                <a:lnTo>
                  <a:pt x="479806" y="132587"/>
                </a:lnTo>
                <a:lnTo>
                  <a:pt x="480060" y="132461"/>
                </a:lnTo>
                <a:close/>
              </a:path>
              <a:path w="874394" h="758825">
                <a:moveTo>
                  <a:pt x="513461" y="113284"/>
                </a:moveTo>
                <a:lnTo>
                  <a:pt x="513080" y="113411"/>
                </a:lnTo>
                <a:lnTo>
                  <a:pt x="513239" y="113411"/>
                </a:lnTo>
                <a:lnTo>
                  <a:pt x="513461" y="113284"/>
                </a:lnTo>
                <a:close/>
              </a:path>
              <a:path w="874394" h="758825">
                <a:moveTo>
                  <a:pt x="582405" y="79501"/>
                </a:moveTo>
                <a:lnTo>
                  <a:pt x="582168" y="79501"/>
                </a:lnTo>
                <a:lnTo>
                  <a:pt x="581787" y="79755"/>
                </a:lnTo>
                <a:lnTo>
                  <a:pt x="582405" y="79501"/>
                </a:lnTo>
                <a:close/>
              </a:path>
              <a:path w="874394" h="758825">
                <a:moveTo>
                  <a:pt x="617347" y="65150"/>
                </a:moveTo>
                <a:lnTo>
                  <a:pt x="616966" y="65277"/>
                </a:lnTo>
                <a:lnTo>
                  <a:pt x="617347" y="65150"/>
                </a:lnTo>
                <a:close/>
              </a:path>
              <a:path w="874394" h="758825">
                <a:moveTo>
                  <a:pt x="689479" y="41528"/>
                </a:moveTo>
                <a:lnTo>
                  <a:pt x="688975" y="41655"/>
                </a:lnTo>
                <a:lnTo>
                  <a:pt x="689479" y="41528"/>
                </a:lnTo>
                <a:close/>
              </a:path>
              <a:path w="874394" h="758825">
                <a:moveTo>
                  <a:pt x="726076" y="32385"/>
                </a:moveTo>
                <a:lnTo>
                  <a:pt x="725805" y="32385"/>
                </a:lnTo>
                <a:lnTo>
                  <a:pt x="725424" y="32512"/>
                </a:lnTo>
                <a:lnTo>
                  <a:pt x="726076" y="32385"/>
                </a:lnTo>
                <a:close/>
              </a:path>
              <a:path w="874394" h="758825">
                <a:moveTo>
                  <a:pt x="763146" y="25273"/>
                </a:moveTo>
                <a:lnTo>
                  <a:pt x="762635" y="25273"/>
                </a:lnTo>
                <a:lnTo>
                  <a:pt x="762254" y="25400"/>
                </a:lnTo>
                <a:lnTo>
                  <a:pt x="763146" y="25273"/>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9" name="object 33">
            <a:extLst>
              <a:ext uri="{FF2B5EF4-FFF2-40B4-BE49-F238E27FC236}">
                <a16:creationId xmlns:a16="http://schemas.microsoft.com/office/drawing/2014/main" id="{87462E61-EBE3-8E0B-4FDF-27BE3B5C5FAB}"/>
              </a:ext>
            </a:extLst>
          </p:cNvPr>
          <p:cNvSpPr/>
          <p:nvPr/>
        </p:nvSpPr>
        <p:spPr>
          <a:xfrm>
            <a:off x="1791970" y="3661917"/>
            <a:ext cx="647065" cy="689610"/>
          </a:xfrm>
          <a:custGeom>
            <a:avLst/>
            <a:gdLst/>
            <a:ahLst/>
            <a:cxnLst/>
            <a:rect l="l" t="t" r="r" b="b"/>
            <a:pathLst>
              <a:path w="647064" h="689610">
                <a:moveTo>
                  <a:pt x="601616" y="626256"/>
                </a:moveTo>
                <a:lnTo>
                  <a:pt x="507111" y="675258"/>
                </a:lnTo>
                <a:lnTo>
                  <a:pt x="505587" y="680084"/>
                </a:lnTo>
                <a:lnTo>
                  <a:pt x="507619" y="683894"/>
                </a:lnTo>
                <a:lnTo>
                  <a:pt x="509650" y="687831"/>
                </a:lnTo>
                <a:lnTo>
                  <a:pt x="514477" y="689355"/>
                </a:lnTo>
                <a:lnTo>
                  <a:pt x="518287" y="687323"/>
                </a:lnTo>
                <a:lnTo>
                  <a:pt x="632620" y="628014"/>
                </a:lnTo>
                <a:lnTo>
                  <a:pt x="630555" y="628014"/>
                </a:lnTo>
                <a:lnTo>
                  <a:pt x="616585" y="627633"/>
                </a:lnTo>
                <a:lnTo>
                  <a:pt x="601616" y="626256"/>
                </a:lnTo>
                <a:close/>
              </a:path>
              <a:path w="647064" h="689610">
                <a:moveTo>
                  <a:pt x="614463" y="619594"/>
                </a:moveTo>
                <a:lnTo>
                  <a:pt x="601616" y="626256"/>
                </a:lnTo>
                <a:lnTo>
                  <a:pt x="616585" y="627633"/>
                </a:lnTo>
                <a:lnTo>
                  <a:pt x="630555" y="628014"/>
                </a:lnTo>
                <a:lnTo>
                  <a:pt x="630582" y="626871"/>
                </a:lnTo>
                <a:lnTo>
                  <a:pt x="626744" y="626871"/>
                </a:lnTo>
                <a:lnTo>
                  <a:pt x="614463" y="619594"/>
                </a:lnTo>
                <a:close/>
              </a:path>
              <a:path w="647064" h="689610">
                <a:moveTo>
                  <a:pt x="518541" y="544194"/>
                </a:moveTo>
                <a:lnTo>
                  <a:pt x="513715" y="545464"/>
                </a:lnTo>
                <a:lnTo>
                  <a:pt x="511429" y="549274"/>
                </a:lnTo>
                <a:lnTo>
                  <a:pt x="509269" y="553084"/>
                </a:lnTo>
                <a:lnTo>
                  <a:pt x="510540" y="557910"/>
                </a:lnTo>
                <a:lnTo>
                  <a:pt x="514223" y="560196"/>
                </a:lnTo>
                <a:lnTo>
                  <a:pt x="598304" y="610019"/>
                </a:lnTo>
                <a:lnTo>
                  <a:pt x="617855" y="611758"/>
                </a:lnTo>
                <a:lnTo>
                  <a:pt x="617347" y="611758"/>
                </a:lnTo>
                <a:lnTo>
                  <a:pt x="630936" y="612139"/>
                </a:lnTo>
                <a:lnTo>
                  <a:pt x="630555" y="628014"/>
                </a:lnTo>
                <a:lnTo>
                  <a:pt x="632620" y="628014"/>
                </a:lnTo>
                <a:lnTo>
                  <a:pt x="647065" y="620521"/>
                </a:lnTo>
                <a:lnTo>
                  <a:pt x="518541" y="544194"/>
                </a:lnTo>
                <a:close/>
              </a:path>
              <a:path w="647064" h="689610">
                <a:moveTo>
                  <a:pt x="627126" y="613028"/>
                </a:moveTo>
                <a:lnTo>
                  <a:pt x="614463" y="619594"/>
                </a:lnTo>
                <a:lnTo>
                  <a:pt x="626744" y="626871"/>
                </a:lnTo>
                <a:lnTo>
                  <a:pt x="627126" y="613028"/>
                </a:lnTo>
                <a:close/>
              </a:path>
              <a:path w="647064" h="689610">
                <a:moveTo>
                  <a:pt x="630914" y="613028"/>
                </a:moveTo>
                <a:lnTo>
                  <a:pt x="627126" y="613028"/>
                </a:lnTo>
                <a:lnTo>
                  <a:pt x="626744" y="626871"/>
                </a:lnTo>
                <a:lnTo>
                  <a:pt x="630582" y="626871"/>
                </a:lnTo>
                <a:lnTo>
                  <a:pt x="630914" y="613028"/>
                </a:lnTo>
                <a:close/>
              </a:path>
              <a:path w="647064" h="689610">
                <a:moveTo>
                  <a:pt x="15748" y="0"/>
                </a:moveTo>
                <a:lnTo>
                  <a:pt x="0" y="507"/>
                </a:lnTo>
                <a:lnTo>
                  <a:pt x="888" y="29844"/>
                </a:lnTo>
                <a:lnTo>
                  <a:pt x="3682" y="59308"/>
                </a:lnTo>
                <a:lnTo>
                  <a:pt x="14605" y="117855"/>
                </a:lnTo>
                <a:lnTo>
                  <a:pt x="32004" y="175386"/>
                </a:lnTo>
                <a:lnTo>
                  <a:pt x="55625" y="231393"/>
                </a:lnTo>
                <a:lnTo>
                  <a:pt x="84962" y="285622"/>
                </a:lnTo>
                <a:lnTo>
                  <a:pt x="119506" y="337438"/>
                </a:lnTo>
                <a:lnTo>
                  <a:pt x="158623" y="386587"/>
                </a:lnTo>
                <a:lnTo>
                  <a:pt x="202056" y="432434"/>
                </a:lnTo>
                <a:lnTo>
                  <a:pt x="249300" y="474598"/>
                </a:lnTo>
                <a:lnTo>
                  <a:pt x="299847" y="512571"/>
                </a:lnTo>
                <a:lnTo>
                  <a:pt x="353313" y="545972"/>
                </a:lnTo>
                <a:lnTo>
                  <a:pt x="409067" y="574420"/>
                </a:lnTo>
                <a:lnTo>
                  <a:pt x="466852" y="597407"/>
                </a:lnTo>
                <a:lnTo>
                  <a:pt x="526034" y="614298"/>
                </a:lnTo>
                <a:lnTo>
                  <a:pt x="586232" y="624839"/>
                </a:lnTo>
                <a:lnTo>
                  <a:pt x="601616" y="626256"/>
                </a:lnTo>
                <a:lnTo>
                  <a:pt x="614463" y="619594"/>
                </a:lnTo>
                <a:lnTo>
                  <a:pt x="598304" y="610019"/>
                </a:lnTo>
                <a:lnTo>
                  <a:pt x="587882" y="609091"/>
                </a:lnTo>
                <a:lnTo>
                  <a:pt x="588391" y="609091"/>
                </a:lnTo>
                <a:lnTo>
                  <a:pt x="558673" y="604773"/>
                </a:lnTo>
                <a:lnTo>
                  <a:pt x="559054" y="604773"/>
                </a:lnTo>
                <a:lnTo>
                  <a:pt x="530092" y="598931"/>
                </a:lnTo>
                <a:lnTo>
                  <a:pt x="529844" y="598931"/>
                </a:lnTo>
                <a:lnTo>
                  <a:pt x="500995" y="591438"/>
                </a:lnTo>
                <a:lnTo>
                  <a:pt x="471805" y="582294"/>
                </a:lnTo>
                <a:lnTo>
                  <a:pt x="443484" y="571880"/>
                </a:lnTo>
                <a:lnTo>
                  <a:pt x="415842" y="560069"/>
                </a:lnTo>
                <a:lnTo>
                  <a:pt x="387985" y="546734"/>
                </a:lnTo>
                <a:lnTo>
                  <a:pt x="388130" y="546734"/>
                </a:lnTo>
                <a:lnTo>
                  <a:pt x="361061" y="532129"/>
                </a:lnTo>
                <a:lnTo>
                  <a:pt x="334518" y="516381"/>
                </a:lnTo>
                <a:lnTo>
                  <a:pt x="334705" y="516381"/>
                </a:lnTo>
                <a:lnTo>
                  <a:pt x="309124" y="499617"/>
                </a:lnTo>
                <a:lnTo>
                  <a:pt x="308991" y="499617"/>
                </a:lnTo>
                <a:lnTo>
                  <a:pt x="283718" y="481329"/>
                </a:lnTo>
                <a:lnTo>
                  <a:pt x="259658" y="462406"/>
                </a:lnTo>
                <a:lnTo>
                  <a:pt x="236008" y="442213"/>
                </a:lnTo>
                <a:lnTo>
                  <a:pt x="213252" y="421131"/>
                </a:lnTo>
                <a:lnTo>
                  <a:pt x="191262" y="398779"/>
                </a:lnTo>
                <a:lnTo>
                  <a:pt x="170561" y="376046"/>
                </a:lnTo>
                <a:lnTo>
                  <a:pt x="151088" y="352678"/>
                </a:lnTo>
                <a:lnTo>
                  <a:pt x="132399" y="328167"/>
                </a:lnTo>
                <a:lnTo>
                  <a:pt x="114681" y="302894"/>
                </a:lnTo>
                <a:lnTo>
                  <a:pt x="98792" y="277621"/>
                </a:lnTo>
                <a:lnTo>
                  <a:pt x="83782" y="251459"/>
                </a:lnTo>
                <a:lnTo>
                  <a:pt x="69850" y="224408"/>
                </a:lnTo>
                <a:lnTo>
                  <a:pt x="57773" y="197611"/>
                </a:lnTo>
                <a:lnTo>
                  <a:pt x="47012" y="170179"/>
                </a:lnTo>
                <a:lnTo>
                  <a:pt x="37718" y="142366"/>
                </a:lnTo>
                <a:lnTo>
                  <a:pt x="30075" y="114299"/>
                </a:lnTo>
                <a:lnTo>
                  <a:pt x="23956" y="85978"/>
                </a:lnTo>
                <a:lnTo>
                  <a:pt x="19509" y="57657"/>
                </a:lnTo>
                <a:lnTo>
                  <a:pt x="16880" y="29844"/>
                </a:lnTo>
                <a:lnTo>
                  <a:pt x="16763" y="29082"/>
                </a:lnTo>
                <a:lnTo>
                  <a:pt x="15748" y="0"/>
                </a:lnTo>
                <a:close/>
              </a:path>
              <a:path w="647064" h="689610">
                <a:moveTo>
                  <a:pt x="598304" y="610019"/>
                </a:moveTo>
                <a:lnTo>
                  <a:pt x="614463" y="619594"/>
                </a:lnTo>
                <a:lnTo>
                  <a:pt x="627126" y="613028"/>
                </a:lnTo>
                <a:lnTo>
                  <a:pt x="630914" y="613028"/>
                </a:lnTo>
                <a:lnTo>
                  <a:pt x="630936" y="612139"/>
                </a:lnTo>
                <a:lnTo>
                  <a:pt x="617347" y="611758"/>
                </a:lnTo>
                <a:lnTo>
                  <a:pt x="617855" y="611758"/>
                </a:lnTo>
                <a:lnTo>
                  <a:pt x="598304" y="610019"/>
                </a:lnTo>
                <a:close/>
              </a:path>
              <a:path w="647064" h="689610">
                <a:moveTo>
                  <a:pt x="529463" y="598804"/>
                </a:moveTo>
                <a:lnTo>
                  <a:pt x="529844" y="598931"/>
                </a:lnTo>
                <a:lnTo>
                  <a:pt x="530092" y="598931"/>
                </a:lnTo>
                <a:lnTo>
                  <a:pt x="529463" y="598804"/>
                </a:lnTo>
                <a:close/>
              </a:path>
              <a:path w="647064" h="689610">
                <a:moveTo>
                  <a:pt x="500506" y="591311"/>
                </a:moveTo>
                <a:lnTo>
                  <a:pt x="500888" y="591438"/>
                </a:lnTo>
                <a:lnTo>
                  <a:pt x="500506" y="591311"/>
                </a:lnTo>
                <a:close/>
              </a:path>
              <a:path w="647064" h="689610">
                <a:moveTo>
                  <a:pt x="472049" y="582371"/>
                </a:moveTo>
                <a:lnTo>
                  <a:pt x="472186" y="582421"/>
                </a:lnTo>
                <a:lnTo>
                  <a:pt x="472049" y="582371"/>
                </a:lnTo>
                <a:close/>
              </a:path>
              <a:path w="647064" h="689610">
                <a:moveTo>
                  <a:pt x="471840" y="582294"/>
                </a:moveTo>
                <a:lnTo>
                  <a:pt x="472049" y="582371"/>
                </a:lnTo>
                <a:lnTo>
                  <a:pt x="471840" y="582294"/>
                </a:lnTo>
                <a:close/>
              </a:path>
              <a:path w="647064" h="689610">
                <a:moveTo>
                  <a:pt x="443566" y="571880"/>
                </a:moveTo>
                <a:lnTo>
                  <a:pt x="443865" y="572007"/>
                </a:lnTo>
                <a:lnTo>
                  <a:pt x="443566" y="571880"/>
                </a:lnTo>
                <a:close/>
              </a:path>
              <a:path w="647064" h="689610">
                <a:moveTo>
                  <a:pt x="415544" y="559942"/>
                </a:moveTo>
                <a:lnTo>
                  <a:pt x="415798" y="560069"/>
                </a:lnTo>
                <a:lnTo>
                  <a:pt x="415544" y="559942"/>
                </a:lnTo>
                <a:close/>
              </a:path>
              <a:path w="647064" h="689610">
                <a:moveTo>
                  <a:pt x="388130" y="546734"/>
                </a:moveTo>
                <a:lnTo>
                  <a:pt x="387985" y="546734"/>
                </a:lnTo>
                <a:lnTo>
                  <a:pt x="388366" y="546861"/>
                </a:lnTo>
                <a:lnTo>
                  <a:pt x="388130" y="546734"/>
                </a:lnTo>
                <a:close/>
              </a:path>
              <a:path w="647064" h="689610">
                <a:moveTo>
                  <a:pt x="361100" y="532129"/>
                </a:moveTo>
                <a:lnTo>
                  <a:pt x="361315" y="532256"/>
                </a:lnTo>
                <a:lnTo>
                  <a:pt x="361100" y="532129"/>
                </a:lnTo>
                <a:close/>
              </a:path>
              <a:path w="647064" h="689610">
                <a:moveTo>
                  <a:pt x="334705" y="516381"/>
                </a:moveTo>
                <a:lnTo>
                  <a:pt x="334518" y="516381"/>
                </a:lnTo>
                <a:lnTo>
                  <a:pt x="334899" y="516508"/>
                </a:lnTo>
                <a:lnTo>
                  <a:pt x="334705" y="516381"/>
                </a:lnTo>
                <a:close/>
              </a:path>
              <a:path w="647064" h="689610">
                <a:moveTo>
                  <a:pt x="308737" y="499363"/>
                </a:moveTo>
                <a:lnTo>
                  <a:pt x="308991" y="499617"/>
                </a:lnTo>
                <a:lnTo>
                  <a:pt x="309124" y="499617"/>
                </a:lnTo>
                <a:lnTo>
                  <a:pt x="308737" y="499363"/>
                </a:lnTo>
                <a:close/>
              </a:path>
              <a:path w="647064" h="689610">
                <a:moveTo>
                  <a:pt x="283809" y="481329"/>
                </a:moveTo>
                <a:lnTo>
                  <a:pt x="283972" y="481456"/>
                </a:lnTo>
                <a:lnTo>
                  <a:pt x="283809" y="481329"/>
                </a:lnTo>
                <a:close/>
              </a:path>
              <a:path w="647064" h="689610">
                <a:moveTo>
                  <a:pt x="259334" y="462152"/>
                </a:moveTo>
                <a:lnTo>
                  <a:pt x="259587" y="462406"/>
                </a:lnTo>
                <a:lnTo>
                  <a:pt x="259334" y="462152"/>
                </a:lnTo>
                <a:close/>
              </a:path>
              <a:path w="647064" h="689610">
                <a:moveTo>
                  <a:pt x="235712" y="441959"/>
                </a:moveTo>
                <a:lnTo>
                  <a:pt x="235966" y="442213"/>
                </a:lnTo>
                <a:lnTo>
                  <a:pt x="235712" y="441959"/>
                </a:lnTo>
                <a:close/>
              </a:path>
              <a:path w="647064" h="689610">
                <a:moveTo>
                  <a:pt x="213028" y="420923"/>
                </a:moveTo>
                <a:lnTo>
                  <a:pt x="213232" y="421131"/>
                </a:lnTo>
                <a:lnTo>
                  <a:pt x="213028" y="420923"/>
                </a:lnTo>
                <a:close/>
              </a:path>
              <a:path w="647064" h="689610">
                <a:moveTo>
                  <a:pt x="212983" y="420877"/>
                </a:moveTo>
                <a:close/>
              </a:path>
              <a:path w="647064" h="689610">
                <a:moveTo>
                  <a:pt x="191284" y="398779"/>
                </a:moveTo>
                <a:lnTo>
                  <a:pt x="191516" y="399033"/>
                </a:lnTo>
                <a:lnTo>
                  <a:pt x="191284" y="398779"/>
                </a:lnTo>
                <a:close/>
              </a:path>
              <a:path w="647064" h="689610">
                <a:moveTo>
                  <a:pt x="170602" y="376046"/>
                </a:moveTo>
                <a:lnTo>
                  <a:pt x="170815" y="376300"/>
                </a:lnTo>
                <a:lnTo>
                  <a:pt x="170602" y="376046"/>
                </a:lnTo>
                <a:close/>
              </a:path>
              <a:path w="647064" h="689610">
                <a:moveTo>
                  <a:pt x="150875" y="352424"/>
                </a:moveTo>
                <a:lnTo>
                  <a:pt x="151003" y="352678"/>
                </a:lnTo>
                <a:lnTo>
                  <a:pt x="150875" y="352424"/>
                </a:lnTo>
                <a:close/>
              </a:path>
              <a:path w="647064" h="689610">
                <a:moveTo>
                  <a:pt x="132206" y="327913"/>
                </a:moveTo>
                <a:lnTo>
                  <a:pt x="132334" y="328167"/>
                </a:lnTo>
                <a:lnTo>
                  <a:pt x="132206" y="327913"/>
                </a:lnTo>
                <a:close/>
              </a:path>
              <a:path w="647064" h="689610">
                <a:moveTo>
                  <a:pt x="114774" y="302894"/>
                </a:moveTo>
                <a:lnTo>
                  <a:pt x="114935" y="303148"/>
                </a:lnTo>
                <a:lnTo>
                  <a:pt x="114774" y="302894"/>
                </a:lnTo>
                <a:close/>
              </a:path>
              <a:path w="647064" h="689610">
                <a:moveTo>
                  <a:pt x="98552" y="277240"/>
                </a:moveTo>
                <a:lnTo>
                  <a:pt x="98679" y="277621"/>
                </a:lnTo>
                <a:lnTo>
                  <a:pt x="98552" y="277240"/>
                </a:lnTo>
                <a:close/>
              </a:path>
              <a:path w="647064" h="689610">
                <a:moveTo>
                  <a:pt x="83566" y="251078"/>
                </a:moveTo>
                <a:lnTo>
                  <a:pt x="83693" y="251459"/>
                </a:lnTo>
                <a:lnTo>
                  <a:pt x="83566" y="251078"/>
                </a:lnTo>
                <a:close/>
              </a:path>
              <a:path w="647064" h="689610">
                <a:moveTo>
                  <a:pt x="69931" y="224408"/>
                </a:moveTo>
                <a:lnTo>
                  <a:pt x="70104" y="224789"/>
                </a:lnTo>
                <a:lnTo>
                  <a:pt x="69931" y="224408"/>
                </a:lnTo>
                <a:close/>
              </a:path>
              <a:path w="647064" h="689610">
                <a:moveTo>
                  <a:pt x="57685" y="197357"/>
                </a:moveTo>
                <a:lnTo>
                  <a:pt x="57785" y="197611"/>
                </a:lnTo>
                <a:lnTo>
                  <a:pt x="57685" y="197357"/>
                </a:lnTo>
                <a:close/>
              </a:path>
              <a:path w="647064" h="689610">
                <a:moveTo>
                  <a:pt x="46863" y="169799"/>
                </a:moveTo>
                <a:lnTo>
                  <a:pt x="46990" y="170179"/>
                </a:lnTo>
                <a:lnTo>
                  <a:pt x="46863" y="169799"/>
                </a:lnTo>
                <a:close/>
              </a:path>
              <a:path w="647064" h="689610">
                <a:moveTo>
                  <a:pt x="37615" y="141985"/>
                </a:moveTo>
                <a:lnTo>
                  <a:pt x="37718" y="142366"/>
                </a:lnTo>
                <a:lnTo>
                  <a:pt x="37615" y="141985"/>
                </a:lnTo>
                <a:close/>
              </a:path>
              <a:path w="647064" h="689610">
                <a:moveTo>
                  <a:pt x="29972" y="113918"/>
                </a:moveTo>
                <a:lnTo>
                  <a:pt x="29972" y="114299"/>
                </a:lnTo>
                <a:lnTo>
                  <a:pt x="29972" y="113918"/>
                </a:lnTo>
                <a:close/>
              </a:path>
              <a:path w="647064" h="689610">
                <a:moveTo>
                  <a:pt x="23875" y="85597"/>
                </a:moveTo>
                <a:lnTo>
                  <a:pt x="23875" y="85978"/>
                </a:lnTo>
                <a:lnTo>
                  <a:pt x="23875" y="85597"/>
                </a:lnTo>
                <a:close/>
              </a:path>
              <a:path w="647064" h="689610">
                <a:moveTo>
                  <a:pt x="19431" y="57149"/>
                </a:moveTo>
                <a:lnTo>
                  <a:pt x="19431" y="57657"/>
                </a:lnTo>
                <a:lnTo>
                  <a:pt x="19431" y="57149"/>
                </a:lnTo>
                <a:close/>
              </a:path>
              <a:path w="647064" h="689610">
                <a:moveTo>
                  <a:pt x="16763" y="28574"/>
                </a:moveTo>
                <a:lnTo>
                  <a:pt x="16763" y="29082"/>
                </a:lnTo>
                <a:lnTo>
                  <a:pt x="16763" y="28574"/>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0" name="object 34">
            <a:extLst>
              <a:ext uri="{FF2B5EF4-FFF2-40B4-BE49-F238E27FC236}">
                <a16:creationId xmlns:a16="http://schemas.microsoft.com/office/drawing/2014/main" id="{4409F8FA-2196-AC8B-3AC0-71AD6171C197}"/>
              </a:ext>
            </a:extLst>
          </p:cNvPr>
          <p:cNvSpPr txBox="1"/>
          <p:nvPr/>
        </p:nvSpPr>
        <p:spPr>
          <a:xfrm>
            <a:off x="692912" y="5960161"/>
            <a:ext cx="5114925" cy="239395"/>
          </a:xfrm>
          <a:prstGeom prst="rect">
            <a:avLst/>
          </a:prstGeom>
        </p:spPr>
        <p:txBody>
          <a:bodyPr vert="horz" wrap="square" lIns="0" tIns="12700" rIns="0" bIns="0" rtlCol="0">
            <a:spAutoFit/>
          </a:bodyPr>
          <a:lstStyle/>
          <a:p>
            <a:pPr marL="12700" rtl="0">
              <a:spcBef>
                <a:spcPts val="100"/>
              </a:spcBef>
            </a:pPr>
            <a:r>
              <a:rPr sz="1400" kern="1200" spc="-5" dirty="0">
                <a:solidFill>
                  <a:srgbClr val="7B7B7B"/>
                </a:solidFill>
                <a:latin typeface="Palatino Linotype"/>
                <a:cs typeface="Palatino Linotype"/>
              </a:rPr>
              <a:t>Suppose position, rate, </a:t>
            </a:r>
            <a:r>
              <a:rPr sz="1400" kern="1200" dirty="0">
                <a:solidFill>
                  <a:srgbClr val="7B7B7B"/>
                </a:solidFill>
                <a:latin typeface="Palatino Linotype"/>
                <a:cs typeface="Palatino Linotype"/>
              </a:rPr>
              <a:t>and initial are all floating-point</a:t>
            </a:r>
            <a:r>
              <a:rPr sz="1400" kern="1200" spc="-80" dirty="0">
                <a:solidFill>
                  <a:srgbClr val="7B7B7B"/>
                </a:solidFill>
                <a:latin typeface="Palatino Linotype"/>
                <a:cs typeface="Palatino Linotype"/>
              </a:rPr>
              <a:t> </a:t>
            </a:r>
            <a:r>
              <a:rPr sz="1400" kern="1200" dirty="0">
                <a:solidFill>
                  <a:srgbClr val="7B7B7B"/>
                </a:solidFill>
                <a:latin typeface="Palatino Linotype"/>
                <a:cs typeface="Palatino Linotype"/>
              </a:rPr>
              <a:t>numbers.</a:t>
            </a:r>
            <a:endParaRPr sz="1400"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179F00A8-A1A5-240C-2CEA-FF61B416F61D}"/>
              </a:ext>
            </a:extLst>
          </p:cNvPr>
          <p:cNvSpPr>
            <a:spLocks noGrp="1"/>
          </p:cNvSpPr>
          <p:nvPr>
            <p:ph type="sldNum" sz="quarter" idx="12"/>
          </p:nvPr>
        </p:nvSpPr>
        <p:spPr/>
        <p:txBody>
          <a:bodyPr/>
          <a:lstStyle/>
          <a:p>
            <a:pPr>
              <a:defRPr/>
            </a:pPr>
            <a:fld id="{2FBC720A-3716-234A-B2DF-CBC7E48049F5}" type="slidenum">
              <a:rPr lang="en-US" altLang="zh-CN" smtClean="0"/>
              <a:t>33</a:t>
            </a:fld>
            <a:endParaRPr lang="en-US" altLang="zh-CN"/>
          </a:p>
        </p:txBody>
      </p:sp>
    </p:spTree>
    <p:extLst>
      <p:ext uri="{BB962C8B-B14F-4D97-AF65-F5344CB8AC3E}">
        <p14:creationId xmlns:p14="http://schemas.microsoft.com/office/powerpoint/2010/main" val="4004514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1" name="object 2">
            <a:extLst>
              <a:ext uri="{FF2B5EF4-FFF2-40B4-BE49-F238E27FC236}">
                <a16:creationId xmlns:a16="http://schemas.microsoft.com/office/drawing/2014/main" id="{B824E355-A3C3-5728-F1F7-5E5F971F31F0}"/>
              </a:ext>
            </a:extLst>
          </p:cNvPr>
          <p:cNvSpPr txBox="1">
            <a:spLocks/>
          </p:cNvSpPr>
          <p:nvPr/>
        </p:nvSpPr>
        <p:spPr>
          <a:xfrm>
            <a:off x="1371091" y="310134"/>
            <a:ext cx="6400165" cy="1077595"/>
          </a:xfrm>
          <a:prstGeom prst="rect">
            <a:avLst/>
          </a:prstGeom>
        </p:spPr>
        <p:txBody>
          <a:bodyPr vert="horz" wrap="square" lIns="0" tIns="67310" rIns="0" bIns="0" rtlCol="0">
            <a:spAutoFit/>
          </a:bodyPr>
          <a:lstStyle>
            <a:lvl1pPr>
              <a:defRPr sz="3200" b="1" i="0">
                <a:solidFill>
                  <a:schemeClr val="tx1"/>
                </a:solidFill>
                <a:latin typeface="Palatino Linotype"/>
                <a:ea typeface="+mj-ea"/>
                <a:cs typeface="Palatino Linotype"/>
              </a:defRPr>
            </a:lvl1pPr>
          </a:lstStyle>
          <a:p>
            <a:pPr marL="1672589" marR="5080" lvl="0" indent="-1659889" defTabSz="914400" eaLnBrk="1" fontAlgn="auto" latinLnBrk="0" hangingPunct="1">
              <a:lnSpc>
                <a:spcPts val="3960"/>
              </a:lnSpc>
              <a:spcBef>
                <a:spcPts val="530"/>
              </a:spcBef>
              <a:spcAft>
                <a:spcPts val="0"/>
              </a:spcAft>
              <a:buClrTx/>
              <a:buSzTx/>
              <a:buFontTx/>
              <a:buNone/>
              <a:tabLst/>
              <a:defRPr/>
            </a:pPr>
            <a:r>
              <a:rPr kumimoji="0" lang="en-US" sz="3600" b="1" i="0" u="none" strike="noStrike" kern="0" cap="none" spc="-5" normalizeH="0" baseline="0" noProof="0" dirty="0">
                <a:ln>
                  <a:noFill/>
                </a:ln>
                <a:solidFill>
                  <a:sysClr val="windowText" lastClr="000000"/>
                </a:solidFill>
                <a:effectLst/>
                <a:uLnTx/>
                <a:uFillTx/>
                <a:latin typeface="Palatino Linotype"/>
                <a:ea typeface="+mj-ea"/>
              </a:rPr>
              <a:t>Intermediate Code</a:t>
            </a:r>
            <a:r>
              <a:rPr kumimoji="0" lang="en-US" sz="3600" b="1" i="0" u="none" strike="noStrike" kern="0" cap="none" spc="-5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Generation  (</a:t>
            </a:r>
            <a:r>
              <a:rPr kumimoji="0" lang="zh-CN" altLang="en-US" sz="3600" b="1" i="0" u="none" strike="noStrike" kern="0" cap="none" spc="-5" normalizeH="0" baseline="0" noProof="0" dirty="0">
                <a:ln>
                  <a:noFill/>
                </a:ln>
                <a:solidFill>
                  <a:sysClr val="windowText" lastClr="000000"/>
                </a:solidFill>
                <a:effectLst/>
                <a:uLnTx/>
                <a:uFillTx/>
                <a:latin typeface="宋体"/>
                <a:ea typeface="宋体" panose="02010600030101010101" pitchFamily="2" charset="-122"/>
                <a:cs typeface="宋体"/>
              </a:rPr>
              <a:t>中间代码生</a:t>
            </a:r>
            <a:r>
              <a:rPr kumimoji="0" lang="zh-CN" altLang="en-US" sz="3600" b="1" i="0" u="none" strike="noStrike" kern="0" cap="none" spc="-10" normalizeH="0" baseline="0" noProof="0" dirty="0">
                <a:ln>
                  <a:noFill/>
                </a:ln>
                <a:solidFill>
                  <a:sysClr val="windowText" lastClr="000000"/>
                </a:solidFill>
                <a:effectLst/>
                <a:uLnTx/>
                <a:uFillTx/>
                <a:latin typeface="宋体"/>
                <a:ea typeface="宋体" panose="02010600030101010101" pitchFamily="2" charset="-122"/>
                <a:cs typeface="宋体"/>
              </a:rPr>
              <a:t>成</a:t>
            </a:r>
            <a:r>
              <a:rPr kumimoji="0" lang="en-US" altLang="zh-CN" sz="3600" b="1" i="0" u="none" strike="noStrike" kern="0" cap="none" spc="0" normalizeH="0" baseline="0" noProof="0" dirty="0">
                <a:ln>
                  <a:noFill/>
                </a:ln>
                <a:solidFill>
                  <a:sysClr val="windowText" lastClr="000000"/>
                </a:solidFill>
                <a:effectLst/>
                <a:uLnTx/>
                <a:uFillTx/>
                <a:latin typeface="Palatino Linotype"/>
                <a:ea typeface="宋体" panose="02010600030101010101" pitchFamily="2" charset="-122"/>
              </a:rPr>
              <a:t>)</a:t>
            </a:r>
            <a:endParaRPr kumimoji="0" lang="zh-CN" altLang="en-US" sz="3600" b="1" i="0" u="none" strike="noStrike" kern="0" cap="none" spc="0" normalizeH="0" baseline="0" noProof="0" dirty="0">
              <a:ln>
                <a:noFill/>
              </a:ln>
              <a:solidFill>
                <a:sysClr val="windowText" lastClr="000000"/>
              </a:solidFill>
              <a:effectLst/>
              <a:uLnTx/>
              <a:uFillTx/>
              <a:latin typeface="宋体"/>
              <a:ea typeface="宋体" panose="02010600030101010101" pitchFamily="2" charset="-122"/>
              <a:cs typeface="宋体"/>
            </a:endParaRPr>
          </a:p>
        </p:txBody>
      </p:sp>
      <p:sp>
        <p:nvSpPr>
          <p:cNvPr id="12" name="object 3">
            <a:extLst>
              <a:ext uri="{FF2B5EF4-FFF2-40B4-BE49-F238E27FC236}">
                <a16:creationId xmlns:a16="http://schemas.microsoft.com/office/drawing/2014/main" id="{E24A16B8-D553-1908-728B-CB63FBCC93C5}"/>
              </a:ext>
            </a:extLst>
          </p:cNvPr>
          <p:cNvSpPr txBox="1"/>
          <p:nvPr/>
        </p:nvSpPr>
        <p:spPr>
          <a:xfrm>
            <a:off x="707542" y="2909469"/>
            <a:ext cx="7632700" cy="2747645"/>
          </a:xfrm>
          <a:prstGeom prst="rect">
            <a:avLst/>
          </a:prstGeom>
        </p:spPr>
        <p:txBody>
          <a:bodyPr vert="horz" wrap="square" lIns="0" tIns="7620" rIns="0" bIns="0" rtlCol="0">
            <a:spAutoFit/>
          </a:bodyPr>
          <a:lstStyle/>
          <a:p>
            <a:pPr marL="242570" marR="5080" indent="-230504" rtl="0">
              <a:lnSpc>
                <a:spcPct val="116199"/>
              </a:lnSpc>
              <a:spcBef>
                <a:spcPts val="60"/>
              </a:spcBef>
              <a:buFont typeface="Arial"/>
              <a:buChar char="•"/>
              <a:tabLst>
                <a:tab pos="242570" algn="l"/>
                <a:tab pos="243204" algn="l"/>
              </a:tabLst>
            </a:pPr>
            <a:r>
              <a:rPr sz="2200" kern="1200" spc="-5" dirty="0">
                <a:solidFill>
                  <a:prstClr val="black"/>
                </a:solidFill>
                <a:latin typeface="Palatino Linotype"/>
                <a:cs typeface="Palatino Linotype"/>
              </a:rPr>
              <a:t>After semantic analysis, compilers generate an intermediate  representation,</a:t>
            </a:r>
            <a:r>
              <a:rPr sz="2200" kern="1200" spc="-20" dirty="0">
                <a:solidFill>
                  <a:prstClr val="black"/>
                </a:solidFill>
                <a:latin typeface="Palatino Linotype"/>
                <a:cs typeface="Palatino Linotype"/>
              </a:rPr>
              <a:t> </a:t>
            </a:r>
            <a:r>
              <a:rPr sz="2200" kern="1200" spc="-10" dirty="0">
                <a:solidFill>
                  <a:prstClr val="black"/>
                </a:solidFill>
                <a:latin typeface="Palatino Linotype"/>
                <a:cs typeface="Palatino Linotype"/>
              </a:rPr>
              <a:t>typically</a:t>
            </a:r>
            <a:r>
              <a:rPr sz="2200" kern="1200" spc="15" dirty="0">
                <a:solidFill>
                  <a:prstClr val="black"/>
                </a:solidFill>
                <a:latin typeface="Palatino Linotype"/>
                <a:cs typeface="Palatino Linotype"/>
              </a:rPr>
              <a:t> </a:t>
            </a:r>
            <a:r>
              <a:rPr sz="2200" i="1" kern="1200" spc="-10" dirty="0">
                <a:solidFill>
                  <a:srgbClr val="FF0000"/>
                </a:solidFill>
                <a:latin typeface="Palatino Linotype"/>
                <a:cs typeface="Palatino Linotype"/>
              </a:rPr>
              <a:t>three-address</a:t>
            </a:r>
            <a:r>
              <a:rPr sz="2200" i="1" kern="1200" spc="-30" dirty="0">
                <a:solidFill>
                  <a:srgbClr val="FF0000"/>
                </a:solidFill>
                <a:latin typeface="Palatino Linotype"/>
                <a:cs typeface="Palatino Linotype"/>
              </a:rPr>
              <a:t> </a:t>
            </a:r>
            <a:r>
              <a:rPr sz="2200" i="1" kern="1200" spc="-5" dirty="0">
                <a:solidFill>
                  <a:srgbClr val="FF0000"/>
                </a:solidFill>
                <a:latin typeface="Palatino Linotype"/>
                <a:cs typeface="Palatino Linotype"/>
              </a:rPr>
              <a:t>code</a:t>
            </a:r>
            <a:r>
              <a:rPr sz="2200" i="1" kern="1200" spc="20" dirty="0">
                <a:solidFill>
                  <a:srgbClr val="FF0000"/>
                </a:solidFill>
                <a:latin typeface="Palatino Linotype"/>
                <a:cs typeface="Palatino Linotype"/>
              </a:rPr>
              <a:t> </a:t>
            </a:r>
            <a:r>
              <a:rPr sz="2200" i="1" kern="1200" spc="-5" dirty="0">
                <a:solidFill>
                  <a:srgbClr val="FF0000"/>
                </a:solidFill>
                <a:latin typeface="Palatino Linotype"/>
                <a:cs typeface="Palatino Linotype"/>
              </a:rPr>
              <a:t>(</a:t>
            </a:r>
            <a:r>
              <a:rPr sz="2300" i="1" kern="1200" spc="-105" dirty="0">
                <a:solidFill>
                  <a:srgbClr val="FF0000"/>
                </a:solidFill>
                <a:latin typeface="宋体"/>
                <a:cs typeface="宋体"/>
              </a:rPr>
              <a:t>三地址码</a:t>
            </a:r>
            <a:r>
              <a:rPr sz="2200" i="1" kern="1200" spc="-5" dirty="0">
                <a:solidFill>
                  <a:srgbClr val="FF0000"/>
                </a:solidFill>
                <a:latin typeface="Palatino Linotype"/>
                <a:cs typeface="Palatino Linotype"/>
              </a:rPr>
              <a:t>)</a:t>
            </a:r>
            <a:endParaRPr sz="2200" kern="1200" dirty="0">
              <a:solidFill>
                <a:prstClr val="black"/>
              </a:solidFill>
              <a:latin typeface="Palatino Linotype"/>
              <a:cs typeface="Palatino Linotype"/>
            </a:endParaRPr>
          </a:p>
          <a:p>
            <a:pPr marL="697865" lvl="1" indent="-228600" rtl="0">
              <a:spcBef>
                <a:spcPts val="1675"/>
              </a:spcBef>
              <a:buFont typeface="Wingdings"/>
              <a:buChar char=""/>
              <a:tabLst>
                <a:tab pos="698500" algn="l"/>
              </a:tabLst>
            </a:pPr>
            <a:r>
              <a:rPr kern="1200" spc="-5" dirty="0">
                <a:solidFill>
                  <a:srgbClr val="FF0000"/>
                </a:solidFill>
                <a:latin typeface="Palatino Linotype"/>
                <a:cs typeface="Palatino Linotype"/>
              </a:rPr>
              <a:t>Assembly-like instructions </a:t>
            </a:r>
            <a:r>
              <a:rPr kern="1200" dirty="0">
                <a:solidFill>
                  <a:prstClr val="black"/>
                </a:solidFill>
                <a:latin typeface="Palatino Linotype"/>
                <a:cs typeface="Palatino Linotype"/>
              </a:rPr>
              <a:t>with </a:t>
            </a:r>
            <a:r>
              <a:rPr kern="1200" spc="-5" dirty="0">
                <a:solidFill>
                  <a:prstClr val="black"/>
                </a:solidFill>
                <a:latin typeface="Palatino Linotype"/>
                <a:cs typeface="Palatino Linotype"/>
              </a:rPr>
              <a:t>three operands per</a:t>
            </a:r>
            <a:r>
              <a:rPr kern="1200" spc="60" dirty="0">
                <a:solidFill>
                  <a:prstClr val="black"/>
                </a:solidFill>
                <a:latin typeface="Palatino Linotype"/>
                <a:cs typeface="Palatino Linotype"/>
              </a:rPr>
              <a:t> </a:t>
            </a:r>
            <a:r>
              <a:rPr kern="1200" spc="-5" dirty="0">
                <a:solidFill>
                  <a:prstClr val="black"/>
                </a:solidFill>
                <a:latin typeface="Palatino Linotype"/>
                <a:cs typeface="Palatino Linotype"/>
              </a:rPr>
              <a:t>instruction</a:t>
            </a:r>
            <a:endParaRPr kern="1200" dirty="0">
              <a:solidFill>
                <a:prstClr val="black"/>
              </a:solidFill>
              <a:latin typeface="Palatino Linotype"/>
              <a:cs typeface="Palatino Linotype"/>
            </a:endParaRPr>
          </a:p>
          <a:p>
            <a:pPr marL="697865" lvl="1" indent="-228600" rtl="0">
              <a:spcBef>
                <a:spcPts val="1635"/>
              </a:spcBef>
              <a:buFont typeface="Wingdings"/>
              <a:buChar char=""/>
              <a:tabLst>
                <a:tab pos="698500" algn="l"/>
              </a:tabLst>
            </a:pPr>
            <a:r>
              <a:rPr kern="1200" dirty="0">
                <a:solidFill>
                  <a:prstClr val="black"/>
                </a:solidFill>
                <a:latin typeface="Palatino Linotype"/>
                <a:cs typeface="Palatino Linotype"/>
              </a:rPr>
              <a:t>Each </a:t>
            </a:r>
            <a:r>
              <a:rPr kern="1200" spc="-5" dirty="0">
                <a:solidFill>
                  <a:prstClr val="black"/>
                </a:solidFill>
                <a:latin typeface="Palatino Linotype"/>
                <a:cs typeface="Palatino Linotype"/>
              </a:rPr>
              <a:t>operand </a:t>
            </a:r>
            <a:r>
              <a:rPr kern="1200" dirty="0">
                <a:solidFill>
                  <a:prstClr val="black"/>
                </a:solidFill>
                <a:latin typeface="Palatino Linotype"/>
                <a:cs typeface="Palatino Linotype"/>
              </a:rPr>
              <a:t>acts like a </a:t>
            </a:r>
            <a:r>
              <a:rPr kern="1200" spc="-5" dirty="0">
                <a:solidFill>
                  <a:prstClr val="black"/>
                </a:solidFill>
                <a:latin typeface="Palatino Linotype"/>
                <a:cs typeface="Palatino Linotype"/>
              </a:rPr>
              <a:t>register</a:t>
            </a:r>
            <a:endParaRPr kern="1200" dirty="0">
              <a:solidFill>
                <a:prstClr val="black"/>
              </a:solidFill>
              <a:latin typeface="Palatino Linotype"/>
              <a:cs typeface="Palatino Linotype"/>
            </a:endParaRPr>
          </a:p>
          <a:p>
            <a:pPr marL="697865" lvl="1" indent="-228600" rtl="0">
              <a:spcBef>
                <a:spcPts val="1635"/>
              </a:spcBef>
              <a:buFont typeface="Wingdings"/>
              <a:buChar char=""/>
              <a:tabLst>
                <a:tab pos="698500" algn="l"/>
              </a:tabLst>
            </a:pPr>
            <a:r>
              <a:rPr kern="1200" dirty="0">
                <a:solidFill>
                  <a:prstClr val="black"/>
                </a:solidFill>
                <a:latin typeface="Palatino Linotype"/>
                <a:cs typeface="Palatino Linotype"/>
              </a:rPr>
              <a:t>Each </a:t>
            </a:r>
            <a:r>
              <a:rPr kern="1200" spc="-5" dirty="0">
                <a:solidFill>
                  <a:prstClr val="black"/>
                </a:solidFill>
                <a:latin typeface="Palatino Linotype"/>
                <a:cs typeface="Palatino Linotype"/>
              </a:rPr>
              <a:t>assignment instruction has </a:t>
            </a:r>
            <a:r>
              <a:rPr kern="1200" dirty="0">
                <a:solidFill>
                  <a:prstClr val="black"/>
                </a:solidFill>
                <a:latin typeface="Palatino Linotype"/>
                <a:cs typeface="Palatino Linotype"/>
              </a:rPr>
              <a:t>at most one operator on </a:t>
            </a:r>
            <a:r>
              <a:rPr kern="1200" spc="-5" dirty="0">
                <a:solidFill>
                  <a:prstClr val="black"/>
                </a:solidFill>
                <a:latin typeface="Palatino Linotype"/>
                <a:cs typeface="Palatino Linotype"/>
              </a:rPr>
              <a:t>the</a:t>
            </a:r>
            <a:r>
              <a:rPr kern="1200" spc="30" dirty="0">
                <a:solidFill>
                  <a:prstClr val="black"/>
                </a:solidFill>
                <a:latin typeface="Palatino Linotype"/>
                <a:cs typeface="Palatino Linotype"/>
              </a:rPr>
              <a:t> </a:t>
            </a:r>
            <a:r>
              <a:rPr kern="1200" dirty="0">
                <a:solidFill>
                  <a:prstClr val="black"/>
                </a:solidFill>
                <a:latin typeface="Palatino Linotype"/>
                <a:cs typeface="Palatino Linotype"/>
              </a:rPr>
              <a:t>RHS</a:t>
            </a:r>
          </a:p>
          <a:p>
            <a:pPr marL="697865" lvl="1" indent="-228600" rtl="0">
              <a:spcBef>
                <a:spcPts val="1630"/>
              </a:spcBef>
              <a:buFont typeface="Wingdings"/>
              <a:buChar char=""/>
              <a:tabLst>
                <a:tab pos="698500" algn="l"/>
              </a:tabLst>
            </a:pPr>
            <a:r>
              <a:rPr kern="1200" dirty="0">
                <a:solidFill>
                  <a:prstClr val="black"/>
                </a:solidFill>
                <a:latin typeface="Palatino Linotype"/>
                <a:cs typeface="Palatino Linotype"/>
              </a:rPr>
              <a:t>Easy </a:t>
            </a:r>
            <a:r>
              <a:rPr kern="1200" spc="-5" dirty="0">
                <a:solidFill>
                  <a:prstClr val="black"/>
                </a:solidFill>
                <a:latin typeface="Palatino Linotype"/>
                <a:cs typeface="Palatino Linotype"/>
              </a:rPr>
              <a:t>to translate into machine instructions </a:t>
            </a:r>
            <a:r>
              <a:rPr kern="1200" dirty="0">
                <a:solidFill>
                  <a:prstClr val="black"/>
                </a:solidFill>
                <a:latin typeface="Palatino Linotype"/>
                <a:cs typeface="Palatino Linotype"/>
              </a:rPr>
              <a:t>of </a:t>
            </a:r>
            <a:r>
              <a:rPr kern="1200" spc="-5" dirty="0">
                <a:solidFill>
                  <a:prstClr val="black"/>
                </a:solidFill>
                <a:latin typeface="Palatino Linotype"/>
                <a:cs typeface="Palatino Linotype"/>
              </a:rPr>
              <a:t>the target</a:t>
            </a:r>
            <a:r>
              <a:rPr kern="1200" spc="70" dirty="0">
                <a:solidFill>
                  <a:prstClr val="black"/>
                </a:solidFill>
                <a:latin typeface="Palatino Linotype"/>
                <a:cs typeface="Palatino Linotype"/>
              </a:rPr>
              <a:t> </a:t>
            </a:r>
            <a:r>
              <a:rPr kern="1200" spc="-5" dirty="0">
                <a:solidFill>
                  <a:prstClr val="black"/>
                </a:solidFill>
                <a:latin typeface="Palatino Linotype"/>
                <a:cs typeface="Palatino Linotype"/>
              </a:rPr>
              <a:t>machine</a:t>
            </a:r>
            <a:endParaRPr kern="1200" dirty="0">
              <a:solidFill>
                <a:prstClr val="black"/>
              </a:solidFill>
              <a:latin typeface="Palatino Linotype"/>
              <a:cs typeface="Palatino Linotype"/>
            </a:endParaRPr>
          </a:p>
        </p:txBody>
      </p:sp>
      <p:sp>
        <p:nvSpPr>
          <p:cNvPr id="13" name="object 4">
            <a:extLst>
              <a:ext uri="{FF2B5EF4-FFF2-40B4-BE49-F238E27FC236}">
                <a16:creationId xmlns:a16="http://schemas.microsoft.com/office/drawing/2014/main" id="{CB7DC51A-FB2A-0A32-4A57-46FFB71AF079}"/>
              </a:ext>
            </a:extLst>
          </p:cNvPr>
          <p:cNvSpPr txBox="1"/>
          <p:nvPr/>
        </p:nvSpPr>
        <p:spPr>
          <a:xfrm>
            <a:off x="718515" y="1913635"/>
            <a:ext cx="5058410" cy="299720"/>
          </a:xfrm>
          <a:prstGeom prst="rect">
            <a:avLst/>
          </a:prstGeom>
        </p:spPr>
        <p:txBody>
          <a:bodyPr vert="horz" wrap="square" lIns="0" tIns="12700" rIns="0" bIns="0" rtlCol="0">
            <a:spAutoFit/>
          </a:bodyPr>
          <a:lstStyle/>
          <a:p>
            <a:pPr marL="12700" rtl="0">
              <a:spcBef>
                <a:spcPts val="100"/>
              </a:spcBef>
              <a:tabLst>
                <a:tab pos="1958339" algn="l"/>
              </a:tabLst>
            </a:pPr>
            <a:r>
              <a:rPr kern="1200" spc="-5" dirty="0">
                <a:solidFill>
                  <a:prstClr val="black"/>
                </a:solidFill>
                <a:latin typeface="Palatino Linotype"/>
                <a:cs typeface="Palatino Linotype"/>
              </a:rPr>
              <a:t>Syntax</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tree	</a:t>
            </a:r>
            <a:endParaRPr kern="1200" dirty="0">
              <a:solidFill>
                <a:prstClr val="black"/>
              </a:solidFill>
              <a:latin typeface="Palatino Linotype"/>
              <a:cs typeface="Palatino Linotype"/>
            </a:endParaRPr>
          </a:p>
        </p:txBody>
      </p:sp>
      <p:sp>
        <p:nvSpPr>
          <p:cNvPr id="14" name="object 5">
            <a:extLst>
              <a:ext uri="{FF2B5EF4-FFF2-40B4-BE49-F238E27FC236}">
                <a16:creationId xmlns:a16="http://schemas.microsoft.com/office/drawing/2014/main" id="{069CCF48-36F8-FAB6-8168-65C40089F1D1}"/>
              </a:ext>
            </a:extLst>
          </p:cNvPr>
          <p:cNvSpPr txBox="1"/>
          <p:nvPr/>
        </p:nvSpPr>
        <p:spPr>
          <a:xfrm>
            <a:off x="6359778" y="1773428"/>
            <a:ext cx="2350770" cy="574040"/>
          </a:xfrm>
          <a:prstGeom prst="rect">
            <a:avLst/>
          </a:prstGeom>
        </p:spPr>
        <p:txBody>
          <a:bodyPr vert="horz" wrap="square" lIns="0" tIns="12700" rIns="0" bIns="0" rtlCol="0">
            <a:spAutoFit/>
          </a:bodyPr>
          <a:lstStyle/>
          <a:p>
            <a:pPr marR="44450" algn="ctr" rtl="0">
              <a:spcBef>
                <a:spcPts val="100"/>
              </a:spcBef>
            </a:pPr>
            <a:r>
              <a:rPr kern="1200" dirty="0">
                <a:solidFill>
                  <a:prstClr val="black"/>
                </a:solidFill>
                <a:latin typeface="Palatino Linotype"/>
                <a:cs typeface="Palatino Linotype"/>
              </a:rPr>
              <a:t>IR</a:t>
            </a:r>
            <a:endParaRPr kern="1200">
              <a:solidFill>
                <a:prstClr val="black"/>
              </a:solidFill>
              <a:latin typeface="Palatino Linotype"/>
              <a:cs typeface="Palatino Linotype"/>
            </a:endParaRPr>
          </a:p>
          <a:p>
            <a:pPr algn="ctr" rtl="0"/>
            <a:r>
              <a:rPr kern="1200" dirty="0">
                <a:solidFill>
                  <a:prstClr val="black"/>
                </a:solidFill>
                <a:latin typeface="Palatino Linotype"/>
                <a:cs typeface="Palatino Linotype"/>
              </a:rPr>
              <a:t>(in </a:t>
            </a:r>
            <a:r>
              <a:rPr kern="1200" spc="-5" dirty="0">
                <a:solidFill>
                  <a:prstClr val="black"/>
                </a:solidFill>
                <a:latin typeface="Palatino Linotype"/>
                <a:cs typeface="Palatino Linotype"/>
              </a:rPr>
              <a:t>three-address</a:t>
            </a:r>
            <a:r>
              <a:rPr kern="1200" spc="-35" dirty="0">
                <a:solidFill>
                  <a:prstClr val="black"/>
                </a:solidFill>
                <a:latin typeface="Palatino Linotype"/>
                <a:cs typeface="Palatino Linotype"/>
              </a:rPr>
              <a:t> </a:t>
            </a:r>
            <a:r>
              <a:rPr kern="1200" dirty="0">
                <a:solidFill>
                  <a:prstClr val="black"/>
                </a:solidFill>
                <a:latin typeface="Palatino Linotype"/>
                <a:cs typeface="Palatino Linotype"/>
              </a:rPr>
              <a:t>code)</a:t>
            </a:r>
            <a:endParaRPr kern="1200">
              <a:solidFill>
                <a:prstClr val="black"/>
              </a:solidFill>
              <a:latin typeface="Palatino Linotype"/>
              <a:cs typeface="Palatino Linotype"/>
            </a:endParaRPr>
          </a:p>
        </p:txBody>
      </p:sp>
      <p:sp>
        <p:nvSpPr>
          <p:cNvPr id="15" name="object 6">
            <a:extLst>
              <a:ext uri="{FF2B5EF4-FFF2-40B4-BE49-F238E27FC236}">
                <a16:creationId xmlns:a16="http://schemas.microsoft.com/office/drawing/2014/main" id="{1553ACBE-831C-EB71-A8C4-DF3E2AFD3163}"/>
              </a:ext>
            </a:extLst>
          </p:cNvPr>
          <p:cNvSpPr/>
          <p:nvPr/>
        </p:nvSpPr>
        <p:spPr>
          <a:xfrm>
            <a:off x="1991867" y="2027047"/>
            <a:ext cx="557530" cy="103505"/>
          </a:xfrm>
          <a:custGeom>
            <a:avLst/>
            <a:gdLst/>
            <a:ahLst/>
            <a:cxnLst/>
            <a:rect l="l" t="t" r="r" b="b"/>
            <a:pathLst>
              <a:path w="557530" h="103505">
                <a:moveTo>
                  <a:pt x="522369" y="51688"/>
                </a:moveTo>
                <a:lnTo>
                  <a:pt x="420115" y="91439"/>
                </a:lnTo>
                <a:lnTo>
                  <a:pt x="418464" y="95123"/>
                </a:lnTo>
                <a:lnTo>
                  <a:pt x="421005" y="101726"/>
                </a:lnTo>
                <a:lnTo>
                  <a:pt x="424688" y="103377"/>
                </a:lnTo>
                <a:lnTo>
                  <a:pt x="541215" y="58038"/>
                </a:lnTo>
                <a:lnTo>
                  <a:pt x="540004" y="58038"/>
                </a:lnTo>
                <a:lnTo>
                  <a:pt x="540004" y="57657"/>
                </a:lnTo>
                <a:lnTo>
                  <a:pt x="537718" y="57657"/>
                </a:lnTo>
                <a:lnTo>
                  <a:pt x="522369" y="51688"/>
                </a:lnTo>
                <a:close/>
              </a:path>
              <a:path w="557530" h="103505">
                <a:moveTo>
                  <a:pt x="506040" y="45338"/>
                </a:moveTo>
                <a:lnTo>
                  <a:pt x="0" y="45338"/>
                </a:lnTo>
                <a:lnTo>
                  <a:pt x="0" y="58038"/>
                </a:lnTo>
                <a:lnTo>
                  <a:pt x="506040" y="58038"/>
                </a:lnTo>
                <a:lnTo>
                  <a:pt x="522369" y="51688"/>
                </a:lnTo>
                <a:lnTo>
                  <a:pt x="506040" y="45338"/>
                </a:lnTo>
                <a:close/>
              </a:path>
              <a:path w="557530" h="103505">
                <a:moveTo>
                  <a:pt x="541215" y="45338"/>
                </a:moveTo>
                <a:lnTo>
                  <a:pt x="540004" y="45338"/>
                </a:lnTo>
                <a:lnTo>
                  <a:pt x="540004" y="58038"/>
                </a:lnTo>
                <a:lnTo>
                  <a:pt x="541215" y="58038"/>
                </a:lnTo>
                <a:lnTo>
                  <a:pt x="557530" y="51688"/>
                </a:lnTo>
                <a:lnTo>
                  <a:pt x="541215" y="45338"/>
                </a:lnTo>
                <a:close/>
              </a:path>
              <a:path w="557530" h="103505">
                <a:moveTo>
                  <a:pt x="537718" y="45719"/>
                </a:moveTo>
                <a:lnTo>
                  <a:pt x="522369" y="51688"/>
                </a:lnTo>
                <a:lnTo>
                  <a:pt x="537718" y="57657"/>
                </a:lnTo>
                <a:lnTo>
                  <a:pt x="537718" y="45719"/>
                </a:lnTo>
                <a:close/>
              </a:path>
              <a:path w="557530" h="103505">
                <a:moveTo>
                  <a:pt x="540004" y="45719"/>
                </a:moveTo>
                <a:lnTo>
                  <a:pt x="537718" y="45719"/>
                </a:lnTo>
                <a:lnTo>
                  <a:pt x="537718" y="57657"/>
                </a:lnTo>
                <a:lnTo>
                  <a:pt x="540004" y="57657"/>
                </a:lnTo>
                <a:lnTo>
                  <a:pt x="540004" y="45719"/>
                </a:lnTo>
                <a:close/>
              </a:path>
              <a:path w="557530" h="103505">
                <a:moveTo>
                  <a:pt x="424688" y="0"/>
                </a:moveTo>
                <a:lnTo>
                  <a:pt x="421005" y="1650"/>
                </a:lnTo>
                <a:lnTo>
                  <a:pt x="418464" y="8254"/>
                </a:lnTo>
                <a:lnTo>
                  <a:pt x="420115" y="11937"/>
                </a:lnTo>
                <a:lnTo>
                  <a:pt x="522369" y="51688"/>
                </a:lnTo>
                <a:lnTo>
                  <a:pt x="537718" y="45719"/>
                </a:lnTo>
                <a:lnTo>
                  <a:pt x="540004" y="45719"/>
                </a:lnTo>
                <a:lnTo>
                  <a:pt x="540004" y="45338"/>
                </a:lnTo>
                <a:lnTo>
                  <a:pt x="541215" y="45338"/>
                </a:lnTo>
                <a:lnTo>
                  <a:pt x="42468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7">
            <a:extLst>
              <a:ext uri="{FF2B5EF4-FFF2-40B4-BE49-F238E27FC236}">
                <a16:creationId xmlns:a16="http://schemas.microsoft.com/office/drawing/2014/main" id="{83CCDBCE-E6D5-057F-15B5-FB87A92265D4}"/>
              </a:ext>
            </a:extLst>
          </p:cNvPr>
          <p:cNvSpPr/>
          <p:nvPr/>
        </p:nvSpPr>
        <p:spPr>
          <a:xfrm>
            <a:off x="5775959" y="2027047"/>
            <a:ext cx="472440" cy="103505"/>
          </a:xfrm>
          <a:custGeom>
            <a:avLst/>
            <a:gdLst/>
            <a:ahLst/>
            <a:cxnLst/>
            <a:rect l="l" t="t" r="r" b="b"/>
            <a:pathLst>
              <a:path w="472439" h="103505">
                <a:moveTo>
                  <a:pt x="437152" y="51688"/>
                </a:moveTo>
                <a:lnTo>
                  <a:pt x="334899" y="91439"/>
                </a:lnTo>
                <a:lnTo>
                  <a:pt x="333375" y="95123"/>
                </a:lnTo>
                <a:lnTo>
                  <a:pt x="335914" y="101726"/>
                </a:lnTo>
                <a:lnTo>
                  <a:pt x="339598" y="103377"/>
                </a:lnTo>
                <a:lnTo>
                  <a:pt x="342773" y="102107"/>
                </a:lnTo>
                <a:lnTo>
                  <a:pt x="455998" y="58038"/>
                </a:lnTo>
                <a:lnTo>
                  <a:pt x="454787" y="58038"/>
                </a:lnTo>
                <a:lnTo>
                  <a:pt x="454787" y="57657"/>
                </a:lnTo>
                <a:lnTo>
                  <a:pt x="452500" y="57657"/>
                </a:lnTo>
                <a:lnTo>
                  <a:pt x="437152" y="51688"/>
                </a:lnTo>
                <a:close/>
              </a:path>
              <a:path w="472439" h="103505">
                <a:moveTo>
                  <a:pt x="420823" y="45338"/>
                </a:moveTo>
                <a:lnTo>
                  <a:pt x="0" y="45338"/>
                </a:lnTo>
                <a:lnTo>
                  <a:pt x="0" y="58038"/>
                </a:lnTo>
                <a:lnTo>
                  <a:pt x="420823" y="58038"/>
                </a:lnTo>
                <a:lnTo>
                  <a:pt x="437152" y="51688"/>
                </a:lnTo>
                <a:lnTo>
                  <a:pt x="420823" y="45338"/>
                </a:lnTo>
                <a:close/>
              </a:path>
              <a:path w="472439" h="103505">
                <a:moveTo>
                  <a:pt x="455998" y="45338"/>
                </a:moveTo>
                <a:lnTo>
                  <a:pt x="454787" y="45338"/>
                </a:lnTo>
                <a:lnTo>
                  <a:pt x="454787" y="58038"/>
                </a:lnTo>
                <a:lnTo>
                  <a:pt x="455998" y="58038"/>
                </a:lnTo>
                <a:lnTo>
                  <a:pt x="472313" y="51688"/>
                </a:lnTo>
                <a:lnTo>
                  <a:pt x="455998" y="45338"/>
                </a:lnTo>
                <a:close/>
              </a:path>
              <a:path w="472439" h="103505">
                <a:moveTo>
                  <a:pt x="452500" y="45719"/>
                </a:moveTo>
                <a:lnTo>
                  <a:pt x="437152" y="51688"/>
                </a:lnTo>
                <a:lnTo>
                  <a:pt x="452500" y="57657"/>
                </a:lnTo>
                <a:lnTo>
                  <a:pt x="452500" y="45719"/>
                </a:lnTo>
                <a:close/>
              </a:path>
              <a:path w="472439" h="103505">
                <a:moveTo>
                  <a:pt x="454787" y="45719"/>
                </a:moveTo>
                <a:lnTo>
                  <a:pt x="452500" y="45719"/>
                </a:lnTo>
                <a:lnTo>
                  <a:pt x="452500" y="57657"/>
                </a:lnTo>
                <a:lnTo>
                  <a:pt x="454787" y="57657"/>
                </a:lnTo>
                <a:lnTo>
                  <a:pt x="454787" y="45719"/>
                </a:lnTo>
                <a:close/>
              </a:path>
              <a:path w="472439" h="103505">
                <a:moveTo>
                  <a:pt x="339598" y="0"/>
                </a:moveTo>
                <a:lnTo>
                  <a:pt x="335914" y="1650"/>
                </a:lnTo>
                <a:lnTo>
                  <a:pt x="333375" y="8254"/>
                </a:lnTo>
                <a:lnTo>
                  <a:pt x="334899" y="11937"/>
                </a:lnTo>
                <a:lnTo>
                  <a:pt x="437152" y="51688"/>
                </a:lnTo>
                <a:lnTo>
                  <a:pt x="452500" y="45719"/>
                </a:lnTo>
                <a:lnTo>
                  <a:pt x="454787" y="45719"/>
                </a:lnTo>
                <a:lnTo>
                  <a:pt x="454787" y="45338"/>
                </a:lnTo>
                <a:lnTo>
                  <a:pt x="455998" y="45338"/>
                </a:lnTo>
                <a:lnTo>
                  <a:pt x="342773" y="1269"/>
                </a:lnTo>
                <a:lnTo>
                  <a:pt x="33959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object 19">
            <a:extLst>
              <a:ext uri="{FF2B5EF4-FFF2-40B4-BE49-F238E27FC236}">
                <a16:creationId xmlns:a16="http://schemas.microsoft.com/office/drawing/2014/main" id="{ECC8B9AC-A066-61BF-1957-C3DE50B4C61A}"/>
              </a:ext>
            </a:extLst>
          </p:cNvPr>
          <p:cNvSpPr txBox="1"/>
          <p:nvPr/>
        </p:nvSpPr>
        <p:spPr bwMode="auto">
          <a:xfrm>
            <a:off x="2547619" y="1861629"/>
            <a:ext cx="3228340" cy="434340"/>
          </a:xfrm>
          <a:prstGeom prst="rect">
            <a:avLst/>
          </a:prstGeom>
          <a:solidFill>
            <a:srgbClr val="FFC000"/>
          </a:solidFill>
          <a:ln w="12700">
            <a:solidFill>
              <a:srgbClr val="000000"/>
            </a:solidFill>
          </a:ln>
        </p:spPr>
        <p:txBody>
          <a:bodyPr vert="horz" wrap="square" lIns="0" tIns="65405" rIns="0" bIns="0" rtlCol="0">
            <a:spAutoFit/>
          </a:bodyPr>
          <a:lstStyle/>
          <a:p>
            <a:pPr marL="127635" rtl="0">
              <a:spcBef>
                <a:spcPts val="515"/>
              </a:spcBef>
            </a:pPr>
            <a:r>
              <a:rPr kern="1200" dirty="0">
                <a:solidFill>
                  <a:prstClr val="black"/>
                </a:solidFill>
                <a:latin typeface="Palatino Linotype"/>
                <a:cs typeface="Palatino Linotype"/>
              </a:rPr>
              <a:t>Intermediate Code</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Generator</a:t>
            </a:r>
            <a:endParaRPr kern="1200" dirty="0">
              <a:solidFill>
                <a:prstClr val="black"/>
              </a:solidFill>
              <a:latin typeface="Palatino Linotype"/>
              <a:cs typeface="Palatino Linotype"/>
            </a:endParaRPr>
          </a:p>
        </p:txBody>
      </p:sp>
      <p:sp>
        <p:nvSpPr>
          <p:cNvPr id="6" name="灯片编号占位符 5">
            <a:extLst>
              <a:ext uri="{FF2B5EF4-FFF2-40B4-BE49-F238E27FC236}">
                <a16:creationId xmlns:a16="http://schemas.microsoft.com/office/drawing/2014/main" id="{F57BEB24-A4F9-2334-DDB5-16B0A08AFB85}"/>
              </a:ext>
            </a:extLst>
          </p:cNvPr>
          <p:cNvSpPr>
            <a:spLocks noGrp="1"/>
          </p:cNvSpPr>
          <p:nvPr>
            <p:ph type="sldNum" sz="quarter" idx="12"/>
          </p:nvPr>
        </p:nvSpPr>
        <p:spPr/>
        <p:txBody>
          <a:bodyPr/>
          <a:lstStyle/>
          <a:p>
            <a:pPr>
              <a:defRPr/>
            </a:pPr>
            <a:fld id="{2FBC720A-3716-234A-B2DF-CBC7E48049F5}" type="slidenum">
              <a:rPr lang="en-US" altLang="zh-CN" smtClean="0"/>
              <a:t>34</a:t>
            </a:fld>
            <a:endParaRPr lang="en-US" altLang="zh-CN"/>
          </a:p>
        </p:txBody>
      </p:sp>
    </p:spTree>
    <p:extLst>
      <p:ext uri="{BB962C8B-B14F-4D97-AF65-F5344CB8AC3E}">
        <p14:creationId xmlns:p14="http://schemas.microsoft.com/office/powerpoint/2010/main" val="565779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5" name="object 2">
            <a:extLst>
              <a:ext uri="{FF2B5EF4-FFF2-40B4-BE49-F238E27FC236}">
                <a16:creationId xmlns:a16="http://schemas.microsoft.com/office/drawing/2014/main" id="{613A50B5-6A22-F384-93BC-C9E2D11E41B6}"/>
              </a:ext>
            </a:extLst>
          </p:cNvPr>
          <p:cNvSpPr txBox="1">
            <a:spLocks/>
          </p:cNvSpPr>
          <p:nvPr/>
        </p:nvSpPr>
        <p:spPr>
          <a:xfrm>
            <a:off x="707542" y="520141"/>
            <a:ext cx="693356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Three-Address </a:t>
            </a:r>
            <a:r>
              <a:rPr kumimoji="0" lang="en-US" sz="4000" b="1" i="0" u="none" strike="noStrike" kern="0" cap="none" spc="-10" normalizeH="0" baseline="0" noProof="0" dirty="0">
                <a:ln>
                  <a:noFill/>
                </a:ln>
                <a:solidFill>
                  <a:sysClr val="windowText" lastClr="000000"/>
                </a:solidFill>
                <a:effectLst/>
                <a:uLnTx/>
                <a:uFillTx/>
                <a:latin typeface="Palatino Linotype"/>
                <a:ea typeface="+mj-ea"/>
              </a:rPr>
              <a:t>Code</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graphicFrame>
        <p:nvGraphicFramePr>
          <p:cNvPr id="26" name="object 3">
            <a:extLst>
              <a:ext uri="{FF2B5EF4-FFF2-40B4-BE49-F238E27FC236}">
                <a16:creationId xmlns:a16="http://schemas.microsoft.com/office/drawing/2014/main" id="{607B0F66-4EBE-7C53-8571-F983CCD8B5D0}"/>
              </a:ext>
            </a:extLst>
          </p:cNvPr>
          <p:cNvGraphicFramePr>
            <a:graphicFrameLocks noGrp="1"/>
          </p:cNvGraphicFramePr>
          <p:nvPr/>
        </p:nvGraphicFramePr>
        <p:xfrm>
          <a:off x="5298947" y="4271771"/>
          <a:ext cx="2590800" cy="1709926"/>
        </p:xfrm>
        <a:graphic>
          <a:graphicData uri="http://schemas.openxmlformats.org/drawingml/2006/table">
            <a:tbl>
              <a:tblPr firstRow="1" bandRow="1"/>
              <a:tblGrid>
                <a:gridCol w="405130">
                  <a:extLst>
                    <a:ext uri="{9D8B030D-6E8A-4147-A177-3AD203B41FA5}">
                      <a16:colId xmlns:a16="http://schemas.microsoft.com/office/drawing/2014/main" val="20000"/>
                    </a:ext>
                  </a:extLst>
                </a:gridCol>
                <a:gridCol w="250825">
                  <a:extLst>
                    <a:ext uri="{9D8B030D-6E8A-4147-A177-3AD203B41FA5}">
                      <a16:colId xmlns:a16="http://schemas.microsoft.com/office/drawing/2014/main" val="20001"/>
                    </a:ext>
                  </a:extLst>
                </a:gridCol>
                <a:gridCol w="1934845">
                  <a:extLst>
                    <a:ext uri="{9D8B030D-6E8A-4147-A177-3AD203B41FA5}">
                      <a16:colId xmlns:a16="http://schemas.microsoft.com/office/drawing/2014/main" val="20002"/>
                    </a:ext>
                  </a:extLst>
                </a:gridCol>
              </a:tblGrid>
              <a:tr h="50675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4610" algn="r">
                        <a:lnSpc>
                          <a:spcPct val="100000"/>
                        </a:lnSpc>
                        <a:spcBef>
                          <a:spcPts val="1005"/>
                        </a:spcBef>
                      </a:pPr>
                      <a:r>
                        <a:rPr sz="1800" spc="-10" dirty="0">
                          <a:solidFill>
                            <a:srgbClr val="FFFFFF"/>
                          </a:solidFill>
                          <a:latin typeface="Consolas"/>
                          <a:cs typeface="Consolas"/>
                        </a:rPr>
                        <a:t>t1</a:t>
                      </a:r>
                      <a:endParaRPr sz="1800">
                        <a:latin typeface="Consolas"/>
                        <a:cs typeface="Consolas"/>
                      </a:endParaRPr>
                    </a:p>
                  </a:txBody>
                  <a:tcPr marL="0" marR="0" marT="127635" marB="0">
                    <a:lnL>
                      <a:noFill/>
                    </a:lnL>
                    <a:lnR>
                      <a:noFill/>
                    </a:lnR>
                    <a:lnT>
                      <a:noFill/>
                    </a:lnT>
                    <a:lnB>
                      <a:noFill/>
                    </a:lnB>
                    <a:lnTlToBr w="12700" cmpd="sng">
                      <a:noFill/>
                      <a:prstDash val="solid"/>
                    </a:lnTlToBr>
                    <a:lnBlToTr w="12700" cmpd="sng">
                      <a:noFill/>
                      <a:prstDash val="solid"/>
                    </a:lnBlToTr>
                    <a:solidFill>
                      <a:srgbClr val="000000"/>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5244" algn="r">
                        <a:lnSpc>
                          <a:spcPct val="100000"/>
                        </a:lnSpc>
                        <a:spcBef>
                          <a:spcPts val="1005"/>
                        </a:spcBef>
                      </a:pPr>
                      <a:r>
                        <a:rPr sz="1800" dirty="0">
                          <a:solidFill>
                            <a:srgbClr val="FFFFFF"/>
                          </a:solidFill>
                          <a:latin typeface="Consolas"/>
                          <a:cs typeface="Consolas"/>
                        </a:rPr>
                        <a:t>=</a:t>
                      </a:r>
                      <a:endParaRPr sz="1800">
                        <a:latin typeface="Consolas"/>
                        <a:cs typeface="Consolas"/>
                      </a:endParaRPr>
                    </a:p>
                  </a:txBody>
                  <a:tcPr marL="0" marR="0" marT="127635" marB="0">
                    <a:lnL>
                      <a:noFill/>
                    </a:lnL>
                    <a:lnR>
                      <a:noFill/>
                    </a:lnR>
                    <a:lnT>
                      <a:noFill/>
                    </a:lnT>
                    <a:lnB>
                      <a:noFill/>
                    </a:lnB>
                    <a:lnTlToBr w="12700" cmpd="sng">
                      <a:noFill/>
                      <a:prstDash val="solid"/>
                    </a:lnTlToBr>
                    <a:lnBlToTr w="12700" cmpd="sng">
                      <a:noFill/>
                      <a:prstDash val="solid"/>
                    </a:lnBlToTr>
                    <a:solidFill>
                      <a:srgbClr val="000000"/>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2230">
                        <a:lnSpc>
                          <a:spcPct val="100000"/>
                        </a:lnSpc>
                        <a:spcBef>
                          <a:spcPts val="1005"/>
                        </a:spcBef>
                      </a:pPr>
                      <a:r>
                        <a:rPr sz="1800" spc="-5" dirty="0">
                          <a:solidFill>
                            <a:srgbClr val="FFFFFF"/>
                          </a:solidFill>
                          <a:latin typeface="Consolas"/>
                          <a:cs typeface="Consolas"/>
                        </a:rPr>
                        <a:t>inttofloat(60)</a:t>
                      </a:r>
                      <a:endParaRPr sz="1800">
                        <a:latin typeface="Consolas"/>
                        <a:cs typeface="Consolas"/>
                      </a:endParaRPr>
                    </a:p>
                  </a:txBody>
                  <a:tcPr marL="0" marR="0" marT="127635" marB="0">
                    <a:lnL>
                      <a:noFill/>
                    </a:lnL>
                    <a:lnR>
                      <a:noFill/>
                    </a:lnR>
                    <a:lnT>
                      <a:noFill/>
                    </a:lnT>
                    <a:lnB>
                      <a:noFill/>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41160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3975" algn="r">
                        <a:lnSpc>
                          <a:spcPct val="100000"/>
                        </a:lnSpc>
                        <a:spcBef>
                          <a:spcPts val="254"/>
                        </a:spcBef>
                      </a:pPr>
                      <a:r>
                        <a:rPr sz="1800" spc="-5" dirty="0">
                          <a:solidFill>
                            <a:srgbClr val="FFFFFF"/>
                          </a:solidFill>
                          <a:latin typeface="Consolas"/>
                          <a:cs typeface="Consolas"/>
                        </a:rPr>
                        <a:t>t</a:t>
                      </a:r>
                      <a:r>
                        <a:rPr sz="1800" dirty="0">
                          <a:solidFill>
                            <a:srgbClr val="FFFFFF"/>
                          </a:solidFill>
                          <a:latin typeface="Consolas"/>
                          <a:cs typeface="Consolas"/>
                        </a:rPr>
                        <a:t>2</a:t>
                      </a:r>
                      <a:endParaRPr sz="1800">
                        <a:latin typeface="Consolas"/>
                        <a:cs typeface="Consolas"/>
                      </a:endParaRPr>
                    </a:p>
                  </a:txBody>
                  <a:tcPr marL="0" marR="0" marT="32384" marB="0">
                    <a:lnL>
                      <a:noFill/>
                    </a:lnL>
                    <a:lnR>
                      <a:noFill/>
                    </a:lnR>
                    <a:lnT>
                      <a:noFill/>
                    </a:lnT>
                    <a:lnB>
                      <a:noFill/>
                    </a:lnB>
                    <a:lnTlToBr w="12700" cmpd="sng">
                      <a:noFill/>
                      <a:prstDash val="solid"/>
                    </a:lnTlToBr>
                    <a:lnBlToTr w="12700" cmpd="sng">
                      <a:noFill/>
                      <a:prstDash val="solid"/>
                    </a:lnBlToTr>
                    <a:solidFill>
                      <a:srgbClr val="000000"/>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4610" algn="r">
                        <a:lnSpc>
                          <a:spcPct val="100000"/>
                        </a:lnSpc>
                        <a:spcBef>
                          <a:spcPts val="254"/>
                        </a:spcBef>
                      </a:pPr>
                      <a:r>
                        <a:rPr sz="1800" dirty="0">
                          <a:solidFill>
                            <a:srgbClr val="FFFFFF"/>
                          </a:solidFill>
                          <a:latin typeface="Consolas"/>
                          <a:cs typeface="Consolas"/>
                        </a:rPr>
                        <a:t>=</a:t>
                      </a:r>
                      <a:endParaRPr sz="1800">
                        <a:latin typeface="Consolas"/>
                        <a:cs typeface="Consolas"/>
                      </a:endParaRPr>
                    </a:p>
                  </a:txBody>
                  <a:tcPr marL="0" marR="0" marT="32384" marB="0">
                    <a:lnL>
                      <a:noFill/>
                    </a:lnL>
                    <a:lnR>
                      <a:noFill/>
                    </a:lnR>
                    <a:lnT>
                      <a:noFill/>
                    </a:lnT>
                    <a:lnB>
                      <a:noFill/>
                    </a:lnB>
                    <a:lnTlToBr w="12700" cmpd="sng">
                      <a:noFill/>
                      <a:prstDash val="solid"/>
                    </a:lnTlToBr>
                    <a:lnBlToTr w="12700" cmpd="sng">
                      <a:noFill/>
                      <a:prstDash val="solid"/>
                    </a:lnBlToTr>
                    <a:solidFill>
                      <a:srgbClr val="000000"/>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2230">
                        <a:lnSpc>
                          <a:spcPct val="100000"/>
                        </a:lnSpc>
                        <a:spcBef>
                          <a:spcPts val="254"/>
                        </a:spcBef>
                      </a:pPr>
                      <a:r>
                        <a:rPr sz="1800" spc="-5" dirty="0">
                          <a:solidFill>
                            <a:srgbClr val="FFFFFF"/>
                          </a:solidFill>
                          <a:latin typeface="Consolas"/>
                          <a:cs typeface="Consolas"/>
                        </a:rPr>
                        <a:t>id3 </a:t>
                      </a:r>
                      <a:r>
                        <a:rPr sz="1800" dirty="0">
                          <a:solidFill>
                            <a:srgbClr val="FFFFFF"/>
                          </a:solidFill>
                          <a:latin typeface="Consolas"/>
                          <a:cs typeface="Consolas"/>
                        </a:rPr>
                        <a:t>*</a:t>
                      </a:r>
                      <a:r>
                        <a:rPr sz="1800" spc="-40" dirty="0">
                          <a:solidFill>
                            <a:srgbClr val="FFFFFF"/>
                          </a:solidFill>
                          <a:latin typeface="Consolas"/>
                          <a:cs typeface="Consolas"/>
                        </a:rPr>
                        <a:t> </a:t>
                      </a:r>
                      <a:r>
                        <a:rPr sz="1800" dirty="0">
                          <a:solidFill>
                            <a:srgbClr val="FFFFFF"/>
                          </a:solidFill>
                          <a:latin typeface="Consolas"/>
                          <a:cs typeface="Consolas"/>
                        </a:rPr>
                        <a:t>t1</a:t>
                      </a:r>
                      <a:endParaRPr sz="1800">
                        <a:latin typeface="Consolas"/>
                        <a:cs typeface="Consolas"/>
                      </a:endParaRPr>
                    </a:p>
                  </a:txBody>
                  <a:tcPr marL="0" marR="0" marT="32384" marB="0">
                    <a:lnL>
                      <a:noFill/>
                    </a:lnL>
                    <a:lnR>
                      <a:noFill/>
                    </a:lnR>
                    <a:lnT>
                      <a:noFill/>
                    </a:lnT>
                    <a:lnB>
                      <a:noFill/>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1"/>
                  </a:ext>
                </a:extLst>
              </a:tr>
              <a:tr h="41148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3975" algn="r">
                        <a:lnSpc>
                          <a:spcPct val="100000"/>
                        </a:lnSpc>
                        <a:spcBef>
                          <a:spcPts val="254"/>
                        </a:spcBef>
                      </a:pPr>
                      <a:r>
                        <a:rPr sz="1800" spc="-5" dirty="0">
                          <a:solidFill>
                            <a:srgbClr val="FFFFFF"/>
                          </a:solidFill>
                          <a:latin typeface="Consolas"/>
                          <a:cs typeface="Consolas"/>
                        </a:rPr>
                        <a:t>t</a:t>
                      </a:r>
                      <a:r>
                        <a:rPr sz="1800" dirty="0">
                          <a:solidFill>
                            <a:srgbClr val="FFFFFF"/>
                          </a:solidFill>
                          <a:latin typeface="Consolas"/>
                          <a:cs typeface="Consolas"/>
                        </a:rPr>
                        <a:t>3</a:t>
                      </a:r>
                      <a:endParaRPr sz="1800">
                        <a:latin typeface="Consolas"/>
                        <a:cs typeface="Consolas"/>
                      </a:endParaRPr>
                    </a:p>
                  </a:txBody>
                  <a:tcPr marL="0" marR="0" marT="32384" marB="0">
                    <a:lnL>
                      <a:noFill/>
                    </a:lnL>
                    <a:lnR>
                      <a:noFill/>
                    </a:lnR>
                    <a:lnT>
                      <a:noFill/>
                    </a:lnT>
                    <a:lnB>
                      <a:noFill/>
                    </a:lnB>
                    <a:lnTlToBr w="12700" cmpd="sng">
                      <a:noFill/>
                      <a:prstDash val="solid"/>
                    </a:lnTlToBr>
                    <a:lnBlToTr w="12700" cmpd="sng">
                      <a:noFill/>
                      <a:prstDash val="solid"/>
                    </a:lnBlToTr>
                    <a:solidFill>
                      <a:srgbClr val="000000"/>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4610" algn="r">
                        <a:lnSpc>
                          <a:spcPct val="100000"/>
                        </a:lnSpc>
                        <a:spcBef>
                          <a:spcPts val="254"/>
                        </a:spcBef>
                      </a:pPr>
                      <a:r>
                        <a:rPr sz="1800" dirty="0">
                          <a:solidFill>
                            <a:srgbClr val="FFFFFF"/>
                          </a:solidFill>
                          <a:latin typeface="Consolas"/>
                          <a:cs typeface="Consolas"/>
                        </a:rPr>
                        <a:t>=</a:t>
                      </a:r>
                      <a:endParaRPr sz="1800">
                        <a:latin typeface="Consolas"/>
                        <a:cs typeface="Consolas"/>
                      </a:endParaRPr>
                    </a:p>
                  </a:txBody>
                  <a:tcPr marL="0" marR="0" marT="32384" marB="0">
                    <a:lnL>
                      <a:noFill/>
                    </a:lnL>
                    <a:lnR>
                      <a:noFill/>
                    </a:lnR>
                    <a:lnT>
                      <a:noFill/>
                    </a:lnT>
                    <a:lnB>
                      <a:noFill/>
                    </a:lnB>
                    <a:lnTlToBr w="12700" cmpd="sng">
                      <a:noFill/>
                      <a:prstDash val="solid"/>
                    </a:lnTlToBr>
                    <a:lnBlToTr w="12700" cmpd="sng">
                      <a:noFill/>
                      <a:prstDash val="solid"/>
                    </a:lnBlToTr>
                    <a:solidFill>
                      <a:srgbClr val="000000"/>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2230">
                        <a:lnSpc>
                          <a:spcPct val="100000"/>
                        </a:lnSpc>
                        <a:spcBef>
                          <a:spcPts val="254"/>
                        </a:spcBef>
                      </a:pPr>
                      <a:r>
                        <a:rPr sz="1800" spc="-5" dirty="0">
                          <a:solidFill>
                            <a:srgbClr val="FFFFFF"/>
                          </a:solidFill>
                          <a:latin typeface="Consolas"/>
                          <a:cs typeface="Consolas"/>
                        </a:rPr>
                        <a:t>id2 </a:t>
                      </a:r>
                      <a:r>
                        <a:rPr sz="1800" dirty="0">
                          <a:solidFill>
                            <a:srgbClr val="FFFFFF"/>
                          </a:solidFill>
                          <a:latin typeface="Consolas"/>
                          <a:cs typeface="Consolas"/>
                        </a:rPr>
                        <a:t>+</a:t>
                      </a:r>
                      <a:r>
                        <a:rPr sz="1800" spc="-40" dirty="0">
                          <a:solidFill>
                            <a:srgbClr val="FFFFFF"/>
                          </a:solidFill>
                          <a:latin typeface="Consolas"/>
                          <a:cs typeface="Consolas"/>
                        </a:rPr>
                        <a:t> </a:t>
                      </a:r>
                      <a:r>
                        <a:rPr sz="1800" dirty="0">
                          <a:solidFill>
                            <a:srgbClr val="FFFFFF"/>
                          </a:solidFill>
                          <a:latin typeface="Consolas"/>
                          <a:cs typeface="Consolas"/>
                        </a:rPr>
                        <a:t>t2</a:t>
                      </a:r>
                      <a:endParaRPr sz="1800">
                        <a:latin typeface="Consolas"/>
                        <a:cs typeface="Consolas"/>
                      </a:endParaRPr>
                    </a:p>
                  </a:txBody>
                  <a:tcPr marL="0" marR="0" marT="32384" marB="0">
                    <a:lnL>
                      <a:noFill/>
                    </a:lnL>
                    <a:lnR>
                      <a:noFill/>
                    </a:lnR>
                    <a:lnT>
                      <a:noFill/>
                    </a:lnT>
                    <a:lnB>
                      <a:noFill/>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2"/>
                  </a:ext>
                </a:extLst>
              </a:tr>
              <a:tr h="380087">
                <a:tc gridSpan="3">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2075">
                        <a:lnSpc>
                          <a:spcPct val="100000"/>
                        </a:lnSpc>
                        <a:spcBef>
                          <a:spcPts val="254"/>
                        </a:spcBef>
                      </a:pPr>
                      <a:r>
                        <a:rPr sz="1800" spc="-5" dirty="0">
                          <a:solidFill>
                            <a:srgbClr val="FFFFFF"/>
                          </a:solidFill>
                          <a:latin typeface="Consolas"/>
                          <a:cs typeface="Consolas"/>
                        </a:rPr>
                        <a:t>id1 </a:t>
                      </a:r>
                      <a:r>
                        <a:rPr sz="1800" dirty="0">
                          <a:solidFill>
                            <a:srgbClr val="FFFFFF"/>
                          </a:solidFill>
                          <a:latin typeface="Consolas"/>
                          <a:cs typeface="Consolas"/>
                        </a:rPr>
                        <a:t>=</a:t>
                      </a:r>
                      <a:r>
                        <a:rPr sz="1800" spc="-30" dirty="0">
                          <a:solidFill>
                            <a:srgbClr val="FFFFFF"/>
                          </a:solidFill>
                          <a:latin typeface="Consolas"/>
                          <a:cs typeface="Consolas"/>
                        </a:rPr>
                        <a:t> </a:t>
                      </a:r>
                      <a:r>
                        <a:rPr sz="1800" spc="-5" dirty="0">
                          <a:solidFill>
                            <a:srgbClr val="FFFFFF"/>
                          </a:solidFill>
                          <a:latin typeface="Consolas"/>
                          <a:cs typeface="Consolas"/>
                        </a:rPr>
                        <a:t>t3</a:t>
                      </a:r>
                      <a:endParaRPr sz="1800">
                        <a:latin typeface="Consolas"/>
                        <a:cs typeface="Consolas"/>
                      </a:endParaRPr>
                    </a:p>
                  </a:txBody>
                  <a:tcPr marL="0" marR="0" marT="32384" marB="0">
                    <a:lnL>
                      <a:noFill/>
                    </a:lnL>
                    <a:lnR>
                      <a:noFill/>
                    </a:lnR>
                    <a:lnT>
                      <a:noFill/>
                    </a:lnT>
                    <a:lnB>
                      <a:noFill/>
                    </a:lnB>
                    <a:lnTlToBr w="12700" cmpd="sng">
                      <a:noFill/>
                      <a:prstDash val="solid"/>
                    </a:lnTlToBr>
                    <a:lnBlToTr w="12700" cmpd="sng">
                      <a:noFill/>
                      <a:prstDash val="solid"/>
                    </a:lnBlToTr>
                    <a:solidFill>
                      <a:srgbClr val="000000"/>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27" name="object 4">
            <a:extLst>
              <a:ext uri="{FF2B5EF4-FFF2-40B4-BE49-F238E27FC236}">
                <a16:creationId xmlns:a16="http://schemas.microsoft.com/office/drawing/2014/main" id="{42BBC4A9-2FBC-0247-2670-E3CFDFA2F08F}"/>
              </a:ext>
            </a:extLst>
          </p:cNvPr>
          <p:cNvSpPr txBox="1"/>
          <p:nvPr/>
        </p:nvSpPr>
        <p:spPr>
          <a:xfrm>
            <a:off x="2988945" y="1622552"/>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28" name="object 5">
            <a:extLst>
              <a:ext uri="{FF2B5EF4-FFF2-40B4-BE49-F238E27FC236}">
                <a16:creationId xmlns:a16="http://schemas.microsoft.com/office/drawing/2014/main" id="{FC472DCC-A617-BB0F-3F92-2D56BA509170}"/>
              </a:ext>
            </a:extLst>
          </p:cNvPr>
          <p:cNvSpPr txBox="1"/>
          <p:nvPr/>
        </p:nvSpPr>
        <p:spPr>
          <a:xfrm>
            <a:off x="1261999" y="2012060"/>
            <a:ext cx="90233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1&gt;</a:t>
            </a:r>
            <a:endParaRPr kern="1200">
              <a:solidFill>
                <a:prstClr val="black"/>
              </a:solidFill>
              <a:latin typeface="Consolas"/>
              <a:cs typeface="Consolas"/>
            </a:endParaRPr>
          </a:p>
        </p:txBody>
      </p:sp>
      <p:sp>
        <p:nvSpPr>
          <p:cNvPr id="29" name="object 6">
            <a:extLst>
              <a:ext uri="{FF2B5EF4-FFF2-40B4-BE49-F238E27FC236}">
                <a16:creationId xmlns:a16="http://schemas.microsoft.com/office/drawing/2014/main" id="{F6620BCD-CDEA-CE6E-6CC1-6B445F634282}"/>
              </a:ext>
            </a:extLst>
          </p:cNvPr>
          <p:cNvSpPr txBox="1"/>
          <p:nvPr/>
        </p:nvSpPr>
        <p:spPr>
          <a:xfrm>
            <a:off x="4186809" y="2012060"/>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30" name="object 7">
            <a:extLst>
              <a:ext uri="{FF2B5EF4-FFF2-40B4-BE49-F238E27FC236}">
                <a16:creationId xmlns:a16="http://schemas.microsoft.com/office/drawing/2014/main" id="{5ABC4729-726F-F7FC-7826-F94F7A1A6E53}"/>
              </a:ext>
            </a:extLst>
          </p:cNvPr>
          <p:cNvSpPr txBox="1"/>
          <p:nvPr/>
        </p:nvSpPr>
        <p:spPr>
          <a:xfrm>
            <a:off x="2609214" y="2477261"/>
            <a:ext cx="90233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2&gt;</a:t>
            </a:r>
            <a:endParaRPr kern="1200">
              <a:solidFill>
                <a:prstClr val="black"/>
              </a:solidFill>
              <a:latin typeface="Consolas"/>
              <a:cs typeface="Consolas"/>
            </a:endParaRPr>
          </a:p>
        </p:txBody>
      </p:sp>
      <p:sp>
        <p:nvSpPr>
          <p:cNvPr id="31" name="object 8">
            <a:extLst>
              <a:ext uri="{FF2B5EF4-FFF2-40B4-BE49-F238E27FC236}">
                <a16:creationId xmlns:a16="http://schemas.microsoft.com/office/drawing/2014/main" id="{278BA7A4-3B69-C79A-13DA-F73BDBF65DC9}"/>
              </a:ext>
            </a:extLst>
          </p:cNvPr>
          <p:cNvSpPr txBox="1"/>
          <p:nvPr/>
        </p:nvSpPr>
        <p:spPr>
          <a:xfrm>
            <a:off x="5312409" y="2479294"/>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32" name="object 9">
            <a:extLst>
              <a:ext uri="{FF2B5EF4-FFF2-40B4-BE49-F238E27FC236}">
                <a16:creationId xmlns:a16="http://schemas.microsoft.com/office/drawing/2014/main" id="{973C7D41-1F92-C082-6EDC-D3BE5844142F}"/>
              </a:ext>
            </a:extLst>
          </p:cNvPr>
          <p:cNvSpPr txBox="1"/>
          <p:nvPr/>
        </p:nvSpPr>
        <p:spPr>
          <a:xfrm>
            <a:off x="3806697" y="2944114"/>
            <a:ext cx="90233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&lt;</a:t>
            </a:r>
            <a:r>
              <a:rPr b="1" kern="1200" spc="-10" dirty="0">
                <a:solidFill>
                  <a:prstClr val="black"/>
                </a:solidFill>
                <a:latin typeface="Consolas"/>
                <a:cs typeface="Consolas"/>
              </a:rPr>
              <a:t>id</a:t>
            </a:r>
            <a:r>
              <a:rPr kern="1200" spc="-10" dirty="0">
                <a:solidFill>
                  <a:prstClr val="black"/>
                </a:solidFill>
                <a:latin typeface="Consolas"/>
                <a:cs typeface="Consolas"/>
              </a:rPr>
              <a:t>,</a:t>
            </a:r>
            <a:r>
              <a:rPr kern="1200" spc="-85" dirty="0">
                <a:solidFill>
                  <a:prstClr val="black"/>
                </a:solidFill>
                <a:latin typeface="Consolas"/>
                <a:cs typeface="Consolas"/>
              </a:rPr>
              <a:t> </a:t>
            </a:r>
            <a:r>
              <a:rPr kern="1200" spc="-5" dirty="0">
                <a:solidFill>
                  <a:prstClr val="black"/>
                </a:solidFill>
                <a:latin typeface="Consolas"/>
                <a:cs typeface="Consolas"/>
              </a:rPr>
              <a:t>3&gt;</a:t>
            </a:r>
            <a:endParaRPr kern="1200">
              <a:solidFill>
                <a:prstClr val="black"/>
              </a:solidFill>
              <a:latin typeface="Consolas"/>
              <a:cs typeface="Consolas"/>
            </a:endParaRPr>
          </a:p>
        </p:txBody>
      </p:sp>
      <p:sp>
        <p:nvSpPr>
          <p:cNvPr id="33" name="object 10">
            <a:extLst>
              <a:ext uri="{FF2B5EF4-FFF2-40B4-BE49-F238E27FC236}">
                <a16:creationId xmlns:a16="http://schemas.microsoft.com/office/drawing/2014/main" id="{BB4C699A-1B87-9AE3-988E-46821EE2801A}"/>
              </a:ext>
            </a:extLst>
          </p:cNvPr>
          <p:cNvSpPr txBox="1"/>
          <p:nvPr/>
        </p:nvSpPr>
        <p:spPr>
          <a:xfrm>
            <a:off x="6130290" y="2944114"/>
            <a:ext cx="1278890" cy="299720"/>
          </a:xfrm>
          <a:prstGeom prst="rect">
            <a:avLst/>
          </a:prstGeom>
        </p:spPr>
        <p:txBody>
          <a:bodyPr vert="horz" wrap="square" lIns="0" tIns="12700" rIns="0" bIns="0" rtlCol="0">
            <a:spAutoFit/>
          </a:bodyPr>
          <a:lstStyle/>
          <a:p>
            <a:pPr marL="12700" rtl="0">
              <a:spcBef>
                <a:spcPts val="100"/>
              </a:spcBef>
            </a:pPr>
            <a:r>
              <a:rPr b="1" kern="1200" spc="-5" dirty="0">
                <a:solidFill>
                  <a:prstClr val="black"/>
                </a:solidFill>
                <a:latin typeface="Consolas"/>
                <a:cs typeface="Consolas"/>
              </a:rPr>
              <a:t>intt</a:t>
            </a:r>
            <a:r>
              <a:rPr b="1" kern="1200" dirty="0">
                <a:solidFill>
                  <a:prstClr val="black"/>
                </a:solidFill>
                <a:latin typeface="Consolas"/>
                <a:cs typeface="Consolas"/>
              </a:rPr>
              <a:t>o</a:t>
            </a:r>
            <a:r>
              <a:rPr b="1" kern="1200" spc="-5" dirty="0">
                <a:solidFill>
                  <a:prstClr val="black"/>
                </a:solidFill>
                <a:latin typeface="Consolas"/>
                <a:cs typeface="Consolas"/>
              </a:rPr>
              <a:t>fl</a:t>
            </a:r>
            <a:r>
              <a:rPr b="1" kern="1200" dirty="0">
                <a:solidFill>
                  <a:prstClr val="black"/>
                </a:solidFill>
                <a:latin typeface="Consolas"/>
                <a:cs typeface="Consolas"/>
              </a:rPr>
              <a:t>o</a:t>
            </a:r>
            <a:r>
              <a:rPr b="1" kern="1200" spc="-5" dirty="0">
                <a:solidFill>
                  <a:prstClr val="black"/>
                </a:solidFill>
                <a:latin typeface="Consolas"/>
                <a:cs typeface="Consolas"/>
              </a:rPr>
              <a:t>a</a:t>
            </a:r>
            <a:r>
              <a:rPr b="1" kern="1200" dirty="0">
                <a:solidFill>
                  <a:prstClr val="black"/>
                </a:solidFill>
                <a:latin typeface="Consolas"/>
                <a:cs typeface="Consolas"/>
              </a:rPr>
              <a:t>t</a:t>
            </a:r>
            <a:endParaRPr kern="1200">
              <a:solidFill>
                <a:prstClr val="black"/>
              </a:solidFill>
              <a:latin typeface="Consolas"/>
              <a:cs typeface="Consolas"/>
            </a:endParaRPr>
          </a:p>
        </p:txBody>
      </p:sp>
      <p:sp>
        <p:nvSpPr>
          <p:cNvPr id="34" name="object 11">
            <a:extLst>
              <a:ext uri="{FF2B5EF4-FFF2-40B4-BE49-F238E27FC236}">
                <a16:creationId xmlns:a16="http://schemas.microsoft.com/office/drawing/2014/main" id="{4D83B885-E972-9EFD-A0B0-0CCC20F540A0}"/>
              </a:ext>
            </a:extLst>
          </p:cNvPr>
          <p:cNvSpPr/>
          <p:nvPr/>
        </p:nvSpPr>
        <p:spPr>
          <a:xfrm>
            <a:off x="2253995" y="1972055"/>
            <a:ext cx="811530" cy="205104"/>
          </a:xfrm>
          <a:custGeom>
            <a:avLst/>
            <a:gdLst/>
            <a:ahLst/>
            <a:cxnLst/>
            <a:rect l="l" t="t" r="r" b="b"/>
            <a:pathLst>
              <a:path w="811530" h="205105">
                <a:moveTo>
                  <a:pt x="811403" y="0"/>
                </a:moveTo>
                <a:lnTo>
                  <a:pt x="0" y="204724"/>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5" name="object 12">
            <a:extLst>
              <a:ext uri="{FF2B5EF4-FFF2-40B4-BE49-F238E27FC236}">
                <a16:creationId xmlns:a16="http://schemas.microsoft.com/office/drawing/2014/main" id="{011EF559-4F6D-FF15-6645-C07C6F28CE79}"/>
              </a:ext>
            </a:extLst>
          </p:cNvPr>
          <p:cNvSpPr/>
          <p:nvPr/>
        </p:nvSpPr>
        <p:spPr>
          <a:xfrm>
            <a:off x="3064764" y="1972055"/>
            <a:ext cx="1042035" cy="205104"/>
          </a:xfrm>
          <a:custGeom>
            <a:avLst/>
            <a:gdLst/>
            <a:ahLst/>
            <a:cxnLst/>
            <a:rect l="l" t="t" r="r" b="b"/>
            <a:pathLst>
              <a:path w="1042035" h="205105">
                <a:moveTo>
                  <a:pt x="0" y="0"/>
                </a:moveTo>
                <a:lnTo>
                  <a:pt x="1041781" y="204724"/>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6" name="object 13">
            <a:extLst>
              <a:ext uri="{FF2B5EF4-FFF2-40B4-BE49-F238E27FC236}">
                <a16:creationId xmlns:a16="http://schemas.microsoft.com/office/drawing/2014/main" id="{401DCA33-B20E-D115-17EC-53A6CA230262}"/>
              </a:ext>
            </a:extLst>
          </p:cNvPr>
          <p:cNvSpPr/>
          <p:nvPr/>
        </p:nvSpPr>
        <p:spPr>
          <a:xfrm>
            <a:off x="3601211" y="2360676"/>
            <a:ext cx="662305" cy="280670"/>
          </a:xfrm>
          <a:custGeom>
            <a:avLst/>
            <a:gdLst/>
            <a:ahLst/>
            <a:cxnLst/>
            <a:rect l="l" t="t" r="r" b="b"/>
            <a:pathLst>
              <a:path w="662304" h="280669">
                <a:moveTo>
                  <a:pt x="661924" y="0"/>
                </a:moveTo>
                <a:lnTo>
                  <a:pt x="0" y="280543"/>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4">
            <a:extLst>
              <a:ext uri="{FF2B5EF4-FFF2-40B4-BE49-F238E27FC236}">
                <a16:creationId xmlns:a16="http://schemas.microsoft.com/office/drawing/2014/main" id="{7DB0C09A-2CB2-62FE-335A-973EF49EF6AD}"/>
              </a:ext>
            </a:extLst>
          </p:cNvPr>
          <p:cNvSpPr/>
          <p:nvPr/>
        </p:nvSpPr>
        <p:spPr>
          <a:xfrm>
            <a:off x="4262628" y="2360676"/>
            <a:ext cx="970280" cy="283210"/>
          </a:xfrm>
          <a:custGeom>
            <a:avLst/>
            <a:gdLst/>
            <a:ahLst/>
            <a:cxnLst/>
            <a:rect l="l" t="t" r="r" b="b"/>
            <a:pathLst>
              <a:path w="970279" h="283210">
                <a:moveTo>
                  <a:pt x="0" y="0"/>
                </a:moveTo>
                <a:lnTo>
                  <a:pt x="969899" y="282701"/>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8" name="object 15">
            <a:extLst>
              <a:ext uri="{FF2B5EF4-FFF2-40B4-BE49-F238E27FC236}">
                <a16:creationId xmlns:a16="http://schemas.microsoft.com/office/drawing/2014/main" id="{DA9ED9F5-3E67-53DE-290E-FA37CD38C07C}"/>
              </a:ext>
            </a:extLst>
          </p:cNvPr>
          <p:cNvSpPr/>
          <p:nvPr/>
        </p:nvSpPr>
        <p:spPr>
          <a:xfrm>
            <a:off x="4799076" y="2828544"/>
            <a:ext cx="590550" cy="280035"/>
          </a:xfrm>
          <a:custGeom>
            <a:avLst/>
            <a:gdLst/>
            <a:ahLst/>
            <a:cxnLst/>
            <a:rect l="l" t="t" r="r" b="b"/>
            <a:pathLst>
              <a:path w="590550" h="280035">
                <a:moveTo>
                  <a:pt x="590041" y="0"/>
                </a:moveTo>
                <a:lnTo>
                  <a:pt x="0" y="279780"/>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16">
            <a:extLst>
              <a:ext uri="{FF2B5EF4-FFF2-40B4-BE49-F238E27FC236}">
                <a16:creationId xmlns:a16="http://schemas.microsoft.com/office/drawing/2014/main" id="{D80C7CB4-D831-A3EB-568A-796943DE9329}"/>
              </a:ext>
            </a:extLst>
          </p:cNvPr>
          <p:cNvSpPr/>
          <p:nvPr/>
        </p:nvSpPr>
        <p:spPr>
          <a:xfrm>
            <a:off x="5388864" y="2828544"/>
            <a:ext cx="662305" cy="280035"/>
          </a:xfrm>
          <a:custGeom>
            <a:avLst/>
            <a:gdLst/>
            <a:ahLst/>
            <a:cxnLst/>
            <a:rect l="l" t="t" r="r" b="b"/>
            <a:pathLst>
              <a:path w="662304" h="280035">
                <a:moveTo>
                  <a:pt x="0" y="0"/>
                </a:moveTo>
                <a:lnTo>
                  <a:pt x="662051" y="279780"/>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7">
            <a:extLst>
              <a:ext uri="{FF2B5EF4-FFF2-40B4-BE49-F238E27FC236}">
                <a16:creationId xmlns:a16="http://schemas.microsoft.com/office/drawing/2014/main" id="{5955F82F-68CE-A2AE-204D-BC422F2FE5CF}"/>
              </a:ext>
            </a:extLst>
          </p:cNvPr>
          <p:cNvSpPr txBox="1"/>
          <p:nvPr/>
        </p:nvSpPr>
        <p:spPr>
          <a:xfrm>
            <a:off x="6637146" y="3548253"/>
            <a:ext cx="275590"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Consolas"/>
                <a:cs typeface="Consolas"/>
              </a:rPr>
              <a:t>60</a:t>
            </a:r>
            <a:endParaRPr kern="1200">
              <a:solidFill>
                <a:prstClr val="black"/>
              </a:solidFill>
              <a:latin typeface="Consolas"/>
              <a:cs typeface="Consolas"/>
            </a:endParaRPr>
          </a:p>
        </p:txBody>
      </p:sp>
      <p:sp>
        <p:nvSpPr>
          <p:cNvPr id="41" name="object 18">
            <a:extLst>
              <a:ext uri="{FF2B5EF4-FFF2-40B4-BE49-F238E27FC236}">
                <a16:creationId xmlns:a16="http://schemas.microsoft.com/office/drawing/2014/main" id="{B8B53E27-3FE2-67AB-9D87-CEBFD3F873D2}"/>
              </a:ext>
            </a:extLst>
          </p:cNvPr>
          <p:cNvSpPr/>
          <p:nvPr/>
        </p:nvSpPr>
        <p:spPr>
          <a:xfrm>
            <a:off x="6775704" y="3293364"/>
            <a:ext cx="0" cy="234950"/>
          </a:xfrm>
          <a:custGeom>
            <a:avLst/>
            <a:gdLst/>
            <a:ahLst/>
            <a:cxnLst/>
            <a:rect l="l" t="t" r="r" b="b"/>
            <a:pathLst>
              <a:path h="234950">
                <a:moveTo>
                  <a:pt x="0" y="0"/>
                </a:moveTo>
                <a:lnTo>
                  <a:pt x="0" y="234823"/>
                </a:lnTo>
              </a:path>
            </a:pathLst>
          </a:custGeom>
          <a:ln w="635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19">
            <a:extLst>
              <a:ext uri="{FF2B5EF4-FFF2-40B4-BE49-F238E27FC236}">
                <a16:creationId xmlns:a16="http://schemas.microsoft.com/office/drawing/2014/main" id="{4B6F3C49-8401-CE5A-4FE5-D1E52292F704}"/>
              </a:ext>
            </a:extLst>
          </p:cNvPr>
          <p:cNvSpPr txBox="1"/>
          <p:nvPr/>
        </p:nvSpPr>
        <p:spPr>
          <a:xfrm>
            <a:off x="879449" y="4335779"/>
            <a:ext cx="3228340" cy="434340"/>
          </a:xfrm>
          <a:prstGeom prst="rect">
            <a:avLst/>
          </a:prstGeom>
          <a:solidFill>
            <a:srgbClr val="FFC000"/>
          </a:solidFill>
          <a:ln w="12700">
            <a:solidFill>
              <a:srgbClr val="000000"/>
            </a:solidFill>
          </a:ln>
        </p:spPr>
        <p:txBody>
          <a:bodyPr vert="horz" wrap="square" lIns="0" tIns="65405" rIns="0" bIns="0" rtlCol="0">
            <a:spAutoFit/>
          </a:bodyPr>
          <a:lstStyle/>
          <a:p>
            <a:pPr marL="127635" rtl="0">
              <a:spcBef>
                <a:spcPts val="515"/>
              </a:spcBef>
            </a:pPr>
            <a:r>
              <a:rPr kern="1200" dirty="0">
                <a:solidFill>
                  <a:prstClr val="black"/>
                </a:solidFill>
                <a:latin typeface="Palatino Linotype"/>
                <a:cs typeface="Palatino Linotype"/>
              </a:rPr>
              <a:t>Intermediate Code</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Generator</a:t>
            </a:r>
            <a:endParaRPr kern="1200" dirty="0">
              <a:solidFill>
                <a:prstClr val="black"/>
              </a:solidFill>
              <a:latin typeface="Palatino Linotype"/>
              <a:cs typeface="Palatino Linotype"/>
            </a:endParaRPr>
          </a:p>
        </p:txBody>
      </p:sp>
      <p:sp>
        <p:nvSpPr>
          <p:cNvPr id="43" name="object 20">
            <a:extLst>
              <a:ext uri="{FF2B5EF4-FFF2-40B4-BE49-F238E27FC236}">
                <a16:creationId xmlns:a16="http://schemas.microsoft.com/office/drawing/2014/main" id="{F607D95E-C457-5BCF-02CF-64C0564C3E78}"/>
              </a:ext>
            </a:extLst>
          </p:cNvPr>
          <p:cNvSpPr/>
          <p:nvPr/>
        </p:nvSpPr>
        <p:spPr>
          <a:xfrm>
            <a:off x="2422525" y="3285490"/>
            <a:ext cx="1149350" cy="1050290"/>
          </a:xfrm>
          <a:custGeom>
            <a:avLst/>
            <a:gdLst/>
            <a:ahLst/>
            <a:cxnLst/>
            <a:rect l="l" t="t" r="r" b="b"/>
            <a:pathLst>
              <a:path w="1149350" h="1050289">
                <a:moveTo>
                  <a:pt x="9270" y="909447"/>
                </a:moveTo>
                <a:lnTo>
                  <a:pt x="5333" y="911479"/>
                </a:lnTo>
                <a:lnTo>
                  <a:pt x="1524" y="913511"/>
                </a:lnTo>
                <a:lnTo>
                  <a:pt x="0" y="918337"/>
                </a:lnTo>
                <a:lnTo>
                  <a:pt x="2031" y="922274"/>
                </a:lnTo>
                <a:lnTo>
                  <a:pt x="70612" y="1050036"/>
                </a:lnTo>
                <a:lnTo>
                  <a:pt x="79907" y="1033907"/>
                </a:lnTo>
                <a:lnTo>
                  <a:pt x="78739" y="1033907"/>
                </a:lnTo>
                <a:lnTo>
                  <a:pt x="62864" y="1033653"/>
                </a:lnTo>
                <a:lnTo>
                  <a:pt x="62992" y="1025398"/>
                </a:lnTo>
                <a:lnTo>
                  <a:pt x="63980" y="1004084"/>
                </a:lnTo>
                <a:lnTo>
                  <a:pt x="16129" y="914781"/>
                </a:lnTo>
                <a:lnTo>
                  <a:pt x="13969" y="910844"/>
                </a:lnTo>
                <a:lnTo>
                  <a:pt x="9270" y="909447"/>
                </a:lnTo>
                <a:close/>
              </a:path>
              <a:path w="1149350" h="1050289">
                <a:moveTo>
                  <a:pt x="63980" y="1004084"/>
                </a:moveTo>
                <a:lnTo>
                  <a:pt x="62986" y="1025779"/>
                </a:lnTo>
                <a:lnTo>
                  <a:pt x="62864" y="1033653"/>
                </a:lnTo>
                <a:lnTo>
                  <a:pt x="78739" y="1033907"/>
                </a:lnTo>
                <a:lnTo>
                  <a:pt x="78801" y="1029970"/>
                </a:lnTo>
                <a:lnTo>
                  <a:pt x="63881" y="1029843"/>
                </a:lnTo>
                <a:lnTo>
                  <a:pt x="71080" y="1017334"/>
                </a:lnTo>
                <a:lnTo>
                  <a:pt x="63980" y="1004084"/>
                </a:lnTo>
                <a:close/>
              </a:path>
              <a:path w="1149350" h="1050289">
                <a:moveTo>
                  <a:pt x="136270" y="911352"/>
                </a:moveTo>
                <a:lnTo>
                  <a:pt x="80109" y="1001649"/>
                </a:lnTo>
                <a:lnTo>
                  <a:pt x="78739" y="1033907"/>
                </a:lnTo>
                <a:lnTo>
                  <a:pt x="79907" y="1033907"/>
                </a:lnTo>
                <a:lnTo>
                  <a:pt x="143001" y="924433"/>
                </a:lnTo>
                <a:lnTo>
                  <a:pt x="145161" y="920623"/>
                </a:lnTo>
                <a:lnTo>
                  <a:pt x="143891" y="915797"/>
                </a:lnTo>
                <a:lnTo>
                  <a:pt x="140081" y="913511"/>
                </a:lnTo>
                <a:lnTo>
                  <a:pt x="136270" y="911352"/>
                </a:lnTo>
                <a:close/>
              </a:path>
              <a:path w="1149350" h="1050289">
                <a:moveTo>
                  <a:pt x="71080" y="1017334"/>
                </a:moveTo>
                <a:lnTo>
                  <a:pt x="63881" y="1029843"/>
                </a:lnTo>
                <a:lnTo>
                  <a:pt x="77850" y="1029970"/>
                </a:lnTo>
                <a:lnTo>
                  <a:pt x="71080" y="1017334"/>
                </a:lnTo>
                <a:close/>
              </a:path>
              <a:path w="1149350" h="1050289">
                <a:moveTo>
                  <a:pt x="80001" y="1001836"/>
                </a:moveTo>
                <a:lnTo>
                  <a:pt x="71080" y="1017334"/>
                </a:lnTo>
                <a:lnTo>
                  <a:pt x="77850" y="1029970"/>
                </a:lnTo>
                <a:lnTo>
                  <a:pt x="78801" y="1029970"/>
                </a:lnTo>
                <a:lnTo>
                  <a:pt x="78896" y="1025398"/>
                </a:lnTo>
                <a:lnTo>
                  <a:pt x="80001" y="1001836"/>
                </a:lnTo>
                <a:close/>
              </a:path>
              <a:path w="1149350" h="1050289">
                <a:moveTo>
                  <a:pt x="78867" y="1025779"/>
                </a:moveTo>
                <a:lnTo>
                  <a:pt x="78863" y="1026033"/>
                </a:lnTo>
                <a:lnTo>
                  <a:pt x="78867" y="1025779"/>
                </a:lnTo>
                <a:close/>
              </a:path>
              <a:path w="1149350" h="1050289">
                <a:moveTo>
                  <a:pt x="78878" y="1025779"/>
                </a:moveTo>
                <a:lnTo>
                  <a:pt x="78867" y="1026033"/>
                </a:lnTo>
                <a:lnTo>
                  <a:pt x="78878" y="1025779"/>
                </a:lnTo>
                <a:close/>
              </a:path>
              <a:path w="1149350" h="1050289">
                <a:moveTo>
                  <a:pt x="1149096" y="0"/>
                </a:moveTo>
                <a:lnTo>
                  <a:pt x="1098041" y="1524"/>
                </a:lnTo>
                <a:lnTo>
                  <a:pt x="1047241" y="5969"/>
                </a:lnTo>
                <a:lnTo>
                  <a:pt x="996696" y="13335"/>
                </a:lnTo>
                <a:lnTo>
                  <a:pt x="946150" y="23622"/>
                </a:lnTo>
                <a:lnTo>
                  <a:pt x="896238" y="36449"/>
                </a:lnTo>
                <a:lnTo>
                  <a:pt x="846836" y="51943"/>
                </a:lnTo>
                <a:lnTo>
                  <a:pt x="798068" y="69850"/>
                </a:lnTo>
                <a:lnTo>
                  <a:pt x="749935" y="90297"/>
                </a:lnTo>
                <a:lnTo>
                  <a:pt x="702563" y="112902"/>
                </a:lnTo>
                <a:lnTo>
                  <a:pt x="656082" y="137795"/>
                </a:lnTo>
                <a:lnTo>
                  <a:pt x="610743" y="164719"/>
                </a:lnTo>
                <a:lnTo>
                  <a:pt x="566547" y="193675"/>
                </a:lnTo>
                <a:lnTo>
                  <a:pt x="523367" y="224662"/>
                </a:lnTo>
                <a:lnTo>
                  <a:pt x="481583" y="257429"/>
                </a:lnTo>
                <a:lnTo>
                  <a:pt x="441070" y="291846"/>
                </a:lnTo>
                <a:lnTo>
                  <a:pt x="402208" y="327914"/>
                </a:lnTo>
                <a:lnTo>
                  <a:pt x="364870" y="365633"/>
                </a:lnTo>
                <a:lnTo>
                  <a:pt x="329183" y="404622"/>
                </a:lnTo>
                <a:lnTo>
                  <a:pt x="295275" y="445008"/>
                </a:lnTo>
                <a:lnTo>
                  <a:pt x="263270" y="486664"/>
                </a:lnTo>
                <a:lnTo>
                  <a:pt x="233299" y="529590"/>
                </a:lnTo>
                <a:lnTo>
                  <a:pt x="205358" y="573405"/>
                </a:lnTo>
                <a:lnTo>
                  <a:pt x="179705" y="618236"/>
                </a:lnTo>
                <a:lnTo>
                  <a:pt x="156210" y="664083"/>
                </a:lnTo>
                <a:lnTo>
                  <a:pt x="135000" y="710565"/>
                </a:lnTo>
                <a:lnTo>
                  <a:pt x="116458" y="757682"/>
                </a:lnTo>
                <a:lnTo>
                  <a:pt x="100456" y="805561"/>
                </a:lnTo>
                <a:lnTo>
                  <a:pt x="87122" y="853821"/>
                </a:lnTo>
                <a:lnTo>
                  <a:pt x="76581" y="902589"/>
                </a:lnTo>
                <a:lnTo>
                  <a:pt x="68833" y="951611"/>
                </a:lnTo>
                <a:lnTo>
                  <a:pt x="64135" y="1000760"/>
                </a:lnTo>
                <a:lnTo>
                  <a:pt x="63980" y="1004084"/>
                </a:lnTo>
                <a:lnTo>
                  <a:pt x="71080" y="1017334"/>
                </a:lnTo>
                <a:lnTo>
                  <a:pt x="79962" y="1001903"/>
                </a:lnTo>
                <a:lnTo>
                  <a:pt x="80031" y="1001649"/>
                </a:lnTo>
                <a:lnTo>
                  <a:pt x="82020" y="977773"/>
                </a:lnTo>
                <a:lnTo>
                  <a:pt x="84554" y="953643"/>
                </a:lnTo>
                <a:lnTo>
                  <a:pt x="84617" y="953389"/>
                </a:lnTo>
                <a:lnTo>
                  <a:pt x="87975" y="929513"/>
                </a:lnTo>
                <a:lnTo>
                  <a:pt x="88055" y="929259"/>
                </a:lnTo>
                <a:lnTo>
                  <a:pt x="92179" y="905510"/>
                </a:lnTo>
                <a:lnTo>
                  <a:pt x="96977" y="881634"/>
                </a:lnTo>
                <a:lnTo>
                  <a:pt x="102555" y="857758"/>
                </a:lnTo>
                <a:lnTo>
                  <a:pt x="108771" y="834009"/>
                </a:lnTo>
                <a:lnTo>
                  <a:pt x="115659" y="810260"/>
                </a:lnTo>
                <a:lnTo>
                  <a:pt x="123276" y="786638"/>
                </a:lnTo>
                <a:lnTo>
                  <a:pt x="131356" y="763270"/>
                </a:lnTo>
                <a:lnTo>
                  <a:pt x="140159" y="740029"/>
                </a:lnTo>
                <a:lnTo>
                  <a:pt x="149629" y="716915"/>
                </a:lnTo>
                <a:lnTo>
                  <a:pt x="159710" y="693801"/>
                </a:lnTo>
                <a:lnTo>
                  <a:pt x="159825" y="693674"/>
                </a:lnTo>
                <a:lnTo>
                  <a:pt x="170441" y="671068"/>
                </a:lnTo>
                <a:lnTo>
                  <a:pt x="181611" y="648462"/>
                </a:lnTo>
                <a:lnTo>
                  <a:pt x="193675" y="625729"/>
                </a:lnTo>
                <a:lnTo>
                  <a:pt x="219075" y="581533"/>
                </a:lnTo>
                <a:lnTo>
                  <a:pt x="246472" y="538480"/>
                </a:lnTo>
                <a:lnTo>
                  <a:pt x="276046" y="496189"/>
                </a:lnTo>
                <a:lnTo>
                  <a:pt x="307651" y="455168"/>
                </a:lnTo>
                <a:lnTo>
                  <a:pt x="341036" y="415163"/>
                </a:lnTo>
                <a:lnTo>
                  <a:pt x="376195" y="376682"/>
                </a:lnTo>
                <a:lnTo>
                  <a:pt x="413132" y="339471"/>
                </a:lnTo>
                <a:lnTo>
                  <a:pt x="413385" y="339217"/>
                </a:lnTo>
                <a:lnTo>
                  <a:pt x="451738" y="303657"/>
                </a:lnTo>
                <a:lnTo>
                  <a:pt x="451909" y="303657"/>
                </a:lnTo>
                <a:lnTo>
                  <a:pt x="491595" y="269748"/>
                </a:lnTo>
                <a:lnTo>
                  <a:pt x="533019" y="237236"/>
                </a:lnTo>
                <a:lnTo>
                  <a:pt x="575387" y="206883"/>
                </a:lnTo>
                <a:lnTo>
                  <a:pt x="619184" y="178308"/>
                </a:lnTo>
                <a:lnTo>
                  <a:pt x="663869" y="151637"/>
                </a:lnTo>
                <a:lnTo>
                  <a:pt x="709692" y="127126"/>
                </a:lnTo>
                <a:lnTo>
                  <a:pt x="733044" y="115570"/>
                </a:lnTo>
                <a:lnTo>
                  <a:pt x="733188" y="115570"/>
                </a:lnTo>
                <a:lnTo>
                  <a:pt x="756538" y="104648"/>
                </a:lnTo>
                <a:lnTo>
                  <a:pt x="756698" y="104648"/>
                </a:lnTo>
                <a:lnTo>
                  <a:pt x="780161" y="94234"/>
                </a:lnTo>
                <a:lnTo>
                  <a:pt x="803910" y="84582"/>
                </a:lnTo>
                <a:lnTo>
                  <a:pt x="803782" y="84582"/>
                </a:lnTo>
                <a:lnTo>
                  <a:pt x="827913" y="75437"/>
                </a:lnTo>
                <a:lnTo>
                  <a:pt x="828142" y="75437"/>
                </a:lnTo>
                <a:lnTo>
                  <a:pt x="852042" y="66929"/>
                </a:lnTo>
                <a:lnTo>
                  <a:pt x="876300" y="58927"/>
                </a:lnTo>
                <a:lnTo>
                  <a:pt x="876595" y="58927"/>
                </a:lnTo>
                <a:lnTo>
                  <a:pt x="900684" y="51688"/>
                </a:lnTo>
                <a:lnTo>
                  <a:pt x="925322" y="44958"/>
                </a:lnTo>
                <a:lnTo>
                  <a:pt x="925067" y="44958"/>
                </a:lnTo>
                <a:lnTo>
                  <a:pt x="949833" y="38988"/>
                </a:lnTo>
                <a:lnTo>
                  <a:pt x="950284" y="38988"/>
                </a:lnTo>
                <a:lnTo>
                  <a:pt x="974598" y="33655"/>
                </a:lnTo>
                <a:lnTo>
                  <a:pt x="974344" y="33655"/>
                </a:lnTo>
                <a:lnTo>
                  <a:pt x="999489" y="28956"/>
                </a:lnTo>
                <a:lnTo>
                  <a:pt x="1000017" y="28956"/>
                </a:lnTo>
                <a:lnTo>
                  <a:pt x="1024254" y="25019"/>
                </a:lnTo>
                <a:lnTo>
                  <a:pt x="1049274" y="21717"/>
                </a:lnTo>
                <a:lnTo>
                  <a:pt x="1049020" y="21717"/>
                </a:lnTo>
                <a:lnTo>
                  <a:pt x="1074292" y="19176"/>
                </a:lnTo>
                <a:lnTo>
                  <a:pt x="1074039" y="19176"/>
                </a:lnTo>
                <a:lnTo>
                  <a:pt x="1099185" y="17272"/>
                </a:lnTo>
                <a:lnTo>
                  <a:pt x="1098930" y="17272"/>
                </a:lnTo>
                <a:lnTo>
                  <a:pt x="1124330" y="16129"/>
                </a:lnTo>
                <a:lnTo>
                  <a:pt x="1124077" y="16129"/>
                </a:lnTo>
                <a:lnTo>
                  <a:pt x="1149223" y="15748"/>
                </a:lnTo>
                <a:lnTo>
                  <a:pt x="1149096" y="0"/>
                </a:lnTo>
                <a:close/>
              </a:path>
              <a:path w="1149350" h="1050289">
                <a:moveTo>
                  <a:pt x="80010" y="1001821"/>
                </a:moveTo>
                <a:close/>
              </a:path>
              <a:path w="1149350" h="1050289">
                <a:moveTo>
                  <a:pt x="80031" y="1001649"/>
                </a:moveTo>
                <a:lnTo>
                  <a:pt x="80010" y="1001821"/>
                </a:lnTo>
                <a:lnTo>
                  <a:pt x="80031" y="1001649"/>
                </a:lnTo>
                <a:close/>
              </a:path>
              <a:path w="1149350" h="1050289">
                <a:moveTo>
                  <a:pt x="82042" y="977519"/>
                </a:moveTo>
                <a:lnTo>
                  <a:pt x="81914" y="977773"/>
                </a:lnTo>
                <a:lnTo>
                  <a:pt x="82042" y="977519"/>
                </a:lnTo>
                <a:close/>
              </a:path>
              <a:path w="1149350" h="1050289">
                <a:moveTo>
                  <a:pt x="84617" y="953389"/>
                </a:moveTo>
                <a:lnTo>
                  <a:pt x="84581" y="953643"/>
                </a:lnTo>
                <a:lnTo>
                  <a:pt x="84617" y="953389"/>
                </a:lnTo>
                <a:close/>
              </a:path>
              <a:path w="1149350" h="1050289">
                <a:moveTo>
                  <a:pt x="88055" y="929259"/>
                </a:moveTo>
                <a:lnTo>
                  <a:pt x="88011" y="929513"/>
                </a:lnTo>
                <a:lnTo>
                  <a:pt x="88055" y="929259"/>
                </a:lnTo>
                <a:close/>
              </a:path>
              <a:path w="1149350" h="1050289">
                <a:moveTo>
                  <a:pt x="92227" y="905383"/>
                </a:moveTo>
                <a:close/>
              </a:path>
              <a:path w="1149350" h="1050289">
                <a:moveTo>
                  <a:pt x="97027" y="881380"/>
                </a:moveTo>
                <a:lnTo>
                  <a:pt x="96900" y="881634"/>
                </a:lnTo>
                <a:lnTo>
                  <a:pt x="97027" y="881380"/>
                </a:lnTo>
                <a:close/>
              </a:path>
              <a:path w="1149350" h="1050289">
                <a:moveTo>
                  <a:pt x="102616" y="857504"/>
                </a:moveTo>
                <a:lnTo>
                  <a:pt x="102488" y="857758"/>
                </a:lnTo>
                <a:lnTo>
                  <a:pt x="102616" y="857504"/>
                </a:lnTo>
                <a:close/>
              </a:path>
              <a:path w="1149350" h="1050289">
                <a:moveTo>
                  <a:pt x="108838" y="833755"/>
                </a:moveTo>
                <a:lnTo>
                  <a:pt x="108712" y="834009"/>
                </a:lnTo>
                <a:lnTo>
                  <a:pt x="108838" y="833755"/>
                </a:lnTo>
                <a:close/>
              </a:path>
              <a:path w="1149350" h="1050289">
                <a:moveTo>
                  <a:pt x="115737" y="810133"/>
                </a:moveTo>
                <a:close/>
              </a:path>
              <a:path w="1149350" h="1050289">
                <a:moveTo>
                  <a:pt x="123317" y="786511"/>
                </a:moveTo>
                <a:lnTo>
                  <a:pt x="123189" y="786638"/>
                </a:lnTo>
                <a:lnTo>
                  <a:pt x="123317" y="786511"/>
                </a:lnTo>
                <a:close/>
              </a:path>
              <a:path w="1149350" h="1050289">
                <a:moveTo>
                  <a:pt x="131444" y="763016"/>
                </a:moveTo>
                <a:lnTo>
                  <a:pt x="131318" y="763270"/>
                </a:lnTo>
                <a:lnTo>
                  <a:pt x="131444" y="763016"/>
                </a:lnTo>
                <a:close/>
              </a:path>
              <a:path w="1149350" h="1050289">
                <a:moveTo>
                  <a:pt x="140259" y="739902"/>
                </a:moveTo>
                <a:close/>
              </a:path>
              <a:path w="1149350" h="1050289">
                <a:moveTo>
                  <a:pt x="149732" y="716661"/>
                </a:moveTo>
                <a:lnTo>
                  <a:pt x="149606" y="716915"/>
                </a:lnTo>
                <a:lnTo>
                  <a:pt x="149732" y="716661"/>
                </a:lnTo>
                <a:close/>
              </a:path>
              <a:path w="1149350" h="1050289">
                <a:moveTo>
                  <a:pt x="159825" y="693674"/>
                </a:moveTo>
                <a:lnTo>
                  <a:pt x="159766" y="693801"/>
                </a:lnTo>
                <a:lnTo>
                  <a:pt x="159825" y="693674"/>
                </a:lnTo>
                <a:close/>
              </a:path>
              <a:path w="1149350" h="1050289">
                <a:moveTo>
                  <a:pt x="193693" y="625729"/>
                </a:moveTo>
                <a:lnTo>
                  <a:pt x="193548" y="625983"/>
                </a:lnTo>
                <a:lnTo>
                  <a:pt x="193693" y="625729"/>
                </a:lnTo>
                <a:close/>
              </a:path>
              <a:path w="1149350" h="1050289">
                <a:moveTo>
                  <a:pt x="219109" y="581533"/>
                </a:moveTo>
                <a:lnTo>
                  <a:pt x="218948" y="581787"/>
                </a:lnTo>
                <a:lnTo>
                  <a:pt x="219109" y="581533"/>
                </a:lnTo>
                <a:close/>
              </a:path>
              <a:path w="1149350" h="1050289">
                <a:moveTo>
                  <a:pt x="246633" y="538226"/>
                </a:moveTo>
                <a:lnTo>
                  <a:pt x="246380" y="538480"/>
                </a:lnTo>
                <a:lnTo>
                  <a:pt x="246633" y="538226"/>
                </a:lnTo>
                <a:close/>
              </a:path>
              <a:path w="1149350" h="1050289">
                <a:moveTo>
                  <a:pt x="276225" y="495935"/>
                </a:moveTo>
                <a:lnTo>
                  <a:pt x="275970" y="496189"/>
                </a:lnTo>
                <a:lnTo>
                  <a:pt x="276225" y="495935"/>
                </a:lnTo>
                <a:close/>
              </a:path>
              <a:path w="1149350" h="1050289">
                <a:moveTo>
                  <a:pt x="307848" y="454914"/>
                </a:moveTo>
                <a:lnTo>
                  <a:pt x="307594" y="455168"/>
                </a:lnTo>
                <a:lnTo>
                  <a:pt x="307848" y="454914"/>
                </a:lnTo>
                <a:close/>
              </a:path>
              <a:path w="1149350" h="1050289">
                <a:moveTo>
                  <a:pt x="341249" y="414909"/>
                </a:moveTo>
                <a:lnTo>
                  <a:pt x="340994" y="415163"/>
                </a:lnTo>
                <a:lnTo>
                  <a:pt x="341249" y="414909"/>
                </a:lnTo>
                <a:close/>
              </a:path>
              <a:path w="1149350" h="1050289">
                <a:moveTo>
                  <a:pt x="376427" y="376428"/>
                </a:moveTo>
                <a:lnTo>
                  <a:pt x="376174" y="376682"/>
                </a:lnTo>
                <a:lnTo>
                  <a:pt x="376427" y="376428"/>
                </a:lnTo>
                <a:close/>
              </a:path>
              <a:path w="1149350" h="1050289">
                <a:moveTo>
                  <a:pt x="413404" y="339217"/>
                </a:moveTo>
                <a:lnTo>
                  <a:pt x="413152" y="339450"/>
                </a:lnTo>
                <a:lnTo>
                  <a:pt x="413404" y="339217"/>
                </a:lnTo>
                <a:close/>
              </a:path>
              <a:path w="1149350" h="1050289">
                <a:moveTo>
                  <a:pt x="451909" y="303657"/>
                </a:moveTo>
                <a:lnTo>
                  <a:pt x="451738" y="303657"/>
                </a:lnTo>
                <a:lnTo>
                  <a:pt x="451612" y="303911"/>
                </a:lnTo>
                <a:lnTo>
                  <a:pt x="451909" y="303657"/>
                </a:lnTo>
                <a:close/>
              </a:path>
              <a:path w="1149350" h="1050289">
                <a:moveTo>
                  <a:pt x="491744" y="269621"/>
                </a:moveTo>
                <a:lnTo>
                  <a:pt x="491489" y="269748"/>
                </a:lnTo>
                <a:lnTo>
                  <a:pt x="491744" y="269621"/>
                </a:lnTo>
                <a:close/>
              </a:path>
              <a:path w="1149350" h="1050289">
                <a:moveTo>
                  <a:pt x="533118" y="237236"/>
                </a:moveTo>
                <a:lnTo>
                  <a:pt x="532764" y="237489"/>
                </a:lnTo>
                <a:lnTo>
                  <a:pt x="533118" y="237236"/>
                </a:lnTo>
                <a:close/>
              </a:path>
              <a:path w="1149350" h="1050289">
                <a:moveTo>
                  <a:pt x="575563" y="206756"/>
                </a:moveTo>
                <a:lnTo>
                  <a:pt x="575310" y="206883"/>
                </a:lnTo>
                <a:lnTo>
                  <a:pt x="575563" y="206756"/>
                </a:lnTo>
                <a:close/>
              </a:path>
              <a:path w="1149350" h="1050289">
                <a:moveTo>
                  <a:pt x="619379" y="178181"/>
                </a:moveTo>
                <a:lnTo>
                  <a:pt x="619125" y="178308"/>
                </a:lnTo>
                <a:lnTo>
                  <a:pt x="619379" y="178181"/>
                </a:lnTo>
                <a:close/>
              </a:path>
              <a:path w="1149350" h="1050289">
                <a:moveTo>
                  <a:pt x="664082" y="151511"/>
                </a:moveTo>
                <a:lnTo>
                  <a:pt x="663829" y="151637"/>
                </a:lnTo>
                <a:lnTo>
                  <a:pt x="664082" y="151511"/>
                </a:lnTo>
                <a:close/>
              </a:path>
              <a:path w="1149350" h="1050289">
                <a:moveTo>
                  <a:pt x="733188" y="115570"/>
                </a:moveTo>
                <a:lnTo>
                  <a:pt x="733044" y="115570"/>
                </a:lnTo>
                <a:lnTo>
                  <a:pt x="733188" y="115570"/>
                </a:lnTo>
                <a:close/>
              </a:path>
              <a:path w="1149350" h="1050289">
                <a:moveTo>
                  <a:pt x="756698" y="104648"/>
                </a:moveTo>
                <a:lnTo>
                  <a:pt x="756538" y="104648"/>
                </a:lnTo>
                <a:lnTo>
                  <a:pt x="756698" y="104648"/>
                </a:lnTo>
                <a:close/>
              </a:path>
              <a:path w="1149350" h="1050289">
                <a:moveTo>
                  <a:pt x="780218" y="94234"/>
                </a:moveTo>
                <a:lnTo>
                  <a:pt x="779907" y="94361"/>
                </a:lnTo>
                <a:lnTo>
                  <a:pt x="780218" y="94234"/>
                </a:lnTo>
                <a:close/>
              </a:path>
              <a:path w="1149350" h="1050289">
                <a:moveTo>
                  <a:pt x="828142" y="75437"/>
                </a:moveTo>
                <a:lnTo>
                  <a:pt x="827913" y="75437"/>
                </a:lnTo>
                <a:lnTo>
                  <a:pt x="828142" y="75437"/>
                </a:lnTo>
                <a:close/>
              </a:path>
              <a:path w="1149350" h="1050289">
                <a:moveTo>
                  <a:pt x="876595" y="58927"/>
                </a:moveTo>
                <a:lnTo>
                  <a:pt x="876300" y="58927"/>
                </a:lnTo>
                <a:lnTo>
                  <a:pt x="876173" y="59055"/>
                </a:lnTo>
                <a:lnTo>
                  <a:pt x="876595" y="58927"/>
                </a:lnTo>
                <a:close/>
              </a:path>
              <a:path w="1149350" h="1050289">
                <a:moveTo>
                  <a:pt x="950284" y="38988"/>
                </a:moveTo>
                <a:lnTo>
                  <a:pt x="949833" y="38988"/>
                </a:lnTo>
                <a:lnTo>
                  <a:pt x="949705" y="39115"/>
                </a:lnTo>
                <a:lnTo>
                  <a:pt x="950284" y="38988"/>
                </a:lnTo>
                <a:close/>
              </a:path>
              <a:path w="1149350" h="1050289">
                <a:moveTo>
                  <a:pt x="1000017" y="28956"/>
                </a:moveTo>
                <a:lnTo>
                  <a:pt x="999489" y="28956"/>
                </a:lnTo>
                <a:lnTo>
                  <a:pt x="999236" y="29083"/>
                </a:lnTo>
                <a:lnTo>
                  <a:pt x="1000017" y="28956"/>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4" name="object 21">
            <a:extLst>
              <a:ext uri="{FF2B5EF4-FFF2-40B4-BE49-F238E27FC236}">
                <a16:creationId xmlns:a16="http://schemas.microsoft.com/office/drawing/2014/main" id="{AB742023-9BCF-49BD-BD36-8AD9D8B4232C}"/>
              </a:ext>
            </a:extLst>
          </p:cNvPr>
          <p:cNvSpPr/>
          <p:nvPr/>
        </p:nvSpPr>
        <p:spPr>
          <a:xfrm>
            <a:off x="2485389" y="4769739"/>
            <a:ext cx="2313305" cy="754380"/>
          </a:xfrm>
          <a:custGeom>
            <a:avLst/>
            <a:gdLst/>
            <a:ahLst/>
            <a:cxnLst/>
            <a:rect l="l" t="t" r="r" b="b"/>
            <a:pathLst>
              <a:path w="2313304" h="754379">
                <a:moveTo>
                  <a:pt x="2266022" y="690245"/>
                </a:moveTo>
                <a:lnTo>
                  <a:pt x="2174113" y="740283"/>
                </a:lnTo>
                <a:lnTo>
                  <a:pt x="2172716" y="744982"/>
                </a:lnTo>
                <a:lnTo>
                  <a:pt x="2174875" y="748919"/>
                </a:lnTo>
                <a:lnTo>
                  <a:pt x="2176907" y="752729"/>
                </a:lnTo>
                <a:lnTo>
                  <a:pt x="2181733" y="754126"/>
                </a:lnTo>
                <a:lnTo>
                  <a:pt x="2185543" y="752094"/>
                </a:lnTo>
                <a:lnTo>
                  <a:pt x="2298805" y="690499"/>
                </a:lnTo>
                <a:lnTo>
                  <a:pt x="2296541" y="690499"/>
                </a:lnTo>
                <a:lnTo>
                  <a:pt x="2266022" y="690245"/>
                </a:lnTo>
                <a:close/>
              </a:path>
              <a:path w="2313304" h="754379">
                <a:moveTo>
                  <a:pt x="2280342" y="682451"/>
                </a:moveTo>
                <a:lnTo>
                  <a:pt x="2266022" y="690245"/>
                </a:lnTo>
                <a:lnTo>
                  <a:pt x="2296541" y="690499"/>
                </a:lnTo>
                <a:lnTo>
                  <a:pt x="2296557" y="689483"/>
                </a:lnTo>
                <a:lnTo>
                  <a:pt x="2292731" y="689483"/>
                </a:lnTo>
                <a:lnTo>
                  <a:pt x="2280342" y="682451"/>
                </a:lnTo>
                <a:close/>
              </a:path>
              <a:path w="2313304" h="754379">
                <a:moveTo>
                  <a:pt x="2183003" y="609092"/>
                </a:moveTo>
                <a:lnTo>
                  <a:pt x="2178177" y="610362"/>
                </a:lnTo>
                <a:lnTo>
                  <a:pt x="2173859" y="617982"/>
                </a:lnTo>
                <a:lnTo>
                  <a:pt x="2175256" y="622808"/>
                </a:lnTo>
                <a:lnTo>
                  <a:pt x="2266101" y="674368"/>
                </a:lnTo>
                <a:lnTo>
                  <a:pt x="2296795" y="674624"/>
                </a:lnTo>
                <a:lnTo>
                  <a:pt x="2296541" y="690499"/>
                </a:lnTo>
                <a:lnTo>
                  <a:pt x="2298805" y="690499"/>
                </a:lnTo>
                <a:lnTo>
                  <a:pt x="2313051" y="682752"/>
                </a:lnTo>
                <a:lnTo>
                  <a:pt x="2183003" y="609092"/>
                </a:lnTo>
                <a:close/>
              </a:path>
              <a:path w="2313304" h="754379">
                <a:moveTo>
                  <a:pt x="15748" y="0"/>
                </a:moveTo>
                <a:lnTo>
                  <a:pt x="0" y="762"/>
                </a:lnTo>
                <a:lnTo>
                  <a:pt x="889" y="17144"/>
                </a:lnTo>
                <a:lnTo>
                  <a:pt x="3429" y="34036"/>
                </a:lnTo>
                <a:lnTo>
                  <a:pt x="21336" y="83819"/>
                </a:lnTo>
                <a:lnTo>
                  <a:pt x="41148" y="116459"/>
                </a:lnTo>
                <a:lnTo>
                  <a:pt x="82296" y="164592"/>
                </a:lnTo>
                <a:lnTo>
                  <a:pt x="116712" y="196087"/>
                </a:lnTo>
                <a:lnTo>
                  <a:pt x="156591" y="227075"/>
                </a:lnTo>
                <a:lnTo>
                  <a:pt x="201676" y="257683"/>
                </a:lnTo>
                <a:lnTo>
                  <a:pt x="251841" y="287655"/>
                </a:lnTo>
                <a:lnTo>
                  <a:pt x="306832" y="316992"/>
                </a:lnTo>
                <a:lnTo>
                  <a:pt x="366268" y="345567"/>
                </a:lnTo>
                <a:lnTo>
                  <a:pt x="430276" y="373506"/>
                </a:lnTo>
                <a:lnTo>
                  <a:pt x="498475" y="400685"/>
                </a:lnTo>
                <a:lnTo>
                  <a:pt x="570611" y="427100"/>
                </a:lnTo>
                <a:lnTo>
                  <a:pt x="646430" y="452500"/>
                </a:lnTo>
                <a:lnTo>
                  <a:pt x="725932" y="477139"/>
                </a:lnTo>
                <a:lnTo>
                  <a:pt x="808863" y="500634"/>
                </a:lnTo>
                <a:lnTo>
                  <a:pt x="894969" y="523113"/>
                </a:lnTo>
                <a:lnTo>
                  <a:pt x="983869" y="544449"/>
                </a:lnTo>
                <a:lnTo>
                  <a:pt x="1075563" y="564642"/>
                </a:lnTo>
                <a:lnTo>
                  <a:pt x="1169797" y="583438"/>
                </a:lnTo>
                <a:lnTo>
                  <a:pt x="1266317" y="601091"/>
                </a:lnTo>
                <a:lnTo>
                  <a:pt x="1364996" y="617220"/>
                </a:lnTo>
                <a:lnTo>
                  <a:pt x="1465580" y="631952"/>
                </a:lnTo>
                <a:lnTo>
                  <a:pt x="1567814" y="645160"/>
                </a:lnTo>
                <a:lnTo>
                  <a:pt x="1671447" y="656971"/>
                </a:lnTo>
                <a:lnTo>
                  <a:pt x="1776476" y="667004"/>
                </a:lnTo>
                <a:lnTo>
                  <a:pt x="1882521" y="675386"/>
                </a:lnTo>
                <a:lnTo>
                  <a:pt x="1989455" y="681990"/>
                </a:lnTo>
                <a:lnTo>
                  <a:pt x="2096897" y="686816"/>
                </a:lnTo>
                <a:lnTo>
                  <a:pt x="2204847" y="689737"/>
                </a:lnTo>
                <a:lnTo>
                  <a:pt x="2266022" y="690245"/>
                </a:lnTo>
                <a:lnTo>
                  <a:pt x="2280342" y="682451"/>
                </a:lnTo>
                <a:lnTo>
                  <a:pt x="2266101" y="674368"/>
                </a:lnTo>
                <a:lnTo>
                  <a:pt x="2205101" y="673862"/>
                </a:lnTo>
                <a:lnTo>
                  <a:pt x="2097405" y="670941"/>
                </a:lnTo>
                <a:lnTo>
                  <a:pt x="1990217" y="666115"/>
                </a:lnTo>
                <a:lnTo>
                  <a:pt x="1883537" y="659511"/>
                </a:lnTo>
                <a:lnTo>
                  <a:pt x="1777746" y="651129"/>
                </a:lnTo>
                <a:lnTo>
                  <a:pt x="1672971" y="641096"/>
                </a:lnTo>
                <a:lnTo>
                  <a:pt x="1673225" y="641096"/>
                </a:lnTo>
                <a:lnTo>
                  <a:pt x="1569593" y="629412"/>
                </a:lnTo>
                <a:lnTo>
                  <a:pt x="1467612" y="616204"/>
                </a:lnTo>
                <a:lnTo>
                  <a:pt x="1367409" y="601599"/>
                </a:lnTo>
                <a:lnTo>
                  <a:pt x="1269753" y="585470"/>
                </a:lnTo>
                <a:lnTo>
                  <a:pt x="1269111" y="585470"/>
                </a:lnTo>
                <a:lnTo>
                  <a:pt x="1172718" y="567944"/>
                </a:lnTo>
                <a:lnTo>
                  <a:pt x="1078738" y="549021"/>
                </a:lnTo>
                <a:lnTo>
                  <a:pt x="987298" y="528955"/>
                </a:lnTo>
                <a:lnTo>
                  <a:pt x="899180" y="507746"/>
                </a:lnTo>
                <a:lnTo>
                  <a:pt x="898906" y="507746"/>
                </a:lnTo>
                <a:lnTo>
                  <a:pt x="812926" y="485394"/>
                </a:lnTo>
                <a:lnTo>
                  <a:pt x="813054" y="485394"/>
                </a:lnTo>
                <a:lnTo>
                  <a:pt x="730377" y="461899"/>
                </a:lnTo>
                <a:lnTo>
                  <a:pt x="730631" y="461899"/>
                </a:lnTo>
                <a:lnTo>
                  <a:pt x="651667" y="437515"/>
                </a:lnTo>
                <a:lnTo>
                  <a:pt x="651383" y="437515"/>
                </a:lnTo>
                <a:lnTo>
                  <a:pt x="575691" y="412115"/>
                </a:lnTo>
                <a:lnTo>
                  <a:pt x="575945" y="412115"/>
                </a:lnTo>
                <a:lnTo>
                  <a:pt x="504283" y="385953"/>
                </a:lnTo>
                <a:lnTo>
                  <a:pt x="436245" y="358902"/>
                </a:lnTo>
                <a:lnTo>
                  <a:pt x="436499" y="358902"/>
                </a:lnTo>
                <a:lnTo>
                  <a:pt x="373162" y="331216"/>
                </a:lnTo>
                <a:lnTo>
                  <a:pt x="314344" y="302894"/>
                </a:lnTo>
                <a:lnTo>
                  <a:pt x="314071" y="302894"/>
                </a:lnTo>
                <a:lnTo>
                  <a:pt x="259935" y="273938"/>
                </a:lnTo>
                <a:lnTo>
                  <a:pt x="210058" y="244221"/>
                </a:lnTo>
                <a:lnTo>
                  <a:pt x="210251" y="244221"/>
                </a:lnTo>
                <a:lnTo>
                  <a:pt x="165735" y="214122"/>
                </a:lnTo>
                <a:lnTo>
                  <a:pt x="126746" y="183769"/>
                </a:lnTo>
                <a:lnTo>
                  <a:pt x="93775" y="153669"/>
                </a:lnTo>
                <a:lnTo>
                  <a:pt x="93218" y="153162"/>
                </a:lnTo>
                <a:lnTo>
                  <a:pt x="65532" y="122300"/>
                </a:lnTo>
                <a:lnTo>
                  <a:pt x="53975" y="107061"/>
                </a:lnTo>
                <a:lnTo>
                  <a:pt x="43942" y="91693"/>
                </a:lnTo>
                <a:lnTo>
                  <a:pt x="35715" y="76835"/>
                </a:lnTo>
                <a:lnTo>
                  <a:pt x="28615" y="61594"/>
                </a:lnTo>
                <a:lnTo>
                  <a:pt x="28422" y="61214"/>
                </a:lnTo>
                <a:lnTo>
                  <a:pt x="28348" y="60960"/>
                </a:lnTo>
                <a:lnTo>
                  <a:pt x="22860" y="45593"/>
                </a:lnTo>
                <a:lnTo>
                  <a:pt x="19124" y="31115"/>
                </a:lnTo>
                <a:lnTo>
                  <a:pt x="16771" y="16002"/>
                </a:lnTo>
                <a:lnTo>
                  <a:pt x="16637" y="16002"/>
                </a:lnTo>
                <a:lnTo>
                  <a:pt x="15748" y="0"/>
                </a:lnTo>
                <a:close/>
              </a:path>
              <a:path w="2313304" h="754379">
                <a:moveTo>
                  <a:pt x="2292858" y="675640"/>
                </a:moveTo>
                <a:lnTo>
                  <a:pt x="2280342" y="682451"/>
                </a:lnTo>
                <a:lnTo>
                  <a:pt x="2292731" y="689483"/>
                </a:lnTo>
                <a:lnTo>
                  <a:pt x="2292858" y="675640"/>
                </a:lnTo>
                <a:close/>
              </a:path>
              <a:path w="2313304" h="754379">
                <a:moveTo>
                  <a:pt x="2296778" y="675640"/>
                </a:moveTo>
                <a:lnTo>
                  <a:pt x="2292858" y="675640"/>
                </a:lnTo>
                <a:lnTo>
                  <a:pt x="2292731" y="689483"/>
                </a:lnTo>
                <a:lnTo>
                  <a:pt x="2296557" y="689483"/>
                </a:lnTo>
                <a:lnTo>
                  <a:pt x="2296778" y="675640"/>
                </a:lnTo>
                <a:close/>
              </a:path>
              <a:path w="2313304" h="754379">
                <a:moveTo>
                  <a:pt x="2266101" y="674368"/>
                </a:moveTo>
                <a:lnTo>
                  <a:pt x="2280342" y="682451"/>
                </a:lnTo>
                <a:lnTo>
                  <a:pt x="2292858" y="675640"/>
                </a:lnTo>
                <a:lnTo>
                  <a:pt x="2296778" y="675640"/>
                </a:lnTo>
                <a:lnTo>
                  <a:pt x="2296795" y="674624"/>
                </a:lnTo>
                <a:lnTo>
                  <a:pt x="2266101" y="674368"/>
                </a:lnTo>
                <a:close/>
              </a:path>
              <a:path w="2313304" h="754379">
                <a:moveTo>
                  <a:pt x="1268984" y="585343"/>
                </a:moveTo>
                <a:lnTo>
                  <a:pt x="1269111" y="585470"/>
                </a:lnTo>
                <a:lnTo>
                  <a:pt x="1269753" y="585470"/>
                </a:lnTo>
                <a:lnTo>
                  <a:pt x="1268984" y="585343"/>
                </a:lnTo>
                <a:close/>
              </a:path>
              <a:path w="2313304" h="754379">
                <a:moveTo>
                  <a:pt x="898651" y="507619"/>
                </a:moveTo>
                <a:lnTo>
                  <a:pt x="898906" y="507746"/>
                </a:lnTo>
                <a:lnTo>
                  <a:pt x="899180" y="507746"/>
                </a:lnTo>
                <a:lnTo>
                  <a:pt x="898651" y="507619"/>
                </a:lnTo>
                <a:close/>
              </a:path>
              <a:path w="2313304" h="754379">
                <a:moveTo>
                  <a:pt x="651256" y="437388"/>
                </a:moveTo>
                <a:lnTo>
                  <a:pt x="651383" y="437515"/>
                </a:lnTo>
                <a:lnTo>
                  <a:pt x="651667" y="437515"/>
                </a:lnTo>
                <a:lnTo>
                  <a:pt x="651256" y="437388"/>
                </a:lnTo>
                <a:close/>
              </a:path>
              <a:path w="2313304" h="754379">
                <a:moveTo>
                  <a:pt x="503936" y="385825"/>
                </a:moveTo>
                <a:lnTo>
                  <a:pt x="504190" y="385953"/>
                </a:lnTo>
                <a:lnTo>
                  <a:pt x="503936" y="385825"/>
                </a:lnTo>
                <a:close/>
              </a:path>
              <a:path w="2313304" h="754379">
                <a:moveTo>
                  <a:pt x="372872" y="331088"/>
                </a:moveTo>
                <a:lnTo>
                  <a:pt x="373126" y="331216"/>
                </a:lnTo>
                <a:lnTo>
                  <a:pt x="372872" y="331088"/>
                </a:lnTo>
                <a:close/>
              </a:path>
              <a:path w="2313304" h="754379">
                <a:moveTo>
                  <a:pt x="313817" y="302641"/>
                </a:moveTo>
                <a:lnTo>
                  <a:pt x="314071" y="302894"/>
                </a:lnTo>
                <a:lnTo>
                  <a:pt x="314344" y="302894"/>
                </a:lnTo>
                <a:lnTo>
                  <a:pt x="313817" y="302641"/>
                </a:lnTo>
                <a:close/>
              </a:path>
              <a:path w="2313304" h="754379">
                <a:moveTo>
                  <a:pt x="259461" y="273685"/>
                </a:moveTo>
                <a:lnTo>
                  <a:pt x="259842" y="273938"/>
                </a:lnTo>
                <a:lnTo>
                  <a:pt x="259461" y="273685"/>
                </a:lnTo>
                <a:close/>
              </a:path>
              <a:path w="2313304" h="754379">
                <a:moveTo>
                  <a:pt x="210251" y="244221"/>
                </a:moveTo>
                <a:lnTo>
                  <a:pt x="210058" y="244221"/>
                </a:lnTo>
                <a:lnTo>
                  <a:pt x="210439" y="244348"/>
                </a:lnTo>
                <a:lnTo>
                  <a:pt x="210251" y="244221"/>
                </a:lnTo>
                <a:close/>
              </a:path>
              <a:path w="2313304" h="754379">
                <a:moveTo>
                  <a:pt x="165789" y="214122"/>
                </a:moveTo>
                <a:lnTo>
                  <a:pt x="166116" y="214375"/>
                </a:lnTo>
                <a:lnTo>
                  <a:pt x="165789" y="214122"/>
                </a:lnTo>
                <a:close/>
              </a:path>
              <a:path w="2313304" h="754379">
                <a:moveTo>
                  <a:pt x="126835" y="183769"/>
                </a:moveTo>
                <a:lnTo>
                  <a:pt x="127254" y="184150"/>
                </a:lnTo>
                <a:lnTo>
                  <a:pt x="126835" y="183769"/>
                </a:lnTo>
                <a:close/>
              </a:path>
              <a:path w="2313304" h="754379">
                <a:moveTo>
                  <a:pt x="93218" y="153162"/>
                </a:moveTo>
                <a:lnTo>
                  <a:pt x="93726" y="153669"/>
                </a:lnTo>
                <a:lnTo>
                  <a:pt x="93500" y="153419"/>
                </a:lnTo>
                <a:lnTo>
                  <a:pt x="93218" y="153162"/>
                </a:lnTo>
                <a:close/>
              </a:path>
              <a:path w="2313304" h="754379">
                <a:moveTo>
                  <a:pt x="93500" y="153419"/>
                </a:moveTo>
                <a:lnTo>
                  <a:pt x="93726" y="153669"/>
                </a:lnTo>
                <a:lnTo>
                  <a:pt x="93500" y="153419"/>
                </a:lnTo>
                <a:close/>
              </a:path>
              <a:path w="2313304" h="754379">
                <a:moveTo>
                  <a:pt x="93269" y="153162"/>
                </a:moveTo>
                <a:lnTo>
                  <a:pt x="93500" y="153419"/>
                </a:lnTo>
                <a:lnTo>
                  <a:pt x="93269" y="153162"/>
                </a:lnTo>
                <a:close/>
              </a:path>
              <a:path w="2313304" h="754379">
                <a:moveTo>
                  <a:pt x="65650" y="122300"/>
                </a:moveTo>
                <a:lnTo>
                  <a:pt x="66040" y="122809"/>
                </a:lnTo>
                <a:lnTo>
                  <a:pt x="65650" y="122300"/>
                </a:lnTo>
                <a:close/>
              </a:path>
              <a:path w="2313304" h="754379">
                <a:moveTo>
                  <a:pt x="54307" y="107494"/>
                </a:moveTo>
                <a:close/>
              </a:path>
              <a:path w="2313304" h="754379">
                <a:moveTo>
                  <a:pt x="54022" y="107061"/>
                </a:moveTo>
                <a:lnTo>
                  <a:pt x="54307" y="107494"/>
                </a:lnTo>
                <a:lnTo>
                  <a:pt x="54022" y="107061"/>
                </a:lnTo>
                <a:close/>
              </a:path>
              <a:path w="2313304" h="754379">
                <a:moveTo>
                  <a:pt x="43983" y="91693"/>
                </a:moveTo>
                <a:lnTo>
                  <a:pt x="44196" y="92075"/>
                </a:lnTo>
                <a:lnTo>
                  <a:pt x="43983" y="91693"/>
                </a:lnTo>
                <a:close/>
              </a:path>
              <a:path w="2313304" h="754379">
                <a:moveTo>
                  <a:pt x="35543" y="76524"/>
                </a:moveTo>
                <a:lnTo>
                  <a:pt x="35687" y="76835"/>
                </a:lnTo>
                <a:lnTo>
                  <a:pt x="35543" y="76524"/>
                </a:lnTo>
                <a:close/>
              </a:path>
              <a:path w="2313304" h="754379">
                <a:moveTo>
                  <a:pt x="35451" y="76327"/>
                </a:moveTo>
                <a:lnTo>
                  <a:pt x="35543" y="76524"/>
                </a:lnTo>
                <a:lnTo>
                  <a:pt x="35451" y="76327"/>
                </a:lnTo>
                <a:close/>
              </a:path>
              <a:path w="2313304" h="754379">
                <a:moveTo>
                  <a:pt x="28321" y="60960"/>
                </a:moveTo>
                <a:lnTo>
                  <a:pt x="28575" y="61594"/>
                </a:lnTo>
                <a:lnTo>
                  <a:pt x="28439" y="61214"/>
                </a:lnTo>
                <a:lnTo>
                  <a:pt x="28321" y="60960"/>
                </a:lnTo>
                <a:close/>
              </a:path>
              <a:path w="2313304" h="754379">
                <a:moveTo>
                  <a:pt x="28439" y="61214"/>
                </a:moveTo>
                <a:lnTo>
                  <a:pt x="28575" y="61594"/>
                </a:lnTo>
                <a:lnTo>
                  <a:pt x="28439" y="61214"/>
                </a:lnTo>
                <a:close/>
              </a:path>
              <a:path w="2313304" h="754379">
                <a:moveTo>
                  <a:pt x="28348" y="60960"/>
                </a:moveTo>
                <a:lnTo>
                  <a:pt x="28439" y="61214"/>
                </a:lnTo>
                <a:lnTo>
                  <a:pt x="28348" y="60960"/>
                </a:lnTo>
                <a:close/>
              </a:path>
              <a:path w="2313304" h="754379">
                <a:moveTo>
                  <a:pt x="22946" y="45593"/>
                </a:moveTo>
                <a:lnTo>
                  <a:pt x="23114" y="46228"/>
                </a:lnTo>
                <a:lnTo>
                  <a:pt x="22946" y="45593"/>
                </a:lnTo>
                <a:close/>
              </a:path>
              <a:path w="2313304" h="754379">
                <a:moveTo>
                  <a:pt x="18951" y="30459"/>
                </a:moveTo>
                <a:lnTo>
                  <a:pt x="19050" y="31115"/>
                </a:lnTo>
                <a:lnTo>
                  <a:pt x="18951" y="30459"/>
                </a:lnTo>
                <a:close/>
              </a:path>
              <a:path w="2313304" h="754379">
                <a:moveTo>
                  <a:pt x="18935" y="30353"/>
                </a:moveTo>
                <a:close/>
              </a:path>
              <a:path w="2313304" h="754379">
                <a:moveTo>
                  <a:pt x="16637" y="15112"/>
                </a:moveTo>
                <a:lnTo>
                  <a:pt x="16637" y="16002"/>
                </a:lnTo>
                <a:lnTo>
                  <a:pt x="16771" y="16002"/>
                </a:lnTo>
                <a:lnTo>
                  <a:pt x="16637" y="15112"/>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9DEAEEAC-EBB4-7BE3-E19D-59F01C36142D}"/>
              </a:ext>
            </a:extLst>
          </p:cNvPr>
          <p:cNvSpPr>
            <a:spLocks noGrp="1"/>
          </p:cNvSpPr>
          <p:nvPr>
            <p:ph type="sldNum" sz="quarter" idx="12"/>
          </p:nvPr>
        </p:nvSpPr>
        <p:spPr/>
        <p:txBody>
          <a:bodyPr/>
          <a:lstStyle/>
          <a:p>
            <a:pPr>
              <a:defRPr/>
            </a:pPr>
            <a:fld id="{2FBC720A-3716-234A-B2DF-CBC7E48049F5}" type="slidenum">
              <a:rPr lang="en-US" altLang="zh-CN" smtClean="0"/>
              <a:t>35</a:t>
            </a:fld>
            <a:endParaRPr lang="en-US" altLang="zh-CN"/>
          </a:p>
        </p:txBody>
      </p:sp>
    </p:spTree>
    <p:extLst>
      <p:ext uri="{BB962C8B-B14F-4D97-AF65-F5344CB8AC3E}">
        <p14:creationId xmlns:p14="http://schemas.microsoft.com/office/powerpoint/2010/main" val="1471921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1" name="object 2">
            <a:extLst>
              <a:ext uri="{FF2B5EF4-FFF2-40B4-BE49-F238E27FC236}">
                <a16:creationId xmlns:a16="http://schemas.microsoft.com/office/drawing/2014/main" id="{4B18A481-C633-43F9-D499-09E345B3DFF6}"/>
              </a:ext>
            </a:extLst>
          </p:cNvPr>
          <p:cNvSpPr txBox="1">
            <a:spLocks/>
          </p:cNvSpPr>
          <p:nvPr/>
        </p:nvSpPr>
        <p:spPr>
          <a:xfrm>
            <a:off x="643712" y="388746"/>
            <a:ext cx="7856575" cy="960755"/>
          </a:xfrm>
          <a:prstGeom prst="rect">
            <a:avLst/>
          </a:prstGeom>
        </p:spPr>
        <p:txBody>
          <a:bodyPr vert="horz" wrap="square" lIns="0" tIns="61594" rIns="0" bIns="0" rtlCol="0">
            <a:spAutoFit/>
          </a:bodyPr>
          <a:lstStyle>
            <a:lvl1pPr>
              <a:defRPr sz="3200" b="1" i="0">
                <a:solidFill>
                  <a:schemeClr val="tx1"/>
                </a:solidFill>
                <a:latin typeface="Palatino Linotype"/>
                <a:ea typeface="+mj-ea"/>
                <a:cs typeface="Palatino Linotype"/>
              </a:defRPr>
            </a:lvl1pPr>
          </a:lstStyle>
          <a:p>
            <a:pPr marL="1954530" marR="5080" lvl="0" indent="-1940560" defTabSz="914400" eaLnBrk="1" fontAlgn="auto" latinLnBrk="0" hangingPunct="1">
              <a:lnSpc>
                <a:spcPts val="3520"/>
              </a:lnSpc>
              <a:spcBef>
                <a:spcPts val="484"/>
              </a:spcBef>
              <a:spcAft>
                <a:spcPts val="0"/>
              </a:spcAft>
              <a:buClrTx/>
              <a:buSzTx/>
              <a:buFontTx/>
              <a:buNone/>
              <a:tabLst/>
              <a:defRPr/>
            </a:pPr>
            <a:r>
              <a:rPr kumimoji="0" lang="en-US" sz="3200" b="1" i="0" u="none" strike="noStrike" kern="0" cap="none" spc="-5" normalizeH="0" baseline="0" noProof="0">
                <a:ln>
                  <a:noFill/>
                </a:ln>
                <a:solidFill>
                  <a:sysClr val="windowText" lastClr="000000"/>
                </a:solidFill>
                <a:effectLst/>
                <a:uLnTx/>
                <a:uFillTx/>
                <a:latin typeface="Palatino Linotype"/>
                <a:ea typeface="+mj-ea"/>
              </a:rPr>
              <a:t>Machine-Independent Code </a:t>
            </a:r>
            <a:r>
              <a:rPr kumimoji="0" lang="en-US" sz="3200" b="1" i="0" u="none" strike="noStrike" kern="0" cap="none" spc="0" normalizeH="0" baseline="0" noProof="0">
                <a:ln>
                  <a:noFill/>
                </a:ln>
                <a:solidFill>
                  <a:sysClr val="windowText" lastClr="000000"/>
                </a:solidFill>
                <a:effectLst/>
                <a:uLnTx/>
                <a:uFillTx/>
                <a:latin typeface="Palatino Linotype"/>
                <a:ea typeface="+mj-ea"/>
              </a:rPr>
              <a:t>Optimization  (</a:t>
            </a:r>
            <a:r>
              <a:rPr kumimoji="0" lang="zh-CN" altLang="en-US" sz="3200" b="1" i="0" u="none" strike="noStrike" kern="0" cap="none" spc="0" normalizeH="0" baseline="0" noProof="0">
                <a:ln>
                  <a:noFill/>
                </a:ln>
                <a:solidFill>
                  <a:sysClr val="windowText" lastClr="000000"/>
                </a:solidFill>
                <a:effectLst/>
                <a:uLnTx/>
                <a:uFillTx/>
                <a:latin typeface="宋体"/>
                <a:ea typeface="宋体" panose="02010600030101010101" pitchFamily="2" charset="-122"/>
                <a:cs typeface="宋体"/>
              </a:rPr>
              <a:t>机器无关的代码优</a:t>
            </a:r>
            <a:r>
              <a:rPr kumimoji="0" lang="zh-CN" altLang="en-US" sz="3200" b="1" i="0" u="none" strike="noStrike" kern="0" cap="none" spc="5" normalizeH="0" baseline="0" noProof="0">
                <a:ln>
                  <a:noFill/>
                </a:ln>
                <a:solidFill>
                  <a:sysClr val="windowText" lastClr="000000"/>
                </a:solidFill>
                <a:effectLst/>
                <a:uLnTx/>
                <a:uFillTx/>
                <a:latin typeface="宋体"/>
                <a:ea typeface="宋体" panose="02010600030101010101" pitchFamily="2" charset="-122"/>
                <a:cs typeface="宋体"/>
              </a:rPr>
              <a:t>化</a:t>
            </a:r>
            <a:r>
              <a:rPr kumimoji="0" lang="en-US" altLang="zh-CN" sz="32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en-US" altLang="zh-CN" sz="3200" b="1" i="0" u="none" strike="noStrike" kern="0" cap="none" spc="0" normalizeH="0" baseline="0" noProof="0" dirty="0">
              <a:ln>
                <a:noFill/>
              </a:ln>
              <a:solidFill>
                <a:sysClr val="windowText" lastClr="000000"/>
              </a:solidFill>
              <a:effectLst/>
              <a:uLnTx/>
              <a:uFillTx/>
              <a:latin typeface="Palatino Linotype"/>
              <a:ea typeface="宋体" panose="02010600030101010101" pitchFamily="2" charset="-122"/>
            </a:endParaRPr>
          </a:p>
        </p:txBody>
      </p:sp>
      <p:sp>
        <p:nvSpPr>
          <p:cNvPr id="12" name="object 3">
            <a:extLst>
              <a:ext uri="{FF2B5EF4-FFF2-40B4-BE49-F238E27FC236}">
                <a16:creationId xmlns:a16="http://schemas.microsoft.com/office/drawing/2014/main" id="{1641C951-AA9E-D2B7-C7FC-ACEAC6D262ED}"/>
              </a:ext>
            </a:extLst>
          </p:cNvPr>
          <p:cNvSpPr txBox="1"/>
          <p:nvPr/>
        </p:nvSpPr>
        <p:spPr>
          <a:xfrm>
            <a:off x="707542" y="2525648"/>
            <a:ext cx="7313295" cy="3445510"/>
          </a:xfrm>
          <a:prstGeom prst="rect">
            <a:avLst/>
          </a:prstGeom>
        </p:spPr>
        <p:txBody>
          <a:bodyPr vert="horz" wrap="square" lIns="0" tIns="12700" rIns="0" bIns="0" rtlCol="0">
            <a:spAutoFit/>
          </a:bodyPr>
          <a:lstStyle/>
          <a:p>
            <a:pPr marL="242570" indent="-230504" rtl="0">
              <a:spcBef>
                <a:spcPts val="100"/>
              </a:spcBef>
              <a:buFont typeface="Arial"/>
              <a:buChar char="•"/>
              <a:tabLst>
                <a:tab pos="243204" algn="l"/>
              </a:tabLst>
            </a:pPr>
            <a:r>
              <a:rPr sz="2400" kern="1200" dirty="0">
                <a:solidFill>
                  <a:prstClr val="black"/>
                </a:solidFill>
                <a:latin typeface="Palatino Linotype"/>
                <a:cs typeface="Palatino Linotype"/>
              </a:rPr>
              <a:t>Akin </a:t>
            </a:r>
            <a:r>
              <a:rPr sz="2400" kern="1200" spc="-5" dirty="0">
                <a:solidFill>
                  <a:prstClr val="black"/>
                </a:solidFill>
                <a:latin typeface="Palatino Linotype"/>
                <a:cs typeface="Palatino Linotype"/>
              </a:rPr>
              <a:t>to </a:t>
            </a:r>
            <a:r>
              <a:rPr sz="2400" kern="1200" dirty="0">
                <a:solidFill>
                  <a:prstClr val="black"/>
                </a:solidFill>
                <a:latin typeface="Palatino Linotype"/>
                <a:cs typeface="Palatino Linotype"/>
              </a:rPr>
              <a:t>article </a:t>
            </a:r>
            <a:r>
              <a:rPr sz="2400" kern="1200" spc="-5" dirty="0">
                <a:solidFill>
                  <a:prstClr val="black"/>
                </a:solidFill>
                <a:latin typeface="Palatino Linotype"/>
                <a:cs typeface="Palatino Linotype"/>
              </a:rPr>
              <a:t>editing/revising </a:t>
            </a:r>
            <a:r>
              <a:rPr sz="2400" kern="1200" dirty="0">
                <a:solidFill>
                  <a:prstClr val="black"/>
                </a:solidFill>
                <a:latin typeface="Palatino Linotype"/>
                <a:cs typeface="Palatino Linotype"/>
              </a:rPr>
              <a:t>in</a:t>
            </a:r>
            <a:r>
              <a:rPr sz="2400" kern="1200" spc="25" dirty="0">
                <a:solidFill>
                  <a:prstClr val="black"/>
                </a:solidFill>
                <a:latin typeface="Palatino Linotype"/>
                <a:cs typeface="Palatino Linotype"/>
              </a:rPr>
              <a:t> </a:t>
            </a:r>
            <a:r>
              <a:rPr sz="2400" kern="1200" spc="-5" dirty="0">
                <a:solidFill>
                  <a:prstClr val="black"/>
                </a:solidFill>
                <a:latin typeface="Palatino Linotype"/>
                <a:cs typeface="Palatino Linotype"/>
              </a:rPr>
              <a:t>English</a:t>
            </a:r>
            <a:endParaRPr sz="2400" kern="1200" dirty="0">
              <a:solidFill>
                <a:prstClr val="black"/>
              </a:solidFill>
              <a:latin typeface="Palatino Linotype"/>
              <a:cs typeface="Palatino Linotype"/>
            </a:endParaRPr>
          </a:p>
          <a:p>
            <a:pPr marL="242570" indent="-230504" rtl="0">
              <a:spcBef>
                <a:spcPts val="2375"/>
              </a:spcBef>
              <a:buFont typeface="Arial"/>
              <a:buChar char="•"/>
              <a:tabLst>
                <a:tab pos="243204" algn="l"/>
              </a:tabLst>
            </a:pPr>
            <a:r>
              <a:rPr sz="2400" kern="1200" spc="-10" dirty="0">
                <a:solidFill>
                  <a:prstClr val="black"/>
                </a:solidFill>
                <a:latin typeface="Palatino Linotype"/>
                <a:cs typeface="Palatino Linotype"/>
              </a:rPr>
              <a:t>Improve </a:t>
            </a:r>
            <a:r>
              <a:rPr sz="2400" kern="1200" spc="-5" dirty="0">
                <a:solidFill>
                  <a:prstClr val="black"/>
                </a:solidFill>
                <a:latin typeface="Palatino Linotype"/>
                <a:cs typeface="Palatino Linotype"/>
              </a:rPr>
              <a:t>the intermediate </a:t>
            </a:r>
            <a:r>
              <a:rPr sz="2400" kern="1200" dirty="0">
                <a:solidFill>
                  <a:prstClr val="black"/>
                </a:solidFill>
                <a:latin typeface="Palatino Linotype"/>
                <a:cs typeface="Palatino Linotype"/>
              </a:rPr>
              <a:t>code for </a:t>
            </a:r>
            <a:r>
              <a:rPr sz="2400" kern="1200" spc="-5" dirty="0">
                <a:solidFill>
                  <a:prstClr val="black"/>
                </a:solidFill>
                <a:latin typeface="Palatino Linotype"/>
                <a:cs typeface="Palatino Linotype"/>
              </a:rPr>
              <a:t>better target</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code</a:t>
            </a:r>
          </a:p>
          <a:p>
            <a:pPr marL="697865" lvl="1" indent="-228600" rtl="0">
              <a:spcBef>
                <a:spcPts val="2345"/>
              </a:spcBef>
              <a:buFont typeface="Wingdings"/>
              <a:buChar char=""/>
              <a:tabLst>
                <a:tab pos="698500" algn="l"/>
              </a:tabLst>
            </a:pPr>
            <a:r>
              <a:rPr sz="2000" kern="1200" dirty="0">
                <a:solidFill>
                  <a:srgbClr val="0431FF"/>
                </a:solidFill>
                <a:latin typeface="Palatino Linotype"/>
                <a:cs typeface="Palatino Linotype"/>
              </a:rPr>
              <a:t>Run</a:t>
            </a:r>
            <a:r>
              <a:rPr sz="2000" kern="1200" spc="-30" dirty="0">
                <a:solidFill>
                  <a:srgbClr val="0431FF"/>
                </a:solidFill>
                <a:latin typeface="Palatino Linotype"/>
                <a:cs typeface="Palatino Linotype"/>
              </a:rPr>
              <a:t> </a:t>
            </a:r>
            <a:r>
              <a:rPr sz="2000" kern="1200" dirty="0">
                <a:solidFill>
                  <a:srgbClr val="0431FF"/>
                </a:solidFill>
                <a:latin typeface="Palatino Linotype"/>
                <a:cs typeface="Palatino Linotype"/>
              </a:rPr>
              <a:t>faster</a:t>
            </a:r>
            <a:endParaRPr sz="2000" kern="1200" dirty="0">
              <a:solidFill>
                <a:prstClr val="black"/>
              </a:solidFill>
              <a:latin typeface="Palatino Linotype"/>
              <a:cs typeface="Palatino Linotype"/>
            </a:endParaRPr>
          </a:p>
          <a:p>
            <a:pPr lvl="1" rtl="0">
              <a:spcBef>
                <a:spcPts val="55"/>
              </a:spcBef>
              <a:buClr>
                <a:srgbClr val="0431FF"/>
              </a:buClr>
              <a:buFont typeface="Wingdings"/>
              <a:buChar char=""/>
            </a:pPr>
            <a:endParaRPr sz="1650" kern="1200" dirty="0">
              <a:solidFill>
                <a:prstClr val="black"/>
              </a:solidFill>
              <a:latin typeface="Palatino Linotype"/>
              <a:cs typeface="Palatino Linotype"/>
            </a:endParaRPr>
          </a:p>
          <a:p>
            <a:pPr marL="697865" lvl="1" indent="-228600" rtl="0">
              <a:buFont typeface="Wingdings"/>
              <a:buChar char=""/>
              <a:tabLst>
                <a:tab pos="698500" algn="l"/>
              </a:tabLst>
            </a:pPr>
            <a:r>
              <a:rPr sz="2000" kern="1200" dirty="0">
                <a:solidFill>
                  <a:srgbClr val="0431FF"/>
                </a:solidFill>
                <a:latin typeface="Palatino Linotype"/>
                <a:cs typeface="Palatino Linotype"/>
              </a:rPr>
              <a:t>Use </a:t>
            </a:r>
            <a:r>
              <a:rPr sz="2000" kern="1200" spc="-5" dirty="0">
                <a:solidFill>
                  <a:srgbClr val="0431FF"/>
                </a:solidFill>
                <a:latin typeface="Palatino Linotype"/>
                <a:cs typeface="Palatino Linotype"/>
              </a:rPr>
              <a:t>less memory</a:t>
            </a:r>
            <a:endParaRPr sz="2000" kern="1200" dirty="0">
              <a:solidFill>
                <a:prstClr val="black"/>
              </a:solidFill>
              <a:latin typeface="Palatino Linotype"/>
              <a:cs typeface="Palatino Linotype"/>
            </a:endParaRPr>
          </a:p>
          <a:p>
            <a:pPr lvl="1" rtl="0">
              <a:spcBef>
                <a:spcPts val="55"/>
              </a:spcBef>
              <a:buClr>
                <a:srgbClr val="0431FF"/>
              </a:buClr>
              <a:buFont typeface="Wingdings"/>
              <a:buChar char=""/>
            </a:pPr>
            <a:endParaRPr sz="1650" kern="1200" dirty="0">
              <a:solidFill>
                <a:prstClr val="black"/>
              </a:solidFill>
              <a:latin typeface="Palatino Linotype"/>
              <a:cs typeface="Palatino Linotype"/>
            </a:endParaRPr>
          </a:p>
          <a:p>
            <a:pPr marL="697865" lvl="1" indent="-228600" rtl="0">
              <a:buFont typeface="Wingdings"/>
              <a:buChar char=""/>
              <a:tabLst>
                <a:tab pos="698500" algn="l"/>
              </a:tabLst>
            </a:pPr>
            <a:r>
              <a:rPr sz="2000" kern="1200" dirty="0">
                <a:solidFill>
                  <a:srgbClr val="0431FF"/>
                </a:solidFill>
                <a:latin typeface="Palatino Linotype"/>
                <a:cs typeface="Palatino Linotype"/>
              </a:rPr>
              <a:t>Shorter</a:t>
            </a:r>
            <a:r>
              <a:rPr sz="2000" kern="1200" spc="-30" dirty="0">
                <a:solidFill>
                  <a:srgbClr val="0431FF"/>
                </a:solidFill>
                <a:latin typeface="Palatino Linotype"/>
                <a:cs typeface="Palatino Linotype"/>
              </a:rPr>
              <a:t> </a:t>
            </a:r>
            <a:r>
              <a:rPr sz="2000" kern="1200" dirty="0">
                <a:solidFill>
                  <a:srgbClr val="0431FF"/>
                </a:solidFill>
                <a:latin typeface="Palatino Linotype"/>
                <a:cs typeface="Palatino Linotype"/>
              </a:rPr>
              <a:t>code</a:t>
            </a:r>
            <a:endParaRPr sz="2000" kern="1200" dirty="0">
              <a:solidFill>
                <a:prstClr val="black"/>
              </a:solidFill>
              <a:latin typeface="Palatino Linotype"/>
              <a:cs typeface="Palatino Linotype"/>
            </a:endParaRPr>
          </a:p>
          <a:p>
            <a:pPr lvl="1" rtl="0">
              <a:spcBef>
                <a:spcPts val="55"/>
              </a:spcBef>
              <a:buClr>
                <a:srgbClr val="0431FF"/>
              </a:buClr>
              <a:buFont typeface="Wingdings"/>
              <a:buChar char=""/>
            </a:pPr>
            <a:endParaRPr sz="1650" kern="1200" dirty="0">
              <a:solidFill>
                <a:prstClr val="black"/>
              </a:solidFill>
              <a:latin typeface="Palatino Linotype"/>
              <a:cs typeface="Palatino Linotype"/>
            </a:endParaRPr>
          </a:p>
          <a:p>
            <a:pPr marL="697865" lvl="1" indent="-228600" rtl="0">
              <a:buFont typeface="Wingdings"/>
              <a:buChar char=""/>
              <a:tabLst>
                <a:tab pos="698500" algn="l"/>
              </a:tabLst>
            </a:pPr>
            <a:r>
              <a:rPr sz="2000" kern="1200" spc="-5" dirty="0">
                <a:solidFill>
                  <a:srgbClr val="0431FF"/>
                </a:solidFill>
                <a:latin typeface="Palatino Linotype"/>
                <a:cs typeface="Palatino Linotype"/>
              </a:rPr>
              <a:t>Consume </a:t>
            </a:r>
            <a:r>
              <a:rPr sz="2000" kern="1200" dirty="0">
                <a:solidFill>
                  <a:srgbClr val="0431FF"/>
                </a:solidFill>
                <a:latin typeface="Palatino Linotype"/>
                <a:cs typeface="Palatino Linotype"/>
              </a:rPr>
              <a:t>less </a:t>
            </a:r>
            <a:r>
              <a:rPr sz="2000" kern="1200" spc="-10" dirty="0">
                <a:solidFill>
                  <a:srgbClr val="0431FF"/>
                </a:solidFill>
                <a:latin typeface="Palatino Linotype"/>
                <a:cs typeface="Palatino Linotype"/>
              </a:rPr>
              <a:t>power</a:t>
            </a:r>
            <a:r>
              <a:rPr sz="2000" kern="1200" spc="-40" dirty="0">
                <a:solidFill>
                  <a:srgbClr val="0431FF"/>
                </a:solidFill>
                <a:latin typeface="Palatino Linotype"/>
                <a:cs typeface="Palatino Linotype"/>
              </a:rPr>
              <a:t> </a:t>
            </a:r>
            <a:r>
              <a:rPr sz="2000" kern="1200" dirty="0">
                <a:solidFill>
                  <a:srgbClr val="0431FF"/>
                </a:solidFill>
                <a:latin typeface="Palatino Linotype"/>
                <a:cs typeface="Palatino Linotype"/>
              </a:rPr>
              <a:t>…</a:t>
            </a:r>
            <a:endParaRPr sz="2000" kern="1200" dirty="0">
              <a:solidFill>
                <a:prstClr val="black"/>
              </a:solidFill>
              <a:latin typeface="Palatino Linotype"/>
              <a:cs typeface="Palatino Linotype"/>
            </a:endParaRPr>
          </a:p>
        </p:txBody>
      </p:sp>
      <p:sp>
        <p:nvSpPr>
          <p:cNvPr id="13" name="object 4">
            <a:extLst>
              <a:ext uri="{FF2B5EF4-FFF2-40B4-BE49-F238E27FC236}">
                <a16:creationId xmlns:a16="http://schemas.microsoft.com/office/drawing/2014/main" id="{AB99B0D5-91D0-677A-9CE9-4E7941AA7C95}"/>
              </a:ext>
            </a:extLst>
          </p:cNvPr>
          <p:cNvSpPr txBox="1"/>
          <p:nvPr/>
        </p:nvSpPr>
        <p:spPr>
          <a:xfrm>
            <a:off x="717600" y="1744726"/>
            <a:ext cx="5349875" cy="428322"/>
          </a:xfrm>
          <a:prstGeom prst="rect">
            <a:avLst/>
          </a:prstGeom>
        </p:spPr>
        <p:txBody>
          <a:bodyPr vert="horz" wrap="square" lIns="0" tIns="12700" rIns="0" bIns="0" rtlCol="0">
            <a:spAutoFit/>
          </a:bodyPr>
          <a:lstStyle/>
          <a:p>
            <a:pPr marL="12700" rtl="0">
              <a:spcBef>
                <a:spcPts val="100"/>
              </a:spcBef>
              <a:tabLst>
                <a:tab pos="1175385" algn="l"/>
              </a:tabLst>
            </a:pPr>
            <a:r>
              <a:rPr sz="2700" kern="1200" baseline="3086" dirty="0">
                <a:solidFill>
                  <a:prstClr val="black"/>
                </a:solidFill>
                <a:latin typeface="Palatino Linotype"/>
                <a:cs typeface="Palatino Linotype"/>
              </a:rPr>
              <a:t>IR	</a:t>
            </a:r>
            <a:endParaRPr kern="1200" dirty="0">
              <a:solidFill>
                <a:prstClr val="black"/>
              </a:solidFill>
              <a:latin typeface="Palatino Linotype"/>
              <a:cs typeface="Palatino Linotype"/>
            </a:endParaRPr>
          </a:p>
        </p:txBody>
      </p:sp>
      <p:sp>
        <p:nvSpPr>
          <p:cNvPr id="14" name="object 5">
            <a:extLst>
              <a:ext uri="{FF2B5EF4-FFF2-40B4-BE49-F238E27FC236}">
                <a16:creationId xmlns:a16="http://schemas.microsoft.com/office/drawing/2014/main" id="{B7B9A163-394A-B30F-A8EE-19CF7B27B289}"/>
              </a:ext>
            </a:extLst>
          </p:cNvPr>
          <p:cNvSpPr/>
          <p:nvPr/>
        </p:nvSpPr>
        <p:spPr>
          <a:xfrm>
            <a:off x="1074419" y="1865502"/>
            <a:ext cx="561975" cy="103505"/>
          </a:xfrm>
          <a:custGeom>
            <a:avLst/>
            <a:gdLst/>
            <a:ahLst/>
            <a:cxnLst/>
            <a:rect l="l" t="t" r="r" b="b"/>
            <a:pathLst>
              <a:path w="561975" h="103505">
                <a:moveTo>
                  <a:pt x="526306" y="51689"/>
                </a:moveTo>
                <a:lnTo>
                  <a:pt x="427355" y="90170"/>
                </a:lnTo>
                <a:lnTo>
                  <a:pt x="424180" y="91439"/>
                </a:lnTo>
                <a:lnTo>
                  <a:pt x="422529" y="95123"/>
                </a:lnTo>
                <a:lnTo>
                  <a:pt x="425069" y="101726"/>
                </a:lnTo>
                <a:lnTo>
                  <a:pt x="428752" y="103377"/>
                </a:lnTo>
                <a:lnTo>
                  <a:pt x="545168" y="58038"/>
                </a:lnTo>
                <a:lnTo>
                  <a:pt x="543941" y="58038"/>
                </a:lnTo>
                <a:lnTo>
                  <a:pt x="543941" y="57658"/>
                </a:lnTo>
                <a:lnTo>
                  <a:pt x="541655" y="57658"/>
                </a:lnTo>
                <a:lnTo>
                  <a:pt x="526306" y="51689"/>
                </a:lnTo>
                <a:close/>
              </a:path>
              <a:path w="561975" h="103505">
                <a:moveTo>
                  <a:pt x="509977" y="45338"/>
                </a:moveTo>
                <a:lnTo>
                  <a:pt x="0" y="45338"/>
                </a:lnTo>
                <a:lnTo>
                  <a:pt x="0" y="58038"/>
                </a:lnTo>
                <a:lnTo>
                  <a:pt x="509977" y="58038"/>
                </a:lnTo>
                <a:lnTo>
                  <a:pt x="526306" y="51689"/>
                </a:lnTo>
                <a:lnTo>
                  <a:pt x="509977" y="45338"/>
                </a:lnTo>
                <a:close/>
              </a:path>
              <a:path w="561975" h="103505">
                <a:moveTo>
                  <a:pt x="545168" y="45338"/>
                </a:moveTo>
                <a:lnTo>
                  <a:pt x="543941" y="45338"/>
                </a:lnTo>
                <a:lnTo>
                  <a:pt x="543941" y="58038"/>
                </a:lnTo>
                <a:lnTo>
                  <a:pt x="545168" y="58038"/>
                </a:lnTo>
                <a:lnTo>
                  <a:pt x="561466" y="51689"/>
                </a:lnTo>
                <a:lnTo>
                  <a:pt x="545168" y="45338"/>
                </a:lnTo>
                <a:close/>
              </a:path>
              <a:path w="561975" h="103505">
                <a:moveTo>
                  <a:pt x="541655" y="45720"/>
                </a:moveTo>
                <a:lnTo>
                  <a:pt x="526306" y="51689"/>
                </a:lnTo>
                <a:lnTo>
                  <a:pt x="541655" y="57658"/>
                </a:lnTo>
                <a:lnTo>
                  <a:pt x="541655" y="45720"/>
                </a:lnTo>
                <a:close/>
              </a:path>
              <a:path w="561975" h="103505">
                <a:moveTo>
                  <a:pt x="543941" y="45720"/>
                </a:moveTo>
                <a:lnTo>
                  <a:pt x="541655" y="45720"/>
                </a:lnTo>
                <a:lnTo>
                  <a:pt x="541655" y="57658"/>
                </a:lnTo>
                <a:lnTo>
                  <a:pt x="543941" y="57658"/>
                </a:lnTo>
                <a:lnTo>
                  <a:pt x="543941" y="45720"/>
                </a:lnTo>
                <a:close/>
              </a:path>
              <a:path w="561975" h="103505">
                <a:moveTo>
                  <a:pt x="428752" y="0"/>
                </a:moveTo>
                <a:lnTo>
                  <a:pt x="425069" y="1650"/>
                </a:lnTo>
                <a:lnTo>
                  <a:pt x="422529" y="8255"/>
                </a:lnTo>
                <a:lnTo>
                  <a:pt x="424180" y="11937"/>
                </a:lnTo>
                <a:lnTo>
                  <a:pt x="427355" y="13208"/>
                </a:lnTo>
                <a:lnTo>
                  <a:pt x="526306" y="51689"/>
                </a:lnTo>
                <a:lnTo>
                  <a:pt x="541655" y="45720"/>
                </a:lnTo>
                <a:lnTo>
                  <a:pt x="543941" y="45720"/>
                </a:lnTo>
                <a:lnTo>
                  <a:pt x="543941" y="45338"/>
                </a:lnTo>
                <a:lnTo>
                  <a:pt x="545168" y="45338"/>
                </a:lnTo>
                <a:lnTo>
                  <a:pt x="42875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6">
            <a:extLst>
              <a:ext uri="{FF2B5EF4-FFF2-40B4-BE49-F238E27FC236}">
                <a16:creationId xmlns:a16="http://schemas.microsoft.com/office/drawing/2014/main" id="{5D61068F-0738-944D-2FCB-62593A6A2208}"/>
              </a:ext>
            </a:extLst>
          </p:cNvPr>
          <p:cNvSpPr/>
          <p:nvPr/>
        </p:nvSpPr>
        <p:spPr>
          <a:xfrm>
            <a:off x="6056376" y="1865502"/>
            <a:ext cx="561975" cy="103505"/>
          </a:xfrm>
          <a:custGeom>
            <a:avLst/>
            <a:gdLst/>
            <a:ahLst/>
            <a:cxnLst/>
            <a:rect l="l" t="t" r="r" b="b"/>
            <a:pathLst>
              <a:path w="561975" h="103505">
                <a:moveTo>
                  <a:pt x="526306" y="51689"/>
                </a:moveTo>
                <a:lnTo>
                  <a:pt x="427354" y="90170"/>
                </a:lnTo>
                <a:lnTo>
                  <a:pt x="424179" y="91439"/>
                </a:lnTo>
                <a:lnTo>
                  <a:pt x="422528" y="95123"/>
                </a:lnTo>
                <a:lnTo>
                  <a:pt x="425069" y="101726"/>
                </a:lnTo>
                <a:lnTo>
                  <a:pt x="428751" y="103377"/>
                </a:lnTo>
                <a:lnTo>
                  <a:pt x="545168" y="58038"/>
                </a:lnTo>
                <a:lnTo>
                  <a:pt x="543941" y="58038"/>
                </a:lnTo>
                <a:lnTo>
                  <a:pt x="543941" y="57658"/>
                </a:lnTo>
                <a:lnTo>
                  <a:pt x="541654" y="57658"/>
                </a:lnTo>
                <a:lnTo>
                  <a:pt x="526306" y="51689"/>
                </a:lnTo>
                <a:close/>
              </a:path>
              <a:path w="561975" h="103505">
                <a:moveTo>
                  <a:pt x="509977" y="45338"/>
                </a:moveTo>
                <a:lnTo>
                  <a:pt x="0" y="45338"/>
                </a:lnTo>
                <a:lnTo>
                  <a:pt x="0" y="58038"/>
                </a:lnTo>
                <a:lnTo>
                  <a:pt x="509977" y="58038"/>
                </a:lnTo>
                <a:lnTo>
                  <a:pt x="526306" y="51689"/>
                </a:lnTo>
                <a:lnTo>
                  <a:pt x="509977" y="45338"/>
                </a:lnTo>
                <a:close/>
              </a:path>
              <a:path w="561975" h="103505">
                <a:moveTo>
                  <a:pt x="545168" y="45338"/>
                </a:moveTo>
                <a:lnTo>
                  <a:pt x="543941" y="45338"/>
                </a:lnTo>
                <a:lnTo>
                  <a:pt x="543941" y="58038"/>
                </a:lnTo>
                <a:lnTo>
                  <a:pt x="545168" y="58038"/>
                </a:lnTo>
                <a:lnTo>
                  <a:pt x="561466" y="51689"/>
                </a:lnTo>
                <a:lnTo>
                  <a:pt x="545168" y="45338"/>
                </a:lnTo>
                <a:close/>
              </a:path>
              <a:path w="561975" h="103505">
                <a:moveTo>
                  <a:pt x="541654" y="45720"/>
                </a:moveTo>
                <a:lnTo>
                  <a:pt x="526306" y="51689"/>
                </a:lnTo>
                <a:lnTo>
                  <a:pt x="541654" y="57658"/>
                </a:lnTo>
                <a:lnTo>
                  <a:pt x="541654" y="45720"/>
                </a:lnTo>
                <a:close/>
              </a:path>
              <a:path w="561975" h="103505">
                <a:moveTo>
                  <a:pt x="543941" y="45720"/>
                </a:moveTo>
                <a:lnTo>
                  <a:pt x="541654" y="45720"/>
                </a:lnTo>
                <a:lnTo>
                  <a:pt x="541654" y="57658"/>
                </a:lnTo>
                <a:lnTo>
                  <a:pt x="543941" y="57658"/>
                </a:lnTo>
                <a:lnTo>
                  <a:pt x="543941" y="45720"/>
                </a:lnTo>
                <a:close/>
              </a:path>
              <a:path w="561975" h="103505">
                <a:moveTo>
                  <a:pt x="428751" y="0"/>
                </a:moveTo>
                <a:lnTo>
                  <a:pt x="425069" y="1650"/>
                </a:lnTo>
                <a:lnTo>
                  <a:pt x="422528" y="8255"/>
                </a:lnTo>
                <a:lnTo>
                  <a:pt x="424179" y="11937"/>
                </a:lnTo>
                <a:lnTo>
                  <a:pt x="427354" y="13208"/>
                </a:lnTo>
                <a:lnTo>
                  <a:pt x="526306" y="51689"/>
                </a:lnTo>
                <a:lnTo>
                  <a:pt x="541654" y="45720"/>
                </a:lnTo>
                <a:lnTo>
                  <a:pt x="543941" y="45720"/>
                </a:lnTo>
                <a:lnTo>
                  <a:pt x="543941" y="45338"/>
                </a:lnTo>
                <a:lnTo>
                  <a:pt x="545168" y="45338"/>
                </a:lnTo>
                <a:lnTo>
                  <a:pt x="42875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7">
            <a:extLst>
              <a:ext uri="{FF2B5EF4-FFF2-40B4-BE49-F238E27FC236}">
                <a16:creationId xmlns:a16="http://schemas.microsoft.com/office/drawing/2014/main" id="{F7CC378A-F48C-1A5A-B76D-F47A197C9812}"/>
              </a:ext>
            </a:extLst>
          </p:cNvPr>
          <p:cNvSpPr txBox="1"/>
          <p:nvPr/>
        </p:nvSpPr>
        <p:spPr>
          <a:xfrm>
            <a:off x="6738366" y="1758441"/>
            <a:ext cx="25654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IR</a:t>
            </a:r>
            <a:endParaRPr kern="1200">
              <a:solidFill>
                <a:prstClr val="black"/>
              </a:solidFill>
              <a:latin typeface="Palatino Linotype"/>
              <a:cs typeface="Palatino Linotype"/>
            </a:endParaRPr>
          </a:p>
        </p:txBody>
      </p:sp>
      <p:sp>
        <p:nvSpPr>
          <p:cNvPr id="2" name="object 5">
            <a:extLst>
              <a:ext uri="{FF2B5EF4-FFF2-40B4-BE49-F238E27FC236}">
                <a16:creationId xmlns:a16="http://schemas.microsoft.com/office/drawing/2014/main" id="{484C4E6D-9CC8-2C5B-8196-3C2486AD0BB6}"/>
              </a:ext>
            </a:extLst>
          </p:cNvPr>
          <p:cNvSpPr txBox="1"/>
          <p:nvPr/>
        </p:nvSpPr>
        <p:spPr bwMode="auto">
          <a:xfrm>
            <a:off x="1628990" y="1779390"/>
            <a:ext cx="4371691" cy="308417"/>
          </a:xfrm>
          <a:prstGeom prst="rect">
            <a:avLst/>
          </a:prstGeom>
          <a:solidFill>
            <a:srgbClr val="9DC3E6"/>
          </a:solidFill>
          <a:ln w="12700">
            <a:solidFill>
              <a:srgbClr val="000000"/>
            </a:solidFill>
          </a:ln>
        </p:spPr>
        <p:txBody>
          <a:bodyPr vert="horz" wrap="square" lIns="0" tIns="31114" rIns="0" bIns="0" rtlCol="0">
            <a:spAutoFit/>
          </a:bodyPr>
          <a:lstStyle/>
          <a:p>
            <a:pPr marL="445134" rtl="0">
              <a:spcBef>
                <a:spcPts val="244"/>
              </a:spcBef>
            </a:pPr>
            <a:r>
              <a:rPr lang="en-US" altLang="zh-CN" kern="1200" spc="-5" dirty="0">
                <a:solidFill>
                  <a:prstClr val="black"/>
                </a:solidFill>
                <a:latin typeface="Palatino Linotype"/>
                <a:cs typeface="Palatino Linotype"/>
              </a:rPr>
              <a:t>Machine-Independent </a:t>
            </a:r>
            <a:r>
              <a:rPr lang="en-US" altLang="zh-CN" kern="1200" dirty="0">
                <a:solidFill>
                  <a:prstClr val="black"/>
                </a:solidFill>
                <a:latin typeface="Palatino Linotype"/>
                <a:cs typeface="Palatino Linotype"/>
              </a:rPr>
              <a:t>Code</a:t>
            </a:r>
            <a:r>
              <a:rPr lang="en-US" altLang="zh-CN" kern="1200" spc="10" dirty="0">
                <a:solidFill>
                  <a:prstClr val="black"/>
                </a:solidFill>
                <a:latin typeface="Palatino Linotype"/>
                <a:cs typeface="Palatino Linotype"/>
              </a:rPr>
              <a:t> </a:t>
            </a:r>
            <a:r>
              <a:rPr lang="en-US" altLang="zh-CN" kern="1200" spc="-5" dirty="0">
                <a:solidFill>
                  <a:prstClr val="black"/>
                </a:solidFill>
                <a:latin typeface="Palatino Linotype"/>
                <a:cs typeface="Palatino Linotype"/>
              </a:rPr>
              <a:t>Optimizer</a:t>
            </a:r>
            <a:endParaRPr kern="1200" dirty="0">
              <a:solidFill>
                <a:prstClr val="black"/>
              </a:solidFill>
              <a:latin typeface="Palatino Linotype"/>
              <a:cs typeface="Palatino Linotype"/>
            </a:endParaRPr>
          </a:p>
        </p:txBody>
      </p:sp>
      <p:sp>
        <p:nvSpPr>
          <p:cNvPr id="6" name="灯片编号占位符 5">
            <a:extLst>
              <a:ext uri="{FF2B5EF4-FFF2-40B4-BE49-F238E27FC236}">
                <a16:creationId xmlns:a16="http://schemas.microsoft.com/office/drawing/2014/main" id="{B83213A2-ECEB-C613-5916-E1DD01205725}"/>
              </a:ext>
            </a:extLst>
          </p:cNvPr>
          <p:cNvSpPr>
            <a:spLocks noGrp="1"/>
          </p:cNvSpPr>
          <p:nvPr>
            <p:ph type="sldNum" sz="quarter" idx="12"/>
          </p:nvPr>
        </p:nvSpPr>
        <p:spPr/>
        <p:txBody>
          <a:bodyPr/>
          <a:lstStyle/>
          <a:p>
            <a:pPr>
              <a:defRPr/>
            </a:pPr>
            <a:fld id="{2FBC720A-3716-234A-B2DF-CBC7E48049F5}" type="slidenum">
              <a:rPr lang="en-US" altLang="zh-CN" smtClean="0"/>
              <a:t>36</a:t>
            </a:fld>
            <a:endParaRPr lang="en-US" altLang="zh-CN"/>
          </a:p>
        </p:txBody>
      </p:sp>
    </p:spTree>
    <p:extLst>
      <p:ext uri="{BB962C8B-B14F-4D97-AF65-F5344CB8AC3E}">
        <p14:creationId xmlns:p14="http://schemas.microsoft.com/office/powerpoint/2010/main" val="2089373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3" name="object 2">
            <a:extLst>
              <a:ext uri="{FF2B5EF4-FFF2-40B4-BE49-F238E27FC236}">
                <a16:creationId xmlns:a16="http://schemas.microsoft.com/office/drawing/2014/main" id="{E6C76DC3-7DA8-1AB5-D704-8085003CDEAF}"/>
              </a:ext>
            </a:extLst>
          </p:cNvPr>
          <p:cNvSpPr txBox="1">
            <a:spLocks/>
          </p:cNvSpPr>
          <p:nvPr/>
        </p:nvSpPr>
        <p:spPr>
          <a:xfrm>
            <a:off x="707542" y="520141"/>
            <a:ext cx="696531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Code Optimization</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4" name="object 3">
            <a:extLst>
              <a:ext uri="{FF2B5EF4-FFF2-40B4-BE49-F238E27FC236}">
                <a16:creationId xmlns:a16="http://schemas.microsoft.com/office/drawing/2014/main" id="{E85CE928-B8F1-D3F6-0CBC-446238BD921F}"/>
              </a:ext>
            </a:extLst>
          </p:cNvPr>
          <p:cNvSpPr txBox="1"/>
          <p:nvPr/>
        </p:nvSpPr>
        <p:spPr>
          <a:xfrm>
            <a:off x="771144" y="1906523"/>
            <a:ext cx="2590800" cy="1710055"/>
          </a:xfrm>
          <a:prstGeom prst="rect">
            <a:avLst/>
          </a:prstGeom>
          <a:solidFill>
            <a:srgbClr val="000000"/>
          </a:solidFill>
        </p:spPr>
        <p:txBody>
          <a:bodyPr vert="horz" wrap="square" lIns="0" tIns="26034" rIns="0" bIns="0" rtlCol="0">
            <a:spAutoFit/>
          </a:bodyPr>
          <a:lstStyle/>
          <a:p>
            <a:pPr marL="90805" marR="110489" rtl="0">
              <a:lnSpc>
                <a:spcPts val="3240"/>
              </a:lnSpc>
              <a:spcBef>
                <a:spcPts val="204"/>
              </a:spcBef>
            </a:pPr>
            <a:r>
              <a:rPr kern="1200" spc="-5" dirty="0">
                <a:solidFill>
                  <a:srgbClr val="FFFFFF"/>
                </a:solidFill>
                <a:latin typeface="Consolas"/>
                <a:cs typeface="Consolas"/>
              </a:rPr>
              <a:t>t1 </a:t>
            </a:r>
            <a:r>
              <a:rPr kern="1200" dirty="0">
                <a:solidFill>
                  <a:srgbClr val="FFFFFF"/>
                </a:solidFill>
                <a:latin typeface="Consolas"/>
                <a:cs typeface="Consolas"/>
              </a:rPr>
              <a:t>=</a:t>
            </a:r>
            <a:r>
              <a:rPr kern="1200" spc="-100" dirty="0">
                <a:solidFill>
                  <a:srgbClr val="FFFFFF"/>
                </a:solidFill>
                <a:latin typeface="Consolas"/>
                <a:cs typeface="Consolas"/>
              </a:rPr>
              <a:t> </a:t>
            </a:r>
            <a:r>
              <a:rPr kern="1200" spc="-5" dirty="0">
                <a:solidFill>
                  <a:srgbClr val="FFFFFF"/>
                </a:solidFill>
                <a:latin typeface="Consolas"/>
                <a:cs typeface="Consolas"/>
              </a:rPr>
              <a:t>inttofloat(60)  t2 </a:t>
            </a:r>
            <a:r>
              <a:rPr kern="1200" dirty="0">
                <a:solidFill>
                  <a:srgbClr val="FFFFFF"/>
                </a:solidFill>
                <a:latin typeface="Consolas"/>
                <a:cs typeface="Consolas"/>
              </a:rPr>
              <a:t>= </a:t>
            </a:r>
            <a:r>
              <a:rPr kern="1200" spc="-5" dirty="0">
                <a:solidFill>
                  <a:srgbClr val="FFFFFF"/>
                </a:solidFill>
                <a:latin typeface="Consolas"/>
                <a:cs typeface="Consolas"/>
              </a:rPr>
              <a:t>id3 </a:t>
            </a:r>
            <a:r>
              <a:rPr kern="1200" dirty="0">
                <a:solidFill>
                  <a:srgbClr val="FFFFFF"/>
                </a:solidFill>
                <a:latin typeface="Consolas"/>
                <a:cs typeface="Consolas"/>
              </a:rPr>
              <a:t>*</a:t>
            </a:r>
            <a:r>
              <a:rPr kern="1200" spc="-70" dirty="0">
                <a:solidFill>
                  <a:srgbClr val="FFFFFF"/>
                </a:solidFill>
                <a:latin typeface="Consolas"/>
                <a:cs typeface="Consolas"/>
              </a:rPr>
              <a:t> </a:t>
            </a:r>
            <a:r>
              <a:rPr kern="1200" dirty="0">
                <a:solidFill>
                  <a:srgbClr val="FFFFFF"/>
                </a:solidFill>
                <a:latin typeface="Consolas"/>
                <a:cs typeface="Consolas"/>
              </a:rPr>
              <a:t>t1</a:t>
            </a:r>
            <a:endParaRPr kern="1200">
              <a:solidFill>
                <a:prstClr val="black"/>
              </a:solidFill>
              <a:latin typeface="Consolas"/>
              <a:cs typeface="Consolas"/>
            </a:endParaRPr>
          </a:p>
          <a:p>
            <a:pPr marL="90805" marR="862330" rtl="0">
              <a:lnSpc>
                <a:spcPts val="3240"/>
              </a:lnSpc>
            </a:pPr>
            <a:r>
              <a:rPr kern="1200" spc="-5" dirty="0">
                <a:solidFill>
                  <a:srgbClr val="FFFFFF"/>
                </a:solidFill>
                <a:latin typeface="Consolas"/>
                <a:cs typeface="Consolas"/>
              </a:rPr>
              <a:t>t3 </a:t>
            </a:r>
            <a:r>
              <a:rPr kern="1200" dirty="0">
                <a:solidFill>
                  <a:srgbClr val="FFFFFF"/>
                </a:solidFill>
                <a:latin typeface="Consolas"/>
                <a:cs typeface="Consolas"/>
              </a:rPr>
              <a:t>= </a:t>
            </a:r>
            <a:r>
              <a:rPr kern="1200" spc="-5" dirty="0">
                <a:solidFill>
                  <a:srgbClr val="FFFFFF"/>
                </a:solidFill>
                <a:latin typeface="Consolas"/>
                <a:cs typeface="Consolas"/>
              </a:rPr>
              <a:t>id2 </a:t>
            </a:r>
            <a:r>
              <a:rPr kern="1200" dirty="0">
                <a:solidFill>
                  <a:srgbClr val="FFFFFF"/>
                </a:solidFill>
                <a:latin typeface="Consolas"/>
                <a:cs typeface="Consolas"/>
              </a:rPr>
              <a:t>+</a:t>
            </a:r>
            <a:r>
              <a:rPr kern="1200" spc="-120" dirty="0">
                <a:solidFill>
                  <a:srgbClr val="FFFFFF"/>
                </a:solidFill>
                <a:latin typeface="Consolas"/>
                <a:cs typeface="Consolas"/>
              </a:rPr>
              <a:t> </a:t>
            </a:r>
            <a:r>
              <a:rPr kern="1200" dirty="0">
                <a:solidFill>
                  <a:srgbClr val="FFFFFF"/>
                </a:solidFill>
                <a:latin typeface="Consolas"/>
                <a:cs typeface="Consolas"/>
              </a:rPr>
              <a:t>t2  </a:t>
            </a:r>
            <a:r>
              <a:rPr kern="1200" spc="-5" dirty="0">
                <a:solidFill>
                  <a:srgbClr val="FFFFFF"/>
                </a:solidFill>
                <a:latin typeface="Consolas"/>
                <a:cs typeface="Consolas"/>
              </a:rPr>
              <a:t>id1 </a:t>
            </a:r>
            <a:r>
              <a:rPr kern="1200" dirty="0">
                <a:solidFill>
                  <a:srgbClr val="FFFFFF"/>
                </a:solidFill>
                <a:latin typeface="Consolas"/>
                <a:cs typeface="Consolas"/>
              </a:rPr>
              <a:t>=</a:t>
            </a:r>
            <a:r>
              <a:rPr kern="1200" spc="-45" dirty="0">
                <a:solidFill>
                  <a:srgbClr val="FFFFFF"/>
                </a:solidFill>
                <a:latin typeface="Consolas"/>
                <a:cs typeface="Consolas"/>
              </a:rPr>
              <a:t> </a:t>
            </a:r>
            <a:r>
              <a:rPr kern="1200" spc="-5" dirty="0">
                <a:solidFill>
                  <a:srgbClr val="FFFFFF"/>
                </a:solidFill>
                <a:latin typeface="Consolas"/>
                <a:cs typeface="Consolas"/>
              </a:rPr>
              <a:t>t3</a:t>
            </a:r>
            <a:endParaRPr kern="1200">
              <a:solidFill>
                <a:prstClr val="black"/>
              </a:solidFill>
              <a:latin typeface="Consolas"/>
              <a:cs typeface="Consolas"/>
            </a:endParaRPr>
          </a:p>
        </p:txBody>
      </p:sp>
      <p:sp>
        <p:nvSpPr>
          <p:cNvPr id="15" name="object 4">
            <a:extLst>
              <a:ext uri="{FF2B5EF4-FFF2-40B4-BE49-F238E27FC236}">
                <a16:creationId xmlns:a16="http://schemas.microsoft.com/office/drawing/2014/main" id="{27D9E993-416E-87FB-F399-075E7FEAEF4F}"/>
              </a:ext>
            </a:extLst>
          </p:cNvPr>
          <p:cNvSpPr txBox="1"/>
          <p:nvPr/>
        </p:nvSpPr>
        <p:spPr>
          <a:xfrm>
            <a:off x="3603497" y="1987419"/>
            <a:ext cx="4914900" cy="1013460"/>
          </a:xfrm>
          <a:prstGeom prst="rect">
            <a:avLst/>
          </a:prstGeom>
        </p:spPr>
        <p:txBody>
          <a:bodyPr vert="horz" wrap="square" lIns="0" tIns="12065" rIns="0" bIns="0" rtlCol="0">
            <a:spAutoFit/>
          </a:bodyPr>
          <a:lstStyle/>
          <a:p>
            <a:pPr marL="355600" marR="5080" indent="-343535" rtl="0">
              <a:lnSpc>
                <a:spcPct val="120100"/>
              </a:lnSpc>
              <a:spcBef>
                <a:spcPts val="95"/>
              </a:spcBef>
              <a:tabLst>
                <a:tab pos="355600" algn="l"/>
              </a:tabLst>
            </a:pPr>
            <a:r>
              <a:rPr kern="1200" dirty="0">
                <a:solidFill>
                  <a:srgbClr val="FF0000"/>
                </a:solidFill>
                <a:latin typeface="Palatino Linotype"/>
                <a:cs typeface="Palatino Linotype"/>
              </a:rPr>
              <a:t>1.	60 is a </a:t>
            </a:r>
            <a:r>
              <a:rPr kern="1200" spc="-5" dirty="0">
                <a:solidFill>
                  <a:srgbClr val="FF0000"/>
                </a:solidFill>
                <a:latin typeface="Palatino Linotype"/>
                <a:cs typeface="Palatino Linotype"/>
              </a:rPr>
              <a:t>constant integer </a:t>
            </a:r>
            <a:r>
              <a:rPr kern="1200" spc="-10" dirty="0">
                <a:solidFill>
                  <a:srgbClr val="FF0000"/>
                </a:solidFill>
                <a:latin typeface="Palatino Linotype"/>
                <a:cs typeface="Palatino Linotype"/>
              </a:rPr>
              <a:t>value. </a:t>
            </a:r>
            <a:r>
              <a:rPr kern="1200" dirty="0">
                <a:solidFill>
                  <a:prstClr val="black"/>
                </a:solidFill>
                <a:latin typeface="Palatino Linotype"/>
                <a:cs typeface="Palatino Linotype"/>
              </a:rPr>
              <a:t>Its </a:t>
            </a:r>
            <a:r>
              <a:rPr kern="1200" spc="-5" dirty="0">
                <a:solidFill>
                  <a:prstClr val="black"/>
                </a:solidFill>
                <a:latin typeface="Palatino Linotype"/>
                <a:cs typeface="Palatino Linotype"/>
              </a:rPr>
              <a:t>conversion  to floating-point </a:t>
            </a:r>
            <a:r>
              <a:rPr kern="1200" dirty="0">
                <a:solidFill>
                  <a:prstClr val="black"/>
                </a:solidFill>
                <a:latin typeface="Palatino Linotype"/>
                <a:cs typeface="Palatino Linotype"/>
              </a:rPr>
              <a:t>can </a:t>
            </a:r>
            <a:r>
              <a:rPr kern="1200" spc="-5" dirty="0">
                <a:solidFill>
                  <a:prstClr val="black"/>
                </a:solidFill>
                <a:latin typeface="Palatino Linotype"/>
                <a:cs typeface="Palatino Linotype"/>
              </a:rPr>
              <a:t>be done </a:t>
            </a:r>
            <a:r>
              <a:rPr kern="1200" dirty="0">
                <a:solidFill>
                  <a:prstClr val="black"/>
                </a:solidFill>
                <a:latin typeface="Palatino Linotype"/>
                <a:cs typeface="Palatino Linotype"/>
              </a:rPr>
              <a:t>once and for all  at </a:t>
            </a:r>
            <a:r>
              <a:rPr kern="1200" spc="-5" dirty="0">
                <a:solidFill>
                  <a:prstClr val="black"/>
                </a:solidFill>
                <a:latin typeface="Palatino Linotype"/>
                <a:cs typeface="Palatino Linotype"/>
              </a:rPr>
              <a:t>compile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time</a:t>
            </a:r>
            <a:endParaRPr kern="1200">
              <a:solidFill>
                <a:prstClr val="black"/>
              </a:solidFill>
              <a:latin typeface="Palatino Linotype"/>
              <a:cs typeface="Palatino Linotype"/>
            </a:endParaRPr>
          </a:p>
        </p:txBody>
      </p:sp>
      <p:sp>
        <p:nvSpPr>
          <p:cNvPr id="16" name="object 5">
            <a:extLst>
              <a:ext uri="{FF2B5EF4-FFF2-40B4-BE49-F238E27FC236}">
                <a16:creationId xmlns:a16="http://schemas.microsoft.com/office/drawing/2014/main" id="{FDE5C5CA-C07C-A2AC-CC16-5DD7B34B5A13}"/>
              </a:ext>
            </a:extLst>
          </p:cNvPr>
          <p:cNvSpPr txBox="1"/>
          <p:nvPr/>
        </p:nvSpPr>
        <p:spPr>
          <a:xfrm>
            <a:off x="3603497" y="3182239"/>
            <a:ext cx="4096385" cy="299720"/>
          </a:xfrm>
          <a:prstGeom prst="rect">
            <a:avLst/>
          </a:prstGeom>
        </p:spPr>
        <p:txBody>
          <a:bodyPr vert="horz" wrap="square" lIns="0" tIns="12700" rIns="0" bIns="0" rtlCol="0">
            <a:spAutoFit/>
          </a:bodyPr>
          <a:lstStyle/>
          <a:p>
            <a:pPr marL="12700" rtl="0">
              <a:spcBef>
                <a:spcPts val="100"/>
              </a:spcBef>
              <a:tabLst>
                <a:tab pos="355600" algn="l"/>
              </a:tabLst>
            </a:pPr>
            <a:r>
              <a:rPr kern="1200" dirty="0">
                <a:solidFill>
                  <a:srgbClr val="FF0000"/>
                </a:solidFill>
                <a:latin typeface="Palatino Linotype"/>
                <a:cs typeface="Palatino Linotype"/>
              </a:rPr>
              <a:t>2.	t3 </a:t>
            </a:r>
            <a:r>
              <a:rPr kern="1200" dirty="0">
                <a:solidFill>
                  <a:prstClr val="black"/>
                </a:solidFill>
                <a:latin typeface="Palatino Linotype"/>
                <a:cs typeface="Palatino Linotype"/>
              </a:rPr>
              <a:t>is only used for </a:t>
            </a:r>
            <a:r>
              <a:rPr kern="1200" spc="-10" dirty="0">
                <a:solidFill>
                  <a:prstClr val="black"/>
                </a:solidFill>
                <a:latin typeface="Palatino Linotype"/>
                <a:cs typeface="Palatino Linotype"/>
              </a:rPr>
              <a:t>value</a:t>
            </a:r>
            <a:r>
              <a:rPr kern="1200" spc="-70" dirty="0">
                <a:solidFill>
                  <a:prstClr val="black"/>
                </a:solidFill>
                <a:latin typeface="Palatino Linotype"/>
                <a:cs typeface="Palatino Linotype"/>
              </a:rPr>
              <a:t> </a:t>
            </a:r>
            <a:r>
              <a:rPr kern="1200" spc="-5" dirty="0">
                <a:solidFill>
                  <a:prstClr val="black"/>
                </a:solidFill>
                <a:latin typeface="Palatino Linotype"/>
                <a:cs typeface="Palatino Linotype"/>
              </a:rPr>
              <a:t>transmitting</a:t>
            </a:r>
            <a:endParaRPr kern="1200">
              <a:solidFill>
                <a:prstClr val="black"/>
              </a:solidFill>
              <a:latin typeface="Palatino Linotype"/>
              <a:cs typeface="Palatino Linotype"/>
            </a:endParaRPr>
          </a:p>
        </p:txBody>
      </p:sp>
      <p:sp>
        <p:nvSpPr>
          <p:cNvPr id="17" name="object 6">
            <a:extLst>
              <a:ext uri="{FF2B5EF4-FFF2-40B4-BE49-F238E27FC236}">
                <a16:creationId xmlns:a16="http://schemas.microsoft.com/office/drawing/2014/main" id="{78156A25-7564-FBA7-72BC-DEC188F7F19D}"/>
              </a:ext>
            </a:extLst>
          </p:cNvPr>
          <p:cNvSpPr txBox="1"/>
          <p:nvPr/>
        </p:nvSpPr>
        <p:spPr>
          <a:xfrm>
            <a:off x="5073396" y="4767071"/>
            <a:ext cx="2649220" cy="980440"/>
          </a:xfrm>
          <a:prstGeom prst="rect">
            <a:avLst/>
          </a:prstGeom>
          <a:solidFill>
            <a:srgbClr val="000000"/>
          </a:solidFill>
        </p:spPr>
        <p:txBody>
          <a:bodyPr vert="horz" wrap="square" lIns="0" tIns="27305" rIns="0" bIns="0" rtlCol="0">
            <a:spAutoFit/>
          </a:bodyPr>
          <a:lstStyle/>
          <a:p>
            <a:pPr marL="180340" marR="580390" rtl="0">
              <a:lnSpc>
                <a:spcPts val="3240"/>
              </a:lnSpc>
              <a:spcBef>
                <a:spcPts val="215"/>
              </a:spcBef>
            </a:pPr>
            <a:r>
              <a:rPr kern="1200" spc="-5" dirty="0">
                <a:solidFill>
                  <a:srgbClr val="FFFFFF"/>
                </a:solidFill>
                <a:latin typeface="Consolas"/>
                <a:cs typeface="Consolas"/>
              </a:rPr>
              <a:t>t1 </a:t>
            </a:r>
            <a:r>
              <a:rPr kern="1200" dirty="0">
                <a:solidFill>
                  <a:srgbClr val="FFFFFF"/>
                </a:solidFill>
                <a:latin typeface="Consolas"/>
                <a:cs typeface="Consolas"/>
              </a:rPr>
              <a:t>= </a:t>
            </a:r>
            <a:r>
              <a:rPr kern="1200" spc="-5" dirty="0">
                <a:solidFill>
                  <a:srgbClr val="FFFFFF"/>
                </a:solidFill>
                <a:latin typeface="Consolas"/>
                <a:cs typeface="Consolas"/>
              </a:rPr>
              <a:t>id3 </a:t>
            </a:r>
            <a:r>
              <a:rPr kern="1200" dirty="0">
                <a:solidFill>
                  <a:srgbClr val="FFFFFF"/>
                </a:solidFill>
                <a:latin typeface="Consolas"/>
                <a:cs typeface="Consolas"/>
              </a:rPr>
              <a:t>*</a:t>
            </a:r>
            <a:r>
              <a:rPr kern="1200" spc="-110" dirty="0">
                <a:solidFill>
                  <a:srgbClr val="FFFFFF"/>
                </a:solidFill>
                <a:latin typeface="Consolas"/>
                <a:cs typeface="Consolas"/>
              </a:rPr>
              <a:t> </a:t>
            </a:r>
            <a:r>
              <a:rPr kern="1200" spc="-5" dirty="0">
                <a:solidFill>
                  <a:srgbClr val="FFFFFF"/>
                </a:solidFill>
                <a:latin typeface="Consolas"/>
                <a:cs typeface="Consolas"/>
              </a:rPr>
              <a:t>60.0  id1 </a:t>
            </a:r>
            <a:r>
              <a:rPr kern="1200" dirty="0">
                <a:solidFill>
                  <a:srgbClr val="FFFFFF"/>
                </a:solidFill>
                <a:latin typeface="Consolas"/>
                <a:cs typeface="Consolas"/>
              </a:rPr>
              <a:t>= </a:t>
            </a:r>
            <a:r>
              <a:rPr kern="1200" spc="-5" dirty="0">
                <a:solidFill>
                  <a:srgbClr val="FFFFFF"/>
                </a:solidFill>
                <a:latin typeface="Consolas"/>
                <a:cs typeface="Consolas"/>
              </a:rPr>
              <a:t>id2 </a:t>
            </a:r>
            <a:r>
              <a:rPr kern="1200" dirty="0">
                <a:solidFill>
                  <a:srgbClr val="FFFFFF"/>
                </a:solidFill>
                <a:latin typeface="Consolas"/>
                <a:cs typeface="Consolas"/>
              </a:rPr>
              <a:t>+</a:t>
            </a:r>
            <a:r>
              <a:rPr kern="1200" spc="-95" dirty="0">
                <a:solidFill>
                  <a:srgbClr val="FFFFFF"/>
                </a:solidFill>
                <a:latin typeface="Consolas"/>
                <a:cs typeface="Consolas"/>
              </a:rPr>
              <a:t> </a:t>
            </a:r>
            <a:r>
              <a:rPr kern="1200" spc="-5" dirty="0">
                <a:solidFill>
                  <a:srgbClr val="FFFFFF"/>
                </a:solidFill>
                <a:latin typeface="Consolas"/>
                <a:cs typeface="Consolas"/>
              </a:rPr>
              <a:t>t1</a:t>
            </a:r>
            <a:endParaRPr kern="1200">
              <a:solidFill>
                <a:prstClr val="black"/>
              </a:solidFill>
              <a:latin typeface="Consolas"/>
              <a:cs typeface="Consolas"/>
            </a:endParaRPr>
          </a:p>
        </p:txBody>
      </p:sp>
      <p:sp>
        <p:nvSpPr>
          <p:cNvPr id="18" name="object 7">
            <a:extLst>
              <a:ext uri="{FF2B5EF4-FFF2-40B4-BE49-F238E27FC236}">
                <a16:creationId xmlns:a16="http://schemas.microsoft.com/office/drawing/2014/main" id="{D3543629-21D7-ABC6-F0F5-36497F58E1F7}"/>
              </a:ext>
            </a:extLst>
          </p:cNvPr>
          <p:cNvSpPr/>
          <p:nvPr/>
        </p:nvSpPr>
        <p:spPr>
          <a:xfrm>
            <a:off x="2057780" y="3617214"/>
            <a:ext cx="3016885" cy="1716405"/>
          </a:xfrm>
          <a:custGeom>
            <a:avLst/>
            <a:gdLst/>
            <a:ahLst/>
            <a:cxnLst/>
            <a:rect l="l" t="t" r="r" b="b"/>
            <a:pathLst>
              <a:path w="3016885" h="1716404">
                <a:moveTo>
                  <a:pt x="2977400" y="1641538"/>
                </a:moveTo>
                <a:lnTo>
                  <a:pt x="2873502" y="1699260"/>
                </a:lnTo>
                <a:lnTo>
                  <a:pt x="2871851" y="1705102"/>
                </a:lnTo>
                <a:lnTo>
                  <a:pt x="2876931" y="1714246"/>
                </a:lnTo>
                <a:lnTo>
                  <a:pt x="2882772" y="1715897"/>
                </a:lnTo>
                <a:lnTo>
                  <a:pt x="2999469" y="1651127"/>
                </a:lnTo>
                <a:lnTo>
                  <a:pt x="2997072" y="1651127"/>
                </a:lnTo>
                <a:lnTo>
                  <a:pt x="2997072" y="1649857"/>
                </a:lnTo>
                <a:lnTo>
                  <a:pt x="2992373" y="1649857"/>
                </a:lnTo>
                <a:lnTo>
                  <a:pt x="2977400" y="1641538"/>
                </a:lnTo>
                <a:close/>
              </a:path>
              <a:path w="3016885" h="1716404">
                <a:moveTo>
                  <a:pt x="19050" y="0"/>
                </a:moveTo>
                <a:lnTo>
                  <a:pt x="0" y="0"/>
                </a:lnTo>
                <a:lnTo>
                  <a:pt x="0" y="1651127"/>
                </a:lnTo>
                <a:lnTo>
                  <a:pt x="2960141" y="1651127"/>
                </a:lnTo>
                <a:lnTo>
                  <a:pt x="2977286" y="1641602"/>
                </a:lnTo>
                <a:lnTo>
                  <a:pt x="19050" y="1641602"/>
                </a:lnTo>
                <a:lnTo>
                  <a:pt x="9525" y="1632077"/>
                </a:lnTo>
                <a:lnTo>
                  <a:pt x="19050" y="1632077"/>
                </a:lnTo>
                <a:lnTo>
                  <a:pt x="19050" y="0"/>
                </a:lnTo>
                <a:close/>
              </a:path>
              <a:path w="3016885" h="1716404">
                <a:moveTo>
                  <a:pt x="2999499" y="1632077"/>
                </a:moveTo>
                <a:lnTo>
                  <a:pt x="2997072" y="1632077"/>
                </a:lnTo>
                <a:lnTo>
                  <a:pt x="2997072" y="1651127"/>
                </a:lnTo>
                <a:lnTo>
                  <a:pt x="2999469" y="1651127"/>
                </a:lnTo>
                <a:lnTo>
                  <a:pt x="3016631" y="1641602"/>
                </a:lnTo>
                <a:lnTo>
                  <a:pt x="2999499" y="1632077"/>
                </a:lnTo>
                <a:close/>
              </a:path>
              <a:path w="3016885" h="1716404">
                <a:moveTo>
                  <a:pt x="2992373" y="1633220"/>
                </a:moveTo>
                <a:lnTo>
                  <a:pt x="2977400" y="1641538"/>
                </a:lnTo>
                <a:lnTo>
                  <a:pt x="2992373" y="1649857"/>
                </a:lnTo>
                <a:lnTo>
                  <a:pt x="2992373" y="1633220"/>
                </a:lnTo>
                <a:close/>
              </a:path>
              <a:path w="3016885" h="1716404">
                <a:moveTo>
                  <a:pt x="2997072" y="1633220"/>
                </a:moveTo>
                <a:lnTo>
                  <a:pt x="2992373" y="1633220"/>
                </a:lnTo>
                <a:lnTo>
                  <a:pt x="2992373" y="1649857"/>
                </a:lnTo>
                <a:lnTo>
                  <a:pt x="2997072" y="1649857"/>
                </a:lnTo>
                <a:lnTo>
                  <a:pt x="2997072" y="1633220"/>
                </a:lnTo>
                <a:close/>
              </a:path>
              <a:path w="3016885" h="1716404">
                <a:moveTo>
                  <a:pt x="19050" y="1632077"/>
                </a:moveTo>
                <a:lnTo>
                  <a:pt x="9525" y="1632077"/>
                </a:lnTo>
                <a:lnTo>
                  <a:pt x="19050" y="1641602"/>
                </a:lnTo>
                <a:lnTo>
                  <a:pt x="19050" y="1632077"/>
                </a:lnTo>
                <a:close/>
              </a:path>
              <a:path w="3016885" h="1716404">
                <a:moveTo>
                  <a:pt x="2960370" y="1632077"/>
                </a:moveTo>
                <a:lnTo>
                  <a:pt x="19050" y="1632077"/>
                </a:lnTo>
                <a:lnTo>
                  <a:pt x="19050" y="1641602"/>
                </a:lnTo>
                <a:lnTo>
                  <a:pt x="2977286" y="1641602"/>
                </a:lnTo>
                <a:lnTo>
                  <a:pt x="2960370" y="1632077"/>
                </a:lnTo>
                <a:close/>
              </a:path>
              <a:path w="3016885" h="1716404">
                <a:moveTo>
                  <a:pt x="2882772" y="1567180"/>
                </a:moveTo>
                <a:lnTo>
                  <a:pt x="2876931" y="1568831"/>
                </a:lnTo>
                <a:lnTo>
                  <a:pt x="2874391" y="1573403"/>
                </a:lnTo>
                <a:lnTo>
                  <a:pt x="2871851" y="1578102"/>
                </a:lnTo>
                <a:lnTo>
                  <a:pt x="2873502" y="1583817"/>
                </a:lnTo>
                <a:lnTo>
                  <a:pt x="2977400" y="1641538"/>
                </a:lnTo>
                <a:lnTo>
                  <a:pt x="2992373" y="1633220"/>
                </a:lnTo>
                <a:lnTo>
                  <a:pt x="2997072" y="1633220"/>
                </a:lnTo>
                <a:lnTo>
                  <a:pt x="2997072" y="1632077"/>
                </a:lnTo>
                <a:lnTo>
                  <a:pt x="2999499" y="1632077"/>
                </a:lnTo>
                <a:lnTo>
                  <a:pt x="2882772" y="156718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8">
            <a:extLst>
              <a:ext uri="{FF2B5EF4-FFF2-40B4-BE49-F238E27FC236}">
                <a16:creationId xmlns:a16="http://schemas.microsoft.com/office/drawing/2014/main" id="{1345F50E-0521-7CCE-15D8-BCADB24DC356}"/>
              </a:ext>
            </a:extLst>
          </p:cNvPr>
          <p:cNvSpPr/>
          <p:nvPr/>
        </p:nvSpPr>
        <p:spPr>
          <a:xfrm>
            <a:off x="1342644" y="4396740"/>
            <a:ext cx="1553210" cy="368935"/>
          </a:xfrm>
          <a:custGeom>
            <a:avLst/>
            <a:gdLst/>
            <a:ahLst/>
            <a:cxnLst/>
            <a:rect l="l" t="t" r="r" b="b"/>
            <a:pathLst>
              <a:path w="1553210" h="368935">
                <a:moveTo>
                  <a:pt x="0" y="368807"/>
                </a:moveTo>
                <a:lnTo>
                  <a:pt x="1552956" y="368807"/>
                </a:lnTo>
                <a:lnTo>
                  <a:pt x="1552956" y="0"/>
                </a:lnTo>
                <a:lnTo>
                  <a:pt x="0" y="0"/>
                </a:lnTo>
                <a:lnTo>
                  <a:pt x="0" y="368807"/>
                </a:lnTo>
                <a:close/>
              </a:path>
            </a:pathLst>
          </a:custGeom>
          <a:solidFill>
            <a:srgbClr val="FFFF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9">
            <a:extLst>
              <a:ext uri="{FF2B5EF4-FFF2-40B4-BE49-F238E27FC236}">
                <a16:creationId xmlns:a16="http://schemas.microsoft.com/office/drawing/2014/main" id="{57814E57-265E-3093-1BB5-EE7389677A32}"/>
              </a:ext>
            </a:extLst>
          </p:cNvPr>
          <p:cNvSpPr txBox="1"/>
          <p:nvPr/>
        </p:nvSpPr>
        <p:spPr>
          <a:xfrm>
            <a:off x="1421130" y="4415790"/>
            <a:ext cx="138049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Optimization</a:t>
            </a:r>
            <a:endParaRPr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860EB87D-BCAB-921E-7ADA-C0D5BE00DD9F}"/>
              </a:ext>
            </a:extLst>
          </p:cNvPr>
          <p:cNvSpPr>
            <a:spLocks noGrp="1"/>
          </p:cNvSpPr>
          <p:nvPr>
            <p:ph type="sldNum" sz="quarter" idx="12"/>
          </p:nvPr>
        </p:nvSpPr>
        <p:spPr/>
        <p:txBody>
          <a:bodyPr/>
          <a:lstStyle/>
          <a:p>
            <a:pPr>
              <a:defRPr/>
            </a:pPr>
            <a:fld id="{2FBC720A-3716-234A-B2DF-CBC7E48049F5}" type="slidenum">
              <a:rPr lang="en-US" altLang="zh-CN" smtClean="0"/>
              <a:t>37</a:t>
            </a:fld>
            <a:endParaRPr lang="en-US" altLang="zh-CN"/>
          </a:p>
        </p:txBody>
      </p:sp>
    </p:spTree>
    <p:extLst>
      <p:ext uri="{BB962C8B-B14F-4D97-AF65-F5344CB8AC3E}">
        <p14:creationId xmlns:p14="http://schemas.microsoft.com/office/powerpoint/2010/main" val="34049969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17" name="object 2">
            <a:extLst>
              <a:ext uri="{FF2B5EF4-FFF2-40B4-BE49-F238E27FC236}">
                <a16:creationId xmlns:a16="http://schemas.microsoft.com/office/drawing/2014/main" id="{458AD05C-37FA-AD48-EB34-B9C7BB11B2A4}"/>
              </a:ext>
            </a:extLst>
          </p:cNvPr>
          <p:cNvSpPr txBox="1">
            <a:spLocks/>
          </p:cNvSpPr>
          <p:nvPr/>
        </p:nvSpPr>
        <p:spPr>
          <a:xfrm>
            <a:off x="707542" y="530809"/>
            <a:ext cx="649287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Code Generation</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a:t>
            </a:r>
            <a:r>
              <a:rPr kumimoji="0" lang="zh-CN" altLang="en-US" sz="4000" b="1" i="0" u="none" strike="noStrike" kern="0" cap="none" spc="-15" normalizeH="0" baseline="0" noProof="0">
                <a:ln>
                  <a:noFill/>
                </a:ln>
                <a:solidFill>
                  <a:sysClr val="windowText" lastClr="000000"/>
                </a:solidFill>
                <a:effectLst/>
                <a:uLnTx/>
                <a:uFillTx/>
                <a:latin typeface="宋体"/>
                <a:ea typeface="宋体" panose="02010600030101010101" pitchFamily="2" charset="-122"/>
                <a:cs typeface="宋体"/>
              </a:rPr>
              <a:t>代码生</a:t>
            </a:r>
            <a:r>
              <a:rPr kumimoji="0" lang="zh-CN" altLang="en-US" sz="4000" b="1" i="0" u="none" strike="noStrike" kern="0" cap="none" spc="-10" normalizeH="0" baseline="0" noProof="0">
                <a:ln>
                  <a:noFill/>
                </a:ln>
                <a:solidFill>
                  <a:sysClr val="windowText" lastClr="000000"/>
                </a:solidFill>
                <a:effectLst/>
                <a:uLnTx/>
                <a:uFillTx/>
                <a:latin typeface="宋体"/>
                <a:ea typeface="宋体" panose="02010600030101010101" pitchFamily="2" charset="-122"/>
                <a:cs typeface="宋体"/>
              </a:rPr>
              <a:t>成</a:t>
            </a:r>
            <a:r>
              <a:rPr kumimoji="0" lang="en-US" altLang="zh-CN" sz="4000" b="1" i="0" u="none" strike="noStrike" kern="0" cap="none" spc="-5"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宋体"/>
              <a:ea typeface="宋体" panose="02010600030101010101" pitchFamily="2" charset="-122"/>
              <a:cs typeface="宋体"/>
            </a:endParaRPr>
          </a:p>
        </p:txBody>
      </p:sp>
      <p:sp>
        <p:nvSpPr>
          <p:cNvPr id="18" name="object 3">
            <a:extLst>
              <a:ext uri="{FF2B5EF4-FFF2-40B4-BE49-F238E27FC236}">
                <a16:creationId xmlns:a16="http://schemas.microsoft.com/office/drawing/2014/main" id="{74E7FFCA-B2A7-5B3E-D92F-7BC6797C1469}"/>
              </a:ext>
            </a:extLst>
          </p:cNvPr>
          <p:cNvSpPr txBox="1"/>
          <p:nvPr/>
        </p:nvSpPr>
        <p:spPr>
          <a:xfrm>
            <a:off x="707542" y="2699080"/>
            <a:ext cx="7889240" cy="979805"/>
          </a:xfrm>
          <a:prstGeom prst="rect">
            <a:avLst/>
          </a:prstGeom>
        </p:spPr>
        <p:txBody>
          <a:bodyPr vert="horz" wrap="square" lIns="0" tIns="13335" rIns="0" bIns="0" rtlCol="0">
            <a:spAutoFit/>
          </a:bodyPr>
          <a:lstStyle/>
          <a:p>
            <a:pPr marL="242570" indent="-230504" rtl="0">
              <a:spcBef>
                <a:spcPts val="105"/>
              </a:spcBef>
              <a:buFont typeface="Arial"/>
              <a:buChar char="•"/>
              <a:tabLst>
                <a:tab pos="242570" algn="l"/>
                <a:tab pos="243204" algn="l"/>
              </a:tabLst>
            </a:pPr>
            <a:r>
              <a:rPr sz="2300" kern="1200" dirty="0">
                <a:solidFill>
                  <a:prstClr val="black"/>
                </a:solidFill>
                <a:latin typeface="Palatino Linotype"/>
                <a:cs typeface="Palatino Linotype"/>
              </a:rPr>
              <a:t>Map IR to </a:t>
            </a:r>
            <a:r>
              <a:rPr sz="2300" kern="1200" spc="-5" dirty="0">
                <a:solidFill>
                  <a:prstClr val="black"/>
                </a:solidFill>
                <a:latin typeface="Palatino Linotype"/>
                <a:cs typeface="Palatino Linotype"/>
              </a:rPr>
              <a:t>target language, </a:t>
            </a:r>
            <a:r>
              <a:rPr sz="2300" kern="1200" dirty="0">
                <a:solidFill>
                  <a:prstClr val="black"/>
                </a:solidFill>
                <a:latin typeface="Palatino Linotype"/>
                <a:cs typeface="Palatino Linotype"/>
              </a:rPr>
              <a:t>analogous to human</a:t>
            </a:r>
            <a:r>
              <a:rPr sz="2300" kern="1200" spc="-185" dirty="0">
                <a:solidFill>
                  <a:prstClr val="black"/>
                </a:solidFill>
                <a:latin typeface="Palatino Linotype"/>
                <a:cs typeface="Palatino Linotype"/>
              </a:rPr>
              <a:t> </a:t>
            </a:r>
            <a:r>
              <a:rPr sz="2300" kern="1200" spc="-5" dirty="0">
                <a:solidFill>
                  <a:prstClr val="black"/>
                </a:solidFill>
                <a:latin typeface="Palatino Linotype"/>
                <a:cs typeface="Palatino Linotype"/>
              </a:rPr>
              <a:t>translation</a:t>
            </a:r>
            <a:endParaRPr sz="2300" kern="1200">
              <a:solidFill>
                <a:prstClr val="black"/>
              </a:solidFill>
              <a:latin typeface="Palatino Linotype"/>
              <a:cs typeface="Palatino Linotype"/>
            </a:endParaRPr>
          </a:p>
          <a:p>
            <a:pPr marL="242570" indent="-230504" rtl="0">
              <a:spcBef>
                <a:spcPts val="1985"/>
              </a:spcBef>
              <a:buFont typeface="Arial"/>
              <a:buChar char="•"/>
              <a:tabLst>
                <a:tab pos="242570" algn="l"/>
                <a:tab pos="243204" algn="l"/>
              </a:tabLst>
            </a:pPr>
            <a:r>
              <a:rPr sz="2300" kern="1200" dirty="0">
                <a:solidFill>
                  <a:prstClr val="black"/>
                </a:solidFill>
                <a:latin typeface="Palatino Linotype"/>
                <a:cs typeface="Palatino Linotype"/>
              </a:rPr>
              <a:t>It </a:t>
            </a:r>
            <a:r>
              <a:rPr sz="2300" kern="1200" spc="-5" dirty="0">
                <a:solidFill>
                  <a:prstClr val="black"/>
                </a:solidFill>
                <a:latin typeface="Palatino Linotype"/>
                <a:cs typeface="Palatino Linotype"/>
              </a:rPr>
              <a:t>is </a:t>
            </a:r>
            <a:r>
              <a:rPr sz="2300" kern="1200" dirty="0">
                <a:solidFill>
                  <a:prstClr val="black"/>
                </a:solidFill>
                <a:latin typeface="Palatino Linotype"/>
                <a:cs typeface="Palatino Linotype"/>
              </a:rPr>
              <a:t>crucial </a:t>
            </a:r>
            <a:r>
              <a:rPr sz="2300" kern="1200" spc="-5" dirty="0">
                <a:solidFill>
                  <a:prstClr val="black"/>
                </a:solidFill>
                <a:latin typeface="Palatino Linotype"/>
                <a:cs typeface="Palatino Linotype"/>
              </a:rPr>
              <a:t>to </a:t>
            </a:r>
            <a:r>
              <a:rPr sz="2300" kern="1200" dirty="0">
                <a:solidFill>
                  <a:srgbClr val="FF0000"/>
                </a:solidFill>
                <a:latin typeface="Palatino Linotype"/>
                <a:cs typeface="Palatino Linotype"/>
              </a:rPr>
              <a:t>allocate register and memory </a:t>
            </a:r>
            <a:r>
              <a:rPr sz="2300" kern="1200" spc="-5" dirty="0">
                <a:solidFill>
                  <a:prstClr val="black"/>
                </a:solidFill>
                <a:latin typeface="Palatino Linotype"/>
                <a:cs typeface="Palatino Linotype"/>
              </a:rPr>
              <a:t>to hold</a:t>
            </a:r>
            <a:r>
              <a:rPr sz="2300" kern="1200" spc="-95" dirty="0">
                <a:solidFill>
                  <a:prstClr val="black"/>
                </a:solidFill>
                <a:latin typeface="Palatino Linotype"/>
                <a:cs typeface="Palatino Linotype"/>
              </a:rPr>
              <a:t> </a:t>
            </a:r>
            <a:r>
              <a:rPr sz="2300" kern="1200" spc="-10" dirty="0">
                <a:solidFill>
                  <a:prstClr val="black"/>
                </a:solidFill>
                <a:latin typeface="Palatino Linotype"/>
                <a:cs typeface="Palatino Linotype"/>
              </a:rPr>
              <a:t>values</a:t>
            </a:r>
            <a:endParaRPr sz="2300" kern="1200">
              <a:solidFill>
                <a:prstClr val="black"/>
              </a:solidFill>
              <a:latin typeface="Palatino Linotype"/>
              <a:cs typeface="Palatino Linotype"/>
            </a:endParaRPr>
          </a:p>
        </p:txBody>
      </p:sp>
      <p:sp>
        <p:nvSpPr>
          <p:cNvPr id="19" name="object 4">
            <a:extLst>
              <a:ext uri="{FF2B5EF4-FFF2-40B4-BE49-F238E27FC236}">
                <a16:creationId xmlns:a16="http://schemas.microsoft.com/office/drawing/2014/main" id="{C30086DD-D840-D5B1-3462-054755A278E8}"/>
              </a:ext>
            </a:extLst>
          </p:cNvPr>
          <p:cNvSpPr txBox="1"/>
          <p:nvPr/>
        </p:nvSpPr>
        <p:spPr>
          <a:xfrm>
            <a:off x="841247" y="4622291"/>
            <a:ext cx="2338070" cy="980440"/>
          </a:xfrm>
          <a:prstGeom prst="rect">
            <a:avLst/>
          </a:prstGeom>
          <a:solidFill>
            <a:srgbClr val="000000"/>
          </a:solidFill>
        </p:spPr>
        <p:txBody>
          <a:bodyPr vert="horz" wrap="square" lIns="0" tIns="26670" rIns="0" bIns="0" rtlCol="0">
            <a:spAutoFit/>
          </a:bodyPr>
          <a:lstStyle/>
          <a:p>
            <a:pPr marL="180340" marR="269240" rtl="0">
              <a:lnSpc>
                <a:spcPts val="3240"/>
              </a:lnSpc>
              <a:spcBef>
                <a:spcPts val="210"/>
              </a:spcBef>
            </a:pPr>
            <a:r>
              <a:rPr kern="1200" spc="-5" dirty="0">
                <a:solidFill>
                  <a:srgbClr val="FFFFFF"/>
                </a:solidFill>
                <a:latin typeface="Consolas"/>
                <a:cs typeface="Consolas"/>
              </a:rPr>
              <a:t>t1 </a:t>
            </a:r>
            <a:r>
              <a:rPr kern="1200" dirty="0">
                <a:solidFill>
                  <a:srgbClr val="FFFFFF"/>
                </a:solidFill>
                <a:latin typeface="Consolas"/>
                <a:cs typeface="Consolas"/>
              </a:rPr>
              <a:t>= </a:t>
            </a:r>
            <a:r>
              <a:rPr kern="1200" spc="-5" dirty="0">
                <a:solidFill>
                  <a:srgbClr val="FFFFFF"/>
                </a:solidFill>
                <a:latin typeface="Consolas"/>
                <a:cs typeface="Consolas"/>
              </a:rPr>
              <a:t>id3 </a:t>
            </a:r>
            <a:r>
              <a:rPr kern="1200" dirty="0">
                <a:solidFill>
                  <a:srgbClr val="FFFFFF"/>
                </a:solidFill>
                <a:latin typeface="Consolas"/>
                <a:cs typeface="Consolas"/>
              </a:rPr>
              <a:t>*</a:t>
            </a:r>
            <a:r>
              <a:rPr kern="1200" spc="-110" dirty="0">
                <a:solidFill>
                  <a:srgbClr val="FFFFFF"/>
                </a:solidFill>
                <a:latin typeface="Consolas"/>
                <a:cs typeface="Consolas"/>
              </a:rPr>
              <a:t> </a:t>
            </a:r>
            <a:r>
              <a:rPr kern="1200" spc="-5" dirty="0">
                <a:solidFill>
                  <a:srgbClr val="FFFFFF"/>
                </a:solidFill>
                <a:latin typeface="Consolas"/>
                <a:cs typeface="Consolas"/>
              </a:rPr>
              <a:t>60.0  id1 </a:t>
            </a:r>
            <a:r>
              <a:rPr kern="1200" dirty="0">
                <a:solidFill>
                  <a:srgbClr val="FFFFFF"/>
                </a:solidFill>
                <a:latin typeface="Consolas"/>
                <a:cs typeface="Consolas"/>
              </a:rPr>
              <a:t>= </a:t>
            </a:r>
            <a:r>
              <a:rPr kern="1200" spc="-5" dirty="0">
                <a:solidFill>
                  <a:srgbClr val="FFFFFF"/>
                </a:solidFill>
                <a:latin typeface="Consolas"/>
                <a:cs typeface="Consolas"/>
              </a:rPr>
              <a:t>id2 </a:t>
            </a:r>
            <a:r>
              <a:rPr kern="1200" dirty="0">
                <a:solidFill>
                  <a:srgbClr val="FFFFFF"/>
                </a:solidFill>
                <a:latin typeface="Consolas"/>
                <a:cs typeface="Consolas"/>
              </a:rPr>
              <a:t>+</a:t>
            </a:r>
            <a:r>
              <a:rPr kern="1200" spc="-95" dirty="0">
                <a:solidFill>
                  <a:srgbClr val="FFFFFF"/>
                </a:solidFill>
                <a:latin typeface="Consolas"/>
                <a:cs typeface="Consolas"/>
              </a:rPr>
              <a:t> </a:t>
            </a:r>
            <a:r>
              <a:rPr kern="1200" spc="-5" dirty="0">
                <a:solidFill>
                  <a:srgbClr val="FFFFFF"/>
                </a:solidFill>
                <a:latin typeface="Consolas"/>
                <a:cs typeface="Consolas"/>
              </a:rPr>
              <a:t>t1</a:t>
            </a:r>
            <a:endParaRPr kern="1200">
              <a:solidFill>
                <a:prstClr val="black"/>
              </a:solidFill>
              <a:latin typeface="Consolas"/>
              <a:cs typeface="Consolas"/>
            </a:endParaRPr>
          </a:p>
        </p:txBody>
      </p:sp>
      <p:sp>
        <p:nvSpPr>
          <p:cNvPr id="20" name="object 5">
            <a:extLst>
              <a:ext uri="{FF2B5EF4-FFF2-40B4-BE49-F238E27FC236}">
                <a16:creationId xmlns:a16="http://schemas.microsoft.com/office/drawing/2014/main" id="{9078A2B6-60D6-E30D-D872-C74576A222CF}"/>
              </a:ext>
            </a:extLst>
          </p:cNvPr>
          <p:cNvSpPr txBox="1"/>
          <p:nvPr/>
        </p:nvSpPr>
        <p:spPr>
          <a:xfrm>
            <a:off x="1661032" y="1726438"/>
            <a:ext cx="2505075" cy="365760"/>
          </a:xfrm>
          <a:prstGeom prst="rect">
            <a:avLst/>
          </a:prstGeom>
          <a:solidFill>
            <a:srgbClr val="9DC3E6"/>
          </a:solidFill>
          <a:ln w="12700">
            <a:solidFill>
              <a:srgbClr val="000000"/>
            </a:solidFill>
          </a:ln>
        </p:spPr>
        <p:txBody>
          <a:bodyPr vert="horz" wrap="square" lIns="0" tIns="31114" rIns="0" bIns="0" rtlCol="0">
            <a:spAutoFit/>
          </a:bodyPr>
          <a:lstStyle/>
          <a:p>
            <a:pPr marL="445134" rtl="0">
              <a:spcBef>
                <a:spcPts val="244"/>
              </a:spcBef>
            </a:pPr>
            <a:r>
              <a:rPr kern="1200" dirty="0">
                <a:solidFill>
                  <a:prstClr val="black"/>
                </a:solidFill>
                <a:latin typeface="Palatino Linotype"/>
                <a:cs typeface="Palatino Linotype"/>
              </a:rPr>
              <a:t>Code</a:t>
            </a:r>
            <a:r>
              <a:rPr kern="1200" spc="-5" dirty="0">
                <a:solidFill>
                  <a:prstClr val="black"/>
                </a:solidFill>
                <a:latin typeface="Palatino Linotype"/>
                <a:cs typeface="Palatino Linotype"/>
              </a:rPr>
              <a:t> Generator</a:t>
            </a:r>
            <a:endParaRPr kern="1200">
              <a:solidFill>
                <a:prstClr val="black"/>
              </a:solidFill>
              <a:latin typeface="Palatino Linotype"/>
              <a:cs typeface="Palatino Linotype"/>
            </a:endParaRPr>
          </a:p>
        </p:txBody>
      </p:sp>
      <p:sp>
        <p:nvSpPr>
          <p:cNvPr id="21" name="object 6">
            <a:extLst>
              <a:ext uri="{FF2B5EF4-FFF2-40B4-BE49-F238E27FC236}">
                <a16:creationId xmlns:a16="http://schemas.microsoft.com/office/drawing/2014/main" id="{BCFA8B96-52BC-964E-5E03-F4497E708B57}"/>
              </a:ext>
            </a:extLst>
          </p:cNvPr>
          <p:cNvSpPr txBox="1"/>
          <p:nvPr/>
        </p:nvSpPr>
        <p:spPr>
          <a:xfrm>
            <a:off x="717600" y="1733803"/>
            <a:ext cx="25654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IR</a:t>
            </a:r>
            <a:endParaRPr kern="1200">
              <a:solidFill>
                <a:prstClr val="black"/>
              </a:solidFill>
              <a:latin typeface="Palatino Linotype"/>
              <a:cs typeface="Palatino Linotype"/>
            </a:endParaRPr>
          </a:p>
        </p:txBody>
      </p:sp>
      <p:sp>
        <p:nvSpPr>
          <p:cNvPr id="22" name="object 7">
            <a:extLst>
              <a:ext uri="{FF2B5EF4-FFF2-40B4-BE49-F238E27FC236}">
                <a16:creationId xmlns:a16="http://schemas.microsoft.com/office/drawing/2014/main" id="{FCDC4B70-4804-B721-1C9C-712EF1BFC1C9}"/>
              </a:ext>
            </a:extLst>
          </p:cNvPr>
          <p:cNvSpPr/>
          <p:nvPr/>
        </p:nvSpPr>
        <p:spPr>
          <a:xfrm>
            <a:off x="1074419" y="1865502"/>
            <a:ext cx="561975" cy="103505"/>
          </a:xfrm>
          <a:custGeom>
            <a:avLst/>
            <a:gdLst/>
            <a:ahLst/>
            <a:cxnLst/>
            <a:rect l="l" t="t" r="r" b="b"/>
            <a:pathLst>
              <a:path w="561975" h="103505">
                <a:moveTo>
                  <a:pt x="526306" y="51689"/>
                </a:moveTo>
                <a:lnTo>
                  <a:pt x="427355" y="90170"/>
                </a:lnTo>
                <a:lnTo>
                  <a:pt x="424180" y="91439"/>
                </a:lnTo>
                <a:lnTo>
                  <a:pt x="422529" y="95123"/>
                </a:lnTo>
                <a:lnTo>
                  <a:pt x="425069" y="101726"/>
                </a:lnTo>
                <a:lnTo>
                  <a:pt x="428752" y="103377"/>
                </a:lnTo>
                <a:lnTo>
                  <a:pt x="545168" y="58038"/>
                </a:lnTo>
                <a:lnTo>
                  <a:pt x="543941" y="58038"/>
                </a:lnTo>
                <a:lnTo>
                  <a:pt x="543941" y="57658"/>
                </a:lnTo>
                <a:lnTo>
                  <a:pt x="541655" y="57658"/>
                </a:lnTo>
                <a:lnTo>
                  <a:pt x="526306" y="51689"/>
                </a:lnTo>
                <a:close/>
              </a:path>
              <a:path w="561975" h="103505">
                <a:moveTo>
                  <a:pt x="509977" y="45338"/>
                </a:moveTo>
                <a:lnTo>
                  <a:pt x="0" y="45338"/>
                </a:lnTo>
                <a:lnTo>
                  <a:pt x="0" y="58038"/>
                </a:lnTo>
                <a:lnTo>
                  <a:pt x="509977" y="58038"/>
                </a:lnTo>
                <a:lnTo>
                  <a:pt x="526306" y="51689"/>
                </a:lnTo>
                <a:lnTo>
                  <a:pt x="509977" y="45338"/>
                </a:lnTo>
                <a:close/>
              </a:path>
              <a:path w="561975" h="103505">
                <a:moveTo>
                  <a:pt x="545168" y="45338"/>
                </a:moveTo>
                <a:lnTo>
                  <a:pt x="543941" y="45338"/>
                </a:lnTo>
                <a:lnTo>
                  <a:pt x="543941" y="58038"/>
                </a:lnTo>
                <a:lnTo>
                  <a:pt x="545168" y="58038"/>
                </a:lnTo>
                <a:lnTo>
                  <a:pt x="561466" y="51689"/>
                </a:lnTo>
                <a:lnTo>
                  <a:pt x="545168" y="45338"/>
                </a:lnTo>
                <a:close/>
              </a:path>
              <a:path w="561975" h="103505">
                <a:moveTo>
                  <a:pt x="541655" y="45720"/>
                </a:moveTo>
                <a:lnTo>
                  <a:pt x="526306" y="51689"/>
                </a:lnTo>
                <a:lnTo>
                  <a:pt x="541655" y="57658"/>
                </a:lnTo>
                <a:lnTo>
                  <a:pt x="541655" y="45720"/>
                </a:lnTo>
                <a:close/>
              </a:path>
              <a:path w="561975" h="103505">
                <a:moveTo>
                  <a:pt x="543941" y="45720"/>
                </a:moveTo>
                <a:lnTo>
                  <a:pt x="541655" y="45720"/>
                </a:lnTo>
                <a:lnTo>
                  <a:pt x="541655" y="57658"/>
                </a:lnTo>
                <a:lnTo>
                  <a:pt x="543941" y="57658"/>
                </a:lnTo>
                <a:lnTo>
                  <a:pt x="543941" y="45720"/>
                </a:lnTo>
                <a:close/>
              </a:path>
              <a:path w="561975" h="103505">
                <a:moveTo>
                  <a:pt x="428752" y="0"/>
                </a:moveTo>
                <a:lnTo>
                  <a:pt x="425069" y="1650"/>
                </a:lnTo>
                <a:lnTo>
                  <a:pt x="422529" y="8255"/>
                </a:lnTo>
                <a:lnTo>
                  <a:pt x="424180" y="11937"/>
                </a:lnTo>
                <a:lnTo>
                  <a:pt x="427355" y="13208"/>
                </a:lnTo>
                <a:lnTo>
                  <a:pt x="526306" y="51689"/>
                </a:lnTo>
                <a:lnTo>
                  <a:pt x="541655" y="45720"/>
                </a:lnTo>
                <a:lnTo>
                  <a:pt x="543941" y="45720"/>
                </a:lnTo>
                <a:lnTo>
                  <a:pt x="543941" y="45338"/>
                </a:lnTo>
                <a:lnTo>
                  <a:pt x="545168" y="45338"/>
                </a:lnTo>
                <a:lnTo>
                  <a:pt x="42875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8">
            <a:extLst>
              <a:ext uri="{FF2B5EF4-FFF2-40B4-BE49-F238E27FC236}">
                <a16:creationId xmlns:a16="http://schemas.microsoft.com/office/drawing/2014/main" id="{1197A41B-5915-BC5E-FD9F-E54966C91F30}"/>
              </a:ext>
            </a:extLst>
          </p:cNvPr>
          <p:cNvSpPr/>
          <p:nvPr/>
        </p:nvSpPr>
        <p:spPr>
          <a:xfrm>
            <a:off x="4169664" y="1865502"/>
            <a:ext cx="561975" cy="103505"/>
          </a:xfrm>
          <a:custGeom>
            <a:avLst/>
            <a:gdLst/>
            <a:ahLst/>
            <a:cxnLst/>
            <a:rect l="l" t="t" r="r" b="b"/>
            <a:pathLst>
              <a:path w="561975" h="103505">
                <a:moveTo>
                  <a:pt x="526306" y="51689"/>
                </a:moveTo>
                <a:lnTo>
                  <a:pt x="427355" y="90170"/>
                </a:lnTo>
                <a:lnTo>
                  <a:pt x="424180" y="91439"/>
                </a:lnTo>
                <a:lnTo>
                  <a:pt x="422528" y="95123"/>
                </a:lnTo>
                <a:lnTo>
                  <a:pt x="425069" y="101726"/>
                </a:lnTo>
                <a:lnTo>
                  <a:pt x="428751" y="103377"/>
                </a:lnTo>
                <a:lnTo>
                  <a:pt x="545168" y="58038"/>
                </a:lnTo>
                <a:lnTo>
                  <a:pt x="543940" y="58038"/>
                </a:lnTo>
                <a:lnTo>
                  <a:pt x="543940" y="57658"/>
                </a:lnTo>
                <a:lnTo>
                  <a:pt x="541655" y="57658"/>
                </a:lnTo>
                <a:lnTo>
                  <a:pt x="526306" y="51689"/>
                </a:lnTo>
                <a:close/>
              </a:path>
              <a:path w="561975" h="103505">
                <a:moveTo>
                  <a:pt x="509977" y="45338"/>
                </a:moveTo>
                <a:lnTo>
                  <a:pt x="0" y="45338"/>
                </a:lnTo>
                <a:lnTo>
                  <a:pt x="0" y="58038"/>
                </a:lnTo>
                <a:lnTo>
                  <a:pt x="509977" y="58038"/>
                </a:lnTo>
                <a:lnTo>
                  <a:pt x="526306" y="51689"/>
                </a:lnTo>
                <a:lnTo>
                  <a:pt x="509977" y="45338"/>
                </a:lnTo>
                <a:close/>
              </a:path>
              <a:path w="561975" h="103505">
                <a:moveTo>
                  <a:pt x="545168" y="45338"/>
                </a:moveTo>
                <a:lnTo>
                  <a:pt x="543940" y="45338"/>
                </a:lnTo>
                <a:lnTo>
                  <a:pt x="543940" y="58038"/>
                </a:lnTo>
                <a:lnTo>
                  <a:pt x="545168" y="58038"/>
                </a:lnTo>
                <a:lnTo>
                  <a:pt x="561466" y="51689"/>
                </a:lnTo>
                <a:lnTo>
                  <a:pt x="545168" y="45338"/>
                </a:lnTo>
                <a:close/>
              </a:path>
              <a:path w="561975" h="103505">
                <a:moveTo>
                  <a:pt x="541655" y="45720"/>
                </a:moveTo>
                <a:lnTo>
                  <a:pt x="526306" y="51689"/>
                </a:lnTo>
                <a:lnTo>
                  <a:pt x="541655" y="57658"/>
                </a:lnTo>
                <a:lnTo>
                  <a:pt x="541655" y="45720"/>
                </a:lnTo>
                <a:close/>
              </a:path>
              <a:path w="561975" h="103505">
                <a:moveTo>
                  <a:pt x="543940" y="45720"/>
                </a:moveTo>
                <a:lnTo>
                  <a:pt x="541655" y="45720"/>
                </a:lnTo>
                <a:lnTo>
                  <a:pt x="541655" y="57658"/>
                </a:lnTo>
                <a:lnTo>
                  <a:pt x="543940" y="57658"/>
                </a:lnTo>
                <a:lnTo>
                  <a:pt x="543940" y="45720"/>
                </a:lnTo>
                <a:close/>
              </a:path>
              <a:path w="561975" h="103505">
                <a:moveTo>
                  <a:pt x="428751" y="0"/>
                </a:moveTo>
                <a:lnTo>
                  <a:pt x="425069" y="1650"/>
                </a:lnTo>
                <a:lnTo>
                  <a:pt x="422528" y="8255"/>
                </a:lnTo>
                <a:lnTo>
                  <a:pt x="424180" y="11937"/>
                </a:lnTo>
                <a:lnTo>
                  <a:pt x="427355" y="13208"/>
                </a:lnTo>
                <a:lnTo>
                  <a:pt x="526306" y="51689"/>
                </a:lnTo>
                <a:lnTo>
                  <a:pt x="541655" y="45720"/>
                </a:lnTo>
                <a:lnTo>
                  <a:pt x="543940" y="45720"/>
                </a:lnTo>
                <a:lnTo>
                  <a:pt x="543940" y="45338"/>
                </a:lnTo>
                <a:lnTo>
                  <a:pt x="545168" y="45338"/>
                </a:lnTo>
                <a:lnTo>
                  <a:pt x="42875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9">
            <a:extLst>
              <a:ext uri="{FF2B5EF4-FFF2-40B4-BE49-F238E27FC236}">
                <a16:creationId xmlns:a16="http://schemas.microsoft.com/office/drawing/2014/main" id="{EBABD49E-94E7-1206-4958-A566BF2A718E}"/>
              </a:ext>
            </a:extLst>
          </p:cNvPr>
          <p:cNvSpPr txBox="1"/>
          <p:nvPr/>
        </p:nvSpPr>
        <p:spPr>
          <a:xfrm>
            <a:off x="4851019" y="1758441"/>
            <a:ext cx="2132330" cy="299720"/>
          </a:xfrm>
          <a:prstGeom prst="rect">
            <a:avLst/>
          </a:prstGeom>
        </p:spPr>
        <p:txBody>
          <a:bodyPr vert="horz" wrap="square" lIns="0" tIns="12700" rIns="0" bIns="0" rtlCol="0">
            <a:spAutoFit/>
          </a:bodyPr>
          <a:lstStyle/>
          <a:p>
            <a:pPr marL="12700" rtl="0">
              <a:spcBef>
                <a:spcPts val="100"/>
              </a:spcBef>
            </a:pPr>
            <a:r>
              <a:rPr kern="1200" spc="-15" dirty="0">
                <a:solidFill>
                  <a:prstClr val="black"/>
                </a:solidFill>
                <a:latin typeface="Palatino Linotype"/>
                <a:cs typeface="Palatino Linotype"/>
              </a:rPr>
              <a:t>Target-machine</a:t>
            </a:r>
            <a:r>
              <a:rPr kern="1200" spc="-40" dirty="0">
                <a:solidFill>
                  <a:prstClr val="black"/>
                </a:solidFill>
                <a:latin typeface="Palatino Linotype"/>
                <a:cs typeface="Palatino Linotype"/>
              </a:rPr>
              <a:t> </a:t>
            </a:r>
            <a:r>
              <a:rPr kern="1200" dirty="0">
                <a:solidFill>
                  <a:prstClr val="black"/>
                </a:solidFill>
                <a:latin typeface="Palatino Linotype"/>
                <a:cs typeface="Palatino Linotype"/>
              </a:rPr>
              <a:t>code</a:t>
            </a:r>
            <a:endParaRPr kern="1200">
              <a:solidFill>
                <a:prstClr val="black"/>
              </a:solidFill>
              <a:latin typeface="Palatino Linotype"/>
              <a:cs typeface="Palatino Linotype"/>
            </a:endParaRPr>
          </a:p>
        </p:txBody>
      </p:sp>
      <p:sp>
        <p:nvSpPr>
          <p:cNvPr id="25" name="object 10">
            <a:extLst>
              <a:ext uri="{FF2B5EF4-FFF2-40B4-BE49-F238E27FC236}">
                <a16:creationId xmlns:a16="http://schemas.microsoft.com/office/drawing/2014/main" id="{53643F14-3161-AA69-D1DE-861EE2BDBC72}"/>
              </a:ext>
            </a:extLst>
          </p:cNvPr>
          <p:cNvSpPr txBox="1"/>
          <p:nvPr/>
        </p:nvSpPr>
        <p:spPr>
          <a:xfrm>
            <a:off x="5634228" y="4171188"/>
            <a:ext cx="2649220" cy="1882139"/>
          </a:xfrm>
          <a:prstGeom prst="rect">
            <a:avLst/>
          </a:prstGeom>
          <a:solidFill>
            <a:srgbClr val="000000"/>
          </a:solidFill>
        </p:spPr>
        <p:txBody>
          <a:bodyPr vert="horz" wrap="square" lIns="0" tIns="85090" rIns="0" bIns="0" rtlCol="0">
            <a:spAutoFit/>
          </a:bodyPr>
          <a:lstStyle/>
          <a:p>
            <a:pPr marL="180975" rtl="0">
              <a:spcBef>
                <a:spcPts val="670"/>
              </a:spcBef>
            </a:pPr>
            <a:r>
              <a:rPr kern="1200" spc="-5" dirty="0">
                <a:solidFill>
                  <a:srgbClr val="FFFFFF"/>
                </a:solidFill>
                <a:latin typeface="Consolas"/>
                <a:cs typeface="Consolas"/>
              </a:rPr>
              <a:t>LDF </a:t>
            </a:r>
            <a:r>
              <a:rPr kern="1200" dirty="0">
                <a:solidFill>
                  <a:srgbClr val="FFFFFF"/>
                </a:solidFill>
                <a:latin typeface="Consolas"/>
                <a:cs typeface="Consolas"/>
              </a:rPr>
              <a:t>R2,</a:t>
            </a:r>
            <a:r>
              <a:rPr kern="1200" spc="-85" dirty="0">
                <a:solidFill>
                  <a:srgbClr val="FFFFFF"/>
                </a:solidFill>
                <a:latin typeface="Consolas"/>
                <a:cs typeface="Consolas"/>
              </a:rPr>
              <a:t> </a:t>
            </a:r>
            <a:r>
              <a:rPr kern="1200" spc="-5" dirty="0">
                <a:solidFill>
                  <a:srgbClr val="FFFFFF"/>
                </a:solidFill>
                <a:latin typeface="Consolas"/>
                <a:cs typeface="Consolas"/>
              </a:rPr>
              <a:t>id3</a:t>
            </a:r>
            <a:endParaRPr kern="1200">
              <a:solidFill>
                <a:prstClr val="black"/>
              </a:solidFill>
              <a:latin typeface="Consolas"/>
              <a:cs typeface="Consolas"/>
            </a:endParaRPr>
          </a:p>
          <a:p>
            <a:pPr marL="180975" marR="198755" rtl="0">
              <a:lnSpc>
                <a:spcPct val="130000"/>
              </a:lnSpc>
              <a:spcBef>
                <a:spcPts val="5"/>
              </a:spcBef>
            </a:pPr>
            <a:r>
              <a:rPr kern="1200" spc="-5" dirty="0">
                <a:solidFill>
                  <a:srgbClr val="FFFFFF"/>
                </a:solidFill>
                <a:latin typeface="Consolas"/>
                <a:cs typeface="Consolas"/>
              </a:rPr>
              <a:t>MULF R2, R2,</a:t>
            </a:r>
            <a:r>
              <a:rPr kern="1200" spc="-45" dirty="0">
                <a:solidFill>
                  <a:srgbClr val="FFFFFF"/>
                </a:solidFill>
                <a:latin typeface="Consolas"/>
                <a:cs typeface="Consolas"/>
              </a:rPr>
              <a:t> </a:t>
            </a:r>
            <a:r>
              <a:rPr kern="1200" spc="-5" dirty="0">
                <a:solidFill>
                  <a:srgbClr val="FFFFFF"/>
                </a:solidFill>
                <a:latin typeface="Consolas"/>
                <a:cs typeface="Consolas"/>
              </a:rPr>
              <a:t>#60.0  LDF </a:t>
            </a:r>
            <a:r>
              <a:rPr kern="1200" dirty="0">
                <a:solidFill>
                  <a:srgbClr val="FFFFFF"/>
                </a:solidFill>
                <a:latin typeface="Consolas"/>
                <a:cs typeface="Consolas"/>
              </a:rPr>
              <a:t>R1,</a:t>
            </a:r>
            <a:r>
              <a:rPr kern="1200" spc="-25" dirty="0">
                <a:solidFill>
                  <a:srgbClr val="FFFFFF"/>
                </a:solidFill>
                <a:latin typeface="Consolas"/>
                <a:cs typeface="Consolas"/>
              </a:rPr>
              <a:t> </a:t>
            </a:r>
            <a:r>
              <a:rPr kern="1200" spc="-5" dirty="0">
                <a:solidFill>
                  <a:srgbClr val="FFFFFF"/>
                </a:solidFill>
                <a:latin typeface="Consolas"/>
                <a:cs typeface="Consolas"/>
              </a:rPr>
              <a:t>id2</a:t>
            </a:r>
            <a:endParaRPr kern="1200">
              <a:solidFill>
                <a:prstClr val="black"/>
              </a:solidFill>
              <a:latin typeface="Consolas"/>
              <a:cs typeface="Consolas"/>
            </a:endParaRPr>
          </a:p>
          <a:p>
            <a:pPr marL="180975" marR="575310" rtl="0">
              <a:lnSpc>
                <a:spcPts val="2810"/>
              </a:lnSpc>
              <a:spcBef>
                <a:spcPts val="200"/>
              </a:spcBef>
            </a:pPr>
            <a:r>
              <a:rPr kern="1200" spc="-5" dirty="0">
                <a:solidFill>
                  <a:srgbClr val="FFFFFF"/>
                </a:solidFill>
                <a:latin typeface="Consolas"/>
                <a:cs typeface="Consolas"/>
              </a:rPr>
              <a:t>ADDF R1, R1,</a:t>
            </a:r>
            <a:r>
              <a:rPr kern="1200" spc="-65" dirty="0">
                <a:solidFill>
                  <a:srgbClr val="FFFFFF"/>
                </a:solidFill>
                <a:latin typeface="Consolas"/>
                <a:cs typeface="Consolas"/>
              </a:rPr>
              <a:t> </a:t>
            </a:r>
            <a:r>
              <a:rPr kern="1200" dirty="0">
                <a:solidFill>
                  <a:srgbClr val="FFFFFF"/>
                </a:solidFill>
                <a:latin typeface="Consolas"/>
                <a:cs typeface="Consolas"/>
              </a:rPr>
              <a:t>R2  </a:t>
            </a:r>
            <a:r>
              <a:rPr kern="1200" spc="-5" dirty="0">
                <a:solidFill>
                  <a:srgbClr val="FFFFFF"/>
                </a:solidFill>
                <a:latin typeface="Consolas"/>
                <a:cs typeface="Consolas"/>
              </a:rPr>
              <a:t>STF id1,</a:t>
            </a:r>
            <a:r>
              <a:rPr kern="1200" spc="-30" dirty="0">
                <a:solidFill>
                  <a:srgbClr val="FFFFFF"/>
                </a:solidFill>
                <a:latin typeface="Consolas"/>
                <a:cs typeface="Consolas"/>
              </a:rPr>
              <a:t> </a:t>
            </a:r>
            <a:r>
              <a:rPr kern="1200" spc="-5" dirty="0">
                <a:solidFill>
                  <a:srgbClr val="FFFFFF"/>
                </a:solidFill>
                <a:latin typeface="Consolas"/>
                <a:cs typeface="Consolas"/>
              </a:rPr>
              <a:t>R1</a:t>
            </a:r>
            <a:endParaRPr kern="1200">
              <a:solidFill>
                <a:prstClr val="black"/>
              </a:solidFill>
              <a:latin typeface="Consolas"/>
              <a:cs typeface="Consolas"/>
            </a:endParaRPr>
          </a:p>
        </p:txBody>
      </p:sp>
      <p:sp>
        <p:nvSpPr>
          <p:cNvPr id="26" name="object 11">
            <a:extLst>
              <a:ext uri="{FF2B5EF4-FFF2-40B4-BE49-F238E27FC236}">
                <a16:creationId xmlns:a16="http://schemas.microsoft.com/office/drawing/2014/main" id="{A81BAA24-DB13-7F88-8A32-28163C5F76FB}"/>
              </a:ext>
            </a:extLst>
          </p:cNvPr>
          <p:cNvSpPr/>
          <p:nvPr/>
        </p:nvSpPr>
        <p:spPr>
          <a:xfrm>
            <a:off x="3179826" y="5037835"/>
            <a:ext cx="2456180" cy="149225"/>
          </a:xfrm>
          <a:custGeom>
            <a:avLst/>
            <a:gdLst/>
            <a:ahLst/>
            <a:cxnLst/>
            <a:rect l="l" t="t" r="r" b="b"/>
            <a:pathLst>
              <a:path w="2456179" h="149225">
                <a:moveTo>
                  <a:pt x="2416454" y="74421"/>
                </a:moveTo>
                <a:lnTo>
                  <a:pt x="2317241" y="129539"/>
                </a:lnTo>
                <a:lnTo>
                  <a:pt x="2312670" y="132206"/>
                </a:lnTo>
                <a:lnTo>
                  <a:pt x="2311019" y="137921"/>
                </a:lnTo>
                <a:lnTo>
                  <a:pt x="2313559" y="142494"/>
                </a:lnTo>
                <a:lnTo>
                  <a:pt x="2316099" y="147193"/>
                </a:lnTo>
                <a:lnTo>
                  <a:pt x="2321941" y="148844"/>
                </a:lnTo>
                <a:lnTo>
                  <a:pt x="2438667" y="83946"/>
                </a:lnTo>
                <a:lnTo>
                  <a:pt x="2436241" y="83946"/>
                </a:lnTo>
                <a:lnTo>
                  <a:pt x="2436241" y="82803"/>
                </a:lnTo>
                <a:lnTo>
                  <a:pt x="2431541" y="82803"/>
                </a:lnTo>
                <a:lnTo>
                  <a:pt x="2416454" y="74421"/>
                </a:lnTo>
                <a:close/>
              </a:path>
              <a:path w="2456179" h="149225">
                <a:moveTo>
                  <a:pt x="2399309" y="64896"/>
                </a:moveTo>
                <a:lnTo>
                  <a:pt x="0" y="64896"/>
                </a:lnTo>
                <a:lnTo>
                  <a:pt x="0" y="83946"/>
                </a:lnTo>
                <a:lnTo>
                  <a:pt x="2399309" y="83946"/>
                </a:lnTo>
                <a:lnTo>
                  <a:pt x="2416454" y="74421"/>
                </a:lnTo>
                <a:lnTo>
                  <a:pt x="2399309" y="64896"/>
                </a:lnTo>
                <a:close/>
              </a:path>
              <a:path w="2456179" h="149225">
                <a:moveTo>
                  <a:pt x="2438667" y="64896"/>
                </a:moveTo>
                <a:lnTo>
                  <a:pt x="2436241" y="64896"/>
                </a:lnTo>
                <a:lnTo>
                  <a:pt x="2436241" y="83946"/>
                </a:lnTo>
                <a:lnTo>
                  <a:pt x="2438667" y="83946"/>
                </a:lnTo>
                <a:lnTo>
                  <a:pt x="2455799" y="74421"/>
                </a:lnTo>
                <a:lnTo>
                  <a:pt x="2438667" y="64896"/>
                </a:lnTo>
                <a:close/>
              </a:path>
              <a:path w="2456179" h="149225">
                <a:moveTo>
                  <a:pt x="2431541" y="66039"/>
                </a:moveTo>
                <a:lnTo>
                  <a:pt x="2416454" y="74421"/>
                </a:lnTo>
                <a:lnTo>
                  <a:pt x="2431541" y="82803"/>
                </a:lnTo>
                <a:lnTo>
                  <a:pt x="2431541" y="66039"/>
                </a:lnTo>
                <a:close/>
              </a:path>
              <a:path w="2456179" h="149225">
                <a:moveTo>
                  <a:pt x="2436241" y="66039"/>
                </a:moveTo>
                <a:lnTo>
                  <a:pt x="2431541" y="66039"/>
                </a:lnTo>
                <a:lnTo>
                  <a:pt x="2431541" y="82803"/>
                </a:lnTo>
                <a:lnTo>
                  <a:pt x="2436241" y="82803"/>
                </a:lnTo>
                <a:lnTo>
                  <a:pt x="2436241" y="66039"/>
                </a:lnTo>
                <a:close/>
              </a:path>
              <a:path w="2456179" h="149225">
                <a:moveTo>
                  <a:pt x="2321941" y="0"/>
                </a:moveTo>
                <a:lnTo>
                  <a:pt x="2316099" y="1650"/>
                </a:lnTo>
                <a:lnTo>
                  <a:pt x="2313559" y="6350"/>
                </a:lnTo>
                <a:lnTo>
                  <a:pt x="2311019" y="10921"/>
                </a:lnTo>
                <a:lnTo>
                  <a:pt x="2312670" y="16637"/>
                </a:lnTo>
                <a:lnTo>
                  <a:pt x="2317241" y="19303"/>
                </a:lnTo>
                <a:lnTo>
                  <a:pt x="2416454" y="74421"/>
                </a:lnTo>
                <a:lnTo>
                  <a:pt x="2431541" y="66039"/>
                </a:lnTo>
                <a:lnTo>
                  <a:pt x="2436241" y="66039"/>
                </a:lnTo>
                <a:lnTo>
                  <a:pt x="2436241" y="64896"/>
                </a:lnTo>
                <a:lnTo>
                  <a:pt x="2438667" y="64896"/>
                </a:lnTo>
                <a:lnTo>
                  <a:pt x="232194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12">
            <a:extLst>
              <a:ext uri="{FF2B5EF4-FFF2-40B4-BE49-F238E27FC236}">
                <a16:creationId xmlns:a16="http://schemas.microsoft.com/office/drawing/2014/main" id="{94EF8D95-CFEC-BB2F-7CD3-BD5748BF849F}"/>
              </a:ext>
            </a:extLst>
          </p:cNvPr>
          <p:cNvSpPr/>
          <p:nvPr/>
        </p:nvSpPr>
        <p:spPr>
          <a:xfrm>
            <a:off x="3672840" y="4782311"/>
            <a:ext cx="1325880" cy="646430"/>
          </a:xfrm>
          <a:custGeom>
            <a:avLst/>
            <a:gdLst/>
            <a:ahLst/>
            <a:cxnLst/>
            <a:rect l="l" t="t" r="r" b="b"/>
            <a:pathLst>
              <a:path w="1325879" h="646429">
                <a:moveTo>
                  <a:pt x="0" y="646176"/>
                </a:moveTo>
                <a:lnTo>
                  <a:pt x="1325880" y="646176"/>
                </a:lnTo>
                <a:lnTo>
                  <a:pt x="1325880" y="0"/>
                </a:lnTo>
                <a:lnTo>
                  <a:pt x="0" y="0"/>
                </a:lnTo>
                <a:lnTo>
                  <a:pt x="0" y="646176"/>
                </a:lnTo>
                <a:close/>
              </a:path>
            </a:pathLst>
          </a:custGeom>
          <a:solidFill>
            <a:srgbClr val="FFFF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13">
            <a:extLst>
              <a:ext uri="{FF2B5EF4-FFF2-40B4-BE49-F238E27FC236}">
                <a16:creationId xmlns:a16="http://schemas.microsoft.com/office/drawing/2014/main" id="{F684CC34-BBAF-4D65-7EAB-41B2CC5AE778}"/>
              </a:ext>
            </a:extLst>
          </p:cNvPr>
          <p:cNvSpPr txBox="1"/>
          <p:nvPr/>
        </p:nvSpPr>
        <p:spPr>
          <a:xfrm>
            <a:off x="3758565" y="4801057"/>
            <a:ext cx="1155065" cy="574675"/>
          </a:xfrm>
          <a:prstGeom prst="rect">
            <a:avLst/>
          </a:prstGeom>
        </p:spPr>
        <p:txBody>
          <a:bodyPr vert="horz" wrap="square" lIns="0" tIns="12700" rIns="0" bIns="0" rtlCol="0">
            <a:spAutoFit/>
          </a:bodyPr>
          <a:lstStyle/>
          <a:p>
            <a:pPr marL="635" algn="ctr" rtl="0">
              <a:spcBef>
                <a:spcPts val="100"/>
              </a:spcBef>
            </a:pPr>
            <a:r>
              <a:rPr kern="1200" spc="-5" dirty="0">
                <a:solidFill>
                  <a:prstClr val="black"/>
                </a:solidFill>
                <a:latin typeface="Palatino Linotype"/>
                <a:cs typeface="Palatino Linotype"/>
              </a:rPr>
              <a:t>Code</a:t>
            </a:r>
            <a:endParaRPr kern="1200">
              <a:solidFill>
                <a:prstClr val="black"/>
              </a:solidFill>
              <a:latin typeface="Palatino Linotype"/>
              <a:cs typeface="Palatino Linotype"/>
            </a:endParaRPr>
          </a:p>
          <a:p>
            <a:pPr algn="ctr" rtl="0">
              <a:spcBef>
                <a:spcPts val="5"/>
              </a:spcBef>
            </a:pPr>
            <a:r>
              <a:rPr kern="1200" spc="-5" dirty="0">
                <a:solidFill>
                  <a:prstClr val="black"/>
                </a:solidFill>
                <a:latin typeface="Palatino Linotype"/>
                <a:cs typeface="Palatino Linotype"/>
              </a:rPr>
              <a:t>Generation</a:t>
            </a:r>
            <a:endParaRPr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4902486B-5447-D055-4D31-41031CB8DD97}"/>
              </a:ext>
            </a:extLst>
          </p:cNvPr>
          <p:cNvSpPr>
            <a:spLocks noGrp="1"/>
          </p:cNvSpPr>
          <p:nvPr>
            <p:ph type="sldNum" sz="quarter" idx="12"/>
          </p:nvPr>
        </p:nvSpPr>
        <p:spPr/>
        <p:txBody>
          <a:bodyPr/>
          <a:lstStyle/>
          <a:p>
            <a:pPr>
              <a:defRPr/>
            </a:pPr>
            <a:fld id="{2FBC720A-3716-234A-B2DF-CBC7E48049F5}" type="slidenum">
              <a:rPr lang="en-US" altLang="zh-CN" smtClean="0"/>
              <a:t>38</a:t>
            </a:fld>
            <a:endParaRPr lang="en-US" altLang="zh-CN"/>
          </a:p>
        </p:txBody>
      </p:sp>
    </p:spTree>
    <p:extLst>
      <p:ext uri="{BB962C8B-B14F-4D97-AF65-F5344CB8AC3E}">
        <p14:creationId xmlns:p14="http://schemas.microsoft.com/office/powerpoint/2010/main" val="1058666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A6158F6F-5500-F94B-4913-E170C1F9BDB7}"/>
              </a:ext>
            </a:extLst>
          </p:cNvPr>
          <p:cNvSpPr txBox="1">
            <a:spLocks/>
          </p:cNvSpPr>
          <p:nvPr/>
        </p:nvSpPr>
        <p:spPr>
          <a:xfrm>
            <a:off x="707542" y="520141"/>
            <a:ext cx="641159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Symbol </a:t>
            </a:r>
            <a:r>
              <a:rPr kumimoji="0" lang="en-US" sz="4000" b="1" i="0" u="none" strike="noStrike" kern="0" cap="none" spc="-80" normalizeH="0" baseline="0" noProof="0">
                <a:ln>
                  <a:noFill/>
                </a:ln>
                <a:solidFill>
                  <a:sysClr val="windowText" lastClr="000000"/>
                </a:solidFill>
                <a:effectLst/>
                <a:uLnTx/>
                <a:uFillTx/>
                <a:latin typeface="Palatino Linotype"/>
                <a:ea typeface="+mj-ea"/>
              </a:rPr>
              <a:t>Table</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Management</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85201A0-B1E2-C296-7BC7-80B313732899}"/>
              </a:ext>
            </a:extLst>
          </p:cNvPr>
          <p:cNvSpPr txBox="1"/>
          <p:nvPr/>
        </p:nvSpPr>
        <p:spPr>
          <a:xfrm>
            <a:off x="707542" y="1585087"/>
            <a:ext cx="7164705" cy="4168140"/>
          </a:xfrm>
          <a:prstGeom prst="rect">
            <a:avLst/>
          </a:prstGeom>
        </p:spPr>
        <p:txBody>
          <a:bodyPr vert="horz" wrap="square" lIns="0" tIns="12700" rIns="0" bIns="0" rtlCol="0">
            <a:spAutoFit/>
          </a:bodyPr>
          <a:lstStyle/>
          <a:p>
            <a:pPr marL="242570" marR="143510" indent="-230504" rtl="0">
              <a:lnSpc>
                <a:spcPct val="120000"/>
              </a:lnSpc>
              <a:spcBef>
                <a:spcPts val="100"/>
              </a:spcBef>
              <a:buClr>
                <a:srgbClr val="000000"/>
              </a:buClr>
              <a:buFont typeface="Arial"/>
              <a:buChar char="•"/>
              <a:tabLst>
                <a:tab pos="243204" algn="l"/>
              </a:tabLst>
            </a:pPr>
            <a:r>
              <a:rPr sz="2400" kern="1200" spc="-10" dirty="0">
                <a:solidFill>
                  <a:srgbClr val="FF0000"/>
                </a:solidFill>
                <a:latin typeface="Palatino Linotype"/>
                <a:cs typeface="Palatino Linotype"/>
              </a:rPr>
              <a:t>Performed </a:t>
            </a:r>
            <a:r>
              <a:rPr sz="2400" kern="1200" spc="-5" dirty="0">
                <a:solidFill>
                  <a:srgbClr val="FF0000"/>
                </a:solidFill>
                <a:latin typeface="Palatino Linotype"/>
                <a:cs typeface="Palatino Linotype"/>
              </a:rPr>
              <a:t>by the frontend</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symbol </a:t>
            </a:r>
            <a:r>
              <a:rPr sz="2400" kern="1200" spc="-5" dirty="0">
                <a:solidFill>
                  <a:prstClr val="black"/>
                </a:solidFill>
                <a:latin typeface="Palatino Linotype"/>
                <a:cs typeface="Palatino Linotype"/>
              </a:rPr>
              <a:t>table is passed  along </a:t>
            </a:r>
            <a:r>
              <a:rPr sz="2400" kern="1200" dirty="0">
                <a:solidFill>
                  <a:prstClr val="black"/>
                </a:solidFill>
                <a:latin typeface="Palatino Linotype"/>
                <a:cs typeface="Palatino Linotype"/>
              </a:rPr>
              <a:t>with </a:t>
            </a:r>
            <a:r>
              <a:rPr sz="2400" kern="1200" spc="-5" dirty="0">
                <a:solidFill>
                  <a:prstClr val="black"/>
                </a:solidFill>
                <a:latin typeface="Palatino Linotype"/>
                <a:cs typeface="Palatino Linotype"/>
              </a:rPr>
              <a:t>the intermediate </a:t>
            </a:r>
            <a:r>
              <a:rPr sz="2400" kern="1200" dirty="0">
                <a:solidFill>
                  <a:prstClr val="black"/>
                </a:solidFill>
                <a:latin typeface="Palatino Linotype"/>
                <a:cs typeface="Palatino Linotype"/>
              </a:rPr>
              <a:t>code </a:t>
            </a:r>
            <a:r>
              <a:rPr sz="2400" kern="1200" spc="-5" dirty="0">
                <a:solidFill>
                  <a:prstClr val="black"/>
                </a:solidFill>
                <a:latin typeface="Palatino Linotype"/>
                <a:cs typeface="Palatino Linotype"/>
              </a:rPr>
              <a:t>to the</a:t>
            </a:r>
            <a:r>
              <a:rPr sz="2400" kern="1200" spc="25" dirty="0">
                <a:solidFill>
                  <a:prstClr val="black"/>
                </a:solidFill>
                <a:latin typeface="Palatino Linotype"/>
                <a:cs typeface="Palatino Linotype"/>
              </a:rPr>
              <a:t> </a:t>
            </a:r>
            <a:r>
              <a:rPr sz="2400" kern="1200" spc="-5" dirty="0">
                <a:solidFill>
                  <a:prstClr val="black"/>
                </a:solidFill>
                <a:latin typeface="Palatino Linotype"/>
                <a:cs typeface="Palatino Linotype"/>
              </a:rPr>
              <a:t>backend</a:t>
            </a:r>
            <a:endParaRPr sz="2400" kern="1200" dirty="0">
              <a:solidFill>
                <a:prstClr val="black"/>
              </a:solidFill>
              <a:latin typeface="Palatino Linotype"/>
              <a:cs typeface="Palatino Linotype"/>
            </a:endParaRPr>
          </a:p>
          <a:p>
            <a:pPr rtl="0">
              <a:spcBef>
                <a:spcPts val="5"/>
              </a:spcBef>
              <a:buFont typeface="Arial"/>
              <a:buChar char="•"/>
            </a:pPr>
            <a:endParaRPr sz="2200" kern="1200" dirty="0">
              <a:solidFill>
                <a:prstClr val="black"/>
              </a:solidFill>
              <a:latin typeface="Palatino Linotype"/>
              <a:cs typeface="Palatino Linotype"/>
            </a:endParaRPr>
          </a:p>
          <a:p>
            <a:pPr marL="242570" indent="-230504" rtl="0">
              <a:spcBef>
                <a:spcPts val="5"/>
              </a:spcBef>
              <a:buFont typeface="Arial"/>
              <a:buChar char="•"/>
              <a:tabLst>
                <a:tab pos="243204" algn="l"/>
              </a:tabLst>
            </a:pPr>
            <a:r>
              <a:rPr sz="2400" kern="1200" dirty="0">
                <a:solidFill>
                  <a:prstClr val="black"/>
                </a:solidFill>
                <a:latin typeface="Palatino Linotype"/>
                <a:cs typeface="Palatino Linotype"/>
              </a:rPr>
              <a:t>Record </a:t>
            </a:r>
            <a:r>
              <a:rPr sz="2400" kern="1200" spc="-5" dirty="0">
                <a:solidFill>
                  <a:prstClr val="black"/>
                </a:solidFill>
                <a:latin typeface="Palatino Linotype"/>
                <a:cs typeface="Palatino Linotype"/>
              </a:rPr>
              <a:t>the </a:t>
            </a:r>
            <a:r>
              <a:rPr sz="2400" kern="1200" spc="-10" dirty="0">
                <a:solidFill>
                  <a:srgbClr val="FF0000"/>
                </a:solidFill>
                <a:latin typeface="Palatino Linotype"/>
                <a:cs typeface="Palatino Linotype"/>
              </a:rPr>
              <a:t>variable </a:t>
            </a:r>
            <a:r>
              <a:rPr sz="2400" kern="1200" spc="-5" dirty="0">
                <a:solidFill>
                  <a:srgbClr val="FF0000"/>
                </a:solidFill>
                <a:latin typeface="Palatino Linotype"/>
                <a:cs typeface="Palatino Linotype"/>
              </a:rPr>
              <a:t>names </a:t>
            </a:r>
            <a:r>
              <a:rPr sz="2400" kern="1200" dirty="0">
                <a:solidFill>
                  <a:prstClr val="black"/>
                </a:solidFill>
                <a:latin typeface="Palatino Linotype"/>
                <a:cs typeface="Palatino Linotype"/>
              </a:rPr>
              <a:t>and </a:t>
            </a:r>
            <a:r>
              <a:rPr sz="2400" kern="1200" spc="-10" dirty="0">
                <a:solidFill>
                  <a:prstClr val="black"/>
                </a:solidFill>
                <a:latin typeface="Palatino Linotype"/>
                <a:cs typeface="Palatino Linotype"/>
              </a:rPr>
              <a:t>various</a:t>
            </a:r>
            <a:r>
              <a:rPr sz="2400" kern="1200" spc="-30" dirty="0">
                <a:solidFill>
                  <a:prstClr val="black"/>
                </a:solidFill>
                <a:latin typeface="Palatino Linotype"/>
                <a:cs typeface="Palatino Linotype"/>
              </a:rPr>
              <a:t> </a:t>
            </a:r>
            <a:r>
              <a:rPr sz="2400" kern="1200" dirty="0">
                <a:solidFill>
                  <a:srgbClr val="FF0000"/>
                </a:solidFill>
                <a:latin typeface="Palatino Linotype"/>
                <a:cs typeface="Palatino Linotype"/>
              </a:rPr>
              <a:t>attributes</a:t>
            </a:r>
            <a:endParaRPr sz="2400" kern="1200" dirty="0">
              <a:solidFill>
                <a:prstClr val="black"/>
              </a:solidFill>
              <a:latin typeface="Palatino Linotype"/>
              <a:cs typeface="Palatino Linotype"/>
            </a:endParaRPr>
          </a:p>
          <a:p>
            <a:pPr marL="697865" lvl="1" indent="-228600" rtl="0">
              <a:spcBef>
                <a:spcPts val="1140"/>
              </a:spcBef>
              <a:buFont typeface="Wingdings"/>
              <a:buChar char=""/>
              <a:tabLst>
                <a:tab pos="698500" algn="l"/>
              </a:tabLst>
            </a:pPr>
            <a:r>
              <a:rPr sz="2000" kern="1200" dirty="0">
                <a:solidFill>
                  <a:prstClr val="black"/>
                </a:solidFill>
                <a:latin typeface="Palatino Linotype"/>
                <a:cs typeface="Palatino Linotype"/>
              </a:rPr>
              <a:t>storage allocated, </a:t>
            </a:r>
            <a:r>
              <a:rPr sz="2000" kern="1200" spc="-5" dirty="0">
                <a:solidFill>
                  <a:prstClr val="black"/>
                </a:solidFill>
                <a:latin typeface="Palatino Linotype"/>
                <a:cs typeface="Palatino Linotype"/>
              </a:rPr>
              <a:t>type,</a:t>
            </a:r>
            <a:r>
              <a:rPr sz="2000" kern="1200" spc="-45" dirty="0">
                <a:solidFill>
                  <a:prstClr val="black"/>
                </a:solidFill>
                <a:latin typeface="Palatino Linotype"/>
                <a:cs typeface="Palatino Linotype"/>
              </a:rPr>
              <a:t> </a:t>
            </a:r>
            <a:r>
              <a:rPr sz="2000" kern="1200" dirty="0">
                <a:solidFill>
                  <a:prstClr val="black"/>
                </a:solidFill>
                <a:latin typeface="Palatino Linotype"/>
                <a:cs typeface="Palatino Linotype"/>
              </a:rPr>
              <a:t>scope</a:t>
            </a:r>
          </a:p>
          <a:p>
            <a:pPr lvl="1" rtl="0">
              <a:spcBef>
                <a:spcPts val="15"/>
              </a:spcBef>
              <a:buFont typeface="Wingdings"/>
              <a:buChar char=""/>
            </a:pPr>
            <a:endParaRPr sz="2150" kern="1200" dirty="0">
              <a:solidFill>
                <a:prstClr val="black"/>
              </a:solidFill>
              <a:latin typeface="Palatino Linotype"/>
              <a:cs typeface="Palatino Linotype"/>
            </a:endParaRPr>
          </a:p>
          <a:p>
            <a:pPr marL="242570" indent="-230504" rtl="0">
              <a:buFont typeface="Arial"/>
              <a:buChar char="•"/>
              <a:tabLst>
                <a:tab pos="243204" algn="l"/>
              </a:tabLst>
            </a:pPr>
            <a:r>
              <a:rPr sz="2400" kern="1200" dirty="0">
                <a:solidFill>
                  <a:prstClr val="black"/>
                </a:solidFill>
                <a:latin typeface="Palatino Linotype"/>
                <a:cs typeface="Palatino Linotype"/>
              </a:rPr>
              <a:t>Record </a:t>
            </a:r>
            <a:r>
              <a:rPr sz="2400" kern="1200" spc="-5" dirty="0">
                <a:solidFill>
                  <a:prstClr val="black"/>
                </a:solidFill>
                <a:latin typeface="Palatino Linotype"/>
                <a:cs typeface="Palatino Linotype"/>
              </a:rPr>
              <a:t>the </a:t>
            </a:r>
            <a:r>
              <a:rPr sz="2400" kern="1200" spc="-5" dirty="0">
                <a:solidFill>
                  <a:srgbClr val="FF0000"/>
                </a:solidFill>
                <a:latin typeface="Palatino Linotype"/>
                <a:cs typeface="Palatino Linotype"/>
              </a:rPr>
              <a:t>procedure names </a:t>
            </a:r>
            <a:r>
              <a:rPr sz="2400" kern="1200" dirty="0">
                <a:solidFill>
                  <a:prstClr val="black"/>
                </a:solidFill>
                <a:latin typeface="Palatino Linotype"/>
                <a:cs typeface="Palatino Linotype"/>
              </a:rPr>
              <a:t>and </a:t>
            </a:r>
            <a:r>
              <a:rPr sz="2400" kern="1200" spc="-10" dirty="0">
                <a:solidFill>
                  <a:prstClr val="black"/>
                </a:solidFill>
                <a:latin typeface="Palatino Linotype"/>
                <a:cs typeface="Palatino Linotype"/>
              </a:rPr>
              <a:t>various</a:t>
            </a:r>
            <a:r>
              <a:rPr sz="2400" kern="1200" spc="-75" dirty="0">
                <a:solidFill>
                  <a:prstClr val="black"/>
                </a:solidFill>
                <a:latin typeface="Palatino Linotype"/>
                <a:cs typeface="Palatino Linotype"/>
              </a:rPr>
              <a:t> </a:t>
            </a:r>
            <a:r>
              <a:rPr sz="2400" kern="1200" dirty="0">
                <a:solidFill>
                  <a:srgbClr val="FF0000"/>
                </a:solidFill>
                <a:latin typeface="Palatino Linotype"/>
                <a:cs typeface="Palatino Linotype"/>
              </a:rPr>
              <a:t>attributes</a:t>
            </a:r>
            <a:endParaRPr sz="2400" kern="1200" dirty="0">
              <a:solidFill>
                <a:prstClr val="black"/>
              </a:solidFill>
              <a:latin typeface="Palatino Linotype"/>
              <a:cs typeface="Palatino Linotype"/>
            </a:endParaRPr>
          </a:p>
          <a:p>
            <a:pPr marL="697865" lvl="1" indent="-228600" rtl="0">
              <a:spcBef>
                <a:spcPts val="1145"/>
              </a:spcBef>
              <a:buFont typeface="Wingdings"/>
              <a:buChar char=""/>
              <a:tabLst>
                <a:tab pos="698500" algn="l"/>
              </a:tabLst>
            </a:pPr>
            <a:r>
              <a:rPr sz="2000" kern="1200" spc="-5" dirty="0">
                <a:solidFill>
                  <a:prstClr val="black"/>
                </a:solidFill>
                <a:latin typeface="Palatino Linotype"/>
                <a:cs typeface="Palatino Linotype"/>
              </a:rPr>
              <a:t>the number </a:t>
            </a:r>
            <a:r>
              <a:rPr sz="2000" kern="1200" dirty="0">
                <a:solidFill>
                  <a:prstClr val="black"/>
                </a:solidFill>
                <a:latin typeface="Palatino Linotype"/>
                <a:cs typeface="Palatino Linotype"/>
              </a:rPr>
              <a:t>and </a:t>
            </a:r>
            <a:r>
              <a:rPr sz="2000" kern="1200" spc="-5" dirty="0">
                <a:solidFill>
                  <a:prstClr val="black"/>
                </a:solidFill>
                <a:latin typeface="Palatino Linotype"/>
                <a:cs typeface="Palatino Linotype"/>
              </a:rPr>
              <a:t>type </a:t>
            </a:r>
            <a:r>
              <a:rPr sz="2000" kern="1200" dirty="0">
                <a:solidFill>
                  <a:prstClr val="black"/>
                </a:solidFill>
                <a:latin typeface="Palatino Linotype"/>
                <a:cs typeface="Palatino Linotype"/>
              </a:rPr>
              <a:t>of</a:t>
            </a:r>
            <a:r>
              <a:rPr sz="2000" kern="1200" spc="-25" dirty="0">
                <a:solidFill>
                  <a:prstClr val="black"/>
                </a:solidFill>
                <a:latin typeface="Palatino Linotype"/>
                <a:cs typeface="Palatino Linotype"/>
              </a:rPr>
              <a:t> </a:t>
            </a:r>
            <a:r>
              <a:rPr sz="2000" kern="1200" spc="-5" dirty="0">
                <a:solidFill>
                  <a:prstClr val="black"/>
                </a:solidFill>
                <a:latin typeface="Palatino Linotype"/>
                <a:cs typeface="Palatino Linotype"/>
              </a:rPr>
              <a:t>arguments</a:t>
            </a:r>
            <a:endParaRPr sz="2000" kern="1200" dirty="0">
              <a:solidFill>
                <a:prstClr val="black"/>
              </a:solidFill>
              <a:latin typeface="Palatino Linotype"/>
              <a:cs typeface="Palatino Linotype"/>
            </a:endParaRPr>
          </a:p>
          <a:p>
            <a:pPr marL="697865" lvl="1" indent="-228600" rtl="0">
              <a:spcBef>
                <a:spcPts val="1080"/>
              </a:spcBef>
              <a:buFont typeface="Wingdings"/>
              <a:buChar char=""/>
              <a:tabLst>
                <a:tab pos="698500" algn="l"/>
              </a:tabLst>
            </a:pPr>
            <a:r>
              <a:rPr sz="2000" kern="1200" spc="-5" dirty="0">
                <a:solidFill>
                  <a:prstClr val="black"/>
                </a:solidFill>
                <a:latin typeface="Palatino Linotype"/>
                <a:cs typeface="Palatino Linotype"/>
              </a:rPr>
              <a:t>the </a:t>
            </a:r>
            <a:r>
              <a:rPr sz="2000" kern="1200" spc="-15" dirty="0">
                <a:solidFill>
                  <a:prstClr val="black"/>
                </a:solidFill>
                <a:latin typeface="Palatino Linotype"/>
                <a:cs typeface="Palatino Linotype"/>
              </a:rPr>
              <a:t>way </a:t>
            </a:r>
            <a:r>
              <a:rPr sz="2000" kern="1200" dirty="0">
                <a:solidFill>
                  <a:prstClr val="black"/>
                </a:solidFill>
                <a:latin typeface="Palatino Linotype"/>
                <a:cs typeface="Palatino Linotype"/>
              </a:rPr>
              <a:t>of </a:t>
            </a:r>
            <a:r>
              <a:rPr sz="2000" kern="1200" spc="-5" dirty="0">
                <a:solidFill>
                  <a:prstClr val="black"/>
                </a:solidFill>
                <a:latin typeface="Palatino Linotype"/>
                <a:cs typeface="Palatino Linotype"/>
              </a:rPr>
              <a:t>passing arguments </a:t>
            </a:r>
            <a:r>
              <a:rPr sz="2000" kern="1200" dirty="0">
                <a:solidFill>
                  <a:prstClr val="black"/>
                </a:solidFill>
                <a:latin typeface="Palatino Linotype"/>
                <a:cs typeface="Palatino Linotype"/>
              </a:rPr>
              <a:t>(by </a:t>
            </a:r>
            <a:r>
              <a:rPr sz="2000" kern="1200" spc="-10" dirty="0">
                <a:solidFill>
                  <a:prstClr val="black"/>
                </a:solidFill>
                <a:latin typeface="Palatino Linotype"/>
                <a:cs typeface="Palatino Linotype"/>
              </a:rPr>
              <a:t>value </a:t>
            </a:r>
            <a:r>
              <a:rPr sz="2000" kern="1200" spc="5" dirty="0">
                <a:solidFill>
                  <a:prstClr val="black"/>
                </a:solidFill>
                <a:latin typeface="Palatino Linotype"/>
                <a:cs typeface="Palatino Linotype"/>
              </a:rPr>
              <a:t>or </a:t>
            </a:r>
            <a:r>
              <a:rPr sz="2000" kern="1200" spc="-5" dirty="0">
                <a:solidFill>
                  <a:prstClr val="black"/>
                </a:solidFill>
                <a:latin typeface="Palatino Linotype"/>
                <a:cs typeface="Palatino Linotype"/>
              </a:rPr>
              <a:t>by</a:t>
            </a:r>
            <a:r>
              <a:rPr sz="2000" kern="1200" spc="-85" dirty="0">
                <a:solidFill>
                  <a:prstClr val="black"/>
                </a:solidFill>
                <a:latin typeface="Palatino Linotype"/>
                <a:cs typeface="Palatino Linotype"/>
              </a:rPr>
              <a:t> </a:t>
            </a:r>
            <a:r>
              <a:rPr sz="2000" kern="1200" dirty="0">
                <a:solidFill>
                  <a:prstClr val="black"/>
                </a:solidFill>
                <a:latin typeface="Palatino Linotype"/>
                <a:cs typeface="Palatino Linotype"/>
              </a:rPr>
              <a:t>reference)</a:t>
            </a:r>
          </a:p>
          <a:p>
            <a:pPr marL="697865" lvl="1" indent="-228600" rtl="0">
              <a:spcBef>
                <a:spcPts val="1085"/>
              </a:spcBef>
              <a:buFont typeface="Wingdings"/>
              <a:buChar char=""/>
              <a:tabLst>
                <a:tab pos="698500" algn="l"/>
              </a:tabLst>
            </a:pPr>
            <a:r>
              <a:rPr sz="2000" kern="1200" spc="-5" dirty="0">
                <a:solidFill>
                  <a:prstClr val="black"/>
                </a:solidFill>
                <a:latin typeface="Palatino Linotype"/>
                <a:cs typeface="Palatino Linotype"/>
              </a:rPr>
              <a:t>the return</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type</a:t>
            </a:r>
            <a:endParaRPr sz="2000" kern="1200" dirty="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F72007B6-493A-1032-EFE8-D4A65E6AAA7C}"/>
              </a:ext>
            </a:extLst>
          </p:cNvPr>
          <p:cNvSpPr>
            <a:spLocks noGrp="1"/>
          </p:cNvSpPr>
          <p:nvPr>
            <p:ph type="sldNum" sz="quarter" idx="12"/>
          </p:nvPr>
        </p:nvSpPr>
        <p:spPr/>
        <p:txBody>
          <a:bodyPr/>
          <a:lstStyle/>
          <a:p>
            <a:pPr>
              <a:defRPr/>
            </a:pPr>
            <a:fld id="{2FBC720A-3716-234A-B2DF-CBC7E48049F5}" type="slidenum">
              <a:rPr lang="en-US" altLang="zh-CN" smtClean="0"/>
              <a:t>39</a:t>
            </a:fld>
            <a:endParaRPr lang="en-US" altLang="zh-CN"/>
          </a:p>
        </p:txBody>
      </p:sp>
    </p:spTree>
    <p:extLst>
      <p:ext uri="{BB962C8B-B14F-4D97-AF65-F5344CB8AC3E}">
        <p14:creationId xmlns:p14="http://schemas.microsoft.com/office/powerpoint/2010/main" val="16141971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9" name="object 2">
            <a:extLst>
              <a:ext uri="{FF2B5EF4-FFF2-40B4-BE49-F238E27FC236}">
                <a16:creationId xmlns:a16="http://schemas.microsoft.com/office/drawing/2014/main" id="{31F50005-E02F-3B6F-C903-A076078D1FAA}"/>
              </a:ext>
            </a:extLst>
          </p:cNvPr>
          <p:cNvSpPr txBox="1">
            <a:spLocks/>
          </p:cNvSpPr>
          <p:nvPr/>
        </p:nvSpPr>
        <p:spPr>
          <a:xfrm>
            <a:off x="707542" y="520141"/>
            <a:ext cx="6369685"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Intermediate </a:t>
            </a:r>
            <a:r>
              <a:rPr kumimoji="0" lang="en-US" sz="4000" b="1" i="0" u="none" strike="noStrike" kern="0" cap="none" spc="-5" normalizeH="0" baseline="0" noProof="0">
                <a:ln>
                  <a:noFill/>
                </a:ln>
                <a:solidFill>
                  <a:sysClr val="windowText" lastClr="000000"/>
                </a:solidFill>
                <a:effectLst/>
                <a:uLnTx/>
                <a:uFillTx/>
                <a:latin typeface="Palatino Linotype"/>
                <a:ea typeface="+mj-ea"/>
              </a:rPr>
              <a:t>Language</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(IL)</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30" name="object 3">
            <a:extLst>
              <a:ext uri="{FF2B5EF4-FFF2-40B4-BE49-F238E27FC236}">
                <a16:creationId xmlns:a16="http://schemas.microsoft.com/office/drawing/2014/main" id="{0383FB84-A10E-18A7-11C9-42283BECBAD5}"/>
              </a:ext>
            </a:extLst>
          </p:cNvPr>
          <p:cNvSpPr txBox="1"/>
          <p:nvPr/>
        </p:nvSpPr>
        <p:spPr>
          <a:xfrm>
            <a:off x="707542" y="1556384"/>
            <a:ext cx="7143115" cy="982980"/>
          </a:xfrm>
          <a:prstGeom prst="rect">
            <a:avLst/>
          </a:prstGeom>
        </p:spPr>
        <p:txBody>
          <a:bodyPr vert="horz" wrap="square" lIns="0" tIns="12700" rIns="0" bIns="0" rtlCol="0">
            <a:spAutoFit/>
          </a:bodyPr>
          <a:lstStyle/>
          <a:p>
            <a:pPr marL="242570" indent="-230504" rtl="0">
              <a:spcBef>
                <a:spcPts val="100"/>
              </a:spcBef>
              <a:buFont typeface="Arial"/>
              <a:buChar char="•"/>
              <a:tabLst>
                <a:tab pos="243204" algn="l"/>
              </a:tabLst>
            </a:pPr>
            <a:r>
              <a:rPr sz="2400" kern="1200" spc="-5" dirty="0">
                <a:solidFill>
                  <a:prstClr val="black"/>
                </a:solidFill>
                <a:latin typeface="Palatino Linotype"/>
                <a:cs typeface="Palatino Linotype"/>
              </a:rPr>
              <a:t>Intermediate </a:t>
            </a:r>
            <a:r>
              <a:rPr sz="2400" kern="1200" dirty="0">
                <a:solidFill>
                  <a:prstClr val="black"/>
                </a:solidFill>
                <a:latin typeface="Palatino Linotype"/>
                <a:cs typeface="Palatino Linotype"/>
              </a:rPr>
              <a:t>code </a:t>
            </a:r>
            <a:r>
              <a:rPr sz="2400" kern="1200" spc="-5" dirty="0">
                <a:solidFill>
                  <a:prstClr val="black"/>
                </a:solidFill>
                <a:latin typeface="Palatino Linotype"/>
                <a:cs typeface="Palatino Linotype"/>
              </a:rPr>
              <a:t>is </a:t>
            </a:r>
            <a:r>
              <a:rPr sz="2400" kern="1200" dirty="0">
                <a:solidFill>
                  <a:prstClr val="black"/>
                </a:solidFill>
                <a:latin typeface="Palatino Linotype"/>
                <a:cs typeface="Palatino Linotype"/>
              </a:rPr>
              <a:t>in IL (e.g., three-address</a:t>
            </a:r>
            <a:r>
              <a:rPr sz="2400" kern="1200" spc="-160" dirty="0">
                <a:solidFill>
                  <a:prstClr val="black"/>
                </a:solidFill>
                <a:latin typeface="Palatino Linotype"/>
                <a:cs typeface="Palatino Linotype"/>
              </a:rPr>
              <a:t> </a:t>
            </a:r>
            <a:r>
              <a:rPr sz="2400" kern="1200" dirty="0">
                <a:solidFill>
                  <a:prstClr val="black"/>
                </a:solidFill>
                <a:latin typeface="Palatino Linotype"/>
                <a:cs typeface="Palatino Linotype"/>
              </a:rPr>
              <a:t>code)</a:t>
            </a:r>
            <a:endParaRPr sz="2400" kern="1200">
              <a:solidFill>
                <a:prstClr val="black"/>
              </a:solidFill>
              <a:latin typeface="Palatino Linotype"/>
              <a:cs typeface="Palatino Linotype"/>
            </a:endParaRPr>
          </a:p>
          <a:p>
            <a:pPr marL="242570" indent="-230504" rtl="0">
              <a:spcBef>
                <a:spcPts val="1780"/>
              </a:spcBef>
              <a:buFont typeface="Arial"/>
              <a:buChar char="•"/>
              <a:tabLst>
                <a:tab pos="243204" algn="l"/>
              </a:tabLst>
            </a:pPr>
            <a:r>
              <a:rPr sz="2400" kern="1200" dirty="0">
                <a:solidFill>
                  <a:prstClr val="black"/>
                </a:solidFill>
                <a:latin typeface="Palatino Linotype"/>
                <a:cs typeface="Palatino Linotype"/>
              </a:rPr>
              <a:t>A </a:t>
            </a:r>
            <a:r>
              <a:rPr sz="2400" kern="1200" spc="-5" dirty="0">
                <a:solidFill>
                  <a:prstClr val="black"/>
                </a:solidFill>
                <a:latin typeface="Palatino Linotype"/>
                <a:cs typeface="Palatino Linotype"/>
              </a:rPr>
              <a:t>good </a:t>
            </a:r>
            <a:r>
              <a:rPr sz="2400" kern="1200" dirty="0">
                <a:solidFill>
                  <a:prstClr val="black"/>
                </a:solidFill>
                <a:latin typeface="Palatino Linotype"/>
                <a:cs typeface="Palatino Linotype"/>
              </a:rPr>
              <a:t>IL eases compiler</a:t>
            </a:r>
            <a:r>
              <a:rPr sz="2400" kern="1200" spc="-245" dirty="0">
                <a:solidFill>
                  <a:prstClr val="black"/>
                </a:solidFill>
                <a:latin typeface="Palatino Linotype"/>
                <a:cs typeface="Palatino Linotype"/>
              </a:rPr>
              <a:t> </a:t>
            </a:r>
            <a:r>
              <a:rPr sz="2400" kern="1200" spc="-5" dirty="0">
                <a:solidFill>
                  <a:prstClr val="black"/>
                </a:solidFill>
                <a:latin typeface="Palatino Linotype"/>
                <a:cs typeface="Palatino Linotype"/>
              </a:rPr>
              <a:t>implementation</a:t>
            </a:r>
            <a:endParaRPr sz="2400" kern="1200">
              <a:solidFill>
                <a:prstClr val="black"/>
              </a:solidFill>
              <a:latin typeface="Palatino Linotype"/>
              <a:cs typeface="Palatino Linotype"/>
            </a:endParaRPr>
          </a:p>
        </p:txBody>
      </p:sp>
      <p:sp>
        <p:nvSpPr>
          <p:cNvPr id="31" name="object 4">
            <a:extLst>
              <a:ext uri="{FF2B5EF4-FFF2-40B4-BE49-F238E27FC236}">
                <a16:creationId xmlns:a16="http://schemas.microsoft.com/office/drawing/2014/main" id="{F4654A14-7D87-E8C1-268B-4414D7C96A2E}"/>
              </a:ext>
            </a:extLst>
          </p:cNvPr>
          <p:cNvSpPr/>
          <p:nvPr/>
        </p:nvSpPr>
        <p:spPr>
          <a:xfrm>
            <a:off x="2633472" y="3044951"/>
            <a:ext cx="1726564" cy="76200"/>
          </a:xfrm>
          <a:custGeom>
            <a:avLst/>
            <a:gdLst/>
            <a:ahLst/>
            <a:cxnLst/>
            <a:rect l="l" t="t" r="r" b="b"/>
            <a:pathLst>
              <a:path w="1726564" h="76200">
                <a:moveTo>
                  <a:pt x="1599438" y="0"/>
                </a:moveTo>
                <a:lnTo>
                  <a:pt x="1599438" y="76200"/>
                </a:lnTo>
                <a:lnTo>
                  <a:pt x="1705271" y="44450"/>
                </a:lnTo>
                <a:lnTo>
                  <a:pt x="1612138" y="44450"/>
                </a:lnTo>
                <a:lnTo>
                  <a:pt x="1612138" y="31750"/>
                </a:lnTo>
                <a:lnTo>
                  <a:pt x="1705271" y="31750"/>
                </a:lnTo>
                <a:lnTo>
                  <a:pt x="1599438" y="0"/>
                </a:lnTo>
                <a:close/>
              </a:path>
              <a:path w="1726564" h="76200">
                <a:moveTo>
                  <a:pt x="1599438" y="31750"/>
                </a:moveTo>
                <a:lnTo>
                  <a:pt x="0" y="31750"/>
                </a:lnTo>
                <a:lnTo>
                  <a:pt x="0" y="44450"/>
                </a:lnTo>
                <a:lnTo>
                  <a:pt x="1599438" y="44450"/>
                </a:lnTo>
                <a:lnTo>
                  <a:pt x="1599438" y="31750"/>
                </a:lnTo>
                <a:close/>
              </a:path>
              <a:path w="1726564" h="76200">
                <a:moveTo>
                  <a:pt x="1705271" y="31750"/>
                </a:moveTo>
                <a:lnTo>
                  <a:pt x="1612138" y="31750"/>
                </a:lnTo>
                <a:lnTo>
                  <a:pt x="1612138" y="44450"/>
                </a:lnTo>
                <a:lnTo>
                  <a:pt x="1705271" y="44450"/>
                </a:lnTo>
                <a:lnTo>
                  <a:pt x="1726438" y="38100"/>
                </a:lnTo>
                <a:lnTo>
                  <a:pt x="1705271" y="3175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5">
            <a:extLst>
              <a:ext uri="{FF2B5EF4-FFF2-40B4-BE49-F238E27FC236}">
                <a16:creationId xmlns:a16="http://schemas.microsoft.com/office/drawing/2014/main" id="{F864746E-A025-F8D4-A9EB-144BB0DB28BE}"/>
              </a:ext>
            </a:extLst>
          </p:cNvPr>
          <p:cNvSpPr/>
          <p:nvPr/>
        </p:nvSpPr>
        <p:spPr>
          <a:xfrm>
            <a:off x="2631820" y="3076955"/>
            <a:ext cx="1728470" cy="471805"/>
          </a:xfrm>
          <a:custGeom>
            <a:avLst/>
            <a:gdLst/>
            <a:ahLst/>
            <a:cxnLst/>
            <a:rect l="l" t="t" r="r" b="b"/>
            <a:pathLst>
              <a:path w="1728470" h="471804">
                <a:moveTo>
                  <a:pt x="1603696" y="441062"/>
                </a:moveTo>
                <a:lnTo>
                  <a:pt x="1595501" y="471678"/>
                </a:lnTo>
                <a:lnTo>
                  <a:pt x="1728089" y="467741"/>
                </a:lnTo>
                <a:lnTo>
                  <a:pt x="1690179" y="444373"/>
                </a:lnTo>
                <a:lnTo>
                  <a:pt x="1616075" y="444373"/>
                </a:lnTo>
                <a:lnTo>
                  <a:pt x="1603696" y="441062"/>
                </a:lnTo>
                <a:close/>
              </a:path>
              <a:path w="1728470" h="471804">
                <a:moveTo>
                  <a:pt x="1606986" y="428775"/>
                </a:moveTo>
                <a:lnTo>
                  <a:pt x="1603696" y="441062"/>
                </a:lnTo>
                <a:lnTo>
                  <a:pt x="1616075" y="444373"/>
                </a:lnTo>
                <a:lnTo>
                  <a:pt x="1619250" y="432054"/>
                </a:lnTo>
                <a:lnTo>
                  <a:pt x="1606986" y="428775"/>
                </a:lnTo>
                <a:close/>
              </a:path>
              <a:path w="1728470" h="471804">
                <a:moveTo>
                  <a:pt x="1615186" y="398145"/>
                </a:moveTo>
                <a:lnTo>
                  <a:pt x="1606986" y="428775"/>
                </a:lnTo>
                <a:lnTo>
                  <a:pt x="1619250" y="432054"/>
                </a:lnTo>
                <a:lnTo>
                  <a:pt x="1616075" y="444373"/>
                </a:lnTo>
                <a:lnTo>
                  <a:pt x="1690179" y="444373"/>
                </a:lnTo>
                <a:lnTo>
                  <a:pt x="1615186" y="398145"/>
                </a:lnTo>
                <a:close/>
              </a:path>
              <a:path w="1728470" h="471804">
                <a:moveTo>
                  <a:pt x="3302" y="0"/>
                </a:moveTo>
                <a:lnTo>
                  <a:pt x="0" y="12192"/>
                </a:lnTo>
                <a:lnTo>
                  <a:pt x="1603696" y="441062"/>
                </a:lnTo>
                <a:lnTo>
                  <a:pt x="1606986" y="428775"/>
                </a:lnTo>
                <a:lnTo>
                  <a:pt x="330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6">
            <a:extLst>
              <a:ext uri="{FF2B5EF4-FFF2-40B4-BE49-F238E27FC236}">
                <a16:creationId xmlns:a16="http://schemas.microsoft.com/office/drawing/2014/main" id="{9EC16E56-5E7A-5098-D74A-BBFC19C7D0F0}"/>
              </a:ext>
            </a:extLst>
          </p:cNvPr>
          <p:cNvSpPr/>
          <p:nvPr/>
        </p:nvSpPr>
        <p:spPr>
          <a:xfrm>
            <a:off x="2630170" y="3077591"/>
            <a:ext cx="1729739" cy="1074420"/>
          </a:xfrm>
          <a:custGeom>
            <a:avLst/>
            <a:gdLst/>
            <a:ahLst/>
            <a:cxnLst/>
            <a:rect l="l" t="t" r="r" b="b"/>
            <a:pathLst>
              <a:path w="1729739" h="1074420">
                <a:moveTo>
                  <a:pt x="1618366" y="1012497"/>
                </a:moveTo>
                <a:lnTo>
                  <a:pt x="1601724" y="1039495"/>
                </a:lnTo>
                <a:lnTo>
                  <a:pt x="1729740" y="1073912"/>
                </a:lnTo>
                <a:lnTo>
                  <a:pt x="1681232" y="1019175"/>
                </a:lnTo>
                <a:lnTo>
                  <a:pt x="1629156" y="1019175"/>
                </a:lnTo>
                <a:lnTo>
                  <a:pt x="1618366" y="1012497"/>
                </a:lnTo>
                <a:close/>
              </a:path>
              <a:path w="1729739" h="1074420">
                <a:moveTo>
                  <a:pt x="1625042" y="1001667"/>
                </a:moveTo>
                <a:lnTo>
                  <a:pt x="1618366" y="1012497"/>
                </a:lnTo>
                <a:lnTo>
                  <a:pt x="1629156" y="1019175"/>
                </a:lnTo>
                <a:lnTo>
                  <a:pt x="1635887" y="1008380"/>
                </a:lnTo>
                <a:lnTo>
                  <a:pt x="1625042" y="1001667"/>
                </a:lnTo>
                <a:close/>
              </a:path>
              <a:path w="1729739" h="1074420">
                <a:moveTo>
                  <a:pt x="1641729" y="974598"/>
                </a:moveTo>
                <a:lnTo>
                  <a:pt x="1625042" y="1001667"/>
                </a:lnTo>
                <a:lnTo>
                  <a:pt x="1635887" y="1008380"/>
                </a:lnTo>
                <a:lnTo>
                  <a:pt x="1629156" y="1019175"/>
                </a:lnTo>
                <a:lnTo>
                  <a:pt x="1681232" y="1019175"/>
                </a:lnTo>
                <a:lnTo>
                  <a:pt x="1641729" y="974598"/>
                </a:lnTo>
                <a:close/>
              </a:path>
              <a:path w="1729739" h="1074420">
                <a:moveTo>
                  <a:pt x="6604" y="0"/>
                </a:moveTo>
                <a:lnTo>
                  <a:pt x="0" y="10922"/>
                </a:lnTo>
                <a:lnTo>
                  <a:pt x="1618366" y="1012497"/>
                </a:lnTo>
                <a:lnTo>
                  <a:pt x="1625042" y="1001667"/>
                </a:lnTo>
                <a:lnTo>
                  <a:pt x="660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7">
            <a:extLst>
              <a:ext uri="{FF2B5EF4-FFF2-40B4-BE49-F238E27FC236}">
                <a16:creationId xmlns:a16="http://schemas.microsoft.com/office/drawing/2014/main" id="{B66330E4-7689-1573-9F26-D731E1EC11A7}"/>
              </a:ext>
            </a:extLst>
          </p:cNvPr>
          <p:cNvSpPr/>
          <p:nvPr/>
        </p:nvSpPr>
        <p:spPr>
          <a:xfrm>
            <a:off x="2631820" y="3079114"/>
            <a:ext cx="1728470" cy="471805"/>
          </a:xfrm>
          <a:custGeom>
            <a:avLst/>
            <a:gdLst/>
            <a:ahLst/>
            <a:cxnLst/>
            <a:rect l="l" t="t" r="r" b="b"/>
            <a:pathLst>
              <a:path w="1728470" h="471804">
                <a:moveTo>
                  <a:pt x="1603696" y="30615"/>
                </a:moveTo>
                <a:lnTo>
                  <a:pt x="0" y="459486"/>
                </a:lnTo>
                <a:lnTo>
                  <a:pt x="3302" y="471677"/>
                </a:lnTo>
                <a:lnTo>
                  <a:pt x="1606986" y="42902"/>
                </a:lnTo>
                <a:lnTo>
                  <a:pt x="1603696" y="30615"/>
                </a:lnTo>
                <a:close/>
              </a:path>
              <a:path w="1728470" h="471804">
                <a:moveTo>
                  <a:pt x="1690179" y="27305"/>
                </a:moveTo>
                <a:lnTo>
                  <a:pt x="1616075" y="27305"/>
                </a:lnTo>
                <a:lnTo>
                  <a:pt x="1619250" y="39624"/>
                </a:lnTo>
                <a:lnTo>
                  <a:pt x="1606986" y="42902"/>
                </a:lnTo>
                <a:lnTo>
                  <a:pt x="1615186" y="73533"/>
                </a:lnTo>
                <a:lnTo>
                  <a:pt x="1690179" y="27305"/>
                </a:lnTo>
                <a:close/>
              </a:path>
              <a:path w="1728470" h="471804">
                <a:moveTo>
                  <a:pt x="1616075" y="27305"/>
                </a:moveTo>
                <a:lnTo>
                  <a:pt x="1603696" y="30615"/>
                </a:lnTo>
                <a:lnTo>
                  <a:pt x="1606986" y="42902"/>
                </a:lnTo>
                <a:lnTo>
                  <a:pt x="1619250" y="39624"/>
                </a:lnTo>
                <a:lnTo>
                  <a:pt x="1616075" y="27305"/>
                </a:lnTo>
                <a:close/>
              </a:path>
              <a:path w="1728470" h="471804">
                <a:moveTo>
                  <a:pt x="1595501" y="0"/>
                </a:moveTo>
                <a:lnTo>
                  <a:pt x="1603696" y="30615"/>
                </a:lnTo>
                <a:lnTo>
                  <a:pt x="1616075" y="27305"/>
                </a:lnTo>
                <a:lnTo>
                  <a:pt x="1690179" y="27305"/>
                </a:lnTo>
                <a:lnTo>
                  <a:pt x="1728089" y="3937"/>
                </a:lnTo>
                <a:lnTo>
                  <a:pt x="159550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5" name="object 8">
            <a:extLst>
              <a:ext uri="{FF2B5EF4-FFF2-40B4-BE49-F238E27FC236}">
                <a16:creationId xmlns:a16="http://schemas.microsoft.com/office/drawing/2014/main" id="{B17312A8-17C3-56E3-3AB8-25D818C6474E}"/>
              </a:ext>
            </a:extLst>
          </p:cNvPr>
          <p:cNvSpPr/>
          <p:nvPr/>
        </p:nvSpPr>
        <p:spPr>
          <a:xfrm>
            <a:off x="2633472" y="3506723"/>
            <a:ext cx="1726564" cy="76200"/>
          </a:xfrm>
          <a:custGeom>
            <a:avLst/>
            <a:gdLst/>
            <a:ahLst/>
            <a:cxnLst/>
            <a:rect l="l" t="t" r="r" b="b"/>
            <a:pathLst>
              <a:path w="1726564" h="76200">
                <a:moveTo>
                  <a:pt x="1599438" y="0"/>
                </a:moveTo>
                <a:lnTo>
                  <a:pt x="1599438" y="76200"/>
                </a:lnTo>
                <a:lnTo>
                  <a:pt x="1705271" y="44450"/>
                </a:lnTo>
                <a:lnTo>
                  <a:pt x="1612138" y="44450"/>
                </a:lnTo>
                <a:lnTo>
                  <a:pt x="1612138" y="31750"/>
                </a:lnTo>
                <a:lnTo>
                  <a:pt x="1705271" y="31750"/>
                </a:lnTo>
                <a:lnTo>
                  <a:pt x="1599438" y="0"/>
                </a:lnTo>
                <a:close/>
              </a:path>
              <a:path w="1726564" h="76200">
                <a:moveTo>
                  <a:pt x="1599438" y="31750"/>
                </a:moveTo>
                <a:lnTo>
                  <a:pt x="0" y="31750"/>
                </a:lnTo>
                <a:lnTo>
                  <a:pt x="0" y="44450"/>
                </a:lnTo>
                <a:lnTo>
                  <a:pt x="1599438" y="44450"/>
                </a:lnTo>
                <a:lnTo>
                  <a:pt x="1599438" y="31750"/>
                </a:lnTo>
                <a:close/>
              </a:path>
              <a:path w="1726564" h="76200">
                <a:moveTo>
                  <a:pt x="1705271" y="31750"/>
                </a:moveTo>
                <a:lnTo>
                  <a:pt x="1612138" y="31750"/>
                </a:lnTo>
                <a:lnTo>
                  <a:pt x="1612138" y="44450"/>
                </a:lnTo>
                <a:lnTo>
                  <a:pt x="1705271" y="44450"/>
                </a:lnTo>
                <a:lnTo>
                  <a:pt x="1726438" y="38100"/>
                </a:lnTo>
                <a:lnTo>
                  <a:pt x="1705271" y="3175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6" name="object 9">
            <a:extLst>
              <a:ext uri="{FF2B5EF4-FFF2-40B4-BE49-F238E27FC236}">
                <a16:creationId xmlns:a16="http://schemas.microsoft.com/office/drawing/2014/main" id="{10EB2100-26C5-F674-2EAD-E2EBA6FBC1C3}"/>
              </a:ext>
            </a:extLst>
          </p:cNvPr>
          <p:cNvSpPr/>
          <p:nvPr/>
        </p:nvSpPr>
        <p:spPr>
          <a:xfrm>
            <a:off x="2631313" y="3538854"/>
            <a:ext cx="1729105" cy="612775"/>
          </a:xfrm>
          <a:custGeom>
            <a:avLst/>
            <a:gdLst/>
            <a:ahLst/>
            <a:cxnLst/>
            <a:rect l="l" t="t" r="r" b="b"/>
            <a:pathLst>
              <a:path w="1729104" h="612775">
                <a:moveTo>
                  <a:pt x="1606636" y="576687"/>
                </a:moveTo>
                <a:lnTo>
                  <a:pt x="1596136" y="606552"/>
                </a:lnTo>
                <a:lnTo>
                  <a:pt x="1728597" y="612775"/>
                </a:lnTo>
                <a:lnTo>
                  <a:pt x="1684850" y="580898"/>
                </a:lnTo>
                <a:lnTo>
                  <a:pt x="1618614" y="580898"/>
                </a:lnTo>
                <a:lnTo>
                  <a:pt x="1606636" y="576687"/>
                </a:lnTo>
                <a:close/>
              </a:path>
              <a:path w="1729104" h="612775">
                <a:moveTo>
                  <a:pt x="1610872" y="564638"/>
                </a:moveTo>
                <a:lnTo>
                  <a:pt x="1606636" y="576687"/>
                </a:lnTo>
                <a:lnTo>
                  <a:pt x="1618614" y="580898"/>
                </a:lnTo>
                <a:lnTo>
                  <a:pt x="1622806" y="568833"/>
                </a:lnTo>
                <a:lnTo>
                  <a:pt x="1610872" y="564638"/>
                </a:lnTo>
                <a:close/>
              </a:path>
              <a:path w="1729104" h="612775">
                <a:moveTo>
                  <a:pt x="1621409" y="534670"/>
                </a:moveTo>
                <a:lnTo>
                  <a:pt x="1610872" y="564638"/>
                </a:lnTo>
                <a:lnTo>
                  <a:pt x="1622806" y="568833"/>
                </a:lnTo>
                <a:lnTo>
                  <a:pt x="1618614" y="580898"/>
                </a:lnTo>
                <a:lnTo>
                  <a:pt x="1684850" y="580898"/>
                </a:lnTo>
                <a:lnTo>
                  <a:pt x="1621409" y="534670"/>
                </a:lnTo>
                <a:close/>
              </a:path>
              <a:path w="1729104" h="612775">
                <a:moveTo>
                  <a:pt x="4318" y="0"/>
                </a:moveTo>
                <a:lnTo>
                  <a:pt x="0" y="11937"/>
                </a:lnTo>
                <a:lnTo>
                  <a:pt x="1606636" y="576687"/>
                </a:lnTo>
                <a:lnTo>
                  <a:pt x="1610872" y="564638"/>
                </a:lnTo>
                <a:lnTo>
                  <a:pt x="431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0">
            <a:extLst>
              <a:ext uri="{FF2B5EF4-FFF2-40B4-BE49-F238E27FC236}">
                <a16:creationId xmlns:a16="http://schemas.microsoft.com/office/drawing/2014/main" id="{284ADE46-46E3-D6CB-D59B-11018AB99ED3}"/>
              </a:ext>
            </a:extLst>
          </p:cNvPr>
          <p:cNvSpPr/>
          <p:nvPr/>
        </p:nvSpPr>
        <p:spPr>
          <a:xfrm>
            <a:off x="2630170" y="3083051"/>
            <a:ext cx="1729739" cy="1073785"/>
          </a:xfrm>
          <a:custGeom>
            <a:avLst/>
            <a:gdLst/>
            <a:ahLst/>
            <a:cxnLst/>
            <a:rect l="l" t="t" r="r" b="b"/>
            <a:pathLst>
              <a:path w="1729739" h="1073785">
                <a:moveTo>
                  <a:pt x="1618389" y="61399"/>
                </a:moveTo>
                <a:lnTo>
                  <a:pt x="0" y="1062990"/>
                </a:lnTo>
                <a:lnTo>
                  <a:pt x="6604" y="1073785"/>
                </a:lnTo>
                <a:lnTo>
                  <a:pt x="1625074" y="72222"/>
                </a:lnTo>
                <a:lnTo>
                  <a:pt x="1618389" y="61399"/>
                </a:lnTo>
                <a:close/>
              </a:path>
              <a:path w="1729739" h="1073785">
                <a:moveTo>
                  <a:pt x="1681170" y="54737"/>
                </a:moveTo>
                <a:lnTo>
                  <a:pt x="1629156" y="54737"/>
                </a:lnTo>
                <a:lnTo>
                  <a:pt x="1635887" y="65532"/>
                </a:lnTo>
                <a:lnTo>
                  <a:pt x="1625074" y="72222"/>
                </a:lnTo>
                <a:lnTo>
                  <a:pt x="1641729" y="99187"/>
                </a:lnTo>
                <a:lnTo>
                  <a:pt x="1681170" y="54737"/>
                </a:lnTo>
                <a:close/>
              </a:path>
              <a:path w="1729739" h="1073785">
                <a:moveTo>
                  <a:pt x="1629156" y="54737"/>
                </a:moveTo>
                <a:lnTo>
                  <a:pt x="1618389" y="61399"/>
                </a:lnTo>
                <a:lnTo>
                  <a:pt x="1625074" y="72222"/>
                </a:lnTo>
                <a:lnTo>
                  <a:pt x="1635887" y="65532"/>
                </a:lnTo>
                <a:lnTo>
                  <a:pt x="1629156" y="54737"/>
                </a:lnTo>
                <a:close/>
              </a:path>
              <a:path w="1729739" h="1073785">
                <a:moveTo>
                  <a:pt x="1729740" y="0"/>
                </a:moveTo>
                <a:lnTo>
                  <a:pt x="1601724" y="34417"/>
                </a:lnTo>
                <a:lnTo>
                  <a:pt x="1618389" y="61399"/>
                </a:lnTo>
                <a:lnTo>
                  <a:pt x="1629156" y="54737"/>
                </a:lnTo>
                <a:lnTo>
                  <a:pt x="1681170" y="54737"/>
                </a:lnTo>
                <a:lnTo>
                  <a:pt x="172974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8" name="object 11">
            <a:extLst>
              <a:ext uri="{FF2B5EF4-FFF2-40B4-BE49-F238E27FC236}">
                <a16:creationId xmlns:a16="http://schemas.microsoft.com/office/drawing/2014/main" id="{27E7FB55-AB14-3FBB-C6F2-1656F23A6A6F}"/>
              </a:ext>
            </a:extLst>
          </p:cNvPr>
          <p:cNvSpPr/>
          <p:nvPr/>
        </p:nvSpPr>
        <p:spPr>
          <a:xfrm>
            <a:off x="2631313" y="3544823"/>
            <a:ext cx="1729105" cy="612775"/>
          </a:xfrm>
          <a:custGeom>
            <a:avLst/>
            <a:gdLst/>
            <a:ahLst/>
            <a:cxnLst/>
            <a:rect l="l" t="t" r="r" b="b"/>
            <a:pathLst>
              <a:path w="1729104" h="612775">
                <a:moveTo>
                  <a:pt x="1606636" y="36087"/>
                </a:moveTo>
                <a:lnTo>
                  <a:pt x="0" y="600837"/>
                </a:lnTo>
                <a:lnTo>
                  <a:pt x="4318" y="612775"/>
                </a:lnTo>
                <a:lnTo>
                  <a:pt x="1610872" y="48136"/>
                </a:lnTo>
                <a:lnTo>
                  <a:pt x="1606636" y="36087"/>
                </a:lnTo>
                <a:close/>
              </a:path>
              <a:path w="1729104" h="612775">
                <a:moveTo>
                  <a:pt x="1684850" y="31876"/>
                </a:moveTo>
                <a:lnTo>
                  <a:pt x="1618614" y="31876"/>
                </a:lnTo>
                <a:lnTo>
                  <a:pt x="1622806" y="43941"/>
                </a:lnTo>
                <a:lnTo>
                  <a:pt x="1610872" y="48136"/>
                </a:lnTo>
                <a:lnTo>
                  <a:pt x="1621409" y="78105"/>
                </a:lnTo>
                <a:lnTo>
                  <a:pt x="1684850" y="31876"/>
                </a:lnTo>
                <a:close/>
              </a:path>
              <a:path w="1729104" h="612775">
                <a:moveTo>
                  <a:pt x="1618614" y="31876"/>
                </a:moveTo>
                <a:lnTo>
                  <a:pt x="1606636" y="36087"/>
                </a:lnTo>
                <a:lnTo>
                  <a:pt x="1610872" y="48136"/>
                </a:lnTo>
                <a:lnTo>
                  <a:pt x="1622806" y="43941"/>
                </a:lnTo>
                <a:lnTo>
                  <a:pt x="1618614" y="31876"/>
                </a:lnTo>
                <a:close/>
              </a:path>
              <a:path w="1729104" h="612775">
                <a:moveTo>
                  <a:pt x="1728597" y="0"/>
                </a:moveTo>
                <a:lnTo>
                  <a:pt x="1596136" y="6223"/>
                </a:lnTo>
                <a:lnTo>
                  <a:pt x="1606636" y="36087"/>
                </a:lnTo>
                <a:lnTo>
                  <a:pt x="1618614" y="31876"/>
                </a:lnTo>
                <a:lnTo>
                  <a:pt x="1684850" y="31876"/>
                </a:lnTo>
                <a:lnTo>
                  <a:pt x="172859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12">
            <a:extLst>
              <a:ext uri="{FF2B5EF4-FFF2-40B4-BE49-F238E27FC236}">
                <a16:creationId xmlns:a16="http://schemas.microsoft.com/office/drawing/2014/main" id="{C0AAEBFE-EFFB-E5F3-7A22-7DE3BA03A60F}"/>
              </a:ext>
            </a:extLst>
          </p:cNvPr>
          <p:cNvSpPr/>
          <p:nvPr/>
        </p:nvSpPr>
        <p:spPr>
          <a:xfrm>
            <a:off x="2633472" y="4114800"/>
            <a:ext cx="1726564" cy="76200"/>
          </a:xfrm>
          <a:custGeom>
            <a:avLst/>
            <a:gdLst/>
            <a:ahLst/>
            <a:cxnLst/>
            <a:rect l="l" t="t" r="r" b="b"/>
            <a:pathLst>
              <a:path w="1726564" h="76200">
                <a:moveTo>
                  <a:pt x="1599438" y="0"/>
                </a:moveTo>
                <a:lnTo>
                  <a:pt x="1599438" y="76200"/>
                </a:lnTo>
                <a:lnTo>
                  <a:pt x="1705271" y="44450"/>
                </a:lnTo>
                <a:lnTo>
                  <a:pt x="1612138" y="44450"/>
                </a:lnTo>
                <a:lnTo>
                  <a:pt x="1612138" y="31750"/>
                </a:lnTo>
                <a:lnTo>
                  <a:pt x="1705271" y="31750"/>
                </a:lnTo>
                <a:lnTo>
                  <a:pt x="1599438" y="0"/>
                </a:lnTo>
                <a:close/>
              </a:path>
              <a:path w="1726564" h="76200">
                <a:moveTo>
                  <a:pt x="1599438" y="31750"/>
                </a:moveTo>
                <a:lnTo>
                  <a:pt x="0" y="31750"/>
                </a:lnTo>
                <a:lnTo>
                  <a:pt x="0" y="44450"/>
                </a:lnTo>
                <a:lnTo>
                  <a:pt x="1599438" y="44450"/>
                </a:lnTo>
                <a:lnTo>
                  <a:pt x="1599438" y="31750"/>
                </a:lnTo>
                <a:close/>
              </a:path>
              <a:path w="1726564" h="76200">
                <a:moveTo>
                  <a:pt x="1705271" y="31750"/>
                </a:moveTo>
                <a:lnTo>
                  <a:pt x="1612138" y="31750"/>
                </a:lnTo>
                <a:lnTo>
                  <a:pt x="1612138" y="44450"/>
                </a:lnTo>
                <a:lnTo>
                  <a:pt x="1705271" y="44450"/>
                </a:lnTo>
                <a:lnTo>
                  <a:pt x="1726438" y="38100"/>
                </a:lnTo>
                <a:lnTo>
                  <a:pt x="1705271" y="3175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aphicFrame>
        <p:nvGraphicFramePr>
          <p:cNvPr id="40" name="object 13">
            <a:extLst>
              <a:ext uri="{FF2B5EF4-FFF2-40B4-BE49-F238E27FC236}">
                <a16:creationId xmlns:a16="http://schemas.microsoft.com/office/drawing/2014/main" id="{242AC6D3-21D5-8E61-1DB5-6D5544C06C0F}"/>
              </a:ext>
            </a:extLst>
          </p:cNvPr>
          <p:cNvGraphicFramePr>
            <a:graphicFrameLocks noGrp="1"/>
          </p:cNvGraphicFramePr>
          <p:nvPr/>
        </p:nvGraphicFramePr>
        <p:xfrm>
          <a:off x="937209" y="3002621"/>
          <a:ext cx="5326379" cy="1992199"/>
        </p:xfrm>
        <a:graphic>
          <a:graphicData uri="http://schemas.openxmlformats.org/drawingml/2006/table">
            <a:tbl>
              <a:tblPr firstRow="1" bandRow="1"/>
              <a:tblGrid>
                <a:gridCol w="532765">
                  <a:extLst>
                    <a:ext uri="{9D8B030D-6E8A-4147-A177-3AD203B41FA5}">
                      <a16:colId xmlns:a16="http://schemas.microsoft.com/office/drawing/2014/main" val="20000"/>
                    </a:ext>
                  </a:extLst>
                </a:gridCol>
                <a:gridCol w="334009">
                  <a:extLst>
                    <a:ext uri="{9D8B030D-6E8A-4147-A177-3AD203B41FA5}">
                      <a16:colId xmlns:a16="http://schemas.microsoft.com/office/drawing/2014/main" val="20001"/>
                    </a:ext>
                  </a:extLst>
                </a:gridCol>
                <a:gridCol w="556260">
                  <a:extLst>
                    <a:ext uri="{9D8B030D-6E8A-4147-A177-3AD203B41FA5}">
                      <a16:colId xmlns:a16="http://schemas.microsoft.com/office/drawing/2014/main" val="20002"/>
                    </a:ext>
                  </a:extLst>
                </a:gridCol>
                <a:gridCol w="1129665">
                  <a:extLst>
                    <a:ext uri="{9D8B030D-6E8A-4147-A177-3AD203B41FA5}">
                      <a16:colId xmlns:a16="http://schemas.microsoft.com/office/drawing/2014/main" val="20003"/>
                    </a:ext>
                  </a:extLst>
                </a:gridCol>
                <a:gridCol w="1685925">
                  <a:extLst>
                    <a:ext uri="{9D8B030D-6E8A-4147-A177-3AD203B41FA5}">
                      <a16:colId xmlns:a16="http://schemas.microsoft.com/office/drawing/2014/main" val="20004"/>
                    </a:ext>
                  </a:extLst>
                </a:gridCol>
                <a:gridCol w="889635">
                  <a:extLst>
                    <a:ext uri="{9D8B030D-6E8A-4147-A177-3AD203B41FA5}">
                      <a16:colId xmlns:a16="http://schemas.microsoft.com/office/drawing/2014/main" val="20005"/>
                    </a:ext>
                  </a:extLst>
                </a:gridCol>
                <a:gridCol w="198120">
                  <a:extLst>
                    <a:ext uri="{9D8B030D-6E8A-4147-A177-3AD203B41FA5}">
                      <a16:colId xmlns:a16="http://schemas.microsoft.com/office/drawing/2014/main" val="20006"/>
                    </a:ext>
                  </a:extLst>
                </a:gridCol>
              </a:tblGrid>
              <a:tr h="332232">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5875" algn="ctr">
                        <a:lnSpc>
                          <a:spcPts val="1505"/>
                        </a:lnSpc>
                      </a:pPr>
                      <a:r>
                        <a:rPr sz="1600" spc="-10" dirty="0">
                          <a:latin typeface="Consolas"/>
                          <a:cs typeface="Consolas"/>
                        </a:rPr>
                        <a:t>Code</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ts val="1505"/>
                        </a:lnSpc>
                      </a:pPr>
                      <a:r>
                        <a:rPr sz="1600" spc="-10" dirty="0">
                          <a:latin typeface="Consolas"/>
                          <a:cs typeface="Consolas"/>
                        </a:rPr>
                        <a:t>in</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ts val="1505"/>
                        </a:lnSpc>
                      </a:pPr>
                      <a:r>
                        <a:rPr sz="1600" spc="-10" dirty="0">
                          <a:latin typeface="Consolas"/>
                          <a:cs typeface="Consolas"/>
                        </a:rPr>
                        <a:t>lang</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ts val="1505"/>
                        </a:lnSpc>
                      </a:pPr>
                      <a:r>
                        <a:rPr sz="1600" dirty="0">
                          <a:latin typeface="Consolas"/>
                          <a:cs typeface="Consolas"/>
                        </a:rPr>
                        <a:t>1</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r">
                        <a:lnSpc>
                          <a:spcPts val="1505"/>
                        </a:lnSpc>
                      </a:pPr>
                      <a:r>
                        <a:rPr sz="1600" spc="-5" dirty="0">
                          <a:latin typeface="Consolas"/>
                          <a:cs typeface="Consolas"/>
                        </a:rPr>
                        <a:t>Target</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35" algn="ctr">
                        <a:lnSpc>
                          <a:spcPts val="1505"/>
                        </a:lnSpc>
                      </a:pPr>
                      <a:r>
                        <a:rPr sz="1600" spc="-5" dirty="0">
                          <a:latin typeface="Consolas"/>
                          <a:cs typeface="Consolas"/>
                        </a:rPr>
                        <a:t>machine</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24130" algn="r">
                        <a:lnSpc>
                          <a:spcPts val="1505"/>
                        </a:lnSpc>
                      </a:pPr>
                      <a:r>
                        <a:rPr sz="1600" dirty="0">
                          <a:latin typeface="Consolas"/>
                          <a:cs typeface="Consolas"/>
                        </a:rPr>
                        <a:t>1</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53288">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5875" algn="ctr">
                        <a:lnSpc>
                          <a:spcPct val="100000"/>
                        </a:lnSpc>
                        <a:spcBef>
                          <a:spcPts val="605"/>
                        </a:spcBef>
                      </a:pPr>
                      <a:r>
                        <a:rPr sz="1600" spc="-10" dirty="0">
                          <a:latin typeface="Consolas"/>
                          <a:cs typeface="Consolas"/>
                        </a:rPr>
                        <a:t>Code</a:t>
                      </a:r>
                      <a:endParaRPr sz="1600">
                        <a:latin typeface="Consolas"/>
                        <a:cs typeface="Consolas"/>
                      </a:endParaRPr>
                    </a:p>
                  </a:txBody>
                  <a:tcPr marL="0" marR="0" marT="7683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ts val="1895"/>
                        </a:lnSpc>
                        <a:spcBef>
                          <a:spcPts val="605"/>
                        </a:spcBef>
                      </a:pPr>
                      <a:r>
                        <a:rPr sz="1600" spc="-10" dirty="0">
                          <a:latin typeface="Consolas"/>
                          <a:cs typeface="Consolas"/>
                        </a:rPr>
                        <a:t>in</a:t>
                      </a:r>
                      <a:endParaRPr sz="1600">
                        <a:latin typeface="Consolas"/>
                        <a:cs typeface="Consolas"/>
                      </a:endParaRPr>
                    </a:p>
                    <a:p>
                      <a:pPr marL="134620">
                        <a:lnSpc>
                          <a:spcPts val="1895"/>
                        </a:lnSpc>
                      </a:pPr>
                      <a:r>
                        <a:rPr sz="1600" dirty="0">
                          <a:latin typeface="Consolas"/>
                          <a:cs typeface="Consolas"/>
                        </a:rPr>
                        <a:t>…</a:t>
                      </a:r>
                      <a:endParaRPr sz="1600">
                        <a:latin typeface="Consolas"/>
                        <a:cs typeface="Consolas"/>
                      </a:endParaRPr>
                    </a:p>
                  </a:txBody>
                  <a:tcPr marL="0" marR="0" marT="7683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605"/>
                        </a:spcBef>
                      </a:pPr>
                      <a:r>
                        <a:rPr sz="1600" spc="-10" dirty="0">
                          <a:latin typeface="Consolas"/>
                          <a:cs typeface="Consolas"/>
                        </a:rPr>
                        <a:t>lang</a:t>
                      </a:r>
                      <a:endParaRPr sz="1600">
                        <a:latin typeface="Consolas"/>
                        <a:cs typeface="Consolas"/>
                      </a:endParaRPr>
                    </a:p>
                  </a:txBody>
                  <a:tcPr marL="0" marR="0" marT="7683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ct val="100000"/>
                        </a:lnSpc>
                        <a:spcBef>
                          <a:spcPts val="605"/>
                        </a:spcBef>
                      </a:pPr>
                      <a:r>
                        <a:rPr sz="1600" dirty="0">
                          <a:latin typeface="Consolas"/>
                          <a:cs typeface="Consolas"/>
                        </a:rPr>
                        <a:t>2</a:t>
                      </a:r>
                      <a:endParaRPr sz="1600">
                        <a:latin typeface="Consolas"/>
                        <a:cs typeface="Consolas"/>
                      </a:endParaRPr>
                    </a:p>
                  </a:txBody>
                  <a:tcPr marL="0" marR="0" marT="7683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r">
                        <a:lnSpc>
                          <a:spcPct val="100000"/>
                        </a:lnSpc>
                        <a:spcBef>
                          <a:spcPts val="605"/>
                        </a:spcBef>
                      </a:pPr>
                      <a:r>
                        <a:rPr sz="1600" spc="-5" dirty="0">
                          <a:latin typeface="Consolas"/>
                          <a:cs typeface="Consolas"/>
                        </a:rPr>
                        <a:t>Target</a:t>
                      </a:r>
                      <a:endParaRPr sz="1600">
                        <a:latin typeface="Consolas"/>
                        <a:cs typeface="Consolas"/>
                      </a:endParaRPr>
                    </a:p>
                  </a:txBody>
                  <a:tcPr marL="0" marR="0" marT="7683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ts val="1895"/>
                        </a:lnSpc>
                        <a:spcBef>
                          <a:spcPts val="605"/>
                        </a:spcBef>
                      </a:pPr>
                      <a:r>
                        <a:rPr sz="1600" spc="-5" dirty="0">
                          <a:latin typeface="Consolas"/>
                          <a:cs typeface="Consolas"/>
                        </a:rPr>
                        <a:t>machine</a:t>
                      </a:r>
                      <a:endParaRPr sz="1600">
                        <a:latin typeface="Consolas"/>
                        <a:cs typeface="Consolas"/>
                      </a:endParaRPr>
                    </a:p>
                    <a:p>
                      <a:pPr marL="70485">
                        <a:lnSpc>
                          <a:spcPts val="1895"/>
                        </a:lnSpc>
                      </a:pPr>
                      <a:r>
                        <a:rPr sz="1600" dirty="0">
                          <a:latin typeface="Consolas"/>
                          <a:cs typeface="Consolas"/>
                        </a:rPr>
                        <a:t>…</a:t>
                      </a:r>
                      <a:endParaRPr sz="1600">
                        <a:latin typeface="Consolas"/>
                        <a:cs typeface="Consolas"/>
                      </a:endParaRPr>
                    </a:p>
                  </a:txBody>
                  <a:tcPr marL="0" marR="0" marT="7683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24130" algn="r">
                        <a:lnSpc>
                          <a:spcPct val="100000"/>
                        </a:lnSpc>
                        <a:spcBef>
                          <a:spcPts val="605"/>
                        </a:spcBef>
                      </a:pPr>
                      <a:r>
                        <a:rPr sz="1600" dirty="0">
                          <a:latin typeface="Consolas"/>
                          <a:cs typeface="Consolas"/>
                        </a:rPr>
                        <a:t>2</a:t>
                      </a:r>
                      <a:endParaRPr sz="1600">
                        <a:latin typeface="Consolas"/>
                        <a:cs typeface="Consolas"/>
                      </a:endParaRPr>
                    </a:p>
                  </a:txBody>
                  <a:tcPr marL="0" marR="0" marT="76835"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447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5875" algn="ctr">
                        <a:lnSpc>
                          <a:spcPct val="100000"/>
                        </a:lnSpc>
                        <a:spcBef>
                          <a:spcPts val="240"/>
                        </a:spcBef>
                      </a:pPr>
                      <a:r>
                        <a:rPr sz="1600" spc="-10" dirty="0">
                          <a:latin typeface="Consolas"/>
                          <a:cs typeface="Consolas"/>
                        </a:rPr>
                        <a:t>Code</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ct val="100000"/>
                        </a:lnSpc>
                        <a:spcBef>
                          <a:spcPts val="240"/>
                        </a:spcBef>
                      </a:pPr>
                      <a:r>
                        <a:rPr sz="1600" spc="-10" dirty="0">
                          <a:latin typeface="Consolas"/>
                          <a:cs typeface="Consolas"/>
                        </a:rPr>
                        <a:t>in</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40"/>
                        </a:spcBef>
                      </a:pPr>
                      <a:r>
                        <a:rPr sz="1600" spc="-10" dirty="0">
                          <a:latin typeface="Consolas"/>
                          <a:cs typeface="Consolas"/>
                        </a:rPr>
                        <a:t>lang</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ct val="100000"/>
                        </a:lnSpc>
                        <a:spcBef>
                          <a:spcPts val="240"/>
                        </a:spcBef>
                      </a:pPr>
                      <a:r>
                        <a:rPr sz="1600" dirty="0">
                          <a:latin typeface="Consolas"/>
                          <a:cs typeface="Consolas"/>
                        </a:rPr>
                        <a:t>M</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r">
                        <a:lnSpc>
                          <a:spcPct val="100000"/>
                        </a:lnSpc>
                        <a:spcBef>
                          <a:spcPts val="240"/>
                        </a:spcBef>
                      </a:pPr>
                      <a:r>
                        <a:rPr sz="1600" spc="-5" dirty="0">
                          <a:latin typeface="Consolas"/>
                          <a:cs typeface="Consolas"/>
                        </a:rPr>
                        <a:t>Target</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35" algn="ctr">
                        <a:lnSpc>
                          <a:spcPct val="100000"/>
                        </a:lnSpc>
                        <a:spcBef>
                          <a:spcPts val="240"/>
                        </a:spcBef>
                      </a:pPr>
                      <a:r>
                        <a:rPr sz="1600" spc="-5" dirty="0">
                          <a:latin typeface="Consolas"/>
                          <a:cs typeface="Consolas"/>
                        </a:rPr>
                        <a:t>machine</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24130" algn="r">
                        <a:lnSpc>
                          <a:spcPct val="100000"/>
                        </a:lnSpc>
                        <a:spcBef>
                          <a:spcPts val="240"/>
                        </a:spcBef>
                      </a:pPr>
                      <a:r>
                        <a:rPr sz="1600" dirty="0">
                          <a:latin typeface="Consolas"/>
                          <a:cs typeface="Consolas"/>
                        </a:rPr>
                        <a:t>N</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6196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5"/>
                        </a:spcBef>
                      </a:pPr>
                      <a:endParaRPr sz="1400">
                        <a:latin typeface="Times New Roman"/>
                        <a:cs typeface="Times New Roman"/>
                      </a:endParaRPr>
                    </a:p>
                    <a:p>
                      <a:pPr marR="15875" algn="ctr">
                        <a:lnSpc>
                          <a:spcPts val="1910"/>
                        </a:lnSpc>
                      </a:pPr>
                      <a:r>
                        <a:rPr sz="1600" spc="-10" dirty="0">
                          <a:latin typeface="Consolas"/>
                          <a:cs typeface="Consolas"/>
                        </a:rPr>
                        <a:t>Code</a:t>
                      </a:r>
                      <a:endParaRPr sz="1600">
                        <a:latin typeface="Consolas"/>
                        <a:cs typeface="Consolas"/>
                      </a:endParaRPr>
                    </a:p>
                  </a:txBody>
                  <a:tcPr marL="0" marR="0" marT="190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5"/>
                        </a:spcBef>
                      </a:pPr>
                      <a:endParaRPr sz="1400">
                        <a:latin typeface="Times New Roman"/>
                        <a:cs typeface="Times New Roman"/>
                      </a:endParaRPr>
                    </a:p>
                    <a:p>
                      <a:pPr marL="55244">
                        <a:lnSpc>
                          <a:spcPts val="1910"/>
                        </a:lnSpc>
                      </a:pPr>
                      <a:r>
                        <a:rPr sz="1600" spc="-10" dirty="0">
                          <a:latin typeface="Consolas"/>
                          <a:cs typeface="Consolas"/>
                        </a:rPr>
                        <a:t>in</a:t>
                      </a:r>
                      <a:endParaRPr sz="1600">
                        <a:latin typeface="Consolas"/>
                        <a:cs typeface="Consolas"/>
                      </a:endParaRPr>
                    </a:p>
                  </a:txBody>
                  <a:tcPr marL="0" marR="0" marT="190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5"/>
                        </a:spcBef>
                      </a:pPr>
                      <a:endParaRPr sz="1400">
                        <a:latin typeface="Times New Roman"/>
                        <a:cs typeface="Times New Roman"/>
                      </a:endParaRPr>
                    </a:p>
                    <a:p>
                      <a:pPr algn="ctr">
                        <a:lnSpc>
                          <a:spcPts val="1910"/>
                        </a:lnSpc>
                      </a:pPr>
                      <a:r>
                        <a:rPr sz="1600" spc="-10" dirty="0">
                          <a:latin typeface="Consolas"/>
                          <a:cs typeface="Consolas"/>
                        </a:rPr>
                        <a:t>lang</a:t>
                      </a:r>
                      <a:endParaRPr sz="1600">
                        <a:latin typeface="Consolas"/>
                        <a:cs typeface="Consolas"/>
                      </a:endParaRPr>
                    </a:p>
                  </a:txBody>
                  <a:tcPr marL="0" marR="0" marT="190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5"/>
                        </a:spcBef>
                      </a:pPr>
                      <a:endParaRPr sz="1400">
                        <a:latin typeface="Times New Roman"/>
                        <a:cs typeface="Times New Roman"/>
                      </a:endParaRPr>
                    </a:p>
                    <a:p>
                      <a:pPr marL="55244">
                        <a:lnSpc>
                          <a:spcPts val="1910"/>
                        </a:lnSpc>
                      </a:pPr>
                      <a:r>
                        <a:rPr sz="1600" dirty="0">
                          <a:latin typeface="Consolas"/>
                          <a:cs typeface="Consolas"/>
                        </a:rPr>
                        <a:t>1</a:t>
                      </a:r>
                      <a:endParaRPr sz="1600">
                        <a:latin typeface="Consolas"/>
                        <a:cs typeface="Consolas"/>
                      </a:endParaRPr>
                    </a:p>
                  </a:txBody>
                  <a:tcPr marL="0" marR="0" marT="190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5"/>
                        </a:spcBef>
                      </a:pPr>
                      <a:endParaRPr sz="1400">
                        <a:latin typeface="Times New Roman"/>
                        <a:cs typeface="Times New Roman"/>
                      </a:endParaRPr>
                    </a:p>
                    <a:p>
                      <a:pPr marR="47625" algn="r">
                        <a:lnSpc>
                          <a:spcPts val="1910"/>
                        </a:lnSpc>
                      </a:pPr>
                      <a:r>
                        <a:rPr sz="1600" spc="-5" dirty="0">
                          <a:latin typeface="Consolas"/>
                          <a:cs typeface="Consolas"/>
                        </a:rPr>
                        <a:t>Target</a:t>
                      </a:r>
                      <a:endParaRPr sz="1600">
                        <a:latin typeface="Consolas"/>
                        <a:cs typeface="Consolas"/>
                      </a:endParaRPr>
                    </a:p>
                  </a:txBody>
                  <a:tcPr marL="0" marR="0" marT="190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5"/>
                        </a:spcBef>
                      </a:pPr>
                      <a:endParaRPr sz="1400">
                        <a:latin typeface="Times New Roman"/>
                        <a:cs typeface="Times New Roman"/>
                      </a:endParaRPr>
                    </a:p>
                    <a:p>
                      <a:pPr marL="635" algn="ctr">
                        <a:lnSpc>
                          <a:spcPts val="1910"/>
                        </a:lnSpc>
                      </a:pPr>
                      <a:r>
                        <a:rPr sz="1600" spc="-10" dirty="0">
                          <a:latin typeface="Consolas"/>
                          <a:cs typeface="Consolas"/>
                        </a:rPr>
                        <a:t>machine</a:t>
                      </a:r>
                      <a:endParaRPr sz="1600">
                        <a:latin typeface="Consolas"/>
                        <a:cs typeface="Consolas"/>
                      </a:endParaRPr>
                    </a:p>
                  </a:txBody>
                  <a:tcPr marL="0" marR="0" marT="190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5"/>
                        </a:spcBef>
                      </a:pPr>
                      <a:endParaRPr sz="1400">
                        <a:latin typeface="Times New Roman"/>
                        <a:cs typeface="Times New Roman"/>
                      </a:endParaRPr>
                    </a:p>
                    <a:p>
                      <a:pPr marR="24130" algn="r">
                        <a:lnSpc>
                          <a:spcPts val="1910"/>
                        </a:lnSpc>
                      </a:pPr>
                      <a:r>
                        <a:rPr sz="1600" dirty="0">
                          <a:latin typeface="Consolas"/>
                          <a:cs typeface="Consolas"/>
                        </a:rPr>
                        <a:t>1</a:t>
                      </a:r>
                      <a:endParaRPr sz="1600">
                        <a:latin typeface="Consolas"/>
                        <a:cs typeface="Consolas"/>
                      </a:endParaRPr>
                    </a:p>
                  </a:txBody>
                  <a:tcPr marL="0" marR="0" marT="1905"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41" name="object 14">
            <a:extLst>
              <a:ext uri="{FF2B5EF4-FFF2-40B4-BE49-F238E27FC236}">
                <a16:creationId xmlns:a16="http://schemas.microsoft.com/office/drawing/2014/main" id="{02F5A48B-3421-70F6-2A01-D354C62075E5}"/>
              </a:ext>
            </a:extLst>
          </p:cNvPr>
          <p:cNvSpPr txBox="1"/>
          <p:nvPr/>
        </p:nvSpPr>
        <p:spPr>
          <a:xfrm>
            <a:off x="6502907" y="3236976"/>
            <a:ext cx="2167255" cy="585470"/>
          </a:xfrm>
          <a:prstGeom prst="rect">
            <a:avLst/>
          </a:prstGeom>
          <a:solidFill>
            <a:srgbClr val="FFF1CC"/>
          </a:solidFill>
        </p:spPr>
        <p:txBody>
          <a:bodyPr vert="horz" wrap="square" lIns="0" tIns="36194" rIns="0" bIns="0" rtlCol="0">
            <a:spAutoFit/>
          </a:bodyPr>
          <a:lstStyle/>
          <a:p>
            <a:pPr marL="138430" marR="130175" indent="111125" rtl="0">
              <a:spcBef>
                <a:spcPts val="284"/>
              </a:spcBef>
            </a:pPr>
            <a:r>
              <a:rPr sz="1600" b="1" kern="1200" spc="-5" dirty="0">
                <a:solidFill>
                  <a:srgbClr val="FF0000"/>
                </a:solidFill>
                <a:latin typeface="Consolas"/>
                <a:cs typeface="Consolas"/>
              </a:rPr>
              <a:t>M * N </a:t>
            </a:r>
            <a:r>
              <a:rPr sz="1600" kern="1200" spc="-10" dirty="0">
                <a:solidFill>
                  <a:prstClr val="black"/>
                </a:solidFill>
                <a:latin typeface="Consolas"/>
                <a:cs typeface="Consolas"/>
              </a:rPr>
              <a:t>compilers  without </a:t>
            </a:r>
            <a:r>
              <a:rPr sz="1600" kern="1200" spc="-5" dirty="0">
                <a:solidFill>
                  <a:prstClr val="black"/>
                </a:solidFill>
                <a:latin typeface="Consolas"/>
                <a:cs typeface="Consolas"/>
              </a:rPr>
              <a:t>a </a:t>
            </a:r>
            <a:r>
              <a:rPr sz="1600" kern="1200" spc="-10" dirty="0">
                <a:solidFill>
                  <a:prstClr val="black"/>
                </a:solidFill>
                <a:latin typeface="Consolas"/>
                <a:cs typeface="Consolas"/>
              </a:rPr>
              <a:t>good</a:t>
            </a:r>
            <a:r>
              <a:rPr sz="1600" kern="1200" spc="-65" dirty="0">
                <a:solidFill>
                  <a:prstClr val="black"/>
                </a:solidFill>
                <a:latin typeface="Consolas"/>
                <a:cs typeface="Consolas"/>
              </a:rPr>
              <a:t> </a:t>
            </a:r>
            <a:r>
              <a:rPr sz="1600" kern="1200" spc="-10" dirty="0">
                <a:solidFill>
                  <a:prstClr val="black"/>
                </a:solidFill>
                <a:latin typeface="Consolas"/>
                <a:cs typeface="Consolas"/>
              </a:rPr>
              <a:t>IL</a:t>
            </a:r>
            <a:endParaRPr sz="1600" kern="1200">
              <a:solidFill>
                <a:prstClr val="black"/>
              </a:solidFill>
              <a:latin typeface="Consolas"/>
              <a:cs typeface="Consolas"/>
            </a:endParaRPr>
          </a:p>
        </p:txBody>
      </p:sp>
      <p:sp>
        <p:nvSpPr>
          <p:cNvPr id="42" name="object 15">
            <a:extLst>
              <a:ext uri="{FF2B5EF4-FFF2-40B4-BE49-F238E27FC236}">
                <a16:creationId xmlns:a16="http://schemas.microsoft.com/office/drawing/2014/main" id="{0F6CF1E8-A668-346E-5E54-23E977B0FEC6}"/>
              </a:ext>
            </a:extLst>
          </p:cNvPr>
          <p:cNvSpPr txBox="1"/>
          <p:nvPr/>
        </p:nvSpPr>
        <p:spPr>
          <a:xfrm>
            <a:off x="956259" y="5172836"/>
            <a:ext cx="1583690" cy="269240"/>
          </a:xfrm>
          <a:prstGeom prst="rect">
            <a:avLst/>
          </a:prstGeom>
        </p:spPr>
        <p:txBody>
          <a:bodyPr vert="horz" wrap="square" lIns="0" tIns="12065" rIns="0" bIns="0" rtlCol="0">
            <a:spAutoFit/>
          </a:bodyPr>
          <a:lstStyle/>
          <a:p>
            <a:pPr marL="12700" rtl="0">
              <a:spcBef>
                <a:spcPts val="95"/>
              </a:spcBef>
            </a:pPr>
            <a:r>
              <a:rPr sz="1600" kern="1200" spc="-10" dirty="0">
                <a:solidFill>
                  <a:prstClr val="black"/>
                </a:solidFill>
                <a:latin typeface="Consolas"/>
                <a:cs typeface="Consolas"/>
              </a:rPr>
              <a:t>Code </a:t>
            </a:r>
            <a:r>
              <a:rPr sz="1600" kern="1200" spc="-5" dirty="0">
                <a:solidFill>
                  <a:prstClr val="black"/>
                </a:solidFill>
                <a:latin typeface="Consolas"/>
                <a:cs typeface="Consolas"/>
              </a:rPr>
              <a:t>in </a:t>
            </a:r>
            <a:r>
              <a:rPr sz="1600" kern="1200" spc="-10" dirty="0">
                <a:solidFill>
                  <a:prstClr val="black"/>
                </a:solidFill>
                <a:latin typeface="Consolas"/>
                <a:cs typeface="Consolas"/>
              </a:rPr>
              <a:t>lang</a:t>
            </a:r>
            <a:r>
              <a:rPr sz="1600" kern="1200" spc="-70" dirty="0">
                <a:solidFill>
                  <a:prstClr val="black"/>
                </a:solidFill>
                <a:latin typeface="Consolas"/>
                <a:cs typeface="Consolas"/>
              </a:rPr>
              <a:t> </a:t>
            </a:r>
            <a:r>
              <a:rPr sz="1600" kern="1200" spc="-5" dirty="0">
                <a:solidFill>
                  <a:prstClr val="black"/>
                </a:solidFill>
                <a:latin typeface="Consolas"/>
                <a:cs typeface="Consolas"/>
              </a:rPr>
              <a:t>2</a:t>
            </a:r>
            <a:endParaRPr sz="1600" kern="1200">
              <a:solidFill>
                <a:prstClr val="black"/>
              </a:solidFill>
              <a:latin typeface="Consolas"/>
              <a:cs typeface="Consolas"/>
            </a:endParaRPr>
          </a:p>
        </p:txBody>
      </p:sp>
      <p:graphicFrame>
        <p:nvGraphicFramePr>
          <p:cNvPr id="43" name="object 16">
            <a:extLst>
              <a:ext uri="{FF2B5EF4-FFF2-40B4-BE49-F238E27FC236}">
                <a16:creationId xmlns:a16="http://schemas.microsoft.com/office/drawing/2014/main" id="{6C33E63C-370C-B0B0-9CC4-2AEDDB4CA3DC}"/>
              </a:ext>
            </a:extLst>
          </p:cNvPr>
          <p:cNvGraphicFramePr>
            <a:graphicFrameLocks noGrp="1"/>
          </p:cNvGraphicFramePr>
          <p:nvPr/>
        </p:nvGraphicFramePr>
        <p:xfrm>
          <a:off x="937209" y="5492227"/>
          <a:ext cx="5323838" cy="571500"/>
        </p:xfrm>
        <a:graphic>
          <a:graphicData uri="http://schemas.openxmlformats.org/drawingml/2006/table">
            <a:tbl>
              <a:tblPr firstRow="1" bandRow="1"/>
              <a:tblGrid>
                <a:gridCol w="532765">
                  <a:extLst>
                    <a:ext uri="{9D8B030D-6E8A-4147-A177-3AD203B41FA5}">
                      <a16:colId xmlns:a16="http://schemas.microsoft.com/office/drawing/2014/main" val="20000"/>
                    </a:ext>
                  </a:extLst>
                </a:gridCol>
                <a:gridCol w="334009">
                  <a:extLst>
                    <a:ext uri="{9D8B030D-6E8A-4147-A177-3AD203B41FA5}">
                      <a16:colId xmlns:a16="http://schemas.microsoft.com/office/drawing/2014/main" val="20001"/>
                    </a:ext>
                  </a:extLst>
                </a:gridCol>
                <a:gridCol w="556260">
                  <a:extLst>
                    <a:ext uri="{9D8B030D-6E8A-4147-A177-3AD203B41FA5}">
                      <a16:colId xmlns:a16="http://schemas.microsoft.com/office/drawing/2014/main" val="20002"/>
                    </a:ext>
                  </a:extLst>
                </a:gridCol>
                <a:gridCol w="1129030">
                  <a:extLst>
                    <a:ext uri="{9D8B030D-6E8A-4147-A177-3AD203B41FA5}">
                      <a16:colId xmlns:a16="http://schemas.microsoft.com/office/drawing/2014/main" val="20003"/>
                    </a:ext>
                  </a:extLst>
                </a:gridCol>
                <a:gridCol w="1685289">
                  <a:extLst>
                    <a:ext uri="{9D8B030D-6E8A-4147-A177-3AD203B41FA5}">
                      <a16:colId xmlns:a16="http://schemas.microsoft.com/office/drawing/2014/main" val="20004"/>
                    </a:ext>
                  </a:extLst>
                </a:gridCol>
                <a:gridCol w="889000">
                  <a:extLst>
                    <a:ext uri="{9D8B030D-6E8A-4147-A177-3AD203B41FA5}">
                      <a16:colId xmlns:a16="http://schemas.microsoft.com/office/drawing/2014/main" val="20005"/>
                    </a:ext>
                  </a:extLst>
                </a:gridCol>
                <a:gridCol w="197485">
                  <a:extLst>
                    <a:ext uri="{9D8B030D-6E8A-4147-A177-3AD203B41FA5}">
                      <a16:colId xmlns:a16="http://schemas.microsoft.com/office/drawing/2014/main" val="20006"/>
                    </a:ext>
                  </a:extLst>
                </a:gridCol>
              </a:tblGrid>
              <a:tr h="28575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700">
                        <a:latin typeface="Times New Roman"/>
                        <a:cs typeface="Times New Roman"/>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79375" algn="r">
                        <a:lnSpc>
                          <a:spcPts val="1505"/>
                        </a:lnSpc>
                      </a:pPr>
                      <a:r>
                        <a:rPr sz="1600" dirty="0">
                          <a:latin typeface="Consolas"/>
                          <a:cs typeface="Consolas"/>
                        </a:rPr>
                        <a:t>…</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700">
                        <a:latin typeface="Times New Roman"/>
                        <a:cs typeface="Times New Roman"/>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700">
                        <a:latin typeface="Times New Roman"/>
                        <a:cs typeface="Times New Roman"/>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700">
                        <a:latin typeface="Times New Roman"/>
                        <a:cs typeface="Times New Roman"/>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70485">
                        <a:lnSpc>
                          <a:spcPts val="1505"/>
                        </a:lnSpc>
                      </a:pPr>
                      <a:r>
                        <a:rPr sz="1600" dirty="0">
                          <a:latin typeface="Consolas"/>
                          <a:cs typeface="Consolas"/>
                        </a:rPr>
                        <a:t>…</a:t>
                      </a:r>
                      <a:endParaRPr sz="16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700">
                        <a:latin typeface="Times New Roman"/>
                        <a:cs typeface="Times New Roman"/>
                      </a:endParaRPr>
                    </a:p>
                  </a:txBody>
                  <a:tcPr marL="0" marR="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575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1750">
                        <a:lnSpc>
                          <a:spcPts val="1910"/>
                        </a:lnSpc>
                        <a:spcBef>
                          <a:spcPts val="240"/>
                        </a:spcBef>
                      </a:pPr>
                      <a:r>
                        <a:rPr sz="1600" spc="-10" dirty="0">
                          <a:latin typeface="Consolas"/>
                          <a:cs typeface="Consolas"/>
                        </a:rPr>
                        <a:t>Code</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r">
                        <a:lnSpc>
                          <a:spcPts val="1910"/>
                        </a:lnSpc>
                        <a:spcBef>
                          <a:spcPts val="240"/>
                        </a:spcBef>
                      </a:pPr>
                      <a:r>
                        <a:rPr sz="1600" spc="-5" dirty="0">
                          <a:latin typeface="Consolas"/>
                          <a:cs typeface="Consolas"/>
                        </a:rPr>
                        <a:t>in</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ts val="1910"/>
                        </a:lnSpc>
                        <a:spcBef>
                          <a:spcPts val="240"/>
                        </a:spcBef>
                      </a:pPr>
                      <a:r>
                        <a:rPr sz="1600" spc="-10" dirty="0">
                          <a:latin typeface="Consolas"/>
                          <a:cs typeface="Consolas"/>
                        </a:rPr>
                        <a:t>lang</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ts val="1910"/>
                        </a:lnSpc>
                        <a:spcBef>
                          <a:spcPts val="240"/>
                        </a:spcBef>
                      </a:pPr>
                      <a:r>
                        <a:rPr sz="1600" dirty="0">
                          <a:latin typeface="Consolas"/>
                          <a:cs typeface="Consolas"/>
                        </a:rPr>
                        <a:t>M</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62025">
                        <a:lnSpc>
                          <a:spcPts val="1910"/>
                        </a:lnSpc>
                        <a:spcBef>
                          <a:spcPts val="240"/>
                        </a:spcBef>
                      </a:pPr>
                      <a:r>
                        <a:rPr sz="1600" spc="-10" dirty="0">
                          <a:latin typeface="Consolas"/>
                          <a:cs typeface="Consolas"/>
                        </a:rPr>
                        <a:t>Target</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5244">
                        <a:lnSpc>
                          <a:spcPts val="1910"/>
                        </a:lnSpc>
                        <a:spcBef>
                          <a:spcPts val="240"/>
                        </a:spcBef>
                      </a:pPr>
                      <a:r>
                        <a:rPr sz="1600" spc="-5" dirty="0">
                          <a:latin typeface="Consolas"/>
                          <a:cs typeface="Consolas"/>
                        </a:rPr>
                        <a:t>machine</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4610">
                        <a:lnSpc>
                          <a:spcPts val="1910"/>
                        </a:lnSpc>
                        <a:spcBef>
                          <a:spcPts val="240"/>
                        </a:spcBef>
                      </a:pPr>
                      <a:r>
                        <a:rPr sz="1600" dirty="0">
                          <a:latin typeface="Consolas"/>
                          <a:cs typeface="Consolas"/>
                        </a:rPr>
                        <a:t>N</a:t>
                      </a:r>
                      <a:endParaRPr sz="16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4" name="object 17">
            <a:extLst>
              <a:ext uri="{FF2B5EF4-FFF2-40B4-BE49-F238E27FC236}">
                <a16:creationId xmlns:a16="http://schemas.microsoft.com/office/drawing/2014/main" id="{FAD72FD0-DDF6-FF30-DA89-F8A4F55F8F25}"/>
              </a:ext>
            </a:extLst>
          </p:cNvPr>
          <p:cNvSpPr txBox="1"/>
          <p:nvPr/>
        </p:nvSpPr>
        <p:spPr>
          <a:xfrm>
            <a:off x="4438903" y="5172836"/>
            <a:ext cx="1804670" cy="269240"/>
          </a:xfrm>
          <a:prstGeom prst="rect">
            <a:avLst/>
          </a:prstGeom>
        </p:spPr>
        <p:txBody>
          <a:bodyPr vert="horz" wrap="square" lIns="0" tIns="12065" rIns="0" bIns="0" rtlCol="0">
            <a:spAutoFit/>
          </a:bodyPr>
          <a:lstStyle/>
          <a:p>
            <a:pPr marL="12700" rtl="0">
              <a:spcBef>
                <a:spcPts val="95"/>
              </a:spcBef>
            </a:pPr>
            <a:r>
              <a:rPr sz="1600" kern="1200" spc="-10" dirty="0">
                <a:solidFill>
                  <a:prstClr val="black"/>
                </a:solidFill>
                <a:latin typeface="Consolas"/>
                <a:cs typeface="Consolas"/>
              </a:rPr>
              <a:t>Target </a:t>
            </a:r>
            <a:r>
              <a:rPr sz="1600" kern="1200" spc="-5" dirty="0">
                <a:solidFill>
                  <a:prstClr val="black"/>
                </a:solidFill>
                <a:latin typeface="Consolas"/>
                <a:cs typeface="Consolas"/>
              </a:rPr>
              <a:t>machine</a:t>
            </a:r>
            <a:r>
              <a:rPr sz="1600" kern="1200" spc="-80" dirty="0">
                <a:solidFill>
                  <a:prstClr val="black"/>
                </a:solidFill>
                <a:latin typeface="Consolas"/>
                <a:cs typeface="Consolas"/>
              </a:rPr>
              <a:t> </a:t>
            </a:r>
            <a:r>
              <a:rPr sz="1600" kern="1200" spc="-5" dirty="0">
                <a:solidFill>
                  <a:prstClr val="black"/>
                </a:solidFill>
                <a:latin typeface="Consolas"/>
                <a:cs typeface="Consolas"/>
              </a:rPr>
              <a:t>2</a:t>
            </a:r>
            <a:endParaRPr sz="1600" kern="1200">
              <a:solidFill>
                <a:prstClr val="black"/>
              </a:solidFill>
              <a:latin typeface="Consolas"/>
              <a:cs typeface="Consolas"/>
            </a:endParaRPr>
          </a:p>
        </p:txBody>
      </p:sp>
      <p:sp>
        <p:nvSpPr>
          <p:cNvPr id="45" name="object 18">
            <a:extLst>
              <a:ext uri="{FF2B5EF4-FFF2-40B4-BE49-F238E27FC236}">
                <a16:creationId xmlns:a16="http://schemas.microsoft.com/office/drawing/2014/main" id="{4B4DB6AD-3C9E-DF7D-8BEA-5272974F0C9A}"/>
              </a:ext>
            </a:extLst>
          </p:cNvPr>
          <p:cNvSpPr txBox="1"/>
          <p:nvPr/>
        </p:nvSpPr>
        <p:spPr>
          <a:xfrm>
            <a:off x="6502907" y="5027676"/>
            <a:ext cx="2167255" cy="584200"/>
          </a:xfrm>
          <a:prstGeom prst="rect">
            <a:avLst/>
          </a:prstGeom>
          <a:solidFill>
            <a:srgbClr val="FFF1CC"/>
          </a:solidFill>
        </p:spPr>
        <p:txBody>
          <a:bodyPr vert="horz" wrap="square" lIns="0" tIns="34925" rIns="0" bIns="0" rtlCol="0">
            <a:spAutoFit/>
          </a:bodyPr>
          <a:lstStyle/>
          <a:p>
            <a:pPr marL="306070" marR="241935" indent="-56515" rtl="0">
              <a:spcBef>
                <a:spcPts val="275"/>
              </a:spcBef>
            </a:pPr>
            <a:r>
              <a:rPr sz="1600" b="1" kern="1200" spc="-5" dirty="0">
                <a:solidFill>
                  <a:srgbClr val="FF0000"/>
                </a:solidFill>
                <a:latin typeface="Consolas"/>
                <a:cs typeface="Consolas"/>
              </a:rPr>
              <a:t>M + N</a:t>
            </a:r>
            <a:r>
              <a:rPr sz="1600" b="1" kern="1200" spc="-85" dirty="0">
                <a:solidFill>
                  <a:srgbClr val="FF0000"/>
                </a:solidFill>
                <a:latin typeface="Consolas"/>
                <a:cs typeface="Consolas"/>
              </a:rPr>
              <a:t> </a:t>
            </a:r>
            <a:r>
              <a:rPr sz="1600" kern="1200" spc="-10" dirty="0">
                <a:solidFill>
                  <a:prstClr val="black"/>
                </a:solidFill>
                <a:latin typeface="Consolas"/>
                <a:cs typeface="Consolas"/>
              </a:rPr>
              <a:t>compilers  with </a:t>
            </a:r>
            <a:r>
              <a:rPr sz="1600" kern="1200" spc="-5" dirty="0">
                <a:solidFill>
                  <a:prstClr val="black"/>
                </a:solidFill>
                <a:latin typeface="Consolas"/>
                <a:cs typeface="Consolas"/>
              </a:rPr>
              <a:t>a </a:t>
            </a:r>
            <a:r>
              <a:rPr sz="1600" kern="1200" spc="-10" dirty="0">
                <a:solidFill>
                  <a:prstClr val="black"/>
                </a:solidFill>
                <a:latin typeface="Consolas"/>
                <a:cs typeface="Consolas"/>
              </a:rPr>
              <a:t>good</a:t>
            </a:r>
            <a:r>
              <a:rPr sz="1600" kern="1200" spc="-55" dirty="0">
                <a:solidFill>
                  <a:prstClr val="black"/>
                </a:solidFill>
                <a:latin typeface="Consolas"/>
                <a:cs typeface="Consolas"/>
              </a:rPr>
              <a:t> </a:t>
            </a:r>
            <a:r>
              <a:rPr sz="1600" kern="1200" spc="-10" dirty="0">
                <a:solidFill>
                  <a:prstClr val="black"/>
                </a:solidFill>
                <a:latin typeface="Consolas"/>
                <a:cs typeface="Consolas"/>
              </a:rPr>
              <a:t>IL</a:t>
            </a:r>
            <a:endParaRPr sz="1600" kern="1200">
              <a:solidFill>
                <a:prstClr val="black"/>
              </a:solidFill>
              <a:latin typeface="Consolas"/>
              <a:cs typeface="Consolas"/>
            </a:endParaRPr>
          </a:p>
        </p:txBody>
      </p:sp>
      <p:sp>
        <p:nvSpPr>
          <p:cNvPr id="46" name="object 19">
            <a:extLst>
              <a:ext uri="{FF2B5EF4-FFF2-40B4-BE49-F238E27FC236}">
                <a16:creationId xmlns:a16="http://schemas.microsoft.com/office/drawing/2014/main" id="{B46E309D-DAD6-2BFB-271B-AD252A0FA8CF}"/>
              </a:ext>
            </a:extLst>
          </p:cNvPr>
          <p:cNvSpPr txBox="1"/>
          <p:nvPr/>
        </p:nvSpPr>
        <p:spPr>
          <a:xfrm>
            <a:off x="2976752" y="5050663"/>
            <a:ext cx="915669" cy="513080"/>
          </a:xfrm>
          <a:prstGeom prst="rect">
            <a:avLst/>
          </a:prstGeom>
        </p:spPr>
        <p:txBody>
          <a:bodyPr vert="horz" wrap="square" lIns="0" tIns="12065" rIns="0" bIns="0" rtlCol="0">
            <a:spAutoFit/>
          </a:bodyPr>
          <a:lstStyle/>
          <a:p>
            <a:pPr marL="68580" marR="5080" indent="-56515" rtl="0">
              <a:spcBef>
                <a:spcPts val="95"/>
              </a:spcBef>
            </a:pPr>
            <a:r>
              <a:rPr sz="1600" kern="1200" spc="-10" dirty="0">
                <a:solidFill>
                  <a:prstClr val="black"/>
                </a:solidFill>
                <a:latin typeface="Consolas"/>
                <a:cs typeface="Consolas"/>
              </a:rPr>
              <a:t>Abstract  Machine</a:t>
            </a:r>
            <a:endParaRPr sz="1600" kern="1200">
              <a:solidFill>
                <a:prstClr val="black"/>
              </a:solidFill>
              <a:latin typeface="Consolas"/>
              <a:cs typeface="Consolas"/>
            </a:endParaRPr>
          </a:p>
        </p:txBody>
      </p:sp>
      <p:sp>
        <p:nvSpPr>
          <p:cNvPr id="47" name="object 20">
            <a:extLst>
              <a:ext uri="{FF2B5EF4-FFF2-40B4-BE49-F238E27FC236}">
                <a16:creationId xmlns:a16="http://schemas.microsoft.com/office/drawing/2014/main" id="{EBB3C89E-CC92-FB1D-EA5A-10CF633189F0}"/>
              </a:ext>
            </a:extLst>
          </p:cNvPr>
          <p:cNvSpPr/>
          <p:nvPr/>
        </p:nvSpPr>
        <p:spPr>
          <a:xfrm>
            <a:off x="2628010" y="4870577"/>
            <a:ext cx="264795" cy="449580"/>
          </a:xfrm>
          <a:custGeom>
            <a:avLst/>
            <a:gdLst/>
            <a:ahLst/>
            <a:cxnLst/>
            <a:rect l="l" t="t" r="r" b="b"/>
            <a:pathLst>
              <a:path w="264794" h="449579">
                <a:moveTo>
                  <a:pt x="195530" y="342810"/>
                </a:moveTo>
                <a:lnTo>
                  <a:pt x="168147" y="358775"/>
                </a:lnTo>
                <a:lnTo>
                  <a:pt x="264794" y="449453"/>
                </a:lnTo>
                <a:lnTo>
                  <a:pt x="241922" y="353822"/>
                </a:lnTo>
                <a:lnTo>
                  <a:pt x="201930" y="353822"/>
                </a:lnTo>
                <a:lnTo>
                  <a:pt x="195530" y="342810"/>
                </a:lnTo>
                <a:close/>
              </a:path>
              <a:path w="264794" h="449579">
                <a:moveTo>
                  <a:pt x="206445" y="336447"/>
                </a:moveTo>
                <a:lnTo>
                  <a:pt x="195530" y="342810"/>
                </a:lnTo>
                <a:lnTo>
                  <a:pt x="201930" y="353822"/>
                </a:lnTo>
                <a:lnTo>
                  <a:pt x="212851" y="347472"/>
                </a:lnTo>
                <a:lnTo>
                  <a:pt x="206445" y="336447"/>
                </a:lnTo>
                <a:close/>
              </a:path>
              <a:path w="264794" h="449579">
                <a:moveTo>
                  <a:pt x="233933" y="320421"/>
                </a:moveTo>
                <a:lnTo>
                  <a:pt x="206445" y="336447"/>
                </a:lnTo>
                <a:lnTo>
                  <a:pt x="212851" y="347472"/>
                </a:lnTo>
                <a:lnTo>
                  <a:pt x="201930" y="353822"/>
                </a:lnTo>
                <a:lnTo>
                  <a:pt x="241922" y="353822"/>
                </a:lnTo>
                <a:lnTo>
                  <a:pt x="233933" y="320421"/>
                </a:lnTo>
                <a:close/>
              </a:path>
              <a:path w="264794" h="449579">
                <a:moveTo>
                  <a:pt x="10921" y="0"/>
                </a:moveTo>
                <a:lnTo>
                  <a:pt x="0" y="6350"/>
                </a:lnTo>
                <a:lnTo>
                  <a:pt x="195530" y="342810"/>
                </a:lnTo>
                <a:lnTo>
                  <a:pt x="206445" y="336447"/>
                </a:lnTo>
                <a:lnTo>
                  <a:pt x="1092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21">
            <a:extLst>
              <a:ext uri="{FF2B5EF4-FFF2-40B4-BE49-F238E27FC236}">
                <a16:creationId xmlns:a16="http://schemas.microsoft.com/office/drawing/2014/main" id="{2EB022D6-37A2-9F6B-2C3E-2189B3E72854}"/>
              </a:ext>
            </a:extLst>
          </p:cNvPr>
          <p:cNvSpPr/>
          <p:nvPr/>
        </p:nvSpPr>
        <p:spPr>
          <a:xfrm>
            <a:off x="2633472" y="5281167"/>
            <a:ext cx="259715" cy="76200"/>
          </a:xfrm>
          <a:custGeom>
            <a:avLst/>
            <a:gdLst/>
            <a:ahLst/>
            <a:cxnLst/>
            <a:rect l="l" t="t" r="r" b="b"/>
            <a:pathLst>
              <a:path w="259714" h="76200">
                <a:moveTo>
                  <a:pt x="132587" y="0"/>
                </a:moveTo>
                <a:lnTo>
                  <a:pt x="132429" y="31705"/>
                </a:lnTo>
                <a:lnTo>
                  <a:pt x="145160" y="31749"/>
                </a:lnTo>
                <a:lnTo>
                  <a:pt x="145033" y="44449"/>
                </a:lnTo>
                <a:lnTo>
                  <a:pt x="132365" y="44449"/>
                </a:lnTo>
                <a:lnTo>
                  <a:pt x="132206" y="76199"/>
                </a:lnTo>
                <a:lnTo>
                  <a:pt x="239216" y="44449"/>
                </a:lnTo>
                <a:lnTo>
                  <a:pt x="145033" y="44449"/>
                </a:lnTo>
                <a:lnTo>
                  <a:pt x="239365" y="44405"/>
                </a:lnTo>
                <a:lnTo>
                  <a:pt x="259333" y="38480"/>
                </a:lnTo>
                <a:lnTo>
                  <a:pt x="132587" y="0"/>
                </a:lnTo>
                <a:close/>
              </a:path>
              <a:path w="259714" h="76200">
                <a:moveTo>
                  <a:pt x="132429" y="31705"/>
                </a:moveTo>
                <a:lnTo>
                  <a:pt x="132365" y="44405"/>
                </a:lnTo>
                <a:lnTo>
                  <a:pt x="145033" y="44449"/>
                </a:lnTo>
                <a:lnTo>
                  <a:pt x="145160" y="31749"/>
                </a:lnTo>
                <a:lnTo>
                  <a:pt x="132429" y="31705"/>
                </a:lnTo>
                <a:close/>
              </a:path>
              <a:path w="259714" h="76200">
                <a:moveTo>
                  <a:pt x="0" y="31241"/>
                </a:moveTo>
                <a:lnTo>
                  <a:pt x="0" y="43941"/>
                </a:lnTo>
                <a:lnTo>
                  <a:pt x="132365" y="44405"/>
                </a:lnTo>
                <a:lnTo>
                  <a:pt x="132429" y="31705"/>
                </a:lnTo>
                <a:lnTo>
                  <a:pt x="0" y="31241"/>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9" name="object 22">
            <a:extLst>
              <a:ext uri="{FF2B5EF4-FFF2-40B4-BE49-F238E27FC236}">
                <a16:creationId xmlns:a16="http://schemas.microsoft.com/office/drawing/2014/main" id="{6FB3245A-87E8-8755-F1B9-651A3AC5CAB4}"/>
              </a:ext>
            </a:extLst>
          </p:cNvPr>
          <p:cNvSpPr/>
          <p:nvPr/>
        </p:nvSpPr>
        <p:spPr>
          <a:xfrm>
            <a:off x="2627629" y="5318759"/>
            <a:ext cx="265430" cy="624840"/>
          </a:xfrm>
          <a:custGeom>
            <a:avLst/>
            <a:gdLst/>
            <a:ahLst/>
            <a:cxnLst/>
            <a:rect l="l" t="t" r="r" b="b"/>
            <a:pathLst>
              <a:path w="265430" h="624839">
                <a:moveTo>
                  <a:pt x="210487" y="114763"/>
                </a:moveTo>
                <a:lnTo>
                  <a:pt x="0" y="619721"/>
                </a:lnTo>
                <a:lnTo>
                  <a:pt x="11683" y="624611"/>
                </a:lnTo>
                <a:lnTo>
                  <a:pt x="222207" y="119628"/>
                </a:lnTo>
                <a:lnTo>
                  <a:pt x="210487" y="114763"/>
                </a:lnTo>
                <a:close/>
              </a:path>
              <a:path w="265430" h="624839">
                <a:moveTo>
                  <a:pt x="254558" y="102996"/>
                </a:moveTo>
                <a:lnTo>
                  <a:pt x="215392" y="102996"/>
                </a:lnTo>
                <a:lnTo>
                  <a:pt x="227075" y="107949"/>
                </a:lnTo>
                <a:lnTo>
                  <a:pt x="222207" y="119628"/>
                </a:lnTo>
                <a:lnTo>
                  <a:pt x="251587" y="131825"/>
                </a:lnTo>
                <a:lnTo>
                  <a:pt x="254558" y="102996"/>
                </a:lnTo>
                <a:close/>
              </a:path>
              <a:path w="265430" h="624839">
                <a:moveTo>
                  <a:pt x="215392" y="102996"/>
                </a:moveTo>
                <a:lnTo>
                  <a:pt x="210487" y="114763"/>
                </a:lnTo>
                <a:lnTo>
                  <a:pt x="222207" y="119628"/>
                </a:lnTo>
                <a:lnTo>
                  <a:pt x="227075" y="107949"/>
                </a:lnTo>
                <a:lnTo>
                  <a:pt x="215392" y="102996"/>
                </a:lnTo>
                <a:close/>
              </a:path>
              <a:path w="265430" h="624839">
                <a:moveTo>
                  <a:pt x="265175" y="0"/>
                </a:moveTo>
                <a:lnTo>
                  <a:pt x="181228" y="102615"/>
                </a:lnTo>
                <a:lnTo>
                  <a:pt x="210487" y="114763"/>
                </a:lnTo>
                <a:lnTo>
                  <a:pt x="215392" y="102996"/>
                </a:lnTo>
                <a:lnTo>
                  <a:pt x="254558" y="102996"/>
                </a:lnTo>
                <a:lnTo>
                  <a:pt x="265175"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0" name="object 23">
            <a:extLst>
              <a:ext uri="{FF2B5EF4-FFF2-40B4-BE49-F238E27FC236}">
                <a16:creationId xmlns:a16="http://schemas.microsoft.com/office/drawing/2014/main" id="{121D3BC6-8FEC-7058-C5A9-12603E2EA5D0}"/>
              </a:ext>
            </a:extLst>
          </p:cNvPr>
          <p:cNvSpPr/>
          <p:nvPr/>
        </p:nvSpPr>
        <p:spPr>
          <a:xfrm>
            <a:off x="3969765" y="4873752"/>
            <a:ext cx="389890" cy="450850"/>
          </a:xfrm>
          <a:custGeom>
            <a:avLst/>
            <a:gdLst/>
            <a:ahLst/>
            <a:cxnLst/>
            <a:rect l="l" t="t" r="r" b="b"/>
            <a:pathLst>
              <a:path w="389889" h="450850">
                <a:moveTo>
                  <a:pt x="301800" y="92087"/>
                </a:moveTo>
                <a:lnTo>
                  <a:pt x="0" y="442087"/>
                </a:lnTo>
                <a:lnTo>
                  <a:pt x="9651" y="450342"/>
                </a:lnTo>
                <a:lnTo>
                  <a:pt x="311352" y="100314"/>
                </a:lnTo>
                <a:lnTo>
                  <a:pt x="301800" y="92087"/>
                </a:lnTo>
                <a:close/>
              </a:path>
              <a:path w="389889" h="450850">
                <a:moveTo>
                  <a:pt x="352665" y="82423"/>
                </a:moveTo>
                <a:lnTo>
                  <a:pt x="310134" y="82423"/>
                </a:lnTo>
                <a:lnTo>
                  <a:pt x="319659" y="90678"/>
                </a:lnTo>
                <a:lnTo>
                  <a:pt x="311352" y="100314"/>
                </a:lnTo>
                <a:lnTo>
                  <a:pt x="335407" y="121031"/>
                </a:lnTo>
                <a:lnTo>
                  <a:pt x="352665" y="82423"/>
                </a:lnTo>
                <a:close/>
              </a:path>
              <a:path w="389889" h="450850">
                <a:moveTo>
                  <a:pt x="310134" y="82423"/>
                </a:moveTo>
                <a:lnTo>
                  <a:pt x="301800" y="92087"/>
                </a:lnTo>
                <a:lnTo>
                  <a:pt x="311352" y="100314"/>
                </a:lnTo>
                <a:lnTo>
                  <a:pt x="319659" y="90678"/>
                </a:lnTo>
                <a:lnTo>
                  <a:pt x="310134" y="82423"/>
                </a:lnTo>
                <a:close/>
              </a:path>
              <a:path w="389889" h="450850">
                <a:moveTo>
                  <a:pt x="389509" y="0"/>
                </a:moveTo>
                <a:lnTo>
                  <a:pt x="277749" y="71374"/>
                </a:lnTo>
                <a:lnTo>
                  <a:pt x="301800" y="92087"/>
                </a:lnTo>
                <a:lnTo>
                  <a:pt x="310134" y="82423"/>
                </a:lnTo>
                <a:lnTo>
                  <a:pt x="352665" y="82423"/>
                </a:lnTo>
                <a:lnTo>
                  <a:pt x="38950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1" name="object 24">
            <a:extLst>
              <a:ext uri="{FF2B5EF4-FFF2-40B4-BE49-F238E27FC236}">
                <a16:creationId xmlns:a16="http://schemas.microsoft.com/office/drawing/2014/main" id="{280DF6E7-6011-95D8-2890-59C291E9ED12}"/>
              </a:ext>
            </a:extLst>
          </p:cNvPr>
          <p:cNvSpPr/>
          <p:nvPr/>
        </p:nvSpPr>
        <p:spPr>
          <a:xfrm>
            <a:off x="3974591" y="5280914"/>
            <a:ext cx="384810" cy="76200"/>
          </a:xfrm>
          <a:custGeom>
            <a:avLst/>
            <a:gdLst/>
            <a:ahLst/>
            <a:cxnLst/>
            <a:rect l="l" t="t" r="r" b="b"/>
            <a:pathLst>
              <a:path w="384810" h="76200">
                <a:moveTo>
                  <a:pt x="364206" y="31750"/>
                </a:moveTo>
                <a:lnTo>
                  <a:pt x="270383" y="31750"/>
                </a:lnTo>
                <a:lnTo>
                  <a:pt x="270383" y="44450"/>
                </a:lnTo>
                <a:lnTo>
                  <a:pt x="257704" y="44479"/>
                </a:lnTo>
                <a:lnTo>
                  <a:pt x="257810" y="76200"/>
                </a:lnTo>
                <a:lnTo>
                  <a:pt x="384683" y="37846"/>
                </a:lnTo>
                <a:lnTo>
                  <a:pt x="364206" y="31750"/>
                </a:lnTo>
                <a:close/>
              </a:path>
              <a:path w="384810" h="76200">
                <a:moveTo>
                  <a:pt x="257661" y="31779"/>
                </a:moveTo>
                <a:lnTo>
                  <a:pt x="0" y="32385"/>
                </a:lnTo>
                <a:lnTo>
                  <a:pt x="0" y="45085"/>
                </a:lnTo>
                <a:lnTo>
                  <a:pt x="257704" y="44479"/>
                </a:lnTo>
                <a:lnTo>
                  <a:pt x="257661" y="31779"/>
                </a:lnTo>
                <a:close/>
              </a:path>
              <a:path w="384810" h="76200">
                <a:moveTo>
                  <a:pt x="270383" y="31750"/>
                </a:moveTo>
                <a:lnTo>
                  <a:pt x="257661" y="31779"/>
                </a:lnTo>
                <a:lnTo>
                  <a:pt x="257704" y="44479"/>
                </a:lnTo>
                <a:lnTo>
                  <a:pt x="270383" y="44450"/>
                </a:lnTo>
                <a:lnTo>
                  <a:pt x="270383" y="31750"/>
                </a:lnTo>
                <a:close/>
              </a:path>
              <a:path w="384810" h="76200">
                <a:moveTo>
                  <a:pt x="257556" y="0"/>
                </a:moveTo>
                <a:lnTo>
                  <a:pt x="257661" y="31779"/>
                </a:lnTo>
                <a:lnTo>
                  <a:pt x="364206" y="31750"/>
                </a:lnTo>
                <a:lnTo>
                  <a:pt x="25755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25">
            <a:extLst>
              <a:ext uri="{FF2B5EF4-FFF2-40B4-BE49-F238E27FC236}">
                <a16:creationId xmlns:a16="http://schemas.microsoft.com/office/drawing/2014/main" id="{1F201911-BB57-C96F-9F18-3CA66AA788B6}"/>
              </a:ext>
            </a:extLst>
          </p:cNvPr>
          <p:cNvSpPr/>
          <p:nvPr/>
        </p:nvSpPr>
        <p:spPr>
          <a:xfrm>
            <a:off x="3969130" y="5315458"/>
            <a:ext cx="390525" cy="625475"/>
          </a:xfrm>
          <a:custGeom>
            <a:avLst/>
            <a:gdLst/>
            <a:ahLst/>
            <a:cxnLst/>
            <a:rect l="l" t="t" r="r" b="b"/>
            <a:pathLst>
              <a:path w="390525" h="625475">
                <a:moveTo>
                  <a:pt x="317935" y="520799"/>
                </a:moveTo>
                <a:lnTo>
                  <a:pt x="290957" y="537489"/>
                </a:lnTo>
                <a:lnTo>
                  <a:pt x="390144" y="625474"/>
                </a:lnTo>
                <a:lnTo>
                  <a:pt x="364912" y="531596"/>
                </a:lnTo>
                <a:lnTo>
                  <a:pt x="324612" y="531596"/>
                </a:lnTo>
                <a:lnTo>
                  <a:pt x="317935" y="520799"/>
                </a:lnTo>
                <a:close/>
              </a:path>
              <a:path w="390525" h="625475">
                <a:moveTo>
                  <a:pt x="328733" y="514120"/>
                </a:moveTo>
                <a:lnTo>
                  <a:pt x="317935" y="520799"/>
                </a:lnTo>
                <a:lnTo>
                  <a:pt x="324612" y="531596"/>
                </a:lnTo>
                <a:lnTo>
                  <a:pt x="335407" y="524916"/>
                </a:lnTo>
                <a:lnTo>
                  <a:pt x="328733" y="514120"/>
                </a:lnTo>
                <a:close/>
              </a:path>
              <a:path w="390525" h="625475">
                <a:moveTo>
                  <a:pt x="355727" y="497420"/>
                </a:moveTo>
                <a:lnTo>
                  <a:pt x="328733" y="514120"/>
                </a:lnTo>
                <a:lnTo>
                  <a:pt x="335407" y="524916"/>
                </a:lnTo>
                <a:lnTo>
                  <a:pt x="324612" y="531596"/>
                </a:lnTo>
                <a:lnTo>
                  <a:pt x="364912" y="531596"/>
                </a:lnTo>
                <a:lnTo>
                  <a:pt x="355727" y="497420"/>
                </a:lnTo>
                <a:close/>
              </a:path>
              <a:path w="390525" h="625475">
                <a:moveTo>
                  <a:pt x="10922" y="0"/>
                </a:moveTo>
                <a:lnTo>
                  <a:pt x="0" y="6603"/>
                </a:lnTo>
                <a:lnTo>
                  <a:pt x="317935" y="520799"/>
                </a:lnTo>
                <a:lnTo>
                  <a:pt x="328733" y="514120"/>
                </a:lnTo>
                <a:lnTo>
                  <a:pt x="109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DB635F87-3325-1801-60E8-893865BC5A45}"/>
              </a:ext>
            </a:extLst>
          </p:cNvPr>
          <p:cNvSpPr>
            <a:spLocks noGrp="1"/>
          </p:cNvSpPr>
          <p:nvPr>
            <p:ph type="sldNum" sz="quarter" idx="12"/>
          </p:nvPr>
        </p:nvSpPr>
        <p:spPr/>
        <p:txBody>
          <a:bodyPr/>
          <a:lstStyle/>
          <a:p>
            <a:pPr>
              <a:defRPr/>
            </a:pPr>
            <a:fld id="{2FBC720A-3716-234A-B2DF-CBC7E48049F5}" type="slidenum">
              <a:rPr lang="en-US" altLang="zh-CN" smtClean="0"/>
              <a:t>40</a:t>
            </a:fld>
            <a:endParaRPr lang="en-US" altLang="zh-CN"/>
          </a:p>
        </p:txBody>
      </p:sp>
    </p:spTree>
    <p:extLst>
      <p:ext uri="{BB962C8B-B14F-4D97-AF65-F5344CB8AC3E}">
        <p14:creationId xmlns:p14="http://schemas.microsoft.com/office/powerpoint/2010/main" val="3885245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8" name="object 2">
            <a:extLst>
              <a:ext uri="{FF2B5EF4-FFF2-40B4-BE49-F238E27FC236}">
                <a16:creationId xmlns:a16="http://schemas.microsoft.com/office/drawing/2014/main" id="{D9A2F835-A2AD-6F88-A972-EF22FA447EF3}"/>
              </a:ext>
            </a:extLst>
          </p:cNvPr>
          <p:cNvSpPr txBox="1">
            <a:spLocks/>
          </p:cNvSpPr>
          <p:nvPr/>
        </p:nvSpPr>
        <p:spPr>
          <a:xfrm>
            <a:off x="707542" y="520141"/>
            <a:ext cx="608076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Compilers vs.</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Interpreters</a:t>
            </a:r>
            <a:endParaRPr kumimoji="0" lang="en-US" sz="4000" b="1" i="0" u="none" strike="noStrike" kern="0" cap="none" spc="0" normalizeH="0" baseline="0" noProof="0">
              <a:ln>
                <a:noFill/>
              </a:ln>
              <a:solidFill>
                <a:sysClr val="windowText" lastClr="000000"/>
              </a:solidFill>
              <a:effectLst/>
              <a:uLnTx/>
              <a:uFillTx/>
              <a:latin typeface="Palatino Linotype"/>
              <a:ea typeface="+mj-ea"/>
            </a:endParaRPr>
          </a:p>
        </p:txBody>
      </p:sp>
      <p:sp>
        <p:nvSpPr>
          <p:cNvPr id="29" name="object 3">
            <a:extLst>
              <a:ext uri="{FF2B5EF4-FFF2-40B4-BE49-F238E27FC236}">
                <a16:creationId xmlns:a16="http://schemas.microsoft.com/office/drawing/2014/main" id="{1E335662-91E9-5008-3AEE-9499B8726529}"/>
              </a:ext>
            </a:extLst>
          </p:cNvPr>
          <p:cNvSpPr/>
          <p:nvPr/>
        </p:nvSpPr>
        <p:spPr>
          <a:xfrm>
            <a:off x="699516" y="1772411"/>
            <a:ext cx="7688580" cy="1630680"/>
          </a:xfrm>
          <a:custGeom>
            <a:avLst/>
            <a:gdLst/>
            <a:ahLst/>
            <a:cxnLst/>
            <a:rect l="l" t="t" r="r" b="b"/>
            <a:pathLst>
              <a:path w="7688580" h="1630679">
                <a:moveTo>
                  <a:pt x="0" y="1630680"/>
                </a:moveTo>
                <a:lnTo>
                  <a:pt x="7688580" y="1630680"/>
                </a:lnTo>
                <a:lnTo>
                  <a:pt x="7688580" y="0"/>
                </a:lnTo>
                <a:lnTo>
                  <a:pt x="0" y="0"/>
                </a:lnTo>
                <a:lnTo>
                  <a:pt x="0" y="163068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4">
            <a:extLst>
              <a:ext uri="{FF2B5EF4-FFF2-40B4-BE49-F238E27FC236}">
                <a16:creationId xmlns:a16="http://schemas.microsoft.com/office/drawing/2014/main" id="{DC83E116-3284-F75D-C3FE-D852ABEB06BD}"/>
              </a:ext>
            </a:extLst>
          </p:cNvPr>
          <p:cNvSpPr/>
          <p:nvPr/>
        </p:nvSpPr>
        <p:spPr>
          <a:xfrm>
            <a:off x="699516" y="1772411"/>
            <a:ext cx="7688580" cy="1630680"/>
          </a:xfrm>
          <a:custGeom>
            <a:avLst/>
            <a:gdLst/>
            <a:ahLst/>
            <a:cxnLst/>
            <a:rect l="l" t="t" r="r" b="b"/>
            <a:pathLst>
              <a:path w="7688580" h="1630679">
                <a:moveTo>
                  <a:pt x="0" y="1630680"/>
                </a:moveTo>
                <a:lnTo>
                  <a:pt x="7688580" y="1630680"/>
                </a:lnTo>
                <a:lnTo>
                  <a:pt x="7688580" y="0"/>
                </a:lnTo>
                <a:lnTo>
                  <a:pt x="0" y="0"/>
                </a:lnTo>
                <a:lnTo>
                  <a:pt x="0" y="163068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5">
            <a:extLst>
              <a:ext uri="{FF2B5EF4-FFF2-40B4-BE49-F238E27FC236}">
                <a16:creationId xmlns:a16="http://schemas.microsoft.com/office/drawing/2014/main" id="{88DDC224-4938-5AF9-F2F8-C04F24B05F10}"/>
              </a:ext>
            </a:extLst>
          </p:cNvPr>
          <p:cNvSpPr txBox="1"/>
          <p:nvPr/>
        </p:nvSpPr>
        <p:spPr>
          <a:xfrm>
            <a:off x="1119327" y="1891508"/>
            <a:ext cx="7182484" cy="1345565"/>
          </a:xfrm>
          <a:prstGeom prst="rect">
            <a:avLst/>
          </a:prstGeom>
        </p:spPr>
        <p:txBody>
          <a:bodyPr vert="horz" wrap="square" lIns="0" tIns="64135" rIns="0" bIns="0" rtlCol="0">
            <a:spAutoFit/>
          </a:bodyPr>
          <a:lstStyle/>
          <a:p>
            <a:pPr marL="12700" rtl="0">
              <a:spcBef>
                <a:spcPts val="505"/>
              </a:spcBef>
            </a:pPr>
            <a:r>
              <a:rPr sz="1700" kern="1200" dirty="0">
                <a:solidFill>
                  <a:srgbClr val="FF0000"/>
                </a:solidFill>
                <a:latin typeface="Palatino Linotype"/>
                <a:cs typeface="Palatino Linotype"/>
              </a:rPr>
              <a:t>A complier </a:t>
            </a:r>
            <a:r>
              <a:rPr sz="1700" kern="1200" spc="-5" dirty="0">
                <a:solidFill>
                  <a:prstClr val="black"/>
                </a:solidFill>
                <a:latin typeface="Palatino Linotype"/>
                <a:cs typeface="Palatino Linotype"/>
              </a:rPr>
              <a:t>translates </a:t>
            </a:r>
            <a:r>
              <a:rPr sz="1700" kern="1200" dirty="0">
                <a:solidFill>
                  <a:srgbClr val="0066FF"/>
                </a:solidFill>
                <a:latin typeface="Palatino Linotype"/>
                <a:cs typeface="Palatino Linotype"/>
              </a:rPr>
              <a:t>source </a:t>
            </a:r>
            <a:r>
              <a:rPr sz="1700" kern="1200" spc="-5" dirty="0">
                <a:solidFill>
                  <a:srgbClr val="0066FF"/>
                </a:solidFill>
                <a:latin typeface="Palatino Linotype"/>
                <a:cs typeface="Palatino Linotype"/>
              </a:rPr>
              <a:t>programs </a:t>
            </a:r>
            <a:r>
              <a:rPr sz="1700" kern="1200" spc="-5" dirty="0">
                <a:solidFill>
                  <a:prstClr val="black"/>
                </a:solidFill>
                <a:latin typeface="Palatino Linotype"/>
                <a:cs typeface="Palatino Linotype"/>
              </a:rPr>
              <a:t>written in high-level </a:t>
            </a:r>
            <a:r>
              <a:rPr sz="1700" kern="1200" dirty="0">
                <a:solidFill>
                  <a:prstClr val="black"/>
                </a:solidFill>
                <a:latin typeface="Palatino Linotype"/>
                <a:cs typeface="Palatino Linotype"/>
              </a:rPr>
              <a:t>languages</a:t>
            </a:r>
            <a:r>
              <a:rPr sz="1700" kern="1200" spc="-95" dirty="0">
                <a:solidFill>
                  <a:prstClr val="black"/>
                </a:solidFill>
                <a:latin typeface="Palatino Linotype"/>
                <a:cs typeface="Palatino Linotype"/>
              </a:rPr>
              <a:t> </a:t>
            </a:r>
            <a:r>
              <a:rPr sz="1700" kern="1200" spc="-5" dirty="0">
                <a:solidFill>
                  <a:prstClr val="black"/>
                </a:solidFill>
                <a:latin typeface="Palatino Linotype"/>
                <a:cs typeface="Palatino Linotype"/>
              </a:rPr>
              <a:t>into</a:t>
            </a:r>
            <a:endParaRPr sz="1700" kern="1200">
              <a:solidFill>
                <a:prstClr val="black"/>
              </a:solidFill>
              <a:latin typeface="Palatino Linotype"/>
              <a:cs typeface="Palatino Linotype"/>
            </a:endParaRPr>
          </a:p>
          <a:p>
            <a:pPr marL="12700" rtl="0">
              <a:spcBef>
                <a:spcPts val="405"/>
              </a:spcBef>
            </a:pPr>
            <a:r>
              <a:rPr sz="1700" kern="1200" dirty="0">
                <a:solidFill>
                  <a:srgbClr val="0066FF"/>
                </a:solidFill>
                <a:latin typeface="Palatino Linotype"/>
                <a:cs typeface="Palatino Linotype"/>
              </a:rPr>
              <a:t>machine codes </a:t>
            </a:r>
            <a:r>
              <a:rPr sz="1700" kern="1200" spc="-5" dirty="0">
                <a:solidFill>
                  <a:prstClr val="black"/>
                </a:solidFill>
                <a:latin typeface="Palatino Linotype"/>
                <a:cs typeface="Palatino Linotype"/>
              </a:rPr>
              <a:t>that </a:t>
            </a:r>
            <a:r>
              <a:rPr sz="1700" kern="1200" dirty="0">
                <a:solidFill>
                  <a:prstClr val="black"/>
                </a:solidFill>
                <a:latin typeface="Palatino Linotype"/>
                <a:cs typeface="Palatino Linotype"/>
              </a:rPr>
              <a:t>can run directly on </a:t>
            </a:r>
            <a:r>
              <a:rPr sz="1700" kern="1200" spc="-5" dirty="0">
                <a:solidFill>
                  <a:prstClr val="black"/>
                </a:solidFill>
                <a:latin typeface="Palatino Linotype"/>
                <a:cs typeface="Palatino Linotype"/>
              </a:rPr>
              <a:t>the </a:t>
            </a:r>
            <a:r>
              <a:rPr sz="1700" kern="1200" dirty="0">
                <a:solidFill>
                  <a:prstClr val="black"/>
                </a:solidFill>
                <a:latin typeface="Palatino Linotype"/>
                <a:cs typeface="Palatino Linotype"/>
              </a:rPr>
              <a:t>target</a:t>
            </a:r>
            <a:r>
              <a:rPr sz="1700" kern="1200" spc="-155" dirty="0">
                <a:solidFill>
                  <a:prstClr val="black"/>
                </a:solidFill>
                <a:latin typeface="Palatino Linotype"/>
                <a:cs typeface="Palatino Linotype"/>
              </a:rPr>
              <a:t> </a:t>
            </a:r>
            <a:r>
              <a:rPr sz="1700" kern="1200" spc="-10" dirty="0">
                <a:solidFill>
                  <a:prstClr val="black"/>
                </a:solidFill>
                <a:latin typeface="Palatino Linotype"/>
                <a:cs typeface="Palatino Linotype"/>
              </a:rPr>
              <a:t>computer.</a:t>
            </a:r>
            <a:endParaRPr sz="1700" kern="1200">
              <a:solidFill>
                <a:prstClr val="black"/>
              </a:solidFill>
              <a:latin typeface="Palatino Linotype"/>
              <a:cs typeface="Palatino Linotype"/>
            </a:endParaRPr>
          </a:p>
          <a:p>
            <a:pPr marL="12700" marR="27305" rtl="0">
              <a:lnSpc>
                <a:spcPct val="120000"/>
              </a:lnSpc>
              <a:spcBef>
                <a:spcPts val="605"/>
              </a:spcBef>
            </a:pPr>
            <a:r>
              <a:rPr sz="1700" kern="1200" dirty="0">
                <a:solidFill>
                  <a:srgbClr val="FF0000"/>
                </a:solidFill>
                <a:latin typeface="Palatino Linotype"/>
                <a:cs typeface="Palatino Linotype"/>
              </a:rPr>
              <a:t>An </a:t>
            </a:r>
            <a:r>
              <a:rPr sz="1700" kern="1200" spc="-5" dirty="0">
                <a:solidFill>
                  <a:srgbClr val="FF0000"/>
                </a:solidFill>
                <a:latin typeface="Palatino Linotype"/>
                <a:cs typeface="Palatino Linotype"/>
              </a:rPr>
              <a:t>interpreter directly </a:t>
            </a:r>
            <a:r>
              <a:rPr sz="1700" kern="1200" dirty="0">
                <a:solidFill>
                  <a:srgbClr val="FF0000"/>
                </a:solidFill>
                <a:latin typeface="Palatino Linotype"/>
                <a:cs typeface="Palatino Linotype"/>
              </a:rPr>
              <a:t>executes </a:t>
            </a:r>
            <a:r>
              <a:rPr sz="1700" kern="1200" dirty="0">
                <a:solidFill>
                  <a:prstClr val="black"/>
                </a:solidFill>
                <a:latin typeface="Palatino Linotype"/>
                <a:cs typeface="Palatino Linotype"/>
              </a:rPr>
              <a:t>each </a:t>
            </a:r>
            <a:r>
              <a:rPr sz="1700" kern="1200" spc="-5" dirty="0">
                <a:solidFill>
                  <a:prstClr val="black"/>
                </a:solidFill>
                <a:latin typeface="Palatino Linotype"/>
                <a:cs typeface="Palatino Linotype"/>
              </a:rPr>
              <a:t>statement in the </a:t>
            </a:r>
            <a:r>
              <a:rPr sz="1700" kern="1200" dirty="0">
                <a:solidFill>
                  <a:prstClr val="black"/>
                </a:solidFill>
                <a:latin typeface="Palatino Linotype"/>
                <a:cs typeface="Palatino Linotype"/>
              </a:rPr>
              <a:t>source code, </a:t>
            </a:r>
            <a:r>
              <a:rPr sz="1700" kern="1200" spc="-5" dirty="0">
                <a:solidFill>
                  <a:prstClr val="black"/>
                </a:solidFill>
                <a:latin typeface="Palatino Linotype"/>
                <a:cs typeface="Palatino Linotype"/>
              </a:rPr>
              <a:t>without  </a:t>
            </a:r>
            <a:r>
              <a:rPr sz="1700" kern="1200" dirty="0">
                <a:solidFill>
                  <a:prstClr val="black"/>
                </a:solidFill>
                <a:latin typeface="Palatino Linotype"/>
                <a:cs typeface="Palatino Linotype"/>
              </a:rPr>
              <a:t>requiring </a:t>
            </a:r>
            <a:r>
              <a:rPr sz="1700" kern="1200" spc="-5" dirty="0">
                <a:solidFill>
                  <a:prstClr val="black"/>
                </a:solidFill>
                <a:latin typeface="Palatino Linotype"/>
                <a:cs typeface="Palatino Linotype"/>
              </a:rPr>
              <a:t>the program to </a:t>
            </a:r>
            <a:r>
              <a:rPr sz="1700" kern="1200" spc="-10" dirty="0">
                <a:solidFill>
                  <a:prstClr val="black"/>
                </a:solidFill>
                <a:latin typeface="Palatino Linotype"/>
                <a:cs typeface="Palatino Linotype"/>
              </a:rPr>
              <a:t>have </a:t>
            </a:r>
            <a:r>
              <a:rPr sz="1700" kern="1200" dirty="0">
                <a:solidFill>
                  <a:prstClr val="black"/>
                </a:solidFill>
                <a:latin typeface="Palatino Linotype"/>
                <a:cs typeface="Palatino Linotype"/>
              </a:rPr>
              <a:t>been </a:t>
            </a:r>
            <a:r>
              <a:rPr sz="1700" kern="1200" spc="-5" dirty="0">
                <a:solidFill>
                  <a:prstClr val="black"/>
                </a:solidFill>
                <a:latin typeface="Palatino Linotype"/>
                <a:cs typeface="Palatino Linotype"/>
              </a:rPr>
              <a:t>compiled into </a:t>
            </a:r>
            <a:r>
              <a:rPr sz="1700" kern="1200" dirty="0">
                <a:solidFill>
                  <a:prstClr val="black"/>
                </a:solidFill>
                <a:latin typeface="Palatino Linotype"/>
                <a:cs typeface="Palatino Linotype"/>
              </a:rPr>
              <a:t>machine</a:t>
            </a:r>
            <a:r>
              <a:rPr sz="1700" kern="1200" spc="-70" dirty="0">
                <a:solidFill>
                  <a:prstClr val="black"/>
                </a:solidFill>
                <a:latin typeface="Palatino Linotype"/>
                <a:cs typeface="Palatino Linotype"/>
              </a:rPr>
              <a:t> </a:t>
            </a:r>
            <a:r>
              <a:rPr sz="1700" kern="1200" dirty="0">
                <a:solidFill>
                  <a:prstClr val="black"/>
                </a:solidFill>
                <a:latin typeface="Palatino Linotype"/>
                <a:cs typeface="Palatino Linotype"/>
              </a:rPr>
              <a:t>codes.</a:t>
            </a:r>
            <a:endParaRPr sz="1700" kern="1200">
              <a:solidFill>
                <a:prstClr val="black"/>
              </a:solidFill>
              <a:latin typeface="Palatino Linotype"/>
              <a:cs typeface="Palatino Linotype"/>
            </a:endParaRPr>
          </a:p>
        </p:txBody>
      </p:sp>
      <p:sp>
        <p:nvSpPr>
          <p:cNvPr id="32" name="object 6">
            <a:extLst>
              <a:ext uri="{FF2B5EF4-FFF2-40B4-BE49-F238E27FC236}">
                <a16:creationId xmlns:a16="http://schemas.microsoft.com/office/drawing/2014/main" id="{55D10672-5C7A-1C82-0E99-01A791C637F1}"/>
              </a:ext>
            </a:extLst>
          </p:cNvPr>
          <p:cNvSpPr txBox="1"/>
          <p:nvPr/>
        </p:nvSpPr>
        <p:spPr>
          <a:xfrm>
            <a:off x="699516" y="4588764"/>
            <a:ext cx="1819910" cy="568960"/>
          </a:xfrm>
          <a:prstGeom prst="rect">
            <a:avLst/>
          </a:prstGeom>
          <a:ln w="9525">
            <a:solidFill>
              <a:srgbClr val="000000"/>
            </a:solidFill>
          </a:ln>
        </p:spPr>
        <p:txBody>
          <a:bodyPr vert="horz" wrap="square" lIns="0" tIns="149860" rIns="0" bIns="0" rtlCol="0">
            <a:spAutoFit/>
          </a:bodyPr>
          <a:lstStyle/>
          <a:p>
            <a:pPr marL="415290" rtl="0">
              <a:spcBef>
                <a:spcPts val="1180"/>
              </a:spcBef>
            </a:pPr>
            <a:r>
              <a:rPr b="1" kern="1200" spc="-10" dirty="0">
                <a:solidFill>
                  <a:prstClr val="black"/>
                </a:solidFill>
                <a:latin typeface="Palatino Linotype"/>
                <a:cs typeface="Palatino Linotype"/>
              </a:rPr>
              <a:t>Compiler</a:t>
            </a:r>
            <a:endParaRPr kern="1200">
              <a:solidFill>
                <a:prstClr val="black"/>
              </a:solidFill>
              <a:latin typeface="Palatino Linotype"/>
              <a:cs typeface="Palatino Linotype"/>
            </a:endParaRPr>
          </a:p>
        </p:txBody>
      </p:sp>
      <p:sp>
        <p:nvSpPr>
          <p:cNvPr id="33" name="object 7">
            <a:extLst>
              <a:ext uri="{FF2B5EF4-FFF2-40B4-BE49-F238E27FC236}">
                <a16:creationId xmlns:a16="http://schemas.microsoft.com/office/drawing/2014/main" id="{36043594-03AD-9A14-DDD8-3597197BD4A1}"/>
              </a:ext>
            </a:extLst>
          </p:cNvPr>
          <p:cNvSpPr/>
          <p:nvPr/>
        </p:nvSpPr>
        <p:spPr>
          <a:xfrm>
            <a:off x="356615" y="2244851"/>
            <a:ext cx="685800" cy="685800"/>
          </a:xfrm>
          <a:custGeom>
            <a:avLst/>
            <a:gdLst/>
            <a:ahLst/>
            <a:cxnLst/>
            <a:rect l="l" t="t" r="r" b="b"/>
            <a:pathLst>
              <a:path w="685800" h="685800">
                <a:moveTo>
                  <a:pt x="342900" y="0"/>
                </a:moveTo>
                <a:lnTo>
                  <a:pt x="296369" y="3130"/>
                </a:lnTo>
                <a:lnTo>
                  <a:pt x="251742" y="12250"/>
                </a:lnTo>
                <a:lnTo>
                  <a:pt x="209426" y="26949"/>
                </a:lnTo>
                <a:lnTo>
                  <a:pt x="169830" y="46820"/>
                </a:lnTo>
                <a:lnTo>
                  <a:pt x="133362" y="71454"/>
                </a:lnTo>
                <a:lnTo>
                  <a:pt x="100431" y="100441"/>
                </a:lnTo>
                <a:lnTo>
                  <a:pt x="71446" y="133373"/>
                </a:lnTo>
                <a:lnTo>
                  <a:pt x="46815" y="169841"/>
                </a:lnTo>
                <a:lnTo>
                  <a:pt x="26946" y="209436"/>
                </a:lnTo>
                <a:lnTo>
                  <a:pt x="12248" y="251751"/>
                </a:lnTo>
                <a:lnTo>
                  <a:pt x="3130" y="296375"/>
                </a:lnTo>
                <a:lnTo>
                  <a:pt x="0" y="342900"/>
                </a:lnTo>
                <a:lnTo>
                  <a:pt x="3130" y="389424"/>
                </a:lnTo>
                <a:lnTo>
                  <a:pt x="12248" y="434048"/>
                </a:lnTo>
                <a:lnTo>
                  <a:pt x="26946" y="476363"/>
                </a:lnTo>
                <a:lnTo>
                  <a:pt x="46815" y="515958"/>
                </a:lnTo>
                <a:lnTo>
                  <a:pt x="71446" y="552426"/>
                </a:lnTo>
                <a:lnTo>
                  <a:pt x="100431" y="585358"/>
                </a:lnTo>
                <a:lnTo>
                  <a:pt x="133362" y="614345"/>
                </a:lnTo>
                <a:lnTo>
                  <a:pt x="169830" y="638979"/>
                </a:lnTo>
                <a:lnTo>
                  <a:pt x="209426" y="658850"/>
                </a:lnTo>
                <a:lnTo>
                  <a:pt x="251742" y="673549"/>
                </a:lnTo>
                <a:lnTo>
                  <a:pt x="296369" y="682669"/>
                </a:lnTo>
                <a:lnTo>
                  <a:pt x="342900" y="685800"/>
                </a:lnTo>
                <a:lnTo>
                  <a:pt x="389430" y="682669"/>
                </a:lnTo>
                <a:lnTo>
                  <a:pt x="434057" y="673549"/>
                </a:lnTo>
                <a:lnTo>
                  <a:pt x="476373" y="658850"/>
                </a:lnTo>
                <a:lnTo>
                  <a:pt x="515969" y="638979"/>
                </a:lnTo>
                <a:lnTo>
                  <a:pt x="552437" y="614345"/>
                </a:lnTo>
                <a:lnTo>
                  <a:pt x="585368" y="585358"/>
                </a:lnTo>
                <a:lnTo>
                  <a:pt x="614353" y="552426"/>
                </a:lnTo>
                <a:lnTo>
                  <a:pt x="638984" y="515958"/>
                </a:lnTo>
                <a:lnTo>
                  <a:pt x="658853" y="476363"/>
                </a:lnTo>
                <a:lnTo>
                  <a:pt x="673551" y="434048"/>
                </a:lnTo>
                <a:lnTo>
                  <a:pt x="682669" y="389424"/>
                </a:lnTo>
                <a:lnTo>
                  <a:pt x="685800" y="342900"/>
                </a:lnTo>
                <a:lnTo>
                  <a:pt x="682669" y="296375"/>
                </a:lnTo>
                <a:lnTo>
                  <a:pt x="673551" y="251751"/>
                </a:lnTo>
                <a:lnTo>
                  <a:pt x="658853" y="209436"/>
                </a:lnTo>
                <a:lnTo>
                  <a:pt x="638984" y="169841"/>
                </a:lnTo>
                <a:lnTo>
                  <a:pt x="614353" y="133373"/>
                </a:lnTo>
                <a:lnTo>
                  <a:pt x="585368" y="100441"/>
                </a:lnTo>
                <a:lnTo>
                  <a:pt x="552437" y="71454"/>
                </a:lnTo>
                <a:lnTo>
                  <a:pt x="515969" y="46820"/>
                </a:lnTo>
                <a:lnTo>
                  <a:pt x="476373" y="26949"/>
                </a:lnTo>
                <a:lnTo>
                  <a:pt x="434057" y="12250"/>
                </a:lnTo>
                <a:lnTo>
                  <a:pt x="389430" y="3130"/>
                </a:lnTo>
                <a:lnTo>
                  <a:pt x="342900" y="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8">
            <a:extLst>
              <a:ext uri="{FF2B5EF4-FFF2-40B4-BE49-F238E27FC236}">
                <a16:creationId xmlns:a16="http://schemas.microsoft.com/office/drawing/2014/main" id="{220D6387-5667-304D-C09A-1D09C58DF84F}"/>
              </a:ext>
            </a:extLst>
          </p:cNvPr>
          <p:cNvSpPr/>
          <p:nvPr/>
        </p:nvSpPr>
        <p:spPr>
          <a:xfrm>
            <a:off x="356615" y="2244851"/>
            <a:ext cx="685800" cy="685800"/>
          </a:xfrm>
          <a:custGeom>
            <a:avLst/>
            <a:gdLst/>
            <a:ahLst/>
            <a:cxnLst/>
            <a:rect l="l" t="t" r="r" b="b"/>
            <a:pathLst>
              <a:path w="685800" h="685800">
                <a:moveTo>
                  <a:pt x="0" y="342900"/>
                </a:moveTo>
                <a:lnTo>
                  <a:pt x="3130" y="296375"/>
                </a:lnTo>
                <a:lnTo>
                  <a:pt x="12248" y="251751"/>
                </a:lnTo>
                <a:lnTo>
                  <a:pt x="26946" y="209436"/>
                </a:lnTo>
                <a:lnTo>
                  <a:pt x="46815" y="169841"/>
                </a:lnTo>
                <a:lnTo>
                  <a:pt x="71446" y="133373"/>
                </a:lnTo>
                <a:lnTo>
                  <a:pt x="100431" y="100441"/>
                </a:lnTo>
                <a:lnTo>
                  <a:pt x="133362" y="71454"/>
                </a:lnTo>
                <a:lnTo>
                  <a:pt x="169830" y="46820"/>
                </a:lnTo>
                <a:lnTo>
                  <a:pt x="209426" y="26949"/>
                </a:lnTo>
                <a:lnTo>
                  <a:pt x="251742" y="12250"/>
                </a:lnTo>
                <a:lnTo>
                  <a:pt x="296369" y="3130"/>
                </a:lnTo>
                <a:lnTo>
                  <a:pt x="342900" y="0"/>
                </a:lnTo>
                <a:lnTo>
                  <a:pt x="389430" y="3130"/>
                </a:lnTo>
                <a:lnTo>
                  <a:pt x="434057" y="12250"/>
                </a:lnTo>
                <a:lnTo>
                  <a:pt x="476373" y="26949"/>
                </a:lnTo>
                <a:lnTo>
                  <a:pt x="515969" y="46820"/>
                </a:lnTo>
                <a:lnTo>
                  <a:pt x="552437" y="71454"/>
                </a:lnTo>
                <a:lnTo>
                  <a:pt x="585368" y="100441"/>
                </a:lnTo>
                <a:lnTo>
                  <a:pt x="614353" y="133373"/>
                </a:lnTo>
                <a:lnTo>
                  <a:pt x="638984" y="169841"/>
                </a:lnTo>
                <a:lnTo>
                  <a:pt x="658853" y="209436"/>
                </a:lnTo>
                <a:lnTo>
                  <a:pt x="673551" y="251751"/>
                </a:lnTo>
                <a:lnTo>
                  <a:pt x="682669" y="296375"/>
                </a:lnTo>
                <a:lnTo>
                  <a:pt x="685800" y="342900"/>
                </a:lnTo>
                <a:lnTo>
                  <a:pt x="682669" y="389424"/>
                </a:lnTo>
                <a:lnTo>
                  <a:pt x="673551" y="434048"/>
                </a:lnTo>
                <a:lnTo>
                  <a:pt x="658853" y="476363"/>
                </a:lnTo>
                <a:lnTo>
                  <a:pt x="638984" y="515958"/>
                </a:lnTo>
                <a:lnTo>
                  <a:pt x="614353" y="552426"/>
                </a:lnTo>
                <a:lnTo>
                  <a:pt x="585368" y="585358"/>
                </a:lnTo>
                <a:lnTo>
                  <a:pt x="552437" y="614345"/>
                </a:lnTo>
                <a:lnTo>
                  <a:pt x="515969" y="638979"/>
                </a:lnTo>
                <a:lnTo>
                  <a:pt x="476373" y="658850"/>
                </a:lnTo>
                <a:lnTo>
                  <a:pt x="434057" y="673549"/>
                </a:lnTo>
                <a:lnTo>
                  <a:pt x="389430" y="682669"/>
                </a:lnTo>
                <a:lnTo>
                  <a:pt x="342900" y="685800"/>
                </a:lnTo>
                <a:lnTo>
                  <a:pt x="296369" y="682669"/>
                </a:lnTo>
                <a:lnTo>
                  <a:pt x="251742" y="673549"/>
                </a:lnTo>
                <a:lnTo>
                  <a:pt x="209426" y="658850"/>
                </a:lnTo>
                <a:lnTo>
                  <a:pt x="169830" y="638979"/>
                </a:lnTo>
                <a:lnTo>
                  <a:pt x="133362" y="614345"/>
                </a:lnTo>
                <a:lnTo>
                  <a:pt x="100431" y="585358"/>
                </a:lnTo>
                <a:lnTo>
                  <a:pt x="71446" y="552426"/>
                </a:lnTo>
                <a:lnTo>
                  <a:pt x="46815" y="515958"/>
                </a:lnTo>
                <a:lnTo>
                  <a:pt x="26946" y="476363"/>
                </a:lnTo>
                <a:lnTo>
                  <a:pt x="12248" y="434048"/>
                </a:lnTo>
                <a:lnTo>
                  <a:pt x="3130" y="389424"/>
                </a:lnTo>
                <a:lnTo>
                  <a:pt x="0" y="342900"/>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5" name="object 9">
            <a:extLst>
              <a:ext uri="{FF2B5EF4-FFF2-40B4-BE49-F238E27FC236}">
                <a16:creationId xmlns:a16="http://schemas.microsoft.com/office/drawing/2014/main" id="{EE593181-C591-5B5B-5F2A-86EBE521D45C}"/>
              </a:ext>
            </a:extLst>
          </p:cNvPr>
          <p:cNvSpPr txBox="1"/>
          <p:nvPr/>
        </p:nvSpPr>
        <p:spPr>
          <a:xfrm>
            <a:off x="597509" y="2338781"/>
            <a:ext cx="203200" cy="452120"/>
          </a:xfrm>
          <a:prstGeom prst="rect">
            <a:avLst/>
          </a:prstGeom>
        </p:spPr>
        <p:txBody>
          <a:bodyPr vert="horz" wrap="square" lIns="0" tIns="12065" rIns="0" bIns="0" rtlCol="0">
            <a:spAutoFit/>
          </a:bodyPr>
          <a:lstStyle/>
          <a:p>
            <a:pPr marL="12700" rtl="0">
              <a:spcBef>
                <a:spcPts val="95"/>
              </a:spcBef>
            </a:pPr>
            <a:r>
              <a:rPr sz="2800" b="1" kern="1200" spc="-5" dirty="0">
                <a:solidFill>
                  <a:srgbClr val="FF0000"/>
                </a:solidFill>
                <a:latin typeface="Palatino Linotype"/>
                <a:cs typeface="Palatino Linotype"/>
              </a:rPr>
              <a:t>1</a:t>
            </a:r>
            <a:endParaRPr sz="2800" kern="1200">
              <a:solidFill>
                <a:prstClr val="black"/>
              </a:solidFill>
              <a:latin typeface="Palatino Linotype"/>
              <a:cs typeface="Palatino Linotype"/>
            </a:endParaRPr>
          </a:p>
        </p:txBody>
      </p:sp>
      <p:sp>
        <p:nvSpPr>
          <p:cNvPr id="36" name="object 10">
            <a:extLst>
              <a:ext uri="{FF2B5EF4-FFF2-40B4-BE49-F238E27FC236}">
                <a16:creationId xmlns:a16="http://schemas.microsoft.com/office/drawing/2014/main" id="{9B60B63D-34BB-DDFD-28FC-E93955DA1BB4}"/>
              </a:ext>
            </a:extLst>
          </p:cNvPr>
          <p:cNvSpPr txBox="1"/>
          <p:nvPr/>
        </p:nvSpPr>
        <p:spPr>
          <a:xfrm>
            <a:off x="782523" y="3898138"/>
            <a:ext cx="1652905"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Palatino Linotype"/>
                <a:cs typeface="Palatino Linotype"/>
              </a:rPr>
              <a:t>Source</a:t>
            </a:r>
            <a:r>
              <a:rPr kern="1200" spc="-70" dirty="0">
                <a:solidFill>
                  <a:prstClr val="black"/>
                </a:solidFill>
                <a:latin typeface="Palatino Linotype"/>
                <a:cs typeface="Palatino Linotype"/>
              </a:rPr>
              <a:t> </a:t>
            </a:r>
            <a:r>
              <a:rPr kern="1200" spc="-5" dirty="0">
                <a:solidFill>
                  <a:prstClr val="black"/>
                </a:solidFill>
                <a:latin typeface="Palatino Linotype"/>
                <a:cs typeface="Palatino Linotype"/>
              </a:rPr>
              <a:t>program</a:t>
            </a:r>
            <a:endParaRPr kern="1200">
              <a:solidFill>
                <a:prstClr val="black"/>
              </a:solidFill>
              <a:latin typeface="Palatino Linotype"/>
              <a:cs typeface="Palatino Linotype"/>
            </a:endParaRPr>
          </a:p>
        </p:txBody>
      </p:sp>
      <p:sp>
        <p:nvSpPr>
          <p:cNvPr id="37" name="object 11">
            <a:extLst>
              <a:ext uri="{FF2B5EF4-FFF2-40B4-BE49-F238E27FC236}">
                <a16:creationId xmlns:a16="http://schemas.microsoft.com/office/drawing/2014/main" id="{C2E03CE7-8FDB-09CF-E10A-12A651D2E822}"/>
              </a:ext>
            </a:extLst>
          </p:cNvPr>
          <p:cNvSpPr txBox="1"/>
          <p:nvPr/>
        </p:nvSpPr>
        <p:spPr>
          <a:xfrm>
            <a:off x="2906267" y="4588764"/>
            <a:ext cx="2120265" cy="568960"/>
          </a:xfrm>
          <a:prstGeom prst="rect">
            <a:avLst/>
          </a:prstGeom>
          <a:ln w="9525">
            <a:solidFill>
              <a:srgbClr val="000000"/>
            </a:solidFill>
          </a:ln>
        </p:spPr>
        <p:txBody>
          <a:bodyPr vert="horz" wrap="square" lIns="0" tIns="149860" rIns="0" bIns="0" rtlCol="0">
            <a:spAutoFit/>
          </a:bodyPr>
          <a:lstStyle/>
          <a:p>
            <a:pPr marL="262890" rtl="0">
              <a:spcBef>
                <a:spcPts val="1180"/>
              </a:spcBef>
            </a:pPr>
            <a:r>
              <a:rPr b="1" kern="1200" spc="-30" dirty="0">
                <a:solidFill>
                  <a:prstClr val="black"/>
                </a:solidFill>
                <a:latin typeface="Palatino Linotype"/>
                <a:cs typeface="Palatino Linotype"/>
              </a:rPr>
              <a:t>Target</a:t>
            </a:r>
            <a:r>
              <a:rPr b="1" kern="1200" spc="-15" dirty="0">
                <a:solidFill>
                  <a:prstClr val="black"/>
                </a:solidFill>
                <a:latin typeface="Palatino Linotype"/>
                <a:cs typeface="Palatino Linotype"/>
              </a:rPr>
              <a:t> </a:t>
            </a:r>
            <a:r>
              <a:rPr b="1" kern="1200" spc="-5" dirty="0">
                <a:solidFill>
                  <a:prstClr val="black"/>
                </a:solidFill>
                <a:latin typeface="Palatino Linotype"/>
                <a:cs typeface="Palatino Linotype"/>
              </a:rPr>
              <a:t>program</a:t>
            </a:r>
            <a:endParaRPr kern="1200">
              <a:solidFill>
                <a:prstClr val="black"/>
              </a:solidFill>
              <a:latin typeface="Palatino Linotype"/>
              <a:cs typeface="Palatino Linotype"/>
            </a:endParaRPr>
          </a:p>
        </p:txBody>
      </p:sp>
      <p:sp>
        <p:nvSpPr>
          <p:cNvPr id="38" name="object 12">
            <a:extLst>
              <a:ext uri="{FF2B5EF4-FFF2-40B4-BE49-F238E27FC236}">
                <a16:creationId xmlns:a16="http://schemas.microsoft.com/office/drawing/2014/main" id="{3E137C51-E6F3-6FF6-9453-C40EA77EF929}"/>
              </a:ext>
            </a:extLst>
          </p:cNvPr>
          <p:cNvSpPr txBox="1"/>
          <p:nvPr/>
        </p:nvSpPr>
        <p:spPr>
          <a:xfrm>
            <a:off x="3673855" y="3898138"/>
            <a:ext cx="584835"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Palatino Linotype"/>
                <a:cs typeface="Palatino Linotype"/>
              </a:rPr>
              <a:t>Inp</a:t>
            </a:r>
            <a:r>
              <a:rPr kern="1200" spc="-10" dirty="0">
                <a:solidFill>
                  <a:prstClr val="black"/>
                </a:solidFill>
                <a:latin typeface="Palatino Linotype"/>
                <a:cs typeface="Palatino Linotype"/>
              </a:rPr>
              <a:t>u</a:t>
            </a:r>
            <a:r>
              <a:rPr kern="1200" dirty="0">
                <a:solidFill>
                  <a:prstClr val="black"/>
                </a:solidFill>
                <a:latin typeface="Palatino Linotype"/>
                <a:cs typeface="Palatino Linotype"/>
              </a:rPr>
              <a:t>t</a:t>
            </a:r>
            <a:endParaRPr kern="1200">
              <a:solidFill>
                <a:prstClr val="black"/>
              </a:solidFill>
              <a:latin typeface="Palatino Linotype"/>
              <a:cs typeface="Palatino Linotype"/>
            </a:endParaRPr>
          </a:p>
        </p:txBody>
      </p:sp>
      <p:sp>
        <p:nvSpPr>
          <p:cNvPr id="39" name="object 13">
            <a:extLst>
              <a:ext uri="{FF2B5EF4-FFF2-40B4-BE49-F238E27FC236}">
                <a16:creationId xmlns:a16="http://schemas.microsoft.com/office/drawing/2014/main" id="{B330F20E-FACE-AE20-9908-38DB0E681805}"/>
              </a:ext>
            </a:extLst>
          </p:cNvPr>
          <p:cNvSpPr/>
          <p:nvPr/>
        </p:nvSpPr>
        <p:spPr>
          <a:xfrm>
            <a:off x="1571244" y="4248911"/>
            <a:ext cx="76200" cy="339725"/>
          </a:xfrm>
          <a:custGeom>
            <a:avLst/>
            <a:gdLst/>
            <a:ahLst/>
            <a:cxnLst/>
            <a:rect l="l" t="t" r="r" b="b"/>
            <a:pathLst>
              <a:path w="76200" h="339725">
                <a:moveTo>
                  <a:pt x="31750" y="263398"/>
                </a:moveTo>
                <a:lnTo>
                  <a:pt x="0" y="263398"/>
                </a:lnTo>
                <a:lnTo>
                  <a:pt x="38100" y="339598"/>
                </a:lnTo>
                <a:lnTo>
                  <a:pt x="69850" y="276098"/>
                </a:lnTo>
                <a:lnTo>
                  <a:pt x="31750" y="276098"/>
                </a:lnTo>
                <a:lnTo>
                  <a:pt x="31750" y="263398"/>
                </a:lnTo>
                <a:close/>
              </a:path>
              <a:path w="76200" h="339725">
                <a:moveTo>
                  <a:pt x="44450" y="0"/>
                </a:moveTo>
                <a:lnTo>
                  <a:pt x="31750" y="0"/>
                </a:lnTo>
                <a:lnTo>
                  <a:pt x="31750" y="276098"/>
                </a:lnTo>
                <a:lnTo>
                  <a:pt x="44450" y="276098"/>
                </a:lnTo>
                <a:lnTo>
                  <a:pt x="44450" y="0"/>
                </a:lnTo>
                <a:close/>
              </a:path>
              <a:path w="76200" h="339725">
                <a:moveTo>
                  <a:pt x="76200" y="263398"/>
                </a:moveTo>
                <a:lnTo>
                  <a:pt x="44450" y="263398"/>
                </a:lnTo>
                <a:lnTo>
                  <a:pt x="44450" y="276098"/>
                </a:lnTo>
                <a:lnTo>
                  <a:pt x="69850" y="276098"/>
                </a:lnTo>
                <a:lnTo>
                  <a:pt x="76200" y="26339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4">
            <a:extLst>
              <a:ext uri="{FF2B5EF4-FFF2-40B4-BE49-F238E27FC236}">
                <a16:creationId xmlns:a16="http://schemas.microsoft.com/office/drawing/2014/main" id="{2C1C76BD-7F07-D387-9CC0-986593876921}"/>
              </a:ext>
            </a:extLst>
          </p:cNvPr>
          <p:cNvSpPr txBox="1"/>
          <p:nvPr/>
        </p:nvSpPr>
        <p:spPr>
          <a:xfrm>
            <a:off x="806602" y="5511190"/>
            <a:ext cx="1605280" cy="299720"/>
          </a:xfrm>
          <a:prstGeom prst="rect">
            <a:avLst/>
          </a:prstGeom>
        </p:spPr>
        <p:txBody>
          <a:bodyPr vert="horz" wrap="square" lIns="0" tIns="12700" rIns="0" bIns="0" rtlCol="0">
            <a:spAutoFit/>
          </a:bodyPr>
          <a:lstStyle/>
          <a:p>
            <a:pPr marL="12700" rtl="0">
              <a:spcBef>
                <a:spcPts val="100"/>
              </a:spcBef>
            </a:pPr>
            <a:r>
              <a:rPr kern="1200" spc="-30" dirty="0">
                <a:solidFill>
                  <a:prstClr val="black"/>
                </a:solidFill>
                <a:latin typeface="Palatino Linotype"/>
                <a:cs typeface="Palatino Linotype"/>
              </a:rPr>
              <a:t>Target</a:t>
            </a:r>
            <a:r>
              <a:rPr kern="1200" spc="-50" dirty="0">
                <a:solidFill>
                  <a:prstClr val="black"/>
                </a:solidFill>
                <a:latin typeface="Palatino Linotype"/>
                <a:cs typeface="Palatino Linotype"/>
              </a:rPr>
              <a:t> </a:t>
            </a:r>
            <a:r>
              <a:rPr kern="1200" spc="-5" dirty="0">
                <a:solidFill>
                  <a:prstClr val="black"/>
                </a:solidFill>
                <a:latin typeface="Palatino Linotype"/>
                <a:cs typeface="Palatino Linotype"/>
              </a:rPr>
              <a:t>program</a:t>
            </a:r>
            <a:endParaRPr kern="1200">
              <a:solidFill>
                <a:prstClr val="black"/>
              </a:solidFill>
              <a:latin typeface="Palatino Linotype"/>
              <a:cs typeface="Palatino Linotype"/>
            </a:endParaRPr>
          </a:p>
        </p:txBody>
      </p:sp>
      <p:sp>
        <p:nvSpPr>
          <p:cNvPr id="41" name="object 15">
            <a:extLst>
              <a:ext uri="{FF2B5EF4-FFF2-40B4-BE49-F238E27FC236}">
                <a16:creationId xmlns:a16="http://schemas.microsoft.com/office/drawing/2014/main" id="{596AD477-7638-43BF-0B86-5163CB5B08BB}"/>
              </a:ext>
            </a:extLst>
          </p:cNvPr>
          <p:cNvSpPr/>
          <p:nvPr/>
        </p:nvSpPr>
        <p:spPr>
          <a:xfrm>
            <a:off x="1571244" y="5157215"/>
            <a:ext cx="76200" cy="354330"/>
          </a:xfrm>
          <a:custGeom>
            <a:avLst/>
            <a:gdLst/>
            <a:ahLst/>
            <a:cxnLst/>
            <a:rect l="l" t="t" r="r" b="b"/>
            <a:pathLst>
              <a:path w="76200" h="354329">
                <a:moveTo>
                  <a:pt x="31750" y="277748"/>
                </a:moveTo>
                <a:lnTo>
                  <a:pt x="0" y="277748"/>
                </a:lnTo>
                <a:lnTo>
                  <a:pt x="38100" y="353948"/>
                </a:lnTo>
                <a:lnTo>
                  <a:pt x="69850" y="290448"/>
                </a:lnTo>
                <a:lnTo>
                  <a:pt x="31750" y="290448"/>
                </a:lnTo>
                <a:lnTo>
                  <a:pt x="31750" y="277748"/>
                </a:lnTo>
                <a:close/>
              </a:path>
              <a:path w="76200" h="354329">
                <a:moveTo>
                  <a:pt x="44450" y="0"/>
                </a:moveTo>
                <a:lnTo>
                  <a:pt x="31750" y="0"/>
                </a:lnTo>
                <a:lnTo>
                  <a:pt x="31750" y="290448"/>
                </a:lnTo>
                <a:lnTo>
                  <a:pt x="44450" y="290448"/>
                </a:lnTo>
                <a:lnTo>
                  <a:pt x="44450" y="0"/>
                </a:lnTo>
                <a:close/>
              </a:path>
              <a:path w="76200" h="354329">
                <a:moveTo>
                  <a:pt x="76200" y="277748"/>
                </a:moveTo>
                <a:lnTo>
                  <a:pt x="44450" y="277748"/>
                </a:lnTo>
                <a:lnTo>
                  <a:pt x="44450" y="290448"/>
                </a:lnTo>
                <a:lnTo>
                  <a:pt x="69850" y="290448"/>
                </a:lnTo>
                <a:lnTo>
                  <a:pt x="76200" y="27774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16">
            <a:extLst>
              <a:ext uri="{FF2B5EF4-FFF2-40B4-BE49-F238E27FC236}">
                <a16:creationId xmlns:a16="http://schemas.microsoft.com/office/drawing/2014/main" id="{B333E9C5-64D8-F857-62E6-C5228D02E4CC}"/>
              </a:ext>
            </a:extLst>
          </p:cNvPr>
          <p:cNvSpPr txBox="1"/>
          <p:nvPr/>
        </p:nvSpPr>
        <p:spPr>
          <a:xfrm>
            <a:off x="3583940" y="5511190"/>
            <a:ext cx="76644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Palatino Linotype"/>
                <a:cs typeface="Palatino Linotype"/>
              </a:rPr>
              <a:t>Output</a:t>
            </a:r>
            <a:endParaRPr kern="1200">
              <a:solidFill>
                <a:prstClr val="black"/>
              </a:solidFill>
              <a:latin typeface="Palatino Linotype"/>
              <a:cs typeface="Palatino Linotype"/>
            </a:endParaRPr>
          </a:p>
        </p:txBody>
      </p:sp>
      <p:sp>
        <p:nvSpPr>
          <p:cNvPr id="43" name="object 17">
            <a:extLst>
              <a:ext uri="{FF2B5EF4-FFF2-40B4-BE49-F238E27FC236}">
                <a16:creationId xmlns:a16="http://schemas.microsoft.com/office/drawing/2014/main" id="{9AB99580-1B87-D272-9B54-CDB5886ABA5E}"/>
              </a:ext>
            </a:extLst>
          </p:cNvPr>
          <p:cNvSpPr/>
          <p:nvPr/>
        </p:nvSpPr>
        <p:spPr>
          <a:xfrm>
            <a:off x="3928871" y="4255008"/>
            <a:ext cx="76200" cy="339725"/>
          </a:xfrm>
          <a:custGeom>
            <a:avLst/>
            <a:gdLst/>
            <a:ahLst/>
            <a:cxnLst/>
            <a:rect l="l" t="t" r="r" b="b"/>
            <a:pathLst>
              <a:path w="76200" h="339725">
                <a:moveTo>
                  <a:pt x="31750" y="263398"/>
                </a:moveTo>
                <a:lnTo>
                  <a:pt x="0" y="263398"/>
                </a:lnTo>
                <a:lnTo>
                  <a:pt x="38100" y="339598"/>
                </a:lnTo>
                <a:lnTo>
                  <a:pt x="69850" y="276098"/>
                </a:lnTo>
                <a:lnTo>
                  <a:pt x="31750" y="276098"/>
                </a:lnTo>
                <a:lnTo>
                  <a:pt x="31750" y="263398"/>
                </a:lnTo>
                <a:close/>
              </a:path>
              <a:path w="76200" h="339725">
                <a:moveTo>
                  <a:pt x="44450" y="0"/>
                </a:moveTo>
                <a:lnTo>
                  <a:pt x="31750" y="0"/>
                </a:lnTo>
                <a:lnTo>
                  <a:pt x="31750" y="276098"/>
                </a:lnTo>
                <a:lnTo>
                  <a:pt x="44450" y="276098"/>
                </a:lnTo>
                <a:lnTo>
                  <a:pt x="44450" y="0"/>
                </a:lnTo>
                <a:close/>
              </a:path>
              <a:path w="76200" h="339725">
                <a:moveTo>
                  <a:pt x="76200" y="263398"/>
                </a:moveTo>
                <a:lnTo>
                  <a:pt x="44450" y="263398"/>
                </a:lnTo>
                <a:lnTo>
                  <a:pt x="44450" y="276098"/>
                </a:lnTo>
                <a:lnTo>
                  <a:pt x="69850" y="276098"/>
                </a:lnTo>
                <a:lnTo>
                  <a:pt x="76200" y="26339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4" name="object 18">
            <a:extLst>
              <a:ext uri="{FF2B5EF4-FFF2-40B4-BE49-F238E27FC236}">
                <a16:creationId xmlns:a16="http://schemas.microsoft.com/office/drawing/2014/main" id="{09D58DA8-8A3C-3D51-3C13-0849A140A942}"/>
              </a:ext>
            </a:extLst>
          </p:cNvPr>
          <p:cNvSpPr/>
          <p:nvPr/>
        </p:nvSpPr>
        <p:spPr>
          <a:xfrm>
            <a:off x="3928871" y="5169408"/>
            <a:ext cx="76200" cy="339725"/>
          </a:xfrm>
          <a:custGeom>
            <a:avLst/>
            <a:gdLst/>
            <a:ahLst/>
            <a:cxnLst/>
            <a:rect l="l" t="t" r="r" b="b"/>
            <a:pathLst>
              <a:path w="76200" h="339725">
                <a:moveTo>
                  <a:pt x="31750" y="263398"/>
                </a:moveTo>
                <a:lnTo>
                  <a:pt x="0" y="263398"/>
                </a:lnTo>
                <a:lnTo>
                  <a:pt x="38100" y="339598"/>
                </a:lnTo>
                <a:lnTo>
                  <a:pt x="69850" y="276098"/>
                </a:lnTo>
                <a:lnTo>
                  <a:pt x="31750" y="276098"/>
                </a:lnTo>
                <a:lnTo>
                  <a:pt x="31750" y="263398"/>
                </a:lnTo>
                <a:close/>
              </a:path>
              <a:path w="76200" h="339725">
                <a:moveTo>
                  <a:pt x="44450" y="0"/>
                </a:moveTo>
                <a:lnTo>
                  <a:pt x="31750" y="0"/>
                </a:lnTo>
                <a:lnTo>
                  <a:pt x="31750" y="276098"/>
                </a:lnTo>
                <a:lnTo>
                  <a:pt x="44450" y="276098"/>
                </a:lnTo>
                <a:lnTo>
                  <a:pt x="44450" y="0"/>
                </a:lnTo>
                <a:close/>
              </a:path>
              <a:path w="76200" h="339725">
                <a:moveTo>
                  <a:pt x="76200" y="263398"/>
                </a:moveTo>
                <a:lnTo>
                  <a:pt x="44450" y="263398"/>
                </a:lnTo>
                <a:lnTo>
                  <a:pt x="44450" y="276098"/>
                </a:lnTo>
                <a:lnTo>
                  <a:pt x="69850" y="276098"/>
                </a:lnTo>
                <a:lnTo>
                  <a:pt x="76200" y="26339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5" name="object 19">
            <a:extLst>
              <a:ext uri="{FF2B5EF4-FFF2-40B4-BE49-F238E27FC236}">
                <a16:creationId xmlns:a16="http://schemas.microsoft.com/office/drawing/2014/main" id="{4613DACF-B563-F2F2-33E3-7D0935BC791D}"/>
              </a:ext>
            </a:extLst>
          </p:cNvPr>
          <p:cNvSpPr txBox="1"/>
          <p:nvPr/>
        </p:nvSpPr>
        <p:spPr>
          <a:xfrm>
            <a:off x="5530596" y="4584191"/>
            <a:ext cx="2914015" cy="570230"/>
          </a:xfrm>
          <a:prstGeom prst="rect">
            <a:avLst/>
          </a:prstGeom>
          <a:ln w="9525">
            <a:solidFill>
              <a:srgbClr val="000000"/>
            </a:solidFill>
          </a:ln>
        </p:spPr>
        <p:txBody>
          <a:bodyPr vert="horz" wrap="square" lIns="0" tIns="151130" rIns="0" bIns="0" rtlCol="0">
            <a:spAutoFit/>
          </a:bodyPr>
          <a:lstStyle/>
          <a:p>
            <a:pPr marL="892175" rtl="0">
              <a:spcBef>
                <a:spcPts val="1190"/>
              </a:spcBef>
            </a:pPr>
            <a:r>
              <a:rPr b="1" kern="1200" spc="-5" dirty="0">
                <a:solidFill>
                  <a:prstClr val="black"/>
                </a:solidFill>
                <a:latin typeface="Palatino Linotype"/>
                <a:cs typeface="Palatino Linotype"/>
              </a:rPr>
              <a:t>Interpreter</a:t>
            </a:r>
            <a:endParaRPr kern="1200">
              <a:solidFill>
                <a:prstClr val="black"/>
              </a:solidFill>
              <a:latin typeface="Palatino Linotype"/>
              <a:cs typeface="Palatino Linotype"/>
            </a:endParaRPr>
          </a:p>
        </p:txBody>
      </p:sp>
      <p:sp>
        <p:nvSpPr>
          <p:cNvPr id="46" name="object 20">
            <a:extLst>
              <a:ext uri="{FF2B5EF4-FFF2-40B4-BE49-F238E27FC236}">
                <a16:creationId xmlns:a16="http://schemas.microsoft.com/office/drawing/2014/main" id="{F7E286FE-3BEF-5CF7-F73A-A6031C9C26D9}"/>
              </a:ext>
            </a:extLst>
          </p:cNvPr>
          <p:cNvSpPr txBox="1"/>
          <p:nvPr/>
        </p:nvSpPr>
        <p:spPr>
          <a:xfrm>
            <a:off x="5511165" y="3890898"/>
            <a:ext cx="2474595" cy="299720"/>
          </a:xfrm>
          <a:prstGeom prst="rect">
            <a:avLst/>
          </a:prstGeom>
        </p:spPr>
        <p:txBody>
          <a:bodyPr vert="horz" wrap="square" lIns="0" tIns="12700" rIns="0" bIns="0" rtlCol="0">
            <a:spAutoFit/>
          </a:bodyPr>
          <a:lstStyle/>
          <a:p>
            <a:pPr marL="12700" rtl="0">
              <a:spcBef>
                <a:spcPts val="100"/>
              </a:spcBef>
              <a:tabLst>
                <a:tab pos="1901825" algn="l"/>
              </a:tabLst>
            </a:pPr>
            <a:r>
              <a:rPr kern="1200" dirty="0">
                <a:solidFill>
                  <a:prstClr val="black"/>
                </a:solidFill>
                <a:latin typeface="Palatino Linotype"/>
                <a:cs typeface="Palatino Linotype"/>
              </a:rPr>
              <a:t>Source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pro</a:t>
            </a:r>
            <a:r>
              <a:rPr kern="1200" spc="-10" dirty="0">
                <a:solidFill>
                  <a:prstClr val="black"/>
                </a:solidFill>
                <a:latin typeface="Palatino Linotype"/>
                <a:cs typeface="Palatino Linotype"/>
              </a:rPr>
              <a:t>g</a:t>
            </a:r>
            <a:r>
              <a:rPr kern="1200" dirty="0">
                <a:solidFill>
                  <a:prstClr val="black"/>
                </a:solidFill>
                <a:latin typeface="Palatino Linotype"/>
                <a:cs typeface="Palatino Linotype"/>
              </a:rPr>
              <a:t>ram	Inp</a:t>
            </a:r>
            <a:r>
              <a:rPr kern="1200" spc="-10" dirty="0">
                <a:solidFill>
                  <a:prstClr val="black"/>
                </a:solidFill>
                <a:latin typeface="Palatino Linotype"/>
                <a:cs typeface="Palatino Linotype"/>
              </a:rPr>
              <a:t>u</a:t>
            </a:r>
            <a:r>
              <a:rPr kern="1200" dirty="0">
                <a:solidFill>
                  <a:prstClr val="black"/>
                </a:solidFill>
                <a:latin typeface="Palatino Linotype"/>
                <a:cs typeface="Palatino Linotype"/>
              </a:rPr>
              <a:t>t</a:t>
            </a:r>
            <a:endParaRPr kern="1200">
              <a:solidFill>
                <a:prstClr val="black"/>
              </a:solidFill>
              <a:latin typeface="Palatino Linotype"/>
              <a:cs typeface="Palatino Linotype"/>
            </a:endParaRPr>
          </a:p>
        </p:txBody>
      </p:sp>
      <p:sp>
        <p:nvSpPr>
          <p:cNvPr id="47" name="object 21">
            <a:extLst>
              <a:ext uri="{FF2B5EF4-FFF2-40B4-BE49-F238E27FC236}">
                <a16:creationId xmlns:a16="http://schemas.microsoft.com/office/drawing/2014/main" id="{68F4DB64-3D45-8F89-D0D8-A6917B825FC4}"/>
              </a:ext>
            </a:extLst>
          </p:cNvPr>
          <p:cNvSpPr/>
          <p:nvPr/>
        </p:nvSpPr>
        <p:spPr>
          <a:xfrm>
            <a:off x="6298691" y="4241291"/>
            <a:ext cx="76200" cy="339725"/>
          </a:xfrm>
          <a:custGeom>
            <a:avLst/>
            <a:gdLst/>
            <a:ahLst/>
            <a:cxnLst/>
            <a:rect l="l" t="t" r="r" b="b"/>
            <a:pathLst>
              <a:path w="76200" h="339725">
                <a:moveTo>
                  <a:pt x="31750" y="263397"/>
                </a:moveTo>
                <a:lnTo>
                  <a:pt x="0" y="263397"/>
                </a:lnTo>
                <a:lnTo>
                  <a:pt x="38100" y="339597"/>
                </a:lnTo>
                <a:lnTo>
                  <a:pt x="69850" y="276097"/>
                </a:lnTo>
                <a:lnTo>
                  <a:pt x="31750" y="276097"/>
                </a:lnTo>
                <a:lnTo>
                  <a:pt x="31750" y="263397"/>
                </a:lnTo>
                <a:close/>
              </a:path>
              <a:path w="76200" h="339725">
                <a:moveTo>
                  <a:pt x="44450" y="0"/>
                </a:moveTo>
                <a:lnTo>
                  <a:pt x="31750" y="0"/>
                </a:lnTo>
                <a:lnTo>
                  <a:pt x="31750" y="276097"/>
                </a:lnTo>
                <a:lnTo>
                  <a:pt x="44450" y="276097"/>
                </a:lnTo>
                <a:lnTo>
                  <a:pt x="44450" y="0"/>
                </a:lnTo>
                <a:close/>
              </a:path>
              <a:path w="76200" h="339725">
                <a:moveTo>
                  <a:pt x="76200" y="263397"/>
                </a:moveTo>
                <a:lnTo>
                  <a:pt x="44450" y="263397"/>
                </a:lnTo>
                <a:lnTo>
                  <a:pt x="44450" y="276097"/>
                </a:lnTo>
                <a:lnTo>
                  <a:pt x="69850" y="276097"/>
                </a:lnTo>
                <a:lnTo>
                  <a:pt x="76200" y="263397"/>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22">
            <a:extLst>
              <a:ext uri="{FF2B5EF4-FFF2-40B4-BE49-F238E27FC236}">
                <a16:creationId xmlns:a16="http://schemas.microsoft.com/office/drawing/2014/main" id="{42730E2D-6935-CC53-EBFB-BDE93142974C}"/>
              </a:ext>
            </a:extLst>
          </p:cNvPr>
          <p:cNvSpPr/>
          <p:nvPr/>
        </p:nvSpPr>
        <p:spPr>
          <a:xfrm>
            <a:off x="7655052" y="4247388"/>
            <a:ext cx="76200" cy="339725"/>
          </a:xfrm>
          <a:custGeom>
            <a:avLst/>
            <a:gdLst/>
            <a:ahLst/>
            <a:cxnLst/>
            <a:rect l="l" t="t" r="r" b="b"/>
            <a:pathLst>
              <a:path w="76200" h="339725">
                <a:moveTo>
                  <a:pt x="31750" y="263398"/>
                </a:moveTo>
                <a:lnTo>
                  <a:pt x="0" y="263398"/>
                </a:lnTo>
                <a:lnTo>
                  <a:pt x="38100" y="339598"/>
                </a:lnTo>
                <a:lnTo>
                  <a:pt x="69850" y="276098"/>
                </a:lnTo>
                <a:lnTo>
                  <a:pt x="31750" y="276098"/>
                </a:lnTo>
                <a:lnTo>
                  <a:pt x="31750" y="263398"/>
                </a:lnTo>
                <a:close/>
              </a:path>
              <a:path w="76200" h="339725">
                <a:moveTo>
                  <a:pt x="44450" y="0"/>
                </a:moveTo>
                <a:lnTo>
                  <a:pt x="31750" y="0"/>
                </a:lnTo>
                <a:lnTo>
                  <a:pt x="31750" y="276098"/>
                </a:lnTo>
                <a:lnTo>
                  <a:pt x="44450" y="276098"/>
                </a:lnTo>
                <a:lnTo>
                  <a:pt x="44450" y="0"/>
                </a:lnTo>
                <a:close/>
              </a:path>
              <a:path w="76200" h="339725">
                <a:moveTo>
                  <a:pt x="76200" y="263398"/>
                </a:moveTo>
                <a:lnTo>
                  <a:pt x="44450" y="263398"/>
                </a:lnTo>
                <a:lnTo>
                  <a:pt x="44450" y="276098"/>
                </a:lnTo>
                <a:lnTo>
                  <a:pt x="69850" y="276098"/>
                </a:lnTo>
                <a:lnTo>
                  <a:pt x="76200" y="26339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9" name="object 23">
            <a:extLst>
              <a:ext uri="{FF2B5EF4-FFF2-40B4-BE49-F238E27FC236}">
                <a16:creationId xmlns:a16="http://schemas.microsoft.com/office/drawing/2014/main" id="{D8844A5D-5AE3-CF74-7E22-352892C6DB55}"/>
              </a:ext>
            </a:extLst>
          </p:cNvPr>
          <p:cNvSpPr txBox="1"/>
          <p:nvPr/>
        </p:nvSpPr>
        <p:spPr>
          <a:xfrm>
            <a:off x="6605143" y="5505094"/>
            <a:ext cx="766445" cy="299720"/>
          </a:xfrm>
          <a:prstGeom prst="rect">
            <a:avLst/>
          </a:prstGeom>
        </p:spPr>
        <p:txBody>
          <a:bodyPr vert="horz" wrap="square" lIns="0" tIns="12700" rIns="0" bIns="0" rtlCol="0">
            <a:spAutoFit/>
          </a:bodyPr>
          <a:lstStyle/>
          <a:p>
            <a:pPr marL="12700" rtl="0">
              <a:spcBef>
                <a:spcPts val="100"/>
              </a:spcBef>
            </a:pPr>
            <a:r>
              <a:rPr kern="1200" spc="-10" dirty="0">
                <a:solidFill>
                  <a:prstClr val="black"/>
                </a:solidFill>
                <a:latin typeface="Palatino Linotype"/>
                <a:cs typeface="Palatino Linotype"/>
              </a:rPr>
              <a:t>Output</a:t>
            </a:r>
            <a:endParaRPr kern="1200">
              <a:solidFill>
                <a:prstClr val="black"/>
              </a:solidFill>
              <a:latin typeface="Palatino Linotype"/>
              <a:cs typeface="Palatino Linotype"/>
            </a:endParaRPr>
          </a:p>
        </p:txBody>
      </p:sp>
      <p:sp>
        <p:nvSpPr>
          <p:cNvPr id="50" name="object 24">
            <a:extLst>
              <a:ext uri="{FF2B5EF4-FFF2-40B4-BE49-F238E27FC236}">
                <a16:creationId xmlns:a16="http://schemas.microsoft.com/office/drawing/2014/main" id="{6C61F6D1-6594-861A-9D64-979B819C20C9}"/>
              </a:ext>
            </a:extLst>
          </p:cNvPr>
          <p:cNvSpPr/>
          <p:nvPr/>
        </p:nvSpPr>
        <p:spPr>
          <a:xfrm>
            <a:off x="6949440" y="5154167"/>
            <a:ext cx="76200" cy="331470"/>
          </a:xfrm>
          <a:custGeom>
            <a:avLst/>
            <a:gdLst/>
            <a:ahLst/>
            <a:cxnLst/>
            <a:rect l="l" t="t" r="r" b="b"/>
            <a:pathLst>
              <a:path w="76200" h="331470">
                <a:moveTo>
                  <a:pt x="31750" y="255142"/>
                </a:moveTo>
                <a:lnTo>
                  <a:pt x="0" y="255142"/>
                </a:lnTo>
                <a:lnTo>
                  <a:pt x="38100" y="331342"/>
                </a:lnTo>
                <a:lnTo>
                  <a:pt x="69850" y="267842"/>
                </a:lnTo>
                <a:lnTo>
                  <a:pt x="31750" y="267842"/>
                </a:lnTo>
                <a:lnTo>
                  <a:pt x="31750" y="255142"/>
                </a:lnTo>
                <a:close/>
              </a:path>
              <a:path w="76200" h="331470">
                <a:moveTo>
                  <a:pt x="44450" y="0"/>
                </a:moveTo>
                <a:lnTo>
                  <a:pt x="31750" y="0"/>
                </a:lnTo>
                <a:lnTo>
                  <a:pt x="31750" y="267842"/>
                </a:lnTo>
                <a:lnTo>
                  <a:pt x="44450" y="267842"/>
                </a:lnTo>
                <a:lnTo>
                  <a:pt x="44450" y="0"/>
                </a:lnTo>
                <a:close/>
              </a:path>
              <a:path w="76200" h="331470">
                <a:moveTo>
                  <a:pt x="76200" y="255142"/>
                </a:moveTo>
                <a:lnTo>
                  <a:pt x="44450" y="255142"/>
                </a:lnTo>
                <a:lnTo>
                  <a:pt x="44450" y="267842"/>
                </a:lnTo>
                <a:lnTo>
                  <a:pt x="69850" y="267842"/>
                </a:lnTo>
                <a:lnTo>
                  <a:pt x="76200" y="255142"/>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灯片编号占位符 1">
            <a:extLst>
              <a:ext uri="{FF2B5EF4-FFF2-40B4-BE49-F238E27FC236}">
                <a16:creationId xmlns:a16="http://schemas.microsoft.com/office/drawing/2014/main" id="{5D55692C-4290-8723-B09D-D7C68F6027C7}"/>
              </a:ext>
            </a:extLst>
          </p:cNvPr>
          <p:cNvSpPr>
            <a:spLocks noGrp="1"/>
          </p:cNvSpPr>
          <p:nvPr>
            <p:ph type="sldNum" sz="quarter" idx="12"/>
          </p:nvPr>
        </p:nvSpPr>
        <p:spPr/>
        <p:txBody>
          <a:bodyPr/>
          <a:lstStyle/>
          <a:p>
            <a:pPr>
              <a:defRPr/>
            </a:pPr>
            <a:fld id="{2FBC720A-3716-234A-B2DF-CBC7E48049F5}" type="slidenum">
              <a:rPr lang="en-US" altLang="zh-CN" smtClean="0"/>
              <a:t>41</a:t>
            </a:fld>
            <a:endParaRPr lang="en-US" altLang="zh-CN"/>
          </a:p>
        </p:txBody>
      </p:sp>
    </p:spTree>
    <p:extLst>
      <p:ext uri="{BB962C8B-B14F-4D97-AF65-F5344CB8AC3E}">
        <p14:creationId xmlns:p14="http://schemas.microsoft.com/office/powerpoint/2010/main" val="1723712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0" name="object 2">
            <a:extLst>
              <a:ext uri="{FF2B5EF4-FFF2-40B4-BE49-F238E27FC236}">
                <a16:creationId xmlns:a16="http://schemas.microsoft.com/office/drawing/2014/main" id="{CB7237F4-8C9D-CC4C-C939-AB574AD1F8AF}"/>
              </a:ext>
            </a:extLst>
          </p:cNvPr>
          <p:cNvSpPr txBox="1">
            <a:spLocks/>
          </p:cNvSpPr>
          <p:nvPr/>
        </p:nvSpPr>
        <p:spPr>
          <a:xfrm>
            <a:off x="707542" y="520141"/>
            <a:ext cx="608076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Compilers vs.</a:t>
            </a:r>
            <a:r>
              <a:rPr kumimoji="0" lang="en-US" sz="4000" b="1" i="0" u="none" strike="noStrike" kern="0" cap="none" spc="-3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Interpreters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1" name="object 3">
            <a:extLst>
              <a:ext uri="{FF2B5EF4-FFF2-40B4-BE49-F238E27FC236}">
                <a16:creationId xmlns:a16="http://schemas.microsoft.com/office/drawing/2014/main" id="{0D937BBD-EA78-FF59-6F3B-2B236BA7A214}"/>
              </a:ext>
            </a:extLst>
          </p:cNvPr>
          <p:cNvSpPr/>
          <p:nvPr/>
        </p:nvSpPr>
        <p:spPr>
          <a:xfrm>
            <a:off x="728472" y="1804416"/>
            <a:ext cx="7687309" cy="1737360"/>
          </a:xfrm>
          <a:custGeom>
            <a:avLst/>
            <a:gdLst/>
            <a:ahLst/>
            <a:cxnLst/>
            <a:rect l="l" t="t" r="r" b="b"/>
            <a:pathLst>
              <a:path w="7687309" h="1737360">
                <a:moveTo>
                  <a:pt x="0" y="1737360"/>
                </a:moveTo>
                <a:lnTo>
                  <a:pt x="7687056" y="1737360"/>
                </a:lnTo>
                <a:lnTo>
                  <a:pt x="7687056" y="0"/>
                </a:lnTo>
                <a:lnTo>
                  <a:pt x="0" y="0"/>
                </a:lnTo>
                <a:lnTo>
                  <a:pt x="0" y="173736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4">
            <a:extLst>
              <a:ext uri="{FF2B5EF4-FFF2-40B4-BE49-F238E27FC236}">
                <a16:creationId xmlns:a16="http://schemas.microsoft.com/office/drawing/2014/main" id="{DD6E4812-D3C1-48F6-793D-4DFAE2C40F74}"/>
              </a:ext>
            </a:extLst>
          </p:cNvPr>
          <p:cNvSpPr/>
          <p:nvPr/>
        </p:nvSpPr>
        <p:spPr>
          <a:xfrm>
            <a:off x="728472" y="1804416"/>
            <a:ext cx="7687309" cy="1737360"/>
          </a:xfrm>
          <a:custGeom>
            <a:avLst/>
            <a:gdLst/>
            <a:ahLst/>
            <a:cxnLst/>
            <a:rect l="l" t="t" r="r" b="b"/>
            <a:pathLst>
              <a:path w="7687309" h="1737360">
                <a:moveTo>
                  <a:pt x="0" y="1737360"/>
                </a:moveTo>
                <a:lnTo>
                  <a:pt x="7687056" y="1737360"/>
                </a:lnTo>
                <a:lnTo>
                  <a:pt x="7687056" y="0"/>
                </a:lnTo>
                <a:lnTo>
                  <a:pt x="0" y="0"/>
                </a:lnTo>
                <a:lnTo>
                  <a:pt x="0" y="173736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5">
            <a:extLst>
              <a:ext uri="{FF2B5EF4-FFF2-40B4-BE49-F238E27FC236}">
                <a16:creationId xmlns:a16="http://schemas.microsoft.com/office/drawing/2014/main" id="{063ED119-FE36-755D-F907-375152A35D67}"/>
              </a:ext>
            </a:extLst>
          </p:cNvPr>
          <p:cNvSpPr txBox="1"/>
          <p:nvPr/>
        </p:nvSpPr>
        <p:spPr>
          <a:xfrm>
            <a:off x="1147368" y="1801114"/>
            <a:ext cx="6496685" cy="683895"/>
          </a:xfrm>
          <a:prstGeom prst="rect">
            <a:avLst/>
          </a:prstGeom>
        </p:spPr>
        <p:txBody>
          <a:bodyPr vert="horz" wrap="square" lIns="0" tIns="12700" rIns="0" bIns="0" rtlCol="0">
            <a:spAutoFit/>
          </a:bodyPr>
          <a:lstStyle/>
          <a:p>
            <a:pPr marL="12700" marR="5080" rtl="0">
              <a:lnSpc>
                <a:spcPct val="120000"/>
              </a:lnSpc>
              <a:spcBef>
                <a:spcPts val="100"/>
              </a:spcBef>
            </a:pPr>
            <a:r>
              <a:rPr kern="1200" dirty="0">
                <a:solidFill>
                  <a:srgbClr val="FF0000"/>
                </a:solidFill>
                <a:latin typeface="Palatino Linotype"/>
                <a:cs typeface="Palatino Linotype"/>
              </a:rPr>
              <a:t>Interpreters often </a:t>
            </a:r>
            <a:r>
              <a:rPr kern="1200" spc="-5" dirty="0">
                <a:solidFill>
                  <a:srgbClr val="FF0000"/>
                </a:solidFill>
                <a:latin typeface="Palatino Linotype"/>
                <a:cs typeface="Palatino Linotype"/>
              </a:rPr>
              <a:t>take </a:t>
            </a:r>
            <a:r>
              <a:rPr kern="1200" dirty="0">
                <a:solidFill>
                  <a:srgbClr val="FF0000"/>
                </a:solidFill>
                <a:latin typeface="Palatino Linotype"/>
                <a:cs typeface="Palatino Linotype"/>
              </a:rPr>
              <a:t>less </a:t>
            </a:r>
            <a:r>
              <a:rPr kern="1200" spc="-5" dirty="0">
                <a:solidFill>
                  <a:srgbClr val="FF0000"/>
                </a:solidFill>
                <a:latin typeface="Palatino Linotype"/>
                <a:cs typeface="Palatino Linotype"/>
              </a:rPr>
              <a:t>time to </a:t>
            </a:r>
            <a:r>
              <a:rPr kern="1200" dirty="0">
                <a:solidFill>
                  <a:srgbClr val="FF0000"/>
                </a:solidFill>
                <a:latin typeface="Palatino Linotype"/>
                <a:cs typeface="Palatino Linotype"/>
              </a:rPr>
              <a:t>analyze </a:t>
            </a:r>
            <a:r>
              <a:rPr kern="1200" spc="-5" dirty="0">
                <a:solidFill>
                  <a:srgbClr val="FF0000"/>
                </a:solidFill>
                <a:latin typeface="Palatino Linotype"/>
                <a:cs typeface="Palatino Linotype"/>
              </a:rPr>
              <a:t>the source </a:t>
            </a:r>
            <a:r>
              <a:rPr kern="1200" dirty="0">
                <a:solidFill>
                  <a:srgbClr val="FF0000"/>
                </a:solidFill>
                <a:latin typeface="Palatino Linotype"/>
                <a:cs typeface="Palatino Linotype"/>
              </a:rPr>
              <a:t>code</a:t>
            </a:r>
            <a:r>
              <a:rPr kern="1200" dirty="0">
                <a:solidFill>
                  <a:srgbClr val="0030CC"/>
                </a:solidFill>
                <a:latin typeface="Palatino Linotype"/>
                <a:cs typeface="Palatino Linotype"/>
              </a:rPr>
              <a:t>: </a:t>
            </a:r>
            <a:r>
              <a:rPr kern="1200" spc="-5" dirty="0">
                <a:solidFill>
                  <a:srgbClr val="0030CC"/>
                </a:solidFill>
                <a:latin typeface="Palatino Linotype"/>
                <a:cs typeface="Palatino Linotype"/>
              </a:rPr>
              <a:t>they  simply parse </a:t>
            </a:r>
            <a:r>
              <a:rPr kern="1200" dirty="0">
                <a:solidFill>
                  <a:srgbClr val="0030CC"/>
                </a:solidFill>
                <a:latin typeface="Palatino Linotype"/>
                <a:cs typeface="Palatino Linotype"/>
              </a:rPr>
              <a:t>each statement and execute it </a:t>
            </a:r>
            <a:r>
              <a:rPr kern="1200" spc="-5" dirty="0">
                <a:solidFill>
                  <a:srgbClr val="0030CC"/>
                </a:solidFill>
                <a:latin typeface="Palatino Linotype"/>
                <a:cs typeface="Palatino Linotype"/>
              </a:rPr>
              <a:t>(e.g., </a:t>
            </a:r>
            <a:r>
              <a:rPr kern="1200" dirty="0">
                <a:solidFill>
                  <a:srgbClr val="0030CC"/>
                </a:solidFill>
                <a:latin typeface="Palatino Linotype"/>
                <a:cs typeface="Palatino Linotype"/>
              </a:rPr>
              <a:t>Python</a:t>
            </a:r>
            <a:r>
              <a:rPr kern="1200" spc="-35" dirty="0">
                <a:solidFill>
                  <a:srgbClr val="0030CC"/>
                </a:solidFill>
                <a:latin typeface="Palatino Linotype"/>
                <a:cs typeface="Palatino Linotype"/>
              </a:rPr>
              <a:t> </a:t>
            </a:r>
            <a:r>
              <a:rPr kern="1200" dirty="0">
                <a:solidFill>
                  <a:srgbClr val="0030CC"/>
                </a:solidFill>
                <a:latin typeface="Palatino Linotype"/>
                <a:cs typeface="Palatino Linotype"/>
              </a:rPr>
              <a:t>code).</a:t>
            </a:r>
            <a:endParaRPr kern="1200">
              <a:solidFill>
                <a:prstClr val="black"/>
              </a:solidFill>
              <a:latin typeface="Palatino Linotype"/>
              <a:cs typeface="Palatino Linotype"/>
            </a:endParaRPr>
          </a:p>
        </p:txBody>
      </p:sp>
      <p:sp>
        <p:nvSpPr>
          <p:cNvPr id="24" name="object 6">
            <a:extLst>
              <a:ext uri="{FF2B5EF4-FFF2-40B4-BE49-F238E27FC236}">
                <a16:creationId xmlns:a16="http://schemas.microsoft.com/office/drawing/2014/main" id="{018ACE0B-D478-3250-1046-9826BBD4B47D}"/>
              </a:ext>
            </a:extLst>
          </p:cNvPr>
          <p:cNvSpPr txBox="1"/>
          <p:nvPr/>
        </p:nvSpPr>
        <p:spPr>
          <a:xfrm>
            <a:off x="1147368" y="2688463"/>
            <a:ext cx="6878320" cy="683895"/>
          </a:xfrm>
          <a:prstGeom prst="rect">
            <a:avLst/>
          </a:prstGeom>
        </p:spPr>
        <p:txBody>
          <a:bodyPr vert="horz" wrap="square" lIns="0" tIns="12700" rIns="0" bIns="0" rtlCol="0">
            <a:spAutoFit/>
          </a:bodyPr>
          <a:lstStyle/>
          <a:p>
            <a:pPr marL="12700" marR="5080" rtl="0">
              <a:lnSpc>
                <a:spcPct val="120000"/>
              </a:lnSpc>
              <a:spcBef>
                <a:spcPts val="100"/>
              </a:spcBef>
            </a:pPr>
            <a:r>
              <a:rPr kern="1200" dirty="0">
                <a:solidFill>
                  <a:srgbClr val="0030CC"/>
                </a:solidFill>
                <a:latin typeface="Palatino Linotype"/>
                <a:cs typeface="Palatino Linotype"/>
              </a:rPr>
              <a:t>In </a:t>
            </a:r>
            <a:r>
              <a:rPr kern="1200" spc="-5" dirty="0">
                <a:solidFill>
                  <a:srgbClr val="0030CC"/>
                </a:solidFill>
                <a:latin typeface="Palatino Linotype"/>
                <a:cs typeface="Palatino Linotype"/>
              </a:rPr>
              <a:t>comparison, compilers typically </a:t>
            </a:r>
            <a:r>
              <a:rPr kern="1200" dirty="0">
                <a:solidFill>
                  <a:srgbClr val="0030CC"/>
                </a:solidFill>
                <a:latin typeface="Palatino Linotype"/>
                <a:cs typeface="Palatino Linotype"/>
              </a:rPr>
              <a:t>analyze </a:t>
            </a:r>
            <a:r>
              <a:rPr kern="1200" spc="-5" dirty="0">
                <a:solidFill>
                  <a:srgbClr val="0030CC"/>
                </a:solidFill>
                <a:latin typeface="Palatino Linotype"/>
                <a:cs typeface="Palatino Linotype"/>
              </a:rPr>
              <a:t>the </a:t>
            </a:r>
            <a:r>
              <a:rPr kern="1200" dirty="0">
                <a:solidFill>
                  <a:srgbClr val="0030CC"/>
                </a:solidFill>
                <a:latin typeface="Palatino Linotype"/>
                <a:cs typeface="Palatino Linotype"/>
              </a:rPr>
              <a:t>relationships </a:t>
            </a:r>
            <a:r>
              <a:rPr kern="1200" spc="-5" dirty="0">
                <a:solidFill>
                  <a:srgbClr val="0030CC"/>
                </a:solidFill>
                <a:latin typeface="Palatino Linotype"/>
                <a:cs typeface="Palatino Linotype"/>
              </a:rPr>
              <a:t>among  </a:t>
            </a:r>
            <a:r>
              <a:rPr kern="1200" dirty="0">
                <a:solidFill>
                  <a:srgbClr val="0030CC"/>
                </a:solidFill>
                <a:latin typeface="Palatino Linotype"/>
                <a:cs typeface="Palatino Linotype"/>
              </a:rPr>
              <a:t>statements </a:t>
            </a:r>
            <a:r>
              <a:rPr kern="1200" spc="-5" dirty="0">
                <a:solidFill>
                  <a:srgbClr val="0030CC"/>
                </a:solidFill>
                <a:latin typeface="Palatino Linotype"/>
                <a:cs typeface="Palatino Linotype"/>
              </a:rPr>
              <a:t>(e.g., control </a:t>
            </a:r>
            <a:r>
              <a:rPr kern="1200" dirty="0">
                <a:solidFill>
                  <a:srgbClr val="0030CC"/>
                </a:solidFill>
                <a:latin typeface="Palatino Linotype"/>
                <a:cs typeface="Palatino Linotype"/>
              </a:rPr>
              <a:t>and data flows) to enable</a:t>
            </a:r>
            <a:r>
              <a:rPr kern="1200" spc="-15" dirty="0">
                <a:solidFill>
                  <a:srgbClr val="0030CC"/>
                </a:solidFill>
                <a:latin typeface="Palatino Linotype"/>
                <a:cs typeface="Palatino Linotype"/>
              </a:rPr>
              <a:t> </a:t>
            </a:r>
            <a:r>
              <a:rPr kern="1200" dirty="0">
                <a:solidFill>
                  <a:srgbClr val="0030CC"/>
                </a:solidFill>
                <a:latin typeface="Palatino Linotype"/>
                <a:cs typeface="Palatino Linotype"/>
              </a:rPr>
              <a:t>optimizations.</a:t>
            </a:r>
            <a:endParaRPr kern="1200">
              <a:solidFill>
                <a:prstClr val="black"/>
              </a:solidFill>
              <a:latin typeface="Palatino Linotype"/>
              <a:cs typeface="Palatino Linotype"/>
            </a:endParaRPr>
          </a:p>
        </p:txBody>
      </p:sp>
      <p:sp>
        <p:nvSpPr>
          <p:cNvPr id="25" name="object 7">
            <a:extLst>
              <a:ext uri="{FF2B5EF4-FFF2-40B4-BE49-F238E27FC236}">
                <a16:creationId xmlns:a16="http://schemas.microsoft.com/office/drawing/2014/main" id="{A77B74EC-2004-85D4-21E2-2D250CB0C5F1}"/>
              </a:ext>
            </a:extLst>
          </p:cNvPr>
          <p:cNvSpPr/>
          <p:nvPr/>
        </p:nvSpPr>
        <p:spPr>
          <a:xfrm>
            <a:off x="728472" y="3893820"/>
            <a:ext cx="7687309" cy="1737360"/>
          </a:xfrm>
          <a:custGeom>
            <a:avLst/>
            <a:gdLst/>
            <a:ahLst/>
            <a:cxnLst/>
            <a:rect l="l" t="t" r="r" b="b"/>
            <a:pathLst>
              <a:path w="7687309" h="1737360">
                <a:moveTo>
                  <a:pt x="0" y="1737359"/>
                </a:moveTo>
                <a:lnTo>
                  <a:pt x="7687056" y="1737359"/>
                </a:lnTo>
                <a:lnTo>
                  <a:pt x="7687056" y="0"/>
                </a:lnTo>
                <a:lnTo>
                  <a:pt x="0" y="0"/>
                </a:lnTo>
                <a:lnTo>
                  <a:pt x="0" y="1737359"/>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8">
            <a:extLst>
              <a:ext uri="{FF2B5EF4-FFF2-40B4-BE49-F238E27FC236}">
                <a16:creationId xmlns:a16="http://schemas.microsoft.com/office/drawing/2014/main" id="{658FB49B-9F2B-7EB8-996C-BE7990AB8B0B}"/>
              </a:ext>
            </a:extLst>
          </p:cNvPr>
          <p:cNvSpPr/>
          <p:nvPr/>
        </p:nvSpPr>
        <p:spPr>
          <a:xfrm>
            <a:off x="728472" y="3893820"/>
            <a:ext cx="7687309" cy="1737360"/>
          </a:xfrm>
          <a:custGeom>
            <a:avLst/>
            <a:gdLst/>
            <a:ahLst/>
            <a:cxnLst/>
            <a:rect l="l" t="t" r="r" b="b"/>
            <a:pathLst>
              <a:path w="7687309" h="1737360">
                <a:moveTo>
                  <a:pt x="0" y="1737359"/>
                </a:moveTo>
                <a:lnTo>
                  <a:pt x="7687056" y="1737359"/>
                </a:lnTo>
                <a:lnTo>
                  <a:pt x="7687056" y="0"/>
                </a:lnTo>
                <a:lnTo>
                  <a:pt x="0" y="0"/>
                </a:lnTo>
                <a:lnTo>
                  <a:pt x="0" y="1737359"/>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9">
            <a:extLst>
              <a:ext uri="{FF2B5EF4-FFF2-40B4-BE49-F238E27FC236}">
                <a16:creationId xmlns:a16="http://schemas.microsoft.com/office/drawing/2014/main" id="{9479FA52-2B16-9EBF-2A1C-9045CF50D608}"/>
              </a:ext>
            </a:extLst>
          </p:cNvPr>
          <p:cNvSpPr txBox="1"/>
          <p:nvPr/>
        </p:nvSpPr>
        <p:spPr>
          <a:xfrm>
            <a:off x="1147368" y="3890645"/>
            <a:ext cx="6971030" cy="684530"/>
          </a:xfrm>
          <a:prstGeom prst="rect">
            <a:avLst/>
          </a:prstGeom>
        </p:spPr>
        <p:txBody>
          <a:bodyPr vert="horz" wrap="square" lIns="0" tIns="12700" rIns="0" bIns="0" rtlCol="0">
            <a:spAutoFit/>
          </a:bodyPr>
          <a:lstStyle/>
          <a:p>
            <a:pPr marL="12700" marR="5080" rtl="0">
              <a:lnSpc>
                <a:spcPct val="120100"/>
              </a:lnSpc>
              <a:spcBef>
                <a:spcPts val="100"/>
              </a:spcBef>
            </a:pPr>
            <a:r>
              <a:rPr kern="1200" dirty="0">
                <a:solidFill>
                  <a:srgbClr val="FF0000"/>
                </a:solidFill>
                <a:latin typeface="Palatino Linotype"/>
                <a:cs typeface="Palatino Linotype"/>
              </a:rPr>
              <a:t>Interpreters </a:t>
            </a:r>
            <a:r>
              <a:rPr kern="1200" spc="-5" dirty="0">
                <a:solidFill>
                  <a:srgbClr val="FF0000"/>
                </a:solidFill>
                <a:latin typeface="Palatino Linotype"/>
                <a:cs typeface="Palatino Linotype"/>
              </a:rPr>
              <a:t>continue </a:t>
            </a:r>
            <a:r>
              <a:rPr kern="1200" dirty="0">
                <a:solidFill>
                  <a:srgbClr val="FF0000"/>
                </a:solidFill>
                <a:latin typeface="Palatino Linotype"/>
                <a:cs typeface="Palatino Linotype"/>
              </a:rPr>
              <a:t>executing a </a:t>
            </a:r>
            <a:r>
              <a:rPr kern="1200" spc="-5" dirty="0">
                <a:solidFill>
                  <a:srgbClr val="FF0000"/>
                </a:solidFill>
                <a:latin typeface="Palatino Linotype"/>
                <a:cs typeface="Palatino Linotype"/>
              </a:rPr>
              <a:t>program until the </a:t>
            </a:r>
            <a:r>
              <a:rPr kern="1200" dirty="0">
                <a:solidFill>
                  <a:srgbClr val="FF0000"/>
                </a:solidFill>
                <a:latin typeface="Palatino Linotype"/>
                <a:cs typeface="Palatino Linotype"/>
              </a:rPr>
              <a:t>first </a:t>
            </a:r>
            <a:r>
              <a:rPr kern="1200" spc="-5" dirty="0">
                <a:solidFill>
                  <a:srgbClr val="FF0000"/>
                </a:solidFill>
                <a:latin typeface="Palatino Linotype"/>
                <a:cs typeface="Palatino Linotype"/>
              </a:rPr>
              <a:t>error </a:t>
            </a:r>
            <a:r>
              <a:rPr kern="1200" dirty="0">
                <a:solidFill>
                  <a:srgbClr val="FF0000"/>
                </a:solidFill>
                <a:latin typeface="Palatino Linotype"/>
                <a:cs typeface="Palatino Linotype"/>
              </a:rPr>
              <a:t>is </a:t>
            </a:r>
            <a:r>
              <a:rPr kern="1200" spc="5" dirty="0">
                <a:solidFill>
                  <a:srgbClr val="FF0000"/>
                </a:solidFill>
                <a:latin typeface="Palatino Linotype"/>
                <a:cs typeface="Palatino Linotype"/>
              </a:rPr>
              <a:t>met</a:t>
            </a:r>
            <a:r>
              <a:rPr kern="1200" spc="5" dirty="0">
                <a:solidFill>
                  <a:srgbClr val="0030CC"/>
                </a:solidFill>
                <a:latin typeface="Palatino Linotype"/>
                <a:cs typeface="Palatino Linotype"/>
              </a:rPr>
              <a:t>,  </a:t>
            </a:r>
            <a:r>
              <a:rPr kern="1200" spc="-5" dirty="0">
                <a:solidFill>
                  <a:srgbClr val="0030CC"/>
                </a:solidFill>
                <a:latin typeface="Palatino Linotype"/>
                <a:cs typeface="Palatino Linotype"/>
              </a:rPr>
              <a:t>in </a:t>
            </a:r>
            <a:r>
              <a:rPr kern="1200" dirty="0">
                <a:solidFill>
                  <a:srgbClr val="0030CC"/>
                </a:solidFill>
                <a:latin typeface="Palatino Linotype"/>
                <a:cs typeface="Palatino Linotype"/>
              </a:rPr>
              <a:t>which case </a:t>
            </a:r>
            <a:r>
              <a:rPr kern="1200" spc="-5" dirty="0">
                <a:solidFill>
                  <a:srgbClr val="0030CC"/>
                </a:solidFill>
                <a:latin typeface="Palatino Linotype"/>
                <a:cs typeface="Palatino Linotype"/>
              </a:rPr>
              <a:t>they</a:t>
            </a:r>
            <a:r>
              <a:rPr kern="1200" dirty="0">
                <a:solidFill>
                  <a:srgbClr val="0030CC"/>
                </a:solidFill>
                <a:latin typeface="Palatino Linotype"/>
                <a:cs typeface="Palatino Linotype"/>
              </a:rPr>
              <a:t> stop.</a:t>
            </a:r>
            <a:endParaRPr kern="1200">
              <a:solidFill>
                <a:prstClr val="black"/>
              </a:solidFill>
              <a:latin typeface="Palatino Linotype"/>
              <a:cs typeface="Palatino Linotype"/>
            </a:endParaRPr>
          </a:p>
        </p:txBody>
      </p:sp>
      <p:sp>
        <p:nvSpPr>
          <p:cNvPr id="28" name="object 10">
            <a:extLst>
              <a:ext uri="{FF2B5EF4-FFF2-40B4-BE49-F238E27FC236}">
                <a16:creationId xmlns:a16="http://schemas.microsoft.com/office/drawing/2014/main" id="{5D9FFAEE-B2C9-47B1-ABF6-5D229D33068E}"/>
              </a:ext>
            </a:extLst>
          </p:cNvPr>
          <p:cNvSpPr txBox="1"/>
          <p:nvPr/>
        </p:nvSpPr>
        <p:spPr>
          <a:xfrm>
            <a:off x="1147368" y="4778121"/>
            <a:ext cx="6956425" cy="683895"/>
          </a:xfrm>
          <a:prstGeom prst="rect">
            <a:avLst/>
          </a:prstGeom>
        </p:spPr>
        <p:txBody>
          <a:bodyPr vert="horz" wrap="square" lIns="0" tIns="12700" rIns="0" bIns="0" rtlCol="0">
            <a:spAutoFit/>
          </a:bodyPr>
          <a:lstStyle/>
          <a:p>
            <a:pPr marL="12700" marR="5080" rtl="0">
              <a:lnSpc>
                <a:spcPct val="120000"/>
              </a:lnSpc>
              <a:spcBef>
                <a:spcPts val="100"/>
              </a:spcBef>
            </a:pPr>
            <a:r>
              <a:rPr kern="1200" spc="-5" dirty="0">
                <a:solidFill>
                  <a:srgbClr val="0030CC"/>
                </a:solidFill>
                <a:latin typeface="Palatino Linotype"/>
                <a:cs typeface="Palatino Linotype"/>
              </a:rPr>
              <a:t>For compiled languages, programs </a:t>
            </a:r>
            <a:r>
              <a:rPr kern="1200" dirty="0">
                <a:solidFill>
                  <a:srgbClr val="0030CC"/>
                </a:solidFill>
                <a:latin typeface="Palatino Linotype"/>
                <a:cs typeface="Palatino Linotype"/>
              </a:rPr>
              <a:t>are </a:t>
            </a:r>
            <a:r>
              <a:rPr kern="1200" spc="-5" dirty="0">
                <a:solidFill>
                  <a:srgbClr val="0030CC"/>
                </a:solidFill>
                <a:latin typeface="Palatino Linotype"/>
                <a:cs typeface="Palatino Linotype"/>
              </a:rPr>
              <a:t>executable </a:t>
            </a:r>
            <a:r>
              <a:rPr kern="1200" dirty="0">
                <a:solidFill>
                  <a:srgbClr val="0030CC"/>
                </a:solidFill>
                <a:latin typeface="Palatino Linotype"/>
                <a:cs typeface="Palatino Linotype"/>
              </a:rPr>
              <a:t>only after </a:t>
            </a:r>
            <a:r>
              <a:rPr kern="1200" spc="-5" dirty="0">
                <a:solidFill>
                  <a:srgbClr val="0030CC"/>
                </a:solidFill>
                <a:latin typeface="Palatino Linotype"/>
                <a:cs typeface="Palatino Linotype"/>
              </a:rPr>
              <a:t>they </a:t>
            </a:r>
            <a:r>
              <a:rPr kern="1200" dirty="0">
                <a:solidFill>
                  <a:srgbClr val="0030CC"/>
                </a:solidFill>
                <a:latin typeface="Palatino Linotype"/>
                <a:cs typeface="Palatino Linotype"/>
              </a:rPr>
              <a:t>are  </a:t>
            </a:r>
            <a:r>
              <a:rPr kern="1200" spc="-5" dirty="0">
                <a:solidFill>
                  <a:srgbClr val="0030CC"/>
                </a:solidFill>
                <a:latin typeface="Palatino Linotype"/>
                <a:cs typeface="Palatino Linotype"/>
              </a:rPr>
              <a:t>successfully</a:t>
            </a:r>
            <a:r>
              <a:rPr kern="1200" spc="-25" dirty="0">
                <a:solidFill>
                  <a:srgbClr val="0030CC"/>
                </a:solidFill>
                <a:latin typeface="Palatino Linotype"/>
                <a:cs typeface="Palatino Linotype"/>
              </a:rPr>
              <a:t> </a:t>
            </a:r>
            <a:r>
              <a:rPr kern="1200" spc="-5" dirty="0">
                <a:solidFill>
                  <a:srgbClr val="0030CC"/>
                </a:solidFill>
                <a:latin typeface="Palatino Linotype"/>
                <a:cs typeface="Palatino Linotype"/>
              </a:rPr>
              <a:t>compiled.</a:t>
            </a:r>
            <a:endParaRPr kern="1200">
              <a:solidFill>
                <a:prstClr val="black"/>
              </a:solidFill>
              <a:latin typeface="Palatino Linotype"/>
              <a:cs typeface="Palatino Linotype"/>
            </a:endParaRPr>
          </a:p>
        </p:txBody>
      </p:sp>
      <p:sp>
        <p:nvSpPr>
          <p:cNvPr id="29" name="object 11">
            <a:extLst>
              <a:ext uri="{FF2B5EF4-FFF2-40B4-BE49-F238E27FC236}">
                <a16:creationId xmlns:a16="http://schemas.microsoft.com/office/drawing/2014/main" id="{6ED93624-0C96-0A54-479D-55BC810F2802}"/>
              </a:ext>
            </a:extLst>
          </p:cNvPr>
          <p:cNvSpPr/>
          <p:nvPr/>
        </p:nvSpPr>
        <p:spPr>
          <a:xfrm>
            <a:off x="385572" y="2330195"/>
            <a:ext cx="685800" cy="685800"/>
          </a:xfrm>
          <a:custGeom>
            <a:avLst/>
            <a:gdLst/>
            <a:ahLst/>
            <a:cxnLst/>
            <a:rect l="l" t="t" r="r" b="b"/>
            <a:pathLst>
              <a:path w="685800" h="685800">
                <a:moveTo>
                  <a:pt x="342900" y="0"/>
                </a:moveTo>
                <a:lnTo>
                  <a:pt x="296369" y="3130"/>
                </a:lnTo>
                <a:lnTo>
                  <a:pt x="251742" y="12250"/>
                </a:lnTo>
                <a:lnTo>
                  <a:pt x="209426" y="26949"/>
                </a:lnTo>
                <a:lnTo>
                  <a:pt x="169830" y="46820"/>
                </a:lnTo>
                <a:lnTo>
                  <a:pt x="133362" y="71454"/>
                </a:lnTo>
                <a:lnTo>
                  <a:pt x="100431" y="100441"/>
                </a:lnTo>
                <a:lnTo>
                  <a:pt x="71446" y="133373"/>
                </a:lnTo>
                <a:lnTo>
                  <a:pt x="46815" y="169841"/>
                </a:lnTo>
                <a:lnTo>
                  <a:pt x="26946" y="209436"/>
                </a:lnTo>
                <a:lnTo>
                  <a:pt x="12248" y="251751"/>
                </a:lnTo>
                <a:lnTo>
                  <a:pt x="3130" y="296375"/>
                </a:lnTo>
                <a:lnTo>
                  <a:pt x="0" y="342900"/>
                </a:lnTo>
                <a:lnTo>
                  <a:pt x="3130" y="389424"/>
                </a:lnTo>
                <a:lnTo>
                  <a:pt x="12248" y="434048"/>
                </a:lnTo>
                <a:lnTo>
                  <a:pt x="26946" y="476363"/>
                </a:lnTo>
                <a:lnTo>
                  <a:pt x="46815" y="515958"/>
                </a:lnTo>
                <a:lnTo>
                  <a:pt x="71446" y="552426"/>
                </a:lnTo>
                <a:lnTo>
                  <a:pt x="100431" y="585358"/>
                </a:lnTo>
                <a:lnTo>
                  <a:pt x="133362" y="614345"/>
                </a:lnTo>
                <a:lnTo>
                  <a:pt x="169830" y="638979"/>
                </a:lnTo>
                <a:lnTo>
                  <a:pt x="209426" y="658850"/>
                </a:lnTo>
                <a:lnTo>
                  <a:pt x="251742" y="673549"/>
                </a:lnTo>
                <a:lnTo>
                  <a:pt x="296369" y="682669"/>
                </a:lnTo>
                <a:lnTo>
                  <a:pt x="342900" y="685800"/>
                </a:lnTo>
                <a:lnTo>
                  <a:pt x="389430" y="682669"/>
                </a:lnTo>
                <a:lnTo>
                  <a:pt x="434057" y="673549"/>
                </a:lnTo>
                <a:lnTo>
                  <a:pt x="476373" y="658850"/>
                </a:lnTo>
                <a:lnTo>
                  <a:pt x="515969" y="638979"/>
                </a:lnTo>
                <a:lnTo>
                  <a:pt x="552437" y="614345"/>
                </a:lnTo>
                <a:lnTo>
                  <a:pt x="585368" y="585358"/>
                </a:lnTo>
                <a:lnTo>
                  <a:pt x="614353" y="552426"/>
                </a:lnTo>
                <a:lnTo>
                  <a:pt x="638984" y="515958"/>
                </a:lnTo>
                <a:lnTo>
                  <a:pt x="658853" y="476363"/>
                </a:lnTo>
                <a:lnTo>
                  <a:pt x="673551" y="434048"/>
                </a:lnTo>
                <a:lnTo>
                  <a:pt x="682669" y="389424"/>
                </a:lnTo>
                <a:lnTo>
                  <a:pt x="685800" y="342900"/>
                </a:lnTo>
                <a:lnTo>
                  <a:pt x="682669" y="296375"/>
                </a:lnTo>
                <a:lnTo>
                  <a:pt x="673551" y="251751"/>
                </a:lnTo>
                <a:lnTo>
                  <a:pt x="658853" y="209436"/>
                </a:lnTo>
                <a:lnTo>
                  <a:pt x="638984" y="169841"/>
                </a:lnTo>
                <a:lnTo>
                  <a:pt x="614353" y="133373"/>
                </a:lnTo>
                <a:lnTo>
                  <a:pt x="585368" y="100441"/>
                </a:lnTo>
                <a:lnTo>
                  <a:pt x="552437" y="71454"/>
                </a:lnTo>
                <a:lnTo>
                  <a:pt x="515969" y="46820"/>
                </a:lnTo>
                <a:lnTo>
                  <a:pt x="476373" y="26949"/>
                </a:lnTo>
                <a:lnTo>
                  <a:pt x="434057" y="12250"/>
                </a:lnTo>
                <a:lnTo>
                  <a:pt x="389430" y="3130"/>
                </a:lnTo>
                <a:lnTo>
                  <a:pt x="342900" y="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12">
            <a:extLst>
              <a:ext uri="{FF2B5EF4-FFF2-40B4-BE49-F238E27FC236}">
                <a16:creationId xmlns:a16="http://schemas.microsoft.com/office/drawing/2014/main" id="{726F3F17-B1A4-4F4B-F739-64A2A2B66F8D}"/>
              </a:ext>
            </a:extLst>
          </p:cNvPr>
          <p:cNvSpPr/>
          <p:nvPr/>
        </p:nvSpPr>
        <p:spPr>
          <a:xfrm>
            <a:off x="385572" y="2330195"/>
            <a:ext cx="685800" cy="685800"/>
          </a:xfrm>
          <a:custGeom>
            <a:avLst/>
            <a:gdLst/>
            <a:ahLst/>
            <a:cxnLst/>
            <a:rect l="l" t="t" r="r" b="b"/>
            <a:pathLst>
              <a:path w="685800" h="685800">
                <a:moveTo>
                  <a:pt x="0" y="342900"/>
                </a:moveTo>
                <a:lnTo>
                  <a:pt x="3130" y="296375"/>
                </a:lnTo>
                <a:lnTo>
                  <a:pt x="12248" y="251751"/>
                </a:lnTo>
                <a:lnTo>
                  <a:pt x="26946" y="209436"/>
                </a:lnTo>
                <a:lnTo>
                  <a:pt x="46815" y="169841"/>
                </a:lnTo>
                <a:lnTo>
                  <a:pt x="71446" y="133373"/>
                </a:lnTo>
                <a:lnTo>
                  <a:pt x="100431" y="100441"/>
                </a:lnTo>
                <a:lnTo>
                  <a:pt x="133362" y="71454"/>
                </a:lnTo>
                <a:lnTo>
                  <a:pt x="169830" y="46820"/>
                </a:lnTo>
                <a:lnTo>
                  <a:pt x="209426" y="26949"/>
                </a:lnTo>
                <a:lnTo>
                  <a:pt x="251742" y="12250"/>
                </a:lnTo>
                <a:lnTo>
                  <a:pt x="296369" y="3130"/>
                </a:lnTo>
                <a:lnTo>
                  <a:pt x="342900" y="0"/>
                </a:lnTo>
                <a:lnTo>
                  <a:pt x="389430" y="3130"/>
                </a:lnTo>
                <a:lnTo>
                  <a:pt x="434057" y="12250"/>
                </a:lnTo>
                <a:lnTo>
                  <a:pt x="476373" y="26949"/>
                </a:lnTo>
                <a:lnTo>
                  <a:pt x="515969" y="46820"/>
                </a:lnTo>
                <a:lnTo>
                  <a:pt x="552437" y="71454"/>
                </a:lnTo>
                <a:lnTo>
                  <a:pt x="585368" y="100441"/>
                </a:lnTo>
                <a:lnTo>
                  <a:pt x="614353" y="133373"/>
                </a:lnTo>
                <a:lnTo>
                  <a:pt x="638984" y="169841"/>
                </a:lnTo>
                <a:lnTo>
                  <a:pt x="658853" y="209436"/>
                </a:lnTo>
                <a:lnTo>
                  <a:pt x="673551" y="251751"/>
                </a:lnTo>
                <a:lnTo>
                  <a:pt x="682669" y="296375"/>
                </a:lnTo>
                <a:lnTo>
                  <a:pt x="685800" y="342900"/>
                </a:lnTo>
                <a:lnTo>
                  <a:pt x="682669" y="389424"/>
                </a:lnTo>
                <a:lnTo>
                  <a:pt x="673551" y="434048"/>
                </a:lnTo>
                <a:lnTo>
                  <a:pt x="658853" y="476363"/>
                </a:lnTo>
                <a:lnTo>
                  <a:pt x="638984" y="515958"/>
                </a:lnTo>
                <a:lnTo>
                  <a:pt x="614353" y="552426"/>
                </a:lnTo>
                <a:lnTo>
                  <a:pt x="585368" y="585358"/>
                </a:lnTo>
                <a:lnTo>
                  <a:pt x="552437" y="614345"/>
                </a:lnTo>
                <a:lnTo>
                  <a:pt x="515969" y="638979"/>
                </a:lnTo>
                <a:lnTo>
                  <a:pt x="476373" y="658850"/>
                </a:lnTo>
                <a:lnTo>
                  <a:pt x="434057" y="673549"/>
                </a:lnTo>
                <a:lnTo>
                  <a:pt x="389430" y="682669"/>
                </a:lnTo>
                <a:lnTo>
                  <a:pt x="342900" y="685800"/>
                </a:lnTo>
                <a:lnTo>
                  <a:pt x="296369" y="682669"/>
                </a:lnTo>
                <a:lnTo>
                  <a:pt x="251742" y="673549"/>
                </a:lnTo>
                <a:lnTo>
                  <a:pt x="209426" y="658850"/>
                </a:lnTo>
                <a:lnTo>
                  <a:pt x="169830" y="638979"/>
                </a:lnTo>
                <a:lnTo>
                  <a:pt x="133362" y="614345"/>
                </a:lnTo>
                <a:lnTo>
                  <a:pt x="100431" y="585358"/>
                </a:lnTo>
                <a:lnTo>
                  <a:pt x="71446" y="552426"/>
                </a:lnTo>
                <a:lnTo>
                  <a:pt x="46815" y="515958"/>
                </a:lnTo>
                <a:lnTo>
                  <a:pt x="26946" y="476363"/>
                </a:lnTo>
                <a:lnTo>
                  <a:pt x="12248" y="434048"/>
                </a:lnTo>
                <a:lnTo>
                  <a:pt x="3130" y="389424"/>
                </a:lnTo>
                <a:lnTo>
                  <a:pt x="0" y="342900"/>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13">
            <a:extLst>
              <a:ext uri="{FF2B5EF4-FFF2-40B4-BE49-F238E27FC236}">
                <a16:creationId xmlns:a16="http://schemas.microsoft.com/office/drawing/2014/main" id="{AA9980D8-6AE3-BF38-0CD8-6D83CC9FB9CB}"/>
              </a:ext>
            </a:extLst>
          </p:cNvPr>
          <p:cNvSpPr txBox="1"/>
          <p:nvPr/>
        </p:nvSpPr>
        <p:spPr>
          <a:xfrm>
            <a:off x="625551" y="2425064"/>
            <a:ext cx="203200" cy="452120"/>
          </a:xfrm>
          <a:prstGeom prst="rect">
            <a:avLst/>
          </a:prstGeom>
        </p:spPr>
        <p:txBody>
          <a:bodyPr vert="horz" wrap="square" lIns="0" tIns="12065" rIns="0" bIns="0" rtlCol="0">
            <a:spAutoFit/>
          </a:bodyPr>
          <a:lstStyle/>
          <a:p>
            <a:pPr marL="12700" rtl="0">
              <a:spcBef>
                <a:spcPts val="95"/>
              </a:spcBef>
            </a:pPr>
            <a:r>
              <a:rPr sz="2800" b="1" kern="1200" spc="-5" dirty="0">
                <a:solidFill>
                  <a:srgbClr val="FF0000"/>
                </a:solidFill>
                <a:latin typeface="Palatino Linotype"/>
                <a:cs typeface="Palatino Linotype"/>
              </a:rPr>
              <a:t>2</a:t>
            </a:r>
            <a:endParaRPr sz="2800" kern="1200">
              <a:solidFill>
                <a:prstClr val="black"/>
              </a:solidFill>
              <a:latin typeface="Palatino Linotype"/>
              <a:cs typeface="Palatino Linotype"/>
            </a:endParaRPr>
          </a:p>
        </p:txBody>
      </p:sp>
      <p:sp>
        <p:nvSpPr>
          <p:cNvPr id="32" name="object 14">
            <a:extLst>
              <a:ext uri="{FF2B5EF4-FFF2-40B4-BE49-F238E27FC236}">
                <a16:creationId xmlns:a16="http://schemas.microsoft.com/office/drawing/2014/main" id="{CDA43CE4-AE8D-D1BE-9791-14D497D7C000}"/>
              </a:ext>
            </a:extLst>
          </p:cNvPr>
          <p:cNvSpPr/>
          <p:nvPr/>
        </p:nvSpPr>
        <p:spPr>
          <a:xfrm>
            <a:off x="385572" y="4419600"/>
            <a:ext cx="685800" cy="685800"/>
          </a:xfrm>
          <a:custGeom>
            <a:avLst/>
            <a:gdLst/>
            <a:ahLst/>
            <a:cxnLst/>
            <a:rect l="l" t="t" r="r" b="b"/>
            <a:pathLst>
              <a:path w="685800" h="685800">
                <a:moveTo>
                  <a:pt x="342900" y="0"/>
                </a:moveTo>
                <a:lnTo>
                  <a:pt x="296369" y="3130"/>
                </a:lnTo>
                <a:lnTo>
                  <a:pt x="251742" y="12250"/>
                </a:lnTo>
                <a:lnTo>
                  <a:pt x="209426" y="26949"/>
                </a:lnTo>
                <a:lnTo>
                  <a:pt x="169830" y="46820"/>
                </a:lnTo>
                <a:lnTo>
                  <a:pt x="133362" y="71454"/>
                </a:lnTo>
                <a:lnTo>
                  <a:pt x="100431" y="100441"/>
                </a:lnTo>
                <a:lnTo>
                  <a:pt x="71446" y="133373"/>
                </a:lnTo>
                <a:lnTo>
                  <a:pt x="46815" y="169841"/>
                </a:lnTo>
                <a:lnTo>
                  <a:pt x="26946" y="209436"/>
                </a:lnTo>
                <a:lnTo>
                  <a:pt x="12248" y="251751"/>
                </a:lnTo>
                <a:lnTo>
                  <a:pt x="3130" y="296375"/>
                </a:lnTo>
                <a:lnTo>
                  <a:pt x="0" y="342900"/>
                </a:lnTo>
                <a:lnTo>
                  <a:pt x="3130" y="389424"/>
                </a:lnTo>
                <a:lnTo>
                  <a:pt x="12248" y="434048"/>
                </a:lnTo>
                <a:lnTo>
                  <a:pt x="26946" y="476363"/>
                </a:lnTo>
                <a:lnTo>
                  <a:pt x="46815" y="515958"/>
                </a:lnTo>
                <a:lnTo>
                  <a:pt x="71446" y="552426"/>
                </a:lnTo>
                <a:lnTo>
                  <a:pt x="100431" y="585358"/>
                </a:lnTo>
                <a:lnTo>
                  <a:pt x="133362" y="614345"/>
                </a:lnTo>
                <a:lnTo>
                  <a:pt x="169830" y="638979"/>
                </a:lnTo>
                <a:lnTo>
                  <a:pt x="209426" y="658850"/>
                </a:lnTo>
                <a:lnTo>
                  <a:pt x="251742" y="673549"/>
                </a:lnTo>
                <a:lnTo>
                  <a:pt x="296369" y="682669"/>
                </a:lnTo>
                <a:lnTo>
                  <a:pt x="342900" y="685800"/>
                </a:lnTo>
                <a:lnTo>
                  <a:pt x="389430" y="682669"/>
                </a:lnTo>
                <a:lnTo>
                  <a:pt x="434057" y="673549"/>
                </a:lnTo>
                <a:lnTo>
                  <a:pt x="476373" y="658850"/>
                </a:lnTo>
                <a:lnTo>
                  <a:pt x="515969" y="638979"/>
                </a:lnTo>
                <a:lnTo>
                  <a:pt x="552437" y="614345"/>
                </a:lnTo>
                <a:lnTo>
                  <a:pt x="585368" y="585358"/>
                </a:lnTo>
                <a:lnTo>
                  <a:pt x="614353" y="552426"/>
                </a:lnTo>
                <a:lnTo>
                  <a:pt x="638984" y="515958"/>
                </a:lnTo>
                <a:lnTo>
                  <a:pt x="658853" y="476363"/>
                </a:lnTo>
                <a:lnTo>
                  <a:pt x="673551" y="434048"/>
                </a:lnTo>
                <a:lnTo>
                  <a:pt x="682669" y="389424"/>
                </a:lnTo>
                <a:lnTo>
                  <a:pt x="685800" y="342900"/>
                </a:lnTo>
                <a:lnTo>
                  <a:pt x="682669" y="296375"/>
                </a:lnTo>
                <a:lnTo>
                  <a:pt x="673551" y="251751"/>
                </a:lnTo>
                <a:lnTo>
                  <a:pt x="658853" y="209436"/>
                </a:lnTo>
                <a:lnTo>
                  <a:pt x="638984" y="169841"/>
                </a:lnTo>
                <a:lnTo>
                  <a:pt x="614353" y="133373"/>
                </a:lnTo>
                <a:lnTo>
                  <a:pt x="585368" y="100441"/>
                </a:lnTo>
                <a:lnTo>
                  <a:pt x="552437" y="71454"/>
                </a:lnTo>
                <a:lnTo>
                  <a:pt x="515969" y="46820"/>
                </a:lnTo>
                <a:lnTo>
                  <a:pt x="476373" y="26949"/>
                </a:lnTo>
                <a:lnTo>
                  <a:pt x="434057" y="12250"/>
                </a:lnTo>
                <a:lnTo>
                  <a:pt x="389430" y="3130"/>
                </a:lnTo>
                <a:lnTo>
                  <a:pt x="342900" y="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15">
            <a:extLst>
              <a:ext uri="{FF2B5EF4-FFF2-40B4-BE49-F238E27FC236}">
                <a16:creationId xmlns:a16="http://schemas.microsoft.com/office/drawing/2014/main" id="{74C42007-F5B8-4C64-4711-F0BC32DD96EB}"/>
              </a:ext>
            </a:extLst>
          </p:cNvPr>
          <p:cNvSpPr/>
          <p:nvPr/>
        </p:nvSpPr>
        <p:spPr>
          <a:xfrm>
            <a:off x="385572" y="4419600"/>
            <a:ext cx="685800" cy="685800"/>
          </a:xfrm>
          <a:custGeom>
            <a:avLst/>
            <a:gdLst/>
            <a:ahLst/>
            <a:cxnLst/>
            <a:rect l="l" t="t" r="r" b="b"/>
            <a:pathLst>
              <a:path w="685800" h="685800">
                <a:moveTo>
                  <a:pt x="0" y="342900"/>
                </a:moveTo>
                <a:lnTo>
                  <a:pt x="3130" y="296375"/>
                </a:lnTo>
                <a:lnTo>
                  <a:pt x="12248" y="251751"/>
                </a:lnTo>
                <a:lnTo>
                  <a:pt x="26946" y="209436"/>
                </a:lnTo>
                <a:lnTo>
                  <a:pt x="46815" y="169841"/>
                </a:lnTo>
                <a:lnTo>
                  <a:pt x="71446" y="133373"/>
                </a:lnTo>
                <a:lnTo>
                  <a:pt x="100431" y="100441"/>
                </a:lnTo>
                <a:lnTo>
                  <a:pt x="133362" y="71454"/>
                </a:lnTo>
                <a:lnTo>
                  <a:pt x="169830" y="46820"/>
                </a:lnTo>
                <a:lnTo>
                  <a:pt x="209426" y="26949"/>
                </a:lnTo>
                <a:lnTo>
                  <a:pt x="251742" y="12250"/>
                </a:lnTo>
                <a:lnTo>
                  <a:pt x="296369" y="3130"/>
                </a:lnTo>
                <a:lnTo>
                  <a:pt x="342900" y="0"/>
                </a:lnTo>
                <a:lnTo>
                  <a:pt x="389430" y="3130"/>
                </a:lnTo>
                <a:lnTo>
                  <a:pt x="434057" y="12250"/>
                </a:lnTo>
                <a:lnTo>
                  <a:pt x="476373" y="26949"/>
                </a:lnTo>
                <a:lnTo>
                  <a:pt x="515969" y="46820"/>
                </a:lnTo>
                <a:lnTo>
                  <a:pt x="552437" y="71454"/>
                </a:lnTo>
                <a:lnTo>
                  <a:pt x="585368" y="100441"/>
                </a:lnTo>
                <a:lnTo>
                  <a:pt x="614353" y="133373"/>
                </a:lnTo>
                <a:lnTo>
                  <a:pt x="638984" y="169841"/>
                </a:lnTo>
                <a:lnTo>
                  <a:pt x="658853" y="209436"/>
                </a:lnTo>
                <a:lnTo>
                  <a:pt x="673551" y="251751"/>
                </a:lnTo>
                <a:lnTo>
                  <a:pt x="682669" y="296375"/>
                </a:lnTo>
                <a:lnTo>
                  <a:pt x="685800" y="342900"/>
                </a:lnTo>
                <a:lnTo>
                  <a:pt x="682669" y="389424"/>
                </a:lnTo>
                <a:lnTo>
                  <a:pt x="673551" y="434048"/>
                </a:lnTo>
                <a:lnTo>
                  <a:pt x="658853" y="476363"/>
                </a:lnTo>
                <a:lnTo>
                  <a:pt x="638984" y="515958"/>
                </a:lnTo>
                <a:lnTo>
                  <a:pt x="614353" y="552426"/>
                </a:lnTo>
                <a:lnTo>
                  <a:pt x="585368" y="585358"/>
                </a:lnTo>
                <a:lnTo>
                  <a:pt x="552437" y="614345"/>
                </a:lnTo>
                <a:lnTo>
                  <a:pt x="515969" y="638979"/>
                </a:lnTo>
                <a:lnTo>
                  <a:pt x="476373" y="658850"/>
                </a:lnTo>
                <a:lnTo>
                  <a:pt x="434057" y="673549"/>
                </a:lnTo>
                <a:lnTo>
                  <a:pt x="389430" y="682669"/>
                </a:lnTo>
                <a:lnTo>
                  <a:pt x="342900" y="685800"/>
                </a:lnTo>
                <a:lnTo>
                  <a:pt x="296369" y="682669"/>
                </a:lnTo>
                <a:lnTo>
                  <a:pt x="251742" y="673549"/>
                </a:lnTo>
                <a:lnTo>
                  <a:pt x="209426" y="658850"/>
                </a:lnTo>
                <a:lnTo>
                  <a:pt x="169830" y="638979"/>
                </a:lnTo>
                <a:lnTo>
                  <a:pt x="133362" y="614345"/>
                </a:lnTo>
                <a:lnTo>
                  <a:pt x="100431" y="585358"/>
                </a:lnTo>
                <a:lnTo>
                  <a:pt x="71446" y="552426"/>
                </a:lnTo>
                <a:lnTo>
                  <a:pt x="46815" y="515958"/>
                </a:lnTo>
                <a:lnTo>
                  <a:pt x="26946" y="476363"/>
                </a:lnTo>
                <a:lnTo>
                  <a:pt x="12248" y="434048"/>
                </a:lnTo>
                <a:lnTo>
                  <a:pt x="3130" y="389424"/>
                </a:lnTo>
                <a:lnTo>
                  <a:pt x="0" y="342900"/>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16">
            <a:extLst>
              <a:ext uri="{FF2B5EF4-FFF2-40B4-BE49-F238E27FC236}">
                <a16:creationId xmlns:a16="http://schemas.microsoft.com/office/drawing/2014/main" id="{EE398A37-DA0A-0895-71C9-FBCEA85CC90C}"/>
              </a:ext>
            </a:extLst>
          </p:cNvPr>
          <p:cNvSpPr txBox="1"/>
          <p:nvPr/>
        </p:nvSpPr>
        <p:spPr>
          <a:xfrm>
            <a:off x="625551" y="4514850"/>
            <a:ext cx="203200" cy="452120"/>
          </a:xfrm>
          <a:prstGeom prst="rect">
            <a:avLst/>
          </a:prstGeom>
        </p:spPr>
        <p:txBody>
          <a:bodyPr vert="horz" wrap="square" lIns="0" tIns="12065" rIns="0" bIns="0" rtlCol="0">
            <a:spAutoFit/>
          </a:bodyPr>
          <a:lstStyle/>
          <a:p>
            <a:pPr marL="12700" rtl="0">
              <a:spcBef>
                <a:spcPts val="95"/>
              </a:spcBef>
            </a:pPr>
            <a:r>
              <a:rPr sz="2800" b="1" kern="1200" spc="-5" dirty="0">
                <a:solidFill>
                  <a:srgbClr val="FF0000"/>
                </a:solidFill>
                <a:latin typeface="Palatino Linotype"/>
                <a:cs typeface="Palatino Linotype"/>
              </a:rPr>
              <a:t>3</a:t>
            </a:r>
            <a:endParaRPr sz="2800" kern="1200">
              <a:solidFill>
                <a:prstClr val="black"/>
              </a:solidFill>
              <a:latin typeface="Palatino Linotype"/>
              <a:cs typeface="Palatino Linotype"/>
            </a:endParaRPr>
          </a:p>
        </p:txBody>
      </p:sp>
      <p:sp>
        <p:nvSpPr>
          <p:cNvPr id="2" name="灯片编号占位符 1">
            <a:extLst>
              <a:ext uri="{FF2B5EF4-FFF2-40B4-BE49-F238E27FC236}">
                <a16:creationId xmlns:a16="http://schemas.microsoft.com/office/drawing/2014/main" id="{8204833A-F51B-51F0-3DE2-EF54EE7345DC}"/>
              </a:ext>
            </a:extLst>
          </p:cNvPr>
          <p:cNvSpPr>
            <a:spLocks noGrp="1"/>
          </p:cNvSpPr>
          <p:nvPr>
            <p:ph type="sldNum" sz="quarter" idx="12"/>
          </p:nvPr>
        </p:nvSpPr>
        <p:spPr/>
        <p:txBody>
          <a:bodyPr/>
          <a:lstStyle/>
          <a:p>
            <a:pPr>
              <a:defRPr/>
            </a:pPr>
            <a:fld id="{2FBC720A-3716-234A-B2DF-CBC7E48049F5}" type="slidenum">
              <a:rPr lang="en-US" altLang="zh-CN" smtClean="0"/>
              <a:t>42</a:t>
            </a:fld>
            <a:endParaRPr lang="en-US" altLang="zh-CN"/>
          </a:p>
        </p:txBody>
      </p:sp>
    </p:spTree>
    <p:extLst>
      <p:ext uri="{BB962C8B-B14F-4D97-AF65-F5344CB8AC3E}">
        <p14:creationId xmlns:p14="http://schemas.microsoft.com/office/powerpoint/2010/main" val="2367424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897507"/>
            <a:ext cx="6507480" cy="3683701"/>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rgbClr val="A6A6A6"/>
                </a:solidFill>
                <a:latin typeface="Palatino Linotype"/>
                <a:cs typeface="Palatino Linotype"/>
              </a:rPr>
              <a:t>Course</a:t>
            </a:r>
            <a:r>
              <a:rPr lang="en-US" altLang="zh-CN" sz="2600" kern="1200" spc="-30"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Information</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Why Study</a:t>
            </a:r>
            <a:r>
              <a:rPr lang="en-US" altLang="zh-CN" sz="2600" kern="1200" spc="-30" dirty="0">
                <a:solidFill>
                  <a:srgbClr val="A6A6A6"/>
                </a:solidFill>
                <a:latin typeface="Palatino Linotype"/>
                <a:cs typeface="Palatino Linotype"/>
              </a:rPr>
              <a:t> </a:t>
            </a:r>
            <a:r>
              <a:rPr lang="en-US" altLang="zh-CN" sz="2600" kern="1200" dirty="0">
                <a:solidFill>
                  <a:srgbClr val="A6A6A6"/>
                </a:solidFill>
                <a:latin typeface="Palatino Linotype"/>
                <a:cs typeface="Palatino Linotype"/>
              </a:rPr>
              <a:t>Compilers?</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The </a:t>
            </a:r>
            <a:r>
              <a:rPr lang="en-US" altLang="zh-CN" sz="2600" kern="1200" spc="-5" dirty="0">
                <a:solidFill>
                  <a:srgbClr val="A6A6A6"/>
                </a:solidFill>
                <a:latin typeface="Palatino Linotype"/>
                <a:cs typeface="Palatino Linotype"/>
              </a:rPr>
              <a:t>Evolution </a:t>
            </a:r>
            <a:r>
              <a:rPr lang="en-US" altLang="zh-CN" sz="2600" kern="1200" dirty="0">
                <a:solidFill>
                  <a:srgbClr val="A6A6A6"/>
                </a:solidFill>
                <a:latin typeface="Palatino Linotype"/>
                <a:cs typeface="Palatino Linotype"/>
              </a:rPr>
              <a:t>of Programming</a:t>
            </a:r>
            <a:r>
              <a:rPr lang="en-US" altLang="zh-CN" sz="2600" kern="1200" spc="-25"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Languages</a:t>
            </a:r>
            <a:endParaRPr lang="en-US" altLang="zh-CN" sz="2600" kern="1200" dirty="0">
              <a:solidFill>
                <a:prstClr val="black"/>
              </a:solidFill>
              <a:latin typeface="Palatino Linotype"/>
              <a:cs typeface="Palatino Linotype"/>
            </a:endParaRPr>
          </a:p>
          <a:p>
            <a:pPr rtl="0">
              <a:spcBef>
                <a:spcPts val="10"/>
              </a:spcBef>
              <a:buFont typeface="Arial"/>
              <a:buChar char="•"/>
            </a:pPr>
            <a:endParaRPr lang="en-US" altLang="zh-CN" sz="2750" kern="1200" dirty="0">
              <a:solidFill>
                <a:prstClr val="black"/>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solidFill>
                  <a:srgbClr val="A6A6A6"/>
                </a:solidFill>
                <a:latin typeface="Palatino Linotype"/>
                <a:cs typeface="Palatino Linotype"/>
              </a:rPr>
              <a:t>Compiler Structure and</a:t>
            </a:r>
            <a:r>
              <a:rPr lang="en-US" altLang="zh-CN" sz="2600" kern="1200" spc="-35" dirty="0">
                <a:solidFill>
                  <a:srgbClr val="A6A6A6"/>
                </a:solidFill>
                <a:latin typeface="Palatino Linotype"/>
                <a:cs typeface="Palatino Linotype"/>
              </a:rPr>
              <a:t> </a:t>
            </a:r>
            <a:r>
              <a:rPr lang="en-US" altLang="zh-CN" sz="2600" kern="1200" spc="-5" dirty="0">
                <a:solidFill>
                  <a:srgbClr val="A6A6A6"/>
                </a:solidFill>
                <a:latin typeface="Palatino Linotype"/>
                <a:cs typeface="Palatino Linotype"/>
              </a:rPr>
              <a:t>Phases</a:t>
            </a:r>
          </a:p>
          <a:p>
            <a:pPr marL="242570" indent="-230504" rtl="0">
              <a:buClr>
                <a:srgbClr val="000000"/>
              </a:buClr>
              <a:buFont typeface="Arial"/>
              <a:buChar char="•"/>
              <a:tabLst>
                <a:tab pos="243204" algn="l"/>
              </a:tabLst>
            </a:pPr>
            <a:endParaRPr lang="en-US" altLang="zh-CN" sz="2600" kern="1200" spc="-5" dirty="0">
              <a:solidFill>
                <a:srgbClr val="A6A6A6"/>
              </a:solidFill>
              <a:latin typeface="Palatino Linotype"/>
              <a:cs typeface="Palatino Linotype"/>
            </a:endParaRPr>
          </a:p>
          <a:p>
            <a:pPr marL="242570" indent="-230504" rtl="0">
              <a:buClr>
                <a:srgbClr val="000000"/>
              </a:buClr>
              <a:buFont typeface="Arial"/>
              <a:buChar char="•"/>
              <a:tabLst>
                <a:tab pos="243204" algn="l"/>
              </a:tabLst>
            </a:pPr>
            <a:r>
              <a:rPr lang="en-US" altLang="zh-CN" sz="2600" kern="1200" dirty="0">
                <a:latin typeface="Palatino Linotype"/>
                <a:cs typeface="Palatino Linotype"/>
              </a:rPr>
              <a:t>How to Learn Compilers?</a:t>
            </a:r>
          </a:p>
        </p:txBody>
      </p:sp>
      <p:sp>
        <p:nvSpPr>
          <p:cNvPr id="2" name="灯片编号占位符 1">
            <a:extLst>
              <a:ext uri="{FF2B5EF4-FFF2-40B4-BE49-F238E27FC236}">
                <a16:creationId xmlns:a16="http://schemas.microsoft.com/office/drawing/2014/main" id="{81E1243B-E128-DB55-76AD-2FC47A345325}"/>
              </a:ext>
            </a:extLst>
          </p:cNvPr>
          <p:cNvSpPr>
            <a:spLocks noGrp="1"/>
          </p:cNvSpPr>
          <p:nvPr>
            <p:ph type="sldNum" sz="quarter" idx="12"/>
          </p:nvPr>
        </p:nvSpPr>
        <p:spPr/>
        <p:txBody>
          <a:bodyPr/>
          <a:lstStyle/>
          <a:p>
            <a:pPr>
              <a:defRPr/>
            </a:pPr>
            <a:fld id="{2FBC720A-3716-234A-B2DF-CBC7E48049F5}" type="slidenum">
              <a:rPr lang="en-US" altLang="zh-CN" smtClean="0"/>
              <a:t>43</a:t>
            </a:fld>
            <a:endParaRPr lang="en-US" altLang="zh-CN"/>
          </a:p>
        </p:txBody>
      </p:sp>
    </p:spTree>
    <p:extLst>
      <p:ext uri="{BB962C8B-B14F-4D97-AF65-F5344CB8AC3E}">
        <p14:creationId xmlns:p14="http://schemas.microsoft.com/office/powerpoint/2010/main" val="37923544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3" name="object 5">
            <a:extLst>
              <a:ext uri="{FF2B5EF4-FFF2-40B4-BE49-F238E27FC236}">
                <a16:creationId xmlns:a16="http://schemas.microsoft.com/office/drawing/2014/main" id="{8FC34590-5BED-0613-B3EC-57B4240F7844}"/>
              </a:ext>
            </a:extLst>
          </p:cNvPr>
          <p:cNvSpPr/>
          <p:nvPr/>
        </p:nvSpPr>
        <p:spPr>
          <a:xfrm>
            <a:off x="4634991" y="2227452"/>
            <a:ext cx="1885950" cy="3410585"/>
          </a:xfrm>
          <a:custGeom>
            <a:avLst/>
            <a:gdLst/>
            <a:ahLst/>
            <a:cxnLst/>
            <a:rect l="l" t="t" r="r" b="b"/>
            <a:pathLst>
              <a:path w="1885950" h="3410585">
                <a:moveTo>
                  <a:pt x="1108202" y="0"/>
                </a:moveTo>
                <a:lnTo>
                  <a:pt x="1147208" y="29099"/>
                </a:lnTo>
                <a:lnTo>
                  <a:pt x="1185250" y="59009"/>
                </a:lnTo>
                <a:lnTo>
                  <a:pt x="1222326" y="89708"/>
                </a:lnTo>
                <a:lnTo>
                  <a:pt x="1258431" y="121175"/>
                </a:lnTo>
                <a:lnTo>
                  <a:pt x="1293562" y="153390"/>
                </a:lnTo>
                <a:lnTo>
                  <a:pt x="1327717" y="186332"/>
                </a:lnTo>
                <a:lnTo>
                  <a:pt x="1360892" y="219980"/>
                </a:lnTo>
                <a:lnTo>
                  <a:pt x="1393083" y="254315"/>
                </a:lnTo>
                <a:lnTo>
                  <a:pt x="1424287" y="289314"/>
                </a:lnTo>
                <a:lnTo>
                  <a:pt x="1454502" y="324957"/>
                </a:lnTo>
                <a:lnTo>
                  <a:pt x="1483723" y="361224"/>
                </a:lnTo>
                <a:lnTo>
                  <a:pt x="1511948" y="398094"/>
                </a:lnTo>
                <a:lnTo>
                  <a:pt x="1539173" y="435547"/>
                </a:lnTo>
                <a:lnTo>
                  <a:pt x="1565395" y="473561"/>
                </a:lnTo>
                <a:lnTo>
                  <a:pt x="1590610" y="512116"/>
                </a:lnTo>
                <a:lnTo>
                  <a:pt x="1614816" y="551191"/>
                </a:lnTo>
                <a:lnTo>
                  <a:pt x="1638010" y="590766"/>
                </a:lnTo>
                <a:lnTo>
                  <a:pt x="1660187" y="630820"/>
                </a:lnTo>
                <a:lnTo>
                  <a:pt x="1681344" y="671332"/>
                </a:lnTo>
                <a:lnTo>
                  <a:pt x="1701479" y="712282"/>
                </a:lnTo>
                <a:lnTo>
                  <a:pt x="1720588" y="753648"/>
                </a:lnTo>
                <a:lnTo>
                  <a:pt x="1738668" y="795411"/>
                </a:lnTo>
                <a:lnTo>
                  <a:pt x="1755715" y="837549"/>
                </a:lnTo>
                <a:lnTo>
                  <a:pt x="1771726" y="880043"/>
                </a:lnTo>
                <a:lnTo>
                  <a:pt x="1786699" y="922870"/>
                </a:lnTo>
                <a:lnTo>
                  <a:pt x="1800629" y="966011"/>
                </a:lnTo>
                <a:lnTo>
                  <a:pt x="1813513" y="1009444"/>
                </a:lnTo>
                <a:lnTo>
                  <a:pt x="1825349" y="1053150"/>
                </a:lnTo>
                <a:lnTo>
                  <a:pt x="1836132" y="1097107"/>
                </a:lnTo>
                <a:lnTo>
                  <a:pt x="1845860" y="1141295"/>
                </a:lnTo>
                <a:lnTo>
                  <a:pt x="1854530" y="1185693"/>
                </a:lnTo>
                <a:lnTo>
                  <a:pt x="1862137" y="1230280"/>
                </a:lnTo>
                <a:lnTo>
                  <a:pt x="1868679" y="1275036"/>
                </a:lnTo>
                <a:lnTo>
                  <a:pt x="1874153" y="1319941"/>
                </a:lnTo>
                <a:lnTo>
                  <a:pt x="1878555" y="1364972"/>
                </a:lnTo>
                <a:lnTo>
                  <a:pt x="1881881" y="1410110"/>
                </a:lnTo>
                <a:lnTo>
                  <a:pt x="1884130" y="1455335"/>
                </a:lnTo>
                <a:lnTo>
                  <a:pt x="1885297" y="1500624"/>
                </a:lnTo>
                <a:lnTo>
                  <a:pt x="1885379" y="1545959"/>
                </a:lnTo>
                <a:lnTo>
                  <a:pt x="1884372" y="1591317"/>
                </a:lnTo>
                <a:lnTo>
                  <a:pt x="1882275" y="1636679"/>
                </a:lnTo>
                <a:lnTo>
                  <a:pt x="1879083" y="1682023"/>
                </a:lnTo>
                <a:lnTo>
                  <a:pt x="1874792" y="1727329"/>
                </a:lnTo>
                <a:lnTo>
                  <a:pt x="1869401" y="1772576"/>
                </a:lnTo>
                <a:lnTo>
                  <a:pt x="1862905" y="1817744"/>
                </a:lnTo>
                <a:lnTo>
                  <a:pt x="1855301" y="1862812"/>
                </a:lnTo>
                <a:lnTo>
                  <a:pt x="1846586" y="1907759"/>
                </a:lnTo>
                <a:lnTo>
                  <a:pt x="1836757" y="1952565"/>
                </a:lnTo>
                <a:lnTo>
                  <a:pt x="1825810" y="1997209"/>
                </a:lnTo>
                <a:lnTo>
                  <a:pt x="1813742" y="2041669"/>
                </a:lnTo>
                <a:lnTo>
                  <a:pt x="1800551" y="2085927"/>
                </a:lnTo>
                <a:lnTo>
                  <a:pt x="1786231" y="2129960"/>
                </a:lnTo>
                <a:lnTo>
                  <a:pt x="1770781" y="2173748"/>
                </a:lnTo>
                <a:lnTo>
                  <a:pt x="1754197" y="2217271"/>
                </a:lnTo>
                <a:lnTo>
                  <a:pt x="1736476" y="2260507"/>
                </a:lnTo>
                <a:lnTo>
                  <a:pt x="1717614" y="2303437"/>
                </a:lnTo>
                <a:lnTo>
                  <a:pt x="1697609" y="2346039"/>
                </a:lnTo>
                <a:lnTo>
                  <a:pt x="1676456" y="2388293"/>
                </a:lnTo>
                <a:lnTo>
                  <a:pt x="1654154" y="2430178"/>
                </a:lnTo>
                <a:lnTo>
                  <a:pt x="1630697" y="2471673"/>
                </a:lnTo>
                <a:lnTo>
                  <a:pt x="1606084" y="2512758"/>
                </a:lnTo>
                <a:lnTo>
                  <a:pt x="1580310" y="2553412"/>
                </a:lnTo>
                <a:lnTo>
                  <a:pt x="1553373" y="2593614"/>
                </a:lnTo>
                <a:lnTo>
                  <a:pt x="1525270" y="2633345"/>
                </a:lnTo>
                <a:lnTo>
                  <a:pt x="1495222" y="2673574"/>
                </a:lnTo>
                <a:lnTo>
                  <a:pt x="1464215" y="2712868"/>
                </a:lnTo>
                <a:lnTo>
                  <a:pt x="1432270" y="2751216"/>
                </a:lnTo>
                <a:lnTo>
                  <a:pt x="1399409" y="2788607"/>
                </a:lnTo>
                <a:lnTo>
                  <a:pt x="1365656" y="2825028"/>
                </a:lnTo>
                <a:lnTo>
                  <a:pt x="1331033" y="2860468"/>
                </a:lnTo>
                <a:lnTo>
                  <a:pt x="1295563" y="2894916"/>
                </a:lnTo>
                <a:lnTo>
                  <a:pt x="1259267" y="2928360"/>
                </a:lnTo>
                <a:lnTo>
                  <a:pt x="1222170" y="2960788"/>
                </a:lnTo>
                <a:lnTo>
                  <a:pt x="1184293" y="2992190"/>
                </a:lnTo>
                <a:lnTo>
                  <a:pt x="1145660" y="3022553"/>
                </a:lnTo>
                <a:lnTo>
                  <a:pt x="1106292" y="3051867"/>
                </a:lnTo>
                <a:lnTo>
                  <a:pt x="1066212" y="3080119"/>
                </a:lnTo>
                <a:lnTo>
                  <a:pt x="1025444" y="3107298"/>
                </a:lnTo>
                <a:lnTo>
                  <a:pt x="984009" y="3133393"/>
                </a:lnTo>
                <a:lnTo>
                  <a:pt x="941930" y="3158393"/>
                </a:lnTo>
                <a:lnTo>
                  <a:pt x="899230" y="3182284"/>
                </a:lnTo>
                <a:lnTo>
                  <a:pt x="855932" y="3205057"/>
                </a:lnTo>
                <a:lnTo>
                  <a:pt x="812058" y="3226700"/>
                </a:lnTo>
                <a:lnTo>
                  <a:pt x="767630" y="3247200"/>
                </a:lnTo>
                <a:lnTo>
                  <a:pt x="722672" y="3266548"/>
                </a:lnTo>
                <a:lnTo>
                  <a:pt x="677205" y="3284730"/>
                </a:lnTo>
                <a:lnTo>
                  <a:pt x="631254" y="3301736"/>
                </a:lnTo>
                <a:lnTo>
                  <a:pt x="584839" y="3317555"/>
                </a:lnTo>
                <a:lnTo>
                  <a:pt x="537984" y="3332174"/>
                </a:lnTo>
                <a:lnTo>
                  <a:pt x="490712" y="3345582"/>
                </a:lnTo>
                <a:lnTo>
                  <a:pt x="443045" y="3357767"/>
                </a:lnTo>
                <a:lnTo>
                  <a:pt x="395005" y="3368719"/>
                </a:lnTo>
                <a:lnTo>
                  <a:pt x="346616" y="3378425"/>
                </a:lnTo>
                <a:lnTo>
                  <a:pt x="297900" y="3386875"/>
                </a:lnTo>
                <a:lnTo>
                  <a:pt x="248879" y="3394056"/>
                </a:lnTo>
                <a:lnTo>
                  <a:pt x="199576" y="3399957"/>
                </a:lnTo>
                <a:lnTo>
                  <a:pt x="150014" y="3404567"/>
                </a:lnTo>
                <a:lnTo>
                  <a:pt x="100216" y="3407874"/>
                </a:lnTo>
                <a:lnTo>
                  <a:pt x="50203" y="3409867"/>
                </a:lnTo>
                <a:lnTo>
                  <a:pt x="0" y="3410534"/>
                </a:lnTo>
                <a:lnTo>
                  <a:pt x="0" y="1525270"/>
                </a:lnTo>
                <a:lnTo>
                  <a:pt x="1108202" y="0"/>
                </a:lnTo>
                <a:close/>
              </a:path>
            </a:pathLst>
          </a:custGeom>
          <a:ln w="1905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7">
            <a:extLst>
              <a:ext uri="{FF2B5EF4-FFF2-40B4-BE49-F238E27FC236}">
                <a16:creationId xmlns:a16="http://schemas.microsoft.com/office/drawing/2014/main" id="{7BBDF74A-E6D1-04C3-8AB4-94EABB542E40}"/>
              </a:ext>
            </a:extLst>
          </p:cNvPr>
          <p:cNvSpPr/>
          <p:nvPr/>
        </p:nvSpPr>
        <p:spPr>
          <a:xfrm>
            <a:off x="2842005" y="3752722"/>
            <a:ext cx="1793239" cy="1885314"/>
          </a:xfrm>
          <a:custGeom>
            <a:avLst/>
            <a:gdLst/>
            <a:ahLst/>
            <a:cxnLst/>
            <a:rect l="l" t="t" r="r" b="b"/>
            <a:pathLst>
              <a:path w="1793239" h="1885314">
                <a:moveTo>
                  <a:pt x="1792985" y="1885264"/>
                </a:moveTo>
                <a:lnTo>
                  <a:pt x="1744096" y="1884635"/>
                </a:lnTo>
                <a:lnTo>
                  <a:pt x="1695447" y="1882757"/>
                </a:lnTo>
                <a:lnTo>
                  <a:pt x="1647057" y="1879643"/>
                </a:lnTo>
                <a:lnTo>
                  <a:pt x="1598945" y="1875306"/>
                </a:lnTo>
                <a:lnTo>
                  <a:pt x="1551128" y="1869759"/>
                </a:lnTo>
                <a:lnTo>
                  <a:pt x="1503625" y="1863017"/>
                </a:lnTo>
                <a:lnTo>
                  <a:pt x="1456454" y="1855091"/>
                </a:lnTo>
                <a:lnTo>
                  <a:pt x="1409633" y="1845996"/>
                </a:lnTo>
                <a:lnTo>
                  <a:pt x="1363180" y="1835743"/>
                </a:lnTo>
                <a:lnTo>
                  <a:pt x="1317113" y="1824348"/>
                </a:lnTo>
                <a:lnTo>
                  <a:pt x="1271452" y="1811822"/>
                </a:lnTo>
                <a:lnTo>
                  <a:pt x="1226212" y="1798179"/>
                </a:lnTo>
                <a:lnTo>
                  <a:pt x="1181414" y="1783432"/>
                </a:lnTo>
                <a:lnTo>
                  <a:pt x="1137075" y="1767594"/>
                </a:lnTo>
                <a:lnTo>
                  <a:pt x="1093213" y="1750680"/>
                </a:lnTo>
                <a:lnTo>
                  <a:pt x="1049847" y="1732701"/>
                </a:lnTo>
                <a:lnTo>
                  <a:pt x="1006995" y="1713671"/>
                </a:lnTo>
                <a:lnTo>
                  <a:pt x="964674" y="1693603"/>
                </a:lnTo>
                <a:lnTo>
                  <a:pt x="922903" y="1672510"/>
                </a:lnTo>
                <a:lnTo>
                  <a:pt x="881701" y="1650407"/>
                </a:lnTo>
                <a:lnTo>
                  <a:pt x="841084" y="1627305"/>
                </a:lnTo>
                <a:lnTo>
                  <a:pt x="801073" y="1603218"/>
                </a:lnTo>
                <a:lnTo>
                  <a:pt x="761684" y="1578160"/>
                </a:lnTo>
                <a:lnTo>
                  <a:pt x="722936" y="1552143"/>
                </a:lnTo>
                <a:lnTo>
                  <a:pt x="684847" y="1525181"/>
                </a:lnTo>
                <a:lnTo>
                  <a:pt x="647435" y="1497286"/>
                </a:lnTo>
                <a:lnTo>
                  <a:pt x="610719" y="1468473"/>
                </a:lnTo>
                <a:lnTo>
                  <a:pt x="574717" y="1438754"/>
                </a:lnTo>
                <a:lnTo>
                  <a:pt x="539446" y="1408143"/>
                </a:lnTo>
                <a:lnTo>
                  <a:pt x="504925" y="1376652"/>
                </a:lnTo>
                <a:lnTo>
                  <a:pt x="471172" y="1344296"/>
                </a:lnTo>
                <a:lnTo>
                  <a:pt x="438206" y="1311087"/>
                </a:lnTo>
                <a:lnTo>
                  <a:pt x="406044" y="1277038"/>
                </a:lnTo>
                <a:lnTo>
                  <a:pt x="374705" y="1242162"/>
                </a:lnTo>
                <a:lnTo>
                  <a:pt x="344207" y="1206474"/>
                </a:lnTo>
                <a:lnTo>
                  <a:pt x="314568" y="1169985"/>
                </a:lnTo>
                <a:lnTo>
                  <a:pt x="285806" y="1132710"/>
                </a:lnTo>
                <a:lnTo>
                  <a:pt x="257939" y="1094661"/>
                </a:lnTo>
                <a:lnTo>
                  <a:pt x="230986" y="1055852"/>
                </a:lnTo>
                <a:lnTo>
                  <a:pt x="204965" y="1016296"/>
                </a:lnTo>
                <a:lnTo>
                  <a:pt x="179894" y="976006"/>
                </a:lnTo>
                <a:lnTo>
                  <a:pt x="155791" y="934995"/>
                </a:lnTo>
                <a:lnTo>
                  <a:pt x="132674" y="893277"/>
                </a:lnTo>
                <a:lnTo>
                  <a:pt x="110562" y="850864"/>
                </a:lnTo>
                <a:lnTo>
                  <a:pt x="89472" y="807770"/>
                </a:lnTo>
                <a:lnTo>
                  <a:pt x="69423" y="764009"/>
                </a:lnTo>
                <a:lnTo>
                  <a:pt x="50433" y="719593"/>
                </a:lnTo>
                <a:lnTo>
                  <a:pt x="32521" y="674535"/>
                </a:lnTo>
                <a:lnTo>
                  <a:pt x="15703" y="628849"/>
                </a:lnTo>
                <a:lnTo>
                  <a:pt x="0" y="582549"/>
                </a:lnTo>
                <a:lnTo>
                  <a:pt x="1792985" y="0"/>
                </a:lnTo>
                <a:lnTo>
                  <a:pt x="1792985" y="1885264"/>
                </a:lnTo>
                <a:close/>
              </a:path>
            </a:pathLst>
          </a:custGeom>
          <a:ln w="1905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707542"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Group Chat for Course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6" name="object 2">
            <a:extLst>
              <a:ext uri="{FF2B5EF4-FFF2-40B4-BE49-F238E27FC236}">
                <a16:creationId xmlns:a16="http://schemas.microsoft.com/office/drawing/2014/main" id="{0C7C1086-F63F-193C-0E13-EDC120E34BCF}"/>
              </a:ext>
            </a:extLst>
          </p:cNvPr>
          <p:cNvSpPr txBox="1">
            <a:spLocks/>
          </p:cNvSpPr>
          <p:nvPr/>
        </p:nvSpPr>
        <p:spPr bwMode="auto">
          <a:xfrm>
            <a:off x="4355976" y="2227452"/>
            <a:ext cx="4944578" cy="2292294"/>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defTabSz="914400" eaLnBrk="1" fontAlgn="auto" latinLnBrk="0" hangingPunct="1">
              <a:lnSpc>
                <a:spcPct val="100000"/>
              </a:lnSpc>
              <a:spcBef>
                <a:spcPts val="95"/>
              </a:spcBef>
              <a:spcAft>
                <a:spcPts val="0"/>
              </a:spcAft>
              <a:buClrTx/>
              <a:buSzTx/>
              <a:tabLst/>
              <a:defRPr/>
            </a:pPr>
            <a:r>
              <a:rPr kumimoji="0" lang="en-US" sz="2400" b="1" i="0" u="none" strike="noStrike" kern="0" cap="none" spc="-5" normalizeH="0" baseline="0" noProof="0" dirty="0">
                <a:ln>
                  <a:noFill/>
                </a:ln>
                <a:solidFill>
                  <a:sysClr val="windowText" lastClr="000000"/>
                </a:solidFill>
                <a:effectLst/>
                <a:uLnTx/>
                <a:uFillTx/>
                <a:latin typeface="Palatino Linotype"/>
                <a:ea typeface="+mj-ea"/>
              </a:rPr>
              <a:t>For</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kumimoji="0" lang="en-US" sz="2400" b="1" i="0" u="none" strike="noStrike" kern="0" cap="none" spc="-5" normalizeH="0" baseline="0" noProof="0" dirty="0">
                <a:ln>
                  <a:noFill/>
                </a:ln>
                <a:solidFill>
                  <a:sysClr val="windowText" lastClr="000000"/>
                </a:solidFill>
                <a:effectLst/>
                <a:uLnTx/>
                <a:uFillTx/>
                <a:latin typeface="Palatino Linotype"/>
                <a:ea typeface="+mj-ea"/>
              </a:rPr>
              <a:t>Handling queries</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endParaRPr kumimoji="0" lang="en-US" sz="2400" b="1" i="0" u="none" strike="noStrike" kern="0" cap="none" spc="-5" normalizeH="0" baseline="0" noProof="0" dirty="0">
              <a:ln>
                <a:noFill/>
              </a:ln>
              <a:solidFill>
                <a:sysClr val="windowText" lastClr="000000"/>
              </a:solidFill>
              <a:effectLst/>
              <a:uLnTx/>
              <a:uFillTx/>
              <a:latin typeface="Palatino Linotype"/>
              <a:ea typeface="+mj-ea"/>
            </a:endParaRP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altLang="zh-CN" sz="2400" dirty="0">
                <a:solidFill>
                  <a:sysClr val="windowText" lastClr="000000"/>
                </a:solidFill>
              </a:rPr>
              <a:t>S</a:t>
            </a:r>
            <a:r>
              <a:rPr kumimoji="0" lang="en-US" altLang="zh-CN" sz="2400" b="1" i="0" u="none" strike="noStrike" kern="0" cap="none" spc="0" normalizeH="0" baseline="0" noProof="0" dirty="0">
                <a:ln>
                  <a:noFill/>
                </a:ln>
                <a:solidFill>
                  <a:sysClr val="windowText" lastClr="000000"/>
                </a:solidFill>
                <a:effectLst/>
                <a:uLnTx/>
                <a:uFillTx/>
                <a:latin typeface="Palatino Linotype"/>
                <a:ea typeface="+mj-ea"/>
              </a:rPr>
              <a:t>haring </a:t>
            </a:r>
            <a:r>
              <a:rPr lang="en-US" altLang="zh-CN" sz="2400" dirty="0">
                <a:solidFill>
                  <a:sysClr val="windowText" lastClr="000000"/>
                </a:solidFill>
              </a:rPr>
              <a:t>c</a:t>
            </a:r>
            <a:r>
              <a:rPr kumimoji="0" lang="en-US" sz="2400" b="1" i="0" u="none" strike="noStrike" kern="0" cap="none" spc="0" normalizeH="0" baseline="0" noProof="0" dirty="0" err="1">
                <a:ln>
                  <a:noFill/>
                </a:ln>
                <a:solidFill>
                  <a:sysClr val="windowText" lastClr="000000"/>
                </a:solidFill>
                <a:effectLst/>
                <a:uLnTx/>
                <a:uFillTx/>
                <a:latin typeface="Palatino Linotype"/>
                <a:ea typeface="+mj-ea"/>
              </a:rPr>
              <a:t>ourseware</a:t>
            </a:r>
            <a:endParaRPr kumimoji="0" lang="en-US" sz="2400" b="1" i="0" u="none" strike="noStrike" kern="0" cap="none" spc="0" normalizeH="0" baseline="0" noProof="0" dirty="0">
              <a:ln>
                <a:noFill/>
              </a:ln>
              <a:solidFill>
                <a:sysClr val="windowText" lastClr="000000"/>
              </a:solidFill>
              <a:effectLst/>
              <a:uLnTx/>
              <a:uFillTx/>
              <a:latin typeface="Palatino Linotype"/>
              <a:ea typeface="+mj-ea"/>
            </a:endParaRP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endParaRPr kumimoji="0" lang="en-US" sz="2400" b="1" i="0" u="none" strike="noStrike" kern="0" cap="none" spc="0" normalizeH="0" baseline="0" noProof="0" dirty="0">
              <a:ln>
                <a:noFill/>
              </a:ln>
              <a:solidFill>
                <a:sysClr val="windowText" lastClr="000000"/>
              </a:solidFill>
              <a:effectLst/>
              <a:uLnTx/>
              <a:uFillTx/>
              <a:latin typeface="Palatino Linotype"/>
              <a:ea typeface="+mj-ea"/>
            </a:endParaRP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sz="2400" dirty="0">
                <a:solidFill>
                  <a:sysClr val="windowText" lastClr="000000"/>
                </a:solidFill>
              </a:rPr>
              <a:t>S</a:t>
            </a:r>
            <a:r>
              <a:rPr kumimoji="0" lang="en-US" sz="2400" b="1" i="0" u="none" strike="noStrike" kern="0" cap="none" spc="0" normalizeH="0" baseline="0" noProof="0" dirty="0">
                <a:ln>
                  <a:noFill/>
                </a:ln>
                <a:solidFill>
                  <a:sysClr val="windowText" lastClr="000000"/>
                </a:solidFill>
                <a:effectLst/>
                <a:uLnTx/>
                <a:uFillTx/>
                <a:latin typeface="Palatino Linotype"/>
                <a:ea typeface="+mj-ea"/>
              </a:rPr>
              <a:t>ending some notifications</a:t>
            </a:r>
          </a:p>
        </p:txBody>
      </p:sp>
      <p:sp>
        <p:nvSpPr>
          <p:cNvPr id="6" name="灯片编号占位符 5">
            <a:extLst>
              <a:ext uri="{FF2B5EF4-FFF2-40B4-BE49-F238E27FC236}">
                <a16:creationId xmlns:a16="http://schemas.microsoft.com/office/drawing/2014/main" id="{A99800ED-F579-0858-D262-209A80B8AF60}"/>
              </a:ext>
            </a:extLst>
          </p:cNvPr>
          <p:cNvSpPr>
            <a:spLocks noGrp="1"/>
          </p:cNvSpPr>
          <p:nvPr>
            <p:ph type="sldNum" sz="quarter" idx="12"/>
          </p:nvPr>
        </p:nvSpPr>
        <p:spPr/>
        <p:txBody>
          <a:bodyPr/>
          <a:lstStyle/>
          <a:p>
            <a:pPr>
              <a:defRPr/>
            </a:pPr>
            <a:fld id="{2FBC720A-3716-234A-B2DF-CBC7E48049F5}" type="slidenum">
              <a:rPr lang="en-US" altLang="zh-CN" smtClean="0"/>
              <a:t>44</a:t>
            </a:fld>
            <a:endParaRPr lang="en-US" altLang="zh-CN"/>
          </a:p>
        </p:txBody>
      </p:sp>
      <p:pic>
        <p:nvPicPr>
          <p:cNvPr id="8" name="图片 7">
            <a:extLst>
              <a:ext uri="{FF2B5EF4-FFF2-40B4-BE49-F238E27FC236}">
                <a16:creationId xmlns:a16="http://schemas.microsoft.com/office/drawing/2014/main" id="{A5594F65-2E31-64CB-85A6-B455D8DC64C4}"/>
              </a:ext>
            </a:extLst>
          </p:cNvPr>
          <p:cNvPicPr>
            <a:picLocks noChangeAspect="1"/>
          </p:cNvPicPr>
          <p:nvPr/>
        </p:nvPicPr>
        <p:blipFill>
          <a:blip r:embed="rId3"/>
          <a:srcRect l="5118" t="14300" r="5165" b="24145"/>
          <a:stretch/>
        </p:blipFill>
        <p:spPr>
          <a:xfrm>
            <a:off x="313809" y="1416644"/>
            <a:ext cx="3458188" cy="4221392"/>
          </a:xfrm>
          <a:prstGeom prst="rect">
            <a:avLst/>
          </a:prstGeom>
        </p:spPr>
      </p:pic>
    </p:spTree>
    <p:extLst>
      <p:ext uri="{BB962C8B-B14F-4D97-AF65-F5344CB8AC3E}">
        <p14:creationId xmlns:p14="http://schemas.microsoft.com/office/powerpoint/2010/main" val="9293729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dirty="0"/>
              <a:t>BUPT Compilers</a:t>
            </a:r>
            <a:endParaRPr dirty="0"/>
          </a:p>
        </p:txBody>
      </p:sp>
      <p:sp>
        <p:nvSpPr>
          <p:cNvPr id="25" name="object 7">
            <a:extLst>
              <a:ext uri="{FF2B5EF4-FFF2-40B4-BE49-F238E27FC236}">
                <a16:creationId xmlns:a16="http://schemas.microsoft.com/office/drawing/2014/main" id="{7BBDF74A-E6D1-04C3-8AB4-94EABB542E40}"/>
              </a:ext>
            </a:extLst>
          </p:cNvPr>
          <p:cNvSpPr/>
          <p:nvPr/>
        </p:nvSpPr>
        <p:spPr>
          <a:xfrm>
            <a:off x="2842005" y="3752722"/>
            <a:ext cx="1793239" cy="1885314"/>
          </a:xfrm>
          <a:custGeom>
            <a:avLst/>
            <a:gdLst/>
            <a:ahLst/>
            <a:cxnLst/>
            <a:rect l="l" t="t" r="r" b="b"/>
            <a:pathLst>
              <a:path w="1793239" h="1885314">
                <a:moveTo>
                  <a:pt x="1792985" y="1885264"/>
                </a:moveTo>
                <a:lnTo>
                  <a:pt x="1744096" y="1884635"/>
                </a:lnTo>
                <a:lnTo>
                  <a:pt x="1695447" y="1882757"/>
                </a:lnTo>
                <a:lnTo>
                  <a:pt x="1647057" y="1879643"/>
                </a:lnTo>
                <a:lnTo>
                  <a:pt x="1598945" y="1875306"/>
                </a:lnTo>
                <a:lnTo>
                  <a:pt x="1551128" y="1869759"/>
                </a:lnTo>
                <a:lnTo>
                  <a:pt x="1503625" y="1863017"/>
                </a:lnTo>
                <a:lnTo>
                  <a:pt x="1456454" y="1855091"/>
                </a:lnTo>
                <a:lnTo>
                  <a:pt x="1409633" y="1845996"/>
                </a:lnTo>
                <a:lnTo>
                  <a:pt x="1363180" y="1835743"/>
                </a:lnTo>
                <a:lnTo>
                  <a:pt x="1317113" y="1824348"/>
                </a:lnTo>
                <a:lnTo>
                  <a:pt x="1271452" y="1811822"/>
                </a:lnTo>
                <a:lnTo>
                  <a:pt x="1226212" y="1798179"/>
                </a:lnTo>
                <a:lnTo>
                  <a:pt x="1181414" y="1783432"/>
                </a:lnTo>
                <a:lnTo>
                  <a:pt x="1137075" y="1767594"/>
                </a:lnTo>
                <a:lnTo>
                  <a:pt x="1093213" y="1750680"/>
                </a:lnTo>
                <a:lnTo>
                  <a:pt x="1049847" y="1732701"/>
                </a:lnTo>
                <a:lnTo>
                  <a:pt x="1006995" y="1713671"/>
                </a:lnTo>
                <a:lnTo>
                  <a:pt x="964674" y="1693603"/>
                </a:lnTo>
                <a:lnTo>
                  <a:pt x="922903" y="1672510"/>
                </a:lnTo>
                <a:lnTo>
                  <a:pt x="881701" y="1650407"/>
                </a:lnTo>
                <a:lnTo>
                  <a:pt x="841084" y="1627305"/>
                </a:lnTo>
                <a:lnTo>
                  <a:pt x="801073" y="1603218"/>
                </a:lnTo>
                <a:lnTo>
                  <a:pt x="761684" y="1578160"/>
                </a:lnTo>
                <a:lnTo>
                  <a:pt x="722936" y="1552143"/>
                </a:lnTo>
                <a:lnTo>
                  <a:pt x="684847" y="1525181"/>
                </a:lnTo>
                <a:lnTo>
                  <a:pt x="647435" y="1497286"/>
                </a:lnTo>
                <a:lnTo>
                  <a:pt x="610719" y="1468473"/>
                </a:lnTo>
                <a:lnTo>
                  <a:pt x="574717" y="1438754"/>
                </a:lnTo>
                <a:lnTo>
                  <a:pt x="539446" y="1408143"/>
                </a:lnTo>
                <a:lnTo>
                  <a:pt x="504925" y="1376652"/>
                </a:lnTo>
                <a:lnTo>
                  <a:pt x="471172" y="1344296"/>
                </a:lnTo>
                <a:lnTo>
                  <a:pt x="438206" y="1311087"/>
                </a:lnTo>
                <a:lnTo>
                  <a:pt x="406044" y="1277038"/>
                </a:lnTo>
                <a:lnTo>
                  <a:pt x="374705" y="1242162"/>
                </a:lnTo>
                <a:lnTo>
                  <a:pt x="344207" y="1206474"/>
                </a:lnTo>
                <a:lnTo>
                  <a:pt x="314568" y="1169985"/>
                </a:lnTo>
                <a:lnTo>
                  <a:pt x="285806" y="1132710"/>
                </a:lnTo>
                <a:lnTo>
                  <a:pt x="257939" y="1094661"/>
                </a:lnTo>
                <a:lnTo>
                  <a:pt x="230986" y="1055852"/>
                </a:lnTo>
                <a:lnTo>
                  <a:pt x="204965" y="1016296"/>
                </a:lnTo>
                <a:lnTo>
                  <a:pt x="179894" y="976006"/>
                </a:lnTo>
                <a:lnTo>
                  <a:pt x="155791" y="934995"/>
                </a:lnTo>
                <a:lnTo>
                  <a:pt x="132674" y="893277"/>
                </a:lnTo>
                <a:lnTo>
                  <a:pt x="110562" y="850864"/>
                </a:lnTo>
                <a:lnTo>
                  <a:pt x="89472" y="807770"/>
                </a:lnTo>
                <a:lnTo>
                  <a:pt x="69423" y="764009"/>
                </a:lnTo>
                <a:lnTo>
                  <a:pt x="50433" y="719593"/>
                </a:lnTo>
                <a:lnTo>
                  <a:pt x="32521" y="674535"/>
                </a:lnTo>
                <a:lnTo>
                  <a:pt x="15703" y="628849"/>
                </a:lnTo>
                <a:lnTo>
                  <a:pt x="0" y="582549"/>
                </a:lnTo>
                <a:lnTo>
                  <a:pt x="1792985" y="0"/>
                </a:lnTo>
                <a:lnTo>
                  <a:pt x="1792985" y="1885264"/>
                </a:lnTo>
                <a:close/>
              </a:path>
            </a:pathLst>
          </a:custGeom>
          <a:ln w="1905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707542"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About Assignments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7" name="object 2">
            <a:extLst>
              <a:ext uri="{FF2B5EF4-FFF2-40B4-BE49-F238E27FC236}">
                <a16:creationId xmlns:a16="http://schemas.microsoft.com/office/drawing/2014/main" id="{3C5CCE7B-C429-85CB-EA3D-7DC431058FA5}"/>
              </a:ext>
            </a:extLst>
          </p:cNvPr>
          <p:cNvSpPr txBox="1">
            <a:spLocks/>
          </p:cNvSpPr>
          <p:nvPr/>
        </p:nvSpPr>
        <p:spPr bwMode="auto">
          <a:xfrm>
            <a:off x="857302" y="1495230"/>
            <a:ext cx="8316416" cy="1910138"/>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defTabSz="914400" eaLnBrk="1" fontAlgn="auto" latinLnBrk="0" hangingPunct="1">
              <a:lnSpc>
                <a:spcPct val="100000"/>
              </a:lnSpc>
              <a:spcBef>
                <a:spcPts val="95"/>
              </a:spcBef>
              <a:spcAft>
                <a:spcPts val="0"/>
              </a:spcAft>
              <a:buClrTx/>
              <a:buSzTx/>
              <a:tabLst/>
              <a:defRPr/>
            </a:pP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Assignments types:</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Written assignments</a:t>
            </a:r>
            <a:endParaRPr kumimoji="0" lang="en-US" sz="2400" b="1" i="0" u="none" strike="noStrike" kern="0" cap="none" spc="-5" normalizeH="0" baseline="0" noProof="0" dirty="0">
              <a:ln>
                <a:noFill/>
              </a:ln>
              <a:solidFill>
                <a:sysClr val="windowText" lastClr="000000"/>
              </a:solidFill>
              <a:effectLst/>
              <a:uLnTx/>
              <a:uFillTx/>
              <a:latin typeface="Palatino Linotype"/>
              <a:ea typeface="+mj-ea"/>
            </a:endParaRP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Labs</a:t>
            </a:r>
          </a:p>
          <a:p>
            <a:pPr marL="355600" indent="-342900">
              <a:spcBef>
                <a:spcPts val="95"/>
              </a:spcBef>
              <a:buFont typeface="Arial" panose="020B0604020202020204" pitchFamily="34" charset="0"/>
              <a:buChar char="•"/>
              <a:defRPr/>
            </a:pP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Projects</a:t>
            </a:r>
          </a:p>
          <a:p>
            <a:pPr marL="12700" marR="0" lvl="0" defTabSz="914400" eaLnBrk="1" fontAlgn="auto" latinLnBrk="0" hangingPunct="1">
              <a:lnSpc>
                <a:spcPct val="100000"/>
              </a:lnSpc>
              <a:spcBef>
                <a:spcPts val="95"/>
              </a:spcBef>
              <a:spcAft>
                <a:spcPts val="0"/>
              </a:spcAft>
              <a:buClrTx/>
              <a:buSzTx/>
              <a:tabLst/>
              <a:defRPr/>
            </a:pPr>
            <a:endParaRPr kumimoji="0" lang="en-US" sz="24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2">
            <a:extLst>
              <a:ext uri="{FF2B5EF4-FFF2-40B4-BE49-F238E27FC236}">
                <a16:creationId xmlns:a16="http://schemas.microsoft.com/office/drawing/2014/main" id="{F165072C-FDC2-231B-DC1B-C5CA228C795B}"/>
              </a:ext>
            </a:extLst>
          </p:cNvPr>
          <p:cNvSpPr txBox="1">
            <a:spLocks/>
          </p:cNvSpPr>
          <p:nvPr/>
        </p:nvSpPr>
        <p:spPr bwMode="auto">
          <a:xfrm>
            <a:off x="857302" y="3145316"/>
            <a:ext cx="8316416" cy="3130985"/>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defTabSz="914400" eaLnBrk="1" fontAlgn="auto" latinLnBrk="0" hangingPunct="1">
              <a:lnSpc>
                <a:spcPct val="100000"/>
              </a:lnSpc>
              <a:spcBef>
                <a:spcPts val="95"/>
              </a:spcBef>
              <a:spcAft>
                <a:spcPts val="0"/>
              </a:spcAft>
              <a:buClrTx/>
              <a:buSzTx/>
              <a:tabLst/>
              <a:defRPr/>
            </a:pP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How to </a:t>
            </a:r>
            <a:r>
              <a:rPr lang="en-US" altLang="zh-CN" sz="2400" spc="-5" dirty="0">
                <a:solidFill>
                  <a:sysClr val="windowText" lastClr="000000"/>
                </a:solidFill>
              </a:rPr>
              <a:t>view </a:t>
            </a: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assignments ?</a:t>
            </a:r>
          </a:p>
          <a:p>
            <a:pPr marL="12700" marR="0" lvl="0" defTabSz="914400" eaLnBrk="1" fontAlgn="auto" latinLnBrk="0" hangingPunct="1">
              <a:lnSpc>
                <a:spcPct val="100000"/>
              </a:lnSpc>
              <a:spcBef>
                <a:spcPts val="95"/>
              </a:spcBef>
              <a:spcAft>
                <a:spcPts val="0"/>
              </a:spcAft>
              <a:buClrTx/>
              <a:buSzTx/>
              <a:tabLst/>
              <a:defRPr/>
            </a:pPr>
            <a:endParaRPr kumimoji="0" lang="en-US" altLang="zh-CN" sz="2400" b="1" i="0" u="none" strike="noStrike" kern="0" cap="none" spc="-5" normalizeH="0" baseline="0" noProof="0" dirty="0">
              <a:ln>
                <a:noFill/>
              </a:ln>
              <a:solidFill>
                <a:sysClr val="windowText" lastClr="000000"/>
              </a:solidFill>
              <a:effectLst/>
              <a:uLnTx/>
              <a:uFillTx/>
              <a:latin typeface="Palatino Linotype"/>
              <a:ea typeface="+mj-ea"/>
            </a:endParaRPr>
          </a:p>
          <a:p>
            <a:pPr marL="12700" marR="0" lvl="0" defTabSz="914400" eaLnBrk="1" fontAlgn="auto" latinLnBrk="0" hangingPunct="1">
              <a:lnSpc>
                <a:spcPct val="100000"/>
              </a:lnSpc>
              <a:spcBef>
                <a:spcPts val="95"/>
              </a:spcBef>
              <a:spcAft>
                <a:spcPts val="0"/>
              </a:spcAft>
              <a:buClrTx/>
              <a:buSzTx/>
              <a:tabLst/>
              <a:defRPr/>
            </a:pPr>
            <a:r>
              <a:rPr lang="en-US" altLang="zh-CN" sz="2000" b="0" dirty="0">
                <a:solidFill>
                  <a:sysClr val="windowText" lastClr="000000"/>
                </a:solidFill>
                <a:latin typeface="Palatino Linotype" panose="02040502050505030304" pitchFamily="18" charset="0"/>
                <a:ea typeface="宋体" panose="02010600030101010101" pitchFamily="2" charset="-122"/>
              </a:rPr>
              <a:t>QQ --- </a:t>
            </a:r>
            <a:r>
              <a:rPr lang="zh-CN" altLang="en-US" sz="2000" b="0" dirty="0">
                <a:solidFill>
                  <a:sysClr val="windowText" lastClr="000000"/>
                </a:solidFill>
                <a:latin typeface="Palatino Linotype" panose="02040502050505030304" pitchFamily="18" charset="0"/>
                <a:ea typeface="宋体" panose="02010600030101010101" pitchFamily="2" charset="-122"/>
              </a:rPr>
              <a:t>群文件</a:t>
            </a:r>
            <a:endParaRPr lang="en-US" altLang="zh-CN" sz="2000" b="0" dirty="0">
              <a:solidFill>
                <a:sysClr val="windowText" lastClr="000000"/>
              </a:solidFill>
              <a:latin typeface="宋体" panose="02010600030101010101" pitchFamily="2" charset="-122"/>
              <a:ea typeface="宋体" panose="02010600030101010101" pitchFamily="2" charset="-122"/>
            </a:endParaRPr>
          </a:p>
          <a:p>
            <a:pPr marL="12700" marR="0" lvl="0" defTabSz="914400" eaLnBrk="1" fontAlgn="auto" latinLnBrk="0" hangingPunct="1">
              <a:lnSpc>
                <a:spcPct val="100000"/>
              </a:lnSpc>
              <a:spcBef>
                <a:spcPts val="95"/>
              </a:spcBef>
              <a:spcAft>
                <a:spcPts val="0"/>
              </a:spcAft>
              <a:buClrTx/>
              <a:buSzTx/>
              <a:tabLst/>
              <a:defRPr/>
            </a:pPr>
            <a:endParaRPr kumimoji="0" lang="en-US" altLang="zh-CN" sz="2400" b="1" i="0" u="none" strike="noStrike" kern="0" cap="none" spc="-5" normalizeH="0" baseline="0" noProof="0" dirty="0">
              <a:ln>
                <a:noFill/>
              </a:ln>
              <a:solidFill>
                <a:sysClr val="windowText" lastClr="000000"/>
              </a:solidFill>
              <a:effectLst/>
              <a:uLnTx/>
              <a:uFillTx/>
              <a:latin typeface="Palatino Linotype"/>
              <a:ea typeface="+mj-ea"/>
            </a:endParaRPr>
          </a:p>
          <a:p>
            <a:pPr marL="12700" marR="0" lvl="0" defTabSz="914400" eaLnBrk="1" fontAlgn="auto" latinLnBrk="0" hangingPunct="1">
              <a:lnSpc>
                <a:spcPct val="100000"/>
              </a:lnSpc>
              <a:spcBef>
                <a:spcPts val="95"/>
              </a:spcBef>
              <a:spcAft>
                <a:spcPts val="0"/>
              </a:spcAft>
              <a:buClrTx/>
              <a:buSzTx/>
              <a:tabLst/>
              <a:defRPr/>
            </a:pP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How to submit assignments ?</a:t>
            </a:r>
          </a:p>
          <a:p>
            <a:pPr marL="12700" marR="0" lvl="0" defTabSz="914400" eaLnBrk="1" fontAlgn="auto" latinLnBrk="0" hangingPunct="1">
              <a:lnSpc>
                <a:spcPct val="100000"/>
              </a:lnSpc>
              <a:spcBef>
                <a:spcPts val="95"/>
              </a:spcBef>
              <a:spcAft>
                <a:spcPts val="0"/>
              </a:spcAft>
              <a:buClrTx/>
              <a:buSzTx/>
              <a:tabLst/>
              <a:defRPr/>
            </a:pPr>
            <a:endParaRPr kumimoji="0" lang="en-US" altLang="zh-CN" sz="2000" b="1" i="0" u="none" strike="noStrike" kern="0" cap="none" spc="-5" normalizeH="0" baseline="0" noProof="0" dirty="0">
              <a:ln>
                <a:noFill/>
              </a:ln>
              <a:solidFill>
                <a:sysClr val="windowText" lastClr="000000"/>
              </a:solidFill>
              <a:effectLst/>
              <a:uLnTx/>
              <a:uFillTx/>
              <a:latin typeface="Palatino Linotype"/>
              <a:ea typeface="+mj-ea"/>
            </a:endParaRPr>
          </a:p>
          <a:p>
            <a:pPr marL="12700" marR="0" lvl="0" defTabSz="914400" eaLnBrk="1" fontAlgn="auto" latinLnBrk="0" hangingPunct="1">
              <a:lnSpc>
                <a:spcPct val="100000"/>
              </a:lnSpc>
              <a:spcBef>
                <a:spcPts val="95"/>
              </a:spcBef>
              <a:spcAft>
                <a:spcPts val="0"/>
              </a:spcAft>
              <a:buClrTx/>
              <a:buSzTx/>
              <a:tabLst/>
              <a:defRPr/>
            </a:pPr>
            <a:r>
              <a:rPr lang="en-US" altLang="zh-CN" sz="2000" b="0" dirty="0">
                <a:solidFill>
                  <a:sysClr val="windowText" lastClr="000000"/>
                </a:solidFill>
                <a:latin typeface="Palatino Linotype" panose="02040502050505030304" pitchFamily="18" charset="0"/>
                <a:ea typeface="宋体" panose="02010600030101010101" pitchFamily="2" charset="-122"/>
              </a:rPr>
              <a:t>Teaching cloud platform</a:t>
            </a:r>
            <a:r>
              <a:rPr lang="en-US" altLang="zh-CN" sz="2000" b="0" dirty="0">
                <a:solidFill>
                  <a:sysClr val="windowText" lastClr="000000"/>
                </a:solidFill>
                <a:latin typeface="宋体" panose="02010600030101010101" pitchFamily="2" charset="-122"/>
                <a:ea typeface="宋体" panose="02010600030101010101" pitchFamily="2" charset="-122"/>
              </a:rPr>
              <a:t>(</a:t>
            </a:r>
            <a:r>
              <a:rPr lang="zh-CN" altLang="en-US" sz="2000" b="0" dirty="0">
                <a:solidFill>
                  <a:sysClr val="windowText" lastClr="000000"/>
                </a:solidFill>
                <a:latin typeface="宋体" panose="02010600030101010101" pitchFamily="2" charset="-122"/>
                <a:ea typeface="宋体" panose="02010600030101010101" pitchFamily="2" charset="-122"/>
              </a:rPr>
              <a:t>教学云平台</a:t>
            </a:r>
            <a:r>
              <a:rPr lang="en-US" altLang="zh-CN" sz="2000" b="0" dirty="0">
                <a:solidFill>
                  <a:sysClr val="windowText" lastClr="000000"/>
                </a:solidFill>
                <a:latin typeface="宋体" panose="02010600030101010101" pitchFamily="2" charset="-122"/>
                <a:ea typeface="宋体" panose="02010600030101010101" pitchFamily="2" charset="-122"/>
              </a:rPr>
              <a:t>)</a:t>
            </a:r>
          </a:p>
          <a:p>
            <a:pPr marL="12700" marR="0" lvl="0" defTabSz="914400" eaLnBrk="1" fontAlgn="auto" latinLnBrk="0" hangingPunct="1">
              <a:lnSpc>
                <a:spcPct val="100000"/>
              </a:lnSpc>
              <a:spcBef>
                <a:spcPts val="95"/>
              </a:spcBef>
              <a:spcAft>
                <a:spcPts val="0"/>
              </a:spcAft>
              <a:buClrTx/>
              <a:buSzTx/>
              <a:tabLst/>
              <a:defRPr/>
            </a:pPr>
            <a:endParaRPr kumimoji="0" lang="en-US" sz="20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a:p>
            <a:pPr marL="12700" marR="0" lvl="0" indent="0" algn="l" defTabSz="914400" eaLnBrk="1" fontAlgn="auto" latinLnBrk="0" hangingPunct="1">
              <a:lnSpc>
                <a:spcPct val="100000"/>
              </a:lnSpc>
              <a:spcBef>
                <a:spcPts val="95"/>
              </a:spcBef>
              <a:spcAft>
                <a:spcPts val="0"/>
              </a:spcAft>
              <a:buClrTx/>
              <a:buSzTx/>
              <a:buFontTx/>
              <a:buNone/>
              <a:tabLst/>
              <a:defRPr/>
            </a:pPr>
            <a:r>
              <a:rPr kumimoji="0" lang="zh-CN" altLang="en-US" sz="1800" b="0"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rPr>
              <a:t>（信息门户 </a:t>
            </a:r>
            <a:r>
              <a:rPr lang="en-US" altLang="zh-CN" sz="1800" b="0" dirty="0">
                <a:solidFill>
                  <a:sysClr val="windowText" lastClr="000000"/>
                </a:solidFill>
                <a:latin typeface="Palatino Linotype" panose="02040502050505030304" pitchFamily="18" charset="0"/>
                <a:ea typeface="宋体" panose="02010600030101010101" pitchFamily="2" charset="-122"/>
              </a:rPr>
              <a:t>---</a:t>
            </a:r>
            <a:r>
              <a:rPr kumimoji="0" lang="en-US" altLang="zh-CN" sz="1800" b="0"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rPr>
              <a:t> </a:t>
            </a:r>
            <a:r>
              <a:rPr kumimoji="0" lang="zh-CN" altLang="en-US" sz="1800" b="0"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rPr>
              <a:t>系统直通车 </a:t>
            </a:r>
            <a:r>
              <a:rPr lang="en-US" altLang="zh-CN" sz="1800" b="0" dirty="0">
                <a:solidFill>
                  <a:sysClr val="windowText" lastClr="000000"/>
                </a:solidFill>
                <a:latin typeface="Palatino Linotype" panose="02040502050505030304" pitchFamily="18" charset="0"/>
                <a:ea typeface="宋体" panose="02010600030101010101" pitchFamily="2" charset="-122"/>
              </a:rPr>
              <a:t>---</a:t>
            </a:r>
            <a:r>
              <a:rPr kumimoji="0" lang="en-US" altLang="zh-CN" sz="1800" b="0"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rPr>
              <a:t> </a:t>
            </a:r>
            <a:r>
              <a:rPr kumimoji="0" lang="zh-CN" altLang="en-US" sz="1800" b="0"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rPr>
              <a:t>教学云平台 </a:t>
            </a:r>
            <a:r>
              <a:rPr lang="en-US" altLang="zh-CN" sz="1800" b="0" dirty="0">
                <a:solidFill>
                  <a:sysClr val="windowText" lastClr="000000"/>
                </a:solidFill>
                <a:latin typeface="Palatino Linotype" panose="02040502050505030304" pitchFamily="18" charset="0"/>
                <a:ea typeface="宋体" panose="02010600030101010101" pitchFamily="2" charset="-122"/>
              </a:rPr>
              <a:t>---</a:t>
            </a:r>
            <a:r>
              <a:rPr kumimoji="0" lang="en-US" altLang="zh-CN" sz="1800" b="0"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rPr>
              <a:t> </a:t>
            </a:r>
            <a:r>
              <a:rPr kumimoji="0" lang="zh-CN" altLang="en-US" sz="1800" b="0" i="0" u="none" strike="noStrike" kern="0" cap="none" spc="-5"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rPr>
              <a:t>云邮教学空间）</a:t>
            </a:r>
            <a:endParaRPr kumimoji="0" lang="en-US" altLang="zh-CN" sz="18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Arial"/>
            </a:endParaRPr>
          </a:p>
        </p:txBody>
      </p:sp>
      <p:sp>
        <p:nvSpPr>
          <p:cNvPr id="6" name="灯片编号占位符 5">
            <a:extLst>
              <a:ext uri="{FF2B5EF4-FFF2-40B4-BE49-F238E27FC236}">
                <a16:creationId xmlns:a16="http://schemas.microsoft.com/office/drawing/2014/main" id="{D9117ED7-7E46-8D78-E28C-73A8C461E0B3}"/>
              </a:ext>
            </a:extLst>
          </p:cNvPr>
          <p:cNvSpPr>
            <a:spLocks noGrp="1"/>
          </p:cNvSpPr>
          <p:nvPr>
            <p:ph type="sldNum" sz="quarter" idx="12"/>
          </p:nvPr>
        </p:nvSpPr>
        <p:spPr/>
        <p:txBody>
          <a:bodyPr/>
          <a:lstStyle/>
          <a:p>
            <a:pPr>
              <a:defRPr/>
            </a:pPr>
            <a:fld id="{2FBC720A-3716-234A-B2DF-CBC7E48049F5}" type="slidenum">
              <a:rPr lang="en-US" altLang="zh-CN" smtClean="0"/>
              <a:t>45</a:t>
            </a:fld>
            <a:endParaRPr lang="en-US" altLang="zh-CN"/>
          </a:p>
        </p:txBody>
      </p:sp>
    </p:spTree>
    <p:extLst>
      <p:ext uri="{BB962C8B-B14F-4D97-AF65-F5344CB8AC3E}">
        <p14:creationId xmlns:p14="http://schemas.microsoft.com/office/powerpoint/2010/main" val="3614095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5" name="object 7">
            <a:extLst>
              <a:ext uri="{FF2B5EF4-FFF2-40B4-BE49-F238E27FC236}">
                <a16:creationId xmlns:a16="http://schemas.microsoft.com/office/drawing/2014/main" id="{7BBDF74A-E6D1-04C3-8AB4-94EABB542E40}"/>
              </a:ext>
            </a:extLst>
          </p:cNvPr>
          <p:cNvSpPr/>
          <p:nvPr/>
        </p:nvSpPr>
        <p:spPr>
          <a:xfrm>
            <a:off x="2842005" y="3752722"/>
            <a:ext cx="1793239" cy="1885314"/>
          </a:xfrm>
          <a:custGeom>
            <a:avLst/>
            <a:gdLst/>
            <a:ahLst/>
            <a:cxnLst/>
            <a:rect l="l" t="t" r="r" b="b"/>
            <a:pathLst>
              <a:path w="1793239" h="1885314">
                <a:moveTo>
                  <a:pt x="1792985" y="1885264"/>
                </a:moveTo>
                <a:lnTo>
                  <a:pt x="1744096" y="1884635"/>
                </a:lnTo>
                <a:lnTo>
                  <a:pt x="1695447" y="1882757"/>
                </a:lnTo>
                <a:lnTo>
                  <a:pt x="1647057" y="1879643"/>
                </a:lnTo>
                <a:lnTo>
                  <a:pt x="1598945" y="1875306"/>
                </a:lnTo>
                <a:lnTo>
                  <a:pt x="1551128" y="1869759"/>
                </a:lnTo>
                <a:lnTo>
                  <a:pt x="1503625" y="1863017"/>
                </a:lnTo>
                <a:lnTo>
                  <a:pt x="1456454" y="1855091"/>
                </a:lnTo>
                <a:lnTo>
                  <a:pt x="1409633" y="1845996"/>
                </a:lnTo>
                <a:lnTo>
                  <a:pt x="1363180" y="1835743"/>
                </a:lnTo>
                <a:lnTo>
                  <a:pt x="1317113" y="1824348"/>
                </a:lnTo>
                <a:lnTo>
                  <a:pt x="1271452" y="1811822"/>
                </a:lnTo>
                <a:lnTo>
                  <a:pt x="1226212" y="1798179"/>
                </a:lnTo>
                <a:lnTo>
                  <a:pt x="1181414" y="1783432"/>
                </a:lnTo>
                <a:lnTo>
                  <a:pt x="1137075" y="1767594"/>
                </a:lnTo>
                <a:lnTo>
                  <a:pt x="1093213" y="1750680"/>
                </a:lnTo>
                <a:lnTo>
                  <a:pt x="1049847" y="1732701"/>
                </a:lnTo>
                <a:lnTo>
                  <a:pt x="1006995" y="1713671"/>
                </a:lnTo>
                <a:lnTo>
                  <a:pt x="964674" y="1693603"/>
                </a:lnTo>
                <a:lnTo>
                  <a:pt x="922903" y="1672510"/>
                </a:lnTo>
                <a:lnTo>
                  <a:pt x="881701" y="1650407"/>
                </a:lnTo>
                <a:lnTo>
                  <a:pt x="841084" y="1627305"/>
                </a:lnTo>
                <a:lnTo>
                  <a:pt x="801073" y="1603218"/>
                </a:lnTo>
                <a:lnTo>
                  <a:pt x="761684" y="1578160"/>
                </a:lnTo>
                <a:lnTo>
                  <a:pt x="722936" y="1552143"/>
                </a:lnTo>
                <a:lnTo>
                  <a:pt x="684847" y="1525181"/>
                </a:lnTo>
                <a:lnTo>
                  <a:pt x="647435" y="1497286"/>
                </a:lnTo>
                <a:lnTo>
                  <a:pt x="610719" y="1468473"/>
                </a:lnTo>
                <a:lnTo>
                  <a:pt x="574717" y="1438754"/>
                </a:lnTo>
                <a:lnTo>
                  <a:pt x="539446" y="1408143"/>
                </a:lnTo>
                <a:lnTo>
                  <a:pt x="504925" y="1376652"/>
                </a:lnTo>
                <a:lnTo>
                  <a:pt x="471172" y="1344296"/>
                </a:lnTo>
                <a:lnTo>
                  <a:pt x="438206" y="1311087"/>
                </a:lnTo>
                <a:lnTo>
                  <a:pt x="406044" y="1277038"/>
                </a:lnTo>
                <a:lnTo>
                  <a:pt x="374705" y="1242162"/>
                </a:lnTo>
                <a:lnTo>
                  <a:pt x="344207" y="1206474"/>
                </a:lnTo>
                <a:lnTo>
                  <a:pt x="314568" y="1169985"/>
                </a:lnTo>
                <a:lnTo>
                  <a:pt x="285806" y="1132710"/>
                </a:lnTo>
                <a:lnTo>
                  <a:pt x="257939" y="1094661"/>
                </a:lnTo>
                <a:lnTo>
                  <a:pt x="230986" y="1055852"/>
                </a:lnTo>
                <a:lnTo>
                  <a:pt x="204965" y="1016296"/>
                </a:lnTo>
                <a:lnTo>
                  <a:pt x="179894" y="976006"/>
                </a:lnTo>
                <a:lnTo>
                  <a:pt x="155791" y="934995"/>
                </a:lnTo>
                <a:lnTo>
                  <a:pt x="132674" y="893277"/>
                </a:lnTo>
                <a:lnTo>
                  <a:pt x="110562" y="850864"/>
                </a:lnTo>
                <a:lnTo>
                  <a:pt x="89472" y="807770"/>
                </a:lnTo>
                <a:lnTo>
                  <a:pt x="69423" y="764009"/>
                </a:lnTo>
                <a:lnTo>
                  <a:pt x="50433" y="719593"/>
                </a:lnTo>
                <a:lnTo>
                  <a:pt x="32521" y="674535"/>
                </a:lnTo>
                <a:lnTo>
                  <a:pt x="15703" y="628849"/>
                </a:lnTo>
                <a:lnTo>
                  <a:pt x="0" y="582549"/>
                </a:lnTo>
                <a:lnTo>
                  <a:pt x="1792985" y="0"/>
                </a:lnTo>
                <a:lnTo>
                  <a:pt x="1792985" y="1885264"/>
                </a:lnTo>
                <a:close/>
              </a:path>
            </a:pathLst>
          </a:custGeom>
          <a:ln w="1905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628650"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About Labs &amp; Projects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6" name="object 2">
            <a:extLst>
              <a:ext uri="{FF2B5EF4-FFF2-40B4-BE49-F238E27FC236}">
                <a16:creationId xmlns:a16="http://schemas.microsoft.com/office/drawing/2014/main" id="{A03FAD83-4567-103F-0A78-EE42C9E92980}"/>
              </a:ext>
            </a:extLst>
          </p:cNvPr>
          <p:cNvSpPr txBox="1">
            <a:spLocks/>
          </p:cNvSpPr>
          <p:nvPr/>
        </p:nvSpPr>
        <p:spPr bwMode="auto">
          <a:xfrm>
            <a:off x="233793" y="2002563"/>
            <a:ext cx="4698247" cy="3931204"/>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a:spcBef>
                <a:spcPts val="95"/>
              </a:spcBef>
              <a:defRPr/>
            </a:pPr>
            <a:r>
              <a:rPr kumimoji="0" lang="en-US" altLang="zh-CN" sz="2400" b="1" i="0" u="none" strike="noStrike" kern="0" cap="none" spc="-5" normalizeH="0" baseline="0" noProof="0" dirty="0">
                <a:ln>
                  <a:noFill/>
                </a:ln>
                <a:solidFill>
                  <a:sysClr val="windowText" lastClr="000000"/>
                </a:solidFill>
                <a:effectLst/>
                <a:uLnTx/>
                <a:uFillTx/>
                <a:latin typeface="Palatino Linotype"/>
                <a:ea typeface="+mj-ea"/>
              </a:rPr>
              <a:t>Labs:</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altLang="zh-CN" sz="2000" spc="-5" dirty="0">
                <a:solidFill>
                  <a:sysClr val="windowText" lastClr="000000"/>
                </a:solidFill>
              </a:rPr>
              <a:t>Standalone exercises involving the implementation of different concepts</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altLang="zh-CN" sz="2000" spc="-5" dirty="0">
                <a:solidFill>
                  <a:sysClr val="windowText" lastClr="000000"/>
                </a:solidFill>
              </a:rPr>
              <a:t>Providing support for projects</a:t>
            </a:r>
          </a:p>
          <a:p>
            <a:pPr marL="12700" marR="0" lvl="0" defTabSz="914400" eaLnBrk="1" fontAlgn="auto" latinLnBrk="0" hangingPunct="1">
              <a:lnSpc>
                <a:spcPct val="100000"/>
              </a:lnSpc>
              <a:spcBef>
                <a:spcPts val="95"/>
              </a:spcBef>
              <a:spcAft>
                <a:spcPts val="0"/>
              </a:spcAft>
              <a:buClrTx/>
              <a:buSzTx/>
              <a:tabLst/>
              <a:defRPr/>
            </a:pPr>
            <a:endParaRPr lang="en-US" altLang="zh-CN" sz="2000" spc="-5" dirty="0">
              <a:solidFill>
                <a:sysClr val="windowText" lastClr="000000"/>
              </a:solidFill>
            </a:endParaRPr>
          </a:p>
          <a:p>
            <a:pPr marL="12700" marR="0" lvl="0" defTabSz="914400" eaLnBrk="1" fontAlgn="auto" latinLnBrk="0" hangingPunct="1">
              <a:lnSpc>
                <a:spcPct val="100000"/>
              </a:lnSpc>
              <a:spcBef>
                <a:spcPts val="95"/>
              </a:spcBef>
              <a:spcAft>
                <a:spcPts val="0"/>
              </a:spcAft>
              <a:buClrTx/>
              <a:buSzTx/>
              <a:tabLst/>
              <a:defRPr/>
            </a:pPr>
            <a:r>
              <a:rPr lang="en-US" altLang="zh-CN" sz="2400" spc="-5" dirty="0">
                <a:solidFill>
                  <a:sysClr val="windowText" lastClr="000000"/>
                </a:solidFill>
              </a:rPr>
              <a:t>Projects:</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altLang="zh-CN" sz="2000" spc="-5" dirty="0">
                <a:solidFill>
                  <a:sysClr val="windowText" lastClr="000000"/>
                </a:solidFill>
              </a:rPr>
              <a:t>More comprehensive tasks</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altLang="zh-CN" sz="2000" spc="-5" dirty="0">
                <a:solidFill>
                  <a:sysClr val="windowText" lastClr="000000"/>
                </a:solidFill>
              </a:rPr>
              <a:t>Applying the knowledge gained from labs to a practical compiler development</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endParaRPr lang="en-US" altLang="zh-CN" sz="2000" spc="-5" dirty="0">
              <a:solidFill>
                <a:sysClr val="windowText" lastClr="000000"/>
              </a:solidFill>
            </a:endParaRPr>
          </a:p>
          <a:p>
            <a:pPr marL="12700">
              <a:spcBef>
                <a:spcPts val="95"/>
              </a:spcBef>
              <a:defRPr/>
            </a:pPr>
            <a:endParaRPr lang="en-US" altLang="zh-CN" sz="2000" spc="-5" dirty="0">
              <a:solidFill>
                <a:sysClr val="windowText" lastClr="000000"/>
              </a:solidFill>
            </a:endParaRPr>
          </a:p>
        </p:txBody>
      </p:sp>
      <p:sp>
        <p:nvSpPr>
          <p:cNvPr id="7" name="右大括号 6">
            <a:extLst>
              <a:ext uri="{FF2B5EF4-FFF2-40B4-BE49-F238E27FC236}">
                <a16:creationId xmlns:a16="http://schemas.microsoft.com/office/drawing/2014/main" id="{ADD18AAE-7787-6B87-DBAA-CDC43676B996}"/>
              </a:ext>
            </a:extLst>
          </p:cNvPr>
          <p:cNvSpPr/>
          <p:nvPr/>
        </p:nvSpPr>
        <p:spPr>
          <a:xfrm>
            <a:off x="5089984" y="2564904"/>
            <a:ext cx="792088" cy="1728192"/>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AEE8D543-02CC-FFC7-DF50-7814653F47F0}"/>
              </a:ext>
            </a:extLst>
          </p:cNvPr>
          <p:cNvSpPr txBox="1"/>
          <p:nvPr/>
        </p:nvSpPr>
        <p:spPr>
          <a:xfrm>
            <a:off x="6040016" y="2664688"/>
            <a:ext cx="2780456" cy="1528624"/>
          </a:xfrm>
          <a:prstGeom prst="rect">
            <a:avLst/>
          </a:prstGeom>
          <a:noFill/>
        </p:spPr>
        <p:txBody>
          <a:bodyPr wrap="square">
            <a:spAutoFit/>
          </a:bodyPr>
          <a:lstStyle/>
          <a:p>
            <a:pPr marL="12700">
              <a:spcBef>
                <a:spcPts val="95"/>
              </a:spcBef>
              <a:defRPr/>
            </a:pPr>
            <a:r>
              <a:rPr lang="en-US" altLang="zh-CN" sz="1800" spc="-5" dirty="0">
                <a:solidFill>
                  <a:sysClr val="windowText" lastClr="000000"/>
                </a:solidFill>
                <a:latin typeface="Palatino Linotype" panose="02040502050505030304" pitchFamily="18" charset="0"/>
              </a:rPr>
              <a:t>Programming practices</a:t>
            </a:r>
          </a:p>
          <a:p>
            <a:pPr marL="12700">
              <a:spcBef>
                <a:spcPts val="95"/>
              </a:spcBef>
              <a:defRPr/>
            </a:pPr>
            <a:endParaRPr lang="en-US" altLang="zh-CN" sz="1800" spc="-5" dirty="0">
              <a:solidFill>
                <a:sysClr val="windowText" lastClr="000000"/>
              </a:solidFill>
              <a:latin typeface="Palatino Linotype" panose="02040502050505030304" pitchFamily="18" charset="0"/>
            </a:endParaRPr>
          </a:p>
          <a:p>
            <a:pPr marL="12700">
              <a:spcBef>
                <a:spcPts val="95"/>
              </a:spcBef>
              <a:defRPr/>
            </a:pPr>
            <a:r>
              <a:rPr lang="en-US" altLang="zh-CN" sz="1800" spc="-5" dirty="0">
                <a:solidFill>
                  <a:sysClr val="windowText" lastClr="000000"/>
                </a:solidFill>
                <a:latin typeface="Palatino Linotype" panose="02040502050505030304" pitchFamily="18" charset="0"/>
              </a:rPr>
              <a:t>Complement each other</a:t>
            </a:r>
          </a:p>
          <a:p>
            <a:pPr marL="12700">
              <a:spcBef>
                <a:spcPts val="95"/>
              </a:spcBef>
              <a:defRPr/>
            </a:pPr>
            <a:r>
              <a:rPr lang="en-US" altLang="zh-CN" sz="1800" spc="-5" dirty="0">
                <a:solidFill>
                  <a:sysClr val="windowText" lastClr="000000"/>
                </a:solidFill>
                <a:latin typeface="Palatino Linotype" panose="02040502050505030304" pitchFamily="18" charset="0"/>
              </a:rPr>
              <a:t> </a:t>
            </a:r>
          </a:p>
          <a:p>
            <a:pPr marL="12700">
              <a:spcBef>
                <a:spcPts val="95"/>
              </a:spcBef>
              <a:defRPr/>
            </a:pPr>
            <a:r>
              <a:rPr lang="en-US" altLang="zh-CN" sz="1800" spc="-5" dirty="0">
                <a:solidFill>
                  <a:sysClr val="windowText" lastClr="000000"/>
                </a:solidFill>
                <a:latin typeface="Palatino Linotype" panose="02040502050505030304" pitchFamily="18" charset="0"/>
              </a:rPr>
              <a:t>For building a compiler</a:t>
            </a:r>
          </a:p>
        </p:txBody>
      </p:sp>
      <p:sp>
        <p:nvSpPr>
          <p:cNvPr id="8" name="灯片编号占位符 7">
            <a:extLst>
              <a:ext uri="{FF2B5EF4-FFF2-40B4-BE49-F238E27FC236}">
                <a16:creationId xmlns:a16="http://schemas.microsoft.com/office/drawing/2014/main" id="{4F883667-B868-138B-C3B1-519476486B44}"/>
              </a:ext>
            </a:extLst>
          </p:cNvPr>
          <p:cNvSpPr>
            <a:spLocks noGrp="1"/>
          </p:cNvSpPr>
          <p:nvPr>
            <p:ph type="sldNum" sz="quarter" idx="12"/>
          </p:nvPr>
        </p:nvSpPr>
        <p:spPr/>
        <p:txBody>
          <a:bodyPr/>
          <a:lstStyle/>
          <a:p>
            <a:pPr>
              <a:defRPr/>
            </a:pPr>
            <a:fld id="{2FBC720A-3716-234A-B2DF-CBC7E48049F5}" type="slidenum">
              <a:rPr lang="en-US" altLang="zh-CN" smtClean="0"/>
              <a:t>46</a:t>
            </a:fld>
            <a:endParaRPr lang="en-US" altLang="zh-CN"/>
          </a:p>
        </p:txBody>
      </p:sp>
    </p:spTree>
    <p:extLst>
      <p:ext uri="{BB962C8B-B14F-4D97-AF65-F5344CB8AC3E}">
        <p14:creationId xmlns:p14="http://schemas.microsoft.com/office/powerpoint/2010/main" val="334739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628650"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Projects Overview</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文本框 8">
            <a:extLst>
              <a:ext uri="{FF2B5EF4-FFF2-40B4-BE49-F238E27FC236}">
                <a16:creationId xmlns:a16="http://schemas.microsoft.com/office/drawing/2014/main" id="{AEE8D543-02CC-FFC7-DF50-7814653F47F0}"/>
              </a:ext>
            </a:extLst>
          </p:cNvPr>
          <p:cNvSpPr txBox="1"/>
          <p:nvPr/>
        </p:nvSpPr>
        <p:spPr>
          <a:xfrm>
            <a:off x="628650" y="1685986"/>
            <a:ext cx="8047806" cy="3221395"/>
          </a:xfrm>
          <a:prstGeom prst="rect">
            <a:avLst/>
          </a:prstGeom>
          <a:noFill/>
        </p:spPr>
        <p:txBody>
          <a:bodyPr wrap="square">
            <a:spAutoFit/>
          </a:bodyPr>
          <a:lstStyle/>
          <a:p>
            <a:pPr marL="298450" indent="-285750">
              <a:spcBef>
                <a:spcPts val="95"/>
              </a:spcBef>
              <a:buFont typeface="Arial" panose="020B0604020202020204" pitchFamily="34" charset="0"/>
              <a:buChar char="•"/>
              <a:defRPr/>
            </a:pPr>
            <a:r>
              <a:rPr lang="en-US" altLang="zh-CN" sz="2800" b="1" spc="-5" dirty="0">
                <a:solidFill>
                  <a:sysClr val="windowText" lastClr="000000"/>
                </a:solidFill>
                <a:latin typeface="Palatino Linotype" panose="02040502050505030304" pitchFamily="18" charset="0"/>
              </a:rPr>
              <a:t>Goal</a:t>
            </a:r>
          </a:p>
          <a:p>
            <a:pPr marL="298450" indent="-285750">
              <a:spcBef>
                <a:spcPts val="95"/>
              </a:spcBef>
              <a:buFont typeface="Arial" panose="020B0604020202020204" pitchFamily="34" charset="0"/>
              <a:buChar char="•"/>
              <a:defRPr/>
            </a:pPr>
            <a:endParaRPr lang="en-US" altLang="zh-CN" sz="2800" b="1" spc="-5" dirty="0">
              <a:solidFill>
                <a:sysClr val="windowText" lastClr="000000"/>
              </a:solidFill>
              <a:latin typeface="Palatino Linotype" panose="02040502050505030304" pitchFamily="18" charset="0"/>
            </a:endParaRPr>
          </a:p>
          <a:p>
            <a:pPr marL="12700">
              <a:spcBef>
                <a:spcPts val="95"/>
              </a:spcBef>
              <a:defRPr/>
            </a:pPr>
            <a:r>
              <a:rPr lang="en-US" altLang="zh-CN" sz="2400" spc="-5" dirty="0">
                <a:solidFill>
                  <a:sysClr val="windowText" lastClr="000000"/>
                </a:solidFill>
                <a:latin typeface="Palatino Linotype" panose="02040502050505030304" pitchFamily="18" charset="0"/>
              </a:rPr>
              <a:t>Design &amp; implement a compiler for BUPT Programming Language(BPL). </a:t>
            </a:r>
          </a:p>
          <a:p>
            <a:pPr marL="12700">
              <a:spcBef>
                <a:spcPts val="95"/>
              </a:spcBef>
              <a:defRPr/>
            </a:pPr>
            <a:endParaRPr lang="en-US" altLang="zh-CN" sz="2400" spc="-5" dirty="0">
              <a:solidFill>
                <a:sysClr val="windowText" lastClr="000000"/>
              </a:solidFill>
              <a:latin typeface="Palatino Linotype" panose="02040502050505030304" pitchFamily="18" charset="0"/>
            </a:endParaRPr>
          </a:p>
          <a:p>
            <a:pPr marL="12700">
              <a:spcBef>
                <a:spcPts val="95"/>
              </a:spcBef>
              <a:defRPr/>
            </a:pPr>
            <a:r>
              <a:rPr lang="en-US" altLang="zh-CN" sz="2400" spc="-5" dirty="0">
                <a:solidFill>
                  <a:sysClr val="windowText" lastClr="000000"/>
                </a:solidFill>
                <a:latin typeface="Palatino Linotype" panose="02040502050505030304" pitchFamily="18" charset="0"/>
              </a:rPr>
              <a:t>BPL is a C-like Programming language, but it removes most advanced features, while it keeps general-purpose programming language functionalities.</a:t>
            </a:r>
          </a:p>
        </p:txBody>
      </p:sp>
      <p:sp>
        <p:nvSpPr>
          <p:cNvPr id="6" name="灯片编号占位符 5">
            <a:extLst>
              <a:ext uri="{FF2B5EF4-FFF2-40B4-BE49-F238E27FC236}">
                <a16:creationId xmlns:a16="http://schemas.microsoft.com/office/drawing/2014/main" id="{025818CC-B3BC-D171-EC00-A930C2D3082F}"/>
              </a:ext>
            </a:extLst>
          </p:cNvPr>
          <p:cNvSpPr>
            <a:spLocks noGrp="1"/>
          </p:cNvSpPr>
          <p:nvPr>
            <p:ph type="sldNum" sz="quarter" idx="12"/>
          </p:nvPr>
        </p:nvSpPr>
        <p:spPr/>
        <p:txBody>
          <a:bodyPr/>
          <a:lstStyle/>
          <a:p>
            <a:pPr>
              <a:defRPr/>
            </a:pPr>
            <a:fld id="{2FBC720A-3716-234A-B2DF-CBC7E48049F5}" type="slidenum">
              <a:rPr lang="en-US" altLang="zh-CN" smtClean="0"/>
              <a:t>47</a:t>
            </a:fld>
            <a:endParaRPr lang="en-US" altLang="zh-CN"/>
          </a:p>
        </p:txBody>
      </p:sp>
    </p:spTree>
    <p:extLst>
      <p:ext uri="{BB962C8B-B14F-4D97-AF65-F5344CB8AC3E}">
        <p14:creationId xmlns:p14="http://schemas.microsoft.com/office/powerpoint/2010/main" val="32300657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628650"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Projects Overview</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文本框 8">
            <a:extLst>
              <a:ext uri="{FF2B5EF4-FFF2-40B4-BE49-F238E27FC236}">
                <a16:creationId xmlns:a16="http://schemas.microsoft.com/office/drawing/2014/main" id="{AEE8D543-02CC-FFC7-DF50-7814653F47F0}"/>
              </a:ext>
            </a:extLst>
          </p:cNvPr>
          <p:cNvSpPr txBox="1"/>
          <p:nvPr/>
        </p:nvSpPr>
        <p:spPr>
          <a:xfrm>
            <a:off x="628650" y="1685986"/>
            <a:ext cx="8047806" cy="3960058"/>
          </a:xfrm>
          <a:prstGeom prst="rect">
            <a:avLst/>
          </a:prstGeom>
          <a:noFill/>
        </p:spPr>
        <p:txBody>
          <a:bodyPr wrap="square">
            <a:spAutoFit/>
          </a:bodyPr>
          <a:lstStyle/>
          <a:p>
            <a:pPr marL="298450" indent="-285750">
              <a:spcBef>
                <a:spcPts val="95"/>
              </a:spcBef>
              <a:buFont typeface="Arial" panose="020B0604020202020204" pitchFamily="34" charset="0"/>
              <a:buChar char="•"/>
              <a:defRPr/>
            </a:pPr>
            <a:r>
              <a:rPr lang="en-US" altLang="zh-CN" sz="2800" b="1" spc="-5" dirty="0">
                <a:solidFill>
                  <a:sysClr val="windowText" lastClr="000000"/>
                </a:solidFill>
                <a:latin typeface="Palatino Linotype" panose="02040502050505030304" pitchFamily="18" charset="0"/>
              </a:rPr>
              <a:t>Target</a:t>
            </a:r>
          </a:p>
          <a:p>
            <a:pPr marL="298450" indent="-285750">
              <a:spcBef>
                <a:spcPts val="95"/>
              </a:spcBef>
              <a:buFont typeface="Arial" panose="020B0604020202020204" pitchFamily="34" charset="0"/>
              <a:buChar char="•"/>
              <a:defRPr/>
            </a:pPr>
            <a:endParaRPr lang="en-US" altLang="zh-CN" sz="2800" b="1" spc="-5" dirty="0">
              <a:solidFill>
                <a:sysClr val="windowText" lastClr="000000"/>
              </a:solidFill>
              <a:latin typeface="Palatino Linotype" panose="02040502050505030304" pitchFamily="18" charset="0"/>
            </a:endParaRPr>
          </a:p>
          <a:p>
            <a:pPr marL="12700">
              <a:spcBef>
                <a:spcPts val="95"/>
              </a:spcBef>
              <a:defRPr/>
            </a:pPr>
            <a:r>
              <a:rPr lang="en-US" altLang="zh-CN" sz="2400" spc="-5" dirty="0">
                <a:solidFill>
                  <a:sysClr val="windowText" lastClr="000000"/>
                </a:solidFill>
                <a:latin typeface="Palatino Linotype" panose="02040502050505030304" pitchFamily="18" charset="0"/>
              </a:rPr>
              <a:t>The compiler reads a BPL source code, translates it into a particular intermediate representation (IR). </a:t>
            </a:r>
          </a:p>
          <a:p>
            <a:pPr marL="12700">
              <a:spcBef>
                <a:spcPts val="95"/>
              </a:spcBef>
              <a:defRPr/>
            </a:pPr>
            <a:endParaRPr lang="en-US" altLang="zh-CN" sz="2400" spc="-5" dirty="0">
              <a:solidFill>
                <a:sysClr val="windowText" lastClr="000000"/>
              </a:solidFill>
              <a:latin typeface="Palatino Linotype" panose="02040502050505030304" pitchFamily="18" charset="0"/>
            </a:endParaRPr>
          </a:p>
          <a:p>
            <a:pPr marL="12700">
              <a:spcBef>
                <a:spcPts val="95"/>
              </a:spcBef>
              <a:defRPr/>
            </a:pPr>
            <a:r>
              <a:rPr lang="en-US" altLang="zh-CN" sz="2400" spc="-5" dirty="0">
                <a:solidFill>
                  <a:sysClr val="windowText" lastClr="000000"/>
                </a:solidFill>
                <a:latin typeface="Palatino Linotype" panose="02040502050505030304" pitchFamily="18" charset="0"/>
              </a:rPr>
              <a:t>During this semester, you will learn how to build your own compiler from scratch. You are expected to realize it through lexical and syntax analysis, semantics checking, intermediate code generation and target code generation(optional).</a:t>
            </a:r>
          </a:p>
        </p:txBody>
      </p:sp>
      <p:sp>
        <p:nvSpPr>
          <p:cNvPr id="6" name="灯片编号占位符 5">
            <a:extLst>
              <a:ext uri="{FF2B5EF4-FFF2-40B4-BE49-F238E27FC236}">
                <a16:creationId xmlns:a16="http://schemas.microsoft.com/office/drawing/2014/main" id="{A6E1E870-BE34-C191-1564-29818B4DE5CA}"/>
              </a:ext>
            </a:extLst>
          </p:cNvPr>
          <p:cNvSpPr>
            <a:spLocks noGrp="1"/>
          </p:cNvSpPr>
          <p:nvPr>
            <p:ph type="sldNum" sz="quarter" idx="12"/>
          </p:nvPr>
        </p:nvSpPr>
        <p:spPr/>
        <p:txBody>
          <a:bodyPr/>
          <a:lstStyle/>
          <a:p>
            <a:pPr>
              <a:defRPr/>
            </a:pPr>
            <a:fld id="{2FBC720A-3716-234A-B2DF-CBC7E48049F5}" type="slidenum">
              <a:rPr lang="en-US" altLang="zh-CN" smtClean="0"/>
              <a:t>48</a:t>
            </a:fld>
            <a:endParaRPr lang="en-US" altLang="zh-CN"/>
          </a:p>
        </p:txBody>
      </p:sp>
    </p:spTree>
    <p:extLst>
      <p:ext uri="{BB962C8B-B14F-4D97-AF65-F5344CB8AC3E}">
        <p14:creationId xmlns:p14="http://schemas.microsoft.com/office/powerpoint/2010/main" val="2005164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628650"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Projects Overview</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文本框 8">
            <a:extLst>
              <a:ext uri="{FF2B5EF4-FFF2-40B4-BE49-F238E27FC236}">
                <a16:creationId xmlns:a16="http://schemas.microsoft.com/office/drawing/2014/main" id="{AEE8D543-02CC-FFC7-DF50-7814653F47F0}"/>
              </a:ext>
            </a:extLst>
          </p:cNvPr>
          <p:cNvSpPr txBox="1"/>
          <p:nvPr/>
        </p:nvSpPr>
        <p:spPr>
          <a:xfrm>
            <a:off x="628650" y="1685986"/>
            <a:ext cx="8047806" cy="3962623"/>
          </a:xfrm>
          <a:prstGeom prst="rect">
            <a:avLst/>
          </a:prstGeom>
          <a:noFill/>
        </p:spPr>
        <p:txBody>
          <a:bodyPr wrap="square">
            <a:spAutoFit/>
          </a:bodyPr>
          <a:lstStyle/>
          <a:p>
            <a:pPr marL="298450" indent="-285750">
              <a:spcBef>
                <a:spcPts val="95"/>
              </a:spcBef>
              <a:buFont typeface="Arial" panose="020B0604020202020204" pitchFamily="34" charset="0"/>
              <a:buChar char="•"/>
              <a:defRPr/>
            </a:pPr>
            <a:r>
              <a:rPr lang="en-US" altLang="zh-CN" sz="2800" b="1" spc="-5" dirty="0">
                <a:solidFill>
                  <a:sysClr val="windowText" lastClr="000000"/>
                </a:solidFill>
                <a:latin typeface="Palatino Linotype" panose="02040502050505030304" pitchFamily="18" charset="0"/>
              </a:rPr>
              <a:t>Stages (approximately 3 weeks each):</a:t>
            </a:r>
          </a:p>
          <a:p>
            <a:pPr marL="12700">
              <a:spcBef>
                <a:spcPts val="95"/>
              </a:spcBef>
              <a:defRPr/>
            </a:pPr>
            <a:r>
              <a:rPr lang="en-US" altLang="zh-CN" sz="2400" spc="-5" dirty="0">
                <a:solidFill>
                  <a:sysClr val="windowText" lastClr="000000"/>
                </a:solidFill>
                <a:latin typeface="Palatino Linotype" panose="02040502050505030304" pitchFamily="18" charset="0"/>
              </a:rPr>
              <a:t>    </a:t>
            </a:r>
          </a:p>
          <a:p>
            <a:pPr marL="576000" indent="-342900">
              <a:spcBef>
                <a:spcPts val="95"/>
              </a:spcBef>
              <a:buFont typeface="Wingdings" panose="05000000000000000000" pitchFamily="2" charset="2"/>
              <a:buChar char="Ø"/>
              <a:defRPr/>
            </a:pPr>
            <a:r>
              <a:rPr lang="en-US" altLang="zh-CN" sz="2400" spc="-5" dirty="0">
                <a:solidFill>
                  <a:sysClr val="windowText" lastClr="000000"/>
                </a:solidFill>
                <a:latin typeface="Palatino Linotype" panose="02040502050505030304" pitchFamily="18" charset="0"/>
              </a:rPr>
              <a:t> Lexical analysis &amp; syntax analysis</a:t>
            </a:r>
          </a:p>
          <a:p>
            <a:pPr marL="576000" indent="-342900">
              <a:spcBef>
                <a:spcPts val="95"/>
              </a:spcBef>
              <a:buFont typeface="Wingdings" panose="05000000000000000000" pitchFamily="2" charset="2"/>
              <a:buChar char="Ø"/>
              <a:defRPr/>
            </a:pPr>
            <a:endParaRPr lang="en-US" altLang="zh-CN" sz="2400" spc="-5" dirty="0">
              <a:solidFill>
                <a:sysClr val="windowText" lastClr="000000"/>
              </a:solidFill>
              <a:latin typeface="Palatino Linotype" panose="02040502050505030304" pitchFamily="18" charset="0"/>
            </a:endParaRPr>
          </a:p>
          <a:p>
            <a:pPr marL="576000" indent="-342900">
              <a:spcBef>
                <a:spcPts val="95"/>
              </a:spcBef>
              <a:buFont typeface="Wingdings" panose="05000000000000000000" pitchFamily="2" charset="2"/>
              <a:buChar char="Ø"/>
              <a:defRPr/>
            </a:pPr>
            <a:r>
              <a:rPr lang="en-US" altLang="zh-CN" sz="2400" spc="-5" dirty="0">
                <a:solidFill>
                  <a:sysClr val="windowText" lastClr="000000"/>
                </a:solidFill>
                <a:latin typeface="Palatino Linotype" panose="02040502050505030304" pitchFamily="18" charset="0"/>
              </a:rPr>
              <a:t>Semantic	analysis</a:t>
            </a:r>
          </a:p>
          <a:p>
            <a:pPr marL="576000" indent="-342900">
              <a:spcBef>
                <a:spcPts val="95"/>
              </a:spcBef>
              <a:buFont typeface="Wingdings" panose="05000000000000000000" pitchFamily="2" charset="2"/>
              <a:buChar char="Ø"/>
              <a:defRPr/>
            </a:pPr>
            <a:endParaRPr lang="en-US" altLang="zh-CN" sz="2400" spc="-5" dirty="0">
              <a:solidFill>
                <a:sysClr val="windowText" lastClr="000000"/>
              </a:solidFill>
              <a:latin typeface="Palatino Linotype" panose="02040502050505030304" pitchFamily="18" charset="0"/>
            </a:endParaRPr>
          </a:p>
          <a:p>
            <a:pPr marL="576000" indent="-342900">
              <a:spcBef>
                <a:spcPts val="95"/>
              </a:spcBef>
              <a:buFont typeface="Wingdings" panose="05000000000000000000" pitchFamily="2" charset="2"/>
              <a:buChar char="Ø"/>
              <a:defRPr/>
            </a:pPr>
            <a:r>
              <a:rPr lang="en-US" altLang="zh-CN" sz="2400" spc="-5" dirty="0">
                <a:solidFill>
                  <a:sysClr val="windowText" lastClr="000000"/>
                </a:solidFill>
                <a:latin typeface="Palatino Linotype" panose="02040502050505030304" pitchFamily="18" charset="0"/>
              </a:rPr>
              <a:t>Intermediate code generation</a:t>
            </a:r>
          </a:p>
          <a:p>
            <a:pPr marL="576000" indent="-342900">
              <a:spcBef>
                <a:spcPts val="95"/>
              </a:spcBef>
              <a:buFont typeface="Wingdings" panose="05000000000000000000" pitchFamily="2" charset="2"/>
              <a:buChar char="Ø"/>
              <a:defRPr/>
            </a:pPr>
            <a:endParaRPr lang="en-US" altLang="zh-CN" sz="2400" spc="-5" dirty="0">
              <a:solidFill>
                <a:sysClr val="windowText" lastClr="000000"/>
              </a:solidFill>
              <a:latin typeface="Palatino Linotype" panose="02040502050505030304" pitchFamily="18" charset="0"/>
            </a:endParaRPr>
          </a:p>
          <a:p>
            <a:pPr marL="576000" indent="-342900">
              <a:spcBef>
                <a:spcPts val="95"/>
              </a:spcBef>
              <a:buFont typeface="Wingdings" panose="05000000000000000000" pitchFamily="2" charset="2"/>
              <a:buChar char="Ø"/>
              <a:defRPr/>
            </a:pPr>
            <a:r>
              <a:rPr lang="en-US" altLang="zh-CN" sz="2400" spc="-5" dirty="0">
                <a:solidFill>
                  <a:sysClr val="windowText" lastClr="000000"/>
                </a:solidFill>
                <a:latin typeface="Palatino Linotype" panose="02040502050505030304" pitchFamily="18" charset="0"/>
              </a:rPr>
              <a:t>Target code generation (optional)</a:t>
            </a:r>
          </a:p>
          <a:p>
            <a:pPr marL="233100">
              <a:spcBef>
                <a:spcPts val="95"/>
              </a:spcBef>
              <a:defRPr/>
            </a:pPr>
            <a:endParaRPr lang="en-US" altLang="zh-CN" sz="2400" spc="-5" dirty="0">
              <a:solidFill>
                <a:sysClr val="windowText" lastClr="000000"/>
              </a:solidFill>
              <a:latin typeface="Palatino Linotype" panose="02040502050505030304" pitchFamily="18" charset="0"/>
            </a:endParaRPr>
          </a:p>
        </p:txBody>
      </p:sp>
      <p:sp>
        <p:nvSpPr>
          <p:cNvPr id="6" name="灯片编号占位符 5">
            <a:extLst>
              <a:ext uri="{FF2B5EF4-FFF2-40B4-BE49-F238E27FC236}">
                <a16:creationId xmlns:a16="http://schemas.microsoft.com/office/drawing/2014/main" id="{4A9493DC-B19C-3BF2-B535-1614FF3D7788}"/>
              </a:ext>
            </a:extLst>
          </p:cNvPr>
          <p:cNvSpPr>
            <a:spLocks noGrp="1"/>
          </p:cNvSpPr>
          <p:nvPr>
            <p:ph type="sldNum" sz="quarter" idx="12"/>
          </p:nvPr>
        </p:nvSpPr>
        <p:spPr/>
        <p:txBody>
          <a:bodyPr/>
          <a:lstStyle/>
          <a:p>
            <a:pPr>
              <a:defRPr/>
            </a:pPr>
            <a:fld id="{2FBC720A-3716-234A-B2DF-CBC7E48049F5}" type="slidenum">
              <a:rPr lang="en-US" altLang="zh-CN" smtClean="0"/>
              <a:t>49</a:t>
            </a:fld>
            <a:endParaRPr lang="en-US" altLang="zh-CN"/>
          </a:p>
        </p:txBody>
      </p:sp>
    </p:spTree>
    <p:extLst>
      <p:ext uri="{BB962C8B-B14F-4D97-AF65-F5344CB8AC3E}">
        <p14:creationId xmlns:p14="http://schemas.microsoft.com/office/powerpoint/2010/main" val="42820305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628650"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BPL Specification</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文本框 8">
            <a:extLst>
              <a:ext uri="{FF2B5EF4-FFF2-40B4-BE49-F238E27FC236}">
                <a16:creationId xmlns:a16="http://schemas.microsoft.com/office/drawing/2014/main" id="{AEE8D543-02CC-FFC7-DF50-7814653F47F0}"/>
              </a:ext>
            </a:extLst>
          </p:cNvPr>
          <p:cNvSpPr txBox="1"/>
          <p:nvPr/>
        </p:nvSpPr>
        <p:spPr>
          <a:xfrm>
            <a:off x="755576" y="1990144"/>
            <a:ext cx="8047806" cy="2877711"/>
          </a:xfrm>
          <a:prstGeom prst="rect">
            <a:avLst/>
          </a:prstGeom>
          <a:noFill/>
        </p:spPr>
        <p:txBody>
          <a:bodyPr wrap="square">
            <a:spAutoFit/>
          </a:bodyPr>
          <a:lstStyle/>
          <a:p>
            <a:pPr marL="298450" indent="-285750">
              <a:spcBef>
                <a:spcPts val="95"/>
              </a:spcBef>
              <a:buFont typeface="Arial" panose="020B0604020202020204" pitchFamily="34" charset="0"/>
              <a:buChar char="•"/>
              <a:defRPr/>
            </a:pPr>
            <a:r>
              <a:rPr lang="en-US" altLang="zh-CN" sz="2800" b="1" spc="-5" dirty="0">
                <a:solidFill>
                  <a:sysClr val="windowText" lastClr="000000"/>
                </a:solidFill>
                <a:latin typeface="Palatino Linotype" panose="02040502050505030304" pitchFamily="18" charset="0"/>
              </a:rPr>
              <a:t>token.txt</a:t>
            </a:r>
          </a:p>
          <a:p>
            <a:pPr marL="12700">
              <a:spcBef>
                <a:spcPts val="95"/>
              </a:spcBef>
              <a:defRPr/>
            </a:pPr>
            <a:r>
              <a:rPr lang="en-US" altLang="zh-CN" sz="2400" spc="-5" dirty="0">
                <a:solidFill>
                  <a:sysClr val="windowText" lastClr="000000"/>
                </a:solidFill>
                <a:latin typeface="Palatino Linotype" panose="02040502050505030304" pitchFamily="18" charset="0"/>
              </a:rPr>
              <a:t>    Lexical specification, defines valid tokens in BPL.</a:t>
            </a:r>
          </a:p>
          <a:p>
            <a:pPr marL="12700">
              <a:spcBef>
                <a:spcPts val="95"/>
              </a:spcBef>
              <a:defRPr/>
            </a:pPr>
            <a:endParaRPr lang="en-US" altLang="zh-CN" sz="2400" spc="-5" dirty="0">
              <a:solidFill>
                <a:sysClr val="windowText" lastClr="000000"/>
              </a:solidFill>
              <a:latin typeface="Palatino Linotype" panose="02040502050505030304" pitchFamily="18" charset="0"/>
            </a:endParaRPr>
          </a:p>
          <a:p>
            <a:pPr marL="12700">
              <a:spcBef>
                <a:spcPts val="95"/>
              </a:spcBef>
              <a:defRPr/>
            </a:pPr>
            <a:endParaRPr lang="en-US" altLang="zh-CN" sz="2400" spc="-5" dirty="0">
              <a:solidFill>
                <a:sysClr val="windowText" lastClr="000000"/>
              </a:solidFill>
              <a:latin typeface="Palatino Linotype" panose="02040502050505030304" pitchFamily="18" charset="0"/>
            </a:endParaRPr>
          </a:p>
          <a:p>
            <a:pPr marL="12700">
              <a:spcBef>
                <a:spcPts val="95"/>
              </a:spcBef>
              <a:defRPr/>
            </a:pPr>
            <a:endParaRPr lang="en-US" altLang="zh-CN" sz="2400" spc="-5" dirty="0">
              <a:solidFill>
                <a:sysClr val="windowText" lastClr="000000"/>
              </a:solidFill>
              <a:latin typeface="Palatino Linotype" panose="02040502050505030304" pitchFamily="18" charset="0"/>
            </a:endParaRPr>
          </a:p>
          <a:p>
            <a:pPr marL="355600" indent="-342900">
              <a:spcBef>
                <a:spcPts val="95"/>
              </a:spcBef>
              <a:buFont typeface="Arial" panose="020B0604020202020204" pitchFamily="34" charset="0"/>
              <a:buChar char="•"/>
              <a:defRPr/>
            </a:pPr>
            <a:r>
              <a:rPr lang="en-US" altLang="zh-CN" sz="2800" b="1" spc="-5" dirty="0">
                <a:solidFill>
                  <a:sysClr val="windowText" lastClr="000000"/>
                </a:solidFill>
                <a:latin typeface="Palatino Linotype" panose="02040502050505030304" pitchFamily="18" charset="0"/>
              </a:rPr>
              <a:t>syntax.txt</a:t>
            </a:r>
          </a:p>
          <a:p>
            <a:pPr marL="12700">
              <a:spcBef>
                <a:spcPts val="95"/>
              </a:spcBef>
              <a:defRPr/>
            </a:pPr>
            <a:r>
              <a:rPr lang="en-US" altLang="zh-CN" sz="2400" spc="-5" dirty="0">
                <a:solidFill>
                  <a:sysClr val="windowText" lastClr="000000"/>
                </a:solidFill>
                <a:latin typeface="Palatino Linotype" panose="02040502050505030304" pitchFamily="18" charset="0"/>
              </a:rPr>
              <a:t>Grammar rules, specifies the syntactical structure.</a:t>
            </a:r>
          </a:p>
        </p:txBody>
      </p:sp>
      <p:sp>
        <p:nvSpPr>
          <p:cNvPr id="6" name="灯片编号占位符 5">
            <a:extLst>
              <a:ext uri="{FF2B5EF4-FFF2-40B4-BE49-F238E27FC236}">
                <a16:creationId xmlns:a16="http://schemas.microsoft.com/office/drawing/2014/main" id="{299830BD-7365-061C-2D9B-58441C09E528}"/>
              </a:ext>
            </a:extLst>
          </p:cNvPr>
          <p:cNvSpPr>
            <a:spLocks noGrp="1"/>
          </p:cNvSpPr>
          <p:nvPr>
            <p:ph type="sldNum" sz="quarter" idx="12"/>
          </p:nvPr>
        </p:nvSpPr>
        <p:spPr/>
        <p:txBody>
          <a:bodyPr/>
          <a:lstStyle/>
          <a:p>
            <a:pPr>
              <a:defRPr/>
            </a:pPr>
            <a:fld id="{2FBC720A-3716-234A-B2DF-CBC7E48049F5}" type="slidenum">
              <a:rPr lang="en-US" altLang="zh-CN" smtClean="0"/>
              <a:t>50</a:t>
            </a:fld>
            <a:endParaRPr lang="en-US" altLang="zh-CN"/>
          </a:p>
        </p:txBody>
      </p:sp>
    </p:spTree>
    <p:extLst>
      <p:ext uri="{BB962C8B-B14F-4D97-AF65-F5344CB8AC3E}">
        <p14:creationId xmlns:p14="http://schemas.microsoft.com/office/powerpoint/2010/main" val="21666206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628650"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BPL Specification</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文本框 8">
            <a:extLst>
              <a:ext uri="{FF2B5EF4-FFF2-40B4-BE49-F238E27FC236}">
                <a16:creationId xmlns:a16="http://schemas.microsoft.com/office/drawing/2014/main" id="{AEE8D543-02CC-FFC7-DF50-7814653F47F0}"/>
              </a:ext>
            </a:extLst>
          </p:cNvPr>
          <p:cNvSpPr txBox="1"/>
          <p:nvPr/>
        </p:nvSpPr>
        <p:spPr>
          <a:xfrm>
            <a:off x="629951" y="1731625"/>
            <a:ext cx="8047806" cy="523220"/>
          </a:xfrm>
          <a:prstGeom prst="rect">
            <a:avLst/>
          </a:prstGeom>
          <a:noFill/>
        </p:spPr>
        <p:txBody>
          <a:bodyPr wrap="square">
            <a:spAutoFit/>
          </a:bodyPr>
          <a:lstStyle/>
          <a:p>
            <a:pPr marL="298450" indent="-285750">
              <a:spcBef>
                <a:spcPts val="95"/>
              </a:spcBef>
              <a:buFont typeface="Arial" panose="020B0604020202020204" pitchFamily="34" charset="0"/>
              <a:buChar char="•"/>
              <a:defRPr/>
            </a:pPr>
            <a:r>
              <a:rPr lang="en-US" altLang="zh-CN" sz="2800" b="1" spc="-5" dirty="0">
                <a:solidFill>
                  <a:sysClr val="windowText" lastClr="000000"/>
                </a:solidFill>
                <a:latin typeface="Palatino Linotype" panose="02040502050505030304" pitchFamily="18" charset="0"/>
              </a:rPr>
              <a:t>Lexical specification(a snippet)</a:t>
            </a:r>
          </a:p>
        </p:txBody>
      </p:sp>
      <p:pic>
        <p:nvPicPr>
          <p:cNvPr id="6" name="object 4">
            <a:extLst>
              <a:ext uri="{FF2B5EF4-FFF2-40B4-BE49-F238E27FC236}">
                <a16:creationId xmlns:a16="http://schemas.microsoft.com/office/drawing/2014/main" id="{FC6D55A2-0A95-DF52-3CF1-37ADAE5A4813}"/>
              </a:ext>
            </a:extLst>
          </p:cNvPr>
          <p:cNvPicPr/>
          <p:nvPr/>
        </p:nvPicPr>
        <p:blipFill>
          <a:blip r:embed="rId3"/>
          <a:stretch/>
        </p:blipFill>
        <p:spPr bwMode="auto">
          <a:xfrm>
            <a:off x="1043608" y="2492896"/>
            <a:ext cx="6769100" cy="3289300"/>
          </a:xfrm>
          <a:prstGeom prst="rect">
            <a:avLst/>
          </a:prstGeom>
        </p:spPr>
      </p:pic>
      <p:sp>
        <p:nvSpPr>
          <p:cNvPr id="7" name="灯片编号占位符 6">
            <a:extLst>
              <a:ext uri="{FF2B5EF4-FFF2-40B4-BE49-F238E27FC236}">
                <a16:creationId xmlns:a16="http://schemas.microsoft.com/office/drawing/2014/main" id="{DF4D3B02-EBF9-2540-5474-36D709FDAB59}"/>
              </a:ext>
            </a:extLst>
          </p:cNvPr>
          <p:cNvSpPr>
            <a:spLocks noGrp="1"/>
          </p:cNvSpPr>
          <p:nvPr>
            <p:ph type="sldNum" sz="quarter" idx="12"/>
          </p:nvPr>
        </p:nvSpPr>
        <p:spPr/>
        <p:txBody>
          <a:bodyPr/>
          <a:lstStyle/>
          <a:p>
            <a:pPr>
              <a:defRPr/>
            </a:pPr>
            <a:fld id="{2FBC720A-3716-234A-B2DF-CBC7E48049F5}" type="slidenum">
              <a:rPr lang="en-US" altLang="zh-CN" smtClean="0"/>
              <a:t>51</a:t>
            </a:fld>
            <a:endParaRPr lang="en-US" altLang="zh-CN"/>
          </a:p>
        </p:txBody>
      </p:sp>
    </p:spTree>
    <p:extLst>
      <p:ext uri="{BB962C8B-B14F-4D97-AF65-F5344CB8AC3E}">
        <p14:creationId xmlns:p14="http://schemas.microsoft.com/office/powerpoint/2010/main" val="34117808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2" name="object 2">
            <a:extLst>
              <a:ext uri="{FF2B5EF4-FFF2-40B4-BE49-F238E27FC236}">
                <a16:creationId xmlns:a16="http://schemas.microsoft.com/office/drawing/2014/main" id="{5B30E051-69A1-A2E7-9FD6-3E52394EBA12}"/>
              </a:ext>
            </a:extLst>
          </p:cNvPr>
          <p:cNvSpPr txBox="1">
            <a:spLocks/>
          </p:cNvSpPr>
          <p:nvPr/>
        </p:nvSpPr>
        <p:spPr bwMode="auto">
          <a:xfrm>
            <a:off x="628650" y="520141"/>
            <a:ext cx="6507480"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BPL Specification</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文本框 8">
            <a:extLst>
              <a:ext uri="{FF2B5EF4-FFF2-40B4-BE49-F238E27FC236}">
                <a16:creationId xmlns:a16="http://schemas.microsoft.com/office/drawing/2014/main" id="{AEE8D543-02CC-FFC7-DF50-7814653F47F0}"/>
              </a:ext>
            </a:extLst>
          </p:cNvPr>
          <p:cNvSpPr txBox="1"/>
          <p:nvPr/>
        </p:nvSpPr>
        <p:spPr>
          <a:xfrm>
            <a:off x="629951" y="1731625"/>
            <a:ext cx="8047806" cy="523220"/>
          </a:xfrm>
          <a:prstGeom prst="rect">
            <a:avLst/>
          </a:prstGeom>
          <a:noFill/>
        </p:spPr>
        <p:txBody>
          <a:bodyPr wrap="square">
            <a:spAutoFit/>
          </a:bodyPr>
          <a:lstStyle/>
          <a:p>
            <a:pPr marL="298450" indent="-285750">
              <a:spcBef>
                <a:spcPts val="95"/>
              </a:spcBef>
              <a:buFont typeface="Arial" panose="020B0604020202020204" pitchFamily="34" charset="0"/>
              <a:buChar char="•"/>
              <a:defRPr/>
            </a:pPr>
            <a:r>
              <a:rPr lang="en-US" altLang="zh-CN" sz="2800" b="1" spc="-5" dirty="0">
                <a:solidFill>
                  <a:sysClr val="windowText" lastClr="000000"/>
                </a:solidFill>
                <a:latin typeface="Palatino Linotype" panose="02040502050505030304" pitchFamily="18" charset="0"/>
              </a:rPr>
              <a:t>Grammar rule (a single production)</a:t>
            </a:r>
          </a:p>
        </p:txBody>
      </p:sp>
      <p:pic>
        <p:nvPicPr>
          <p:cNvPr id="7" name="object 4">
            <a:extLst>
              <a:ext uri="{FF2B5EF4-FFF2-40B4-BE49-F238E27FC236}">
                <a16:creationId xmlns:a16="http://schemas.microsoft.com/office/drawing/2014/main" id="{9BBC7E10-293B-42CB-F148-82208C95138B}"/>
              </a:ext>
            </a:extLst>
          </p:cNvPr>
          <p:cNvPicPr/>
          <p:nvPr/>
        </p:nvPicPr>
        <p:blipFill>
          <a:blip r:embed="rId3"/>
          <a:stretch/>
        </p:blipFill>
        <p:spPr bwMode="auto">
          <a:xfrm>
            <a:off x="1043608" y="2575950"/>
            <a:ext cx="5813714" cy="2640806"/>
          </a:xfrm>
          <a:prstGeom prst="rect">
            <a:avLst/>
          </a:prstGeom>
        </p:spPr>
      </p:pic>
      <p:sp>
        <p:nvSpPr>
          <p:cNvPr id="6" name="灯片编号占位符 5">
            <a:extLst>
              <a:ext uri="{FF2B5EF4-FFF2-40B4-BE49-F238E27FC236}">
                <a16:creationId xmlns:a16="http://schemas.microsoft.com/office/drawing/2014/main" id="{193197D5-6E56-1712-C333-BA3FEACB3B5D}"/>
              </a:ext>
            </a:extLst>
          </p:cNvPr>
          <p:cNvSpPr>
            <a:spLocks noGrp="1"/>
          </p:cNvSpPr>
          <p:nvPr>
            <p:ph type="sldNum" sz="quarter" idx="12"/>
          </p:nvPr>
        </p:nvSpPr>
        <p:spPr/>
        <p:txBody>
          <a:bodyPr/>
          <a:lstStyle/>
          <a:p>
            <a:pPr>
              <a:defRPr/>
            </a:pPr>
            <a:fld id="{2FBC720A-3716-234A-B2DF-CBC7E48049F5}" type="slidenum">
              <a:rPr lang="en-US" altLang="zh-CN" smtClean="0"/>
              <a:t>52</a:t>
            </a:fld>
            <a:endParaRPr lang="en-US" altLang="zh-CN"/>
          </a:p>
        </p:txBody>
      </p:sp>
    </p:spTree>
    <p:extLst>
      <p:ext uri="{BB962C8B-B14F-4D97-AF65-F5344CB8AC3E}">
        <p14:creationId xmlns:p14="http://schemas.microsoft.com/office/powerpoint/2010/main" val="23470327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D8274D-E670-5FD5-9423-3164138242B0}"/>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9CBB3E17-479E-A91E-6D6A-4751E4E43CCA}"/>
              </a:ext>
            </a:extLst>
          </p:cNvPr>
          <p:cNvSpPr>
            <a:spLocks noGrp="1"/>
          </p:cNvSpPr>
          <p:nvPr>
            <p:ph type="ftr" sz="quarter" idx="11"/>
          </p:nvPr>
        </p:nvSpPr>
        <p:spPr/>
        <p:txBody>
          <a:bodyPr/>
          <a:lstStyle/>
          <a:p>
            <a:pPr>
              <a:defRPr/>
            </a:pPr>
            <a:r>
              <a:rPr lang="en-US"/>
              <a:t>BUPT Compilers</a:t>
            </a:r>
          </a:p>
        </p:txBody>
      </p:sp>
      <p:sp>
        <p:nvSpPr>
          <p:cNvPr id="5" name="object 2">
            <a:extLst>
              <a:ext uri="{FF2B5EF4-FFF2-40B4-BE49-F238E27FC236}">
                <a16:creationId xmlns:a16="http://schemas.microsoft.com/office/drawing/2014/main" id="{12591A18-9EA1-543A-D9F4-37DC05FF00CA}"/>
              </a:ext>
            </a:extLst>
          </p:cNvPr>
          <p:cNvSpPr txBox="1">
            <a:spLocks/>
          </p:cNvSpPr>
          <p:nvPr/>
        </p:nvSpPr>
        <p:spPr bwMode="auto">
          <a:xfrm>
            <a:off x="707542" y="520141"/>
            <a:ext cx="7104818" cy="627736"/>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Development  Environment</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95E5A022-85D9-7A61-881B-EAD3A24FA4F6}"/>
              </a:ext>
            </a:extLst>
          </p:cNvPr>
          <p:cNvSpPr txBox="1"/>
          <p:nvPr/>
        </p:nvSpPr>
        <p:spPr bwMode="auto">
          <a:xfrm>
            <a:off x="707543" y="1338925"/>
            <a:ext cx="4872569" cy="2049728"/>
          </a:xfrm>
          <a:prstGeom prst="rect">
            <a:avLst/>
          </a:prstGeom>
        </p:spPr>
        <p:txBody>
          <a:bodyPr vert="horz" wrap="square" lIns="0" tIns="12700" rIns="0" bIns="0" rtlCol="0">
            <a:spAutoFit/>
          </a:bodyPr>
          <a:lstStyle/>
          <a:p>
            <a:pPr marL="12066" marR="143510" rtl="0">
              <a:lnSpc>
                <a:spcPct val="120000"/>
              </a:lnSpc>
              <a:spcBef>
                <a:spcPts val="100"/>
              </a:spcBef>
              <a:buClr>
                <a:srgbClr val="000000"/>
              </a:buClr>
              <a:tabLst>
                <a:tab pos="243204" algn="l"/>
              </a:tabLst>
            </a:pPr>
            <a:r>
              <a:rPr lang="en-US" kern="1200" spc="-10" dirty="0">
                <a:latin typeface="Palatino Linotype"/>
                <a:cs typeface="Palatino Linotype"/>
              </a:rPr>
              <a:t>The necessary dependencies as follow</a:t>
            </a:r>
            <a:r>
              <a:rPr lang="zh-CN" altLang="en-US" kern="1200" spc="-10" dirty="0">
                <a:latin typeface="Palatino Linotype"/>
                <a:cs typeface="Palatino Linotype"/>
              </a:rPr>
              <a:t>：</a:t>
            </a:r>
            <a:endParaRPr lang="en-US" kern="1200" spc="-10" dirty="0">
              <a:solidFill>
                <a:srgbClr val="FF0000"/>
              </a:solidFill>
              <a:latin typeface="Palatino Linotype"/>
              <a:cs typeface="Palatino Linotype"/>
            </a:endParaRPr>
          </a:p>
          <a:p>
            <a:pPr marL="242570" marR="143510" indent="-230504" rtl="0">
              <a:lnSpc>
                <a:spcPct val="120000"/>
              </a:lnSpc>
              <a:spcBef>
                <a:spcPts val="100"/>
              </a:spcBef>
              <a:buClr>
                <a:srgbClr val="000000"/>
              </a:buClr>
              <a:buFont typeface="Arial"/>
              <a:buChar char="•"/>
              <a:tabLst>
                <a:tab pos="243204" algn="l"/>
              </a:tabLst>
            </a:pPr>
            <a:r>
              <a:rPr lang="en-US" kern="1200" spc="-10" dirty="0">
                <a:latin typeface="Palatino Linotype"/>
                <a:cs typeface="Palatino Linotype"/>
              </a:rPr>
              <a:t>GCC version 7.5.0</a:t>
            </a:r>
          </a:p>
          <a:p>
            <a:pPr marL="12066" marR="143510" rtl="0">
              <a:lnSpc>
                <a:spcPct val="120000"/>
              </a:lnSpc>
              <a:spcBef>
                <a:spcPts val="100"/>
              </a:spcBef>
              <a:buClr>
                <a:srgbClr val="000000"/>
              </a:buClr>
              <a:tabLst>
                <a:tab pos="243204" algn="l"/>
              </a:tabLst>
            </a:pPr>
            <a:r>
              <a:rPr lang="en-US" kern="1200" spc="-10" dirty="0">
                <a:latin typeface="Palatino Linotype"/>
                <a:cs typeface="Palatino Linotype"/>
              </a:rPr>
              <a:t>• GNU Make version 4.1</a:t>
            </a:r>
          </a:p>
          <a:p>
            <a:pPr marL="12066" marR="143510" rtl="0">
              <a:lnSpc>
                <a:spcPct val="120000"/>
              </a:lnSpc>
              <a:spcBef>
                <a:spcPts val="100"/>
              </a:spcBef>
              <a:buClr>
                <a:srgbClr val="000000"/>
              </a:buClr>
              <a:tabLst>
                <a:tab pos="243204" algn="l"/>
              </a:tabLst>
            </a:pPr>
            <a:r>
              <a:rPr lang="en-US" kern="1200" spc="-10" dirty="0">
                <a:latin typeface="Palatino Linotype"/>
                <a:cs typeface="Palatino Linotype"/>
              </a:rPr>
              <a:t>• GNU Flex version 2.6.4</a:t>
            </a:r>
          </a:p>
          <a:p>
            <a:pPr marL="12066" marR="143510" rtl="0">
              <a:lnSpc>
                <a:spcPct val="120000"/>
              </a:lnSpc>
              <a:spcBef>
                <a:spcPts val="100"/>
              </a:spcBef>
              <a:buClr>
                <a:srgbClr val="000000"/>
              </a:buClr>
              <a:tabLst>
                <a:tab pos="243204" algn="l"/>
              </a:tabLst>
            </a:pPr>
            <a:r>
              <a:rPr lang="en-US" kern="1200" spc="-10" dirty="0">
                <a:latin typeface="Palatino Linotype"/>
                <a:cs typeface="Palatino Linotype"/>
              </a:rPr>
              <a:t>• GNU Bison version 3.0.4</a:t>
            </a:r>
          </a:p>
          <a:p>
            <a:pPr marL="12066" marR="143510" rtl="0">
              <a:lnSpc>
                <a:spcPct val="120000"/>
              </a:lnSpc>
              <a:spcBef>
                <a:spcPts val="100"/>
              </a:spcBef>
              <a:buClr>
                <a:srgbClr val="000000"/>
              </a:buClr>
              <a:tabLst>
                <a:tab pos="243204" algn="l"/>
              </a:tabLst>
            </a:pPr>
            <a:r>
              <a:rPr lang="en-US" kern="1200" spc="-10" dirty="0">
                <a:latin typeface="Palatino Linotype"/>
                <a:cs typeface="Palatino Linotype"/>
              </a:rPr>
              <a:t>• Python3 version 3.6.9</a:t>
            </a:r>
          </a:p>
        </p:txBody>
      </p:sp>
      <p:sp>
        <p:nvSpPr>
          <p:cNvPr id="11" name="文本框 10">
            <a:extLst>
              <a:ext uri="{FF2B5EF4-FFF2-40B4-BE49-F238E27FC236}">
                <a16:creationId xmlns:a16="http://schemas.microsoft.com/office/drawing/2014/main" id="{152C0646-AF84-9146-AF5A-DF4863F3C373}"/>
              </a:ext>
            </a:extLst>
          </p:cNvPr>
          <p:cNvSpPr txBox="1"/>
          <p:nvPr/>
        </p:nvSpPr>
        <p:spPr>
          <a:xfrm>
            <a:off x="539552" y="3689673"/>
            <a:ext cx="8352928" cy="2677656"/>
          </a:xfrm>
          <a:prstGeom prst="rect">
            <a:avLst/>
          </a:prstGeom>
          <a:noFill/>
        </p:spPr>
        <p:txBody>
          <a:bodyPr wrap="square">
            <a:spAutoFit/>
          </a:bodyPr>
          <a:lstStyle/>
          <a:p>
            <a:r>
              <a:rPr lang="en-US" altLang="zh-CN" sz="2400" dirty="0">
                <a:latin typeface="Palatino Linotype" panose="02040502050505030304" pitchFamily="18" charset="0"/>
              </a:rPr>
              <a:t>To reduce the burden, we choose docker for environmental configuration. </a:t>
            </a:r>
          </a:p>
          <a:p>
            <a:endParaRPr lang="en-US" altLang="zh-CN" sz="2400" dirty="0">
              <a:latin typeface="Palatino Linotype" panose="02040502050505030304" pitchFamily="18" charset="0"/>
            </a:endParaRPr>
          </a:p>
          <a:p>
            <a:pPr marL="342900" indent="-342900">
              <a:buFont typeface="Arial" panose="020B0604020202020204" pitchFamily="34" charset="0"/>
              <a:buChar char="•"/>
            </a:pPr>
            <a:r>
              <a:rPr lang="en-US" altLang="zh-CN" sz="2400" dirty="0">
                <a:latin typeface="Palatino Linotype" panose="02040502050505030304" pitchFamily="18" charset="0"/>
              </a:rPr>
              <a:t>Scan the QR code to enter the course group chat</a:t>
            </a:r>
          </a:p>
          <a:p>
            <a:pPr marL="342900" indent="-342900">
              <a:buFont typeface="Arial" panose="020B0604020202020204" pitchFamily="34" charset="0"/>
              <a:buChar char="•"/>
            </a:pPr>
            <a:endParaRPr lang="en-US" altLang="zh-CN" sz="2400" dirty="0">
              <a:latin typeface="Palatino Linotype" panose="02040502050505030304" pitchFamily="18" charset="0"/>
            </a:endParaRPr>
          </a:p>
          <a:p>
            <a:pPr marL="342900" indent="-342900">
              <a:buFont typeface="Arial" panose="020B0604020202020204" pitchFamily="34" charset="0"/>
              <a:buChar char="•"/>
            </a:pPr>
            <a:r>
              <a:rPr lang="en-US" altLang="zh-CN" sz="2400" dirty="0">
                <a:latin typeface="Palatino Linotype" panose="02040502050505030304" pitchFamily="18" charset="0"/>
              </a:rPr>
              <a:t>Obtain the environment configuration tutorial on the group file.</a:t>
            </a:r>
            <a:r>
              <a:rPr lang="zh-CN" altLang="en-US" sz="2400" dirty="0">
                <a:latin typeface="Adobe 宋体 Std L" panose="02020300000000000000" pitchFamily="18" charset="-122"/>
                <a:ea typeface="Adobe 宋体 Std L" panose="02020300000000000000" pitchFamily="18" charset="-122"/>
              </a:rPr>
              <a:t>（群文件）</a:t>
            </a:r>
          </a:p>
        </p:txBody>
      </p:sp>
      <p:sp>
        <p:nvSpPr>
          <p:cNvPr id="6" name="灯片编号占位符 5">
            <a:extLst>
              <a:ext uri="{FF2B5EF4-FFF2-40B4-BE49-F238E27FC236}">
                <a16:creationId xmlns:a16="http://schemas.microsoft.com/office/drawing/2014/main" id="{F0B973A3-9088-BD82-44C2-693FCAFF78DD}"/>
              </a:ext>
            </a:extLst>
          </p:cNvPr>
          <p:cNvSpPr>
            <a:spLocks noGrp="1"/>
          </p:cNvSpPr>
          <p:nvPr>
            <p:ph type="sldNum" sz="quarter" idx="12"/>
          </p:nvPr>
        </p:nvSpPr>
        <p:spPr/>
        <p:txBody>
          <a:bodyPr/>
          <a:lstStyle/>
          <a:p>
            <a:pPr>
              <a:defRPr/>
            </a:pPr>
            <a:fld id="{2FBC720A-3716-234A-B2DF-CBC7E48049F5}" type="slidenum">
              <a:rPr lang="en-US" altLang="zh-CN" smtClean="0"/>
              <a:t>53</a:t>
            </a:fld>
            <a:endParaRPr lang="en-US" altLang="zh-CN"/>
          </a:p>
        </p:txBody>
      </p:sp>
      <p:pic>
        <p:nvPicPr>
          <p:cNvPr id="7" name="图片 6">
            <a:extLst>
              <a:ext uri="{FF2B5EF4-FFF2-40B4-BE49-F238E27FC236}">
                <a16:creationId xmlns:a16="http://schemas.microsoft.com/office/drawing/2014/main" id="{6882EACD-9D1C-DCFC-3DF0-8162607145B8}"/>
              </a:ext>
            </a:extLst>
          </p:cNvPr>
          <p:cNvPicPr>
            <a:picLocks noChangeAspect="1"/>
          </p:cNvPicPr>
          <p:nvPr/>
        </p:nvPicPr>
        <p:blipFill>
          <a:blip r:embed="rId3"/>
          <a:srcRect l="14771" t="32398" r="11491" b="28557"/>
          <a:stretch/>
        </p:blipFill>
        <p:spPr bwMode="auto">
          <a:xfrm>
            <a:off x="5796136" y="1239698"/>
            <a:ext cx="2503126" cy="2358153"/>
          </a:xfrm>
          <a:prstGeom prst="rect">
            <a:avLst/>
          </a:prstGeom>
        </p:spPr>
      </p:pic>
    </p:spTree>
    <p:extLst>
      <p:ext uri="{BB962C8B-B14F-4D97-AF65-F5344CB8AC3E}">
        <p14:creationId xmlns:p14="http://schemas.microsoft.com/office/powerpoint/2010/main" val="5669264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D8274D-E670-5FD5-9423-3164138242B0}"/>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9CBB3E17-479E-A91E-6D6A-4751E4E43CCA}"/>
              </a:ext>
            </a:extLst>
          </p:cNvPr>
          <p:cNvSpPr>
            <a:spLocks noGrp="1"/>
          </p:cNvSpPr>
          <p:nvPr>
            <p:ph type="ftr" sz="quarter" idx="11"/>
          </p:nvPr>
        </p:nvSpPr>
        <p:spPr/>
        <p:txBody>
          <a:bodyPr/>
          <a:lstStyle/>
          <a:p>
            <a:pPr>
              <a:defRPr/>
            </a:pPr>
            <a:r>
              <a:rPr lang="en-US"/>
              <a:t>BUPT Compilers</a:t>
            </a:r>
          </a:p>
        </p:txBody>
      </p:sp>
      <p:sp>
        <p:nvSpPr>
          <p:cNvPr id="5" name="object 2">
            <a:extLst>
              <a:ext uri="{FF2B5EF4-FFF2-40B4-BE49-F238E27FC236}">
                <a16:creationId xmlns:a16="http://schemas.microsoft.com/office/drawing/2014/main" id="{12591A18-9EA1-543A-D9F4-37DC05FF00CA}"/>
              </a:ext>
            </a:extLst>
          </p:cNvPr>
          <p:cNvSpPr txBox="1">
            <a:spLocks/>
          </p:cNvSpPr>
          <p:nvPr/>
        </p:nvSpPr>
        <p:spPr bwMode="auto">
          <a:xfrm>
            <a:off x="707542" y="520141"/>
            <a:ext cx="608076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A</a:t>
            </a:r>
            <a:r>
              <a:rPr kumimoji="0" lang="en-US" altLang="zh-CN" sz="4000" b="1" i="0" u="none" strike="noStrike" kern="0" cap="none" spc="-5" normalizeH="0" baseline="0" noProof="0" dirty="0">
                <a:ln>
                  <a:noFill/>
                </a:ln>
                <a:solidFill>
                  <a:sysClr val="windowText" lastClr="000000"/>
                </a:solidFill>
                <a:effectLst/>
                <a:uLnTx/>
                <a:uFillTx/>
                <a:latin typeface="Palatino Linotype"/>
                <a:ea typeface="+mj-ea"/>
              </a:rPr>
              <a:t>ssignment</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6" name="object 2">
            <a:extLst>
              <a:ext uri="{FF2B5EF4-FFF2-40B4-BE49-F238E27FC236}">
                <a16:creationId xmlns:a16="http://schemas.microsoft.com/office/drawing/2014/main" id="{DD6614B5-E388-3C8D-AF4C-D688A1E3BC1C}"/>
              </a:ext>
            </a:extLst>
          </p:cNvPr>
          <p:cNvSpPr txBox="1">
            <a:spLocks/>
          </p:cNvSpPr>
          <p:nvPr/>
        </p:nvSpPr>
        <p:spPr bwMode="auto">
          <a:xfrm>
            <a:off x="827584" y="1556792"/>
            <a:ext cx="7687766" cy="3807032"/>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b="1" i="0" u="none" strike="noStrike" kern="0" cap="none" spc="-5" normalizeH="0" baseline="0" noProof="0" dirty="0">
                <a:ln>
                  <a:noFill/>
                </a:ln>
                <a:solidFill>
                  <a:sysClr val="windowText" lastClr="000000"/>
                </a:solidFill>
                <a:effectLst/>
                <a:uLnTx/>
                <a:uFillTx/>
                <a:latin typeface="Palatino Linotype"/>
                <a:ea typeface="+mj-ea"/>
              </a:rPr>
              <a:t>L</a:t>
            </a:r>
            <a:r>
              <a:rPr kumimoji="0" lang="en-US" altLang="zh-CN" b="1" i="0" u="none" strike="noStrike" kern="0" cap="none" spc="-5" normalizeH="0" baseline="0" noProof="0" dirty="0">
                <a:ln>
                  <a:noFill/>
                </a:ln>
                <a:solidFill>
                  <a:sysClr val="windowText" lastClr="000000"/>
                </a:solidFill>
                <a:effectLst/>
                <a:uLnTx/>
                <a:uFillTx/>
                <a:latin typeface="Palatino Linotype"/>
                <a:ea typeface="+mj-ea"/>
              </a:rPr>
              <a:t>ab 1</a:t>
            </a:r>
          </a:p>
          <a:p>
            <a:pPr marL="12700" marR="0" lvl="0" indent="0" defTabSz="914400" eaLnBrk="1" fontAlgn="auto" latinLnBrk="0" hangingPunct="1">
              <a:lnSpc>
                <a:spcPct val="100000"/>
              </a:lnSpc>
              <a:spcBef>
                <a:spcPts val="95"/>
              </a:spcBef>
              <a:spcAft>
                <a:spcPts val="0"/>
              </a:spcAft>
              <a:buClrTx/>
              <a:buSzTx/>
              <a:buFontTx/>
              <a:buNone/>
              <a:tabLst/>
              <a:defRPr/>
            </a:pPr>
            <a:endParaRPr lang="en-US" altLang="zh-CN" spc="-5" dirty="0">
              <a:solidFill>
                <a:sysClr val="windowText" lastClr="000000"/>
              </a:solidFill>
            </a:endParaRPr>
          </a:p>
          <a:p>
            <a:pPr marL="12700" marR="0" lvl="0" indent="0" defTabSz="914400" eaLnBrk="1" fontAlgn="auto" latinLnBrk="0" hangingPunct="1">
              <a:lnSpc>
                <a:spcPct val="100000"/>
              </a:lnSpc>
              <a:spcBef>
                <a:spcPts val="95"/>
              </a:spcBef>
              <a:spcAft>
                <a:spcPts val="0"/>
              </a:spcAft>
              <a:buClrTx/>
              <a:buSzTx/>
              <a:buFontTx/>
              <a:buNone/>
              <a:tabLst/>
              <a:defRPr/>
            </a:pPr>
            <a:r>
              <a:rPr lang="en-US" altLang="zh-CN" sz="2000" b="0" spc="-5" dirty="0">
                <a:solidFill>
                  <a:sysClr val="windowText" lastClr="000000"/>
                </a:solidFill>
              </a:rPr>
              <a:t>Note:</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altLang="zh-CN" sz="2000" b="0" spc="-5" dirty="0">
                <a:solidFill>
                  <a:sysClr val="windowText" lastClr="000000"/>
                </a:solidFill>
              </a:rPr>
              <a:t>The lab 1 has been published on the teaching cloud platform. </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lang="en-US" altLang="zh-CN" sz="2000" b="0" spc="-5" dirty="0">
                <a:solidFill>
                  <a:sysClr val="windowText" lastClr="000000"/>
                </a:solidFill>
              </a:rPr>
              <a:t>Before conducting lab 1, it is necessary to deploy the docker experimental environment.</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kumimoji="0" lang="en-US" altLang="zh-CN" sz="2000" b="0" i="0" u="none" strike="noStrike" kern="0" cap="none" spc="-5" normalizeH="0" baseline="0" noProof="0" dirty="0">
                <a:ln>
                  <a:noFill/>
                </a:ln>
                <a:solidFill>
                  <a:sysClr val="windowText" lastClr="000000"/>
                </a:solidFill>
                <a:effectLst/>
                <a:uLnTx/>
                <a:uFillTx/>
                <a:latin typeface="Palatino Linotype"/>
                <a:ea typeface="+mj-ea"/>
              </a:rPr>
              <a:t>Submit through </a:t>
            </a:r>
            <a:r>
              <a:rPr lang="en-US" altLang="zh-CN" sz="2000" b="0" spc="-5" dirty="0">
                <a:solidFill>
                  <a:sysClr val="windowText" lastClr="000000"/>
                </a:solidFill>
              </a:rPr>
              <a:t>teaching </a:t>
            </a:r>
            <a:r>
              <a:rPr kumimoji="0" lang="en-US" altLang="zh-CN" sz="2000" b="0" i="0" u="none" strike="noStrike" kern="0" cap="none" spc="-5" normalizeH="0" baseline="0" noProof="0" dirty="0">
                <a:ln>
                  <a:noFill/>
                </a:ln>
                <a:solidFill>
                  <a:sysClr val="windowText" lastClr="000000"/>
                </a:solidFill>
                <a:effectLst/>
                <a:uLnTx/>
                <a:uFillTx/>
                <a:latin typeface="Palatino Linotype"/>
                <a:ea typeface="+mj-ea"/>
              </a:rPr>
              <a:t>cloud platform.</a:t>
            </a:r>
          </a:p>
          <a:p>
            <a:pPr marL="12700" marR="0" lvl="0" indent="0" defTabSz="914400" eaLnBrk="1" fontAlgn="auto" latinLnBrk="0" hangingPunct="1">
              <a:lnSpc>
                <a:spcPct val="100000"/>
              </a:lnSpc>
              <a:spcBef>
                <a:spcPts val="95"/>
              </a:spcBef>
              <a:spcAft>
                <a:spcPts val="0"/>
              </a:spcAft>
              <a:buClrTx/>
              <a:buSzTx/>
              <a:buFontTx/>
              <a:buNone/>
              <a:tabLst/>
              <a:defRPr/>
            </a:pPr>
            <a:endParaRPr lang="en-US" spc="-5" dirty="0">
              <a:solidFill>
                <a:sysClr val="windowText" lastClr="000000"/>
              </a:solidFill>
            </a:endParaRPr>
          </a:p>
          <a:p>
            <a:pPr marL="12700" marR="0" lvl="0" indent="0" defTabSz="914400" eaLnBrk="1" fontAlgn="auto" latinLnBrk="0" hangingPunct="1">
              <a:lnSpc>
                <a:spcPct val="100000"/>
              </a:lnSpc>
              <a:spcBef>
                <a:spcPts val="95"/>
              </a:spcBef>
              <a:spcAft>
                <a:spcPts val="0"/>
              </a:spcAft>
              <a:buClrTx/>
              <a:buSzTx/>
              <a:buFontTx/>
              <a:buNone/>
              <a:tabLst/>
              <a:defRPr/>
            </a:pPr>
            <a:r>
              <a:rPr kumimoji="0" lang="en-US" altLang="zh-CN" sz="2000" b="0" i="0" u="none" strike="noStrike" kern="0" cap="none" spc="-5" normalizeH="0" baseline="0" noProof="0" dirty="0" err="1">
                <a:ln>
                  <a:noFill/>
                </a:ln>
                <a:solidFill>
                  <a:sysClr val="windowText" lastClr="000000"/>
                </a:solidFill>
                <a:effectLst/>
                <a:uLnTx/>
                <a:uFillTx/>
                <a:latin typeface="Palatino Linotype"/>
                <a:ea typeface="+mj-ea"/>
              </a:rPr>
              <a:t>Dealine</a:t>
            </a:r>
            <a:r>
              <a:rPr kumimoji="0" lang="en-US" altLang="zh-CN" sz="2000" b="0" i="0" u="none" strike="noStrike" kern="0" cap="none" spc="-5" normalizeH="0" baseline="0" noProof="0" dirty="0">
                <a:ln>
                  <a:noFill/>
                </a:ln>
                <a:solidFill>
                  <a:sysClr val="windowText" lastClr="000000"/>
                </a:solidFill>
                <a:effectLst/>
                <a:uLnTx/>
                <a:uFillTx/>
                <a:latin typeface="Palatino Linotype"/>
                <a:ea typeface="+mj-ea"/>
              </a:rPr>
              <a:t>:  </a:t>
            </a:r>
          </a:p>
          <a:p>
            <a:pPr marL="355600" marR="0" lvl="0" indent="-342900" defTabSz="914400" eaLnBrk="1" fontAlgn="auto" latinLnBrk="0" hangingPunct="1">
              <a:lnSpc>
                <a:spcPct val="100000"/>
              </a:lnSpc>
              <a:spcBef>
                <a:spcPts val="95"/>
              </a:spcBef>
              <a:spcAft>
                <a:spcPts val="0"/>
              </a:spcAft>
              <a:buClrTx/>
              <a:buSzTx/>
              <a:buFont typeface="Arial" panose="020B0604020202020204" pitchFamily="34" charset="0"/>
              <a:buChar char="•"/>
              <a:tabLst/>
              <a:defRPr/>
            </a:pPr>
            <a:r>
              <a:rPr kumimoji="0" lang="en-US" altLang="zh-CN" sz="2000" b="0" i="0" u="none" strike="noStrike" kern="0" cap="none" spc="-5" normalizeH="0" baseline="0" noProof="0" dirty="0">
                <a:ln>
                  <a:noFill/>
                </a:ln>
                <a:solidFill>
                  <a:sysClr val="windowText" lastClr="000000"/>
                </a:solidFill>
                <a:effectLst/>
                <a:uLnTx/>
                <a:uFillTx/>
                <a:latin typeface="Palatino Linotype"/>
                <a:ea typeface="+mj-ea"/>
              </a:rPr>
              <a:t>September 15, 2024, 24:00</a:t>
            </a:r>
            <a:endParaRPr kumimoji="0" lang="en-US" sz="2000" b="0"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7" name="灯片编号占位符 6">
            <a:extLst>
              <a:ext uri="{FF2B5EF4-FFF2-40B4-BE49-F238E27FC236}">
                <a16:creationId xmlns:a16="http://schemas.microsoft.com/office/drawing/2014/main" id="{824DB658-4FDD-EDB7-6796-30573E585841}"/>
              </a:ext>
            </a:extLst>
          </p:cNvPr>
          <p:cNvSpPr>
            <a:spLocks noGrp="1"/>
          </p:cNvSpPr>
          <p:nvPr>
            <p:ph type="sldNum" sz="quarter" idx="12"/>
          </p:nvPr>
        </p:nvSpPr>
        <p:spPr/>
        <p:txBody>
          <a:bodyPr/>
          <a:lstStyle/>
          <a:p>
            <a:pPr>
              <a:defRPr/>
            </a:pPr>
            <a:fld id="{2FBC720A-3716-234A-B2DF-CBC7E48049F5}" type="slidenum">
              <a:rPr lang="en-US" altLang="zh-CN" smtClean="0"/>
              <a:t>54</a:t>
            </a:fld>
            <a:endParaRPr lang="en-US" altLang="zh-CN"/>
          </a:p>
        </p:txBody>
      </p:sp>
    </p:spTree>
    <p:extLst>
      <p:ext uri="{BB962C8B-B14F-4D97-AF65-F5344CB8AC3E}">
        <p14:creationId xmlns:p14="http://schemas.microsoft.com/office/powerpoint/2010/main" val="658272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4xwi1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1098</TotalTime>
  <Words>4715</Words>
  <Application>Microsoft Office PowerPoint</Application>
  <DocSecurity>0</DocSecurity>
  <PresentationFormat>全屏显示(4:3)</PresentationFormat>
  <Paragraphs>985</Paragraphs>
  <Slides>54</Slides>
  <Notes>49</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54</vt:i4>
      </vt:variant>
    </vt:vector>
  </HeadingPairs>
  <TitlesOfParts>
    <vt:vector size="70" baseType="lpstr">
      <vt:lpstr>Adobe 宋体 Std L</vt:lpstr>
      <vt:lpstr>Söhne</vt:lpstr>
      <vt:lpstr>Ubuntu Mono derivative Powerlin</vt:lpstr>
      <vt:lpstr>等线</vt:lpstr>
      <vt:lpstr>等线 Light</vt:lpstr>
      <vt:lpstr>黑体</vt:lpstr>
      <vt:lpstr>宋体</vt:lpstr>
      <vt:lpstr>Arial</vt:lpstr>
      <vt:lpstr>Calibri</vt:lpstr>
      <vt:lpstr>Consolas</vt:lpstr>
      <vt:lpstr>Courier New</vt:lpstr>
      <vt:lpstr>Palatino Linotype</vt:lpstr>
      <vt:lpstr>Times New Roman</vt:lpstr>
      <vt:lpstr>Wingdings</vt:lpstr>
      <vt:lpstr>Office Theme</vt:lpstr>
      <vt:lpstr>4xwi11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xxx</dc:title>
  <dc:subject/>
  <dc:creator>胡 玉斌</dc:creator>
  <cp:keywords/>
  <dc:description/>
  <cp:lastModifiedBy>枫 项</cp:lastModifiedBy>
  <cp:revision>52</cp:revision>
  <dcterms:created xsi:type="dcterms:W3CDTF">2023-06-02T10:23:24Z</dcterms:created>
  <dcterms:modified xsi:type="dcterms:W3CDTF">2024-12-10T02:20:42Z</dcterms:modified>
  <cp:category/>
  <dc:identifier/>
  <cp:contentStatus/>
  <dc:language/>
  <cp:version/>
</cp:coreProperties>
</file>