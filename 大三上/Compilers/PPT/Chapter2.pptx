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1.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1.xml" ContentType="application/inkml+xml"/>
  <Override PartName="/ppt/ink/ink2.xml" ContentType="application/inkml+xml"/>
  <Override PartName="/ppt/tags/tag14.xml" ContentType="application/vnd.openxmlformats-officedocument.presentationml.tags+xml"/>
  <Override PartName="/ppt/tags/tag15.xml" ContentType="application/vnd.openxmlformats-officedocument.presentationml.tags+xml"/>
  <Override PartName="/ppt/notesSlides/notesSlide28.xml" ContentType="application/vnd.openxmlformats-officedocument.presentationml.notesSlide+xml"/>
  <Override PartName="/ppt/tags/tag16.xml" ContentType="application/vnd.openxmlformats-officedocument.presentationml.tags+xml"/>
  <Override PartName="/ppt/notesSlides/notesSlide29.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30.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31.xml" ContentType="application/vnd.openxmlformats-officedocument.presentationml.notesSlide+xml"/>
  <Override PartName="/ppt/tags/tag21.xml" ContentType="application/vnd.openxmlformats-officedocument.presentationml.tags+xml"/>
  <Override PartName="/ppt/notesSlides/notesSlide32.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33.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34.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35.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36.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40.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41.xml" ContentType="application/vnd.openxmlformats-officedocument.presentationml.tags+xml"/>
  <Override PartName="/ppt/notesSlides/notesSlide48.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49.xml" ContentType="application/vnd.openxmlformats-officedocument.presentationml.notesSlide+xml"/>
  <Override PartName="/ppt/tags/tag44.xml" ContentType="application/vnd.openxmlformats-officedocument.presentationml.tags+xml"/>
  <Override PartName="/ppt/notesSlides/notesSlide50.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47.xml" ContentType="application/vnd.openxmlformats-officedocument.presentationml.tags+xml"/>
  <Override PartName="/ppt/notesSlides/notesSlide53.xml" ContentType="application/vnd.openxmlformats-officedocument.presentationml.notesSlide+xml"/>
  <Override PartName="/ppt/tags/tag48.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49.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50.xml" ContentType="application/vnd.openxmlformats-officedocument.presentationml.tags+xml"/>
  <Override PartName="/ppt/notesSlides/notesSlide60.xml" ContentType="application/vnd.openxmlformats-officedocument.presentationml.notesSlide+xml"/>
  <Override PartName="/ppt/tags/tag51.xml" ContentType="application/vnd.openxmlformats-officedocument.presentationml.tags+xml"/>
  <Override PartName="/ppt/notesSlides/notesSlide61.xml" ContentType="application/vnd.openxmlformats-officedocument.presentationml.notesSlide+xml"/>
  <Override PartName="/ppt/tags/tag52.xml" ContentType="application/vnd.openxmlformats-officedocument.presentationml.tags+xml"/>
  <Override PartName="/ppt/notesSlides/notesSlide62.xml" ContentType="application/vnd.openxmlformats-officedocument.presentationml.notesSlide+xml"/>
  <Override PartName="/ppt/tags/tag53.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65.xml" ContentType="application/vnd.openxmlformats-officedocument.presentationml.notesSlide+xml"/>
  <Override PartName="/ppt/tags/tag56.xml" ContentType="application/vnd.openxmlformats-officedocument.presentationml.tags+xml"/>
  <Override PartName="/ppt/notesSlides/notesSlide66.xml" ContentType="application/vnd.openxmlformats-officedocument.presentationml.notesSlide+xml"/>
  <Override PartName="/ppt/tags/tag57.xml" ContentType="application/vnd.openxmlformats-officedocument.presentationml.tags+xml"/>
  <Override PartName="/ppt/notesSlides/notesSlide67.xml" ContentType="application/vnd.openxmlformats-officedocument.presentationml.notesSlide+xml"/>
  <Override PartName="/ppt/tags/tag58.xml" ContentType="application/vnd.openxmlformats-officedocument.presentationml.tags+xml"/>
  <Override PartName="/ppt/notesSlides/notesSlide68.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notesSlides/notesSlide69.xml" ContentType="application/vnd.openxmlformats-officedocument.presentationml.notesSlide+xml"/>
  <Override PartName="/ppt/tags/tag61.xml" ContentType="application/vnd.openxmlformats-officedocument.presentationml.tags+xml"/>
  <Override PartName="/ppt/notesSlides/notesSlide70.xml" ContentType="application/vnd.openxmlformats-officedocument.presentationml.notesSlide+xml"/>
  <Override PartName="/ppt/tags/tag62.xml" ContentType="application/vnd.openxmlformats-officedocument.presentationml.tags+xml"/>
  <Override PartName="/ppt/notesSlides/notesSlide71.xml" ContentType="application/vnd.openxmlformats-officedocument.presentationml.notesSlide+xml"/>
  <Override PartName="/ppt/tags/tag63.xml" ContentType="application/vnd.openxmlformats-officedocument.presentationml.tags+xml"/>
  <Override PartName="/ppt/notesSlides/notesSlide72.xml" ContentType="application/vnd.openxmlformats-officedocument.presentationml.notesSlide+xml"/>
  <Override PartName="/ppt/tags/tag64.xml" ContentType="application/vnd.openxmlformats-officedocument.presentationml.tags+xml"/>
  <Override PartName="/ppt/notesSlides/notesSlide73.xml" ContentType="application/vnd.openxmlformats-officedocument.presentationml.notesSlide+xml"/>
  <Override PartName="/ppt/tags/tag65.xml" ContentType="application/vnd.openxmlformats-officedocument.presentationml.tags+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76.xml" ContentType="application/vnd.openxmlformats-officedocument.presentationml.notesSlide+xml"/>
  <Override PartName="/ppt/tags/tag69.xml" ContentType="application/vnd.openxmlformats-officedocument.presentationml.tags+xml"/>
  <Override PartName="/ppt/notesSlides/notesSlide77.xml" ContentType="application/vnd.openxmlformats-officedocument.presentationml.notesSlide+xml"/>
  <Override PartName="/ppt/tags/tag70.xml" ContentType="application/vnd.openxmlformats-officedocument.presentationml.tags+xml"/>
  <Override PartName="/ppt/notesSlides/notesSlide78.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notesSlides/notesSlide79.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tags/tag75.xml" ContentType="application/vnd.openxmlformats-officedocument.presentationml.tags+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tags/tag76.xml" ContentType="application/vnd.openxmlformats-officedocument.presentationml.tags+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tags/tag79.xml" ContentType="application/vnd.openxmlformats-officedocument.presentationml.tags+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7"/>
  </p:notesMasterIdLst>
  <p:handoutMasterIdLst>
    <p:handoutMasterId r:id="rId98"/>
  </p:handoutMasterIdLst>
  <p:sldIdLst>
    <p:sldId id="256" r:id="rId2"/>
    <p:sldId id="258" r:id="rId3"/>
    <p:sldId id="261" r:id="rId4"/>
    <p:sldId id="262" r:id="rId5"/>
    <p:sldId id="263" r:id="rId6"/>
    <p:sldId id="264" r:id="rId7"/>
    <p:sldId id="265" r:id="rId8"/>
    <p:sldId id="269" r:id="rId9"/>
    <p:sldId id="275" r:id="rId10"/>
    <p:sldId id="270" r:id="rId11"/>
    <p:sldId id="276" r:id="rId12"/>
    <p:sldId id="277" r:id="rId13"/>
    <p:sldId id="278" r:id="rId14"/>
    <p:sldId id="279" r:id="rId15"/>
    <p:sldId id="280" r:id="rId16"/>
    <p:sldId id="281" r:id="rId17"/>
    <p:sldId id="283" r:id="rId18"/>
    <p:sldId id="284" r:id="rId19"/>
    <p:sldId id="285" r:id="rId20"/>
    <p:sldId id="286" r:id="rId21"/>
    <p:sldId id="287" r:id="rId22"/>
    <p:sldId id="288" r:id="rId23"/>
    <p:sldId id="289" r:id="rId24"/>
    <p:sldId id="290" r:id="rId25"/>
    <p:sldId id="294" r:id="rId26"/>
    <p:sldId id="291" r:id="rId27"/>
    <p:sldId id="292" r:id="rId28"/>
    <p:sldId id="293" r:id="rId29"/>
    <p:sldId id="359" r:id="rId30"/>
    <p:sldId id="358" r:id="rId31"/>
    <p:sldId id="295" r:id="rId32"/>
    <p:sldId id="296" r:id="rId33"/>
    <p:sldId id="297" r:id="rId34"/>
    <p:sldId id="298" r:id="rId35"/>
    <p:sldId id="299" r:id="rId36"/>
    <p:sldId id="300" r:id="rId37"/>
    <p:sldId id="306" r:id="rId38"/>
    <p:sldId id="307" r:id="rId39"/>
    <p:sldId id="308" r:id="rId40"/>
    <p:sldId id="309" r:id="rId41"/>
    <p:sldId id="301" r:id="rId42"/>
    <p:sldId id="310" r:id="rId43"/>
    <p:sldId id="302" r:id="rId44"/>
    <p:sldId id="303" r:id="rId45"/>
    <p:sldId id="311" r:id="rId46"/>
    <p:sldId id="312" r:id="rId47"/>
    <p:sldId id="313" r:id="rId48"/>
    <p:sldId id="305" r:id="rId49"/>
    <p:sldId id="314" r:id="rId50"/>
    <p:sldId id="315" r:id="rId51"/>
    <p:sldId id="316" r:id="rId52"/>
    <p:sldId id="317" r:id="rId53"/>
    <p:sldId id="318" r:id="rId54"/>
    <p:sldId id="319" r:id="rId55"/>
    <p:sldId id="320" r:id="rId56"/>
    <p:sldId id="321" r:id="rId57"/>
    <p:sldId id="322" r:id="rId58"/>
    <p:sldId id="323" r:id="rId59"/>
    <p:sldId id="324" r:id="rId60"/>
    <p:sldId id="325" r:id="rId61"/>
    <p:sldId id="326" r:id="rId62"/>
    <p:sldId id="327" r:id="rId63"/>
    <p:sldId id="328" r:id="rId64"/>
    <p:sldId id="329" r:id="rId65"/>
    <p:sldId id="330" r:id="rId66"/>
    <p:sldId id="331" r:id="rId67"/>
    <p:sldId id="361" r:id="rId68"/>
    <p:sldId id="332" r:id="rId69"/>
    <p:sldId id="363" r:id="rId70"/>
    <p:sldId id="333" r:id="rId71"/>
    <p:sldId id="334" r:id="rId72"/>
    <p:sldId id="335" r:id="rId73"/>
    <p:sldId id="337" r:id="rId74"/>
    <p:sldId id="338" r:id="rId75"/>
    <p:sldId id="336" r:id="rId76"/>
    <p:sldId id="339" r:id="rId77"/>
    <p:sldId id="341" r:id="rId78"/>
    <p:sldId id="342" r:id="rId79"/>
    <p:sldId id="343" r:id="rId80"/>
    <p:sldId id="344" r:id="rId81"/>
    <p:sldId id="340" r:id="rId82"/>
    <p:sldId id="345" r:id="rId83"/>
    <p:sldId id="346" r:id="rId84"/>
    <p:sldId id="360" r:id="rId85"/>
    <p:sldId id="351" r:id="rId86"/>
    <p:sldId id="347" r:id="rId87"/>
    <p:sldId id="352" r:id="rId88"/>
    <p:sldId id="348" r:id="rId89"/>
    <p:sldId id="349" r:id="rId90"/>
    <p:sldId id="350" r:id="rId91"/>
    <p:sldId id="353" r:id="rId92"/>
    <p:sldId id="354" r:id="rId93"/>
    <p:sldId id="355" r:id="rId94"/>
    <p:sldId id="356" r:id="rId95"/>
    <p:sldId id="357" r:id="rId96"/>
  </p:sldIdLst>
  <p:sldSz cx="9144000" cy="6858000" type="screen4x3"/>
  <p:notesSz cx="12192000" cy="6858000"/>
  <p:custDataLst>
    <p:tags r:id="rId99"/>
  </p:custDataLst>
  <p:defaultText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5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31FF"/>
    <a:srgbClr val="6596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27" autoAdjust="0"/>
    <p:restoredTop sz="78174" autoAdjust="0"/>
  </p:normalViewPr>
  <p:slideViewPr>
    <p:cSldViewPr showGuides="1">
      <p:cViewPr varScale="1">
        <p:scale>
          <a:sx n="61" d="100"/>
          <a:sy n="61" d="100"/>
        </p:scale>
        <p:origin x="1747" y="53"/>
      </p:cViewPr>
      <p:guideLst>
        <p:guide orient="horz" pos="2160"/>
        <p:guide pos="2153"/>
      </p:guideLst>
    </p:cSldViewPr>
  </p:slideViewPr>
  <p:notesTextViewPr>
    <p:cViewPr>
      <p:scale>
        <a:sx n="100" d="100"/>
        <a:sy n="100" d="100"/>
      </p:scale>
      <p:origin x="0" y="0"/>
    </p:cViewPr>
  </p:notesTextViewPr>
  <p:notesViewPr>
    <p:cSldViewPr>
      <p:cViewPr varScale="1">
        <p:scale>
          <a:sx n="92" d="100"/>
          <a:sy n="92" d="100"/>
        </p:scale>
        <p:origin x="802" y="5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gs" Target="tags/tag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handoutMaster" Target="handoutMasters/handout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430F3B05-671E-417C-81B9-556223EEF60B}" type="datetimeFigureOut">
              <a:rPr lang="zh-CN" altLang="en-US" smtClean="0"/>
              <a:t>2024/9/10</a:t>
            </a:fld>
            <a:endParaRPr lang="zh-CN" altLang="en-US"/>
          </a:p>
        </p:txBody>
      </p:sp>
      <p:sp>
        <p:nvSpPr>
          <p:cNvPr id="4" name="页脚占位符 3"/>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A25B9FEF-B883-48E1-9271-4D6D018D037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10T11:48:17.786"/>
    </inkml:context>
    <inkml:brush xml:id="br0">
      <inkml:brushProperty name="width" value="0.1" units="cm"/>
      <inkml:brushProperty name="height" value="0.1" units="cm"/>
      <inkml:brushProperty name="ignorePressure" value="1"/>
    </inkml:brush>
  </inkml:definitions>
  <inkml:trace contextRef="#ctx0" brushRef="#br0">22 22,'0'0,"0"0,0 0,0 0,0 0,0 0,-9-9,9 9,0 0,0 0,-1-2,-1 1,-7-9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0T11:53:28.416"/>
    </inkml:context>
    <inkml:brush xml:id="br0">
      <inkml:brushProperty name="width" value="0.05292" units="cm"/>
      <inkml:brushProperty name="height" value="0.05292" units="cm"/>
    </inkml:brush>
  </inkml:definitions>
  <inkml:trace contextRef="#ctx0" brushRef="#br0">105 107 1969,'0'0'928,"0"0"577,0 0 16,0 0 47,0 0-63,-83 18-320,83-18-145,0 0-143,0-18-433,0 0-416,0 10-48,0-1-64,0 9-497,0 0-543,0 0-801,0-18-1376,0-35-977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2024/9/10</a:t>
            </a:fld>
            <a:endParaRPr lang="zh-CN" altLang="en-US"/>
          </a:p>
        </p:txBody>
      </p:sp>
      <p:sp>
        <p:nvSpPr>
          <p:cNvPr id="4" name="幻灯片图像占位符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692073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在本章中，我们将讨论如何构建词法分析器。要手动实现词法分析器，首先建立起每个词法单元的词法结构图或者其他描述会有所帮助。</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我们通过引入正则表达式（一种用于描述词素模式的方便表示法）来开始研究词法分析器生成器。</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然后，我们可以编写代码来识别输入中每个词素的每次出现，并返回识别到的词法单元的信息。</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我们还可以通过如下方式自动生成一个词法分析器：向一个词法分析器生成工具描述词素的模式，然后将这些模式编译为具有词法分析器功能的代码。这种方法使得修改词法分析器变得更容易，因为我们只需重写受到影响的模式，而无需修改整个程序。这种方法还加快了实现词法分析器的过程，因为程序员只需在非常高的模式级别上描述软件，就可以依赖工具来生成详细的代码。我们将在第 </a:t>
            </a:r>
            <a:r>
              <a:rPr lang="en-US" altLang="zh-CN" sz="1200" kern="1200" dirty="0">
                <a:solidFill>
                  <a:schemeClr val="tx1"/>
                </a:solidFill>
                <a:effectLst/>
                <a:latin typeface="+mn-lt"/>
                <a:ea typeface="+mn-ea"/>
                <a:cs typeface="+mn-cs"/>
              </a:rPr>
              <a:t>3.5 </a:t>
            </a:r>
            <a:r>
              <a:rPr lang="zh-CN" altLang="zh-CN" sz="1200" kern="1200" dirty="0">
                <a:solidFill>
                  <a:schemeClr val="tx1"/>
                </a:solidFill>
                <a:effectLst/>
                <a:latin typeface="+mn-lt"/>
                <a:ea typeface="+mn-ea"/>
                <a:cs typeface="+mn-cs"/>
              </a:rPr>
              <a:t>节中介绍一个称为 </a:t>
            </a:r>
            <a:r>
              <a:rPr lang="en-US" altLang="zh-CN" sz="1200" kern="1200" dirty="0">
                <a:solidFill>
                  <a:schemeClr val="tx1"/>
                </a:solidFill>
                <a:effectLst/>
                <a:latin typeface="+mn-lt"/>
                <a:ea typeface="+mn-ea"/>
                <a:cs typeface="+mn-cs"/>
              </a:rPr>
              <a:t>Lex</a:t>
            </a:r>
            <a:r>
              <a:rPr lang="zh-CN" altLang="zh-CN" sz="1200" kern="1200" dirty="0">
                <a:solidFill>
                  <a:schemeClr val="tx1"/>
                </a:solidFill>
                <a:effectLst/>
                <a:latin typeface="+mn-lt"/>
                <a:ea typeface="+mn-ea"/>
                <a:cs typeface="+mn-cs"/>
              </a:rPr>
              <a:t>（或更新版本中的 </a:t>
            </a:r>
            <a:r>
              <a:rPr lang="en-US" altLang="zh-CN" sz="1200" kern="1200" dirty="0">
                <a:solidFill>
                  <a:schemeClr val="tx1"/>
                </a:solidFill>
                <a:effectLst/>
                <a:latin typeface="+mn-lt"/>
                <a:ea typeface="+mn-ea"/>
                <a:cs typeface="+mn-cs"/>
              </a:rPr>
              <a:t>Flex</a:t>
            </a:r>
            <a:r>
              <a:rPr lang="zh-CN" altLang="zh-CN" sz="1200" kern="1200" dirty="0">
                <a:solidFill>
                  <a:schemeClr val="tx1"/>
                </a:solidFill>
                <a:effectLst/>
                <a:latin typeface="+mn-lt"/>
                <a:ea typeface="+mn-ea"/>
                <a:cs typeface="+mn-cs"/>
              </a:rPr>
              <a:t>）的词法分析器生成器。</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我们展示了如何将这种表示法首先转换为非确定性自动机，然后转换为确定性自动机。后两种表示方法可以用作“驱动程序”的输入。这个驱动程序就是一段模拟这些自动机的代码，它使用自动机来确定下一个词法单元。该驱动程序和自动机的规范构成了词法分析器的核心部分。</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1300391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作为编译器的第一阶段，词法分析器的主要任务是读取源程序的输入字符，将它们组成为词素，生成并输出一个词法单元序列，每个词法单元对应一个词素。这个词法单元序列被输出到语法分析器进行语法分析。这些相互作用如图</a:t>
            </a:r>
            <a:r>
              <a:rPr lang="en-US" altLang="zh-CN" sz="1200" kern="1200" dirty="0">
                <a:solidFill>
                  <a:schemeClr val="tx1"/>
                </a:solidFill>
                <a:effectLst/>
                <a:latin typeface="+mn-lt"/>
                <a:ea typeface="+mn-ea"/>
                <a:cs typeface="+mn-cs"/>
              </a:rPr>
              <a:t> 3.1 </a:t>
            </a:r>
            <a:r>
              <a:rPr lang="zh-CN" altLang="zh-CN" sz="1200" kern="1200" dirty="0">
                <a:solidFill>
                  <a:schemeClr val="tx1"/>
                </a:solidFill>
                <a:effectLst/>
                <a:latin typeface="+mn-lt"/>
                <a:ea typeface="+mn-ea"/>
                <a:cs typeface="+mn-cs"/>
              </a:rPr>
              <a:t>所示。通常，交互是通过让语法分析器调用词法分析器来实现的。</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getNextToken</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命令所指示的调用使词法分析器从其输入中读取字符，直到它可以识别下一个词素为止。词法分析器根据这个词素生成下一个词法单元并将其返回给语法分析器。</a:t>
            </a:r>
          </a:p>
          <a:p>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词法分析器与符号表交互也很常见。当词法分析器发现构成标识符的词素时，它需要将该词素输入到符号表中。在某些情况下，词法分析器可以从符号表中读取有关标识符种类的信息，以帮助它确定必须传递哪个词法单元。</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由于词法分析器是编译器中读取源文本的部分，因此除了词素识别之外，它还可以执行某些其他任务。</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其中一项任务是去除注释和空格（空白、换行符、制表符以及可能用于分隔输入中词法单元的其他字符）。</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另一项任务是将编译器生成的错误消息与源程序的位置联系起来。例如，词法分析器可以跟踪所遇到的换行符的数量，因此它可以给每个错误消息赋予一个行号。在某些编译器中，词法分析器会制作源程序的副本，并将错误消息插入到适当的位置。如果源程序使用宏预处理器，则宏的扩展也可以由词法分析器完成。</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出于多种原因，编译器的分析部分通常分为词法分析和解析（语法分析）阶段。</a:t>
            </a: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设计的简单性是最重要的考虑因素。词法分析和语法分析的分离通常使我们能够简化这些任务中的至少一项。例如，如果一个语法分析器必须将注释和空格作为语法单元进行处理，那么他就会比那些假设空白和注释已被词法分析器删除的语法分析器要复杂得多。如果我们正在设计一种新语言，分离词汇和语法问题有助于我们得到一个更加清晰的语言设计方案。 </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编译效率提高。把词法分析器独立出来使得我们能够使用专用于词法分析器、不进行语法分析的技术。此外，我们可以使用专门的用于读取输入字符的缓冲技术可以显著加快编译速度。 </a:t>
            </a: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编译器可移植性增强。输入设备相关的特殊性可以被限制在词法分析器中。</a:t>
            </a:r>
            <a:r>
              <a:rPr lang="zh-CN" altLang="en-US" sz="1200" kern="1200" dirty="0">
                <a:solidFill>
                  <a:schemeClr val="tx1"/>
                </a:solidFill>
                <a:effectLst/>
                <a:latin typeface="+mn-lt"/>
                <a:ea typeface="+mn-ea"/>
                <a:cs typeface="+mn-cs"/>
              </a:rPr>
              <a:t>（如：行分隔）</a:t>
            </a:r>
            <a:endParaRPr lang="zh-CN" altLang="zh-CN" sz="1200" kern="1200" dirty="0">
              <a:solidFill>
                <a:schemeClr val="tx1"/>
              </a:solidFill>
              <a:effectLst/>
              <a:latin typeface="+mn-lt"/>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在讨论词法分析时，我们使用三个相关但不同的术语： </a:t>
            </a:r>
          </a:p>
          <a:p>
            <a:pPr marL="171450" indent="-171450">
              <a:buFont typeface="Arial" panose="020B0604020202020204" pitchFamily="34" charset="0"/>
              <a:buChar char="•"/>
            </a:pPr>
            <a:r>
              <a:rPr lang="zh-CN" altLang="en-US" b="1" dirty="0"/>
              <a:t>词法单元</a:t>
            </a:r>
            <a:r>
              <a:rPr lang="zh-CN" altLang="en-US" dirty="0"/>
              <a:t>是由词法单元名称和可选属性值组成的对。</a:t>
            </a:r>
            <a:endParaRPr lang="en-US" altLang="zh-CN" dirty="0"/>
          </a:p>
          <a:p>
            <a:pPr marL="628650" lvl="1" indent="-171450">
              <a:buFont typeface="Arial" panose="020B0604020202020204" pitchFamily="34" charset="0"/>
              <a:buChar char="•"/>
            </a:pPr>
            <a:r>
              <a:rPr lang="zh-CN" altLang="en-US" dirty="0"/>
              <a:t>词法单元名称是表示某种词汇单元的抽象符号，例如，特定的关键字，或表示标识符的输入字符序列。词法单元名称是语法分析器处理的输入符号。后面的内容中，我们一般会用黑体字给出词法单元的名称。我们将使用词法单元的名字来引用一个词法单元</a:t>
            </a:r>
            <a:endParaRPr lang="en-US" altLang="zh-CN" dirty="0"/>
          </a:p>
          <a:p>
            <a:pPr marL="628650" lvl="1" indent="-171450">
              <a:buFont typeface="Arial" panose="020B0604020202020204" pitchFamily="34" charset="0"/>
              <a:buChar char="•"/>
            </a:pPr>
            <a:r>
              <a:rPr lang="zh-CN" altLang="en-US" dirty="0"/>
              <a:t>属性值（可选）指向符号表</a:t>
            </a:r>
          </a:p>
          <a:p>
            <a:pPr marL="171450" indent="-171450">
              <a:buFont typeface="Arial" panose="020B0604020202020204" pitchFamily="34" charset="0"/>
              <a:buChar char="•"/>
            </a:pPr>
            <a:r>
              <a:rPr lang="zh-CN" altLang="en-US" b="1" dirty="0"/>
              <a:t>模式</a:t>
            </a:r>
            <a:r>
              <a:rPr lang="zh-CN" altLang="en-US" dirty="0"/>
              <a:t>描述了一个词法单元的词素可能具有的形式。当词法单元是一个关键字的情况下，它的模式就是组成这个关键字的字符序列。对于标识符和其他一些词法单元，模式是一个更复杂的结构，它可以和很多符号串匹配。</a:t>
            </a:r>
          </a:p>
          <a:p>
            <a:pPr marL="171450" indent="-171450">
              <a:buFont typeface="Arial" panose="020B0604020202020204" pitchFamily="34" charset="0"/>
              <a:buChar char="•"/>
            </a:pPr>
            <a:r>
              <a:rPr lang="zh-CN" altLang="en-US" b="1" dirty="0"/>
              <a:t>词素</a:t>
            </a:r>
            <a:r>
              <a:rPr lang="zh-CN" altLang="en-US" dirty="0"/>
              <a:t>是源程序中与某个词法单元模式匹配的一个字符序列，并被词法分析器识别为该词法单元的一个实例。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en-US" dirty="0"/>
              <a:t>例 </a:t>
            </a:r>
            <a:r>
              <a:rPr lang="en-US" altLang="zh-CN" dirty="0"/>
              <a:t>3.1</a:t>
            </a:r>
            <a:r>
              <a:rPr lang="zh-CN" altLang="en-US" dirty="0"/>
              <a:t>：图 </a:t>
            </a:r>
            <a:r>
              <a:rPr lang="en-US" altLang="zh-CN" dirty="0"/>
              <a:t>3.2 </a:t>
            </a:r>
            <a:r>
              <a:rPr lang="zh-CN" altLang="en-US" dirty="0"/>
              <a:t>给出了一些常见的词法单元、非正式描述的词法单元的模式，并给出了一些示例词素。下面说明上述概念在实践中是如何应用的。在 </a:t>
            </a:r>
            <a:r>
              <a:rPr lang="en-US" altLang="zh-CN" dirty="0"/>
              <a:t>C </a:t>
            </a:r>
            <a:r>
              <a:rPr lang="zh-CN" altLang="en-US" dirty="0"/>
              <a:t>语句中 </a:t>
            </a:r>
          </a:p>
          <a:p>
            <a:r>
              <a:rPr lang="en-US" altLang="zh-CN" dirty="0" err="1"/>
              <a:t>printf</a:t>
            </a:r>
            <a:r>
              <a:rPr lang="en-US" altLang="zh-CN" dirty="0"/>
              <a:t>("Total = %d\n", score); </a:t>
            </a:r>
          </a:p>
          <a:p>
            <a:r>
              <a:rPr lang="en-US" altLang="zh-CN" dirty="0" err="1"/>
              <a:t>printf</a:t>
            </a:r>
            <a:r>
              <a:rPr lang="en-US" altLang="zh-CN" dirty="0"/>
              <a:t> </a:t>
            </a:r>
            <a:r>
              <a:rPr lang="zh-CN" altLang="en-US" dirty="0"/>
              <a:t>和 </a:t>
            </a:r>
            <a:r>
              <a:rPr lang="en-US" altLang="zh-CN" dirty="0"/>
              <a:t>score </a:t>
            </a:r>
            <a:r>
              <a:rPr lang="zh-CN" altLang="en-US" dirty="0"/>
              <a:t>都是和词法单元 </a:t>
            </a:r>
            <a:r>
              <a:rPr lang="en-US" altLang="zh-CN" dirty="0"/>
              <a:t>id </a:t>
            </a:r>
            <a:r>
              <a:rPr lang="zh-CN" altLang="en-US" dirty="0"/>
              <a:t>的模式匹配的词素，而“</a:t>
            </a:r>
            <a:r>
              <a:rPr lang="en-US" altLang="zh-CN" dirty="0"/>
              <a:t>Total = %d\n”</a:t>
            </a:r>
            <a:r>
              <a:rPr lang="zh-CN" altLang="en-US" dirty="0"/>
              <a:t>则是一个与</a:t>
            </a:r>
            <a:r>
              <a:rPr lang="en-US" altLang="zh-CN" dirty="0"/>
              <a:t>literal</a:t>
            </a:r>
            <a:r>
              <a:rPr lang="zh-CN" altLang="en-US" dirty="0"/>
              <a:t>匹配的词素。 </a:t>
            </a:r>
          </a:p>
          <a:p>
            <a:r>
              <a:rPr lang="zh-CN" altLang="en-US" dirty="0"/>
              <a:t>在许多编程语言中，以下类涵盖了大部分或全部词法单元：</a:t>
            </a:r>
          </a:p>
          <a:p>
            <a:r>
              <a:rPr lang="en-US" altLang="zh-CN" dirty="0"/>
              <a:t>1.	</a:t>
            </a:r>
            <a:r>
              <a:rPr lang="zh-CN" altLang="en-US" dirty="0"/>
              <a:t>每个关键字有一个词法单元。关键字的模式就是该关键字本身。 </a:t>
            </a:r>
          </a:p>
          <a:p>
            <a:r>
              <a:rPr lang="en-US" altLang="zh-CN" dirty="0"/>
              <a:t>2.	</a:t>
            </a:r>
            <a:r>
              <a:rPr lang="zh-CN" altLang="en-US" dirty="0"/>
              <a:t>表示运算符的词法单元，它可以表示单个运算符，也如图 </a:t>
            </a:r>
            <a:r>
              <a:rPr lang="en-US" altLang="zh-CN" dirty="0"/>
              <a:t>3.2 </a:t>
            </a:r>
            <a:r>
              <a:rPr lang="zh-CN" altLang="en-US" dirty="0"/>
              <a:t>中的</a:t>
            </a:r>
            <a:r>
              <a:rPr lang="en-US" altLang="zh-CN" dirty="0"/>
              <a:t>comparison</a:t>
            </a:r>
            <a:r>
              <a:rPr lang="zh-CN" altLang="en-US" dirty="0"/>
              <a:t>那样，表示一类运算符。 </a:t>
            </a:r>
          </a:p>
          <a:p>
            <a:r>
              <a:rPr lang="en-US" altLang="zh-CN" dirty="0"/>
              <a:t>3.	</a:t>
            </a:r>
            <a:r>
              <a:rPr lang="zh-CN" altLang="en-US" dirty="0"/>
              <a:t>一个表示所有标识符的词法单元。 </a:t>
            </a:r>
          </a:p>
          <a:p>
            <a:r>
              <a:rPr lang="en-US" altLang="zh-CN" dirty="0"/>
              <a:t>4.	</a:t>
            </a:r>
            <a:r>
              <a:rPr lang="zh-CN" altLang="en-US" dirty="0"/>
              <a:t>一个或多个表示常量的词法单元，例如数字和字面值字符串。 </a:t>
            </a:r>
          </a:p>
          <a:p>
            <a:r>
              <a:rPr lang="en-US" altLang="zh-CN" dirty="0"/>
              <a:t>5.	</a:t>
            </a:r>
            <a:r>
              <a:rPr lang="zh-CN" altLang="en-US" dirty="0"/>
              <a:t>每个标点符号有一个词法单元，例如左括号、右括号、逗号和分号。</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4079615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当多个词素可以匹配某个模式时，词法分析器必须向编译器的后续阶段提供有关被匹配词素的附加信息。例如，词法单元</a:t>
            </a:r>
            <a:r>
              <a:rPr lang="en-US" altLang="zh-CN" sz="1200" kern="1200" dirty="0">
                <a:solidFill>
                  <a:schemeClr val="tx1"/>
                </a:solidFill>
                <a:effectLst/>
                <a:latin typeface="+mn-lt"/>
                <a:ea typeface="+mn-ea"/>
                <a:cs typeface="+mn-cs"/>
              </a:rPr>
              <a:t>number</a:t>
            </a:r>
            <a:r>
              <a:rPr lang="zh-CN" altLang="zh-CN" sz="1200" kern="1200" dirty="0">
                <a:solidFill>
                  <a:schemeClr val="tx1"/>
                </a:solidFill>
                <a:effectLst/>
                <a:latin typeface="+mn-lt"/>
                <a:ea typeface="+mn-ea"/>
                <a:cs typeface="+mn-cs"/>
              </a:rPr>
              <a:t>的模式与</a:t>
            </a:r>
            <a:r>
              <a:rPr lang="en-US" altLang="zh-CN" sz="1200" kern="1200" dirty="0">
                <a:solidFill>
                  <a:schemeClr val="tx1"/>
                </a:solidFill>
                <a:effectLst/>
                <a:latin typeface="+mn-lt"/>
                <a:ea typeface="+mn-ea"/>
                <a:cs typeface="+mn-cs"/>
              </a:rPr>
              <a:t> 0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1 </a:t>
            </a:r>
            <a:r>
              <a:rPr lang="zh-CN" altLang="zh-CN" sz="1200" kern="1200" dirty="0">
                <a:solidFill>
                  <a:schemeClr val="tx1"/>
                </a:solidFill>
                <a:effectLst/>
                <a:latin typeface="+mn-lt"/>
                <a:ea typeface="+mn-ea"/>
                <a:cs typeface="+mn-cs"/>
              </a:rPr>
              <a:t>都能匹配，但是对于代码生成器来说，至关重要的是知道在源程序中找到了哪个词素。因此，在许多情况下，词法分析器不仅返回给语法分析器一个词法单元名字，还返回一个描述该词法单元所表示的词素的属性值；</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词法单元名字将影响语法分析过程中的决策，</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而这个属性值会影响语法分析后对这个词法单元的翻译。</a:t>
            </a:r>
            <a:endParaRPr lang="en-US" altLang="zh-CN" sz="1200" kern="1200" dirty="0">
              <a:solidFill>
                <a:schemeClr val="tx1"/>
              </a:solidFill>
              <a:effectLst/>
              <a:latin typeface="+mn-lt"/>
              <a:ea typeface="+mn-ea"/>
              <a:cs typeface="+mn-cs"/>
            </a:endParaRPr>
          </a:p>
          <a:p>
            <a:pPr marL="0" indent="0">
              <a:buFont typeface="Arial" panose="020B0604020202020204" pitchFamily="34" charset="0"/>
              <a:buNone/>
            </a:pPr>
            <a:r>
              <a:rPr lang="zh-CN" altLang="zh-CN" sz="1200" kern="1200" dirty="0">
                <a:solidFill>
                  <a:schemeClr val="tx1"/>
                </a:solidFill>
                <a:effectLst/>
                <a:latin typeface="+mn-lt"/>
                <a:ea typeface="+mn-ea"/>
                <a:cs typeface="+mn-cs"/>
              </a:rPr>
              <a:t>我们将假设词法单元至多具有一个相关的属性值，当然该属性值可能是一个组合了多种信息的结构化数据。最重要的例子是词法单元</a:t>
            </a:r>
            <a:r>
              <a:rPr lang="en-US" altLang="zh-CN" sz="1200" kern="1200" dirty="0">
                <a:solidFill>
                  <a:schemeClr val="tx1"/>
                </a:solidFill>
                <a:effectLst/>
                <a:latin typeface="+mn-lt"/>
                <a:ea typeface="+mn-ea"/>
                <a:cs typeface="+mn-cs"/>
              </a:rPr>
              <a:t> id</a:t>
            </a:r>
            <a:r>
              <a:rPr lang="zh-CN" altLang="zh-CN" sz="1200" kern="1200" dirty="0">
                <a:solidFill>
                  <a:schemeClr val="tx1"/>
                </a:solidFill>
                <a:effectLst/>
                <a:latin typeface="+mn-lt"/>
                <a:ea typeface="+mn-ea"/>
                <a:cs typeface="+mn-cs"/>
              </a:rPr>
              <a:t>，我们需要将大量信息与它关联。通常，和一个标识符有关的信息——例如，它的词素、类型以及它第一次出现的位置（在发出一个有关该标识符的错误消息时需要使用这个信息）——都保存在符号表中。因此，一个标识符的属性值是一个指向符号表中该标识符对应条目的指针。</a:t>
            </a:r>
            <a:endParaRPr lang="en-US" altLang="zh-CN" sz="1200" kern="1200" dirty="0">
              <a:solidFill>
                <a:schemeClr val="tx1"/>
              </a:solidFill>
              <a:effectLst/>
              <a:latin typeface="+mn-lt"/>
              <a:ea typeface="+mn-ea"/>
              <a:cs typeface="+mn-cs"/>
            </a:endParaRPr>
          </a:p>
          <a:p>
            <a:pPr marL="0" indent="0">
              <a:buFont typeface="Arial" panose="020B0604020202020204" pitchFamily="34" charset="0"/>
              <a:buNone/>
            </a:pPr>
            <a:r>
              <a:rPr lang="zh-CN" altLang="zh-CN" sz="1200" kern="1200" dirty="0">
                <a:solidFill>
                  <a:schemeClr val="tx1"/>
                </a:solidFill>
                <a:effectLst/>
                <a:latin typeface="+mn-lt"/>
                <a:ea typeface="+mn-ea"/>
                <a:cs typeface="+mn-cs"/>
              </a:rPr>
              <a:t>示例</a:t>
            </a:r>
            <a:r>
              <a:rPr lang="en-US" altLang="zh-CN" sz="1200" kern="1200" dirty="0">
                <a:solidFill>
                  <a:schemeClr val="tx1"/>
                </a:solidFill>
                <a:effectLst/>
                <a:latin typeface="+mn-lt"/>
                <a:ea typeface="+mn-ea"/>
                <a:cs typeface="+mn-cs"/>
              </a:rPr>
              <a:t> 3.2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Fortran </a:t>
            </a:r>
            <a:r>
              <a:rPr lang="zh-CN" altLang="zh-CN" sz="1200" kern="1200" dirty="0">
                <a:solidFill>
                  <a:schemeClr val="tx1"/>
                </a:solidFill>
                <a:effectLst/>
                <a:latin typeface="+mn-lt"/>
                <a:ea typeface="+mn-ea"/>
                <a:cs typeface="+mn-cs"/>
              </a:rPr>
              <a:t>语句</a:t>
            </a:r>
            <a:r>
              <a:rPr lang="en-US" altLang="zh-CN" sz="1200" kern="1200" dirty="0">
                <a:solidFill>
                  <a:schemeClr val="tx1"/>
                </a:solidFill>
                <a:effectLst/>
                <a:latin typeface="+mn-lt"/>
                <a:ea typeface="+mn-ea"/>
                <a:cs typeface="+mn-cs"/>
              </a:rPr>
              <a:t> A=B*2 </a:t>
            </a:r>
            <a:r>
              <a:rPr lang="zh-CN" altLang="zh-CN" sz="1200" kern="1200" dirty="0">
                <a:solidFill>
                  <a:schemeClr val="tx1"/>
                </a:solidFill>
                <a:effectLst/>
                <a:latin typeface="+mn-lt"/>
                <a:ea typeface="+mn-ea"/>
                <a:cs typeface="+mn-cs"/>
              </a:rPr>
              <a:t>的词法单元名称和相关属性值在下面写为名字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属性对的序列。</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zh-CN" sz="1200" kern="1200" dirty="0">
                <a:solidFill>
                  <a:schemeClr val="tx1"/>
                </a:solidFill>
                <a:effectLst/>
                <a:latin typeface="+mn-lt"/>
                <a:ea typeface="+mn-ea"/>
                <a:cs typeface="+mn-cs"/>
              </a:rPr>
              <a:t>请注意，在某些对中，特别是运算符、标点符号和关键字的对中，不需要属性值。在此示例中，词法单元</a:t>
            </a:r>
            <a:r>
              <a:rPr lang="en-US" altLang="zh-CN" sz="1200" kern="1200" dirty="0">
                <a:solidFill>
                  <a:schemeClr val="tx1"/>
                </a:solidFill>
                <a:effectLst/>
                <a:latin typeface="+mn-lt"/>
                <a:ea typeface="+mn-ea"/>
                <a:cs typeface="+mn-cs"/>
              </a:rPr>
              <a:t>number</a:t>
            </a:r>
            <a:r>
              <a:rPr lang="zh-CN" altLang="zh-CN" sz="1200" kern="1200" dirty="0">
                <a:solidFill>
                  <a:schemeClr val="tx1"/>
                </a:solidFill>
                <a:effectLst/>
                <a:latin typeface="+mn-lt"/>
                <a:ea typeface="+mn-ea"/>
                <a:cs typeface="+mn-cs"/>
              </a:rPr>
              <a:t>有一个整数属性值。实际上，编译器会保存一个代表该常量的字符串，并将指向该字符串的指针用作</a:t>
            </a:r>
            <a:r>
              <a:rPr lang="en-US" altLang="zh-CN" sz="1200" kern="1200" dirty="0">
                <a:solidFill>
                  <a:schemeClr val="tx1"/>
                </a:solidFill>
                <a:effectLst/>
                <a:latin typeface="+mn-lt"/>
                <a:ea typeface="+mn-ea"/>
                <a:cs typeface="+mn-cs"/>
              </a:rPr>
              <a:t>number</a:t>
            </a:r>
            <a:r>
              <a:rPr lang="zh-CN" altLang="zh-CN" sz="1200" kern="1200" dirty="0">
                <a:solidFill>
                  <a:schemeClr val="tx1"/>
                </a:solidFill>
                <a:effectLst/>
                <a:latin typeface="+mn-lt"/>
                <a:ea typeface="+mn-ea"/>
                <a:cs typeface="+mn-cs"/>
              </a:rPr>
              <a:t>的属性值。</a:t>
            </a:r>
          </a:p>
          <a:p>
            <a:pPr marL="0" indent="0">
              <a:buFont typeface="Arial" panose="020B0604020202020204" pitchFamily="34" charset="0"/>
              <a:buNone/>
            </a:pPr>
            <a:endParaRPr lang="zh-CN" altLang="zh-CN" sz="1200" kern="1200" dirty="0">
              <a:solidFill>
                <a:schemeClr val="tx1"/>
              </a:solidFill>
              <a:effectLst/>
              <a:latin typeface="+mn-lt"/>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如果没有其他组件的帮助，词法分析器很难发现源代码中的错误。比如，当词法分析器在</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语言程序片段</a:t>
            </a:r>
            <a:r>
              <a:rPr lang="en-US" altLang="zh-CN" sz="1200" kern="1200" dirty="0">
                <a:solidFill>
                  <a:schemeClr val="tx1"/>
                </a:solidFill>
                <a:effectLst/>
                <a:latin typeface="+mn-lt"/>
                <a:ea typeface="+mn-ea"/>
                <a:cs typeface="+mn-cs"/>
              </a:rPr>
              <a:t>fi ( a == f(x))</a:t>
            </a:r>
            <a:r>
              <a:rPr lang="zh-CN" altLang="zh-CN" sz="1200" kern="1200" dirty="0">
                <a:solidFill>
                  <a:schemeClr val="tx1"/>
                </a:solidFill>
                <a:effectLst/>
                <a:latin typeface="+mn-lt"/>
                <a:ea typeface="+mn-ea"/>
                <a:cs typeface="+mn-cs"/>
              </a:rPr>
              <a:t>中第一次遇到</a:t>
            </a:r>
            <a:r>
              <a:rPr lang="en-US" altLang="zh-CN" sz="1200" kern="1200" dirty="0">
                <a:solidFill>
                  <a:schemeClr val="tx1"/>
                </a:solidFill>
                <a:effectLst/>
                <a:latin typeface="+mn-lt"/>
                <a:ea typeface="+mn-ea"/>
                <a:cs typeface="+mn-cs"/>
              </a:rPr>
              <a:t>fi</a:t>
            </a:r>
            <a:r>
              <a:rPr lang="zh-CN" altLang="zh-CN" sz="1200" kern="1200" dirty="0">
                <a:solidFill>
                  <a:schemeClr val="tx1"/>
                </a:solidFill>
                <a:effectLst/>
                <a:latin typeface="+mn-lt"/>
                <a:ea typeface="+mn-ea"/>
                <a:cs typeface="+mn-cs"/>
              </a:rPr>
              <a:t>时，它无法指出</a:t>
            </a:r>
            <a:r>
              <a:rPr lang="en-US" altLang="zh-CN" sz="1200" kern="1200" dirty="0">
                <a:solidFill>
                  <a:schemeClr val="tx1"/>
                </a:solidFill>
                <a:effectLst/>
                <a:latin typeface="+mn-lt"/>
                <a:ea typeface="+mn-ea"/>
                <a:cs typeface="+mn-cs"/>
              </a:rPr>
              <a:t> fi </a:t>
            </a:r>
            <a:r>
              <a:rPr lang="zh-CN" altLang="zh-CN" sz="1200" kern="1200" dirty="0">
                <a:solidFill>
                  <a:schemeClr val="tx1"/>
                </a:solidFill>
                <a:effectLst/>
                <a:latin typeface="+mn-lt"/>
                <a:ea typeface="+mn-ea"/>
                <a:cs typeface="+mn-cs"/>
              </a:rPr>
              <a:t>究竟是关键字</a:t>
            </a:r>
            <a:r>
              <a:rPr lang="en-US" altLang="zh-CN" sz="1200" kern="1200" dirty="0">
                <a:solidFill>
                  <a:schemeClr val="tx1"/>
                </a:solidFill>
                <a:effectLst/>
                <a:latin typeface="+mn-lt"/>
                <a:ea typeface="+mn-ea"/>
                <a:cs typeface="+mn-cs"/>
              </a:rPr>
              <a:t> if </a:t>
            </a:r>
            <a:r>
              <a:rPr lang="zh-CN" altLang="zh-CN" sz="1200" kern="1200" dirty="0">
                <a:solidFill>
                  <a:schemeClr val="tx1"/>
                </a:solidFill>
                <a:effectLst/>
                <a:latin typeface="+mn-lt"/>
                <a:ea typeface="+mn-ea"/>
                <a:cs typeface="+mn-cs"/>
              </a:rPr>
              <a:t>的拼写错误还是一个未声明的函数标识符。由于</a:t>
            </a:r>
            <a:r>
              <a:rPr lang="en-US" altLang="zh-CN" sz="1200" kern="1200" dirty="0">
                <a:solidFill>
                  <a:schemeClr val="tx1"/>
                </a:solidFill>
                <a:effectLst/>
                <a:latin typeface="+mn-lt"/>
                <a:ea typeface="+mn-ea"/>
                <a:cs typeface="+mn-cs"/>
              </a:rPr>
              <a:t> fi </a:t>
            </a:r>
            <a:r>
              <a:rPr lang="zh-CN" altLang="zh-CN" sz="1200" kern="1200" dirty="0">
                <a:solidFill>
                  <a:schemeClr val="tx1"/>
                </a:solidFill>
                <a:effectLst/>
                <a:latin typeface="+mn-lt"/>
                <a:ea typeface="+mn-ea"/>
                <a:cs typeface="+mn-cs"/>
              </a:rPr>
              <a:t>是词法单元</a:t>
            </a:r>
            <a:r>
              <a:rPr lang="en-US" altLang="zh-CN" sz="1200" kern="1200" dirty="0">
                <a:solidFill>
                  <a:schemeClr val="tx1"/>
                </a:solidFill>
                <a:effectLst/>
                <a:latin typeface="+mn-lt"/>
                <a:ea typeface="+mn-ea"/>
                <a:cs typeface="+mn-cs"/>
              </a:rPr>
              <a:t> id </a:t>
            </a:r>
            <a:r>
              <a:rPr lang="zh-CN" altLang="zh-CN" sz="1200" kern="1200" dirty="0">
                <a:solidFill>
                  <a:schemeClr val="tx1"/>
                </a:solidFill>
                <a:effectLst/>
                <a:latin typeface="+mn-lt"/>
                <a:ea typeface="+mn-ea"/>
                <a:cs typeface="+mn-cs"/>
              </a:rPr>
              <a:t>的一个合法词素，因此词法分析器必须将词法单元</a:t>
            </a:r>
            <a:r>
              <a:rPr lang="en-US" altLang="zh-CN" sz="1200" kern="1200" dirty="0">
                <a:solidFill>
                  <a:schemeClr val="tx1"/>
                </a:solidFill>
                <a:effectLst/>
                <a:latin typeface="+mn-lt"/>
                <a:ea typeface="+mn-ea"/>
                <a:cs typeface="+mn-cs"/>
              </a:rPr>
              <a:t> id </a:t>
            </a:r>
            <a:r>
              <a:rPr lang="zh-CN" altLang="zh-CN" sz="1200" kern="1200" dirty="0">
                <a:solidFill>
                  <a:schemeClr val="tx1"/>
                </a:solidFill>
                <a:effectLst/>
                <a:latin typeface="+mn-lt"/>
                <a:ea typeface="+mn-ea"/>
                <a:cs typeface="+mn-cs"/>
              </a:rPr>
              <a:t>返回给语法分析器，并让编译器的某些其他阶段（在这种情况下是语法分析器）去处理这个由于字母换位而导致的错误。</a:t>
            </a:r>
          </a:p>
          <a:p>
            <a:r>
              <a:rPr lang="zh-CN" altLang="zh-CN" sz="1200" kern="1200" dirty="0">
                <a:solidFill>
                  <a:schemeClr val="tx1"/>
                </a:solidFill>
                <a:effectLst/>
                <a:latin typeface="+mn-lt"/>
                <a:ea typeface="+mn-ea"/>
                <a:cs typeface="+mn-cs"/>
              </a:rPr>
              <a:t>然而，假设出现所有词法单元模式都无法与剩余输入的某个前缀匹配的情况，词法分析器就就不能继续处理输入。最简单的恢复策略是</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恐慌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恢复。我们从剩余的输入中不断删除字符，直到词法分析器能够，直到词法分析器可以在剩余输入的开头找到一个正确的词法单元为止。这种恢复技术可能会给语法分析器带来混乱，但是在交互式计算环境中，这可能已经足够了。</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正则表达式是指定词素模式的重要符号。虽然它们不能表达所有可能的模式，但它们可以高效地描述在处理词法单元时要用到的模式类型。在本节中，我们将研究正则表达式的形式表示法</a:t>
            </a:r>
            <a:r>
              <a:rPr lang="zh-CN" altLang="en-US" dirty="0"/>
              <a:t>本部分内容：</a:t>
            </a:r>
          </a:p>
          <a:p>
            <a:pPr lvl="1"/>
            <a:r>
              <a:rPr lang="zh-CN" altLang="en-US" dirty="0">
                <a:sym typeface="+mn-ea"/>
              </a:rPr>
              <a:t>■ </a:t>
            </a:r>
            <a:r>
              <a:rPr lang="zh-CN" altLang="en-US" dirty="0"/>
              <a:t>字符串和语言</a:t>
            </a:r>
          </a:p>
          <a:p>
            <a:pPr lvl="1"/>
            <a:r>
              <a:rPr lang="zh-CN" altLang="en-US" dirty="0">
                <a:sym typeface="+mn-ea"/>
              </a:rPr>
              <a:t>■ </a:t>
            </a:r>
            <a:r>
              <a:rPr lang="zh-CN" altLang="en-US" dirty="0"/>
              <a:t>语言上的运算</a:t>
            </a:r>
          </a:p>
          <a:p>
            <a:pPr lvl="1"/>
            <a:r>
              <a:rPr lang="zh-CN" altLang="en-US" dirty="0"/>
              <a:t>■ 正则表达式</a:t>
            </a:r>
          </a:p>
          <a:p>
            <a:pPr lvl="1"/>
            <a:r>
              <a:rPr lang="zh-CN" altLang="en-US" dirty="0">
                <a:sym typeface="+mn-ea"/>
              </a:rPr>
              <a:t>■ </a:t>
            </a:r>
            <a:r>
              <a:rPr lang="zh-CN" altLang="en-US" dirty="0"/>
              <a:t>常规定义（正则定义）</a:t>
            </a:r>
          </a:p>
          <a:p>
            <a:pPr lvl="1"/>
            <a:r>
              <a:rPr lang="zh-CN" altLang="en-US" dirty="0"/>
              <a:t>■ 正则表达式的扩展</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字母表是一个有限的符号集合。</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符号的典型示例是字母、数字和标点符号。</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集合</a:t>
            </a:r>
            <a:r>
              <a:rPr lang="en-US" altLang="zh-CN" sz="1200" kern="1200" dirty="0">
                <a:solidFill>
                  <a:schemeClr val="tx1"/>
                </a:solidFill>
                <a:effectLst/>
                <a:latin typeface="+mn-lt"/>
                <a:ea typeface="+mn-ea"/>
                <a:cs typeface="+mn-cs"/>
              </a:rPr>
              <a:t>f{0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是二进制字母表。</a:t>
            </a:r>
            <a:r>
              <a:rPr lang="en-US" altLang="zh-CN" sz="1200" kern="1200" dirty="0">
                <a:solidFill>
                  <a:schemeClr val="tx1"/>
                </a:solidFill>
                <a:effectLst/>
                <a:latin typeface="+mn-lt"/>
                <a:ea typeface="+mn-ea"/>
                <a:cs typeface="+mn-cs"/>
              </a:rPr>
              <a:t> ASCI I </a:t>
            </a:r>
            <a:r>
              <a:rPr lang="zh-CN" altLang="zh-CN" sz="1200" kern="1200" dirty="0">
                <a:solidFill>
                  <a:schemeClr val="tx1"/>
                </a:solidFill>
                <a:effectLst/>
                <a:latin typeface="+mn-lt"/>
                <a:ea typeface="+mn-ea"/>
                <a:cs typeface="+mn-cs"/>
              </a:rPr>
              <a:t>是字母表的一个重要例子；它被用于许多软件系统中。</a:t>
            </a:r>
            <a:r>
              <a:rPr lang="en-US" altLang="zh-CN" sz="1200" kern="1200" dirty="0">
                <a:solidFill>
                  <a:schemeClr val="tx1"/>
                </a:solidFill>
                <a:effectLst/>
                <a:latin typeface="+mn-lt"/>
                <a:ea typeface="+mn-ea"/>
                <a:cs typeface="+mn-cs"/>
              </a:rPr>
              <a:t>Unicode</a:t>
            </a:r>
            <a:r>
              <a:rPr lang="zh-CN" altLang="zh-CN" sz="1200" kern="1200" dirty="0">
                <a:solidFill>
                  <a:schemeClr val="tx1"/>
                </a:solidFill>
                <a:effectLst/>
                <a:latin typeface="+mn-lt"/>
                <a:ea typeface="+mn-ea"/>
                <a:cs typeface="+mn-cs"/>
              </a:rPr>
              <a:t>包含了大约</a:t>
            </a:r>
            <a:r>
              <a:rPr lang="en-US" altLang="zh-CN" sz="1200" kern="1200" dirty="0">
                <a:solidFill>
                  <a:schemeClr val="tx1"/>
                </a:solidFill>
                <a:effectLst/>
                <a:latin typeface="+mn-lt"/>
                <a:ea typeface="+mn-ea"/>
                <a:cs typeface="+mn-cs"/>
              </a:rPr>
              <a:t> 100,000 </a:t>
            </a:r>
            <a:r>
              <a:rPr lang="zh-CN" altLang="zh-CN" sz="1200" kern="1200" dirty="0">
                <a:solidFill>
                  <a:schemeClr val="tx1"/>
                </a:solidFill>
                <a:effectLst/>
                <a:latin typeface="+mn-lt"/>
                <a:ea typeface="+mn-ea"/>
                <a:cs typeface="+mn-cs"/>
              </a:rPr>
              <a:t>个来自世界各地字母的字符，是字母表的另一个重要示例</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indent="0">
              <a:buFont typeface="Arial" panose="020B0604020202020204" pitchFamily="34" charset="0"/>
              <a:buNone/>
            </a:pPr>
            <a:r>
              <a:rPr lang="zh-CN" altLang="en-US" dirty="0"/>
              <a:t>字母表上的字符串（串）是从字母表中抽取的符号的有限序列。字符串 s 的长度（用 |s| 表示）是指有多少个</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 字符串相关术语（以</a:t>
            </a:r>
            <a:r>
              <a:rPr lang="en-US" altLang="zh-CN" dirty="0"/>
              <a:t>banana</a:t>
            </a:r>
            <a:r>
              <a:rPr lang="zh-CN" altLang="en-US" dirty="0"/>
              <a:t>为例进行说明）</a:t>
            </a:r>
          </a:p>
          <a:p>
            <a:r>
              <a:rPr lang="zh-CN" altLang="en-US" dirty="0"/>
              <a:t>▪ 字符串 s 的前缀（前缀）：从 s 的末尾去掉 0 个或多个符号后得到的任何字符串（</a:t>
            </a:r>
          </a:p>
          <a:p>
            <a:r>
              <a:rPr lang="zh-CN" altLang="en-US" dirty="0">
                <a:sym typeface="+mn-ea"/>
              </a:rPr>
              <a:t>▪ </a:t>
            </a:r>
            <a:r>
              <a:rPr lang="zh-CN" altLang="en-US" dirty="0"/>
              <a:t>适当的前缀（真前缀）：不是空且不为整个字符串</a:t>
            </a:r>
          </a:p>
          <a:p>
            <a:r>
              <a:rPr lang="zh-CN" altLang="en-US" dirty="0">
                <a:sym typeface="+mn-ea"/>
              </a:rPr>
              <a:t>▪ </a:t>
            </a:r>
            <a:r>
              <a:rPr lang="zh-CN" altLang="en-US" dirty="0"/>
              <a:t>后缀（Suffix）：从 s 开头去掉 0 个或更多符号后得到的字符串</a:t>
            </a:r>
          </a:p>
          <a:p>
            <a:r>
              <a:rPr lang="zh-CN" altLang="en-US" dirty="0">
                <a:sym typeface="+mn-ea"/>
              </a:rPr>
              <a:t>▪ </a:t>
            </a:r>
            <a:r>
              <a:rPr lang="zh-CN" altLang="en-US" dirty="0"/>
              <a:t>正后缀（真后缀）：不是空且不为字符串本身</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子串：从 s 中去掉任何前缀和后缀后得到的任何字符串</a:t>
            </a:r>
            <a:r>
              <a:rPr lang="en-US" altLang="zh-CN" dirty="0"/>
              <a:t>,s</a:t>
            </a:r>
            <a:r>
              <a:rPr lang="zh-CN" altLang="en-US" dirty="0"/>
              <a:t>的所有前缀、后缀也都是它的子串。对任意的符号串</a:t>
            </a:r>
            <a:r>
              <a:rPr lang="en-US" altLang="zh-CN" dirty="0"/>
              <a:t>s</a:t>
            </a:r>
            <a:r>
              <a:rPr lang="zh-CN" altLang="en-US" dirty="0"/>
              <a:t>，</a:t>
            </a:r>
            <a:r>
              <a:rPr lang="en-US" altLang="zh-CN" dirty="0"/>
              <a:t>s</a:t>
            </a:r>
            <a:r>
              <a:rPr lang="zh-CN" altLang="en-US" dirty="0"/>
              <a:t>自身、</a:t>
            </a:r>
            <a:r>
              <a:rPr lang="zh-CN" altLang="en-US" sz="1200" dirty="0">
                <a:solidFill>
                  <a:srgbClr val="0331FF"/>
                </a:solidFill>
                <a:latin typeface="Palatino Linotype" panose="02040502050505030304" charset="0"/>
                <a:ea typeface="Palatino Linotype" panose="02040502050505030304"/>
                <a:cs typeface="Palatino Linotype" panose="02040502050505030304"/>
                <a:sym typeface="+mn-ea"/>
              </a:rPr>
              <a:t>𝜖都是</a:t>
            </a:r>
            <a:r>
              <a:rPr lang="en-US" altLang="zh-CN" sz="1200" dirty="0">
                <a:solidFill>
                  <a:srgbClr val="0331FF"/>
                </a:solidFill>
                <a:latin typeface="Palatino Linotype" panose="02040502050505030304" charset="0"/>
                <a:ea typeface="Palatino Linotype" panose="02040502050505030304"/>
                <a:cs typeface="Palatino Linotype" panose="02040502050505030304"/>
                <a:sym typeface="+mn-ea"/>
              </a:rPr>
              <a:t>s</a:t>
            </a:r>
            <a:r>
              <a:rPr lang="zh-CN" altLang="en-US" sz="1200" dirty="0">
                <a:solidFill>
                  <a:srgbClr val="0331FF"/>
                </a:solidFill>
                <a:latin typeface="Palatino Linotype" panose="02040502050505030304" charset="0"/>
                <a:ea typeface="Palatino Linotype" panose="02040502050505030304"/>
                <a:cs typeface="Palatino Linotype" panose="02040502050505030304"/>
                <a:sym typeface="+mn-ea"/>
              </a:rPr>
              <a:t>的前缀、后缀，也是</a:t>
            </a:r>
            <a:r>
              <a:rPr lang="en-US" altLang="zh-CN" sz="1200" dirty="0">
                <a:solidFill>
                  <a:srgbClr val="0331FF"/>
                </a:solidFill>
                <a:latin typeface="Palatino Linotype" panose="02040502050505030304" charset="0"/>
                <a:ea typeface="Palatino Linotype" panose="02040502050505030304"/>
                <a:cs typeface="Palatino Linotype" panose="02040502050505030304"/>
                <a:sym typeface="+mn-ea"/>
              </a:rPr>
              <a:t>s</a:t>
            </a:r>
            <a:r>
              <a:rPr lang="zh-CN" altLang="en-US" sz="1200" dirty="0">
                <a:solidFill>
                  <a:srgbClr val="0331FF"/>
                </a:solidFill>
                <a:latin typeface="Palatino Linotype" panose="02040502050505030304" charset="0"/>
                <a:ea typeface="Palatino Linotype" panose="02040502050505030304"/>
                <a:cs typeface="Palatino Linotype" panose="02040502050505030304"/>
                <a:sym typeface="+mn-ea"/>
              </a:rPr>
              <a:t>的子串。</a:t>
            </a:r>
            <a:endParaRPr lang="zh-CN" altLang="en-US" dirty="0"/>
          </a:p>
          <a:p>
            <a:r>
              <a:rPr lang="zh-CN" altLang="en-US" dirty="0"/>
              <a:t>真子串：不为空且不等于字符串</a:t>
            </a:r>
          </a:p>
          <a:p>
            <a:r>
              <a:rPr lang="zh-CN" altLang="en-US" dirty="0"/>
              <a:t>子序列：从 s 中删除 0 个或多个不一定连续的符号后形成的字符串</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Let the length of the string be n, so looking at the example above, we understand that to find all possible numbers of substrings, we need to add substrings of length n, (n-1), (n-2), (n-3), (n-4),......2, 1.</a:t>
            </a:r>
          </a:p>
          <a:p>
            <a:r>
              <a:rPr lang="pt-BR" altLang="zh-CN" dirty="0">
                <a:effectLst/>
              </a:rPr>
              <a:t>Total number of substrings = n + (n - 1) + (n - 2) + (n - 3) + (n - 4) + ……. + 2 + 1.</a:t>
            </a:r>
          </a:p>
          <a:p>
            <a:r>
              <a:rPr lang="pt-BR" altLang="zh-CN" dirty="0">
                <a:effectLst/>
              </a:rPr>
              <a:t>= n * (n + 1) / 2</a:t>
            </a:r>
            <a:r>
              <a:rPr lang="en-US" altLang="zh-CN" dirty="0">
                <a:effectLst/>
              </a:rPr>
              <a:t>=21</a:t>
            </a:r>
            <a:endParaRPr lang="pt-BR"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So now we have a formula for evaluating the number of substrings where n is the length of a given string.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22</a:t>
            </a:r>
            <a:r>
              <a:rPr lang="zh-CN" altLang="en-US" dirty="0"/>
              <a:t>个（考虑空串）</a:t>
            </a:r>
            <a:endParaRPr lang="en-US" altLang="zh-CN" dirty="0"/>
          </a:p>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是字符串，则</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的连接（表示为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xy</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）是把</a:t>
            </a:r>
            <a:r>
              <a:rPr lang="en-US" altLang="zh-CN" sz="1200" kern="1200" dirty="0">
                <a:solidFill>
                  <a:schemeClr val="tx1"/>
                </a:solidFill>
                <a:effectLst/>
                <a:latin typeface="+mn-lt"/>
                <a:ea typeface="+mn-ea"/>
                <a:cs typeface="+mn-cs"/>
              </a:rPr>
              <a:t> y</a:t>
            </a:r>
            <a:r>
              <a:rPr lang="zh-CN" altLang="zh-CN" sz="1200" kern="1200" dirty="0">
                <a:solidFill>
                  <a:schemeClr val="tx1"/>
                </a:solidFill>
                <a:effectLst/>
                <a:latin typeface="+mn-lt"/>
                <a:ea typeface="+mn-ea"/>
                <a:cs typeface="+mn-cs"/>
              </a:rPr>
              <a:t>附加到</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后面而形成的字符串。例如，如果</a:t>
            </a:r>
            <a:r>
              <a:rPr lang="en-US" altLang="zh-CN" sz="1200" kern="1200" dirty="0">
                <a:solidFill>
                  <a:schemeClr val="tx1"/>
                </a:solidFill>
                <a:effectLst/>
                <a:latin typeface="+mn-lt"/>
                <a:ea typeface="+mn-ea"/>
                <a:cs typeface="+mn-cs"/>
              </a:rPr>
              <a:t> x = dog</a:t>
            </a:r>
            <a:r>
              <a:rPr lang="zh-CN" altLang="zh-CN" sz="1200" kern="1200" dirty="0">
                <a:solidFill>
                  <a:schemeClr val="tx1"/>
                </a:solidFill>
                <a:effectLst/>
                <a:latin typeface="+mn-lt"/>
                <a:ea typeface="+mn-ea"/>
                <a:cs typeface="+mn-cs"/>
              </a:rPr>
              <a:t>且</a:t>
            </a:r>
            <a:r>
              <a:rPr lang="en-US" altLang="zh-CN" sz="1200" kern="1200" dirty="0">
                <a:solidFill>
                  <a:schemeClr val="tx1"/>
                </a:solidFill>
                <a:effectLst/>
                <a:latin typeface="+mn-lt"/>
                <a:ea typeface="+mn-ea"/>
                <a:cs typeface="+mn-cs"/>
              </a:rPr>
              <a:t> y =house</a:t>
            </a:r>
            <a:r>
              <a:rPr lang="zh-CN" altLang="zh-CN" sz="1200" kern="1200" dirty="0">
                <a:solidFill>
                  <a:schemeClr val="tx1"/>
                </a:solidFill>
                <a:effectLst/>
                <a:latin typeface="+mn-lt"/>
                <a:ea typeface="+mn-ea"/>
                <a:cs typeface="+mn-cs"/>
              </a:rPr>
              <a:t>，则</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xy</a:t>
            </a:r>
            <a:r>
              <a:rPr lang="en-US" altLang="zh-CN" sz="1200" kern="1200" dirty="0">
                <a:solidFill>
                  <a:schemeClr val="tx1"/>
                </a:solidFill>
                <a:effectLst/>
                <a:latin typeface="+mn-lt"/>
                <a:ea typeface="+mn-ea"/>
                <a:cs typeface="+mn-cs"/>
              </a:rPr>
              <a:t> =doghouse</a:t>
            </a:r>
            <a:r>
              <a:rPr lang="zh-CN" altLang="zh-CN" sz="1200" kern="1200" dirty="0">
                <a:solidFill>
                  <a:schemeClr val="tx1"/>
                </a:solidFill>
                <a:effectLst/>
                <a:latin typeface="+mn-lt"/>
                <a:ea typeface="+mn-ea"/>
                <a:cs typeface="+mn-cs"/>
              </a:rPr>
              <a:t>。空串是连接运算的单位元；也就是说，对于任何字符串</a:t>
            </a:r>
            <a:r>
              <a:rPr lang="en-US" altLang="zh-CN" sz="1200" kern="1200" dirty="0">
                <a:solidFill>
                  <a:schemeClr val="tx1"/>
                </a:solidFill>
                <a:effectLst/>
                <a:latin typeface="+mn-lt"/>
                <a:ea typeface="+mn-ea"/>
                <a:cs typeface="+mn-cs"/>
              </a:rPr>
              <a:t> s</a:t>
            </a:r>
            <a:r>
              <a:rPr lang="zh-CN" altLang="zh-CN" sz="1200" kern="1200" dirty="0">
                <a:solidFill>
                  <a:schemeClr val="tx1"/>
                </a:solidFill>
                <a:effectLst/>
                <a:latin typeface="+mn-lt"/>
                <a:ea typeface="+mn-ea"/>
                <a:cs typeface="+mn-cs"/>
              </a:rPr>
              <a:t>都有，</a:t>
            </a:r>
            <a:r>
              <a:rPr lang="en-US" altLang="zh-CN" sz="1200" kern="1200" dirty="0">
                <a:solidFill>
                  <a:schemeClr val="tx1"/>
                </a:solidFill>
                <a:effectLst/>
                <a:latin typeface="+mn-lt"/>
                <a:ea typeface="+mn-ea"/>
                <a:cs typeface="+mn-cs"/>
              </a:rPr>
              <a:t>s = s = s</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如果我们将两个串的连接视为这两个串的乘积，我们可以如下定义字符串的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指数</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运算如下：定义</a:t>
            </a:r>
            <a:r>
              <a:rPr lang="en-US" altLang="zh-CN" sz="1200" kern="1200" dirty="0">
                <a:solidFill>
                  <a:schemeClr val="tx1"/>
                </a:solidFill>
                <a:effectLst/>
                <a:latin typeface="+mn-lt"/>
                <a:ea typeface="+mn-ea"/>
                <a:cs typeface="+mn-cs"/>
              </a:rPr>
              <a:t> s0 </a:t>
            </a:r>
            <a:r>
              <a:rPr lang="zh-CN" altLang="zh-CN" sz="1200" kern="1200" dirty="0">
                <a:solidFill>
                  <a:schemeClr val="tx1"/>
                </a:solidFill>
                <a:effectLst/>
                <a:latin typeface="+mn-lt"/>
                <a:ea typeface="+mn-ea"/>
                <a:cs typeface="+mn-cs"/>
              </a:rPr>
              <a:t>定义为</a:t>
            </a:r>
            <a:r>
              <a:rPr lang="en-US" altLang="zh-CN" sz="1200" kern="1200" dirty="0">
                <a:solidFill>
                  <a:schemeClr val="tx1"/>
                </a:solidFill>
                <a:effectLst/>
                <a:latin typeface="+mn-lt"/>
                <a:ea typeface="+mn-ea"/>
                <a:cs typeface="+mn-cs"/>
              </a:rPr>
              <a:t> e </a:t>
            </a:r>
            <a:r>
              <a:rPr lang="zh-CN" altLang="zh-CN" sz="1200" kern="1200" dirty="0">
                <a:solidFill>
                  <a:schemeClr val="tx1"/>
                </a:solidFill>
                <a:effectLst/>
                <a:latin typeface="+mn-lt"/>
                <a:ea typeface="+mn-ea"/>
                <a:cs typeface="+mn-cs"/>
              </a:rPr>
              <a:t>，并且对于所有</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&gt;0</a:t>
            </a:r>
            <a:r>
              <a:rPr lang="zh-CN" altLang="zh-CN" sz="1200" kern="1200" dirty="0">
                <a:solidFill>
                  <a:schemeClr val="tx1"/>
                </a:solidFill>
                <a:effectLst/>
                <a:latin typeface="+mn-lt"/>
                <a:ea typeface="+mn-ea"/>
                <a:cs typeface="+mn-cs"/>
              </a:rPr>
              <a:t>，将</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si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 e </a:t>
            </a:r>
            <a:r>
              <a:rPr lang="en-US" altLang="zh-CN" sz="1200" kern="1200" dirty="0" err="1">
                <a:solidFill>
                  <a:schemeClr val="tx1"/>
                </a:solidFill>
                <a:effectLst/>
                <a:latin typeface="+mn-lt"/>
                <a:ea typeface="+mn-ea"/>
                <a:cs typeface="+mn-cs"/>
              </a:rPr>
              <a:t>si</a:t>
            </a:r>
            <a:r>
              <a:rPr lang="en-US" altLang="zh-CN" sz="1200" kern="1200" dirty="0">
                <a:solidFill>
                  <a:schemeClr val="tx1"/>
                </a:solidFill>
                <a:effectLst/>
                <a:latin typeface="+mn-lt"/>
                <a:ea typeface="+mn-ea"/>
                <a:cs typeface="+mn-cs"/>
              </a:rPr>
              <a:t> 1 s</a:t>
            </a:r>
            <a:r>
              <a:rPr lang="zh-CN" altLang="zh-CN" sz="1200" kern="1200" dirty="0">
                <a:solidFill>
                  <a:schemeClr val="tx1"/>
                </a:solidFill>
                <a:effectLst/>
                <a:latin typeface="+mn-lt"/>
                <a:ea typeface="+mn-ea"/>
                <a:cs typeface="+mn-cs"/>
              </a:rPr>
              <a:t>。因为</a:t>
            </a:r>
            <a:r>
              <a:rPr lang="en-US" altLang="zh-CN" sz="1200" kern="1200" dirty="0">
                <a:solidFill>
                  <a:schemeClr val="tx1"/>
                </a:solidFill>
                <a:effectLst/>
                <a:latin typeface="+mn-lt"/>
                <a:ea typeface="+mn-ea"/>
                <a:cs typeface="+mn-cs"/>
              </a:rPr>
              <a:t> s = s </a:t>
            </a:r>
            <a:r>
              <a:rPr lang="zh-CN" altLang="zh-CN" sz="1200" kern="1200" dirty="0">
                <a:solidFill>
                  <a:schemeClr val="tx1"/>
                </a:solidFill>
                <a:effectLst/>
                <a:latin typeface="+mn-lt"/>
                <a:ea typeface="+mn-ea"/>
                <a:cs typeface="+mn-cs"/>
              </a:rPr>
              <a:t>，由此可知</a:t>
            </a:r>
            <a:r>
              <a:rPr lang="en-US" altLang="zh-CN" sz="1200" kern="1200" dirty="0">
                <a:solidFill>
                  <a:schemeClr val="tx1"/>
                </a:solidFill>
                <a:effectLst/>
                <a:latin typeface="+mn-lt"/>
                <a:ea typeface="+mn-ea"/>
                <a:cs typeface="+mn-cs"/>
              </a:rPr>
              <a:t> s1 = s</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s2 = ss</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s3 = </a:t>
            </a:r>
            <a:r>
              <a:rPr lang="en-US" altLang="zh-CN" sz="1200" kern="1200" dirty="0" err="1">
                <a:solidFill>
                  <a:schemeClr val="tx1"/>
                </a:solidFill>
                <a:effectLst/>
                <a:latin typeface="+mn-lt"/>
                <a:ea typeface="+mn-ea"/>
                <a:cs typeface="+mn-cs"/>
              </a:rPr>
              <a:t>sss</a:t>
            </a:r>
            <a:r>
              <a:rPr lang="zh-CN" altLang="zh-CN" sz="1200" kern="1200" dirty="0">
                <a:solidFill>
                  <a:schemeClr val="tx1"/>
                </a:solidFill>
                <a:effectLst/>
                <a:latin typeface="+mn-lt"/>
                <a:ea typeface="+mn-ea"/>
                <a:cs typeface="+mn-cs"/>
              </a:rPr>
              <a:t>，依此类推。</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 语言 (语言) 是在某个固定字母表上的字符串的任何可数集合。</a:t>
            </a:r>
            <a:endParaRPr lang="en-US" altLang="zh-CN" dirty="0"/>
          </a:p>
          <a:p>
            <a:pPr lvl="1"/>
            <a:r>
              <a:rPr lang="zh-CN" altLang="en-US" dirty="0"/>
              <a:t>只包含空字符串的集合，即 {</a:t>
            </a:r>
            <a:r>
              <a:rPr dirty="0">
                <a:latin typeface="Ubuntu Mono derivative Powerline" charset="0"/>
                <a:ea typeface="Palatino Linotype" panose="02040502050505030304"/>
                <a:cs typeface="Palatino Linotype" panose="02040502050505030304"/>
                <a:sym typeface="+mn-ea"/>
              </a:rPr>
              <a:t>𝜖</a:t>
            </a:r>
            <a:r>
              <a:rPr lang="en-US" dirty="0">
                <a:latin typeface="Ubuntu Mono derivative Powerline" charset="0"/>
                <a:ea typeface="Palatino Linotype" panose="02040502050505030304"/>
                <a:cs typeface="Palatino Linotype" panose="02040502050505030304"/>
                <a:sym typeface="+mn-ea"/>
              </a:rPr>
              <a:t>}</a:t>
            </a:r>
            <a:r>
              <a:rPr lang="zh-CN" altLang="en-US" dirty="0">
                <a:latin typeface="Ubuntu Mono derivative Powerline" charset="0"/>
                <a:ea typeface="宋体" panose="02010600030101010101" pitchFamily="2" charset="-122"/>
                <a:cs typeface="Palatino Linotype" panose="02040502050505030304"/>
                <a:sym typeface="+mn-ea"/>
              </a:rPr>
              <a:t>，即为空</a:t>
            </a:r>
            <a:endParaRPr lang="en-US" altLang="zh-CN" dirty="0">
              <a:latin typeface="Ubuntu Mono derivative Powerline" charset="0"/>
              <a:ea typeface="宋体" panose="02010600030101010101" pitchFamily="2" charset="-122"/>
              <a:cs typeface="Palatino Linotype" panose="02040502050505030304"/>
              <a:sym typeface="+mn-ea"/>
            </a:endParaRPr>
          </a:p>
          <a:p>
            <a:pPr lvl="1"/>
            <a:r>
              <a:rPr lang="zh-CN" altLang="en-US" dirty="0">
                <a:latin typeface="Ubuntu Mono derivative Powerline" charset="0"/>
                <a:ea typeface="宋体" panose="02010600030101010101" pitchFamily="2" charset="-122"/>
                <a:cs typeface="Palatino Linotype" panose="02040502050505030304"/>
                <a:sym typeface="+mn-ea"/>
              </a:rPr>
              <a:t>所有语法正确的英语句子的集合</a:t>
            </a:r>
            <a:endParaRPr lang="en-US" altLang="zh-CN" dirty="0">
              <a:latin typeface="Ubuntu Mono derivative Powerline" charset="0"/>
              <a:ea typeface="宋体" panose="02010600030101010101" pitchFamily="2" charset="-122"/>
              <a:cs typeface="Palatino Linotype" panose="02040502050505030304"/>
              <a:sym typeface="+mn-ea"/>
            </a:endParaRPr>
          </a:p>
          <a:p>
            <a:pPr lvl="1"/>
            <a:r>
              <a:rPr lang="zh-CN" altLang="en-US" dirty="0">
                <a:latin typeface="Ubuntu Mono derivative Powerline" charset="0"/>
                <a:ea typeface="宋体" panose="02010600030101010101" pitchFamily="2" charset="-122"/>
                <a:cs typeface="Palatino Linotype" panose="02040502050505030304"/>
                <a:sym typeface="+mn-ea"/>
              </a:rPr>
              <a:t>所有语法规范的 C 程序的集合</a:t>
            </a:r>
            <a:endParaRPr lang="en-US" altLang="zh-CN" dirty="0">
              <a:effectLst/>
              <a:latin typeface="Ubuntu Mono derivative Powerline" charset="0"/>
              <a:ea typeface="宋体" panose="02010600030101010101" pitchFamily="2" charset="-122"/>
              <a:cs typeface="Palatino Linotype" panose="02040502050505030304"/>
              <a:sym typeface="+mn-ea"/>
            </a:endParaRPr>
          </a:p>
          <a:p>
            <a:pPr lvl="0"/>
            <a:r>
              <a:rPr lang="zh-CN" altLang="en-US" dirty="0">
                <a:effectLst/>
              </a:rPr>
              <a:t>可数集（</a:t>
            </a:r>
            <a:r>
              <a:rPr lang="en-US" altLang="zh-CN" dirty="0">
                <a:effectLst/>
              </a:rPr>
              <a:t>Countable set</a:t>
            </a:r>
            <a:r>
              <a:rPr lang="zh-CN" altLang="en-US" dirty="0">
                <a:effectLst/>
              </a:rPr>
              <a:t>），是指每个元素都能与自然数集</a:t>
            </a:r>
            <a:r>
              <a:rPr lang="en-US" altLang="zh-CN" dirty="0">
                <a:effectLst/>
              </a:rPr>
              <a:t>N</a:t>
            </a:r>
            <a:r>
              <a:rPr lang="zh-CN" altLang="en-US" dirty="0">
                <a:effectLst/>
              </a:rPr>
              <a:t>的每个元素之间能建立一一对应的集合。如果将可数集的每个元素标上与它对应的那个自然数记号，那么可数集的元素就可以按自然数的顺序排成一个无穷序列</a:t>
            </a:r>
            <a:r>
              <a:rPr lang="en-US" altLang="zh-CN" dirty="0">
                <a:effectLst/>
              </a:rPr>
              <a:t>a1</a:t>
            </a:r>
            <a:r>
              <a:rPr lang="zh-CN" altLang="en-US" dirty="0">
                <a:effectLst/>
              </a:rPr>
              <a:t>，</a:t>
            </a:r>
            <a:r>
              <a:rPr lang="en-US" altLang="zh-CN" dirty="0">
                <a:effectLst/>
              </a:rPr>
              <a:t>a2</a:t>
            </a:r>
            <a:r>
              <a:rPr lang="zh-CN" altLang="en-US" dirty="0">
                <a:effectLst/>
              </a:rPr>
              <a:t>，</a:t>
            </a:r>
            <a:r>
              <a:rPr lang="en-US" altLang="zh-CN" dirty="0">
                <a:effectLst/>
              </a:rPr>
              <a:t>a3</a:t>
            </a:r>
            <a:r>
              <a:rPr lang="zh-CN" altLang="en-US" dirty="0">
                <a:effectLst/>
              </a:rPr>
              <a:t>，</a:t>
            </a:r>
            <a:r>
              <a:rPr lang="en-US" altLang="zh-CN" dirty="0">
                <a:effectLst/>
              </a:rPr>
              <a:t>…an</a:t>
            </a:r>
            <a:r>
              <a:rPr lang="zh-CN" altLang="en-US" dirty="0">
                <a:effectLst/>
              </a:rPr>
              <a:t>，</a:t>
            </a:r>
            <a:r>
              <a:rPr lang="en-US" altLang="zh-CN" dirty="0">
                <a:effectLst/>
              </a:rPr>
              <a:t>…</a:t>
            </a:r>
            <a:r>
              <a:rPr lang="zh-CN" altLang="en-US" dirty="0">
                <a:effectLst/>
              </a:rPr>
              <a:t>。比如全体正偶数的集合是一个可数集，全体正奇数的集合也是可数集，它们与自然数集可以建立如下的一一对应。</a:t>
            </a:r>
            <a:endParaRPr lang="en-US" altLang="zh-CN" dirty="0">
              <a:effectLs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在词法分析中，最重要的语言上运算是并、连接和闭包</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并是常见的集合运算。语言的连接就是以各种可能的方式从第一种语言中任取一个字符串，再从第二语言任取一个串，然后将它们连接后得到的所有字符串的集合。</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一个语言</a:t>
            </a:r>
            <a:r>
              <a:rPr lang="en-US" altLang="zh-CN" sz="1200" kern="1200" dirty="0">
                <a:solidFill>
                  <a:schemeClr val="tx1"/>
                </a:solidFill>
                <a:effectLst/>
                <a:latin typeface="+mn-lt"/>
                <a:ea typeface="+mn-ea"/>
                <a:cs typeface="+mn-cs"/>
              </a:rPr>
              <a:t> L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(Kleene ) </a:t>
            </a:r>
            <a:r>
              <a:rPr lang="zh-CN" altLang="zh-CN" sz="1200" kern="1200" dirty="0">
                <a:solidFill>
                  <a:schemeClr val="tx1"/>
                </a:solidFill>
                <a:effectLst/>
                <a:latin typeface="+mn-lt"/>
                <a:ea typeface="+mn-ea"/>
                <a:cs typeface="+mn-cs"/>
              </a:rPr>
              <a:t>闭包，表示为</a:t>
            </a:r>
            <a:r>
              <a:rPr lang="en-US" altLang="zh-CN" sz="1200" kern="1200" dirty="0">
                <a:solidFill>
                  <a:schemeClr val="tx1"/>
                </a:solidFill>
                <a:effectLst/>
                <a:latin typeface="+mn-lt"/>
                <a:ea typeface="+mn-ea"/>
                <a:cs typeface="+mn-cs"/>
              </a:rPr>
              <a:t> L* </a:t>
            </a:r>
            <a:r>
              <a:rPr lang="zh-CN" altLang="zh-CN" sz="1200" kern="1200" dirty="0">
                <a:solidFill>
                  <a:schemeClr val="tx1"/>
                </a:solidFill>
                <a:effectLst/>
                <a:latin typeface="+mn-lt"/>
                <a:ea typeface="+mn-ea"/>
                <a:cs typeface="+mn-cs"/>
              </a:rPr>
              <a:t>，就是将</a:t>
            </a:r>
            <a:r>
              <a:rPr lang="en-US" altLang="zh-CN" sz="1200" kern="1200" dirty="0">
                <a:solidFill>
                  <a:schemeClr val="tx1"/>
                </a:solidFill>
                <a:effectLst/>
                <a:latin typeface="+mn-lt"/>
                <a:ea typeface="+mn-ea"/>
                <a:cs typeface="+mn-cs"/>
              </a:rPr>
              <a:t> L</a:t>
            </a:r>
            <a:r>
              <a:rPr lang="zh-CN" altLang="zh-CN" sz="1200" kern="1200" dirty="0">
                <a:solidFill>
                  <a:schemeClr val="tx1"/>
                </a:solidFill>
                <a:effectLst/>
                <a:latin typeface="+mn-lt"/>
                <a:ea typeface="+mn-ea"/>
                <a:cs typeface="+mn-cs"/>
              </a:rPr>
              <a:t>连接</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次或多次得到的字符串集合。注意</a:t>
            </a:r>
            <a:r>
              <a:rPr lang="en-US" altLang="zh-CN" sz="1200" kern="1200" dirty="0">
                <a:solidFill>
                  <a:schemeClr val="tx1"/>
                </a:solidFill>
                <a:effectLst/>
                <a:latin typeface="+mn-lt"/>
                <a:ea typeface="+mn-ea"/>
                <a:cs typeface="+mn-cs"/>
              </a:rPr>
              <a:t> L0 </a:t>
            </a:r>
            <a:r>
              <a:rPr lang="zh-CN" altLang="zh-CN" sz="1200" kern="1200" dirty="0">
                <a:solidFill>
                  <a:schemeClr val="tx1"/>
                </a:solidFill>
                <a:effectLst/>
                <a:latin typeface="+mn-lt"/>
                <a:ea typeface="+mn-ea"/>
                <a:cs typeface="+mn-cs"/>
              </a:rPr>
              <a:t>，即</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将</a:t>
            </a:r>
            <a:r>
              <a:rPr lang="en-US" altLang="zh-CN" sz="1200" kern="1200" dirty="0">
                <a:solidFill>
                  <a:schemeClr val="tx1"/>
                </a:solidFill>
                <a:effectLst/>
                <a:latin typeface="+mn-lt"/>
                <a:ea typeface="+mn-ea"/>
                <a:cs typeface="+mn-cs"/>
              </a:rPr>
              <a:t>L </a:t>
            </a:r>
            <a:r>
              <a:rPr lang="zh-CN" altLang="zh-CN" sz="1200" kern="1200" dirty="0">
                <a:solidFill>
                  <a:schemeClr val="tx1"/>
                </a:solidFill>
                <a:effectLst/>
                <a:latin typeface="+mn-lt"/>
                <a:ea typeface="+mn-ea"/>
                <a:cs typeface="+mn-cs"/>
              </a:rPr>
              <a:t>连接零次得到集合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被定义为 </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，并且，</a:t>
            </a:r>
            <a:r>
              <a:rPr lang="en-US" altLang="zh-CN" sz="1200" kern="1200" dirty="0">
                <a:solidFill>
                  <a:schemeClr val="tx1"/>
                </a:solidFill>
                <a:effectLst/>
                <a:latin typeface="+mn-lt"/>
                <a:ea typeface="+mn-ea"/>
                <a:cs typeface="+mn-cs"/>
              </a:rPr>
              <a:t>Li</a:t>
            </a:r>
            <a:r>
              <a:rPr lang="zh-CN" altLang="zh-CN" sz="1200" kern="1200" dirty="0">
                <a:solidFill>
                  <a:schemeClr val="tx1"/>
                </a:solidFill>
                <a:effectLst/>
                <a:latin typeface="+mn-lt"/>
                <a:ea typeface="+mn-ea"/>
                <a:cs typeface="+mn-cs"/>
              </a:rPr>
              <a:t>被归纳地定义为</a:t>
            </a:r>
            <a:r>
              <a:rPr lang="en-US" altLang="zh-CN" sz="1200" kern="1200" dirty="0">
                <a:solidFill>
                  <a:schemeClr val="tx1"/>
                </a:solidFill>
                <a:effectLst/>
                <a:latin typeface="+mn-lt"/>
                <a:ea typeface="+mn-ea"/>
                <a:cs typeface="+mn-cs"/>
              </a:rPr>
              <a:t> Li 1 L</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最后，</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的正闭包，表示为</a:t>
            </a:r>
            <a:r>
              <a:rPr lang="en-US" altLang="zh-CN" sz="1200" kern="1200" dirty="0">
                <a:solidFill>
                  <a:schemeClr val="tx1"/>
                </a:solidFill>
                <a:effectLst/>
                <a:latin typeface="+mn-lt"/>
                <a:ea typeface="+mn-ea"/>
                <a:cs typeface="+mn-cs"/>
              </a:rPr>
              <a:t> L+ </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 Kleene </a:t>
            </a:r>
            <a:r>
              <a:rPr lang="zh-CN" altLang="zh-CN" sz="1200" kern="1200" dirty="0">
                <a:solidFill>
                  <a:schemeClr val="tx1"/>
                </a:solidFill>
                <a:effectLst/>
                <a:latin typeface="+mn-lt"/>
                <a:ea typeface="+mn-ea"/>
                <a:cs typeface="+mn-cs"/>
              </a:rPr>
              <a:t>闭包基本相同，但没有项</a:t>
            </a:r>
            <a:r>
              <a:rPr lang="en-US" altLang="zh-CN" sz="1200" kern="1200" dirty="0">
                <a:solidFill>
                  <a:schemeClr val="tx1"/>
                </a:solidFill>
                <a:effectLst/>
                <a:latin typeface="+mn-lt"/>
                <a:ea typeface="+mn-ea"/>
                <a:cs typeface="+mn-cs"/>
              </a:rPr>
              <a:t> L0 . </a:t>
            </a:r>
            <a:r>
              <a:rPr lang="zh-CN" altLang="zh-CN" sz="1200" kern="1200" dirty="0">
                <a:solidFill>
                  <a:schemeClr val="tx1"/>
                </a:solidFill>
                <a:effectLst/>
                <a:latin typeface="+mn-lt"/>
                <a:ea typeface="+mn-ea"/>
                <a:cs typeface="+mn-cs"/>
              </a:rPr>
              <a:t>也就是说，除非 属于 ​​</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，否则不属于</a:t>
            </a:r>
            <a:r>
              <a:rPr lang="en-US" altLang="zh-CN" sz="1200" kern="1200" dirty="0">
                <a:solidFill>
                  <a:schemeClr val="tx1"/>
                </a:solidFill>
                <a:effectLst/>
                <a:latin typeface="+mn-lt"/>
                <a:ea typeface="+mn-ea"/>
                <a:cs typeface="+mn-cs"/>
              </a:rPr>
              <a:t> L+ </a:t>
            </a:r>
            <a:r>
              <a:rPr lang="zh-CN" altLang="zh-CN" sz="1200" kern="1200" dirty="0">
                <a:solidFill>
                  <a:schemeClr val="tx1"/>
                </a:solidFill>
                <a:effectLst/>
                <a:latin typeface="+mn-lt"/>
                <a:ea typeface="+mn-ea"/>
                <a:cs typeface="+mn-cs"/>
              </a:rPr>
              <a:t>中。</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445933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3.3</a:t>
            </a:r>
            <a:r>
              <a:rPr lang="zh-CN" altLang="zh-CN" sz="1200" kern="1200" dirty="0">
                <a:solidFill>
                  <a:schemeClr val="tx1"/>
                </a:solidFill>
                <a:effectLst/>
                <a:latin typeface="+mn-lt"/>
                <a:ea typeface="+mn-ea"/>
                <a:cs typeface="+mn-cs"/>
              </a:rPr>
              <a:t>：令</a:t>
            </a:r>
            <a:r>
              <a:rPr lang="en-US" altLang="zh-CN" sz="1200" kern="1200" dirty="0">
                <a:solidFill>
                  <a:schemeClr val="tx1"/>
                </a:solidFill>
                <a:effectLst/>
                <a:latin typeface="+mn-lt"/>
                <a:ea typeface="+mn-ea"/>
                <a:cs typeface="+mn-cs"/>
              </a:rPr>
              <a:t> L </a:t>
            </a:r>
            <a:r>
              <a:rPr lang="zh-CN" altLang="zh-CN" sz="1200" kern="1200" dirty="0">
                <a:solidFill>
                  <a:schemeClr val="tx1"/>
                </a:solidFill>
                <a:effectLst/>
                <a:latin typeface="+mn-lt"/>
                <a:ea typeface="+mn-ea"/>
                <a:cs typeface="+mn-cs"/>
              </a:rPr>
              <a:t>为字母的集合</a:t>
            </a:r>
            <a:r>
              <a:rPr lang="en-US" altLang="zh-CN" sz="1200" kern="1200" dirty="0">
                <a:solidFill>
                  <a:schemeClr val="tx1"/>
                </a:solidFill>
                <a:effectLst/>
                <a:latin typeface="+mn-lt"/>
                <a:ea typeface="+mn-ea"/>
                <a:cs typeface="+mn-cs"/>
              </a:rPr>
              <a:t>{A, B;::: ;Z; A; b;:::;z} </a:t>
            </a:r>
            <a:r>
              <a:rPr lang="zh-CN" altLang="zh-CN" sz="1200" kern="1200" dirty="0">
                <a:solidFill>
                  <a:schemeClr val="tx1"/>
                </a:solidFill>
                <a:effectLst/>
                <a:latin typeface="+mn-lt"/>
                <a:ea typeface="+mn-ea"/>
                <a:cs typeface="+mn-cs"/>
              </a:rPr>
              <a:t>并令</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为数字集合</a:t>
            </a:r>
            <a:r>
              <a:rPr lang="en-US" altLang="zh-CN" sz="1200" kern="1200" dirty="0">
                <a:solidFill>
                  <a:schemeClr val="tx1"/>
                </a:solidFill>
                <a:effectLst/>
                <a:latin typeface="+mn-lt"/>
                <a:ea typeface="+mn-ea"/>
                <a:cs typeface="+mn-cs"/>
              </a:rPr>
              <a:t>{0, 1;:::9}</a:t>
            </a:r>
            <a:r>
              <a:rPr lang="zh-CN" altLang="zh-CN" sz="1200" kern="1200" dirty="0">
                <a:solidFill>
                  <a:schemeClr val="tx1"/>
                </a:solidFill>
                <a:effectLst/>
                <a:latin typeface="+mn-lt"/>
                <a:ea typeface="+mn-ea"/>
                <a:cs typeface="+mn-cs"/>
              </a:rPr>
              <a:t>。我们可以用两种本质上相同的方式来看待</a:t>
            </a:r>
            <a:r>
              <a:rPr lang="en-US" altLang="zh-CN" sz="1200" kern="1200" dirty="0">
                <a:solidFill>
                  <a:schemeClr val="tx1"/>
                </a:solidFill>
                <a:effectLst/>
                <a:latin typeface="+mn-lt"/>
                <a:ea typeface="+mn-ea"/>
                <a:cs typeface="+mn-cs"/>
              </a:rPr>
              <a:t> L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D</a:t>
            </a:r>
            <a:r>
              <a:rPr lang="zh-CN" altLang="zh-CN" sz="1200" kern="1200" dirty="0">
                <a:solidFill>
                  <a:schemeClr val="tx1"/>
                </a:solidFill>
                <a:effectLst/>
                <a:latin typeface="+mn-lt"/>
                <a:ea typeface="+mn-ea"/>
                <a:cs typeface="+mn-cs"/>
              </a:rPr>
              <a:t>。一种方式是</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分别是大写字母和小写字母以及数字组成的字母表。第二种方式是</a:t>
            </a:r>
            <a:r>
              <a:rPr lang="en-US" altLang="zh-CN" sz="1200" kern="1200" dirty="0">
                <a:solidFill>
                  <a:schemeClr val="tx1"/>
                </a:solidFill>
                <a:effectLst/>
                <a:latin typeface="+mn-lt"/>
                <a:ea typeface="+mn-ea"/>
                <a:cs typeface="+mn-cs"/>
              </a:rPr>
              <a:t> L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是语言，其所有字符串的长度都恰好为</a:t>
            </a:r>
            <a:r>
              <a:rPr lang="en-US" altLang="zh-CN" sz="1200" kern="1200" dirty="0">
                <a:solidFill>
                  <a:schemeClr val="tx1"/>
                </a:solidFill>
                <a:effectLst/>
                <a:latin typeface="+mn-lt"/>
                <a:ea typeface="+mn-ea"/>
                <a:cs typeface="+mn-cs"/>
              </a:rPr>
              <a:t> 1</a:t>
            </a:r>
            <a:r>
              <a:rPr lang="zh-CN" altLang="zh-CN" sz="1200" kern="1200" dirty="0">
                <a:solidFill>
                  <a:schemeClr val="tx1"/>
                </a:solidFill>
                <a:effectLst/>
                <a:latin typeface="+mn-lt"/>
                <a:ea typeface="+mn-ea"/>
                <a:cs typeface="+mn-cs"/>
              </a:rPr>
              <a:t>。以下是可以使用图</a:t>
            </a:r>
            <a:r>
              <a:rPr lang="en-US" altLang="zh-CN" sz="1200" kern="1200" dirty="0">
                <a:solidFill>
                  <a:schemeClr val="tx1"/>
                </a:solidFill>
                <a:effectLst/>
                <a:latin typeface="+mn-lt"/>
                <a:ea typeface="+mn-ea"/>
                <a:cs typeface="+mn-cs"/>
              </a:rPr>
              <a:t> 3.6 </a:t>
            </a:r>
            <a:r>
              <a:rPr lang="zh-CN" altLang="zh-CN" sz="1200" kern="1200" dirty="0">
                <a:solidFill>
                  <a:schemeClr val="tx1"/>
                </a:solidFill>
                <a:effectLst/>
                <a:latin typeface="+mn-lt"/>
                <a:ea typeface="+mn-ea"/>
                <a:cs typeface="+mn-cs"/>
              </a:rPr>
              <a:t>中的运算符从语言</a:t>
            </a:r>
            <a:r>
              <a:rPr lang="en-US" altLang="zh-CN" sz="1200" kern="1200" dirty="0">
                <a:solidFill>
                  <a:schemeClr val="tx1"/>
                </a:solidFill>
                <a:effectLst/>
                <a:latin typeface="+mn-lt"/>
                <a:ea typeface="+mn-ea"/>
                <a:cs typeface="+mn-cs"/>
              </a:rPr>
              <a:t> L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构造的一些新语言：</a:t>
            </a:r>
          </a:p>
          <a:p>
            <a:r>
              <a:rPr lang="en-US" altLang="zh-CN" sz="1200" kern="1200" dirty="0">
                <a:solidFill>
                  <a:schemeClr val="tx1"/>
                </a:solidFill>
                <a:effectLst/>
                <a:latin typeface="+mn-lt"/>
                <a:ea typeface="+mn-ea"/>
                <a:cs typeface="+mn-cs"/>
              </a:rPr>
              <a:t>1. L U D </a:t>
            </a:r>
            <a:r>
              <a:rPr lang="zh-CN" altLang="zh-CN" sz="1200" kern="1200" dirty="0">
                <a:solidFill>
                  <a:schemeClr val="tx1"/>
                </a:solidFill>
                <a:effectLst/>
                <a:latin typeface="+mn-lt"/>
                <a:ea typeface="+mn-ea"/>
                <a:cs typeface="+mn-cs"/>
              </a:rPr>
              <a:t>是字母和数字的集——严格地说，该语言有</a:t>
            </a:r>
            <a:r>
              <a:rPr lang="en-US" altLang="zh-CN" sz="1200" kern="1200" dirty="0">
                <a:solidFill>
                  <a:schemeClr val="tx1"/>
                </a:solidFill>
                <a:effectLst/>
                <a:latin typeface="+mn-lt"/>
                <a:ea typeface="+mn-ea"/>
                <a:cs typeface="+mn-cs"/>
              </a:rPr>
              <a:t> 62 </a:t>
            </a:r>
            <a:r>
              <a:rPr lang="zh-CN" altLang="zh-CN" sz="1200" kern="1200" dirty="0">
                <a:solidFill>
                  <a:schemeClr val="tx1"/>
                </a:solidFill>
                <a:effectLst/>
                <a:latin typeface="+mn-lt"/>
                <a:ea typeface="+mn-ea"/>
                <a:cs typeface="+mn-cs"/>
              </a:rPr>
              <a:t>个长度为</a:t>
            </a:r>
            <a:r>
              <a:rPr lang="en-US" altLang="zh-CN" sz="1200" kern="1200" dirty="0">
                <a:solidFill>
                  <a:schemeClr val="tx1"/>
                </a:solidFill>
                <a:effectLst/>
                <a:latin typeface="+mn-lt"/>
                <a:ea typeface="+mn-ea"/>
                <a:cs typeface="+mn-cs"/>
              </a:rPr>
              <a:t> 1 </a:t>
            </a:r>
            <a:r>
              <a:rPr lang="zh-CN" altLang="zh-CN" sz="1200" kern="1200" dirty="0">
                <a:solidFill>
                  <a:schemeClr val="tx1"/>
                </a:solidFill>
                <a:effectLst/>
                <a:latin typeface="+mn-lt"/>
                <a:ea typeface="+mn-ea"/>
                <a:cs typeface="+mn-cs"/>
              </a:rPr>
              <a:t>的字符串，每个字符串要么是一个字母，要么是一个数字。 </a:t>
            </a:r>
          </a:p>
          <a:p>
            <a:r>
              <a:rPr lang="en-US" altLang="zh-CN" sz="1200" kern="1200" dirty="0">
                <a:solidFill>
                  <a:schemeClr val="tx1"/>
                </a:solidFill>
                <a:effectLst/>
                <a:latin typeface="+mn-lt"/>
                <a:ea typeface="+mn-ea"/>
                <a:cs typeface="+mn-cs"/>
              </a:rPr>
              <a:t>2. LD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520 </a:t>
            </a:r>
            <a:r>
              <a:rPr lang="zh-CN" altLang="zh-CN" sz="1200" kern="1200" dirty="0">
                <a:solidFill>
                  <a:schemeClr val="tx1"/>
                </a:solidFill>
                <a:effectLst/>
                <a:latin typeface="+mn-lt"/>
                <a:ea typeface="+mn-ea"/>
                <a:cs typeface="+mn-cs"/>
              </a:rPr>
              <a:t>个长度为</a:t>
            </a:r>
            <a:r>
              <a:rPr lang="en-US" altLang="zh-CN" sz="1200" kern="1200" dirty="0">
                <a:solidFill>
                  <a:schemeClr val="tx1"/>
                </a:solidFill>
                <a:effectLst/>
                <a:latin typeface="+mn-lt"/>
                <a:ea typeface="+mn-ea"/>
                <a:cs typeface="+mn-cs"/>
              </a:rPr>
              <a:t> 2 </a:t>
            </a:r>
            <a:r>
              <a:rPr lang="zh-CN" altLang="zh-CN" sz="1200" kern="1200" dirty="0">
                <a:solidFill>
                  <a:schemeClr val="tx1"/>
                </a:solidFill>
                <a:effectLst/>
                <a:latin typeface="+mn-lt"/>
                <a:ea typeface="+mn-ea"/>
                <a:cs typeface="+mn-cs"/>
              </a:rPr>
              <a:t>的字符串的集合，每个字符串由一个字母后跟一个数字组成。 </a:t>
            </a:r>
          </a:p>
          <a:p>
            <a:r>
              <a:rPr lang="en-US" altLang="zh-CN" sz="1200" kern="1200" dirty="0">
                <a:solidFill>
                  <a:schemeClr val="tx1"/>
                </a:solidFill>
                <a:effectLst/>
                <a:latin typeface="+mn-lt"/>
                <a:ea typeface="+mn-ea"/>
                <a:cs typeface="+mn-cs"/>
              </a:rPr>
              <a:t>3. L4 </a:t>
            </a:r>
            <a:r>
              <a:rPr lang="zh-CN" altLang="zh-CN" sz="1200" kern="1200" dirty="0">
                <a:solidFill>
                  <a:schemeClr val="tx1"/>
                </a:solidFill>
                <a:effectLst/>
                <a:latin typeface="+mn-lt"/>
                <a:ea typeface="+mn-ea"/>
                <a:cs typeface="+mn-cs"/>
              </a:rPr>
              <a:t>是所有</a:t>
            </a:r>
            <a:r>
              <a:rPr lang="en-US" altLang="zh-CN" sz="1200" kern="1200" dirty="0">
                <a:solidFill>
                  <a:schemeClr val="tx1"/>
                </a:solidFill>
                <a:effectLst/>
                <a:latin typeface="+mn-lt"/>
                <a:ea typeface="+mn-ea"/>
                <a:cs typeface="+mn-cs"/>
              </a:rPr>
              <a:t> 4 </a:t>
            </a:r>
            <a:r>
              <a:rPr lang="zh-CN" altLang="zh-CN" sz="1200" kern="1200" dirty="0">
                <a:solidFill>
                  <a:schemeClr val="tx1"/>
                </a:solidFill>
                <a:effectLst/>
                <a:latin typeface="+mn-lt"/>
                <a:ea typeface="+mn-ea"/>
                <a:cs typeface="+mn-cs"/>
              </a:rPr>
              <a:t>个字母字符串的集合。 </a:t>
            </a:r>
          </a:p>
          <a:p>
            <a:r>
              <a:rPr lang="en-US" altLang="zh-CN" sz="1200" kern="1200" dirty="0">
                <a:solidFill>
                  <a:schemeClr val="tx1"/>
                </a:solidFill>
                <a:effectLst/>
                <a:latin typeface="+mn-lt"/>
                <a:ea typeface="+mn-ea"/>
                <a:cs typeface="+mn-cs"/>
              </a:rPr>
              <a:t>4. L* </a:t>
            </a:r>
            <a:r>
              <a:rPr lang="zh-CN" altLang="zh-CN" sz="1200" kern="1200" dirty="0">
                <a:solidFill>
                  <a:schemeClr val="tx1"/>
                </a:solidFill>
                <a:effectLst/>
                <a:latin typeface="+mn-lt"/>
                <a:ea typeface="+mn-ea"/>
                <a:cs typeface="+mn-cs"/>
              </a:rPr>
              <a:t>是所有由字母组成的串的集合，包括空串。 </a:t>
            </a:r>
          </a:p>
          <a:p>
            <a:r>
              <a:rPr lang="en-US" altLang="zh-CN" sz="1200" kern="1200" dirty="0">
                <a:solidFill>
                  <a:schemeClr val="tx1"/>
                </a:solidFill>
                <a:effectLst/>
                <a:latin typeface="+mn-lt"/>
                <a:ea typeface="+mn-ea"/>
                <a:cs typeface="+mn-cs"/>
              </a:rPr>
              <a:t>5. L(L U D ) </a:t>
            </a:r>
            <a:r>
              <a:rPr lang="zh-CN" altLang="zh-CN" sz="1200" kern="1200" dirty="0">
                <a:solidFill>
                  <a:schemeClr val="tx1"/>
                </a:solidFill>
                <a:effectLst/>
                <a:latin typeface="+mn-lt"/>
                <a:ea typeface="+mn-ea"/>
                <a:cs typeface="+mn-cs"/>
              </a:rPr>
              <a:t>是所有以字母开头的字母和数字字符串的集合。</a:t>
            </a:r>
          </a:p>
          <a:p>
            <a:r>
              <a:rPr lang="en-US" altLang="zh-CN" sz="1200" kern="1200" dirty="0">
                <a:solidFill>
                  <a:schemeClr val="tx1"/>
                </a:solidFill>
                <a:effectLst/>
                <a:latin typeface="+mn-lt"/>
                <a:ea typeface="+mn-ea"/>
                <a:cs typeface="+mn-cs"/>
              </a:rPr>
              <a:t>6. D + </a:t>
            </a:r>
            <a:r>
              <a:rPr lang="zh-CN" altLang="zh-CN" sz="1200" kern="1200" dirty="0">
                <a:solidFill>
                  <a:schemeClr val="tx1"/>
                </a:solidFill>
                <a:effectLst/>
                <a:latin typeface="+mn-lt"/>
                <a:ea typeface="+mn-ea"/>
                <a:cs typeface="+mn-cs"/>
              </a:rPr>
              <a:t>是由一个或多个数位构成的字符串的集合。</a:t>
            </a:r>
          </a:p>
          <a:p>
            <a:pPr marL="457200" lvl="1" indent="0" algn="l" rtl="0" eaLnBrk="0" fontAlgn="auto">
              <a:lnSpc>
                <a:spcPct val="150000"/>
              </a:lnSpc>
              <a:spcBef>
                <a:spcPts val="0"/>
              </a:spcBef>
              <a:buNone/>
            </a:pPr>
            <a:endParaRPr lang="en-US" altLang="zh-CN" sz="1800" dirty="0">
              <a:solidFill>
                <a:schemeClr val="tx1"/>
              </a:solidFill>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lang="en-US" altLang="zh-CN" sz="1800" dirty="0">
                <a:solidFill>
                  <a:srgbClr val="0331FF"/>
                </a:solidFill>
                <a:latin typeface="Palatino Linotype" panose="02040502050505030304" charset="0"/>
                <a:ea typeface="Palatino Linotype" panose="02040502050505030304"/>
                <a:cs typeface="Palatino Linotype" panose="02040502050505030304"/>
                <a:sym typeface="+mn-ea"/>
              </a:rPr>
              <a:t>L(L ∪ D)</a:t>
            </a:r>
            <a:r>
              <a:rPr lang="en-US" altLang="zh-CN" sz="1800" baseline="30000" dirty="0">
                <a:solidFill>
                  <a:srgbClr val="0331FF"/>
                </a:solidFill>
                <a:latin typeface="Palatino Linotype" panose="02040502050505030304" charset="0"/>
                <a:ea typeface="Palatino Linotype" panose="02040502050505030304"/>
                <a:cs typeface="Palatino Linotype" panose="02040502050505030304"/>
                <a:sym typeface="+mn-ea"/>
              </a:rPr>
              <a:t>*</a:t>
            </a:r>
            <a:r>
              <a:rPr lang="en-US" altLang="zh-CN" sz="1800" dirty="0">
                <a:solidFill>
                  <a:schemeClr val="tx1"/>
                </a:solidFill>
                <a:latin typeface="Palatino Linotype" panose="02040502050505030304" charset="0"/>
                <a:ea typeface="Palatino Linotype" panose="02040502050505030304"/>
                <a:cs typeface="Palatino Linotype" panose="02040502050505030304"/>
                <a:sym typeface="+mn-ea"/>
              </a:rPr>
              <a:t>: </a:t>
            </a:r>
            <a:r>
              <a:rPr lang="zh-CN" altLang="en-US" sz="1800" dirty="0">
                <a:solidFill>
                  <a:schemeClr val="tx1"/>
                </a:solidFill>
                <a:latin typeface="Palatino Linotype" panose="02040502050505030304" charset="0"/>
                <a:ea typeface="Palatino Linotype" panose="02040502050505030304"/>
                <a:cs typeface="Palatino Linotype" panose="02040502050505030304"/>
                <a:sym typeface="+mn-ea"/>
              </a:rPr>
              <a:t>字母数字组合包括空（字母在前）</a:t>
            </a:r>
            <a:endParaRPr lang="en-US" altLang="zh-CN" sz="1800" dirty="0">
              <a:solidFill>
                <a:schemeClr val="tx1"/>
              </a:solidFill>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lang="en-US" altLang="zh-CN" sz="1800" dirty="0">
                <a:solidFill>
                  <a:schemeClr val="tx1"/>
                </a:solidFill>
                <a:latin typeface="Palatino Linotype" panose="02040502050505030304" charset="0"/>
                <a:ea typeface="Palatino Linotype" panose="02040502050505030304"/>
                <a:cs typeface="Palatino Linotype" panose="02040502050505030304"/>
                <a:sym typeface="+mn-ea"/>
              </a:rPr>
              <a:t>D+</a:t>
            </a:r>
            <a:r>
              <a:rPr lang="zh-CN" altLang="en-US" sz="1800" dirty="0">
                <a:solidFill>
                  <a:schemeClr val="tx1"/>
                </a:solidFill>
                <a:latin typeface="Palatino Linotype" panose="02040502050505030304" charset="0"/>
                <a:ea typeface="Palatino Linotype" panose="02040502050505030304"/>
                <a:cs typeface="Palatino Linotype" panose="02040502050505030304"/>
                <a:sym typeface="+mn-ea"/>
              </a:rPr>
              <a:t>：数字组合，不含空</a:t>
            </a:r>
            <a:endParaRPr lang="en-US" altLang="zh-CN" sz="1800" dirty="0">
              <a:solidFill>
                <a:schemeClr val="tx1"/>
              </a:solidFill>
              <a:latin typeface="Palatino Linotype" panose="02040502050505030304" charset="0"/>
              <a:ea typeface="Palatino Linotype" panose="02040502050505030304"/>
              <a:cs typeface="Palatino Linotype" panose="02040502050505030304"/>
              <a:sym typeface="+mn-ea"/>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10698682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在例</a:t>
            </a:r>
            <a:r>
              <a:rPr lang="en-US" altLang="zh-CN" sz="1200" kern="1200" dirty="0">
                <a:solidFill>
                  <a:schemeClr val="tx1"/>
                </a:solidFill>
                <a:effectLst/>
                <a:latin typeface="+mn-lt"/>
                <a:ea typeface="+mn-ea"/>
                <a:cs typeface="+mn-cs"/>
              </a:rPr>
              <a:t> 3.3 </a:t>
            </a:r>
            <a:r>
              <a:rPr lang="zh-CN" altLang="zh-CN" sz="1200" kern="1200" dirty="0">
                <a:solidFill>
                  <a:schemeClr val="tx1"/>
                </a:solidFill>
                <a:effectLst/>
                <a:latin typeface="+mn-lt"/>
                <a:ea typeface="+mn-ea"/>
                <a:cs typeface="+mn-cs"/>
              </a:rPr>
              <a:t>中，我们可以首先给字母和数位集合命名，并使用语言运算符并、连接和闭包这些运算符来描述标识符。这个处理方法非常有用，以至于，人们常常使用一种称为正则表达式的表示方法来描述语言。正则表达式可以描述所有通过对某个字母表上的符号应用这些运算符而得到的语言。在这种表示法中，如果使用</a:t>
            </a:r>
            <a:r>
              <a:rPr lang="en-US" altLang="zh-CN" sz="1200" kern="1200" dirty="0">
                <a:solidFill>
                  <a:schemeClr val="tx1"/>
                </a:solidFill>
                <a:effectLst/>
                <a:latin typeface="+mn-lt"/>
                <a:ea typeface="+mn-ea"/>
                <a:cs typeface="+mn-cs"/>
              </a:rPr>
              <a:t>letter_</a:t>
            </a:r>
            <a:r>
              <a:rPr lang="zh-CN" altLang="zh-CN" sz="1200" kern="1200" dirty="0">
                <a:solidFill>
                  <a:schemeClr val="tx1"/>
                </a:solidFill>
                <a:effectLst/>
                <a:latin typeface="+mn-lt"/>
                <a:ea typeface="+mn-ea"/>
                <a:cs typeface="+mn-cs"/>
              </a:rPr>
              <a:t>代表任一字母或下划线，并且</a:t>
            </a:r>
            <a:r>
              <a:rPr lang="en-US" altLang="zh-CN" sz="1200" kern="1200" dirty="0">
                <a:solidFill>
                  <a:schemeClr val="tx1"/>
                </a:solidFill>
                <a:effectLst/>
                <a:latin typeface="+mn-lt"/>
                <a:ea typeface="+mn-ea"/>
                <a:cs typeface="+mn-cs"/>
              </a:rPr>
              <a:t>digit_</a:t>
            </a:r>
            <a:r>
              <a:rPr lang="zh-CN" altLang="zh-CN" sz="1200" kern="1200" dirty="0">
                <a:solidFill>
                  <a:schemeClr val="tx1"/>
                </a:solidFill>
                <a:effectLst/>
                <a:latin typeface="+mn-lt"/>
                <a:ea typeface="+mn-ea"/>
                <a:cs typeface="+mn-cs"/>
              </a:rPr>
              <a:t>来表示数位，那么我们可以通过以下方式描述</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标识符的语言： </a:t>
            </a:r>
          </a:p>
          <a:p>
            <a:r>
              <a:rPr lang="en-US" altLang="zh-CN" sz="1200" kern="1200" dirty="0">
                <a:solidFill>
                  <a:schemeClr val="tx1"/>
                </a:solidFill>
                <a:effectLst/>
                <a:latin typeface="+mn-lt"/>
                <a:ea typeface="+mn-ea"/>
                <a:cs typeface="+mn-cs"/>
              </a:rPr>
              <a:t>Letter_</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letter_ |digit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上面的竖线表示并运算，括号用于对子表达式进行分组，星号表示“零个或多个”括号中表达式的连接，将</a:t>
            </a:r>
            <a:r>
              <a:rPr lang="en-US" altLang="zh-CN" sz="1200" kern="1200" dirty="0">
                <a:solidFill>
                  <a:schemeClr val="tx1"/>
                </a:solidFill>
                <a:effectLst/>
                <a:latin typeface="+mn-lt"/>
                <a:ea typeface="+mn-ea"/>
                <a:cs typeface="+mn-cs"/>
              </a:rPr>
              <a:t>letter_</a:t>
            </a:r>
            <a:r>
              <a:rPr lang="zh-CN" altLang="zh-CN" sz="1200" kern="1200" dirty="0">
                <a:solidFill>
                  <a:schemeClr val="tx1"/>
                </a:solidFill>
                <a:effectLst/>
                <a:latin typeface="+mn-lt"/>
                <a:ea typeface="+mn-ea"/>
                <a:cs typeface="+mn-cs"/>
              </a:rPr>
              <a:t>和表达式其余部分并列表示连接。</a:t>
            </a:r>
          </a:p>
          <a:p>
            <a:r>
              <a:rPr lang="zh-CN" altLang="zh-CN" sz="1200" kern="1200" dirty="0">
                <a:solidFill>
                  <a:schemeClr val="tx1"/>
                </a:solidFill>
                <a:effectLst/>
                <a:latin typeface="+mn-lt"/>
                <a:ea typeface="+mn-ea"/>
                <a:cs typeface="+mn-cs"/>
              </a:rPr>
              <a:t>正则表达式是使用下面描述的规则，从较小的正则表达式递归构建的。每个正则表达式</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表示一种语言</a:t>
            </a:r>
            <a:r>
              <a:rPr lang="en-US" altLang="zh-CN" sz="1200" kern="1200" dirty="0">
                <a:solidFill>
                  <a:schemeClr val="tx1"/>
                </a:solidFill>
                <a:effectLst/>
                <a:latin typeface="+mn-lt"/>
                <a:ea typeface="+mn-ea"/>
                <a:cs typeface="+mn-cs"/>
              </a:rPr>
              <a:t> L(r)</a:t>
            </a:r>
            <a:r>
              <a:rPr lang="zh-CN" altLang="zh-CN" sz="1200" kern="1200" dirty="0">
                <a:solidFill>
                  <a:schemeClr val="tx1"/>
                </a:solidFill>
                <a:effectLst/>
                <a:latin typeface="+mn-lt"/>
                <a:ea typeface="+mn-ea"/>
                <a:cs typeface="+mn-cs"/>
              </a:rPr>
              <a:t>，它也是根据</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的子表达式所表示的语言递归定义的。以下是定义某些字母表上的正则表达式以及这些表达式表示的语言的规则。</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归纳基础：如下两条规则构成归纳基础：</a:t>
            </a: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是正则表达式，</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，即该语言只包含空字串。</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是</a:t>
            </a:r>
            <a:r>
              <a:rPr lang="zh-CN" altLang="en-US" dirty="0"/>
              <a:t>Σ</a:t>
            </a:r>
            <a:r>
              <a:rPr lang="zh-CN" altLang="zh-CN" sz="1200" kern="1200" dirty="0">
                <a:solidFill>
                  <a:schemeClr val="tx1"/>
                </a:solidFill>
                <a:effectLst/>
                <a:latin typeface="+mn-lt"/>
                <a:ea typeface="+mn-ea"/>
                <a:cs typeface="+mn-cs"/>
              </a:rPr>
              <a:t>中的一个符号，则</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是一个正则表达式，且</a:t>
            </a:r>
            <a:r>
              <a:rPr lang="en-US" altLang="zh-CN" sz="1200" kern="1200" dirty="0">
                <a:solidFill>
                  <a:schemeClr val="tx1"/>
                </a:solidFill>
                <a:effectLst/>
                <a:latin typeface="+mn-lt"/>
                <a:ea typeface="+mn-ea"/>
                <a:cs typeface="+mn-cs"/>
              </a:rPr>
              <a:t> L(a)={a}</a:t>
            </a:r>
            <a:r>
              <a:rPr lang="zh-CN" altLang="zh-CN" sz="1200" kern="1200" dirty="0">
                <a:solidFill>
                  <a:schemeClr val="tx1"/>
                </a:solidFill>
                <a:effectLst/>
                <a:latin typeface="+mn-lt"/>
                <a:ea typeface="+mn-ea"/>
                <a:cs typeface="+mn-cs"/>
              </a:rPr>
              <a:t>，即这个语言仅包含一个长度为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的字符串。请注意，按照惯例，我们使用斜体表示符号，使用粗体表示相应的正则表达式。</a:t>
            </a:r>
          </a:p>
          <a:p>
            <a:r>
              <a:rPr lang="zh-CN" altLang="zh-CN" sz="1200" kern="1200" dirty="0">
                <a:solidFill>
                  <a:schemeClr val="tx1"/>
                </a:solidFill>
                <a:effectLst/>
                <a:latin typeface="+mn-lt"/>
                <a:ea typeface="+mn-ea"/>
                <a:cs typeface="+mn-cs"/>
              </a:rPr>
              <a:t>归纳步骤：，由较小的正则表达式构建较大的正则表达式的归纳步骤分四个部分。假设</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是分别正则表达式，表示语言</a:t>
            </a:r>
            <a:r>
              <a:rPr lang="en-US" altLang="zh-CN" sz="1200" kern="1200" dirty="0">
                <a:solidFill>
                  <a:schemeClr val="tx1"/>
                </a:solidFill>
                <a:effectLst/>
                <a:latin typeface="+mn-lt"/>
                <a:ea typeface="+mn-ea"/>
                <a:cs typeface="+mn-cs"/>
              </a:rPr>
              <a:t>L(r)</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L(s)</a:t>
            </a:r>
            <a:r>
              <a:rPr lang="zh-CN" altLang="zh-CN" sz="1200" kern="1200" dirty="0">
                <a:solidFill>
                  <a:schemeClr val="tx1"/>
                </a:solidFill>
                <a:effectLst/>
                <a:latin typeface="+mn-lt"/>
                <a:ea typeface="+mn-ea"/>
                <a:cs typeface="+mn-cs"/>
              </a:rPr>
              <a:t>的。 </a:t>
            </a:r>
          </a:p>
          <a:p>
            <a:r>
              <a:rPr lang="en-US" altLang="zh-CN" sz="1200" kern="1200" dirty="0">
                <a:solidFill>
                  <a:schemeClr val="tx1"/>
                </a:solidFill>
                <a:effectLst/>
                <a:latin typeface="+mn-lt"/>
                <a:ea typeface="+mn-ea"/>
                <a:cs typeface="+mn-cs"/>
              </a:rPr>
              <a:t>1. (r )|(s) </a:t>
            </a:r>
            <a:r>
              <a:rPr lang="zh-CN" altLang="zh-CN" sz="1200" kern="1200" dirty="0">
                <a:solidFill>
                  <a:schemeClr val="tx1"/>
                </a:solidFill>
                <a:effectLst/>
                <a:latin typeface="+mn-lt"/>
                <a:ea typeface="+mn-ea"/>
                <a:cs typeface="+mn-cs"/>
              </a:rPr>
              <a:t>是正则表达式，表示语言</a:t>
            </a:r>
            <a:r>
              <a:rPr lang="en-US" altLang="zh-CN" sz="1200" kern="1200" dirty="0">
                <a:solidFill>
                  <a:schemeClr val="tx1"/>
                </a:solidFill>
                <a:effectLst/>
                <a:latin typeface="+mn-lt"/>
                <a:ea typeface="+mn-ea"/>
                <a:cs typeface="+mn-cs"/>
              </a:rPr>
              <a:t> L(r ) U L(s) </a:t>
            </a:r>
            <a:r>
              <a:rPr lang="zh-CN" altLang="zh-CN" sz="1200" kern="1200" dirty="0">
                <a:solidFill>
                  <a:schemeClr val="tx1"/>
                </a:solidFill>
                <a:effectLst/>
                <a:latin typeface="+mn-lt"/>
                <a:ea typeface="+mn-ea"/>
                <a:cs typeface="+mn-cs"/>
              </a:rPr>
              <a:t>的。 </a:t>
            </a:r>
          </a:p>
          <a:p>
            <a:r>
              <a:rPr lang="en-US" altLang="zh-CN" sz="1200" kern="1200" dirty="0">
                <a:solidFill>
                  <a:schemeClr val="tx1"/>
                </a:solidFill>
                <a:effectLst/>
                <a:latin typeface="+mn-lt"/>
                <a:ea typeface="+mn-ea"/>
                <a:cs typeface="+mn-cs"/>
              </a:rPr>
              <a:t>2. (r )(s) </a:t>
            </a:r>
            <a:r>
              <a:rPr lang="zh-CN" altLang="zh-CN" sz="1200" kern="1200" dirty="0">
                <a:solidFill>
                  <a:schemeClr val="tx1"/>
                </a:solidFill>
                <a:effectLst/>
                <a:latin typeface="+mn-lt"/>
                <a:ea typeface="+mn-ea"/>
                <a:cs typeface="+mn-cs"/>
              </a:rPr>
              <a:t>是正则表达式，表示语言</a:t>
            </a:r>
            <a:r>
              <a:rPr lang="en-US" altLang="zh-CN" sz="1200" kern="1200" dirty="0">
                <a:solidFill>
                  <a:schemeClr val="tx1"/>
                </a:solidFill>
                <a:effectLst/>
                <a:latin typeface="+mn-lt"/>
                <a:ea typeface="+mn-ea"/>
                <a:cs typeface="+mn-cs"/>
              </a:rPr>
              <a:t> L(r )L(s) </a:t>
            </a:r>
            <a:r>
              <a:rPr lang="zh-CN" altLang="zh-CN" sz="1200" kern="1200" dirty="0">
                <a:solidFill>
                  <a:schemeClr val="tx1"/>
                </a:solidFill>
                <a:effectLst/>
                <a:latin typeface="+mn-lt"/>
                <a:ea typeface="+mn-ea"/>
                <a:cs typeface="+mn-cs"/>
              </a:rPr>
              <a:t>的。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3. (r )</a:t>
            </a:r>
            <a:r>
              <a:rPr lang="zh-CN" altLang="en-US" dirty="0"/>
              <a:t> * </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是正则表达式，表示</a:t>
            </a:r>
            <a:r>
              <a:rPr lang="en-US" altLang="zh-CN" sz="1200" kern="1200" dirty="0">
                <a:solidFill>
                  <a:schemeClr val="tx1"/>
                </a:solidFill>
                <a:effectLst/>
                <a:latin typeface="+mn-lt"/>
                <a:ea typeface="+mn-ea"/>
                <a:cs typeface="+mn-cs"/>
              </a:rPr>
              <a:t> </a:t>
            </a:r>
            <a:r>
              <a:rPr lang="zh-CN" altLang="en-US" dirty="0"/>
              <a:t>(L(r))*</a:t>
            </a:r>
            <a:r>
              <a:rPr lang="zh-CN" altLang="zh-CN" sz="1200" kern="1200" dirty="0">
                <a:solidFill>
                  <a:schemeClr val="tx1"/>
                </a:solidFill>
                <a:effectLst/>
                <a:latin typeface="+mn-lt"/>
                <a:ea typeface="+mn-ea"/>
                <a:cs typeface="+mn-cs"/>
              </a:rPr>
              <a:t>的。 </a:t>
            </a:r>
          </a:p>
          <a:p>
            <a:r>
              <a:rPr lang="en-US" altLang="zh-CN" sz="1200" kern="1200" dirty="0">
                <a:solidFill>
                  <a:schemeClr val="tx1"/>
                </a:solidFill>
                <a:effectLst/>
                <a:latin typeface="+mn-lt"/>
                <a:ea typeface="+mn-ea"/>
                <a:cs typeface="+mn-cs"/>
              </a:rPr>
              <a:t>4. (r ) </a:t>
            </a:r>
            <a:r>
              <a:rPr lang="zh-CN" altLang="zh-CN" sz="1200" kern="1200" dirty="0">
                <a:solidFill>
                  <a:schemeClr val="tx1"/>
                </a:solidFill>
                <a:effectLst/>
                <a:latin typeface="+mn-lt"/>
                <a:ea typeface="+mn-ea"/>
                <a:cs typeface="+mn-cs"/>
              </a:rPr>
              <a:t>是表示</a:t>
            </a:r>
            <a:r>
              <a:rPr lang="en-US" altLang="zh-CN" sz="1200" kern="1200" dirty="0">
                <a:solidFill>
                  <a:schemeClr val="tx1"/>
                </a:solidFill>
                <a:effectLst/>
                <a:latin typeface="+mn-lt"/>
                <a:ea typeface="+mn-ea"/>
                <a:cs typeface="+mn-cs"/>
              </a:rPr>
              <a:t>L(r ) </a:t>
            </a:r>
            <a:r>
              <a:rPr lang="zh-CN" altLang="zh-CN" sz="1200" kern="1200" dirty="0">
                <a:solidFill>
                  <a:schemeClr val="tx1"/>
                </a:solidFill>
                <a:effectLst/>
                <a:latin typeface="+mn-lt"/>
                <a:ea typeface="+mn-ea"/>
                <a:cs typeface="+mn-cs"/>
              </a:rPr>
              <a:t>的正则表达式。最后一条规则表明我们可以在表达式两边添加额外的括号对并不影响表达式所表示的语言。</a:t>
            </a:r>
            <a:endParaRPr lang="en-US" altLang="zh-CN" dirty="0"/>
          </a:p>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正如所定义的，正则表达式通常包含一些不必要的括号对。如果我们采用以下约定，则可以删除某些括号对： </a:t>
            </a:r>
          </a:p>
          <a:p>
            <a:r>
              <a:rPr lang="en-US" altLang="zh-CN" dirty="0"/>
              <a:t>a) </a:t>
            </a:r>
            <a:r>
              <a:rPr lang="zh-CN" altLang="en-US" dirty="0"/>
              <a:t>一元运算符*具有最高优先级并且是左结合的。 </a:t>
            </a:r>
          </a:p>
          <a:p>
            <a:r>
              <a:rPr lang="en-US" altLang="zh-CN" dirty="0"/>
              <a:t>b) </a:t>
            </a:r>
            <a:r>
              <a:rPr lang="zh-CN" altLang="en-US" dirty="0"/>
              <a:t>连接具有第二高优先级并且是左结合的</a:t>
            </a:r>
          </a:p>
          <a:p>
            <a:r>
              <a:rPr lang="en-US" altLang="zh-CN" dirty="0"/>
              <a:t>c) |</a:t>
            </a:r>
            <a:r>
              <a:rPr lang="zh-CN" altLang="en-US" dirty="0"/>
              <a:t>具有最低优先级并且是左结合的。</a:t>
            </a:r>
          </a:p>
          <a:p>
            <a:r>
              <a:rPr lang="zh-CN" altLang="en-US" dirty="0"/>
              <a:t>例如，根据这些约定，我们可以将正则表达式 </a:t>
            </a:r>
            <a:r>
              <a:rPr lang="en-US" altLang="zh-CN" dirty="0"/>
              <a:t>(a )|((b )</a:t>
            </a:r>
            <a:r>
              <a:rPr lang="zh-CN" altLang="en-US" dirty="0"/>
              <a:t>*</a:t>
            </a:r>
            <a:r>
              <a:rPr lang="en-US" altLang="zh-CN" dirty="0"/>
              <a:t> (c )) </a:t>
            </a:r>
            <a:r>
              <a:rPr lang="zh-CN" altLang="en-US" dirty="0"/>
              <a:t>替换为 </a:t>
            </a:r>
            <a:r>
              <a:rPr lang="en-US" altLang="zh-CN" dirty="0"/>
              <a:t>a |b</a:t>
            </a:r>
            <a:r>
              <a:rPr lang="zh-CN" altLang="en-US" dirty="0"/>
              <a:t>*</a:t>
            </a:r>
            <a:r>
              <a:rPr lang="en-US" altLang="zh-CN" dirty="0"/>
              <a:t>c</a:t>
            </a:r>
            <a:r>
              <a:rPr lang="zh-CN" altLang="en-US" dirty="0"/>
              <a:t>。两个表达式都表示同一组字符串，这些字符串要么是单个 </a:t>
            </a:r>
            <a:r>
              <a:rPr lang="en-US" altLang="zh-CN" dirty="0"/>
              <a:t>a</a:t>
            </a:r>
            <a:r>
              <a:rPr lang="zh-CN" altLang="en-US" dirty="0"/>
              <a:t>，要么是零个或多个 </a:t>
            </a:r>
            <a:r>
              <a:rPr lang="en-US" altLang="zh-CN" dirty="0"/>
              <a:t>b </a:t>
            </a:r>
            <a:r>
              <a:rPr lang="zh-CN" altLang="en-US" dirty="0"/>
              <a:t>后跟一个 </a:t>
            </a:r>
            <a:r>
              <a:rPr lang="en-US" altLang="zh-CN" dirty="0"/>
              <a:t>c</a:t>
            </a:r>
            <a:r>
              <a:rPr lang="zh-CN" altLang="en-US" dirty="0"/>
              <a:t>。</a:t>
            </a:r>
          </a:p>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举例说明：假设 Σ = {a, b}</a:t>
            </a:r>
          </a:p>
          <a:p>
            <a:pPr marL="171450" indent="-171450">
              <a:buFont typeface="Arial" panose="020B0604020202020204" pitchFamily="34" charset="0"/>
              <a:buChar char="•"/>
            </a:pPr>
            <a:r>
              <a:rPr lang="zh-CN" altLang="en-US" dirty="0"/>
              <a:t>a|b 表示语言 {a, b}</a:t>
            </a:r>
          </a:p>
          <a:p>
            <a:pPr marL="171450" indent="-171450">
              <a:buFont typeface="Arial" panose="020B0604020202020204" pitchFamily="34" charset="0"/>
              <a:buChar char="•"/>
            </a:pPr>
            <a:r>
              <a:rPr lang="zh-CN" altLang="en-US" dirty="0"/>
              <a:t>(a|b)(a|b) 表示语言 {aa, ab, ba, bb}，</a:t>
            </a:r>
            <a:r>
              <a:rPr lang="zh-CN" altLang="zh-CN" sz="1200" kern="1200" dirty="0">
                <a:solidFill>
                  <a:schemeClr val="tx1"/>
                </a:solidFill>
                <a:effectLst/>
                <a:latin typeface="+mn-lt"/>
                <a:ea typeface="+mn-ea"/>
                <a:cs typeface="+mn-cs"/>
              </a:rPr>
              <a:t>字母表上长度为</a:t>
            </a:r>
            <a:r>
              <a:rPr lang="en-US" altLang="zh-CN" sz="1200" kern="1200" dirty="0">
                <a:solidFill>
                  <a:schemeClr val="tx1"/>
                </a:solidFill>
                <a:effectLst/>
                <a:latin typeface="+mn-lt"/>
                <a:ea typeface="+mn-ea"/>
                <a:cs typeface="+mn-cs"/>
              </a:rPr>
              <a:t> 2 </a:t>
            </a:r>
            <a:r>
              <a:rPr lang="zh-CN" altLang="zh-CN" sz="1200" kern="1200" dirty="0">
                <a:solidFill>
                  <a:schemeClr val="tx1"/>
                </a:solidFill>
                <a:effectLst/>
                <a:latin typeface="+mn-lt"/>
                <a:ea typeface="+mn-ea"/>
                <a:cs typeface="+mn-cs"/>
              </a:rPr>
              <a:t>的所有字符串的集合。同一语言的另一个正则表达式是</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aa|ab|ba|bb</a:t>
            </a:r>
            <a:r>
              <a:rPr lang="zh-CN" altLang="zh-CN" sz="1200" kern="1200" dirty="0">
                <a:solidFill>
                  <a:schemeClr val="tx1"/>
                </a:solidFill>
                <a:effectLst/>
                <a:latin typeface="+mn-lt"/>
                <a:ea typeface="+mn-ea"/>
                <a:cs typeface="+mn-cs"/>
              </a:rPr>
              <a:t>。 </a:t>
            </a:r>
            <a:endParaRPr lang="zh-CN" altLang="en-US" dirty="0"/>
          </a:p>
          <a:p>
            <a:pPr marL="171450" indent="-171450">
              <a:buFont typeface="Arial" panose="020B0604020202020204" pitchFamily="34" charset="0"/>
              <a:buChar char="•"/>
            </a:pPr>
            <a:r>
              <a:rPr lang="zh-CN" altLang="en-US" dirty="0"/>
              <a:t>a* 表示</a:t>
            </a:r>
            <a:r>
              <a:rPr lang="zh-CN" altLang="zh-CN" sz="1200" kern="1200" dirty="0">
                <a:solidFill>
                  <a:schemeClr val="tx1"/>
                </a:solidFill>
                <a:effectLst/>
                <a:latin typeface="+mn-lt"/>
                <a:ea typeface="+mn-ea"/>
                <a:cs typeface="+mn-cs"/>
              </a:rPr>
              <a:t>由零个或多个</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的实例构成的串的集合，即</a:t>
            </a:r>
            <a:r>
              <a:rPr lang="zh-CN" altLang="en-US" dirty="0"/>
              <a:t>{空，, a, aa, aaa, ...}。</a:t>
            </a:r>
          </a:p>
          <a:p>
            <a:pPr marL="171450" indent="-171450">
              <a:buFont typeface="Arial" panose="020B0604020202020204" pitchFamily="34" charset="0"/>
              <a:buChar char="•"/>
            </a:pP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a|b</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表示由零个或多个</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实例组成的所有字符串的集合，即</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的构成的所有字符串的集合</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a;b;aa;ab;ba;bb;aaa</a:t>
            </a:r>
            <a:r>
              <a:rPr lang="en-US" altLang="zh-CN" sz="1200" kern="1200" dirty="0">
                <a:solidFill>
                  <a:schemeClr val="tx1"/>
                </a:solidFill>
                <a:effectLst/>
                <a:latin typeface="+mn-lt"/>
                <a:ea typeface="+mn-ea"/>
                <a:cs typeface="+mn-cs"/>
              </a:rPr>
              <a:t>;:: }G</a:t>
            </a:r>
            <a:r>
              <a:rPr lang="zh-CN" altLang="zh-CN" sz="1200" kern="1200" dirty="0">
                <a:solidFill>
                  <a:schemeClr val="tx1"/>
                </a:solidFill>
                <a:effectLst/>
                <a:latin typeface="+mn-lt"/>
                <a:ea typeface="+mn-ea"/>
                <a:cs typeface="+mn-cs"/>
              </a:rPr>
              <a:t>。同一语言的另一个正则表达式是</a:t>
            </a:r>
            <a:r>
              <a:rPr lang="en-US" altLang="zh-CN" sz="1200" kern="1200" dirty="0">
                <a:solidFill>
                  <a:schemeClr val="tx1"/>
                </a:solidFill>
                <a:effectLst/>
                <a:latin typeface="+mn-lt"/>
                <a:ea typeface="+mn-ea"/>
                <a:cs typeface="+mn-cs"/>
              </a:rPr>
              <a:t> (a b ) </a:t>
            </a:r>
            <a:r>
              <a:rPr lang="zh-CN" altLang="zh-CN"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altLang="zh-CN" sz="1200" kern="1200" dirty="0" err="1">
                <a:solidFill>
                  <a:schemeClr val="tx1"/>
                </a:solidFill>
                <a:effectLst/>
                <a:latin typeface="+mn-lt"/>
                <a:ea typeface="+mn-ea"/>
                <a:cs typeface="+mn-cs"/>
              </a:rPr>
              <a:t>a|a</a:t>
            </a:r>
            <a:r>
              <a:rPr lang="en-US" altLang="zh-CN" sz="1200" kern="1200" dirty="0">
                <a:solidFill>
                  <a:schemeClr val="tx1"/>
                </a:solidFill>
                <a:effectLst/>
                <a:latin typeface="+mn-lt"/>
                <a:ea typeface="+mn-ea"/>
                <a:cs typeface="+mn-cs"/>
              </a:rPr>
              <a:t>*b </a:t>
            </a:r>
            <a:r>
              <a:rPr lang="zh-CN" altLang="zh-CN" sz="1200" kern="1200" dirty="0">
                <a:solidFill>
                  <a:schemeClr val="tx1"/>
                </a:solidFill>
                <a:effectLst/>
                <a:latin typeface="+mn-lt"/>
                <a:ea typeface="+mn-ea"/>
                <a:cs typeface="+mn-cs"/>
              </a:rPr>
              <a:t>表示语言 </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；乙；</a:t>
            </a:r>
            <a:r>
              <a:rPr lang="en-US" altLang="zh-CN" sz="1200" kern="1200" dirty="0">
                <a:solidFill>
                  <a:schemeClr val="tx1"/>
                </a:solidFill>
                <a:effectLst/>
                <a:latin typeface="+mn-lt"/>
                <a:ea typeface="+mn-ea"/>
                <a:cs typeface="+mn-cs"/>
              </a:rPr>
              <a:t> ab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aab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aaab</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，即字符串</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以及所有由零个或多个</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组成并以</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结尾的字符串集合。</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可以用正则表达式定义的语言称为正则集。</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如果两个正则表达式</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表示同一个正则集，我们说它们是等价的，写成</a:t>
            </a:r>
            <a:r>
              <a:rPr lang="en-US" altLang="zh-CN" sz="1200" kern="1200" dirty="0">
                <a:solidFill>
                  <a:schemeClr val="tx1"/>
                </a:solidFill>
                <a:effectLst/>
                <a:latin typeface="+mn-lt"/>
                <a:ea typeface="+mn-ea"/>
                <a:cs typeface="+mn-cs"/>
              </a:rPr>
              <a:t>r = s</a:t>
            </a:r>
            <a:r>
              <a:rPr lang="zh-CN" altLang="zh-CN" sz="1200" kern="1200" dirty="0">
                <a:solidFill>
                  <a:schemeClr val="tx1"/>
                </a:solidFill>
                <a:effectLst/>
                <a:latin typeface="+mn-lt"/>
                <a:ea typeface="+mn-ea"/>
                <a:cs typeface="+mn-cs"/>
              </a:rPr>
              <a:t>。例如，</a:t>
            </a:r>
            <a:r>
              <a:rPr lang="en-US" altLang="zh-CN" sz="1200" kern="1200" dirty="0">
                <a:solidFill>
                  <a:schemeClr val="tx1"/>
                </a:solidFill>
                <a:effectLst/>
                <a:latin typeface="+mn-lt"/>
                <a:ea typeface="+mn-ea"/>
                <a:cs typeface="+mn-cs"/>
              </a:rPr>
              <a:t>(a | b)=(b| a )</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正则表达式遵循一些代数定律；每条定律都断言两种不同形式的表达是等价的。图</a:t>
            </a:r>
            <a:r>
              <a:rPr lang="en-US" altLang="zh-CN" sz="1200" kern="1200" dirty="0">
                <a:solidFill>
                  <a:schemeClr val="tx1"/>
                </a:solidFill>
                <a:effectLst/>
                <a:latin typeface="+mn-lt"/>
                <a:ea typeface="+mn-ea"/>
                <a:cs typeface="+mn-cs"/>
              </a:rPr>
              <a:t> 3.7 </a:t>
            </a:r>
            <a:r>
              <a:rPr lang="zh-CN" altLang="zh-CN" sz="1200" kern="1200" dirty="0">
                <a:solidFill>
                  <a:schemeClr val="tx1"/>
                </a:solidFill>
                <a:effectLst/>
                <a:latin typeface="+mn-lt"/>
                <a:ea typeface="+mn-ea"/>
                <a:cs typeface="+mn-cs"/>
              </a:rPr>
              <a:t>显示了一些适用于任意正则表达式</a:t>
            </a:r>
            <a:r>
              <a:rPr lang="en-US" altLang="zh-CN" sz="1200" kern="1200" dirty="0">
                <a:solidFill>
                  <a:schemeClr val="tx1"/>
                </a:solidFill>
                <a:effectLst/>
                <a:latin typeface="+mn-lt"/>
                <a:ea typeface="+mn-ea"/>
                <a:cs typeface="+mn-cs"/>
              </a:rPr>
              <a:t> r</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t </a:t>
            </a:r>
            <a:r>
              <a:rPr lang="zh-CN" altLang="zh-CN" sz="1200" kern="1200" dirty="0">
                <a:solidFill>
                  <a:schemeClr val="tx1"/>
                </a:solidFill>
                <a:effectLst/>
                <a:latin typeface="+mn-lt"/>
                <a:ea typeface="+mn-ea"/>
                <a:cs typeface="+mn-cs"/>
              </a:rPr>
              <a:t>的代数定律。</a:t>
            </a:r>
          </a:p>
          <a:p>
            <a:pPr algn="ctr"/>
            <a:r>
              <a:rPr lang="zh-CN" altLang="en-US" sz="1200" b="1" dirty="0"/>
              <a:t>(a|b)(a|b) </a:t>
            </a:r>
          </a:p>
          <a:p>
            <a:pPr algn="ctr"/>
            <a:r>
              <a:rPr lang="zh-CN" altLang="en-US" sz="1200" b="1" dirty="0"/>
              <a:t>=</a:t>
            </a:r>
          </a:p>
          <a:p>
            <a:pPr algn="ctr"/>
            <a:r>
              <a:rPr lang="zh-CN" altLang="en-US" sz="1200" b="1" dirty="0"/>
              <a:t>aa|ab|ba|bb</a:t>
            </a:r>
          </a:p>
          <a:p>
            <a:pPr algn="ctr"/>
            <a:r>
              <a:rPr lang="zh-CN" altLang="en-US" dirty="0">
                <a:solidFill>
                  <a:srgbClr val="FF0000"/>
                </a:solidFill>
              </a:rPr>
              <a:t>Is it true???  是正确的</a:t>
            </a:r>
            <a:endParaRPr lang="en-US" altLang="zh-CN" dirty="0">
              <a:solidFill>
                <a:srgbClr val="FF0000"/>
              </a:solidFill>
            </a:endParaRPr>
          </a:p>
          <a:p>
            <a:pPr algn="ctr"/>
            <a:endParaRPr lang="zh-CN" altLang="en-US" dirty="0">
              <a:solidFill>
                <a:srgbClr val="FF0000"/>
              </a:solidFill>
            </a:endParaRPr>
          </a:p>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为了方便表示，我们可能希望给某些正则表达式命名，并在后续表达式中使用这些名称，就好像这些名称本身就是符号一样。如果</a:t>
            </a:r>
            <a:r>
              <a:rPr lang="el-GR" altLang="zh-CN" sz="1200" dirty="0">
                <a:solidFill>
                  <a:schemeClr val="tx1"/>
                </a:solidFill>
                <a:latin typeface="Palatino Linotype" panose="02040502050505030304" charset="0"/>
                <a:ea typeface="Palatino Linotype" panose="02040502050505030304"/>
                <a:cs typeface="Palatino Linotype" panose="02040502050505030304"/>
                <a:sym typeface="+mn-ea"/>
              </a:rPr>
              <a:t>Σ</a:t>
            </a:r>
            <a:r>
              <a:rPr lang="zh-CN" altLang="zh-CN" sz="1200" kern="1200" dirty="0">
                <a:solidFill>
                  <a:schemeClr val="tx1"/>
                </a:solidFill>
                <a:effectLst/>
                <a:latin typeface="+mn-lt"/>
                <a:ea typeface="+mn-ea"/>
                <a:cs typeface="+mn-cs"/>
              </a:rPr>
              <a:t>是基本符号的字母表，则正则定义是具有如下形式的定义序列：</a:t>
            </a:r>
            <a:endParaRPr lang="en-US" altLang="zh-CN" sz="1200" kern="1200" dirty="0">
              <a:solidFill>
                <a:schemeClr val="tx1"/>
              </a:solidFill>
              <a:effectLst/>
              <a:latin typeface="+mn-lt"/>
              <a:ea typeface="+mn-ea"/>
              <a:cs typeface="+mn-cs"/>
            </a:endParaRPr>
          </a:p>
          <a:p>
            <a:r>
              <a:rPr lang="zh-CN" altLang="en-US" dirty="0"/>
              <a:t>d1 → r1</a:t>
            </a:r>
          </a:p>
          <a:p>
            <a:r>
              <a:rPr lang="zh-CN" altLang="en-US" dirty="0"/>
              <a:t>d2 → r2</a:t>
            </a:r>
          </a:p>
          <a:p>
            <a:r>
              <a:rPr lang="zh-CN" altLang="en-US" dirty="0"/>
              <a:t>...</a:t>
            </a:r>
          </a:p>
          <a:p>
            <a:r>
              <a:rPr lang="zh-CN" altLang="en-US" dirty="0"/>
              <a:t>dn → rn</a:t>
            </a:r>
          </a:p>
          <a:p>
            <a:r>
              <a:rPr lang="zh-CN" altLang="zh-CN" sz="1200" kern="1200" dirty="0">
                <a:solidFill>
                  <a:schemeClr val="tx1"/>
                </a:solidFill>
                <a:effectLst/>
                <a:latin typeface="+mn-lt"/>
                <a:ea typeface="+mn-ea"/>
                <a:cs typeface="+mn-cs"/>
              </a:rPr>
              <a:t>其中： </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每个</a:t>
            </a:r>
            <a:r>
              <a:rPr lang="en-US" altLang="zh-CN" sz="1200" kern="1200" dirty="0">
                <a:solidFill>
                  <a:schemeClr val="tx1"/>
                </a:solidFill>
                <a:effectLst/>
                <a:latin typeface="+mn-lt"/>
                <a:ea typeface="+mn-ea"/>
                <a:cs typeface="+mn-cs"/>
              </a:rPr>
              <a:t> di </a:t>
            </a:r>
            <a:r>
              <a:rPr lang="zh-CN" altLang="zh-CN" sz="1200" kern="1200" dirty="0">
                <a:solidFill>
                  <a:schemeClr val="tx1"/>
                </a:solidFill>
                <a:effectLst/>
                <a:latin typeface="+mn-lt"/>
                <a:ea typeface="+mn-ea"/>
                <a:cs typeface="+mn-cs"/>
              </a:rPr>
              <a:t>是一个新符号，它们都不在中，并且各不相同；</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每个</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是字母表</a:t>
            </a:r>
            <a:r>
              <a:rPr lang="el-GR" altLang="zh-CN" sz="1200" dirty="0">
                <a:solidFill>
                  <a:schemeClr val="tx1"/>
                </a:solidFill>
                <a:latin typeface="Palatino Linotype" panose="02040502050505030304" charset="0"/>
                <a:ea typeface="Palatino Linotype" panose="02040502050505030304"/>
                <a:cs typeface="Palatino Linotype" panose="02040502050505030304"/>
                <a:sym typeface="+mn-ea"/>
              </a:rPr>
              <a:t>Σ</a:t>
            </a:r>
            <a:r>
              <a:rPr lang="zh-CN" altLang="zh-CN" sz="1200" kern="1200" dirty="0">
                <a:solidFill>
                  <a:schemeClr val="tx1"/>
                </a:solidFill>
                <a:effectLst/>
                <a:latin typeface="+mn-lt"/>
                <a:ea typeface="+mn-ea"/>
                <a:cs typeface="+mn-cs"/>
              </a:rPr>
              <a:t>上的正则表达式</a:t>
            </a:r>
            <a:r>
              <a:rPr lang="en-US" altLang="zh-CN" sz="1200" kern="1200" dirty="0">
                <a:solidFill>
                  <a:schemeClr val="tx1"/>
                </a:solidFill>
                <a:effectLst/>
                <a:latin typeface="+mn-lt"/>
                <a:ea typeface="+mn-ea"/>
                <a:cs typeface="+mn-cs"/>
              </a:rPr>
              <a:t> et [fd1 ;d2 ;::: ;di 1 g </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我们限制每个</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ri</a:t>
            </a:r>
            <a:r>
              <a:rPr lang="zh-CN" altLang="zh-CN" sz="1200" kern="1200" dirty="0">
                <a:solidFill>
                  <a:schemeClr val="tx1"/>
                </a:solidFill>
                <a:effectLst/>
                <a:latin typeface="+mn-lt"/>
                <a:ea typeface="+mn-ea"/>
                <a:cs typeface="+mn-cs"/>
              </a:rPr>
              <a:t>中只含有 中的符号和在它之前定义的各个</a:t>
            </a:r>
            <a:r>
              <a:rPr lang="en-US" altLang="zh-CN" sz="1200" kern="1200" dirty="0">
                <a:solidFill>
                  <a:schemeClr val="tx1"/>
                </a:solidFill>
                <a:effectLst/>
                <a:latin typeface="+mn-lt"/>
                <a:ea typeface="+mn-ea"/>
                <a:cs typeface="+mn-cs"/>
              </a:rPr>
              <a:t> d</a:t>
            </a:r>
            <a:r>
              <a:rPr lang="zh-CN" altLang="zh-CN" sz="1200" kern="1200" dirty="0">
                <a:solidFill>
                  <a:schemeClr val="tx1"/>
                </a:solidFill>
                <a:effectLst/>
                <a:latin typeface="+mn-lt"/>
                <a:ea typeface="+mn-ea"/>
                <a:cs typeface="+mn-cs"/>
              </a:rPr>
              <a:t>，可以避免递归定义问题，并且我们可以为每个</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单独构造出只包含</a:t>
            </a:r>
            <a:r>
              <a:rPr lang="el-GR" altLang="zh-CN" sz="1200" dirty="0">
                <a:solidFill>
                  <a:schemeClr val="tx1"/>
                </a:solidFill>
                <a:latin typeface="Palatino Linotype" panose="02040502050505030304" charset="0"/>
                <a:ea typeface="Palatino Linotype" panose="02040502050505030304"/>
                <a:cs typeface="Palatino Linotype" panose="02040502050505030304"/>
                <a:sym typeface="+mn-ea"/>
              </a:rPr>
              <a:t>Σ</a:t>
            </a:r>
            <a:r>
              <a:rPr lang="zh-CN" altLang="zh-CN" sz="1200" kern="1200" dirty="0">
                <a:solidFill>
                  <a:schemeClr val="tx1"/>
                </a:solidFill>
                <a:effectLst/>
                <a:latin typeface="+mn-lt"/>
                <a:ea typeface="+mn-ea"/>
                <a:cs typeface="+mn-cs"/>
              </a:rPr>
              <a:t>中符号的正则表达式。为此，我们首先将</a:t>
            </a:r>
            <a:r>
              <a:rPr lang="en-US" altLang="zh-CN" sz="1200" kern="1200" dirty="0">
                <a:solidFill>
                  <a:schemeClr val="tx1"/>
                </a:solidFill>
                <a:effectLst/>
                <a:latin typeface="+mn-lt"/>
                <a:ea typeface="+mn-ea"/>
                <a:cs typeface="+mn-cs"/>
              </a:rPr>
              <a:t>r2</a:t>
            </a:r>
            <a:r>
              <a:rPr lang="zh-CN" altLang="zh-CN" sz="1200" kern="1200" dirty="0">
                <a:solidFill>
                  <a:schemeClr val="tx1"/>
                </a:solidFill>
                <a:effectLst/>
                <a:latin typeface="+mn-lt"/>
                <a:ea typeface="+mn-ea"/>
                <a:cs typeface="+mn-cs"/>
              </a:rPr>
              <a:t>（它不能使用</a:t>
            </a:r>
            <a:r>
              <a:rPr lang="en-US" altLang="zh-CN" sz="1200" kern="1200" dirty="0">
                <a:solidFill>
                  <a:schemeClr val="tx1"/>
                </a:solidFill>
                <a:effectLst/>
                <a:latin typeface="+mn-lt"/>
                <a:ea typeface="+mn-ea"/>
                <a:cs typeface="+mn-cs"/>
              </a:rPr>
              <a:t> d1 </a:t>
            </a:r>
            <a:r>
              <a:rPr lang="zh-CN" altLang="zh-CN" sz="1200" kern="1200" dirty="0">
                <a:solidFill>
                  <a:schemeClr val="tx1"/>
                </a:solidFill>
                <a:effectLst/>
                <a:latin typeface="+mn-lt"/>
                <a:ea typeface="+mn-ea"/>
                <a:cs typeface="+mn-cs"/>
              </a:rPr>
              <a:t>之外的任何</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）中的</a:t>
            </a:r>
            <a:r>
              <a:rPr lang="en-US" altLang="zh-CN" sz="1200" kern="1200" dirty="0">
                <a:solidFill>
                  <a:schemeClr val="tx1"/>
                </a:solidFill>
                <a:effectLst/>
                <a:latin typeface="+mn-lt"/>
                <a:ea typeface="+mn-ea"/>
                <a:cs typeface="+mn-cs"/>
              </a:rPr>
              <a:t> d1 </a:t>
            </a:r>
            <a:r>
              <a:rPr lang="zh-CN" altLang="zh-CN" sz="1200" kern="1200" dirty="0">
                <a:solidFill>
                  <a:schemeClr val="tx1"/>
                </a:solidFill>
                <a:effectLst/>
                <a:latin typeface="+mn-lt"/>
                <a:ea typeface="+mn-ea"/>
                <a:cs typeface="+mn-cs"/>
              </a:rPr>
              <a:t>替换为</a:t>
            </a:r>
            <a:r>
              <a:rPr lang="en-US" altLang="zh-CN" sz="1200" kern="1200" dirty="0">
                <a:solidFill>
                  <a:schemeClr val="tx1"/>
                </a:solidFill>
                <a:effectLst/>
                <a:latin typeface="+mn-lt"/>
                <a:ea typeface="+mn-ea"/>
                <a:cs typeface="+mn-cs"/>
              </a:rPr>
              <a:t>r1</a:t>
            </a:r>
            <a:r>
              <a:rPr lang="zh-CN" altLang="zh-CN" sz="1200" kern="1200" dirty="0">
                <a:solidFill>
                  <a:schemeClr val="tx1"/>
                </a:solidFill>
                <a:effectLst/>
                <a:latin typeface="+mn-lt"/>
                <a:ea typeface="+mn-ea"/>
                <a:cs typeface="+mn-cs"/>
              </a:rPr>
              <a:t>，然后再将</a:t>
            </a:r>
            <a:r>
              <a:rPr lang="en-US" altLang="zh-CN" sz="1200" kern="1200" dirty="0">
                <a:solidFill>
                  <a:schemeClr val="tx1"/>
                </a:solidFill>
                <a:effectLst/>
                <a:latin typeface="+mn-lt"/>
                <a:ea typeface="+mn-ea"/>
                <a:cs typeface="+mn-cs"/>
              </a:rPr>
              <a:t>r3</a:t>
            </a:r>
            <a:r>
              <a:rPr lang="zh-CN" altLang="zh-CN" sz="1200" kern="1200" dirty="0">
                <a:solidFill>
                  <a:schemeClr val="tx1"/>
                </a:solidFill>
                <a:effectLst/>
                <a:latin typeface="+mn-lt"/>
                <a:ea typeface="+mn-ea"/>
                <a:cs typeface="+mn-cs"/>
              </a:rPr>
              <a:t>中的</a:t>
            </a:r>
            <a:r>
              <a:rPr lang="en-US" altLang="zh-CN" sz="1200" kern="1200" dirty="0">
                <a:solidFill>
                  <a:schemeClr val="tx1"/>
                </a:solidFill>
                <a:effectLst/>
                <a:latin typeface="+mn-lt"/>
                <a:ea typeface="+mn-ea"/>
                <a:cs typeface="+mn-cs"/>
              </a:rPr>
              <a:t>d1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d2</a:t>
            </a:r>
            <a:r>
              <a:rPr lang="zh-CN" altLang="zh-CN" sz="1200" kern="1200" dirty="0">
                <a:solidFill>
                  <a:schemeClr val="tx1"/>
                </a:solidFill>
                <a:effectLst/>
                <a:latin typeface="+mn-lt"/>
                <a:ea typeface="+mn-ea"/>
                <a:cs typeface="+mn-cs"/>
              </a:rPr>
              <a:t>替换为</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和（替换之后的） </a:t>
            </a:r>
            <a:r>
              <a:rPr lang="en-US" altLang="zh-CN" sz="1200" kern="1200" dirty="0">
                <a:solidFill>
                  <a:schemeClr val="tx1"/>
                </a:solidFill>
                <a:effectLst/>
                <a:latin typeface="+mn-lt"/>
                <a:ea typeface="+mn-ea"/>
                <a:cs typeface="+mn-cs"/>
              </a:rPr>
              <a:t>r2</a:t>
            </a:r>
            <a:r>
              <a:rPr lang="zh-CN" altLang="zh-CN" sz="1200" kern="1200" dirty="0">
                <a:solidFill>
                  <a:schemeClr val="tx1"/>
                </a:solidFill>
                <a:effectLst/>
                <a:latin typeface="+mn-lt"/>
                <a:ea typeface="+mn-ea"/>
                <a:cs typeface="+mn-cs"/>
              </a:rPr>
              <a:t>，依此类推。最后，将</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rn</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中的</a:t>
            </a:r>
            <a:r>
              <a:rPr lang="en-US" altLang="zh-CN" sz="1200" kern="1200" dirty="0">
                <a:solidFill>
                  <a:schemeClr val="tx1"/>
                </a:solidFill>
                <a:effectLst/>
                <a:latin typeface="+mn-lt"/>
                <a:ea typeface="+mn-ea"/>
                <a:cs typeface="+mn-cs"/>
              </a:rPr>
              <a:t> di </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 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2;::: ;n 1</a:t>
            </a:r>
            <a:r>
              <a:rPr lang="zh-CN" altLang="zh-CN" sz="1200" kern="1200" dirty="0">
                <a:solidFill>
                  <a:schemeClr val="tx1"/>
                </a:solidFill>
                <a:effectLst/>
                <a:latin typeface="+mn-lt"/>
                <a:ea typeface="+mn-ea"/>
                <a:cs typeface="+mn-cs"/>
              </a:rPr>
              <a:t>）替换为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的经替换后的版本，在这些版本中都只包含</a:t>
            </a:r>
            <a:r>
              <a:rPr lang="el-GR" altLang="zh-CN" sz="1200" dirty="0">
                <a:solidFill>
                  <a:schemeClr val="tx1"/>
                </a:solidFill>
                <a:latin typeface="Palatino Linotype" panose="02040502050505030304" charset="0"/>
                <a:ea typeface="Palatino Linotype" panose="02040502050505030304"/>
                <a:cs typeface="Palatino Linotype" panose="02040502050505030304"/>
                <a:sym typeface="+mn-ea"/>
              </a:rPr>
              <a:t>Σ</a:t>
            </a:r>
            <a:r>
              <a:rPr lang="zh-CN" altLang="zh-CN" sz="1200" kern="1200" dirty="0">
                <a:solidFill>
                  <a:schemeClr val="tx1"/>
                </a:solidFill>
                <a:effectLst/>
                <a:latin typeface="+mn-lt"/>
                <a:ea typeface="+mn-ea"/>
                <a:cs typeface="+mn-cs"/>
              </a:rPr>
              <a:t>中的符号。</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3.5</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 </a:t>
            </a:r>
            <a:r>
              <a:rPr lang="zh-CN" altLang="zh-CN" sz="1200" kern="1200" dirty="0">
                <a:solidFill>
                  <a:schemeClr val="tx1"/>
                </a:solidFill>
                <a:effectLst/>
                <a:latin typeface="+mn-lt"/>
                <a:ea typeface="+mn-ea"/>
                <a:cs typeface="+mn-cs"/>
              </a:rPr>
              <a:t>标识符是由字母、数字和下划线组成的字符串。这是</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标识符语言的常规定义。我们将按照惯例使用斜体来表示常规定义中定义的符号。</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3467638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自从</a:t>
            </a:r>
            <a:r>
              <a:rPr lang="en-US" altLang="zh-CN" sz="1200" kern="1200" dirty="0">
                <a:solidFill>
                  <a:schemeClr val="tx1"/>
                </a:solidFill>
                <a:effectLst/>
                <a:latin typeface="+mn-lt"/>
                <a:ea typeface="+mn-ea"/>
                <a:cs typeface="+mn-cs"/>
              </a:rPr>
              <a:t> Kleene </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 20 </a:t>
            </a:r>
            <a:r>
              <a:rPr lang="zh-CN" altLang="zh-CN" sz="1200" kern="1200" dirty="0">
                <a:solidFill>
                  <a:schemeClr val="tx1"/>
                </a:solidFill>
                <a:effectLst/>
                <a:latin typeface="+mn-lt"/>
                <a:ea typeface="+mn-ea"/>
                <a:cs typeface="+mn-cs"/>
              </a:rPr>
              <a:t>世纪</a:t>
            </a:r>
            <a:r>
              <a:rPr lang="en-US" altLang="zh-CN" sz="1200" kern="1200" dirty="0">
                <a:solidFill>
                  <a:schemeClr val="tx1"/>
                </a:solidFill>
                <a:effectLst/>
                <a:latin typeface="+mn-lt"/>
                <a:ea typeface="+mn-ea"/>
                <a:cs typeface="+mn-cs"/>
              </a:rPr>
              <a:t> 50 </a:t>
            </a:r>
            <a:r>
              <a:rPr lang="zh-CN" altLang="zh-CN" sz="1200" kern="1200" dirty="0">
                <a:solidFill>
                  <a:schemeClr val="tx1"/>
                </a:solidFill>
                <a:effectLst/>
                <a:latin typeface="+mn-lt"/>
                <a:ea typeface="+mn-ea"/>
                <a:cs typeface="+mn-cs"/>
              </a:rPr>
              <a:t>年代引入了具有基本运算符并、连接和</a:t>
            </a:r>
            <a:r>
              <a:rPr lang="en-US" altLang="zh-CN" sz="1200" kern="1200" dirty="0">
                <a:solidFill>
                  <a:schemeClr val="tx1"/>
                </a:solidFill>
                <a:effectLst/>
                <a:latin typeface="+mn-lt"/>
                <a:ea typeface="+mn-ea"/>
                <a:cs typeface="+mn-cs"/>
              </a:rPr>
              <a:t> Kleene </a:t>
            </a:r>
            <a:r>
              <a:rPr lang="zh-CN" altLang="zh-CN" sz="1200" kern="1200" dirty="0">
                <a:solidFill>
                  <a:schemeClr val="tx1"/>
                </a:solidFill>
                <a:effectLst/>
                <a:latin typeface="+mn-lt"/>
                <a:ea typeface="+mn-ea"/>
                <a:cs typeface="+mn-cs"/>
              </a:rPr>
              <a:t>闭包的正则表达式以来，正则表达式中添加了许多扩展，以增强正则表达式描述字符串模式的能力。在这里，我们介绍一些最早出现在像</a:t>
            </a:r>
            <a:r>
              <a:rPr lang="en-US" altLang="zh-CN" sz="1200" kern="1200" dirty="0" err="1">
                <a:solidFill>
                  <a:schemeClr val="tx1"/>
                </a:solidFill>
                <a:effectLst/>
                <a:latin typeface="+mn-lt"/>
                <a:ea typeface="+mn-ea"/>
                <a:cs typeface="+mn-cs"/>
              </a:rPr>
              <a:t>lex</a:t>
            </a:r>
            <a:r>
              <a:rPr lang="zh-CN" altLang="zh-CN" sz="1200" kern="1200" dirty="0">
                <a:solidFill>
                  <a:schemeClr val="tx1"/>
                </a:solidFill>
                <a:effectLst/>
                <a:latin typeface="+mn-lt"/>
                <a:ea typeface="+mn-ea"/>
                <a:cs typeface="+mn-cs"/>
              </a:rPr>
              <a:t>这样的</a:t>
            </a:r>
            <a:r>
              <a:rPr lang="en-US" altLang="zh-CN" sz="1200" kern="1200" dirty="0">
                <a:solidFill>
                  <a:schemeClr val="tx1"/>
                </a:solidFill>
                <a:effectLst/>
                <a:latin typeface="+mn-lt"/>
                <a:ea typeface="+mn-ea"/>
                <a:cs typeface="+mn-cs"/>
              </a:rPr>
              <a:t>Unix </a:t>
            </a:r>
            <a:r>
              <a:rPr lang="zh-CN" altLang="zh-CN" sz="1200" kern="1200" dirty="0">
                <a:solidFill>
                  <a:schemeClr val="tx1"/>
                </a:solidFill>
                <a:effectLst/>
                <a:latin typeface="+mn-lt"/>
                <a:ea typeface="+mn-ea"/>
                <a:cs typeface="+mn-cs"/>
              </a:rPr>
              <a:t>实用程序中的扩展表示法。这些扩展标识法在词法分析器的规约中特别有用。本章的参考文献包含对当今仍在使用的一些正则表达式变体的讨论。</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一个或多个实例。单目后缀运算符</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表示一个正则表达式及其语言的正闭包。也就是说，如果</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是正则表达式，则</a:t>
            </a:r>
            <a:r>
              <a:rPr lang="en-US" altLang="zh-CN" sz="1200" kern="1200" dirty="0">
                <a:solidFill>
                  <a:schemeClr val="tx1"/>
                </a:solidFill>
                <a:effectLst/>
                <a:latin typeface="+mn-lt"/>
                <a:ea typeface="+mn-ea"/>
                <a:cs typeface="+mn-cs"/>
              </a:rPr>
              <a:t> (r )+ </a:t>
            </a:r>
            <a:r>
              <a:rPr lang="zh-CN" altLang="zh-CN" sz="1200" kern="1200" dirty="0">
                <a:solidFill>
                  <a:schemeClr val="tx1"/>
                </a:solidFill>
                <a:effectLst/>
                <a:latin typeface="+mn-lt"/>
                <a:ea typeface="+mn-ea"/>
                <a:cs typeface="+mn-cs"/>
              </a:rPr>
              <a:t>表示语言（</a:t>
            </a:r>
            <a:r>
              <a:rPr lang="en-US" altLang="zh-CN" sz="1200" kern="1200" dirty="0">
                <a:solidFill>
                  <a:schemeClr val="tx1"/>
                </a:solidFill>
                <a:effectLst/>
                <a:latin typeface="+mn-lt"/>
                <a:ea typeface="+mn-ea"/>
                <a:cs typeface="+mn-cs"/>
              </a:rPr>
              <a:t>L(r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。运算符</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与运算符</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具有相同的优先级和结合性。两个有用的代数定律</a:t>
            </a:r>
            <a:r>
              <a:rPr lang="en-US" altLang="zh-CN" sz="1200" kern="1200" dirty="0">
                <a:solidFill>
                  <a:schemeClr val="tx1"/>
                </a:solidFill>
                <a:effectLst/>
                <a:latin typeface="+mn-lt"/>
                <a:ea typeface="+mn-ea"/>
                <a:cs typeface="+mn-cs"/>
              </a:rPr>
              <a:t> r* = r +| j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r + = </a:t>
            </a:r>
            <a:r>
              <a:rPr lang="en-US" altLang="zh-CN" sz="1200" kern="1200" dirty="0" err="1">
                <a:solidFill>
                  <a:schemeClr val="tx1"/>
                </a:solidFill>
                <a:effectLst/>
                <a:latin typeface="+mn-lt"/>
                <a:ea typeface="+mn-ea"/>
                <a:cs typeface="+mn-cs"/>
              </a:rPr>
              <a:t>rr</a:t>
            </a:r>
            <a:r>
              <a:rPr lang="en-US" altLang="zh-CN" sz="1200" kern="1200" dirty="0">
                <a:solidFill>
                  <a:schemeClr val="tx1"/>
                </a:solidFill>
                <a:effectLst/>
                <a:latin typeface="+mn-lt"/>
                <a:ea typeface="+mn-ea"/>
                <a:cs typeface="+mn-cs"/>
              </a:rPr>
              <a:t>* = r *r </a:t>
            </a:r>
            <a:r>
              <a:rPr lang="zh-CN" altLang="zh-CN" sz="1200" kern="1200" dirty="0">
                <a:solidFill>
                  <a:schemeClr val="tx1"/>
                </a:solidFill>
                <a:effectLst/>
                <a:latin typeface="+mn-lt"/>
                <a:ea typeface="+mn-ea"/>
                <a:cs typeface="+mn-cs"/>
              </a:rPr>
              <a:t>说明了克林闭包和正闭包之间的关系。</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零个或一个实例。单目后缀运算符</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表示“”零或一次出现。</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也就是说，</a:t>
            </a:r>
            <a:r>
              <a:rPr lang="en-US" altLang="zh-CN" sz="1200" kern="1200" dirty="0">
                <a:solidFill>
                  <a:schemeClr val="tx1"/>
                </a:solidFill>
                <a:effectLst/>
                <a:latin typeface="+mn-lt"/>
                <a:ea typeface="+mn-ea"/>
                <a:cs typeface="+mn-cs"/>
              </a:rPr>
              <a:t>r ? </a:t>
            </a:r>
            <a:r>
              <a:rPr lang="zh-CN" altLang="zh-CN" sz="1200" kern="1200" dirty="0">
                <a:solidFill>
                  <a:schemeClr val="tx1"/>
                </a:solidFill>
                <a:effectLst/>
                <a:latin typeface="+mn-lt"/>
                <a:ea typeface="+mn-ea"/>
                <a:cs typeface="+mn-cs"/>
              </a:rPr>
              <a:t>等价于</a:t>
            </a:r>
            <a:r>
              <a:rPr lang="en-US" altLang="zh-CN" sz="1200" kern="1200" dirty="0">
                <a:solidFill>
                  <a:schemeClr val="tx1"/>
                </a:solidFill>
                <a:effectLst/>
                <a:latin typeface="+mn-lt"/>
                <a:ea typeface="+mn-ea"/>
                <a:cs typeface="+mn-cs"/>
              </a:rPr>
              <a:t> r| j </a:t>
            </a:r>
            <a:r>
              <a:rPr lang="zh-CN" altLang="zh-CN" sz="1200" kern="1200" dirty="0">
                <a:solidFill>
                  <a:schemeClr val="tx1"/>
                </a:solidFill>
                <a:effectLst/>
                <a:latin typeface="+mn-lt"/>
                <a:ea typeface="+mn-ea"/>
                <a:cs typeface="+mn-cs"/>
              </a:rPr>
              <a:t>，或者换句话说，</a:t>
            </a:r>
            <a:r>
              <a:rPr lang="en-US" altLang="zh-CN" sz="1200" kern="1200" dirty="0">
                <a:solidFill>
                  <a:schemeClr val="tx1"/>
                </a:solidFill>
                <a:effectLst/>
                <a:latin typeface="+mn-lt"/>
                <a:ea typeface="+mn-ea"/>
                <a:cs typeface="+mn-cs"/>
              </a:rPr>
              <a:t>L(r ?) = L(r ) [f 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运算符与</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运算符具有相同的优先级和结合性。</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字符类。正则表达式</a:t>
            </a:r>
            <a:r>
              <a:rPr lang="en-US" altLang="zh-CN" sz="1200" kern="1200" dirty="0">
                <a:solidFill>
                  <a:schemeClr val="tx1"/>
                </a:solidFill>
                <a:effectLst/>
                <a:latin typeface="+mn-lt"/>
                <a:ea typeface="+mn-ea"/>
                <a:cs typeface="+mn-cs"/>
              </a:rPr>
              <a:t> a1|a2|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|an </a:t>
            </a:r>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 ai </a:t>
            </a:r>
            <a:r>
              <a:rPr lang="zh-CN" altLang="zh-CN" sz="1200" kern="1200" dirty="0">
                <a:solidFill>
                  <a:schemeClr val="tx1"/>
                </a:solidFill>
                <a:effectLst/>
                <a:latin typeface="+mn-lt"/>
                <a:ea typeface="+mn-ea"/>
                <a:cs typeface="+mn-cs"/>
              </a:rPr>
              <a:t>是字母表的各个符号，可以用简写形式</a:t>
            </a:r>
            <a:r>
              <a:rPr lang="en-US" altLang="zh-CN" sz="1200" kern="1200" dirty="0">
                <a:solidFill>
                  <a:schemeClr val="tx1"/>
                </a:solidFill>
                <a:effectLst/>
                <a:latin typeface="+mn-lt"/>
                <a:ea typeface="+mn-ea"/>
                <a:cs typeface="+mn-cs"/>
              </a:rPr>
              <a:t> [a1 a2 an ] </a:t>
            </a:r>
            <a:r>
              <a:rPr lang="zh-CN" altLang="zh-CN" sz="1200" kern="1200" dirty="0">
                <a:solidFill>
                  <a:schemeClr val="tx1"/>
                </a:solidFill>
                <a:effectLst/>
                <a:latin typeface="+mn-lt"/>
                <a:ea typeface="+mn-ea"/>
                <a:cs typeface="+mn-cs"/>
              </a:rPr>
              <a:t>替换。更重要的是，当</a:t>
            </a:r>
            <a:r>
              <a:rPr lang="en-US" altLang="zh-CN" sz="1200" kern="1200" dirty="0">
                <a:solidFill>
                  <a:schemeClr val="tx1"/>
                </a:solidFill>
                <a:effectLst/>
                <a:latin typeface="+mn-lt"/>
                <a:ea typeface="+mn-ea"/>
                <a:cs typeface="+mn-cs"/>
              </a:rPr>
              <a:t> a1 ;a2 ;::: ;an </a:t>
            </a:r>
            <a:r>
              <a:rPr lang="zh-CN" altLang="zh-CN" sz="1200" kern="1200" dirty="0">
                <a:solidFill>
                  <a:schemeClr val="tx1"/>
                </a:solidFill>
                <a:effectLst/>
                <a:latin typeface="+mn-lt"/>
                <a:ea typeface="+mn-ea"/>
                <a:cs typeface="+mn-cs"/>
              </a:rPr>
              <a:t>构成逻辑上连续的序列时，例如连续的大写字母、小写字母或数字，我们可以用</a:t>
            </a:r>
            <a:r>
              <a:rPr lang="en-US" altLang="zh-CN" sz="1200" kern="1200" dirty="0">
                <a:solidFill>
                  <a:schemeClr val="tx1"/>
                </a:solidFill>
                <a:effectLst/>
                <a:latin typeface="+mn-lt"/>
                <a:ea typeface="+mn-ea"/>
                <a:cs typeface="+mn-cs"/>
              </a:rPr>
              <a:t> a1 -an </a:t>
            </a:r>
            <a:r>
              <a:rPr lang="zh-CN" altLang="zh-CN" sz="1200" kern="1200" dirty="0">
                <a:solidFill>
                  <a:schemeClr val="tx1"/>
                </a:solidFill>
                <a:effectLst/>
                <a:latin typeface="+mn-lt"/>
                <a:ea typeface="+mn-ea"/>
                <a:cs typeface="+mn-cs"/>
              </a:rPr>
              <a:t>来替换它们，即只写出第一个和最后一个符号，中间用连词符分隔。因此，</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abc</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a|b|c</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的简写，而</a:t>
            </a:r>
            <a:r>
              <a:rPr lang="en-US" altLang="zh-CN" sz="1200" kern="1200" dirty="0">
                <a:solidFill>
                  <a:schemeClr val="tx1"/>
                </a:solidFill>
                <a:effectLst/>
                <a:latin typeface="+mn-lt"/>
                <a:ea typeface="+mn-ea"/>
                <a:cs typeface="+mn-cs"/>
              </a:rPr>
              <a:t> [a-z ]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a|b|z</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的简写。</a:t>
            </a: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在上一节中，我们学习了如何使用正则表达式来表达模式。现在，我们必须研究如何根据各个需要识别的词法单元的模式来构建一段代码。这段代码能够检查输入字符串，并在输入的前缀中找出一个和某个模式匹配的词素。我们的讨论将利用以下运行示例。</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此外，我们还可以让词法分析器负责消除空白符，方法是让它识别如下定义词法单元</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ws</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ws</a:t>
            </a:r>
            <a:r>
              <a:rPr lang="en-US" altLang="zh-CN" sz="1200" kern="1200" dirty="0">
                <a:solidFill>
                  <a:schemeClr val="tx1"/>
                </a:solidFill>
                <a:effectLst/>
                <a:latin typeface="+mn-lt"/>
                <a:ea typeface="+mn-ea"/>
                <a:cs typeface="+mn-cs"/>
              </a:rPr>
              <a:t> ! ( Blank j tab j newline )+ </a:t>
            </a:r>
          </a:p>
          <a:p>
            <a:r>
              <a:rPr lang="zh-CN" altLang="en-US" sz="1200" kern="1200" dirty="0">
                <a:solidFill>
                  <a:schemeClr val="tx1"/>
                </a:solidFill>
                <a:effectLst/>
                <a:latin typeface="+mn-lt"/>
                <a:ea typeface="+mn-ea"/>
                <a:cs typeface="+mn-cs"/>
              </a:rPr>
              <a:t>这里，</a:t>
            </a:r>
            <a:r>
              <a:rPr lang="en-US" altLang="zh-CN" sz="1200" kern="1200" dirty="0">
                <a:solidFill>
                  <a:schemeClr val="tx1"/>
                </a:solidFill>
                <a:effectLst/>
                <a:latin typeface="+mn-lt"/>
                <a:ea typeface="+mn-ea"/>
                <a:cs typeface="+mn-cs"/>
              </a:rPr>
              <a:t>blank</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tab</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newline</a:t>
            </a:r>
            <a:r>
              <a:rPr lang="zh-CN" altLang="en-US" sz="1200" kern="1200" dirty="0">
                <a:solidFill>
                  <a:schemeClr val="tx1"/>
                </a:solidFill>
                <a:effectLst/>
                <a:latin typeface="+mn-lt"/>
                <a:ea typeface="+mn-ea"/>
                <a:cs typeface="+mn-cs"/>
              </a:rPr>
              <a:t>是用于表示具有同样名字的 </a:t>
            </a:r>
            <a:r>
              <a:rPr lang="en-US" altLang="zh-CN" sz="1200" kern="1200" dirty="0">
                <a:solidFill>
                  <a:schemeClr val="tx1"/>
                </a:solidFill>
                <a:effectLst/>
                <a:latin typeface="+mn-lt"/>
                <a:ea typeface="+mn-ea"/>
                <a:cs typeface="+mn-cs"/>
              </a:rPr>
              <a:t>ASCI I </a:t>
            </a:r>
            <a:r>
              <a:rPr lang="zh-CN" altLang="en-US" sz="1200" kern="1200" dirty="0">
                <a:solidFill>
                  <a:schemeClr val="tx1"/>
                </a:solidFill>
                <a:effectLst/>
                <a:latin typeface="+mn-lt"/>
                <a:ea typeface="+mn-ea"/>
                <a:cs typeface="+mn-cs"/>
              </a:rPr>
              <a:t>字符的抽象符号。词法单元 </a:t>
            </a:r>
            <a:r>
              <a:rPr lang="en-US" altLang="zh-CN" sz="1200" kern="1200" dirty="0" err="1">
                <a:solidFill>
                  <a:schemeClr val="tx1"/>
                </a:solidFill>
                <a:effectLst/>
                <a:latin typeface="+mn-lt"/>
                <a:ea typeface="+mn-ea"/>
                <a:cs typeface="+mn-cs"/>
              </a:rPr>
              <a:t>ws</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同其他词法单元的不同之处在于，当我们识别到</a:t>
            </a:r>
            <a:r>
              <a:rPr lang="en-US" altLang="zh-CN" sz="1200" kern="1200" dirty="0" err="1">
                <a:solidFill>
                  <a:schemeClr val="tx1"/>
                </a:solidFill>
                <a:effectLst/>
                <a:latin typeface="+mn-lt"/>
                <a:ea typeface="+mn-ea"/>
                <a:cs typeface="+mn-cs"/>
              </a:rPr>
              <a:t>ws</a:t>
            </a:r>
            <a:r>
              <a:rPr lang="zh-CN" altLang="en-US" sz="1200" kern="1200" dirty="0">
                <a:solidFill>
                  <a:schemeClr val="tx1"/>
                </a:solidFill>
                <a:effectLst/>
                <a:latin typeface="+mn-lt"/>
                <a:ea typeface="+mn-ea"/>
                <a:cs typeface="+mn-cs"/>
              </a:rPr>
              <a:t>时，我们并不会将其返回给语法分析器，而是从这个空白之后的字符开始继续进行词法分析。返回给语法分析器的是下一个词法单元。</a:t>
            </a:r>
          </a:p>
          <a:p>
            <a:endParaRPr lang="zh-CN" altLang="zh-CN" sz="1200" kern="1200" dirty="0">
              <a:solidFill>
                <a:schemeClr val="tx1"/>
              </a:solidFill>
              <a:effectLst/>
              <a:latin typeface="+mn-lt"/>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en-US" dirty="0"/>
              <a:t>例 </a:t>
            </a:r>
            <a:r>
              <a:rPr lang="en-US" altLang="zh-CN" dirty="0"/>
              <a:t>3.8</a:t>
            </a:r>
            <a:r>
              <a:rPr lang="zh-CN" altLang="en-US" dirty="0"/>
              <a:t>：图 </a:t>
            </a:r>
            <a:r>
              <a:rPr lang="en-US" altLang="zh-CN" dirty="0"/>
              <a:t>3.10 </a:t>
            </a:r>
            <a:r>
              <a:rPr lang="zh-CN" altLang="en-US" dirty="0"/>
              <a:t>的语法片段描述了分支语句和条件表达式的简单形式。此语法类似于 </a:t>
            </a:r>
            <a:r>
              <a:rPr lang="en-US" altLang="zh-CN" dirty="0"/>
              <a:t>Pascal </a:t>
            </a:r>
            <a:r>
              <a:rPr lang="zh-CN" altLang="en-US" dirty="0"/>
              <a:t>语言的语法，因为 </a:t>
            </a:r>
            <a:r>
              <a:rPr lang="en-US" altLang="zh-CN" dirty="0"/>
              <a:t>then</a:t>
            </a:r>
            <a:r>
              <a:rPr lang="zh-CN" altLang="en-US" dirty="0"/>
              <a:t>关键字显式地出现在条件表达式的后面。对于 </a:t>
            </a:r>
            <a:r>
              <a:rPr lang="en-US" altLang="zh-CN" dirty="0" err="1"/>
              <a:t>relop</a:t>
            </a:r>
            <a:r>
              <a:rPr lang="zh-CN" altLang="en-US" dirty="0"/>
              <a:t>，我们使用 </a:t>
            </a:r>
            <a:r>
              <a:rPr lang="en-US" altLang="zh-CN" dirty="0"/>
              <a:t>Pascal </a:t>
            </a:r>
            <a:r>
              <a:rPr lang="zh-CN" altLang="en-US" dirty="0"/>
              <a:t>或 </a:t>
            </a:r>
            <a:r>
              <a:rPr lang="en-US" altLang="zh-CN" dirty="0"/>
              <a:t>SQL </a:t>
            </a:r>
            <a:r>
              <a:rPr lang="zh-CN" altLang="en-US" dirty="0"/>
              <a:t>等语言的比较运算符，其中 </a:t>
            </a:r>
            <a:r>
              <a:rPr lang="en-US" altLang="zh-CN" dirty="0"/>
              <a:t>=</a:t>
            </a:r>
            <a:r>
              <a:rPr lang="zh-CN" altLang="en-US" dirty="0"/>
              <a:t>表示“等于”，</a:t>
            </a:r>
            <a:r>
              <a:rPr lang="en-US" altLang="zh-CN" dirty="0"/>
              <a:t>&lt;&gt; </a:t>
            </a:r>
            <a:r>
              <a:rPr lang="zh-CN" altLang="en-US" dirty="0"/>
              <a:t>表示“不等于”，因为它呈现了一个有趣的词素结构。</a:t>
            </a:r>
          </a:p>
          <a:p>
            <a:r>
              <a:rPr lang="zh-CN" altLang="en-US" dirty="0"/>
              <a:t>文法的终结符包括 </a:t>
            </a:r>
            <a:r>
              <a:rPr lang="en-US" altLang="zh-CN" dirty="0"/>
              <a:t>if</a:t>
            </a:r>
            <a:r>
              <a:rPr lang="zh-CN" altLang="en-US" dirty="0"/>
              <a:t>、</a:t>
            </a:r>
            <a:r>
              <a:rPr lang="en-US" altLang="zh-CN" dirty="0"/>
              <a:t>then</a:t>
            </a:r>
            <a:r>
              <a:rPr lang="zh-CN" altLang="en-US" dirty="0"/>
              <a:t>、</a:t>
            </a:r>
            <a:r>
              <a:rPr lang="en-US" altLang="zh-CN" dirty="0"/>
              <a:t>else</a:t>
            </a:r>
            <a:r>
              <a:rPr lang="zh-CN" altLang="en-US" dirty="0"/>
              <a:t>、</a:t>
            </a:r>
            <a:r>
              <a:rPr lang="en-US" altLang="zh-CN" dirty="0" err="1"/>
              <a:t>relop</a:t>
            </a:r>
            <a:r>
              <a:rPr lang="zh-CN" altLang="en-US" dirty="0"/>
              <a:t>、</a:t>
            </a:r>
            <a:r>
              <a:rPr lang="en-US" altLang="zh-CN" dirty="0"/>
              <a:t>id </a:t>
            </a:r>
            <a:r>
              <a:rPr lang="zh-CN" altLang="en-US" dirty="0"/>
              <a:t>和 </a:t>
            </a:r>
            <a:r>
              <a:rPr lang="en-US" altLang="zh-CN" dirty="0"/>
              <a:t>number</a:t>
            </a:r>
            <a:r>
              <a:rPr lang="zh-CN" altLang="en-US" dirty="0"/>
              <a:t>，对于词法分析器来说是词法单元的名称。这些词法单元的模式使用正则定义进行描述，如图 </a:t>
            </a:r>
            <a:r>
              <a:rPr lang="en-US" altLang="zh-CN" dirty="0"/>
              <a:t>3.11 </a:t>
            </a:r>
            <a:r>
              <a:rPr lang="zh-CN" altLang="en-US" dirty="0"/>
              <a:t>所示。 </a:t>
            </a:r>
            <a:r>
              <a:rPr lang="en-US" altLang="zh-CN" dirty="0"/>
              <a:t>id </a:t>
            </a:r>
            <a:r>
              <a:rPr lang="zh-CN" altLang="en-US" dirty="0"/>
              <a:t>和 </a:t>
            </a:r>
            <a:r>
              <a:rPr lang="en-US" altLang="zh-CN" dirty="0"/>
              <a:t>number </a:t>
            </a:r>
            <a:r>
              <a:rPr lang="zh-CN" altLang="en-US" dirty="0"/>
              <a:t>的模式与示例 </a:t>
            </a:r>
            <a:r>
              <a:rPr lang="en-US" altLang="zh-CN" dirty="0"/>
              <a:t>3.7 </a:t>
            </a:r>
            <a:r>
              <a:rPr lang="zh-CN" altLang="en-US" dirty="0"/>
              <a:t>中看到的类似。</a:t>
            </a:r>
          </a:p>
          <a:p>
            <a:r>
              <a:rPr lang="zh-CN" altLang="en-US" dirty="0"/>
              <a:t>对于这种语言，词法分析器将识别关键字 </a:t>
            </a:r>
            <a:r>
              <a:rPr lang="en-US" altLang="zh-CN" dirty="0"/>
              <a:t>if</a:t>
            </a:r>
            <a:r>
              <a:rPr lang="zh-CN" altLang="en-US" dirty="0"/>
              <a:t>、</a:t>
            </a:r>
            <a:r>
              <a:rPr lang="en-US" altLang="zh-CN" dirty="0"/>
              <a:t>then </a:t>
            </a:r>
            <a:r>
              <a:rPr lang="zh-CN" altLang="en-US" dirty="0"/>
              <a:t>和 </a:t>
            </a:r>
            <a:r>
              <a:rPr lang="en-US" altLang="zh-CN" dirty="0"/>
              <a:t>else</a:t>
            </a:r>
            <a:r>
              <a:rPr lang="zh-CN" altLang="en-US" dirty="0"/>
              <a:t>，以及与 </a:t>
            </a:r>
            <a:r>
              <a:rPr lang="en-US" altLang="zh-CN" dirty="0" err="1"/>
              <a:t>relop</a:t>
            </a:r>
            <a:r>
              <a:rPr lang="zh-CN" altLang="en-US" dirty="0"/>
              <a:t>、</a:t>
            </a:r>
            <a:r>
              <a:rPr lang="en-US" altLang="zh-CN" dirty="0"/>
              <a:t>id </a:t>
            </a:r>
            <a:r>
              <a:rPr lang="zh-CN" altLang="en-US" dirty="0"/>
              <a:t>和 </a:t>
            </a:r>
            <a:r>
              <a:rPr lang="en-US" altLang="zh-CN" dirty="0"/>
              <a:t>number </a:t>
            </a:r>
            <a:r>
              <a:rPr lang="zh-CN" altLang="en-US" dirty="0"/>
              <a:t>模式匹配的词素。为了简化问题，我们做出一个如下常见的假设：关键字也是保留字：也就是说，它们不是标识符，虽然它们的词素与标识符的模式匹配。</a:t>
            </a:r>
            <a:endParaRPr lang="en-US" altLang="zh-CN" dirty="0"/>
          </a:p>
          <a:p>
            <a:r>
              <a:rPr lang="zh-CN" altLang="en-US" dirty="0"/>
              <a:t>我们对词法分析器的目标总结在图 </a:t>
            </a:r>
            <a:r>
              <a:rPr lang="en-US" altLang="zh-CN" dirty="0"/>
              <a:t>3.12 </a:t>
            </a:r>
            <a:r>
              <a:rPr lang="zh-CN" altLang="en-US" dirty="0"/>
              <a:t>中。该表显示，对于各个词素或词素的集合，应该将哪个词法单元名返回到语法分析器以及应该返回什么属性值，如第 </a:t>
            </a:r>
            <a:r>
              <a:rPr lang="en-US" altLang="zh-CN" dirty="0"/>
              <a:t>3.1.3 </a:t>
            </a:r>
            <a:r>
              <a:rPr lang="zh-CN" altLang="en-US" dirty="0"/>
              <a:t>节中讨论的。请注意，对于其中的六个关系运算符，符号常量 </a:t>
            </a:r>
            <a:r>
              <a:rPr lang="en-US" altLang="zh-CN" dirty="0"/>
              <a:t>LT</a:t>
            </a:r>
            <a:r>
              <a:rPr lang="zh-CN" altLang="en-US" dirty="0"/>
              <a:t>、</a:t>
            </a:r>
            <a:r>
              <a:rPr lang="en-US" altLang="zh-CN" dirty="0"/>
              <a:t>LE </a:t>
            </a:r>
            <a:r>
              <a:rPr lang="zh-CN" altLang="en-US" dirty="0"/>
              <a:t>等被当作属性值返回，其目的是指明我们发现的是词法单元 </a:t>
            </a:r>
            <a:r>
              <a:rPr lang="en-US" altLang="zh-CN" dirty="0" err="1"/>
              <a:t>relop</a:t>
            </a:r>
            <a:r>
              <a:rPr lang="en-US" altLang="zh-CN" dirty="0"/>
              <a:t> </a:t>
            </a:r>
            <a:r>
              <a:rPr lang="zh-CN" altLang="en-US" dirty="0"/>
              <a:t>的哪个实例。找到的运算符将影响编译器输出的代码。</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41934886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作为构建词法分析器的中间步骤，我们首先将模式转换为特定风格的流图，称为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状态转换图</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。在本节中，我们手动执行从正则表达式模式到转换图的转换，但是在第</a:t>
            </a:r>
            <a:r>
              <a:rPr lang="en-US" altLang="zh-CN" sz="1200" kern="1200" dirty="0">
                <a:solidFill>
                  <a:schemeClr val="tx1"/>
                </a:solidFill>
                <a:effectLst/>
                <a:latin typeface="+mn-lt"/>
                <a:ea typeface="+mn-ea"/>
                <a:cs typeface="+mn-cs"/>
              </a:rPr>
              <a:t> 3.6 </a:t>
            </a:r>
            <a:r>
              <a:rPr lang="zh-CN" altLang="zh-CN" sz="1200" kern="1200" dirty="0">
                <a:solidFill>
                  <a:schemeClr val="tx1"/>
                </a:solidFill>
                <a:effectLst/>
                <a:latin typeface="+mn-lt"/>
                <a:ea typeface="+mn-ea"/>
                <a:cs typeface="+mn-cs"/>
              </a:rPr>
              <a:t>节中，我们将看到有一种自动化的方法可以从正则表达式的集合构造状态转换图。</a:t>
            </a:r>
          </a:p>
          <a:p>
            <a:r>
              <a:rPr lang="zh-CN" altLang="zh-CN" sz="1200" kern="1200" dirty="0">
                <a:solidFill>
                  <a:schemeClr val="tx1"/>
                </a:solidFill>
                <a:effectLst/>
                <a:latin typeface="+mn-lt"/>
                <a:ea typeface="+mn-ea"/>
                <a:cs typeface="+mn-cs"/>
              </a:rPr>
              <a:t>状态转移图有一组被称为“状态”的结点或圆圈。词法分析器在扫描输入串的过程中寻找和某个模式匹配的词素，而转换图中的每个状态代表一个可能在该过程中出现的情况。我们可以将一个状态视为对我们已经看到的位于</a:t>
            </a:r>
            <a:r>
              <a:rPr lang="en-US" altLang="zh-CN" sz="1200" kern="1200" dirty="0" err="1">
                <a:solidFill>
                  <a:schemeClr val="tx1"/>
                </a:solidFill>
                <a:effectLst/>
                <a:latin typeface="+mn-lt"/>
                <a:ea typeface="+mn-ea"/>
                <a:cs typeface="+mn-cs"/>
              </a:rPr>
              <a:t>lexemeBegin</a:t>
            </a:r>
            <a:r>
              <a:rPr lang="zh-CN" altLang="zh-CN" sz="1200" kern="1200" dirty="0">
                <a:solidFill>
                  <a:schemeClr val="tx1"/>
                </a:solidFill>
                <a:effectLst/>
                <a:latin typeface="+mn-lt"/>
                <a:ea typeface="+mn-ea"/>
                <a:cs typeface="+mn-cs"/>
              </a:rPr>
              <a:t>指针和</a:t>
            </a:r>
            <a:r>
              <a:rPr lang="en-US" altLang="zh-CN" sz="1200" kern="1200" dirty="0">
                <a:solidFill>
                  <a:schemeClr val="tx1"/>
                </a:solidFill>
                <a:effectLst/>
                <a:latin typeface="+mn-lt"/>
                <a:ea typeface="+mn-ea"/>
                <a:cs typeface="+mn-cs"/>
              </a:rPr>
              <a:t>forward</a:t>
            </a:r>
            <a:r>
              <a:rPr lang="zh-CN" altLang="zh-CN" sz="1200" kern="1200" dirty="0">
                <a:solidFill>
                  <a:schemeClr val="tx1"/>
                </a:solidFill>
                <a:effectLst/>
                <a:latin typeface="+mn-lt"/>
                <a:ea typeface="+mn-ea"/>
                <a:cs typeface="+mn-cs"/>
              </a:rPr>
              <a:t>指针之间的字符的总结，它包含了我们在进行词法分析时需要的全部信息（如在图</a:t>
            </a:r>
            <a:r>
              <a:rPr lang="en-US" altLang="zh-CN" sz="1200" kern="1200" dirty="0">
                <a:solidFill>
                  <a:schemeClr val="tx1"/>
                </a:solidFill>
                <a:effectLst/>
                <a:latin typeface="+mn-lt"/>
                <a:ea typeface="+mn-ea"/>
                <a:cs typeface="+mn-cs"/>
              </a:rPr>
              <a:t>3.3</a:t>
            </a:r>
            <a:r>
              <a:rPr lang="zh-CN" altLang="zh-CN" sz="1200" kern="1200" dirty="0">
                <a:solidFill>
                  <a:schemeClr val="tx1"/>
                </a:solidFill>
                <a:effectLst/>
                <a:latin typeface="+mn-lt"/>
                <a:ea typeface="+mn-ea"/>
                <a:cs typeface="+mn-cs"/>
              </a:rPr>
              <a:t>的情况下）。</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转换图的边从图的一种状态指向另一种状态。每条边的标号都包含了一个符号或多个符号。如果我们处于某种状态</a:t>
            </a:r>
            <a:r>
              <a:rPr lang="en-US" altLang="zh-CN" sz="1200" kern="1200" dirty="0">
                <a:solidFill>
                  <a:schemeClr val="tx1"/>
                </a:solidFill>
                <a:effectLst/>
                <a:latin typeface="+mn-lt"/>
                <a:ea typeface="+mn-ea"/>
                <a:cs typeface="+mn-cs"/>
              </a:rPr>
              <a:t> s</a:t>
            </a:r>
            <a:r>
              <a:rPr lang="zh-CN" altLang="zh-CN" sz="1200" kern="1200" dirty="0">
                <a:solidFill>
                  <a:schemeClr val="tx1"/>
                </a:solidFill>
                <a:effectLst/>
                <a:latin typeface="+mn-lt"/>
                <a:ea typeface="+mn-ea"/>
                <a:cs typeface="+mn-cs"/>
              </a:rPr>
              <a:t>，并且下一个输入符号是</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，我们就会寻找一条从</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离开且标号为</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的边（该边的标号中可能还包括其他符号）。如果我们找到这样的一条边，我们就将</a:t>
            </a:r>
            <a:r>
              <a:rPr lang="en-US" altLang="zh-CN" sz="1200" kern="1200" dirty="0">
                <a:solidFill>
                  <a:schemeClr val="tx1"/>
                </a:solidFill>
                <a:effectLst/>
                <a:latin typeface="+mn-lt"/>
                <a:ea typeface="+mn-ea"/>
                <a:cs typeface="+mn-cs"/>
              </a:rPr>
              <a:t>forward</a:t>
            </a:r>
            <a:r>
              <a:rPr lang="zh-CN" altLang="zh-CN" sz="1200" kern="1200" dirty="0">
                <a:solidFill>
                  <a:schemeClr val="tx1"/>
                </a:solidFill>
                <a:effectLst/>
                <a:latin typeface="+mn-lt"/>
                <a:ea typeface="+mn-ea"/>
                <a:cs typeface="+mn-cs"/>
              </a:rPr>
              <a:t>指针前移并进入转移图中该边所指的状态。我们将假设我们所有的转换图都是确定性的，这意味着在对于任何一个给定的状态和任何一个给定的符号，最多只有一个边从该状态离开的边的标号包含该符号。从第</a:t>
            </a:r>
            <a:r>
              <a:rPr lang="en-US" altLang="zh-CN" sz="1200" kern="1200" dirty="0">
                <a:solidFill>
                  <a:schemeClr val="tx1"/>
                </a:solidFill>
                <a:effectLst/>
                <a:latin typeface="+mn-lt"/>
                <a:ea typeface="+mn-ea"/>
                <a:cs typeface="+mn-cs"/>
              </a:rPr>
              <a:t> 3.5 </a:t>
            </a:r>
            <a:r>
              <a:rPr lang="zh-CN" altLang="zh-CN" sz="1200" kern="1200" dirty="0">
                <a:solidFill>
                  <a:schemeClr val="tx1"/>
                </a:solidFill>
                <a:effectLst/>
                <a:latin typeface="+mn-lt"/>
                <a:ea typeface="+mn-ea"/>
                <a:cs typeface="+mn-cs"/>
              </a:rPr>
              <a:t>节开始，我们将放宽对确定性的要求，使词法分析器的设计者更加容易完成任务，但同时提高了对实现者的技巧要求。</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en-US" dirty="0"/>
              <a:t>有限状态系统 </a:t>
            </a:r>
          </a:p>
          <a:p>
            <a:r>
              <a:rPr lang="zh-CN" altLang="en-US" dirty="0"/>
              <a:t>状态 ： 将事物进行区分的标识</a:t>
            </a:r>
          </a:p>
          <a:p>
            <a:r>
              <a:rPr lang="zh-CN" altLang="en-US" dirty="0"/>
              <a:t>具有离散状态的系统 ：数字电路</a:t>
            </a:r>
            <a:r>
              <a:rPr lang="en-US" altLang="zh-CN" dirty="0"/>
              <a:t>(0</a:t>
            </a:r>
            <a:r>
              <a:rPr lang="zh-CN" altLang="en-US" dirty="0"/>
              <a:t>和</a:t>
            </a:r>
            <a:r>
              <a:rPr lang="en-US" altLang="zh-CN" dirty="0"/>
              <a:t>1) </a:t>
            </a:r>
            <a:r>
              <a:rPr lang="zh-CN" altLang="en-US" dirty="0"/>
              <a:t>，交通信号灯（离散状态系统的状态是有限的）</a:t>
            </a:r>
          </a:p>
          <a:p>
            <a:r>
              <a:rPr lang="zh-CN" altLang="en-US" dirty="0"/>
              <a:t>具有连续状态的系统 ：水库水位变化，温度变化，具有无穷多个状态</a:t>
            </a:r>
          </a:p>
          <a:p>
            <a:r>
              <a:rPr lang="zh-CN" altLang="en-US" b="1" dirty="0"/>
              <a:t>有限状态系统是离散状态的系统</a:t>
            </a:r>
            <a:endParaRPr lang="zh-CN" altLang="en-US" dirty="0"/>
          </a:p>
          <a:p>
            <a:endParaRPr lang="en-US" altLang="zh-CN" b="1" dirty="0"/>
          </a:p>
          <a:p>
            <a:r>
              <a:rPr lang="zh-CN" altLang="en-US" b="1" dirty="0"/>
              <a:t>自动售货机的操作流程？如购买一瓶价格为</a:t>
            </a:r>
            <a:r>
              <a:rPr lang="en-US" altLang="zh-CN" b="1" dirty="0"/>
              <a:t>3</a:t>
            </a:r>
            <a:r>
              <a:rPr lang="zh-CN" altLang="en-US" b="1" dirty="0"/>
              <a:t>元的可乐需要做哪些步骤？</a:t>
            </a:r>
          </a:p>
          <a:p>
            <a:r>
              <a:rPr lang="zh-CN" altLang="en-US" dirty="0"/>
              <a:t>（虽然现在是支付宝或者微信支付。。。）</a:t>
            </a:r>
          </a:p>
          <a:p>
            <a:r>
              <a:rPr lang="zh-CN" altLang="en-US" dirty="0"/>
              <a:t>假设某一台售货机只可接受</a:t>
            </a:r>
            <a:r>
              <a:rPr lang="en-US" altLang="zh-CN" dirty="0"/>
              <a:t>5</a:t>
            </a:r>
            <a:r>
              <a:rPr lang="zh-CN" altLang="en-US" dirty="0"/>
              <a:t>角和</a:t>
            </a:r>
            <a:r>
              <a:rPr lang="en-US" altLang="zh-CN" dirty="0"/>
              <a:t>1</a:t>
            </a:r>
            <a:r>
              <a:rPr lang="zh-CN" altLang="en-US" dirty="0"/>
              <a:t>元的硬币</a:t>
            </a:r>
          </a:p>
          <a:p>
            <a:r>
              <a:rPr lang="zh-CN" altLang="en-US" dirty="0"/>
              <a:t>购买一瓶</a:t>
            </a:r>
            <a:r>
              <a:rPr lang="en-US" altLang="zh-CN" dirty="0"/>
              <a:t>3</a:t>
            </a:r>
            <a:r>
              <a:rPr lang="zh-CN" altLang="en-US" dirty="0"/>
              <a:t>元的可乐，售货机的状态有几种？</a:t>
            </a:r>
            <a:r>
              <a:rPr lang="en-US" altLang="zh-CN" dirty="0"/>
              <a:t>(</a:t>
            </a:r>
            <a:r>
              <a:rPr lang="zh-CN" altLang="en-US" dirty="0"/>
              <a:t>状态可理解为购物的步骤</a:t>
            </a:r>
            <a:r>
              <a:rPr lang="en-US" altLang="zh-CN" dirty="0"/>
              <a:t>)</a:t>
            </a:r>
          </a:p>
          <a:p>
            <a:r>
              <a:rPr lang="zh-CN" altLang="en-US" dirty="0"/>
              <a:t>假设已投入</a:t>
            </a:r>
            <a:r>
              <a:rPr lang="en-US" altLang="zh-CN" dirty="0"/>
              <a:t>2</a:t>
            </a:r>
            <a:r>
              <a:rPr lang="zh-CN" altLang="en-US" dirty="0"/>
              <a:t>元，为了买到可乐，还需投入</a:t>
            </a:r>
            <a:r>
              <a:rPr lang="en-US" altLang="zh-CN" dirty="0"/>
              <a:t>1</a:t>
            </a:r>
            <a:r>
              <a:rPr lang="zh-CN" altLang="en-US" dirty="0"/>
              <a:t>个</a:t>
            </a:r>
            <a:r>
              <a:rPr lang="en-US" altLang="zh-CN" dirty="0"/>
              <a:t>1</a:t>
            </a:r>
            <a:r>
              <a:rPr lang="zh-CN" altLang="en-US" dirty="0"/>
              <a:t>元硬币或</a:t>
            </a:r>
            <a:r>
              <a:rPr lang="en-US" altLang="zh-CN" dirty="0"/>
              <a:t>2</a:t>
            </a:r>
            <a:r>
              <a:rPr lang="zh-CN" altLang="en-US" dirty="0"/>
              <a:t>个</a:t>
            </a:r>
            <a:r>
              <a:rPr lang="en-US" altLang="zh-CN" dirty="0"/>
              <a:t>5</a:t>
            </a:r>
            <a:r>
              <a:rPr lang="zh-CN" altLang="en-US" dirty="0"/>
              <a:t>角硬币</a:t>
            </a:r>
          </a:p>
          <a:p>
            <a:br>
              <a:rPr lang="zh-CN" altLang="en-US" dirty="0"/>
            </a:br>
            <a:endParaRPr lang="zh-CN" altLang="en-US" dirty="0"/>
          </a:p>
          <a:p>
            <a:r>
              <a:rPr lang="zh-CN" altLang="en-US" b="1" dirty="0"/>
              <a:t>购买一瓶</a:t>
            </a:r>
            <a:r>
              <a:rPr lang="en-US" altLang="zh-CN" b="1" dirty="0"/>
              <a:t>3</a:t>
            </a:r>
            <a:r>
              <a:rPr lang="zh-CN" altLang="en-US" b="1" dirty="0"/>
              <a:t>元的可乐，售货机的状态有几种？</a:t>
            </a:r>
          </a:p>
          <a:p>
            <a:r>
              <a:rPr lang="zh-CN" altLang="en-US" dirty="0"/>
              <a:t>需要</a:t>
            </a:r>
            <a:r>
              <a:rPr lang="en-US" altLang="zh-CN" dirty="0"/>
              <a:t>3</a:t>
            </a:r>
            <a:r>
              <a:rPr lang="zh-CN" altLang="en-US" dirty="0"/>
              <a:t>元</a:t>
            </a:r>
            <a:r>
              <a:rPr lang="en-US" altLang="zh-CN" dirty="0"/>
              <a:t>: </a:t>
            </a:r>
            <a:r>
              <a:rPr lang="zh-CN" altLang="en-US" dirty="0"/>
              <a:t>还没有投入任何硬币的机器状态</a:t>
            </a:r>
          </a:p>
          <a:p>
            <a:r>
              <a:rPr lang="zh-CN" altLang="en-US" dirty="0"/>
              <a:t>需要</a:t>
            </a:r>
            <a:r>
              <a:rPr lang="en-US" altLang="zh-CN" dirty="0"/>
              <a:t>2.5</a:t>
            </a:r>
            <a:r>
              <a:rPr lang="zh-CN" altLang="en-US" dirty="0"/>
              <a:t>元</a:t>
            </a:r>
            <a:r>
              <a:rPr lang="en-US" altLang="zh-CN" dirty="0"/>
              <a:t>: </a:t>
            </a:r>
            <a:r>
              <a:rPr lang="zh-CN" altLang="en-US" dirty="0"/>
              <a:t>已投入</a:t>
            </a:r>
            <a:r>
              <a:rPr lang="en-US" altLang="zh-CN" dirty="0"/>
              <a:t>1</a:t>
            </a:r>
            <a:r>
              <a:rPr lang="zh-CN" altLang="en-US" dirty="0"/>
              <a:t>个</a:t>
            </a:r>
            <a:r>
              <a:rPr lang="en-US" altLang="zh-CN" dirty="0"/>
              <a:t>5</a:t>
            </a:r>
            <a:r>
              <a:rPr lang="zh-CN" altLang="en-US" dirty="0"/>
              <a:t>角硬币后的状态</a:t>
            </a:r>
          </a:p>
          <a:p>
            <a:r>
              <a:rPr lang="zh-CN" altLang="en-US" dirty="0"/>
              <a:t>需要</a:t>
            </a:r>
            <a:r>
              <a:rPr lang="en-US" altLang="zh-CN" dirty="0"/>
              <a:t>2.0</a:t>
            </a:r>
            <a:r>
              <a:rPr lang="zh-CN" altLang="en-US" dirty="0"/>
              <a:t>元</a:t>
            </a:r>
            <a:r>
              <a:rPr lang="en-US" altLang="zh-CN" dirty="0"/>
              <a:t>: </a:t>
            </a:r>
            <a:r>
              <a:rPr lang="zh-CN" altLang="en-US" dirty="0"/>
              <a:t>已投入</a:t>
            </a:r>
            <a:r>
              <a:rPr lang="en-US" altLang="zh-CN" dirty="0"/>
              <a:t>2</a:t>
            </a:r>
            <a:r>
              <a:rPr lang="zh-CN" altLang="en-US" dirty="0"/>
              <a:t>个</a:t>
            </a:r>
            <a:r>
              <a:rPr lang="en-US" altLang="zh-CN" dirty="0"/>
              <a:t>5</a:t>
            </a:r>
            <a:r>
              <a:rPr lang="zh-CN" altLang="en-US" dirty="0"/>
              <a:t>角或</a:t>
            </a:r>
            <a:r>
              <a:rPr lang="en-US" altLang="zh-CN" dirty="0"/>
              <a:t>1</a:t>
            </a:r>
            <a:r>
              <a:rPr lang="zh-CN" altLang="en-US" dirty="0"/>
              <a:t>个</a:t>
            </a:r>
            <a:r>
              <a:rPr lang="en-US" altLang="zh-CN" dirty="0"/>
              <a:t>1</a:t>
            </a:r>
            <a:r>
              <a:rPr lang="zh-CN" altLang="en-US" dirty="0"/>
              <a:t>元的硬币后的状态</a:t>
            </a:r>
          </a:p>
          <a:p>
            <a:r>
              <a:rPr lang="zh-CN" altLang="en-US" dirty="0"/>
              <a:t>需要</a:t>
            </a:r>
            <a:r>
              <a:rPr lang="en-US" altLang="zh-CN" dirty="0"/>
              <a:t>1.5</a:t>
            </a:r>
            <a:r>
              <a:rPr lang="zh-CN" altLang="en-US" dirty="0"/>
              <a:t>元</a:t>
            </a:r>
            <a:r>
              <a:rPr lang="en-US" altLang="zh-CN" dirty="0"/>
              <a:t>: </a:t>
            </a:r>
            <a:r>
              <a:rPr lang="zh-CN" altLang="en-US" dirty="0"/>
              <a:t>已投入</a:t>
            </a:r>
            <a:r>
              <a:rPr lang="en-US" altLang="zh-CN" dirty="0"/>
              <a:t>3</a:t>
            </a:r>
            <a:r>
              <a:rPr lang="zh-CN" altLang="en-US" dirty="0"/>
              <a:t>个</a:t>
            </a:r>
            <a:r>
              <a:rPr lang="en-US" altLang="zh-CN" dirty="0"/>
              <a:t>5</a:t>
            </a:r>
            <a:r>
              <a:rPr lang="zh-CN" altLang="en-US" dirty="0"/>
              <a:t>角或</a:t>
            </a:r>
            <a:r>
              <a:rPr lang="en-US" altLang="zh-CN" dirty="0"/>
              <a:t>1</a:t>
            </a:r>
            <a:r>
              <a:rPr lang="zh-CN" altLang="en-US" dirty="0"/>
              <a:t>个</a:t>
            </a:r>
            <a:r>
              <a:rPr lang="en-US" altLang="zh-CN" dirty="0"/>
              <a:t>1</a:t>
            </a:r>
            <a:r>
              <a:rPr lang="zh-CN" altLang="en-US" dirty="0"/>
              <a:t>元和</a:t>
            </a:r>
            <a:r>
              <a:rPr lang="en-US" altLang="zh-CN" dirty="0"/>
              <a:t>1</a:t>
            </a:r>
            <a:r>
              <a:rPr lang="zh-CN" altLang="en-US" dirty="0"/>
              <a:t>个</a:t>
            </a:r>
            <a:r>
              <a:rPr lang="en-US" altLang="zh-CN" dirty="0"/>
              <a:t>5</a:t>
            </a:r>
            <a:r>
              <a:rPr lang="zh-CN" altLang="en-US" dirty="0"/>
              <a:t>角硬币后的状态</a:t>
            </a:r>
          </a:p>
          <a:p>
            <a:r>
              <a:rPr lang="zh-CN" altLang="en-US" dirty="0"/>
              <a:t>需要</a:t>
            </a:r>
            <a:r>
              <a:rPr lang="en-US" altLang="zh-CN" dirty="0"/>
              <a:t>1</a:t>
            </a:r>
            <a:r>
              <a:rPr lang="zh-CN" altLang="en-US" dirty="0"/>
              <a:t>元</a:t>
            </a:r>
            <a:r>
              <a:rPr lang="en-US" altLang="zh-CN" dirty="0"/>
              <a:t>: </a:t>
            </a:r>
            <a:r>
              <a:rPr lang="zh-CN" altLang="en-US" dirty="0"/>
              <a:t>已投入</a:t>
            </a:r>
            <a:r>
              <a:rPr lang="en-US" altLang="zh-CN" dirty="0"/>
              <a:t>4</a:t>
            </a:r>
            <a:r>
              <a:rPr lang="zh-CN" altLang="en-US" dirty="0"/>
              <a:t>个</a:t>
            </a:r>
            <a:r>
              <a:rPr lang="en-US" altLang="zh-CN" dirty="0"/>
              <a:t>5</a:t>
            </a:r>
            <a:r>
              <a:rPr lang="zh-CN" altLang="en-US" dirty="0"/>
              <a:t>角或</a:t>
            </a:r>
            <a:r>
              <a:rPr lang="en-US" altLang="zh-CN" dirty="0"/>
              <a:t>1</a:t>
            </a:r>
            <a:r>
              <a:rPr lang="zh-CN" altLang="en-US" dirty="0"/>
              <a:t>个</a:t>
            </a:r>
            <a:r>
              <a:rPr lang="en-US" altLang="zh-CN" dirty="0"/>
              <a:t>1</a:t>
            </a:r>
            <a:r>
              <a:rPr lang="zh-CN" altLang="en-US" dirty="0"/>
              <a:t>元和</a:t>
            </a:r>
            <a:r>
              <a:rPr lang="en-US" altLang="zh-CN" dirty="0"/>
              <a:t>2</a:t>
            </a:r>
            <a:r>
              <a:rPr lang="zh-CN" altLang="en-US" dirty="0"/>
              <a:t>个</a:t>
            </a:r>
            <a:r>
              <a:rPr lang="en-US" altLang="zh-CN" dirty="0"/>
              <a:t>5</a:t>
            </a:r>
            <a:r>
              <a:rPr lang="zh-CN" altLang="en-US" dirty="0"/>
              <a:t>角的硬币后的状态</a:t>
            </a:r>
          </a:p>
          <a:p>
            <a:r>
              <a:rPr lang="zh-CN" altLang="en-US" dirty="0"/>
              <a:t>需要</a:t>
            </a:r>
            <a:r>
              <a:rPr lang="en-US" altLang="zh-CN" dirty="0"/>
              <a:t>0.5</a:t>
            </a:r>
            <a:r>
              <a:rPr lang="zh-CN" altLang="en-US" dirty="0"/>
              <a:t>元</a:t>
            </a:r>
            <a:r>
              <a:rPr lang="en-US" altLang="zh-CN" dirty="0"/>
              <a:t>: </a:t>
            </a:r>
            <a:r>
              <a:rPr lang="zh-CN" altLang="en-US" dirty="0"/>
              <a:t>已投入</a:t>
            </a:r>
            <a:r>
              <a:rPr lang="en-US" altLang="zh-CN" dirty="0"/>
              <a:t>5</a:t>
            </a:r>
            <a:r>
              <a:rPr lang="zh-CN" altLang="en-US" dirty="0"/>
              <a:t>个</a:t>
            </a:r>
            <a:r>
              <a:rPr lang="en-US" altLang="zh-CN" dirty="0"/>
              <a:t>5</a:t>
            </a:r>
            <a:r>
              <a:rPr lang="zh-CN" altLang="en-US" dirty="0"/>
              <a:t>角或</a:t>
            </a:r>
            <a:r>
              <a:rPr lang="en-US" altLang="zh-CN" dirty="0"/>
              <a:t>3</a:t>
            </a:r>
            <a:r>
              <a:rPr lang="zh-CN" altLang="en-US" dirty="0"/>
              <a:t>个</a:t>
            </a:r>
            <a:r>
              <a:rPr lang="en-US" altLang="zh-CN" dirty="0"/>
              <a:t>5</a:t>
            </a:r>
            <a:r>
              <a:rPr lang="zh-CN" altLang="en-US" dirty="0"/>
              <a:t>角和</a:t>
            </a:r>
            <a:r>
              <a:rPr lang="en-US" altLang="zh-CN" dirty="0"/>
              <a:t>1</a:t>
            </a:r>
            <a:r>
              <a:rPr lang="zh-CN" altLang="en-US" dirty="0"/>
              <a:t>个</a:t>
            </a:r>
            <a:r>
              <a:rPr lang="en-US" altLang="zh-CN" dirty="0"/>
              <a:t>1</a:t>
            </a:r>
            <a:r>
              <a:rPr lang="zh-CN" altLang="en-US" dirty="0"/>
              <a:t>元或</a:t>
            </a:r>
            <a:r>
              <a:rPr lang="en-US" altLang="zh-CN" dirty="0"/>
              <a:t>1</a:t>
            </a:r>
            <a:r>
              <a:rPr lang="zh-CN" altLang="en-US" dirty="0"/>
              <a:t>个</a:t>
            </a:r>
            <a:r>
              <a:rPr lang="en-US" altLang="zh-CN" dirty="0"/>
              <a:t>5</a:t>
            </a:r>
            <a:r>
              <a:rPr lang="zh-CN" altLang="en-US" dirty="0"/>
              <a:t>角和</a:t>
            </a:r>
            <a:r>
              <a:rPr lang="en-US" altLang="zh-CN" dirty="0"/>
              <a:t>2</a:t>
            </a:r>
            <a:r>
              <a:rPr lang="zh-CN" altLang="en-US" dirty="0"/>
              <a:t>个</a:t>
            </a:r>
            <a:r>
              <a:rPr lang="en-US" altLang="zh-CN" dirty="0"/>
              <a:t>1</a:t>
            </a:r>
            <a:r>
              <a:rPr lang="zh-CN" altLang="en-US" dirty="0"/>
              <a:t>元硬币后的状态</a:t>
            </a:r>
          </a:p>
          <a:p>
            <a:r>
              <a:rPr lang="zh-CN" altLang="en-US" dirty="0"/>
              <a:t>需要</a:t>
            </a:r>
            <a:r>
              <a:rPr lang="en-US" altLang="zh-CN" dirty="0"/>
              <a:t>0</a:t>
            </a:r>
            <a:r>
              <a:rPr lang="zh-CN" altLang="en-US" dirty="0"/>
              <a:t>元</a:t>
            </a:r>
            <a:r>
              <a:rPr lang="en-US" altLang="zh-CN" dirty="0"/>
              <a:t>: </a:t>
            </a:r>
            <a:r>
              <a:rPr lang="zh-CN" altLang="en-US" dirty="0"/>
              <a:t>表示已投入至少</a:t>
            </a:r>
            <a:r>
              <a:rPr lang="en-US" altLang="zh-CN" dirty="0"/>
              <a:t>3</a:t>
            </a:r>
            <a:r>
              <a:rPr lang="zh-CN" altLang="en-US" dirty="0"/>
              <a:t>元的硬币，可以购买可乐了</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29</a:t>
            </a:fld>
            <a:endParaRPr lang="zh-CN" altLang="en-US"/>
          </a:p>
        </p:txBody>
      </p:sp>
    </p:spTree>
    <p:extLst>
      <p:ext uri="{BB962C8B-B14F-4D97-AF65-F5344CB8AC3E}">
        <p14:creationId xmlns:p14="http://schemas.microsoft.com/office/powerpoint/2010/main" val="40264994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3.9</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3.13 </a:t>
            </a:r>
            <a:r>
              <a:rPr lang="zh-CN" altLang="zh-CN" sz="1200" kern="1200" dirty="0">
                <a:solidFill>
                  <a:schemeClr val="tx1"/>
                </a:solidFill>
                <a:effectLst/>
                <a:latin typeface="+mn-lt"/>
                <a:ea typeface="+mn-ea"/>
                <a:cs typeface="+mn-cs"/>
              </a:rPr>
              <a:t>是识别所有与词法单元</a:t>
            </a:r>
            <a:r>
              <a:rPr lang="en-US" altLang="zh-CN" sz="1200" kern="1200" dirty="0" err="1">
                <a:solidFill>
                  <a:schemeClr val="tx1"/>
                </a:solidFill>
                <a:effectLst/>
                <a:latin typeface="+mn-lt"/>
                <a:ea typeface="+mn-ea"/>
                <a:cs typeface="+mn-cs"/>
              </a:rPr>
              <a:t>relop</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匹配的词素的状态转换图。</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30</a:t>
            </a:fld>
            <a:endParaRPr lang="zh-CN" altLang="en-US"/>
          </a:p>
        </p:txBody>
      </p:sp>
    </p:spTree>
    <p:extLst>
      <p:ext uri="{BB962C8B-B14F-4D97-AF65-F5344CB8AC3E}">
        <p14:creationId xmlns:p14="http://schemas.microsoft.com/office/powerpoint/2010/main" val="34305058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某些状态称为接受状态或最终状态。这些状态表明已找到了一个词素，尽管实际的词素可能并不包含</a:t>
            </a:r>
            <a:r>
              <a:rPr lang="en-US" altLang="zh-CN" sz="1200" kern="1200" dirty="0" err="1">
                <a:solidFill>
                  <a:schemeClr val="tx1"/>
                </a:solidFill>
                <a:effectLst/>
                <a:latin typeface="+mn-lt"/>
                <a:ea typeface="+mn-ea"/>
                <a:cs typeface="+mn-cs"/>
              </a:rPr>
              <a:t>lexemeBegin</a:t>
            </a:r>
            <a:r>
              <a:rPr lang="zh-CN" altLang="zh-CN" sz="1200" kern="1200" dirty="0">
                <a:solidFill>
                  <a:schemeClr val="tx1"/>
                </a:solidFill>
                <a:effectLst/>
                <a:latin typeface="+mn-lt"/>
                <a:ea typeface="+mn-ea"/>
                <a:cs typeface="+mn-cs"/>
              </a:rPr>
              <a:t>指针和</a:t>
            </a:r>
            <a:r>
              <a:rPr lang="en-US" altLang="zh-CN" sz="1200" kern="1200" dirty="0">
                <a:solidFill>
                  <a:schemeClr val="tx1"/>
                </a:solidFill>
                <a:effectLst/>
                <a:latin typeface="+mn-lt"/>
                <a:ea typeface="+mn-ea"/>
                <a:cs typeface="+mn-cs"/>
              </a:rPr>
              <a:t>forward</a:t>
            </a:r>
            <a:r>
              <a:rPr lang="zh-CN" altLang="zh-CN" sz="1200" kern="1200" dirty="0">
                <a:solidFill>
                  <a:schemeClr val="tx1"/>
                </a:solidFill>
                <a:effectLst/>
                <a:latin typeface="+mn-lt"/>
                <a:ea typeface="+mn-ea"/>
                <a:cs typeface="+mn-cs"/>
              </a:rPr>
              <a:t>指针之间的所有字符。我们一直用双圆圈表示一个接受状态，并且如果该状态要执行一个动作的话——通常会向语法分析器返回一个词法单元和相关的属性值——我们将把该行动附加到该接受状态上。 </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另外，如果需要将</a:t>
            </a:r>
            <a:r>
              <a:rPr lang="en-US" altLang="zh-CN" sz="1200" kern="1200" dirty="0">
                <a:solidFill>
                  <a:schemeClr val="tx1"/>
                </a:solidFill>
                <a:effectLst/>
                <a:latin typeface="+mn-lt"/>
                <a:ea typeface="+mn-ea"/>
                <a:cs typeface="+mn-cs"/>
              </a:rPr>
              <a:t>forward</a:t>
            </a:r>
            <a:r>
              <a:rPr lang="zh-CN" altLang="zh-CN" sz="1200" kern="1200" dirty="0">
                <a:solidFill>
                  <a:schemeClr val="tx1"/>
                </a:solidFill>
                <a:effectLst/>
                <a:latin typeface="+mn-lt"/>
                <a:ea typeface="+mn-ea"/>
                <a:cs typeface="+mn-cs"/>
              </a:rPr>
              <a:t>指针回退一个位置（即相应的词素并不包含那个在最后一步使我们到达接受状态的符号），那么我们将在该接受状态的附近加上</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。在我们的示例中，不需要将</a:t>
            </a:r>
            <a:r>
              <a:rPr lang="en-US" altLang="zh-CN" sz="1200" kern="1200" dirty="0">
                <a:solidFill>
                  <a:schemeClr val="tx1"/>
                </a:solidFill>
                <a:effectLst/>
                <a:latin typeface="+mn-lt"/>
                <a:ea typeface="+mn-ea"/>
                <a:cs typeface="+mn-cs"/>
              </a:rPr>
              <a:t>forward</a:t>
            </a:r>
            <a:r>
              <a:rPr lang="zh-CN" altLang="zh-CN" sz="1200" kern="1200" dirty="0">
                <a:solidFill>
                  <a:schemeClr val="tx1"/>
                </a:solidFill>
                <a:effectLst/>
                <a:latin typeface="+mn-lt"/>
                <a:ea typeface="+mn-ea"/>
                <a:cs typeface="+mn-cs"/>
              </a:rPr>
              <a:t>指针回退多个位置，但如果需要，我们可以将接受状态附加相应数目的</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指定一个状态为开始状态，或初始状态；该状态由一条没有出发结点的、标号为“</a:t>
            </a:r>
            <a:r>
              <a:rPr lang="en-US" altLang="zh-CN" sz="1200" kern="1200" dirty="0">
                <a:solidFill>
                  <a:schemeClr val="tx1"/>
                </a:solidFill>
                <a:effectLst/>
                <a:latin typeface="+mn-lt"/>
                <a:ea typeface="+mn-ea"/>
                <a:cs typeface="+mn-cs"/>
              </a:rPr>
              <a:t>start</a:t>
            </a:r>
            <a:r>
              <a:rPr lang="zh-CN" altLang="zh-CN" sz="1200" kern="1200" dirty="0">
                <a:solidFill>
                  <a:schemeClr val="tx1"/>
                </a:solidFill>
                <a:effectLst/>
                <a:latin typeface="+mn-lt"/>
                <a:ea typeface="+mn-ea"/>
                <a:cs typeface="+mn-cs"/>
              </a:rPr>
              <a:t>”，的边指明。在读入任何输入符号之前，状态转换图总是从开始状态开始。</a:t>
            </a: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我们从初始状态</a:t>
            </a:r>
            <a:r>
              <a:rPr lang="en-US" altLang="zh-CN" sz="1200" kern="1200" dirty="0">
                <a:solidFill>
                  <a:schemeClr val="tx1"/>
                </a:solidFill>
                <a:effectLst/>
                <a:latin typeface="+mn-lt"/>
                <a:ea typeface="+mn-ea"/>
                <a:cs typeface="+mn-cs"/>
              </a:rPr>
              <a:t> 0 </a:t>
            </a:r>
            <a:r>
              <a:rPr lang="zh-CN" altLang="zh-CN" sz="1200" kern="1200" dirty="0">
                <a:solidFill>
                  <a:schemeClr val="tx1"/>
                </a:solidFill>
                <a:effectLst/>
                <a:latin typeface="+mn-lt"/>
                <a:ea typeface="+mn-ea"/>
                <a:cs typeface="+mn-cs"/>
              </a:rPr>
              <a:t>开始，即起始状态。如果我们看到的第一个输入符号是</a:t>
            </a:r>
            <a:r>
              <a:rPr lang="en-US" altLang="zh-CN" sz="1200" kern="1200" dirty="0">
                <a:solidFill>
                  <a:schemeClr val="tx1"/>
                </a:solidFill>
                <a:effectLst/>
                <a:latin typeface="+mn-lt"/>
                <a:ea typeface="+mn-ea"/>
                <a:cs typeface="+mn-cs"/>
              </a:rPr>
              <a:t> &lt;</a:t>
            </a:r>
            <a:r>
              <a:rPr lang="zh-CN" altLang="zh-CN" sz="1200" kern="1200" dirty="0">
                <a:solidFill>
                  <a:schemeClr val="tx1"/>
                </a:solidFill>
                <a:effectLst/>
                <a:latin typeface="+mn-lt"/>
                <a:ea typeface="+mn-ea"/>
                <a:cs typeface="+mn-cs"/>
              </a:rPr>
              <a:t>，那么在所有与</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relop</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模式匹配的词素中，我们只能选择</a:t>
            </a:r>
            <a:r>
              <a:rPr lang="en-US" altLang="zh-CN" sz="1200" kern="1200" dirty="0">
                <a:solidFill>
                  <a:schemeClr val="tx1"/>
                </a:solidFill>
                <a:effectLst/>
                <a:latin typeface="+mn-lt"/>
                <a:ea typeface="+mn-ea"/>
                <a:cs typeface="+mn-cs"/>
              </a:rPr>
              <a:t> &lt;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&lt;&gt;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&lt;=</a:t>
            </a:r>
            <a:r>
              <a:rPr lang="zh-CN" altLang="zh-CN" sz="1200" kern="1200" dirty="0">
                <a:solidFill>
                  <a:schemeClr val="tx1"/>
                </a:solidFill>
                <a:effectLst/>
                <a:latin typeface="+mn-lt"/>
                <a:ea typeface="+mn-ea"/>
                <a:cs typeface="+mn-cs"/>
              </a:rPr>
              <a:t>。因此，我们进入状态</a:t>
            </a:r>
            <a:r>
              <a:rPr lang="en-US" altLang="zh-CN" sz="1200" kern="1200" dirty="0">
                <a:solidFill>
                  <a:schemeClr val="tx1"/>
                </a:solidFill>
                <a:effectLst/>
                <a:latin typeface="+mn-lt"/>
                <a:ea typeface="+mn-ea"/>
                <a:cs typeface="+mn-cs"/>
              </a:rPr>
              <a:t> 1</a:t>
            </a:r>
            <a:r>
              <a:rPr lang="zh-CN" altLang="zh-CN" sz="1200" kern="1200" dirty="0">
                <a:solidFill>
                  <a:schemeClr val="tx1"/>
                </a:solidFill>
                <a:effectLst/>
                <a:latin typeface="+mn-lt"/>
                <a:ea typeface="+mn-ea"/>
                <a:cs typeface="+mn-cs"/>
              </a:rPr>
              <a:t>，并查看下一个字符。如果是</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，那么我们识别出词素</a:t>
            </a:r>
            <a:r>
              <a:rPr lang="en-US" altLang="zh-CN" sz="1200" kern="1200" dirty="0">
                <a:solidFill>
                  <a:schemeClr val="tx1"/>
                </a:solidFill>
                <a:effectLst/>
                <a:latin typeface="+mn-lt"/>
                <a:ea typeface="+mn-ea"/>
                <a:cs typeface="+mn-cs"/>
              </a:rPr>
              <a:t>&lt;=</a:t>
            </a:r>
            <a:r>
              <a:rPr lang="zh-CN" altLang="zh-CN" sz="1200" kern="1200" dirty="0">
                <a:solidFill>
                  <a:schemeClr val="tx1"/>
                </a:solidFill>
                <a:effectLst/>
                <a:latin typeface="+mn-lt"/>
                <a:ea typeface="+mn-ea"/>
                <a:cs typeface="+mn-cs"/>
              </a:rPr>
              <a:t>，进入状态</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，并返回带有属性值为</a:t>
            </a:r>
            <a:r>
              <a:rPr lang="en-US" altLang="zh-CN" sz="1200" kern="1200" dirty="0">
                <a:solidFill>
                  <a:schemeClr val="tx1"/>
                </a:solidFill>
                <a:effectLst/>
                <a:latin typeface="+mn-lt"/>
                <a:ea typeface="+mn-ea"/>
                <a:cs typeface="+mn-cs"/>
              </a:rPr>
              <a:t>LE</a:t>
            </a:r>
            <a:r>
              <a:rPr lang="zh-CN" altLang="zh-CN" sz="1200" kern="1200" dirty="0">
                <a:solidFill>
                  <a:schemeClr val="tx1"/>
                </a:solidFill>
                <a:effectLst/>
                <a:latin typeface="+mn-lt"/>
                <a:ea typeface="+mn-ea"/>
                <a:cs typeface="+mn-cs"/>
              </a:rPr>
              <a:t>的</a:t>
            </a:r>
            <a:r>
              <a:rPr lang="en-US" altLang="zh-CN" sz="1200" kern="1200" dirty="0" err="1">
                <a:solidFill>
                  <a:schemeClr val="tx1"/>
                </a:solidFill>
                <a:effectLst/>
                <a:latin typeface="+mn-lt"/>
                <a:ea typeface="+mn-ea"/>
                <a:cs typeface="+mn-cs"/>
              </a:rPr>
              <a:t>relop</a:t>
            </a:r>
            <a:r>
              <a:rPr lang="zh-CN" altLang="zh-CN" sz="1200" kern="1200" dirty="0">
                <a:solidFill>
                  <a:schemeClr val="tx1"/>
                </a:solidFill>
                <a:effectLst/>
                <a:latin typeface="+mn-lt"/>
                <a:ea typeface="+mn-ea"/>
                <a:cs typeface="+mn-cs"/>
              </a:rPr>
              <a:t>词法单元。其中符号常量</a:t>
            </a:r>
            <a:r>
              <a:rPr lang="en-US" altLang="zh-CN" sz="1200" kern="1200" dirty="0">
                <a:solidFill>
                  <a:schemeClr val="tx1"/>
                </a:solidFill>
                <a:effectLst/>
                <a:latin typeface="+mn-lt"/>
                <a:ea typeface="+mn-ea"/>
                <a:cs typeface="+mn-cs"/>
              </a:rPr>
              <a:t>LE</a:t>
            </a:r>
            <a:r>
              <a:rPr lang="zh-CN" altLang="zh-CN" sz="1200" kern="1200" dirty="0">
                <a:solidFill>
                  <a:schemeClr val="tx1"/>
                </a:solidFill>
                <a:effectLst/>
                <a:latin typeface="+mn-lt"/>
                <a:ea typeface="+mn-ea"/>
                <a:cs typeface="+mn-cs"/>
              </a:rPr>
              <a:t>代表了这个具体的比较运算符。如果在状态</a:t>
            </a:r>
            <a:r>
              <a:rPr lang="en-US" altLang="zh-CN" sz="1200" kern="1200" dirty="0">
                <a:solidFill>
                  <a:schemeClr val="tx1"/>
                </a:solidFill>
                <a:effectLst/>
                <a:latin typeface="+mn-lt"/>
                <a:ea typeface="+mn-ea"/>
                <a:cs typeface="+mn-cs"/>
              </a:rPr>
              <a:t> 1 </a:t>
            </a:r>
            <a:r>
              <a:rPr lang="zh-CN" altLang="zh-CN" sz="1200" kern="1200" dirty="0">
                <a:solidFill>
                  <a:schemeClr val="tx1"/>
                </a:solidFill>
                <a:effectLst/>
                <a:latin typeface="+mn-lt"/>
                <a:ea typeface="+mn-ea"/>
                <a:cs typeface="+mn-cs"/>
              </a:rPr>
              <a:t>中下一个字符是</a:t>
            </a:r>
            <a:r>
              <a:rPr lang="en-US" altLang="zh-CN" sz="1200" kern="1200" dirty="0">
                <a:solidFill>
                  <a:schemeClr val="tx1"/>
                </a:solidFill>
                <a:effectLst/>
                <a:latin typeface="+mn-lt"/>
                <a:ea typeface="+mn-ea"/>
                <a:cs typeface="+mn-cs"/>
              </a:rPr>
              <a:t> &gt;</a:t>
            </a:r>
            <a:r>
              <a:rPr lang="zh-CN" altLang="zh-CN" sz="1200" kern="1200" dirty="0">
                <a:solidFill>
                  <a:schemeClr val="tx1"/>
                </a:solidFill>
                <a:effectLst/>
                <a:latin typeface="+mn-lt"/>
                <a:ea typeface="+mn-ea"/>
                <a:cs typeface="+mn-cs"/>
              </a:rPr>
              <a:t>，则我们得到词素</a:t>
            </a:r>
            <a:r>
              <a:rPr lang="en-US" altLang="zh-CN" sz="1200" kern="1200" dirty="0">
                <a:solidFill>
                  <a:schemeClr val="tx1"/>
                </a:solidFill>
                <a:effectLst/>
                <a:latin typeface="+mn-lt"/>
                <a:ea typeface="+mn-ea"/>
                <a:cs typeface="+mn-cs"/>
              </a:rPr>
              <a:t> &lt;&gt;</a:t>
            </a:r>
            <a:r>
              <a:rPr lang="zh-CN" altLang="zh-CN" sz="1200" kern="1200" dirty="0">
                <a:solidFill>
                  <a:schemeClr val="tx1"/>
                </a:solidFill>
                <a:effectLst/>
                <a:latin typeface="+mn-lt"/>
                <a:ea typeface="+mn-ea"/>
                <a:cs typeface="+mn-cs"/>
              </a:rPr>
              <a:t>，从而进入状态</a:t>
            </a:r>
            <a:r>
              <a:rPr lang="en-US" altLang="zh-CN" sz="1200" kern="1200" dirty="0">
                <a:solidFill>
                  <a:schemeClr val="tx1"/>
                </a:solidFill>
                <a:effectLst/>
                <a:latin typeface="+mn-lt"/>
                <a:ea typeface="+mn-ea"/>
                <a:cs typeface="+mn-cs"/>
              </a:rPr>
              <a:t> 3 </a:t>
            </a:r>
            <a:r>
              <a:rPr lang="zh-CN" altLang="zh-CN" sz="1200" kern="1200" dirty="0">
                <a:solidFill>
                  <a:schemeClr val="tx1"/>
                </a:solidFill>
                <a:effectLst/>
                <a:latin typeface="+mn-lt"/>
                <a:ea typeface="+mn-ea"/>
                <a:cs typeface="+mn-cs"/>
              </a:rPr>
              <a:t>并返回一个词法单元，表明已经找到一个不等于运算符。对于任何其他字符，识别得到的词素为</a:t>
            </a:r>
            <a:r>
              <a:rPr lang="en-US" altLang="zh-CN" sz="1200" kern="1200" dirty="0">
                <a:solidFill>
                  <a:schemeClr val="tx1"/>
                </a:solidFill>
                <a:effectLst/>
                <a:latin typeface="+mn-lt"/>
                <a:ea typeface="+mn-ea"/>
                <a:cs typeface="+mn-cs"/>
              </a:rPr>
              <a:t> &lt;</a:t>
            </a:r>
            <a:r>
              <a:rPr lang="zh-CN" altLang="zh-CN" sz="1200" kern="1200" dirty="0">
                <a:solidFill>
                  <a:schemeClr val="tx1"/>
                </a:solidFill>
                <a:effectLst/>
                <a:latin typeface="+mn-lt"/>
                <a:ea typeface="+mn-ea"/>
                <a:cs typeface="+mn-cs"/>
              </a:rPr>
              <a:t>，我们进入状态</a:t>
            </a:r>
            <a:r>
              <a:rPr lang="en-US" altLang="zh-CN" sz="1200" kern="1200" dirty="0">
                <a:solidFill>
                  <a:schemeClr val="tx1"/>
                </a:solidFill>
                <a:effectLst/>
                <a:latin typeface="+mn-lt"/>
                <a:ea typeface="+mn-ea"/>
                <a:cs typeface="+mn-cs"/>
              </a:rPr>
              <a:t> 4</a:t>
            </a:r>
            <a:r>
              <a:rPr lang="zh-CN" altLang="zh-CN" sz="1200" kern="1200" dirty="0">
                <a:solidFill>
                  <a:schemeClr val="tx1"/>
                </a:solidFill>
                <a:effectLst/>
                <a:latin typeface="+mn-lt"/>
                <a:ea typeface="+mn-ea"/>
                <a:cs typeface="+mn-cs"/>
              </a:rPr>
              <a:t>并向语法分析器返回这个信息。但请注意，状态</a:t>
            </a:r>
            <a:r>
              <a:rPr lang="en-US" altLang="zh-CN" sz="1200" kern="1200" dirty="0">
                <a:solidFill>
                  <a:schemeClr val="tx1"/>
                </a:solidFill>
                <a:effectLst/>
                <a:latin typeface="+mn-lt"/>
                <a:ea typeface="+mn-ea"/>
                <a:cs typeface="+mn-cs"/>
              </a:rPr>
              <a:t> 4 </a:t>
            </a:r>
            <a:r>
              <a:rPr lang="zh-CN" altLang="zh-CN" sz="1200" kern="1200" dirty="0">
                <a:solidFill>
                  <a:schemeClr val="tx1"/>
                </a:solidFill>
                <a:effectLst/>
                <a:latin typeface="+mn-lt"/>
                <a:ea typeface="+mn-ea"/>
                <a:cs typeface="+mn-cs"/>
              </a:rPr>
              <a:t>具有一个</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号，说明我们必须将输入回退一个位置。</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另一方面，如果在状态</a:t>
            </a:r>
            <a:r>
              <a:rPr lang="en-US" altLang="zh-CN" sz="1200" kern="1200" dirty="0">
                <a:solidFill>
                  <a:schemeClr val="tx1"/>
                </a:solidFill>
                <a:effectLst/>
                <a:latin typeface="+mn-lt"/>
                <a:ea typeface="+mn-ea"/>
                <a:cs typeface="+mn-cs"/>
              </a:rPr>
              <a:t> 0 </a:t>
            </a:r>
            <a:r>
              <a:rPr lang="zh-CN" altLang="zh-CN" sz="1200" kern="1200" dirty="0">
                <a:solidFill>
                  <a:schemeClr val="tx1"/>
                </a:solidFill>
                <a:effectLst/>
                <a:latin typeface="+mn-lt"/>
                <a:ea typeface="+mn-ea"/>
                <a:cs typeface="+mn-cs"/>
              </a:rPr>
              <a:t>中我们看到的第一个字符是</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，那么这个字符一定是要识别的词素。我们立即从状态</a:t>
            </a:r>
            <a:r>
              <a:rPr lang="en-US" altLang="zh-CN" sz="1200" kern="1200" dirty="0">
                <a:solidFill>
                  <a:schemeClr val="tx1"/>
                </a:solidFill>
                <a:effectLst/>
                <a:latin typeface="+mn-lt"/>
                <a:ea typeface="+mn-ea"/>
                <a:cs typeface="+mn-cs"/>
              </a:rPr>
              <a:t> 5 </a:t>
            </a:r>
            <a:r>
              <a:rPr lang="zh-CN" altLang="zh-CN" sz="1200" kern="1200" dirty="0">
                <a:solidFill>
                  <a:schemeClr val="tx1"/>
                </a:solidFill>
                <a:effectLst/>
                <a:latin typeface="+mn-lt"/>
                <a:ea typeface="+mn-ea"/>
                <a:cs typeface="+mn-cs"/>
              </a:rPr>
              <a:t>返回该信息。其余的可能性是第一个字符是</a:t>
            </a:r>
            <a:r>
              <a:rPr lang="en-US" altLang="zh-CN" sz="1200" kern="1200" dirty="0">
                <a:solidFill>
                  <a:schemeClr val="tx1"/>
                </a:solidFill>
                <a:effectLst/>
                <a:latin typeface="+mn-lt"/>
                <a:ea typeface="+mn-ea"/>
                <a:cs typeface="+mn-cs"/>
              </a:rPr>
              <a:t> &gt;</a:t>
            </a:r>
            <a:r>
              <a:rPr lang="zh-CN" altLang="zh-CN" sz="1200" kern="1200" dirty="0">
                <a:solidFill>
                  <a:schemeClr val="tx1"/>
                </a:solidFill>
                <a:effectLst/>
                <a:latin typeface="+mn-lt"/>
                <a:ea typeface="+mn-ea"/>
                <a:cs typeface="+mn-cs"/>
              </a:rPr>
              <a:t>的情况。那么，我们应该进入状态</a:t>
            </a:r>
            <a:r>
              <a:rPr lang="en-US" altLang="zh-CN" sz="1200" kern="1200" dirty="0">
                <a:solidFill>
                  <a:schemeClr val="tx1"/>
                </a:solidFill>
                <a:effectLst/>
                <a:latin typeface="+mn-lt"/>
                <a:ea typeface="+mn-ea"/>
                <a:cs typeface="+mn-cs"/>
              </a:rPr>
              <a:t> 6</a:t>
            </a:r>
            <a:r>
              <a:rPr lang="zh-CN" altLang="zh-CN" sz="1200" kern="1200" dirty="0">
                <a:solidFill>
                  <a:schemeClr val="tx1"/>
                </a:solidFill>
                <a:effectLst/>
                <a:latin typeface="+mn-lt"/>
                <a:ea typeface="+mn-ea"/>
                <a:cs typeface="+mn-cs"/>
              </a:rPr>
              <a:t>，并根据下一个字符决定词素是</a:t>
            </a:r>
            <a:r>
              <a:rPr lang="en-US" altLang="zh-CN" sz="1200" kern="1200" dirty="0">
                <a:solidFill>
                  <a:schemeClr val="tx1"/>
                </a:solidFill>
                <a:effectLst/>
                <a:latin typeface="+mn-lt"/>
                <a:ea typeface="+mn-ea"/>
                <a:cs typeface="+mn-cs"/>
              </a:rPr>
              <a:t> &gt;=</a:t>
            </a:r>
            <a:r>
              <a:rPr lang="zh-CN" altLang="zh-CN" sz="1200" kern="1200" dirty="0">
                <a:solidFill>
                  <a:schemeClr val="tx1"/>
                </a:solidFill>
                <a:effectLst/>
                <a:latin typeface="+mn-lt"/>
                <a:ea typeface="+mn-ea"/>
                <a:cs typeface="+mn-cs"/>
              </a:rPr>
              <a:t>（如果我们接下来看到的符号为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），还是只是</a:t>
            </a:r>
            <a:r>
              <a:rPr lang="en-US" altLang="zh-CN" sz="1200" kern="1200" dirty="0">
                <a:solidFill>
                  <a:schemeClr val="tx1"/>
                </a:solidFill>
                <a:effectLst/>
                <a:latin typeface="+mn-lt"/>
                <a:ea typeface="+mn-ea"/>
                <a:cs typeface="+mn-cs"/>
              </a:rPr>
              <a:t> &gt;</a:t>
            </a:r>
            <a:r>
              <a:rPr lang="zh-CN" altLang="zh-CN" sz="1200" kern="1200" dirty="0">
                <a:solidFill>
                  <a:schemeClr val="tx1"/>
                </a:solidFill>
                <a:effectLst/>
                <a:latin typeface="+mn-lt"/>
                <a:ea typeface="+mn-ea"/>
                <a:cs typeface="+mn-cs"/>
              </a:rPr>
              <a:t>（对于任何其他字符）。请注意，在状态</a:t>
            </a:r>
            <a:r>
              <a:rPr lang="en-US" altLang="zh-CN" sz="1200" kern="1200" dirty="0">
                <a:solidFill>
                  <a:schemeClr val="tx1"/>
                </a:solidFill>
                <a:effectLst/>
                <a:latin typeface="+mn-lt"/>
                <a:ea typeface="+mn-ea"/>
                <a:cs typeface="+mn-cs"/>
              </a:rPr>
              <a:t> 0 </a:t>
            </a:r>
            <a:r>
              <a:rPr lang="zh-CN" altLang="zh-CN" sz="1200" kern="1200" dirty="0">
                <a:solidFill>
                  <a:schemeClr val="tx1"/>
                </a:solidFill>
                <a:effectLst/>
                <a:latin typeface="+mn-lt"/>
                <a:ea typeface="+mn-ea"/>
                <a:cs typeface="+mn-cs"/>
              </a:rPr>
              <a:t>中，如果我们看到的是不同于</a:t>
            </a:r>
            <a:r>
              <a:rPr lang="en-US" altLang="zh-CN" sz="1200" kern="1200" dirty="0">
                <a:solidFill>
                  <a:schemeClr val="tx1"/>
                </a:solidFill>
                <a:effectLst/>
                <a:latin typeface="+mn-lt"/>
                <a:ea typeface="+mn-ea"/>
                <a:cs typeface="+mn-cs"/>
              </a:rPr>
              <a:t> &lt;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&gt;</a:t>
            </a:r>
            <a:r>
              <a:rPr lang="zh-CN" altLang="zh-CN" sz="1200" kern="1200" dirty="0">
                <a:solidFill>
                  <a:schemeClr val="tx1"/>
                </a:solidFill>
                <a:effectLst/>
                <a:latin typeface="+mn-lt"/>
                <a:ea typeface="+mn-ea"/>
                <a:cs typeface="+mn-cs"/>
              </a:rPr>
              <a:t>的任何字符，我们就不可能看到一个</a:t>
            </a:r>
            <a:r>
              <a:rPr lang="en-US" altLang="zh-CN" sz="1200" kern="1200" dirty="0" err="1">
                <a:solidFill>
                  <a:schemeClr val="tx1"/>
                </a:solidFill>
                <a:effectLst/>
                <a:latin typeface="+mn-lt"/>
                <a:ea typeface="+mn-ea"/>
                <a:cs typeface="+mn-cs"/>
              </a:rPr>
              <a:t>relop</a:t>
            </a:r>
            <a:r>
              <a:rPr lang="zh-CN" altLang="zh-CN" sz="1200" kern="1200" dirty="0">
                <a:solidFill>
                  <a:schemeClr val="tx1"/>
                </a:solidFill>
                <a:effectLst/>
                <a:latin typeface="+mn-lt"/>
                <a:ea typeface="+mn-ea"/>
                <a:cs typeface="+mn-cs"/>
              </a:rPr>
              <a:t>词素，因此这个状态转换图将不会被使用。</a:t>
            </a:r>
          </a:p>
          <a:p>
            <a:endParaRPr lang="zh-CN" altLang="zh-CN" sz="1200" kern="1200" dirty="0">
              <a:solidFill>
                <a:schemeClr val="tx1"/>
              </a:solidFill>
              <a:effectLst/>
              <a:latin typeface="+mn-lt"/>
              <a:ea typeface="+mn-ea"/>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a:t>• 边从一个状态指向另一个状态</a:t>
            </a:r>
          </a:p>
          <a:p>
            <a:r>
              <a:rPr lang="zh-CN" altLang="en-US"/>
              <a:t>• 每条边都由一个或一组符号标记</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识别关键字和标识符时有一个问题要解决。通常，像 </a:t>
            </a:r>
            <a:r>
              <a:rPr lang="en-US" altLang="zh-CN" dirty="0"/>
              <a:t>if </a:t>
            </a:r>
            <a:r>
              <a:rPr lang="zh-CN" altLang="en-US" dirty="0"/>
              <a:t>或 </a:t>
            </a:r>
            <a:r>
              <a:rPr lang="en-US" altLang="zh-CN" dirty="0"/>
              <a:t>then </a:t>
            </a:r>
            <a:r>
              <a:rPr lang="zh-CN" altLang="en-US" dirty="0"/>
              <a:t>这样的关键字是被保留的（正如它们在我们运行的示例中一样），因此它们不是标识符，即使它们看起来像标识符。因此，虽然我们通常使用如图 </a:t>
            </a:r>
            <a:r>
              <a:rPr lang="en-US" altLang="zh-CN" dirty="0"/>
              <a:t>3.14 </a:t>
            </a:r>
            <a:r>
              <a:rPr lang="zh-CN" altLang="en-US" dirty="0"/>
              <a:t>所示的转换图来搜索标识符词素，但该图也可以将识别出连续使用的例子中的关键字 </a:t>
            </a:r>
            <a:r>
              <a:rPr lang="en-US" altLang="zh-CN" dirty="0"/>
              <a:t>if</a:t>
            </a:r>
            <a:r>
              <a:rPr lang="zh-CN" altLang="en-US" dirty="0"/>
              <a:t>、</a:t>
            </a:r>
            <a:r>
              <a:rPr lang="en-US" altLang="zh-CN" dirty="0"/>
              <a:t>then </a:t>
            </a:r>
            <a:r>
              <a:rPr lang="zh-CN" altLang="en-US" dirty="0"/>
              <a:t>和 </a:t>
            </a:r>
            <a:r>
              <a:rPr lang="en-US" altLang="zh-CN" dirty="0"/>
              <a:t>else</a:t>
            </a:r>
            <a:r>
              <a:rPr lang="zh-CN" altLang="en-US" dirty="0"/>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有两种方法可以处理看起来像标识符的保留字：</a:t>
            </a:r>
          </a:p>
          <a:p>
            <a:r>
              <a:rPr lang="en-US" altLang="zh-CN" sz="1200" kern="1200" dirty="0">
                <a:solidFill>
                  <a:schemeClr val="tx1"/>
                </a:solidFill>
                <a:effectLst/>
                <a:latin typeface="+mn-lt"/>
                <a:ea typeface="+mn-ea"/>
                <a:cs typeface="+mn-cs"/>
              </a:rPr>
              <a:t> 1. </a:t>
            </a:r>
            <a:r>
              <a:rPr lang="zh-CN" altLang="zh-CN" sz="1200" kern="1200" dirty="0">
                <a:solidFill>
                  <a:schemeClr val="tx1"/>
                </a:solidFill>
                <a:effectLst/>
                <a:latin typeface="+mn-lt"/>
                <a:ea typeface="+mn-ea"/>
                <a:cs typeface="+mn-cs"/>
              </a:rPr>
              <a:t>首先将保留字安装到符号表中。符号表条目的字段指示这些字符串并不是普通标识符，并指出它们所代表的词法单元。我们假设图</a:t>
            </a:r>
            <a:r>
              <a:rPr lang="en-US" altLang="zh-CN" sz="1200" kern="1200" dirty="0">
                <a:solidFill>
                  <a:schemeClr val="tx1"/>
                </a:solidFill>
                <a:effectLst/>
                <a:latin typeface="+mn-lt"/>
                <a:ea typeface="+mn-ea"/>
                <a:cs typeface="+mn-cs"/>
              </a:rPr>
              <a:t> 3.14 </a:t>
            </a:r>
            <a:r>
              <a:rPr lang="zh-CN" altLang="zh-CN" sz="1200" kern="1200" dirty="0">
                <a:solidFill>
                  <a:schemeClr val="tx1"/>
                </a:solidFill>
                <a:effectLst/>
                <a:latin typeface="+mn-lt"/>
                <a:ea typeface="+mn-ea"/>
                <a:cs typeface="+mn-cs"/>
              </a:rPr>
              <a:t>中使用的是这种方法。当我们找到一个标识符时，对</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installID</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的调用会将其放入符号表（如果符号表尚不存在），并返回一个指针，指向这个刚找到的词素所对应的符号表条目。当然，任何在词法分析时不在符号表中的标识符都不可能是一个保留字，因此它的词法单元是</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。函数</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getToken</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检查对应于刚找到的词素的符号表条目，并根据符号表中的信息返回该词素所代表的词法单元名称——要么是</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，要么是一个在初始化时就被加入到符号表中的关键字词法单元。</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为每个关键词创建单独的转换图；关键字</a:t>
            </a:r>
            <a:r>
              <a:rPr lang="en-US" altLang="zh-CN" sz="1200" kern="1200" dirty="0">
                <a:solidFill>
                  <a:schemeClr val="tx1"/>
                </a:solidFill>
                <a:effectLst/>
                <a:latin typeface="+mn-lt"/>
                <a:ea typeface="+mn-ea"/>
                <a:cs typeface="+mn-cs"/>
              </a:rPr>
              <a:t> then </a:t>
            </a:r>
            <a:r>
              <a:rPr lang="zh-CN" altLang="zh-CN" sz="1200" kern="1200" dirty="0">
                <a:solidFill>
                  <a:schemeClr val="tx1"/>
                </a:solidFill>
                <a:effectLst/>
                <a:latin typeface="+mn-lt"/>
                <a:ea typeface="+mn-ea"/>
                <a:cs typeface="+mn-cs"/>
              </a:rPr>
              <a:t>的示例如图 </a:t>
            </a:r>
            <a:r>
              <a:rPr lang="en-US" altLang="zh-CN" sz="1200" kern="1200" dirty="0">
                <a:solidFill>
                  <a:schemeClr val="tx1"/>
                </a:solidFill>
                <a:effectLst/>
                <a:latin typeface="+mn-lt"/>
                <a:ea typeface="+mn-ea"/>
                <a:cs typeface="+mn-cs"/>
              </a:rPr>
              <a:t>3.15 </a:t>
            </a:r>
            <a:r>
              <a:rPr lang="zh-CN" altLang="zh-CN" sz="1200" kern="1200" dirty="0">
                <a:solidFill>
                  <a:schemeClr val="tx1"/>
                </a:solidFill>
                <a:effectLst/>
                <a:latin typeface="+mn-lt"/>
                <a:ea typeface="+mn-ea"/>
                <a:cs typeface="+mn-cs"/>
              </a:rPr>
              <a:t>所示。请注意，这样的转换图包含的状态表示看到该关键字的各个后续字母后的情况，最后是一个</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非字母或数字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的测试，也就是检查后面是否为某个不可能成为标识符一部分的字符。有必要检查标识符是否已经结束，否则在碰到词素像</a:t>
            </a:r>
            <a:r>
              <a:rPr lang="en-US" altLang="zh-CN" sz="1200" kern="1200" dirty="0" err="1">
                <a:solidFill>
                  <a:schemeClr val="tx1"/>
                </a:solidFill>
                <a:effectLst/>
                <a:latin typeface="+mn-lt"/>
                <a:ea typeface="+mn-ea"/>
                <a:cs typeface="+mn-cs"/>
              </a:rPr>
              <a:t>thenextvalue</a:t>
            </a:r>
            <a:r>
              <a:rPr lang="zh-CN" altLang="zh-CN" sz="1200" kern="1200" dirty="0">
                <a:solidFill>
                  <a:schemeClr val="tx1"/>
                </a:solidFill>
                <a:effectLst/>
                <a:latin typeface="+mn-lt"/>
                <a:ea typeface="+mn-ea"/>
                <a:cs typeface="+mn-cs"/>
              </a:rPr>
              <a:t>这样以</a:t>
            </a:r>
            <a:r>
              <a:rPr lang="en-US" altLang="zh-CN" sz="1200" kern="1200" dirty="0">
                <a:solidFill>
                  <a:schemeClr val="tx1"/>
                </a:solidFill>
                <a:effectLst/>
                <a:latin typeface="+mn-lt"/>
                <a:ea typeface="+mn-ea"/>
                <a:cs typeface="+mn-cs"/>
              </a:rPr>
              <a:t>then</a:t>
            </a:r>
            <a:r>
              <a:rPr lang="zh-CN" altLang="zh-CN" sz="1200" kern="1200" dirty="0">
                <a:solidFill>
                  <a:schemeClr val="tx1"/>
                </a:solidFill>
                <a:effectLst/>
                <a:latin typeface="+mn-lt"/>
                <a:ea typeface="+mn-ea"/>
                <a:cs typeface="+mn-cs"/>
              </a:rPr>
              <a:t>为前缀的</a:t>
            </a:r>
            <a:r>
              <a:rPr lang="en-US" altLang="zh-CN" sz="1200" kern="1200" dirty="0">
                <a:solidFill>
                  <a:schemeClr val="tx1"/>
                </a:solidFill>
                <a:effectLst/>
                <a:latin typeface="+mn-lt"/>
                <a:ea typeface="+mn-ea"/>
                <a:cs typeface="+mn-cs"/>
              </a:rPr>
              <a:t> id</a:t>
            </a:r>
            <a:r>
              <a:rPr lang="zh-CN" altLang="zh-CN" sz="1200" kern="1200" dirty="0">
                <a:solidFill>
                  <a:schemeClr val="tx1"/>
                </a:solidFill>
                <a:effectLst/>
                <a:latin typeface="+mn-lt"/>
                <a:ea typeface="+mn-ea"/>
                <a:cs typeface="+mn-cs"/>
              </a:rPr>
              <a:t>词法单元时，我们可能会错误地返回词法单元</a:t>
            </a:r>
            <a:r>
              <a:rPr lang="en-US" altLang="zh-CN" sz="1200" kern="1200" dirty="0">
                <a:solidFill>
                  <a:schemeClr val="tx1"/>
                </a:solidFill>
                <a:effectLst/>
                <a:latin typeface="+mn-lt"/>
                <a:ea typeface="+mn-ea"/>
                <a:cs typeface="+mn-cs"/>
              </a:rPr>
              <a:t> then</a:t>
            </a:r>
            <a:r>
              <a:rPr lang="zh-CN" altLang="zh-CN" sz="1200" kern="1200" dirty="0">
                <a:solidFill>
                  <a:schemeClr val="tx1"/>
                </a:solidFill>
                <a:effectLst/>
                <a:latin typeface="+mn-lt"/>
                <a:ea typeface="+mn-ea"/>
                <a:cs typeface="+mn-cs"/>
              </a:rPr>
              <a:t>。如果我们采用这种方法，我们必须设定词法单元之间的优先级，使得当一个词素同时匹配</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的模式和关键字的模式时，优先识别保留字词法单元，而不是</a:t>
            </a:r>
            <a:r>
              <a:rPr lang="en-US" altLang="zh-CN" sz="1200" kern="1200" dirty="0">
                <a:solidFill>
                  <a:schemeClr val="tx1"/>
                </a:solidFill>
                <a:effectLst/>
                <a:latin typeface="+mn-lt"/>
                <a:ea typeface="+mn-ea"/>
                <a:cs typeface="+mn-cs"/>
              </a:rPr>
              <a:t> id</a:t>
            </a:r>
            <a:r>
              <a:rPr lang="zh-CN" altLang="zh-CN" sz="1200" kern="1200" dirty="0">
                <a:solidFill>
                  <a:schemeClr val="tx1"/>
                </a:solidFill>
                <a:effectLst/>
                <a:latin typeface="+mn-lt"/>
                <a:ea typeface="+mn-ea"/>
                <a:cs typeface="+mn-cs"/>
              </a:rPr>
              <a:t>词法单元。我们在示例中没有使用这种方法，这也是我们没有对图</a:t>
            </a:r>
            <a:r>
              <a:rPr lang="en-US" altLang="zh-CN" sz="1200" kern="1200" dirty="0">
                <a:solidFill>
                  <a:schemeClr val="tx1"/>
                </a:solidFill>
                <a:effectLst/>
                <a:latin typeface="+mn-lt"/>
                <a:ea typeface="+mn-ea"/>
                <a:cs typeface="+mn-cs"/>
              </a:rPr>
              <a:t> 3.15 </a:t>
            </a:r>
            <a:r>
              <a:rPr lang="zh-CN" altLang="zh-CN" sz="1200" kern="1200" dirty="0">
                <a:solidFill>
                  <a:schemeClr val="tx1"/>
                </a:solidFill>
                <a:effectLst/>
                <a:latin typeface="+mn-lt"/>
                <a:ea typeface="+mn-ea"/>
                <a:cs typeface="+mn-cs"/>
              </a:rPr>
              <a:t>中的状态进行编号的原因。</a:t>
            </a:r>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有多种方法可以一组转换图构建词法分器。无论总体策略如何，每个状态总是对应段代码。我们可以想象一个变量</a:t>
            </a:r>
            <a:r>
              <a:rPr lang="en-US" altLang="zh-CN" sz="1200" kern="1200" dirty="0">
                <a:solidFill>
                  <a:schemeClr val="tx1"/>
                </a:solidFill>
                <a:effectLst/>
                <a:latin typeface="+mn-lt"/>
                <a:ea typeface="+mn-ea"/>
                <a:cs typeface="+mn-cs"/>
              </a:rPr>
              <a:t>state</a:t>
            </a:r>
            <a:r>
              <a:rPr lang="zh-CN" altLang="zh-CN" sz="1200" kern="1200" dirty="0">
                <a:solidFill>
                  <a:schemeClr val="tx1"/>
                </a:solidFill>
                <a:effectLst/>
                <a:latin typeface="+mn-lt"/>
                <a:ea typeface="+mn-ea"/>
                <a:cs typeface="+mn-cs"/>
              </a:rPr>
              <a:t>保存了一个状态转换图的当前状态的编号。</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有一个</a:t>
            </a:r>
            <a:r>
              <a:rPr lang="en-US" altLang="zh-CN" sz="1200" kern="1200" dirty="0">
                <a:solidFill>
                  <a:schemeClr val="tx1"/>
                </a:solidFill>
                <a:effectLst/>
                <a:latin typeface="+mn-lt"/>
                <a:ea typeface="+mn-ea"/>
                <a:cs typeface="+mn-cs"/>
              </a:rPr>
              <a:t>switch</a:t>
            </a:r>
            <a:r>
              <a:rPr lang="zh-CN" altLang="zh-CN" sz="1200" kern="1200" dirty="0">
                <a:solidFill>
                  <a:schemeClr val="tx1"/>
                </a:solidFill>
                <a:effectLst/>
                <a:latin typeface="+mn-lt"/>
                <a:ea typeface="+mn-ea"/>
                <a:cs typeface="+mn-cs"/>
              </a:rPr>
              <a:t>语句根据</a:t>
            </a:r>
            <a:r>
              <a:rPr lang="en-US" altLang="zh-CN" sz="1200" kern="1200" dirty="0">
                <a:solidFill>
                  <a:schemeClr val="tx1"/>
                </a:solidFill>
                <a:effectLst/>
                <a:latin typeface="+mn-lt"/>
                <a:ea typeface="+mn-ea"/>
                <a:cs typeface="+mn-cs"/>
              </a:rPr>
              <a:t>state</a:t>
            </a:r>
            <a:r>
              <a:rPr lang="zh-CN" altLang="zh-CN" sz="1200" kern="1200" dirty="0">
                <a:solidFill>
                  <a:schemeClr val="tx1"/>
                </a:solidFill>
                <a:effectLst/>
                <a:latin typeface="+mn-lt"/>
                <a:ea typeface="+mn-ea"/>
                <a:cs typeface="+mn-cs"/>
              </a:rPr>
              <a:t>的值将我们转到对应于各个可能状态的相应代码段，我们可以在那里找到该状态需要执行的动作。一个状态的代码本身通常也是一个</a:t>
            </a:r>
            <a:r>
              <a:rPr lang="en-US" altLang="zh-CN" sz="1200" kern="1200" dirty="0">
                <a:solidFill>
                  <a:schemeClr val="tx1"/>
                </a:solidFill>
                <a:effectLst/>
                <a:latin typeface="+mn-lt"/>
                <a:ea typeface="+mn-ea"/>
                <a:cs typeface="+mn-cs"/>
              </a:rPr>
              <a:t> switch </a:t>
            </a:r>
            <a:r>
              <a:rPr lang="zh-CN" altLang="zh-CN" sz="1200" kern="1200" dirty="0">
                <a:solidFill>
                  <a:schemeClr val="tx1"/>
                </a:solidFill>
                <a:effectLst/>
                <a:latin typeface="+mn-lt"/>
                <a:ea typeface="+mn-ea"/>
                <a:cs typeface="+mn-cs"/>
              </a:rPr>
              <a:t>语句或多路分支，这个语句读取和检查下一个输入字符，由此确定下一个状态。</a:t>
            </a:r>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示例</a:t>
            </a:r>
            <a:r>
              <a:rPr lang="en-US" altLang="zh-CN" sz="1200" kern="1200" dirty="0">
                <a:solidFill>
                  <a:schemeClr val="tx1"/>
                </a:solidFill>
                <a:effectLst/>
                <a:latin typeface="+mn-lt"/>
                <a:ea typeface="+mn-ea"/>
                <a:cs typeface="+mn-cs"/>
              </a:rPr>
              <a:t> 3.10</a:t>
            </a:r>
            <a:r>
              <a:rPr lang="zh-CN" altLang="zh-CN" sz="1200" kern="1200" dirty="0">
                <a:solidFill>
                  <a:schemeClr val="tx1"/>
                </a:solidFill>
                <a:effectLst/>
                <a:latin typeface="+mn-lt"/>
                <a:ea typeface="+mn-ea"/>
                <a:cs typeface="+mn-cs"/>
              </a:rPr>
              <a:t>：在图</a:t>
            </a:r>
            <a:r>
              <a:rPr lang="en-US" altLang="zh-CN" sz="1200" kern="1200" dirty="0">
                <a:solidFill>
                  <a:schemeClr val="tx1"/>
                </a:solidFill>
                <a:effectLst/>
                <a:latin typeface="+mn-lt"/>
                <a:ea typeface="+mn-ea"/>
                <a:cs typeface="+mn-cs"/>
              </a:rPr>
              <a:t> 3.18 </a:t>
            </a:r>
            <a:r>
              <a:rPr lang="zh-CN" altLang="zh-CN" sz="1200" kern="1200" dirty="0">
                <a:solidFill>
                  <a:schemeClr val="tx1"/>
                </a:solidFill>
                <a:effectLst/>
                <a:latin typeface="+mn-lt"/>
                <a:ea typeface="+mn-ea"/>
                <a:cs typeface="+mn-cs"/>
              </a:rPr>
              <a:t>中，我们可以看到</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getRelop</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方法的一个概述，它是一个</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函数，其作用是模拟图</a:t>
            </a:r>
            <a:r>
              <a:rPr lang="en-US" altLang="zh-CN" sz="1200" kern="1200" dirty="0">
                <a:solidFill>
                  <a:schemeClr val="tx1"/>
                </a:solidFill>
                <a:effectLst/>
                <a:latin typeface="+mn-lt"/>
                <a:ea typeface="+mn-ea"/>
                <a:cs typeface="+mn-cs"/>
              </a:rPr>
              <a:t> 3.13 </a:t>
            </a:r>
            <a:r>
              <a:rPr lang="zh-CN" altLang="zh-CN" sz="1200" kern="1200" dirty="0">
                <a:solidFill>
                  <a:schemeClr val="tx1"/>
                </a:solidFill>
                <a:effectLst/>
                <a:latin typeface="+mn-lt"/>
                <a:ea typeface="+mn-ea"/>
                <a:cs typeface="+mn-cs"/>
              </a:rPr>
              <a:t>的转换图并返回一个</a:t>
            </a:r>
            <a:r>
              <a:rPr lang="en-US" altLang="zh-CN" sz="1200" kern="1200" dirty="0">
                <a:solidFill>
                  <a:schemeClr val="tx1"/>
                </a:solidFill>
                <a:effectLst/>
                <a:latin typeface="+mn-lt"/>
                <a:ea typeface="+mn-ea"/>
                <a:cs typeface="+mn-cs"/>
              </a:rPr>
              <a:t> TOKEN </a:t>
            </a:r>
            <a:r>
              <a:rPr lang="zh-CN" altLang="zh-CN" sz="1200" kern="1200" dirty="0">
                <a:solidFill>
                  <a:schemeClr val="tx1"/>
                </a:solidFill>
                <a:effectLst/>
                <a:latin typeface="+mn-lt"/>
                <a:ea typeface="+mn-ea"/>
                <a:cs typeface="+mn-cs"/>
              </a:rPr>
              <a:t>类型的对象，该对象由词法单元名称</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在这种情况下必定是</a:t>
            </a:r>
            <a:r>
              <a:rPr lang="en-US" altLang="zh-CN" sz="1200" kern="1200" dirty="0" err="1">
                <a:solidFill>
                  <a:schemeClr val="tx1"/>
                </a:solidFill>
                <a:effectLst/>
                <a:latin typeface="+mn-lt"/>
                <a:ea typeface="+mn-ea"/>
                <a:cs typeface="+mn-cs"/>
              </a:rPr>
              <a:t>relop</a:t>
            </a:r>
            <a:r>
              <a:rPr lang="zh-CN" altLang="zh-CN" sz="1200" kern="1200" dirty="0">
                <a:solidFill>
                  <a:schemeClr val="tx1"/>
                </a:solidFill>
                <a:effectLst/>
                <a:latin typeface="+mn-lt"/>
                <a:ea typeface="+mn-ea"/>
                <a:cs typeface="+mn-cs"/>
              </a:rPr>
              <a:t>）和一个属性值（在这种情况下是六个比较运算符之一的编码）。</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getRelop</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首先创建一个新对象</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retToken</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并将该对象的第一个分量初始化为</a:t>
            </a:r>
            <a:r>
              <a:rPr lang="en-US" altLang="zh-CN" sz="1200" kern="1200" dirty="0">
                <a:solidFill>
                  <a:schemeClr val="tx1"/>
                </a:solidFill>
                <a:effectLst/>
                <a:latin typeface="+mn-lt"/>
                <a:ea typeface="+mn-ea"/>
                <a:cs typeface="+mn-cs"/>
              </a:rPr>
              <a:t> RELOP</a:t>
            </a:r>
            <a:r>
              <a:rPr lang="zh-CN" altLang="zh-CN" sz="1200" kern="1200" dirty="0">
                <a:solidFill>
                  <a:schemeClr val="tx1"/>
                </a:solidFill>
                <a:effectLst/>
                <a:latin typeface="+mn-lt"/>
                <a:ea typeface="+mn-ea"/>
                <a:cs typeface="+mn-cs"/>
              </a:rPr>
              <a:t>，即词法单元</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relop</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的编码。</a:t>
            </a:r>
          </a:p>
          <a:p>
            <a:r>
              <a:rPr lang="zh-CN" altLang="zh-CN" sz="1200" kern="1200" dirty="0">
                <a:solidFill>
                  <a:schemeClr val="tx1"/>
                </a:solidFill>
                <a:effectLst/>
                <a:latin typeface="+mn-lt"/>
                <a:ea typeface="+mn-ea"/>
                <a:cs typeface="+mn-cs"/>
              </a:rPr>
              <a:t>我们看到</a:t>
            </a:r>
            <a:r>
              <a:rPr lang="en-US" altLang="zh-CN" sz="1200" kern="1200" dirty="0">
                <a:solidFill>
                  <a:schemeClr val="tx1"/>
                </a:solidFill>
                <a:effectLst/>
                <a:latin typeface="+mn-lt"/>
                <a:ea typeface="+mn-ea"/>
                <a:cs typeface="+mn-cs"/>
              </a:rPr>
              <a:t>case 0 </a:t>
            </a:r>
            <a:r>
              <a:rPr lang="zh-CN" altLang="zh-CN" sz="1200" kern="1200" dirty="0">
                <a:solidFill>
                  <a:schemeClr val="tx1"/>
                </a:solidFill>
                <a:effectLst/>
                <a:latin typeface="+mn-lt"/>
                <a:ea typeface="+mn-ea"/>
                <a:cs typeface="+mn-cs"/>
              </a:rPr>
              <a:t>中一个典型的状态行为。函数</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nextChar</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从输入中获取下一个字符并将其分配给局部变量</a:t>
            </a:r>
            <a:r>
              <a:rPr lang="en-US" altLang="zh-CN" sz="1200" kern="1200" dirty="0">
                <a:solidFill>
                  <a:schemeClr val="tx1"/>
                </a:solidFill>
                <a:effectLst/>
                <a:latin typeface="+mn-lt"/>
                <a:ea typeface="+mn-ea"/>
                <a:cs typeface="+mn-cs"/>
              </a:rPr>
              <a:t> c</a:t>
            </a:r>
            <a:r>
              <a:rPr lang="zh-CN" altLang="zh-CN" sz="1200" kern="1200" dirty="0">
                <a:solidFill>
                  <a:schemeClr val="tx1"/>
                </a:solidFill>
                <a:effectLst/>
                <a:latin typeface="+mn-lt"/>
                <a:ea typeface="+mn-ea"/>
                <a:cs typeface="+mn-cs"/>
              </a:rPr>
              <a:t>。然后，我们检查</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中是否有我们期望找到的三个字符，并在每种情况下使根据图</a:t>
            </a:r>
            <a:r>
              <a:rPr lang="en-US" altLang="zh-CN" sz="1200" kern="1200" dirty="0">
                <a:solidFill>
                  <a:schemeClr val="tx1"/>
                </a:solidFill>
                <a:effectLst/>
                <a:latin typeface="+mn-lt"/>
                <a:ea typeface="+mn-ea"/>
                <a:cs typeface="+mn-cs"/>
              </a:rPr>
              <a:t> 3.13 </a:t>
            </a:r>
            <a:r>
              <a:rPr lang="zh-CN" altLang="zh-CN" sz="1200" kern="1200" dirty="0">
                <a:solidFill>
                  <a:schemeClr val="tx1"/>
                </a:solidFill>
                <a:effectLst/>
                <a:latin typeface="+mn-lt"/>
                <a:ea typeface="+mn-ea"/>
                <a:cs typeface="+mn-cs"/>
              </a:rPr>
              <a:t>所示的状态转换图完成状态转换。例如，如果下一个输入字符是</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，则转换到状态</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如果下一个输入字符不是某个比较运算符的首字符，则</a:t>
            </a:r>
            <a:r>
              <a:rPr lang="en-US" altLang="zh-CN" sz="1200" kern="1200" dirty="0" err="1">
                <a:solidFill>
                  <a:schemeClr val="tx1"/>
                </a:solidFill>
                <a:effectLst/>
                <a:latin typeface="+mn-lt"/>
                <a:ea typeface="+mn-ea"/>
                <a:cs typeface="+mn-cs"/>
              </a:rPr>
              <a:t>getRelop</a:t>
            </a:r>
            <a:r>
              <a:rPr lang="zh-CN" altLang="zh-CN" sz="1200" kern="1200" dirty="0">
                <a:solidFill>
                  <a:schemeClr val="tx1"/>
                </a:solidFill>
                <a:effectLst/>
                <a:latin typeface="+mn-lt"/>
                <a:ea typeface="+mn-ea"/>
                <a:cs typeface="+mn-cs"/>
              </a:rPr>
              <a:t>（）会调用函数</a:t>
            </a:r>
            <a:r>
              <a:rPr lang="en-US" altLang="zh-CN" sz="1200" kern="1200" dirty="0">
                <a:solidFill>
                  <a:schemeClr val="tx1"/>
                </a:solidFill>
                <a:effectLst/>
                <a:latin typeface="+mn-lt"/>
                <a:ea typeface="+mn-ea"/>
                <a:cs typeface="+mn-cs"/>
              </a:rPr>
              <a:t>fail()</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fail() </a:t>
            </a:r>
            <a:r>
              <a:rPr lang="zh-CN" altLang="zh-CN" sz="1200" kern="1200" dirty="0">
                <a:solidFill>
                  <a:schemeClr val="tx1"/>
                </a:solidFill>
                <a:effectLst/>
                <a:latin typeface="+mn-lt"/>
                <a:ea typeface="+mn-ea"/>
                <a:cs typeface="+mn-cs"/>
              </a:rPr>
              <a:t>的具体操作依赖于词法分析器的全局错误恢复策略。它应该将</a:t>
            </a:r>
            <a:r>
              <a:rPr lang="en-US" altLang="zh-CN" sz="1200" kern="1200" dirty="0">
                <a:solidFill>
                  <a:schemeClr val="tx1"/>
                </a:solidFill>
                <a:effectLst/>
                <a:latin typeface="+mn-lt"/>
                <a:ea typeface="+mn-ea"/>
                <a:cs typeface="+mn-cs"/>
              </a:rPr>
              <a:t>forward</a:t>
            </a:r>
            <a:r>
              <a:rPr lang="zh-CN" altLang="zh-CN" sz="1200" kern="1200" dirty="0">
                <a:solidFill>
                  <a:schemeClr val="tx1"/>
                </a:solidFill>
                <a:effectLst/>
                <a:latin typeface="+mn-lt"/>
                <a:ea typeface="+mn-ea"/>
                <a:cs typeface="+mn-cs"/>
              </a:rPr>
              <a:t>指针重置为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lexemeBegin</a:t>
            </a:r>
            <a:r>
              <a:rPr lang="zh-CN" altLang="zh-CN" sz="1200" kern="1200" dirty="0">
                <a:solidFill>
                  <a:schemeClr val="tx1"/>
                </a:solidFill>
                <a:effectLst/>
                <a:latin typeface="+mn-lt"/>
                <a:ea typeface="+mn-ea"/>
                <a:cs typeface="+mn-cs"/>
              </a:rPr>
              <a:t>的值，使得我们可以使用另一个转换图从尚未处理的输入部分的真正开始位置开始识别。然后，它可能还会将变量</a:t>
            </a:r>
            <a:r>
              <a:rPr lang="en-US" altLang="zh-CN" sz="1200" kern="1200" dirty="0">
                <a:solidFill>
                  <a:schemeClr val="tx1"/>
                </a:solidFill>
                <a:effectLst/>
                <a:latin typeface="+mn-lt"/>
                <a:ea typeface="+mn-ea"/>
                <a:cs typeface="+mn-cs"/>
              </a:rPr>
              <a:t>state</a:t>
            </a:r>
            <a:r>
              <a:rPr lang="zh-CN" altLang="zh-CN" sz="1200" kern="1200" dirty="0">
                <a:solidFill>
                  <a:schemeClr val="tx1"/>
                </a:solidFill>
                <a:effectLst/>
                <a:latin typeface="+mn-lt"/>
                <a:ea typeface="+mn-ea"/>
                <a:cs typeface="+mn-cs"/>
              </a:rPr>
              <a:t>值更改为另一个转换图的初始状态，该转换图将搜索另一个词法单元。在另一种情况下，如果所有的转换图都已经用过，则</a:t>
            </a:r>
            <a:r>
              <a:rPr lang="en-US" altLang="zh-CN" sz="1200" kern="1200" dirty="0">
                <a:solidFill>
                  <a:schemeClr val="tx1"/>
                </a:solidFill>
                <a:effectLst/>
                <a:latin typeface="+mn-lt"/>
                <a:ea typeface="+mn-ea"/>
                <a:cs typeface="+mn-cs"/>
              </a:rPr>
              <a:t>fail() </a:t>
            </a:r>
            <a:r>
              <a:rPr lang="zh-CN" altLang="zh-CN" sz="1200" kern="1200" dirty="0">
                <a:solidFill>
                  <a:schemeClr val="tx1"/>
                </a:solidFill>
                <a:effectLst/>
                <a:latin typeface="+mn-lt"/>
                <a:ea typeface="+mn-ea"/>
                <a:cs typeface="+mn-cs"/>
              </a:rPr>
              <a:t>可以启动一个错误纠错步骤，如第</a:t>
            </a:r>
            <a:r>
              <a:rPr lang="en-US" altLang="zh-CN" sz="1200" kern="1200" dirty="0">
                <a:solidFill>
                  <a:schemeClr val="tx1"/>
                </a:solidFill>
                <a:effectLst/>
                <a:latin typeface="+mn-lt"/>
                <a:ea typeface="+mn-ea"/>
                <a:cs typeface="+mn-cs"/>
              </a:rPr>
              <a:t> 3.1.4 </a:t>
            </a:r>
            <a:r>
              <a:rPr lang="zh-CN" altLang="zh-CN" sz="1200" kern="1200" dirty="0">
                <a:solidFill>
                  <a:schemeClr val="tx1"/>
                </a:solidFill>
                <a:effectLst/>
                <a:latin typeface="+mn-lt"/>
                <a:ea typeface="+mn-ea"/>
                <a:cs typeface="+mn-cs"/>
              </a:rPr>
              <a:t>节中所述的方法来纠正输入并找到一个词素。</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我们还在图</a:t>
            </a:r>
            <a:r>
              <a:rPr lang="en-US" altLang="zh-CN" sz="1200" kern="1200" dirty="0">
                <a:solidFill>
                  <a:schemeClr val="tx1"/>
                </a:solidFill>
                <a:effectLst/>
                <a:latin typeface="+mn-lt"/>
                <a:ea typeface="+mn-ea"/>
                <a:cs typeface="+mn-cs"/>
              </a:rPr>
              <a:t> 3.18 </a:t>
            </a:r>
            <a:r>
              <a:rPr lang="zh-CN" altLang="zh-CN" sz="1200" kern="1200" dirty="0">
                <a:solidFill>
                  <a:schemeClr val="tx1"/>
                </a:solidFill>
                <a:effectLst/>
                <a:latin typeface="+mn-lt"/>
                <a:ea typeface="+mn-ea"/>
                <a:cs typeface="+mn-cs"/>
              </a:rPr>
              <a:t>中展示了状态</a:t>
            </a:r>
            <a:r>
              <a:rPr lang="en-US" altLang="zh-CN" sz="1200" kern="1200" dirty="0">
                <a:solidFill>
                  <a:schemeClr val="tx1"/>
                </a:solidFill>
                <a:effectLst/>
                <a:latin typeface="+mn-lt"/>
                <a:ea typeface="+mn-ea"/>
                <a:cs typeface="+mn-cs"/>
              </a:rPr>
              <a:t> 8 </a:t>
            </a:r>
            <a:r>
              <a:rPr lang="zh-CN" altLang="zh-CN" sz="1200" kern="1200" dirty="0">
                <a:solidFill>
                  <a:schemeClr val="tx1"/>
                </a:solidFill>
                <a:effectLst/>
                <a:latin typeface="+mn-lt"/>
                <a:ea typeface="+mn-ea"/>
                <a:cs typeface="+mn-cs"/>
              </a:rPr>
              <a:t>的行为。因为状态</a:t>
            </a:r>
            <a:r>
              <a:rPr lang="en-US" altLang="zh-CN" sz="1200" kern="1200" dirty="0">
                <a:solidFill>
                  <a:schemeClr val="tx1"/>
                </a:solidFill>
                <a:effectLst/>
                <a:latin typeface="+mn-lt"/>
                <a:ea typeface="+mn-ea"/>
                <a:cs typeface="+mn-cs"/>
              </a:rPr>
              <a:t> 8</a:t>
            </a:r>
            <a:r>
              <a:rPr lang="zh-CN" altLang="zh-CN" sz="1200" kern="1200" dirty="0">
                <a:solidFill>
                  <a:schemeClr val="tx1"/>
                </a:solidFill>
                <a:effectLst/>
                <a:latin typeface="+mn-lt"/>
                <a:ea typeface="+mn-ea"/>
                <a:cs typeface="+mn-cs"/>
              </a:rPr>
              <a:t>带有一个</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号，所以我们必须将输入指针回退一个位置（即，将</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放回输入流）。该任务是由函数</a:t>
            </a:r>
            <a:r>
              <a:rPr lang="en-US" altLang="zh-CN" sz="1200" kern="1200" dirty="0">
                <a:solidFill>
                  <a:schemeClr val="tx1"/>
                </a:solidFill>
                <a:effectLst/>
                <a:latin typeface="+mn-lt"/>
                <a:ea typeface="+mn-ea"/>
                <a:cs typeface="+mn-cs"/>
              </a:rPr>
              <a:t>retract() </a:t>
            </a:r>
            <a:r>
              <a:rPr lang="zh-CN" altLang="zh-CN" sz="1200" kern="1200" dirty="0">
                <a:solidFill>
                  <a:schemeClr val="tx1"/>
                </a:solidFill>
                <a:effectLst/>
                <a:latin typeface="+mn-lt"/>
                <a:ea typeface="+mn-ea"/>
                <a:cs typeface="+mn-cs"/>
              </a:rPr>
              <a:t>完成的。由于状态</a:t>
            </a:r>
            <a:r>
              <a:rPr lang="en-US" altLang="zh-CN" sz="1200" kern="1200" dirty="0">
                <a:solidFill>
                  <a:schemeClr val="tx1"/>
                </a:solidFill>
                <a:effectLst/>
                <a:latin typeface="+mn-lt"/>
                <a:ea typeface="+mn-ea"/>
                <a:cs typeface="+mn-cs"/>
              </a:rPr>
              <a:t> 8 </a:t>
            </a:r>
            <a:r>
              <a:rPr lang="zh-CN" altLang="zh-CN" sz="1200" kern="1200" dirty="0">
                <a:solidFill>
                  <a:schemeClr val="tx1"/>
                </a:solidFill>
                <a:effectLst/>
                <a:latin typeface="+mn-lt"/>
                <a:ea typeface="+mn-ea"/>
                <a:cs typeface="+mn-cs"/>
              </a:rPr>
              <a:t>代表了对词素</a:t>
            </a:r>
            <a:r>
              <a:rPr lang="en-US" altLang="zh-CN" sz="1200" kern="1200" dirty="0">
                <a:solidFill>
                  <a:schemeClr val="tx1"/>
                </a:solidFill>
                <a:effectLst/>
                <a:latin typeface="+mn-lt"/>
                <a:ea typeface="+mn-ea"/>
                <a:cs typeface="+mn-cs"/>
              </a:rPr>
              <a:t> &gt; </a:t>
            </a:r>
            <a:r>
              <a:rPr lang="zh-CN" altLang="zh-CN" sz="1200" kern="1200" dirty="0">
                <a:solidFill>
                  <a:schemeClr val="tx1"/>
                </a:solidFill>
                <a:effectLst/>
                <a:latin typeface="+mn-lt"/>
                <a:ea typeface="+mn-ea"/>
                <a:cs typeface="+mn-cs"/>
              </a:rPr>
              <a:t>的识别，我们把返回对象中的第二个分量（我们假设这个分量的名字是</a:t>
            </a:r>
            <a:r>
              <a:rPr lang="en-US" altLang="zh-CN" sz="1200" kern="1200" dirty="0">
                <a:solidFill>
                  <a:schemeClr val="tx1"/>
                </a:solidFill>
                <a:effectLst/>
                <a:latin typeface="+mn-lt"/>
                <a:ea typeface="+mn-ea"/>
                <a:cs typeface="+mn-cs"/>
              </a:rPr>
              <a:t>attribute</a:t>
            </a:r>
            <a:r>
              <a:rPr lang="zh-CN" altLang="zh-CN" sz="1200" kern="1200" dirty="0">
                <a:solidFill>
                  <a:schemeClr val="tx1"/>
                </a:solidFill>
                <a:effectLst/>
                <a:latin typeface="+mn-lt"/>
                <a:ea typeface="+mn-ea"/>
                <a:cs typeface="+mn-cs"/>
              </a:rPr>
              <a:t>）设置为</a:t>
            </a:r>
            <a:r>
              <a:rPr lang="en-US" altLang="zh-CN" sz="1200" kern="1200" dirty="0">
                <a:solidFill>
                  <a:schemeClr val="tx1"/>
                </a:solidFill>
                <a:effectLst/>
                <a:latin typeface="+mn-lt"/>
                <a:ea typeface="+mn-ea"/>
                <a:cs typeface="+mn-cs"/>
              </a:rPr>
              <a:t> GT</a:t>
            </a:r>
            <a:r>
              <a:rPr lang="zh-CN" altLang="zh-CN" sz="1200" kern="1200" dirty="0">
                <a:solidFill>
                  <a:schemeClr val="tx1"/>
                </a:solidFill>
                <a:effectLst/>
                <a:latin typeface="+mn-lt"/>
                <a:ea typeface="+mn-ea"/>
                <a:cs typeface="+mn-cs"/>
              </a:rPr>
              <a:t>，即该运算符的编码。 </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为了在适当的地方模拟适当的状态转换图，我们考虑几种将如图</a:t>
            </a:r>
            <a:r>
              <a:rPr lang="en-US" altLang="zh-CN" sz="1200" kern="1200" dirty="0">
                <a:solidFill>
                  <a:schemeClr val="tx1"/>
                </a:solidFill>
                <a:effectLst/>
                <a:latin typeface="+mn-lt"/>
                <a:ea typeface="+mn-ea"/>
                <a:cs typeface="+mn-cs"/>
              </a:rPr>
              <a:t> 3.18 </a:t>
            </a:r>
            <a:r>
              <a:rPr lang="zh-CN" altLang="zh-CN" sz="1200" kern="1200" dirty="0">
                <a:solidFill>
                  <a:schemeClr val="tx1"/>
                </a:solidFill>
                <a:effectLst/>
                <a:latin typeface="+mn-lt"/>
                <a:ea typeface="+mn-ea"/>
                <a:cs typeface="+mn-cs"/>
              </a:rPr>
              <a:t>所示的代码集成到整个词法分析器中的方法。</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我们可以让词法分析器顺序尝试各个词法单元的转换图。然后，在每次调用例</a:t>
            </a:r>
            <a:r>
              <a:rPr lang="en-US" altLang="zh-CN" sz="1200" kern="1200" dirty="0">
                <a:solidFill>
                  <a:schemeClr val="tx1"/>
                </a:solidFill>
                <a:effectLst/>
                <a:latin typeface="+mn-lt"/>
                <a:ea typeface="+mn-ea"/>
                <a:cs typeface="+mn-cs"/>
              </a:rPr>
              <a:t> 3.10 </a:t>
            </a:r>
            <a:r>
              <a:rPr lang="zh-CN" altLang="zh-CN" sz="1200" kern="1200" dirty="0">
                <a:solidFill>
                  <a:schemeClr val="tx1"/>
                </a:solidFill>
                <a:effectLst/>
                <a:latin typeface="+mn-lt"/>
                <a:ea typeface="+mn-ea"/>
                <a:cs typeface="+mn-cs"/>
              </a:rPr>
              <a:t>中的函数</a:t>
            </a:r>
            <a:r>
              <a:rPr lang="en-US" altLang="zh-CN" sz="1200" kern="1200" dirty="0">
                <a:solidFill>
                  <a:schemeClr val="tx1"/>
                </a:solidFill>
                <a:effectLst/>
                <a:latin typeface="+mn-lt"/>
                <a:ea typeface="+mn-ea"/>
                <a:cs typeface="+mn-cs"/>
              </a:rPr>
              <a:t>fail()</a:t>
            </a:r>
            <a:r>
              <a:rPr lang="zh-CN" altLang="zh-CN" sz="1200" kern="1200" dirty="0">
                <a:solidFill>
                  <a:schemeClr val="tx1"/>
                </a:solidFill>
                <a:effectLst/>
                <a:latin typeface="+mn-lt"/>
                <a:ea typeface="+mn-ea"/>
                <a:cs typeface="+mn-cs"/>
              </a:rPr>
              <a:t>时，它重置</a:t>
            </a:r>
            <a:r>
              <a:rPr lang="en-US" altLang="zh-CN" sz="1200" kern="1200" dirty="0">
                <a:solidFill>
                  <a:schemeClr val="tx1"/>
                </a:solidFill>
                <a:effectLst/>
                <a:latin typeface="+mn-lt"/>
                <a:ea typeface="+mn-ea"/>
                <a:cs typeface="+mn-cs"/>
              </a:rPr>
              <a:t>forward</a:t>
            </a:r>
            <a:r>
              <a:rPr lang="zh-CN" altLang="zh-CN" sz="1200" kern="1200" dirty="0">
                <a:solidFill>
                  <a:schemeClr val="tx1"/>
                </a:solidFill>
                <a:effectLst/>
                <a:latin typeface="+mn-lt"/>
                <a:ea typeface="+mn-ea"/>
                <a:cs typeface="+mn-cs"/>
              </a:rPr>
              <a:t>指针并启动下一个转换图。这种方法使我们可以像图</a:t>
            </a:r>
            <a:r>
              <a:rPr lang="en-US" altLang="zh-CN" sz="1200" kern="1200" dirty="0">
                <a:solidFill>
                  <a:schemeClr val="tx1"/>
                </a:solidFill>
                <a:effectLst/>
                <a:latin typeface="+mn-lt"/>
                <a:ea typeface="+mn-ea"/>
                <a:cs typeface="+mn-cs"/>
              </a:rPr>
              <a:t>3-15 </a:t>
            </a:r>
            <a:r>
              <a:rPr lang="zh-CN" altLang="zh-CN" sz="1200" kern="1200" dirty="0">
                <a:solidFill>
                  <a:schemeClr val="tx1"/>
                </a:solidFill>
                <a:effectLst/>
                <a:latin typeface="+mn-lt"/>
                <a:ea typeface="+mn-ea"/>
                <a:cs typeface="+mn-cs"/>
              </a:rPr>
              <a:t>中建议的那样，为各个关键字使用各自的状态转换图。我们只需在使用</a:t>
            </a:r>
            <a:r>
              <a:rPr lang="en-US" altLang="zh-CN" sz="1200" kern="1200" dirty="0">
                <a:solidFill>
                  <a:schemeClr val="tx1"/>
                </a:solidFill>
                <a:effectLst/>
                <a:latin typeface="+mn-lt"/>
                <a:ea typeface="+mn-ea"/>
                <a:cs typeface="+mn-cs"/>
              </a:rPr>
              <a:t> id</a:t>
            </a:r>
            <a:r>
              <a:rPr lang="zh-CN" altLang="zh-CN" sz="1200" kern="1200" dirty="0">
                <a:solidFill>
                  <a:schemeClr val="tx1"/>
                </a:solidFill>
                <a:effectLst/>
                <a:latin typeface="+mn-lt"/>
                <a:ea typeface="+mn-ea"/>
                <a:cs typeface="+mn-cs"/>
              </a:rPr>
              <a:t>的状态转换图之前使用这些关键字的转换图，就可以使得关键字被识别为保留字。</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我们可以并行运行各种转换图，</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将下一个输入字符提供给所有转换图，并允许每个转换图做出它应执行的转换。如果我们采用这一策略，我们必须小心解决如下问题：一个状态转换图已经找到了一个与它的模式相匹配的词素，但另外的一个或多个状态转换图仍然可以继续处理输入。解决这个问题的常见策略是取最长的和某个模式相匹配的输入前缀。该规则允许我们识别出</a:t>
            </a:r>
            <a:r>
              <a:rPr lang="en-US" altLang="zh-CN" sz="1200" kern="1200" dirty="0" err="1">
                <a:solidFill>
                  <a:schemeClr val="tx1"/>
                </a:solidFill>
                <a:effectLst/>
                <a:latin typeface="+mn-lt"/>
                <a:ea typeface="+mn-ea"/>
                <a:cs typeface="+mn-cs"/>
              </a:rPr>
              <a:t>thennext</a:t>
            </a:r>
            <a:r>
              <a:rPr lang="zh-CN" altLang="zh-CN" sz="1200" kern="1200" dirty="0">
                <a:solidFill>
                  <a:schemeClr val="tx1"/>
                </a:solidFill>
                <a:effectLst/>
                <a:latin typeface="+mn-lt"/>
                <a:ea typeface="+mn-ea"/>
                <a:cs typeface="+mn-cs"/>
              </a:rPr>
              <a:t>而不是关键字</a:t>
            </a:r>
            <a:r>
              <a:rPr lang="en-US" altLang="zh-CN" sz="1200" kern="1200" dirty="0">
                <a:solidFill>
                  <a:schemeClr val="tx1"/>
                </a:solidFill>
                <a:effectLst/>
                <a:latin typeface="+mn-lt"/>
                <a:ea typeface="+mn-ea"/>
                <a:cs typeface="+mn-cs"/>
              </a:rPr>
              <a:t> then</a:t>
            </a:r>
            <a:r>
              <a:rPr lang="zh-CN" altLang="zh-CN" sz="1200" kern="1200" dirty="0">
                <a:solidFill>
                  <a:schemeClr val="tx1"/>
                </a:solidFill>
                <a:effectLst/>
                <a:latin typeface="+mn-lt"/>
                <a:ea typeface="+mn-ea"/>
                <a:cs typeface="+mn-cs"/>
              </a:rPr>
              <a:t>，识别出</a:t>
            </a:r>
            <a:r>
              <a:rPr lang="en-US" altLang="zh-CN" sz="1200" kern="1200" dirty="0">
                <a:solidFill>
                  <a:schemeClr val="tx1"/>
                </a:solidFill>
                <a:effectLst/>
                <a:latin typeface="+mn-lt"/>
                <a:ea typeface="+mn-ea"/>
                <a:cs typeface="+mn-cs"/>
              </a:rPr>
              <a:t> -&gt; </a:t>
            </a:r>
            <a:r>
              <a:rPr lang="zh-CN" altLang="zh-CN" sz="1200" kern="1200" dirty="0">
                <a:solidFill>
                  <a:schemeClr val="tx1"/>
                </a:solidFill>
                <a:effectLst/>
                <a:latin typeface="+mn-lt"/>
                <a:ea typeface="+mn-ea"/>
                <a:cs typeface="+mn-cs"/>
              </a:rPr>
              <a:t>而不是</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，例如。</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有一个更好的方法，也是我们将在以下各节中采用的方法，是将所有转换图合并为一个。我们允许合并后的转换图尽量读取输入，直到不存在下一个状态为止；然后像上面的第</a:t>
            </a:r>
            <a:r>
              <a:rPr lang="en-US" altLang="zh-CN" sz="1200" kern="1200" dirty="0">
                <a:solidFill>
                  <a:schemeClr val="tx1"/>
                </a:solidFill>
                <a:effectLst/>
                <a:latin typeface="+mn-lt"/>
                <a:ea typeface="+mn-ea"/>
                <a:cs typeface="+mn-cs"/>
              </a:rPr>
              <a:t> (2) </a:t>
            </a:r>
            <a:r>
              <a:rPr lang="zh-CN" altLang="zh-CN" sz="1200" kern="1200" dirty="0">
                <a:solidFill>
                  <a:schemeClr val="tx1"/>
                </a:solidFill>
                <a:effectLst/>
                <a:latin typeface="+mn-lt"/>
                <a:ea typeface="+mn-ea"/>
                <a:cs typeface="+mn-cs"/>
              </a:rPr>
              <a:t>项中讨论的那样取最长的和某个模式匹配的最长词素。在我们的运行示例中，进行这种合并很简单，因为没有两个词法单元以相同的字符开头；即，根据第一个字符就可以知道我们正在寻找的是哪个词法单元。因此，我们可以直接将状态</a:t>
            </a:r>
            <a:r>
              <a:rPr lang="en-US" altLang="zh-CN" sz="1200" kern="1200" dirty="0">
                <a:solidFill>
                  <a:schemeClr val="tx1"/>
                </a:solidFill>
                <a:effectLst/>
                <a:latin typeface="+mn-lt"/>
                <a:ea typeface="+mn-ea"/>
                <a:cs typeface="+mn-cs"/>
              </a:rPr>
              <a:t> 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9</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12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22 </a:t>
            </a:r>
            <a:r>
              <a:rPr lang="zh-CN" altLang="zh-CN" sz="1200" kern="1200" dirty="0">
                <a:solidFill>
                  <a:schemeClr val="tx1"/>
                </a:solidFill>
                <a:effectLst/>
                <a:latin typeface="+mn-lt"/>
                <a:ea typeface="+mn-ea"/>
                <a:cs typeface="+mn-cs"/>
              </a:rPr>
              <a:t>合并成一个开始状态，而保持其他转换不变。然而，一般来说，正如我们不久将看到的那样，合并几个词法单元的转换图的问题更为复杂。</a:t>
            </a:r>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en-US" altLang="zh-CN" sz="1200" kern="1200" dirty="0">
                <a:solidFill>
                  <a:schemeClr val="tx1"/>
                </a:solidFill>
                <a:effectLst/>
                <a:latin typeface="+mn-lt"/>
                <a:ea typeface="+mn-ea"/>
                <a:cs typeface="+mn-cs"/>
              </a:rPr>
              <a:t>Lex </a:t>
            </a:r>
            <a:r>
              <a:rPr lang="zh-CN" altLang="zh-CN" sz="1200" kern="1200" dirty="0">
                <a:solidFill>
                  <a:schemeClr val="tx1"/>
                </a:solidFill>
                <a:effectLst/>
                <a:latin typeface="+mn-lt"/>
                <a:ea typeface="+mn-ea"/>
                <a:cs typeface="+mn-cs"/>
              </a:rPr>
              <a:t>在本节中，我们将介绍一个名为</a:t>
            </a:r>
            <a:r>
              <a:rPr lang="en-US" altLang="zh-CN" sz="1200" kern="1200" dirty="0">
                <a:solidFill>
                  <a:schemeClr val="tx1"/>
                </a:solidFill>
                <a:effectLst/>
                <a:latin typeface="+mn-lt"/>
                <a:ea typeface="+mn-ea"/>
                <a:cs typeface="+mn-cs"/>
              </a:rPr>
              <a:t> Lex </a:t>
            </a:r>
            <a:r>
              <a:rPr lang="zh-CN" altLang="zh-CN" sz="1200" kern="1200" dirty="0">
                <a:solidFill>
                  <a:schemeClr val="tx1"/>
                </a:solidFill>
                <a:effectLst/>
                <a:latin typeface="+mn-lt"/>
                <a:ea typeface="+mn-ea"/>
                <a:cs typeface="+mn-cs"/>
              </a:rPr>
              <a:t>的工具，在最近的实现中它也称为</a:t>
            </a:r>
            <a:r>
              <a:rPr lang="en-US" altLang="zh-CN" sz="1200" kern="1200" dirty="0">
                <a:solidFill>
                  <a:schemeClr val="tx1"/>
                </a:solidFill>
                <a:effectLst/>
                <a:latin typeface="+mn-lt"/>
                <a:ea typeface="+mn-ea"/>
                <a:cs typeface="+mn-cs"/>
              </a:rPr>
              <a:t>Flex</a:t>
            </a:r>
            <a:r>
              <a:rPr lang="zh-CN" altLang="zh-CN" sz="1200" kern="1200" dirty="0">
                <a:solidFill>
                  <a:schemeClr val="tx1"/>
                </a:solidFill>
                <a:effectLst/>
                <a:latin typeface="+mn-lt"/>
                <a:ea typeface="+mn-ea"/>
                <a:cs typeface="+mn-cs"/>
              </a:rPr>
              <a:t>。它支持使用正则表达式来描述词法单元的模式，由此给出一个词法分析器的归约。</a:t>
            </a:r>
            <a:r>
              <a:rPr lang="en-US" altLang="zh-CN" sz="1200" kern="1200" dirty="0">
                <a:solidFill>
                  <a:schemeClr val="tx1"/>
                </a:solidFill>
                <a:effectLst/>
                <a:latin typeface="+mn-lt"/>
                <a:ea typeface="+mn-ea"/>
                <a:cs typeface="+mn-cs"/>
              </a:rPr>
              <a:t> Lex</a:t>
            </a:r>
            <a:r>
              <a:rPr lang="zh-CN" altLang="zh-CN" sz="1200" kern="1200" dirty="0">
                <a:solidFill>
                  <a:schemeClr val="tx1"/>
                </a:solidFill>
                <a:effectLst/>
                <a:latin typeface="+mn-lt"/>
                <a:ea typeface="+mn-ea"/>
                <a:cs typeface="+mn-cs"/>
              </a:rPr>
              <a:t>工具的输入表示方法为</a:t>
            </a:r>
            <a:r>
              <a:rPr lang="en-US" altLang="zh-CN" sz="1200" kern="1200" dirty="0">
                <a:solidFill>
                  <a:schemeClr val="tx1"/>
                </a:solidFill>
                <a:effectLst/>
                <a:latin typeface="+mn-lt"/>
                <a:ea typeface="+mn-ea"/>
                <a:cs typeface="+mn-cs"/>
              </a:rPr>
              <a:t>Lex </a:t>
            </a:r>
            <a:r>
              <a:rPr lang="zh-CN" altLang="zh-CN" sz="1200" kern="1200" dirty="0">
                <a:solidFill>
                  <a:schemeClr val="tx1"/>
                </a:solidFill>
                <a:effectLst/>
                <a:latin typeface="+mn-lt"/>
                <a:ea typeface="+mn-ea"/>
                <a:cs typeface="+mn-cs"/>
              </a:rPr>
              <a:t>语言，而工具本身则称为</a:t>
            </a:r>
            <a:r>
              <a:rPr lang="en-US" altLang="zh-CN" sz="1200" kern="1200" dirty="0">
                <a:solidFill>
                  <a:schemeClr val="tx1"/>
                </a:solidFill>
                <a:effectLst/>
                <a:latin typeface="+mn-lt"/>
                <a:ea typeface="+mn-ea"/>
                <a:cs typeface="+mn-cs"/>
              </a:rPr>
              <a:t>Lex </a:t>
            </a:r>
            <a:r>
              <a:rPr lang="zh-CN" altLang="zh-CN" sz="1200" kern="1200" dirty="0">
                <a:solidFill>
                  <a:schemeClr val="tx1"/>
                </a:solidFill>
                <a:effectLst/>
                <a:latin typeface="+mn-lt"/>
                <a:ea typeface="+mn-ea"/>
                <a:cs typeface="+mn-cs"/>
              </a:rPr>
              <a:t>编译器。在它的核心部分，</a:t>
            </a:r>
            <a:r>
              <a:rPr lang="en-US" altLang="zh-CN" sz="1200" kern="1200" dirty="0">
                <a:solidFill>
                  <a:schemeClr val="tx1"/>
                </a:solidFill>
                <a:effectLst/>
                <a:latin typeface="+mn-lt"/>
                <a:ea typeface="+mn-ea"/>
                <a:cs typeface="+mn-cs"/>
              </a:rPr>
              <a:t>Lex </a:t>
            </a:r>
            <a:r>
              <a:rPr lang="zh-CN" altLang="zh-CN" sz="1200" kern="1200" dirty="0">
                <a:solidFill>
                  <a:schemeClr val="tx1"/>
                </a:solidFill>
                <a:effectLst/>
                <a:latin typeface="+mn-lt"/>
                <a:ea typeface="+mn-ea"/>
                <a:cs typeface="+mn-cs"/>
              </a:rPr>
              <a:t>编译器将输入的模式转换为一个状态转换图，并生成相应的实现代码，并存放到名为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lex.yy.c</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的文件。这些代码模拟了状态转换图。</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3.22 </a:t>
            </a:r>
            <a:r>
              <a:rPr lang="zh-CN" altLang="zh-CN" sz="1200" kern="1200" dirty="0">
                <a:solidFill>
                  <a:schemeClr val="tx1"/>
                </a:solidFill>
                <a:effectLst/>
                <a:latin typeface="+mn-lt"/>
                <a:ea typeface="+mn-ea"/>
                <a:cs typeface="+mn-cs"/>
              </a:rPr>
              <a:t>显示了</a:t>
            </a:r>
            <a:r>
              <a:rPr lang="en-US" altLang="zh-CN" sz="1200" kern="1200" dirty="0">
                <a:solidFill>
                  <a:schemeClr val="tx1"/>
                </a:solidFill>
                <a:effectLst/>
                <a:latin typeface="+mn-lt"/>
                <a:ea typeface="+mn-ea"/>
                <a:cs typeface="+mn-cs"/>
              </a:rPr>
              <a:t> Lex </a:t>
            </a:r>
            <a:r>
              <a:rPr lang="zh-CN" altLang="zh-CN" sz="1200" kern="1200" dirty="0">
                <a:solidFill>
                  <a:schemeClr val="tx1"/>
                </a:solidFill>
                <a:effectLst/>
                <a:latin typeface="+mn-lt"/>
                <a:ea typeface="+mn-ea"/>
                <a:cs typeface="+mn-cs"/>
              </a:rPr>
              <a:t>的使用方式。首先，用</a:t>
            </a:r>
            <a:r>
              <a:rPr lang="en-US" altLang="zh-CN" sz="1200" kern="1200" dirty="0">
                <a:solidFill>
                  <a:schemeClr val="tx1"/>
                </a:solidFill>
                <a:effectLst/>
                <a:latin typeface="+mn-lt"/>
                <a:ea typeface="+mn-ea"/>
                <a:cs typeface="+mn-cs"/>
              </a:rPr>
              <a:t> Lex </a:t>
            </a:r>
            <a:r>
              <a:rPr lang="zh-CN" altLang="zh-CN" sz="1200" kern="1200" dirty="0">
                <a:solidFill>
                  <a:schemeClr val="tx1"/>
                </a:solidFill>
                <a:effectLst/>
                <a:latin typeface="+mn-lt"/>
                <a:ea typeface="+mn-ea"/>
                <a:cs typeface="+mn-cs"/>
              </a:rPr>
              <a:t>语言编写一个输入文件（我们称之为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lex.l</a:t>
            </a:r>
            <a:r>
              <a:rPr lang="zh-CN" altLang="zh-CN" sz="1200" kern="1200" dirty="0">
                <a:solidFill>
                  <a:schemeClr val="tx1"/>
                </a:solidFill>
                <a:effectLst/>
                <a:latin typeface="+mn-lt"/>
                <a:ea typeface="+mn-ea"/>
                <a:cs typeface="+mn-cs"/>
              </a:rPr>
              <a:t>），描述要生成的词法分析器。 然后，</a:t>
            </a:r>
            <a:r>
              <a:rPr lang="en-US" altLang="zh-CN" sz="1200" kern="1200" dirty="0">
                <a:solidFill>
                  <a:schemeClr val="tx1"/>
                </a:solidFill>
                <a:effectLst/>
                <a:latin typeface="+mn-lt"/>
                <a:ea typeface="+mn-ea"/>
                <a:cs typeface="+mn-cs"/>
              </a:rPr>
              <a:t>Lex </a:t>
            </a:r>
            <a:r>
              <a:rPr lang="zh-CN" altLang="zh-CN" sz="1200" kern="1200" dirty="0">
                <a:solidFill>
                  <a:schemeClr val="tx1"/>
                </a:solidFill>
                <a:effectLst/>
                <a:latin typeface="+mn-lt"/>
                <a:ea typeface="+mn-ea"/>
                <a:cs typeface="+mn-cs"/>
              </a:rPr>
              <a:t>编译器将</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lex.l</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转换为</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程序，该文件始终命名为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lex.yy.c</a:t>
            </a:r>
            <a:r>
              <a:rPr lang="zh-CN" altLang="zh-CN" sz="1200" kern="1200" dirty="0">
                <a:solidFill>
                  <a:schemeClr val="tx1"/>
                </a:solidFill>
                <a:effectLst/>
                <a:latin typeface="+mn-lt"/>
                <a:ea typeface="+mn-ea"/>
                <a:cs typeface="+mn-cs"/>
              </a:rPr>
              <a:t>。最后，文件</a:t>
            </a:r>
            <a:r>
              <a:rPr lang="en-US" altLang="zh-CN" sz="1200" kern="1200" dirty="0" err="1">
                <a:solidFill>
                  <a:schemeClr val="tx1"/>
                </a:solidFill>
                <a:effectLst/>
                <a:latin typeface="+mn-lt"/>
                <a:ea typeface="+mn-ea"/>
                <a:cs typeface="+mn-cs"/>
              </a:rPr>
              <a:t>lex.yy.c</a:t>
            </a:r>
            <a:r>
              <a:rPr lang="zh-CN" altLang="zh-CN" sz="1200" kern="1200" dirty="0">
                <a:solidFill>
                  <a:schemeClr val="tx1"/>
                </a:solidFill>
                <a:effectLst/>
                <a:latin typeface="+mn-lt"/>
                <a:ea typeface="+mn-ea"/>
                <a:cs typeface="+mn-cs"/>
              </a:rPr>
              <a:t>总是被</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编译器编译为一个名为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a.out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的文件。</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编译器的输出是一个读取输入字符流并生成词法单元流工作的可允许的词法分析器。</a:t>
            </a:r>
          </a:p>
          <a:p>
            <a:r>
              <a:rPr lang="zh-CN" altLang="zh-CN" sz="1200" kern="1200" dirty="0">
                <a:solidFill>
                  <a:schemeClr val="tx1"/>
                </a:solidFill>
                <a:effectLst/>
                <a:latin typeface="+mn-lt"/>
                <a:ea typeface="+mn-ea"/>
                <a:cs typeface="+mn-cs"/>
              </a:rPr>
              <a:t>编译后的</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程序（在图</a:t>
            </a:r>
            <a:r>
              <a:rPr lang="en-US" altLang="zh-CN" sz="1200" kern="1200" dirty="0">
                <a:solidFill>
                  <a:schemeClr val="tx1"/>
                </a:solidFill>
                <a:effectLst/>
                <a:latin typeface="+mn-lt"/>
                <a:ea typeface="+mn-ea"/>
                <a:cs typeface="+mn-cs"/>
              </a:rPr>
              <a:t> 3.22 </a:t>
            </a:r>
            <a:r>
              <a:rPr lang="zh-CN" altLang="zh-CN" sz="1200" kern="1200" dirty="0">
                <a:solidFill>
                  <a:schemeClr val="tx1"/>
                </a:solidFill>
                <a:effectLst/>
                <a:latin typeface="+mn-lt"/>
                <a:ea typeface="+mn-ea"/>
                <a:cs typeface="+mn-cs"/>
              </a:rPr>
              <a:t>中称为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a.out</a:t>
            </a:r>
            <a:r>
              <a:rPr lang="zh-CN" altLang="zh-CN" sz="1200" kern="1200" dirty="0">
                <a:solidFill>
                  <a:schemeClr val="tx1"/>
                </a:solidFill>
                <a:effectLst/>
                <a:latin typeface="+mn-lt"/>
                <a:ea typeface="+mn-ea"/>
                <a:cs typeface="+mn-cs"/>
              </a:rPr>
              <a:t>）的通常是一个被语法分析器调用的子例程。这个子例程返回一个整数值，即可能出现的某个词法单元名的编码。而词法单元的属性值，无论是一个数字编码、还是一个指向符号表的指针，或者什么都没有，都被放置在全局变量</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yylval</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中，该变量由词法分析器和语法分析器共享，从而可以轻松返回一个词法单元名字和一个属性值。</a:t>
            </a:r>
          </a:p>
          <a:p>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声明部分包括变量声明、明示常量（</a:t>
            </a:r>
            <a:r>
              <a:rPr lang="en-US" altLang="zh-CN" sz="1200" kern="1200" dirty="0">
                <a:solidFill>
                  <a:schemeClr val="tx1"/>
                </a:solidFill>
                <a:effectLst/>
                <a:latin typeface="+mn-lt"/>
                <a:ea typeface="+mn-ea"/>
                <a:cs typeface="+mn-cs"/>
              </a:rPr>
              <a:t>manifest constant</a:t>
            </a:r>
            <a:r>
              <a:rPr lang="zh-CN" altLang="zh-CN" sz="1200" kern="1200" dirty="0">
                <a:solidFill>
                  <a:schemeClr val="tx1"/>
                </a:solidFill>
                <a:effectLst/>
                <a:latin typeface="+mn-lt"/>
                <a:ea typeface="+mn-ea"/>
                <a:cs typeface="+mn-cs"/>
              </a:rPr>
              <a:t>，被声明的表示一个常数的标识符，例如，一个词法单元的名字）的声明和</a:t>
            </a:r>
            <a:r>
              <a:rPr lang="en-US" altLang="zh-CN" sz="1200" kern="1200" dirty="0">
                <a:solidFill>
                  <a:schemeClr val="tx1"/>
                </a:solidFill>
                <a:effectLst/>
                <a:latin typeface="+mn-lt"/>
                <a:ea typeface="+mn-ea"/>
                <a:cs typeface="+mn-cs"/>
              </a:rPr>
              <a:t> 3.3.4 </a:t>
            </a:r>
            <a:r>
              <a:rPr lang="zh-CN" altLang="zh-CN" sz="1200" kern="1200" dirty="0">
                <a:solidFill>
                  <a:schemeClr val="tx1"/>
                </a:solidFill>
                <a:effectLst/>
                <a:latin typeface="+mn-lt"/>
                <a:ea typeface="+mn-ea"/>
                <a:cs typeface="+mn-cs"/>
              </a:rPr>
              <a:t>节中描述的正则定义。</a:t>
            </a:r>
          </a:p>
          <a:p>
            <a:pPr marL="171450" indent="-171450">
              <a:buFont typeface="Arial" panose="020B0604020202020204" pitchFamily="34" charset="0"/>
              <a:buChar char="•"/>
            </a:pPr>
            <a:r>
              <a:rPr lang="en-US" altLang="zh-CN" sz="1200" kern="1200" dirty="0">
                <a:solidFill>
                  <a:schemeClr val="tx1"/>
                </a:solidFill>
                <a:effectLst/>
                <a:latin typeface="+mn-lt"/>
                <a:ea typeface="+mn-ea"/>
                <a:cs typeface="+mn-cs"/>
              </a:rPr>
              <a:t>Lex</a:t>
            </a:r>
            <a:r>
              <a:rPr lang="zh-CN" altLang="zh-CN" sz="1200" kern="1200" dirty="0">
                <a:solidFill>
                  <a:schemeClr val="tx1"/>
                </a:solidFill>
                <a:effectLst/>
                <a:latin typeface="+mn-lt"/>
                <a:ea typeface="+mn-ea"/>
                <a:cs typeface="+mn-cs"/>
              </a:rPr>
              <a:t>程序的每个翻译规则的形式为</a:t>
            </a:r>
          </a:p>
          <a:p>
            <a:r>
              <a:rPr lang="zh-CN" altLang="zh-CN" sz="1200" kern="1200" dirty="0">
                <a:solidFill>
                  <a:schemeClr val="tx1"/>
                </a:solidFill>
                <a:effectLst/>
                <a:latin typeface="+mn-lt"/>
                <a:ea typeface="+mn-ea"/>
                <a:cs typeface="+mn-cs"/>
              </a:rPr>
              <a:t>模式</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动作</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其中，每个模式都是一个正则表达式，它可以使用声明部分中给出的正则定义。这些动作是代码片段，虽然人们已经创建了许多使用其他语言的</a:t>
            </a:r>
            <a:r>
              <a:rPr lang="en-US" altLang="zh-CN" sz="1200" kern="1200" dirty="0">
                <a:solidFill>
                  <a:schemeClr val="tx1"/>
                </a:solidFill>
                <a:effectLst/>
                <a:latin typeface="+mn-lt"/>
                <a:ea typeface="+mn-ea"/>
                <a:cs typeface="+mn-cs"/>
              </a:rPr>
              <a:t> Lex </a:t>
            </a:r>
            <a:r>
              <a:rPr lang="zh-CN" altLang="zh-CN" sz="1200" kern="1200" dirty="0">
                <a:solidFill>
                  <a:schemeClr val="tx1"/>
                </a:solidFill>
                <a:effectLst/>
                <a:latin typeface="+mn-lt"/>
                <a:ea typeface="+mn-ea"/>
                <a:cs typeface="+mn-cs"/>
              </a:rPr>
              <a:t>变体，但这些代码片段通常用</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语言编写。</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第三部分包含各个动作需要使用的所有辅助函数。还有一种方法是将这些函数可以单独编译，并与词法分析器的代码一起加载。</a:t>
            </a:r>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3.11</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3.23 </a:t>
            </a:r>
            <a:r>
              <a:rPr lang="zh-CN" altLang="zh-CN" sz="1200" kern="1200" dirty="0">
                <a:solidFill>
                  <a:schemeClr val="tx1"/>
                </a:solidFill>
                <a:effectLst/>
                <a:latin typeface="+mn-lt"/>
                <a:ea typeface="+mn-ea"/>
                <a:cs typeface="+mn-cs"/>
              </a:rPr>
              <a:t>是一个</a:t>
            </a:r>
            <a:r>
              <a:rPr lang="en-US" altLang="zh-CN" sz="1200" kern="1200" dirty="0">
                <a:solidFill>
                  <a:schemeClr val="tx1"/>
                </a:solidFill>
                <a:effectLst/>
                <a:latin typeface="+mn-lt"/>
                <a:ea typeface="+mn-ea"/>
                <a:cs typeface="+mn-cs"/>
              </a:rPr>
              <a:t> Lex </a:t>
            </a:r>
            <a:r>
              <a:rPr lang="zh-CN" altLang="zh-CN" sz="1200" kern="1200" dirty="0">
                <a:solidFill>
                  <a:schemeClr val="tx1"/>
                </a:solidFill>
                <a:effectLst/>
                <a:latin typeface="+mn-lt"/>
                <a:ea typeface="+mn-ea"/>
                <a:cs typeface="+mn-cs"/>
              </a:rPr>
              <a:t>程序，它能够识别图</a:t>
            </a:r>
            <a:r>
              <a:rPr lang="en-US" altLang="zh-CN" sz="1200" kern="1200" dirty="0">
                <a:solidFill>
                  <a:schemeClr val="tx1"/>
                </a:solidFill>
                <a:effectLst/>
                <a:latin typeface="+mn-lt"/>
                <a:ea typeface="+mn-ea"/>
                <a:cs typeface="+mn-cs"/>
              </a:rPr>
              <a:t> 3.12 </a:t>
            </a:r>
            <a:r>
              <a:rPr lang="zh-CN" altLang="zh-CN" sz="1200" kern="1200" dirty="0">
                <a:solidFill>
                  <a:schemeClr val="tx1"/>
                </a:solidFill>
                <a:effectLst/>
                <a:latin typeface="+mn-lt"/>
                <a:ea typeface="+mn-ea"/>
                <a:cs typeface="+mn-cs"/>
              </a:rPr>
              <a:t>的各个词法单元并返回找到的词法单元。观察这段代码可以发现</a:t>
            </a:r>
            <a:r>
              <a:rPr lang="en-US" altLang="zh-CN" sz="1200" kern="1200" dirty="0">
                <a:solidFill>
                  <a:schemeClr val="tx1"/>
                </a:solidFill>
                <a:effectLst/>
                <a:latin typeface="+mn-lt"/>
                <a:ea typeface="+mn-ea"/>
                <a:cs typeface="+mn-cs"/>
              </a:rPr>
              <a:t>Lex </a:t>
            </a:r>
            <a:r>
              <a:rPr lang="zh-CN" altLang="zh-CN" sz="1200" kern="1200" dirty="0">
                <a:solidFill>
                  <a:schemeClr val="tx1"/>
                </a:solidFill>
                <a:effectLst/>
                <a:latin typeface="+mn-lt"/>
                <a:ea typeface="+mn-ea"/>
                <a:cs typeface="+mn-cs"/>
              </a:rPr>
              <a:t>的许多重要特点。</a:t>
            </a:r>
          </a:p>
          <a:p>
            <a:r>
              <a:rPr lang="zh-CN" altLang="zh-CN" sz="1200" kern="1200" dirty="0">
                <a:solidFill>
                  <a:schemeClr val="tx1"/>
                </a:solidFill>
                <a:effectLst/>
                <a:latin typeface="+mn-lt"/>
                <a:ea typeface="+mn-ea"/>
                <a:cs typeface="+mn-cs"/>
              </a:rPr>
              <a:t>在声明部分，我们看到一对特殊的括号：</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。这些括号内的所有内容都会直接复制到文件</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lex.yy.c</a:t>
            </a:r>
            <a:r>
              <a:rPr lang="zh-CN" altLang="zh-CN" sz="1200" kern="1200" dirty="0">
                <a:solidFill>
                  <a:schemeClr val="tx1"/>
                </a:solidFill>
                <a:effectLst/>
                <a:latin typeface="+mn-lt"/>
                <a:ea typeface="+mn-ea"/>
                <a:cs typeface="+mn-cs"/>
              </a:rPr>
              <a:t>，它们不会被视为正则定义。通常将明示常量的定义放在该括号里，榜使用</a:t>
            </a:r>
            <a:r>
              <a:rPr lang="en-US" altLang="zh-CN" sz="1200" kern="1200" dirty="0">
                <a:solidFill>
                  <a:schemeClr val="tx1"/>
                </a:solidFill>
                <a:effectLst/>
                <a:latin typeface="+mn-lt"/>
                <a:ea typeface="+mn-ea"/>
                <a:cs typeface="+mn-cs"/>
              </a:rPr>
              <a:t> C</a:t>
            </a:r>
            <a:r>
              <a:rPr lang="zh-CN" altLang="zh-CN" sz="1200" kern="1200" dirty="0">
                <a:solidFill>
                  <a:schemeClr val="tx1"/>
                </a:solidFill>
                <a:effectLst/>
                <a:latin typeface="+mn-lt"/>
                <a:ea typeface="+mn-ea"/>
                <a:cs typeface="+mn-cs"/>
              </a:rPr>
              <a:t>语言的</a:t>
            </a:r>
            <a:r>
              <a:rPr lang="en-US" altLang="zh-CN" sz="1200" kern="1200" dirty="0">
                <a:solidFill>
                  <a:schemeClr val="tx1"/>
                </a:solidFill>
                <a:effectLst/>
                <a:latin typeface="+mn-lt"/>
                <a:ea typeface="+mn-ea"/>
                <a:cs typeface="+mn-cs"/>
              </a:rPr>
              <a:t>#define </a:t>
            </a:r>
            <a:r>
              <a:rPr lang="zh-CN" altLang="zh-CN" sz="1200" kern="1200" dirty="0">
                <a:solidFill>
                  <a:schemeClr val="tx1"/>
                </a:solidFill>
                <a:effectLst/>
                <a:latin typeface="+mn-lt"/>
                <a:ea typeface="+mn-ea"/>
                <a:cs typeface="+mn-cs"/>
              </a:rPr>
              <a:t>语句给每个明示常量赋予一个唯一的整数编码。在我们的示例中，我们在注释中列出了</a:t>
            </a:r>
            <a:r>
              <a:rPr lang="en-US" altLang="zh-CN" sz="1200" kern="1200" dirty="0">
                <a:solidFill>
                  <a:schemeClr val="tx1"/>
                </a:solidFill>
                <a:effectLst/>
                <a:latin typeface="+mn-lt"/>
                <a:ea typeface="+mn-ea"/>
                <a:cs typeface="+mn-cs"/>
              </a:rPr>
              <a:t>LT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IF </a:t>
            </a:r>
            <a:r>
              <a:rPr lang="zh-CN" altLang="zh-CN" sz="1200" kern="1200" dirty="0">
                <a:solidFill>
                  <a:schemeClr val="tx1"/>
                </a:solidFill>
                <a:effectLst/>
                <a:latin typeface="+mn-lt"/>
                <a:ea typeface="+mn-ea"/>
                <a:cs typeface="+mn-cs"/>
              </a:rPr>
              <a:t>等明示常量，但没有显示它们被赋予哪些特定的整数。</a:t>
            </a:r>
          </a:p>
          <a:p>
            <a:r>
              <a:rPr lang="zh-CN" altLang="zh-CN" sz="1200" kern="1200" dirty="0">
                <a:solidFill>
                  <a:schemeClr val="tx1"/>
                </a:solidFill>
                <a:effectLst/>
                <a:latin typeface="+mn-lt"/>
                <a:ea typeface="+mn-ea"/>
                <a:cs typeface="+mn-cs"/>
              </a:rPr>
              <a:t>声明部分中还包含一个正则定义的序列。这些定义使用了第</a:t>
            </a:r>
            <a:r>
              <a:rPr lang="en-US" altLang="zh-CN" sz="1200" kern="1200" dirty="0">
                <a:solidFill>
                  <a:schemeClr val="tx1"/>
                </a:solidFill>
                <a:effectLst/>
                <a:latin typeface="+mn-lt"/>
                <a:ea typeface="+mn-ea"/>
                <a:cs typeface="+mn-cs"/>
              </a:rPr>
              <a:t> 3.3.5 </a:t>
            </a:r>
            <a:r>
              <a:rPr lang="zh-CN" altLang="zh-CN" sz="1200" kern="1200" dirty="0">
                <a:solidFill>
                  <a:schemeClr val="tx1"/>
                </a:solidFill>
                <a:effectLst/>
                <a:latin typeface="+mn-lt"/>
                <a:ea typeface="+mn-ea"/>
                <a:cs typeface="+mn-cs"/>
              </a:rPr>
              <a:t>节中描述的正则表达式的扩展表示法。那些将在后面的定义中或某个翻译规则的模式中使用的正则定义用大括号括起来。因此，例如，</a:t>
            </a:r>
            <a:r>
              <a:rPr lang="en-US" altLang="zh-CN" sz="1200" kern="1200" dirty="0" err="1">
                <a:solidFill>
                  <a:schemeClr val="tx1"/>
                </a:solidFill>
                <a:effectLst/>
                <a:latin typeface="+mn-lt"/>
                <a:ea typeface="+mn-ea"/>
                <a:cs typeface="+mn-cs"/>
              </a:rPr>
              <a:t>delim</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被定义为表示一个包含了空格、制表符和换行符的字符类的简写；与所有</a:t>
            </a:r>
            <a:r>
              <a:rPr lang="en-US" altLang="zh-CN" sz="1200" kern="1200" dirty="0">
                <a:solidFill>
                  <a:schemeClr val="tx1"/>
                </a:solidFill>
                <a:effectLst/>
                <a:latin typeface="+mn-lt"/>
                <a:ea typeface="+mn-ea"/>
                <a:cs typeface="+mn-cs"/>
              </a:rPr>
              <a:t> UNIX </a:t>
            </a:r>
            <a:r>
              <a:rPr lang="zh-CN" altLang="zh-CN" sz="1200" kern="1200" dirty="0">
                <a:solidFill>
                  <a:schemeClr val="tx1"/>
                </a:solidFill>
                <a:effectLst/>
                <a:latin typeface="+mn-lt"/>
                <a:ea typeface="+mn-ea"/>
                <a:cs typeface="+mn-cs"/>
              </a:rPr>
              <a:t>命令一样，后两个字符分别用反斜杠再跟上</a:t>
            </a:r>
            <a:r>
              <a:rPr lang="en-US" altLang="zh-CN" sz="1200" kern="1200" dirty="0">
                <a:solidFill>
                  <a:schemeClr val="tx1"/>
                </a:solidFill>
                <a:effectLst/>
                <a:latin typeface="+mn-lt"/>
                <a:ea typeface="+mn-ea"/>
                <a:cs typeface="+mn-cs"/>
              </a:rPr>
              <a:t> t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n </a:t>
            </a:r>
            <a:r>
              <a:rPr lang="zh-CN" altLang="zh-CN" sz="1200" kern="1200" dirty="0">
                <a:solidFill>
                  <a:schemeClr val="tx1"/>
                </a:solidFill>
                <a:effectLst/>
                <a:latin typeface="+mn-lt"/>
                <a:ea typeface="+mn-ea"/>
                <a:cs typeface="+mn-cs"/>
              </a:rPr>
              <a:t>表示。这个表示法和</a:t>
            </a:r>
            <a:r>
              <a:rPr lang="en-US" altLang="zh-CN" sz="1200" kern="1200" dirty="0">
                <a:solidFill>
                  <a:schemeClr val="tx1"/>
                </a:solidFill>
                <a:effectLst/>
                <a:latin typeface="+mn-lt"/>
                <a:ea typeface="+mn-ea"/>
                <a:cs typeface="+mn-cs"/>
              </a:rPr>
              <a:t>Unix</a:t>
            </a:r>
            <a:r>
              <a:rPr lang="zh-CN" altLang="zh-CN" sz="1200" kern="1200" dirty="0">
                <a:solidFill>
                  <a:schemeClr val="tx1"/>
                </a:solidFill>
                <a:effectLst/>
                <a:latin typeface="+mn-lt"/>
                <a:ea typeface="+mn-ea"/>
                <a:cs typeface="+mn-cs"/>
              </a:rPr>
              <a:t>命令使用的方法相同。于是，</a:t>
            </a:r>
            <a:r>
              <a:rPr lang="en-US" altLang="zh-CN" sz="1200" kern="1200" dirty="0" err="1">
                <a:solidFill>
                  <a:schemeClr val="tx1"/>
                </a:solidFill>
                <a:effectLst/>
                <a:latin typeface="+mn-lt"/>
                <a:ea typeface="+mn-ea"/>
                <a:cs typeface="+mn-cs"/>
              </a:rPr>
              <a:t>ws</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通过正则表达式</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delim</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定义为一个或多个分隔符组成的序列。</a:t>
            </a:r>
          </a:p>
          <a:p>
            <a:r>
              <a:rPr lang="zh-CN" altLang="zh-CN" sz="1200" kern="1200" dirty="0">
                <a:solidFill>
                  <a:schemeClr val="tx1"/>
                </a:solidFill>
                <a:effectLst/>
                <a:latin typeface="+mn-lt"/>
                <a:ea typeface="+mn-ea"/>
                <a:cs typeface="+mn-cs"/>
              </a:rPr>
              <a:t>请注意，在</a:t>
            </a:r>
            <a:r>
              <a:rPr lang="en-US" altLang="zh-CN" sz="1200" kern="1200" dirty="0">
                <a:solidFill>
                  <a:schemeClr val="tx1"/>
                </a:solidFill>
                <a:effectLst/>
                <a:latin typeface="+mn-lt"/>
                <a:ea typeface="+mn-ea"/>
                <a:cs typeface="+mn-cs"/>
              </a:rPr>
              <a:t> id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number </a:t>
            </a:r>
            <a:r>
              <a:rPr lang="zh-CN" altLang="zh-CN" sz="1200" kern="1200" dirty="0">
                <a:solidFill>
                  <a:schemeClr val="tx1"/>
                </a:solidFill>
                <a:effectLst/>
                <a:latin typeface="+mn-lt"/>
                <a:ea typeface="+mn-ea"/>
                <a:cs typeface="+mn-cs"/>
              </a:rPr>
              <a:t>的定义中，圆括号是用于分组的元符号，并不代表其圆括号本身。相反，</a:t>
            </a:r>
            <a:r>
              <a:rPr lang="en-US" altLang="zh-CN" sz="1200" kern="1200" dirty="0">
                <a:solidFill>
                  <a:schemeClr val="tx1"/>
                </a:solidFill>
                <a:effectLst/>
                <a:latin typeface="+mn-lt"/>
                <a:ea typeface="+mn-ea"/>
                <a:cs typeface="+mn-cs"/>
              </a:rPr>
              <a:t>number</a:t>
            </a:r>
            <a:r>
              <a:rPr lang="zh-CN" altLang="zh-CN" sz="1200" kern="1200" dirty="0">
                <a:solidFill>
                  <a:schemeClr val="tx1"/>
                </a:solidFill>
                <a:effectLst/>
                <a:latin typeface="+mn-lt"/>
                <a:ea typeface="+mn-ea"/>
                <a:cs typeface="+mn-cs"/>
              </a:rPr>
              <a:t>定义中的</a:t>
            </a:r>
            <a:r>
              <a:rPr lang="en-US" altLang="zh-CN" sz="1200" kern="1200" dirty="0">
                <a:solidFill>
                  <a:schemeClr val="tx1"/>
                </a:solidFill>
                <a:effectLst/>
                <a:latin typeface="+mn-lt"/>
                <a:ea typeface="+mn-ea"/>
                <a:cs typeface="+mn-cs"/>
              </a:rPr>
              <a:t> E </a:t>
            </a:r>
            <a:r>
              <a:rPr lang="zh-CN" altLang="zh-CN" sz="1200" kern="1200" dirty="0">
                <a:solidFill>
                  <a:schemeClr val="tx1"/>
                </a:solidFill>
                <a:effectLst/>
                <a:latin typeface="+mn-lt"/>
                <a:ea typeface="+mn-ea"/>
                <a:cs typeface="+mn-cs"/>
              </a:rPr>
              <a:t>代表其自身。如果我们希望使用</a:t>
            </a:r>
            <a:r>
              <a:rPr lang="en-US" altLang="zh-CN" sz="1200" kern="1200" dirty="0">
                <a:solidFill>
                  <a:schemeClr val="tx1"/>
                </a:solidFill>
                <a:effectLst/>
                <a:latin typeface="+mn-lt"/>
                <a:ea typeface="+mn-ea"/>
                <a:cs typeface="+mn-cs"/>
              </a:rPr>
              <a:t> Lex</a:t>
            </a:r>
            <a:r>
              <a:rPr lang="zh-CN" altLang="zh-CN" sz="1200" kern="1200" dirty="0">
                <a:solidFill>
                  <a:schemeClr val="tx1"/>
                </a:solidFill>
                <a:effectLst/>
                <a:latin typeface="+mn-lt"/>
                <a:ea typeface="+mn-ea"/>
                <a:cs typeface="+mn-cs"/>
              </a:rPr>
              <a:t>的某个元符号（例如任何括号、</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或？等）来代表其自身，我们可以在它们前面加上反斜杠。例如，我们在</a:t>
            </a:r>
            <a:r>
              <a:rPr lang="en-US" altLang="zh-CN" sz="1200" kern="1200" dirty="0">
                <a:solidFill>
                  <a:schemeClr val="tx1"/>
                </a:solidFill>
                <a:effectLst/>
                <a:latin typeface="+mn-lt"/>
                <a:ea typeface="+mn-ea"/>
                <a:cs typeface="+mn-cs"/>
              </a:rPr>
              <a:t>number</a:t>
            </a:r>
            <a:r>
              <a:rPr lang="zh-CN" altLang="zh-CN" sz="1200" kern="1200" dirty="0">
                <a:solidFill>
                  <a:schemeClr val="tx1"/>
                </a:solidFill>
                <a:effectLst/>
                <a:latin typeface="+mn-lt"/>
                <a:ea typeface="+mn-ea"/>
                <a:cs typeface="+mn-cs"/>
              </a:rPr>
              <a:t>的定义中看到</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，就表示小数点本身。在它前面加上反斜线的原因是，和在</a:t>
            </a:r>
            <a:r>
              <a:rPr lang="en-US" altLang="zh-CN" sz="1200" kern="1200" dirty="0">
                <a:solidFill>
                  <a:schemeClr val="tx1"/>
                </a:solidFill>
                <a:effectLst/>
                <a:latin typeface="+mn-lt"/>
                <a:ea typeface="+mn-ea"/>
                <a:cs typeface="+mn-cs"/>
              </a:rPr>
              <a:t>UNIX </a:t>
            </a:r>
            <a:r>
              <a:rPr lang="zh-CN" altLang="zh-CN" sz="1200" kern="1200" dirty="0">
                <a:solidFill>
                  <a:schemeClr val="tx1"/>
                </a:solidFill>
                <a:effectLst/>
                <a:latin typeface="+mn-lt"/>
                <a:ea typeface="+mn-ea"/>
                <a:cs typeface="+mn-cs"/>
              </a:rPr>
              <a:t>正则表达式中一样，该字符在</a:t>
            </a:r>
            <a:r>
              <a:rPr lang="en-US" altLang="zh-CN" sz="1200" kern="1200" dirty="0" err="1">
                <a:solidFill>
                  <a:schemeClr val="tx1"/>
                </a:solidFill>
                <a:effectLst/>
                <a:latin typeface="+mn-lt"/>
                <a:ea typeface="+mn-ea"/>
                <a:cs typeface="+mn-cs"/>
              </a:rPr>
              <a:t>lex</a:t>
            </a:r>
            <a:r>
              <a:rPr lang="zh-CN" altLang="zh-CN" sz="1200" kern="1200" dirty="0">
                <a:solidFill>
                  <a:schemeClr val="tx1"/>
                </a:solidFill>
                <a:effectLst/>
                <a:latin typeface="+mn-lt"/>
                <a:ea typeface="+mn-ea"/>
                <a:cs typeface="+mn-cs"/>
              </a:rPr>
              <a:t>是一个代表“任一字符”的元符号。</a:t>
            </a:r>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首先，</a:t>
            </a:r>
            <a:r>
              <a:rPr lang="en-US" altLang="zh-CN" sz="1200" kern="1200" dirty="0" err="1">
                <a:solidFill>
                  <a:schemeClr val="tx1"/>
                </a:solidFill>
                <a:effectLst/>
                <a:latin typeface="+mn-lt"/>
                <a:ea typeface="+mn-ea"/>
                <a:cs typeface="+mn-cs"/>
              </a:rPr>
              <a:t>ws</a:t>
            </a:r>
            <a:r>
              <a:rPr lang="zh-CN" altLang="zh-CN" sz="1200" kern="1200" dirty="0">
                <a:solidFill>
                  <a:schemeClr val="tx1"/>
                </a:solidFill>
                <a:effectLst/>
                <a:latin typeface="+mn-lt"/>
                <a:ea typeface="+mn-ea"/>
                <a:cs typeface="+mn-cs"/>
              </a:rPr>
              <a:t>（在第一部分中声明的标识符）有一个相关的空动作。如果我们发现了一个空白符，我们并不把它返回给语法分析器，而是继续寻找另一个词素。第二个词法单元具有简单的正则表达式模式</a:t>
            </a:r>
            <a:r>
              <a:rPr lang="en-US" altLang="zh-CN" sz="1200" kern="1200" dirty="0">
                <a:solidFill>
                  <a:schemeClr val="tx1"/>
                </a:solidFill>
                <a:effectLst/>
                <a:latin typeface="+mn-lt"/>
                <a:ea typeface="+mn-ea"/>
                <a:cs typeface="+mn-cs"/>
              </a:rPr>
              <a:t> if</a:t>
            </a:r>
            <a:r>
              <a:rPr lang="zh-CN" altLang="zh-CN" sz="1200" kern="1200" dirty="0">
                <a:solidFill>
                  <a:schemeClr val="tx1"/>
                </a:solidFill>
                <a:effectLst/>
                <a:latin typeface="+mn-lt"/>
                <a:ea typeface="+mn-ea"/>
                <a:cs typeface="+mn-cs"/>
              </a:rPr>
              <a:t>。如果我们在输入中看到两个字母</a:t>
            </a:r>
            <a:r>
              <a:rPr lang="en-US" altLang="zh-CN" sz="1200" kern="1200" dirty="0">
                <a:solidFill>
                  <a:schemeClr val="tx1"/>
                </a:solidFill>
                <a:effectLst/>
                <a:latin typeface="+mn-lt"/>
                <a:ea typeface="+mn-ea"/>
                <a:cs typeface="+mn-cs"/>
              </a:rPr>
              <a:t> if</a:t>
            </a:r>
            <a:r>
              <a:rPr lang="zh-CN" altLang="zh-CN" sz="1200" kern="1200" dirty="0">
                <a:solidFill>
                  <a:schemeClr val="tx1"/>
                </a:solidFill>
                <a:effectLst/>
                <a:latin typeface="+mn-lt"/>
                <a:ea typeface="+mn-ea"/>
                <a:cs typeface="+mn-cs"/>
              </a:rPr>
              <a:t>，并且</a:t>
            </a:r>
            <a:r>
              <a:rPr lang="en-US" altLang="zh-CN" sz="1200" kern="1200" dirty="0">
                <a:solidFill>
                  <a:schemeClr val="tx1"/>
                </a:solidFill>
                <a:effectLst/>
                <a:latin typeface="+mn-lt"/>
                <a:ea typeface="+mn-ea"/>
                <a:cs typeface="+mn-cs"/>
              </a:rPr>
              <a:t>if</a:t>
            </a:r>
            <a:r>
              <a:rPr lang="zh-CN" altLang="zh-CN" sz="1200" kern="1200" dirty="0">
                <a:solidFill>
                  <a:schemeClr val="tx1"/>
                </a:solidFill>
                <a:effectLst/>
                <a:latin typeface="+mn-lt"/>
                <a:ea typeface="+mn-ea"/>
                <a:cs typeface="+mn-cs"/>
              </a:rPr>
              <a:t>后面没有跟随其他字母或数位（如果有的话，词法分析器会去寻找一个和</a:t>
            </a:r>
            <a:r>
              <a:rPr lang="en-US" altLang="zh-CN" sz="1200" kern="1200" dirty="0">
                <a:solidFill>
                  <a:schemeClr val="tx1"/>
                </a:solidFill>
                <a:effectLst/>
                <a:latin typeface="+mn-lt"/>
                <a:ea typeface="+mn-ea"/>
                <a:cs typeface="+mn-cs"/>
              </a:rPr>
              <a:t> id </a:t>
            </a:r>
            <a:r>
              <a:rPr lang="zh-CN" altLang="zh-CN" sz="1200" kern="1200" dirty="0">
                <a:solidFill>
                  <a:schemeClr val="tx1"/>
                </a:solidFill>
                <a:effectLst/>
                <a:latin typeface="+mn-lt"/>
                <a:ea typeface="+mn-ea"/>
                <a:cs typeface="+mn-cs"/>
              </a:rPr>
              <a:t>模式匹配的最长输入前缀），那么词法分析器从输入中读入这两个字符，并返回词法单元名</a:t>
            </a:r>
            <a:r>
              <a:rPr lang="en-US" altLang="zh-CN" sz="1200" kern="1200" dirty="0">
                <a:solidFill>
                  <a:schemeClr val="tx1"/>
                </a:solidFill>
                <a:effectLst/>
                <a:latin typeface="+mn-lt"/>
                <a:ea typeface="+mn-ea"/>
                <a:cs typeface="+mn-cs"/>
              </a:rPr>
              <a:t> IF</a:t>
            </a:r>
            <a:r>
              <a:rPr lang="zh-CN" altLang="zh-CN" sz="1200" kern="1200" dirty="0">
                <a:solidFill>
                  <a:schemeClr val="tx1"/>
                </a:solidFill>
                <a:effectLst/>
                <a:latin typeface="+mn-lt"/>
                <a:ea typeface="+mn-ea"/>
                <a:cs typeface="+mn-cs"/>
              </a:rPr>
              <a:t>，即明示常量</a:t>
            </a:r>
            <a:r>
              <a:rPr lang="en-US" altLang="zh-CN" sz="1200" kern="1200" dirty="0">
                <a:solidFill>
                  <a:schemeClr val="tx1"/>
                </a:solidFill>
                <a:effectLst/>
                <a:latin typeface="+mn-lt"/>
                <a:ea typeface="+mn-ea"/>
                <a:cs typeface="+mn-cs"/>
              </a:rPr>
              <a:t> IF </a:t>
            </a:r>
            <a:r>
              <a:rPr lang="zh-CN" altLang="zh-CN" sz="1200" kern="1200" dirty="0">
                <a:solidFill>
                  <a:schemeClr val="tx1"/>
                </a:solidFill>
                <a:effectLst/>
                <a:latin typeface="+mn-lt"/>
                <a:ea typeface="+mn-ea"/>
                <a:cs typeface="+mn-cs"/>
              </a:rPr>
              <a:t>所代表的整数值。关键字</a:t>
            </a:r>
            <a:r>
              <a:rPr lang="en-US" altLang="zh-CN" sz="1200" kern="1200" dirty="0">
                <a:solidFill>
                  <a:schemeClr val="tx1"/>
                </a:solidFill>
                <a:effectLst/>
                <a:latin typeface="+mn-lt"/>
                <a:ea typeface="+mn-ea"/>
                <a:cs typeface="+mn-cs"/>
              </a:rPr>
              <a:t> then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else </a:t>
            </a:r>
            <a:r>
              <a:rPr lang="zh-CN" altLang="zh-CN" sz="1200" kern="1200" dirty="0">
                <a:solidFill>
                  <a:schemeClr val="tx1"/>
                </a:solidFill>
                <a:effectLst/>
                <a:latin typeface="+mn-lt"/>
                <a:ea typeface="+mn-ea"/>
                <a:cs typeface="+mn-cs"/>
              </a:rPr>
              <a:t>的处理方式类似。</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第五个词法单元的模式由</a:t>
            </a:r>
            <a:r>
              <a:rPr lang="en-US" altLang="zh-CN" sz="1200" kern="1200" dirty="0">
                <a:solidFill>
                  <a:schemeClr val="tx1"/>
                </a:solidFill>
                <a:effectLst/>
                <a:latin typeface="+mn-lt"/>
                <a:ea typeface="+mn-ea"/>
                <a:cs typeface="+mn-cs"/>
              </a:rPr>
              <a:t> id </a:t>
            </a:r>
            <a:r>
              <a:rPr lang="zh-CN" altLang="zh-CN" sz="1200" kern="1200" dirty="0">
                <a:solidFill>
                  <a:schemeClr val="tx1"/>
                </a:solidFill>
                <a:effectLst/>
                <a:latin typeface="+mn-lt"/>
                <a:ea typeface="+mn-ea"/>
                <a:cs typeface="+mn-cs"/>
              </a:rPr>
              <a:t>定义的模式。请注意，虽然像</a:t>
            </a:r>
            <a:r>
              <a:rPr lang="en-US" altLang="zh-CN" sz="1200" kern="1200" dirty="0">
                <a:solidFill>
                  <a:schemeClr val="tx1"/>
                </a:solidFill>
                <a:effectLst/>
                <a:latin typeface="+mn-lt"/>
                <a:ea typeface="+mn-ea"/>
                <a:cs typeface="+mn-cs"/>
              </a:rPr>
              <a:t> if </a:t>
            </a:r>
            <a:r>
              <a:rPr lang="zh-CN" altLang="zh-CN" sz="1200" kern="1200" dirty="0">
                <a:solidFill>
                  <a:schemeClr val="tx1"/>
                </a:solidFill>
                <a:effectLst/>
                <a:latin typeface="+mn-lt"/>
                <a:ea typeface="+mn-ea"/>
                <a:cs typeface="+mn-cs"/>
              </a:rPr>
              <a:t>这样的关键字既匹配此模式也匹配之前的一个模式，但在最长匹配前缀与两个或多个模式匹配的情况下</a:t>
            </a:r>
            <a:r>
              <a:rPr lang="en-US" altLang="zh-CN" sz="1200" kern="1200" dirty="0">
                <a:solidFill>
                  <a:schemeClr val="tx1"/>
                </a:solidFill>
                <a:effectLst/>
                <a:latin typeface="+mn-lt"/>
                <a:ea typeface="+mn-ea"/>
                <a:cs typeface="+mn-cs"/>
              </a:rPr>
              <a:t> Lex </a:t>
            </a:r>
            <a:r>
              <a:rPr lang="zh-CN" altLang="zh-CN" sz="1200" kern="1200" dirty="0">
                <a:solidFill>
                  <a:schemeClr val="tx1"/>
                </a:solidFill>
                <a:effectLst/>
                <a:latin typeface="+mn-lt"/>
                <a:ea typeface="+mn-ea"/>
                <a:cs typeface="+mn-cs"/>
              </a:rPr>
              <a:t>会选择最先被列出的那个模式。当</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被匹配时，相应的处理动作分为三步： </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调用函数</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installID</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将找到的词素放入符号表中。 </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该函数返回一个指向符号表的指针，该指针被放置在全局变量</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yylval</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中，可供语法分析器或编译器的后续组件使用。请注意，</a:t>
            </a:r>
            <a:r>
              <a:rPr lang="en-US" altLang="zh-CN" sz="1200" kern="1200" dirty="0" err="1">
                <a:solidFill>
                  <a:schemeClr val="tx1"/>
                </a:solidFill>
                <a:effectLst/>
                <a:latin typeface="+mn-lt"/>
                <a:ea typeface="+mn-ea"/>
                <a:cs typeface="+mn-cs"/>
              </a:rPr>
              <a:t>installID</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可以使用以下两个由</a:t>
            </a:r>
            <a:r>
              <a:rPr lang="en-US" altLang="zh-CN" sz="1200" kern="1200" dirty="0">
                <a:solidFill>
                  <a:schemeClr val="tx1"/>
                </a:solidFill>
                <a:effectLst/>
                <a:latin typeface="+mn-lt"/>
                <a:ea typeface="+mn-ea"/>
                <a:cs typeface="+mn-cs"/>
              </a:rPr>
              <a:t>Lex </a:t>
            </a:r>
            <a:r>
              <a:rPr lang="zh-CN" altLang="zh-CN" sz="1200" kern="1200" dirty="0">
                <a:solidFill>
                  <a:schemeClr val="tx1"/>
                </a:solidFill>
                <a:effectLst/>
                <a:latin typeface="+mn-lt"/>
                <a:ea typeface="+mn-ea"/>
                <a:cs typeface="+mn-cs"/>
              </a:rPr>
              <a:t>生成的、由词法分析器自动赋值的变量：</a:t>
            </a:r>
            <a:r>
              <a:rPr lang="en-US" altLang="zh-CN" sz="1200" kern="1200" dirty="0">
                <a:solidFill>
                  <a:schemeClr val="tx1"/>
                </a:solidFill>
                <a:effectLst/>
                <a:latin typeface="+mn-lt"/>
                <a:ea typeface="+mn-ea"/>
                <a:cs typeface="+mn-cs"/>
              </a:rPr>
              <a:t> (a) </a:t>
            </a:r>
            <a:r>
              <a:rPr lang="en-US" altLang="zh-CN" sz="1200" kern="1200" dirty="0" err="1">
                <a:solidFill>
                  <a:schemeClr val="tx1"/>
                </a:solidFill>
                <a:effectLst/>
                <a:latin typeface="+mn-lt"/>
                <a:ea typeface="+mn-ea"/>
                <a:cs typeface="+mn-cs"/>
              </a:rPr>
              <a:t>yytext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是指向词素开头的指针，类似于图</a:t>
            </a:r>
            <a:r>
              <a:rPr lang="en-US" altLang="zh-CN" sz="1200" kern="1200" dirty="0">
                <a:solidFill>
                  <a:schemeClr val="tx1"/>
                </a:solidFill>
                <a:effectLst/>
                <a:latin typeface="+mn-lt"/>
                <a:ea typeface="+mn-ea"/>
                <a:cs typeface="+mn-cs"/>
              </a:rPr>
              <a:t> 3.3 </a:t>
            </a:r>
            <a:r>
              <a:rPr lang="zh-CN" altLang="zh-CN" sz="1200" kern="1200" dirty="0">
                <a:solidFill>
                  <a:schemeClr val="tx1"/>
                </a:solidFill>
                <a:effectLst/>
                <a:latin typeface="+mn-lt"/>
                <a:ea typeface="+mn-ea"/>
                <a:cs typeface="+mn-cs"/>
              </a:rPr>
              <a:t>中的</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lexemeBegin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(b) </a:t>
            </a:r>
            <a:r>
              <a:rPr lang="en-US" altLang="zh-CN" sz="1200" kern="1200" dirty="0" err="1">
                <a:solidFill>
                  <a:schemeClr val="tx1"/>
                </a:solidFill>
                <a:effectLst/>
                <a:latin typeface="+mn-lt"/>
                <a:ea typeface="+mn-ea"/>
                <a:cs typeface="+mn-cs"/>
              </a:rPr>
              <a:t>yyleng</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存放刚找到的词素的长度。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词法单元名</a:t>
            </a:r>
            <a:r>
              <a:rPr lang="en-US" altLang="zh-CN" sz="1200" kern="1200" dirty="0">
                <a:solidFill>
                  <a:schemeClr val="tx1"/>
                </a:solidFill>
                <a:effectLst/>
                <a:latin typeface="+mn-lt"/>
                <a:ea typeface="+mn-ea"/>
                <a:cs typeface="+mn-cs"/>
              </a:rPr>
              <a:t>ID </a:t>
            </a:r>
            <a:r>
              <a:rPr lang="zh-CN" altLang="zh-CN" sz="1200" kern="1200" dirty="0">
                <a:solidFill>
                  <a:schemeClr val="tx1"/>
                </a:solidFill>
                <a:effectLst/>
                <a:latin typeface="+mn-lt"/>
                <a:ea typeface="+mn-ea"/>
                <a:cs typeface="+mn-cs"/>
              </a:rPr>
              <a:t>返回给语法分析器。</a:t>
            </a:r>
          </a:p>
          <a:p>
            <a:r>
              <a:rPr lang="zh-CN" altLang="zh-CN" sz="1200" kern="1200" dirty="0">
                <a:solidFill>
                  <a:schemeClr val="tx1"/>
                </a:solidFill>
                <a:effectLst/>
                <a:latin typeface="+mn-lt"/>
                <a:ea typeface="+mn-ea"/>
                <a:cs typeface="+mn-cs"/>
              </a:rPr>
              <a:t>当一个词素与模式</a:t>
            </a:r>
            <a:r>
              <a:rPr lang="en-US" altLang="zh-CN" sz="1200" kern="1200" dirty="0">
                <a:solidFill>
                  <a:schemeClr val="tx1"/>
                </a:solidFill>
                <a:effectLst/>
                <a:latin typeface="+mn-lt"/>
                <a:ea typeface="+mn-ea"/>
                <a:cs typeface="+mn-cs"/>
              </a:rPr>
              <a:t>number</a:t>
            </a:r>
            <a:r>
              <a:rPr lang="zh-CN" altLang="zh-CN" sz="1200" kern="1200" dirty="0">
                <a:solidFill>
                  <a:schemeClr val="tx1"/>
                </a:solidFill>
                <a:effectLst/>
                <a:latin typeface="+mn-lt"/>
                <a:ea typeface="+mn-ea"/>
                <a:cs typeface="+mn-cs"/>
              </a:rPr>
              <a:t>匹配时，执行的处理与此类似，它使用辅助函数</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installNum</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完成处理。</a:t>
            </a:r>
            <a:endParaRPr lang="en-US"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在辅助函数部分，我们看到两个这样的函数：</a:t>
            </a:r>
            <a:r>
              <a:rPr lang="en-US" altLang="zh-CN" sz="1200" kern="1200" dirty="0" err="1">
                <a:solidFill>
                  <a:schemeClr val="tx1"/>
                </a:solidFill>
                <a:effectLst/>
                <a:latin typeface="+mn-lt"/>
                <a:ea typeface="+mn-ea"/>
                <a:cs typeface="+mn-cs"/>
              </a:rPr>
              <a:t>installID</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installNum</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。和位于</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中的声明部分一样，出现在辅助部分中的所有内容都被直接复制到文件</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lex.yy.c</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中，虽然它们位于转换规则部分之后，但这些函数可以在规则部分的动作定义中使用。</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我们已经提到了当输入的多个前缀与一种或多种模式匹配时，</a:t>
            </a:r>
            <a:r>
              <a:rPr lang="en-US" altLang="zh-CN" sz="1200" kern="1200" dirty="0">
                <a:solidFill>
                  <a:schemeClr val="tx1"/>
                </a:solidFill>
                <a:effectLst/>
                <a:latin typeface="+mn-lt"/>
                <a:ea typeface="+mn-ea"/>
                <a:cs typeface="+mn-cs"/>
              </a:rPr>
              <a:t>Lex </a:t>
            </a:r>
            <a:r>
              <a:rPr lang="zh-CN" altLang="zh-CN" sz="1200" kern="1200" dirty="0">
                <a:solidFill>
                  <a:schemeClr val="tx1"/>
                </a:solidFill>
                <a:effectLst/>
                <a:latin typeface="+mn-lt"/>
                <a:ea typeface="+mn-ea"/>
                <a:cs typeface="+mn-cs"/>
              </a:rPr>
              <a:t>用来决定要选择的正确词素的两条规则： </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总是优先选择较长的前缀而不是较短的前缀。 </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如果最长的可能前缀与两个或多个模式匹配，则优先选择</a:t>
            </a:r>
            <a:r>
              <a:rPr lang="en-US" altLang="zh-CN" sz="1200" kern="1200" dirty="0">
                <a:solidFill>
                  <a:schemeClr val="tx1"/>
                </a:solidFill>
                <a:effectLst/>
                <a:latin typeface="+mn-lt"/>
                <a:ea typeface="+mn-ea"/>
                <a:cs typeface="+mn-cs"/>
              </a:rPr>
              <a:t> Lex </a:t>
            </a:r>
            <a:r>
              <a:rPr lang="zh-CN" altLang="zh-CN" sz="1200" kern="1200" dirty="0">
                <a:solidFill>
                  <a:schemeClr val="tx1"/>
                </a:solidFill>
                <a:effectLst/>
                <a:latin typeface="+mn-lt"/>
                <a:ea typeface="+mn-ea"/>
                <a:cs typeface="+mn-cs"/>
              </a:rPr>
              <a:t>程序中首先列出的模式。</a:t>
            </a:r>
          </a:p>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49</a:t>
            </a:fld>
            <a:endParaRPr lang="zh-CN" altLang="en-US"/>
          </a:p>
        </p:txBody>
      </p:sp>
    </p:spTree>
    <p:extLst>
      <p:ext uri="{BB962C8B-B14F-4D97-AF65-F5344CB8AC3E}">
        <p14:creationId xmlns:p14="http://schemas.microsoft.com/office/powerpoint/2010/main" val="12951204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现在我们将了解</a:t>
            </a:r>
            <a:r>
              <a:rPr lang="en-US" altLang="zh-CN" sz="1200" kern="1200" dirty="0">
                <a:solidFill>
                  <a:schemeClr val="tx1"/>
                </a:solidFill>
                <a:effectLst/>
                <a:latin typeface="+mn-lt"/>
                <a:ea typeface="+mn-ea"/>
                <a:cs typeface="+mn-cs"/>
              </a:rPr>
              <a:t> Lex </a:t>
            </a:r>
            <a:r>
              <a:rPr lang="zh-CN" altLang="zh-CN" sz="1200" kern="1200" dirty="0">
                <a:solidFill>
                  <a:schemeClr val="tx1"/>
                </a:solidFill>
                <a:effectLst/>
                <a:latin typeface="+mn-lt"/>
                <a:ea typeface="+mn-ea"/>
                <a:cs typeface="+mn-cs"/>
              </a:rPr>
              <a:t>如何将其输入程序转变为词法分析器。转变的核心是被称为有穷自动机的表示方法。这些自动机本质上是与状态转换图类似的图，但有一些区别： </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有限自动机是识别器；它们只能对每个可能的输入字符串回答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否</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有限自动机有两种形式：</a:t>
            </a:r>
          </a:p>
          <a:p>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非确定性有限自动机</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对其边的标号没有任何限制。一个符号标记离开同一状态的多条边，并且空字符串，也可以作为标号。</a:t>
            </a:r>
          </a:p>
          <a:p>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确定性有限自动机</a:t>
            </a:r>
            <a:r>
              <a:rPr lang="en-US" altLang="zh-CN" sz="1200" kern="1200" dirty="0">
                <a:solidFill>
                  <a:schemeClr val="tx1"/>
                </a:solidFill>
                <a:effectLst/>
                <a:latin typeface="+mn-lt"/>
                <a:ea typeface="+mn-ea"/>
                <a:cs typeface="+mn-cs"/>
              </a:rPr>
              <a:t> (DFA) </a:t>
            </a:r>
            <a:r>
              <a:rPr lang="zh-CN" altLang="zh-CN" sz="1200" kern="1200" dirty="0">
                <a:solidFill>
                  <a:schemeClr val="tx1"/>
                </a:solidFill>
                <a:effectLst/>
                <a:latin typeface="+mn-lt"/>
                <a:ea typeface="+mn-ea"/>
                <a:cs typeface="+mn-cs"/>
              </a:rPr>
              <a:t>对于每个状态以及自动机输入字母表中的每个符号都有且只有一条离开该状态，以该符号为标号的边。</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确定性和非确定的有穷自动机能识别的语言的集合是相同的。事实上，这些语言正好是能够用正则表达式描述的语言的集合，这个集合中的语言称为正则语言。</a:t>
            </a:r>
          </a:p>
          <a:p>
            <a:endParaRPr lang="zh-CN" altLang="zh-CN" sz="1200" kern="1200" dirty="0">
              <a:solidFill>
                <a:schemeClr val="tx1"/>
              </a:solidFill>
              <a:effectLst/>
              <a:latin typeface="+mn-lt"/>
              <a:ea typeface="+mn-ea"/>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不确定性有限自动机</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包括： </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有限状态集</a:t>
            </a:r>
            <a:r>
              <a:rPr lang="en-US" altLang="zh-CN" sz="1200" kern="1200" dirty="0">
                <a:solidFill>
                  <a:schemeClr val="tx1"/>
                </a:solidFill>
                <a:effectLst/>
                <a:latin typeface="+mn-lt"/>
                <a:ea typeface="+mn-ea"/>
                <a:cs typeface="+mn-cs"/>
              </a:rPr>
              <a:t> S </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一组输入符号集合，即输入字母表。我们假设代表空字符串的 永远不是 的成员。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一个转换函数，它为每个状态和</a:t>
            </a:r>
            <a:r>
              <a:rPr lang="en-US" altLang="zh-CN" sz="1200" kern="1200" dirty="0">
                <a:solidFill>
                  <a:schemeClr val="tx1"/>
                </a:solidFill>
                <a:effectLst/>
                <a:latin typeface="+mn-lt"/>
                <a:ea typeface="+mn-ea"/>
                <a:cs typeface="+mn-cs"/>
              </a:rPr>
              <a:t>[f g </a:t>
            </a:r>
            <a:r>
              <a:rPr lang="zh-CN" altLang="zh-CN" sz="1200" kern="1200" dirty="0">
                <a:solidFill>
                  <a:schemeClr val="tx1"/>
                </a:solidFill>
                <a:effectLst/>
                <a:latin typeface="+mn-lt"/>
                <a:ea typeface="+mn-ea"/>
                <a:cs typeface="+mn-cs"/>
              </a:rPr>
              <a:t>中的每个符号都给出了相应的后继状态的集合。</a:t>
            </a:r>
          </a:p>
          <a:p>
            <a:r>
              <a:rPr lang="en-US" altLang="zh-CN" sz="1200" kern="1200" dirty="0">
                <a:solidFill>
                  <a:schemeClr val="tx1"/>
                </a:solidFill>
                <a:effectLst/>
                <a:latin typeface="+mn-lt"/>
                <a:ea typeface="+mn-ea"/>
                <a:cs typeface="+mn-cs"/>
              </a:rPr>
              <a:t>4. S</a:t>
            </a:r>
            <a:r>
              <a:rPr lang="zh-CN" altLang="zh-CN" sz="1200" kern="1200" dirty="0">
                <a:solidFill>
                  <a:schemeClr val="tx1"/>
                </a:solidFill>
                <a:effectLst/>
                <a:latin typeface="+mn-lt"/>
                <a:ea typeface="+mn-ea"/>
                <a:cs typeface="+mn-cs"/>
              </a:rPr>
              <a:t>中的一个状态</a:t>
            </a:r>
            <a:r>
              <a:rPr lang="en-US" altLang="zh-CN" sz="1200" kern="1200" dirty="0">
                <a:solidFill>
                  <a:schemeClr val="tx1"/>
                </a:solidFill>
                <a:effectLst/>
                <a:latin typeface="+mn-lt"/>
                <a:ea typeface="+mn-ea"/>
                <a:cs typeface="+mn-cs"/>
              </a:rPr>
              <a:t>s0</a:t>
            </a:r>
            <a:r>
              <a:rPr lang="zh-CN" altLang="zh-CN" sz="1200" kern="1200" dirty="0">
                <a:solidFill>
                  <a:schemeClr val="tx1"/>
                </a:solidFill>
                <a:effectLst/>
                <a:latin typeface="+mn-lt"/>
                <a:ea typeface="+mn-ea"/>
                <a:cs typeface="+mn-cs"/>
              </a:rPr>
              <a:t>，被指定为开始状态（或初始状态）。 </a:t>
            </a:r>
          </a:p>
          <a:p>
            <a:r>
              <a:rPr lang="en-US" altLang="zh-CN" sz="1200" kern="1200" dirty="0">
                <a:solidFill>
                  <a:schemeClr val="tx1"/>
                </a:solidFill>
                <a:effectLst/>
                <a:latin typeface="+mn-lt"/>
                <a:ea typeface="+mn-ea"/>
                <a:cs typeface="+mn-cs"/>
              </a:rPr>
              <a:t>5. S </a:t>
            </a:r>
            <a:r>
              <a:rPr lang="zh-CN" altLang="zh-CN" sz="1200" kern="1200" dirty="0">
                <a:solidFill>
                  <a:schemeClr val="tx1"/>
                </a:solidFill>
                <a:effectLst/>
                <a:latin typeface="+mn-lt"/>
                <a:ea typeface="+mn-ea"/>
                <a:cs typeface="+mn-cs"/>
              </a:rPr>
              <a:t>的一个子集</a:t>
            </a:r>
            <a:r>
              <a:rPr lang="en-US" altLang="zh-CN" sz="1200" kern="1200" dirty="0">
                <a:solidFill>
                  <a:schemeClr val="tx1"/>
                </a:solidFill>
                <a:effectLst/>
                <a:latin typeface="+mn-lt"/>
                <a:ea typeface="+mn-ea"/>
                <a:cs typeface="+mn-cs"/>
              </a:rPr>
              <a:t> F</a:t>
            </a:r>
            <a:r>
              <a:rPr lang="zh-CN" altLang="zh-CN" sz="1200" kern="1200" dirty="0">
                <a:solidFill>
                  <a:schemeClr val="tx1"/>
                </a:solidFill>
                <a:effectLst/>
                <a:latin typeface="+mn-lt"/>
                <a:ea typeface="+mn-ea"/>
                <a:cs typeface="+mn-cs"/>
              </a:rPr>
              <a:t>被指定为接受状态（或者说终止状态）。</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我们可以通过转移图来表示</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DFA</a:t>
            </a:r>
            <a:r>
              <a:rPr lang="zh-CN" altLang="zh-CN" sz="1200" kern="1200" dirty="0">
                <a:solidFill>
                  <a:schemeClr val="tx1"/>
                </a:solidFill>
                <a:effectLst/>
                <a:latin typeface="+mn-lt"/>
                <a:ea typeface="+mn-ea"/>
                <a:cs typeface="+mn-cs"/>
              </a:rPr>
              <a:t>，图中的结点是状态，带标号的边表示自动机的转移函数。从状态</a:t>
            </a:r>
            <a:r>
              <a:rPr lang="en-US" altLang="zh-CN" sz="1200" kern="1200" dirty="0">
                <a:solidFill>
                  <a:schemeClr val="tx1"/>
                </a:solidFill>
                <a:effectLst/>
                <a:latin typeface="+mn-lt"/>
                <a:ea typeface="+mn-ea"/>
                <a:cs typeface="+mn-cs"/>
              </a:rPr>
              <a:t> s</a:t>
            </a:r>
            <a:r>
              <a:rPr lang="zh-CN" altLang="zh-CN" sz="1200" kern="1200" dirty="0">
                <a:solidFill>
                  <a:schemeClr val="tx1"/>
                </a:solidFill>
                <a:effectLst/>
                <a:latin typeface="+mn-lt"/>
                <a:ea typeface="+mn-ea"/>
                <a:cs typeface="+mn-cs"/>
              </a:rPr>
              <a:t>到状态</a:t>
            </a:r>
            <a:r>
              <a:rPr lang="en-US" altLang="zh-CN" sz="1200" kern="1200" dirty="0">
                <a:solidFill>
                  <a:schemeClr val="tx1"/>
                </a:solidFill>
                <a:effectLst/>
                <a:latin typeface="+mn-lt"/>
                <a:ea typeface="+mn-ea"/>
                <a:cs typeface="+mn-cs"/>
              </a:rPr>
              <a:t> t</a:t>
            </a:r>
            <a:r>
              <a:rPr lang="zh-CN" altLang="zh-CN" sz="1200" kern="1200" dirty="0">
                <a:solidFill>
                  <a:schemeClr val="tx1"/>
                </a:solidFill>
                <a:effectLst/>
                <a:latin typeface="+mn-lt"/>
                <a:ea typeface="+mn-ea"/>
                <a:cs typeface="+mn-cs"/>
              </a:rPr>
              <a:t>存在一条标号为</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的边当且仅当状态 </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是状态</a:t>
            </a:r>
            <a:r>
              <a:rPr lang="en-US" altLang="zh-CN" sz="1200" kern="1200" dirty="0">
                <a:solidFill>
                  <a:schemeClr val="tx1"/>
                </a:solidFill>
                <a:effectLst/>
                <a:latin typeface="+mn-lt"/>
                <a:ea typeface="+mn-ea"/>
                <a:cs typeface="+mn-cs"/>
              </a:rPr>
              <a:t> s</a:t>
            </a:r>
            <a:r>
              <a:rPr lang="zh-CN" altLang="zh-CN" sz="1200" kern="1200" dirty="0">
                <a:solidFill>
                  <a:schemeClr val="tx1"/>
                </a:solidFill>
                <a:effectLst/>
                <a:latin typeface="+mn-lt"/>
                <a:ea typeface="+mn-ea"/>
                <a:cs typeface="+mn-cs"/>
              </a:rPr>
              <a:t>在输入</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上的后继状态之一。该图非常类似于转换图，除了：</a:t>
            </a:r>
          </a:p>
          <a:p>
            <a:r>
              <a:rPr lang="en-US" altLang="zh-CN" sz="1200" kern="1200" dirty="0">
                <a:solidFill>
                  <a:schemeClr val="tx1"/>
                </a:solidFill>
                <a:effectLst/>
                <a:latin typeface="+mn-lt"/>
                <a:ea typeface="+mn-ea"/>
                <a:cs typeface="+mn-cs"/>
              </a:rPr>
              <a:t>a) </a:t>
            </a:r>
            <a:r>
              <a:rPr lang="zh-CN" altLang="zh-CN" sz="1200" kern="1200" dirty="0">
                <a:solidFill>
                  <a:schemeClr val="tx1"/>
                </a:solidFill>
                <a:effectLst/>
                <a:latin typeface="+mn-lt"/>
                <a:ea typeface="+mn-ea"/>
                <a:cs typeface="+mn-cs"/>
              </a:rPr>
              <a:t>相同的符号可以标记从同一状态出发到达多个目标状态的多条边</a:t>
            </a:r>
          </a:p>
          <a:p>
            <a:r>
              <a:rPr lang="en-US" altLang="zh-CN" sz="1200" kern="1200" dirty="0">
                <a:solidFill>
                  <a:schemeClr val="tx1"/>
                </a:solidFill>
                <a:effectLst/>
                <a:latin typeface="+mn-lt"/>
                <a:ea typeface="+mn-ea"/>
                <a:cs typeface="+mn-cs"/>
              </a:rPr>
              <a:t>b) </a:t>
            </a:r>
            <a:r>
              <a:rPr lang="zh-CN" altLang="zh-CN" sz="1200" kern="1200" dirty="0">
                <a:solidFill>
                  <a:schemeClr val="tx1"/>
                </a:solidFill>
                <a:effectLst/>
                <a:latin typeface="+mn-lt"/>
                <a:ea typeface="+mn-ea"/>
                <a:cs typeface="+mn-cs"/>
              </a:rPr>
              <a:t>一条边的标号不仅可以是输入字母表中的符号，也可以是空符号串。</a:t>
            </a:r>
          </a:p>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3.14</a:t>
            </a:r>
            <a:r>
              <a:rPr lang="zh-CN" altLang="zh-CN" sz="1200" kern="1200" dirty="0">
                <a:solidFill>
                  <a:schemeClr val="tx1"/>
                </a:solidFill>
                <a:effectLst/>
                <a:latin typeface="+mn-lt"/>
                <a:ea typeface="+mn-ea"/>
                <a:cs typeface="+mn-cs"/>
              </a:rPr>
              <a:t>： 识别正则表达式</a:t>
            </a:r>
            <a:r>
              <a:rPr lang="en-US" altLang="zh-CN" sz="1200" kern="1200" dirty="0">
                <a:solidFill>
                  <a:schemeClr val="tx1"/>
                </a:solidFill>
                <a:effectLst/>
                <a:latin typeface="+mn-lt"/>
                <a:ea typeface="+mn-ea"/>
                <a:cs typeface="+mn-cs"/>
              </a:rPr>
              <a:t> (a |b)* </a:t>
            </a:r>
            <a:r>
              <a:rPr lang="en-US" altLang="zh-CN" sz="1200" kern="1200" dirty="0" err="1">
                <a:solidFill>
                  <a:schemeClr val="tx1"/>
                </a:solidFill>
                <a:effectLst/>
                <a:latin typeface="+mn-lt"/>
                <a:ea typeface="+mn-ea"/>
                <a:cs typeface="+mn-cs"/>
              </a:rPr>
              <a:t>abb</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语言的</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转换图如图​​</a:t>
            </a:r>
            <a:r>
              <a:rPr lang="en-US" altLang="zh-CN" sz="1200" kern="1200" dirty="0">
                <a:solidFill>
                  <a:schemeClr val="tx1"/>
                </a:solidFill>
                <a:effectLst/>
                <a:latin typeface="+mn-lt"/>
                <a:ea typeface="+mn-ea"/>
                <a:cs typeface="+mn-cs"/>
              </a:rPr>
              <a:t> 3.24 </a:t>
            </a:r>
            <a:r>
              <a:rPr lang="zh-CN" altLang="zh-CN" sz="1200" kern="1200" dirty="0">
                <a:solidFill>
                  <a:schemeClr val="tx1"/>
                </a:solidFill>
                <a:effectLst/>
                <a:latin typeface="+mn-lt"/>
                <a:ea typeface="+mn-ea"/>
                <a:cs typeface="+mn-cs"/>
              </a:rPr>
              <a:t>所示。这个抽象示例描述了所有由</a:t>
            </a:r>
            <a:r>
              <a:rPr lang="en-US" altLang="zh-CN" sz="1200" kern="1200" dirty="0">
                <a:solidFill>
                  <a:schemeClr val="tx1"/>
                </a:solidFill>
                <a:effectLst/>
                <a:latin typeface="+mn-lt"/>
                <a:ea typeface="+mn-ea"/>
                <a:cs typeface="+mn-cs"/>
              </a:rPr>
              <a:t>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组成的，以字符串</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abb</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结尾的字符串。这个例子将贯穿本节。虽然它很抽象，但是书籍上它与一些具有实际意义的语言的正则表达式相似。例如，描述所有其名字以</a:t>
            </a:r>
            <a:r>
              <a:rPr lang="en-US" altLang="zh-CN" sz="1200" kern="1200" dirty="0">
                <a:solidFill>
                  <a:schemeClr val="tx1"/>
                </a:solidFill>
                <a:effectLst/>
                <a:latin typeface="+mn-lt"/>
                <a:ea typeface="+mn-ea"/>
                <a:cs typeface="+mn-cs"/>
              </a:rPr>
              <a:t> .o </a:t>
            </a:r>
            <a:r>
              <a:rPr lang="zh-CN" altLang="zh-CN" sz="1200" kern="1200" dirty="0">
                <a:solidFill>
                  <a:schemeClr val="tx1"/>
                </a:solidFill>
                <a:effectLst/>
                <a:latin typeface="+mn-lt"/>
                <a:ea typeface="+mn-ea"/>
                <a:cs typeface="+mn-cs"/>
              </a:rPr>
              <a:t>结尾的文件的表达式是</a:t>
            </a:r>
            <a:r>
              <a:rPr lang="en-US" altLang="zh-CN" sz="1200" kern="1200" dirty="0">
                <a:solidFill>
                  <a:schemeClr val="tx1"/>
                </a:solidFill>
                <a:effectLst/>
                <a:latin typeface="+mn-lt"/>
                <a:ea typeface="+mn-ea"/>
                <a:cs typeface="+mn-cs"/>
              </a:rPr>
              <a:t>any* .o</a:t>
            </a:r>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any </a:t>
            </a:r>
            <a:r>
              <a:rPr lang="zh-CN" altLang="zh-CN" sz="1200" kern="1200" dirty="0">
                <a:solidFill>
                  <a:schemeClr val="tx1"/>
                </a:solidFill>
                <a:effectLst/>
                <a:latin typeface="+mn-lt"/>
                <a:ea typeface="+mn-ea"/>
                <a:cs typeface="+mn-cs"/>
              </a:rPr>
              <a:t>代表任何可打印字符。</a:t>
            </a:r>
          </a:p>
          <a:p>
            <a:r>
              <a:rPr lang="zh-CN" altLang="zh-CN" sz="1200" kern="1200" dirty="0">
                <a:solidFill>
                  <a:schemeClr val="tx1"/>
                </a:solidFill>
                <a:effectLst/>
                <a:latin typeface="+mn-lt"/>
                <a:ea typeface="+mn-ea"/>
                <a:cs typeface="+mn-cs"/>
              </a:rPr>
              <a:t>按照我们的转换图约定，状态</a:t>
            </a:r>
            <a:r>
              <a:rPr lang="en-US" altLang="zh-CN" sz="1200" kern="1200" dirty="0">
                <a:solidFill>
                  <a:schemeClr val="tx1"/>
                </a:solidFill>
                <a:effectLst/>
                <a:latin typeface="+mn-lt"/>
                <a:ea typeface="+mn-ea"/>
                <a:cs typeface="+mn-cs"/>
              </a:rPr>
              <a:t> 3</a:t>
            </a:r>
            <a:r>
              <a:rPr lang="zh-CN" altLang="zh-CN" sz="1200" kern="1200" dirty="0">
                <a:solidFill>
                  <a:schemeClr val="tx1"/>
                </a:solidFill>
                <a:effectLst/>
                <a:latin typeface="+mn-lt"/>
                <a:ea typeface="+mn-ea"/>
                <a:cs typeface="+mn-cs"/>
              </a:rPr>
              <a:t>的双圈表示该状态是接受状态。请注意，从起始状态</a:t>
            </a:r>
            <a:r>
              <a:rPr lang="en-US" altLang="zh-CN" sz="1200" kern="1200" dirty="0">
                <a:solidFill>
                  <a:schemeClr val="tx1"/>
                </a:solidFill>
                <a:effectLst/>
                <a:latin typeface="+mn-lt"/>
                <a:ea typeface="+mn-ea"/>
                <a:cs typeface="+mn-cs"/>
              </a:rPr>
              <a:t> 0 </a:t>
            </a:r>
            <a:r>
              <a:rPr lang="zh-CN" altLang="zh-CN" sz="1200" kern="1200" dirty="0">
                <a:solidFill>
                  <a:schemeClr val="tx1"/>
                </a:solidFill>
                <a:effectLst/>
                <a:latin typeface="+mn-lt"/>
                <a:ea typeface="+mn-ea"/>
                <a:cs typeface="+mn-cs"/>
              </a:rPr>
              <a:t>到接受状态的所有路径都是先在状态</a:t>
            </a:r>
            <a:r>
              <a:rPr lang="en-US" altLang="zh-CN" sz="1200" kern="1200" dirty="0">
                <a:solidFill>
                  <a:schemeClr val="tx1"/>
                </a:solidFill>
                <a:effectLst/>
                <a:latin typeface="+mn-lt"/>
                <a:ea typeface="+mn-ea"/>
                <a:cs typeface="+mn-cs"/>
              </a:rPr>
              <a:t> 0</a:t>
            </a:r>
            <a:r>
              <a:rPr lang="zh-CN" altLang="zh-CN" sz="1200" kern="1200" dirty="0">
                <a:solidFill>
                  <a:schemeClr val="tx1"/>
                </a:solidFill>
                <a:effectLst/>
                <a:latin typeface="+mn-lt"/>
                <a:ea typeface="+mn-ea"/>
                <a:cs typeface="+mn-cs"/>
              </a:rPr>
              <a:t>上运行一段时间，然后从输入读取</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abb</a:t>
            </a:r>
            <a:r>
              <a:rPr lang="zh-CN" altLang="zh-CN" sz="1200" kern="1200" dirty="0">
                <a:solidFill>
                  <a:schemeClr val="tx1"/>
                </a:solidFill>
                <a:effectLst/>
                <a:latin typeface="+mn-lt"/>
                <a:ea typeface="+mn-ea"/>
                <a:cs typeface="+mn-cs"/>
              </a:rPr>
              <a:t>，分别进入状态</a:t>
            </a:r>
            <a:r>
              <a:rPr lang="en-US" altLang="zh-CN" sz="1200" kern="1200" dirty="0">
                <a:solidFill>
                  <a:schemeClr val="tx1"/>
                </a:solidFill>
                <a:effectLst/>
                <a:latin typeface="+mn-lt"/>
                <a:ea typeface="+mn-ea"/>
                <a:cs typeface="+mn-cs"/>
              </a:rPr>
              <a:t> 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3</a:t>
            </a:r>
            <a:r>
              <a:rPr lang="zh-CN" altLang="zh-CN" sz="1200" kern="1200" dirty="0">
                <a:solidFill>
                  <a:schemeClr val="tx1"/>
                </a:solidFill>
                <a:effectLst/>
                <a:latin typeface="+mn-lt"/>
                <a:ea typeface="+mn-ea"/>
                <a:cs typeface="+mn-cs"/>
              </a:rPr>
              <a:t>。因此，能够到达接受状态的所有字符串都是以</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abb</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结尾的字符串。</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52</a:t>
            </a:fld>
            <a:endParaRPr lang="zh-CN" altLang="en-US"/>
          </a:p>
        </p:txBody>
      </p:sp>
    </p:spTree>
    <p:extLst>
      <p:ext uri="{BB962C8B-B14F-4D97-AF65-F5344CB8AC3E}">
        <p14:creationId xmlns:p14="http://schemas.microsoft.com/office/powerpoint/2010/main" val="19524274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我们还可以通过转换表来表示 </a:t>
            </a:r>
            <a:r>
              <a:rPr lang="en-US" altLang="zh-CN" dirty="0"/>
              <a:t>NFA</a:t>
            </a:r>
            <a:r>
              <a:rPr lang="zh-CN" altLang="en-US" dirty="0"/>
              <a:t>，表的各行对应于状态，各列对应于输入符号 和 。对应于一个给定状态和给定输入的条目是将</a:t>
            </a:r>
            <a:r>
              <a:rPr lang="en-US" altLang="zh-CN" dirty="0"/>
              <a:t>NFA</a:t>
            </a:r>
            <a:r>
              <a:rPr lang="zh-CN" altLang="en-US" dirty="0"/>
              <a:t>的转换函数应用于这些参数后得到的值。如果转换函数没有给出对应于某个状态－输入对的信息，我们就把　放入相应的表项中。</a:t>
            </a:r>
          </a:p>
          <a:p>
            <a:r>
              <a:rPr lang="zh-CN" altLang="en-US" dirty="0"/>
              <a:t>例 </a:t>
            </a:r>
            <a:r>
              <a:rPr lang="en-US" altLang="zh-CN" dirty="0"/>
              <a:t>3.15</a:t>
            </a:r>
            <a:r>
              <a:rPr lang="zh-CN" altLang="en-US" dirty="0"/>
              <a:t>：图 </a:t>
            </a:r>
            <a:r>
              <a:rPr lang="en-US" altLang="zh-CN" dirty="0"/>
              <a:t>3.24 </a:t>
            </a:r>
            <a:r>
              <a:rPr lang="zh-CN" altLang="en-US" dirty="0"/>
              <a:t>的 </a:t>
            </a:r>
            <a:r>
              <a:rPr lang="en-US" altLang="zh-CN" dirty="0"/>
              <a:t>NFA </a:t>
            </a:r>
            <a:r>
              <a:rPr lang="zh-CN" altLang="en-US" dirty="0"/>
              <a:t>的转换表如图 </a:t>
            </a:r>
            <a:r>
              <a:rPr lang="en-US" altLang="zh-CN" dirty="0"/>
              <a:t>3.25 </a:t>
            </a:r>
            <a:r>
              <a:rPr lang="zh-CN" altLang="en-US" dirty="0"/>
              <a:t>所示。 转换表的优点是我们可以轻松确定一个给定状态和一个输入符号相对应的转换。它的缺点是，当输入字母表很大时，且大多数状态在大多数输入字符上没有转换的时候，转换表需要占用大量空间。</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请注意，可能还存在多条具有相同标号序列、但是到达不同状态的路径。例如下面的路径是另一条从状态０出发、标号序列同样为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aabb</a:t>
            </a:r>
            <a:r>
              <a:rPr lang="zh-CN" altLang="zh-CN" sz="1200" kern="1200" dirty="0">
                <a:solidFill>
                  <a:schemeClr val="tx1"/>
                </a:solidFill>
                <a:effectLst/>
                <a:latin typeface="+mn-lt"/>
                <a:ea typeface="+mn-ea"/>
                <a:cs typeface="+mn-cs"/>
              </a:rPr>
              <a:t>的路径。这条路径最后仍回到状态０，但状态０不是接受状态。然而，请记住，只要存在某条其标号序列为某字符串的路径能够从开始状态达到某个接受状态，</a:t>
            </a:r>
            <a:r>
              <a:rPr lang="en-US" altLang="zh-CN" sz="1200" kern="1200" dirty="0">
                <a:solidFill>
                  <a:schemeClr val="tx1"/>
                </a:solidFill>
                <a:effectLst/>
                <a:latin typeface="+mn-lt"/>
                <a:ea typeface="+mn-ea"/>
                <a:cs typeface="+mn-cs"/>
              </a:rPr>
              <a:t>NFA </a:t>
            </a:r>
            <a:r>
              <a:rPr lang="zh-CN" altLang="zh-CN" sz="1200" kern="1200" dirty="0">
                <a:solidFill>
                  <a:schemeClr val="tx1"/>
                </a:solidFill>
                <a:effectLst/>
                <a:latin typeface="+mn-lt"/>
                <a:ea typeface="+mn-ea"/>
                <a:cs typeface="+mn-cs"/>
              </a:rPr>
              <a:t>就会接受该字符串。存在某些到达非接受状态的路径，并不会影响这个结论。</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由一个</a:t>
            </a:r>
            <a:r>
              <a:rPr lang="en-US" altLang="zh-CN" sz="1200" kern="1200" dirty="0">
                <a:solidFill>
                  <a:schemeClr val="tx1"/>
                </a:solidFill>
                <a:effectLst/>
                <a:latin typeface="+mn-lt"/>
                <a:ea typeface="+mn-ea"/>
                <a:cs typeface="+mn-cs"/>
              </a:rPr>
              <a:t>NFA </a:t>
            </a:r>
            <a:r>
              <a:rPr lang="zh-CN" altLang="zh-CN" sz="1200" kern="1200" dirty="0">
                <a:solidFill>
                  <a:schemeClr val="tx1"/>
                </a:solidFill>
                <a:effectLst/>
                <a:latin typeface="+mn-lt"/>
                <a:ea typeface="+mn-ea"/>
                <a:cs typeface="+mn-cs"/>
              </a:rPr>
              <a:t>定义（或接受）的语言是从开始到某个接受状态的所有路径上的标号串的集合。</a:t>
            </a:r>
            <a:endParaRPr lang="en-US"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正如前面提到的，图</a:t>
            </a:r>
            <a:r>
              <a:rPr lang="en-US" altLang="zh-CN" sz="1200" kern="1200" dirty="0">
                <a:solidFill>
                  <a:schemeClr val="tx1"/>
                </a:solidFill>
                <a:effectLst/>
                <a:latin typeface="+mn-lt"/>
                <a:ea typeface="+mn-ea"/>
                <a:cs typeface="+mn-cs"/>
              </a:rPr>
              <a:t> 3.24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定义的语言和正则表达式</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 </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abb</a:t>
            </a:r>
            <a:r>
              <a:rPr lang="zh-CN" altLang="zh-CN" sz="1200" kern="1200" dirty="0">
                <a:solidFill>
                  <a:schemeClr val="tx1"/>
                </a:solidFill>
                <a:effectLst/>
                <a:latin typeface="+mn-lt"/>
                <a:ea typeface="+mn-ea"/>
                <a:cs typeface="+mn-cs"/>
              </a:rPr>
              <a:t>定义的语言相同，即所有来自字母表｛ａ，ｂ｝且以</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abb</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结尾的串的集合。我们可以用</a:t>
            </a:r>
            <a:r>
              <a:rPr lang="en-US" altLang="zh-CN" sz="1200" kern="1200" dirty="0">
                <a:solidFill>
                  <a:schemeClr val="tx1"/>
                </a:solidFill>
                <a:effectLst/>
                <a:latin typeface="+mn-lt"/>
                <a:ea typeface="+mn-ea"/>
                <a:cs typeface="+mn-cs"/>
              </a:rPr>
              <a:t> L(A) </a:t>
            </a:r>
            <a:r>
              <a:rPr lang="zh-CN" altLang="zh-CN" sz="1200" kern="1200" dirty="0">
                <a:solidFill>
                  <a:schemeClr val="tx1"/>
                </a:solidFill>
                <a:effectLst/>
                <a:latin typeface="+mn-lt"/>
                <a:ea typeface="+mn-ea"/>
                <a:cs typeface="+mn-cs"/>
              </a:rPr>
              <a:t>来代表自动机</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接受的语言。</a:t>
            </a:r>
            <a:r>
              <a:rPr lang="en-US" altLang="zh-CN" dirty="0"/>
              <a:t> </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3.17</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3.26 </a:t>
            </a:r>
            <a:r>
              <a:rPr lang="zh-CN" altLang="zh-CN" sz="1200" kern="1200" dirty="0">
                <a:solidFill>
                  <a:schemeClr val="tx1"/>
                </a:solidFill>
                <a:effectLst/>
                <a:latin typeface="+mn-lt"/>
                <a:ea typeface="+mn-ea"/>
                <a:cs typeface="+mn-cs"/>
              </a:rPr>
              <a:t>是一个接受</a:t>
            </a:r>
            <a:r>
              <a:rPr lang="en-US" altLang="zh-CN" sz="1200" kern="1200" dirty="0">
                <a:solidFill>
                  <a:schemeClr val="tx1"/>
                </a:solidFill>
                <a:effectLst/>
                <a:latin typeface="+mn-lt"/>
                <a:ea typeface="+mn-ea"/>
                <a:cs typeface="+mn-cs"/>
              </a:rPr>
              <a:t> L(aa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字符串</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aaa</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被这个</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接受。请注意，路径中的空标号在连接时消失了，因此这条路径的标签是</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aaa</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55</a:t>
            </a:fld>
            <a:endParaRPr lang="zh-CN" altLang="en-US"/>
          </a:p>
        </p:txBody>
      </p:sp>
    </p:spTree>
    <p:extLst>
      <p:ext uri="{BB962C8B-B14F-4D97-AF65-F5344CB8AC3E}">
        <p14:creationId xmlns:p14="http://schemas.microsoft.com/office/powerpoint/2010/main" val="16279718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确定性有限自动机</a:t>
            </a:r>
            <a:r>
              <a:rPr lang="en-US" altLang="zh-CN" sz="1200" kern="1200" dirty="0">
                <a:solidFill>
                  <a:schemeClr val="tx1"/>
                </a:solidFill>
                <a:effectLst/>
                <a:latin typeface="+mn-lt"/>
                <a:ea typeface="+mn-ea"/>
                <a:cs typeface="+mn-cs"/>
              </a:rPr>
              <a:t> (DFA)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的特例，其中：</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没有输入 上的转换</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对于每个状态</a:t>
            </a:r>
            <a:r>
              <a:rPr lang="en-US" altLang="zh-CN" sz="1200" kern="1200" dirty="0">
                <a:solidFill>
                  <a:schemeClr val="tx1"/>
                </a:solidFill>
                <a:effectLst/>
                <a:latin typeface="+mn-lt"/>
                <a:ea typeface="+mn-ea"/>
                <a:cs typeface="+mn-cs"/>
              </a:rPr>
              <a:t> s </a:t>
            </a:r>
            <a:r>
              <a:rPr lang="zh-CN" altLang="zh-CN" sz="1200" kern="1200" dirty="0">
                <a:solidFill>
                  <a:schemeClr val="tx1"/>
                </a:solidFill>
                <a:effectLst/>
                <a:latin typeface="+mn-lt"/>
                <a:ea typeface="+mn-ea"/>
                <a:cs typeface="+mn-cs"/>
              </a:rPr>
              <a:t>和输入符号</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，由且只有一条标号为</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的边离开ｓ。</a:t>
            </a:r>
          </a:p>
          <a:p>
            <a:r>
              <a:rPr lang="zh-CN" altLang="zh-CN" sz="1200" kern="1200" dirty="0">
                <a:solidFill>
                  <a:schemeClr val="tx1"/>
                </a:solidFill>
                <a:effectLst/>
                <a:latin typeface="+mn-lt"/>
                <a:ea typeface="+mn-ea"/>
                <a:cs typeface="+mn-cs"/>
              </a:rPr>
              <a:t>如果我们使用转换表来表示 一个</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，那么表中的每个表项就是一个状态。因此，我们可以不使用花括号，直接写出这个状态，因为花括号只是用来说明表项的内容的一个集合。</a:t>
            </a:r>
          </a:p>
          <a:p>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抽象地表示了用来识别某种语言中字符串的算法，而相应的</a:t>
            </a:r>
            <a:r>
              <a:rPr lang="en-US" altLang="zh-CN" sz="1200" kern="1200" dirty="0">
                <a:solidFill>
                  <a:schemeClr val="tx1"/>
                </a:solidFill>
                <a:effectLst/>
                <a:latin typeface="+mn-lt"/>
                <a:ea typeface="+mn-ea"/>
                <a:cs typeface="+mn-cs"/>
              </a:rPr>
              <a:t> DFA</a:t>
            </a:r>
            <a:r>
              <a:rPr lang="zh-CN" altLang="zh-CN" sz="1200" kern="1200" dirty="0">
                <a:solidFill>
                  <a:schemeClr val="tx1"/>
                </a:solidFill>
                <a:effectLst/>
                <a:latin typeface="+mn-lt"/>
                <a:ea typeface="+mn-ea"/>
                <a:cs typeface="+mn-cs"/>
              </a:rPr>
              <a:t>则是一个简单具体的识别字符串的算法。</a:t>
            </a:r>
            <a:endParaRPr lang="en-US" altLang="zh-CN" sz="1200" kern="1200" dirty="0">
              <a:solidFill>
                <a:schemeClr val="tx1"/>
              </a:solidFill>
              <a:effectLst/>
              <a:latin typeface="+mn-lt"/>
              <a:ea typeface="+mn-ea"/>
              <a:cs typeface="+mn-cs"/>
            </a:endParaRPr>
          </a:p>
          <a:p>
            <a:r>
              <a:rPr lang="en-US" altLang="zh-CN" dirty="0"/>
              <a:t>• DFA </a:t>
            </a:r>
            <a:r>
              <a:rPr lang="en-US" altLang="zh-CN" dirty="0" err="1"/>
              <a:t>可以高效地接受</a:t>
            </a:r>
            <a:r>
              <a:rPr lang="en-US" altLang="zh-CN" dirty="0"/>
              <a:t>/</a:t>
            </a:r>
            <a:r>
              <a:rPr lang="en-US" altLang="zh-CN" dirty="0" err="1"/>
              <a:t>剔除字符串（识别模式</a:t>
            </a:r>
            <a:r>
              <a:rPr lang="en-US" altLang="zh-CN" dirty="0"/>
              <a:t>）</a:t>
            </a:r>
          </a:p>
          <a:p>
            <a:r>
              <a:rPr lang="en-US" altLang="zh-CN" dirty="0"/>
              <a:t>• </a:t>
            </a:r>
            <a:r>
              <a:rPr lang="en-US" altLang="zh-CN" dirty="0" err="1"/>
              <a:t>每个</a:t>
            </a:r>
            <a:r>
              <a:rPr lang="en-US" altLang="zh-CN" dirty="0"/>
              <a:t> </a:t>
            </a:r>
            <a:r>
              <a:rPr lang="en-US" altLang="zh-CN" dirty="0" err="1"/>
              <a:t>regexp</a:t>
            </a:r>
            <a:r>
              <a:rPr lang="en-US" altLang="zh-CN" dirty="0"/>
              <a:t> </a:t>
            </a:r>
            <a:r>
              <a:rPr lang="en-US" altLang="zh-CN" dirty="0" err="1"/>
              <a:t>和每个</a:t>
            </a:r>
            <a:r>
              <a:rPr lang="en-US" altLang="zh-CN" dirty="0"/>
              <a:t> NFA </a:t>
            </a:r>
            <a:r>
              <a:rPr lang="en-US" altLang="zh-CN" dirty="0" err="1"/>
              <a:t>都可以转换成接受相同语言的</a:t>
            </a:r>
            <a:r>
              <a:rPr lang="en-US" altLang="zh-CN" dirty="0"/>
              <a:t> DFA</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算法</a:t>
            </a:r>
            <a:r>
              <a:rPr lang="en-US" altLang="zh-CN" sz="1200" kern="1200" dirty="0">
                <a:solidFill>
                  <a:schemeClr val="tx1"/>
                </a:solidFill>
                <a:effectLst/>
                <a:latin typeface="+mn-lt"/>
                <a:ea typeface="+mn-ea"/>
                <a:cs typeface="+mn-cs"/>
              </a:rPr>
              <a:t> 3.18</a:t>
            </a:r>
            <a:r>
              <a:rPr lang="zh-CN" altLang="zh-CN" sz="1200" kern="1200" dirty="0">
                <a:solidFill>
                  <a:schemeClr val="tx1"/>
                </a:solidFill>
                <a:effectLst/>
                <a:latin typeface="+mn-lt"/>
                <a:ea typeface="+mn-ea"/>
                <a:cs typeface="+mn-cs"/>
              </a:rPr>
              <a:t>：模拟</a:t>
            </a:r>
            <a:r>
              <a:rPr lang="en-US" altLang="zh-CN" sz="1200" kern="1200" dirty="0">
                <a:solidFill>
                  <a:schemeClr val="tx1"/>
                </a:solidFill>
                <a:effectLst/>
                <a:latin typeface="+mn-lt"/>
                <a:ea typeface="+mn-ea"/>
                <a:cs typeface="+mn-cs"/>
              </a:rPr>
              <a:t> DFA</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INPUT</a:t>
            </a:r>
            <a:r>
              <a:rPr lang="zh-CN" altLang="zh-CN" sz="1200" kern="1200" dirty="0">
                <a:solidFill>
                  <a:schemeClr val="tx1"/>
                </a:solidFill>
                <a:effectLst/>
                <a:latin typeface="+mn-lt"/>
                <a:ea typeface="+mn-ea"/>
                <a:cs typeface="+mn-cs"/>
              </a:rPr>
              <a:t>：一个以文件结束符</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eof</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结尾的输入字符串</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DFA D </a:t>
            </a:r>
            <a:r>
              <a:rPr lang="zh-CN" altLang="zh-CN" sz="1200" kern="1200" dirty="0">
                <a:solidFill>
                  <a:schemeClr val="tx1"/>
                </a:solidFill>
                <a:effectLst/>
                <a:latin typeface="+mn-lt"/>
                <a:ea typeface="+mn-ea"/>
                <a:cs typeface="+mn-cs"/>
              </a:rPr>
              <a:t>具有起始状态</a:t>
            </a:r>
            <a:r>
              <a:rPr lang="en-US" altLang="zh-CN" sz="1200" kern="1200" dirty="0">
                <a:solidFill>
                  <a:schemeClr val="tx1"/>
                </a:solidFill>
                <a:effectLst/>
                <a:latin typeface="+mn-lt"/>
                <a:ea typeface="+mn-ea"/>
                <a:cs typeface="+mn-cs"/>
              </a:rPr>
              <a:t> s0 </a:t>
            </a:r>
            <a:r>
              <a:rPr lang="zh-CN" altLang="zh-CN" sz="1200" kern="1200" dirty="0">
                <a:solidFill>
                  <a:schemeClr val="tx1"/>
                </a:solidFill>
                <a:effectLst/>
                <a:latin typeface="+mn-lt"/>
                <a:ea typeface="+mn-ea"/>
                <a:cs typeface="+mn-cs"/>
              </a:rPr>
              <a:t>、接受状态集</a:t>
            </a:r>
            <a:r>
              <a:rPr lang="en-US" altLang="zh-CN" sz="1200" kern="1200" dirty="0">
                <a:solidFill>
                  <a:schemeClr val="tx1"/>
                </a:solidFill>
                <a:effectLst/>
                <a:latin typeface="+mn-lt"/>
                <a:ea typeface="+mn-ea"/>
                <a:cs typeface="+mn-cs"/>
              </a:rPr>
              <a:t> F </a:t>
            </a:r>
            <a:r>
              <a:rPr lang="zh-CN" altLang="zh-CN" sz="1200" kern="1200" dirty="0">
                <a:solidFill>
                  <a:schemeClr val="tx1"/>
                </a:solidFill>
                <a:effectLst/>
                <a:latin typeface="+mn-lt"/>
                <a:ea typeface="+mn-ea"/>
                <a:cs typeface="+mn-cs"/>
              </a:rPr>
              <a:t>和转换函数</a:t>
            </a:r>
            <a:r>
              <a:rPr lang="en-US" altLang="zh-CN" sz="1200" kern="1200" dirty="0">
                <a:solidFill>
                  <a:schemeClr val="tx1"/>
                </a:solidFill>
                <a:effectLst/>
                <a:latin typeface="+mn-lt"/>
                <a:ea typeface="+mn-ea"/>
                <a:cs typeface="+mn-cs"/>
              </a:rPr>
              <a:t> move</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输出：如果</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接受</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，则回答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；否则回答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否</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方法：将图</a:t>
            </a:r>
            <a:r>
              <a:rPr lang="en-US" altLang="zh-CN" sz="1200" kern="1200" dirty="0">
                <a:solidFill>
                  <a:schemeClr val="tx1"/>
                </a:solidFill>
                <a:effectLst/>
                <a:latin typeface="+mn-lt"/>
                <a:ea typeface="+mn-ea"/>
                <a:cs typeface="+mn-cs"/>
              </a:rPr>
              <a:t> 3.27 </a:t>
            </a:r>
            <a:r>
              <a:rPr lang="zh-CN" altLang="zh-CN" sz="1200" kern="1200" dirty="0">
                <a:solidFill>
                  <a:schemeClr val="tx1"/>
                </a:solidFill>
                <a:effectLst/>
                <a:latin typeface="+mn-lt"/>
                <a:ea typeface="+mn-ea"/>
                <a:cs typeface="+mn-cs"/>
              </a:rPr>
              <a:t>中的算法应用于输入字符串</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。函数</a:t>
            </a:r>
            <a:r>
              <a:rPr lang="en-US" altLang="zh-CN" sz="1200" kern="1200" dirty="0">
                <a:solidFill>
                  <a:schemeClr val="tx1"/>
                </a:solidFill>
                <a:effectLst/>
                <a:latin typeface="+mn-lt"/>
                <a:ea typeface="+mn-ea"/>
                <a:cs typeface="+mn-cs"/>
              </a:rPr>
              <a:t> mov e(s; c) </a:t>
            </a:r>
            <a:r>
              <a:rPr lang="zh-CN" altLang="zh-CN" sz="1200" kern="1200" dirty="0">
                <a:solidFill>
                  <a:schemeClr val="tx1"/>
                </a:solidFill>
                <a:effectLst/>
                <a:latin typeface="+mn-lt"/>
                <a:ea typeface="+mn-ea"/>
                <a:cs typeface="+mn-cs"/>
              </a:rPr>
              <a:t>给出了从状态</a:t>
            </a:r>
            <a:r>
              <a:rPr lang="en-US" altLang="zh-CN" sz="1200" kern="1200" dirty="0">
                <a:solidFill>
                  <a:schemeClr val="tx1"/>
                </a:solidFill>
                <a:effectLst/>
                <a:latin typeface="+mn-lt"/>
                <a:ea typeface="+mn-ea"/>
                <a:cs typeface="+mn-cs"/>
              </a:rPr>
              <a:t> s</a:t>
            </a:r>
            <a:r>
              <a:rPr lang="zh-CN" altLang="zh-CN" sz="1200" kern="1200" dirty="0">
                <a:solidFill>
                  <a:schemeClr val="tx1"/>
                </a:solidFill>
                <a:effectLst/>
                <a:latin typeface="+mn-lt"/>
                <a:ea typeface="+mn-ea"/>
                <a:cs typeface="+mn-cs"/>
              </a:rPr>
              <a:t>出发，标号为ｃ的边所到达的状态。函数</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nextChar</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返回输入字符串</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的下一个字符。</a:t>
            </a:r>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示例</a:t>
            </a:r>
            <a:r>
              <a:rPr lang="en-US" altLang="zh-CN" sz="1200" kern="1200" dirty="0">
                <a:solidFill>
                  <a:schemeClr val="tx1"/>
                </a:solidFill>
                <a:effectLst/>
                <a:latin typeface="+mn-lt"/>
                <a:ea typeface="+mn-ea"/>
                <a:cs typeface="+mn-cs"/>
              </a:rPr>
              <a:t> 3.19</a:t>
            </a:r>
            <a:r>
              <a:rPr lang="zh-CN" altLang="zh-CN" sz="1200" kern="1200" dirty="0">
                <a:solidFill>
                  <a:schemeClr val="tx1"/>
                </a:solidFill>
                <a:effectLst/>
                <a:latin typeface="+mn-lt"/>
                <a:ea typeface="+mn-ea"/>
                <a:cs typeface="+mn-cs"/>
              </a:rPr>
              <a:t>：在图</a:t>
            </a:r>
            <a:r>
              <a:rPr lang="en-US" altLang="zh-CN" sz="1200" kern="1200" dirty="0">
                <a:solidFill>
                  <a:schemeClr val="tx1"/>
                </a:solidFill>
                <a:effectLst/>
                <a:latin typeface="+mn-lt"/>
                <a:ea typeface="+mn-ea"/>
                <a:cs typeface="+mn-cs"/>
              </a:rPr>
              <a:t> 3.28 </a:t>
            </a:r>
            <a:r>
              <a:rPr lang="zh-CN" altLang="zh-CN" sz="1200" kern="1200" dirty="0">
                <a:solidFill>
                  <a:schemeClr val="tx1"/>
                </a:solidFill>
                <a:effectLst/>
                <a:latin typeface="+mn-lt"/>
                <a:ea typeface="+mn-ea"/>
                <a:cs typeface="+mn-cs"/>
              </a:rPr>
              <a:t>中显示的一个</a:t>
            </a:r>
            <a:r>
              <a:rPr lang="en-US" altLang="zh-CN" sz="1200" kern="1200" dirty="0">
                <a:solidFill>
                  <a:schemeClr val="tx1"/>
                </a:solidFill>
                <a:effectLst/>
                <a:latin typeface="+mn-lt"/>
                <a:ea typeface="+mn-ea"/>
                <a:cs typeface="+mn-cs"/>
              </a:rPr>
              <a:t>DFA </a:t>
            </a:r>
            <a:r>
              <a:rPr lang="zh-CN" altLang="zh-CN" sz="1200" kern="1200" dirty="0">
                <a:solidFill>
                  <a:schemeClr val="tx1"/>
                </a:solidFill>
                <a:effectLst/>
                <a:latin typeface="+mn-lt"/>
                <a:ea typeface="+mn-ea"/>
                <a:cs typeface="+mn-cs"/>
              </a:rPr>
              <a:t>的转换图。该</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接受的语言与与图</a:t>
            </a:r>
            <a:r>
              <a:rPr lang="en-US" altLang="zh-CN" sz="1200" kern="1200" dirty="0">
                <a:solidFill>
                  <a:schemeClr val="tx1"/>
                </a:solidFill>
                <a:effectLst/>
                <a:latin typeface="+mn-lt"/>
                <a:ea typeface="+mn-ea"/>
                <a:cs typeface="+mn-cs"/>
              </a:rPr>
              <a:t> 3.24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所接受的语言相同，都是</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 </a:t>
            </a:r>
            <a:r>
              <a:rPr lang="en-US" altLang="zh-CN" sz="1200" kern="1200" dirty="0" err="1">
                <a:solidFill>
                  <a:schemeClr val="tx1"/>
                </a:solidFill>
                <a:effectLst/>
                <a:latin typeface="+mn-lt"/>
                <a:ea typeface="+mn-ea"/>
                <a:cs typeface="+mn-cs"/>
              </a:rPr>
              <a:t>abb</a:t>
            </a:r>
            <a:r>
              <a:rPr lang="zh-CN" altLang="zh-CN" sz="1200" kern="1200" dirty="0">
                <a:solidFill>
                  <a:schemeClr val="tx1"/>
                </a:solidFill>
                <a:effectLst/>
                <a:latin typeface="+mn-lt"/>
                <a:ea typeface="+mn-ea"/>
                <a:cs typeface="+mn-cs"/>
              </a:rPr>
              <a:t>。给定输入字符串</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abbab</a:t>
            </a:r>
            <a:r>
              <a:rPr lang="zh-CN" altLang="zh-CN" sz="1200" kern="1200" dirty="0">
                <a:solidFill>
                  <a:schemeClr val="tx1"/>
                </a:solidFill>
                <a:effectLst/>
                <a:latin typeface="+mn-lt"/>
                <a:ea typeface="+mn-ea"/>
                <a:cs typeface="+mn-cs"/>
              </a:rPr>
              <a:t>，该</a:t>
            </a:r>
            <a:r>
              <a:rPr lang="en-US" altLang="zh-CN" sz="1200" kern="1200" dirty="0">
                <a:solidFill>
                  <a:schemeClr val="tx1"/>
                </a:solidFill>
                <a:effectLst/>
                <a:latin typeface="+mn-lt"/>
                <a:ea typeface="+mn-ea"/>
                <a:cs typeface="+mn-cs"/>
              </a:rPr>
              <a:t> DFA </a:t>
            </a:r>
            <a:r>
              <a:rPr lang="zh-CN" altLang="zh-CN" sz="1200" kern="1200" dirty="0">
                <a:solidFill>
                  <a:schemeClr val="tx1"/>
                </a:solidFill>
                <a:effectLst/>
                <a:latin typeface="+mn-lt"/>
                <a:ea typeface="+mn-ea"/>
                <a:cs typeface="+mn-cs"/>
              </a:rPr>
              <a:t>顺序进入状态序列</a:t>
            </a:r>
            <a:r>
              <a:rPr lang="en-US" altLang="zh-CN" sz="1200" kern="1200" dirty="0">
                <a:solidFill>
                  <a:schemeClr val="tx1"/>
                </a:solidFill>
                <a:effectLst/>
                <a:latin typeface="+mn-lt"/>
                <a:ea typeface="+mn-ea"/>
                <a:cs typeface="+mn-cs"/>
              </a:rPr>
              <a:t> 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1; 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1; 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3 </a:t>
            </a:r>
            <a:r>
              <a:rPr lang="zh-CN" altLang="zh-CN" sz="1200" kern="1200" dirty="0">
                <a:solidFill>
                  <a:schemeClr val="tx1"/>
                </a:solidFill>
                <a:effectLst/>
                <a:latin typeface="+mn-lt"/>
                <a:ea typeface="+mn-ea"/>
                <a:cs typeface="+mn-cs"/>
              </a:rPr>
              <a:t>并返回</a:t>
            </a:r>
            <a:r>
              <a:rPr lang="en-US" altLang="zh-CN" sz="1200" kern="1200" dirty="0">
                <a:solidFill>
                  <a:schemeClr val="tx1"/>
                </a:solidFill>
                <a:effectLst/>
                <a:latin typeface="+mn-lt"/>
                <a:ea typeface="+mn-ea"/>
                <a:cs typeface="+mn-cs"/>
              </a:rPr>
              <a:t> \yes</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t>
            </a:r>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正则表达式非常适合描述词法分析器和其他模式处理软件。如第</a:t>
            </a:r>
            <a:r>
              <a:rPr lang="en-US" altLang="zh-CN" sz="1200" kern="1200" dirty="0">
                <a:solidFill>
                  <a:schemeClr val="tx1"/>
                </a:solidFill>
                <a:effectLst/>
                <a:latin typeface="+mn-lt"/>
                <a:ea typeface="+mn-ea"/>
                <a:cs typeface="+mn-cs"/>
              </a:rPr>
              <a:t> 3.5 </a:t>
            </a:r>
            <a:r>
              <a:rPr lang="zh-CN" altLang="zh-CN" sz="1200" kern="1200" dirty="0">
                <a:solidFill>
                  <a:schemeClr val="tx1"/>
                </a:solidFill>
                <a:effectLst/>
                <a:latin typeface="+mn-lt"/>
                <a:ea typeface="+mn-ea"/>
                <a:cs typeface="+mn-cs"/>
              </a:rPr>
              <a:t>节所述。然而，该软件的实现需要模拟</a:t>
            </a:r>
            <a:r>
              <a:rPr lang="en-US" altLang="zh-CN" sz="1200" kern="1200" dirty="0">
                <a:solidFill>
                  <a:schemeClr val="tx1"/>
                </a:solidFill>
                <a:effectLst/>
                <a:latin typeface="+mn-lt"/>
                <a:ea typeface="+mn-ea"/>
                <a:cs typeface="+mn-cs"/>
              </a:rPr>
              <a:t> DFA</a:t>
            </a:r>
            <a:r>
              <a:rPr lang="zh-CN" altLang="zh-CN" sz="1200" kern="1200" dirty="0">
                <a:solidFill>
                  <a:schemeClr val="tx1"/>
                </a:solidFill>
                <a:effectLst/>
                <a:latin typeface="+mn-lt"/>
                <a:ea typeface="+mn-ea"/>
                <a:cs typeface="+mn-cs"/>
              </a:rPr>
              <a:t>（如算法</a:t>
            </a:r>
            <a:r>
              <a:rPr lang="en-US" altLang="zh-CN" sz="1200" kern="1200" dirty="0">
                <a:solidFill>
                  <a:schemeClr val="tx1"/>
                </a:solidFill>
                <a:effectLst/>
                <a:latin typeface="+mn-lt"/>
                <a:ea typeface="+mn-ea"/>
                <a:cs typeface="+mn-cs"/>
              </a:rPr>
              <a:t> 3.18 </a:t>
            </a:r>
            <a:r>
              <a:rPr lang="zh-CN" altLang="zh-CN" sz="1200" kern="1200" dirty="0">
                <a:solidFill>
                  <a:schemeClr val="tx1"/>
                </a:solidFill>
                <a:effectLst/>
                <a:latin typeface="+mn-lt"/>
                <a:ea typeface="+mn-ea"/>
                <a:cs typeface="+mn-cs"/>
              </a:rPr>
              <a:t>所示），或者模拟</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的执行。由于</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对于一个输入符号可以选择不同的转换（如图</a:t>
            </a:r>
            <a:r>
              <a:rPr lang="en-US" altLang="zh-CN" sz="1200" kern="1200" dirty="0">
                <a:solidFill>
                  <a:schemeClr val="tx1"/>
                </a:solidFill>
                <a:effectLst/>
                <a:latin typeface="+mn-lt"/>
                <a:ea typeface="+mn-ea"/>
                <a:cs typeface="+mn-cs"/>
              </a:rPr>
              <a:t> 3.24 </a:t>
            </a:r>
            <a:r>
              <a:rPr lang="zh-CN" altLang="zh-CN" sz="1200" kern="1200" dirty="0">
                <a:solidFill>
                  <a:schemeClr val="tx1"/>
                </a:solidFill>
                <a:effectLst/>
                <a:latin typeface="+mn-lt"/>
                <a:ea typeface="+mn-ea"/>
                <a:cs typeface="+mn-cs"/>
              </a:rPr>
              <a:t>所示状态</a:t>
            </a:r>
            <a:r>
              <a:rPr lang="en-US" altLang="zh-CN" sz="1200" kern="1200" dirty="0">
                <a:solidFill>
                  <a:schemeClr val="tx1"/>
                </a:solidFill>
                <a:effectLst/>
                <a:latin typeface="+mn-lt"/>
                <a:ea typeface="+mn-ea"/>
                <a:cs typeface="+mn-cs"/>
              </a:rPr>
              <a:t> 0</a:t>
            </a:r>
            <a:r>
              <a:rPr lang="zh-CN" altLang="zh-CN" sz="1200" kern="1200" dirty="0">
                <a:solidFill>
                  <a:schemeClr val="tx1"/>
                </a:solidFill>
                <a:effectLst/>
                <a:latin typeface="+mn-lt"/>
                <a:ea typeface="+mn-ea"/>
                <a:cs typeface="+mn-cs"/>
              </a:rPr>
              <a:t>上输入为</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时）它可以执行输入　上的转换（如图</a:t>
            </a:r>
            <a:r>
              <a:rPr lang="en-US" altLang="zh-CN" sz="1200" kern="1200" dirty="0">
                <a:solidFill>
                  <a:schemeClr val="tx1"/>
                </a:solidFill>
                <a:effectLst/>
                <a:latin typeface="+mn-lt"/>
                <a:ea typeface="+mn-ea"/>
                <a:cs typeface="+mn-cs"/>
              </a:rPr>
              <a:t> 3.26 </a:t>
            </a:r>
            <a:r>
              <a:rPr lang="zh-CN" altLang="zh-CN" sz="1200" kern="1200" dirty="0">
                <a:solidFill>
                  <a:schemeClr val="tx1"/>
                </a:solidFill>
                <a:effectLst/>
                <a:latin typeface="+mn-lt"/>
                <a:ea typeface="+mn-ea"/>
                <a:cs typeface="+mn-cs"/>
              </a:rPr>
              <a:t>中的状态</a:t>
            </a:r>
            <a:r>
              <a:rPr lang="en-US" altLang="zh-CN" sz="1200" kern="1200" dirty="0">
                <a:solidFill>
                  <a:schemeClr val="tx1"/>
                </a:solidFill>
                <a:effectLst/>
                <a:latin typeface="+mn-lt"/>
                <a:ea typeface="+mn-ea"/>
                <a:cs typeface="+mn-cs"/>
              </a:rPr>
              <a:t> 0</a:t>
            </a:r>
            <a:r>
              <a:rPr lang="zh-CN" altLang="zh-CN" sz="1200" kern="1200" dirty="0">
                <a:solidFill>
                  <a:schemeClr val="tx1"/>
                </a:solidFill>
                <a:effectLst/>
                <a:latin typeface="+mn-lt"/>
                <a:ea typeface="+mn-ea"/>
                <a:cs typeface="+mn-cs"/>
              </a:rPr>
              <a:t>上时），甚至可以选择是对 或是对真实的输入符号执行转换，因此对</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的模拟不如 对</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的模拟简单。因此，我们需要将一个</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转换为一个识别相同语言的</a:t>
            </a:r>
            <a:r>
              <a:rPr lang="en-US" altLang="zh-CN" sz="1200" kern="1200" dirty="0">
                <a:solidFill>
                  <a:schemeClr val="tx1"/>
                </a:solidFill>
                <a:effectLst/>
                <a:latin typeface="+mn-lt"/>
                <a:ea typeface="+mn-ea"/>
                <a:cs typeface="+mn-cs"/>
              </a:rPr>
              <a:t> DFA</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在本节中，我们将首先介绍如何将</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转换为</a:t>
            </a:r>
            <a:r>
              <a:rPr lang="en-US" altLang="zh-CN" sz="1200" kern="1200" dirty="0">
                <a:solidFill>
                  <a:schemeClr val="tx1"/>
                </a:solidFill>
                <a:effectLst/>
                <a:latin typeface="+mn-lt"/>
                <a:ea typeface="+mn-ea"/>
                <a:cs typeface="+mn-cs"/>
              </a:rPr>
              <a:t> DFA</a:t>
            </a:r>
            <a:r>
              <a:rPr lang="zh-CN" altLang="zh-CN" sz="1200" kern="1200" dirty="0">
                <a:solidFill>
                  <a:schemeClr val="tx1"/>
                </a:solidFill>
                <a:effectLst/>
                <a:latin typeface="+mn-lt"/>
                <a:ea typeface="+mn-ea"/>
                <a:cs typeface="+mn-cs"/>
              </a:rPr>
              <a:t>。然后，我们使用这种称为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子集构造</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的技术给出一个直接模拟</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的算法。这个算法可用于那些将</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转化到</a:t>
            </a:r>
            <a:r>
              <a:rPr lang="en-US" altLang="zh-CN" sz="1200" kern="1200" dirty="0">
                <a:solidFill>
                  <a:schemeClr val="tx1"/>
                </a:solidFill>
                <a:effectLst/>
                <a:latin typeface="+mn-lt"/>
                <a:ea typeface="+mn-ea"/>
                <a:cs typeface="+mn-cs"/>
              </a:rPr>
              <a:t> DFA</a:t>
            </a:r>
            <a:r>
              <a:rPr lang="zh-CN" altLang="zh-CN" sz="1200" kern="1200" dirty="0">
                <a:solidFill>
                  <a:schemeClr val="tx1"/>
                </a:solidFill>
                <a:effectLst/>
                <a:latin typeface="+mn-lt"/>
                <a:ea typeface="+mn-ea"/>
                <a:cs typeface="+mn-cs"/>
              </a:rPr>
              <a:t>比直接模拟</a:t>
            </a:r>
            <a:r>
              <a:rPr lang="en-US" altLang="zh-CN" sz="1200" kern="1200" dirty="0">
                <a:solidFill>
                  <a:schemeClr val="tx1"/>
                </a:solidFill>
                <a:effectLst/>
                <a:latin typeface="+mn-lt"/>
                <a:ea typeface="+mn-ea"/>
                <a:cs typeface="+mn-cs"/>
              </a:rPr>
              <a:t>MFA</a:t>
            </a:r>
            <a:r>
              <a:rPr lang="zh-CN" altLang="zh-CN" sz="1200" kern="1200" dirty="0">
                <a:solidFill>
                  <a:schemeClr val="tx1"/>
                </a:solidFill>
                <a:effectLst/>
                <a:latin typeface="+mn-lt"/>
                <a:ea typeface="+mn-ea"/>
                <a:cs typeface="+mn-cs"/>
              </a:rPr>
              <a:t>更加耗时的（非词法分析的）情形。接着，我们将说明如何把正则表达式转换为</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，在必要时可以根据这个</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构造出一个</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。最后讨论了不同的正则表达式实现技术之间的时空权衡问题，并说明如何为具体的应用程序选择适当的方法。</a:t>
            </a:r>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子集构造背后的总体思想是让构造得到的</a:t>
            </a:r>
            <a:r>
              <a:rPr lang="en-US" altLang="zh-CN" sz="1200" kern="1200" dirty="0">
                <a:solidFill>
                  <a:schemeClr val="tx1"/>
                </a:solidFill>
                <a:effectLst/>
                <a:latin typeface="+mn-lt"/>
                <a:ea typeface="+mn-ea"/>
                <a:cs typeface="+mn-cs"/>
              </a:rPr>
              <a:t> DFA </a:t>
            </a:r>
            <a:r>
              <a:rPr lang="zh-CN" altLang="zh-CN" sz="1200" kern="1200" dirty="0">
                <a:solidFill>
                  <a:schemeClr val="tx1"/>
                </a:solidFill>
                <a:effectLst/>
                <a:latin typeface="+mn-lt"/>
                <a:ea typeface="+mn-ea"/>
                <a:cs typeface="+mn-cs"/>
              </a:rPr>
              <a:t>的每个状态对应于</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的一个状态集合。</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在读取输入</a:t>
            </a:r>
            <a:r>
              <a:rPr lang="en-US" altLang="zh-CN" sz="1200" kern="1200" dirty="0">
                <a:solidFill>
                  <a:schemeClr val="tx1"/>
                </a:solidFill>
                <a:effectLst/>
                <a:latin typeface="+mn-lt"/>
                <a:ea typeface="+mn-ea"/>
                <a:cs typeface="+mn-cs"/>
              </a:rPr>
              <a:t>a1 a2 a1 a2 an</a:t>
            </a:r>
            <a:r>
              <a:rPr lang="zh-CN" altLang="zh-CN" sz="1200" kern="1200" dirty="0">
                <a:solidFill>
                  <a:schemeClr val="tx1"/>
                </a:solidFill>
                <a:effectLst/>
                <a:latin typeface="+mn-lt"/>
                <a:ea typeface="+mn-ea"/>
                <a:cs typeface="+mn-cs"/>
              </a:rPr>
              <a:t>之后到达的状态对应于相应</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从其起始状态出发，沿着</a:t>
            </a:r>
            <a:r>
              <a:rPr lang="en-US" altLang="zh-CN" sz="1200" kern="1200" dirty="0">
                <a:solidFill>
                  <a:schemeClr val="tx1"/>
                </a:solidFill>
                <a:effectLst/>
                <a:latin typeface="+mn-lt"/>
                <a:ea typeface="+mn-ea"/>
                <a:cs typeface="+mn-cs"/>
              </a:rPr>
              <a:t> a1 a2 an</a:t>
            </a:r>
            <a:r>
              <a:rPr lang="zh-CN" altLang="zh-CN" sz="1200" kern="1200" dirty="0">
                <a:solidFill>
                  <a:schemeClr val="tx1"/>
                </a:solidFill>
                <a:effectLst/>
                <a:latin typeface="+mn-lt"/>
                <a:ea typeface="+mn-ea"/>
                <a:cs typeface="+mn-cs"/>
              </a:rPr>
              <a:t>为标号的路径能够到达的状态集合。</a:t>
            </a:r>
          </a:p>
          <a:p>
            <a:r>
              <a:rPr lang="zh-CN" altLang="en-US" dirty="0"/>
              <a:t>▪ 算法 "并行 "模拟 NFA 在给定输入字符串上可能做出的所有动作</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a:t>算法示例</a:t>
            </a:r>
          </a:p>
          <a:p>
            <a:r>
              <a:rPr lang="zh-CN" altLang="en-US"/>
              <a:t>• 下面的 NFA 接受字符串 babb</a:t>
            </a:r>
          </a:p>
          <a:p>
            <a:r>
              <a:rPr lang="zh-CN" altLang="en-US"/>
              <a:t>存在一条从起始状态 0 到接受状态 10 的路径，在这条路径上，边上的标签构成了一个字符串 babb</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en-US" altLang="zh-CN" sz="1200" kern="1200" dirty="0">
                <a:solidFill>
                  <a:schemeClr val="tx1"/>
                </a:solidFill>
                <a:effectLst/>
                <a:latin typeface="+mn-lt"/>
                <a:ea typeface="+mn-ea"/>
                <a:cs typeface="+mn-cs"/>
              </a:rPr>
              <a:t>DFA </a:t>
            </a:r>
            <a:r>
              <a:rPr lang="zh-CN" altLang="zh-CN" sz="1200" kern="1200" dirty="0">
                <a:solidFill>
                  <a:schemeClr val="tx1"/>
                </a:solidFill>
                <a:effectLst/>
                <a:latin typeface="+mn-lt"/>
                <a:ea typeface="+mn-ea"/>
                <a:cs typeface="+mn-cs"/>
              </a:rPr>
              <a:t>状态数有可能是</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状态数的指数，在这种情况下，我们在试图实现这个</a:t>
            </a:r>
            <a:r>
              <a:rPr lang="en-US" altLang="zh-CN" sz="1200" kern="1200" dirty="0">
                <a:solidFill>
                  <a:schemeClr val="tx1"/>
                </a:solidFill>
                <a:effectLst/>
                <a:latin typeface="+mn-lt"/>
                <a:ea typeface="+mn-ea"/>
                <a:cs typeface="+mn-cs"/>
              </a:rPr>
              <a:t> DFA </a:t>
            </a:r>
            <a:r>
              <a:rPr lang="zh-CN" altLang="zh-CN" sz="1200" kern="1200" dirty="0">
                <a:solidFill>
                  <a:schemeClr val="tx1"/>
                </a:solidFill>
                <a:effectLst/>
                <a:latin typeface="+mn-lt"/>
                <a:ea typeface="+mn-ea"/>
                <a:cs typeface="+mn-cs"/>
              </a:rPr>
              <a:t>时会遇到困难。然而，基于自动机的词法分析方法的处理能力部分源于以下事实：对于一个真实语言，它的</a:t>
            </a:r>
            <a:r>
              <a:rPr lang="en-US" altLang="zh-CN" sz="1200" kern="1200" dirty="0">
                <a:solidFill>
                  <a:schemeClr val="tx1"/>
                </a:solidFill>
                <a:effectLst/>
                <a:latin typeface="+mn-lt"/>
                <a:ea typeface="+mn-ea"/>
                <a:cs typeface="+mn-cs"/>
              </a:rPr>
              <a:t>NFA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DFA</a:t>
            </a:r>
            <a:r>
              <a:rPr lang="zh-CN" altLang="zh-CN" sz="1200" kern="1200" dirty="0">
                <a:solidFill>
                  <a:schemeClr val="tx1"/>
                </a:solidFill>
                <a:effectLst/>
                <a:latin typeface="+mn-lt"/>
                <a:ea typeface="+mn-ea"/>
                <a:cs typeface="+mn-cs"/>
              </a:rPr>
              <a:t>的状态数量大约相同，状态数量呈指数关系的情形尚未在实践中出现过。</a:t>
            </a:r>
            <a:endParaRPr lang="en-US" altLang="zh-CN" sz="1200" kern="1200" dirty="0">
              <a:solidFill>
                <a:schemeClr val="tx1"/>
              </a:solidFill>
              <a:effectLst/>
              <a:latin typeface="+mn-lt"/>
              <a:ea typeface="+mn-ea"/>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我们的第一个问题是正确处理 </a:t>
            </a:r>
            <a:r>
              <a:rPr lang="en-US" altLang="zh-CN" dirty="0"/>
              <a:t>N </a:t>
            </a:r>
            <a:r>
              <a:rPr lang="zh-CN" altLang="en-US" dirty="0"/>
              <a:t>的空转换。在图 </a:t>
            </a:r>
            <a:r>
              <a:rPr lang="en-US" altLang="zh-CN" dirty="0"/>
              <a:t>3.31 </a:t>
            </a:r>
            <a:r>
              <a:rPr lang="zh-CN" altLang="en-US" dirty="0"/>
              <a:t>中，我们看到了几个函数的定义，这些函数描述了一些需要在这个算法中执行的 </a:t>
            </a:r>
            <a:r>
              <a:rPr lang="en-US" altLang="zh-CN" dirty="0"/>
              <a:t>N</a:t>
            </a:r>
            <a:r>
              <a:rPr lang="zh-CN" altLang="en-US" dirty="0"/>
              <a:t>的 状态集上的基本计算。请注意，</a:t>
            </a:r>
            <a:r>
              <a:rPr lang="en-US" altLang="zh-CN" dirty="0"/>
              <a:t>s </a:t>
            </a:r>
            <a:r>
              <a:rPr lang="zh-CN" altLang="en-US" dirty="0"/>
              <a:t>表示 </a:t>
            </a:r>
            <a:r>
              <a:rPr lang="en-US" altLang="zh-CN" dirty="0"/>
              <a:t>N </a:t>
            </a:r>
            <a:r>
              <a:rPr lang="zh-CN" altLang="en-US" dirty="0"/>
              <a:t>的单个状态，而 </a:t>
            </a:r>
            <a:r>
              <a:rPr lang="en-US" altLang="zh-CN" dirty="0"/>
              <a:t>T</a:t>
            </a:r>
            <a:r>
              <a:rPr lang="zh-CN" altLang="en-US" dirty="0"/>
              <a:t>代表 </a:t>
            </a:r>
            <a:r>
              <a:rPr lang="en-US" altLang="zh-CN" dirty="0"/>
              <a:t>N </a:t>
            </a:r>
            <a:r>
              <a:rPr lang="zh-CN" altLang="en-US" dirty="0"/>
              <a:t>的一个状态集。</a:t>
            </a:r>
          </a:p>
          <a:p>
            <a:r>
              <a:rPr lang="zh-CN" altLang="en-US" dirty="0"/>
              <a:t>▪ </a:t>
            </a:r>
            <a:r>
              <a:rPr dirty="0">
                <a:solidFill>
                  <a:srgbClr val="FF0000"/>
                </a:solidFill>
                <a:latin typeface="Ubuntu Mono derivative Powerline" charset="0"/>
                <a:ea typeface="Palatino Linotype" panose="02040502050505030304"/>
                <a:cs typeface="Palatino Linotype" panose="02040502050505030304"/>
                <a:sym typeface="+mn-ea"/>
              </a:rPr>
              <a:t>𝜖-closure(s)</a:t>
            </a:r>
            <a:r>
              <a:rPr lang="zh-CN" dirty="0">
                <a:solidFill>
                  <a:srgbClr val="FF0000"/>
                </a:solidFill>
                <a:latin typeface="Ubuntu Mono derivative Powerline" charset="0"/>
                <a:ea typeface="宋体" panose="02010600030101010101" pitchFamily="2" charset="-122"/>
                <a:cs typeface="Palatino Linotype" panose="02040502050505030304"/>
                <a:sym typeface="+mn-ea"/>
              </a:rPr>
              <a:t>：仅在</a:t>
            </a:r>
            <a:r>
              <a:rPr dirty="0">
                <a:solidFill>
                  <a:srgbClr val="FF0000"/>
                </a:solidFill>
                <a:latin typeface="Ubuntu Mono derivative Powerline" charset="0"/>
                <a:ea typeface="Palatino Linotype" panose="02040502050505030304"/>
                <a:cs typeface="Palatino Linotype" panose="02040502050505030304"/>
                <a:sym typeface="+mn-ea"/>
              </a:rPr>
              <a:t>𝜖-transitions 上可从 NFA 状态 s 到达的 NFA 状态集</a:t>
            </a:r>
            <a:r>
              <a:rPr lang="zh-CN" dirty="0">
                <a:solidFill>
                  <a:srgbClr val="FF0000"/>
                </a:solidFill>
                <a:latin typeface="Ubuntu Mono derivative Powerline" charset="0"/>
                <a:ea typeface="宋体" panose="02010600030101010101" pitchFamily="2" charset="-122"/>
                <a:cs typeface="Palatino Linotype" panose="02040502050505030304"/>
                <a:sym typeface="+mn-ea"/>
              </a:rPr>
              <a:t>合</a:t>
            </a:r>
          </a:p>
          <a:p>
            <a:r>
              <a:rPr lang="zh-CN" altLang="en-US" dirty="0">
                <a:sym typeface="+mn-ea"/>
              </a:rPr>
              <a:t>▪</a:t>
            </a:r>
            <a:r>
              <a:rPr lang="en-US" altLang="zh-CN" dirty="0">
                <a:sym typeface="+mn-ea"/>
              </a:rPr>
              <a:t> </a:t>
            </a:r>
            <a:r>
              <a:rPr lang="zh-CN" dirty="0">
                <a:solidFill>
                  <a:srgbClr val="FF0000"/>
                </a:solidFill>
                <a:latin typeface="Ubuntu Mono derivative Powerline" charset="0"/>
                <a:ea typeface="宋体" panose="02010600030101010101" pitchFamily="2" charset="-122"/>
                <a:cs typeface="Palatino Linotype" panose="02040502050505030304"/>
                <a:sym typeface="+mn-ea"/>
              </a:rPr>
              <a:t>𝜖-closure(T)：仅在</a:t>
            </a:r>
            <a:r>
              <a:rPr dirty="0">
                <a:solidFill>
                  <a:srgbClr val="FF0000"/>
                </a:solidFill>
                <a:latin typeface="Ubuntu Mono derivative Powerline" charset="0"/>
                <a:ea typeface="Palatino Linotype" panose="02040502050505030304"/>
                <a:cs typeface="Palatino Linotype" panose="02040502050505030304"/>
                <a:sym typeface="+mn-ea"/>
              </a:rPr>
              <a:t>𝜖-transitions 上可从集合 T 中的某个 NFA 状态 s 到</a:t>
            </a:r>
            <a:r>
              <a:rPr lang="zh-CN" dirty="0">
                <a:solidFill>
                  <a:srgbClr val="FF0000"/>
                </a:solidFill>
                <a:latin typeface="Ubuntu Mono derivative Powerline" charset="0"/>
                <a:ea typeface="宋体" panose="02010600030101010101" pitchFamily="2" charset="-122"/>
                <a:cs typeface="Palatino Linotype" panose="02040502050505030304"/>
                <a:sym typeface="+mn-ea"/>
              </a:rPr>
              <a:t>达的 NFA 状态的集合</a:t>
            </a:r>
          </a:p>
          <a:p>
            <a:r>
              <a:rPr lang="en-US" altLang="zh-CN" dirty="0">
                <a:solidFill>
                  <a:srgbClr val="FF0000"/>
                </a:solidFill>
                <a:latin typeface="Ubuntu Mono derivative Powerline" charset="0"/>
                <a:ea typeface="宋体" panose="02010600030101010101" pitchFamily="2" charset="-122"/>
                <a:cs typeface="Palatino Linotype" panose="02040502050505030304"/>
                <a:sym typeface="+mn-ea"/>
              </a:rPr>
              <a:t>move</a:t>
            </a:r>
            <a:r>
              <a:rPr lang="zh-CN" dirty="0">
                <a:solidFill>
                  <a:srgbClr val="FF0000"/>
                </a:solidFill>
                <a:latin typeface="Ubuntu Mono derivative Powerline" charset="0"/>
                <a:ea typeface="宋体" panose="02010600030101010101" pitchFamily="2" charset="-122"/>
                <a:cs typeface="Palatino Linotype" panose="02040502050505030304"/>
                <a:sym typeface="+mn-ea"/>
              </a:rPr>
              <a:t>（T，a）：输入符号 a 可以从 T 中的某个状态 s 过渡到的 NFA 状态集合</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endParaRPr lang="zh-CN" altLang="en-US" dirty="0"/>
          </a:p>
          <a:p>
            <a:r>
              <a:rPr lang="zh-CN" altLang="en-US" dirty="0"/>
              <a:t>我们必须找出当 </a:t>
            </a:r>
            <a:r>
              <a:rPr lang="en-US" altLang="zh-CN" dirty="0"/>
              <a:t>N</a:t>
            </a:r>
            <a:r>
              <a:rPr lang="zh-CN" altLang="en-US" dirty="0"/>
              <a:t>读入了某个输入串之后可能位于的所有状态集合。作为基础，在读取第一个输入符号之前，</a:t>
            </a:r>
            <a:r>
              <a:rPr lang="en-US" altLang="zh-CN" dirty="0"/>
              <a:t>N </a:t>
            </a:r>
            <a:r>
              <a:rPr lang="zh-CN" altLang="en-US" dirty="0"/>
              <a:t>可以处于 集合</a:t>
            </a:r>
            <a:r>
              <a:rPr lang="en-US" altLang="zh-CN" dirty="0"/>
              <a:t>-closure(s0 )</a:t>
            </a:r>
            <a:r>
              <a:rPr lang="zh-CN" altLang="en-US" dirty="0"/>
              <a:t>中的任何状态上，其中 </a:t>
            </a:r>
            <a:r>
              <a:rPr lang="en-US" altLang="zh-CN" dirty="0"/>
              <a:t>s0 </a:t>
            </a:r>
            <a:r>
              <a:rPr lang="zh-CN" altLang="en-US" dirty="0"/>
              <a:t>是</a:t>
            </a:r>
            <a:r>
              <a:rPr lang="en-US" altLang="zh-CN" dirty="0"/>
              <a:t>N</a:t>
            </a:r>
            <a:r>
              <a:rPr lang="zh-CN" altLang="en-US" dirty="0"/>
              <a:t>的起始状态。下面进行归纳，假设</a:t>
            </a:r>
            <a:r>
              <a:rPr lang="en-US" altLang="zh-CN" dirty="0"/>
              <a:t>N</a:t>
            </a:r>
            <a:r>
              <a:rPr lang="zh-CN" altLang="en-US" dirty="0"/>
              <a:t>在读取输入字符串 </a:t>
            </a:r>
            <a:r>
              <a:rPr lang="en-US" altLang="zh-CN" dirty="0"/>
              <a:t>x </a:t>
            </a:r>
            <a:r>
              <a:rPr lang="zh-CN" altLang="en-US" dirty="0"/>
              <a:t>后可以处于状态集 </a:t>
            </a:r>
            <a:r>
              <a:rPr lang="en-US" altLang="zh-CN" dirty="0"/>
              <a:t>T </a:t>
            </a:r>
            <a:r>
              <a:rPr lang="zh-CN" altLang="en-US" dirty="0"/>
              <a:t>中的状态上。如果接下来读取输入 </a:t>
            </a:r>
            <a:r>
              <a:rPr lang="en-US" altLang="zh-CN" dirty="0"/>
              <a:t>a</a:t>
            </a:r>
            <a:r>
              <a:rPr lang="zh-CN" altLang="en-US" dirty="0"/>
              <a:t>，则 </a:t>
            </a:r>
            <a:r>
              <a:rPr lang="en-US" altLang="zh-CN" dirty="0"/>
              <a:t>N </a:t>
            </a:r>
            <a:r>
              <a:rPr lang="zh-CN" altLang="en-US" dirty="0"/>
              <a:t>可以立即进入 </a:t>
            </a:r>
            <a:r>
              <a:rPr lang="en-US" altLang="zh-CN" dirty="0"/>
              <a:t>move (T; a) </a:t>
            </a:r>
            <a:r>
              <a:rPr lang="zh-CN" altLang="en-US" dirty="0"/>
              <a:t>中的任何状态。然而，</a:t>
            </a:r>
            <a:r>
              <a:rPr lang="en-US" altLang="zh-CN" dirty="0"/>
              <a:t>N</a:t>
            </a:r>
            <a:r>
              <a:rPr lang="zh-CN" altLang="en-US" dirty="0"/>
              <a:t>可以在读入</a:t>
            </a:r>
            <a:r>
              <a:rPr lang="en-US" altLang="zh-CN" dirty="0"/>
              <a:t>a</a:t>
            </a:r>
            <a:r>
              <a:rPr lang="zh-CN" altLang="en-US" dirty="0"/>
              <a:t>后再执行几次</a:t>
            </a:r>
            <a:r>
              <a:rPr lang="en-US" altLang="zh-CN" dirty="0"/>
              <a:t>-</a:t>
            </a:r>
            <a:r>
              <a:rPr lang="zh-CN" altLang="en-US" dirty="0"/>
              <a:t>转换；因此</a:t>
            </a:r>
            <a:r>
              <a:rPr lang="en-US" altLang="zh-CN" dirty="0"/>
              <a:t>N</a:t>
            </a:r>
            <a:r>
              <a:rPr lang="zh-CN" altLang="en-US" dirty="0"/>
              <a:t>在读入 </a:t>
            </a:r>
            <a:r>
              <a:rPr lang="en-US" altLang="zh-CN" dirty="0" err="1"/>
              <a:t>xa</a:t>
            </a:r>
            <a:r>
              <a:rPr lang="zh-CN" altLang="en-US" dirty="0"/>
              <a:t>之后，可以处于 </a:t>
            </a:r>
            <a:r>
              <a:rPr lang="en-US" altLang="zh-CN" dirty="0"/>
              <a:t>-closure</a:t>
            </a:r>
            <a:r>
              <a:rPr lang="zh-CN" altLang="en-US" dirty="0"/>
              <a:t>（ </a:t>
            </a:r>
            <a:r>
              <a:rPr lang="en-US" altLang="zh-CN" dirty="0"/>
              <a:t>move(T; a)</a:t>
            </a:r>
            <a:r>
              <a:rPr lang="zh-CN" altLang="en-US" dirty="0"/>
              <a:t>）中的任何状态上。</a:t>
            </a:r>
            <a:endParaRPr lang="zh-CN" altLang="en-US" dirty="0">
              <a:sym typeface="+mn-ea"/>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根据这些想法，我们可以得到如图 </a:t>
            </a:r>
            <a:r>
              <a:rPr lang="en-US" altLang="zh-CN" dirty="0"/>
              <a:t>3.32 </a:t>
            </a:r>
            <a:r>
              <a:rPr lang="zh-CN" altLang="en-US" dirty="0"/>
              <a:t>中显示的方法，该方法构造了</a:t>
            </a:r>
            <a:r>
              <a:rPr lang="en-US" altLang="zh-CN" dirty="0"/>
              <a:t>D </a:t>
            </a:r>
            <a:r>
              <a:rPr lang="zh-CN" altLang="en-US" dirty="0"/>
              <a:t>的状态集 </a:t>
            </a:r>
            <a:r>
              <a:rPr lang="en-US" altLang="zh-CN" dirty="0" err="1"/>
              <a:t>Dstates</a:t>
            </a:r>
            <a:r>
              <a:rPr lang="en-US" altLang="zh-CN" dirty="0"/>
              <a:t> </a:t>
            </a:r>
            <a:r>
              <a:rPr lang="zh-CN" altLang="en-US" dirty="0"/>
              <a:t>和</a:t>
            </a:r>
            <a:r>
              <a:rPr lang="en-US" altLang="zh-CN" dirty="0"/>
              <a:t>D</a:t>
            </a:r>
            <a:r>
              <a:rPr lang="zh-CN" altLang="en-US" dirty="0"/>
              <a:t>的转换函数 </a:t>
            </a:r>
            <a:r>
              <a:rPr lang="en-US" altLang="zh-CN" dirty="0" err="1"/>
              <a:t>Dtran</a:t>
            </a:r>
            <a:r>
              <a:rPr lang="zh-CN" altLang="en-US" dirty="0"/>
              <a:t>。 </a:t>
            </a:r>
          </a:p>
          <a:p>
            <a:r>
              <a:rPr lang="en-US" altLang="zh-CN" dirty="0"/>
              <a:t>D </a:t>
            </a:r>
            <a:r>
              <a:rPr lang="zh-CN" altLang="en-US" dirty="0"/>
              <a:t>的起始状态是 </a:t>
            </a:r>
            <a:r>
              <a:rPr lang="en-US" altLang="zh-CN" dirty="0"/>
              <a:t>-closure(s0 )</a:t>
            </a:r>
            <a:r>
              <a:rPr lang="zh-CN" altLang="en-US" dirty="0"/>
              <a:t>，</a:t>
            </a:r>
            <a:r>
              <a:rPr lang="en-US" altLang="zh-CN" dirty="0"/>
              <a:t>D </a:t>
            </a:r>
            <a:r>
              <a:rPr lang="zh-CN" altLang="en-US" dirty="0"/>
              <a:t>的接受状态是所有至少包含了 </a:t>
            </a:r>
            <a:r>
              <a:rPr lang="en-US" altLang="zh-CN" dirty="0"/>
              <a:t>N </a:t>
            </a:r>
            <a:r>
              <a:rPr lang="zh-CN" altLang="en-US" dirty="0"/>
              <a:t>的一个接受状态的 状态集合。我们只需要说明如何对</a:t>
            </a:r>
            <a:r>
              <a:rPr lang="en-US" altLang="zh-CN" dirty="0"/>
              <a:t>NFA</a:t>
            </a:r>
            <a:r>
              <a:rPr lang="zh-CN" altLang="en-US" dirty="0"/>
              <a:t>的任何状态集合</a:t>
            </a:r>
            <a:r>
              <a:rPr lang="en-US" altLang="zh-CN" dirty="0"/>
              <a:t>T</a:t>
            </a:r>
            <a:r>
              <a:rPr lang="zh-CN" altLang="en-US" dirty="0"/>
              <a:t>计算 </a:t>
            </a:r>
            <a:r>
              <a:rPr lang="en-US" altLang="zh-CN" dirty="0"/>
              <a:t>-closure(s0 )</a:t>
            </a:r>
            <a:r>
              <a:rPr lang="zh-CN" altLang="en-US" dirty="0"/>
              <a:t>，就可以完整地描述子集构造法。这个计算过程如图 </a:t>
            </a:r>
            <a:r>
              <a:rPr lang="en-US" altLang="zh-CN" dirty="0"/>
              <a:t>3.33 </a:t>
            </a:r>
            <a:r>
              <a:rPr lang="zh-CN" altLang="en-US" dirty="0"/>
              <a:t>所示，它是从一个状态集合开始的一次简单的图搜索过程，不过此时假设这个图只存在标号为空的边。</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3.21</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3.34 </a:t>
            </a:r>
            <a:r>
              <a:rPr lang="zh-CN" altLang="zh-CN" sz="1200" kern="1200" dirty="0">
                <a:solidFill>
                  <a:schemeClr val="tx1"/>
                </a:solidFill>
                <a:effectLst/>
                <a:latin typeface="+mn-lt"/>
                <a:ea typeface="+mn-ea"/>
                <a:cs typeface="+mn-cs"/>
              </a:rPr>
              <a:t>显示了另一个接受</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 </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abb</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；它恰好是我们将在第</a:t>
            </a:r>
            <a:r>
              <a:rPr lang="en-US" altLang="zh-CN" sz="1200" kern="1200" dirty="0">
                <a:solidFill>
                  <a:schemeClr val="tx1"/>
                </a:solidFill>
                <a:effectLst/>
                <a:latin typeface="+mn-lt"/>
                <a:ea typeface="+mn-ea"/>
                <a:cs typeface="+mn-cs"/>
              </a:rPr>
              <a:t> 3.7 </a:t>
            </a:r>
            <a:r>
              <a:rPr lang="zh-CN" altLang="zh-CN" sz="1200" kern="1200" dirty="0">
                <a:solidFill>
                  <a:schemeClr val="tx1"/>
                </a:solidFill>
                <a:effectLst/>
                <a:latin typeface="+mn-lt"/>
                <a:ea typeface="+mn-ea"/>
                <a:cs typeface="+mn-cs"/>
              </a:rPr>
              <a:t>节中根据这个正则表达式直接构造得到的</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。让我们将算法</a:t>
            </a:r>
            <a:r>
              <a:rPr lang="en-US" altLang="zh-CN" sz="1200" kern="1200" dirty="0">
                <a:solidFill>
                  <a:schemeClr val="tx1"/>
                </a:solidFill>
                <a:effectLst/>
                <a:latin typeface="+mn-lt"/>
                <a:ea typeface="+mn-ea"/>
                <a:cs typeface="+mn-cs"/>
              </a:rPr>
              <a:t> 3.20 </a:t>
            </a:r>
            <a:r>
              <a:rPr lang="zh-CN" altLang="zh-CN" sz="1200" kern="1200" dirty="0">
                <a:solidFill>
                  <a:schemeClr val="tx1"/>
                </a:solidFill>
                <a:effectLst/>
                <a:latin typeface="+mn-lt"/>
                <a:ea typeface="+mn-ea"/>
                <a:cs typeface="+mn-cs"/>
              </a:rPr>
              <a:t>应用于图 </a:t>
            </a:r>
            <a:r>
              <a:rPr lang="en-US" altLang="zh-CN" sz="1200" kern="1200" dirty="0">
                <a:solidFill>
                  <a:schemeClr val="tx1"/>
                </a:solidFill>
                <a:effectLst/>
                <a:latin typeface="+mn-lt"/>
                <a:ea typeface="+mn-ea"/>
                <a:cs typeface="+mn-cs"/>
              </a:rPr>
              <a:t>3.34</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等价</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的起始状态</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-closure(0)</a:t>
            </a:r>
            <a:r>
              <a:rPr lang="zh-CN" altLang="zh-CN" sz="1200" kern="1200" dirty="0">
                <a:solidFill>
                  <a:schemeClr val="tx1"/>
                </a:solidFill>
                <a:effectLst/>
                <a:latin typeface="+mn-lt"/>
                <a:ea typeface="+mn-ea"/>
                <a:cs typeface="+mn-cs"/>
              </a:rPr>
              <a:t>，即</a:t>
            </a:r>
            <a:r>
              <a:rPr lang="en-US" altLang="zh-CN" sz="1200" kern="1200" dirty="0">
                <a:solidFill>
                  <a:schemeClr val="tx1"/>
                </a:solidFill>
                <a:effectLst/>
                <a:latin typeface="+mn-lt"/>
                <a:ea typeface="+mn-ea"/>
                <a:cs typeface="+mn-cs"/>
              </a:rPr>
              <a:t>A =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1; 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4</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7</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中的状态就是能够从状态</a:t>
            </a:r>
            <a:r>
              <a:rPr lang="en-US" altLang="zh-CN" sz="1200" kern="1200" dirty="0">
                <a:solidFill>
                  <a:schemeClr val="tx1"/>
                </a:solidFill>
                <a:effectLst/>
                <a:latin typeface="+mn-lt"/>
                <a:ea typeface="+mn-ea"/>
                <a:cs typeface="+mn-cs"/>
              </a:rPr>
              <a:t> 0 </a:t>
            </a:r>
            <a:r>
              <a:rPr lang="zh-CN" altLang="zh-CN" sz="1200" kern="1200" dirty="0">
                <a:solidFill>
                  <a:schemeClr val="tx1"/>
                </a:solidFill>
                <a:effectLst/>
                <a:latin typeface="+mn-lt"/>
                <a:ea typeface="+mn-ea"/>
                <a:cs typeface="+mn-cs"/>
              </a:rPr>
              <a:t>出发，只经过标号为空的路径达到的所有状态。请注意，因为路径可以包含边，所以状态</a:t>
            </a:r>
            <a:r>
              <a:rPr lang="en-US" altLang="zh-CN" sz="1200" kern="1200" dirty="0">
                <a:solidFill>
                  <a:schemeClr val="tx1"/>
                </a:solidFill>
                <a:effectLst/>
                <a:latin typeface="+mn-lt"/>
                <a:ea typeface="+mn-ea"/>
                <a:cs typeface="+mn-cs"/>
              </a:rPr>
              <a:t> 0</a:t>
            </a:r>
            <a:r>
              <a:rPr lang="zh-CN" altLang="zh-CN" sz="1200" kern="1200" dirty="0">
                <a:solidFill>
                  <a:schemeClr val="tx1"/>
                </a:solidFill>
                <a:effectLst/>
                <a:latin typeface="+mn-lt"/>
                <a:ea typeface="+mn-ea"/>
                <a:cs typeface="+mn-cs"/>
              </a:rPr>
              <a:t>也是可从它自身出发经过标号为空的路径到达的状态。</a:t>
            </a:r>
          </a:p>
          <a:p>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的输入字母表是｛</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｝。因此，我们的第一步是标记</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，并计算</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Dtran</a:t>
            </a:r>
            <a:r>
              <a:rPr lang="en-US" altLang="zh-CN" sz="1200" kern="1200" dirty="0">
                <a:solidFill>
                  <a:schemeClr val="tx1"/>
                </a:solidFill>
                <a:effectLst/>
                <a:latin typeface="+mn-lt"/>
                <a:ea typeface="+mn-ea"/>
                <a:cs typeface="+mn-cs"/>
              </a:rPr>
              <a:t>[A; a] = -</a:t>
            </a:r>
            <a:r>
              <a:rPr lang="zh-CN" altLang="zh-CN" sz="1200" kern="1200" dirty="0">
                <a:solidFill>
                  <a:schemeClr val="tx1"/>
                </a:solidFill>
                <a:effectLst/>
                <a:latin typeface="+mn-lt"/>
                <a:ea typeface="+mn-ea"/>
                <a:cs typeface="+mn-cs"/>
              </a:rPr>
              <a:t>闭包ｍｏｖｅ</a:t>
            </a:r>
            <a:r>
              <a:rPr lang="en-US" altLang="zh-CN" sz="1200" kern="1200" dirty="0">
                <a:solidFill>
                  <a:schemeClr val="tx1"/>
                </a:solidFill>
                <a:effectLst/>
                <a:latin typeface="+mn-lt"/>
                <a:ea typeface="+mn-ea"/>
                <a:cs typeface="+mn-cs"/>
              </a:rPr>
              <a:t> (A; 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Dtran</a:t>
            </a:r>
            <a:r>
              <a:rPr lang="en-US" altLang="zh-CN" sz="1200" kern="1200" dirty="0">
                <a:solidFill>
                  <a:schemeClr val="tx1"/>
                </a:solidFill>
                <a:effectLst/>
                <a:latin typeface="+mn-lt"/>
                <a:ea typeface="+mn-ea"/>
                <a:cs typeface="+mn-cs"/>
              </a:rPr>
              <a:t>[A; b] = - </a:t>
            </a:r>
            <a:r>
              <a:rPr lang="zh-CN" altLang="zh-CN" sz="1200" kern="1200" dirty="0">
                <a:solidFill>
                  <a:schemeClr val="tx1"/>
                </a:solidFill>
                <a:effectLst/>
                <a:latin typeface="+mn-lt"/>
                <a:ea typeface="+mn-ea"/>
                <a:cs typeface="+mn-cs"/>
              </a:rPr>
              <a:t>ｃｌｏｓｕｒｅ</a:t>
            </a:r>
            <a:r>
              <a:rPr lang="en-US" altLang="zh-CN" sz="1200" kern="1200" dirty="0">
                <a:solidFill>
                  <a:schemeClr val="tx1"/>
                </a:solidFill>
                <a:effectLst/>
                <a:latin typeface="+mn-lt"/>
                <a:ea typeface="+mn-ea"/>
                <a:cs typeface="+mn-cs"/>
              </a:rPr>
              <a:t> (A; b) </a:t>
            </a:r>
            <a:r>
              <a:rPr lang="zh-CN" altLang="zh-CN" sz="1200" kern="1200" dirty="0">
                <a:solidFill>
                  <a:schemeClr val="tx1"/>
                </a:solidFill>
                <a:effectLst/>
                <a:latin typeface="+mn-lt"/>
                <a:ea typeface="+mn-ea"/>
                <a:cs typeface="+mn-cs"/>
              </a:rPr>
              <a:t>。在状态</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中，只有</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分别到达状态</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。因此，ｍｏｖｅ</a:t>
            </a:r>
            <a:r>
              <a:rPr lang="en-US" altLang="zh-CN" sz="1200" kern="1200" dirty="0">
                <a:solidFill>
                  <a:schemeClr val="tx1"/>
                </a:solidFill>
                <a:effectLst/>
                <a:latin typeface="+mn-lt"/>
                <a:ea typeface="+mn-ea"/>
                <a:cs typeface="+mn-cs"/>
              </a:rPr>
              <a:t> (A; a) =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 8</a:t>
            </a:r>
            <a:r>
              <a:rPr lang="zh-CN" altLang="zh-CN" sz="1200" kern="1200" dirty="0">
                <a:solidFill>
                  <a:schemeClr val="tx1"/>
                </a:solidFill>
                <a:effectLst/>
                <a:latin typeface="+mn-lt"/>
                <a:ea typeface="+mn-ea"/>
                <a:cs typeface="+mn-cs"/>
              </a:rPr>
              <a:t>｝。同时，</a:t>
            </a:r>
            <a:r>
              <a:rPr lang="en-US" altLang="zh-CN" sz="1200" kern="1200" dirty="0">
                <a:solidFill>
                  <a:schemeClr val="tx1"/>
                </a:solidFill>
                <a:effectLst/>
                <a:latin typeface="+mn-lt"/>
                <a:ea typeface="+mn-ea"/>
                <a:cs typeface="+mn-cs"/>
              </a:rPr>
              <a:t>-closure(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 8</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 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3</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4</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6</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7</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8</a:t>
            </a:r>
            <a:r>
              <a:rPr lang="zh-CN" altLang="zh-CN" sz="1200" kern="1200" dirty="0">
                <a:solidFill>
                  <a:schemeClr val="tx1"/>
                </a:solidFill>
                <a:effectLst/>
                <a:latin typeface="+mn-lt"/>
                <a:ea typeface="+mn-ea"/>
                <a:cs typeface="+mn-cs"/>
              </a:rPr>
              <a:t>｝，所以我们得出结论</a:t>
            </a:r>
          </a:p>
          <a:p>
            <a:r>
              <a:rPr lang="en-US" altLang="zh-CN" sz="1200" kern="1200" dirty="0" err="1">
                <a:solidFill>
                  <a:schemeClr val="tx1"/>
                </a:solidFill>
                <a:effectLst/>
                <a:latin typeface="+mn-lt"/>
                <a:ea typeface="+mn-ea"/>
                <a:cs typeface="+mn-cs"/>
              </a:rPr>
              <a:t>Dtran</a:t>
            </a:r>
            <a:r>
              <a:rPr lang="en-US" altLang="zh-CN" sz="1200" kern="1200" dirty="0">
                <a:solidFill>
                  <a:schemeClr val="tx1"/>
                </a:solidFill>
                <a:effectLst/>
                <a:latin typeface="+mn-lt"/>
                <a:ea typeface="+mn-ea"/>
                <a:cs typeface="+mn-cs"/>
              </a:rPr>
              <a:t>[A; a]= -</a:t>
            </a:r>
            <a:r>
              <a:rPr lang="zh-CN" altLang="zh-CN" sz="1200" kern="1200" dirty="0">
                <a:solidFill>
                  <a:schemeClr val="tx1"/>
                </a:solidFill>
                <a:effectLst/>
                <a:latin typeface="+mn-lt"/>
                <a:ea typeface="+mn-ea"/>
                <a:cs typeface="+mn-cs"/>
              </a:rPr>
              <a:t>闭包移动</a:t>
            </a:r>
            <a:r>
              <a:rPr lang="en-US" altLang="zh-CN" sz="1200" kern="1200" dirty="0">
                <a:solidFill>
                  <a:schemeClr val="tx1"/>
                </a:solidFill>
                <a:effectLst/>
                <a:latin typeface="+mn-lt"/>
                <a:ea typeface="+mn-ea"/>
                <a:cs typeface="+mn-cs"/>
              </a:rPr>
              <a:t> (A; a) = -</a:t>
            </a:r>
            <a:r>
              <a:rPr lang="zh-CN" altLang="zh-CN" sz="1200" kern="1200" dirty="0">
                <a:solidFill>
                  <a:schemeClr val="tx1"/>
                </a:solidFill>
                <a:effectLst/>
                <a:latin typeface="+mn-lt"/>
                <a:ea typeface="+mn-ea"/>
                <a:cs typeface="+mn-cs"/>
              </a:rPr>
              <a:t>闭包</a:t>
            </a:r>
            <a:r>
              <a:rPr lang="en-US" altLang="zh-CN" sz="1200" kern="1200" dirty="0">
                <a:solidFill>
                  <a:schemeClr val="tx1"/>
                </a:solidFill>
                <a:effectLst/>
                <a:latin typeface="+mn-lt"/>
                <a:ea typeface="+mn-ea"/>
                <a:cs typeface="+mn-cs"/>
              </a:rPr>
              <a:t>(f3; 8g)= f1; 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3</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4</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6</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7</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8g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我们称这个集合为</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，得到</a:t>
            </a:r>
            <a:r>
              <a:rPr lang="en-US" altLang="zh-CN" sz="1200" kern="1200" dirty="0" err="1">
                <a:solidFill>
                  <a:schemeClr val="tx1"/>
                </a:solidFill>
                <a:effectLst/>
                <a:latin typeface="+mn-lt"/>
                <a:ea typeface="+mn-ea"/>
                <a:cs typeface="+mn-cs"/>
              </a:rPr>
              <a:t>Dtran</a:t>
            </a:r>
            <a:r>
              <a:rPr lang="en-US" altLang="zh-CN" sz="1200" kern="1200" dirty="0">
                <a:solidFill>
                  <a:schemeClr val="tx1"/>
                </a:solidFill>
                <a:effectLst/>
                <a:latin typeface="+mn-lt"/>
                <a:ea typeface="+mn-ea"/>
                <a:cs typeface="+mn-cs"/>
              </a:rPr>
              <a:t>[A; a]=B </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现在，我们要计算</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Dtran</a:t>
            </a:r>
            <a:r>
              <a:rPr lang="en-US" altLang="zh-CN" sz="1200" kern="1200" dirty="0">
                <a:solidFill>
                  <a:schemeClr val="tx1"/>
                </a:solidFill>
                <a:effectLst/>
                <a:latin typeface="+mn-lt"/>
                <a:ea typeface="+mn-ea"/>
                <a:cs typeface="+mn-cs"/>
              </a:rPr>
              <a:t>[A; b]</a:t>
            </a:r>
            <a:r>
              <a:rPr lang="zh-CN" altLang="zh-CN" sz="1200" kern="1200" dirty="0">
                <a:solidFill>
                  <a:schemeClr val="tx1"/>
                </a:solidFill>
                <a:effectLst/>
                <a:latin typeface="+mn-lt"/>
                <a:ea typeface="+mn-ea"/>
                <a:cs typeface="+mn-cs"/>
              </a:rPr>
              <a:t>。 在</a:t>
            </a:r>
            <a:r>
              <a:rPr lang="en-US" altLang="zh-CN" sz="1200" kern="1200" dirty="0">
                <a:solidFill>
                  <a:schemeClr val="tx1"/>
                </a:solidFill>
                <a:effectLst/>
                <a:latin typeface="+mn-lt"/>
                <a:ea typeface="+mn-ea"/>
                <a:cs typeface="+mn-cs"/>
              </a:rPr>
              <a:t>A </a:t>
            </a:r>
            <a:r>
              <a:rPr lang="zh-CN" altLang="zh-CN" sz="1200" kern="1200" dirty="0">
                <a:solidFill>
                  <a:schemeClr val="tx1"/>
                </a:solidFill>
                <a:effectLst/>
                <a:latin typeface="+mn-lt"/>
                <a:ea typeface="+mn-ea"/>
                <a:cs typeface="+mn-cs"/>
              </a:rPr>
              <a:t>中的状态中，只有</a:t>
            </a:r>
            <a:r>
              <a:rPr lang="en-US" altLang="zh-CN" sz="1200" kern="1200" dirty="0">
                <a:solidFill>
                  <a:schemeClr val="tx1"/>
                </a:solidFill>
                <a:effectLst/>
                <a:latin typeface="+mn-lt"/>
                <a:ea typeface="+mn-ea"/>
                <a:cs typeface="+mn-cs"/>
              </a:rPr>
              <a:t> 4</a:t>
            </a:r>
            <a:r>
              <a:rPr lang="zh-CN" altLang="zh-CN" sz="1200" kern="1200" dirty="0">
                <a:solidFill>
                  <a:schemeClr val="tx1"/>
                </a:solidFill>
                <a:effectLst/>
                <a:latin typeface="+mn-lt"/>
                <a:ea typeface="+mn-ea"/>
                <a:cs typeface="+mn-cs"/>
              </a:rPr>
              <a:t>有一个输入ｂ上的转换，它到达状态</a:t>
            </a:r>
            <a:r>
              <a:rPr lang="en-US" altLang="zh-CN" sz="1200" kern="1200" dirty="0">
                <a:solidFill>
                  <a:schemeClr val="tx1"/>
                </a:solidFill>
                <a:effectLst/>
                <a:latin typeface="+mn-lt"/>
                <a:ea typeface="+mn-ea"/>
                <a:cs typeface="+mn-cs"/>
              </a:rPr>
              <a:t> 5</a:t>
            </a:r>
            <a:r>
              <a:rPr lang="zh-CN" altLang="zh-CN" sz="1200" kern="1200" dirty="0">
                <a:solidFill>
                  <a:schemeClr val="tx1"/>
                </a:solidFill>
                <a:effectLst/>
                <a:latin typeface="+mn-lt"/>
                <a:ea typeface="+mn-ea"/>
                <a:cs typeface="+mn-cs"/>
              </a:rPr>
              <a:t>。因此，</a:t>
            </a:r>
          </a:p>
          <a:p>
            <a:r>
              <a:rPr lang="en-US" altLang="zh-CN" sz="1200" kern="1200" dirty="0" err="1">
                <a:solidFill>
                  <a:schemeClr val="tx1"/>
                </a:solidFill>
                <a:effectLst/>
                <a:latin typeface="+mn-lt"/>
                <a:ea typeface="+mn-ea"/>
                <a:cs typeface="+mn-cs"/>
              </a:rPr>
              <a:t>Dtran</a:t>
            </a:r>
            <a:r>
              <a:rPr lang="en-US" altLang="zh-CN" sz="1200" kern="1200" dirty="0">
                <a:solidFill>
                  <a:schemeClr val="tx1"/>
                </a:solidFill>
                <a:effectLst/>
                <a:latin typeface="+mn-lt"/>
                <a:ea typeface="+mn-ea"/>
                <a:cs typeface="+mn-cs"/>
              </a:rPr>
              <a:t>[A; b]= -</a:t>
            </a:r>
            <a:r>
              <a:rPr lang="zh-CN" altLang="zh-CN" sz="1200" kern="1200" dirty="0">
                <a:solidFill>
                  <a:schemeClr val="tx1"/>
                </a:solidFill>
                <a:effectLst/>
                <a:latin typeface="+mn-lt"/>
                <a:ea typeface="+mn-ea"/>
                <a:cs typeface="+mn-cs"/>
              </a:rPr>
              <a:t>闭包</a:t>
            </a:r>
            <a:r>
              <a:rPr lang="en-US" altLang="zh-CN" sz="1200" kern="1200" dirty="0">
                <a:solidFill>
                  <a:schemeClr val="tx1"/>
                </a:solidFill>
                <a:effectLst/>
                <a:latin typeface="+mn-lt"/>
                <a:ea typeface="+mn-ea"/>
                <a:cs typeface="+mn-cs"/>
              </a:rPr>
              <a:t>(f5g)=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 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4</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5</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6</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7</a:t>
            </a:r>
            <a:r>
              <a:rPr lang="zh-CN" altLang="zh-CN" sz="1200" kern="1200" dirty="0">
                <a:solidFill>
                  <a:schemeClr val="tx1"/>
                </a:solidFill>
                <a:effectLst/>
                <a:latin typeface="+mn-lt"/>
                <a:ea typeface="+mn-ea"/>
                <a:cs typeface="+mn-cs"/>
              </a:rPr>
              <a:t>｝ </a:t>
            </a:r>
          </a:p>
          <a:p>
            <a:r>
              <a:rPr lang="zh-CN" altLang="zh-CN" sz="1200" kern="1200" dirty="0">
                <a:solidFill>
                  <a:schemeClr val="tx1"/>
                </a:solidFill>
                <a:effectLst/>
                <a:latin typeface="+mn-lt"/>
                <a:ea typeface="+mn-ea"/>
                <a:cs typeface="+mn-cs"/>
              </a:rPr>
              <a:t>我们称这个集合为</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，因此</a:t>
            </a:r>
            <a:r>
              <a:rPr lang="en-US" altLang="zh-CN" sz="1200" kern="1200" dirty="0" err="1">
                <a:solidFill>
                  <a:schemeClr val="tx1"/>
                </a:solidFill>
                <a:effectLst/>
                <a:latin typeface="+mn-lt"/>
                <a:ea typeface="+mn-ea"/>
                <a:cs typeface="+mn-cs"/>
              </a:rPr>
              <a:t>Dtran</a:t>
            </a:r>
            <a:r>
              <a:rPr lang="en-US" altLang="zh-CN" sz="1200" kern="1200" dirty="0">
                <a:solidFill>
                  <a:schemeClr val="tx1"/>
                </a:solidFill>
                <a:effectLst/>
                <a:latin typeface="+mn-lt"/>
                <a:ea typeface="+mn-ea"/>
                <a:cs typeface="+mn-cs"/>
              </a:rPr>
              <a:t>[A; b]=C </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如果我们对未加标记的集合</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继续这个处理过程，最终会使得这个</a:t>
            </a:r>
            <a:r>
              <a:rPr lang="en-US" altLang="zh-CN" sz="1200" kern="1200" dirty="0">
                <a:solidFill>
                  <a:schemeClr val="tx1"/>
                </a:solidFill>
                <a:effectLst/>
                <a:latin typeface="+mn-lt"/>
                <a:ea typeface="+mn-ea"/>
                <a:cs typeface="+mn-cs"/>
              </a:rPr>
              <a:t> DFA </a:t>
            </a:r>
            <a:r>
              <a:rPr lang="zh-CN" altLang="zh-CN" sz="1200" kern="1200" dirty="0">
                <a:solidFill>
                  <a:schemeClr val="tx1"/>
                </a:solidFill>
                <a:effectLst/>
                <a:latin typeface="+mn-lt"/>
                <a:ea typeface="+mn-ea"/>
                <a:cs typeface="+mn-cs"/>
              </a:rPr>
              <a:t>的所有状态都被加上标记。这个结论一定正确，因为</a:t>
            </a:r>
            <a:r>
              <a:rPr lang="en-US" altLang="zh-CN" sz="1200" kern="1200" dirty="0">
                <a:solidFill>
                  <a:schemeClr val="tx1"/>
                </a:solidFill>
                <a:effectLst/>
                <a:latin typeface="+mn-lt"/>
                <a:ea typeface="+mn-ea"/>
                <a:cs typeface="+mn-cs"/>
              </a:rPr>
              <a:t> 11 </a:t>
            </a:r>
            <a:r>
              <a:rPr lang="zh-CN" altLang="zh-CN" sz="1200" kern="1200" dirty="0">
                <a:solidFill>
                  <a:schemeClr val="tx1"/>
                </a:solidFill>
                <a:effectLst/>
                <a:latin typeface="+mn-lt"/>
                <a:ea typeface="+mn-ea"/>
                <a:cs typeface="+mn-cs"/>
              </a:rPr>
              <a:t>个</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状态的集合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有</a:t>
            </a:r>
            <a:r>
              <a:rPr lang="en-US" altLang="zh-CN" sz="1200" kern="1200" dirty="0">
                <a:solidFill>
                  <a:schemeClr val="tx1"/>
                </a:solidFill>
                <a:effectLst/>
                <a:latin typeface="+mn-lt"/>
                <a:ea typeface="+mn-ea"/>
                <a:cs typeface="+mn-cs"/>
              </a:rPr>
              <a:t> 211 </a:t>
            </a:r>
            <a:r>
              <a:rPr lang="zh-CN" altLang="zh-CN" sz="1200" kern="1200" dirty="0">
                <a:solidFill>
                  <a:schemeClr val="tx1"/>
                </a:solidFill>
                <a:effectLst/>
                <a:latin typeface="+mn-lt"/>
                <a:ea typeface="+mn-ea"/>
                <a:cs typeface="+mn-cs"/>
              </a:rPr>
              <a:t>个子集。我们实际构造出</a:t>
            </a:r>
            <a:r>
              <a:rPr lang="en-US" altLang="zh-CN" sz="1200" kern="1200" dirty="0">
                <a:solidFill>
                  <a:schemeClr val="tx1"/>
                </a:solidFill>
                <a:effectLst/>
                <a:latin typeface="+mn-lt"/>
                <a:ea typeface="+mn-ea"/>
                <a:cs typeface="+mn-cs"/>
              </a:rPr>
              <a:t> 5 </a:t>
            </a:r>
            <a:r>
              <a:rPr lang="zh-CN" altLang="zh-CN" sz="1200" kern="1200" dirty="0">
                <a:solidFill>
                  <a:schemeClr val="tx1"/>
                </a:solidFill>
                <a:effectLst/>
                <a:latin typeface="+mn-lt"/>
                <a:ea typeface="+mn-ea"/>
                <a:cs typeface="+mn-cs"/>
              </a:rPr>
              <a:t>个不同的</a:t>
            </a:r>
            <a:r>
              <a:rPr lang="en-US" altLang="zh-CN" sz="1200" kern="1200" dirty="0">
                <a:solidFill>
                  <a:schemeClr val="tx1"/>
                </a:solidFill>
                <a:effectLst/>
                <a:latin typeface="+mn-lt"/>
                <a:ea typeface="+mn-ea"/>
                <a:cs typeface="+mn-cs"/>
              </a:rPr>
              <a:t> DFA </a:t>
            </a:r>
            <a:r>
              <a:rPr lang="zh-CN" altLang="zh-CN" sz="1200" kern="1200" dirty="0">
                <a:solidFill>
                  <a:schemeClr val="tx1"/>
                </a:solidFill>
                <a:effectLst/>
                <a:latin typeface="+mn-lt"/>
                <a:ea typeface="+mn-ea"/>
                <a:cs typeface="+mn-cs"/>
              </a:rPr>
              <a:t>状态、它们对应的</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状态集以及</a:t>
            </a:r>
            <a:r>
              <a:rPr lang="en-US" altLang="zh-CN" sz="1200" kern="1200" dirty="0">
                <a:solidFill>
                  <a:schemeClr val="tx1"/>
                </a:solidFill>
                <a:effectLst/>
                <a:latin typeface="+mn-lt"/>
                <a:ea typeface="+mn-ea"/>
                <a:cs typeface="+mn-cs"/>
              </a:rPr>
              <a:t> DFA D </a:t>
            </a:r>
            <a:r>
              <a:rPr lang="zh-CN" altLang="zh-CN" sz="1200" kern="1200" dirty="0">
                <a:solidFill>
                  <a:schemeClr val="tx1"/>
                </a:solidFill>
                <a:effectLst/>
                <a:latin typeface="+mn-lt"/>
                <a:ea typeface="+mn-ea"/>
                <a:cs typeface="+mn-cs"/>
              </a:rPr>
              <a:t>的转换表如图所示图</a:t>
            </a:r>
            <a:r>
              <a:rPr lang="en-US" altLang="zh-CN" sz="1200" kern="1200" dirty="0">
                <a:solidFill>
                  <a:schemeClr val="tx1"/>
                </a:solidFill>
                <a:effectLst/>
                <a:latin typeface="+mn-lt"/>
                <a:ea typeface="+mn-ea"/>
                <a:cs typeface="+mn-cs"/>
              </a:rPr>
              <a:t> 3.35 </a:t>
            </a:r>
            <a:r>
              <a:rPr lang="zh-CN" altLang="zh-CN" sz="1200" kern="1200" dirty="0">
                <a:solidFill>
                  <a:schemeClr val="tx1"/>
                </a:solidFill>
                <a:effectLst/>
                <a:latin typeface="+mn-lt"/>
                <a:ea typeface="+mn-ea"/>
                <a:cs typeface="+mn-cs"/>
              </a:rPr>
              <a:t>所示，</a:t>
            </a:r>
            <a:r>
              <a:rPr lang="en-US" altLang="zh-CN" sz="1200" kern="1200" dirty="0">
                <a:solidFill>
                  <a:schemeClr val="tx1"/>
                </a:solidFill>
                <a:effectLst/>
                <a:latin typeface="+mn-lt"/>
                <a:ea typeface="+mn-ea"/>
                <a:cs typeface="+mn-cs"/>
              </a:rPr>
              <a:t>D </a:t>
            </a:r>
            <a:r>
              <a:rPr lang="zh-CN" altLang="zh-CN" sz="1200" kern="1200" dirty="0">
                <a:solidFill>
                  <a:schemeClr val="tx1"/>
                </a:solidFill>
                <a:effectLst/>
                <a:latin typeface="+mn-lt"/>
                <a:ea typeface="+mn-ea"/>
                <a:cs typeface="+mn-cs"/>
              </a:rPr>
              <a:t>的转换图如图​​</a:t>
            </a:r>
            <a:r>
              <a:rPr lang="en-US" altLang="zh-CN" sz="1200" kern="1200" dirty="0">
                <a:solidFill>
                  <a:schemeClr val="tx1"/>
                </a:solidFill>
                <a:effectLst/>
                <a:latin typeface="+mn-lt"/>
                <a:ea typeface="+mn-ea"/>
                <a:cs typeface="+mn-cs"/>
              </a:rPr>
              <a:t> 3.36 </a:t>
            </a:r>
            <a:r>
              <a:rPr lang="zh-CN" altLang="zh-CN" sz="1200" kern="1200" dirty="0">
                <a:solidFill>
                  <a:schemeClr val="tx1"/>
                </a:solidFill>
                <a:effectLst/>
                <a:latin typeface="+mn-lt"/>
                <a:ea typeface="+mn-ea"/>
                <a:cs typeface="+mn-cs"/>
              </a:rPr>
              <a:t>所示。状态</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的起始状态，而包含</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的状态</a:t>
            </a:r>
            <a:r>
              <a:rPr lang="en-US" altLang="zh-CN" sz="1200" kern="1200" dirty="0">
                <a:solidFill>
                  <a:schemeClr val="tx1"/>
                </a:solidFill>
                <a:effectLst/>
                <a:latin typeface="+mn-lt"/>
                <a:ea typeface="+mn-ea"/>
                <a:cs typeface="+mn-cs"/>
              </a:rPr>
              <a:t> 10</a:t>
            </a:r>
            <a:r>
              <a:rPr lang="zh-CN" altLang="zh-CN" sz="1200" kern="1200" dirty="0">
                <a:solidFill>
                  <a:schemeClr val="tx1"/>
                </a:solidFill>
                <a:effectLst/>
                <a:latin typeface="+mn-lt"/>
                <a:ea typeface="+mn-ea"/>
                <a:cs typeface="+mn-cs"/>
              </a:rPr>
              <a:t>的状态</a:t>
            </a:r>
            <a:r>
              <a:rPr lang="en-US" altLang="zh-CN" sz="1200" kern="1200" dirty="0">
                <a:solidFill>
                  <a:schemeClr val="tx1"/>
                </a:solidFill>
                <a:effectLst/>
                <a:latin typeface="+mn-lt"/>
                <a:ea typeface="+mn-ea"/>
                <a:cs typeface="+mn-cs"/>
              </a:rPr>
              <a:t> E</a:t>
            </a:r>
            <a:r>
              <a:rPr lang="zh-CN" altLang="zh-CN" sz="1200" kern="1200" dirty="0">
                <a:solidFill>
                  <a:schemeClr val="tx1"/>
                </a:solidFill>
                <a:effectLst/>
                <a:latin typeface="+mn-lt"/>
                <a:ea typeface="+mn-ea"/>
                <a:cs typeface="+mn-cs"/>
              </a:rPr>
              <a:t>，是唯一的接受状态。</a:t>
            </a:r>
          </a:p>
          <a:p>
            <a:r>
              <a:rPr lang="zh-CN" altLang="zh-CN" sz="1200" kern="1200" dirty="0">
                <a:solidFill>
                  <a:schemeClr val="tx1"/>
                </a:solidFill>
                <a:effectLst/>
                <a:latin typeface="+mn-lt"/>
                <a:ea typeface="+mn-ea"/>
                <a:cs typeface="+mn-cs"/>
              </a:rPr>
              <a:t>请注意， 相比 图</a:t>
            </a:r>
            <a:r>
              <a:rPr lang="en-US" altLang="zh-CN" sz="1200" kern="1200" dirty="0">
                <a:solidFill>
                  <a:schemeClr val="tx1"/>
                </a:solidFill>
                <a:effectLst/>
                <a:latin typeface="+mn-lt"/>
                <a:ea typeface="+mn-ea"/>
                <a:cs typeface="+mn-cs"/>
              </a:rPr>
              <a:t>3.28</a:t>
            </a:r>
            <a:r>
              <a:rPr lang="zh-CN" altLang="zh-CN" sz="1200" kern="1200" dirty="0">
                <a:solidFill>
                  <a:schemeClr val="tx1"/>
                </a:solidFill>
                <a:effectLst/>
                <a:latin typeface="+mn-lt"/>
                <a:ea typeface="+mn-ea"/>
                <a:cs typeface="+mn-cs"/>
              </a:rPr>
              <a:t>中接受同一语言的</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，这个</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多了一个状态。状态</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具有相同的转换函数，因此可以合并。我们将在</a:t>
            </a:r>
            <a:r>
              <a:rPr lang="en-US" altLang="zh-CN" sz="1200" kern="1200" dirty="0">
                <a:solidFill>
                  <a:schemeClr val="tx1"/>
                </a:solidFill>
                <a:effectLst/>
                <a:latin typeface="+mn-lt"/>
                <a:ea typeface="+mn-ea"/>
                <a:cs typeface="+mn-cs"/>
              </a:rPr>
              <a:t>3.9.6</a:t>
            </a:r>
            <a:r>
              <a:rPr lang="zh-CN" altLang="zh-CN" sz="1200" kern="1200" dirty="0">
                <a:solidFill>
                  <a:schemeClr val="tx1"/>
                </a:solidFill>
                <a:effectLst/>
                <a:latin typeface="+mn-lt"/>
                <a:ea typeface="+mn-ea"/>
                <a:cs typeface="+mn-cs"/>
              </a:rPr>
              <a:t>节中讨论最小化</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的状态数的问题。</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66</a:t>
            </a:fld>
            <a:endParaRPr lang="zh-CN" altLang="en-US"/>
          </a:p>
        </p:txBody>
      </p:sp>
    </p:spTree>
    <p:extLst>
      <p:ext uri="{BB962C8B-B14F-4D97-AF65-F5344CB8AC3E}">
        <p14:creationId xmlns:p14="http://schemas.microsoft.com/office/powerpoint/2010/main" val="23723729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en-US" dirty="0"/>
              <a:t>此</a:t>
            </a:r>
            <a:r>
              <a:rPr lang="en-US" altLang="zh-CN" dirty="0"/>
              <a:t>DFA D </a:t>
            </a:r>
            <a:r>
              <a:rPr lang="zh-CN" altLang="en-US" dirty="0"/>
              <a:t>识别的语言同样为</a:t>
            </a:r>
            <a:r>
              <a:rPr lang="en-US" altLang="zh-CN" dirty="0"/>
              <a:t>L(D)={(</a:t>
            </a:r>
            <a:r>
              <a:rPr lang="en-US" altLang="zh-CN" dirty="0" err="1"/>
              <a:t>a|b</a:t>
            </a:r>
            <a:r>
              <a:rPr lang="en-US" altLang="zh-CN" dirty="0"/>
              <a:t>)*</a:t>
            </a:r>
            <a:r>
              <a:rPr lang="en-US" altLang="zh-CN" dirty="0" err="1"/>
              <a:t>abb</a:t>
            </a:r>
            <a:r>
              <a:rPr lang="en-US" altLang="zh-CN" dirty="0"/>
              <a:t>}</a:t>
            </a:r>
            <a:r>
              <a:rPr lang="zh-CN" altLang="en-US" dirty="0"/>
              <a:t>，由此可知构造出来的</a:t>
            </a:r>
            <a:r>
              <a:rPr lang="en-US" altLang="zh-CN" dirty="0"/>
              <a:t>DFA D</a:t>
            </a:r>
            <a:r>
              <a:rPr lang="zh-CN" altLang="en-US" dirty="0"/>
              <a:t>与</a:t>
            </a:r>
            <a:r>
              <a:rPr lang="en-US" altLang="zh-CN" dirty="0"/>
              <a:t>NFA M</a:t>
            </a:r>
            <a:r>
              <a:rPr lang="zh-CN" altLang="en-US" dirty="0"/>
              <a:t>是等价的</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69</a:t>
            </a:fld>
            <a:endParaRPr lang="zh-CN" altLang="en-US"/>
          </a:p>
        </p:txBody>
      </p:sp>
    </p:spTree>
    <p:extLst>
      <p:ext uri="{BB962C8B-B14F-4D97-AF65-F5344CB8AC3E}">
        <p14:creationId xmlns:p14="http://schemas.microsoft.com/office/powerpoint/2010/main" val="41990562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我们现在给出一种算法，用于将任何正则表达式转换为接受相同语言的 </a:t>
            </a:r>
            <a:r>
              <a:rPr lang="en-US" altLang="zh-CN" dirty="0"/>
              <a:t>NFA</a:t>
            </a:r>
            <a:r>
              <a:rPr lang="zh-CN" altLang="en-US" dirty="0"/>
              <a:t>。该算法是语法制导的，即它沿着正则表达式的语法分析树自底向上递归地进行处理。对于每个子表达式，算法都会构造一个只有一个接受状态的 </a:t>
            </a:r>
            <a:r>
              <a:rPr lang="en-US" altLang="zh-CN" dirty="0"/>
              <a:t>NFA</a:t>
            </a:r>
            <a:r>
              <a:rPr lang="zh-CN" altLang="en-US" dirty="0"/>
              <a:t>。</a:t>
            </a:r>
            <a:endParaRPr lang="en-US" altLang="zh-CN" dirty="0"/>
          </a:p>
          <a:p>
            <a:pPr marL="171450" indent="-171450">
              <a:buFont typeface="Arial" panose="020B0604020202020204" pitchFamily="34" charset="0"/>
              <a:buChar char="•"/>
            </a:pPr>
            <a:r>
              <a:rPr lang="zh-CN" altLang="en-US" dirty="0"/>
              <a:t>基本规则用于处理不带运算符的子表达式</a:t>
            </a:r>
            <a:endParaRPr lang="en-US" altLang="zh-CN" dirty="0"/>
          </a:p>
          <a:p>
            <a:pPr marL="171450" indent="-171450">
              <a:buFont typeface="Arial" panose="020B0604020202020204" pitchFamily="34" charset="0"/>
              <a:buChar char="•"/>
            </a:pPr>
            <a:r>
              <a:rPr lang="zh-CN" altLang="en-US" dirty="0"/>
              <a:t>归纳规则则根据一个给定表达式的直接子表达式的 </a:t>
            </a:r>
            <a:r>
              <a:rPr lang="en-US" altLang="zh-CN" dirty="0"/>
              <a:t>NFA </a:t>
            </a:r>
            <a:r>
              <a:rPr lang="zh-CN" altLang="en-US" dirty="0"/>
              <a:t>构造出这个表达式的 </a:t>
            </a:r>
            <a:r>
              <a:rPr lang="en-US" altLang="zh-CN" dirty="0"/>
              <a:t>NFA </a:t>
            </a:r>
            <a:r>
              <a:rPr lang="zh-CN" altLang="en-US" dirty="0"/>
              <a:t>的。</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en-US" altLang="zh-CN" sz="1200" kern="1200" dirty="0">
                <a:solidFill>
                  <a:schemeClr val="tx1"/>
                </a:solidFill>
                <a:effectLst/>
                <a:latin typeface="+mn-lt"/>
                <a:ea typeface="+mn-ea"/>
                <a:cs typeface="+mn-cs"/>
              </a:rPr>
              <a:t>BASIS:</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对于表达式空构造下面的</a:t>
            </a:r>
            <a:r>
              <a:rPr lang="en-US" altLang="zh-CN" sz="1200" kern="1200" dirty="0">
                <a:solidFill>
                  <a:schemeClr val="tx1"/>
                </a:solidFill>
                <a:effectLst/>
                <a:latin typeface="+mn-lt"/>
                <a:ea typeface="+mn-ea"/>
                <a:cs typeface="+mn-cs"/>
              </a:rPr>
              <a:t>NFA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这里，</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是一个新状态，即该</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的起始状态，</a:t>
            </a:r>
            <a:r>
              <a:rPr lang="en-US" altLang="zh-CN" sz="1200" kern="1200" dirty="0">
                <a:solidFill>
                  <a:schemeClr val="tx1"/>
                </a:solidFill>
                <a:effectLst/>
                <a:latin typeface="+mn-lt"/>
                <a:ea typeface="+mn-ea"/>
                <a:cs typeface="+mn-cs"/>
              </a:rPr>
              <a:t>f</a:t>
            </a:r>
            <a:r>
              <a:rPr lang="zh-CN" altLang="zh-CN" sz="1200" kern="1200" dirty="0">
                <a:solidFill>
                  <a:schemeClr val="tx1"/>
                </a:solidFill>
                <a:effectLst/>
                <a:latin typeface="+mn-lt"/>
                <a:ea typeface="+mn-ea"/>
                <a:cs typeface="+mn-cs"/>
              </a:rPr>
              <a:t>是另一个新状态，即该</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的接受状态。</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对于字母表中的子表达式</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，构造 下面的</a:t>
            </a:r>
            <a:r>
              <a:rPr lang="en-US" altLang="zh-CN" sz="1200" kern="1200" dirty="0">
                <a:solidFill>
                  <a:schemeClr val="tx1"/>
                </a:solidFill>
                <a:effectLst/>
                <a:latin typeface="+mn-lt"/>
                <a:ea typeface="+mn-ea"/>
                <a:cs typeface="+mn-cs"/>
              </a:rPr>
              <a:t>NFA</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同样</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f </a:t>
            </a:r>
            <a:r>
              <a:rPr lang="zh-CN" altLang="zh-CN" sz="1200" kern="1200" dirty="0">
                <a:solidFill>
                  <a:schemeClr val="tx1"/>
                </a:solidFill>
                <a:effectLst/>
                <a:latin typeface="+mn-lt"/>
                <a:ea typeface="+mn-ea"/>
                <a:cs typeface="+mn-cs"/>
              </a:rPr>
              <a:t>都是新状态，分别是这个</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的开始状态和接受状态。</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请注意，在这两种基础构造规则中，对于空或某个</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的作为</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的子表达式的每次出现，我们都会使用新状态分别构造出一个独立的</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归纳：假设正则表达式</a:t>
            </a:r>
            <a:r>
              <a:rPr lang="en-US" altLang="zh-CN" sz="1200" kern="1200" dirty="0">
                <a:solidFill>
                  <a:schemeClr val="tx1"/>
                </a:solidFill>
                <a:effectLst/>
                <a:latin typeface="+mn-lt"/>
                <a:ea typeface="+mn-ea"/>
                <a:cs typeface="+mn-cs"/>
              </a:rPr>
              <a:t>s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t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分别为</a:t>
            </a:r>
            <a:r>
              <a:rPr lang="en-US" altLang="zh-CN" sz="1200" kern="1200" dirty="0">
                <a:solidFill>
                  <a:schemeClr val="tx1"/>
                </a:solidFill>
                <a:effectLst/>
                <a:latin typeface="+mn-lt"/>
                <a:ea typeface="+mn-ea"/>
                <a:cs typeface="+mn-cs"/>
              </a:rPr>
              <a:t> N (s)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N (t) </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假设</a:t>
            </a:r>
            <a:r>
              <a:rPr lang="en-US" altLang="zh-CN" sz="1200" kern="1200" dirty="0">
                <a:solidFill>
                  <a:schemeClr val="tx1"/>
                </a:solidFill>
                <a:effectLst/>
                <a:latin typeface="+mn-lt"/>
                <a:ea typeface="+mn-ea"/>
                <a:cs typeface="+mn-cs"/>
              </a:rPr>
              <a:t> r = s</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r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 即</a:t>
            </a:r>
            <a:r>
              <a:rPr lang="en-US" altLang="zh-CN" sz="1200" kern="1200" dirty="0">
                <a:solidFill>
                  <a:schemeClr val="tx1"/>
                </a:solidFill>
                <a:effectLst/>
                <a:latin typeface="+mn-lt"/>
                <a:ea typeface="+mn-ea"/>
                <a:cs typeface="+mn-cs"/>
              </a:rPr>
              <a:t>N (r )</a:t>
            </a:r>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 3.40 </a:t>
            </a:r>
            <a:r>
              <a:rPr lang="zh-CN" altLang="zh-CN" sz="1200" kern="1200" dirty="0">
                <a:solidFill>
                  <a:schemeClr val="tx1"/>
                </a:solidFill>
                <a:effectLst/>
                <a:latin typeface="+mn-lt"/>
                <a:ea typeface="+mn-ea"/>
                <a:cs typeface="+mn-cs"/>
              </a:rPr>
              <a:t>所示构建。这里，</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f</a:t>
            </a:r>
            <a:r>
              <a:rPr lang="zh-CN" altLang="zh-CN" sz="1200" kern="1200" dirty="0">
                <a:solidFill>
                  <a:schemeClr val="tx1"/>
                </a:solidFill>
                <a:effectLst/>
                <a:latin typeface="+mn-lt"/>
                <a:ea typeface="+mn-ea"/>
                <a:cs typeface="+mn-cs"/>
              </a:rPr>
              <a:t>是新状态，分别是</a:t>
            </a:r>
            <a:r>
              <a:rPr lang="en-US" altLang="zh-CN" sz="1200" kern="1200" dirty="0">
                <a:solidFill>
                  <a:schemeClr val="tx1"/>
                </a:solidFill>
                <a:effectLst/>
                <a:latin typeface="+mn-lt"/>
                <a:ea typeface="+mn-ea"/>
                <a:cs typeface="+mn-cs"/>
              </a:rPr>
              <a:t>N(r)</a:t>
            </a:r>
            <a:r>
              <a:rPr lang="zh-CN" altLang="zh-CN" sz="1200" kern="1200" dirty="0">
                <a:solidFill>
                  <a:schemeClr val="tx1"/>
                </a:solidFill>
                <a:effectLst/>
                <a:latin typeface="+mn-lt"/>
                <a:ea typeface="+mn-ea"/>
                <a:cs typeface="+mn-cs"/>
              </a:rPr>
              <a:t>的开始状态和接受状态。从</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 N (s)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N (t) </a:t>
            </a:r>
            <a:r>
              <a:rPr lang="zh-CN" altLang="zh-CN" sz="1200" kern="1200" dirty="0">
                <a:solidFill>
                  <a:schemeClr val="tx1"/>
                </a:solidFill>
                <a:effectLst/>
                <a:latin typeface="+mn-lt"/>
                <a:ea typeface="+mn-ea"/>
                <a:cs typeface="+mn-cs"/>
              </a:rPr>
              <a:t>的起始状态各有一个空</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转换，从</a:t>
            </a:r>
            <a:r>
              <a:rPr lang="en-US" altLang="zh-CN" sz="1200" kern="1200" dirty="0">
                <a:solidFill>
                  <a:schemeClr val="tx1"/>
                </a:solidFill>
                <a:effectLst/>
                <a:latin typeface="+mn-lt"/>
                <a:ea typeface="+mn-ea"/>
                <a:cs typeface="+mn-cs"/>
              </a:rPr>
              <a:t>N (s)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N (t)</a:t>
            </a:r>
            <a:r>
              <a:rPr lang="zh-CN" altLang="zh-CN" sz="1200" kern="1200" dirty="0">
                <a:solidFill>
                  <a:schemeClr val="tx1"/>
                </a:solidFill>
                <a:effectLst/>
                <a:latin typeface="+mn-lt"/>
                <a:ea typeface="+mn-ea"/>
                <a:cs typeface="+mn-cs"/>
              </a:rPr>
              <a:t>到接受状态也各有一个空转换。请注意，</a:t>
            </a:r>
            <a:r>
              <a:rPr lang="en-US" altLang="zh-CN" sz="1200" kern="1200" dirty="0">
                <a:solidFill>
                  <a:schemeClr val="tx1"/>
                </a:solidFill>
                <a:effectLst/>
                <a:latin typeface="+mn-lt"/>
                <a:ea typeface="+mn-ea"/>
                <a:cs typeface="+mn-cs"/>
              </a:rPr>
              <a:t>N (s)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N (t) </a:t>
            </a:r>
            <a:r>
              <a:rPr lang="zh-CN" altLang="zh-CN" sz="1200" kern="1200" dirty="0">
                <a:solidFill>
                  <a:schemeClr val="tx1"/>
                </a:solidFill>
                <a:effectLst/>
                <a:latin typeface="+mn-lt"/>
                <a:ea typeface="+mn-ea"/>
                <a:cs typeface="+mn-cs"/>
              </a:rPr>
              <a:t>的接受状态在</a:t>
            </a:r>
            <a:r>
              <a:rPr lang="en-US" altLang="zh-CN" sz="1200" kern="1200" dirty="0">
                <a:solidFill>
                  <a:schemeClr val="tx1"/>
                </a:solidFill>
                <a:effectLst/>
                <a:latin typeface="+mn-lt"/>
                <a:ea typeface="+mn-ea"/>
                <a:cs typeface="+mn-cs"/>
              </a:rPr>
              <a:t> N (r ) </a:t>
            </a:r>
            <a:r>
              <a:rPr lang="zh-CN" altLang="zh-CN" sz="1200" kern="1200" dirty="0">
                <a:solidFill>
                  <a:schemeClr val="tx1"/>
                </a:solidFill>
                <a:effectLst/>
                <a:latin typeface="+mn-lt"/>
                <a:ea typeface="+mn-ea"/>
                <a:cs typeface="+mn-cs"/>
              </a:rPr>
              <a:t>中不是接受状态。由于从</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 f </a:t>
            </a:r>
            <a:r>
              <a:rPr lang="zh-CN" altLang="zh-CN" sz="1200" kern="1200" dirty="0">
                <a:solidFill>
                  <a:schemeClr val="tx1"/>
                </a:solidFill>
                <a:effectLst/>
                <a:latin typeface="+mn-lt"/>
                <a:ea typeface="+mn-ea"/>
                <a:cs typeface="+mn-cs"/>
              </a:rPr>
              <a:t>的任何路径要么只通过</a:t>
            </a:r>
            <a:r>
              <a:rPr lang="en-US" altLang="zh-CN" sz="1200" kern="1200" dirty="0">
                <a:solidFill>
                  <a:schemeClr val="tx1"/>
                </a:solidFill>
                <a:effectLst/>
                <a:latin typeface="+mn-lt"/>
                <a:ea typeface="+mn-ea"/>
                <a:cs typeface="+mn-cs"/>
              </a:rPr>
              <a:t> N (s)</a:t>
            </a:r>
            <a:r>
              <a:rPr lang="zh-CN" altLang="zh-CN" sz="1200" kern="1200" dirty="0">
                <a:solidFill>
                  <a:schemeClr val="tx1"/>
                </a:solidFill>
                <a:effectLst/>
                <a:latin typeface="+mn-lt"/>
                <a:ea typeface="+mn-ea"/>
                <a:cs typeface="+mn-cs"/>
              </a:rPr>
              <a:t>，要么只通过</a:t>
            </a:r>
            <a:r>
              <a:rPr lang="en-US" altLang="zh-CN" sz="1200" kern="1200" dirty="0">
                <a:solidFill>
                  <a:schemeClr val="tx1"/>
                </a:solidFill>
                <a:effectLst/>
                <a:latin typeface="+mn-lt"/>
                <a:ea typeface="+mn-ea"/>
                <a:cs typeface="+mn-cs"/>
              </a:rPr>
              <a:t> N (t)</a:t>
            </a:r>
            <a:r>
              <a:rPr lang="zh-CN" altLang="zh-CN" sz="1200" kern="1200" dirty="0">
                <a:solidFill>
                  <a:schemeClr val="tx1"/>
                </a:solidFill>
                <a:effectLst/>
                <a:latin typeface="+mn-lt"/>
                <a:ea typeface="+mn-ea"/>
                <a:cs typeface="+mn-cs"/>
              </a:rPr>
              <a:t>，并且离开</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或进入</a:t>
            </a:r>
            <a:r>
              <a:rPr lang="en-US" altLang="zh-CN" sz="1200" kern="1200" dirty="0">
                <a:solidFill>
                  <a:schemeClr val="tx1"/>
                </a:solidFill>
                <a:effectLst/>
                <a:latin typeface="+mn-lt"/>
                <a:ea typeface="+mn-ea"/>
                <a:cs typeface="+mn-cs"/>
              </a:rPr>
              <a:t> f</a:t>
            </a:r>
            <a:r>
              <a:rPr lang="zh-CN" altLang="zh-CN" sz="1200" kern="1200" dirty="0">
                <a:solidFill>
                  <a:schemeClr val="tx1"/>
                </a:solidFill>
                <a:effectLst/>
                <a:latin typeface="+mn-lt"/>
                <a:ea typeface="+mn-ea"/>
                <a:cs typeface="+mn-cs"/>
              </a:rPr>
              <a:t>的空转换都不会改变路径上的标号，因此我们可判定</a:t>
            </a:r>
            <a:r>
              <a:rPr lang="en-US" altLang="zh-CN" sz="1200" kern="1200" dirty="0">
                <a:solidFill>
                  <a:schemeClr val="tx1"/>
                </a:solidFill>
                <a:effectLst/>
                <a:latin typeface="+mn-lt"/>
                <a:ea typeface="+mn-ea"/>
                <a:cs typeface="+mn-cs"/>
              </a:rPr>
              <a:t> N (r </a:t>
            </a:r>
            <a:r>
              <a:rPr lang="zh-CN" altLang="zh-CN" sz="1200" kern="1200" dirty="0">
                <a:solidFill>
                  <a:schemeClr val="tx1"/>
                </a:solidFill>
                <a:effectLst/>
                <a:latin typeface="+mn-lt"/>
                <a:ea typeface="+mn-ea"/>
                <a:cs typeface="+mn-cs"/>
              </a:rPr>
              <a:t>识别</a:t>
            </a:r>
            <a:r>
              <a:rPr lang="en-US" altLang="zh-CN" sz="1200" kern="1200" dirty="0">
                <a:solidFill>
                  <a:schemeClr val="tx1"/>
                </a:solidFill>
                <a:effectLst/>
                <a:latin typeface="+mn-lt"/>
                <a:ea typeface="+mn-ea"/>
                <a:cs typeface="+mn-cs"/>
              </a:rPr>
              <a:t> L(s) [ L(t)</a:t>
            </a:r>
            <a:r>
              <a:rPr lang="zh-CN" altLang="zh-CN" sz="1200" kern="1200" dirty="0">
                <a:solidFill>
                  <a:schemeClr val="tx1"/>
                </a:solidFill>
                <a:effectLst/>
                <a:latin typeface="+mn-lt"/>
                <a:ea typeface="+mn-ea"/>
                <a:cs typeface="+mn-cs"/>
              </a:rPr>
              <a:t>，也就是</a:t>
            </a:r>
            <a:r>
              <a:rPr lang="en-US" altLang="zh-CN" sz="1200" kern="1200" dirty="0">
                <a:solidFill>
                  <a:schemeClr val="tx1"/>
                </a:solidFill>
                <a:effectLst/>
                <a:latin typeface="+mn-lt"/>
                <a:ea typeface="+mn-ea"/>
                <a:cs typeface="+mn-cs"/>
              </a:rPr>
              <a:t> L(r ) </a:t>
            </a:r>
            <a:r>
              <a:rPr lang="zh-CN" altLang="zh-CN" sz="1200" kern="1200" dirty="0">
                <a:solidFill>
                  <a:schemeClr val="tx1"/>
                </a:solidFill>
                <a:effectLst/>
                <a:latin typeface="+mn-lt"/>
                <a:ea typeface="+mn-ea"/>
                <a:cs typeface="+mn-cs"/>
              </a:rPr>
              <a:t>相同。也就是说，图</a:t>
            </a:r>
            <a:r>
              <a:rPr lang="en-US" altLang="zh-CN" sz="1200" kern="1200" dirty="0">
                <a:solidFill>
                  <a:schemeClr val="tx1"/>
                </a:solidFill>
                <a:effectLst/>
                <a:latin typeface="+mn-lt"/>
                <a:ea typeface="+mn-ea"/>
                <a:cs typeface="+mn-cs"/>
              </a:rPr>
              <a:t> 3.40</a:t>
            </a:r>
            <a:r>
              <a:rPr lang="zh-CN" altLang="zh-CN" sz="1200" kern="1200" dirty="0">
                <a:solidFill>
                  <a:schemeClr val="tx1"/>
                </a:solidFill>
                <a:effectLst/>
                <a:latin typeface="+mn-lt"/>
                <a:ea typeface="+mn-ea"/>
                <a:cs typeface="+mn-cs"/>
              </a:rPr>
              <a:t>中的</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是一个正确的处理并运算符的构造。</a:t>
            </a:r>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en-US" altLang="zh-CN" sz="1200" kern="1200" dirty="0">
                <a:solidFill>
                  <a:schemeClr val="tx1"/>
                </a:solidFill>
                <a:effectLst/>
                <a:latin typeface="+mn-lt"/>
                <a:ea typeface="+mn-ea"/>
                <a:cs typeface="+mn-cs"/>
              </a:rPr>
              <a:t>b) </a:t>
            </a:r>
            <a:r>
              <a:rPr lang="zh-CN" altLang="zh-CN" sz="1200" kern="1200" dirty="0">
                <a:solidFill>
                  <a:schemeClr val="tx1"/>
                </a:solidFill>
                <a:effectLst/>
                <a:latin typeface="+mn-lt"/>
                <a:ea typeface="+mn-ea"/>
                <a:cs typeface="+mn-cs"/>
              </a:rPr>
              <a:t>假设</a:t>
            </a:r>
            <a:r>
              <a:rPr lang="en-US" altLang="zh-CN" sz="1200" kern="1200" dirty="0">
                <a:solidFill>
                  <a:schemeClr val="tx1"/>
                </a:solidFill>
                <a:effectLst/>
                <a:latin typeface="+mn-lt"/>
                <a:ea typeface="+mn-ea"/>
                <a:cs typeface="+mn-cs"/>
              </a:rPr>
              <a:t> r = </a:t>
            </a:r>
            <a:r>
              <a:rPr lang="en-US" altLang="zh-CN" sz="1200" kern="1200" dirty="0" err="1">
                <a:solidFill>
                  <a:schemeClr val="tx1"/>
                </a:solidFill>
                <a:effectLst/>
                <a:latin typeface="+mn-lt"/>
                <a:ea typeface="+mn-ea"/>
                <a:cs typeface="+mn-cs"/>
              </a:rPr>
              <a:t>st</a:t>
            </a:r>
            <a:r>
              <a:rPr lang="zh-CN" altLang="zh-CN" sz="1200" kern="1200" dirty="0">
                <a:solidFill>
                  <a:schemeClr val="tx1"/>
                </a:solidFill>
                <a:effectLst/>
                <a:latin typeface="+mn-lt"/>
                <a:ea typeface="+mn-ea"/>
                <a:cs typeface="+mn-cs"/>
              </a:rPr>
              <a:t>。然后如图</a:t>
            </a:r>
            <a:r>
              <a:rPr lang="en-US" altLang="zh-CN" sz="1200" kern="1200" dirty="0">
                <a:solidFill>
                  <a:schemeClr val="tx1"/>
                </a:solidFill>
                <a:effectLst/>
                <a:latin typeface="+mn-lt"/>
                <a:ea typeface="+mn-ea"/>
                <a:cs typeface="+mn-cs"/>
              </a:rPr>
              <a:t> 3.41 </a:t>
            </a:r>
            <a:r>
              <a:rPr lang="zh-CN" altLang="zh-CN" sz="1200" kern="1200" dirty="0">
                <a:solidFill>
                  <a:schemeClr val="tx1"/>
                </a:solidFill>
                <a:effectLst/>
                <a:latin typeface="+mn-lt"/>
                <a:ea typeface="+mn-ea"/>
                <a:cs typeface="+mn-cs"/>
              </a:rPr>
              <a:t>所示构造</a:t>
            </a:r>
            <a:r>
              <a:rPr lang="en-US" altLang="zh-CN" sz="1200" kern="1200" dirty="0">
                <a:solidFill>
                  <a:schemeClr val="tx1"/>
                </a:solidFill>
                <a:effectLst/>
                <a:latin typeface="+mn-lt"/>
                <a:ea typeface="+mn-ea"/>
                <a:cs typeface="+mn-cs"/>
              </a:rPr>
              <a:t> N (r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N(s)</a:t>
            </a:r>
            <a:r>
              <a:rPr lang="zh-CN" altLang="zh-CN" sz="1200" kern="1200" dirty="0">
                <a:solidFill>
                  <a:schemeClr val="tx1"/>
                </a:solidFill>
                <a:effectLst/>
                <a:latin typeface="+mn-lt"/>
                <a:ea typeface="+mn-ea"/>
                <a:cs typeface="+mn-cs"/>
              </a:rPr>
              <a:t>的起始状态成为</a:t>
            </a:r>
            <a:r>
              <a:rPr lang="en-US" altLang="zh-CN" sz="1200" kern="1200" dirty="0">
                <a:solidFill>
                  <a:schemeClr val="tx1"/>
                </a:solidFill>
                <a:effectLst/>
                <a:latin typeface="+mn-lt"/>
                <a:ea typeface="+mn-ea"/>
                <a:cs typeface="+mn-cs"/>
              </a:rPr>
              <a:t>N(r)</a:t>
            </a:r>
            <a:r>
              <a:rPr lang="zh-CN" altLang="zh-CN" sz="1200" kern="1200" dirty="0">
                <a:solidFill>
                  <a:schemeClr val="tx1"/>
                </a:solidFill>
                <a:effectLst/>
                <a:latin typeface="+mn-lt"/>
                <a:ea typeface="+mn-ea"/>
                <a:cs typeface="+mn-cs"/>
              </a:rPr>
              <a:t>的起始状态，</a:t>
            </a:r>
            <a:r>
              <a:rPr lang="en-US" altLang="zh-CN" sz="1200" kern="1200" dirty="0">
                <a:solidFill>
                  <a:schemeClr val="tx1"/>
                </a:solidFill>
                <a:effectLst/>
                <a:latin typeface="+mn-lt"/>
                <a:ea typeface="+mn-ea"/>
                <a:cs typeface="+mn-cs"/>
              </a:rPr>
              <a:t>N(t)</a:t>
            </a:r>
            <a:r>
              <a:rPr lang="zh-CN" altLang="zh-CN" sz="1200" kern="1200" dirty="0">
                <a:solidFill>
                  <a:schemeClr val="tx1"/>
                </a:solidFill>
                <a:effectLst/>
                <a:latin typeface="+mn-lt"/>
                <a:ea typeface="+mn-ea"/>
                <a:cs typeface="+mn-cs"/>
              </a:rPr>
              <a:t>的接受状态是</a:t>
            </a:r>
            <a:r>
              <a:rPr lang="en-US" altLang="zh-CN" sz="1200" kern="1200" dirty="0">
                <a:solidFill>
                  <a:schemeClr val="tx1"/>
                </a:solidFill>
                <a:effectLst/>
                <a:latin typeface="+mn-lt"/>
                <a:ea typeface="+mn-ea"/>
                <a:cs typeface="+mn-cs"/>
              </a:rPr>
              <a:t>N(r)</a:t>
            </a:r>
            <a:r>
              <a:rPr lang="zh-CN" altLang="zh-CN" sz="1200" kern="1200" dirty="0">
                <a:solidFill>
                  <a:schemeClr val="tx1"/>
                </a:solidFill>
                <a:effectLst/>
                <a:latin typeface="+mn-lt"/>
                <a:ea typeface="+mn-ea"/>
                <a:cs typeface="+mn-cs"/>
              </a:rPr>
              <a:t>的唯一接受状态。</a:t>
            </a:r>
            <a:r>
              <a:rPr lang="en-US" altLang="zh-CN" sz="1200" kern="1200" dirty="0">
                <a:solidFill>
                  <a:schemeClr val="tx1"/>
                </a:solidFill>
                <a:effectLst/>
                <a:latin typeface="+mn-lt"/>
                <a:ea typeface="+mn-ea"/>
                <a:cs typeface="+mn-cs"/>
              </a:rPr>
              <a:t> N (s) </a:t>
            </a:r>
            <a:r>
              <a:rPr lang="zh-CN" altLang="zh-CN" sz="1200" kern="1200" dirty="0">
                <a:solidFill>
                  <a:schemeClr val="tx1"/>
                </a:solidFill>
                <a:effectLst/>
                <a:latin typeface="+mn-lt"/>
                <a:ea typeface="+mn-ea"/>
                <a:cs typeface="+mn-cs"/>
              </a:rPr>
              <a:t>的接受状态和</a:t>
            </a:r>
            <a:r>
              <a:rPr lang="en-US" altLang="zh-CN" sz="1200" kern="1200" dirty="0">
                <a:solidFill>
                  <a:schemeClr val="tx1"/>
                </a:solidFill>
                <a:effectLst/>
                <a:latin typeface="+mn-lt"/>
                <a:ea typeface="+mn-ea"/>
                <a:cs typeface="+mn-cs"/>
              </a:rPr>
              <a:t> N (t) </a:t>
            </a:r>
            <a:r>
              <a:rPr lang="zh-CN" altLang="zh-CN" sz="1200" kern="1200" dirty="0">
                <a:solidFill>
                  <a:schemeClr val="tx1"/>
                </a:solidFill>
                <a:effectLst/>
                <a:latin typeface="+mn-lt"/>
                <a:ea typeface="+mn-ea"/>
                <a:cs typeface="+mn-cs"/>
              </a:rPr>
              <a:t>的开始状态合并为一个状态，合并后的状态拥有原来进入或离开合并前的两个状态的全部转换。图</a:t>
            </a:r>
            <a:r>
              <a:rPr lang="en-US" altLang="zh-CN" sz="1200" kern="1200" dirty="0">
                <a:solidFill>
                  <a:schemeClr val="tx1"/>
                </a:solidFill>
                <a:effectLst/>
                <a:latin typeface="+mn-lt"/>
                <a:ea typeface="+mn-ea"/>
                <a:cs typeface="+mn-cs"/>
              </a:rPr>
              <a:t> 3.41 </a:t>
            </a:r>
            <a:r>
              <a:rPr lang="zh-CN" altLang="zh-CN" sz="1200" kern="1200" dirty="0">
                <a:solidFill>
                  <a:schemeClr val="tx1"/>
                </a:solidFill>
                <a:effectLst/>
                <a:latin typeface="+mn-lt"/>
                <a:ea typeface="+mn-ea"/>
                <a:cs typeface="+mn-cs"/>
              </a:rPr>
              <a:t>中一条从</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 f </a:t>
            </a:r>
            <a:r>
              <a:rPr lang="zh-CN" altLang="zh-CN" sz="1200" kern="1200" dirty="0">
                <a:solidFill>
                  <a:schemeClr val="tx1"/>
                </a:solidFill>
                <a:effectLst/>
                <a:latin typeface="+mn-lt"/>
                <a:ea typeface="+mn-ea"/>
                <a:cs typeface="+mn-cs"/>
              </a:rPr>
              <a:t>的路径必须首先经过</a:t>
            </a:r>
            <a:r>
              <a:rPr lang="en-US" altLang="zh-CN" sz="1200" kern="1200" dirty="0">
                <a:solidFill>
                  <a:schemeClr val="tx1"/>
                </a:solidFill>
                <a:effectLst/>
                <a:latin typeface="+mn-lt"/>
                <a:ea typeface="+mn-ea"/>
                <a:cs typeface="+mn-cs"/>
              </a:rPr>
              <a:t> N(s)</a:t>
            </a:r>
            <a:r>
              <a:rPr lang="zh-CN" altLang="zh-CN" sz="1200" kern="1200" dirty="0">
                <a:solidFill>
                  <a:schemeClr val="tx1"/>
                </a:solidFill>
                <a:effectLst/>
                <a:latin typeface="+mn-lt"/>
                <a:ea typeface="+mn-ea"/>
                <a:cs typeface="+mn-cs"/>
              </a:rPr>
              <a:t>，因此这条路径的标号以</a:t>
            </a:r>
            <a:r>
              <a:rPr lang="en-US" altLang="zh-CN" sz="1200" kern="1200" dirty="0">
                <a:solidFill>
                  <a:schemeClr val="tx1"/>
                </a:solidFill>
                <a:effectLst/>
                <a:latin typeface="+mn-lt"/>
                <a:ea typeface="+mn-ea"/>
                <a:cs typeface="+mn-cs"/>
              </a:rPr>
              <a:t> L(s) </a:t>
            </a:r>
            <a:r>
              <a:rPr lang="zh-CN" altLang="zh-CN" sz="1200" kern="1200" dirty="0">
                <a:solidFill>
                  <a:schemeClr val="tx1"/>
                </a:solidFill>
                <a:effectLst/>
                <a:latin typeface="+mn-lt"/>
                <a:ea typeface="+mn-ea"/>
                <a:cs typeface="+mn-cs"/>
              </a:rPr>
              <a:t>中的某个字符串开始。然后该路径继续通过</a:t>
            </a:r>
            <a:r>
              <a:rPr lang="en-US" altLang="zh-CN" sz="1200" kern="1200" dirty="0">
                <a:solidFill>
                  <a:schemeClr val="tx1"/>
                </a:solidFill>
                <a:effectLst/>
                <a:latin typeface="+mn-lt"/>
                <a:ea typeface="+mn-ea"/>
                <a:cs typeface="+mn-cs"/>
              </a:rPr>
              <a:t> N (t)</a:t>
            </a:r>
            <a:r>
              <a:rPr lang="zh-CN" altLang="zh-CN" sz="1200" kern="1200" dirty="0">
                <a:solidFill>
                  <a:schemeClr val="tx1"/>
                </a:solidFill>
                <a:effectLst/>
                <a:latin typeface="+mn-lt"/>
                <a:ea typeface="+mn-ea"/>
                <a:cs typeface="+mn-cs"/>
              </a:rPr>
              <a:t>，因此该路径的 标号以</a:t>
            </a:r>
            <a:r>
              <a:rPr lang="en-US" altLang="zh-CN" sz="1200" kern="1200" dirty="0">
                <a:solidFill>
                  <a:schemeClr val="tx1"/>
                </a:solidFill>
                <a:effectLst/>
                <a:latin typeface="+mn-lt"/>
                <a:ea typeface="+mn-ea"/>
                <a:cs typeface="+mn-cs"/>
              </a:rPr>
              <a:t> L(t) </a:t>
            </a:r>
            <a:r>
              <a:rPr lang="zh-CN" altLang="zh-CN" sz="1200" kern="1200" dirty="0">
                <a:solidFill>
                  <a:schemeClr val="tx1"/>
                </a:solidFill>
                <a:effectLst/>
                <a:latin typeface="+mn-lt"/>
                <a:ea typeface="+mn-ea"/>
                <a:cs typeface="+mn-cs"/>
              </a:rPr>
              <a:t>中的某个字符串结束。正如我们将要论证的，没有转换离开构造得到的接受状态，也没有转换进入开始状态，因此一个路径不可能在离开</a:t>
            </a:r>
            <a:r>
              <a:rPr lang="en-US" altLang="zh-CN" sz="1200" kern="1200" dirty="0">
                <a:solidFill>
                  <a:schemeClr val="tx1"/>
                </a:solidFill>
                <a:effectLst/>
                <a:latin typeface="+mn-lt"/>
                <a:ea typeface="+mn-ea"/>
                <a:cs typeface="+mn-cs"/>
              </a:rPr>
              <a:t> N(s) </a:t>
            </a:r>
            <a:r>
              <a:rPr lang="zh-CN" altLang="zh-CN" sz="1200" kern="1200" dirty="0">
                <a:solidFill>
                  <a:schemeClr val="tx1"/>
                </a:solidFill>
                <a:effectLst/>
                <a:latin typeface="+mn-lt"/>
                <a:ea typeface="+mn-ea"/>
                <a:cs typeface="+mn-cs"/>
              </a:rPr>
              <a:t>后重新进入</a:t>
            </a:r>
            <a:r>
              <a:rPr lang="en-US" altLang="zh-CN" sz="1200" kern="1200" dirty="0">
                <a:solidFill>
                  <a:schemeClr val="tx1"/>
                </a:solidFill>
                <a:effectLst/>
                <a:latin typeface="+mn-lt"/>
                <a:ea typeface="+mn-ea"/>
                <a:cs typeface="+mn-cs"/>
              </a:rPr>
              <a:t> N(s)</a:t>
            </a:r>
            <a:r>
              <a:rPr lang="zh-CN" altLang="zh-CN" sz="1200" kern="1200" dirty="0">
                <a:solidFill>
                  <a:schemeClr val="tx1"/>
                </a:solidFill>
                <a:effectLst/>
                <a:latin typeface="+mn-lt"/>
                <a:ea typeface="+mn-ea"/>
                <a:cs typeface="+mn-cs"/>
              </a:rPr>
              <a:t>。因此，</a:t>
            </a:r>
            <a:r>
              <a:rPr lang="en-US" altLang="zh-CN" sz="1200" kern="1200" dirty="0">
                <a:solidFill>
                  <a:schemeClr val="tx1"/>
                </a:solidFill>
                <a:effectLst/>
                <a:latin typeface="+mn-lt"/>
                <a:ea typeface="+mn-ea"/>
                <a:cs typeface="+mn-cs"/>
              </a:rPr>
              <a:t>N (r ) </a:t>
            </a:r>
            <a:r>
              <a:rPr lang="zh-CN" altLang="zh-CN" sz="1200" kern="1200" dirty="0">
                <a:solidFill>
                  <a:schemeClr val="tx1"/>
                </a:solidFill>
                <a:effectLst/>
                <a:latin typeface="+mn-lt"/>
                <a:ea typeface="+mn-ea"/>
                <a:cs typeface="+mn-cs"/>
              </a:rPr>
              <a:t>恰好接受</a:t>
            </a:r>
            <a:r>
              <a:rPr lang="en-US" altLang="zh-CN" sz="1200" kern="1200" dirty="0">
                <a:solidFill>
                  <a:schemeClr val="tx1"/>
                </a:solidFill>
                <a:effectLst/>
                <a:latin typeface="+mn-lt"/>
                <a:ea typeface="+mn-ea"/>
                <a:cs typeface="+mn-cs"/>
              </a:rPr>
              <a:t> L(s)L(t)</a:t>
            </a:r>
            <a:r>
              <a:rPr lang="zh-CN" altLang="zh-CN" sz="1200" kern="1200" dirty="0">
                <a:solidFill>
                  <a:schemeClr val="tx1"/>
                </a:solidFill>
                <a:effectLst/>
                <a:latin typeface="+mn-lt"/>
                <a:ea typeface="+mn-ea"/>
                <a:cs typeface="+mn-cs"/>
              </a:rPr>
              <a:t>，并且它是</a:t>
            </a:r>
            <a:r>
              <a:rPr lang="en-US" altLang="zh-CN" sz="1200" kern="1200" dirty="0">
                <a:solidFill>
                  <a:schemeClr val="tx1"/>
                </a:solidFill>
                <a:effectLst/>
                <a:latin typeface="+mn-lt"/>
                <a:ea typeface="+mn-ea"/>
                <a:cs typeface="+mn-cs"/>
              </a:rPr>
              <a:t> r = </a:t>
            </a:r>
            <a:r>
              <a:rPr lang="en-US" altLang="zh-CN" sz="1200" kern="1200" dirty="0" err="1">
                <a:solidFill>
                  <a:schemeClr val="tx1"/>
                </a:solidFill>
                <a:effectLst/>
                <a:latin typeface="+mn-lt"/>
                <a:ea typeface="+mn-ea"/>
                <a:cs typeface="+mn-cs"/>
              </a:rPr>
              <a:t>st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的一个正确的</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a:t>
            </a:r>
            <a:endParaRPr lang="en-US" altLang="zh-CN"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假设</a:t>
            </a:r>
            <a:r>
              <a:rPr lang="en-US" altLang="zh-CN" sz="1200" kern="1200" dirty="0">
                <a:solidFill>
                  <a:schemeClr val="tx1"/>
                </a:solidFill>
                <a:effectLst/>
                <a:latin typeface="+mn-lt"/>
                <a:ea typeface="+mn-ea"/>
                <a:cs typeface="+mn-cs"/>
              </a:rPr>
              <a:t> r = s</a:t>
            </a:r>
            <a:r>
              <a:rPr lang="zh-CN" altLang="zh-CN" sz="1200" kern="1200" dirty="0">
                <a:solidFill>
                  <a:schemeClr val="tx1"/>
                </a:solidFill>
                <a:effectLst/>
                <a:latin typeface="+mn-lt"/>
                <a:ea typeface="+mn-ea"/>
                <a:cs typeface="+mn-cs"/>
              </a:rPr>
              <a:t>＊ 。然后对于</a:t>
            </a:r>
            <a:r>
              <a:rPr lang="en-US" altLang="zh-CN" sz="1200" kern="1200" dirty="0">
                <a:solidFill>
                  <a:schemeClr val="tx1"/>
                </a:solidFill>
                <a:effectLst/>
                <a:latin typeface="+mn-lt"/>
                <a:ea typeface="+mn-ea"/>
                <a:cs typeface="+mn-cs"/>
              </a:rPr>
              <a:t> r</a:t>
            </a:r>
            <a:r>
              <a:rPr lang="zh-CN" altLang="zh-CN" sz="1200" kern="1200" dirty="0">
                <a:solidFill>
                  <a:schemeClr val="tx1"/>
                </a:solidFill>
                <a:effectLst/>
                <a:latin typeface="+mn-lt"/>
                <a:ea typeface="+mn-ea"/>
                <a:cs typeface="+mn-cs"/>
              </a:rPr>
              <a:t>，我们构造如图</a:t>
            </a:r>
            <a:r>
              <a:rPr lang="en-US" altLang="zh-CN" sz="1200" kern="1200" dirty="0">
                <a:solidFill>
                  <a:schemeClr val="tx1"/>
                </a:solidFill>
                <a:effectLst/>
                <a:latin typeface="+mn-lt"/>
                <a:ea typeface="+mn-ea"/>
                <a:cs typeface="+mn-cs"/>
              </a:rPr>
              <a:t> 3.42 </a:t>
            </a:r>
            <a:r>
              <a:rPr lang="zh-CN" altLang="zh-CN" sz="1200" kern="1200" dirty="0">
                <a:solidFill>
                  <a:schemeClr val="tx1"/>
                </a:solidFill>
                <a:effectLst/>
                <a:latin typeface="+mn-lt"/>
                <a:ea typeface="+mn-ea"/>
                <a:cs typeface="+mn-cs"/>
              </a:rPr>
              <a:t>所示的</a:t>
            </a:r>
            <a:r>
              <a:rPr lang="en-US" altLang="zh-CN" sz="1200" kern="1200" dirty="0">
                <a:solidFill>
                  <a:schemeClr val="tx1"/>
                </a:solidFill>
                <a:effectLst/>
                <a:latin typeface="+mn-lt"/>
                <a:ea typeface="+mn-ea"/>
                <a:cs typeface="+mn-cs"/>
              </a:rPr>
              <a:t> NFA N (r )</a:t>
            </a:r>
            <a:r>
              <a:rPr lang="zh-CN" altLang="zh-CN" sz="1200" kern="1200" dirty="0">
                <a:solidFill>
                  <a:schemeClr val="tx1"/>
                </a:solidFill>
                <a:effectLst/>
                <a:latin typeface="+mn-lt"/>
                <a:ea typeface="+mn-ea"/>
                <a:cs typeface="+mn-cs"/>
              </a:rPr>
              <a:t>。这里，</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f</a:t>
            </a:r>
            <a:r>
              <a:rPr lang="zh-CN" altLang="zh-CN" sz="1200" kern="1200" dirty="0">
                <a:solidFill>
                  <a:schemeClr val="tx1"/>
                </a:solidFill>
                <a:effectLst/>
                <a:latin typeface="+mn-lt"/>
                <a:ea typeface="+mn-ea"/>
                <a:cs typeface="+mn-cs"/>
              </a:rPr>
              <a:t>是两个新状态，分别是</a:t>
            </a:r>
            <a:r>
              <a:rPr lang="en-US" altLang="zh-CN" sz="1200" kern="1200" dirty="0">
                <a:solidFill>
                  <a:schemeClr val="tx1"/>
                </a:solidFill>
                <a:effectLst/>
                <a:latin typeface="+mn-lt"/>
                <a:ea typeface="+mn-ea"/>
                <a:cs typeface="+mn-cs"/>
              </a:rPr>
              <a:t>N(r)</a:t>
            </a:r>
            <a:r>
              <a:rPr lang="zh-CN" altLang="zh-CN" sz="1200" kern="1200" dirty="0">
                <a:solidFill>
                  <a:schemeClr val="tx1"/>
                </a:solidFill>
                <a:effectLst/>
                <a:latin typeface="+mn-lt"/>
                <a:ea typeface="+mn-ea"/>
                <a:cs typeface="+mn-cs"/>
              </a:rPr>
              <a:t>的起始状态和唯一的接受状态。要从</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 f </a:t>
            </a:r>
            <a:r>
              <a:rPr lang="zh-CN" altLang="zh-CN" sz="1200" kern="1200" dirty="0">
                <a:solidFill>
                  <a:schemeClr val="tx1"/>
                </a:solidFill>
                <a:effectLst/>
                <a:latin typeface="+mn-lt"/>
                <a:ea typeface="+mn-ea"/>
                <a:cs typeface="+mn-cs"/>
              </a:rPr>
              <a:t>，我们可以沿着新引入的保号为空的路径前进，这个路径对应于</a:t>
            </a:r>
            <a:r>
              <a:rPr lang="en-US" altLang="zh-CN" sz="1200" kern="1200" dirty="0">
                <a:solidFill>
                  <a:schemeClr val="tx1"/>
                </a:solidFill>
                <a:effectLst/>
                <a:latin typeface="+mn-lt"/>
                <a:ea typeface="+mn-ea"/>
                <a:cs typeface="+mn-cs"/>
              </a:rPr>
              <a:t> L(s)0 </a:t>
            </a:r>
            <a:r>
              <a:rPr lang="zh-CN" altLang="zh-CN" sz="1200" kern="1200" dirty="0">
                <a:solidFill>
                  <a:schemeClr val="tx1"/>
                </a:solidFill>
                <a:effectLst/>
                <a:latin typeface="+mn-lt"/>
                <a:ea typeface="+mn-ea"/>
                <a:cs typeface="+mn-cs"/>
              </a:rPr>
              <a:t>中的一个字符串。我们也可以到达</a:t>
            </a:r>
            <a:r>
              <a:rPr lang="en-US" altLang="zh-CN" sz="1200" kern="1200" dirty="0">
                <a:solidFill>
                  <a:schemeClr val="tx1"/>
                </a:solidFill>
                <a:effectLst/>
                <a:latin typeface="+mn-lt"/>
                <a:ea typeface="+mn-ea"/>
                <a:cs typeface="+mn-cs"/>
              </a:rPr>
              <a:t> N(s) </a:t>
            </a:r>
            <a:r>
              <a:rPr lang="zh-CN" altLang="zh-CN" sz="1200" kern="1200" dirty="0">
                <a:solidFill>
                  <a:schemeClr val="tx1"/>
                </a:solidFill>
                <a:effectLst/>
                <a:latin typeface="+mn-lt"/>
                <a:ea typeface="+mn-ea"/>
                <a:cs typeface="+mn-cs"/>
              </a:rPr>
              <a:t>的开始状态，然后经过该</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，再零次或多次从它的接受状态回到他的开始状态。这些选项允许</a:t>
            </a:r>
            <a:r>
              <a:rPr lang="en-US" altLang="zh-CN" sz="1200" kern="1200" dirty="0">
                <a:solidFill>
                  <a:schemeClr val="tx1"/>
                </a:solidFill>
                <a:effectLst/>
                <a:latin typeface="+mn-lt"/>
                <a:ea typeface="+mn-ea"/>
                <a:cs typeface="+mn-cs"/>
              </a:rPr>
              <a:t> N (r ) </a:t>
            </a:r>
            <a:r>
              <a:rPr lang="zh-CN" altLang="zh-CN" sz="1200" kern="1200" dirty="0">
                <a:solidFill>
                  <a:schemeClr val="tx1"/>
                </a:solidFill>
                <a:effectLst/>
                <a:latin typeface="+mn-lt"/>
                <a:ea typeface="+mn-ea"/>
                <a:cs typeface="+mn-cs"/>
              </a:rPr>
              <a:t>接受</a:t>
            </a:r>
            <a:r>
              <a:rPr lang="en-US" altLang="zh-CN" sz="1200" kern="1200" dirty="0">
                <a:solidFill>
                  <a:schemeClr val="tx1"/>
                </a:solidFill>
                <a:effectLst/>
                <a:latin typeface="+mn-lt"/>
                <a:ea typeface="+mn-ea"/>
                <a:cs typeface="+mn-cs"/>
              </a:rPr>
              <a:t> L(s)1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L(s)2 </a:t>
            </a:r>
            <a:r>
              <a:rPr lang="zh-CN" altLang="zh-CN" sz="1200" kern="1200" dirty="0">
                <a:solidFill>
                  <a:schemeClr val="tx1"/>
                </a:solidFill>
                <a:effectLst/>
                <a:latin typeface="+mn-lt"/>
                <a:ea typeface="+mn-ea"/>
                <a:cs typeface="+mn-cs"/>
              </a:rPr>
              <a:t>等集合中的所有字符串，因此</a:t>
            </a:r>
            <a:r>
              <a:rPr lang="en-US" altLang="zh-CN" sz="1200" kern="1200" dirty="0">
                <a:solidFill>
                  <a:schemeClr val="tx1"/>
                </a:solidFill>
                <a:effectLst/>
                <a:latin typeface="+mn-lt"/>
                <a:ea typeface="+mn-ea"/>
                <a:cs typeface="+mn-cs"/>
              </a:rPr>
              <a:t> N (r ) </a:t>
            </a:r>
            <a:r>
              <a:rPr lang="zh-CN" altLang="zh-CN" sz="1200" kern="1200" dirty="0">
                <a:solidFill>
                  <a:schemeClr val="tx1"/>
                </a:solidFill>
                <a:effectLst/>
                <a:latin typeface="+mn-lt"/>
                <a:ea typeface="+mn-ea"/>
                <a:cs typeface="+mn-cs"/>
              </a:rPr>
              <a:t>识别的所有串的集合就是</a:t>
            </a:r>
            <a:r>
              <a:rPr lang="en-US" altLang="zh-CN" sz="1200" kern="1200" dirty="0">
                <a:solidFill>
                  <a:schemeClr val="tx1"/>
                </a:solidFill>
                <a:effectLst/>
                <a:latin typeface="+mn-lt"/>
                <a:ea typeface="+mn-ea"/>
                <a:cs typeface="+mn-cs"/>
              </a:rPr>
              <a:t> L(s )</a:t>
            </a:r>
            <a:r>
              <a:rPr lang="zh-CN" altLang="zh-CN" sz="1200" kern="1200" dirty="0">
                <a:solidFill>
                  <a:schemeClr val="tx1"/>
                </a:solidFill>
                <a:effectLst/>
                <a:latin typeface="+mn-lt"/>
                <a:ea typeface="+mn-ea"/>
                <a:cs typeface="+mn-cs"/>
              </a:rPr>
              <a:t>＊。</a:t>
            </a:r>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3.24</a:t>
            </a:r>
            <a:r>
              <a:rPr lang="zh-CN" altLang="zh-CN" sz="1200" kern="1200" dirty="0">
                <a:solidFill>
                  <a:schemeClr val="tx1"/>
                </a:solidFill>
                <a:effectLst/>
                <a:latin typeface="+mn-lt"/>
                <a:ea typeface="+mn-ea"/>
                <a:cs typeface="+mn-cs"/>
              </a:rPr>
              <a:t>：让我们使用算法</a:t>
            </a:r>
            <a:r>
              <a:rPr lang="en-US" altLang="zh-CN" sz="1200" kern="1200" dirty="0">
                <a:solidFill>
                  <a:schemeClr val="tx1"/>
                </a:solidFill>
                <a:effectLst/>
                <a:latin typeface="+mn-lt"/>
                <a:ea typeface="+mn-ea"/>
                <a:cs typeface="+mn-cs"/>
              </a:rPr>
              <a:t> 3.23 </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 r = (a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 </a:t>
            </a:r>
            <a:r>
              <a:rPr lang="en-US" altLang="zh-CN" sz="1200" kern="1200" dirty="0" err="1">
                <a:solidFill>
                  <a:schemeClr val="tx1"/>
                </a:solidFill>
                <a:effectLst/>
                <a:latin typeface="+mn-lt"/>
                <a:ea typeface="+mn-ea"/>
                <a:cs typeface="+mn-cs"/>
              </a:rPr>
              <a:t>abb</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构造一个</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3.43 </a:t>
            </a:r>
            <a:r>
              <a:rPr lang="zh-CN" altLang="zh-CN" sz="1200" kern="1200" dirty="0">
                <a:solidFill>
                  <a:schemeClr val="tx1"/>
                </a:solidFill>
                <a:effectLst/>
                <a:latin typeface="+mn-lt"/>
                <a:ea typeface="+mn-ea"/>
                <a:cs typeface="+mn-cs"/>
              </a:rPr>
              <a:t>显示了</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的一颗语法分析树，它类似于第</a:t>
            </a:r>
            <a:r>
              <a:rPr lang="en-US" altLang="zh-CN" sz="1200" kern="1200" dirty="0">
                <a:solidFill>
                  <a:schemeClr val="tx1"/>
                </a:solidFill>
                <a:effectLst/>
                <a:latin typeface="+mn-lt"/>
                <a:ea typeface="+mn-ea"/>
                <a:cs typeface="+mn-cs"/>
              </a:rPr>
              <a:t> 2.2.3 </a:t>
            </a:r>
            <a:r>
              <a:rPr lang="zh-CN" altLang="zh-CN" sz="1200" kern="1200" dirty="0">
                <a:solidFill>
                  <a:schemeClr val="tx1"/>
                </a:solidFill>
                <a:effectLst/>
                <a:latin typeface="+mn-lt"/>
                <a:ea typeface="+mn-ea"/>
                <a:cs typeface="+mn-cs"/>
              </a:rPr>
              <a:t>节中为算术表达式构建的语法分析树。对于子表达式</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，即第一个</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，我们构造</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我们在选择这个</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中的状态编号时考虑了和接下来生成的</a:t>
            </a:r>
            <a:r>
              <a:rPr lang="en-US" altLang="zh-CN" sz="1200" kern="1200" dirty="0">
                <a:solidFill>
                  <a:schemeClr val="tx1"/>
                </a:solidFill>
                <a:effectLst/>
                <a:latin typeface="+mn-lt"/>
                <a:ea typeface="+mn-ea"/>
                <a:cs typeface="+mn-cs"/>
              </a:rPr>
              <a:t>NFA</a:t>
            </a:r>
            <a:r>
              <a:rPr lang="zh-CN" altLang="zh-CN" sz="1200" kern="1200" dirty="0">
                <a:solidFill>
                  <a:schemeClr val="tx1"/>
                </a:solidFill>
                <a:effectLst/>
                <a:latin typeface="+mn-lt"/>
                <a:ea typeface="+mn-ea"/>
                <a:cs typeface="+mn-cs"/>
              </a:rPr>
              <a:t>的状态编号之间的一致性。对于</a:t>
            </a:r>
            <a:r>
              <a:rPr lang="en-US" altLang="zh-CN" sz="1200" kern="1200" dirty="0">
                <a:solidFill>
                  <a:schemeClr val="tx1"/>
                </a:solidFill>
                <a:effectLst/>
                <a:latin typeface="+mn-lt"/>
                <a:ea typeface="+mn-ea"/>
                <a:cs typeface="+mn-cs"/>
              </a:rPr>
              <a:t> r2</a:t>
            </a:r>
            <a:r>
              <a:rPr lang="zh-CN" altLang="zh-CN" sz="1200" kern="1200" dirty="0">
                <a:solidFill>
                  <a:schemeClr val="tx1"/>
                </a:solidFill>
                <a:effectLst/>
                <a:latin typeface="+mn-lt"/>
                <a:ea typeface="+mn-ea"/>
                <a:cs typeface="+mn-cs"/>
              </a:rPr>
              <a:t>，我们构造：</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75</a:t>
            </a:fld>
            <a:endParaRPr lang="zh-CN" altLang="en-US"/>
          </a:p>
        </p:txBody>
      </p:sp>
    </p:spTree>
    <p:extLst>
      <p:ext uri="{BB962C8B-B14F-4D97-AF65-F5344CB8AC3E}">
        <p14:creationId xmlns:p14="http://schemas.microsoft.com/office/powerpoint/2010/main" val="414619107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现在，我们可以使用图</a:t>
            </a:r>
            <a:r>
              <a:rPr lang="en-US" altLang="zh-CN" sz="1200" kern="1200" dirty="0">
                <a:solidFill>
                  <a:schemeClr val="tx1"/>
                </a:solidFill>
                <a:effectLst/>
                <a:latin typeface="+mn-lt"/>
                <a:ea typeface="+mn-ea"/>
                <a:cs typeface="+mn-cs"/>
              </a:rPr>
              <a:t> 3.40 </a:t>
            </a:r>
            <a:r>
              <a:rPr lang="zh-CN" altLang="zh-CN" sz="1200" kern="1200" dirty="0">
                <a:solidFill>
                  <a:schemeClr val="tx1"/>
                </a:solidFill>
                <a:effectLst/>
                <a:latin typeface="+mn-lt"/>
                <a:ea typeface="+mn-ea"/>
                <a:cs typeface="+mn-cs"/>
              </a:rPr>
              <a:t>的构造方法，将</a:t>
            </a:r>
            <a:r>
              <a:rPr lang="en-US" altLang="zh-CN" sz="1200" kern="1200" dirty="0">
                <a:solidFill>
                  <a:schemeClr val="tx1"/>
                </a:solidFill>
                <a:effectLst/>
                <a:latin typeface="+mn-lt"/>
                <a:ea typeface="+mn-ea"/>
                <a:cs typeface="+mn-cs"/>
              </a:rPr>
              <a:t> N (r1 )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N (r2 )</a:t>
            </a:r>
            <a:r>
              <a:rPr lang="zh-CN" altLang="zh-CN" sz="1200" kern="1200" dirty="0">
                <a:solidFill>
                  <a:schemeClr val="tx1"/>
                </a:solidFill>
                <a:effectLst/>
                <a:latin typeface="+mn-lt"/>
                <a:ea typeface="+mn-ea"/>
                <a:cs typeface="+mn-cs"/>
              </a:rPr>
              <a:t>合并，获得</a:t>
            </a:r>
            <a:r>
              <a:rPr lang="en-US" altLang="zh-CN" sz="1200" kern="1200" dirty="0">
                <a:solidFill>
                  <a:schemeClr val="tx1"/>
                </a:solidFill>
                <a:effectLst/>
                <a:latin typeface="+mn-lt"/>
                <a:ea typeface="+mn-ea"/>
                <a:cs typeface="+mn-cs"/>
              </a:rPr>
              <a:t> r3 = r1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r2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；该</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 3.44 </a:t>
            </a:r>
            <a:r>
              <a:rPr lang="zh-CN" altLang="zh-CN" sz="1200" kern="1200" dirty="0">
                <a:solidFill>
                  <a:schemeClr val="tx1"/>
                </a:solidFill>
                <a:effectLst/>
                <a:latin typeface="+mn-lt"/>
                <a:ea typeface="+mn-ea"/>
                <a:cs typeface="+mn-cs"/>
              </a:rPr>
              <a:t>所示。</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76</a:t>
            </a:fld>
            <a:endParaRPr lang="zh-CN" altLang="en-US"/>
          </a:p>
        </p:txBody>
      </p:sp>
    </p:spTree>
    <p:extLst>
      <p:ext uri="{BB962C8B-B14F-4D97-AF65-F5344CB8AC3E}">
        <p14:creationId xmlns:p14="http://schemas.microsoft.com/office/powerpoint/2010/main" val="13511557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r4 =(r3 )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 r3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相同。 子表达式</a:t>
            </a:r>
            <a:r>
              <a:rPr lang="en-US" altLang="zh-CN" sz="1200" kern="1200" dirty="0">
                <a:solidFill>
                  <a:schemeClr val="tx1"/>
                </a:solidFill>
                <a:effectLst/>
                <a:latin typeface="+mn-lt"/>
                <a:ea typeface="+mn-ea"/>
                <a:cs typeface="+mn-cs"/>
              </a:rPr>
              <a:t>r5 =(r3 )</a:t>
            </a:r>
            <a:r>
              <a:rPr lang="zh-CN" altLang="zh-CN" sz="1200" kern="1200" dirty="0">
                <a:solidFill>
                  <a:schemeClr val="tx1"/>
                </a:solidFill>
                <a:effectLst/>
                <a:latin typeface="+mn-lt"/>
                <a:ea typeface="+mn-ea"/>
                <a:cs typeface="+mn-cs"/>
              </a:rPr>
              <a:t>＊ 的</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构造如图</a:t>
            </a:r>
            <a:r>
              <a:rPr lang="en-US" altLang="zh-CN" sz="1200" kern="1200" dirty="0">
                <a:solidFill>
                  <a:schemeClr val="tx1"/>
                </a:solidFill>
                <a:effectLst/>
                <a:latin typeface="+mn-lt"/>
                <a:ea typeface="+mn-ea"/>
                <a:cs typeface="+mn-cs"/>
              </a:rPr>
              <a:t> 3.45 </a:t>
            </a:r>
            <a:r>
              <a:rPr lang="zh-CN" altLang="zh-CN" sz="1200" kern="1200" dirty="0">
                <a:solidFill>
                  <a:schemeClr val="tx1"/>
                </a:solidFill>
                <a:effectLst/>
                <a:latin typeface="+mn-lt"/>
                <a:ea typeface="+mn-ea"/>
                <a:cs typeface="+mn-cs"/>
              </a:rPr>
              <a:t>所示。我们使用图</a:t>
            </a:r>
            <a:r>
              <a:rPr lang="en-US" altLang="zh-CN" sz="1200" kern="1200" dirty="0">
                <a:solidFill>
                  <a:schemeClr val="tx1"/>
                </a:solidFill>
                <a:effectLst/>
                <a:latin typeface="+mn-lt"/>
                <a:ea typeface="+mn-ea"/>
                <a:cs typeface="+mn-cs"/>
              </a:rPr>
              <a:t> 3.42 </a:t>
            </a:r>
            <a:r>
              <a:rPr lang="zh-CN" altLang="zh-CN" sz="1200" kern="1200" dirty="0">
                <a:solidFill>
                  <a:schemeClr val="tx1"/>
                </a:solidFill>
                <a:effectLst/>
                <a:latin typeface="+mn-lt"/>
                <a:ea typeface="+mn-ea"/>
                <a:cs typeface="+mn-cs"/>
              </a:rPr>
              <a:t>所示的方法根据图</a:t>
            </a:r>
            <a:r>
              <a:rPr lang="en-US" altLang="zh-CN" sz="1200" kern="1200" dirty="0">
                <a:solidFill>
                  <a:schemeClr val="tx1"/>
                </a:solidFill>
                <a:effectLst/>
                <a:latin typeface="+mn-lt"/>
                <a:ea typeface="+mn-ea"/>
                <a:cs typeface="+mn-cs"/>
              </a:rPr>
              <a:t> 3.44 </a:t>
            </a:r>
            <a:r>
              <a:rPr lang="zh-CN" altLang="zh-CN" sz="1200" kern="1200" dirty="0">
                <a:solidFill>
                  <a:schemeClr val="tx1"/>
                </a:solidFill>
                <a:effectLst/>
                <a:latin typeface="+mn-lt"/>
                <a:ea typeface="+mn-ea"/>
                <a:cs typeface="+mn-cs"/>
              </a:rPr>
              <a:t>中的</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构造出这个</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77</a:t>
            </a:fld>
            <a:endParaRPr lang="zh-CN" altLang="en-US"/>
          </a:p>
        </p:txBody>
      </p:sp>
    </p:spTree>
    <p:extLst>
      <p:ext uri="{BB962C8B-B14F-4D97-AF65-F5344CB8AC3E}">
        <p14:creationId xmlns:p14="http://schemas.microsoft.com/office/powerpoint/2010/main" val="337487115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现在，考虑子表达式</a:t>
            </a:r>
            <a:r>
              <a:rPr lang="en-US" altLang="zh-CN" sz="1200" kern="1200" dirty="0">
                <a:solidFill>
                  <a:schemeClr val="tx1"/>
                </a:solidFill>
                <a:effectLst/>
                <a:latin typeface="+mn-lt"/>
                <a:ea typeface="+mn-ea"/>
                <a:cs typeface="+mn-cs"/>
              </a:rPr>
              <a:t> r6 </a:t>
            </a:r>
            <a:r>
              <a:rPr lang="zh-CN" altLang="zh-CN" sz="1200" kern="1200" dirty="0">
                <a:solidFill>
                  <a:schemeClr val="tx1"/>
                </a:solidFill>
                <a:effectLst/>
                <a:latin typeface="+mn-lt"/>
                <a:ea typeface="+mn-ea"/>
                <a:cs typeface="+mn-cs"/>
              </a:rPr>
              <a:t>，它是表达式中的另一个</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。我们再次对ａ使用基本构造法，但是我们必须使用新的状态。虽然</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r6 </a:t>
            </a:r>
            <a:r>
              <a:rPr lang="zh-CN" altLang="zh-CN" sz="1200" kern="1200" dirty="0">
                <a:solidFill>
                  <a:schemeClr val="tx1"/>
                </a:solidFill>
                <a:effectLst/>
                <a:latin typeface="+mn-lt"/>
                <a:ea typeface="+mn-ea"/>
                <a:cs typeface="+mn-cs"/>
              </a:rPr>
              <a:t>是相同的表达式，但这个构造方法不允许重复使用我们为</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构建的</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r6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 </a:t>
            </a:r>
            <a:r>
              <a:rPr lang="zh-CN" altLang="zh-CN" sz="1200" kern="1200" dirty="0">
                <a:solidFill>
                  <a:schemeClr val="tx1"/>
                </a:solidFill>
                <a:effectLst/>
                <a:latin typeface="+mn-lt"/>
                <a:ea typeface="+mn-ea"/>
                <a:cs typeface="+mn-cs"/>
              </a:rPr>
              <a:t>为：</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78</a:t>
            </a:fld>
            <a:endParaRPr lang="zh-CN" altLang="en-US"/>
          </a:p>
        </p:txBody>
      </p:sp>
    </p:spTree>
    <p:extLst>
      <p:ext uri="{BB962C8B-B14F-4D97-AF65-F5344CB8AC3E}">
        <p14:creationId xmlns:p14="http://schemas.microsoft.com/office/powerpoint/2010/main" val="18094174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为了获得</a:t>
            </a:r>
            <a:r>
              <a:rPr lang="en-US" altLang="zh-CN" sz="1200" kern="1200" dirty="0">
                <a:solidFill>
                  <a:schemeClr val="tx1"/>
                </a:solidFill>
                <a:effectLst/>
                <a:latin typeface="+mn-lt"/>
                <a:ea typeface="+mn-ea"/>
                <a:cs typeface="+mn-cs"/>
              </a:rPr>
              <a:t> r7 = r5 r6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，我们应用图</a:t>
            </a:r>
            <a:r>
              <a:rPr lang="en-US" altLang="zh-CN" sz="1200" kern="1200" dirty="0">
                <a:solidFill>
                  <a:schemeClr val="tx1"/>
                </a:solidFill>
                <a:effectLst/>
                <a:latin typeface="+mn-lt"/>
                <a:ea typeface="+mn-ea"/>
                <a:cs typeface="+mn-cs"/>
              </a:rPr>
              <a:t> 3.41 </a:t>
            </a:r>
            <a:r>
              <a:rPr lang="zh-CN" altLang="zh-CN" sz="1200" kern="1200" dirty="0">
                <a:solidFill>
                  <a:schemeClr val="tx1"/>
                </a:solidFill>
                <a:effectLst/>
                <a:latin typeface="+mn-lt"/>
                <a:ea typeface="+mn-ea"/>
                <a:cs typeface="+mn-cs"/>
              </a:rPr>
              <a:t>的构造方法。将状态</a:t>
            </a:r>
            <a:r>
              <a:rPr lang="en-US" altLang="zh-CN" sz="1200" kern="1200" dirty="0">
                <a:solidFill>
                  <a:schemeClr val="tx1"/>
                </a:solidFill>
                <a:effectLst/>
                <a:latin typeface="+mn-lt"/>
                <a:ea typeface="+mn-ea"/>
                <a:cs typeface="+mn-cs"/>
              </a:rPr>
              <a:t> 7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7</a:t>
            </a:r>
            <a:r>
              <a:rPr lang="zh-CN" altLang="zh-CN" sz="1200" kern="1200" dirty="0">
                <a:solidFill>
                  <a:schemeClr val="tx1"/>
                </a:solidFill>
                <a:effectLst/>
                <a:latin typeface="+mn-lt"/>
                <a:ea typeface="+mn-ea"/>
                <a:cs typeface="+mn-cs"/>
              </a:rPr>
              <a:t>‘合并，产生图</a:t>
            </a:r>
            <a:r>
              <a:rPr lang="en-US" altLang="zh-CN" sz="1200" kern="1200" dirty="0">
                <a:solidFill>
                  <a:schemeClr val="tx1"/>
                </a:solidFill>
                <a:effectLst/>
                <a:latin typeface="+mn-lt"/>
                <a:ea typeface="+mn-ea"/>
                <a:cs typeface="+mn-cs"/>
              </a:rPr>
              <a:t> 3.46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。继续以这种方式构造出两个分别名为</a:t>
            </a:r>
            <a:r>
              <a:rPr lang="en-US" altLang="zh-CN" sz="1200" kern="1200" dirty="0">
                <a:solidFill>
                  <a:schemeClr val="tx1"/>
                </a:solidFill>
                <a:effectLst/>
                <a:latin typeface="+mn-lt"/>
                <a:ea typeface="+mn-ea"/>
                <a:cs typeface="+mn-cs"/>
              </a:rPr>
              <a:t> r8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r10</a:t>
            </a:r>
            <a:r>
              <a:rPr lang="zh-CN" altLang="zh-CN" sz="1200" kern="1200" dirty="0">
                <a:solidFill>
                  <a:schemeClr val="tx1"/>
                </a:solidFill>
                <a:effectLst/>
                <a:latin typeface="+mn-lt"/>
                <a:ea typeface="+mn-ea"/>
                <a:cs typeface="+mn-cs"/>
              </a:rPr>
              <a:t>）、对应于子表达式ｂ的新</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，最终构造出如图</a:t>
            </a:r>
            <a:r>
              <a:rPr lang="en-US" altLang="zh-CN" sz="1200" kern="1200" dirty="0">
                <a:solidFill>
                  <a:schemeClr val="tx1"/>
                </a:solidFill>
                <a:effectLst/>
                <a:latin typeface="+mn-lt"/>
                <a:ea typeface="+mn-ea"/>
                <a:cs typeface="+mn-cs"/>
              </a:rPr>
              <a:t> 3.34</a:t>
            </a:r>
            <a:r>
              <a:rPr lang="zh-CN" altLang="zh-CN" sz="1200" kern="1200" dirty="0">
                <a:solidFill>
                  <a:schemeClr val="tx1"/>
                </a:solidFill>
                <a:effectLst/>
                <a:latin typeface="+mn-lt"/>
                <a:ea typeface="+mn-ea"/>
                <a:cs typeface="+mn-cs"/>
              </a:rPr>
              <a:t>所示的</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abb</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NFA</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79</a:t>
            </a:fld>
            <a:endParaRPr lang="zh-CN" altLang="en-US"/>
          </a:p>
        </p:txBody>
      </p:sp>
    </p:spTree>
    <p:extLst>
      <p:ext uri="{BB962C8B-B14F-4D97-AF65-F5344CB8AC3E}">
        <p14:creationId xmlns:p14="http://schemas.microsoft.com/office/powerpoint/2010/main" val="365182584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a:t>• 为什么？在词法分析器中，我们需要一个自动机来识别与任何模式（在 lex 程序中）匹配的词目</a:t>
            </a:r>
          </a:p>
          <a:p>
            <a:r>
              <a:rPr lang="zh-CN" altLang="en-US"/>
              <a:t>• 怎么做？为 NFA 的 N 个i 的每个起始状态引入一个新的起始状态，每个起始状态都有空转换</a:t>
            </a:r>
          </a:p>
          <a:p>
            <a:r>
              <a:rPr lang="zh-CN" altLang="en-US"/>
              <a:t>- 大 NFA 所能接受的语言是小 NFA 所能接受的语言的总和。</a:t>
            </a:r>
          </a:p>
          <a:p>
            <a:r>
              <a:rPr lang="zh-CN" altLang="en-US"/>
              <a:t>- 不同的接受状态对应不同的模式</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请注意，这三种模式呈现了第 </a:t>
            </a:r>
            <a:r>
              <a:rPr lang="en-US" altLang="zh-CN" dirty="0"/>
              <a:t>3.5.3 </a:t>
            </a:r>
            <a:r>
              <a:rPr lang="zh-CN" altLang="en-US" dirty="0"/>
              <a:t>节中讨论过的冲突。更明确地说，字符串 </a:t>
            </a:r>
            <a:r>
              <a:rPr lang="en-US" altLang="zh-CN" dirty="0" err="1"/>
              <a:t>abb</a:t>
            </a:r>
            <a:r>
              <a:rPr lang="en-US" altLang="zh-CN" dirty="0"/>
              <a:t> </a:t>
            </a:r>
            <a:r>
              <a:rPr lang="zh-CN" altLang="en-US" dirty="0"/>
              <a:t>同时满足第二个和第三个模式，但是我们将把它看作模式 </a:t>
            </a:r>
            <a:r>
              <a:rPr lang="en-US" altLang="zh-CN" dirty="0"/>
              <a:t>p2 </a:t>
            </a:r>
            <a:r>
              <a:rPr lang="zh-CN" altLang="en-US" dirty="0"/>
              <a:t>的词素，因为该模式在上面的 </a:t>
            </a:r>
            <a:r>
              <a:rPr lang="en-US" altLang="zh-CN" dirty="0"/>
              <a:t>Lex </a:t>
            </a:r>
            <a:r>
              <a:rPr lang="zh-CN" altLang="en-US" dirty="0"/>
              <a:t>程序中首先列出。然后，输入字符串（例如 </a:t>
            </a:r>
            <a:r>
              <a:rPr lang="en-US" altLang="zh-CN" dirty="0" err="1"/>
              <a:t>aabbb</a:t>
            </a:r>
            <a:r>
              <a:rPr lang="zh-CN" altLang="en-US" dirty="0"/>
              <a:t>）有许多前缀都满足第三个模式， </a:t>
            </a:r>
            <a:r>
              <a:rPr lang="en-US" altLang="zh-CN" dirty="0"/>
              <a:t>Lex </a:t>
            </a:r>
            <a:r>
              <a:rPr lang="zh-CN" altLang="en-US" dirty="0"/>
              <a:t>规则是取最长的，所以我们继续读取 </a:t>
            </a:r>
            <a:r>
              <a:rPr lang="en-US" altLang="zh-CN" dirty="0"/>
              <a:t>b</a:t>
            </a:r>
            <a:r>
              <a:rPr lang="zh-CN" altLang="en-US" dirty="0"/>
              <a:t>，直到遇到另一个 </a:t>
            </a:r>
            <a:r>
              <a:rPr lang="en-US" altLang="zh-CN" dirty="0"/>
              <a:t>a</a:t>
            </a:r>
            <a:r>
              <a:rPr lang="zh-CN" altLang="en-US" dirty="0"/>
              <a:t>，然后我们报告识别的词素就是从第一个 </a:t>
            </a:r>
            <a:r>
              <a:rPr lang="en-US" altLang="zh-CN" dirty="0"/>
              <a:t>a</a:t>
            </a:r>
            <a:r>
              <a:rPr lang="zh-CN" altLang="en-US" dirty="0"/>
              <a:t>开始的、包含了其后所有ｂ的符号串。</a:t>
            </a:r>
            <a:endParaRPr lang="en-US" altLang="zh-CN" dirty="0"/>
          </a:p>
          <a:p>
            <a:endParaRPr lang="en-US" altLang="zh-CN" dirty="0"/>
          </a:p>
          <a:p>
            <a:r>
              <a:rPr lang="zh-CN" altLang="en-US" dirty="0"/>
              <a:t>词法分析器的 DFA</a:t>
            </a:r>
          </a:p>
          <a:p>
            <a:r>
              <a:rPr lang="zh-CN" altLang="en-US" dirty="0"/>
              <a:t>• 使用子集构建算法，将所有模式的 NFA 转换为等价的 DFA</a:t>
            </a:r>
          </a:p>
          <a:p>
            <a:r>
              <a:rPr lang="zh-CN" altLang="en-US" dirty="0"/>
              <a:t>• DFA 的接受状态对应于 NFA 状态的子集，该子集中至少有一个是NFA的接受状态。但是，如果该子集中包含一个以上的</a:t>
            </a:r>
            <a:r>
              <a:rPr lang="en-US" altLang="zh-CN" dirty="0"/>
              <a:t>NFA</a:t>
            </a:r>
            <a:r>
              <a:rPr lang="zh-CN" altLang="en-US" dirty="0"/>
              <a:t>接受状态，就意味着会出现冲突（输入字符串的前缀匹配多个模式）。此时，解决冲突的方式：按照该接受状态所对于的模式在所有模式中的排序，选择排序最靠前的模式的接受状态作为 DFA 状态的输出</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 假设我们有三种模式：p , p12 , 和 p3</a:t>
            </a:r>
          </a:p>
          <a:p>
            <a:pPr lvl="1"/>
            <a:r>
              <a:rPr lang="zh-CN" altLang="en-US" dirty="0">
                <a:sym typeface="+mn-ea"/>
              </a:rPr>
              <a:t>▪ </a:t>
            </a:r>
            <a:r>
              <a:rPr lang="zh-CN" altLang="en-US" dirty="0"/>
              <a:t>a { 行动 A1 for pattern p }1</a:t>
            </a:r>
          </a:p>
          <a:p>
            <a:pPr lvl="1"/>
            <a:r>
              <a:rPr lang="zh-CN" altLang="en-US" dirty="0"/>
              <a:t>▪ abb {action A2 for pattern p }2</a:t>
            </a:r>
          </a:p>
          <a:p>
            <a:pPr lvl="1"/>
            <a:r>
              <a:rPr lang="zh-CN" altLang="en-US" dirty="0">
                <a:sym typeface="+mn-ea"/>
              </a:rPr>
              <a:t>▪ </a:t>
            </a:r>
            <a:r>
              <a:rPr lang="zh-CN" altLang="en-US" dirty="0"/>
              <a:t>A B*+ { 行动 A3 for pattern p }3</a:t>
            </a:r>
          </a:p>
          <a:p>
            <a:r>
              <a:rPr lang="zh-CN" altLang="en-US" dirty="0"/>
              <a:t>• 我们首先为每个模式构建一个 NFA</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en-US" dirty="0"/>
              <a:t>图 </a:t>
            </a:r>
            <a:r>
              <a:rPr lang="en-US" altLang="zh-CN" dirty="0"/>
              <a:t>3.51 </a:t>
            </a:r>
            <a:r>
              <a:rPr lang="zh-CN" altLang="en-US" dirty="0"/>
              <a:t>列出了识别这三种模式的三个 </a:t>
            </a:r>
            <a:r>
              <a:rPr lang="en-US" altLang="zh-CN" dirty="0"/>
              <a:t>NFA</a:t>
            </a:r>
            <a:r>
              <a:rPr lang="zh-CN" altLang="en-US" dirty="0"/>
              <a:t>。其中第三个是算法 </a:t>
            </a:r>
            <a:r>
              <a:rPr lang="en-US" altLang="zh-CN" dirty="0"/>
              <a:t>3.23 </a:t>
            </a:r>
            <a:r>
              <a:rPr lang="zh-CN" altLang="en-US" dirty="0"/>
              <a:t>的转换结果经简化得到的。然后，图 </a:t>
            </a:r>
            <a:r>
              <a:rPr lang="en-US" altLang="zh-CN" dirty="0"/>
              <a:t>3.52 </a:t>
            </a:r>
            <a:r>
              <a:rPr lang="zh-CN" altLang="en-US" dirty="0"/>
              <a:t>显示了通过加入一个新开始状态 </a:t>
            </a:r>
            <a:r>
              <a:rPr lang="en-US" altLang="zh-CN" dirty="0"/>
              <a:t>0 </a:t>
            </a:r>
            <a:r>
              <a:rPr lang="zh-CN" altLang="en-US" dirty="0"/>
              <a:t>和３个空转换将这三个 </a:t>
            </a:r>
            <a:r>
              <a:rPr lang="en-US" altLang="zh-CN" dirty="0"/>
              <a:t>NFA</a:t>
            </a:r>
            <a:r>
              <a:rPr lang="zh-CN" altLang="en-US" dirty="0"/>
              <a:t>合并得到的单个</a:t>
            </a:r>
            <a:r>
              <a:rPr lang="en-US" altLang="zh-CN" dirty="0"/>
              <a:t>NFA</a:t>
            </a:r>
            <a:r>
              <a:rPr lang="zh-CN" altLang="en-US" dirty="0"/>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83</a:t>
            </a:fld>
            <a:endParaRPr lang="zh-CN" altLang="en-US"/>
          </a:p>
        </p:txBody>
      </p:sp>
    </p:spTree>
    <p:extLst>
      <p:ext uri="{BB962C8B-B14F-4D97-AF65-F5344CB8AC3E}">
        <p14:creationId xmlns:p14="http://schemas.microsoft.com/office/powerpoint/2010/main" val="218339679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en-US" dirty="0"/>
              <a:t>例 </a:t>
            </a:r>
            <a:r>
              <a:rPr lang="en-US" altLang="zh-CN" dirty="0"/>
              <a:t>3.28</a:t>
            </a:r>
            <a:r>
              <a:rPr lang="zh-CN" altLang="en-US" dirty="0"/>
              <a:t>：图 </a:t>
            </a:r>
            <a:r>
              <a:rPr lang="en-US" altLang="zh-CN" dirty="0"/>
              <a:t>3.54 </a:t>
            </a:r>
            <a:r>
              <a:rPr lang="zh-CN" altLang="en-US" dirty="0"/>
              <a:t>显示了基于 </a:t>
            </a:r>
            <a:r>
              <a:rPr lang="en-US" altLang="zh-CN" dirty="0"/>
              <a:t>DFA </a:t>
            </a:r>
            <a:r>
              <a:rPr lang="zh-CN" altLang="en-US" dirty="0"/>
              <a:t>的转换图，该 </a:t>
            </a:r>
            <a:r>
              <a:rPr lang="en-US" altLang="zh-CN" dirty="0"/>
              <a:t>DFA </a:t>
            </a:r>
            <a:r>
              <a:rPr lang="zh-CN" altLang="en-US" dirty="0"/>
              <a:t>是通过图 </a:t>
            </a:r>
            <a:r>
              <a:rPr lang="en-US" altLang="zh-CN" dirty="0"/>
              <a:t>3.52 </a:t>
            </a:r>
            <a:r>
              <a:rPr lang="zh-CN" altLang="en-US" dirty="0"/>
              <a:t>中 </a:t>
            </a:r>
            <a:r>
              <a:rPr lang="en-US" altLang="zh-CN" dirty="0"/>
              <a:t>NFA </a:t>
            </a:r>
            <a:r>
              <a:rPr lang="zh-CN" altLang="en-US" dirty="0"/>
              <a:t>的子集构造而构造的。图中的接受状态由该状态所识别的模式作为标号。例如状态｛</a:t>
            </a:r>
            <a:r>
              <a:rPr lang="en-US" altLang="zh-CN" dirty="0"/>
              <a:t>6</a:t>
            </a:r>
            <a:r>
              <a:rPr lang="zh-CN" altLang="en-US" dirty="0"/>
              <a:t>； </a:t>
            </a:r>
            <a:r>
              <a:rPr lang="en-US" altLang="zh-CN" dirty="0"/>
              <a:t>8</a:t>
            </a:r>
            <a:r>
              <a:rPr lang="zh-CN" altLang="en-US" dirty="0"/>
              <a:t>｝ 有两个接受状态，分别对应于模式 </a:t>
            </a:r>
            <a:r>
              <a:rPr lang="en-US" altLang="zh-CN" dirty="0" err="1"/>
              <a:t>abb</a:t>
            </a:r>
            <a:r>
              <a:rPr lang="en-US" altLang="zh-CN" dirty="0"/>
              <a:t> </a:t>
            </a:r>
            <a:r>
              <a:rPr lang="zh-CN" altLang="en-US" dirty="0"/>
              <a:t>和 </a:t>
            </a:r>
            <a:r>
              <a:rPr lang="en-US" altLang="zh-CN" dirty="0"/>
              <a:t>a</a:t>
            </a:r>
            <a:r>
              <a:rPr lang="zh-CN" altLang="en-US" dirty="0"/>
              <a:t>＊ </a:t>
            </a:r>
            <a:r>
              <a:rPr lang="en-US" altLang="zh-CN" dirty="0"/>
              <a:t>b+ </a:t>
            </a:r>
            <a:r>
              <a:rPr lang="zh-CN" altLang="en-US" dirty="0"/>
              <a:t>。由于前者先被列出，因此该模式就是与状态 ｛</a:t>
            </a:r>
            <a:r>
              <a:rPr lang="en-US" altLang="zh-CN" dirty="0"/>
              <a:t>6</a:t>
            </a:r>
            <a:r>
              <a:rPr lang="zh-CN" altLang="en-US" dirty="0"/>
              <a:t>，８｝所关联的模式；。</a:t>
            </a:r>
          </a:p>
          <a:p>
            <a:r>
              <a:rPr lang="zh-CN" altLang="en-US" dirty="0"/>
              <a:t>我们在词法分析器中使用 </a:t>
            </a:r>
            <a:r>
              <a:rPr lang="en-US" altLang="zh-CN" dirty="0"/>
              <a:t>DFA</a:t>
            </a:r>
            <a:r>
              <a:rPr lang="zh-CN" altLang="en-US" dirty="0"/>
              <a:t>，就像我们使用 </a:t>
            </a:r>
            <a:r>
              <a:rPr lang="en-US" altLang="zh-CN" dirty="0"/>
              <a:t>NFA </a:t>
            </a:r>
            <a:r>
              <a:rPr lang="zh-CN" altLang="en-US" dirty="0"/>
              <a:t>一样。我们模拟这个 </a:t>
            </a:r>
            <a:r>
              <a:rPr lang="en-US" altLang="zh-CN" dirty="0"/>
              <a:t>DFA</a:t>
            </a:r>
            <a:r>
              <a:rPr lang="zh-CN" altLang="en-US" dirty="0"/>
              <a:t>的运行，直到某一点上没有后继状态为止（或者严格来说，下一个状态是空，即对应于空的 </a:t>
            </a:r>
            <a:r>
              <a:rPr lang="en-US" altLang="zh-CN" dirty="0"/>
              <a:t>NFA</a:t>
            </a:r>
            <a:r>
              <a:rPr lang="zh-CN" altLang="en-US" dirty="0"/>
              <a:t>状态集合的死状态）。此时，我们回头查找我们进入过的状态序列，一旦找到接受状态就执行与该状态相关联的动作。</a:t>
            </a:r>
          </a:p>
          <a:p>
            <a:r>
              <a:rPr lang="zh-CN" altLang="en-US" dirty="0"/>
              <a:t>例 </a:t>
            </a:r>
            <a:r>
              <a:rPr lang="en-US" altLang="zh-CN" dirty="0"/>
              <a:t>3.29</a:t>
            </a:r>
            <a:r>
              <a:rPr lang="zh-CN" altLang="en-US" dirty="0"/>
              <a:t>：假设图 </a:t>
            </a:r>
            <a:r>
              <a:rPr lang="en-US" altLang="zh-CN" dirty="0"/>
              <a:t>3.54 </a:t>
            </a:r>
            <a:r>
              <a:rPr lang="zh-CN" altLang="en-US" dirty="0"/>
              <a:t>的 </a:t>
            </a:r>
            <a:r>
              <a:rPr lang="en-US" altLang="zh-CN" dirty="0"/>
              <a:t>DFA </a:t>
            </a:r>
            <a:r>
              <a:rPr lang="zh-CN" altLang="en-US" dirty="0"/>
              <a:t>的输入为 </a:t>
            </a:r>
            <a:r>
              <a:rPr lang="en-US" altLang="zh-CN" dirty="0" err="1"/>
              <a:t>abba</a:t>
            </a:r>
            <a:r>
              <a:rPr lang="zh-CN" altLang="en-US" dirty="0"/>
              <a:t>。处理输入时的状态序列为</a:t>
            </a:r>
            <a:r>
              <a:rPr lang="en-US" altLang="zh-CN" dirty="0"/>
              <a:t>0137</a:t>
            </a:r>
            <a:r>
              <a:rPr lang="zh-CN" altLang="en-US" dirty="0"/>
              <a:t>； </a:t>
            </a:r>
            <a:r>
              <a:rPr lang="en-US" altLang="zh-CN" dirty="0"/>
              <a:t>247</a:t>
            </a:r>
            <a:r>
              <a:rPr lang="zh-CN" altLang="en-US" dirty="0"/>
              <a:t>； </a:t>
            </a:r>
            <a:r>
              <a:rPr lang="en-US" altLang="zh-CN" dirty="0"/>
              <a:t>58</a:t>
            </a:r>
            <a:r>
              <a:rPr lang="zh-CN" altLang="en-US" dirty="0"/>
              <a:t>； </a:t>
            </a:r>
            <a:r>
              <a:rPr lang="en-US" altLang="zh-CN" dirty="0"/>
              <a:t>68</a:t>
            </a:r>
            <a:r>
              <a:rPr lang="zh-CN" altLang="en-US" dirty="0"/>
              <a:t>，并且在读入最后一个 </a:t>
            </a:r>
            <a:r>
              <a:rPr lang="en-US" altLang="zh-CN" dirty="0"/>
              <a:t>a</a:t>
            </a:r>
            <a:r>
              <a:rPr lang="zh-CN" altLang="en-US" dirty="0"/>
              <a:t>时，没有离开状态 </a:t>
            </a:r>
            <a:r>
              <a:rPr lang="en-US" altLang="zh-CN" dirty="0"/>
              <a:t>68</a:t>
            </a:r>
            <a:r>
              <a:rPr lang="zh-CN" altLang="en-US" dirty="0"/>
              <a:t>的相应转换。因此，我们从后向前考察这个状态序列，在这种情况下，</a:t>
            </a:r>
            <a:r>
              <a:rPr lang="en-US" altLang="zh-CN" dirty="0"/>
              <a:t>68 </a:t>
            </a:r>
            <a:r>
              <a:rPr lang="zh-CN" altLang="en-US" dirty="0"/>
              <a:t>本身是一个接受状态，对应于模式 </a:t>
            </a:r>
            <a:r>
              <a:rPr lang="en-US" altLang="zh-CN" dirty="0"/>
              <a:t>p2 = </a:t>
            </a:r>
            <a:r>
              <a:rPr lang="en-US" altLang="zh-CN" dirty="0" err="1"/>
              <a:t>abb</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85</a:t>
            </a:fld>
            <a:endParaRPr lang="zh-CN" altLang="en-US"/>
          </a:p>
        </p:txBody>
      </p:sp>
    </p:spTree>
    <p:extLst>
      <p:ext uri="{BB962C8B-B14F-4D97-AF65-F5344CB8AC3E}">
        <p14:creationId xmlns:p14="http://schemas.microsoft.com/office/powerpoint/2010/main" val="223390713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可以有多个识别相同语言的</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。例如，请注意图</a:t>
            </a:r>
            <a:r>
              <a:rPr lang="en-US" altLang="zh-CN" sz="1200" kern="1200" dirty="0">
                <a:solidFill>
                  <a:schemeClr val="tx1"/>
                </a:solidFill>
                <a:effectLst/>
                <a:latin typeface="+mn-lt"/>
                <a:ea typeface="+mn-ea"/>
                <a:cs typeface="+mn-cs"/>
              </a:rPr>
              <a:t> 1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2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DFA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3.36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3.63 </a:t>
            </a:r>
            <a:r>
              <a:rPr lang="zh-CN" altLang="zh-CN" sz="1200" kern="1200" dirty="0">
                <a:solidFill>
                  <a:schemeClr val="tx1"/>
                </a:solidFill>
                <a:effectLst/>
                <a:latin typeface="+mn-lt"/>
                <a:ea typeface="+mn-ea"/>
                <a:cs typeface="+mn-cs"/>
              </a:rPr>
              <a:t>都识别语言</a:t>
            </a:r>
            <a:r>
              <a:rPr lang="en-US" altLang="zh-CN" sz="1200" kern="1200" dirty="0">
                <a:solidFill>
                  <a:schemeClr val="tx1"/>
                </a:solidFill>
                <a:effectLst/>
                <a:latin typeface="+mn-lt"/>
                <a:ea typeface="+mn-ea"/>
                <a:cs typeface="+mn-cs"/>
              </a:rPr>
              <a:t> L (a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 </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abb</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。这两个自动机不但各个状态的名字不同，就连它们的的状态个数也不一样。如果我们使用</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来实现词法分析器，我们总是希望使用的</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状态数量尽可能少，因为描述词法分析器的转换表需要为每个状态分配条目。</a:t>
            </a:r>
          </a:p>
          <a:p>
            <a:r>
              <a:rPr lang="zh-CN" altLang="zh-CN" sz="1200" kern="1200" dirty="0">
                <a:solidFill>
                  <a:schemeClr val="tx1"/>
                </a:solidFill>
                <a:effectLst/>
                <a:latin typeface="+mn-lt"/>
                <a:ea typeface="+mn-ea"/>
                <a:cs typeface="+mn-cs"/>
              </a:rPr>
              <a:t>状态名字的问题是次要的。我们可以说，如果只需改变状态名字就可以将一个自动机转换成为另一个自动机，我们就说这两个自动机是同构的。图</a:t>
            </a:r>
            <a:r>
              <a:rPr lang="en-US" altLang="zh-CN" sz="1200" kern="1200" dirty="0">
                <a:solidFill>
                  <a:schemeClr val="tx1"/>
                </a:solidFill>
                <a:effectLst/>
                <a:latin typeface="+mn-lt"/>
                <a:ea typeface="+mn-ea"/>
                <a:cs typeface="+mn-cs"/>
              </a:rPr>
              <a:t> 3.36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3.63</a:t>
            </a:r>
            <a:r>
              <a:rPr lang="zh-CN" altLang="zh-CN" sz="1200" kern="1200" dirty="0">
                <a:solidFill>
                  <a:schemeClr val="tx1"/>
                </a:solidFill>
                <a:effectLst/>
                <a:latin typeface="+mn-lt"/>
                <a:ea typeface="+mn-ea"/>
                <a:cs typeface="+mn-cs"/>
              </a:rPr>
              <a:t>中的两个自动机不是同构的。然而，这两个自动机之间却有着密切的关系。</a:t>
            </a:r>
            <a:endParaRPr lang="zh-CN" alt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3.36 </a:t>
            </a:r>
            <a:r>
              <a:rPr lang="zh-CN" altLang="zh-CN" sz="1200" kern="1200" dirty="0">
                <a:solidFill>
                  <a:schemeClr val="tx1"/>
                </a:solidFill>
                <a:effectLst/>
                <a:latin typeface="+mn-lt"/>
                <a:ea typeface="+mn-ea"/>
                <a:cs typeface="+mn-cs"/>
              </a:rPr>
              <a:t>的状态</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实际上是等价的，因为它们都不是接受状态，并且对任意输入，它们都会转移到相同的状态——在输入</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上转到</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，在输入</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上转到</a:t>
            </a:r>
            <a:r>
              <a:rPr lang="en-US" altLang="zh-CN" sz="1200" kern="1200" dirty="0">
                <a:solidFill>
                  <a:schemeClr val="tx1"/>
                </a:solidFill>
                <a:effectLst/>
                <a:latin typeface="+mn-lt"/>
                <a:ea typeface="+mn-ea"/>
                <a:cs typeface="+mn-cs"/>
              </a:rPr>
              <a:t> C</a:t>
            </a:r>
            <a:r>
              <a:rPr lang="zh-CN" altLang="zh-CN" sz="1200" kern="1200" dirty="0">
                <a:solidFill>
                  <a:schemeClr val="tx1"/>
                </a:solidFill>
                <a:effectLst/>
                <a:latin typeface="+mn-lt"/>
                <a:ea typeface="+mn-ea"/>
                <a:cs typeface="+mn-cs"/>
              </a:rPr>
              <a:t>。此外，状态</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的行为都会图</a:t>
            </a:r>
            <a:r>
              <a:rPr lang="en-US" altLang="zh-CN" sz="1200" kern="1200" dirty="0">
                <a:solidFill>
                  <a:schemeClr val="tx1"/>
                </a:solidFill>
                <a:effectLst/>
                <a:latin typeface="+mn-lt"/>
                <a:ea typeface="+mn-ea"/>
                <a:cs typeface="+mn-cs"/>
              </a:rPr>
              <a:t>3.63</a:t>
            </a:r>
            <a:r>
              <a:rPr lang="zh-CN" altLang="zh-CN" sz="1200" kern="1200" dirty="0">
                <a:solidFill>
                  <a:schemeClr val="tx1"/>
                </a:solidFill>
                <a:effectLst/>
                <a:latin typeface="+mn-lt"/>
                <a:ea typeface="+mn-ea"/>
                <a:cs typeface="+mn-cs"/>
              </a:rPr>
              <a:t>中的状态</a:t>
            </a:r>
            <a:r>
              <a:rPr lang="en-US" altLang="zh-CN" sz="1200" kern="1200" dirty="0">
                <a:solidFill>
                  <a:schemeClr val="tx1"/>
                </a:solidFill>
                <a:effectLst/>
                <a:latin typeface="+mn-lt"/>
                <a:ea typeface="+mn-ea"/>
                <a:cs typeface="+mn-cs"/>
              </a:rPr>
              <a:t>123</a:t>
            </a:r>
            <a:r>
              <a:rPr lang="zh-CN" altLang="zh-CN" sz="1200" kern="1200" dirty="0">
                <a:solidFill>
                  <a:schemeClr val="tx1"/>
                </a:solidFill>
                <a:effectLst/>
                <a:latin typeface="+mn-lt"/>
                <a:ea typeface="+mn-ea"/>
                <a:cs typeface="+mn-cs"/>
              </a:rPr>
              <a:t>相似。同样，图</a:t>
            </a:r>
            <a:r>
              <a:rPr lang="en-US" altLang="zh-CN" sz="1200" kern="1200" dirty="0">
                <a:solidFill>
                  <a:schemeClr val="tx1"/>
                </a:solidFill>
                <a:effectLst/>
                <a:latin typeface="+mn-lt"/>
                <a:ea typeface="+mn-ea"/>
                <a:cs typeface="+mn-cs"/>
              </a:rPr>
              <a:t> 3.36</a:t>
            </a:r>
            <a:r>
              <a:rPr lang="zh-CN" altLang="zh-CN" sz="1200" kern="1200" dirty="0">
                <a:solidFill>
                  <a:schemeClr val="tx1"/>
                </a:solidFill>
                <a:effectLst/>
                <a:latin typeface="+mn-lt"/>
                <a:ea typeface="+mn-ea"/>
                <a:cs typeface="+mn-cs"/>
              </a:rPr>
              <a:t>中的状态</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的行为和图</a:t>
            </a:r>
            <a:r>
              <a:rPr lang="en-US" altLang="zh-CN" sz="1200" kern="1200" dirty="0">
                <a:solidFill>
                  <a:schemeClr val="tx1"/>
                </a:solidFill>
                <a:effectLst/>
                <a:latin typeface="+mn-lt"/>
                <a:ea typeface="+mn-ea"/>
                <a:cs typeface="+mn-cs"/>
              </a:rPr>
              <a:t> 3.63 </a:t>
            </a:r>
            <a:r>
              <a:rPr lang="zh-CN" altLang="zh-CN" sz="1200" kern="1200" dirty="0">
                <a:solidFill>
                  <a:schemeClr val="tx1"/>
                </a:solidFill>
                <a:effectLst/>
                <a:latin typeface="+mn-lt"/>
                <a:ea typeface="+mn-ea"/>
                <a:cs typeface="+mn-cs"/>
              </a:rPr>
              <a:t>中的状态</a:t>
            </a:r>
            <a:r>
              <a:rPr lang="en-US" altLang="zh-CN" sz="1200" kern="1200" dirty="0">
                <a:solidFill>
                  <a:schemeClr val="tx1"/>
                </a:solidFill>
                <a:effectLst/>
                <a:latin typeface="+mn-lt"/>
                <a:ea typeface="+mn-ea"/>
                <a:cs typeface="+mn-cs"/>
              </a:rPr>
              <a:t> 1234</a:t>
            </a:r>
            <a:r>
              <a:rPr lang="zh-CN" altLang="zh-CN" sz="1200" kern="1200" dirty="0">
                <a:solidFill>
                  <a:schemeClr val="tx1"/>
                </a:solidFill>
                <a:effectLst/>
                <a:latin typeface="+mn-lt"/>
                <a:ea typeface="+mn-ea"/>
                <a:cs typeface="+mn-cs"/>
              </a:rPr>
              <a:t>的行为类似，状态</a:t>
            </a:r>
            <a:r>
              <a:rPr lang="en-US" altLang="zh-CN" sz="1200" kern="1200" dirty="0">
                <a:solidFill>
                  <a:schemeClr val="tx1"/>
                </a:solidFill>
                <a:effectLst/>
                <a:latin typeface="+mn-lt"/>
                <a:ea typeface="+mn-ea"/>
                <a:cs typeface="+mn-cs"/>
              </a:rPr>
              <a:t> D</a:t>
            </a:r>
            <a:r>
              <a:rPr lang="zh-CN" altLang="zh-CN" sz="1200" kern="1200" dirty="0">
                <a:solidFill>
                  <a:schemeClr val="tx1"/>
                </a:solidFill>
                <a:effectLst/>
                <a:latin typeface="+mn-lt"/>
                <a:ea typeface="+mn-ea"/>
                <a:cs typeface="+mn-cs"/>
              </a:rPr>
              <a:t>的行为和状态</a:t>
            </a:r>
            <a:r>
              <a:rPr lang="en-US" altLang="zh-CN" sz="1200" kern="1200" dirty="0">
                <a:solidFill>
                  <a:schemeClr val="tx1"/>
                </a:solidFill>
                <a:effectLst/>
                <a:latin typeface="+mn-lt"/>
                <a:ea typeface="+mn-ea"/>
                <a:cs typeface="+mn-cs"/>
              </a:rPr>
              <a:t> 1235</a:t>
            </a:r>
            <a:r>
              <a:rPr lang="zh-CN" altLang="zh-CN" sz="1200" kern="1200" dirty="0">
                <a:solidFill>
                  <a:schemeClr val="tx1"/>
                </a:solidFill>
                <a:effectLst/>
                <a:latin typeface="+mn-lt"/>
                <a:ea typeface="+mn-ea"/>
                <a:cs typeface="+mn-cs"/>
              </a:rPr>
              <a:t>的行为相似，状态</a:t>
            </a:r>
            <a:r>
              <a:rPr lang="en-US" altLang="zh-CN" sz="1200" kern="1200" dirty="0">
                <a:solidFill>
                  <a:schemeClr val="tx1"/>
                </a:solidFill>
                <a:effectLst/>
                <a:latin typeface="+mn-lt"/>
                <a:ea typeface="+mn-ea"/>
                <a:cs typeface="+mn-cs"/>
              </a:rPr>
              <a:t> E</a:t>
            </a:r>
            <a:r>
              <a:rPr lang="zh-CN" altLang="zh-CN" sz="1200" kern="1200" dirty="0">
                <a:solidFill>
                  <a:schemeClr val="tx1"/>
                </a:solidFill>
                <a:effectLst/>
                <a:latin typeface="+mn-lt"/>
                <a:ea typeface="+mn-ea"/>
                <a:cs typeface="+mn-cs"/>
              </a:rPr>
              <a:t>的行为和状态</a:t>
            </a:r>
            <a:r>
              <a:rPr lang="en-US" altLang="zh-CN" sz="1200" kern="1200" dirty="0">
                <a:solidFill>
                  <a:schemeClr val="tx1"/>
                </a:solidFill>
                <a:effectLst/>
                <a:latin typeface="+mn-lt"/>
                <a:ea typeface="+mn-ea"/>
                <a:cs typeface="+mn-cs"/>
              </a:rPr>
              <a:t> 1236</a:t>
            </a:r>
            <a:r>
              <a:rPr lang="zh-CN" altLang="zh-CN" sz="1200" kern="1200" dirty="0">
                <a:solidFill>
                  <a:schemeClr val="tx1"/>
                </a:solidFill>
                <a:effectLst/>
                <a:latin typeface="+mn-lt"/>
                <a:ea typeface="+mn-ea"/>
                <a:cs typeface="+mn-cs"/>
              </a:rPr>
              <a:t>的行为相似。</a:t>
            </a:r>
            <a:endParaRPr lang="zh-CN" alt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可以得出一个重要的结论，任何正则语言都有一个唯一的（不计同构）状态数目最少的</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。此外，从任意一个接受相同语言的</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出发，通过分组合并等价状态，我们总是可以构建得到这个状态数最少的</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a:t>
            </a:r>
            <a:endParaRPr lang="zh-CN" alt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我们将给出一个将任意</a:t>
            </a:r>
            <a:r>
              <a:rPr lang="en-US" altLang="zh-CN" sz="1200" kern="1200" dirty="0">
                <a:solidFill>
                  <a:schemeClr val="tx1"/>
                </a:solidFill>
                <a:effectLst/>
                <a:latin typeface="+mn-lt"/>
                <a:ea typeface="+mn-ea"/>
                <a:cs typeface="+mn-cs"/>
              </a:rPr>
              <a:t>DFA </a:t>
            </a:r>
            <a:r>
              <a:rPr lang="zh-CN" altLang="zh-CN" sz="1200" kern="1200" dirty="0">
                <a:solidFill>
                  <a:schemeClr val="tx1"/>
                </a:solidFill>
                <a:effectLst/>
                <a:latin typeface="+mn-lt"/>
                <a:ea typeface="+mn-ea"/>
                <a:cs typeface="+mn-cs"/>
              </a:rPr>
              <a:t>转换为其最小状态等效</a:t>
            </a:r>
            <a:r>
              <a:rPr lang="en-US" altLang="zh-CN" sz="1200" kern="1200" dirty="0">
                <a:solidFill>
                  <a:schemeClr val="tx1"/>
                </a:solidFill>
                <a:effectLst/>
                <a:latin typeface="+mn-lt"/>
                <a:ea typeface="+mn-ea"/>
                <a:cs typeface="+mn-cs"/>
              </a:rPr>
              <a:t> DFA</a:t>
            </a:r>
            <a:r>
              <a:rPr lang="zh-CN" altLang="zh-CN" sz="1200" kern="1200" dirty="0">
                <a:solidFill>
                  <a:schemeClr val="tx1"/>
                </a:solidFill>
                <a:effectLst/>
                <a:latin typeface="+mn-lt"/>
                <a:ea typeface="+mn-ea"/>
                <a:cs typeface="+mn-cs"/>
              </a:rPr>
              <a:t>的算法。该算法首先创建输入</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的状态集合的划分。为理解这个算法，我们要了解输入串是如何区分各个状态的。如果分别从状态</a:t>
            </a:r>
            <a:r>
              <a:rPr lang="en-US" altLang="zh-CN" sz="1200" kern="1200" dirty="0">
                <a:solidFill>
                  <a:schemeClr val="tx1"/>
                </a:solidFill>
                <a:effectLst/>
                <a:latin typeface="+mn-lt"/>
                <a:ea typeface="+mn-ea"/>
                <a:cs typeface="+mn-cs"/>
              </a:rPr>
              <a:t> s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t</a:t>
            </a:r>
            <a:r>
              <a:rPr lang="zh-CN" altLang="zh-CN" sz="1200" kern="1200" dirty="0">
                <a:solidFill>
                  <a:schemeClr val="tx1"/>
                </a:solidFill>
                <a:effectLst/>
                <a:latin typeface="+mn-lt"/>
                <a:ea typeface="+mn-ea"/>
                <a:cs typeface="+mn-cs"/>
              </a:rPr>
              <a:t>出发，沿着标号为ｘ的路径到达的两个状态中只有一个是接受状态，则字符串</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区分状态</a:t>
            </a:r>
            <a:r>
              <a:rPr lang="en-US" altLang="zh-CN" sz="1200" kern="1200" dirty="0">
                <a:solidFill>
                  <a:schemeClr val="tx1"/>
                </a:solidFill>
                <a:effectLst/>
                <a:latin typeface="+mn-lt"/>
                <a:ea typeface="+mn-ea"/>
                <a:cs typeface="+mn-cs"/>
              </a:rPr>
              <a:t> s </a:t>
            </a:r>
            <a:r>
              <a:rPr lang="zh-CN" altLang="zh-CN" sz="1200" kern="1200" dirty="0">
                <a:solidFill>
                  <a:schemeClr val="tx1"/>
                </a:solidFill>
                <a:effectLst/>
                <a:latin typeface="+mn-lt"/>
                <a:ea typeface="+mn-ea"/>
                <a:cs typeface="+mn-cs"/>
              </a:rPr>
              <a:t>和状态</a:t>
            </a:r>
            <a:r>
              <a:rPr lang="en-US" altLang="zh-CN" sz="1200" kern="1200" dirty="0">
                <a:solidFill>
                  <a:schemeClr val="tx1"/>
                </a:solidFill>
                <a:effectLst/>
                <a:latin typeface="+mn-lt"/>
                <a:ea typeface="+mn-ea"/>
                <a:cs typeface="+mn-cs"/>
              </a:rPr>
              <a:t> t</a:t>
            </a:r>
            <a:r>
              <a:rPr lang="zh-CN" altLang="zh-CN" sz="1200" kern="1200" dirty="0">
                <a:solidFill>
                  <a:schemeClr val="tx1"/>
                </a:solidFill>
                <a:effectLst/>
                <a:latin typeface="+mn-lt"/>
                <a:ea typeface="+mn-ea"/>
                <a:cs typeface="+mn-cs"/>
              </a:rPr>
              <a:t>。如果存在某个能够区分状态ｓ和状态</a:t>
            </a:r>
            <a:r>
              <a:rPr lang="en-US" altLang="zh-CN" sz="1200" kern="1200" dirty="0">
                <a:solidFill>
                  <a:schemeClr val="tx1"/>
                </a:solidFill>
                <a:effectLst/>
                <a:latin typeface="+mn-lt"/>
                <a:ea typeface="+mn-ea"/>
                <a:cs typeface="+mn-cs"/>
              </a:rPr>
              <a:t> t</a:t>
            </a:r>
            <a:r>
              <a:rPr lang="zh-CN" altLang="zh-CN" sz="1200" kern="1200" dirty="0">
                <a:solidFill>
                  <a:schemeClr val="tx1"/>
                </a:solidFill>
                <a:effectLst/>
                <a:latin typeface="+mn-lt"/>
                <a:ea typeface="+mn-ea"/>
                <a:cs typeface="+mn-cs"/>
              </a:rPr>
              <a:t>的串，那么它们就是可区分的。</a:t>
            </a:r>
          </a:p>
          <a:p>
            <a:endParaRPr lang="en-US" altLang="zh-CN" dirty="0"/>
          </a:p>
          <a:p>
            <a:r>
              <a:rPr lang="zh-CN" altLang="en-US" dirty="0"/>
              <a:t>• 状态</a:t>
            </a:r>
            <a:r>
              <a:rPr lang="en-US" altLang="zh-CN" dirty="0"/>
              <a:t>s</a:t>
            </a:r>
            <a:r>
              <a:rPr lang="zh-CN" altLang="en-US" dirty="0"/>
              <a:t>和</a:t>
            </a:r>
            <a:r>
              <a:rPr lang="en-US" altLang="zh-CN" dirty="0"/>
              <a:t>t</a:t>
            </a:r>
            <a:r>
              <a:rPr lang="zh-CN" altLang="en-US" dirty="0"/>
              <a:t>可区分：</a:t>
            </a:r>
          </a:p>
          <a:p>
            <a:pPr lvl="1"/>
            <a:r>
              <a:rPr lang="zh-CN" altLang="en-US" dirty="0">
                <a:sym typeface="+mn-ea"/>
              </a:rPr>
              <a:t>▪ 存在一个串</a:t>
            </a:r>
            <a:r>
              <a:rPr lang="en-US" altLang="zh-CN" dirty="0">
                <a:sym typeface="+mn-ea"/>
              </a:rPr>
              <a:t>x</a:t>
            </a:r>
            <a:r>
              <a:rPr lang="zh-CN" altLang="en-US" dirty="0">
                <a:sym typeface="+mn-ea"/>
              </a:rPr>
              <a:t>，使得</a:t>
            </a:r>
            <a:r>
              <a:rPr lang="zh-CN" altLang="en-US" dirty="0"/>
              <a:t>从 s和 t 出发的所经历的状态路径中，恰好有一个状态是接受状态，我们就说字符串 x 将状态 s与状态 t 区分开来。</a:t>
            </a:r>
          </a:p>
          <a:p>
            <a:pPr lvl="1"/>
            <a:r>
              <a:rPr lang="zh-CN" altLang="en-US" dirty="0"/>
              <a:t>▪ 如果存在某种字符串可将状态 s 和 t 区分开来，则这两个状态是可区分的</a:t>
            </a:r>
          </a:p>
          <a:p>
            <a:r>
              <a:rPr lang="zh-CN" altLang="en-US" dirty="0"/>
              <a:t>• 不可区分的状态是等价的，可以合并</a:t>
            </a:r>
          </a:p>
          <a:p>
            <a:endParaRPr lang="zh-CN" altLang="en-US" dirty="0"/>
          </a:p>
          <a:p>
            <a:r>
              <a:rPr lang="zh-CN" altLang="en-US" dirty="0"/>
              <a:t>空字符串去跟任何接受状态和非接收状态</a:t>
            </a:r>
          </a:p>
          <a:p>
            <a:r>
              <a:rPr lang="zh-CN" altLang="en-US" dirty="0"/>
              <a:t>字符串 bb 将状态 A 与状态 B 区分开来，因为 bb 将 A 带入非接受状态 C，而将 B带入接受状态 E。</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zh-CN" sz="1200" kern="1200" dirty="0">
                <a:solidFill>
                  <a:schemeClr val="tx1"/>
                </a:solidFill>
                <a:effectLst/>
                <a:latin typeface="+mn-lt"/>
                <a:ea typeface="+mn-ea"/>
                <a:cs typeface="+mn-cs"/>
              </a:rPr>
              <a:t>状态最小化算法的工作原理是将 一个</a:t>
            </a:r>
            <a:r>
              <a:rPr lang="en-US" altLang="zh-CN" sz="1200" kern="1200" dirty="0">
                <a:solidFill>
                  <a:schemeClr val="tx1"/>
                </a:solidFill>
                <a:effectLst/>
                <a:latin typeface="+mn-lt"/>
                <a:ea typeface="+mn-ea"/>
                <a:cs typeface="+mn-cs"/>
              </a:rPr>
              <a:t>DFA </a:t>
            </a:r>
            <a:r>
              <a:rPr lang="zh-CN" altLang="zh-CN" sz="1200" kern="1200" dirty="0">
                <a:solidFill>
                  <a:schemeClr val="tx1"/>
                </a:solidFill>
                <a:effectLst/>
                <a:latin typeface="+mn-lt"/>
                <a:ea typeface="+mn-ea"/>
                <a:cs typeface="+mn-cs"/>
              </a:rPr>
              <a:t>的状态集合划分为多个组，每个组中的各个状态之间相互不可区分。然后，将每个组中的状态合并为状态最少</a:t>
            </a:r>
            <a:r>
              <a:rPr lang="en-US" altLang="zh-CN" sz="1200" kern="1200" dirty="0">
                <a:solidFill>
                  <a:schemeClr val="tx1"/>
                </a:solidFill>
                <a:effectLst/>
                <a:latin typeface="+mn-lt"/>
                <a:ea typeface="+mn-ea"/>
                <a:cs typeface="+mn-cs"/>
              </a:rPr>
              <a:t>DFA </a:t>
            </a:r>
            <a:r>
              <a:rPr lang="zh-CN" altLang="zh-CN" sz="1200" kern="1200" dirty="0">
                <a:solidFill>
                  <a:schemeClr val="tx1"/>
                </a:solidFill>
                <a:effectLst/>
                <a:latin typeface="+mn-lt"/>
                <a:ea typeface="+mn-ea"/>
                <a:cs typeface="+mn-cs"/>
              </a:rPr>
              <a:t>的一个状态。算法在执行过程中了状态集合的一个划分，分划中的每个组内的各个状态尚不能区分，但是来自不同组的任意两个状态是可区分的。当任意一个组都不能再被分解为更小的组时，这个分划就不能进一步精化，此时我们就有了最小状态</a:t>
            </a:r>
            <a:r>
              <a:rPr lang="en-US" altLang="zh-CN" sz="1200" kern="1200" dirty="0">
                <a:solidFill>
                  <a:schemeClr val="tx1"/>
                </a:solidFill>
                <a:effectLst/>
                <a:latin typeface="+mn-lt"/>
                <a:ea typeface="+mn-ea"/>
                <a:cs typeface="+mn-cs"/>
              </a:rPr>
              <a:t> DFA</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最初，该分区由两个组组成：接受状态和不接受状态。算法的基本步骤是从当前分区中取一个状态组，例如</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s1 ;s2 ;::: ;</a:t>
            </a:r>
            <a:r>
              <a:rPr lang="en-US" altLang="zh-CN" sz="1200" kern="1200" dirty="0" err="1">
                <a:solidFill>
                  <a:schemeClr val="tx1"/>
                </a:solidFill>
                <a:effectLst/>
                <a:latin typeface="+mn-lt"/>
                <a:ea typeface="+mn-ea"/>
                <a:cs typeface="+mn-cs"/>
              </a:rPr>
              <a:t>sk</a:t>
            </a:r>
            <a:r>
              <a:rPr lang="zh-CN" altLang="zh-CN" sz="1200" kern="1200" dirty="0">
                <a:solidFill>
                  <a:schemeClr val="tx1"/>
                </a:solidFill>
                <a:effectLst/>
                <a:latin typeface="+mn-lt"/>
                <a:ea typeface="+mn-ea"/>
                <a:cs typeface="+mn-cs"/>
              </a:rPr>
              <a:t>｝，并选定某个输入符号</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，查看</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是否可以用于区分</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中的某些状态。我们检查输入</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上每个</a:t>
            </a:r>
            <a:r>
              <a:rPr lang="en-US" altLang="zh-CN" sz="1200" kern="1200" dirty="0">
                <a:solidFill>
                  <a:schemeClr val="tx1"/>
                </a:solidFill>
                <a:effectLst/>
                <a:latin typeface="+mn-lt"/>
                <a:ea typeface="+mn-ea"/>
                <a:cs typeface="+mn-cs"/>
              </a:rPr>
              <a:t> s1 ;s2 ;::: ;</a:t>
            </a:r>
            <a:r>
              <a:rPr lang="en-US" altLang="zh-CN" sz="1200" kern="1200" dirty="0" err="1">
                <a:solidFill>
                  <a:schemeClr val="tx1"/>
                </a:solidFill>
                <a:effectLst/>
                <a:latin typeface="+mn-lt"/>
                <a:ea typeface="+mn-ea"/>
                <a:cs typeface="+mn-cs"/>
              </a:rPr>
              <a:t>sk</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的转换，如果这些转换达到的状态落入当前分区的两个或多个组，我们就将</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分成多个组，使得</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si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sj</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在同一组中当且仅当它们在输入</a:t>
            </a:r>
            <a:r>
              <a:rPr lang="en-US" altLang="zh-CN" sz="1200" kern="1200" dirty="0">
                <a:solidFill>
                  <a:schemeClr val="tx1"/>
                </a:solidFill>
                <a:effectLst/>
                <a:latin typeface="+mn-lt"/>
                <a:ea typeface="+mn-ea"/>
                <a:cs typeface="+mn-cs"/>
              </a:rPr>
              <a:t> a </a:t>
            </a:r>
            <a:r>
              <a:rPr lang="zh-CN" altLang="zh-CN" sz="1200" kern="1200">
                <a:solidFill>
                  <a:schemeClr val="tx1"/>
                </a:solidFill>
                <a:effectLst/>
                <a:latin typeface="+mn-lt"/>
                <a:ea typeface="+mn-ea"/>
                <a:cs typeface="+mn-cs"/>
              </a:rPr>
              <a:t>上的转换都到达同一个组的状态。我们重复这个分割过程，直到无法根据某个输入符号对任意个组进行分割为止。该思想体现在下面的算法中。</a:t>
            </a:r>
          </a:p>
          <a:p>
            <a:endParaRPr lang="zh-CN" alt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en-US" altLang="zh-CN" dirty="0"/>
              <a:t>1. </a:t>
            </a:r>
            <a:r>
              <a:rPr lang="zh-CN" altLang="en-US" dirty="0"/>
              <a:t>首先构造包含两个组 </a:t>
            </a:r>
            <a:r>
              <a:rPr lang="en-US" altLang="zh-CN" dirty="0"/>
              <a:t>F </a:t>
            </a:r>
            <a:r>
              <a:rPr lang="zh-CN" altLang="en-US" dirty="0"/>
              <a:t>和 </a:t>
            </a:r>
            <a:r>
              <a:rPr lang="en-US" altLang="zh-CN" dirty="0"/>
              <a:t>S</a:t>
            </a:r>
            <a:r>
              <a:rPr lang="zh-CN" altLang="en-US" dirty="0"/>
              <a:t>－ </a:t>
            </a:r>
            <a:r>
              <a:rPr lang="en-US" altLang="zh-CN" dirty="0"/>
              <a:t>F </a:t>
            </a:r>
            <a:r>
              <a:rPr lang="zh-CN" altLang="en-US" dirty="0"/>
              <a:t>的初始划分，这两个组分别是 </a:t>
            </a:r>
            <a:r>
              <a:rPr lang="en-US" altLang="zh-CN" dirty="0"/>
              <a:t>D </a:t>
            </a:r>
            <a:r>
              <a:rPr lang="zh-CN" altLang="en-US" dirty="0"/>
              <a:t>的接受状态组和不接受状态组。 </a:t>
            </a:r>
          </a:p>
          <a:p>
            <a:r>
              <a:rPr lang="en-US" altLang="zh-CN" dirty="0"/>
              <a:t>2. </a:t>
            </a:r>
            <a:r>
              <a:rPr lang="zh-CN" altLang="en-US" dirty="0"/>
              <a:t>应用图 </a:t>
            </a:r>
            <a:r>
              <a:rPr lang="en-US" altLang="zh-CN" dirty="0"/>
              <a:t>3.64 </a:t>
            </a:r>
            <a:r>
              <a:rPr lang="zh-CN" altLang="en-US" dirty="0"/>
              <a:t>的过程构建一个新分区 </a:t>
            </a:r>
            <a:r>
              <a:rPr lang="en-US" altLang="zh-CN" dirty="0"/>
              <a:t>new </a:t>
            </a:r>
            <a:r>
              <a:rPr lang="zh-CN" altLang="en-US" dirty="0"/>
              <a:t>。</a:t>
            </a:r>
          </a:p>
          <a:p>
            <a:r>
              <a:rPr lang="zh-CN" altLang="en-US" dirty="0"/>
              <a:t>最初，让 </a:t>
            </a:r>
            <a:r>
              <a:rPr lang="en-US" altLang="zh-CN" dirty="0"/>
              <a:t>new = ;</a:t>
            </a:r>
            <a:r>
              <a:rPr lang="zh-CN" altLang="en-US" dirty="0"/>
              <a:t>　ｆｏｒ </a:t>
            </a:r>
            <a:r>
              <a:rPr lang="en-US" altLang="zh-CN" dirty="0"/>
              <a:t>( </a:t>
            </a:r>
            <a:r>
              <a:rPr lang="zh-CN" altLang="en-US" dirty="0"/>
              <a:t>的每个组 </a:t>
            </a:r>
            <a:r>
              <a:rPr lang="en-US" altLang="zh-CN" dirty="0"/>
              <a:t>G ) f </a:t>
            </a:r>
            <a:r>
              <a:rPr lang="zh-CN" altLang="en-US" dirty="0"/>
              <a:t>将 </a:t>
            </a:r>
            <a:r>
              <a:rPr lang="en-US" altLang="zh-CN" dirty="0"/>
              <a:t>G </a:t>
            </a:r>
            <a:r>
              <a:rPr lang="zh-CN" altLang="en-US" dirty="0"/>
              <a:t>划分为子组，使得两个状态 </a:t>
            </a:r>
            <a:r>
              <a:rPr lang="en-US" altLang="zh-CN" dirty="0"/>
              <a:t>s </a:t>
            </a:r>
            <a:r>
              <a:rPr lang="zh-CN" altLang="en-US" dirty="0"/>
              <a:t>和 </a:t>
            </a:r>
            <a:r>
              <a:rPr lang="en-US" altLang="zh-CN" dirty="0"/>
              <a:t>t </a:t>
            </a:r>
            <a:r>
              <a:rPr lang="zh-CN" altLang="en-US" dirty="0"/>
              <a:t>位于同一子组中当且仅当对于所有输入符号 </a:t>
            </a:r>
            <a:r>
              <a:rPr lang="en-US" altLang="zh-CN" dirty="0"/>
              <a:t>a</a:t>
            </a:r>
            <a:r>
              <a:rPr lang="zh-CN" altLang="en-US" dirty="0"/>
              <a:t>，状态 </a:t>
            </a:r>
            <a:r>
              <a:rPr lang="en-US" altLang="zh-CN" dirty="0"/>
              <a:t>s </a:t>
            </a:r>
            <a:r>
              <a:rPr lang="zh-CN" altLang="en-US" dirty="0"/>
              <a:t>和 </a:t>
            </a:r>
            <a:r>
              <a:rPr lang="en-US" altLang="zh-CN" dirty="0"/>
              <a:t>t </a:t>
            </a:r>
            <a:r>
              <a:rPr lang="zh-CN" altLang="en-US" dirty="0"/>
              <a:t>在 </a:t>
            </a:r>
            <a:r>
              <a:rPr lang="en-US" altLang="zh-CN" dirty="0"/>
              <a:t>a </a:t>
            </a:r>
            <a:r>
              <a:rPr lang="zh-CN" altLang="en-US" dirty="0"/>
              <a:t>上有到同一组中状态的转换</a:t>
            </a:r>
            <a:r>
              <a:rPr lang="en-US" altLang="zh-CN" dirty="0"/>
              <a:t>; /* </a:t>
            </a:r>
            <a:r>
              <a:rPr lang="zh-CN" altLang="en-US" dirty="0"/>
              <a:t>在最坏的情况下，状态本身将成为一个子群 *</a:t>
            </a:r>
            <a:r>
              <a:rPr lang="en-US" altLang="zh-CN" dirty="0"/>
              <a:t>/ </a:t>
            </a:r>
            <a:r>
              <a:rPr lang="zh-CN" altLang="en-US" dirty="0"/>
              <a:t>将 </a:t>
            </a:r>
            <a:r>
              <a:rPr lang="en-US" altLang="zh-CN" dirty="0"/>
              <a:t>new </a:t>
            </a:r>
            <a:r>
              <a:rPr lang="zh-CN" altLang="en-US" dirty="0"/>
              <a:t>中的 </a:t>
            </a:r>
            <a:r>
              <a:rPr lang="en-US" altLang="zh-CN" dirty="0"/>
              <a:t>G </a:t>
            </a:r>
            <a:r>
              <a:rPr lang="zh-CN" altLang="en-US" dirty="0"/>
              <a:t>替换为形成的所有子群的集合； </a:t>
            </a:r>
            <a:r>
              <a:rPr lang="en-US" altLang="zh-CN" dirty="0"/>
              <a:t>g </a:t>
            </a:r>
            <a:r>
              <a:rPr lang="zh-CN" altLang="en-US" dirty="0"/>
              <a:t>图 </a:t>
            </a:r>
            <a:r>
              <a:rPr lang="en-US" altLang="zh-CN" dirty="0"/>
              <a:t>3.64</a:t>
            </a:r>
            <a:r>
              <a:rPr lang="zh-CN" altLang="en-US" dirty="0"/>
              <a:t>：构造 </a:t>
            </a:r>
            <a:r>
              <a:rPr lang="en-US" altLang="zh-CN" dirty="0"/>
              <a:t>new </a:t>
            </a:r>
          </a:p>
          <a:p>
            <a:r>
              <a:rPr lang="en-US" altLang="zh-CN" dirty="0"/>
              <a:t>3. </a:t>
            </a:r>
            <a:r>
              <a:rPr lang="zh-CN" altLang="en-US" dirty="0"/>
              <a:t>如果 </a:t>
            </a:r>
            <a:r>
              <a:rPr lang="en-US" altLang="zh-CN" dirty="0"/>
              <a:t>new = </a:t>
            </a:r>
            <a:r>
              <a:rPr lang="zh-CN" altLang="en-US" dirty="0"/>
              <a:t>，令 ｆｉ</a:t>
            </a:r>
            <a:r>
              <a:rPr lang="en-US" altLang="zh-CN" dirty="0" err="1"/>
              <a:t>nal</a:t>
            </a:r>
            <a:r>
              <a:rPr lang="en-US" altLang="zh-CN" dirty="0"/>
              <a:t> = </a:t>
            </a:r>
            <a:r>
              <a:rPr lang="zh-CN" altLang="en-US" dirty="0"/>
              <a:t>并继续步骤 </a:t>
            </a:r>
            <a:r>
              <a:rPr lang="en-US" altLang="zh-CN" dirty="0"/>
              <a:t>(4)</a:t>
            </a:r>
            <a:r>
              <a:rPr lang="zh-CN" altLang="en-US" dirty="0"/>
              <a:t>。否则，用ｎｅｗ替换　并重复步骤 </a:t>
            </a:r>
            <a:r>
              <a:rPr lang="en-US" altLang="zh-CN" dirty="0"/>
              <a:t>(2) </a:t>
            </a:r>
            <a:r>
              <a:rPr lang="zh-CN" altLang="en-US" dirty="0"/>
              <a:t>。 </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en-US" altLang="zh-CN" sz="1200" kern="1200" dirty="0">
                <a:solidFill>
                  <a:schemeClr val="tx1"/>
                </a:solidFill>
                <a:effectLst/>
                <a:latin typeface="+mn-lt"/>
                <a:ea typeface="+mn-ea"/>
                <a:cs typeface="+mn-cs"/>
              </a:rPr>
              <a:t>4. </a:t>
            </a:r>
            <a:r>
              <a:rPr lang="zh-CN" altLang="zh-CN" sz="1200" kern="1200" dirty="0">
                <a:solidFill>
                  <a:schemeClr val="tx1"/>
                </a:solidFill>
                <a:effectLst/>
                <a:latin typeface="+mn-lt"/>
                <a:ea typeface="+mn-ea"/>
                <a:cs typeface="+mn-cs"/>
              </a:rPr>
              <a:t>在 分化</a:t>
            </a:r>
            <a:r>
              <a:rPr lang="en-US" altLang="zh-CN" sz="1200" kern="1200" dirty="0">
                <a:solidFill>
                  <a:schemeClr val="tx1"/>
                </a:solidFill>
                <a:effectLst/>
                <a:latin typeface="+mn-lt"/>
                <a:ea typeface="+mn-ea"/>
                <a:cs typeface="+mn-cs"/>
              </a:rPr>
              <a:t>final</a:t>
            </a:r>
            <a:r>
              <a:rPr lang="zh-CN" altLang="zh-CN" sz="1200" kern="1200" dirty="0">
                <a:solidFill>
                  <a:schemeClr val="tx1"/>
                </a:solidFill>
                <a:effectLst/>
                <a:latin typeface="+mn-lt"/>
                <a:ea typeface="+mn-ea"/>
                <a:cs typeface="+mn-cs"/>
              </a:rPr>
              <a:t>的每组中选择一个状态做为该组的代表。这些代表构成了状态最少</a:t>
            </a:r>
            <a:r>
              <a:rPr lang="en-US" altLang="zh-CN" sz="1200" kern="1200" dirty="0">
                <a:solidFill>
                  <a:schemeClr val="tx1"/>
                </a:solidFill>
                <a:effectLst/>
                <a:latin typeface="+mn-lt"/>
                <a:ea typeface="+mn-ea"/>
                <a:cs typeface="+mn-cs"/>
              </a:rPr>
              <a:t> DFA D</a:t>
            </a:r>
            <a:r>
              <a:rPr lang="zh-CN" altLang="zh-CN" sz="1200" kern="1200" dirty="0">
                <a:solidFill>
                  <a:schemeClr val="tx1"/>
                </a:solidFill>
                <a:effectLst/>
                <a:latin typeface="+mn-lt"/>
                <a:ea typeface="+mn-ea"/>
                <a:cs typeface="+mn-cs"/>
              </a:rPr>
              <a:t>‘ 的状态。</a:t>
            </a:r>
            <a:r>
              <a:rPr lang="en-US" altLang="zh-CN" sz="1200" kern="1200" dirty="0">
                <a:solidFill>
                  <a:schemeClr val="tx1"/>
                </a:solidFill>
                <a:effectLst/>
                <a:latin typeface="+mn-lt"/>
                <a:ea typeface="+mn-ea"/>
                <a:cs typeface="+mn-cs"/>
              </a:rPr>
              <a:t> D</a:t>
            </a:r>
            <a:r>
              <a:rPr lang="zh-CN" altLang="zh-CN" sz="1200" kern="1200" dirty="0">
                <a:solidFill>
                  <a:schemeClr val="tx1"/>
                </a:solidFill>
                <a:effectLst/>
                <a:latin typeface="+mn-lt"/>
                <a:ea typeface="+mn-ea"/>
                <a:cs typeface="+mn-cs"/>
              </a:rPr>
              <a:t>’ 的其他部分按照如下步骤构建：</a:t>
            </a:r>
          </a:p>
          <a:p>
            <a:pPr lvl="0"/>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 的起始状态是包含</a:t>
            </a:r>
            <a:r>
              <a:rPr lang="en-US" altLang="zh-CN" sz="1200" kern="1200" dirty="0">
                <a:solidFill>
                  <a:schemeClr val="tx1"/>
                </a:solidFill>
                <a:effectLst/>
                <a:latin typeface="+mn-lt"/>
                <a:ea typeface="+mn-ea"/>
                <a:cs typeface="+mn-cs"/>
              </a:rPr>
              <a:t>D </a:t>
            </a:r>
            <a:r>
              <a:rPr lang="zh-CN" altLang="zh-CN" sz="1200" kern="1200" dirty="0">
                <a:solidFill>
                  <a:schemeClr val="tx1"/>
                </a:solidFill>
                <a:effectLst/>
                <a:latin typeface="+mn-lt"/>
                <a:ea typeface="+mn-ea"/>
                <a:cs typeface="+mn-cs"/>
              </a:rPr>
              <a:t>的起始状态的组的代表。 </a:t>
            </a:r>
          </a:p>
          <a:p>
            <a:pPr lvl="0"/>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　的接受状态是那些包含</a:t>
            </a:r>
            <a:r>
              <a:rPr lang="en-US" altLang="zh-CN" sz="1200" kern="1200" dirty="0">
                <a:solidFill>
                  <a:schemeClr val="tx1"/>
                </a:solidFill>
                <a:effectLst/>
                <a:latin typeface="+mn-lt"/>
                <a:ea typeface="+mn-ea"/>
                <a:cs typeface="+mn-cs"/>
              </a:rPr>
              <a:t> D</a:t>
            </a:r>
            <a:r>
              <a:rPr lang="zh-CN" altLang="zh-CN" sz="1200" kern="1200" dirty="0">
                <a:solidFill>
                  <a:schemeClr val="tx1"/>
                </a:solidFill>
                <a:effectLst/>
                <a:latin typeface="+mn-lt"/>
                <a:ea typeface="+mn-ea"/>
                <a:cs typeface="+mn-cs"/>
              </a:rPr>
              <a:t>的接受状态的组的代表。请注意，每个组要么只包含接受状态，要么只包含不接受状态，因为我们一开始就将这两类状态分开了，而图</a:t>
            </a:r>
            <a:r>
              <a:rPr lang="en-US" altLang="zh-CN" sz="1200" kern="1200" dirty="0">
                <a:solidFill>
                  <a:schemeClr val="tx1"/>
                </a:solidFill>
                <a:effectLst/>
                <a:latin typeface="+mn-lt"/>
                <a:ea typeface="+mn-ea"/>
                <a:cs typeface="+mn-cs"/>
              </a:rPr>
              <a:t> 3.64</a:t>
            </a:r>
            <a:r>
              <a:rPr lang="zh-CN" altLang="zh-CN" sz="1200" kern="1200" dirty="0">
                <a:solidFill>
                  <a:schemeClr val="tx1"/>
                </a:solidFill>
                <a:effectLst/>
                <a:latin typeface="+mn-lt"/>
                <a:ea typeface="+mn-ea"/>
                <a:cs typeface="+mn-cs"/>
              </a:rPr>
              <a:t>中 的过程总是通过分解已经构造得到的组来得到新的组。</a:t>
            </a:r>
          </a:p>
          <a:p>
            <a:pPr lvl="0"/>
            <a:r>
              <a:rPr lang="zh-CN" altLang="zh-CN" sz="1200" kern="1200" dirty="0">
                <a:solidFill>
                  <a:schemeClr val="tx1"/>
                </a:solidFill>
                <a:effectLst/>
                <a:latin typeface="+mn-lt"/>
                <a:ea typeface="+mn-ea"/>
                <a:cs typeface="+mn-cs"/>
              </a:rPr>
              <a:t>设</a:t>
            </a:r>
            <a:r>
              <a:rPr lang="en-US" altLang="zh-CN" sz="1200" kern="1200" dirty="0">
                <a:solidFill>
                  <a:schemeClr val="tx1"/>
                </a:solidFill>
                <a:effectLst/>
                <a:latin typeface="+mn-lt"/>
                <a:ea typeface="+mn-ea"/>
                <a:cs typeface="+mn-cs"/>
              </a:rPr>
              <a:t> s </a:t>
            </a:r>
            <a:r>
              <a:rPr lang="zh-CN" altLang="zh-CN" sz="1200" kern="1200" dirty="0">
                <a:solidFill>
                  <a:schemeClr val="tx1"/>
                </a:solidFill>
                <a:effectLst/>
                <a:latin typeface="+mn-lt"/>
                <a:ea typeface="+mn-ea"/>
                <a:cs typeface="+mn-cs"/>
              </a:rPr>
              <a:t>为 </a:t>
            </a:r>
            <a:r>
              <a:rPr lang="en-US" altLang="zh-CN" sz="1200" kern="1200" dirty="0">
                <a:solidFill>
                  <a:schemeClr val="tx1"/>
                </a:solidFill>
                <a:effectLst/>
                <a:latin typeface="+mn-lt"/>
                <a:ea typeface="+mn-ea"/>
                <a:cs typeface="+mn-cs"/>
              </a:rPr>
              <a:t>final</a:t>
            </a:r>
            <a:r>
              <a:rPr lang="zh-CN" altLang="zh-CN" sz="1200" kern="1200" dirty="0">
                <a:solidFill>
                  <a:schemeClr val="tx1"/>
                </a:solidFill>
                <a:effectLst/>
                <a:latin typeface="+mn-lt"/>
                <a:ea typeface="+mn-ea"/>
                <a:cs typeface="+mn-cs"/>
              </a:rPr>
              <a:t>的某个组</a:t>
            </a:r>
            <a:r>
              <a:rPr lang="en-US" altLang="zh-CN" sz="1200" kern="1200" dirty="0">
                <a:solidFill>
                  <a:schemeClr val="tx1"/>
                </a:solidFill>
                <a:effectLst/>
                <a:latin typeface="+mn-lt"/>
                <a:ea typeface="+mn-ea"/>
                <a:cs typeface="+mn-cs"/>
              </a:rPr>
              <a:t> G </a:t>
            </a:r>
            <a:r>
              <a:rPr lang="zh-CN" altLang="zh-CN" sz="1200" kern="1200" dirty="0">
                <a:solidFill>
                  <a:schemeClr val="tx1"/>
                </a:solidFill>
                <a:effectLst/>
                <a:latin typeface="+mn-lt"/>
                <a:ea typeface="+mn-ea"/>
                <a:cs typeface="+mn-cs"/>
              </a:rPr>
              <a:t>的代表，并设 </a:t>
            </a:r>
            <a:r>
              <a:rPr lang="en-US" altLang="zh-CN" sz="1200" kern="1200" dirty="0">
                <a:solidFill>
                  <a:schemeClr val="tx1"/>
                </a:solidFill>
                <a:effectLst/>
                <a:latin typeface="+mn-lt"/>
                <a:ea typeface="+mn-ea"/>
                <a:cs typeface="+mn-cs"/>
              </a:rPr>
              <a:t>DFA</a:t>
            </a:r>
            <a:r>
              <a:rPr lang="zh-CN" altLang="zh-CN"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D </a:t>
            </a:r>
            <a:r>
              <a:rPr lang="zh-CN" altLang="zh-CN" sz="1200" kern="1200" dirty="0">
                <a:solidFill>
                  <a:schemeClr val="tx1"/>
                </a:solidFill>
                <a:effectLst/>
                <a:latin typeface="+mn-lt"/>
                <a:ea typeface="+mn-ea"/>
                <a:cs typeface="+mn-cs"/>
              </a:rPr>
              <a:t>从输入</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上离开状态</a:t>
            </a:r>
            <a:r>
              <a:rPr lang="en-US" altLang="zh-CN" sz="1200" kern="1200" dirty="0">
                <a:solidFill>
                  <a:schemeClr val="tx1"/>
                </a:solidFill>
                <a:effectLst/>
                <a:latin typeface="+mn-lt"/>
                <a:ea typeface="+mn-ea"/>
                <a:cs typeface="+mn-cs"/>
              </a:rPr>
              <a:t> s </a:t>
            </a:r>
            <a:r>
              <a:rPr lang="zh-CN" altLang="zh-CN" sz="1200" kern="1200" dirty="0">
                <a:solidFill>
                  <a:schemeClr val="tx1"/>
                </a:solidFill>
                <a:effectLst/>
                <a:latin typeface="+mn-lt"/>
                <a:ea typeface="+mn-ea"/>
                <a:cs typeface="+mn-cs"/>
              </a:rPr>
              <a:t>的转换到达状态</a:t>
            </a:r>
            <a:r>
              <a:rPr lang="en-US" altLang="zh-CN" sz="1200" kern="1200" dirty="0">
                <a:solidFill>
                  <a:schemeClr val="tx1"/>
                </a:solidFill>
                <a:effectLst/>
                <a:latin typeface="+mn-lt"/>
                <a:ea typeface="+mn-ea"/>
                <a:cs typeface="+mn-cs"/>
              </a:rPr>
              <a:t> t</a:t>
            </a:r>
            <a:r>
              <a:rPr lang="zh-CN" altLang="zh-CN" sz="1200" kern="1200" dirty="0">
                <a:solidFill>
                  <a:schemeClr val="tx1"/>
                </a:solidFill>
                <a:effectLst/>
                <a:latin typeface="+mn-lt"/>
                <a:ea typeface="+mn-ea"/>
                <a:cs typeface="+mn-cs"/>
              </a:rPr>
              <a:t>。令</a:t>
            </a:r>
            <a:r>
              <a:rPr lang="en-US" altLang="zh-CN" sz="1200" kern="1200" dirty="0">
                <a:solidFill>
                  <a:schemeClr val="tx1"/>
                </a:solidFill>
                <a:effectLst/>
                <a:latin typeface="+mn-lt"/>
                <a:ea typeface="+mn-ea"/>
                <a:cs typeface="+mn-cs"/>
              </a:rPr>
              <a:t>r </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所在组</a:t>
            </a:r>
            <a:r>
              <a:rPr lang="en-US" altLang="zh-CN" sz="1200" kern="1200" dirty="0">
                <a:solidFill>
                  <a:schemeClr val="tx1"/>
                </a:solidFill>
                <a:effectLst/>
                <a:latin typeface="+mn-lt"/>
                <a:ea typeface="+mn-ea"/>
                <a:cs typeface="+mn-cs"/>
              </a:rPr>
              <a:t>H </a:t>
            </a:r>
            <a:r>
              <a:rPr lang="zh-CN" altLang="zh-CN" sz="1200" kern="1200" dirty="0">
                <a:solidFill>
                  <a:schemeClr val="tx1"/>
                </a:solidFill>
                <a:effectLst/>
                <a:latin typeface="+mn-lt"/>
                <a:ea typeface="+mn-ea"/>
                <a:cs typeface="+mn-cs"/>
              </a:rPr>
              <a:t>的代表。然后在</a:t>
            </a:r>
            <a:r>
              <a:rPr lang="en-US" altLang="zh-CN" sz="1200" kern="1200" dirty="0">
                <a:solidFill>
                  <a:schemeClr val="tx1"/>
                </a:solidFill>
                <a:effectLst/>
                <a:latin typeface="+mn-lt"/>
                <a:ea typeface="+mn-ea"/>
                <a:cs typeface="+mn-cs"/>
              </a:rPr>
              <a:t> D</a:t>
            </a:r>
            <a:r>
              <a:rPr lang="zh-CN" altLang="zh-CN" sz="1200" kern="1200" dirty="0">
                <a:solidFill>
                  <a:schemeClr val="tx1"/>
                </a:solidFill>
                <a:effectLst/>
                <a:latin typeface="+mn-lt"/>
                <a:ea typeface="+mn-ea"/>
                <a:cs typeface="+mn-cs"/>
              </a:rPr>
              <a:t>‘ 中存在一个从ｓ到ｒ在输入</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上的转换。请注意，在</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中，组</a:t>
            </a:r>
            <a:r>
              <a:rPr lang="en-US" altLang="zh-CN" sz="1200" kern="1200" dirty="0">
                <a:solidFill>
                  <a:schemeClr val="tx1"/>
                </a:solidFill>
                <a:effectLst/>
                <a:latin typeface="+mn-lt"/>
                <a:ea typeface="+mn-ea"/>
                <a:cs typeface="+mn-cs"/>
              </a:rPr>
              <a:t> G </a:t>
            </a:r>
            <a:r>
              <a:rPr lang="zh-CN" altLang="zh-CN" sz="1200" kern="1200" dirty="0">
                <a:solidFill>
                  <a:schemeClr val="tx1"/>
                </a:solidFill>
                <a:effectLst/>
                <a:latin typeface="+mn-lt"/>
                <a:ea typeface="+mn-ea"/>
                <a:cs typeface="+mn-cs"/>
              </a:rPr>
              <a:t>中的每个状态都必须在输入</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上进入组</a:t>
            </a:r>
            <a:r>
              <a:rPr lang="en-US" altLang="zh-CN" sz="1200" kern="1200" dirty="0">
                <a:solidFill>
                  <a:schemeClr val="tx1"/>
                </a:solidFill>
                <a:effectLst/>
                <a:latin typeface="+mn-lt"/>
                <a:ea typeface="+mn-ea"/>
                <a:cs typeface="+mn-cs"/>
              </a:rPr>
              <a:t> H </a:t>
            </a:r>
            <a:r>
              <a:rPr lang="zh-CN" altLang="zh-CN" sz="1200" kern="1200" dirty="0">
                <a:solidFill>
                  <a:schemeClr val="tx1"/>
                </a:solidFill>
                <a:effectLst/>
                <a:latin typeface="+mn-lt"/>
                <a:ea typeface="+mn-ea"/>
                <a:cs typeface="+mn-cs"/>
              </a:rPr>
              <a:t>的某个状态，否则，组</a:t>
            </a:r>
            <a:r>
              <a:rPr lang="en-US" altLang="zh-CN" sz="1200" kern="1200" dirty="0">
                <a:solidFill>
                  <a:schemeClr val="tx1"/>
                </a:solidFill>
                <a:effectLst/>
                <a:latin typeface="+mn-lt"/>
                <a:ea typeface="+mn-ea"/>
                <a:cs typeface="+mn-cs"/>
              </a:rPr>
              <a:t> G </a:t>
            </a:r>
            <a:r>
              <a:rPr lang="zh-CN" altLang="zh-CN" sz="1200" kern="1200" dirty="0">
                <a:solidFill>
                  <a:schemeClr val="tx1"/>
                </a:solidFill>
                <a:effectLst/>
                <a:latin typeface="+mn-lt"/>
                <a:ea typeface="+mn-ea"/>
                <a:cs typeface="+mn-cs"/>
              </a:rPr>
              <a:t>将根据图</a:t>
            </a:r>
            <a:r>
              <a:rPr lang="en-US" altLang="zh-CN" sz="1200" kern="1200" dirty="0">
                <a:solidFill>
                  <a:schemeClr val="tx1"/>
                </a:solidFill>
                <a:effectLst/>
                <a:latin typeface="+mn-lt"/>
                <a:ea typeface="+mn-ea"/>
                <a:cs typeface="+mn-cs"/>
              </a:rPr>
              <a:t> 3.64 </a:t>
            </a:r>
            <a:r>
              <a:rPr lang="zh-CN" altLang="zh-CN" sz="1200" kern="1200" dirty="0">
                <a:solidFill>
                  <a:schemeClr val="tx1"/>
                </a:solidFill>
                <a:effectLst/>
                <a:latin typeface="+mn-lt"/>
                <a:ea typeface="+mn-ea"/>
                <a:cs typeface="+mn-cs"/>
              </a:rPr>
              <a:t>的过程分割成更小的组。</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 初始分区：{a、b、c、d}，{e｝</a:t>
            </a:r>
          </a:p>
          <a:p>
            <a:r>
              <a:rPr lang="zh-CN" altLang="en-US" dirty="0"/>
              <a:t>- 处理组 {A、B、C、D}：b 将其分成两个子组 {A、B、C} 和 {D}</a:t>
            </a:r>
            <a:r>
              <a:rPr lang="en-US" altLang="zh-CN" dirty="0"/>
              <a:t>  ——A,B,C</a:t>
            </a:r>
            <a:r>
              <a:rPr lang="zh-CN" altLang="en-US" dirty="0"/>
              <a:t>遇到</a:t>
            </a:r>
            <a:r>
              <a:rPr lang="en-US" altLang="zh-CN" dirty="0"/>
              <a:t>b</a:t>
            </a:r>
            <a:r>
              <a:rPr lang="zh-CN" altLang="en-US" dirty="0"/>
              <a:t>分别转换到</a:t>
            </a:r>
            <a:r>
              <a:rPr lang="en-US" altLang="zh-CN" dirty="0"/>
              <a:t>C,D,C,</a:t>
            </a:r>
            <a:r>
              <a:rPr lang="zh-CN" altLang="en-US" dirty="0"/>
              <a:t>还在</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这个集合中，但</a:t>
            </a:r>
            <a:r>
              <a:rPr lang="en-US" altLang="zh-CN" dirty="0"/>
              <a:t>D</a:t>
            </a:r>
            <a:r>
              <a:rPr lang="zh-CN" altLang="en-US" dirty="0"/>
              <a:t>遇到转换到</a:t>
            </a:r>
            <a:r>
              <a:rPr lang="en-US" altLang="zh-CN" dirty="0"/>
              <a:t>E</a:t>
            </a:r>
            <a:r>
              <a:rPr lang="zh-CN" altLang="en-US" dirty="0"/>
              <a:t>，</a:t>
            </a:r>
            <a:r>
              <a:rPr lang="en-US" altLang="zh-CN" dirty="0"/>
              <a:t>E</a:t>
            </a:r>
            <a:r>
              <a:rPr lang="zh-CN" altLang="en-US" dirty="0"/>
              <a:t>不在</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中。</a:t>
            </a:r>
          </a:p>
          <a:p>
            <a:r>
              <a:rPr lang="zh-CN" altLang="en-US" dirty="0"/>
              <a:t>- 处理组 {A、B、C}：b 将其分成两个子组 {A、C} 和 {B}</a:t>
            </a:r>
            <a:r>
              <a:rPr lang="en-US" altLang="zh-CN" dirty="0"/>
              <a:t>——</a:t>
            </a:r>
            <a:r>
              <a:rPr lang="zh-CN" altLang="en-US" dirty="0"/>
              <a:t> </a:t>
            </a:r>
            <a:r>
              <a:rPr lang="en-US" altLang="zh-CN" dirty="0"/>
              <a:t>A,C</a:t>
            </a:r>
            <a:r>
              <a:rPr lang="zh-CN" altLang="en-US" dirty="0"/>
              <a:t>遇到</a:t>
            </a:r>
            <a:r>
              <a:rPr lang="en-US" altLang="zh-CN" dirty="0"/>
              <a:t>b</a:t>
            </a:r>
            <a:r>
              <a:rPr lang="zh-CN" altLang="en-US" dirty="0"/>
              <a:t>分别转换到</a:t>
            </a:r>
            <a:r>
              <a:rPr lang="en-US" altLang="zh-CN" dirty="0"/>
              <a:t>C,C,</a:t>
            </a:r>
            <a:r>
              <a:rPr lang="zh-CN" altLang="en-US" dirty="0"/>
              <a:t>还在</a:t>
            </a:r>
            <a:r>
              <a:rPr lang="en-US" altLang="zh-CN" dirty="0"/>
              <a:t>{A</a:t>
            </a:r>
            <a:r>
              <a:rPr lang="zh-CN" altLang="en-US" dirty="0"/>
              <a:t>，</a:t>
            </a:r>
            <a:r>
              <a:rPr lang="en-US" altLang="zh-CN" dirty="0"/>
              <a:t>B</a:t>
            </a:r>
            <a:r>
              <a:rPr lang="zh-CN" altLang="en-US" dirty="0"/>
              <a:t>，</a:t>
            </a:r>
            <a:r>
              <a:rPr lang="en-US" altLang="zh-CN" dirty="0"/>
              <a:t>C}</a:t>
            </a:r>
            <a:r>
              <a:rPr lang="zh-CN" altLang="en-US" dirty="0"/>
              <a:t>这个集合中，但</a:t>
            </a:r>
            <a:r>
              <a:rPr lang="en-US" altLang="zh-CN" dirty="0"/>
              <a:t>B</a:t>
            </a:r>
            <a:r>
              <a:rPr lang="zh-CN" altLang="en-US" dirty="0"/>
              <a:t>遇到</a:t>
            </a:r>
            <a:r>
              <a:rPr lang="en-US" altLang="zh-CN" dirty="0"/>
              <a:t>b</a:t>
            </a:r>
            <a:r>
              <a:rPr lang="zh-CN" altLang="en-US" dirty="0"/>
              <a:t>转换到</a:t>
            </a:r>
            <a:r>
              <a:rPr lang="en-US" altLang="zh-CN" dirty="0"/>
              <a:t>D</a:t>
            </a:r>
            <a:r>
              <a:rPr lang="zh-CN" altLang="en-US" dirty="0"/>
              <a:t>，</a:t>
            </a:r>
            <a:r>
              <a:rPr lang="en-US" altLang="zh-CN" dirty="0"/>
              <a:t>D</a:t>
            </a:r>
            <a:r>
              <a:rPr lang="zh-CN" altLang="en-US" dirty="0"/>
              <a:t>不在</a:t>
            </a:r>
            <a:r>
              <a:rPr lang="en-US" altLang="zh-CN" dirty="0"/>
              <a:t>{A</a:t>
            </a:r>
            <a:r>
              <a:rPr lang="zh-CN" altLang="en-US" dirty="0"/>
              <a:t>，</a:t>
            </a:r>
            <a:r>
              <a:rPr lang="en-US" altLang="zh-CN" dirty="0"/>
              <a:t>B</a:t>
            </a:r>
            <a:r>
              <a:rPr lang="zh-CN" altLang="en-US" dirty="0"/>
              <a:t>，</a:t>
            </a:r>
            <a:r>
              <a:rPr lang="en-US" altLang="zh-CN" dirty="0"/>
              <a:t>C}</a:t>
            </a:r>
            <a:r>
              <a:rPr lang="zh-CN" altLang="en-US" dirty="0"/>
              <a:t>中。</a:t>
            </a:r>
          </a:p>
          <a:p>
            <a:r>
              <a:rPr lang="zh-CN" altLang="en-US" dirty="0"/>
              <a:t>- 选取 A、B、D、E 作为代表，构建最小状态 DFA</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a:t>词法分析器中的状态最小化</a:t>
            </a:r>
          </a:p>
          <a:p>
            <a:r>
              <a:rPr lang="zh-CN" altLang="en-US" dirty="0"/>
              <a:t>其基本思想与 DFA 的状态最小化算法相同。</a:t>
            </a:r>
          </a:p>
          <a:p>
            <a:r>
              <a:rPr lang="zh-CN" altLang="en-US" dirty="0"/>
              <a:t>- 不同之处在于</a:t>
            </a:r>
          </a:p>
          <a:p>
            <a:r>
              <a:rPr lang="zh-CN" altLang="en-US" dirty="0"/>
              <a:t>词法分析器 DFA 中的每个接受状态都对应一个</a:t>
            </a:r>
          </a:p>
          <a:p>
            <a:r>
              <a:rPr lang="zh-CN" altLang="en-US" dirty="0"/>
              <a:t>不同的模式。这些状态并不等同。</a:t>
            </a:r>
          </a:p>
          <a:p>
            <a:r>
              <a:rPr lang="zh-CN" altLang="en-US" dirty="0"/>
              <a:t>因此，初始分区应为：一组不接受状态 + 不同模式的接受状态组</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初始分区：{0137, 7}, {247}, {68}, {8, 58}, {空</a:t>
            </a:r>
            <a:r>
              <a:rPr lang="en-US" altLang="zh-CN" dirty="0"/>
              <a:t>}</a:t>
            </a:r>
          </a:p>
          <a:p>
            <a:endParaRPr lang="en-US" altLang="zh-CN" dirty="0"/>
          </a:p>
          <a:p>
            <a:r>
              <a:rPr lang="en-US" altLang="zh-CN" dirty="0" err="1"/>
              <a:t>我们添加一个死态</a:t>
            </a:r>
            <a:r>
              <a:rPr lang="en-US" altLang="zh-CN" dirty="0"/>
              <a:t>  </a:t>
            </a:r>
            <a:r>
              <a:rPr lang="zh-CN" altLang="en-US" dirty="0"/>
              <a:t>空：我们假设它在输入 a 和 b 上有向自身的转换。所有输入符号上都转向自己的非接受状态。在一个</a:t>
            </a:r>
            <a:r>
              <a:rPr lang="en-US" altLang="zh-CN" dirty="0"/>
              <a:t>DFA</a:t>
            </a:r>
            <a:r>
              <a:rPr lang="zh-CN" altLang="en-US" dirty="0"/>
              <a:t>中，每个状态出发每个输入符号上都会有一个转换，发现正确词素的时候</a:t>
            </a:r>
            <a:r>
              <a:rPr lang="en-US" altLang="zh-CN" dirty="0"/>
              <a:t>DFA</a:t>
            </a:r>
            <a:r>
              <a:rPr lang="zh-CN" altLang="en-US" dirty="0"/>
              <a:t>结束。</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hasCustomPrompt="1"/>
          </p:nvPr>
        </p:nvSpPr>
        <p:spPr bwMode="auto">
          <a:xfrm>
            <a:off x="1143000" y="1122363"/>
            <a:ext cx="6858000" cy="2387600"/>
          </a:xfrm>
        </p:spPr>
        <p:txBody>
          <a:bodyPr anchor="b"/>
          <a:lstStyle>
            <a:lvl1pPr algn="ctr">
              <a:defRPr sz="6000" b="0" i="0">
                <a:latin typeface="Ubuntu Mono derivative Powerlin"/>
                <a:cs typeface="Courier New" panose="02070309020205020404"/>
              </a:defRPr>
            </a:lvl1pPr>
          </a:lstStyle>
          <a:p>
            <a:pPr>
              <a:defRPr/>
            </a:pPr>
            <a:r>
              <a:rPr lang="en-US"/>
              <a:t>Chapter</a:t>
            </a:r>
            <a:r>
              <a:rPr lang="zh-CN"/>
              <a:t> </a:t>
            </a:r>
            <a:r>
              <a:rPr lang="en-US"/>
              <a:t>1: Introduction</a:t>
            </a:r>
          </a:p>
        </p:txBody>
      </p:sp>
      <p:sp>
        <p:nvSpPr>
          <p:cNvPr id="3" name="Subtitle 2"/>
          <p:cNvSpPr>
            <a:spLocks noGrp="1"/>
          </p:cNvSpPr>
          <p:nvPr>
            <p:ph type="subTitle" idx="1" hasCustomPrompt="1"/>
          </p:nvPr>
        </p:nvSpPr>
        <p:spPr bwMode="auto">
          <a:xfrm>
            <a:off x="1143000" y="3602038"/>
            <a:ext cx="6858000" cy="1655762"/>
          </a:xfrm>
        </p:spPr>
        <p:txBody>
          <a:bodyPr/>
          <a:lstStyle>
            <a:lvl1pPr marL="0" indent="0" algn="ctr">
              <a:buNone/>
              <a:defRPr sz="2400">
                <a:latin typeface="Ubuntu Mono derivative Powerli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endParaRPr lang="en-US"/>
          </a:p>
          <a:p>
            <a:pPr>
              <a:defRPr/>
            </a:pPr>
            <a:r>
              <a:rPr lang="en-US"/>
              <a:t>Yanhui Guo</a:t>
            </a: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pic>
        <p:nvPicPr>
          <p:cNvPr id="7" name="Picture 7" descr="A picture containing text, font, logo, symbol&#10;&#10;Description automatically generated"/>
          <p:cNvPicPr>
            <a:picLocks noChangeAspect="1"/>
          </p:cNvPicPr>
          <p:nvPr userDrawn="1"/>
        </p:nvPicPr>
        <p:blipFill>
          <a:blip r:embed="rId2"/>
          <a:stretch>
            <a:fillRect/>
          </a:stretch>
        </p:blipFill>
        <p:spPr bwMode="auto">
          <a:xfrm>
            <a:off x="0" y="0"/>
            <a:ext cx="3543024" cy="123511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Outline</a:t>
            </a:r>
          </a:p>
        </p:txBody>
      </p:sp>
      <p:sp>
        <p:nvSpPr>
          <p:cNvPr id="3" name="Content Placeholder 2"/>
          <p:cNvSpPr>
            <a:spLocks noGrp="1"/>
          </p:cNvSpPr>
          <p:nvPr>
            <p:ph idx="1" hasCustomPrompt="1"/>
          </p:nvPr>
        </p:nvSpPr>
        <p:spPr bwMode="auto"/>
        <p:txBody>
          <a:bodyPr/>
          <a:lstStyle>
            <a:lvl1pPr>
              <a:lnSpc>
                <a:spcPct val="150000"/>
              </a:lnSpc>
              <a:defRPr>
                <a:latin typeface="Ubuntu Mono derivative Powerlin"/>
              </a:defRPr>
            </a:lvl1pPr>
          </a:lstStyle>
          <a:p>
            <a:pPr lvl="0">
              <a:defRPr/>
            </a:pPr>
            <a:r>
              <a:rPr lang="en-US"/>
              <a:t>One</a:t>
            </a:r>
          </a:p>
          <a:p>
            <a:pPr lvl="0">
              <a:defRPr/>
            </a:pPr>
            <a:r>
              <a:t>Two</a:t>
            </a:r>
          </a:p>
          <a:p>
            <a:pPr lvl="0">
              <a:defRPr/>
            </a:pPr>
            <a:r>
              <a:t>Three</a:t>
            </a:r>
          </a:p>
          <a:p>
            <a:pPr lvl="0">
              <a:defRPr/>
            </a:pPr>
            <a:r>
              <a:t>Four</a:t>
            </a: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Title</a:t>
            </a:r>
          </a:p>
        </p:txBody>
      </p:sp>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Title Only">
    <p:spTree>
      <p:nvGrpSpPr>
        <p:cNvPr id="1" name=""/>
        <p:cNvGrpSpPr/>
        <p:nvPr/>
      </p:nvGrpSpPr>
      <p:grpSpPr bwMode="auto">
        <a:xfrm>
          <a:off x="0" y="0"/>
          <a:ext cx="0" cy="0"/>
          <a:chOff x="0" y="0"/>
          <a:chExt cx="0" cy="0"/>
        </a:xfrm>
      </p:grpSpPr>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628650" y="365126"/>
            <a:ext cx="7886700" cy="1325563"/>
          </a:xfrm>
          <a:prstGeom prst="rect">
            <a:avLst/>
          </a:prstGeom>
        </p:spPr>
        <p:txBody>
          <a:bodyPr vert="horz" lIns="91440" tIns="45720" rIns="91440" bIns="45720" rtlCol="0" anchor="ctr">
            <a:normAutofit/>
          </a:bodyPr>
          <a:lstStyle/>
          <a:p>
            <a:pPr>
              <a:defRPr/>
            </a:pPr>
            <a:r>
              <a:rPr lang="en-US"/>
              <a:t>Click to edit Master title style</a:t>
            </a:r>
          </a:p>
        </p:txBody>
      </p:sp>
      <p:sp>
        <p:nvSpPr>
          <p:cNvPr id="3" name="Text Placeholder 2"/>
          <p:cNvSpPr>
            <a:spLocks noGrp="1"/>
          </p:cNvSpPr>
          <p:nvPr>
            <p:ph type="body" idx="1"/>
          </p:nvPr>
        </p:nvSpPr>
        <p:spPr bwMode="auto">
          <a:xfrm>
            <a:off x="628650" y="1825625"/>
            <a:ext cx="7886700" cy="4351338"/>
          </a:xfrm>
          <a:prstGeom prst="rect">
            <a:avLst/>
          </a:prstGeom>
        </p:spPr>
        <p:txBody>
          <a:bodyPr vert="horz" lIns="91440" tIns="45720" rIns="91440" bIns="45720" rtlCol="0">
            <a:normAutofit/>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4" name="Date Placeholder 3"/>
          <p:cNvSpPr>
            <a:spLocks noGrp="1"/>
          </p:cNvSpPr>
          <p:nvPr>
            <p:ph type="dt" sz="half" idx="2"/>
          </p:nvPr>
        </p:nvSpPr>
        <p:spPr bwMode="auto">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Ubuntu Mono derivative Powerlin"/>
              </a:defRPr>
            </a:lvl1pPr>
          </a:lstStyle>
          <a:p>
            <a:pPr>
              <a:defRPr/>
            </a:pPr>
            <a:r>
              <a:rPr lang="en-US" altLang="zh-CN"/>
              <a:t>Fall 2024</a:t>
            </a:r>
            <a:endParaRPr lang="en-US"/>
          </a:p>
        </p:txBody>
      </p:sp>
      <p:sp>
        <p:nvSpPr>
          <p:cNvPr id="5" name="Footer Placeholder 4"/>
          <p:cNvSpPr>
            <a:spLocks noGrp="1"/>
          </p:cNvSpPr>
          <p:nvPr>
            <p:ph type="ftr" sz="quarter" idx="3"/>
          </p:nvPr>
        </p:nvSpPr>
        <p:spPr bwMode="auto">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Ubuntu Mono derivative Powerlin"/>
              </a:defRPr>
            </a:lvl1pPr>
          </a:lstStyle>
          <a:p>
            <a:pPr>
              <a:defRPr/>
            </a:pPr>
            <a:r>
              <a:t>BUPT Compilers</a:t>
            </a:r>
          </a:p>
        </p:txBody>
      </p:sp>
      <p:sp>
        <p:nvSpPr>
          <p:cNvPr id="6" name="Slide Number Placeholder 5"/>
          <p:cNvSpPr>
            <a:spLocks noGrp="1"/>
          </p:cNvSpPr>
          <p:nvPr>
            <p:ph type="sldNum" sz="quarter" idx="4"/>
          </p:nvPr>
        </p:nvSpPr>
        <p:spPr bwMode="auto">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FBC720A-3716-234A-B2DF-CBC7E48049F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p:txStyles>
    <p:titleStyle>
      <a:lvl1pPr algn="l" defTabSz="914400">
        <a:lnSpc>
          <a:spcPct val="90000"/>
        </a:lnSpc>
        <a:spcBef>
          <a:spcPts val="0"/>
        </a:spcBef>
        <a:buNone/>
        <a:defRPr sz="4400">
          <a:solidFill>
            <a:schemeClr val="tx1"/>
          </a:solidFill>
          <a:latin typeface="Ubuntu Mono derivative Powerlin"/>
          <a:ea typeface="+mj-ea"/>
          <a:cs typeface="+mj-cs"/>
        </a:defRPr>
      </a:lvl1pPr>
    </p:titleStyle>
    <p:body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p:bodyStyle>
    <p:other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5.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customXml" Target="../ink/ink2.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4.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14.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21.png"/><Relationship Id="rId5" Type="http://schemas.openxmlformats.org/officeDocument/2006/relationships/notesSlide" Target="../notesSlides/notesSlide34.xml"/><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image" Target="../media/image14.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21.png"/><Relationship Id="rId5" Type="http://schemas.openxmlformats.org/officeDocument/2006/relationships/notesSlide" Target="../notesSlides/notesSlide35.xml"/><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14.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21.png"/><Relationship Id="rId5" Type="http://schemas.openxmlformats.org/officeDocument/2006/relationships/notesSlide" Target="../notesSlides/notesSlide36.xml"/><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37.xml"/><Relationship Id="rId7" Type="http://schemas.openxmlformats.org/officeDocument/2006/relationships/image" Target="../media/image14.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21.png"/><Relationship Id="rId5" Type="http://schemas.openxmlformats.org/officeDocument/2006/relationships/notesSlide" Target="../notesSlides/notesSlide37.xml"/><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22.png"/><Relationship Id="rId4"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40.xml"/><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41.xml"/><Relationship Id="rId4" Type="http://schemas.openxmlformats.org/officeDocument/2006/relationships/image" Target="../media/image27.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44.xml"/><Relationship Id="rId4" Type="http://schemas.openxmlformats.org/officeDocument/2006/relationships/image" Target="../media/image29.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0.png"/><Relationship Id="rId5" Type="http://schemas.openxmlformats.org/officeDocument/2006/relationships/image" Target="../media/image27.png"/><Relationship Id="rId4"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47.xml"/><Relationship Id="rId4" Type="http://schemas.openxmlformats.org/officeDocument/2006/relationships/image" Target="../media/image31.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49.xml"/><Relationship Id="rId4" Type="http://schemas.openxmlformats.org/officeDocument/2006/relationships/image" Target="../media/image33.png"/></Relationships>
</file>

<file path=ppt/slides/_rels/slide62.xml.rels><?xml version="1.0" encoding="UTF-8" standalone="yes"?>
<Relationships xmlns="http://schemas.openxmlformats.org/package/2006/relationships"><Relationship Id="rId3" Type="http://schemas.openxmlformats.org/officeDocument/2006/relationships/hyperlink" Target="&#31532;03&#35762;%20&#35789;&#27861;&#20998;&#26512;.pptx#-1,31,&#24102;&#26377;&#8220; &#949;-&#36793;&#8221;&#30340;NFA"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50.xml"/><Relationship Id="rId4" Type="http://schemas.openxmlformats.org/officeDocument/2006/relationships/image" Target="../media/image34.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51.xml"/><Relationship Id="rId4" Type="http://schemas.openxmlformats.org/officeDocument/2006/relationships/image" Target="../media/image35.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52.xml"/><Relationship Id="rId4" Type="http://schemas.openxmlformats.org/officeDocument/2006/relationships/image" Target="../media/image3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6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56.xml"/><Relationship Id="rId4" Type="http://schemas.openxmlformats.org/officeDocument/2006/relationships/image" Target="../media/image40.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57.xml"/><Relationship Id="rId4" Type="http://schemas.openxmlformats.org/officeDocument/2006/relationships/image" Target="../media/image41.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tags" Target="../tags/tag58.xml"/><Relationship Id="rId4" Type="http://schemas.openxmlformats.org/officeDocument/2006/relationships/image" Target="../media/image42.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61.xml"/><Relationship Id="rId4" Type="http://schemas.openxmlformats.org/officeDocument/2006/relationships/image" Target="../media/image45.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62.xml"/><Relationship Id="rId4" Type="http://schemas.openxmlformats.org/officeDocument/2006/relationships/image" Target="../media/image46.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63.xml"/><Relationship Id="rId4" Type="http://schemas.openxmlformats.org/officeDocument/2006/relationships/image" Target="../media/image47.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64.xml"/><Relationship Id="rId4" Type="http://schemas.openxmlformats.org/officeDocument/2006/relationships/image" Target="../media/image48.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tags" Target="../tags/tag65.xml"/><Relationship Id="rId4" Type="http://schemas.openxmlformats.org/officeDocument/2006/relationships/image" Target="../media/image49.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tags" Target="../tags/tag68.xml"/><Relationship Id="rId7" Type="http://schemas.openxmlformats.org/officeDocument/2006/relationships/image" Target="../media/image51.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50.png"/><Relationship Id="rId5" Type="http://schemas.openxmlformats.org/officeDocument/2006/relationships/notesSlide" Target="../notesSlides/notesSlide76.xml"/><Relationship Id="rId4"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tags" Target="../tags/tag69.xml"/><Relationship Id="rId4" Type="http://schemas.openxmlformats.org/officeDocument/2006/relationships/image" Target="../media/image5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tags" Target="../tags/tag70.xml"/><Relationship Id="rId4" Type="http://schemas.openxmlformats.org/officeDocument/2006/relationships/image" Target="../media/image54.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notesSlide" Target="../notesSlides/notesSlide79.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notesSlide" Target="../notesSlides/notesSlide80.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tags" Target="../tags/tag75.xml"/><Relationship Id="rId4" Type="http://schemas.openxmlformats.org/officeDocument/2006/relationships/image" Target="../media/image55.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tags" Target="../tags/tag76.xml"/><Relationship Id="rId4" Type="http://schemas.openxmlformats.org/officeDocument/2006/relationships/image" Target="../media/image57.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58.png"/><Relationship Id="rId5" Type="http://schemas.openxmlformats.org/officeDocument/2006/relationships/image" Target="../media/image55.png"/><Relationship Id="rId4" Type="http://schemas.openxmlformats.org/officeDocument/2006/relationships/notesSlide" Target="../notesSlides/notesSlide8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tags" Target="../tags/tag79.xml"/><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683812125"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341913610" name="Footer Placeholder 4"/>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88287224" name="Slide Number Placeholder 5"/>
          <p:cNvSpPr>
            <a:spLocks noGrp="1"/>
          </p:cNvSpPr>
          <p:nvPr>
            <p:ph type="sldNum" sz="quarter" idx="12"/>
          </p:nvPr>
        </p:nvSpPr>
        <p:spPr bwMode="auto"/>
        <p:txBody>
          <a:bodyPr/>
          <a:lstStyle/>
          <a:p>
            <a:pPr>
              <a:defRPr/>
            </a:pPr>
            <a:fld id="{FB84656F-ACB0-5C0A-4CED-E490BACA254F}" type="slidenum">
              <a:rPr/>
              <a:t>1</a:t>
            </a:fld>
            <a:endParaRPr dirty="0"/>
          </a:p>
        </p:txBody>
      </p:sp>
      <p:sp>
        <p:nvSpPr>
          <p:cNvPr id="8" name="object 3"/>
          <p:cNvSpPr txBox="1"/>
          <p:nvPr/>
        </p:nvSpPr>
        <p:spPr>
          <a:xfrm>
            <a:off x="1016094" y="2108708"/>
            <a:ext cx="7113270" cy="1687195"/>
          </a:xfrm>
          <a:prstGeom prst="rect">
            <a:avLst/>
          </a:prstGeom>
        </p:spPr>
        <p:txBody>
          <a:bodyPr vert="horz" wrap="square" lIns="0" tIns="12700" rIns="0" bIns="0" rtlCol="0">
            <a:spAutoFit/>
          </a:bodyPr>
          <a:lstStyle>
            <a:lvl1pPr>
              <a:defRPr sz="4000" b="1" i="0">
                <a:solidFill>
                  <a:schemeClr val="tx1"/>
                </a:solidFill>
                <a:latin typeface="Palatino Linotype" panose="02040502050505030304"/>
                <a:ea typeface="+mj-ea"/>
                <a:cs typeface="Palatino Linotype" panose="02040502050505030304"/>
              </a:defRPr>
            </a:lvl1pPr>
          </a:lstStyle>
          <a:p>
            <a:pPr marL="12700" algn="ctr">
              <a:spcBef>
                <a:spcPts val="100"/>
              </a:spcBef>
            </a:pPr>
            <a:r>
              <a:rPr sz="5400" spc="-5" dirty="0">
                <a:solidFill>
                  <a:srgbClr val="252525"/>
                </a:solidFill>
                <a:ea typeface="+mn-ea"/>
              </a:rPr>
              <a:t>Chapter 2: </a:t>
            </a:r>
          </a:p>
          <a:p>
            <a:pPr marL="12700" algn="ctr">
              <a:spcBef>
                <a:spcPts val="100"/>
              </a:spcBef>
            </a:pPr>
            <a:r>
              <a:rPr sz="5400" spc="-5" dirty="0">
                <a:solidFill>
                  <a:srgbClr val="252525"/>
                </a:solidFill>
                <a:ea typeface="+mn-ea"/>
              </a:rPr>
              <a:t>Lexical Analysis</a:t>
            </a:r>
            <a:endParaRPr lang="en-US" sz="4800" dirty="0">
              <a:solidFill>
                <a:srgbClr val="262626"/>
              </a:solidFill>
              <a:latin typeface="Times New Roman" panose="02020603050405020304"/>
              <a:cs typeface="Times New Roman" panose="02020603050405020304"/>
            </a:endParaRPr>
          </a:p>
        </p:txBody>
      </p:sp>
      <p:sp>
        <p:nvSpPr>
          <p:cNvPr id="9" name="object 4"/>
          <p:cNvSpPr txBox="1"/>
          <p:nvPr/>
        </p:nvSpPr>
        <p:spPr>
          <a:xfrm>
            <a:off x="2653538" y="4084891"/>
            <a:ext cx="4104004" cy="1199496"/>
          </a:xfrm>
          <a:prstGeom prst="rect">
            <a:avLst/>
          </a:prstGeom>
        </p:spPr>
        <p:txBody>
          <a:bodyPr vert="horz" wrap="square" lIns="0" tIns="12700" rIns="0" bIns="0" rtlCol="0">
            <a:spAutoFit/>
          </a:bodyPr>
          <a:lstStyle/>
          <a:p>
            <a:pPr algn="ctr" rtl="0" eaLnBrk="0">
              <a:lnSpc>
                <a:spcPct val="102000"/>
              </a:lnSpc>
            </a:pPr>
            <a:r>
              <a:rPr lang="en-US" altLang="zh-CN" sz="3200" dirty="0" err="1">
                <a:solidFill>
                  <a:srgbClr val="000000"/>
                </a:solidFill>
                <a:latin typeface="Palatino Linotype" panose="02040502050505030304"/>
                <a:ea typeface="Palatino Linotype" panose="02040502050505030304"/>
                <a:cs typeface="Palatino Linotype" panose="02040502050505030304"/>
                <a:sym typeface="+mn-ea"/>
              </a:rPr>
              <a:t>Yanhui Guo</a:t>
            </a:r>
            <a:endParaRPr lang="en-US" altLang="zh-CN" sz="3200" dirty="0" err="1">
              <a:solidFill>
                <a:srgbClr val="000000"/>
              </a:solidFill>
              <a:latin typeface="Palatino Linotype" panose="02040502050505030304"/>
              <a:ea typeface="Palatino Linotype" panose="02040502050505030304"/>
              <a:cs typeface="Palatino Linotype" panose="02040502050505030304"/>
            </a:endParaRPr>
          </a:p>
          <a:p>
            <a:pPr algn="ctr" rtl="0" eaLnBrk="0">
              <a:lnSpc>
                <a:spcPct val="16000"/>
              </a:lnSpc>
            </a:pPr>
            <a:endParaRPr lang="en-US" altLang="zh-CN" sz="3200" dirty="0" err="1">
              <a:solidFill>
                <a:srgbClr val="000000"/>
              </a:solidFill>
              <a:latin typeface="Palatino Linotype" panose="02040502050505030304"/>
              <a:ea typeface="Palatino Linotype" panose="02040502050505030304"/>
              <a:cs typeface="Palatino Linotype" panose="02040502050505030304"/>
            </a:endParaRPr>
          </a:p>
          <a:p>
            <a:pPr marL="12700" algn="ctr" rtl="0" eaLnBrk="0">
              <a:lnSpc>
                <a:spcPct val="81000"/>
              </a:lnSpc>
            </a:pPr>
            <a:endParaRPr lang="en-US" altLang="zh-CN" sz="2400" dirty="0">
              <a:solidFill>
                <a:srgbClr val="000000"/>
              </a:solidFill>
              <a:latin typeface="Palatino Linotype" panose="02040502050505030304"/>
              <a:ea typeface="Palatino Linotype" panose="02040502050505030304"/>
              <a:cs typeface="Palatino Linotype" panose="02040502050505030304"/>
              <a:sym typeface="+mn-ea"/>
            </a:endParaRPr>
          </a:p>
          <a:p>
            <a:pPr marL="12700" algn="ctr" rtl="0" eaLnBrk="0">
              <a:lnSpc>
                <a:spcPct val="81000"/>
              </a:lnSpc>
            </a:pPr>
            <a:r>
              <a:rPr lang="en-US" altLang="zh-CN" sz="2400" dirty="0">
                <a:solidFill>
                  <a:srgbClr val="000000"/>
                </a:solidFill>
                <a:latin typeface="Palatino Linotype" panose="02040502050505030304"/>
                <a:ea typeface="Palatino Linotype" panose="02040502050505030304"/>
                <a:cs typeface="Palatino Linotype" panose="02040502050505030304"/>
                <a:sym typeface="+mn-ea"/>
              </a:rPr>
              <a:t>yhguo@bupt.edu.cn</a:t>
            </a:r>
            <a:endParaRPr sz="2400" kern="1200" dirty="0">
              <a:solidFill>
                <a:prstClr val="black"/>
              </a:solidFill>
              <a:latin typeface="Palatino Linotype" panose="02040502050505030304"/>
              <a:cs typeface="Palatino Linotype" panose="0204050205050503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en-US" sz="3600" b="1" noProof="0">
                <a:ln>
                  <a:noFill/>
                </a:ln>
                <a:solidFill>
                  <a:sysClr val="windowText" lastClr="000000"/>
                </a:solidFill>
                <a:effectLst/>
                <a:uLnTx/>
                <a:uFillTx/>
                <a:latin typeface="Palatino Linotype" panose="02040502050505030304" charset="0"/>
                <a:cs typeface="Palatino Linotype" panose="02040502050505030304"/>
              </a:rPr>
              <a:t>Outline</a:t>
            </a:r>
            <a:endParaRPr lang="en-US" altLang="en-US" sz="3600" b="1" noProof="0">
              <a:ln>
                <a:noFill/>
              </a:ln>
              <a:solidFill>
                <a:sysClr val="windowText" lastClr="000000"/>
              </a:solidFill>
              <a:effectLst/>
              <a:uLnTx/>
              <a:uFillTx/>
              <a:latin typeface="Palatino Linotype" panose="02040502050505030304" charset="0"/>
              <a:cs typeface="Palatino Linotype" panose="02040502050505030304"/>
            </a:endParaRPr>
          </a:p>
        </p:txBody>
      </p:sp>
      <p:sp>
        <p:nvSpPr>
          <p:cNvPr id="4" name="内容占位符 3"/>
          <p:cNvSpPr>
            <a:spLocks noGrp="1"/>
          </p:cNvSpPr>
          <p:nvPr>
            <p:ph idx="1"/>
          </p:nvPr>
        </p:nvSpPr>
        <p:spPr/>
        <p:txBody>
          <a:bodyPr>
            <a:normAutofit fontScale="75000" lnSpcReduction="20000"/>
          </a:bodyPr>
          <a:lstStyle/>
          <a:p>
            <a:pPr marL="12700" algn="l" rtl="0" eaLnBrk="0">
              <a:lnSpc>
                <a:spcPct val="81000"/>
              </a:lnSpc>
              <a:spcBef>
                <a:spcPts val="730"/>
              </a:spcBef>
            </a:pPr>
            <a:r>
              <a:rPr lang="en-US" sz="3665" b="1" noProof="0" dirty="0">
                <a:ln>
                  <a:noFill/>
                </a:ln>
                <a:solidFill>
                  <a:sysClr val="windowText" lastClr="000000"/>
                </a:solidFill>
                <a:effectLst/>
                <a:uLnTx/>
                <a:uFillTx/>
                <a:latin typeface="Palatino Linotype" panose="02040502050505030304" charset="0"/>
                <a:ea typeface="+mj-ea"/>
                <a:cs typeface="Palatino Linotype" panose="02040502050505030304"/>
                <a:sym typeface="+mn-ea"/>
              </a:rPr>
              <a:t>The Role of Lexical Analyzer</a:t>
            </a:r>
            <a:endParaRPr lang="en-US" sz="3665" b="1" noProof="0" dirty="0">
              <a:ln>
                <a:noFill/>
              </a:ln>
              <a:solidFill>
                <a:sysClr val="windowText" lastClr="000000"/>
              </a:solidFill>
              <a:effectLst/>
              <a:uLnTx/>
              <a:uFillTx/>
              <a:latin typeface="Palatino Linotype" panose="02040502050505030304" charset="0"/>
              <a:ea typeface="+mj-ea"/>
              <a:cs typeface="Palatino Linotype" panose="02040502050505030304"/>
            </a:endParaRPr>
          </a:p>
          <a:p>
            <a:pPr algn="l" rtl="0" eaLnBrk="0">
              <a:lnSpc>
                <a:spcPct val="125000"/>
              </a:lnSpc>
            </a:pPr>
            <a:endParaRPr lang="en-US" sz="3665" b="1" noProof="0" dirty="0">
              <a:ln>
                <a:noFill/>
              </a:ln>
              <a:solidFill>
                <a:sysClr val="windowText" lastClr="000000"/>
              </a:solidFill>
              <a:effectLst/>
              <a:uLnTx/>
              <a:uFillTx/>
              <a:latin typeface="Palatino Linotype" panose="02040502050505030304" charset="0"/>
              <a:ea typeface="+mj-ea"/>
              <a:cs typeface="Palatino Linotype" panose="02040502050505030304"/>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Specification of Tokens (Regular Expressions)</a:t>
            </a: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endParaRPr>
          </a:p>
          <a:p>
            <a:pPr algn="l" rtl="0" eaLnBrk="0">
              <a:lnSpc>
                <a:spcPct val="126000"/>
              </a:lnSpc>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endParaRPr>
          </a:p>
          <a:p>
            <a:pPr marL="12700" algn="l" rtl="0" eaLnBrk="0">
              <a:lnSpc>
                <a:spcPct val="81000"/>
              </a:lnSpc>
              <a:spcBef>
                <a:spcPts val="72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Recognition of Tokens (Transition Diagrams)</a:t>
            </a: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endParaRPr>
          </a:p>
          <a:p>
            <a:pPr algn="l" rtl="0" eaLnBrk="0">
              <a:lnSpc>
                <a:spcPct val="125000"/>
              </a:lnSpc>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endParaRPr>
          </a:p>
          <a:p>
            <a:pPr marL="12700" algn="l" rtl="0" eaLnBrk="0">
              <a:lnSpc>
                <a:spcPts val="2945"/>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The Lexical-Analyzer Generator</a:t>
            </a: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endParaRPr>
          </a:p>
          <a:p>
            <a:pPr algn="l" rtl="0" eaLnBrk="0">
              <a:lnSpc>
                <a:spcPct val="100000"/>
              </a:lnSpc>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endParaRPr>
          </a:p>
          <a:p>
            <a:pPr marL="12700" algn="l" rtl="0" eaLnBrk="0">
              <a:lnSpc>
                <a:spcPct val="96000"/>
              </a:lnSpc>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Finite Automata</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zh-CN" altLang="en-US" sz="3600">
                <a:latin typeface="Palatino Linotype" panose="02040502050505030304" charset="0"/>
                <a:cs typeface="Palatino Linotype" panose="02040502050505030304" charset="0"/>
              </a:rPr>
              <a:t>The Role of Lexical Analyzer</a:t>
            </a:r>
          </a:p>
        </p:txBody>
      </p:sp>
      <p:sp>
        <p:nvSpPr>
          <p:cNvPr id="4" name="内容占位符 3"/>
          <p:cNvSpPr>
            <a:spLocks noGrp="1"/>
          </p:cNvSpPr>
          <p:nvPr>
            <p:ph idx="1"/>
          </p:nvPr>
        </p:nvSpPr>
        <p:spPr>
          <a:xfrm>
            <a:off x="628650" y="1484630"/>
            <a:ext cx="7886700" cy="4351338"/>
          </a:xfrm>
        </p:spPr>
        <p:txBody>
          <a:bodyPr>
            <a:normAutofit/>
          </a:bodyPr>
          <a:lstStyle/>
          <a:p>
            <a:pPr marL="12700" algn="l" rtl="0" eaLnBrk="0" fontAlgn="auto" latinLnBrk="0" hangingPunct="1">
              <a:lnSpc>
                <a:spcPct val="100000"/>
              </a:lnSpc>
              <a:spcBef>
                <a:spcPts val="700"/>
              </a:spcBef>
            </a:pPr>
            <a:r>
              <a:rPr lang="zh-CN" altLang="en-US" sz="2200" dirty="0">
                <a:latin typeface="Palatino Linotype" panose="02040502050505030304" charset="0"/>
                <a:cs typeface="Palatino Linotype" panose="02040502050505030304" charset="0"/>
              </a:rPr>
              <a:t>Read the input characters of the source program, group them into lexemes, and produces a sequence of tokens</a:t>
            </a:r>
          </a:p>
          <a:p>
            <a:pPr marL="12700" algn="l" rtl="0" eaLnBrk="0" fontAlgn="auto" latinLnBrk="0" hangingPunct="1">
              <a:lnSpc>
                <a:spcPct val="100000"/>
              </a:lnSpc>
              <a:spcBef>
                <a:spcPts val="700"/>
              </a:spcBef>
            </a:pPr>
            <a:r>
              <a:rPr lang="zh-CN" altLang="en-US" sz="2200" dirty="0">
                <a:latin typeface="Palatino Linotype" panose="02040502050505030304" charset="0"/>
                <a:cs typeface="Palatino Linotype" panose="02040502050505030304" charset="0"/>
              </a:rPr>
              <a:t>Add lexemes into the symbol table when necessary</a:t>
            </a:r>
          </a:p>
          <a:p>
            <a:pPr marL="12700" algn="l" rtl="0" eaLnBrk="0" fontAlgn="auto" latinLnBrk="0" hangingPunct="1">
              <a:lnSpc>
                <a:spcPct val="100000"/>
              </a:lnSpc>
              <a:spcBef>
                <a:spcPts val="700"/>
              </a:spcBef>
            </a:pPr>
            <a:r>
              <a:rPr lang="zh-CN" altLang="en-US" sz="2200" dirty="0">
                <a:solidFill>
                  <a:schemeClr val="bg2">
                    <a:lumMod val="50000"/>
                  </a:schemeClr>
                </a:solidFill>
                <a:latin typeface="Palatino Linotype" panose="02040502050505030304" charset="0"/>
                <a:cs typeface="Palatino Linotype" panose="02040502050505030304" charset="0"/>
              </a:rPr>
              <a:t>Strip out comments and whitespace (blank, newline, tab etc.)</a:t>
            </a:r>
          </a:p>
          <a:p>
            <a:pPr marL="12700" algn="l" rtl="0" eaLnBrk="0" fontAlgn="auto" latinLnBrk="0" hangingPunct="1">
              <a:lnSpc>
                <a:spcPct val="100000"/>
              </a:lnSpc>
              <a:spcBef>
                <a:spcPts val="700"/>
              </a:spcBef>
            </a:pPr>
            <a:r>
              <a:rPr lang="zh-CN" altLang="en-US" sz="2200" dirty="0">
                <a:solidFill>
                  <a:schemeClr val="bg2">
                    <a:lumMod val="50000"/>
                  </a:schemeClr>
                </a:solidFill>
                <a:latin typeface="Palatino Linotype" panose="02040502050505030304" charset="0"/>
                <a:cs typeface="Palatino Linotype" panose="02040502050505030304" charset="0"/>
              </a:rPr>
              <a:t>Associate error messages with a line number (tracking newlines)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a:t>
            </a:fld>
            <a:endParaRPr/>
          </a:p>
        </p:txBody>
      </p:sp>
      <p:pic>
        <p:nvPicPr>
          <p:cNvPr id="9" name="picture 9"/>
          <p:cNvPicPr>
            <a:picLocks noChangeAspect="1"/>
          </p:cNvPicPr>
          <p:nvPr>
            <p:custDataLst>
              <p:tags r:id="rId1"/>
            </p:custDataLst>
          </p:nvPr>
        </p:nvPicPr>
        <p:blipFill>
          <a:blip r:embed="rId4"/>
          <a:stretch>
            <a:fillRect/>
          </a:stretch>
        </p:blipFill>
        <p:spPr>
          <a:xfrm rot="21600000">
            <a:off x="2001901" y="4077842"/>
            <a:ext cx="5138928" cy="19446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cs typeface="Palatino Linotype" panose="02040502050505030304" charset="0"/>
              </a:rPr>
              <a:t>Why Separated Lexical Analysis?</a:t>
            </a:r>
          </a:p>
        </p:txBody>
      </p:sp>
      <p:sp>
        <p:nvSpPr>
          <p:cNvPr id="4" name="内容占位符 3"/>
          <p:cNvSpPr>
            <a:spLocks noGrp="1"/>
          </p:cNvSpPr>
          <p:nvPr>
            <p:ph idx="1"/>
          </p:nvPr>
        </p:nvSpPr>
        <p:spPr>
          <a:xfrm>
            <a:off x="611505" y="1772920"/>
            <a:ext cx="7886700" cy="4351338"/>
          </a:xfrm>
        </p:spPr>
        <p:txBody>
          <a:bodyPr>
            <a:normAutofit/>
          </a:bodyPr>
          <a:lstStyle/>
          <a:p>
            <a:pPr marL="12700" algn="l" rtl="0" eaLnBrk="0" fontAlgn="auto" latinLnBrk="0" hangingPunct="1">
              <a:lnSpc>
                <a:spcPct val="100000"/>
              </a:lnSpc>
              <a:spcBef>
                <a:spcPts val="700"/>
              </a:spcBef>
            </a:pPr>
            <a:r>
              <a:rPr lang="zh-CN" altLang="en-US" sz="2200" dirty="0">
                <a:solidFill>
                  <a:srgbClr val="FF0000"/>
                </a:solidFill>
                <a:latin typeface="Palatino Linotype" panose="02040502050505030304" charset="0"/>
                <a:cs typeface="Palatino Linotype" panose="02040502050505030304" charset="0"/>
              </a:rPr>
              <a:t>Simplicity</a:t>
            </a:r>
            <a:r>
              <a:rPr lang="zh-CN" altLang="en-US" sz="2200" dirty="0">
                <a:latin typeface="Palatino Linotype" panose="02040502050505030304" charset="0"/>
                <a:cs typeface="Palatino Linotype" panose="02040502050505030304" charset="0"/>
              </a:rPr>
              <a:t> </a:t>
            </a:r>
            <a:r>
              <a:rPr lang="zh-CN" altLang="en-US" sz="2200" dirty="0">
                <a:solidFill>
                  <a:schemeClr val="accent1"/>
                </a:solidFill>
                <a:latin typeface="Palatino Linotype" panose="02040502050505030304" charset="0"/>
                <a:cs typeface="Palatino Linotype" panose="02040502050505030304" charset="0"/>
              </a:rPr>
              <a:t>of compiler design</a:t>
            </a:r>
            <a:r>
              <a:rPr lang="zh-CN" altLang="en-US" sz="2200" dirty="0">
                <a:latin typeface="Palatino Linotype" panose="02040502050505030304" charset="0"/>
                <a:cs typeface="Palatino Linotype" panose="02040502050505030304" charset="0"/>
              </a:rPr>
              <a:t>. The lexical analyzer can perform simple tasks such as dealing with comments and whitespace</a:t>
            </a:r>
          </a:p>
          <a:p>
            <a:pPr marL="12700" algn="l" rtl="0" eaLnBrk="0" fontAlgn="auto" latinLnBrk="0" hangingPunct="1">
              <a:lnSpc>
                <a:spcPct val="100000"/>
              </a:lnSpc>
              <a:spcBef>
                <a:spcPts val="700"/>
              </a:spcBef>
            </a:pPr>
            <a:endParaRPr lang="zh-CN" altLang="en-US" sz="2200" dirty="0">
              <a:latin typeface="Palatino Linotype" panose="02040502050505030304" charset="0"/>
              <a:cs typeface="Palatino Linotype" panose="02040502050505030304" charset="0"/>
            </a:endParaRPr>
          </a:p>
          <a:p>
            <a:pPr marL="12700" algn="l" rtl="0" eaLnBrk="0" fontAlgn="auto" latinLnBrk="0" hangingPunct="1">
              <a:lnSpc>
                <a:spcPct val="100000"/>
              </a:lnSpc>
              <a:spcBef>
                <a:spcPts val="700"/>
              </a:spcBef>
            </a:pPr>
            <a:r>
              <a:rPr lang="zh-CN" altLang="en-US" sz="2200" dirty="0">
                <a:solidFill>
                  <a:schemeClr val="accent1"/>
                </a:solidFill>
                <a:latin typeface="Palatino Linotype" panose="02040502050505030304" charset="0"/>
                <a:cs typeface="Palatino Linotype" panose="02040502050505030304" charset="0"/>
              </a:rPr>
              <a:t>Improved compiler</a:t>
            </a:r>
            <a:r>
              <a:rPr lang="zh-CN" altLang="en-US" sz="2200" dirty="0">
                <a:latin typeface="Palatino Linotype" panose="02040502050505030304" charset="0"/>
                <a:cs typeface="Palatino Linotype" panose="02040502050505030304" charset="0"/>
              </a:rPr>
              <a:t> </a:t>
            </a:r>
            <a:r>
              <a:rPr lang="zh-CN" altLang="en-US" sz="2200" dirty="0">
                <a:solidFill>
                  <a:srgbClr val="FF0000"/>
                </a:solidFill>
                <a:latin typeface="Palatino Linotype" panose="02040502050505030304" charset="0"/>
                <a:cs typeface="Palatino Linotype" panose="02040502050505030304" charset="0"/>
              </a:rPr>
              <a:t>efficiency</a:t>
            </a:r>
            <a:r>
              <a:rPr lang="zh-CN" altLang="en-US" sz="2200" dirty="0">
                <a:latin typeface="Palatino Linotype" panose="02040502050505030304" charset="0"/>
                <a:cs typeface="Palatino Linotype" panose="02040502050505030304" charset="0"/>
              </a:rPr>
              <a:t>. Lexical analysis is much simpler comparing to syntax analysis</a:t>
            </a:r>
          </a:p>
          <a:p>
            <a:pPr marL="12700" algn="l" rtl="0" eaLnBrk="0" fontAlgn="auto" latinLnBrk="0" hangingPunct="1">
              <a:lnSpc>
                <a:spcPct val="100000"/>
              </a:lnSpc>
              <a:spcBef>
                <a:spcPts val="700"/>
              </a:spcBef>
            </a:pPr>
            <a:endParaRPr lang="zh-CN" altLang="en-US" sz="2200" dirty="0">
              <a:latin typeface="Palatino Linotype" panose="02040502050505030304" charset="0"/>
              <a:cs typeface="Palatino Linotype" panose="02040502050505030304" charset="0"/>
            </a:endParaRPr>
          </a:p>
          <a:p>
            <a:pPr marL="12700" algn="l" rtl="0" eaLnBrk="0" fontAlgn="auto" latinLnBrk="0" hangingPunct="1">
              <a:lnSpc>
                <a:spcPct val="100000"/>
              </a:lnSpc>
              <a:spcBef>
                <a:spcPts val="700"/>
              </a:spcBef>
            </a:pPr>
            <a:r>
              <a:rPr lang="zh-CN" altLang="en-US" sz="2200" dirty="0">
                <a:solidFill>
                  <a:schemeClr val="accent1"/>
                </a:solidFill>
                <a:latin typeface="Palatino Linotype" panose="02040502050505030304" charset="0"/>
                <a:cs typeface="Palatino Linotype" panose="02040502050505030304" charset="0"/>
              </a:rPr>
              <a:t>Higher </a:t>
            </a:r>
            <a:r>
              <a:rPr lang="zh-CN" altLang="en-US" sz="2200" dirty="0">
                <a:solidFill>
                  <a:srgbClr val="FF0000"/>
                </a:solidFill>
                <a:latin typeface="Palatino Linotype" panose="02040502050505030304" charset="0"/>
                <a:cs typeface="Palatino Linotype" panose="02040502050505030304" charset="0"/>
              </a:rPr>
              <a:t>portability</a:t>
            </a:r>
            <a:r>
              <a:rPr lang="zh-CN" altLang="en-US" sz="2200" dirty="0">
                <a:solidFill>
                  <a:schemeClr val="accent1"/>
                </a:solidFill>
                <a:latin typeface="Palatino Linotype" panose="02040502050505030304" charset="0"/>
                <a:cs typeface="Palatino Linotype" panose="02040502050505030304" charset="0"/>
              </a:rPr>
              <a:t> of compilers</a:t>
            </a:r>
            <a:r>
              <a:rPr lang="zh-CN" altLang="en-US" sz="2200" dirty="0">
                <a:latin typeface="Palatino Linotype" panose="02040502050505030304" charset="0"/>
                <a:cs typeface="Palatino Linotype" panose="02040502050505030304" charset="0"/>
              </a:rPr>
              <a:t>. Only lexical analyzer needs to deal with input-device-specific peculiarities (e.g., line separator)</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cs typeface="Palatino Linotype" panose="02040502050505030304" charset="0"/>
              </a:rPr>
              <a:t>Tokens, Patterns, and Lexemes</a:t>
            </a:r>
          </a:p>
        </p:txBody>
      </p:sp>
      <p:sp>
        <p:nvSpPr>
          <p:cNvPr id="4" name="内容占位符 3"/>
          <p:cNvSpPr>
            <a:spLocks noGrp="1"/>
          </p:cNvSpPr>
          <p:nvPr>
            <p:ph idx="1"/>
          </p:nvPr>
        </p:nvSpPr>
        <p:spPr/>
        <p:txBody>
          <a:bodyPr>
            <a:noAutofit/>
          </a:bodyPr>
          <a:lstStyle/>
          <a:p>
            <a:pPr marL="17145" algn="l" rtl="0" eaLnBrk="0" fontAlgn="auto">
              <a:lnSpc>
                <a:spcPct val="150000"/>
              </a:lnSpc>
              <a:spcBef>
                <a:spcPts val="0"/>
              </a:spcBef>
            </a:pP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a:t>
            </a:r>
            <a:r>
              <a:rPr sz="2000" spc="17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b="1" i="1"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token</a:t>
            </a:r>
            <a:r>
              <a:rPr sz="2000" spc="17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is</a:t>
            </a:r>
            <a:r>
              <a:rPr sz="2000" spc="17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a:t>
            </a:r>
            <a:r>
              <a:rPr sz="2000" spc="17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pair</a:t>
            </a:r>
            <a:r>
              <a:rPr sz="2000" spc="17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spc="17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&lt;</a:t>
            </a:r>
            <a:r>
              <a:rPr sz="20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tok</a:t>
            </a:r>
            <a:r>
              <a:rPr sz="2000" dirty="0">
                <a:solidFill>
                  <a:srgbClr val="0331FF">
                    <a:alpha val="100000"/>
                  </a:srgbClr>
                </a:solidFill>
                <a:latin typeface="Palatino Linotype" panose="02040502050505030304" charset="0"/>
                <a:ea typeface="Palatino Linotype" panose="02040502050505030304"/>
                <a:cs typeface="Palatino Linotype" panose="02040502050505030304" charset="0"/>
                <a:sym typeface="+mn-ea"/>
              </a:rPr>
              <a:t>en</a:t>
            </a:r>
            <a:r>
              <a:rPr sz="2000" spc="170" dirty="0">
                <a:solidFill>
                  <a:srgbClr val="0331FF">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331FF">
                    <a:alpha val="100000"/>
                  </a:srgbClr>
                </a:solidFill>
                <a:latin typeface="Palatino Linotype" panose="02040502050505030304" charset="0"/>
                <a:ea typeface="Palatino Linotype" panose="02040502050505030304"/>
                <a:cs typeface="Palatino Linotype" panose="02040502050505030304" charset="0"/>
                <a:sym typeface="+mn-ea"/>
              </a:rPr>
              <a:t>na</a:t>
            </a:r>
            <a:r>
              <a:rPr sz="20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me</a:t>
            </a:r>
            <a:r>
              <a:rPr sz="2000" spc="17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attribute</a:t>
            </a:r>
            <a:r>
              <a:rPr sz="2000" spc="17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value</a:t>
            </a:r>
            <a:r>
              <a:rPr sz="2000" spc="15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&gt;</a:t>
            </a:r>
          </a:p>
          <a:p>
            <a:pPr marL="457200" lvl="1" indent="0" algn="l" rtl="0" eaLnBrk="0" fontAlgn="auto">
              <a:lnSpc>
                <a:spcPct val="150000"/>
              </a:lnSpc>
              <a:spcBef>
                <a:spcPts val="0"/>
              </a:spcBef>
              <a:buNone/>
            </a:pPr>
            <a:r>
              <a:rPr sz="1800" spc="30" dirty="0">
                <a:solidFill>
                  <a:srgbClr val="000000">
                    <a:alpha val="100000"/>
                  </a:srgbClr>
                </a:solidFill>
                <a:latin typeface="Palatino Linotype" panose="02040502050505030304" charset="0"/>
                <a:ea typeface="微软雅黑" panose="020B0503020204020204" charset="-122"/>
                <a:cs typeface="Palatino Linotype" panose="02040502050505030304" charset="0"/>
                <a:sym typeface="+mn-ea"/>
              </a:rPr>
              <a:t>▪ </a:t>
            </a:r>
            <a:r>
              <a:rPr sz="180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Token</a:t>
            </a:r>
            <a:r>
              <a:rPr sz="1800" spc="3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name</a:t>
            </a:r>
            <a:r>
              <a:rPr sz="1800" spc="3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is</a:t>
            </a:r>
            <a:r>
              <a:rPr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an</a:t>
            </a:r>
            <a:r>
              <a:rPr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abstract</a:t>
            </a:r>
            <a:r>
              <a:rPr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symbol</a:t>
            </a:r>
            <a:r>
              <a:rPr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representing</a:t>
            </a:r>
            <a:r>
              <a:rPr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a:t>
            </a:r>
            <a:r>
              <a:rPr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kind</a:t>
            </a:r>
            <a:r>
              <a:rPr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of</a:t>
            </a:r>
            <a:r>
              <a:rPr sz="18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lexical unit</a:t>
            </a:r>
          </a:p>
          <a:p>
            <a:pPr marL="457200" lvl="1" indent="0" algn="l" rtl="0" eaLnBrk="0" fontAlgn="auto">
              <a:lnSpc>
                <a:spcPct val="150000"/>
              </a:lnSpc>
              <a:spcBef>
                <a:spcPts val="0"/>
              </a:spcBef>
              <a:buNone/>
            </a:pPr>
            <a:r>
              <a:rPr sz="1800" spc="40" dirty="0">
                <a:solidFill>
                  <a:srgbClr val="000000">
                    <a:alpha val="100000"/>
                  </a:srgbClr>
                </a:solidFill>
                <a:latin typeface="Palatino Linotype" panose="02040502050505030304" charset="0"/>
                <a:ea typeface="微软雅黑" panose="020B0503020204020204" charset="-122"/>
                <a:cs typeface="Palatino Linotype" panose="02040502050505030304" charset="0"/>
                <a:sym typeface="+mn-ea"/>
              </a:rPr>
              <a:t>▪ </a:t>
            </a:r>
            <a:r>
              <a:rPr sz="180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Attribute</a:t>
            </a:r>
            <a:r>
              <a:rPr sz="1800" spc="4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value</a:t>
            </a:r>
            <a:r>
              <a:rPr sz="1800" spc="4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optional</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points</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to</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the</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symbol</a:t>
            </a:r>
            <a:r>
              <a:rPr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table</a:t>
            </a:r>
            <a:endParaRPr lang="en-US" altLang="en-US" sz="2000" dirty="0">
              <a:latin typeface="Palatino Linotype" panose="02040502050505030304" charset="0"/>
              <a:cs typeface="Palatino Linotype" panose="02040502050505030304" charset="0"/>
            </a:endParaRPr>
          </a:p>
          <a:p>
            <a:pPr marL="238760" indent="-221615" algn="l" rtl="0" eaLnBrk="0" fontAlgn="auto">
              <a:lnSpc>
                <a:spcPct val="150000"/>
              </a:lnSpc>
              <a:spcBef>
                <a:spcPts val="0"/>
              </a:spcBef>
            </a:pP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a:t>
            </a:r>
            <a:r>
              <a:rPr sz="2000" spc="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b="1" i="1"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pattern</a:t>
            </a:r>
            <a:r>
              <a:rPr sz="2000" spc="20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is</a:t>
            </a:r>
            <a:r>
              <a:rPr sz="2000" spc="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a:t>
            </a:r>
            <a:r>
              <a:rPr sz="2000" spc="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description</a:t>
            </a:r>
            <a:r>
              <a:rPr sz="2000" spc="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of</a:t>
            </a:r>
            <a:r>
              <a:rPr sz="2000" spc="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the</a:t>
            </a:r>
            <a:r>
              <a:rPr sz="2000" spc="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form</a:t>
            </a:r>
            <a:r>
              <a:rPr sz="2000" spc="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that</a:t>
            </a:r>
            <a:r>
              <a:rPr sz="2000" spc="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the</a:t>
            </a:r>
            <a:r>
              <a:rPr sz="2000" spc="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lexemes</a:t>
            </a:r>
            <a:r>
              <a:rPr sz="2000" spc="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of</a:t>
            </a:r>
            <a:r>
              <a:rPr sz="2000" spc="15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 token</a:t>
            </a:r>
            <a:r>
              <a:rPr sz="2000" spc="26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may</a:t>
            </a:r>
            <a:r>
              <a:rPr sz="2000" spc="26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take</a:t>
            </a:r>
            <a:r>
              <a:rPr sz="2000" spc="2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t>
            </a:r>
            <a:endParaRPr lang="en-US" altLang="en-US" sz="2000" dirty="0">
              <a:latin typeface="Palatino Linotype" panose="02040502050505030304" charset="0"/>
              <a:cs typeface="Palatino Linotype" panose="02040502050505030304" charset="0"/>
            </a:endParaRPr>
          </a:p>
          <a:p>
            <a:pPr marL="238760" indent="-221615" algn="l" rtl="0" eaLnBrk="0" fontAlgn="auto">
              <a:lnSpc>
                <a:spcPct val="150000"/>
              </a:lnSpc>
              <a:spcBef>
                <a:spcPts val="0"/>
              </a:spcBef>
            </a:pP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a:t>
            </a:r>
            <a:r>
              <a:rPr sz="2000" spc="2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b="1" i="1"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lexeme</a:t>
            </a:r>
            <a:r>
              <a:rPr sz="2000" spc="24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is</a:t>
            </a:r>
            <a:r>
              <a:rPr sz="2000" spc="2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a:t>
            </a:r>
            <a:r>
              <a:rPr sz="2000" spc="2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sequence</a:t>
            </a:r>
            <a:r>
              <a:rPr sz="2000" spc="2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of</a:t>
            </a:r>
            <a:r>
              <a:rPr sz="2000" spc="2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characters</a:t>
            </a:r>
            <a:r>
              <a:rPr sz="2000" spc="2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in</a:t>
            </a:r>
            <a:r>
              <a:rPr sz="2000" spc="2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the</a:t>
            </a:r>
            <a:r>
              <a:rPr sz="2000" spc="2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source</a:t>
            </a:r>
            <a:r>
              <a:rPr sz="2000" spc="16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program that</a:t>
            </a:r>
            <a:r>
              <a:rPr sz="2000" spc="2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matches</a:t>
            </a:r>
            <a:r>
              <a:rPr sz="2000" spc="2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the</a:t>
            </a:r>
            <a:r>
              <a:rPr sz="2000" spc="2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pattern</a:t>
            </a:r>
            <a:r>
              <a:rPr sz="2000" spc="2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for</a:t>
            </a:r>
            <a:r>
              <a:rPr sz="2000" spc="2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a:t>
            </a:r>
            <a:r>
              <a:rPr sz="2000" spc="2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token</a:t>
            </a:r>
            <a:r>
              <a:rPr sz="2000" spc="22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t>
            </a:r>
          </a:p>
          <a:p>
            <a:pPr marL="474345" lvl="1" indent="0" algn="l" rtl="0" eaLnBrk="0" fontAlgn="auto">
              <a:lnSpc>
                <a:spcPct val="150000"/>
              </a:lnSpc>
              <a:spcBef>
                <a:spcPts val="0"/>
              </a:spcBef>
              <a:buNone/>
            </a:pPr>
            <a:r>
              <a:rPr sz="1800" spc="40" dirty="0">
                <a:solidFill>
                  <a:srgbClr val="000000">
                    <a:alpha val="100000"/>
                  </a:srgbClr>
                </a:solidFill>
                <a:latin typeface="Palatino Linotype" panose="02040502050505030304" charset="0"/>
                <a:ea typeface="微软雅黑" panose="020B0503020204020204" charset="-122"/>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It</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is</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identified</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by</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the</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lexical</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analyzer</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as</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an</a:t>
            </a:r>
            <a:r>
              <a:rPr sz="1800" spc="4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instance</a:t>
            </a:r>
            <a:r>
              <a:rPr sz="1800" spc="4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of</a:t>
            </a:r>
            <a:r>
              <a:rPr sz="1800" spc="4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the</a:t>
            </a:r>
            <a:r>
              <a:rPr sz="1800" spc="4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token</a:t>
            </a:r>
            <a:r>
              <a:rPr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t>
            </a:r>
            <a:endParaRPr lang="en-US" altLang="en-US"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endParaRPr>
          </a:p>
          <a:p>
            <a:pPr marL="12700" algn="l" rtl="0" eaLnBrk="0">
              <a:lnSpc>
                <a:spcPct val="81000"/>
              </a:lnSpc>
              <a:spcBef>
                <a:spcPts val="730"/>
              </a:spcBef>
            </a:pPr>
            <a:endParaRPr lang="en-US" altLang="en-US"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zh-CN" altLang="en-US" sz="3600">
                <a:latin typeface="Palatino Linotype" panose="02040502050505030304" charset="0"/>
                <a:cs typeface="Palatino Linotype" panose="02040502050505030304" charset="0"/>
              </a:rPr>
              <a:t>Examples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a:t>
            </a:fld>
            <a:endParaRPr/>
          </a:p>
        </p:txBody>
      </p:sp>
      <p:pic>
        <p:nvPicPr>
          <p:cNvPr id="2" name="内容占位符 1"/>
          <p:cNvPicPr>
            <a:picLocks noGrp="1" noChangeAspect="1"/>
          </p:cNvPicPr>
          <p:nvPr>
            <p:ph idx="1"/>
            <p:custDataLst>
              <p:tags r:id="rId1"/>
            </p:custDataLst>
          </p:nvPr>
        </p:nvPicPr>
        <p:blipFill>
          <a:blip r:embed="rId5"/>
          <a:stretch>
            <a:fillRect/>
          </a:stretch>
        </p:blipFill>
        <p:spPr>
          <a:xfrm>
            <a:off x="467360" y="1412875"/>
            <a:ext cx="7886700" cy="2693035"/>
          </a:xfrm>
          <a:prstGeom prst="rect">
            <a:avLst/>
          </a:prstGeom>
        </p:spPr>
      </p:pic>
      <p:pic>
        <p:nvPicPr>
          <p:cNvPr id="5" name="图片 4"/>
          <p:cNvPicPr>
            <a:picLocks noChangeAspect="1"/>
          </p:cNvPicPr>
          <p:nvPr>
            <p:custDataLst>
              <p:tags r:id="rId2"/>
            </p:custDataLst>
          </p:nvPr>
        </p:nvPicPr>
        <p:blipFill>
          <a:blip r:embed="rId6"/>
          <a:stretch>
            <a:fillRect/>
          </a:stretch>
        </p:blipFill>
        <p:spPr>
          <a:xfrm>
            <a:off x="360045" y="4222115"/>
            <a:ext cx="8100695" cy="16694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zh-CN" altLang="en-US" sz="3600">
                <a:latin typeface="Palatino Linotype" panose="02040502050505030304" charset="0"/>
                <a:cs typeface="Palatino Linotype" panose="02040502050505030304" charset="0"/>
              </a:rPr>
              <a:t>Attributes for Tokens</a:t>
            </a:r>
          </a:p>
        </p:txBody>
      </p:sp>
      <p:sp>
        <p:nvSpPr>
          <p:cNvPr id="4" name="内容占位符 3"/>
          <p:cNvSpPr>
            <a:spLocks noGrp="1"/>
          </p:cNvSpPr>
          <p:nvPr>
            <p:ph idx="1"/>
          </p:nvPr>
        </p:nvSpPr>
        <p:spPr>
          <a:xfrm>
            <a:off x="611505" y="1412875"/>
            <a:ext cx="7886700" cy="4351338"/>
          </a:xfrm>
        </p:spPr>
        <p:txBody>
          <a:bodyPr>
            <a:noAutofit/>
          </a:bodyPr>
          <a:lstStyle/>
          <a:p>
            <a:pPr marL="235585" indent="-221615" algn="l" rtl="0" eaLnBrk="0" fontAlgn="auto">
              <a:lnSpc>
                <a:spcPct val="150000"/>
              </a:lnSpc>
              <a:spcBef>
                <a:spcPts val="0"/>
              </a:spcBef>
            </a:pP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When</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more</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than</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one lexeme match a pattern, the lexical analyzer  must</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provide</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additional</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information</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named</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i="1"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attribute</a:t>
            </a:r>
            <a:r>
              <a:rPr sz="2000" spc="-1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i="1"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values</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to the subsequent</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compiler</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phases</a:t>
            </a:r>
          </a:p>
          <a:p>
            <a:pPr marL="471170" lvl="1" indent="0" algn="l" rtl="0" eaLnBrk="0" fontAlgn="auto">
              <a:lnSpc>
                <a:spcPct val="150000"/>
              </a:lnSpc>
              <a:spcBef>
                <a:spcPts val="0"/>
              </a:spcBef>
              <a:buNone/>
            </a:pPr>
            <a:r>
              <a:rPr sz="1800" spc="60" dirty="0">
                <a:solidFill>
                  <a:srgbClr val="000000">
                    <a:alpha val="100000"/>
                  </a:srgbClr>
                </a:solidFill>
                <a:latin typeface="Palatino Linotype" panose="02040502050505030304" charset="0"/>
                <a:ea typeface="微软雅黑" panose="020B0503020204020204" charset="-122"/>
                <a:cs typeface="Palatino Linotype" panose="02040502050505030304" charset="0"/>
                <a:sym typeface="+mn-ea"/>
              </a:rPr>
              <a:t>▪ </a:t>
            </a:r>
            <a:r>
              <a:rPr sz="18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Token</a:t>
            </a:r>
            <a:r>
              <a:rPr sz="1800" spc="6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names</a:t>
            </a:r>
            <a:r>
              <a:rPr sz="1800" spc="6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influence</a:t>
            </a:r>
            <a:r>
              <a:rPr sz="1800" spc="6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parsing</a:t>
            </a:r>
            <a:r>
              <a:rPr sz="1800" spc="4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decisions</a:t>
            </a:r>
          </a:p>
          <a:p>
            <a:pPr marL="471170" lvl="1" indent="0" algn="l" rtl="0" eaLnBrk="0" fontAlgn="auto">
              <a:lnSpc>
                <a:spcPct val="150000"/>
              </a:lnSpc>
              <a:spcBef>
                <a:spcPts val="0"/>
              </a:spcBef>
              <a:buNone/>
            </a:pPr>
            <a:r>
              <a:rPr sz="1800" spc="50" dirty="0">
                <a:solidFill>
                  <a:srgbClr val="000000">
                    <a:alpha val="100000"/>
                  </a:srgbClr>
                </a:solidFill>
                <a:latin typeface="Palatino Linotype" panose="02040502050505030304" charset="0"/>
                <a:ea typeface="微软雅黑" panose="020B0503020204020204" charset="-122"/>
                <a:cs typeface="Palatino Linotype" panose="02040502050505030304" charset="0"/>
                <a:sym typeface="+mn-ea"/>
              </a:rPr>
              <a:t>▪ </a:t>
            </a:r>
            <a:r>
              <a:rPr sz="18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Attribute</a:t>
            </a:r>
            <a:r>
              <a:rPr sz="1800" spc="5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values</a:t>
            </a:r>
            <a:r>
              <a:rPr sz="1800" spc="50" dirty="0">
                <a:solidFill>
                  <a:srgbClr val="0432FF">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influence</a:t>
            </a:r>
            <a:r>
              <a:rPr sz="1800" spc="5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semantic</a:t>
            </a:r>
            <a:r>
              <a:rPr sz="1800" spc="5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analysis</a:t>
            </a:r>
            <a:r>
              <a:rPr sz="1800" spc="5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code</a:t>
            </a:r>
            <a:r>
              <a:rPr sz="1800" spc="5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generation</a:t>
            </a:r>
            <a:r>
              <a:rPr sz="1800" spc="5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etc</a:t>
            </a:r>
            <a:r>
              <a:rPr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t>
            </a:r>
            <a:endParaRPr lang="en-US" altLang="en-US" sz="1800" dirty="0">
              <a:latin typeface="Palatino Linotype" panose="02040502050505030304" charset="0"/>
              <a:cs typeface="Palatino Linotype" panose="02040502050505030304" charset="0"/>
            </a:endParaRPr>
          </a:p>
          <a:p>
            <a:pPr marL="13970" algn="l" rtl="0" eaLnBrk="0" fontAlgn="auto">
              <a:lnSpc>
                <a:spcPct val="150000"/>
              </a:lnSpc>
              <a:spcBef>
                <a:spcPts val="0"/>
              </a:spcBef>
            </a:pP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For</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example</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an</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b="1"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id</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token</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is often associated with: (1) its lexeme,</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(2) type, and (3) th</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e</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location</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at</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which</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it</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is</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first</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found</a:t>
            </a:r>
            <a:r>
              <a:rPr sz="2000" spc="-1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Token</a:t>
            </a:r>
            <a:r>
              <a:rPr lang="en-US"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attributes</a:t>
            </a:r>
            <a:r>
              <a:rPr sz="2000" spc="2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are</a:t>
            </a:r>
            <a:r>
              <a:rPr sz="2000" spc="2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stored</a:t>
            </a:r>
            <a:r>
              <a:rPr sz="2000" spc="2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in</a:t>
            </a:r>
            <a:r>
              <a:rPr sz="2000" spc="2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the </a:t>
            </a:r>
            <a:r>
              <a:rPr sz="2000" dirty="0">
                <a:solidFill>
                  <a:srgbClr val="FF0000">
                    <a:alpha val="100000"/>
                  </a:srgbClr>
                </a:solidFill>
                <a:latin typeface="Palatino Linotype" panose="02040502050505030304" charset="0"/>
                <a:ea typeface="Palatino Linotype" panose="02040502050505030304"/>
                <a:cs typeface="Palatino Linotype" panose="02040502050505030304" charset="0"/>
                <a:sym typeface="+mn-ea"/>
              </a:rPr>
              <a:t>symbol table</a:t>
            </a:r>
            <a:r>
              <a:rPr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t>
            </a:r>
            <a:endParaRPr lang="zh-CN" altLang="en-US"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a:t>
            </a:fld>
            <a:endParaRPr/>
          </a:p>
        </p:txBody>
      </p:sp>
      <p:sp>
        <p:nvSpPr>
          <p:cNvPr id="2" name="textbox 21"/>
          <p:cNvSpPr/>
          <p:nvPr>
            <p:custDataLst>
              <p:tags r:id="rId1"/>
            </p:custDataLst>
          </p:nvPr>
        </p:nvSpPr>
        <p:spPr>
          <a:xfrm>
            <a:off x="3307080" y="5095875"/>
            <a:ext cx="5085080" cy="1186815"/>
          </a:xfrm>
          <a:prstGeom prst="rect">
            <a:avLst/>
          </a:prstGeom>
        </p:spPr>
        <p:txBody>
          <a:bodyPr vert="horz" wrap="square" lIns="0" tIns="0" rIns="0" bIns="0"/>
          <a:lstStyle/>
          <a:p>
            <a:pPr algn="l" rtl="0" eaLnBrk="0">
              <a:lnSpc>
                <a:spcPct val="80000"/>
              </a:lnSpc>
            </a:pPr>
            <a:endParaRPr lang="en-US" altLang="en-US" sz="100" dirty="0">
              <a:latin typeface="Palatino Linotype" panose="02040502050505030304" charset="0"/>
              <a:cs typeface="Palatino Linotype" panose="02040502050505030304" charset="0"/>
            </a:endParaRPr>
          </a:p>
          <a:p>
            <a:pPr marL="12700" algn="l" rtl="0" eaLnBrk="0">
              <a:lnSpc>
                <a:spcPct val="89000"/>
              </a:lnSpc>
            </a:pP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&lt;</a:t>
            </a:r>
            <a:r>
              <a:rPr sz="1500" b="1" spc="0" dirty="0">
                <a:solidFill>
                  <a:srgbClr val="0432FF">
                    <a:alpha val="100000"/>
                  </a:srgbClr>
                </a:solidFill>
                <a:latin typeface="Palatino Linotype" panose="02040502050505030304" charset="0"/>
                <a:ea typeface="Consolas" panose="020B0609020204030204"/>
                <a:cs typeface="Palatino Linotype" panose="02040502050505030304" charset="0"/>
              </a:rPr>
              <a:t>id</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pointer</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to</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symbol</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table</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entry</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for</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A</a:t>
            </a:r>
            <a:r>
              <a:rPr sz="1500" spc="170" dirty="0">
                <a:solidFill>
                  <a:srgbClr val="000000">
                    <a:alpha val="100000"/>
                  </a:srgbClr>
                </a:solidFill>
                <a:latin typeface="Palatino Linotype" panose="02040502050505030304" charset="0"/>
                <a:ea typeface="Consolas" panose="020B0609020204030204"/>
                <a:cs typeface="Palatino Linotype" panose="02040502050505030304" charset="0"/>
              </a:rPr>
              <a:t>&gt;</a:t>
            </a:r>
            <a:endParaRPr lang="en-US" altLang="en-US" sz="1500" dirty="0">
              <a:latin typeface="Palatino Linotype" panose="02040502050505030304" charset="0"/>
              <a:cs typeface="Palatino Linotype" panose="02040502050505030304" charset="0"/>
            </a:endParaRPr>
          </a:p>
          <a:p>
            <a:pPr marL="12700" algn="l" rtl="0" eaLnBrk="0">
              <a:lnSpc>
                <a:spcPts val="2495"/>
              </a:lnSpc>
            </a:pPr>
            <a:r>
              <a:rPr sz="1500" spc="160" dirty="0">
                <a:solidFill>
                  <a:srgbClr val="000000">
                    <a:alpha val="100000"/>
                  </a:srgbClr>
                </a:solidFill>
                <a:latin typeface="Palatino Linotype" panose="02040502050505030304" charset="0"/>
                <a:ea typeface="Consolas" panose="020B0609020204030204"/>
                <a:cs typeface="Palatino Linotype" panose="02040502050505030304" charset="0"/>
              </a:rPr>
              <a:t>&lt;</a:t>
            </a:r>
            <a:r>
              <a:rPr sz="1500" b="1" spc="0" dirty="0">
                <a:solidFill>
                  <a:srgbClr val="0432FF">
                    <a:alpha val="100000"/>
                  </a:srgbClr>
                </a:solidFill>
                <a:latin typeface="Palatino Linotype" panose="02040502050505030304" charset="0"/>
                <a:ea typeface="Consolas" panose="020B0609020204030204"/>
                <a:cs typeface="Palatino Linotype" panose="02040502050505030304" charset="0"/>
              </a:rPr>
              <a:t>assign</a:t>
            </a:r>
            <a:r>
              <a:rPr sz="1500" b="1" spc="160" dirty="0">
                <a:solidFill>
                  <a:srgbClr val="0432FF">
                    <a:alpha val="100000"/>
                  </a:srgbClr>
                </a:solidFill>
                <a:latin typeface="Palatino Linotype" panose="02040502050505030304" charset="0"/>
                <a:ea typeface="Consolas" panose="020B0609020204030204"/>
                <a:cs typeface="Palatino Linotype" panose="02040502050505030304" charset="0"/>
              </a:rPr>
              <a:t>_</a:t>
            </a:r>
            <a:r>
              <a:rPr sz="1500" b="1" spc="0" dirty="0">
                <a:solidFill>
                  <a:srgbClr val="0432FF">
                    <a:alpha val="100000"/>
                  </a:srgbClr>
                </a:solidFill>
                <a:latin typeface="Palatino Linotype" panose="02040502050505030304" charset="0"/>
                <a:ea typeface="Consolas" panose="020B0609020204030204"/>
                <a:cs typeface="Palatino Linotype" panose="02040502050505030304" charset="0"/>
              </a:rPr>
              <a:t>op</a:t>
            </a:r>
            <a:r>
              <a:rPr sz="1500" spc="140" dirty="0">
                <a:solidFill>
                  <a:srgbClr val="000000">
                    <a:alpha val="100000"/>
                  </a:srgbClr>
                </a:solidFill>
                <a:latin typeface="Palatino Linotype" panose="02040502050505030304" charset="0"/>
                <a:ea typeface="Consolas" panose="020B0609020204030204"/>
                <a:cs typeface="Palatino Linotype" panose="02040502050505030304" charset="0"/>
              </a:rPr>
              <a:t>&gt;</a:t>
            </a:r>
            <a:endParaRPr lang="en-US" altLang="en-US" sz="1500" dirty="0">
              <a:latin typeface="Palatino Linotype" panose="02040502050505030304" charset="0"/>
              <a:cs typeface="Palatino Linotype" panose="02040502050505030304" charset="0"/>
            </a:endParaRPr>
          </a:p>
          <a:p>
            <a:pPr marL="12700" algn="l" rtl="0" eaLnBrk="0">
              <a:lnSpc>
                <a:spcPct val="138000"/>
              </a:lnSpc>
              <a:spcBef>
                <a:spcPts val="75"/>
              </a:spcBef>
            </a:pP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&lt;</a:t>
            </a:r>
            <a:r>
              <a:rPr sz="1500" b="1" spc="0" dirty="0">
                <a:solidFill>
                  <a:srgbClr val="0432FF">
                    <a:alpha val="100000"/>
                  </a:srgbClr>
                </a:solidFill>
                <a:latin typeface="Palatino Linotype" panose="02040502050505030304" charset="0"/>
                <a:ea typeface="Consolas" panose="020B0609020204030204"/>
                <a:cs typeface="Palatino Linotype" panose="02040502050505030304" charset="0"/>
              </a:rPr>
              <a:t>id</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pointer</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to</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symbol</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table</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entry</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for</a:t>
            </a:r>
            <a:r>
              <a:rPr sz="1500" spc="20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B</a:t>
            </a:r>
            <a:r>
              <a:rPr sz="1500" spc="180" dirty="0">
                <a:solidFill>
                  <a:srgbClr val="000000">
                    <a:alpha val="100000"/>
                  </a:srgbClr>
                </a:solidFill>
                <a:latin typeface="Palatino Linotype" panose="02040502050505030304" charset="0"/>
                <a:ea typeface="Consolas" panose="020B0609020204030204"/>
                <a:cs typeface="Palatino Linotype" panose="02040502050505030304" charset="0"/>
              </a:rPr>
              <a:t>&gt;</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160" dirty="0">
                <a:solidFill>
                  <a:srgbClr val="000000">
                    <a:alpha val="100000"/>
                  </a:srgbClr>
                </a:solidFill>
                <a:latin typeface="Palatino Linotype" panose="02040502050505030304" charset="0"/>
                <a:ea typeface="Consolas" panose="020B0609020204030204"/>
                <a:cs typeface="Palatino Linotype" panose="02040502050505030304" charset="0"/>
              </a:rPr>
              <a:t>&lt;</a:t>
            </a:r>
            <a:r>
              <a:rPr sz="1500" b="1" spc="0" dirty="0">
                <a:solidFill>
                  <a:srgbClr val="0432FF">
                    <a:alpha val="100000"/>
                  </a:srgbClr>
                </a:solidFill>
                <a:latin typeface="Palatino Linotype" panose="02040502050505030304" charset="0"/>
                <a:ea typeface="Consolas" panose="020B0609020204030204"/>
                <a:cs typeface="Palatino Linotype" panose="02040502050505030304" charset="0"/>
              </a:rPr>
              <a:t>mult</a:t>
            </a:r>
            <a:r>
              <a:rPr sz="1500" b="1" spc="160" dirty="0">
                <a:solidFill>
                  <a:srgbClr val="0432FF">
                    <a:alpha val="100000"/>
                  </a:srgbClr>
                </a:solidFill>
                <a:latin typeface="Palatino Linotype" panose="02040502050505030304" charset="0"/>
                <a:ea typeface="Consolas" panose="020B0609020204030204"/>
                <a:cs typeface="Palatino Linotype" panose="02040502050505030304" charset="0"/>
              </a:rPr>
              <a:t>_</a:t>
            </a:r>
            <a:r>
              <a:rPr sz="1500" b="1" spc="0" dirty="0">
                <a:solidFill>
                  <a:srgbClr val="0432FF">
                    <a:alpha val="100000"/>
                  </a:srgbClr>
                </a:solidFill>
                <a:latin typeface="Palatino Linotype" panose="02040502050505030304" charset="0"/>
                <a:ea typeface="Consolas" panose="020B0609020204030204"/>
                <a:cs typeface="Palatino Linotype" panose="02040502050505030304" charset="0"/>
              </a:rPr>
              <a:t>op</a:t>
            </a:r>
            <a:r>
              <a:rPr sz="1500" spc="160" dirty="0">
                <a:solidFill>
                  <a:srgbClr val="000000">
                    <a:alpha val="100000"/>
                  </a:srgbClr>
                </a:solidFill>
                <a:latin typeface="Palatino Linotype" panose="02040502050505030304" charset="0"/>
                <a:ea typeface="Consolas" panose="020B0609020204030204"/>
                <a:cs typeface="Palatino Linotype" panose="02040502050505030304" charset="0"/>
              </a:rPr>
              <a:t>&gt; &lt;</a:t>
            </a:r>
            <a:r>
              <a:rPr sz="1500" b="1" spc="0" dirty="0">
                <a:solidFill>
                  <a:srgbClr val="0432FF">
                    <a:alpha val="100000"/>
                  </a:srgbClr>
                </a:solidFill>
                <a:latin typeface="Palatino Linotype" panose="02040502050505030304" charset="0"/>
                <a:ea typeface="Consolas" panose="020B0609020204030204"/>
                <a:cs typeface="Palatino Linotype" panose="02040502050505030304" charset="0"/>
              </a:rPr>
              <a:t>number</a:t>
            </a:r>
            <a:r>
              <a:rPr sz="1500" spc="16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integer</a:t>
            </a:r>
            <a:r>
              <a:rPr sz="1500" spc="160" dirty="0">
                <a:solidFill>
                  <a:srgbClr val="000000">
                    <a:alpha val="100000"/>
                  </a:srgbClr>
                </a:solidFill>
                <a:latin typeface="Palatino Linotype" panose="02040502050505030304" charset="0"/>
                <a:ea typeface="Consolas" panose="020B0609020204030204"/>
                <a:cs typeface="Palatino Linotype" panose="02040502050505030304" charset="0"/>
              </a:rPr>
              <a:t> </a:t>
            </a:r>
            <a:r>
              <a:rPr sz="1500" spc="0" dirty="0">
                <a:solidFill>
                  <a:srgbClr val="000000">
                    <a:alpha val="100000"/>
                  </a:srgbClr>
                </a:solidFill>
                <a:latin typeface="Palatino Linotype" panose="02040502050505030304" charset="0"/>
                <a:ea typeface="Consolas" panose="020B0609020204030204"/>
                <a:cs typeface="Palatino Linotype" panose="02040502050505030304" charset="0"/>
              </a:rPr>
              <a:t>value</a:t>
            </a:r>
            <a:r>
              <a:rPr sz="1500" spc="160" dirty="0">
                <a:solidFill>
                  <a:srgbClr val="000000">
                    <a:alpha val="100000"/>
                  </a:srgbClr>
                </a:solidFill>
                <a:latin typeface="Palatino Linotype" panose="02040502050505030304" charset="0"/>
                <a:ea typeface="Consolas" panose="020B0609020204030204"/>
                <a:cs typeface="Palatino Linotype" panose="02040502050505030304" charset="0"/>
              </a:rPr>
              <a:t> 2</a:t>
            </a:r>
            <a:r>
              <a:rPr sz="1500" spc="70" dirty="0">
                <a:solidFill>
                  <a:srgbClr val="000000">
                    <a:alpha val="100000"/>
                  </a:srgbClr>
                </a:solidFill>
                <a:latin typeface="Palatino Linotype" panose="02040502050505030304" charset="0"/>
                <a:ea typeface="Consolas" panose="020B0609020204030204"/>
                <a:cs typeface="Palatino Linotype" panose="02040502050505030304" charset="0"/>
              </a:rPr>
              <a:t>&gt;</a:t>
            </a:r>
            <a:endParaRPr lang="en-US" altLang="en-US" sz="1500" dirty="0">
              <a:latin typeface="Palatino Linotype" panose="02040502050505030304" charset="0"/>
              <a:cs typeface="Palatino Linotype" panose="02040502050505030304" charset="0"/>
            </a:endParaRPr>
          </a:p>
        </p:txBody>
      </p:sp>
      <p:sp>
        <p:nvSpPr>
          <p:cNvPr id="5" name="textbox 23"/>
          <p:cNvSpPr/>
          <p:nvPr>
            <p:custDataLst>
              <p:tags r:id="rId2"/>
            </p:custDataLst>
          </p:nvPr>
        </p:nvSpPr>
        <p:spPr>
          <a:xfrm>
            <a:off x="650875" y="5554345"/>
            <a:ext cx="1403985" cy="234950"/>
          </a:xfrm>
          <a:prstGeom prst="rect">
            <a:avLst/>
          </a:prstGeom>
        </p:spPr>
        <p:txBody>
          <a:bodyPr vert="horz" wrap="square" lIns="0" tIns="0" rIns="0" bIns="0"/>
          <a:lstStyle/>
          <a:p>
            <a:pPr algn="l" rtl="0" eaLnBrk="0">
              <a:lnSpc>
                <a:spcPct val="81000"/>
              </a:lnSpc>
            </a:pPr>
            <a:endParaRPr lang="en-US" altLang="en-US" sz="100" dirty="0">
              <a:latin typeface="Ubuntu Mono derivative Powerline" charset="0"/>
            </a:endParaRPr>
          </a:p>
          <a:p>
            <a:pPr marL="12700" algn="l" rtl="0" eaLnBrk="0">
              <a:lnSpc>
                <a:spcPct val="81000"/>
              </a:lnSpc>
            </a:pPr>
            <a:r>
              <a:rPr sz="1700" spc="0" dirty="0">
                <a:solidFill>
                  <a:srgbClr val="0432FF">
                    <a:alpha val="100000"/>
                  </a:srgbClr>
                </a:solidFill>
                <a:latin typeface="Ubuntu Mono derivative Powerline" charset="0"/>
                <a:ea typeface="Consolas" panose="020B0609020204030204"/>
                <a:cs typeface="Consolas" panose="020B0609020204030204"/>
              </a:rPr>
              <a:t>A</a:t>
            </a:r>
            <a:r>
              <a:rPr sz="1700" spc="70" dirty="0">
                <a:solidFill>
                  <a:srgbClr val="0432FF">
                    <a:alpha val="100000"/>
                  </a:srgbClr>
                </a:solidFill>
                <a:latin typeface="Ubuntu Mono derivative Powerline" charset="0"/>
                <a:ea typeface="Consolas" panose="020B0609020204030204"/>
                <a:cs typeface="Consolas" panose="020B0609020204030204"/>
              </a:rPr>
              <a:t> = </a:t>
            </a:r>
            <a:r>
              <a:rPr sz="1700" spc="0" dirty="0">
                <a:solidFill>
                  <a:srgbClr val="0432FF">
                    <a:alpha val="100000"/>
                  </a:srgbClr>
                </a:solidFill>
                <a:latin typeface="Ubuntu Mono derivative Powerline" charset="0"/>
                <a:ea typeface="Consolas" panose="020B0609020204030204"/>
                <a:cs typeface="Consolas" panose="020B0609020204030204"/>
              </a:rPr>
              <a:t>B</a:t>
            </a:r>
            <a:r>
              <a:rPr sz="1700" spc="70" dirty="0">
                <a:solidFill>
                  <a:srgbClr val="0432FF">
                    <a:alpha val="100000"/>
                  </a:srgbClr>
                </a:solidFill>
                <a:latin typeface="Ubuntu Mono derivative Powerline" charset="0"/>
                <a:ea typeface="Consolas" panose="020B0609020204030204"/>
                <a:cs typeface="Consolas" panose="020B0609020204030204"/>
              </a:rPr>
              <a:t> * </a:t>
            </a:r>
            <a:r>
              <a:rPr sz="1700" spc="50" dirty="0">
                <a:solidFill>
                  <a:srgbClr val="0432FF">
                    <a:alpha val="100000"/>
                  </a:srgbClr>
                </a:solidFill>
                <a:latin typeface="Ubuntu Mono derivative Powerline" charset="0"/>
                <a:ea typeface="Consolas" panose="020B0609020204030204"/>
                <a:cs typeface="Consolas" panose="020B0609020204030204"/>
              </a:rPr>
              <a:t>2</a:t>
            </a:r>
            <a:endParaRPr lang="en-US" altLang="en-US" sz="1700" dirty="0">
              <a:latin typeface="Ubuntu Mono derivative Powerline" charset="0"/>
            </a:endParaRPr>
          </a:p>
        </p:txBody>
      </p:sp>
      <p:pic>
        <p:nvPicPr>
          <p:cNvPr id="6" name="picture 24"/>
          <p:cNvPicPr>
            <a:picLocks noChangeAspect="1"/>
          </p:cNvPicPr>
          <p:nvPr>
            <p:custDataLst>
              <p:tags r:id="rId3"/>
            </p:custDataLst>
          </p:nvPr>
        </p:nvPicPr>
        <p:blipFill>
          <a:blip r:embed="rId6"/>
          <a:stretch>
            <a:fillRect/>
          </a:stretch>
        </p:blipFill>
        <p:spPr>
          <a:xfrm rot="21600000">
            <a:off x="2055367" y="5584698"/>
            <a:ext cx="1007999" cy="12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zh-CN" altLang="en-US" sz="3600">
                <a:latin typeface="Palatino Linotype" panose="02040502050505030304" charset="0"/>
                <a:cs typeface="Palatino Linotype" panose="02040502050505030304" charset="0"/>
              </a:rPr>
              <a:t>Lexical Errors</a:t>
            </a:r>
          </a:p>
        </p:txBody>
      </p:sp>
      <p:sp>
        <p:nvSpPr>
          <p:cNvPr id="4" name="内容占位符 3"/>
          <p:cNvSpPr>
            <a:spLocks noGrp="1"/>
          </p:cNvSpPr>
          <p:nvPr>
            <p:ph idx="1"/>
          </p:nvPr>
        </p:nvSpPr>
        <p:spPr>
          <a:xfrm>
            <a:off x="611505" y="1412875"/>
            <a:ext cx="7886700" cy="4351338"/>
          </a:xfrm>
        </p:spPr>
        <p:txBody>
          <a:bodyPr>
            <a:normAutofit/>
          </a:bodyPr>
          <a:lstStyle/>
          <a:p>
            <a:pPr marL="235585" indent="-221615" algn="l" rtl="0" eaLnBrk="0" fontAlgn="auto">
              <a:lnSpc>
                <a:spcPct val="150000"/>
              </a:lnSpc>
              <a:spcBef>
                <a:spcPts val="0"/>
              </a:spcBef>
            </a:pPr>
            <a:r>
              <a:rPr lang="zh-CN" altLang="en-US" sz="2200" dirty="0">
                <a:solidFill>
                  <a:srgbClr val="FF0000"/>
                </a:solidFill>
                <a:latin typeface="Palatino Linotype" panose="02040502050505030304" charset="0"/>
                <a:cs typeface="Palatino Linotype" panose="02040502050505030304" charset="0"/>
              </a:rPr>
              <a:t>The lexical analyzer is unable to proceed:</a:t>
            </a:r>
            <a:r>
              <a:rPr lang="zh-CN" altLang="en-US" sz="2200" dirty="0">
                <a:latin typeface="Palatino Linotype" panose="02040502050505030304" charset="0"/>
                <a:cs typeface="Palatino Linotype" panose="02040502050505030304" charset="0"/>
              </a:rPr>
              <a:t> none of the patterns for tokens match any prefix of the remaining input</a:t>
            </a:r>
          </a:p>
          <a:p>
            <a:pPr marL="235585" indent="-221615" algn="l" rtl="0" eaLnBrk="0" fontAlgn="auto">
              <a:lnSpc>
                <a:spcPct val="150000"/>
              </a:lnSpc>
              <a:spcBef>
                <a:spcPts val="0"/>
              </a:spcBef>
            </a:pPr>
            <a:r>
              <a:rPr lang="zh-CN" altLang="en-US" sz="2200" dirty="0">
                <a:latin typeface="Palatino Linotype" panose="02040502050505030304" charset="0"/>
                <a:cs typeface="Palatino Linotype" panose="02040502050505030304" charset="0"/>
              </a:rPr>
              <a:t>Example: int </a:t>
            </a:r>
            <a:r>
              <a:rPr lang="zh-CN" altLang="en-US" sz="2200" dirty="0">
                <a:solidFill>
                  <a:srgbClr val="FF0000"/>
                </a:solidFill>
                <a:latin typeface="Palatino Linotype" panose="02040502050505030304" charset="0"/>
                <a:cs typeface="Palatino Linotype" panose="02040502050505030304" charset="0"/>
              </a:rPr>
              <a:t>3a</a:t>
            </a:r>
            <a:r>
              <a:rPr lang="zh-CN" altLang="en-US" sz="2200" dirty="0">
                <a:latin typeface="Palatino Linotype" panose="02040502050505030304" charset="0"/>
                <a:cs typeface="Palatino Linotype" panose="02040502050505030304" charset="0"/>
              </a:rPr>
              <a:t> = a * 3;</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zh-CN" altLang="en-US" sz="3600">
                <a:latin typeface="Palatino Linotype" panose="02040502050505030304" charset="0"/>
                <a:cs typeface="Palatino Linotype" panose="02040502050505030304" charset="0"/>
              </a:rPr>
              <a:t>Outline</a:t>
            </a:r>
          </a:p>
        </p:txBody>
      </p:sp>
      <p:sp>
        <p:nvSpPr>
          <p:cNvPr id="4" name="内容占位符 3"/>
          <p:cNvSpPr>
            <a:spLocks noGrp="1"/>
          </p:cNvSpPr>
          <p:nvPr>
            <p:ph idx="1"/>
          </p:nvPr>
        </p:nvSpPr>
        <p:spPr/>
        <p:txBody>
          <a:bodyPr>
            <a:normAutofit fontScale="92500" lnSpcReduction="10000"/>
          </a:bodyPr>
          <a:lstStyle/>
          <a:p>
            <a:pPr marL="12700" algn="l" rtl="0" eaLnBrk="0">
              <a:lnSpc>
                <a:spcPct val="81000"/>
              </a:lnSpc>
              <a:spcBef>
                <a:spcPts val="730"/>
              </a:spcBef>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The</a:t>
            </a:r>
            <a:r>
              <a:rPr sz="2750" spc="2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Role</a:t>
            </a:r>
            <a:r>
              <a:rPr sz="2750" spc="2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of</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Lexical Analyzer</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25000"/>
              </a:lnSpc>
            </a:pPr>
            <a:endParaRPr lang="en-US" altLang="en-US" sz="2750" dirty="0">
              <a:solidFill>
                <a:schemeClr val="bg1">
                  <a:lumMod val="75000"/>
                </a:schemeClr>
              </a:solidFill>
              <a:latin typeface="Palatino Linotype" panose="02040502050505030304" charset="0"/>
              <a:cs typeface="Ubuntu Mono derivative Powerline" charset="0"/>
            </a:endParaRPr>
          </a:p>
          <a:p>
            <a:pPr marL="12700" algn="l" rtl="0" eaLnBrk="0">
              <a:lnSpc>
                <a:spcPct val="81000"/>
              </a:lnSpc>
              <a:spcBef>
                <a:spcPts val="730"/>
              </a:spcBef>
            </a:pP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Specification of Tokens (Regular Expressions)</a:t>
            </a:r>
            <a:endParaRPr lang="en-US" altLang="en-US" sz="2750" dirty="0">
              <a:solidFill>
                <a:schemeClr val="bg1">
                  <a:lumMod val="75000"/>
                </a:schemeClr>
              </a:solidFill>
              <a:latin typeface="Palatino Linotype" panose="02040502050505030304" charset="0"/>
              <a:cs typeface="Ubuntu Mono derivative Powerline" charset="0"/>
            </a:endParaRPr>
          </a:p>
          <a:p>
            <a:pPr algn="l" rtl="0" eaLnBrk="0">
              <a:lnSpc>
                <a:spcPct val="126000"/>
              </a:lnSpc>
            </a:pPr>
            <a:endParaRPr lang="en-US" altLang="en-US" sz="2750" dirty="0">
              <a:solidFill>
                <a:schemeClr val="bg1">
                  <a:lumMod val="75000"/>
                </a:schemeClr>
              </a:solidFill>
              <a:latin typeface="Palatino Linotype" panose="02040502050505030304" charset="0"/>
              <a:cs typeface="Ubuntu Mono derivative Powerline" charset="0"/>
            </a:endParaRPr>
          </a:p>
          <a:p>
            <a:pPr marL="12700" algn="l" rtl="0" eaLnBrk="0">
              <a:lnSpc>
                <a:spcPct val="81000"/>
              </a:lnSpc>
              <a:spcBef>
                <a:spcPts val="720"/>
              </a:spcBef>
            </a:pP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Recog</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nition</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of</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Tokens</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Transition</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Diagrams</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25000"/>
              </a:lnSpc>
            </a:pPr>
            <a:endParaRPr lang="en-US" altLang="en-US" sz="2750" dirty="0">
              <a:solidFill>
                <a:schemeClr val="bg2">
                  <a:lumMod val="50000"/>
                </a:schemeClr>
              </a:solidFill>
              <a:latin typeface="Palatino Linotype" panose="02040502050505030304" charset="0"/>
              <a:cs typeface="Ubuntu Mono derivative Powerline" charset="0"/>
            </a:endParaRPr>
          </a:p>
          <a:p>
            <a:pPr marL="12700" algn="l" rtl="0" eaLnBrk="0">
              <a:lnSpc>
                <a:spcPts val="2945"/>
              </a:lnSpc>
              <a:spcBef>
                <a:spcPts val="730"/>
              </a:spcBef>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The</a:t>
            </a:r>
            <a:r>
              <a:rPr sz="2750" spc="4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Lexical</a:t>
            </a:r>
            <a:r>
              <a:rPr sz="2750" spc="4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Analyzer</a:t>
            </a:r>
            <a:r>
              <a:rPr sz="2750" spc="3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Generator</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00000"/>
              </a:lnSpc>
            </a:pPr>
            <a:endParaRPr lang="en-US" altLang="en-US" sz="2750" dirty="0">
              <a:solidFill>
                <a:schemeClr val="bg2">
                  <a:lumMod val="50000"/>
                </a:schemeClr>
              </a:solidFill>
              <a:latin typeface="Palatino Linotype" panose="02040502050505030304" charset="0"/>
              <a:cs typeface="Ubuntu Mono derivative Powerline" charset="0"/>
            </a:endParaRPr>
          </a:p>
          <a:p>
            <a:pPr marL="12700" algn="l" rtl="0" eaLnBrk="0">
              <a:lnSpc>
                <a:spcPct val="96000"/>
              </a:lnSpc>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Finite</a:t>
            </a:r>
            <a:r>
              <a:rPr sz="2750" spc="3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Automata</a:t>
            </a:r>
            <a:endParaRPr lang="zh-CN" altLang="en-US"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sz="3600" b="1" dirty="0">
                <a:solidFill>
                  <a:srgbClr val="000000">
                    <a:alpha val="100000"/>
                  </a:srgbClr>
                </a:solidFill>
                <a:latin typeface="Palatino Linotype" panose="02040502050505030304" charset="0"/>
                <a:ea typeface="Palatino Linotype" panose="02040502050505030304"/>
                <a:cs typeface="Palatino Linotype" panose="02040502050505030304"/>
                <a:sym typeface="+mn-ea"/>
              </a:rPr>
              <a:t>Specification</a:t>
            </a:r>
            <a:r>
              <a:rPr sz="3600" spc="230" dirty="0">
                <a:solidFill>
                  <a:srgbClr val="000000">
                    <a:alpha val="100000"/>
                  </a:srgbClr>
                </a:solidFill>
                <a:latin typeface="Palatino Linotype" panose="02040502050505030304" charset="0"/>
                <a:ea typeface="Palatino Linotype" panose="02040502050505030304"/>
                <a:cs typeface="Palatino Linotype" panose="02040502050505030304"/>
                <a:sym typeface="+mn-ea"/>
              </a:rPr>
              <a:t> </a:t>
            </a:r>
            <a:r>
              <a:rPr sz="3600" b="1" dirty="0">
                <a:solidFill>
                  <a:srgbClr val="000000">
                    <a:alpha val="100000"/>
                  </a:srgbClr>
                </a:solidFill>
                <a:latin typeface="Palatino Linotype" panose="02040502050505030304" charset="0"/>
                <a:ea typeface="Palatino Linotype" panose="02040502050505030304"/>
                <a:cs typeface="Palatino Linotype" panose="02040502050505030304"/>
                <a:sym typeface="+mn-ea"/>
              </a:rPr>
              <a:t>of</a:t>
            </a:r>
            <a:r>
              <a:rPr sz="3600" spc="220" dirty="0">
                <a:solidFill>
                  <a:srgbClr val="000000">
                    <a:alpha val="100000"/>
                  </a:srgbClr>
                </a:solidFill>
                <a:latin typeface="Palatino Linotype" panose="02040502050505030304" charset="0"/>
                <a:ea typeface="Palatino Linotype" panose="02040502050505030304"/>
                <a:cs typeface="Palatino Linotype" panose="02040502050505030304"/>
                <a:sym typeface="+mn-ea"/>
              </a:rPr>
              <a:t> </a:t>
            </a:r>
            <a:r>
              <a:rPr sz="3600" b="1" dirty="0">
                <a:solidFill>
                  <a:srgbClr val="000000">
                    <a:alpha val="100000"/>
                  </a:srgbClr>
                </a:solidFill>
                <a:latin typeface="Palatino Linotype" panose="02040502050505030304" charset="0"/>
                <a:ea typeface="Palatino Linotype" panose="02040502050505030304"/>
                <a:cs typeface="Palatino Linotype" panose="02040502050505030304"/>
                <a:sym typeface="+mn-ea"/>
              </a:rPr>
              <a:t>Tokens</a:t>
            </a:r>
            <a:endParaRPr lang="zh-CN" altLang="en-US" sz="3600">
              <a:latin typeface="Palatino Linotype" panose="02040502050505030304" charset="0"/>
            </a:endParaRPr>
          </a:p>
        </p:txBody>
      </p:sp>
      <p:sp>
        <p:nvSpPr>
          <p:cNvPr id="4" name="内容占位符 3"/>
          <p:cNvSpPr>
            <a:spLocks noGrp="1"/>
          </p:cNvSpPr>
          <p:nvPr>
            <p:ph idx="1"/>
          </p:nvPr>
        </p:nvSpPr>
        <p:spPr>
          <a:xfrm>
            <a:off x="611505" y="1556385"/>
            <a:ext cx="7886700" cy="4351338"/>
          </a:xfrm>
        </p:spPr>
        <p:txBody>
          <a:bodyPr>
            <a:normAutofit/>
          </a:bodyPr>
          <a:lstStyle/>
          <a:p>
            <a:pPr marL="235585" indent="-221615" algn="l" rtl="0" eaLnBrk="0" fontAlgn="auto" latinLnBrk="0" hangingPunct="1">
              <a:lnSpc>
                <a:spcPct val="100000"/>
              </a:lnSpc>
              <a:spcBef>
                <a:spcPts val="0"/>
              </a:spcBef>
            </a:pPr>
            <a:r>
              <a:rPr lang="zh-CN" altLang="en-US" sz="2000" dirty="0">
                <a:solidFill>
                  <a:srgbClr val="FF0000"/>
                </a:solidFill>
                <a:latin typeface="Palatino Linotype" panose="02040502050505030304" charset="0"/>
                <a:cs typeface="Palatino Linotype" panose="02040502050505030304" charset="0"/>
              </a:rPr>
              <a:t>Regular expression</a:t>
            </a:r>
            <a:r>
              <a:rPr lang="zh-CN" altLang="en-US" sz="2000" dirty="0">
                <a:latin typeface="Palatino Linotype" panose="02040502050505030304" charset="0"/>
                <a:cs typeface="Palatino Linotype" panose="02040502050505030304" charset="0"/>
              </a:rPr>
              <a:t> (正则表达式, </a:t>
            </a:r>
            <a:r>
              <a:rPr lang="zh-CN" altLang="en-US" sz="2000" dirty="0">
                <a:solidFill>
                  <a:srgbClr val="FF0000"/>
                </a:solidFill>
                <a:latin typeface="Palatino Linotype" panose="02040502050505030304" charset="0"/>
                <a:cs typeface="Palatino Linotype" panose="02040502050505030304" charset="0"/>
              </a:rPr>
              <a:t>regexp</a:t>
            </a:r>
            <a:r>
              <a:rPr lang="zh-CN" altLang="en-US" sz="2000" dirty="0">
                <a:latin typeface="Palatino Linotype" panose="02040502050505030304" charset="0"/>
                <a:cs typeface="Palatino Linotype" panose="02040502050505030304" charset="0"/>
              </a:rPr>
              <a:t> for short) is an important notation for specifying lexeme patterns</a:t>
            </a:r>
          </a:p>
          <a:p>
            <a:pPr marL="235585" indent="-221615" algn="l" rtl="0" eaLnBrk="0" fontAlgn="auto" latinLnBrk="0" hangingPunct="1">
              <a:lnSpc>
                <a:spcPct val="100000"/>
              </a:lnSpc>
              <a:spcBef>
                <a:spcPts val="0"/>
              </a:spcBef>
            </a:pPr>
            <a:endParaRPr lang="zh-CN" altLang="en-US" sz="2000" dirty="0">
              <a:latin typeface="Palatino Linotype" panose="02040502050505030304" charset="0"/>
              <a:cs typeface="Palatino Linotype" panose="02040502050505030304" charset="0"/>
            </a:endParaRPr>
          </a:p>
          <a:p>
            <a:pPr marL="235585" indent="-221615" algn="l" rtl="0" eaLnBrk="0" fontAlgn="auto" latinLnBrk="0" hangingPunct="1">
              <a:lnSpc>
                <a:spcPct val="100000"/>
              </a:lnSpc>
              <a:spcBef>
                <a:spcPts val="0"/>
              </a:spcBef>
            </a:pPr>
            <a:r>
              <a:rPr lang="zh-CN" altLang="en-US" sz="2000" dirty="0">
                <a:latin typeface="Palatino Linotype" panose="02040502050505030304" charset="0"/>
                <a:cs typeface="Palatino Linotype" panose="02040502050505030304" charset="0"/>
              </a:rPr>
              <a:t>Content of this part</a:t>
            </a:r>
            <a:endParaRPr lang="en-US" altLang="zh-CN" sz="2000" dirty="0">
              <a:latin typeface="Palatino Linotype" panose="02040502050505030304" charset="0"/>
              <a:cs typeface="Palatino Linotype" panose="02040502050505030304" charset="0"/>
            </a:endParaRPr>
          </a:p>
          <a:p>
            <a:pPr marL="235585" indent="-221615" algn="l" rtl="0" eaLnBrk="0" fontAlgn="auto" latinLnBrk="0" hangingPunct="1">
              <a:lnSpc>
                <a:spcPct val="100000"/>
              </a:lnSpc>
              <a:spcBef>
                <a:spcPts val="0"/>
              </a:spcBef>
            </a:pPr>
            <a:endParaRPr lang="zh-CN" altLang="en-US" sz="2000" dirty="0">
              <a:latin typeface="Palatino Linotype" panose="02040502050505030304" charset="0"/>
              <a:cs typeface="Palatino Linotype" panose="02040502050505030304" charset="0"/>
            </a:endParaRPr>
          </a:p>
          <a:p>
            <a:pPr marL="471170" lvl="1" indent="0" algn="l" rtl="0" eaLnBrk="0" fontAlgn="auto" latinLnBrk="0" hangingPunct="1">
              <a:lnSpc>
                <a:spcPct val="100000"/>
              </a:lnSpc>
              <a:spcBef>
                <a:spcPts val="0"/>
              </a:spcBef>
              <a:buNone/>
            </a:pPr>
            <a:r>
              <a:rPr lang="zh-CN" altLang="en-US" sz="1800" dirty="0">
                <a:latin typeface="Palatino Linotype" panose="02040502050505030304" charset="0"/>
                <a:cs typeface="Palatino Linotype" panose="02040502050505030304" charset="0"/>
              </a:rPr>
              <a:t>▪ Strings and Languages (串和语言)</a:t>
            </a:r>
          </a:p>
          <a:p>
            <a:pPr marL="471170" lvl="1" indent="0" algn="l" rtl="0" eaLnBrk="0" fontAlgn="auto" latinLnBrk="0" hangingPunct="1">
              <a:lnSpc>
                <a:spcPct val="100000"/>
              </a:lnSpc>
              <a:spcBef>
                <a:spcPts val="0"/>
              </a:spcBef>
              <a:buNone/>
            </a:pPr>
            <a:endParaRPr lang="zh-CN" altLang="en-US" sz="1800" dirty="0">
              <a:latin typeface="Palatino Linotype" panose="02040502050505030304" charset="0"/>
              <a:cs typeface="Palatino Linotype" panose="02040502050505030304" charset="0"/>
            </a:endParaRPr>
          </a:p>
          <a:p>
            <a:pPr marL="471170" lvl="1" indent="0" algn="l" rtl="0" eaLnBrk="0" fontAlgn="auto" latinLnBrk="0" hangingPunct="1">
              <a:lnSpc>
                <a:spcPct val="100000"/>
              </a:lnSpc>
              <a:spcBef>
                <a:spcPts val="0"/>
              </a:spcBef>
              <a:buNone/>
            </a:pPr>
            <a:r>
              <a:rPr lang="zh-CN" altLang="en-US" sz="1800" dirty="0">
                <a:latin typeface="Palatino Linotype" panose="02040502050505030304" charset="0"/>
                <a:cs typeface="Palatino Linotype" panose="02040502050505030304" charset="0"/>
              </a:rPr>
              <a:t>▪ Operations on Languages (语言上的运算)</a:t>
            </a:r>
          </a:p>
          <a:p>
            <a:pPr marL="471170" lvl="1" indent="0" algn="l" rtl="0" eaLnBrk="0" fontAlgn="auto" latinLnBrk="0" hangingPunct="1">
              <a:lnSpc>
                <a:spcPct val="100000"/>
              </a:lnSpc>
              <a:spcBef>
                <a:spcPts val="0"/>
              </a:spcBef>
              <a:buNone/>
            </a:pPr>
            <a:endParaRPr lang="zh-CN" altLang="en-US" sz="1800" dirty="0">
              <a:latin typeface="Palatino Linotype" panose="02040502050505030304" charset="0"/>
              <a:cs typeface="Palatino Linotype" panose="02040502050505030304" charset="0"/>
            </a:endParaRPr>
          </a:p>
          <a:p>
            <a:pPr marL="471170" lvl="1" indent="0" algn="l" rtl="0" eaLnBrk="0" fontAlgn="auto" latinLnBrk="0" hangingPunct="1">
              <a:lnSpc>
                <a:spcPct val="100000"/>
              </a:lnSpc>
              <a:spcBef>
                <a:spcPts val="0"/>
              </a:spcBef>
              <a:buNone/>
            </a:pPr>
            <a:r>
              <a:rPr lang="zh-CN" altLang="en-US" sz="1800" dirty="0">
                <a:latin typeface="Palatino Linotype" panose="02040502050505030304" charset="0"/>
                <a:cs typeface="Palatino Linotype" panose="02040502050505030304" charset="0"/>
              </a:rPr>
              <a:t>▪ Regular Expressions</a:t>
            </a:r>
          </a:p>
          <a:p>
            <a:pPr marL="471170" lvl="1" indent="0" algn="l" rtl="0" eaLnBrk="0" fontAlgn="auto" latinLnBrk="0" hangingPunct="1">
              <a:lnSpc>
                <a:spcPct val="100000"/>
              </a:lnSpc>
              <a:spcBef>
                <a:spcPts val="0"/>
              </a:spcBef>
              <a:buNone/>
            </a:pPr>
            <a:endParaRPr lang="zh-CN" altLang="en-US" sz="1800" dirty="0">
              <a:latin typeface="Palatino Linotype" panose="02040502050505030304" charset="0"/>
              <a:cs typeface="Palatino Linotype" panose="02040502050505030304" charset="0"/>
            </a:endParaRPr>
          </a:p>
          <a:p>
            <a:pPr marL="471170" lvl="1" indent="0" algn="l" rtl="0" eaLnBrk="0" fontAlgn="auto" latinLnBrk="0" hangingPunct="1">
              <a:lnSpc>
                <a:spcPct val="100000"/>
              </a:lnSpc>
              <a:spcBef>
                <a:spcPts val="0"/>
              </a:spcBef>
              <a:buNone/>
            </a:pPr>
            <a:r>
              <a:rPr lang="zh-CN" altLang="en-US" sz="1800" dirty="0">
                <a:latin typeface="Palatino Linotype" panose="02040502050505030304" charset="0"/>
                <a:cs typeface="Palatino Linotype" panose="02040502050505030304" charset="0"/>
              </a:rPr>
              <a:t>▪ Regular Definitions (正则定义)</a:t>
            </a:r>
          </a:p>
          <a:p>
            <a:pPr marL="471170" lvl="1" indent="0" algn="l" rtl="0" eaLnBrk="0" fontAlgn="auto" latinLnBrk="0" hangingPunct="1">
              <a:lnSpc>
                <a:spcPct val="100000"/>
              </a:lnSpc>
              <a:spcBef>
                <a:spcPts val="0"/>
              </a:spcBef>
              <a:buNone/>
            </a:pPr>
            <a:endParaRPr lang="zh-CN" altLang="en-US" sz="1800" dirty="0">
              <a:latin typeface="Palatino Linotype" panose="02040502050505030304" charset="0"/>
              <a:cs typeface="Palatino Linotype" panose="02040502050505030304" charset="0"/>
            </a:endParaRPr>
          </a:p>
          <a:p>
            <a:pPr marL="471170" lvl="1" indent="0" algn="l" rtl="0" eaLnBrk="0" fontAlgn="auto" latinLnBrk="0" hangingPunct="1">
              <a:lnSpc>
                <a:spcPct val="100000"/>
              </a:lnSpc>
              <a:spcBef>
                <a:spcPts val="0"/>
              </a:spcBef>
              <a:buNone/>
            </a:pPr>
            <a:r>
              <a:rPr lang="zh-CN" altLang="en-US" sz="1800" dirty="0">
                <a:latin typeface="Palatino Linotype" panose="02040502050505030304" charset="0"/>
                <a:cs typeface="Palatino Linotype" panose="02040502050505030304" charset="0"/>
              </a:rPr>
              <a:t>▪ Extensions of Regular Expressions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Strings and Languages</a:t>
            </a:r>
          </a:p>
        </p:txBody>
      </p:sp>
      <p:sp>
        <p:nvSpPr>
          <p:cNvPr id="4" name="内容占位符 3"/>
          <p:cNvSpPr>
            <a:spLocks noGrp="1"/>
          </p:cNvSpPr>
          <p:nvPr>
            <p:ph idx="1"/>
          </p:nvPr>
        </p:nvSpPr>
        <p:spPr>
          <a:xfrm>
            <a:off x="628650" y="1628775"/>
            <a:ext cx="7886700" cy="4351338"/>
          </a:xfrm>
        </p:spPr>
        <p:txBody>
          <a:bodyPr>
            <a:normAutofit fontScale="80000" lnSpcReduction="10000"/>
          </a:bodyPr>
          <a:lstStyle/>
          <a:p>
            <a:pPr marL="17145" algn="l" rtl="0" eaLnBrk="0" fontAlgn="auto">
              <a:lnSpc>
                <a:spcPct val="150000"/>
              </a:lnSpc>
              <a:spcBef>
                <a:spcPts val="0"/>
              </a:spcBef>
            </a:pPr>
            <a:r>
              <a:rPr sz="2750" dirty="0">
                <a:solidFill>
                  <a:srgbClr val="FF0000"/>
                </a:solidFill>
                <a:latin typeface="Palatino Linotype" panose="02040502050505030304" charset="0"/>
                <a:ea typeface="Palatino Linotype" panose="02040502050505030304"/>
                <a:cs typeface="Palatino Linotype" panose="02040502050505030304"/>
                <a:sym typeface="+mn-ea"/>
              </a:rPr>
              <a:t>Alphabet (字母表)</a:t>
            </a:r>
            <a:r>
              <a:rPr sz="2750" dirty="0">
                <a:latin typeface="Palatino Linotype" panose="02040502050505030304" charset="0"/>
                <a:ea typeface="Palatino Linotype" panose="02040502050505030304"/>
                <a:cs typeface="Palatino Linotype" panose="02040502050505030304"/>
                <a:sym typeface="+mn-ea"/>
              </a:rPr>
              <a:t>: any finite set of symbols</a:t>
            </a:r>
          </a:p>
          <a:p>
            <a:pPr marL="0" indent="457200" algn="l" rtl="0" eaLnBrk="0" fontAlgn="auto">
              <a:lnSpc>
                <a:spcPct val="150000"/>
              </a:lnSpc>
              <a:spcBef>
                <a:spcPts val="0"/>
              </a:spcBef>
              <a:buNone/>
            </a:pPr>
            <a:r>
              <a:rPr sz="2750" dirty="0">
                <a:latin typeface="Palatino Linotype" panose="02040502050505030304" charset="0"/>
                <a:ea typeface="Palatino Linotype" panose="02040502050505030304"/>
                <a:cs typeface="Palatino Linotype" panose="02040502050505030304"/>
                <a:sym typeface="+mn-ea"/>
              </a:rPr>
              <a:t>▪ Examples of symbols: </a:t>
            </a:r>
            <a:r>
              <a:rPr sz="2750" dirty="0">
                <a:solidFill>
                  <a:srgbClr val="0331FF"/>
                </a:solidFill>
                <a:latin typeface="Palatino Linotype" panose="02040502050505030304" charset="0"/>
                <a:ea typeface="Palatino Linotype" panose="02040502050505030304"/>
                <a:cs typeface="Palatino Linotype" panose="02040502050505030304"/>
                <a:sym typeface="+mn-ea"/>
              </a:rPr>
              <a:t>letters</a:t>
            </a:r>
            <a:r>
              <a:rPr sz="2750" dirty="0">
                <a:latin typeface="Palatino Linotype" panose="02040502050505030304" charset="0"/>
                <a:ea typeface="Palatino Linotype" panose="02040502050505030304"/>
                <a:cs typeface="Palatino Linotype" panose="02040502050505030304"/>
                <a:sym typeface="+mn-ea"/>
              </a:rPr>
              <a:t>, </a:t>
            </a:r>
            <a:r>
              <a:rPr sz="2750" dirty="0">
                <a:solidFill>
                  <a:srgbClr val="0331FF"/>
                </a:solidFill>
                <a:latin typeface="Palatino Linotype" panose="02040502050505030304" charset="0"/>
                <a:ea typeface="Palatino Linotype" panose="02040502050505030304"/>
                <a:cs typeface="Palatino Linotype" panose="02040502050505030304"/>
                <a:sym typeface="+mn-ea"/>
              </a:rPr>
              <a:t>digits</a:t>
            </a:r>
            <a:r>
              <a:rPr sz="2750" dirty="0">
                <a:latin typeface="Palatino Linotype" panose="02040502050505030304" charset="0"/>
                <a:ea typeface="Palatino Linotype" panose="02040502050505030304"/>
                <a:cs typeface="Palatino Linotype" panose="02040502050505030304"/>
                <a:sym typeface="+mn-ea"/>
              </a:rPr>
              <a:t>, and </a:t>
            </a:r>
            <a:r>
              <a:rPr sz="2750" dirty="0">
                <a:solidFill>
                  <a:srgbClr val="0331FF"/>
                </a:solidFill>
                <a:latin typeface="Palatino Linotype" panose="02040502050505030304" charset="0"/>
                <a:ea typeface="Palatino Linotype" panose="02040502050505030304"/>
                <a:cs typeface="Palatino Linotype" panose="02040502050505030304"/>
                <a:sym typeface="+mn-ea"/>
              </a:rPr>
              <a:t>punctuations</a:t>
            </a:r>
            <a:endParaRPr sz="2750" dirty="0">
              <a:latin typeface="Palatino Linotype" panose="02040502050505030304" charset="0"/>
              <a:ea typeface="Palatino Linotype" panose="02040502050505030304"/>
              <a:cs typeface="Palatino Linotype" panose="02040502050505030304"/>
              <a:sym typeface="+mn-ea"/>
            </a:endParaRPr>
          </a:p>
          <a:p>
            <a:pPr marL="0" indent="457200" algn="l" rtl="0" eaLnBrk="0" fontAlgn="auto">
              <a:lnSpc>
                <a:spcPct val="150000"/>
              </a:lnSpc>
              <a:spcBef>
                <a:spcPts val="0"/>
              </a:spcBef>
              <a:buNone/>
            </a:pPr>
            <a:r>
              <a:rPr sz="2750" dirty="0">
                <a:latin typeface="Palatino Linotype" panose="02040502050505030304" charset="0"/>
                <a:ea typeface="Palatino Linotype" panose="02040502050505030304"/>
                <a:cs typeface="Palatino Linotype" panose="02040502050505030304"/>
                <a:sym typeface="+mn-ea"/>
              </a:rPr>
              <a:t>▪ Examples of alphabets: {</a:t>
            </a:r>
            <a:r>
              <a:rPr sz="2750" dirty="0">
                <a:solidFill>
                  <a:srgbClr val="0331FF"/>
                </a:solidFill>
                <a:latin typeface="Palatino Linotype" panose="02040502050505030304" charset="0"/>
                <a:ea typeface="Palatino Linotype" panose="02040502050505030304"/>
                <a:cs typeface="Palatino Linotype" panose="02040502050505030304"/>
                <a:sym typeface="+mn-ea"/>
              </a:rPr>
              <a:t>1</a:t>
            </a:r>
            <a:r>
              <a:rPr sz="2750" dirty="0">
                <a:latin typeface="Palatino Linotype" panose="02040502050505030304" charset="0"/>
                <a:ea typeface="Palatino Linotype" panose="02040502050505030304"/>
                <a:cs typeface="Palatino Linotype" panose="02040502050505030304"/>
                <a:sym typeface="+mn-ea"/>
              </a:rPr>
              <a:t>, </a:t>
            </a:r>
            <a:r>
              <a:rPr sz="2750" dirty="0">
                <a:solidFill>
                  <a:srgbClr val="0331FF"/>
                </a:solidFill>
                <a:latin typeface="Palatino Linotype" panose="02040502050505030304" charset="0"/>
                <a:ea typeface="Palatino Linotype" panose="02040502050505030304"/>
                <a:cs typeface="Palatino Linotype" panose="02040502050505030304"/>
                <a:sym typeface="+mn-ea"/>
              </a:rPr>
              <a:t>0</a:t>
            </a:r>
            <a:r>
              <a:rPr sz="2750" dirty="0">
                <a:latin typeface="Palatino Linotype" panose="02040502050505030304" charset="0"/>
                <a:ea typeface="Palatino Linotype" panose="02040502050505030304"/>
                <a:cs typeface="Palatino Linotype" panose="02040502050505030304"/>
                <a:sym typeface="+mn-ea"/>
              </a:rPr>
              <a:t>}, </a:t>
            </a:r>
            <a:r>
              <a:rPr sz="2750" dirty="0">
                <a:solidFill>
                  <a:srgbClr val="0331FF"/>
                </a:solidFill>
                <a:latin typeface="Palatino Linotype" panose="02040502050505030304" charset="0"/>
                <a:ea typeface="Palatino Linotype" panose="02040502050505030304"/>
                <a:cs typeface="Palatino Linotype" panose="02040502050505030304"/>
                <a:sym typeface="+mn-ea"/>
              </a:rPr>
              <a:t>ASCII</a:t>
            </a:r>
            <a:r>
              <a:rPr sz="2750" dirty="0">
                <a:latin typeface="Palatino Linotype" panose="02040502050505030304" charset="0"/>
                <a:ea typeface="Palatino Linotype" panose="02040502050505030304"/>
                <a:cs typeface="Palatino Linotype" panose="02040502050505030304"/>
                <a:sym typeface="+mn-ea"/>
              </a:rPr>
              <a:t>, </a:t>
            </a:r>
            <a:r>
              <a:rPr sz="2750" dirty="0">
                <a:solidFill>
                  <a:srgbClr val="0331FF"/>
                </a:solidFill>
                <a:latin typeface="Palatino Linotype" panose="02040502050505030304" charset="0"/>
                <a:ea typeface="Palatino Linotype" panose="02040502050505030304"/>
                <a:cs typeface="Palatino Linotype" panose="02040502050505030304"/>
                <a:sym typeface="+mn-ea"/>
              </a:rPr>
              <a:t>Unicode</a:t>
            </a:r>
            <a:endParaRPr sz="2750" dirty="0">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r>
              <a:rPr sz="2750" dirty="0">
                <a:latin typeface="Palatino Linotype" panose="02040502050505030304" charset="0"/>
                <a:ea typeface="Palatino Linotype" panose="02040502050505030304"/>
                <a:cs typeface="Palatino Linotype" panose="02040502050505030304"/>
                <a:sym typeface="+mn-ea"/>
              </a:rPr>
              <a:t>A </a:t>
            </a:r>
            <a:r>
              <a:rPr sz="2750" dirty="0">
                <a:solidFill>
                  <a:srgbClr val="FF0000"/>
                </a:solidFill>
                <a:latin typeface="Palatino Linotype" panose="02040502050505030304" charset="0"/>
                <a:ea typeface="Palatino Linotype" panose="02040502050505030304"/>
                <a:cs typeface="Palatino Linotype" panose="02040502050505030304"/>
                <a:sym typeface="+mn-ea"/>
              </a:rPr>
              <a:t>string (串)</a:t>
            </a:r>
            <a:r>
              <a:rPr sz="2750" dirty="0">
                <a:latin typeface="Palatino Linotype" panose="02040502050505030304" charset="0"/>
                <a:ea typeface="Palatino Linotype" panose="02040502050505030304"/>
                <a:cs typeface="Palatino Linotype" panose="02040502050505030304"/>
                <a:sym typeface="+mn-ea"/>
              </a:rPr>
              <a:t> over an alphabet is a finite sequence of</a:t>
            </a:r>
            <a:r>
              <a:rPr lang="en-US" sz="2750" dirty="0">
                <a:latin typeface="Palatino Linotype" panose="02040502050505030304" charset="0"/>
                <a:ea typeface="Palatino Linotype" panose="02040502050505030304"/>
                <a:cs typeface="Palatino Linotype" panose="02040502050505030304"/>
                <a:sym typeface="+mn-ea"/>
              </a:rPr>
              <a:t> </a:t>
            </a:r>
            <a:r>
              <a:rPr sz="2750" dirty="0">
                <a:latin typeface="Palatino Linotype" panose="02040502050505030304" charset="0"/>
                <a:ea typeface="Palatino Linotype" panose="02040502050505030304"/>
                <a:cs typeface="Palatino Linotype" panose="02040502050505030304"/>
                <a:sym typeface="+mn-ea"/>
              </a:rPr>
              <a:t>symbols drawn from the alphabet</a:t>
            </a:r>
          </a:p>
          <a:p>
            <a:pPr marL="0" indent="457200" algn="l" rtl="0" eaLnBrk="0" fontAlgn="auto">
              <a:lnSpc>
                <a:spcPct val="150000"/>
              </a:lnSpc>
              <a:spcBef>
                <a:spcPts val="0"/>
              </a:spcBef>
              <a:buNone/>
            </a:pPr>
            <a:r>
              <a:rPr sz="2750" dirty="0">
                <a:latin typeface="Palatino Linotype" panose="02040502050505030304" charset="0"/>
                <a:ea typeface="Palatino Linotype" panose="02040502050505030304"/>
                <a:cs typeface="Palatino Linotype" panose="02040502050505030304"/>
                <a:sym typeface="+mn-ea"/>
              </a:rPr>
              <a:t>▪ The length of a string s, denoted </a:t>
            </a:r>
            <a:r>
              <a:rPr sz="2750" dirty="0">
                <a:solidFill>
                  <a:srgbClr val="FF0000"/>
                </a:solidFill>
                <a:latin typeface="Palatino Linotype" panose="02040502050505030304" charset="0"/>
                <a:ea typeface="Palatino Linotype" panose="02040502050505030304"/>
                <a:cs typeface="Palatino Linotype" panose="02040502050505030304"/>
                <a:sym typeface="+mn-ea"/>
              </a:rPr>
              <a:t>|s|</a:t>
            </a:r>
            <a:r>
              <a:rPr sz="2750" dirty="0">
                <a:latin typeface="Palatino Linotype" panose="02040502050505030304" charset="0"/>
                <a:ea typeface="Palatino Linotype" panose="02040502050505030304"/>
                <a:cs typeface="Palatino Linotype" panose="02040502050505030304"/>
                <a:sym typeface="+mn-ea"/>
              </a:rPr>
              <a:t>, is the number of </a:t>
            </a:r>
          </a:p>
          <a:p>
            <a:pPr marL="17145" algn="l" rtl="0" eaLnBrk="0" fontAlgn="auto">
              <a:lnSpc>
                <a:spcPct val="150000"/>
              </a:lnSpc>
              <a:spcBef>
                <a:spcPts val="0"/>
              </a:spcBef>
            </a:pPr>
            <a:r>
              <a:rPr sz="2750" dirty="0">
                <a:latin typeface="Palatino Linotype" panose="02040502050505030304" charset="0"/>
                <a:ea typeface="Palatino Linotype" panose="02040502050505030304"/>
                <a:cs typeface="Palatino Linotype" panose="02040502050505030304"/>
                <a:sym typeface="+mn-ea"/>
              </a:rPr>
              <a:t>occurrences of symbols in s (i.e., cardinality)</a:t>
            </a:r>
          </a:p>
          <a:p>
            <a:pPr marL="0" indent="457200" algn="l" rtl="0" eaLnBrk="0" fontAlgn="auto">
              <a:lnSpc>
                <a:spcPct val="150000"/>
              </a:lnSpc>
              <a:spcBef>
                <a:spcPts val="0"/>
              </a:spcBef>
              <a:buNone/>
            </a:pPr>
            <a:r>
              <a:rPr sz="2750" dirty="0">
                <a:latin typeface="Palatino Linotype" panose="02040502050505030304" charset="0"/>
                <a:ea typeface="Palatino Linotype" panose="02040502050505030304"/>
                <a:cs typeface="Palatino Linotype" panose="02040502050505030304"/>
                <a:sym typeface="+mn-ea"/>
              </a:rPr>
              <a:t>▪ </a:t>
            </a:r>
            <a:r>
              <a:rPr sz="2750" dirty="0">
                <a:solidFill>
                  <a:srgbClr val="FF0000"/>
                </a:solidFill>
                <a:latin typeface="Palatino Linotype" panose="02040502050505030304" charset="0"/>
                <a:ea typeface="Palatino Linotype" panose="02040502050505030304"/>
                <a:cs typeface="Palatino Linotype" panose="02040502050505030304"/>
                <a:sym typeface="+mn-ea"/>
              </a:rPr>
              <a:t>Empty string (空串)</a:t>
            </a:r>
            <a:r>
              <a:rPr sz="2750" dirty="0">
                <a:latin typeface="Palatino Linotype" panose="02040502050505030304" charset="0"/>
                <a:ea typeface="Palatino Linotype" panose="02040502050505030304"/>
                <a:cs typeface="Palatino Linotype" panose="02040502050505030304"/>
                <a:sym typeface="+mn-ea"/>
              </a:rPr>
              <a:t>: the string of length 0, </a:t>
            </a:r>
            <a:r>
              <a:rPr sz="2750" dirty="0">
                <a:solidFill>
                  <a:srgbClr val="FF0000"/>
                </a:solidFill>
                <a:latin typeface="Palatino Linotype" panose="02040502050505030304" charset="0"/>
                <a:ea typeface="Palatino Linotype" panose="02040502050505030304"/>
                <a:cs typeface="Palatino Linotype" panose="02040502050505030304"/>
                <a:sym typeface="+mn-ea"/>
              </a:rPr>
              <a:t>ε</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Strings and Languages Cont.</a:t>
            </a:r>
          </a:p>
        </p:txBody>
      </p:sp>
      <p:sp>
        <p:nvSpPr>
          <p:cNvPr id="4" name="内容占位符 3"/>
          <p:cNvSpPr>
            <a:spLocks noGrp="1"/>
          </p:cNvSpPr>
          <p:nvPr>
            <p:ph idx="1"/>
          </p:nvPr>
        </p:nvSpPr>
        <p:spPr>
          <a:xfrm>
            <a:off x="628650" y="1628775"/>
            <a:ext cx="7886700" cy="4351338"/>
          </a:xfrm>
        </p:spPr>
        <p:txBody>
          <a:bodyPr>
            <a:no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String-related terms (using </a:t>
            </a:r>
            <a:r>
              <a:rPr lang="en-US" altLang="zh-CN" sz="2200" dirty="0">
                <a:solidFill>
                  <a:srgbClr val="0331FF"/>
                </a:solidFill>
                <a:latin typeface="Palatino Linotype" panose="02040502050505030304" charset="0"/>
                <a:ea typeface="Palatino Linotype" panose="02040502050505030304"/>
                <a:cs typeface="Palatino Linotype" panose="02040502050505030304"/>
                <a:sym typeface="+mn-ea"/>
              </a:rPr>
              <a:t>university</a:t>
            </a:r>
            <a:r>
              <a:rPr sz="2200" dirty="0">
                <a:solidFill>
                  <a:srgbClr val="6596C5"/>
                </a:solidFill>
                <a:latin typeface="Palatino Linotype" panose="02040502050505030304" charset="0"/>
                <a:ea typeface="Palatino Linotype" panose="02040502050505030304"/>
                <a:cs typeface="Palatino Linotype" panose="02040502050505030304"/>
                <a:sym typeface="+mn-ea"/>
              </a:rPr>
              <a:t> </a:t>
            </a:r>
            <a:r>
              <a:rPr sz="2200" dirty="0">
                <a:latin typeface="Palatino Linotype" panose="02040502050505030304" charset="0"/>
                <a:ea typeface="Palatino Linotype" panose="02040502050505030304"/>
                <a:cs typeface="Palatino Linotype" panose="02040502050505030304"/>
                <a:sym typeface="+mn-ea"/>
              </a:rPr>
              <a:t>for illustration)</a:t>
            </a:r>
          </a:p>
          <a:p>
            <a:pPr marL="457200" lvl="1" indent="0" rtl="0" eaLnBrk="0">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Prefix (前缀)</a:t>
            </a:r>
            <a:r>
              <a:rPr sz="2000" dirty="0">
                <a:latin typeface="Palatino Linotype" panose="02040502050505030304" charset="0"/>
                <a:ea typeface="Palatino Linotype" panose="02040502050505030304"/>
                <a:cs typeface="Palatino Linotype" panose="02040502050505030304"/>
                <a:sym typeface="+mn-ea"/>
              </a:rPr>
              <a:t> of string s: any string obtained by removing 0 or more symbols from the end of s (</a:t>
            </a:r>
            <a:r>
              <a:rPr lang="el-GR" altLang="zh-CN" sz="2000" dirty="0">
                <a:solidFill>
                  <a:srgbClr val="0331FF"/>
                </a:solidFill>
                <a:latin typeface="Palatino Linotype" panose="02040502050505030304" charset="0"/>
                <a:ea typeface="Palatino Linotype" panose="02040502050505030304"/>
                <a:cs typeface="Palatino Linotype" panose="02040502050505030304"/>
                <a:sym typeface="+mn-ea"/>
              </a:rPr>
              <a:t>ε</a:t>
            </a:r>
            <a:r>
              <a:rPr lang="en-US" altLang="zh-CN" sz="2000" dirty="0">
                <a:solidFill>
                  <a:srgbClr val="0331FF"/>
                </a:solidFill>
                <a:latin typeface="Palatino Linotype" panose="02040502050505030304" charset="0"/>
                <a:ea typeface="Palatino Linotype" panose="02040502050505030304"/>
                <a:cs typeface="Palatino Linotype" panose="02040502050505030304"/>
                <a:sym typeface="+mn-ea"/>
              </a:rPr>
              <a:t>, </a:t>
            </a:r>
            <a:r>
              <a:rPr lang="en-US" altLang="zh-CN" sz="2000" dirty="0" err="1">
                <a:solidFill>
                  <a:srgbClr val="0331FF"/>
                </a:solidFill>
                <a:latin typeface="Palatino Linotype" panose="02040502050505030304" charset="0"/>
                <a:ea typeface="Palatino Linotype" panose="02040502050505030304"/>
                <a:cs typeface="Palatino Linotype" panose="02040502050505030304"/>
                <a:sym typeface="+mn-ea"/>
              </a:rPr>
              <a:t>uni</a:t>
            </a:r>
            <a:r>
              <a:rPr lang="en-US" altLang="zh-CN" sz="2000" dirty="0">
                <a:solidFill>
                  <a:srgbClr val="0331FF"/>
                </a:solidFill>
                <a:latin typeface="Palatino Linotype" panose="02040502050505030304" charset="0"/>
                <a:ea typeface="Palatino Linotype" panose="02040502050505030304"/>
                <a:cs typeface="Palatino Linotype" panose="02040502050505030304"/>
                <a:sym typeface="+mn-ea"/>
              </a:rPr>
              <a:t>, </a:t>
            </a:r>
            <a:r>
              <a:rPr lang="en-US" altLang="zh-CN" sz="2000" dirty="0" err="1">
                <a:solidFill>
                  <a:srgbClr val="0331FF"/>
                </a:solidFill>
                <a:latin typeface="Palatino Linotype" panose="02040502050505030304" charset="0"/>
                <a:ea typeface="Palatino Linotype" panose="02040502050505030304"/>
                <a:cs typeface="Palatino Linotype" panose="02040502050505030304"/>
                <a:sym typeface="+mn-ea"/>
              </a:rPr>
              <a:t>univer</a:t>
            </a:r>
            <a:r>
              <a:rPr lang="en-US" altLang="zh-CN" sz="2000" dirty="0">
                <a:solidFill>
                  <a:srgbClr val="0331FF"/>
                </a:solidFill>
                <a:latin typeface="Palatino Linotype" panose="02040502050505030304" charset="0"/>
                <a:ea typeface="Palatino Linotype" panose="02040502050505030304"/>
                <a:cs typeface="Palatino Linotype" panose="02040502050505030304"/>
                <a:sym typeface="+mn-ea"/>
              </a:rPr>
              <a:t>, university</a:t>
            </a:r>
            <a:r>
              <a:rPr sz="2000" dirty="0">
                <a:latin typeface="Palatino Linotype" panose="02040502050505030304" charset="0"/>
                <a:ea typeface="Palatino Linotype" panose="02040502050505030304"/>
                <a:cs typeface="Palatino Linotype" panose="02040502050505030304"/>
                <a:sym typeface="+mn-ea"/>
              </a:rPr>
              <a:t>)</a:t>
            </a:r>
          </a:p>
          <a:p>
            <a:pPr marL="457200" lvl="1" indent="0" rtl="0" eaLnBrk="0">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Proper prefix (真前缀)</a:t>
            </a:r>
            <a:r>
              <a:rPr sz="2000" dirty="0">
                <a:latin typeface="Palatino Linotype" panose="02040502050505030304" charset="0"/>
                <a:ea typeface="Palatino Linotype" panose="02040502050505030304"/>
                <a:cs typeface="Palatino Linotype" panose="02040502050505030304"/>
                <a:sym typeface="+mn-ea"/>
              </a:rPr>
              <a:t>: a prefix that is not 𝜖 and not equal to s</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itself (</a:t>
            </a:r>
            <a:r>
              <a:rPr lang="en-US" altLang="zh-CN" sz="2000" dirty="0" err="1">
                <a:solidFill>
                  <a:srgbClr val="0331FF"/>
                </a:solidFill>
                <a:latin typeface="Palatino Linotype" panose="02040502050505030304" charset="0"/>
                <a:ea typeface="Palatino Linotype" panose="02040502050505030304"/>
                <a:cs typeface="Palatino Linotype" panose="02040502050505030304"/>
                <a:sym typeface="+mn-ea"/>
              </a:rPr>
              <a:t>uni</a:t>
            </a:r>
            <a:r>
              <a:rPr lang="en-US" altLang="zh-CN" sz="2000" dirty="0">
                <a:solidFill>
                  <a:srgbClr val="0331FF"/>
                </a:solidFill>
                <a:latin typeface="Palatino Linotype" panose="02040502050505030304" charset="0"/>
                <a:ea typeface="Palatino Linotype" panose="02040502050505030304"/>
                <a:cs typeface="Palatino Linotype" panose="02040502050505030304"/>
                <a:sym typeface="+mn-ea"/>
              </a:rPr>
              <a:t>, </a:t>
            </a:r>
            <a:r>
              <a:rPr lang="en-US" altLang="zh-CN" sz="2000" dirty="0" err="1">
                <a:solidFill>
                  <a:srgbClr val="0331FF"/>
                </a:solidFill>
                <a:latin typeface="Palatino Linotype" panose="02040502050505030304" charset="0"/>
                <a:ea typeface="Palatino Linotype" panose="02040502050505030304"/>
                <a:cs typeface="Palatino Linotype" panose="02040502050505030304"/>
                <a:sym typeface="+mn-ea"/>
              </a:rPr>
              <a:t>univer</a:t>
            </a:r>
            <a:r>
              <a:rPr sz="2000" dirty="0">
                <a:latin typeface="Palatino Linotype" panose="02040502050505030304" charset="0"/>
                <a:ea typeface="Palatino Linotype" panose="02040502050505030304"/>
                <a:cs typeface="Palatino Linotype" panose="02040502050505030304"/>
                <a:sym typeface="+mn-ea"/>
              </a:rPr>
              <a:t>)</a:t>
            </a:r>
          </a:p>
          <a:p>
            <a:pPr marL="457200" lvl="1" indent="0" rtl="0" eaLnBrk="0">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Suffix (后缀)</a:t>
            </a:r>
            <a:r>
              <a:rPr sz="2000" dirty="0">
                <a:latin typeface="Palatino Linotype" panose="02040502050505030304" charset="0"/>
                <a:ea typeface="Palatino Linotype" panose="02040502050505030304"/>
                <a:cs typeface="Palatino Linotype" panose="02040502050505030304"/>
                <a:sym typeface="+mn-ea"/>
              </a:rPr>
              <a:t>: any string obtained by removing 0 or more symbols from the beginning of s (</a:t>
            </a:r>
            <a:r>
              <a:rPr lang="el-GR" altLang="zh-CN" sz="2000" dirty="0">
                <a:solidFill>
                  <a:srgbClr val="0331FF"/>
                </a:solidFill>
                <a:latin typeface="Palatino Linotype" panose="02040502050505030304" charset="0"/>
                <a:ea typeface="Palatino Linotype" panose="02040502050505030304"/>
                <a:cs typeface="Palatino Linotype" panose="02040502050505030304"/>
                <a:sym typeface="+mn-ea"/>
              </a:rPr>
              <a:t>ε</a:t>
            </a:r>
            <a:r>
              <a:rPr lang="en-US" altLang="zh-CN" sz="2000" dirty="0">
                <a:solidFill>
                  <a:srgbClr val="0331FF"/>
                </a:solidFill>
                <a:latin typeface="Palatino Linotype" panose="02040502050505030304" charset="0"/>
                <a:ea typeface="Palatino Linotype" panose="02040502050505030304"/>
                <a:cs typeface="Palatino Linotype" panose="02040502050505030304"/>
                <a:sym typeface="+mn-ea"/>
              </a:rPr>
              <a:t>, </a:t>
            </a:r>
            <a:r>
              <a:rPr lang="en-US" altLang="zh-CN" sz="2000" dirty="0" err="1">
                <a:solidFill>
                  <a:srgbClr val="0331FF"/>
                </a:solidFill>
                <a:latin typeface="Palatino Linotype" panose="02040502050505030304" charset="0"/>
                <a:ea typeface="Palatino Linotype" panose="02040502050505030304"/>
                <a:cs typeface="Palatino Linotype" panose="02040502050505030304"/>
                <a:sym typeface="+mn-ea"/>
              </a:rPr>
              <a:t>sity</a:t>
            </a:r>
            <a:r>
              <a:rPr lang="en-US" altLang="zh-CN" sz="2000" dirty="0">
                <a:solidFill>
                  <a:srgbClr val="0331FF"/>
                </a:solidFill>
                <a:latin typeface="Palatino Linotype" panose="02040502050505030304" charset="0"/>
                <a:ea typeface="Palatino Linotype" panose="02040502050505030304"/>
                <a:cs typeface="Palatino Linotype" panose="02040502050505030304"/>
                <a:sym typeface="+mn-ea"/>
              </a:rPr>
              <a:t>, </a:t>
            </a:r>
            <a:r>
              <a:rPr lang="en-US" altLang="zh-CN" sz="2000" dirty="0" err="1">
                <a:solidFill>
                  <a:srgbClr val="0331FF"/>
                </a:solidFill>
                <a:latin typeface="Palatino Linotype" panose="02040502050505030304" charset="0"/>
                <a:ea typeface="Palatino Linotype" panose="02040502050505030304"/>
                <a:cs typeface="Palatino Linotype" panose="02040502050505030304"/>
                <a:sym typeface="+mn-ea"/>
              </a:rPr>
              <a:t>versity</a:t>
            </a:r>
            <a:r>
              <a:rPr lang="en-US" altLang="zh-CN" sz="2000" dirty="0">
                <a:solidFill>
                  <a:srgbClr val="0331FF"/>
                </a:solidFill>
                <a:latin typeface="Palatino Linotype" panose="02040502050505030304" charset="0"/>
                <a:ea typeface="Palatino Linotype" panose="02040502050505030304"/>
                <a:cs typeface="Palatino Linotype" panose="02040502050505030304"/>
                <a:sym typeface="+mn-ea"/>
              </a:rPr>
              <a:t>, university</a:t>
            </a:r>
            <a:r>
              <a:rPr sz="2000" dirty="0">
                <a:latin typeface="Palatino Linotype" panose="02040502050505030304" charset="0"/>
                <a:ea typeface="Palatino Linotype" panose="02040502050505030304"/>
                <a:cs typeface="Palatino Linotype" panose="02040502050505030304"/>
                <a:sym typeface="+mn-ea"/>
              </a:rPr>
              <a:t>). </a:t>
            </a:r>
          </a:p>
          <a:p>
            <a:pPr marL="457200" lvl="1" indent="0" rtl="0" eaLnBrk="0">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Proper suffix (真后缀)</a:t>
            </a:r>
            <a:r>
              <a:rPr sz="2000" dirty="0">
                <a:latin typeface="Palatino Linotype" panose="02040502050505030304" charset="0"/>
                <a:ea typeface="Palatino Linotype" panose="02040502050505030304"/>
                <a:cs typeface="Palatino Linotype" panose="02040502050505030304"/>
                <a:sym typeface="+mn-ea"/>
              </a:rPr>
              <a:t>: a suffix that is not </a:t>
            </a:r>
            <a:r>
              <a:rPr lang="el-GR" sz="2000" dirty="0">
                <a:latin typeface="Palatino Linotype" panose="02040502050505030304" charset="0"/>
                <a:ea typeface="Palatino Linotype" panose="02040502050505030304"/>
                <a:cs typeface="Palatino Linotype" panose="02040502050505030304"/>
                <a:sym typeface="+mn-ea"/>
              </a:rPr>
              <a:t>ε</a:t>
            </a:r>
            <a:r>
              <a:rPr sz="2000" dirty="0">
                <a:latin typeface="Palatino Linotype" panose="02040502050505030304" charset="0"/>
                <a:ea typeface="Palatino Linotype" panose="02040502050505030304"/>
                <a:cs typeface="Palatino Linotype" panose="02040502050505030304"/>
                <a:sym typeface="+mn-ea"/>
              </a:rPr>
              <a:t> and not equal to s</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itself (</a:t>
            </a:r>
            <a:r>
              <a:rPr lang="en-US" altLang="zh-CN" sz="2000" dirty="0" err="1">
                <a:solidFill>
                  <a:srgbClr val="0331FF"/>
                </a:solidFill>
                <a:latin typeface="Palatino Linotype" panose="02040502050505030304" charset="0"/>
                <a:ea typeface="Palatino Linotype" panose="02040502050505030304"/>
                <a:cs typeface="Palatino Linotype" panose="02040502050505030304"/>
                <a:sym typeface="+mn-ea"/>
              </a:rPr>
              <a:t>sity</a:t>
            </a:r>
            <a:r>
              <a:rPr lang="en-US" altLang="zh-CN" sz="2000" dirty="0">
                <a:solidFill>
                  <a:srgbClr val="0331FF"/>
                </a:solidFill>
                <a:latin typeface="Palatino Linotype" panose="02040502050505030304" charset="0"/>
                <a:ea typeface="Palatino Linotype" panose="02040502050505030304"/>
                <a:cs typeface="Palatino Linotype" panose="02040502050505030304"/>
                <a:sym typeface="+mn-ea"/>
              </a:rPr>
              <a:t>, </a:t>
            </a:r>
            <a:r>
              <a:rPr lang="en-US" altLang="zh-CN" sz="2000" dirty="0" err="1">
                <a:solidFill>
                  <a:srgbClr val="0331FF"/>
                </a:solidFill>
                <a:latin typeface="Palatino Linotype" panose="02040502050505030304" charset="0"/>
                <a:ea typeface="Palatino Linotype" panose="02040502050505030304"/>
                <a:cs typeface="Palatino Linotype" panose="02040502050505030304"/>
                <a:sym typeface="+mn-ea"/>
              </a:rPr>
              <a:t>versity</a:t>
            </a:r>
            <a:r>
              <a:rPr sz="2000" dirty="0">
                <a:latin typeface="Palatino Linotype" panose="02040502050505030304" charset="0"/>
                <a:ea typeface="Palatino Linotype" panose="02040502050505030304"/>
                <a:cs typeface="Palatino Linotype" panose="02040502050505030304"/>
                <a:sym typeface="+mn-ea"/>
              </a:rPr>
              <a:t>)</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Strings and Languages Cont.</a:t>
            </a:r>
          </a:p>
        </p:txBody>
      </p:sp>
      <p:sp>
        <p:nvSpPr>
          <p:cNvPr id="4" name="内容占位符 3"/>
          <p:cNvSpPr>
            <a:spLocks noGrp="1"/>
          </p:cNvSpPr>
          <p:nvPr>
            <p:ph idx="1"/>
          </p:nvPr>
        </p:nvSpPr>
        <p:spPr/>
        <p:txBody>
          <a:bodyPr>
            <a:normAutofit/>
          </a:bodyPr>
          <a:lstStyle/>
          <a:p>
            <a:pPr marL="17145" rtl="0" eaLnBrk="0">
              <a:spcBef>
                <a:spcPts val="0"/>
              </a:spcBef>
            </a:pPr>
            <a:r>
              <a:rPr sz="2400" dirty="0">
                <a:latin typeface="Palatino Linotype" panose="02040502050505030304" charset="0"/>
                <a:ea typeface="Palatino Linotype" panose="02040502050505030304"/>
                <a:cs typeface="Palatino Linotype" panose="02040502050505030304"/>
                <a:sym typeface="+mn-ea"/>
              </a:rPr>
              <a:t>String-related </a:t>
            </a:r>
            <a:r>
              <a:rPr sz="2400" dirty="0">
                <a:solidFill>
                  <a:schemeClr val="tx1"/>
                </a:solidFill>
                <a:latin typeface="Palatino Linotype" panose="02040502050505030304" charset="0"/>
                <a:ea typeface="Palatino Linotype" panose="02040502050505030304"/>
                <a:cs typeface="Palatino Linotype" panose="02040502050505030304"/>
                <a:sym typeface="+mn-ea"/>
              </a:rPr>
              <a:t>terms</a:t>
            </a:r>
            <a:r>
              <a:rPr sz="2400" dirty="0">
                <a:solidFill>
                  <a:srgbClr val="0331FF"/>
                </a:solidFill>
                <a:latin typeface="Palatino Linotype" panose="02040502050505030304" charset="0"/>
                <a:ea typeface="Palatino Linotype" panose="02040502050505030304"/>
                <a:cs typeface="Palatino Linotype" panose="02040502050505030304"/>
                <a:sym typeface="+mn-ea"/>
              </a:rPr>
              <a:t> </a:t>
            </a:r>
            <a:r>
              <a:rPr sz="2400" dirty="0">
                <a:latin typeface="Palatino Linotype" panose="02040502050505030304" charset="0"/>
                <a:ea typeface="Palatino Linotype" panose="02040502050505030304"/>
                <a:cs typeface="Palatino Linotype" panose="02040502050505030304"/>
                <a:sym typeface="+mn-ea"/>
              </a:rPr>
              <a:t>(using </a:t>
            </a:r>
            <a:r>
              <a:rPr lang="en-US" altLang="zh-CN" sz="2400" dirty="0">
                <a:solidFill>
                  <a:srgbClr val="0331FF"/>
                </a:solidFill>
                <a:latin typeface="Palatino Linotype" panose="02040502050505030304" charset="0"/>
                <a:ea typeface="Palatino Linotype" panose="02040502050505030304"/>
                <a:cs typeface="Palatino Linotype" panose="02040502050505030304"/>
                <a:sym typeface="+mn-ea"/>
              </a:rPr>
              <a:t>university</a:t>
            </a:r>
            <a:r>
              <a:rPr sz="2400" dirty="0">
                <a:latin typeface="Palatino Linotype" panose="02040502050505030304" charset="0"/>
                <a:ea typeface="Palatino Linotype" panose="02040502050505030304"/>
                <a:cs typeface="Palatino Linotype" panose="02040502050505030304"/>
                <a:sym typeface="+mn-ea"/>
              </a:rPr>
              <a:t> for illustration)</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FF0000"/>
                </a:solidFill>
                <a:latin typeface="Palatino Linotype" panose="02040502050505030304" charset="0"/>
                <a:ea typeface="Palatino Linotype" panose="02040502050505030304"/>
                <a:cs typeface="Palatino Linotype" panose="02040502050505030304"/>
                <a:sym typeface="+mn-ea"/>
              </a:rPr>
              <a:t>Substring (子串)</a:t>
            </a:r>
            <a:r>
              <a:rPr sz="1800" dirty="0">
                <a:latin typeface="Palatino Linotype" panose="02040502050505030304" charset="0"/>
                <a:ea typeface="Palatino Linotype" panose="02040502050505030304"/>
                <a:cs typeface="Palatino Linotype" panose="02040502050505030304"/>
                <a:sym typeface="+mn-ea"/>
              </a:rPr>
              <a:t> of s: any string obtained by removing any prefix and any suffix from s (</a:t>
            </a:r>
            <a:r>
              <a:rPr lang="en-US" sz="1800" dirty="0" err="1">
                <a:solidFill>
                  <a:srgbClr val="0331FF"/>
                </a:solidFill>
                <a:latin typeface="Palatino Linotype" panose="02040502050505030304" charset="0"/>
                <a:ea typeface="Palatino Linotype" panose="02040502050505030304"/>
                <a:cs typeface="Palatino Linotype" panose="02040502050505030304"/>
                <a:sym typeface="+mn-ea"/>
              </a:rPr>
              <a:t>ver</a:t>
            </a:r>
            <a:r>
              <a:rPr sz="1800" dirty="0">
                <a:solidFill>
                  <a:srgbClr val="0331FF"/>
                </a:solidFill>
                <a:latin typeface="Palatino Linotype" panose="02040502050505030304" charset="0"/>
                <a:ea typeface="Palatino Linotype" panose="02040502050505030304"/>
                <a:cs typeface="Palatino Linotype" panose="02040502050505030304"/>
                <a:sym typeface="+mn-ea"/>
              </a:rPr>
              <a:t>, </a:t>
            </a:r>
            <a:r>
              <a:rPr lang="en-US" sz="1800" dirty="0" err="1">
                <a:solidFill>
                  <a:srgbClr val="0331FF"/>
                </a:solidFill>
                <a:latin typeface="Palatino Linotype" panose="02040502050505030304" charset="0"/>
                <a:ea typeface="Palatino Linotype" panose="02040502050505030304"/>
                <a:cs typeface="Palatino Linotype" panose="02040502050505030304"/>
                <a:sym typeface="+mn-ea"/>
              </a:rPr>
              <a:t>sity</a:t>
            </a:r>
            <a:r>
              <a:rPr sz="1800" dirty="0">
                <a:solidFill>
                  <a:srgbClr val="0331FF"/>
                </a:solidFill>
                <a:latin typeface="Palatino Linotype" panose="02040502050505030304" charset="0"/>
                <a:ea typeface="Palatino Linotype" panose="02040502050505030304"/>
                <a:cs typeface="Palatino Linotype" panose="02040502050505030304"/>
                <a:sym typeface="+mn-ea"/>
              </a:rPr>
              <a:t>,</a:t>
            </a:r>
            <a:r>
              <a:rPr lang="en-US" altLang="zh-CN" sz="1800" dirty="0">
                <a:solidFill>
                  <a:srgbClr val="0331FF"/>
                </a:solidFill>
                <a:latin typeface="Palatino Linotype" panose="02040502050505030304" charset="0"/>
                <a:ea typeface="Palatino Linotype" panose="02040502050505030304"/>
                <a:cs typeface="Palatino Linotype" panose="02040502050505030304"/>
                <a:sym typeface="+mn-ea"/>
              </a:rPr>
              <a:t> </a:t>
            </a:r>
            <a:r>
              <a:rPr lang="en-US" altLang="zh-CN" sz="1800" dirty="0" err="1">
                <a:solidFill>
                  <a:srgbClr val="0331FF"/>
                </a:solidFill>
                <a:latin typeface="Palatino Linotype" panose="02040502050505030304" charset="0"/>
                <a:ea typeface="Palatino Linotype" panose="02040502050505030304"/>
                <a:cs typeface="Palatino Linotype" panose="02040502050505030304"/>
                <a:sym typeface="+mn-ea"/>
              </a:rPr>
              <a:t>uni</a:t>
            </a:r>
            <a:r>
              <a:rPr lang="en-US" altLang="zh-CN" sz="1800" dirty="0">
                <a:solidFill>
                  <a:srgbClr val="0331FF"/>
                </a:solidFill>
                <a:latin typeface="Palatino Linotype" panose="02040502050505030304" charset="0"/>
                <a:ea typeface="Palatino Linotype" panose="02040502050505030304"/>
                <a:cs typeface="Palatino Linotype" panose="02040502050505030304"/>
                <a:sym typeface="+mn-ea"/>
              </a:rPr>
              <a:t>, iv,</a:t>
            </a:r>
            <a:r>
              <a:rPr sz="1800" dirty="0">
                <a:solidFill>
                  <a:srgbClr val="0331FF"/>
                </a:solidFill>
                <a:latin typeface="Palatino Linotype" panose="02040502050505030304" charset="0"/>
                <a:ea typeface="Palatino Linotype" panose="02040502050505030304"/>
                <a:cs typeface="Palatino Linotype" panose="02040502050505030304"/>
                <a:sym typeface="+mn-ea"/>
              </a:rPr>
              <a:t> </a:t>
            </a:r>
            <a:r>
              <a:rPr lang="el-GR" sz="1800" dirty="0">
                <a:solidFill>
                  <a:srgbClr val="0331FF"/>
                </a:solidFill>
                <a:latin typeface="Palatino Linotype" panose="02040502050505030304" charset="0"/>
                <a:ea typeface="Palatino Linotype" panose="02040502050505030304"/>
                <a:cs typeface="Palatino Linotype" panose="02040502050505030304"/>
                <a:sym typeface="+mn-ea"/>
              </a:rPr>
              <a:t>ε</a:t>
            </a:r>
            <a:r>
              <a:rPr lang="en-US" altLang="zh-CN" sz="1800" dirty="0">
                <a:solidFill>
                  <a:srgbClr val="0331FF"/>
                </a:solidFill>
                <a:latin typeface="Palatino Linotype" panose="02040502050505030304" charset="0"/>
                <a:ea typeface="Palatino Linotype" panose="02040502050505030304"/>
                <a:cs typeface="Palatino Linotype" panose="02040502050505030304"/>
                <a:sym typeface="+mn-ea"/>
              </a:rPr>
              <a:t>, university</a:t>
            </a:r>
            <a:r>
              <a:rPr sz="1800" dirty="0">
                <a:latin typeface="Palatino Linotype" panose="02040502050505030304" charset="0"/>
                <a:ea typeface="Palatino Linotype" panose="02040502050505030304"/>
                <a:cs typeface="Palatino Linotype" panose="02040502050505030304"/>
                <a:sym typeface="+mn-ea"/>
              </a:rPr>
              <a:t>)</a:t>
            </a:r>
          </a:p>
          <a:p>
            <a:pPr marL="457200" lvl="1" indent="0" rtl="0" eaLnBrk="0">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FF0000"/>
                </a:solidFill>
                <a:latin typeface="Palatino Linotype" panose="02040502050505030304" charset="0"/>
                <a:ea typeface="Palatino Linotype" panose="02040502050505030304"/>
                <a:cs typeface="Palatino Linotype" panose="02040502050505030304"/>
                <a:sym typeface="+mn-ea"/>
              </a:rPr>
              <a:t>Proper substring (真子串)</a:t>
            </a:r>
            <a:r>
              <a:rPr sz="1800" dirty="0">
                <a:latin typeface="Palatino Linotype" panose="02040502050505030304" charset="0"/>
                <a:ea typeface="Palatino Linotype" panose="02040502050505030304"/>
                <a:cs typeface="Palatino Linotype" panose="02040502050505030304"/>
                <a:sym typeface="+mn-ea"/>
              </a:rPr>
              <a:t>: a substring that is not 𝜖 and not equal to s itself (</a:t>
            </a:r>
            <a:r>
              <a:rPr lang="en-US" altLang="zh-CN" sz="1800" dirty="0" err="1">
                <a:solidFill>
                  <a:srgbClr val="0331FF"/>
                </a:solidFill>
                <a:latin typeface="Palatino Linotype" panose="02040502050505030304" charset="0"/>
                <a:ea typeface="Palatino Linotype" panose="02040502050505030304"/>
                <a:cs typeface="Palatino Linotype" panose="02040502050505030304"/>
                <a:sym typeface="+mn-ea"/>
              </a:rPr>
              <a:t>ver</a:t>
            </a:r>
            <a:r>
              <a:rPr sz="1800" dirty="0">
                <a:latin typeface="Palatino Linotype" panose="02040502050505030304" charset="0"/>
                <a:ea typeface="Palatino Linotype" panose="02040502050505030304"/>
                <a:cs typeface="Palatino Linotype" panose="02040502050505030304"/>
                <a:sym typeface="+mn-ea"/>
              </a:rPr>
              <a:t>)</a:t>
            </a:r>
          </a:p>
          <a:p>
            <a:pPr marL="457200" lvl="1" indent="0" rtl="0" eaLnBrk="0">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FF0000"/>
                </a:solidFill>
                <a:latin typeface="Palatino Linotype" panose="02040502050505030304" charset="0"/>
                <a:ea typeface="Palatino Linotype" panose="02040502050505030304"/>
                <a:cs typeface="Palatino Linotype" panose="02040502050505030304"/>
                <a:sym typeface="+mn-ea"/>
              </a:rPr>
              <a:t>Subsequence (子序列)</a:t>
            </a:r>
            <a:r>
              <a:rPr sz="1800" dirty="0">
                <a:latin typeface="Palatino Linotype" panose="02040502050505030304" charset="0"/>
                <a:ea typeface="Palatino Linotype" panose="02040502050505030304"/>
                <a:cs typeface="Palatino Linotype" panose="02040502050505030304"/>
                <a:sym typeface="+mn-ea"/>
              </a:rPr>
              <a:t>: any string formed by removing 0 or more not necessarily consecutive symbols from s</a:t>
            </a:r>
            <a:r>
              <a:rPr lang="en-US" altLang="zh-CN" sz="1800" dirty="0">
                <a:latin typeface="Palatino Linotype" panose="02040502050505030304" charset="0"/>
                <a:ea typeface="Palatino Linotype" panose="02040502050505030304"/>
                <a:cs typeface="Palatino Linotype" panose="02040502050505030304"/>
                <a:sym typeface="+mn-ea"/>
              </a:rPr>
              <a:t> (</a:t>
            </a:r>
            <a:r>
              <a:rPr lang="en-US" altLang="zh-CN" sz="1800" dirty="0" err="1">
                <a:solidFill>
                  <a:srgbClr val="0331FF"/>
                </a:solidFill>
                <a:latin typeface="Palatino Linotype" panose="02040502050505030304" charset="0"/>
                <a:ea typeface="Palatino Linotype" panose="02040502050505030304"/>
                <a:cs typeface="Palatino Linotype" panose="02040502050505030304"/>
                <a:sym typeface="+mn-ea"/>
              </a:rPr>
              <a:t>uvrit</a:t>
            </a:r>
            <a:r>
              <a:rPr lang="zh-CN" altLang="en-US" sz="1800" dirty="0">
                <a:solidFill>
                  <a:srgbClr val="0331FF"/>
                </a:solidFill>
                <a:latin typeface="Palatino Linotype" panose="02040502050505030304" charset="0"/>
                <a:ea typeface="Palatino Linotype" panose="02040502050505030304"/>
                <a:cs typeface="Palatino Linotype" panose="02040502050505030304"/>
                <a:sym typeface="+mn-ea"/>
              </a:rPr>
              <a:t>，</a:t>
            </a:r>
            <a:r>
              <a:rPr lang="en-US" altLang="zh-CN" sz="1800" dirty="0" err="1">
                <a:solidFill>
                  <a:srgbClr val="0331FF"/>
                </a:solidFill>
                <a:latin typeface="Palatino Linotype" panose="02040502050505030304" charset="0"/>
                <a:ea typeface="Palatino Linotype" panose="02040502050505030304"/>
                <a:cs typeface="Palatino Linotype" panose="02040502050505030304"/>
                <a:sym typeface="+mn-ea"/>
              </a:rPr>
              <a:t>uiri</a:t>
            </a:r>
            <a:r>
              <a:rPr lang="en-US" altLang="zh-CN" sz="1800" dirty="0">
                <a:solidFill>
                  <a:srgbClr val="0331FF"/>
                </a:solidFill>
                <a:latin typeface="Palatino Linotype" panose="02040502050505030304" charset="0"/>
                <a:ea typeface="Palatino Linotype" panose="02040502050505030304"/>
                <a:cs typeface="Palatino Linotype" panose="02040502050505030304"/>
                <a:sym typeface="+mn-ea"/>
              </a:rPr>
              <a:t>)</a:t>
            </a:r>
            <a:endParaRPr lang="en-US" altLang="zh-CN"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endParaRPr sz="18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13</a:t>
            </a:fld>
            <a:endParaRPr/>
          </a:p>
        </p:txBody>
      </p:sp>
      <p:pic>
        <p:nvPicPr>
          <p:cNvPr id="2" name="图片 1"/>
          <p:cNvPicPr>
            <a:picLocks noChangeAspect="1"/>
          </p:cNvPicPr>
          <p:nvPr>
            <p:custDataLst>
              <p:tags r:id="rId1"/>
            </p:custDataLst>
          </p:nvPr>
        </p:nvPicPr>
        <p:blipFill>
          <a:blip r:embed="rId4"/>
          <a:stretch>
            <a:fillRect/>
          </a:stretch>
        </p:blipFill>
        <p:spPr>
          <a:xfrm>
            <a:off x="1979295" y="5451475"/>
            <a:ext cx="812800" cy="812800"/>
          </a:xfrm>
          <a:prstGeom prst="rect">
            <a:avLst/>
          </a:prstGeom>
        </p:spPr>
      </p:pic>
      <p:sp>
        <p:nvSpPr>
          <p:cNvPr id="5" name="文本框 4"/>
          <p:cNvSpPr txBox="1"/>
          <p:nvPr/>
        </p:nvSpPr>
        <p:spPr>
          <a:xfrm>
            <a:off x="2843530" y="5451475"/>
            <a:ext cx="4572000" cy="368300"/>
          </a:xfrm>
          <a:prstGeom prst="rect">
            <a:avLst/>
          </a:prstGeom>
          <a:noFill/>
        </p:spPr>
        <p:txBody>
          <a:bodyPr wrap="square" rtlCol="0" anchor="t">
            <a:spAutoFit/>
          </a:bodyPr>
          <a:lstStyle/>
          <a:p>
            <a:r>
              <a:rPr lang="zh-CN" altLang="en-US" dirty="0"/>
              <a:t>How may substrings does </a:t>
            </a:r>
            <a:r>
              <a:rPr lang="en-US" altLang="zh-CN" dirty="0">
                <a:solidFill>
                  <a:srgbClr val="0331FF"/>
                </a:solidFill>
              </a:rPr>
              <a:t>napkin</a:t>
            </a:r>
            <a:r>
              <a:rPr lang="zh-CN" altLang="en-US" dirty="0">
                <a:solidFill>
                  <a:srgbClr val="0331FF"/>
                </a:solidFill>
              </a:rPr>
              <a:t> </a:t>
            </a:r>
            <a:r>
              <a:rPr lang="zh-CN" altLang="en-US" dirty="0"/>
              <a:t>have?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Strings and Languages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String-related operations (串的运算)</a:t>
            </a:r>
          </a:p>
          <a:p>
            <a:pPr marL="0" indent="45720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Concatenation (连接)</a:t>
            </a:r>
            <a:r>
              <a:rPr sz="2000" dirty="0">
                <a:latin typeface="Palatino Linotype" panose="02040502050505030304" charset="0"/>
                <a:ea typeface="Palatino Linotype" panose="02040502050505030304"/>
                <a:cs typeface="Palatino Linotype" panose="02040502050505030304"/>
                <a:sym typeface="+mn-ea"/>
              </a:rPr>
              <a:t>: the</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concatenation of two strings x</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and y, denoted xy, is the string formed by appending y to x</a:t>
            </a:r>
          </a:p>
          <a:p>
            <a:pPr lvl="2" algn="l" rtl="0" eaLnBrk="0" fontAlgn="auto">
              <a:lnSpc>
                <a:spcPct val="150000"/>
              </a:lnSpc>
              <a:spcBef>
                <a:spcPts val="0"/>
              </a:spcBef>
              <a:buFont typeface="Wingdings" panose="05000000000000000000" charset="0"/>
              <a:buChar char="l"/>
            </a:pPr>
            <a:r>
              <a:rPr sz="1800" dirty="0">
                <a:latin typeface="Palatino Linotype" panose="02040502050505030304" charset="0"/>
                <a:ea typeface="Palatino Linotype" panose="02040502050505030304"/>
                <a:cs typeface="Palatino Linotype" panose="02040502050505030304"/>
                <a:sym typeface="+mn-ea"/>
              </a:rPr>
              <a:t>x = </a:t>
            </a:r>
            <a:r>
              <a:rPr sz="1800" dirty="0">
                <a:solidFill>
                  <a:srgbClr val="0331FF"/>
                </a:solidFill>
                <a:latin typeface="Palatino Linotype" panose="02040502050505030304" charset="0"/>
                <a:ea typeface="Palatino Linotype" panose="02040502050505030304"/>
                <a:cs typeface="Palatino Linotype" panose="02040502050505030304"/>
                <a:sym typeface="+mn-ea"/>
              </a:rPr>
              <a:t>dog</a:t>
            </a:r>
            <a:r>
              <a:rPr sz="1800" dirty="0">
                <a:latin typeface="Palatino Linotype" panose="02040502050505030304" charset="0"/>
                <a:ea typeface="Palatino Linotype" panose="02040502050505030304"/>
                <a:cs typeface="Palatino Linotype" panose="02040502050505030304"/>
                <a:sym typeface="+mn-ea"/>
              </a:rPr>
              <a:t>, y = </a:t>
            </a:r>
            <a:r>
              <a:rPr sz="1800" dirty="0">
                <a:solidFill>
                  <a:srgbClr val="0331FF"/>
                </a:solidFill>
                <a:latin typeface="Palatino Linotype" panose="02040502050505030304" charset="0"/>
                <a:ea typeface="Palatino Linotype" panose="02040502050505030304"/>
                <a:cs typeface="Palatino Linotype" panose="02040502050505030304"/>
                <a:sym typeface="+mn-ea"/>
              </a:rPr>
              <a:t>house</a:t>
            </a:r>
            <a:r>
              <a:rPr sz="1800" dirty="0">
                <a:latin typeface="Palatino Linotype" panose="02040502050505030304" charset="0"/>
                <a:ea typeface="Palatino Linotype" panose="02040502050505030304"/>
                <a:cs typeface="Palatino Linotype" panose="02040502050505030304"/>
                <a:sym typeface="+mn-ea"/>
              </a:rPr>
              <a:t>, xy = </a:t>
            </a:r>
            <a:r>
              <a:rPr sz="1800" dirty="0">
                <a:solidFill>
                  <a:srgbClr val="0331FF"/>
                </a:solidFill>
                <a:latin typeface="Palatino Linotype" panose="02040502050505030304" charset="0"/>
                <a:ea typeface="Palatino Linotype" panose="02040502050505030304"/>
                <a:cs typeface="Palatino Linotype" panose="02040502050505030304"/>
                <a:sym typeface="+mn-ea"/>
              </a:rPr>
              <a:t>doghouse</a:t>
            </a:r>
            <a:endParaRPr sz="1800" dirty="0">
              <a:latin typeface="Palatino Linotype" panose="02040502050505030304" charset="0"/>
              <a:ea typeface="Palatino Linotype" panose="02040502050505030304"/>
              <a:cs typeface="Palatino Linotype" panose="02040502050505030304"/>
              <a:sym typeface="+mn-ea"/>
            </a:endParaRPr>
          </a:p>
          <a:p>
            <a:pPr marL="0" indent="45720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Exponentiation (幂/指数运算)</a:t>
            </a:r>
            <a:r>
              <a:rPr sz="2000" dirty="0">
                <a:latin typeface="Palatino Linotype" panose="02040502050505030304" charset="0"/>
                <a:ea typeface="Palatino Linotype" panose="02040502050505030304"/>
                <a:cs typeface="Palatino Linotype" panose="02040502050505030304"/>
                <a:sym typeface="+mn-ea"/>
              </a:rPr>
              <a:t>: </a:t>
            </a:r>
            <a:r>
              <a:rPr lang="en-US" sz="2000" dirty="0">
                <a:latin typeface="Palatino Linotype" panose="02040502050505030304" charset="0"/>
                <a:ea typeface="Palatino Linotype" panose="02040502050505030304"/>
                <a:cs typeface="Palatino Linotype" panose="02040502050505030304"/>
                <a:sym typeface="+mn-ea"/>
              </a:rPr>
              <a:t>s</a:t>
            </a:r>
            <a:r>
              <a:rPr lang="en-US" sz="2000" baseline="30000" dirty="0">
                <a:latin typeface="Palatino Linotype" panose="02040502050505030304" charset="0"/>
                <a:ea typeface="Palatino Linotype" panose="02040502050505030304"/>
                <a:cs typeface="Palatino Linotype" panose="02040502050505030304"/>
                <a:sym typeface="+mn-ea"/>
              </a:rPr>
              <a:t>0</a:t>
            </a:r>
            <a:r>
              <a:rPr lang="en-US" sz="2000" dirty="0">
                <a:latin typeface="Palatino Linotype" panose="02040502050505030304" charset="0"/>
                <a:ea typeface="Palatino Linotype" panose="02040502050505030304"/>
                <a:cs typeface="Palatino Linotype" panose="02040502050505030304"/>
                <a:sym typeface="+mn-ea"/>
              </a:rPr>
              <a:t>=ε,s</a:t>
            </a:r>
            <a:r>
              <a:rPr lang="en-US" sz="2000" baseline="30000" dirty="0">
                <a:latin typeface="Palatino Linotype" panose="02040502050505030304" charset="0"/>
                <a:ea typeface="Palatino Linotype" panose="02040502050505030304"/>
                <a:cs typeface="Palatino Linotype" panose="02040502050505030304"/>
                <a:sym typeface="+mn-ea"/>
              </a:rPr>
              <a:t>1</a:t>
            </a:r>
            <a:r>
              <a:rPr lang="en-US" sz="2000" dirty="0">
                <a:latin typeface="Palatino Linotype" panose="02040502050505030304" charset="0"/>
                <a:ea typeface="Palatino Linotype" panose="02040502050505030304"/>
                <a:cs typeface="Palatino Linotype" panose="02040502050505030304"/>
                <a:sym typeface="+mn-ea"/>
              </a:rPr>
              <a:t>=s,s</a:t>
            </a:r>
            <a:r>
              <a:rPr lang="en-US" sz="2000" baseline="30000" dirty="0">
                <a:latin typeface="Palatino Linotype" panose="02040502050505030304" charset="0"/>
                <a:ea typeface="Palatino Linotype" panose="02040502050505030304"/>
                <a:cs typeface="Palatino Linotype" panose="02040502050505030304"/>
                <a:sym typeface="+mn-ea"/>
              </a:rPr>
              <a:t>i</a:t>
            </a:r>
            <a:r>
              <a:rPr lang="en-US" sz="2000" dirty="0">
                <a:latin typeface="Palatino Linotype" panose="02040502050505030304" charset="0"/>
                <a:ea typeface="Palatino Linotype" panose="02040502050505030304"/>
                <a:cs typeface="Palatino Linotype" panose="02040502050505030304"/>
                <a:sym typeface="+mn-ea"/>
              </a:rPr>
              <a:t>=s</a:t>
            </a:r>
            <a:r>
              <a:rPr lang="en-US" sz="2000" baseline="30000" dirty="0">
                <a:latin typeface="Palatino Linotype" panose="02040502050505030304" charset="0"/>
                <a:ea typeface="Palatino Linotype" panose="02040502050505030304"/>
                <a:cs typeface="Palatino Linotype" panose="02040502050505030304"/>
                <a:sym typeface="+mn-ea"/>
              </a:rPr>
              <a:t>i-1</a:t>
            </a:r>
            <a:r>
              <a:rPr lang="en-US" sz="2000" dirty="0">
                <a:latin typeface="Palatino Linotype" panose="02040502050505030304" charset="0"/>
                <a:ea typeface="Palatino Linotype" panose="02040502050505030304"/>
                <a:cs typeface="Palatino Linotype" panose="02040502050505030304"/>
                <a:sym typeface="+mn-ea"/>
              </a:rPr>
              <a:t>s</a:t>
            </a:r>
          </a:p>
          <a:p>
            <a:pPr marL="1257300" lvl="3" indent="-342900" algn="l" rtl="0" eaLnBrk="0" fontAlgn="auto">
              <a:lnSpc>
                <a:spcPct val="150000"/>
              </a:lnSpc>
              <a:spcBef>
                <a:spcPts val="0"/>
              </a:spcBef>
              <a:buFont typeface="Wingdings" panose="05000000000000000000" charset="0"/>
              <a:buChar char="l"/>
            </a:pPr>
            <a:r>
              <a:rPr dirty="0">
                <a:latin typeface="Palatino Linotype" panose="02040502050505030304" charset="0"/>
                <a:ea typeface="Palatino Linotype" panose="02040502050505030304"/>
                <a:cs typeface="Palatino Linotype" panose="02040502050505030304"/>
                <a:sym typeface="+mn-ea"/>
              </a:rPr>
              <a:t>x = </a:t>
            </a:r>
            <a:r>
              <a:rPr dirty="0">
                <a:solidFill>
                  <a:srgbClr val="0331FF"/>
                </a:solidFill>
                <a:latin typeface="Palatino Linotype" panose="02040502050505030304" charset="0"/>
                <a:ea typeface="Palatino Linotype" panose="02040502050505030304"/>
                <a:cs typeface="Palatino Linotype" panose="02040502050505030304"/>
                <a:sym typeface="+mn-ea"/>
              </a:rPr>
              <a:t>dog</a:t>
            </a:r>
            <a:r>
              <a:rPr dirty="0">
                <a:latin typeface="Palatino Linotype" panose="02040502050505030304" charset="0"/>
                <a:ea typeface="Palatino Linotype" panose="02040502050505030304"/>
                <a:cs typeface="Palatino Linotype" panose="02040502050505030304"/>
                <a:sym typeface="+mn-ea"/>
              </a:rPr>
              <a:t>, </a:t>
            </a:r>
            <a:r>
              <a:rPr lang="en-US" dirty="0">
                <a:latin typeface="Palatino Linotype" panose="02040502050505030304" charset="0"/>
                <a:ea typeface="Palatino Linotype" panose="02040502050505030304"/>
                <a:cs typeface="Palatino Linotype" panose="02040502050505030304"/>
                <a:sym typeface="+mn-ea"/>
              </a:rPr>
              <a:t>x</a:t>
            </a:r>
            <a:r>
              <a:rPr lang="en-US" baseline="30000" dirty="0">
                <a:latin typeface="Palatino Linotype" panose="02040502050505030304" charset="0"/>
                <a:ea typeface="Palatino Linotype" panose="02040502050505030304"/>
                <a:cs typeface="Palatino Linotype" panose="02040502050505030304"/>
                <a:sym typeface="+mn-ea"/>
              </a:rPr>
              <a:t>0 </a:t>
            </a:r>
            <a:r>
              <a:rPr lang="en-US" dirty="0">
                <a:latin typeface="Palatino Linotype" panose="02040502050505030304" charset="0"/>
                <a:ea typeface="Palatino Linotype" panose="02040502050505030304"/>
                <a:cs typeface="Palatino Linotype" panose="02040502050505030304"/>
                <a:sym typeface="+mn-ea"/>
              </a:rPr>
              <a:t>= </a:t>
            </a:r>
            <a:r>
              <a:rPr lang="en-US" dirty="0">
                <a:solidFill>
                  <a:srgbClr val="0331FF"/>
                </a:solidFill>
                <a:latin typeface="Palatino Linotype" panose="02040502050505030304" charset="0"/>
                <a:ea typeface="Palatino Linotype" panose="02040502050505030304"/>
                <a:cs typeface="Palatino Linotype" panose="02040502050505030304"/>
                <a:sym typeface="+mn-ea"/>
              </a:rPr>
              <a:t>ε</a:t>
            </a:r>
            <a:r>
              <a:rPr lang="en-US" dirty="0">
                <a:latin typeface="Palatino Linotype" panose="02040502050505030304" charset="0"/>
                <a:ea typeface="Palatino Linotype" panose="02040502050505030304"/>
                <a:cs typeface="Palatino Linotype" panose="02040502050505030304"/>
                <a:sym typeface="+mn-ea"/>
              </a:rPr>
              <a:t>,x</a:t>
            </a:r>
            <a:r>
              <a:rPr lang="en-US" baseline="30000" dirty="0">
                <a:latin typeface="Palatino Linotype" panose="02040502050505030304" charset="0"/>
                <a:ea typeface="Palatino Linotype" panose="02040502050505030304"/>
                <a:cs typeface="Palatino Linotype" panose="02040502050505030304"/>
                <a:sym typeface="+mn-ea"/>
              </a:rPr>
              <a:t>1 </a:t>
            </a:r>
            <a:r>
              <a:rPr lang="en-US" dirty="0">
                <a:latin typeface="Palatino Linotype" panose="02040502050505030304" charset="0"/>
                <a:ea typeface="Palatino Linotype" panose="02040502050505030304"/>
                <a:cs typeface="Palatino Linotype" panose="02040502050505030304"/>
                <a:sym typeface="+mn-ea"/>
              </a:rPr>
              <a:t>= </a:t>
            </a:r>
            <a:r>
              <a:rPr lang="en-US" dirty="0">
                <a:solidFill>
                  <a:srgbClr val="0331FF"/>
                </a:solidFill>
                <a:latin typeface="Palatino Linotype" panose="02040502050505030304" charset="0"/>
                <a:ea typeface="Palatino Linotype" panose="02040502050505030304"/>
                <a:cs typeface="Palatino Linotype" panose="02040502050505030304"/>
                <a:sym typeface="+mn-ea"/>
              </a:rPr>
              <a:t>dog</a:t>
            </a:r>
            <a:r>
              <a:rPr lang="en-US" dirty="0">
                <a:latin typeface="Palatino Linotype" panose="02040502050505030304" charset="0"/>
                <a:ea typeface="Palatino Linotype" panose="02040502050505030304"/>
                <a:cs typeface="Palatino Linotype" panose="02040502050505030304"/>
                <a:sym typeface="+mn-ea"/>
              </a:rPr>
              <a:t>,x</a:t>
            </a:r>
            <a:r>
              <a:rPr lang="en-US" baseline="30000" dirty="0">
                <a:latin typeface="Palatino Linotype" panose="02040502050505030304" charset="0"/>
                <a:ea typeface="Palatino Linotype" panose="02040502050505030304"/>
                <a:cs typeface="Palatino Linotype" panose="02040502050505030304"/>
                <a:sym typeface="+mn-ea"/>
              </a:rPr>
              <a:t>3 </a:t>
            </a:r>
            <a:r>
              <a:rPr lang="en-US" dirty="0">
                <a:latin typeface="Palatino Linotype" panose="02040502050505030304" charset="0"/>
                <a:ea typeface="Palatino Linotype" panose="02040502050505030304"/>
                <a:cs typeface="Palatino Linotype" panose="02040502050505030304"/>
                <a:sym typeface="+mn-ea"/>
              </a:rPr>
              <a:t>= </a:t>
            </a:r>
            <a:r>
              <a:rPr lang="en-US" dirty="0">
                <a:solidFill>
                  <a:srgbClr val="0331FF"/>
                </a:solidFill>
                <a:latin typeface="Palatino Linotype" panose="02040502050505030304" charset="0"/>
                <a:ea typeface="Palatino Linotype" panose="02040502050505030304"/>
                <a:cs typeface="Palatino Linotype" panose="02040502050505030304"/>
                <a:sym typeface="+mn-ea"/>
              </a:rPr>
              <a:t>dogdogdog</a:t>
            </a:r>
            <a:endParaRPr lang="en-US" baseline="30000" dirty="0">
              <a:solidFill>
                <a:srgbClr val="0331FF"/>
              </a:solidFill>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Strings and Languages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A </a:t>
            </a:r>
            <a:r>
              <a:rPr sz="2000" dirty="0">
                <a:solidFill>
                  <a:srgbClr val="FF0000"/>
                </a:solidFill>
                <a:latin typeface="Palatino Linotype" panose="02040502050505030304" charset="0"/>
                <a:ea typeface="Palatino Linotype" panose="02040502050505030304"/>
                <a:cs typeface="Palatino Linotype" panose="02040502050505030304"/>
                <a:sym typeface="+mn-ea"/>
              </a:rPr>
              <a:t>language (语言)</a:t>
            </a:r>
            <a:r>
              <a:rPr sz="2000" dirty="0">
                <a:latin typeface="Palatino Linotype" panose="02040502050505030304" charset="0"/>
                <a:ea typeface="Palatino Linotype" panose="02040502050505030304"/>
                <a:cs typeface="Palatino Linotype" panose="02040502050505030304"/>
                <a:sym typeface="+mn-ea"/>
              </a:rPr>
              <a:t> is any </a:t>
            </a:r>
            <a:r>
              <a:rPr sz="2000" dirty="0">
                <a:solidFill>
                  <a:srgbClr val="FF0000"/>
                </a:solidFill>
                <a:latin typeface="Palatino Linotype" panose="02040502050505030304" charset="0"/>
                <a:ea typeface="Palatino Linotype" panose="02040502050505030304"/>
                <a:cs typeface="Palatino Linotype" panose="02040502050505030304"/>
                <a:sym typeface="+mn-ea"/>
              </a:rPr>
              <a:t>countable set</a:t>
            </a:r>
            <a:r>
              <a:rPr lang="en-US" sz="2000" baseline="30000" dirty="0">
                <a:solidFill>
                  <a:srgbClr val="FF0000"/>
                </a:solidFill>
                <a:latin typeface="Palatino Linotype" panose="02040502050505030304" charset="0"/>
                <a:ea typeface="Palatino Linotype" panose="02040502050505030304"/>
                <a:cs typeface="Palatino Linotype" panose="02040502050505030304"/>
                <a:sym typeface="+mn-ea"/>
              </a:rPr>
              <a:t>1</a:t>
            </a:r>
            <a:r>
              <a:rPr sz="2000" dirty="0">
                <a:latin typeface="Palatino Linotype" panose="02040502050505030304" charset="0"/>
                <a:ea typeface="Palatino Linotype" panose="02040502050505030304"/>
                <a:cs typeface="Palatino Linotype" panose="02040502050505030304"/>
                <a:sym typeface="+mn-ea"/>
              </a:rPr>
              <a:t> of strings over some fixed alphabet</a:t>
            </a:r>
            <a:r>
              <a:rPr lang="en-US" altLang="zh-CN" sz="2000" dirty="0">
                <a:latin typeface="Palatino Linotype" panose="02040502050505030304" charset="0"/>
                <a:ea typeface="Palatino Linotype" panose="02040502050505030304"/>
                <a:cs typeface="Palatino Linotype" panose="02040502050505030304"/>
                <a:sym typeface="+mn-ea"/>
              </a:rPr>
              <a:t>s</a:t>
            </a:r>
            <a:endParaRPr sz="20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The set containing only the empty string, that is {</a:t>
            </a:r>
            <a:r>
              <a:rPr lang="el-GR" sz="1800" dirty="0">
                <a:latin typeface="Palatino Linotype" panose="02040502050505030304" charset="0"/>
                <a:ea typeface="Palatino Linotype" panose="02040502050505030304"/>
                <a:cs typeface="Palatino Linotype" panose="02040502050505030304"/>
                <a:sym typeface="+mn-ea"/>
              </a:rPr>
              <a:t>ε</a:t>
            </a:r>
            <a:r>
              <a:rPr sz="1800" dirty="0">
                <a:latin typeface="Palatino Linotype" panose="02040502050505030304" charset="0"/>
                <a:ea typeface="Palatino Linotype" panose="02040502050505030304"/>
                <a:cs typeface="Palatino Linotype" panose="02040502050505030304"/>
                <a:sym typeface="+mn-ea"/>
              </a:rPr>
              <a:t>}, is a language, denoted </a:t>
            </a:r>
            <a:r>
              <a:rPr sz="1800" b="1" dirty="0">
                <a:latin typeface="Palatino Linotype" panose="02040502050505030304" charset="0"/>
                <a:ea typeface="Palatino Linotype" panose="02040502050505030304"/>
                <a:cs typeface="Palatino Linotype" panose="02040502050505030304"/>
                <a:sym typeface="+mn-ea"/>
              </a:rPr>
              <a:t>∅</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The set of all </a:t>
            </a:r>
            <a:r>
              <a:rPr sz="1800" dirty="0">
                <a:solidFill>
                  <a:srgbClr val="0331FF"/>
                </a:solidFill>
                <a:latin typeface="Palatino Linotype" panose="02040502050505030304" charset="0"/>
                <a:ea typeface="Palatino Linotype" panose="02040502050505030304"/>
                <a:cs typeface="Palatino Linotype" panose="02040502050505030304"/>
                <a:sym typeface="+mn-ea"/>
              </a:rPr>
              <a:t>grammatically correct English sentences</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The set of all </a:t>
            </a:r>
            <a:r>
              <a:rPr sz="1800" dirty="0">
                <a:solidFill>
                  <a:srgbClr val="0331FF"/>
                </a:solidFill>
                <a:latin typeface="Palatino Linotype" panose="02040502050505030304" charset="0"/>
                <a:ea typeface="Palatino Linotype" panose="02040502050505030304"/>
                <a:cs typeface="Palatino Linotype" panose="02040502050505030304"/>
                <a:sym typeface="+mn-ea"/>
              </a:rPr>
              <a:t>syntactically well-formed C programs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15</a:t>
            </a:fld>
            <a:endParaRPr dirty="0"/>
          </a:p>
        </p:txBody>
      </p:sp>
      <p:sp>
        <p:nvSpPr>
          <p:cNvPr id="2" name="文本框 1"/>
          <p:cNvSpPr txBox="1"/>
          <p:nvPr/>
        </p:nvSpPr>
        <p:spPr>
          <a:xfrm>
            <a:off x="628650" y="5085080"/>
            <a:ext cx="7886700" cy="521970"/>
          </a:xfrm>
          <a:prstGeom prst="rect">
            <a:avLst/>
          </a:prstGeom>
          <a:noFill/>
        </p:spPr>
        <p:txBody>
          <a:bodyPr wrap="square" rtlCol="0" anchor="t">
            <a:spAutoFit/>
          </a:bodyPr>
          <a:lstStyle/>
          <a:p>
            <a:r>
              <a:rPr lang="zh-CN" altLang="en-US" sz="1400" baseline="30000" dirty="0">
                <a:solidFill>
                  <a:schemeClr val="bg2">
                    <a:lumMod val="50000"/>
                  </a:schemeClr>
                </a:solidFill>
              </a:rPr>
              <a:t>1</a:t>
            </a:r>
            <a:r>
              <a:rPr lang="zh-CN" altLang="en-US" sz="1400" dirty="0">
                <a:solidFill>
                  <a:schemeClr val="bg2">
                    <a:lumMod val="50000"/>
                  </a:schemeClr>
                </a:solidFill>
              </a:rPr>
              <a:t>In mathematics, a countable set is a set with the same cardinality (number of elements) as some</a:t>
            </a:r>
            <a:r>
              <a:rPr lang="en-US" altLang="zh-CN" sz="1400" dirty="0">
                <a:solidFill>
                  <a:schemeClr val="bg2">
                    <a:lumMod val="50000"/>
                  </a:schemeClr>
                </a:solidFill>
              </a:rPr>
              <a:t> </a:t>
            </a:r>
            <a:r>
              <a:rPr lang="zh-CN" altLang="en-US" sz="1400" dirty="0">
                <a:solidFill>
                  <a:schemeClr val="bg2">
                    <a:lumMod val="50000"/>
                  </a:schemeClr>
                </a:solidFill>
              </a:rPr>
              <a:t>subset of the set of natural numbers. A countable set is either a finite set or a countably infinite set.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Strings and Languages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solidFill>
                  <a:schemeClr val="tx1"/>
                </a:solidFill>
                <a:latin typeface="Palatino Linotype" panose="02040502050505030304" charset="0"/>
                <a:ea typeface="Palatino Linotype" panose="02040502050505030304"/>
                <a:cs typeface="Palatino Linotype" panose="02040502050505030304"/>
                <a:sym typeface="+mn-ea"/>
              </a:rPr>
              <a:t>Operations on Languages (语言的运算)</a:t>
            </a:r>
          </a:p>
          <a:p>
            <a:pPr marL="0" indent="457200" algn="l" rtl="0" eaLnBrk="0" fontAlgn="auto">
              <a:lnSpc>
                <a:spcPct val="150000"/>
              </a:lnSpc>
              <a:spcBef>
                <a:spcPts val="0"/>
              </a:spcBef>
              <a:buNone/>
            </a:pPr>
            <a:r>
              <a:rPr sz="2200" dirty="0">
                <a:solidFill>
                  <a:schemeClr val="tx1"/>
                </a:solidFill>
                <a:latin typeface="Palatino Linotype" panose="02040502050505030304" charset="0"/>
                <a:ea typeface="Palatino Linotype" panose="02040502050505030304"/>
                <a:cs typeface="Palatino Linotype" panose="02040502050505030304"/>
                <a:sym typeface="+mn-ea"/>
              </a:rPr>
              <a:t>▪ </a:t>
            </a:r>
            <a:r>
              <a:rPr sz="2200" dirty="0">
                <a:solidFill>
                  <a:srgbClr val="FF0000"/>
                </a:solidFill>
                <a:latin typeface="Palatino Linotype" panose="02040502050505030304" charset="0"/>
                <a:ea typeface="Palatino Linotype" panose="02040502050505030304"/>
                <a:cs typeface="Palatino Linotype" panose="02040502050505030304"/>
                <a:sym typeface="+mn-ea"/>
              </a:rPr>
              <a:t>并，连接，Kleene闭包，正闭包</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16</a:t>
            </a:fld>
            <a:endParaRPr dirty="0"/>
          </a:p>
        </p:txBody>
      </p:sp>
      <p:pic>
        <p:nvPicPr>
          <p:cNvPr id="5" name="图片 4"/>
          <p:cNvPicPr>
            <a:picLocks noChangeAspect="1"/>
          </p:cNvPicPr>
          <p:nvPr>
            <p:custDataLst>
              <p:tags r:id="rId1"/>
            </p:custDataLst>
          </p:nvPr>
        </p:nvPicPr>
        <p:blipFill>
          <a:blip r:embed="rId5"/>
          <a:stretch>
            <a:fillRect/>
          </a:stretch>
        </p:blipFill>
        <p:spPr>
          <a:xfrm>
            <a:off x="548005" y="2886710"/>
            <a:ext cx="8047990" cy="2274570"/>
          </a:xfrm>
          <a:prstGeom prst="rect">
            <a:avLst/>
          </a:prstGeom>
        </p:spPr>
      </p:pic>
      <p:sp>
        <p:nvSpPr>
          <p:cNvPr id="6" name="文本框 5"/>
          <p:cNvSpPr txBox="1"/>
          <p:nvPr/>
        </p:nvSpPr>
        <p:spPr>
          <a:xfrm>
            <a:off x="899160" y="5436235"/>
            <a:ext cx="5633085" cy="275590"/>
          </a:xfrm>
          <a:prstGeom prst="rect">
            <a:avLst/>
          </a:prstGeom>
          <a:noFill/>
        </p:spPr>
        <p:txBody>
          <a:bodyPr wrap="square" rtlCol="0" anchor="t">
            <a:spAutoFit/>
          </a:bodyPr>
          <a:lstStyle/>
          <a:p>
            <a:r>
              <a:rPr lang="zh-CN" altLang="en-US" sz="1200">
                <a:solidFill>
                  <a:schemeClr val="bg2">
                    <a:lumMod val="50000"/>
                  </a:schemeClr>
                </a:solidFill>
              </a:rPr>
              <a:t>https://en.wikipedia.org/wiki/Stephen_Cole_Kleene</a:t>
            </a:r>
          </a:p>
        </p:txBody>
      </p:sp>
      <p:pic>
        <p:nvPicPr>
          <p:cNvPr id="7" name="图片 6"/>
          <p:cNvPicPr>
            <a:picLocks noChangeAspect="1"/>
          </p:cNvPicPr>
          <p:nvPr>
            <p:custDataLst>
              <p:tags r:id="rId2"/>
            </p:custDataLst>
          </p:nvPr>
        </p:nvPicPr>
        <p:blipFill>
          <a:blip r:embed="rId6"/>
          <a:stretch>
            <a:fillRect/>
          </a:stretch>
        </p:blipFill>
        <p:spPr>
          <a:xfrm>
            <a:off x="7235825" y="836295"/>
            <a:ext cx="1198880" cy="18764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Strings and Languages Cont.</a:t>
            </a:r>
          </a:p>
        </p:txBody>
      </p:sp>
      <p:sp>
        <p:nvSpPr>
          <p:cNvPr id="4" name="内容占位符 3"/>
          <p:cNvSpPr>
            <a:spLocks noGrp="1"/>
          </p:cNvSpPr>
          <p:nvPr>
            <p:ph idx="1"/>
          </p:nvPr>
        </p:nvSpPr>
        <p:spPr>
          <a:xfrm>
            <a:off x="628650" y="1691005"/>
            <a:ext cx="7886700" cy="4351338"/>
          </a:xfrm>
        </p:spPr>
        <p:txBody>
          <a:bodyPr>
            <a:noAutofit/>
          </a:bodyPr>
          <a:lstStyle/>
          <a:p>
            <a:pPr marL="17145" algn="l" rtl="0" eaLnBrk="0" fontAlgn="auto">
              <a:lnSpc>
                <a:spcPct val="150000"/>
              </a:lnSpc>
              <a:spcBef>
                <a:spcPts val="0"/>
              </a:spcBef>
            </a:pPr>
            <a:r>
              <a:rPr sz="2000" dirty="0">
                <a:solidFill>
                  <a:schemeClr val="tx1"/>
                </a:solidFill>
                <a:latin typeface="Palatino Linotype" panose="02040502050505030304" charset="0"/>
                <a:ea typeface="Palatino Linotype" panose="02040502050505030304"/>
                <a:cs typeface="Palatino Linotype" panose="02040502050505030304"/>
                <a:sym typeface="+mn-ea"/>
              </a:rPr>
              <a:t>Operations on Languages (Example)</a:t>
            </a:r>
            <a:endParaRPr sz="2400" dirty="0">
              <a:solidFill>
                <a:schemeClr val="tx1"/>
              </a:solidFill>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L</a:t>
            </a:r>
            <a:r>
              <a:rPr sz="1800" dirty="0">
                <a:solidFill>
                  <a:schemeClr val="tx1"/>
                </a:solidFill>
                <a:latin typeface="Palatino Linotype" panose="02040502050505030304" charset="0"/>
                <a:ea typeface="Palatino Linotype" panose="02040502050505030304"/>
                <a:cs typeface="Palatino Linotype" panose="02040502050505030304"/>
                <a:sym typeface="+mn-ea"/>
              </a:rPr>
              <a:t> = {A, B, …, Z, a, b, …, z}</a:t>
            </a:r>
          </a:p>
          <a:p>
            <a:pPr marL="457200" lvl="1" indent="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D</a:t>
            </a:r>
            <a:r>
              <a:rPr sz="1800" dirty="0">
                <a:solidFill>
                  <a:schemeClr val="tx1"/>
                </a:solidFill>
                <a:latin typeface="Palatino Linotype" panose="02040502050505030304" charset="0"/>
                <a:ea typeface="Palatino Linotype" panose="02040502050505030304"/>
                <a:cs typeface="Palatino Linotype" panose="02040502050505030304"/>
                <a:sym typeface="+mn-ea"/>
              </a:rPr>
              <a:t> = {0, 1, …, 9}</a:t>
            </a:r>
          </a:p>
          <a:p>
            <a:pPr marL="457200" lvl="1" indent="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L </a:t>
            </a:r>
            <a:r>
              <a:rPr lang="en-US" sz="1800" dirty="0">
                <a:solidFill>
                  <a:srgbClr val="0331FF"/>
                </a:solidFill>
                <a:latin typeface="Palatino Linotype" panose="02040502050505030304" charset="0"/>
                <a:ea typeface="Palatino Linotype" panose="02040502050505030304"/>
                <a:cs typeface="Palatino Linotype" panose="02040502050505030304"/>
                <a:sym typeface="+mn-ea"/>
              </a:rPr>
              <a:t>∪</a:t>
            </a:r>
            <a:r>
              <a:rPr sz="1800" dirty="0">
                <a:solidFill>
                  <a:srgbClr val="0331FF"/>
                </a:solidFill>
                <a:latin typeface="Palatino Linotype" panose="02040502050505030304" charset="0"/>
                <a:ea typeface="Palatino Linotype" panose="02040502050505030304"/>
                <a:cs typeface="Palatino Linotype" panose="02040502050505030304"/>
                <a:sym typeface="+mn-ea"/>
              </a:rPr>
              <a:t> D</a:t>
            </a:r>
            <a:r>
              <a:rPr sz="1800" dirty="0">
                <a:solidFill>
                  <a:schemeClr val="tx1"/>
                </a:solidFill>
                <a:latin typeface="Palatino Linotype" panose="02040502050505030304" charset="0"/>
                <a:ea typeface="Palatino Linotype" panose="02040502050505030304"/>
                <a:cs typeface="Palatino Linotype" panose="02040502050505030304"/>
                <a:sym typeface="+mn-ea"/>
              </a:rPr>
              <a:t> = {A, B, …, Z, a, b, …, z, 0, 1, …,9}</a:t>
            </a:r>
          </a:p>
          <a:p>
            <a:pPr marL="457200" lvl="1" indent="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LD</a:t>
            </a:r>
            <a:r>
              <a:rPr sz="1800" dirty="0">
                <a:solidFill>
                  <a:schemeClr val="tx1"/>
                </a:solidFill>
                <a:latin typeface="Palatino Linotype" panose="02040502050505030304" charset="0"/>
                <a:ea typeface="Palatino Linotype" panose="02040502050505030304"/>
                <a:cs typeface="Palatino Linotype" panose="02040502050505030304"/>
                <a:sym typeface="+mn-ea"/>
              </a:rPr>
              <a:t>: the set of 520 strings of length two, each consisting of one letter followed by one digit</a:t>
            </a:r>
          </a:p>
          <a:p>
            <a:pPr marL="457200" lvl="1" indent="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L</a:t>
            </a:r>
            <a:r>
              <a:rPr sz="1800" baseline="30000" dirty="0">
                <a:solidFill>
                  <a:srgbClr val="0331FF"/>
                </a:solidFill>
                <a:latin typeface="Palatino Linotype" panose="02040502050505030304" charset="0"/>
                <a:ea typeface="Palatino Linotype" panose="02040502050505030304"/>
                <a:cs typeface="Palatino Linotype" panose="02040502050505030304"/>
                <a:sym typeface="+mn-ea"/>
              </a:rPr>
              <a:t>4</a:t>
            </a:r>
            <a:r>
              <a:rPr sz="1800" dirty="0">
                <a:solidFill>
                  <a:schemeClr val="tx1"/>
                </a:solidFill>
                <a:latin typeface="Palatino Linotype" panose="02040502050505030304" charset="0"/>
                <a:ea typeface="Palatino Linotype" panose="02040502050505030304"/>
                <a:cs typeface="Palatino Linotype" panose="02040502050505030304"/>
                <a:sym typeface="+mn-ea"/>
              </a:rPr>
              <a:t>: the set of all 4-letter string</a:t>
            </a:r>
          </a:p>
          <a:p>
            <a:pPr marL="457200" lvl="1" indent="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L</a:t>
            </a:r>
            <a:r>
              <a:rPr sz="1800" baseline="30000" dirty="0">
                <a:solidFill>
                  <a:srgbClr val="0331FF"/>
                </a:solidFill>
                <a:latin typeface="Palatino Linotype" panose="02040502050505030304" charset="0"/>
                <a:ea typeface="Palatino Linotype" panose="02040502050505030304"/>
                <a:cs typeface="Palatino Linotype" panose="02040502050505030304"/>
                <a:sym typeface="+mn-ea"/>
              </a:rPr>
              <a:t>*</a:t>
            </a:r>
            <a:r>
              <a:rPr sz="1800" dirty="0">
                <a:solidFill>
                  <a:schemeClr val="tx1"/>
                </a:solidFill>
                <a:latin typeface="Palatino Linotype" panose="02040502050505030304" charset="0"/>
                <a:ea typeface="Palatino Linotype" panose="02040502050505030304"/>
                <a:cs typeface="Palatino Linotype" panose="02040502050505030304"/>
                <a:sym typeface="+mn-ea"/>
              </a:rPr>
              <a:t>: the set of all strings of letters, including 𝜖</a:t>
            </a:r>
          </a:p>
          <a:p>
            <a:pPr marL="457200" lvl="1" indent="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L(L ∪ D)</a:t>
            </a:r>
            <a:r>
              <a:rPr sz="1800" baseline="30000" dirty="0">
                <a:solidFill>
                  <a:srgbClr val="0331FF"/>
                </a:solidFill>
                <a:latin typeface="Palatino Linotype" panose="02040502050505030304" charset="0"/>
                <a:ea typeface="Palatino Linotype" panose="02040502050505030304"/>
                <a:cs typeface="Palatino Linotype" panose="02040502050505030304"/>
                <a:sym typeface="+mn-ea"/>
              </a:rPr>
              <a:t>*</a:t>
            </a:r>
            <a:r>
              <a:rPr sz="1800" dirty="0">
                <a:solidFill>
                  <a:schemeClr val="tx1"/>
                </a:solidFill>
                <a:latin typeface="Palatino Linotype" panose="02040502050505030304" charset="0"/>
                <a:ea typeface="Palatino Linotype" panose="02040502050505030304"/>
                <a:cs typeface="Palatino Linotype" panose="02040502050505030304"/>
                <a:sym typeface="+mn-ea"/>
              </a:rPr>
              <a:t>: ?</a:t>
            </a:r>
          </a:p>
          <a:p>
            <a:pPr marL="457200" lvl="1" indent="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D</a:t>
            </a:r>
            <a:r>
              <a:rPr sz="1800" baseline="30000" dirty="0">
                <a:solidFill>
                  <a:srgbClr val="0331FF"/>
                </a:solidFill>
                <a:latin typeface="Palatino Linotype" panose="02040502050505030304" charset="0"/>
                <a:ea typeface="Palatino Linotype" panose="02040502050505030304"/>
                <a:cs typeface="Palatino Linotype" panose="02040502050505030304"/>
                <a:sym typeface="+mn-ea"/>
              </a:rPr>
              <a:t>+</a:t>
            </a:r>
            <a:r>
              <a:rPr sz="1800" dirty="0">
                <a:solidFill>
                  <a:schemeClr val="tx1"/>
                </a:solidFill>
                <a:latin typeface="Palatino Linotype" panose="02040502050505030304" charset="0"/>
                <a:ea typeface="Palatino Linotype" panose="02040502050505030304"/>
                <a:cs typeface="Palatino Linotype" panose="02040502050505030304"/>
                <a:sym typeface="+mn-ea"/>
              </a:rPr>
              <a:t>: ?</a:t>
            </a:r>
            <a:endParaRPr dirty="0">
              <a:solidFill>
                <a:schemeClr val="tx1"/>
              </a:solidFill>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endParaRPr lang="en-US" dirty="0">
              <a:solidFill>
                <a:schemeClr val="tx1"/>
              </a:solidFill>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17</a:t>
            </a:fld>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Regular Expressions</a:t>
            </a:r>
          </a:p>
        </p:txBody>
      </p:sp>
      <p:sp>
        <p:nvSpPr>
          <p:cNvPr id="4" name="内容占位符 3"/>
          <p:cNvSpPr>
            <a:spLocks noGrp="1"/>
          </p:cNvSpPr>
          <p:nvPr>
            <p:ph idx="1"/>
          </p:nvPr>
        </p:nvSpPr>
        <p:spPr>
          <a:xfrm>
            <a:off x="628650" y="1556385"/>
            <a:ext cx="7886700" cy="4351338"/>
          </a:xfrm>
        </p:spPr>
        <p:txBody>
          <a:bodyPr>
            <a:noAutofit/>
          </a:bodyPr>
          <a:lstStyle/>
          <a:p>
            <a:pPr marL="0" indent="0" algn="l" rtl="0" eaLnBrk="0" fontAlgn="auto">
              <a:lnSpc>
                <a:spcPct val="150000"/>
              </a:lnSpc>
              <a:spcBef>
                <a:spcPts val="0"/>
              </a:spcBef>
              <a:buNone/>
            </a:pPr>
            <a:r>
              <a:rPr sz="1800" dirty="0">
                <a:solidFill>
                  <a:srgbClr val="FF0000"/>
                </a:solidFill>
                <a:latin typeface="Palatino Linotype" panose="02040502050505030304" charset="0"/>
                <a:ea typeface="Palatino Linotype" panose="02040502050505030304"/>
                <a:cs typeface="Palatino Linotype" panose="02040502050505030304"/>
                <a:sym typeface="+mn-ea"/>
              </a:rPr>
              <a:t>Rules that define regexps over an alphabet Σ:</a:t>
            </a:r>
            <a:endParaRPr sz="1800" dirty="0">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BASIS: two rules form the basis:</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𝜖</a:t>
            </a:r>
            <a:r>
              <a:rPr lang="en-US" altLang="zh-CN" sz="1800" dirty="0">
                <a:solidFill>
                  <a:srgbClr val="0331FF"/>
                </a:solidFill>
                <a:latin typeface="Palatino Linotype" panose="02040502050505030304" charset="0"/>
                <a:ea typeface="Palatino Linotype" panose="02040502050505030304"/>
                <a:cs typeface="Palatino Linotype" panose="02040502050505030304"/>
                <a:sym typeface="+mn-ea"/>
              </a:rPr>
              <a:t>  </a:t>
            </a:r>
            <a:r>
              <a:rPr sz="1800" dirty="0">
                <a:latin typeface="Palatino Linotype" panose="02040502050505030304" charset="0"/>
                <a:ea typeface="Palatino Linotype" panose="02040502050505030304"/>
                <a:cs typeface="Palatino Linotype" panose="02040502050505030304"/>
                <a:sym typeface="+mn-ea"/>
              </a:rPr>
              <a:t>is a regexp, </a:t>
            </a:r>
            <a:r>
              <a:rPr sz="1800" dirty="0">
                <a:solidFill>
                  <a:srgbClr val="0331FF"/>
                </a:solidFill>
                <a:latin typeface="Palatino Linotype" panose="02040502050505030304" charset="0"/>
                <a:ea typeface="Palatino Linotype" panose="02040502050505030304"/>
                <a:cs typeface="Palatino Linotype" panose="02040502050505030304"/>
                <a:sym typeface="+mn-ea"/>
              </a:rPr>
              <a:t>L(𝜖) = {𝜖}</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If a is a symbol in Σ, then a is a regexp, and </a:t>
            </a:r>
            <a:r>
              <a:rPr sz="1800" dirty="0">
                <a:solidFill>
                  <a:srgbClr val="0331FF"/>
                </a:solidFill>
                <a:latin typeface="Palatino Linotype" panose="02040502050505030304" charset="0"/>
                <a:ea typeface="Palatino Linotype" panose="02040502050505030304"/>
                <a:cs typeface="Palatino Linotype" panose="02040502050505030304"/>
                <a:sym typeface="+mn-ea"/>
              </a:rPr>
              <a:t>L(a) = {a}</a:t>
            </a:r>
            <a:endParaRPr sz="1800" dirty="0">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INDUCTION: Suppose r and s are regexps denoting the languages </a:t>
            </a:r>
            <a:r>
              <a:rPr sz="1800" dirty="0">
                <a:solidFill>
                  <a:srgbClr val="0331FF"/>
                </a:solidFill>
                <a:latin typeface="Palatino Linotype" panose="02040502050505030304" charset="0"/>
                <a:ea typeface="Palatino Linotype" panose="02040502050505030304"/>
                <a:cs typeface="Palatino Linotype" panose="02040502050505030304"/>
                <a:sym typeface="+mn-ea"/>
              </a:rPr>
              <a:t>L(r)</a:t>
            </a:r>
            <a:r>
              <a:rPr sz="1800" dirty="0">
                <a:latin typeface="Palatino Linotype" panose="02040502050505030304" charset="0"/>
                <a:ea typeface="Palatino Linotype" panose="02040502050505030304"/>
                <a:cs typeface="Palatino Linotype" panose="02040502050505030304"/>
                <a:sym typeface="+mn-ea"/>
              </a:rPr>
              <a:t> and </a:t>
            </a:r>
            <a:r>
              <a:rPr sz="1800" dirty="0">
                <a:solidFill>
                  <a:srgbClr val="0331FF"/>
                </a:solidFill>
                <a:latin typeface="Palatino Linotype" panose="02040502050505030304" charset="0"/>
                <a:ea typeface="Palatino Linotype" panose="02040502050505030304"/>
                <a:cs typeface="Palatino Linotype" panose="02040502050505030304"/>
                <a:sym typeface="+mn-ea"/>
              </a:rPr>
              <a:t>L(s)</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(r)|(s)</a:t>
            </a:r>
            <a:r>
              <a:rPr sz="1800" dirty="0">
                <a:latin typeface="Palatino Linotype" panose="02040502050505030304" charset="0"/>
                <a:ea typeface="Palatino Linotype" panose="02040502050505030304"/>
                <a:cs typeface="Palatino Linotype" panose="02040502050505030304"/>
                <a:sym typeface="+mn-ea"/>
              </a:rPr>
              <a:t> is a regexp denoting the language </a:t>
            </a:r>
            <a:r>
              <a:rPr sz="1800" dirty="0">
                <a:solidFill>
                  <a:srgbClr val="0331FF"/>
                </a:solidFill>
                <a:latin typeface="Palatino Linotype" panose="02040502050505030304" charset="0"/>
                <a:ea typeface="Palatino Linotype" panose="02040502050505030304"/>
                <a:cs typeface="Palatino Linotype" panose="02040502050505030304"/>
                <a:sym typeface="+mn-ea"/>
              </a:rPr>
              <a:t>L(r) ∪ L(s)</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(r)(s)</a:t>
            </a:r>
            <a:r>
              <a:rPr sz="1800" dirty="0">
                <a:latin typeface="Palatino Linotype" panose="02040502050505030304" charset="0"/>
                <a:ea typeface="Palatino Linotype" panose="02040502050505030304"/>
                <a:cs typeface="Palatino Linotype" panose="02040502050505030304"/>
                <a:sym typeface="+mn-ea"/>
              </a:rPr>
              <a:t> is a regexp denoting the language </a:t>
            </a:r>
            <a:r>
              <a:rPr sz="1800" dirty="0">
                <a:solidFill>
                  <a:srgbClr val="0331FF"/>
                </a:solidFill>
                <a:latin typeface="Palatino Linotype" panose="02040502050505030304" charset="0"/>
                <a:ea typeface="Palatino Linotype" panose="02040502050505030304"/>
                <a:cs typeface="Palatino Linotype" panose="02040502050505030304"/>
                <a:sym typeface="+mn-ea"/>
              </a:rPr>
              <a:t>L(r)L(s)</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(r)</a:t>
            </a:r>
            <a:r>
              <a:rPr sz="1800" baseline="30000" dirty="0">
                <a:solidFill>
                  <a:srgbClr val="0331FF"/>
                </a:solidFill>
                <a:latin typeface="Palatino Linotype" panose="02040502050505030304" charset="0"/>
                <a:ea typeface="Palatino Linotype" panose="02040502050505030304"/>
                <a:cs typeface="Palatino Linotype" panose="02040502050505030304"/>
                <a:sym typeface="+mn-ea"/>
              </a:rPr>
              <a:t>*</a:t>
            </a:r>
            <a:r>
              <a:rPr sz="1800" dirty="0">
                <a:latin typeface="Palatino Linotype" panose="02040502050505030304" charset="0"/>
                <a:ea typeface="Palatino Linotype" panose="02040502050505030304"/>
                <a:cs typeface="Palatino Linotype" panose="02040502050505030304"/>
                <a:sym typeface="+mn-ea"/>
              </a:rPr>
              <a:t>is a regexp denoting </a:t>
            </a:r>
            <a:r>
              <a:rPr sz="1800" dirty="0">
                <a:solidFill>
                  <a:srgbClr val="0331FF"/>
                </a:solidFill>
                <a:latin typeface="Palatino Linotype" panose="02040502050505030304" charset="0"/>
                <a:ea typeface="Palatino Linotype" panose="02040502050505030304"/>
                <a:cs typeface="Palatino Linotype" panose="02040502050505030304"/>
                <a:sym typeface="+mn-ea"/>
              </a:rPr>
              <a:t>(L(r))</a:t>
            </a:r>
            <a:r>
              <a:rPr sz="1800" baseline="30000" dirty="0">
                <a:solidFill>
                  <a:srgbClr val="0331FF"/>
                </a:solidFill>
                <a:latin typeface="Palatino Linotype" panose="02040502050505030304" charset="0"/>
                <a:ea typeface="Palatino Linotype" panose="02040502050505030304"/>
                <a:cs typeface="Palatino Linotype" panose="02040502050505030304"/>
                <a:sym typeface="+mn-ea"/>
              </a:rPr>
              <a:t>*</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(r)</a:t>
            </a:r>
            <a:r>
              <a:rPr sz="1800" dirty="0">
                <a:latin typeface="Palatino Linotype" panose="02040502050505030304" charset="0"/>
                <a:ea typeface="Palatino Linotype" panose="02040502050505030304"/>
                <a:cs typeface="Palatino Linotype" panose="02040502050505030304"/>
                <a:sym typeface="+mn-ea"/>
              </a:rPr>
              <a:t> is a regexp denoting </a:t>
            </a:r>
            <a:r>
              <a:rPr sz="1800" dirty="0">
                <a:solidFill>
                  <a:srgbClr val="0331FF"/>
                </a:solidFill>
                <a:latin typeface="Palatino Linotype" panose="02040502050505030304" charset="0"/>
                <a:ea typeface="Palatino Linotype" panose="02040502050505030304"/>
                <a:cs typeface="Palatino Linotype" panose="02040502050505030304"/>
                <a:sym typeface="+mn-ea"/>
              </a:rPr>
              <a:t>L(r)</a:t>
            </a:r>
            <a:r>
              <a:rPr sz="1800" dirty="0">
                <a:latin typeface="Palatino Linotype" panose="02040502050505030304" charset="0"/>
                <a:ea typeface="Palatino Linotype" panose="02040502050505030304"/>
                <a:cs typeface="Palatino Linotype" panose="02040502050505030304"/>
                <a:sym typeface="+mn-ea"/>
              </a:rPr>
              <a:t>. Additional parentheses do not change the language an expression denotes.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18</a:t>
            </a:fld>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Regular Expressions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Following the rules, regexps often contain </a:t>
            </a:r>
            <a:r>
              <a:rPr sz="2000" dirty="0">
                <a:solidFill>
                  <a:srgbClr val="FF0000"/>
                </a:solidFill>
                <a:latin typeface="Palatino Linotype" panose="02040502050505030304" charset="0"/>
                <a:ea typeface="Palatino Linotype" panose="02040502050505030304"/>
                <a:cs typeface="Palatino Linotype" panose="02040502050505030304"/>
                <a:sym typeface="+mn-ea"/>
              </a:rPr>
              <a:t>unnecessary pairs of parentheses</a:t>
            </a:r>
            <a:r>
              <a:rPr sz="2000" dirty="0">
                <a:latin typeface="Palatino Linotype" panose="02040502050505030304" charset="0"/>
                <a:ea typeface="Palatino Linotype" panose="02040502050505030304"/>
                <a:cs typeface="Palatino Linotype" panose="02040502050505030304"/>
                <a:sym typeface="+mn-ea"/>
              </a:rPr>
              <a:t>. We may drop some if we adopt the conventions:</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FF0000"/>
                </a:solidFill>
                <a:latin typeface="Palatino Linotype" panose="02040502050505030304" charset="0"/>
                <a:ea typeface="Palatino Linotype" panose="02040502050505030304"/>
                <a:cs typeface="Palatino Linotype" panose="02040502050505030304"/>
                <a:sym typeface="+mn-ea"/>
              </a:rPr>
              <a:t>Precedence</a:t>
            </a: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closure</a:t>
            </a:r>
            <a:r>
              <a:rPr sz="1800" baseline="30000" dirty="0">
                <a:solidFill>
                  <a:srgbClr val="0331FF"/>
                </a:solidFill>
                <a:latin typeface="Palatino Linotype" panose="02040502050505030304" charset="0"/>
                <a:ea typeface="Palatino Linotype" panose="02040502050505030304"/>
                <a:cs typeface="Palatino Linotype" panose="02040502050505030304"/>
                <a:sym typeface="+mn-ea"/>
              </a:rPr>
              <a:t>*</a:t>
            </a:r>
            <a:r>
              <a:rPr sz="1800" dirty="0">
                <a:latin typeface="Palatino Linotype" panose="02040502050505030304" charset="0"/>
                <a:ea typeface="Palatino Linotype" panose="02040502050505030304"/>
                <a:cs typeface="Palatino Linotype" panose="02040502050505030304"/>
                <a:sym typeface="+mn-ea"/>
              </a:rPr>
              <a:t> &gt; </a:t>
            </a:r>
            <a:r>
              <a:rPr sz="1800" dirty="0">
                <a:solidFill>
                  <a:srgbClr val="0331FF"/>
                </a:solidFill>
                <a:latin typeface="Palatino Linotype" panose="02040502050505030304" charset="0"/>
                <a:ea typeface="Palatino Linotype" panose="02040502050505030304"/>
                <a:cs typeface="Palatino Linotype" panose="02040502050505030304"/>
                <a:sym typeface="+mn-ea"/>
              </a:rPr>
              <a:t>concatenation</a:t>
            </a:r>
            <a:r>
              <a:rPr sz="1800" dirty="0">
                <a:latin typeface="Palatino Linotype" panose="02040502050505030304" charset="0"/>
                <a:ea typeface="Palatino Linotype" panose="02040502050505030304"/>
                <a:cs typeface="Palatino Linotype" panose="02040502050505030304"/>
                <a:sym typeface="+mn-ea"/>
              </a:rPr>
              <a:t> &gt; </a:t>
            </a:r>
            <a:r>
              <a:rPr sz="1800" dirty="0">
                <a:solidFill>
                  <a:srgbClr val="0331FF"/>
                </a:solidFill>
                <a:latin typeface="Palatino Linotype" panose="02040502050505030304" charset="0"/>
                <a:ea typeface="Palatino Linotype" panose="02040502050505030304"/>
                <a:cs typeface="Palatino Linotype" panose="02040502050505030304"/>
                <a:sym typeface="+mn-ea"/>
              </a:rPr>
              <a:t>union |</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FF0000"/>
                </a:solidFill>
                <a:latin typeface="Palatino Linotype" panose="02040502050505030304" charset="0"/>
                <a:ea typeface="Palatino Linotype" panose="02040502050505030304"/>
                <a:cs typeface="Palatino Linotype" panose="02040502050505030304"/>
                <a:sym typeface="+mn-ea"/>
              </a:rPr>
              <a:t>Associativity</a:t>
            </a:r>
            <a:r>
              <a:rPr sz="1800" dirty="0">
                <a:latin typeface="Palatino Linotype" panose="02040502050505030304" charset="0"/>
                <a:ea typeface="Palatino Linotype" panose="02040502050505030304"/>
                <a:cs typeface="Palatino Linotype" panose="02040502050505030304"/>
                <a:sym typeface="+mn-ea"/>
              </a:rPr>
              <a:t>: All three operators are </a:t>
            </a:r>
            <a:r>
              <a:rPr sz="1800" dirty="0">
                <a:solidFill>
                  <a:srgbClr val="0331FF"/>
                </a:solidFill>
                <a:latin typeface="Palatino Linotype" panose="02040502050505030304" charset="0"/>
                <a:ea typeface="Palatino Linotype" panose="02040502050505030304"/>
                <a:cs typeface="Palatino Linotype" panose="02040502050505030304"/>
                <a:sym typeface="+mn-ea"/>
              </a:rPr>
              <a:t>left associative</a:t>
            </a:r>
            <a:r>
              <a:rPr sz="1800" dirty="0">
                <a:latin typeface="Palatino Linotype" panose="02040502050505030304" charset="0"/>
                <a:ea typeface="Palatino Linotype" panose="02040502050505030304"/>
                <a:cs typeface="Palatino Linotype" panose="02040502050505030304"/>
                <a:sym typeface="+mn-ea"/>
              </a:rPr>
              <a:t>, meaning that operations are grouped from the left, e.g., </a:t>
            </a:r>
          </a:p>
          <a:p>
            <a:pPr marL="457200" lvl="1" indent="0" algn="l" rtl="0" eaLnBrk="0" fontAlgn="auto">
              <a:lnSpc>
                <a:spcPct val="150000"/>
              </a:lnSpc>
              <a:spcBef>
                <a:spcPts val="0"/>
              </a:spcBef>
              <a:buNone/>
            </a:pPr>
            <a:r>
              <a:rPr sz="1800" dirty="0">
                <a:solidFill>
                  <a:srgbClr val="0331FF"/>
                </a:solidFill>
                <a:latin typeface="Palatino Linotype" panose="02040502050505030304" charset="0"/>
                <a:ea typeface="Palatino Linotype" panose="02040502050505030304"/>
                <a:cs typeface="Palatino Linotype" panose="02040502050505030304"/>
                <a:sym typeface="+mn-ea"/>
              </a:rPr>
              <a:t>a | b | c</a:t>
            </a:r>
            <a:r>
              <a:rPr sz="1800" dirty="0">
                <a:latin typeface="Palatino Linotype" panose="02040502050505030304" charset="0"/>
                <a:ea typeface="Palatino Linotype" panose="02040502050505030304"/>
                <a:cs typeface="Palatino Linotype" panose="02040502050505030304"/>
                <a:sym typeface="+mn-ea"/>
              </a:rPr>
              <a:t> would be interpreted as </a:t>
            </a:r>
            <a:r>
              <a:rPr sz="1800" dirty="0">
                <a:solidFill>
                  <a:srgbClr val="0331FF"/>
                </a:solidFill>
                <a:latin typeface="Palatino Linotype" panose="02040502050505030304" charset="0"/>
                <a:ea typeface="Palatino Linotype" panose="02040502050505030304"/>
                <a:cs typeface="Palatino Linotype" panose="02040502050505030304"/>
                <a:sym typeface="+mn-ea"/>
              </a:rPr>
              <a:t>(a | b) | c</a:t>
            </a:r>
            <a:endParaRPr sz="1800" dirty="0">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Example: (a) | ((b)*(c)) = a | b*c</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19</a:t>
            </a:fld>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Regular Expressions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Examples: Let Σ = {a, b}</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a|b</a:t>
            </a:r>
            <a:r>
              <a:rPr sz="1800" dirty="0">
                <a:latin typeface="Palatino Linotype" panose="02040502050505030304" charset="0"/>
                <a:ea typeface="Palatino Linotype" panose="02040502050505030304"/>
                <a:cs typeface="Palatino Linotype" panose="02040502050505030304"/>
                <a:sym typeface="+mn-ea"/>
              </a:rPr>
              <a:t> denotes the language </a:t>
            </a:r>
            <a:r>
              <a:rPr sz="1800" dirty="0">
                <a:solidFill>
                  <a:srgbClr val="0331FF"/>
                </a:solidFill>
                <a:latin typeface="Palatino Linotype" panose="02040502050505030304" charset="0"/>
                <a:ea typeface="Palatino Linotype" panose="02040502050505030304"/>
                <a:cs typeface="Palatino Linotype" panose="02040502050505030304"/>
                <a:sym typeface="+mn-ea"/>
              </a:rPr>
              <a:t>{a, b}</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(a|b)(a|b)</a:t>
            </a:r>
            <a:r>
              <a:rPr sz="1800" dirty="0">
                <a:latin typeface="Palatino Linotype" panose="02040502050505030304" charset="0"/>
                <a:ea typeface="Palatino Linotype" panose="02040502050505030304"/>
                <a:cs typeface="Palatino Linotype" panose="02040502050505030304"/>
                <a:sym typeface="+mn-ea"/>
              </a:rPr>
              <a:t> denotes </a:t>
            </a:r>
            <a:r>
              <a:rPr sz="1800" dirty="0">
                <a:solidFill>
                  <a:srgbClr val="0331FF"/>
                </a:solidFill>
                <a:latin typeface="Palatino Linotype" panose="02040502050505030304" charset="0"/>
                <a:ea typeface="Palatino Linotype" panose="02040502050505030304"/>
                <a:cs typeface="Palatino Linotype" panose="02040502050505030304"/>
                <a:sym typeface="+mn-ea"/>
              </a:rPr>
              <a:t>{aa, ab, ba, bb}</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a</a:t>
            </a:r>
            <a:r>
              <a:rPr sz="1800" baseline="30000" dirty="0">
                <a:solidFill>
                  <a:srgbClr val="0331FF"/>
                </a:solidFill>
                <a:latin typeface="Palatino Linotype" panose="02040502050505030304" charset="0"/>
                <a:ea typeface="Palatino Linotype" panose="02040502050505030304"/>
                <a:cs typeface="Palatino Linotype" panose="02040502050505030304"/>
                <a:sym typeface="+mn-ea"/>
              </a:rPr>
              <a:t>*</a:t>
            </a:r>
            <a:r>
              <a:rPr sz="1800" dirty="0">
                <a:latin typeface="Palatino Linotype" panose="02040502050505030304" charset="0"/>
                <a:ea typeface="Palatino Linotype" panose="02040502050505030304"/>
                <a:cs typeface="Palatino Linotype" panose="02040502050505030304"/>
                <a:sym typeface="+mn-ea"/>
              </a:rPr>
              <a:t> denotes </a:t>
            </a:r>
            <a:r>
              <a:rPr sz="1800" dirty="0">
                <a:solidFill>
                  <a:srgbClr val="0331FF"/>
                </a:solidFill>
                <a:latin typeface="Palatino Linotype" panose="02040502050505030304" charset="0"/>
                <a:ea typeface="Palatino Linotype" panose="02040502050505030304"/>
                <a:cs typeface="Palatino Linotype" panose="02040502050505030304"/>
                <a:sym typeface="+mn-ea"/>
              </a:rPr>
              <a:t>{𝜖, a, aa, aaa, …}</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(a|b)</a:t>
            </a:r>
            <a:r>
              <a:rPr sz="1800" baseline="30000" dirty="0">
                <a:solidFill>
                  <a:srgbClr val="0331FF"/>
                </a:solidFill>
                <a:latin typeface="Palatino Linotype" panose="02040502050505030304" charset="0"/>
                <a:ea typeface="Palatino Linotype" panose="02040502050505030304"/>
                <a:cs typeface="Palatino Linotype" panose="02040502050505030304"/>
                <a:sym typeface="+mn-ea"/>
              </a:rPr>
              <a:t>*</a:t>
            </a:r>
            <a:r>
              <a:rPr sz="1800" dirty="0">
                <a:latin typeface="Palatino Linotype" panose="02040502050505030304" charset="0"/>
                <a:ea typeface="Palatino Linotype" panose="02040502050505030304"/>
                <a:cs typeface="Palatino Linotype" panose="02040502050505030304"/>
                <a:sym typeface="+mn-ea"/>
              </a:rPr>
              <a:t> denotes the set of all strings consisting of 0 or more a’s or b’s: </a:t>
            </a:r>
            <a:r>
              <a:rPr sz="1800" dirty="0">
                <a:solidFill>
                  <a:srgbClr val="0331FF"/>
                </a:solidFill>
                <a:latin typeface="Palatino Linotype" panose="02040502050505030304" charset="0"/>
                <a:ea typeface="Palatino Linotype" panose="02040502050505030304"/>
                <a:cs typeface="Palatino Linotype" panose="02040502050505030304"/>
                <a:sym typeface="+mn-ea"/>
              </a:rPr>
              <a:t>{𝜖, a, b, aa, ab, ba, bb, aaa, …}</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a|a</a:t>
            </a:r>
            <a:r>
              <a:rPr sz="1800" baseline="30000" dirty="0">
                <a:solidFill>
                  <a:srgbClr val="0331FF"/>
                </a:solidFill>
                <a:latin typeface="Palatino Linotype" panose="02040502050505030304" charset="0"/>
                <a:ea typeface="Palatino Linotype" panose="02040502050505030304"/>
                <a:cs typeface="Palatino Linotype" panose="02040502050505030304"/>
                <a:sym typeface="+mn-ea"/>
              </a:rPr>
              <a:t>*</a:t>
            </a:r>
            <a:r>
              <a:rPr sz="1800" dirty="0">
                <a:solidFill>
                  <a:srgbClr val="0331FF"/>
                </a:solidFill>
                <a:latin typeface="Palatino Linotype" panose="02040502050505030304" charset="0"/>
                <a:ea typeface="Palatino Linotype" panose="02040502050505030304"/>
                <a:cs typeface="Palatino Linotype" panose="02040502050505030304"/>
                <a:sym typeface="+mn-ea"/>
              </a:rPr>
              <a:t>b</a:t>
            </a:r>
            <a:r>
              <a:rPr sz="1800" dirty="0">
                <a:latin typeface="Palatino Linotype" panose="02040502050505030304" charset="0"/>
                <a:ea typeface="Palatino Linotype" panose="02040502050505030304"/>
                <a:cs typeface="Palatino Linotype" panose="02040502050505030304"/>
                <a:sym typeface="+mn-ea"/>
              </a:rPr>
              <a:t> denotes the string a and all strings consisting of 0 or more a’s and ending in b: </a:t>
            </a:r>
            <a:r>
              <a:rPr sz="1800" dirty="0">
                <a:solidFill>
                  <a:srgbClr val="0331FF"/>
                </a:solidFill>
                <a:latin typeface="Palatino Linotype" panose="02040502050505030304" charset="0"/>
                <a:ea typeface="Palatino Linotype" panose="02040502050505030304"/>
                <a:cs typeface="Palatino Linotype" panose="02040502050505030304"/>
                <a:sym typeface="+mn-ea"/>
              </a:rPr>
              <a:t>{a, b, ab, aab, aaab, …}</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Regular Expressions Cont.</a:t>
            </a:r>
          </a:p>
        </p:txBody>
      </p:sp>
      <p:sp>
        <p:nvSpPr>
          <p:cNvPr id="4" name="内容占位符 3"/>
          <p:cNvSpPr>
            <a:spLocks noGrp="1"/>
          </p:cNvSpPr>
          <p:nvPr>
            <p:ph idx="1"/>
          </p:nvPr>
        </p:nvSpPr>
        <p:spPr>
          <a:xfrm>
            <a:off x="628650" y="1825625"/>
            <a:ext cx="8187690" cy="4351655"/>
          </a:xfrm>
        </p:spPr>
        <p:txBody>
          <a:bodyPr>
            <a:normAutofit/>
          </a:bodyPr>
          <a:lstStyle/>
          <a:p>
            <a:pPr marL="17145" algn="l" rtl="0" eaLnBrk="0" fontAlgn="auto">
              <a:lnSpc>
                <a:spcPct val="150000"/>
              </a:lnSpc>
              <a:spcBef>
                <a:spcPts val="0"/>
              </a:spcBef>
            </a:pPr>
            <a:r>
              <a:rPr sz="2000" dirty="0">
                <a:solidFill>
                  <a:schemeClr val="tx1"/>
                </a:solidFill>
                <a:latin typeface="Palatino Linotype" panose="02040502050505030304" charset="0"/>
                <a:ea typeface="Palatino Linotype" panose="02040502050505030304"/>
                <a:cs typeface="Palatino Linotype" panose="02040502050505030304"/>
                <a:sym typeface="+mn-ea"/>
              </a:rPr>
              <a:t>A </a:t>
            </a:r>
            <a:r>
              <a:rPr sz="2000" dirty="0">
                <a:solidFill>
                  <a:srgbClr val="FF0000"/>
                </a:solidFill>
                <a:latin typeface="Palatino Linotype" panose="02040502050505030304" charset="0"/>
                <a:ea typeface="Palatino Linotype" panose="02040502050505030304"/>
                <a:cs typeface="Palatino Linotype" panose="02040502050505030304"/>
                <a:sym typeface="+mn-ea"/>
              </a:rPr>
              <a:t>regular language (正则语言)</a:t>
            </a:r>
            <a:r>
              <a:rPr sz="2000" dirty="0">
                <a:solidFill>
                  <a:schemeClr val="tx1"/>
                </a:solidFill>
                <a:latin typeface="Palatino Linotype" panose="02040502050505030304" charset="0"/>
                <a:ea typeface="Palatino Linotype" panose="02040502050505030304"/>
                <a:cs typeface="Palatino Linotype" panose="02040502050505030304"/>
                <a:sym typeface="+mn-ea"/>
              </a:rPr>
              <a:t> is a language that can be defined by a regexp</a:t>
            </a:r>
          </a:p>
          <a:p>
            <a:pPr marL="17145" algn="l" rtl="0" eaLnBrk="0" fontAlgn="auto">
              <a:lnSpc>
                <a:spcPct val="150000"/>
              </a:lnSpc>
              <a:spcBef>
                <a:spcPts val="0"/>
              </a:spcBef>
            </a:pPr>
            <a:r>
              <a:rPr sz="2000" dirty="0">
                <a:solidFill>
                  <a:schemeClr val="tx1"/>
                </a:solidFill>
                <a:latin typeface="Palatino Linotype" panose="02040502050505030304" charset="0"/>
                <a:ea typeface="Palatino Linotype" panose="02040502050505030304"/>
                <a:cs typeface="Palatino Linotype" panose="02040502050505030304"/>
                <a:sym typeface="+mn-ea"/>
              </a:rPr>
              <a:t>If two regexps r and s denote the same language, they are </a:t>
            </a:r>
            <a:r>
              <a:rPr sz="2000" dirty="0">
                <a:solidFill>
                  <a:srgbClr val="FF0000"/>
                </a:solidFill>
                <a:latin typeface="Palatino Linotype" panose="02040502050505030304" charset="0"/>
                <a:ea typeface="Palatino Linotype" panose="02040502050505030304"/>
                <a:cs typeface="Palatino Linotype" panose="02040502050505030304"/>
                <a:sym typeface="+mn-ea"/>
              </a:rPr>
              <a:t>equivalent</a:t>
            </a:r>
            <a:r>
              <a:rPr sz="2000" dirty="0">
                <a:solidFill>
                  <a:schemeClr val="tx1"/>
                </a:solidFill>
                <a:latin typeface="Palatino Linotype" panose="02040502050505030304" charset="0"/>
                <a:ea typeface="Palatino Linotype" panose="02040502050505030304"/>
                <a:cs typeface="Palatino Linotype" panose="02040502050505030304"/>
                <a:sym typeface="+mn-ea"/>
              </a:rPr>
              <a:t>, written as r = s</a:t>
            </a:r>
          </a:p>
          <a:p>
            <a:pPr marL="17145" algn="l" rtl="0" eaLnBrk="0" fontAlgn="auto">
              <a:lnSpc>
                <a:spcPct val="150000"/>
              </a:lnSpc>
              <a:spcBef>
                <a:spcPts val="0"/>
              </a:spcBef>
            </a:pPr>
            <a:r>
              <a:rPr sz="2000" dirty="0">
                <a:solidFill>
                  <a:schemeClr val="tx1"/>
                </a:solidFill>
                <a:latin typeface="Palatino Linotype" panose="02040502050505030304" charset="0"/>
                <a:ea typeface="Palatino Linotype" panose="02040502050505030304"/>
                <a:cs typeface="Palatino Linotype" panose="02040502050505030304"/>
                <a:sym typeface="+mn-ea"/>
              </a:rPr>
              <a:t>Each </a:t>
            </a:r>
            <a:r>
              <a:rPr sz="2000" dirty="0">
                <a:solidFill>
                  <a:srgbClr val="FF0000"/>
                </a:solidFill>
                <a:latin typeface="Palatino Linotype" panose="02040502050505030304" charset="0"/>
                <a:ea typeface="Palatino Linotype" panose="02040502050505030304"/>
                <a:cs typeface="Palatino Linotype" panose="02040502050505030304"/>
                <a:sym typeface="+mn-ea"/>
              </a:rPr>
              <a:t>algebraic law</a:t>
            </a:r>
            <a:r>
              <a:rPr sz="2000" dirty="0">
                <a:solidFill>
                  <a:schemeClr val="tx1"/>
                </a:solidFill>
                <a:latin typeface="Palatino Linotype" panose="02040502050505030304" charset="0"/>
                <a:ea typeface="Palatino Linotype" panose="02040502050505030304"/>
                <a:cs typeface="Palatino Linotype" panose="02040502050505030304"/>
                <a:sym typeface="+mn-ea"/>
              </a:rPr>
              <a:t> below asserts that expressions of two different forms are equivalent</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21</a:t>
            </a:fld>
            <a:endParaRPr dirty="0"/>
          </a:p>
        </p:txBody>
      </p:sp>
      <p:pic>
        <p:nvPicPr>
          <p:cNvPr id="2" name="图片 1"/>
          <p:cNvPicPr>
            <a:picLocks noChangeAspect="1"/>
          </p:cNvPicPr>
          <p:nvPr>
            <p:custDataLst>
              <p:tags r:id="rId1"/>
            </p:custDataLst>
          </p:nvPr>
        </p:nvPicPr>
        <p:blipFill>
          <a:blip r:embed="rId4"/>
          <a:stretch>
            <a:fillRect/>
          </a:stretch>
        </p:blipFill>
        <p:spPr>
          <a:xfrm>
            <a:off x="1763395" y="4580890"/>
            <a:ext cx="4100830" cy="1790700"/>
          </a:xfrm>
          <a:prstGeom prst="rect">
            <a:avLst/>
          </a:prstGeom>
        </p:spPr>
      </p:pic>
      <p:sp>
        <p:nvSpPr>
          <p:cNvPr id="5" name="文本框 4"/>
          <p:cNvSpPr txBox="1"/>
          <p:nvPr/>
        </p:nvSpPr>
        <p:spPr>
          <a:xfrm>
            <a:off x="5939790" y="4598035"/>
            <a:ext cx="1899285" cy="1291590"/>
          </a:xfrm>
          <a:prstGeom prst="rect">
            <a:avLst/>
          </a:prstGeom>
          <a:noFill/>
        </p:spPr>
        <p:txBody>
          <a:bodyPr wrap="square" rtlCol="0" anchor="t">
            <a:spAutoFit/>
          </a:bodyPr>
          <a:lstStyle/>
          <a:p>
            <a:pPr algn="ctr"/>
            <a:r>
              <a:rPr lang="zh-CN" altLang="en-US" sz="2000" b="1" dirty="0"/>
              <a:t>(a|b)(a|b) </a:t>
            </a:r>
          </a:p>
          <a:p>
            <a:pPr algn="ctr"/>
            <a:r>
              <a:rPr lang="zh-CN" altLang="en-US" sz="2000" b="1" dirty="0"/>
              <a:t>=</a:t>
            </a:r>
          </a:p>
          <a:p>
            <a:pPr algn="ctr"/>
            <a:r>
              <a:rPr lang="zh-CN" altLang="en-US" sz="2000" b="1" dirty="0"/>
              <a:t>aa|ab|ba|bb</a:t>
            </a:r>
          </a:p>
          <a:p>
            <a:pPr algn="ctr"/>
            <a:r>
              <a:rPr lang="zh-CN" altLang="en-US" dirty="0">
                <a:solidFill>
                  <a:srgbClr val="FF0000"/>
                </a:solidFill>
              </a:rPr>
              <a:t>Is it true???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Regular Definitions</a:t>
            </a:r>
          </a:p>
        </p:txBody>
      </p:sp>
      <p:sp>
        <p:nvSpPr>
          <p:cNvPr id="4" name="内容占位符 3"/>
          <p:cNvSpPr>
            <a:spLocks noGrp="1"/>
          </p:cNvSpPr>
          <p:nvPr>
            <p:ph idx="1"/>
          </p:nvPr>
        </p:nvSpPr>
        <p:spPr/>
        <p:txBody>
          <a:bodyPr>
            <a:noAutofit/>
          </a:bodyPr>
          <a:lstStyle/>
          <a:p>
            <a:pPr marL="17145" algn="l" rtl="0" eaLnBrk="0" fontAlgn="auto">
              <a:lnSpc>
                <a:spcPct val="150000"/>
              </a:lnSpc>
              <a:spcBef>
                <a:spcPts val="0"/>
              </a:spcBef>
            </a:pPr>
            <a:r>
              <a:rPr sz="2000" dirty="0">
                <a:solidFill>
                  <a:schemeClr val="tx1"/>
                </a:solidFill>
                <a:latin typeface="Palatino Linotype" panose="02040502050505030304" charset="0"/>
                <a:ea typeface="Palatino Linotype" panose="02040502050505030304"/>
                <a:cs typeface="Palatino Linotype" panose="02040502050505030304"/>
                <a:sym typeface="+mn-ea"/>
              </a:rPr>
              <a:t>For </a:t>
            </a:r>
            <a:r>
              <a:rPr sz="2000" dirty="0">
                <a:solidFill>
                  <a:srgbClr val="FF0000"/>
                </a:solidFill>
                <a:latin typeface="Palatino Linotype" panose="02040502050505030304" charset="0"/>
                <a:ea typeface="Palatino Linotype" panose="02040502050505030304"/>
                <a:cs typeface="Palatino Linotype" panose="02040502050505030304"/>
                <a:sym typeface="+mn-ea"/>
              </a:rPr>
              <a:t>notational convenience</a:t>
            </a:r>
            <a:r>
              <a:rPr sz="2000" dirty="0">
                <a:solidFill>
                  <a:schemeClr val="tx1"/>
                </a:solidFill>
                <a:latin typeface="Palatino Linotype" panose="02040502050505030304" charset="0"/>
                <a:ea typeface="Palatino Linotype" panose="02040502050505030304"/>
                <a:cs typeface="Palatino Linotype" panose="02040502050505030304"/>
                <a:sym typeface="+mn-ea"/>
              </a:rPr>
              <a:t>, we can give names to certain regexps</a:t>
            </a:r>
            <a:r>
              <a:rPr lang="en-US" sz="2000" dirty="0">
                <a:solidFill>
                  <a:schemeClr val="tx1"/>
                </a:solidFill>
                <a:latin typeface="Palatino Linotype" panose="02040502050505030304" charset="0"/>
                <a:ea typeface="Palatino Linotype" panose="02040502050505030304"/>
                <a:cs typeface="Palatino Linotype" panose="02040502050505030304"/>
                <a:sym typeface="+mn-ea"/>
              </a:rPr>
              <a:t> </a:t>
            </a:r>
            <a:r>
              <a:rPr sz="2000" dirty="0">
                <a:solidFill>
                  <a:schemeClr val="tx1"/>
                </a:solidFill>
                <a:latin typeface="Palatino Linotype" panose="02040502050505030304" charset="0"/>
                <a:ea typeface="Palatino Linotype" panose="02040502050505030304"/>
                <a:cs typeface="Palatino Linotype" panose="02040502050505030304"/>
                <a:sym typeface="+mn-ea"/>
              </a:rPr>
              <a:t>and use those names in subsequent expressions</a:t>
            </a:r>
          </a:p>
          <a:p>
            <a:pPr marL="17145" algn="l" rtl="0" eaLnBrk="0" fontAlgn="auto">
              <a:lnSpc>
                <a:spcPct val="150000"/>
              </a:lnSpc>
              <a:spcBef>
                <a:spcPts val="0"/>
              </a:spcBef>
            </a:pPr>
            <a:r>
              <a:rPr sz="2000" dirty="0">
                <a:solidFill>
                  <a:schemeClr val="tx1"/>
                </a:solidFill>
                <a:latin typeface="Palatino Linotype" panose="02040502050505030304" charset="0"/>
                <a:ea typeface="Palatino Linotype" panose="02040502050505030304"/>
                <a:cs typeface="Palatino Linotype" panose="02040502050505030304"/>
                <a:sym typeface="+mn-ea"/>
              </a:rPr>
              <a:t>If Σ is an alphabet of basic symbols, then a </a:t>
            </a:r>
            <a:r>
              <a:rPr sz="2000" dirty="0">
                <a:solidFill>
                  <a:srgbClr val="FF0000"/>
                </a:solidFill>
                <a:latin typeface="Palatino Linotype" panose="02040502050505030304" charset="0"/>
                <a:ea typeface="Palatino Linotype" panose="02040502050505030304"/>
                <a:cs typeface="Palatino Linotype" panose="02040502050505030304"/>
                <a:sym typeface="+mn-ea"/>
              </a:rPr>
              <a:t>regular definition</a:t>
            </a:r>
            <a:r>
              <a:rPr sz="2000" dirty="0">
                <a:solidFill>
                  <a:schemeClr val="tx1"/>
                </a:solidFill>
                <a:latin typeface="Palatino Linotype" panose="02040502050505030304" charset="0"/>
                <a:ea typeface="Palatino Linotype" panose="02040502050505030304"/>
                <a:cs typeface="Palatino Linotype" panose="02040502050505030304"/>
                <a:sym typeface="+mn-ea"/>
              </a:rPr>
              <a:t> is a sequence of definitions of the form:</a:t>
            </a:r>
          </a:p>
          <a:p>
            <a:pPr marL="0" indent="0" algn="ctr" rtl="0" eaLnBrk="0" fontAlgn="auto">
              <a:lnSpc>
                <a:spcPct val="150000"/>
              </a:lnSpc>
              <a:spcBef>
                <a:spcPts val="0"/>
              </a:spcBef>
              <a:buNone/>
            </a:pPr>
            <a:r>
              <a:rPr sz="1400" dirty="0">
                <a:solidFill>
                  <a:srgbClr val="0331FF"/>
                </a:solidFill>
                <a:latin typeface="Palatino Linotype" panose="02040502050505030304" charset="0"/>
                <a:ea typeface="Palatino Linotype" panose="02040502050505030304"/>
                <a:cs typeface="Palatino Linotype" panose="02040502050505030304"/>
                <a:sym typeface="+mn-ea"/>
              </a:rPr>
              <a:t>d</a:t>
            </a:r>
            <a:r>
              <a:rPr sz="1400" baseline="-25000" dirty="0">
                <a:solidFill>
                  <a:srgbClr val="0331FF"/>
                </a:solidFill>
                <a:latin typeface="Palatino Linotype" panose="02040502050505030304" charset="0"/>
                <a:ea typeface="Palatino Linotype" panose="02040502050505030304"/>
                <a:cs typeface="Palatino Linotype" panose="02040502050505030304"/>
                <a:sym typeface="+mn-ea"/>
              </a:rPr>
              <a:t>1</a:t>
            </a:r>
            <a:r>
              <a:rPr sz="1400" dirty="0">
                <a:solidFill>
                  <a:srgbClr val="0331FF"/>
                </a:solidFill>
                <a:latin typeface="Palatino Linotype" panose="02040502050505030304" charset="0"/>
                <a:ea typeface="Palatino Linotype" panose="02040502050505030304"/>
                <a:cs typeface="Palatino Linotype" panose="02040502050505030304"/>
                <a:sym typeface="+mn-ea"/>
              </a:rPr>
              <a:t> → r</a:t>
            </a:r>
            <a:r>
              <a:rPr sz="1400" baseline="-25000" dirty="0">
                <a:solidFill>
                  <a:srgbClr val="0331FF"/>
                </a:solidFill>
                <a:latin typeface="Palatino Linotype" panose="02040502050505030304" charset="0"/>
                <a:ea typeface="Palatino Linotype" panose="02040502050505030304"/>
                <a:cs typeface="Palatino Linotype" panose="02040502050505030304"/>
                <a:sym typeface="+mn-ea"/>
              </a:rPr>
              <a:t>1</a:t>
            </a:r>
            <a:endParaRPr sz="1400" dirty="0">
              <a:solidFill>
                <a:srgbClr val="0331FF"/>
              </a:solidFill>
              <a:latin typeface="Palatino Linotype" panose="02040502050505030304" charset="0"/>
              <a:ea typeface="Palatino Linotype" panose="02040502050505030304"/>
              <a:cs typeface="Palatino Linotype" panose="02040502050505030304"/>
              <a:sym typeface="+mn-ea"/>
            </a:endParaRPr>
          </a:p>
          <a:p>
            <a:pPr marL="0" indent="0" algn="ctr" rtl="0" eaLnBrk="0" fontAlgn="auto">
              <a:lnSpc>
                <a:spcPct val="150000"/>
              </a:lnSpc>
              <a:spcBef>
                <a:spcPts val="0"/>
              </a:spcBef>
              <a:buNone/>
            </a:pPr>
            <a:r>
              <a:rPr sz="1400" dirty="0">
                <a:solidFill>
                  <a:srgbClr val="0331FF"/>
                </a:solidFill>
                <a:latin typeface="Palatino Linotype" panose="02040502050505030304" charset="0"/>
                <a:ea typeface="Palatino Linotype" panose="02040502050505030304"/>
                <a:cs typeface="Palatino Linotype" panose="02040502050505030304"/>
                <a:sym typeface="+mn-ea"/>
              </a:rPr>
              <a:t>d</a:t>
            </a:r>
            <a:r>
              <a:rPr sz="1400" baseline="-25000" dirty="0">
                <a:solidFill>
                  <a:srgbClr val="0331FF"/>
                </a:solidFill>
                <a:latin typeface="Palatino Linotype" panose="02040502050505030304" charset="0"/>
                <a:ea typeface="Palatino Linotype" panose="02040502050505030304"/>
                <a:cs typeface="Palatino Linotype" panose="02040502050505030304"/>
                <a:sym typeface="+mn-ea"/>
              </a:rPr>
              <a:t>2</a:t>
            </a:r>
            <a:r>
              <a:rPr sz="1400" dirty="0">
                <a:solidFill>
                  <a:srgbClr val="0331FF"/>
                </a:solidFill>
                <a:latin typeface="Palatino Linotype" panose="02040502050505030304" charset="0"/>
                <a:ea typeface="Palatino Linotype" panose="02040502050505030304"/>
                <a:cs typeface="Palatino Linotype" panose="02040502050505030304"/>
                <a:sym typeface="+mn-ea"/>
              </a:rPr>
              <a:t> → r</a:t>
            </a:r>
            <a:r>
              <a:rPr sz="1400" baseline="-25000" dirty="0">
                <a:solidFill>
                  <a:srgbClr val="0331FF"/>
                </a:solidFill>
                <a:latin typeface="Palatino Linotype" panose="02040502050505030304" charset="0"/>
                <a:ea typeface="Palatino Linotype" panose="02040502050505030304"/>
                <a:cs typeface="Palatino Linotype" panose="02040502050505030304"/>
                <a:sym typeface="+mn-ea"/>
              </a:rPr>
              <a:t>2</a:t>
            </a:r>
            <a:endParaRPr sz="1400" dirty="0">
              <a:solidFill>
                <a:srgbClr val="0331FF"/>
              </a:solidFill>
              <a:latin typeface="Palatino Linotype" panose="02040502050505030304" charset="0"/>
              <a:ea typeface="Palatino Linotype" panose="02040502050505030304"/>
              <a:cs typeface="Palatino Linotype" panose="02040502050505030304"/>
              <a:sym typeface="+mn-ea"/>
            </a:endParaRPr>
          </a:p>
          <a:p>
            <a:pPr marL="0" indent="0" algn="ctr" rtl="0" eaLnBrk="0" fontAlgn="auto">
              <a:lnSpc>
                <a:spcPct val="150000"/>
              </a:lnSpc>
              <a:spcBef>
                <a:spcPts val="0"/>
              </a:spcBef>
              <a:buNone/>
            </a:pPr>
            <a:r>
              <a:rPr sz="1400" dirty="0">
                <a:solidFill>
                  <a:srgbClr val="0331FF"/>
                </a:solidFill>
                <a:latin typeface="Palatino Linotype" panose="02040502050505030304" charset="0"/>
                <a:ea typeface="Palatino Linotype" panose="02040502050505030304"/>
                <a:cs typeface="Palatino Linotype" panose="02040502050505030304"/>
                <a:sym typeface="+mn-ea"/>
              </a:rPr>
              <a:t>…</a:t>
            </a:r>
          </a:p>
          <a:p>
            <a:pPr marL="0" indent="0" algn="ctr" rtl="0" eaLnBrk="0" fontAlgn="auto">
              <a:lnSpc>
                <a:spcPct val="150000"/>
              </a:lnSpc>
              <a:spcBef>
                <a:spcPts val="0"/>
              </a:spcBef>
              <a:buNone/>
            </a:pPr>
            <a:r>
              <a:rPr sz="1400" dirty="0">
                <a:solidFill>
                  <a:srgbClr val="0331FF"/>
                </a:solidFill>
                <a:latin typeface="Palatino Linotype" panose="02040502050505030304" charset="0"/>
                <a:ea typeface="Palatino Linotype" panose="02040502050505030304"/>
                <a:cs typeface="Palatino Linotype" panose="02040502050505030304"/>
                <a:sym typeface="+mn-ea"/>
              </a:rPr>
              <a:t>d</a:t>
            </a:r>
            <a:r>
              <a:rPr sz="1400" baseline="-25000" dirty="0">
                <a:solidFill>
                  <a:srgbClr val="0331FF"/>
                </a:solidFill>
                <a:latin typeface="Palatino Linotype" panose="02040502050505030304" charset="0"/>
                <a:ea typeface="Palatino Linotype" panose="02040502050505030304"/>
                <a:cs typeface="Palatino Linotype" panose="02040502050505030304"/>
                <a:sym typeface="+mn-ea"/>
              </a:rPr>
              <a:t>n</a:t>
            </a:r>
            <a:r>
              <a:rPr sz="1400" dirty="0">
                <a:solidFill>
                  <a:srgbClr val="0331FF"/>
                </a:solidFill>
                <a:latin typeface="Palatino Linotype" panose="02040502050505030304" charset="0"/>
                <a:ea typeface="Palatino Linotype" panose="02040502050505030304"/>
                <a:cs typeface="Palatino Linotype" panose="02040502050505030304"/>
                <a:sym typeface="+mn-ea"/>
              </a:rPr>
              <a:t> → r</a:t>
            </a:r>
            <a:r>
              <a:rPr sz="1400" baseline="-25000" dirty="0">
                <a:solidFill>
                  <a:srgbClr val="0331FF"/>
                </a:solidFill>
                <a:latin typeface="Palatino Linotype" panose="02040502050505030304" charset="0"/>
                <a:ea typeface="Palatino Linotype" panose="02040502050505030304"/>
                <a:cs typeface="Palatino Linotype" panose="02040502050505030304"/>
                <a:sym typeface="+mn-ea"/>
              </a:rPr>
              <a:t>n</a:t>
            </a:r>
            <a:endParaRPr sz="1400" dirty="0">
              <a:solidFill>
                <a:srgbClr val="0331FF"/>
              </a:solidFill>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where:</a:t>
            </a:r>
          </a:p>
          <a:p>
            <a:pPr marL="457200" lvl="1" indent="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Each </a:t>
            </a:r>
            <a:r>
              <a:rPr sz="1800" dirty="0">
                <a:solidFill>
                  <a:srgbClr val="0331FF"/>
                </a:solidFill>
                <a:latin typeface="Palatino Linotype" panose="02040502050505030304" charset="0"/>
                <a:ea typeface="Palatino Linotype" panose="02040502050505030304"/>
                <a:cs typeface="Palatino Linotype" panose="02040502050505030304"/>
                <a:sym typeface="+mn-ea"/>
              </a:rPr>
              <a:t>d</a:t>
            </a:r>
            <a:r>
              <a:rPr sz="1800" baseline="-25000" dirty="0">
                <a:solidFill>
                  <a:srgbClr val="0331FF"/>
                </a:solidFill>
                <a:latin typeface="Palatino Linotype" panose="02040502050505030304" charset="0"/>
                <a:ea typeface="Palatino Linotype" panose="02040502050505030304"/>
                <a:cs typeface="Palatino Linotype" panose="02040502050505030304"/>
                <a:sym typeface="+mn-ea"/>
              </a:rPr>
              <a:t>i</a:t>
            </a:r>
            <a:r>
              <a:rPr lang="en-US" sz="1800" dirty="0">
                <a:solidFill>
                  <a:schemeClr val="tx1"/>
                </a:solidFill>
                <a:latin typeface="Palatino Linotype" panose="02040502050505030304" charset="0"/>
                <a:ea typeface="Palatino Linotype" panose="02040502050505030304"/>
                <a:cs typeface="Palatino Linotype" panose="02040502050505030304"/>
                <a:sym typeface="+mn-ea"/>
              </a:rPr>
              <a:t> </a:t>
            </a:r>
            <a:r>
              <a:rPr sz="1800" dirty="0">
                <a:solidFill>
                  <a:schemeClr val="tx1"/>
                </a:solidFill>
                <a:latin typeface="Palatino Linotype" panose="02040502050505030304" charset="0"/>
                <a:ea typeface="Palatino Linotype" panose="02040502050505030304"/>
                <a:cs typeface="Palatino Linotype" panose="02040502050505030304"/>
                <a:sym typeface="+mn-ea"/>
              </a:rPr>
              <a:t>is a new symbol not in Σ and not the same as the other </a:t>
            </a:r>
            <a:r>
              <a:rPr sz="1800" dirty="0">
                <a:solidFill>
                  <a:srgbClr val="0331FF"/>
                </a:solidFill>
                <a:latin typeface="Palatino Linotype" panose="02040502050505030304" charset="0"/>
                <a:ea typeface="Palatino Linotype" panose="02040502050505030304"/>
                <a:cs typeface="Palatino Linotype" panose="02040502050505030304"/>
                <a:sym typeface="+mn-ea"/>
              </a:rPr>
              <a:t>d</a:t>
            </a:r>
            <a:r>
              <a:rPr sz="1800" dirty="0">
                <a:solidFill>
                  <a:schemeClr val="tx1"/>
                </a:solidFill>
                <a:latin typeface="Palatino Linotype" panose="02040502050505030304" charset="0"/>
                <a:ea typeface="Palatino Linotype" panose="02040502050505030304"/>
                <a:cs typeface="Palatino Linotype" panose="02040502050505030304"/>
                <a:sym typeface="+mn-ea"/>
              </a:rPr>
              <a:t>’s</a:t>
            </a:r>
          </a:p>
          <a:p>
            <a:pPr marL="457200" lvl="1" indent="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Each </a:t>
            </a:r>
            <a:r>
              <a:rPr sz="1800" dirty="0">
                <a:solidFill>
                  <a:srgbClr val="0331FF"/>
                </a:solidFill>
                <a:latin typeface="Palatino Linotype" panose="02040502050505030304" charset="0"/>
                <a:ea typeface="Palatino Linotype" panose="02040502050505030304"/>
                <a:cs typeface="Palatino Linotype" panose="02040502050505030304"/>
                <a:sym typeface="+mn-ea"/>
              </a:rPr>
              <a:t>r</a:t>
            </a:r>
            <a:r>
              <a:rPr sz="1800" baseline="-25000" dirty="0">
                <a:solidFill>
                  <a:srgbClr val="0331FF"/>
                </a:solidFill>
                <a:latin typeface="Palatino Linotype" panose="02040502050505030304" charset="0"/>
                <a:ea typeface="Palatino Linotype" panose="02040502050505030304"/>
                <a:cs typeface="Palatino Linotype" panose="02040502050505030304"/>
                <a:sym typeface="+mn-ea"/>
              </a:rPr>
              <a:t>i</a:t>
            </a:r>
            <a:r>
              <a:rPr lang="en-US" sz="1800" dirty="0">
                <a:solidFill>
                  <a:schemeClr val="tx1"/>
                </a:solidFill>
                <a:latin typeface="Palatino Linotype" panose="02040502050505030304" charset="0"/>
                <a:ea typeface="Palatino Linotype" panose="02040502050505030304"/>
                <a:cs typeface="Palatino Linotype" panose="02040502050505030304"/>
                <a:sym typeface="+mn-ea"/>
              </a:rPr>
              <a:t> </a:t>
            </a:r>
            <a:r>
              <a:rPr sz="1800" dirty="0">
                <a:solidFill>
                  <a:schemeClr val="tx1"/>
                </a:solidFill>
                <a:latin typeface="Palatino Linotype" panose="02040502050505030304" charset="0"/>
                <a:ea typeface="Palatino Linotype" panose="02040502050505030304"/>
                <a:cs typeface="Palatino Linotype" panose="02040502050505030304"/>
                <a:sym typeface="+mn-ea"/>
              </a:rPr>
              <a:t>is a regexp over the alphabet </a:t>
            </a:r>
            <a:r>
              <a:rPr sz="1800" dirty="0">
                <a:solidFill>
                  <a:srgbClr val="0331FF"/>
                </a:solidFill>
                <a:latin typeface="Palatino Linotype" panose="02040502050505030304" charset="0"/>
                <a:ea typeface="Palatino Linotype" panose="02040502050505030304"/>
                <a:cs typeface="Palatino Linotype" panose="02040502050505030304"/>
                <a:sym typeface="+mn-ea"/>
              </a:rPr>
              <a:t>Σ ∪ {d</a:t>
            </a:r>
            <a:r>
              <a:rPr sz="1800" baseline="-25000" dirty="0">
                <a:solidFill>
                  <a:srgbClr val="FF0000"/>
                </a:solidFill>
                <a:latin typeface="Palatino Linotype" panose="02040502050505030304" charset="0"/>
                <a:ea typeface="Palatino Linotype" panose="02040502050505030304"/>
                <a:cs typeface="Palatino Linotype" panose="02040502050505030304"/>
                <a:sym typeface="+mn-ea"/>
              </a:rPr>
              <a:t>1</a:t>
            </a:r>
            <a:r>
              <a:rPr sz="1800" dirty="0">
                <a:solidFill>
                  <a:srgbClr val="0331FF"/>
                </a:solidFill>
                <a:latin typeface="Palatino Linotype" panose="02040502050505030304" charset="0"/>
                <a:ea typeface="Palatino Linotype" panose="02040502050505030304"/>
                <a:cs typeface="Palatino Linotype" panose="02040502050505030304"/>
                <a:sym typeface="+mn-ea"/>
              </a:rPr>
              <a:t>, d</a:t>
            </a:r>
            <a:r>
              <a:rPr sz="1800" baseline="-25000" dirty="0">
                <a:solidFill>
                  <a:srgbClr val="FF0000"/>
                </a:solidFill>
                <a:latin typeface="Palatino Linotype" panose="02040502050505030304" charset="0"/>
                <a:ea typeface="Palatino Linotype" panose="02040502050505030304"/>
                <a:cs typeface="Palatino Linotype" panose="02040502050505030304"/>
                <a:sym typeface="+mn-ea"/>
              </a:rPr>
              <a:t>2</a:t>
            </a:r>
            <a:r>
              <a:rPr sz="1800" dirty="0">
                <a:solidFill>
                  <a:srgbClr val="0331FF"/>
                </a:solidFill>
                <a:latin typeface="Palatino Linotype" panose="02040502050505030304" charset="0"/>
                <a:ea typeface="Palatino Linotype" panose="02040502050505030304"/>
                <a:cs typeface="Palatino Linotype" panose="02040502050505030304"/>
                <a:sym typeface="+mn-ea"/>
              </a:rPr>
              <a:t>, …, d</a:t>
            </a:r>
            <a:r>
              <a:rPr sz="1800" baseline="-25000" dirty="0">
                <a:solidFill>
                  <a:srgbClr val="FF0000"/>
                </a:solidFill>
                <a:latin typeface="Palatino Linotype" panose="02040502050505030304" charset="0"/>
                <a:ea typeface="Palatino Linotype" panose="02040502050505030304"/>
                <a:cs typeface="Palatino Linotype" panose="02040502050505030304"/>
                <a:sym typeface="+mn-ea"/>
              </a:rPr>
              <a:t>i-1</a:t>
            </a:r>
            <a:r>
              <a:rPr sz="1800" dirty="0">
                <a:solidFill>
                  <a:srgbClr val="0331FF"/>
                </a:solidFill>
                <a:latin typeface="Palatino Linotype" panose="02040502050505030304" charset="0"/>
                <a:ea typeface="Palatino Linotype" panose="02040502050505030304"/>
                <a:cs typeface="Palatino Linotype" panose="02040502050505030304"/>
                <a:sym typeface="+mn-ea"/>
              </a:rPr>
              <a:t>}</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22</a:t>
            </a:fld>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Regular Definitions - Examples</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solidFill>
                  <a:srgbClr val="FF0000"/>
                </a:solidFill>
                <a:latin typeface="Palatino Linotype" panose="02040502050505030304" charset="0"/>
                <a:ea typeface="Palatino Linotype" panose="02040502050505030304"/>
                <a:cs typeface="Palatino Linotype" panose="02040502050505030304"/>
                <a:sym typeface="+mn-ea"/>
              </a:rPr>
              <a:t>Regexp</a:t>
            </a:r>
            <a:r>
              <a:rPr sz="2200" dirty="0">
                <a:latin typeface="Palatino Linotype" panose="02040502050505030304" charset="0"/>
                <a:ea typeface="Palatino Linotype" panose="02040502050505030304"/>
                <a:cs typeface="Palatino Linotype" panose="02040502050505030304"/>
                <a:sym typeface="+mn-ea"/>
              </a:rPr>
              <a:t> for </a:t>
            </a:r>
            <a:r>
              <a:rPr sz="2200" dirty="0">
                <a:solidFill>
                  <a:srgbClr val="0331FF"/>
                </a:solidFill>
                <a:latin typeface="Palatino Linotype" panose="02040502050505030304" charset="0"/>
                <a:ea typeface="Palatino Linotype" panose="02040502050505030304"/>
                <a:cs typeface="Palatino Linotype" panose="02040502050505030304"/>
                <a:sym typeface="+mn-ea"/>
              </a:rPr>
              <a:t>C identifiers</a:t>
            </a:r>
            <a:endParaRPr sz="2200" dirty="0">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endParaRPr sz="2200" dirty="0">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endParaRPr sz="2200" dirty="0">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endParaRPr sz="2200" dirty="0">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endParaRPr sz="2200" dirty="0">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r>
              <a:rPr sz="2200" dirty="0">
                <a:solidFill>
                  <a:srgbClr val="FF0000"/>
                </a:solidFill>
                <a:latin typeface="Palatino Linotype" panose="02040502050505030304" charset="0"/>
                <a:ea typeface="Palatino Linotype" panose="02040502050505030304"/>
                <a:cs typeface="Palatino Linotype" panose="02040502050505030304"/>
                <a:sym typeface="+mn-ea"/>
              </a:rPr>
              <a:t>Regexp</a:t>
            </a:r>
            <a:r>
              <a:rPr sz="2200" dirty="0">
                <a:latin typeface="Palatino Linotype" panose="02040502050505030304" charset="0"/>
                <a:ea typeface="Palatino Linotype" panose="02040502050505030304"/>
                <a:cs typeface="Palatino Linotype" panose="02040502050505030304"/>
                <a:sym typeface="+mn-ea"/>
              </a:rPr>
              <a:t> for </a:t>
            </a:r>
            <a:r>
              <a:rPr sz="2200" dirty="0">
                <a:solidFill>
                  <a:srgbClr val="0331FF"/>
                </a:solidFill>
                <a:latin typeface="Palatino Linotype" panose="02040502050505030304" charset="0"/>
                <a:ea typeface="Palatino Linotype" panose="02040502050505030304"/>
                <a:cs typeface="Palatino Linotype" panose="02040502050505030304"/>
                <a:sym typeface="+mn-ea"/>
              </a:rPr>
              <a:t>C identifiers</a:t>
            </a:r>
          </a:p>
          <a:p>
            <a:pPr marL="0" indent="0" algn="l" rtl="0" eaLnBrk="0" fontAlgn="auto">
              <a:lnSpc>
                <a:spcPct val="150000"/>
              </a:lnSpc>
              <a:spcBef>
                <a:spcPts val="0"/>
              </a:spcBef>
              <a:buNone/>
            </a:pPr>
            <a:r>
              <a:rPr sz="2200" dirty="0">
                <a:latin typeface="Palatino Linotype" panose="02040502050505030304" charset="0"/>
                <a:ea typeface="Palatino Linotype" panose="02040502050505030304"/>
                <a:cs typeface="Palatino Linotype" panose="02040502050505030304"/>
                <a:sym typeface="+mn-ea"/>
              </a:rPr>
              <a:t>(A|B|...|Z|a|b|...|z|_)((A|B|...|Z|a|b|...|z|_)|(0|1|...|9))*</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23</a:t>
            </a:fld>
            <a:endParaRPr dirty="0"/>
          </a:p>
        </p:txBody>
      </p:sp>
      <p:pic>
        <p:nvPicPr>
          <p:cNvPr id="2" name="图片 1"/>
          <p:cNvPicPr>
            <a:picLocks noChangeAspect="1"/>
          </p:cNvPicPr>
          <p:nvPr>
            <p:custDataLst>
              <p:tags r:id="rId1"/>
            </p:custDataLst>
          </p:nvPr>
        </p:nvPicPr>
        <p:blipFill>
          <a:blip r:embed="rId4"/>
          <a:stretch>
            <a:fillRect/>
          </a:stretch>
        </p:blipFill>
        <p:spPr>
          <a:xfrm>
            <a:off x="1115060" y="2564765"/>
            <a:ext cx="4389120" cy="869315"/>
          </a:xfrm>
          <a:prstGeom prst="rect">
            <a:avLst/>
          </a:prstGeom>
        </p:spPr>
      </p:pic>
      <p:sp>
        <p:nvSpPr>
          <p:cNvPr id="5" name="文本框 4"/>
          <p:cNvSpPr txBox="1"/>
          <p:nvPr/>
        </p:nvSpPr>
        <p:spPr>
          <a:xfrm>
            <a:off x="5939790" y="2708910"/>
            <a:ext cx="2132965" cy="645160"/>
          </a:xfrm>
          <a:prstGeom prst="rect">
            <a:avLst/>
          </a:prstGeom>
          <a:noFill/>
        </p:spPr>
        <p:txBody>
          <a:bodyPr wrap="square" rtlCol="0" anchor="t">
            <a:spAutoFit/>
          </a:bodyPr>
          <a:lstStyle/>
          <a:p>
            <a:r>
              <a:rPr lang="zh-CN" altLang="en-US" dirty="0">
                <a:solidFill>
                  <a:srgbClr val="FF0000"/>
                </a:solidFill>
              </a:rPr>
              <a:t>_hello valid?</a:t>
            </a:r>
          </a:p>
          <a:p>
            <a:r>
              <a:rPr lang="zh-CN" altLang="en-US" dirty="0">
                <a:solidFill>
                  <a:srgbClr val="FF0000"/>
                </a:solidFill>
              </a:rPr>
              <a:t>3times valid?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Extensions of Regular Expressions</a:t>
            </a:r>
          </a:p>
        </p:txBody>
      </p:sp>
      <p:sp>
        <p:nvSpPr>
          <p:cNvPr id="4" name="内容占位符 3"/>
          <p:cNvSpPr>
            <a:spLocks noGrp="1"/>
          </p:cNvSpPr>
          <p:nvPr>
            <p:ph idx="1"/>
          </p:nvPr>
        </p:nvSpPr>
        <p:spPr/>
        <p:txBody>
          <a:bodyPr>
            <a:noAutofit/>
          </a:bodyPr>
          <a:lstStyle/>
          <a:p>
            <a:pPr marL="17145" algn="l" rtl="0" eaLnBrk="0" fontAlgn="auto" latinLnBrk="0" hangingPunct="1">
              <a:lnSpc>
                <a:spcPct val="100000"/>
              </a:lnSpc>
              <a:spcBef>
                <a:spcPts val="0"/>
              </a:spcBef>
            </a:pPr>
            <a:r>
              <a:rPr sz="2000" b="1" dirty="0">
                <a:latin typeface="Palatino Linotype" panose="02040502050505030304" charset="0"/>
                <a:ea typeface="Palatino Linotype" panose="02040502050505030304"/>
                <a:cs typeface="Palatino Linotype" panose="02040502050505030304"/>
                <a:sym typeface="+mn-ea"/>
              </a:rPr>
              <a:t>Basic operators</a:t>
            </a:r>
            <a:r>
              <a:rPr sz="2000" dirty="0">
                <a:latin typeface="Palatino Linotype" panose="02040502050505030304" charset="0"/>
                <a:ea typeface="Palatino Linotype" panose="02040502050505030304"/>
                <a:cs typeface="Palatino Linotype" panose="02040502050505030304"/>
                <a:sym typeface="+mn-ea"/>
              </a:rPr>
              <a:t>: union |, concatenation, and Kleene closure</a:t>
            </a:r>
            <a:r>
              <a:rPr sz="2000" baseline="30000" dirty="0">
                <a:latin typeface="Palatino Linotype" panose="02040502050505030304" charset="0"/>
                <a:ea typeface="Palatino Linotype" panose="02040502050505030304"/>
                <a:cs typeface="Palatino Linotype" panose="02040502050505030304"/>
                <a:sym typeface="+mn-ea"/>
              </a:rPr>
              <a:t>*</a:t>
            </a:r>
            <a:r>
              <a:rPr sz="2000" dirty="0">
                <a:latin typeface="Palatino Linotype" panose="02040502050505030304" charset="0"/>
                <a:ea typeface="Palatino Linotype" panose="02040502050505030304"/>
                <a:cs typeface="Palatino Linotype" panose="02040502050505030304"/>
                <a:sym typeface="+mn-ea"/>
              </a:rPr>
              <a:t>(proposed by Kleene in 1950s)</a:t>
            </a:r>
          </a:p>
          <a:p>
            <a:pPr marL="17145" algn="l" rtl="0" eaLnBrk="0" fontAlgn="auto" latinLnBrk="0" hangingPunct="1">
              <a:lnSpc>
                <a:spcPct val="100000"/>
              </a:lnSpc>
              <a:spcBef>
                <a:spcPts val="0"/>
              </a:spcBef>
            </a:pPr>
            <a:endParaRPr sz="2000" dirty="0">
              <a:latin typeface="Palatino Linotype" panose="02040502050505030304" charset="0"/>
              <a:ea typeface="Palatino Linotype" panose="02040502050505030304"/>
              <a:cs typeface="Palatino Linotype" panose="02040502050505030304"/>
              <a:sym typeface="+mn-ea"/>
            </a:endParaRPr>
          </a:p>
          <a:p>
            <a:pPr marL="17145" algn="l" rtl="0" eaLnBrk="0" fontAlgn="auto" latinLnBrk="0" hangingPunct="1">
              <a:lnSpc>
                <a:spcPct val="100000"/>
              </a:lnSpc>
              <a:spcBef>
                <a:spcPts val="0"/>
              </a:spcBef>
            </a:pPr>
            <a:r>
              <a:rPr sz="2000" dirty="0">
                <a:latin typeface="Palatino Linotype" panose="02040502050505030304" charset="0"/>
                <a:ea typeface="Palatino Linotype" panose="02040502050505030304"/>
                <a:cs typeface="Palatino Linotype" panose="02040502050505030304"/>
                <a:sym typeface="+mn-ea"/>
              </a:rPr>
              <a:t>A few </a:t>
            </a:r>
            <a:r>
              <a:rPr sz="2000" b="1" dirty="0">
                <a:latin typeface="Palatino Linotype" panose="02040502050505030304" charset="0"/>
                <a:ea typeface="Palatino Linotype" panose="02040502050505030304"/>
                <a:cs typeface="Palatino Linotype" panose="02040502050505030304"/>
                <a:sym typeface="+mn-ea"/>
              </a:rPr>
              <a:t>notational extensions</a:t>
            </a:r>
            <a:r>
              <a:rPr sz="2000" dirty="0">
                <a:latin typeface="Palatino Linotype" panose="02040502050505030304" charset="0"/>
                <a:ea typeface="Palatino Linotype" panose="02040502050505030304"/>
                <a:cs typeface="Palatino Linotype" panose="02040502050505030304"/>
                <a:sym typeface="+mn-ea"/>
              </a:rPr>
              <a:t>:</a:t>
            </a:r>
          </a:p>
          <a:p>
            <a:pPr marL="457200" lvl="1" indent="0" algn="l" rtl="0" eaLnBrk="0" fontAlgn="auto" latinLnBrk="0" hangingPunct="1">
              <a:lnSpc>
                <a:spcPct val="100000"/>
              </a:lnSpc>
              <a:spcBef>
                <a:spcPts val="0"/>
              </a:spcBef>
              <a:buNone/>
            </a:pPr>
            <a:r>
              <a:rPr sz="1600" dirty="0">
                <a:latin typeface="Palatino Linotype" panose="02040502050505030304" charset="0"/>
                <a:ea typeface="Palatino Linotype" panose="02040502050505030304"/>
                <a:cs typeface="Palatino Linotype" panose="02040502050505030304"/>
                <a:sym typeface="+mn-ea"/>
              </a:rPr>
              <a:t>▪ </a:t>
            </a:r>
            <a:r>
              <a:rPr sz="1800" dirty="0">
                <a:solidFill>
                  <a:srgbClr val="FF0000"/>
                </a:solidFill>
                <a:latin typeface="Palatino Linotype" panose="02040502050505030304" charset="0"/>
                <a:ea typeface="Palatino Linotype" panose="02040502050505030304"/>
                <a:cs typeface="Palatino Linotype" panose="02040502050505030304"/>
                <a:sym typeface="+mn-ea"/>
              </a:rPr>
              <a:t>One of more instances</a:t>
            </a:r>
            <a:r>
              <a:rPr sz="1800" dirty="0">
                <a:latin typeface="Palatino Linotype" panose="02040502050505030304" charset="0"/>
                <a:ea typeface="Palatino Linotype" panose="02040502050505030304"/>
                <a:cs typeface="Palatino Linotype" panose="02040502050505030304"/>
                <a:sym typeface="+mn-ea"/>
              </a:rPr>
              <a:t>: the unary, postfix operator +</a:t>
            </a:r>
          </a:p>
          <a:p>
            <a:pPr lvl="2" algn="l" rtl="0" eaLnBrk="0" fontAlgn="auto" latinLnBrk="0" hangingPunct="1">
              <a:lnSpc>
                <a:spcPct val="100000"/>
              </a:lnSpc>
              <a:spcBef>
                <a:spcPts val="0"/>
              </a:spcBef>
            </a:pPr>
            <a:r>
              <a:rPr sz="1800" dirty="0">
                <a:latin typeface="Palatino Linotype" panose="02040502050505030304" charset="0"/>
                <a:ea typeface="Palatino Linotype" panose="02040502050505030304"/>
                <a:cs typeface="Palatino Linotype" panose="02040502050505030304"/>
                <a:sym typeface="+mn-ea"/>
              </a:rPr>
              <a:t>r</a:t>
            </a:r>
            <a:r>
              <a:rPr sz="1800" baseline="30000" dirty="0">
                <a:latin typeface="Palatino Linotype" panose="02040502050505030304" charset="0"/>
                <a:ea typeface="Palatino Linotype" panose="02040502050505030304"/>
                <a:cs typeface="Palatino Linotype" panose="02040502050505030304"/>
                <a:sym typeface="+mn-ea"/>
              </a:rPr>
              <a:t>+</a:t>
            </a:r>
            <a:r>
              <a:rPr sz="1800" dirty="0">
                <a:latin typeface="Palatino Linotype" panose="02040502050505030304" charset="0"/>
                <a:ea typeface="Palatino Linotype" panose="02040502050505030304"/>
                <a:cs typeface="Palatino Linotype" panose="02040502050505030304"/>
                <a:sym typeface="+mn-ea"/>
              </a:rPr>
              <a:t> = rr</a:t>
            </a:r>
            <a:r>
              <a:rPr sz="1800" baseline="30000" dirty="0">
                <a:latin typeface="Palatino Linotype" panose="02040502050505030304" charset="0"/>
                <a:ea typeface="Palatino Linotype" panose="02040502050505030304"/>
                <a:cs typeface="Palatino Linotype" panose="02040502050505030304"/>
                <a:sym typeface="+mn-ea"/>
              </a:rPr>
              <a:t>*</a:t>
            </a:r>
            <a:r>
              <a:rPr sz="1800" dirty="0">
                <a:latin typeface="Palatino Linotype" panose="02040502050505030304" charset="0"/>
                <a:ea typeface="Palatino Linotype" panose="02040502050505030304"/>
                <a:cs typeface="Palatino Linotype" panose="02040502050505030304"/>
                <a:sym typeface="+mn-ea"/>
              </a:rPr>
              <a:t>, r</a:t>
            </a:r>
            <a:r>
              <a:rPr sz="1800" baseline="30000" dirty="0">
                <a:latin typeface="Palatino Linotype" panose="02040502050505030304" charset="0"/>
                <a:ea typeface="Palatino Linotype" panose="02040502050505030304"/>
                <a:cs typeface="Palatino Linotype" panose="02040502050505030304"/>
                <a:sym typeface="+mn-ea"/>
              </a:rPr>
              <a:t>*</a:t>
            </a:r>
            <a:r>
              <a:rPr sz="1800" dirty="0">
                <a:latin typeface="Palatino Linotype" panose="02040502050505030304" charset="0"/>
                <a:ea typeface="Palatino Linotype" panose="02040502050505030304"/>
                <a:cs typeface="Palatino Linotype" panose="02040502050505030304"/>
                <a:sym typeface="+mn-ea"/>
              </a:rPr>
              <a:t> = r</a:t>
            </a:r>
            <a:r>
              <a:rPr sz="1800" baseline="30000" dirty="0">
                <a:latin typeface="Palatino Linotype" panose="02040502050505030304" charset="0"/>
                <a:ea typeface="Palatino Linotype" panose="02040502050505030304"/>
                <a:cs typeface="Palatino Linotype" panose="02040502050505030304"/>
                <a:sym typeface="+mn-ea"/>
              </a:rPr>
              <a:t>+</a:t>
            </a:r>
            <a:r>
              <a:rPr sz="1800" dirty="0">
                <a:latin typeface="Palatino Linotype" panose="02040502050505030304" charset="0"/>
                <a:ea typeface="Palatino Linotype" panose="02040502050505030304"/>
                <a:cs typeface="Palatino Linotype" panose="02040502050505030304"/>
                <a:sym typeface="+mn-ea"/>
              </a:rPr>
              <a:t> | 𝜖</a:t>
            </a:r>
          </a:p>
          <a:p>
            <a:pPr marL="457200" lvl="1" indent="0" algn="l" rtl="0" eaLnBrk="0" fontAlgn="auto" latinLnBrk="0" hangingPunct="1">
              <a:lnSpc>
                <a:spcPct val="10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FF0000"/>
                </a:solidFill>
                <a:latin typeface="Palatino Linotype" panose="02040502050505030304" charset="0"/>
                <a:ea typeface="Palatino Linotype" panose="02040502050505030304"/>
                <a:cs typeface="Palatino Linotype" panose="02040502050505030304"/>
                <a:sym typeface="+mn-ea"/>
              </a:rPr>
              <a:t>Zero or one instance</a:t>
            </a:r>
            <a:r>
              <a:rPr sz="1800" dirty="0">
                <a:latin typeface="Palatino Linotype" panose="02040502050505030304" charset="0"/>
                <a:ea typeface="Palatino Linotype" panose="02040502050505030304"/>
                <a:cs typeface="Palatino Linotype" panose="02040502050505030304"/>
                <a:sym typeface="+mn-ea"/>
              </a:rPr>
              <a:t>: the unary postfix operator ?</a:t>
            </a:r>
          </a:p>
          <a:p>
            <a:pPr lvl="2" algn="l" rtl="0" eaLnBrk="0" fontAlgn="auto" latinLnBrk="0" hangingPunct="1">
              <a:lnSpc>
                <a:spcPct val="100000"/>
              </a:lnSpc>
              <a:spcBef>
                <a:spcPts val="0"/>
              </a:spcBef>
            </a:pPr>
            <a:r>
              <a:rPr sz="1800" dirty="0">
                <a:latin typeface="Palatino Linotype" panose="02040502050505030304" charset="0"/>
                <a:ea typeface="Palatino Linotype" panose="02040502050505030304"/>
                <a:cs typeface="Palatino Linotype" panose="02040502050505030304"/>
                <a:sym typeface="+mn-ea"/>
              </a:rPr>
              <a:t>r? = r | 𝜖</a:t>
            </a:r>
          </a:p>
          <a:p>
            <a:pPr marL="457200" lvl="1" indent="0" algn="l" rtl="0" eaLnBrk="0" fontAlgn="auto" latinLnBrk="0" hangingPunct="1">
              <a:lnSpc>
                <a:spcPct val="10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dirty="0">
                <a:solidFill>
                  <a:srgbClr val="FF0000"/>
                </a:solidFill>
                <a:latin typeface="Palatino Linotype" panose="02040502050505030304" charset="0"/>
                <a:ea typeface="Palatino Linotype" panose="02040502050505030304"/>
                <a:cs typeface="Palatino Linotype" panose="02040502050505030304"/>
                <a:sym typeface="+mn-ea"/>
              </a:rPr>
              <a:t>Character classes</a:t>
            </a:r>
            <a:r>
              <a:rPr sz="1800" dirty="0">
                <a:latin typeface="Palatino Linotype" panose="02040502050505030304" charset="0"/>
                <a:ea typeface="Palatino Linotype" panose="02040502050505030304"/>
                <a:cs typeface="Palatino Linotype" panose="02040502050505030304"/>
                <a:sym typeface="+mn-ea"/>
              </a:rPr>
              <a:t>: shorthand for a logical sequence</a:t>
            </a:r>
          </a:p>
          <a:p>
            <a:pPr lvl="2" algn="l" rtl="0" eaLnBrk="0" fontAlgn="auto" latinLnBrk="0" hangingPunct="1">
              <a:lnSpc>
                <a:spcPct val="100000"/>
              </a:lnSpc>
              <a:spcBef>
                <a:spcPts val="0"/>
              </a:spcBef>
            </a:pPr>
            <a:r>
              <a:rPr sz="1800" dirty="0">
                <a:latin typeface="Palatino Linotype" panose="02040502050505030304" charset="0"/>
                <a:ea typeface="Palatino Linotype" panose="02040502050505030304"/>
                <a:cs typeface="Palatino Linotype" panose="02040502050505030304"/>
                <a:sym typeface="+mn-ea"/>
              </a:rPr>
              <a:t>[a</a:t>
            </a:r>
            <a:r>
              <a:rPr sz="1800" baseline="-25000" dirty="0">
                <a:latin typeface="Palatino Linotype" panose="02040502050505030304" charset="0"/>
                <a:ea typeface="Palatino Linotype" panose="02040502050505030304"/>
                <a:cs typeface="Palatino Linotype" panose="02040502050505030304"/>
                <a:sym typeface="+mn-ea"/>
              </a:rPr>
              <a:t>1</a:t>
            </a:r>
            <a:r>
              <a:rPr sz="1800" dirty="0">
                <a:latin typeface="Palatino Linotype" panose="02040502050505030304" charset="0"/>
                <a:ea typeface="Palatino Linotype" panose="02040502050505030304"/>
                <a:cs typeface="Palatino Linotype" panose="02040502050505030304"/>
                <a:sym typeface="+mn-ea"/>
              </a:rPr>
              <a:t>a</a:t>
            </a:r>
            <a:r>
              <a:rPr sz="1800" baseline="-25000" dirty="0">
                <a:latin typeface="Palatino Linotype" panose="02040502050505030304" charset="0"/>
                <a:ea typeface="Palatino Linotype" panose="02040502050505030304"/>
                <a:cs typeface="Palatino Linotype" panose="02040502050505030304"/>
                <a:sym typeface="+mn-ea"/>
              </a:rPr>
              <a:t>2</a:t>
            </a:r>
            <a:r>
              <a:rPr sz="1800" dirty="0">
                <a:latin typeface="Palatino Linotype" panose="02040502050505030304" charset="0"/>
                <a:ea typeface="Palatino Linotype" panose="02040502050505030304"/>
                <a:cs typeface="Palatino Linotype" panose="02040502050505030304"/>
                <a:sym typeface="+mn-ea"/>
              </a:rPr>
              <a:t>…a</a:t>
            </a:r>
            <a:r>
              <a:rPr sz="1800" baseline="-25000" dirty="0">
                <a:latin typeface="Palatino Linotype" panose="02040502050505030304" charset="0"/>
                <a:ea typeface="Palatino Linotype" panose="02040502050505030304"/>
                <a:cs typeface="Palatino Linotype" panose="02040502050505030304"/>
                <a:sym typeface="+mn-ea"/>
              </a:rPr>
              <a:t>n</a:t>
            </a:r>
            <a:r>
              <a:rPr sz="1800" dirty="0">
                <a:latin typeface="Palatino Linotype" panose="02040502050505030304" charset="0"/>
                <a:ea typeface="Palatino Linotype" panose="02040502050505030304"/>
                <a:cs typeface="Palatino Linotype" panose="02040502050505030304"/>
                <a:sym typeface="+mn-ea"/>
              </a:rPr>
              <a:t>] = a</a:t>
            </a:r>
            <a:r>
              <a:rPr sz="1800" baseline="-25000" dirty="0">
                <a:latin typeface="Palatino Linotype" panose="02040502050505030304" charset="0"/>
                <a:ea typeface="Palatino Linotype" panose="02040502050505030304"/>
                <a:cs typeface="Palatino Linotype" panose="02040502050505030304"/>
                <a:sym typeface="+mn-ea"/>
              </a:rPr>
              <a:t>1 </a:t>
            </a:r>
            <a:r>
              <a:rPr sz="1800" dirty="0">
                <a:latin typeface="Palatino Linotype" panose="02040502050505030304" charset="0"/>
                <a:ea typeface="Palatino Linotype" panose="02040502050505030304"/>
                <a:cs typeface="Palatino Linotype" panose="02040502050505030304"/>
                <a:sym typeface="+mn-ea"/>
              </a:rPr>
              <a:t>|a</a:t>
            </a:r>
            <a:r>
              <a:rPr sz="1800" baseline="-25000" dirty="0">
                <a:latin typeface="Palatino Linotype" panose="02040502050505030304" charset="0"/>
                <a:ea typeface="Palatino Linotype" panose="02040502050505030304"/>
                <a:cs typeface="Palatino Linotype" panose="02040502050505030304"/>
                <a:sym typeface="+mn-ea"/>
              </a:rPr>
              <a:t>2</a:t>
            </a:r>
            <a:r>
              <a:rPr sz="1800" dirty="0">
                <a:latin typeface="Palatino Linotype" panose="02040502050505030304" charset="0"/>
                <a:ea typeface="Palatino Linotype" panose="02040502050505030304"/>
                <a:cs typeface="Palatino Linotype" panose="02040502050505030304"/>
                <a:sym typeface="+mn-ea"/>
              </a:rPr>
              <a:t> | … | a</a:t>
            </a:r>
            <a:r>
              <a:rPr sz="1800" baseline="-25000" dirty="0">
                <a:latin typeface="Palatino Linotype" panose="02040502050505030304" charset="0"/>
                <a:ea typeface="Palatino Linotype" panose="02040502050505030304"/>
                <a:cs typeface="Palatino Linotype" panose="02040502050505030304"/>
                <a:sym typeface="+mn-ea"/>
              </a:rPr>
              <a:t>n</a:t>
            </a:r>
            <a:endParaRPr sz="1800" dirty="0">
              <a:latin typeface="Palatino Linotype" panose="02040502050505030304" charset="0"/>
              <a:ea typeface="Palatino Linotype" panose="02040502050505030304"/>
              <a:cs typeface="Palatino Linotype" panose="02040502050505030304"/>
              <a:sym typeface="+mn-ea"/>
            </a:endParaRPr>
          </a:p>
          <a:p>
            <a:pPr lvl="2" algn="l" rtl="0" eaLnBrk="0" fontAlgn="auto" latinLnBrk="0" hangingPunct="1">
              <a:lnSpc>
                <a:spcPct val="100000"/>
              </a:lnSpc>
              <a:spcBef>
                <a:spcPts val="0"/>
              </a:spcBef>
            </a:pPr>
            <a:r>
              <a:rPr sz="1800" dirty="0">
                <a:latin typeface="Palatino Linotype" panose="02040502050505030304" charset="0"/>
                <a:ea typeface="Palatino Linotype" panose="02040502050505030304"/>
                <a:cs typeface="Palatino Linotype" panose="02040502050505030304"/>
                <a:sym typeface="+mn-ea"/>
              </a:rPr>
              <a:t>[a-e] = a | b | c | d | e</a:t>
            </a:r>
          </a:p>
          <a:p>
            <a:pPr marL="17145" algn="l" rtl="0" eaLnBrk="0" fontAlgn="auto" latinLnBrk="0" hangingPunct="1">
              <a:lnSpc>
                <a:spcPct val="100000"/>
              </a:lnSpc>
              <a:spcBef>
                <a:spcPts val="0"/>
              </a:spcBef>
            </a:pPr>
            <a:endParaRPr sz="2000" dirty="0">
              <a:latin typeface="Palatino Linotype" panose="02040502050505030304" charset="0"/>
              <a:ea typeface="Palatino Linotype" panose="02040502050505030304"/>
              <a:cs typeface="Palatino Linotype" panose="02040502050505030304"/>
              <a:sym typeface="+mn-ea"/>
            </a:endParaRPr>
          </a:p>
          <a:p>
            <a:pPr marL="17145" algn="l" rtl="0" eaLnBrk="0" fontAlgn="auto" latinLnBrk="0" hangingPunct="1">
              <a:lnSpc>
                <a:spcPct val="100000"/>
              </a:lnSpc>
              <a:spcBef>
                <a:spcPts val="0"/>
              </a:spcBef>
            </a:pPr>
            <a:r>
              <a:rPr sz="2000" dirty="0">
                <a:latin typeface="Palatino Linotype" panose="02040502050505030304" charset="0"/>
                <a:ea typeface="Palatino Linotype" panose="02040502050505030304"/>
                <a:cs typeface="Palatino Linotype" panose="02040502050505030304"/>
                <a:sym typeface="+mn-ea"/>
              </a:rPr>
              <a:t>The extensions are </a:t>
            </a:r>
            <a:r>
              <a:rPr sz="2000" dirty="0">
                <a:solidFill>
                  <a:srgbClr val="FF0000"/>
                </a:solidFill>
                <a:latin typeface="Palatino Linotype" panose="02040502050505030304" charset="0"/>
                <a:ea typeface="Palatino Linotype" panose="02040502050505030304"/>
                <a:cs typeface="Palatino Linotype" panose="02040502050505030304"/>
                <a:sym typeface="+mn-ea"/>
              </a:rPr>
              <a:t>only for notational convenience</a:t>
            </a:r>
            <a:r>
              <a:rPr sz="2000" dirty="0">
                <a:latin typeface="Palatino Linotype" panose="02040502050505030304" charset="0"/>
                <a:ea typeface="Palatino Linotype" panose="02040502050505030304"/>
                <a:cs typeface="Palatino Linotype" panose="02040502050505030304"/>
                <a:sym typeface="+mn-ea"/>
              </a:rPr>
              <a:t>, they do not change the descriptive power of regexps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24</a:t>
            </a:fld>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zh-CN" altLang="en-US" sz="3600">
                <a:latin typeface="Palatino Linotype" panose="02040502050505030304" charset="0"/>
              </a:rPr>
              <a:t>Outline</a:t>
            </a:r>
          </a:p>
        </p:txBody>
      </p:sp>
      <p:sp>
        <p:nvSpPr>
          <p:cNvPr id="4" name="内容占位符 3"/>
          <p:cNvSpPr>
            <a:spLocks noGrp="1"/>
          </p:cNvSpPr>
          <p:nvPr>
            <p:ph idx="1"/>
          </p:nvPr>
        </p:nvSpPr>
        <p:spPr/>
        <p:txBody>
          <a:bodyPr>
            <a:normAutofit fontScale="92500" lnSpcReduction="10000"/>
          </a:bodyPr>
          <a:lstStyle/>
          <a:p>
            <a:pPr marL="12700" algn="l" rtl="0" eaLnBrk="0">
              <a:lnSpc>
                <a:spcPct val="81000"/>
              </a:lnSpc>
              <a:spcBef>
                <a:spcPts val="730"/>
              </a:spcBef>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The</a:t>
            </a:r>
            <a:r>
              <a:rPr sz="2750" spc="2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Role</a:t>
            </a:r>
            <a:r>
              <a:rPr sz="2750" spc="2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of</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Lexical Analyzer</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25000"/>
              </a:lnSpc>
            </a:pPr>
            <a:endParaRPr lang="en-US" altLang="en-US" sz="2750" dirty="0">
              <a:solidFill>
                <a:schemeClr val="bg2">
                  <a:lumMod val="50000"/>
                </a:schemeClr>
              </a:solidFill>
              <a:latin typeface="Palatino Linotype" panose="02040502050505030304" charset="0"/>
              <a:cs typeface="Ubuntu Mono derivative Powerline" charset="0"/>
            </a:endParaRPr>
          </a:p>
          <a:p>
            <a:pPr marL="12700" algn="l" rtl="0" eaLnBrk="0">
              <a:lnSpc>
                <a:spcPct val="81000"/>
              </a:lnSpc>
              <a:spcBef>
                <a:spcPts val="730"/>
              </a:spcBef>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Specification of Tokens (Regular Expressions)</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26000"/>
              </a:lnSpc>
            </a:pPr>
            <a:endParaRPr lang="en-US" altLang="en-US" sz="2750" dirty="0">
              <a:solidFill>
                <a:schemeClr val="bg1">
                  <a:lumMod val="75000"/>
                </a:schemeClr>
              </a:solidFill>
              <a:latin typeface="Palatino Linotype" panose="02040502050505030304" charset="0"/>
              <a:cs typeface="Ubuntu Mono derivative Powerline" charset="0"/>
            </a:endParaRPr>
          </a:p>
          <a:p>
            <a:pPr marL="12700" algn="l" rtl="0" eaLnBrk="0">
              <a:lnSpc>
                <a:spcPct val="81000"/>
              </a:lnSpc>
              <a:spcBef>
                <a:spcPts val="720"/>
              </a:spcBef>
            </a:pPr>
            <a:r>
              <a:rPr sz="2750" spc="-1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Recog</a:t>
            </a: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nition</a:t>
            </a:r>
            <a:r>
              <a:rPr sz="2750" spc="-1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of</a:t>
            </a:r>
            <a:r>
              <a:rPr sz="2750" spc="-1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Tokens</a:t>
            </a:r>
            <a:r>
              <a:rPr sz="2750" spc="-1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Transition</a:t>
            </a:r>
            <a:r>
              <a:rPr sz="2750" spc="-1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Diagrams</a:t>
            </a:r>
            <a:r>
              <a:rPr sz="2750" spc="-1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a:t>
            </a:r>
            <a:endParaRPr lang="en-US" altLang="en-US" sz="2750" dirty="0">
              <a:solidFill>
                <a:schemeClr val="bg1">
                  <a:lumMod val="75000"/>
                </a:schemeClr>
              </a:solidFill>
              <a:latin typeface="Palatino Linotype" panose="02040502050505030304" charset="0"/>
              <a:cs typeface="Ubuntu Mono derivative Powerline" charset="0"/>
            </a:endParaRPr>
          </a:p>
          <a:p>
            <a:pPr algn="l" rtl="0" eaLnBrk="0">
              <a:lnSpc>
                <a:spcPct val="125000"/>
              </a:lnSpc>
            </a:pPr>
            <a:endParaRPr lang="en-US" altLang="en-US" sz="2750" dirty="0">
              <a:solidFill>
                <a:schemeClr val="bg1">
                  <a:lumMod val="75000"/>
                </a:schemeClr>
              </a:solidFill>
              <a:latin typeface="Palatino Linotype" panose="02040502050505030304" charset="0"/>
              <a:cs typeface="Ubuntu Mono derivative Powerline" charset="0"/>
            </a:endParaRPr>
          </a:p>
          <a:p>
            <a:pPr marL="12700" algn="l" rtl="0" eaLnBrk="0">
              <a:lnSpc>
                <a:spcPts val="2945"/>
              </a:lnSpc>
              <a:spcBef>
                <a:spcPts val="730"/>
              </a:spcBef>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The</a:t>
            </a:r>
            <a:r>
              <a:rPr sz="2750" spc="4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Lexical</a:t>
            </a:r>
            <a:r>
              <a:rPr sz="2750" spc="4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Analyzer</a:t>
            </a:r>
            <a:r>
              <a:rPr sz="2750" spc="3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Generator</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00000"/>
              </a:lnSpc>
            </a:pPr>
            <a:endParaRPr lang="en-US" altLang="en-US" sz="2750" dirty="0">
              <a:solidFill>
                <a:schemeClr val="bg2">
                  <a:lumMod val="50000"/>
                </a:schemeClr>
              </a:solidFill>
              <a:latin typeface="Palatino Linotype" panose="02040502050505030304" charset="0"/>
              <a:cs typeface="Ubuntu Mono derivative Powerline" charset="0"/>
            </a:endParaRPr>
          </a:p>
          <a:p>
            <a:pPr marL="12700" algn="l" rtl="0" eaLnBrk="0">
              <a:lnSpc>
                <a:spcPct val="96000"/>
              </a:lnSpc>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Finite</a:t>
            </a:r>
            <a:r>
              <a:rPr sz="2750" spc="3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Automata</a:t>
            </a:r>
            <a:endParaRPr lang="zh-CN" altLang="en-US"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25</a:t>
            </a:fld>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Recognition of Tokens</a:t>
            </a:r>
          </a:p>
        </p:txBody>
      </p:sp>
      <p:sp>
        <p:nvSpPr>
          <p:cNvPr id="4" name="内容占位符 3"/>
          <p:cNvSpPr>
            <a:spLocks noGrp="1"/>
          </p:cNvSpPr>
          <p:nvPr>
            <p:ph idx="1"/>
          </p:nvPr>
        </p:nvSpPr>
        <p:spPr/>
        <p:txBody>
          <a:bodyPr>
            <a:noAutofit/>
          </a:bodyPr>
          <a:lstStyle/>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Lexical analyzer examines the input string and finds a prefix that matches one of the tokens</a:t>
            </a:r>
          </a:p>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The first thing when building a lexical analyzer is to define the patterns of tokens using regular definitions</a:t>
            </a:r>
          </a:p>
          <a:p>
            <a:pPr marL="17145" algn="l" rtl="0" eaLnBrk="0" fontAlgn="auto">
              <a:lnSpc>
                <a:spcPct val="150000"/>
              </a:lnSpc>
              <a:spcBef>
                <a:spcPts val="0"/>
              </a:spcBef>
            </a:pPr>
            <a:r>
              <a:rPr sz="2000" b="1" dirty="0">
                <a:solidFill>
                  <a:srgbClr val="FF0000"/>
                </a:solidFill>
                <a:latin typeface="Palatino Linotype" panose="02040502050505030304" charset="0"/>
                <a:ea typeface="Palatino Linotype" panose="02040502050505030304"/>
                <a:cs typeface="Palatino Linotype" panose="02040502050505030304"/>
                <a:sym typeface="+mn-ea"/>
              </a:rPr>
              <a:t>A special token</a:t>
            </a:r>
            <a:r>
              <a:rPr sz="2000" b="1" dirty="0">
                <a:latin typeface="Palatino Linotype" panose="02040502050505030304" charset="0"/>
                <a:ea typeface="Palatino Linotype" panose="02040502050505030304"/>
                <a:cs typeface="Palatino Linotype" panose="02040502050505030304"/>
                <a:sym typeface="+mn-ea"/>
              </a:rPr>
              <a:t>: ws → (blank | tab | newline)</a:t>
            </a:r>
            <a:r>
              <a:rPr sz="2000" b="1" baseline="30000" dirty="0">
                <a:latin typeface="Palatino Linotype" panose="02040502050505030304" charset="0"/>
                <a:ea typeface="Palatino Linotype" panose="02040502050505030304"/>
                <a:cs typeface="Palatino Linotype" panose="02040502050505030304"/>
                <a:sym typeface="+mn-ea"/>
              </a:rPr>
              <a:t>+</a:t>
            </a:r>
            <a:endParaRPr sz="2000" b="1"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When the lexical analyzer recognizes the </a:t>
            </a:r>
            <a:r>
              <a:rPr sz="1800" dirty="0">
                <a:solidFill>
                  <a:srgbClr val="FF0000"/>
                </a:solidFill>
                <a:latin typeface="Palatino Linotype" panose="02040502050505030304" charset="0"/>
                <a:ea typeface="Palatino Linotype" panose="02040502050505030304"/>
                <a:cs typeface="Palatino Linotype" panose="02040502050505030304"/>
                <a:sym typeface="+mn-ea"/>
              </a:rPr>
              <a:t>whitespace token</a:t>
            </a:r>
            <a:r>
              <a:rPr sz="1800" dirty="0">
                <a:latin typeface="Palatino Linotype" panose="02040502050505030304" charset="0"/>
                <a:ea typeface="Palatino Linotype" panose="02040502050505030304"/>
                <a:cs typeface="Palatino Linotype" panose="02040502050505030304"/>
                <a:sym typeface="+mn-ea"/>
              </a:rPr>
              <a:t>, it does not return it to the parser, but rather restart the lexical analysis from the character that follows the whitespace (the next token gets returned to the parser)</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26</a:t>
            </a:fld>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Example: Patterns and Tokens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27</a:t>
            </a:fld>
            <a:endParaRPr dirty="0"/>
          </a:p>
        </p:txBody>
      </p:sp>
      <p:pic>
        <p:nvPicPr>
          <p:cNvPr id="5" name="内容占位符 4"/>
          <p:cNvPicPr>
            <a:picLocks noGrp="1" noChangeAspect="1"/>
          </p:cNvPicPr>
          <p:nvPr>
            <p:ph idx="1"/>
            <p:custDataLst>
              <p:tags r:id="rId1"/>
            </p:custDataLst>
          </p:nvPr>
        </p:nvPicPr>
        <p:blipFill>
          <a:blip r:embed="rId4"/>
          <a:stretch>
            <a:fillRect/>
          </a:stretch>
        </p:blipFill>
        <p:spPr>
          <a:xfrm>
            <a:off x="634646" y="1844824"/>
            <a:ext cx="7645400" cy="3860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Transition Diagrams (状态转换图)</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solidFill>
                  <a:schemeClr val="tx1"/>
                </a:solidFill>
                <a:latin typeface="Palatino Linotype" panose="02040502050505030304" charset="0"/>
                <a:ea typeface="Palatino Linotype" panose="02040502050505030304"/>
                <a:cs typeface="Palatino Linotype" panose="02040502050505030304"/>
                <a:sym typeface="+mn-ea"/>
              </a:rPr>
              <a:t>An important step in constructing a lexical analyzer is to convert patterns into “</a:t>
            </a:r>
            <a:r>
              <a:rPr sz="2200" dirty="0">
                <a:solidFill>
                  <a:srgbClr val="FF0000"/>
                </a:solidFill>
                <a:latin typeface="Palatino Linotype" panose="02040502050505030304" charset="0"/>
                <a:ea typeface="Palatino Linotype" panose="02040502050505030304"/>
                <a:cs typeface="Palatino Linotype" panose="02040502050505030304"/>
                <a:sym typeface="+mn-ea"/>
              </a:rPr>
              <a:t>transition diagrams</a:t>
            </a:r>
            <a:r>
              <a:rPr sz="2200" dirty="0">
                <a:solidFill>
                  <a:schemeClr val="tx1"/>
                </a:solidFill>
                <a:latin typeface="Palatino Linotype" panose="02040502050505030304" charset="0"/>
                <a:ea typeface="Palatino Linotype" panose="02040502050505030304"/>
                <a:cs typeface="Palatino Linotype" panose="02040502050505030304"/>
                <a:sym typeface="+mn-ea"/>
              </a:rPr>
              <a:t>”</a:t>
            </a:r>
          </a:p>
          <a:p>
            <a:pPr marL="17145" algn="l" rtl="0" eaLnBrk="0" fontAlgn="auto">
              <a:lnSpc>
                <a:spcPct val="150000"/>
              </a:lnSpc>
              <a:spcBef>
                <a:spcPts val="0"/>
              </a:spcBef>
            </a:pPr>
            <a:r>
              <a:rPr sz="2200" dirty="0">
                <a:solidFill>
                  <a:schemeClr val="tx1"/>
                </a:solidFill>
                <a:latin typeface="Palatino Linotype" panose="02040502050505030304" charset="0"/>
                <a:ea typeface="Palatino Linotype" panose="02040502050505030304"/>
                <a:cs typeface="Palatino Linotype" panose="02040502050505030304"/>
                <a:sym typeface="+mn-ea"/>
              </a:rPr>
              <a:t>Transition diagrams have a collection of nodes, called </a:t>
            </a:r>
            <a:r>
              <a:rPr sz="2200" dirty="0">
                <a:solidFill>
                  <a:srgbClr val="FF0000"/>
                </a:solidFill>
                <a:latin typeface="Palatino Linotype" panose="02040502050505030304" charset="0"/>
                <a:ea typeface="Palatino Linotype" panose="02040502050505030304"/>
                <a:cs typeface="Palatino Linotype" panose="02040502050505030304"/>
                <a:sym typeface="+mn-ea"/>
              </a:rPr>
              <a:t>states (状态)</a:t>
            </a:r>
            <a:r>
              <a:rPr lang="en-US" sz="2200" dirty="0">
                <a:solidFill>
                  <a:srgbClr val="FF0000"/>
                </a:solidFill>
                <a:latin typeface="Palatino Linotype" panose="02040502050505030304" charset="0"/>
                <a:ea typeface="Palatino Linotype" panose="02040502050505030304"/>
                <a:cs typeface="Palatino Linotype" panose="02040502050505030304"/>
                <a:sym typeface="+mn-ea"/>
              </a:rPr>
              <a:t> </a:t>
            </a:r>
            <a:r>
              <a:rPr sz="2200" dirty="0">
                <a:solidFill>
                  <a:schemeClr val="tx1"/>
                </a:solidFill>
                <a:latin typeface="Palatino Linotype" panose="02040502050505030304" charset="0"/>
                <a:ea typeface="Palatino Linotype" panose="02040502050505030304"/>
                <a:cs typeface="Palatino Linotype" panose="02040502050505030304"/>
                <a:sym typeface="+mn-ea"/>
              </a:rPr>
              <a:t>and </a:t>
            </a:r>
            <a:r>
              <a:rPr sz="2200" dirty="0">
                <a:solidFill>
                  <a:srgbClr val="FF0000"/>
                </a:solidFill>
                <a:latin typeface="Palatino Linotype" panose="02040502050505030304" charset="0"/>
                <a:ea typeface="Palatino Linotype" panose="02040502050505030304"/>
                <a:cs typeface="Palatino Linotype" panose="02040502050505030304"/>
                <a:sym typeface="+mn-ea"/>
              </a:rPr>
              <a:t>edges (边)</a:t>
            </a:r>
            <a:r>
              <a:rPr sz="2200" dirty="0">
                <a:solidFill>
                  <a:schemeClr val="tx1"/>
                </a:solidFill>
                <a:latin typeface="Palatino Linotype" panose="02040502050505030304" charset="0"/>
                <a:ea typeface="Palatino Linotype" panose="02040502050505030304"/>
                <a:cs typeface="Palatino Linotype" panose="02040502050505030304"/>
                <a:sym typeface="+mn-ea"/>
              </a:rPr>
              <a:t> directed from one node to another</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28</a:t>
            </a:fld>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7D8D48-5AFF-4C5D-80E4-AE46C1D79A5A}"/>
              </a:ext>
            </a:extLst>
          </p:cNvPr>
          <p:cNvSpPr>
            <a:spLocks noGrp="1"/>
          </p:cNvSpPr>
          <p:nvPr>
            <p:ph type="title"/>
          </p:nvPr>
        </p:nvSpPr>
        <p:spPr/>
        <p:txBody>
          <a:bodyPr>
            <a:normAutofit/>
          </a:bodyPr>
          <a:lstStyle/>
          <a:p>
            <a:r>
              <a:rPr lang="en-US" altLang="zh-CN" sz="3600" dirty="0">
                <a:latin typeface="Palatino Linotype" panose="02040502050505030304" charset="0"/>
              </a:rPr>
              <a:t>What is the process of operating a vending machine? </a:t>
            </a:r>
            <a:endParaRPr lang="zh-CN" altLang="en-US" sz="3600" dirty="0">
              <a:latin typeface="Palatino Linotype" panose="02040502050505030304" charset="0"/>
            </a:endParaRPr>
          </a:p>
        </p:txBody>
      </p:sp>
      <p:sp>
        <p:nvSpPr>
          <p:cNvPr id="3" name="内容占位符 2">
            <a:extLst>
              <a:ext uri="{FF2B5EF4-FFF2-40B4-BE49-F238E27FC236}">
                <a16:creationId xmlns:a16="http://schemas.microsoft.com/office/drawing/2014/main" id="{E2ACDDE3-1E5E-4232-A375-4BB14718E09A}"/>
              </a:ext>
            </a:extLst>
          </p:cNvPr>
          <p:cNvSpPr>
            <a:spLocks noGrp="1"/>
          </p:cNvSpPr>
          <p:nvPr>
            <p:ph idx="1"/>
          </p:nvPr>
        </p:nvSpPr>
        <p:spPr>
          <a:xfrm>
            <a:off x="419442" y="1558552"/>
            <a:ext cx="7886700" cy="4351338"/>
          </a:xfrm>
        </p:spPr>
        <p:txBody>
          <a:bodyPr>
            <a:normAutofit/>
          </a:bodyPr>
          <a:lstStyle/>
          <a:p>
            <a:r>
              <a:rPr lang="en-US" altLang="zh-CN" sz="2200" dirty="0">
                <a:latin typeface="Palatino Linotype" panose="02040502050505030304" charset="0"/>
              </a:rPr>
              <a:t>Suppose a vending machine can only accept 50 cents and 1 yuan coins. How many states are there for the vending machine to purchase a $3 bottle of Coke? </a:t>
            </a:r>
            <a:endParaRPr lang="zh-CN" altLang="en-US" sz="2200" dirty="0">
              <a:latin typeface="Palatino Linotype" panose="02040502050505030304" charset="0"/>
            </a:endParaRPr>
          </a:p>
        </p:txBody>
      </p:sp>
      <p:sp>
        <p:nvSpPr>
          <p:cNvPr id="4" name="日期占位符 3">
            <a:extLst>
              <a:ext uri="{FF2B5EF4-FFF2-40B4-BE49-F238E27FC236}">
                <a16:creationId xmlns:a16="http://schemas.microsoft.com/office/drawing/2014/main" id="{2DE4E113-03BC-40BD-B509-E63E83628BAE}"/>
              </a:ext>
            </a:extLst>
          </p:cNvPr>
          <p:cNvSpPr>
            <a:spLocks noGrp="1"/>
          </p:cNvSpPr>
          <p:nvPr>
            <p:ph type="dt" sz="half" idx="10"/>
          </p:nvPr>
        </p:nvSpPr>
        <p:spPr/>
        <p:txBody>
          <a:bodyPr/>
          <a:lstStyle/>
          <a:p>
            <a:pPr>
              <a:defRPr/>
            </a:pPr>
            <a:r>
              <a:rPr lang="en-US" altLang="zh-CN"/>
              <a:t>Fall 2024</a:t>
            </a:r>
            <a:endParaRPr lang="en-US"/>
          </a:p>
        </p:txBody>
      </p:sp>
      <p:sp>
        <p:nvSpPr>
          <p:cNvPr id="5" name="页脚占位符 4">
            <a:extLst>
              <a:ext uri="{FF2B5EF4-FFF2-40B4-BE49-F238E27FC236}">
                <a16:creationId xmlns:a16="http://schemas.microsoft.com/office/drawing/2014/main" id="{875D6892-26C1-46E3-98CD-44EAA8777880}"/>
              </a:ext>
            </a:extLst>
          </p:cNvPr>
          <p:cNvSpPr>
            <a:spLocks noGrp="1"/>
          </p:cNvSpPr>
          <p:nvPr>
            <p:ph type="ftr" sz="quarter" idx="11"/>
          </p:nvPr>
        </p:nvSpPr>
        <p:spPr/>
        <p:txBody>
          <a:bodyPr/>
          <a:lstStyle/>
          <a:p>
            <a:pPr>
              <a:defRPr/>
            </a:pPr>
            <a:r>
              <a:rPr lang="en-US"/>
              <a:t>BUPT Compilers</a:t>
            </a:r>
          </a:p>
        </p:txBody>
      </p:sp>
      <p:sp>
        <p:nvSpPr>
          <p:cNvPr id="6" name="灯片编号占位符 5">
            <a:extLst>
              <a:ext uri="{FF2B5EF4-FFF2-40B4-BE49-F238E27FC236}">
                <a16:creationId xmlns:a16="http://schemas.microsoft.com/office/drawing/2014/main" id="{18E5E8D8-319B-4B2E-9B30-F4043AA2A54C}"/>
              </a:ext>
            </a:extLst>
          </p:cNvPr>
          <p:cNvSpPr>
            <a:spLocks noGrp="1"/>
          </p:cNvSpPr>
          <p:nvPr>
            <p:ph type="sldNum" sz="quarter" idx="12"/>
          </p:nvPr>
        </p:nvSpPr>
        <p:spPr/>
        <p:txBody>
          <a:bodyPr/>
          <a:lstStyle/>
          <a:p>
            <a:pPr>
              <a:defRPr/>
            </a:pPr>
            <a:fld id="{2FBC720A-3716-234A-B2DF-CBC7E48049F5}" type="slidenum">
              <a:rPr lang="en-US" altLang="zh-CN" smtClean="0"/>
              <a:t>29</a:t>
            </a:fld>
            <a:endParaRPr lang="en-US" altLang="zh-CN"/>
          </a:p>
        </p:txBody>
      </p:sp>
      <p:sp>
        <p:nvSpPr>
          <p:cNvPr id="10" name="文本框 9">
            <a:extLst>
              <a:ext uri="{FF2B5EF4-FFF2-40B4-BE49-F238E27FC236}">
                <a16:creationId xmlns:a16="http://schemas.microsoft.com/office/drawing/2014/main" id="{CA17048F-C17E-413E-8049-1ECC6B8A5A89}"/>
              </a:ext>
            </a:extLst>
          </p:cNvPr>
          <p:cNvSpPr txBox="1"/>
          <p:nvPr/>
        </p:nvSpPr>
        <p:spPr>
          <a:xfrm>
            <a:off x="7928710" y="4304893"/>
            <a:ext cx="1048685" cy="646331"/>
          </a:xfrm>
          <a:prstGeom prst="rect">
            <a:avLst/>
          </a:prstGeom>
          <a:noFill/>
        </p:spPr>
        <p:txBody>
          <a:bodyPr wrap="none" rtlCol="0">
            <a:spAutoFit/>
          </a:bodyPr>
          <a:lstStyle/>
          <a:p>
            <a:r>
              <a:rPr lang="en-US" altLang="zh-CN" dirty="0">
                <a:latin typeface="Palatino Linotype" panose="02040502050505030304" charset="0"/>
              </a:rPr>
              <a:t>y:1yuan</a:t>
            </a:r>
          </a:p>
          <a:p>
            <a:r>
              <a:rPr lang="en-US" altLang="zh-CN" dirty="0">
                <a:latin typeface="Palatino Linotype" panose="02040502050505030304" charset="0"/>
              </a:rPr>
              <a:t>j:50cents</a:t>
            </a:r>
            <a:endParaRPr lang="zh-CN" altLang="en-US" dirty="0">
              <a:latin typeface="Palatino Linotype" panose="02040502050505030304" charset="0"/>
            </a:endParaRPr>
          </a:p>
        </p:txBody>
      </p:sp>
      <p:sp>
        <p:nvSpPr>
          <p:cNvPr id="16" name="椭圆 15">
            <a:extLst>
              <a:ext uri="{FF2B5EF4-FFF2-40B4-BE49-F238E27FC236}">
                <a16:creationId xmlns:a16="http://schemas.microsoft.com/office/drawing/2014/main" id="{4A647893-9AD4-4D02-AFBA-5F111C14A6F0}"/>
              </a:ext>
            </a:extLst>
          </p:cNvPr>
          <p:cNvSpPr/>
          <p:nvPr/>
        </p:nvSpPr>
        <p:spPr>
          <a:xfrm>
            <a:off x="864690" y="4272136"/>
            <a:ext cx="679295" cy="62454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0000"/>
                </a:solidFill>
              </a:rPr>
              <a:t>3</a:t>
            </a:r>
            <a:endParaRPr lang="zh-CN" altLang="en-US" dirty="0">
              <a:solidFill>
                <a:srgbClr val="000000"/>
              </a:solidFill>
            </a:endParaRPr>
          </a:p>
        </p:txBody>
      </p:sp>
      <mc:AlternateContent xmlns:mc="http://schemas.openxmlformats.org/markup-compatibility/2006" xmlns:p14="http://schemas.microsoft.com/office/powerpoint/2010/main">
        <mc:Choice Requires="p14">
          <p:contentPart p14:bwMode="auto" r:id="rId3">
            <p14:nvContentPartPr>
              <p14:cNvPr id="18" name="墨迹 17">
                <a:extLst>
                  <a:ext uri="{FF2B5EF4-FFF2-40B4-BE49-F238E27FC236}">
                    <a16:creationId xmlns:a16="http://schemas.microsoft.com/office/drawing/2014/main" id="{E6272624-2CB8-4023-918B-AEDA8261D072}"/>
                  </a:ext>
                </a:extLst>
              </p14:cNvPr>
              <p14:cNvContentPartPr/>
              <p14:nvPr/>
            </p14:nvContentPartPr>
            <p14:xfrm>
              <a:off x="-393338" y="4558002"/>
              <a:ext cx="8280" cy="8280"/>
            </p14:xfrm>
          </p:contentPart>
        </mc:Choice>
        <mc:Fallback xmlns="">
          <p:pic>
            <p:nvPicPr>
              <p:cNvPr id="18" name="墨迹 17">
                <a:extLst>
                  <a:ext uri="{FF2B5EF4-FFF2-40B4-BE49-F238E27FC236}">
                    <a16:creationId xmlns:a16="http://schemas.microsoft.com/office/drawing/2014/main" id="{E6272624-2CB8-4023-918B-AEDA8261D072}"/>
                  </a:ext>
                </a:extLst>
              </p:cNvPr>
              <p:cNvPicPr/>
              <p:nvPr/>
            </p:nvPicPr>
            <p:blipFill>
              <a:blip r:embed="rId4"/>
              <a:stretch>
                <a:fillRect/>
              </a:stretch>
            </p:blipFill>
            <p:spPr>
              <a:xfrm>
                <a:off x="-410978" y="4540002"/>
                <a:ext cx="43920" cy="43920"/>
              </a:xfrm>
              <a:prstGeom prst="rect">
                <a:avLst/>
              </a:prstGeom>
            </p:spPr>
          </p:pic>
        </mc:Fallback>
      </mc:AlternateContent>
      <p:sp>
        <p:nvSpPr>
          <p:cNvPr id="22" name="椭圆 21">
            <a:extLst>
              <a:ext uri="{FF2B5EF4-FFF2-40B4-BE49-F238E27FC236}">
                <a16:creationId xmlns:a16="http://schemas.microsoft.com/office/drawing/2014/main" id="{965B03D0-4147-4655-8295-27FAF2040E1C}"/>
              </a:ext>
            </a:extLst>
          </p:cNvPr>
          <p:cNvSpPr/>
          <p:nvPr/>
        </p:nvSpPr>
        <p:spPr>
          <a:xfrm>
            <a:off x="1912762" y="4272136"/>
            <a:ext cx="679295" cy="62454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0000"/>
                </a:solidFill>
              </a:rPr>
              <a:t>2.5</a:t>
            </a:r>
            <a:endParaRPr lang="zh-CN" altLang="en-US" dirty="0">
              <a:solidFill>
                <a:srgbClr val="000000"/>
              </a:solidFill>
            </a:endParaRPr>
          </a:p>
        </p:txBody>
      </p:sp>
      <p:sp>
        <p:nvSpPr>
          <p:cNvPr id="23" name="椭圆 22">
            <a:extLst>
              <a:ext uri="{FF2B5EF4-FFF2-40B4-BE49-F238E27FC236}">
                <a16:creationId xmlns:a16="http://schemas.microsoft.com/office/drawing/2014/main" id="{3074B531-0FB7-4E44-882C-840396F489E6}"/>
              </a:ext>
            </a:extLst>
          </p:cNvPr>
          <p:cNvSpPr/>
          <p:nvPr/>
        </p:nvSpPr>
        <p:spPr>
          <a:xfrm>
            <a:off x="2960834" y="4272136"/>
            <a:ext cx="679295" cy="62454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0000"/>
                </a:solidFill>
              </a:rPr>
              <a:t>2</a:t>
            </a:r>
            <a:endParaRPr lang="zh-CN" altLang="en-US" dirty="0">
              <a:solidFill>
                <a:srgbClr val="000000"/>
              </a:solidFill>
            </a:endParaRPr>
          </a:p>
        </p:txBody>
      </p:sp>
      <p:sp>
        <p:nvSpPr>
          <p:cNvPr id="24" name="椭圆 23">
            <a:extLst>
              <a:ext uri="{FF2B5EF4-FFF2-40B4-BE49-F238E27FC236}">
                <a16:creationId xmlns:a16="http://schemas.microsoft.com/office/drawing/2014/main" id="{A6C1AFD3-1EBA-4978-B7C1-9940D0B44955}"/>
              </a:ext>
            </a:extLst>
          </p:cNvPr>
          <p:cNvSpPr/>
          <p:nvPr/>
        </p:nvSpPr>
        <p:spPr>
          <a:xfrm>
            <a:off x="4008906" y="4272136"/>
            <a:ext cx="679295" cy="62454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0000"/>
                </a:solidFill>
              </a:rPr>
              <a:t>1.5</a:t>
            </a:r>
            <a:endParaRPr lang="zh-CN" altLang="en-US" dirty="0">
              <a:solidFill>
                <a:srgbClr val="000000"/>
              </a:solidFill>
            </a:endParaRPr>
          </a:p>
        </p:txBody>
      </p:sp>
      <p:sp>
        <p:nvSpPr>
          <p:cNvPr id="25" name="椭圆 24">
            <a:extLst>
              <a:ext uri="{FF2B5EF4-FFF2-40B4-BE49-F238E27FC236}">
                <a16:creationId xmlns:a16="http://schemas.microsoft.com/office/drawing/2014/main" id="{4F6395F6-4D9B-49D8-8767-CD63A01B2888}"/>
              </a:ext>
            </a:extLst>
          </p:cNvPr>
          <p:cNvSpPr/>
          <p:nvPr/>
        </p:nvSpPr>
        <p:spPr>
          <a:xfrm>
            <a:off x="5056978" y="4272136"/>
            <a:ext cx="679295" cy="62454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0000"/>
                </a:solidFill>
              </a:rPr>
              <a:t>1</a:t>
            </a:r>
            <a:endParaRPr lang="zh-CN" altLang="en-US" dirty="0">
              <a:solidFill>
                <a:srgbClr val="000000"/>
              </a:solidFill>
            </a:endParaRPr>
          </a:p>
        </p:txBody>
      </p:sp>
      <p:sp>
        <p:nvSpPr>
          <p:cNvPr id="26" name="椭圆 25">
            <a:extLst>
              <a:ext uri="{FF2B5EF4-FFF2-40B4-BE49-F238E27FC236}">
                <a16:creationId xmlns:a16="http://schemas.microsoft.com/office/drawing/2014/main" id="{2F4E1DA5-9161-4F25-9221-895826803294}"/>
              </a:ext>
            </a:extLst>
          </p:cNvPr>
          <p:cNvSpPr/>
          <p:nvPr/>
        </p:nvSpPr>
        <p:spPr>
          <a:xfrm>
            <a:off x="6105050" y="4272136"/>
            <a:ext cx="679295" cy="62454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0000"/>
                </a:solidFill>
              </a:rPr>
              <a:t>0.5</a:t>
            </a:r>
            <a:endParaRPr lang="zh-CN" altLang="en-US" dirty="0">
              <a:solidFill>
                <a:srgbClr val="000000"/>
              </a:solidFill>
            </a:endParaRPr>
          </a:p>
        </p:txBody>
      </p:sp>
      <mc:AlternateContent xmlns:mc="http://schemas.openxmlformats.org/markup-compatibility/2006" xmlns:p14="http://schemas.microsoft.com/office/powerpoint/2010/main">
        <mc:Choice Requires="p14">
          <p:contentPart p14:bwMode="auto" r:id="rId5">
            <p14:nvContentPartPr>
              <p14:cNvPr id="44" name="墨迹 43">
                <a:extLst>
                  <a:ext uri="{FF2B5EF4-FFF2-40B4-BE49-F238E27FC236}">
                    <a16:creationId xmlns:a16="http://schemas.microsoft.com/office/drawing/2014/main" id="{0912BB3A-DE11-4AC1-9D14-5F449E3EEFAC}"/>
                  </a:ext>
                </a:extLst>
              </p14:cNvPr>
              <p14:cNvContentPartPr/>
              <p14:nvPr/>
            </p14:nvContentPartPr>
            <p14:xfrm>
              <a:off x="5719110" y="5082246"/>
              <a:ext cx="45719" cy="45719"/>
            </p14:xfrm>
          </p:contentPart>
        </mc:Choice>
        <mc:Fallback xmlns="">
          <p:pic>
            <p:nvPicPr>
              <p:cNvPr id="44" name="墨迹 43">
                <a:extLst>
                  <a:ext uri="{FF2B5EF4-FFF2-40B4-BE49-F238E27FC236}">
                    <a16:creationId xmlns:a16="http://schemas.microsoft.com/office/drawing/2014/main" id="{0912BB3A-DE11-4AC1-9D14-5F449E3EEFAC}"/>
                  </a:ext>
                </a:extLst>
              </p:cNvPr>
              <p:cNvPicPr/>
              <p:nvPr/>
            </p:nvPicPr>
            <p:blipFill>
              <a:blip r:embed="rId6"/>
              <a:stretch>
                <a:fillRect/>
              </a:stretch>
            </p:blipFill>
            <p:spPr>
              <a:xfrm>
                <a:off x="5704959" y="5072736"/>
                <a:ext cx="74021" cy="64372"/>
              </a:xfrm>
              <a:prstGeom prst="rect">
                <a:avLst/>
              </a:prstGeom>
            </p:spPr>
          </p:pic>
        </mc:Fallback>
      </mc:AlternateContent>
      <p:sp>
        <p:nvSpPr>
          <p:cNvPr id="64" name="任意多边形: 形状 63">
            <a:extLst>
              <a:ext uri="{FF2B5EF4-FFF2-40B4-BE49-F238E27FC236}">
                <a16:creationId xmlns:a16="http://schemas.microsoft.com/office/drawing/2014/main" id="{8327702A-D272-4906-BC04-2E80764FC08E}"/>
              </a:ext>
            </a:extLst>
          </p:cNvPr>
          <p:cNvSpPr/>
          <p:nvPr/>
        </p:nvSpPr>
        <p:spPr>
          <a:xfrm>
            <a:off x="1174319" y="3811694"/>
            <a:ext cx="1930135" cy="482654"/>
          </a:xfrm>
          <a:custGeom>
            <a:avLst/>
            <a:gdLst>
              <a:gd name="connsiteX0" fmla="*/ 0 w 1031358"/>
              <a:gd name="connsiteY0" fmla="*/ 308351 h 308351"/>
              <a:gd name="connsiteX1" fmla="*/ 552893 w 1031358"/>
              <a:gd name="connsiteY1" fmla="*/ 7 h 308351"/>
              <a:gd name="connsiteX2" fmla="*/ 1031358 w 1031358"/>
              <a:gd name="connsiteY2" fmla="*/ 297718 h 308351"/>
              <a:gd name="connsiteX3" fmla="*/ 1031358 w 1031358"/>
              <a:gd name="connsiteY3" fmla="*/ 297718 h 308351"/>
            </a:gdLst>
            <a:ahLst/>
            <a:cxnLst>
              <a:cxn ang="0">
                <a:pos x="connsiteX0" y="connsiteY0"/>
              </a:cxn>
              <a:cxn ang="0">
                <a:pos x="connsiteX1" y="connsiteY1"/>
              </a:cxn>
              <a:cxn ang="0">
                <a:pos x="connsiteX2" y="connsiteY2"/>
              </a:cxn>
              <a:cxn ang="0">
                <a:pos x="connsiteX3" y="connsiteY3"/>
              </a:cxn>
            </a:cxnLst>
            <a:rect l="l" t="t" r="r" b="b"/>
            <a:pathLst>
              <a:path w="1031358" h="308351">
                <a:moveTo>
                  <a:pt x="0" y="308351"/>
                </a:moveTo>
                <a:cubicBezTo>
                  <a:pt x="190500" y="155065"/>
                  <a:pt x="381000" y="1779"/>
                  <a:pt x="552893" y="7"/>
                </a:cubicBezTo>
                <a:cubicBezTo>
                  <a:pt x="724786" y="-1765"/>
                  <a:pt x="1031358" y="297718"/>
                  <a:pt x="1031358" y="297718"/>
                </a:cubicBezTo>
                <a:lnTo>
                  <a:pt x="1031358" y="297718"/>
                </a:lnTo>
              </a:path>
            </a:pathLst>
          </a:custGeom>
          <a:noFill/>
          <a:ln w="2857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5" name="直接箭头连接符 64">
            <a:extLst>
              <a:ext uri="{FF2B5EF4-FFF2-40B4-BE49-F238E27FC236}">
                <a16:creationId xmlns:a16="http://schemas.microsoft.com/office/drawing/2014/main" id="{68B14A80-DCA8-48C4-B479-346E2A46B2E6}"/>
              </a:ext>
            </a:extLst>
          </p:cNvPr>
          <p:cNvCxnSpPr>
            <a:cxnSpLocks/>
            <a:stCxn id="16" idx="6"/>
            <a:endCxn id="22" idx="2"/>
          </p:cNvCxnSpPr>
          <p:nvPr/>
        </p:nvCxnSpPr>
        <p:spPr>
          <a:xfrm>
            <a:off x="1543985" y="4584409"/>
            <a:ext cx="36877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任意多边形: 形状 65">
            <a:extLst>
              <a:ext uri="{FF2B5EF4-FFF2-40B4-BE49-F238E27FC236}">
                <a16:creationId xmlns:a16="http://schemas.microsoft.com/office/drawing/2014/main" id="{EF8AA5FC-E258-448E-992F-804BD3BFAA04}"/>
              </a:ext>
            </a:extLst>
          </p:cNvPr>
          <p:cNvSpPr/>
          <p:nvPr/>
        </p:nvSpPr>
        <p:spPr>
          <a:xfrm>
            <a:off x="3355590" y="3811693"/>
            <a:ext cx="1979219" cy="450748"/>
          </a:xfrm>
          <a:custGeom>
            <a:avLst/>
            <a:gdLst>
              <a:gd name="connsiteX0" fmla="*/ 0 w 1031358"/>
              <a:gd name="connsiteY0" fmla="*/ 308351 h 308351"/>
              <a:gd name="connsiteX1" fmla="*/ 552893 w 1031358"/>
              <a:gd name="connsiteY1" fmla="*/ 7 h 308351"/>
              <a:gd name="connsiteX2" fmla="*/ 1031358 w 1031358"/>
              <a:gd name="connsiteY2" fmla="*/ 297718 h 308351"/>
              <a:gd name="connsiteX3" fmla="*/ 1031358 w 1031358"/>
              <a:gd name="connsiteY3" fmla="*/ 297718 h 308351"/>
            </a:gdLst>
            <a:ahLst/>
            <a:cxnLst>
              <a:cxn ang="0">
                <a:pos x="connsiteX0" y="connsiteY0"/>
              </a:cxn>
              <a:cxn ang="0">
                <a:pos x="connsiteX1" y="connsiteY1"/>
              </a:cxn>
              <a:cxn ang="0">
                <a:pos x="connsiteX2" y="connsiteY2"/>
              </a:cxn>
              <a:cxn ang="0">
                <a:pos x="connsiteX3" y="connsiteY3"/>
              </a:cxn>
            </a:cxnLst>
            <a:rect l="l" t="t" r="r" b="b"/>
            <a:pathLst>
              <a:path w="1031358" h="308351">
                <a:moveTo>
                  <a:pt x="0" y="308351"/>
                </a:moveTo>
                <a:cubicBezTo>
                  <a:pt x="190500" y="155065"/>
                  <a:pt x="381000" y="1779"/>
                  <a:pt x="552893" y="7"/>
                </a:cubicBezTo>
                <a:cubicBezTo>
                  <a:pt x="724786" y="-1765"/>
                  <a:pt x="1031358" y="297718"/>
                  <a:pt x="1031358" y="297718"/>
                </a:cubicBezTo>
                <a:lnTo>
                  <a:pt x="1031358" y="297718"/>
                </a:lnTo>
              </a:path>
            </a:pathLst>
          </a:custGeom>
          <a:noFill/>
          <a:ln w="2857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任意多边形: 形状 66">
            <a:extLst>
              <a:ext uri="{FF2B5EF4-FFF2-40B4-BE49-F238E27FC236}">
                <a16:creationId xmlns:a16="http://schemas.microsoft.com/office/drawing/2014/main" id="{513687A6-6EA2-4AED-A19A-223EF5B6935A}"/>
              </a:ext>
            </a:extLst>
          </p:cNvPr>
          <p:cNvSpPr/>
          <p:nvPr/>
        </p:nvSpPr>
        <p:spPr>
          <a:xfrm>
            <a:off x="5507431" y="3811693"/>
            <a:ext cx="1979219" cy="450748"/>
          </a:xfrm>
          <a:custGeom>
            <a:avLst/>
            <a:gdLst>
              <a:gd name="connsiteX0" fmla="*/ 0 w 1031358"/>
              <a:gd name="connsiteY0" fmla="*/ 308351 h 308351"/>
              <a:gd name="connsiteX1" fmla="*/ 552893 w 1031358"/>
              <a:gd name="connsiteY1" fmla="*/ 7 h 308351"/>
              <a:gd name="connsiteX2" fmla="*/ 1031358 w 1031358"/>
              <a:gd name="connsiteY2" fmla="*/ 297718 h 308351"/>
              <a:gd name="connsiteX3" fmla="*/ 1031358 w 1031358"/>
              <a:gd name="connsiteY3" fmla="*/ 297718 h 308351"/>
            </a:gdLst>
            <a:ahLst/>
            <a:cxnLst>
              <a:cxn ang="0">
                <a:pos x="connsiteX0" y="connsiteY0"/>
              </a:cxn>
              <a:cxn ang="0">
                <a:pos x="connsiteX1" y="connsiteY1"/>
              </a:cxn>
              <a:cxn ang="0">
                <a:pos x="connsiteX2" y="connsiteY2"/>
              </a:cxn>
              <a:cxn ang="0">
                <a:pos x="connsiteX3" y="connsiteY3"/>
              </a:cxn>
            </a:cxnLst>
            <a:rect l="l" t="t" r="r" b="b"/>
            <a:pathLst>
              <a:path w="1031358" h="308351">
                <a:moveTo>
                  <a:pt x="0" y="308351"/>
                </a:moveTo>
                <a:cubicBezTo>
                  <a:pt x="190500" y="155065"/>
                  <a:pt x="381000" y="1779"/>
                  <a:pt x="552893" y="7"/>
                </a:cubicBezTo>
                <a:cubicBezTo>
                  <a:pt x="724786" y="-1765"/>
                  <a:pt x="1031358" y="297718"/>
                  <a:pt x="1031358" y="297718"/>
                </a:cubicBezTo>
                <a:lnTo>
                  <a:pt x="1031358" y="297718"/>
                </a:lnTo>
              </a:path>
            </a:pathLst>
          </a:custGeom>
          <a:noFill/>
          <a:ln w="2857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a:extLst>
              <a:ext uri="{FF2B5EF4-FFF2-40B4-BE49-F238E27FC236}">
                <a16:creationId xmlns:a16="http://schemas.microsoft.com/office/drawing/2014/main" id="{59CE738F-22D6-463C-97E6-1D756A502E73}"/>
              </a:ext>
            </a:extLst>
          </p:cNvPr>
          <p:cNvSpPr/>
          <p:nvPr/>
        </p:nvSpPr>
        <p:spPr>
          <a:xfrm>
            <a:off x="7153123" y="4272136"/>
            <a:ext cx="679295" cy="62454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0000"/>
                </a:solidFill>
              </a:rPr>
              <a:t>0</a:t>
            </a:r>
            <a:endParaRPr lang="zh-CN" altLang="en-US" dirty="0">
              <a:solidFill>
                <a:srgbClr val="000000"/>
              </a:solidFill>
            </a:endParaRPr>
          </a:p>
        </p:txBody>
      </p:sp>
      <p:cxnSp>
        <p:nvCxnSpPr>
          <p:cNvPr id="83" name="直接箭头连接符 82">
            <a:extLst>
              <a:ext uri="{FF2B5EF4-FFF2-40B4-BE49-F238E27FC236}">
                <a16:creationId xmlns:a16="http://schemas.microsoft.com/office/drawing/2014/main" id="{00756CFB-643A-4A7F-B6B7-6C7A8406DD78}"/>
              </a:ext>
            </a:extLst>
          </p:cNvPr>
          <p:cNvCxnSpPr>
            <a:cxnSpLocks/>
          </p:cNvCxnSpPr>
          <p:nvPr/>
        </p:nvCxnSpPr>
        <p:spPr>
          <a:xfrm>
            <a:off x="3640129" y="4584408"/>
            <a:ext cx="36877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B3E01DB9-FDAB-4D36-918F-9846C7C2453A}"/>
              </a:ext>
            </a:extLst>
          </p:cNvPr>
          <p:cNvCxnSpPr>
            <a:cxnSpLocks/>
          </p:cNvCxnSpPr>
          <p:nvPr/>
        </p:nvCxnSpPr>
        <p:spPr>
          <a:xfrm>
            <a:off x="4688201" y="4584408"/>
            <a:ext cx="36877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5C462482-6568-486E-BFA8-5C0E6C28D871}"/>
              </a:ext>
            </a:extLst>
          </p:cNvPr>
          <p:cNvCxnSpPr>
            <a:cxnSpLocks/>
          </p:cNvCxnSpPr>
          <p:nvPr/>
        </p:nvCxnSpPr>
        <p:spPr>
          <a:xfrm>
            <a:off x="5736273" y="4584408"/>
            <a:ext cx="36877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a:extLst>
              <a:ext uri="{FF2B5EF4-FFF2-40B4-BE49-F238E27FC236}">
                <a16:creationId xmlns:a16="http://schemas.microsoft.com/office/drawing/2014/main" id="{3E120488-17E2-473D-843B-8E4B77A98969}"/>
              </a:ext>
            </a:extLst>
          </p:cNvPr>
          <p:cNvCxnSpPr>
            <a:cxnSpLocks/>
          </p:cNvCxnSpPr>
          <p:nvPr/>
        </p:nvCxnSpPr>
        <p:spPr>
          <a:xfrm>
            <a:off x="6784345" y="4584408"/>
            <a:ext cx="36877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7F7F0365-6BD9-4803-ACD8-0AF1BDB8258A}"/>
              </a:ext>
            </a:extLst>
          </p:cNvPr>
          <p:cNvCxnSpPr>
            <a:cxnSpLocks/>
          </p:cNvCxnSpPr>
          <p:nvPr/>
        </p:nvCxnSpPr>
        <p:spPr>
          <a:xfrm>
            <a:off x="2600737" y="4584408"/>
            <a:ext cx="36877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任意多边形: 形状 87">
            <a:extLst>
              <a:ext uri="{FF2B5EF4-FFF2-40B4-BE49-F238E27FC236}">
                <a16:creationId xmlns:a16="http://schemas.microsoft.com/office/drawing/2014/main" id="{88599880-B15A-4E6D-A952-ECF4A7999CF1}"/>
              </a:ext>
            </a:extLst>
          </p:cNvPr>
          <p:cNvSpPr/>
          <p:nvPr/>
        </p:nvSpPr>
        <p:spPr>
          <a:xfrm rot="10800000">
            <a:off x="2298260" y="4900406"/>
            <a:ext cx="1979219" cy="450748"/>
          </a:xfrm>
          <a:custGeom>
            <a:avLst/>
            <a:gdLst>
              <a:gd name="connsiteX0" fmla="*/ 0 w 1031358"/>
              <a:gd name="connsiteY0" fmla="*/ 308351 h 308351"/>
              <a:gd name="connsiteX1" fmla="*/ 552893 w 1031358"/>
              <a:gd name="connsiteY1" fmla="*/ 7 h 308351"/>
              <a:gd name="connsiteX2" fmla="*/ 1031358 w 1031358"/>
              <a:gd name="connsiteY2" fmla="*/ 297718 h 308351"/>
              <a:gd name="connsiteX3" fmla="*/ 1031358 w 1031358"/>
              <a:gd name="connsiteY3" fmla="*/ 297718 h 308351"/>
            </a:gdLst>
            <a:ahLst/>
            <a:cxnLst>
              <a:cxn ang="0">
                <a:pos x="connsiteX0" y="connsiteY0"/>
              </a:cxn>
              <a:cxn ang="0">
                <a:pos x="connsiteX1" y="connsiteY1"/>
              </a:cxn>
              <a:cxn ang="0">
                <a:pos x="connsiteX2" y="connsiteY2"/>
              </a:cxn>
              <a:cxn ang="0">
                <a:pos x="connsiteX3" y="connsiteY3"/>
              </a:cxn>
            </a:cxnLst>
            <a:rect l="l" t="t" r="r" b="b"/>
            <a:pathLst>
              <a:path w="1031358" h="308351">
                <a:moveTo>
                  <a:pt x="0" y="308351"/>
                </a:moveTo>
                <a:cubicBezTo>
                  <a:pt x="190500" y="155065"/>
                  <a:pt x="381000" y="1779"/>
                  <a:pt x="552893" y="7"/>
                </a:cubicBezTo>
                <a:cubicBezTo>
                  <a:pt x="724786" y="-1765"/>
                  <a:pt x="1031358" y="297718"/>
                  <a:pt x="1031358" y="297718"/>
                </a:cubicBezTo>
                <a:lnTo>
                  <a:pt x="1031358" y="297718"/>
                </a:lnTo>
              </a:path>
            </a:pathLst>
          </a:custGeom>
          <a:noFill/>
          <a:ln w="28575">
            <a:solidFill>
              <a:schemeClr val="tx1"/>
            </a:solidFill>
            <a:headEnd type="arrow"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任意多边形: 形状 88">
            <a:extLst>
              <a:ext uri="{FF2B5EF4-FFF2-40B4-BE49-F238E27FC236}">
                <a16:creationId xmlns:a16="http://schemas.microsoft.com/office/drawing/2014/main" id="{FBD59B99-9066-49E5-9FB7-B39D73BB66B1}"/>
              </a:ext>
            </a:extLst>
          </p:cNvPr>
          <p:cNvSpPr/>
          <p:nvPr/>
        </p:nvSpPr>
        <p:spPr>
          <a:xfrm rot="10800000">
            <a:off x="4448851" y="4910560"/>
            <a:ext cx="1979219" cy="450748"/>
          </a:xfrm>
          <a:custGeom>
            <a:avLst/>
            <a:gdLst>
              <a:gd name="connsiteX0" fmla="*/ 0 w 1031358"/>
              <a:gd name="connsiteY0" fmla="*/ 308351 h 308351"/>
              <a:gd name="connsiteX1" fmla="*/ 552893 w 1031358"/>
              <a:gd name="connsiteY1" fmla="*/ 7 h 308351"/>
              <a:gd name="connsiteX2" fmla="*/ 1031358 w 1031358"/>
              <a:gd name="connsiteY2" fmla="*/ 297718 h 308351"/>
              <a:gd name="connsiteX3" fmla="*/ 1031358 w 1031358"/>
              <a:gd name="connsiteY3" fmla="*/ 297718 h 308351"/>
            </a:gdLst>
            <a:ahLst/>
            <a:cxnLst>
              <a:cxn ang="0">
                <a:pos x="connsiteX0" y="connsiteY0"/>
              </a:cxn>
              <a:cxn ang="0">
                <a:pos x="connsiteX1" y="connsiteY1"/>
              </a:cxn>
              <a:cxn ang="0">
                <a:pos x="connsiteX2" y="connsiteY2"/>
              </a:cxn>
              <a:cxn ang="0">
                <a:pos x="connsiteX3" y="connsiteY3"/>
              </a:cxn>
            </a:cxnLst>
            <a:rect l="l" t="t" r="r" b="b"/>
            <a:pathLst>
              <a:path w="1031358" h="308351">
                <a:moveTo>
                  <a:pt x="0" y="308351"/>
                </a:moveTo>
                <a:cubicBezTo>
                  <a:pt x="190500" y="155065"/>
                  <a:pt x="381000" y="1779"/>
                  <a:pt x="552893" y="7"/>
                </a:cubicBezTo>
                <a:cubicBezTo>
                  <a:pt x="724786" y="-1765"/>
                  <a:pt x="1031358" y="297718"/>
                  <a:pt x="1031358" y="297718"/>
                </a:cubicBezTo>
                <a:lnTo>
                  <a:pt x="1031358" y="297718"/>
                </a:lnTo>
              </a:path>
            </a:pathLst>
          </a:custGeom>
          <a:noFill/>
          <a:ln w="28575">
            <a:solidFill>
              <a:schemeClr val="tx1"/>
            </a:solidFill>
            <a:headEnd type="arrow"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文本框 89">
            <a:extLst>
              <a:ext uri="{FF2B5EF4-FFF2-40B4-BE49-F238E27FC236}">
                <a16:creationId xmlns:a16="http://schemas.microsoft.com/office/drawing/2014/main" id="{55761EF2-813C-4262-A0ED-B24C88E34F75}"/>
              </a:ext>
            </a:extLst>
          </p:cNvPr>
          <p:cNvSpPr txBox="1"/>
          <p:nvPr/>
        </p:nvSpPr>
        <p:spPr>
          <a:xfrm>
            <a:off x="2656714" y="4149920"/>
            <a:ext cx="239168" cy="369332"/>
          </a:xfrm>
          <a:prstGeom prst="rect">
            <a:avLst/>
          </a:prstGeom>
          <a:noFill/>
        </p:spPr>
        <p:txBody>
          <a:bodyPr wrap="none" rtlCol="0">
            <a:spAutoFit/>
          </a:bodyPr>
          <a:lstStyle/>
          <a:p>
            <a:r>
              <a:rPr lang="en-US" altLang="zh-CN" dirty="0"/>
              <a:t>j</a:t>
            </a:r>
          </a:p>
        </p:txBody>
      </p:sp>
      <p:sp>
        <p:nvSpPr>
          <p:cNvPr id="91" name="文本框 90">
            <a:extLst>
              <a:ext uri="{FF2B5EF4-FFF2-40B4-BE49-F238E27FC236}">
                <a16:creationId xmlns:a16="http://schemas.microsoft.com/office/drawing/2014/main" id="{FEF07B6B-CAD1-4DFF-8057-59BA605CB657}"/>
              </a:ext>
            </a:extLst>
          </p:cNvPr>
          <p:cNvSpPr txBox="1"/>
          <p:nvPr/>
        </p:nvSpPr>
        <p:spPr>
          <a:xfrm>
            <a:off x="5274310" y="4926582"/>
            <a:ext cx="288862" cy="369332"/>
          </a:xfrm>
          <a:prstGeom prst="rect">
            <a:avLst/>
          </a:prstGeom>
          <a:noFill/>
        </p:spPr>
        <p:txBody>
          <a:bodyPr wrap="none" rtlCol="0">
            <a:spAutoFit/>
          </a:bodyPr>
          <a:lstStyle/>
          <a:p>
            <a:r>
              <a:rPr lang="en-US" altLang="zh-CN" dirty="0"/>
              <a:t>y</a:t>
            </a:r>
            <a:endParaRPr lang="zh-CN" altLang="en-US" dirty="0"/>
          </a:p>
        </p:txBody>
      </p:sp>
      <p:sp>
        <p:nvSpPr>
          <p:cNvPr id="92" name="文本框 91">
            <a:extLst>
              <a:ext uri="{FF2B5EF4-FFF2-40B4-BE49-F238E27FC236}">
                <a16:creationId xmlns:a16="http://schemas.microsoft.com/office/drawing/2014/main" id="{FD236179-1B55-4052-B8FA-6EF56F0F3173}"/>
              </a:ext>
            </a:extLst>
          </p:cNvPr>
          <p:cNvSpPr txBox="1"/>
          <p:nvPr/>
        </p:nvSpPr>
        <p:spPr>
          <a:xfrm>
            <a:off x="3104454" y="4996104"/>
            <a:ext cx="288862" cy="369332"/>
          </a:xfrm>
          <a:prstGeom prst="rect">
            <a:avLst/>
          </a:prstGeom>
          <a:noFill/>
        </p:spPr>
        <p:txBody>
          <a:bodyPr wrap="none" rtlCol="0">
            <a:spAutoFit/>
          </a:bodyPr>
          <a:lstStyle/>
          <a:p>
            <a:r>
              <a:rPr lang="en-US" altLang="zh-CN" dirty="0"/>
              <a:t>y</a:t>
            </a:r>
            <a:endParaRPr lang="zh-CN" altLang="en-US" dirty="0"/>
          </a:p>
        </p:txBody>
      </p:sp>
      <p:sp>
        <p:nvSpPr>
          <p:cNvPr id="93" name="文本框 92">
            <a:extLst>
              <a:ext uri="{FF2B5EF4-FFF2-40B4-BE49-F238E27FC236}">
                <a16:creationId xmlns:a16="http://schemas.microsoft.com/office/drawing/2014/main" id="{B2724D09-CA63-4E4C-94ED-693405C477FA}"/>
              </a:ext>
            </a:extLst>
          </p:cNvPr>
          <p:cNvSpPr txBox="1"/>
          <p:nvPr/>
        </p:nvSpPr>
        <p:spPr>
          <a:xfrm>
            <a:off x="6495483" y="3428482"/>
            <a:ext cx="288862" cy="369332"/>
          </a:xfrm>
          <a:prstGeom prst="rect">
            <a:avLst/>
          </a:prstGeom>
          <a:noFill/>
        </p:spPr>
        <p:txBody>
          <a:bodyPr wrap="none" rtlCol="0">
            <a:spAutoFit/>
          </a:bodyPr>
          <a:lstStyle/>
          <a:p>
            <a:r>
              <a:rPr lang="en-US" altLang="zh-CN" dirty="0"/>
              <a:t>y</a:t>
            </a:r>
            <a:endParaRPr lang="zh-CN" altLang="en-US" dirty="0"/>
          </a:p>
        </p:txBody>
      </p:sp>
      <p:sp>
        <p:nvSpPr>
          <p:cNvPr id="94" name="文本框 93">
            <a:extLst>
              <a:ext uri="{FF2B5EF4-FFF2-40B4-BE49-F238E27FC236}">
                <a16:creationId xmlns:a16="http://schemas.microsoft.com/office/drawing/2014/main" id="{663B81D1-B67A-4E46-8349-DB2A39431146}"/>
              </a:ext>
            </a:extLst>
          </p:cNvPr>
          <p:cNvSpPr txBox="1"/>
          <p:nvPr/>
        </p:nvSpPr>
        <p:spPr>
          <a:xfrm>
            <a:off x="2009397" y="3433386"/>
            <a:ext cx="288862" cy="369332"/>
          </a:xfrm>
          <a:prstGeom prst="rect">
            <a:avLst/>
          </a:prstGeom>
          <a:noFill/>
        </p:spPr>
        <p:txBody>
          <a:bodyPr wrap="none" rtlCol="0">
            <a:spAutoFit/>
          </a:bodyPr>
          <a:lstStyle/>
          <a:p>
            <a:r>
              <a:rPr lang="en-US" altLang="zh-CN" dirty="0"/>
              <a:t>y</a:t>
            </a:r>
            <a:endParaRPr lang="zh-CN" altLang="en-US" dirty="0"/>
          </a:p>
        </p:txBody>
      </p:sp>
      <p:sp>
        <p:nvSpPr>
          <p:cNvPr id="95" name="文本框 94">
            <a:extLst>
              <a:ext uri="{FF2B5EF4-FFF2-40B4-BE49-F238E27FC236}">
                <a16:creationId xmlns:a16="http://schemas.microsoft.com/office/drawing/2014/main" id="{214299C2-8747-43D0-BAC7-C56D77F87A01}"/>
              </a:ext>
            </a:extLst>
          </p:cNvPr>
          <p:cNvSpPr txBox="1"/>
          <p:nvPr/>
        </p:nvSpPr>
        <p:spPr>
          <a:xfrm>
            <a:off x="4220840" y="3451550"/>
            <a:ext cx="288862" cy="369332"/>
          </a:xfrm>
          <a:prstGeom prst="rect">
            <a:avLst/>
          </a:prstGeom>
          <a:noFill/>
        </p:spPr>
        <p:txBody>
          <a:bodyPr wrap="none" rtlCol="0">
            <a:spAutoFit/>
          </a:bodyPr>
          <a:lstStyle/>
          <a:p>
            <a:r>
              <a:rPr lang="en-US" altLang="zh-CN" dirty="0"/>
              <a:t>y</a:t>
            </a:r>
            <a:endParaRPr lang="zh-CN" altLang="en-US" dirty="0"/>
          </a:p>
        </p:txBody>
      </p:sp>
      <p:sp>
        <p:nvSpPr>
          <p:cNvPr id="96" name="文本框 95">
            <a:extLst>
              <a:ext uri="{FF2B5EF4-FFF2-40B4-BE49-F238E27FC236}">
                <a16:creationId xmlns:a16="http://schemas.microsoft.com/office/drawing/2014/main" id="{C4EC2D13-6FA0-4885-A382-D77268B6F75E}"/>
              </a:ext>
            </a:extLst>
          </p:cNvPr>
          <p:cNvSpPr txBox="1"/>
          <p:nvPr/>
        </p:nvSpPr>
        <p:spPr>
          <a:xfrm>
            <a:off x="3720318" y="4229359"/>
            <a:ext cx="239168" cy="369332"/>
          </a:xfrm>
          <a:prstGeom prst="rect">
            <a:avLst/>
          </a:prstGeom>
          <a:noFill/>
        </p:spPr>
        <p:txBody>
          <a:bodyPr wrap="none" rtlCol="0">
            <a:spAutoFit/>
          </a:bodyPr>
          <a:lstStyle/>
          <a:p>
            <a:r>
              <a:rPr lang="en-US" altLang="zh-CN" dirty="0"/>
              <a:t>j</a:t>
            </a:r>
          </a:p>
        </p:txBody>
      </p:sp>
      <p:sp>
        <p:nvSpPr>
          <p:cNvPr id="97" name="文本框 96">
            <a:extLst>
              <a:ext uri="{FF2B5EF4-FFF2-40B4-BE49-F238E27FC236}">
                <a16:creationId xmlns:a16="http://schemas.microsoft.com/office/drawing/2014/main" id="{4017B99C-3B23-499B-9A01-43DF831728CE}"/>
              </a:ext>
            </a:extLst>
          </p:cNvPr>
          <p:cNvSpPr txBox="1"/>
          <p:nvPr/>
        </p:nvSpPr>
        <p:spPr>
          <a:xfrm>
            <a:off x="4696081" y="4167206"/>
            <a:ext cx="239168" cy="369332"/>
          </a:xfrm>
          <a:prstGeom prst="rect">
            <a:avLst/>
          </a:prstGeom>
          <a:noFill/>
        </p:spPr>
        <p:txBody>
          <a:bodyPr wrap="none" rtlCol="0">
            <a:spAutoFit/>
          </a:bodyPr>
          <a:lstStyle/>
          <a:p>
            <a:r>
              <a:rPr lang="en-US" altLang="zh-CN" dirty="0"/>
              <a:t>j</a:t>
            </a:r>
          </a:p>
        </p:txBody>
      </p:sp>
      <p:sp>
        <p:nvSpPr>
          <p:cNvPr id="98" name="文本框 97">
            <a:extLst>
              <a:ext uri="{FF2B5EF4-FFF2-40B4-BE49-F238E27FC236}">
                <a16:creationId xmlns:a16="http://schemas.microsoft.com/office/drawing/2014/main" id="{C45BCC06-6AB1-4E4E-BC9A-0EEF2ED11306}"/>
              </a:ext>
            </a:extLst>
          </p:cNvPr>
          <p:cNvSpPr txBox="1"/>
          <p:nvPr/>
        </p:nvSpPr>
        <p:spPr>
          <a:xfrm>
            <a:off x="5816462" y="4161200"/>
            <a:ext cx="239168" cy="369332"/>
          </a:xfrm>
          <a:prstGeom prst="rect">
            <a:avLst/>
          </a:prstGeom>
          <a:noFill/>
        </p:spPr>
        <p:txBody>
          <a:bodyPr wrap="none" rtlCol="0">
            <a:spAutoFit/>
          </a:bodyPr>
          <a:lstStyle/>
          <a:p>
            <a:r>
              <a:rPr lang="en-US" altLang="zh-CN" dirty="0"/>
              <a:t>j</a:t>
            </a:r>
          </a:p>
        </p:txBody>
      </p:sp>
      <p:sp>
        <p:nvSpPr>
          <p:cNvPr id="99" name="文本框 98">
            <a:extLst>
              <a:ext uri="{FF2B5EF4-FFF2-40B4-BE49-F238E27FC236}">
                <a16:creationId xmlns:a16="http://schemas.microsoft.com/office/drawing/2014/main" id="{B715EBAE-FACA-46E2-A618-95786EF5DA45}"/>
              </a:ext>
            </a:extLst>
          </p:cNvPr>
          <p:cNvSpPr txBox="1"/>
          <p:nvPr/>
        </p:nvSpPr>
        <p:spPr>
          <a:xfrm>
            <a:off x="6902448" y="4153030"/>
            <a:ext cx="239168" cy="369332"/>
          </a:xfrm>
          <a:prstGeom prst="rect">
            <a:avLst/>
          </a:prstGeom>
          <a:noFill/>
        </p:spPr>
        <p:txBody>
          <a:bodyPr wrap="none" rtlCol="0">
            <a:spAutoFit/>
          </a:bodyPr>
          <a:lstStyle/>
          <a:p>
            <a:r>
              <a:rPr lang="en-US" altLang="zh-CN" dirty="0"/>
              <a:t>j</a:t>
            </a:r>
          </a:p>
        </p:txBody>
      </p:sp>
      <p:sp>
        <p:nvSpPr>
          <p:cNvPr id="100" name="文本框 99">
            <a:extLst>
              <a:ext uri="{FF2B5EF4-FFF2-40B4-BE49-F238E27FC236}">
                <a16:creationId xmlns:a16="http://schemas.microsoft.com/office/drawing/2014/main" id="{BAB2CF02-1D3A-435C-8EC6-A412532C3543}"/>
              </a:ext>
            </a:extLst>
          </p:cNvPr>
          <p:cNvSpPr txBox="1"/>
          <p:nvPr/>
        </p:nvSpPr>
        <p:spPr>
          <a:xfrm>
            <a:off x="1518780" y="4201948"/>
            <a:ext cx="239168" cy="369332"/>
          </a:xfrm>
          <a:prstGeom prst="rect">
            <a:avLst/>
          </a:prstGeom>
          <a:noFill/>
        </p:spPr>
        <p:txBody>
          <a:bodyPr wrap="none" rtlCol="0">
            <a:spAutoFit/>
          </a:bodyPr>
          <a:lstStyle/>
          <a:p>
            <a:r>
              <a:rPr lang="en-US" altLang="zh-CN" dirty="0"/>
              <a:t>j</a:t>
            </a:r>
          </a:p>
        </p:txBody>
      </p:sp>
      <p:cxnSp>
        <p:nvCxnSpPr>
          <p:cNvPr id="101" name="直接箭头连接符 100">
            <a:extLst>
              <a:ext uri="{FF2B5EF4-FFF2-40B4-BE49-F238E27FC236}">
                <a16:creationId xmlns:a16="http://schemas.microsoft.com/office/drawing/2014/main" id="{D7AD1B07-7B98-4F43-8E8E-6382DB6559FA}"/>
              </a:ext>
            </a:extLst>
          </p:cNvPr>
          <p:cNvCxnSpPr>
            <a:cxnSpLocks/>
          </p:cNvCxnSpPr>
          <p:nvPr/>
        </p:nvCxnSpPr>
        <p:spPr>
          <a:xfrm>
            <a:off x="495913" y="4598691"/>
            <a:ext cx="36877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椭圆 101">
            <a:extLst>
              <a:ext uri="{FF2B5EF4-FFF2-40B4-BE49-F238E27FC236}">
                <a16:creationId xmlns:a16="http://schemas.microsoft.com/office/drawing/2014/main" id="{0DD46DC9-8A7E-4A04-8682-71C954B142D7}"/>
              </a:ext>
            </a:extLst>
          </p:cNvPr>
          <p:cNvSpPr/>
          <p:nvPr/>
        </p:nvSpPr>
        <p:spPr>
          <a:xfrm>
            <a:off x="7243987" y="4338178"/>
            <a:ext cx="504056" cy="50569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17678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8FE453CB-181E-4E2B-BED8-D00006E07490}"/>
              </a:ext>
            </a:extLst>
          </p:cNvPr>
          <p:cNvSpPr>
            <a:spLocks noGrp="1"/>
          </p:cNvSpPr>
          <p:nvPr>
            <p:ph type="dt" sz="half" idx="10"/>
          </p:nvPr>
        </p:nvSpPr>
        <p:spPr>
          <a:xfrm>
            <a:off x="556766" y="5636519"/>
            <a:ext cx="2057400" cy="365125"/>
          </a:xfrm>
        </p:spPr>
        <p:txBody>
          <a:bodyPr/>
          <a:lstStyle/>
          <a:p>
            <a:pPr>
              <a:defRPr/>
            </a:pPr>
            <a:r>
              <a:rPr lang="en-US" altLang="zh-CN"/>
              <a:t>Fall 2024</a:t>
            </a:r>
            <a:endParaRPr lang="en-US"/>
          </a:p>
        </p:txBody>
      </p:sp>
      <p:sp>
        <p:nvSpPr>
          <p:cNvPr id="5" name="页脚占位符 4">
            <a:extLst>
              <a:ext uri="{FF2B5EF4-FFF2-40B4-BE49-F238E27FC236}">
                <a16:creationId xmlns:a16="http://schemas.microsoft.com/office/drawing/2014/main" id="{ABC4AE0C-145E-4EBD-B1F0-577404EAFE23}"/>
              </a:ext>
            </a:extLst>
          </p:cNvPr>
          <p:cNvSpPr>
            <a:spLocks noGrp="1"/>
          </p:cNvSpPr>
          <p:nvPr>
            <p:ph type="ftr" sz="quarter" idx="11"/>
          </p:nvPr>
        </p:nvSpPr>
        <p:spPr>
          <a:xfrm>
            <a:off x="2957066" y="5636519"/>
            <a:ext cx="3086100" cy="365125"/>
          </a:xfrm>
        </p:spPr>
        <p:txBody>
          <a:bodyPr/>
          <a:lstStyle/>
          <a:p>
            <a:pPr>
              <a:defRPr/>
            </a:pPr>
            <a:r>
              <a:rPr lang="en-US"/>
              <a:t>BUPT Compilers</a:t>
            </a:r>
          </a:p>
        </p:txBody>
      </p:sp>
      <p:sp>
        <p:nvSpPr>
          <p:cNvPr id="6" name="灯片编号占位符 5">
            <a:extLst>
              <a:ext uri="{FF2B5EF4-FFF2-40B4-BE49-F238E27FC236}">
                <a16:creationId xmlns:a16="http://schemas.microsoft.com/office/drawing/2014/main" id="{803C605B-A542-4CA5-ADA5-D9637F6D596C}"/>
              </a:ext>
            </a:extLst>
          </p:cNvPr>
          <p:cNvSpPr>
            <a:spLocks noGrp="1"/>
          </p:cNvSpPr>
          <p:nvPr>
            <p:ph type="sldNum" sz="quarter" idx="12"/>
          </p:nvPr>
        </p:nvSpPr>
        <p:spPr>
          <a:xfrm>
            <a:off x="6386066" y="5636519"/>
            <a:ext cx="2057400" cy="365125"/>
          </a:xfrm>
        </p:spPr>
        <p:txBody>
          <a:bodyPr/>
          <a:lstStyle/>
          <a:p>
            <a:pPr>
              <a:defRPr/>
            </a:pPr>
            <a:fld id="{2FBC720A-3716-234A-B2DF-CBC7E48049F5}" type="slidenum">
              <a:rPr lang="en-US" altLang="zh-CN" smtClean="0"/>
              <a:t>30</a:t>
            </a:fld>
            <a:endParaRPr lang="en-US" altLang="zh-CN"/>
          </a:p>
        </p:txBody>
      </p:sp>
      <p:pic>
        <p:nvPicPr>
          <p:cNvPr id="7" name="图片 6">
            <a:extLst>
              <a:ext uri="{FF2B5EF4-FFF2-40B4-BE49-F238E27FC236}">
                <a16:creationId xmlns:a16="http://schemas.microsoft.com/office/drawing/2014/main" id="{2C6C441B-0F70-463C-ADD1-ED6591C0D7BB}"/>
              </a:ext>
            </a:extLst>
          </p:cNvPr>
          <p:cNvPicPr>
            <a:picLocks noChangeAspect="1"/>
          </p:cNvPicPr>
          <p:nvPr>
            <p:custDataLst>
              <p:tags r:id="rId1"/>
            </p:custDataLst>
          </p:nvPr>
        </p:nvPicPr>
        <p:blipFill>
          <a:blip r:embed="rId5"/>
          <a:stretch>
            <a:fillRect/>
          </a:stretch>
        </p:blipFill>
        <p:spPr bwMode="auto">
          <a:xfrm>
            <a:off x="32657" y="1260053"/>
            <a:ext cx="4850858" cy="3502938"/>
          </a:xfrm>
          <a:prstGeom prst="rect">
            <a:avLst/>
          </a:prstGeom>
        </p:spPr>
      </p:pic>
      <p:pic>
        <p:nvPicPr>
          <p:cNvPr id="8" name="图片 7">
            <a:extLst>
              <a:ext uri="{FF2B5EF4-FFF2-40B4-BE49-F238E27FC236}">
                <a16:creationId xmlns:a16="http://schemas.microsoft.com/office/drawing/2014/main" id="{5B48D39F-DCA9-47DB-875D-36D56BDAF112}"/>
              </a:ext>
            </a:extLst>
          </p:cNvPr>
          <p:cNvPicPr>
            <a:picLocks noChangeAspect="1"/>
          </p:cNvPicPr>
          <p:nvPr>
            <p:custDataLst>
              <p:tags r:id="rId2"/>
            </p:custDataLst>
          </p:nvPr>
        </p:nvPicPr>
        <p:blipFill>
          <a:blip r:embed="rId6"/>
          <a:stretch>
            <a:fillRect/>
          </a:stretch>
        </p:blipFill>
        <p:spPr bwMode="auto">
          <a:xfrm>
            <a:off x="5288897" y="2363450"/>
            <a:ext cx="3629203" cy="1296144"/>
          </a:xfrm>
          <a:prstGeom prst="rect">
            <a:avLst/>
          </a:prstGeom>
        </p:spPr>
      </p:pic>
      <p:sp>
        <p:nvSpPr>
          <p:cNvPr id="9" name="文本框 8">
            <a:extLst>
              <a:ext uri="{FF2B5EF4-FFF2-40B4-BE49-F238E27FC236}">
                <a16:creationId xmlns:a16="http://schemas.microsoft.com/office/drawing/2014/main" id="{1C08C308-1F98-499A-928C-CEEC42644149}"/>
              </a:ext>
            </a:extLst>
          </p:cNvPr>
          <p:cNvSpPr txBox="1"/>
          <p:nvPr/>
        </p:nvSpPr>
        <p:spPr bwMode="auto">
          <a:xfrm>
            <a:off x="1187624" y="5276791"/>
            <a:ext cx="8271770" cy="1084580"/>
          </a:xfrm>
          <a:prstGeom prst="rect">
            <a:avLst/>
          </a:prstGeom>
          <a:noFill/>
        </p:spPr>
        <p:txBody>
          <a:bodyPr wrap="square" rtlCol="0" anchor="t">
            <a:noAutofit/>
          </a:bodyPr>
          <a:lstStyle/>
          <a:p>
            <a:r>
              <a:rPr lang="zh-CN" altLang="en-US" sz="2000" dirty="0"/>
              <a:t>The transition diagram in the left is for recognizing </a:t>
            </a:r>
            <a:r>
              <a:rPr lang="zh-CN" altLang="en-US" sz="2000" b="1" dirty="0">
                <a:solidFill>
                  <a:srgbClr val="0331FF"/>
                </a:solidFill>
              </a:rPr>
              <a:t>relop</a:t>
            </a:r>
            <a:r>
              <a:rPr lang="zh-CN" altLang="en-US" sz="2000" dirty="0"/>
              <a:t> tokens</a:t>
            </a:r>
          </a:p>
        </p:txBody>
      </p:sp>
    </p:spTree>
    <p:extLst>
      <p:ext uri="{BB962C8B-B14F-4D97-AF65-F5344CB8AC3E}">
        <p14:creationId xmlns:p14="http://schemas.microsoft.com/office/powerpoint/2010/main" val="2811539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States</a:t>
            </a:r>
          </a:p>
        </p:txBody>
      </p:sp>
      <p:sp>
        <p:nvSpPr>
          <p:cNvPr id="4" name="内容占位符 3"/>
          <p:cNvSpPr>
            <a:spLocks noGrp="1"/>
          </p:cNvSpPr>
          <p:nvPr>
            <p:ph idx="1"/>
          </p:nvPr>
        </p:nvSpPr>
        <p:spPr>
          <a:xfrm>
            <a:off x="628650" y="1557020"/>
            <a:ext cx="7886700" cy="4351338"/>
          </a:xfrm>
        </p:spPr>
        <p:txBody>
          <a:bodyPr>
            <a:normAutofit/>
          </a:bodyPr>
          <a:lstStyle/>
          <a:p>
            <a:pPr marL="17145"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Represent conditions that could occur during the process of scanning the input for recognizing lexemes of tokens (what characters we have seen)</a:t>
            </a:r>
          </a:p>
          <a:p>
            <a:pPr marL="17145"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The </a:t>
            </a:r>
            <a:r>
              <a:rPr sz="1800" dirty="0">
                <a:solidFill>
                  <a:srgbClr val="FF0000"/>
                </a:solidFill>
                <a:latin typeface="Palatino Linotype" panose="02040502050505030304" charset="0"/>
                <a:ea typeface="Palatino Linotype" panose="02040502050505030304"/>
                <a:cs typeface="Palatino Linotype" panose="02040502050505030304"/>
                <a:sym typeface="+mn-ea"/>
              </a:rPr>
              <a:t>start state (开始状态)</a:t>
            </a:r>
            <a:r>
              <a:rPr sz="1800" dirty="0">
                <a:latin typeface="Palatino Linotype" panose="02040502050505030304" charset="0"/>
                <a:ea typeface="Palatino Linotype" panose="02040502050505030304"/>
                <a:cs typeface="Palatino Linotype" panose="02040502050505030304"/>
                <a:sym typeface="+mn-ea"/>
              </a:rPr>
              <a:t>, or initial state, is indicated by an edge labeled </a:t>
            </a:r>
            <a:r>
              <a:rPr sz="1800" dirty="0">
                <a:solidFill>
                  <a:srgbClr val="0331FF"/>
                </a:solidFill>
                <a:latin typeface="Palatino Linotype" panose="02040502050505030304" charset="0"/>
                <a:ea typeface="Palatino Linotype" panose="02040502050505030304"/>
                <a:cs typeface="Palatino Linotype" panose="02040502050505030304"/>
                <a:sym typeface="+mn-ea"/>
              </a:rPr>
              <a:t>“start”</a:t>
            </a:r>
            <a:r>
              <a:rPr sz="1800" dirty="0">
                <a:latin typeface="Palatino Linotype" panose="02040502050505030304" charset="0"/>
                <a:ea typeface="Palatino Linotype" panose="02040502050505030304"/>
                <a:cs typeface="Palatino Linotype" panose="02040502050505030304"/>
                <a:sym typeface="+mn-ea"/>
              </a:rPr>
              <a:t>, which enters from nowhere</a:t>
            </a:r>
          </a:p>
          <a:p>
            <a:pPr marL="17145"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Certain states are said to be </a:t>
            </a:r>
            <a:r>
              <a:rPr sz="1800" dirty="0">
                <a:solidFill>
                  <a:srgbClr val="FF0000"/>
                </a:solidFill>
                <a:latin typeface="Palatino Linotype" panose="02040502050505030304" charset="0"/>
                <a:ea typeface="Palatino Linotype" panose="02040502050505030304"/>
                <a:cs typeface="Palatino Linotype" panose="02040502050505030304"/>
                <a:sym typeface="+mn-ea"/>
              </a:rPr>
              <a:t>accepting (接受</a:t>
            </a:r>
            <a:r>
              <a:rPr lang="zh-CN" sz="1800" dirty="0">
                <a:solidFill>
                  <a:srgbClr val="FF0000"/>
                </a:solidFill>
                <a:latin typeface="Palatino Linotype" panose="02040502050505030304" charset="0"/>
                <a:ea typeface="Palatino Linotype" panose="02040502050505030304"/>
                <a:cs typeface="Palatino Linotype" panose="02040502050505030304"/>
                <a:sym typeface="+mn-ea"/>
              </a:rPr>
              <a:t>状态</a:t>
            </a:r>
            <a:r>
              <a:rPr sz="1800" dirty="0">
                <a:solidFill>
                  <a:srgbClr val="FF0000"/>
                </a:solidFill>
                <a:latin typeface="Palatino Linotype" panose="02040502050505030304" charset="0"/>
                <a:ea typeface="Palatino Linotype" panose="02040502050505030304"/>
                <a:cs typeface="Palatino Linotype" panose="02040502050505030304"/>
                <a:sym typeface="+mn-ea"/>
              </a:rPr>
              <a:t>)</a:t>
            </a:r>
            <a:r>
              <a:rPr sz="1800" dirty="0">
                <a:latin typeface="Palatino Linotype" panose="02040502050505030304" charset="0"/>
                <a:ea typeface="Palatino Linotype" panose="02040502050505030304"/>
                <a:cs typeface="Palatino Linotype" panose="02040502050505030304"/>
                <a:sym typeface="+mn-ea"/>
              </a:rPr>
              <a:t>, or final, indicating that a lexeme has been found</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31</a:t>
            </a:fld>
            <a:endParaRPr dirty="0"/>
          </a:p>
        </p:txBody>
      </p:sp>
      <p:pic>
        <p:nvPicPr>
          <p:cNvPr id="7" name="图片 6"/>
          <p:cNvPicPr>
            <a:picLocks noChangeAspect="1"/>
          </p:cNvPicPr>
          <p:nvPr>
            <p:custDataLst>
              <p:tags r:id="rId1"/>
            </p:custDataLst>
          </p:nvPr>
        </p:nvPicPr>
        <p:blipFill>
          <a:blip r:embed="rId4"/>
          <a:stretch>
            <a:fillRect/>
          </a:stretch>
        </p:blipFill>
        <p:spPr>
          <a:xfrm>
            <a:off x="1043305" y="4077335"/>
            <a:ext cx="3305810" cy="2387600"/>
          </a:xfrm>
          <a:prstGeom prst="rect">
            <a:avLst/>
          </a:prstGeom>
        </p:spPr>
      </p:pic>
      <p:sp>
        <p:nvSpPr>
          <p:cNvPr id="8" name="文本框 7"/>
          <p:cNvSpPr txBox="1"/>
          <p:nvPr/>
        </p:nvSpPr>
        <p:spPr>
          <a:xfrm>
            <a:off x="4427855" y="4220845"/>
            <a:ext cx="4268470" cy="1582420"/>
          </a:xfrm>
          <a:prstGeom prst="rect">
            <a:avLst/>
          </a:prstGeom>
          <a:noFill/>
        </p:spPr>
        <p:txBody>
          <a:bodyPr wrap="square" rtlCol="0" anchor="t">
            <a:noAutofit/>
          </a:bodyPr>
          <a:lstStyle/>
          <a:p>
            <a:r>
              <a:rPr lang="zh-CN" altLang="en-US"/>
              <a:t>States 2, 3, 4, 5, 7, 8 are accepting.</a:t>
            </a:r>
          </a:p>
          <a:p>
            <a:endParaRPr lang="zh-CN" altLang="en-US"/>
          </a:p>
          <a:p>
            <a:r>
              <a:rPr lang="zh-CN" altLang="en-US"/>
              <a:t>By convention, we indicate accepting </a:t>
            </a:r>
          </a:p>
          <a:p>
            <a:r>
              <a:rPr lang="zh-CN" altLang="en-US"/>
              <a:t>states by </a:t>
            </a:r>
            <a:r>
              <a:rPr lang="zh-CN" altLang="en-US">
                <a:solidFill>
                  <a:srgbClr val="FF0000"/>
                </a:solidFill>
              </a:rPr>
              <a:t>double circles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States Cont.</a:t>
            </a:r>
          </a:p>
        </p:txBody>
      </p:sp>
      <p:sp>
        <p:nvSpPr>
          <p:cNvPr id="4" name="内容占位符 3"/>
          <p:cNvSpPr>
            <a:spLocks noGrp="1"/>
          </p:cNvSpPr>
          <p:nvPr>
            <p:ph idx="1"/>
          </p:nvPr>
        </p:nvSpPr>
        <p:spPr>
          <a:xfrm>
            <a:off x="628650" y="1556385"/>
            <a:ext cx="7886700" cy="4351338"/>
          </a:xfrm>
        </p:spPr>
        <p:txBody>
          <a:bodyPr>
            <a:normAutofit/>
          </a:bodyPr>
          <a:lstStyle/>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At certain accepting states, the found lexeme may not contain all characters that we have seen from the start state</a:t>
            </a:r>
          </a:p>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Such states are annotated with *</a:t>
            </a:r>
          </a:p>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When entering * states, it is necessary to </a:t>
            </a:r>
            <a:r>
              <a:rPr sz="2000" dirty="0">
                <a:solidFill>
                  <a:srgbClr val="FF0000"/>
                </a:solidFill>
                <a:latin typeface="Palatino Linotype" panose="02040502050505030304" charset="0"/>
                <a:ea typeface="Palatino Linotype" panose="02040502050505030304"/>
                <a:cs typeface="Palatino Linotype" panose="02040502050505030304"/>
                <a:sym typeface="+mn-ea"/>
              </a:rPr>
              <a:t>retract (回退)</a:t>
            </a:r>
            <a:r>
              <a:rPr sz="2000" dirty="0">
                <a:latin typeface="Palatino Linotype" panose="02040502050505030304" charset="0"/>
                <a:ea typeface="Palatino Linotype" panose="02040502050505030304"/>
                <a:cs typeface="Palatino Linotype" panose="02040502050505030304"/>
                <a:sym typeface="+mn-ea"/>
              </a:rPr>
              <a:t> the forward pointer, which points to the next char in the input string)</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32</a:t>
            </a:fld>
            <a:endParaRPr dirty="0"/>
          </a:p>
        </p:txBody>
      </p:sp>
      <p:pic>
        <p:nvPicPr>
          <p:cNvPr id="2" name="图片 1"/>
          <p:cNvPicPr>
            <a:picLocks noChangeAspect="1"/>
          </p:cNvPicPr>
          <p:nvPr>
            <p:custDataLst>
              <p:tags r:id="rId1"/>
            </p:custDataLst>
          </p:nvPr>
        </p:nvPicPr>
        <p:blipFill>
          <a:blip r:embed="rId5"/>
          <a:stretch>
            <a:fillRect/>
          </a:stretch>
        </p:blipFill>
        <p:spPr>
          <a:xfrm>
            <a:off x="1043305" y="3933825"/>
            <a:ext cx="3354705" cy="2422525"/>
          </a:xfrm>
          <a:prstGeom prst="rect">
            <a:avLst/>
          </a:prstGeom>
        </p:spPr>
      </p:pic>
      <p:pic>
        <p:nvPicPr>
          <p:cNvPr id="7" name="图片 6"/>
          <p:cNvPicPr>
            <a:picLocks noChangeAspect="1"/>
          </p:cNvPicPr>
          <p:nvPr>
            <p:custDataLst>
              <p:tags r:id="rId2"/>
            </p:custDataLst>
          </p:nvPr>
        </p:nvPicPr>
        <p:blipFill>
          <a:blip r:embed="rId6"/>
          <a:stretch>
            <a:fillRect/>
          </a:stretch>
        </p:blipFill>
        <p:spPr>
          <a:xfrm>
            <a:off x="4859655" y="3981450"/>
            <a:ext cx="3606800" cy="1104900"/>
          </a:xfrm>
          <a:prstGeom prst="rect">
            <a:avLst/>
          </a:prstGeom>
        </p:spPr>
      </p:pic>
      <p:sp>
        <p:nvSpPr>
          <p:cNvPr id="8" name="文本框 7"/>
          <p:cNvSpPr txBox="1"/>
          <p:nvPr/>
        </p:nvSpPr>
        <p:spPr>
          <a:xfrm>
            <a:off x="4859655" y="5372735"/>
            <a:ext cx="3778885" cy="645160"/>
          </a:xfrm>
          <a:prstGeom prst="rect">
            <a:avLst/>
          </a:prstGeom>
          <a:noFill/>
        </p:spPr>
        <p:txBody>
          <a:bodyPr wrap="square" rtlCol="0" anchor="t">
            <a:spAutoFit/>
          </a:bodyPr>
          <a:lstStyle/>
          <a:p>
            <a:r>
              <a:rPr lang="zh-CN" altLang="en-US">
                <a:solidFill>
                  <a:srgbClr val="FF0000"/>
                </a:solidFill>
              </a:rPr>
              <a:t>We should retract forward one position in the above case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Edges</a:t>
            </a:r>
          </a:p>
        </p:txBody>
      </p:sp>
      <p:sp>
        <p:nvSpPr>
          <p:cNvPr id="4" name="内容占位符 3"/>
          <p:cNvSpPr>
            <a:spLocks noGrp="1"/>
          </p:cNvSpPr>
          <p:nvPr>
            <p:ph idx="1"/>
          </p:nvPr>
        </p:nvSpPr>
        <p:spPr>
          <a:xfrm>
            <a:off x="628650" y="1520190"/>
            <a:ext cx="7886700" cy="4351338"/>
          </a:xfrm>
        </p:spPr>
        <p:txBody>
          <a:bodyPr>
            <a:normAutofit/>
          </a:bodyPr>
          <a:lstStyle/>
          <a:p>
            <a:pPr marL="17145" algn="l" rtl="0" eaLnBrk="0" fontAlgn="auto">
              <a:lnSpc>
                <a:spcPct val="150000"/>
              </a:lnSpc>
              <a:spcBef>
                <a:spcPts val="0"/>
              </a:spcBef>
            </a:pPr>
            <a:r>
              <a:rPr sz="2200" dirty="0">
                <a:solidFill>
                  <a:srgbClr val="FF0000"/>
                </a:solidFill>
                <a:latin typeface="Palatino Linotype" panose="02040502050505030304" charset="0"/>
                <a:ea typeface="Palatino Linotype" panose="02040502050505030304"/>
                <a:cs typeface="Palatino Linotype" panose="02040502050505030304"/>
                <a:sym typeface="+mn-ea"/>
              </a:rPr>
              <a:t>Edges</a:t>
            </a:r>
            <a:r>
              <a:rPr sz="2200" dirty="0">
                <a:solidFill>
                  <a:schemeClr val="tx1"/>
                </a:solidFill>
                <a:latin typeface="Palatino Linotype" panose="02040502050505030304" charset="0"/>
                <a:ea typeface="Palatino Linotype" panose="02040502050505030304"/>
                <a:cs typeface="Palatino Linotype" panose="02040502050505030304"/>
                <a:sym typeface="+mn-ea"/>
              </a:rPr>
              <a:t> are directed from one state to another</a:t>
            </a:r>
          </a:p>
          <a:p>
            <a:pPr marL="17145" algn="l" rtl="0" eaLnBrk="0" fontAlgn="auto">
              <a:lnSpc>
                <a:spcPct val="150000"/>
              </a:lnSpc>
              <a:spcBef>
                <a:spcPts val="0"/>
              </a:spcBef>
            </a:pPr>
            <a:r>
              <a:rPr sz="2200" dirty="0">
                <a:solidFill>
                  <a:schemeClr val="tx1"/>
                </a:solidFill>
                <a:latin typeface="Palatino Linotype" panose="02040502050505030304" charset="0"/>
                <a:ea typeface="Palatino Linotype" panose="02040502050505030304"/>
                <a:cs typeface="Palatino Linotype" panose="02040502050505030304"/>
                <a:sym typeface="+mn-ea"/>
              </a:rPr>
              <a:t>Each edge is labeled by a symbol or set of symbols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33</a:t>
            </a:fld>
            <a:endParaRPr dirty="0"/>
          </a:p>
        </p:txBody>
      </p:sp>
      <p:sp>
        <p:nvSpPr>
          <p:cNvPr id="6" name="文本框 5"/>
          <p:cNvSpPr txBox="1"/>
          <p:nvPr/>
        </p:nvSpPr>
        <p:spPr>
          <a:xfrm>
            <a:off x="4787900" y="5157470"/>
            <a:ext cx="3943350" cy="1084580"/>
          </a:xfrm>
          <a:prstGeom prst="rect">
            <a:avLst/>
          </a:prstGeom>
          <a:noFill/>
        </p:spPr>
        <p:txBody>
          <a:bodyPr wrap="square" rtlCol="0" anchor="t">
            <a:noAutofit/>
          </a:bodyPr>
          <a:lstStyle/>
          <a:p>
            <a:r>
              <a:rPr lang="zh-CN" altLang="en-US">
                <a:solidFill>
                  <a:srgbClr val="FF0000"/>
                </a:solidFill>
              </a:rPr>
              <a:t>In the above case, we should follow </a:t>
            </a:r>
          </a:p>
          <a:p>
            <a:r>
              <a:rPr lang="zh-CN" altLang="en-US">
                <a:solidFill>
                  <a:srgbClr val="FF0000"/>
                </a:solidFill>
              </a:rPr>
              <a:t>the circled edge to enter state 3 and </a:t>
            </a:r>
          </a:p>
          <a:p>
            <a:r>
              <a:rPr lang="zh-CN" altLang="en-US">
                <a:solidFill>
                  <a:srgbClr val="FF0000"/>
                </a:solidFill>
              </a:rPr>
              <a:t>advance the forward pointer</a:t>
            </a:r>
          </a:p>
        </p:txBody>
      </p:sp>
      <p:pic>
        <p:nvPicPr>
          <p:cNvPr id="7" name="图片 6"/>
          <p:cNvPicPr>
            <a:picLocks noChangeAspect="1"/>
          </p:cNvPicPr>
          <p:nvPr>
            <p:custDataLst>
              <p:tags r:id="rId1"/>
            </p:custDataLst>
          </p:nvPr>
        </p:nvPicPr>
        <p:blipFill>
          <a:blip r:embed="rId5"/>
          <a:stretch>
            <a:fillRect/>
          </a:stretch>
        </p:blipFill>
        <p:spPr>
          <a:xfrm>
            <a:off x="539115" y="3068955"/>
            <a:ext cx="4171950" cy="3013075"/>
          </a:xfrm>
          <a:prstGeom prst="rect">
            <a:avLst/>
          </a:prstGeom>
        </p:spPr>
      </p:pic>
      <p:sp>
        <p:nvSpPr>
          <p:cNvPr id="9" name="椭圆 8"/>
          <p:cNvSpPr/>
          <p:nvPr/>
        </p:nvSpPr>
        <p:spPr>
          <a:xfrm rot="1440000">
            <a:off x="2303145" y="3515995"/>
            <a:ext cx="864235" cy="36004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p:cNvPicPr>
            <a:picLocks noChangeAspect="1"/>
          </p:cNvPicPr>
          <p:nvPr>
            <p:custDataLst>
              <p:tags r:id="rId2"/>
            </p:custDataLst>
          </p:nvPr>
        </p:nvPicPr>
        <p:blipFill>
          <a:blip r:embed="rId6"/>
          <a:stretch>
            <a:fillRect/>
          </a:stretch>
        </p:blipFill>
        <p:spPr>
          <a:xfrm>
            <a:off x="4859655" y="3644900"/>
            <a:ext cx="3625850" cy="11811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fontScale="90000"/>
          </a:bodyPr>
          <a:lstStyle/>
          <a:p>
            <a:r>
              <a:rPr lang="zh-CN" altLang="en-US" sz="4000">
                <a:latin typeface="Palatino Linotype" panose="02040502050505030304" charset="0"/>
              </a:rPr>
              <a:t>Recognition of Reserved Words and Identifiers (保留字和标识符的识别)</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solidFill>
                  <a:schemeClr val="tx1"/>
                </a:solidFill>
                <a:latin typeface="Palatino Linotype" panose="02040502050505030304" charset="0"/>
                <a:ea typeface="Palatino Linotype" panose="02040502050505030304"/>
                <a:cs typeface="Palatino Linotype" panose="02040502050505030304"/>
                <a:sym typeface="+mn-ea"/>
              </a:rPr>
              <a:t>In many languages, </a:t>
            </a:r>
            <a:r>
              <a:rPr sz="2200" b="1" dirty="0">
                <a:solidFill>
                  <a:schemeClr val="tx1"/>
                </a:solidFill>
                <a:latin typeface="Palatino Linotype" panose="02040502050505030304" charset="0"/>
                <a:ea typeface="Palatino Linotype" panose="02040502050505030304"/>
                <a:cs typeface="Palatino Linotype" panose="02040502050505030304"/>
                <a:sym typeface="+mn-ea"/>
              </a:rPr>
              <a:t>reserved</a:t>
            </a:r>
            <a:r>
              <a:rPr sz="2200" dirty="0">
                <a:solidFill>
                  <a:schemeClr val="tx1"/>
                </a:solidFill>
                <a:latin typeface="Palatino Linotype" panose="02040502050505030304" charset="0"/>
                <a:ea typeface="Palatino Linotype" panose="02040502050505030304"/>
                <a:cs typeface="Palatino Linotype" panose="02040502050505030304"/>
                <a:sym typeface="+mn-ea"/>
              </a:rPr>
              <a:t> words or </a:t>
            </a:r>
            <a:r>
              <a:rPr sz="2200" b="1" dirty="0">
                <a:solidFill>
                  <a:schemeClr val="tx1"/>
                </a:solidFill>
                <a:latin typeface="Palatino Linotype" panose="02040502050505030304" charset="0"/>
                <a:ea typeface="Palatino Linotype" panose="02040502050505030304"/>
                <a:cs typeface="Palatino Linotype" panose="02040502050505030304"/>
                <a:sym typeface="+mn-ea"/>
              </a:rPr>
              <a:t>keywords</a:t>
            </a:r>
            <a:r>
              <a:rPr sz="2200" dirty="0">
                <a:solidFill>
                  <a:schemeClr val="tx1"/>
                </a:solidFill>
                <a:latin typeface="Palatino Linotype" panose="02040502050505030304" charset="0"/>
                <a:ea typeface="Palatino Linotype" panose="02040502050505030304"/>
                <a:cs typeface="Palatino Linotype" panose="02040502050505030304"/>
                <a:sym typeface="+mn-ea"/>
              </a:rPr>
              <a:t> (e.g., then) also match the pattern of identifiers</a:t>
            </a:r>
          </a:p>
          <a:p>
            <a:pPr marL="17145" algn="l" rtl="0" eaLnBrk="0" fontAlgn="auto">
              <a:lnSpc>
                <a:spcPct val="150000"/>
              </a:lnSpc>
              <a:spcBef>
                <a:spcPts val="0"/>
              </a:spcBef>
            </a:pPr>
            <a:r>
              <a:rPr sz="2200" dirty="0">
                <a:solidFill>
                  <a:srgbClr val="FF0000"/>
                </a:solidFill>
                <a:latin typeface="Palatino Linotype" panose="02040502050505030304" charset="0"/>
                <a:ea typeface="Palatino Linotype" panose="02040502050505030304"/>
                <a:cs typeface="Palatino Linotype" panose="02040502050505030304"/>
                <a:sym typeface="+mn-ea"/>
              </a:rPr>
              <a:t>Problem</a:t>
            </a:r>
            <a:r>
              <a:rPr sz="2200" dirty="0">
                <a:solidFill>
                  <a:schemeClr val="tx1"/>
                </a:solidFill>
                <a:latin typeface="Palatino Linotype" panose="02040502050505030304" charset="0"/>
                <a:ea typeface="Palatino Linotype" panose="02040502050505030304"/>
                <a:cs typeface="Palatino Linotype" panose="02040502050505030304"/>
                <a:sym typeface="+mn-ea"/>
              </a:rPr>
              <a:t>: the transition diagram that searches for identifiers can also recognize reserved words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34</a:t>
            </a:fld>
            <a:endParaRPr dirty="0"/>
          </a:p>
        </p:txBody>
      </p:sp>
      <p:pic>
        <p:nvPicPr>
          <p:cNvPr id="2" name="图片 1"/>
          <p:cNvPicPr>
            <a:picLocks noChangeAspect="1"/>
          </p:cNvPicPr>
          <p:nvPr>
            <p:custDataLst>
              <p:tags r:id="rId1"/>
            </p:custDataLst>
          </p:nvPr>
        </p:nvPicPr>
        <p:blipFill>
          <a:blip r:embed="rId4"/>
          <a:stretch>
            <a:fillRect/>
          </a:stretch>
        </p:blipFill>
        <p:spPr>
          <a:xfrm>
            <a:off x="2009775" y="3933825"/>
            <a:ext cx="5124450" cy="15811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Handling Reserved Words</a:t>
            </a:r>
          </a:p>
        </p:txBody>
      </p:sp>
      <p:sp>
        <p:nvSpPr>
          <p:cNvPr id="4" name="内容占位符 3"/>
          <p:cNvSpPr>
            <a:spLocks noGrp="1"/>
          </p:cNvSpPr>
          <p:nvPr>
            <p:ph idx="1"/>
          </p:nvPr>
        </p:nvSpPr>
        <p:spPr>
          <a:xfrm>
            <a:off x="628650" y="1557020"/>
            <a:ext cx="7886700" cy="4351338"/>
          </a:xfrm>
        </p:spPr>
        <p:txBody>
          <a:bodyPr>
            <a:normAutofit/>
          </a:bodyPr>
          <a:lstStyle/>
          <a:p>
            <a:pPr marL="17145" algn="l" rtl="0" eaLnBrk="0" fontAlgn="auto">
              <a:lnSpc>
                <a:spcPct val="150000"/>
              </a:lnSpc>
              <a:spcBef>
                <a:spcPts val="0"/>
              </a:spcBef>
            </a:pPr>
            <a:r>
              <a:rPr sz="2000" dirty="0">
                <a:solidFill>
                  <a:srgbClr val="FF0000"/>
                </a:solidFill>
                <a:latin typeface="Palatino Linotype" panose="02040502050505030304" charset="0"/>
                <a:ea typeface="Palatino Linotype" panose="02040502050505030304"/>
                <a:cs typeface="Palatino Linotype" panose="02040502050505030304"/>
                <a:sym typeface="+mn-ea"/>
              </a:rPr>
              <a:t>Strategy 1</a:t>
            </a:r>
            <a:r>
              <a:rPr sz="2000" dirty="0">
                <a:solidFill>
                  <a:schemeClr val="tx1"/>
                </a:solidFill>
                <a:latin typeface="Palatino Linotype" panose="02040502050505030304" charset="0"/>
                <a:ea typeface="Palatino Linotype" panose="02040502050505030304"/>
                <a:cs typeface="Palatino Linotype" panose="02040502050505030304"/>
                <a:sym typeface="+mn-ea"/>
              </a:rPr>
              <a:t>: Preinstall the reserved words in the symbol table. Put a field in the symbol-table entries to indicate that these strings are not ordinary identifiers</a:t>
            </a:r>
          </a:p>
          <a:p>
            <a:pPr marL="17145" algn="l" rtl="0" eaLnBrk="0" fontAlgn="auto">
              <a:lnSpc>
                <a:spcPct val="150000"/>
              </a:lnSpc>
              <a:spcBef>
                <a:spcPts val="0"/>
              </a:spcBef>
            </a:pPr>
            <a:endParaRPr sz="2000" dirty="0">
              <a:solidFill>
                <a:schemeClr val="tx1"/>
              </a:solidFill>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endParaRPr sz="2000" dirty="0">
              <a:solidFill>
                <a:schemeClr val="tx1"/>
              </a:solidFill>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endParaRPr sz="2000" dirty="0">
              <a:solidFill>
                <a:srgbClr val="FF0000"/>
              </a:solidFill>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r>
              <a:rPr sz="2000" dirty="0">
                <a:solidFill>
                  <a:srgbClr val="FF0000"/>
                </a:solidFill>
                <a:latin typeface="Palatino Linotype" panose="02040502050505030304" charset="0"/>
                <a:ea typeface="Palatino Linotype" panose="02040502050505030304"/>
                <a:cs typeface="Palatino Linotype" panose="02040502050505030304"/>
                <a:sym typeface="+mn-ea"/>
              </a:rPr>
              <a:t>Strategy 2</a:t>
            </a:r>
            <a:r>
              <a:rPr sz="2000" dirty="0">
                <a:solidFill>
                  <a:schemeClr val="tx1"/>
                </a:solidFill>
                <a:latin typeface="Palatino Linotype" panose="02040502050505030304" charset="0"/>
                <a:ea typeface="Palatino Linotype" panose="02040502050505030304"/>
                <a:cs typeface="Palatino Linotype" panose="02040502050505030304"/>
                <a:sym typeface="+mn-ea"/>
              </a:rPr>
              <a:t>: Create a separate transition diagram with a high priority for each keyword</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35</a:t>
            </a:fld>
            <a:endParaRPr dirty="0"/>
          </a:p>
        </p:txBody>
      </p:sp>
      <p:pic>
        <p:nvPicPr>
          <p:cNvPr id="2" name="图片 1"/>
          <p:cNvPicPr>
            <a:picLocks noChangeAspect="1"/>
          </p:cNvPicPr>
          <p:nvPr>
            <p:custDataLst>
              <p:tags r:id="rId1"/>
            </p:custDataLst>
          </p:nvPr>
        </p:nvPicPr>
        <p:blipFill>
          <a:blip r:embed="rId5"/>
          <a:stretch>
            <a:fillRect/>
          </a:stretch>
        </p:blipFill>
        <p:spPr>
          <a:xfrm>
            <a:off x="1456690" y="3068955"/>
            <a:ext cx="6164580" cy="1079500"/>
          </a:xfrm>
          <a:prstGeom prst="rect">
            <a:avLst/>
          </a:prstGeom>
        </p:spPr>
      </p:pic>
      <p:pic>
        <p:nvPicPr>
          <p:cNvPr id="5" name="图片 4"/>
          <p:cNvPicPr>
            <a:picLocks noChangeAspect="1"/>
          </p:cNvPicPr>
          <p:nvPr>
            <p:custDataLst>
              <p:tags r:id="rId2"/>
            </p:custDataLst>
          </p:nvPr>
        </p:nvPicPr>
        <p:blipFill>
          <a:blip r:embed="rId6"/>
          <a:stretch>
            <a:fillRect/>
          </a:stretch>
        </p:blipFill>
        <p:spPr>
          <a:xfrm>
            <a:off x="755650" y="5445125"/>
            <a:ext cx="7524750" cy="6096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Building a Lexical</a:t>
            </a:r>
            <a:r>
              <a:rPr lang="en-US" altLang="zh-CN" sz="3600" dirty="0">
                <a:latin typeface="Palatino Linotype" panose="02040502050505030304" charset="0"/>
              </a:rPr>
              <a:t> </a:t>
            </a:r>
            <a:r>
              <a:rPr lang="zh-CN" altLang="en-US" sz="3600">
                <a:latin typeface="Palatino Linotype" panose="02040502050505030304" charset="0"/>
              </a:rPr>
              <a:t>Analyzer from Transition Diagrams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36</a:t>
            </a:fld>
            <a:endParaRPr dirty="0"/>
          </a:p>
        </p:txBody>
      </p:sp>
      <p:pic>
        <p:nvPicPr>
          <p:cNvPr id="5" name="图片 4"/>
          <p:cNvPicPr>
            <a:picLocks noChangeAspect="1"/>
          </p:cNvPicPr>
          <p:nvPr>
            <p:custDataLst>
              <p:tags r:id="rId1"/>
            </p:custDataLst>
          </p:nvPr>
        </p:nvPicPr>
        <p:blipFill>
          <a:blip r:embed="rId4"/>
          <a:stretch>
            <a:fillRect/>
          </a:stretch>
        </p:blipFill>
        <p:spPr>
          <a:xfrm>
            <a:off x="539750" y="1983740"/>
            <a:ext cx="5107305" cy="3865880"/>
          </a:xfrm>
          <a:prstGeom prst="rect">
            <a:avLst/>
          </a:prstGeom>
        </p:spPr>
      </p:pic>
      <p:pic>
        <p:nvPicPr>
          <p:cNvPr id="8" name="图片 7"/>
          <p:cNvPicPr>
            <a:picLocks noChangeAspect="1"/>
          </p:cNvPicPr>
          <p:nvPr>
            <p:custDataLst>
              <p:tags r:id="rId2"/>
            </p:custDataLst>
          </p:nvPr>
        </p:nvPicPr>
        <p:blipFill>
          <a:blip r:embed="rId5"/>
          <a:stretch>
            <a:fillRect/>
          </a:stretch>
        </p:blipFill>
        <p:spPr>
          <a:xfrm>
            <a:off x="5652135" y="1530350"/>
            <a:ext cx="3034030" cy="219138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Building a Lexical</a:t>
            </a:r>
            <a:r>
              <a:rPr lang="en-US" altLang="zh-CN" sz="3600" dirty="0">
                <a:latin typeface="Palatino Linotype" panose="02040502050505030304" charset="0"/>
              </a:rPr>
              <a:t> </a:t>
            </a:r>
            <a:r>
              <a:rPr lang="zh-CN" altLang="en-US" sz="3600">
                <a:latin typeface="Palatino Linotype" panose="02040502050505030304" charset="0"/>
              </a:rPr>
              <a:t>Analyzer from Transition Diagrams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37</a:t>
            </a:fld>
            <a:endParaRPr dirty="0"/>
          </a:p>
        </p:txBody>
      </p:sp>
      <p:pic>
        <p:nvPicPr>
          <p:cNvPr id="5" name="图片 4"/>
          <p:cNvPicPr>
            <a:picLocks noChangeAspect="1"/>
          </p:cNvPicPr>
          <p:nvPr>
            <p:custDataLst>
              <p:tags r:id="rId1"/>
            </p:custDataLst>
          </p:nvPr>
        </p:nvPicPr>
        <p:blipFill>
          <a:blip r:embed="rId6"/>
          <a:stretch>
            <a:fillRect/>
          </a:stretch>
        </p:blipFill>
        <p:spPr>
          <a:xfrm>
            <a:off x="539750" y="1983740"/>
            <a:ext cx="5107305" cy="3865880"/>
          </a:xfrm>
          <a:prstGeom prst="rect">
            <a:avLst/>
          </a:prstGeom>
        </p:spPr>
      </p:pic>
      <p:pic>
        <p:nvPicPr>
          <p:cNvPr id="8" name="图片 7"/>
          <p:cNvPicPr>
            <a:picLocks noChangeAspect="1"/>
          </p:cNvPicPr>
          <p:nvPr>
            <p:custDataLst>
              <p:tags r:id="rId2"/>
            </p:custDataLst>
          </p:nvPr>
        </p:nvPicPr>
        <p:blipFill>
          <a:blip r:embed="rId7"/>
          <a:stretch>
            <a:fillRect/>
          </a:stretch>
        </p:blipFill>
        <p:spPr>
          <a:xfrm>
            <a:off x="5652135" y="1530350"/>
            <a:ext cx="3034030" cy="2191385"/>
          </a:xfrm>
          <a:prstGeom prst="rect">
            <a:avLst/>
          </a:prstGeom>
        </p:spPr>
      </p:pic>
      <p:sp>
        <p:nvSpPr>
          <p:cNvPr id="9" name="椭圆 8"/>
          <p:cNvSpPr/>
          <p:nvPr>
            <p:custDataLst>
              <p:tags r:id="rId3"/>
            </p:custDataLst>
          </p:nvPr>
        </p:nvSpPr>
        <p:spPr>
          <a:xfrm>
            <a:off x="1763395" y="2853055"/>
            <a:ext cx="606425" cy="36004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4211955" y="5445125"/>
            <a:ext cx="4572000" cy="368300"/>
          </a:xfrm>
          <a:prstGeom prst="rect">
            <a:avLst/>
          </a:prstGeom>
          <a:noFill/>
        </p:spPr>
        <p:txBody>
          <a:bodyPr wrap="square" rtlCol="0" anchor="t">
            <a:spAutoFit/>
          </a:bodyPr>
          <a:lstStyle/>
          <a:p>
            <a:r>
              <a:rPr lang="zh-CN" altLang="en-US">
                <a:solidFill>
                  <a:srgbClr val="FF0000"/>
                </a:solidFill>
              </a:rPr>
              <a:t>Use a variable state to record the current state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4" name="图片 3"/>
          <p:cNvPicPr>
            <a:picLocks noChangeAspect="1"/>
          </p:cNvPicPr>
          <p:nvPr>
            <p:custDataLst>
              <p:tags r:id="rId1"/>
            </p:custDataLst>
          </p:nvPr>
        </p:nvPicPr>
        <p:blipFill>
          <a:blip r:embed="rId6"/>
          <a:stretch>
            <a:fillRect/>
          </a:stretch>
        </p:blipFill>
        <p:spPr>
          <a:xfrm>
            <a:off x="539115" y="1988820"/>
            <a:ext cx="5197475" cy="3933825"/>
          </a:xfrm>
          <a:prstGeom prst="rect">
            <a:avLst/>
          </a:prstGeom>
        </p:spPr>
      </p:pic>
      <p:sp>
        <p:nvSpPr>
          <p:cNvPr id="3" name="标题 2"/>
          <p:cNvSpPr>
            <a:spLocks noGrp="1"/>
          </p:cNvSpPr>
          <p:nvPr>
            <p:ph type="title"/>
          </p:nvPr>
        </p:nvSpPr>
        <p:spPr/>
        <p:txBody>
          <a:bodyPr>
            <a:normAutofit/>
          </a:bodyPr>
          <a:lstStyle/>
          <a:p>
            <a:r>
              <a:rPr lang="zh-CN" altLang="en-US" sz="3600">
                <a:latin typeface="Palatino Linotype" panose="02040502050505030304" charset="0"/>
              </a:rPr>
              <a:t>Building a Lexical</a:t>
            </a:r>
            <a:r>
              <a:rPr lang="en-US" altLang="zh-CN" sz="3600" dirty="0">
                <a:latin typeface="Palatino Linotype" panose="02040502050505030304" charset="0"/>
              </a:rPr>
              <a:t> </a:t>
            </a:r>
            <a:r>
              <a:rPr lang="zh-CN" altLang="en-US" sz="3600">
                <a:latin typeface="Palatino Linotype" panose="02040502050505030304" charset="0"/>
              </a:rPr>
              <a:t>Analyzer from Transition Diagrams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38</a:t>
            </a:fld>
            <a:endParaRPr dirty="0"/>
          </a:p>
        </p:txBody>
      </p:sp>
      <p:pic>
        <p:nvPicPr>
          <p:cNvPr id="8" name="图片 7"/>
          <p:cNvPicPr>
            <a:picLocks noChangeAspect="1"/>
          </p:cNvPicPr>
          <p:nvPr>
            <p:custDataLst>
              <p:tags r:id="rId2"/>
            </p:custDataLst>
          </p:nvPr>
        </p:nvPicPr>
        <p:blipFill>
          <a:blip r:embed="rId7"/>
          <a:stretch>
            <a:fillRect/>
          </a:stretch>
        </p:blipFill>
        <p:spPr>
          <a:xfrm>
            <a:off x="5652135" y="1530350"/>
            <a:ext cx="3034030" cy="2191385"/>
          </a:xfrm>
          <a:prstGeom prst="rect">
            <a:avLst/>
          </a:prstGeom>
        </p:spPr>
      </p:pic>
      <p:sp>
        <p:nvSpPr>
          <p:cNvPr id="9" name="椭圆 8"/>
          <p:cNvSpPr/>
          <p:nvPr>
            <p:custDataLst>
              <p:tags r:id="rId3"/>
            </p:custDataLst>
          </p:nvPr>
        </p:nvSpPr>
        <p:spPr>
          <a:xfrm>
            <a:off x="1120140" y="2853055"/>
            <a:ext cx="1249680" cy="36004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4355465" y="4580890"/>
            <a:ext cx="4572000" cy="645160"/>
          </a:xfrm>
          <a:prstGeom prst="rect">
            <a:avLst/>
          </a:prstGeom>
          <a:noFill/>
        </p:spPr>
        <p:txBody>
          <a:bodyPr wrap="square" rtlCol="0" anchor="t">
            <a:spAutoFit/>
          </a:bodyPr>
          <a:lstStyle/>
          <a:p>
            <a:r>
              <a:rPr lang="zh-CN" altLang="en-US">
                <a:solidFill>
                  <a:srgbClr val="FF0000"/>
                </a:solidFill>
              </a:rPr>
              <a:t>A switch statement based on the value of state takes us to code for each of the possible states</a:t>
            </a:r>
          </a:p>
        </p:txBody>
      </p:sp>
      <p:sp>
        <p:nvSpPr>
          <p:cNvPr id="6" name="文本框 5"/>
          <p:cNvSpPr txBox="1"/>
          <p:nvPr/>
        </p:nvSpPr>
        <p:spPr>
          <a:xfrm>
            <a:off x="755015" y="5711190"/>
            <a:ext cx="5326380" cy="337185"/>
          </a:xfrm>
          <a:prstGeom prst="rect">
            <a:avLst/>
          </a:prstGeom>
          <a:noFill/>
        </p:spPr>
        <p:txBody>
          <a:bodyPr wrap="square" rtlCol="0" anchor="t">
            <a:spAutoFit/>
          </a:bodyPr>
          <a:lstStyle/>
          <a:p>
            <a:r>
              <a:rPr lang="zh-CN" altLang="en-US" sz="1600" b="1"/>
              <a:t>Sketch of implementation of relop transition diagram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4" name="图片 3"/>
          <p:cNvPicPr>
            <a:picLocks noChangeAspect="1"/>
          </p:cNvPicPr>
          <p:nvPr>
            <p:custDataLst>
              <p:tags r:id="rId1"/>
            </p:custDataLst>
          </p:nvPr>
        </p:nvPicPr>
        <p:blipFill>
          <a:blip r:embed="rId6"/>
          <a:stretch>
            <a:fillRect/>
          </a:stretch>
        </p:blipFill>
        <p:spPr>
          <a:xfrm>
            <a:off x="539115" y="1988820"/>
            <a:ext cx="5197475" cy="3933825"/>
          </a:xfrm>
          <a:prstGeom prst="rect">
            <a:avLst/>
          </a:prstGeom>
        </p:spPr>
      </p:pic>
      <p:sp>
        <p:nvSpPr>
          <p:cNvPr id="3" name="标题 2"/>
          <p:cNvSpPr>
            <a:spLocks noGrp="1"/>
          </p:cNvSpPr>
          <p:nvPr>
            <p:ph type="title"/>
          </p:nvPr>
        </p:nvSpPr>
        <p:spPr/>
        <p:txBody>
          <a:bodyPr>
            <a:normAutofit/>
          </a:bodyPr>
          <a:lstStyle/>
          <a:p>
            <a:r>
              <a:rPr lang="zh-CN" altLang="en-US" sz="3600">
                <a:latin typeface="Palatino Linotype" panose="02040502050505030304" charset="0"/>
              </a:rPr>
              <a:t>Building a Lexical</a:t>
            </a:r>
            <a:r>
              <a:rPr lang="en-US" altLang="zh-CN" sz="3600" dirty="0">
                <a:latin typeface="Palatino Linotype" panose="02040502050505030304" charset="0"/>
              </a:rPr>
              <a:t> </a:t>
            </a:r>
            <a:r>
              <a:rPr lang="zh-CN" altLang="en-US" sz="3600">
                <a:latin typeface="Palatino Linotype" panose="02040502050505030304" charset="0"/>
              </a:rPr>
              <a:t>Analyzer from Transition Diagrams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39</a:t>
            </a:fld>
            <a:endParaRPr dirty="0"/>
          </a:p>
        </p:txBody>
      </p:sp>
      <p:pic>
        <p:nvPicPr>
          <p:cNvPr id="8" name="图片 7"/>
          <p:cNvPicPr>
            <a:picLocks noChangeAspect="1"/>
          </p:cNvPicPr>
          <p:nvPr>
            <p:custDataLst>
              <p:tags r:id="rId2"/>
            </p:custDataLst>
          </p:nvPr>
        </p:nvPicPr>
        <p:blipFill>
          <a:blip r:embed="rId7"/>
          <a:stretch>
            <a:fillRect/>
          </a:stretch>
        </p:blipFill>
        <p:spPr>
          <a:xfrm>
            <a:off x="5652135" y="1530350"/>
            <a:ext cx="3034030" cy="2191385"/>
          </a:xfrm>
          <a:prstGeom prst="rect">
            <a:avLst/>
          </a:prstGeom>
        </p:spPr>
      </p:pic>
      <p:sp>
        <p:nvSpPr>
          <p:cNvPr id="9" name="椭圆 8"/>
          <p:cNvSpPr/>
          <p:nvPr>
            <p:custDataLst>
              <p:tags r:id="rId3"/>
            </p:custDataLst>
          </p:nvPr>
        </p:nvSpPr>
        <p:spPr>
          <a:xfrm>
            <a:off x="1403350" y="3140710"/>
            <a:ext cx="4577715" cy="12541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4859655" y="4364990"/>
            <a:ext cx="4572000" cy="1198880"/>
          </a:xfrm>
          <a:prstGeom prst="rect">
            <a:avLst/>
          </a:prstGeom>
          <a:noFill/>
        </p:spPr>
        <p:txBody>
          <a:bodyPr wrap="square" rtlCol="0" anchor="t">
            <a:spAutoFit/>
          </a:bodyPr>
          <a:lstStyle/>
          <a:p>
            <a:r>
              <a:rPr lang="zh-CN" altLang="en-US" b="1">
                <a:solidFill>
                  <a:srgbClr val="FF0000"/>
                </a:solidFill>
              </a:rPr>
              <a:t>The code of a normal state:</a:t>
            </a:r>
          </a:p>
          <a:p>
            <a:r>
              <a:rPr lang="zh-CN" altLang="en-US">
                <a:solidFill>
                  <a:srgbClr val="FF0000"/>
                </a:solidFill>
              </a:rPr>
              <a:t>1. Read the next character</a:t>
            </a:r>
          </a:p>
          <a:p>
            <a:r>
              <a:rPr lang="zh-CN" altLang="en-US">
                <a:solidFill>
                  <a:srgbClr val="FF0000"/>
                </a:solidFill>
              </a:rPr>
              <a:t>2. Determine the next state</a:t>
            </a:r>
          </a:p>
          <a:p>
            <a:r>
              <a:rPr lang="zh-CN" altLang="en-US">
                <a:solidFill>
                  <a:srgbClr val="FF0000"/>
                </a:solidFill>
              </a:rPr>
              <a:t>3. If step 2 fails, do error recovery</a:t>
            </a:r>
          </a:p>
        </p:txBody>
      </p:sp>
      <p:sp>
        <p:nvSpPr>
          <p:cNvPr id="6" name="文本框 5"/>
          <p:cNvSpPr txBox="1"/>
          <p:nvPr/>
        </p:nvSpPr>
        <p:spPr>
          <a:xfrm>
            <a:off x="755015" y="5711190"/>
            <a:ext cx="5326380" cy="337185"/>
          </a:xfrm>
          <a:prstGeom prst="rect">
            <a:avLst/>
          </a:prstGeom>
          <a:noFill/>
        </p:spPr>
        <p:txBody>
          <a:bodyPr wrap="square" rtlCol="0" anchor="t">
            <a:spAutoFit/>
          </a:bodyPr>
          <a:lstStyle/>
          <a:p>
            <a:r>
              <a:rPr lang="zh-CN" altLang="en-US" sz="1600" b="1"/>
              <a:t>Sketch of implementation of relop transition diagram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4" name="图片 3"/>
          <p:cNvPicPr>
            <a:picLocks noChangeAspect="1"/>
          </p:cNvPicPr>
          <p:nvPr>
            <p:custDataLst>
              <p:tags r:id="rId1"/>
            </p:custDataLst>
          </p:nvPr>
        </p:nvPicPr>
        <p:blipFill>
          <a:blip r:embed="rId6"/>
          <a:stretch>
            <a:fillRect/>
          </a:stretch>
        </p:blipFill>
        <p:spPr>
          <a:xfrm>
            <a:off x="539115" y="1988820"/>
            <a:ext cx="5197475" cy="3933825"/>
          </a:xfrm>
          <a:prstGeom prst="rect">
            <a:avLst/>
          </a:prstGeom>
        </p:spPr>
      </p:pic>
      <p:sp>
        <p:nvSpPr>
          <p:cNvPr id="3" name="标题 2"/>
          <p:cNvSpPr>
            <a:spLocks noGrp="1"/>
          </p:cNvSpPr>
          <p:nvPr>
            <p:ph type="title"/>
          </p:nvPr>
        </p:nvSpPr>
        <p:spPr/>
        <p:txBody>
          <a:bodyPr>
            <a:normAutofit/>
          </a:bodyPr>
          <a:lstStyle/>
          <a:p>
            <a:r>
              <a:rPr lang="zh-CN" altLang="en-US" sz="3600">
                <a:latin typeface="Palatino Linotype" panose="02040502050505030304" charset="0"/>
              </a:rPr>
              <a:t>Building a Lexical</a:t>
            </a:r>
            <a:r>
              <a:rPr lang="en-US" altLang="zh-CN" sz="3600" dirty="0">
                <a:latin typeface="Palatino Linotype" panose="02040502050505030304" charset="0"/>
              </a:rPr>
              <a:t> </a:t>
            </a:r>
            <a:r>
              <a:rPr lang="zh-CN" altLang="en-US" sz="3600">
                <a:latin typeface="Palatino Linotype" panose="02040502050505030304" charset="0"/>
              </a:rPr>
              <a:t>Analyzer from Transition Diagrams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40</a:t>
            </a:fld>
            <a:endParaRPr dirty="0"/>
          </a:p>
        </p:txBody>
      </p:sp>
      <p:pic>
        <p:nvPicPr>
          <p:cNvPr id="8" name="图片 7"/>
          <p:cNvPicPr>
            <a:picLocks noChangeAspect="1"/>
          </p:cNvPicPr>
          <p:nvPr>
            <p:custDataLst>
              <p:tags r:id="rId2"/>
            </p:custDataLst>
          </p:nvPr>
        </p:nvPicPr>
        <p:blipFill>
          <a:blip r:embed="rId7"/>
          <a:stretch>
            <a:fillRect/>
          </a:stretch>
        </p:blipFill>
        <p:spPr>
          <a:xfrm>
            <a:off x="5652135" y="1530350"/>
            <a:ext cx="3034030" cy="2191385"/>
          </a:xfrm>
          <a:prstGeom prst="rect">
            <a:avLst/>
          </a:prstGeom>
        </p:spPr>
      </p:pic>
      <p:sp>
        <p:nvSpPr>
          <p:cNvPr id="9" name="椭圆 8"/>
          <p:cNvSpPr/>
          <p:nvPr>
            <p:custDataLst>
              <p:tags r:id="rId3"/>
            </p:custDataLst>
          </p:nvPr>
        </p:nvSpPr>
        <p:spPr>
          <a:xfrm>
            <a:off x="1331595" y="4580890"/>
            <a:ext cx="3174365" cy="87630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4859655" y="4364990"/>
            <a:ext cx="4572000" cy="1198880"/>
          </a:xfrm>
          <a:prstGeom prst="rect">
            <a:avLst/>
          </a:prstGeom>
          <a:noFill/>
        </p:spPr>
        <p:txBody>
          <a:bodyPr wrap="square" rtlCol="0" anchor="t">
            <a:spAutoFit/>
          </a:bodyPr>
          <a:lstStyle/>
          <a:p>
            <a:r>
              <a:rPr lang="zh-CN" altLang="en-US" b="1">
                <a:solidFill>
                  <a:srgbClr val="FF0000"/>
                </a:solidFill>
              </a:rPr>
              <a:t>The code of an accepting state:</a:t>
            </a:r>
          </a:p>
          <a:p>
            <a:r>
              <a:rPr lang="zh-CN" altLang="en-US">
                <a:solidFill>
                  <a:srgbClr val="FF0000"/>
                </a:solidFill>
              </a:rPr>
              <a:t>1. Perform retraction if the state has *</a:t>
            </a:r>
          </a:p>
          <a:p>
            <a:r>
              <a:rPr lang="zh-CN" altLang="en-US">
                <a:solidFill>
                  <a:srgbClr val="FF0000"/>
                </a:solidFill>
              </a:rPr>
              <a:t>2. Set token attribute values</a:t>
            </a:r>
          </a:p>
          <a:p>
            <a:r>
              <a:rPr lang="zh-CN" altLang="en-US">
                <a:solidFill>
                  <a:srgbClr val="FF0000"/>
                </a:solidFill>
              </a:rPr>
              <a:t>3. Return the token to parser</a:t>
            </a:r>
          </a:p>
        </p:txBody>
      </p:sp>
      <p:sp>
        <p:nvSpPr>
          <p:cNvPr id="6" name="文本框 5"/>
          <p:cNvSpPr txBox="1"/>
          <p:nvPr/>
        </p:nvSpPr>
        <p:spPr>
          <a:xfrm>
            <a:off x="755015" y="5711190"/>
            <a:ext cx="5326380" cy="337185"/>
          </a:xfrm>
          <a:prstGeom prst="rect">
            <a:avLst/>
          </a:prstGeom>
          <a:noFill/>
        </p:spPr>
        <p:txBody>
          <a:bodyPr wrap="square" rtlCol="0" anchor="t">
            <a:spAutoFit/>
          </a:bodyPr>
          <a:lstStyle/>
          <a:p>
            <a:r>
              <a:rPr lang="zh-CN" altLang="en-US" sz="1600" b="1"/>
              <a:t>Sketch of implementation of relop transition diagram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Building the Entire Lexical Analyzer</a:t>
            </a:r>
          </a:p>
        </p:txBody>
      </p:sp>
      <p:sp>
        <p:nvSpPr>
          <p:cNvPr id="4" name="内容占位符 3"/>
          <p:cNvSpPr>
            <a:spLocks noGrp="1"/>
          </p:cNvSpPr>
          <p:nvPr>
            <p:ph idx="1"/>
          </p:nvPr>
        </p:nvSpPr>
        <p:spPr/>
        <p:txBody>
          <a:bodyPr>
            <a:noAutofit/>
          </a:bodyPr>
          <a:lstStyle/>
          <a:p>
            <a:pPr marL="17145" algn="l" rtl="0" eaLnBrk="0" fontAlgn="auto">
              <a:lnSpc>
                <a:spcPct val="150000"/>
              </a:lnSpc>
              <a:spcBef>
                <a:spcPts val="0"/>
              </a:spcBef>
            </a:pPr>
            <a:r>
              <a:rPr sz="2000" b="1" dirty="0">
                <a:solidFill>
                  <a:srgbClr val="FF0000"/>
                </a:solidFill>
                <a:latin typeface="Palatino Linotype" panose="02040502050505030304" charset="0"/>
                <a:ea typeface="Palatino Linotype" panose="02040502050505030304"/>
                <a:cs typeface="Palatino Linotype" panose="02040502050505030304"/>
                <a:sym typeface="+mn-ea"/>
              </a:rPr>
              <a:t>Strategy 1</a:t>
            </a:r>
            <a:r>
              <a:rPr sz="2000" dirty="0">
                <a:latin typeface="Palatino Linotype" panose="02040502050505030304" charset="0"/>
                <a:ea typeface="Palatino Linotype" panose="02040502050505030304"/>
                <a:cs typeface="Palatino Linotype" panose="02040502050505030304"/>
                <a:sym typeface="+mn-ea"/>
              </a:rPr>
              <a:t>: Try the transition diagram for each token sequentially</a:t>
            </a:r>
          </a:p>
          <a:p>
            <a:pPr marL="0" indent="45720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fail() resets the pointer forward and starts the next diagram</a:t>
            </a:r>
          </a:p>
          <a:p>
            <a:pPr marL="17145" algn="l" rtl="0" eaLnBrk="0" fontAlgn="auto">
              <a:lnSpc>
                <a:spcPct val="150000"/>
              </a:lnSpc>
              <a:spcBef>
                <a:spcPts val="0"/>
              </a:spcBef>
            </a:pPr>
            <a:r>
              <a:rPr sz="2000" b="1" dirty="0">
                <a:solidFill>
                  <a:srgbClr val="FF0000"/>
                </a:solidFill>
                <a:latin typeface="Palatino Linotype" panose="02040502050505030304" charset="0"/>
                <a:ea typeface="Palatino Linotype" panose="02040502050505030304"/>
                <a:cs typeface="Palatino Linotype" panose="02040502050505030304"/>
                <a:sym typeface="+mn-ea"/>
              </a:rPr>
              <a:t>Strategy 2</a:t>
            </a:r>
            <a:r>
              <a:rPr sz="2000" dirty="0">
                <a:latin typeface="Palatino Linotype" panose="02040502050505030304" charset="0"/>
                <a:ea typeface="Palatino Linotype" panose="02040502050505030304"/>
                <a:cs typeface="Palatino Linotype" panose="02040502050505030304"/>
                <a:sym typeface="+mn-ea"/>
              </a:rPr>
              <a:t>: Run transition diagrams in parallel</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Need to resolve the case where one diagram finds a lexeme and others are still able to process input.</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t>
            </a:r>
            <a:r>
              <a:rPr sz="1800" b="1" dirty="0">
                <a:solidFill>
                  <a:srgbClr val="0331FF"/>
                </a:solidFill>
                <a:latin typeface="Palatino Linotype" panose="02040502050505030304" charset="0"/>
                <a:ea typeface="Palatino Linotype" panose="02040502050505030304"/>
                <a:cs typeface="Palatino Linotype" panose="02040502050505030304"/>
                <a:sym typeface="+mn-ea"/>
              </a:rPr>
              <a:t>Solution</a:t>
            </a:r>
            <a:r>
              <a:rPr sz="1800" b="1" dirty="0">
                <a:latin typeface="Palatino Linotype" panose="02040502050505030304" charset="0"/>
                <a:ea typeface="Palatino Linotype" panose="02040502050505030304"/>
                <a:cs typeface="Palatino Linotype" panose="02040502050505030304"/>
                <a:sym typeface="+mn-ea"/>
              </a:rPr>
              <a:t>: </a:t>
            </a:r>
            <a:r>
              <a:rPr sz="1800" dirty="0">
                <a:latin typeface="Palatino Linotype" panose="02040502050505030304" charset="0"/>
                <a:ea typeface="Palatino Linotype" panose="02040502050505030304"/>
                <a:cs typeface="Palatino Linotype" panose="02040502050505030304"/>
                <a:sym typeface="+mn-ea"/>
              </a:rPr>
              <a:t>take the longest prefix of the input that matches any pattern</a:t>
            </a:r>
          </a:p>
          <a:p>
            <a:pPr marL="17145" algn="l" rtl="0" eaLnBrk="0" fontAlgn="auto">
              <a:lnSpc>
                <a:spcPct val="150000"/>
              </a:lnSpc>
              <a:spcBef>
                <a:spcPts val="0"/>
              </a:spcBef>
            </a:pPr>
            <a:r>
              <a:rPr sz="2000" b="1" dirty="0">
                <a:solidFill>
                  <a:srgbClr val="FF0000"/>
                </a:solidFill>
                <a:latin typeface="Palatino Linotype" panose="02040502050505030304" charset="0"/>
                <a:ea typeface="Palatino Linotype" panose="02040502050505030304"/>
                <a:cs typeface="Palatino Linotype" panose="02040502050505030304"/>
                <a:sym typeface="+mn-ea"/>
              </a:rPr>
              <a:t>Strategy 3</a:t>
            </a:r>
            <a:r>
              <a:rPr sz="2000" dirty="0">
                <a:solidFill>
                  <a:srgbClr val="FF0000"/>
                </a:solidFill>
                <a:latin typeface="Palatino Linotype" panose="02040502050505030304" charset="0"/>
                <a:ea typeface="Palatino Linotype" panose="02040502050505030304"/>
                <a:cs typeface="Palatino Linotype" panose="02040502050505030304"/>
                <a:sym typeface="+mn-ea"/>
              </a:rPr>
              <a:t>: Combining all transition diagrams into one (preferred)</a:t>
            </a:r>
            <a:endParaRPr sz="20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Allow the transition diagram to read input until there is no possible</a:t>
            </a:r>
            <a:r>
              <a:rPr lang="en-US" sz="1800" dirty="0">
                <a:latin typeface="Palatino Linotype" panose="02040502050505030304" charset="0"/>
                <a:ea typeface="Palatino Linotype" panose="02040502050505030304"/>
                <a:cs typeface="Palatino Linotype" panose="02040502050505030304"/>
                <a:sym typeface="+mn-ea"/>
              </a:rPr>
              <a:t> </a:t>
            </a:r>
            <a:r>
              <a:rPr sz="1800" dirty="0">
                <a:latin typeface="Palatino Linotype" panose="02040502050505030304" charset="0"/>
                <a:ea typeface="Palatino Linotype" panose="02040502050505030304"/>
                <a:cs typeface="Palatino Linotype" panose="02040502050505030304"/>
                <a:sym typeface="+mn-ea"/>
              </a:rPr>
              <a:t>next state</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Take the longest lexeme that matched any pattern</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41</a:t>
            </a:fld>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zh-CN" altLang="en-US" sz="3600">
                <a:latin typeface="Palatino Linotype" panose="02040502050505030304" charset="0"/>
              </a:rPr>
              <a:t>Outline</a:t>
            </a:r>
          </a:p>
        </p:txBody>
      </p:sp>
      <p:sp>
        <p:nvSpPr>
          <p:cNvPr id="4" name="内容占位符 3"/>
          <p:cNvSpPr>
            <a:spLocks noGrp="1"/>
          </p:cNvSpPr>
          <p:nvPr>
            <p:ph idx="1"/>
          </p:nvPr>
        </p:nvSpPr>
        <p:spPr>
          <a:xfrm>
            <a:off x="628650" y="1825625"/>
            <a:ext cx="7886700" cy="4351338"/>
          </a:xfrm>
        </p:spPr>
        <p:txBody>
          <a:bodyPr>
            <a:normAutofit fontScale="92500" lnSpcReduction="10000"/>
          </a:bodyPr>
          <a:lstStyle/>
          <a:p>
            <a:pPr marL="12700" algn="l" rtl="0" eaLnBrk="0">
              <a:lnSpc>
                <a:spcPct val="81000"/>
              </a:lnSpc>
              <a:spcBef>
                <a:spcPts val="730"/>
              </a:spcBef>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The</a:t>
            </a:r>
            <a:r>
              <a:rPr sz="2750" spc="2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Role</a:t>
            </a:r>
            <a:r>
              <a:rPr sz="2750" spc="2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of</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Lexical Analyzer</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25000"/>
              </a:lnSpc>
            </a:pPr>
            <a:endParaRPr lang="en-US" altLang="en-US" sz="2750" dirty="0">
              <a:solidFill>
                <a:schemeClr val="bg2">
                  <a:lumMod val="50000"/>
                </a:schemeClr>
              </a:solidFill>
              <a:latin typeface="Palatino Linotype" panose="02040502050505030304" charset="0"/>
              <a:cs typeface="Ubuntu Mono derivative Powerline" charset="0"/>
            </a:endParaRPr>
          </a:p>
          <a:p>
            <a:pPr marL="12700" algn="l" rtl="0" eaLnBrk="0">
              <a:lnSpc>
                <a:spcPct val="81000"/>
              </a:lnSpc>
              <a:spcBef>
                <a:spcPts val="730"/>
              </a:spcBef>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Specification of Tokens (Regular Expressions)</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26000"/>
              </a:lnSpc>
            </a:pPr>
            <a:endParaRPr lang="en-US" altLang="en-US" sz="2750" dirty="0">
              <a:solidFill>
                <a:schemeClr val="bg2">
                  <a:lumMod val="50000"/>
                </a:schemeClr>
              </a:solidFill>
              <a:latin typeface="Palatino Linotype" panose="02040502050505030304" charset="0"/>
              <a:cs typeface="Ubuntu Mono derivative Powerline" charset="0"/>
            </a:endParaRPr>
          </a:p>
          <a:p>
            <a:pPr marL="12700" algn="l" rtl="0" eaLnBrk="0">
              <a:lnSpc>
                <a:spcPct val="81000"/>
              </a:lnSpc>
              <a:spcBef>
                <a:spcPts val="720"/>
              </a:spcBef>
            </a:pP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Recog</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nition</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of</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Tokens</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Transition</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Diagrams</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25000"/>
              </a:lnSpc>
            </a:pPr>
            <a:endParaRPr lang="en-US" altLang="en-US" sz="2750" dirty="0">
              <a:solidFill>
                <a:schemeClr val="bg1">
                  <a:lumMod val="75000"/>
                </a:schemeClr>
              </a:solidFill>
              <a:latin typeface="Palatino Linotype" panose="02040502050505030304" charset="0"/>
              <a:cs typeface="Ubuntu Mono derivative Powerline" charset="0"/>
            </a:endParaRPr>
          </a:p>
          <a:p>
            <a:pPr marL="12700" algn="l" rtl="0" eaLnBrk="0">
              <a:lnSpc>
                <a:spcPts val="2945"/>
              </a:lnSpc>
              <a:spcBef>
                <a:spcPts val="730"/>
              </a:spcBef>
            </a:pP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The</a:t>
            </a:r>
            <a:r>
              <a:rPr sz="2750" spc="4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Lexical</a:t>
            </a:r>
            <a:r>
              <a:rPr sz="2750" spc="4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a:t>
            </a: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Analyzer</a:t>
            </a:r>
            <a:r>
              <a:rPr sz="2750" spc="3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Generator</a:t>
            </a:r>
            <a:endParaRPr lang="en-US" altLang="en-US" sz="2750" dirty="0">
              <a:solidFill>
                <a:schemeClr val="tx1"/>
              </a:solidFill>
              <a:latin typeface="Palatino Linotype" panose="02040502050505030304" charset="0"/>
              <a:cs typeface="Ubuntu Mono derivative Powerline" charset="0"/>
            </a:endParaRPr>
          </a:p>
          <a:p>
            <a:pPr algn="l" rtl="0" eaLnBrk="0">
              <a:lnSpc>
                <a:spcPct val="100000"/>
              </a:lnSpc>
            </a:pPr>
            <a:endParaRPr lang="en-US" altLang="en-US" sz="2750" dirty="0">
              <a:solidFill>
                <a:schemeClr val="bg1">
                  <a:lumMod val="75000"/>
                </a:schemeClr>
              </a:solidFill>
              <a:latin typeface="Palatino Linotype" panose="02040502050505030304" charset="0"/>
              <a:cs typeface="Ubuntu Mono derivative Powerline" charset="0"/>
            </a:endParaRPr>
          </a:p>
          <a:p>
            <a:pPr marL="12700" algn="l" rtl="0" eaLnBrk="0">
              <a:lnSpc>
                <a:spcPct val="96000"/>
              </a:lnSpc>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Finite</a:t>
            </a:r>
            <a:r>
              <a:rPr sz="2750" spc="3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Automata</a:t>
            </a:r>
            <a:endParaRPr lang="zh-CN" altLang="en-US"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42</a:t>
            </a:fld>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The Lexical-Analyzer Generator Lex</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Lex, or a more recent tool Flex, allows one to specify a lexical analyzer by specifying regexps to describe patterns for tokens</a:t>
            </a:r>
          </a:p>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Often used with Yacc/Bison to create the frontend of compiler</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43</a:t>
            </a:fld>
            <a:endParaRPr dirty="0"/>
          </a:p>
        </p:txBody>
      </p:sp>
      <p:pic>
        <p:nvPicPr>
          <p:cNvPr id="6" name="图片 5"/>
          <p:cNvPicPr>
            <a:picLocks noChangeAspect="1"/>
          </p:cNvPicPr>
          <p:nvPr>
            <p:custDataLst>
              <p:tags r:id="rId1"/>
            </p:custDataLst>
          </p:nvPr>
        </p:nvPicPr>
        <p:blipFill>
          <a:blip r:embed="rId5"/>
          <a:stretch>
            <a:fillRect/>
          </a:stretch>
        </p:blipFill>
        <p:spPr>
          <a:xfrm>
            <a:off x="2411730" y="3644900"/>
            <a:ext cx="4606290" cy="2633980"/>
          </a:xfrm>
          <a:prstGeom prst="rect">
            <a:avLst/>
          </a:prstGeom>
        </p:spPr>
      </p:pic>
      <p:sp>
        <p:nvSpPr>
          <p:cNvPr id="7" name="文本框 6"/>
          <p:cNvSpPr txBox="1"/>
          <p:nvPr/>
        </p:nvSpPr>
        <p:spPr>
          <a:xfrm>
            <a:off x="899160" y="4436745"/>
            <a:ext cx="1787525" cy="737235"/>
          </a:xfrm>
          <a:prstGeom prst="rect">
            <a:avLst/>
          </a:prstGeom>
          <a:noFill/>
        </p:spPr>
        <p:txBody>
          <a:bodyPr wrap="square" rtlCol="0" anchor="t">
            <a:spAutoFit/>
          </a:bodyPr>
          <a:lstStyle/>
          <a:p>
            <a:r>
              <a:rPr lang="zh-CN" altLang="en-US" sz="1400">
                <a:solidFill>
                  <a:srgbClr val="FF0000"/>
                </a:solidFill>
              </a:rPr>
              <a:t>Describes the lexical analyzer in the Lex</a:t>
            </a:r>
            <a:r>
              <a:rPr lang="en-US" altLang="zh-CN" sz="1400" dirty="0">
                <a:solidFill>
                  <a:srgbClr val="FF0000"/>
                </a:solidFill>
              </a:rPr>
              <a:t> </a:t>
            </a:r>
            <a:r>
              <a:rPr lang="zh-CN" altLang="en-US" sz="1400">
                <a:solidFill>
                  <a:srgbClr val="FF0000"/>
                </a:solidFill>
              </a:rPr>
              <a:t>language</a:t>
            </a:r>
          </a:p>
        </p:txBody>
      </p:sp>
      <p:cxnSp>
        <p:nvCxnSpPr>
          <p:cNvPr id="8" name="直接箭头连接符 7"/>
          <p:cNvCxnSpPr/>
          <p:nvPr/>
        </p:nvCxnSpPr>
        <p:spPr>
          <a:xfrm flipV="1">
            <a:off x="1997710" y="4076700"/>
            <a:ext cx="845820" cy="40132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6948170" y="4869180"/>
            <a:ext cx="1801495" cy="583565"/>
          </a:xfrm>
          <a:prstGeom prst="rect">
            <a:avLst/>
          </a:prstGeom>
          <a:noFill/>
        </p:spPr>
        <p:txBody>
          <a:bodyPr wrap="square" rtlCol="0" anchor="t">
            <a:spAutoFit/>
          </a:bodyPr>
          <a:lstStyle/>
          <a:p>
            <a:r>
              <a:rPr lang="zh-CN" altLang="en-US" sz="1600">
                <a:solidFill>
                  <a:srgbClr val="FF0000"/>
                </a:solidFill>
              </a:rPr>
              <a:t>A working lexical </a:t>
            </a:r>
          </a:p>
          <a:p>
            <a:r>
              <a:rPr lang="zh-CN" altLang="en-US" sz="1600">
                <a:solidFill>
                  <a:srgbClr val="FF0000"/>
                </a:solidFill>
              </a:rPr>
              <a:t>analyzer</a:t>
            </a:r>
          </a:p>
        </p:txBody>
      </p:sp>
      <p:cxnSp>
        <p:nvCxnSpPr>
          <p:cNvPr id="10" name="直接箭头连接符 9"/>
          <p:cNvCxnSpPr>
            <a:stCxn id="9" idx="1"/>
          </p:cNvCxnSpPr>
          <p:nvPr>
            <p:custDataLst>
              <p:tags r:id="rId2"/>
            </p:custDataLst>
          </p:nvPr>
        </p:nvCxnSpPr>
        <p:spPr>
          <a:xfrm flipH="1" flipV="1">
            <a:off x="6299835" y="4725035"/>
            <a:ext cx="648335" cy="43624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Structure of Lex Programs</a:t>
            </a:r>
          </a:p>
        </p:txBody>
      </p:sp>
      <p:sp>
        <p:nvSpPr>
          <p:cNvPr id="4" name="内容占位符 3"/>
          <p:cNvSpPr>
            <a:spLocks noGrp="1"/>
          </p:cNvSpPr>
          <p:nvPr>
            <p:ph idx="1"/>
          </p:nvPr>
        </p:nvSpPr>
        <p:spPr>
          <a:xfrm>
            <a:off x="628650" y="1556385"/>
            <a:ext cx="7886700" cy="4351338"/>
          </a:xfrm>
        </p:spPr>
        <p:txBody>
          <a:bodyPr>
            <a:noAutofit/>
          </a:bodyPr>
          <a:lstStyle/>
          <a:p>
            <a:pPr marL="17145" algn="l" rtl="0" eaLnBrk="0" fontAlgn="auto">
              <a:lnSpc>
                <a:spcPct val="150000"/>
              </a:lnSpc>
              <a:spcBef>
                <a:spcPts val="0"/>
              </a:spcBef>
            </a:pPr>
            <a:r>
              <a:rPr sz="2000" b="1" dirty="0">
                <a:latin typeface="Palatino Linotype" panose="02040502050505030304" charset="0"/>
                <a:ea typeface="Palatino Linotype" panose="02040502050505030304"/>
                <a:cs typeface="Palatino Linotype" panose="02040502050505030304"/>
                <a:sym typeface="+mn-ea"/>
              </a:rPr>
              <a:t>A Lex program has three sections separated by %%</a:t>
            </a:r>
          </a:p>
          <a:p>
            <a:pPr marL="0" indent="45720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Declaration (声明)</a:t>
            </a:r>
            <a:endParaRPr sz="2000" dirty="0">
              <a:latin typeface="Palatino Linotype" panose="02040502050505030304" charset="0"/>
              <a:ea typeface="Palatino Linotype" panose="02040502050505030304"/>
              <a:cs typeface="Palatino Linotype" panose="02040502050505030304"/>
              <a:sym typeface="+mn-ea"/>
            </a:endParaRPr>
          </a:p>
          <a:p>
            <a:pPr marL="931545" lvl="2"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Variables, manifest constants (e.g., token names)</a:t>
            </a:r>
          </a:p>
          <a:p>
            <a:pPr marL="931545" lvl="2"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Regular definitions</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Translation rules (转换规则)</a:t>
            </a:r>
            <a:r>
              <a:rPr sz="2000" dirty="0">
                <a:latin typeface="Palatino Linotype" panose="02040502050505030304" charset="0"/>
                <a:ea typeface="Palatino Linotype" panose="02040502050505030304"/>
                <a:cs typeface="Palatino Linotype" panose="02040502050505030304"/>
                <a:sym typeface="+mn-ea"/>
              </a:rPr>
              <a:t> in the form “Pattern {Action}”</a:t>
            </a:r>
          </a:p>
          <a:p>
            <a:pPr marL="931545" lvl="2"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Each </a:t>
            </a:r>
            <a:r>
              <a:rPr sz="1800" dirty="0">
                <a:solidFill>
                  <a:srgbClr val="0331FF"/>
                </a:solidFill>
                <a:latin typeface="Palatino Linotype" panose="02040502050505030304" charset="0"/>
                <a:ea typeface="Palatino Linotype" panose="02040502050505030304"/>
                <a:cs typeface="Palatino Linotype" panose="02040502050505030304"/>
                <a:sym typeface="+mn-ea"/>
              </a:rPr>
              <a:t>pattern (模式)</a:t>
            </a:r>
            <a:r>
              <a:rPr sz="1800" dirty="0">
                <a:latin typeface="Palatino Linotype" panose="02040502050505030304" charset="0"/>
                <a:ea typeface="Palatino Linotype" panose="02040502050505030304"/>
                <a:cs typeface="Palatino Linotype" panose="02040502050505030304"/>
                <a:sym typeface="+mn-ea"/>
              </a:rPr>
              <a:t> is a regexp (may use the regular definitions of the declaration section)</a:t>
            </a:r>
          </a:p>
          <a:p>
            <a:pPr marL="931545" lvl="2" algn="l" rtl="0" eaLnBrk="0" fontAlgn="auto">
              <a:lnSpc>
                <a:spcPct val="150000"/>
              </a:lnSpc>
              <a:spcBef>
                <a:spcPts val="0"/>
              </a:spcBef>
            </a:pPr>
            <a:r>
              <a:rPr sz="1800" dirty="0">
                <a:solidFill>
                  <a:srgbClr val="0331FF"/>
                </a:solidFill>
                <a:latin typeface="Palatino Linotype" panose="02040502050505030304" charset="0"/>
                <a:ea typeface="Palatino Linotype" panose="02040502050505030304"/>
                <a:cs typeface="Palatino Linotype" panose="02040502050505030304"/>
                <a:sym typeface="+mn-ea"/>
              </a:rPr>
              <a:t>Actions (动作)</a:t>
            </a:r>
            <a:r>
              <a:rPr sz="1800" dirty="0">
                <a:latin typeface="Palatino Linotype" panose="02040502050505030304" charset="0"/>
                <a:ea typeface="Palatino Linotype" panose="02040502050505030304"/>
                <a:cs typeface="Palatino Linotype" panose="02040502050505030304"/>
                <a:sym typeface="+mn-ea"/>
              </a:rPr>
              <a:t> are fragments of code, typically in C, which are executed when the pattern is matched </a:t>
            </a:r>
          </a:p>
          <a:p>
            <a:pPr marL="0" indent="45720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Auxiliary functions section (辅助函数)</a:t>
            </a:r>
            <a:endParaRPr sz="2000" dirty="0">
              <a:latin typeface="Palatino Linotype" panose="02040502050505030304" charset="0"/>
              <a:ea typeface="Palatino Linotype" panose="02040502050505030304"/>
              <a:cs typeface="Palatino Linotype" panose="02040502050505030304"/>
              <a:sym typeface="+mn-ea"/>
            </a:endParaRPr>
          </a:p>
          <a:p>
            <a:pPr marL="931545" lvl="2"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Additional functions that can be used in the actions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44</a:t>
            </a:fld>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 name="picture 181"/>
          <p:cNvPicPr>
            <a:picLocks noChangeAspect="1"/>
          </p:cNvPicPr>
          <p:nvPr/>
        </p:nvPicPr>
        <p:blipFill>
          <a:blip r:embed="rId3"/>
          <a:stretch>
            <a:fillRect/>
          </a:stretch>
        </p:blipFill>
        <p:spPr>
          <a:xfrm rot="21600000">
            <a:off x="780288" y="1734311"/>
            <a:ext cx="5753100" cy="4061459"/>
          </a:xfrm>
          <a:prstGeom prst="rect">
            <a:avLst/>
          </a:prstGeom>
        </p:spPr>
      </p:pic>
      <p:graphicFrame>
        <p:nvGraphicFramePr>
          <p:cNvPr id="182" name="table 182"/>
          <p:cNvGraphicFramePr>
            <a:graphicFrameLocks noGrp="1"/>
          </p:cNvGraphicFramePr>
          <p:nvPr/>
        </p:nvGraphicFramePr>
        <p:xfrm>
          <a:off x="5860160" y="1813940"/>
          <a:ext cx="3132455" cy="1398904"/>
        </p:xfrm>
        <a:graphic>
          <a:graphicData uri="http://schemas.openxmlformats.org/drawingml/2006/table">
            <a:tbl>
              <a:tblPr/>
              <a:tblGrid>
                <a:gridCol w="3132455">
                  <a:extLst>
                    <a:ext uri="{9D8B030D-6E8A-4147-A177-3AD203B41FA5}">
                      <a16:colId xmlns:a16="http://schemas.microsoft.com/office/drawing/2014/main" val="20000"/>
                    </a:ext>
                  </a:extLst>
                </a:gridCol>
              </a:tblGrid>
              <a:tr h="1398904">
                <a:tc>
                  <a:txBody>
                    <a:bodyPr/>
                    <a:lstStyle/>
                    <a:p>
                      <a:pPr algn="l" rtl="0" eaLnBrk="0">
                        <a:lnSpc>
                          <a:spcPct val="103000"/>
                        </a:lnSpc>
                      </a:pPr>
                      <a:endParaRPr lang="en-US" altLang="en-US" sz="400" dirty="0"/>
                    </a:p>
                    <a:p>
                      <a:pPr marL="106045" indent="-635" algn="l" rtl="0" eaLnBrk="0">
                        <a:lnSpc>
                          <a:spcPct val="104000"/>
                        </a:lnSpc>
                        <a:spcBef>
                          <a:spcPts val="0"/>
                        </a:spcBef>
                      </a:pP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Anything</a:t>
                      </a:r>
                      <a:r>
                        <a:rPr sz="1500" spc="1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in</a:t>
                      </a:r>
                      <a:r>
                        <a:rPr sz="1500" spc="1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between</a:t>
                      </a:r>
                      <a:r>
                        <a:rPr sz="1500" spc="1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110" dirty="0">
                          <a:solidFill>
                            <a:srgbClr val="000000">
                              <a:alpha val="100000"/>
                            </a:srgbClr>
                          </a:solidFill>
                          <a:latin typeface="Consolas" panose="020B0609020204030204"/>
                          <a:ea typeface="Consolas" panose="020B0609020204030204"/>
                          <a:cs typeface="Consolas" panose="020B06090202040302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and</a:t>
                      </a:r>
                      <a:r>
                        <a:rPr sz="1500" spc="1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110" dirty="0">
                          <a:solidFill>
                            <a:srgbClr val="000000">
                              <a:alpha val="100000"/>
                            </a:srgbClr>
                          </a:solidFill>
                          <a:latin typeface="Consolas" panose="020B0609020204030204"/>
                          <a:ea typeface="Consolas" panose="020B0609020204030204"/>
                          <a:cs typeface="Consolas" panose="020B0609020204030204"/>
                        </a:rPr>
                        <a:t>}</a:t>
                      </a:r>
                      <a:r>
                        <a:rPr sz="1500" spc="40" dirty="0">
                          <a:solidFill>
                            <a:srgbClr val="000000">
                              <a:alpha val="100000"/>
                            </a:srgbClr>
                          </a:solidFill>
                          <a:latin typeface="Consolas" panose="020B0609020204030204"/>
                          <a:ea typeface="Consolas" panose="020B0609020204030204"/>
                          <a:cs typeface="Consolas" panose="020B0609020204030204"/>
                        </a:rPr>
                        <a:t>%</a:t>
                      </a:r>
                      <a:r>
                        <a:rPr sz="1500" spc="0" dirty="0">
                          <a:solidFill>
                            <a:srgbClr val="000000">
                              <a:alpha val="100000"/>
                            </a:srgbClr>
                          </a:solidFill>
                          <a:latin typeface="Consolas" panose="020B0609020204030204"/>
                          <a:ea typeface="Consolas" panose="020B0609020204030204"/>
                          <a:cs typeface="Consolas" panose="020B06090202040302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is</a:t>
                      </a:r>
                      <a:r>
                        <a:rPr sz="1500" spc="20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copied</a:t>
                      </a:r>
                      <a:r>
                        <a:rPr sz="1500" spc="20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directly</a:t>
                      </a:r>
                      <a:r>
                        <a:rPr sz="1500" spc="20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to</a:t>
                      </a:r>
                      <a:r>
                        <a:rPr sz="1500" spc="20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Consolas" panose="020B0609020204030204"/>
                          <a:ea typeface="Consolas" panose="020B0609020204030204"/>
                          <a:cs typeface="Consolas" panose="020B0609020204030204"/>
                        </a:rPr>
                        <a:t>lex</a:t>
                      </a:r>
                      <a:r>
                        <a:rPr sz="1500" spc="200" dirty="0">
                          <a:solidFill>
                            <a:srgbClr val="000000">
                              <a:alpha val="100000"/>
                            </a:srgbClr>
                          </a:solidFill>
                          <a:latin typeface="Consolas" panose="020B0609020204030204"/>
                          <a:ea typeface="Consolas" panose="020B0609020204030204"/>
                          <a:cs typeface="Consolas" panose="020B0609020204030204"/>
                        </a:rPr>
                        <a:t>.</a:t>
                      </a:r>
                      <a:r>
                        <a:rPr sz="1500" spc="0" dirty="0">
                          <a:solidFill>
                            <a:srgbClr val="000000">
                              <a:alpha val="100000"/>
                            </a:srgbClr>
                          </a:solidFill>
                          <a:latin typeface="Consolas" panose="020B0609020204030204"/>
                          <a:ea typeface="Consolas" panose="020B0609020204030204"/>
                          <a:cs typeface="Consolas" panose="020B0609020204030204"/>
                        </a:rPr>
                        <a:t>yy</a:t>
                      </a:r>
                      <a:r>
                        <a:rPr sz="1500" spc="200" dirty="0">
                          <a:solidFill>
                            <a:srgbClr val="000000">
                              <a:alpha val="100000"/>
                            </a:srgbClr>
                          </a:solidFill>
                          <a:latin typeface="Consolas" panose="020B0609020204030204"/>
                          <a:ea typeface="Consolas" panose="020B0609020204030204"/>
                          <a:cs typeface="Consolas" panose="020B0609020204030204"/>
                        </a:rPr>
                        <a:t>.</a:t>
                      </a:r>
                      <a:r>
                        <a:rPr sz="1500" spc="0" dirty="0">
                          <a:solidFill>
                            <a:srgbClr val="000000">
                              <a:alpha val="100000"/>
                            </a:srgbClr>
                          </a:solidFill>
                          <a:latin typeface="Consolas" panose="020B0609020204030204"/>
                          <a:ea typeface="Consolas" panose="020B0609020204030204"/>
                          <a:cs typeface="Consolas" panose="020B0609020204030204"/>
                        </a:rPr>
                        <a:t>c</a:t>
                      </a:r>
                      <a:r>
                        <a:rPr sz="1500" spc="17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t>
                      </a:r>
                      <a:endParaRPr lang="en-US" altLang="en-US" sz="1500" dirty="0"/>
                    </a:p>
                    <a:p>
                      <a:pPr algn="l" rtl="0" eaLnBrk="0">
                        <a:lnSpc>
                          <a:spcPct val="115000"/>
                        </a:lnSpc>
                      </a:pPr>
                      <a:endParaRPr lang="en-US" altLang="en-US" sz="500" dirty="0"/>
                    </a:p>
                    <a:p>
                      <a:pPr marL="109855" indent="-2540" algn="l" rtl="0" eaLnBrk="0">
                        <a:lnSpc>
                          <a:spcPct val="112000"/>
                        </a:lnSpc>
                        <a:spcBef>
                          <a:spcPts val="0"/>
                        </a:spcBef>
                      </a:pP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In</a:t>
                      </a:r>
                      <a:r>
                        <a:rPr sz="1500" spc="19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the</a:t>
                      </a:r>
                      <a:r>
                        <a:rPr sz="1500" spc="19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example</a:t>
                      </a:r>
                      <a:r>
                        <a:rPr sz="1500" spc="19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there</a:t>
                      </a:r>
                      <a:r>
                        <a:rPr sz="1500" spc="19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is</a:t>
                      </a:r>
                      <a:r>
                        <a:rPr sz="1500" spc="19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only</a:t>
                      </a:r>
                      <a:r>
                        <a:rPr sz="1500" spc="1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       comment</a:t>
                      </a:r>
                      <a:r>
                        <a:rPr sz="1500" spc="20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not</a:t>
                      </a:r>
                      <a:r>
                        <a:rPr sz="1500" spc="20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real</a:t>
                      </a:r>
                      <a:r>
                        <a:rPr sz="1500" spc="20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a:t>
                      </a:r>
                      <a:r>
                        <a:rPr sz="1500" spc="20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code</a:t>
                      </a:r>
                      <a:r>
                        <a:rPr sz="1500" spc="18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to          define</a:t>
                      </a:r>
                      <a:r>
                        <a:rPr sz="1500" spc="5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manifest</a:t>
                      </a:r>
                      <a:r>
                        <a:rPr sz="1500" spc="5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constants</a:t>
                      </a:r>
                      <a:endParaRPr lang="en-US" altLang="en-US" sz="1500" dirty="0"/>
                    </a:p>
                  </a:txBody>
                  <a:tcPr marL="0" marR="0" marT="0"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83" name="textbox 183"/>
          <p:cNvSpPr/>
          <p:nvPr/>
        </p:nvSpPr>
        <p:spPr>
          <a:xfrm>
            <a:off x="756285" y="657860"/>
            <a:ext cx="5922645" cy="527685"/>
          </a:xfrm>
          <a:prstGeom prst="rect">
            <a:avLst/>
          </a:prstGeom>
        </p:spPr>
        <p:txBody>
          <a:bodyPr vert="horz" wrap="square" lIns="0" tIns="0" rIns="0" bIns="0"/>
          <a:lstStyle/>
          <a:p>
            <a:pPr algn="l" rtl="0" eaLnBrk="0">
              <a:lnSpc>
                <a:spcPct val="64000"/>
              </a:lnSpc>
            </a:pPr>
            <a:endParaRPr lang="en-US" altLang="en-US" sz="100" dirty="0"/>
          </a:p>
          <a:p>
            <a:pPr marL="12700" algn="l" rtl="0" eaLnBrk="0">
              <a:lnSpc>
                <a:spcPct val="85000"/>
              </a:lnSpc>
            </a:pPr>
            <a:r>
              <a:rPr sz="3900" b="1" spc="-30" dirty="0">
                <a:solidFill>
                  <a:srgbClr val="000000">
                    <a:alpha val="100000"/>
                  </a:srgbClr>
                </a:solidFill>
                <a:latin typeface="Consolas" panose="020B0609020204030204"/>
                <a:ea typeface="Consolas" panose="020B0609020204030204"/>
                <a:cs typeface="Consolas" panose="020B0609020204030204"/>
              </a:rPr>
              <a:t>Lex</a:t>
            </a:r>
            <a:r>
              <a:rPr sz="3900" spc="-30" dirty="0">
                <a:solidFill>
                  <a:srgbClr val="000000">
                    <a:alpha val="100000"/>
                  </a:srgbClr>
                </a:solidFill>
                <a:latin typeface="Consolas" panose="020B0609020204030204"/>
                <a:ea typeface="Consolas" panose="020B0609020204030204"/>
                <a:cs typeface="Consolas" panose="020B0609020204030204"/>
              </a:rPr>
              <a:t> </a:t>
            </a:r>
            <a:r>
              <a:rPr sz="3900" b="1" spc="-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Program</a:t>
            </a:r>
            <a:r>
              <a:rPr sz="3900" spc="-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3900" b="1" spc="-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Examp</a:t>
            </a:r>
            <a:r>
              <a:rPr sz="3900" b="1" spc="-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l</a:t>
            </a:r>
            <a:r>
              <a:rPr sz="3900" b="1"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e</a:t>
            </a:r>
            <a:endParaRPr lang="en-US" altLang="en-US" sz="3900" dirty="0"/>
          </a:p>
        </p:txBody>
      </p:sp>
      <p:graphicFrame>
        <p:nvGraphicFramePr>
          <p:cNvPr id="184" name="table 184"/>
          <p:cNvGraphicFramePr>
            <a:graphicFrameLocks noGrp="1"/>
          </p:cNvGraphicFramePr>
          <p:nvPr/>
        </p:nvGraphicFramePr>
        <p:xfrm>
          <a:off x="5860160" y="3819525"/>
          <a:ext cx="3132455" cy="583564"/>
        </p:xfrm>
        <a:graphic>
          <a:graphicData uri="http://schemas.openxmlformats.org/drawingml/2006/table">
            <a:tbl>
              <a:tblPr/>
              <a:tblGrid>
                <a:gridCol w="3132455">
                  <a:extLst>
                    <a:ext uri="{9D8B030D-6E8A-4147-A177-3AD203B41FA5}">
                      <a16:colId xmlns:a16="http://schemas.microsoft.com/office/drawing/2014/main" val="20000"/>
                    </a:ext>
                  </a:extLst>
                </a:gridCol>
              </a:tblGrid>
              <a:tr h="583564">
                <a:tc>
                  <a:txBody>
                    <a:bodyPr/>
                    <a:lstStyle/>
                    <a:p>
                      <a:pPr algn="l" rtl="0" eaLnBrk="0">
                        <a:lnSpc>
                          <a:spcPct val="100000"/>
                        </a:lnSpc>
                      </a:pPr>
                      <a:endParaRPr lang="en-US" altLang="en-US" sz="400" dirty="0"/>
                    </a:p>
                    <a:p>
                      <a:pPr marL="103505" indent="2540" algn="l" rtl="0" eaLnBrk="0">
                        <a:lnSpc>
                          <a:spcPct val="115000"/>
                        </a:lnSpc>
                        <a:spcBef>
                          <a:spcPts val="0"/>
                        </a:spcBef>
                      </a:pP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Regular</a:t>
                      </a:r>
                      <a:r>
                        <a:rPr sz="1500" spc="34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definitions</a:t>
                      </a:r>
                      <a:r>
                        <a:rPr sz="1500" spc="34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that</a:t>
                      </a:r>
                      <a:r>
                        <a:rPr sz="1500" spc="34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can</a:t>
                      </a:r>
                      <a:r>
                        <a:rPr sz="1500" spc="30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be      used</a:t>
                      </a:r>
                      <a:r>
                        <a:rPr sz="1500" spc="35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in</a:t>
                      </a:r>
                      <a:r>
                        <a:rPr sz="1500" spc="35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translation</a:t>
                      </a:r>
                      <a:r>
                        <a:rPr sz="1500" spc="34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rules</a:t>
                      </a:r>
                      <a:endParaRPr lang="en-US" altLang="en-US" sz="1500" dirty="0"/>
                    </a:p>
                  </a:txBody>
                  <a:tcPr marL="0" marR="0" marT="0"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85" name="textbox 185"/>
          <p:cNvSpPr/>
          <p:nvPr/>
        </p:nvSpPr>
        <p:spPr>
          <a:xfrm>
            <a:off x="710895" y="6466433"/>
            <a:ext cx="7726044" cy="173989"/>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81000"/>
              </a:lnSpc>
            </a:pPr>
            <a:r>
              <a:rPr sz="1200" spc="0" dirty="0">
                <a:solidFill>
                  <a:srgbClr val="898989">
                    <a:alpha val="100000"/>
                  </a:srgbClr>
                </a:solidFill>
                <a:latin typeface="Ubuntu Mono derivative Powerlin" panose="020B0509030602030204" pitchFamily="49" charset="0"/>
                <a:ea typeface="Palatino Linotype" panose="02040502050505030304"/>
                <a:cs typeface="Palatino Linotype" panose="02040502050505030304"/>
              </a:rPr>
              <a:t>Fall</a:t>
            </a:r>
            <a:r>
              <a:rPr sz="1200" spc="10" dirty="0">
                <a:solidFill>
                  <a:srgbClr val="898989">
                    <a:alpha val="100000"/>
                  </a:srgbClr>
                </a:solidFill>
                <a:latin typeface="Ubuntu Mono derivative Powerlin" panose="020B0509030602030204" pitchFamily="49" charset="0"/>
                <a:ea typeface="Palatino Linotype" panose="02040502050505030304"/>
                <a:cs typeface="Palatino Linotype" panose="02040502050505030304"/>
              </a:rPr>
              <a:t> 2020                             </a:t>
            </a:r>
            <a:r>
              <a:rPr sz="1200" spc="0" dirty="0">
                <a:solidFill>
                  <a:srgbClr val="898989">
                    <a:alpha val="100000"/>
                  </a:srgbClr>
                </a:solidFill>
                <a:latin typeface="Ubuntu Mono derivative Powerlin" panose="020B0509030602030204" pitchFamily="49" charset="0"/>
                <a:ea typeface="Palatino Linotype" panose="02040502050505030304"/>
                <a:cs typeface="Palatino Linotype" panose="02040502050505030304"/>
              </a:rPr>
              <a:t>                                         CS323 Compilers                                                                                 45</a:t>
            </a:r>
            <a:endParaRPr lang="en-US" altLang="en-US" sz="1200" dirty="0"/>
          </a:p>
        </p:txBody>
      </p:sp>
      <p:graphicFrame>
        <p:nvGraphicFramePr>
          <p:cNvPr id="186" name="table 186"/>
          <p:cNvGraphicFramePr>
            <a:graphicFrameLocks noGrp="1"/>
          </p:cNvGraphicFramePr>
          <p:nvPr/>
        </p:nvGraphicFramePr>
        <p:xfrm>
          <a:off x="3129152" y="5695569"/>
          <a:ext cx="2024380" cy="337819"/>
        </p:xfrm>
        <a:graphic>
          <a:graphicData uri="http://schemas.openxmlformats.org/drawingml/2006/table">
            <a:tbl>
              <a:tblPr/>
              <a:tblGrid>
                <a:gridCol w="2024380">
                  <a:extLst>
                    <a:ext uri="{9D8B030D-6E8A-4147-A177-3AD203B41FA5}">
                      <a16:colId xmlns:a16="http://schemas.microsoft.com/office/drawing/2014/main" val="20000"/>
                    </a:ext>
                  </a:extLst>
                </a:gridCol>
              </a:tblGrid>
              <a:tr h="337819">
                <a:tc>
                  <a:txBody>
                    <a:bodyPr/>
                    <a:lstStyle/>
                    <a:p>
                      <a:pPr algn="l" rtl="0" eaLnBrk="0">
                        <a:lnSpc>
                          <a:spcPct val="106000"/>
                        </a:lnSpc>
                      </a:pPr>
                      <a:endParaRPr lang="en-US" altLang="en-US" sz="600" dirty="0"/>
                    </a:p>
                    <a:p>
                      <a:pPr marL="244475" algn="l" rtl="0" eaLnBrk="0">
                        <a:lnSpc>
                          <a:spcPct val="87000"/>
                        </a:lnSpc>
                        <a:spcBef>
                          <a:spcPts val="5"/>
                        </a:spcBef>
                      </a:pP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Section</a:t>
                      </a:r>
                      <a:r>
                        <a:rPr sz="1500" spc="70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separator</a:t>
                      </a:r>
                      <a:endParaRPr lang="en-US" altLang="en-US" sz="1500" dirty="0"/>
                    </a:p>
                  </a:txBody>
                  <a:tcPr marL="0" marR="0" marT="0"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87" name="path"/>
          <p:cNvSpPr/>
          <p:nvPr/>
        </p:nvSpPr>
        <p:spPr>
          <a:xfrm>
            <a:off x="1237404" y="5695606"/>
            <a:ext cx="1902245" cy="188253"/>
          </a:xfrm>
          <a:custGeom>
            <a:avLst/>
            <a:gdLst/>
            <a:ahLst/>
            <a:cxnLst/>
            <a:rect l="0" t="0" r="0" b="0"/>
            <a:pathLst>
              <a:path w="2995" h="296">
                <a:moveTo>
                  <a:pt x="2994" y="281"/>
                </a:moveTo>
                <a:lnTo>
                  <a:pt x="1" y="14"/>
                </a:lnTo>
              </a:path>
            </a:pathLst>
          </a:custGeom>
          <a:noFill/>
          <a:ln w="19050" cap="flat">
            <a:solidFill>
              <a:srgbClr val="FF0000">
                <a:alpha val="100000"/>
              </a:srgbClr>
            </a:solidFill>
            <a:prstDash val="solid"/>
            <a:miter lim="800000"/>
          </a:ln>
        </p:spPr>
        <p:txBody>
          <a:bodyPr rtlCol="0"/>
          <a:lstStyle/>
          <a:p>
            <a:pPr algn="ctr"/>
            <a:endParaRPr lang="zh-CN" altLang="en-US"/>
          </a:p>
        </p:txBody>
      </p:sp>
      <p:sp>
        <p:nvSpPr>
          <p:cNvPr id="188" name="path"/>
          <p:cNvSpPr/>
          <p:nvPr/>
        </p:nvSpPr>
        <p:spPr>
          <a:xfrm>
            <a:off x="4081560" y="4110620"/>
            <a:ext cx="1789361" cy="108053"/>
          </a:xfrm>
          <a:custGeom>
            <a:avLst/>
            <a:gdLst/>
            <a:ahLst/>
            <a:cxnLst/>
            <a:rect l="0" t="0" r="0" b="0"/>
            <a:pathLst>
              <a:path w="2817" h="170">
                <a:moveTo>
                  <a:pt x="2817" y="14"/>
                </a:moveTo>
                <a:lnTo>
                  <a:pt x="0" y="155"/>
                </a:lnTo>
              </a:path>
            </a:pathLst>
          </a:custGeom>
          <a:noFill/>
          <a:ln w="19050" cap="flat">
            <a:solidFill>
              <a:srgbClr val="FF0000">
                <a:alpha val="100000"/>
              </a:srgbClr>
            </a:solidFill>
            <a:prstDash val="solid"/>
            <a:miter lim="800000"/>
          </a:ln>
        </p:spPr>
        <p:txBody>
          <a:bodyPr rtlCol="0"/>
          <a:lstStyle/>
          <a:p>
            <a:pPr algn="ctr"/>
            <a:endParaRPr lang="zh-CN" altLang="en-US"/>
          </a:p>
        </p:txBody>
      </p:sp>
      <p:sp>
        <p:nvSpPr>
          <p:cNvPr id="189" name="path"/>
          <p:cNvSpPr/>
          <p:nvPr/>
        </p:nvSpPr>
        <p:spPr>
          <a:xfrm>
            <a:off x="4820313" y="2419007"/>
            <a:ext cx="1050614" cy="114095"/>
          </a:xfrm>
          <a:custGeom>
            <a:avLst/>
            <a:gdLst/>
            <a:ahLst/>
            <a:cxnLst/>
            <a:rect l="0" t="0" r="0" b="0"/>
            <a:pathLst>
              <a:path w="1654" h="179">
                <a:moveTo>
                  <a:pt x="1653" y="164"/>
                </a:moveTo>
                <a:lnTo>
                  <a:pt x="1" y="14"/>
                </a:lnTo>
              </a:path>
            </a:pathLst>
          </a:custGeom>
          <a:noFill/>
          <a:ln w="19050" cap="flat">
            <a:solidFill>
              <a:srgbClr val="FF0000">
                <a:alpha val="100000"/>
              </a:srgbClr>
            </a:solidFill>
            <a:prstDash val="solid"/>
            <a:miter lim="800000"/>
          </a:ln>
        </p:spPr>
        <p:txBody>
          <a:bodyPr rtlCol="0"/>
          <a:lstStyle/>
          <a:p>
            <a:pPr algn="ct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picture 190"/>
          <p:cNvPicPr>
            <a:picLocks noChangeAspect="1"/>
          </p:cNvPicPr>
          <p:nvPr/>
        </p:nvPicPr>
        <p:blipFill>
          <a:blip r:embed="rId3"/>
          <a:stretch>
            <a:fillRect/>
          </a:stretch>
        </p:blipFill>
        <p:spPr>
          <a:xfrm rot="21600000">
            <a:off x="780288" y="1751076"/>
            <a:ext cx="6693407" cy="3842003"/>
          </a:xfrm>
          <a:prstGeom prst="rect">
            <a:avLst/>
          </a:prstGeom>
        </p:spPr>
      </p:pic>
      <p:sp>
        <p:nvSpPr>
          <p:cNvPr id="191" name="path"/>
          <p:cNvSpPr/>
          <p:nvPr/>
        </p:nvSpPr>
        <p:spPr>
          <a:xfrm>
            <a:off x="2120264" y="2883789"/>
            <a:ext cx="771525" cy="293370"/>
          </a:xfrm>
          <a:custGeom>
            <a:avLst/>
            <a:gdLst/>
            <a:ahLst/>
            <a:cxnLst/>
            <a:rect l="0" t="0" r="0" b="0"/>
            <a:pathLst>
              <a:path w="1215" h="462">
                <a:moveTo>
                  <a:pt x="15" y="447"/>
                </a:moveTo>
                <a:lnTo>
                  <a:pt x="1215" y="447"/>
                </a:lnTo>
                <a:moveTo>
                  <a:pt x="1215" y="15"/>
                </a:moveTo>
                <a:lnTo>
                  <a:pt x="15" y="15"/>
                </a:lnTo>
                <a:lnTo>
                  <a:pt x="15" y="447"/>
                </a:lnTo>
                <a:close/>
              </a:path>
            </a:pathLst>
          </a:custGeom>
          <a:noFill/>
          <a:ln w="19050" cap="flat">
            <a:solidFill>
              <a:srgbClr val="FF0000">
                <a:alpha val="100000"/>
              </a:srgbClr>
            </a:solidFill>
            <a:prstDash val="solid"/>
            <a:miter lim="800000"/>
          </a:ln>
        </p:spPr>
        <p:txBody>
          <a:bodyPr rtlCol="0"/>
          <a:lstStyle/>
          <a:p>
            <a:pPr algn="ctr"/>
            <a:endParaRPr lang="zh-CN" altLang="en-US"/>
          </a:p>
        </p:txBody>
      </p:sp>
      <p:sp>
        <p:nvSpPr>
          <p:cNvPr id="192" name="path"/>
          <p:cNvSpPr/>
          <p:nvPr/>
        </p:nvSpPr>
        <p:spPr>
          <a:xfrm>
            <a:off x="2501367" y="3166238"/>
            <a:ext cx="352727" cy="2257421"/>
          </a:xfrm>
          <a:custGeom>
            <a:avLst/>
            <a:gdLst/>
            <a:ahLst/>
            <a:cxnLst/>
            <a:rect l="0" t="0" r="0" b="0"/>
            <a:pathLst>
              <a:path w="555" h="3554">
                <a:moveTo>
                  <a:pt x="540" y="3552"/>
                </a:moveTo>
                <a:lnTo>
                  <a:pt x="14" y="2"/>
                </a:lnTo>
              </a:path>
            </a:pathLst>
          </a:custGeom>
          <a:noFill/>
          <a:ln w="19050" cap="flat">
            <a:solidFill>
              <a:srgbClr val="FF0000">
                <a:alpha val="100000"/>
              </a:srgbClr>
            </a:solidFill>
            <a:prstDash val="solid"/>
            <a:miter lim="800000"/>
          </a:ln>
        </p:spPr>
        <p:txBody>
          <a:bodyPr rtlCol="0"/>
          <a:lstStyle/>
          <a:p>
            <a:pPr algn="ctr"/>
            <a:endParaRPr lang="zh-CN" altLang="en-US"/>
          </a:p>
        </p:txBody>
      </p:sp>
      <p:graphicFrame>
        <p:nvGraphicFramePr>
          <p:cNvPr id="193" name="table 193"/>
          <p:cNvGraphicFramePr>
            <a:graphicFrameLocks noGrp="1"/>
          </p:cNvGraphicFramePr>
          <p:nvPr/>
        </p:nvGraphicFramePr>
        <p:xfrm>
          <a:off x="1490852" y="5412104"/>
          <a:ext cx="7226934" cy="661034"/>
        </p:xfrm>
        <a:graphic>
          <a:graphicData uri="http://schemas.openxmlformats.org/drawingml/2006/table">
            <a:tbl>
              <a:tblPr/>
              <a:tblGrid>
                <a:gridCol w="7226934">
                  <a:extLst>
                    <a:ext uri="{9D8B030D-6E8A-4147-A177-3AD203B41FA5}">
                      <a16:colId xmlns:a16="http://schemas.microsoft.com/office/drawing/2014/main" val="20000"/>
                    </a:ext>
                  </a:extLst>
                </a:gridCol>
              </a:tblGrid>
              <a:tr h="661034">
                <a:tc>
                  <a:txBody>
                    <a:bodyPr/>
                    <a:lstStyle/>
                    <a:p>
                      <a:pPr algn="l" rtl="0" eaLnBrk="0">
                        <a:lnSpc>
                          <a:spcPct val="106000"/>
                        </a:lnSpc>
                      </a:pPr>
                      <a:endParaRPr lang="en-US" altLang="en-US" sz="600" dirty="0"/>
                    </a:p>
                    <a:p>
                      <a:pPr marL="103505" algn="l" rtl="0" eaLnBrk="0">
                        <a:lnSpc>
                          <a:spcPct val="87000"/>
                        </a:lnSpc>
                        <a:spcBef>
                          <a:spcPts val="5"/>
                        </a:spcBef>
                      </a:pP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global</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variable</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that</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stores</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pointer</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to</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the</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symbol</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table</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entry</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for</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the</a:t>
                      </a:r>
                      <a:r>
                        <a:rPr sz="1500" spc="23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lexeme</a:t>
                      </a:r>
                      <a:r>
                        <a:rPr sz="1500" spc="15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t>
                      </a:r>
                      <a:endParaRPr lang="en-US" altLang="en-US" sz="1500" dirty="0"/>
                    </a:p>
                    <a:p>
                      <a:pPr marL="107315" algn="l" rtl="0" eaLnBrk="0">
                        <a:lnSpc>
                          <a:spcPts val="2520"/>
                        </a:lnSpc>
                        <a:spcBef>
                          <a:spcPts val="60"/>
                        </a:spcBef>
                      </a:pP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Can</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be</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used</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by</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the</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parser</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or</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later</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component</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of</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the</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compiler</a:t>
                      </a:r>
                      <a:r>
                        <a:rPr sz="1500" spc="10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t>
                      </a:r>
                      <a:endParaRPr lang="en-US" altLang="en-US" sz="1500" dirty="0"/>
                    </a:p>
                  </a:txBody>
                  <a:tcPr marL="0" marR="0" marT="0"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94" name="textbox 194"/>
          <p:cNvSpPr/>
          <p:nvPr/>
        </p:nvSpPr>
        <p:spPr>
          <a:xfrm>
            <a:off x="756290" y="657754"/>
            <a:ext cx="6432550" cy="527684"/>
          </a:xfrm>
          <a:prstGeom prst="rect">
            <a:avLst/>
          </a:prstGeom>
        </p:spPr>
        <p:txBody>
          <a:bodyPr vert="horz" wrap="square" lIns="0" tIns="0" rIns="0" bIns="0"/>
          <a:lstStyle/>
          <a:p>
            <a:pPr algn="l" rtl="0" eaLnBrk="0">
              <a:lnSpc>
                <a:spcPct val="64000"/>
              </a:lnSpc>
            </a:pPr>
            <a:endParaRPr lang="en-US" altLang="en-US" sz="100" dirty="0"/>
          </a:p>
          <a:p>
            <a:pPr marL="12700" algn="l" rtl="0" eaLnBrk="0">
              <a:lnSpc>
                <a:spcPct val="85000"/>
              </a:lnSpc>
            </a:pPr>
            <a:r>
              <a:rPr sz="3900" b="1" spc="-20" dirty="0">
                <a:solidFill>
                  <a:srgbClr val="000000">
                    <a:alpha val="100000"/>
                  </a:srgbClr>
                </a:solidFill>
                <a:latin typeface="Consolas" panose="020B0609020204030204"/>
                <a:ea typeface="Consolas" panose="020B0609020204030204"/>
                <a:cs typeface="Consolas" panose="020B0609020204030204"/>
              </a:rPr>
              <a:t>Lex</a:t>
            </a:r>
            <a:r>
              <a:rPr sz="3900" spc="-20" dirty="0">
                <a:solidFill>
                  <a:srgbClr val="000000">
                    <a:alpha val="100000"/>
                  </a:srgbClr>
                </a:solidFill>
                <a:latin typeface="Consolas" panose="020B0609020204030204"/>
                <a:ea typeface="Consolas" panose="020B0609020204030204"/>
                <a:cs typeface="Consolas" panose="020B0609020204030204"/>
              </a:rPr>
              <a:t> </a:t>
            </a:r>
            <a:r>
              <a:rPr sz="3900" b="1" spc="-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Progra</a:t>
            </a:r>
            <a:r>
              <a:rPr sz="3900" b="1"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m</a:t>
            </a:r>
            <a:r>
              <a:rPr sz="3900" spc="-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3900" b="1"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Example</a:t>
            </a:r>
            <a:r>
              <a:rPr sz="3900" spc="-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3900" b="1"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Cont</a:t>
            </a:r>
            <a:r>
              <a:rPr sz="3900" b="1" spc="-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t>
            </a:r>
            <a:endParaRPr lang="en-US" altLang="en-US" sz="3900" dirty="0"/>
          </a:p>
        </p:txBody>
      </p:sp>
      <p:graphicFrame>
        <p:nvGraphicFramePr>
          <p:cNvPr id="195" name="table 195"/>
          <p:cNvGraphicFramePr>
            <a:graphicFrameLocks noGrp="1"/>
          </p:cNvGraphicFramePr>
          <p:nvPr/>
        </p:nvGraphicFramePr>
        <p:xfrm>
          <a:off x="5860160" y="3973448"/>
          <a:ext cx="2901950" cy="584835"/>
        </p:xfrm>
        <a:graphic>
          <a:graphicData uri="http://schemas.openxmlformats.org/drawingml/2006/table">
            <a:tbl>
              <a:tblPr/>
              <a:tblGrid>
                <a:gridCol w="2901950">
                  <a:extLst>
                    <a:ext uri="{9D8B030D-6E8A-4147-A177-3AD203B41FA5}">
                      <a16:colId xmlns:a16="http://schemas.microsoft.com/office/drawing/2014/main" val="20000"/>
                    </a:ext>
                  </a:extLst>
                </a:gridCol>
              </a:tblGrid>
              <a:tr h="584835">
                <a:tc>
                  <a:txBody>
                    <a:bodyPr/>
                    <a:lstStyle/>
                    <a:p>
                      <a:pPr algn="l" rtl="0" eaLnBrk="0">
                        <a:lnSpc>
                          <a:spcPct val="105000"/>
                        </a:lnSpc>
                      </a:pPr>
                      <a:endParaRPr lang="en-US" altLang="en-US" sz="400" dirty="0"/>
                    </a:p>
                    <a:p>
                      <a:pPr marL="109220" indent="-2540" algn="l" rtl="0" eaLnBrk="0">
                        <a:lnSpc>
                          <a:spcPct val="104000"/>
                        </a:lnSpc>
                        <a:spcBef>
                          <a:spcPts val="5"/>
                        </a:spcBef>
                      </a:pP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Place</a:t>
                      </a:r>
                      <a:r>
                        <a:rPr sz="1500" spc="25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the</a:t>
                      </a:r>
                      <a:r>
                        <a:rPr sz="1500" spc="25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lexeme</a:t>
                      </a:r>
                      <a:r>
                        <a:rPr sz="1500" spc="25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found</a:t>
                      </a:r>
                      <a:r>
                        <a:rPr sz="1500" spc="25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in</a:t>
                      </a:r>
                      <a:r>
                        <a:rPr sz="1500" spc="22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the   symbol</a:t>
                      </a:r>
                      <a:r>
                        <a:rPr sz="1500" spc="49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table</a:t>
                      </a:r>
                      <a:endParaRPr lang="en-US" altLang="en-US" sz="1500" dirty="0"/>
                    </a:p>
                  </a:txBody>
                  <a:tcPr marL="0" marR="0" marT="0"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96" name="table 196"/>
          <p:cNvGraphicFramePr>
            <a:graphicFrameLocks noGrp="1"/>
          </p:cNvGraphicFramePr>
          <p:nvPr/>
        </p:nvGraphicFramePr>
        <p:xfrm>
          <a:off x="5908928" y="1327784"/>
          <a:ext cx="2216150" cy="584834"/>
        </p:xfrm>
        <a:graphic>
          <a:graphicData uri="http://schemas.openxmlformats.org/drawingml/2006/table">
            <a:tbl>
              <a:tblPr/>
              <a:tblGrid>
                <a:gridCol w="2216150">
                  <a:extLst>
                    <a:ext uri="{9D8B030D-6E8A-4147-A177-3AD203B41FA5}">
                      <a16:colId xmlns:a16="http://schemas.microsoft.com/office/drawing/2014/main" val="20000"/>
                    </a:ext>
                  </a:extLst>
                </a:gridCol>
              </a:tblGrid>
              <a:tr h="584834">
                <a:tc>
                  <a:txBody>
                    <a:bodyPr/>
                    <a:lstStyle/>
                    <a:p>
                      <a:pPr algn="l" rtl="0" eaLnBrk="0">
                        <a:lnSpc>
                          <a:spcPct val="100000"/>
                        </a:lnSpc>
                      </a:pPr>
                      <a:endParaRPr lang="en-US" altLang="en-US" sz="400" dirty="0"/>
                    </a:p>
                    <a:p>
                      <a:pPr marL="107315" indent="635" algn="l" rtl="0" eaLnBrk="0">
                        <a:lnSpc>
                          <a:spcPct val="115000"/>
                        </a:lnSpc>
                        <a:spcBef>
                          <a:spcPts val="0"/>
                        </a:spcBef>
                      </a:pP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Continue</a:t>
                      </a:r>
                      <a:r>
                        <a:rPr sz="1500" spc="47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to</a:t>
                      </a:r>
                      <a:r>
                        <a:rPr sz="1500" spc="45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recognize   other</a:t>
                      </a:r>
                      <a:r>
                        <a:rPr sz="1500" spc="49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tokens</a:t>
                      </a:r>
                      <a:endParaRPr lang="en-US" altLang="en-US" sz="1500" dirty="0"/>
                    </a:p>
                  </a:txBody>
                  <a:tcPr marL="0" marR="0" marT="0"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97" name="textbox 197"/>
          <p:cNvSpPr/>
          <p:nvPr/>
        </p:nvSpPr>
        <p:spPr>
          <a:xfrm>
            <a:off x="710895" y="6466433"/>
            <a:ext cx="7726044" cy="173989"/>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81000"/>
              </a:lnSpc>
            </a:pPr>
            <a:r>
              <a:rPr sz="1200" spc="0" dirty="0">
                <a:solidFill>
                  <a:srgbClr val="898989">
                    <a:alpha val="100000"/>
                  </a:srgbClr>
                </a:solidFill>
                <a:latin typeface="Ubuntu Mono derivative Powerlin" panose="020B0509030602030204" pitchFamily="49" charset="0"/>
                <a:ea typeface="Palatino Linotype" panose="02040502050505030304"/>
                <a:cs typeface="Palatino Linotype" panose="02040502050505030304"/>
              </a:rPr>
              <a:t>Fall</a:t>
            </a:r>
            <a:r>
              <a:rPr sz="1200" spc="10" dirty="0">
                <a:solidFill>
                  <a:srgbClr val="898989">
                    <a:alpha val="100000"/>
                  </a:srgbClr>
                </a:solidFill>
                <a:latin typeface="Ubuntu Mono derivative Powerlin" panose="020B0509030602030204" pitchFamily="49" charset="0"/>
                <a:ea typeface="Palatino Linotype" panose="02040502050505030304"/>
                <a:cs typeface="Palatino Linotype" panose="02040502050505030304"/>
              </a:rPr>
              <a:t> 2020                             </a:t>
            </a:r>
            <a:r>
              <a:rPr sz="1200" spc="0" dirty="0">
                <a:solidFill>
                  <a:srgbClr val="898989">
                    <a:alpha val="100000"/>
                  </a:srgbClr>
                </a:solidFill>
                <a:latin typeface="Ubuntu Mono derivative Powerlin" panose="020B0509030602030204" pitchFamily="49" charset="0"/>
                <a:ea typeface="Palatino Linotype" panose="02040502050505030304"/>
                <a:cs typeface="Palatino Linotype" panose="02040502050505030304"/>
              </a:rPr>
              <a:t>                                         CS323 Compilers                                                                                 46</a:t>
            </a:r>
            <a:endParaRPr lang="en-US" altLang="en-US" sz="1200" dirty="0"/>
          </a:p>
        </p:txBody>
      </p:sp>
      <p:graphicFrame>
        <p:nvGraphicFramePr>
          <p:cNvPr id="198" name="table 198"/>
          <p:cNvGraphicFramePr>
            <a:graphicFrameLocks noGrp="1"/>
          </p:cNvGraphicFramePr>
          <p:nvPr/>
        </p:nvGraphicFramePr>
        <p:xfrm>
          <a:off x="5921120" y="2321433"/>
          <a:ext cx="3132455" cy="337820"/>
        </p:xfrm>
        <a:graphic>
          <a:graphicData uri="http://schemas.openxmlformats.org/drawingml/2006/table">
            <a:tbl>
              <a:tblPr/>
              <a:tblGrid>
                <a:gridCol w="3132455">
                  <a:extLst>
                    <a:ext uri="{9D8B030D-6E8A-4147-A177-3AD203B41FA5}">
                      <a16:colId xmlns:a16="http://schemas.microsoft.com/office/drawing/2014/main" val="20000"/>
                    </a:ext>
                  </a:extLst>
                </a:gridCol>
              </a:tblGrid>
              <a:tr h="337820">
                <a:tc>
                  <a:txBody>
                    <a:bodyPr/>
                    <a:lstStyle/>
                    <a:p>
                      <a:pPr algn="l" rtl="0" eaLnBrk="0">
                        <a:lnSpc>
                          <a:spcPct val="105000"/>
                        </a:lnSpc>
                      </a:pPr>
                      <a:endParaRPr lang="en-US" altLang="en-US" sz="600" dirty="0"/>
                    </a:p>
                    <a:p>
                      <a:pPr marL="106045" algn="l" rtl="0" eaLnBrk="0">
                        <a:lnSpc>
                          <a:spcPct val="87000"/>
                        </a:lnSpc>
                        <a:spcBef>
                          <a:spcPts val="5"/>
                        </a:spcBef>
                      </a:pP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Return</a:t>
                      </a:r>
                      <a:r>
                        <a:rPr sz="1500" spc="29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token</a:t>
                      </a:r>
                      <a:r>
                        <a:rPr sz="1500" spc="29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name</a:t>
                      </a:r>
                      <a:r>
                        <a:rPr sz="1500" spc="29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to</a:t>
                      </a:r>
                      <a:r>
                        <a:rPr sz="1500" spc="29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the</a:t>
                      </a:r>
                      <a:r>
                        <a:rPr sz="1500" spc="24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parser</a:t>
                      </a:r>
                      <a:endParaRPr lang="en-US" altLang="en-US" sz="1500" dirty="0"/>
                    </a:p>
                  </a:txBody>
                  <a:tcPr marL="0" marR="0" marT="0"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99" name="path"/>
          <p:cNvSpPr/>
          <p:nvPr/>
        </p:nvSpPr>
        <p:spPr>
          <a:xfrm>
            <a:off x="5297099" y="2997656"/>
            <a:ext cx="582182" cy="1281025"/>
          </a:xfrm>
          <a:custGeom>
            <a:avLst/>
            <a:gdLst/>
            <a:ahLst/>
            <a:cxnLst/>
            <a:rect l="0" t="0" r="0" b="0"/>
            <a:pathLst>
              <a:path w="916" h="2017">
                <a:moveTo>
                  <a:pt x="903" y="2011"/>
                </a:moveTo>
                <a:lnTo>
                  <a:pt x="13" y="6"/>
                </a:lnTo>
              </a:path>
            </a:pathLst>
          </a:custGeom>
          <a:noFill/>
          <a:ln w="19050" cap="flat">
            <a:solidFill>
              <a:srgbClr val="FF0000">
                <a:alpha val="100000"/>
              </a:srgbClr>
            </a:solidFill>
            <a:prstDash val="solid"/>
            <a:miter lim="800000"/>
          </a:ln>
        </p:spPr>
        <p:txBody>
          <a:bodyPr rtlCol="0"/>
          <a:lstStyle/>
          <a:p>
            <a:pPr algn="ctr"/>
            <a:endParaRPr lang="zh-CN" altLang="en-US"/>
          </a:p>
        </p:txBody>
      </p:sp>
      <p:sp>
        <p:nvSpPr>
          <p:cNvPr id="200" name="path"/>
          <p:cNvSpPr/>
          <p:nvPr/>
        </p:nvSpPr>
        <p:spPr>
          <a:xfrm>
            <a:off x="4946597" y="1539980"/>
            <a:ext cx="973941" cy="292396"/>
          </a:xfrm>
          <a:custGeom>
            <a:avLst/>
            <a:gdLst/>
            <a:ahLst/>
            <a:cxnLst/>
            <a:rect l="0" t="0" r="0" b="0"/>
            <a:pathLst>
              <a:path w="1533" h="460">
                <a:moveTo>
                  <a:pt x="1529" y="14"/>
                </a:moveTo>
                <a:lnTo>
                  <a:pt x="4" y="446"/>
                </a:lnTo>
              </a:path>
            </a:pathLst>
          </a:custGeom>
          <a:noFill/>
          <a:ln w="19050" cap="flat">
            <a:solidFill>
              <a:srgbClr val="FF0000">
                <a:alpha val="100000"/>
              </a:srgbClr>
            </a:solidFill>
            <a:prstDash val="solid"/>
            <a:miter lim="800000"/>
          </a:ln>
        </p:spPr>
        <p:txBody>
          <a:bodyPr rtlCol="0"/>
          <a:lstStyle/>
          <a:p>
            <a:pPr algn="ctr"/>
            <a:endParaRPr lang="zh-CN" altLang="en-US"/>
          </a:p>
        </p:txBody>
      </p:sp>
      <p:sp>
        <p:nvSpPr>
          <p:cNvPr id="201" name="path"/>
          <p:cNvSpPr/>
          <p:nvPr/>
        </p:nvSpPr>
        <p:spPr>
          <a:xfrm>
            <a:off x="5713443" y="2495658"/>
            <a:ext cx="225235" cy="401863"/>
          </a:xfrm>
          <a:custGeom>
            <a:avLst/>
            <a:gdLst/>
            <a:ahLst/>
            <a:cxnLst/>
            <a:rect l="0" t="0" r="0" b="0"/>
            <a:pathLst>
              <a:path w="354" h="632">
                <a:moveTo>
                  <a:pt x="341" y="7"/>
                </a:moveTo>
                <a:lnTo>
                  <a:pt x="13" y="625"/>
                </a:lnTo>
              </a:path>
            </a:pathLst>
          </a:custGeom>
          <a:noFill/>
          <a:ln w="19050" cap="flat">
            <a:solidFill>
              <a:srgbClr val="FF0000">
                <a:alpha val="100000"/>
              </a:srgbClr>
            </a:solidFill>
            <a:prstDash val="solid"/>
            <a:miter lim="800000"/>
          </a:ln>
        </p:spPr>
        <p:txBody>
          <a:bodyPr rtlCol="0"/>
          <a:lstStyle/>
          <a:p>
            <a:pPr algn="ctr"/>
            <a:endParaRPr lang="zh-CN" altLang="en-US"/>
          </a:p>
        </p:txBody>
      </p:sp>
      <p:sp>
        <p:nvSpPr>
          <p:cNvPr id="202" name="rect"/>
          <p:cNvSpPr/>
          <p:nvPr/>
        </p:nvSpPr>
        <p:spPr>
          <a:xfrm>
            <a:off x="5296280" y="2864358"/>
            <a:ext cx="19050" cy="274320"/>
          </a:xfrm>
          <a:prstGeom prst="rect">
            <a:avLst/>
          </a:prstGeom>
          <a:solidFill>
            <a:srgbClr val="FF0000">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textbox 203"/>
          <p:cNvSpPr/>
          <p:nvPr/>
        </p:nvSpPr>
        <p:spPr>
          <a:xfrm>
            <a:off x="721031" y="657754"/>
            <a:ext cx="7646669" cy="2221864"/>
          </a:xfrm>
          <a:prstGeom prst="rect">
            <a:avLst/>
          </a:prstGeom>
        </p:spPr>
        <p:txBody>
          <a:bodyPr vert="horz" wrap="square" lIns="0" tIns="0" rIns="0" bIns="0"/>
          <a:lstStyle/>
          <a:p>
            <a:pPr algn="l" rtl="0" eaLnBrk="0">
              <a:lnSpc>
                <a:spcPct val="64000"/>
              </a:lnSpc>
            </a:pPr>
            <a:endParaRPr lang="en-US" altLang="en-US" sz="100" dirty="0"/>
          </a:p>
          <a:p>
            <a:pPr marL="48260" algn="l" rtl="0" eaLnBrk="0">
              <a:lnSpc>
                <a:spcPct val="85000"/>
              </a:lnSpc>
            </a:pPr>
            <a:r>
              <a:rPr sz="3900" b="1" spc="-10" dirty="0">
                <a:solidFill>
                  <a:srgbClr val="000000">
                    <a:alpha val="100000"/>
                  </a:srgbClr>
                </a:solidFill>
                <a:latin typeface="Consolas" panose="020B0609020204030204"/>
                <a:ea typeface="Consolas" panose="020B0609020204030204"/>
                <a:cs typeface="Consolas" panose="020B0609020204030204"/>
              </a:rPr>
              <a:t>Lex</a:t>
            </a:r>
            <a:r>
              <a:rPr sz="3900" spc="-10" dirty="0">
                <a:solidFill>
                  <a:srgbClr val="000000">
                    <a:alpha val="100000"/>
                  </a:srgbClr>
                </a:solidFill>
                <a:latin typeface="Consolas" panose="020B0609020204030204"/>
                <a:ea typeface="Consolas" panose="020B0609020204030204"/>
                <a:cs typeface="Consolas" panose="020B0609020204030204"/>
              </a:rPr>
              <a:t> </a:t>
            </a:r>
            <a:r>
              <a:rPr sz="3900" b="1"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Pr</a:t>
            </a:r>
            <a:r>
              <a:rPr sz="3900" b="1"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ogram</a:t>
            </a:r>
            <a:r>
              <a:rPr sz="39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3900" b="1"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Example</a:t>
            </a:r>
            <a:r>
              <a:rPr sz="39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3900" b="1"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Cont</a:t>
            </a:r>
            <a:r>
              <a:rPr sz="3900" b="1"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t>
            </a:r>
            <a:endParaRPr lang="en-US" altLang="en-US" sz="3900" dirty="0"/>
          </a:p>
          <a:p>
            <a:pPr algn="l" rtl="0" eaLnBrk="0">
              <a:lnSpc>
                <a:spcPct val="106000"/>
              </a:lnSpc>
            </a:pPr>
            <a:endParaRPr lang="en-US" altLang="en-US" sz="1000" dirty="0"/>
          </a:p>
          <a:p>
            <a:pPr algn="l" rtl="0" eaLnBrk="0">
              <a:lnSpc>
                <a:spcPct val="106000"/>
              </a:lnSpc>
            </a:pPr>
            <a:endParaRPr lang="en-US" altLang="en-US" sz="1000" dirty="0"/>
          </a:p>
          <a:p>
            <a:pPr algn="l" rtl="0" eaLnBrk="0">
              <a:lnSpc>
                <a:spcPct val="107000"/>
              </a:lnSpc>
            </a:pPr>
            <a:endParaRPr lang="en-US" altLang="en-US" sz="1000" dirty="0"/>
          </a:p>
          <a:p>
            <a:pPr marL="234950" indent="-222250" algn="l" rtl="0" eaLnBrk="0">
              <a:lnSpc>
                <a:spcPct val="111000"/>
              </a:lnSpc>
              <a:spcBef>
                <a:spcPts val="605"/>
              </a:spcBef>
            </a:pPr>
            <a:r>
              <a:rPr sz="2000" spc="-10" dirty="0">
                <a:solidFill>
                  <a:srgbClr val="000000">
                    <a:alpha val="100000"/>
                  </a:srgbClr>
                </a:solidFill>
                <a:latin typeface="Arial" panose="020B0604020202020204"/>
                <a:ea typeface="Arial" panose="020B0604020202020204"/>
                <a:cs typeface="Arial" panose="020B06040202020202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Everything</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in</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the</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auxiliary</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function</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section</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is</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copied</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directly</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to    the</a:t>
            </a:r>
            <a:r>
              <a:rPr sz="2000" spc="4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file</a:t>
            </a:r>
            <a:r>
              <a:rPr sz="2000" spc="4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b="1" spc="0" dirty="0">
                <a:solidFill>
                  <a:srgbClr val="000000">
                    <a:alpha val="100000"/>
                  </a:srgbClr>
                </a:solidFill>
                <a:latin typeface="Consolas" panose="020B0609020204030204"/>
                <a:ea typeface="Consolas" panose="020B0609020204030204"/>
                <a:cs typeface="Consolas" panose="020B0609020204030204"/>
              </a:rPr>
              <a:t>lex</a:t>
            </a:r>
            <a:r>
              <a:rPr sz="2000" b="1" spc="40" dirty="0">
                <a:solidFill>
                  <a:srgbClr val="000000">
                    <a:alpha val="100000"/>
                  </a:srgbClr>
                </a:solidFill>
                <a:latin typeface="Consolas" panose="020B0609020204030204"/>
                <a:ea typeface="Consolas" panose="020B0609020204030204"/>
                <a:cs typeface="Consolas" panose="020B0609020204030204"/>
              </a:rPr>
              <a:t>.</a:t>
            </a:r>
            <a:r>
              <a:rPr sz="2000" b="1" spc="0" dirty="0">
                <a:solidFill>
                  <a:srgbClr val="000000">
                    <a:alpha val="100000"/>
                  </a:srgbClr>
                </a:solidFill>
                <a:latin typeface="Consolas" panose="020B0609020204030204"/>
                <a:ea typeface="Consolas" panose="020B0609020204030204"/>
                <a:cs typeface="Consolas" panose="020B0609020204030204"/>
              </a:rPr>
              <a:t>yy</a:t>
            </a:r>
            <a:r>
              <a:rPr sz="2000" b="1" spc="30" dirty="0">
                <a:solidFill>
                  <a:srgbClr val="000000">
                    <a:alpha val="100000"/>
                  </a:srgbClr>
                </a:solidFill>
                <a:latin typeface="Consolas" panose="020B0609020204030204"/>
                <a:ea typeface="Consolas" panose="020B0609020204030204"/>
                <a:cs typeface="Consolas" panose="020B0609020204030204"/>
              </a:rPr>
              <a:t>.</a:t>
            </a:r>
            <a:r>
              <a:rPr sz="2000" b="1" spc="0" dirty="0">
                <a:solidFill>
                  <a:srgbClr val="000000">
                    <a:alpha val="100000"/>
                  </a:srgbClr>
                </a:solidFill>
                <a:latin typeface="Consolas" panose="020B0609020204030204"/>
                <a:ea typeface="Consolas" panose="020B0609020204030204"/>
                <a:cs typeface="Consolas" panose="020B0609020204030204"/>
              </a:rPr>
              <a:t>c</a:t>
            </a:r>
            <a:endParaRPr lang="en-US" altLang="en-US" sz="2000" b="1" dirty="0"/>
          </a:p>
          <a:p>
            <a:pPr algn="l" rtl="0" eaLnBrk="0">
              <a:lnSpc>
                <a:spcPct val="104000"/>
              </a:lnSpc>
            </a:pPr>
            <a:endParaRPr lang="en-US" altLang="en-US" sz="1300" dirty="0"/>
          </a:p>
          <a:p>
            <a:pPr algn="l" rtl="0" eaLnBrk="0">
              <a:lnSpc>
                <a:spcPct val="8000"/>
              </a:lnSpc>
            </a:pPr>
            <a:endParaRPr lang="en-US" altLang="en-US" sz="100" dirty="0"/>
          </a:p>
          <a:p>
            <a:pPr marL="12700" algn="l" rtl="0" eaLnBrk="0">
              <a:lnSpc>
                <a:spcPct val="81000"/>
              </a:lnSpc>
            </a:pPr>
            <a:r>
              <a:rPr sz="2000" spc="-10" dirty="0">
                <a:solidFill>
                  <a:srgbClr val="000000">
                    <a:alpha val="100000"/>
                  </a:srgbClr>
                </a:solidFill>
                <a:latin typeface="Arial" panose="020B0604020202020204"/>
                <a:ea typeface="Arial" panose="020B0604020202020204"/>
                <a:cs typeface="Arial" panose="020B06040202020202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Auxiliary</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functions</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may</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be</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used</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in</a:t>
            </a:r>
            <a:r>
              <a:rPr sz="2000" spc="-1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 </a:t>
            </a:r>
            <a:r>
              <a:rPr sz="2000" spc="0" dirty="0">
                <a:solidFill>
                  <a:srgbClr val="000000">
                    <a:alpha val="100000"/>
                  </a:srgbClr>
                </a:solidFill>
                <a:latin typeface="Ubuntu Mono derivative Powerlin" panose="020B0509030602030204" pitchFamily="49" charset="0"/>
                <a:ea typeface="Palatino Linotype" panose="02040502050505030304"/>
                <a:cs typeface="Palatino Linotype" panose="02040502050505030304"/>
              </a:rPr>
              <a:t>actions in the translation rules</a:t>
            </a:r>
            <a:endParaRPr lang="en-US" altLang="en-US" sz="2000" dirty="0"/>
          </a:p>
        </p:txBody>
      </p:sp>
      <p:pic>
        <p:nvPicPr>
          <p:cNvPr id="204" name="picture 204"/>
          <p:cNvPicPr>
            <a:picLocks noChangeAspect="1"/>
          </p:cNvPicPr>
          <p:nvPr/>
        </p:nvPicPr>
        <p:blipFill>
          <a:blip r:embed="rId3"/>
          <a:stretch>
            <a:fillRect/>
          </a:stretch>
        </p:blipFill>
        <p:spPr>
          <a:xfrm rot="21600000">
            <a:off x="675131" y="3253740"/>
            <a:ext cx="6612635" cy="2517647"/>
          </a:xfrm>
          <a:prstGeom prst="rect">
            <a:avLst/>
          </a:prstGeom>
        </p:spPr>
      </p:pic>
      <p:graphicFrame>
        <p:nvGraphicFramePr>
          <p:cNvPr id="205" name="table 205"/>
          <p:cNvGraphicFramePr>
            <a:graphicFrameLocks noGrp="1"/>
          </p:cNvGraphicFramePr>
          <p:nvPr/>
        </p:nvGraphicFramePr>
        <p:xfrm>
          <a:off x="5040248" y="4374260"/>
          <a:ext cx="3745230" cy="584835"/>
        </p:xfrm>
        <a:graphic>
          <a:graphicData uri="http://schemas.openxmlformats.org/drawingml/2006/table">
            <a:tbl>
              <a:tblPr/>
              <a:tblGrid>
                <a:gridCol w="3745230">
                  <a:extLst>
                    <a:ext uri="{9D8B030D-6E8A-4147-A177-3AD203B41FA5}">
                      <a16:colId xmlns:a16="http://schemas.microsoft.com/office/drawing/2014/main" val="20000"/>
                    </a:ext>
                  </a:extLst>
                </a:gridCol>
              </a:tblGrid>
              <a:tr h="584835">
                <a:tc>
                  <a:txBody>
                    <a:bodyPr/>
                    <a:lstStyle/>
                    <a:p>
                      <a:pPr algn="l" rtl="0" eaLnBrk="0">
                        <a:lnSpc>
                          <a:spcPct val="105000"/>
                        </a:lnSpc>
                      </a:pPr>
                      <a:endParaRPr lang="en-US" altLang="en-US" sz="400" dirty="0"/>
                    </a:p>
                    <a:p>
                      <a:pPr marL="99695" indent="3810" algn="l" rtl="0" eaLnBrk="0">
                        <a:lnSpc>
                          <a:spcPct val="104000"/>
                        </a:lnSpc>
                        <a:spcBef>
                          <a:spcPts val="5"/>
                        </a:spcBef>
                      </a:pPr>
                      <a:r>
                        <a:rPr sz="1500" spc="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Variables</a:t>
                      </a:r>
                      <a:r>
                        <a:rPr sz="1500" spc="39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defined</a:t>
                      </a:r>
                      <a:r>
                        <a:rPr sz="1500" spc="39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and</a:t>
                      </a:r>
                      <a:r>
                        <a:rPr sz="1500" spc="39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set</a:t>
                      </a:r>
                      <a:r>
                        <a:rPr sz="1500" spc="38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automatically  by</a:t>
                      </a:r>
                      <a:r>
                        <a:rPr sz="1500" spc="24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the</a:t>
                      </a:r>
                      <a:r>
                        <a:rPr sz="1500" spc="24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lexical</a:t>
                      </a:r>
                      <a:r>
                        <a:rPr sz="1500" spc="24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analyzer</a:t>
                      </a:r>
                      <a:r>
                        <a:rPr sz="1500" spc="24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 </a:t>
                      </a:r>
                      <a:r>
                        <a:rPr sz="1500" spc="0" dirty="0">
                          <a:solidFill>
                            <a:srgbClr val="FF0000">
                              <a:alpha val="100000"/>
                            </a:srgbClr>
                          </a:solidFill>
                          <a:latin typeface="Consolas" panose="020B0609020204030204"/>
                          <a:ea typeface="Consolas" panose="020B0609020204030204"/>
                          <a:cs typeface="Consolas" panose="020B0609020204030204"/>
                        </a:rPr>
                        <a:t>Lex</a:t>
                      </a:r>
                      <a:r>
                        <a:rPr sz="1500" spc="200" dirty="0">
                          <a:solidFill>
                            <a:srgbClr val="FF0000">
                              <a:alpha val="100000"/>
                            </a:srgbClr>
                          </a:solidFill>
                          <a:latin typeface="Consolas" panose="020B0609020204030204"/>
                          <a:ea typeface="Consolas" panose="020B0609020204030204"/>
                          <a:cs typeface="Consolas" panose="020B0609020204030204"/>
                        </a:rPr>
                        <a:t> </a:t>
                      </a:r>
                      <a:r>
                        <a:rPr sz="1500" spc="0" dirty="0">
                          <a:solidFill>
                            <a:srgbClr val="FF0000">
                              <a:alpha val="100000"/>
                            </a:srgbClr>
                          </a:solidFill>
                          <a:latin typeface="Ubuntu Mono derivative Powerlin" panose="020B0509030602030204" pitchFamily="49" charset="0"/>
                          <a:ea typeface="Palatino Linotype" panose="02040502050505030304"/>
                          <a:cs typeface="Palatino Linotype" panose="02040502050505030304"/>
                        </a:rPr>
                        <a:t>generates</a:t>
                      </a:r>
                      <a:endParaRPr lang="en-US" altLang="en-US" sz="1500" dirty="0"/>
                    </a:p>
                  </a:txBody>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06" name="path"/>
          <p:cNvSpPr/>
          <p:nvPr/>
        </p:nvSpPr>
        <p:spPr>
          <a:xfrm>
            <a:off x="4976240" y="3522345"/>
            <a:ext cx="2154174" cy="595122"/>
          </a:xfrm>
          <a:custGeom>
            <a:avLst/>
            <a:gdLst/>
            <a:ahLst/>
            <a:cxnLst/>
            <a:rect l="0" t="0" r="0" b="0"/>
            <a:pathLst>
              <a:path w="3392" h="937">
                <a:moveTo>
                  <a:pt x="2177" y="511"/>
                </a:moveTo>
                <a:lnTo>
                  <a:pt x="3377" y="511"/>
                </a:lnTo>
                <a:lnTo>
                  <a:pt x="3377" y="15"/>
                </a:lnTo>
                <a:lnTo>
                  <a:pt x="2177" y="15"/>
                </a:lnTo>
                <a:lnTo>
                  <a:pt x="2177" y="511"/>
                </a:lnTo>
                <a:close/>
                <a:moveTo>
                  <a:pt x="15" y="922"/>
                </a:moveTo>
                <a:lnTo>
                  <a:pt x="1215" y="922"/>
                </a:lnTo>
                <a:lnTo>
                  <a:pt x="1215" y="425"/>
                </a:lnTo>
                <a:lnTo>
                  <a:pt x="15" y="425"/>
                </a:lnTo>
                <a:lnTo>
                  <a:pt x="15" y="922"/>
                </a:lnTo>
                <a:close/>
              </a:path>
            </a:pathLst>
          </a:custGeom>
          <a:noFill/>
          <a:ln w="19050" cap="flat">
            <a:solidFill>
              <a:srgbClr val="FF0000">
                <a:alpha val="100000"/>
              </a:srgbClr>
            </a:solidFill>
            <a:prstDash val="solid"/>
            <a:miter lim="1000000"/>
          </a:ln>
        </p:spPr>
        <p:txBody>
          <a:bodyPr rtlCol="0"/>
          <a:lstStyle/>
          <a:p>
            <a:pPr algn="ctr"/>
            <a:endParaRPr lang="zh-CN" altLang="en-US"/>
          </a:p>
        </p:txBody>
      </p:sp>
      <p:sp>
        <p:nvSpPr>
          <p:cNvPr id="207" name="textbox 207"/>
          <p:cNvSpPr/>
          <p:nvPr/>
        </p:nvSpPr>
        <p:spPr>
          <a:xfrm>
            <a:off x="710895" y="6466433"/>
            <a:ext cx="7726044" cy="173989"/>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81000"/>
              </a:lnSpc>
            </a:pPr>
            <a:r>
              <a:rPr sz="1200" spc="0" dirty="0">
                <a:solidFill>
                  <a:srgbClr val="898989">
                    <a:alpha val="100000"/>
                  </a:srgbClr>
                </a:solidFill>
                <a:latin typeface="Ubuntu Mono derivative Powerlin" panose="020B0509030602030204" pitchFamily="49" charset="0"/>
                <a:ea typeface="Palatino Linotype" panose="02040502050505030304"/>
                <a:cs typeface="Palatino Linotype" panose="02040502050505030304"/>
              </a:rPr>
              <a:t>Fall</a:t>
            </a:r>
            <a:r>
              <a:rPr sz="1200" spc="10" dirty="0">
                <a:solidFill>
                  <a:srgbClr val="898989">
                    <a:alpha val="100000"/>
                  </a:srgbClr>
                </a:solidFill>
                <a:latin typeface="Ubuntu Mono derivative Powerlin" panose="020B0509030602030204" pitchFamily="49" charset="0"/>
                <a:ea typeface="Palatino Linotype" panose="02040502050505030304"/>
                <a:cs typeface="Palatino Linotype" panose="02040502050505030304"/>
              </a:rPr>
              <a:t> 2020                             </a:t>
            </a:r>
            <a:r>
              <a:rPr sz="1200" spc="0" dirty="0">
                <a:solidFill>
                  <a:srgbClr val="898989">
                    <a:alpha val="100000"/>
                  </a:srgbClr>
                </a:solidFill>
                <a:latin typeface="Ubuntu Mono derivative Powerlin" panose="020B0509030602030204" pitchFamily="49" charset="0"/>
                <a:ea typeface="Palatino Linotype" panose="02040502050505030304"/>
                <a:cs typeface="Palatino Linotype" panose="02040502050505030304"/>
              </a:rPr>
              <a:t>                                         CS323 Compilers                                                                                 47</a:t>
            </a:r>
            <a:endParaRPr lang="en-US" alt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Conflict Resolution</a:t>
            </a:r>
          </a:p>
        </p:txBody>
      </p:sp>
      <p:sp>
        <p:nvSpPr>
          <p:cNvPr id="4" name="内容占位符 3"/>
          <p:cNvSpPr>
            <a:spLocks noGrp="1"/>
          </p:cNvSpPr>
          <p:nvPr>
            <p:ph idx="1"/>
          </p:nvPr>
        </p:nvSpPr>
        <p:spPr/>
        <p:txBody>
          <a:bodyPr>
            <a:noAutofit/>
          </a:bodyPr>
          <a:lstStyle/>
          <a:p>
            <a:pPr marL="17145" algn="l" rtl="0" eaLnBrk="0" fontAlgn="auto">
              <a:lnSpc>
                <a:spcPct val="150000"/>
              </a:lnSpc>
              <a:spcBef>
                <a:spcPts val="0"/>
              </a:spcBef>
            </a:pPr>
            <a:r>
              <a:rPr sz="2000" dirty="0">
                <a:solidFill>
                  <a:schemeClr val="tx1"/>
                </a:solidFill>
                <a:latin typeface="Palatino Linotype" panose="02040502050505030304" charset="0"/>
                <a:ea typeface="Palatino Linotype" panose="02040502050505030304"/>
                <a:cs typeface="Palatino Linotype" panose="02040502050505030304"/>
                <a:sym typeface="+mn-ea"/>
              </a:rPr>
              <a:t>When the generated lexical analyzer runs, it analyzes the input looking for </a:t>
            </a:r>
            <a:r>
              <a:rPr sz="2000" dirty="0">
                <a:solidFill>
                  <a:srgbClr val="FF0000"/>
                </a:solidFill>
                <a:latin typeface="Palatino Linotype" panose="02040502050505030304" charset="0"/>
                <a:ea typeface="Palatino Linotype" panose="02040502050505030304"/>
                <a:cs typeface="Palatino Linotype" panose="02040502050505030304"/>
                <a:sym typeface="+mn-ea"/>
              </a:rPr>
              <a:t>prefixes that match </a:t>
            </a:r>
            <a:r>
              <a:rPr sz="2000" u="sng" dirty="0">
                <a:solidFill>
                  <a:srgbClr val="FF0000"/>
                </a:solidFill>
                <a:latin typeface="Palatino Linotype" panose="02040502050505030304" charset="0"/>
                <a:ea typeface="Palatino Linotype" panose="02040502050505030304"/>
                <a:cs typeface="Palatino Linotype" panose="02040502050505030304"/>
                <a:sym typeface="+mn-ea"/>
              </a:rPr>
              <a:t>any</a:t>
            </a:r>
            <a:r>
              <a:rPr sz="2000" dirty="0">
                <a:solidFill>
                  <a:srgbClr val="FF0000"/>
                </a:solidFill>
                <a:latin typeface="Palatino Linotype" panose="02040502050505030304" charset="0"/>
                <a:ea typeface="Palatino Linotype" panose="02040502050505030304"/>
                <a:cs typeface="Palatino Linotype" panose="02040502050505030304"/>
                <a:sym typeface="+mn-ea"/>
              </a:rPr>
              <a:t> of its patterns</a:t>
            </a:r>
            <a:r>
              <a:rPr sz="2000" dirty="0">
                <a:solidFill>
                  <a:schemeClr val="tx1"/>
                </a:solidFill>
                <a:latin typeface="Palatino Linotype" panose="02040502050505030304" charset="0"/>
                <a:ea typeface="Palatino Linotype" panose="02040502050505030304"/>
                <a:cs typeface="Palatino Linotype" panose="02040502050505030304"/>
                <a:sym typeface="+mn-ea"/>
              </a:rPr>
              <a:t>.</a:t>
            </a:r>
            <a:r>
              <a:rPr sz="2000" baseline="30000" dirty="0">
                <a:solidFill>
                  <a:schemeClr val="tx1"/>
                </a:solidFill>
                <a:latin typeface="Palatino Linotype" panose="02040502050505030304" charset="0"/>
                <a:ea typeface="Palatino Linotype" panose="02040502050505030304"/>
                <a:cs typeface="Palatino Linotype" panose="02040502050505030304"/>
                <a:sym typeface="+mn-ea"/>
              </a:rPr>
              <a:t>*</a:t>
            </a:r>
            <a:endParaRPr sz="2000" dirty="0">
              <a:solidFill>
                <a:schemeClr val="tx1"/>
              </a:solidFill>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r>
              <a:rPr sz="2000" b="1" dirty="0">
                <a:solidFill>
                  <a:schemeClr val="tx1"/>
                </a:solidFill>
                <a:latin typeface="Palatino Linotype" panose="02040502050505030304" charset="0"/>
                <a:ea typeface="Palatino Linotype" panose="02040502050505030304"/>
                <a:cs typeface="Palatino Linotype" panose="02040502050505030304"/>
                <a:sym typeface="+mn-ea"/>
              </a:rPr>
              <a:t>Rule 1</a:t>
            </a:r>
            <a:r>
              <a:rPr sz="2000" dirty="0">
                <a:solidFill>
                  <a:schemeClr val="tx1"/>
                </a:solidFill>
                <a:latin typeface="Palatino Linotype" panose="02040502050505030304" charset="0"/>
                <a:ea typeface="Palatino Linotype" panose="02040502050505030304"/>
                <a:cs typeface="Palatino Linotype" panose="02040502050505030304"/>
                <a:sym typeface="+mn-ea"/>
              </a:rPr>
              <a:t>: If it finds multiple such prefixes, it takes the </a:t>
            </a:r>
            <a:r>
              <a:rPr sz="2000" dirty="0">
                <a:solidFill>
                  <a:srgbClr val="FF0000"/>
                </a:solidFill>
                <a:latin typeface="Palatino Linotype" panose="02040502050505030304" charset="0"/>
                <a:ea typeface="Palatino Linotype" panose="02040502050505030304"/>
                <a:cs typeface="Palatino Linotype" panose="02040502050505030304"/>
                <a:sym typeface="+mn-ea"/>
              </a:rPr>
              <a:t>longest</a:t>
            </a:r>
            <a:r>
              <a:rPr sz="2000" dirty="0">
                <a:solidFill>
                  <a:schemeClr val="tx1"/>
                </a:solidFill>
                <a:latin typeface="Palatino Linotype" panose="02040502050505030304" charset="0"/>
                <a:ea typeface="Palatino Linotype" panose="02040502050505030304"/>
                <a:cs typeface="Palatino Linotype" panose="02040502050505030304"/>
                <a:sym typeface="+mn-ea"/>
              </a:rPr>
              <a:t> one</a:t>
            </a:r>
          </a:p>
          <a:p>
            <a:pPr marL="0" indent="45720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The analyzer will treat &lt;= as a single lexeme, rather than &lt; as one lexeme and = as the next</a:t>
            </a:r>
          </a:p>
          <a:p>
            <a:pPr marL="17145" algn="l" rtl="0" eaLnBrk="0" fontAlgn="auto">
              <a:lnSpc>
                <a:spcPct val="150000"/>
              </a:lnSpc>
              <a:spcBef>
                <a:spcPts val="0"/>
              </a:spcBef>
            </a:pPr>
            <a:r>
              <a:rPr sz="2000" b="1" dirty="0">
                <a:solidFill>
                  <a:schemeClr val="tx1"/>
                </a:solidFill>
                <a:latin typeface="Palatino Linotype" panose="02040502050505030304" charset="0"/>
                <a:ea typeface="Palatino Linotype" panose="02040502050505030304"/>
                <a:cs typeface="Palatino Linotype" panose="02040502050505030304"/>
                <a:sym typeface="+mn-ea"/>
              </a:rPr>
              <a:t>Rule 2</a:t>
            </a:r>
            <a:r>
              <a:rPr sz="2000" dirty="0">
                <a:solidFill>
                  <a:schemeClr val="tx1"/>
                </a:solidFill>
                <a:latin typeface="Palatino Linotype" panose="02040502050505030304" charset="0"/>
                <a:ea typeface="Palatino Linotype" panose="02040502050505030304"/>
                <a:cs typeface="Palatino Linotype" panose="02040502050505030304"/>
                <a:sym typeface="+mn-ea"/>
              </a:rPr>
              <a:t>: If it finds a prefix matching different patterns, </a:t>
            </a:r>
            <a:r>
              <a:rPr sz="2000" dirty="0">
                <a:solidFill>
                  <a:srgbClr val="FF0000"/>
                </a:solidFill>
                <a:latin typeface="Palatino Linotype" panose="02040502050505030304" charset="0"/>
                <a:ea typeface="Palatino Linotype" panose="02040502050505030304"/>
                <a:cs typeface="Palatino Linotype" panose="02040502050505030304"/>
                <a:sym typeface="+mn-ea"/>
              </a:rPr>
              <a:t>the pattern listed first</a:t>
            </a:r>
            <a:r>
              <a:rPr sz="2000" dirty="0">
                <a:solidFill>
                  <a:schemeClr val="tx1"/>
                </a:solidFill>
                <a:latin typeface="Palatino Linotype" panose="02040502050505030304" charset="0"/>
                <a:ea typeface="Palatino Linotype" panose="02040502050505030304"/>
                <a:cs typeface="Palatino Linotype" panose="02040502050505030304"/>
                <a:sym typeface="+mn-ea"/>
              </a:rPr>
              <a:t> in the Lex program is chosen.</a:t>
            </a:r>
          </a:p>
          <a:p>
            <a:pPr marL="0" indent="457200" algn="l" rtl="0" eaLnBrk="0" fontAlgn="auto">
              <a:lnSpc>
                <a:spcPct val="150000"/>
              </a:lnSpc>
              <a:spcBef>
                <a:spcPts val="0"/>
              </a:spcBef>
              <a:buNone/>
            </a:pPr>
            <a:r>
              <a:rPr sz="1800" dirty="0">
                <a:solidFill>
                  <a:schemeClr val="tx1"/>
                </a:solidFill>
                <a:latin typeface="Palatino Linotype" panose="02040502050505030304" charset="0"/>
                <a:ea typeface="Palatino Linotype" panose="02040502050505030304"/>
                <a:cs typeface="Palatino Linotype" panose="02040502050505030304"/>
                <a:sym typeface="+mn-ea"/>
              </a:rPr>
              <a:t>▪ If the keyword patterns are listed before identifier pattern, the lexical analyzer will not recognize keywords as identifiers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48</a:t>
            </a:fld>
            <a:endParaRPr/>
          </a:p>
        </p:txBody>
      </p:sp>
      <p:sp>
        <p:nvSpPr>
          <p:cNvPr id="2" name="文本框 1"/>
          <p:cNvSpPr txBox="1"/>
          <p:nvPr/>
        </p:nvSpPr>
        <p:spPr>
          <a:xfrm>
            <a:off x="395605" y="5877560"/>
            <a:ext cx="8392160" cy="430530"/>
          </a:xfrm>
          <a:prstGeom prst="rect">
            <a:avLst/>
          </a:prstGeom>
          <a:noFill/>
        </p:spPr>
        <p:txBody>
          <a:bodyPr wrap="square" rtlCol="0" anchor="t">
            <a:noAutofit/>
          </a:bodyPr>
          <a:lstStyle/>
          <a:p>
            <a:r>
              <a:rPr lang="zh-CN" altLang="en-US" sz="1400">
                <a:solidFill>
                  <a:schemeClr val="bg2">
                    <a:lumMod val="50000"/>
                  </a:schemeClr>
                </a:solidFill>
              </a:rPr>
              <a:t> </a:t>
            </a:r>
            <a:r>
              <a:rPr sz="1400" baseline="30000" dirty="0">
                <a:solidFill>
                  <a:schemeClr val="bg2">
                    <a:lumMod val="50000"/>
                  </a:schemeClr>
                </a:solidFill>
                <a:latin typeface="Palatino Linotype" panose="02040502050505030304" charset="0"/>
                <a:ea typeface="Palatino Linotype" panose="02040502050505030304"/>
                <a:cs typeface="Palatino Linotype" panose="02040502050505030304"/>
                <a:sym typeface="+mn-ea"/>
              </a:rPr>
              <a:t>*</a:t>
            </a:r>
            <a:r>
              <a:rPr lang="zh-CN" altLang="en-US" sz="1400">
                <a:solidFill>
                  <a:schemeClr val="bg2">
                    <a:lumMod val="50000"/>
                  </a:schemeClr>
                </a:solidFill>
              </a:rPr>
              <a:t>See Flex manual for details (Chapter 8: How the input is matched) at http://dinosaur.compilertools.net/flex/</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zh-CN" altLang="en-US" sz="3600">
                <a:latin typeface="Palatino Linotype" panose="02040502050505030304" charset="0"/>
              </a:rPr>
              <a:t>Outline</a:t>
            </a:r>
          </a:p>
        </p:txBody>
      </p:sp>
      <p:sp>
        <p:nvSpPr>
          <p:cNvPr id="4" name="内容占位符 3"/>
          <p:cNvSpPr>
            <a:spLocks noGrp="1"/>
          </p:cNvSpPr>
          <p:nvPr>
            <p:ph idx="1"/>
          </p:nvPr>
        </p:nvSpPr>
        <p:spPr/>
        <p:txBody>
          <a:bodyPr>
            <a:normAutofit fontScale="92500" lnSpcReduction="10000"/>
          </a:bodyPr>
          <a:lstStyle/>
          <a:p>
            <a:pPr marL="12700" algn="l" rtl="0" eaLnBrk="0">
              <a:lnSpc>
                <a:spcPct val="81000"/>
              </a:lnSpc>
              <a:spcBef>
                <a:spcPts val="730"/>
              </a:spcBef>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The</a:t>
            </a:r>
            <a:r>
              <a:rPr sz="2750" spc="2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Role</a:t>
            </a:r>
            <a:r>
              <a:rPr sz="2750" spc="2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of</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Lexical Analyzer</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25000"/>
              </a:lnSpc>
            </a:pPr>
            <a:endParaRPr lang="en-US" altLang="en-US" sz="2750" dirty="0">
              <a:solidFill>
                <a:schemeClr val="bg2">
                  <a:lumMod val="50000"/>
                </a:schemeClr>
              </a:solidFill>
              <a:latin typeface="Palatino Linotype" panose="02040502050505030304" charset="0"/>
              <a:cs typeface="Ubuntu Mono derivative Powerline" charset="0"/>
            </a:endParaRPr>
          </a:p>
          <a:p>
            <a:pPr marL="12700" algn="l" rtl="0" eaLnBrk="0">
              <a:lnSpc>
                <a:spcPct val="81000"/>
              </a:lnSpc>
              <a:spcBef>
                <a:spcPts val="730"/>
              </a:spcBef>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Specification of Tokens (Regular Expressions)</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26000"/>
              </a:lnSpc>
            </a:pPr>
            <a:endParaRPr lang="en-US" altLang="en-US" sz="2750" dirty="0">
              <a:solidFill>
                <a:schemeClr val="bg2">
                  <a:lumMod val="50000"/>
                </a:schemeClr>
              </a:solidFill>
              <a:latin typeface="Palatino Linotype" panose="02040502050505030304" charset="0"/>
              <a:cs typeface="Ubuntu Mono derivative Powerline" charset="0"/>
            </a:endParaRPr>
          </a:p>
          <a:p>
            <a:pPr marL="12700" algn="l" rtl="0" eaLnBrk="0">
              <a:lnSpc>
                <a:spcPct val="81000"/>
              </a:lnSpc>
              <a:spcBef>
                <a:spcPts val="720"/>
              </a:spcBef>
            </a:pP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Recog</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nition</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of</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Tokens</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Transition</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Diagrams</a:t>
            </a:r>
            <a:r>
              <a:rPr sz="2750" spc="-1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25000"/>
              </a:lnSpc>
            </a:pPr>
            <a:endParaRPr lang="en-US" altLang="en-US" sz="2750" dirty="0">
              <a:solidFill>
                <a:schemeClr val="bg2">
                  <a:lumMod val="50000"/>
                </a:schemeClr>
              </a:solidFill>
              <a:latin typeface="Palatino Linotype" panose="02040502050505030304" charset="0"/>
              <a:cs typeface="Ubuntu Mono derivative Powerline" charset="0"/>
            </a:endParaRPr>
          </a:p>
          <a:p>
            <a:pPr marL="12700" algn="l" rtl="0" eaLnBrk="0">
              <a:lnSpc>
                <a:spcPts val="2945"/>
              </a:lnSpc>
              <a:spcBef>
                <a:spcPts val="730"/>
              </a:spcBef>
            </a:pP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The</a:t>
            </a:r>
            <a:r>
              <a:rPr sz="2750" spc="4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Lexical</a:t>
            </a:r>
            <a:r>
              <a:rPr sz="2750" spc="4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Analyzer</a:t>
            </a:r>
            <a:r>
              <a:rPr sz="2750" spc="3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bg2">
                    <a:lumMod val="50000"/>
                  </a:schemeClr>
                </a:solidFill>
                <a:latin typeface="Palatino Linotype" panose="02040502050505030304" charset="0"/>
                <a:ea typeface="Palatino Linotype" panose="02040502050505030304"/>
                <a:cs typeface="Ubuntu Mono derivative Powerline" charset="0"/>
                <a:sym typeface="+mn-ea"/>
              </a:rPr>
              <a:t>Generator</a:t>
            </a:r>
            <a:endParaRPr lang="en-US" altLang="en-US" sz="2750" dirty="0">
              <a:solidFill>
                <a:schemeClr val="bg2">
                  <a:lumMod val="50000"/>
                </a:schemeClr>
              </a:solidFill>
              <a:latin typeface="Palatino Linotype" panose="02040502050505030304" charset="0"/>
              <a:cs typeface="Ubuntu Mono derivative Powerline" charset="0"/>
            </a:endParaRPr>
          </a:p>
          <a:p>
            <a:pPr algn="l" rtl="0" eaLnBrk="0">
              <a:lnSpc>
                <a:spcPct val="100000"/>
              </a:lnSpc>
            </a:pPr>
            <a:endParaRPr lang="en-US" altLang="en-US" sz="2750" dirty="0">
              <a:solidFill>
                <a:schemeClr val="bg1">
                  <a:lumMod val="75000"/>
                </a:schemeClr>
              </a:solidFill>
              <a:latin typeface="Palatino Linotype" panose="02040502050505030304" charset="0"/>
              <a:cs typeface="Ubuntu Mono derivative Powerline" charset="0"/>
            </a:endParaRPr>
          </a:p>
          <a:p>
            <a:pPr marL="12700" algn="l" rtl="0" eaLnBrk="0">
              <a:lnSpc>
                <a:spcPct val="96000"/>
              </a:lnSpc>
            </a:pP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Finite</a:t>
            </a:r>
            <a:r>
              <a:rPr sz="2750" spc="3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 </a:t>
            </a:r>
            <a:r>
              <a:rPr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rPr>
              <a:t>Automata</a:t>
            </a:r>
            <a:endParaRPr lang="zh-CN" altLang="en-US" sz="2750" dirty="0">
              <a:solidFill>
                <a:schemeClr val="tx1">
                  <a:alpha val="100000"/>
                </a:schemeClr>
              </a:solidFill>
              <a:latin typeface="Palatino Linotype" panose="02040502050505030304" charset="0"/>
              <a:ea typeface="Palatino Linotype" panose="02040502050505030304"/>
              <a:cs typeface="Ubuntu Mono derivative Powerline" charset="0"/>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49</a:t>
            </a:fld>
            <a:endParaRPr/>
          </a:p>
        </p:txBody>
      </p:sp>
      <p:pic>
        <p:nvPicPr>
          <p:cNvPr id="2" name="图片 1"/>
          <p:cNvPicPr>
            <a:picLocks noChangeAspect="1"/>
          </p:cNvPicPr>
          <p:nvPr>
            <p:custDataLst>
              <p:tags r:id="rId1"/>
            </p:custDataLst>
          </p:nvPr>
        </p:nvPicPr>
        <p:blipFill>
          <a:blip r:embed="rId4"/>
          <a:srcRect l="19840"/>
          <a:stretch>
            <a:fillRect/>
          </a:stretch>
        </p:blipFill>
        <p:spPr>
          <a:xfrm>
            <a:off x="4211955" y="4940935"/>
            <a:ext cx="3491865" cy="1485900"/>
          </a:xfrm>
          <a:prstGeom prst="rect">
            <a:avLst/>
          </a:prstGeom>
        </p:spPr>
      </p:pic>
      <p:cxnSp>
        <p:nvCxnSpPr>
          <p:cNvPr id="5" name="直接箭头连接符 4"/>
          <p:cNvCxnSpPr/>
          <p:nvPr/>
        </p:nvCxnSpPr>
        <p:spPr>
          <a:xfrm flipV="1">
            <a:off x="3550285" y="5732780"/>
            <a:ext cx="589280" cy="190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Finite Automata (有穷自动机)</a:t>
            </a:r>
          </a:p>
        </p:txBody>
      </p:sp>
      <p:sp>
        <p:nvSpPr>
          <p:cNvPr id="4" name="内容占位符 3"/>
          <p:cNvSpPr>
            <a:spLocks noGrp="1"/>
          </p:cNvSpPr>
          <p:nvPr>
            <p:ph idx="1"/>
          </p:nvPr>
        </p:nvSpPr>
        <p:spPr/>
        <p:txBody>
          <a:bodyPr>
            <a:noAutofit/>
          </a:bodyPr>
          <a:lstStyle/>
          <a:p>
            <a:pPr marL="17145"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Finite automata are the simplest machines to recognize patterns</a:t>
            </a:r>
          </a:p>
          <a:p>
            <a:pPr marL="17145" algn="l" rtl="0" eaLnBrk="0" fontAlgn="auto">
              <a:lnSpc>
                <a:spcPct val="150000"/>
              </a:lnSpc>
              <a:spcBef>
                <a:spcPts val="0"/>
              </a:spcBef>
            </a:pPr>
            <a:r>
              <a:rPr sz="1800" dirty="0">
                <a:solidFill>
                  <a:srgbClr val="FF0000"/>
                </a:solidFill>
                <a:latin typeface="Palatino Linotype" panose="02040502050505030304" charset="0"/>
                <a:ea typeface="Palatino Linotype" panose="02040502050505030304"/>
                <a:cs typeface="Palatino Linotype" panose="02040502050505030304"/>
                <a:sym typeface="+mn-ea"/>
              </a:rPr>
              <a:t>They are essentially graphs</a:t>
            </a:r>
            <a:r>
              <a:rPr sz="1800" dirty="0">
                <a:latin typeface="Palatino Linotype" panose="02040502050505030304" charset="0"/>
                <a:ea typeface="Palatino Linotype" panose="02040502050505030304"/>
                <a:cs typeface="Palatino Linotype" panose="02040502050505030304"/>
                <a:sym typeface="+mn-ea"/>
              </a:rPr>
              <a:t> like transition diagrams. They simply say “yes” or “no” about each possible input string.</a:t>
            </a:r>
          </a:p>
          <a:p>
            <a:pPr marL="457200" lvl="1" indent="0" algn="l" rtl="0" eaLnBrk="0" fontAlgn="auto">
              <a:lnSpc>
                <a:spcPct val="150000"/>
              </a:lnSpc>
              <a:spcBef>
                <a:spcPts val="0"/>
              </a:spcBef>
              <a:buNone/>
            </a:pPr>
            <a:r>
              <a:rPr sz="1600" dirty="0">
                <a:latin typeface="Palatino Linotype" panose="02040502050505030304" charset="0"/>
                <a:ea typeface="Palatino Linotype" panose="02040502050505030304"/>
                <a:cs typeface="Palatino Linotype" panose="02040502050505030304"/>
                <a:sym typeface="+mn-ea"/>
              </a:rPr>
              <a:t>▪ </a:t>
            </a:r>
            <a:r>
              <a:rPr sz="1600" dirty="0">
                <a:solidFill>
                  <a:srgbClr val="FF0000"/>
                </a:solidFill>
                <a:latin typeface="Palatino Linotype" panose="02040502050505030304" charset="0"/>
                <a:ea typeface="Palatino Linotype" panose="02040502050505030304"/>
                <a:cs typeface="Palatino Linotype" panose="02040502050505030304"/>
                <a:sym typeface="+mn-ea"/>
              </a:rPr>
              <a:t>Nondeterministic finite automata (NFA, 非确定有穷自动机)</a:t>
            </a:r>
            <a:r>
              <a:rPr sz="1600" dirty="0">
                <a:latin typeface="Palatino Linotype" panose="02040502050505030304" charset="0"/>
                <a:ea typeface="Palatino Linotype" panose="02040502050505030304"/>
                <a:cs typeface="Palatino Linotype" panose="02040502050505030304"/>
                <a:sym typeface="+mn-ea"/>
              </a:rPr>
              <a:t>: </a:t>
            </a:r>
            <a:r>
              <a:rPr sz="1600" dirty="0">
                <a:solidFill>
                  <a:schemeClr val="bg2">
                    <a:lumMod val="50000"/>
                  </a:schemeClr>
                </a:solidFill>
                <a:latin typeface="Palatino Linotype" panose="02040502050505030304" charset="0"/>
                <a:ea typeface="Palatino Linotype" panose="02040502050505030304"/>
                <a:cs typeface="Palatino Linotype" panose="02040502050505030304"/>
                <a:sym typeface="+mn-ea"/>
              </a:rPr>
              <a:t>A symbol can label several edges out of the same state (allowing multiple target states), and the empty string 𝜖 is a possible label.</a:t>
            </a:r>
          </a:p>
          <a:p>
            <a:pPr marL="457200" lvl="1" indent="0" algn="l" rtl="0" eaLnBrk="0" fontAlgn="auto">
              <a:lnSpc>
                <a:spcPct val="150000"/>
              </a:lnSpc>
              <a:spcBef>
                <a:spcPts val="0"/>
              </a:spcBef>
              <a:buNone/>
            </a:pPr>
            <a:r>
              <a:rPr sz="1600" dirty="0">
                <a:latin typeface="Palatino Linotype" panose="02040502050505030304" charset="0"/>
                <a:ea typeface="Palatino Linotype" panose="02040502050505030304"/>
                <a:cs typeface="Palatino Linotype" panose="02040502050505030304"/>
                <a:sym typeface="+mn-ea"/>
              </a:rPr>
              <a:t>▪ </a:t>
            </a:r>
            <a:r>
              <a:rPr sz="1600" dirty="0">
                <a:solidFill>
                  <a:srgbClr val="FF0000"/>
                </a:solidFill>
                <a:latin typeface="Palatino Linotype" panose="02040502050505030304" charset="0"/>
                <a:ea typeface="Palatino Linotype" panose="02040502050505030304"/>
                <a:cs typeface="Palatino Linotype" panose="02040502050505030304"/>
                <a:sym typeface="+mn-ea"/>
              </a:rPr>
              <a:t>Deterministic finite automata (DFA, 确定有穷自动机)</a:t>
            </a:r>
            <a:r>
              <a:rPr sz="1600" dirty="0">
                <a:latin typeface="Palatino Linotype" panose="02040502050505030304" charset="0"/>
                <a:ea typeface="Palatino Linotype" panose="02040502050505030304"/>
                <a:cs typeface="Palatino Linotype" panose="02040502050505030304"/>
                <a:sym typeface="+mn-ea"/>
              </a:rPr>
              <a:t>:</a:t>
            </a:r>
            <a:r>
              <a:rPr sz="1600" dirty="0">
                <a:solidFill>
                  <a:schemeClr val="bg1">
                    <a:lumMod val="65000"/>
                  </a:schemeClr>
                </a:solidFill>
                <a:latin typeface="Palatino Linotype" panose="02040502050505030304" charset="0"/>
                <a:ea typeface="Palatino Linotype" panose="02040502050505030304"/>
                <a:cs typeface="Palatino Linotype" panose="02040502050505030304"/>
                <a:sym typeface="+mn-ea"/>
              </a:rPr>
              <a:t> </a:t>
            </a:r>
            <a:r>
              <a:rPr sz="1600" dirty="0">
                <a:solidFill>
                  <a:schemeClr val="bg2">
                    <a:lumMod val="50000"/>
                  </a:schemeClr>
                </a:solidFill>
                <a:latin typeface="Palatino Linotype" panose="02040502050505030304" charset="0"/>
                <a:ea typeface="Palatino Linotype" panose="02040502050505030304"/>
                <a:cs typeface="Palatino Linotype" panose="02040502050505030304"/>
                <a:sym typeface="+mn-ea"/>
              </a:rPr>
              <a:t>For each state and for each symbol of its input alphabet, there is exactly one edge with that symbol leaving that state.</a:t>
            </a:r>
            <a:endParaRPr sz="1800" dirty="0">
              <a:solidFill>
                <a:schemeClr val="bg2">
                  <a:lumMod val="50000"/>
                </a:schemeClr>
              </a:solidFill>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NFA and DFA recognize the same languages, </a:t>
            </a:r>
            <a:r>
              <a:rPr sz="1800" dirty="0">
                <a:solidFill>
                  <a:srgbClr val="FF0000"/>
                </a:solidFill>
                <a:latin typeface="Palatino Linotype" panose="02040502050505030304" charset="0"/>
                <a:ea typeface="Palatino Linotype" panose="02040502050505030304"/>
                <a:cs typeface="Palatino Linotype" panose="02040502050505030304"/>
                <a:sym typeface="+mn-ea"/>
              </a:rPr>
              <a:t>regular languages</a:t>
            </a:r>
            <a:r>
              <a:rPr sz="1800" dirty="0">
                <a:latin typeface="Palatino Linotype" panose="02040502050505030304" charset="0"/>
                <a:ea typeface="Palatino Linotype" panose="02040502050505030304"/>
                <a:cs typeface="Palatino Linotype" panose="02040502050505030304"/>
                <a:sym typeface="+mn-ea"/>
              </a:rPr>
              <a:t>, that regexps can describe.</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Nondeterministic Finite Automata</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A nondeterministic finite automaton (NFA) consists of:</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 finite set of states S</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 set of input symbols Σ, the </a:t>
            </a:r>
            <a:r>
              <a:rPr sz="2000" dirty="0">
                <a:solidFill>
                  <a:srgbClr val="FF0000"/>
                </a:solidFill>
                <a:latin typeface="Palatino Linotype" panose="02040502050505030304" charset="0"/>
                <a:ea typeface="Palatino Linotype" panose="02040502050505030304"/>
                <a:cs typeface="Palatino Linotype" panose="02040502050505030304"/>
                <a:sym typeface="+mn-ea"/>
              </a:rPr>
              <a:t>input alphabet</a:t>
            </a:r>
            <a:r>
              <a:rPr sz="2000" dirty="0">
                <a:latin typeface="Palatino Linotype" panose="02040502050505030304" charset="0"/>
                <a:ea typeface="Palatino Linotype" panose="02040502050505030304"/>
                <a:cs typeface="Palatino Linotype" panose="02040502050505030304"/>
                <a:sym typeface="+mn-ea"/>
              </a:rPr>
              <a:t>. We assume that the empty string 𝜖 is never a member of Σ.</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 </a:t>
            </a:r>
            <a:r>
              <a:rPr sz="2000" dirty="0">
                <a:solidFill>
                  <a:srgbClr val="FF0000"/>
                </a:solidFill>
                <a:latin typeface="Palatino Linotype" panose="02040502050505030304" charset="0"/>
                <a:ea typeface="Palatino Linotype" panose="02040502050505030304"/>
                <a:cs typeface="Palatino Linotype" panose="02040502050505030304"/>
                <a:sym typeface="+mn-ea"/>
              </a:rPr>
              <a:t>transition function</a:t>
            </a:r>
            <a:r>
              <a:rPr sz="2000" dirty="0">
                <a:latin typeface="Palatino Linotype" panose="02040502050505030304" charset="0"/>
                <a:ea typeface="Palatino Linotype" panose="02040502050505030304"/>
                <a:cs typeface="Palatino Linotype" panose="02040502050505030304"/>
                <a:sym typeface="+mn-ea"/>
              </a:rPr>
              <a:t> that gives, for each state, and for each symbol in </a:t>
            </a:r>
            <a:r>
              <a:rPr sz="2000" dirty="0">
                <a:solidFill>
                  <a:srgbClr val="0331FF"/>
                </a:solidFill>
                <a:latin typeface="Palatino Linotype" panose="02040502050505030304" charset="0"/>
                <a:ea typeface="Palatino Linotype" panose="02040502050505030304"/>
                <a:cs typeface="Palatino Linotype" panose="02040502050505030304"/>
                <a:sym typeface="+mn-ea"/>
              </a:rPr>
              <a:t>Σ ∪ {𝜖} </a:t>
            </a:r>
            <a:r>
              <a:rPr sz="2000" dirty="0">
                <a:solidFill>
                  <a:srgbClr val="FF0000"/>
                </a:solidFill>
                <a:latin typeface="Palatino Linotype" panose="02040502050505030304" charset="0"/>
                <a:ea typeface="Palatino Linotype" panose="02040502050505030304"/>
                <a:cs typeface="Palatino Linotype" panose="02040502050505030304"/>
                <a:sym typeface="+mn-ea"/>
              </a:rPr>
              <a:t>a set of next states</a:t>
            </a:r>
            <a:r>
              <a:rPr sz="2000" dirty="0">
                <a:latin typeface="Palatino Linotype" panose="02040502050505030304" charset="0"/>
                <a:ea typeface="Palatino Linotype" panose="02040502050505030304"/>
                <a:cs typeface="Palatino Linotype" panose="02040502050505030304"/>
                <a:sym typeface="+mn-ea"/>
              </a:rPr>
              <a:t>.</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 </a:t>
            </a:r>
            <a:r>
              <a:rPr sz="2000" dirty="0">
                <a:solidFill>
                  <a:srgbClr val="FF0000"/>
                </a:solidFill>
                <a:latin typeface="Palatino Linotype" panose="02040502050505030304" charset="0"/>
                <a:ea typeface="Palatino Linotype" panose="02040502050505030304"/>
                <a:cs typeface="Palatino Linotype" panose="02040502050505030304"/>
                <a:sym typeface="+mn-ea"/>
              </a:rPr>
              <a:t>start state</a:t>
            </a:r>
            <a:r>
              <a:rPr sz="2000" dirty="0">
                <a:latin typeface="Palatino Linotype" panose="02040502050505030304" charset="0"/>
                <a:ea typeface="Palatino Linotype" panose="02040502050505030304"/>
                <a:cs typeface="Palatino Linotype" panose="02040502050505030304"/>
                <a:sym typeface="+mn-ea"/>
              </a:rPr>
              <a:t> (or initial state) s</a:t>
            </a:r>
            <a:r>
              <a:rPr sz="2000" baseline="-25000" dirty="0">
                <a:latin typeface="Palatino Linotype" panose="02040502050505030304" charset="0"/>
                <a:ea typeface="Palatino Linotype" panose="02040502050505030304"/>
                <a:cs typeface="Palatino Linotype" panose="02040502050505030304"/>
                <a:sym typeface="+mn-ea"/>
              </a:rPr>
              <a:t>0</a:t>
            </a:r>
            <a:r>
              <a:rPr lang="en-US" altLang="zh-CN" sz="2000" baseline="-25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from S</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 set of </a:t>
            </a:r>
            <a:r>
              <a:rPr sz="2000" dirty="0">
                <a:solidFill>
                  <a:srgbClr val="FF0000"/>
                </a:solidFill>
                <a:latin typeface="Palatino Linotype" panose="02040502050505030304" charset="0"/>
                <a:ea typeface="Palatino Linotype" panose="02040502050505030304"/>
                <a:cs typeface="Palatino Linotype" panose="02040502050505030304"/>
                <a:sym typeface="+mn-ea"/>
              </a:rPr>
              <a:t>accepting states</a:t>
            </a:r>
            <a:r>
              <a:rPr sz="2000" dirty="0">
                <a:latin typeface="Palatino Linotype" panose="02040502050505030304" charset="0"/>
                <a:ea typeface="Palatino Linotype" panose="02040502050505030304"/>
                <a:cs typeface="Palatino Linotype" panose="02040502050505030304"/>
                <a:sym typeface="+mn-ea"/>
              </a:rPr>
              <a:t> (or final states) F, a subset of 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NFA Example</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solidFill>
                  <a:schemeClr val="tx1"/>
                </a:solidFill>
                <a:latin typeface="Palatino Linotype" panose="02040502050505030304" charset="0"/>
                <a:ea typeface="Palatino Linotype" panose="02040502050505030304"/>
                <a:cs typeface="Palatino Linotype" panose="02040502050505030304"/>
                <a:sym typeface="+mn-ea"/>
              </a:rPr>
              <a:t>S = {0, 1, 2, 3}</a:t>
            </a:r>
          </a:p>
          <a:p>
            <a:pPr marL="17145" algn="l" rtl="0" eaLnBrk="0" fontAlgn="auto">
              <a:lnSpc>
                <a:spcPct val="150000"/>
              </a:lnSpc>
              <a:spcBef>
                <a:spcPts val="0"/>
              </a:spcBef>
            </a:pPr>
            <a:r>
              <a:rPr sz="2200" dirty="0">
                <a:solidFill>
                  <a:schemeClr val="tx1"/>
                </a:solidFill>
                <a:latin typeface="Palatino Linotype" panose="02040502050505030304" charset="0"/>
                <a:ea typeface="Palatino Linotype" panose="02040502050505030304"/>
                <a:cs typeface="Palatino Linotype" panose="02040502050505030304"/>
                <a:sym typeface="+mn-ea"/>
              </a:rPr>
              <a:t>Start state: 0</a:t>
            </a:r>
          </a:p>
          <a:p>
            <a:pPr marL="17145" algn="l" rtl="0" eaLnBrk="0" fontAlgn="auto">
              <a:lnSpc>
                <a:spcPct val="150000"/>
              </a:lnSpc>
              <a:spcBef>
                <a:spcPts val="0"/>
              </a:spcBef>
            </a:pPr>
            <a:r>
              <a:rPr sz="2200" dirty="0">
                <a:solidFill>
                  <a:schemeClr val="tx1"/>
                </a:solidFill>
                <a:latin typeface="Palatino Linotype" panose="02040502050505030304" charset="0"/>
                <a:ea typeface="Palatino Linotype" panose="02040502050505030304"/>
                <a:cs typeface="Palatino Linotype" panose="02040502050505030304"/>
                <a:sym typeface="+mn-ea"/>
              </a:rPr>
              <a:t>Accepting states: {3}</a:t>
            </a:r>
          </a:p>
          <a:p>
            <a:pPr marL="17145" algn="l" rtl="0" eaLnBrk="0" fontAlgn="auto">
              <a:lnSpc>
                <a:spcPct val="150000"/>
              </a:lnSpc>
              <a:spcBef>
                <a:spcPts val="0"/>
              </a:spcBef>
            </a:pPr>
            <a:r>
              <a:rPr sz="2200" dirty="0">
                <a:solidFill>
                  <a:schemeClr val="tx1"/>
                </a:solidFill>
                <a:latin typeface="Palatino Linotype" panose="02040502050505030304" charset="0"/>
                <a:ea typeface="Palatino Linotype" panose="02040502050505030304"/>
                <a:cs typeface="Palatino Linotype" panose="02040502050505030304"/>
                <a:sym typeface="+mn-ea"/>
              </a:rPr>
              <a:t>Transition function</a:t>
            </a:r>
          </a:p>
          <a:p>
            <a:pPr marL="457200" lvl="1" indent="0" algn="l" rtl="0" eaLnBrk="0" fontAlgn="auto">
              <a:lnSpc>
                <a:spcPct val="150000"/>
              </a:lnSpc>
              <a:spcBef>
                <a:spcPts val="0"/>
              </a:spcBef>
              <a:buNone/>
            </a:pPr>
            <a:r>
              <a:rPr sz="2200" dirty="0">
                <a:solidFill>
                  <a:schemeClr val="tx1"/>
                </a:solidFill>
                <a:latin typeface="Palatino Linotype" panose="02040502050505030304" charset="0"/>
                <a:ea typeface="Palatino Linotype" panose="02040502050505030304"/>
                <a:cs typeface="Palatino Linotype" panose="02040502050505030304"/>
                <a:sym typeface="+mn-ea"/>
              </a:rPr>
              <a:t>▪ (0, a) → {0, 1} </a:t>
            </a:r>
            <a:r>
              <a:rPr lang="en-US" altLang="zh-CN" sz="2200" dirty="0">
                <a:solidFill>
                  <a:schemeClr val="tx1"/>
                </a:solidFill>
                <a:latin typeface="Palatino Linotype" panose="02040502050505030304" charset="0"/>
                <a:ea typeface="Palatino Linotype" panose="02040502050505030304"/>
                <a:cs typeface="Palatino Linotype" panose="02040502050505030304"/>
                <a:sym typeface="+mn-ea"/>
              </a:rPr>
              <a:t>       </a:t>
            </a:r>
            <a:r>
              <a:rPr sz="2200" dirty="0">
                <a:solidFill>
                  <a:schemeClr val="tx1"/>
                </a:solidFill>
                <a:latin typeface="Palatino Linotype" panose="02040502050505030304" charset="0"/>
                <a:ea typeface="Palatino Linotype" panose="02040502050505030304"/>
                <a:cs typeface="Palatino Linotype" panose="02040502050505030304"/>
                <a:sym typeface="+mn-ea"/>
              </a:rPr>
              <a:t>(0, b) → {0}</a:t>
            </a:r>
          </a:p>
          <a:p>
            <a:pPr marL="457200" lvl="1" indent="0" algn="l" rtl="0" eaLnBrk="0" fontAlgn="auto">
              <a:lnSpc>
                <a:spcPct val="150000"/>
              </a:lnSpc>
              <a:spcBef>
                <a:spcPts val="0"/>
              </a:spcBef>
              <a:buNone/>
            </a:pPr>
            <a:r>
              <a:rPr sz="2200" dirty="0">
                <a:solidFill>
                  <a:schemeClr val="tx1"/>
                </a:solidFill>
                <a:latin typeface="Palatino Linotype" panose="02040502050505030304" charset="0"/>
                <a:ea typeface="Palatino Linotype" panose="02040502050505030304"/>
                <a:cs typeface="Palatino Linotype" panose="02040502050505030304"/>
                <a:sym typeface="+mn-ea"/>
              </a:rPr>
              <a:t>▪ (1, b) → {2} </a:t>
            </a:r>
            <a:r>
              <a:rPr lang="en-US" altLang="zh-CN" sz="2200" dirty="0">
                <a:solidFill>
                  <a:schemeClr val="tx1"/>
                </a:solidFill>
                <a:latin typeface="Palatino Linotype" panose="02040502050505030304" charset="0"/>
                <a:ea typeface="Palatino Linotype" panose="02040502050505030304"/>
                <a:cs typeface="Palatino Linotype" panose="02040502050505030304"/>
                <a:sym typeface="+mn-ea"/>
              </a:rPr>
              <a:t>           </a:t>
            </a:r>
            <a:r>
              <a:rPr sz="2200" dirty="0">
                <a:solidFill>
                  <a:schemeClr val="tx1"/>
                </a:solidFill>
                <a:latin typeface="Palatino Linotype" panose="02040502050505030304" charset="0"/>
                <a:ea typeface="Palatino Linotype" panose="02040502050505030304"/>
                <a:cs typeface="Palatino Linotype" panose="02040502050505030304"/>
                <a:sym typeface="+mn-ea"/>
              </a:rPr>
              <a:t>(2, b) → {3}</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52</a:t>
            </a:fld>
            <a:endParaRPr/>
          </a:p>
        </p:txBody>
      </p:sp>
      <p:pic>
        <p:nvPicPr>
          <p:cNvPr id="2" name="图片 1"/>
          <p:cNvPicPr>
            <a:picLocks noChangeAspect="1"/>
          </p:cNvPicPr>
          <p:nvPr>
            <p:custDataLst>
              <p:tags r:id="rId1"/>
            </p:custDataLst>
          </p:nvPr>
        </p:nvPicPr>
        <p:blipFill>
          <a:blip r:embed="rId4"/>
          <a:stretch>
            <a:fillRect/>
          </a:stretch>
        </p:blipFill>
        <p:spPr>
          <a:xfrm>
            <a:off x="4060825" y="1825625"/>
            <a:ext cx="4454525" cy="148717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Transition Table</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Another representation of an NFA</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Rows</a:t>
            </a:r>
            <a:r>
              <a:rPr sz="2000" dirty="0">
                <a:latin typeface="Palatino Linotype" panose="02040502050505030304" charset="0"/>
                <a:ea typeface="Palatino Linotype" panose="02040502050505030304"/>
                <a:cs typeface="Palatino Linotype" panose="02040502050505030304"/>
                <a:sym typeface="+mn-ea"/>
              </a:rPr>
              <a:t> correspond to states</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Columns</a:t>
            </a:r>
            <a:r>
              <a:rPr sz="2000" dirty="0">
                <a:latin typeface="Palatino Linotype" panose="02040502050505030304" charset="0"/>
                <a:ea typeface="Palatino Linotype" panose="02040502050505030304"/>
                <a:cs typeface="Palatino Linotype" panose="02040502050505030304"/>
                <a:sym typeface="+mn-ea"/>
              </a:rPr>
              <a:t> correspond to the input symbols or 𝜖</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The table entry</a:t>
            </a:r>
            <a:r>
              <a:rPr sz="2000" dirty="0">
                <a:latin typeface="Palatino Linotype" panose="02040502050505030304" charset="0"/>
                <a:ea typeface="Palatino Linotype" panose="02040502050505030304"/>
                <a:cs typeface="Palatino Linotype" panose="02040502050505030304"/>
                <a:sym typeface="+mn-ea"/>
              </a:rPr>
              <a:t> for a state-input pair lists the set of next states</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b="1" dirty="0">
                <a:solidFill>
                  <a:srgbClr val="FF0000"/>
                </a:solidFill>
                <a:latin typeface="Palatino Linotype" panose="02040502050505030304" charset="0"/>
                <a:ea typeface="Palatino Linotype" panose="02040502050505030304"/>
                <a:cs typeface="Palatino Linotype" panose="02040502050505030304"/>
                <a:sym typeface="+mn-ea"/>
              </a:rPr>
              <a:t>∅</a:t>
            </a:r>
            <a:r>
              <a:rPr sz="2000" dirty="0">
                <a:latin typeface="Palatino Linotype" panose="02040502050505030304" charset="0"/>
                <a:ea typeface="Palatino Linotype" panose="02040502050505030304"/>
                <a:cs typeface="Palatino Linotype" panose="02040502050505030304"/>
                <a:sym typeface="+mn-ea"/>
              </a:rPr>
              <a:t>: the transition function has no info about the state-input pair</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53</a:t>
            </a:fld>
            <a:endParaRPr/>
          </a:p>
        </p:txBody>
      </p:sp>
      <p:pic>
        <p:nvPicPr>
          <p:cNvPr id="2" name="图片 1"/>
          <p:cNvPicPr>
            <a:picLocks noChangeAspect="1"/>
          </p:cNvPicPr>
          <p:nvPr>
            <p:custDataLst>
              <p:tags r:id="rId1"/>
            </p:custDataLst>
          </p:nvPr>
        </p:nvPicPr>
        <p:blipFill>
          <a:blip r:embed="rId5"/>
          <a:stretch>
            <a:fillRect/>
          </a:stretch>
        </p:blipFill>
        <p:spPr>
          <a:xfrm>
            <a:off x="2051685" y="4221480"/>
            <a:ext cx="4603750" cy="2241550"/>
          </a:xfrm>
          <a:prstGeom prst="rect">
            <a:avLst/>
          </a:prstGeom>
        </p:spPr>
      </p:pic>
      <p:pic>
        <p:nvPicPr>
          <p:cNvPr id="5" name="图片 4"/>
          <p:cNvPicPr>
            <a:picLocks noChangeAspect="1"/>
          </p:cNvPicPr>
          <p:nvPr>
            <p:custDataLst>
              <p:tags r:id="rId2"/>
            </p:custDataLst>
          </p:nvPr>
        </p:nvPicPr>
        <p:blipFill>
          <a:blip r:embed="rId6"/>
          <a:stretch>
            <a:fillRect/>
          </a:stretch>
        </p:blipFill>
        <p:spPr>
          <a:xfrm>
            <a:off x="5003800" y="621030"/>
            <a:ext cx="3813175" cy="127317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Acceptance of Input Strings</a:t>
            </a:r>
          </a:p>
        </p:txBody>
      </p:sp>
      <p:sp>
        <p:nvSpPr>
          <p:cNvPr id="4" name="内容占位符 3"/>
          <p:cNvSpPr>
            <a:spLocks noGrp="1"/>
          </p:cNvSpPr>
          <p:nvPr>
            <p:ph idx="1"/>
          </p:nvPr>
        </p:nvSpPr>
        <p:spPr>
          <a:xfrm>
            <a:off x="628650" y="1628775"/>
            <a:ext cx="7886700" cy="4351338"/>
          </a:xfrm>
        </p:spPr>
        <p:txBody>
          <a:bodyPr>
            <a:noAutofit/>
          </a:bodyPr>
          <a:lstStyle/>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An NFA </a:t>
            </a:r>
            <a:r>
              <a:rPr sz="2000" dirty="0">
                <a:solidFill>
                  <a:srgbClr val="FF0000"/>
                </a:solidFill>
                <a:latin typeface="Palatino Linotype" panose="02040502050505030304" charset="0"/>
                <a:ea typeface="Palatino Linotype" panose="02040502050505030304"/>
                <a:cs typeface="Palatino Linotype" panose="02040502050505030304"/>
                <a:sym typeface="+mn-ea"/>
              </a:rPr>
              <a:t>accepts</a:t>
            </a:r>
            <a:r>
              <a:rPr sz="2000" dirty="0">
                <a:latin typeface="Palatino Linotype" panose="02040502050505030304" charset="0"/>
                <a:ea typeface="Palatino Linotype" panose="02040502050505030304"/>
                <a:cs typeface="Palatino Linotype" panose="02040502050505030304"/>
                <a:sym typeface="+mn-ea"/>
              </a:rPr>
              <a:t> an input string </a:t>
            </a:r>
            <a:r>
              <a:rPr sz="2000" dirty="0">
                <a:solidFill>
                  <a:srgbClr val="0331FF"/>
                </a:solidFill>
                <a:latin typeface="Palatino Linotype" panose="02040502050505030304" charset="0"/>
                <a:ea typeface="Palatino Linotype" panose="02040502050505030304"/>
                <a:cs typeface="Palatino Linotype" panose="02040502050505030304"/>
                <a:sym typeface="+mn-ea"/>
              </a:rPr>
              <a:t>x</a:t>
            </a: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if and only if</a:t>
            </a:r>
            <a:endParaRPr sz="2000" dirty="0">
              <a:latin typeface="Palatino Linotype" panose="02040502050505030304" charset="0"/>
              <a:ea typeface="Palatino Linotype" panose="02040502050505030304"/>
              <a:cs typeface="Palatino Linotype" panose="02040502050505030304"/>
              <a:sym typeface="+mn-ea"/>
            </a:endParaRPr>
          </a:p>
          <a:p>
            <a:pPr marL="0" indent="45720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There is a path in the transition graph from the start state to one accepting state, such that the symbols along the path form x (𝜖 labels are ignored).</a:t>
            </a:r>
            <a:endParaRPr sz="18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2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2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The </a:t>
            </a:r>
            <a:r>
              <a:rPr sz="2000" dirty="0">
                <a:solidFill>
                  <a:srgbClr val="FF0000"/>
                </a:solidFill>
                <a:latin typeface="Palatino Linotype" panose="02040502050505030304" charset="0"/>
                <a:ea typeface="Palatino Linotype" panose="02040502050505030304"/>
                <a:cs typeface="Palatino Linotype" panose="02040502050505030304"/>
                <a:sym typeface="+mn-ea"/>
              </a:rPr>
              <a:t>language</a:t>
            </a:r>
            <a:r>
              <a:rPr sz="2000" dirty="0">
                <a:latin typeface="Palatino Linotype" panose="02040502050505030304" charset="0"/>
                <a:ea typeface="Palatino Linotype" panose="02040502050505030304"/>
                <a:cs typeface="Palatino Linotype" panose="02040502050505030304"/>
                <a:sym typeface="+mn-ea"/>
              </a:rPr>
              <a:t> defined or accepted by an NFA</a:t>
            </a:r>
          </a:p>
          <a:p>
            <a:pPr marL="0" indent="45720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The set of strings labelling some path from the start state to an accepting state</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54</a:t>
            </a:fld>
            <a:endParaRPr/>
          </a:p>
        </p:txBody>
      </p:sp>
      <p:pic>
        <p:nvPicPr>
          <p:cNvPr id="2" name="图片 1"/>
          <p:cNvPicPr>
            <a:picLocks noChangeAspect="1"/>
          </p:cNvPicPr>
          <p:nvPr>
            <p:custDataLst>
              <p:tags r:id="rId1"/>
            </p:custDataLst>
          </p:nvPr>
        </p:nvPicPr>
        <p:blipFill>
          <a:blip r:embed="rId4"/>
          <a:stretch>
            <a:fillRect/>
          </a:stretch>
        </p:blipFill>
        <p:spPr>
          <a:xfrm>
            <a:off x="1259840" y="3500755"/>
            <a:ext cx="2958465" cy="987425"/>
          </a:xfrm>
          <a:prstGeom prst="rect">
            <a:avLst/>
          </a:prstGeom>
        </p:spPr>
      </p:pic>
      <p:sp>
        <p:nvSpPr>
          <p:cNvPr id="5" name="文本框 4"/>
          <p:cNvSpPr txBox="1"/>
          <p:nvPr/>
        </p:nvSpPr>
        <p:spPr>
          <a:xfrm>
            <a:off x="5004048" y="3717032"/>
            <a:ext cx="3295650" cy="400110"/>
          </a:xfrm>
          <a:prstGeom prst="rect">
            <a:avLst/>
          </a:prstGeom>
          <a:noFill/>
        </p:spPr>
        <p:txBody>
          <a:bodyPr wrap="square" rtlCol="0" anchor="t">
            <a:spAutoFit/>
          </a:bodyPr>
          <a:lstStyle/>
          <a:p>
            <a:r>
              <a:rPr lang="zh-CN" altLang="en-US" sz="2000" dirty="0">
                <a:latin typeface="Palatino Linotype" panose="02040502050505030304" charset="0"/>
              </a:rPr>
              <a:t>accepts the string </a:t>
            </a:r>
            <a:r>
              <a:rPr lang="zh-CN" altLang="en-US" sz="2000" i="1" dirty="0">
                <a:latin typeface="Palatino Linotype" panose="02040502050505030304" charset="0"/>
              </a:rPr>
              <a:t>aabb</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NFA and Regular Languages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55</a:t>
            </a:fld>
            <a:endParaRPr/>
          </a:p>
        </p:txBody>
      </p:sp>
      <p:pic>
        <p:nvPicPr>
          <p:cNvPr id="7" name="内容占位符 6"/>
          <p:cNvPicPr>
            <a:picLocks noGrp="1" noChangeAspect="1"/>
          </p:cNvPicPr>
          <p:nvPr>
            <p:ph idx="1"/>
            <p:custDataLst>
              <p:tags r:id="rId1"/>
            </p:custDataLst>
          </p:nvPr>
        </p:nvPicPr>
        <p:blipFill>
          <a:blip r:embed="rId5"/>
          <a:stretch>
            <a:fillRect/>
          </a:stretch>
        </p:blipFill>
        <p:spPr>
          <a:xfrm>
            <a:off x="827405" y="2025650"/>
            <a:ext cx="3373755" cy="1126490"/>
          </a:xfrm>
          <a:prstGeom prst="rect">
            <a:avLst/>
          </a:prstGeom>
        </p:spPr>
      </p:pic>
      <p:pic>
        <p:nvPicPr>
          <p:cNvPr id="8" name="图片 7"/>
          <p:cNvPicPr>
            <a:picLocks noChangeAspect="1"/>
          </p:cNvPicPr>
          <p:nvPr>
            <p:custDataLst>
              <p:tags r:id="rId2"/>
            </p:custDataLst>
          </p:nvPr>
        </p:nvPicPr>
        <p:blipFill>
          <a:blip r:embed="rId6"/>
          <a:stretch>
            <a:fillRect/>
          </a:stretch>
        </p:blipFill>
        <p:spPr>
          <a:xfrm>
            <a:off x="1043305" y="3500755"/>
            <a:ext cx="2275205" cy="1958340"/>
          </a:xfrm>
          <a:prstGeom prst="rect">
            <a:avLst/>
          </a:prstGeom>
        </p:spPr>
      </p:pic>
      <p:sp>
        <p:nvSpPr>
          <p:cNvPr id="9" name="文本框 8"/>
          <p:cNvSpPr txBox="1"/>
          <p:nvPr/>
        </p:nvSpPr>
        <p:spPr>
          <a:xfrm>
            <a:off x="4643755" y="2404745"/>
            <a:ext cx="1771650" cy="460375"/>
          </a:xfrm>
          <a:prstGeom prst="rect">
            <a:avLst/>
          </a:prstGeom>
          <a:noFill/>
        </p:spPr>
        <p:txBody>
          <a:bodyPr wrap="square" rtlCol="0" anchor="t">
            <a:spAutoFit/>
          </a:bodyPr>
          <a:lstStyle/>
          <a:p>
            <a:r>
              <a:rPr lang="zh-CN" altLang="en-US" sz="2400">
                <a:solidFill>
                  <a:srgbClr val="FF0000"/>
                </a:solidFill>
              </a:rPr>
              <a:t>L(</a:t>
            </a:r>
            <a:r>
              <a:rPr lang="zh-CN" altLang="en-US" sz="2400">
                <a:solidFill>
                  <a:srgbClr val="0331FF"/>
                </a:solidFill>
              </a:rPr>
              <a:t>(a|b)*abb</a:t>
            </a:r>
            <a:r>
              <a:rPr lang="zh-CN" altLang="en-US" sz="2400">
                <a:solidFill>
                  <a:srgbClr val="FF0000"/>
                </a:solidFill>
              </a:rPr>
              <a:t>)</a:t>
            </a:r>
          </a:p>
        </p:txBody>
      </p:sp>
      <p:sp>
        <p:nvSpPr>
          <p:cNvPr id="10" name="文本框 9"/>
          <p:cNvSpPr txBox="1"/>
          <p:nvPr/>
        </p:nvSpPr>
        <p:spPr>
          <a:xfrm>
            <a:off x="4139565" y="4295775"/>
            <a:ext cx="2943225" cy="460375"/>
          </a:xfrm>
          <a:prstGeom prst="rect">
            <a:avLst/>
          </a:prstGeom>
          <a:noFill/>
        </p:spPr>
        <p:txBody>
          <a:bodyPr wrap="square" rtlCol="0" anchor="t">
            <a:spAutoFit/>
          </a:bodyPr>
          <a:lstStyle/>
          <a:p>
            <a:r>
              <a:rPr lang="zh-CN" altLang="en-US" sz="2400">
                <a:solidFill>
                  <a:srgbClr val="FF0000"/>
                </a:solidFill>
              </a:rPr>
              <a:t>L(</a:t>
            </a:r>
            <a:r>
              <a:rPr lang="zh-CN" altLang="en-US" sz="2400">
                <a:solidFill>
                  <a:srgbClr val="0331FF"/>
                </a:solidFill>
              </a:rPr>
              <a:t>aa*|bb*</a:t>
            </a:r>
            <a:r>
              <a:rPr lang="zh-CN" altLang="en-US" sz="2400">
                <a:solidFill>
                  <a:srgbClr val="FF0000"/>
                </a:solidFill>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Deterministic Finite Automata (DFA)</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A deterministic finite automaton is </a:t>
            </a:r>
            <a:r>
              <a:rPr sz="2200" dirty="0">
                <a:solidFill>
                  <a:srgbClr val="FF0000"/>
                </a:solidFill>
                <a:latin typeface="Palatino Linotype" panose="02040502050505030304" charset="0"/>
                <a:ea typeface="Palatino Linotype" panose="02040502050505030304"/>
                <a:cs typeface="Palatino Linotype" panose="02040502050505030304"/>
                <a:sym typeface="+mn-ea"/>
              </a:rPr>
              <a:t>a special NFA</a:t>
            </a:r>
            <a:r>
              <a:rPr sz="2200" dirty="0">
                <a:latin typeface="Palatino Linotype" panose="02040502050505030304" charset="0"/>
                <a:ea typeface="Palatino Linotype" panose="02040502050505030304"/>
                <a:cs typeface="Palatino Linotype" panose="02040502050505030304"/>
                <a:sym typeface="+mn-ea"/>
              </a:rPr>
              <a:t> where:</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There are no moves on input 𝜖</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For each </a:t>
            </a:r>
            <a:r>
              <a:rPr sz="2000" dirty="0">
                <a:solidFill>
                  <a:srgbClr val="FF0000"/>
                </a:solidFill>
                <a:latin typeface="Palatino Linotype" panose="02040502050505030304" charset="0"/>
                <a:ea typeface="Palatino Linotype" panose="02040502050505030304"/>
                <a:cs typeface="Palatino Linotype" panose="02040502050505030304"/>
                <a:sym typeface="+mn-ea"/>
              </a:rPr>
              <a:t>state s</a:t>
            </a:r>
            <a:r>
              <a:rPr sz="2000" dirty="0">
                <a:latin typeface="Palatino Linotype" panose="02040502050505030304" charset="0"/>
                <a:ea typeface="Palatino Linotype" panose="02040502050505030304"/>
                <a:cs typeface="Palatino Linotype" panose="02040502050505030304"/>
                <a:sym typeface="+mn-ea"/>
              </a:rPr>
              <a:t> and input </a:t>
            </a:r>
            <a:r>
              <a:rPr sz="2000" dirty="0">
                <a:solidFill>
                  <a:srgbClr val="FF0000"/>
                </a:solidFill>
                <a:latin typeface="Palatino Linotype" panose="02040502050505030304" charset="0"/>
                <a:ea typeface="Palatino Linotype" panose="02040502050505030304"/>
                <a:cs typeface="Palatino Linotype" panose="02040502050505030304"/>
                <a:sym typeface="+mn-ea"/>
              </a:rPr>
              <a:t>symbol a</a:t>
            </a:r>
            <a:r>
              <a:rPr sz="2000" dirty="0">
                <a:latin typeface="Palatino Linotype" panose="02040502050505030304" charset="0"/>
                <a:ea typeface="Palatino Linotype" panose="02040502050505030304"/>
                <a:cs typeface="Palatino Linotype" panose="02040502050505030304"/>
                <a:sym typeface="+mn-ea"/>
              </a:rPr>
              <a:t>, there is </a:t>
            </a:r>
            <a:r>
              <a:rPr sz="2000" dirty="0">
                <a:solidFill>
                  <a:srgbClr val="FF0000"/>
                </a:solidFill>
                <a:latin typeface="Palatino Linotype" panose="02040502050505030304" charset="0"/>
                <a:ea typeface="Palatino Linotype" panose="02040502050505030304"/>
                <a:cs typeface="Palatino Linotype" panose="02040502050505030304"/>
                <a:sym typeface="+mn-ea"/>
              </a:rPr>
              <a:t>exactly one edge</a:t>
            </a:r>
            <a:r>
              <a:rPr lang="en-US" sz="2000" dirty="0">
                <a:solidFill>
                  <a:srgbClr val="FF0000"/>
                </a:solidFill>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out of s labeled a</a:t>
            </a:r>
          </a:p>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DFA can efficiently accept/reject strings (recognize patterns)</a:t>
            </a:r>
          </a:p>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Every regexp and every NFA can be converted to a DFA accepting the same language</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Simulating a DFA</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000" b="1" dirty="0">
                <a:latin typeface="Palatino Linotype" panose="02040502050505030304" charset="0"/>
                <a:ea typeface="Palatino Linotype" panose="02040502050505030304"/>
                <a:cs typeface="Palatino Linotype" panose="02040502050505030304"/>
                <a:sym typeface="+mn-ea"/>
              </a:rPr>
              <a:t>Input:</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String </a:t>
            </a:r>
            <a:r>
              <a:rPr sz="1800" dirty="0">
                <a:solidFill>
                  <a:srgbClr val="0331FF"/>
                </a:solidFill>
                <a:latin typeface="Palatino Linotype" panose="02040502050505030304" charset="0"/>
                <a:ea typeface="Palatino Linotype" panose="02040502050505030304"/>
                <a:cs typeface="Palatino Linotype" panose="02040502050505030304"/>
                <a:sym typeface="+mn-ea"/>
              </a:rPr>
              <a:t>x</a:t>
            </a:r>
            <a:r>
              <a:rPr sz="1800" dirty="0">
                <a:latin typeface="Palatino Linotype" panose="02040502050505030304" charset="0"/>
                <a:ea typeface="Palatino Linotype" panose="02040502050505030304"/>
                <a:cs typeface="Palatino Linotype" panose="02040502050505030304"/>
                <a:sym typeface="+mn-ea"/>
              </a:rPr>
              <a:t> terminated by an end-of-file character eof. </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DFA </a:t>
            </a:r>
            <a:r>
              <a:rPr sz="1800" dirty="0">
                <a:solidFill>
                  <a:srgbClr val="0331FF"/>
                </a:solidFill>
                <a:latin typeface="Palatino Linotype" panose="02040502050505030304" charset="0"/>
                <a:ea typeface="Palatino Linotype" panose="02040502050505030304"/>
                <a:cs typeface="Palatino Linotype" panose="02040502050505030304"/>
                <a:sym typeface="+mn-ea"/>
              </a:rPr>
              <a:t>D</a:t>
            </a:r>
            <a:r>
              <a:rPr sz="1800" dirty="0">
                <a:latin typeface="Palatino Linotype" panose="02040502050505030304" charset="0"/>
                <a:ea typeface="Palatino Linotype" panose="02040502050505030304"/>
                <a:cs typeface="Palatino Linotype" panose="02040502050505030304"/>
                <a:sym typeface="+mn-ea"/>
              </a:rPr>
              <a:t> with start state </a:t>
            </a:r>
            <a:r>
              <a:rPr sz="1800" dirty="0">
                <a:solidFill>
                  <a:srgbClr val="0331FF"/>
                </a:solidFill>
                <a:latin typeface="Palatino Linotype" panose="02040502050505030304" charset="0"/>
                <a:ea typeface="Palatino Linotype" panose="02040502050505030304"/>
                <a:cs typeface="Palatino Linotype" panose="02040502050505030304"/>
                <a:sym typeface="+mn-ea"/>
              </a:rPr>
              <a:t>s</a:t>
            </a:r>
            <a:r>
              <a:rPr sz="1800" baseline="-25000" dirty="0">
                <a:solidFill>
                  <a:srgbClr val="0331FF"/>
                </a:solidFill>
                <a:latin typeface="Palatino Linotype" panose="02040502050505030304" charset="0"/>
                <a:ea typeface="Palatino Linotype" panose="02040502050505030304"/>
                <a:cs typeface="Palatino Linotype" panose="02040502050505030304"/>
                <a:sym typeface="+mn-ea"/>
              </a:rPr>
              <a:t>0</a:t>
            </a:r>
            <a:r>
              <a:rPr sz="1800" dirty="0">
                <a:latin typeface="Palatino Linotype" panose="02040502050505030304" charset="0"/>
                <a:ea typeface="Palatino Linotype" panose="02040502050505030304"/>
                <a:cs typeface="Palatino Linotype" panose="02040502050505030304"/>
                <a:sym typeface="+mn-ea"/>
              </a:rPr>
              <a:t>, accepting states </a:t>
            </a:r>
            <a:r>
              <a:rPr sz="1800" dirty="0">
                <a:solidFill>
                  <a:srgbClr val="0331FF"/>
                </a:solidFill>
                <a:latin typeface="Palatino Linotype" panose="02040502050505030304" charset="0"/>
                <a:ea typeface="Palatino Linotype" panose="02040502050505030304"/>
                <a:cs typeface="Palatino Linotype" panose="02040502050505030304"/>
                <a:sym typeface="+mn-ea"/>
              </a:rPr>
              <a:t>F</a:t>
            </a:r>
            <a:r>
              <a:rPr sz="1800" dirty="0">
                <a:latin typeface="Palatino Linotype" panose="02040502050505030304" charset="0"/>
                <a:ea typeface="Palatino Linotype" panose="02040502050505030304"/>
                <a:cs typeface="Palatino Linotype" panose="02040502050505030304"/>
                <a:sym typeface="+mn-ea"/>
              </a:rPr>
              <a:t>, and transition function </a:t>
            </a:r>
            <a:r>
              <a:rPr sz="1800" dirty="0">
                <a:solidFill>
                  <a:srgbClr val="0331FF"/>
                </a:solidFill>
                <a:latin typeface="Palatino Linotype" panose="02040502050505030304" charset="0"/>
                <a:ea typeface="Palatino Linotype" panose="02040502050505030304"/>
                <a:cs typeface="Palatino Linotype" panose="02040502050505030304"/>
                <a:sym typeface="+mn-ea"/>
              </a:rPr>
              <a:t>move</a:t>
            </a:r>
            <a:endParaRPr sz="1800" dirty="0">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r>
              <a:rPr sz="2000" b="1" dirty="0">
                <a:latin typeface="Palatino Linotype" panose="02040502050505030304" charset="0"/>
                <a:ea typeface="Palatino Linotype" panose="02040502050505030304"/>
                <a:cs typeface="Palatino Linotype" panose="02040502050505030304"/>
                <a:sym typeface="+mn-ea"/>
              </a:rPr>
              <a:t>Output: </a:t>
            </a:r>
            <a:r>
              <a:rPr sz="2000" dirty="0">
                <a:latin typeface="Palatino Linotype" panose="02040502050505030304" charset="0"/>
                <a:ea typeface="Palatino Linotype" panose="02040502050505030304"/>
                <a:cs typeface="Palatino Linotype" panose="02040502050505030304"/>
                <a:sym typeface="+mn-ea"/>
              </a:rPr>
              <a:t>Answer “yes” if D accepts x; “no” otherwise</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57</a:t>
            </a:fld>
            <a:endParaRPr/>
          </a:p>
        </p:txBody>
      </p:sp>
      <p:pic>
        <p:nvPicPr>
          <p:cNvPr id="6" name="图片 5"/>
          <p:cNvPicPr>
            <a:picLocks noChangeAspect="1"/>
          </p:cNvPicPr>
          <p:nvPr>
            <p:custDataLst>
              <p:tags r:id="rId1"/>
            </p:custDataLst>
          </p:nvPr>
        </p:nvPicPr>
        <p:blipFill>
          <a:blip r:embed="rId4"/>
          <a:stretch>
            <a:fillRect/>
          </a:stretch>
        </p:blipFill>
        <p:spPr>
          <a:xfrm>
            <a:off x="3244850" y="4027170"/>
            <a:ext cx="3098800" cy="216598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DFA Example</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Given the input string ababb, the DFA below enters the sequence of states </a:t>
            </a:r>
            <a:r>
              <a:rPr sz="2200" dirty="0">
                <a:solidFill>
                  <a:srgbClr val="FF0000"/>
                </a:solidFill>
                <a:latin typeface="Palatino Linotype" panose="02040502050505030304" charset="0"/>
                <a:ea typeface="Palatino Linotype" panose="02040502050505030304"/>
                <a:cs typeface="Palatino Linotype" panose="02040502050505030304"/>
                <a:sym typeface="+mn-ea"/>
              </a:rPr>
              <a:t>0, 1, 2, 1, 2, 3 </a:t>
            </a:r>
            <a:r>
              <a:rPr sz="2200" dirty="0">
                <a:latin typeface="Palatino Linotype" panose="02040502050505030304" charset="0"/>
                <a:ea typeface="Palatino Linotype" panose="02040502050505030304"/>
                <a:cs typeface="Palatino Linotype" panose="02040502050505030304"/>
                <a:sym typeface="+mn-ea"/>
              </a:rPr>
              <a:t>and returns ”yes”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58</a:t>
            </a:fld>
            <a:endParaRPr/>
          </a:p>
        </p:txBody>
      </p:sp>
      <p:pic>
        <p:nvPicPr>
          <p:cNvPr id="6" name="图片 5"/>
          <p:cNvPicPr>
            <a:picLocks noChangeAspect="1"/>
          </p:cNvPicPr>
          <p:nvPr>
            <p:custDataLst>
              <p:tags r:id="rId1"/>
            </p:custDataLst>
          </p:nvPr>
        </p:nvPicPr>
        <p:blipFill>
          <a:blip r:embed="rId4"/>
          <a:stretch>
            <a:fillRect/>
          </a:stretch>
        </p:blipFill>
        <p:spPr>
          <a:xfrm>
            <a:off x="1412875" y="3068955"/>
            <a:ext cx="6318250" cy="2290445"/>
          </a:xfrm>
          <a:prstGeom prst="rect">
            <a:avLst/>
          </a:prstGeom>
        </p:spPr>
      </p:pic>
      <p:sp>
        <p:nvSpPr>
          <p:cNvPr id="7" name="文本框 6"/>
          <p:cNvSpPr txBox="1"/>
          <p:nvPr/>
        </p:nvSpPr>
        <p:spPr>
          <a:xfrm>
            <a:off x="1537970" y="5229225"/>
            <a:ext cx="6068060" cy="461665"/>
          </a:xfrm>
          <a:prstGeom prst="rect">
            <a:avLst/>
          </a:prstGeom>
          <a:noFill/>
        </p:spPr>
        <p:txBody>
          <a:bodyPr wrap="square" rtlCol="0" anchor="t">
            <a:spAutoFit/>
          </a:bodyPr>
          <a:lstStyle/>
          <a:p>
            <a:r>
              <a:rPr lang="zh-CN" altLang="en-US" sz="2400" i="1" dirty="0">
                <a:solidFill>
                  <a:srgbClr val="FF0000"/>
                </a:solidFill>
                <a:latin typeface="Palatino Linotype" panose="02040502050505030304" charset="0"/>
              </a:rPr>
              <a:t>What’s the language defined by this DFA?</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dirty="0">
                <a:latin typeface="Palatino Linotype" panose="02040502050505030304" charset="0"/>
              </a:rPr>
              <a:t>From Regular Expressions to Automata</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Regexps concisely &amp; precisely describe the patterns of tokens</a:t>
            </a:r>
          </a:p>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DFA can efficiently recognize patterns (comparatively, the simulation of NFA is less straightforward</a:t>
            </a:r>
            <a:r>
              <a:rPr sz="2200" baseline="30000" dirty="0">
                <a:latin typeface="Palatino Linotype" panose="02040502050505030304" charset="0"/>
                <a:ea typeface="Palatino Linotype" panose="02040502050505030304"/>
                <a:cs typeface="Palatino Linotype" panose="02040502050505030304"/>
                <a:sym typeface="+mn-ea"/>
              </a:rPr>
              <a:t>*</a:t>
            </a:r>
            <a:r>
              <a:rPr sz="2200" dirty="0">
                <a:latin typeface="Palatino Linotype" panose="02040502050505030304" charset="0"/>
                <a:ea typeface="Palatino Linotype" panose="02040502050505030304"/>
                <a:cs typeface="Palatino Linotype" panose="02040502050505030304"/>
                <a:sym typeface="+mn-ea"/>
              </a:rPr>
              <a:t>)</a:t>
            </a:r>
          </a:p>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When implementing lexical analyzers, regexps are often converted to DFA:</a:t>
            </a:r>
          </a:p>
          <a:p>
            <a:pPr marL="0" indent="45720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Regexp → NFA → DFA</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59</a:t>
            </a:fld>
            <a:endParaRPr/>
          </a:p>
        </p:txBody>
      </p:sp>
      <p:sp>
        <p:nvSpPr>
          <p:cNvPr id="6" name="文本框 5"/>
          <p:cNvSpPr txBox="1"/>
          <p:nvPr/>
        </p:nvSpPr>
        <p:spPr>
          <a:xfrm>
            <a:off x="611505" y="5661025"/>
            <a:ext cx="7324090" cy="368300"/>
          </a:xfrm>
          <a:prstGeom prst="rect">
            <a:avLst/>
          </a:prstGeom>
          <a:noFill/>
        </p:spPr>
        <p:txBody>
          <a:bodyPr wrap="square" rtlCol="0" anchor="t">
            <a:spAutoFit/>
          </a:bodyPr>
          <a:lstStyle/>
          <a:p>
            <a:r>
              <a:rPr lang="zh-CN" altLang="en-US" dirty="0">
                <a:solidFill>
                  <a:schemeClr val="bg2">
                    <a:lumMod val="50000"/>
                  </a:schemeClr>
                </a:solidFill>
              </a:rPr>
              <a:t>* There may be multiple transitions at a state when seeing a symbol</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dirty="0">
                <a:latin typeface="Palatino Linotype" panose="02040502050505030304" charset="0"/>
              </a:rPr>
              <a:t>Conversion of an NFA to a DFA</a:t>
            </a:r>
          </a:p>
        </p:txBody>
      </p:sp>
      <p:sp>
        <p:nvSpPr>
          <p:cNvPr id="4" name="内容占位符 3"/>
          <p:cNvSpPr>
            <a:spLocks noGrp="1"/>
          </p:cNvSpPr>
          <p:nvPr>
            <p:ph idx="1"/>
          </p:nvPr>
        </p:nvSpPr>
        <p:spPr/>
        <p:txBody>
          <a:bodyPr>
            <a:noAutofit/>
          </a:bodyPr>
          <a:lstStyle/>
          <a:p>
            <a:pPr marL="17145" algn="l" rtl="0" eaLnBrk="0" fontAlgn="auto">
              <a:lnSpc>
                <a:spcPct val="150000"/>
              </a:lnSpc>
              <a:spcBef>
                <a:spcPts val="0"/>
              </a:spcBef>
            </a:pPr>
            <a:r>
              <a:rPr sz="2200" dirty="0">
                <a:latin typeface="Palatino Linotype" panose="02040502050505030304" charset="0"/>
                <a:sym typeface="+mn-ea"/>
              </a:rPr>
              <a:t>The subset construction</a:t>
            </a:r>
            <a:r>
              <a:rPr sz="2000" dirty="0">
                <a:latin typeface="Palatino Linotype" panose="02040502050505030304" charset="0"/>
                <a:sym typeface="+mn-ea"/>
              </a:rPr>
              <a:t> </a:t>
            </a:r>
            <a:r>
              <a:rPr sz="2200" dirty="0">
                <a:latin typeface="Palatino Linotype" panose="02040502050505030304" charset="0"/>
                <a:ea typeface="Palatino Linotype" panose="02040502050505030304"/>
                <a:cs typeface="Palatino Linotype" panose="02040502050505030304"/>
                <a:sym typeface="+mn-ea"/>
              </a:rPr>
              <a:t>algorithm (子集构造法)</a:t>
            </a:r>
          </a:p>
          <a:p>
            <a:pPr marL="0" indent="45720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dirty="0">
                <a:solidFill>
                  <a:srgbClr val="FF0000"/>
                </a:solidFill>
                <a:latin typeface="Palatino Linotype" panose="02040502050505030304" charset="0"/>
                <a:ea typeface="Palatino Linotype" panose="02040502050505030304"/>
                <a:cs typeface="Palatino Linotype" panose="02040502050505030304"/>
                <a:sym typeface="+mn-ea"/>
              </a:rPr>
              <a:t>Insight</a:t>
            </a:r>
            <a:r>
              <a:rPr sz="2000" dirty="0">
                <a:latin typeface="Palatino Linotype" panose="02040502050505030304" charset="0"/>
                <a:ea typeface="Palatino Linotype" panose="02040502050505030304"/>
                <a:cs typeface="Palatino Linotype" panose="02040502050505030304"/>
                <a:sym typeface="+mn-ea"/>
              </a:rPr>
              <a:t>: Each state of the constructed DFA corresponds to a set of NFA states</a:t>
            </a:r>
          </a:p>
          <a:p>
            <a:pPr marL="931545" lvl="2"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After reading the input a</a:t>
            </a:r>
            <a:r>
              <a:rPr sz="1800" baseline="-25000" dirty="0">
                <a:latin typeface="Palatino Linotype" panose="02040502050505030304" charset="0"/>
                <a:ea typeface="Palatino Linotype" panose="02040502050505030304"/>
                <a:cs typeface="Palatino Linotype" panose="02040502050505030304"/>
                <a:sym typeface="+mn-ea"/>
              </a:rPr>
              <a:t>1</a:t>
            </a:r>
            <a:r>
              <a:rPr sz="1800" dirty="0">
                <a:latin typeface="Palatino Linotype" panose="02040502050505030304" charset="0"/>
                <a:ea typeface="Palatino Linotype" panose="02040502050505030304"/>
                <a:cs typeface="Palatino Linotype" panose="02040502050505030304"/>
                <a:sym typeface="+mn-ea"/>
              </a:rPr>
              <a:t>a</a:t>
            </a:r>
            <a:r>
              <a:rPr sz="1800" baseline="-25000" dirty="0">
                <a:latin typeface="Palatino Linotype" panose="02040502050505030304" charset="0"/>
                <a:ea typeface="Palatino Linotype" panose="02040502050505030304"/>
                <a:cs typeface="Palatino Linotype" panose="02040502050505030304"/>
                <a:sym typeface="+mn-ea"/>
              </a:rPr>
              <a:t>2</a:t>
            </a:r>
            <a:r>
              <a:rPr sz="1800" dirty="0">
                <a:latin typeface="Palatino Linotype" panose="02040502050505030304" charset="0"/>
                <a:ea typeface="Palatino Linotype" panose="02040502050505030304"/>
                <a:cs typeface="Palatino Linotype" panose="02040502050505030304"/>
                <a:sym typeface="+mn-ea"/>
              </a:rPr>
              <a:t>…a</a:t>
            </a:r>
            <a:r>
              <a:rPr sz="1800" baseline="-25000" dirty="0">
                <a:latin typeface="Palatino Linotype" panose="02040502050505030304" charset="0"/>
                <a:ea typeface="Palatino Linotype" panose="02040502050505030304"/>
                <a:cs typeface="Palatino Linotype" panose="02040502050505030304"/>
                <a:sym typeface="+mn-ea"/>
              </a:rPr>
              <a:t>n</a:t>
            </a:r>
            <a:r>
              <a:rPr sz="1800" dirty="0">
                <a:latin typeface="Palatino Linotype" panose="02040502050505030304" charset="0"/>
                <a:ea typeface="Palatino Linotype" panose="02040502050505030304"/>
                <a:cs typeface="Palatino Linotype" panose="02040502050505030304"/>
                <a:sym typeface="+mn-ea"/>
              </a:rPr>
              <a:t>, the DFA is in the state which corresponds to the set of states that the NFA can reach, from its start state, following paths labeled a</a:t>
            </a:r>
            <a:r>
              <a:rPr sz="1800" baseline="-25000" dirty="0">
                <a:latin typeface="Palatino Linotype" panose="02040502050505030304" charset="0"/>
                <a:ea typeface="Palatino Linotype" panose="02040502050505030304"/>
                <a:cs typeface="Palatino Linotype" panose="02040502050505030304"/>
                <a:sym typeface="+mn-ea"/>
              </a:rPr>
              <a:t>1</a:t>
            </a:r>
            <a:r>
              <a:rPr sz="1800" dirty="0">
                <a:latin typeface="Palatino Linotype" panose="02040502050505030304" charset="0"/>
                <a:ea typeface="Palatino Linotype" panose="02040502050505030304"/>
                <a:cs typeface="Palatino Linotype" panose="02040502050505030304"/>
                <a:sym typeface="+mn-ea"/>
              </a:rPr>
              <a:t>a</a:t>
            </a:r>
            <a:r>
              <a:rPr sz="1800" baseline="-25000" dirty="0">
                <a:latin typeface="Palatino Linotype" panose="02040502050505030304" charset="0"/>
                <a:ea typeface="Palatino Linotype" panose="02040502050505030304"/>
                <a:cs typeface="Palatino Linotype" panose="02040502050505030304"/>
                <a:sym typeface="+mn-ea"/>
              </a:rPr>
              <a:t>2</a:t>
            </a:r>
            <a:r>
              <a:rPr sz="1800" dirty="0">
                <a:latin typeface="Palatino Linotype" panose="02040502050505030304" charset="0"/>
                <a:ea typeface="Palatino Linotype" panose="02040502050505030304"/>
                <a:cs typeface="Palatino Linotype" panose="02040502050505030304"/>
                <a:sym typeface="+mn-ea"/>
              </a:rPr>
              <a:t>…a</a:t>
            </a:r>
            <a:r>
              <a:rPr sz="1800" baseline="-25000" dirty="0">
                <a:latin typeface="Palatino Linotype" panose="02040502050505030304" charset="0"/>
                <a:ea typeface="Palatino Linotype" panose="02040502050505030304"/>
                <a:cs typeface="Palatino Linotype" panose="02040502050505030304"/>
                <a:sym typeface="+mn-ea"/>
              </a:rPr>
              <a:t>n</a:t>
            </a:r>
            <a:endParaRPr sz="1800" dirty="0">
              <a:latin typeface="Palatino Linotype" panose="02040502050505030304" charset="0"/>
              <a:ea typeface="Palatino Linotype" panose="02040502050505030304"/>
              <a:cs typeface="Palatino Linotype" panose="02040502050505030304"/>
              <a:sym typeface="+mn-ea"/>
            </a:endParaRPr>
          </a:p>
          <a:p>
            <a:pPr marL="0" indent="45720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The algorithm simulates “in parallel” all possible moves an NFA can make on a given input string</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Example for Algorithm Illustration</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The NFA below accepts the string </a:t>
            </a:r>
            <a:r>
              <a:rPr sz="2200" i="1" dirty="0">
                <a:latin typeface="Palatino Linotype" panose="02040502050505030304" charset="0"/>
                <a:ea typeface="Palatino Linotype" panose="02040502050505030304"/>
                <a:cs typeface="Palatino Linotype" panose="02040502050505030304"/>
                <a:sym typeface="+mn-ea"/>
              </a:rPr>
              <a:t>babb</a:t>
            </a:r>
          </a:p>
          <a:p>
            <a:pPr marL="0" indent="45720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There exists a path from the start state 0 to the accepting state 10, on which the labels on the edges form the string </a:t>
            </a:r>
            <a:r>
              <a:rPr sz="2000" i="1" dirty="0">
                <a:latin typeface="Palatino Linotype" panose="02040502050505030304" charset="0"/>
                <a:ea typeface="Palatino Linotype" panose="02040502050505030304"/>
                <a:cs typeface="Palatino Linotype" panose="02040502050505030304"/>
                <a:sym typeface="+mn-ea"/>
              </a:rPr>
              <a:t>babb</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61</a:t>
            </a:fld>
            <a:endParaRPr/>
          </a:p>
        </p:txBody>
      </p:sp>
      <p:pic>
        <p:nvPicPr>
          <p:cNvPr id="2" name="图片 1"/>
          <p:cNvPicPr>
            <a:picLocks noChangeAspect="1"/>
          </p:cNvPicPr>
          <p:nvPr>
            <p:custDataLst>
              <p:tags r:id="rId1"/>
            </p:custDataLst>
          </p:nvPr>
        </p:nvPicPr>
        <p:blipFill>
          <a:blip r:embed="rId4"/>
          <a:stretch>
            <a:fillRect/>
          </a:stretch>
        </p:blipFill>
        <p:spPr>
          <a:xfrm>
            <a:off x="1499870" y="3644900"/>
            <a:ext cx="6144895" cy="232791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Subset Construction Technique</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It is possible that # DFA states is </a:t>
            </a:r>
            <a:r>
              <a:rPr sz="2200" dirty="0">
                <a:solidFill>
                  <a:srgbClr val="FF0000"/>
                </a:solidFill>
                <a:latin typeface="Palatino Linotype" panose="02040502050505030304" charset="0"/>
                <a:ea typeface="Palatino Linotype" panose="02040502050505030304"/>
                <a:cs typeface="Palatino Linotype" panose="02040502050505030304"/>
                <a:sym typeface="+mn-ea"/>
                <a:hlinkClick r:id="rId3" action="ppaction://hlinkpres?slideindex=31&amp;slidetitle=带有“ ε-边”的NFA">
                  <a:extLst>
                    <a:ext uri="{A12FA001-AC4F-418D-AE19-62706E023703}">
                      <ahyp:hlinkClr xmlns:ahyp="http://schemas.microsoft.com/office/drawing/2018/hyperlinkcolor" val="tx"/>
                    </a:ext>
                  </a:extLst>
                </a:hlinkClick>
              </a:rPr>
              <a:t>exponential</a:t>
            </a:r>
            <a:r>
              <a:rPr sz="2200" dirty="0">
                <a:latin typeface="Palatino Linotype" panose="02040502050505030304" charset="0"/>
                <a:ea typeface="Palatino Linotype" panose="02040502050505030304"/>
                <a:cs typeface="Palatino Linotype" panose="02040502050505030304"/>
                <a:sym typeface="+mn-ea"/>
              </a:rPr>
              <a:t> in # NFA states (</a:t>
            </a:r>
            <a:r>
              <a:rPr sz="2200" dirty="0">
                <a:solidFill>
                  <a:srgbClr val="FF0000"/>
                </a:solidFill>
                <a:latin typeface="Palatino Linotype" panose="02040502050505030304" charset="0"/>
                <a:ea typeface="Palatino Linotype" panose="02040502050505030304"/>
                <a:cs typeface="Palatino Linotype" panose="02040502050505030304"/>
                <a:sym typeface="+mn-ea"/>
              </a:rPr>
              <a:t>worst case</a:t>
            </a:r>
            <a:r>
              <a:rPr sz="2200" dirty="0">
                <a:latin typeface="Palatino Linotype" panose="02040502050505030304" charset="0"/>
                <a:ea typeface="Palatino Linotype" panose="02040502050505030304"/>
                <a:cs typeface="Palatino Linotype" panose="02040502050505030304"/>
                <a:sym typeface="+mn-ea"/>
              </a:rPr>
              <a:t>)</a:t>
            </a:r>
            <a:endParaRPr lang="en-US" sz="2200" dirty="0">
              <a:latin typeface="Palatino Linotype" panose="02040502050505030304" charset="0"/>
              <a:ea typeface="Palatino Linotype" panose="02040502050505030304"/>
              <a:cs typeface="Palatino Linotype" panose="02040502050505030304"/>
              <a:sym typeface="+mn-ea"/>
            </a:endParaRPr>
          </a:p>
          <a:p>
            <a:pPr marL="0" indent="457200" algn="l" rtl="0" eaLnBrk="0" fontAlgn="auto">
              <a:lnSpc>
                <a:spcPct val="150000"/>
              </a:lnSpc>
              <a:spcBef>
                <a:spcPts val="0"/>
              </a:spcBef>
              <a:buNone/>
            </a:pPr>
            <a:r>
              <a:rPr lang="en-US" sz="2000" dirty="0">
                <a:latin typeface="Palatino Linotype" panose="02040502050505030304" charset="0"/>
                <a:ea typeface="Palatino Linotype" panose="02040502050505030304"/>
                <a:cs typeface="Palatino Linotype" panose="02040502050505030304"/>
                <a:sym typeface="+mn-ea"/>
              </a:rPr>
              <a:t>▪ Each DFA state corresponds to a subset of NFA states</a:t>
            </a:r>
          </a:p>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However, for real languages, the NFA and DFA have </a:t>
            </a:r>
            <a:r>
              <a:rPr sz="2200" dirty="0">
                <a:solidFill>
                  <a:srgbClr val="FF0000"/>
                </a:solidFill>
                <a:latin typeface="Palatino Linotype" panose="02040502050505030304" charset="0"/>
                <a:ea typeface="Palatino Linotype" panose="02040502050505030304"/>
                <a:cs typeface="Palatino Linotype" panose="02040502050505030304"/>
                <a:sym typeface="+mn-ea"/>
              </a:rPr>
              <a:t>approximately the same number of states</a:t>
            </a:r>
            <a:r>
              <a:rPr sz="2200" dirty="0">
                <a:latin typeface="Palatino Linotype" panose="02040502050505030304" charset="0"/>
                <a:ea typeface="Palatino Linotype" panose="02040502050505030304"/>
                <a:cs typeface="Palatino Linotype" panose="02040502050505030304"/>
                <a:sym typeface="+mn-ea"/>
              </a:rPr>
              <a:t>, and the exponential behavior is not seen</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Subset Construction Technique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Operations used in the algorithm:</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b="1" dirty="0">
                <a:solidFill>
                  <a:srgbClr val="FF0000"/>
                </a:solidFill>
                <a:latin typeface="Palatino Linotype" panose="02040502050505030304" charset="0"/>
                <a:ea typeface="Palatino Linotype" panose="02040502050505030304"/>
                <a:cs typeface="Palatino Linotype" panose="02040502050505030304"/>
                <a:sym typeface="+mn-ea"/>
              </a:rPr>
              <a:t>𝜖-closure(s)</a:t>
            </a:r>
            <a:r>
              <a:rPr sz="2000" dirty="0">
                <a:latin typeface="Palatino Linotype" panose="02040502050505030304" charset="0"/>
                <a:ea typeface="Palatino Linotype" panose="02040502050505030304"/>
                <a:cs typeface="Palatino Linotype" panose="02040502050505030304"/>
                <a:sym typeface="+mn-ea"/>
              </a:rPr>
              <a:t>: Set of NFA states reachable from NFA state s on 𝜖-transitions alone</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a:t>
            </a:r>
            <a:r>
              <a:rPr sz="2000" b="1" dirty="0">
                <a:latin typeface="Palatino Linotype" panose="02040502050505030304" charset="0"/>
                <a:ea typeface="Palatino Linotype" panose="02040502050505030304"/>
                <a:cs typeface="Palatino Linotype" panose="02040502050505030304"/>
                <a:sym typeface="+mn-ea"/>
              </a:rPr>
              <a:t> </a:t>
            </a:r>
            <a:r>
              <a:rPr sz="2000" b="1" dirty="0">
                <a:solidFill>
                  <a:srgbClr val="FF0000"/>
                </a:solidFill>
                <a:latin typeface="Palatino Linotype" panose="02040502050505030304" charset="0"/>
                <a:ea typeface="Palatino Linotype" panose="02040502050505030304"/>
                <a:cs typeface="Palatino Linotype" panose="02040502050505030304"/>
                <a:sym typeface="+mn-ea"/>
              </a:rPr>
              <a:t>𝜖-closure(T)</a:t>
            </a:r>
            <a:r>
              <a:rPr sz="2000" dirty="0">
                <a:latin typeface="Palatino Linotype" panose="02040502050505030304" charset="0"/>
                <a:ea typeface="Palatino Linotype" panose="02040502050505030304"/>
                <a:cs typeface="Palatino Linotype" panose="02040502050505030304"/>
                <a:sym typeface="+mn-ea"/>
              </a:rPr>
              <a:t>: Set of NFA states reachable from some NFA state s in set T on 𝜖-transitions alone</a:t>
            </a:r>
          </a:p>
          <a:p>
            <a:pPr marL="931545" lvl="2" algn="l" rtl="0" eaLnBrk="0" fontAlgn="auto">
              <a:lnSpc>
                <a:spcPct val="150000"/>
              </a:lnSpc>
              <a:spcBef>
                <a:spcPts val="0"/>
              </a:spcBef>
            </a:pPr>
            <a:r>
              <a:rPr sz="1800" dirty="0">
                <a:latin typeface="Palatino Linotype" panose="02040502050505030304" charset="0"/>
                <a:ea typeface="Palatino Linotype" panose="02040502050505030304"/>
                <a:cs typeface="Palatino Linotype" panose="02040502050505030304"/>
                <a:sym typeface="+mn-ea"/>
              </a:rPr>
              <a:t>That is,</a:t>
            </a:r>
            <a:r>
              <a:rPr lang="en-US" sz="1800" dirty="0">
                <a:solidFill>
                  <a:srgbClr val="0331FF"/>
                </a:solidFill>
                <a:latin typeface="Palatino Linotype" panose="02040502050505030304" charset="0"/>
                <a:ea typeface="Palatino Linotype" panose="02040502050505030304"/>
                <a:cs typeface="Palatino Linotype" panose="02040502050505030304"/>
                <a:sym typeface="+mn-ea"/>
              </a:rPr>
              <a:t>U</a:t>
            </a:r>
            <a:r>
              <a:rPr lang="en-US" sz="1800" baseline="-25000" dirty="0">
                <a:solidFill>
                  <a:srgbClr val="0331FF"/>
                </a:solidFill>
                <a:latin typeface="Palatino Linotype" panose="02040502050505030304" charset="0"/>
                <a:ea typeface="Palatino Linotype" panose="02040502050505030304"/>
                <a:cs typeface="Palatino Linotype" panose="02040502050505030304"/>
                <a:sym typeface="+mn-ea"/>
              </a:rPr>
              <a:t>s in T</a:t>
            </a:r>
            <a:r>
              <a:rPr lang="en-US" sz="1800" dirty="0">
                <a:solidFill>
                  <a:srgbClr val="0331FF"/>
                </a:solidFill>
                <a:latin typeface="Palatino Linotype" panose="02040502050505030304" charset="0"/>
                <a:ea typeface="Palatino Linotype" panose="02040502050505030304"/>
                <a:cs typeface="Palatino Linotype" panose="02040502050505030304"/>
                <a:sym typeface="+mn-ea"/>
              </a:rPr>
              <a:t> </a:t>
            </a:r>
            <a:r>
              <a:rPr sz="1800" dirty="0">
                <a:solidFill>
                  <a:srgbClr val="0331FF"/>
                </a:solidFill>
                <a:latin typeface="Palatino Linotype" panose="02040502050505030304" charset="0"/>
                <a:ea typeface="Palatino Linotype" panose="02040502050505030304"/>
                <a:cs typeface="Palatino Linotype" panose="02040502050505030304"/>
                <a:sym typeface="+mn-ea"/>
              </a:rPr>
              <a:t>𝜖-closure(s)</a:t>
            </a:r>
            <a:endParaRPr sz="18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b="1" dirty="0">
                <a:solidFill>
                  <a:srgbClr val="FF0000"/>
                </a:solidFill>
                <a:latin typeface="Palatino Linotype" panose="02040502050505030304" charset="0"/>
                <a:ea typeface="Palatino Linotype" panose="02040502050505030304"/>
                <a:cs typeface="Palatino Linotype" panose="02040502050505030304"/>
                <a:sym typeface="+mn-ea"/>
              </a:rPr>
              <a:t>move(T, a)</a:t>
            </a:r>
            <a:r>
              <a:rPr sz="2000" dirty="0">
                <a:latin typeface="Palatino Linotype" panose="02040502050505030304" charset="0"/>
                <a:ea typeface="Palatino Linotype" panose="02040502050505030304"/>
                <a:cs typeface="Palatino Linotype" panose="02040502050505030304"/>
                <a:sym typeface="+mn-ea"/>
              </a:rPr>
              <a:t>: Set of NFA states to which there is a transition on input symbol a from some state s in T</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Subset Construction Technique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b="1" dirty="0">
                <a:solidFill>
                  <a:srgbClr val="0331FF"/>
                </a:solidFill>
                <a:latin typeface="Palatino Linotype" panose="02040502050505030304" charset="0"/>
                <a:ea typeface="Palatino Linotype" panose="02040502050505030304"/>
                <a:cs typeface="Palatino Linotype" panose="02040502050505030304"/>
                <a:sym typeface="+mn-ea"/>
              </a:rPr>
              <a:t>Computing 𝜖-closure(T)</a:t>
            </a:r>
            <a:endParaRPr sz="2200" b="1"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It is a graph traversal process (only consider 𝜖 edges)</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Computing 𝜖-closure(s) is essentially the same</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64</a:t>
            </a:fld>
            <a:endParaRPr/>
          </a:p>
        </p:txBody>
      </p:sp>
      <p:pic>
        <p:nvPicPr>
          <p:cNvPr id="2" name="图片 1"/>
          <p:cNvPicPr>
            <a:picLocks noChangeAspect="1"/>
          </p:cNvPicPr>
          <p:nvPr>
            <p:custDataLst>
              <p:tags r:id="rId1"/>
            </p:custDataLst>
          </p:nvPr>
        </p:nvPicPr>
        <p:blipFill>
          <a:blip r:embed="rId4"/>
          <a:stretch>
            <a:fillRect/>
          </a:stretch>
        </p:blipFill>
        <p:spPr>
          <a:xfrm>
            <a:off x="1401445" y="3429000"/>
            <a:ext cx="6340475" cy="287845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dirty="0">
                <a:latin typeface="Palatino Linotype" panose="02040502050505030304" charset="0"/>
              </a:rPr>
              <a:t>Subset Construction Technique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The construction of the set of D’s states, </a:t>
            </a:r>
            <a:r>
              <a:rPr sz="2000" dirty="0">
                <a:solidFill>
                  <a:srgbClr val="FF0000"/>
                </a:solidFill>
                <a:latin typeface="Palatino Linotype" panose="02040502050505030304" charset="0"/>
                <a:ea typeface="Palatino Linotype" panose="02040502050505030304"/>
                <a:cs typeface="Palatino Linotype" panose="02040502050505030304"/>
                <a:sym typeface="+mn-ea"/>
              </a:rPr>
              <a:t>Dstates</a:t>
            </a:r>
            <a:r>
              <a:rPr sz="2000" dirty="0">
                <a:latin typeface="Palatino Linotype" panose="02040502050505030304" charset="0"/>
                <a:ea typeface="Palatino Linotype" panose="02040502050505030304"/>
                <a:cs typeface="Palatino Linotype" panose="02040502050505030304"/>
                <a:sym typeface="+mn-ea"/>
              </a:rPr>
              <a:t>, and the transition function </a:t>
            </a:r>
            <a:r>
              <a:rPr sz="2000" dirty="0">
                <a:solidFill>
                  <a:srgbClr val="FF0000"/>
                </a:solidFill>
                <a:latin typeface="Palatino Linotype" panose="02040502050505030304" charset="0"/>
                <a:ea typeface="Palatino Linotype" panose="02040502050505030304"/>
                <a:cs typeface="Palatino Linotype" panose="02040502050505030304"/>
                <a:sym typeface="+mn-ea"/>
              </a:rPr>
              <a:t>Dtran</a:t>
            </a:r>
            <a:r>
              <a:rPr sz="2000" dirty="0">
                <a:latin typeface="Palatino Linotype" panose="02040502050505030304" charset="0"/>
                <a:ea typeface="Palatino Linotype" panose="02040502050505030304"/>
                <a:cs typeface="Palatino Linotype" panose="02040502050505030304"/>
                <a:sym typeface="+mn-ea"/>
              </a:rPr>
              <a:t> is also a search process</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Initially, the only state in Dstates is 𝜖-closure(s</a:t>
            </a:r>
            <a:r>
              <a:rPr sz="1800" baseline="-25000" dirty="0">
                <a:latin typeface="Palatino Linotype" panose="02040502050505030304" charset="0"/>
                <a:ea typeface="Palatino Linotype" panose="02040502050505030304"/>
                <a:cs typeface="Palatino Linotype" panose="02040502050505030304"/>
                <a:sym typeface="+mn-ea"/>
              </a:rPr>
              <a:t>0</a:t>
            </a:r>
            <a:r>
              <a:rPr sz="1800" dirty="0">
                <a:latin typeface="Palatino Linotype" panose="02040502050505030304" charset="0"/>
                <a:ea typeface="Palatino Linotype" panose="02040502050505030304"/>
                <a:cs typeface="Palatino Linotype" panose="02040502050505030304"/>
                <a:sym typeface="+mn-ea"/>
              </a:rPr>
              <a:t>) and it is unmarked</a:t>
            </a:r>
          </a:p>
          <a:p>
            <a:pPr marL="931545" lvl="2" algn="l" rtl="0" eaLnBrk="0" fontAlgn="auto">
              <a:lnSpc>
                <a:spcPct val="150000"/>
              </a:lnSpc>
              <a:spcBef>
                <a:spcPts val="0"/>
              </a:spcBef>
            </a:pPr>
            <a:r>
              <a:rPr sz="1600" dirty="0">
                <a:latin typeface="Palatino Linotype" panose="02040502050505030304" charset="0"/>
                <a:ea typeface="Palatino Linotype" panose="02040502050505030304"/>
                <a:cs typeface="Palatino Linotype" panose="02040502050505030304"/>
                <a:sym typeface="+mn-ea"/>
              </a:rPr>
              <a:t>Unmarked state means that its next states have not been explored</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65</a:t>
            </a:fld>
            <a:endParaRPr/>
          </a:p>
        </p:txBody>
      </p:sp>
      <p:pic>
        <p:nvPicPr>
          <p:cNvPr id="2" name="图片 1"/>
          <p:cNvPicPr>
            <a:picLocks noChangeAspect="1"/>
          </p:cNvPicPr>
          <p:nvPr>
            <p:custDataLst>
              <p:tags r:id="rId1"/>
            </p:custDataLst>
          </p:nvPr>
        </p:nvPicPr>
        <p:blipFill>
          <a:blip r:embed="rId4"/>
          <a:stretch>
            <a:fillRect/>
          </a:stretch>
        </p:blipFill>
        <p:spPr>
          <a:xfrm>
            <a:off x="1560195" y="3770630"/>
            <a:ext cx="5809615" cy="244094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5" name="图片 4"/>
          <p:cNvPicPr>
            <a:picLocks noChangeAspect="1"/>
          </p:cNvPicPr>
          <p:nvPr>
            <p:custDataLst>
              <p:tags r:id="rId1"/>
            </p:custDataLst>
          </p:nvPr>
        </p:nvPicPr>
        <p:blipFill>
          <a:blip r:embed="rId4"/>
          <a:stretch>
            <a:fillRect/>
          </a:stretch>
        </p:blipFill>
        <p:spPr>
          <a:xfrm>
            <a:off x="1266190" y="3573145"/>
            <a:ext cx="6600825" cy="2500630"/>
          </a:xfrm>
          <a:prstGeom prst="rect">
            <a:avLst/>
          </a:prstGeom>
        </p:spPr>
      </p:pic>
      <p:sp>
        <p:nvSpPr>
          <p:cNvPr id="3" name="标题 2"/>
          <p:cNvSpPr>
            <a:spLocks noGrp="1"/>
          </p:cNvSpPr>
          <p:nvPr>
            <p:ph type="title"/>
          </p:nvPr>
        </p:nvSpPr>
        <p:spPr/>
        <p:txBody>
          <a:bodyPr>
            <a:normAutofit/>
          </a:bodyPr>
          <a:lstStyle/>
          <a:p>
            <a:r>
              <a:rPr lang="zh-CN" altLang="en-US" sz="3600" dirty="0">
                <a:latin typeface="Palatino Linotype" panose="02040502050505030304" charset="0"/>
              </a:rPr>
              <a:t>Example</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000" dirty="0">
                <a:solidFill>
                  <a:srgbClr val="0331FF"/>
                </a:solidFill>
                <a:latin typeface="Palatino Linotype" panose="02040502050505030304" charset="0"/>
                <a:ea typeface="Palatino Linotype" panose="02040502050505030304"/>
                <a:cs typeface="Palatino Linotype" panose="02040502050505030304"/>
                <a:sym typeface="+mn-ea"/>
              </a:rPr>
              <a:t>A</a:t>
            </a:r>
            <a:r>
              <a:rPr sz="2000" dirty="0">
                <a:latin typeface="Palatino Linotype" panose="02040502050505030304" charset="0"/>
                <a:ea typeface="Palatino Linotype" panose="02040502050505030304"/>
                <a:cs typeface="Palatino Linotype" panose="02040502050505030304"/>
                <a:sym typeface="+mn-ea"/>
              </a:rPr>
              <a:t>: 𝜖-closure(0) = {0, 1, 2, 4, 7}</a:t>
            </a:r>
          </a:p>
          <a:p>
            <a:pPr marL="17145" algn="l" rtl="0" eaLnBrk="0" fontAlgn="auto">
              <a:lnSpc>
                <a:spcPct val="150000"/>
              </a:lnSpc>
              <a:spcBef>
                <a:spcPts val="0"/>
              </a:spcBef>
            </a:pPr>
            <a:r>
              <a:rPr sz="2000" dirty="0">
                <a:solidFill>
                  <a:srgbClr val="0331FF"/>
                </a:solidFill>
                <a:latin typeface="Palatino Linotype" panose="02040502050505030304" charset="0"/>
                <a:ea typeface="Palatino Linotype" panose="02040502050505030304"/>
                <a:cs typeface="Palatino Linotype" panose="02040502050505030304"/>
                <a:sym typeface="+mn-ea"/>
              </a:rPr>
              <a:t>B</a:t>
            </a:r>
            <a:r>
              <a:rPr sz="2000" dirty="0">
                <a:latin typeface="Palatino Linotype" panose="02040502050505030304" charset="0"/>
                <a:ea typeface="Palatino Linotype" panose="02040502050505030304"/>
                <a:cs typeface="Palatino Linotype" panose="02040502050505030304"/>
                <a:sym typeface="+mn-ea"/>
              </a:rPr>
              <a:t>: Dtran[A, a] = 𝜖-closure({3, 8}) = {1, 2, 3, 4, 6, 7, 8}</a:t>
            </a:r>
          </a:p>
          <a:p>
            <a:pPr marL="17145" algn="l" rtl="0" eaLnBrk="0" fontAlgn="auto">
              <a:lnSpc>
                <a:spcPct val="150000"/>
              </a:lnSpc>
              <a:spcBef>
                <a:spcPts val="0"/>
              </a:spcBef>
            </a:pPr>
            <a:r>
              <a:rPr sz="2000" dirty="0">
                <a:solidFill>
                  <a:srgbClr val="0331FF"/>
                </a:solidFill>
                <a:latin typeface="Palatino Linotype" panose="02040502050505030304" charset="0"/>
                <a:ea typeface="Palatino Linotype" panose="02040502050505030304"/>
                <a:cs typeface="Palatino Linotype" panose="02040502050505030304"/>
                <a:sym typeface="+mn-ea"/>
              </a:rPr>
              <a:t>C</a:t>
            </a:r>
            <a:r>
              <a:rPr sz="2000" dirty="0">
                <a:latin typeface="Palatino Linotype" panose="02040502050505030304" charset="0"/>
                <a:ea typeface="Palatino Linotype" panose="02040502050505030304"/>
                <a:cs typeface="Palatino Linotype" panose="02040502050505030304"/>
                <a:sym typeface="+mn-ea"/>
              </a:rPr>
              <a:t>: Dtran[A, b] = 𝜖-closure({5}) = {1, 2, 4, 5, 6, 7}</a:t>
            </a:r>
          </a:p>
          <a:p>
            <a:pPr marL="17145" algn="l" rtl="0" eaLnBrk="0" fontAlgn="auto">
              <a:lnSpc>
                <a:spcPct val="150000"/>
              </a:lnSpc>
              <a:spcBef>
                <a:spcPts val="0"/>
              </a:spcBef>
            </a:pPr>
            <a:r>
              <a:rPr sz="2000" dirty="0">
                <a:solidFill>
                  <a:srgbClr val="0331FF"/>
                </a:solidFill>
                <a:latin typeface="Palatino Linotype" panose="02040502050505030304" charset="0"/>
                <a:ea typeface="Palatino Linotype" panose="02040502050505030304"/>
                <a:cs typeface="Palatino Linotype" panose="02040502050505030304"/>
                <a:sym typeface="+mn-ea"/>
              </a:rPr>
              <a:t>D</a:t>
            </a:r>
            <a:r>
              <a:rPr sz="2000" dirty="0">
                <a:latin typeface="Palatino Linotype" panose="02040502050505030304" charset="0"/>
                <a:ea typeface="Palatino Linotype" panose="02040502050505030304"/>
                <a:cs typeface="Palatino Linotype" panose="02040502050505030304"/>
                <a:sym typeface="+mn-ea"/>
              </a:rPr>
              <a:t>: Dtran[B, b] = 𝜖-closure({5, 9}) = {1, 2, 4, 5, 6, 7, 9}</a:t>
            </a:r>
          </a:p>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32">
            <a:extLst>
              <a:ext uri="{FF2B5EF4-FFF2-40B4-BE49-F238E27FC236}">
                <a16:creationId xmlns:a16="http://schemas.microsoft.com/office/drawing/2014/main" id="{93BAEF25-02B0-43C3-8A1A-464C0E4B3925}"/>
              </a:ext>
            </a:extLst>
          </p:cNvPr>
          <p:cNvSpPr>
            <a:spLocks noChangeArrowheads="1"/>
          </p:cNvSpPr>
          <p:nvPr/>
        </p:nvSpPr>
        <p:spPr bwMode="auto">
          <a:xfrm>
            <a:off x="1022151" y="3210570"/>
            <a:ext cx="204926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0,1,2,4,7</a:t>
            </a:r>
            <a:r>
              <a:rPr lang="en-US" altLang="zh-CN" sz="2600" b="1" dirty="0">
                <a:latin typeface="Times New Roman" panose="02020603050405020304" pitchFamily="18" charset="0"/>
                <a:cs typeface="Times New Roman" panose="02020603050405020304" pitchFamily="18" charset="0"/>
              </a:rPr>
              <a:t>}</a:t>
            </a:r>
            <a:r>
              <a:rPr lang="en-US" altLang="zh-CN" sz="1100" b="1" dirty="0"/>
              <a:t> </a:t>
            </a:r>
            <a:endParaRPr lang="en-US" altLang="zh-CN" sz="1800" b="1" dirty="0"/>
          </a:p>
        </p:txBody>
      </p:sp>
      <p:grpSp>
        <p:nvGrpSpPr>
          <p:cNvPr id="3" name="Group 445">
            <a:extLst>
              <a:ext uri="{FF2B5EF4-FFF2-40B4-BE49-F238E27FC236}">
                <a16:creationId xmlns:a16="http://schemas.microsoft.com/office/drawing/2014/main" id="{348B15E6-BC7E-479F-AC31-37E8D4AD7BF9}"/>
              </a:ext>
            </a:extLst>
          </p:cNvPr>
          <p:cNvGrpSpPr>
            <a:grpSpLocks/>
          </p:cNvGrpSpPr>
          <p:nvPr/>
        </p:nvGrpSpPr>
        <p:grpSpPr bwMode="auto">
          <a:xfrm>
            <a:off x="3477816" y="3242320"/>
            <a:ext cx="4648200" cy="457200"/>
            <a:chOff x="-3" y="-3"/>
            <a:chExt cx="3346" cy="487"/>
          </a:xfrm>
        </p:grpSpPr>
        <p:grpSp>
          <p:nvGrpSpPr>
            <p:cNvPr id="4" name="Group 443">
              <a:extLst>
                <a:ext uri="{FF2B5EF4-FFF2-40B4-BE49-F238E27FC236}">
                  <a16:creationId xmlns:a16="http://schemas.microsoft.com/office/drawing/2014/main" id="{F40053A7-D9EB-4A9D-9170-8F46EC4D4DA3}"/>
                </a:ext>
              </a:extLst>
            </p:cNvPr>
            <p:cNvGrpSpPr>
              <a:grpSpLocks/>
            </p:cNvGrpSpPr>
            <p:nvPr/>
          </p:nvGrpSpPr>
          <p:grpSpPr bwMode="auto">
            <a:xfrm>
              <a:off x="0" y="0"/>
              <a:ext cx="3340" cy="481"/>
              <a:chOff x="0" y="0"/>
              <a:chExt cx="3340" cy="481"/>
            </a:xfrm>
          </p:grpSpPr>
          <p:grpSp>
            <p:nvGrpSpPr>
              <p:cNvPr id="6" name="Group 438">
                <a:extLst>
                  <a:ext uri="{FF2B5EF4-FFF2-40B4-BE49-F238E27FC236}">
                    <a16:creationId xmlns:a16="http://schemas.microsoft.com/office/drawing/2014/main" id="{CE1DF621-21D8-4F8D-AB0C-07BDF99CD753}"/>
                  </a:ext>
                </a:extLst>
              </p:cNvPr>
              <p:cNvGrpSpPr>
                <a:grpSpLocks/>
              </p:cNvGrpSpPr>
              <p:nvPr/>
            </p:nvGrpSpPr>
            <p:grpSpPr bwMode="auto">
              <a:xfrm>
                <a:off x="0" y="0"/>
                <a:ext cx="1670" cy="481"/>
                <a:chOff x="0" y="0"/>
                <a:chExt cx="1670" cy="481"/>
              </a:xfrm>
            </p:grpSpPr>
            <p:sp>
              <p:nvSpPr>
                <p:cNvPr id="12" name="Rectangle 437">
                  <a:extLst>
                    <a:ext uri="{FF2B5EF4-FFF2-40B4-BE49-F238E27FC236}">
                      <a16:creationId xmlns:a16="http://schemas.microsoft.com/office/drawing/2014/main" id="{0F51221D-1960-45D7-93F2-E42086E68993}"/>
                    </a:ext>
                  </a:extLst>
                </p:cNvPr>
                <p:cNvSpPr>
                  <a:spLocks noChangeArrowheads="1"/>
                </p:cNvSpPr>
                <p:nvPr/>
              </p:nvSpPr>
              <p:spPr bwMode="auto">
                <a:xfrm>
                  <a:off x="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13" name="Group 436">
                  <a:extLst>
                    <a:ext uri="{FF2B5EF4-FFF2-40B4-BE49-F238E27FC236}">
                      <a16:creationId xmlns:a16="http://schemas.microsoft.com/office/drawing/2014/main" id="{C800B24B-2339-40E8-BB4E-C1AE5E3894D4}"/>
                    </a:ext>
                  </a:extLst>
                </p:cNvPr>
                <p:cNvGrpSpPr>
                  <a:grpSpLocks/>
                </p:cNvGrpSpPr>
                <p:nvPr/>
              </p:nvGrpSpPr>
              <p:grpSpPr bwMode="auto">
                <a:xfrm>
                  <a:off x="0" y="0"/>
                  <a:ext cx="1670" cy="481"/>
                  <a:chOff x="0" y="0"/>
                  <a:chExt cx="1670" cy="481"/>
                </a:xfrm>
              </p:grpSpPr>
              <p:sp>
                <p:nvSpPr>
                  <p:cNvPr id="14" name="Rectangle 433">
                    <a:extLst>
                      <a:ext uri="{FF2B5EF4-FFF2-40B4-BE49-F238E27FC236}">
                        <a16:creationId xmlns:a16="http://schemas.microsoft.com/office/drawing/2014/main" id="{491197FB-E715-40AF-BB93-E24733335A02}"/>
                      </a:ext>
                    </a:extLst>
                  </p:cNvPr>
                  <p:cNvSpPr>
                    <a:spLocks noChangeArrowheads="1"/>
                  </p:cNvSpPr>
                  <p:nvPr/>
                </p:nvSpPr>
                <p:spPr bwMode="auto">
                  <a:xfrm>
                    <a:off x="4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400" b="1" dirty="0">
                        <a:latin typeface="Times New Roman" panose="02020603050405020304" pitchFamily="18" charset="0"/>
                        <a:cs typeface="Times New Roman" panose="02020603050405020304" pitchFamily="18" charset="0"/>
                      </a:rPr>
                      <a:t>{1,2,3,4,6,7,8}</a:t>
                    </a:r>
                  </a:p>
                  <a:p>
                    <a:pPr algn="just" eaLnBrk="0" hangingPunct="0"/>
                    <a:endParaRPr lang="en-US" altLang="zh-CN" sz="2400" b="1" dirty="0"/>
                  </a:p>
                </p:txBody>
              </p:sp>
              <p:sp>
                <p:nvSpPr>
                  <p:cNvPr id="15" name="Rectangle 435">
                    <a:extLst>
                      <a:ext uri="{FF2B5EF4-FFF2-40B4-BE49-F238E27FC236}">
                        <a16:creationId xmlns:a16="http://schemas.microsoft.com/office/drawing/2014/main" id="{1AA62E4E-878D-481C-B5F7-9649DB2BEEBA}"/>
                      </a:ext>
                    </a:extLst>
                  </p:cNvPr>
                  <p:cNvSpPr>
                    <a:spLocks noChangeArrowheads="1"/>
                  </p:cNvSpPr>
                  <p:nvPr/>
                </p:nvSpPr>
                <p:spPr bwMode="auto">
                  <a:xfrm>
                    <a:off x="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nvGrpSpPr>
              <p:cNvPr id="7" name="Group 442">
                <a:extLst>
                  <a:ext uri="{FF2B5EF4-FFF2-40B4-BE49-F238E27FC236}">
                    <a16:creationId xmlns:a16="http://schemas.microsoft.com/office/drawing/2014/main" id="{73E12EBD-A076-4C87-9480-665B8E2ED51B}"/>
                  </a:ext>
                </a:extLst>
              </p:cNvPr>
              <p:cNvGrpSpPr>
                <a:grpSpLocks/>
              </p:cNvGrpSpPr>
              <p:nvPr/>
            </p:nvGrpSpPr>
            <p:grpSpPr bwMode="auto">
              <a:xfrm>
                <a:off x="1670" y="0"/>
                <a:ext cx="1670" cy="481"/>
                <a:chOff x="1670" y="0"/>
                <a:chExt cx="1670" cy="481"/>
              </a:xfrm>
            </p:grpSpPr>
            <p:sp>
              <p:nvSpPr>
                <p:cNvPr id="8" name="Rectangle 441">
                  <a:extLst>
                    <a:ext uri="{FF2B5EF4-FFF2-40B4-BE49-F238E27FC236}">
                      <a16:creationId xmlns:a16="http://schemas.microsoft.com/office/drawing/2014/main" id="{271CDF53-AC2C-430E-A95E-8E43BC56DE4A}"/>
                    </a:ext>
                  </a:extLst>
                </p:cNvPr>
                <p:cNvSpPr>
                  <a:spLocks noChangeArrowheads="1"/>
                </p:cNvSpPr>
                <p:nvPr/>
              </p:nvSpPr>
              <p:spPr bwMode="auto">
                <a:xfrm>
                  <a:off x="167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9" name="Group 440">
                  <a:extLst>
                    <a:ext uri="{FF2B5EF4-FFF2-40B4-BE49-F238E27FC236}">
                      <a16:creationId xmlns:a16="http://schemas.microsoft.com/office/drawing/2014/main" id="{46BCC8F1-47A1-4471-A03A-23E398669784}"/>
                    </a:ext>
                  </a:extLst>
                </p:cNvPr>
                <p:cNvGrpSpPr>
                  <a:grpSpLocks/>
                </p:cNvGrpSpPr>
                <p:nvPr/>
              </p:nvGrpSpPr>
              <p:grpSpPr bwMode="auto">
                <a:xfrm>
                  <a:off x="1670" y="0"/>
                  <a:ext cx="1670" cy="481"/>
                  <a:chOff x="1670" y="0"/>
                  <a:chExt cx="1670" cy="481"/>
                </a:xfrm>
              </p:grpSpPr>
              <p:sp>
                <p:nvSpPr>
                  <p:cNvPr id="10" name="Rectangle 434">
                    <a:extLst>
                      <a:ext uri="{FF2B5EF4-FFF2-40B4-BE49-F238E27FC236}">
                        <a16:creationId xmlns:a16="http://schemas.microsoft.com/office/drawing/2014/main" id="{1940A9F0-3575-4047-AC7B-6044E910C883}"/>
                      </a:ext>
                    </a:extLst>
                  </p:cNvPr>
                  <p:cNvSpPr>
                    <a:spLocks noChangeArrowheads="1"/>
                  </p:cNvSpPr>
                  <p:nvPr/>
                </p:nvSpPr>
                <p:spPr bwMode="auto">
                  <a:xfrm>
                    <a:off x="171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400" b="1" dirty="0">
                        <a:latin typeface="Times New Roman" panose="02020603050405020304" pitchFamily="18" charset="0"/>
                        <a:cs typeface="Times New Roman" panose="02020603050405020304" pitchFamily="18" charset="0"/>
                      </a:rPr>
                      <a:t>{1,2,4,5,6,7}</a:t>
                    </a:r>
                  </a:p>
                  <a:p>
                    <a:pPr algn="just" eaLnBrk="0" hangingPunct="0"/>
                    <a:endParaRPr lang="en-US" altLang="zh-CN" sz="2400" b="1" dirty="0"/>
                  </a:p>
                </p:txBody>
              </p:sp>
              <p:sp>
                <p:nvSpPr>
                  <p:cNvPr id="11" name="Rectangle 439">
                    <a:extLst>
                      <a:ext uri="{FF2B5EF4-FFF2-40B4-BE49-F238E27FC236}">
                        <a16:creationId xmlns:a16="http://schemas.microsoft.com/office/drawing/2014/main" id="{B04D6B3F-14D5-4850-8F34-2ADDADE197E1}"/>
                      </a:ext>
                    </a:extLst>
                  </p:cNvPr>
                  <p:cNvSpPr>
                    <a:spLocks noChangeArrowheads="1"/>
                  </p:cNvSpPr>
                  <p:nvPr/>
                </p:nvSpPr>
                <p:spPr bwMode="auto">
                  <a:xfrm>
                    <a:off x="167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sp>
          <p:nvSpPr>
            <p:cNvPr id="5" name="Rectangle 444">
              <a:extLst>
                <a:ext uri="{FF2B5EF4-FFF2-40B4-BE49-F238E27FC236}">
                  <a16:creationId xmlns:a16="http://schemas.microsoft.com/office/drawing/2014/main" id="{74D67882-5C71-418D-AD8D-190079DBE48C}"/>
                </a:ext>
              </a:extLst>
            </p:cNvPr>
            <p:cNvSpPr>
              <a:spLocks noChangeArrowheads="1"/>
            </p:cNvSpPr>
            <p:nvPr/>
          </p:nvSpPr>
          <p:spPr bwMode="auto">
            <a:xfrm>
              <a:off x="-3" y="-3"/>
              <a:ext cx="3346" cy="48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16" name="Rectangle 446">
            <a:extLst>
              <a:ext uri="{FF2B5EF4-FFF2-40B4-BE49-F238E27FC236}">
                <a16:creationId xmlns:a16="http://schemas.microsoft.com/office/drawing/2014/main" id="{38C2D490-05D0-4387-BB86-3CF64822BCFA}"/>
              </a:ext>
            </a:extLst>
          </p:cNvPr>
          <p:cNvSpPr>
            <a:spLocks noChangeArrowheads="1"/>
          </p:cNvSpPr>
          <p:nvPr/>
        </p:nvSpPr>
        <p:spPr bwMode="auto">
          <a:xfrm>
            <a:off x="1017985" y="3667770"/>
            <a:ext cx="248147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1,2,3,4,6,7,8</a:t>
            </a:r>
            <a:r>
              <a:rPr lang="en-US" altLang="zh-CN" sz="2600" b="1" dirty="0">
                <a:latin typeface="Times New Roman" panose="02020603050405020304" pitchFamily="18" charset="0"/>
                <a:cs typeface="Times New Roman" panose="02020603050405020304" pitchFamily="18" charset="0"/>
              </a:rPr>
              <a:t>} </a:t>
            </a:r>
            <a:endParaRPr lang="en-US" altLang="zh-CN" sz="1800" b="1" dirty="0"/>
          </a:p>
        </p:txBody>
      </p:sp>
      <p:grpSp>
        <p:nvGrpSpPr>
          <p:cNvPr id="17" name="Group 459">
            <a:extLst>
              <a:ext uri="{FF2B5EF4-FFF2-40B4-BE49-F238E27FC236}">
                <a16:creationId xmlns:a16="http://schemas.microsoft.com/office/drawing/2014/main" id="{85208135-6F91-4840-9E53-3355D46E812D}"/>
              </a:ext>
            </a:extLst>
          </p:cNvPr>
          <p:cNvGrpSpPr>
            <a:grpSpLocks/>
          </p:cNvGrpSpPr>
          <p:nvPr/>
        </p:nvGrpSpPr>
        <p:grpSpPr bwMode="auto">
          <a:xfrm>
            <a:off x="3477816" y="3694758"/>
            <a:ext cx="4648200" cy="461962"/>
            <a:chOff x="-3" y="-3"/>
            <a:chExt cx="3346" cy="487"/>
          </a:xfrm>
        </p:grpSpPr>
        <p:grpSp>
          <p:nvGrpSpPr>
            <p:cNvPr id="18" name="Group 457">
              <a:extLst>
                <a:ext uri="{FF2B5EF4-FFF2-40B4-BE49-F238E27FC236}">
                  <a16:creationId xmlns:a16="http://schemas.microsoft.com/office/drawing/2014/main" id="{28BFD4F9-F498-4C44-BF01-84CFFFE21315}"/>
                </a:ext>
              </a:extLst>
            </p:cNvPr>
            <p:cNvGrpSpPr>
              <a:grpSpLocks/>
            </p:cNvGrpSpPr>
            <p:nvPr/>
          </p:nvGrpSpPr>
          <p:grpSpPr bwMode="auto">
            <a:xfrm>
              <a:off x="0" y="0"/>
              <a:ext cx="3340" cy="481"/>
              <a:chOff x="0" y="0"/>
              <a:chExt cx="3340" cy="481"/>
            </a:xfrm>
          </p:grpSpPr>
          <p:grpSp>
            <p:nvGrpSpPr>
              <p:cNvPr id="20" name="Group 452">
                <a:extLst>
                  <a:ext uri="{FF2B5EF4-FFF2-40B4-BE49-F238E27FC236}">
                    <a16:creationId xmlns:a16="http://schemas.microsoft.com/office/drawing/2014/main" id="{AA42999F-0A8D-4C1F-B694-BEC7DF82FD2B}"/>
                  </a:ext>
                </a:extLst>
              </p:cNvPr>
              <p:cNvGrpSpPr>
                <a:grpSpLocks/>
              </p:cNvGrpSpPr>
              <p:nvPr/>
            </p:nvGrpSpPr>
            <p:grpSpPr bwMode="auto">
              <a:xfrm>
                <a:off x="0" y="0"/>
                <a:ext cx="1670" cy="481"/>
                <a:chOff x="0" y="0"/>
                <a:chExt cx="1670" cy="481"/>
              </a:xfrm>
            </p:grpSpPr>
            <p:sp>
              <p:nvSpPr>
                <p:cNvPr id="26" name="Rectangle 451">
                  <a:extLst>
                    <a:ext uri="{FF2B5EF4-FFF2-40B4-BE49-F238E27FC236}">
                      <a16:creationId xmlns:a16="http://schemas.microsoft.com/office/drawing/2014/main" id="{BFBEF745-E771-4F70-8508-C6AE1B9B6A9A}"/>
                    </a:ext>
                  </a:extLst>
                </p:cNvPr>
                <p:cNvSpPr>
                  <a:spLocks noChangeArrowheads="1"/>
                </p:cNvSpPr>
                <p:nvPr/>
              </p:nvSpPr>
              <p:spPr bwMode="auto">
                <a:xfrm>
                  <a:off x="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27" name="Group 450">
                  <a:extLst>
                    <a:ext uri="{FF2B5EF4-FFF2-40B4-BE49-F238E27FC236}">
                      <a16:creationId xmlns:a16="http://schemas.microsoft.com/office/drawing/2014/main" id="{41779BE8-2D89-436D-8372-67412B605E4F}"/>
                    </a:ext>
                  </a:extLst>
                </p:cNvPr>
                <p:cNvGrpSpPr>
                  <a:grpSpLocks/>
                </p:cNvGrpSpPr>
                <p:nvPr/>
              </p:nvGrpSpPr>
              <p:grpSpPr bwMode="auto">
                <a:xfrm>
                  <a:off x="0" y="0"/>
                  <a:ext cx="1670" cy="481"/>
                  <a:chOff x="0" y="0"/>
                  <a:chExt cx="1670" cy="481"/>
                </a:xfrm>
              </p:grpSpPr>
              <p:sp>
                <p:nvSpPr>
                  <p:cNvPr id="28" name="Rectangle 447">
                    <a:extLst>
                      <a:ext uri="{FF2B5EF4-FFF2-40B4-BE49-F238E27FC236}">
                        <a16:creationId xmlns:a16="http://schemas.microsoft.com/office/drawing/2014/main" id="{9F86CC90-9BE6-498B-BED0-75CAA1C6B50D}"/>
                      </a:ext>
                    </a:extLst>
                  </p:cNvPr>
                  <p:cNvSpPr>
                    <a:spLocks noChangeArrowheads="1"/>
                  </p:cNvSpPr>
                  <p:nvPr/>
                </p:nvSpPr>
                <p:spPr bwMode="auto">
                  <a:xfrm>
                    <a:off x="4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1,2,3,4,6,7,8</a:t>
                    </a:r>
                    <a:r>
                      <a:rPr lang="en-US" altLang="zh-CN" sz="26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29" name="Rectangle 449">
                    <a:extLst>
                      <a:ext uri="{FF2B5EF4-FFF2-40B4-BE49-F238E27FC236}">
                        <a16:creationId xmlns:a16="http://schemas.microsoft.com/office/drawing/2014/main" id="{408ADA30-2CCA-4320-B34E-58D4C9161929}"/>
                      </a:ext>
                    </a:extLst>
                  </p:cNvPr>
                  <p:cNvSpPr>
                    <a:spLocks noChangeArrowheads="1"/>
                  </p:cNvSpPr>
                  <p:nvPr/>
                </p:nvSpPr>
                <p:spPr bwMode="auto">
                  <a:xfrm>
                    <a:off x="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nvGrpSpPr>
              <p:cNvPr id="21" name="Group 456">
                <a:extLst>
                  <a:ext uri="{FF2B5EF4-FFF2-40B4-BE49-F238E27FC236}">
                    <a16:creationId xmlns:a16="http://schemas.microsoft.com/office/drawing/2014/main" id="{CBE9F00C-FFB2-4DC9-9672-A67B8A273891}"/>
                  </a:ext>
                </a:extLst>
              </p:cNvPr>
              <p:cNvGrpSpPr>
                <a:grpSpLocks/>
              </p:cNvGrpSpPr>
              <p:nvPr/>
            </p:nvGrpSpPr>
            <p:grpSpPr bwMode="auto">
              <a:xfrm>
                <a:off x="1670" y="0"/>
                <a:ext cx="1670" cy="481"/>
                <a:chOff x="1670" y="0"/>
                <a:chExt cx="1670" cy="481"/>
              </a:xfrm>
            </p:grpSpPr>
            <p:sp>
              <p:nvSpPr>
                <p:cNvPr id="22" name="Rectangle 455">
                  <a:extLst>
                    <a:ext uri="{FF2B5EF4-FFF2-40B4-BE49-F238E27FC236}">
                      <a16:creationId xmlns:a16="http://schemas.microsoft.com/office/drawing/2014/main" id="{FED25E11-934B-4CB3-B2C9-D97467F9ECC3}"/>
                    </a:ext>
                  </a:extLst>
                </p:cNvPr>
                <p:cNvSpPr>
                  <a:spLocks noChangeArrowheads="1"/>
                </p:cNvSpPr>
                <p:nvPr/>
              </p:nvSpPr>
              <p:spPr bwMode="auto">
                <a:xfrm>
                  <a:off x="167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23" name="Group 454">
                  <a:extLst>
                    <a:ext uri="{FF2B5EF4-FFF2-40B4-BE49-F238E27FC236}">
                      <a16:creationId xmlns:a16="http://schemas.microsoft.com/office/drawing/2014/main" id="{0D9CF679-AFEE-4ECE-9DDE-70DF71AB38B8}"/>
                    </a:ext>
                  </a:extLst>
                </p:cNvPr>
                <p:cNvGrpSpPr>
                  <a:grpSpLocks/>
                </p:cNvGrpSpPr>
                <p:nvPr/>
              </p:nvGrpSpPr>
              <p:grpSpPr bwMode="auto">
                <a:xfrm>
                  <a:off x="1670" y="0"/>
                  <a:ext cx="1670" cy="481"/>
                  <a:chOff x="1670" y="0"/>
                  <a:chExt cx="1670" cy="481"/>
                </a:xfrm>
              </p:grpSpPr>
              <p:sp>
                <p:nvSpPr>
                  <p:cNvPr id="24" name="Rectangle 448">
                    <a:extLst>
                      <a:ext uri="{FF2B5EF4-FFF2-40B4-BE49-F238E27FC236}">
                        <a16:creationId xmlns:a16="http://schemas.microsoft.com/office/drawing/2014/main" id="{E508C1D6-FE24-4A8B-853E-76E70CA2080A}"/>
                      </a:ext>
                    </a:extLst>
                  </p:cNvPr>
                  <p:cNvSpPr>
                    <a:spLocks noChangeArrowheads="1"/>
                  </p:cNvSpPr>
                  <p:nvPr/>
                </p:nvSpPr>
                <p:spPr bwMode="auto">
                  <a:xfrm>
                    <a:off x="171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1,2,4,5,6,7,9</a:t>
                    </a:r>
                    <a:r>
                      <a:rPr lang="en-US" altLang="zh-CN" sz="26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25" name="Rectangle 453">
                    <a:extLst>
                      <a:ext uri="{FF2B5EF4-FFF2-40B4-BE49-F238E27FC236}">
                        <a16:creationId xmlns:a16="http://schemas.microsoft.com/office/drawing/2014/main" id="{E4B81806-234E-45EE-AE35-D3E11CACB9AD}"/>
                      </a:ext>
                    </a:extLst>
                  </p:cNvPr>
                  <p:cNvSpPr>
                    <a:spLocks noChangeArrowheads="1"/>
                  </p:cNvSpPr>
                  <p:nvPr/>
                </p:nvSpPr>
                <p:spPr bwMode="auto">
                  <a:xfrm>
                    <a:off x="167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sp>
          <p:nvSpPr>
            <p:cNvPr id="19" name="Rectangle 458">
              <a:extLst>
                <a:ext uri="{FF2B5EF4-FFF2-40B4-BE49-F238E27FC236}">
                  <a16:creationId xmlns:a16="http://schemas.microsoft.com/office/drawing/2014/main" id="{98E829DF-7322-4038-B0DB-883E21ACAD25}"/>
                </a:ext>
              </a:extLst>
            </p:cNvPr>
            <p:cNvSpPr>
              <a:spLocks noChangeArrowheads="1"/>
            </p:cNvSpPr>
            <p:nvPr/>
          </p:nvSpPr>
          <p:spPr bwMode="auto">
            <a:xfrm>
              <a:off x="-3" y="-3"/>
              <a:ext cx="3346" cy="48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30" name="Rectangle 460">
            <a:extLst>
              <a:ext uri="{FF2B5EF4-FFF2-40B4-BE49-F238E27FC236}">
                <a16:creationId xmlns:a16="http://schemas.microsoft.com/office/drawing/2014/main" id="{93203611-34AD-49EF-9C69-40DE3C2606AD}"/>
              </a:ext>
            </a:extLst>
          </p:cNvPr>
          <p:cNvSpPr>
            <a:spLocks noChangeArrowheads="1"/>
          </p:cNvSpPr>
          <p:nvPr/>
        </p:nvSpPr>
        <p:spPr bwMode="auto">
          <a:xfrm>
            <a:off x="1051713" y="4129140"/>
            <a:ext cx="196567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1,2,4,5,6,7</a:t>
            </a:r>
            <a:r>
              <a:rPr lang="en-US" altLang="zh-CN" sz="2600" b="1" dirty="0">
                <a:latin typeface="Times New Roman" panose="02020603050405020304" pitchFamily="18" charset="0"/>
                <a:cs typeface="Times New Roman" panose="02020603050405020304" pitchFamily="18" charset="0"/>
              </a:rPr>
              <a:t>}</a:t>
            </a:r>
            <a:r>
              <a:rPr lang="en-US" altLang="zh-CN" sz="1100" b="1" dirty="0"/>
              <a:t> </a:t>
            </a:r>
            <a:endParaRPr lang="en-US" altLang="zh-CN" sz="1800" b="1" dirty="0"/>
          </a:p>
        </p:txBody>
      </p:sp>
      <p:grpSp>
        <p:nvGrpSpPr>
          <p:cNvPr id="31" name="Group 473">
            <a:extLst>
              <a:ext uri="{FF2B5EF4-FFF2-40B4-BE49-F238E27FC236}">
                <a16:creationId xmlns:a16="http://schemas.microsoft.com/office/drawing/2014/main" id="{F14EB67E-3F63-4C33-AF06-3424C485897C}"/>
              </a:ext>
            </a:extLst>
          </p:cNvPr>
          <p:cNvGrpSpPr>
            <a:grpSpLocks/>
          </p:cNvGrpSpPr>
          <p:nvPr/>
        </p:nvGrpSpPr>
        <p:grpSpPr bwMode="auto">
          <a:xfrm>
            <a:off x="3477816" y="4156720"/>
            <a:ext cx="4648200" cy="461963"/>
            <a:chOff x="-3" y="-3"/>
            <a:chExt cx="3346" cy="487"/>
          </a:xfrm>
        </p:grpSpPr>
        <p:grpSp>
          <p:nvGrpSpPr>
            <p:cNvPr id="32" name="Group 471">
              <a:extLst>
                <a:ext uri="{FF2B5EF4-FFF2-40B4-BE49-F238E27FC236}">
                  <a16:creationId xmlns:a16="http://schemas.microsoft.com/office/drawing/2014/main" id="{4BA16EC9-B84C-4605-AF24-A26A4A4C88C5}"/>
                </a:ext>
              </a:extLst>
            </p:cNvPr>
            <p:cNvGrpSpPr>
              <a:grpSpLocks/>
            </p:cNvGrpSpPr>
            <p:nvPr/>
          </p:nvGrpSpPr>
          <p:grpSpPr bwMode="auto">
            <a:xfrm>
              <a:off x="0" y="0"/>
              <a:ext cx="3340" cy="481"/>
              <a:chOff x="0" y="0"/>
              <a:chExt cx="3340" cy="481"/>
            </a:xfrm>
          </p:grpSpPr>
          <p:grpSp>
            <p:nvGrpSpPr>
              <p:cNvPr id="34" name="Group 466">
                <a:extLst>
                  <a:ext uri="{FF2B5EF4-FFF2-40B4-BE49-F238E27FC236}">
                    <a16:creationId xmlns:a16="http://schemas.microsoft.com/office/drawing/2014/main" id="{ED72F360-6ACA-4B1C-BA43-78A912CBE49A}"/>
                  </a:ext>
                </a:extLst>
              </p:cNvPr>
              <p:cNvGrpSpPr>
                <a:grpSpLocks/>
              </p:cNvGrpSpPr>
              <p:nvPr/>
            </p:nvGrpSpPr>
            <p:grpSpPr bwMode="auto">
              <a:xfrm>
                <a:off x="0" y="0"/>
                <a:ext cx="1670" cy="481"/>
                <a:chOff x="0" y="0"/>
                <a:chExt cx="1670" cy="481"/>
              </a:xfrm>
            </p:grpSpPr>
            <p:sp>
              <p:nvSpPr>
                <p:cNvPr id="40" name="Rectangle 465">
                  <a:extLst>
                    <a:ext uri="{FF2B5EF4-FFF2-40B4-BE49-F238E27FC236}">
                      <a16:creationId xmlns:a16="http://schemas.microsoft.com/office/drawing/2014/main" id="{FFFDBCD5-33E0-4D4F-9C07-35E1E5286AF9}"/>
                    </a:ext>
                  </a:extLst>
                </p:cNvPr>
                <p:cNvSpPr>
                  <a:spLocks noChangeArrowheads="1"/>
                </p:cNvSpPr>
                <p:nvPr/>
              </p:nvSpPr>
              <p:spPr bwMode="auto">
                <a:xfrm>
                  <a:off x="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41" name="Group 464">
                  <a:extLst>
                    <a:ext uri="{FF2B5EF4-FFF2-40B4-BE49-F238E27FC236}">
                      <a16:creationId xmlns:a16="http://schemas.microsoft.com/office/drawing/2014/main" id="{0F1329A5-D7F3-4F52-A1AF-B201F9325858}"/>
                    </a:ext>
                  </a:extLst>
                </p:cNvPr>
                <p:cNvGrpSpPr>
                  <a:grpSpLocks/>
                </p:cNvGrpSpPr>
                <p:nvPr/>
              </p:nvGrpSpPr>
              <p:grpSpPr bwMode="auto">
                <a:xfrm>
                  <a:off x="0" y="0"/>
                  <a:ext cx="1670" cy="481"/>
                  <a:chOff x="0" y="0"/>
                  <a:chExt cx="1670" cy="481"/>
                </a:xfrm>
              </p:grpSpPr>
              <p:sp>
                <p:nvSpPr>
                  <p:cNvPr id="42" name="Rectangle 461">
                    <a:extLst>
                      <a:ext uri="{FF2B5EF4-FFF2-40B4-BE49-F238E27FC236}">
                        <a16:creationId xmlns:a16="http://schemas.microsoft.com/office/drawing/2014/main" id="{4BBC466D-5987-46CC-AC25-9AAFBF550574}"/>
                      </a:ext>
                    </a:extLst>
                  </p:cNvPr>
                  <p:cNvSpPr>
                    <a:spLocks noChangeArrowheads="1"/>
                  </p:cNvSpPr>
                  <p:nvPr/>
                </p:nvSpPr>
                <p:spPr bwMode="auto">
                  <a:xfrm>
                    <a:off x="4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1,2,3,4,6,7,8</a:t>
                    </a:r>
                    <a:r>
                      <a:rPr lang="en-US" altLang="zh-CN" sz="26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43" name="Rectangle 463">
                    <a:extLst>
                      <a:ext uri="{FF2B5EF4-FFF2-40B4-BE49-F238E27FC236}">
                        <a16:creationId xmlns:a16="http://schemas.microsoft.com/office/drawing/2014/main" id="{A7356015-B00A-4D2A-9895-731196D154D6}"/>
                      </a:ext>
                    </a:extLst>
                  </p:cNvPr>
                  <p:cNvSpPr>
                    <a:spLocks noChangeArrowheads="1"/>
                  </p:cNvSpPr>
                  <p:nvPr/>
                </p:nvSpPr>
                <p:spPr bwMode="auto">
                  <a:xfrm>
                    <a:off x="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nvGrpSpPr>
              <p:cNvPr id="35" name="Group 470">
                <a:extLst>
                  <a:ext uri="{FF2B5EF4-FFF2-40B4-BE49-F238E27FC236}">
                    <a16:creationId xmlns:a16="http://schemas.microsoft.com/office/drawing/2014/main" id="{2C48EA04-B2A7-4FCC-8AC0-0AF84CFB9A45}"/>
                  </a:ext>
                </a:extLst>
              </p:cNvPr>
              <p:cNvGrpSpPr>
                <a:grpSpLocks/>
              </p:cNvGrpSpPr>
              <p:nvPr/>
            </p:nvGrpSpPr>
            <p:grpSpPr bwMode="auto">
              <a:xfrm>
                <a:off x="1670" y="0"/>
                <a:ext cx="1670" cy="481"/>
                <a:chOff x="1670" y="0"/>
                <a:chExt cx="1670" cy="481"/>
              </a:xfrm>
            </p:grpSpPr>
            <p:sp>
              <p:nvSpPr>
                <p:cNvPr id="36" name="Rectangle 469">
                  <a:extLst>
                    <a:ext uri="{FF2B5EF4-FFF2-40B4-BE49-F238E27FC236}">
                      <a16:creationId xmlns:a16="http://schemas.microsoft.com/office/drawing/2014/main" id="{142AF1F1-FA80-4530-AD71-89F4F4A1BB98}"/>
                    </a:ext>
                  </a:extLst>
                </p:cNvPr>
                <p:cNvSpPr>
                  <a:spLocks noChangeArrowheads="1"/>
                </p:cNvSpPr>
                <p:nvPr/>
              </p:nvSpPr>
              <p:spPr bwMode="auto">
                <a:xfrm>
                  <a:off x="167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37" name="Group 468">
                  <a:extLst>
                    <a:ext uri="{FF2B5EF4-FFF2-40B4-BE49-F238E27FC236}">
                      <a16:creationId xmlns:a16="http://schemas.microsoft.com/office/drawing/2014/main" id="{C74650E9-3D4F-440F-90BA-0396D3392EB8}"/>
                    </a:ext>
                  </a:extLst>
                </p:cNvPr>
                <p:cNvGrpSpPr>
                  <a:grpSpLocks/>
                </p:cNvGrpSpPr>
                <p:nvPr/>
              </p:nvGrpSpPr>
              <p:grpSpPr bwMode="auto">
                <a:xfrm>
                  <a:off x="1670" y="0"/>
                  <a:ext cx="1670" cy="481"/>
                  <a:chOff x="1670" y="0"/>
                  <a:chExt cx="1670" cy="481"/>
                </a:xfrm>
              </p:grpSpPr>
              <p:sp>
                <p:nvSpPr>
                  <p:cNvPr id="38" name="Rectangle 462">
                    <a:extLst>
                      <a:ext uri="{FF2B5EF4-FFF2-40B4-BE49-F238E27FC236}">
                        <a16:creationId xmlns:a16="http://schemas.microsoft.com/office/drawing/2014/main" id="{37A01A04-79D4-4320-89C5-39041D41F645}"/>
                      </a:ext>
                    </a:extLst>
                  </p:cNvPr>
                  <p:cNvSpPr>
                    <a:spLocks noChangeArrowheads="1"/>
                  </p:cNvSpPr>
                  <p:nvPr/>
                </p:nvSpPr>
                <p:spPr bwMode="auto">
                  <a:xfrm>
                    <a:off x="171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1,2,4,5,6,7</a:t>
                    </a:r>
                    <a:r>
                      <a:rPr lang="en-US" altLang="zh-CN" sz="26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39" name="Rectangle 467">
                    <a:extLst>
                      <a:ext uri="{FF2B5EF4-FFF2-40B4-BE49-F238E27FC236}">
                        <a16:creationId xmlns:a16="http://schemas.microsoft.com/office/drawing/2014/main" id="{213398D8-301D-49CF-A944-156FAD6E2D35}"/>
                      </a:ext>
                    </a:extLst>
                  </p:cNvPr>
                  <p:cNvSpPr>
                    <a:spLocks noChangeArrowheads="1"/>
                  </p:cNvSpPr>
                  <p:nvPr/>
                </p:nvSpPr>
                <p:spPr bwMode="auto">
                  <a:xfrm>
                    <a:off x="167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sp>
          <p:nvSpPr>
            <p:cNvPr id="33" name="Rectangle 472">
              <a:extLst>
                <a:ext uri="{FF2B5EF4-FFF2-40B4-BE49-F238E27FC236}">
                  <a16:creationId xmlns:a16="http://schemas.microsoft.com/office/drawing/2014/main" id="{E578CE1A-76BD-4C45-B368-9874E2ADA80E}"/>
                </a:ext>
              </a:extLst>
            </p:cNvPr>
            <p:cNvSpPr>
              <a:spLocks noChangeArrowheads="1"/>
            </p:cNvSpPr>
            <p:nvPr/>
          </p:nvSpPr>
          <p:spPr bwMode="auto">
            <a:xfrm>
              <a:off x="-3" y="-3"/>
              <a:ext cx="3346" cy="48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44" name="Rectangle 474">
            <a:extLst>
              <a:ext uri="{FF2B5EF4-FFF2-40B4-BE49-F238E27FC236}">
                <a16:creationId xmlns:a16="http://schemas.microsoft.com/office/drawing/2014/main" id="{CF7E9103-AE30-495A-864A-E09065A5988D}"/>
              </a:ext>
            </a:extLst>
          </p:cNvPr>
          <p:cNvSpPr>
            <a:spLocks noChangeArrowheads="1"/>
          </p:cNvSpPr>
          <p:nvPr/>
        </p:nvSpPr>
        <p:spPr bwMode="auto">
          <a:xfrm>
            <a:off x="1048782" y="4569268"/>
            <a:ext cx="1828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latin typeface="Times New Roman" panose="02020603050405020304" pitchFamily="18" charset="0"/>
                <a:cs typeface="Times New Roman" panose="02020603050405020304" pitchFamily="18" charset="0"/>
              </a:rPr>
              <a:t>{1,2,4,5,6,7,9}</a:t>
            </a:r>
            <a:r>
              <a:rPr lang="en-US" altLang="zh-CN" sz="2400" b="1" dirty="0"/>
              <a:t> </a:t>
            </a:r>
          </a:p>
        </p:txBody>
      </p:sp>
      <p:grpSp>
        <p:nvGrpSpPr>
          <p:cNvPr id="45" name="Group 487">
            <a:extLst>
              <a:ext uri="{FF2B5EF4-FFF2-40B4-BE49-F238E27FC236}">
                <a16:creationId xmlns:a16="http://schemas.microsoft.com/office/drawing/2014/main" id="{2EEDD74A-5C83-4C34-BF55-1827539D02DE}"/>
              </a:ext>
            </a:extLst>
          </p:cNvPr>
          <p:cNvGrpSpPr>
            <a:grpSpLocks/>
          </p:cNvGrpSpPr>
          <p:nvPr/>
        </p:nvGrpSpPr>
        <p:grpSpPr bwMode="auto">
          <a:xfrm>
            <a:off x="3477816" y="4613920"/>
            <a:ext cx="4648200" cy="457200"/>
            <a:chOff x="-3" y="-3"/>
            <a:chExt cx="3346" cy="487"/>
          </a:xfrm>
        </p:grpSpPr>
        <p:grpSp>
          <p:nvGrpSpPr>
            <p:cNvPr id="46" name="Group 485">
              <a:extLst>
                <a:ext uri="{FF2B5EF4-FFF2-40B4-BE49-F238E27FC236}">
                  <a16:creationId xmlns:a16="http://schemas.microsoft.com/office/drawing/2014/main" id="{ADE416EA-2C75-40BC-B53C-8E4B1FDDD8BF}"/>
                </a:ext>
              </a:extLst>
            </p:cNvPr>
            <p:cNvGrpSpPr>
              <a:grpSpLocks/>
            </p:cNvGrpSpPr>
            <p:nvPr/>
          </p:nvGrpSpPr>
          <p:grpSpPr bwMode="auto">
            <a:xfrm>
              <a:off x="0" y="0"/>
              <a:ext cx="3340" cy="481"/>
              <a:chOff x="0" y="0"/>
              <a:chExt cx="3340" cy="481"/>
            </a:xfrm>
          </p:grpSpPr>
          <p:grpSp>
            <p:nvGrpSpPr>
              <p:cNvPr id="48" name="Group 480">
                <a:extLst>
                  <a:ext uri="{FF2B5EF4-FFF2-40B4-BE49-F238E27FC236}">
                    <a16:creationId xmlns:a16="http://schemas.microsoft.com/office/drawing/2014/main" id="{1CB3C4C9-48E4-4C48-8D1A-B38516A029D5}"/>
                  </a:ext>
                </a:extLst>
              </p:cNvPr>
              <p:cNvGrpSpPr>
                <a:grpSpLocks/>
              </p:cNvGrpSpPr>
              <p:nvPr/>
            </p:nvGrpSpPr>
            <p:grpSpPr bwMode="auto">
              <a:xfrm>
                <a:off x="0" y="0"/>
                <a:ext cx="1670" cy="481"/>
                <a:chOff x="0" y="0"/>
                <a:chExt cx="1670" cy="481"/>
              </a:xfrm>
            </p:grpSpPr>
            <p:sp>
              <p:nvSpPr>
                <p:cNvPr id="54" name="Rectangle 479">
                  <a:extLst>
                    <a:ext uri="{FF2B5EF4-FFF2-40B4-BE49-F238E27FC236}">
                      <a16:creationId xmlns:a16="http://schemas.microsoft.com/office/drawing/2014/main" id="{ED3DE4CE-91EA-42E7-9F33-3A0E88F12710}"/>
                    </a:ext>
                  </a:extLst>
                </p:cNvPr>
                <p:cNvSpPr>
                  <a:spLocks noChangeArrowheads="1"/>
                </p:cNvSpPr>
                <p:nvPr/>
              </p:nvSpPr>
              <p:spPr bwMode="auto">
                <a:xfrm>
                  <a:off x="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55" name="Group 478">
                  <a:extLst>
                    <a:ext uri="{FF2B5EF4-FFF2-40B4-BE49-F238E27FC236}">
                      <a16:creationId xmlns:a16="http://schemas.microsoft.com/office/drawing/2014/main" id="{83E19EF6-7AEB-43A6-A169-564EA0A3FB60}"/>
                    </a:ext>
                  </a:extLst>
                </p:cNvPr>
                <p:cNvGrpSpPr>
                  <a:grpSpLocks/>
                </p:cNvGrpSpPr>
                <p:nvPr/>
              </p:nvGrpSpPr>
              <p:grpSpPr bwMode="auto">
                <a:xfrm>
                  <a:off x="0" y="0"/>
                  <a:ext cx="1670" cy="481"/>
                  <a:chOff x="0" y="0"/>
                  <a:chExt cx="1670" cy="481"/>
                </a:xfrm>
              </p:grpSpPr>
              <p:sp>
                <p:nvSpPr>
                  <p:cNvPr id="56" name="Rectangle 475">
                    <a:extLst>
                      <a:ext uri="{FF2B5EF4-FFF2-40B4-BE49-F238E27FC236}">
                        <a16:creationId xmlns:a16="http://schemas.microsoft.com/office/drawing/2014/main" id="{E1A1C1A7-7B39-4502-A0D7-6627E969C860}"/>
                      </a:ext>
                    </a:extLst>
                  </p:cNvPr>
                  <p:cNvSpPr>
                    <a:spLocks noChangeArrowheads="1"/>
                  </p:cNvSpPr>
                  <p:nvPr/>
                </p:nvSpPr>
                <p:spPr bwMode="auto">
                  <a:xfrm>
                    <a:off x="4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1,2,3,4,6,7,8</a:t>
                    </a:r>
                    <a:r>
                      <a:rPr lang="en-US" altLang="zh-CN" sz="26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57" name="Rectangle 477">
                    <a:extLst>
                      <a:ext uri="{FF2B5EF4-FFF2-40B4-BE49-F238E27FC236}">
                        <a16:creationId xmlns:a16="http://schemas.microsoft.com/office/drawing/2014/main" id="{0C134229-89DC-451A-98E8-70410B8E3823}"/>
                      </a:ext>
                    </a:extLst>
                  </p:cNvPr>
                  <p:cNvSpPr>
                    <a:spLocks noChangeArrowheads="1"/>
                  </p:cNvSpPr>
                  <p:nvPr/>
                </p:nvSpPr>
                <p:spPr bwMode="auto">
                  <a:xfrm>
                    <a:off x="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nvGrpSpPr>
              <p:cNvPr id="49" name="Group 484">
                <a:extLst>
                  <a:ext uri="{FF2B5EF4-FFF2-40B4-BE49-F238E27FC236}">
                    <a16:creationId xmlns:a16="http://schemas.microsoft.com/office/drawing/2014/main" id="{2779406C-2C61-4E42-B497-5694BE1B6FC6}"/>
                  </a:ext>
                </a:extLst>
              </p:cNvPr>
              <p:cNvGrpSpPr>
                <a:grpSpLocks/>
              </p:cNvGrpSpPr>
              <p:nvPr/>
            </p:nvGrpSpPr>
            <p:grpSpPr bwMode="auto">
              <a:xfrm>
                <a:off x="1670" y="0"/>
                <a:ext cx="1670" cy="481"/>
                <a:chOff x="1670" y="0"/>
                <a:chExt cx="1670" cy="481"/>
              </a:xfrm>
            </p:grpSpPr>
            <p:sp>
              <p:nvSpPr>
                <p:cNvPr id="50" name="Rectangle 483">
                  <a:extLst>
                    <a:ext uri="{FF2B5EF4-FFF2-40B4-BE49-F238E27FC236}">
                      <a16:creationId xmlns:a16="http://schemas.microsoft.com/office/drawing/2014/main" id="{38B85104-471B-45BF-B4B5-F06461C330B7}"/>
                    </a:ext>
                  </a:extLst>
                </p:cNvPr>
                <p:cNvSpPr>
                  <a:spLocks noChangeArrowheads="1"/>
                </p:cNvSpPr>
                <p:nvPr/>
              </p:nvSpPr>
              <p:spPr bwMode="auto">
                <a:xfrm>
                  <a:off x="167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51" name="Group 482">
                  <a:extLst>
                    <a:ext uri="{FF2B5EF4-FFF2-40B4-BE49-F238E27FC236}">
                      <a16:creationId xmlns:a16="http://schemas.microsoft.com/office/drawing/2014/main" id="{1997C8F4-213C-4E4A-A970-892F28CBAC0D}"/>
                    </a:ext>
                  </a:extLst>
                </p:cNvPr>
                <p:cNvGrpSpPr>
                  <a:grpSpLocks/>
                </p:cNvGrpSpPr>
                <p:nvPr/>
              </p:nvGrpSpPr>
              <p:grpSpPr bwMode="auto">
                <a:xfrm>
                  <a:off x="1670" y="0"/>
                  <a:ext cx="1670" cy="481"/>
                  <a:chOff x="1670" y="0"/>
                  <a:chExt cx="1670" cy="481"/>
                </a:xfrm>
              </p:grpSpPr>
              <p:sp>
                <p:nvSpPr>
                  <p:cNvPr id="52" name="Rectangle 476">
                    <a:extLst>
                      <a:ext uri="{FF2B5EF4-FFF2-40B4-BE49-F238E27FC236}">
                        <a16:creationId xmlns:a16="http://schemas.microsoft.com/office/drawing/2014/main" id="{98A49FAF-6B49-4BF6-BF6C-A0EBA7D365D5}"/>
                      </a:ext>
                    </a:extLst>
                  </p:cNvPr>
                  <p:cNvSpPr>
                    <a:spLocks noChangeArrowheads="1"/>
                  </p:cNvSpPr>
                  <p:nvPr/>
                </p:nvSpPr>
                <p:spPr bwMode="auto">
                  <a:xfrm>
                    <a:off x="171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1,2,4,5,6,7,10</a:t>
                    </a:r>
                    <a:r>
                      <a:rPr lang="en-US" altLang="zh-CN" sz="26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53" name="Rectangle 481">
                    <a:extLst>
                      <a:ext uri="{FF2B5EF4-FFF2-40B4-BE49-F238E27FC236}">
                        <a16:creationId xmlns:a16="http://schemas.microsoft.com/office/drawing/2014/main" id="{E03DD01F-9F22-405E-BD0B-C70652BCCDD8}"/>
                      </a:ext>
                    </a:extLst>
                  </p:cNvPr>
                  <p:cNvSpPr>
                    <a:spLocks noChangeArrowheads="1"/>
                  </p:cNvSpPr>
                  <p:nvPr/>
                </p:nvSpPr>
                <p:spPr bwMode="auto">
                  <a:xfrm>
                    <a:off x="167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sp>
          <p:nvSpPr>
            <p:cNvPr id="47" name="Rectangle 486">
              <a:extLst>
                <a:ext uri="{FF2B5EF4-FFF2-40B4-BE49-F238E27FC236}">
                  <a16:creationId xmlns:a16="http://schemas.microsoft.com/office/drawing/2014/main" id="{F31743E2-A56E-4638-ADB6-75CE84AEE102}"/>
                </a:ext>
              </a:extLst>
            </p:cNvPr>
            <p:cNvSpPr>
              <a:spLocks noChangeArrowheads="1"/>
            </p:cNvSpPr>
            <p:nvPr/>
          </p:nvSpPr>
          <p:spPr bwMode="auto">
            <a:xfrm>
              <a:off x="-3" y="-3"/>
              <a:ext cx="3346" cy="48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58" name="Rectangle 488">
            <a:extLst>
              <a:ext uri="{FF2B5EF4-FFF2-40B4-BE49-F238E27FC236}">
                <a16:creationId xmlns:a16="http://schemas.microsoft.com/office/drawing/2014/main" id="{C5093B24-7B04-45BA-80E0-22EE8D1145D9}"/>
              </a:ext>
            </a:extLst>
          </p:cNvPr>
          <p:cNvSpPr>
            <a:spLocks noChangeArrowheads="1"/>
          </p:cNvSpPr>
          <p:nvPr/>
        </p:nvSpPr>
        <p:spPr bwMode="auto">
          <a:xfrm>
            <a:off x="1060145" y="4963170"/>
            <a:ext cx="226527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1,2,4,5,6,7,10</a:t>
            </a:r>
            <a:r>
              <a:rPr lang="en-US" altLang="zh-CN" sz="2600" b="1" dirty="0">
                <a:latin typeface="Times New Roman" panose="02020603050405020304" pitchFamily="18" charset="0"/>
                <a:cs typeface="Times New Roman" panose="02020603050405020304" pitchFamily="18" charset="0"/>
              </a:rPr>
              <a:t>}</a:t>
            </a:r>
            <a:r>
              <a:rPr lang="en-US" altLang="zh-CN" sz="1100" b="1" dirty="0"/>
              <a:t> </a:t>
            </a:r>
            <a:endParaRPr lang="en-US" altLang="zh-CN" sz="1800" b="1" dirty="0"/>
          </a:p>
        </p:txBody>
      </p:sp>
      <p:grpSp>
        <p:nvGrpSpPr>
          <p:cNvPr id="59" name="Group 501">
            <a:extLst>
              <a:ext uri="{FF2B5EF4-FFF2-40B4-BE49-F238E27FC236}">
                <a16:creationId xmlns:a16="http://schemas.microsoft.com/office/drawing/2014/main" id="{EFECD804-AE3A-40A8-8641-41306B7A340D}"/>
              </a:ext>
            </a:extLst>
          </p:cNvPr>
          <p:cNvGrpSpPr>
            <a:grpSpLocks/>
          </p:cNvGrpSpPr>
          <p:nvPr/>
        </p:nvGrpSpPr>
        <p:grpSpPr bwMode="auto">
          <a:xfrm>
            <a:off x="3477816" y="4994920"/>
            <a:ext cx="4648200" cy="457200"/>
            <a:chOff x="-3" y="-3"/>
            <a:chExt cx="3346" cy="487"/>
          </a:xfrm>
        </p:grpSpPr>
        <p:grpSp>
          <p:nvGrpSpPr>
            <p:cNvPr id="60" name="Group 499">
              <a:extLst>
                <a:ext uri="{FF2B5EF4-FFF2-40B4-BE49-F238E27FC236}">
                  <a16:creationId xmlns:a16="http://schemas.microsoft.com/office/drawing/2014/main" id="{F8F32974-F076-4D37-B313-2B6FF80588E9}"/>
                </a:ext>
              </a:extLst>
            </p:cNvPr>
            <p:cNvGrpSpPr>
              <a:grpSpLocks/>
            </p:cNvGrpSpPr>
            <p:nvPr/>
          </p:nvGrpSpPr>
          <p:grpSpPr bwMode="auto">
            <a:xfrm>
              <a:off x="0" y="0"/>
              <a:ext cx="3340" cy="481"/>
              <a:chOff x="0" y="0"/>
              <a:chExt cx="3340" cy="481"/>
            </a:xfrm>
          </p:grpSpPr>
          <p:grpSp>
            <p:nvGrpSpPr>
              <p:cNvPr id="62" name="Group 494">
                <a:extLst>
                  <a:ext uri="{FF2B5EF4-FFF2-40B4-BE49-F238E27FC236}">
                    <a16:creationId xmlns:a16="http://schemas.microsoft.com/office/drawing/2014/main" id="{6A5E0B4F-56F5-4074-987F-9B5CE28872DB}"/>
                  </a:ext>
                </a:extLst>
              </p:cNvPr>
              <p:cNvGrpSpPr>
                <a:grpSpLocks/>
              </p:cNvGrpSpPr>
              <p:nvPr/>
            </p:nvGrpSpPr>
            <p:grpSpPr bwMode="auto">
              <a:xfrm>
                <a:off x="0" y="0"/>
                <a:ext cx="1670" cy="481"/>
                <a:chOff x="0" y="0"/>
                <a:chExt cx="1670" cy="481"/>
              </a:xfrm>
            </p:grpSpPr>
            <p:sp>
              <p:nvSpPr>
                <p:cNvPr id="68" name="Rectangle 493">
                  <a:extLst>
                    <a:ext uri="{FF2B5EF4-FFF2-40B4-BE49-F238E27FC236}">
                      <a16:creationId xmlns:a16="http://schemas.microsoft.com/office/drawing/2014/main" id="{BEA5B68C-D487-485F-AEA3-9C366DB47644}"/>
                    </a:ext>
                  </a:extLst>
                </p:cNvPr>
                <p:cNvSpPr>
                  <a:spLocks noChangeArrowheads="1"/>
                </p:cNvSpPr>
                <p:nvPr/>
              </p:nvSpPr>
              <p:spPr bwMode="auto">
                <a:xfrm>
                  <a:off x="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69" name="Group 492">
                  <a:extLst>
                    <a:ext uri="{FF2B5EF4-FFF2-40B4-BE49-F238E27FC236}">
                      <a16:creationId xmlns:a16="http://schemas.microsoft.com/office/drawing/2014/main" id="{1334E883-F3FF-4CC0-AEF5-1E9E54B74B46}"/>
                    </a:ext>
                  </a:extLst>
                </p:cNvPr>
                <p:cNvGrpSpPr>
                  <a:grpSpLocks/>
                </p:cNvGrpSpPr>
                <p:nvPr/>
              </p:nvGrpSpPr>
              <p:grpSpPr bwMode="auto">
                <a:xfrm>
                  <a:off x="0" y="0"/>
                  <a:ext cx="1670" cy="481"/>
                  <a:chOff x="0" y="0"/>
                  <a:chExt cx="1670" cy="481"/>
                </a:xfrm>
              </p:grpSpPr>
              <p:sp>
                <p:nvSpPr>
                  <p:cNvPr id="70" name="Rectangle 489">
                    <a:extLst>
                      <a:ext uri="{FF2B5EF4-FFF2-40B4-BE49-F238E27FC236}">
                        <a16:creationId xmlns:a16="http://schemas.microsoft.com/office/drawing/2014/main" id="{148D4596-8913-4EF5-B75B-6E85657D8433}"/>
                      </a:ext>
                    </a:extLst>
                  </p:cNvPr>
                  <p:cNvSpPr>
                    <a:spLocks noChangeArrowheads="1"/>
                  </p:cNvSpPr>
                  <p:nvPr/>
                </p:nvSpPr>
                <p:spPr bwMode="auto">
                  <a:xfrm>
                    <a:off x="4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1,2,3,4,6,7,8</a:t>
                    </a:r>
                    <a:r>
                      <a:rPr lang="en-US" altLang="zh-CN" sz="26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71" name="Rectangle 491">
                    <a:extLst>
                      <a:ext uri="{FF2B5EF4-FFF2-40B4-BE49-F238E27FC236}">
                        <a16:creationId xmlns:a16="http://schemas.microsoft.com/office/drawing/2014/main" id="{DE2D8692-D9CA-4575-86B6-0AA30080B153}"/>
                      </a:ext>
                    </a:extLst>
                  </p:cNvPr>
                  <p:cNvSpPr>
                    <a:spLocks noChangeArrowheads="1"/>
                  </p:cNvSpPr>
                  <p:nvPr/>
                </p:nvSpPr>
                <p:spPr bwMode="auto">
                  <a:xfrm>
                    <a:off x="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nvGrpSpPr>
              <p:cNvPr id="63" name="Group 498">
                <a:extLst>
                  <a:ext uri="{FF2B5EF4-FFF2-40B4-BE49-F238E27FC236}">
                    <a16:creationId xmlns:a16="http://schemas.microsoft.com/office/drawing/2014/main" id="{B1C88056-1B00-4A99-831F-04647AE954AB}"/>
                  </a:ext>
                </a:extLst>
              </p:cNvPr>
              <p:cNvGrpSpPr>
                <a:grpSpLocks/>
              </p:cNvGrpSpPr>
              <p:nvPr/>
            </p:nvGrpSpPr>
            <p:grpSpPr bwMode="auto">
              <a:xfrm>
                <a:off x="1670" y="0"/>
                <a:ext cx="1670" cy="481"/>
                <a:chOff x="1670" y="0"/>
                <a:chExt cx="1670" cy="481"/>
              </a:xfrm>
            </p:grpSpPr>
            <p:sp>
              <p:nvSpPr>
                <p:cNvPr id="64" name="Rectangle 497">
                  <a:extLst>
                    <a:ext uri="{FF2B5EF4-FFF2-40B4-BE49-F238E27FC236}">
                      <a16:creationId xmlns:a16="http://schemas.microsoft.com/office/drawing/2014/main" id="{B553DC94-5B82-4050-BBEE-89048D2AEFCB}"/>
                    </a:ext>
                  </a:extLst>
                </p:cNvPr>
                <p:cNvSpPr>
                  <a:spLocks noChangeArrowheads="1"/>
                </p:cNvSpPr>
                <p:nvPr/>
              </p:nvSpPr>
              <p:spPr bwMode="auto">
                <a:xfrm>
                  <a:off x="167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65" name="Group 496">
                  <a:extLst>
                    <a:ext uri="{FF2B5EF4-FFF2-40B4-BE49-F238E27FC236}">
                      <a16:creationId xmlns:a16="http://schemas.microsoft.com/office/drawing/2014/main" id="{13D5704B-680B-4405-9A93-0893C0350FE8}"/>
                    </a:ext>
                  </a:extLst>
                </p:cNvPr>
                <p:cNvGrpSpPr>
                  <a:grpSpLocks/>
                </p:cNvGrpSpPr>
                <p:nvPr/>
              </p:nvGrpSpPr>
              <p:grpSpPr bwMode="auto">
                <a:xfrm>
                  <a:off x="1670" y="0"/>
                  <a:ext cx="1670" cy="481"/>
                  <a:chOff x="1670" y="0"/>
                  <a:chExt cx="1670" cy="481"/>
                </a:xfrm>
              </p:grpSpPr>
              <p:sp>
                <p:nvSpPr>
                  <p:cNvPr id="66" name="Rectangle 490">
                    <a:extLst>
                      <a:ext uri="{FF2B5EF4-FFF2-40B4-BE49-F238E27FC236}">
                        <a16:creationId xmlns:a16="http://schemas.microsoft.com/office/drawing/2014/main" id="{9CFE42C2-114C-4035-973F-11AACF179189}"/>
                      </a:ext>
                    </a:extLst>
                  </p:cNvPr>
                  <p:cNvSpPr>
                    <a:spLocks noChangeArrowheads="1"/>
                  </p:cNvSpPr>
                  <p:nvPr/>
                </p:nvSpPr>
                <p:spPr bwMode="auto">
                  <a:xfrm>
                    <a:off x="171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1,2,4,5,6,7</a:t>
                    </a:r>
                    <a:r>
                      <a:rPr lang="en-US" altLang="zh-CN" sz="26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67" name="Rectangle 495">
                    <a:extLst>
                      <a:ext uri="{FF2B5EF4-FFF2-40B4-BE49-F238E27FC236}">
                        <a16:creationId xmlns:a16="http://schemas.microsoft.com/office/drawing/2014/main" id="{3A93CB4E-8756-40A0-BFE1-498BC27AA9EE}"/>
                      </a:ext>
                    </a:extLst>
                  </p:cNvPr>
                  <p:cNvSpPr>
                    <a:spLocks noChangeArrowheads="1"/>
                  </p:cNvSpPr>
                  <p:nvPr/>
                </p:nvSpPr>
                <p:spPr bwMode="auto">
                  <a:xfrm>
                    <a:off x="167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sp>
          <p:nvSpPr>
            <p:cNvPr id="61" name="Rectangle 500">
              <a:extLst>
                <a:ext uri="{FF2B5EF4-FFF2-40B4-BE49-F238E27FC236}">
                  <a16:creationId xmlns:a16="http://schemas.microsoft.com/office/drawing/2014/main" id="{7656319A-571D-4ED1-A71C-2A3667C30BC7}"/>
                </a:ext>
              </a:extLst>
            </p:cNvPr>
            <p:cNvSpPr>
              <a:spLocks noChangeArrowheads="1"/>
            </p:cNvSpPr>
            <p:nvPr/>
          </p:nvSpPr>
          <p:spPr bwMode="auto">
            <a:xfrm>
              <a:off x="-3" y="-3"/>
              <a:ext cx="3346" cy="48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00" name="Group 553">
            <a:extLst>
              <a:ext uri="{FF2B5EF4-FFF2-40B4-BE49-F238E27FC236}">
                <a16:creationId xmlns:a16="http://schemas.microsoft.com/office/drawing/2014/main" id="{844A202F-6287-4CC6-9ABF-5AD8AAAE50C0}"/>
              </a:ext>
            </a:extLst>
          </p:cNvPr>
          <p:cNvGrpSpPr>
            <a:grpSpLocks/>
          </p:cNvGrpSpPr>
          <p:nvPr/>
        </p:nvGrpSpPr>
        <p:grpSpPr bwMode="auto">
          <a:xfrm>
            <a:off x="1115616" y="3242320"/>
            <a:ext cx="2362200" cy="3124200"/>
            <a:chOff x="-3" y="-3"/>
            <a:chExt cx="1662" cy="3199"/>
          </a:xfrm>
        </p:grpSpPr>
        <p:grpSp>
          <p:nvGrpSpPr>
            <p:cNvPr id="101" name="Group 551">
              <a:extLst>
                <a:ext uri="{FF2B5EF4-FFF2-40B4-BE49-F238E27FC236}">
                  <a16:creationId xmlns:a16="http://schemas.microsoft.com/office/drawing/2014/main" id="{3AF4C512-0498-47B4-AC54-E61D9844D2D2}"/>
                </a:ext>
              </a:extLst>
            </p:cNvPr>
            <p:cNvGrpSpPr>
              <a:grpSpLocks/>
            </p:cNvGrpSpPr>
            <p:nvPr/>
          </p:nvGrpSpPr>
          <p:grpSpPr bwMode="auto">
            <a:xfrm>
              <a:off x="0" y="0"/>
              <a:ext cx="1656" cy="3193"/>
              <a:chOff x="0" y="0"/>
              <a:chExt cx="1656" cy="3193"/>
            </a:xfrm>
          </p:grpSpPr>
          <p:grpSp>
            <p:nvGrpSpPr>
              <p:cNvPr id="103" name="Group 538">
                <a:extLst>
                  <a:ext uri="{FF2B5EF4-FFF2-40B4-BE49-F238E27FC236}">
                    <a16:creationId xmlns:a16="http://schemas.microsoft.com/office/drawing/2014/main" id="{D6903BE1-FE44-457E-9D35-753DD3AD7700}"/>
                  </a:ext>
                </a:extLst>
              </p:cNvPr>
              <p:cNvGrpSpPr>
                <a:grpSpLocks/>
              </p:cNvGrpSpPr>
              <p:nvPr/>
            </p:nvGrpSpPr>
            <p:grpSpPr bwMode="auto">
              <a:xfrm>
                <a:off x="0" y="0"/>
                <a:ext cx="1656" cy="452"/>
                <a:chOff x="0" y="0"/>
                <a:chExt cx="1656" cy="452"/>
              </a:xfrm>
            </p:grpSpPr>
            <p:sp>
              <p:nvSpPr>
                <p:cNvPr id="122" name="Rectangle 530">
                  <a:extLst>
                    <a:ext uri="{FF2B5EF4-FFF2-40B4-BE49-F238E27FC236}">
                      <a16:creationId xmlns:a16="http://schemas.microsoft.com/office/drawing/2014/main" id="{C6643BD3-64CA-4C73-9EF6-DB271C66A433}"/>
                    </a:ext>
                  </a:extLst>
                </p:cNvPr>
                <p:cNvSpPr>
                  <a:spLocks noChangeArrowheads="1"/>
                </p:cNvSpPr>
                <p:nvPr/>
              </p:nvSpPr>
              <p:spPr bwMode="auto">
                <a:xfrm>
                  <a:off x="43" y="0"/>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r>
                    <a:rPr lang="en-US" altLang="zh-CN" sz="2600" b="1" i="1" dirty="0">
                      <a:solidFill>
                        <a:srgbClr val="FF0000"/>
                      </a:solidFill>
                      <a:latin typeface="Times New Roman" panose="02020603050405020304" pitchFamily="18" charset="0"/>
                      <a:cs typeface="Times New Roman" panose="02020603050405020304" pitchFamily="18" charset="0"/>
                    </a:rPr>
                    <a:t>A</a:t>
                  </a:r>
                  <a:endParaRPr lang="en-US" altLang="zh-CN" sz="1800" b="1" i="1" dirty="0"/>
                </a:p>
              </p:txBody>
            </p:sp>
            <p:sp>
              <p:nvSpPr>
                <p:cNvPr id="123" name="Rectangle 537">
                  <a:extLst>
                    <a:ext uri="{FF2B5EF4-FFF2-40B4-BE49-F238E27FC236}">
                      <a16:creationId xmlns:a16="http://schemas.microsoft.com/office/drawing/2014/main" id="{CDD2D618-5F13-4088-84D8-2B3927843E8A}"/>
                    </a:ext>
                  </a:extLst>
                </p:cNvPr>
                <p:cNvSpPr>
                  <a:spLocks noChangeArrowheads="1"/>
                </p:cNvSpPr>
                <p:nvPr/>
              </p:nvSpPr>
              <p:spPr bwMode="auto">
                <a:xfrm>
                  <a:off x="0" y="0"/>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04" name="Group 540">
                <a:extLst>
                  <a:ext uri="{FF2B5EF4-FFF2-40B4-BE49-F238E27FC236}">
                    <a16:creationId xmlns:a16="http://schemas.microsoft.com/office/drawing/2014/main" id="{E2FCAC9F-437A-4F75-BFC1-6EE1E99C981C}"/>
                  </a:ext>
                </a:extLst>
              </p:cNvPr>
              <p:cNvGrpSpPr>
                <a:grpSpLocks/>
              </p:cNvGrpSpPr>
              <p:nvPr/>
            </p:nvGrpSpPr>
            <p:grpSpPr bwMode="auto">
              <a:xfrm>
                <a:off x="0" y="452"/>
                <a:ext cx="1656" cy="481"/>
                <a:chOff x="0" y="452"/>
                <a:chExt cx="1656" cy="481"/>
              </a:xfrm>
            </p:grpSpPr>
            <p:sp>
              <p:nvSpPr>
                <p:cNvPr id="120" name="Rectangle 531">
                  <a:extLst>
                    <a:ext uri="{FF2B5EF4-FFF2-40B4-BE49-F238E27FC236}">
                      <a16:creationId xmlns:a16="http://schemas.microsoft.com/office/drawing/2014/main" id="{BF99856A-95D8-4493-8912-411DDEBEDFA8}"/>
                    </a:ext>
                  </a:extLst>
                </p:cNvPr>
                <p:cNvSpPr>
                  <a:spLocks noChangeArrowheads="1"/>
                </p:cNvSpPr>
                <p:nvPr/>
              </p:nvSpPr>
              <p:spPr bwMode="auto">
                <a:xfrm>
                  <a:off x="43" y="452"/>
                  <a:ext cx="1570" cy="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r>
                    <a:rPr lang="en-US" altLang="zh-CN" sz="2600" b="1" i="1" dirty="0">
                      <a:solidFill>
                        <a:srgbClr val="FF0000"/>
                      </a:solidFill>
                      <a:latin typeface="Times New Roman" panose="02020603050405020304" pitchFamily="18" charset="0"/>
                      <a:cs typeface="Times New Roman" panose="02020603050405020304" pitchFamily="18" charset="0"/>
                    </a:rPr>
                    <a:t>B</a:t>
                  </a:r>
                  <a:endParaRPr lang="en-US" altLang="zh-CN" sz="1800" b="1" i="1" dirty="0"/>
                </a:p>
              </p:txBody>
            </p:sp>
            <p:sp>
              <p:nvSpPr>
                <p:cNvPr id="121" name="Rectangle 539">
                  <a:extLst>
                    <a:ext uri="{FF2B5EF4-FFF2-40B4-BE49-F238E27FC236}">
                      <a16:creationId xmlns:a16="http://schemas.microsoft.com/office/drawing/2014/main" id="{9A169E52-B440-484B-935D-7B1C2D84ACD0}"/>
                    </a:ext>
                  </a:extLst>
                </p:cNvPr>
                <p:cNvSpPr>
                  <a:spLocks noChangeArrowheads="1"/>
                </p:cNvSpPr>
                <p:nvPr/>
              </p:nvSpPr>
              <p:spPr bwMode="auto">
                <a:xfrm>
                  <a:off x="0" y="452"/>
                  <a:ext cx="1656"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05" name="Group 542">
                <a:extLst>
                  <a:ext uri="{FF2B5EF4-FFF2-40B4-BE49-F238E27FC236}">
                    <a16:creationId xmlns:a16="http://schemas.microsoft.com/office/drawing/2014/main" id="{0C687073-B97C-4454-A172-652EF06280E0}"/>
                  </a:ext>
                </a:extLst>
              </p:cNvPr>
              <p:cNvGrpSpPr>
                <a:grpSpLocks/>
              </p:cNvGrpSpPr>
              <p:nvPr/>
            </p:nvGrpSpPr>
            <p:grpSpPr bwMode="auto">
              <a:xfrm>
                <a:off x="0" y="933"/>
                <a:ext cx="1656" cy="452"/>
                <a:chOff x="0" y="933"/>
                <a:chExt cx="1656" cy="452"/>
              </a:xfrm>
            </p:grpSpPr>
            <p:sp>
              <p:nvSpPr>
                <p:cNvPr id="118" name="Rectangle 532">
                  <a:extLst>
                    <a:ext uri="{FF2B5EF4-FFF2-40B4-BE49-F238E27FC236}">
                      <a16:creationId xmlns:a16="http://schemas.microsoft.com/office/drawing/2014/main" id="{CEB7A1F1-45B8-49D9-BBB2-7C6A7ADB7283}"/>
                    </a:ext>
                  </a:extLst>
                </p:cNvPr>
                <p:cNvSpPr>
                  <a:spLocks noChangeArrowheads="1"/>
                </p:cNvSpPr>
                <p:nvPr/>
              </p:nvSpPr>
              <p:spPr bwMode="auto">
                <a:xfrm>
                  <a:off x="43" y="933"/>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r>
                    <a:rPr lang="en-US" altLang="zh-CN" sz="2600" b="1" i="1" dirty="0">
                      <a:solidFill>
                        <a:srgbClr val="FF0000"/>
                      </a:solidFill>
                      <a:latin typeface="Times New Roman" panose="02020603050405020304" pitchFamily="18" charset="0"/>
                      <a:cs typeface="Times New Roman" panose="02020603050405020304" pitchFamily="18" charset="0"/>
                    </a:rPr>
                    <a:t>C</a:t>
                  </a:r>
                  <a:endParaRPr lang="en-US" altLang="zh-CN" sz="1800" b="1" i="1" dirty="0"/>
                </a:p>
              </p:txBody>
            </p:sp>
            <p:sp>
              <p:nvSpPr>
                <p:cNvPr id="119" name="Rectangle 541">
                  <a:extLst>
                    <a:ext uri="{FF2B5EF4-FFF2-40B4-BE49-F238E27FC236}">
                      <a16:creationId xmlns:a16="http://schemas.microsoft.com/office/drawing/2014/main" id="{26D1659F-78FC-4B84-84B6-5649C55BA471}"/>
                    </a:ext>
                  </a:extLst>
                </p:cNvPr>
                <p:cNvSpPr>
                  <a:spLocks noChangeArrowheads="1"/>
                </p:cNvSpPr>
                <p:nvPr/>
              </p:nvSpPr>
              <p:spPr bwMode="auto">
                <a:xfrm>
                  <a:off x="0" y="933"/>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06" name="Group 544">
                <a:extLst>
                  <a:ext uri="{FF2B5EF4-FFF2-40B4-BE49-F238E27FC236}">
                    <a16:creationId xmlns:a16="http://schemas.microsoft.com/office/drawing/2014/main" id="{90A8273C-D21F-410B-8036-FD299336C0FF}"/>
                  </a:ext>
                </a:extLst>
              </p:cNvPr>
              <p:cNvGrpSpPr>
                <a:grpSpLocks/>
              </p:cNvGrpSpPr>
              <p:nvPr/>
            </p:nvGrpSpPr>
            <p:grpSpPr bwMode="auto">
              <a:xfrm>
                <a:off x="0" y="1385"/>
                <a:ext cx="1656" cy="452"/>
                <a:chOff x="0" y="1385"/>
                <a:chExt cx="1656" cy="452"/>
              </a:xfrm>
            </p:grpSpPr>
            <p:sp>
              <p:nvSpPr>
                <p:cNvPr id="116" name="Rectangle 533">
                  <a:extLst>
                    <a:ext uri="{FF2B5EF4-FFF2-40B4-BE49-F238E27FC236}">
                      <a16:creationId xmlns:a16="http://schemas.microsoft.com/office/drawing/2014/main" id="{6E7E94E5-0820-4DFE-992C-0793C421742D}"/>
                    </a:ext>
                  </a:extLst>
                </p:cNvPr>
                <p:cNvSpPr>
                  <a:spLocks noChangeArrowheads="1"/>
                </p:cNvSpPr>
                <p:nvPr/>
              </p:nvSpPr>
              <p:spPr bwMode="auto">
                <a:xfrm>
                  <a:off x="43" y="1385"/>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r>
                    <a:rPr lang="en-US" altLang="zh-CN" sz="2600" b="1" i="1" dirty="0">
                      <a:solidFill>
                        <a:srgbClr val="FF0000"/>
                      </a:solidFill>
                      <a:latin typeface="Times New Roman" panose="02020603050405020304" pitchFamily="18" charset="0"/>
                      <a:cs typeface="Times New Roman" panose="02020603050405020304" pitchFamily="18" charset="0"/>
                    </a:rPr>
                    <a:t>D</a:t>
                  </a:r>
                  <a:endParaRPr lang="en-US" altLang="zh-CN" sz="1800" b="1" i="1" dirty="0"/>
                </a:p>
              </p:txBody>
            </p:sp>
            <p:sp>
              <p:nvSpPr>
                <p:cNvPr id="117" name="Rectangle 543">
                  <a:extLst>
                    <a:ext uri="{FF2B5EF4-FFF2-40B4-BE49-F238E27FC236}">
                      <a16:creationId xmlns:a16="http://schemas.microsoft.com/office/drawing/2014/main" id="{0C17EE2D-C250-495A-B834-BB5DD3FCFB76}"/>
                    </a:ext>
                  </a:extLst>
                </p:cNvPr>
                <p:cNvSpPr>
                  <a:spLocks noChangeArrowheads="1"/>
                </p:cNvSpPr>
                <p:nvPr/>
              </p:nvSpPr>
              <p:spPr bwMode="auto">
                <a:xfrm>
                  <a:off x="0" y="1385"/>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07" name="Group 546">
                <a:extLst>
                  <a:ext uri="{FF2B5EF4-FFF2-40B4-BE49-F238E27FC236}">
                    <a16:creationId xmlns:a16="http://schemas.microsoft.com/office/drawing/2014/main" id="{5AC1D8CD-AFC5-4C19-BF66-21AC5C7A01DD}"/>
                  </a:ext>
                </a:extLst>
              </p:cNvPr>
              <p:cNvGrpSpPr>
                <a:grpSpLocks/>
              </p:cNvGrpSpPr>
              <p:nvPr/>
            </p:nvGrpSpPr>
            <p:grpSpPr bwMode="auto">
              <a:xfrm>
                <a:off x="0" y="1837"/>
                <a:ext cx="1656" cy="452"/>
                <a:chOff x="0" y="1837"/>
                <a:chExt cx="1656" cy="452"/>
              </a:xfrm>
            </p:grpSpPr>
            <p:sp>
              <p:nvSpPr>
                <p:cNvPr id="114" name="Rectangle 534">
                  <a:extLst>
                    <a:ext uri="{FF2B5EF4-FFF2-40B4-BE49-F238E27FC236}">
                      <a16:creationId xmlns:a16="http://schemas.microsoft.com/office/drawing/2014/main" id="{68442EE5-2BEC-470A-AFE1-6C0FAC114018}"/>
                    </a:ext>
                  </a:extLst>
                </p:cNvPr>
                <p:cNvSpPr>
                  <a:spLocks noChangeArrowheads="1"/>
                </p:cNvSpPr>
                <p:nvPr/>
              </p:nvSpPr>
              <p:spPr bwMode="auto">
                <a:xfrm>
                  <a:off x="43" y="1837"/>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r>
                    <a:rPr lang="en-US" altLang="zh-CN" sz="2600" b="1" i="1" dirty="0">
                      <a:solidFill>
                        <a:srgbClr val="FF0000"/>
                      </a:solidFill>
                      <a:latin typeface="Times New Roman" panose="02020603050405020304" pitchFamily="18" charset="0"/>
                      <a:cs typeface="Times New Roman" panose="02020603050405020304" pitchFamily="18" charset="0"/>
                    </a:rPr>
                    <a:t>E</a:t>
                  </a:r>
                  <a:endParaRPr lang="en-US" altLang="zh-CN" sz="1800" b="1" i="1" dirty="0"/>
                </a:p>
              </p:txBody>
            </p:sp>
            <p:sp>
              <p:nvSpPr>
                <p:cNvPr id="115" name="Rectangle 545">
                  <a:extLst>
                    <a:ext uri="{FF2B5EF4-FFF2-40B4-BE49-F238E27FC236}">
                      <a16:creationId xmlns:a16="http://schemas.microsoft.com/office/drawing/2014/main" id="{BF9694C8-13EB-424A-AE1F-6D8C99FA6830}"/>
                    </a:ext>
                  </a:extLst>
                </p:cNvPr>
                <p:cNvSpPr>
                  <a:spLocks noChangeArrowheads="1"/>
                </p:cNvSpPr>
                <p:nvPr/>
              </p:nvSpPr>
              <p:spPr bwMode="auto">
                <a:xfrm>
                  <a:off x="0" y="1837"/>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113" name="Rectangle 547">
                <a:extLst>
                  <a:ext uri="{FF2B5EF4-FFF2-40B4-BE49-F238E27FC236}">
                    <a16:creationId xmlns:a16="http://schemas.microsoft.com/office/drawing/2014/main" id="{AF921224-39D6-487F-B95C-B1C8162A2F21}"/>
                  </a:ext>
                </a:extLst>
              </p:cNvPr>
              <p:cNvSpPr>
                <a:spLocks noChangeArrowheads="1"/>
              </p:cNvSpPr>
              <p:nvPr/>
            </p:nvSpPr>
            <p:spPr bwMode="auto">
              <a:xfrm>
                <a:off x="0" y="2289"/>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11" name="Rectangle 549">
                <a:extLst>
                  <a:ext uri="{FF2B5EF4-FFF2-40B4-BE49-F238E27FC236}">
                    <a16:creationId xmlns:a16="http://schemas.microsoft.com/office/drawing/2014/main" id="{D0B31964-F25C-4FE6-8DE0-C72C5FE9F8CC}"/>
                  </a:ext>
                </a:extLst>
              </p:cNvPr>
              <p:cNvSpPr>
                <a:spLocks noChangeArrowheads="1"/>
              </p:cNvSpPr>
              <p:nvPr/>
            </p:nvSpPr>
            <p:spPr bwMode="auto">
              <a:xfrm>
                <a:off x="0" y="2741"/>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102" name="Rectangle 552">
              <a:extLst>
                <a:ext uri="{FF2B5EF4-FFF2-40B4-BE49-F238E27FC236}">
                  <a16:creationId xmlns:a16="http://schemas.microsoft.com/office/drawing/2014/main" id="{058F8E98-BC61-47C4-B139-A986519A0650}"/>
                </a:ext>
              </a:extLst>
            </p:cNvPr>
            <p:cNvSpPr>
              <a:spLocks noChangeArrowheads="1"/>
            </p:cNvSpPr>
            <p:nvPr/>
          </p:nvSpPr>
          <p:spPr bwMode="auto">
            <a:xfrm>
              <a:off x="-3" y="-3"/>
              <a:ext cx="1662" cy="3199"/>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24" name="Group 628">
            <a:extLst>
              <a:ext uri="{FF2B5EF4-FFF2-40B4-BE49-F238E27FC236}">
                <a16:creationId xmlns:a16="http://schemas.microsoft.com/office/drawing/2014/main" id="{9A0F5669-68B3-4EBB-984A-F1B65A8BDF30}"/>
              </a:ext>
            </a:extLst>
          </p:cNvPr>
          <p:cNvGrpSpPr>
            <a:grpSpLocks/>
          </p:cNvGrpSpPr>
          <p:nvPr/>
        </p:nvGrpSpPr>
        <p:grpSpPr bwMode="auto">
          <a:xfrm>
            <a:off x="5459014" y="3280421"/>
            <a:ext cx="3074986" cy="2678113"/>
            <a:chOff x="3408" y="2040"/>
            <a:chExt cx="1937" cy="1687"/>
          </a:xfrm>
        </p:grpSpPr>
        <p:sp>
          <p:nvSpPr>
            <p:cNvPr id="125" name="Text Box 626">
              <a:extLst>
                <a:ext uri="{FF2B5EF4-FFF2-40B4-BE49-F238E27FC236}">
                  <a16:creationId xmlns:a16="http://schemas.microsoft.com/office/drawing/2014/main" id="{EBC024D7-67DE-48C6-8C17-455503AD77A6}"/>
                </a:ext>
              </a:extLst>
            </p:cNvPr>
            <p:cNvSpPr txBox="1">
              <a:spLocks noChangeArrowheads="1"/>
            </p:cNvSpPr>
            <p:nvPr/>
          </p:nvSpPr>
          <p:spPr bwMode="auto">
            <a:xfrm>
              <a:off x="3408" y="2040"/>
              <a:ext cx="246" cy="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lang="en-US" altLang="zh-CN" sz="2400" b="1" i="1" dirty="0">
                  <a:solidFill>
                    <a:srgbClr val="FF6600"/>
                  </a:solidFill>
                  <a:latin typeface="Times New Roman" panose="02020603050405020304" pitchFamily="18" charset="0"/>
                  <a:cs typeface="Times New Roman" panose="02020603050405020304" pitchFamily="18" charset="0"/>
                </a:rPr>
                <a:t>B</a:t>
              </a:r>
            </a:p>
            <a:p>
              <a:pPr>
                <a:spcBef>
                  <a:spcPct val="20000"/>
                </a:spcBef>
              </a:pPr>
              <a:r>
                <a:rPr lang="en-US" altLang="zh-CN" sz="2400" b="1" i="1" dirty="0">
                  <a:solidFill>
                    <a:srgbClr val="FF6600"/>
                  </a:solidFill>
                  <a:latin typeface="Times New Roman" panose="02020603050405020304" pitchFamily="18" charset="0"/>
                  <a:cs typeface="Times New Roman" panose="02020603050405020304" pitchFamily="18" charset="0"/>
                </a:rPr>
                <a:t>B</a:t>
              </a:r>
            </a:p>
            <a:p>
              <a:pPr>
                <a:spcBef>
                  <a:spcPct val="20000"/>
                </a:spcBef>
              </a:pPr>
              <a:r>
                <a:rPr lang="en-US" altLang="zh-CN" sz="2400" b="1" i="1" dirty="0">
                  <a:solidFill>
                    <a:srgbClr val="FF6600"/>
                  </a:solidFill>
                  <a:latin typeface="Times New Roman" panose="02020603050405020304" pitchFamily="18" charset="0"/>
                  <a:cs typeface="Times New Roman" panose="02020603050405020304" pitchFamily="18" charset="0"/>
                </a:rPr>
                <a:t>B</a:t>
              </a:r>
            </a:p>
            <a:p>
              <a:pPr>
                <a:spcBef>
                  <a:spcPct val="20000"/>
                </a:spcBef>
              </a:pPr>
              <a:r>
                <a:rPr lang="en-US" altLang="zh-CN" sz="2400" b="1" i="1" dirty="0">
                  <a:solidFill>
                    <a:srgbClr val="FF6600"/>
                  </a:solidFill>
                  <a:latin typeface="Times New Roman" panose="02020603050405020304" pitchFamily="18" charset="0"/>
                  <a:cs typeface="Times New Roman" panose="02020603050405020304" pitchFamily="18" charset="0"/>
                </a:rPr>
                <a:t>B</a:t>
              </a:r>
            </a:p>
            <a:p>
              <a:pPr>
                <a:spcBef>
                  <a:spcPct val="20000"/>
                </a:spcBef>
              </a:pPr>
              <a:r>
                <a:rPr lang="en-US" altLang="zh-CN" sz="2400" b="1" i="1" dirty="0">
                  <a:solidFill>
                    <a:srgbClr val="FF6600"/>
                  </a:solidFill>
                  <a:latin typeface="Times New Roman" panose="02020603050405020304" pitchFamily="18" charset="0"/>
                  <a:cs typeface="Times New Roman" panose="02020603050405020304" pitchFamily="18" charset="0"/>
                </a:rPr>
                <a:t>B</a:t>
              </a:r>
            </a:p>
            <a:p>
              <a:pPr>
                <a:spcBef>
                  <a:spcPct val="20000"/>
                </a:spcBef>
              </a:pPr>
              <a:endParaRPr lang="en-US" altLang="zh-CN" sz="2400" b="1" i="1" dirty="0">
                <a:solidFill>
                  <a:srgbClr val="FF6600"/>
                </a:solidFill>
                <a:latin typeface="Times New Roman" panose="02020603050405020304" pitchFamily="18" charset="0"/>
                <a:cs typeface="Times New Roman" panose="02020603050405020304" pitchFamily="18" charset="0"/>
              </a:endParaRPr>
            </a:p>
          </p:txBody>
        </p:sp>
        <p:sp>
          <p:nvSpPr>
            <p:cNvPr id="126" name="Text Box 627">
              <a:extLst>
                <a:ext uri="{FF2B5EF4-FFF2-40B4-BE49-F238E27FC236}">
                  <a16:creationId xmlns:a16="http://schemas.microsoft.com/office/drawing/2014/main" id="{FCD9DFE6-E949-43E9-8CB1-9132960B7541}"/>
                </a:ext>
              </a:extLst>
            </p:cNvPr>
            <p:cNvSpPr txBox="1">
              <a:spLocks noChangeArrowheads="1"/>
            </p:cNvSpPr>
            <p:nvPr/>
          </p:nvSpPr>
          <p:spPr bwMode="auto">
            <a:xfrm>
              <a:off x="5088" y="2064"/>
              <a:ext cx="257" cy="1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lang="en-US" altLang="zh-CN" sz="2400" b="1" i="1" dirty="0">
                  <a:solidFill>
                    <a:srgbClr val="FF6600"/>
                  </a:solidFill>
                  <a:latin typeface="Times New Roman" panose="02020603050405020304" pitchFamily="18" charset="0"/>
                  <a:cs typeface="Times New Roman" panose="02020603050405020304" pitchFamily="18" charset="0"/>
                </a:rPr>
                <a:t>C</a:t>
              </a:r>
            </a:p>
            <a:p>
              <a:pPr>
                <a:spcBef>
                  <a:spcPct val="20000"/>
                </a:spcBef>
              </a:pPr>
              <a:r>
                <a:rPr lang="en-US" altLang="zh-CN" sz="2400" b="1" i="1" dirty="0">
                  <a:solidFill>
                    <a:srgbClr val="FF6600"/>
                  </a:solidFill>
                  <a:latin typeface="Times New Roman" panose="02020603050405020304" pitchFamily="18" charset="0"/>
                  <a:cs typeface="Times New Roman" panose="02020603050405020304" pitchFamily="18" charset="0"/>
                </a:rPr>
                <a:t>D</a:t>
              </a:r>
            </a:p>
            <a:p>
              <a:pPr>
                <a:spcBef>
                  <a:spcPct val="20000"/>
                </a:spcBef>
              </a:pPr>
              <a:r>
                <a:rPr lang="en-US" altLang="zh-CN" sz="2400" b="1" i="1" dirty="0">
                  <a:solidFill>
                    <a:srgbClr val="FF6600"/>
                  </a:solidFill>
                  <a:latin typeface="Times New Roman" panose="02020603050405020304" pitchFamily="18" charset="0"/>
                  <a:cs typeface="Times New Roman" panose="02020603050405020304" pitchFamily="18" charset="0"/>
                </a:rPr>
                <a:t>C</a:t>
              </a:r>
            </a:p>
            <a:p>
              <a:pPr>
                <a:spcBef>
                  <a:spcPct val="20000"/>
                </a:spcBef>
              </a:pPr>
              <a:r>
                <a:rPr lang="en-US" altLang="zh-CN" sz="2400" b="1" i="1" dirty="0">
                  <a:solidFill>
                    <a:srgbClr val="FF6600"/>
                  </a:solidFill>
                  <a:latin typeface="Times New Roman" panose="02020603050405020304" pitchFamily="18" charset="0"/>
                  <a:cs typeface="Times New Roman" panose="02020603050405020304" pitchFamily="18" charset="0"/>
                </a:rPr>
                <a:t>E</a:t>
              </a:r>
            </a:p>
            <a:p>
              <a:pPr>
                <a:spcBef>
                  <a:spcPct val="20000"/>
                </a:spcBef>
              </a:pPr>
              <a:r>
                <a:rPr lang="en-US" altLang="zh-CN" sz="2400" b="1" i="1" dirty="0">
                  <a:solidFill>
                    <a:srgbClr val="FF6600"/>
                  </a:solidFill>
                  <a:latin typeface="Times New Roman" panose="02020603050405020304" pitchFamily="18" charset="0"/>
                  <a:cs typeface="Times New Roman" panose="02020603050405020304" pitchFamily="18" charset="0"/>
                </a:rPr>
                <a:t>C</a:t>
              </a:r>
            </a:p>
          </p:txBody>
        </p:sp>
      </p:grpSp>
      <p:grpSp>
        <p:nvGrpSpPr>
          <p:cNvPr id="127" name="Group 629">
            <a:extLst>
              <a:ext uri="{FF2B5EF4-FFF2-40B4-BE49-F238E27FC236}">
                <a16:creationId xmlns:a16="http://schemas.microsoft.com/office/drawing/2014/main" id="{F6E5EDFB-9D84-4043-8F8C-8B875B57D853}"/>
              </a:ext>
            </a:extLst>
          </p:cNvPr>
          <p:cNvGrpSpPr>
            <a:grpSpLocks/>
          </p:cNvGrpSpPr>
          <p:nvPr/>
        </p:nvGrpSpPr>
        <p:grpSpPr bwMode="auto">
          <a:xfrm>
            <a:off x="1115616" y="3242320"/>
            <a:ext cx="2362200" cy="3124200"/>
            <a:chOff x="-3" y="-3"/>
            <a:chExt cx="1662" cy="3199"/>
          </a:xfrm>
        </p:grpSpPr>
        <p:grpSp>
          <p:nvGrpSpPr>
            <p:cNvPr id="128" name="Group 630">
              <a:extLst>
                <a:ext uri="{FF2B5EF4-FFF2-40B4-BE49-F238E27FC236}">
                  <a16:creationId xmlns:a16="http://schemas.microsoft.com/office/drawing/2014/main" id="{1521310C-A032-4013-9E6E-00D7AF2644EA}"/>
                </a:ext>
              </a:extLst>
            </p:cNvPr>
            <p:cNvGrpSpPr>
              <a:grpSpLocks/>
            </p:cNvGrpSpPr>
            <p:nvPr/>
          </p:nvGrpSpPr>
          <p:grpSpPr bwMode="auto">
            <a:xfrm>
              <a:off x="0" y="0"/>
              <a:ext cx="1656" cy="3193"/>
              <a:chOff x="0" y="0"/>
              <a:chExt cx="1656" cy="3193"/>
            </a:xfrm>
          </p:grpSpPr>
          <p:grpSp>
            <p:nvGrpSpPr>
              <p:cNvPr id="130" name="Group 631">
                <a:extLst>
                  <a:ext uri="{FF2B5EF4-FFF2-40B4-BE49-F238E27FC236}">
                    <a16:creationId xmlns:a16="http://schemas.microsoft.com/office/drawing/2014/main" id="{1ADE83A6-8797-43B5-9EFB-6B1FBDB75FAF}"/>
                  </a:ext>
                </a:extLst>
              </p:cNvPr>
              <p:cNvGrpSpPr>
                <a:grpSpLocks/>
              </p:cNvGrpSpPr>
              <p:nvPr/>
            </p:nvGrpSpPr>
            <p:grpSpPr bwMode="auto">
              <a:xfrm>
                <a:off x="0" y="0"/>
                <a:ext cx="1656" cy="452"/>
                <a:chOff x="0" y="0"/>
                <a:chExt cx="1656" cy="452"/>
              </a:xfrm>
            </p:grpSpPr>
            <p:sp>
              <p:nvSpPr>
                <p:cNvPr id="149" name="Rectangle 632">
                  <a:extLst>
                    <a:ext uri="{FF2B5EF4-FFF2-40B4-BE49-F238E27FC236}">
                      <a16:creationId xmlns:a16="http://schemas.microsoft.com/office/drawing/2014/main" id="{1060231B-9824-424D-ADBB-FD5FA0B65704}"/>
                    </a:ext>
                  </a:extLst>
                </p:cNvPr>
                <p:cNvSpPr>
                  <a:spLocks noChangeArrowheads="1"/>
                </p:cNvSpPr>
                <p:nvPr/>
              </p:nvSpPr>
              <p:spPr bwMode="auto">
                <a:xfrm>
                  <a:off x="43" y="0"/>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50" name="Rectangle 633">
                  <a:extLst>
                    <a:ext uri="{FF2B5EF4-FFF2-40B4-BE49-F238E27FC236}">
                      <a16:creationId xmlns:a16="http://schemas.microsoft.com/office/drawing/2014/main" id="{140CFD4B-B3D4-4BB1-96EC-BBC616971137}"/>
                    </a:ext>
                  </a:extLst>
                </p:cNvPr>
                <p:cNvSpPr>
                  <a:spLocks noChangeArrowheads="1"/>
                </p:cNvSpPr>
                <p:nvPr/>
              </p:nvSpPr>
              <p:spPr bwMode="auto">
                <a:xfrm>
                  <a:off x="0" y="0"/>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31" name="Group 634">
                <a:extLst>
                  <a:ext uri="{FF2B5EF4-FFF2-40B4-BE49-F238E27FC236}">
                    <a16:creationId xmlns:a16="http://schemas.microsoft.com/office/drawing/2014/main" id="{92760470-3691-48A8-BED6-FCCB04E60342}"/>
                  </a:ext>
                </a:extLst>
              </p:cNvPr>
              <p:cNvGrpSpPr>
                <a:grpSpLocks/>
              </p:cNvGrpSpPr>
              <p:nvPr/>
            </p:nvGrpSpPr>
            <p:grpSpPr bwMode="auto">
              <a:xfrm>
                <a:off x="0" y="452"/>
                <a:ext cx="1656" cy="481"/>
                <a:chOff x="0" y="452"/>
                <a:chExt cx="1656" cy="481"/>
              </a:xfrm>
            </p:grpSpPr>
            <p:sp>
              <p:nvSpPr>
                <p:cNvPr id="147" name="Rectangle 635">
                  <a:extLst>
                    <a:ext uri="{FF2B5EF4-FFF2-40B4-BE49-F238E27FC236}">
                      <a16:creationId xmlns:a16="http://schemas.microsoft.com/office/drawing/2014/main" id="{10F519DD-0957-4B99-9FC6-8C7946E63015}"/>
                    </a:ext>
                  </a:extLst>
                </p:cNvPr>
                <p:cNvSpPr>
                  <a:spLocks noChangeArrowheads="1"/>
                </p:cNvSpPr>
                <p:nvPr/>
              </p:nvSpPr>
              <p:spPr bwMode="auto">
                <a:xfrm>
                  <a:off x="43" y="452"/>
                  <a:ext cx="1570" cy="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endParaRPr lang="zh-CN" altLang="zh-CN" sz="1800" b="1"/>
                </a:p>
              </p:txBody>
            </p:sp>
            <p:sp>
              <p:nvSpPr>
                <p:cNvPr id="148" name="Rectangle 636">
                  <a:extLst>
                    <a:ext uri="{FF2B5EF4-FFF2-40B4-BE49-F238E27FC236}">
                      <a16:creationId xmlns:a16="http://schemas.microsoft.com/office/drawing/2014/main" id="{D29A5C10-CCE2-48D2-8140-3E540F62F256}"/>
                    </a:ext>
                  </a:extLst>
                </p:cNvPr>
                <p:cNvSpPr>
                  <a:spLocks noChangeArrowheads="1"/>
                </p:cNvSpPr>
                <p:nvPr/>
              </p:nvSpPr>
              <p:spPr bwMode="auto">
                <a:xfrm>
                  <a:off x="0" y="452"/>
                  <a:ext cx="1656"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32" name="Group 637">
                <a:extLst>
                  <a:ext uri="{FF2B5EF4-FFF2-40B4-BE49-F238E27FC236}">
                    <a16:creationId xmlns:a16="http://schemas.microsoft.com/office/drawing/2014/main" id="{F28731D0-908B-4CFB-9AC6-522C14EE6D60}"/>
                  </a:ext>
                </a:extLst>
              </p:cNvPr>
              <p:cNvGrpSpPr>
                <a:grpSpLocks/>
              </p:cNvGrpSpPr>
              <p:nvPr/>
            </p:nvGrpSpPr>
            <p:grpSpPr bwMode="auto">
              <a:xfrm>
                <a:off x="0" y="933"/>
                <a:ext cx="1656" cy="452"/>
                <a:chOff x="0" y="933"/>
                <a:chExt cx="1656" cy="452"/>
              </a:xfrm>
            </p:grpSpPr>
            <p:sp>
              <p:nvSpPr>
                <p:cNvPr id="145" name="Rectangle 638">
                  <a:extLst>
                    <a:ext uri="{FF2B5EF4-FFF2-40B4-BE49-F238E27FC236}">
                      <a16:creationId xmlns:a16="http://schemas.microsoft.com/office/drawing/2014/main" id="{C747D9B5-4FF2-478E-8637-3E40F65F09AA}"/>
                    </a:ext>
                  </a:extLst>
                </p:cNvPr>
                <p:cNvSpPr>
                  <a:spLocks noChangeArrowheads="1"/>
                </p:cNvSpPr>
                <p:nvPr/>
              </p:nvSpPr>
              <p:spPr bwMode="auto">
                <a:xfrm>
                  <a:off x="43" y="933"/>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46" name="Rectangle 639">
                  <a:extLst>
                    <a:ext uri="{FF2B5EF4-FFF2-40B4-BE49-F238E27FC236}">
                      <a16:creationId xmlns:a16="http://schemas.microsoft.com/office/drawing/2014/main" id="{22334A9D-E54B-499E-954A-520EC5223170}"/>
                    </a:ext>
                  </a:extLst>
                </p:cNvPr>
                <p:cNvSpPr>
                  <a:spLocks noChangeArrowheads="1"/>
                </p:cNvSpPr>
                <p:nvPr/>
              </p:nvSpPr>
              <p:spPr bwMode="auto">
                <a:xfrm>
                  <a:off x="0" y="933"/>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33" name="Group 640">
                <a:extLst>
                  <a:ext uri="{FF2B5EF4-FFF2-40B4-BE49-F238E27FC236}">
                    <a16:creationId xmlns:a16="http://schemas.microsoft.com/office/drawing/2014/main" id="{3A0451F1-B398-4B57-A3C5-538E2BD40DAE}"/>
                  </a:ext>
                </a:extLst>
              </p:cNvPr>
              <p:cNvGrpSpPr>
                <a:grpSpLocks/>
              </p:cNvGrpSpPr>
              <p:nvPr/>
            </p:nvGrpSpPr>
            <p:grpSpPr bwMode="auto">
              <a:xfrm>
                <a:off x="0" y="1385"/>
                <a:ext cx="1656" cy="452"/>
                <a:chOff x="0" y="1385"/>
                <a:chExt cx="1656" cy="452"/>
              </a:xfrm>
            </p:grpSpPr>
            <p:sp>
              <p:nvSpPr>
                <p:cNvPr id="143" name="Rectangle 641">
                  <a:extLst>
                    <a:ext uri="{FF2B5EF4-FFF2-40B4-BE49-F238E27FC236}">
                      <a16:creationId xmlns:a16="http://schemas.microsoft.com/office/drawing/2014/main" id="{12E29303-E917-4E48-98F1-46B4681700EA}"/>
                    </a:ext>
                  </a:extLst>
                </p:cNvPr>
                <p:cNvSpPr>
                  <a:spLocks noChangeArrowheads="1"/>
                </p:cNvSpPr>
                <p:nvPr/>
              </p:nvSpPr>
              <p:spPr bwMode="auto">
                <a:xfrm>
                  <a:off x="43" y="1385"/>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44" name="Rectangle 642">
                  <a:extLst>
                    <a:ext uri="{FF2B5EF4-FFF2-40B4-BE49-F238E27FC236}">
                      <a16:creationId xmlns:a16="http://schemas.microsoft.com/office/drawing/2014/main" id="{1203D568-9DCB-441F-ADCD-54DB5F1679DC}"/>
                    </a:ext>
                  </a:extLst>
                </p:cNvPr>
                <p:cNvSpPr>
                  <a:spLocks noChangeArrowheads="1"/>
                </p:cNvSpPr>
                <p:nvPr/>
              </p:nvSpPr>
              <p:spPr bwMode="auto">
                <a:xfrm>
                  <a:off x="0" y="1385"/>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34" name="Group 643">
                <a:extLst>
                  <a:ext uri="{FF2B5EF4-FFF2-40B4-BE49-F238E27FC236}">
                    <a16:creationId xmlns:a16="http://schemas.microsoft.com/office/drawing/2014/main" id="{90937C4C-1A4D-47BF-9D4D-939358AB18AA}"/>
                  </a:ext>
                </a:extLst>
              </p:cNvPr>
              <p:cNvGrpSpPr>
                <a:grpSpLocks/>
              </p:cNvGrpSpPr>
              <p:nvPr/>
            </p:nvGrpSpPr>
            <p:grpSpPr bwMode="auto">
              <a:xfrm>
                <a:off x="0" y="1837"/>
                <a:ext cx="1656" cy="452"/>
                <a:chOff x="0" y="1837"/>
                <a:chExt cx="1656" cy="452"/>
              </a:xfrm>
            </p:grpSpPr>
            <p:sp>
              <p:nvSpPr>
                <p:cNvPr id="141" name="Rectangle 644">
                  <a:extLst>
                    <a:ext uri="{FF2B5EF4-FFF2-40B4-BE49-F238E27FC236}">
                      <a16:creationId xmlns:a16="http://schemas.microsoft.com/office/drawing/2014/main" id="{9DAC33F1-7B7F-497A-9AAD-D46EF72BB65E}"/>
                    </a:ext>
                  </a:extLst>
                </p:cNvPr>
                <p:cNvSpPr>
                  <a:spLocks noChangeArrowheads="1"/>
                </p:cNvSpPr>
                <p:nvPr/>
              </p:nvSpPr>
              <p:spPr bwMode="auto">
                <a:xfrm>
                  <a:off x="43" y="1837"/>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42" name="Rectangle 645">
                  <a:extLst>
                    <a:ext uri="{FF2B5EF4-FFF2-40B4-BE49-F238E27FC236}">
                      <a16:creationId xmlns:a16="http://schemas.microsoft.com/office/drawing/2014/main" id="{F377EDFD-4084-4740-9EF0-479BC6161D7A}"/>
                    </a:ext>
                  </a:extLst>
                </p:cNvPr>
                <p:cNvSpPr>
                  <a:spLocks noChangeArrowheads="1"/>
                </p:cNvSpPr>
                <p:nvPr/>
              </p:nvSpPr>
              <p:spPr bwMode="auto">
                <a:xfrm>
                  <a:off x="0" y="1837"/>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35" name="Group 646">
                <a:extLst>
                  <a:ext uri="{FF2B5EF4-FFF2-40B4-BE49-F238E27FC236}">
                    <a16:creationId xmlns:a16="http://schemas.microsoft.com/office/drawing/2014/main" id="{C59D8AA3-1473-4D72-9625-90AED9562896}"/>
                  </a:ext>
                </a:extLst>
              </p:cNvPr>
              <p:cNvGrpSpPr>
                <a:grpSpLocks/>
              </p:cNvGrpSpPr>
              <p:nvPr/>
            </p:nvGrpSpPr>
            <p:grpSpPr bwMode="auto">
              <a:xfrm>
                <a:off x="0" y="2289"/>
                <a:ext cx="1656" cy="452"/>
                <a:chOff x="0" y="2289"/>
                <a:chExt cx="1656" cy="452"/>
              </a:xfrm>
            </p:grpSpPr>
            <p:sp>
              <p:nvSpPr>
                <p:cNvPr id="139" name="Rectangle 647">
                  <a:extLst>
                    <a:ext uri="{FF2B5EF4-FFF2-40B4-BE49-F238E27FC236}">
                      <a16:creationId xmlns:a16="http://schemas.microsoft.com/office/drawing/2014/main" id="{EF12371B-DA2C-43D5-9114-B68C2344CB41}"/>
                    </a:ext>
                  </a:extLst>
                </p:cNvPr>
                <p:cNvSpPr>
                  <a:spLocks noChangeArrowheads="1"/>
                </p:cNvSpPr>
                <p:nvPr/>
              </p:nvSpPr>
              <p:spPr bwMode="auto">
                <a:xfrm>
                  <a:off x="43" y="2289"/>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40" name="Rectangle 648">
                  <a:extLst>
                    <a:ext uri="{FF2B5EF4-FFF2-40B4-BE49-F238E27FC236}">
                      <a16:creationId xmlns:a16="http://schemas.microsoft.com/office/drawing/2014/main" id="{E9984EB9-4B72-4545-9717-43202B7CEF41}"/>
                    </a:ext>
                  </a:extLst>
                </p:cNvPr>
                <p:cNvSpPr>
                  <a:spLocks noChangeArrowheads="1"/>
                </p:cNvSpPr>
                <p:nvPr/>
              </p:nvSpPr>
              <p:spPr bwMode="auto">
                <a:xfrm>
                  <a:off x="0" y="2289"/>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36" name="Group 649">
                <a:extLst>
                  <a:ext uri="{FF2B5EF4-FFF2-40B4-BE49-F238E27FC236}">
                    <a16:creationId xmlns:a16="http://schemas.microsoft.com/office/drawing/2014/main" id="{B549CC87-6D1E-4989-9FCA-A6D9FC25325E}"/>
                  </a:ext>
                </a:extLst>
              </p:cNvPr>
              <p:cNvGrpSpPr>
                <a:grpSpLocks/>
              </p:cNvGrpSpPr>
              <p:nvPr/>
            </p:nvGrpSpPr>
            <p:grpSpPr bwMode="auto">
              <a:xfrm>
                <a:off x="0" y="2741"/>
                <a:ext cx="1656" cy="452"/>
                <a:chOff x="0" y="2741"/>
                <a:chExt cx="1656" cy="452"/>
              </a:xfrm>
            </p:grpSpPr>
            <p:sp>
              <p:nvSpPr>
                <p:cNvPr id="137" name="Rectangle 650">
                  <a:extLst>
                    <a:ext uri="{FF2B5EF4-FFF2-40B4-BE49-F238E27FC236}">
                      <a16:creationId xmlns:a16="http://schemas.microsoft.com/office/drawing/2014/main" id="{C1D05C1A-12ED-4C72-A142-071952CD886E}"/>
                    </a:ext>
                  </a:extLst>
                </p:cNvPr>
                <p:cNvSpPr>
                  <a:spLocks noChangeArrowheads="1"/>
                </p:cNvSpPr>
                <p:nvPr/>
              </p:nvSpPr>
              <p:spPr bwMode="auto">
                <a:xfrm>
                  <a:off x="43" y="2741"/>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38" name="Rectangle 651">
                  <a:extLst>
                    <a:ext uri="{FF2B5EF4-FFF2-40B4-BE49-F238E27FC236}">
                      <a16:creationId xmlns:a16="http://schemas.microsoft.com/office/drawing/2014/main" id="{CA6F6343-5297-480E-B6AC-E530CD6CDE0F}"/>
                    </a:ext>
                  </a:extLst>
                </p:cNvPr>
                <p:cNvSpPr>
                  <a:spLocks noChangeArrowheads="1"/>
                </p:cNvSpPr>
                <p:nvPr/>
              </p:nvSpPr>
              <p:spPr bwMode="auto">
                <a:xfrm>
                  <a:off x="0" y="2741"/>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sp>
          <p:nvSpPr>
            <p:cNvPr id="129" name="Rectangle 652">
              <a:extLst>
                <a:ext uri="{FF2B5EF4-FFF2-40B4-BE49-F238E27FC236}">
                  <a16:creationId xmlns:a16="http://schemas.microsoft.com/office/drawing/2014/main" id="{5C128146-C0C3-472F-8025-C4FAA9DE6F29}"/>
                </a:ext>
              </a:extLst>
            </p:cNvPr>
            <p:cNvSpPr>
              <a:spLocks noChangeArrowheads="1"/>
            </p:cNvSpPr>
            <p:nvPr/>
          </p:nvSpPr>
          <p:spPr bwMode="auto">
            <a:xfrm>
              <a:off x="-3" y="-3"/>
              <a:ext cx="1662" cy="3199"/>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aphicFrame>
        <p:nvGraphicFramePr>
          <p:cNvPr id="151" name="Group 665">
            <a:extLst>
              <a:ext uri="{FF2B5EF4-FFF2-40B4-BE49-F238E27FC236}">
                <a16:creationId xmlns:a16="http://schemas.microsoft.com/office/drawing/2014/main" id="{2F6D1DE9-8CB4-4D62-8D80-60A9DBAAD840}"/>
              </a:ext>
            </a:extLst>
          </p:cNvPr>
          <p:cNvGraphicFramePr>
            <a:graphicFrameLocks noGrp="1"/>
          </p:cNvGraphicFramePr>
          <p:nvPr>
            <p:extLst>
              <p:ext uri="{D42A27DB-BD31-4B8C-83A1-F6EECF244321}">
                <p14:modId xmlns:p14="http://schemas.microsoft.com/office/powerpoint/2010/main" val="3459505421"/>
              </p:ext>
            </p:extLst>
          </p:nvPr>
        </p:nvGraphicFramePr>
        <p:xfrm>
          <a:off x="1115616" y="2708920"/>
          <a:ext cx="7010400" cy="518160"/>
        </p:xfrm>
        <a:graphic>
          <a:graphicData uri="http://schemas.openxmlformats.org/drawingml/2006/table">
            <a:tbl>
              <a:tblPr/>
              <a:tblGrid>
                <a:gridCol w="2386012">
                  <a:extLst>
                    <a:ext uri="{9D8B030D-6E8A-4147-A177-3AD203B41FA5}">
                      <a16:colId xmlns:a16="http://schemas.microsoft.com/office/drawing/2014/main" val="1284289873"/>
                    </a:ext>
                  </a:extLst>
                </a:gridCol>
                <a:gridCol w="2287588">
                  <a:extLst>
                    <a:ext uri="{9D8B030D-6E8A-4147-A177-3AD203B41FA5}">
                      <a16:colId xmlns:a16="http://schemas.microsoft.com/office/drawing/2014/main" val="1486635011"/>
                    </a:ext>
                  </a:extLst>
                </a:gridCol>
                <a:gridCol w="2336800">
                  <a:extLst>
                    <a:ext uri="{9D8B030D-6E8A-4147-A177-3AD203B41FA5}">
                      <a16:colId xmlns:a16="http://schemas.microsoft.com/office/drawing/2014/main" val="1428494698"/>
                    </a:ext>
                  </a:extLst>
                </a:gridCol>
              </a:tblGrid>
              <a:tr h="508000">
                <a:tc>
                  <a:txBody>
                    <a:bodyPr/>
                    <a:lstStyle>
                      <a:lvl1pPr algn="l">
                        <a:spcBef>
                          <a:spcPct val="20000"/>
                        </a:spcBef>
                        <a:defRPr sz="2800">
                          <a:solidFill>
                            <a:schemeClr val="tx1"/>
                          </a:solidFill>
                          <a:latin typeface="Arial" panose="020B0604020202020204" pitchFamily="34" charset="0"/>
                          <a:ea typeface="宋体" panose="02010600030101010101" pitchFamily="2" charset="-122"/>
                        </a:defRPr>
                      </a:lvl1pPr>
                      <a:lvl2pPr algn="l">
                        <a:spcBef>
                          <a:spcPct val="20000"/>
                        </a:spcBef>
                        <a:defRPr sz="2400">
                          <a:solidFill>
                            <a:schemeClr val="tx1"/>
                          </a:solidFill>
                          <a:latin typeface="Arial" panose="020B0604020202020204" pitchFamily="34" charset="0"/>
                          <a:ea typeface="宋体" panose="02010600030101010101" pitchFamily="2" charset="-122"/>
                        </a:defRPr>
                      </a:lvl2pPr>
                      <a:lvl3pPr algn="l">
                        <a:spcBef>
                          <a:spcPct val="20000"/>
                        </a:spcBef>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Arial" panose="020B0604020202020204" pitchFamily="34" charset="0"/>
                          <a:ea typeface="宋体" panose="02010600030101010101" pitchFamily="2" charset="-122"/>
                        </a:defRPr>
                      </a:lvl1pPr>
                      <a:lvl2pPr algn="l">
                        <a:spcBef>
                          <a:spcPct val="20000"/>
                        </a:spcBef>
                        <a:defRPr sz="2400">
                          <a:solidFill>
                            <a:schemeClr val="tx1"/>
                          </a:solidFill>
                          <a:latin typeface="Arial" panose="020B0604020202020204" pitchFamily="34" charset="0"/>
                          <a:ea typeface="宋体" panose="02010600030101010101" pitchFamily="2" charset="-122"/>
                        </a:defRPr>
                      </a:lvl2pPr>
                      <a:lvl3pPr algn="l">
                        <a:spcBef>
                          <a:spcPct val="20000"/>
                        </a:spcBef>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T</a:t>
                      </a:r>
                      <a:r>
                        <a:rPr kumimoji="0" lang="en-US" altLang="zh-CN" sz="2800" b="0" i="1" u="none" strike="noStrike" cap="none" normalizeH="0" baseline="-25000" dirty="0">
                          <a:ln>
                            <a:noFill/>
                          </a:ln>
                          <a:solidFill>
                            <a:schemeClr val="tx1"/>
                          </a:solidFill>
                          <a:effectLst/>
                          <a:latin typeface="Arial" panose="020B0604020202020204" pitchFamily="34" charset="0"/>
                          <a:ea typeface="宋体" panose="02010600030101010101"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Arial" panose="020B0604020202020204" pitchFamily="34" charset="0"/>
                          <a:ea typeface="宋体" panose="02010600030101010101" pitchFamily="2" charset="-122"/>
                        </a:defRPr>
                      </a:lvl1pPr>
                      <a:lvl2pPr algn="l">
                        <a:spcBef>
                          <a:spcPct val="20000"/>
                        </a:spcBef>
                        <a:defRPr sz="2400">
                          <a:solidFill>
                            <a:schemeClr val="tx1"/>
                          </a:solidFill>
                          <a:latin typeface="Arial" panose="020B0604020202020204" pitchFamily="34" charset="0"/>
                          <a:ea typeface="宋体" panose="02010600030101010101" pitchFamily="2" charset="-122"/>
                        </a:defRPr>
                      </a:lvl2pPr>
                      <a:lvl3pPr algn="l">
                        <a:spcBef>
                          <a:spcPct val="20000"/>
                        </a:spcBef>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T</a:t>
                      </a:r>
                      <a:r>
                        <a:rPr kumimoji="0" lang="en-US" altLang="zh-CN" sz="2800" b="0" i="1" u="none" strike="noStrike" cap="none" normalizeH="0" baseline="-25000" dirty="0">
                          <a:ln>
                            <a:noFill/>
                          </a:ln>
                          <a:solidFill>
                            <a:schemeClr val="tx1"/>
                          </a:solidFill>
                          <a:effectLst/>
                          <a:latin typeface="Arial" panose="020B0604020202020204" pitchFamily="34"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02914467"/>
                  </a:ext>
                </a:extLst>
              </a:tr>
            </a:tbl>
          </a:graphicData>
        </a:graphic>
      </p:graphicFrame>
    </p:spTree>
    <p:extLst>
      <p:ext uri="{BB962C8B-B14F-4D97-AF65-F5344CB8AC3E}">
        <p14:creationId xmlns:p14="http://schemas.microsoft.com/office/powerpoint/2010/main" val="289207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4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5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0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16" grpId="0" autoUpdateAnimBg="0"/>
      <p:bldP spid="30" grpId="0" autoUpdateAnimBg="0"/>
      <p:bldP spid="44" grpId="0" autoUpdateAnimBg="0"/>
      <p:bldP spid="58"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dirty="0">
                <a:latin typeface="Palatino Linotype" panose="02040502050505030304" charset="0"/>
              </a:rPr>
              <a:t>Transition Table of the DFA</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solidFill>
                  <a:srgbClr val="FF0000"/>
                </a:solidFill>
                <a:latin typeface="Palatino Linotype" panose="02040502050505030304" charset="0"/>
                <a:ea typeface="Palatino Linotype" panose="02040502050505030304"/>
                <a:cs typeface="Palatino Linotype" panose="02040502050505030304"/>
                <a:sym typeface="+mn-ea"/>
              </a:rPr>
              <a:t>Start state</a:t>
            </a:r>
            <a:r>
              <a:rPr sz="2200" dirty="0">
                <a:latin typeface="Palatino Linotype" panose="02040502050505030304" charset="0"/>
                <a:ea typeface="Palatino Linotype" panose="02040502050505030304"/>
                <a:cs typeface="Palatino Linotype" panose="02040502050505030304"/>
                <a:sym typeface="+mn-ea"/>
              </a:rPr>
              <a:t>: A; </a:t>
            </a:r>
            <a:r>
              <a:rPr sz="2200" dirty="0">
                <a:solidFill>
                  <a:srgbClr val="FF0000"/>
                </a:solidFill>
                <a:latin typeface="Palatino Linotype" panose="02040502050505030304" charset="0"/>
                <a:ea typeface="Palatino Linotype" panose="02040502050505030304"/>
                <a:cs typeface="Palatino Linotype" panose="02040502050505030304"/>
                <a:sym typeface="+mn-ea"/>
              </a:rPr>
              <a:t>Accepting states</a:t>
            </a:r>
            <a:r>
              <a:rPr sz="2200" dirty="0">
                <a:latin typeface="Palatino Linotype" panose="02040502050505030304" charset="0"/>
                <a:ea typeface="Palatino Linotype" panose="02040502050505030304"/>
                <a:cs typeface="Palatino Linotype" panose="02040502050505030304"/>
                <a:sym typeface="+mn-ea"/>
              </a:rPr>
              <a:t>: {E}</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68</a:t>
            </a:fld>
            <a:endParaRPr/>
          </a:p>
        </p:txBody>
      </p:sp>
      <p:pic>
        <p:nvPicPr>
          <p:cNvPr id="5" name="图片 4"/>
          <p:cNvPicPr>
            <a:picLocks noChangeAspect="1"/>
          </p:cNvPicPr>
          <p:nvPr>
            <p:custDataLst>
              <p:tags r:id="rId1"/>
            </p:custDataLst>
          </p:nvPr>
        </p:nvPicPr>
        <p:blipFill>
          <a:blip r:embed="rId3"/>
          <a:stretch>
            <a:fillRect/>
          </a:stretch>
        </p:blipFill>
        <p:spPr>
          <a:xfrm>
            <a:off x="1745615" y="2564765"/>
            <a:ext cx="5652770" cy="2313305"/>
          </a:xfrm>
          <a:prstGeom prst="rect">
            <a:avLst/>
          </a:prstGeom>
        </p:spPr>
      </p:pic>
      <p:sp>
        <p:nvSpPr>
          <p:cNvPr id="6" name="文本框 5"/>
          <p:cNvSpPr txBox="1"/>
          <p:nvPr/>
        </p:nvSpPr>
        <p:spPr>
          <a:xfrm>
            <a:off x="2051685" y="5156835"/>
            <a:ext cx="4572000" cy="583565"/>
          </a:xfrm>
          <a:prstGeom prst="rect">
            <a:avLst/>
          </a:prstGeom>
          <a:noFill/>
        </p:spPr>
        <p:txBody>
          <a:bodyPr wrap="square" rtlCol="0" anchor="t">
            <a:spAutoFit/>
          </a:bodyPr>
          <a:lstStyle/>
          <a:p>
            <a:r>
              <a:rPr lang="zh-CN" altLang="en-US" sz="1600" dirty="0">
                <a:solidFill>
                  <a:schemeClr val="bg2">
                    <a:lumMod val="50000"/>
                  </a:schemeClr>
                </a:solidFill>
              </a:rPr>
              <a:t>This DFA can be further minimized: A and C have the same moves on all symbols and can be merged.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5CEDE9B-A2A8-45A7-933E-A50BE57EBFB7}"/>
              </a:ext>
            </a:extLst>
          </p:cNvPr>
          <p:cNvPicPr>
            <a:picLocks noChangeAspect="1"/>
          </p:cNvPicPr>
          <p:nvPr/>
        </p:nvPicPr>
        <p:blipFill>
          <a:blip r:embed="rId3"/>
          <a:stretch>
            <a:fillRect/>
          </a:stretch>
        </p:blipFill>
        <p:spPr>
          <a:xfrm>
            <a:off x="1475656" y="2132856"/>
            <a:ext cx="5466709" cy="3376497"/>
          </a:xfrm>
          <a:prstGeom prst="rect">
            <a:avLst/>
          </a:prstGeom>
        </p:spPr>
      </p:pic>
      <p:sp>
        <p:nvSpPr>
          <p:cNvPr id="3" name="标题 2">
            <a:extLst>
              <a:ext uri="{FF2B5EF4-FFF2-40B4-BE49-F238E27FC236}">
                <a16:creationId xmlns:a16="http://schemas.microsoft.com/office/drawing/2014/main" id="{8D3BB8E8-B80D-43A3-AF1C-B34D8DAFE261}"/>
              </a:ext>
            </a:extLst>
          </p:cNvPr>
          <p:cNvSpPr txBox="1">
            <a:spLocks/>
          </p:cNvSpPr>
          <p:nvPr/>
        </p:nvSpPr>
        <p:spPr bwMode="auto">
          <a:xfrm>
            <a:off x="628650" y="685865"/>
            <a:ext cx="7886700" cy="1325563"/>
          </a:xfrm>
          <a:prstGeom prst="rect">
            <a:avLst/>
          </a:prstGeom>
        </p:spPr>
        <p:txBody>
          <a:bodyPr>
            <a:normAutofit/>
          </a:bodyPr>
          <a:lstStyle>
            <a:lvl1pPr algn="l" defTabSz="914400">
              <a:lnSpc>
                <a:spcPct val="90000"/>
              </a:lnSpc>
              <a:spcBef>
                <a:spcPts val="0"/>
              </a:spcBef>
              <a:buNone/>
              <a:defRPr sz="4400">
                <a:solidFill>
                  <a:schemeClr val="tx1"/>
                </a:solidFill>
                <a:latin typeface="Ubuntu Mono derivative Powerlin"/>
                <a:ea typeface="+mj-ea"/>
                <a:cs typeface="+mj-cs"/>
              </a:defRPr>
            </a:lvl1pPr>
          </a:lstStyle>
          <a:p>
            <a:r>
              <a:rPr lang="zh-CN" altLang="en-US" sz="3600" dirty="0">
                <a:latin typeface="Palatino Linotype" panose="02040502050505030304" charset="0"/>
              </a:rPr>
              <a:t>Transition </a:t>
            </a:r>
            <a:r>
              <a:rPr lang="en-US" altLang="zh-CN" sz="3600" dirty="0">
                <a:latin typeface="Palatino Linotype" panose="02040502050505030304" charset="0"/>
              </a:rPr>
              <a:t>Graph</a:t>
            </a:r>
            <a:r>
              <a:rPr lang="zh-CN" altLang="en-US" sz="3600" dirty="0">
                <a:latin typeface="Palatino Linotype" panose="02040502050505030304" charset="0"/>
              </a:rPr>
              <a:t> of the DFA</a:t>
            </a:r>
          </a:p>
        </p:txBody>
      </p:sp>
    </p:spTree>
    <p:extLst>
      <p:ext uri="{BB962C8B-B14F-4D97-AF65-F5344CB8AC3E}">
        <p14:creationId xmlns:p14="http://schemas.microsoft.com/office/powerpoint/2010/main" val="30287256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Regular Expression to NFA</a:t>
            </a:r>
          </a:p>
        </p:txBody>
      </p:sp>
      <p:sp>
        <p:nvSpPr>
          <p:cNvPr id="4" name="内容占位符 3"/>
          <p:cNvSpPr>
            <a:spLocks noGrp="1"/>
          </p:cNvSpPr>
          <p:nvPr>
            <p:ph idx="1"/>
          </p:nvPr>
        </p:nvSpPr>
        <p:spPr/>
        <p:txBody>
          <a:bodyPr>
            <a:noAutofit/>
          </a:bodyPr>
          <a:lstStyle/>
          <a:p>
            <a:pPr marL="17145" algn="l" rtl="0" eaLnBrk="0" fontAlgn="auto">
              <a:lnSpc>
                <a:spcPct val="150000"/>
              </a:lnSpc>
              <a:spcBef>
                <a:spcPts val="0"/>
              </a:spcBef>
            </a:pPr>
            <a:r>
              <a:rPr sz="2200" b="1" dirty="0">
                <a:solidFill>
                  <a:srgbClr val="0331FF"/>
                </a:solidFill>
                <a:latin typeface="Palatino Linotype" panose="02040502050505030304" charset="0"/>
                <a:ea typeface="Palatino Linotype" panose="02040502050505030304"/>
                <a:cs typeface="Palatino Linotype" panose="02040502050505030304"/>
                <a:sym typeface="+mn-ea"/>
              </a:rPr>
              <a:t>Thompson’s construction algorithm</a:t>
            </a:r>
            <a:r>
              <a:rPr sz="2200" dirty="0">
                <a:latin typeface="Palatino Linotype" panose="02040502050505030304" charset="0"/>
                <a:ea typeface="Palatino Linotype" panose="02040502050505030304"/>
                <a:cs typeface="Palatino Linotype" panose="02040502050505030304"/>
                <a:sym typeface="+mn-ea"/>
              </a:rPr>
              <a:t> </a:t>
            </a:r>
            <a:r>
              <a:rPr sz="2200" b="1" dirty="0">
                <a:latin typeface="Palatino Linotype" panose="02040502050505030304" charset="0"/>
                <a:ea typeface="Palatino Linotype" panose="02040502050505030304"/>
                <a:cs typeface="Palatino Linotype" panose="02040502050505030304"/>
                <a:sym typeface="+mn-ea"/>
              </a:rPr>
              <a:t>(Thompson构造法)</a:t>
            </a:r>
            <a:endParaRPr sz="2200" dirty="0">
              <a:latin typeface="Palatino Linotype" panose="02040502050505030304" charset="0"/>
              <a:ea typeface="Palatino Linotype" panose="02040502050505030304"/>
              <a:cs typeface="Palatino Linotype" panose="02040502050505030304"/>
              <a:sym typeface="+mn-ea"/>
            </a:endParaRPr>
          </a:p>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The algorithm works </a:t>
            </a:r>
            <a:r>
              <a:rPr sz="2200" dirty="0">
                <a:solidFill>
                  <a:srgbClr val="FF0000"/>
                </a:solidFill>
                <a:latin typeface="Palatino Linotype" panose="02040502050505030304" charset="0"/>
                <a:ea typeface="Palatino Linotype" panose="02040502050505030304"/>
                <a:cs typeface="Palatino Linotype" panose="02040502050505030304"/>
                <a:sym typeface="+mn-ea"/>
              </a:rPr>
              <a:t>recursively</a:t>
            </a:r>
            <a:r>
              <a:rPr sz="2200" dirty="0">
                <a:latin typeface="Palatino Linotype" panose="02040502050505030304" charset="0"/>
                <a:ea typeface="Palatino Linotype" panose="02040502050505030304"/>
                <a:cs typeface="Palatino Linotype" panose="02040502050505030304"/>
                <a:sym typeface="+mn-ea"/>
              </a:rPr>
              <a:t> by splitting an expression into its constituent subexpressions, from which the NFA will be constructed using a set of rules</a:t>
            </a:r>
          </a:p>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The rules for constructing an NFA:</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b="1" dirty="0">
                <a:solidFill>
                  <a:srgbClr val="FF0000"/>
                </a:solidFill>
                <a:latin typeface="Palatino Linotype" panose="02040502050505030304" charset="0"/>
                <a:ea typeface="Palatino Linotype" panose="02040502050505030304"/>
                <a:cs typeface="Palatino Linotype" panose="02040502050505030304"/>
                <a:sym typeface="+mn-ea"/>
              </a:rPr>
              <a:t>Two basis rules (基本规则)</a:t>
            </a:r>
            <a:r>
              <a:rPr sz="2000" dirty="0">
                <a:latin typeface="Palatino Linotype" panose="02040502050505030304" charset="0"/>
                <a:ea typeface="Palatino Linotype" panose="02040502050505030304"/>
                <a:cs typeface="Palatino Linotype" panose="02040502050505030304"/>
                <a:sym typeface="+mn-ea"/>
              </a:rPr>
              <a:t>: handle subexpressions with no operators</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b="1" dirty="0">
                <a:solidFill>
                  <a:srgbClr val="FF0000"/>
                </a:solidFill>
                <a:latin typeface="Palatino Linotype" panose="02040502050505030304" charset="0"/>
                <a:ea typeface="Palatino Linotype" panose="02040502050505030304"/>
                <a:cs typeface="Palatino Linotype" panose="02040502050505030304"/>
                <a:sym typeface="+mn-ea"/>
              </a:rPr>
              <a:t>Three inductive rules (归纳规则)</a:t>
            </a:r>
            <a:r>
              <a:rPr sz="2000" dirty="0">
                <a:latin typeface="Palatino Linotype" panose="02040502050505030304" charset="0"/>
                <a:ea typeface="Palatino Linotype" panose="02040502050505030304"/>
                <a:cs typeface="Palatino Linotype" panose="02040502050505030304"/>
                <a:sym typeface="+mn-ea"/>
              </a:rPr>
              <a:t>: construct larger NFA‘s from the NFA’s for subexpressions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Thompson’s Construction Algorithm</a:t>
            </a:r>
          </a:p>
        </p:txBody>
      </p:sp>
      <p:sp>
        <p:nvSpPr>
          <p:cNvPr id="4" name="内容占位符 3"/>
          <p:cNvSpPr>
            <a:spLocks noGrp="1"/>
          </p:cNvSpPr>
          <p:nvPr>
            <p:ph idx="1"/>
          </p:nvPr>
        </p:nvSpPr>
        <p:spPr>
          <a:xfrm>
            <a:off x="628650" y="1825625"/>
            <a:ext cx="8000365" cy="4351655"/>
          </a:xfrm>
        </p:spPr>
        <p:txBody>
          <a:bodyPr>
            <a:normAutofit/>
          </a:bodyPr>
          <a:lstStyle/>
          <a:p>
            <a:pPr marL="0" indent="0" algn="l" rtl="0" eaLnBrk="0" fontAlgn="auto">
              <a:lnSpc>
                <a:spcPct val="150000"/>
              </a:lnSpc>
              <a:spcBef>
                <a:spcPts val="0"/>
              </a:spcBef>
              <a:buNone/>
            </a:pPr>
            <a:r>
              <a:rPr sz="2200" b="1" dirty="0">
                <a:solidFill>
                  <a:srgbClr val="FF0000"/>
                </a:solidFill>
                <a:latin typeface="Palatino Linotype" panose="02040502050505030304" charset="0"/>
                <a:ea typeface="Palatino Linotype" panose="02040502050505030304"/>
                <a:cs typeface="Palatino Linotype" panose="02040502050505030304"/>
                <a:sym typeface="+mn-ea"/>
              </a:rPr>
              <a:t>Two basis rules:</a:t>
            </a:r>
            <a:endParaRPr sz="2200" b="1"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1. The </a:t>
            </a:r>
            <a:r>
              <a:rPr sz="2000" dirty="0">
                <a:solidFill>
                  <a:srgbClr val="FF0000"/>
                </a:solidFill>
                <a:latin typeface="Palatino Linotype" panose="02040502050505030304" charset="0"/>
                <a:ea typeface="Palatino Linotype" panose="02040502050505030304"/>
                <a:cs typeface="Palatino Linotype" panose="02040502050505030304"/>
                <a:sym typeface="+mn-ea"/>
              </a:rPr>
              <a:t>empty expression</a:t>
            </a:r>
            <a:r>
              <a:rPr sz="2000" dirty="0">
                <a:latin typeface="Palatino Linotype" panose="02040502050505030304" charset="0"/>
                <a:ea typeface="Palatino Linotype" panose="02040502050505030304"/>
                <a:cs typeface="Palatino Linotype" panose="02040502050505030304"/>
                <a:sym typeface="+mn-ea"/>
              </a:rPr>
              <a:t> 𝜖 is converted to</a:t>
            </a:r>
          </a:p>
          <a:p>
            <a:pPr marL="0" indent="0" algn="l" rtl="0" eaLnBrk="0" fontAlgn="auto">
              <a:lnSpc>
                <a:spcPct val="150000"/>
              </a:lnSpc>
              <a:spcBef>
                <a:spcPts val="0"/>
              </a:spcBef>
              <a:buNone/>
            </a:pPr>
            <a:endParaRPr sz="2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2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2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2. Any subexpression a (a </a:t>
            </a:r>
            <a:r>
              <a:rPr sz="2000" dirty="0">
                <a:solidFill>
                  <a:srgbClr val="FF0000"/>
                </a:solidFill>
                <a:latin typeface="Palatino Linotype" panose="02040502050505030304" charset="0"/>
                <a:ea typeface="Palatino Linotype" panose="02040502050505030304"/>
                <a:cs typeface="Palatino Linotype" panose="02040502050505030304"/>
                <a:sym typeface="+mn-ea"/>
              </a:rPr>
              <a:t>single symbol</a:t>
            </a:r>
            <a:r>
              <a:rPr sz="2000" dirty="0">
                <a:latin typeface="Palatino Linotype" panose="02040502050505030304" charset="0"/>
                <a:ea typeface="Palatino Linotype" panose="02040502050505030304"/>
                <a:cs typeface="Palatino Linotype" panose="02040502050505030304"/>
                <a:sym typeface="+mn-ea"/>
              </a:rPr>
              <a:t> in input alphabet) is converted to</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71</a:t>
            </a:fld>
            <a:endParaRPr/>
          </a:p>
        </p:txBody>
      </p:sp>
      <p:pic>
        <p:nvPicPr>
          <p:cNvPr id="5" name="图片 4"/>
          <p:cNvPicPr>
            <a:picLocks noChangeAspect="1"/>
          </p:cNvPicPr>
          <p:nvPr>
            <p:custDataLst>
              <p:tags r:id="rId1"/>
            </p:custDataLst>
          </p:nvPr>
        </p:nvPicPr>
        <p:blipFill>
          <a:blip r:embed="rId5"/>
          <a:stretch>
            <a:fillRect/>
          </a:stretch>
        </p:blipFill>
        <p:spPr>
          <a:xfrm>
            <a:off x="2339340" y="2924810"/>
            <a:ext cx="4584700" cy="1117600"/>
          </a:xfrm>
          <a:prstGeom prst="rect">
            <a:avLst/>
          </a:prstGeom>
        </p:spPr>
      </p:pic>
      <p:pic>
        <p:nvPicPr>
          <p:cNvPr id="6" name="图片 5"/>
          <p:cNvPicPr>
            <a:picLocks noChangeAspect="1"/>
          </p:cNvPicPr>
          <p:nvPr>
            <p:custDataLst>
              <p:tags r:id="rId2"/>
            </p:custDataLst>
          </p:nvPr>
        </p:nvPicPr>
        <p:blipFill>
          <a:blip r:embed="rId6"/>
          <a:stretch>
            <a:fillRect/>
          </a:stretch>
        </p:blipFill>
        <p:spPr>
          <a:xfrm>
            <a:off x="2483485" y="4869180"/>
            <a:ext cx="4622800" cy="11557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Thompson’s Construction Algorithm</a:t>
            </a:r>
          </a:p>
        </p:txBody>
      </p:sp>
      <p:sp>
        <p:nvSpPr>
          <p:cNvPr id="4" name="内容占位符 3"/>
          <p:cNvSpPr>
            <a:spLocks noGrp="1"/>
          </p:cNvSpPr>
          <p:nvPr>
            <p:ph idx="1"/>
          </p:nvPr>
        </p:nvSpPr>
        <p:spPr/>
        <p:txBody>
          <a:bodyPr>
            <a:normAutofit/>
          </a:bodyPr>
          <a:lstStyle/>
          <a:p>
            <a:pPr marL="0" indent="0" algn="l" rtl="0" eaLnBrk="0" fontAlgn="auto">
              <a:lnSpc>
                <a:spcPct val="150000"/>
              </a:lnSpc>
              <a:spcBef>
                <a:spcPts val="0"/>
              </a:spcBef>
              <a:buNone/>
            </a:pPr>
            <a:r>
              <a:rPr sz="2200" b="1" dirty="0">
                <a:solidFill>
                  <a:srgbClr val="FF0000"/>
                </a:solidFill>
                <a:latin typeface="Palatino Linotype" panose="02040502050505030304" charset="0"/>
                <a:ea typeface="Palatino Linotype" panose="02040502050505030304"/>
                <a:cs typeface="Palatino Linotype" panose="02040502050505030304"/>
                <a:sym typeface="+mn-ea"/>
              </a:rPr>
              <a:t>The inductive rules:</a:t>
            </a:r>
            <a:r>
              <a:rPr sz="2200" b="1" dirty="0">
                <a:latin typeface="Palatino Linotype" panose="02040502050505030304" charset="0"/>
                <a:ea typeface="Palatino Linotype" panose="02040502050505030304"/>
                <a:cs typeface="Palatino Linotype" panose="02040502050505030304"/>
                <a:sym typeface="+mn-ea"/>
              </a:rPr>
              <a:t> </a:t>
            </a:r>
            <a:r>
              <a:rPr sz="2200" b="1" dirty="0">
                <a:solidFill>
                  <a:srgbClr val="0331FF"/>
                </a:solidFill>
                <a:latin typeface="Palatino Linotype" panose="02040502050505030304" charset="0"/>
                <a:ea typeface="Palatino Linotype" panose="02040502050505030304"/>
                <a:cs typeface="Palatino Linotype" panose="02040502050505030304"/>
                <a:sym typeface="+mn-ea"/>
              </a:rPr>
              <a:t>the union case</a:t>
            </a:r>
            <a:endParaRPr sz="2200" b="1"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r>
              <a:rPr sz="2200" dirty="0">
                <a:latin typeface="Palatino Linotype" panose="02040502050505030304" charset="0"/>
                <a:ea typeface="Palatino Linotype" panose="02040502050505030304"/>
                <a:cs typeface="Palatino Linotype" panose="02040502050505030304"/>
                <a:sym typeface="+mn-ea"/>
              </a:rPr>
              <a:t>• </a:t>
            </a:r>
            <a:r>
              <a:rPr sz="2200" dirty="0">
                <a:solidFill>
                  <a:srgbClr val="FF0000"/>
                </a:solidFill>
                <a:latin typeface="Palatino Linotype" panose="02040502050505030304" charset="0"/>
                <a:ea typeface="Palatino Linotype" panose="02040502050505030304"/>
                <a:cs typeface="Palatino Linotype" panose="02040502050505030304"/>
                <a:sym typeface="+mn-ea"/>
              </a:rPr>
              <a:t>s | t</a:t>
            </a:r>
            <a:r>
              <a:rPr sz="2200" dirty="0">
                <a:latin typeface="Palatino Linotype" panose="02040502050505030304" charset="0"/>
                <a:ea typeface="Palatino Linotype" panose="02040502050505030304"/>
                <a:cs typeface="Palatino Linotype" panose="02040502050505030304"/>
                <a:sym typeface="+mn-ea"/>
              </a:rPr>
              <a:t> : N(s) and N(t) are NFA’s for subexpressions s and t</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72</a:t>
            </a:fld>
            <a:endParaRPr/>
          </a:p>
        </p:txBody>
      </p:sp>
      <p:pic>
        <p:nvPicPr>
          <p:cNvPr id="5" name="图片 4"/>
          <p:cNvPicPr>
            <a:picLocks noChangeAspect="1"/>
          </p:cNvPicPr>
          <p:nvPr>
            <p:custDataLst>
              <p:tags r:id="rId1"/>
            </p:custDataLst>
          </p:nvPr>
        </p:nvPicPr>
        <p:blipFill>
          <a:blip r:embed="rId4"/>
          <a:stretch>
            <a:fillRect/>
          </a:stretch>
        </p:blipFill>
        <p:spPr>
          <a:xfrm>
            <a:off x="1259840" y="2996565"/>
            <a:ext cx="6045200" cy="24765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Thompson’s Construction Algorithm</a:t>
            </a:r>
          </a:p>
        </p:txBody>
      </p:sp>
      <p:sp>
        <p:nvSpPr>
          <p:cNvPr id="4" name="内容占位符 3"/>
          <p:cNvSpPr>
            <a:spLocks noGrp="1"/>
          </p:cNvSpPr>
          <p:nvPr>
            <p:ph idx="1"/>
          </p:nvPr>
        </p:nvSpPr>
        <p:spPr/>
        <p:txBody>
          <a:bodyPr>
            <a:normAutofit/>
          </a:bodyPr>
          <a:lstStyle/>
          <a:p>
            <a:pPr marL="0" indent="0" algn="l" rtl="0" eaLnBrk="0" fontAlgn="auto">
              <a:lnSpc>
                <a:spcPct val="150000"/>
              </a:lnSpc>
              <a:spcBef>
                <a:spcPts val="0"/>
              </a:spcBef>
              <a:buNone/>
            </a:pPr>
            <a:r>
              <a:rPr sz="2200" b="1" dirty="0">
                <a:solidFill>
                  <a:srgbClr val="FF0000"/>
                </a:solidFill>
                <a:latin typeface="Palatino Linotype" panose="02040502050505030304" charset="0"/>
                <a:ea typeface="Palatino Linotype" panose="02040502050505030304"/>
                <a:cs typeface="Palatino Linotype" panose="02040502050505030304"/>
                <a:sym typeface="+mn-ea"/>
              </a:rPr>
              <a:t>The inductive rules:</a:t>
            </a:r>
            <a:r>
              <a:rPr sz="2200" b="1" dirty="0">
                <a:latin typeface="Palatino Linotype" panose="02040502050505030304" charset="0"/>
                <a:ea typeface="Palatino Linotype" panose="02040502050505030304"/>
                <a:cs typeface="Palatino Linotype" panose="02040502050505030304"/>
                <a:sym typeface="+mn-ea"/>
              </a:rPr>
              <a:t> </a:t>
            </a:r>
            <a:r>
              <a:rPr sz="2200" b="1" dirty="0">
                <a:solidFill>
                  <a:srgbClr val="0331FF"/>
                </a:solidFill>
                <a:latin typeface="Palatino Linotype" panose="02040502050505030304" charset="0"/>
                <a:ea typeface="Palatino Linotype" panose="02040502050505030304"/>
                <a:cs typeface="Palatino Linotype" panose="02040502050505030304"/>
                <a:sym typeface="+mn-ea"/>
              </a:rPr>
              <a:t>the concatenation case</a:t>
            </a:r>
          </a:p>
          <a:p>
            <a:pPr marL="0" indent="0" algn="l" rtl="0" eaLnBrk="0" fontAlgn="auto">
              <a:lnSpc>
                <a:spcPct val="150000"/>
              </a:lnSpc>
              <a:spcBef>
                <a:spcPts val="0"/>
              </a:spcBef>
              <a:buNone/>
            </a:pPr>
            <a:r>
              <a:rPr sz="2200" dirty="0">
                <a:latin typeface="Palatino Linotype" panose="02040502050505030304" charset="0"/>
                <a:ea typeface="Palatino Linotype" panose="02040502050505030304"/>
                <a:cs typeface="Palatino Linotype" panose="02040502050505030304"/>
                <a:sym typeface="+mn-ea"/>
              </a:rPr>
              <a:t>• </a:t>
            </a:r>
            <a:r>
              <a:rPr sz="2200" dirty="0">
                <a:solidFill>
                  <a:srgbClr val="FF0000"/>
                </a:solidFill>
                <a:latin typeface="Palatino Linotype" panose="02040502050505030304" charset="0"/>
                <a:ea typeface="Palatino Linotype" panose="02040502050505030304"/>
                <a:cs typeface="Palatino Linotype" panose="02040502050505030304"/>
                <a:sym typeface="+mn-ea"/>
              </a:rPr>
              <a:t>st</a:t>
            </a:r>
            <a:r>
              <a:rPr lang="en-US" sz="2200" dirty="0">
                <a:solidFill>
                  <a:srgbClr val="FF0000"/>
                </a:solidFill>
                <a:latin typeface="Palatino Linotype" panose="02040502050505030304" charset="0"/>
                <a:ea typeface="Palatino Linotype" panose="02040502050505030304"/>
                <a:cs typeface="Palatino Linotype" panose="02040502050505030304"/>
                <a:sym typeface="+mn-ea"/>
              </a:rPr>
              <a:t> </a:t>
            </a:r>
            <a:r>
              <a:rPr sz="2200" dirty="0">
                <a:latin typeface="Palatino Linotype" panose="02040502050505030304" charset="0"/>
                <a:ea typeface="Palatino Linotype" panose="02040502050505030304"/>
                <a:cs typeface="Palatino Linotype" panose="02040502050505030304"/>
                <a:sym typeface="+mn-ea"/>
              </a:rPr>
              <a:t>:N(s) and N(t) are NFA’s for subexpressions s and t</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73</a:t>
            </a:fld>
            <a:endParaRPr/>
          </a:p>
        </p:txBody>
      </p:sp>
      <p:pic>
        <p:nvPicPr>
          <p:cNvPr id="2" name="图片 1"/>
          <p:cNvPicPr>
            <a:picLocks noChangeAspect="1"/>
          </p:cNvPicPr>
          <p:nvPr>
            <p:custDataLst>
              <p:tags r:id="rId1"/>
            </p:custDataLst>
          </p:nvPr>
        </p:nvPicPr>
        <p:blipFill>
          <a:blip r:embed="rId4"/>
          <a:stretch>
            <a:fillRect/>
          </a:stretch>
        </p:blipFill>
        <p:spPr>
          <a:xfrm>
            <a:off x="1691640" y="3068955"/>
            <a:ext cx="5734050" cy="230505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Thompson’s Construction Algorithm</a:t>
            </a:r>
          </a:p>
        </p:txBody>
      </p:sp>
      <p:sp>
        <p:nvSpPr>
          <p:cNvPr id="4" name="内容占位符 3"/>
          <p:cNvSpPr>
            <a:spLocks noGrp="1"/>
          </p:cNvSpPr>
          <p:nvPr>
            <p:ph idx="1"/>
          </p:nvPr>
        </p:nvSpPr>
        <p:spPr/>
        <p:txBody>
          <a:bodyPr>
            <a:normAutofit/>
          </a:bodyPr>
          <a:lstStyle/>
          <a:p>
            <a:pPr marL="0" indent="0" algn="l" rtl="0" eaLnBrk="0" fontAlgn="auto">
              <a:lnSpc>
                <a:spcPct val="150000"/>
              </a:lnSpc>
              <a:spcBef>
                <a:spcPts val="0"/>
              </a:spcBef>
              <a:buNone/>
            </a:pPr>
            <a:r>
              <a:rPr sz="2200" b="1" dirty="0">
                <a:solidFill>
                  <a:srgbClr val="FF0000"/>
                </a:solidFill>
                <a:latin typeface="Palatino Linotype" panose="02040502050505030304" charset="0"/>
                <a:ea typeface="Palatino Linotype" panose="02040502050505030304"/>
                <a:cs typeface="Palatino Linotype" panose="02040502050505030304"/>
                <a:sym typeface="+mn-ea"/>
              </a:rPr>
              <a:t>The inductive rules:</a:t>
            </a:r>
            <a:r>
              <a:rPr sz="2200" b="1" dirty="0">
                <a:latin typeface="Palatino Linotype" panose="02040502050505030304" charset="0"/>
                <a:ea typeface="Palatino Linotype" panose="02040502050505030304"/>
                <a:cs typeface="Palatino Linotype" panose="02040502050505030304"/>
                <a:sym typeface="+mn-ea"/>
              </a:rPr>
              <a:t> </a:t>
            </a:r>
            <a:r>
              <a:rPr sz="2200" b="1" dirty="0">
                <a:solidFill>
                  <a:srgbClr val="0331FF"/>
                </a:solidFill>
                <a:latin typeface="Palatino Linotype" panose="02040502050505030304" charset="0"/>
                <a:ea typeface="Palatino Linotype" panose="02040502050505030304"/>
                <a:cs typeface="Palatino Linotype" panose="02040502050505030304"/>
                <a:sym typeface="+mn-ea"/>
              </a:rPr>
              <a:t>the Kleene star case</a:t>
            </a:r>
          </a:p>
          <a:p>
            <a:pPr marL="0" indent="0" algn="l" rtl="0" eaLnBrk="0" fontAlgn="auto">
              <a:lnSpc>
                <a:spcPct val="150000"/>
              </a:lnSpc>
              <a:spcBef>
                <a:spcPts val="0"/>
              </a:spcBef>
              <a:buNone/>
            </a:pPr>
            <a:r>
              <a:rPr sz="2200" dirty="0">
                <a:latin typeface="Palatino Linotype" panose="02040502050505030304" charset="0"/>
                <a:ea typeface="Palatino Linotype" panose="02040502050505030304"/>
                <a:cs typeface="Palatino Linotype" panose="02040502050505030304"/>
                <a:sym typeface="+mn-ea"/>
              </a:rPr>
              <a:t>• </a:t>
            </a:r>
            <a:r>
              <a:rPr sz="2200" dirty="0">
                <a:solidFill>
                  <a:srgbClr val="FF0000"/>
                </a:solidFill>
                <a:latin typeface="Palatino Linotype" panose="02040502050505030304" charset="0"/>
                <a:ea typeface="Palatino Linotype" panose="02040502050505030304"/>
                <a:cs typeface="Palatino Linotype" panose="02040502050505030304"/>
                <a:sym typeface="+mn-ea"/>
              </a:rPr>
              <a:t>s</a:t>
            </a:r>
            <a:r>
              <a:rPr sz="2200" baseline="30000" dirty="0">
                <a:solidFill>
                  <a:srgbClr val="FF0000"/>
                </a:solidFill>
                <a:latin typeface="Palatino Linotype" panose="02040502050505030304" charset="0"/>
                <a:ea typeface="Palatino Linotype" panose="02040502050505030304"/>
                <a:cs typeface="Palatino Linotype" panose="02040502050505030304"/>
                <a:sym typeface="+mn-ea"/>
              </a:rPr>
              <a:t>*</a:t>
            </a:r>
            <a:r>
              <a:rPr sz="2200" dirty="0">
                <a:solidFill>
                  <a:srgbClr val="FF0000"/>
                </a:solidFill>
                <a:latin typeface="Palatino Linotype" panose="02040502050505030304" charset="0"/>
                <a:ea typeface="Palatino Linotype" panose="02040502050505030304"/>
                <a:cs typeface="Palatino Linotype" panose="02040502050505030304"/>
                <a:sym typeface="+mn-ea"/>
              </a:rPr>
              <a:t>:</a:t>
            </a:r>
            <a:r>
              <a:rPr sz="2200" dirty="0">
                <a:latin typeface="Palatino Linotype" panose="02040502050505030304" charset="0"/>
                <a:ea typeface="Palatino Linotype" panose="02040502050505030304"/>
                <a:cs typeface="Palatino Linotype" panose="02040502050505030304"/>
                <a:sym typeface="+mn-ea"/>
              </a:rPr>
              <a:t> N(s) is the NFA for subexpression 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74</a:t>
            </a:fld>
            <a:endParaRPr/>
          </a:p>
        </p:txBody>
      </p:sp>
      <p:pic>
        <p:nvPicPr>
          <p:cNvPr id="5" name="图片 4"/>
          <p:cNvPicPr>
            <a:picLocks noChangeAspect="1"/>
          </p:cNvPicPr>
          <p:nvPr>
            <p:custDataLst>
              <p:tags r:id="rId1"/>
            </p:custDataLst>
          </p:nvPr>
        </p:nvPicPr>
        <p:blipFill>
          <a:blip r:embed="rId4"/>
          <a:stretch>
            <a:fillRect/>
          </a:stretch>
        </p:blipFill>
        <p:spPr>
          <a:xfrm>
            <a:off x="2009140" y="2924810"/>
            <a:ext cx="5125720" cy="237299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Example</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Use Thompson’s algorithm to construct an NFA for the regexp </a:t>
            </a:r>
          </a:p>
          <a:p>
            <a:pPr marL="0" indent="45720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r = </a:t>
            </a:r>
            <a:r>
              <a:rPr sz="2000" b="1" dirty="0">
                <a:solidFill>
                  <a:srgbClr val="FF0000"/>
                </a:solidFill>
                <a:latin typeface="Palatino Linotype" panose="02040502050505030304" charset="0"/>
                <a:ea typeface="Palatino Linotype" panose="02040502050505030304"/>
                <a:cs typeface="Palatino Linotype" panose="02040502050505030304"/>
                <a:sym typeface="+mn-ea"/>
              </a:rPr>
              <a:t>(a|b)</a:t>
            </a:r>
            <a:r>
              <a:rPr sz="2000" b="1" baseline="30000" dirty="0">
                <a:solidFill>
                  <a:srgbClr val="FF0000"/>
                </a:solidFill>
                <a:latin typeface="Palatino Linotype" panose="02040502050505030304" charset="0"/>
                <a:ea typeface="Palatino Linotype" panose="02040502050505030304"/>
                <a:cs typeface="Palatino Linotype" panose="02040502050505030304"/>
                <a:sym typeface="+mn-ea"/>
              </a:rPr>
              <a:t>*</a:t>
            </a:r>
            <a:r>
              <a:rPr sz="2000" b="1" dirty="0">
                <a:solidFill>
                  <a:srgbClr val="FF0000"/>
                </a:solidFill>
                <a:latin typeface="Palatino Linotype" panose="02040502050505030304" charset="0"/>
                <a:ea typeface="Palatino Linotype" panose="02040502050505030304"/>
                <a:cs typeface="Palatino Linotype" panose="02040502050505030304"/>
                <a:sym typeface="+mn-ea"/>
              </a:rPr>
              <a:t>abb</a:t>
            </a:r>
          </a:p>
          <a:p>
            <a:pPr marL="0" indent="0" algn="l" rtl="0" eaLnBrk="0" fontAlgn="auto">
              <a:lnSpc>
                <a:spcPct val="150000"/>
              </a:lnSpc>
              <a:spcBef>
                <a:spcPts val="0"/>
              </a:spcBef>
              <a:buNone/>
            </a:pPr>
            <a:endParaRPr sz="2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NFA for the first a (</a:t>
            </a:r>
            <a:r>
              <a:rPr sz="2000" dirty="0">
                <a:solidFill>
                  <a:srgbClr val="FF0000"/>
                </a:solidFill>
                <a:latin typeface="Palatino Linotype" panose="02040502050505030304" charset="0"/>
                <a:ea typeface="Palatino Linotype" panose="02040502050505030304"/>
                <a:cs typeface="Palatino Linotype" panose="02040502050505030304"/>
                <a:sym typeface="+mn-ea"/>
              </a:rPr>
              <a:t>apply basis rule #1</a:t>
            </a:r>
            <a:r>
              <a:rPr sz="2000" dirty="0">
                <a:latin typeface="Palatino Linotype" panose="02040502050505030304" charset="0"/>
                <a:ea typeface="Palatino Linotype" panose="02040502050505030304"/>
                <a:cs typeface="Palatino Linotype" panose="02040502050505030304"/>
                <a:sym typeface="+mn-ea"/>
              </a:rPr>
              <a:t>)</a:t>
            </a:r>
          </a:p>
          <a:p>
            <a:pPr marL="0" indent="0" algn="l" rtl="0" eaLnBrk="0" fontAlgn="auto">
              <a:lnSpc>
                <a:spcPct val="150000"/>
              </a:lnSpc>
              <a:spcBef>
                <a:spcPts val="0"/>
              </a:spcBef>
              <a:buNone/>
            </a:pPr>
            <a:endParaRPr sz="2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2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NFA for the first b (</a:t>
            </a:r>
            <a:r>
              <a:rPr sz="2000" dirty="0">
                <a:solidFill>
                  <a:srgbClr val="FF0000"/>
                </a:solidFill>
                <a:latin typeface="Palatino Linotype" panose="02040502050505030304" charset="0"/>
                <a:ea typeface="Palatino Linotype" panose="02040502050505030304"/>
                <a:cs typeface="Palatino Linotype" panose="02040502050505030304"/>
                <a:sym typeface="+mn-ea"/>
              </a:rPr>
              <a:t>apply basis rule #1</a:t>
            </a:r>
            <a:r>
              <a:rPr sz="2000" dirty="0">
                <a:latin typeface="Palatino Linotype" panose="02040502050505030304" charset="0"/>
                <a:ea typeface="Palatino Linotype" panose="02040502050505030304"/>
                <a:cs typeface="Palatino Linotype" panose="02040502050505030304"/>
                <a:sym typeface="+mn-ea"/>
              </a:rPr>
              <a:t>)</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75</a:t>
            </a:fld>
            <a:endParaRPr/>
          </a:p>
        </p:txBody>
      </p:sp>
      <p:pic>
        <p:nvPicPr>
          <p:cNvPr id="5" name="图片 4"/>
          <p:cNvPicPr>
            <a:picLocks noChangeAspect="1"/>
          </p:cNvPicPr>
          <p:nvPr>
            <p:custDataLst>
              <p:tags r:id="rId1"/>
            </p:custDataLst>
          </p:nvPr>
        </p:nvPicPr>
        <p:blipFill>
          <a:blip r:embed="rId5"/>
          <a:stretch>
            <a:fillRect/>
          </a:stretch>
        </p:blipFill>
        <p:spPr>
          <a:xfrm>
            <a:off x="2484120" y="3789045"/>
            <a:ext cx="3190240" cy="836930"/>
          </a:xfrm>
          <a:prstGeom prst="rect">
            <a:avLst/>
          </a:prstGeom>
        </p:spPr>
      </p:pic>
      <p:pic>
        <p:nvPicPr>
          <p:cNvPr id="6" name="图片 5"/>
          <p:cNvPicPr>
            <a:picLocks noChangeAspect="1"/>
          </p:cNvPicPr>
          <p:nvPr>
            <p:custDataLst>
              <p:tags r:id="rId2"/>
            </p:custDataLst>
          </p:nvPr>
        </p:nvPicPr>
        <p:blipFill>
          <a:blip r:embed="rId6"/>
          <a:stretch>
            <a:fillRect/>
          </a:stretch>
        </p:blipFill>
        <p:spPr>
          <a:xfrm>
            <a:off x="2484120" y="5156835"/>
            <a:ext cx="3293745" cy="79375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Example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NFA for </a:t>
            </a:r>
            <a:r>
              <a:rPr sz="2200" b="1" dirty="0">
                <a:latin typeface="Palatino Linotype" panose="02040502050505030304" charset="0"/>
                <a:ea typeface="Palatino Linotype" panose="02040502050505030304"/>
                <a:cs typeface="Palatino Linotype" panose="02040502050505030304"/>
                <a:sym typeface="+mn-ea"/>
              </a:rPr>
              <a:t>(a|b)</a:t>
            </a:r>
            <a:r>
              <a:rPr sz="2200" dirty="0">
                <a:latin typeface="Palatino Linotype" panose="02040502050505030304" charset="0"/>
                <a:ea typeface="Palatino Linotype" panose="02040502050505030304"/>
                <a:cs typeface="Palatino Linotype" panose="02040502050505030304"/>
                <a:sym typeface="+mn-ea"/>
              </a:rPr>
              <a:t> (</a:t>
            </a:r>
            <a:r>
              <a:rPr sz="2200" dirty="0">
                <a:solidFill>
                  <a:srgbClr val="0331FF"/>
                </a:solidFill>
                <a:latin typeface="Palatino Linotype" panose="02040502050505030304" charset="0"/>
                <a:ea typeface="Palatino Linotype" panose="02040502050505030304"/>
                <a:cs typeface="Palatino Linotype" panose="02040502050505030304"/>
                <a:sym typeface="+mn-ea"/>
              </a:rPr>
              <a:t>apply inductive rule #1</a:t>
            </a:r>
            <a:r>
              <a:rPr sz="2200" dirty="0">
                <a:latin typeface="Palatino Linotype" panose="02040502050505030304" charset="0"/>
                <a:ea typeface="Palatino Linotype" panose="02040502050505030304"/>
                <a:cs typeface="Palatino Linotype" panose="02040502050505030304"/>
                <a:sym typeface="+mn-ea"/>
              </a:rPr>
              <a:t>)</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76</a:t>
            </a:fld>
            <a:endParaRPr/>
          </a:p>
        </p:txBody>
      </p:sp>
      <p:pic>
        <p:nvPicPr>
          <p:cNvPr id="2" name="图片 1"/>
          <p:cNvPicPr>
            <a:picLocks noChangeAspect="1"/>
          </p:cNvPicPr>
          <p:nvPr>
            <p:custDataLst>
              <p:tags r:id="rId1"/>
            </p:custDataLst>
          </p:nvPr>
        </p:nvPicPr>
        <p:blipFill>
          <a:blip r:embed="rId4"/>
          <a:stretch>
            <a:fillRect/>
          </a:stretch>
        </p:blipFill>
        <p:spPr>
          <a:xfrm>
            <a:off x="1691640" y="2780665"/>
            <a:ext cx="4947285" cy="258762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Example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NFA for </a:t>
            </a:r>
            <a:r>
              <a:rPr sz="2200" b="1" dirty="0">
                <a:latin typeface="Palatino Linotype" panose="02040502050505030304" charset="0"/>
                <a:ea typeface="Palatino Linotype" panose="02040502050505030304"/>
                <a:cs typeface="Palatino Linotype" panose="02040502050505030304"/>
                <a:sym typeface="+mn-ea"/>
              </a:rPr>
              <a:t>(a|b)</a:t>
            </a:r>
            <a:r>
              <a:rPr sz="2200" b="1" baseline="30000" dirty="0">
                <a:latin typeface="Palatino Linotype" panose="02040502050505030304" charset="0"/>
                <a:ea typeface="Palatino Linotype" panose="02040502050505030304"/>
                <a:cs typeface="Palatino Linotype" panose="02040502050505030304"/>
                <a:sym typeface="+mn-ea"/>
              </a:rPr>
              <a:t>*</a:t>
            </a:r>
            <a:r>
              <a:rPr sz="2200" dirty="0">
                <a:latin typeface="Palatino Linotype" panose="02040502050505030304" charset="0"/>
                <a:ea typeface="Palatino Linotype" panose="02040502050505030304"/>
                <a:cs typeface="Palatino Linotype" panose="02040502050505030304"/>
                <a:sym typeface="+mn-ea"/>
              </a:rPr>
              <a:t> (</a:t>
            </a:r>
            <a:r>
              <a:rPr sz="2200" dirty="0">
                <a:solidFill>
                  <a:srgbClr val="0331FF"/>
                </a:solidFill>
                <a:latin typeface="Palatino Linotype" panose="02040502050505030304" charset="0"/>
                <a:ea typeface="Palatino Linotype" panose="02040502050505030304"/>
                <a:cs typeface="Palatino Linotype" panose="02040502050505030304"/>
                <a:sym typeface="+mn-ea"/>
              </a:rPr>
              <a:t>apply inductive rule #</a:t>
            </a:r>
            <a:r>
              <a:rPr lang="en-US" sz="2200" dirty="0">
                <a:solidFill>
                  <a:srgbClr val="0331FF"/>
                </a:solidFill>
                <a:latin typeface="Palatino Linotype" panose="02040502050505030304" charset="0"/>
                <a:ea typeface="Palatino Linotype" panose="02040502050505030304"/>
                <a:cs typeface="Palatino Linotype" panose="02040502050505030304"/>
                <a:sym typeface="+mn-ea"/>
              </a:rPr>
              <a:t>3</a:t>
            </a:r>
            <a:r>
              <a:rPr sz="2200" dirty="0">
                <a:latin typeface="Palatino Linotype" panose="02040502050505030304" charset="0"/>
                <a:ea typeface="Palatino Linotype" panose="02040502050505030304"/>
                <a:cs typeface="Palatino Linotype" panose="02040502050505030304"/>
                <a:sym typeface="+mn-ea"/>
              </a:rPr>
              <a:t>)</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77</a:t>
            </a:fld>
            <a:endParaRPr/>
          </a:p>
        </p:txBody>
      </p:sp>
      <p:pic>
        <p:nvPicPr>
          <p:cNvPr id="5" name="图片 4"/>
          <p:cNvPicPr>
            <a:picLocks noChangeAspect="1"/>
          </p:cNvPicPr>
          <p:nvPr>
            <p:custDataLst>
              <p:tags r:id="rId1"/>
            </p:custDataLst>
          </p:nvPr>
        </p:nvPicPr>
        <p:blipFill>
          <a:blip r:embed="rId4"/>
          <a:stretch>
            <a:fillRect/>
          </a:stretch>
        </p:blipFill>
        <p:spPr>
          <a:xfrm>
            <a:off x="1870710" y="2708910"/>
            <a:ext cx="5401945" cy="296481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Example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NFA for the second </a:t>
            </a:r>
            <a:r>
              <a:rPr sz="2200" b="1" dirty="0">
                <a:latin typeface="Palatino Linotype" panose="02040502050505030304" charset="0"/>
                <a:ea typeface="Palatino Linotype" panose="02040502050505030304"/>
                <a:cs typeface="Palatino Linotype" panose="02040502050505030304"/>
                <a:sym typeface="+mn-ea"/>
              </a:rPr>
              <a:t>a</a:t>
            </a:r>
            <a:r>
              <a:rPr sz="2200" dirty="0">
                <a:latin typeface="Palatino Linotype" panose="02040502050505030304" charset="0"/>
                <a:ea typeface="Palatino Linotype" panose="02040502050505030304"/>
                <a:cs typeface="Palatino Linotype" panose="02040502050505030304"/>
                <a:sym typeface="+mn-ea"/>
              </a:rPr>
              <a:t> (</a:t>
            </a:r>
            <a:r>
              <a:rPr sz="2200" dirty="0">
                <a:solidFill>
                  <a:srgbClr val="0331FF"/>
                </a:solidFill>
                <a:latin typeface="Palatino Linotype" panose="02040502050505030304" charset="0"/>
                <a:ea typeface="Palatino Linotype" panose="02040502050505030304"/>
                <a:cs typeface="Palatino Linotype" panose="02040502050505030304"/>
                <a:sym typeface="+mn-ea"/>
              </a:rPr>
              <a:t>apply basic rule #1</a:t>
            </a:r>
            <a:r>
              <a:rPr sz="2200" dirty="0">
                <a:latin typeface="Palatino Linotype" panose="02040502050505030304" charset="0"/>
                <a:ea typeface="Palatino Linotype" panose="02040502050505030304"/>
                <a:cs typeface="Palatino Linotype" panose="02040502050505030304"/>
                <a:sym typeface="+mn-ea"/>
              </a:rPr>
              <a:t>)</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78</a:t>
            </a:fld>
            <a:endParaRPr/>
          </a:p>
        </p:txBody>
      </p:sp>
      <p:pic>
        <p:nvPicPr>
          <p:cNvPr id="2" name="图片 1"/>
          <p:cNvPicPr>
            <a:picLocks noChangeAspect="1"/>
          </p:cNvPicPr>
          <p:nvPr>
            <p:custDataLst>
              <p:tags r:id="rId1"/>
            </p:custDataLst>
          </p:nvPr>
        </p:nvPicPr>
        <p:blipFill>
          <a:blip r:embed="rId4"/>
          <a:stretch>
            <a:fillRect/>
          </a:stretch>
        </p:blipFill>
        <p:spPr>
          <a:xfrm>
            <a:off x="2339340" y="2564765"/>
            <a:ext cx="3663315" cy="90678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Example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NFA for </a:t>
            </a:r>
            <a:r>
              <a:rPr sz="2200" b="1" dirty="0">
                <a:latin typeface="Palatino Linotype" panose="02040502050505030304" charset="0"/>
                <a:ea typeface="Palatino Linotype" panose="02040502050505030304"/>
                <a:cs typeface="Palatino Linotype" panose="02040502050505030304"/>
                <a:sym typeface="+mn-ea"/>
              </a:rPr>
              <a:t>(a|b)</a:t>
            </a:r>
            <a:r>
              <a:rPr sz="2200" b="1" baseline="30000" dirty="0">
                <a:latin typeface="Palatino Linotype" panose="02040502050505030304" charset="0"/>
                <a:ea typeface="Palatino Linotype" panose="02040502050505030304"/>
                <a:cs typeface="Palatino Linotype" panose="02040502050505030304"/>
                <a:sym typeface="+mn-ea"/>
              </a:rPr>
              <a:t>*</a:t>
            </a:r>
            <a:r>
              <a:rPr sz="2200" b="1" dirty="0">
                <a:latin typeface="Palatino Linotype" panose="02040502050505030304" charset="0"/>
                <a:ea typeface="Palatino Linotype" panose="02040502050505030304"/>
                <a:cs typeface="Palatino Linotype" panose="02040502050505030304"/>
                <a:sym typeface="+mn-ea"/>
              </a:rPr>
              <a:t>a</a:t>
            </a:r>
            <a:r>
              <a:rPr sz="2200" dirty="0">
                <a:latin typeface="Palatino Linotype" panose="02040502050505030304" charset="0"/>
                <a:ea typeface="Palatino Linotype" panose="02040502050505030304"/>
                <a:cs typeface="Palatino Linotype" panose="02040502050505030304"/>
                <a:sym typeface="+mn-ea"/>
              </a:rPr>
              <a:t> (</a:t>
            </a:r>
            <a:r>
              <a:rPr sz="2200" dirty="0">
                <a:solidFill>
                  <a:srgbClr val="0331FF"/>
                </a:solidFill>
                <a:latin typeface="Palatino Linotype" panose="02040502050505030304" charset="0"/>
                <a:ea typeface="Palatino Linotype" panose="02040502050505030304"/>
                <a:cs typeface="Palatino Linotype" panose="02040502050505030304"/>
                <a:sym typeface="+mn-ea"/>
              </a:rPr>
              <a:t>apply inductive rule #2</a:t>
            </a:r>
            <a:r>
              <a:rPr sz="2200" dirty="0">
                <a:latin typeface="Palatino Linotype" panose="02040502050505030304" charset="0"/>
                <a:ea typeface="Palatino Linotype" panose="02040502050505030304"/>
                <a:cs typeface="Palatino Linotype" panose="02040502050505030304"/>
                <a:sym typeface="+mn-ea"/>
              </a:rPr>
              <a:t>) …</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79</a:t>
            </a:fld>
            <a:endParaRPr/>
          </a:p>
        </p:txBody>
      </p:sp>
      <p:pic>
        <p:nvPicPr>
          <p:cNvPr id="2" name="图片 1"/>
          <p:cNvPicPr>
            <a:picLocks noChangeAspect="1"/>
          </p:cNvPicPr>
          <p:nvPr>
            <p:custDataLst>
              <p:tags r:id="rId1"/>
            </p:custDataLst>
          </p:nvPr>
        </p:nvPicPr>
        <p:blipFill>
          <a:blip r:embed="rId4"/>
          <a:stretch>
            <a:fillRect/>
          </a:stretch>
        </p:blipFill>
        <p:spPr>
          <a:xfrm>
            <a:off x="1907540" y="2564765"/>
            <a:ext cx="5465445" cy="272859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Combining NFA’s</a:t>
            </a:r>
          </a:p>
        </p:txBody>
      </p:sp>
      <p:sp>
        <p:nvSpPr>
          <p:cNvPr id="4" name="内容占位符 3"/>
          <p:cNvSpPr>
            <a:spLocks noGrp="1"/>
          </p:cNvSpPr>
          <p:nvPr>
            <p:ph idx="1"/>
          </p:nvPr>
        </p:nvSpPr>
        <p:spPr>
          <a:xfrm>
            <a:off x="628650" y="1557020"/>
            <a:ext cx="7886700" cy="4351338"/>
          </a:xfrm>
        </p:spPr>
        <p:txBody>
          <a:bodyPr>
            <a:normAutofit/>
          </a:bodyPr>
          <a:lstStyle/>
          <a:p>
            <a:pPr marL="17145" algn="l" rtl="0" eaLnBrk="0" fontAlgn="auto">
              <a:lnSpc>
                <a:spcPct val="150000"/>
              </a:lnSpc>
              <a:spcBef>
                <a:spcPts val="0"/>
              </a:spcBef>
            </a:pPr>
            <a:r>
              <a:rPr sz="2000" b="1" dirty="0">
                <a:solidFill>
                  <a:srgbClr val="FF0000"/>
                </a:solidFill>
                <a:latin typeface="Palatino Linotype" panose="02040502050505030304" charset="0"/>
                <a:ea typeface="Palatino Linotype" panose="02040502050505030304"/>
                <a:cs typeface="Palatino Linotype" panose="02040502050505030304"/>
                <a:sym typeface="+mn-ea"/>
              </a:rPr>
              <a:t>Why?</a:t>
            </a:r>
            <a:r>
              <a:rPr sz="2000" dirty="0">
                <a:latin typeface="Palatino Linotype" panose="02040502050505030304" charset="0"/>
                <a:ea typeface="Palatino Linotype" panose="02040502050505030304"/>
                <a:cs typeface="Palatino Linotype" panose="02040502050505030304"/>
                <a:sym typeface="+mn-ea"/>
              </a:rPr>
              <a:t> In the lexical analyzer, we need a single automaton to recognize lexemes matching any pattern (in the lex program)</a:t>
            </a:r>
          </a:p>
          <a:p>
            <a:pPr marL="17145" algn="l" rtl="0" eaLnBrk="0" fontAlgn="auto">
              <a:lnSpc>
                <a:spcPct val="150000"/>
              </a:lnSpc>
              <a:spcBef>
                <a:spcPts val="0"/>
              </a:spcBef>
            </a:pPr>
            <a:r>
              <a:rPr sz="2000" b="1" dirty="0">
                <a:solidFill>
                  <a:srgbClr val="FF0000"/>
                </a:solidFill>
                <a:latin typeface="Palatino Linotype" panose="02040502050505030304" charset="0"/>
                <a:ea typeface="Palatino Linotype" panose="02040502050505030304"/>
                <a:cs typeface="Palatino Linotype" panose="02040502050505030304"/>
                <a:sym typeface="+mn-ea"/>
              </a:rPr>
              <a:t>How?</a:t>
            </a:r>
            <a:r>
              <a:rPr sz="2000" dirty="0">
                <a:latin typeface="Palatino Linotype" panose="02040502050505030304" charset="0"/>
                <a:ea typeface="Palatino Linotype" panose="02040502050505030304"/>
                <a:cs typeface="Palatino Linotype" panose="02040502050505030304"/>
                <a:sym typeface="+mn-ea"/>
              </a:rPr>
              <a:t> Introduce a new start state with 𝜖-transitions to each of the start states of the NFA’s N</a:t>
            </a:r>
            <a:r>
              <a:rPr sz="2000" baseline="-25000" dirty="0">
                <a:latin typeface="Palatino Linotype" panose="02040502050505030304" charset="0"/>
                <a:ea typeface="Palatino Linotype" panose="02040502050505030304"/>
                <a:cs typeface="Palatino Linotype" panose="02040502050505030304"/>
                <a:sym typeface="+mn-ea"/>
              </a:rPr>
              <a:t>i</a:t>
            </a:r>
            <a:r>
              <a:rPr lang="en-US" sz="2000" baseline="-25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for pattern p</a:t>
            </a:r>
            <a:r>
              <a:rPr sz="2000" baseline="-25000" dirty="0">
                <a:latin typeface="Palatino Linotype" panose="02040502050505030304" charset="0"/>
                <a:ea typeface="Palatino Linotype" panose="02040502050505030304"/>
                <a:cs typeface="Palatino Linotype" panose="02040502050505030304"/>
                <a:sym typeface="+mn-ea"/>
              </a:rPr>
              <a:t>i</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80</a:t>
            </a:fld>
            <a:endParaRPr/>
          </a:p>
        </p:txBody>
      </p:sp>
      <p:pic>
        <p:nvPicPr>
          <p:cNvPr id="2" name="图片 1"/>
          <p:cNvPicPr>
            <a:picLocks noChangeAspect="1"/>
          </p:cNvPicPr>
          <p:nvPr>
            <p:custDataLst>
              <p:tags r:id="rId1"/>
            </p:custDataLst>
          </p:nvPr>
        </p:nvPicPr>
        <p:blipFill>
          <a:blip r:embed="rId4"/>
          <a:stretch>
            <a:fillRect/>
          </a:stretch>
        </p:blipFill>
        <p:spPr>
          <a:xfrm>
            <a:off x="1043305" y="3710940"/>
            <a:ext cx="2487930" cy="2466340"/>
          </a:xfrm>
          <a:prstGeom prst="rect">
            <a:avLst/>
          </a:prstGeom>
        </p:spPr>
      </p:pic>
      <p:sp>
        <p:nvSpPr>
          <p:cNvPr id="6" name="文本框 5"/>
          <p:cNvSpPr txBox="1"/>
          <p:nvPr/>
        </p:nvSpPr>
        <p:spPr>
          <a:xfrm>
            <a:off x="4140200" y="3860800"/>
            <a:ext cx="3921760" cy="2663190"/>
          </a:xfrm>
          <a:prstGeom prst="rect">
            <a:avLst/>
          </a:prstGeom>
          <a:noFill/>
        </p:spPr>
        <p:txBody>
          <a:bodyPr wrap="square" rtlCol="0" anchor="t">
            <a:noAutofit/>
          </a:bodyPr>
          <a:lstStyle/>
          <a:p>
            <a:r>
              <a:rPr lang="zh-CN" altLang="en-US"/>
              <a:t>• The language that can be accepted by the big NFA is the union of the languages that can be accepted by the small NFA’s</a:t>
            </a:r>
          </a:p>
          <a:p>
            <a:endParaRPr lang="zh-CN" altLang="en-US"/>
          </a:p>
          <a:p>
            <a:r>
              <a:rPr lang="zh-CN" altLang="en-US"/>
              <a:t>• Different accepting states</a:t>
            </a:r>
            <a:r>
              <a:rPr lang="en-US" altLang="zh-CN"/>
              <a:t> </a:t>
            </a:r>
            <a:r>
              <a:rPr lang="zh-CN" altLang="en-US"/>
              <a:t>correspond to different patterns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DFA’s for Lexical Analyzers</a:t>
            </a:r>
          </a:p>
        </p:txBody>
      </p:sp>
      <p:sp>
        <p:nvSpPr>
          <p:cNvPr id="4" name="内容占位符 3"/>
          <p:cNvSpPr>
            <a:spLocks noGrp="1"/>
          </p:cNvSpPr>
          <p:nvPr>
            <p:ph idx="1"/>
          </p:nvPr>
        </p:nvSpPr>
        <p:spPr/>
        <p:txBody>
          <a:bodyPr>
            <a:no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Convert the NFA for all the patterns into an equivalent DFA, using the subset construction algorithm </a:t>
            </a:r>
          </a:p>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An accepting state of the DFA corresponds to a subset of the NFA states, in which at least one is an accepting NFA state</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If there are more than one accepting NFA state, this means that conflicts arise (the prefix of the input string matches multiple patterns)</a:t>
            </a:r>
          </a:p>
          <a:p>
            <a:pPr marL="457200" lvl="1" indent="0" algn="l" rtl="0" eaLnBrk="0" fontAlgn="auto">
              <a:lnSpc>
                <a:spcPct val="150000"/>
              </a:lnSpc>
              <a:spcBef>
                <a:spcPts val="0"/>
              </a:spcBef>
              <a:buNone/>
            </a:pPr>
            <a:r>
              <a:rPr sz="2000" dirty="0">
                <a:solidFill>
                  <a:schemeClr val="bg2">
                    <a:lumMod val="50000"/>
                  </a:schemeClr>
                </a:solidFill>
                <a:latin typeface="Palatino Linotype" panose="02040502050505030304" charset="0"/>
                <a:ea typeface="Palatino Linotype" panose="02040502050505030304"/>
                <a:cs typeface="Palatino Linotype" panose="02040502050505030304"/>
                <a:sym typeface="+mn-ea"/>
              </a:rPr>
              <a:t>▪ Upon conflicts, find the first pattern whose accepting state is in the set and make that pattern the output of the DFA state</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81</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Example</a:t>
            </a:r>
          </a:p>
        </p:txBody>
      </p:sp>
      <p:sp>
        <p:nvSpPr>
          <p:cNvPr id="4" name="内容占位符 3"/>
          <p:cNvSpPr>
            <a:spLocks noGrp="1"/>
          </p:cNvSpPr>
          <p:nvPr>
            <p:ph idx="1"/>
          </p:nvPr>
        </p:nvSpPr>
        <p:spPr>
          <a:xfrm>
            <a:off x="628650" y="1596390"/>
            <a:ext cx="7886700" cy="4351338"/>
          </a:xfrm>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Suppose we have three patterns: p</a:t>
            </a:r>
            <a:r>
              <a:rPr sz="2200" baseline="-25000" dirty="0">
                <a:latin typeface="Palatino Linotype" panose="02040502050505030304" charset="0"/>
                <a:ea typeface="Palatino Linotype" panose="02040502050505030304"/>
                <a:cs typeface="Palatino Linotype" panose="02040502050505030304"/>
                <a:sym typeface="+mn-ea"/>
              </a:rPr>
              <a:t>1</a:t>
            </a:r>
            <a:r>
              <a:rPr sz="2200" dirty="0">
                <a:latin typeface="Palatino Linotype" panose="02040502050505030304" charset="0"/>
                <a:ea typeface="Palatino Linotype" panose="02040502050505030304"/>
                <a:cs typeface="Palatino Linotype" panose="02040502050505030304"/>
                <a:sym typeface="+mn-ea"/>
              </a:rPr>
              <a:t>, p</a:t>
            </a:r>
            <a:r>
              <a:rPr sz="2200" baseline="-25000" dirty="0">
                <a:latin typeface="Palatino Linotype" panose="02040502050505030304" charset="0"/>
                <a:ea typeface="Palatino Linotype" panose="02040502050505030304"/>
                <a:cs typeface="Palatino Linotype" panose="02040502050505030304"/>
                <a:sym typeface="+mn-ea"/>
              </a:rPr>
              <a:t>2</a:t>
            </a:r>
            <a:r>
              <a:rPr sz="2200" dirty="0">
                <a:latin typeface="Palatino Linotype" panose="02040502050505030304" charset="0"/>
                <a:ea typeface="Palatino Linotype" panose="02040502050505030304"/>
                <a:cs typeface="Palatino Linotype" panose="02040502050505030304"/>
                <a:sym typeface="+mn-ea"/>
              </a:rPr>
              <a:t>, and p</a:t>
            </a:r>
            <a:r>
              <a:rPr sz="2200" baseline="-25000" dirty="0">
                <a:latin typeface="Palatino Linotype" panose="02040502050505030304" charset="0"/>
                <a:ea typeface="Palatino Linotype" panose="02040502050505030304"/>
                <a:cs typeface="Palatino Linotype" panose="02040502050505030304"/>
                <a:sym typeface="+mn-ea"/>
              </a:rPr>
              <a:t>3</a:t>
            </a:r>
            <a:endParaRPr sz="2200" dirty="0">
              <a:latin typeface="Palatino Linotype" panose="02040502050505030304" charset="0"/>
              <a:ea typeface="Palatino Linotype" panose="02040502050505030304"/>
              <a:cs typeface="Palatino Linotype" panose="02040502050505030304"/>
              <a:sym typeface="+mn-ea"/>
            </a:endParaRP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b="1" dirty="0">
                <a:latin typeface="Palatino Linotype" panose="02040502050505030304" charset="0"/>
                <a:ea typeface="Palatino Linotype" panose="02040502050505030304"/>
                <a:cs typeface="Palatino Linotype" panose="02040502050505030304"/>
                <a:sym typeface="+mn-ea"/>
              </a:rPr>
              <a:t>a</a:t>
            </a:r>
            <a:r>
              <a:rPr sz="2000" dirty="0">
                <a:latin typeface="Palatino Linotype" panose="02040502050505030304" charset="0"/>
                <a:ea typeface="Palatino Linotype" panose="02040502050505030304"/>
                <a:cs typeface="Palatino Linotype" panose="02040502050505030304"/>
                <a:sym typeface="+mn-ea"/>
              </a:rPr>
              <a:t> </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{action A</a:t>
            </a:r>
            <a:r>
              <a:rPr sz="2000" baseline="-25000" dirty="0">
                <a:latin typeface="Palatino Linotype" panose="02040502050505030304" charset="0"/>
                <a:ea typeface="Palatino Linotype" panose="02040502050505030304"/>
                <a:cs typeface="Palatino Linotype" panose="02040502050505030304"/>
                <a:sym typeface="+mn-ea"/>
              </a:rPr>
              <a:t>1</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for pattern p</a:t>
            </a:r>
            <a:r>
              <a:rPr sz="2000" baseline="-25000" dirty="0">
                <a:latin typeface="Palatino Linotype" panose="02040502050505030304" charset="0"/>
                <a:ea typeface="Palatino Linotype" panose="02040502050505030304"/>
                <a:cs typeface="Palatino Linotype" panose="02040502050505030304"/>
                <a:sym typeface="+mn-ea"/>
              </a:rPr>
              <a:t>1</a:t>
            </a:r>
            <a:r>
              <a:rPr sz="2000" dirty="0">
                <a:latin typeface="Palatino Linotype" panose="02040502050505030304" charset="0"/>
                <a:ea typeface="Palatino Linotype" panose="02040502050505030304"/>
                <a:cs typeface="Palatino Linotype" panose="02040502050505030304"/>
                <a:sym typeface="+mn-ea"/>
              </a:rPr>
              <a:t>}</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b="1" dirty="0">
                <a:latin typeface="Palatino Linotype" panose="02040502050505030304" charset="0"/>
                <a:ea typeface="Palatino Linotype" panose="02040502050505030304"/>
                <a:cs typeface="Palatino Linotype" panose="02040502050505030304"/>
                <a:sym typeface="+mn-ea"/>
              </a:rPr>
              <a:t>abb</a:t>
            </a:r>
            <a:r>
              <a:rPr sz="2000" dirty="0">
                <a:latin typeface="Palatino Linotype" panose="02040502050505030304" charset="0"/>
                <a:ea typeface="Palatino Linotype" panose="02040502050505030304"/>
                <a:cs typeface="Palatino Linotype" panose="02040502050505030304"/>
                <a:sym typeface="+mn-ea"/>
              </a:rPr>
              <a:t> </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{action A</a:t>
            </a:r>
            <a:r>
              <a:rPr sz="2000" baseline="-25000" dirty="0">
                <a:latin typeface="Palatino Linotype" panose="02040502050505030304" charset="0"/>
                <a:ea typeface="Palatino Linotype" panose="02040502050505030304"/>
                <a:cs typeface="Palatino Linotype" panose="02040502050505030304"/>
                <a:sym typeface="+mn-ea"/>
              </a:rPr>
              <a:t>2</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for pattern p</a:t>
            </a:r>
            <a:r>
              <a:rPr sz="2000" baseline="-25000" dirty="0">
                <a:latin typeface="Palatino Linotype" panose="02040502050505030304" charset="0"/>
                <a:ea typeface="Palatino Linotype" panose="02040502050505030304"/>
                <a:cs typeface="Palatino Linotype" panose="02040502050505030304"/>
                <a:sym typeface="+mn-ea"/>
              </a:rPr>
              <a:t>2</a:t>
            </a:r>
            <a:r>
              <a:rPr sz="2000" dirty="0">
                <a:latin typeface="Palatino Linotype" panose="02040502050505030304" charset="0"/>
                <a:ea typeface="Palatino Linotype" panose="02040502050505030304"/>
                <a:cs typeface="Palatino Linotype" panose="02040502050505030304"/>
                <a:sym typeface="+mn-ea"/>
              </a:rPr>
              <a:t>}</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a:t>
            </a:r>
            <a:r>
              <a:rPr sz="2000" b="1" dirty="0">
                <a:latin typeface="Palatino Linotype" panose="02040502050505030304" charset="0"/>
                <a:ea typeface="Palatino Linotype" panose="02040502050505030304"/>
                <a:cs typeface="Palatino Linotype" panose="02040502050505030304"/>
                <a:sym typeface="+mn-ea"/>
              </a:rPr>
              <a:t>a</a:t>
            </a:r>
            <a:r>
              <a:rPr sz="2000" b="1" baseline="30000" dirty="0">
                <a:latin typeface="Palatino Linotype" panose="02040502050505030304" charset="0"/>
                <a:ea typeface="Palatino Linotype" panose="02040502050505030304"/>
                <a:cs typeface="Palatino Linotype" panose="02040502050505030304"/>
                <a:sym typeface="+mn-ea"/>
              </a:rPr>
              <a:t>*</a:t>
            </a:r>
            <a:r>
              <a:rPr sz="2000" b="1" dirty="0">
                <a:latin typeface="Palatino Linotype" panose="02040502050505030304" charset="0"/>
                <a:ea typeface="Palatino Linotype" panose="02040502050505030304"/>
                <a:cs typeface="Palatino Linotype" panose="02040502050505030304"/>
                <a:sym typeface="+mn-ea"/>
              </a:rPr>
              <a:t>b</a:t>
            </a:r>
            <a:r>
              <a:rPr sz="2000" b="1" baseline="30000" dirty="0">
                <a:latin typeface="Palatino Linotype" panose="02040502050505030304" charset="0"/>
                <a:ea typeface="Palatino Linotype" panose="02040502050505030304"/>
                <a:cs typeface="Palatino Linotype" panose="02040502050505030304"/>
                <a:sym typeface="+mn-ea"/>
              </a:rPr>
              <a:t>+</a:t>
            </a:r>
            <a:r>
              <a:rPr lang="en-US" sz="2000" b="1" baseline="30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{action A</a:t>
            </a:r>
            <a:r>
              <a:rPr sz="2000" baseline="-25000" dirty="0">
                <a:latin typeface="Palatino Linotype" panose="02040502050505030304" charset="0"/>
                <a:ea typeface="Palatino Linotype" panose="02040502050505030304"/>
                <a:cs typeface="Palatino Linotype" panose="02040502050505030304"/>
                <a:sym typeface="+mn-ea"/>
              </a:rPr>
              <a:t>3</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for pattern p</a:t>
            </a:r>
            <a:r>
              <a:rPr sz="2000" baseline="-25000" dirty="0">
                <a:latin typeface="Palatino Linotype" panose="02040502050505030304" charset="0"/>
                <a:ea typeface="Palatino Linotype" panose="02040502050505030304"/>
                <a:cs typeface="Palatino Linotype" panose="02040502050505030304"/>
                <a:sym typeface="+mn-ea"/>
              </a:rPr>
              <a:t>3</a:t>
            </a:r>
            <a:r>
              <a:rPr sz="2000" dirty="0">
                <a:latin typeface="Palatino Linotype" panose="02040502050505030304" charset="0"/>
                <a:ea typeface="Palatino Linotype" panose="02040502050505030304"/>
                <a:cs typeface="Palatino Linotype" panose="02040502050505030304"/>
                <a:sym typeface="+mn-ea"/>
              </a:rPr>
              <a:t>}</a:t>
            </a:r>
          </a:p>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We first construct an NFA for each pattern</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82</a:t>
            </a:fld>
            <a:endParaRPr/>
          </a:p>
        </p:txBody>
      </p:sp>
      <p:pic>
        <p:nvPicPr>
          <p:cNvPr id="2" name="图片 1"/>
          <p:cNvPicPr>
            <a:picLocks noChangeAspect="1"/>
          </p:cNvPicPr>
          <p:nvPr>
            <p:custDataLst>
              <p:tags r:id="rId1"/>
            </p:custDataLst>
          </p:nvPr>
        </p:nvPicPr>
        <p:blipFill>
          <a:blip r:embed="rId6"/>
          <a:stretch>
            <a:fillRect/>
          </a:stretch>
        </p:blipFill>
        <p:spPr>
          <a:xfrm>
            <a:off x="1002264" y="4149080"/>
            <a:ext cx="2768600" cy="812800"/>
          </a:xfrm>
          <a:prstGeom prst="rect">
            <a:avLst/>
          </a:prstGeom>
        </p:spPr>
      </p:pic>
      <p:pic>
        <p:nvPicPr>
          <p:cNvPr id="6" name="图片 5"/>
          <p:cNvPicPr>
            <a:picLocks noChangeAspect="1"/>
          </p:cNvPicPr>
          <p:nvPr>
            <p:custDataLst>
              <p:tags r:id="rId2"/>
            </p:custDataLst>
          </p:nvPr>
        </p:nvPicPr>
        <p:blipFill>
          <a:blip r:embed="rId7"/>
          <a:stretch>
            <a:fillRect/>
          </a:stretch>
        </p:blipFill>
        <p:spPr>
          <a:xfrm>
            <a:off x="5379720" y="4046301"/>
            <a:ext cx="2819400" cy="1511300"/>
          </a:xfrm>
          <a:prstGeom prst="rect">
            <a:avLst/>
          </a:prstGeom>
        </p:spPr>
      </p:pic>
      <p:pic>
        <p:nvPicPr>
          <p:cNvPr id="5" name="图片 4"/>
          <p:cNvPicPr>
            <a:picLocks noChangeAspect="1"/>
          </p:cNvPicPr>
          <p:nvPr>
            <p:custDataLst>
              <p:tags r:id="rId3"/>
            </p:custDataLst>
          </p:nvPr>
        </p:nvPicPr>
        <p:blipFill>
          <a:blip r:embed="rId8"/>
          <a:stretch>
            <a:fillRect/>
          </a:stretch>
        </p:blipFill>
        <p:spPr>
          <a:xfrm>
            <a:off x="1058545" y="5498808"/>
            <a:ext cx="5499100" cy="8509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dirty="0">
                <a:latin typeface="Palatino Linotype" panose="02040502050505030304" charset="0"/>
              </a:rPr>
              <a:t>Example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Combining the three NFA’s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83</a:t>
            </a:fld>
            <a:endParaRPr/>
          </a:p>
        </p:txBody>
      </p:sp>
      <p:pic>
        <p:nvPicPr>
          <p:cNvPr id="2" name="图片 1"/>
          <p:cNvPicPr>
            <a:picLocks noChangeAspect="1"/>
          </p:cNvPicPr>
          <p:nvPr>
            <p:custDataLst>
              <p:tags r:id="rId1"/>
            </p:custDataLst>
          </p:nvPr>
        </p:nvPicPr>
        <p:blipFill>
          <a:blip r:embed="rId4"/>
          <a:stretch>
            <a:fillRect/>
          </a:stretch>
        </p:blipFill>
        <p:spPr>
          <a:xfrm>
            <a:off x="628650" y="2564765"/>
            <a:ext cx="7226300" cy="342900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D69D384-AA9E-472E-9E4D-65E4077E03E2}"/>
              </a:ext>
            </a:extLst>
          </p:cNvPr>
          <p:cNvSpPr>
            <a:spLocks noGrp="1"/>
          </p:cNvSpPr>
          <p:nvPr>
            <p:ph type="dt" sz="half" idx="10"/>
          </p:nvPr>
        </p:nvSpPr>
        <p:spPr/>
        <p:txBody>
          <a:bodyPr/>
          <a:lstStyle/>
          <a:p>
            <a:pPr>
              <a:defRPr/>
            </a:pPr>
            <a:r>
              <a:rPr lang="en-US" altLang="zh-CN"/>
              <a:t>Fall 2024</a:t>
            </a:r>
            <a:endParaRPr lang="en-US"/>
          </a:p>
        </p:txBody>
      </p:sp>
      <p:sp>
        <p:nvSpPr>
          <p:cNvPr id="5" name="页脚占位符 4">
            <a:extLst>
              <a:ext uri="{FF2B5EF4-FFF2-40B4-BE49-F238E27FC236}">
                <a16:creationId xmlns:a16="http://schemas.microsoft.com/office/drawing/2014/main" id="{0A4398BF-BF6F-444C-B810-01F8CD2C99D1}"/>
              </a:ext>
            </a:extLst>
          </p:cNvPr>
          <p:cNvSpPr>
            <a:spLocks noGrp="1"/>
          </p:cNvSpPr>
          <p:nvPr>
            <p:ph type="ftr" sz="quarter" idx="11"/>
          </p:nvPr>
        </p:nvSpPr>
        <p:spPr/>
        <p:txBody>
          <a:bodyPr/>
          <a:lstStyle/>
          <a:p>
            <a:pPr>
              <a:defRPr/>
            </a:pPr>
            <a:r>
              <a:rPr lang="en-US"/>
              <a:t>BUPT Compilers</a:t>
            </a:r>
          </a:p>
        </p:txBody>
      </p:sp>
      <p:sp>
        <p:nvSpPr>
          <p:cNvPr id="6" name="灯片编号占位符 5">
            <a:extLst>
              <a:ext uri="{FF2B5EF4-FFF2-40B4-BE49-F238E27FC236}">
                <a16:creationId xmlns:a16="http://schemas.microsoft.com/office/drawing/2014/main" id="{0F5B570F-9A54-4085-9BAC-F8F685A2E0CC}"/>
              </a:ext>
            </a:extLst>
          </p:cNvPr>
          <p:cNvSpPr>
            <a:spLocks noGrp="1"/>
          </p:cNvSpPr>
          <p:nvPr>
            <p:ph type="sldNum" sz="quarter" idx="12"/>
          </p:nvPr>
        </p:nvSpPr>
        <p:spPr/>
        <p:txBody>
          <a:bodyPr/>
          <a:lstStyle/>
          <a:p>
            <a:pPr>
              <a:defRPr/>
            </a:pPr>
            <a:fld id="{2FBC720A-3716-234A-B2DF-CBC7E48049F5}" type="slidenum">
              <a:rPr lang="en-US" altLang="zh-CN" smtClean="0"/>
              <a:t>84</a:t>
            </a:fld>
            <a:endParaRPr lang="en-US" altLang="zh-CN"/>
          </a:p>
        </p:txBody>
      </p:sp>
      <p:sp>
        <p:nvSpPr>
          <p:cNvPr id="7" name="Rectangle 432">
            <a:extLst>
              <a:ext uri="{FF2B5EF4-FFF2-40B4-BE49-F238E27FC236}">
                <a16:creationId xmlns:a16="http://schemas.microsoft.com/office/drawing/2014/main" id="{A816BFAE-8BFF-48CC-BD63-A3632D4A8FAA}"/>
              </a:ext>
            </a:extLst>
          </p:cNvPr>
          <p:cNvSpPr>
            <a:spLocks noChangeArrowheads="1"/>
          </p:cNvSpPr>
          <p:nvPr/>
        </p:nvSpPr>
        <p:spPr bwMode="auto">
          <a:xfrm>
            <a:off x="1128192" y="2947988"/>
            <a:ext cx="155785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600" b="1" dirty="0">
                <a:latin typeface="Times New Roman" panose="02020603050405020304" pitchFamily="18" charset="0"/>
                <a:cs typeface="Times New Roman" panose="02020603050405020304" pitchFamily="18" charset="0"/>
              </a:rPr>
              <a:t>{0,1,3,7}</a:t>
            </a:r>
            <a:r>
              <a:rPr lang="en-US" altLang="zh-CN" sz="1100" b="1" dirty="0"/>
              <a:t> </a:t>
            </a:r>
            <a:endParaRPr lang="en-US" altLang="zh-CN" sz="1800" b="1" dirty="0"/>
          </a:p>
        </p:txBody>
      </p:sp>
      <p:grpSp>
        <p:nvGrpSpPr>
          <p:cNvPr id="8" name="Group 445">
            <a:extLst>
              <a:ext uri="{FF2B5EF4-FFF2-40B4-BE49-F238E27FC236}">
                <a16:creationId xmlns:a16="http://schemas.microsoft.com/office/drawing/2014/main" id="{4968CA3B-EC56-42E9-AA27-C07096B974EF}"/>
              </a:ext>
            </a:extLst>
          </p:cNvPr>
          <p:cNvGrpSpPr>
            <a:grpSpLocks/>
          </p:cNvGrpSpPr>
          <p:nvPr/>
        </p:nvGrpSpPr>
        <p:grpSpPr bwMode="auto">
          <a:xfrm>
            <a:off x="3261792" y="2979738"/>
            <a:ext cx="4648200" cy="457200"/>
            <a:chOff x="-3" y="-3"/>
            <a:chExt cx="3346" cy="487"/>
          </a:xfrm>
        </p:grpSpPr>
        <p:grpSp>
          <p:nvGrpSpPr>
            <p:cNvPr id="9" name="Group 443">
              <a:extLst>
                <a:ext uri="{FF2B5EF4-FFF2-40B4-BE49-F238E27FC236}">
                  <a16:creationId xmlns:a16="http://schemas.microsoft.com/office/drawing/2014/main" id="{31EF3FC7-AA95-497D-A1D5-E065AC848FC5}"/>
                </a:ext>
              </a:extLst>
            </p:cNvPr>
            <p:cNvGrpSpPr>
              <a:grpSpLocks/>
            </p:cNvGrpSpPr>
            <p:nvPr/>
          </p:nvGrpSpPr>
          <p:grpSpPr bwMode="auto">
            <a:xfrm>
              <a:off x="0" y="0"/>
              <a:ext cx="3340" cy="481"/>
              <a:chOff x="0" y="0"/>
              <a:chExt cx="3340" cy="481"/>
            </a:xfrm>
          </p:grpSpPr>
          <p:grpSp>
            <p:nvGrpSpPr>
              <p:cNvPr id="11" name="Group 438">
                <a:extLst>
                  <a:ext uri="{FF2B5EF4-FFF2-40B4-BE49-F238E27FC236}">
                    <a16:creationId xmlns:a16="http://schemas.microsoft.com/office/drawing/2014/main" id="{F72C92DD-1DAB-4D20-AE27-59E30A10EBA3}"/>
                  </a:ext>
                </a:extLst>
              </p:cNvPr>
              <p:cNvGrpSpPr>
                <a:grpSpLocks/>
              </p:cNvGrpSpPr>
              <p:nvPr/>
            </p:nvGrpSpPr>
            <p:grpSpPr bwMode="auto">
              <a:xfrm>
                <a:off x="0" y="0"/>
                <a:ext cx="1670" cy="481"/>
                <a:chOff x="0" y="0"/>
                <a:chExt cx="1670" cy="481"/>
              </a:xfrm>
            </p:grpSpPr>
            <p:sp>
              <p:nvSpPr>
                <p:cNvPr id="17" name="Rectangle 437">
                  <a:extLst>
                    <a:ext uri="{FF2B5EF4-FFF2-40B4-BE49-F238E27FC236}">
                      <a16:creationId xmlns:a16="http://schemas.microsoft.com/office/drawing/2014/main" id="{3D992956-001F-4A69-9E2A-8D3BEDD71E6C}"/>
                    </a:ext>
                  </a:extLst>
                </p:cNvPr>
                <p:cNvSpPr>
                  <a:spLocks noChangeArrowheads="1"/>
                </p:cNvSpPr>
                <p:nvPr/>
              </p:nvSpPr>
              <p:spPr bwMode="auto">
                <a:xfrm>
                  <a:off x="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18" name="Group 436">
                  <a:extLst>
                    <a:ext uri="{FF2B5EF4-FFF2-40B4-BE49-F238E27FC236}">
                      <a16:creationId xmlns:a16="http://schemas.microsoft.com/office/drawing/2014/main" id="{87DB75E1-35AE-4D8E-9B77-32D43309B158}"/>
                    </a:ext>
                  </a:extLst>
                </p:cNvPr>
                <p:cNvGrpSpPr>
                  <a:grpSpLocks/>
                </p:cNvGrpSpPr>
                <p:nvPr/>
              </p:nvGrpSpPr>
              <p:grpSpPr bwMode="auto">
                <a:xfrm>
                  <a:off x="0" y="0"/>
                  <a:ext cx="1670" cy="481"/>
                  <a:chOff x="0" y="0"/>
                  <a:chExt cx="1670" cy="481"/>
                </a:xfrm>
              </p:grpSpPr>
              <p:sp>
                <p:nvSpPr>
                  <p:cNvPr id="19" name="Rectangle 433">
                    <a:extLst>
                      <a:ext uri="{FF2B5EF4-FFF2-40B4-BE49-F238E27FC236}">
                        <a16:creationId xmlns:a16="http://schemas.microsoft.com/office/drawing/2014/main" id="{31ECD614-7047-435F-83A0-2E5A367D6295}"/>
                      </a:ext>
                    </a:extLst>
                  </p:cNvPr>
                  <p:cNvSpPr>
                    <a:spLocks noChangeArrowheads="1"/>
                  </p:cNvSpPr>
                  <p:nvPr/>
                </p:nvSpPr>
                <p:spPr bwMode="auto">
                  <a:xfrm>
                    <a:off x="4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400" b="1" dirty="0">
                        <a:latin typeface="Times New Roman" panose="02020603050405020304" pitchFamily="18" charset="0"/>
                        <a:cs typeface="Times New Roman" panose="02020603050405020304" pitchFamily="18" charset="0"/>
                      </a:rPr>
                      <a:t>{2,4,7}</a:t>
                    </a:r>
                  </a:p>
                  <a:p>
                    <a:pPr algn="just" eaLnBrk="0" hangingPunct="0"/>
                    <a:endParaRPr lang="en-US" altLang="zh-CN" sz="2400" b="1" dirty="0"/>
                  </a:p>
                </p:txBody>
              </p:sp>
              <p:sp>
                <p:nvSpPr>
                  <p:cNvPr id="20" name="Rectangle 435">
                    <a:extLst>
                      <a:ext uri="{FF2B5EF4-FFF2-40B4-BE49-F238E27FC236}">
                        <a16:creationId xmlns:a16="http://schemas.microsoft.com/office/drawing/2014/main" id="{07ED763E-2101-4591-94BB-9279CCA9B483}"/>
                      </a:ext>
                    </a:extLst>
                  </p:cNvPr>
                  <p:cNvSpPr>
                    <a:spLocks noChangeArrowheads="1"/>
                  </p:cNvSpPr>
                  <p:nvPr/>
                </p:nvSpPr>
                <p:spPr bwMode="auto">
                  <a:xfrm>
                    <a:off x="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nvGrpSpPr>
              <p:cNvPr id="12" name="Group 442">
                <a:extLst>
                  <a:ext uri="{FF2B5EF4-FFF2-40B4-BE49-F238E27FC236}">
                    <a16:creationId xmlns:a16="http://schemas.microsoft.com/office/drawing/2014/main" id="{B85BAB12-F35B-4351-AE29-DBF20CB748B0}"/>
                  </a:ext>
                </a:extLst>
              </p:cNvPr>
              <p:cNvGrpSpPr>
                <a:grpSpLocks/>
              </p:cNvGrpSpPr>
              <p:nvPr/>
            </p:nvGrpSpPr>
            <p:grpSpPr bwMode="auto">
              <a:xfrm>
                <a:off x="1670" y="0"/>
                <a:ext cx="1670" cy="481"/>
                <a:chOff x="1670" y="0"/>
                <a:chExt cx="1670" cy="481"/>
              </a:xfrm>
            </p:grpSpPr>
            <p:sp>
              <p:nvSpPr>
                <p:cNvPr id="13" name="Rectangle 441">
                  <a:extLst>
                    <a:ext uri="{FF2B5EF4-FFF2-40B4-BE49-F238E27FC236}">
                      <a16:creationId xmlns:a16="http://schemas.microsoft.com/office/drawing/2014/main" id="{005C4EC4-9228-43DC-92D9-D3E288936DF0}"/>
                    </a:ext>
                  </a:extLst>
                </p:cNvPr>
                <p:cNvSpPr>
                  <a:spLocks noChangeArrowheads="1"/>
                </p:cNvSpPr>
                <p:nvPr/>
              </p:nvSpPr>
              <p:spPr bwMode="auto">
                <a:xfrm>
                  <a:off x="167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14" name="Group 440">
                  <a:extLst>
                    <a:ext uri="{FF2B5EF4-FFF2-40B4-BE49-F238E27FC236}">
                      <a16:creationId xmlns:a16="http://schemas.microsoft.com/office/drawing/2014/main" id="{75B82081-18F9-4014-AF8E-0E24CF0AEC03}"/>
                    </a:ext>
                  </a:extLst>
                </p:cNvPr>
                <p:cNvGrpSpPr>
                  <a:grpSpLocks/>
                </p:cNvGrpSpPr>
                <p:nvPr/>
              </p:nvGrpSpPr>
              <p:grpSpPr bwMode="auto">
                <a:xfrm>
                  <a:off x="1670" y="0"/>
                  <a:ext cx="1670" cy="481"/>
                  <a:chOff x="1670" y="0"/>
                  <a:chExt cx="1670" cy="481"/>
                </a:xfrm>
              </p:grpSpPr>
              <p:sp>
                <p:nvSpPr>
                  <p:cNvPr id="15" name="Rectangle 434">
                    <a:extLst>
                      <a:ext uri="{FF2B5EF4-FFF2-40B4-BE49-F238E27FC236}">
                        <a16:creationId xmlns:a16="http://schemas.microsoft.com/office/drawing/2014/main" id="{E804A97A-1E54-4F30-B045-5C5356ADDC9C}"/>
                      </a:ext>
                    </a:extLst>
                  </p:cNvPr>
                  <p:cNvSpPr>
                    <a:spLocks noChangeArrowheads="1"/>
                  </p:cNvSpPr>
                  <p:nvPr/>
                </p:nvSpPr>
                <p:spPr bwMode="auto">
                  <a:xfrm>
                    <a:off x="171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400" b="1" dirty="0">
                        <a:latin typeface="Times New Roman" panose="02020603050405020304" pitchFamily="18" charset="0"/>
                        <a:cs typeface="Times New Roman" panose="02020603050405020304" pitchFamily="18" charset="0"/>
                      </a:rPr>
                      <a:t>{8}</a:t>
                    </a:r>
                  </a:p>
                  <a:p>
                    <a:pPr algn="just" eaLnBrk="0" hangingPunct="0"/>
                    <a:endParaRPr lang="en-US" altLang="zh-CN" sz="2400" b="1" dirty="0"/>
                  </a:p>
                </p:txBody>
              </p:sp>
              <p:sp>
                <p:nvSpPr>
                  <p:cNvPr id="16" name="Rectangle 439">
                    <a:extLst>
                      <a:ext uri="{FF2B5EF4-FFF2-40B4-BE49-F238E27FC236}">
                        <a16:creationId xmlns:a16="http://schemas.microsoft.com/office/drawing/2014/main" id="{6639A230-CCD1-4486-A585-902039111457}"/>
                      </a:ext>
                    </a:extLst>
                  </p:cNvPr>
                  <p:cNvSpPr>
                    <a:spLocks noChangeArrowheads="1"/>
                  </p:cNvSpPr>
                  <p:nvPr/>
                </p:nvSpPr>
                <p:spPr bwMode="auto">
                  <a:xfrm>
                    <a:off x="167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sp>
          <p:nvSpPr>
            <p:cNvPr id="10" name="Rectangle 444">
              <a:extLst>
                <a:ext uri="{FF2B5EF4-FFF2-40B4-BE49-F238E27FC236}">
                  <a16:creationId xmlns:a16="http://schemas.microsoft.com/office/drawing/2014/main" id="{7239BF4B-61D3-483F-929C-E354C6482D2F}"/>
                </a:ext>
              </a:extLst>
            </p:cNvPr>
            <p:cNvSpPr>
              <a:spLocks noChangeArrowheads="1"/>
            </p:cNvSpPr>
            <p:nvPr/>
          </p:nvSpPr>
          <p:spPr bwMode="auto">
            <a:xfrm>
              <a:off x="-3" y="-3"/>
              <a:ext cx="3346" cy="48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21" name="Rectangle 446">
            <a:extLst>
              <a:ext uri="{FF2B5EF4-FFF2-40B4-BE49-F238E27FC236}">
                <a16:creationId xmlns:a16="http://schemas.microsoft.com/office/drawing/2014/main" id="{0A2DDA1A-F342-420C-B802-58597A832A37}"/>
              </a:ext>
            </a:extLst>
          </p:cNvPr>
          <p:cNvSpPr>
            <a:spLocks noChangeArrowheads="1"/>
          </p:cNvSpPr>
          <p:nvPr/>
        </p:nvSpPr>
        <p:spPr bwMode="auto">
          <a:xfrm>
            <a:off x="1128192" y="3405188"/>
            <a:ext cx="11430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600" b="1" dirty="0">
                <a:latin typeface="Times New Roman" panose="02020603050405020304" pitchFamily="18" charset="0"/>
                <a:cs typeface="Times New Roman" panose="02020603050405020304" pitchFamily="18" charset="0"/>
              </a:rPr>
              <a:t>{2,4,7} </a:t>
            </a:r>
            <a:endParaRPr lang="en-US" altLang="zh-CN" sz="1800" b="1" dirty="0"/>
          </a:p>
        </p:txBody>
      </p:sp>
      <p:grpSp>
        <p:nvGrpSpPr>
          <p:cNvPr id="22" name="Group 459">
            <a:extLst>
              <a:ext uri="{FF2B5EF4-FFF2-40B4-BE49-F238E27FC236}">
                <a16:creationId xmlns:a16="http://schemas.microsoft.com/office/drawing/2014/main" id="{E55CC597-0E90-40A1-8328-766005B93E57}"/>
              </a:ext>
            </a:extLst>
          </p:cNvPr>
          <p:cNvGrpSpPr>
            <a:grpSpLocks/>
          </p:cNvGrpSpPr>
          <p:nvPr/>
        </p:nvGrpSpPr>
        <p:grpSpPr bwMode="auto">
          <a:xfrm>
            <a:off x="3261792" y="3432176"/>
            <a:ext cx="4648200" cy="461962"/>
            <a:chOff x="-3" y="-3"/>
            <a:chExt cx="3346" cy="487"/>
          </a:xfrm>
        </p:grpSpPr>
        <p:grpSp>
          <p:nvGrpSpPr>
            <p:cNvPr id="23" name="Group 457">
              <a:extLst>
                <a:ext uri="{FF2B5EF4-FFF2-40B4-BE49-F238E27FC236}">
                  <a16:creationId xmlns:a16="http://schemas.microsoft.com/office/drawing/2014/main" id="{98FAF1C4-9D63-4191-A536-4C0A8B8A8428}"/>
                </a:ext>
              </a:extLst>
            </p:cNvPr>
            <p:cNvGrpSpPr>
              <a:grpSpLocks/>
            </p:cNvGrpSpPr>
            <p:nvPr/>
          </p:nvGrpSpPr>
          <p:grpSpPr bwMode="auto">
            <a:xfrm>
              <a:off x="0" y="0"/>
              <a:ext cx="3340" cy="481"/>
              <a:chOff x="0" y="0"/>
              <a:chExt cx="3340" cy="481"/>
            </a:xfrm>
          </p:grpSpPr>
          <p:grpSp>
            <p:nvGrpSpPr>
              <p:cNvPr id="25" name="Group 452">
                <a:extLst>
                  <a:ext uri="{FF2B5EF4-FFF2-40B4-BE49-F238E27FC236}">
                    <a16:creationId xmlns:a16="http://schemas.microsoft.com/office/drawing/2014/main" id="{D2A1036A-9631-463D-AEBC-670CB2710F4A}"/>
                  </a:ext>
                </a:extLst>
              </p:cNvPr>
              <p:cNvGrpSpPr>
                <a:grpSpLocks/>
              </p:cNvGrpSpPr>
              <p:nvPr/>
            </p:nvGrpSpPr>
            <p:grpSpPr bwMode="auto">
              <a:xfrm>
                <a:off x="0" y="0"/>
                <a:ext cx="1670" cy="481"/>
                <a:chOff x="0" y="0"/>
                <a:chExt cx="1670" cy="481"/>
              </a:xfrm>
            </p:grpSpPr>
            <p:sp>
              <p:nvSpPr>
                <p:cNvPr id="31" name="Rectangle 451">
                  <a:extLst>
                    <a:ext uri="{FF2B5EF4-FFF2-40B4-BE49-F238E27FC236}">
                      <a16:creationId xmlns:a16="http://schemas.microsoft.com/office/drawing/2014/main" id="{7AD83156-396C-4E22-9525-5EC74A966B23}"/>
                    </a:ext>
                  </a:extLst>
                </p:cNvPr>
                <p:cNvSpPr>
                  <a:spLocks noChangeArrowheads="1"/>
                </p:cNvSpPr>
                <p:nvPr/>
              </p:nvSpPr>
              <p:spPr bwMode="auto">
                <a:xfrm>
                  <a:off x="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32" name="Group 450">
                  <a:extLst>
                    <a:ext uri="{FF2B5EF4-FFF2-40B4-BE49-F238E27FC236}">
                      <a16:creationId xmlns:a16="http://schemas.microsoft.com/office/drawing/2014/main" id="{EBE4E1BC-FC2F-4BEC-887C-9FE02FD0B577}"/>
                    </a:ext>
                  </a:extLst>
                </p:cNvPr>
                <p:cNvGrpSpPr>
                  <a:grpSpLocks/>
                </p:cNvGrpSpPr>
                <p:nvPr/>
              </p:nvGrpSpPr>
              <p:grpSpPr bwMode="auto">
                <a:xfrm>
                  <a:off x="0" y="0"/>
                  <a:ext cx="1670" cy="481"/>
                  <a:chOff x="0" y="0"/>
                  <a:chExt cx="1670" cy="481"/>
                </a:xfrm>
              </p:grpSpPr>
              <p:sp>
                <p:nvSpPr>
                  <p:cNvPr id="33" name="Rectangle 447">
                    <a:extLst>
                      <a:ext uri="{FF2B5EF4-FFF2-40B4-BE49-F238E27FC236}">
                        <a16:creationId xmlns:a16="http://schemas.microsoft.com/office/drawing/2014/main" id="{A70E1EDC-890C-475D-BAA9-83AEEAE131DE}"/>
                      </a:ext>
                    </a:extLst>
                  </p:cNvPr>
                  <p:cNvSpPr>
                    <a:spLocks noChangeArrowheads="1"/>
                  </p:cNvSpPr>
                  <p:nvPr/>
                </p:nvSpPr>
                <p:spPr bwMode="auto">
                  <a:xfrm>
                    <a:off x="4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{7}</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34" name="Rectangle 449">
                    <a:extLst>
                      <a:ext uri="{FF2B5EF4-FFF2-40B4-BE49-F238E27FC236}">
                        <a16:creationId xmlns:a16="http://schemas.microsoft.com/office/drawing/2014/main" id="{FF27AAE3-31DB-42A9-8097-5D5C1194AD6E}"/>
                      </a:ext>
                    </a:extLst>
                  </p:cNvPr>
                  <p:cNvSpPr>
                    <a:spLocks noChangeArrowheads="1"/>
                  </p:cNvSpPr>
                  <p:nvPr/>
                </p:nvSpPr>
                <p:spPr bwMode="auto">
                  <a:xfrm>
                    <a:off x="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nvGrpSpPr>
              <p:cNvPr id="26" name="Group 456">
                <a:extLst>
                  <a:ext uri="{FF2B5EF4-FFF2-40B4-BE49-F238E27FC236}">
                    <a16:creationId xmlns:a16="http://schemas.microsoft.com/office/drawing/2014/main" id="{3C7023A2-B1E3-4CF1-9EFA-5305E7CF8629}"/>
                  </a:ext>
                </a:extLst>
              </p:cNvPr>
              <p:cNvGrpSpPr>
                <a:grpSpLocks/>
              </p:cNvGrpSpPr>
              <p:nvPr/>
            </p:nvGrpSpPr>
            <p:grpSpPr bwMode="auto">
              <a:xfrm>
                <a:off x="1670" y="0"/>
                <a:ext cx="1670" cy="481"/>
                <a:chOff x="1670" y="0"/>
                <a:chExt cx="1670" cy="481"/>
              </a:xfrm>
            </p:grpSpPr>
            <p:sp>
              <p:nvSpPr>
                <p:cNvPr id="27" name="Rectangle 455">
                  <a:extLst>
                    <a:ext uri="{FF2B5EF4-FFF2-40B4-BE49-F238E27FC236}">
                      <a16:creationId xmlns:a16="http://schemas.microsoft.com/office/drawing/2014/main" id="{9C695427-A35A-4E6A-8FAB-A0068F0F342D}"/>
                    </a:ext>
                  </a:extLst>
                </p:cNvPr>
                <p:cNvSpPr>
                  <a:spLocks noChangeArrowheads="1"/>
                </p:cNvSpPr>
                <p:nvPr/>
              </p:nvSpPr>
              <p:spPr bwMode="auto">
                <a:xfrm>
                  <a:off x="167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28" name="Group 454">
                  <a:extLst>
                    <a:ext uri="{FF2B5EF4-FFF2-40B4-BE49-F238E27FC236}">
                      <a16:creationId xmlns:a16="http://schemas.microsoft.com/office/drawing/2014/main" id="{C92205FD-DD9A-4021-9FD9-A4FE4028D5A3}"/>
                    </a:ext>
                  </a:extLst>
                </p:cNvPr>
                <p:cNvGrpSpPr>
                  <a:grpSpLocks/>
                </p:cNvGrpSpPr>
                <p:nvPr/>
              </p:nvGrpSpPr>
              <p:grpSpPr bwMode="auto">
                <a:xfrm>
                  <a:off x="1670" y="0"/>
                  <a:ext cx="1670" cy="481"/>
                  <a:chOff x="1670" y="0"/>
                  <a:chExt cx="1670" cy="481"/>
                </a:xfrm>
              </p:grpSpPr>
              <p:sp>
                <p:nvSpPr>
                  <p:cNvPr id="29" name="Rectangle 448">
                    <a:extLst>
                      <a:ext uri="{FF2B5EF4-FFF2-40B4-BE49-F238E27FC236}">
                        <a16:creationId xmlns:a16="http://schemas.microsoft.com/office/drawing/2014/main" id="{1B322013-3308-4220-B425-00533A5D899E}"/>
                      </a:ext>
                    </a:extLst>
                  </p:cNvPr>
                  <p:cNvSpPr>
                    <a:spLocks noChangeArrowheads="1"/>
                  </p:cNvSpPr>
                  <p:nvPr/>
                </p:nvSpPr>
                <p:spPr bwMode="auto">
                  <a:xfrm>
                    <a:off x="171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{5,8}</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30" name="Rectangle 453">
                    <a:extLst>
                      <a:ext uri="{FF2B5EF4-FFF2-40B4-BE49-F238E27FC236}">
                        <a16:creationId xmlns:a16="http://schemas.microsoft.com/office/drawing/2014/main" id="{0F6EDA78-23F6-4D6D-8B1F-001A8EA78A3A}"/>
                      </a:ext>
                    </a:extLst>
                  </p:cNvPr>
                  <p:cNvSpPr>
                    <a:spLocks noChangeArrowheads="1"/>
                  </p:cNvSpPr>
                  <p:nvPr/>
                </p:nvSpPr>
                <p:spPr bwMode="auto">
                  <a:xfrm>
                    <a:off x="167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sp>
          <p:nvSpPr>
            <p:cNvPr id="24" name="Rectangle 458">
              <a:extLst>
                <a:ext uri="{FF2B5EF4-FFF2-40B4-BE49-F238E27FC236}">
                  <a16:creationId xmlns:a16="http://schemas.microsoft.com/office/drawing/2014/main" id="{A88C103B-0DF4-41A4-BF74-B2F26AC1C0D4}"/>
                </a:ext>
              </a:extLst>
            </p:cNvPr>
            <p:cNvSpPr>
              <a:spLocks noChangeArrowheads="1"/>
            </p:cNvSpPr>
            <p:nvPr/>
          </p:nvSpPr>
          <p:spPr bwMode="auto">
            <a:xfrm>
              <a:off x="-3" y="-3"/>
              <a:ext cx="3346" cy="48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35" name="Rectangle 460">
            <a:extLst>
              <a:ext uri="{FF2B5EF4-FFF2-40B4-BE49-F238E27FC236}">
                <a16:creationId xmlns:a16="http://schemas.microsoft.com/office/drawing/2014/main" id="{00C8E0A9-5530-4F21-9E34-15C5541DE41F}"/>
              </a:ext>
            </a:extLst>
          </p:cNvPr>
          <p:cNvSpPr>
            <a:spLocks noChangeArrowheads="1"/>
          </p:cNvSpPr>
          <p:nvPr/>
        </p:nvSpPr>
        <p:spPr bwMode="auto">
          <a:xfrm>
            <a:off x="1128192" y="3786188"/>
            <a:ext cx="1219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600" b="1" dirty="0">
                <a:latin typeface="Times New Roman" panose="02020603050405020304" pitchFamily="18" charset="0"/>
                <a:cs typeface="Times New Roman" panose="02020603050405020304" pitchFamily="18" charset="0"/>
              </a:rPr>
              <a:t>{7}</a:t>
            </a:r>
            <a:r>
              <a:rPr lang="en-US" altLang="zh-CN" sz="1100" b="1" dirty="0"/>
              <a:t> </a:t>
            </a:r>
            <a:endParaRPr lang="en-US" altLang="zh-CN" sz="1800" b="1" dirty="0"/>
          </a:p>
        </p:txBody>
      </p:sp>
      <p:grpSp>
        <p:nvGrpSpPr>
          <p:cNvPr id="36" name="Group 473">
            <a:extLst>
              <a:ext uri="{FF2B5EF4-FFF2-40B4-BE49-F238E27FC236}">
                <a16:creationId xmlns:a16="http://schemas.microsoft.com/office/drawing/2014/main" id="{8DB51485-81AA-4EBB-BB25-D582218DAC4B}"/>
              </a:ext>
            </a:extLst>
          </p:cNvPr>
          <p:cNvGrpSpPr>
            <a:grpSpLocks/>
          </p:cNvGrpSpPr>
          <p:nvPr/>
        </p:nvGrpSpPr>
        <p:grpSpPr bwMode="auto">
          <a:xfrm>
            <a:off x="3261792" y="3894138"/>
            <a:ext cx="4648200" cy="461963"/>
            <a:chOff x="-3" y="-3"/>
            <a:chExt cx="3346" cy="487"/>
          </a:xfrm>
        </p:grpSpPr>
        <p:grpSp>
          <p:nvGrpSpPr>
            <p:cNvPr id="37" name="Group 471">
              <a:extLst>
                <a:ext uri="{FF2B5EF4-FFF2-40B4-BE49-F238E27FC236}">
                  <a16:creationId xmlns:a16="http://schemas.microsoft.com/office/drawing/2014/main" id="{A3C848F8-05A8-45BC-A1A4-5D2D1827A3E2}"/>
                </a:ext>
              </a:extLst>
            </p:cNvPr>
            <p:cNvGrpSpPr>
              <a:grpSpLocks/>
            </p:cNvGrpSpPr>
            <p:nvPr/>
          </p:nvGrpSpPr>
          <p:grpSpPr bwMode="auto">
            <a:xfrm>
              <a:off x="0" y="0"/>
              <a:ext cx="3340" cy="481"/>
              <a:chOff x="0" y="0"/>
              <a:chExt cx="3340" cy="481"/>
            </a:xfrm>
          </p:grpSpPr>
          <p:grpSp>
            <p:nvGrpSpPr>
              <p:cNvPr id="39" name="Group 466">
                <a:extLst>
                  <a:ext uri="{FF2B5EF4-FFF2-40B4-BE49-F238E27FC236}">
                    <a16:creationId xmlns:a16="http://schemas.microsoft.com/office/drawing/2014/main" id="{21AD1C1A-730F-4E96-A0B1-6773E911B30D}"/>
                  </a:ext>
                </a:extLst>
              </p:cNvPr>
              <p:cNvGrpSpPr>
                <a:grpSpLocks/>
              </p:cNvGrpSpPr>
              <p:nvPr/>
            </p:nvGrpSpPr>
            <p:grpSpPr bwMode="auto">
              <a:xfrm>
                <a:off x="0" y="0"/>
                <a:ext cx="1670" cy="481"/>
                <a:chOff x="0" y="0"/>
                <a:chExt cx="1670" cy="481"/>
              </a:xfrm>
            </p:grpSpPr>
            <p:sp>
              <p:nvSpPr>
                <p:cNvPr id="45" name="Rectangle 465">
                  <a:extLst>
                    <a:ext uri="{FF2B5EF4-FFF2-40B4-BE49-F238E27FC236}">
                      <a16:creationId xmlns:a16="http://schemas.microsoft.com/office/drawing/2014/main" id="{B3A10852-DD3D-4A80-B3D0-C5CD7A5953F5}"/>
                    </a:ext>
                  </a:extLst>
                </p:cNvPr>
                <p:cNvSpPr>
                  <a:spLocks noChangeArrowheads="1"/>
                </p:cNvSpPr>
                <p:nvPr/>
              </p:nvSpPr>
              <p:spPr bwMode="auto">
                <a:xfrm>
                  <a:off x="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46" name="Group 464">
                  <a:extLst>
                    <a:ext uri="{FF2B5EF4-FFF2-40B4-BE49-F238E27FC236}">
                      <a16:creationId xmlns:a16="http://schemas.microsoft.com/office/drawing/2014/main" id="{C7C0FD28-09C7-4AE1-B24F-E0849D4BC78B}"/>
                    </a:ext>
                  </a:extLst>
                </p:cNvPr>
                <p:cNvGrpSpPr>
                  <a:grpSpLocks/>
                </p:cNvGrpSpPr>
                <p:nvPr/>
              </p:nvGrpSpPr>
              <p:grpSpPr bwMode="auto">
                <a:xfrm>
                  <a:off x="0" y="0"/>
                  <a:ext cx="1670" cy="481"/>
                  <a:chOff x="0" y="0"/>
                  <a:chExt cx="1670" cy="481"/>
                </a:xfrm>
              </p:grpSpPr>
              <p:sp>
                <p:nvSpPr>
                  <p:cNvPr id="47" name="Rectangle 461">
                    <a:extLst>
                      <a:ext uri="{FF2B5EF4-FFF2-40B4-BE49-F238E27FC236}">
                        <a16:creationId xmlns:a16="http://schemas.microsoft.com/office/drawing/2014/main" id="{6AB5CD62-87FA-40E7-A161-55BF75C24546}"/>
                      </a:ext>
                    </a:extLst>
                  </p:cNvPr>
                  <p:cNvSpPr>
                    <a:spLocks noChangeArrowheads="1"/>
                  </p:cNvSpPr>
                  <p:nvPr/>
                </p:nvSpPr>
                <p:spPr bwMode="auto">
                  <a:xfrm>
                    <a:off x="4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{7}</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48" name="Rectangle 463">
                    <a:extLst>
                      <a:ext uri="{FF2B5EF4-FFF2-40B4-BE49-F238E27FC236}">
                        <a16:creationId xmlns:a16="http://schemas.microsoft.com/office/drawing/2014/main" id="{36AFFB8E-43FC-456C-AEE6-98FC348650A4}"/>
                      </a:ext>
                    </a:extLst>
                  </p:cNvPr>
                  <p:cNvSpPr>
                    <a:spLocks noChangeArrowheads="1"/>
                  </p:cNvSpPr>
                  <p:nvPr/>
                </p:nvSpPr>
                <p:spPr bwMode="auto">
                  <a:xfrm>
                    <a:off x="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nvGrpSpPr>
              <p:cNvPr id="40" name="Group 470">
                <a:extLst>
                  <a:ext uri="{FF2B5EF4-FFF2-40B4-BE49-F238E27FC236}">
                    <a16:creationId xmlns:a16="http://schemas.microsoft.com/office/drawing/2014/main" id="{72975871-A328-4533-8E91-C9D03854CA1F}"/>
                  </a:ext>
                </a:extLst>
              </p:cNvPr>
              <p:cNvGrpSpPr>
                <a:grpSpLocks/>
              </p:cNvGrpSpPr>
              <p:nvPr/>
            </p:nvGrpSpPr>
            <p:grpSpPr bwMode="auto">
              <a:xfrm>
                <a:off x="1670" y="0"/>
                <a:ext cx="1670" cy="481"/>
                <a:chOff x="1670" y="0"/>
                <a:chExt cx="1670" cy="481"/>
              </a:xfrm>
            </p:grpSpPr>
            <p:sp>
              <p:nvSpPr>
                <p:cNvPr id="41" name="Rectangle 469">
                  <a:extLst>
                    <a:ext uri="{FF2B5EF4-FFF2-40B4-BE49-F238E27FC236}">
                      <a16:creationId xmlns:a16="http://schemas.microsoft.com/office/drawing/2014/main" id="{2D5DB588-9A14-4571-AE9A-1B9849C23C3C}"/>
                    </a:ext>
                  </a:extLst>
                </p:cNvPr>
                <p:cNvSpPr>
                  <a:spLocks noChangeArrowheads="1"/>
                </p:cNvSpPr>
                <p:nvPr/>
              </p:nvSpPr>
              <p:spPr bwMode="auto">
                <a:xfrm>
                  <a:off x="167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42" name="Group 468">
                  <a:extLst>
                    <a:ext uri="{FF2B5EF4-FFF2-40B4-BE49-F238E27FC236}">
                      <a16:creationId xmlns:a16="http://schemas.microsoft.com/office/drawing/2014/main" id="{83FCB5C0-5429-4DAE-B5D5-AA8B72B8C1EF}"/>
                    </a:ext>
                  </a:extLst>
                </p:cNvPr>
                <p:cNvGrpSpPr>
                  <a:grpSpLocks/>
                </p:cNvGrpSpPr>
                <p:nvPr/>
              </p:nvGrpSpPr>
              <p:grpSpPr bwMode="auto">
                <a:xfrm>
                  <a:off x="1670" y="0"/>
                  <a:ext cx="1670" cy="481"/>
                  <a:chOff x="1670" y="0"/>
                  <a:chExt cx="1670" cy="481"/>
                </a:xfrm>
              </p:grpSpPr>
              <p:sp>
                <p:nvSpPr>
                  <p:cNvPr id="43" name="Rectangle 462">
                    <a:extLst>
                      <a:ext uri="{FF2B5EF4-FFF2-40B4-BE49-F238E27FC236}">
                        <a16:creationId xmlns:a16="http://schemas.microsoft.com/office/drawing/2014/main" id="{C85307B6-C0F4-451F-A893-1374FBA92021}"/>
                      </a:ext>
                    </a:extLst>
                  </p:cNvPr>
                  <p:cNvSpPr>
                    <a:spLocks noChangeArrowheads="1"/>
                  </p:cNvSpPr>
                  <p:nvPr/>
                </p:nvSpPr>
                <p:spPr bwMode="auto">
                  <a:xfrm>
                    <a:off x="171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{8}</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44" name="Rectangle 467">
                    <a:extLst>
                      <a:ext uri="{FF2B5EF4-FFF2-40B4-BE49-F238E27FC236}">
                        <a16:creationId xmlns:a16="http://schemas.microsoft.com/office/drawing/2014/main" id="{D84BB6C1-B014-45A3-8EEC-9A3DC81AFB41}"/>
                      </a:ext>
                    </a:extLst>
                  </p:cNvPr>
                  <p:cNvSpPr>
                    <a:spLocks noChangeArrowheads="1"/>
                  </p:cNvSpPr>
                  <p:nvPr/>
                </p:nvSpPr>
                <p:spPr bwMode="auto">
                  <a:xfrm>
                    <a:off x="167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sp>
          <p:nvSpPr>
            <p:cNvPr id="38" name="Rectangle 472">
              <a:extLst>
                <a:ext uri="{FF2B5EF4-FFF2-40B4-BE49-F238E27FC236}">
                  <a16:creationId xmlns:a16="http://schemas.microsoft.com/office/drawing/2014/main" id="{29293189-5720-4B91-AC59-52D1C8338605}"/>
                </a:ext>
              </a:extLst>
            </p:cNvPr>
            <p:cNvSpPr>
              <a:spLocks noChangeArrowheads="1"/>
            </p:cNvSpPr>
            <p:nvPr/>
          </p:nvSpPr>
          <p:spPr bwMode="auto">
            <a:xfrm>
              <a:off x="-3" y="-3"/>
              <a:ext cx="3346" cy="48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49" name="Rectangle 474">
            <a:extLst>
              <a:ext uri="{FF2B5EF4-FFF2-40B4-BE49-F238E27FC236}">
                <a16:creationId xmlns:a16="http://schemas.microsoft.com/office/drawing/2014/main" id="{D3718392-4B13-4CDE-ACD4-9C4AEB08A32B}"/>
              </a:ext>
            </a:extLst>
          </p:cNvPr>
          <p:cNvSpPr>
            <a:spLocks noChangeArrowheads="1"/>
          </p:cNvSpPr>
          <p:nvPr/>
        </p:nvSpPr>
        <p:spPr bwMode="auto">
          <a:xfrm>
            <a:off x="1128192" y="4243388"/>
            <a:ext cx="17526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600" b="1" dirty="0">
                <a:latin typeface="Times New Roman" panose="02020603050405020304" pitchFamily="18" charset="0"/>
                <a:cs typeface="Times New Roman" panose="02020603050405020304" pitchFamily="18" charset="0"/>
              </a:rPr>
              <a:t>{5,8}</a:t>
            </a:r>
            <a:r>
              <a:rPr lang="en-US" altLang="zh-CN" sz="1100" b="1" dirty="0"/>
              <a:t> </a:t>
            </a:r>
            <a:endParaRPr lang="en-US" altLang="zh-CN" sz="1800" b="1" dirty="0"/>
          </a:p>
        </p:txBody>
      </p:sp>
      <p:grpSp>
        <p:nvGrpSpPr>
          <p:cNvPr id="50" name="Group 487">
            <a:extLst>
              <a:ext uri="{FF2B5EF4-FFF2-40B4-BE49-F238E27FC236}">
                <a16:creationId xmlns:a16="http://schemas.microsoft.com/office/drawing/2014/main" id="{BF44D08A-6D78-447F-9428-A96EB1D41731}"/>
              </a:ext>
            </a:extLst>
          </p:cNvPr>
          <p:cNvGrpSpPr>
            <a:grpSpLocks/>
          </p:cNvGrpSpPr>
          <p:nvPr/>
        </p:nvGrpSpPr>
        <p:grpSpPr bwMode="auto">
          <a:xfrm>
            <a:off x="3261792" y="4351338"/>
            <a:ext cx="4648200" cy="457200"/>
            <a:chOff x="-3" y="-3"/>
            <a:chExt cx="3346" cy="487"/>
          </a:xfrm>
        </p:grpSpPr>
        <p:grpSp>
          <p:nvGrpSpPr>
            <p:cNvPr id="51" name="Group 485">
              <a:extLst>
                <a:ext uri="{FF2B5EF4-FFF2-40B4-BE49-F238E27FC236}">
                  <a16:creationId xmlns:a16="http://schemas.microsoft.com/office/drawing/2014/main" id="{43976F07-357D-4122-A5C0-5DFAC4EB063A}"/>
                </a:ext>
              </a:extLst>
            </p:cNvPr>
            <p:cNvGrpSpPr>
              <a:grpSpLocks/>
            </p:cNvGrpSpPr>
            <p:nvPr/>
          </p:nvGrpSpPr>
          <p:grpSpPr bwMode="auto">
            <a:xfrm>
              <a:off x="0" y="0"/>
              <a:ext cx="3340" cy="481"/>
              <a:chOff x="0" y="0"/>
              <a:chExt cx="3340" cy="481"/>
            </a:xfrm>
          </p:grpSpPr>
          <p:grpSp>
            <p:nvGrpSpPr>
              <p:cNvPr id="53" name="Group 480">
                <a:extLst>
                  <a:ext uri="{FF2B5EF4-FFF2-40B4-BE49-F238E27FC236}">
                    <a16:creationId xmlns:a16="http://schemas.microsoft.com/office/drawing/2014/main" id="{46B26541-F151-46D9-A16B-4482F8F78499}"/>
                  </a:ext>
                </a:extLst>
              </p:cNvPr>
              <p:cNvGrpSpPr>
                <a:grpSpLocks/>
              </p:cNvGrpSpPr>
              <p:nvPr/>
            </p:nvGrpSpPr>
            <p:grpSpPr bwMode="auto">
              <a:xfrm>
                <a:off x="0" y="0"/>
                <a:ext cx="1670" cy="481"/>
                <a:chOff x="0" y="0"/>
                <a:chExt cx="1670" cy="481"/>
              </a:xfrm>
            </p:grpSpPr>
            <p:sp>
              <p:nvSpPr>
                <p:cNvPr id="59" name="Rectangle 479">
                  <a:extLst>
                    <a:ext uri="{FF2B5EF4-FFF2-40B4-BE49-F238E27FC236}">
                      <a16:creationId xmlns:a16="http://schemas.microsoft.com/office/drawing/2014/main" id="{F5BFFA18-D8AC-4728-A23C-B4CACECC88B3}"/>
                    </a:ext>
                  </a:extLst>
                </p:cNvPr>
                <p:cNvSpPr>
                  <a:spLocks noChangeArrowheads="1"/>
                </p:cNvSpPr>
                <p:nvPr/>
              </p:nvSpPr>
              <p:spPr bwMode="auto">
                <a:xfrm>
                  <a:off x="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60" name="Group 478">
                  <a:extLst>
                    <a:ext uri="{FF2B5EF4-FFF2-40B4-BE49-F238E27FC236}">
                      <a16:creationId xmlns:a16="http://schemas.microsoft.com/office/drawing/2014/main" id="{906C397D-B17D-4886-84F5-EBC4E6CC6EB0}"/>
                    </a:ext>
                  </a:extLst>
                </p:cNvPr>
                <p:cNvGrpSpPr>
                  <a:grpSpLocks/>
                </p:cNvGrpSpPr>
                <p:nvPr/>
              </p:nvGrpSpPr>
              <p:grpSpPr bwMode="auto">
                <a:xfrm>
                  <a:off x="0" y="0"/>
                  <a:ext cx="1670" cy="481"/>
                  <a:chOff x="0" y="0"/>
                  <a:chExt cx="1670" cy="481"/>
                </a:xfrm>
              </p:grpSpPr>
              <p:sp>
                <p:nvSpPr>
                  <p:cNvPr id="61" name="Rectangle 475">
                    <a:extLst>
                      <a:ext uri="{FF2B5EF4-FFF2-40B4-BE49-F238E27FC236}">
                        <a16:creationId xmlns:a16="http://schemas.microsoft.com/office/drawing/2014/main" id="{5DEA4600-84CB-4A9C-BBFB-61F73ECB4B12}"/>
                      </a:ext>
                    </a:extLst>
                  </p:cNvPr>
                  <p:cNvSpPr>
                    <a:spLocks noChangeArrowheads="1"/>
                  </p:cNvSpPr>
                  <p:nvPr/>
                </p:nvSpPr>
                <p:spPr bwMode="auto">
                  <a:xfrm>
                    <a:off x="4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400" b="1" i="1" dirty="0">
                        <a:solidFill>
                          <a:srgbClr val="000000"/>
                        </a:solidFill>
                        <a:latin typeface="Times New Roman" panose="02020603050405020304" pitchFamily="18" charset="0"/>
                      </a:rPr>
                      <a:t>Ø</a:t>
                    </a:r>
                    <a:endParaRPr lang="en-US" altLang="zh-CN" sz="2400" b="1" dirty="0"/>
                  </a:p>
                </p:txBody>
              </p:sp>
              <p:sp>
                <p:nvSpPr>
                  <p:cNvPr id="62" name="Rectangle 477">
                    <a:extLst>
                      <a:ext uri="{FF2B5EF4-FFF2-40B4-BE49-F238E27FC236}">
                        <a16:creationId xmlns:a16="http://schemas.microsoft.com/office/drawing/2014/main" id="{A1B7599F-B3E3-4315-9278-499BDE21956B}"/>
                      </a:ext>
                    </a:extLst>
                  </p:cNvPr>
                  <p:cNvSpPr>
                    <a:spLocks noChangeArrowheads="1"/>
                  </p:cNvSpPr>
                  <p:nvPr/>
                </p:nvSpPr>
                <p:spPr bwMode="auto">
                  <a:xfrm>
                    <a:off x="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nvGrpSpPr>
              <p:cNvPr id="54" name="Group 484">
                <a:extLst>
                  <a:ext uri="{FF2B5EF4-FFF2-40B4-BE49-F238E27FC236}">
                    <a16:creationId xmlns:a16="http://schemas.microsoft.com/office/drawing/2014/main" id="{47E7930E-CA8C-4A26-B1C3-59735BBDF5F2}"/>
                  </a:ext>
                </a:extLst>
              </p:cNvPr>
              <p:cNvGrpSpPr>
                <a:grpSpLocks/>
              </p:cNvGrpSpPr>
              <p:nvPr/>
            </p:nvGrpSpPr>
            <p:grpSpPr bwMode="auto">
              <a:xfrm>
                <a:off x="1670" y="0"/>
                <a:ext cx="1670" cy="481"/>
                <a:chOff x="1670" y="0"/>
                <a:chExt cx="1670" cy="481"/>
              </a:xfrm>
            </p:grpSpPr>
            <p:sp>
              <p:nvSpPr>
                <p:cNvPr id="55" name="Rectangle 483">
                  <a:extLst>
                    <a:ext uri="{FF2B5EF4-FFF2-40B4-BE49-F238E27FC236}">
                      <a16:creationId xmlns:a16="http://schemas.microsoft.com/office/drawing/2014/main" id="{90CE2028-2437-44A6-88FD-4C750039121C}"/>
                    </a:ext>
                  </a:extLst>
                </p:cNvPr>
                <p:cNvSpPr>
                  <a:spLocks noChangeArrowheads="1"/>
                </p:cNvSpPr>
                <p:nvPr/>
              </p:nvSpPr>
              <p:spPr bwMode="auto">
                <a:xfrm>
                  <a:off x="167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56" name="Group 482">
                  <a:extLst>
                    <a:ext uri="{FF2B5EF4-FFF2-40B4-BE49-F238E27FC236}">
                      <a16:creationId xmlns:a16="http://schemas.microsoft.com/office/drawing/2014/main" id="{DB28826B-988A-4173-9C7C-CE35E5D7F286}"/>
                    </a:ext>
                  </a:extLst>
                </p:cNvPr>
                <p:cNvGrpSpPr>
                  <a:grpSpLocks/>
                </p:cNvGrpSpPr>
                <p:nvPr/>
              </p:nvGrpSpPr>
              <p:grpSpPr bwMode="auto">
                <a:xfrm>
                  <a:off x="1670" y="0"/>
                  <a:ext cx="1670" cy="481"/>
                  <a:chOff x="1670" y="0"/>
                  <a:chExt cx="1670" cy="481"/>
                </a:xfrm>
              </p:grpSpPr>
              <p:sp>
                <p:nvSpPr>
                  <p:cNvPr id="57" name="Rectangle 476">
                    <a:extLst>
                      <a:ext uri="{FF2B5EF4-FFF2-40B4-BE49-F238E27FC236}">
                        <a16:creationId xmlns:a16="http://schemas.microsoft.com/office/drawing/2014/main" id="{771B12E3-C014-4949-848A-53CFABD3D04F}"/>
                      </a:ext>
                    </a:extLst>
                  </p:cNvPr>
                  <p:cNvSpPr>
                    <a:spLocks noChangeArrowheads="1"/>
                  </p:cNvSpPr>
                  <p:nvPr/>
                </p:nvSpPr>
                <p:spPr bwMode="auto">
                  <a:xfrm>
                    <a:off x="171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{6,8}</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58" name="Rectangle 481">
                    <a:extLst>
                      <a:ext uri="{FF2B5EF4-FFF2-40B4-BE49-F238E27FC236}">
                        <a16:creationId xmlns:a16="http://schemas.microsoft.com/office/drawing/2014/main" id="{00EC3158-9536-4270-96F5-D33230BDF77C}"/>
                      </a:ext>
                    </a:extLst>
                  </p:cNvPr>
                  <p:cNvSpPr>
                    <a:spLocks noChangeArrowheads="1"/>
                  </p:cNvSpPr>
                  <p:nvPr/>
                </p:nvSpPr>
                <p:spPr bwMode="auto">
                  <a:xfrm>
                    <a:off x="167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sp>
          <p:nvSpPr>
            <p:cNvPr id="52" name="Rectangle 486">
              <a:extLst>
                <a:ext uri="{FF2B5EF4-FFF2-40B4-BE49-F238E27FC236}">
                  <a16:creationId xmlns:a16="http://schemas.microsoft.com/office/drawing/2014/main" id="{F07194B6-376D-40FC-AA22-AE79EB7CD014}"/>
                </a:ext>
              </a:extLst>
            </p:cNvPr>
            <p:cNvSpPr>
              <a:spLocks noChangeArrowheads="1"/>
            </p:cNvSpPr>
            <p:nvPr/>
          </p:nvSpPr>
          <p:spPr bwMode="auto">
            <a:xfrm>
              <a:off x="-3" y="-3"/>
              <a:ext cx="3346" cy="48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63" name="Rectangle 488">
            <a:extLst>
              <a:ext uri="{FF2B5EF4-FFF2-40B4-BE49-F238E27FC236}">
                <a16:creationId xmlns:a16="http://schemas.microsoft.com/office/drawing/2014/main" id="{EACD9269-46BA-40B6-8FBF-A7A3A7952D23}"/>
              </a:ext>
            </a:extLst>
          </p:cNvPr>
          <p:cNvSpPr>
            <a:spLocks noChangeArrowheads="1"/>
          </p:cNvSpPr>
          <p:nvPr/>
        </p:nvSpPr>
        <p:spPr bwMode="auto">
          <a:xfrm>
            <a:off x="1128192" y="4700588"/>
            <a:ext cx="1981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600" b="1" dirty="0">
                <a:latin typeface="Times New Roman" panose="02020603050405020304" pitchFamily="18" charset="0"/>
                <a:cs typeface="Times New Roman" panose="02020603050405020304" pitchFamily="18" charset="0"/>
              </a:rPr>
              <a:t>{8}</a:t>
            </a:r>
            <a:r>
              <a:rPr lang="en-US" altLang="zh-CN" sz="1100" b="1" dirty="0"/>
              <a:t> </a:t>
            </a:r>
            <a:endParaRPr lang="en-US" altLang="zh-CN" sz="1800" b="1" dirty="0"/>
          </a:p>
        </p:txBody>
      </p:sp>
      <p:grpSp>
        <p:nvGrpSpPr>
          <p:cNvPr id="64" name="Group 501">
            <a:extLst>
              <a:ext uri="{FF2B5EF4-FFF2-40B4-BE49-F238E27FC236}">
                <a16:creationId xmlns:a16="http://schemas.microsoft.com/office/drawing/2014/main" id="{AAD60CFE-11F5-4016-BBBC-38D4D51E334B}"/>
              </a:ext>
            </a:extLst>
          </p:cNvPr>
          <p:cNvGrpSpPr>
            <a:grpSpLocks/>
          </p:cNvGrpSpPr>
          <p:nvPr/>
        </p:nvGrpSpPr>
        <p:grpSpPr bwMode="auto">
          <a:xfrm>
            <a:off x="3261792" y="4732338"/>
            <a:ext cx="4648200" cy="457200"/>
            <a:chOff x="-3" y="-3"/>
            <a:chExt cx="3346" cy="487"/>
          </a:xfrm>
        </p:grpSpPr>
        <p:grpSp>
          <p:nvGrpSpPr>
            <p:cNvPr id="65" name="Group 499">
              <a:extLst>
                <a:ext uri="{FF2B5EF4-FFF2-40B4-BE49-F238E27FC236}">
                  <a16:creationId xmlns:a16="http://schemas.microsoft.com/office/drawing/2014/main" id="{E0D6DE27-339C-4E5E-8852-94FD5AE65995}"/>
                </a:ext>
              </a:extLst>
            </p:cNvPr>
            <p:cNvGrpSpPr>
              <a:grpSpLocks/>
            </p:cNvGrpSpPr>
            <p:nvPr/>
          </p:nvGrpSpPr>
          <p:grpSpPr bwMode="auto">
            <a:xfrm>
              <a:off x="0" y="0"/>
              <a:ext cx="3340" cy="481"/>
              <a:chOff x="0" y="0"/>
              <a:chExt cx="3340" cy="481"/>
            </a:xfrm>
          </p:grpSpPr>
          <p:grpSp>
            <p:nvGrpSpPr>
              <p:cNvPr id="67" name="Group 494">
                <a:extLst>
                  <a:ext uri="{FF2B5EF4-FFF2-40B4-BE49-F238E27FC236}">
                    <a16:creationId xmlns:a16="http://schemas.microsoft.com/office/drawing/2014/main" id="{BBF7E557-83A7-4054-9326-D87C55F55ACE}"/>
                  </a:ext>
                </a:extLst>
              </p:cNvPr>
              <p:cNvGrpSpPr>
                <a:grpSpLocks/>
              </p:cNvGrpSpPr>
              <p:nvPr/>
            </p:nvGrpSpPr>
            <p:grpSpPr bwMode="auto">
              <a:xfrm>
                <a:off x="0" y="0"/>
                <a:ext cx="1670" cy="481"/>
                <a:chOff x="0" y="0"/>
                <a:chExt cx="1670" cy="481"/>
              </a:xfrm>
            </p:grpSpPr>
            <p:sp>
              <p:nvSpPr>
                <p:cNvPr id="73" name="Rectangle 493">
                  <a:extLst>
                    <a:ext uri="{FF2B5EF4-FFF2-40B4-BE49-F238E27FC236}">
                      <a16:creationId xmlns:a16="http://schemas.microsoft.com/office/drawing/2014/main" id="{0C78779C-77C1-49D8-B54E-61DDD5A9C5BF}"/>
                    </a:ext>
                  </a:extLst>
                </p:cNvPr>
                <p:cNvSpPr>
                  <a:spLocks noChangeArrowheads="1"/>
                </p:cNvSpPr>
                <p:nvPr/>
              </p:nvSpPr>
              <p:spPr bwMode="auto">
                <a:xfrm>
                  <a:off x="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74" name="Group 492">
                  <a:extLst>
                    <a:ext uri="{FF2B5EF4-FFF2-40B4-BE49-F238E27FC236}">
                      <a16:creationId xmlns:a16="http://schemas.microsoft.com/office/drawing/2014/main" id="{B29DDA4A-60DC-46ED-81D3-53BE3DA09CBE}"/>
                    </a:ext>
                  </a:extLst>
                </p:cNvPr>
                <p:cNvGrpSpPr>
                  <a:grpSpLocks/>
                </p:cNvGrpSpPr>
                <p:nvPr/>
              </p:nvGrpSpPr>
              <p:grpSpPr bwMode="auto">
                <a:xfrm>
                  <a:off x="0" y="0"/>
                  <a:ext cx="1670" cy="481"/>
                  <a:chOff x="0" y="0"/>
                  <a:chExt cx="1670" cy="481"/>
                </a:xfrm>
              </p:grpSpPr>
              <p:sp>
                <p:nvSpPr>
                  <p:cNvPr id="75" name="Rectangle 489">
                    <a:extLst>
                      <a:ext uri="{FF2B5EF4-FFF2-40B4-BE49-F238E27FC236}">
                        <a16:creationId xmlns:a16="http://schemas.microsoft.com/office/drawing/2014/main" id="{AB3562EB-E414-4005-918F-5EDE7668D5FD}"/>
                      </a:ext>
                    </a:extLst>
                  </p:cNvPr>
                  <p:cNvSpPr>
                    <a:spLocks noChangeArrowheads="1"/>
                  </p:cNvSpPr>
                  <p:nvPr/>
                </p:nvSpPr>
                <p:spPr bwMode="auto">
                  <a:xfrm>
                    <a:off x="4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400" b="1" i="1" dirty="0">
                        <a:solidFill>
                          <a:srgbClr val="000000"/>
                        </a:solidFill>
                        <a:latin typeface="Times New Roman" panose="02020603050405020304" pitchFamily="18" charset="0"/>
                      </a:rPr>
                      <a:t>Ø</a:t>
                    </a:r>
                    <a:endParaRPr lang="en-US" altLang="zh-CN" sz="2400" b="1" dirty="0"/>
                  </a:p>
                  <a:p>
                    <a:pPr algn="just" eaLnBrk="0" hangingPunct="0"/>
                    <a:endParaRPr lang="en-US" altLang="zh-CN" sz="1800" b="1" dirty="0"/>
                  </a:p>
                </p:txBody>
              </p:sp>
              <p:sp>
                <p:nvSpPr>
                  <p:cNvPr id="76" name="Rectangle 491">
                    <a:extLst>
                      <a:ext uri="{FF2B5EF4-FFF2-40B4-BE49-F238E27FC236}">
                        <a16:creationId xmlns:a16="http://schemas.microsoft.com/office/drawing/2014/main" id="{5FAFFC60-DB0B-4B54-A5FA-747401A24AB2}"/>
                      </a:ext>
                    </a:extLst>
                  </p:cNvPr>
                  <p:cNvSpPr>
                    <a:spLocks noChangeArrowheads="1"/>
                  </p:cNvSpPr>
                  <p:nvPr/>
                </p:nvSpPr>
                <p:spPr bwMode="auto">
                  <a:xfrm>
                    <a:off x="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nvGrpSpPr>
              <p:cNvPr id="68" name="Group 498">
                <a:extLst>
                  <a:ext uri="{FF2B5EF4-FFF2-40B4-BE49-F238E27FC236}">
                    <a16:creationId xmlns:a16="http://schemas.microsoft.com/office/drawing/2014/main" id="{6D1E7518-A5AC-4C99-96A8-9B00553FFEB4}"/>
                  </a:ext>
                </a:extLst>
              </p:cNvPr>
              <p:cNvGrpSpPr>
                <a:grpSpLocks/>
              </p:cNvGrpSpPr>
              <p:nvPr/>
            </p:nvGrpSpPr>
            <p:grpSpPr bwMode="auto">
              <a:xfrm>
                <a:off x="1670" y="0"/>
                <a:ext cx="1670" cy="481"/>
                <a:chOff x="1670" y="0"/>
                <a:chExt cx="1670" cy="481"/>
              </a:xfrm>
            </p:grpSpPr>
            <p:sp>
              <p:nvSpPr>
                <p:cNvPr id="69" name="Rectangle 497">
                  <a:extLst>
                    <a:ext uri="{FF2B5EF4-FFF2-40B4-BE49-F238E27FC236}">
                      <a16:creationId xmlns:a16="http://schemas.microsoft.com/office/drawing/2014/main" id="{3C4AA71D-6222-4466-8A2D-0DA8D85AFDCC}"/>
                    </a:ext>
                  </a:extLst>
                </p:cNvPr>
                <p:cNvSpPr>
                  <a:spLocks noChangeArrowheads="1"/>
                </p:cNvSpPr>
                <p:nvPr/>
              </p:nvSpPr>
              <p:spPr bwMode="auto">
                <a:xfrm>
                  <a:off x="167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70" name="Group 496">
                  <a:extLst>
                    <a:ext uri="{FF2B5EF4-FFF2-40B4-BE49-F238E27FC236}">
                      <a16:creationId xmlns:a16="http://schemas.microsoft.com/office/drawing/2014/main" id="{A53F79F4-0EF8-46D2-BFEA-AFE544A2BFB4}"/>
                    </a:ext>
                  </a:extLst>
                </p:cNvPr>
                <p:cNvGrpSpPr>
                  <a:grpSpLocks/>
                </p:cNvGrpSpPr>
                <p:nvPr/>
              </p:nvGrpSpPr>
              <p:grpSpPr bwMode="auto">
                <a:xfrm>
                  <a:off x="1670" y="0"/>
                  <a:ext cx="1670" cy="481"/>
                  <a:chOff x="1670" y="0"/>
                  <a:chExt cx="1670" cy="481"/>
                </a:xfrm>
              </p:grpSpPr>
              <p:sp>
                <p:nvSpPr>
                  <p:cNvPr id="71" name="Rectangle 490">
                    <a:extLst>
                      <a:ext uri="{FF2B5EF4-FFF2-40B4-BE49-F238E27FC236}">
                        <a16:creationId xmlns:a16="http://schemas.microsoft.com/office/drawing/2014/main" id="{881BD230-9E7A-46BA-8D9F-A1A1FEB2B9D5}"/>
                      </a:ext>
                    </a:extLst>
                  </p:cNvPr>
                  <p:cNvSpPr>
                    <a:spLocks noChangeArrowheads="1"/>
                  </p:cNvSpPr>
                  <p:nvPr/>
                </p:nvSpPr>
                <p:spPr bwMode="auto">
                  <a:xfrm>
                    <a:off x="171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{8}</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72" name="Rectangle 495">
                    <a:extLst>
                      <a:ext uri="{FF2B5EF4-FFF2-40B4-BE49-F238E27FC236}">
                        <a16:creationId xmlns:a16="http://schemas.microsoft.com/office/drawing/2014/main" id="{B00C01F2-421A-4ECE-8F39-D1E192FA55B9}"/>
                      </a:ext>
                    </a:extLst>
                  </p:cNvPr>
                  <p:cNvSpPr>
                    <a:spLocks noChangeArrowheads="1"/>
                  </p:cNvSpPr>
                  <p:nvPr/>
                </p:nvSpPr>
                <p:spPr bwMode="auto">
                  <a:xfrm>
                    <a:off x="167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sp>
          <p:nvSpPr>
            <p:cNvPr id="66" name="Rectangle 500">
              <a:extLst>
                <a:ext uri="{FF2B5EF4-FFF2-40B4-BE49-F238E27FC236}">
                  <a16:creationId xmlns:a16="http://schemas.microsoft.com/office/drawing/2014/main" id="{E7FAD3E3-4DE2-4D7E-8E45-B28C3F845401}"/>
                </a:ext>
              </a:extLst>
            </p:cNvPr>
            <p:cNvSpPr>
              <a:spLocks noChangeArrowheads="1"/>
            </p:cNvSpPr>
            <p:nvPr/>
          </p:nvSpPr>
          <p:spPr bwMode="auto">
            <a:xfrm>
              <a:off x="-3" y="-3"/>
              <a:ext cx="3346" cy="48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77" name="Rectangle 502">
            <a:extLst>
              <a:ext uri="{FF2B5EF4-FFF2-40B4-BE49-F238E27FC236}">
                <a16:creationId xmlns:a16="http://schemas.microsoft.com/office/drawing/2014/main" id="{51B05CEB-C372-4FED-BA44-AA28FDA4A20B}"/>
              </a:ext>
            </a:extLst>
          </p:cNvPr>
          <p:cNvSpPr>
            <a:spLocks noChangeArrowheads="1"/>
          </p:cNvSpPr>
          <p:nvPr/>
        </p:nvSpPr>
        <p:spPr bwMode="auto">
          <a:xfrm>
            <a:off x="1123928" y="5113338"/>
            <a:ext cx="1833064"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600" b="1" dirty="0">
                <a:latin typeface="Times New Roman" panose="02020603050405020304" pitchFamily="18" charset="0"/>
                <a:cs typeface="Times New Roman" panose="02020603050405020304" pitchFamily="18" charset="0"/>
              </a:rPr>
              <a:t>{6,8}</a:t>
            </a:r>
            <a:r>
              <a:rPr lang="en-US" altLang="zh-CN" sz="1100" b="1" dirty="0"/>
              <a:t> </a:t>
            </a:r>
            <a:endParaRPr lang="en-US" altLang="zh-CN" sz="1800" b="1" dirty="0"/>
          </a:p>
        </p:txBody>
      </p:sp>
      <p:grpSp>
        <p:nvGrpSpPr>
          <p:cNvPr id="78" name="Group 515">
            <a:extLst>
              <a:ext uri="{FF2B5EF4-FFF2-40B4-BE49-F238E27FC236}">
                <a16:creationId xmlns:a16="http://schemas.microsoft.com/office/drawing/2014/main" id="{1813DC3B-4856-4D06-8275-0D62F4E404A7}"/>
              </a:ext>
            </a:extLst>
          </p:cNvPr>
          <p:cNvGrpSpPr>
            <a:grpSpLocks/>
          </p:cNvGrpSpPr>
          <p:nvPr/>
        </p:nvGrpSpPr>
        <p:grpSpPr bwMode="auto">
          <a:xfrm>
            <a:off x="3261792" y="5189538"/>
            <a:ext cx="4648200" cy="457200"/>
            <a:chOff x="-3" y="-3"/>
            <a:chExt cx="3346" cy="487"/>
          </a:xfrm>
        </p:grpSpPr>
        <p:grpSp>
          <p:nvGrpSpPr>
            <p:cNvPr id="79" name="Group 513">
              <a:extLst>
                <a:ext uri="{FF2B5EF4-FFF2-40B4-BE49-F238E27FC236}">
                  <a16:creationId xmlns:a16="http://schemas.microsoft.com/office/drawing/2014/main" id="{859651D0-3228-412D-BEEF-159836816045}"/>
                </a:ext>
              </a:extLst>
            </p:cNvPr>
            <p:cNvGrpSpPr>
              <a:grpSpLocks/>
            </p:cNvGrpSpPr>
            <p:nvPr/>
          </p:nvGrpSpPr>
          <p:grpSpPr bwMode="auto">
            <a:xfrm>
              <a:off x="0" y="0"/>
              <a:ext cx="3340" cy="481"/>
              <a:chOff x="0" y="0"/>
              <a:chExt cx="3340" cy="481"/>
            </a:xfrm>
          </p:grpSpPr>
          <p:grpSp>
            <p:nvGrpSpPr>
              <p:cNvPr id="81" name="Group 508">
                <a:extLst>
                  <a:ext uri="{FF2B5EF4-FFF2-40B4-BE49-F238E27FC236}">
                    <a16:creationId xmlns:a16="http://schemas.microsoft.com/office/drawing/2014/main" id="{CFB9F9D1-456E-458A-8097-712FB683E79D}"/>
                  </a:ext>
                </a:extLst>
              </p:cNvPr>
              <p:cNvGrpSpPr>
                <a:grpSpLocks/>
              </p:cNvGrpSpPr>
              <p:nvPr/>
            </p:nvGrpSpPr>
            <p:grpSpPr bwMode="auto">
              <a:xfrm>
                <a:off x="0" y="0"/>
                <a:ext cx="1670" cy="481"/>
                <a:chOff x="0" y="0"/>
                <a:chExt cx="1670" cy="481"/>
              </a:xfrm>
            </p:grpSpPr>
            <p:sp>
              <p:nvSpPr>
                <p:cNvPr id="87" name="Rectangle 507">
                  <a:extLst>
                    <a:ext uri="{FF2B5EF4-FFF2-40B4-BE49-F238E27FC236}">
                      <a16:creationId xmlns:a16="http://schemas.microsoft.com/office/drawing/2014/main" id="{D9363B2F-96FB-4579-9B67-CE3DB1C01839}"/>
                    </a:ext>
                  </a:extLst>
                </p:cNvPr>
                <p:cNvSpPr>
                  <a:spLocks noChangeArrowheads="1"/>
                </p:cNvSpPr>
                <p:nvPr/>
              </p:nvSpPr>
              <p:spPr bwMode="auto">
                <a:xfrm>
                  <a:off x="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88" name="Group 506">
                  <a:extLst>
                    <a:ext uri="{FF2B5EF4-FFF2-40B4-BE49-F238E27FC236}">
                      <a16:creationId xmlns:a16="http://schemas.microsoft.com/office/drawing/2014/main" id="{6A83A6C3-5451-4DD8-B580-703A99D3F376}"/>
                    </a:ext>
                  </a:extLst>
                </p:cNvPr>
                <p:cNvGrpSpPr>
                  <a:grpSpLocks/>
                </p:cNvGrpSpPr>
                <p:nvPr/>
              </p:nvGrpSpPr>
              <p:grpSpPr bwMode="auto">
                <a:xfrm>
                  <a:off x="0" y="0"/>
                  <a:ext cx="1670" cy="481"/>
                  <a:chOff x="0" y="0"/>
                  <a:chExt cx="1670" cy="481"/>
                </a:xfrm>
              </p:grpSpPr>
              <p:sp>
                <p:nvSpPr>
                  <p:cNvPr id="89" name="Rectangle 503">
                    <a:extLst>
                      <a:ext uri="{FF2B5EF4-FFF2-40B4-BE49-F238E27FC236}">
                        <a16:creationId xmlns:a16="http://schemas.microsoft.com/office/drawing/2014/main" id="{FE7A3738-D698-4635-883E-07D0856E8987}"/>
                      </a:ext>
                    </a:extLst>
                  </p:cNvPr>
                  <p:cNvSpPr>
                    <a:spLocks noChangeArrowheads="1"/>
                  </p:cNvSpPr>
                  <p:nvPr/>
                </p:nvSpPr>
                <p:spPr bwMode="auto">
                  <a:xfrm>
                    <a:off x="4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a:latin typeface="Times New Roman" panose="02020603050405020304" pitchFamily="18" charset="0"/>
                        <a:cs typeface="Times New Roman" panose="02020603050405020304" pitchFamily="18" charset="0"/>
                      </a:rPr>
                      <a:t>{1,2,3,6,f}</a:t>
                    </a:r>
                    <a:endParaRPr lang="en-US" altLang="zh-CN" sz="1200" b="1">
                      <a:latin typeface="Times New Roman" panose="02020603050405020304" pitchFamily="18" charset="0"/>
                      <a:cs typeface="Times New Roman" panose="02020603050405020304" pitchFamily="18" charset="0"/>
                    </a:endParaRPr>
                  </a:p>
                  <a:p>
                    <a:pPr algn="just" eaLnBrk="0" hangingPunct="0"/>
                    <a:endParaRPr lang="en-US" altLang="zh-CN" sz="1800" b="1"/>
                  </a:p>
                </p:txBody>
              </p:sp>
              <p:sp>
                <p:nvSpPr>
                  <p:cNvPr id="90" name="Rectangle 505">
                    <a:extLst>
                      <a:ext uri="{FF2B5EF4-FFF2-40B4-BE49-F238E27FC236}">
                        <a16:creationId xmlns:a16="http://schemas.microsoft.com/office/drawing/2014/main" id="{F9692811-0F9B-40C0-80B2-17985325053C}"/>
                      </a:ext>
                    </a:extLst>
                  </p:cNvPr>
                  <p:cNvSpPr>
                    <a:spLocks noChangeArrowheads="1"/>
                  </p:cNvSpPr>
                  <p:nvPr/>
                </p:nvSpPr>
                <p:spPr bwMode="auto">
                  <a:xfrm>
                    <a:off x="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nvGrpSpPr>
              <p:cNvPr id="82" name="Group 512">
                <a:extLst>
                  <a:ext uri="{FF2B5EF4-FFF2-40B4-BE49-F238E27FC236}">
                    <a16:creationId xmlns:a16="http://schemas.microsoft.com/office/drawing/2014/main" id="{8E4F7892-AABE-4ABF-B515-97BDA1EC1681}"/>
                  </a:ext>
                </a:extLst>
              </p:cNvPr>
              <p:cNvGrpSpPr>
                <a:grpSpLocks/>
              </p:cNvGrpSpPr>
              <p:nvPr/>
            </p:nvGrpSpPr>
            <p:grpSpPr bwMode="auto">
              <a:xfrm>
                <a:off x="1670" y="0"/>
                <a:ext cx="1670" cy="481"/>
                <a:chOff x="1670" y="0"/>
                <a:chExt cx="1670" cy="481"/>
              </a:xfrm>
            </p:grpSpPr>
            <p:sp>
              <p:nvSpPr>
                <p:cNvPr id="83" name="Rectangle 511">
                  <a:extLst>
                    <a:ext uri="{FF2B5EF4-FFF2-40B4-BE49-F238E27FC236}">
                      <a16:creationId xmlns:a16="http://schemas.microsoft.com/office/drawing/2014/main" id="{236A5D1C-46E0-49E4-9C72-DF561F42C20F}"/>
                    </a:ext>
                  </a:extLst>
                </p:cNvPr>
                <p:cNvSpPr>
                  <a:spLocks noChangeArrowheads="1"/>
                </p:cNvSpPr>
                <p:nvPr/>
              </p:nvSpPr>
              <p:spPr bwMode="auto">
                <a:xfrm>
                  <a:off x="1670" y="0"/>
                  <a:ext cx="1670"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nvGrpSpPr>
                <p:cNvPr id="84" name="Group 510">
                  <a:extLst>
                    <a:ext uri="{FF2B5EF4-FFF2-40B4-BE49-F238E27FC236}">
                      <a16:creationId xmlns:a16="http://schemas.microsoft.com/office/drawing/2014/main" id="{FA940CBC-4FA8-46D0-B777-8845C4DD6E20}"/>
                    </a:ext>
                  </a:extLst>
                </p:cNvPr>
                <p:cNvGrpSpPr>
                  <a:grpSpLocks/>
                </p:cNvGrpSpPr>
                <p:nvPr/>
              </p:nvGrpSpPr>
              <p:grpSpPr bwMode="auto">
                <a:xfrm>
                  <a:off x="1670" y="0"/>
                  <a:ext cx="1670" cy="481"/>
                  <a:chOff x="1670" y="0"/>
                  <a:chExt cx="1670" cy="481"/>
                </a:xfrm>
              </p:grpSpPr>
              <p:sp>
                <p:nvSpPr>
                  <p:cNvPr id="85" name="Rectangle 504">
                    <a:extLst>
                      <a:ext uri="{FF2B5EF4-FFF2-40B4-BE49-F238E27FC236}">
                        <a16:creationId xmlns:a16="http://schemas.microsoft.com/office/drawing/2014/main" id="{EA73058F-DF73-408A-97C4-66B68EFC60BB}"/>
                      </a:ext>
                    </a:extLst>
                  </p:cNvPr>
                  <p:cNvSpPr>
                    <a:spLocks noChangeArrowheads="1"/>
                  </p:cNvSpPr>
                  <p:nvPr/>
                </p:nvSpPr>
                <p:spPr bwMode="auto">
                  <a:xfrm>
                    <a:off x="1713" y="0"/>
                    <a:ext cx="1584" cy="48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600" b="1" dirty="0">
                        <a:latin typeface="Times New Roman" panose="02020603050405020304" pitchFamily="18" charset="0"/>
                        <a:cs typeface="Times New Roman" panose="02020603050405020304" pitchFamily="18" charset="0"/>
                      </a:rPr>
                      <a:t>{8}</a:t>
                    </a:r>
                    <a:endParaRPr lang="en-US" altLang="zh-CN" sz="1200" b="1" dirty="0">
                      <a:latin typeface="Times New Roman" panose="02020603050405020304" pitchFamily="18" charset="0"/>
                      <a:cs typeface="Times New Roman" panose="02020603050405020304" pitchFamily="18" charset="0"/>
                    </a:endParaRPr>
                  </a:p>
                  <a:p>
                    <a:pPr algn="just" eaLnBrk="0" hangingPunct="0"/>
                    <a:endParaRPr lang="en-US" altLang="zh-CN" sz="1800" b="1" dirty="0"/>
                  </a:p>
                </p:txBody>
              </p:sp>
              <p:sp>
                <p:nvSpPr>
                  <p:cNvPr id="86" name="Rectangle 509">
                    <a:extLst>
                      <a:ext uri="{FF2B5EF4-FFF2-40B4-BE49-F238E27FC236}">
                        <a16:creationId xmlns:a16="http://schemas.microsoft.com/office/drawing/2014/main" id="{F406648E-141F-40A0-9E3F-67342EF19ADC}"/>
                      </a:ext>
                    </a:extLst>
                  </p:cNvPr>
                  <p:cNvSpPr>
                    <a:spLocks noChangeArrowheads="1"/>
                  </p:cNvSpPr>
                  <p:nvPr/>
                </p:nvSpPr>
                <p:spPr bwMode="auto">
                  <a:xfrm>
                    <a:off x="1670" y="0"/>
                    <a:ext cx="1670"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grpSp>
        <p:sp>
          <p:nvSpPr>
            <p:cNvPr id="80" name="Rectangle 514">
              <a:extLst>
                <a:ext uri="{FF2B5EF4-FFF2-40B4-BE49-F238E27FC236}">
                  <a16:creationId xmlns:a16="http://schemas.microsoft.com/office/drawing/2014/main" id="{162329CA-84DC-4A20-A96C-3E9160349F97}"/>
                </a:ext>
              </a:extLst>
            </p:cNvPr>
            <p:cNvSpPr>
              <a:spLocks noChangeArrowheads="1"/>
            </p:cNvSpPr>
            <p:nvPr/>
          </p:nvSpPr>
          <p:spPr bwMode="auto">
            <a:xfrm>
              <a:off x="-3" y="-3"/>
              <a:ext cx="3346" cy="48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05" name="Group 553">
            <a:extLst>
              <a:ext uri="{FF2B5EF4-FFF2-40B4-BE49-F238E27FC236}">
                <a16:creationId xmlns:a16="http://schemas.microsoft.com/office/drawing/2014/main" id="{E9391A32-77D0-4461-92E5-F134C6042DEE}"/>
              </a:ext>
            </a:extLst>
          </p:cNvPr>
          <p:cNvGrpSpPr>
            <a:grpSpLocks/>
          </p:cNvGrpSpPr>
          <p:nvPr/>
        </p:nvGrpSpPr>
        <p:grpSpPr bwMode="auto">
          <a:xfrm>
            <a:off x="899592" y="2979738"/>
            <a:ext cx="2362200" cy="3124200"/>
            <a:chOff x="-3" y="-3"/>
            <a:chExt cx="1662" cy="3199"/>
          </a:xfrm>
        </p:grpSpPr>
        <p:grpSp>
          <p:nvGrpSpPr>
            <p:cNvPr id="106" name="Group 551">
              <a:extLst>
                <a:ext uri="{FF2B5EF4-FFF2-40B4-BE49-F238E27FC236}">
                  <a16:creationId xmlns:a16="http://schemas.microsoft.com/office/drawing/2014/main" id="{677DFE8C-E47B-4B31-9A50-427101815E8B}"/>
                </a:ext>
              </a:extLst>
            </p:cNvPr>
            <p:cNvGrpSpPr>
              <a:grpSpLocks/>
            </p:cNvGrpSpPr>
            <p:nvPr/>
          </p:nvGrpSpPr>
          <p:grpSpPr bwMode="auto">
            <a:xfrm>
              <a:off x="0" y="0"/>
              <a:ext cx="1656" cy="3193"/>
              <a:chOff x="0" y="0"/>
              <a:chExt cx="1656" cy="3193"/>
            </a:xfrm>
          </p:grpSpPr>
          <p:grpSp>
            <p:nvGrpSpPr>
              <p:cNvPr id="108" name="Group 538">
                <a:extLst>
                  <a:ext uri="{FF2B5EF4-FFF2-40B4-BE49-F238E27FC236}">
                    <a16:creationId xmlns:a16="http://schemas.microsoft.com/office/drawing/2014/main" id="{D74B95FC-0B74-4071-AAC5-07E149BD861E}"/>
                  </a:ext>
                </a:extLst>
              </p:cNvPr>
              <p:cNvGrpSpPr>
                <a:grpSpLocks/>
              </p:cNvGrpSpPr>
              <p:nvPr/>
            </p:nvGrpSpPr>
            <p:grpSpPr bwMode="auto">
              <a:xfrm>
                <a:off x="0" y="0"/>
                <a:ext cx="1656" cy="452"/>
                <a:chOff x="0" y="0"/>
                <a:chExt cx="1656" cy="452"/>
              </a:xfrm>
            </p:grpSpPr>
            <p:sp>
              <p:nvSpPr>
                <p:cNvPr id="127" name="Rectangle 530">
                  <a:extLst>
                    <a:ext uri="{FF2B5EF4-FFF2-40B4-BE49-F238E27FC236}">
                      <a16:creationId xmlns:a16="http://schemas.microsoft.com/office/drawing/2014/main" id="{4E1D1B9C-E995-4FD8-BBD5-E90E62EACE53}"/>
                    </a:ext>
                  </a:extLst>
                </p:cNvPr>
                <p:cNvSpPr>
                  <a:spLocks noChangeArrowheads="1"/>
                </p:cNvSpPr>
                <p:nvPr/>
              </p:nvSpPr>
              <p:spPr bwMode="auto">
                <a:xfrm>
                  <a:off x="43" y="0"/>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en-US" altLang="zh-CN" sz="1800" b="1" i="1" dirty="0"/>
                </a:p>
              </p:txBody>
            </p:sp>
            <p:sp>
              <p:nvSpPr>
                <p:cNvPr id="128" name="Rectangle 537">
                  <a:extLst>
                    <a:ext uri="{FF2B5EF4-FFF2-40B4-BE49-F238E27FC236}">
                      <a16:creationId xmlns:a16="http://schemas.microsoft.com/office/drawing/2014/main" id="{B2A98081-5945-4040-B435-1211645DDD22}"/>
                    </a:ext>
                  </a:extLst>
                </p:cNvPr>
                <p:cNvSpPr>
                  <a:spLocks noChangeArrowheads="1"/>
                </p:cNvSpPr>
                <p:nvPr/>
              </p:nvSpPr>
              <p:spPr bwMode="auto">
                <a:xfrm>
                  <a:off x="0" y="0"/>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09" name="Group 540">
                <a:extLst>
                  <a:ext uri="{FF2B5EF4-FFF2-40B4-BE49-F238E27FC236}">
                    <a16:creationId xmlns:a16="http://schemas.microsoft.com/office/drawing/2014/main" id="{250F6BA4-58B5-4005-B7A2-94FDFA2191CB}"/>
                  </a:ext>
                </a:extLst>
              </p:cNvPr>
              <p:cNvGrpSpPr>
                <a:grpSpLocks/>
              </p:cNvGrpSpPr>
              <p:nvPr/>
            </p:nvGrpSpPr>
            <p:grpSpPr bwMode="auto">
              <a:xfrm>
                <a:off x="0" y="452"/>
                <a:ext cx="1656" cy="481"/>
                <a:chOff x="0" y="452"/>
                <a:chExt cx="1656" cy="481"/>
              </a:xfrm>
            </p:grpSpPr>
            <p:sp>
              <p:nvSpPr>
                <p:cNvPr id="125" name="Rectangle 531">
                  <a:extLst>
                    <a:ext uri="{FF2B5EF4-FFF2-40B4-BE49-F238E27FC236}">
                      <a16:creationId xmlns:a16="http://schemas.microsoft.com/office/drawing/2014/main" id="{A2611AC4-2D84-40BD-9ADE-158A352BAEE1}"/>
                    </a:ext>
                  </a:extLst>
                </p:cNvPr>
                <p:cNvSpPr>
                  <a:spLocks noChangeArrowheads="1"/>
                </p:cNvSpPr>
                <p:nvPr/>
              </p:nvSpPr>
              <p:spPr bwMode="auto">
                <a:xfrm>
                  <a:off x="43" y="452"/>
                  <a:ext cx="1570" cy="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endParaRPr lang="en-US" altLang="zh-CN" sz="1800" b="1" i="1" dirty="0"/>
                </a:p>
              </p:txBody>
            </p:sp>
            <p:sp>
              <p:nvSpPr>
                <p:cNvPr id="126" name="Rectangle 539">
                  <a:extLst>
                    <a:ext uri="{FF2B5EF4-FFF2-40B4-BE49-F238E27FC236}">
                      <a16:creationId xmlns:a16="http://schemas.microsoft.com/office/drawing/2014/main" id="{66EF2952-4D1A-46FF-8EF7-A0EDF397787D}"/>
                    </a:ext>
                  </a:extLst>
                </p:cNvPr>
                <p:cNvSpPr>
                  <a:spLocks noChangeArrowheads="1"/>
                </p:cNvSpPr>
                <p:nvPr/>
              </p:nvSpPr>
              <p:spPr bwMode="auto">
                <a:xfrm>
                  <a:off x="0" y="452"/>
                  <a:ext cx="1656"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10" name="Group 542">
                <a:extLst>
                  <a:ext uri="{FF2B5EF4-FFF2-40B4-BE49-F238E27FC236}">
                    <a16:creationId xmlns:a16="http://schemas.microsoft.com/office/drawing/2014/main" id="{0DA4ED41-08C9-4B1B-9F7D-7D6DCCDB9D9F}"/>
                  </a:ext>
                </a:extLst>
              </p:cNvPr>
              <p:cNvGrpSpPr>
                <a:grpSpLocks/>
              </p:cNvGrpSpPr>
              <p:nvPr/>
            </p:nvGrpSpPr>
            <p:grpSpPr bwMode="auto">
              <a:xfrm>
                <a:off x="0" y="933"/>
                <a:ext cx="1656" cy="452"/>
                <a:chOff x="0" y="933"/>
                <a:chExt cx="1656" cy="452"/>
              </a:xfrm>
            </p:grpSpPr>
            <p:sp>
              <p:nvSpPr>
                <p:cNvPr id="123" name="Rectangle 532">
                  <a:extLst>
                    <a:ext uri="{FF2B5EF4-FFF2-40B4-BE49-F238E27FC236}">
                      <a16:creationId xmlns:a16="http://schemas.microsoft.com/office/drawing/2014/main" id="{DA414EBE-D657-4ACA-A51D-61C0004DFBE9}"/>
                    </a:ext>
                  </a:extLst>
                </p:cNvPr>
                <p:cNvSpPr>
                  <a:spLocks noChangeArrowheads="1"/>
                </p:cNvSpPr>
                <p:nvPr/>
              </p:nvSpPr>
              <p:spPr bwMode="auto">
                <a:xfrm>
                  <a:off x="43" y="933"/>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en-US" altLang="zh-CN" sz="1800" b="1" i="1" dirty="0"/>
                </a:p>
              </p:txBody>
            </p:sp>
            <p:sp>
              <p:nvSpPr>
                <p:cNvPr id="124" name="Rectangle 541">
                  <a:extLst>
                    <a:ext uri="{FF2B5EF4-FFF2-40B4-BE49-F238E27FC236}">
                      <a16:creationId xmlns:a16="http://schemas.microsoft.com/office/drawing/2014/main" id="{EC52FBB5-9910-4307-A277-3E7671B11226}"/>
                    </a:ext>
                  </a:extLst>
                </p:cNvPr>
                <p:cNvSpPr>
                  <a:spLocks noChangeArrowheads="1"/>
                </p:cNvSpPr>
                <p:nvPr/>
              </p:nvSpPr>
              <p:spPr bwMode="auto">
                <a:xfrm>
                  <a:off x="0" y="933"/>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11" name="Group 544">
                <a:extLst>
                  <a:ext uri="{FF2B5EF4-FFF2-40B4-BE49-F238E27FC236}">
                    <a16:creationId xmlns:a16="http://schemas.microsoft.com/office/drawing/2014/main" id="{BA7D0C21-71E1-4E27-8CB6-0BFDAB364871}"/>
                  </a:ext>
                </a:extLst>
              </p:cNvPr>
              <p:cNvGrpSpPr>
                <a:grpSpLocks/>
              </p:cNvGrpSpPr>
              <p:nvPr/>
            </p:nvGrpSpPr>
            <p:grpSpPr bwMode="auto">
              <a:xfrm>
                <a:off x="0" y="1385"/>
                <a:ext cx="1656" cy="452"/>
                <a:chOff x="0" y="1385"/>
                <a:chExt cx="1656" cy="452"/>
              </a:xfrm>
            </p:grpSpPr>
            <p:sp>
              <p:nvSpPr>
                <p:cNvPr id="121" name="Rectangle 533">
                  <a:extLst>
                    <a:ext uri="{FF2B5EF4-FFF2-40B4-BE49-F238E27FC236}">
                      <a16:creationId xmlns:a16="http://schemas.microsoft.com/office/drawing/2014/main" id="{7B29E574-FD5F-4109-B019-0C41E6E7BCBA}"/>
                    </a:ext>
                  </a:extLst>
                </p:cNvPr>
                <p:cNvSpPr>
                  <a:spLocks noChangeArrowheads="1"/>
                </p:cNvSpPr>
                <p:nvPr/>
              </p:nvSpPr>
              <p:spPr bwMode="auto">
                <a:xfrm>
                  <a:off x="43" y="1385"/>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en-US" altLang="zh-CN" sz="1800" b="1" i="1" dirty="0"/>
                </a:p>
              </p:txBody>
            </p:sp>
            <p:sp>
              <p:nvSpPr>
                <p:cNvPr id="122" name="Rectangle 543">
                  <a:extLst>
                    <a:ext uri="{FF2B5EF4-FFF2-40B4-BE49-F238E27FC236}">
                      <a16:creationId xmlns:a16="http://schemas.microsoft.com/office/drawing/2014/main" id="{8797C569-608B-4C47-A564-3326DE1E4D94}"/>
                    </a:ext>
                  </a:extLst>
                </p:cNvPr>
                <p:cNvSpPr>
                  <a:spLocks noChangeArrowheads="1"/>
                </p:cNvSpPr>
                <p:nvPr/>
              </p:nvSpPr>
              <p:spPr bwMode="auto">
                <a:xfrm>
                  <a:off x="0" y="1385"/>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12" name="Group 546">
                <a:extLst>
                  <a:ext uri="{FF2B5EF4-FFF2-40B4-BE49-F238E27FC236}">
                    <a16:creationId xmlns:a16="http://schemas.microsoft.com/office/drawing/2014/main" id="{095DBD63-B9FF-44AD-AA56-62A676A6C82B}"/>
                  </a:ext>
                </a:extLst>
              </p:cNvPr>
              <p:cNvGrpSpPr>
                <a:grpSpLocks/>
              </p:cNvGrpSpPr>
              <p:nvPr/>
            </p:nvGrpSpPr>
            <p:grpSpPr bwMode="auto">
              <a:xfrm>
                <a:off x="0" y="1837"/>
                <a:ext cx="1656" cy="452"/>
                <a:chOff x="0" y="1837"/>
                <a:chExt cx="1656" cy="452"/>
              </a:xfrm>
            </p:grpSpPr>
            <p:sp>
              <p:nvSpPr>
                <p:cNvPr id="119" name="Rectangle 534">
                  <a:extLst>
                    <a:ext uri="{FF2B5EF4-FFF2-40B4-BE49-F238E27FC236}">
                      <a16:creationId xmlns:a16="http://schemas.microsoft.com/office/drawing/2014/main" id="{A6C25CA9-7276-4FC1-8FFC-E2939EB1F6E2}"/>
                    </a:ext>
                  </a:extLst>
                </p:cNvPr>
                <p:cNvSpPr>
                  <a:spLocks noChangeArrowheads="1"/>
                </p:cNvSpPr>
                <p:nvPr/>
              </p:nvSpPr>
              <p:spPr bwMode="auto">
                <a:xfrm>
                  <a:off x="43" y="1837"/>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en-US" altLang="zh-CN" sz="1800" b="1" i="1" dirty="0"/>
                </a:p>
              </p:txBody>
            </p:sp>
            <p:sp>
              <p:nvSpPr>
                <p:cNvPr id="120" name="Rectangle 545">
                  <a:extLst>
                    <a:ext uri="{FF2B5EF4-FFF2-40B4-BE49-F238E27FC236}">
                      <a16:creationId xmlns:a16="http://schemas.microsoft.com/office/drawing/2014/main" id="{9624AFB7-89DA-4DE3-A43B-676575BBE709}"/>
                    </a:ext>
                  </a:extLst>
                </p:cNvPr>
                <p:cNvSpPr>
                  <a:spLocks noChangeArrowheads="1"/>
                </p:cNvSpPr>
                <p:nvPr/>
              </p:nvSpPr>
              <p:spPr bwMode="auto">
                <a:xfrm>
                  <a:off x="0" y="1837"/>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13" name="Group 548">
                <a:extLst>
                  <a:ext uri="{FF2B5EF4-FFF2-40B4-BE49-F238E27FC236}">
                    <a16:creationId xmlns:a16="http://schemas.microsoft.com/office/drawing/2014/main" id="{55DC7AA6-D217-4BE8-823A-FEB7E1AE7723}"/>
                  </a:ext>
                </a:extLst>
              </p:cNvPr>
              <p:cNvGrpSpPr>
                <a:grpSpLocks/>
              </p:cNvGrpSpPr>
              <p:nvPr/>
            </p:nvGrpSpPr>
            <p:grpSpPr bwMode="auto">
              <a:xfrm>
                <a:off x="0" y="2289"/>
                <a:ext cx="1656" cy="452"/>
                <a:chOff x="0" y="2289"/>
                <a:chExt cx="1656" cy="452"/>
              </a:xfrm>
            </p:grpSpPr>
            <p:sp>
              <p:nvSpPr>
                <p:cNvPr id="117" name="Rectangle 535">
                  <a:extLst>
                    <a:ext uri="{FF2B5EF4-FFF2-40B4-BE49-F238E27FC236}">
                      <a16:creationId xmlns:a16="http://schemas.microsoft.com/office/drawing/2014/main" id="{9F78C021-A873-4DB6-9481-A8C66D4BE505}"/>
                    </a:ext>
                  </a:extLst>
                </p:cNvPr>
                <p:cNvSpPr>
                  <a:spLocks noChangeArrowheads="1"/>
                </p:cNvSpPr>
                <p:nvPr/>
              </p:nvSpPr>
              <p:spPr bwMode="auto">
                <a:xfrm>
                  <a:off x="43" y="2289"/>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en-US" altLang="zh-CN" sz="1800" b="1" i="1" dirty="0"/>
                </a:p>
              </p:txBody>
            </p:sp>
            <p:sp>
              <p:nvSpPr>
                <p:cNvPr id="118" name="Rectangle 547">
                  <a:extLst>
                    <a:ext uri="{FF2B5EF4-FFF2-40B4-BE49-F238E27FC236}">
                      <a16:creationId xmlns:a16="http://schemas.microsoft.com/office/drawing/2014/main" id="{8C42440A-244E-4AF8-BFB8-94890D31219E}"/>
                    </a:ext>
                  </a:extLst>
                </p:cNvPr>
                <p:cNvSpPr>
                  <a:spLocks noChangeArrowheads="1"/>
                </p:cNvSpPr>
                <p:nvPr/>
              </p:nvSpPr>
              <p:spPr bwMode="auto">
                <a:xfrm>
                  <a:off x="0" y="2289"/>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116" name="Rectangle 549">
                <a:extLst>
                  <a:ext uri="{FF2B5EF4-FFF2-40B4-BE49-F238E27FC236}">
                    <a16:creationId xmlns:a16="http://schemas.microsoft.com/office/drawing/2014/main" id="{0D0658ED-F9CE-4AB0-A445-C9B3672D8E2F}"/>
                  </a:ext>
                </a:extLst>
              </p:cNvPr>
              <p:cNvSpPr>
                <a:spLocks noChangeArrowheads="1"/>
              </p:cNvSpPr>
              <p:nvPr/>
            </p:nvSpPr>
            <p:spPr bwMode="auto">
              <a:xfrm>
                <a:off x="0" y="2741"/>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107" name="Rectangle 552">
              <a:extLst>
                <a:ext uri="{FF2B5EF4-FFF2-40B4-BE49-F238E27FC236}">
                  <a16:creationId xmlns:a16="http://schemas.microsoft.com/office/drawing/2014/main" id="{7835C9A1-B67F-4D1A-8C13-C7C7CD8751B2}"/>
                </a:ext>
              </a:extLst>
            </p:cNvPr>
            <p:cNvSpPr>
              <a:spLocks noChangeArrowheads="1"/>
            </p:cNvSpPr>
            <p:nvPr/>
          </p:nvSpPr>
          <p:spPr bwMode="auto">
            <a:xfrm>
              <a:off x="-3" y="-3"/>
              <a:ext cx="1662" cy="3199"/>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32" name="Group 629">
            <a:extLst>
              <a:ext uri="{FF2B5EF4-FFF2-40B4-BE49-F238E27FC236}">
                <a16:creationId xmlns:a16="http://schemas.microsoft.com/office/drawing/2014/main" id="{B595BD4C-C354-49D5-A9B1-C61F5DA57696}"/>
              </a:ext>
            </a:extLst>
          </p:cNvPr>
          <p:cNvGrpSpPr>
            <a:grpSpLocks/>
          </p:cNvGrpSpPr>
          <p:nvPr/>
        </p:nvGrpSpPr>
        <p:grpSpPr bwMode="auto">
          <a:xfrm>
            <a:off x="899592" y="2979738"/>
            <a:ext cx="2362200" cy="3124200"/>
            <a:chOff x="-3" y="-3"/>
            <a:chExt cx="1662" cy="3199"/>
          </a:xfrm>
        </p:grpSpPr>
        <p:grpSp>
          <p:nvGrpSpPr>
            <p:cNvPr id="133" name="Group 630">
              <a:extLst>
                <a:ext uri="{FF2B5EF4-FFF2-40B4-BE49-F238E27FC236}">
                  <a16:creationId xmlns:a16="http://schemas.microsoft.com/office/drawing/2014/main" id="{6E3263FB-ACC8-4209-90AD-286494347A61}"/>
                </a:ext>
              </a:extLst>
            </p:cNvPr>
            <p:cNvGrpSpPr>
              <a:grpSpLocks/>
            </p:cNvGrpSpPr>
            <p:nvPr/>
          </p:nvGrpSpPr>
          <p:grpSpPr bwMode="auto">
            <a:xfrm>
              <a:off x="0" y="0"/>
              <a:ext cx="1656" cy="3193"/>
              <a:chOff x="0" y="0"/>
              <a:chExt cx="1656" cy="3193"/>
            </a:xfrm>
          </p:grpSpPr>
          <p:grpSp>
            <p:nvGrpSpPr>
              <p:cNvPr id="135" name="Group 631">
                <a:extLst>
                  <a:ext uri="{FF2B5EF4-FFF2-40B4-BE49-F238E27FC236}">
                    <a16:creationId xmlns:a16="http://schemas.microsoft.com/office/drawing/2014/main" id="{EF2FF57D-D248-483F-9200-AEBE81C0E3E5}"/>
                  </a:ext>
                </a:extLst>
              </p:cNvPr>
              <p:cNvGrpSpPr>
                <a:grpSpLocks/>
              </p:cNvGrpSpPr>
              <p:nvPr/>
            </p:nvGrpSpPr>
            <p:grpSpPr bwMode="auto">
              <a:xfrm>
                <a:off x="0" y="0"/>
                <a:ext cx="1656" cy="452"/>
                <a:chOff x="0" y="0"/>
                <a:chExt cx="1656" cy="452"/>
              </a:xfrm>
            </p:grpSpPr>
            <p:sp>
              <p:nvSpPr>
                <p:cNvPr id="154" name="Rectangle 632">
                  <a:extLst>
                    <a:ext uri="{FF2B5EF4-FFF2-40B4-BE49-F238E27FC236}">
                      <a16:creationId xmlns:a16="http://schemas.microsoft.com/office/drawing/2014/main" id="{48F526BD-F7B8-4C60-B757-937994C1B1F6}"/>
                    </a:ext>
                  </a:extLst>
                </p:cNvPr>
                <p:cNvSpPr>
                  <a:spLocks noChangeArrowheads="1"/>
                </p:cNvSpPr>
                <p:nvPr/>
              </p:nvSpPr>
              <p:spPr bwMode="auto">
                <a:xfrm>
                  <a:off x="43" y="0"/>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55" name="Rectangle 633">
                  <a:extLst>
                    <a:ext uri="{FF2B5EF4-FFF2-40B4-BE49-F238E27FC236}">
                      <a16:creationId xmlns:a16="http://schemas.microsoft.com/office/drawing/2014/main" id="{69FC2CDE-0E65-4215-ADB9-6F84B31D62B9}"/>
                    </a:ext>
                  </a:extLst>
                </p:cNvPr>
                <p:cNvSpPr>
                  <a:spLocks noChangeArrowheads="1"/>
                </p:cNvSpPr>
                <p:nvPr/>
              </p:nvSpPr>
              <p:spPr bwMode="auto">
                <a:xfrm>
                  <a:off x="0" y="0"/>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36" name="Group 634">
                <a:extLst>
                  <a:ext uri="{FF2B5EF4-FFF2-40B4-BE49-F238E27FC236}">
                    <a16:creationId xmlns:a16="http://schemas.microsoft.com/office/drawing/2014/main" id="{6DC5E48B-8E7F-490A-A6A7-41D97084B5C9}"/>
                  </a:ext>
                </a:extLst>
              </p:cNvPr>
              <p:cNvGrpSpPr>
                <a:grpSpLocks/>
              </p:cNvGrpSpPr>
              <p:nvPr/>
            </p:nvGrpSpPr>
            <p:grpSpPr bwMode="auto">
              <a:xfrm>
                <a:off x="0" y="452"/>
                <a:ext cx="1656" cy="481"/>
                <a:chOff x="0" y="452"/>
                <a:chExt cx="1656" cy="481"/>
              </a:xfrm>
            </p:grpSpPr>
            <p:sp>
              <p:nvSpPr>
                <p:cNvPr id="152" name="Rectangle 635">
                  <a:extLst>
                    <a:ext uri="{FF2B5EF4-FFF2-40B4-BE49-F238E27FC236}">
                      <a16:creationId xmlns:a16="http://schemas.microsoft.com/office/drawing/2014/main" id="{7E49AD66-199F-4942-8A69-640D372043B0}"/>
                    </a:ext>
                  </a:extLst>
                </p:cNvPr>
                <p:cNvSpPr>
                  <a:spLocks noChangeArrowheads="1"/>
                </p:cNvSpPr>
                <p:nvPr/>
              </p:nvSpPr>
              <p:spPr bwMode="auto">
                <a:xfrm>
                  <a:off x="43" y="452"/>
                  <a:ext cx="1570" cy="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endParaRPr lang="zh-CN" altLang="zh-CN" sz="1800" b="1"/>
                </a:p>
              </p:txBody>
            </p:sp>
            <p:sp>
              <p:nvSpPr>
                <p:cNvPr id="153" name="Rectangle 636">
                  <a:extLst>
                    <a:ext uri="{FF2B5EF4-FFF2-40B4-BE49-F238E27FC236}">
                      <a16:creationId xmlns:a16="http://schemas.microsoft.com/office/drawing/2014/main" id="{E4F0A61F-03A8-403A-ADF7-2C6E1EA514EA}"/>
                    </a:ext>
                  </a:extLst>
                </p:cNvPr>
                <p:cNvSpPr>
                  <a:spLocks noChangeArrowheads="1"/>
                </p:cNvSpPr>
                <p:nvPr/>
              </p:nvSpPr>
              <p:spPr bwMode="auto">
                <a:xfrm>
                  <a:off x="0" y="452"/>
                  <a:ext cx="1656" cy="48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37" name="Group 637">
                <a:extLst>
                  <a:ext uri="{FF2B5EF4-FFF2-40B4-BE49-F238E27FC236}">
                    <a16:creationId xmlns:a16="http://schemas.microsoft.com/office/drawing/2014/main" id="{43026A83-9204-4FB5-B387-DE635CE410B5}"/>
                  </a:ext>
                </a:extLst>
              </p:cNvPr>
              <p:cNvGrpSpPr>
                <a:grpSpLocks/>
              </p:cNvGrpSpPr>
              <p:nvPr/>
            </p:nvGrpSpPr>
            <p:grpSpPr bwMode="auto">
              <a:xfrm>
                <a:off x="0" y="933"/>
                <a:ext cx="1656" cy="452"/>
                <a:chOff x="0" y="933"/>
                <a:chExt cx="1656" cy="452"/>
              </a:xfrm>
            </p:grpSpPr>
            <p:sp>
              <p:nvSpPr>
                <p:cNvPr id="150" name="Rectangle 638">
                  <a:extLst>
                    <a:ext uri="{FF2B5EF4-FFF2-40B4-BE49-F238E27FC236}">
                      <a16:creationId xmlns:a16="http://schemas.microsoft.com/office/drawing/2014/main" id="{A93DADC1-2BF9-4C37-A846-B2E8356021C6}"/>
                    </a:ext>
                  </a:extLst>
                </p:cNvPr>
                <p:cNvSpPr>
                  <a:spLocks noChangeArrowheads="1"/>
                </p:cNvSpPr>
                <p:nvPr/>
              </p:nvSpPr>
              <p:spPr bwMode="auto">
                <a:xfrm>
                  <a:off x="43" y="933"/>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51" name="Rectangle 639">
                  <a:extLst>
                    <a:ext uri="{FF2B5EF4-FFF2-40B4-BE49-F238E27FC236}">
                      <a16:creationId xmlns:a16="http://schemas.microsoft.com/office/drawing/2014/main" id="{1BCC5A1E-7F17-4FA0-BF16-024C13E80B5A}"/>
                    </a:ext>
                  </a:extLst>
                </p:cNvPr>
                <p:cNvSpPr>
                  <a:spLocks noChangeArrowheads="1"/>
                </p:cNvSpPr>
                <p:nvPr/>
              </p:nvSpPr>
              <p:spPr bwMode="auto">
                <a:xfrm>
                  <a:off x="0" y="933"/>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38" name="Group 640">
                <a:extLst>
                  <a:ext uri="{FF2B5EF4-FFF2-40B4-BE49-F238E27FC236}">
                    <a16:creationId xmlns:a16="http://schemas.microsoft.com/office/drawing/2014/main" id="{DEB14583-B2A1-45F5-ABF0-A97754BBB2CA}"/>
                  </a:ext>
                </a:extLst>
              </p:cNvPr>
              <p:cNvGrpSpPr>
                <a:grpSpLocks/>
              </p:cNvGrpSpPr>
              <p:nvPr/>
            </p:nvGrpSpPr>
            <p:grpSpPr bwMode="auto">
              <a:xfrm>
                <a:off x="0" y="1385"/>
                <a:ext cx="1656" cy="452"/>
                <a:chOff x="0" y="1385"/>
                <a:chExt cx="1656" cy="452"/>
              </a:xfrm>
            </p:grpSpPr>
            <p:sp>
              <p:nvSpPr>
                <p:cNvPr id="148" name="Rectangle 641">
                  <a:extLst>
                    <a:ext uri="{FF2B5EF4-FFF2-40B4-BE49-F238E27FC236}">
                      <a16:creationId xmlns:a16="http://schemas.microsoft.com/office/drawing/2014/main" id="{6817A1F5-3445-4BC5-A80B-89054FE8DF86}"/>
                    </a:ext>
                  </a:extLst>
                </p:cNvPr>
                <p:cNvSpPr>
                  <a:spLocks noChangeArrowheads="1"/>
                </p:cNvSpPr>
                <p:nvPr/>
              </p:nvSpPr>
              <p:spPr bwMode="auto">
                <a:xfrm>
                  <a:off x="43" y="1385"/>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49" name="Rectangle 642">
                  <a:extLst>
                    <a:ext uri="{FF2B5EF4-FFF2-40B4-BE49-F238E27FC236}">
                      <a16:creationId xmlns:a16="http://schemas.microsoft.com/office/drawing/2014/main" id="{722CB834-2FA8-4C8E-8091-7EF199860E3F}"/>
                    </a:ext>
                  </a:extLst>
                </p:cNvPr>
                <p:cNvSpPr>
                  <a:spLocks noChangeArrowheads="1"/>
                </p:cNvSpPr>
                <p:nvPr/>
              </p:nvSpPr>
              <p:spPr bwMode="auto">
                <a:xfrm>
                  <a:off x="0" y="1385"/>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39" name="Group 643">
                <a:extLst>
                  <a:ext uri="{FF2B5EF4-FFF2-40B4-BE49-F238E27FC236}">
                    <a16:creationId xmlns:a16="http://schemas.microsoft.com/office/drawing/2014/main" id="{B45C9D17-D63B-4983-A338-C36924EA5C22}"/>
                  </a:ext>
                </a:extLst>
              </p:cNvPr>
              <p:cNvGrpSpPr>
                <a:grpSpLocks/>
              </p:cNvGrpSpPr>
              <p:nvPr/>
            </p:nvGrpSpPr>
            <p:grpSpPr bwMode="auto">
              <a:xfrm>
                <a:off x="0" y="1837"/>
                <a:ext cx="1656" cy="452"/>
                <a:chOff x="0" y="1837"/>
                <a:chExt cx="1656" cy="452"/>
              </a:xfrm>
            </p:grpSpPr>
            <p:sp>
              <p:nvSpPr>
                <p:cNvPr id="146" name="Rectangle 644">
                  <a:extLst>
                    <a:ext uri="{FF2B5EF4-FFF2-40B4-BE49-F238E27FC236}">
                      <a16:creationId xmlns:a16="http://schemas.microsoft.com/office/drawing/2014/main" id="{3AFB698E-7D21-4587-B329-28A0E2632A42}"/>
                    </a:ext>
                  </a:extLst>
                </p:cNvPr>
                <p:cNvSpPr>
                  <a:spLocks noChangeArrowheads="1"/>
                </p:cNvSpPr>
                <p:nvPr/>
              </p:nvSpPr>
              <p:spPr bwMode="auto">
                <a:xfrm>
                  <a:off x="43" y="1837"/>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47" name="Rectangle 645">
                  <a:extLst>
                    <a:ext uri="{FF2B5EF4-FFF2-40B4-BE49-F238E27FC236}">
                      <a16:creationId xmlns:a16="http://schemas.microsoft.com/office/drawing/2014/main" id="{E7A0E728-F715-44C0-9978-E52A0D26818D}"/>
                    </a:ext>
                  </a:extLst>
                </p:cNvPr>
                <p:cNvSpPr>
                  <a:spLocks noChangeArrowheads="1"/>
                </p:cNvSpPr>
                <p:nvPr/>
              </p:nvSpPr>
              <p:spPr bwMode="auto">
                <a:xfrm>
                  <a:off x="0" y="1837"/>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40" name="Group 646">
                <a:extLst>
                  <a:ext uri="{FF2B5EF4-FFF2-40B4-BE49-F238E27FC236}">
                    <a16:creationId xmlns:a16="http://schemas.microsoft.com/office/drawing/2014/main" id="{3FC658AA-8D6A-474A-8691-124A0A94E785}"/>
                  </a:ext>
                </a:extLst>
              </p:cNvPr>
              <p:cNvGrpSpPr>
                <a:grpSpLocks/>
              </p:cNvGrpSpPr>
              <p:nvPr/>
            </p:nvGrpSpPr>
            <p:grpSpPr bwMode="auto">
              <a:xfrm>
                <a:off x="0" y="2289"/>
                <a:ext cx="1656" cy="452"/>
                <a:chOff x="0" y="2289"/>
                <a:chExt cx="1656" cy="452"/>
              </a:xfrm>
            </p:grpSpPr>
            <p:sp>
              <p:nvSpPr>
                <p:cNvPr id="144" name="Rectangle 647">
                  <a:extLst>
                    <a:ext uri="{FF2B5EF4-FFF2-40B4-BE49-F238E27FC236}">
                      <a16:creationId xmlns:a16="http://schemas.microsoft.com/office/drawing/2014/main" id="{10ABA10C-FBAA-42AB-A409-318ED44EABB8}"/>
                    </a:ext>
                  </a:extLst>
                </p:cNvPr>
                <p:cNvSpPr>
                  <a:spLocks noChangeArrowheads="1"/>
                </p:cNvSpPr>
                <p:nvPr/>
              </p:nvSpPr>
              <p:spPr bwMode="auto">
                <a:xfrm>
                  <a:off x="43" y="2289"/>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45" name="Rectangle 648">
                  <a:extLst>
                    <a:ext uri="{FF2B5EF4-FFF2-40B4-BE49-F238E27FC236}">
                      <a16:creationId xmlns:a16="http://schemas.microsoft.com/office/drawing/2014/main" id="{B7C13BC6-E206-470F-9E04-D0399C13D9A9}"/>
                    </a:ext>
                  </a:extLst>
                </p:cNvPr>
                <p:cNvSpPr>
                  <a:spLocks noChangeArrowheads="1"/>
                </p:cNvSpPr>
                <p:nvPr/>
              </p:nvSpPr>
              <p:spPr bwMode="auto">
                <a:xfrm>
                  <a:off x="0" y="2289"/>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41" name="Group 649">
                <a:extLst>
                  <a:ext uri="{FF2B5EF4-FFF2-40B4-BE49-F238E27FC236}">
                    <a16:creationId xmlns:a16="http://schemas.microsoft.com/office/drawing/2014/main" id="{F2A086A0-90D3-4ADE-8006-5F4BA01607AB}"/>
                  </a:ext>
                </a:extLst>
              </p:cNvPr>
              <p:cNvGrpSpPr>
                <a:grpSpLocks/>
              </p:cNvGrpSpPr>
              <p:nvPr/>
            </p:nvGrpSpPr>
            <p:grpSpPr bwMode="auto">
              <a:xfrm>
                <a:off x="0" y="2741"/>
                <a:ext cx="1656" cy="452"/>
                <a:chOff x="0" y="2741"/>
                <a:chExt cx="1656" cy="452"/>
              </a:xfrm>
            </p:grpSpPr>
            <p:sp>
              <p:nvSpPr>
                <p:cNvPr id="142" name="Rectangle 650">
                  <a:extLst>
                    <a:ext uri="{FF2B5EF4-FFF2-40B4-BE49-F238E27FC236}">
                      <a16:creationId xmlns:a16="http://schemas.microsoft.com/office/drawing/2014/main" id="{2AE313FF-2FDB-4E29-8BC8-3184F69087BE}"/>
                    </a:ext>
                  </a:extLst>
                </p:cNvPr>
                <p:cNvSpPr>
                  <a:spLocks noChangeArrowheads="1"/>
                </p:cNvSpPr>
                <p:nvPr/>
              </p:nvSpPr>
              <p:spPr bwMode="auto">
                <a:xfrm>
                  <a:off x="43" y="2741"/>
                  <a:ext cx="1570"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lstStyle/>
                <a:p>
                  <a:pPr algn="r"/>
                  <a:endParaRPr lang="zh-CN" altLang="zh-CN" sz="1800" b="1"/>
                </a:p>
              </p:txBody>
            </p:sp>
            <p:sp>
              <p:nvSpPr>
                <p:cNvPr id="143" name="Rectangle 651">
                  <a:extLst>
                    <a:ext uri="{FF2B5EF4-FFF2-40B4-BE49-F238E27FC236}">
                      <a16:creationId xmlns:a16="http://schemas.microsoft.com/office/drawing/2014/main" id="{6BB94B0E-70AA-4046-86A2-B5A35C8EC915}"/>
                    </a:ext>
                  </a:extLst>
                </p:cNvPr>
                <p:cNvSpPr>
                  <a:spLocks noChangeArrowheads="1"/>
                </p:cNvSpPr>
                <p:nvPr/>
              </p:nvSpPr>
              <p:spPr bwMode="auto">
                <a:xfrm>
                  <a:off x="0" y="2741"/>
                  <a:ext cx="1656" cy="45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sp>
          <p:nvSpPr>
            <p:cNvPr id="134" name="Rectangle 652">
              <a:extLst>
                <a:ext uri="{FF2B5EF4-FFF2-40B4-BE49-F238E27FC236}">
                  <a16:creationId xmlns:a16="http://schemas.microsoft.com/office/drawing/2014/main" id="{AA497C79-92C5-4240-B462-A889B768BF82}"/>
                </a:ext>
              </a:extLst>
            </p:cNvPr>
            <p:cNvSpPr>
              <a:spLocks noChangeArrowheads="1"/>
            </p:cNvSpPr>
            <p:nvPr/>
          </p:nvSpPr>
          <p:spPr bwMode="auto">
            <a:xfrm>
              <a:off x="-3" y="-3"/>
              <a:ext cx="1662" cy="3199"/>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aphicFrame>
        <p:nvGraphicFramePr>
          <p:cNvPr id="156" name="Group 665">
            <a:extLst>
              <a:ext uri="{FF2B5EF4-FFF2-40B4-BE49-F238E27FC236}">
                <a16:creationId xmlns:a16="http://schemas.microsoft.com/office/drawing/2014/main" id="{41CA0C22-34CC-4B39-8FC4-A2D3B0EC94E4}"/>
              </a:ext>
            </a:extLst>
          </p:cNvPr>
          <p:cNvGraphicFramePr>
            <a:graphicFrameLocks noGrp="1"/>
          </p:cNvGraphicFramePr>
          <p:nvPr>
            <p:extLst>
              <p:ext uri="{D42A27DB-BD31-4B8C-83A1-F6EECF244321}">
                <p14:modId xmlns:p14="http://schemas.microsoft.com/office/powerpoint/2010/main" val="3682067695"/>
              </p:ext>
            </p:extLst>
          </p:nvPr>
        </p:nvGraphicFramePr>
        <p:xfrm>
          <a:off x="899592" y="2446338"/>
          <a:ext cx="7010400" cy="518160"/>
        </p:xfrm>
        <a:graphic>
          <a:graphicData uri="http://schemas.openxmlformats.org/drawingml/2006/table">
            <a:tbl>
              <a:tblPr/>
              <a:tblGrid>
                <a:gridCol w="2386012">
                  <a:extLst>
                    <a:ext uri="{9D8B030D-6E8A-4147-A177-3AD203B41FA5}">
                      <a16:colId xmlns:a16="http://schemas.microsoft.com/office/drawing/2014/main" val="1284289873"/>
                    </a:ext>
                  </a:extLst>
                </a:gridCol>
                <a:gridCol w="2287588">
                  <a:extLst>
                    <a:ext uri="{9D8B030D-6E8A-4147-A177-3AD203B41FA5}">
                      <a16:colId xmlns:a16="http://schemas.microsoft.com/office/drawing/2014/main" val="1486635011"/>
                    </a:ext>
                  </a:extLst>
                </a:gridCol>
                <a:gridCol w="2336800">
                  <a:extLst>
                    <a:ext uri="{9D8B030D-6E8A-4147-A177-3AD203B41FA5}">
                      <a16:colId xmlns:a16="http://schemas.microsoft.com/office/drawing/2014/main" val="1428494698"/>
                    </a:ext>
                  </a:extLst>
                </a:gridCol>
              </a:tblGrid>
              <a:tr h="508000">
                <a:tc>
                  <a:txBody>
                    <a:bodyPr/>
                    <a:lstStyle>
                      <a:lvl1pPr algn="l">
                        <a:spcBef>
                          <a:spcPct val="20000"/>
                        </a:spcBef>
                        <a:defRPr sz="2800">
                          <a:solidFill>
                            <a:schemeClr val="tx1"/>
                          </a:solidFill>
                          <a:latin typeface="Arial" panose="020B0604020202020204" pitchFamily="34" charset="0"/>
                          <a:ea typeface="宋体" panose="02010600030101010101" pitchFamily="2" charset="-122"/>
                        </a:defRPr>
                      </a:lvl1pPr>
                      <a:lvl2pPr algn="l">
                        <a:spcBef>
                          <a:spcPct val="20000"/>
                        </a:spcBef>
                        <a:defRPr sz="2400">
                          <a:solidFill>
                            <a:schemeClr val="tx1"/>
                          </a:solidFill>
                          <a:latin typeface="Arial" panose="020B0604020202020204" pitchFamily="34" charset="0"/>
                          <a:ea typeface="宋体" panose="02010600030101010101" pitchFamily="2" charset="-122"/>
                        </a:defRPr>
                      </a:lvl2pPr>
                      <a:lvl3pPr algn="l">
                        <a:spcBef>
                          <a:spcPct val="20000"/>
                        </a:spcBef>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Arial" panose="020B0604020202020204" pitchFamily="34" charset="0"/>
                          <a:ea typeface="宋体" panose="02010600030101010101" pitchFamily="2" charset="-122"/>
                        </a:defRPr>
                      </a:lvl1pPr>
                      <a:lvl2pPr algn="l">
                        <a:spcBef>
                          <a:spcPct val="20000"/>
                        </a:spcBef>
                        <a:defRPr sz="2400">
                          <a:solidFill>
                            <a:schemeClr val="tx1"/>
                          </a:solidFill>
                          <a:latin typeface="Arial" panose="020B0604020202020204" pitchFamily="34" charset="0"/>
                          <a:ea typeface="宋体" panose="02010600030101010101" pitchFamily="2" charset="-122"/>
                        </a:defRPr>
                      </a:lvl2pPr>
                      <a:lvl3pPr algn="l">
                        <a:spcBef>
                          <a:spcPct val="20000"/>
                        </a:spcBef>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T</a:t>
                      </a:r>
                      <a:r>
                        <a:rPr kumimoji="0" lang="en-US" altLang="zh-CN" sz="2800" b="0" i="1" u="none" strike="noStrike" cap="none" normalizeH="0" baseline="-25000" dirty="0">
                          <a:ln>
                            <a:noFill/>
                          </a:ln>
                          <a:solidFill>
                            <a:schemeClr val="tx1"/>
                          </a:solidFill>
                          <a:effectLst/>
                          <a:latin typeface="Arial" panose="020B0604020202020204" pitchFamily="34" charset="0"/>
                          <a:ea typeface="宋体" panose="02010600030101010101"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Arial" panose="020B0604020202020204" pitchFamily="34" charset="0"/>
                          <a:ea typeface="宋体" panose="02010600030101010101" pitchFamily="2" charset="-122"/>
                        </a:defRPr>
                      </a:lvl1pPr>
                      <a:lvl2pPr algn="l">
                        <a:spcBef>
                          <a:spcPct val="20000"/>
                        </a:spcBef>
                        <a:defRPr sz="2400">
                          <a:solidFill>
                            <a:schemeClr val="tx1"/>
                          </a:solidFill>
                          <a:latin typeface="Arial" panose="020B0604020202020204" pitchFamily="34" charset="0"/>
                          <a:ea typeface="宋体" panose="02010600030101010101" pitchFamily="2" charset="-122"/>
                        </a:defRPr>
                      </a:lvl2pPr>
                      <a:lvl3pPr algn="l">
                        <a:spcBef>
                          <a:spcPct val="20000"/>
                        </a:spcBef>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T</a:t>
                      </a:r>
                      <a:r>
                        <a:rPr kumimoji="0" lang="en-US" altLang="zh-CN" sz="2800" b="0" i="1" u="none" strike="noStrike" cap="none" normalizeH="0" baseline="-25000" dirty="0">
                          <a:ln>
                            <a:noFill/>
                          </a:ln>
                          <a:solidFill>
                            <a:schemeClr val="tx1"/>
                          </a:solidFill>
                          <a:effectLst/>
                          <a:latin typeface="Arial" panose="020B0604020202020204" pitchFamily="34"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02914467"/>
                  </a:ext>
                </a:extLst>
              </a:tr>
            </a:tbl>
          </a:graphicData>
        </a:graphic>
      </p:graphicFrame>
      <p:sp>
        <p:nvSpPr>
          <p:cNvPr id="157" name="标题 2">
            <a:extLst>
              <a:ext uri="{FF2B5EF4-FFF2-40B4-BE49-F238E27FC236}">
                <a16:creationId xmlns:a16="http://schemas.microsoft.com/office/drawing/2014/main" id="{C4FEB4CE-79AC-480C-8548-2E341C63FBFD}"/>
              </a:ext>
            </a:extLst>
          </p:cNvPr>
          <p:cNvSpPr>
            <a:spLocks noGrp="1"/>
          </p:cNvSpPr>
          <p:nvPr>
            <p:ph type="title"/>
          </p:nvPr>
        </p:nvSpPr>
        <p:spPr bwMode="auto">
          <a:xfrm>
            <a:off x="628650" y="365126"/>
            <a:ext cx="7886700" cy="1325563"/>
          </a:xfrm>
        </p:spPr>
        <p:txBody>
          <a:bodyPr>
            <a:normAutofit/>
          </a:bodyPr>
          <a:lstStyle/>
          <a:p>
            <a:r>
              <a:rPr lang="zh-CN" altLang="en-US" sz="3600" dirty="0">
                <a:latin typeface="Palatino Linotype" panose="02040502050505030304" charset="0"/>
              </a:rPr>
              <a:t>Example Cont.</a:t>
            </a:r>
          </a:p>
        </p:txBody>
      </p:sp>
    </p:spTree>
    <p:extLst>
      <p:ext uri="{BB962C8B-B14F-4D97-AF65-F5344CB8AC3E}">
        <p14:creationId xmlns:p14="http://schemas.microsoft.com/office/powerpoint/2010/main" val="1708807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6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7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21" grpId="0" autoUpdateAnimBg="0"/>
      <p:bldP spid="35" grpId="0" autoUpdateAnimBg="0"/>
      <p:bldP spid="49" grpId="0" autoUpdateAnimBg="0"/>
      <p:bldP spid="63" grpId="0" autoUpdateAnimBg="0"/>
      <p:bldP spid="77"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Example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Converting the big NFA to a DFA</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85</a:t>
            </a:fld>
            <a:endParaRPr/>
          </a:p>
        </p:txBody>
      </p:sp>
      <p:pic>
        <p:nvPicPr>
          <p:cNvPr id="5" name="图片 4"/>
          <p:cNvPicPr>
            <a:picLocks noChangeAspect="1"/>
          </p:cNvPicPr>
          <p:nvPr>
            <p:custDataLst>
              <p:tags r:id="rId1"/>
            </p:custDataLst>
          </p:nvPr>
        </p:nvPicPr>
        <p:blipFill>
          <a:blip r:embed="rId4"/>
          <a:stretch>
            <a:fillRect/>
          </a:stretch>
        </p:blipFill>
        <p:spPr>
          <a:xfrm>
            <a:off x="755015" y="2492375"/>
            <a:ext cx="7391400" cy="374015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5" name="图片 4"/>
          <p:cNvPicPr>
            <a:picLocks noChangeAspect="1"/>
          </p:cNvPicPr>
          <p:nvPr>
            <p:custDataLst>
              <p:tags r:id="rId1"/>
            </p:custDataLst>
          </p:nvPr>
        </p:nvPicPr>
        <p:blipFill>
          <a:blip r:embed="rId5"/>
          <a:stretch>
            <a:fillRect/>
          </a:stretch>
        </p:blipFill>
        <p:spPr>
          <a:xfrm>
            <a:off x="4787900" y="3356610"/>
            <a:ext cx="3934460" cy="2433320"/>
          </a:xfrm>
          <a:prstGeom prst="rect">
            <a:avLst/>
          </a:prstGeom>
        </p:spPr>
      </p:pic>
      <p:sp>
        <p:nvSpPr>
          <p:cNvPr id="3" name="标题 2"/>
          <p:cNvSpPr>
            <a:spLocks noGrp="1"/>
          </p:cNvSpPr>
          <p:nvPr>
            <p:ph type="title"/>
          </p:nvPr>
        </p:nvSpPr>
        <p:spPr/>
        <p:txBody>
          <a:bodyPr>
            <a:normAutofit/>
          </a:bodyPr>
          <a:lstStyle/>
          <a:p>
            <a:r>
              <a:rPr lang="zh-CN" altLang="en-US" sz="3600">
                <a:latin typeface="Palatino Linotype" panose="02040502050505030304" charset="0"/>
              </a:rPr>
              <a:t>Minimizing # States of a DFA</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There can be many DFA’s recognizing the same language</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86</a:t>
            </a:fld>
            <a:endParaRPr/>
          </a:p>
        </p:txBody>
      </p:sp>
      <p:pic>
        <p:nvPicPr>
          <p:cNvPr id="2" name="图片 1"/>
          <p:cNvPicPr>
            <a:picLocks noChangeAspect="1"/>
          </p:cNvPicPr>
          <p:nvPr>
            <p:custDataLst>
              <p:tags r:id="rId2"/>
            </p:custDataLst>
          </p:nvPr>
        </p:nvPicPr>
        <p:blipFill>
          <a:blip r:embed="rId6"/>
          <a:stretch>
            <a:fillRect/>
          </a:stretch>
        </p:blipFill>
        <p:spPr>
          <a:xfrm>
            <a:off x="899160" y="2609215"/>
            <a:ext cx="4622800" cy="1639570"/>
          </a:xfrm>
          <a:prstGeom prst="rect">
            <a:avLst/>
          </a:prstGeom>
        </p:spPr>
      </p:pic>
      <p:sp>
        <p:nvSpPr>
          <p:cNvPr id="6" name="文本框 5"/>
          <p:cNvSpPr txBox="1"/>
          <p:nvPr/>
        </p:nvSpPr>
        <p:spPr>
          <a:xfrm>
            <a:off x="590550" y="4364990"/>
            <a:ext cx="5022215" cy="1260475"/>
          </a:xfrm>
          <a:prstGeom prst="rect">
            <a:avLst/>
          </a:prstGeom>
          <a:noFill/>
        </p:spPr>
        <p:txBody>
          <a:bodyPr wrap="square" rtlCol="0" anchor="t">
            <a:spAutoFit/>
          </a:bodyPr>
          <a:lstStyle/>
          <a:p>
            <a:r>
              <a:rPr lang="zh-CN" altLang="en-US" sz="2400">
                <a:solidFill>
                  <a:srgbClr val="FF0000"/>
                </a:solidFill>
              </a:rPr>
              <a:t>Two equivalent DFA’s</a:t>
            </a:r>
            <a:r>
              <a:rPr lang="zh-CN" altLang="en-US" sz="2400"/>
              <a:t>, both recognizing regular language L(</a:t>
            </a:r>
            <a:r>
              <a:rPr lang="zh-CN" altLang="en-US" sz="2800">
                <a:solidFill>
                  <a:srgbClr val="0331FF"/>
                </a:solidFill>
              </a:rPr>
              <a:t>(a|b)*abb</a:t>
            </a:r>
            <a:r>
              <a:rPr lang="zh-CN" altLang="en-US" sz="2400"/>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5" name="图片 4"/>
          <p:cNvPicPr>
            <a:picLocks noChangeAspect="1"/>
          </p:cNvPicPr>
          <p:nvPr>
            <p:custDataLst>
              <p:tags r:id="rId1"/>
            </p:custDataLst>
          </p:nvPr>
        </p:nvPicPr>
        <p:blipFill>
          <a:blip r:embed="rId5"/>
          <a:stretch>
            <a:fillRect/>
          </a:stretch>
        </p:blipFill>
        <p:spPr>
          <a:xfrm>
            <a:off x="4787900" y="3356610"/>
            <a:ext cx="3934460" cy="2433320"/>
          </a:xfrm>
          <a:prstGeom prst="rect">
            <a:avLst/>
          </a:prstGeom>
        </p:spPr>
      </p:pic>
      <p:sp>
        <p:nvSpPr>
          <p:cNvPr id="3" name="标题 2"/>
          <p:cNvSpPr>
            <a:spLocks noGrp="1"/>
          </p:cNvSpPr>
          <p:nvPr>
            <p:ph type="title"/>
          </p:nvPr>
        </p:nvSpPr>
        <p:spPr/>
        <p:txBody>
          <a:bodyPr>
            <a:normAutofit/>
          </a:bodyPr>
          <a:lstStyle/>
          <a:p>
            <a:r>
              <a:rPr lang="zh-CN" altLang="en-US" sz="3600">
                <a:latin typeface="Palatino Linotype" panose="02040502050505030304" charset="0"/>
              </a:rPr>
              <a:t>Minimizing # States of a DFA</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There can be many DFA’s recognizing the same language</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87</a:t>
            </a:fld>
            <a:endParaRPr/>
          </a:p>
        </p:txBody>
      </p:sp>
      <p:pic>
        <p:nvPicPr>
          <p:cNvPr id="2" name="图片 1"/>
          <p:cNvPicPr>
            <a:picLocks noChangeAspect="1"/>
          </p:cNvPicPr>
          <p:nvPr>
            <p:custDataLst>
              <p:tags r:id="rId2"/>
            </p:custDataLst>
          </p:nvPr>
        </p:nvPicPr>
        <p:blipFill>
          <a:blip r:embed="rId6"/>
          <a:stretch>
            <a:fillRect/>
          </a:stretch>
        </p:blipFill>
        <p:spPr>
          <a:xfrm>
            <a:off x="899160" y="2609215"/>
            <a:ext cx="4622800" cy="1639570"/>
          </a:xfrm>
          <a:prstGeom prst="rect">
            <a:avLst/>
          </a:prstGeom>
        </p:spPr>
      </p:pic>
      <p:sp>
        <p:nvSpPr>
          <p:cNvPr id="6" name="文本框 5"/>
          <p:cNvSpPr txBox="1"/>
          <p:nvPr/>
        </p:nvSpPr>
        <p:spPr>
          <a:xfrm>
            <a:off x="570865" y="4364990"/>
            <a:ext cx="5041900" cy="1568450"/>
          </a:xfrm>
          <a:prstGeom prst="rect">
            <a:avLst/>
          </a:prstGeom>
          <a:noFill/>
        </p:spPr>
        <p:txBody>
          <a:bodyPr wrap="square" rtlCol="0" anchor="t">
            <a:spAutoFit/>
          </a:bodyPr>
          <a:lstStyle/>
          <a:p>
            <a:r>
              <a:rPr lang="zh-CN" altLang="en-US" sz="2400">
                <a:solidFill>
                  <a:srgbClr val="FF0000"/>
                </a:solidFill>
              </a:rPr>
              <a:t>States A and C are equivalent:</a:t>
            </a:r>
          </a:p>
          <a:p>
            <a:r>
              <a:rPr lang="zh-CN" altLang="en-US" sz="2400"/>
              <a:t>Neither is accepting, and on any </a:t>
            </a:r>
          </a:p>
          <a:p>
            <a:r>
              <a:rPr lang="en-US" altLang="zh-CN" sz="2400"/>
              <a:t>s</a:t>
            </a:r>
            <a:r>
              <a:rPr lang="zh-CN" altLang="en-US" sz="2400"/>
              <a:t>ymbol they transfer to the same state</a:t>
            </a:r>
          </a:p>
          <a:p>
            <a:r>
              <a:rPr lang="zh-CN" altLang="en-US" sz="2400">
                <a:solidFill>
                  <a:srgbClr val="FF0000"/>
                </a:solidFill>
              </a:rPr>
              <a:t>A and C behave like 123</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Minimizing # States of a DFA Cont.</a:t>
            </a: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sz="2200" dirty="0">
                <a:solidFill>
                  <a:srgbClr val="FF0000"/>
                </a:solidFill>
                <a:latin typeface="Palatino Linotype" panose="02040502050505030304" charset="0"/>
                <a:ea typeface="Palatino Linotype" panose="02040502050505030304"/>
                <a:cs typeface="Palatino Linotype" panose="02040502050505030304"/>
                <a:sym typeface="+mn-ea"/>
              </a:rPr>
              <a:t>There is always a unique minimum-state DFA</a:t>
            </a:r>
            <a:r>
              <a:rPr sz="2200" dirty="0">
                <a:latin typeface="Palatino Linotype" panose="02040502050505030304" charset="0"/>
                <a:ea typeface="Palatino Linotype" panose="02040502050505030304"/>
                <a:cs typeface="Palatino Linotype" panose="02040502050505030304"/>
                <a:sym typeface="+mn-ea"/>
              </a:rPr>
              <a:t> for any regular language (state name does not matter)</a:t>
            </a:r>
          </a:p>
          <a:p>
            <a:pPr marL="17145" algn="l" rtl="0" eaLnBrk="0" fontAlgn="auto">
              <a:lnSpc>
                <a:spcPct val="150000"/>
              </a:lnSpc>
              <a:spcBef>
                <a:spcPts val="0"/>
              </a:spcBef>
            </a:pPr>
            <a:r>
              <a:rPr sz="2200" dirty="0">
                <a:latin typeface="Palatino Linotype" panose="02040502050505030304" charset="0"/>
                <a:ea typeface="Palatino Linotype" panose="02040502050505030304"/>
                <a:cs typeface="Palatino Linotype" panose="02040502050505030304"/>
                <a:sym typeface="+mn-ea"/>
              </a:rPr>
              <a:t>The minimum-state DFA can be constructed from any DFA for the same language by </a:t>
            </a:r>
            <a:r>
              <a:rPr sz="2200" dirty="0">
                <a:solidFill>
                  <a:srgbClr val="FF0000"/>
                </a:solidFill>
                <a:latin typeface="Palatino Linotype" panose="02040502050505030304" charset="0"/>
                <a:ea typeface="Palatino Linotype" panose="02040502050505030304"/>
                <a:cs typeface="Palatino Linotype" panose="02040502050505030304"/>
                <a:sym typeface="+mn-ea"/>
              </a:rPr>
              <a:t>grouping sets of equivalent states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88</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1115695" y="4509135"/>
            <a:ext cx="3094990" cy="1913890"/>
          </a:xfrm>
          <a:prstGeom prst="rect">
            <a:avLst/>
          </a:prstGeom>
        </p:spPr>
      </p:pic>
      <p:sp>
        <p:nvSpPr>
          <p:cNvPr id="3" name="标题 2"/>
          <p:cNvSpPr>
            <a:spLocks noGrp="1"/>
          </p:cNvSpPr>
          <p:nvPr>
            <p:ph type="title"/>
          </p:nvPr>
        </p:nvSpPr>
        <p:spPr/>
        <p:txBody>
          <a:bodyPr>
            <a:normAutofit/>
          </a:bodyPr>
          <a:lstStyle/>
          <a:p>
            <a:r>
              <a:rPr lang="zh-CN" altLang="en-US" sz="3600">
                <a:latin typeface="Palatino Linotype" panose="02040502050505030304" charset="0"/>
              </a:rPr>
              <a:t>Distinguishing States</a:t>
            </a:r>
          </a:p>
        </p:txBody>
      </p:sp>
      <p:sp>
        <p:nvSpPr>
          <p:cNvPr id="4" name="内容占位符 3"/>
          <p:cNvSpPr>
            <a:spLocks noGrp="1"/>
          </p:cNvSpPr>
          <p:nvPr>
            <p:ph idx="1"/>
          </p:nvPr>
        </p:nvSpPr>
        <p:spPr>
          <a:xfrm>
            <a:off x="628650" y="1557020"/>
            <a:ext cx="7886700" cy="4351338"/>
          </a:xfrm>
        </p:spPr>
        <p:txBody>
          <a:bodyPr>
            <a:normAutofit/>
          </a:bodyPr>
          <a:lstStyle/>
          <a:p>
            <a:pPr marL="17145" algn="l" rtl="0" eaLnBrk="0" fontAlgn="auto">
              <a:lnSpc>
                <a:spcPct val="150000"/>
              </a:lnSpc>
              <a:spcBef>
                <a:spcPts val="0"/>
              </a:spcBef>
            </a:pPr>
            <a:r>
              <a:rPr sz="2000" b="1" dirty="0">
                <a:solidFill>
                  <a:srgbClr val="FF0000"/>
                </a:solidFill>
                <a:latin typeface="Palatino Linotype" panose="02040502050505030304" charset="0"/>
                <a:ea typeface="Palatino Linotype" panose="02040502050505030304"/>
                <a:cs typeface="Palatino Linotype" panose="02040502050505030304"/>
                <a:sym typeface="+mn-ea"/>
              </a:rPr>
              <a:t>Distinguishable states</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We say that string x distinguishes state s from state t if </a:t>
            </a:r>
            <a:r>
              <a:rPr sz="1800" dirty="0">
                <a:solidFill>
                  <a:srgbClr val="FF0000"/>
                </a:solidFill>
                <a:latin typeface="Palatino Linotype" panose="02040502050505030304" charset="0"/>
                <a:ea typeface="Palatino Linotype" panose="02040502050505030304"/>
                <a:cs typeface="Palatino Linotype" panose="02040502050505030304"/>
                <a:sym typeface="+mn-ea"/>
              </a:rPr>
              <a:t>exactly one</a:t>
            </a:r>
            <a:r>
              <a:rPr sz="1800" dirty="0">
                <a:latin typeface="Palatino Linotype" panose="02040502050505030304" charset="0"/>
                <a:ea typeface="Palatino Linotype" panose="02040502050505030304"/>
                <a:cs typeface="Palatino Linotype" panose="02040502050505030304"/>
                <a:sym typeface="+mn-ea"/>
              </a:rPr>
              <a:t> of the states reached from s and t by following the path with label x is an accepting state</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States s and t are </a:t>
            </a:r>
            <a:r>
              <a:rPr sz="1800" dirty="0">
                <a:solidFill>
                  <a:srgbClr val="FF0000"/>
                </a:solidFill>
                <a:latin typeface="Palatino Linotype" panose="02040502050505030304" charset="0"/>
                <a:ea typeface="Palatino Linotype" panose="02040502050505030304"/>
                <a:cs typeface="Palatino Linotype" panose="02040502050505030304"/>
                <a:sym typeface="+mn-ea"/>
              </a:rPr>
              <a:t>distinguishable</a:t>
            </a:r>
            <a:r>
              <a:rPr sz="1800" dirty="0">
                <a:latin typeface="Palatino Linotype" panose="02040502050505030304" charset="0"/>
                <a:ea typeface="Palatino Linotype" panose="02040502050505030304"/>
                <a:cs typeface="Palatino Linotype" panose="02040502050505030304"/>
                <a:sym typeface="+mn-ea"/>
              </a:rPr>
              <a:t> if there exists some string that distinguishes them</a:t>
            </a:r>
          </a:p>
          <a:p>
            <a:pPr marL="17145" algn="l" rtl="0" eaLnBrk="0" fontAlgn="auto">
              <a:lnSpc>
                <a:spcPct val="150000"/>
              </a:lnSpc>
              <a:spcBef>
                <a:spcPts val="0"/>
              </a:spcBef>
            </a:pPr>
            <a:r>
              <a:rPr sz="2000" b="1" dirty="0">
                <a:solidFill>
                  <a:srgbClr val="FF0000"/>
                </a:solidFill>
                <a:latin typeface="Palatino Linotype" panose="02040502050505030304" charset="0"/>
                <a:ea typeface="Palatino Linotype" panose="02040502050505030304"/>
                <a:cs typeface="Palatino Linotype" panose="02040502050505030304"/>
                <a:sym typeface="+mn-ea"/>
              </a:rPr>
              <a:t>Indistinguishable states</a:t>
            </a:r>
            <a:r>
              <a:rPr sz="2000" dirty="0">
                <a:latin typeface="Palatino Linotype" panose="02040502050505030304" charset="0"/>
                <a:ea typeface="Palatino Linotype" panose="02040502050505030304"/>
                <a:cs typeface="Palatino Linotype" panose="02040502050505030304"/>
                <a:sym typeface="+mn-ea"/>
              </a:rPr>
              <a:t> are equivalent and can be merged</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89</a:t>
            </a:fld>
            <a:endParaRPr/>
          </a:p>
        </p:txBody>
      </p:sp>
      <p:sp>
        <p:nvSpPr>
          <p:cNvPr id="5" name="文本框 4"/>
          <p:cNvSpPr txBox="1"/>
          <p:nvPr/>
        </p:nvSpPr>
        <p:spPr>
          <a:xfrm>
            <a:off x="4499610" y="4580890"/>
            <a:ext cx="3876040" cy="1900555"/>
          </a:xfrm>
          <a:prstGeom prst="rect">
            <a:avLst/>
          </a:prstGeom>
          <a:noFill/>
        </p:spPr>
        <p:txBody>
          <a:bodyPr wrap="square" rtlCol="0">
            <a:noAutofit/>
          </a:bodyPr>
          <a:lstStyle/>
          <a:p>
            <a:r>
              <a:rPr lang="zh-CN" altLang="en-US" sz="1600">
                <a:sym typeface="+mn-ea"/>
              </a:rPr>
              <a:t>•</a:t>
            </a:r>
            <a:r>
              <a:rPr lang="en-US" altLang="zh-CN" sz="1600">
                <a:sym typeface="+mn-ea"/>
              </a:rPr>
              <a:t> </a:t>
            </a:r>
            <a:r>
              <a:rPr lang="zh-CN" altLang="en-US" sz="1600"/>
              <a:t>The empty string 𝜖 distinguishes any </a:t>
            </a:r>
          </a:p>
          <a:p>
            <a:r>
              <a:rPr lang="zh-CN" altLang="en-US" sz="1600"/>
              <a:t>accepting state from any nonaccepting state</a:t>
            </a:r>
          </a:p>
          <a:p>
            <a:endParaRPr lang="zh-CN" altLang="en-US" sz="1600"/>
          </a:p>
          <a:p>
            <a:r>
              <a:rPr lang="zh-CN" altLang="en-US" sz="1600"/>
              <a:t>• The string bb distinguishes state A from B, since bb takes A to a</a:t>
            </a:r>
            <a:r>
              <a:rPr lang="en-US" altLang="zh-CN" sz="1600"/>
              <a:t> </a:t>
            </a:r>
            <a:r>
              <a:rPr lang="zh-CN" altLang="en-US" sz="1600"/>
              <a:t>nonaccepting state C, but takes B to accepting state 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DFA State-Minimization Algorithm</a:t>
            </a:r>
          </a:p>
        </p:txBody>
      </p:sp>
      <p:sp>
        <p:nvSpPr>
          <p:cNvPr id="4" name="内容占位符 3"/>
          <p:cNvSpPr>
            <a:spLocks noGrp="1"/>
          </p:cNvSpPr>
          <p:nvPr>
            <p:ph idx="1"/>
          </p:nvPr>
        </p:nvSpPr>
        <p:spPr>
          <a:xfrm>
            <a:off x="628650" y="1628775"/>
            <a:ext cx="7886700" cy="4351338"/>
          </a:xfrm>
        </p:spPr>
        <p:txBody>
          <a:bodyPr>
            <a:noAutofit/>
          </a:bodyPr>
          <a:lstStyle/>
          <a:p>
            <a:pPr marL="0" indent="0" algn="l" rtl="0" eaLnBrk="0" fontAlgn="auto">
              <a:lnSpc>
                <a:spcPct val="150000"/>
              </a:lnSpc>
              <a:spcBef>
                <a:spcPts val="0"/>
              </a:spcBef>
              <a:buNone/>
            </a:pPr>
            <a:r>
              <a:rPr sz="2200" dirty="0">
                <a:latin typeface="Palatino Linotype" panose="02040502050505030304" charset="0"/>
                <a:ea typeface="Palatino Linotype" panose="02040502050505030304"/>
                <a:cs typeface="Palatino Linotype" panose="02040502050505030304"/>
                <a:sym typeface="+mn-ea"/>
              </a:rPr>
              <a:t>Works by partitioning the states of a DFA into groups of states that cannot be distinguished (an iterative process)</a:t>
            </a:r>
          </a:p>
          <a:p>
            <a:pPr marL="474345" lvl="1"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The algorithm maintains a partition (划分), whose groups are sets of states that have not yet been distinguished</a:t>
            </a:r>
          </a:p>
          <a:p>
            <a:pPr marL="474345" lvl="1"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Any two states from different groups are known to be distinguishable</a:t>
            </a:r>
          </a:p>
          <a:p>
            <a:pPr marL="474345" lvl="1" algn="l" rtl="0" eaLnBrk="0" fontAlgn="auto">
              <a:lnSpc>
                <a:spcPct val="150000"/>
              </a:lnSpc>
              <a:spcBef>
                <a:spcPts val="0"/>
              </a:spcBef>
            </a:pPr>
            <a:r>
              <a:rPr sz="2000" dirty="0">
                <a:latin typeface="Palatino Linotype" panose="02040502050505030304" charset="0"/>
                <a:ea typeface="Palatino Linotype" panose="02040502050505030304"/>
                <a:cs typeface="Palatino Linotype" panose="02040502050505030304"/>
                <a:sym typeface="+mn-ea"/>
              </a:rPr>
              <a:t>When the partition cannot be refined further by breaking any group into smaller groups, we have the minimum-state DFA</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90</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The Partitioning Part</a:t>
            </a:r>
          </a:p>
        </p:txBody>
      </p:sp>
      <p:sp>
        <p:nvSpPr>
          <p:cNvPr id="4" name="内容占位符 3"/>
          <p:cNvSpPr>
            <a:spLocks noGrp="1"/>
          </p:cNvSpPr>
          <p:nvPr>
            <p:ph idx="1"/>
          </p:nvPr>
        </p:nvSpPr>
        <p:spPr>
          <a:xfrm>
            <a:off x="628650" y="1691005"/>
            <a:ext cx="7886700" cy="4351338"/>
          </a:xfrm>
        </p:spPr>
        <p:txBody>
          <a:bodyPr>
            <a:noAutofit/>
          </a:bodyPr>
          <a:lstStyle/>
          <a:p>
            <a:pPr marL="0" indent="0" algn="l" rtl="0" eaLnBrk="0" fontAlgn="auto">
              <a:lnSpc>
                <a:spcPct val="150000"/>
              </a:lnSpc>
              <a:spcBef>
                <a:spcPts val="0"/>
              </a:spcBef>
              <a:buNone/>
            </a:pPr>
            <a:r>
              <a:rPr lang="en-US" sz="1600" dirty="0">
                <a:latin typeface="Palatino Linotype" panose="02040502050505030304" charset="0"/>
                <a:ea typeface="Palatino Linotype" panose="02040502050505030304"/>
                <a:cs typeface="Palatino Linotype" panose="02040502050505030304"/>
                <a:sym typeface="+mn-ea"/>
              </a:rPr>
              <a:t>1</a:t>
            </a:r>
            <a:r>
              <a:rPr sz="1600" dirty="0">
                <a:latin typeface="Palatino Linotype" panose="02040502050505030304" charset="0"/>
                <a:ea typeface="Palatino Linotype" panose="02040502050505030304"/>
                <a:cs typeface="Palatino Linotype" panose="02040502050505030304"/>
                <a:sym typeface="+mn-ea"/>
              </a:rPr>
              <a:t>.Start with an initial partition ∏ with two groups, F and S-F, the accepting and nonaccepting states of D</a:t>
            </a:r>
          </a:p>
          <a:p>
            <a:pPr marL="0" indent="0" algn="l" rtl="0" eaLnBrk="0" fontAlgn="auto">
              <a:lnSpc>
                <a:spcPct val="150000"/>
              </a:lnSpc>
              <a:spcBef>
                <a:spcPts val="0"/>
              </a:spcBef>
              <a:buNone/>
            </a:pPr>
            <a:r>
              <a:rPr sz="1600" dirty="0">
                <a:latin typeface="Palatino Linotype" panose="02040502050505030304" charset="0"/>
                <a:ea typeface="Palatino Linotype" panose="02040502050505030304"/>
                <a:cs typeface="Palatino Linotype" panose="02040502050505030304"/>
                <a:sym typeface="+mn-ea"/>
              </a:rPr>
              <a:t>2. Apply the procedure below to construct a new partition ∏</a:t>
            </a:r>
            <a:r>
              <a:rPr sz="1600" baseline="-25000" dirty="0">
                <a:latin typeface="Palatino Linotype" panose="02040502050505030304" charset="0"/>
                <a:ea typeface="Palatino Linotype" panose="02040502050505030304"/>
                <a:cs typeface="Palatino Linotype" panose="02040502050505030304"/>
                <a:sym typeface="+mn-ea"/>
              </a:rPr>
              <a:t>new</a:t>
            </a:r>
          </a:p>
          <a:p>
            <a:pPr marL="0" indent="0" algn="l" rtl="0" eaLnBrk="0" fontAlgn="auto">
              <a:lnSpc>
                <a:spcPct val="150000"/>
              </a:lnSpc>
              <a:spcBef>
                <a:spcPts val="0"/>
              </a:spcBef>
              <a:buNone/>
            </a:pPr>
            <a:endParaRPr sz="1600" baseline="-25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1600" baseline="-25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1600" baseline="-25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1600" baseline="-25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1600" baseline="-25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1600" baseline="-250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16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16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endParaRPr sz="1600" dirty="0">
              <a:latin typeface="Palatino Linotype" panose="02040502050505030304" charset="0"/>
              <a:ea typeface="Palatino Linotype" panose="02040502050505030304"/>
              <a:cs typeface="Palatino Linotype" panose="02040502050505030304"/>
              <a:sym typeface="+mn-ea"/>
            </a:endParaRPr>
          </a:p>
          <a:p>
            <a:pPr marL="0" indent="0" algn="l" rtl="0" eaLnBrk="0" fontAlgn="auto">
              <a:lnSpc>
                <a:spcPct val="150000"/>
              </a:lnSpc>
              <a:spcBef>
                <a:spcPts val="0"/>
              </a:spcBef>
              <a:buNone/>
            </a:pPr>
            <a:r>
              <a:rPr sz="1600" dirty="0">
                <a:latin typeface="Palatino Linotype" panose="02040502050505030304" charset="0"/>
                <a:ea typeface="Palatino Linotype" panose="02040502050505030304"/>
                <a:cs typeface="Palatino Linotype" panose="02040502050505030304"/>
                <a:sym typeface="+mn-ea"/>
              </a:rPr>
              <a:t>3. If ∏</a:t>
            </a:r>
            <a:r>
              <a:rPr sz="1600" baseline="-25000" dirty="0">
                <a:latin typeface="Palatino Linotype" panose="02040502050505030304" charset="0"/>
                <a:ea typeface="Palatino Linotype" panose="02040502050505030304"/>
                <a:cs typeface="Palatino Linotype" panose="02040502050505030304"/>
                <a:sym typeface="+mn-ea"/>
              </a:rPr>
              <a:t>new</a:t>
            </a:r>
            <a:r>
              <a:rPr sz="1600" dirty="0">
                <a:latin typeface="Palatino Linotype" panose="02040502050505030304" charset="0"/>
                <a:ea typeface="Palatino Linotype" panose="02040502050505030304"/>
                <a:cs typeface="Palatino Linotype" panose="02040502050505030304"/>
                <a:sym typeface="+mn-ea"/>
              </a:rPr>
              <a:t> == ∏, let ∏</a:t>
            </a:r>
            <a:r>
              <a:rPr sz="1600" baseline="-25000" dirty="0">
                <a:latin typeface="Palatino Linotype" panose="02040502050505030304" charset="0"/>
                <a:ea typeface="Palatino Linotype" panose="02040502050505030304"/>
                <a:cs typeface="Palatino Linotype" panose="02040502050505030304"/>
                <a:sym typeface="+mn-ea"/>
              </a:rPr>
              <a:t>final</a:t>
            </a:r>
            <a:r>
              <a:rPr sz="1600" dirty="0">
                <a:latin typeface="Palatino Linotype" panose="02040502050505030304" charset="0"/>
                <a:ea typeface="Palatino Linotype" panose="02040502050505030304"/>
                <a:cs typeface="Palatino Linotype" panose="02040502050505030304"/>
                <a:sym typeface="+mn-ea"/>
              </a:rPr>
              <a:t> = ∏ and the partitioning finishes; Otherwise, ∏ = ∏</a:t>
            </a:r>
            <a:r>
              <a:rPr sz="1600" baseline="-25000" dirty="0">
                <a:latin typeface="Palatino Linotype" panose="02040502050505030304" charset="0"/>
                <a:ea typeface="Palatino Linotype" panose="02040502050505030304"/>
                <a:cs typeface="Palatino Linotype" panose="02040502050505030304"/>
                <a:sym typeface="+mn-ea"/>
              </a:rPr>
              <a:t>new</a:t>
            </a:r>
            <a:r>
              <a:rPr sz="1600" dirty="0">
                <a:latin typeface="Palatino Linotype" panose="02040502050505030304" charset="0"/>
                <a:ea typeface="Palatino Linotype" panose="02040502050505030304"/>
                <a:cs typeface="Palatino Linotype" panose="02040502050505030304"/>
                <a:sym typeface="+mn-ea"/>
              </a:rPr>
              <a:t> and repeat step 2</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91</a:t>
            </a:fld>
            <a:endParaRPr/>
          </a:p>
        </p:txBody>
      </p:sp>
      <p:pic>
        <p:nvPicPr>
          <p:cNvPr id="2" name="图片 1"/>
          <p:cNvPicPr>
            <a:picLocks noChangeAspect="1"/>
          </p:cNvPicPr>
          <p:nvPr>
            <p:custDataLst>
              <p:tags r:id="rId1"/>
            </p:custDataLst>
          </p:nvPr>
        </p:nvPicPr>
        <p:blipFill>
          <a:blip r:embed="rId4"/>
          <a:stretch>
            <a:fillRect/>
          </a:stretch>
        </p:blipFill>
        <p:spPr>
          <a:xfrm>
            <a:off x="1337945" y="3068955"/>
            <a:ext cx="5911850" cy="222631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The Construction Part</a:t>
            </a:r>
          </a:p>
        </p:txBody>
      </p:sp>
      <p:sp>
        <p:nvSpPr>
          <p:cNvPr id="4" name="内容占位符 3"/>
          <p:cNvSpPr>
            <a:spLocks noGrp="1"/>
          </p:cNvSpPr>
          <p:nvPr>
            <p:ph idx="1"/>
          </p:nvPr>
        </p:nvSpPr>
        <p:spPr>
          <a:xfrm>
            <a:off x="628650" y="1628775"/>
            <a:ext cx="7886700" cy="4351338"/>
          </a:xfrm>
        </p:spPr>
        <p:txBody>
          <a:bodyPr>
            <a:noAutofit/>
          </a:bodyPr>
          <a:lstStyle/>
          <a:p>
            <a:pPr marL="0"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Choose one state in each group of ∏</a:t>
            </a:r>
            <a:r>
              <a:rPr sz="2000" baseline="-25000" dirty="0">
                <a:latin typeface="Palatino Linotype" panose="02040502050505030304" charset="0"/>
                <a:ea typeface="Palatino Linotype" panose="02040502050505030304"/>
                <a:cs typeface="Palatino Linotype" panose="02040502050505030304"/>
                <a:sym typeface="+mn-ea"/>
              </a:rPr>
              <a:t>final</a:t>
            </a:r>
            <a:r>
              <a:rPr sz="2000" dirty="0">
                <a:latin typeface="Palatino Linotype" panose="02040502050505030304" charset="0"/>
                <a:ea typeface="Palatino Linotype" panose="02040502050505030304"/>
                <a:cs typeface="Palatino Linotype" panose="02040502050505030304"/>
                <a:sym typeface="+mn-ea"/>
              </a:rPr>
              <a:t> as the </a:t>
            </a:r>
            <a:r>
              <a:rPr sz="2000" dirty="0">
                <a:solidFill>
                  <a:srgbClr val="FF0000"/>
                </a:solidFill>
                <a:latin typeface="Palatino Linotype" panose="02040502050505030304" charset="0"/>
                <a:ea typeface="Palatino Linotype" panose="02040502050505030304"/>
                <a:cs typeface="Palatino Linotype" panose="02040502050505030304"/>
                <a:sym typeface="+mn-ea"/>
              </a:rPr>
              <a:t>representative </a:t>
            </a:r>
            <a:r>
              <a:rPr sz="2000" dirty="0">
                <a:latin typeface="Palatino Linotype" panose="02040502050505030304" charset="0"/>
                <a:ea typeface="Palatino Linotype" panose="02040502050505030304"/>
                <a:cs typeface="Palatino Linotype" panose="02040502050505030304"/>
                <a:sym typeface="+mn-ea"/>
              </a:rPr>
              <a:t>for that group. The representatives will be the states of the minimum</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state DFA D’</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The start state of D’ is the representative of the group containing the start state of D</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The accepting states of D' are the representatives of those groups that contain an accepting state of D</a:t>
            </a:r>
          </a:p>
          <a:p>
            <a:pPr marL="457200" lvl="1"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Establish transitions:</a:t>
            </a:r>
          </a:p>
          <a:p>
            <a:pPr lvl="2" algn="l" rtl="0" eaLnBrk="0" fontAlgn="auto">
              <a:lnSpc>
                <a:spcPct val="150000"/>
              </a:lnSpc>
              <a:spcBef>
                <a:spcPts val="0"/>
              </a:spcBef>
            </a:pPr>
            <a:r>
              <a:rPr sz="1600" dirty="0">
                <a:latin typeface="Palatino Linotype" panose="02040502050505030304" charset="0"/>
                <a:ea typeface="Palatino Linotype" panose="02040502050505030304"/>
                <a:cs typeface="Palatino Linotype" panose="02040502050505030304"/>
                <a:sym typeface="+mn-ea"/>
              </a:rPr>
              <a:t>Let s be the representative of group G in ∏final; Let the transition of D</a:t>
            </a:r>
            <a:r>
              <a:rPr lang="en-US" sz="1600" dirty="0">
                <a:latin typeface="Palatino Linotype" panose="02040502050505030304" charset="0"/>
                <a:ea typeface="Palatino Linotype" panose="02040502050505030304"/>
                <a:cs typeface="Palatino Linotype" panose="02040502050505030304"/>
                <a:sym typeface="+mn-ea"/>
              </a:rPr>
              <a:t> </a:t>
            </a:r>
            <a:r>
              <a:rPr sz="1600" dirty="0">
                <a:latin typeface="Palatino Linotype" panose="02040502050505030304" charset="0"/>
                <a:ea typeface="Palatino Linotype" panose="02040502050505030304"/>
                <a:cs typeface="Palatino Linotype" panose="02040502050505030304"/>
                <a:sym typeface="+mn-ea"/>
              </a:rPr>
              <a:t>from s on input a be to state t; Let r be the representative of</a:t>
            </a:r>
            <a:r>
              <a:rPr lang="en-US" sz="1600" dirty="0">
                <a:latin typeface="Palatino Linotype" panose="02040502050505030304" charset="0"/>
                <a:ea typeface="Palatino Linotype" panose="02040502050505030304"/>
                <a:cs typeface="Palatino Linotype" panose="02040502050505030304"/>
                <a:sym typeface="+mn-ea"/>
              </a:rPr>
              <a:t> </a:t>
            </a:r>
            <a:r>
              <a:rPr sz="1600" dirty="0">
                <a:latin typeface="Palatino Linotype" panose="02040502050505030304" charset="0"/>
                <a:ea typeface="Palatino Linotype" panose="02040502050505030304"/>
                <a:cs typeface="Palatino Linotype" panose="02040502050505030304"/>
                <a:sym typeface="+mn-ea"/>
              </a:rPr>
              <a:t>t’s group H</a:t>
            </a:r>
          </a:p>
          <a:p>
            <a:pPr lvl="2" algn="l" rtl="0" eaLnBrk="0" fontAlgn="auto">
              <a:lnSpc>
                <a:spcPct val="150000"/>
              </a:lnSpc>
              <a:spcBef>
                <a:spcPts val="0"/>
              </a:spcBef>
            </a:pPr>
            <a:r>
              <a:rPr sz="1600" dirty="0">
                <a:latin typeface="Palatino Linotype" panose="02040502050505030304" charset="0"/>
                <a:ea typeface="Palatino Linotype" panose="02040502050505030304"/>
                <a:cs typeface="Palatino Linotype" panose="02040502050505030304"/>
                <a:sym typeface="+mn-ea"/>
              </a:rPr>
              <a:t>Then in D’, there is a transition from s to r on input a</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92</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Example</a:t>
            </a:r>
          </a:p>
        </p:txBody>
      </p:sp>
      <p:sp>
        <p:nvSpPr>
          <p:cNvPr id="4" name="内容占位符 3"/>
          <p:cNvSpPr>
            <a:spLocks noGrp="1"/>
          </p:cNvSpPr>
          <p:nvPr>
            <p:ph idx="1"/>
          </p:nvPr>
        </p:nvSpPr>
        <p:spPr/>
        <p:txBody>
          <a:bodyPr>
            <a:normAutofit/>
          </a:bodyPr>
          <a:lstStyle/>
          <a:p>
            <a:pPr marL="0"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a:t>
            </a:r>
            <a:r>
              <a:rPr lang="en-US" sz="1800" dirty="0">
                <a:latin typeface="Palatino Linotype" panose="02040502050505030304" charset="0"/>
                <a:ea typeface="Palatino Linotype" panose="02040502050505030304"/>
                <a:cs typeface="Palatino Linotype" panose="02040502050505030304"/>
                <a:sym typeface="+mn-ea"/>
              </a:rPr>
              <a:t> </a:t>
            </a:r>
            <a:r>
              <a:rPr sz="1800" dirty="0">
                <a:latin typeface="Palatino Linotype" panose="02040502050505030304" charset="0"/>
                <a:ea typeface="Palatino Linotype" panose="02040502050505030304"/>
                <a:cs typeface="Palatino Linotype" panose="02040502050505030304"/>
                <a:sym typeface="+mn-ea"/>
              </a:rPr>
              <a:t>Initial partition: {A, B, C, D}, {E}</a:t>
            </a:r>
          </a:p>
          <a:p>
            <a:pPr marL="0"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Handling group {A, B, C, D}: b splits it to two subgroups {A, B, C} and {D}</a:t>
            </a:r>
          </a:p>
          <a:p>
            <a:pPr marL="0"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Handling group {A, B, C}: b splits it to two subgroups {A, C} and {B}</a:t>
            </a:r>
          </a:p>
          <a:p>
            <a:pPr marL="0" indent="0" algn="l" rtl="0" eaLnBrk="0" fontAlgn="auto">
              <a:lnSpc>
                <a:spcPct val="150000"/>
              </a:lnSpc>
              <a:spcBef>
                <a:spcPts val="0"/>
              </a:spcBef>
              <a:buNone/>
            </a:pPr>
            <a:r>
              <a:rPr sz="1800" dirty="0">
                <a:latin typeface="Palatino Linotype" panose="02040502050505030304" charset="0"/>
                <a:ea typeface="Palatino Linotype" panose="02040502050505030304"/>
                <a:cs typeface="Palatino Linotype" panose="02040502050505030304"/>
                <a:sym typeface="+mn-ea"/>
              </a:rPr>
              <a:t>• Picking A, B, D, E as representatives to construct the minimum-state DFA</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93</a:t>
            </a:fld>
            <a:endParaRPr/>
          </a:p>
        </p:txBody>
      </p:sp>
      <p:pic>
        <p:nvPicPr>
          <p:cNvPr id="2" name="图片 1"/>
          <p:cNvPicPr>
            <a:picLocks noChangeAspect="1"/>
          </p:cNvPicPr>
          <p:nvPr>
            <p:custDataLst>
              <p:tags r:id="rId1"/>
            </p:custDataLst>
          </p:nvPr>
        </p:nvPicPr>
        <p:blipFill>
          <a:blip r:embed="rId5"/>
          <a:stretch>
            <a:fillRect/>
          </a:stretch>
        </p:blipFill>
        <p:spPr>
          <a:xfrm>
            <a:off x="899160" y="3963035"/>
            <a:ext cx="3869690" cy="2393315"/>
          </a:xfrm>
          <a:prstGeom prst="rect">
            <a:avLst/>
          </a:prstGeom>
        </p:spPr>
      </p:pic>
      <p:pic>
        <p:nvPicPr>
          <p:cNvPr id="5" name="图片 4"/>
          <p:cNvPicPr>
            <a:picLocks noChangeAspect="1"/>
          </p:cNvPicPr>
          <p:nvPr>
            <p:custDataLst>
              <p:tags r:id="rId2"/>
            </p:custDataLst>
          </p:nvPr>
        </p:nvPicPr>
        <p:blipFill>
          <a:blip r:embed="rId6"/>
          <a:stretch>
            <a:fillRect/>
          </a:stretch>
        </p:blipFill>
        <p:spPr>
          <a:xfrm>
            <a:off x="5651500" y="4004945"/>
            <a:ext cx="2387600" cy="194310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State Minimization in Lexical Analyzers</a:t>
            </a:r>
          </a:p>
        </p:txBody>
      </p:sp>
      <p:sp>
        <p:nvSpPr>
          <p:cNvPr id="4" name="内容占位符 3"/>
          <p:cNvSpPr>
            <a:spLocks noGrp="1"/>
          </p:cNvSpPr>
          <p:nvPr>
            <p:ph idx="1"/>
          </p:nvPr>
        </p:nvSpPr>
        <p:spPr/>
        <p:txBody>
          <a:bodyPr>
            <a:noAutofit/>
          </a:bodyPr>
          <a:lstStyle/>
          <a:p>
            <a:pPr marL="0" indent="0" algn="l" rtl="0" eaLnBrk="0" fontAlgn="auto">
              <a:lnSpc>
                <a:spcPct val="150000"/>
              </a:lnSpc>
              <a:spcBef>
                <a:spcPts val="0"/>
              </a:spcBef>
              <a:buNone/>
            </a:pPr>
            <a:r>
              <a:rPr sz="2200" dirty="0">
                <a:latin typeface="Palatino Linotype" panose="02040502050505030304" charset="0"/>
                <a:ea typeface="Palatino Linotype" panose="02040502050505030304"/>
                <a:cs typeface="Palatino Linotype" panose="02040502050505030304"/>
                <a:sym typeface="+mn-ea"/>
              </a:rPr>
              <a:t>The basic idea is the same as the state-minimization algorithm for DFA. </a:t>
            </a:r>
          </a:p>
          <a:p>
            <a:pPr marL="0" indent="0" algn="l" rtl="0" eaLnBrk="0" fontAlgn="auto">
              <a:lnSpc>
                <a:spcPct val="150000"/>
              </a:lnSpc>
              <a:spcBef>
                <a:spcPts val="0"/>
              </a:spcBef>
              <a:buNone/>
            </a:pPr>
            <a:r>
              <a:rPr sz="2200" dirty="0">
                <a:latin typeface="Palatino Linotype" panose="02040502050505030304" charset="0"/>
                <a:ea typeface="Palatino Linotype" panose="02040502050505030304"/>
                <a:cs typeface="Palatino Linotype" panose="02040502050505030304"/>
                <a:sym typeface="+mn-ea"/>
              </a:rPr>
              <a:t>• Differences are:</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Each accepting state in the lexical analyzer’s DFA corresponds to a different pattern. These states are not equivalent.</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So the initial partition should be: one group of non</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accepting states + groups of accepting states for different patterns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94</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zh-CN" altLang="en-US" sz="3600">
                <a:latin typeface="Palatino Linotype" panose="02040502050505030304" charset="0"/>
              </a:rPr>
              <a:t>Example</a:t>
            </a:r>
          </a:p>
        </p:txBody>
      </p:sp>
      <p:sp>
        <p:nvSpPr>
          <p:cNvPr id="4" name="内容占位符 3"/>
          <p:cNvSpPr>
            <a:spLocks noGrp="1"/>
          </p:cNvSpPr>
          <p:nvPr>
            <p:ph idx="1"/>
          </p:nvPr>
        </p:nvSpPr>
        <p:spPr>
          <a:xfrm>
            <a:off x="628650" y="1628775"/>
            <a:ext cx="7886700" cy="4351338"/>
          </a:xfrm>
        </p:spPr>
        <p:txBody>
          <a:bodyPr>
            <a:normAutofit/>
          </a:bodyPr>
          <a:lstStyle/>
          <a:p>
            <a:pPr marL="0" indent="0" algn="l" rtl="0" eaLnBrk="0" fontAlgn="auto">
              <a:lnSpc>
                <a:spcPct val="150000"/>
              </a:lnSpc>
              <a:spcBef>
                <a:spcPts val="0"/>
              </a:spcBef>
              <a:buNone/>
            </a:pPr>
            <a:r>
              <a:rPr sz="2200" dirty="0">
                <a:latin typeface="Palatino Linotype" panose="02040502050505030304" charset="0"/>
                <a:ea typeface="Palatino Linotype" panose="02040502050505030304"/>
                <a:cs typeface="Palatino Linotype" panose="02040502050505030304"/>
                <a:sym typeface="+mn-ea"/>
              </a:rPr>
              <a:t>Initial partition: {0137, 7}, {247}, {68}, {8, 58}, {∅}</a:t>
            </a:r>
          </a:p>
          <a:p>
            <a:pPr marL="457200" lvl="1" indent="0" algn="l" rtl="0" eaLnBrk="0" fontAlgn="auto">
              <a:lnSpc>
                <a:spcPct val="150000"/>
              </a:lnSpc>
              <a:spcBef>
                <a:spcPts val="0"/>
              </a:spcBef>
              <a:buNone/>
            </a:pPr>
            <a:r>
              <a:rPr sz="2000" dirty="0">
                <a:latin typeface="Palatino Linotype" panose="02040502050505030304" charset="0"/>
                <a:ea typeface="Palatino Linotype" panose="02040502050505030304"/>
                <a:cs typeface="Palatino Linotype" panose="02040502050505030304"/>
                <a:sym typeface="+mn-ea"/>
              </a:rPr>
              <a:t>▪ We add a dead state ∅: we suppose has transitions to</a:t>
            </a:r>
            <a:r>
              <a:rPr lang="en-US" sz="2000" dirty="0">
                <a:latin typeface="Palatino Linotype" panose="02040502050505030304" charset="0"/>
                <a:ea typeface="Palatino Linotype" panose="02040502050505030304"/>
                <a:cs typeface="Palatino Linotype" panose="02040502050505030304"/>
                <a:sym typeface="+mn-ea"/>
              </a:rPr>
              <a:t> </a:t>
            </a:r>
            <a:r>
              <a:rPr sz="2000" dirty="0">
                <a:latin typeface="Palatino Linotype" panose="02040502050505030304" charset="0"/>
                <a:ea typeface="Palatino Linotype" panose="02040502050505030304"/>
                <a:cs typeface="Palatino Linotype" panose="02040502050505030304"/>
                <a:sym typeface="+mn-ea"/>
              </a:rPr>
              <a:t>itself on inputs a and b. It is also the target of missing </a:t>
            </a:r>
            <a:r>
              <a:rPr sz="2200" dirty="0">
                <a:latin typeface="Palatino Linotype" panose="02040502050505030304" charset="0"/>
                <a:ea typeface="Palatino Linotype" panose="02040502050505030304"/>
                <a:cs typeface="Palatino Linotype" panose="02040502050505030304"/>
                <a:sym typeface="+mn-ea"/>
              </a:rPr>
              <a:t>transitions on a</a:t>
            </a:r>
            <a:r>
              <a:rPr lang="en-US" sz="2200" dirty="0">
                <a:latin typeface="Palatino Linotype" panose="02040502050505030304" charset="0"/>
                <a:ea typeface="Palatino Linotype" panose="02040502050505030304"/>
                <a:cs typeface="Palatino Linotype" panose="02040502050505030304"/>
                <a:sym typeface="+mn-ea"/>
              </a:rPr>
              <a:t> </a:t>
            </a:r>
            <a:r>
              <a:rPr sz="2200" dirty="0">
                <a:latin typeface="Palatino Linotype" panose="02040502050505030304" charset="0"/>
                <a:ea typeface="Palatino Linotype" panose="02040502050505030304"/>
                <a:cs typeface="Palatino Linotype" panose="02040502050505030304"/>
                <a:sym typeface="+mn-ea"/>
              </a:rPr>
              <a:t>from states 8, 58, and 68.</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95</a:t>
            </a:fld>
            <a:endParaRPr/>
          </a:p>
        </p:txBody>
      </p:sp>
      <p:pic>
        <p:nvPicPr>
          <p:cNvPr id="2" name="图片 1"/>
          <p:cNvPicPr>
            <a:picLocks noChangeAspect="1"/>
          </p:cNvPicPr>
          <p:nvPr>
            <p:custDataLst>
              <p:tags r:id="rId1"/>
            </p:custDataLst>
          </p:nvPr>
        </p:nvPicPr>
        <p:blipFill>
          <a:blip r:embed="rId4"/>
          <a:stretch>
            <a:fillRect/>
          </a:stretch>
        </p:blipFill>
        <p:spPr>
          <a:xfrm>
            <a:off x="1188085" y="3860800"/>
            <a:ext cx="6718300" cy="25019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QxZWM4MGVjMTlmMGVjOWUyOTA4NGYzNWM4ZDcwZj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973</TotalTime>
  <Words>21132</Words>
  <Application>Microsoft Office PowerPoint</Application>
  <PresentationFormat>全屏显示(4:3)</PresentationFormat>
  <Paragraphs>1265</Paragraphs>
  <Slides>95</Slides>
  <Notes>88</Notes>
  <HiddenSlides>1</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95</vt:i4>
      </vt:variant>
    </vt:vector>
  </HeadingPairs>
  <TitlesOfParts>
    <vt:vector size="105" baseType="lpstr">
      <vt:lpstr>Ubuntu Mono derivative Powerlin</vt:lpstr>
      <vt:lpstr>Ubuntu Mono derivative Powerline</vt:lpstr>
      <vt:lpstr>等线</vt:lpstr>
      <vt:lpstr>Arial</vt:lpstr>
      <vt:lpstr>Calibri</vt:lpstr>
      <vt:lpstr>Consolas</vt:lpstr>
      <vt:lpstr>Palatino Linotype</vt:lpstr>
      <vt:lpstr>Times New Roman</vt:lpstr>
      <vt:lpstr>Wingdings</vt:lpstr>
      <vt:lpstr>Office Theme</vt:lpstr>
      <vt:lpstr>PowerPoint 演示文稿</vt:lpstr>
      <vt:lpstr>Outline</vt:lpstr>
      <vt:lpstr>The Role of Lexical Analyzer</vt:lpstr>
      <vt:lpstr>Why Separated Lexical Analysis?</vt:lpstr>
      <vt:lpstr>Tokens, Patterns, and Lexemes</vt:lpstr>
      <vt:lpstr>Examples</vt:lpstr>
      <vt:lpstr>Attributes for Tokens</vt:lpstr>
      <vt:lpstr>Lexical Errors</vt:lpstr>
      <vt:lpstr>Outline</vt:lpstr>
      <vt:lpstr>Specification of Tokens</vt:lpstr>
      <vt:lpstr>Strings and Languages</vt:lpstr>
      <vt:lpstr>Strings and Languages Cont.</vt:lpstr>
      <vt:lpstr>Strings and Languages Cont.</vt:lpstr>
      <vt:lpstr>Strings and Languages Cont.</vt:lpstr>
      <vt:lpstr>Strings and Languages Cont.</vt:lpstr>
      <vt:lpstr>Strings and Languages Cont.</vt:lpstr>
      <vt:lpstr>Strings and Languages Cont.</vt:lpstr>
      <vt:lpstr>Regular Expressions</vt:lpstr>
      <vt:lpstr>Regular Expressions Cont.</vt:lpstr>
      <vt:lpstr>Regular Expressions Cont.</vt:lpstr>
      <vt:lpstr>Regular Expressions Cont.</vt:lpstr>
      <vt:lpstr>Regular Definitions</vt:lpstr>
      <vt:lpstr>Regular Definitions - Examples</vt:lpstr>
      <vt:lpstr>Extensions of Regular Expressions</vt:lpstr>
      <vt:lpstr>Outline</vt:lpstr>
      <vt:lpstr>Recognition of Tokens</vt:lpstr>
      <vt:lpstr>Example: Patterns and Tokens</vt:lpstr>
      <vt:lpstr>Transition Diagrams (状态转换图)</vt:lpstr>
      <vt:lpstr>What is the process of operating a vending machine? </vt:lpstr>
      <vt:lpstr>PowerPoint 演示文稿</vt:lpstr>
      <vt:lpstr>States</vt:lpstr>
      <vt:lpstr>States Cont.</vt:lpstr>
      <vt:lpstr>Edges</vt:lpstr>
      <vt:lpstr>Recognition of Reserved Words and Identifiers (保留字和标识符的识别)</vt:lpstr>
      <vt:lpstr>Handling Reserved Words</vt:lpstr>
      <vt:lpstr>Building a Lexical Analyzer from Transition Diagrams</vt:lpstr>
      <vt:lpstr>Building a Lexical Analyzer from Transition Diagrams</vt:lpstr>
      <vt:lpstr>Building a Lexical Analyzer from Transition Diagrams</vt:lpstr>
      <vt:lpstr>Building a Lexical Analyzer from Transition Diagrams</vt:lpstr>
      <vt:lpstr>Building a Lexical Analyzer from Transition Diagrams</vt:lpstr>
      <vt:lpstr>Building the Entire Lexical Analyzer</vt:lpstr>
      <vt:lpstr>Outline</vt:lpstr>
      <vt:lpstr>The Lexical-Analyzer Generator Lex</vt:lpstr>
      <vt:lpstr>Structure of Lex Programs</vt:lpstr>
      <vt:lpstr>PowerPoint 演示文稿</vt:lpstr>
      <vt:lpstr>PowerPoint 演示文稿</vt:lpstr>
      <vt:lpstr>PowerPoint 演示文稿</vt:lpstr>
      <vt:lpstr>Conflict Resolution</vt:lpstr>
      <vt:lpstr>Outline</vt:lpstr>
      <vt:lpstr>Finite Automata (有穷自动机)</vt:lpstr>
      <vt:lpstr>Nondeterministic Finite Automata</vt:lpstr>
      <vt:lpstr>NFA Example</vt:lpstr>
      <vt:lpstr>Transition Table</vt:lpstr>
      <vt:lpstr>Acceptance of Input Strings</vt:lpstr>
      <vt:lpstr>NFA and Regular Languages</vt:lpstr>
      <vt:lpstr>Deterministic Finite Automata (DFA)</vt:lpstr>
      <vt:lpstr>Simulating a DFA</vt:lpstr>
      <vt:lpstr>DFA Example</vt:lpstr>
      <vt:lpstr>From Regular Expressions to Automata</vt:lpstr>
      <vt:lpstr>Conversion of an NFA to a DFA</vt:lpstr>
      <vt:lpstr>Example for Algorithm Illustration</vt:lpstr>
      <vt:lpstr>Subset Construction Technique</vt:lpstr>
      <vt:lpstr>Subset Construction Technique Cont.</vt:lpstr>
      <vt:lpstr>Subset Construction Technique Cont.</vt:lpstr>
      <vt:lpstr>Subset Construction Technique Cont.</vt:lpstr>
      <vt:lpstr>Example</vt:lpstr>
      <vt:lpstr>PowerPoint 演示文稿</vt:lpstr>
      <vt:lpstr>Transition Table of the DFA</vt:lpstr>
      <vt:lpstr>PowerPoint 演示文稿</vt:lpstr>
      <vt:lpstr>Regular Expression to NFA</vt:lpstr>
      <vt:lpstr>Thompson’s Construction Algorithm</vt:lpstr>
      <vt:lpstr>Thompson’s Construction Algorithm</vt:lpstr>
      <vt:lpstr>Thompson’s Construction Algorithm</vt:lpstr>
      <vt:lpstr>Thompson’s Construction Algorithm</vt:lpstr>
      <vt:lpstr>Example</vt:lpstr>
      <vt:lpstr>Example Cont.</vt:lpstr>
      <vt:lpstr>Example Cont.</vt:lpstr>
      <vt:lpstr>Example Cont.</vt:lpstr>
      <vt:lpstr>Example Cont.</vt:lpstr>
      <vt:lpstr>Combining NFA’s</vt:lpstr>
      <vt:lpstr>DFA’s for Lexical Analyzers</vt:lpstr>
      <vt:lpstr>Example</vt:lpstr>
      <vt:lpstr>Example Cont.</vt:lpstr>
      <vt:lpstr>Example Cont.</vt:lpstr>
      <vt:lpstr>Example Cont.</vt:lpstr>
      <vt:lpstr>Minimizing # States of a DFA</vt:lpstr>
      <vt:lpstr>Minimizing # States of a DFA</vt:lpstr>
      <vt:lpstr>Minimizing # States of a DFA Cont.</vt:lpstr>
      <vt:lpstr>Distinguishing States</vt:lpstr>
      <vt:lpstr>DFA State-Minimization Algorithm</vt:lpstr>
      <vt:lpstr>The Partitioning Part</vt:lpstr>
      <vt:lpstr>The Construction Part</vt:lpstr>
      <vt:lpstr>Example</vt:lpstr>
      <vt:lpstr>State Minimization in Lexical Analyzers</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xxx </dc:title>
  <dc:creator>胡 玉斌</dc:creator>
  <cp:lastModifiedBy>Wi11 4X</cp:lastModifiedBy>
  <cp:revision>97</cp:revision>
  <dcterms:created xsi:type="dcterms:W3CDTF">2023-06-02T10:23:00Z</dcterms:created>
  <dcterms:modified xsi:type="dcterms:W3CDTF">2024-09-10T03:35:16Z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19D841FD2A1349DE8EBFA80B4D23F1EF_13</vt:lpwstr>
  </property>
  <property fmtid="{D5CDD505-2E9C-101B-9397-08002B2CF9AE}" pid="3" name="KSOProductBuildVer">
    <vt:lpwstr>2052-12.1.0.15374</vt:lpwstr>
  </property>
</Properties>
</file>